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82.xml" ContentType="application/vnd.openxmlformats-officedocument.presentationml.slideLayout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ustom.xml" ContentType="application/vnd.openxmlformats-officedocument.custom-properties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6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81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0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Default Extension="rels" ContentType="application/vnd.openxmlformats-package.relationships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99" r:id="rId3"/>
    <p:sldMasterId id="2147483738" r:id="rId4"/>
    <p:sldMasterId id="2147483712" r:id="rId5"/>
    <p:sldMasterId id="2147483674" r:id="rId6"/>
    <p:sldMasterId id="2147483725" r:id="rId7"/>
  </p:sldMasterIdLst>
  <p:notesMasterIdLst>
    <p:notesMasterId r:id="rId21"/>
  </p:notesMasterIdLst>
  <p:sldIdLst>
    <p:sldId id="256" r:id="rId8"/>
    <p:sldId id="257" r:id="rId9"/>
    <p:sldId id="279" r:id="rId10"/>
    <p:sldId id="316" r:id="rId11"/>
    <p:sldId id="317" r:id="rId12"/>
    <p:sldId id="318" r:id="rId13"/>
    <p:sldId id="319" r:id="rId14"/>
    <p:sldId id="321" r:id="rId15"/>
    <p:sldId id="320" r:id="rId16"/>
    <p:sldId id="322" r:id="rId17"/>
    <p:sldId id="323" r:id="rId18"/>
    <p:sldId id="324" r:id="rId19"/>
    <p:sldId id="325" r:id="rId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34587" autoAdjust="0"/>
    <p:restoredTop sz="94632" autoAdjust="0"/>
  </p:normalViewPr>
  <p:slideViewPr>
    <p:cSldViewPr>
      <p:cViewPr varScale="1">
        <p:scale>
          <a:sx n="108" d="100"/>
          <a:sy n="108" d="100"/>
        </p:scale>
        <p:origin x="-170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TW" sz="1800" b="0" strike="noStrike" spc="-1">
                <a:solidFill>
                  <a:srgbClr val="000000"/>
                </a:solidFill>
                <a:latin typeface="Calibri"/>
              </a:rPr>
              <a:t>請按這裡移動投影片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zh-TW" sz="2000" b="0" strike="noStrike" spc="-1">
                <a:latin typeface="Arial"/>
              </a:rPr>
              <a:t>請按這裡編輯備註格式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&lt;頁首&gt;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&lt;日期/時間&gt;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&lt;頁尾&gt;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331962A5-A15B-4472-A253-73015B2EE908}" type="slidenum">
              <a:rPr lang="en-US" sz="1400" b="0" strike="noStrike" spc="-1">
                <a:latin typeface="Times New Roman"/>
              </a:rPr>
              <a:pPr algn="r"/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5B75-ECF6-4BE6-A3DE-C8259B535844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E863-67F1-4DED-9226-013F8637FBA5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BFEC21A0-76F1-4091-8A4E-3D3682A4EBBE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8/31/2021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29C6C588-69D4-483A-BFC4-1F3BDC423AB1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3200" b="0" strike="noStrike" spc="-1" dirty="0">
                <a:solidFill>
                  <a:srgbClr val="000000"/>
                </a:solidFill>
                <a:latin typeface="Calibri"/>
              </a:rPr>
              <a:t>請按這裡編輯大綱文字格式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400" b="0" strike="noStrike" spc="-1" dirty="0">
                <a:solidFill>
                  <a:srgbClr val="000000"/>
                </a:solidFill>
                <a:latin typeface="Calibri"/>
              </a:rPr>
              <a:t>第二個大綱層次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第三個大綱層次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第四個大綱層次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第五個大綱層次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第六個大綱層次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 dirty="0">
                <a:solidFill>
                  <a:srgbClr val="000000"/>
                </a:solidFill>
                <a:latin typeface="Calibri"/>
              </a:rPr>
              <a:t>第七個大綱層次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93CB700-50AD-45C2-BC70-355D01B635CF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8/31/2021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93CB700-50AD-45C2-BC70-355D01B635CF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8/31/2021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F5B75-ECF6-4BE6-A3DE-C8259B535844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404C3-9969-4EFA-96B9-1AADC38D565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5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93CB700-50AD-45C2-BC70-355D01B635CF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8/31/2021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1E863-67F1-4DED-9226-013F8637FBA5}" type="datetimeFigureOut">
              <a:rPr lang="zh-TW" altLang="en-US" smtClean="0"/>
              <a:pPr/>
              <a:t>2021/8/31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AB90B-7E45-4DA0-85F8-FA0EBB18F3F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751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714240" y="128592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A Faster </a:t>
            </a:r>
            <a:r>
              <a:rPr lang="en-US" altLang="zh-TW" sz="3200" dirty="0" err="1" smtClean="0">
                <a:latin typeface="Times New Roman" pitchFamily="18" charset="0"/>
                <a:cs typeface="Times New Roman" pitchFamily="18" charset="0"/>
              </a:rPr>
              <a:t>Subquadratic</a:t>
            </a:r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 Algorithm for the Longest Common Increasing Subsequence Problem</a:t>
            </a:r>
            <a:endParaRPr lang="en-US" sz="32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1214280" y="3357720"/>
            <a:ext cx="6786360" cy="2071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ctr">
              <a:spcBef>
                <a:spcPts val="479"/>
              </a:spcBef>
              <a:tabLst>
                <a:tab pos="0" algn="l"/>
              </a:tabLst>
            </a:pPr>
            <a:r>
              <a:rPr lang="it-IT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Anadi Agrawal and  Paweł Gawrychowski</a:t>
            </a:r>
          </a:p>
          <a:p>
            <a:pPr algn="ctr">
              <a:spcBef>
                <a:spcPts val="479"/>
              </a:spcBef>
              <a:tabLst>
                <a:tab pos="0" algn="l"/>
              </a:tabLst>
            </a:pPr>
            <a:endParaRPr lang="en-US" sz="2000" spc="-1" dirty="0" smtClean="0">
              <a:solidFill>
                <a:srgbClr val="000000"/>
              </a:solidFill>
              <a:latin typeface="Times New Roman"/>
            </a:endParaRPr>
          </a:p>
          <a:p>
            <a:pPr algn="ctr"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31st International Symposium on Algorithms and Computation (ISAAC 2020), Online</a:t>
            </a:r>
          </a:p>
        </p:txBody>
      </p:sp>
      <p:sp>
        <p:nvSpPr>
          <p:cNvPr id="90" name="CustomShape 3"/>
          <p:cNvSpPr/>
          <p:nvPr/>
        </p:nvSpPr>
        <p:spPr>
          <a:xfrm>
            <a:off x="5786280" y="5643720"/>
            <a:ext cx="3114360" cy="103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Presenter: Shin-Cheng Lin</a:t>
            </a:r>
            <a:endParaRPr lang="en-US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Date: </a:t>
            </a:r>
            <a:r>
              <a:rPr lang="en-US" sz="2000" spc="-1" dirty="0" smtClean="0">
                <a:solidFill>
                  <a:srgbClr val="000000"/>
                </a:solidFill>
                <a:latin typeface="Times New Roman"/>
              </a:rPr>
              <a:t>Aug.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/>
              </a:rPr>
              <a:t> 31, 2021</a:t>
            </a: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smtClean="0">
                <a:solidFill>
                  <a:srgbClr val="000000"/>
                </a:solidFill>
                <a:latin typeface="Times New Roman"/>
              </a:rPr>
              <a:t>Abstract(1/2)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The Longest Common Increasing Subsequence (LCIS) is a variant of the classical Longest Common Subsequence (LCS), in which we additionally require the common subsequence to be strictly increasing. While the well-known “Four Russians” technique can be used to find LCS in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subquadratic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time, it does not seem directly applicable to LCIS. Recently,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Duraj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 used a completely different method based on the combinatorial properties of LCIS to design an O(n</a:t>
            </a:r>
            <a:r>
              <a:rPr lang="en-US" sz="2800" spc="-1" baseline="30000" dirty="0" smtClean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loglogn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)</a:t>
            </a:r>
            <a:r>
              <a:rPr lang="en-US" sz="2800" spc="-1" baseline="30000" dirty="0" smtClean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/ log</a:t>
            </a:r>
            <a:r>
              <a:rPr lang="en-US" sz="2800" spc="-1" baseline="30000" dirty="0" smtClean="0">
                <a:solidFill>
                  <a:srgbClr val="000000"/>
                </a:solidFill>
                <a:latin typeface="Times New Roman"/>
              </a:rPr>
              <a:t>1/6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n) time algorithm.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dirty="0" smtClean="0">
                <a:solidFill>
                  <a:srgbClr val="000000"/>
                </a:solidFill>
                <a:latin typeface="Times New Roman"/>
              </a:rPr>
              <a:t>Abstract(2/2)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We show that an approach based on exploiting tabulation (more involved than “Four Russians”) can be used to construct an asymptotically faster </a:t>
            </a:r>
          </a:p>
          <a:p>
            <a:pPr marL="343080" indent="-342720">
              <a:spcBef>
                <a:spcPts val="561"/>
              </a:spcBef>
              <a:buClr>
                <a:srgbClr val="000000"/>
              </a:buClr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	O(n</a:t>
            </a:r>
            <a:r>
              <a:rPr lang="en-US" sz="2800" spc="-1" baseline="30000" dirty="0" smtClean="0">
                <a:solidFill>
                  <a:srgbClr val="000000"/>
                </a:solidFill>
                <a:latin typeface="Times New Roman"/>
              </a:rPr>
              <a:t>2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loglogn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/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logn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)    time algorithm. As our solution avoids using the specific combinatorial properties of LCIS, it can be also adapted for the Longest Common Weakly Increasing Subsequence (LCWIS).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3000372"/>
            <a:ext cx="3357586" cy="483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|A|=n</a:t>
            </a:r>
          </a:p>
          <a:p>
            <a:r>
              <a:rPr lang="en-US" altLang="zh-TW" dirty="0" smtClean="0"/>
              <a:t>|B|=n</a:t>
            </a:r>
          </a:p>
          <a:p>
            <a:r>
              <a:rPr lang="el-GR" altLang="zh-TW" dirty="0" smtClean="0"/>
              <a:t>Σ</a:t>
            </a:r>
            <a:r>
              <a:rPr lang="en-US" altLang="zh-TW" dirty="0" smtClean="0"/>
              <a:t>[v]=v</a:t>
            </a:r>
          </a:p>
          <a:p>
            <a:r>
              <a:rPr lang="en-US" altLang="zh-TW" dirty="0" smtClean="0"/>
              <a:t>Call v </a:t>
            </a:r>
            <a:r>
              <a:rPr lang="en-US" altLang="zh-TW" i="1" dirty="0" smtClean="0"/>
              <a:t>frequent</a:t>
            </a:r>
            <a:r>
              <a:rPr lang="en-US" altLang="zh-TW" dirty="0" smtClean="0"/>
              <a:t> if </a:t>
            </a:r>
            <a:r>
              <a:rPr lang="en-US" altLang="zh-TW" dirty="0" err="1" smtClean="0"/>
              <a:t>cnt</a:t>
            </a:r>
            <a:r>
              <a:rPr lang="en-US" altLang="zh-TW" dirty="0" smtClean="0"/>
              <a:t>(v) </a:t>
            </a:r>
            <a:r>
              <a:rPr lang="zh-TW" altLang="en-US" dirty="0" smtClean="0"/>
              <a:t>＞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n÷c</a:t>
            </a:r>
            <a:r>
              <a:rPr lang="en-US" altLang="zh-TW" dirty="0" smtClean="0"/>
              <a:t>, and </a:t>
            </a:r>
            <a:r>
              <a:rPr lang="en-US" altLang="zh-TW" i="1" dirty="0" smtClean="0"/>
              <a:t>rare</a:t>
            </a:r>
            <a:r>
              <a:rPr lang="en-US" altLang="zh-TW" dirty="0" smtClean="0"/>
              <a:t> otherwise.</a:t>
            </a:r>
          </a:p>
          <a:p>
            <a:r>
              <a:rPr lang="en-US" altLang="zh-TW" dirty="0" err="1" smtClean="0"/>
              <a:t>cnt</a:t>
            </a:r>
            <a:r>
              <a:rPr lang="en-US" altLang="zh-TW" dirty="0" smtClean="0"/>
              <a:t>(v) be the total number of occurrences of </a:t>
            </a:r>
            <a:r>
              <a:rPr lang="el-GR" altLang="zh-TW" dirty="0" smtClean="0"/>
              <a:t>Σ</a:t>
            </a:r>
            <a:r>
              <a:rPr lang="en-US" altLang="zh-TW" dirty="0" smtClean="0"/>
              <a:t>[v] in A and B.</a:t>
            </a:r>
          </a:p>
          <a:p>
            <a:r>
              <a:rPr lang="en-US" altLang="zh-TW" dirty="0" smtClean="0"/>
              <a:t>O(c) fragments.</a:t>
            </a:r>
            <a:endParaRPr lang="zh-TW" altLang="en-US" dirty="0" smtClean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Each fragment is either a single frequent element or a maximal range of rare elements.</a:t>
            </a:r>
          </a:p>
          <a:p>
            <a:r>
              <a:rPr lang="en-US" altLang="zh-TW" dirty="0" smtClean="0"/>
              <a:t>F=</a:t>
            </a:r>
            <a:r>
              <a:rPr lang="en-US" altLang="zh-TW" i="1" dirty="0" smtClean="0"/>
              <a:t> frequent</a:t>
            </a:r>
            <a:r>
              <a:rPr lang="en-US" altLang="zh-TW" dirty="0" smtClean="0"/>
              <a:t>,</a:t>
            </a:r>
            <a:r>
              <a:rPr lang="en-US" altLang="zh-TW" i="1" dirty="0" smtClean="0"/>
              <a:t> rare</a:t>
            </a:r>
            <a:r>
              <a:rPr lang="en-US" altLang="zh-TW" dirty="0" smtClean="0"/>
              <a:t>,</a:t>
            </a:r>
            <a:r>
              <a:rPr lang="en-US" altLang="zh-TW" i="1" dirty="0" smtClean="0"/>
              <a:t> rare</a:t>
            </a:r>
            <a:r>
              <a:rPr lang="en-US" altLang="zh-TW" dirty="0" smtClean="0"/>
              <a:t>,</a:t>
            </a:r>
            <a:r>
              <a:rPr lang="en-US" altLang="zh-TW" i="1" dirty="0" smtClean="0"/>
              <a:t> frequent, rare</a:t>
            </a:r>
            <a:r>
              <a:rPr lang="en-US" altLang="zh-TW" dirty="0" smtClean="0"/>
              <a:t> </a:t>
            </a:r>
          </a:p>
          <a:p>
            <a:r>
              <a:rPr lang="en-US" altLang="zh-TW" dirty="0" smtClean="0"/>
              <a:t>f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=</a:t>
            </a:r>
            <a:r>
              <a:rPr lang="en-US" altLang="zh-TW" i="1" dirty="0" smtClean="0"/>
              <a:t> frequent</a:t>
            </a:r>
            <a:endParaRPr lang="en-US" altLang="zh-TW" dirty="0" smtClean="0"/>
          </a:p>
          <a:p>
            <a:r>
              <a:rPr lang="en-US" altLang="zh-TW" dirty="0" smtClean="0"/>
              <a:t>f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=</a:t>
            </a:r>
            <a:r>
              <a:rPr lang="en-US" altLang="zh-TW" i="1" dirty="0" smtClean="0"/>
              <a:t> rare,</a:t>
            </a:r>
            <a:r>
              <a:rPr lang="en-US" altLang="zh-TW" dirty="0" smtClean="0"/>
              <a:t> </a:t>
            </a:r>
            <a:r>
              <a:rPr lang="en-US" altLang="zh-TW" i="1" dirty="0" smtClean="0"/>
              <a:t>rare</a:t>
            </a:r>
            <a:r>
              <a:rPr lang="en-US" altLang="zh-TW" dirty="0" smtClean="0"/>
              <a:t> </a:t>
            </a:r>
          </a:p>
          <a:p>
            <a:r>
              <a:rPr lang="en-US" altLang="zh-TW" dirty="0" smtClean="0"/>
              <a:t>f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=</a:t>
            </a:r>
            <a:r>
              <a:rPr lang="en-US" altLang="zh-TW" i="1" dirty="0" smtClean="0"/>
              <a:t> frequent</a:t>
            </a:r>
            <a:endParaRPr lang="en-US" altLang="zh-TW" dirty="0" smtClean="0"/>
          </a:p>
          <a:p>
            <a:r>
              <a:rPr lang="en-US" altLang="zh-TW" dirty="0" smtClean="0"/>
              <a:t>f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=</a:t>
            </a:r>
            <a:r>
              <a:rPr lang="en-US" altLang="zh-TW" i="1" dirty="0" smtClean="0"/>
              <a:t> rare</a:t>
            </a:r>
            <a:r>
              <a:rPr lang="en-US" altLang="zh-TW" dirty="0" smtClean="0"/>
              <a:t> </a:t>
            </a:r>
            <a:endParaRPr lang="zh-TW" altLang="en-US" dirty="0" smtClean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dp</a:t>
            </a:r>
            <a:r>
              <a:rPr lang="en-US" altLang="zh-TW" baseline="-25000" dirty="0" err="1" smtClean="0"/>
              <a:t>v</a:t>
            </a:r>
            <a:r>
              <a:rPr lang="en-US" altLang="zh-TW" dirty="0" smtClean="0"/>
              <a:t>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][j] denote the largest possible length of a sequence C such that:</a:t>
            </a:r>
          </a:p>
          <a:p>
            <a:r>
              <a:rPr lang="en-US" altLang="zh-TW" dirty="0" smtClean="0"/>
              <a:t>C is an increasing common subsequence of A[1..i] and B[1..j],</a:t>
            </a:r>
          </a:p>
          <a:p>
            <a:r>
              <a:rPr lang="en-US" altLang="zh-TW" dirty="0" smtClean="0"/>
              <a:t>C consists of elements not larger than v.</a:t>
            </a:r>
          </a:p>
          <a:p>
            <a:r>
              <a:rPr lang="en-US" altLang="zh-TW" dirty="0" smtClean="0"/>
              <a:t>The LCIS is </a:t>
            </a:r>
            <a:r>
              <a:rPr lang="en-US" altLang="zh-TW" dirty="0" err="1" smtClean="0"/>
              <a:t>dp</a:t>
            </a:r>
            <a:r>
              <a:rPr lang="en-US" altLang="zh-TW" baseline="-25000" dirty="0" smtClean="0"/>
              <a:t>|</a:t>
            </a:r>
            <a:r>
              <a:rPr lang="el-GR" altLang="zh-TW" baseline="-25000" dirty="0" smtClean="0"/>
              <a:t>Σ</a:t>
            </a:r>
            <a:r>
              <a:rPr lang="en-US" altLang="zh-TW" baseline="-25000" dirty="0" smtClean="0"/>
              <a:t>|</a:t>
            </a:r>
            <a:r>
              <a:rPr lang="en-US" altLang="zh-TW" dirty="0" smtClean="0"/>
              <a:t>[n][n].</a:t>
            </a:r>
            <a:endParaRPr lang="zh-TW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First Solution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O(|</a:t>
            </a:r>
            <a:r>
              <a:rPr lang="el-GR" altLang="zh-TW" dirty="0" smtClean="0"/>
              <a:t> Σ </a:t>
            </a:r>
            <a:r>
              <a:rPr lang="en-US" altLang="zh-TW" dirty="0" smtClean="0"/>
              <a:t>| × 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 )</a:t>
            </a:r>
          </a:p>
          <a:p>
            <a:r>
              <a:rPr lang="en-US" altLang="zh-TW" dirty="0" smtClean="0"/>
              <a:t>Speed up by a factor of b</a:t>
            </a:r>
          </a:p>
          <a:p>
            <a:r>
              <a:rPr lang="en-US" altLang="zh-TW" dirty="0" smtClean="0"/>
              <a:t>A single block of dp</a:t>
            </a:r>
            <a:r>
              <a:rPr lang="en-US" altLang="zh-TW" baseline="-25000" dirty="0" smtClean="0"/>
              <a:t>v+1</a:t>
            </a:r>
            <a:r>
              <a:rPr lang="en-US" altLang="zh-TW" dirty="0" smtClean="0"/>
              <a:t> consisting of </a:t>
            </a:r>
          </a:p>
          <a:p>
            <a:pPr>
              <a:buNone/>
            </a:pPr>
            <a:r>
              <a:rPr lang="en-US" altLang="zh-TW" dirty="0" smtClean="0"/>
              <a:t>	dp</a:t>
            </a:r>
            <a:r>
              <a:rPr lang="en-US" altLang="zh-TW" baseline="-25000" dirty="0" smtClean="0"/>
              <a:t>v+1</a:t>
            </a:r>
            <a:r>
              <a:rPr lang="en-US" altLang="zh-TW" dirty="0" smtClean="0"/>
              <a:t>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][j], dp</a:t>
            </a:r>
            <a:r>
              <a:rPr lang="en-US" altLang="zh-TW" baseline="-25000" dirty="0" smtClean="0"/>
              <a:t>v+1</a:t>
            </a:r>
            <a:r>
              <a:rPr lang="en-US" altLang="zh-TW" dirty="0" smtClean="0"/>
              <a:t>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][j+1], . . . , dp</a:t>
            </a:r>
            <a:r>
              <a:rPr lang="en-US" altLang="zh-TW" baseline="-25000" dirty="0" smtClean="0"/>
              <a:t>v+1</a:t>
            </a:r>
            <a:r>
              <a:rPr lang="en-US" altLang="zh-TW" dirty="0" smtClean="0"/>
              <a:t>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][j+b−1]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857364"/>
            <a:ext cx="877913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8596" y="5857892"/>
            <a:ext cx="8229600" cy="928694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Each entry of </a:t>
            </a:r>
            <a:r>
              <a:rPr lang="en-US" altLang="zh-TW" dirty="0" err="1" smtClean="0"/>
              <a:t>dp’</a:t>
            </a:r>
            <a:r>
              <a:rPr lang="en-US" altLang="zh-TW" baseline="-25000" dirty="0" err="1" smtClean="0"/>
              <a:t>v</a:t>
            </a:r>
            <a:r>
              <a:rPr lang="en-US" altLang="zh-TW" baseline="-25000" dirty="0" smtClean="0"/>
              <a:t> </a:t>
            </a:r>
            <a:r>
              <a:rPr lang="en-US" altLang="zh-TW" dirty="0" smtClean="0"/>
              <a:t> and dp’</a:t>
            </a:r>
            <a:r>
              <a:rPr lang="en-US" altLang="zh-TW" baseline="-25000" dirty="0" smtClean="0"/>
              <a:t>v+1</a:t>
            </a:r>
            <a:r>
              <a:rPr lang="en-US" altLang="zh-TW" dirty="0" smtClean="0"/>
              <a:t> is {0,1}</a:t>
            </a:r>
          </a:p>
          <a:p>
            <a:r>
              <a:rPr lang="en-US" altLang="zh-TW" dirty="0" smtClean="0"/>
              <a:t>4b+2 bits</a:t>
            </a:r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14290"/>
            <a:ext cx="8572560" cy="2655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內容版面配置區 3"/>
          <p:cNvGraphicFramePr>
            <a:graphicFrameLocks/>
          </p:cNvGraphicFramePr>
          <p:nvPr/>
        </p:nvGraphicFramePr>
        <p:xfrm>
          <a:off x="357158" y="2928934"/>
          <a:ext cx="8229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dp’</a:t>
                      </a:r>
                      <a:r>
                        <a:rPr lang="en-US" altLang="zh-TW" baseline="-25000" dirty="0" err="1" smtClean="0"/>
                        <a:t>v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j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j+1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j+2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j+b-1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i-1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內容版面配置區 3"/>
          <p:cNvGraphicFramePr>
            <a:graphicFrameLocks/>
          </p:cNvGraphicFramePr>
          <p:nvPr/>
        </p:nvGraphicFramePr>
        <p:xfrm>
          <a:off x="357158" y="3786190"/>
          <a:ext cx="8229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dp’</a:t>
                      </a:r>
                      <a:r>
                        <a:rPr lang="en-US" altLang="zh-TW" baseline="-25000" dirty="0" smtClean="0"/>
                        <a:t>v+1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j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j+1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J+2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j+b-1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i-1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內容版面配置區 3"/>
          <p:cNvGraphicFramePr>
            <a:graphicFrameLocks/>
          </p:cNvGraphicFramePr>
          <p:nvPr/>
        </p:nvGraphicFramePr>
        <p:xfrm>
          <a:off x="357158" y="5000636"/>
          <a:ext cx="8229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dp</a:t>
                      </a:r>
                      <a:r>
                        <a:rPr lang="en-US" altLang="zh-TW" baseline="-25000" dirty="0" smtClean="0"/>
                        <a:t>v+1</a:t>
                      </a:r>
                      <a:endParaRPr lang="zh-TW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j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j+1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j+2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j+b-1</a:t>
                      </a:r>
                      <a:endParaRPr lang="zh-TW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Precomputed</a:t>
            </a:r>
            <a:r>
              <a:rPr lang="en-US" altLang="zh-TW" dirty="0" smtClean="0"/>
              <a:t> table size is O(2</a:t>
            </a:r>
            <a:r>
              <a:rPr lang="en-US" altLang="zh-TW" baseline="30000" dirty="0" smtClean="0"/>
              <a:t>4b+2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set b = logn÷5 to make the required preprocessing o(n)</a:t>
            </a:r>
          </a:p>
          <a:p>
            <a:r>
              <a:rPr lang="en-US" altLang="zh-TW" dirty="0" smtClean="0"/>
              <a:t>overall complexity is O(|</a:t>
            </a:r>
            <a:r>
              <a:rPr lang="el-GR" altLang="zh-TW" dirty="0" smtClean="0"/>
              <a:t> Σ </a:t>
            </a:r>
            <a:r>
              <a:rPr lang="en-US" altLang="zh-TW" dirty="0" smtClean="0"/>
              <a:t>| · 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/</a:t>
            </a:r>
            <a:r>
              <a:rPr lang="en-US" altLang="zh-TW" dirty="0" err="1" smtClean="0"/>
              <a:t>logn</a:t>
            </a:r>
            <a:r>
              <a:rPr lang="en-US" altLang="zh-TW" dirty="0" smtClean="0"/>
              <a:t>).</a:t>
            </a:r>
            <a:endParaRPr lang="zh-TW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Second Solution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For every matching pair (x, y), compute LCIS(x, y).</a:t>
            </a:r>
          </a:p>
          <a:p>
            <a:r>
              <a:rPr lang="en-US" altLang="zh-TW" dirty="0" smtClean="0"/>
              <a:t>Find the predecessor in O(q(1 + log n/q )) time by using BST.</a:t>
            </a:r>
          </a:p>
          <a:p>
            <a:r>
              <a:rPr lang="en-US" altLang="zh-TW" dirty="0" smtClean="0"/>
              <a:t>Need </a:t>
            </a:r>
            <a:r>
              <a:rPr lang="en-US" altLang="zh-TW" dirty="0" err="1" smtClean="0"/>
              <a:t>q</a:t>
            </a:r>
            <a:r>
              <a:rPr lang="en-US" altLang="zh-TW" baseline="-25000" dirty="0" err="1" smtClean="0"/>
              <a:t>u</a:t>
            </a:r>
            <a:r>
              <a:rPr lang="en-US" altLang="zh-TW" dirty="0" smtClean="0"/>
              <a:t>=n/s queries.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4814902"/>
            <a:ext cx="578167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5688791"/>
            <a:ext cx="7786742" cy="1026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Combining Solutions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/>
          <a:lstStyle/>
          <a:p>
            <a:r>
              <a:rPr lang="en-US" altLang="zh-TW" dirty="0" smtClean="0"/>
              <a:t>Call v </a:t>
            </a:r>
            <a:r>
              <a:rPr lang="en-US" altLang="zh-TW" i="1" dirty="0" smtClean="0"/>
              <a:t>frequent</a:t>
            </a:r>
            <a:r>
              <a:rPr lang="en-US" altLang="zh-TW" dirty="0" smtClean="0"/>
              <a:t> if </a:t>
            </a:r>
            <a:r>
              <a:rPr lang="en-US" altLang="zh-TW" dirty="0" err="1" smtClean="0"/>
              <a:t>cnt</a:t>
            </a:r>
            <a:r>
              <a:rPr lang="en-US" altLang="zh-TW" dirty="0" smtClean="0"/>
              <a:t>(v) </a:t>
            </a:r>
            <a:r>
              <a:rPr lang="zh-TW" altLang="en-US" dirty="0" smtClean="0"/>
              <a:t>＞</a:t>
            </a:r>
            <a:r>
              <a:rPr lang="en-US" altLang="zh-TW" dirty="0" smtClean="0"/>
              <a:t> n/c, and </a:t>
            </a:r>
            <a:r>
              <a:rPr lang="en-US" altLang="zh-TW" i="1" dirty="0" smtClean="0"/>
              <a:t>rare</a:t>
            </a:r>
            <a:r>
              <a:rPr lang="en-US" altLang="zh-TW" dirty="0" smtClean="0"/>
              <a:t> otherwise.</a:t>
            </a:r>
          </a:p>
          <a:p>
            <a:r>
              <a:rPr lang="en-US" altLang="zh-TW" dirty="0" smtClean="0"/>
              <a:t>Solve </a:t>
            </a:r>
            <a:r>
              <a:rPr lang="en-US" altLang="zh-TW" i="1" dirty="0" smtClean="0"/>
              <a:t>frequent</a:t>
            </a:r>
            <a:r>
              <a:rPr lang="en-US" altLang="zh-TW" dirty="0" smtClean="0"/>
              <a:t> fragment by first solution and solve </a:t>
            </a:r>
            <a:r>
              <a:rPr lang="en-US" altLang="zh-TW" i="1" dirty="0" smtClean="0"/>
              <a:t>rare</a:t>
            </a:r>
            <a:r>
              <a:rPr lang="en-US" altLang="zh-TW" dirty="0" smtClean="0"/>
              <a:t> fragment by second solution.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 </a:t>
            </a:r>
            <a:r>
              <a:rPr lang="en-US" altLang="zh-TW" i="1" dirty="0" smtClean="0"/>
              <a:t>frequent</a:t>
            </a:r>
            <a:r>
              <a:rPr lang="en-US" altLang="zh-TW" dirty="0" smtClean="0"/>
              <a:t> fragments</a:t>
            </a:r>
          </a:p>
          <a:p>
            <a:r>
              <a:rPr lang="en-US" altLang="zh-TW" dirty="0" smtClean="0"/>
              <a:t>O(|</a:t>
            </a:r>
            <a:r>
              <a:rPr lang="el-GR" altLang="zh-TW" dirty="0" smtClean="0"/>
              <a:t>Σ</a:t>
            </a:r>
            <a:r>
              <a:rPr lang="en-US" altLang="zh-TW" dirty="0" smtClean="0"/>
              <a:t>| · 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/</a:t>
            </a:r>
            <a:r>
              <a:rPr lang="en-US" altLang="zh-TW" dirty="0" err="1" smtClean="0"/>
              <a:t>logn</a:t>
            </a:r>
            <a:r>
              <a:rPr lang="en-US" altLang="zh-TW" dirty="0" smtClean="0"/>
              <a:t> · c) </a:t>
            </a:r>
          </a:p>
          <a:p>
            <a:r>
              <a:rPr lang="en-US" altLang="zh-TW" dirty="0" smtClean="0"/>
              <a:t>n/c </a:t>
            </a:r>
            <a:r>
              <a:rPr lang="en-US" altLang="zh-TW" i="1" dirty="0" smtClean="0"/>
              <a:t>rare</a:t>
            </a:r>
            <a:r>
              <a:rPr lang="en-US" altLang="zh-TW" dirty="0" smtClean="0"/>
              <a:t> fragments, n/c</a:t>
            </a:r>
            <a:r>
              <a:rPr lang="zh-TW" altLang="en-US" dirty="0" smtClean="0"/>
              <a:t> ≥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cnt</a:t>
            </a:r>
            <a:r>
              <a:rPr lang="en-US" altLang="zh-TW" dirty="0" smtClean="0"/>
              <a:t>(v) in </a:t>
            </a:r>
            <a:r>
              <a:rPr lang="en-US" altLang="zh-TW" i="1" dirty="0" smtClean="0"/>
              <a:t>rare</a:t>
            </a:r>
            <a:r>
              <a:rPr lang="en-US" altLang="zh-TW" dirty="0" smtClean="0"/>
              <a:t> fragments</a:t>
            </a:r>
          </a:p>
          <a:p>
            <a:r>
              <a:rPr lang="pt-BR" altLang="zh-TW" dirty="0" smtClean="0"/>
              <a:t>cnt(v)</a:t>
            </a:r>
            <a:r>
              <a:rPr lang="en-US" altLang="zh-TW" dirty="0" smtClean="0"/>
              <a:t> ·</a:t>
            </a:r>
            <a:r>
              <a:rPr lang="pt-BR" altLang="zh-TW" dirty="0" smtClean="0"/>
              <a:t> log</a:t>
            </a:r>
            <a:r>
              <a:rPr lang="pt-BR" altLang="zh-TW" baseline="30000" dirty="0" smtClean="0"/>
              <a:t>2</a:t>
            </a:r>
            <a:r>
              <a:rPr lang="pt-BR" altLang="zh-TW" dirty="0" smtClean="0"/>
              <a:t>(n/cnt(v)) </a:t>
            </a:r>
            <a:r>
              <a:rPr lang="zh-TW" altLang="en-US" dirty="0" smtClean="0"/>
              <a:t>≤</a:t>
            </a:r>
            <a:r>
              <a:rPr lang="pt-BR" altLang="zh-TW" dirty="0" smtClean="0"/>
              <a:t> n/c · log</a:t>
            </a:r>
            <a:r>
              <a:rPr lang="pt-BR" altLang="zh-TW" baseline="30000" dirty="0" smtClean="0"/>
              <a:t>2</a:t>
            </a:r>
            <a:r>
              <a:rPr lang="pt-BR" altLang="zh-TW" dirty="0" smtClean="0"/>
              <a:t>c</a:t>
            </a:r>
            <a:endParaRPr lang="zh-TW" altLang="en-US" dirty="0" smtClean="0"/>
          </a:p>
          <a:p>
            <a:r>
              <a:rPr lang="en-US" altLang="zh-TW" dirty="0" smtClean="0"/>
              <a:t>O(</a:t>
            </a:r>
            <a:r>
              <a:rPr lang="pt-BR" altLang="zh-TW" dirty="0" smtClean="0"/>
              <a:t>n/c · log</a:t>
            </a:r>
            <a:r>
              <a:rPr lang="pt-BR" altLang="zh-TW" baseline="30000" dirty="0" smtClean="0"/>
              <a:t>2</a:t>
            </a:r>
            <a:r>
              <a:rPr lang="pt-BR" altLang="zh-TW" dirty="0" smtClean="0"/>
              <a:t>c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O(|</a:t>
            </a:r>
            <a:r>
              <a:rPr lang="el-GR" altLang="zh-TW" dirty="0" smtClean="0"/>
              <a:t>Σ</a:t>
            </a:r>
            <a:r>
              <a:rPr lang="en-US" altLang="zh-TW" dirty="0" smtClean="0"/>
              <a:t>| · 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/b · c +</a:t>
            </a:r>
            <a:r>
              <a:rPr lang="pt-BR" altLang="zh-TW" dirty="0" smtClean="0"/>
              <a:t> n/c · log</a:t>
            </a:r>
            <a:r>
              <a:rPr lang="pt-BR" altLang="zh-TW" baseline="30000" dirty="0" smtClean="0"/>
              <a:t>2</a:t>
            </a:r>
            <a:r>
              <a:rPr lang="pt-BR" altLang="zh-TW" dirty="0" smtClean="0"/>
              <a:t>c</a:t>
            </a:r>
            <a:r>
              <a:rPr lang="en-US" altLang="zh-TW" dirty="0" smtClean="0"/>
              <a:t>) </a:t>
            </a:r>
          </a:p>
          <a:p>
            <a:r>
              <a:rPr lang="pt-BR" altLang="zh-TW" dirty="0" smtClean="0"/>
              <a:t>c =</a:t>
            </a:r>
          </a:p>
          <a:p>
            <a:r>
              <a:rPr lang="pt-BR" altLang="zh-TW" dirty="0" smtClean="0"/>
              <a:t>  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2285992"/>
            <a:ext cx="2460852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2857496"/>
            <a:ext cx="3357586" cy="483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9126</TotalTime>
  <Words>478</Words>
  <Application>LibreOffice/6.4.6.2$Windows_X86_64 LibreOffice_project/0ce51a4fd21bff07a5c061082cc82c5ed232f115</Application>
  <PresentationFormat>如螢幕大小 (4:3)</PresentationFormat>
  <Paragraphs>76</Paragraphs>
  <Slides>13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7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Office Theme</vt:lpstr>
      <vt:lpstr>Office Theme</vt:lpstr>
      <vt:lpstr>2_Office Theme</vt:lpstr>
      <vt:lpstr>1_自訂設計</vt:lpstr>
      <vt:lpstr>3_Office Theme</vt:lpstr>
      <vt:lpstr>自訂設計</vt:lpstr>
      <vt:lpstr>4_Office Theme</vt:lpstr>
      <vt:lpstr>投影片 1</vt:lpstr>
      <vt:lpstr>投影片 2</vt:lpstr>
      <vt:lpstr>投影片 3</vt:lpstr>
      <vt:lpstr>投影片 4</vt:lpstr>
      <vt:lpstr>投影片 5</vt:lpstr>
      <vt:lpstr>投影片 6</vt:lpstr>
      <vt:lpstr>First Solution</vt:lpstr>
      <vt:lpstr>投影片 8</vt:lpstr>
      <vt:lpstr>投影片 9</vt:lpstr>
      <vt:lpstr>Second Solution</vt:lpstr>
      <vt:lpstr>Combining Solutions</vt:lpstr>
      <vt:lpstr>投影片 12</vt:lpstr>
      <vt:lpstr>投影片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Parallel Pairwise Local Sequence Alignment Algorithm</dc:title>
  <dc:subject/>
  <dc:creator>super</dc:creator>
  <dc:description/>
  <cp:lastModifiedBy>super</cp:lastModifiedBy>
  <cp:revision>2193</cp:revision>
  <dcterms:created xsi:type="dcterms:W3CDTF">2020-09-11T11:13:53Z</dcterms:created>
  <dcterms:modified xsi:type="dcterms:W3CDTF">2021-08-31T02:29:49Z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如螢幕大小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12</vt:i4>
  </property>
</Properties>
</file>