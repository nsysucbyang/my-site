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535" r:id="rId3"/>
    <p:sldId id="537" r:id="rId4"/>
    <p:sldId id="260" r:id="rId5"/>
    <p:sldId id="403" r:id="rId6"/>
    <p:sldId id="538" r:id="rId7"/>
    <p:sldId id="539" r:id="rId8"/>
    <p:sldId id="540" r:id="rId9"/>
    <p:sldId id="541" r:id="rId10"/>
    <p:sldId id="542" r:id="rId11"/>
    <p:sldId id="543" r:id="rId12"/>
    <p:sldId id="544" r:id="rId13"/>
    <p:sldId id="545" r:id="rId14"/>
    <p:sldId id="546" r:id="rId15"/>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73300" autoAdjust="0"/>
  </p:normalViewPr>
  <p:slideViewPr>
    <p:cSldViewPr>
      <p:cViewPr varScale="1">
        <p:scale>
          <a:sx n="85" d="100"/>
          <a:sy n="85" d="100"/>
        </p:scale>
        <p:origin x="1267" y="72"/>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2021/8/26</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2952944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28042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2021/8/26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ynology.com/zh-tw/support/RAID_calculator"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497046" y="1700808"/>
            <a:ext cx="6149906" cy="649317"/>
          </a:xfrm>
        </p:spPr>
        <p:txBody>
          <a:bodyPr>
            <a:noAutofit/>
          </a:bodyPr>
          <a:lstStyle/>
          <a:p>
            <a:br>
              <a:rPr lang="en-US" altLang="zh-TW" sz="3200" dirty="0">
                <a:latin typeface="Times New Roman"/>
                <a:ea typeface="新細明體"/>
                <a:cs typeface="Times New Roman"/>
              </a:rPr>
            </a:br>
            <a:r>
              <a:rPr lang="en-US" altLang="zh-TW" sz="3200" dirty="0">
                <a:latin typeface="Times New Roman"/>
                <a:ea typeface="新細明體"/>
                <a:cs typeface="Times New Roman"/>
              </a:rPr>
              <a:t>RAID: High-Performance, Reliable Secondary Storage</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a:solidFill>
                  <a:schemeClr val="tx1"/>
                </a:solidFill>
                <a:latin typeface="Times New Roman"/>
                <a:ea typeface="新細明體"/>
                <a:cs typeface="Times New Roman"/>
              </a:rPr>
              <a:t>Peter M. Chen, Edward K. Lee, Garth A. Gibson, Randy H. </a:t>
            </a:r>
            <a:r>
              <a:rPr lang="en-US" altLang="zh-TW" sz="2000" dirty="0" err="1">
                <a:solidFill>
                  <a:schemeClr val="tx1"/>
                </a:solidFill>
                <a:latin typeface="Times New Roman"/>
                <a:ea typeface="新細明體"/>
                <a:cs typeface="Times New Roman"/>
              </a:rPr>
              <a:t>Ketz</a:t>
            </a:r>
            <a:r>
              <a:rPr lang="en-US" altLang="zh-TW" sz="2000" dirty="0">
                <a:solidFill>
                  <a:schemeClr val="tx1"/>
                </a:solidFill>
                <a:latin typeface="Times New Roman"/>
                <a:ea typeface="新細明體"/>
                <a:cs typeface="Times New Roman"/>
              </a:rPr>
              <a:t> and David A. Patterson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ACM Computing Surveys, Volume 26,Issue 2, June 1994, </a:t>
            </a:r>
          </a:p>
          <a:p>
            <a:pPr algn="ctr"/>
            <a:r>
              <a:rPr lang="en-US" altLang="zh-TW" sz="2200" dirty="0">
                <a:latin typeface="Times New Roman"/>
                <a:ea typeface="+mn-lt"/>
                <a:cs typeface="+mn-lt"/>
              </a:rPr>
              <a:t>pp. 145–185</a:t>
            </a:r>
          </a:p>
          <a:p>
            <a:pPr algn="ctr"/>
            <a:endParaRPr lang="en-US" altLang="zh-TW" sz="2200" dirty="0">
              <a:latin typeface="Times New Roman"/>
              <a:ea typeface="+mn-lt"/>
              <a:cs typeface="+mn-lt"/>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671565"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Aug. 31,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Disk arrays were proposed in the 1980s as a way to use parallelism between multiple disks to improve aggregate I/O performance. Today they appear in the product lines of most major computer manufacturers. This article gives a comprehensive overview of disk arrays and provides a framework in which to organize current and future work. First, the article introduces disk technology and reviews the driving forces that have popularized disk arrays: performance and reliability. It discusses the two architectural techniques used in disk arrays: striping across multiple disks to improve performance and redundancy to improve reliability. Next, the article describes seven disk array architectures, called RAID (Redundant Arrays of Inexpensive Disks) levels 0–6 and compares their performance, cost, and reliability.</a:t>
            </a:r>
          </a:p>
        </p:txBody>
      </p:sp>
    </p:spTree>
    <p:extLst>
      <p:ext uri="{BB962C8B-B14F-4D97-AF65-F5344CB8AC3E}">
        <p14:creationId xmlns:p14="http://schemas.microsoft.com/office/powerpoint/2010/main" val="6927314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It goes on to discuss advanced research and implementation topics such as refining the basic RAID levels to improve performance and designing algorithms to maintain data consistency. Last, the article describes six disk array prototypes or products and discusses future opportunities for research, with an annotated bibliography of disk array-related literature.</a:t>
            </a:r>
          </a:p>
        </p:txBody>
      </p:sp>
    </p:spTree>
    <p:extLst>
      <p:ext uri="{BB962C8B-B14F-4D97-AF65-F5344CB8AC3E}">
        <p14:creationId xmlns:p14="http://schemas.microsoft.com/office/powerpoint/2010/main" val="7063839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RAID</a:t>
            </a:r>
            <a:endParaRPr lang="zh-TW" altLang="en-US" dirty="0">
              <a:latin typeface="Times New Roman"/>
              <a:cs typeface="Times New Roman"/>
            </a:endParaRPr>
          </a:p>
        </p:txBody>
      </p:sp>
      <p:sp>
        <p:nvSpPr>
          <p:cNvPr id="3" name="內容版面配置區 2"/>
          <p:cNvSpPr>
            <a:spLocks noGrp="1"/>
          </p:cNvSpPr>
          <p:nvPr>
            <p:ph sz="half" idx="1"/>
          </p:nvPr>
        </p:nvSpPr>
        <p:spPr>
          <a:xfrm>
            <a:off x="457200" y="1600200"/>
            <a:ext cx="8229600" cy="4525963"/>
          </a:xfrm>
        </p:spPr>
        <p:txBody>
          <a:bodyPr vert="horz" lIns="91440" tIns="45720" rIns="91440" bIns="45720" rtlCol="0" anchor="t">
            <a:normAutofit/>
          </a:bodyPr>
          <a:lstStyle/>
          <a:p>
            <a:r>
              <a:rPr lang="en-US" altLang="zh-TW" dirty="0">
                <a:latin typeface="Times New Roman"/>
                <a:ea typeface="新細明體"/>
                <a:cs typeface="Times New Roman"/>
              </a:rPr>
              <a:t>Redundant Arrays of Inexpensive Disks</a:t>
            </a:r>
          </a:p>
        </p:txBody>
      </p:sp>
      <p:grpSp>
        <p:nvGrpSpPr>
          <p:cNvPr id="67" name="群組 66">
            <a:extLst>
              <a:ext uri="{FF2B5EF4-FFF2-40B4-BE49-F238E27FC236}">
                <a16:creationId xmlns:a16="http://schemas.microsoft.com/office/drawing/2014/main" id="{82412677-85D4-4E43-A282-23C33E2EAB8B}"/>
              </a:ext>
            </a:extLst>
          </p:cNvPr>
          <p:cNvGrpSpPr/>
          <p:nvPr/>
        </p:nvGrpSpPr>
        <p:grpSpPr>
          <a:xfrm>
            <a:off x="5181602" y="2835671"/>
            <a:ext cx="2182045" cy="3002460"/>
            <a:chOff x="5181602" y="2835671"/>
            <a:chExt cx="2182045" cy="3002460"/>
          </a:xfrm>
        </p:grpSpPr>
        <p:grpSp>
          <p:nvGrpSpPr>
            <p:cNvPr id="28" name="群組 27">
              <a:extLst>
                <a:ext uri="{FF2B5EF4-FFF2-40B4-BE49-F238E27FC236}">
                  <a16:creationId xmlns:a16="http://schemas.microsoft.com/office/drawing/2014/main" id="{A004D29B-F01F-4A47-B0E3-95AA439382B2}"/>
                </a:ext>
              </a:extLst>
            </p:cNvPr>
            <p:cNvGrpSpPr/>
            <p:nvPr/>
          </p:nvGrpSpPr>
          <p:grpSpPr>
            <a:xfrm>
              <a:off x="5210202" y="2861718"/>
              <a:ext cx="1017984" cy="1334118"/>
              <a:chOff x="1825824" y="3407459"/>
              <a:chExt cx="1017984" cy="1334118"/>
            </a:xfrm>
          </p:grpSpPr>
          <p:sp>
            <p:nvSpPr>
              <p:cNvPr id="29" name="橢圓 28">
                <a:extLst>
                  <a:ext uri="{FF2B5EF4-FFF2-40B4-BE49-F238E27FC236}">
                    <a16:creationId xmlns:a16="http://schemas.microsoft.com/office/drawing/2014/main" id="{EA8620FE-5FDC-411D-A406-442E0C79FD9A}"/>
                  </a:ext>
                </a:extLst>
              </p:cNvPr>
              <p:cNvSpPr/>
              <p:nvPr/>
            </p:nvSpPr>
            <p:spPr>
              <a:xfrm>
                <a:off x="1835696" y="3407459"/>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1B3A67B3-CDEC-43E1-A2F6-28556060DEC8}"/>
                  </a:ext>
                </a:extLst>
              </p:cNvPr>
              <p:cNvSpPr/>
              <p:nvPr/>
            </p:nvSpPr>
            <p:spPr>
              <a:xfrm>
                <a:off x="1825824" y="4453545"/>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 name="直線接點 30">
                <a:extLst>
                  <a:ext uri="{FF2B5EF4-FFF2-40B4-BE49-F238E27FC236}">
                    <a16:creationId xmlns:a16="http://schemas.microsoft.com/office/drawing/2014/main" id="{38F9E09A-62E7-4C30-B61F-0568FA20CEFF}"/>
                  </a:ext>
                </a:extLst>
              </p:cNvPr>
              <p:cNvCxnSpPr>
                <a:cxnSpLocks/>
                <a:stCxn id="29" idx="2"/>
                <a:endCxn id="30" idx="2"/>
              </p:cNvCxnSpPr>
              <p:nvPr/>
            </p:nvCxnSpPr>
            <p:spPr>
              <a:xfrm flipH="1">
                <a:off x="1825824"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52613CB-2BF9-450D-9208-EEAE5295632F}"/>
                  </a:ext>
                </a:extLst>
              </p:cNvPr>
              <p:cNvCxnSpPr>
                <a:cxnSpLocks/>
                <a:stCxn id="29" idx="6"/>
                <a:endCxn id="30" idx="6"/>
              </p:cNvCxnSpPr>
              <p:nvPr/>
            </p:nvCxnSpPr>
            <p:spPr>
              <a:xfrm flipH="1">
                <a:off x="2833936"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3" name="橢圓 32">
                <a:extLst>
                  <a:ext uri="{FF2B5EF4-FFF2-40B4-BE49-F238E27FC236}">
                    <a16:creationId xmlns:a16="http://schemas.microsoft.com/office/drawing/2014/main" id="{87DFBC96-5869-4E26-8035-325DD94EE4D7}"/>
                  </a:ext>
                </a:extLst>
              </p:cNvPr>
              <p:cNvSpPr/>
              <p:nvPr/>
            </p:nvSpPr>
            <p:spPr>
              <a:xfrm>
                <a:off x="1825824" y="3786486"/>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C6A01BCF-41C0-48CB-B059-063729953434}"/>
                  </a:ext>
                </a:extLst>
              </p:cNvPr>
              <p:cNvSpPr/>
              <p:nvPr/>
            </p:nvSpPr>
            <p:spPr>
              <a:xfrm>
                <a:off x="1825824" y="4165513"/>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63EDBF62-BEBB-4669-B9E7-9341D3443376}"/>
                </a:ext>
              </a:extLst>
            </p:cNvPr>
            <p:cNvGrpSpPr/>
            <p:nvPr/>
          </p:nvGrpSpPr>
          <p:grpSpPr>
            <a:xfrm>
              <a:off x="6345663" y="2835671"/>
              <a:ext cx="1017984" cy="1334118"/>
              <a:chOff x="1825824" y="3407459"/>
              <a:chExt cx="1017984" cy="1334118"/>
            </a:xfrm>
          </p:grpSpPr>
          <p:sp>
            <p:nvSpPr>
              <p:cNvPr id="36" name="橢圓 35">
                <a:extLst>
                  <a:ext uri="{FF2B5EF4-FFF2-40B4-BE49-F238E27FC236}">
                    <a16:creationId xmlns:a16="http://schemas.microsoft.com/office/drawing/2014/main" id="{B9CD7486-1963-4003-AC45-1496B28BFC1C}"/>
                  </a:ext>
                </a:extLst>
              </p:cNvPr>
              <p:cNvSpPr/>
              <p:nvPr/>
            </p:nvSpPr>
            <p:spPr>
              <a:xfrm>
                <a:off x="1835696" y="3407459"/>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D3C39FC8-4747-4BEF-BE30-928E9A69C61E}"/>
                  </a:ext>
                </a:extLst>
              </p:cNvPr>
              <p:cNvSpPr/>
              <p:nvPr/>
            </p:nvSpPr>
            <p:spPr>
              <a:xfrm>
                <a:off x="1825824" y="4453545"/>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接點 37">
                <a:extLst>
                  <a:ext uri="{FF2B5EF4-FFF2-40B4-BE49-F238E27FC236}">
                    <a16:creationId xmlns:a16="http://schemas.microsoft.com/office/drawing/2014/main" id="{16601CF0-5EF2-41C3-B831-D9579D81F2EE}"/>
                  </a:ext>
                </a:extLst>
              </p:cNvPr>
              <p:cNvCxnSpPr>
                <a:cxnSpLocks/>
                <a:stCxn id="36" idx="2"/>
                <a:endCxn id="37" idx="2"/>
              </p:cNvCxnSpPr>
              <p:nvPr/>
            </p:nvCxnSpPr>
            <p:spPr>
              <a:xfrm flipH="1">
                <a:off x="1825824"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8BADA8AD-B2DF-4CDC-900A-FA9B1DDBC0F4}"/>
                  </a:ext>
                </a:extLst>
              </p:cNvPr>
              <p:cNvCxnSpPr>
                <a:cxnSpLocks/>
                <a:stCxn id="36" idx="6"/>
                <a:endCxn id="37" idx="6"/>
              </p:cNvCxnSpPr>
              <p:nvPr/>
            </p:nvCxnSpPr>
            <p:spPr>
              <a:xfrm flipH="1">
                <a:off x="2833936"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40" name="橢圓 39">
                <a:extLst>
                  <a:ext uri="{FF2B5EF4-FFF2-40B4-BE49-F238E27FC236}">
                    <a16:creationId xmlns:a16="http://schemas.microsoft.com/office/drawing/2014/main" id="{F77B6FD8-5405-4EF9-B298-E243799F319C}"/>
                  </a:ext>
                </a:extLst>
              </p:cNvPr>
              <p:cNvSpPr/>
              <p:nvPr/>
            </p:nvSpPr>
            <p:spPr>
              <a:xfrm>
                <a:off x="1825824" y="3786486"/>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079EBB41-9EFD-49A1-A163-7ED5F8C5D6CC}"/>
                  </a:ext>
                </a:extLst>
              </p:cNvPr>
              <p:cNvSpPr/>
              <p:nvPr/>
            </p:nvSpPr>
            <p:spPr>
              <a:xfrm>
                <a:off x="1825824" y="4165513"/>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2" name="群組 41">
              <a:extLst>
                <a:ext uri="{FF2B5EF4-FFF2-40B4-BE49-F238E27FC236}">
                  <a16:creationId xmlns:a16="http://schemas.microsoft.com/office/drawing/2014/main" id="{7DC5C948-A6C5-4987-8E5C-73991BBC12A2}"/>
                </a:ext>
              </a:extLst>
            </p:cNvPr>
            <p:cNvGrpSpPr/>
            <p:nvPr/>
          </p:nvGrpSpPr>
          <p:grpSpPr>
            <a:xfrm>
              <a:off x="5841607" y="3708251"/>
              <a:ext cx="1017984" cy="1334118"/>
              <a:chOff x="1825824" y="3407459"/>
              <a:chExt cx="1017984" cy="1334118"/>
            </a:xfrm>
          </p:grpSpPr>
          <p:sp>
            <p:nvSpPr>
              <p:cNvPr id="43" name="橢圓 42">
                <a:extLst>
                  <a:ext uri="{FF2B5EF4-FFF2-40B4-BE49-F238E27FC236}">
                    <a16:creationId xmlns:a16="http://schemas.microsoft.com/office/drawing/2014/main" id="{AA1DFC44-EC05-47B9-8D82-641F8621BD01}"/>
                  </a:ext>
                </a:extLst>
              </p:cNvPr>
              <p:cNvSpPr/>
              <p:nvPr/>
            </p:nvSpPr>
            <p:spPr>
              <a:xfrm>
                <a:off x="1835696" y="3407459"/>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43">
                <a:extLst>
                  <a:ext uri="{FF2B5EF4-FFF2-40B4-BE49-F238E27FC236}">
                    <a16:creationId xmlns:a16="http://schemas.microsoft.com/office/drawing/2014/main" id="{E78DD080-E3CA-4B1F-B4E7-DB9FBFF5100D}"/>
                  </a:ext>
                </a:extLst>
              </p:cNvPr>
              <p:cNvSpPr/>
              <p:nvPr/>
            </p:nvSpPr>
            <p:spPr>
              <a:xfrm>
                <a:off x="1825824" y="4453545"/>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5" name="直線接點 44">
                <a:extLst>
                  <a:ext uri="{FF2B5EF4-FFF2-40B4-BE49-F238E27FC236}">
                    <a16:creationId xmlns:a16="http://schemas.microsoft.com/office/drawing/2014/main" id="{7BA9C76D-5D5D-45A3-BC55-922F220AF7C7}"/>
                  </a:ext>
                </a:extLst>
              </p:cNvPr>
              <p:cNvCxnSpPr>
                <a:cxnSpLocks/>
                <a:stCxn id="43" idx="2"/>
                <a:endCxn id="44" idx="2"/>
              </p:cNvCxnSpPr>
              <p:nvPr/>
            </p:nvCxnSpPr>
            <p:spPr>
              <a:xfrm flipH="1">
                <a:off x="1825824"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85B79F1E-329A-4196-B3DA-3BAC66359F33}"/>
                  </a:ext>
                </a:extLst>
              </p:cNvPr>
              <p:cNvCxnSpPr>
                <a:cxnSpLocks/>
                <a:stCxn id="43" idx="6"/>
                <a:endCxn id="44" idx="6"/>
              </p:cNvCxnSpPr>
              <p:nvPr/>
            </p:nvCxnSpPr>
            <p:spPr>
              <a:xfrm flipH="1">
                <a:off x="2833936"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945ED9D6-30AF-46E1-ADD0-FFA4A1073832}"/>
                  </a:ext>
                </a:extLst>
              </p:cNvPr>
              <p:cNvSpPr/>
              <p:nvPr/>
            </p:nvSpPr>
            <p:spPr>
              <a:xfrm>
                <a:off x="1825824" y="3786486"/>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橢圓 47">
                <a:extLst>
                  <a:ext uri="{FF2B5EF4-FFF2-40B4-BE49-F238E27FC236}">
                    <a16:creationId xmlns:a16="http://schemas.microsoft.com/office/drawing/2014/main" id="{855E3FFB-DA26-4BA6-A0D8-18E5C04171DC}"/>
                  </a:ext>
                </a:extLst>
              </p:cNvPr>
              <p:cNvSpPr/>
              <p:nvPr/>
            </p:nvSpPr>
            <p:spPr>
              <a:xfrm>
                <a:off x="1825824" y="4165513"/>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9" name="群組 48">
              <a:extLst>
                <a:ext uri="{FF2B5EF4-FFF2-40B4-BE49-F238E27FC236}">
                  <a16:creationId xmlns:a16="http://schemas.microsoft.com/office/drawing/2014/main" id="{EA1C63CF-637E-4060-88AB-F4AC6829F710}"/>
                </a:ext>
              </a:extLst>
            </p:cNvPr>
            <p:cNvGrpSpPr/>
            <p:nvPr/>
          </p:nvGrpSpPr>
          <p:grpSpPr>
            <a:xfrm>
              <a:off x="5181602" y="4504013"/>
              <a:ext cx="1017984" cy="1334118"/>
              <a:chOff x="1825824" y="3407459"/>
              <a:chExt cx="1017984" cy="1334118"/>
            </a:xfrm>
          </p:grpSpPr>
          <p:sp>
            <p:nvSpPr>
              <p:cNvPr id="50" name="橢圓 49">
                <a:extLst>
                  <a:ext uri="{FF2B5EF4-FFF2-40B4-BE49-F238E27FC236}">
                    <a16:creationId xmlns:a16="http://schemas.microsoft.com/office/drawing/2014/main" id="{7EB2711D-0D3F-4A49-9201-0C5A7873310A}"/>
                  </a:ext>
                </a:extLst>
              </p:cNvPr>
              <p:cNvSpPr/>
              <p:nvPr/>
            </p:nvSpPr>
            <p:spPr>
              <a:xfrm>
                <a:off x="1835696" y="3407459"/>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橢圓 50">
                <a:extLst>
                  <a:ext uri="{FF2B5EF4-FFF2-40B4-BE49-F238E27FC236}">
                    <a16:creationId xmlns:a16="http://schemas.microsoft.com/office/drawing/2014/main" id="{AAB89B1C-6372-4FCC-84CB-C949EEA33570}"/>
                  </a:ext>
                </a:extLst>
              </p:cNvPr>
              <p:cNvSpPr/>
              <p:nvPr/>
            </p:nvSpPr>
            <p:spPr>
              <a:xfrm>
                <a:off x="1825824" y="4453545"/>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2" name="直線接點 51">
                <a:extLst>
                  <a:ext uri="{FF2B5EF4-FFF2-40B4-BE49-F238E27FC236}">
                    <a16:creationId xmlns:a16="http://schemas.microsoft.com/office/drawing/2014/main" id="{395326B4-AFE9-4361-ABAA-318C178850FE}"/>
                  </a:ext>
                </a:extLst>
              </p:cNvPr>
              <p:cNvCxnSpPr>
                <a:cxnSpLocks/>
                <a:stCxn id="50" idx="2"/>
                <a:endCxn id="51" idx="2"/>
              </p:cNvCxnSpPr>
              <p:nvPr/>
            </p:nvCxnSpPr>
            <p:spPr>
              <a:xfrm flipH="1">
                <a:off x="1825824"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C7E20F9D-CB61-4283-97EC-9408886629E9}"/>
                  </a:ext>
                </a:extLst>
              </p:cNvPr>
              <p:cNvCxnSpPr>
                <a:cxnSpLocks/>
                <a:stCxn id="50" idx="6"/>
                <a:endCxn id="51" idx="6"/>
              </p:cNvCxnSpPr>
              <p:nvPr/>
            </p:nvCxnSpPr>
            <p:spPr>
              <a:xfrm flipH="1">
                <a:off x="2833936"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54" name="橢圓 53">
                <a:extLst>
                  <a:ext uri="{FF2B5EF4-FFF2-40B4-BE49-F238E27FC236}">
                    <a16:creationId xmlns:a16="http://schemas.microsoft.com/office/drawing/2014/main" id="{04639EFD-CE7C-4A58-BB5E-0CE899AE558D}"/>
                  </a:ext>
                </a:extLst>
              </p:cNvPr>
              <p:cNvSpPr/>
              <p:nvPr/>
            </p:nvSpPr>
            <p:spPr>
              <a:xfrm>
                <a:off x="1825824" y="3786486"/>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橢圓 54">
                <a:extLst>
                  <a:ext uri="{FF2B5EF4-FFF2-40B4-BE49-F238E27FC236}">
                    <a16:creationId xmlns:a16="http://schemas.microsoft.com/office/drawing/2014/main" id="{2877F29B-65C0-4805-AE13-8583B0345F2A}"/>
                  </a:ext>
                </a:extLst>
              </p:cNvPr>
              <p:cNvSpPr/>
              <p:nvPr/>
            </p:nvSpPr>
            <p:spPr>
              <a:xfrm>
                <a:off x="1825824" y="4165513"/>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6" name="群組 55">
              <a:extLst>
                <a:ext uri="{FF2B5EF4-FFF2-40B4-BE49-F238E27FC236}">
                  <a16:creationId xmlns:a16="http://schemas.microsoft.com/office/drawing/2014/main" id="{5F16F01A-3F76-44FD-854D-86126CE9D11F}"/>
                </a:ext>
              </a:extLst>
            </p:cNvPr>
            <p:cNvGrpSpPr/>
            <p:nvPr/>
          </p:nvGrpSpPr>
          <p:grpSpPr>
            <a:xfrm>
              <a:off x="6345663" y="4452020"/>
              <a:ext cx="1017984" cy="1334118"/>
              <a:chOff x="1825824" y="3407459"/>
              <a:chExt cx="1017984" cy="1334118"/>
            </a:xfrm>
          </p:grpSpPr>
          <p:sp>
            <p:nvSpPr>
              <p:cNvPr id="57" name="橢圓 56">
                <a:extLst>
                  <a:ext uri="{FF2B5EF4-FFF2-40B4-BE49-F238E27FC236}">
                    <a16:creationId xmlns:a16="http://schemas.microsoft.com/office/drawing/2014/main" id="{9B5D088C-339D-43BB-AA94-D6601E5AC1E4}"/>
                  </a:ext>
                </a:extLst>
              </p:cNvPr>
              <p:cNvSpPr/>
              <p:nvPr/>
            </p:nvSpPr>
            <p:spPr>
              <a:xfrm>
                <a:off x="1835696" y="3407459"/>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橢圓 57">
                <a:extLst>
                  <a:ext uri="{FF2B5EF4-FFF2-40B4-BE49-F238E27FC236}">
                    <a16:creationId xmlns:a16="http://schemas.microsoft.com/office/drawing/2014/main" id="{3869DB0D-806D-4D03-820D-FE1C4B234784}"/>
                  </a:ext>
                </a:extLst>
              </p:cNvPr>
              <p:cNvSpPr/>
              <p:nvPr/>
            </p:nvSpPr>
            <p:spPr>
              <a:xfrm>
                <a:off x="1825824" y="4453545"/>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直線接點 58">
                <a:extLst>
                  <a:ext uri="{FF2B5EF4-FFF2-40B4-BE49-F238E27FC236}">
                    <a16:creationId xmlns:a16="http://schemas.microsoft.com/office/drawing/2014/main" id="{6ABE15EB-6839-46B8-ADAE-10D399452F0D}"/>
                  </a:ext>
                </a:extLst>
              </p:cNvPr>
              <p:cNvCxnSpPr>
                <a:cxnSpLocks/>
                <a:stCxn id="57" idx="2"/>
                <a:endCxn id="58" idx="2"/>
              </p:cNvCxnSpPr>
              <p:nvPr/>
            </p:nvCxnSpPr>
            <p:spPr>
              <a:xfrm flipH="1">
                <a:off x="1825824"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DD930397-36F8-4058-A979-9447E22D2438}"/>
                  </a:ext>
                </a:extLst>
              </p:cNvPr>
              <p:cNvCxnSpPr>
                <a:cxnSpLocks/>
                <a:stCxn id="57" idx="6"/>
                <a:endCxn id="58" idx="6"/>
              </p:cNvCxnSpPr>
              <p:nvPr/>
            </p:nvCxnSpPr>
            <p:spPr>
              <a:xfrm flipH="1">
                <a:off x="2833936" y="3551475"/>
                <a:ext cx="9872" cy="1046086"/>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61" name="橢圓 60">
                <a:extLst>
                  <a:ext uri="{FF2B5EF4-FFF2-40B4-BE49-F238E27FC236}">
                    <a16:creationId xmlns:a16="http://schemas.microsoft.com/office/drawing/2014/main" id="{061CA4BF-2670-44EA-AE2F-D7D754C977A2}"/>
                  </a:ext>
                </a:extLst>
              </p:cNvPr>
              <p:cNvSpPr/>
              <p:nvPr/>
            </p:nvSpPr>
            <p:spPr>
              <a:xfrm>
                <a:off x="1825824" y="3786486"/>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96826AE1-6FA6-4026-A130-C69F074E17DD}"/>
                  </a:ext>
                </a:extLst>
              </p:cNvPr>
              <p:cNvSpPr/>
              <p:nvPr/>
            </p:nvSpPr>
            <p:spPr>
              <a:xfrm>
                <a:off x="1825824" y="4165513"/>
                <a:ext cx="1008112" cy="2880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66" name="群組 65">
            <a:extLst>
              <a:ext uri="{FF2B5EF4-FFF2-40B4-BE49-F238E27FC236}">
                <a16:creationId xmlns:a16="http://schemas.microsoft.com/office/drawing/2014/main" id="{66986ACF-8BE6-4071-9060-56E27CEC3AB3}"/>
              </a:ext>
            </a:extLst>
          </p:cNvPr>
          <p:cNvGrpSpPr/>
          <p:nvPr/>
        </p:nvGrpSpPr>
        <p:grpSpPr>
          <a:xfrm>
            <a:off x="1430186" y="3005734"/>
            <a:ext cx="1872208" cy="2664296"/>
            <a:chOff x="1043608" y="3142938"/>
            <a:chExt cx="1872208" cy="2664296"/>
          </a:xfrm>
        </p:grpSpPr>
        <p:sp>
          <p:nvSpPr>
            <p:cNvPr id="5" name="橢圓 4">
              <a:extLst>
                <a:ext uri="{FF2B5EF4-FFF2-40B4-BE49-F238E27FC236}">
                  <a16:creationId xmlns:a16="http://schemas.microsoft.com/office/drawing/2014/main" id="{804B49F9-4BD8-4B61-AFC2-D35E9460C1C0}"/>
                </a:ext>
              </a:extLst>
            </p:cNvPr>
            <p:cNvSpPr/>
            <p:nvPr/>
          </p:nvSpPr>
          <p:spPr>
            <a:xfrm>
              <a:off x="1061764" y="3142938"/>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a:extLst>
                <a:ext uri="{FF2B5EF4-FFF2-40B4-BE49-F238E27FC236}">
                  <a16:creationId xmlns:a16="http://schemas.microsoft.com/office/drawing/2014/main" id="{6D65A449-E7A4-4096-9E22-1E8D862A8F12}"/>
                </a:ext>
              </a:extLst>
            </p:cNvPr>
            <p:cNvSpPr/>
            <p:nvPr/>
          </p:nvSpPr>
          <p:spPr>
            <a:xfrm>
              <a:off x="1043608" y="5232021"/>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49361E34-D8EE-428E-B736-768660C9AA56}"/>
                </a:ext>
              </a:extLst>
            </p:cNvPr>
            <p:cNvCxnSpPr>
              <a:cxnSpLocks/>
              <a:stCxn id="5" idx="2"/>
              <a:endCxn id="6" idx="2"/>
            </p:cNvCxnSpPr>
            <p:nvPr/>
          </p:nvCxnSpPr>
          <p:spPr>
            <a:xfrm flipH="1">
              <a:off x="1043608" y="3430545"/>
              <a:ext cx="18156" cy="208908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160ECE4E-6633-490D-91CE-9D462FE09F71}"/>
                </a:ext>
              </a:extLst>
            </p:cNvPr>
            <p:cNvCxnSpPr>
              <a:cxnSpLocks/>
              <a:stCxn id="5" idx="6"/>
              <a:endCxn id="6" idx="6"/>
            </p:cNvCxnSpPr>
            <p:nvPr/>
          </p:nvCxnSpPr>
          <p:spPr>
            <a:xfrm flipH="1">
              <a:off x="2897660" y="3430545"/>
              <a:ext cx="18156" cy="2089083"/>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C20D8BDF-6EF3-4B80-A6CC-A953D23E7C60}"/>
                </a:ext>
              </a:extLst>
            </p:cNvPr>
            <p:cNvSpPr/>
            <p:nvPr/>
          </p:nvSpPr>
          <p:spPr>
            <a:xfrm>
              <a:off x="1043608" y="3899873"/>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a:extLst>
                <a:ext uri="{FF2B5EF4-FFF2-40B4-BE49-F238E27FC236}">
                  <a16:creationId xmlns:a16="http://schemas.microsoft.com/office/drawing/2014/main" id="{1A9BFC4C-1669-46D6-BE76-7E8E341497B6}"/>
                </a:ext>
              </a:extLst>
            </p:cNvPr>
            <p:cNvSpPr/>
            <p:nvPr/>
          </p:nvSpPr>
          <p:spPr>
            <a:xfrm>
              <a:off x="1043608" y="4656807"/>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橢圓 62">
              <a:extLst>
                <a:ext uri="{FF2B5EF4-FFF2-40B4-BE49-F238E27FC236}">
                  <a16:creationId xmlns:a16="http://schemas.microsoft.com/office/drawing/2014/main" id="{1CFF9815-1165-45AB-B940-062869785469}"/>
                </a:ext>
              </a:extLst>
            </p:cNvPr>
            <p:cNvSpPr/>
            <p:nvPr/>
          </p:nvSpPr>
          <p:spPr>
            <a:xfrm>
              <a:off x="1043608" y="3520986"/>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橢圓 63">
              <a:extLst>
                <a:ext uri="{FF2B5EF4-FFF2-40B4-BE49-F238E27FC236}">
                  <a16:creationId xmlns:a16="http://schemas.microsoft.com/office/drawing/2014/main" id="{7BC5D076-8633-4E0A-BB5E-3B487F765F88}"/>
                </a:ext>
              </a:extLst>
            </p:cNvPr>
            <p:cNvSpPr/>
            <p:nvPr/>
          </p:nvSpPr>
          <p:spPr>
            <a:xfrm>
              <a:off x="1052686" y="4286537"/>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a:extLst>
                <a:ext uri="{FF2B5EF4-FFF2-40B4-BE49-F238E27FC236}">
                  <a16:creationId xmlns:a16="http://schemas.microsoft.com/office/drawing/2014/main" id="{442EF21D-5B97-40C8-AED4-1A908FCD7030}"/>
                </a:ext>
              </a:extLst>
            </p:cNvPr>
            <p:cNvSpPr/>
            <p:nvPr/>
          </p:nvSpPr>
          <p:spPr>
            <a:xfrm>
              <a:off x="1043608" y="5027056"/>
              <a:ext cx="1854052" cy="575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a:bodyPr>
          <a:lstStyle/>
          <a:p>
            <a:pPr algn="l"/>
            <a:r>
              <a:rPr lang="en-US" altLang="zh-TW" sz="3600" dirty="0">
                <a:latin typeface="Times New Roman"/>
                <a:ea typeface="新細明體"/>
                <a:cs typeface="Times New Roman"/>
              </a:rPr>
              <a:t>RAID</a:t>
            </a:r>
            <a:endParaRPr lang="en-US" sz="3600"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2BF34781-3A8C-4336-8634-1438E83CCA62}"/>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Target: 1.Reliability 2. Performance</a:t>
            </a:r>
          </a:p>
          <a:p>
            <a:r>
              <a:rPr lang="en-US" altLang="zh-TW" dirty="0">
                <a:latin typeface="Times New Roman" panose="02020603050405020304" pitchFamily="18" charset="0"/>
                <a:cs typeface="Times New Roman" panose="02020603050405020304" pitchFamily="18" charset="0"/>
              </a:rPr>
              <a:t>Method:</a:t>
            </a:r>
          </a:p>
          <a:p>
            <a:pPr lvl="1"/>
            <a:r>
              <a:rPr lang="en-US" altLang="zh-TW" dirty="0">
                <a:latin typeface="Times New Roman" panose="02020603050405020304" pitchFamily="18" charset="0"/>
                <a:cs typeface="Times New Roman" panose="02020603050405020304" pitchFamily="18" charset="0"/>
              </a:rPr>
              <a:t>Striping</a:t>
            </a:r>
          </a:p>
          <a:p>
            <a:pPr lvl="1"/>
            <a:r>
              <a:rPr lang="en-US" altLang="zh-TW" dirty="0">
                <a:latin typeface="Times New Roman" panose="02020603050405020304" pitchFamily="18" charset="0"/>
                <a:cs typeface="Times New Roman" panose="02020603050405020304" pitchFamily="18" charset="0"/>
              </a:rPr>
              <a:t>Mirror</a:t>
            </a:r>
          </a:p>
          <a:p>
            <a:pPr lvl="1"/>
            <a:r>
              <a:rPr lang="en-US" altLang="zh-TW" dirty="0">
                <a:latin typeface="Times New Roman" panose="02020603050405020304" pitchFamily="18" charset="0"/>
                <a:cs typeface="Times New Roman" panose="02020603050405020304" pitchFamily="18" charset="0"/>
              </a:rPr>
              <a:t>Error correcting code</a:t>
            </a:r>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1585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7EB779BB-051E-4132-89A8-1E61775BCACF}"/>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RAID0</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id="{224EDD3B-95C7-4571-89FC-FBE1AE40A5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2348880"/>
            <a:ext cx="2647950" cy="2762250"/>
          </a:xfrm>
        </p:spPr>
      </p:pic>
      <p:pic>
        <p:nvPicPr>
          <p:cNvPr id="10" name="圖片 9">
            <a:extLst>
              <a:ext uri="{FF2B5EF4-FFF2-40B4-BE49-F238E27FC236}">
                <a16:creationId xmlns:a16="http://schemas.microsoft.com/office/drawing/2014/main" id="{86D3A35F-7F23-4E34-A7F5-8511FF5897F7}"/>
              </a:ext>
            </a:extLst>
          </p:cNvPr>
          <p:cNvPicPr>
            <a:picLocks noChangeAspect="1"/>
          </p:cNvPicPr>
          <p:nvPr/>
        </p:nvPicPr>
        <p:blipFill rotWithShape="1">
          <a:blip r:embed="rId3">
            <a:extLst>
              <a:ext uri="{28A0092B-C50C-407E-A947-70E740481C1C}">
                <a14:useLocalDpi xmlns:a14="http://schemas.microsoft.com/office/drawing/2010/main" val="0"/>
              </a:ext>
            </a:extLst>
          </a:blip>
          <a:srcRect b="10988"/>
          <a:stretch/>
        </p:blipFill>
        <p:spPr>
          <a:xfrm>
            <a:off x="5004048" y="2458244"/>
            <a:ext cx="2333625" cy="2543522"/>
          </a:xfrm>
          <a:prstGeom prst="rect">
            <a:avLst/>
          </a:prstGeom>
        </p:spPr>
      </p:pic>
    </p:spTree>
    <p:extLst>
      <p:ext uri="{BB962C8B-B14F-4D97-AF65-F5344CB8AC3E}">
        <p14:creationId xmlns:p14="http://schemas.microsoft.com/office/powerpoint/2010/main" val="34010412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RAID2</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C778D8FF-045F-433F-95F9-DA2F337F61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212976"/>
            <a:ext cx="8229600" cy="2596896"/>
          </a:xfrm>
        </p:spPr>
      </p:pic>
      <p:pic>
        <p:nvPicPr>
          <p:cNvPr id="7" name="圖片 6">
            <a:extLst>
              <a:ext uri="{FF2B5EF4-FFF2-40B4-BE49-F238E27FC236}">
                <a16:creationId xmlns:a16="http://schemas.microsoft.com/office/drawing/2014/main" id="{12DB5D51-AFA9-427A-ABD0-5C29288177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152" y="274638"/>
            <a:ext cx="2952750" cy="2800350"/>
          </a:xfrm>
          <a:prstGeom prst="rect">
            <a:avLst/>
          </a:prstGeom>
        </p:spPr>
      </p:pic>
    </p:spTree>
    <p:extLst>
      <p:ext uri="{BB962C8B-B14F-4D97-AF65-F5344CB8AC3E}">
        <p14:creationId xmlns:p14="http://schemas.microsoft.com/office/powerpoint/2010/main" val="19654107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RAID3</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id="{87850890-CD67-4256-ACFE-F284568B0C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4480" y="2348880"/>
            <a:ext cx="6275040" cy="2321858"/>
          </a:xfrm>
        </p:spPr>
      </p:pic>
    </p:spTree>
    <p:extLst>
      <p:ext uri="{BB962C8B-B14F-4D97-AF65-F5344CB8AC3E}">
        <p14:creationId xmlns:p14="http://schemas.microsoft.com/office/powerpoint/2010/main" val="20718635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RAID5</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E3B3CDD7-53A5-4869-AF7E-4313572E5E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323133"/>
            <a:ext cx="8229600" cy="4260229"/>
          </a:xfrm>
        </p:spPr>
      </p:pic>
      <p:pic>
        <p:nvPicPr>
          <p:cNvPr id="10" name="圖片 9">
            <a:extLst>
              <a:ext uri="{FF2B5EF4-FFF2-40B4-BE49-F238E27FC236}">
                <a16:creationId xmlns:a16="http://schemas.microsoft.com/office/drawing/2014/main" id="{EF64BA87-63A9-4FB3-A9B5-58673FFE8E69}"/>
              </a:ext>
            </a:extLst>
          </p:cNvPr>
          <p:cNvPicPr>
            <a:picLocks noChangeAspect="1"/>
          </p:cNvPicPr>
          <p:nvPr/>
        </p:nvPicPr>
        <p:blipFill rotWithShape="1">
          <a:blip r:embed="rId3">
            <a:extLst>
              <a:ext uri="{28A0092B-C50C-407E-A947-70E740481C1C}">
                <a14:useLocalDpi xmlns:a14="http://schemas.microsoft.com/office/drawing/2010/main" val="0"/>
              </a:ext>
            </a:extLst>
          </a:blip>
          <a:srcRect l="56167" t="18658"/>
          <a:stretch/>
        </p:blipFill>
        <p:spPr>
          <a:xfrm>
            <a:off x="5135905" y="190596"/>
            <a:ext cx="4008095" cy="2111541"/>
          </a:xfrm>
          <a:prstGeom prst="rect">
            <a:avLst/>
          </a:prstGeom>
        </p:spPr>
      </p:pic>
    </p:spTree>
    <p:extLst>
      <p:ext uri="{BB962C8B-B14F-4D97-AF65-F5344CB8AC3E}">
        <p14:creationId xmlns:p14="http://schemas.microsoft.com/office/powerpoint/2010/main" val="263239769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RAID6</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513A6B33-E408-4B1F-903E-4818B80197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44824"/>
            <a:ext cx="8229600" cy="2808798"/>
          </a:xfrm>
        </p:spPr>
      </p:pic>
    </p:spTree>
    <p:extLst>
      <p:ext uri="{BB962C8B-B14F-4D97-AF65-F5344CB8AC3E}">
        <p14:creationId xmlns:p14="http://schemas.microsoft.com/office/powerpoint/2010/main" val="35835017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RAID01</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79EA7271-13C8-4069-A583-FE7DFA1845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07181"/>
            <a:ext cx="8229600" cy="3312000"/>
          </a:xfrm>
        </p:spPr>
      </p:pic>
    </p:spTree>
    <p:extLst>
      <p:ext uri="{BB962C8B-B14F-4D97-AF65-F5344CB8AC3E}">
        <p14:creationId xmlns:p14="http://schemas.microsoft.com/office/powerpoint/2010/main" val="115814229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Synology Hybrid RAID (SHR)</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8E7D73F4-400E-46EC-BFE3-D655327FC6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958181"/>
            <a:ext cx="7620000" cy="3810000"/>
          </a:xfrm>
        </p:spPr>
      </p:pic>
    </p:spTree>
    <p:extLst>
      <p:ext uri="{BB962C8B-B14F-4D97-AF65-F5344CB8AC3E}">
        <p14:creationId xmlns:p14="http://schemas.microsoft.com/office/powerpoint/2010/main" val="42195835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47D5C-98C5-4074-A2E4-D3699BE8AC63}"/>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Why SHR</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8B0F197E-87AF-415E-9C6B-F7A9F1D869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9434" y="1600200"/>
            <a:ext cx="7765132" cy="4525963"/>
          </a:xfrm>
        </p:spPr>
      </p:pic>
      <p:sp>
        <p:nvSpPr>
          <p:cNvPr id="8" name="文字方塊 7">
            <a:extLst>
              <a:ext uri="{FF2B5EF4-FFF2-40B4-BE49-F238E27FC236}">
                <a16:creationId xmlns:a16="http://schemas.microsoft.com/office/drawing/2014/main" id="{590FB6CD-DF1C-465D-A7DE-D79ECDD7AE13}"/>
              </a:ext>
            </a:extLst>
          </p:cNvPr>
          <p:cNvSpPr txBox="1"/>
          <p:nvPr/>
        </p:nvSpPr>
        <p:spPr>
          <a:xfrm>
            <a:off x="1043608" y="6237312"/>
            <a:ext cx="6408712" cy="369332"/>
          </a:xfrm>
          <a:prstGeom prst="rect">
            <a:avLst/>
          </a:prstGeom>
          <a:noFill/>
        </p:spPr>
        <p:txBody>
          <a:bodyPr wrap="square" rtlCol="0">
            <a:spAutoFit/>
          </a:bodyPr>
          <a:lstStyle/>
          <a:p>
            <a:r>
              <a:rPr lang="en-US" altLang="zh-TW" dirty="0">
                <a:hlinkClick r:id="rId3"/>
              </a:rPr>
              <a:t>Usage calculator</a:t>
            </a:r>
            <a:endParaRPr lang="zh-TW" altLang="en-US" dirty="0"/>
          </a:p>
        </p:txBody>
      </p:sp>
    </p:spTree>
    <p:extLst>
      <p:ext uri="{BB962C8B-B14F-4D97-AF65-F5344CB8AC3E}">
        <p14:creationId xmlns:p14="http://schemas.microsoft.com/office/powerpoint/2010/main" val="10896880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2FB6B1-ECB3-4652-ABC9-DDC3D3DAB741}"/>
              </a:ext>
            </a:extLst>
          </p:cNvPr>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PPLAB</a:t>
            </a:r>
            <a:endParaRPr lang="zh-TW" altLang="en-US" dirty="0">
              <a:latin typeface="Times New Roman" panose="02020603050405020304" pitchFamily="18" charset="0"/>
              <a:cs typeface="Times New Roman" panose="02020603050405020304" pitchFamily="18" charset="0"/>
            </a:endParaRPr>
          </a:p>
        </p:txBody>
      </p:sp>
      <p:grpSp>
        <p:nvGrpSpPr>
          <p:cNvPr id="13" name="群組 12">
            <a:extLst>
              <a:ext uri="{FF2B5EF4-FFF2-40B4-BE49-F238E27FC236}">
                <a16:creationId xmlns:a16="http://schemas.microsoft.com/office/drawing/2014/main" id="{6711636B-3334-43FD-B60E-4D27A5AE6A93}"/>
              </a:ext>
            </a:extLst>
          </p:cNvPr>
          <p:cNvGrpSpPr/>
          <p:nvPr/>
        </p:nvGrpSpPr>
        <p:grpSpPr>
          <a:xfrm>
            <a:off x="4332167" y="3544731"/>
            <a:ext cx="1512168" cy="1143000"/>
            <a:chOff x="4355976" y="4221088"/>
            <a:chExt cx="1512168" cy="1143000"/>
          </a:xfrm>
        </p:grpSpPr>
        <p:sp>
          <p:nvSpPr>
            <p:cNvPr id="10" name="矩形 9">
              <a:extLst>
                <a:ext uri="{FF2B5EF4-FFF2-40B4-BE49-F238E27FC236}">
                  <a16:creationId xmlns:a16="http://schemas.microsoft.com/office/drawing/2014/main" id="{576790EB-B7DE-4176-82CA-DF7BCF36AF88}"/>
                </a:ext>
              </a:extLst>
            </p:cNvPr>
            <p:cNvSpPr/>
            <p:nvPr/>
          </p:nvSpPr>
          <p:spPr>
            <a:xfrm>
              <a:off x="4355976" y="4221088"/>
              <a:ext cx="1512168" cy="1143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endParaRPr>
            </a:p>
          </p:txBody>
        </p:sp>
        <p:sp>
          <p:nvSpPr>
            <p:cNvPr id="12" name="文字方塊 11">
              <a:extLst>
                <a:ext uri="{FF2B5EF4-FFF2-40B4-BE49-F238E27FC236}">
                  <a16:creationId xmlns:a16="http://schemas.microsoft.com/office/drawing/2014/main" id="{62A7C41D-3AF1-4B71-B34F-3DC1ACE8532F}"/>
                </a:ext>
              </a:extLst>
            </p:cNvPr>
            <p:cNvSpPr txBox="1"/>
            <p:nvPr/>
          </p:nvSpPr>
          <p:spPr>
            <a:xfrm>
              <a:off x="4644008" y="4607922"/>
              <a:ext cx="936104" cy="369332"/>
            </a:xfrm>
            <a:prstGeom prst="rect">
              <a:avLst/>
            </a:prstGeom>
            <a:noFill/>
          </p:spPr>
          <p:txBody>
            <a:bodyPr wrap="square" rtlCol="0">
              <a:spAutoFit/>
            </a:bodyPr>
            <a:lstStyle/>
            <a:p>
              <a:r>
                <a:rPr lang="en-US" altLang="zh-TW" dirty="0"/>
                <a:t>NAS 69</a:t>
              </a:r>
              <a:endParaRPr lang="zh-TW" altLang="en-US" dirty="0"/>
            </a:p>
          </p:txBody>
        </p:sp>
      </p:grpSp>
      <p:grpSp>
        <p:nvGrpSpPr>
          <p:cNvPr id="14" name="群組 13">
            <a:extLst>
              <a:ext uri="{FF2B5EF4-FFF2-40B4-BE49-F238E27FC236}">
                <a16:creationId xmlns:a16="http://schemas.microsoft.com/office/drawing/2014/main" id="{6CCF03CB-B34F-4161-A546-2B2BF59A9A6E}"/>
              </a:ext>
            </a:extLst>
          </p:cNvPr>
          <p:cNvGrpSpPr/>
          <p:nvPr/>
        </p:nvGrpSpPr>
        <p:grpSpPr>
          <a:xfrm>
            <a:off x="4332167" y="5474642"/>
            <a:ext cx="1512168" cy="1143000"/>
            <a:chOff x="4355976" y="4221088"/>
            <a:chExt cx="1512168" cy="1143000"/>
          </a:xfrm>
        </p:grpSpPr>
        <p:sp>
          <p:nvSpPr>
            <p:cNvPr id="15" name="矩形 14">
              <a:extLst>
                <a:ext uri="{FF2B5EF4-FFF2-40B4-BE49-F238E27FC236}">
                  <a16:creationId xmlns:a16="http://schemas.microsoft.com/office/drawing/2014/main" id="{9C97FFA3-5195-43BF-AB44-A06A7E3FBED5}"/>
                </a:ext>
              </a:extLst>
            </p:cNvPr>
            <p:cNvSpPr/>
            <p:nvPr/>
          </p:nvSpPr>
          <p:spPr>
            <a:xfrm>
              <a:off x="4355976" y="4221088"/>
              <a:ext cx="1512168" cy="1143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endParaRPr>
            </a:p>
          </p:txBody>
        </p:sp>
        <p:sp>
          <p:nvSpPr>
            <p:cNvPr id="16" name="文字方塊 15">
              <a:extLst>
                <a:ext uri="{FF2B5EF4-FFF2-40B4-BE49-F238E27FC236}">
                  <a16:creationId xmlns:a16="http://schemas.microsoft.com/office/drawing/2014/main" id="{3BA5B1FA-9F8B-4F30-87A3-EF8FD50546FD}"/>
                </a:ext>
              </a:extLst>
            </p:cNvPr>
            <p:cNvSpPr txBox="1"/>
            <p:nvPr/>
          </p:nvSpPr>
          <p:spPr>
            <a:xfrm>
              <a:off x="4644008" y="4607922"/>
              <a:ext cx="936104" cy="369332"/>
            </a:xfrm>
            <a:prstGeom prst="rect">
              <a:avLst/>
            </a:prstGeom>
            <a:noFill/>
          </p:spPr>
          <p:txBody>
            <a:bodyPr wrap="square" rtlCol="0">
              <a:spAutoFit/>
            </a:bodyPr>
            <a:lstStyle/>
            <a:p>
              <a:r>
                <a:rPr lang="en-US" altLang="zh-TW" dirty="0"/>
                <a:t>NAS 68</a:t>
              </a:r>
              <a:endParaRPr lang="zh-TW" altLang="en-US" dirty="0"/>
            </a:p>
          </p:txBody>
        </p:sp>
      </p:grpSp>
      <p:cxnSp>
        <p:nvCxnSpPr>
          <p:cNvPr id="20" name="直線單箭頭接點 19">
            <a:extLst>
              <a:ext uri="{FF2B5EF4-FFF2-40B4-BE49-F238E27FC236}">
                <a16:creationId xmlns:a16="http://schemas.microsoft.com/office/drawing/2014/main" id="{4057D39A-6572-4489-91FC-AB2322790552}"/>
              </a:ext>
            </a:extLst>
          </p:cNvPr>
          <p:cNvCxnSpPr/>
          <p:nvPr/>
        </p:nvCxnSpPr>
        <p:spPr>
          <a:xfrm>
            <a:off x="5556303" y="4687731"/>
            <a:ext cx="0" cy="786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CE597A01-71F4-471C-B717-4D04C154FF6B}"/>
              </a:ext>
            </a:extLst>
          </p:cNvPr>
          <p:cNvCxnSpPr/>
          <p:nvPr/>
        </p:nvCxnSpPr>
        <p:spPr>
          <a:xfrm flipV="1">
            <a:off x="4692207" y="4687731"/>
            <a:ext cx="0" cy="786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D86501F0-748B-4405-9086-D934787A673E}"/>
              </a:ext>
            </a:extLst>
          </p:cNvPr>
          <p:cNvSpPr txBox="1"/>
          <p:nvPr/>
        </p:nvSpPr>
        <p:spPr>
          <a:xfrm>
            <a:off x="5628311" y="4975448"/>
            <a:ext cx="936103" cy="369332"/>
          </a:xfrm>
          <a:prstGeom prst="rect">
            <a:avLst/>
          </a:prstGeom>
          <a:noFill/>
        </p:spPr>
        <p:txBody>
          <a:bodyPr wrap="square" rtlCol="0">
            <a:spAutoFit/>
          </a:bodyPr>
          <a:lstStyle/>
          <a:p>
            <a:r>
              <a:rPr lang="zh-TW" altLang="en-US" dirty="0"/>
              <a:t>備份</a:t>
            </a:r>
          </a:p>
        </p:txBody>
      </p:sp>
      <p:sp>
        <p:nvSpPr>
          <p:cNvPr id="24" name="文字方塊 23">
            <a:extLst>
              <a:ext uri="{FF2B5EF4-FFF2-40B4-BE49-F238E27FC236}">
                <a16:creationId xmlns:a16="http://schemas.microsoft.com/office/drawing/2014/main" id="{9C411EAD-9F77-4231-86AB-E74B1C6B58D0}"/>
              </a:ext>
            </a:extLst>
          </p:cNvPr>
          <p:cNvSpPr txBox="1"/>
          <p:nvPr/>
        </p:nvSpPr>
        <p:spPr>
          <a:xfrm>
            <a:off x="3897214" y="4975448"/>
            <a:ext cx="720081" cy="369332"/>
          </a:xfrm>
          <a:prstGeom prst="rect">
            <a:avLst/>
          </a:prstGeom>
          <a:noFill/>
        </p:spPr>
        <p:txBody>
          <a:bodyPr wrap="square" rtlCol="0">
            <a:spAutoFit/>
          </a:bodyPr>
          <a:lstStyle/>
          <a:p>
            <a:r>
              <a:rPr lang="zh-TW" altLang="en-US" dirty="0"/>
              <a:t>還原</a:t>
            </a:r>
          </a:p>
        </p:txBody>
      </p:sp>
      <p:grpSp>
        <p:nvGrpSpPr>
          <p:cNvPr id="51" name="群組 50">
            <a:extLst>
              <a:ext uri="{FF2B5EF4-FFF2-40B4-BE49-F238E27FC236}">
                <a16:creationId xmlns:a16="http://schemas.microsoft.com/office/drawing/2014/main" id="{92630478-11CE-4FE9-868B-125B7A8D0EFF}"/>
              </a:ext>
            </a:extLst>
          </p:cNvPr>
          <p:cNvGrpSpPr/>
          <p:nvPr/>
        </p:nvGrpSpPr>
        <p:grpSpPr>
          <a:xfrm>
            <a:off x="4340587" y="1466940"/>
            <a:ext cx="1512168" cy="1143000"/>
            <a:chOff x="4332167" y="1383358"/>
            <a:chExt cx="1512168" cy="1143000"/>
          </a:xfrm>
        </p:grpSpPr>
        <p:sp>
          <p:nvSpPr>
            <p:cNvPr id="4" name="矩形 3">
              <a:extLst>
                <a:ext uri="{FF2B5EF4-FFF2-40B4-BE49-F238E27FC236}">
                  <a16:creationId xmlns:a16="http://schemas.microsoft.com/office/drawing/2014/main" id="{2A870F71-EB31-4CAD-B008-ACE00AE22D16}"/>
                </a:ext>
              </a:extLst>
            </p:cNvPr>
            <p:cNvSpPr/>
            <p:nvPr/>
          </p:nvSpPr>
          <p:spPr>
            <a:xfrm>
              <a:off x="4332167" y="1383358"/>
              <a:ext cx="1512168" cy="1143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endParaRPr>
            </a:p>
          </p:txBody>
        </p:sp>
        <p:sp>
          <p:nvSpPr>
            <p:cNvPr id="5" name="矩形 4">
              <a:extLst>
                <a:ext uri="{FF2B5EF4-FFF2-40B4-BE49-F238E27FC236}">
                  <a16:creationId xmlns:a16="http://schemas.microsoft.com/office/drawing/2014/main" id="{0708E592-51E5-4ADA-AA85-718F838D8574}"/>
                </a:ext>
              </a:extLst>
            </p:cNvPr>
            <p:cNvSpPr/>
            <p:nvPr/>
          </p:nvSpPr>
          <p:spPr>
            <a:xfrm>
              <a:off x="4836223" y="1968714"/>
              <a:ext cx="1008112" cy="557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VM</a:t>
              </a:r>
            </a:p>
            <a:p>
              <a:pPr algn="ctr"/>
              <a:r>
                <a:rPr lang="en-US" altLang="zh-TW" dirty="0">
                  <a:solidFill>
                    <a:sysClr val="windowText" lastClr="000000"/>
                  </a:solidFill>
                </a:rPr>
                <a:t>41</a:t>
              </a:r>
              <a:endParaRPr lang="zh-TW" altLang="en-US" dirty="0">
                <a:solidFill>
                  <a:sysClr val="windowText" lastClr="000000"/>
                </a:solidFill>
              </a:endParaRPr>
            </a:p>
          </p:txBody>
        </p:sp>
        <p:sp>
          <p:nvSpPr>
            <p:cNvPr id="6" name="文字方塊 5">
              <a:extLst>
                <a:ext uri="{FF2B5EF4-FFF2-40B4-BE49-F238E27FC236}">
                  <a16:creationId xmlns:a16="http://schemas.microsoft.com/office/drawing/2014/main" id="{8CBE41E3-4DF1-4AB2-81E3-18A7FAA08BA2}"/>
                </a:ext>
              </a:extLst>
            </p:cNvPr>
            <p:cNvSpPr txBox="1"/>
            <p:nvPr/>
          </p:nvSpPr>
          <p:spPr>
            <a:xfrm>
              <a:off x="5268271" y="1599382"/>
              <a:ext cx="432048" cy="369332"/>
            </a:xfrm>
            <a:prstGeom prst="rect">
              <a:avLst/>
            </a:prstGeom>
            <a:noFill/>
          </p:spPr>
          <p:txBody>
            <a:bodyPr wrap="square" rtlCol="0">
              <a:spAutoFit/>
            </a:bodyPr>
            <a:lstStyle/>
            <a:p>
              <a:r>
                <a:rPr lang="en-US" altLang="zh-TW" dirty="0"/>
                <a:t>65</a:t>
              </a:r>
              <a:endParaRPr lang="zh-TW" altLang="en-US" dirty="0"/>
            </a:p>
          </p:txBody>
        </p:sp>
        <p:sp>
          <p:nvSpPr>
            <p:cNvPr id="25" name="矩形 24">
              <a:extLst>
                <a:ext uri="{FF2B5EF4-FFF2-40B4-BE49-F238E27FC236}">
                  <a16:creationId xmlns:a16="http://schemas.microsoft.com/office/drawing/2014/main" id="{8DE15D9D-AAEC-4A37-AD3B-6874D49CBF9C}"/>
                </a:ext>
              </a:extLst>
            </p:cNvPr>
            <p:cNvSpPr/>
            <p:nvPr/>
          </p:nvSpPr>
          <p:spPr>
            <a:xfrm>
              <a:off x="5484295" y="2247536"/>
              <a:ext cx="360040" cy="278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6" name="矩形 25">
            <a:extLst>
              <a:ext uri="{FF2B5EF4-FFF2-40B4-BE49-F238E27FC236}">
                <a16:creationId xmlns:a16="http://schemas.microsoft.com/office/drawing/2014/main" id="{3B51A3A5-CDFE-49EE-8544-4C3EEC838344}"/>
              </a:ext>
            </a:extLst>
          </p:cNvPr>
          <p:cNvSpPr/>
          <p:nvPr/>
        </p:nvSpPr>
        <p:spPr>
          <a:xfrm>
            <a:off x="4332167" y="3544731"/>
            <a:ext cx="360040" cy="278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接點 27">
            <a:extLst>
              <a:ext uri="{FF2B5EF4-FFF2-40B4-BE49-F238E27FC236}">
                <a16:creationId xmlns:a16="http://schemas.microsoft.com/office/drawing/2014/main" id="{E635D770-D793-40A0-85B7-F0890DE85AC8}"/>
              </a:ext>
            </a:extLst>
          </p:cNvPr>
          <p:cNvCxnSpPr>
            <a:cxnSpLocks/>
            <a:stCxn id="25" idx="2"/>
            <a:endCxn id="26" idx="0"/>
          </p:cNvCxnSpPr>
          <p:nvPr/>
        </p:nvCxnSpPr>
        <p:spPr>
          <a:xfrm flipH="1">
            <a:off x="4512187" y="2609940"/>
            <a:ext cx="1160548" cy="934791"/>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1F69AD9A-9A48-44A8-A04F-4FDB5E803733}"/>
              </a:ext>
            </a:extLst>
          </p:cNvPr>
          <p:cNvSpPr txBox="1"/>
          <p:nvPr/>
        </p:nvSpPr>
        <p:spPr>
          <a:xfrm>
            <a:off x="5088251" y="2970267"/>
            <a:ext cx="936104" cy="369332"/>
          </a:xfrm>
          <a:prstGeom prst="rect">
            <a:avLst/>
          </a:prstGeom>
          <a:noFill/>
        </p:spPr>
        <p:txBody>
          <a:bodyPr wrap="square" rtlCol="0">
            <a:spAutoFit/>
          </a:bodyPr>
          <a:lstStyle/>
          <a:p>
            <a:r>
              <a:rPr lang="en-US" altLang="zh-TW" dirty="0"/>
              <a:t>Mount</a:t>
            </a:r>
            <a:endParaRPr lang="zh-TW" altLang="en-US" dirty="0"/>
          </a:p>
        </p:txBody>
      </p:sp>
      <p:cxnSp>
        <p:nvCxnSpPr>
          <p:cNvPr id="32" name="直線單箭頭接點 31">
            <a:extLst>
              <a:ext uri="{FF2B5EF4-FFF2-40B4-BE49-F238E27FC236}">
                <a16:creationId xmlns:a16="http://schemas.microsoft.com/office/drawing/2014/main" id="{39663D0F-3A35-4F73-BC3A-FA921D033C31}"/>
              </a:ext>
            </a:extLst>
          </p:cNvPr>
          <p:cNvCxnSpPr>
            <a:cxnSpLocks/>
            <a:stCxn id="34" idx="2"/>
            <a:endCxn id="10" idx="3"/>
          </p:cNvCxnSpPr>
          <p:nvPr/>
        </p:nvCxnSpPr>
        <p:spPr>
          <a:xfrm flipH="1">
            <a:off x="5844335" y="4105687"/>
            <a:ext cx="2219545" cy="10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4F3807DF-0BB2-4C9A-B2CF-FBF289B68830}"/>
              </a:ext>
            </a:extLst>
          </p:cNvPr>
          <p:cNvSpPr txBox="1"/>
          <p:nvPr/>
        </p:nvSpPr>
        <p:spPr>
          <a:xfrm>
            <a:off x="6420399" y="4105687"/>
            <a:ext cx="792088" cy="369332"/>
          </a:xfrm>
          <a:prstGeom prst="rect">
            <a:avLst/>
          </a:prstGeom>
          <a:noFill/>
        </p:spPr>
        <p:txBody>
          <a:bodyPr wrap="square" rtlCol="0">
            <a:spAutoFit/>
          </a:bodyPr>
          <a:lstStyle/>
          <a:p>
            <a:r>
              <a:rPr lang="en-US" altLang="zh-TW" dirty="0"/>
              <a:t>HTML</a:t>
            </a:r>
            <a:endParaRPr lang="zh-TW" altLang="en-US" dirty="0"/>
          </a:p>
        </p:txBody>
      </p:sp>
      <p:sp>
        <p:nvSpPr>
          <p:cNvPr id="34" name="橢圓 33">
            <a:extLst>
              <a:ext uri="{FF2B5EF4-FFF2-40B4-BE49-F238E27FC236}">
                <a16:creationId xmlns:a16="http://schemas.microsoft.com/office/drawing/2014/main" id="{C07D1670-5646-405D-8F58-0A0263E4F222}"/>
              </a:ext>
            </a:extLst>
          </p:cNvPr>
          <p:cNvSpPr/>
          <p:nvPr/>
        </p:nvSpPr>
        <p:spPr>
          <a:xfrm>
            <a:off x="8063880" y="3745647"/>
            <a:ext cx="1080120" cy="7200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User</a:t>
            </a:r>
            <a:endParaRPr lang="zh-TW" altLang="en-US" dirty="0"/>
          </a:p>
        </p:txBody>
      </p:sp>
      <p:grpSp>
        <p:nvGrpSpPr>
          <p:cNvPr id="52" name="群組 51">
            <a:extLst>
              <a:ext uri="{FF2B5EF4-FFF2-40B4-BE49-F238E27FC236}">
                <a16:creationId xmlns:a16="http://schemas.microsoft.com/office/drawing/2014/main" id="{A37EA535-8956-410B-B5F8-616EE6B5B427}"/>
              </a:ext>
            </a:extLst>
          </p:cNvPr>
          <p:cNvGrpSpPr/>
          <p:nvPr/>
        </p:nvGrpSpPr>
        <p:grpSpPr>
          <a:xfrm>
            <a:off x="1505853" y="3544731"/>
            <a:ext cx="1512168" cy="1143000"/>
            <a:chOff x="1259632" y="3549955"/>
            <a:chExt cx="1512168" cy="1143000"/>
          </a:xfrm>
        </p:grpSpPr>
        <p:grpSp>
          <p:nvGrpSpPr>
            <p:cNvPr id="41" name="群組 40">
              <a:extLst>
                <a:ext uri="{FF2B5EF4-FFF2-40B4-BE49-F238E27FC236}">
                  <a16:creationId xmlns:a16="http://schemas.microsoft.com/office/drawing/2014/main" id="{56EE86C4-3E14-49A3-975E-5E4B640A3027}"/>
                </a:ext>
              </a:extLst>
            </p:cNvPr>
            <p:cNvGrpSpPr/>
            <p:nvPr/>
          </p:nvGrpSpPr>
          <p:grpSpPr>
            <a:xfrm>
              <a:off x="1259632" y="3549955"/>
              <a:ext cx="1512168" cy="1143000"/>
              <a:chOff x="2123728" y="2348880"/>
              <a:chExt cx="1512168" cy="1143000"/>
            </a:xfrm>
          </p:grpSpPr>
          <p:sp>
            <p:nvSpPr>
              <p:cNvPr id="42" name="矩形 41">
                <a:extLst>
                  <a:ext uri="{FF2B5EF4-FFF2-40B4-BE49-F238E27FC236}">
                    <a16:creationId xmlns:a16="http://schemas.microsoft.com/office/drawing/2014/main" id="{E2C6823B-C120-4E5C-A872-9C432AC1F8E2}"/>
                  </a:ext>
                </a:extLst>
              </p:cNvPr>
              <p:cNvSpPr/>
              <p:nvPr/>
            </p:nvSpPr>
            <p:spPr>
              <a:xfrm>
                <a:off x="2123728" y="2348880"/>
                <a:ext cx="1512168" cy="1143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ysClr val="windowText" lastClr="000000"/>
                  </a:solidFill>
                </a:endParaRPr>
              </a:p>
            </p:txBody>
          </p:sp>
          <p:sp>
            <p:nvSpPr>
              <p:cNvPr id="44" name="文字方塊 43">
                <a:extLst>
                  <a:ext uri="{FF2B5EF4-FFF2-40B4-BE49-F238E27FC236}">
                    <a16:creationId xmlns:a16="http://schemas.microsoft.com/office/drawing/2014/main" id="{A3817FCD-6F4B-484B-BA61-3BD3480DCE85}"/>
                  </a:ext>
                </a:extLst>
              </p:cNvPr>
              <p:cNvSpPr txBox="1"/>
              <p:nvPr/>
            </p:nvSpPr>
            <p:spPr>
              <a:xfrm>
                <a:off x="2663788" y="2735714"/>
                <a:ext cx="432048" cy="369332"/>
              </a:xfrm>
              <a:prstGeom prst="rect">
                <a:avLst/>
              </a:prstGeom>
              <a:noFill/>
            </p:spPr>
            <p:txBody>
              <a:bodyPr wrap="square" rtlCol="0">
                <a:spAutoFit/>
              </a:bodyPr>
              <a:lstStyle/>
              <a:p>
                <a:r>
                  <a:rPr lang="en-US" altLang="zh-TW" dirty="0"/>
                  <a:t>48</a:t>
                </a:r>
                <a:endParaRPr lang="zh-TW" altLang="en-US" dirty="0"/>
              </a:p>
            </p:txBody>
          </p:sp>
        </p:grpSp>
        <p:sp>
          <p:nvSpPr>
            <p:cNvPr id="45" name="矩形 44">
              <a:extLst>
                <a:ext uri="{FF2B5EF4-FFF2-40B4-BE49-F238E27FC236}">
                  <a16:creationId xmlns:a16="http://schemas.microsoft.com/office/drawing/2014/main" id="{3F97398E-C7BB-479A-BDF4-CC8F1B410D38}"/>
                </a:ext>
              </a:extLst>
            </p:cNvPr>
            <p:cNvSpPr/>
            <p:nvPr/>
          </p:nvSpPr>
          <p:spPr>
            <a:xfrm>
              <a:off x="2267744" y="4290353"/>
              <a:ext cx="504056" cy="39737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6" name="矩形 45">
            <a:extLst>
              <a:ext uri="{FF2B5EF4-FFF2-40B4-BE49-F238E27FC236}">
                <a16:creationId xmlns:a16="http://schemas.microsoft.com/office/drawing/2014/main" id="{E7B3FCF2-B527-460B-A8BF-355C54D4BF10}"/>
              </a:ext>
            </a:extLst>
          </p:cNvPr>
          <p:cNvSpPr/>
          <p:nvPr/>
        </p:nvSpPr>
        <p:spPr>
          <a:xfrm>
            <a:off x="4332857" y="4279485"/>
            <a:ext cx="504056" cy="397378"/>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8" name="直線接點 47">
            <a:extLst>
              <a:ext uri="{FF2B5EF4-FFF2-40B4-BE49-F238E27FC236}">
                <a16:creationId xmlns:a16="http://schemas.microsoft.com/office/drawing/2014/main" id="{29A80313-A49F-40DE-A3C7-74C1D60EB602}"/>
              </a:ext>
            </a:extLst>
          </p:cNvPr>
          <p:cNvCxnSpPr>
            <a:stCxn id="45" idx="3"/>
            <a:endCxn id="46" idx="1"/>
          </p:cNvCxnSpPr>
          <p:nvPr/>
        </p:nvCxnSpPr>
        <p:spPr>
          <a:xfrm flipV="1">
            <a:off x="3018021" y="4478174"/>
            <a:ext cx="1314836" cy="5644"/>
          </a:xfrm>
          <a:prstGeom prst="line">
            <a:avLst/>
          </a:prstGeom>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96564B75-D567-4F57-8A7B-8D6846A62012}"/>
              </a:ext>
            </a:extLst>
          </p:cNvPr>
          <p:cNvSpPr txBox="1"/>
          <p:nvPr/>
        </p:nvSpPr>
        <p:spPr>
          <a:xfrm>
            <a:off x="3108031" y="4592093"/>
            <a:ext cx="936104" cy="369332"/>
          </a:xfrm>
          <a:prstGeom prst="rect">
            <a:avLst/>
          </a:prstGeom>
          <a:noFill/>
        </p:spPr>
        <p:txBody>
          <a:bodyPr wrap="square" rtlCol="0">
            <a:spAutoFit/>
          </a:bodyPr>
          <a:lstStyle/>
          <a:p>
            <a:r>
              <a:rPr lang="en-US" altLang="zh-TW" dirty="0"/>
              <a:t>Mount</a:t>
            </a:r>
            <a:endParaRPr lang="zh-TW" altLang="en-US" dirty="0"/>
          </a:p>
        </p:txBody>
      </p:sp>
      <p:sp>
        <p:nvSpPr>
          <p:cNvPr id="53" name="矩形: 圓角 52">
            <a:extLst>
              <a:ext uri="{FF2B5EF4-FFF2-40B4-BE49-F238E27FC236}">
                <a16:creationId xmlns:a16="http://schemas.microsoft.com/office/drawing/2014/main" id="{60FB9384-09E1-46A1-AB1C-81FE61BBE1D2}"/>
              </a:ext>
            </a:extLst>
          </p:cNvPr>
          <p:cNvSpPr/>
          <p:nvPr/>
        </p:nvSpPr>
        <p:spPr>
          <a:xfrm>
            <a:off x="6404284" y="1723027"/>
            <a:ext cx="1440160" cy="50891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Mail server</a:t>
            </a:r>
            <a:endParaRPr lang="zh-TW" altLang="en-US" dirty="0">
              <a:solidFill>
                <a:schemeClr val="tx1"/>
              </a:solidFill>
            </a:endParaRPr>
          </a:p>
        </p:txBody>
      </p:sp>
      <p:cxnSp>
        <p:nvCxnSpPr>
          <p:cNvPr id="57" name="直線單箭頭接點 56">
            <a:extLst>
              <a:ext uri="{FF2B5EF4-FFF2-40B4-BE49-F238E27FC236}">
                <a16:creationId xmlns:a16="http://schemas.microsoft.com/office/drawing/2014/main" id="{3C265707-5B83-4924-8DF5-35BE12E4DDC5}"/>
              </a:ext>
            </a:extLst>
          </p:cNvPr>
          <p:cNvCxnSpPr>
            <a:cxnSpLocks/>
            <a:stCxn id="34" idx="0"/>
            <a:endCxn id="5" idx="3"/>
          </p:cNvCxnSpPr>
          <p:nvPr/>
        </p:nvCxnSpPr>
        <p:spPr>
          <a:xfrm flipH="1" flipV="1">
            <a:off x="5852755" y="2331118"/>
            <a:ext cx="2751185" cy="1414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AED43CE5-2F23-47F1-B45B-EB6DEAB653C4}"/>
              </a:ext>
            </a:extLst>
          </p:cNvPr>
          <p:cNvCxnSpPr>
            <a:stCxn id="34" idx="0"/>
            <a:endCxn id="53" idx="3"/>
          </p:cNvCxnSpPr>
          <p:nvPr/>
        </p:nvCxnSpPr>
        <p:spPr>
          <a:xfrm flipH="1" flipV="1">
            <a:off x="7844444" y="1977486"/>
            <a:ext cx="759496" cy="17681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13B98CAD-43CF-4C96-8D5F-9EC7074FB8C9}"/>
              </a:ext>
            </a:extLst>
          </p:cNvPr>
          <p:cNvSpPr txBox="1"/>
          <p:nvPr/>
        </p:nvSpPr>
        <p:spPr>
          <a:xfrm>
            <a:off x="8286986" y="2512107"/>
            <a:ext cx="792088" cy="369332"/>
          </a:xfrm>
          <a:prstGeom prst="rect">
            <a:avLst/>
          </a:prstGeom>
          <a:noFill/>
        </p:spPr>
        <p:txBody>
          <a:bodyPr wrap="square" rtlCol="0">
            <a:spAutoFit/>
          </a:bodyPr>
          <a:lstStyle/>
          <a:p>
            <a:r>
              <a:rPr lang="en-US" altLang="zh-TW" dirty="0"/>
              <a:t>HTML</a:t>
            </a:r>
            <a:endParaRPr lang="zh-TW" altLang="en-US" dirty="0"/>
          </a:p>
        </p:txBody>
      </p:sp>
      <p:sp>
        <p:nvSpPr>
          <p:cNvPr id="64" name="文字方塊 63">
            <a:extLst>
              <a:ext uri="{FF2B5EF4-FFF2-40B4-BE49-F238E27FC236}">
                <a16:creationId xmlns:a16="http://schemas.microsoft.com/office/drawing/2014/main" id="{B87A30DA-3980-47EC-B5F8-0FBF63CCBF72}"/>
              </a:ext>
            </a:extLst>
          </p:cNvPr>
          <p:cNvSpPr txBox="1"/>
          <p:nvPr/>
        </p:nvSpPr>
        <p:spPr>
          <a:xfrm>
            <a:off x="7112895" y="2696773"/>
            <a:ext cx="756084" cy="369332"/>
          </a:xfrm>
          <a:prstGeom prst="rect">
            <a:avLst/>
          </a:prstGeom>
          <a:noFill/>
        </p:spPr>
        <p:txBody>
          <a:bodyPr wrap="square" rtlCol="0">
            <a:spAutoFit/>
          </a:bodyPr>
          <a:lstStyle/>
          <a:p>
            <a:r>
              <a:rPr lang="en-US" altLang="zh-TW" dirty="0"/>
              <a:t>FTP</a:t>
            </a:r>
            <a:endParaRPr lang="zh-TW" altLang="en-US" dirty="0"/>
          </a:p>
        </p:txBody>
      </p:sp>
      <p:cxnSp>
        <p:nvCxnSpPr>
          <p:cNvPr id="67" name="直線單箭頭接點 66">
            <a:extLst>
              <a:ext uri="{FF2B5EF4-FFF2-40B4-BE49-F238E27FC236}">
                <a16:creationId xmlns:a16="http://schemas.microsoft.com/office/drawing/2014/main" id="{8D7F3B2E-1506-4BD0-AF5C-2D3C5A68E107}"/>
              </a:ext>
            </a:extLst>
          </p:cNvPr>
          <p:cNvCxnSpPr>
            <a:cxnSpLocks/>
            <a:stCxn id="34" idx="1"/>
            <a:endCxn id="5" idx="3"/>
          </p:cNvCxnSpPr>
          <p:nvPr/>
        </p:nvCxnSpPr>
        <p:spPr>
          <a:xfrm flipH="1" flipV="1">
            <a:off x="5852755" y="2331118"/>
            <a:ext cx="2369305" cy="151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1D445EE9-0C55-43F7-A15E-30EDC786265E}"/>
              </a:ext>
            </a:extLst>
          </p:cNvPr>
          <p:cNvSpPr txBox="1"/>
          <p:nvPr/>
        </p:nvSpPr>
        <p:spPr>
          <a:xfrm>
            <a:off x="6468925" y="3038382"/>
            <a:ext cx="800508" cy="369332"/>
          </a:xfrm>
          <a:prstGeom prst="rect">
            <a:avLst/>
          </a:prstGeom>
          <a:noFill/>
        </p:spPr>
        <p:txBody>
          <a:bodyPr wrap="square" rtlCol="0">
            <a:spAutoFit/>
          </a:bodyPr>
          <a:lstStyle/>
          <a:p>
            <a:r>
              <a:rPr lang="en-US" altLang="zh-TW" dirty="0"/>
              <a:t>SSH</a:t>
            </a:r>
            <a:endParaRPr lang="zh-TW" altLang="en-US" dirty="0"/>
          </a:p>
        </p:txBody>
      </p:sp>
      <p:cxnSp>
        <p:nvCxnSpPr>
          <p:cNvPr id="70" name="直線接點 69">
            <a:extLst>
              <a:ext uri="{FF2B5EF4-FFF2-40B4-BE49-F238E27FC236}">
                <a16:creationId xmlns:a16="http://schemas.microsoft.com/office/drawing/2014/main" id="{87CA29A2-BD54-4542-A2EE-FD7F55427D9E}"/>
              </a:ext>
            </a:extLst>
          </p:cNvPr>
          <p:cNvCxnSpPr>
            <a:cxnSpLocks/>
            <a:endCxn id="53" idx="1"/>
          </p:cNvCxnSpPr>
          <p:nvPr/>
        </p:nvCxnSpPr>
        <p:spPr>
          <a:xfrm flipV="1">
            <a:off x="5852755" y="1977486"/>
            <a:ext cx="551529" cy="127230"/>
          </a:xfrm>
          <a:prstGeom prst="line">
            <a:avLst/>
          </a:prstGeom>
        </p:spPr>
        <p:style>
          <a:lnRef idx="1">
            <a:schemeClr val="accent1"/>
          </a:lnRef>
          <a:fillRef idx="0">
            <a:schemeClr val="accent1"/>
          </a:fillRef>
          <a:effectRef idx="0">
            <a:schemeClr val="accent1"/>
          </a:effectRef>
          <a:fontRef idx="minor">
            <a:schemeClr val="tx1"/>
          </a:fontRef>
        </p:style>
      </p:cxnSp>
      <p:sp>
        <p:nvSpPr>
          <p:cNvPr id="98" name="矩形: 圓角 97">
            <a:extLst>
              <a:ext uri="{FF2B5EF4-FFF2-40B4-BE49-F238E27FC236}">
                <a16:creationId xmlns:a16="http://schemas.microsoft.com/office/drawing/2014/main" id="{B72C338B-BA3E-4D5E-B5C4-A0EF4128ED14}"/>
              </a:ext>
            </a:extLst>
          </p:cNvPr>
          <p:cNvSpPr/>
          <p:nvPr/>
        </p:nvSpPr>
        <p:spPr>
          <a:xfrm>
            <a:off x="1505853" y="5301208"/>
            <a:ext cx="1512168" cy="7474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Database</a:t>
            </a:r>
            <a:endParaRPr lang="zh-TW" altLang="en-US" dirty="0">
              <a:solidFill>
                <a:sysClr val="windowText" lastClr="000000"/>
              </a:solidFill>
            </a:endParaRPr>
          </a:p>
        </p:txBody>
      </p:sp>
      <p:cxnSp>
        <p:nvCxnSpPr>
          <p:cNvPr id="100" name="直線接點 99">
            <a:extLst>
              <a:ext uri="{FF2B5EF4-FFF2-40B4-BE49-F238E27FC236}">
                <a16:creationId xmlns:a16="http://schemas.microsoft.com/office/drawing/2014/main" id="{2477692D-2CAF-4A1D-96D1-EE569052DDDA}"/>
              </a:ext>
            </a:extLst>
          </p:cNvPr>
          <p:cNvCxnSpPr>
            <a:stCxn id="42" idx="2"/>
            <a:endCxn id="98" idx="0"/>
          </p:cNvCxnSpPr>
          <p:nvPr/>
        </p:nvCxnSpPr>
        <p:spPr>
          <a:xfrm>
            <a:off x="2261937" y="4687731"/>
            <a:ext cx="0" cy="613477"/>
          </a:xfrm>
          <a:prstGeom prst="line">
            <a:avLst/>
          </a:prstGeom>
        </p:spPr>
        <p:style>
          <a:lnRef idx="1">
            <a:schemeClr val="accent1"/>
          </a:lnRef>
          <a:fillRef idx="0">
            <a:schemeClr val="accent1"/>
          </a:fillRef>
          <a:effectRef idx="0">
            <a:schemeClr val="accent1"/>
          </a:effectRef>
          <a:fontRef idx="minor">
            <a:schemeClr val="tx1"/>
          </a:fontRef>
        </p:style>
      </p:cxnSp>
      <p:sp>
        <p:nvSpPr>
          <p:cNvPr id="101" name="矩形: 圓角 100">
            <a:extLst>
              <a:ext uri="{FF2B5EF4-FFF2-40B4-BE49-F238E27FC236}">
                <a16:creationId xmlns:a16="http://schemas.microsoft.com/office/drawing/2014/main" id="{3CBD33ED-9CDA-412A-9953-C5497CE9C643}"/>
              </a:ext>
            </a:extLst>
          </p:cNvPr>
          <p:cNvSpPr/>
          <p:nvPr/>
        </p:nvSpPr>
        <p:spPr>
          <a:xfrm>
            <a:off x="3018022" y="614196"/>
            <a:ext cx="4362290" cy="5324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HTTP server(PPLAB</a:t>
            </a:r>
            <a:r>
              <a:rPr lang="zh-TW" altLang="en-US" dirty="0">
                <a:solidFill>
                  <a:sysClr val="windowText" lastClr="000000"/>
                </a:solidFill>
              </a:rPr>
              <a:t>、</a:t>
            </a:r>
            <a:r>
              <a:rPr lang="en-US" altLang="zh-TW" dirty="0">
                <a:solidFill>
                  <a:sysClr val="windowText" lastClr="000000"/>
                </a:solidFill>
              </a:rPr>
              <a:t>CPE judge server…)</a:t>
            </a:r>
            <a:endParaRPr lang="zh-TW" altLang="en-US" dirty="0">
              <a:solidFill>
                <a:sysClr val="windowText" lastClr="000000"/>
              </a:solidFill>
            </a:endParaRPr>
          </a:p>
        </p:txBody>
      </p:sp>
      <p:cxnSp>
        <p:nvCxnSpPr>
          <p:cNvPr id="103" name="直線接點 102">
            <a:extLst>
              <a:ext uri="{FF2B5EF4-FFF2-40B4-BE49-F238E27FC236}">
                <a16:creationId xmlns:a16="http://schemas.microsoft.com/office/drawing/2014/main" id="{01913C4E-F207-408E-86E3-DF1D9C29D380}"/>
              </a:ext>
            </a:extLst>
          </p:cNvPr>
          <p:cNvCxnSpPr>
            <a:stCxn id="5" idx="0"/>
            <a:endCxn id="101" idx="2"/>
          </p:cNvCxnSpPr>
          <p:nvPr/>
        </p:nvCxnSpPr>
        <p:spPr>
          <a:xfrm flipH="1" flipV="1">
            <a:off x="5199167" y="1146688"/>
            <a:ext cx="149532" cy="905608"/>
          </a:xfrm>
          <a:prstGeom prst="line">
            <a:avLst/>
          </a:prstGeom>
        </p:spPr>
        <p:style>
          <a:lnRef idx="1">
            <a:schemeClr val="accent1"/>
          </a:lnRef>
          <a:fillRef idx="0">
            <a:schemeClr val="accent1"/>
          </a:fillRef>
          <a:effectRef idx="0">
            <a:schemeClr val="accent1"/>
          </a:effectRef>
          <a:fontRef idx="minor">
            <a:schemeClr val="tx1"/>
          </a:fontRef>
        </p:style>
      </p:cxnSp>
      <p:sp>
        <p:nvSpPr>
          <p:cNvPr id="105" name="矩形: 圓角 104">
            <a:extLst>
              <a:ext uri="{FF2B5EF4-FFF2-40B4-BE49-F238E27FC236}">
                <a16:creationId xmlns:a16="http://schemas.microsoft.com/office/drawing/2014/main" id="{CB738298-C013-45CA-8B74-2A35DD5A5AE2}"/>
              </a:ext>
            </a:extLst>
          </p:cNvPr>
          <p:cNvSpPr/>
          <p:nvPr/>
        </p:nvSpPr>
        <p:spPr>
          <a:xfrm>
            <a:off x="784485" y="2657045"/>
            <a:ext cx="2707395" cy="53249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HTTP server(CPE </a:t>
            </a:r>
            <a:r>
              <a:rPr lang="zh-TW" altLang="en-US" dirty="0">
                <a:solidFill>
                  <a:sysClr val="windowText" lastClr="000000"/>
                </a:solidFill>
              </a:rPr>
              <a:t>網站、橋牌比賽報名網站</a:t>
            </a:r>
            <a:r>
              <a:rPr lang="en-US" altLang="zh-TW" dirty="0">
                <a:solidFill>
                  <a:sysClr val="windowText" lastClr="000000"/>
                </a:solidFill>
              </a:rPr>
              <a:t>…)</a:t>
            </a:r>
            <a:endParaRPr lang="zh-TW" altLang="en-US" dirty="0">
              <a:solidFill>
                <a:sysClr val="windowText" lastClr="000000"/>
              </a:solidFill>
            </a:endParaRPr>
          </a:p>
        </p:txBody>
      </p:sp>
      <p:cxnSp>
        <p:nvCxnSpPr>
          <p:cNvPr id="107" name="直線接點 106">
            <a:extLst>
              <a:ext uri="{FF2B5EF4-FFF2-40B4-BE49-F238E27FC236}">
                <a16:creationId xmlns:a16="http://schemas.microsoft.com/office/drawing/2014/main" id="{C509BC31-5389-43A2-B050-62F45A9E41AB}"/>
              </a:ext>
            </a:extLst>
          </p:cNvPr>
          <p:cNvCxnSpPr>
            <a:cxnSpLocks/>
            <a:stCxn id="42" idx="0"/>
            <a:endCxn id="105" idx="2"/>
          </p:cNvCxnSpPr>
          <p:nvPr/>
        </p:nvCxnSpPr>
        <p:spPr>
          <a:xfrm flipH="1" flipV="1">
            <a:off x="2138183" y="3189537"/>
            <a:ext cx="123754" cy="355194"/>
          </a:xfrm>
          <a:prstGeom prst="line">
            <a:avLst/>
          </a:prstGeom>
        </p:spPr>
        <p:style>
          <a:lnRef idx="1">
            <a:schemeClr val="accent1"/>
          </a:lnRef>
          <a:fillRef idx="0">
            <a:schemeClr val="accent1"/>
          </a:fillRef>
          <a:effectRef idx="0">
            <a:schemeClr val="accent1"/>
          </a:effectRef>
          <a:fontRef idx="minor">
            <a:schemeClr val="tx1"/>
          </a:fontRef>
        </p:style>
      </p:cxnSp>
      <p:sp>
        <p:nvSpPr>
          <p:cNvPr id="111" name="橢圓 110">
            <a:extLst>
              <a:ext uri="{FF2B5EF4-FFF2-40B4-BE49-F238E27FC236}">
                <a16:creationId xmlns:a16="http://schemas.microsoft.com/office/drawing/2014/main" id="{A50445CD-9511-4D00-A0A5-4A2448EBEE48}"/>
              </a:ext>
            </a:extLst>
          </p:cNvPr>
          <p:cNvSpPr/>
          <p:nvPr/>
        </p:nvSpPr>
        <p:spPr>
          <a:xfrm>
            <a:off x="1388259" y="1485829"/>
            <a:ext cx="1512168" cy="6188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Everyone</a:t>
            </a:r>
            <a:endParaRPr lang="zh-TW" altLang="en-US" dirty="0"/>
          </a:p>
        </p:txBody>
      </p:sp>
      <p:cxnSp>
        <p:nvCxnSpPr>
          <p:cNvPr id="113" name="直線單箭頭接點 112">
            <a:extLst>
              <a:ext uri="{FF2B5EF4-FFF2-40B4-BE49-F238E27FC236}">
                <a16:creationId xmlns:a16="http://schemas.microsoft.com/office/drawing/2014/main" id="{6E6ACC8D-8CE9-4628-9F01-F8A7C625C3CC}"/>
              </a:ext>
            </a:extLst>
          </p:cNvPr>
          <p:cNvCxnSpPr>
            <a:stCxn id="111" idx="0"/>
            <a:endCxn id="101" idx="1"/>
          </p:cNvCxnSpPr>
          <p:nvPr/>
        </p:nvCxnSpPr>
        <p:spPr>
          <a:xfrm flipV="1">
            <a:off x="2144343" y="880442"/>
            <a:ext cx="873679" cy="605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a:extLst>
              <a:ext uri="{FF2B5EF4-FFF2-40B4-BE49-F238E27FC236}">
                <a16:creationId xmlns:a16="http://schemas.microsoft.com/office/drawing/2014/main" id="{95A2283B-33DA-433A-9D29-5BEA9D6072D2}"/>
              </a:ext>
            </a:extLst>
          </p:cNvPr>
          <p:cNvCxnSpPr>
            <a:stCxn id="111" idx="4"/>
            <a:endCxn id="105" idx="0"/>
          </p:cNvCxnSpPr>
          <p:nvPr/>
        </p:nvCxnSpPr>
        <p:spPr>
          <a:xfrm flipH="1">
            <a:off x="2138183" y="2104716"/>
            <a:ext cx="6160" cy="552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5279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10132</TotalTime>
  <Words>342</Words>
  <Application>Microsoft Office PowerPoint</Application>
  <PresentationFormat>如螢幕大小 (4:3)</PresentationFormat>
  <Paragraphs>52</Paragraphs>
  <Slides>14</Slides>
  <Notes>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Arial</vt:lpstr>
      <vt:lpstr>Calibri</vt:lpstr>
      <vt:lpstr>Times New Roman</vt:lpstr>
      <vt:lpstr>Office 佈景主題</vt:lpstr>
      <vt:lpstr> RAID: High-Performance, Reliable Secondary Storage</vt:lpstr>
      <vt:lpstr>Abstract</vt:lpstr>
      <vt:lpstr>Abstract</vt:lpstr>
      <vt:lpstr>RAID</vt:lpstr>
      <vt:lpstr>RAID</vt:lpstr>
      <vt:lpstr>RAID0、1</vt:lpstr>
      <vt:lpstr>RAID2</vt:lpstr>
      <vt:lpstr>RAID3、4</vt:lpstr>
      <vt:lpstr>RAID5</vt:lpstr>
      <vt:lpstr>RAID6</vt:lpstr>
      <vt:lpstr>RAID01、10</vt:lpstr>
      <vt:lpstr>Synology Hybrid RAID (SHR)</vt:lpstr>
      <vt:lpstr>Why SHR</vt:lpstr>
      <vt:lpstr>PPLAB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375</cp:revision>
  <dcterms:created xsi:type="dcterms:W3CDTF">2020-10-30T08:30:28Z</dcterms:created>
  <dcterms:modified xsi:type="dcterms:W3CDTF">2021-08-26T12:39:49Z</dcterms:modified>
</cp:coreProperties>
</file>