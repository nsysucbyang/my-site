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321" r:id="rId2"/>
    <p:sldId id="311" r:id="rId3"/>
    <p:sldId id="337" r:id="rId4"/>
    <p:sldId id="342" r:id="rId5"/>
    <p:sldId id="344" r:id="rId6"/>
    <p:sldId id="340" r:id="rId7"/>
    <p:sldId id="341" r:id="rId8"/>
    <p:sldId id="347"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2462" autoAdjust="0"/>
  </p:normalViewPr>
  <p:slideViewPr>
    <p:cSldViewPr snapToGrid="0">
      <p:cViewPr varScale="1">
        <p:scale>
          <a:sx n="95" d="100"/>
          <a:sy n="95" d="100"/>
        </p:scale>
        <p:origin x="2106"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2021/4/27</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smtClean="0">
                <a:solidFill>
                  <a:schemeClr val="tx1"/>
                </a:solidFill>
                <a:effectLst/>
                <a:latin typeface="+mn-lt"/>
                <a:ea typeface="+mn-ea"/>
                <a:cs typeface="+mn-cs"/>
              </a:rPr>
              <a:t>聖胡安是美國自治領地波多黎各的首府和最大城市</a:t>
            </a:r>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547399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err="1" smtClean="0"/>
                  <a:t>i</a:t>
                </a:r>
                <a:r>
                  <a:rPr lang="zh-TW" altLang="en-US" dirty="0" smtClean="0"/>
                  <a:t> 是 </a:t>
                </a:r>
                <a:r>
                  <a:rPr lang="en-US" altLang="zh-TW" dirty="0" smtClean="0"/>
                  <a:t>j</a:t>
                </a:r>
                <a:r>
                  <a:rPr lang="zh-TW" altLang="en-US" dirty="0" smtClean="0"/>
                  <a:t> 之前的</a:t>
                </a:r>
                <a:r>
                  <a:rPr lang="en-US" altLang="zh-TW" dirty="0" smtClean="0"/>
                  <a:t>task</a:t>
                </a: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t>任務的 </a:t>
                </a:r>
                <a14:m>
                  <m:oMath xmlns:m="http://schemas.openxmlformats.org/officeDocument/2006/math">
                    <m:r>
                      <a:rPr lang="en-US" altLang="zh-TW" sz="1200" i="1">
                        <a:latin typeface="Cambria Math" panose="02040503050406030204" pitchFamily="18" charset="0"/>
                      </a:rPr>
                      <m:t>𝑖</m:t>
                    </m:r>
                  </m:oMath>
                </a14:m>
                <a:r>
                  <a:rPr lang="zh-TW" altLang="en-US" sz="1200" dirty="0"/>
                  <a:t> 的開始時間為 </a:t>
                </a:r>
                <a14:m>
                  <m:oMath xmlns:m="http://schemas.openxmlformats.org/officeDocument/2006/math">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𝑡</m:t>
                        </m:r>
                      </m:e>
                      <m:sub>
                        <m:r>
                          <a:rPr lang="en-US" altLang="zh-TW" sz="1200" i="1">
                            <a:latin typeface="Cambria Math" panose="02040503050406030204" pitchFamily="18" charset="0"/>
                          </a:rPr>
                          <m:t>𝑖</m:t>
                        </m:r>
                      </m:sub>
                    </m:sSub>
                    <m:r>
                      <a:rPr lang="en-US" altLang="zh-TW" sz="1200" i="1">
                        <a:latin typeface="Cambria Math" panose="02040503050406030204" pitchFamily="18" charset="0"/>
                      </a:rPr>
                      <m:t> </m:t>
                    </m:r>
                  </m:oMath>
                </a14:m>
                <a:r>
                  <a:rPr lang="zh-TW" altLang="en-US" sz="1200" dirty="0"/>
                  <a:t>執行任務 </a:t>
                </a:r>
                <a14:m>
                  <m:oMath xmlns:m="http://schemas.openxmlformats.org/officeDocument/2006/math">
                    <m:r>
                      <a:rPr lang="en-US" altLang="zh-TW" sz="1200" i="1">
                        <a:latin typeface="Cambria Math" panose="02040503050406030204" pitchFamily="18" charset="0"/>
                      </a:rPr>
                      <m:t>𝑖</m:t>
                    </m:r>
                  </m:oMath>
                </a14:m>
                <a:r>
                  <a:rPr lang="zh-TW" altLang="en-US" sz="1200" dirty="0"/>
                  <a:t> 的處理器為 </a:t>
                </a:r>
                <a14:m>
                  <m:oMath xmlns:m="http://schemas.openxmlformats.org/officeDocument/2006/math">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𝑝</m:t>
                        </m:r>
                      </m:e>
                      <m:sub>
                        <m:r>
                          <a:rPr lang="en-US" altLang="zh-TW" sz="1200" i="1">
                            <a:latin typeface="Cambria Math" panose="02040503050406030204" pitchFamily="18" charset="0"/>
                          </a:rPr>
                          <m:t>𝑖</m:t>
                        </m:r>
                      </m:sub>
                    </m:sSub>
                    <m:r>
                      <a:rPr lang="en-US" altLang="zh-TW" sz="1200" i="1">
                        <a:latin typeface="Cambria Math" panose="02040503050406030204" pitchFamily="18" charset="0"/>
                      </a:rPr>
                      <m:t> </m:t>
                    </m:r>
                  </m:oMath>
                </a14:m>
                <a:endParaRPr lang="zh-TW" altLang="en-US" sz="1200" dirty="0"/>
              </a:p>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err="1" smtClean="0"/>
                  <a:t>i</a:t>
                </a:r>
                <a:r>
                  <a:rPr lang="zh-TW" altLang="en-US" dirty="0" smtClean="0"/>
                  <a:t> 是 </a:t>
                </a:r>
                <a:r>
                  <a:rPr lang="en-US" altLang="zh-TW" dirty="0" smtClean="0"/>
                  <a:t>j</a:t>
                </a:r>
                <a:r>
                  <a:rPr lang="zh-TW" altLang="en-US" dirty="0" smtClean="0"/>
                  <a:t> 之前的</a:t>
                </a:r>
                <a:r>
                  <a:rPr lang="en-US" altLang="zh-TW" dirty="0" smtClean="0"/>
                  <a:t>task</a:t>
                </a: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t>任務的 </a:t>
                </a:r>
                <a:r>
                  <a:rPr lang="en-US" altLang="zh-TW" sz="1200" i="0">
                    <a:latin typeface="Cambria Math" panose="02040503050406030204" pitchFamily="18" charset="0"/>
                  </a:rPr>
                  <a:t>𝑖</a:t>
                </a:r>
                <a:r>
                  <a:rPr lang="zh-TW" altLang="en-US" sz="1200" dirty="0"/>
                  <a:t> 的開始時間為 </a:t>
                </a:r>
                <a:r>
                  <a:rPr lang="en-US" altLang="zh-TW" sz="1200" i="0">
                    <a:latin typeface="Cambria Math" panose="02040503050406030204" pitchFamily="18" charset="0"/>
                  </a:rPr>
                  <a:t>𝑡_𝑖  </a:t>
                </a:r>
                <a:r>
                  <a:rPr lang="zh-TW" altLang="en-US" sz="1200" dirty="0"/>
                  <a:t>執行任務 </a:t>
                </a:r>
                <a:r>
                  <a:rPr lang="en-US" altLang="zh-TW" sz="1200" i="0">
                    <a:latin typeface="Cambria Math" panose="02040503050406030204" pitchFamily="18" charset="0"/>
                  </a:rPr>
                  <a:t>𝑖</a:t>
                </a:r>
                <a:r>
                  <a:rPr lang="zh-TW" altLang="en-US" sz="1200" dirty="0"/>
                  <a:t> 的處理器為 </a:t>
                </a:r>
                <a:r>
                  <a:rPr lang="en-US" altLang="zh-TW" sz="1200" i="0">
                    <a:latin typeface="Cambria Math" panose="02040503050406030204" pitchFamily="18" charset="0"/>
                  </a:rPr>
                  <a:t>𝑝_𝑖  </a:t>
                </a:r>
                <a:endParaRPr lang="zh-TW" altLang="en-US" sz="1200"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55604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2021/4/27</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244993" y="159798"/>
            <a:ext cx="8433339" cy="1788443"/>
          </a:xfrm>
        </p:spPr>
        <p:txBody>
          <a:bodyPr>
            <a:noAutofit/>
          </a:bodyPr>
          <a:lstStyle/>
          <a:p>
            <a:r>
              <a:rPr lang="en-US" altLang="zh-TW" sz="3600" dirty="0">
                <a:latin typeface="Times New Roman" panose="02020603050405020304" pitchFamily="18" charset="0"/>
                <a:cs typeface="Times New Roman" panose="02020603050405020304" pitchFamily="18" charset="0"/>
              </a:rPr>
              <a:t>ILP Formulations for Optimal Task </a:t>
            </a:r>
            <a:r>
              <a:rPr lang="en-US" altLang="zh-TW" sz="3600" dirty="0" smtClean="0">
                <a:latin typeface="Times New Roman" panose="02020603050405020304" pitchFamily="18" charset="0"/>
                <a:cs typeface="Times New Roman" panose="02020603050405020304" pitchFamily="18" charset="0"/>
              </a:rPr>
              <a:t>Scheduling</a:t>
            </a:r>
            <a:r>
              <a:rPr lang="zh-TW" altLang="en-US" sz="3600" dirty="0" smtClean="0">
                <a:latin typeface="Times New Roman" panose="02020603050405020304" pitchFamily="18" charset="0"/>
                <a:cs typeface="Times New Roman" panose="02020603050405020304" pitchFamily="18" charset="0"/>
              </a:rPr>
              <a:t> </a:t>
            </a:r>
            <a:r>
              <a:rPr lang="en-US" altLang="zh-TW" sz="3600" dirty="0" smtClean="0">
                <a:latin typeface="Times New Roman" panose="02020603050405020304" pitchFamily="18" charset="0"/>
                <a:cs typeface="Times New Roman" panose="02020603050405020304" pitchFamily="18" charset="0"/>
              </a:rPr>
              <a:t>with </a:t>
            </a:r>
            <a:r>
              <a:rPr lang="en-US" altLang="zh-TW" sz="3600" dirty="0" smtClean="0">
                <a:latin typeface="Times New Roman" panose="02020603050405020304" pitchFamily="18" charset="0"/>
                <a:cs typeface="Times New Roman" panose="02020603050405020304" pitchFamily="18" charset="0"/>
              </a:rPr>
              <a:t>Communication </a:t>
            </a:r>
            <a:r>
              <a:rPr lang="en-US" altLang="zh-TW" sz="3600" dirty="0">
                <a:latin typeface="Times New Roman" panose="02020603050405020304" pitchFamily="18" charset="0"/>
                <a:cs typeface="Times New Roman" panose="02020603050405020304" pitchFamily="18" charset="0"/>
              </a:rPr>
              <a:t>Delays on Parallel Systems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44993" y="2694755"/>
            <a:ext cx="8536249" cy="927245"/>
          </a:xfrm>
        </p:spPr>
        <p:txBody>
          <a:bodyPr>
            <a:noAutofit/>
          </a:bodyPr>
          <a:lstStyle/>
          <a:p>
            <a:r>
              <a:rPr lang="sv-SE" altLang="zh-TW" dirty="0">
                <a:latin typeface="Times New Roman" panose="02020603050405020304" pitchFamily="18" charset="0"/>
                <a:cs typeface="Times New Roman" panose="02020603050405020304" pitchFamily="18" charset="0"/>
              </a:rPr>
              <a:t>Sarad Venugopalan and Oliver Sinnen</a:t>
            </a:r>
            <a:endParaRPr lang="it-IT" altLang="zh-TW"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 </a:t>
            </a:r>
            <a:r>
              <a:rPr lang="en-US" altLang="zh-TW" sz="1800" dirty="0" err="1" smtClean="0">
                <a:latin typeface="Times New Roman" panose="02020603050405020304" pitchFamily="18" charset="0"/>
                <a:cs typeface="Times New Roman" panose="02020603050405020304" pitchFamily="18" charset="0"/>
              </a:rPr>
              <a:t>Chih</a:t>
            </a:r>
            <a:r>
              <a:rPr lang="en-US" altLang="zh-TW" sz="1800" dirty="0" smtClean="0">
                <a:latin typeface="Times New Roman" panose="02020603050405020304" pitchFamily="18" charset="0"/>
                <a:cs typeface="Times New Roman" panose="02020603050405020304" pitchFamily="18" charset="0"/>
              </a:rPr>
              <a:t>-Kai Wu</a:t>
            </a: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Apr.</a:t>
            </a:r>
            <a:r>
              <a:rPr lang="zh-TW" altLang="en-US"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26, 2021.</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157386" y="4014571"/>
            <a:ext cx="8711461" cy="707886"/>
          </a:xfrm>
          <a:prstGeom prst="rect">
            <a:avLst/>
          </a:prstGeom>
        </p:spPr>
        <p:txBody>
          <a:bodyPr wrap="square">
            <a:spAutoFit/>
          </a:bodyPr>
          <a:lstStyle/>
          <a:p>
            <a:pPr algn="ctr"/>
            <a:r>
              <a:rPr lang="en-US" altLang="zh-TW" sz="2000" dirty="0" smtClean="0">
                <a:latin typeface="Times New Roman" panose="02020603050405020304" pitchFamily="18" charset="0"/>
                <a:cs typeface="Times New Roman" panose="02020603050405020304" pitchFamily="18" charset="0"/>
              </a:rPr>
              <a:t>IEEE </a:t>
            </a:r>
            <a:r>
              <a:rPr lang="en-US" altLang="zh-TW" sz="2000" dirty="0">
                <a:latin typeface="Times New Roman" panose="02020603050405020304" pitchFamily="18" charset="0"/>
                <a:cs typeface="Times New Roman" panose="02020603050405020304" pitchFamily="18" charset="0"/>
              </a:rPr>
              <a:t>Transactions on Parallel and Distributed Systems, vol. 26, no. </a:t>
            </a:r>
            <a:r>
              <a:rPr lang="en-US" altLang="zh-TW" sz="2000" dirty="0" smtClean="0">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 </a:t>
            </a:r>
            <a:endParaRPr lang="en-US" altLang="zh-TW" sz="2000" dirty="0" smtClean="0">
              <a:latin typeface="Times New Roman" panose="02020603050405020304" pitchFamily="18" charset="0"/>
              <a:cs typeface="Times New Roman" panose="02020603050405020304" pitchFamily="18" charset="0"/>
            </a:endParaRPr>
          </a:p>
          <a:p>
            <a:pPr algn="ctr"/>
            <a:r>
              <a:rPr lang="en-US" altLang="zh-TW" sz="2000" dirty="0" smtClean="0">
                <a:latin typeface="Times New Roman" panose="02020603050405020304" pitchFamily="18" charset="0"/>
                <a:cs typeface="Times New Roman" panose="02020603050405020304" pitchFamily="18" charset="0"/>
              </a:rPr>
              <a:t>Jan</a:t>
            </a:r>
            <a:r>
              <a:rPr lang="en-US" altLang="zh-TW" sz="2000" dirty="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2015, </a:t>
            </a:r>
            <a:r>
              <a:rPr lang="en-US" altLang="zh-TW" sz="2000" dirty="0">
                <a:latin typeface="Times New Roman" panose="02020603050405020304" pitchFamily="18" charset="0"/>
                <a:cs typeface="Times New Roman" panose="02020603050405020304" pitchFamily="18" charset="0"/>
              </a:rPr>
              <a:t>pp. </a:t>
            </a:r>
            <a:r>
              <a:rPr lang="en-US" altLang="zh-TW" sz="2000" dirty="0" smtClean="0">
                <a:latin typeface="Times New Roman" panose="02020603050405020304" pitchFamily="18" charset="0"/>
                <a:cs typeface="Times New Roman" panose="02020603050405020304" pitchFamily="18" charset="0"/>
              </a:rPr>
              <a:t>142-151</a:t>
            </a:r>
            <a:endParaRPr lang="en-US"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a:t>
            </a:r>
            <a:r>
              <a:rPr lang="zh-TW" altLang="en-US" sz="3200" b="1" dirty="0" smtClean="0">
                <a:latin typeface="Times New Roman" panose="02020603050405020304" pitchFamily="18" charset="0"/>
                <a:cs typeface="Times New Roman" panose="02020603050405020304" pitchFamily="18" charset="0"/>
              </a:rPr>
              <a:t> </a:t>
            </a:r>
            <a:r>
              <a:rPr lang="en-US" altLang="zh-TW" sz="3200" b="1" dirty="0" smtClean="0">
                <a:latin typeface="Times New Roman" panose="02020603050405020304" pitchFamily="18" charset="0"/>
                <a:cs typeface="Times New Roman" panose="02020603050405020304" pitchFamily="18" charset="0"/>
              </a:rPr>
              <a: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86110"/>
            <a:ext cx="9004993" cy="5575464"/>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To fully benefit from a multiprocessor system, the tasks of a program are to be carefully assigned and scheduled on the processors of the system such that the overall execution time is minimal. The associated task scheduling problem with communication </a:t>
            </a:r>
            <a:r>
              <a:rPr lang="en-US" altLang="zh-TW" sz="2400" dirty="0" smtClean="0">
                <a:latin typeface="Times New Roman" panose="02020603050405020304" pitchFamily="18" charset="0"/>
                <a:cs typeface="Times New Roman" panose="02020603050405020304" pitchFamily="18" charset="0"/>
              </a:rPr>
              <a:t>delays </a:t>
            </a:r>
            <a:r>
              <a:rPr lang="en-US" altLang="zh-TW" sz="2400" dirty="0">
                <a:latin typeface="Times New Roman" panose="02020603050405020304" pitchFamily="18" charset="0"/>
                <a:cs typeface="Times New Roman" panose="02020603050405020304" pitchFamily="18" charset="0"/>
              </a:rPr>
              <a:t>is a well known NP-hard problem. We propose a novel mixed integer linear programming (MILP) solution to this scheduling problem, despite the fact that scheduling problems are often difficult to handle by MILP solvers. The proposed MILP solution uses problem specific knowledge to eliminate the need to </a:t>
            </a:r>
            <a:r>
              <a:rPr lang="en-US" altLang="zh-TW" sz="2400" dirty="0" err="1">
                <a:latin typeface="Times New Roman" panose="02020603050405020304" pitchFamily="18" charset="0"/>
                <a:cs typeface="Times New Roman" panose="02020603050405020304" pitchFamily="18" charset="0"/>
              </a:rPr>
              <a:t>linearise</a:t>
            </a:r>
            <a:r>
              <a:rPr lang="en-US" altLang="zh-TW" sz="2400" dirty="0">
                <a:latin typeface="Times New Roman" panose="02020603050405020304" pitchFamily="18" charset="0"/>
                <a:cs typeface="Times New Roman" panose="02020603050405020304" pitchFamily="18" charset="0"/>
              </a:rPr>
              <a:t> the bi-linear equations arising out of communication delays.</a:t>
            </a: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a:t>
            </a:r>
            <a:r>
              <a:rPr lang="zh-TW" altLang="en-US" sz="3200" b="1" dirty="0" smtClean="0">
                <a:latin typeface="Times New Roman" panose="02020603050405020304" pitchFamily="18" charset="0"/>
                <a:cs typeface="Times New Roman" panose="02020603050405020304" pitchFamily="18" charset="0"/>
              </a:rPr>
              <a:t> </a:t>
            </a:r>
            <a:r>
              <a:rPr lang="en-US" altLang="zh-TW" sz="3200" b="1" dirty="0" smtClean="0">
                <a:latin typeface="Times New Roman" panose="02020603050405020304" pitchFamily="18" charset="0"/>
                <a:cs typeface="Times New Roman" panose="02020603050405020304" pitchFamily="18" charset="0"/>
              </a:rPr>
              <a: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03865"/>
            <a:ext cx="9004993" cy="5131633"/>
          </a:xfrm>
        </p:spPr>
        <p:txBody>
          <a:bodyPr>
            <a:noAutofit/>
          </a:bodyPr>
          <a:lstStyle/>
          <a:p>
            <a:pPr marL="0" indent="0">
              <a:lnSpc>
                <a:spcPct val="150000"/>
              </a:lnSpc>
              <a:buNone/>
            </a:pPr>
            <a:r>
              <a:rPr lang="en-US" altLang="zh-TW" sz="2400" dirty="0" smtClean="0">
                <a:latin typeface="Times New Roman" panose="02020603050405020304" pitchFamily="18" charset="0"/>
                <a:cs typeface="Times New Roman" panose="02020603050405020304" pitchFamily="18" charset="0"/>
              </a:rPr>
              <a:t>Further</a:t>
            </a:r>
            <a:r>
              <a:rPr lang="en-US" altLang="zh-TW" sz="2400" dirty="0">
                <a:latin typeface="Times New Roman" panose="02020603050405020304" pitchFamily="18" charset="0"/>
                <a:cs typeface="Times New Roman" panose="02020603050405020304" pitchFamily="18" charset="0"/>
              </a:rPr>
              <a:t>, the size of the proposed formulation in terms of variables is independent of the number of processors. We </a:t>
            </a:r>
            <a:r>
              <a:rPr lang="en-US" altLang="zh-TW" sz="2400" dirty="0" err="1">
                <a:latin typeface="Times New Roman" panose="02020603050405020304" pitchFamily="18" charset="0"/>
                <a:cs typeface="Times New Roman" panose="02020603050405020304" pitchFamily="18" charset="0"/>
              </a:rPr>
              <a:t>analyse</a:t>
            </a:r>
            <a:r>
              <a:rPr lang="en-US" altLang="zh-TW" sz="2400" dirty="0">
                <a:latin typeface="Times New Roman" panose="02020603050405020304" pitchFamily="18" charset="0"/>
                <a:cs typeface="Times New Roman" panose="02020603050405020304" pitchFamily="18" charset="0"/>
              </a:rPr>
              <a:t> and discuss the influence of the different MILP components in respect to characteristics of the task graph such as structure and communication to computation ratio. The proposed MILP formulation is experimentally compared with previous MILP formulations used to solve this scheduling problem. The proposed formulation displays a drastic improvement in performance, which allows to solve larger problems optimally. We also observe strengths and weaknesses of the formulation related to the input characteristics.</a:t>
            </a:r>
          </a:p>
        </p:txBody>
      </p:sp>
    </p:spTree>
    <p:extLst>
      <p:ext uri="{BB962C8B-B14F-4D97-AF65-F5344CB8AC3E}">
        <p14:creationId xmlns:p14="http://schemas.microsoft.com/office/powerpoint/2010/main" val="16668080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10532" y="3575962"/>
                <a:ext cx="8255577" cy="4014807"/>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altLang="zh-TW" sz="3300" b="0" i="1" smtClean="0">
                          <a:latin typeface="Cambria Math" panose="02040503050406030204" pitchFamily="18" charset="0"/>
                        </a:rPr>
                        <m:t>𝐺</m:t>
                      </m:r>
                      <m:r>
                        <a:rPr lang="en-US" altLang="zh-TW" sz="3300" b="0" i="1" smtClean="0">
                          <a:latin typeface="Cambria Math" panose="02040503050406030204" pitchFamily="18" charset="0"/>
                        </a:rPr>
                        <m:t>=</m:t>
                      </m:r>
                      <m:d>
                        <m:dPr>
                          <m:ctrlPr>
                            <a:rPr lang="en-US" altLang="zh-TW" sz="3300" b="0" i="1" smtClean="0">
                              <a:latin typeface="Cambria Math" panose="02040503050406030204" pitchFamily="18" charset="0"/>
                            </a:rPr>
                          </m:ctrlPr>
                        </m:dPr>
                        <m:e>
                          <m:r>
                            <a:rPr lang="en-US" altLang="zh-TW" sz="3300" b="0" i="1" smtClean="0">
                              <a:latin typeface="Cambria Math" panose="02040503050406030204" pitchFamily="18" charset="0"/>
                            </a:rPr>
                            <m:t>𝑉</m:t>
                          </m:r>
                          <m:r>
                            <a:rPr lang="en-US" altLang="zh-TW" sz="3300" b="0" i="1" smtClean="0">
                              <a:latin typeface="Cambria Math" panose="02040503050406030204" pitchFamily="18" charset="0"/>
                            </a:rPr>
                            <m:t>,</m:t>
                          </m:r>
                          <m:r>
                            <a:rPr lang="en-US" altLang="zh-TW" sz="3300" b="0" i="1" smtClean="0">
                              <a:latin typeface="Cambria Math" panose="02040503050406030204" pitchFamily="18" charset="0"/>
                            </a:rPr>
                            <m:t>𝐸</m:t>
                          </m:r>
                          <m:r>
                            <a:rPr lang="en-US" altLang="zh-TW" sz="3300" b="0" i="1" smtClean="0">
                              <a:latin typeface="Cambria Math" panose="02040503050406030204" pitchFamily="18" charset="0"/>
                            </a:rPr>
                            <m:t>,</m:t>
                          </m:r>
                          <m:r>
                            <a:rPr lang="en-US" altLang="zh-TW" sz="3300" b="0" i="1" smtClean="0">
                              <a:latin typeface="Cambria Math" panose="02040503050406030204" pitchFamily="18" charset="0"/>
                            </a:rPr>
                            <m:t>𝐶</m:t>
                          </m:r>
                          <m:r>
                            <a:rPr lang="en-US" altLang="zh-TW" sz="3300" b="0" i="1" smtClean="0">
                              <a:latin typeface="Cambria Math" panose="02040503050406030204" pitchFamily="18" charset="0"/>
                            </a:rPr>
                            <m:t>,</m:t>
                          </m:r>
                          <m:r>
                            <a:rPr lang="en-US" altLang="zh-TW" sz="3300" b="0" i="1" smtClean="0">
                              <a:latin typeface="Cambria Math" panose="02040503050406030204" pitchFamily="18" charset="0"/>
                            </a:rPr>
                            <m:t>𝐿</m:t>
                          </m:r>
                        </m:e>
                      </m:d>
                    </m:oMath>
                  </m:oMathPara>
                </a14:m>
                <a:endParaRPr lang="en-US" altLang="zh-TW" sz="3300"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sz="3300" b="0" i="1" smtClean="0">
                          <a:latin typeface="Cambria Math" panose="02040503050406030204" pitchFamily="18" charset="0"/>
                        </a:rPr>
                        <m:t>𝐶</m:t>
                      </m:r>
                      <m:r>
                        <a:rPr lang="en-US" altLang="zh-TW" sz="3300" b="0" i="1" smtClean="0">
                          <a:latin typeface="Cambria Math" panose="02040503050406030204" pitchFamily="18" charset="0"/>
                        </a:rPr>
                        <m:t>=</m:t>
                      </m:r>
                      <m:d>
                        <m:dPr>
                          <m:begChr m:val="{"/>
                          <m:endChr m:val="}"/>
                          <m:ctrlPr>
                            <a:rPr lang="en-US" altLang="zh-TW" sz="3300" b="0" i="1" smtClean="0">
                              <a:latin typeface="Cambria Math" panose="02040503050406030204" pitchFamily="18" charset="0"/>
                            </a:rPr>
                          </m:ctrlPr>
                        </m:dPr>
                        <m:e>
                          <m:sSub>
                            <m:sSubPr>
                              <m:ctrlPr>
                                <a:rPr lang="en-US" altLang="zh-TW" sz="3300" b="0" i="1" smtClean="0">
                                  <a:latin typeface="Cambria Math" panose="02040503050406030204" pitchFamily="18" charset="0"/>
                                </a:rPr>
                              </m:ctrlPr>
                            </m:sSubPr>
                            <m:e>
                              <m:r>
                                <a:rPr lang="zh-TW" altLang="en-US" sz="3300" b="0" i="1" smtClean="0">
                                  <a:latin typeface="Cambria Math" panose="02040503050406030204" pitchFamily="18" charset="0"/>
                                </a:rPr>
                                <m:t>𝛾</m:t>
                              </m:r>
                            </m:e>
                            <m:sub>
                              <m:r>
                                <a:rPr lang="en-US" altLang="zh-TW" sz="3300" b="0" i="1" smtClean="0">
                                  <a:latin typeface="Cambria Math" panose="02040503050406030204" pitchFamily="18" charset="0"/>
                                </a:rPr>
                                <m:t>𝑖𝑗</m:t>
                              </m:r>
                            </m:sub>
                          </m:sSub>
                          <m:r>
                            <a:rPr lang="en-US" altLang="zh-TW" sz="3300" b="0" i="1" smtClean="0">
                              <a:latin typeface="Cambria Math" panose="02040503050406030204" pitchFamily="18" charset="0"/>
                            </a:rPr>
                            <m:t>:</m:t>
                          </m:r>
                          <m:d>
                            <m:dPr>
                              <m:ctrlPr>
                                <a:rPr lang="en-US" altLang="zh-TW" sz="3300" b="0" i="1" smtClean="0">
                                  <a:latin typeface="Cambria Math" panose="02040503050406030204" pitchFamily="18" charset="0"/>
                                </a:rPr>
                              </m:ctrlPr>
                            </m:dPr>
                            <m:e>
                              <m:r>
                                <a:rPr lang="en-US" altLang="zh-TW" sz="3300" b="0" i="1" smtClean="0">
                                  <a:latin typeface="Cambria Math" panose="02040503050406030204" pitchFamily="18" charset="0"/>
                                  <a:sym typeface="Wingdings" panose="05000000000000000000" pitchFamily="2" charset="2"/>
                                </a:rPr>
                                <m:t>𝑖</m:t>
                              </m:r>
                              <m:r>
                                <a:rPr lang="en-US" altLang="zh-TW" sz="3300" b="0" i="1" smtClean="0">
                                  <a:latin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sym typeface="Wingdings" panose="05000000000000000000" pitchFamily="2" charset="2"/>
                                </a:rPr>
                                <m:t>𝑗</m:t>
                              </m:r>
                            </m:e>
                          </m:d>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rPr>
                            <m:t>𝐸</m:t>
                          </m:r>
                        </m:e>
                      </m:d>
                    </m:oMath>
                  </m:oMathPara>
                </a14:m>
                <a:endParaRPr lang="en-US" altLang="zh-TW" sz="3300"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sz="3300" b="0" i="1" smtClean="0">
                          <a:latin typeface="Cambria Math" panose="02040503050406030204" pitchFamily="18" charset="0"/>
                        </a:rPr>
                        <m:t>𝐿</m:t>
                      </m:r>
                      <m:r>
                        <a:rPr lang="en-US" altLang="zh-TW" sz="3300" i="1">
                          <a:latin typeface="Cambria Math" panose="02040503050406030204" pitchFamily="18" charset="0"/>
                        </a:rPr>
                        <m:t>={</m:t>
                      </m:r>
                      <m:sSub>
                        <m:sSubPr>
                          <m:ctrlPr>
                            <a:rPr lang="en-US" altLang="zh-TW" sz="3300" i="1">
                              <a:latin typeface="Cambria Math" panose="02040503050406030204" pitchFamily="18" charset="0"/>
                            </a:rPr>
                          </m:ctrlPr>
                        </m:sSubPr>
                        <m:e>
                          <m:r>
                            <a:rPr lang="en-US" altLang="zh-TW" sz="3300" b="0" i="1" smtClean="0">
                              <a:latin typeface="Cambria Math" panose="02040503050406030204" pitchFamily="18" charset="0"/>
                            </a:rPr>
                            <m:t>𝐿</m:t>
                          </m:r>
                        </m:e>
                        <m:sub>
                          <m:r>
                            <a:rPr lang="en-US" altLang="zh-TW" sz="3300" b="0" i="1" smtClean="0">
                              <a:latin typeface="Cambria Math" panose="02040503050406030204" pitchFamily="18" charset="0"/>
                            </a:rPr>
                            <m:t>1</m:t>
                          </m:r>
                        </m:sub>
                      </m:sSub>
                      <m:r>
                        <a:rPr lang="en-US" altLang="zh-TW" sz="3300" b="0" i="1" smtClean="0">
                          <a:latin typeface="Cambria Math" panose="02040503050406030204" pitchFamily="18" charset="0"/>
                        </a:rPr>
                        <m:t>…,</m:t>
                      </m:r>
                      <m:sSub>
                        <m:sSubPr>
                          <m:ctrlPr>
                            <a:rPr lang="en-US" altLang="zh-TW" sz="3300" i="1">
                              <a:latin typeface="Cambria Math" panose="02040503050406030204" pitchFamily="18" charset="0"/>
                            </a:rPr>
                          </m:ctrlPr>
                        </m:sSubPr>
                        <m:e>
                          <m:r>
                            <a:rPr lang="en-US" altLang="zh-TW" sz="3300" b="0" i="1" smtClean="0">
                              <a:latin typeface="Cambria Math" panose="02040503050406030204" pitchFamily="18" charset="0"/>
                            </a:rPr>
                            <m:t>𝐿</m:t>
                          </m:r>
                        </m:e>
                        <m:sub>
                          <m:r>
                            <a:rPr lang="en-US" altLang="zh-TW" sz="3300" b="0" i="1" smtClean="0">
                              <a:latin typeface="Cambria Math" panose="02040503050406030204" pitchFamily="18" charset="0"/>
                            </a:rPr>
                            <m:t>𝑛</m:t>
                          </m:r>
                        </m:sub>
                      </m:sSub>
                      <m:r>
                        <a:rPr lang="en-US" altLang="zh-TW" sz="3300" i="1">
                          <a:latin typeface="Cambria Math" panose="02040503050406030204" pitchFamily="18" charset="0"/>
                        </a:rPr>
                        <m:t>}</m:t>
                      </m:r>
                    </m:oMath>
                  </m:oMathPara>
                </a14:m>
                <a:endParaRPr lang="en-US" altLang="zh-TW" sz="3300" dirty="0" smtClean="0"/>
              </a:p>
              <a:p>
                <a:pPr marL="0" indent="0">
                  <a:buNone/>
                </a:pPr>
                <a14:m>
                  <m:oMathPara xmlns:m="http://schemas.openxmlformats.org/officeDocument/2006/math">
                    <m:oMathParaPr>
                      <m:jc m:val="left"/>
                    </m:oMathParaPr>
                    <m:oMath xmlns:m="http://schemas.openxmlformats.org/officeDocument/2006/math">
                      <m:sSup>
                        <m:sSupPr>
                          <m:ctrlPr>
                            <a:rPr lang="en-US" altLang="zh-TW" sz="3300" i="1" smtClean="0">
                              <a:latin typeface="Cambria Math" panose="02040503050406030204" pitchFamily="18" charset="0"/>
                            </a:rPr>
                          </m:ctrlPr>
                        </m:sSupPr>
                        <m:e>
                          <m:r>
                            <a:rPr lang="zh-TW" altLang="en-US" sz="3300" i="1" smtClean="0">
                              <a:latin typeface="Cambria Math" panose="02040503050406030204" pitchFamily="18" charset="0"/>
                            </a:rPr>
                            <m:t>𝛿</m:t>
                          </m:r>
                        </m:e>
                        <m:sup>
                          <m:r>
                            <a:rPr lang="en-US" altLang="zh-TW" sz="3300" b="0" i="1" smtClean="0">
                              <a:latin typeface="Cambria Math" panose="02040503050406030204" pitchFamily="18" charset="0"/>
                            </a:rPr>
                            <m:t>−</m:t>
                          </m:r>
                        </m:sup>
                      </m:sSup>
                      <m:d>
                        <m:dPr>
                          <m:ctrlPr>
                            <a:rPr lang="en-US" altLang="zh-TW" sz="3300" b="0" i="1" smtClean="0">
                              <a:latin typeface="Cambria Math" panose="02040503050406030204" pitchFamily="18" charset="0"/>
                            </a:rPr>
                          </m:ctrlPr>
                        </m:dPr>
                        <m:e>
                          <m:r>
                            <a:rPr lang="en-US" altLang="zh-TW" sz="3300" b="0" i="1" smtClean="0">
                              <a:latin typeface="Cambria Math" panose="02040503050406030204" pitchFamily="18" charset="0"/>
                            </a:rPr>
                            <m:t>𝑗</m:t>
                          </m:r>
                        </m:e>
                      </m:d>
                      <m:r>
                        <a:rPr lang="en-US" altLang="zh-TW" sz="3300" b="0" i="1" smtClean="0">
                          <a:latin typeface="Cambria Math" panose="02040503050406030204" pitchFamily="18" charset="0"/>
                        </a:rPr>
                        <m:t>={</m:t>
                      </m:r>
                      <m:r>
                        <a:rPr lang="en-US" altLang="zh-TW" sz="3300" b="0" i="1" smtClean="0">
                          <a:latin typeface="Cambria Math" panose="02040503050406030204" pitchFamily="18" charset="0"/>
                        </a:rPr>
                        <m:t>𝑖</m:t>
                      </m:r>
                      <m:r>
                        <a:rPr lang="en-US" altLang="zh-TW" sz="3300" i="1">
                          <a:latin typeface="Cambria Math" panose="02040503050406030204" pitchFamily="18" charset="0"/>
                          <a:ea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𝑉</m:t>
                      </m:r>
                      <m:r>
                        <a:rPr lang="en-US" altLang="zh-TW" sz="3300" i="1">
                          <a:latin typeface="Cambria Math" panose="02040503050406030204" pitchFamily="18" charset="0"/>
                          <a:ea typeface="Cambria Math" panose="02040503050406030204" pitchFamily="18" charset="0"/>
                          <a:sym typeface="Wingdings" panose="05000000000000000000" pitchFamily="2" charset="2"/>
                        </a:rPr>
                        <m:t>|</m:t>
                      </m:r>
                      <m:r>
                        <a:rPr lang="en-US" altLang="zh-TW" sz="33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𝑗</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𝐸</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𝑗</m:t>
                      </m:r>
                      <m:r>
                        <a:rPr lang="en-US" altLang="zh-TW" sz="3300" i="1">
                          <a:latin typeface="Cambria Math" panose="02040503050406030204" pitchFamily="18" charset="0"/>
                          <a:ea typeface="Cambria Math" panose="02040503050406030204" pitchFamily="18" charset="0"/>
                          <a:sym typeface="Wingdings" panose="05000000000000000000" pitchFamily="2" charset="2"/>
                        </a:rPr>
                        <m:t>∈</m:t>
                      </m:r>
                      <m:r>
                        <a:rPr lang="en-US" altLang="zh-TW" sz="3300" b="0" i="1" smtClean="0">
                          <a:latin typeface="Cambria Math" panose="02040503050406030204" pitchFamily="18" charset="0"/>
                          <a:ea typeface="Cambria Math" panose="02040503050406030204" pitchFamily="18" charset="0"/>
                          <a:sym typeface="Wingdings" panose="05000000000000000000" pitchFamily="2" charset="2"/>
                        </a:rPr>
                        <m:t>𝑉</m:t>
                      </m:r>
                      <m:r>
                        <a:rPr lang="en-US" altLang="zh-TW" sz="3300" b="0" i="1" smtClean="0">
                          <a:latin typeface="Cambria Math" panose="02040503050406030204" pitchFamily="18" charset="0"/>
                        </a:rPr>
                        <m:t>}</m:t>
                      </m:r>
                    </m:oMath>
                  </m:oMathPara>
                </a14:m>
                <a:endParaRPr lang="en-US" altLang="zh-TW" sz="3300" dirty="0" smtClean="0"/>
              </a:p>
              <a:p>
                <a:pPr marL="0" indent="0">
                  <a:buNone/>
                </a:pPr>
                <a:r>
                  <a:rPr lang="zh-TW" altLang="en-US" sz="3600" dirty="0"/>
                  <a:t>任務的 </a:t>
                </a:r>
                <a14:m>
                  <m:oMath xmlns:m="http://schemas.openxmlformats.org/officeDocument/2006/math">
                    <m:r>
                      <a:rPr lang="en-US" altLang="zh-TW" sz="3600" i="1">
                        <a:latin typeface="Cambria Math" panose="02040503050406030204" pitchFamily="18" charset="0"/>
                      </a:rPr>
                      <m:t>𝑖</m:t>
                    </m:r>
                  </m:oMath>
                </a14:m>
                <a:r>
                  <a:rPr lang="zh-TW" altLang="en-US" sz="3600" dirty="0"/>
                  <a:t> 的開始時間為 </a:t>
                </a:r>
                <a14:m>
                  <m:oMath xmlns:m="http://schemas.openxmlformats.org/officeDocument/2006/math">
                    <m:sSub>
                      <m:sSubPr>
                        <m:ctrlPr>
                          <a:rPr lang="en-US" altLang="zh-TW" sz="3600" i="1">
                            <a:latin typeface="Cambria Math" panose="02040503050406030204" pitchFamily="18" charset="0"/>
                          </a:rPr>
                        </m:ctrlPr>
                      </m:sSubPr>
                      <m:e>
                        <m:r>
                          <a:rPr lang="en-US" altLang="zh-TW" sz="3600" i="1">
                            <a:latin typeface="Cambria Math" panose="02040503050406030204" pitchFamily="18" charset="0"/>
                          </a:rPr>
                          <m:t>𝑡</m:t>
                        </m:r>
                      </m:e>
                      <m:sub>
                        <m:r>
                          <a:rPr lang="en-US" altLang="zh-TW" sz="3600" i="1">
                            <a:latin typeface="Cambria Math" panose="02040503050406030204" pitchFamily="18" charset="0"/>
                          </a:rPr>
                          <m:t>𝑖</m:t>
                        </m:r>
                      </m:sub>
                    </m:sSub>
                    <m:r>
                      <a:rPr lang="en-US" altLang="zh-TW" sz="3600" i="1">
                        <a:latin typeface="Cambria Math" panose="02040503050406030204" pitchFamily="18" charset="0"/>
                      </a:rPr>
                      <m:t> </m:t>
                    </m:r>
                  </m:oMath>
                </a14:m>
                <a:r>
                  <a:rPr lang="zh-TW" altLang="en-US" sz="3600" dirty="0"/>
                  <a:t>執行任務 </a:t>
                </a:r>
                <a14:m>
                  <m:oMath xmlns:m="http://schemas.openxmlformats.org/officeDocument/2006/math">
                    <m:r>
                      <a:rPr lang="en-US" altLang="zh-TW" sz="3600" i="1">
                        <a:latin typeface="Cambria Math" panose="02040503050406030204" pitchFamily="18" charset="0"/>
                      </a:rPr>
                      <m:t>𝑖</m:t>
                    </m:r>
                  </m:oMath>
                </a14:m>
                <a:r>
                  <a:rPr lang="zh-TW" altLang="en-US" sz="3600" dirty="0"/>
                  <a:t> 的處理器為 </a:t>
                </a:r>
                <a14:m>
                  <m:oMath xmlns:m="http://schemas.openxmlformats.org/officeDocument/2006/math">
                    <m:sSub>
                      <m:sSubPr>
                        <m:ctrlPr>
                          <a:rPr lang="en-US" altLang="zh-TW" sz="3600" i="1">
                            <a:latin typeface="Cambria Math" panose="02040503050406030204" pitchFamily="18" charset="0"/>
                          </a:rPr>
                        </m:ctrlPr>
                      </m:sSubPr>
                      <m:e>
                        <m:r>
                          <a:rPr lang="en-US" altLang="zh-TW" sz="3600" i="1">
                            <a:latin typeface="Cambria Math" panose="02040503050406030204" pitchFamily="18" charset="0"/>
                          </a:rPr>
                          <m:t>𝑝</m:t>
                        </m:r>
                      </m:e>
                      <m:sub>
                        <m:r>
                          <a:rPr lang="en-US" altLang="zh-TW" sz="3600" i="1">
                            <a:latin typeface="Cambria Math" panose="02040503050406030204" pitchFamily="18" charset="0"/>
                          </a:rPr>
                          <m:t>𝑖</m:t>
                        </m:r>
                      </m:sub>
                    </m:sSub>
                    <m:r>
                      <a:rPr lang="en-US" altLang="zh-TW" sz="3600" i="1">
                        <a:latin typeface="Cambria Math" panose="02040503050406030204" pitchFamily="18" charset="0"/>
                      </a:rPr>
                      <m:t> </m:t>
                    </m:r>
                  </m:oMath>
                </a14:m>
                <a:endParaRPr lang="zh-TW" altLang="en-US" sz="3600" dirty="0"/>
              </a:p>
              <a:p>
                <a:pPr marL="0" indent="0">
                  <a:buNone/>
                </a:pPr>
                <a:endParaRPr lang="en-US" altLang="zh-TW" sz="3300" dirty="0" smtClean="0"/>
              </a:p>
              <a:p>
                <a:pPr marL="0" indent="0">
                  <a:buNone/>
                </a:pPr>
                <a:endParaRPr lang="en-US" altLang="zh-TW" sz="3300" dirty="0"/>
              </a:p>
              <a:p>
                <a:pPr marL="0" indent="0">
                  <a:buNone/>
                </a:pPr>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10532" y="3575962"/>
                <a:ext cx="8255577" cy="4014807"/>
              </a:xfrm>
              <a:blipFill>
                <a:blip r:embed="rId3"/>
                <a:stretch>
                  <a:fillRect l="-2216"/>
                </a:stretch>
              </a:blipFill>
            </p:spPr>
            <p:txBody>
              <a:bodyPr/>
              <a:lstStyle/>
              <a:p>
                <a:r>
                  <a:rPr lang="zh-TW" altLang="en-US">
                    <a:noFill/>
                  </a:rPr>
                  <a:t> </a:t>
                </a:r>
              </a:p>
            </p:txBody>
          </p:sp>
        </mc:Fallback>
      </mc:AlternateContent>
      <p:pic>
        <p:nvPicPr>
          <p:cNvPr id="9" name="圖片 8"/>
          <p:cNvPicPr>
            <a:picLocks noChangeAspect="1"/>
          </p:cNvPicPr>
          <p:nvPr/>
        </p:nvPicPr>
        <p:blipFill rotWithShape="1">
          <a:blip r:embed="rId4">
            <a:extLst>
              <a:ext uri="{28A0092B-C50C-407E-A947-70E740481C1C}">
                <a14:useLocalDpi xmlns:a14="http://schemas.microsoft.com/office/drawing/2010/main" val="0"/>
              </a:ext>
            </a:extLst>
          </a:blip>
          <a:srcRect l="-952" t="556" r="952" b="28471"/>
          <a:stretch/>
        </p:blipFill>
        <p:spPr>
          <a:xfrm>
            <a:off x="433750" y="231562"/>
            <a:ext cx="3354478" cy="3263042"/>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18766610"/>
              </p:ext>
            </p:extLst>
          </p:nvPr>
        </p:nvGraphicFramePr>
        <p:xfrm>
          <a:off x="6144427" y="150204"/>
          <a:ext cx="2581560" cy="4950842"/>
        </p:xfrm>
        <a:graphic>
          <a:graphicData uri="http://schemas.openxmlformats.org/drawingml/2006/table">
            <a:tbl>
              <a:tblPr firstRow="1" bandRow="1">
                <a:tableStyleId>{5C22544A-7EE6-4342-B048-85BDC9FD1C3A}</a:tableStyleId>
              </a:tblPr>
              <a:tblGrid>
                <a:gridCol w="693543">
                  <a:extLst>
                    <a:ext uri="{9D8B030D-6E8A-4147-A177-3AD203B41FA5}">
                      <a16:colId xmlns:a16="http://schemas.microsoft.com/office/drawing/2014/main" val="4262485285"/>
                    </a:ext>
                  </a:extLst>
                </a:gridCol>
                <a:gridCol w="533145">
                  <a:extLst>
                    <a:ext uri="{9D8B030D-6E8A-4147-A177-3AD203B41FA5}">
                      <a16:colId xmlns:a16="http://schemas.microsoft.com/office/drawing/2014/main" val="870654693"/>
                    </a:ext>
                  </a:extLst>
                </a:gridCol>
                <a:gridCol w="705393">
                  <a:extLst>
                    <a:ext uri="{9D8B030D-6E8A-4147-A177-3AD203B41FA5}">
                      <a16:colId xmlns:a16="http://schemas.microsoft.com/office/drawing/2014/main" val="3593744629"/>
                    </a:ext>
                  </a:extLst>
                </a:gridCol>
                <a:gridCol w="649479">
                  <a:extLst>
                    <a:ext uri="{9D8B030D-6E8A-4147-A177-3AD203B41FA5}">
                      <a16:colId xmlns:a16="http://schemas.microsoft.com/office/drawing/2014/main" val="3274261985"/>
                    </a:ext>
                  </a:extLst>
                </a:gridCol>
              </a:tblGrid>
              <a:tr h="502253">
                <a:tc>
                  <a:txBody>
                    <a:bodyPr/>
                    <a:lstStyle/>
                    <a:p>
                      <a:r>
                        <a:rPr lang="en-US" altLang="zh-TW" b="0" dirty="0" smtClean="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b="0" i="0" dirty="0" smtClean="0">
                          <a:solidFill>
                            <a:schemeClr val="tx1"/>
                          </a:solidFill>
                          <a:latin typeface="Times New Roman" panose="02020603050405020304" pitchFamily="18" charset="0"/>
                          <a:cs typeface="Times New Roman" panose="02020603050405020304" pitchFamily="18" charset="0"/>
                        </a:rPr>
                        <a:t>P1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b="0" i="0" dirty="0" smtClean="0">
                          <a:solidFill>
                            <a:schemeClr val="tx1"/>
                          </a:solidFill>
                          <a:latin typeface="Times New Roman" panose="02020603050405020304" pitchFamily="18" charset="0"/>
                          <a:cs typeface="Times New Roman" panose="02020603050405020304" pitchFamily="18" charset="0"/>
                        </a:rPr>
                        <a:t>P2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b="0" i="0" dirty="0" smtClean="0">
                          <a:solidFill>
                            <a:schemeClr val="tx1"/>
                          </a:solidFill>
                          <a:latin typeface="Times New Roman" panose="02020603050405020304" pitchFamily="18" charset="0"/>
                          <a:cs typeface="Times New Roman" panose="02020603050405020304" pitchFamily="18" charset="0"/>
                        </a:rPr>
                        <a:t>P3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9321181"/>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919152"/>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7753834"/>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06013788"/>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T4</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0782785"/>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T5</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429158"/>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T6</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0200911"/>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T7</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8</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8</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8</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1248544"/>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T8</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18</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18</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18</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84498131"/>
                  </a:ext>
                </a:extLst>
              </a:tr>
              <a:tr h="426577">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T9</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20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20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20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3933794"/>
                  </a:ext>
                </a:extLst>
              </a:tr>
              <a:tr h="609396">
                <a:tc>
                  <a:txBody>
                    <a:bodyPr/>
                    <a:lstStyle/>
                    <a:p>
                      <a:r>
                        <a:rPr lang="en-US" altLang="zh-TW" dirty="0" smtClean="0">
                          <a:solidFill>
                            <a:schemeClr val="tx1"/>
                          </a:solidFill>
                          <a:latin typeface="Times New Roman" panose="02020603050405020304" pitchFamily="18" charset="0"/>
                          <a:cs typeface="Times New Roman" panose="02020603050405020304" pitchFamily="18" charset="0"/>
                        </a:rPr>
                        <a:t>T10</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23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23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smtClean="0">
                          <a:solidFill>
                            <a:schemeClr val="tx1"/>
                          </a:solidFill>
                          <a:latin typeface="Times New Roman" panose="02020603050405020304" pitchFamily="18" charset="0"/>
                          <a:cs typeface="Times New Roman" panose="02020603050405020304" pitchFamily="18" charset="0"/>
                        </a:rPr>
                        <a:t>23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219618"/>
                  </a:ext>
                </a:extLst>
              </a:tr>
            </a:tbl>
          </a:graphicData>
        </a:graphic>
      </p:graphicFrame>
    </p:spTree>
    <p:extLst>
      <p:ext uri="{BB962C8B-B14F-4D97-AF65-F5344CB8AC3E}">
        <p14:creationId xmlns:p14="http://schemas.microsoft.com/office/powerpoint/2010/main" val="13604205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965" y="1616793"/>
            <a:ext cx="4515661" cy="1194159"/>
          </a:xfrm>
        </p:spPr>
      </p:pic>
      <p:pic>
        <p:nvPicPr>
          <p:cNvPr id="7" name="圖片 6"/>
          <p:cNvPicPr>
            <a:picLocks noChangeAspect="1"/>
          </p:cNvPicPr>
          <p:nvPr/>
        </p:nvPicPr>
        <p:blipFill rotWithShape="1">
          <a:blip r:embed="rId3">
            <a:extLst>
              <a:ext uri="{28A0092B-C50C-407E-A947-70E740481C1C}">
                <a14:useLocalDpi xmlns:a14="http://schemas.microsoft.com/office/drawing/2010/main" val="0"/>
              </a:ext>
            </a:extLst>
          </a:blip>
          <a:srcRect l="16281" t="1" r="1" b="-3073"/>
          <a:stretch/>
        </p:blipFill>
        <p:spPr>
          <a:xfrm>
            <a:off x="0" y="2748369"/>
            <a:ext cx="4301682" cy="3196970"/>
          </a:xfrm>
          <a:prstGeom prst="rect">
            <a:avLst/>
          </a:prstGeom>
        </p:spPr>
      </p:pic>
      <p:pic>
        <p:nvPicPr>
          <p:cNvPr id="8" name="圖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1682" y="2658552"/>
            <a:ext cx="4720517" cy="3506896"/>
          </a:xfrm>
          <a:prstGeom prst="rect">
            <a:avLst/>
          </a:prstGeom>
        </p:spPr>
      </p:pic>
      <p:pic>
        <p:nvPicPr>
          <p:cNvPr id="5" name="圖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28298"/>
            <a:ext cx="4745576" cy="946939"/>
          </a:xfrm>
          <a:prstGeom prst="rect">
            <a:avLst/>
          </a:prstGeom>
        </p:spPr>
      </p:pic>
      <p:pic>
        <p:nvPicPr>
          <p:cNvPr id="9" name="圖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3792" y="466305"/>
            <a:ext cx="2689940" cy="870923"/>
          </a:xfrm>
          <a:prstGeom prst="rect">
            <a:avLst/>
          </a:prstGeom>
        </p:spPr>
      </p:pic>
      <p:pic>
        <p:nvPicPr>
          <p:cNvPr id="2" name="圖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869" y="5899417"/>
            <a:ext cx="4388785" cy="711695"/>
          </a:xfrm>
          <a:prstGeom prst="rect">
            <a:avLst/>
          </a:prstGeom>
        </p:spPr>
      </p:pic>
    </p:spTree>
    <p:extLst>
      <p:ext uri="{BB962C8B-B14F-4D97-AF65-F5344CB8AC3E}">
        <p14:creationId xmlns:p14="http://schemas.microsoft.com/office/powerpoint/2010/main" val="242163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rotWithShape="1">
          <a:blip r:embed="rId2">
            <a:extLst>
              <a:ext uri="{28A0092B-C50C-407E-A947-70E740481C1C}">
                <a14:useLocalDpi xmlns:a14="http://schemas.microsoft.com/office/drawing/2010/main" val="0"/>
              </a:ext>
            </a:extLst>
          </a:blip>
          <a:srcRect l="17451" b="88889"/>
          <a:stretch/>
        </p:blipFill>
        <p:spPr>
          <a:xfrm>
            <a:off x="495300" y="4027980"/>
            <a:ext cx="4710510" cy="470989"/>
          </a:xfrm>
          <a:prstGeom prst="rect">
            <a:avLst/>
          </a:prstGeom>
        </p:spPr>
      </p:pic>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l="16652" t="44333" r="-369" b="42462"/>
          <a:stretch/>
        </p:blipFill>
        <p:spPr>
          <a:xfrm>
            <a:off x="342900" y="3582936"/>
            <a:ext cx="4301682" cy="409575"/>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495300" y="4741295"/>
                <a:ext cx="2948308" cy="3916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=1 </m:t>
                      </m:r>
                      <m:r>
                        <a:rPr lang="en-US" altLang="zh-TW" b="0" i="1" smtClean="0">
                          <a:latin typeface="Cambria Math" panose="02040503050406030204" pitchFamily="18" charset="0"/>
                        </a:rPr>
                        <m:t>𝑡h𝑒𝑛</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𝑡</m:t>
                          </m:r>
                        </m:e>
                        <m:sub>
                          <m:r>
                            <a:rPr lang="en-US" altLang="zh-TW" i="1">
                              <a:latin typeface="Cambria Math" panose="02040503050406030204" pitchFamily="18" charset="0"/>
                            </a:rPr>
                            <m:t>𝑗</m:t>
                          </m:r>
                        </m:sub>
                      </m:sSub>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𝑡</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𝑖</m:t>
                          </m:r>
                        </m:sub>
                      </m:sSub>
                    </m:oMath>
                  </m:oMathPara>
                </a14:m>
                <a:endParaRPr lang="en-US" altLang="zh-TW" dirty="0"/>
              </a:p>
            </p:txBody>
          </p:sp>
        </mc:Choice>
        <mc:Fallback xmlns="">
          <p:sp>
            <p:nvSpPr>
              <p:cNvPr id="6" name="矩形 5"/>
              <p:cNvSpPr>
                <a:spLocks noRot="1" noChangeAspect="1" noMove="1" noResize="1" noEditPoints="1" noAdjustHandles="1" noChangeArrowheads="1" noChangeShapeType="1" noTextEdit="1"/>
              </p:cNvSpPr>
              <p:nvPr/>
            </p:nvSpPr>
            <p:spPr>
              <a:xfrm>
                <a:off x="495300" y="4741295"/>
                <a:ext cx="2948308" cy="391646"/>
              </a:xfrm>
              <a:prstGeom prst="rect">
                <a:avLst/>
              </a:prstGeom>
              <a:blipFill>
                <a:blip r:embed="rId4"/>
                <a:stretch>
                  <a:fillRect l="-620" b="-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95300" y="5179444"/>
                <a:ext cx="2929072" cy="3916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TW" i="1" smtClean="0">
                          <a:latin typeface="Cambria Math" panose="02040503050406030204" pitchFamily="18" charset="0"/>
                        </a:rPr>
                        <m:t>𝑖𝑓</m:t>
                      </m:r>
                      <m:r>
                        <a:rPr lang="en-US" altLang="zh-TW" i="1" smtClean="0">
                          <a:latin typeface="Cambria Math" panose="02040503050406030204" pitchFamily="18" charset="0"/>
                        </a:rPr>
                        <m:t> </m:t>
                      </m:r>
                      <m:sSub>
                        <m:sSubPr>
                          <m:ctrlPr>
                            <a:rPr lang="en-US" altLang="zh-TW" i="1">
                              <a:latin typeface="Cambria Math" panose="02040503050406030204" pitchFamily="18" charset="0"/>
                            </a:rPr>
                          </m:ctrlPr>
                        </m:sSubPr>
                        <m:e>
                          <m:r>
                            <a:rPr lang="zh-TW" altLang="en-US" i="1">
                              <a:latin typeface="Cambria Math" panose="02040503050406030204" pitchFamily="18" charset="0"/>
                            </a:rPr>
                            <m:t>𝜎</m:t>
                          </m:r>
                        </m:e>
                        <m:sub>
                          <m:r>
                            <a:rPr lang="en-US" altLang="zh-TW" i="1">
                              <a:latin typeface="Cambria Math" panose="02040503050406030204" pitchFamily="18" charset="0"/>
                            </a:rPr>
                            <m:t>𝑗</m:t>
                          </m:r>
                          <m:r>
                            <a:rPr lang="en-US" altLang="zh-TW" b="0" i="1" smtClean="0">
                              <a:latin typeface="Cambria Math" panose="02040503050406030204" pitchFamily="18" charset="0"/>
                            </a:rPr>
                            <m:t>𝑖</m:t>
                          </m:r>
                        </m:sub>
                      </m:sSub>
                      <m:r>
                        <a:rPr lang="en-US" altLang="zh-TW" i="1">
                          <a:latin typeface="Cambria Math" panose="02040503050406030204" pitchFamily="18" charset="0"/>
                        </a:rPr>
                        <m:t>=1 </m:t>
                      </m:r>
                      <m:r>
                        <a:rPr lang="en-US" altLang="zh-TW" i="1">
                          <a:latin typeface="Cambria Math" panose="02040503050406030204" pitchFamily="18" charset="0"/>
                        </a:rPr>
                        <m:t>𝑡h𝑒𝑛</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𝑡</m:t>
                          </m:r>
                        </m:e>
                        <m:sub>
                          <m:r>
                            <a:rPr lang="en-US" altLang="zh-TW" b="0" i="1" smtClean="0">
                              <a:latin typeface="Cambria Math" panose="02040503050406030204" pitchFamily="18" charset="0"/>
                            </a:rPr>
                            <m:t>𝑖</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𝑡</m:t>
                          </m:r>
                        </m:e>
                        <m:sub>
                          <m:r>
                            <a:rPr lang="en-US" altLang="zh-TW" b="0" i="1" smtClean="0">
                              <a:latin typeface="Cambria Math" panose="02040503050406030204" pitchFamily="18" charset="0"/>
                            </a:rPr>
                            <m:t>𝑗</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𝐿</m:t>
                          </m:r>
                        </m:e>
                        <m:sub>
                          <m:r>
                            <a:rPr lang="en-US" altLang="zh-TW" b="0" i="1" smtClean="0">
                              <a:latin typeface="Cambria Math" panose="02040503050406030204" pitchFamily="18" charset="0"/>
                            </a:rPr>
                            <m:t>𝑗</m:t>
                          </m:r>
                        </m:sub>
                      </m:sSub>
                    </m:oMath>
                  </m:oMathPara>
                </a14:m>
                <a:endParaRPr lang="en-US" altLang="zh-TW" dirty="0"/>
              </a:p>
            </p:txBody>
          </p:sp>
        </mc:Choice>
        <mc:Fallback xmlns="">
          <p:sp>
            <p:nvSpPr>
              <p:cNvPr id="7" name="矩形 6"/>
              <p:cNvSpPr>
                <a:spLocks noRot="1" noChangeAspect="1" noMove="1" noResize="1" noEditPoints="1" noAdjustHandles="1" noChangeArrowheads="1" noChangeShapeType="1" noTextEdit="1"/>
              </p:cNvSpPr>
              <p:nvPr/>
            </p:nvSpPr>
            <p:spPr>
              <a:xfrm>
                <a:off x="495300" y="5179444"/>
                <a:ext cx="2929072" cy="391646"/>
              </a:xfrm>
              <a:prstGeom prst="rect">
                <a:avLst/>
              </a:prstGeom>
              <a:blipFill>
                <a:blip r:embed="rId5"/>
                <a:stretch>
                  <a:fillRect l="-624" b="-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495300" y="5692163"/>
                <a:ext cx="5024709" cy="690958"/>
              </a:xfrm>
              <a:prstGeom prst="rect">
                <a:avLst/>
              </a:prstGeom>
            </p:spPr>
            <p:txBody>
              <a:bodyPr wrap="none">
                <a:spAutoFit/>
              </a:bodyPr>
              <a:lstStyle/>
              <a:p>
                <a14:m>
                  <m:oMath xmlns:m="http://schemas.openxmlformats.org/officeDocument/2006/math">
                    <m:r>
                      <a:rPr lang="en-US" altLang="zh-TW" i="1" smtClean="0">
                        <a:latin typeface="Cambria Math" panose="02040503050406030204" pitchFamily="18" charset="0"/>
                      </a:rPr>
                      <m:t>𝑖𝑓</m:t>
                    </m:r>
                    <m:r>
                      <a:rPr lang="en-US" altLang="zh-TW" i="1" smtClean="0">
                        <a:latin typeface="Cambria Math" panose="02040503050406030204" pitchFamily="18" charset="0"/>
                      </a:rPr>
                      <m:t> </m:t>
                    </m:r>
                    <m:sSub>
                      <m:sSubPr>
                        <m:ctrlPr>
                          <a:rPr lang="en-US" altLang="zh-TW" i="1">
                            <a:latin typeface="Cambria Math" panose="02040503050406030204" pitchFamily="18" charset="0"/>
                          </a:rPr>
                        </m:ctrlPr>
                      </m:sSubPr>
                      <m:e>
                        <m:r>
                          <a:rPr lang="zh-TW" altLang="en-US" i="1">
                            <a:latin typeface="Cambria Math" panose="02040503050406030204" pitchFamily="18" charset="0"/>
                          </a:rPr>
                          <m:t>𝜎</m:t>
                        </m:r>
                      </m:e>
                      <m:sub>
                        <m:r>
                          <a:rPr lang="en-US" altLang="zh-TW" i="1">
                            <a:latin typeface="Cambria Math" panose="02040503050406030204" pitchFamily="18" charset="0"/>
                          </a:rPr>
                          <m:t>𝑖𝑗</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zh-TW" altLang="en-US" i="1">
                            <a:latin typeface="Cambria Math" panose="02040503050406030204" pitchFamily="18" charset="0"/>
                          </a:rPr>
                          <m:t>𝜎</m:t>
                        </m:r>
                      </m:e>
                      <m:sub>
                        <m:r>
                          <a:rPr lang="en-US" altLang="zh-TW" i="1">
                            <a:latin typeface="Cambria Math" panose="02040503050406030204" pitchFamily="18" charset="0"/>
                          </a:rPr>
                          <m:t>𝑗𝑖</m:t>
                        </m:r>
                      </m:sub>
                    </m:sSub>
                    <m:r>
                      <a:rPr lang="en-US" altLang="zh-TW" i="1">
                        <a:latin typeface="Cambria Math" panose="02040503050406030204" pitchFamily="18" charset="0"/>
                      </a:rPr>
                      <m:t>=1 </m:t>
                    </m:r>
                    <m:r>
                      <a:rPr lang="en-US" altLang="zh-TW" i="1">
                        <a:latin typeface="Cambria Math" panose="02040503050406030204" pitchFamily="18" charset="0"/>
                      </a:rPr>
                      <m:t>𝑡h𝑒𝑛</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𝑡</m:t>
                        </m:r>
                      </m:e>
                      <m:sub>
                        <m:r>
                          <a:rPr lang="en-US" altLang="zh-TW" i="1">
                            <a:latin typeface="Cambria Math" panose="02040503050406030204" pitchFamily="18" charset="0"/>
                          </a:rPr>
                          <m:t>𝑗</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𝑡</m:t>
                        </m:r>
                      </m:e>
                      <m:sub>
                        <m:r>
                          <a:rPr lang="en-US" altLang="zh-TW" i="1">
                            <a:latin typeface="Cambria Math" panose="02040503050406030204" pitchFamily="18" charset="0"/>
                          </a:rPr>
                          <m:t>𝑖</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𝐿</m:t>
                        </m:r>
                      </m:e>
                      <m:sub>
                        <m:r>
                          <a:rPr lang="en-US" altLang="zh-TW" i="1">
                            <a:latin typeface="Cambria Math" panose="02040503050406030204" pitchFamily="18" charset="0"/>
                          </a:rPr>
                          <m:t>𝑖</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𝑡</m:t>
                        </m:r>
                      </m:e>
                      <m:sub>
                        <m:r>
                          <a:rPr lang="en-US" altLang="zh-TW" i="1">
                            <a:latin typeface="Cambria Math" panose="02040503050406030204" pitchFamily="18" charset="0"/>
                          </a:rPr>
                          <m:t>𝑖</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𝑡</m:t>
                        </m:r>
                      </m:e>
                      <m:sub>
                        <m:r>
                          <a:rPr lang="en-US" altLang="zh-TW" i="1">
                            <a:latin typeface="Cambria Math" panose="02040503050406030204" pitchFamily="18" charset="0"/>
                          </a:rPr>
                          <m:t>𝑗</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𝐿</m:t>
                        </m:r>
                      </m:e>
                      <m:sub>
                        <m:r>
                          <a:rPr lang="en-US" altLang="zh-TW" i="1">
                            <a:latin typeface="Cambria Math" panose="02040503050406030204" pitchFamily="18" charset="0"/>
                          </a:rPr>
                          <m:t>𝑗</m:t>
                        </m:r>
                      </m:sub>
                    </m:sSub>
                  </m:oMath>
                </a14:m>
                <a:r>
                  <a:rPr lang="en-US" altLang="zh-TW" dirty="0" smtClean="0">
                    <a:latin typeface="Times New Roman" panose="02020603050405020304" pitchFamily="18" charset="0"/>
                    <a:cs typeface="Times New Roman" panose="02020603050405020304" pitchFamily="18" charset="0"/>
                  </a:rPr>
                  <a:t> </a:t>
                </a:r>
              </a:p>
              <a:p>
                <a:r>
                  <a:rPr lang="en-US" altLang="zh-TW" dirty="0" smtClean="0">
                    <a:latin typeface="Times New Roman" panose="02020603050405020304" pitchFamily="18" charset="0"/>
                    <a:cs typeface="Times New Roman" panose="02020603050405020304" pitchFamily="18" charset="0"/>
                  </a:rPr>
                  <a:t>This is true only if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𝑖</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𝑗</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𝐿</m:t>
                        </m:r>
                      </m:e>
                      <m:sub>
                        <m:r>
                          <a:rPr lang="en-US" altLang="zh-TW" i="1">
                            <a:latin typeface="Cambria Math" panose="02040503050406030204" pitchFamily="18" charset="0"/>
                          </a:rPr>
                          <m:t>𝑖</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𝐿</m:t>
                        </m:r>
                      </m:e>
                      <m:sub>
                        <m:r>
                          <a:rPr lang="en-US" altLang="zh-TW" i="1">
                            <a:latin typeface="Cambria Math" panose="02040503050406030204" pitchFamily="18" charset="0"/>
                          </a:rPr>
                          <m:t>𝑗</m:t>
                        </m:r>
                      </m:sub>
                    </m:sSub>
                    <m:r>
                      <a:rPr lang="en-US" altLang="zh-TW" b="0" i="1" smtClean="0">
                        <a:latin typeface="Cambria Math" panose="02040503050406030204" pitchFamily="18" charset="0"/>
                      </a:rPr>
                      <m:t>=0</m:t>
                    </m:r>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495300" y="5692163"/>
                <a:ext cx="5024709" cy="690958"/>
              </a:xfrm>
              <a:prstGeom prst="rect">
                <a:avLst/>
              </a:prstGeom>
              <a:blipFill>
                <a:blip r:embed="rId6"/>
                <a:stretch>
                  <a:fillRect l="-970" b="-9735"/>
                </a:stretch>
              </a:blipFill>
            </p:spPr>
            <p:txBody>
              <a:bodyPr/>
              <a:lstStyle/>
              <a:p>
                <a:r>
                  <a:rPr lang="zh-TW" altLang="en-US">
                    <a:noFill/>
                  </a:rPr>
                  <a:t> </a:t>
                </a:r>
              </a:p>
            </p:txBody>
          </p:sp>
        </mc:Fallback>
      </mc:AlternateContent>
      <p:pic>
        <p:nvPicPr>
          <p:cNvPr id="9" name="圖片 8"/>
          <p:cNvPicPr>
            <a:picLocks noChangeAspect="1"/>
          </p:cNvPicPr>
          <p:nvPr/>
        </p:nvPicPr>
        <p:blipFill rotWithShape="1">
          <a:blip r:embed="rId3">
            <a:extLst>
              <a:ext uri="{28A0092B-C50C-407E-A947-70E740481C1C}">
                <a14:useLocalDpi xmlns:a14="http://schemas.microsoft.com/office/drawing/2010/main" val="0"/>
              </a:ext>
            </a:extLst>
          </a:blip>
          <a:srcRect l="16466" t="73505" r="-184" b="13203"/>
          <a:stretch/>
        </p:blipFill>
        <p:spPr>
          <a:xfrm>
            <a:off x="190500" y="941802"/>
            <a:ext cx="4301682" cy="412254"/>
          </a:xfrm>
          <a:prstGeom prst="rect">
            <a:avLst/>
          </a:prstGeom>
        </p:spPr>
      </p:pic>
      <p:pic>
        <p:nvPicPr>
          <p:cNvPr id="10" name="圖片 9"/>
          <p:cNvPicPr>
            <a:picLocks noChangeAspect="1"/>
          </p:cNvPicPr>
          <p:nvPr/>
        </p:nvPicPr>
        <p:blipFill rotWithShape="1">
          <a:blip r:embed="rId3">
            <a:extLst>
              <a:ext uri="{28A0092B-C50C-407E-A947-70E740481C1C}">
                <a14:useLocalDpi xmlns:a14="http://schemas.microsoft.com/office/drawing/2010/main" val="0"/>
              </a:ext>
            </a:extLst>
          </a:blip>
          <a:srcRect l="16652" t="31664" r="-369" b="56359"/>
          <a:stretch/>
        </p:blipFill>
        <p:spPr>
          <a:xfrm>
            <a:off x="190500" y="509792"/>
            <a:ext cx="4301682" cy="371474"/>
          </a:xfrm>
          <a:prstGeom prst="rect">
            <a:avLst/>
          </a:prstGeom>
        </p:spPr>
      </p:pic>
      <mc:AlternateContent xmlns:mc="http://schemas.openxmlformats.org/markup-compatibility/2006" xmlns:a14="http://schemas.microsoft.com/office/drawing/2010/main">
        <mc:Choice Requires="a14">
          <p:sp>
            <p:nvSpPr>
              <p:cNvPr id="11" name="矩形 10"/>
              <p:cNvSpPr/>
              <p:nvPr/>
            </p:nvSpPr>
            <p:spPr>
              <a:xfrm>
                <a:off x="323664" y="1414592"/>
                <a:ext cx="2821863" cy="3916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r>
                            <a:rPr lang="zh-TW" altLang="en-US" i="1" smtClean="0">
                              <a:latin typeface="Cambria Math" panose="02040503050406030204" pitchFamily="18" charset="0"/>
                            </a:rPr>
                            <m:t>𝜖</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=1 </m:t>
                      </m:r>
                      <m:r>
                        <a:rPr lang="en-US" altLang="zh-TW" b="0" i="1" smtClean="0">
                          <a:latin typeface="Cambria Math" panose="02040503050406030204" pitchFamily="18" charset="0"/>
                        </a:rPr>
                        <m:t>𝑡h𝑒𝑛</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𝑝</m:t>
                          </m:r>
                        </m:e>
                        <m:sub>
                          <m:r>
                            <a:rPr lang="en-US" altLang="zh-TW" i="1">
                              <a:latin typeface="Cambria Math" panose="02040503050406030204" pitchFamily="18" charset="0"/>
                            </a:rPr>
                            <m:t>𝑗</m:t>
                          </m:r>
                        </m:sub>
                      </m:sSub>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+1</m:t>
                      </m:r>
                    </m:oMath>
                  </m:oMathPara>
                </a14:m>
                <a:endParaRPr lang="en-US" altLang="zh-TW" dirty="0"/>
              </a:p>
            </p:txBody>
          </p:sp>
        </mc:Choice>
        <mc:Fallback xmlns="">
          <p:sp>
            <p:nvSpPr>
              <p:cNvPr id="11" name="矩形 10"/>
              <p:cNvSpPr>
                <a:spLocks noRot="1" noChangeAspect="1" noMove="1" noResize="1" noEditPoints="1" noAdjustHandles="1" noChangeArrowheads="1" noChangeShapeType="1" noTextEdit="1"/>
              </p:cNvSpPr>
              <p:nvPr/>
            </p:nvSpPr>
            <p:spPr>
              <a:xfrm>
                <a:off x="323664" y="1414592"/>
                <a:ext cx="2821863" cy="391646"/>
              </a:xfrm>
              <a:prstGeom prst="rect">
                <a:avLst/>
              </a:prstGeom>
              <a:blipFill>
                <a:blip r:embed="rId7"/>
                <a:stretch>
                  <a:fillRect l="-648" b="-93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42900" y="1841707"/>
                <a:ext cx="2862387" cy="3916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r>
                            <a:rPr lang="zh-TW" altLang="en-US" i="1" smtClean="0">
                              <a:latin typeface="Cambria Math" panose="02040503050406030204" pitchFamily="18" charset="0"/>
                            </a:rPr>
                            <m:t>𝜖</m:t>
                          </m:r>
                        </m:e>
                        <m:sub>
                          <m:r>
                            <a:rPr lang="en-US" altLang="zh-TW" b="0" i="1" smtClean="0">
                              <a:latin typeface="Cambria Math" panose="02040503050406030204" pitchFamily="18" charset="0"/>
                            </a:rPr>
                            <m:t>𝑗𝑖</m:t>
                          </m:r>
                        </m:sub>
                      </m:sSub>
                      <m:r>
                        <a:rPr lang="en-US" altLang="zh-TW" b="0" i="1" smtClean="0">
                          <a:latin typeface="Cambria Math" panose="02040503050406030204" pitchFamily="18" charset="0"/>
                        </a:rPr>
                        <m:t>=1 </m:t>
                      </m:r>
                      <m:r>
                        <a:rPr lang="en-US" altLang="zh-TW" b="0" i="1" smtClean="0">
                          <a:latin typeface="Cambria Math" panose="02040503050406030204" pitchFamily="18" charset="0"/>
                        </a:rPr>
                        <m:t>𝑡h𝑒𝑛</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m:t>
                          </m:r>
                        </m:sub>
                      </m:sSub>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+1</m:t>
                      </m:r>
                    </m:oMath>
                  </m:oMathPara>
                </a14:m>
                <a:endParaRPr lang="en-US" altLang="zh-TW" dirty="0"/>
              </a:p>
            </p:txBody>
          </p:sp>
        </mc:Choice>
        <mc:Fallback xmlns="">
          <p:sp>
            <p:nvSpPr>
              <p:cNvPr id="12" name="矩形 11"/>
              <p:cNvSpPr>
                <a:spLocks noRot="1" noChangeAspect="1" noMove="1" noResize="1" noEditPoints="1" noAdjustHandles="1" noChangeArrowheads="1" noChangeShapeType="1" noTextEdit="1"/>
              </p:cNvSpPr>
              <p:nvPr/>
            </p:nvSpPr>
            <p:spPr>
              <a:xfrm>
                <a:off x="342900" y="1841707"/>
                <a:ext cx="2862387" cy="391646"/>
              </a:xfrm>
              <a:prstGeom prst="rect">
                <a:avLst/>
              </a:prstGeom>
              <a:blipFill>
                <a:blip r:embed="rId8"/>
                <a:stretch>
                  <a:fillRect l="-638" b="-93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42900" y="2264418"/>
                <a:ext cx="8963025" cy="668645"/>
              </a:xfrm>
              <a:prstGeom prst="rect">
                <a:avLst/>
              </a:prstGeom>
            </p:spPr>
            <p:txBody>
              <a:bodyPr wrap="square">
                <a:spAutoFit/>
              </a:bodyPr>
              <a:lstStyle/>
              <a:p>
                <a14:m>
                  <m:oMath xmlns:m="http://schemas.openxmlformats.org/officeDocument/2006/math">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r>
                          <a:rPr lang="zh-TW" altLang="en-US" i="1" smtClean="0">
                            <a:latin typeface="Cambria Math" panose="02040503050406030204" pitchFamily="18" charset="0"/>
                          </a:rPr>
                          <m:t>𝜖</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zh-TW" altLang="en-US" i="1">
                            <a:latin typeface="Cambria Math" panose="02040503050406030204" pitchFamily="18" charset="0"/>
                          </a:rPr>
                          <m:t>𝜖</m:t>
                        </m:r>
                      </m:e>
                      <m:sub>
                        <m:r>
                          <a:rPr lang="en-US" altLang="zh-TW" i="1">
                            <a:latin typeface="Cambria Math" panose="02040503050406030204" pitchFamily="18" charset="0"/>
                          </a:rPr>
                          <m:t>𝑗𝑖</m:t>
                        </m:r>
                      </m:sub>
                    </m:sSub>
                    <m:r>
                      <a:rPr lang="en-US" altLang="zh-TW" i="1">
                        <a:latin typeface="Cambria Math" panose="02040503050406030204" pitchFamily="18" charset="0"/>
                      </a:rPr>
                      <m:t>=1</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𝑡h𝑒𝑛</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𝑝</m:t>
                        </m:r>
                      </m:e>
                      <m:sub>
                        <m:r>
                          <a:rPr lang="en-US" altLang="zh-TW" i="1">
                            <a:latin typeface="Cambria Math" panose="02040503050406030204" pitchFamily="18" charset="0"/>
                          </a:rPr>
                          <m:t>𝑗</m:t>
                        </m:r>
                      </m:sub>
                    </m:sSub>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+1 </m:t>
                    </m:r>
                    <m:r>
                      <a:rPr lang="en-US" altLang="zh-TW" b="0" i="1" smtClean="0">
                        <a:latin typeface="Cambria Math" panose="02040503050406030204" pitchFamily="18" charset="0"/>
                      </a:rPr>
                      <m:t>𝑎𝑛𝑑</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𝑝</m:t>
                        </m:r>
                      </m:e>
                      <m:sub>
                        <m:r>
                          <a:rPr lang="en-US" altLang="zh-TW" i="1">
                            <a:latin typeface="Cambria Math" panose="02040503050406030204" pitchFamily="18" charset="0"/>
                          </a:rPr>
                          <m:t>𝑖</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 </m:t>
                        </m:r>
                        <m:r>
                          <a:rPr lang="en-US" altLang="zh-TW" i="1">
                            <a:latin typeface="Cambria Math" panose="02040503050406030204" pitchFamily="18" charset="0"/>
                          </a:rPr>
                          <m:t>𝑝</m:t>
                        </m:r>
                      </m:e>
                      <m:sub>
                        <m:r>
                          <a:rPr lang="en-US" altLang="zh-TW" i="1">
                            <a:latin typeface="Cambria Math" panose="02040503050406030204" pitchFamily="18" charset="0"/>
                          </a:rPr>
                          <m:t>𝑗</m:t>
                        </m:r>
                      </m:sub>
                    </m:sSub>
                    <m:r>
                      <a:rPr lang="en-US" altLang="zh-TW" i="1">
                        <a:latin typeface="Cambria Math" panose="02040503050406030204" pitchFamily="18" charset="0"/>
                      </a:rPr>
                      <m:t>+1</m:t>
                    </m:r>
                  </m:oMath>
                </a14:m>
                <a:r>
                  <a:rPr lang="en-US" altLang="zh-TW" dirty="0" smtClean="0">
                    <a:latin typeface="Times New Roman" panose="02020603050405020304" pitchFamily="18" charset="0"/>
                    <a:cs typeface="Times New Roman" panose="02020603050405020304" pitchFamily="18" charset="0"/>
                  </a:rPr>
                  <a:t> (X)</a:t>
                </a:r>
              </a:p>
              <a:p>
                <a:r>
                  <a:rPr lang="en-US" altLang="zh-TW" dirty="0" smtClean="0">
                    <a:latin typeface="Times New Roman" panose="02020603050405020304" pitchFamily="18" charset="0"/>
                    <a:cs typeface="Times New Roman" panose="02020603050405020304" pitchFamily="18" charset="0"/>
                  </a:rPr>
                  <a:t>But </a:t>
                </a:r>
                <a:r>
                  <a:rPr lang="en-US" altLang="zh-TW" dirty="0">
                    <a:latin typeface="Times New Roman" panose="02020603050405020304" pitchFamily="18" charset="0"/>
                    <a:cs typeface="Times New Roman" panose="02020603050405020304" pitchFamily="18" charset="0"/>
                  </a:rPr>
                  <a:t>it is </a:t>
                </a:r>
                <a:r>
                  <a:rPr lang="en-US" altLang="zh-TW" dirty="0" smtClean="0">
                    <a:latin typeface="Times New Roman" panose="02020603050405020304" pitchFamily="18" charset="0"/>
                    <a:cs typeface="Times New Roman" panose="02020603050405020304" pitchFamily="18" charset="0"/>
                  </a:rPr>
                  <a:t>not possible </a:t>
                </a:r>
                <a:r>
                  <a:rPr lang="en-US" altLang="zh-TW" dirty="0">
                    <a:latin typeface="Times New Roman" panose="02020603050405020304" pitchFamily="18" charset="0"/>
                    <a:cs typeface="Times New Roman" panose="02020603050405020304" pitchFamily="18" charset="0"/>
                  </a:rPr>
                  <a:t>to place a task on a higher and lower </a:t>
                </a:r>
                <a:r>
                  <a:rPr lang="en-US" altLang="zh-TW" dirty="0" smtClean="0">
                    <a:latin typeface="Times New Roman" panose="02020603050405020304" pitchFamily="18" charset="0"/>
                    <a:cs typeface="Times New Roman" panose="02020603050405020304" pitchFamily="18" charset="0"/>
                  </a:rPr>
                  <a:t>processor index </a:t>
                </a:r>
                <a:r>
                  <a:rPr lang="en-US" altLang="zh-TW" dirty="0">
                    <a:latin typeface="Times New Roman" panose="02020603050405020304" pitchFamily="18" charset="0"/>
                    <a:cs typeface="Times New Roman" panose="02020603050405020304" pitchFamily="18" charset="0"/>
                  </a:rPr>
                  <a:t>at the same time</a:t>
                </a:r>
              </a:p>
            </p:txBody>
          </p:sp>
        </mc:Choice>
        <mc:Fallback xmlns="">
          <p:sp>
            <p:nvSpPr>
              <p:cNvPr id="14" name="矩形 13"/>
              <p:cNvSpPr>
                <a:spLocks noRot="1" noChangeAspect="1" noMove="1" noResize="1" noEditPoints="1" noAdjustHandles="1" noChangeArrowheads="1" noChangeShapeType="1" noTextEdit="1"/>
              </p:cNvSpPr>
              <p:nvPr/>
            </p:nvSpPr>
            <p:spPr>
              <a:xfrm>
                <a:off x="342900" y="2264418"/>
                <a:ext cx="8963025" cy="668645"/>
              </a:xfrm>
              <a:prstGeom prst="rect">
                <a:avLst/>
              </a:prstGeom>
              <a:blipFill>
                <a:blip r:embed="rId9"/>
                <a:stretch>
                  <a:fillRect l="-544" t="-4545" b="-1363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834395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251" y="1196975"/>
            <a:ext cx="7431297" cy="4351338"/>
          </a:xfrm>
        </p:spPr>
      </p:pic>
    </p:spTree>
    <p:extLst>
      <p:ext uri="{BB962C8B-B14F-4D97-AF65-F5344CB8AC3E}">
        <p14:creationId xmlns:p14="http://schemas.microsoft.com/office/powerpoint/2010/main" val="11122821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7675" y="133350"/>
            <a:ext cx="8039100" cy="3246025"/>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675" y="3379375"/>
            <a:ext cx="8277049" cy="3252922"/>
          </a:xfrm>
          <a:prstGeom prst="rect">
            <a:avLst/>
          </a:prstGeom>
        </p:spPr>
      </p:pic>
    </p:spTree>
    <p:extLst>
      <p:ext uri="{BB962C8B-B14F-4D97-AF65-F5344CB8AC3E}">
        <p14:creationId xmlns:p14="http://schemas.microsoft.com/office/powerpoint/2010/main" val="2369256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90215</TotalTime>
  <Words>354</Words>
  <Application>Microsoft Office PowerPoint</Application>
  <PresentationFormat>如螢幕大小 (4:3)</PresentationFormat>
  <Paragraphs>75</Paragraphs>
  <Slides>8</Slides>
  <Notes>4</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8</vt:i4>
      </vt:variant>
    </vt:vector>
  </HeadingPairs>
  <TitlesOfParts>
    <vt:vector size="17" baseType="lpstr">
      <vt:lpstr>新細明體</vt:lpstr>
      <vt:lpstr>標楷體</vt:lpstr>
      <vt:lpstr>Arial</vt:lpstr>
      <vt:lpstr>Calibri</vt:lpstr>
      <vt:lpstr>Calibri Light</vt:lpstr>
      <vt:lpstr>Cambria Math</vt:lpstr>
      <vt:lpstr>Times New Roman</vt:lpstr>
      <vt:lpstr>Wingdings</vt:lpstr>
      <vt:lpstr>Office 佈景主題</vt:lpstr>
      <vt:lpstr>ILP Formulations for Optimal Task Scheduling with Communication Delays on Parallel Systems</vt:lpstr>
      <vt:lpstr>Abstract (1/2)</vt:lpstr>
      <vt:lpstr>Abstract (2/2)</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User</cp:lastModifiedBy>
  <cp:revision>846</cp:revision>
  <dcterms:created xsi:type="dcterms:W3CDTF">2017-09-25T08:45:50Z</dcterms:created>
  <dcterms:modified xsi:type="dcterms:W3CDTF">2021-04-27T07:03:28Z</dcterms:modified>
</cp:coreProperties>
</file>