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7" r:id="rId2"/>
    <p:sldId id="258" r:id="rId3"/>
    <p:sldId id="461" r:id="rId4"/>
    <p:sldId id="260" r:id="rId5"/>
    <p:sldId id="403" r:id="rId6"/>
    <p:sldId id="399" r:id="rId7"/>
    <p:sldId id="400" r:id="rId8"/>
    <p:sldId id="462" r:id="rId9"/>
    <p:sldId id="464" r:id="rId10"/>
    <p:sldId id="465" r:id="rId11"/>
    <p:sldId id="463" r:id="rId12"/>
    <p:sldId id="478" r:id="rId13"/>
    <p:sldId id="468" r:id="rId14"/>
    <p:sldId id="476" r:id="rId15"/>
    <p:sldId id="479" r:id="rId16"/>
    <p:sldId id="472" r:id="rId17"/>
    <p:sldId id="473" r:id="rId18"/>
    <p:sldId id="474" r:id="rId19"/>
    <p:sldId id="471" r:id="rId20"/>
    <p:sldId id="470" r:id="rId21"/>
    <p:sldId id="469" r:id="rId22"/>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16FF"/>
    <a:srgbClr val="FAEBD7"/>
    <a:srgbClr val="00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56" autoAdjust="0"/>
    <p:restoredTop sz="73300" autoAdjust="0"/>
  </p:normalViewPr>
  <p:slideViewPr>
    <p:cSldViewPr>
      <p:cViewPr varScale="1">
        <p:scale>
          <a:sx n="52" d="100"/>
          <a:sy n="52" d="100"/>
        </p:scale>
        <p:origin x="1938" y="78"/>
      </p:cViewPr>
      <p:guideLst>
        <p:guide orient="horz" pos="2160"/>
        <p:guide pos="2880"/>
      </p:guideLst>
    </p:cSldViewPr>
  </p:slideViewPr>
  <p:notesTextViewPr>
    <p:cViewPr>
      <p:scale>
        <a:sx n="115" d="100"/>
        <a:sy n="11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EC598C-8F50-4D8A-A257-9F9A3D6EE20F}" type="datetimeFigureOut">
              <a:rPr lang="zh-TW" altLang="en-US" smtClean="0"/>
              <a:pPr/>
              <a:t>2021/4/27</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A18BCC-D1EA-4D8A-929C-D092EA2B439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3</a:t>
            </a:fld>
            <a:endParaRPr lang="zh-TW" altLang="en-US"/>
          </a:p>
        </p:txBody>
      </p:sp>
    </p:spTree>
    <p:extLst>
      <p:ext uri="{BB962C8B-B14F-4D97-AF65-F5344CB8AC3E}">
        <p14:creationId xmlns:p14="http://schemas.microsoft.com/office/powerpoint/2010/main" val="19514924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4</a:t>
            </a:fld>
            <a:endParaRPr lang="zh-TW" altLang="en-US"/>
          </a:p>
        </p:txBody>
      </p:sp>
    </p:spTree>
    <p:extLst>
      <p:ext uri="{BB962C8B-B14F-4D97-AF65-F5344CB8AC3E}">
        <p14:creationId xmlns:p14="http://schemas.microsoft.com/office/powerpoint/2010/main" val="2991817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6</a:t>
            </a:fld>
            <a:endParaRPr lang="zh-TW" altLang="en-US"/>
          </a:p>
        </p:txBody>
      </p:sp>
    </p:spTree>
    <p:extLst>
      <p:ext uri="{BB962C8B-B14F-4D97-AF65-F5344CB8AC3E}">
        <p14:creationId xmlns:p14="http://schemas.microsoft.com/office/powerpoint/2010/main" val="2964750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7</a:t>
            </a:fld>
            <a:endParaRPr lang="zh-TW" altLang="en-US"/>
          </a:p>
        </p:txBody>
      </p:sp>
    </p:spTree>
    <p:extLst>
      <p:ext uri="{BB962C8B-B14F-4D97-AF65-F5344CB8AC3E}">
        <p14:creationId xmlns:p14="http://schemas.microsoft.com/office/powerpoint/2010/main" val="36272833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8</a:t>
            </a:fld>
            <a:endParaRPr lang="zh-TW" altLang="en-US"/>
          </a:p>
        </p:txBody>
      </p:sp>
    </p:spTree>
    <p:extLst>
      <p:ext uri="{BB962C8B-B14F-4D97-AF65-F5344CB8AC3E}">
        <p14:creationId xmlns:p14="http://schemas.microsoft.com/office/powerpoint/2010/main" val="34083714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9</a:t>
            </a:fld>
            <a:endParaRPr lang="zh-TW" altLang="en-US"/>
          </a:p>
        </p:txBody>
      </p:sp>
    </p:spTree>
    <p:extLst>
      <p:ext uri="{BB962C8B-B14F-4D97-AF65-F5344CB8AC3E}">
        <p14:creationId xmlns:p14="http://schemas.microsoft.com/office/powerpoint/2010/main" val="23569304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10</a:t>
            </a:fld>
            <a:endParaRPr lang="zh-TW" altLang="en-US"/>
          </a:p>
        </p:txBody>
      </p:sp>
    </p:spTree>
    <p:extLst>
      <p:ext uri="{BB962C8B-B14F-4D97-AF65-F5344CB8AC3E}">
        <p14:creationId xmlns:p14="http://schemas.microsoft.com/office/powerpoint/2010/main" val="18020205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11</a:t>
            </a:fld>
            <a:endParaRPr lang="zh-TW" altLang="en-US"/>
          </a:p>
        </p:txBody>
      </p:sp>
    </p:spTree>
    <p:extLst>
      <p:ext uri="{BB962C8B-B14F-4D97-AF65-F5344CB8AC3E}">
        <p14:creationId xmlns:p14="http://schemas.microsoft.com/office/powerpoint/2010/main" val="596647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12</a:t>
            </a:fld>
            <a:endParaRPr lang="zh-TW" altLang="en-US"/>
          </a:p>
        </p:txBody>
      </p:sp>
    </p:spTree>
    <p:extLst>
      <p:ext uri="{BB962C8B-B14F-4D97-AF65-F5344CB8AC3E}">
        <p14:creationId xmlns:p14="http://schemas.microsoft.com/office/powerpoint/2010/main" val="29907626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13</a:t>
            </a:fld>
            <a:endParaRPr lang="zh-TW" altLang="en-US"/>
          </a:p>
        </p:txBody>
      </p:sp>
    </p:spTree>
    <p:extLst>
      <p:ext uri="{BB962C8B-B14F-4D97-AF65-F5344CB8AC3E}">
        <p14:creationId xmlns:p14="http://schemas.microsoft.com/office/powerpoint/2010/main" val="36876303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16</a:t>
            </a:fld>
            <a:endParaRPr lang="zh-TW" altLang="en-US"/>
          </a:p>
        </p:txBody>
      </p:sp>
    </p:spTree>
    <p:extLst>
      <p:ext uri="{BB962C8B-B14F-4D97-AF65-F5344CB8AC3E}">
        <p14:creationId xmlns:p14="http://schemas.microsoft.com/office/powerpoint/2010/main" val="8122158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17</a:t>
            </a:fld>
            <a:endParaRPr lang="zh-TW" altLang="en-US"/>
          </a:p>
        </p:txBody>
      </p:sp>
    </p:spTree>
    <p:extLst>
      <p:ext uri="{BB962C8B-B14F-4D97-AF65-F5344CB8AC3E}">
        <p14:creationId xmlns:p14="http://schemas.microsoft.com/office/powerpoint/2010/main" val="25655153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18</a:t>
            </a:fld>
            <a:endParaRPr lang="zh-TW" altLang="en-US"/>
          </a:p>
        </p:txBody>
      </p:sp>
    </p:spTree>
    <p:extLst>
      <p:ext uri="{BB962C8B-B14F-4D97-AF65-F5344CB8AC3E}">
        <p14:creationId xmlns:p14="http://schemas.microsoft.com/office/powerpoint/2010/main" val="17724467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19</a:t>
            </a:fld>
            <a:endParaRPr lang="zh-TW" altLang="en-US"/>
          </a:p>
        </p:txBody>
      </p:sp>
    </p:spTree>
    <p:extLst>
      <p:ext uri="{BB962C8B-B14F-4D97-AF65-F5344CB8AC3E}">
        <p14:creationId xmlns:p14="http://schemas.microsoft.com/office/powerpoint/2010/main" val="40159483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20</a:t>
            </a:fld>
            <a:endParaRPr lang="zh-TW" altLang="en-US"/>
          </a:p>
        </p:txBody>
      </p:sp>
    </p:spTree>
    <p:extLst>
      <p:ext uri="{BB962C8B-B14F-4D97-AF65-F5344CB8AC3E}">
        <p14:creationId xmlns:p14="http://schemas.microsoft.com/office/powerpoint/2010/main" val="29818694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21</a:t>
            </a:fld>
            <a:endParaRPr lang="zh-TW" altLang="en-US"/>
          </a:p>
        </p:txBody>
      </p:sp>
    </p:spTree>
    <p:extLst>
      <p:ext uri="{BB962C8B-B14F-4D97-AF65-F5344CB8AC3E}">
        <p14:creationId xmlns:p14="http://schemas.microsoft.com/office/powerpoint/2010/main" val="25776018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2021/4/27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2021/4/27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2021/4/27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2021/4/27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D1462-57C0-4459-9390-560953396E85}" type="datetimeFigureOut">
              <a:rPr lang="zh-TW" altLang="en-US" smtClean="0"/>
              <a:pPr/>
              <a:t>2021/4/27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5BD1462-57C0-4459-9390-560953396E85}" type="datetimeFigureOut">
              <a:rPr lang="zh-TW" altLang="en-US" smtClean="0"/>
              <a:pPr/>
              <a:t>2021/4/27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5BD1462-57C0-4459-9390-560953396E85}" type="datetimeFigureOut">
              <a:rPr lang="zh-TW" altLang="en-US" smtClean="0"/>
              <a:pPr/>
              <a:t>2021/4/27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2021/4/27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2021/4/27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2021/4/27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2021/4/27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D1462-57C0-4459-9390-560953396E85}" type="datetimeFigureOut">
              <a:rPr lang="zh-TW" altLang="en-US" smtClean="0"/>
              <a:pPr/>
              <a:t>2021/4/27</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265B-D561-4CD1-972E-9E84754BEC8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21.png"/><Relationship Id="rId4" Type="http://schemas.openxmlformats.org/officeDocument/2006/relationships/image" Target="../media/image110.png"/></Relationships>
</file>

<file path=ppt/slides/_rels/slide17.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21.png"/><Relationship Id="rId4" Type="http://schemas.openxmlformats.org/officeDocument/2006/relationships/image" Target="../media/image130.png"/></Relationships>
</file>

<file path=ppt/slides/_rels/slide1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21.png"/><Relationship Id="rId4" Type="http://schemas.openxmlformats.org/officeDocument/2006/relationships/image" Target="../media/image151.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654342" y="1715999"/>
            <a:ext cx="7890145" cy="649317"/>
          </a:xfrm>
        </p:spPr>
        <p:txBody>
          <a:bodyPr>
            <a:noAutofit/>
          </a:bodyPr>
          <a:lstStyle/>
          <a:p>
            <a:br>
              <a:rPr lang="en-US" altLang="zh-TW" sz="3200" dirty="0">
                <a:latin typeface="Times New Roman" pitchFamily="18" charset="0"/>
                <a:cs typeface="Times New Roman" pitchFamily="18" charset="0"/>
              </a:rPr>
            </a:br>
            <a:r>
              <a:rPr lang="en-US" altLang="zh-TW" sz="3200" dirty="0">
                <a:latin typeface="Times New Roman"/>
                <a:ea typeface="新細明體"/>
                <a:cs typeface="Times New Roman"/>
              </a:rPr>
              <a:t>Automatic Bridge Bidding Using Deep Reinforcement Learning</a:t>
            </a:r>
            <a:endParaRPr lang="en-US" altLang="zh-TW" sz="3200" dirty="0">
              <a:latin typeface="Times New Roman" pitchFamily="18" charset="0"/>
              <a:ea typeface="新細明體"/>
              <a:cs typeface="Times New Roman" pitchFamily="18" charset="0"/>
            </a:endParaRPr>
          </a:p>
        </p:txBody>
      </p:sp>
      <p:sp>
        <p:nvSpPr>
          <p:cNvPr id="3" name="副標題 2">
            <a:extLst>
              <a:ext uri="{FF2B5EF4-FFF2-40B4-BE49-F238E27FC236}">
                <a16:creationId xmlns:a16="http://schemas.microsoft.com/office/drawing/2014/main" id="{7DA53B5D-3737-4D8B-A009-A9D02CAEE169}"/>
              </a:ext>
            </a:extLst>
          </p:cNvPr>
          <p:cNvSpPr>
            <a:spLocks noGrp="1"/>
          </p:cNvSpPr>
          <p:nvPr>
            <p:ph type="subTitle" idx="1"/>
          </p:nvPr>
        </p:nvSpPr>
        <p:spPr>
          <a:xfrm>
            <a:off x="1142999" y="3003984"/>
            <a:ext cx="6858000" cy="425017"/>
          </a:xfrm>
        </p:spPr>
        <p:txBody>
          <a:bodyPr vert="horz" lIns="91440" tIns="45720" rIns="91440" bIns="45720" rtlCol="0" anchor="t">
            <a:noAutofit/>
          </a:bodyPr>
          <a:lstStyle/>
          <a:p>
            <a:pPr fontAlgn="ctr"/>
            <a:r>
              <a:rPr lang="en-US" altLang="zh-TW" sz="2000" dirty="0" err="1">
                <a:solidFill>
                  <a:schemeClr val="tx1"/>
                </a:solidFill>
                <a:latin typeface="Times New Roman"/>
                <a:ea typeface="新細明體"/>
                <a:cs typeface="Times New Roman"/>
              </a:rPr>
              <a:t>Chih-Kuan</a:t>
            </a:r>
            <a:r>
              <a:rPr lang="en-US" altLang="zh-TW" sz="2000" dirty="0">
                <a:solidFill>
                  <a:schemeClr val="tx1"/>
                </a:solidFill>
                <a:latin typeface="Times New Roman"/>
                <a:ea typeface="新細明體"/>
                <a:cs typeface="Times New Roman"/>
              </a:rPr>
              <a:t> Yeh, Cheng-Yu Hsieh , and </a:t>
            </a:r>
            <a:r>
              <a:rPr lang="en-US" altLang="zh-TW" sz="2000" dirty="0" err="1">
                <a:solidFill>
                  <a:schemeClr val="tx1"/>
                </a:solidFill>
                <a:latin typeface="Times New Roman"/>
                <a:ea typeface="新細明體"/>
                <a:cs typeface="Times New Roman"/>
              </a:rPr>
              <a:t>Hsuan</a:t>
            </a:r>
            <a:r>
              <a:rPr lang="en-US" altLang="zh-TW" sz="2000" dirty="0">
                <a:solidFill>
                  <a:schemeClr val="tx1"/>
                </a:solidFill>
                <a:latin typeface="Times New Roman"/>
                <a:ea typeface="新細明體"/>
                <a:cs typeface="Times New Roman"/>
              </a:rPr>
              <a:t>-Tien Lin</a:t>
            </a:r>
          </a:p>
        </p:txBody>
      </p:sp>
      <p:sp>
        <p:nvSpPr>
          <p:cNvPr id="8" name="文字方塊 7">
            <a:extLst>
              <a:ext uri="{FF2B5EF4-FFF2-40B4-BE49-F238E27FC236}">
                <a16:creationId xmlns:a16="http://schemas.microsoft.com/office/drawing/2014/main" id="{8F2527E8-BB8F-41FB-8AF1-03DCC96BC069}"/>
              </a:ext>
            </a:extLst>
          </p:cNvPr>
          <p:cNvSpPr txBox="1"/>
          <p:nvPr/>
        </p:nvSpPr>
        <p:spPr>
          <a:xfrm>
            <a:off x="1706064" y="4058021"/>
            <a:ext cx="5778890" cy="769441"/>
          </a:xfrm>
          <a:prstGeom prst="rect">
            <a:avLst/>
          </a:prstGeom>
          <a:noFill/>
        </p:spPr>
        <p:txBody>
          <a:bodyPr wrap="none" lIns="91440" tIns="45720" rIns="91440" bIns="45720" rtlCol="0" anchor="t">
            <a:spAutoFit/>
          </a:bodyPr>
          <a:lstStyle/>
          <a:p>
            <a:pPr algn="ctr"/>
            <a:r>
              <a:rPr lang="en-US" altLang="zh-TW" sz="2200" dirty="0">
                <a:latin typeface="Times New Roman"/>
                <a:ea typeface="+mn-lt"/>
                <a:cs typeface="+mn-lt"/>
              </a:rPr>
              <a:t>IEEE TRANSACTIONS ON GAMES,</a:t>
            </a:r>
          </a:p>
          <a:p>
            <a:pPr algn="ctr"/>
            <a:r>
              <a:rPr lang="en-US" altLang="zh-TW" sz="2200" dirty="0">
                <a:latin typeface="Times New Roman"/>
                <a:ea typeface="+mn-lt"/>
                <a:cs typeface="+mn-lt"/>
              </a:rPr>
              <a:t> VOL</a:t>
            </a:r>
            <a:r>
              <a:rPr lang="en-US" sz="2200" dirty="0">
                <a:latin typeface="Times New Roman"/>
                <a:ea typeface="+mn-lt"/>
                <a:cs typeface="+mn-lt"/>
              </a:rPr>
              <a:t>. 10, NO. 4, DECEMBER 2018</a:t>
            </a:r>
            <a:r>
              <a:rPr lang="zh-TW" altLang="en-US" sz="2200" dirty="0">
                <a:latin typeface="Times New Roman"/>
                <a:ea typeface="+mn-lt"/>
                <a:cs typeface="+mn-lt"/>
              </a:rPr>
              <a:t> </a:t>
            </a:r>
            <a:r>
              <a:rPr lang="en-US" sz="2200" dirty="0">
                <a:latin typeface="Times New Roman"/>
                <a:ea typeface="+mn-lt"/>
                <a:cs typeface="+mn-lt"/>
              </a:rPr>
              <a:t>P36</a:t>
            </a:r>
            <a:r>
              <a:rPr lang="en-US" altLang="zh-TW" sz="2200" dirty="0">
                <a:latin typeface="Times New Roman"/>
                <a:ea typeface="+mn-lt"/>
                <a:cs typeface="+mn-lt"/>
              </a:rPr>
              <a:t>5</a:t>
            </a:r>
            <a:r>
              <a:rPr lang="en-US" sz="2200" dirty="0">
                <a:latin typeface="Times New Roman"/>
                <a:ea typeface="+mn-lt"/>
                <a:cs typeface="+mn-lt"/>
              </a:rPr>
              <a:t>~P37</a:t>
            </a:r>
            <a:r>
              <a:rPr lang="en-US" altLang="zh-TW" sz="2200" dirty="0">
                <a:latin typeface="Times New Roman"/>
                <a:ea typeface="+mn-lt"/>
                <a:cs typeface="+mn-lt"/>
              </a:rPr>
              <a:t>7</a:t>
            </a:r>
            <a:endParaRPr lang="en-US" altLang="zh-TW" sz="2200" dirty="0">
              <a:latin typeface="Times New Roman"/>
              <a:ea typeface="新細明體"/>
              <a:cs typeface="Times New Roman"/>
            </a:endParaRPr>
          </a:p>
        </p:txBody>
      </p:sp>
      <p:sp>
        <p:nvSpPr>
          <p:cNvPr id="9" name="文字方塊 8">
            <a:extLst>
              <a:ext uri="{FF2B5EF4-FFF2-40B4-BE49-F238E27FC236}">
                <a16:creationId xmlns:a16="http://schemas.microsoft.com/office/drawing/2014/main" id="{6BC92671-3184-4146-A361-F82079153C2E}"/>
              </a:ext>
            </a:extLst>
          </p:cNvPr>
          <p:cNvSpPr txBox="1"/>
          <p:nvPr/>
        </p:nvSpPr>
        <p:spPr>
          <a:xfrm>
            <a:off x="5652120" y="5377328"/>
            <a:ext cx="315823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Jing-Ping Jan</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5652120" y="5805264"/>
            <a:ext cx="2713243" cy="461665"/>
          </a:xfrm>
          <a:prstGeom prst="rect">
            <a:avLst/>
          </a:prstGeom>
          <a:noFill/>
        </p:spPr>
        <p:txBody>
          <a:bodyPr wrap="none" lIns="91440" tIns="45720" rIns="91440" bIns="45720" rtlCol="0" anchor="t">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latin typeface="Times New Roman"/>
                <a:ea typeface="新細明體"/>
                <a:cs typeface="Times New Roman"/>
              </a:rPr>
              <a:t>Date: April 27, 2021</a:t>
            </a:r>
            <a:endParaRPr lang="zh-TW" altLang="en-US" dirty="0">
              <a:latin typeface="Times New Roman"/>
              <a:ea typeface="新細明體"/>
              <a:cs typeface="Times New Roman"/>
            </a:endParaRPr>
          </a:p>
        </p:txBody>
      </p:sp>
    </p:spTree>
    <p:extLst>
      <p:ext uri="{BB962C8B-B14F-4D97-AF65-F5344CB8AC3E}">
        <p14:creationId xmlns:p14="http://schemas.microsoft.com/office/powerpoint/2010/main" val="355704993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28649" y="260648"/>
            <a:ext cx="7886700" cy="583367"/>
          </a:xfrm>
        </p:spPr>
        <p:txBody>
          <a:bodyPr>
            <a:normAutofit/>
          </a:bodyPr>
          <a:lstStyle/>
          <a:p>
            <a:pPr algn="l"/>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69502" y="1052736"/>
            <a:ext cx="9004993" cy="5347657"/>
          </a:xfrm>
        </p:spPr>
        <p:txBody>
          <a:bodyPr vert="horz" lIns="91440" tIns="45720" rIns="91440" bIns="45720" rtlCol="0" anchor="t">
            <a:noAutofit/>
          </a:bodyPr>
          <a:lstStyle/>
          <a:p>
            <a:pPr marL="0" indent="0" algn="just">
              <a:lnSpc>
                <a:spcPts val="3200"/>
              </a:lnSpc>
              <a:buNone/>
            </a:pPr>
            <a:r>
              <a:rPr lang="en-US" sz="2800" dirty="0">
                <a:latin typeface="Times New Roman"/>
                <a:ea typeface="+mn-lt"/>
                <a:cs typeface="+mn-lt"/>
              </a:rPr>
              <a:t>Bridge is among the zero-sum games for which artificial intelligence has not yet outperformed expert human players. The main difficulty lies in the bidding phase of bridge, which requires cooperative decision making with partial information. Existing artificial intelligence systems for bridge bidding rely on, and are thus restricted by, human-designed bidding systems or features. In this work, we propose a flexible and pioneering bridge-bidding system, which can learn either with or without the aid of human domain knowledge. The system is based on a novel deep reinforcement learning model, which extracts sophisticated features and learns to bid automatically based on raw card data.</a:t>
            </a:r>
          </a:p>
        </p:txBody>
      </p:sp>
    </p:spTree>
    <p:extLst>
      <p:ext uri="{BB962C8B-B14F-4D97-AF65-F5344CB8AC3E}">
        <p14:creationId xmlns:p14="http://schemas.microsoft.com/office/powerpoint/2010/main" val="39944839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28649" y="260648"/>
            <a:ext cx="7886700" cy="583367"/>
          </a:xfrm>
        </p:spPr>
        <p:txBody>
          <a:bodyPr>
            <a:normAutofit/>
          </a:bodyPr>
          <a:lstStyle/>
          <a:p>
            <a:pPr algn="l"/>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69502" y="1052736"/>
            <a:ext cx="9004993" cy="5347657"/>
          </a:xfrm>
        </p:spPr>
        <p:txBody>
          <a:bodyPr vert="horz" lIns="91440" tIns="45720" rIns="91440" bIns="45720" rtlCol="0" anchor="t">
            <a:noAutofit/>
          </a:bodyPr>
          <a:lstStyle/>
          <a:p>
            <a:pPr marL="0" indent="0" algn="just">
              <a:lnSpc>
                <a:spcPts val="3200"/>
              </a:lnSpc>
              <a:buNone/>
            </a:pPr>
            <a:r>
              <a:rPr lang="en-US" sz="2800" dirty="0">
                <a:latin typeface="Times New Roman"/>
                <a:ea typeface="+mn-lt"/>
                <a:cs typeface="+mn-lt"/>
              </a:rPr>
              <a:t>The model includes an upper-confidence-bound algorithm and additional techniques to achieve a balance between exploration and exploitation. We further study how different pieces of human knowledge can be exploited to assist the model. Our experiments demonstrate the promising performance of our proposed model. In particular, the model can advance from having no knowledge on bidding to achieving a superior performance compared with a champion-winning computer bridge program that implements a human-designed bidding system. In addition, further synergies can be extracted by incorporating expert knowledge into the proposed model.</a:t>
            </a:r>
          </a:p>
        </p:txBody>
      </p:sp>
    </p:spTree>
    <p:extLst>
      <p:ext uri="{BB962C8B-B14F-4D97-AF65-F5344CB8AC3E}">
        <p14:creationId xmlns:p14="http://schemas.microsoft.com/office/powerpoint/2010/main" val="357910575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nchor="ctr">
            <a:normAutofit/>
          </a:bodyPr>
          <a:lstStyle/>
          <a:p>
            <a:pPr algn="l"/>
            <a:r>
              <a:rPr lang="en-US" dirty="0">
                <a:latin typeface="Times New Roman"/>
                <a:cs typeface="Times New Roman"/>
              </a:rPr>
              <a:t>Introduction</a:t>
            </a:r>
            <a:endParaRPr lang="zh-TW" altLang="en-US">
              <a:latin typeface="Times New Roman"/>
              <a:cs typeface="Times New Roman"/>
            </a:endParaRPr>
          </a:p>
        </p:txBody>
      </p:sp>
      <p:sp>
        <p:nvSpPr>
          <p:cNvPr id="3" name="內容版面配置區 2"/>
          <p:cNvSpPr>
            <a:spLocks noGrp="1"/>
          </p:cNvSpPr>
          <p:nvPr>
            <p:ph sz="half" idx="1"/>
          </p:nvPr>
        </p:nvSpPr>
        <p:spPr>
          <a:xfrm>
            <a:off x="457200" y="1600200"/>
            <a:ext cx="4038600" cy="4525963"/>
          </a:xfrm>
        </p:spPr>
        <p:txBody>
          <a:bodyPr vert="horz" lIns="91440" tIns="45720" rIns="91440" bIns="45720" rtlCol="0" anchor="t">
            <a:normAutofit/>
          </a:bodyPr>
          <a:lstStyle/>
          <a:p>
            <a:r>
              <a:rPr lang="en-US" altLang="zh-TW" dirty="0">
                <a:latin typeface="Times New Roman"/>
                <a:ea typeface="新細明體"/>
                <a:cs typeface="Times New Roman"/>
              </a:rPr>
              <a:t>Bidding stage</a:t>
            </a:r>
            <a:br>
              <a:rPr lang="en-US" altLang="zh-TW" dirty="0">
                <a:latin typeface="Times New Roman"/>
              </a:rPr>
            </a:br>
            <a:r>
              <a:rPr lang="en-US" altLang="zh-TW" dirty="0">
                <a:latin typeface="Times New Roman"/>
                <a:ea typeface="新細明體"/>
                <a:cs typeface="Times New Roman"/>
              </a:rPr>
              <a:t>Find the most profitable contract for the playing stage</a:t>
            </a:r>
          </a:p>
          <a:p>
            <a:r>
              <a:rPr lang="en-US" altLang="zh-TW" dirty="0">
                <a:latin typeface="Times New Roman"/>
                <a:ea typeface="新細明體"/>
                <a:cs typeface="Times New Roman"/>
              </a:rPr>
              <a:t>Playing stage</a:t>
            </a:r>
            <a:br>
              <a:rPr lang="en-US" altLang="zh-TW" dirty="0">
                <a:latin typeface="Times New Roman"/>
              </a:rPr>
            </a:br>
            <a:r>
              <a:rPr lang="en-US" altLang="zh-TW" dirty="0">
                <a:latin typeface="Times New Roman"/>
                <a:ea typeface="新細明體"/>
                <a:cs typeface="Times New Roman"/>
              </a:rPr>
              <a:t>13 rounds of a card-strength competition</a:t>
            </a:r>
          </a:p>
        </p:txBody>
      </p:sp>
      <p:pic>
        <p:nvPicPr>
          <p:cNvPr id="4" name="Picture 4">
            <a:extLst>
              <a:ext uri="{FF2B5EF4-FFF2-40B4-BE49-F238E27FC236}">
                <a16:creationId xmlns:a16="http://schemas.microsoft.com/office/drawing/2014/main" id="{10CA24D7-37B0-4AD3-AD31-66F21D408E09}"/>
              </a:ext>
            </a:extLst>
          </p:cNvPr>
          <p:cNvPicPr>
            <a:picLocks noChangeAspect="1"/>
          </p:cNvPicPr>
          <p:nvPr/>
        </p:nvPicPr>
        <p:blipFill>
          <a:blip r:embed="rId3"/>
          <a:stretch>
            <a:fillRect/>
          </a:stretch>
        </p:blipFill>
        <p:spPr>
          <a:xfrm>
            <a:off x="4612895" y="1571995"/>
            <a:ext cx="4947704" cy="3708571"/>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Bidding stage</a:t>
            </a:r>
          </a:p>
        </p:txBody>
      </p:sp>
      <p:sp>
        <p:nvSpPr>
          <p:cNvPr id="3" name="Content Placeholder 2">
            <a:extLst>
              <a:ext uri="{FF2B5EF4-FFF2-40B4-BE49-F238E27FC236}">
                <a16:creationId xmlns:a16="http://schemas.microsoft.com/office/drawing/2014/main" id="{89D7D1A2-A981-4863-A7DD-8BD8969C78A9}"/>
              </a:ext>
            </a:extLst>
          </p:cNvPr>
          <p:cNvSpPr>
            <a:spLocks noGrp="1"/>
          </p:cNvSpPr>
          <p:nvPr>
            <p:ph sz="half" idx="1"/>
          </p:nvPr>
        </p:nvSpPr>
        <p:spPr>
          <a:xfrm>
            <a:off x="457200" y="1600200"/>
            <a:ext cx="8231071" cy="4525963"/>
          </a:xfrm>
        </p:spPr>
        <p:txBody>
          <a:bodyPr vert="horz" lIns="91440" tIns="45720" rIns="91440" bIns="45720" rtlCol="0" anchor="t">
            <a:normAutofit fontScale="92500" lnSpcReduction="20000"/>
          </a:bodyPr>
          <a:lstStyle/>
          <a:p>
            <a:r>
              <a:rPr lang="en-US" altLang="zh-TW" dirty="0">
                <a:latin typeface="Times New Roman" panose="02020603050405020304" pitchFamily="18" charset="0"/>
                <a:cs typeface="Times New Roman" panose="02020603050405020304" pitchFamily="18" charset="0"/>
              </a:rPr>
              <a:t>Asserting</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By making this bid, I assert that my hand has these properties</a:t>
            </a:r>
          </a:p>
          <a:p>
            <a:r>
              <a:rPr lang="en-US" dirty="0">
                <a:latin typeface="Times New Roman" panose="02020603050405020304" pitchFamily="18" charset="0"/>
                <a:cs typeface="Times New Roman" panose="02020603050405020304" pitchFamily="18" charset="0"/>
              </a:rPr>
              <a:t>Denying</a:t>
            </a:r>
            <a:br>
              <a:rPr lang="en-US"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By making this bid, I deny that my hand has these properties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Asking and Answering Questions</a:t>
            </a:r>
            <a:br>
              <a:rPr lang="en-US"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If your hand is of type 1, make bid 1; if it is of type 2, make bid 2, etc.</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Interrupting</a:t>
            </a:r>
            <a:br>
              <a:rPr lang="en-US"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The primary purpose of this bid is to stop the opponents communicating</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115850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Problem</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normAutofit/>
          </a:bodyPr>
          <a:lstStyle/>
          <a:p>
            <a:r>
              <a:rPr lang="en-US" altLang="zh-TW" dirty="0">
                <a:latin typeface="Times New Roman" panose="02020603050405020304" pitchFamily="18" charset="0"/>
                <a:cs typeface="Times New Roman" panose="02020603050405020304" pitchFamily="18" charset="0"/>
              </a:rPr>
              <a:t>Goal : learn a bidding strategy Q for predicting bid B</a:t>
            </a:r>
          </a:p>
        </p:txBody>
      </p:sp>
    </p:spTree>
    <p:extLst>
      <p:ext uri="{BB962C8B-B14F-4D97-AF65-F5344CB8AC3E}">
        <p14:creationId xmlns:p14="http://schemas.microsoft.com/office/powerpoint/2010/main" val="1591269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Q Learning</a:t>
            </a:r>
            <a:endParaRPr lang="zh-TW" alt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14:m>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𝑛𝑒𝑤</m:t>
                        </m:r>
                      </m:sup>
                    </m:sSup>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b="0" i="1" smtClean="0">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𝑡</m:t>
                            </m:r>
                          </m:sub>
                        </m:sSub>
                      </m:e>
                    </m:d>
                    <m:r>
                      <a:rPr lang="en-US" altLang="zh-TW" b="0" i="1" smtClean="0">
                        <a:latin typeface="Cambria Math" panose="02040503050406030204" pitchFamily="18" charset="0"/>
                        <a:cs typeface="Times New Roman" panose="02020603050405020304" pitchFamily="18" charset="0"/>
                      </a:rPr>
                      <m:t>←</m:t>
                    </m:r>
                  </m:oMath>
                </a14:m>
                <a:endParaRPr lang="en-US" altLang="zh-TW" b="0" i="1" dirty="0">
                  <a:latin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1−</m:t>
                          </m:r>
                          <m:r>
                            <a:rPr lang="en-US" altLang="zh-TW" b="0" i="1" smtClean="0">
                              <a:latin typeface="Cambria Math" panose="02040503050406030204" pitchFamily="18" charset="0"/>
                              <a:cs typeface="Times New Roman" panose="02020603050405020304" pitchFamily="18" charset="0"/>
                            </a:rPr>
                            <m:t>𝛼</m:t>
                          </m:r>
                        </m:e>
                      </m:d>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𝑜𝑙𝑑</m:t>
                          </m:r>
                        </m:sup>
                      </m:sSup>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b="0" i="1" smtClean="0">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𝑡</m:t>
                              </m:r>
                            </m:sub>
                          </m:sSub>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𝛼</m:t>
                      </m:r>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𝑟</m:t>
                          </m:r>
                        </m:e>
                        <m:sub>
                          <m:r>
                            <a:rPr lang="en-US" altLang="zh-TW" b="0" i="1" smtClean="0">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𝛾</m:t>
                      </m:r>
                      <m:func>
                        <m:funcPr>
                          <m:ctrlPr>
                            <a:rPr lang="en-US" altLang="zh-TW" b="0" i="1" smtClean="0">
                              <a:latin typeface="Cambria Math" panose="02040503050406030204" pitchFamily="18" charset="0"/>
                              <a:cs typeface="Times New Roman" panose="02020603050405020304" pitchFamily="18" charset="0"/>
                            </a:rPr>
                          </m:ctrlPr>
                        </m:funcPr>
                        <m:fName>
                          <m:limLow>
                            <m:limLowPr>
                              <m:ctrlPr>
                                <a:rPr lang="en-US" altLang="zh-TW" b="0" i="1" smtClean="0">
                                  <a:latin typeface="Cambria Math" panose="02040503050406030204" pitchFamily="18" charset="0"/>
                                  <a:cs typeface="Times New Roman" panose="02020603050405020304" pitchFamily="18" charset="0"/>
                                </a:rPr>
                              </m:ctrlPr>
                            </m:limLowPr>
                            <m:e>
                              <m:r>
                                <m:rPr>
                                  <m:sty m:val="p"/>
                                </m:rPr>
                                <a:rPr lang="en-US" altLang="zh-TW" b="0" i="0" smtClean="0">
                                  <a:latin typeface="Cambria Math" panose="02040503050406030204" pitchFamily="18" charset="0"/>
                                  <a:cs typeface="Times New Roman" panose="02020603050405020304" pitchFamily="18" charset="0"/>
                                </a:rPr>
                                <m:t>max</m:t>
                              </m:r>
                            </m:e>
                            <m:lim>
                              <m:r>
                                <a:rPr lang="en-US" altLang="zh-TW" b="0" i="1" smtClean="0">
                                  <a:latin typeface="Cambria Math" panose="02040503050406030204" pitchFamily="18" charset="0"/>
                                  <a:cs typeface="Times New Roman" panose="02020603050405020304" pitchFamily="18" charset="0"/>
                                </a:rPr>
                                <m:t>𝑎</m:t>
                              </m:r>
                            </m:lim>
                          </m:limLow>
                        </m:fName>
                        <m:e>
                          <m:r>
                            <a:rPr lang="en-US" altLang="zh-TW" b="0" i="1" smtClean="0">
                              <a:latin typeface="Cambria Math" panose="02040503050406030204" pitchFamily="18" charset="0"/>
                              <a:cs typeface="Times New Roman" panose="02020603050405020304" pitchFamily="18" charset="0"/>
                            </a:rPr>
                            <m:t>𝑄</m:t>
                          </m:r>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+1</m:t>
                              </m:r>
                            </m:sub>
                          </m:sSub>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𝑎</m:t>
                          </m:r>
                          <m:r>
                            <a:rPr lang="en-US" altLang="zh-TW" b="0" i="1" smtClean="0">
                              <a:latin typeface="Cambria Math" panose="02040503050406030204" pitchFamily="18" charset="0"/>
                              <a:cs typeface="Times New Roman" panose="02020603050405020304" pitchFamily="18" charset="0"/>
                            </a:rPr>
                            <m:t>)</m:t>
                          </m:r>
                        </m:e>
                      </m:func>
                      <m:r>
                        <a:rPr lang="en-US" altLang="zh-TW" b="0" i="1" smtClean="0">
                          <a:latin typeface="Cambria Math" panose="02040503050406030204" pitchFamily="18" charset="0"/>
                          <a:cs typeface="Times New Roman" panose="02020603050405020304" pitchFamily="18" charset="0"/>
                        </a:rPr>
                        <m:t>)</m:t>
                      </m:r>
                    </m:oMath>
                  </m:oMathPara>
                </a14:m>
                <a:endParaRPr lang="en-US" altLang="zh-TW" dirty="0">
                  <a:latin typeface="Times New Roman" panose="02020603050405020304" pitchFamily="18" charset="0"/>
                  <a:cs typeface="Times New Roman" panose="02020603050405020304" pitchFamily="18" charset="0"/>
                </a:endParaRPr>
              </a:p>
              <a:p>
                <a14:m>
                  <m:oMath xmlns:m="http://schemas.openxmlformats.org/officeDocument/2006/math">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r>
                          <a:rPr lang="en-US" altLang="zh-TW" i="1">
                            <a:latin typeface="Cambria Math" panose="02040503050406030204" pitchFamily="18" charset="0"/>
                            <a:cs typeface="Times New Roman" panose="02020603050405020304" pitchFamily="18" charset="0"/>
                          </a:rPr>
                          <m:t>𝑎</m:t>
                        </m:r>
                      </m:lim>
                    </m:limLow>
                    <m:r>
                      <a:rPr lang="en-US" altLang="zh-TW" i="1">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𝑄</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𝑎</m:t>
                        </m:r>
                      </m:e>
                    </m:d>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zh-TW" altLang="en-US" b="0" i="1" smtClean="0">
                            <a:latin typeface="Cambria Math" panose="02040503050406030204" pitchFamily="18" charset="0"/>
                            <a:cs typeface="Times New Roman" panose="02020603050405020304" pitchFamily="18" charset="0"/>
                          </a:rPr>
                          <m:t>𝔼</m:t>
                        </m:r>
                      </m:e>
                      <m:sub>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sub>
                    </m:sSub>
                    <m:d>
                      <m:dPr>
                        <m:begChr m:val="["/>
                        <m:endChr m:val="]"/>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𝑟</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𝛾</m:t>
                        </m:r>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sSup>
                              <m:sSupPr>
                                <m:ctrlPr>
                                  <a:rPr lang="en-US" altLang="zh-TW" b="0" i="1" smtClean="0">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m:t>
                                </m:r>
                              </m:sup>
                            </m:sSup>
                          </m:lim>
                        </m:limLow>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m:t>
                            </m:r>
                          </m:sup>
                        </m:sSup>
                        <m:d>
                          <m:dPr>
                            <m:ctrlPr>
                              <a:rPr lang="en-US" altLang="zh-TW" b="0" i="1" smtClean="0">
                                <a:latin typeface="Cambria Math" panose="02040503050406030204" pitchFamily="18" charset="0"/>
                                <a:cs typeface="Times New Roman" panose="02020603050405020304" pitchFamily="18" charset="0"/>
                              </a:rPr>
                            </m:ctrlPr>
                          </m:dPr>
                          <m:e>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𝑠</m:t>
                                </m:r>
                              </m:e>
                              <m:sup>
                                <m:r>
                                  <a:rPr lang="en-US" altLang="zh-TW" b="0" i="1" smtClean="0">
                                    <a:latin typeface="Cambria Math" panose="02040503050406030204" pitchFamily="18" charset="0"/>
                                    <a:cs typeface="Times New Roman" panose="02020603050405020304" pitchFamily="18" charset="0"/>
                                  </a:rPr>
                                  <m:t>′</m:t>
                                </m:r>
                              </m:sup>
                            </m:sSup>
                            <m:r>
                              <a:rPr lang="en-US" altLang="zh-TW" b="0" i="1" smtClean="0">
                                <a:latin typeface="Cambria Math" panose="02040503050406030204" pitchFamily="18" charset="0"/>
                                <a:cs typeface="Times New Roman" panose="02020603050405020304" pitchFamily="18" charset="0"/>
                              </a:rPr>
                              <m:t>,</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m:t>
                                </m:r>
                              </m:sup>
                            </m:sSup>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𝑎</m:t>
                        </m:r>
                      </m:e>
                    </m:d>
                  </m:oMath>
                </a14:m>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r: reward</a:t>
                </a:r>
              </a:p>
              <a:p>
                <a:r>
                  <a:rPr lang="en-US" altLang="zh-TW" dirty="0">
                    <a:latin typeface="Times New Roman" panose="02020603050405020304" pitchFamily="18" charset="0"/>
                    <a:cs typeface="Times New Roman" panose="02020603050405020304" pitchFamily="18" charset="0"/>
                  </a:rPr>
                  <a:t>s: state</a:t>
                </a:r>
              </a:p>
              <a:p>
                <a:r>
                  <a:rPr lang="en-US" altLang="zh-TW" dirty="0">
                    <a:latin typeface="Times New Roman" panose="02020603050405020304" pitchFamily="18" charset="0"/>
                    <a:cs typeface="Times New Roman" panose="02020603050405020304" pitchFamily="18" charset="0"/>
                  </a:rPr>
                  <a:t>a: action</a:t>
                </a:r>
              </a:p>
              <a:p>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𝛼</m:t>
                    </m:r>
                  </m:oMath>
                </a14:m>
                <a:r>
                  <a:rPr lang="en-US" altLang="zh-TW" dirty="0">
                    <a:latin typeface="Times New Roman" panose="02020603050405020304" pitchFamily="18" charset="0"/>
                    <a:cs typeface="Times New Roman" panose="02020603050405020304" pitchFamily="18" charset="0"/>
                  </a:rPr>
                  <a:t>: learning rate</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3"/>
                <a:stretch>
                  <a:fillRect l="-1704" b="-67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524270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文字方塊 39">
            <a:extLst>
              <a:ext uri="{FF2B5EF4-FFF2-40B4-BE49-F238E27FC236}">
                <a16:creationId xmlns:a16="http://schemas.microsoft.com/office/drawing/2014/main" id="{BBD367C0-25BC-42AD-9F70-EA53C7972130}"/>
              </a:ext>
            </a:extLst>
          </p:cNvPr>
          <p:cNvSpPr txBox="1"/>
          <p:nvPr/>
        </p:nvSpPr>
        <p:spPr>
          <a:xfrm>
            <a:off x="6829632" y="5867980"/>
            <a:ext cx="840432" cy="369332"/>
          </a:xfrm>
          <a:prstGeom prst="rect">
            <a:avLst/>
          </a:prstGeom>
          <a:noFill/>
        </p:spPr>
        <p:txBody>
          <a:bodyPr wrap="square" rtlCol="0">
            <a:spAutoFit/>
          </a:bodyPr>
          <a:lstStyle/>
          <a:p>
            <a:r>
              <a:rPr lang="en-US" altLang="zh-TW" dirty="0"/>
              <a:t>5</a:t>
            </a:r>
            <a:endParaRPr lang="zh-TW" altLang="en-US" dirty="0"/>
          </a:p>
        </p:txBody>
      </p:sp>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Q Learning</a:t>
            </a:r>
            <a:endParaRPr lang="zh-TW" alt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BDB5D7A0-C88B-4137-841B-209F7B23DBB6}"/>
                  </a:ext>
                </a:extLst>
              </p:cNvPr>
              <p:cNvGraphicFramePr>
                <a:graphicFrameLocks noGrp="1"/>
              </p:cNvGraphicFramePr>
              <p:nvPr>
                <p:ph idx="1"/>
                <p:extLst>
                  <p:ext uri="{D42A27DB-BD31-4B8C-83A1-F6EECF244321}">
                    <p14:modId xmlns:p14="http://schemas.microsoft.com/office/powerpoint/2010/main" val="2567851860"/>
                  </p:ext>
                </p:extLst>
              </p:nvPr>
            </p:nvGraphicFramePr>
            <p:xfrm>
              <a:off x="457200" y="1600200"/>
              <a:ext cx="8229600" cy="2219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42729537"/>
                        </a:ext>
                      </a:extLst>
                    </a:gridCol>
                    <a:gridCol w="2743200">
                      <a:extLst>
                        <a:ext uri="{9D8B030D-6E8A-4147-A177-3AD203B41FA5}">
                          <a16:colId xmlns:a16="http://schemas.microsoft.com/office/drawing/2014/main" val="1328543671"/>
                        </a:ext>
                      </a:extLst>
                    </a:gridCol>
                    <a:gridCol w="2743200">
                      <a:extLst>
                        <a:ext uri="{9D8B030D-6E8A-4147-A177-3AD203B41FA5}">
                          <a16:colId xmlns:a16="http://schemas.microsoft.com/office/drawing/2014/main" val="4010297521"/>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𝜶</m:t>
                                </m:r>
                                <m:r>
                                  <a:rPr lang="en-US" altLang="zh-TW" b="1" i="1" smtClean="0">
                                    <a:latin typeface="Cambria Math" panose="02040503050406030204" pitchFamily="18" charset="0"/>
                                  </a:rPr>
                                  <m:t>=</m:t>
                                </m:r>
                                <m:r>
                                  <a:rPr lang="en-US" altLang="zh-TW" b="1" i="1" smtClean="0">
                                    <a:latin typeface="Cambria Math" panose="02040503050406030204" pitchFamily="18" charset="0"/>
                                  </a:rPr>
                                  <m:t>𝟎</m:t>
                                </m:r>
                                <m:r>
                                  <a:rPr lang="en-US" altLang="zh-TW" b="1" i="1" smtClean="0">
                                    <a:latin typeface="Cambria Math" panose="02040503050406030204" pitchFamily="18" charset="0"/>
                                  </a:rPr>
                                  <m:t>.</m:t>
                                </m:r>
                                <m:r>
                                  <a:rPr lang="en-US" altLang="zh-TW" b="1" i="1" smtClean="0">
                                    <a:latin typeface="Cambria Math" panose="02040503050406030204" pitchFamily="18" charset="0"/>
                                  </a:rPr>
                                  <m:t>𝟓</m:t>
                                </m:r>
                                <m:r>
                                  <a:rPr lang="en-US" altLang="zh-TW" b="1" i="1" smtClean="0">
                                    <a:latin typeface="Cambria Math" panose="02040503050406030204" pitchFamily="18" charset="0"/>
                                  </a:rPr>
                                  <m:t>, </m:t>
                                </m:r>
                                <m:r>
                                  <a:rPr lang="en-US" altLang="zh-TW" b="1" i="1" smtClean="0">
                                    <a:latin typeface="Cambria Math" panose="02040503050406030204" pitchFamily="18" charset="0"/>
                                  </a:rPr>
                                  <m:t>𝜸</m:t>
                                </m:r>
                                <m:r>
                                  <a:rPr lang="en-US" altLang="zh-TW" b="1" i="1" smtClean="0">
                                    <a:latin typeface="Cambria Math" panose="02040503050406030204" pitchFamily="18" charset="0"/>
                                  </a:rPr>
                                  <m:t>=</m:t>
                                </m:r>
                                <m:r>
                                  <a:rPr lang="en-US" altLang="zh-TW" b="1" i="1" smtClean="0">
                                    <a:latin typeface="Cambria Math" panose="02040503050406030204" pitchFamily="18" charset="0"/>
                                  </a:rPr>
                                  <m:t>𝟎</m:t>
                                </m:r>
                                <m:r>
                                  <a:rPr lang="en-US" altLang="zh-TW" b="1" i="1" smtClean="0">
                                    <a:latin typeface="Cambria Math" panose="02040503050406030204" pitchFamily="18" charset="0"/>
                                  </a:rPr>
                                  <m:t>.</m:t>
                                </m:r>
                                <m:r>
                                  <a:rPr lang="en-US" altLang="zh-TW" b="1" i="1" smtClean="0">
                                    <a:latin typeface="Cambria Math" panose="02040503050406030204" pitchFamily="18" charset="0"/>
                                  </a:rPr>
                                  <m:t>𝟗</m:t>
                                </m:r>
                              </m:oMath>
                            </m:oMathPara>
                          </a14:m>
                          <a:endParaRPr lang="zh-TW" altLang="en-US" dirty="0"/>
                        </a:p>
                      </a:txBody>
                      <a:tcPr/>
                    </a:tc>
                    <a:tc>
                      <a:txBody>
                        <a:bodyPr/>
                        <a:lstStyle/>
                        <a:p>
                          <a:pPr algn="ctr"/>
                          <a14:m>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𝒔</m:t>
                                  </m:r>
                                </m:e>
                                <m:sub>
                                  <m:r>
                                    <a:rPr lang="en-US" altLang="zh-TW" b="1" i="1" smtClean="0">
                                      <a:latin typeface="Cambria Math" panose="02040503050406030204" pitchFamily="18" charset="0"/>
                                    </a:rPr>
                                    <m:t>𝟏</m:t>
                                  </m:r>
                                </m:sub>
                              </m:sSub>
                              <m:r>
                                <a:rPr lang="en-US" altLang="zh-TW" b="1" i="1" smtClean="0">
                                  <a:latin typeface="Cambria Math" panose="02040503050406030204" pitchFamily="18" charset="0"/>
                                </a:rPr>
                                <m:t>:</m:t>
                              </m:r>
                            </m:oMath>
                          </a14:m>
                          <a:r>
                            <a:rPr lang="en-US" altLang="zh-TW" dirty="0"/>
                            <a:t>Left</a:t>
                          </a:r>
                          <a:endParaRPr lang="zh-TW" altLang="en-US" dirty="0"/>
                        </a:p>
                      </a:txBody>
                      <a:tcPr/>
                    </a:tc>
                    <a:tc>
                      <a:txBody>
                        <a:bodyPr/>
                        <a:lstStyle/>
                        <a:p>
                          <a:pPr algn="ctr"/>
                          <a14:m>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𝒔</m:t>
                                  </m:r>
                                </m:e>
                                <m:sub>
                                  <m:r>
                                    <a:rPr lang="en-US" altLang="zh-TW" b="1" i="1" smtClean="0">
                                      <a:latin typeface="Cambria Math" panose="02040503050406030204" pitchFamily="18" charset="0"/>
                                    </a:rPr>
                                    <m:t>𝟐</m:t>
                                  </m:r>
                                </m:sub>
                              </m:sSub>
                              <m:r>
                                <a:rPr lang="en-US" altLang="zh-TW" b="1" i="1" smtClean="0">
                                  <a:latin typeface="Cambria Math" panose="02040503050406030204" pitchFamily="18" charset="0"/>
                                </a:rPr>
                                <m:t>:</m:t>
                              </m:r>
                            </m:oMath>
                          </a14:m>
                          <a:r>
                            <a:rPr lang="en-US" altLang="zh-TW" dirty="0"/>
                            <a:t>Right</a:t>
                          </a:r>
                          <a:endParaRPr lang="zh-TW" altLang="en-US" dirty="0"/>
                        </a:p>
                      </a:txBody>
                      <a:tcPr/>
                    </a:tc>
                    <a:extLst>
                      <a:ext uri="{0D108BD9-81ED-4DB2-BD59-A6C34878D82A}">
                        <a16:rowId xmlns:a16="http://schemas.microsoft.com/office/drawing/2014/main" val="4249723552"/>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1</a:t>
                          </a:r>
                          <a:endParaRPr lang="zh-TW" altLang="en-US" sz="1800" kern="1200" dirty="0">
                            <a:solidFill>
                              <a:schemeClr val="dk1"/>
                            </a:solidFill>
                            <a:latin typeface="+mn-lt"/>
                            <a:ea typeface="+mn-ea"/>
                            <a:cs typeface="+mn-cs"/>
                          </a:endParaRPr>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algn="ctr"/>
                          <a:r>
                            <a:rPr lang="en-US" altLang="zh-TW" dirty="0"/>
                            <a:t>0</a:t>
                          </a:r>
                          <a:endParaRPr lang="zh-TW" altLang="en-US" dirty="0"/>
                        </a:p>
                      </a:txBody>
                      <a:tcPr/>
                    </a:tc>
                    <a:extLst>
                      <a:ext uri="{0D108BD9-81ED-4DB2-BD59-A6C34878D82A}">
                        <a16:rowId xmlns:a16="http://schemas.microsoft.com/office/drawing/2014/main" val="2334998379"/>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2</a:t>
                          </a:r>
                          <a:endParaRPr lang="zh-TW" altLang="en-US" sz="1800" kern="1200" dirty="0">
                            <a:solidFill>
                              <a:schemeClr val="dk1"/>
                            </a:solidFill>
                            <a:latin typeface="+mn-lt"/>
                            <a:ea typeface="+mn-ea"/>
                            <a:cs typeface="+mn-cs"/>
                          </a:endParaRPr>
                        </a:p>
                      </a:txBody>
                      <a:tcPr/>
                    </a:tc>
                    <a:tc>
                      <a:txBody>
                        <a:bodyPr/>
                        <a:lstStyle/>
                        <a:p>
                          <a:pPr algn="ctr"/>
                          <a:r>
                            <a:rPr lang="en-US" altLang="zh-TW" dirty="0"/>
                            <a:t>-1, State 1</a:t>
                          </a:r>
                          <a:endParaRPr lang="zh-TW" altLang="en-US" dirty="0"/>
                        </a:p>
                      </a:txBody>
                      <a:tcPr/>
                    </a:tc>
                    <a:tc>
                      <a:txBody>
                        <a:bodyPr/>
                        <a:lstStyle/>
                        <a:p>
                          <a:pPr algn="ctr"/>
                          <a:r>
                            <a:rPr lang="en-US" altLang="zh-TW" dirty="0">
                              <a:solidFill>
                                <a:schemeClr val="tx1"/>
                              </a:solidFill>
                            </a:rPr>
                            <a:t>0</a:t>
                          </a:r>
                          <a:r>
                            <a:rPr lang="en-US" altLang="zh-TW" dirty="0"/>
                            <a:t>, State 3</a:t>
                          </a:r>
                          <a:endParaRPr lang="zh-TW" altLang="en-US" dirty="0">
                            <a:solidFill>
                              <a:schemeClr val="tx1"/>
                            </a:solidFill>
                          </a:endParaRPr>
                        </a:p>
                      </a:txBody>
                      <a:tcPr/>
                    </a:tc>
                    <a:extLst>
                      <a:ext uri="{0D108BD9-81ED-4DB2-BD59-A6C34878D82A}">
                        <a16:rowId xmlns:a16="http://schemas.microsoft.com/office/drawing/2014/main" val="2806613416"/>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3</a:t>
                          </a:r>
                        </a:p>
                      </a:txBody>
                      <a:tcPr marL="7620" marR="7620" marT="7620" marB="0" anchor="ctr"/>
                    </a:tc>
                    <a:tc>
                      <a:txBody>
                        <a:bodyPr/>
                        <a:lstStyle/>
                        <a:p>
                          <a:pPr algn="ctr"/>
                          <a:r>
                            <a:rPr lang="en-US" altLang="zh-TW" dirty="0"/>
                            <a:t>0, State 2</a:t>
                          </a:r>
                          <a:endParaRPr lang="zh-TW" altLang="en-US" dirty="0"/>
                        </a:p>
                      </a:txBody>
                      <a:tcPr/>
                    </a:tc>
                    <a:tc>
                      <a:txBody>
                        <a:bodyPr/>
                        <a:lstStyle/>
                        <a:p>
                          <a:pPr algn="ctr"/>
                          <a:r>
                            <a:rPr lang="en-US" altLang="zh-TW" dirty="0">
                              <a:solidFill>
                                <a:schemeClr val="tx1"/>
                              </a:solidFill>
                            </a:rPr>
                            <a:t>0</a:t>
                          </a:r>
                          <a:r>
                            <a:rPr lang="en-US" altLang="zh-TW" dirty="0"/>
                            <a:t>, State 4</a:t>
                          </a:r>
                          <a:endParaRPr lang="zh-TW" altLang="en-US" dirty="0">
                            <a:solidFill>
                              <a:srgbClr val="FF0000"/>
                            </a:solidFill>
                          </a:endParaRPr>
                        </a:p>
                      </a:txBody>
                      <a:tcPr/>
                    </a:tc>
                    <a:extLst>
                      <a:ext uri="{0D108BD9-81ED-4DB2-BD59-A6C34878D82A}">
                        <a16:rowId xmlns:a16="http://schemas.microsoft.com/office/drawing/2014/main" val="2756867369"/>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4</a:t>
                          </a:r>
                        </a:p>
                      </a:txBody>
                      <a:tcPr marL="7620" marR="7620" marT="7620" marB="0" anchor="ctr"/>
                    </a:tc>
                    <a:tc>
                      <a:txBody>
                        <a:bodyPr/>
                        <a:lstStyle/>
                        <a:p>
                          <a:pPr algn="ctr"/>
                          <a:r>
                            <a:rPr lang="en-US" altLang="zh-TW" dirty="0"/>
                            <a:t>0, State 3</a:t>
                          </a:r>
                          <a:endParaRPr lang="zh-TW" altLang="en-US" dirty="0"/>
                        </a:p>
                      </a:txBody>
                      <a:tcPr/>
                    </a:tc>
                    <a:tc>
                      <a:txBody>
                        <a:bodyPr/>
                        <a:lstStyle/>
                        <a:p>
                          <a:pPr algn="ctr"/>
                          <a:r>
                            <a:rPr lang="en-US" altLang="zh-TW" dirty="0"/>
                            <a:t>1, State 5</a:t>
                          </a:r>
                          <a:endParaRPr lang="zh-TW" altLang="en-US" dirty="0"/>
                        </a:p>
                      </a:txBody>
                      <a:tcPr/>
                    </a:tc>
                    <a:extLst>
                      <a:ext uri="{0D108BD9-81ED-4DB2-BD59-A6C34878D82A}">
                        <a16:rowId xmlns:a16="http://schemas.microsoft.com/office/drawing/2014/main" val="2076074664"/>
                      </a:ext>
                    </a:extLst>
                  </a:tr>
                  <a:tr h="190624">
                    <a:tc>
                      <a:txBody>
                        <a:bodyPr/>
                        <a:lstStyle/>
                        <a:p>
                          <a:pPr marL="0" algn="ctr" defTabSz="914400" rtl="0" eaLnBrk="1" fontAlgn="ctr" latinLnBrk="0" hangingPunct="1"/>
                          <a:r>
                            <a:rPr lang="en-US" sz="1800" kern="1200" dirty="0">
                              <a:solidFill>
                                <a:schemeClr val="dk1"/>
                              </a:solidFill>
                              <a:latin typeface="+mn-lt"/>
                              <a:ea typeface="+mn-ea"/>
                              <a:cs typeface="+mn-cs"/>
                            </a:rPr>
                            <a:t>State 5</a:t>
                          </a:r>
                        </a:p>
                      </a:txBody>
                      <a:tcPr marL="7620" marR="7620" marT="7620" marB="0"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Game over</a:t>
                          </a:r>
                          <a:endParaRPr lang="zh-TW" altLang="en-US" dirty="0"/>
                        </a:p>
                      </a:txBody>
                      <a:tcPr/>
                    </a:tc>
                    <a:extLst>
                      <a:ext uri="{0D108BD9-81ED-4DB2-BD59-A6C34878D82A}">
                        <a16:rowId xmlns:a16="http://schemas.microsoft.com/office/drawing/2014/main" val="2492673390"/>
                      </a:ext>
                    </a:extLst>
                  </a:tr>
                </a:tbl>
              </a:graphicData>
            </a:graphic>
          </p:graphicFrame>
        </mc:Choice>
        <mc:Fallback xmlns="">
          <p:graphicFrame>
            <p:nvGraphicFramePr>
              <p:cNvPr id="4" name="表格 4">
                <a:extLst>
                  <a:ext uri="{FF2B5EF4-FFF2-40B4-BE49-F238E27FC236}">
                    <a16:creationId xmlns:a16="http://schemas.microsoft.com/office/drawing/2014/main" id="{BDB5D7A0-C88B-4137-841B-209F7B23DBB6}"/>
                  </a:ext>
                </a:extLst>
              </p:cNvPr>
              <p:cNvGraphicFramePr>
                <a:graphicFrameLocks noGrp="1"/>
              </p:cNvGraphicFramePr>
              <p:nvPr>
                <p:ph idx="1"/>
                <p:extLst>
                  <p:ext uri="{D42A27DB-BD31-4B8C-83A1-F6EECF244321}">
                    <p14:modId xmlns:p14="http://schemas.microsoft.com/office/powerpoint/2010/main" val="2567851860"/>
                  </p:ext>
                </p:extLst>
              </p:nvPr>
            </p:nvGraphicFramePr>
            <p:xfrm>
              <a:off x="457200" y="1600200"/>
              <a:ext cx="8229600" cy="2219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42729537"/>
                        </a:ext>
                      </a:extLst>
                    </a:gridCol>
                    <a:gridCol w="2743200">
                      <a:extLst>
                        <a:ext uri="{9D8B030D-6E8A-4147-A177-3AD203B41FA5}">
                          <a16:colId xmlns:a16="http://schemas.microsoft.com/office/drawing/2014/main" val="1328543671"/>
                        </a:ext>
                      </a:extLst>
                    </a:gridCol>
                    <a:gridCol w="2743200">
                      <a:extLst>
                        <a:ext uri="{9D8B030D-6E8A-4147-A177-3AD203B41FA5}">
                          <a16:colId xmlns:a16="http://schemas.microsoft.com/office/drawing/2014/main" val="4010297521"/>
                        </a:ext>
                      </a:extLst>
                    </a:gridCol>
                  </a:tblGrid>
                  <a:tr h="370840">
                    <a:tc>
                      <a:txBody>
                        <a:bodyPr/>
                        <a:lstStyle/>
                        <a:p>
                          <a:endParaRPr lang="zh-TW"/>
                        </a:p>
                      </a:txBody>
                      <a:tcPr>
                        <a:blipFill>
                          <a:blip r:embed="rId3"/>
                          <a:stretch>
                            <a:fillRect l="-444" t="-8197" r="-201111" b="-526230"/>
                          </a:stretch>
                        </a:blipFill>
                      </a:tcPr>
                    </a:tc>
                    <a:tc>
                      <a:txBody>
                        <a:bodyPr/>
                        <a:lstStyle/>
                        <a:p>
                          <a:endParaRPr lang="zh-TW"/>
                        </a:p>
                      </a:txBody>
                      <a:tcPr>
                        <a:blipFill>
                          <a:blip r:embed="rId3"/>
                          <a:stretch>
                            <a:fillRect l="-100444" t="-8197" r="-101111" b="-526230"/>
                          </a:stretch>
                        </a:blipFill>
                      </a:tcPr>
                    </a:tc>
                    <a:tc>
                      <a:txBody>
                        <a:bodyPr/>
                        <a:lstStyle/>
                        <a:p>
                          <a:endParaRPr lang="zh-TW"/>
                        </a:p>
                      </a:txBody>
                      <a:tcPr>
                        <a:blipFill>
                          <a:blip r:embed="rId3"/>
                          <a:stretch>
                            <a:fillRect l="-200444" t="-8197" r="-1111" b="-526230"/>
                          </a:stretch>
                        </a:blipFill>
                      </a:tcPr>
                    </a:tc>
                    <a:extLst>
                      <a:ext uri="{0D108BD9-81ED-4DB2-BD59-A6C34878D82A}">
                        <a16:rowId xmlns:a16="http://schemas.microsoft.com/office/drawing/2014/main" val="4249723552"/>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1</a:t>
                          </a:r>
                          <a:endParaRPr lang="zh-TW" altLang="en-US" sz="1800" kern="1200" dirty="0">
                            <a:solidFill>
                              <a:schemeClr val="dk1"/>
                            </a:solidFill>
                            <a:latin typeface="+mn-lt"/>
                            <a:ea typeface="+mn-ea"/>
                            <a:cs typeface="+mn-cs"/>
                          </a:endParaRPr>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algn="ctr"/>
                          <a:r>
                            <a:rPr lang="en-US" altLang="zh-TW" dirty="0"/>
                            <a:t>0</a:t>
                          </a:r>
                          <a:endParaRPr lang="zh-TW" altLang="en-US" dirty="0"/>
                        </a:p>
                      </a:txBody>
                      <a:tcPr/>
                    </a:tc>
                    <a:extLst>
                      <a:ext uri="{0D108BD9-81ED-4DB2-BD59-A6C34878D82A}">
                        <a16:rowId xmlns:a16="http://schemas.microsoft.com/office/drawing/2014/main" val="2334998379"/>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2</a:t>
                          </a:r>
                          <a:endParaRPr lang="zh-TW" altLang="en-US" sz="1800" kern="1200" dirty="0">
                            <a:solidFill>
                              <a:schemeClr val="dk1"/>
                            </a:solidFill>
                            <a:latin typeface="+mn-lt"/>
                            <a:ea typeface="+mn-ea"/>
                            <a:cs typeface="+mn-cs"/>
                          </a:endParaRPr>
                        </a:p>
                      </a:txBody>
                      <a:tcPr/>
                    </a:tc>
                    <a:tc>
                      <a:txBody>
                        <a:bodyPr/>
                        <a:lstStyle/>
                        <a:p>
                          <a:pPr algn="ctr"/>
                          <a:r>
                            <a:rPr lang="en-US" altLang="zh-TW" dirty="0"/>
                            <a:t>-1, State 1</a:t>
                          </a:r>
                          <a:endParaRPr lang="zh-TW" altLang="en-US" dirty="0"/>
                        </a:p>
                      </a:txBody>
                      <a:tcPr/>
                    </a:tc>
                    <a:tc>
                      <a:txBody>
                        <a:bodyPr/>
                        <a:lstStyle/>
                        <a:p>
                          <a:pPr algn="ctr"/>
                          <a:r>
                            <a:rPr lang="en-US" altLang="zh-TW" dirty="0">
                              <a:solidFill>
                                <a:schemeClr val="tx1"/>
                              </a:solidFill>
                            </a:rPr>
                            <a:t>0</a:t>
                          </a:r>
                          <a:r>
                            <a:rPr lang="en-US" altLang="zh-TW" dirty="0"/>
                            <a:t>, State 3</a:t>
                          </a:r>
                          <a:endParaRPr lang="zh-TW" altLang="en-US" dirty="0">
                            <a:solidFill>
                              <a:schemeClr val="tx1"/>
                            </a:solidFill>
                          </a:endParaRPr>
                        </a:p>
                      </a:txBody>
                      <a:tcPr/>
                    </a:tc>
                    <a:extLst>
                      <a:ext uri="{0D108BD9-81ED-4DB2-BD59-A6C34878D82A}">
                        <a16:rowId xmlns:a16="http://schemas.microsoft.com/office/drawing/2014/main" val="2806613416"/>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3</a:t>
                          </a:r>
                        </a:p>
                      </a:txBody>
                      <a:tcPr marL="7620" marR="7620" marT="7620" marB="0" anchor="ctr"/>
                    </a:tc>
                    <a:tc>
                      <a:txBody>
                        <a:bodyPr/>
                        <a:lstStyle/>
                        <a:p>
                          <a:pPr algn="ctr"/>
                          <a:r>
                            <a:rPr lang="en-US" altLang="zh-TW" dirty="0"/>
                            <a:t>0, State 2</a:t>
                          </a:r>
                          <a:endParaRPr lang="zh-TW" altLang="en-US" dirty="0"/>
                        </a:p>
                      </a:txBody>
                      <a:tcPr/>
                    </a:tc>
                    <a:tc>
                      <a:txBody>
                        <a:bodyPr/>
                        <a:lstStyle/>
                        <a:p>
                          <a:pPr algn="ctr"/>
                          <a:r>
                            <a:rPr lang="en-US" altLang="zh-TW" dirty="0">
                              <a:solidFill>
                                <a:schemeClr val="tx1"/>
                              </a:solidFill>
                            </a:rPr>
                            <a:t>0</a:t>
                          </a:r>
                          <a:r>
                            <a:rPr lang="en-US" altLang="zh-TW" dirty="0"/>
                            <a:t>, State 4</a:t>
                          </a:r>
                          <a:endParaRPr lang="zh-TW" altLang="en-US" dirty="0">
                            <a:solidFill>
                              <a:srgbClr val="FF0000"/>
                            </a:solidFill>
                          </a:endParaRPr>
                        </a:p>
                      </a:txBody>
                      <a:tcPr/>
                    </a:tc>
                    <a:extLst>
                      <a:ext uri="{0D108BD9-81ED-4DB2-BD59-A6C34878D82A}">
                        <a16:rowId xmlns:a16="http://schemas.microsoft.com/office/drawing/2014/main" val="2756867369"/>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4</a:t>
                          </a:r>
                        </a:p>
                      </a:txBody>
                      <a:tcPr marL="7620" marR="7620" marT="7620" marB="0" anchor="ctr"/>
                    </a:tc>
                    <a:tc>
                      <a:txBody>
                        <a:bodyPr/>
                        <a:lstStyle/>
                        <a:p>
                          <a:pPr algn="ctr"/>
                          <a:r>
                            <a:rPr lang="en-US" altLang="zh-TW" dirty="0"/>
                            <a:t>0, State 3</a:t>
                          </a:r>
                          <a:endParaRPr lang="zh-TW" altLang="en-US" dirty="0"/>
                        </a:p>
                      </a:txBody>
                      <a:tcPr/>
                    </a:tc>
                    <a:tc>
                      <a:txBody>
                        <a:bodyPr/>
                        <a:lstStyle/>
                        <a:p>
                          <a:pPr algn="ctr"/>
                          <a:r>
                            <a:rPr lang="en-US" altLang="zh-TW" dirty="0"/>
                            <a:t>1, State 5</a:t>
                          </a:r>
                          <a:endParaRPr lang="zh-TW" altLang="en-US" dirty="0"/>
                        </a:p>
                      </a:txBody>
                      <a:tcPr/>
                    </a:tc>
                    <a:extLst>
                      <a:ext uri="{0D108BD9-81ED-4DB2-BD59-A6C34878D82A}">
                        <a16:rowId xmlns:a16="http://schemas.microsoft.com/office/drawing/2014/main" val="2076074664"/>
                      </a:ext>
                    </a:extLst>
                  </a:tr>
                  <a:tr h="365760">
                    <a:tc>
                      <a:txBody>
                        <a:bodyPr/>
                        <a:lstStyle/>
                        <a:p>
                          <a:pPr marL="0" algn="ctr" defTabSz="914400" rtl="0" eaLnBrk="1" fontAlgn="ctr" latinLnBrk="0" hangingPunct="1"/>
                          <a:r>
                            <a:rPr lang="en-US" sz="1800" kern="1200" dirty="0">
                              <a:solidFill>
                                <a:schemeClr val="dk1"/>
                              </a:solidFill>
                              <a:latin typeface="+mn-lt"/>
                              <a:ea typeface="+mn-ea"/>
                              <a:cs typeface="+mn-cs"/>
                            </a:rPr>
                            <a:t>State 5</a:t>
                          </a:r>
                        </a:p>
                      </a:txBody>
                      <a:tcPr marL="7620" marR="7620" marT="7620" marB="0"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Game over</a:t>
                          </a:r>
                          <a:endParaRPr lang="zh-TW" altLang="en-US" dirty="0"/>
                        </a:p>
                      </a:txBody>
                      <a:tcPr/>
                    </a:tc>
                    <a:extLst>
                      <a:ext uri="{0D108BD9-81ED-4DB2-BD59-A6C34878D82A}">
                        <a16:rowId xmlns:a16="http://schemas.microsoft.com/office/drawing/2014/main" val="2492673390"/>
                      </a:ext>
                    </a:extLst>
                  </a:tr>
                </a:tbl>
              </a:graphicData>
            </a:graphic>
          </p:graphicFrame>
        </mc:Fallback>
      </mc:AlternateContent>
      <p:graphicFrame>
        <p:nvGraphicFramePr>
          <p:cNvPr id="5" name="表格 5">
            <a:extLst>
              <a:ext uri="{FF2B5EF4-FFF2-40B4-BE49-F238E27FC236}">
                <a16:creationId xmlns:a16="http://schemas.microsoft.com/office/drawing/2014/main" id="{17092CE7-BC66-445A-9190-93F4AD100136}"/>
              </a:ext>
            </a:extLst>
          </p:cNvPr>
          <p:cNvGraphicFramePr>
            <a:graphicFrameLocks noGrp="1"/>
          </p:cNvGraphicFramePr>
          <p:nvPr>
            <p:extLst>
              <p:ext uri="{D42A27DB-BD31-4B8C-83A1-F6EECF244321}">
                <p14:modId xmlns:p14="http://schemas.microsoft.com/office/powerpoint/2010/main" val="2244121732"/>
              </p:ext>
            </p:extLst>
          </p:nvPr>
        </p:nvGraphicFramePr>
        <p:xfrm>
          <a:off x="1524000" y="4886960"/>
          <a:ext cx="6096000" cy="74168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4168419058"/>
                    </a:ext>
                  </a:extLst>
                </a:gridCol>
                <a:gridCol w="1219200">
                  <a:extLst>
                    <a:ext uri="{9D8B030D-6E8A-4147-A177-3AD203B41FA5}">
                      <a16:colId xmlns:a16="http://schemas.microsoft.com/office/drawing/2014/main" val="3228948909"/>
                    </a:ext>
                  </a:extLst>
                </a:gridCol>
                <a:gridCol w="1219200">
                  <a:extLst>
                    <a:ext uri="{9D8B030D-6E8A-4147-A177-3AD203B41FA5}">
                      <a16:colId xmlns:a16="http://schemas.microsoft.com/office/drawing/2014/main" val="4163800176"/>
                    </a:ext>
                  </a:extLst>
                </a:gridCol>
                <a:gridCol w="1219200">
                  <a:extLst>
                    <a:ext uri="{9D8B030D-6E8A-4147-A177-3AD203B41FA5}">
                      <a16:colId xmlns:a16="http://schemas.microsoft.com/office/drawing/2014/main" val="2489362430"/>
                    </a:ext>
                  </a:extLst>
                </a:gridCol>
                <a:gridCol w="1219200">
                  <a:extLst>
                    <a:ext uri="{9D8B030D-6E8A-4147-A177-3AD203B41FA5}">
                      <a16:colId xmlns:a16="http://schemas.microsoft.com/office/drawing/2014/main" val="3033016758"/>
                    </a:ext>
                  </a:extLst>
                </a:gridCol>
              </a:tblGrid>
              <a:tr h="370840">
                <a:tc>
                  <a:txBody>
                    <a:bodyPr/>
                    <a:lstStyle/>
                    <a:p>
                      <a:endParaRPr lang="zh-TW" altLang="en-US" dirty="0"/>
                    </a:p>
                  </a:txBody>
                  <a:tcPr>
                    <a:solidFill>
                      <a:schemeClr val="tx1"/>
                    </a:solidFill>
                  </a:tcPr>
                </a:tc>
                <a:tc>
                  <a:txBody>
                    <a:bodyPr/>
                    <a:lstStyle/>
                    <a:p>
                      <a:endParaRPr lang="zh-TW" altLang="en-US" dirty="0"/>
                    </a:p>
                  </a:txBody>
                  <a:tcPr>
                    <a:solidFill>
                      <a:srgbClr val="FFFF00"/>
                    </a:solidFill>
                  </a:tcPr>
                </a:tc>
                <a:tc>
                  <a:txBody>
                    <a:bodyPr/>
                    <a:lstStyle/>
                    <a:p>
                      <a:endParaRPr lang="zh-TW" altLang="en-US"/>
                    </a:p>
                  </a:txBody>
                  <a:tcPr/>
                </a:tc>
                <a:tc>
                  <a:txBody>
                    <a:bodyPr/>
                    <a:lstStyle/>
                    <a:p>
                      <a:endParaRPr lang="zh-TW" altLang="en-US"/>
                    </a:p>
                  </a:txBody>
                  <a:tcPr/>
                </a:tc>
                <a:tc>
                  <a:txBody>
                    <a:bodyPr/>
                    <a:lstStyle/>
                    <a:p>
                      <a:endParaRPr lang="zh-TW" altLang="en-US" dirty="0"/>
                    </a:p>
                  </a:txBody>
                  <a:tcPr>
                    <a:solidFill>
                      <a:srgbClr val="FF0000"/>
                    </a:solidFill>
                  </a:tcPr>
                </a:tc>
                <a:extLst>
                  <a:ext uri="{0D108BD9-81ED-4DB2-BD59-A6C34878D82A}">
                    <a16:rowId xmlns:a16="http://schemas.microsoft.com/office/drawing/2014/main" val="3724245678"/>
                  </a:ext>
                </a:extLst>
              </a:tr>
              <a:tr h="370840">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solidFill>
                      <a:schemeClr val="tx2">
                        <a:lumMod val="20000"/>
                        <a:lumOff val="80000"/>
                      </a:schemeClr>
                    </a:solidFill>
                  </a:tcPr>
                </a:tc>
                <a:extLst>
                  <a:ext uri="{0D108BD9-81ED-4DB2-BD59-A6C34878D82A}">
                    <a16:rowId xmlns:a16="http://schemas.microsoft.com/office/drawing/2014/main" val="1322444737"/>
                  </a:ext>
                </a:extLst>
              </a:tr>
            </a:tbl>
          </a:graphicData>
        </a:graphic>
      </p:graphicFrame>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A3787C45-5BE8-4183-BE43-9AF20F266748}"/>
                  </a:ext>
                </a:extLst>
              </p:cNvPr>
              <p:cNvSpPr txBox="1"/>
              <p:nvPr/>
            </p:nvSpPr>
            <p:spPr>
              <a:xfrm>
                <a:off x="1127956" y="4143936"/>
                <a:ext cx="6888088" cy="7430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𝑛𝑒𝑤</m:t>
                          </m:r>
                        </m:sup>
                      </m:sSup>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b="0" i="1" smtClean="0">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𝑡</m:t>
                              </m:r>
                            </m:sub>
                          </m:sSub>
                        </m:e>
                      </m:d>
                      <m:r>
                        <a:rPr lang="en-US" altLang="zh-TW" b="0" i="1" smtClean="0">
                          <a:latin typeface="Cambria Math" panose="02040503050406030204" pitchFamily="18" charset="0"/>
                          <a:cs typeface="Times New Roman" panose="02020603050405020304" pitchFamily="18" charset="0"/>
                        </a:rPr>
                        <m:t>←</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1−</m:t>
                          </m:r>
                          <m:r>
                            <a:rPr lang="en-US" altLang="zh-TW" b="0" i="1" smtClean="0">
                              <a:latin typeface="Cambria Math" panose="02040503050406030204" pitchFamily="18" charset="0"/>
                              <a:cs typeface="Times New Roman" panose="02020603050405020304" pitchFamily="18" charset="0"/>
                            </a:rPr>
                            <m:t>𝛼</m:t>
                          </m:r>
                        </m:e>
                      </m:d>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𝑜𝑙𝑑</m:t>
                          </m:r>
                        </m:sup>
                      </m:sSup>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b="0" i="1" smtClean="0">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𝑡</m:t>
                              </m:r>
                            </m:sub>
                          </m:sSub>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𝛼</m:t>
                      </m:r>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𝑟</m:t>
                          </m:r>
                        </m:e>
                        <m:sub>
                          <m:r>
                            <a:rPr lang="en-US" altLang="zh-TW" b="0" i="1" smtClean="0">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𝛾</m:t>
                      </m:r>
                      <m:func>
                        <m:funcPr>
                          <m:ctrlPr>
                            <a:rPr lang="en-US" altLang="zh-TW" b="0" i="1" smtClean="0">
                              <a:latin typeface="Cambria Math" panose="02040503050406030204" pitchFamily="18" charset="0"/>
                              <a:cs typeface="Times New Roman" panose="02020603050405020304" pitchFamily="18" charset="0"/>
                            </a:rPr>
                          </m:ctrlPr>
                        </m:funcPr>
                        <m:fName>
                          <m:limLow>
                            <m:limLowPr>
                              <m:ctrlPr>
                                <a:rPr lang="en-US" altLang="zh-TW" b="0" i="1" smtClean="0">
                                  <a:latin typeface="Cambria Math" panose="02040503050406030204" pitchFamily="18" charset="0"/>
                                  <a:cs typeface="Times New Roman" panose="02020603050405020304" pitchFamily="18" charset="0"/>
                                </a:rPr>
                              </m:ctrlPr>
                            </m:limLowPr>
                            <m:e>
                              <m:r>
                                <m:rPr>
                                  <m:sty m:val="p"/>
                                </m:rPr>
                                <a:rPr lang="en-US" altLang="zh-TW" b="0" i="0" smtClean="0">
                                  <a:latin typeface="Cambria Math" panose="02040503050406030204" pitchFamily="18" charset="0"/>
                                  <a:cs typeface="Times New Roman" panose="02020603050405020304" pitchFamily="18" charset="0"/>
                                </a:rPr>
                                <m:t>max</m:t>
                              </m:r>
                            </m:e>
                            <m:lim>
                              <m:r>
                                <a:rPr lang="en-US" altLang="zh-TW" b="0" i="1" smtClean="0">
                                  <a:latin typeface="Cambria Math" panose="02040503050406030204" pitchFamily="18" charset="0"/>
                                  <a:cs typeface="Times New Roman" panose="02020603050405020304" pitchFamily="18" charset="0"/>
                                </a:rPr>
                                <m:t>𝑎</m:t>
                              </m:r>
                            </m:lim>
                          </m:limLow>
                        </m:fName>
                        <m:e>
                          <m:r>
                            <a:rPr lang="en-US" altLang="zh-TW" b="0" i="1" smtClean="0">
                              <a:latin typeface="Cambria Math" panose="02040503050406030204" pitchFamily="18" charset="0"/>
                              <a:cs typeface="Times New Roman" panose="02020603050405020304" pitchFamily="18" charset="0"/>
                            </a:rPr>
                            <m:t>𝑄</m:t>
                          </m:r>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+1</m:t>
                              </m:r>
                            </m:sub>
                          </m:sSub>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𝑎</m:t>
                          </m:r>
                          <m:r>
                            <a:rPr lang="en-US" altLang="zh-TW" b="0" i="1" smtClean="0">
                              <a:latin typeface="Cambria Math" panose="02040503050406030204" pitchFamily="18" charset="0"/>
                              <a:cs typeface="Times New Roman" panose="02020603050405020304" pitchFamily="18" charset="0"/>
                            </a:rPr>
                            <m:t>)</m:t>
                          </m:r>
                        </m:e>
                      </m:func>
                      <m:r>
                        <a:rPr lang="en-US" altLang="zh-TW" b="0" i="1" smtClean="0">
                          <a:latin typeface="Cambria Math" panose="02040503050406030204" pitchFamily="18" charset="0"/>
                          <a:cs typeface="Times New Roman" panose="02020603050405020304" pitchFamily="18" charset="0"/>
                        </a:rPr>
                        <m:t>)</m:t>
                      </m:r>
                    </m:oMath>
                  </m:oMathPara>
                </a14:m>
                <a:endParaRPr lang="en-US" altLang="zh-TW" dirty="0">
                  <a:latin typeface="Times New Roman" panose="02020603050405020304" pitchFamily="18" charset="0"/>
                  <a:cs typeface="Times New Roman" panose="02020603050405020304" pitchFamily="18" charset="0"/>
                </a:endParaRPr>
              </a:p>
              <a:p>
                <a:endParaRPr lang="zh-TW" altLang="en-US" dirty="0"/>
              </a:p>
            </p:txBody>
          </p:sp>
        </mc:Choice>
        <mc:Fallback xmlns="">
          <p:sp>
            <p:nvSpPr>
              <p:cNvPr id="8" name="文字方塊 7">
                <a:extLst>
                  <a:ext uri="{FF2B5EF4-FFF2-40B4-BE49-F238E27FC236}">
                    <a16:creationId xmlns:a16="http://schemas.microsoft.com/office/drawing/2014/main" id="{A3787C45-5BE8-4183-BE43-9AF20F266748}"/>
                  </a:ext>
                </a:extLst>
              </p:cNvPr>
              <p:cNvSpPr txBox="1">
                <a:spLocks noRot="1" noChangeAspect="1" noMove="1" noResize="1" noEditPoints="1" noAdjustHandles="1" noChangeArrowheads="1" noChangeShapeType="1" noTextEdit="1"/>
              </p:cNvSpPr>
              <p:nvPr/>
            </p:nvSpPr>
            <p:spPr>
              <a:xfrm>
                <a:off x="1127956" y="4143936"/>
                <a:ext cx="6888088" cy="743024"/>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5381D448-961A-4375-8FC2-1E658968C280}"/>
                  </a:ext>
                </a:extLst>
              </p:cNvPr>
              <p:cNvSpPr txBox="1"/>
              <p:nvPr/>
            </p:nvSpPr>
            <p:spPr>
              <a:xfrm>
                <a:off x="3347864" y="591684"/>
                <a:ext cx="6096000" cy="5336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limLow>
                        <m:limLowPr>
                          <m:ctrlPr>
                            <a:rPr lang="en-US" altLang="zh-TW" i="1" smtClean="0">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r>
                            <a:rPr lang="en-US" altLang="zh-TW" i="1">
                              <a:latin typeface="Cambria Math" panose="02040503050406030204" pitchFamily="18" charset="0"/>
                              <a:cs typeface="Times New Roman" panose="02020603050405020304" pitchFamily="18" charset="0"/>
                            </a:rPr>
                            <m:t>𝑎</m:t>
                          </m:r>
                        </m:lim>
                      </m:limLow>
                      <m:r>
                        <a:rPr lang="en-US" altLang="zh-TW" i="1">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𝑄</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𝑎</m:t>
                          </m:r>
                        </m:e>
                      </m:d>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zh-TW" altLang="en-US" b="0" i="1" smtClean="0">
                              <a:latin typeface="Cambria Math" panose="02040503050406030204" pitchFamily="18" charset="0"/>
                              <a:cs typeface="Times New Roman" panose="02020603050405020304" pitchFamily="18" charset="0"/>
                            </a:rPr>
                            <m:t>𝔼</m:t>
                          </m:r>
                        </m:e>
                        <m:sub>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sub>
                      </m:sSub>
                      <m:d>
                        <m:dPr>
                          <m:begChr m:val="["/>
                          <m:endChr m:val="]"/>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𝑟</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𝛾</m:t>
                          </m:r>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sSup>
                                <m:sSupPr>
                                  <m:ctrlPr>
                                    <a:rPr lang="en-US" altLang="zh-TW" b="0" i="1" smtClean="0">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m:t>
                                  </m:r>
                                </m:sup>
                              </m:sSup>
                            </m:lim>
                          </m:limLow>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m:t>
                              </m:r>
                            </m:sup>
                          </m:sSup>
                          <m:d>
                            <m:dPr>
                              <m:ctrlPr>
                                <a:rPr lang="en-US" altLang="zh-TW" b="0" i="1" smtClean="0">
                                  <a:latin typeface="Cambria Math" panose="02040503050406030204" pitchFamily="18" charset="0"/>
                                  <a:cs typeface="Times New Roman" panose="02020603050405020304" pitchFamily="18" charset="0"/>
                                </a:rPr>
                              </m:ctrlPr>
                            </m:dPr>
                            <m:e>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𝑠</m:t>
                                  </m:r>
                                </m:e>
                                <m:sup>
                                  <m:r>
                                    <a:rPr lang="en-US" altLang="zh-TW" b="0" i="1" smtClean="0">
                                      <a:latin typeface="Cambria Math" panose="02040503050406030204" pitchFamily="18" charset="0"/>
                                      <a:cs typeface="Times New Roman" panose="02020603050405020304" pitchFamily="18" charset="0"/>
                                    </a:rPr>
                                    <m:t>′</m:t>
                                  </m:r>
                                </m:sup>
                              </m:sSup>
                              <m:r>
                                <a:rPr lang="en-US" altLang="zh-TW" b="0" i="1" smtClean="0">
                                  <a:latin typeface="Cambria Math" panose="02040503050406030204" pitchFamily="18" charset="0"/>
                                  <a:cs typeface="Times New Roman" panose="02020603050405020304" pitchFamily="18" charset="0"/>
                                </a:rPr>
                                <m:t>,</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m:t>
                                  </m:r>
                                </m:sup>
                              </m:sSup>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𝑎</m:t>
                          </m:r>
                        </m:e>
                      </m:d>
                    </m:oMath>
                  </m:oMathPara>
                </a14:m>
                <a:endParaRPr lang="zh-TW" altLang="en-US" dirty="0"/>
              </a:p>
            </p:txBody>
          </p:sp>
        </mc:Choice>
        <mc:Fallback xmlns="">
          <p:sp>
            <p:nvSpPr>
              <p:cNvPr id="3" name="文字方塊 2">
                <a:extLst>
                  <a:ext uri="{FF2B5EF4-FFF2-40B4-BE49-F238E27FC236}">
                    <a16:creationId xmlns:a16="http://schemas.microsoft.com/office/drawing/2014/main" id="{5381D448-961A-4375-8FC2-1E658968C280}"/>
                  </a:ext>
                </a:extLst>
              </p:cNvPr>
              <p:cNvSpPr txBox="1">
                <a:spLocks noRot="1" noChangeAspect="1" noMove="1" noResize="1" noEditPoints="1" noAdjustHandles="1" noChangeArrowheads="1" noChangeShapeType="1" noTextEdit="1"/>
              </p:cNvSpPr>
              <p:nvPr/>
            </p:nvSpPr>
            <p:spPr>
              <a:xfrm>
                <a:off x="3347864" y="591684"/>
                <a:ext cx="6096000" cy="533672"/>
              </a:xfrm>
              <a:prstGeom prst="rect">
                <a:avLst/>
              </a:prstGeom>
              <a:blipFill>
                <a:blip r:embed="rId5"/>
                <a:stretch>
                  <a:fillRect/>
                </a:stretch>
              </a:blipFill>
            </p:spPr>
            <p:txBody>
              <a:bodyPr/>
              <a:lstStyle/>
              <a:p>
                <a:r>
                  <a:rPr lang="zh-TW" altLang="en-US">
                    <a:noFill/>
                  </a:rPr>
                  <a:t> </a:t>
                </a:r>
              </a:p>
            </p:txBody>
          </p:sp>
        </mc:Fallback>
      </mc:AlternateContent>
      <p:sp>
        <p:nvSpPr>
          <p:cNvPr id="6" name="橢圓 5">
            <a:extLst>
              <a:ext uri="{FF2B5EF4-FFF2-40B4-BE49-F238E27FC236}">
                <a16:creationId xmlns:a16="http://schemas.microsoft.com/office/drawing/2014/main" id="{D0B57E3F-4734-47F4-A2DD-AA2E97AC9222}"/>
              </a:ext>
            </a:extLst>
          </p:cNvPr>
          <p:cNvSpPr/>
          <p:nvPr/>
        </p:nvSpPr>
        <p:spPr>
          <a:xfrm>
            <a:off x="1907704" y="5805264"/>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 name="橢圓 8">
            <a:extLst>
              <a:ext uri="{FF2B5EF4-FFF2-40B4-BE49-F238E27FC236}">
                <a16:creationId xmlns:a16="http://schemas.microsoft.com/office/drawing/2014/main" id="{854D1FC3-2A20-4825-BD9C-94B3C54185F1}"/>
              </a:ext>
            </a:extLst>
          </p:cNvPr>
          <p:cNvSpPr/>
          <p:nvPr/>
        </p:nvSpPr>
        <p:spPr>
          <a:xfrm>
            <a:off x="3095836" y="5805264"/>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 name="橢圓 9">
            <a:extLst>
              <a:ext uri="{FF2B5EF4-FFF2-40B4-BE49-F238E27FC236}">
                <a16:creationId xmlns:a16="http://schemas.microsoft.com/office/drawing/2014/main" id="{883F05E3-9AD8-46F4-9CAD-3FA90B3313DB}"/>
              </a:ext>
            </a:extLst>
          </p:cNvPr>
          <p:cNvSpPr/>
          <p:nvPr/>
        </p:nvSpPr>
        <p:spPr>
          <a:xfrm>
            <a:off x="4283968" y="5805264"/>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 name="橢圓 10">
            <a:extLst>
              <a:ext uri="{FF2B5EF4-FFF2-40B4-BE49-F238E27FC236}">
                <a16:creationId xmlns:a16="http://schemas.microsoft.com/office/drawing/2014/main" id="{F454B5BD-A063-44B4-8DD5-C8E7FC2A40CB}"/>
              </a:ext>
            </a:extLst>
          </p:cNvPr>
          <p:cNvSpPr/>
          <p:nvPr/>
        </p:nvSpPr>
        <p:spPr>
          <a:xfrm>
            <a:off x="5544108" y="5805264"/>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 name="橢圓 11">
            <a:extLst>
              <a:ext uri="{FF2B5EF4-FFF2-40B4-BE49-F238E27FC236}">
                <a16:creationId xmlns:a16="http://schemas.microsoft.com/office/drawing/2014/main" id="{23CA29DE-F9C9-4501-A363-F3F9FF8F05DC}"/>
              </a:ext>
            </a:extLst>
          </p:cNvPr>
          <p:cNvSpPr/>
          <p:nvPr/>
        </p:nvSpPr>
        <p:spPr>
          <a:xfrm>
            <a:off x="6732240" y="5805264"/>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9" name="直線單箭頭接點 18">
            <a:extLst>
              <a:ext uri="{FF2B5EF4-FFF2-40B4-BE49-F238E27FC236}">
                <a16:creationId xmlns:a16="http://schemas.microsoft.com/office/drawing/2014/main" id="{258C0DF3-255B-4A74-88B2-EAF5DAE173F0}"/>
              </a:ext>
            </a:extLst>
          </p:cNvPr>
          <p:cNvCxnSpPr>
            <a:stCxn id="10" idx="1"/>
            <a:endCxn id="9" idx="7"/>
          </p:cNvCxnSpPr>
          <p:nvPr/>
        </p:nvCxnSpPr>
        <p:spPr>
          <a:xfrm flipH="1">
            <a:off x="3526075" y="5872784"/>
            <a:ext cx="8317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a:extLst>
              <a:ext uri="{FF2B5EF4-FFF2-40B4-BE49-F238E27FC236}">
                <a16:creationId xmlns:a16="http://schemas.microsoft.com/office/drawing/2014/main" id="{728EB09D-6F2F-47A5-8D4D-76380B1FB29C}"/>
              </a:ext>
            </a:extLst>
          </p:cNvPr>
          <p:cNvCxnSpPr>
            <a:stCxn id="11" idx="1"/>
            <a:endCxn id="10" idx="7"/>
          </p:cNvCxnSpPr>
          <p:nvPr/>
        </p:nvCxnSpPr>
        <p:spPr>
          <a:xfrm flipH="1">
            <a:off x="4714207" y="5872784"/>
            <a:ext cx="9037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a16="http://schemas.microsoft.com/office/drawing/2014/main" id="{CD6872EF-B8D7-42BA-984C-36996EAC46C7}"/>
              </a:ext>
            </a:extLst>
          </p:cNvPr>
          <p:cNvCxnSpPr>
            <a:stCxn id="9" idx="2"/>
            <a:endCxn id="6" idx="6"/>
          </p:cNvCxnSpPr>
          <p:nvPr/>
        </p:nvCxnSpPr>
        <p:spPr>
          <a:xfrm flipH="1">
            <a:off x="2411760" y="6035790"/>
            <a:ext cx="684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7">
            <a:extLst>
              <a:ext uri="{FF2B5EF4-FFF2-40B4-BE49-F238E27FC236}">
                <a16:creationId xmlns:a16="http://schemas.microsoft.com/office/drawing/2014/main" id="{97838AE6-B5E2-4518-BAFC-383E8D21FE32}"/>
              </a:ext>
            </a:extLst>
          </p:cNvPr>
          <p:cNvCxnSpPr>
            <a:stCxn id="11" idx="6"/>
            <a:endCxn id="12" idx="2"/>
          </p:cNvCxnSpPr>
          <p:nvPr/>
        </p:nvCxnSpPr>
        <p:spPr>
          <a:xfrm>
            <a:off x="6048164" y="6035790"/>
            <a:ext cx="684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29">
            <a:extLst>
              <a:ext uri="{FF2B5EF4-FFF2-40B4-BE49-F238E27FC236}">
                <a16:creationId xmlns:a16="http://schemas.microsoft.com/office/drawing/2014/main" id="{66EE8776-CE5D-428C-B148-7428648A10E6}"/>
              </a:ext>
            </a:extLst>
          </p:cNvPr>
          <p:cNvCxnSpPr>
            <a:stCxn id="9" idx="5"/>
            <a:endCxn id="10" idx="3"/>
          </p:cNvCxnSpPr>
          <p:nvPr/>
        </p:nvCxnSpPr>
        <p:spPr>
          <a:xfrm>
            <a:off x="3526075" y="6198796"/>
            <a:ext cx="8317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a:extLst>
              <a:ext uri="{FF2B5EF4-FFF2-40B4-BE49-F238E27FC236}">
                <a16:creationId xmlns:a16="http://schemas.microsoft.com/office/drawing/2014/main" id="{B74DD560-2B48-4909-9C29-D29F0B484AC0}"/>
              </a:ext>
            </a:extLst>
          </p:cNvPr>
          <p:cNvCxnSpPr>
            <a:stCxn id="10" idx="5"/>
            <a:endCxn id="11" idx="3"/>
          </p:cNvCxnSpPr>
          <p:nvPr/>
        </p:nvCxnSpPr>
        <p:spPr>
          <a:xfrm>
            <a:off x="4714207" y="6198796"/>
            <a:ext cx="9037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文字方塊 38">
            <a:extLst>
              <a:ext uri="{FF2B5EF4-FFF2-40B4-BE49-F238E27FC236}">
                <a16:creationId xmlns:a16="http://schemas.microsoft.com/office/drawing/2014/main" id="{B49E0FE8-476B-4F64-A994-91B7AB453B40}"/>
              </a:ext>
            </a:extLst>
          </p:cNvPr>
          <p:cNvSpPr txBox="1"/>
          <p:nvPr/>
        </p:nvSpPr>
        <p:spPr>
          <a:xfrm>
            <a:off x="2080871" y="5872784"/>
            <a:ext cx="45719" cy="369332"/>
          </a:xfrm>
          <a:prstGeom prst="rect">
            <a:avLst/>
          </a:prstGeom>
          <a:noFill/>
        </p:spPr>
        <p:txBody>
          <a:bodyPr wrap="square" rtlCol="0">
            <a:spAutoFit/>
          </a:bodyPr>
          <a:lstStyle/>
          <a:p>
            <a:r>
              <a:rPr lang="en-US" altLang="zh-TW" dirty="0"/>
              <a:t>1</a:t>
            </a:r>
            <a:endParaRPr lang="zh-TW" altLang="en-US" dirty="0"/>
          </a:p>
        </p:txBody>
      </p:sp>
      <p:sp>
        <p:nvSpPr>
          <p:cNvPr id="41" name="文字方塊 40">
            <a:extLst>
              <a:ext uri="{FF2B5EF4-FFF2-40B4-BE49-F238E27FC236}">
                <a16:creationId xmlns:a16="http://schemas.microsoft.com/office/drawing/2014/main" id="{B181269A-3839-4EF3-9CAC-AC2F748968D3}"/>
              </a:ext>
            </a:extLst>
          </p:cNvPr>
          <p:cNvSpPr txBox="1"/>
          <p:nvPr/>
        </p:nvSpPr>
        <p:spPr>
          <a:xfrm>
            <a:off x="3180248" y="5851124"/>
            <a:ext cx="1473936" cy="369332"/>
          </a:xfrm>
          <a:prstGeom prst="rect">
            <a:avLst/>
          </a:prstGeom>
          <a:noFill/>
        </p:spPr>
        <p:txBody>
          <a:bodyPr wrap="square" rtlCol="0">
            <a:spAutoFit/>
          </a:bodyPr>
          <a:lstStyle/>
          <a:p>
            <a:r>
              <a:rPr lang="en-US" altLang="zh-TW" dirty="0"/>
              <a:t>2</a:t>
            </a:r>
            <a:endParaRPr lang="zh-TW" altLang="en-US" dirty="0"/>
          </a:p>
        </p:txBody>
      </p:sp>
      <p:sp>
        <p:nvSpPr>
          <p:cNvPr id="42" name="文字方塊 41">
            <a:extLst>
              <a:ext uri="{FF2B5EF4-FFF2-40B4-BE49-F238E27FC236}">
                <a16:creationId xmlns:a16="http://schemas.microsoft.com/office/drawing/2014/main" id="{0F4A1D5E-0EAA-476E-AC05-A6E963912D0D}"/>
              </a:ext>
            </a:extLst>
          </p:cNvPr>
          <p:cNvSpPr txBox="1"/>
          <p:nvPr/>
        </p:nvSpPr>
        <p:spPr>
          <a:xfrm>
            <a:off x="4393413" y="5843804"/>
            <a:ext cx="301686" cy="369332"/>
          </a:xfrm>
          <a:prstGeom prst="rect">
            <a:avLst/>
          </a:prstGeom>
          <a:noFill/>
        </p:spPr>
        <p:txBody>
          <a:bodyPr wrap="none" rtlCol="0">
            <a:spAutoFit/>
          </a:bodyPr>
          <a:lstStyle/>
          <a:p>
            <a:r>
              <a:rPr lang="en-US" altLang="zh-TW" dirty="0"/>
              <a:t>3</a:t>
            </a:r>
            <a:endParaRPr lang="zh-TW" altLang="en-US" dirty="0"/>
          </a:p>
        </p:txBody>
      </p:sp>
      <p:sp>
        <p:nvSpPr>
          <p:cNvPr id="43" name="文字方塊 42">
            <a:extLst>
              <a:ext uri="{FF2B5EF4-FFF2-40B4-BE49-F238E27FC236}">
                <a16:creationId xmlns:a16="http://schemas.microsoft.com/office/drawing/2014/main" id="{F8D0823A-E865-472E-994A-DC61E736FDC6}"/>
              </a:ext>
            </a:extLst>
          </p:cNvPr>
          <p:cNvSpPr txBox="1"/>
          <p:nvPr/>
        </p:nvSpPr>
        <p:spPr>
          <a:xfrm>
            <a:off x="5658277" y="5877272"/>
            <a:ext cx="301686" cy="369332"/>
          </a:xfrm>
          <a:prstGeom prst="rect">
            <a:avLst/>
          </a:prstGeom>
          <a:noFill/>
        </p:spPr>
        <p:txBody>
          <a:bodyPr wrap="none" rtlCol="0">
            <a:spAutoFit/>
          </a:bodyPr>
          <a:lstStyle/>
          <a:p>
            <a:r>
              <a:rPr lang="en-US" altLang="zh-TW" dirty="0"/>
              <a:t>4</a:t>
            </a:r>
            <a:endParaRPr lang="zh-TW" altLang="en-US" dirty="0"/>
          </a:p>
        </p:txBody>
      </p:sp>
      <p:sp>
        <p:nvSpPr>
          <p:cNvPr id="44" name="文字方塊 43">
            <a:extLst>
              <a:ext uri="{FF2B5EF4-FFF2-40B4-BE49-F238E27FC236}">
                <a16:creationId xmlns:a16="http://schemas.microsoft.com/office/drawing/2014/main" id="{9A95780F-C9DD-4B4E-9DBB-1AF121BF88AB}"/>
              </a:ext>
            </a:extLst>
          </p:cNvPr>
          <p:cNvSpPr txBox="1"/>
          <p:nvPr/>
        </p:nvSpPr>
        <p:spPr>
          <a:xfrm>
            <a:off x="2604129" y="5692606"/>
            <a:ext cx="396044" cy="369332"/>
          </a:xfrm>
          <a:prstGeom prst="rect">
            <a:avLst/>
          </a:prstGeom>
          <a:noFill/>
        </p:spPr>
        <p:txBody>
          <a:bodyPr wrap="square" rtlCol="0">
            <a:spAutoFit/>
          </a:bodyPr>
          <a:lstStyle/>
          <a:p>
            <a:r>
              <a:rPr lang="en-US" altLang="zh-TW" dirty="0"/>
              <a:t>-1</a:t>
            </a:r>
            <a:endParaRPr lang="zh-TW" altLang="en-US" dirty="0"/>
          </a:p>
        </p:txBody>
      </p:sp>
      <p:sp>
        <p:nvSpPr>
          <p:cNvPr id="45" name="文字方塊 44">
            <a:extLst>
              <a:ext uri="{FF2B5EF4-FFF2-40B4-BE49-F238E27FC236}">
                <a16:creationId xmlns:a16="http://schemas.microsoft.com/office/drawing/2014/main" id="{C5CC9908-D598-40C3-A8C0-E869FE932A10}"/>
              </a:ext>
            </a:extLst>
          </p:cNvPr>
          <p:cNvSpPr txBox="1"/>
          <p:nvPr/>
        </p:nvSpPr>
        <p:spPr>
          <a:xfrm>
            <a:off x="6264188" y="5723964"/>
            <a:ext cx="396044" cy="369332"/>
          </a:xfrm>
          <a:prstGeom prst="rect">
            <a:avLst/>
          </a:prstGeom>
          <a:noFill/>
        </p:spPr>
        <p:txBody>
          <a:bodyPr wrap="square" rtlCol="0">
            <a:spAutoFit/>
          </a:bodyPr>
          <a:lstStyle/>
          <a:p>
            <a:r>
              <a:rPr lang="en-US" altLang="zh-TW" dirty="0"/>
              <a:t>1</a:t>
            </a:r>
            <a:endParaRPr lang="zh-TW" altLang="en-US" dirty="0"/>
          </a:p>
        </p:txBody>
      </p:sp>
      <p:sp>
        <p:nvSpPr>
          <p:cNvPr id="7" name="橢圓 6">
            <a:extLst>
              <a:ext uri="{FF2B5EF4-FFF2-40B4-BE49-F238E27FC236}">
                <a16:creationId xmlns:a16="http://schemas.microsoft.com/office/drawing/2014/main" id="{6505EAB8-985E-47F8-838D-3E4EAC8D7414}"/>
              </a:ext>
            </a:extLst>
          </p:cNvPr>
          <p:cNvSpPr/>
          <p:nvPr/>
        </p:nvSpPr>
        <p:spPr>
          <a:xfrm>
            <a:off x="8066561" y="5805264"/>
            <a:ext cx="465879"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4" name="直線單箭頭接點 13">
            <a:extLst>
              <a:ext uri="{FF2B5EF4-FFF2-40B4-BE49-F238E27FC236}">
                <a16:creationId xmlns:a16="http://schemas.microsoft.com/office/drawing/2014/main" id="{3E6395D9-DC97-40BA-87DB-9F6080A61438}"/>
              </a:ext>
            </a:extLst>
          </p:cNvPr>
          <p:cNvCxnSpPr>
            <a:stCxn id="12" idx="6"/>
            <a:endCxn id="7" idx="2"/>
          </p:cNvCxnSpPr>
          <p:nvPr/>
        </p:nvCxnSpPr>
        <p:spPr>
          <a:xfrm>
            <a:off x="7236296" y="6035790"/>
            <a:ext cx="8302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接點: 肘形 15">
            <a:extLst>
              <a:ext uri="{FF2B5EF4-FFF2-40B4-BE49-F238E27FC236}">
                <a16:creationId xmlns:a16="http://schemas.microsoft.com/office/drawing/2014/main" id="{4F9866B0-4D84-437F-B5AB-3959757FECDC}"/>
              </a:ext>
            </a:extLst>
          </p:cNvPr>
          <p:cNvCxnSpPr>
            <a:stCxn id="6" idx="4"/>
            <a:endCxn id="7" idx="4"/>
          </p:cNvCxnSpPr>
          <p:nvPr/>
        </p:nvCxnSpPr>
        <p:spPr>
          <a:xfrm rot="16200000" flipH="1">
            <a:off x="5229616" y="3196431"/>
            <a:ext cx="12700" cy="6139769"/>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橢圓 16">
            <a:extLst>
              <a:ext uri="{FF2B5EF4-FFF2-40B4-BE49-F238E27FC236}">
                <a16:creationId xmlns:a16="http://schemas.microsoft.com/office/drawing/2014/main" id="{BED151C7-393F-41D8-B6EE-AA62B9BA9F9C}"/>
              </a:ext>
            </a:extLst>
          </p:cNvPr>
          <p:cNvSpPr/>
          <p:nvPr/>
        </p:nvSpPr>
        <p:spPr>
          <a:xfrm>
            <a:off x="8100392" y="5877272"/>
            <a:ext cx="396497" cy="34318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392177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Q Learning</a:t>
            </a:r>
            <a:endParaRPr lang="zh-TW" alt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BDB5D7A0-C88B-4137-841B-209F7B23DBB6}"/>
                  </a:ext>
                </a:extLst>
              </p:cNvPr>
              <p:cNvGraphicFramePr>
                <a:graphicFrameLocks noGrp="1"/>
              </p:cNvGraphicFramePr>
              <p:nvPr>
                <p:ph idx="1"/>
                <p:extLst>
                  <p:ext uri="{D42A27DB-BD31-4B8C-83A1-F6EECF244321}">
                    <p14:modId xmlns:p14="http://schemas.microsoft.com/office/powerpoint/2010/main" val="3529126497"/>
                  </p:ext>
                </p:extLst>
              </p:nvPr>
            </p:nvGraphicFramePr>
            <p:xfrm>
              <a:off x="457200" y="1600200"/>
              <a:ext cx="8229600" cy="2219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42729537"/>
                        </a:ext>
                      </a:extLst>
                    </a:gridCol>
                    <a:gridCol w="2743200">
                      <a:extLst>
                        <a:ext uri="{9D8B030D-6E8A-4147-A177-3AD203B41FA5}">
                          <a16:colId xmlns:a16="http://schemas.microsoft.com/office/drawing/2014/main" val="1328543671"/>
                        </a:ext>
                      </a:extLst>
                    </a:gridCol>
                    <a:gridCol w="2743200">
                      <a:extLst>
                        <a:ext uri="{9D8B030D-6E8A-4147-A177-3AD203B41FA5}">
                          <a16:colId xmlns:a16="http://schemas.microsoft.com/office/drawing/2014/main" val="401029752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𝜶</m:t>
                                </m:r>
                                <m:r>
                                  <a:rPr lang="en-US" altLang="zh-TW" b="1" i="1" smtClean="0">
                                    <a:latin typeface="Cambria Math" panose="02040503050406030204" pitchFamily="18" charset="0"/>
                                  </a:rPr>
                                  <m:t>=</m:t>
                                </m:r>
                                <m:r>
                                  <a:rPr lang="en-US" altLang="zh-TW" b="1" i="1" smtClean="0">
                                    <a:latin typeface="Cambria Math" panose="02040503050406030204" pitchFamily="18" charset="0"/>
                                  </a:rPr>
                                  <m:t>𝟎</m:t>
                                </m:r>
                                <m:r>
                                  <a:rPr lang="en-US" altLang="zh-TW" b="1" i="1" smtClean="0">
                                    <a:latin typeface="Cambria Math" panose="02040503050406030204" pitchFamily="18" charset="0"/>
                                  </a:rPr>
                                  <m:t>.</m:t>
                                </m:r>
                                <m:r>
                                  <a:rPr lang="en-US" altLang="zh-TW" b="1" i="1" smtClean="0">
                                    <a:latin typeface="Cambria Math" panose="02040503050406030204" pitchFamily="18" charset="0"/>
                                  </a:rPr>
                                  <m:t>𝟓</m:t>
                                </m:r>
                                <m:r>
                                  <a:rPr lang="en-US" altLang="zh-TW" b="1" i="1" smtClean="0">
                                    <a:latin typeface="Cambria Math" panose="02040503050406030204" pitchFamily="18" charset="0"/>
                                  </a:rPr>
                                  <m:t>, </m:t>
                                </m:r>
                                <m:r>
                                  <a:rPr lang="en-US" altLang="zh-TW" b="1" i="1" smtClean="0">
                                    <a:latin typeface="Cambria Math" panose="02040503050406030204" pitchFamily="18" charset="0"/>
                                  </a:rPr>
                                  <m:t>𝜸</m:t>
                                </m:r>
                                <m:r>
                                  <a:rPr lang="en-US" altLang="zh-TW" b="1" i="1" smtClean="0">
                                    <a:latin typeface="Cambria Math" panose="02040503050406030204" pitchFamily="18" charset="0"/>
                                  </a:rPr>
                                  <m:t>=</m:t>
                                </m:r>
                                <m:r>
                                  <a:rPr lang="en-US" altLang="zh-TW" b="1" i="1" smtClean="0">
                                    <a:latin typeface="Cambria Math" panose="02040503050406030204" pitchFamily="18" charset="0"/>
                                  </a:rPr>
                                  <m:t>𝟎</m:t>
                                </m:r>
                                <m:r>
                                  <a:rPr lang="en-US" altLang="zh-TW" b="1" i="1" smtClean="0">
                                    <a:latin typeface="Cambria Math" panose="02040503050406030204" pitchFamily="18" charset="0"/>
                                  </a:rPr>
                                  <m:t>.</m:t>
                                </m:r>
                                <m:r>
                                  <a:rPr lang="en-US" altLang="zh-TW" b="1" i="1" smtClean="0">
                                    <a:latin typeface="Cambria Math" panose="02040503050406030204" pitchFamily="18" charset="0"/>
                                  </a:rPr>
                                  <m:t>𝟗</m:t>
                                </m:r>
                              </m:oMath>
                            </m:oMathPara>
                          </a14:m>
                          <a:endParaRPr lang="zh-TW" altLang="en-US" dirty="0"/>
                        </a:p>
                      </a:txBody>
                      <a:tcPr/>
                    </a:tc>
                    <a:tc>
                      <a:txBody>
                        <a:bodyPr/>
                        <a:lstStyle/>
                        <a:p>
                          <a:pPr algn="ctr"/>
                          <a14:m>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𝒔</m:t>
                                  </m:r>
                                </m:e>
                                <m:sub>
                                  <m:r>
                                    <a:rPr lang="en-US" altLang="zh-TW" b="1" i="1" smtClean="0">
                                      <a:latin typeface="Cambria Math" panose="02040503050406030204" pitchFamily="18" charset="0"/>
                                    </a:rPr>
                                    <m:t>𝟏</m:t>
                                  </m:r>
                                </m:sub>
                              </m:sSub>
                              <m:r>
                                <a:rPr lang="en-US" altLang="zh-TW" b="1" i="1" smtClean="0">
                                  <a:latin typeface="Cambria Math" panose="02040503050406030204" pitchFamily="18" charset="0"/>
                                </a:rPr>
                                <m:t>:</m:t>
                              </m:r>
                            </m:oMath>
                          </a14:m>
                          <a:r>
                            <a:rPr lang="en-US" altLang="zh-TW" dirty="0"/>
                            <a:t>Left</a:t>
                          </a:r>
                          <a:endParaRPr lang="zh-TW" altLang="en-US" dirty="0"/>
                        </a:p>
                      </a:txBody>
                      <a:tcPr/>
                    </a:tc>
                    <a:tc>
                      <a:txBody>
                        <a:bodyPr/>
                        <a:lstStyle/>
                        <a:p>
                          <a:pPr algn="ctr"/>
                          <a14:m>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𝒔</m:t>
                                  </m:r>
                                </m:e>
                                <m:sub>
                                  <m:r>
                                    <a:rPr lang="en-US" altLang="zh-TW" b="1" i="1" smtClean="0">
                                      <a:latin typeface="Cambria Math" panose="02040503050406030204" pitchFamily="18" charset="0"/>
                                    </a:rPr>
                                    <m:t>𝟐</m:t>
                                  </m:r>
                                </m:sub>
                              </m:sSub>
                              <m:r>
                                <a:rPr lang="en-US" altLang="zh-TW" b="1" i="1" smtClean="0">
                                  <a:latin typeface="Cambria Math" panose="02040503050406030204" pitchFamily="18" charset="0"/>
                                </a:rPr>
                                <m:t>:</m:t>
                              </m:r>
                            </m:oMath>
                          </a14:m>
                          <a:r>
                            <a:rPr lang="en-US" altLang="zh-TW" dirty="0"/>
                            <a:t>Right</a:t>
                          </a:r>
                          <a:endParaRPr lang="zh-TW" altLang="en-US" dirty="0"/>
                        </a:p>
                      </a:txBody>
                      <a:tcPr/>
                    </a:tc>
                    <a:extLst>
                      <a:ext uri="{0D108BD9-81ED-4DB2-BD59-A6C34878D82A}">
                        <a16:rowId xmlns:a16="http://schemas.microsoft.com/office/drawing/2014/main" val="4249723552"/>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1</a:t>
                          </a:r>
                          <a:endParaRPr lang="zh-TW" altLang="en-US" sz="1800" kern="1200" dirty="0">
                            <a:solidFill>
                              <a:schemeClr val="dk1"/>
                            </a:solidFill>
                            <a:latin typeface="+mn-lt"/>
                            <a:ea typeface="+mn-ea"/>
                            <a:cs typeface="+mn-cs"/>
                          </a:endParaRPr>
                        </a:p>
                      </a:txBody>
                      <a:tcPr/>
                    </a:tc>
                    <a:tc gridSpan="2">
                      <a:txBody>
                        <a:bodyPr/>
                        <a:lstStyle/>
                        <a:p>
                          <a:pPr algn="ctr"/>
                          <a:r>
                            <a:rPr lang="en-US" altLang="zh-TW" dirty="0"/>
                            <a:t>0, Game over</a:t>
                          </a:r>
                          <a:endParaRPr lang="zh-TW" altLang="en-US" dirty="0"/>
                        </a:p>
                      </a:txBody>
                      <a:tcPr/>
                    </a:tc>
                    <a:tc hMerge="1">
                      <a:txBody>
                        <a:bodyPr/>
                        <a:lstStyle/>
                        <a:p>
                          <a:pPr algn="ctr"/>
                          <a:r>
                            <a:rPr lang="en-US" altLang="zh-TW" dirty="0"/>
                            <a:t>0</a:t>
                          </a:r>
                          <a:endParaRPr lang="zh-TW" altLang="en-US" dirty="0"/>
                        </a:p>
                      </a:txBody>
                      <a:tcPr/>
                    </a:tc>
                    <a:extLst>
                      <a:ext uri="{0D108BD9-81ED-4DB2-BD59-A6C34878D82A}">
                        <a16:rowId xmlns:a16="http://schemas.microsoft.com/office/drawing/2014/main" val="2334998379"/>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2</a:t>
                          </a:r>
                          <a:endParaRPr lang="zh-TW" altLang="en-US" sz="1800" kern="1200" dirty="0">
                            <a:solidFill>
                              <a:schemeClr val="dk1"/>
                            </a:solidFill>
                            <a:latin typeface="+mn-lt"/>
                            <a:ea typeface="+mn-ea"/>
                            <a:cs typeface="+mn-cs"/>
                          </a:endParaRPr>
                        </a:p>
                      </a:txBody>
                      <a:tcPr/>
                    </a:tc>
                    <a:tc>
                      <a:txBody>
                        <a:bodyPr/>
                        <a:lstStyle/>
                        <a:p>
                          <a:pPr algn="ctr"/>
                          <a:r>
                            <a:rPr lang="en-US" altLang="zh-TW" dirty="0"/>
                            <a:t>-1, State 1</a:t>
                          </a:r>
                          <a:endParaRPr lang="zh-TW" altLang="en-US" dirty="0"/>
                        </a:p>
                      </a:txBody>
                      <a:tcPr/>
                    </a:tc>
                    <a:tc>
                      <a:txBody>
                        <a:bodyPr/>
                        <a:lstStyle/>
                        <a:p>
                          <a:pPr algn="ctr"/>
                          <a:r>
                            <a:rPr lang="en-US" altLang="zh-TW" dirty="0">
                              <a:solidFill>
                                <a:srgbClr val="FF0000"/>
                              </a:solidFill>
                            </a:rPr>
                            <a:t>0.405</a:t>
                          </a:r>
                          <a:r>
                            <a:rPr lang="en-US" altLang="zh-TW" dirty="0"/>
                            <a:t>, State 3</a:t>
                          </a:r>
                          <a:endParaRPr lang="zh-TW" altLang="en-US" dirty="0">
                            <a:solidFill>
                              <a:srgbClr val="FF0000"/>
                            </a:solidFill>
                          </a:endParaRPr>
                        </a:p>
                      </a:txBody>
                      <a:tcPr/>
                    </a:tc>
                    <a:extLst>
                      <a:ext uri="{0D108BD9-81ED-4DB2-BD59-A6C34878D82A}">
                        <a16:rowId xmlns:a16="http://schemas.microsoft.com/office/drawing/2014/main" val="2806613416"/>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3</a:t>
                          </a:r>
                        </a:p>
                      </a:txBody>
                      <a:tcPr marL="7620" marR="7620" marT="7620" marB="0" anchor="ctr"/>
                    </a:tc>
                    <a:tc>
                      <a:txBody>
                        <a:bodyPr/>
                        <a:lstStyle/>
                        <a:p>
                          <a:pPr algn="ctr"/>
                          <a:r>
                            <a:rPr lang="en-US" altLang="zh-TW" dirty="0"/>
                            <a:t>0, State 2</a:t>
                          </a:r>
                          <a:endParaRPr lang="zh-TW" altLang="en-US" dirty="0"/>
                        </a:p>
                      </a:txBody>
                      <a:tcPr/>
                    </a:tc>
                    <a:tc>
                      <a:txBody>
                        <a:bodyPr/>
                        <a:lstStyle/>
                        <a:p>
                          <a:pPr algn="ctr"/>
                          <a:r>
                            <a:rPr lang="en-US" altLang="zh-TW" dirty="0">
                              <a:solidFill>
                                <a:schemeClr val="tx1"/>
                              </a:solidFill>
                            </a:rPr>
                            <a:t>0</a:t>
                          </a:r>
                          <a:r>
                            <a:rPr lang="en-US" altLang="zh-TW" dirty="0"/>
                            <a:t>, State 4</a:t>
                          </a:r>
                          <a:endParaRPr lang="zh-TW" altLang="en-US" dirty="0">
                            <a:solidFill>
                              <a:srgbClr val="FF0000"/>
                            </a:solidFill>
                          </a:endParaRPr>
                        </a:p>
                      </a:txBody>
                      <a:tcPr/>
                    </a:tc>
                    <a:extLst>
                      <a:ext uri="{0D108BD9-81ED-4DB2-BD59-A6C34878D82A}">
                        <a16:rowId xmlns:a16="http://schemas.microsoft.com/office/drawing/2014/main" val="2756867369"/>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4</a:t>
                          </a:r>
                        </a:p>
                      </a:txBody>
                      <a:tcPr marL="7620" marR="7620" marT="7620" marB="0" anchor="ctr"/>
                    </a:tc>
                    <a:tc>
                      <a:txBody>
                        <a:bodyPr/>
                        <a:lstStyle/>
                        <a:p>
                          <a:pPr algn="ctr"/>
                          <a:r>
                            <a:rPr lang="en-US" altLang="zh-TW" dirty="0"/>
                            <a:t>0, State 3</a:t>
                          </a:r>
                          <a:endParaRPr lang="zh-TW" altLang="en-US" dirty="0"/>
                        </a:p>
                      </a:txBody>
                      <a:tcPr/>
                    </a:tc>
                    <a:tc>
                      <a:txBody>
                        <a:bodyPr/>
                        <a:lstStyle/>
                        <a:p>
                          <a:pPr algn="ctr"/>
                          <a:r>
                            <a:rPr lang="en-US" altLang="zh-TW" dirty="0"/>
                            <a:t>1, State 5</a:t>
                          </a:r>
                          <a:endParaRPr lang="zh-TW" altLang="en-US" dirty="0"/>
                        </a:p>
                      </a:txBody>
                      <a:tcPr/>
                    </a:tc>
                    <a:extLst>
                      <a:ext uri="{0D108BD9-81ED-4DB2-BD59-A6C34878D82A}">
                        <a16:rowId xmlns:a16="http://schemas.microsoft.com/office/drawing/2014/main" val="2076074664"/>
                      </a:ext>
                    </a:extLst>
                  </a:tr>
                  <a:tr h="190624">
                    <a:tc>
                      <a:txBody>
                        <a:bodyPr/>
                        <a:lstStyle/>
                        <a:p>
                          <a:pPr marL="0" algn="ctr" defTabSz="914400" rtl="0" eaLnBrk="1" fontAlgn="ctr" latinLnBrk="0" hangingPunct="1"/>
                          <a:r>
                            <a:rPr lang="en-US" sz="1800" kern="1200" dirty="0">
                              <a:solidFill>
                                <a:schemeClr val="dk1"/>
                              </a:solidFill>
                              <a:latin typeface="+mn-lt"/>
                              <a:ea typeface="+mn-ea"/>
                              <a:cs typeface="+mn-cs"/>
                            </a:rPr>
                            <a:t>State 5</a:t>
                          </a:r>
                        </a:p>
                      </a:txBody>
                      <a:tcPr marL="7620" marR="7620" marT="7620" marB="0"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Game over</a:t>
                          </a:r>
                          <a:endParaRPr lang="zh-TW" altLang="en-US" dirty="0"/>
                        </a:p>
                      </a:txBody>
                      <a:tcPr/>
                    </a:tc>
                    <a:extLst>
                      <a:ext uri="{0D108BD9-81ED-4DB2-BD59-A6C34878D82A}">
                        <a16:rowId xmlns:a16="http://schemas.microsoft.com/office/drawing/2014/main" val="2492673390"/>
                      </a:ext>
                    </a:extLst>
                  </a:tr>
                </a:tbl>
              </a:graphicData>
            </a:graphic>
          </p:graphicFrame>
        </mc:Choice>
        <mc:Fallback xmlns="">
          <p:graphicFrame>
            <p:nvGraphicFramePr>
              <p:cNvPr id="4" name="表格 4">
                <a:extLst>
                  <a:ext uri="{FF2B5EF4-FFF2-40B4-BE49-F238E27FC236}">
                    <a16:creationId xmlns:a16="http://schemas.microsoft.com/office/drawing/2014/main" id="{BDB5D7A0-C88B-4137-841B-209F7B23DBB6}"/>
                  </a:ext>
                </a:extLst>
              </p:cNvPr>
              <p:cNvGraphicFramePr>
                <a:graphicFrameLocks noGrp="1"/>
              </p:cNvGraphicFramePr>
              <p:nvPr>
                <p:ph idx="1"/>
                <p:extLst>
                  <p:ext uri="{D42A27DB-BD31-4B8C-83A1-F6EECF244321}">
                    <p14:modId xmlns:p14="http://schemas.microsoft.com/office/powerpoint/2010/main" val="3529126497"/>
                  </p:ext>
                </p:extLst>
              </p:nvPr>
            </p:nvGraphicFramePr>
            <p:xfrm>
              <a:off x="457200" y="1600200"/>
              <a:ext cx="8229600" cy="2219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42729537"/>
                        </a:ext>
                      </a:extLst>
                    </a:gridCol>
                    <a:gridCol w="2743200">
                      <a:extLst>
                        <a:ext uri="{9D8B030D-6E8A-4147-A177-3AD203B41FA5}">
                          <a16:colId xmlns:a16="http://schemas.microsoft.com/office/drawing/2014/main" val="1328543671"/>
                        </a:ext>
                      </a:extLst>
                    </a:gridCol>
                    <a:gridCol w="2743200">
                      <a:extLst>
                        <a:ext uri="{9D8B030D-6E8A-4147-A177-3AD203B41FA5}">
                          <a16:colId xmlns:a16="http://schemas.microsoft.com/office/drawing/2014/main" val="4010297521"/>
                        </a:ext>
                      </a:extLst>
                    </a:gridCol>
                  </a:tblGrid>
                  <a:tr h="370840">
                    <a:tc>
                      <a:txBody>
                        <a:bodyPr/>
                        <a:lstStyle/>
                        <a:p>
                          <a:endParaRPr lang="zh-TW"/>
                        </a:p>
                      </a:txBody>
                      <a:tcPr>
                        <a:blipFill>
                          <a:blip r:embed="rId3"/>
                          <a:stretch>
                            <a:fillRect l="-444" t="-8197" r="-201111" b="-526230"/>
                          </a:stretch>
                        </a:blipFill>
                      </a:tcPr>
                    </a:tc>
                    <a:tc>
                      <a:txBody>
                        <a:bodyPr/>
                        <a:lstStyle/>
                        <a:p>
                          <a:endParaRPr lang="zh-TW"/>
                        </a:p>
                      </a:txBody>
                      <a:tcPr>
                        <a:blipFill>
                          <a:blip r:embed="rId3"/>
                          <a:stretch>
                            <a:fillRect l="-100444" t="-8197" r="-101111" b="-526230"/>
                          </a:stretch>
                        </a:blipFill>
                      </a:tcPr>
                    </a:tc>
                    <a:tc>
                      <a:txBody>
                        <a:bodyPr/>
                        <a:lstStyle/>
                        <a:p>
                          <a:endParaRPr lang="zh-TW"/>
                        </a:p>
                      </a:txBody>
                      <a:tcPr>
                        <a:blipFill>
                          <a:blip r:embed="rId3"/>
                          <a:stretch>
                            <a:fillRect l="-200444" t="-8197" r="-1111" b="-526230"/>
                          </a:stretch>
                        </a:blipFill>
                      </a:tcPr>
                    </a:tc>
                    <a:extLst>
                      <a:ext uri="{0D108BD9-81ED-4DB2-BD59-A6C34878D82A}">
                        <a16:rowId xmlns:a16="http://schemas.microsoft.com/office/drawing/2014/main" val="4249723552"/>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1</a:t>
                          </a:r>
                          <a:endParaRPr lang="zh-TW" altLang="en-US" sz="1800" kern="1200" dirty="0">
                            <a:solidFill>
                              <a:schemeClr val="dk1"/>
                            </a:solidFill>
                            <a:latin typeface="+mn-lt"/>
                            <a:ea typeface="+mn-ea"/>
                            <a:cs typeface="+mn-cs"/>
                          </a:endParaRPr>
                        </a:p>
                      </a:txBody>
                      <a:tcPr/>
                    </a:tc>
                    <a:tc gridSpan="2">
                      <a:txBody>
                        <a:bodyPr/>
                        <a:lstStyle/>
                        <a:p>
                          <a:pPr algn="ctr"/>
                          <a:r>
                            <a:rPr lang="en-US" altLang="zh-TW" dirty="0"/>
                            <a:t>0, Game over</a:t>
                          </a:r>
                          <a:endParaRPr lang="zh-TW" altLang="en-US" dirty="0"/>
                        </a:p>
                      </a:txBody>
                      <a:tcPr/>
                    </a:tc>
                    <a:tc hMerge="1">
                      <a:txBody>
                        <a:bodyPr/>
                        <a:lstStyle/>
                        <a:p>
                          <a:pPr algn="ctr"/>
                          <a:r>
                            <a:rPr lang="en-US" altLang="zh-TW" dirty="0"/>
                            <a:t>0</a:t>
                          </a:r>
                          <a:endParaRPr lang="zh-TW" altLang="en-US" dirty="0"/>
                        </a:p>
                      </a:txBody>
                      <a:tcPr/>
                    </a:tc>
                    <a:extLst>
                      <a:ext uri="{0D108BD9-81ED-4DB2-BD59-A6C34878D82A}">
                        <a16:rowId xmlns:a16="http://schemas.microsoft.com/office/drawing/2014/main" val="2334998379"/>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2</a:t>
                          </a:r>
                          <a:endParaRPr lang="zh-TW" altLang="en-US" sz="1800" kern="1200" dirty="0">
                            <a:solidFill>
                              <a:schemeClr val="dk1"/>
                            </a:solidFill>
                            <a:latin typeface="+mn-lt"/>
                            <a:ea typeface="+mn-ea"/>
                            <a:cs typeface="+mn-cs"/>
                          </a:endParaRPr>
                        </a:p>
                      </a:txBody>
                      <a:tcPr/>
                    </a:tc>
                    <a:tc>
                      <a:txBody>
                        <a:bodyPr/>
                        <a:lstStyle/>
                        <a:p>
                          <a:pPr algn="ctr"/>
                          <a:r>
                            <a:rPr lang="en-US" altLang="zh-TW" dirty="0"/>
                            <a:t>-1, State 1</a:t>
                          </a:r>
                          <a:endParaRPr lang="zh-TW" altLang="en-US" dirty="0"/>
                        </a:p>
                      </a:txBody>
                      <a:tcPr/>
                    </a:tc>
                    <a:tc>
                      <a:txBody>
                        <a:bodyPr/>
                        <a:lstStyle/>
                        <a:p>
                          <a:pPr algn="ctr"/>
                          <a:r>
                            <a:rPr lang="en-US" altLang="zh-TW" dirty="0">
                              <a:solidFill>
                                <a:srgbClr val="FF0000"/>
                              </a:solidFill>
                            </a:rPr>
                            <a:t>0.405</a:t>
                          </a:r>
                          <a:r>
                            <a:rPr lang="en-US" altLang="zh-TW" dirty="0"/>
                            <a:t>, State 3</a:t>
                          </a:r>
                          <a:endParaRPr lang="zh-TW" altLang="en-US" dirty="0">
                            <a:solidFill>
                              <a:srgbClr val="FF0000"/>
                            </a:solidFill>
                          </a:endParaRPr>
                        </a:p>
                      </a:txBody>
                      <a:tcPr/>
                    </a:tc>
                    <a:extLst>
                      <a:ext uri="{0D108BD9-81ED-4DB2-BD59-A6C34878D82A}">
                        <a16:rowId xmlns:a16="http://schemas.microsoft.com/office/drawing/2014/main" val="2806613416"/>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3</a:t>
                          </a:r>
                        </a:p>
                      </a:txBody>
                      <a:tcPr marL="7620" marR="7620" marT="7620" marB="0" anchor="ctr"/>
                    </a:tc>
                    <a:tc>
                      <a:txBody>
                        <a:bodyPr/>
                        <a:lstStyle/>
                        <a:p>
                          <a:pPr algn="ctr"/>
                          <a:r>
                            <a:rPr lang="en-US" altLang="zh-TW" dirty="0"/>
                            <a:t>0, State 2</a:t>
                          </a:r>
                          <a:endParaRPr lang="zh-TW" altLang="en-US" dirty="0"/>
                        </a:p>
                      </a:txBody>
                      <a:tcPr/>
                    </a:tc>
                    <a:tc>
                      <a:txBody>
                        <a:bodyPr/>
                        <a:lstStyle/>
                        <a:p>
                          <a:pPr algn="ctr"/>
                          <a:r>
                            <a:rPr lang="en-US" altLang="zh-TW" dirty="0">
                              <a:solidFill>
                                <a:schemeClr val="tx1"/>
                              </a:solidFill>
                            </a:rPr>
                            <a:t>0</a:t>
                          </a:r>
                          <a:r>
                            <a:rPr lang="en-US" altLang="zh-TW" dirty="0"/>
                            <a:t>, State 4</a:t>
                          </a:r>
                          <a:endParaRPr lang="zh-TW" altLang="en-US" dirty="0">
                            <a:solidFill>
                              <a:srgbClr val="FF0000"/>
                            </a:solidFill>
                          </a:endParaRPr>
                        </a:p>
                      </a:txBody>
                      <a:tcPr/>
                    </a:tc>
                    <a:extLst>
                      <a:ext uri="{0D108BD9-81ED-4DB2-BD59-A6C34878D82A}">
                        <a16:rowId xmlns:a16="http://schemas.microsoft.com/office/drawing/2014/main" val="2756867369"/>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4</a:t>
                          </a:r>
                        </a:p>
                      </a:txBody>
                      <a:tcPr marL="7620" marR="7620" marT="7620" marB="0" anchor="ctr"/>
                    </a:tc>
                    <a:tc>
                      <a:txBody>
                        <a:bodyPr/>
                        <a:lstStyle/>
                        <a:p>
                          <a:pPr algn="ctr"/>
                          <a:r>
                            <a:rPr lang="en-US" altLang="zh-TW" dirty="0"/>
                            <a:t>0, State 3</a:t>
                          </a:r>
                          <a:endParaRPr lang="zh-TW" altLang="en-US" dirty="0"/>
                        </a:p>
                      </a:txBody>
                      <a:tcPr/>
                    </a:tc>
                    <a:tc>
                      <a:txBody>
                        <a:bodyPr/>
                        <a:lstStyle/>
                        <a:p>
                          <a:pPr algn="ctr"/>
                          <a:r>
                            <a:rPr lang="en-US" altLang="zh-TW" dirty="0"/>
                            <a:t>1, State 5</a:t>
                          </a:r>
                          <a:endParaRPr lang="zh-TW" altLang="en-US" dirty="0"/>
                        </a:p>
                      </a:txBody>
                      <a:tcPr/>
                    </a:tc>
                    <a:extLst>
                      <a:ext uri="{0D108BD9-81ED-4DB2-BD59-A6C34878D82A}">
                        <a16:rowId xmlns:a16="http://schemas.microsoft.com/office/drawing/2014/main" val="2076074664"/>
                      </a:ext>
                    </a:extLst>
                  </a:tr>
                  <a:tr h="365760">
                    <a:tc>
                      <a:txBody>
                        <a:bodyPr/>
                        <a:lstStyle/>
                        <a:p>
                          <a:pPr marL="0" algn="ctr" defTabSz="914400" rtl="0" eaLnBrk="1" fontAlgn="ctr" latinLnBrk="0" hangingPunct="1"/>
                          <a:r>
                            <a:rPr lang="en-US" sz="1800" kern="1200" dirty="0">
                              <a:solidFill>
                                <a:schemeClr val="dk1"/>
                              </a:solidFill>
                              <a:latin typeface="+mn-lt"/>
                              <a:ea typeface="+mn-ea"/>
                              <a:cs typeface="+mn-cs"/>
                            </a:rPr>
                            <a:t>State 5</a:t>
                          </a:r>
                        </a:p>
                      </a:txBody>
                      <a:tcPr marL="7620" marR="7620" marT="7620" marB="0"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Game over</a:t>
                          </a:r>
                          <a:endParaRPr lang="zh-TW" altLang="en-US" dirty="0"/>
                        </a:p>
                      </a:txBody>
                      <a:tcPr/>
                    </a:tc>
                    <a:extLst>
                      <a:ext uri="{0D108BD9-81ED-4DB2-BD59-A6C34878D82A}">
                        <a16:rowId xmlns:a16="http://schemas.microsoft.com/office/drawing/2014/main" val="2492673390"/>
                      </a:ext>
                    </a:extLst>
                  </a:tr>
                </a:tbl>
              </a:graphicData>
            </a:graphic>
          </p:graphicFrame>
        </mc:Fallback>
      </mc:AlternateContent>
      <p:graphicFrame>
        <p:nvGraphicFramePr>
          <p:cNvPr id="5" name="表格 5">
            <a:extLst>
              <a:ext uri="{FF2B5EF4-FFF2-40B4-BE49-F238E27FC236}">
                <a16:creationId xmlns:a16="http://schemas.microsoft.com/office/drawing/2014/main" id="{17092CE7-BC66-445A-9190-93F4AD100136}"/>
              </a:ext>
            </a:extLst>
          </p:cNvPr>
          <p:cNvGraphicFramePr>
            <a:graphicFrameLocks noGrp="1"/>
          </p:cNvGraphicFramePr>
          <p:nvPr>
            <p:extLst>
              <p:ext uri="{D42A27DB-BD31-4B8C-83A1-F6EECF244321}">
                <p14:modId xmlns:p14="http://schemas.microsoft.com/office/powerpoint/2010/main" val="3557082192"/>
              </p:ext>
            </p:extLst>
          </p:nvPr>
        </p:nvGraphicFramePr>
        <p:xfrm>
          <a:off x="1524000" y="4886960"/>
          <a:ext cx="6096000" cy="74168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4168419058"/>
                    </a:ext>
                  </a:extLst>
                </a:gridCol>
                <a:gridCol w="1219200">
                  <a:extLst>
                    <a:ext uri="{9D8B030D-6E8A-4147-A177-3AD203B41FA5}">
                      <a16:colId xmlns:a16="http://schemas.microsoft.com/office/drawing/2014/main" val="3228948909"/>
                    </a:ext>
                  </a:extLst>
                </a:gridCol>
                <a:gridCol w="1219200">
                  <a:extLst>
                    <a:ext uri="{9D8B030D-6E8A-4147-A177-3AD203B41FA5}">
                      <a16:colId xmlns:a16="http://schemas.microsoft.com/office/drawing/2014/main" val="4163800176"/>
                    </a:ext>
                  </a:extLst>
                </a:gridCol>
                <a:gridCol w="1219200">
                  <a:extLst>
                    <a:ext uri="{9D8B030D-6E8A-4147-A177-3AD203B41FA5}">
                      <a16:colId xmlns:a16="http://schemas.microsoft.com/office/drawing/2014/main" val="2489362430"/>
                    </a:ext>
                  </a:extLst>
                </a:gridCol>
                <a:gridCol w="1219200">
                  <a:extLst>
                    <a:ext uri="{9D8B030D-6E8A-4147-A177-3AD203B41FA5}">
                      <a16:colId xmlns:a16="http://schemas.microsoft.com/office/drawing/2014/main" val="3033016758"/>
                    </a:ext>
                  </a:extLst>
                </a:gridCol>
              </a:tblGrid>
              <a:tr h="370840">
                <a:tc>
                  <a:txBody>
                    <a:bodyPr/>
                    <a:lstStyle/>
                    <a:p>
                      <a:endParaRPr lang="zh-TW" altLang="en-US" dirty="0"/>
                    </a:p>
                  </a:txBody>
                  <a:tcPr>
                    <a:solidFill>
                      <a:schemeClr val="tx1"/>
                    </a:solidFill>
                  </a:tcPr>
                </a:tc>
                <a:tc>
                  <a:txBody>
                    <a:bodyPr/>
                    <a:lstStyle/>
                    <a:p>
                      <a:endParaRPr lang="zh-TW" altLang="en-US" dirty="0"/>
                    </a:p>
                  </a:txBody>
                  <a:tcPr>
                    <a:solidFill>
                      <a:schemeClr val="accent1"/>
                    </a:solidFill>
                  </a:tcPr>
                </a:tc>
                <a:tc>
                  <a:txBody>
                    <a:bodyPr/>
                    <a:lstStyle/>
                    <a:p>
                      <a:endParaRPr lang="zh-TW" altLang="en-US" dirty="0"/>
                    </a:p>
                  </a:txBody>
                  <a:tcPr>
                    <a:solidFill>
                      <a:srgbClr val="FFFF00"/>
                    </a:solidFill>
                  </a:tcPr>
                </a:tc>
                <a:tc>
                  <a:txBody>
                    <a:bodyPr/>
                    <a:lstStyle/>
                    <a:p>
                      <a:endParaRPr lang="zh-TW" altLang="en-US"/>
                    </a:p>
                  </a:txBody>
                  <a:tcPr/>
                </a:tc>
                <a:tc>
                  <a:txBody>
                    <a:bodyPr/>
                    <a:lstStyle/>
                    <a:p>
                      <a:endParaRPr lang="zh-TW" altLang="en-US" dirty="0"/>
                    </a:p>
                  </a:txBody>
                  <a:tcPr>
                    <a:solidFill>
                      <a:srgbClr val="FF0000"/>
                    </a:solidFill>
                  </a:tcPr>
                </a:tc>
                <a:extLst>
                  <a:ext uri="{0D108BD9-81ED-4DB2-BD59-A6C34878D82A}">
                    <a16:rowId xmlns:a16="http://schemas.microsoft.com/office/drawing/2014/main" val="3724245678"/>
                  </a:ext>
                </a:extLst>
              </a:tr>
              <a:tr h="370840">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solidFill>
                      <a:schemeClr val="tx2">
                        <a:lumMod val="20000"/>
                        <a:lumOff val="80000"/>
                      </a:schemeClr>
                    </a:solidFill>
                  </a:tcPr>
                </a:tc>
                <a:extLst>
                  <a:ext uri="{0D108BD9-81ED-4DB2-BD59-A6C34878D82A}">
                    <a16:rowId xmlns:a16="http://schemas.microsoft.com/office/drawing/2014/main" val="1322444737"/>
                  </a:ext>
                </a:extLst>
              </a:tr>
            </a:tbl>
          </a:graphicData>
        </a:graphic>
      </p:graphicFrame>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5EA2A2A1-AB28-4BA3-BDA7-2649D958D1DC}"/>
                  </a:ext>
                </a:extLst>
              </p:cNvPr>
              <p:cNvSpPr txBox="1"/>
              <p:nvPr/>
            </p:nvSpPr>
            <p:spPr>
              <a:xfrm>
                <a:off x="1127956" y="4143936"/>
                <a:ext cx="688808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𝑛𝑒𝑤</m:t>
                          </m:r>
                        </m:sup>
                      </m:sSup>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b="0" i="1" smtClean="0">
                                  <a:latin typeface="Cambria Math" panose="02040503050406030204" pitchFamily="18" charset="0"/>
                                  <a:cs typeface="Times New Roman" panose="02020603050405020304" pitchFamily="18" charset="0"/>
                                </a:rPr>
                                <m:t>2</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2</m:t>
                              </m:r>
                            </m:sub>
                          </m:sSub>
                        </m:e>
                      </m:d>
                      <m:r>
                        <a:rPr lang="en-US" altLang="zh-TW" b="0" i="1" smtClean="0">
                          <a:latin typeface="Cambria Math" panose="02040503050406030204" pitchFamily="18" charset="0"/>
                          <a:cs typeface="Times New Roman" panose="02020603050405020304" pitchFamily="18" charset="0"/>
                        </a:rPr>
                        <m:t>←</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1−0.5</m:t>
                          </m:r>
                        </m:e>
                      </m:d>
                      <m:r>
                        <a:rPr lang="en-US" altLang="zh-TW" b="0" i="1" smtClean="0">
                          <a:latin typeface="Cambria Math" panose="02040503050406030204" pitchFamily="18" charset="0"/>
                          <a:cs typeface="Times New Roman" panose="02020603050405020304" pitchFamily="18" charset="0"/>
                        </a:rPr>
                        <m:t>×0+0.5(0+0.9(0+0.9×1))</m:t>
                      </m:r>
                    </m:oMath>
                  </m:oMathPara>
                </a14:m>
                <a:endParaRPr lang="en-US" altLang="zh-TW" dirty="0">
                  <a:latin typeface="Times New Roman" panose="02020603050405020304" pitchFamily="18" charset="0"/>
                  <a:cs typeface="Times New Roman" panose="02020603050405020304" pitchFamily="18" charset="0"/>
                </a:endParaRPr>
              </a:p>
            </p:txBody>
          </p:sp>
        </mc:Choice>
        <mc:Fallback xmlns="">
          <p:sp>
            <p:nvSpPr>
              <p:cNvPr id="6" name="文字方塊 5">
                <a:extLst>
                  <a:ext uri="{FF2B5EF4-FFF2-40B4-BE49-F238E27FC236}">
                    <a16:creationId xmlns:a16="http://schemas.microsoft.com/office/drawing/2014/main" id="{5EA2A2A1-AB28-4BA3-BDA7-2649D958D1DC}"/>
                  </a:ext>
                </a:extLst>
              </p:cNvPr>
              <p:cNvSpPr txBox="1">
                <a:spLocks noRot="1" noChangeAspect="1" noMove="1" noResize="1" noEditPoints="1" noAdjustHandles="1" noChangeArrowheads="1" noChangeShapeType="1" noTextEdit="1"/>
              </p:cNvSpPr>
              <p:nvPr/>
            </p:nvSpPr>
            <p:spPr>
              <a:xfrm>
                <a:off x="1127956" y="4143936"/>
                <a:ext cx="6888088" cy="369332"/>
              </a:xfrm>
              <a:prstGeom prst="rect">
                <a:avLst/>
              </a:prstGeom>
              <a:blipFill>
                <a:blip r:embed="rId4"/>
                <a:stretch>
                  <a:fillRect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59E9B011-1849-45BB-BE03-207116661571}"/>
                  </a:ext>
                </a:extLst>
              </p:cNvPr>
              <p:cNvSpPr txBox="1"/>
              <p:nvPr/>
            </p:nvSpPr>
            <p:spPr>
              <a:xfrm>
                <a:off x="3347864" y="591684"/>
                <a:ext cx="6096000" cy="5336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limLow>
                        <m:limLowPr>
                          <m:ctrlPr>
                            <a:rPr lang="en-US" altLang="zh-TW" i="1" smtClean="0">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r>
                            <a:rPr lang="en-US" altLang="zh-TW" i="1">
                              <a:latin typeface="Cambria Math" panose="02040503050406030204" pitchFamily="18" charset="0"/>
                              <a:cs typeface="Times New Roman" panose="02020603050405020304" pitchFamily="18" charset="0"/>
                            </a:rPr>
                            <m:t>𝑎</m:t>
                          </m:r>
                        </m:lim>
                      </m:limLow>
                      <m:r>
                        <a:rPr lang="en-US" altLang="zh-TW" i="1">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𝑄</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𝑎</m:t>
                          </m:r>
                        </m:e>
                      </m:d>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zh-TW" altLang="en-US" b="0" i="1" smtClean="0">
                              <a:latin typeface="Cambria Math" panose="02040503050406030204" pitchFamily="18" charset="0"/>
                              <a:cs typeface="Times New Roman" panose="02020603050405020304" pitchFamily="18" charset="0"/>
                            </a:rPr>
                            <m:t>𝔼</m:t>
                          </m:r>
                        </m:e>
                        <m:sub>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sub>
                      </m:sSub>
                      <m:d>
                        <m:dPr>
                          <m:begChr m:val="["/>
                          <m:endChr m:val="]"/>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𝑟</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𝛾</m:t>
                          </m:r>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sSup>
                                <m:sSupPr>
                                  <m:ctrlPr>
                                    <a:rPr lang="en-US" altLang="zh-TW" b="0" i="1" smtClean="0">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m:t>
                                  </m:r>
                                </m:sup>
                              </m:sSup>
                            </m:lim>
                          </m:limLow>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m:t>
                              </m:r>
                            </m:sup>
                          </m:sSup>
                          <m:d>
                            <m:dPr>
                              <m:ctrlPr>
                                <a:rPr lang="en-US" altLang="zh-TW" b="0" i="1" smtClean="0">
                                  <a:latin typeface="Cambria Math" panose="02040503050406030204" pitchFamily="18" charset="0"/>
                                  <a:cs typeface="Times New Roman" panose="02020603050405020304" pitchFamily="18" charset="0"/>
                                </a:rPr>
                              </m:ctrlPr>
                            </m:dPr>
                            <m:e>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𝑠</m:t>
                                  </m:r>
                                </m:e>
                                <m:sup>
                                  <m:r>
                                    <a:rPr lang="en-US" altLang="zh-TW" b="0" i="1" smtClean="0">
                                      <a:latin typeface="Cambria Math" panose="02040503050406030204" pitchFamily="18" charset="0"/>
                                      <a:cs typeface="Times New Roman" panose="02020603050405020304" pitchFamily="18" charset="0"/>
                                    </a:rPr>
                                    <m:t>′</m:t>
                                  </m:r>
                                </m:sup>
                              </m:sSup>
                              <m:r>
                                <a:rPr lang="en-US" altLang="zh-TW" b="0" i="1" smtClean="0">
                                  <a:latin typeface="Cambria Math" panose="02040503050406030204" pitchFamily="18" charset="0"/>
                                  <a:cs typeface="Times New Roman" panose="02020603050405020304" pitchFamily="18" charset="0"/>
                                </a:rPr>
                                <m:t>,</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m:t>
                                  </m:r>
                                </m:sup>
                              </m:sSup>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𝑎</m:t>
                          </m:r>
                        </m:e>
                      </m:d>
                    </m:oMath>
                  </m:oMathPara>
                </a14:m>
                <a:endParaRPr lang="zh-TW" altLang="en-US" dirty="0"/>
              </a:p>
            </p:txBody>
          </p:sp>
        </mc:Choice>
        <mc:Fallback xmlns="">
          <p:sp>
            <p:nvSpPr>
              <p:cNvPr id="8" name="文字方塊 7">
                <a:extLst>
                  <a:ext uri="{FF2B5EF4-FFF2-40B4-BE49-F238E27FC236}">
                    <a16:creationId xmlns:a16="http://schemas.microsoft.com/office/drawing/2014/main" id="{59E9B011-1849-45BB-BE03-207116661571}"/>
                  </a:ext>
                </a:extLst>
              </p:cNvPr>
              <p:cNvSpPr txBox="1">
                <a:spLocks noRot="1" noChangeAspect="1" noMove="1" noResize="1" noEditPoints="1" noAdjustHandles="1" noChangeArrowheads="1" noChangeShapeType="1" noTextEdit="1"/>
              </p:cNvSpPr>
              <p:nvPr/>
            </p:nvSpPr>
            <p:spPr>
              <a:xfrm>
                <a:off x="3347864" y="591684"/>
                <a:ext cx="6096000" cy="533672"/>
              </a:xfrm>
              <a:prstGeom prst="rect">
                <a:avLst/>
              </a:prstGeom>
              <a:blipFill>
                <a:blip r:embed="rId3"/>
                <a:stretch>
                  <a:fillRect/>
                </a:stretch>
              </a:blipFill>
            </p:spPr>
            <p:txBody>
              <a:bodyPr/>
              <a:lstStyle/>
              <a:p>
                <a:r>
                  <a:rPr lang="zh-TW" altLang="en-US">
                    <a:noFill/>
                  </a:rPr>
                  <a:t> </a:t>
                </a:r>
              </a:p>
            </p:txBody>
          </p:sp>
        </mc:Fallback>
      </mc:AlternateContent>
      <p:sp>
        <p:nvSpPr>
          <p:cNvPr id="7" name="文字方塊 6">
            <a:extLst>
              <a:ext uri="{FF2B5EF4-FFF2-40B4-BE49-F238E27FC236}">
                <a16:creationId xmlns:a16="http://schemas.microsoft.com/office/drawing/2014/main" id="{E36FBCCF-56DD-4D54-8A0D-7BC05C922B16}"/>
              </a:ext>
            </a:extLst>
          </p:cNvPr>
          <p:cNvSpPr txBox="1"/>
          <p:nvPr/>
        </p:nvSpPr>
        <p:spPr>
          <a:xfrm>
            <a:off x="6829632" y="6120658"/>
            <a:ext cx="840432" cy="369332"/>
          </a:xfrm>
          <a:prstGeom prst="rect">
            <a:avLst/>
          </a:prstGeom>
          <a:noFill/>
        </p:spPr>
        <p:txBody>
          <a:bodyPr wrap="square" rtlCol="0">
            <a:spAutoFit/>
          </a:bodyPr>
          <a:lstStyle/>
          <a:p>
            <a:r>
              <a:rPr lang="en-US" altLang="zh-TW" dirty="0"/>
              <a:t>5</a:t>
            </a:r>
            <a:endParaRPr lang="zh-TW" altLang="en-US" dirty="0"/>
          </a:p>
        </p:txBody>
      </p:sp>
      <p:sp>
        <p:nvSpPr>
          <p:cNvPr id="9" name="橢圓 8">
            <a:extLst>
              <a:ext uri="{FF2B5EF4-FFF2-40B4-BE49-F238E27FC236}">
                <a16:creationId xmlns:a16="http://schemas.microsoft.com/office/drawing/2014/main" id="{E03E2BAE-83D0-47C7-8343-A403AAE78A04}"/>
              </a:ext>
            </a:extLst>
          </p:cNvPr>
          <p:cNvSpPr/>
          <p:nvPr/>
        </p:nvSpPr>
        <p:spPr>
          <a:xfrm>
            <a:off x="1907704" y="6057942"/>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 name="橢圓 9">
            <a:extLst>
              <a:ext uri="{FF2B5EF4-FFF2-40B4-BE49-F238E27FC236}">
                <a16:creationId xmlns:a16="http://schemas.microsoft.com/office/drawing/2014/main" id="{457A30C3-D4E0-4C99-A503-5F9DB6DE4D57}"/>
              </a:ext>
            </a:extLst>
          </p:cNvPr>
          <p:cNvSpPr/>
          <p:nvPr/>
        </p:nvSpPr>
        <p:spPr>
          <a:xfrm>
            <a:off x="3095836" y="6057942"/>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 name="橢圓 10">
            <a:extLst>
              <a:ext uri="{FF2B5EF4-FFF2-40B4-BE49-F238E27FC236}">
                <a16:creationId xmlns:a16="http://schemas.microsoft.com/office/drawing/2014/main" id="{C70C50CA-AD84-45C2-B929-0CA623832777}"/>
              </a:ext>
            </a:extLst>
          </p:cNvPr>
          <p:cNvSpPr/>
          <p:nvPr/>
        </p:nvSpPr>
        <p:spPr>
          <a:xfrm>
            <a:off x="4283968" y="6057942"/>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 name="橢圓 11">
            <a:extLst>
              <a:ext uri="{FF2B5EF4-FFF2-40B4-BE49-F238E27FC236}">
                <a16:creationId xmlns:a16="http://schemas.microsoft.com/office/drawing/2014/main" id="{54F581DD-477F-44E1-90E8-636ECF9B68E5}"/>
              </a:ext>
            </a:extLst>
          </p:cNvPr>
          <p:cNvSpPr/>
          <p:nvPr/>
        </p:nvSpPr>
        <p:spPr>
          <a:xfrm>
            <a:off x="5544108" y="6057942"/>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橢圓 12">
            <a:extLst>
              <a:ext uri="{FF2B5EF4-FFF2-40B4-BE49-F238E27FC236}">
                <a16:creationId xmlns:a16="http://schemas.microsoft.com/office/drawing/2014/main" id="{83BA4837-8145-45C4-8446-CFA7214A2BD8}"/>
              </a:ext>
            </a:extLst>
          </p:cNvPr>
          <p:cNvSpPr/>
          <p:nvPr/>
        </p:nvSpPr>
        <p:spPr>
          <a:xfrm>
            <a:off x="6732240" y="6057942"/>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4" name="直線單箭頭接點 13">
            <a:extLst>
              <a:ext uri="{FF2B5EF4-FFF2-40B4-BE49-F238E27FC236}">
                <a16:creationId xmlns:a16="http://schemas.microsoft.com/office/drawing/2014/main" id="{8A9A0A25-5040-4E61-8224-ACAE185CB417}"/>
              </a:ext>
            </a:extLst>
          </p:cNvPr>
          <p:cNvCxnSpPr>
            <a:stCxn id="11" idx="1"/>
            <a:endCxn id="10" idx="7"/>
          </p:cNvCxnSpPr>
          <p:nvPr/>
        </p:nvCxnSpPr>
        <p:spPr>
          <a:xfrm flipH="1">
            <a:off x="3526075" y="6125462"/>
            <a:ext cx="8317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a:extLst>
              <a:ext uri="{FF2B5EF4-FFF2-40B4-BE49-F238E27FC236}">
                <a16:creationId xmlns:a16="http://schemas.microsoft.com/office/drawing/2014/main" id="{7607EF03-C2D4-4724-B4F8-D8BA5DC5A0DD}"/>
              </a:ext>
            </a:extLst>
          </p:cNvPr>
          <p:cNvCxnSpPr>
            <a:stCxn id="12" idx="1"/>
            <a:endCxn id="11" idx="7"/>
          </p:cNvCxnSpPr>
          <p:nvPr/>
        </p:nvCxnSpPr>
        <p:spPr>
          <a:xfrm flipH="1">
            <a:off x="4714207" y="6125462"/>
            <a:ext cx="9037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a:extLst>
              <a:ext uri="{FF2B5EF4-FFF2-40B4-BE49-F238E27FC236}">
                <a16:creationId xmlns:a16="http://schemas.microsoft.com/office/drawing/2014/main" id="{63692B09-FEEC-49D6-888E-42F4F76EE82D}"/>
              </a:ext>
            </a:extLst>
          </p:cNvPr>
          <p:cNvCxnSpPr>
            <a:stCxn id="10" idx="2"/>
            <a:endCxn id="9" idx="6"/>
          </p:cNvCxnSpPr>
          <p:nvPr/>
        </p:nvCxnSpPr>
        <p:spPr>
          <a:xfrm flipH="1">
            <a:off x="2411760" y="6288468"/>
            <a:ext cx="684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E11E6363-3490-4A9E-9040-3D2A7A6AB1B9}"/>
              </a:ext>
            </a:extLst>
          </p:cNvPr>
          <p:cNvCxnSpPr>
            <a:stCxn id="12" idx="6"/>
            <a:endCxn id="13" idx="2"/>
          </p:cNvCxnSpPr>
          <p:nvPr/>
        </p:nvCxnSpPr>
        <p:spPr>
          <a:xfrm>
            <a:off x="6048164" y="6288468"/>
            <a:ext cx="684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a:extLst>
              <a:ext uri="{FF2B5EF4-FFF2-40B4-BE49-F238E27FC236}">
                <a16:creationId xmlns:a16="http://schemas.microsoft.com/office/drawing/2014/main" id="{EAE529B9-C222-444D-8546-3CDDD089E871}"/>
              </a:ext>
            </a:extLst>
          </p:cNvPr>
          <p:cNvCxnSpPr>
            <a:stCxn id="10" idx="5"/>
            <a:endCxn id="11" idx="3"/>
          </p:cNvCxnSpPr>
          <p:nvPr/>
        </p:nvCxnSpPr>
        <p:spPr>
          <a:xfrm>
            <a:off x="3526075" y="6451474"/>
            <a:ext cx="8317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A97FACF2-056C-4CA6-9DE4-83B4ADF0BD53}"/>
              </a:ext>
            </a:extLst>
          </p:cNvPr>
          <p:cNvCxnSpPr>
            <a:stCxn id="11" idx="5"/>
            <a:endCxn id="12" idx="3"/>
          </p:cNvCxnSpPr>
          <p:nvPr/>
        </p:nvCxnSpPr>
        <p:spPr>
          <a:xfrm>
            <a:off x="4714207" y="6451474"/>
            <a:ext cx="9037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文字方塊 19">
            <a:extLst>
              <a:ext uri="{FF2B5EF4-FFF2-40B4-BE49-F238E27FC236}">
                <a16:creationId xmlns:a16="http://schemas.microsoft.com/office/drawing/2014/main" id="{BECD59CC-05EC-4275-9482-D8BE0C830271}"/>
              </a:ext>
            </a:extLst>
          </p:cNvPr>
          <p:cNvSpPr txBox="1"/>
          <p:nvPr/>
        </p:nvSpPr>
        <p:spPr>
          <a:xfrm>
            <a:off x="2080871" y="6125462"/>
            <a:ext cx="45719" cy="369332"/>
          </a:xfrm>
          <a:prstGeom prst="rect">
            <a:avLst/>
          </a:prstGeom>
          <a:noFill/>
        </p:spPr>
        <p:txBody>
          <a:bodyPr wrap="square" rtlCol="0">
            <a:spAutoFit/>
          </a:bodyPr>
          <a:lstStyle/>
          <a:p>
            <a:r>
              <a:rPr lang="en-US" altLang="zh-TW" dirty="0"/>
              <a:t>1</a:t>
            </a:r>
            <a:endParaRPr lang="zh-TW" altLang="en-US" dirty="0"/>
          </a:p>
        </p:txBody>
      </p:sp>
      <p:sp>
        <p:nvSpPr>
          <p:cNvPr id="21" name="文字方塊 20">
            <a:extLst>
              <a:ext uri="{FF2B5EF4-FFF2-40B4-BE49-F238E27FC236}">
                <a16:creationId xmlns:a16="http://schemas.microsoft.com/office/drawing/2014/main" id="{4CA43059-663C-4A1C-B429-70693F9275FC}"/>
              </a:ext>
            </a:extLst>
          </p:cNvPr>
          <p:cNvSpPr txBox="1"/>
          <p:nvPr/>
        </p:nvSpPr>
        <p:spPr>
          <a:xfrm>
            <a:off x="3180248" y="6103802"/>
            <a:ext cx="1473936" cy="369332"/>
          </a:xfrm>
          <a:prstGeom prst="rect">
            <a:avLst/>
          </a:prstGeom>
          <a:noFill/>
        </p:spPr>
        <p:txBody>
          <a:bodyPr wrap="square" rtlCol="0">
            <a:spAutoFit/>
          </a:bodyPr>
          <a:lstStyle/>
          <a:p>
            <a:r>
              <a:rPr lang="en-US" altLang="zh-TW" dirty="0"/>
              <a:t>2</a:t>
            </a:r>
            <a:endParaRPr lang="zh-TW" altLang="en-US" dirty="0"/>
          </a:p>
        </p:txBody>
      </p:sp>
      <p:sp>
        <p:nvSpPr>
          <p:cNvPr id="22" name="文字方塊 21">
            <a:extLst>
              <a:ext uri="{FF2B5EF4-FFF2-40B4-BE49-F238E27FC236}">
                <a16:creationId xmlns:a16="http://schemas.microsoft.com/office/drawing/2014/main" id="{04F2620D-5B74-46A1-9AB8-B6EBAAB6EC88}"/>
              </a:ext>
            </a:extLst>
          </p:cNvPr>
          <p:cNvSpPr txBox="1"/>
          <p:nvPr/>
        </p:nvSpPr>
        <p:spPr>
          <a:xfrm>
            <a:off x="4393413" y="6096482"/>
            <a:ext cx="301686" cy="369332"/>
          </a:xfrm>
          <a:prstGeom prst="rect">
            <a:avLst/>
          </a:prstGeom>
          <a:noFill/>
        </p:spPr>
        <p:txBody>
          <a:bodyPr wrap="none" rtlCol="0">
            <a:spAutoFit/>
          </a:bodyPr>
          <a:lstStyle/>
          <a:p>
            <a:r>
              <a:rPr lang="en-US" altLang="zh-TW" dirty="0"/>
              <a:t>3</a:t>
            </a:r>
            <a:endParaRPr lang="zh-TW" altLang="en-US" dirty="0"/>
          </a:p>
        </p:txBody>
      </p:sp>
      <p:sp>
        <p:nvSpPr>
          <p:cNvPr id="23" name="文字方塊 22">
            <a:extLst>
              <a:ext uri="{FF2B5EF4-FFF2-40B4-BE49-F238E27FC236}">
                <a16:creationId xmlns:a16="http://schemas.microsoft.com/office/drawing/2014/main" id="{628420DB-A7A4-467A-85BE-0FA867BDC2F7}"/>
              </a:ext>
            </a:extLst>
          </p:cNvPr>
          <p:cNvSpPr txBox="1"/>
          <p:nvPr/>
        </p:nvSpPr>
        <p:spPr>
          <a:xfrm>
            <a:off x="5658277" y="6129950"/>
            <a:ext cx="301686" cy="369332"/>
          </a:xfrm>
          <a:prstGeom prst="rect">
            <a:avLst/>
          </a:prstGeom>
          <a:noFill/>
        </p:spPr>
        <p:txBody>
          <a:bodyPr wrap="none" rtlCol="0">
            <a:spAutoFit/>
          </a:bodyPr>
          <a:lstStyle/>
          <a:p>
            <a:r>
              <a:rPr lang="en-US" altLang="zh-TW" dirty="0"/>
              <a:t>4</a:t>
            </a:r>
            <a:endParaRPr lang="zh-TW" altLang="en-US" dirty="0"/>
          </a:p>
        </p:txBody>
      </p:sp>
      <p:sp>
        <p:nvSpPr>
          <p:cNvPr id="24" name="文字方塊 23">
            <a:extLst>
              <a:ext uri="{FF2B5EF4-FFF2-40B4-BE49-F238E27FC236}">
                <a16:creationId xmlns:a16="http://schemas.microsoft.com/office/drawing/2014/main" id="{31F14C85-20BA-43BB-B095-83133E3F2EC8}"/>
              </a:ext>
            </a:extLst>
          </p:cNvPr>
          <p:cNvSpPr txBox="1"/>
          <p:nvPr/>
        </p:nvSpPr>
        <p:spPr>
          <a:xfrm>
            <a:off x="2604129" y="5945284"/>
            <a:ext cx="396044" cy="369332"/>
          </a:xfrm>
          <a:prstGeom prst="rect">
            <a:avLst/>
          </a:prstGeom>
          <a:noFill/>
        </p:spPr>
        <p:txBody>
          <a:bodyPr wrap="square" rtlCol="0">
            <a:spAutoFit/>
          </a:bodyPr>
          <a:lstStyle/>
          <a:p>
            <a:r>
              <a:rPr lang="en-US" altLang="zh-TW" dirty="0"/>
              <a:t>-1</a:t>
            </a:r>
            <a:endParaRPr lang="zh-TW" altLang="en-US" dirty="0"/>
          </a:p>
        </p:txBody>
      </p:sp>
      <p:sp>
        <p:nvSpPr>
          <p:cNvPr id="25" name="文字方塊 24">
            <a:extLst>
              <a:ext uri="{FF2B5EF4-FFF2-40B4-BE49-F238E27FC236}">
                <a16:creationId xmlns:a16="http://schemas.microsoft.com/office/drawing/2014/main" id="{5C73E8C6-F8B7-437B-96FC-43BF2AFE3B96}"/>
              </a:ext>
            </a:extLst>
          </p:cNvPr>
          <p:cNvSpPr txBox="1"/>
          <p:nvPr/>
        </p:nvSpPr>
        <p:spPr>
          <a:xfrm>
            <a:off x="6264188" y="5976642"/>
            <a:ext cx="396044" cy="369332"/>
          </a:xfrm>
          <a:prstGeom prst="rect">
            <a:avLst/>
          </a:prstGeom>
          <a:noFill/>
        </p:spPr>
        <p:txBody>
          <a:bodyPr wrap="square" rtlCol="0">
            <a:spAutoFit/>
          </a:bodyPr>
          <a:lstStyle/>
          <a:p>
            <a:r>
              <a:rPr lang="en-US" altLang="zh-TW" dirty="0"/>
              <a:t>1</a:t>
            </a:r>
            <a:endParaRPr lang="zh-TW" altLang="en-US" dirty="0"/>
          </a:p>
        </p:txBody>
      </p:sp>
      <p:sp>
        <p:nvSpPr>
          <p:cNvPr id="26" name="橢圓 25">
            <a:extLst>
              <a:ext uri="{FF2B5EF4-FFF2-40B4-BE49-F238E27FC236}">
                <a16:creationId xmlns:a16="http://schemas.microsoft.com/office/drawing/2014/main" id="{F57C3AE5-8436-4E9B-AB8F-387226A0BDF7}"/>
              </a:ext>
            </a:extLst>
          </p:cNvPr>
          <p:cNvSpPr/>
          <p:nvPr/>
        </p:nvSpPr>
        <p:spPr>
          <a:xfrm>
            <a:off x="8066561" y="6057942"/>
            <a:ext cx="465879"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7" name="直線單箭頭接點 26">
            <a:extLst>
              <a:ext uri="{FF2B5EF4-FFF2-40B4-BE49-F238E27FC236}">
                <a16:creationId xmlns:a16="http://schemas.microsoft.com/office/drawing/2014/main" id="{D103597D-810A-4878-98BE-C895812D94A9}"/>
              </a:ext>
            </a:extLst>
          </p:cNvPr>
          <p:cNvCxnSpPr>
            <a:stCxn id="13" idx="6"/>
            <a:endCxn id="26" idx="2"/>
          </p:cNvCxnSpPr>
          <p:nvPr/>
        </p:nvCxnSpPr>
        <p:spPr>
          <a:xfrm>
            <a:off x="7236296" y="6288468"/>
            <a:ext cx="8302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接點: 肘形 27">
            <a:extLst>
              <a:ext uri="{FF2B5EF4-FFF2-40B4-BE49-F238E27FC236}">
                <a16:creationId xmlns:a16="http://schemas.microsoft.com/office/drawing/2014/main" id="{770D4665-E68B-42E9-81F1-3807986BF3D6}"/>
              </a:ext>
            </a:extLst>
          </p:cNvPr>
          <p:cNvCxnSpPr>
            <a:stCxn id="9" idx="4"/>
            <a:endCxn id="26" idx="4"/>
          </p:cNvCxnSpPr>
          <p:nvPr/>
        </p:nvCxnSpPr>
        <p:spPr>
          <a:xfrm rot="16200000" flipH="1">
            <a:off x="5229616" y="3449109"/>
            <a:ext cx="12700" cy="6139769"/>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橢圓 28">
            <a:extLst>
              <a:ext uri="{FF2B5EF4-FFF2-40B4-BE49-F238E27FC236}">
                <a16:creationId xmlns:a16="http://schemas.microsoft.com/office/drawing/2014/main" id="{74F10B22-40B3-446B-843A-82794E00FA5A}"/>
              </a:ext>
            </a:extLst>
          </p:cNvPr>
          <p:cNvSpPr/>
          <p:nvPr/>
        </p:nvSpPr>
        <p:spPr>
          <a:xfrm>
            <a:off x="8100392" y="6129950"/>
            <a:ext cx="396497" cy="34318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文字方塊 2">
            <a:extLst>
              <a:ext uri="{FF2B5EF4-FFF2-40B4-BE49-F238E27FC236}">
                <a16:creationId xmlns:a16="http://schemas.microsoft.com/office/drawing/2014/main" id="{8DB53C28-9805-4F32-919E-5182CB907820}"/>
              </a:ext>
            </a:extLst>
          </p:cNvPr>
          <p:cNvSpPr txBox="1"/>
          <p:nvPr/>
        </p:nvSpPr>
        <p:spPr>
          <a:xfrm>
            <a:off x="3599892" y="6138824"/>
            <a:ext cx="791724" cy="369332"/>
          </a:xfrm>
          <a:prstGeom prst="rect">
            <a:avLst/>
          </a:prstGeom>
          <a:noFill/>
        </p:spPr>
        <p:txBody>
          <a:bodyPr wrap="square" rtlCol="0">
            <a:spAutoFit/>
          </a:bodyPr>
          <a:lstStyle/>
          <a:p>
            <a:r>
              <a:rPr lang="en-US" altLang="zh-TW" dirty="0"/>
              <a:t>0.405</a:t>
            </a:r>
            <a:endParaRPr lang="zh-TW" altLang="en-US" dirty="0"/>
          </a:p>
        </p:txBody>
      </p:sp>
    </p:spTree>
    <p:extLst>
      <p:ext uri="{BB962C8B-B14F-4D97-AF65-F5344CB8AC3E}">
        <p14:creationId xmlns:p14="http://schemas.microsoft.com/office/powerpoint/2010/main" val="3230665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Q Learning</a:t>
            </a:r>
            <a:endParaRPr lang="zh-TW" alt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BDB5D7A0-C88B-4137-841B-209F7B23DBB6}"/>
                  </a:ext>
                </a:extLst>
              </p:cNvPr>
              <p:cNvGraphicFramePr>
                <a:graphicFrameLocks noGrp="1"/>
              </p:cNvGraphicFramePr>
              <p:nvPr>
                <p:ph idx="1"/>
                <p:extLst>
                  <p:ext uri="{D42A27DB-BD31-4B8C-83A1-F6EECF244321}">
                    <p14:modId xmlns:p14="http://schemas.microsoft.com/office/powerpoint/2010/main" val="1051417666"/>
                  </p:ext>
                </p:extLst>
              </p:nvPr>
            </p:nvGraphicFramePr>
            <p:xfrm>
              <a:off x="457200" y="1600200"/>
              <a:ext cx="8229600" cy="2219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42729537"/>
                        </a:ext>
                      </a:extLst>
                    </a:gridCol>
                    <a:gridCol w="2743200">
                      <a:extLst>
                        <a:ext uri="{9D8B030D-6E8A-4147-A177-3AD203B41FA5}">
                          <a16:colId xmlns:a16="http://schemas.microsoft.com/office/drawing/2014/main" val="1328543671"/>
                        </a:ext>
                      </a:extLst>
                    </a:gridCol>
                    <a:gridCol w="2743200">
                      <a:extLst>
                        <a:ext uri="{9D8B030D-6E8A-4147-A177-3AD203B41FA5}">
                          <a16:colId xmlns:a16="http://schemas.microsoft.com/office/drawing/2014/main" val="401029752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𝜶</m:t>
                                </m:r>
                                <m:r>
                                  <a:rPr lang="en-US" altLang="zh-TW" b="1" i="1" smtClean="0">
                                    <a:latin typeface="Cambria Math" panose="02040503050406030204" pitchFamily="18" charset="0"/>
                                  </a:rPr>
                                  <m:t>=</m:t>
                                </m:r>
                                <m:r>
                                  <a:rPr lang="en-US" altLang="zh-TW" b="1" i="1" smtClean="0">
                                    <a:latin typeface="Cambria Math" panose="02040503050406030204" pitchFamily="18" charset="0"/>
                                  </a:rPr>
                                  <m:t>𝟎</m:t>
                                </m:r>
                                <m:r>
                                  <a:rPr lang="en-US" altLang="zh-TW" b="1" i="1" smtClean="0">
                                    <a:latin typeface="Cambria Math" panose="02040503050406030204" pitchFamily="18" charset="0"/>
                                  </a:rPr>
                                  <m:t>.</m:t>
                                </m:r>
                                <m:r>
                                  <a:rPr lang="en-US" altLang="zh-TW" b="1" i="1" smtClean="0">
                                    <a:latin typeface="Cambria Math" panose="02040503050406030204" pitchFamily="18" charset="0"/>
                                  </a:rPr>
                                  <m:t>𝟓</m:t>
                                </m:r>
                                <m:r>
                                  <a:rPr lang="en-US" altLang="zh-TW" b="1" i="1" smtClean="0">
                                    <a:latin typeface="Cambria Math" panose="02040503050406030204" pitchFamily="18" charset="0"/>
                                  </a:rPr>
                                  <m:t>, </m:t>
                                </m:r>
                                <m:r>
                                  <a:rPr lang="en-US" altLang="zh-TW" b="1" i="1" smtClean="0">
                                    <a:latin typeface="Cambria Math" panose="02040503050406030204" pitchFamily="18" charset="0"/>
                                  </a:rPr>
                                  <m:t>𝜸</m:t>
                                </m:r>
                                <m:r>
                                  <a:rPr lang="en-US" altLang="zh-TW" b="1" i="1" smtClean="0">
                                    <a:latin typeface="Cambria Math" panose="02040503050406030204" pitchFamily="18" charset="0"/>
                                  </a:rPr>
                                  <m:t>=</m:t>
                                </m:r>
                                <m:r>
                                  <a:rPr lang="en-US" altLang="zh-TW" b="1" i="1" smtClean="0">
                                    <a:latin typeface="Cambria Math" panose="02040503050406030204" pitchFamily="18" charset="0"/>
                                  </a:rPr>
                                  <m:t>𝟎</m:t>
                                </m:r>
                                <m:r>
                                  <a:rPr lang="en-US" altLang="zh-TW" b="1" i="1" smtClean="0">
                                    <a:latin typeface="Cambria Math" panose="02040503050406030204" pitchFamily="18" charset="0"/>
                                  </a:rPr>
                                  <m:t>.</m:t>
                                </m:r>
                                <m:r>
                                  <a:rPr lang="en-US" altLang="zh-TW" b="1" i="1" smtClean="0">
                                    <a:latin typeface="Cambria Math" panose="02040503050406030204" pitchFamily="18" charset="0"/>
                                  </a:rPr>
                                  <m:t>𝟗</m:t>
                                </m:r>
                              </m:oMath>
                            </m:oMathPara>
                          </a14:m>
                          <a:endParaRPr lang="zh-TW" altLang="en-US" dirty="0"/>
                        </a:p>
                      </a:txBody>
                      <a:tcPr/>
                    </a:tc>
                    <a:tc>
                      <a:txBody>
                        <a:bodyPr/>
                        <a:lstStyle/>
                        <a:p>
                          <a:pPr algn="ctr"/>
                          <a14:m>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𝒔</m:t>
                                  </m:r>
                                </m:e>
                                <m:sub>
                                  <m:r>
                                    <a:rPr lang="en-US" altLang="zh-TW" b="1" i="1" smtClean="0">
                                      <a:latin typeface="Cambria Math" panose="02040503050406030204" pitchFamily="18" charset="0"/>
                                    </a:rPr>
                                    <m:t>𝟏</m:t>
                                  </m:r>
                                </m:sub>
                              </m:sSub>
                              <m:r>
                                <a:rPr lang="en-US" altLang="zh-TW" b="1" i="1" smtClean="0">
                                  <a:latin typeface="Cambria Math" panose="02040503050406030204" pitchFamily="18" charset="0"/>
                                </a:rPr>
                                <m:t>:</m:t>
                              </m:r>
                            </m:oMath>
                          </a14:m>
                          <a:r>
                            <a:rPr lang="en-US" altLang="zh-TW" dirty="0"/>
                            <a:t>Left</a:t>
                          </a:r>
                          <a:endParaRPr lang="zh-TW" altLang="en-US" dirty="0"/>
                        </a:p>
                      </a:txBody>
                      <a:tcPr/>
                    </a:tc>
                    <a:tc>
                      <a:txBody>
                        <a:bodyPr/>
                        <a:lstStyle/>
                        <a:p>
                          <a:pPr algn="ctr"/>
                          <a14:m>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𝒔</m:t>
                                  </m:r>
                                </m:e>
                                <m:sub>
                                  <m:r>
                                    <a:rPr lang="en-US" altLang="zh-TW" b="1" i="1" smtClean="0">
                                      <a:latin typeface="Cambria Math" panose="02040503050406030204" pitchFamily="18" charset="0"/>
                                    </a:rPr>
                                    <m:t>𝟐</m:t>
                                  </m:r>
                                </m:sub>
                              </m:sSub>
                              <m:r>
                                <a:rPr lang="en-US" altLang="zh-TW" b="1" i="1" smtClean="0">
                                  <a:latin typeface="Cambria Math" panose="02040503050406030204" pitchFamily="18" charset="0"/>
                                </a:rPr>
                                <m:t>:</m:t>
                              </m:r>
                            </m:oMath>
                          </a14:m>
                          <a:r>
                            <a:rPr lang="en-US" altLang="zh-TW" dirty="0"/>
                            <a:t>Right</a:t>
                          </a:r>
                          <a:endParaRPr lang="zh-TW" altLang="en-US" dirty="0"/>
                        </a:p>
                      </a:txBody>
                      <a:tcPr/>
                    </a:tc>
                    <a:extLst>
                      <a:ext uri="{0D108BD9-81ED-4DB2-BD59-A6C34878D82A}">
                        <a16:rowId xmlns:a16="http://schemas.microsoft.com/office/drawing/2014/main" val="4249723552"/>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1</a:t>
                          </a:r>
                          <a:endParaRPr lang="zh-TW" altLang="en-US" sz="1800" kern="1200" dirty="0">
                            <a:solidFill>
                              <a:schemeClr val="dk1"/>
                            </a:solidFill>
                            <a:latin typeface="+mn-lt"/>
                            <a:ea typeface="+mn-ea"/>
                            <a:cs typeface="+mn-cs"/>
                          </a:endParaRPr>
                        </a:p>
                      </a:txBody>
                      <a:tcPr/>
                    </a:tc>
                    <a:tc gridSpan="2">
                      <a:txBody>
                        <a:bodyPr/>
                        <a:lstStyle/>
                        <a:p>
                          <a:pPr algn="ctr"/>
                          <a:r>
                            <a:rPr lang="en-US" altLang="zh-TW" dirty="0"/>
                            <a:t>0, Game over</a:t>
                          </a:r>
                          <a:endParaRPr lang="zh-TW" altLang="en-US" dirty="0"/>
                        </a:p>
                      </a:txBody>
                      <a:tcPr/>
                    </a:tc>
                    <a:tc hMerge="1">
                      <a:txBody>
                        <a:bodyPr/>
                        <a:lstStyle/>
                        <a:p>
                          <a:pPr algn="ctr"/>
                          <a:r>
                            <a:rPr lang="en-US" altLang="zh-TW" dirty="0"/>
                            <a:t>0</a:t>
                          </a:r>
                          <a:endParaRPr lang="zh-TW" altLang="en-US" dirty="0"/>
                        </a:p>
                      </a:txBody>
                      <a:tcPr/>
                    </a:tc>
                    <a:extLst>
                      <a:ext uri="{0D108BD9-81ED-4DB2-BD59-A6C34878D82A}">
                        <a16:rowId xmlns:a16="http://schemas.microsoft.com/office/drawing/2014/main" val="2334998379"/>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2</a:t>
                          </a:r>
                          <a:endParaRPr lang="zh-TW" altLang="en-US" sz="1800" kern="1200" dirty="0">
                            <a:solidFill>
                              <a:schemeClr val="dk1"/>
                            </a:solidFill>
                            <a:latin typeface="+mn-lt"/>
                            <a:ea typeface="+mn-ea"/>
                            <a:cs typeface="+mn-cs"/>
                          </a:endParaRPr>
                        </a:p>
                      </a:txBody>
                      <a:tcPr/>
                    </a:tc>
                    <a:tc>
                      <a:txBody>
                        <a:bodyPr/>
                        <a:lstStyle/>
                        <a:p>
                          <a:pPr algn="ctr"/>
                          <a:r>
                            <a:rPr lang="en-US" altLang="zh-TW" dirty="0"/>
                            <a:t>-1, State 1</a:t>
                          </a:r>
                          <a:endParaRPr lang="zh-TW" altLang="en-US" dirty="0"/>
                        </a:p>
                      </a:txBody>
                      <a:tcPr/>
                    </a:tc>
                    <a:tc>
                      <a:txBody>
                        <a:bodyPr/>
                        <a:lstStyle/>
                        <a:p>
                          <a:pPr algn="ctr"/>
                          <a:r>
                            <a:rPr lang="en-US" altLang="zh-TW" dirty="0">
                              <a:solidFill>
                                <a:schemeClr val="tx1"/>
                              </a:solidFill>
                            </a:rPr>
                            <a:t>0.405, State 3</a:t>
                          </a:r>
                          <a:endParaRPr lang="zh-TW" altLang="en-US" dirty="0">
                            <a:solidFill>
                              <a:schemeClr val="tx1"/>
                            </a:solidFill>
                          </a:endParaRPr>
                        </a:p>
                      </a:txBody>
                      <a:tcPr/>
                    </a:tc>
                    <a:extLst>
                      <a:ext uri="{0D108BD9-81ED-4DB2-BD59-A6C34878D82A}">
                        <a16:rowId xmlns:a16="http://schemas.microsoft.com/office/drawing/2014/main" val="2806613416"/>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3</a:t>
                          </a:r>
                        </a:p>
                      </a:txBody>
                      <a:tcPr marL="7620" marR="7620" marT="7620" marB="0" anchor="ctr"/>
                    </a:tc>
                    <a:tc>
                      <a:txBody>
                        <a:bodyPr/>
                        <a:lstStyle/>
                        <a:p>
                          <a:pPr algn="ctr"/>
                          <a:r>
                            <a:rPr lang="en-US" altLang="zh-TW" dirty="0"/>
                            <a:t>0, State 2</a:t>
                          </a:r>
                          <a:endParaRPr lang="zh-TW" altLang="en-US" dirty="0"/>
                        </a:p>
                      </a:txBody>
                      <a:tcPr/>
                    </a:tc>
                    <a:tc>
                      <a:txBody>
                        <a:bodyPr/>
                        <a:lstStyle/>
                        <a:p>
                          <a:pPr algn="ctr"/>
                          <a:r>
                            <a:rPr lang="en-US" altLang="zh-TW" dirty="0">
                              <a:solidFill>
                                <a:srgbClr val="FF0000"/>
                              </a:solidFill>
                            </a:rPr>
                            <a:t>0.776960526</a:t>
                          </a:r>
                          <a:r>
                            <a:rPr lang="en-US" altLang="zh-TW" dirty="0"/>
                            <a:t>, State 4</a:t>
                          </a:r>
                          <a:endParaRPr lang="zh-TW" altLang="en-US" dirty="0">
                            <a:solidFill>
                              <a:srgbClr val="FF0000"/>
                            </a:solidFill>
                          </a:endParaRPr>
                        </a:p>
                      </a:txBody>
                      <a:tcPr/>
                    </a:tc>
                    <a:extLst>
                      <a:ext uri="{0D108BD9-81ED-4DB2-BD59-A6C34878D82A}">
                        <a16:rowId xmlns:a16="http://schemas.microsoft.com/office/drawing/2014/main" val="2756867369"/>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4</a:t>
                          </a:r>
                        </a:p>
                      </a:txBody>
                      <a:tcPr marL="7620" marR="7620" marT="7620" marB="0" anchor="ctr"/>
                    </a:tc>
                    <a:tc>
                      <a:txBody>
                        <a:bodyPr/>
                        <a:lstStyle/>
                        <a:p>
                          <a:pPr algn="ctr"/>
                          <a:r>
                            <a:rPr lang="en-US" altLang="zh-TW" dirty="0"/>
                            <a:t>0, State 3</a:t>
                          </a:r>
                          <a:endParaRPr lang="zh-TW" altLang="en-US" dirty="0"/>
                        </a:p>
                      </a:txBody>
                      <a:tcPr/>
                    </a:tc>
                    <a:tc>
                      <a:txBody>
                        <a:bodyPr/>
                        <a:lstStyle/>
                        <a:p>
                          <a:pPr algn="ctr"/>
                          <a:r>
                            <a:rPr lang="en-US" altLang="zh-TW" dirty="0"/>
                            <a:t>1, State 5</a:t>
                          </a:r>
                          <a:endParaRPr lang="zh-TW" altLang="en-US" dirty="0"/>
                        </a:p>
                      </a:txBody>
                      <a:tcPr/>
                    </a:tc>
                    <a:extLst>
                      <a:ext uri="{0D108BD9-81ED-4DB2-BD59-A6C34878D82A}">
                        <a16:rowId xmlns:a16="http://schemas.microsoft.com/office/drawing/2014/main" val="2076074664"/>
                      </a:ext>
                    </a:extLst>
                  </a:tr>
                  <a:tr h="190624">
                    <a:tc>
                      <a:txBody>
                        <a:bodyPr/>
                        <a:lstStyle/>
                        <a:p>
                          <a:pPr marL="0" algn="ctr" defTabSz="914400" rtl="0" eaLnBrk="1" fontAlgn="ctr" latinLnBrk="0" hangingPunct="1"/>
                          <a:r>
                            <a:rPr lang="en-US" sz="1800" kern="1200" dirty="0">
                              <a:solidFill>
                                <a:schemeClr val="dk1"/>
                              </a:solidFill>
                              <a:latin typeface="+mn-lt"/>
                              <a:ea typeface="+mn-ea"/>
                              <a:cs typeface="+mn-cs"/>
                            </a:rPr>
                            <a:t>State 5</a:t>
                          </a:r>
                        </a:p>
                      </a:txBody>
                      <a:tcPr marL="7620" marR="7620" marT="7620" marB="0"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Game over</a:t>
                          </a:r>
                          <a:endParaRPr lang="zh-TW" altLang="en-US" dirty="0"/>
                        </a:p>
                      </a:txBody>
                      <a:tcPr/>
                    </a:tc>
                    <a:extLst>
                      <a:ext uri="{0D108BD9-81ED-4DB2-BD59-A6C34878D82A}">
                        <a16:rowId xmlns:a16="http://schemas.microsoft.com/office/drawing/2014/main" val="2492673390"/>
                      </a:ext>
                    </a:extLst>
                  </a:tr>
                </a:tbl>
              </a:graphicData>
            </a:graphic>
          </p:graphicFrame>
        </mc:Choice>
        <mc:Fallback xmlns="">
          <p:graphicFrame>
            <p:nvGraphicFramePr>
              <p:cNvPr id="4" name="表格 4">
                <a:extLst>
                  <a:ext uri="{FF2B5EF4-FFF2-40B4-BE49-F238E27FC236}">
                    <a16:creationId xmlns:a16="http://schemas.microsoft.com/office/drawing/2014/main" id="{BDB5D7A0-C88B-4137-841B-209F7B23DBB6}"/>
                  </a:ext>
                </a:extLst>
              </p:cNvPr>
              <p:cNvGraphicFramePr>
                <a:graphicFrameLocks noGrp="1"/>
              </p:cNvGraphicFramePr>
              <p:nvPr>
                <p:ph idx="1"/>
                <p:extLst>
                  <p:ext uri="{D42A27DB-BD31-4B8C-83A1-F6EECF244321}">
                    <p14:modId xmlns:p14="http://schemas.microsoft.com/office/powerpoint/2010/main" val="1051417666"/>
                  </p:ext>
                </p:extLst>
              </p:nvPr>
            </p:nvGraphicFramePr>
            <p:xfrm>
              <a:off x="457200" y="1600200"/>
              <a:ext cx="8229600" cy="2219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42729537"/>
                        </a:ext>
                      </a:extLst>
                    </a:gridCol>
                    <a:gridCol w="2743200">
                      <a:extLst>
                        <a:ext uri="{9D8B030D-6E8A-4147-A177-3AD203B41FA5}">
                          <a16:colId xmlns:a16="http://schemas.microsoft.com/office/drawing/2014/main" val="1328543671"/>
                        </a:ext>
                      </a:extLst>
                    </a:gridCol>
                    <a:gridCol w="2743200">
                      <a:extLst>
                        <a:ext uri="{9D8B030D-6E8A-4147-A177-3AD203B41FA5}">
                          <a16:colId xmlns:a16="http://schemas.microsoft.com/office/drawing/2014/main" val="4010297521"/>
                        </a:ext>
                      </a:extLst>
                    </a:gridCol>
                  </a:tblGrid>
                  <a:tr h="370840">
                    <a:tc>
                      <a:txBody>
                        <a:bodyPr/>
                        <a:lstStyle/>
                        <a:p>
                          <a:endParaRPr lang="zh-TW"/>
                        </a:p>
                      </a:txBody>
                      <a:tcPr>
                        <a:blipFill>
                          <a:blip r:embed="rId3"/>
                          <a:stretch>
                            <a:fillRect l="-444" t="-8197" r="-201111" b="-526230"/>
                          </a:stretch>
                        </a:blipFill>
                      </a:tcPr>
                    </a:tc>
                    <a:tc>
                      <a:txBody>
                        <a:bodyPr/>
                        <a:lstStyle/>
                        <a:p>
                          <a:endParaRPr lang="zh-TW"/>
                        </a:p>
                      </a:txBody>
                      <a:tcPr>
                        <a:blipFill>
                          <a:blip r:embed="rId3"/>
                          <a:stretch>
                            <a:fillRect l="-100444" t="-8197" r="-101111" b="-526230"/>
                          </a:stretch>
                        </a:blipFill>
                      </a:tcPr>
                    </a:tc>
                    <a:tc>
                      <a:txBody>
                        <a:bodyPr/>
                        <a:lstStyle/>
                        <a:p>
                          <a:endParaRPr lang="zh-TW"/>
                        </a:p>
                      </a:txBody>
                      <a:tcPr>
                        <a:blipFill>
                          <a:blip r:embed="rId3"/>
                          <a:stretch>
                            <a:fillRect l="-200444" t="-8197" r="-1111" b="-526230"/>
                          </a:stretch>
                        </a:blipFill>
                      </a:tcPr>
                    </a:tc>
                    <a:extLst>
                      <a:ext uri="{0D108BD9-81ED-4DB2-BD59-A6C34878D82A}">
                        <a16:rowId xmlns:a16="http://schemas.microsoft.com/office/drawing/2014/main" val="4249723552"/>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1</a:t>
                          </a:r>
                          <a:endParaRPr lang="zh-TW" altLang="en-US" sz="1800" kern="1200" dirty="0">
                            <a:solidFill>
                              <a:schemeClr val="dk1"/>
                            </a:solidFill>
                            <a:latin typeface="+mn-lt"/>
                            <a:ea typeface="+mn-ea"/>
                            <a:cs typeface="+mn-cs"/>
                          </a:endParaRPr>
                        </a:p>
                      </a:txBody>
                      <a:tcPr/>
                    </a:tc>
                    <a:tc gridSpan="2">
                      <a:txBody>
                        <a:bodyPr/>
                        <a:lstStyle/>
                        <a:p>
                          <a:pPr algn="ctr"/>
                          <a:r>
                            <a:rPr lang="en-US" altLang="zh-TW" dirty="0"/>
                            <a:t>0, Game over</a:t>
                          </a:r>
                          <a:endParaRPr lang="zh-TW" altLang="en-US" dirty="0"/>
                        </a:p>
                      </a:txBody>
                      <a:tcPr/>
                    </a:tc>
                    <a:tc hMerge="1">
                      <a:txBody>
                        <a:bodyPr/>
                        <a:lstStyle/>
                        <a:p>
                          <a:pPr algn="ctr"/>
                          <a:r>
                            <a:rPr lang="en-US" altLang="zh-TW" dirty="0"/>
                            <a:t>0</a:t>
                          </a:r>
                          <a:endParaRPr lang="zh-TW" altLang="en-US" dirty="0"/>
                        </a:p>
                      </a:txBody>
                      <a:tcPr/>
                    </a:tc>
                    <a:extLst>
                      <a:ext uri="{0D108BD9-81ED-4DB2-BD59-A6C34878D82A}">
                        <a16:rowId xmlns:a16="http://schemas.microsoft.com/office/drawing/2014/main" val="2334998379"/>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2</a:t>
                          </a:r>
                          <a:endParaRPr lang="zh-TW" altLang="en-US" sz="1800" kern="1200" dirty="0">
                            <a:solidFill>
                              <a:schemeClr val="dk1"/>
                            </a:solidFill>
                            <a:latin typeface="+mn-lt"/>
                            <a:ea typeface="+mn-ea"/>
                            <a:cs typeface="+mn-cs"/>
                          </a:endParaRPr>
                        </a:p>
                      </a:txBody>
                      <a:tcPr/>
                    </a:tc>
                    <a:tc>
                      <a:txBody>
                        <a:bodyPr/>
                        <a:lstStyle/>
                        <a:p>
                          <a:pPr algn="ctr"/>
                          <a:r>
                            <a:rPr lang="en-US" altLang="zh-TW" dirty="0"/>
                            <a:t>-1, State 1</a:t>
                          </a:r>
                          <a:endParaRPr lang="zh-TW" altLang="en-US" dirty="0"/>
                        </a:p>
                      </a:txBody>
                      <a:tcPr/>
                    </a:tc>
                    <a:tc>
                      <a:txBody>
                        <a:bodyPr/>
                        <a:lstStyle/>
                        <a:p>
                          <a:pPr algn="ctr"/>
                          <a:r>
                            <a:rPr lang="en-US" altLang="zh-TW" dirty="0">
                              <a:solidFill>
                                <a:schemeClr val="tx1"/>
                              </a:solidFill>
                            </a:rPr>
                            <a:t>0.405, State 3</a:t>
                          </a:r>
                          <a:endParaRPr lang="zh-TW" altLang="en-US" dirty="0">
                            <a:solidFill>
                              <a:schemeClr val="tx1"/>
                            </a:solidFill>
                          </a:endParaRPr>
                        </a:p>
                      </a:txBody>
                      <a:tcPr/>
                    </a:tc>
                    <a:extLst>
                      <a:ext uri="{0D108BD9-81ED-4DB2-BD59-A6C34878D82A}">
                        <a16:rowId xmlns:a16="http://schemas.microsoft.com/office/drawing/2014/main" val="2806613416"/>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3</a:t>
                          </a:r>
                        </a:p>
                      </a:txBody>
                      <a:tcPr marL="7620" marR="7620" marT="7620" marB="0" anchor="ctr"/>
                    </a:tc>
                    <a:tc>
                      <a:txBody>
                        <a:bodyPr/>
                        <a:lstStyle/>
                        <a:p>
                          <a:pPr algn="ctr"/>
                          <a:r>
                            <a:rPr lang="en-US" altLang="zh-TW" dirty="0"/>
                            <a:t>0, State 2</a:t>
                          </a:r>
                          <a:endParaRPr lang="zh-TW" altLang="en-US" dirty="0"/>
                        </a:p>
                      </a:txBody>
                      <a:tcPr/>
                    </a:tc>
                    <a:tc>
                      <a:txBody>
                        <a:bodyPr/>
                        <a:lstStyle/>
                        <a:p>
                          <a:pPr algn="ctr"/>
                          <a:r>
                            <a:rPr lang="en-US" altLang="zh-TW" dirty="0">
                              <a:solidFill>
                                <a:srgbClr val="FF0000"/>
                              </a:solidFill>
                            </a:rPr>
                            <a:t>0.776960526</a:t>
                          </a:r>
                          <a:r>
                            <a:rPr lang="en-US" altLang="zh-TW" dirty="0"/>
                            <a:t>, State 4</a:t>
                          </a:r>
                          <a:endParaRPr lang="zh-TW" altLang="en-US" dirty="0">
                            <a:solidFill>
                              <a:srgbClr val="FF0000"/>
                            </a:solidFill>
                          </a:endParaRPr>
                        </a:p>
                      </a:txBody>
                      <a:tcPr/>
                    </a:tc>
                    <a:extLst>
                      <a:ext uri="{0D108BD9-81ED-4DB2-BD59-A6C34878D82A}">
                        <a16:rowId xmlns:a16="http://schemas.microsoft.com/office/drawing/2014/main" val="2756867369"/>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4</a:t>
                          </a:r>
                        </a:p>
                      </a:txBody>
                      <a:tcPr marL="7620" marR="7620" marT="7620" marB="0" anchor="ctr"/>
                    </a:tc>
                    <a:tc>
                      <a:txBody>
                        <a:bodyPr/>
                        <a:lstStyle/>
                        <a:p>
                          <a:pPr algn="ctr"/>
                          <a:r>
                            <a:rPr lang="en-US" altLang="zh-TW" dirty="0"/>
                            <a:t>0, State 3</a:t>
                          </a:r>
                          <a:endParaRPr lang="zh-TW" altLang="en-US" dirty="0"/>
                        </a:p>
                      </a:txBody>
                      <a:tcPr/>
                    </a:tc>
                    <a:tc>
                      <a:txBody>
                        <a:bodyPr/>
                        <a:lstStyle/>
                        <a:p>
                          <a:pPr algn="ctr"/>
                          <a:r>
                            <a:rPr lang="en-US" altLang="zh-TW" dirty="0"/>
                            <a:t>1, State 5</a:t>
                          </a:r>
                          <a:endParaRPr lang="zh-TW" altLang="en-US" dirty="0"/>
                        </a:p>
                      </a:txBody>
                      <a:tcPr/>
                    </a:tc>
                    <a:extLst>
                      <a:ext uri="{0D108BD9-81ED-4DB2-BD59-A6C34878D82A}">
                        <a16:rowId xmlns:a16="http://schemas.microsoft.com/office/drawing/2014/main" val="2076074664"/>
                      </a:ext>
                    </a:extLst>
                  </a:tr>
                  <a:tr h="365760">
                    <a:tc>
                      <a:txBody>
                        <a:bodyPr/>
                        <a:lstStyle/>
                        <a:p>
                          <a:pPr marL="0" algn="ctr" defTabSz="914400" rtl="0" eaLnBrk="1" fontAlgn="ctr" latinLnBrk="0" hangingPunct="1"/>
                          <a:r>
                            <a:rPr lang="en-US" sz="1800" kern="1200" dirty="0">
                              <a:solidFill>
                                <a:schemeClr val="dk1"/>
                              </a:solidFill>
                              <a:latin typeface="+mn-lt"/>
                              <a:ea typeface="+mn-ea"/>
                              <a:cs typeface="+mn-cs"/>
                            </a:rPr>
                            <a:t>State 5</a:t>
                          </a:r>
                        </a:p>
                      </a:txBody>
                      <a:tcPr marL="7620" marR="7620" marT="7620" marB="0"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Game over</a:t>
                          </a:r>
                          <a:endParaRPr lang="zh-TW" altLang="en-US" dirty="0"/>
                        </a:p>
                      </a:txBody>
                      <a:tcPr/>
                    </a:tc>
                    <a:extLst>
                      <a:ext uri="{0D108BD9-81ED-4DB2-BD59-A6C34878D82A}">
                        <a16:rowId xmlns:a16="http://schemas.microsoft.com/office/drawing/2014/main" val="2492673390"/>
                      </a:ext>
                    </a:extLst>
                  </a:tr>
                </a:tbl>
              </a:graphicData>
            </a:graphic>
          </p:graphicFrame>
        </mc:Fallback>
      </mc:AlternateContent>
      <p:graphicFrame>
        <p:nvGraphicFramePr>
          <p:cNvPr id="5" name="表格 5">
            <a:extLst>
              <a:ext uri="{FF2B5EF4-FFF2-40B4-BE49-F238E27FC236}">
                <a16:creationId xmlns:a16="http://schemas.microsoft.com/office/drawing/2014/main" id="{17092CE7-BC66-445A-9190-93F4AD100136}"/>
              </a:ext>
            </a:extLst>
          </p:cNvPr>
          <p:cNvGraphicFramePr>
            <a:graphicFrameLocks noGrp="1"/>
          </p:cNvGraphicFramePr>
          <p:nvPr>
            <p:extLst>
              <p:ext uri="{D42A27DB-BD31-4B8C-83A1-F6EECF244321}">
                <p14:modId xmlns:p14="http://schemas.microsoft.com/office/powerpoint/2010/main" val="2069009392"/>
              </p:ext>
            </p:extLst>
          </p:nvPr>
        </p:nvGraphicFramePr>
        <p:xfrm>
          <a:off x="1524000" y="5373216"/>
          <a:ext cx="6096000" cy="74168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4168419058"/>
                    </a:ext>
                  </a:extLst>
                </a:gridCol>
                <a:gridCol w="1219200">
                  <a:extLst>
                    <a:ext uri="{9D8B030D-6E8A-4147-A177-3AD203B41FA5}">
                      <a16:colId xmlns:a16="http://schemas.microsoft.com/office/drawing/2014/main" val="3228948909"/>
                    </a:ext>
                  </a:extLst>
                </a:gridCol>
                <a:gridCol w="1219200">
                  <a:extLst>
                    <a:ext uri="{9D8B030D-6E8A-4147-A177-3AD203B41FA5}">
                      <a16:colId xmlns:a16="http://schemas.microsoft.com/office/drawing/2014/main" val="4163800176"/>
                    </a:ext>
                  </a:extLst>
                </a:gridCol>
                <a:gridCol w="1219200">
                  <a:extLst>
                    <a:ext uri="{9D8B030D-6E8A-4147-A177-3AD203B41FA5}">
                      <a16:colId xmlns:a16="http://schemas.microsoft.com/office/drawing/2014/main" val="2489362430"/>
                    </a:ext>
                  </a:extLst>
                </a:gridCol>
                <a:gridCol w="1219200">
                  <a:extLst>
                    <a:ext uri="{9D8B030D-6E8A-4147-A177-3AD203B41FA5}">
                      <a16:colId xmlns:a16="http://schemas.microsoft.com/office/drawing/2014/main" val="3033016758"/>
                    </a:ext>
                  </a:extLst>
                </a:gridCol>
              </a:tblGrid>
              <a:tr h="370840">
                <a:tc>
                  <a:txBody>
                    <a:bodyPr/>
                    <a:lstStyle/>
                    <a:p>
                      <a:endParaRPr lang="zh-TW" altLang="en-US" dirty="0"/>
                    </a:p>
                  </a:txBody>
                  <a:tcPr>
                    <a:solidFill>
                      <a:schemeClr val="tx1"/>
                    </a:solidFill>
                  </a:tcPr>
                </a:tc>
                <a:tc>
                  <a:txBody>
                    <a:bodyPr/>
                    <a:lstStyle/>
                    <a:p>
                      <a:endParaRPr lang="zh-TW" altLang="en-US" dirty="0"/>
                    </a:p>
                  </a:txBody>
                  <a:tcPr>
                    <a:solidFill>
                      <a:schemeClr val="accent1"/>
                    </a:solidFill>
                  </a:tcPr>
                </a:tc>
                <a:tc>
                  <a:txBody>
                    <a:bodyPr/>
                    <a:lstStyle/>
                    <a:p>
                      <a:endParaRPr lang="zh-TW" altLang="en-US" dirty="0"/>
                    </a:p>
                  </a:txBody>
                  <a:tcPr>
                    <a:solidFill>
                      <a:schemeClr val="accent1"/>
                    </a:solidFill>
                  </a:tcPr>
                </a:tc>
                <a:tc>
                  <a:txBody>
                    <a:bodyPr/>
                    <a:lstStyle/>
                    <a:p>
                      <a:endParaRPr lang="zh-TW" altLang="en-US" dirty="0"/>
                    </a:p>
                  </a:txBody>
                  <a:tcPr>
                    <a:solidFill>
                      <a:srgbClr val="FFFF00"/>
                    </a:solidFill>
                  </a:tcPr>
                </a:tc>
                <a:tc>
                  <a:txBody>
                    <a:bodyPr/>
                    <a:lstStyle/>
                    <a:p>
                      <a:endParaRPr lang="zh-TW" altLang="en-US" dirty="0"/>
                    </a:p>
                  </a:txBody>
                  <a:tcPr>
                    <a:solidFill>
                      <a:srgbClr val="FF0000"/>
                    </a:solidFill>
                  </a:tcPr>
                </a:tc>
                <a:extLst>
                  <a:ext uri="{0D108BD9-81ED-4DB2-BD59-A6C34878D82A}">
                    <a16:rowId xmlns:a16="http://schemas.microsoft.com/office/drawing/2014/main" val="3724245678"/>
                  </a:ext>
                </a:extLst>
              </a:tr>
              <a:tr h="370840">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solidFill>
                      <a:schemeClr val="tx2">
                        <a:lumMod val="20000"/>
                        <a:lumOff val="80000"/>
                      </a:schemeClr>
                    </a:solidFill>
                  </a:tcPr>
                </a:tc>
                <a:extLst>
                  <a:ext uri="{0D108BD9-81ED-4DB2-BD59-A6C34878D82A}">
                    <a16:rowId xmlns:a16="http://schemas.microsoft.com/office/drawing/2014/main" val="1322444737"/>
                  </a:ext>
                </a:extLst>
              </a:tr>
            </a:tbl>
          </a:graphicData>
        </a:graphic>
      </p:graphicFrame>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5EA2A2A1-AB28-4BA3-BDA7-2649D958D1DC}"/>
                  </a:ext>
                </a:extLst>
              </p:cNvPr>
              <p:cNvSpPr txBox="1"/>
              <p:nvPr/>
            </p:nvSpPr>
            <p:spPr>
              <a:xfrm>
                <a:off x="1127956" y="4011912"/>
                <a:ext cx="6888088" cy="144244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𝑛𝑒𝑤</m:t>
                          </m:r>
                        </m:sup>
                      </m:sSup>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b="0" i="1" smtClean="0">
                                  <a:latin typeface="Cambria Math" panose="02040503050406030204" pitchFamily="18" charset="0"/>
                                  <a:cs typeface="Times New Roman" panose="02020603050405020304" pitchFamily="18" charset="0"/>
                                </a:rPr>
                                <m:t>3</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2</m:t>
                              </m:r>
                            </m:sub>
                          </m:sSub>
                        </m:e>
                      </m:d>
                      <m:r>
                        <a:rPr lang="en-US" altLang="zh-TW" b="0" i="1" smtClean="0">
                          <a:latin typeface="Cambria Math" panose="02040503050406030204" pitchFamily="18" charset="0"/>
                          <a:cs typeface="Times New Roman" panose="02020603050405020304" pitchFamily="18" charset="0"/>
                        </a:rPr>
                        <m:t>←</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1−0.5</m:t>
                          </m:r>
                        </m:e>
                      </m:d>
                      <m:r>
                        <a:rPr lang="en-US" altLang="zh-TW" b="0" i="1" smtClean="0">
                          <a:latin typeface="Cambria Math" panose="02040503050406030204" pitchFamily="18" charset="0"/>
                          <a:cs typeface="Times New Roman" panose="02020603050405020304" pitchFamily="18" charset="0"/>
                        </a:rPr>
                        <m:t>×0+0.5(0+</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0.9</m:t>
                          </m:r>
                        </m:e>
                        <m:sup>
                          <m:r>
                            <a:rPr lang="en-US" altLang="zh-TW" b="0" i="1" smtClean="0">
                              <a:latin typeface="Cambria Math" panose="02040503050406030204" pitchFamily="18" charset="0"/>
                              <a:cs typeface="Times New Roman" panose="02020603050405020304" pitchFamily="18" charset="0"/>
                            </a:rPr>
                            <m:t>3</m:t>
                          </m:r>
                        </m:sup>
                      </m:sSup>
                      <m:r>
                        <a:rPr lang="en-US" altLang="zh-TW" b="0" i="1" smtClean="0">
                          <a:latin typeface="Cambria Math" panose="02040503050406030204" pitchFamily="18" charset="0"/>
                          <a:cs typeface="Times New Roman" panose="02020603050405020304" pitchFamily="18" charset="0"/>
                        </a:rPr>
                        <m:t>×0.405+</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0.9</m:t>
                          </m:r>
                        </m:e>
                        <m:sup>
                          <m:r>
                            <a:rPr lang="en-US" altLang="zh-TW" b="0" i="1" smtClean="0">
                              <a:latin typeface="Cambria Math" panose="02040503050406030204" pitchFamily="18" charset="0"/>
                              <a:cs typeface="Times New Roman" panose="02020603050405020304" pitchFamily="18" charset="0"/>
                            </a:rPr>
                            <m:t>3</m:t>
                          </m:r>
                        </m:sup>
                      </m:sSup>
                      <m:r>
                        <a:rPr lang="en-US" altLang="zh-TW" b="0" i="1" smtClean="0">
                          <a:latin typeface="Cambria Math" panose="02040503050406030204" pitchFamily="18" charset="0"/>
                          <a:cs typeface="Times New Roman" panose="02020603050405020304" pitchFamily="18" charset="0"/>
                        </a:rPr>
                        <m:t>×0.405×</m:t>
                      </m:r>
                      <m:nary>
                        <m:naryPr>
                          <m:chr m:val="∑"/>
                          <m:ctrlPr>
                            <a:rPr lang="en-US" altLang="zh-TW" b="0" i="1" smtClean="0">
                              <a:latin typeface="Cambria Math" panose="02040503050406030204" pitchFamily="18" charset="0"/>
                              <a:cs typeface="Times New Roman" panose="02020603050405020304" pitchFamily="18" charset="0"/>
                            </a:rPr>
                          </m:ctrlPr>
                        </m:naryPr>
                        <m:sub>
                          <m:r>
                            <a:rPr lang="en-US" altLang="zh-TW" b="0" i="1" smtClean="0">
                              <a:latin typeface="Cambria Math" panose="02040503050406030204" pitchFamily="18" charset="0"/>
                              <a:cs typeface="Times New Roman" panose="02020603050405020304" pitchFamily="18" charset="0"/>
                            </a:rPr>
                            <m:t>𝑖</m:t>
                          </m:r>
                          <m:r>
                            <a:rPr lang="en-US" altLang="zh-TW" b="0" i="1" smtClean="0">
                              <a:latin typeface="Cambria Math" panose="02040503050406030204" pitchFamily="18" charset="0"/>
                              <a:cs typeface="Times New Roman" panose="02020603050405020304" pitchFamily="18" charset="0"/>
                            </a:rPr>
                            <m:t>=1</m:t>
                          </m:r>
                        </m:sub>
                        <m:sup>
                          <m:r>
                            <a:rPr lang="en-US" altLang="zh-TW" b="0" i="1" smtClean="0">
                              <a:latin typeface="Cambria Math" panose="02040503050406030204" pitchFamily="18" charset="0"/>
                              <a:cs typeface="Times New Roman" panose="02020603050405020304" pitchFamily="18" charset="0"/>
                            </a:rPr>
                            <m:t>96</m:t>
                          </m:r>
                        </m:sup>
                        <m:e>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0.9</m:t>
                              </m:r>
                            </m:e>
                            <m:sup>
                              <m:r>
                                <a:rPr lang="en-US" altLang="zh-TW" b="0" i="1" smtClean="0">
                                  <a:latin typeface="Cambria Math" panose="02040503050406030204" pitchFamily="18" charset="0"/>
                                  <a:cs typeface="Times New Roman" panose="02020603050405020304" pitchFamily="18" charset="0"/>
                                </a:rPr>
                                <m:t>2</m:t>
                              </m:r>
                              <m:r>
                                <a:rPr lang="en-US" altLang="zh-TW" b="0" i="1" smtClean="0">
                                  <a:latin typeface="Cambria Math" panose="02040503050406030204" pitchFamily="18" charset="0"/>
                                  <a:cs typeface="Times New Roman" panose="02020603050405020304" pitchFamily="18" charset="0"/>
                                </a:rPr>
                                <m:t>𝑖</m:t>
                              </m:r>
                            </m:sup>
                          </m:sSup>
                          <m:r>
                            <a:rPr lang="en-US" altLang="zh-TW" b="0" i="1" smtClean="0">
                              <a:latin typeface="Cambria Math" panose="02040503050406030204" pitchFamily="18" charset="0"/>
                              <a:cs typeface="Times New Roman" panose="02020603050405020304" pitchFamily="18" charset="0"/>
                            </a:rPr>
                            <m:t>∗0.405</m:t>
                          </m:r>
                        </m:e>
                      </m:nary>
                      <m:r>
                        <a:rPr lang="en-US" altLang="zh-TW" b="0" i="1" smtClean="0">
                          <a:latin typeface="Cambria Math" panose="02040503050406030204" pitchFamily="18" charset="0"/>
                          <a:cs typeface="Times New Roman" panose="02020603050405020304" pitchFamily="18" charset="0"/>
                        </a:rPr>
                        <m:t>+</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0.9</m:t>
                          </m:r>
                        </m:e>
                        <m:sup>
                          <m:r>
                            <a:rPr lang="en-US" altLang="zh-TW" b="0" i="1" smtClean="0">
                              <a:latin typeface="Cambria Math" panose="02040503050406030204" pitchFamily="18" charset="0"/>
                              <a:cs typeface="Times New Roman" panose="02020603050405020304" pitchFamily="18" charset="0"/>
                            </a:rPr>
                            <m:t>96+5</m:t>
                          </m:r>
                        </m:sup>
                      </m:sSup>
                      <m:r>
                        <a:rPr lang="en-US" altLang="zh-TW" b="0" i="1" smtClean="0">
                          <a:latin typeface="Cambria Math" panose="02040503050406030204" pitchFamily="18" charset="0"/>
                          <a:cs typeface="Times New Roman" panose="02020603050405020304" pitchFamily="18" charset="0"/>
                        </a:rPr>
                        <m:t>)</m:t>
                      </m:r>
                    </m:oMath>
                  </m:oMathPara>
                </a14:m>
                <a:endParaRPr lang="en-US" altLang="zh-TW" dirty="0">
                  <a:latin typeface="Times New Roman" panose="02020603050405020304" pitchFamily="18" charset="0"/>
                  <a:cs typeface="Times New Roman" panose="02020603050405020304" pitchFamily="18" charset="0"/>
                </a:endParaRPr>
              </a:p>
            </p:txBody>
          </p:sp>
        </mc:Choice>
        <mc:Fallback xmlns="">
          <p:sp>
            <p:nvSpPr>
              <p:cNvPr id="6" name="文字方塊 5">
                <a:extLst>
                  <a:ext uri="{FF2B5EF4-FFF2-40B4-BE49-F238E27FC236}">
                    <a16:creationId xmlns:a16="http://schemas.microsoft.com/office/drawing/2014/main" id="{5EA2A2A1-AB28-4BA3-BDA7-2649D958D1DC}"/>
                  </a:ext>
                </a:extLst>
              </p:cNvPr>
              <p:cNvSpPr txBox="1">
                <a:spLocks noRot="1" noChangeAspect="1" noMove="1" noResize="1" noEditPoints="1" noAdjustHandles="1" noChangeArrowheads="1" noChangeShapeType="1" noTextEdit="1"/>
              </p:cNvSpPr>
              <p:nvPr/>
            </p:nvSpPr>
            <p:spPr>
              <a:xfrm>
                <a:off x="1127956" y="4011912"/>
                <a:ext cx="6888088" cy="1442446"/>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92917264-A942-4066-AA32-B6AD434CC2A6}"/>
                  </a:ext>
                </a:extLst>
              </p:cNvPr>
              <p:cNvSpPr txBox="1"/>
              <p:nvPr/>
            </p:nvSpPr>
            <p:spPr>
              <a:xfrm>
                <a:off x="3347864" y="591684"/>
                <a:ext cx="6096000" cy="5336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limLow>
                        <m:limLowPr>
                          <m:ctrlPr>
                            <a:rPr lang="en-US" altLang="zh-TW" i="1" smtClean="0">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r>
                            <a:rPr lang="en-US" altLang="zh-TW" i="1">
                              <a:latin typeface="Cambria Math" panose="02040503050406030204" pitchFamily="18" charset="0"/>
                              <a:cs typeface="Times New Roman" panose="02020603050405020304" pitchFamily="18" charset="0"/>
                            </a:rPr>
                            <m:t>𝑎</m:t>
                          </m:r>
                        </m:lim>
                      </m:limLow>
                      <m:r>
                        <a:rPr lang="en-US" altLang="zh-TW" i="1">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𝑄</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𝑎</m:t>
                          </m:r>
                        </m:e>
                      </m:d>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zh-TW" altLang="en-US" b="0" i="1" smtClean="0">
                              <a:latin typeface="Cambria Math" panose="02040503050406030204" pitchFamily="18" charset="0"/>
                              <a:cs typeface="Times New Roman" panose="02020603050405020304" pitchFamily="18" charset="0"/>
                            </a:rPr>
                            <m:t>𝔼</m:t>
                          </m:r>
                        </m:e>
                        <m:sub>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sub>
                      </m:sSub>
                      <m:d>
                        <m:dPr>
                          <m:begChr m:val="["/>
                          <m:endChr m:val="]"/>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𝑟</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𝛾</m:t>
                          </m:r>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sSup>
                                <m:sSupPr>
                                  <m:ctrlPr>
                                    <a:rPr lang="en-US" altLang="zh-TW" b="0" i="1" smtClean="0">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m:t>
                                  </m:r>
                                </m:sup>
                              </m:sSup>
                            </m:lim>
                          </m:limLow>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m:t>
                              </m:r>
                            </m:sup>
                          </m:sSup>
                          <m:d>
                            <m:dPr>
                              <m:ctrlPr>
                                <a:rPr lang="en-US" altLang="zh-TW" b="0" i="1" smtClean="0">
                                  <a:latin typeface="Cambria Math" panose="02040503050406030204" pitchFamily="18" charset="0"/>
                                  <a:cs typeface="Times New Roman" panose="02020603050405020304" pitchFamily="18" charset="0"/>
                                </a:rPr>
                              </m:ctrlPr>
                            </m:dPr>
                            <m:e>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𝑠</m:t>
                                  </m:r>
                                </m:e>
                                <m:sup>
                                  <m:r>
                                    <a:rPr lang="en-US" altLang="zh-TW" b="0" i="1" smtClean="0">
                                      <a:latin typeface="Cambria Math" panose="02040503050406030204" pitchFamily="18" charset="0"/>
                                      <a:cs typeface="Times New Roman" panose="02020603050405020304" pitchFamily="18" charset="0"/>
                                    </a:rPr>
                                    <m:t>′</m:t>
                                  </m:r>
                                </m:sup>
                              </m:sSup>
                              <m:r>
                                <a:rPr lang="en-US" altLang="zh-TW" b="0" i="1" smtClean="0">
                                  <a:latin typeface="Cambria Math" panose="02040503050406030204" pitchFamily="18" charset="0"/>
                                  <a:cs typeface="Times New Roman" panose="02020603050405020304" pitchFamily="18" charset="0"/>
                                </a:rPr>
                                <m:t>,</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m:t>
                                  </m:r>
                                </m:sup>
                              </m:sSup>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𝑎</m:t>
                          </m:r>
                        </m:e>
                      </m:d>
                    </m:oMath>
                  </m:oMathPara>
                </a14:m>
                <a:endParaRPr lang="zh-TW" altLang="en-US" dirty="0"/>
              </a:p>
            </p:txBody>
          </p:sp>
        </mc:Choice>
        <mc:Fallback xmlns="">
          <p:sp>
            <p:nvSpPr>
              <p:cNvPr id="8" name="文字方塊 7">
                <a:extLst>
                  <a:ext uri="{FF2B5EF4-FFF2-40B4-BE49-F238E27FC236}">
                    <a16:creationId xmlns:a16="http://schemas.microsoft.com/office/drawing/2014/main" id="{92917264-A942-4066-AA32-B6AD434CC2A6}"/>
                  </a:ext>
                </a:extLst>
              </p:cNvPr>
              <p:cNvSpPr txBox="1">
                <a:spLocks noRot="1" noChangeAspect="1" noMove="1" noResize="1" noEditPoints="1" noAdjustHandles="1" noChangeArrowheads="1" noChangeShapeType="1" noTextEdit="1"/>
              </p:cNvSpPr>
              <p:nvPr/>
            </p:nvSpPr>
            <p:spPr>
              <a:xfrm>
                <a:off x="3347864" y="591684"/>
                <a:ext cx="6096000" cy="533672"/>
              </a:xfrm>
              <a:prstGeom prst="rect">
                <a:avLst/>
              </a:prstGeom>
              <a:blipFill>
                <a:blip r:embed="rId5"/>
                <a:stretch>
                  <a:fillRect/>
                </a:stretch>
              </a:blipFill>
            </p:spPr>
            <p:txBody>
              <a:bodyPr/>
              <a:lstStyle/>
              <a:p>
                <a:r>
                  <a:rPr lang="zh-TW" altLang="en-US">
                    <a:noFill/>
                  </a:rPr>
                  <a:t> </a:t>
                </a:r>
              </a:p>
            </p:txBody>
          </p:sp>
        </mc:Fallback>
      </mc:AlternateContent>
      <p:sp>
        <p:nvSpPr>
          <p:cNvPr id="7" name="文字方塊 6">
            <a:extLst>
              <a:ext uri="{FF2B5EF4-FFF2-40B4-BE49-F238E27FC236}">
                <a16:creationId xmlns:a16="http://schemas.microsoft.com/office/drawing/2014/main" id="{95B53AAD-410B-425D-A0A5-0326159BD159}"/>
              </a:ext>
            </a:extLst>
          </p:cNvPr>
          <p:cNvSpPr txBox="1"/>
          <p:nvPr/>
        </p:nvSpPr>
        <p:spPr>
          <a:xfrm>
            <a:off x="6325576" y="6196662"/>
            <a:ext cx="840432" cy="369332"/>
          </a:xfrm>
          <a:prstGeom prst="rect">
            <a:avLst/>
          </a:prstGeom>
          <a:noFill/>
        </p:spPr>
        <p:txBody>
          <a:bodyPr wrap="square" rtlCol="0">
            <a:spAutoFit/>
          </a:bodyPr>
          <a:lstStyle/>
          <a:p>
            <a:r>
              <a:rPr lang="en-US" altLang="zh-TW" dirty="0"/>
              <a:t>5</a:t>
            </a:r>
            <a:endParaRPr lang="zh-TW" altLang="en-US" dirty="0"/>
          </a:p>
        </p:txBody>
      </p:sp>
      <p:sp>
        <p:nvSpPr>
          <p:cNvPr id="9" name="橢圓 8">
            <a:extLst>
              <a:ext uri="{FF2B5EF4-FFF2-40B4-BE49-F238E27FC236}">
                <a16:creationId xmlns:a16="http://schemas.microsoft.com/office/drawing/2014/main" id="{99B928A3-E595-4FB6-8F3B-12F6B49800F0}"/>
              </a:ext>
            </a:extLst>
          </p:cNvPr>
          <p:cNvSpPr/>
          <p:nvPr/>
        </p:nvSpPr>
        <p:spPr>
          <a:xfrm>
            <a:off x="1403648" y="6133946"/>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 name="橢圓 9">
            <a:extLst>
              <a:ext uri="{FF2B5EF4-FFF2-40B4-BE49-F238E27FC236}">
                <a16:creationId xmlns:a16="http://schemas.microsoft.com/office/drawing/2014/main" id="{0C213D9A-775C-4F21-BBEF-EBD6A5697F64}"/>
              </a:ext>
            </a:extLst>
          </p:cNvPr>
          <p:cNvSpPr/>
          <p:nvPr/>
        </p:nvSpPr>
        <p:spPr>
          <a:xfrm>
            <a:off x="2591780" y="6133946"/>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 name="橢圓 10">
            <a:extLst>
              <a:ext uri="{FF2B5EF4-FFF2-40B4-BE49-F238E27FC236}">
                <a16:creationId xmlns:a16="http://schemas.microsoft.com/office/drawing/2014/main" id="{FB71344D-59DD-480A-B21C-78D813F2F41C}"/>
              </a:ext>
            </a:extLst>
          </p:cNvPr>
          <p:cNvSpPr/>
          <p:nvPr/>
        </p:nvSpPr>
        <p:spPr>
          <a:xfrm>
            <a:off x="3779912" y="6133946"/>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 name="橢圓 11">
            <a:extLst>
              <a:ext uri="{FF2B5EF4-FFF2-40B4-BE49-F238E27FC236}">
                <a16:creationId xmlns:a16="http://schemas.microsoft.com/office/drawing/2014/main" id="{334C4F40-72EC-4359-9695-518B995C38EC}"/>
              </a:ext>
            </a:extLst>
          </p:cNvPr>
          <p:cNvSpPr/>
          <p:nvPr/>
        </p:nvSpPr>
        <p:spPr>
          <a:xfrm>
            <a:off x="5040052" y="6133946"/>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橢圓 12">
            <a:extLst>
              <a:ext uri="{FF2B5EF4-FFF2-40B4-BE49-F238E27FC236}">
                <a16:creationId xmlns:a16="http://schemas.microsoft.com/office/drawing/2014/main" id="{E9E0FB3C-B0E7-4E48-9B97-DC9C124B7A16}"/>
              </a:ext>
            </a:extLst>
          </p:cNvPr>
          <p:cNvSpPr/>
          <p:nvPr/>
        </p:nvSpPr>
        <p:spPr>
          <a:xfrm>
            <a:off x="6228184" y="6133946"/>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4" name="直線單箭頭接點 13">
            <a:extLst>
              <a:ext uri="{FF2B5EF4-FFF2-40B4-BE49-F238E27FC236}">
                <a16:creationId xmlns:a16="http://schemas.microsoft.com/office/drawing/2014/main" id="{83626596-81E4-48C2-A22D-45F8704B35D1}"/>
              </a:ext>
            </a:extLst>
          </p:cNvPr>
          <p:cNvCxnSpPr>
            <a:stCxn id="11" idx="1"/>
            <a:endCxn id="10" idx="7"/>
          </p:cNvCxnSpPr>
          <p:nvPr/>
        </p:nvCxnSpPr>
        <p:spPr>
          <a:xfrm flipH="1">
            <a:off x="3022019" y="6201466"/>
            <a:ext cx="8317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a:extLst>
              <a:ext uri="{FF2B5EF4-FFF2-40B4-BE49-F238E27FC236}">
                <a16:creationId xmlns:a16="http://schemas.microsoft.com/office/drawing/2014/main" id="{D48990FF-CA44-4BBD-813C-B1E6CCB2AFC8}"/>
              </a:ext>
            </a:extLst>
          </p:cNvPr>
          <p:cNvCxnSpPr>
            <a:stCxn id="12" idx="1"/>
            <a:endCxn id="11" idx="7"/>
          </p:cNvCxnSpPr>
          <p:nvPr/>
        </p:nvCxnSpPr>
        <p:spPr>
          <a:xfrm flipH="1">
            <a:off x="4210151" y="6201466"/>
            <a:ext cx="9037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a:extLst>
              <a:ext uri="{FF2B5EF4-FFF2-40B4-BE49-F238E27FC236}">
                <a16:creationId xmlns:a16="http://schemas.microsoft.com/office/drawing/2014/main" id="{3DFD09B9-3616-4B5B-B69B-D029EEDA00BC}"/>
              </a:ext>
            </a:extLst>
          </p:cNvPr>
          <p:cNvCxnSpPr>
            <a:stCxn id="10" idx="2"/>
            <a:endCxn id="9" idx="6"/>
          </p:cNvCxnSpPr>
          <p:nvPr/>
        </p:nvCxnSpPr>
        <p:spPr>
          <a:xfrm flipH="1">
            <a:off x="1907704" y="6364472"/>
            <a:ext cx="684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6C1FF67D-1E39-4391-88D8-296D8965043B}"/>
              </a:ext>
            </a:extLst>
          </p:cNvPr>
          <p:cNvCxnSpPr>
            <a:stCxn id="12" idx="6"/>
            <a:endCxn id="13" idx="2"/>
          </p:cNvCxnSpPr>
          <p:nvPr/>
        </p:nvCxnSpPr>
        <p:spPr>
          <a:xfrm>
            <a:off x="5544108" y="6364472"/>
            <a:ext cx="684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a:extLst>
              <a:ext uri="{FF2B5EF4-FFF2-40B4-BE49-F238E27FC236}">
                <a16:creationId xmlns:a16="http://schemas.microsoft.com/office/drawing/2014/main" id="{8D9552DD-1EAE-4D47-9880-F88BAC475687}"/>
              </a:ext>
            </a:extLst>
          </p:cNvPr>
          <p:cNvCxnSpPr>
            <a:stCxn id="10" idx="5"/>
            <a:endCxn id="11" idx="3"/>
          </p:cNvCxnSpPr>
          <p:nvPr/>
        </p:nvCxnSpPr>
        <p:spPr>
          <a:xfrm>
            <a:off x="3022019" y="6527478"/>
            <a:ext cx="8317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902C488D-3364-4F89-803B-A12B9CA0E06B}"/>
              </a:ext>
            </a:extLst>
          </p:cNvPr>
          <p:cNvCxnSpPr>
            <a:stCxn id="11" idx="5"/>
            <a:endCxn id="12" idx="3"/>
          </p:cNvCxnSpPr>
          <p:nvPr/>
        </p:nvCxnSpPr>
        <p:spPr>
          <a:xfrm>
            <a:off x="4210151" y="6527478"/>
            <a:ext cx="9037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文字方塊 19">
            <a:extLst>
              <a:ext uri="{FF2B5EF4-FFF2-40B4-BE49-F238E27FC236}">
                <a16:creationId xmlns:a16="http://schemas.microsoft.com/office/drawing/2014/main" id="{7598CCE5-7975-43E3-B8DB-E38C0BB20C59}"/>
              </a:ext>
            </a:extLst>
          </p:cNvPr>
          <p:cNvSpPr txBox="1"/>
          <p:nvPr/>
        </p:nvSpPr>
        <p:spPr>
          <a:xfrm>
            <a:off x="1576815" y="6201466"/>
            <a:ext cx="45719" cy="369332"/>
          </a:xfrm>
          <a:prstGeom prst="rect">
            <a:avLst/>
          </a:prstGeom>
          <a:noFill/>
        </p:spPr>
        <p:txBody>
          <a:bodyPr wrap="square" rtlCol="0">
            <a:spAutoFit/>
          </a:bodyPr>
          <a:lstStyle/>
          <a:p>
            <a:r>
              <a:rPr lang="en-US" altLang="zh-TW" dirty="0"/>
              <a:t>1</a:t>
            </a:r>
            <a:endParaRPr lang="zh-TW" altLang="en-US" dirty="0"/>
          </a:p>
        </p:txBody>
      </p:sp>
      <p:sp>
        <p:nvSpPr>
          <p:cNvPr id="21" name="文字方塊 20">
            <a:extLst>
              <a:ext uri="{FF2B5EF4-FFF2-40B4-BE49-F238E27FC236}">
                <a16:creationId xmlns:a16="http://schemas.microsoft.com/office/drawing/2014/main" id="{49E1C82C-B003-4E18-9C69-729D20FA2248}"/>
              </a:ext>
            </a:extLst>
          </p:cNvPr>
          <p:cNvSpPr txBox="1"/>
          <p:nvPr/>
        </p:nvSpPr>
        <p:spPr>
          <a:xfrm>
            <a:off x="2676192" y="6179806"/>
            <a:ext cx="1473936" cy="369332"/>
          </a:xfrm>
          <a:prstGeom prst="rect">
            <a:avLst/>
          </a:prstGeom>
          <a:noFill/>
        </p:spPr>
        <p:txBody>
          <a:bodyPr wrap="square" rtlCol="0">
            <a:spAutoFit/>
          </a:bodyPr>
          <a:lstStyle/>
          <a:p>
            <a:r>
              <a:rPr lang="en-US" altLang="zh-TW" dirty="0"/>
              <a:t>2</a:t>
            </a:r>
            <a:endParaRPr lang="zh-TW" altLang="en-US" dirty="0"/>
          </a:p>
        </p:txBody>
      </p:sp>
      <p:sp>
        <p:nvSpPr>
          <p:cNvPr id="22" name="文字方塊 21">
            <a:extLst>
              <a:ext uri="{FF2B5EF4-FFF2-40B4-BE49-F238E27FC236}">
                <a16:creationId xmlns:a16="http://schemas.microsoft.com/office/drawing/2014/main" id="{E6A278EB-3D27-4D33-BA76-E33E438B6562}"/>
              </a:ext>
            </a:extLst>
          </p:cNvPr>
          <p:cNvSpPr txBox="1"/>
          <p:nvPr/>
        </p:nvSpPr>
        <p:spPr>
          <a:xfrm>
            <a:off x="3889357" y="6172486"/>
            <a:ext cx="301686" cy="369332"/>
          </a:xfrm>
          <a:prstGeom prst="rect">
            <a:avLst/>
          </a:prstGeom>
          <a:noFill/>
        </p:spPr>
        <p:txBody>
          <a:bodyPr wrap="none" rtlCol="0">
            <a:spAutoFit/>
          </a:bodyPr>
          <a:lstStyle/>
          <a:p>
            <a:r>
              <a:rPr lang="en-US" altLang="zh-TW" dirty="0"/>
              <a:t>3</a:t>
            </a:r>
            <a:endParaRPr lang="zh-TW" altLang="en-US" dirty="0"/>
          </a:p>
        </p:txBody>
      </p:sp>
      <p:sp>
        <p:nvSpPr>
          <p:cNvPr id="23" name="文字方塊 22">
            <a:extLst>
              <a:ext uri="{FF2B5EF4-FFF2-40B4-BE49-F238E27FC236}">
                <a16:creationId xmlns:a16="http://schemas.microsoft.com/office/drawing/2014/main" id="{52AF2A1B-3932-4D42-8DF2-8EF1AF3AB85E}"/>
              </a:ext>
            </a:extLst>
          </p:cNvPr>
          <p:cNvSpPr txBox="1"/>
          <p:nvPr/>
        </p:nvSpPr>
        <p:spPr>
          <a:xfrm>
            <a:off x="5154221" y="6205954"/>
            <a:ext cx="301686" cy="369332"/>
          </a:xfrm>
          <a:prstGeom prst="rect">
            <a:avLst/>
          </a:prstGeom>
          <a:noFill/>
        </p:spPr>
        <p:txBody>
          <a:bodyPr wrap="none" rtlCol="0">
            <a:spAutoFit/>
          </a:bodyPr>
          <a:lstStyle/>
          <a:p>
            <a:r>
              <a:rPr lang="en-US" altLang="zh-TW" dirty="0"/>
              <a:t>4</a:t>
            </a:r>
            <a:endParaRPr lang="zh-TW" altLang="en-US" dirty="0"/>
          </a:p>
        </p:txBody>
      </p:sp>
      <p:sp>
        <p:nvSpPr>
          <p:cNvPr id="24" name="文字方塊 23">
            <a:extLst>
              <a:ext uri="{FF2B5EF4-FFF2-40B4-BE49-F238E27FC236}">
                <a16:creationId xmlns:a16="http://schemas.microsoft.com/office/drawing/2014/main" id="{1644EE01-2C51-4B46-9E0C-1D0B1FA059FF}"/>
              </a:ext>
            </a:extLst>
          </p:cNvPr>
          <p:cNvSpPr txBox="1"/>
          <p:nvPr/>
        </p:nvSpPr>
        <p:spPr>
          <a:xfrm>
            <a:off x="2100073" y="6021288"/>
            <a:ext cx="396044" cy="369332"/>
          </a:xfrm>
          <a:prstGeom prst="rect">
            <a:avLst/>
          </a:prstGeom>
          <a:noFill/>
        </p:spPr>
        <p:txBody>
          <a:bodyPr wrap="square" rtlCol="0">
            <a:spAutoFit/>
          </a:bodyPr>
          <a:lstStyle/>
          <a:p>
            <a:r>
              <a:rPr lang="en-US" altLang="zh-TW" dirty="0"/>
              <a:t>-1</a:t>
            </a:r>
            <a:endParaRPr lang="zh-TW" altLang="en-US" dirty="0"/>
          </a:p>
        </p:txBody>
      </p:sp>
      <p:sp>
        <p:nvSpPr>
          <p:cNvPr id="25" name="文字方塊 24">
            <a:extLst>
              <a:ext uri="{FF2B5EF4-FFF2-40B4-BE49-F238E27FC236}">
                <a16:creationId xmlns:a16="http://schemas.microsoft.com/office/drawing/2014/main" id="{08505E77-A598-4D9C-A9F4-5FE45D6F7E81}"/>
              </a:ext>
            </a:extLst>
          </p:cNvPr>
          <p:cNvSpPr txBox="1"/>
          <p:nvPr/>
        </p:nvSpPr>
        <p:spPr>
          <a:xfrm>
            <a:off x="5760132" y="6052646"/>
            <a:ext cx="396044" cy="369332"/>
          </a:xfrm>
          <a:prstGeom prst="rect">
            <a:avLst/>
          </a:prstGeom>
          <a:noFill/>
        </p:spPr>
        <p:txBody>
          <a:bodyPr wrap="square" rtlCol="0">
            <a:spAutoFit/>
          </a:bodyPr>
          <a:lstStyle/>
          <a:p>
            <a:r>
              <a:rPr lang="en-US" altLang="zh-TW" dirty="0"/>
              <a:t>1</a:t>
            </a:r>
            <a:endParaRPr lang="zh-TW" altLang="en-US" dirty="0"/>
          </a:p>
        </p:txBody>
      </p:sp>
      <p:sp>
        <p:nvSpPr>
          <p:cNvPr id="26" name="橢圓 25">
            <a:extLst>
              <a:ext uri="{FF2B5EF4-FFF2-40B4-BE49-F238E27FC236}">
                <a16:creationId xmlns:a16="http://schemas.microsoft.com/office/drawing/2014/main" id="{34DD1F96-8AF7-4F8A-A4D0-9271437F364F}"/>
              </a:ext>
            </a:extLst>
          </p:cNvPr>
          <p:cNvSpPr/>
          <p:nvPr/>
        </p:nvSpPr>
        <p:spPr>
          <a:xfrm>
            <a:off x="7562505" y="6133946"/>
            <a:ext cx="465879"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7" name="直線單箭頭接點 26">
            <a:extLst>
              <a:ext uri="{FF2B5EF4-FFF2-40B4-BE49-F238E27FC236}">
                <a16:creationId xmlns:a16="http://schemas.microsoft.com/office/drawing/2014/main" id="{FDF32E27-7220-4B05-9582-C222BEE7A536}"/>
              </a:ext>
            </a:extLst>
          </p:cNvPr>
          <p:cNvCxnSpPr>
            <a:stCxn id="13" idx="6"/>
            <a:endCxn id="26" idx="2"/>
          </p:cNvCxnSpPr>
          <p:nvPr/>
        </p:nvCxnSpPr>
        <p:spPr>
          <a:xfrm>
            <a:off x="6732240" y="6364472"/>
            <a:ext cx="8302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接點: 肘形 27">
            <a:extLst>
              <a:ext uri="{FF2B5EF4-FFF2-40B4-BE49-F238E27FC236}">
                <a16:creationId xmlns:a16="http://schemas.microsoft.com/office/drawing/2014/main" id="{9FB0A9FE-6206-4D31-922D-DDE82F14FD82}"/>
              </a:ext>
            </a:extLst>
          </p:cNvPr>
          <p:cNvCxnSpPr>
            <a:stCxn id="9" idx="4"/>
            <a:endCxn id="26" idx="4"/>
          </p:cNvCxnSpPr>
          <p:nvPr/>
        </p:nvCxnSpPr>
        <p:spPr>
          <a:xfrm rot="16200000" flipH="1">
            <a:off x="4725560" y="3525113"/>
            <a:ext cx="12700" cy="6139769"/>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橢圓 28">
            <a:extLst>
              <a:ext uri="{FF2B5EF4-FFF2-40B4-BE49-F238E27FC236}">
                <a16:creationId xmlns:a16="http://schemas.microsoft.com/office/drawing/2014/main" id="{CFE86CCB-1412-4C6A-B071-61F91875DF68}"/>
              </a:ext>
            </a:extLst>
          </p:cNvPr>
          <p:cNvSpPr/>
          <p:nvPr/>
        </p:nvSpPr>
        <p:spPr>
          <a:xfrm>
            <a:off x="7596336" y="6205954"/>
            <a:ext cx="396497" cy="34318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文字方塊 29">
            <a:extLst>
              <a:ext uri="{FF2B5EF4-FFF2-40B4-BE49-F238E27FC236}">
                <a16:creationId xmlns:a16="http://schemas.microsoft.com/office/drawing/2014/main" id="{D659E73A-4FD6-4985-A2B6-E3DC8BD4B91D}"/>
              </a:ext>
            </a:extLst>
          </p:cNvPr>
          <p:cNvSpPr txBox="1"/>
          <p:nvPr/>
        </p:nvSpPr>
        <p:spPr>
          <a:xfrm>
            <a:off x="3095836" y="6214828"/>
            <a:ext cx="791724" cy="369332"/>
          </a:xfrm>
          <a:prstGeom prst="rect">
            <a:avLst/>
          </a:prstGeom>
          <a:noFill/>
        </p:spPr>
        <p:txBody>
          <a:bodyPr wrap="square" rtlCol="0">
            <a:spAutoFit/>
          </a:bodyPr>
          <a:lstStyle/>
          <a:p>
            <a:r>
              <a:rPr lang="en-US" altLang="zh-TW" dirty="0"/>
              <a:t>0.405</a:t>
            </a:r>
            <a:endParaRPr lang="zh-TW" altLang="en-US" dirty="0"/>
          </a:p>
        </p:txBody>
      </p:sp>
      <p:sp>
        <p:nvSpPr>
          <p:cNvPr id="3" name="文字方塊 2">
            <a:extLst>
              <a:ext uri="{FF2B5EF4-FFF2-40B4-BE49-F238E27FC236}">
                <a16:creationId xmlns:a16="http://schemas.microsoft.com/office/drawing/2014/main" id="{7533C10E-DB48-4D82-BA61-A0A1F05988DC}"/>
              </a:ext>
            </a:extLst>
          </p:cNvPr>
          <p:cNvSpPr txBox="1"/>
          <p:nvPr/>
        </p:nvSpPr>
        <p:spPr>
          <a:xfrm>
            <a:off x="4247520" y="6210391"/>
            <a:ext cx="972108" cy="369332"/>
          </a:xfrm>
          <a:prstGeom prst="rect">
            <a:avLst/>
          </a:prstGeom>
          <a:noFill/>
        </p:spPr>
        <p:txBody>
          <a:bodyPr wrap="square" rtlCol="0">
            <a:spAutoFit/>
          </a:bodyPr>
          <a:lstStyle/>
          <a:p>
            <a:r>
              <a:rPr lang="en-US" altLang="zh-TW" dirty="0"/>
              <a:t>0.7769</a:t>
            </a:r>
            <a:endParaRPr lang="zh-TW" altLang="en-US" dirty="0"/>
          </a:p>
        </p:txBody>
      </p:sp>
    </p:spTree>
    <p:extLst>
      <p:ext uri="{BB962C8B-B14F-4D97-AF65-F5344CB8AC3E}">
        <p14:creationId xmlns:p14="http://schemas.microsoft.com/office/powerpoint/2010/main" val="31928451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913C1D3A-D0E9-4767-953E-EA7A0B8BC748}"/>
              </a:ext>
            </a:extLst>
          </p:cNvPr>
          <p:cNvPicPr>
            <a:picLocks noChangeAspect="1"/>
          </p:cNvPicPr>
          <p:nvPr/>
        </p:nvPicPr>
        <p:blipFill>
          <a:blip r:embed="rId3"/>
          <a:stretch>
            <a:fillRect/>
          </a:stretch>
        </p:blipFill>
        <p:spPr>
          <a:xfrm>
            <a:off x="5687616" y="43164"/>
            <a:ext cx="3456384" cy="2965753"/>
          </a:xfrm>
          <a:prstGeom prst="rect">
            <a:avLst/>
          </a:prstGeom>
        </p:spPr>
      </p:pic>
      <p:sp>
        <p:nvSpPr>
          <p:cNvPr id="2" name="標題 1"/>
          <p:cNvSpPr>
            <a:spLocks noGrp="1"/>
          </p:cNvSpPr>
          <p:nvPr>
            <p:ph type="title"/>
          </p:nvPr>
        </p:nvSpPr>
        <p:spPr>
          <a:xfrm>
            <a:off x="457200" y="260648"/>
            <a:ext cx="8229600" cy="1143000"/>
          </a:xfrm>
        </p:spPr>
        <p:txBody>
          <a:bodyPr/>
          <a:lstStyle/>
          <a:p>
            <a:pPr algn="l"/>
            <a:r>
              <a:rPr lang="en-US" altLang="zh-TW" dirty="0">
                <a:latin typeface="Times New Roman" pitchFamily="18" charset="0"/>
                <a:cs typeface="Times New Roman" pitchFamily="18" charset="0"/>
              </a:rPr>
              <a:t>Deep Q Network</a:t>
            </a:r>
            <a:endParaRPr lang="zh-TW" alt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r>
                  <a:rPr lang="en-US" altLang="zh-TW" dirty="0">
                    <a:latin typeface="Times New Roman" panose="02020603050405020304" pitchFamily="18" charset="0"/>
                    <a:cs typeface="Times New Roman" panose="02020603050405020304" pitchFamily="18" charset="0"/>
                  </a:rPr>
                  <a:t>State </a:t>
                </a:r>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s</m:t>
                        </m:r>
                      </m:e>
                      <m:sub>
                        <m:r>
                          <m:rPr>
                            <m:sty m:val="p"/>
                          </m:rPr>
                          <a:rPr lang="en-US" altLang="zh-TW" b="0" i="0" smtClean="0">
                            <a:latin typeface="Cambria Math" panose="02040503050406030204" pitchFamily="18" charset="0"/>
                            <a:cs typeface="Times New Roman" panose="02020603050405020304" pitchFamily="18" charset="0"/>
                          </a:rPr>
                          <m:t>t</m:t>
                        </m:r>
                      </m:sub>
                    </m:sSub>
                    <m:r>
                      <a:rPr lang="en-US" altLang="zh-TW" b="0" i="1" smtClean="0">
                        <a:latin typeface="Cambria Math" panose="02040503050406030204" pitchFamily="18" charset="0"/>
                        <a:cs typeface="Times New Roman" panose="02020603050405020304" pitchFamily="18" charset="0"/>
                      </a:rPr>
                      <m:t>=(</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𝑥</m:t>
                        </m:r>
                      </m:e>
                      <m:sup>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m:t>
                        </m:r>
                      </m:sup>
                    </m:sSup>
                    <m:r>
                      <a:rPr lang="en-US" altLang="zh-TW" b="0" i="1" smtClean="0">
                        <a:latin typeface="Cambria Math" panose="02040503050406030204" pitchFamily="18" charset="0"/>
                        <a:cs typeface="Times New Roman" panose="02020603050405020304" pitchFamily="18" charset="0"/>
                      </a:rPr>
                      <m:t>,</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𝑏</m:t>
                        </m:r>
                      </m:e>
                      <m:sup>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m:t>
                        </m:r>
                      </m:sup>
                    </m:sSup>
                    <m:r>
                      <a:rPr lang="en-US" altLang="zh-TW" b="0" i="1" smtClean="0">
                        <a:latin typeface="Cambria Math" panose="02040503050406030204" pitchFamily="18" charset="0"/>
                        <a:cs typeface="Times New Roman" panose="02020603050405020304" pitchFamily="18" charset="0"/>
                      </a:rPr>
                      <m:t>)</m:t>
                    </m:r>
                  </m:oMath>
                </a14:m>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Action </a:t>
                </a:r>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𝑡</m:t>
                        </m:r>
                      </m:sub>
                    </m:sSub>
                  </m:oMath>
                </a14:m>
                <a:r>
                  <a:rPr lang="en-US" altLang="zh-TW" dirty="0">
                    <a:latin typeface="Times New Roman" panose="02020603050405020304" pitchFamily="18" charset="0"/>
                    <a:cs typeface="Times New Roman" panose="02020603050405020304" pitchFamily="18" charset="0"/>
                  </a:rPr>
                  <a:t>= the possible bids</a:t>
                </a:r>
              </a:p>
              <a:p>
                <a14:m>
                  <m:oMath xmlns:m="http://schemas.openxmlformats.org/officeDocument/2006/math">
                    <m:r>
                      <a:rPr lang="en-US" altLang="zh-TW" sz="2700" b="0" i="1" smtClean="0">
                        <a:latin typeface="Cambria Math" panose="02040503050406030204" pitchFamily="18" charset="0"/>
                        <a:cs typeface="Times New Roman" panose="02020603050405020304" pitchFamily="18" charset="0"/>
                      </a:rPr>
                      <m:t>𝐿</m:t>
                    </m:r>
                    <m:d>
                      <m:dPr>
                        <m:ctrlPr>
                          <a:rPr lang="en-US" altLang="zh-TW" sz="2700" b="0" i="1" smtClean="0">
                            <a:latin typeface="Cambria Math" panose="02040503050406030204" pitchFamily="18" charset="0"/>
                            <a:cs typeface="Times New Roman" panose="02020603050405020304" pitchFamily="18" charset="0"/>
                          </a:rPr>
                        </m:ctrlPr>
                      </m:dPr>
                      <m:e>
                        <m:r>
                          <a:rPr lang="en-US" altLang="zh-TW" sz="2700" b="0" i="1" smtClean="0">
                            <a:latin typeface="Cambria Math" panose="02040503050406030204" pitchFamily="18" charset="0"/>
                            <a:cs typeface="Times New Roman" panose="02020603050405020304" pitchFamily="18" charset="0"/>
                          </a:rPr>
                          <m:t>𝜃</m:t>
                        </m:r>
                      </m:e>
                    </m:d>
                    <m:r>
                      <a:rPr lang="en-US" altLang="zh-TW" sz="2700" b="0" i="1" smtClean="0">
                        <a:latin typeface="Cambria Math" panose="02040503050406030204" pitchFamily="18" charset="0"/>
                        <a:cs typeface="Times New Roman" panose="02020603050405020304" pitchFamily="18" charset="0"/>
                      </a:rPr>
                      <m:t>=</m:t>
                    </m:r>
                    <m:sSup>
                      <m:sSupPr>
                        <m:ctrlPr>
                          <a:rPr lang="en-US" altLang="zh-TW" sz="2700" b="0" i="1" smtClean="0">
                            <a:latin typeface="Cambria Math" panose="02040503050406030204" pitchFamily="18" charset="0"/>
                            <a:cs typeface="Times New Roman" panose="02020603050405020304" pitchFamily="18" charset="0"/>
                          </a:rPr>
                        </m:ctrlPr>
                      </m:sSupPr>
                      <m:e>
                        <m:d>
                          <m:dPr>
                            <m:ctrlPr>
                              <a:rPr lang="en-US" altLang="zh-TW" sz="2700" b="0" i="1" smtClean="0">
                                <a:latin typeface="Cambria Math" panose="02040503050406030204" pitchFamily="18" charset="0"/>
                                <a:cs typeface="Times New Roman" panose="02020603050405020304" pitchFamily="18" charset="0"/>
                              </a:rPr>
                            </m:ctrlPr>
                          </m:dPr>
                          <m:e>
                            <m:r>
                              <a:rPr lang="en-US" altLang="zh-TW" sz="2700" b="0" i="1" smtClean="0">
                                <a:latin typeface="Cambria Math" panose="02040503050406030204" pitchFamily="18" charset="0"/>
                                <a:cs typeface="Times New Roman" panose="02020603050405020304" pitchFamily="18" charset="0"/>
                              </a:rPr>
                              <m:t>𝑄</m:t>
                            </m:r>
                            <m:d>
                              <m:dPr>
                                <m:ctrlPr>
                                  <a:rPr lang="en-US" altLang="zh-TW" sz="2700" b="0" i="1" smtClean="0">
                                    <a:latin typeface="Cambria Math" panose="02040503050406030204" pitchFamily="18" charset="0"/>
                                    <a:cs typeface="Times New Roman" panose="02020603050405020304" pitchFamily="18" charset="0"/>
                                  </a:rPr>
                                </m:ctrlPr>
                              </m:dPr>
                              <m:e>
                                <m:r>
                                  <a:rPr lang="en-US" altLang="zh-TW" sz="2700" b="0" i="1" smtClean="0">
                                    <a:latin typeface="Cambria Math" panose="02040503050406030204" pitchFamily="18" charset="0"/>
                                    <a:cs typeface="Times New Roman" panose="02020603050405020304" pitchFamily="18" charset="0"/>
                                  </a:rPr>
                                  <m:t>𝑠</m:t>
                                </m:r>
                                <m:r>
                                  <a:rPr lang="en-US" altLang="zh-TW" sz="2700" b="0" i="1" smtClean="0">
                                    <a:latin typeface="Cambria Math" panose="02040503050406030204" pitchFamily="18" charset="0"/>
                                    <a:cs typeface="Times New Roman" panose="02020603050405020304" pitchFamily="18" charset="0"/>
                                  </a:rPr>
                                  <m:t>,</m:t>
                                </m:r>
                                <m:r>
                                  <a:rPr lang="en-US" altLang="zh-TW" sz="2700" b="0" i="1" smtClean="0">
                                    <a:latin typeface="Cambria Math" panose="02040503050406030204" pitchFamily="18" charset="0"/>
                                    <a:cs typeface="Times New Roman" panose="02020603050405020304" pitchFamily="18" charset="0"/>
                                  </a:rPr>
                                  <m:t>𝑎</m:t>
                                </m:r>
                                <m:r>
                                  <a:rPr lang="en-US" altLang="zh-TW" sz="2700" b="0" i="1" smtClean="0">
                                    <a:latin typeface="Cambria Math" panose="02040503050406030204" pitchFamily="18" charset="0"/>
                                    <a:cs typeface="Times New Roman" panose="02020603050405020304" pitchFamily="18" charset="0"/>
                                  </a:rPr>
                                  <m:t>;</m:t>
                                </m:r>
                                <m:r>
                                  <a:rPr lang="en-US" altLang="zh-TW" sz="2700" b="0" i="1" smtClean="0">
                                    <a:latin typeface="Cambria Math" panose="02040503050406030204" pitchFamily="18" charset="0"/>
                                    <a:cs typeface="Times New Roman" panose="02020603050405020304" pitchFamily="18" charset="0"/>
                                  </a:rPr>
                                  <m:t>𝜃</m:t>
                                </m:r>
                              </m:e>
                            </m:d>
                            <m:r>
                              <a:rPr lang="en-US" altLang="zh-TW" sz="2700" b="0" i="1" smtClean="0">
                                <a:latin typeface="Cambria Math" panose="02040503050406030204" pitchFamily="18" charset="0"/>
                                <a:cs typeface="Times New Roman" panose="02020603050405020304" pitchFamily="18" charset="0"/>
                              </a:rPr>
                              <m:t>−[</m:t>
                            </m:r>
                            <m:r>
                              <a:rPr lang="en-US" altLang="zh-TW" sz="2700" b="0" i="1" smtClean="0">
                                <a:latin typeface="Cambria Math" panose="02040503050406030204" pitchFamily="18" charset="0"/>
                                <a:cs typeface="Times New Roman" panose="02020603050405020304" pitchFamily="18" charset="0"/>
                              </a:rPr>
                              <m:t>𝑟</m:t>
                            </m:r>
                            <m:r>
                              <a:rPr lang="en-US" altLang="zh-TW" sz="2700" b="0" i="1" smtClean="0">
                                <a:latin typeface="Cambria Math" panose="02040503050406030204" pitchFamily="18" charset="0"/>
                                <a:cs typeface="Times New Roman" panose="02020603050405020304" pitchFamily="18" charset="0"/>
                              </a:rPr>
                              <m:t>+</m:t>
                            </m:r>
                            <m:r>
                              <a:rPr lang="en-US" altLang="zh-TW" sz="2700" b="0" i="1" smtClean="0">
                                <a:latin typeface="Cambria Math" panose="02040503050406030204" pitchFamily="18" charset="0"/>
                                <a:cs typeface="Times New Roman" panose="02020603050405020304" pitchFamily="18" charset="0"/>
                              </a:rPr>
                              <m:t>𝛾</m:t>
                            </m:r>
                            <m:limLow>
                              <m:limLowPr>
                                <m:ctrlPr>
                                  <a:rPr lang="en-US" altLang="zh-TW" sz="2700" i="1">
                                    <a:latin typeface="Cambria Math" panose="02040503050406030204" pitchFamily="18" charset="0"/>
                                    <a:cs typeface="Times New Roman" panose="02020603050405020304" pitchFamily="18" charset="0"/>
                                  </a:rPr>
                                </m:ctrlPr>
                              </m:limLowPr>
                              <m:e>
                                <m:r>
                                  <m:rPr>
                                    <m:sty m:val="p"/>
                                  </m:rPr>
                                  <a:rPr lang="en-US" altLang="zh-TW" sz="2700">
                                    <a:latin typeface="Cambria Math" panose="02040503050406030204" pitchFamily="18" charset="0"/>
                                    <a:cs typeface="Times New Roman" panose="02020603050405020304" pitchFamily="18" charset="0"/>
                                  </a:rPr>
                                  <m:t>max</m:t>
                                </m:r>
                              </m:e>
                              <m:lim>
                                <m:sSup>
                                  <m:sSupPr>
                                    <m:ctrlPr>
                                      <a:rPr lang="en-US" altLang="zh-TW" sz="2700" b="0" i="1" smtClean="0">
                                        <a:latin typeface="Cambria Math" panose="02040503050406030204" pitchFamily="18" charset="0"/>
                                        <a:cs typeface="Times New Roman" panose="02020603050405020304" pitchFamily="18" charset="0"/>
                                      </a:rPr>
                                    </m:ctrlPr>
                                  </m:sSupPr>
                                  <m:e>
                                    <m:r>
                                      <a:rPr lang="en-US" altLang="zh-TW" sz="2700" i="1">
                                        <a:latin typeface="Cambria Math" panose="02040503050406030204" pitchFamily="18" charset="0"/>
                                        <a:cs typeface="Times New Roman" panose="02020603050405020304" pitchFamily="18" charset="0"/>
                                      </a:rPr>
                                      <m:t>𝑎</m:t>
                                    </m:r>
                                  </m:e>
                                  <m:sup>
                                    <m:r>
                                      <a:rPr lang="en-US" altLang="zh-TW" sz="2700" b="0" i="1" smtClean="0">
                                        <a:latin typeface="Cambria Math" panose="02040503050406030204" pitchFamily="18" charset="0"/>
                                        <a:cs typeface="Times New Roman" panose="02020603050405020304" pitchFamily="18" charset="0"/>
                                      </a:rPr>
                                      <m:t>′</m:t>
                                    </m:r>
                                  </m:sup>
                                </m:sSup>
                              </m:lim>
                            </m:limLow>
                            <m:r>
                              <a:rPr lang="en-US" altLang="zh-TW" sz="2700" b="0" i="1" smtClean="0">
                                <a:latin typeface="Cambria Math" panose="02040503050406030204" pitchFamily="18" charset="0"/>
                                <a:cs typeface="Times New Roman" panose="02020603050405020304" pitchFamily="18" charset="0"/>
                              </a:rPr>
                              <m:t>𝑄</m:t>
                            </m:r>
                            <m:r>
                              <a:rPr lang="en-US" altLang="zh-TW" sz="2700" b="0" i="1" smtClean="0">
                                <a:latin typeface="Cambria Math" panose="02040503050406030204" pitchFamily="18" charset="0"/>
                                <a:cs typeface="Times New Roman" panose="02020603050405020304" pitchFamily="18" charset="0"/>
                              </a:rPr>
                              <m:t>(</m:t>
                            </m:r>
                            <m:sSup>
                              <m:sSupPr>
                                <m:ctrlPr>
                                  <a:rPr lang="en-US" altLang="zh-TW" sz="2700" b="0" i="1" smtClean="0">
                                    <a:latin typeface="Cambria Math" panose="02040503050406030204" pitchFamily="18" charset="0"/>
                                    <a:cs typeface="Times New Roman" panose="02020603050405020304" pitchFamily="18" charset="0"/>
                                  </a:rPr>
                                </m:ctrlPr>
                              </m:sSupPr>
                              <m:e>
                                <m:r>
                                  <a:rPr lang="en-US" altLang="zh-TW" sz="2700" b="0" i="1" smtClean="0">
                                    <a:latin typeface="Cambria Math" panose="02040503050406030204" pitchFamily="18" charset="0"/>
                                    <a:cs typeface="Times New Roman" panose="02020603050405020304" pitchFamily="18" charset="0"/>
                                  </a:rPr>
                                  <m:t>𝑠</m:t>
                                </m:r>
                              </m:e>
                              <m:sup>
                                <m:r>
                                  <a:rPr lang="en-US" altLang="zh-TW" sz="2700" b="0" i="1" smtClean="0">
                                    <a:latin typeface="Cambria Math" panose="02040503050406030204" pitchFamily="18" charset="0"/>
                                    <a:cs typeface="Times New Roman" panose="02020603050405020304" pitchFamily="18" charset="0"/>
                                  </a:rPr>
                                  <m:t>′</m:t>
                                </m:r>
                              </m:sup>
                            </m:sSup>
                            <m:r>
                              <a:rPr lang="en-US" altLang="zh-TW" sz="2700" b="0" i="1" smtClean="0">
                                <a:latin typeface="Cambria Math" panose="02040503050406030204" pitchFamily="18" charset="0"/>
                                <a:cs typeface="Times New Roman" panose="02020603050405020304" pitchFamily="18" charset="0"/>
                              </a:rPr>
                              <m:t>,</m:t>
                            </m:r>
                            <m:sSup>
                              <m:sSupPr>
                                <m:ctrlPr>
                                  <a:rPr lang="en-US" altLang="zh-TW" sz="2700" b="0" i="1" smtClean="0">
                                    <a:latin typeface="Cambria Math" panose="02040503050406030204" pitchFamily="18" charset="0"/>
                                    <a:cs typeface="Times New Roman" panose="02020603050405020304" pitchFamily="18" charset="0"/>
                                  </a:rPr>
                                </m:ctrlPr>
                              </m:sSupPr>
                              <m:e>
                                <m:r>
                                  <a:rPr lang="en-US" altLang="zh-TW" sz="2700" b="0" i="1" smtClean="0">
                                    <a:latin typeface="Cambria Math" panose="02040503050406030204" pitchFamily="18" charset="0"/>
                                    <a:cs typeface="Times New Roman" panose="02020603050405020304" pitchFamily="18" charset="0"/>
                                  </a:rPr>
                                  <m:t>𝑎</m:t>
                                </m:r>
                              </m:e>
                              <m:sup>
                                <m:r>
                                  <a:rPr lang="en-US" altLang="zh-TW" sz="2700" b="0" i="1" smtClean="0">
                                    <a:latin typeface="Cambria Math" panose="02040503050406030204" pitchFamily="18" charset="0"/>
                                    <a:cs typeface="Times New Roman" panose="02020603050405020304" pitchFamily="18" charset="0"/>
                                  </a:rPr>
                                  <m:t>′</m:t>
                                </m:r>
                              </m:sup>
                            </m:sSup>
                            <m:r>
                              <a:rPr lang="en-US" altLang="zh-TW" sz="2700" b="0" i="1" smtClean="0">
                                <a:latin typeface="Cambria Math" panose="02040503050406030204" pitchFamily="18" charset="0"/>
                                <a:cs typeface="Times New Roman" panose="02020603050405020304" pitchFamily="18" charset="0"/>
                              </a:rPr>
                              <m:t>;</m:t>
                            </m:r>
                            <m:r>
                              <a:rPr lang="en-US" altLang="zh-TW" sz="2700" b="0" i="1" smtClean="0">
                                <a:latin typeface="Cambria Math" panose="02040503050406030204" pitchFamily="18" charset="0"/>
                                <a:cs typeface="Times New Roman" panose="02020603050405020304" pitchFamily="18" charset="0"/>
                              </a:rPr>
                              <m:t>𝜃</m:t>
                            </m:r>
                            <m:r>
                              <a:rPr lang="en-US" altLang="zh-TW" sz="2700" b="0" i="1" smtClean="0">
                                <a:latin typeface="Cambria Math" panose="02040503050406030204" pitchFamily="18" charset="0"/>
                                <a:cs typeface="Times New Roman" panose="02020603050405020304" pitchFamily="18" charset="0"/>
                              </a:rPr>
                              <m:t>)|</m:t>
                            </m:r>
                            <m:r>
                              <a:rPr lang="en-US" altLang="zh-TW" sz="2700" b="0" i="1" smtClean="0">
                                <a:latin typeface="Cambria Math" panose="02040503050406030204" pitchFamily="18" charset="0"/>
                                <a:cs typeface="Times New Roman" panose="02020603050405020304" pitchFamily="18" charset="0"/>
                              </a:rPr>
                              <m:t>𝑠</m:t>
                            </m:r>
                            <m:r>
                              <a:rPr lang="en-US" altLang="zh-TW" sz="2700" b="0" i="1" smtClean="0">
                                <a:latin typeface="Cambria Math" panose="02040503050406030204" pitchFamily="18" charset="0"/>
                                <a:cs typeface="Times New Roman" panose="02020603050405020304" pitchFamily="18" charset="0"/>
                              </a:rPr>
                              <m:t>,</m:t>
                            </m:r>
                            <m:r>
                              <a:rPr lang="en-US" altLang="zh-TW" sz="2700" b="0" i="1" smtClean="0">
                                <a:latin typeface="Cambria Math" panose="02040503050406030204" pitchFamily="18" charset="0"/>
                                <a:cs typeface="Times New Roman" panose="02020603050405020304" pitchFamily="18" charset="0"/>
                              </a:rPr>
                              <m:t>𝑎</m:t>
                            </m:r>
                            <m:r>
                              <a:rPr lang="en-US" altLang="zh-TW" sz="2700" b="0" i="1" smtClean="0">
                                <a:latin typeface="Cambria Math" panose="02040503050406030204" pitchFamily="18" charset="0"/>
                                <a:cs typeface="Times New Roman" panose="02020603050405020304" pitchFamily="18" charset="0"/>
                              </a:rPr>
                              <m:t>]</m:t>
                            </m:r>
                          </m:e>
                        </m:d>
                      </m:e>
                      <m:sup>
                        <m:r>
                          <a:rPr lang="en-US" altLang="zh-TW" sz="2700" b="0" i="1" smtClean="0">
                            <a:latin typeface="Cambria Math" panose="02040503050406030204" pitchFamily="18" charset="0"/>
                            <a:cs typeface="Times New Roman" panose="02020603050405020304" pitchFamily="18" charset="0"/>
                          </a:rPr>
                          <m:t>2</m:t>
                        </m:r>
                      </m:sup>
                    </m:sSup>
                  </m:oMath>
                </a14:m>
                <a:endParaRPr lang="en-US" altLang="zh-TW" sz="2700"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4"/>
                <a:stretch>
                  <a:fillRect l="-1704" t="-1348"/>
                </a:stretch>
              </a:blipFill>
            </p:spPr>
            <p:txBody>
              <a:bodyPr/>
              <a:lstStyle/>
              <a:p>
                <a:r>
                  <a:rPr lang="zh-TW" altLang="en-US">
                    <a:noFill/>
                  </a:rPr>
                  <a:t> </a:t>
                </a:r>
              </a:p>
            </p:txBody>
          </p:sp>
        </mc:Fallback>
      </mc:AlternateContent>
      <p:pic>
        <p:nvPicPr>
          <p:cNvPr id="8" name="圖片 7">
            <a:extLst>
              <a:ext uri="{FF2B5EF4-FFF2-40B4-BE49-F238E27FC236}">
                <a16:creationId xmlns:a16="http://schemas.microsoft.com/office/drawing/2014/main" id="{D566A5BC-A2A6-4BA4-AA0C-ED9A3FC0B834}"/>
              </a:ext>
            </a:extLst>
          </p:cNvPr>
          <p:cNvPicPr>
            <a:picLocks noChangeAspect="1"/>
          </p:cNvPicPr>
          <p:nvPr/>
        </p:nvPicPr>
        <p:blipFill>
          <a:blip r:embed="rId5"/>
          <a:stretch>
            <a:fillRect/>
          </a:stretch>
        </p:blipFill>
        <p:spPr>
          <a:xfrm>
            <a:off x="0" y="4149080"/>
            <a:ext cx="9144000" cy="2572301"/>
          </a:xfrm>
          <a:prstGeom prst="rect">
            <a:avLst/>
          </a:prstGeom>
        </p:spPr>
      </p:pic>
    </p:spTree>
    <p:extLst>
      <p:ext uri="{BB962C8B-B14F-4D97-AF65-F5344CB8AC3E}">
        <p14:creationId xmlns:p14="http://schemas.microsoft.com/office/powerpoint/2010/main" val="323594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60648"/>
            <a:ext cx="8229600" cy="1143000"/>
          </a:xfrm>
        </p:spPr>
        <p:txBody>
          <a:bodyPr/>
          <a:lstStyle/>
          <a:p>
            <a:pPr algn="l"/>
            <a:r>
              <a:rPr lang="en-US" altLang="zh-TW" dirty="0">
                <a:latin typeface="Times New Roman" pitchFamily="18" charset="0"/>
                <a:cs typeface="Times New Roman" pitchFamily="18" charset="0"/>
              </a:rPr>
              <a:t>Proposed Framework</a:t>
            </a:r>
            <a:endParaRPr lang="zh-TW" alt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r>
                  <a:rPr lang="en-US" altLang="zh-TW" dirty="0">
                    <a:latin typeface="Times New Roman" panose="02020603050405020304" pitchFamily="18" charset="0"/>
                    <a:cs typeface="Times New Roman" panose="02020603050405020304" pitchFamily="18" charset="0"/>
                  </a:rPr>
                  <a:t>Reward </a:t>
                </a:r>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𝑟</m:t>
                        </m:r>
                      </m:e>
                      <m:sub>
                        <m:r>
                          <a:rPr lang="en-US" altLang="zh-TW" b="0" i="1" smtClean="0">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𝑄</m:t>
                    </m:r>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b="0" i="1" smtClean="0">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𝑡</m:t>
                            </m:r>
                          </m:sub>
                        </m:sSub>
                      </m:e>
                    </m:d>
                    <m:r>
                      <a:rPr lang="en-US" altLang="zh-TW" b="0" i="0" smtClean="0">
                        <a:latin typeface="Cambria Math" panose="02040503050406030204" pitchFamily="18" charset="0"/>
                        <a:cs typeface="Times New Roman" panose="02020603050405020304" pitchFamily="18" charset="0"/>
                      </a:rPr>
                      <m:t>=1−</m:t>
                    </m:r>
                    <m:r>
                      <m:rPr>
                        <m:sty m:val="p"/>
                      </m:rPr>
                      <a:rPr lang="en-US" altLang="zh-TW" b="0" i="0" smtClean="0">
                        <a:latin typeface="Cambria Math" panose="02040503050406030204" pitchFamily="18" charset="0"/>
                        <a:cs typeface="Times New Roman" panose="02020603050405020304" pitchFamily="18" charset="0"/>
                      </a:rPr>
                      <m:t>c</m:t>
                    </m:r>
                    <m:d>
                      <m:dPr>
                        <m:ctrlPr>
                          <a:rPr lang="en-US" altLang="zh-TW" b="0" i="1" smtClean="0">
                            <a:latin typeface="Cambria Math" panose="02040503050406030204" pitchFamily="18" charset="0"/>
                            <a:cs typeface="Times New Roman" panose="02020603050405020304" pitchFamily="18" charset="0"/>
                          </a:rPr>
                        </m:ctrlPr>
                      </m:dPr>
                      <m:e>
                        <m:sSup>
                          <m:sSupPr>
                            <m:ctrlPr>
                              <a:rPr lang="en-US" altLang="zh-TW" b="0" i="1" smtClean="0">
                                <a:latin typeface="Cambria Math" panose="02040503050406030204" pitchFamily="18" charset="0"/>
                                <a:cs typeface="Times New Roman" panose="02020603050405020304" pitchFamily="18" charset="0"/>
                              </a:rPr>
                            </m:ctrlPr>
                          </m:sSupPr>
                          <m:e>
                            <m:r>
                              <m:rPr>
                                <m:sty m:val="p"/>
                              </m:rPr>
                              <a:rPr lang="en-US" altLang="zh-TW" b="0" i="0" smtClean="0">
                                <a:latin typeface="Cambria Math" panose="02040503050406030204" pitchFamily="18" charset="0"/>
                                <a:cs typeface="Times New Roman" panose="02020603050405020304" pitchFamily="18" charset="0"/>
                              </a:rPr>
                              <m:t>a</m:t>
                            </m:r>
                          </m:e>
                          <m:sup>
                            <m:r>
                              <a:rPr lang="en-US" altLang="zh-TW" b="0" i="0" smtClean="0">
                                <a:latin typeface="Cambria Math" panose="02040503050406030204" pitchFamily="18" charset="0"/>
                                <a:cs typeface="Times New Roman" panose="02020603050405020304" pitchFamily="18" charset="0"/>
                              </a:rPr>
                              <m:t>∗</m:t>
                            </m:r>
                            <m:d>
                              <m:dPr>
                                <m:ctrlPr>
                                  <a:rPr lang="en-US" altLang="zh-TW" b="0" i="1" smtClean="0">
                                    <a:latin typeface="Cambria Math" panose="02040503050406030204" pitchFamily="18" charset="0"/>
                                    <a:cs typeface="Times New Roman" panose="02020603050405020304" pitchFamily="18" charset="0"/>
                                  </a:rPr>
                                </m:ctrlPr>
                              </m:dPr>
                              <m:e>
                                <m:r>
                                  <m:rPr>
                                    <m:sty m:val="p"/>
                                  </m:rPr>
                                  <a:rPr lang="en-US" altLang="zh-TW" b="0" i="0" smtClean="0">
                                    <a:latin typeface="Cambria Math" panose="02040503050406030204" pitchFamily="18" charset="0"/>
                                    <a:cs typeface="Times New Roman" panose="02020603050405020304" pitchFamily="18" charset="0"/>
                                  </a:rPr>
                                  <m:t>t</m:t>
                                </m:r>
                              </m:e>
                            </m:d>
                          </m:sup>
                        </m:sSup>
                      </m:e>
                    </m:d>
                  </m:oMath>
                </a14:m>
                <a:endParaRPr lang="en-US" altLang="zh-TW" b="0"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𝑐</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𝑎</m:t>
                        </m:r>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𝑐</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𝑎</m:t>
                        </m:r>
                      </m:e>
                    </m:d>
                    <m:r>
                      <a:rPr lang="en-US" altLang="zh-TW" b="0" i="1" smtClean="0">
                        <a:latin typeface="Cambria Math" panose="02040503050406030204" pitchFamily="18" charset="0"/>
                        <a:cs typeface="Times New Roman" panose="02020603050405020304" pitchFamily="18" charset="0"/>
                      </a:rPr>
                      <m:t>′−</m:t>
                    </m:r>
                    <m:func>
                      <m:funcPr>
                        <m:ctrlPr>
                          <a:rPr lang="en-US" altLang="zh-TW" b="0" i="1" smtClean="0">
                            <a:latin typeface="Cambria Math" panose="02040503050406030204" pitchFamily="18" charset="0"/>
                            <a:cs typeface="Times New Roman" panose="02020603050405020304" pitchFamily="18" charset="0"/>
                          </a:rPr>
                        </m:ctrlPr>
                      </m:funcPr>
                      <m:fName>
                        <m:limLow>
                          <m:limLowPr>
                            <m:ctrlPr>
                              <a:rPr lang="en-US" altLang="zh-TW" b="0" i="1" smtClean="0">
                                <a:latin typeface="Cambria Math" panose="02040503050406030204" pitchFamily="18" charset="0"/>
                                <a:cs typeface="Times New Roman" panose="02020603050405020304" pitchFamily="18" charset="0"/>
                              </a:rPr>
                            </m:ctrlPr>
                          </m:limLowPr>
                          <m:e>
                            <m:r>
                              <m:rPr>
                                <m:sty m:val="p"/>
                              </m:rPr>
                              <a:rPr lang="en-US" altLang="zh-TW" b="0" i="0" smtClean="0">
                                <a:latin typeface="Cambria Math" panose="02040503050406030204" pitchFamily="18" charset="0"/>
                                <a:cs typeface="Times New Roman" panose="02020603050405020304" pitchFamily="18" charset="0"/>
                              </a:rPr>
                              <m:t>min</m:t>
                            </m:r>
                          </m:e>
                          <m:lim>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m:t>
                                </m:r>
                              </m:sup>
                            </m:sSup>
                          </m:lim>
                        </m:limLow>
                      </m:fName>
                      <m:e>
                        <m:r>
                          <a:rPr lang="en-US" altLang="zh-TW" b="0" i="1" smtClean="0">
                            <a:latin typeface="Cambria Math" panose="02040503050406030204" pitchFamily="18" charset="0"/>
                            <a:cs typeface="Times New Roman" panose="02020603050405020304" pitchFamily="18" charset="0"/>
                          </a:rPr>
                          <m:t>𝑐</m:t>
                        </m:r>
                        <m:d>
                          <m:dPr>
                            <m:ctrlPr>
                              <a:rPr lang="en-US" altLang="zh-TW" b="0" i="1" smtClean="0">
                                <a:latin typeface="Cambria Math" panose="02040503050406030204" pitchFamily="18" charset="0"/>
                                <a:cs typeface="Times New Roman" panose="02020603050405020304" pitchFamily="18" charset="0"/>
                              </a:rPr>
                            </m:ctrlPr>
                          </m:dPr>
                          <m:e>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m:t>
                                </m:r>
                              </m:sup>
                            </m:sSup>
                          </m:e>
                        </m:d>
                        <m:r>
                          <a:rPr lang="en-US" altLang="zh-TW" b="0" i="1" smtClean="0">
                            <a:latin typeface="Cambria Math" panose="02040503050406030204" pitchFamily="18" charset="0"/>
                            <a:cs typeface="Times New Roman" panose="02020603050405020304" pitchFamily="18" charset="0"/>
                          </a:rPr>
                          <m:t>′</m:t>
                        </m:r>
                      </m:e>
                    </m:func>
                    <m:r>
                      <a:rPr lang="en-US" altLang="zh-TW" b="0" i="1" smtClean="0">
                        <a:latin typeface="Cambria Math" panose="02040503050406030204" pitchFamily="18" charset="0"/>
                        <a:cs typeface="Times New Roman" panose="02020603050405020304" pitchFamily="18" charset="0"/>
                      </a:rPr>
                      <m:t>)/25</m:t>
                    </m:r>
                  </m:oMath>
                </a14:m>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Penetrative Bellman equation: </a:t>
                </a:r>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𝛾</m:t>
                    </m:r>
                    <m:r>
                      <a:rPr lang="en-US" altLang="zh-TW" b="0" i="1" smtClean="0">
                        <a:latin typeface="Cambria Math" panose="02040503050406030204" pitchFamily="18" charset="0"/>
                        <a:cs typeface="Times New Roman" panose="02020603050405020304" pitchFamily="18" charset="0"/>
                      </a:rPr>
                      <m:t>=1</m:t>
                    </m:r>
                    <m:r>
                      <a:rPr lang="en-US" altLang="zh-TW" b="0" i="0" smtClean="0">
                        <a:latin typeface="Cambria Math" panose="02040503050406030204" pitchFamily="18" charset="0"/>
                        <a:cs typeface="Times New Roman" panose="02020603050405020304" pitchFamily="18" charset="0"/>
                      </a:rPr>
                      <m:t>,</m:t>
                    </m:r>
                    <m:r>
                      <m:rPr>
                        <m:sty m:val="p"/>
                      </m:rPr>
                      <a:rPr lang="en-US" altLang="zh-TW" b="0" i="0" smtClean="0">
                        <a:latin typeface="Cambria Math" panose="02040503050406030204" pitchFamily="18" charset="0"/>
                        <a:cs typeface="Times New Roman" panose="02020603050405020304" pitchFamily="18" charset="0"/>
                      </a:rPr>
                      <m:t>r</m:t>
                    </m:r>
                    <m:r>
                      <a:rPr lang="en-US" altLang="zh-TW" b="0" i="0" smtClean="0">
                        <a:latin typeface="Cambria Math" panose="02040503050406030204" pitchFamily="18" charset="0"/>
                        <a:cs typeface="Times New Roman" panose="02020603050405020304" pitchFamily="18" charset="0"/>
                      </a:rPr>
                      <m:t>=0</m:t>
                    </m:r>
                  </m:oMath>
                </a14:m>
                <a:endParaRPr lang="en-US" altLang="zh-TW" dirty="0">
                  <a:latin typeface="Times New Roman" panose="02020603050405020304" pitchFamily="18" charset="0"/>
                  <a:cs typeface="Times New Roman" panose="02020603050405020304" pitchFamily="18" charset="0"/>
                </a:endParaRPr>
              </a:p>
              <a:p>
                <a14:m>
                  <m:oMath xmlns:m="http://schemas.openxmlformats.org/officeDocument/2006/math">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r>
                          <a:rPr lang="en-US" altLang="zh-TW" i="1">
                            <a:latin typeface="Cambria Math" panose="02040503050406030204" pitchFamily="18" charset="0"/>
                            <a:cs typeface="Times New Roman" panose="02020603050405020304" pitchFamily="18" charset="0"/>
                          </a:rPr>
                          <m:t>𝑎</m:t>
                        </m:r>
                      </m:lim>
                    </m:limLow>
                    <m:r>
                      <a:rPr lang="en-US" altLang="zh-TW" b="0" i="1" smtClean="0">
                        <a:latin typeface="Cambria Math" panose="02040503050406030204" pitchFamily="18" charset="0"/>
                        <a:cs typeface="Times New Roman" panose="02020603050405020304" pitchFamily="18" charset="0"/>
                      </a:rPr>
                      <m:t> </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𝑖</m:t>
                            </m:r>
                          </m:e>
                        </m:d>
                      </m:sup>
                    </m:sSup>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𝑎</m:t>
                        </m:r>
                      </m:e>
                    </m:d>
                    <m:r>
                      <a:rPr lang="en-US" altLang="zh-TW" b="0" i="1" smtClean="0">
                        <a:latin typeface="Cambria Math" panose="02040503050406030204" pitchFamily="18" charset="0"/>
                        <a:cs typeface="Times New Roman" panose="02020603050405020304" pitchFamily="18" charset="0"/>
                      </a:rPr>
                      <m:t>=</m:t>
                    </m:r>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r>
                          <a:rPr lang="en-US" altLang="zh-TW" i="1">
                            <a:latin typeface="Cambria Math" panose="02040503050406030204" pitchFamily="18" charset="0"/>
                            <a:cs typeface="Times New Roman" panose="02020603050405020304" pitchFamily="18" charset="0"/>
                          </a:rPr>
                          <m:t>𝑎</m:t>
                        </m:r>
                      </m:lim>
                    </m:limLow>
                    <m:r>
                      <a:rPr lang="en-US" altLang="zh-TW" b="0" i="1" smtClean="0">
                        <a:latin typeface="Cambria Math" panose="02040503050406030204" pitchFamily="18" charset="0"/>
                        <a:cs typeface="Times New Roman" panose="02020603050405020304" pitchFamily="18" charset="0"/>
                      </a:rPr>
                      <m:t> </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𝑖</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𝑡</m:t>
                            </m:r>
                          </m:e>
                        </m:d>
                      </m:sup>
                    </m:sSup>
                    <m:d>
                      <m:dPr>
                        <m:ctrlPr>
                          <a:rPr lang="en-US" altLang="zh-TW" b="0" i="1" smtClean="0">
                            <a:latin typeface="Cambria Math" panose="02040503050406030204" pitchFamily="18" charset="0"/>
                            <a:cs typeface="Times New Roman" panose="02020603050405020304" pitchFamily="18" charset="0"/>
                          </a:rPr>
                        </m:ctrlPr>
                      </m:dPr>
                      <m:e>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𝑠</m:t>
                            </m:r>
                          </m:e>
                          <m:sup>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m:t>
                            </m:r>
                          </m:sup>
                        </m:sSup>
                        <m:r>
                          <a:rPr lang="en-US" altLang="zh-TW" b="0" i="1" smtClean="0">
                            <a:latin typeface="Cambria Math" panose="02040503050406030204" pitchFamily="18" charset="0"/>
                            <a:cs typeface="Times New Roman" panose="02020603050405020304" pitchFamily="18" charset="0"/>
                          </a:rPr>
                          <m:t>,</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m:t>
                            </m:r>
                          </m:sup>
                        </m:sSup>
                      </m:e>
                      <m:e>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𝑎</m:t>
                        </m:r>
                      </m:e>
                    </m:d>
                  </m:oMath>
                </a14:m>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3"/>
                <a:stretch>
                  <a:fillRect l="-1704" t="-943"/>
                </a:stretch>
              </a:blipFill>
            </p:spPr>
            <p:txBody>
              <a:bodyPr/>
              <a:lstStyle/>
              <a:p>
                <a:r>
                  <a:rPr lang="zh-TW" altLang="en-US">
                    <a:noFill/>
                  </a:rPr>
                  <a:t> </a:t>
                </a:r>
              </a:p>
            </p:txBody>
          </p:sp>
        </mc:Fallback>
      </mc:AlternateContent>
      <p:pic>
        <p:nvPicPr>
          <p:cNvPr id="7" name="圖片 6">
            <a:extLst>
              <a:ext uri="{FF2B5EF4-FFF2-40B4-BE49-F238E27FC236}">
                <a16:creationId xmlns:a16="http://schemas.microsoft.com/office/drawing/2014/main" id="{32860A6D-8EA9-43A3-8955-5F571AEB6EED}"/>
              </a:ext>
            </a:extLst>
          </p:cNvPr>
          <p:cNvPicPr>
            <a:picLocks noChangeAspect="1"/>
          </p:cNvPicPr>
          <p:nvPr/>
        </p:nvPicPr>
        <p:blipFill rotWithShape="1">
          <a:blip r:embed="rId4">
            <a:extLst>
              <a:ext uri="{28A0092B-C50C-407E-A947-70E740481C1C}">
                <a14:useLocalDpi xmlns:a14="http://schemas.microsoft.com/office/drawing/2010/main" val="0"/>
              </a:ext>
            </a:extLst>
          </a:blip>
          <a:srcRect t="68000"/>
          <a:stretch/>
        </p:blipFill>
        <p:spPr>
          <a:xfrm>
            <a:off x="6156176" y="315008"/>
            <a:ext cx="2867025" cy="1280170"/>
          </a:xfrm>
          <a:prstGeom prst="rect">
            <a:avLst/>
          </a:prstGeom>
        </p:spPr>
      </p:pic>
    </p:spTree>
    <p:extLst>
      <p:ext uri="{BB962C8B-B14F-4D97-AF65-F5344CB8AC3E}">
        <p14:creationId xmlns:p14="http://schemas.microsoft.com/office/powerpoint/2010/main" val="42653579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Exploration</a:t>
            </a:r>
            <a:endParaRPr lang="zh-TW" alt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𝜖</m:t>
                    </m:r>
                  </m:oMath>
                </a14:m>
                <a:r>
                  <a:rPr lang="en-US" altLang="zh-TW" dirty="0">
                    <a:latin typeface="Times New Roman" panose="02020603050405020304" pitchFamily="18" charset="0"/>
                    <a:cs typeface="Times New Roman" panose="02020603050405020304" pitchFamily="18" charset="0"/>
                  </a:rPr>
                  <a:t>-greedy:</a:t>
                </a:r>
                <a:br>
                  <a:rPr lang="en-US" altLang="zh-TW" dirty="0">
                    <a:latin typeface="Times New Roman" panose="02020603050405020304" pitchFamily="18" charset="0"/>
                    <a:cs typeface="Times New Roman" panose="02020603050405020304" pitchFamily="18" charset="0"/>
                  </a:rPr>
                </a:br>
                <a14:m>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m:t>
                        </m:r>
                      </m:sup>
                    </m:sSup>
                    <m:r>
                      <a:rPr lang="en-US" altLang="zh-TW" b="0" i="1" smtClean="0">
                        <a:latin typeface="Cambria Math" panose="02040503050406030204" pitchFamily="18" charset="0"/>
                        <a:cs typeface="Times New Roman" panose="02020603050405020304" pitchFamily="18" charset="0"/>
                      </a:rPr>
                      <m:t>=</m:t>
                    </m:r>
                    <m:d>
                      <m:dPr>
                        <m:begChr m:val="{"/>
                        <m:endChr m:val=""/>
                        <m:ctrlPr>
                          <a:rPr lang="en-US" altLang="zh-TW" b="0" i="1" smtClean="0">
                            <a:latin typeface="Cambria Math" panose="02040503050406030204" pitchFamily="18" charset="0"/>
                            <a:cs typeface="Times New Roman" panose="02020603050405020304" pitchFamily="18" charset="0"/>
                          </a:rPr>
                        </m:ctrlPr>
                      </m:dPr>
                      <m:e>
                        <m:eqArr>
                          <m:eqArrPr>
                            <m:ctrlPr>
                              <a:rPr lang="en-US" altLang="zh-TW" b="0" i="1" smtClean="0">
                                <a:latin typeface="Cambria Math" panose="02040503050406030204" pitchFamily="18" charset="0"/>
                                <a:cs typeface="Times New Roman" panose="02020603050405020304" pitchFamily="18" charset="0"/>
                              </a:rPr>
                            </m:ctrlPr>
                          </m:eqArrPr>
                          <m:e>
                            <m:func>
                              <m:funcPr>
                                <m:ctrlPr>
                                  <a:rPr lang="en-US" altLang="zh-TW" b="0" i="1" smtClean="0">
                                    <a:latin typeface="Cambria Math" panose="02040503050406030204" pitchFamily="18" charset="0"/>
                                    <a:cs typeface="Times New Roman" panose="02020603050405020304" pitchFamily="18" charset="0"/>
                                  </a:rPr>
                                </m:ctrlPr>
                              </m:funcPr>
                              <m:fName>
                                <m:limLow>
                                  <m:limLowPr>
                                    <m:ctrlPr>
                                      <a:rPr lang="en-US" altLang="zh-TW" b="0" i="1" smtClean="0">
                                        <a:latin typeface="Cambria Math" panose="02040503050406030204" pitchFamily="18" charset="0"/>
                                        <a:cs typeface="Times New Roman" panose="02020603050405020304" pitchFamily="18" charset="0"/>
                                      </a:rPr>
                                    </m:ctrlPr>
                                  </m:limLowPr>
                                  <m:e>
                                    <m:r>
                                      <m:rPr>
                                        <m:sty m:val="p"/>
                                      </m:rPr>
                                      <a:rPr lang="en-US" altLang="zh-TW" b="0" i="0" smtClean="0">
                                        <a:latin typeface="Cambria Math" panose="02040503050406030204" pitchFamily="18" charset="0"/>
                                        <a:cs typeface="Times New Roman" panose="02020603050405020304" pitchFamily="18" charset="0"/>
                                      </a:rPr>
                                      <m:t>max</m:t>
                                    </m:r>
                                  </m:e>
                                  <m:lim>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𝑡</m:t>
                                        </m:r>
                                      </m:sup>
                                    </m:sSup>
                                  </m:lim>
                                </m:limLow>
                              </m:fName>
                              <m:e>
                                <m:r>
                                  <a:rPr lang="en-US" altLang="zh-TW" b="0" i="1" smtClean="0">
                                    <a:latin typeface="Cambria Math" panose="02040503050406030204" pitchFamily="18" charset="0"/>
                                    <a:cs typeface="Times New Roman" panose="02020603050405020304" pitchFamily="18" charset="0"/>
                                  </a:rPr>
                                  <m:t>𝑄</m:t>
                                </m:r>
                                <m:d>
                                  <m:dPr>
                                    <m:ctrlPr>
                                      <a:rPr lang="en-US" altLang="zh-TW" b="0" i="1" smtClean="0">
                                        <a:latin typeface="Cambria Math" panose="02040503050406030204" pitchFamily="18" charset="0"/>
                                        <a:cs typeface="Times New Roman" panose="02020603050405020304" pitchFamily="18" charset="0"/>
                                      </a:rPr>
                                    </m:ctrlPr>
                                  </m:dPr>
                                  <m:e>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𝑠</m:t>
                                        </m:r>
                                      </m:e>
                                      <m:sup>
                                        <m:r>
                                          <a:rPr lang="en-US" altLang="zh-TW" b="0" i="1" smtClean="0">
                                            <a:latin typeface="Cambria Math" panose="02040503050406030204" pitchFamily="18" charset="0"/>
                                            <a:cs typeface="Times New Roman" panose="02020603050405020304" pitchFamily="18" charset="0"/>
                                          </a:rPr>
                                          <m:t>𝑡</m:t>
                                        </m:r>
                                      </m:sup>
                                    </m:sSup>
                                    <m:r>
                                      <a:rPr lang="en-US" altLang="zh-TW" b="0" i="1" smtClean="0">
                                        <a:latin typeface="Cambria Math" panose="02040503050406030204" pitchFamily="18" charset="0"/>
                                        <a:cs typeface="Times New Roman" panose="02020603050405020304" pitchFamily="18" charset="0"/>
                                      </a:rPr>
                                      <m:t>,</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𝑡</m:t>
                                        </m:r>
                                      </m:sup>
                                    </m:sSup>
                                  </m:e>
                                </m:d>
                              </m:e>
                            </m:func>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𝑥</m:t>
                            </m:r>
                            <m:r>
                              <a:rPr lang="en-US" altLang="zh-TW" b="0" i="1" smtClean="0">
                                <a:latin typeface="Cambria Math" panose="02040503050406030204" pitchFamily="18" charset="0"/>
                                <a:cs typeface="Times New Roman" panose="02020603050405020304" pitchFamily="18" charset="0"/>
                              </a:rPr>
                              <m:t>&gt;</m:t>
                            </m:r>
                            <m:r>
                              <a:rPr lang="en-US" altLang="zh-TW" b="0" i="1" smtClean="0">
                                <a:latin typeface="Cambria Math" panose="02040503050406030204" pitchFamily="18" charset="0"/>
                                <a:cs typeface="Times New Roman" panose="02020603050405020304" pitchFamily="18" charset="0"/>
                              </a:rPr>
                              <m:t>𝜖</m:t>
                            </m:r>
                          </m:e>
                          <m:e>
                            <m:r>
                              <a:rPr lang="en-US" altLang="zh-TW" b="0" i="1" smtClean="0">
                                <a:latin typeface="Cambria Math" panose="02040503050406030204" pitchFamily="18" charset="0"/>
                                <a:cs typeface="Times New Roman" panose="02020603050405020304" pitchFamily="18" charset="0"/>
                              </a:rPr>
                              <m:t>𝑟𝑎𝑛𝑑𝑜𝑚𝑙𝑦</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𝑐h𝑜𝑜𝑠𝑒</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𝑜𝑡h𝑒𝑟𝑤𝑖𝑠𝑒</m:t>
                            </m:r>
                          </m:e>
                        </m:eqArr>
                      </m:e>
                    </m:d>
                  </m:oMath>
                </a14:m>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UCB1:</a:t>
                </a:r>
                <a:br>
                  <a:rPr lang="en-US" altLang="zh-TW" dirty="0">
                    <a:latin typeface="Times New Roman" panose="02020603050405020304" pitchFamily="18" charset="0"/>
                    <a:cs typeface="Times New Roman" panose="02020603050405020304" pitchFamily="18" charset="0"/>
                  </a:rPr>
                </a:br>
                <a14:m>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m:t>
                        </m:r>
                      </m:sup>
                    </m:sSup>
                    <m:r>
                      <a:rPr lang="en-US" altLang="zh-TW" b="0" i="1" smtClean="0">
                        <a:latin typeface="Cambria Math" panose="02040503050406030204" pitchFamily="18" charset="0"/>
                        <a:cs typeface="Times New Roman" panose="02020603050405020304" pitchFamily="18" charset="0"/>
                      </a:rPr>
                      <m:t>=</m:t>
                    </m:r>
                    <m:func>
                      <m:funcPr>
                        <m:ctrlPr>
                          <a:rPr lang="en-US" altLang="zh-TW" b="0" i="1" smtClean="0">
                            <a:latin typeface="Cambria Math" panose="02040503050406030204" pitchFamily="18" charset="0"/>
                            <a:cs typeface="Times New Roman" panose="02020603050405020304" pitchFamily="18" charset="0"/>
                          </a:rPr>
                        </m:ctrlPr>
                      </m:funcPr>
                      <m:fName>
                        <m:limLow>
                          <m:limLowPr>
                            <m:ctrlPr>
                              <a:rPr lang="en-US" altLang="zh-TW" b="0" i="1" smtClean="0">
                                <a:latin typeface="Cambria Math" panose="02040503050406030204" pitchFamily="18" charset="0"/>
                                <a:cs typeface="Times New Roman" panose="02020603050405020304" pitchFamily="18" charset="0"/>
                              </a:rPr>
                            </m:ctrlPr>
                          </m:limLowPr>
                          <m:e>
                            <m:r>
                              <m:rPr>
                                <m:sty m:val="p"/>
                              </m:rPr>
                              <a:rPr lang="en-US" altLang="zh-TW" b="0" i="0" smtClean="0">
                                <a:latin typeface="Cambria Math" panose="02040503050406030204" pitchFamily="18" charset="0"/>
                                <a:cs typeface="Times New Roman" panose="02020603050405020304" pitchFamily="18" charset="0"/>
                              </a:rPr>
                              <m:t>max</m:t>
                            </m:r>
                          </m:e>
                          <m:lim>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𝑡</m:t>
                                </m:r>
                              </m:sup>
                            </m:sSup>
                          </m:lim>
                        </m:limLow>
                      </m:fName>
                      <m:e>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𝑄</m:t>
                        </m:r>
                        <m:d>
                          <m:dPr>
                            <m:ctrlPr>
                              <a:rPr lang="en-US" altLang="zh-TW" b="0" i="1" smtClean="0">
                                <a:latin typeface="Cambria Math" panose="02040503050406030204" pitchFamily="18" charset="0"/>
                                <a:cs typeface="Times New Roman" panose="02020603050405020304" pitchFamily="18" charset="0"/>
                              </a:rPr>
                            </m:ctrlPr>
                          </m:dPr>
                          <m:e>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𝑠</m:t>
                                </m:r>
                              </m:e>
                              <m:sup>
                                <m:r>
                                  <a:rPr lang="en-US" altLang="zh-TW" b="0" i="1" smtClean="0">
                                    <a:latin typeface="Cambria Math" panose="02040503050406030204" pitchFamily="18" charset="0"/>
                                    <a:cs typeface="Times New Roman" panose="02020603050405020304" pitchFamily="18" charset="0"/>
                                  </a:rPr>
                                  <m:t>𝑡</m:t>
                                </m:r>
                              </m:sup>
                            </m:sSup>
                            <m:r>
                              <a:rPr lang="en-US" altLang="zh-TW" b="0" i="1" smtClean="0">
                                <a:latin typeface="Cambria Math" panose="02040503050406030204" pitchFamily="18" charset="0"/>
                                <a:cs typeface="Times New Roman" panose="02020603050405020304" pitchFamily="18" charset="0"/>
                              </a:rPr>
                              <m:t>,</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𝑡</m:t>
                                </m:r>
                              </m:sup>
                            </m:sSup>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𝛼</m:t>
                        </m:r>
                        <m:rad>
                          <m:radPr>
                            <m:degHide m:val="on"/>
                            <m:ctrlPr>
                              <a:rPr lang="en-US" altLang="zh-TW" b="0" i="1" smtClean="0">
                                <a:latin typeface="Cambria Math" panose="02040503050406030204" pitchFamily="18" charset="0"/>
                                <a:cs typeface="Times New Roman" panose="02020603050405020304" pitchFamily="18" charset="0"/>
                              </a:rPr>
                            </m:ctrlPr>
                          </m:radPr>
                          <m:deg/>
                          <m:e>
                            <m:f>
                              <m:fPr>
                                <m:ctrlPr>
                                  <a:rPr lang="en-US" altLang="zh-TW" b="0" i="1" smtClean="0">
                                    <a:latin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cs typeface="Times New Roman" panose="02020603050405020304" pitchFamily="18" charset="0"/>
                                  </a:rPr>
                                  <m:t>2</m:t>
                                </m:r>
                                <m:func>
                                  <m:funcPr>
                                    <m:ctrlPr>
                                      <a:rPr lang="en-US" altLang="zh-TW" b="0" i="1" smtClean="0">
                                        <a:latin typeface="Cambria Math" panose="02040503050406030204" pitchFamily="18" charset="0"/>
                                        <a:cs typeface="Times New Roman" panose="02020603050405020304" pitchFamily="18" charset="0"/>
                                      </a:rPr>
                                    </m:ctrlPr>
                                  </m:funcPr>
                                  <m:fName>
                                    <m:r>
                                      <m:rPr>
                                        <m:sty m:val="p"/>
                                      </m:rPr>
                                      <a:rPr lang="en-US" altLang="zh-TW" b="0" i="0" smtClean="0">
                                        <a:latin typeface="Cambria Math" panose="02040503050406030204" pitchFamily="18" charset="0"/>
                                        <a:cs typeface="Times New Roman" panose="02020603050405020304" pitchFamily="18" charset="0"/>
                                      </a:rPr>
                                      <m:t>ln</m:t>
                                    </m:r>
                                  </m:fName>
                                  <m:e>
                                    <m:r>
                                      <a:rPr lang="en-US" altLang="zh-TW" b="0" i="1" smtClean="0">
                                        <a:latin typeface="Cambria Math" panose="02040503050406030204" pitchFamily="18" charset="0"/>
                                        <a:cs typeface="Times New Roman" panose="02020603050405020304" pitchFamily="18" charset="0"/>
                                      </a:rPr>
                                      <m:t>𝑇</m:t>
                                    </m:r>
                                  </m:e>
                                </m:func>
                              </m:num>
                              <m:den>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𝑇</m:t>
                                    </m:r>
                                  </m:e>
                                  <m:sub>
                                    <m:r>
                                      <a:rPr lang="en-US" altLang="zh-TW" b="0" i="1" smtClean="0">
                                        <a:latin typeface="Cambria Math" panose="02040503050406030204" pitchFamily="18" charset="0"/>
                                        <a:cs typeface="Times New Roman" panose="02020603050405020304" pitchFamily="18" charset="0"/>
                                      </a:rPr>
                                      <m:t>𝑎</m:t>
                                    </m:r>
                                  </m:sub>
                                </m:sSub>
                              </m:den>
                            </m:f>
                          </m:e>
                        </m:rad>
                        <m:r>
                          <a:rPr lang="en-US" altLang="zh-TW" b="0" i="1" smtClean="0">
                            <a:latin typeface="Cambria Math" panose="02040503050406030204" pitchFamily="18" charset="0"/>
                            <a:cs typeface="Times New Roman" panose="02020603050405020304" pitchFamily="18" charset="0"/>
                          </a:rPr>
                          <m:t>]</m:t>
                        </m:r>
                      </m:e>
                    </m:func>
                  </m:oMath>
                </a14:m>
                <a:endParaRPr lang="en-US" altLang="zh-TW"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3"/>
                <a:stretch>
                  <a:fillRect l="-1704" t="-188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93884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3A63597E-B26A-42B0-A4A4-2CB8446BD719}"/>
              </a:ext>
            </a:extLst>
          </p:cNvPr>
          <p:cNvSpPr>
            <a:spLocks noGrp="1"/>
          </p:cNvSpPr>
          <p:nvPr>
            <p:ph type="title"/>
          </p:nvPr>
        </p:nvSpPr>
        <p:spPr>
          <a:xfrm>
            <a:off x="457200" y="260648"/>
            <a:ext cx="8229600" cy="1143000"/>
          </a:xfrm>
        </p:spPr>
        <p:txBody>
          <a:bodyPr/>
          <a:lstStyle/>
          <a:p>
            <a:pPr algn="l"/>
            <a:r>
              <a:rPr lang="en-US" altLang="zh-TW" dirty="0">
                <a:latin typeface="Times New Roman" panose="02020603050405020304" pitchFamily="18" charset="0"/>
                <a:cs typeface="Times New Roman" pitchFamily="18" charset="0"/>
              </a:rPr>
              <a:t>Proposed Framework</a:t>
            </a:r>
            <a:endParaRPr lang="zh-TW" altLang="en-US" dirty="0">
              <a:latin typeface="Times New Roman" panose="02020603050405020304" pitchFamily="18" charset="0"/>
              <a:cs typeface="Times New Roman" pitchFamily="18" charset="0"/>
            </a:endParaRPr>
          </a:p>
        </p:txBody>
      </p:sp>
      <p:sp>
        <p:nvSpPr>
          <p:cNvPr id="5" name="矩形 4">
            <a:extLst>
              <a:ext uri="{FF2B5EF4-FFF2-40B4-BE49-F238E27FC236}">
                <a16:creationId xmlns:a16="http://schemas.microsoft.com/office/drawing/2014/main" id="{216696E2-02E2-43DB-A6A0-6B7CB7FF679B}"/>
              </a:ext>
            </a:extLst>
          </p:cNvPr>
          <p:cNvSpPr/>
          <p:nvPr/>
        </p:nvSpPr>
        <p:spPr>
          <a:xfrm>
            <a:off x="611559" y="1487438"/>
            <a:ext cx="856192" cy="318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latin typeface="Times New Roman" panose="02020603050405020304" pitchFamily="18" charset="0"/>
                <a:cs typeface="Times New Roman" panose="02020603050405020304" pitchFamily="18" charset="0"/>
              </a:rPr>
              <a:t>Input</a:t>
            </a:r>
          </a:p>
          <a:p>
            <a:pPr algn="ctr"/>
            <a:r>
              <a:rPr lang="en-US" altLang="zh-TW" dirty="0">
                <a:latin typeface="Times New Roman" panose="02020603050405020304" pitchFamily="18" charset="0"/>
                <a:cs typeface="Times New Roman" panose="02020603050405020304" pitchFamily="18" charset="0"/>
              </a:rPr>
              <a:t>Hand of player1</a:t>
            </a:r>
          </a:p>
          <a:p>
            <a:pPr algn="ctr"/>
            <a:r>
              <a:rPr lang="en-US" altLang="zh-TW" dirty="0">
                <a:latin typeface="Times New Roman" panose="02020603050405020304" pitchFamily="18" charset="0"/>
                <a:cs typeface="Times New Roman" panose="02020603050405020304" pitchFamily="18" charset="0"/>
              </a:rPr>
              <a:t>52d</a:t>
            </a:r>
            <a:endParaRPr lang="zh-TW" altLang="en-US" dirty="0">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7011F2D1-2709-4185-8C7B-305A9511062D}"/>
              </a:ext>
            </a:extLst>
          </p:cNvPr>
          <p:cNvSpPr/>
          <p:nvPr/>
        </p:nvSpPr>
        <p:spPr>
          <a:xfrm>
            <a:off x="2440753" y="1484784"/>
            <a:ext cx="587644" cy="3831020"/>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latin typeface="Times New Roman" panose="02020603050405020304" pitchFamily="18" charset="0"/>
                <a:cs typeface="Times New Roman" panose="02020603050405020304" pitchFamily="18" charset="0"/>
              </a:rPr>
              <a:t>128d</a:t>
            </a:r>
            <a:endParaRPr lang="zh-TW" altLang="en-US" dirty="0">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E74A10A5-38A3-4E1D-9191-B70773EFCF5F}"/>
              </a:ext>
            </a:extLst>
          </p:cNvPr>
          <p:cNvSpPr/>
          <p:nvPr/>
        </p:nvSpPr>
        <p:spPr>
          <a:xfrm>
            <a:off x="3762159" y="1484784"/>
            <a:ext cx="587644" cy="3831020"/>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latin typeface="Times New Roman" panose="02020603050405020304" pitchFamily="18" charset="0"/>
                <a:cs typeface="Times New Roman" panose="02020603050405020304" pitchFamily="18" charset="0"/>
              </a:rPr>
              <a:t>128d</a:t>
            </a:r>
            <a:endParaRPr lang="zh-TW" altLang="en-US" dirty="0">
              <a:latin typeface="Times New Roman" panose="02020603050405020304" pitchFamily="18" charset="0"/>
              <a:cs typeface="Times New Roman" panose="02020603050405020304" pitchFamily="18" charset="0"/>
            </a:endParaRPr>
          </a:p>
        </p:txBody>
      </p:sp>
      <p:sp>
        <p:nvSpPr>
          <p:cNvPr id="8" name="矩形 7">
            <a:extLst>
              <a:ext uri="{FF2B5EF4-FFF2-40B4-BE49-F238E27FC236}">
                <a16:creationId xmlns:a16="http://schemas.microsoft.com/office/drawing/2014/main" id="{B06E8ACB-6E6D-4A0F-A3CF-612B4D1F0461}"/>
              </a:ext>
            </a:extLst>
          </p:cNvPr>
          <p:cNvSpPr/>
          <p:nvPr/>
        </p:nvSpPr>
        <p:spPr>
          <a:xfrm>
            <a:off x="4965402" y="1484784"/>
            <a:ext cx="587644" cy="3831020"/>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latin typeface="Times New Roman" panose="02020603050405020304" pitchFamily="18" charset="0"/>
                <a:cs typeface="Times New Roman" panose="02020603050405020304" pitchFamily="18" charset="0"/>
              </a:rPr>
              <a:t>128d</a:t>
            </a:r>
            <a:endParaRPr lang="zh-TW" altLang="en-US" dirty="0">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C82A4D7C-99E4-42CB-BE68-6BB70304844E}"/>
              </a:ext>
            </a:extLst>
          </p:cNvPr>
          <p:cNvSpPr/>
          <p:nvPr/>
        </p:nvSpPr>
        <p:spPr>
          <a:xfrm>
            <a:off x="6269167" y="1846770"/>
            <a:ext cx="839354" cy="3034443"/>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latin typeface="Times New Roman" panose="02020603050405020304" pitchFamily="18" charset="0"/>
                <a:cs typeface="Times New Roman" panose="02020603050405020304" pitchFamily="18" charset="0"/>
              </a:rPr>
              <a:t>Predict Cost 1</a:t>
            </a:r>
          </a:p>
          <a:p>
            <a:pPr algn="ctr"/>
            <a:r>
              <a:rPr lang="en-US" altLang="zh-TW" dirty="0">
                <a:latin typeface="Times New Roman" panose="02020603050405020304" pitchFamily="18" charset="0"/>
                <a:cs typeface="Times New Roman" panose="02020603050405020304" pitchFamily="18" charset="0"/>
              </a:rPr>
              <a:t>36d</a:t>
            </a:r>
            <a:endParaRPr lang="zh-TW" altLang="en-US" dirty="0">
              <a:latin typeface="Times New Roman" panose="02020603050405020304" pitchFamily="18" charset="0"/>
              <a:cs typeface="Times New Roman" panose="02020603050405020304" pitchFamily="18" charset="0"/>
            </a:endParaRPr>
          </a:p>
        </p:txBody>
      </p:sp>
      <p:sp>
        <p:nvSpPr>
          <p:cNvPr id="10" name="箭號: 向右 9">
            <a:extLst>
              <a:ext uri="{FF2B5EF4-FFF2-40B4-BE49-F238E27FC236}">
                <a16:creationId xmlns:a16="http://schemas.microsoft.com/office/drawing/2014/main" id="{2A359E50-E284-48B7-8E68-3E2828782B35}"/>
              </a:ext>
            </a:extLst>
          </p:cNvPr>
          <p:cNvSpPr/>
          <p:nvPr/>
        </p:nvSpPr>
        <p:spPr>
          <a:xfrm>
            <a:off x="1481920" y="3294715"/>
            <a:ext cx="946416" cy="2413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11" name="箭號: 向右 10">
            <a:extLst>
              <a:ext uri="{FF2B5EF4-FFF2-40B4-BE49-F238E27FC236}">
                <a16:creationId xmlns:a16="http://schemas.microsoft.com/office/drawing/2014/main" id="{5657EF7C-C80F-4630-B88F-7E6635FD5286}"/>
              </a:ext>
            </a:extLst>
          </p:cNvPr>
          <p:cNvSpPr/>
          <p:nvPr/>
        </p:nvSpPr>
        <p:spPr>
          <a:xfrm>
            <a:off x="3076945" y="3279631"/>
            <a:ext cx="649830" cy="2639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12" name="箭號: 向右 11">
            <a:extLst>
              <a:ext uri="{FF2B5EF4-FFF2-40B4-BE49-F238E27FC236}">
                <a16:creationId xmlns:a16="http://schemas.microsoft.com/office/drawing/2014/main" id="{CB79E338-CE7B-4CC1-B4ED-792851B84F4D}"/>
              </a:ext>
            </a:extLst>
          </p:cNvPr>
          <p:cNvSpPr/>
          <p:nvPr/>
        </p:nvSpPr>
        <p:spPr>
          <a:xfrm>
            <a:off x="4363780" y="3287173"/>
            <a:ext cx="587644" cy="2488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13" name="箭號: 向右 12">
            <a:extLst>
              <a:ext uri="{FF2B5EF4-FFF2-40B4-BE49-F238E27FC236}">
                <a16:creationId xmlns:a16="http://schemas.microsoft.com/office/drawing/2014/main" id="{1926A6A4-31F8-4ECC-A1FF-FB3101656813}"/>
              </a:ext>
            </a:extLst>
          </p:cNvPr>
          <p:cNvSpPr/>
          <p:nvPr/>
        </p:nvSpPr>
        <p:spPr>
          <a:xfrm>
            <a:off x="5568527" y="3287173"/>
            <a:ext cx="688077" cy="2488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14" name="矩形 13">
            <a:extLst>
              <a:ext uri="{FF2B5EF4-FFF2-40B4-BE49-F238E27FC236}">
                <a16:creationId xmlns:a16="http://schemas.microsoft.com/office/drawing/2014/main" id="{0565501F-FF15-4342-B0E4-0E793160BD52}"/>
              </a:ext>
            </a:extLst>
          </p:cNvPr>
          <p:cNvSpPr/>
          <p:nvPr/>
        </p:nvSpPr>
        <p:spPr>
          <a:xfrm>
            <a:off x="611559" y="4674680"/>
            <a:ext cx="856192" cy="12745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latin typeface="Times New Roman" panose="02020603050405020304" pitchFamily="18" charset="0"/>
                <a:cs typeface="Times New Roman" panose="02020603050405020304" pitchFamily="18" charset="0"/>
              </a:rPr>
              <a:t>Bid history</a:t>
            </a:r>
          </a:p>
          <a:p>
            <a:pPr algn="ctr"/>
            <a:r>
              <a:rPr lang="en-US" altLang="zh-TW" dirty="0">
                <a:latin typeface="Times New Roman" panose="02020603050405020304" pitchFamily="18" charset="0"/>
                <a:cs typeface="Times New Roman" panose="02020603050405020304" pitchFamily="18" charset="0"/>
              </a:rPr>
              <a:t>36d</a:t>
            </a:r>
          </a:p>
        </p:txBody>
      </p:sp>
      <p:sp>
        <p:nvSpPr>
          <p:cNvPr id="60" name="文字方塊 59">
            <a:extLst>
              <a:ext uri="{FF2B5EF4-FFF2-40B4-BE49-F238E27FC236}">
                <a16:creationId xmlns:a16="http://schemas.microsoft.com/office/drawing/2014/main" id="{75AFB9F5-A634-4D93-90FD-D58F909F63D8}"/>
              </a:ext>
            </a:extLst>
          </p:cNvPr>
          <p:cNvSpPr txBox="1"/>
          <p:nvPr/>
        </p:nvSpPr>
        <p:spPr>
          <a:xfrm>
            <a:off x="7011345" y="2974621"/>
            <a:ext cx="1527304"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Bid = UCB1(a)</a:t>
            </a:r>
            <a:endParaRPr lang="zh-TW" altLang="en-US" dirty="0">
              <a:latin typeface="Times New Roman" panose="02020603050405020304" pitchFamily="18" charset="0"/>
              <a:cs typeface="Times New Roman" panose="02020603050405020304" pitchFamily="18" charset="0"/>
            </a:endParaRPr>
          </a:p>
        </p:txBody>
      </p:sp>
      <p:cxnSp>
        <p:nvCxnSpPr>
          <p:cNvPr id="19" name="直線單箭頭接點 18">
            <a:extLst>
              <a:ext uri="{FF2B5EF4-FFF2-40B4-BE49-F238E27FC236}">
                <a16:creationId xmlns:a16="http://schemas.microsoft.com/office/drawing/2014/main" id="{D4B36BD4-FF29-4AFC-B880-0C05FFAE19D9}"/>
              </a:ext>
            </a:extLst>
          </p:cNvPr>
          <p:cNvCxnSpPr>
            <a:cxnSpLocks/>
            <a:stCxn id="9" idx="3"/>
          </p:cNvCxnSpPr>
          <p:nvPr/>
        </p:nvCxnSpPr>
        <p:spPr>
          <a:xfrm>
            <a:off x="7108521" y="3363992"/>
            <a:ext cx="17839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152DB78A-7077-40EC-BF14-CD8A2F41FEC4}"/>
              </a:ext>
            </a:extLst>
          </p:cNvPr>
          <p:cNvSpPr/>
          <p:nvPr/>
        </p:nvSpPr>
        <p:spPr>
          <a:xfrm>
            <a:off x="457200" y="1268760"/>
            <a:ext cx="8075240" cy="4896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4" name="矩形 23">
            <a:extLst>
              <a:ext uri="{FF2B5EF4-FFF2-40B4-BE49-F238E27FC236}">
                <a16:creationId xmlns:a16="http://schemas.microsoft.com/office/drawing/2014/main" id="{39EF0E94-AD1C-4F1A-A5F1-246ECB3928C0}"/>
              </a:ext>
            </a:extLst>
          </p:cNvPr>
          <p:cNvSpPr/>
          <p:nvPr/>
        </p:nvSpPr>
        <p:spPr>
          <a:xfrm>
            <a:off x="2843808" y="6165304"/>
            <a:ext cx="3412796" cy="6926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700" dirty="0">
                <a:latin typeface="Times New Roman" panose="02020603050405020304" pitchFamily="18" charset="0"/>
                <a:cs typeface="Times New Roman" panose="02020603050405020304" pitchFamily="18" charset="0"/>
              </a:rPr>
              <a:t>Bid Layer</a:t>
            </a:r>
            <a:endParaRPr lang="zh-TW" altLang="en-US" sz="2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7947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3A63597E-B26A-42B0-A4A4-2CB8446BD719}"/>
              </a:ext>
            </a:extLst>
          </p:cNvPr>
          <p:cNvSpPr>
            <a:spLocks noGrp="1"/>
          </p:cNvSpPr>
          <p:nvPr>
            <p:ph type="title"/>
          </p:nvPr>
        </p:nvSpPr>
        <p:spPr>
          <a:xfrm>
            <a:off x="457200" y="260648"/>
            <a:ext cx="8229600" cy="1143000"/>
          </a:xfrm>
        </p:spPr>
        <p:txBody>
          <a:bodyPr/>
          <a:lstStyle/>
          <a:p>
            <a:pPr algn="l"/>
            <a:r>
              <a:rPr lang="en-US" altLang="zh-TW" dirty="0">
                <a:latin typeface="Times New Roman" panose="02020603050405020304" pitchFamily="18" charset="0"/>
                <a:cs typeface="Times New Roman" pitchFamily="18" charset="0"/>
              </a:rPr>
              <a:t>Proposed Framework</a:t>
            </a:r>
            <a:endParaRPr lang="zh-TW" altLang="en-US" dirty="0">
              <a:latin typeface="Times New Roman" panose="02020603050405020304" pitchFamily="18" charset="0"/>
              <a:cs typeface="Times New Roman" pitchFamily="18" charset="0"/>
            </a:endParaRPr>
          </a:p>
        </p:txBody>
      </p:sp>
      <p:sp>
        <p:nvSpPr>
          <p:cNvPr id="15" name="矩形 14">
            <a:extLst>
              <a:ext uri="{FF2B5EF4-FFF2-40B4-BE49-F238E27FC236}">
                <a16:creationId xmlns:a16="http://schemas.microsoft.com/office/drawing/2014/main" id="{5F2958E8-115A-42DE-AF14-ED6EA773F1CC}"/>
              </a:ext>
            </a:extLst>
          </p:cNvPr>
          <p:cNvSpPr/>
          <p:nvPr/>
        </p:nvSpPr>
        <p:spPr>
          <a:xfrm>
            <a:off x="8035713" y="1700807"/>
            <a:ext cx="917694" cy="3621755"/>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latin typeface="Times New Roman" panose="02020603050405020304" pitchFamily="18" charset="0"/>
                <a:cs typeface="Times New Roman" panose="02020603050405020304" pitchFamily="18" charset="0"/>
              </a:rPr>
              <a:t>Target</a:t>
            </a:r>
          </a:p>
          <a:p>
            <a:pPr algn="ctr"/>
            <a:r>
              <a:rPr lang="en-US" altLang="zh-TW" dirty="0">
                <a:latin typeface="Times New Roman" panose="02020603050405020304" pitchFamily="18" charset="0"/>
                <a:cs typeface="Times New Roman" panose="02020603050405020304" pitchFamily="18" charset="0"/>
              </a:rPr>
              <a:t>Cost</a:t>
            </a:r>
          </a:p>
          <a:p>
            <a:pPr algn="ctr"/>
            <a:r>
              <a:rPr lang="en-US" altLang="zh-TW" dirty="0">
                <a:latin typeface="Times New Roman" panose="02020603050405020304" pitchFamily="18" charset="0"/>
                <a:cs typeface="Times New Roman" panose="02020603050405020304" pitchFamily="18" charset="0"/>
              </a:rPr>
              <a:t>36d</a:t>
            </a:r>
            <a:endParaRPr lang="zh-TW" altLang="en-US" dirty="0">
              <a:latin typeface="Times New Roman" panose="02020603050405020304" pitchFamily="18" charset="0"/>
              <a:cs typeface="Times New Roman" panose="02020603050405020304" pitchFamily="18" charset="0"/>
            </a:endParaRPr>
          </a:p>
        </p:txBody>
      </p:sp>
      <p:sp>
        <p:nvSpPr>
          <p:cNvPr id="16" name="左大括弧 15">
            <a:extLst>
              <a:ext uri="{FF2B5EF4-FFF2-40B4-BE49-F238E27FC236}">
                <a16:creationId xmlns:a16="http://schemas.microsoft.com/office/drawing/2014/main" id="{D1E5BA86-432D-4C49-B766-807643901F43}"/>
              </a:ext>
            </a:extLst>
          </p:cNvPr>
          <p:cNvSpPr/>
          <p:nvPr/>
        </p:nvSpPr>
        <p:spPr>
          <a:xfrm rot="5400000">
            <a:off x="7809322" y="963883"/>
            <a:ext cx="396046" cy="107780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9EFB2E9C-1D40-445E-9597-C8EB47A75AA2}"/>
                  </a:ext>
                </a:extLst>
              </p:cNvPr>
              <p:cNvSpPr txBox="1"/>
              <p:nvPr/>
            </p:nvSpPr>
            <p:spPr>
              <a:xfrm>
                <a:off x="7452320" y="933768"/>
                <a:ext cx="6946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𝐿</m:t>
                      </m:r>
                      <m:r>
                        <a:rPr lang="en-US" altLang="zh-TW" b="0" i="1" smtClean="0">
                          <a:latin typeface="Cambria Math" panose="02040503050406030204" pitchFamily="18" charset="0"/>
                        </a:rPr>
                        <m:t>(</m:t>
                      </m:r>
                      <m:r>
                        <a:rPr lang="en-US" altLang="zh-TW" b="0" i="1" smtClean="0">
                          <a:latin typeface="Cambria Math" panose="02040503050406030204" pitchFamily="18" charset="0"/>
                        </a:rPr>
                        <m:t>𝜃</m:t>
                      </m:r>
                      <m:r>
                        <a:rPr lang="en-US" altLang="zh-TW" b="0" i="1" smtClean="0">
                          <a:latin typeface="Cambria Math" panose="02040503050406030204" pitchFamily="18" charset="0"/>
                        </a:rPr>
                        <m:t>)</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17" name="文字方塊 16">
                <a:extLst>
                  <a:ext uri="{FF2B5EF4-FFF2-40B4-BE49-F238E27FC236}">
                    <a16:creationId xmlns:a16="http://schemas.microsoft.com/office/drawing/2014/main" id="{9EFB2E9C-1D40-445E-9597-C8EB47A75AA2}"/>
                  </a:ext>
                </a:extLst>
              </p:cNvPr>
              <p:cNvSpPr txBox="1">
                <a:spLocks noRot="1" noChangeAspect="1" noMove="1" noResize="1" noEditPoints="1" noAdjustHandles="1" noChangeArrowheads="1" noChangeShapeType="1" noTextEdit="1"/>
              </p:cNvSpPr>
              <p:nvPr/>
            </p:nvSpPr>
            <p:spPr>
              <a:xfrm>
                <a:off x="7452320" y="933768"/>
                <a:ext cx="694677" cy="369332"/>
              </a:xfrm>
              <a:prstGeom prst="rect">
                <a:avLst/>
              </a:prstGeom>
              <a:blipFill>
                <a:blip r:embed="rId2"/>
                <a:stretch>
                  <a:fillRect b="-14754"/>
                </a:stretch>
              </a:blipFill>
            </p:spPr>
            <p:txBody>
              <a:bodyPr/>
              <a:lstStyle/>
              <a:p>
                <a:r>
                  <a:rPr lang="zh-TW" altLang="en-US">
                    <a:noFill/>
                  </a:rPr>
                  <a:t> </a:t>
                </a:r>
              </a:p>
            </p:txBody>
          </p:sp>
        </mc:Fallback>
      </mc:AlternateContent>
      <p:sp>
        <p:nvSpPr>
          <p:cNvPr id="22" name="文字方塊 21">
            <a:extLst>
              <a:ext uri="{FF2B5EF4-FFF2-40B4-BE49-F238E27FC236}">
                <a16:creationId xmlns:a16="http://schemas.microsoft.com/office/drawing/2014/main" id="{C48CA6F0-D272-4AA5-90A8-4805F2F94B49}"/>
              </a:ext>
            </a:extLst>
          </p:cNvPr>
          <p:cNvSpPr txBox="1"/>
          <p:nvPr/>
        </p:nvSpPr>
        <p:spPr>
          <a:xfrm>
            <a:off x="6083072" y="579454"/>
            <a:ext cx="1169333" cy="923330"/>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Stochastic gradient descent</a:t>
            </a:r>
            <a:endParaRPr lang="zh-TW" altLang="en-US" dirty="0">
              <a:latin typeface="Times New Roman" panose="02020603050405020304" pitchFamily="18" charset="0"/>
              <a:cs typeface="Times New Roman" panose="02020603050405020304" pitchFamily="18" charset="0"/>
            </a:endParaRPr>
          </a:p>
        </p:txBody>
      </p:sp>
      <p:cxnSp>
        <p:nvCxnSpPr>
          <p:cNvPr id="58" name="直線單箭頭接點 57">
            <a:extLst>
              <a:ext uri="{FF2B5EF4-FFF2-40B4-BE49-F238E27FC236}">
                <a16:creationId xmlns:a16="http://schemas.microsoft.com/office/drawing/2014/main" id="{87D6A1DE-0E88-4B54-BFDC-1C32A312C469}"/>
              </a:ext>
            </a:extLst>
          </p:cNvPr>
          <p:cNvCxnSpPr>
            <a:cxnSpLocks/>
            <a:stCxn id="17" idx="1"/>
          </p:cNvCxnSpPr>
          <p:nvPr/>
        </p:nvCxnSpPr>
        <p:spPr>
          <a:xfrm flipH="1">
            <a:off x="6667738" y="1118434"/>
            <a:ext cx="784582" cy="5823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矩形 41">
            <a:extLst>
              <a:ext uri="{FF2B5EF4-FFF2-40B4-BE49-F238E27FC236}">
                <a16:creationId xmlns:a16="http://schemas.microsoft.com/office/drawing/2014/main" id="{2A844CCD-BCAB-43D0-A30F-A7C8D33739A0}"/>
              </a:ext>
            </a:extLst>
          </p:cNvPr>
          <p:cNvSpPr/>
          <p:nvPr/>
        </p:nvSpPr>
        <p:spPr>
          <a:xfrm>
            <a:off x="611559" y="1487438"/>
            <a:ext cx="856192" cy="318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latin typeface="Times New Roman" panose="02020603050405020304" pitchFamily="18" charset="0"/>
                <a:cs typeface="Times New Roman" panose="02020603050405020304" pitchFamily="18" charset="0"/>
              </a:rPr>
              <a:t>Input</a:t>
            </a:r>
          </a:p>
          <a:p>
            <a:pPr algn="ctr"/>
            <a:r>
              <a:rPr lang="en-US" altLang="zh-TW" dirty="0">
                <a:latin typeface="Times New Roman" panose="02020603050405020304" pitchFamily="18" charset="0"/>
                <a:cs typeface="Times New Roman" panose="02020603050405020304" pitchFamily="18" charset="0"/>
              </a:rPr>
              <a:t>Hand 52d</a:t>
            </a:r>
            <a:endParaRPr lang="zh-TW" altLang="en-US" dirty="0">
              <a:latin typeface="Times New Roman" panose="02020603050405020304" pitchFamily="18" charset="0"/>
              <a:cs typeface="Times New Roman" panose="02020603050405020304" pitchFamily="18" charset="0"/>
            </a:endParaRPr>
          </a:p>
        </p:txBody>
      </p:sp>
      <p:sp>
        <p:nvSpPr>
          <p:cNvPr id="43" name="矩形 42">
            <a:extLst>
              <a:ext uri="{FF2B5EF4-FFF2-40B4-BE49-F238E27FC236}">
                <a16:creationId xmlns:a16="http://schemas.microsoft.com/office/drawing/2014/main" id="{15AA90F7-71C9-4952-86E2-CF8505C9EC7E}"/>
              </a:ext>
            </a:extLst>
          </p:cNvPr>
          <p:cNvSpPr/>
          <p:nvPr/>
        </p:nvSpPr>
        <p:spPr>
          <a:xfrm>
            <a:off x="611559" y="4674680"/>
            <a:ext cx="856192" cy="12745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latin typeface="Times New Roman" panose="02020603050405020304" pitchFamily="18" charset="0"/>
                <a:cs typeface="Times New Roman" panose="02020603050405020304" pitchFamily="18" charset="0"/>
              </a:rPr>
              <a:t>Bid history</a:t>
            </a:r>
          </a:p>
          <a:p>
            <a:pPr algn="ctr"/>
            <a:r>
              <a:rPr lang="en-US" altLang="zh-TW" dirty="0">
                <a:latin typeface="Times New Roman" panose="02020603050405020304" pitchFamily="18" charset="0"/>
                <a:cs typeface="Times New Roman" panose="02020603050405020304" pitchFamily="18" charset="0"/>
              </a:rPr>
              <a:t>36d</a:t>
            </a:r>
          </a:p>
        </p:txBody>
      </p:sp>
      <p:sp>
        <p:nvSpPr>
          <p:cNvPr id="40" name="矩形 39">
            <a:extLst>
              <a:ext uri="{FF2B5EF4-FFF2-40B4-BE49-F238E27FC236}">
                <a16:creationId xmlns:a16="http://schemas.microsoft.com/office/drawing/2014/main" id="{C0447E44-C232-4587-8EF3-00029FC31AF3}"/>
              </a:ext>
            </a:extLst>
          </p:cNvPr>
          <p:cNvSpPr/>
          <p:nvPr/>
        </p:nvSpPr>
        <p:spPr>
          <a:xfrm>
            <a:off x="1675556" y="1502784"/>
            <a:ext cx="856193" cy="44464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latin typeface="Times New Roman" panose="02020603050405020304" pitchFamily="18" charset="0"/>
                <a:cs typeface="Times New Roman" panose="02020603050405020304" pitchFamily="18" charset="0"/>
              </a:rPr>
              <a:t>Bid</a:t>
            </a:r>
          </a:p>
          <a:p>
            <a:pPr algn="ctr"/>
            <a:r>
              <a:rPr lang="en-US" altLang="zh-TW" dirty="0">
                <a:latin typeface="Times New Roman" panose="02020603050405020304" pitchFamily="18" charset="0"/>
                <a:cs typeface="Times New Roman" panose="02020603050405020304" pitchFamily="18" charset="0"/>
              </a:rPr>
              <a:t>Layer 1</a:t>
            </a:r>
            <a:endParaRPr lang="zh-TW" altLang="en-US" dirty="0">
              <a:latin typeface="Times New Roman" panose="02020603050405020304" pitchFamily="18" charset="0"/>
              <a:cs typeface="Times New Roman" panose="02020603050405020304" pitchFamily="18" charset="0"/>
            </a:endParaRPr>
          </a:p>
        </p:txBody>
      </p:sp>
      <p:cxnSp>
        <p:nvCxnSpPr>
          <p:cNvPr id="44" name="直線單箭頭接點 43">
            <a:extLst>
              <a:ext uri="{FF2B5EF4-FFF2-40B4-BE49-F238E27FC236}">
                <a16:creationId xmlns:a16="http://schemas.microsoft.com/office/drawing/2014/main" id="{7273FC50-4FE5-4A9E-BDB2-51864750EB65}"/>
              </a:ext>
            </a:extLst>
          </p:cNvPr>
          <p:cNvCxnSpPr>
            <a:cxnSpLocks/>
            <a:endCxn id="40" idx="1"/>
          </p:cNvCxnSpPr>
          <p:nvPr/>
        </p:nvCxnSpPr>
        <p:spPr>
          <a:xfrm>
            <a:off x="1467751" y="3717032"/>
            <a:ext cx="207805" cy="9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矩形 59">
            <a:extLst>
              <a:ext uri="{FF2B5EF4-FFF2-40B4-BE49-F238E27FC236}">
                <a16:creationId xmlns:a16="http://schemas.microsoft.com/office/drawing/2014/main" id="{A9F44BF5-5C29-4E9C-9942-AB43C54DE558}"/>
              </a:ext>
            </a:extLst>
          </p:cNvPr>
          <p:cNvSpPr/>
          <p:nvPr/>
        </p:nvSpPr>
        <p:spPr>
          <a:xfrm>
            <a:off x="7045014" y="2199810"/>
            <a:ext cx="839354" cy="3034443"/>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latin typeface="Times New Roman" panose="02020603050405020304" pitchFamily="18" charset="0"/>
                <a:cs typeface="Times New Roman" panose="02020603050405020304" pitchFamily="18" charset="0"/>
              </a:rPr>
              <a:t>Predict Cost</a:t>
            </a:r>
          </a:p>
          <a:p>
            <a:pPr algn="ctr"/>
            <a:r>
              <a:rPr lang="en-US" altLang="zh-TW" dirty="0">
                <a:latin typeface="Times New Roman" panose="02020603050405020304" pitchFamily="18" charset="0"/>
                <a:cs typeface="Times New Roman" panose="02020603050405020304" pitchFamily="18" charset="0"/>
              </a:rPr>
              <a:t>36d</a:t>
            </a:r>
            <a:endParaRPr lang="zh-TW" altLang="en-US" dirty="0">
              <a:latin typeface="Times New Roman" panose="02020603050405020304" pitchFamily="18" charset="0"/>
              <a:cs typeface="Times New Roman" panose="02020603050405020304" pitchFamily="18" charset="0"/>
            </a:endParaRPr>
          </a:p>
        </p:txBody>
      </p:sp>
      <p:cxnSp>
        <p:nvCxnSpPr>
          <p:cNvPr id="53" name="直線接點 52">
            <a:extLst>
              <a:ext uri="{FF2B5EF4-FFF2-40B4-BE49-F238E27FC236}">
                <a16:creationId xmlns:a16="http://schemas.microsoft.com/office/drawing/2014/main" id="{1FFD2945-BD09-47E5-8700-A9CC4988B882}"/>
              </a:ext>
            </a:extLst>
          </p:cNvPr>
          <p:cNvCxnSpPr>
            <a:cxnSpLocks/>
            <a:stCxn id="16" idx="2"/>
            <a:endCxn id="60" idx="0"/>
          </p:cNvCxnSpPr>
          <p:nvPr/>
        </p:nvCxnSpPr>
        <p:spPr>
          <a:xfrm flipH="1">
            <a:off x="7464691" y="1700808"/>
            <a:ext cx="3753" cy="499002"/>
          </a:xfrm>
          <a:prstGeom prst="line">
            <a:avLst/>
          </a:prstGeom>
        </p:spPr>
        <p:style>
          <a:lnRef idx="1">
            <a:schemeClr val="accent1"/>
          </a:lnRef>
          <a:fillRef idx="0">
            <a:schemeClr val="accent1"/>
          </a:fillRef>
          <a:effectRef idx="0">
            <a:schemeClr val="accent1"/>
          </a:effectRef>
          <a:fontRef idx="minor">
            <a:schemeClr val="tx1"/>
          </a:fontRef>
        </p:style>
      </p:cxnSp>
      <p:sp>
        <p:nvSpPr>
          <p:cNvPr id="67" name="矩形 66">
            <a:extLst>
              <a:ext uri="{FF2B5EF4-FFF2-40B4-BE49-F238E27FC236}">
                <a16:creationId xmlns:a16="http://schemas.microsoft.com/office/drawing/2014/main" id="{E80A248D-96B2-446B-BCE2-BA8A04C0D11E}"/>
              </a:ext>
            </a:extLst>
          </p:cNvPr>
          <p:cNvSpPr/>
          <p:nvPr/>
        </p:nvSpPr>
        <p:spPr>
          <a:xfrm>
            <a:off x="2716946" y="1502784"/>
            <a:ext cx="856194" cy="44464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latin typeface="Times New Roman" panose="02020603050405020304" pitchFamily="18" charset="0"/>
                <a:cs typeface="Times New Roman" panose="02020603050405020304" pitchFamily="18" charset="0"/>
              </a:rPr>
              <a:t>Bid</a:t>
            </a:r>
          </a:p>
          <a:p>
            <a:pPr algn="ctr"/>
            <a:r>
              <a:rPr lang="en-US" altLang="zh-TW" dirty="0">
                <a:latin typeface="Times New Roman" panose="02020603050405020304" pitchFamily="18" charset="0"/>
                <a:cs typeface="Times New Roman" panose="02020603050405020304" pitchFamily="18" charset="0"/>
              </a:rPr>
              <a:t>Layer 2</a:t>
            </a:r>
            <a:endParaRPr lang="zh-TW" altLang="en-US" dirty="0">
              <a:latin typeface="Times New Roman" panose="02020603050405020304" pitchFamily="18" charset="0"/>
              <a:cs typeface="Times New Roman" panose="02020603050405020304" pitchFamily="18" charset="0"/>
            </a:endParaRPr>
          </a:p>
        </p:txBody>
      </p:sp>
      <p:cxnSp>
        <p:nvCxnSpPr>
          <p:cNvPr id="68" name="直線單箭頭接點 67">
            <a:extLst>
              <a:ext uri="{FF2B5EF4-FFF2-40B4-BE49-F238E27FC236}">
                <a16:creationId xmlns:a16="http://schemas.microsoft.com/office/drawing/2014/main" id="{4502FF2A-4938-4F19-869C-560B72C6AB14}"/>
              </a:ext>
            </a:extLst>
          </p:cNvPr>
          <p:cNvCxnSpPr>
            <a:cxnSpLocks/>
            <a:endCxn id="67" idx="1"/>
          </p:cNvCxnSpPr>
          <p:nvPr/>
        </p:nvCxnSpPr>
        <p:spPr>
          <a:xfrm>
            <a:off x="2509140" y="3717032"/>
            <a:ext cx="207806" cy="9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5BD68AD0-FB95-4596-916A-B8138D505712}"/>
              </a:ext>
            </a:extLst>
          </p:cNvPr>
          <p:cNvSpPr/>
          <p:nvPr/>
        </p:nvSpPr>
        <p:spPr>
          <a:xfrm>
            <a:off x="5339965" y="1486111"/>
            <a:ext cx="1453967" cy="44618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latin typeface="Times New Roman" panose="02020603050405020304" pitchFamily="18" charset="0"/>
                <a:cs typeface="Times New Roman" panose="02020603050405020304" pitchFamily="18" charset="0"/>
              </a:rPr>
              <a:t>Bid</a:t>
            </a:r>
          </a:p>
          <a:p>
            <a:pPr algn="ctr"/>
            <a:r>
              <a:rPr lang="en-US" altLang="zh-TW" dirty="0">
                <a:latin typeface="Times New Roman" panose="02020603050405020304" pitchFamily="18" charset="0"/>
                <a:cs typeface="Times New Roman" panose="02020603050405020304" pitchFamily="18" charset="0"/>
              </a:rPr>
              <a:t>Layer N</a:t>
            </a:r>
            <a:endParaRPr lang="zh-TW" altLang="en-US" dirty="0">
              <a:latin typeface="Times New Roman" panose="02020603050405020304" pitchFamily="18" charset="0"/>
              <a:cs typeface="Times New Roman" panose="02020603050405020304" pitchFamily="18" charset="0"/>
            </a:endParaRPr>
          </a:p>
        </p:txBody>
      </p:sp>
      <p:cxnSp>
        <p:nvCxnSpPr>
          <p:cNvPr id="70" name="直線單箭頭接點 69">
            <a:extLst>
              <a:ext uri="{FF2B5EF4-FFF2-40B4-BE49-F238E27FC236}">
                <a16:creationId xmlns:a16="http://schemas.microsoft.com/office/drawing/2014/main" id="{562EC912-9CD6-43F1-B67B-CA6DEF30FFCD}"/>
              </a:ext>
            </a:extLst>
          </p:cNvPr>
          <p:cNvCxnSpPr>
            <a:cxnSpLocks/>
            <a:endCxn id="69" idx="1"/>
          </p:cNvCxnSpPr>
          <p:nvPr/>
        </p:nvCxnSpPr>
        <p:spPr>
          <a:xfrm>
            <a:off x="5132160" y="3715705"/>
            <a:ext cx="207805" cy="13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直線單箭頭接點 75">
            <a:extLst>
              <a:ext uri="{FF2B5EF4-FFF2-40B4-BE49-F238E27FC236}">
                <a16:creationId xmlns:a16="http://schemas.microsoft.com/office/drawing/2014/main" id="{EA1DA600-C0E1-453A-8B11-DC3F0390C71A}"/>
              </a:ext>
            </a:extLst>
          </p:cNvPr>
          <p:cNvCxnSpPr>
            <a:stCxn id="69" idx="3"/>
            <a:endCxn id="60" idx="1"/>
          </p:cNvCxnSpPr>
          <p:nvPr/>
        </p:nvCxnSpPr>
        <p:spPr>
          <a:xfrm>
            <a:off x="6793932" y="3717032"/>
            <a:ext cx="2510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文字方塊 76">
            <a:extLst>
              <a:ext uri="{FF2B5EF4-FFF2-40B4-BE49-F238E27FC236}">
                <a16:creationId xmlns:a16="http://schemas.microsoft.com/office/drawing/2014/main" id="{AEC76C30-B727-4D9C-A1AC-582E4F3AD4F3}"/>
              </a:ext>
            </a:extLst>
          </p:cNvPr>
          <p:cNvSpPr txBox="1"/>
          <p:nvPr/>
        </p:nvSpPr>
        <p:spPr>
          <a:xfrm>
            <a:off x="3840729" y="3541365"/>
            <a:ext cx="1128895" cy="369332"/>
          </a:xfrm>
          <a:prstGeom prst="rect">
            <a:avLst/>
          </a:prstGeom>
          <a:noFill/>
        </p:spPr>
        <p:txBody>
          <a:bodyPr wrap="square" rtlCol="0">
            <a:spAutoFit/>
          </a:bodyPr>
          <a:lstStyle/>
          <a:p>
            <a:pPr algn="ctr"/>
            <a:r>
              <a:rPr lang="en-US" altLang="zh-TW" dirty="0">
                <a:latin typeface="Times New Roman" panose="02020603050405020304" pitchFamily="18" charset="0"/>
                <a:cs typeface="Times New Roman" panose="02020603050405020304" pitchFamily="18" charset="0"/>
              </a:rPr>
              <a:t>.    .    .</a:t>
            </a:r>
            <a:endParaRPr lang="zh-TW" altLang="en-US" dirty="0">
              <a:latin typeface="Times New Roman" panose="02020603050405020304" pitchFamily="18" charset="0"/>
              <a:cs typeface="Times New Roman" panose="02020603050405020304" pitchFamily="18" charset="0"/>
            </a:endParaRPr>
          </a:p>
        </p:txBody>
      </p:sp>
      <p:sp>
        <p:nvSpPr>
          <p:cNvPr id="78" name="文字方塊 77">
            <a:extLst>
              <a:ext uri="{FF2B5EF4-FFF2-40B4-BE49-F238E27FC236}">
                <a16:creationId xmlns:a16="http://schemas.microsoft.com/office/drawing/2014/main" id="{510B777A-7EA6-4EC9-9D59-A9D7EDFD0537}"/>
              </a:ext>
            </a:extLst>
          </p:cNvPr>
          <p:cNvSpPr txBox="1"/>
          <p:nvPr/>
        </p:nvSpPr>
        <p:spPr>
          <a:xfrm>
            <a:off x="3573140" y="6165304"/>
            <a:ext cx="2799060"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N = 2,3,4,5,6</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66296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anose="02020603050405020304" pitchFamily="18" charset="0"/>
                <a:cs typeface="Times New Roman" panose="02020603050405020304" pitchFamily="18" charset="0"/>
              </a:rPr>
              <a:t>Penetrative Bellman equation</a:t>
            </a:r>
            <a:endParaRPr lang="zh-TW" altLang="en-US" dirty="0">
              <a:latin typeface="Times New Roman" pitchFamily="18" charset="0"/>
              <a:cs typeface="Times New Roman" pitchFamily="18" charset="0"/>
            </a:endParaRPr>
          </a:p>
        </p:txBody>
      </p:sp>
      <p:graphicFrame>
        <p:nvGraphicFramePr>
          <p:cNvPr id="5" name="表格 5">
            <a:extLst>
              <a:ext uri="{FF2B5EF4-FFF2-40B4-BE49-F238E27FC236}">
                <a16:creationId xmlns:a16="http://schemas.microsoft.com/office/drawing/2014/main" id="{17092CE7-BC66-445A-9190-93F4AD100136}"/>
              </a:ext>
            </a:extLst>
          </p:cNvPr>
          <p:cNvGraphicFramePr>
            <a:graphicFrameLocks noGrp="1"/>
          </p:cNvGraphicFramePr>
          <p:nvPr/>
        </p:nvGraphicFramePr>
        <p:xfrm>
          <a:off x="1524000" y="4886960"/>
          <a:ext cx="6096000" cy="74168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4168419058"/>
                    </a:ext>
                  </a:extLst>
                </a:gridCol>
                <a:gridCol w="1219200">
                  <a:extLst>
                    <a:ext uri="{9D8B030D-6E8A-4147-A177-3AD203B41FA5}">
                      <a16:colId xmlns:a16="http://schemas.microsoft.com/office/drawing/2014/main" val="3228948909"/>
                    </a:ext>
                  </a:extLst>
                </a:gridCol>
                <a:gridCol w="1219200">
                  <a:extLst>
                    <a:ext uri="{9D8B030D-6E8A-4147-A177-3AD203B41FA5}">
                      <a16:colId xmlns:a16="http://schemas.microsoft.com/office/drawing/2014/main" val="4163800176"/>
                    </a:ext>
                  </a:extLst>
                </a:gridCol>
                <a:gridCol w="1219200">
                  <a:extLst>
                    <a:ext uri="{9D8B030D-6E8A-4147-A177-3AD203B41FA5}">
                      <a16:colId xmlns:a16="http://schemas.microsoft.com/office/drawing/2014/main" val="2489362430"/>
                    </a:ext>
                  </a:extLst>
                </a:gridCol>
                <a:gridCol w="1219200">
                  <a:extLst>
                    <a:ext uri="{9D8B030D-6E8A-4147-A177-3AD203B41FA5}">
                      <a16:colId xmlns:a16="http://schemas.microsoft.com/office/drawing/2014/main" val="3033016758"/>
                    </a:ext>
                  </a:extLst>
                </a:gridCol>
              </a:tblGrid>
              <a:tr h="370840">
                <a:tc>
                  <a:txBody>
                    <a:bodyPr/>
                    <a:lstStyle/>
                    <a:p>
                      <a:endParaRPr lang="zh-TW" altLang="en-US" dirty="0"/>
                    </a:p>
                  </a:txBody>
                  <a:tcPr>
                    <a:solidFill>
                      <a:schemeClr val="tx1"/>
                    </a:solidFill>
                  </a:tcPr>
                </a:tc>
                <a:tc>
                  <a:txBody>
                    <a:bodyPr/>
                    <a:lstStyle/>
                    <a:p>
                      <a:endParaRPr lang="zh-TW" altLang="en-US" dirty="0"/>
                    </a:p>
                  </a:txBody>
                  <a:tcPr>
                    <a:solidFill>
                      <a:srgbClr val="FFFF00"/>
                    </a:solidFill>
                  </a:tcPr>
                </a:tc>
                <a:tc>
                  <a:txBody>
                    <a:bodyPr/>
                    <a:lstStyle/>
                    <a:p>
                      <a:endParaRPr lang="zh-TW" altLang="en-US"/>
                    </a:p>
                  </a:txBody>
                  <a:tcPr/>
                </a:tc>
                <a:tc>
                  <a:txBody>
                    <a:bodyPr/>
                    <a:lstStyle/>
                    <a:p>
                      <a:endParaRPr lang="zh-TW" altLang="en-US"/>
                    </a:p>
                  </a:txBody>
                  <a:tcPr/>
                </a:tc>
                <a:tc>
                  <a:txBody>
                    <a:bodyPr/>
                    <a:lstStyle/>
                    <a:p>
                      <a:endParaRPr lang="zh-TW" altLang="en-US" dirty="0"/>
                    </a:p>
                  </a:txBody>
                  <a:tcPr>
                    <a:solidFill>
                      <a:srgbClr val="FF0000"/>
                    </a:solidFill>
                  </a:tcPr>
                </a:tc>
                <a:extLst>
                  <a:ext uri="{0D108BD9-81ED-4DB2-BD59-A6C34878D82A}">
                    <a16:rowId xmlns:a16="http://schemas.microsoft.com/office/drawing/2014/main" val="3724245678"/>
                  </a:ext>
                </a:extLst>
              </a:tr>
              <a:tr h="370840">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solidFill>
                      <a:schemeClr val="tx2">
                        <a:lumMod val="20000"/>
                        <a:lumOff val="80000"/>
                      </a:schemeClr>
                    </a:solidFill>
                  </a:tcPr>
                </a:tc>
                <a:extLst>
                  <a:ext uri="{0D108BD9-81ED-4DB2-BD59-A6C34878D82A}">
                    <a16:rowId xmlns:a16="http://schemas.microsoft.com/office/drawing/2014/main" val="1322444737"/>
                  </a:ext>
                </a:extLst>
              </a:tr>
            </a:tbl>
          </a:graphicData>
        </a:graphic>
      </p:graphicFrame>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A3787C45-5BE8-4183-BE43-9AF20F266748}"/>
                  </a:ext>
                </a:extLst>
              </p:cNvPr>
              <p:cNvSpPr txBox="1"/>
              <p:nvPr/>
            </p:nvSpPr>
            <p:spPr>
              <a:xfrm>
                <a:off x="1127956" y="4143936"/>
                <a:ext cx="6888088" cy="7430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𝑛𝑒𝑤</m:t>
                          </m:r>
                        </m:sup>
                      </m:sSup>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b="0" i="1" smtClean="0">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𝑡</m:t>
                              </m:r>
                            </m:sub>
                          </m:sSub>
                        </m:e>
                      </m:d>
                      <m:r>
                        <a:rPr lang="en-US" altLang="zh-TW" b="0" i="1" smtClean="0">
                          <a:latin typeface="Cambria Math" panose="02040503050406030204" pitchFamily="18" charset="0"/>
                          <a:cs typeface="Times New Roman" panose="02020603050405020304" pitchFamily="18" charset="0"/>
                        </a:rPr>
                        <m:t>←</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1−</m:t>
                          </m:r>
                          <m:r>
                            <a:rPr lang="en-US" altLang="zh-TW" b="0" i="1" smtClean="0">
                              <a:latin typeface="Cambria Math" panose="02040503050406030204" pitchFamily="18" charset="0"/>
                              <a:cs typeface="Times New Roman" panose="02020603050405020304" pitchFamily="18" charset="0"/>
                            </a:rPr>
                            <m:t>𝛼</m:t>
                          </m:r>
                        </m:e>
                      </m:d>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𝑜𝑙𝑑</m:t>
                          </m:r>
                        </m:sup>
                      </m:sSup>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b="0" i="1" smtClean="0">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𝑡</m:t>
                              </m:r>
                            </m:sub>
                          </m:sSub>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𝛼</m:t>
                      </m:r>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𝑟</m:t>
                          </m:r>
                        </m:e>
                        <m:sub>
                          <m:r>
                            <a:rPr lang="en-US" altLang="zh-TW" b="0" i="1" smtClean="0">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m:t>
                      </m:r>
                      <m:r>
                        <a:rPr lang="en-US" altLang="zh-TW" b="0" i="1" smtClean="0">
                          <a:solidFill>
                            <a:schemeClr val="tx1"/>
                          </a:solidFill>
                          <a:latin typeface="Cambria Math" panose="02040503050406030204" pitchFamily="18" charset="0"/>
                          <a:cs typeface="Times New Roman" panose="02020603050405020304" pitchFamily="18" charset="0"/>
                        </a:rPr>
                        <m:t>𝛾</m:t>
                      </m:r>
                      <m:func>
                        <m:funcPr>
                          <m:ctrlPr>
                            <a:rPr lang="en-US" altLang="zh-TW" b="0" i="1" smtClean="0">
                              <a:solidFill>
                                <a:schemeClr val="tx1"/>
                              </a:solidFill>
                              <a:latin typeface="Cambria Math" panose="02040503050406030204" pitchFamily="18" charset="0"/>
                              <a:cs typeface="Times New Roman" panose="02020603050405020304" pitchFamily="18" charset="0"/>
                            </a:rPr>
                          </m:ctrlPr>
                        </m:funcPr>
                        <m:fName>
                          <m:limLow>
                            <m:limLowPr>
                              <m:ctrlPr>
                                <a:rPr lang="en-US" altLang="zh-TW" b="0" i="1" smtClean="0">
                                  <a:solidFill>
                                    <a:schemeClr val="tx1"/>
                                  </a:solidFill>
                                  <a:latin typeface="Cambria Math" panose="02040503050406030204" pitchFamily="18" charset="0"/>
                                  <a:cs typeface="Times New Roman" panose="02020603050405020304" pitchFamily="18" charset="0"/>
                                </a:rPr>
                              </m:ctrlPr>
                            </m:limLowPr>
                            <m:e>
                              <m:r>
                                <m:rPr>
                                  <m:sty m:val="p"/>
                                </m:rPr>
                                <a:rPr lang="en-US" altLang="zh-TW" b="0" i="0" smtClean="0">
                                  <a:solidFill>
                                    <a:schemeClr val="tx1"/>
                                  </a:solidFill>
                                  <a:latin typeface="Cambria Math" panose="02040503050406030204" pitchFamily="18" charset="0"/>
                                  <a:cs typeface="Times New Roman" panose="02020603050405020304" pitchFamily="18" charset="0"/>
                                </a:rPr>
                                <m:t>max</m:t>
                              </m:r>
                            </m:e>
                            <m:lim>
                              <m:r>
                                <a:rPr lang="en-US" altLang="zh-TW" b="0" i="1" smtClean="0">
                                  <a:solidFill>
                                    <a:schemeClr val="tx1"/>
                                  </a:solidFill>
                                  <a:latin typeface="Cambria Math" panose="02040503050406030204" pitchFamily="18" charset="0"/>
                                  <a:cs typeface="Times New Roman" panose="02020603050405020304" pitchFamily="18" charset="0"/>
                                </a:rPr>
                                <m:t>𝑎</m:t>
                              </m:r>
                            </m:lim>
                          </m:limLow>
                        </m:fName>
                        <m:e>
                          <m:r>
                            <a:rPr lang="en-US" altLang="zh-TW" b="0" i="1" smtClean="0">
                              <a:solidFill>
                                <a:schemeClr val="tx1"/>
                              </a:solidFill>
                              <a:latin typeface="Cambria Math" panose="02040503050406030204" pitchFamily="18" charset="0"/>
                              <a:cs typeface="Times New Roman" panose="02020603050405020304" pitchFamily="18" charset="0"/>
                            </a:rPr>
                            <m:t>𝑄</m:t>
                          </m:r>
                          <m:r>
                            <a:rPr lang="en-US" altLang="zh-TW" b="0" i="1" smtClean="0">
                              <a:solidFill>
                                <a:schemeClr val="tx1"/>
                              </a:solidFill>
                              <a:latin typeface="Cambria Math" panose="02040503050406030204" pitchFamily="18" charset="0"/>
                              <a:cs typeface="Times New Roman" panose="02020603050405020304" pitchFamily="18" charset="0"/>
                            </a:rPr>
                            <m:t>(</m:t>
                          </m:r>
                          <m:sSub>
                            <m:sSubPr>
                              <m:ctrlPr>
                                <a:rPr lang="en-US" altLang="zh-TW" b="0" i="1" smtClean="0">
                                  <a:solidFill>
                                    <a:schemeClr val="tx1"/>
                                  </a:solidFill>
                                  <a:latin typeface="Cambria Math" panose="02040503050406030204" pitchFamily="18" charset="0"/>
                                  <a:cs typeface="Times New Roman" panose="02020603050405020304" pitchFamily="18" charset="0"/>
                                </a:rPr>
                              </m:ctrlPr>
                            </m:sSubPr>
                            <m:e>
                              <m:r>
                                <a:rPr lang="en-US" altLang="zh-TW" b="0" i="1" smtClean="0">
                                  <a:solidFill>
                                    <a:schemeClr val="tx1"/>
                                  </a:solidFill>
                                  <a:latin typeface="Cambria Math" panose="02040503050406030204" pitchFamily="18" charset="0"/>
                                  <a:cs typeface="Times New Roman" panose="02020603050405020304" pitchFamily="18" charset="0"/>
                                </a:rPr>
                                <m:t>𝑠</m:t>
                              </m:r>
                            </m:e>
                            <m:sub>
                              <m:r>
                                <a:rPr lang="en-US" altLang="zh-TW" b="0" i="1" smtClean="0">
                                  <a:solidFill>
                                    <a:schemeClr val="tx1"/>
                                  </a:solidFill>
                                  <a:latin typeface="Cambria Math" panose="02040503050406030204" pitchFamily="18" charset="0"/>
                                  <a:cs typeface="Times New Roman" panose="02020603050405020304" pitchFamily="18" charset="0"/>
                                </a:rPr>
                                <m:t>𝑡</m:t>
                              </m:r>
                              <m:r>
                                <a:rPr lang="en-US" altLang="zh-TW" b="0" i="1" smtClean="0">
                                  <a:solidFill>
                                    <a:schemeClr val="tx1"/>
                                  </a:solidFill>
                                  <a:latin typeface="Cambria Math" panose="02040503050406030204" pitchFamily="18" charset="0"/>
                                  <a:cs typeface="Times New Roman" panose="02020603050405020304" pitchFamily="18" charset="0"/>
                                </a:rPr>
                                <m:t>+1</m:t>
                              </m:r>
                            </m:sub>
                          </m:sSub>
                          <m:r>
                            <a:rPr lang="en-US" altLang="zh-TW" b="0" i="1" smtClean="0">
                              <a:solidFill>
                                <a:schemeClr val="tx1"/>
                              </a:solidFill>
                              <a:latin typeface="Cambria Math" panose="02040503050406030204" pitchFamily="18" charset="0"/>
                              <a:cs typeface="Times New Roman" panose="02020603050405020304" pitchFamily="18" charset="0"/>
                            </a:rPr>
                            <m:t>,</m:t>
                          </m:r>
                          <m:r>
                            <a:rPr lang="en-US" altLang="zh-TW" b="0" i="1" smtClean="0">
                              <a:solidFill>
                                <a:schemeClr val="tx1"/>
                              </a:solidFill>
                              <a:latin typeface="Cambria Math" panose="02040503050406030204" pitchFamily="18" charset="0"/>
                              <a:cs typeface="Times New Roman" panose="02020603050405020304" pitchFamily="18" charset="0"/>
                            </a:rPr>
                            <m:t>𝑎</m:t>
                          </m:r>
                          <m:r>
                            <a:rPr lang="en-US" altLang="zh-TW" b="0" i="1" smtClean="0">
                              <a:solidFill>
                                <a:schemeClr val="tx1"/>
                              </a:solidFill>
                              <a:latin typeface="Cambria Math" panose="02040503050406030204" pitchFamily="18" charset="0"/>
                              <a:cs typeface="Times New Roman" panose="02020603050405020304" pitchFamily="18" charset="0"/>
                            </a:rPr>
                            <m:t>)</m:t>
                          </m:r>
                        </m:e>
                      </m:func>
                      <m:r>
                        <a:rPr lang="en-US" altLang="zh-TW" b="0" i="1" smtClean="0">
                          <a:latin typeface="Cambria Math" panose="02040503050406030204" pitchFamily="18" charset="0"/>
                          <a:cs typeface="Times New Roman" panose="02020603050405020304" pitchFamily="18" charset="0"/>
                        </a:rPr>
                        <m:t>)</m:t>
                      </m:r>
                    </m:oMath>
                  </m:oMathPara>
                </a14:m>
                <a:endParaRPr lang="en-US" altLang="zh-TW" dirty="0">
                  <a:latin typeface="Times New Roman" panose="02020603050405020304" pitchFamily="18" charset="0"/>
                  <a:cs typeface="Times New Roman" panose="02020603050405020304" pitchFamily="18" charset="0"/>
                </a:endParaRPr>
              </a:p>
              <a:p>
                <a:endParaRPr lang="zh-TW" altLang="en-US" dirty="0"/>
              </a:p>
            </p:txBody>
          </p:sp>
        </mc:Choice>
        <mc:Fallback xmlns="">
          <p:sp>
            <p:nvSpPr>
              <p:cNvPr id="8" name="文字方塊 7">
                <a:extLst>
                  <a:ext uri="{FF2B5EF4-FFF2-40B4-BE49-F238E27FC236}">
                    <a16:creationId xmlns:a16="http://schemas.microsoft.com/office/drawing/2014/main" id="{A3787C45-5BE8-4183-BE43-9AF20F266748}"/>
                  </a:ext>
                </a:extLst>
              </p:cNvPr>
              <p:cNvSpPr txBox="1">
                <a:spLocks noRot="1" noChangeAspect="1" noMove="1" noResize="1" noEditPoints="1" noAdjustHandles="1" noChangeArrowheads="1" noChangeShapeType="1" noTextEdit="1"/>
              </p:cNvSpPr>
              <p:nvPr/>
            </p:nvSpPr>
            <p:spPr>
              <a:xfrm>
                <a:off x="1127956" y="4143936"/>
                <a:ext cx="6888088" cy="743024"/>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9" name="表格 4">
                <a:extLst>
                  <a:ext uri="{FF2B5EF4-FFF2-40B4-BE49-F238E27FC236}">
                    <a16:creationId xmlns:a16="http://schemas.microsoft.com/office/drawing/2014/main" id="{8D93F710-11D8-4CD4-9B9D-0A1EDB3C3FBA}"/>
                  </a:ext>
                </a:extLst>
              </p:cNvPr>
              <p:cNvGraphicFramePr>
                <a:graphicFrameLocks/>
              </p:cNvGraphicFramePr>
              <p:nvPr>
                <p:extLst>
                  <p:ext uri="{D42A27DB-BD31-4B8C-83A1-F6EECF244321}">
                    <p14:modId xmlns:p14="http://schemas.microsoft.com/office/powerpoint/2010/main" val="2309271774"/>
                  </p:ext>
                </p:extLst>
              </p:nvPr>
            </p:nvGraphicFramePr>
            <p:xfrm>
              <a:off x="457200" y="1604084"/>
              <a:ext cx="8229600" cy="2219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42729537"/>
                        </a:ext>
                      </a:extLst>
                    </a:gridCol>
                    <a:gridCol w="2743200">
                      <a:extLst>
                        <a:ext uri="{9D8B030D-6E8A-4147-A177-3AD203B41FA5}">
                          <a16:colId xmlns:a16="http://schemas.microsoft.com/office/drawing/2014/main" val="1328543671"/>
                        </a:ext>
                      </a:extLst>
                    </a:gridCol>
                    <a:gridCol w="2743200">
                      <a:extLst>
                        <a:ext uri="{9D8B030D-6E8A-4147-A177-3AD203B41FA5}">
                          <a16:colId xmlns:a16="http://schemas.microsoft.com/office/drawing/2014/main" val="401029752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𝜶</m:t>
                                </m:r>
                                <m:r>
                                  <a:rPr lang="en-US" altLang="zh-TW" b="1" i="1" smtClean="0">
                                    <a:latin typeface="Cambria Math" panose="02040503050406030204" pitchFamily="18" charset="0"/>
                                  </a:rPr>
                                  <m:t>=</m:t>
                                </m:r>
                                <m:r>
                                  <a:rPr lang="en-US" altLang="zh-TW" b="1" i="1" smtClean="0">
                                    <a:latin typeface="Cambria Math" panose="02040503050406030204" pitchFamily="18" charset="0"/>
                                  </a:rPr>
                                  <m:t>𝟎</m:t>
                                </m:r>
                                <m:r>
                                  <a:rPr lang="en-US" altLang="zh-TW" b="1" i="1" smtClean="0">
                                    <a:latin typeface="Cambria Math" panose="02040503050406030204" pitchFamily="18" charset="0"/>
                                  </a:rPr>
                                  <m:t>.</m:t>
                                </m:r>
                                <m:r>
                                  <a:rPr lang="en-US" altLang="zh-TW" b="1" i="1" smtClean="0">
                                    <a:latin typeface="Cambria Math" panose="02040503050406030204" pitchFamily="18" charset="0"/>
                                  </a:rPr>
                                  <m:t>𝟓</m:t>
                                </m:r>
                                <m:r>
                                  <a:rPr lang="en-US" altLang="zh-TW" b="1" i="1" smtClean="0">
                                    <a:latin typeface="Cambria Math" panose="02040503050406030204" pitchFamily="18" charset="0"/>
                                  </a:rPr>
                                  <m:t>, </m:t>
                                </m:r>
                                <m:r>
                                  <a:rPr lang="en-US" altLang="zh-TW" b="1" i="1" smtClean="0">
                                    <a:latin typeface="Cambria Math" panose="02040503050406030204" pitchFamily="18" charset="0"/>
                                  </a:rPr>
                                  <m:t>𝜸</m:t>
                                </m:r>
                                <m:r>
                                  <a:rPr lang="en-US" altLang="zh-TW" b="1" i="1" smtClean="0">
                                    <a:latin typeface="Cambria Math" panose="02040503050406030204" pitchFamily="18" charset="0"/>
                                  </a:rPr>
                                  <m:t>=</m:t>
                                </m:r>
                                <m:r>
                                  <a:rPr lang="en-US" altLang="zh-TW" b="1" i="1" smtClean="0">
                                    <a:latin typeface="Cambria Math" panose="02040503050406030204" pitchFamily="18" charset="0"/>
                                  </a:rPr>
                                  <m:t>𝟎</m:t>
                                </m:r>
                                <m:r>
                                  <a:rPr lang="en-US" altLang="zh-TW" b="1" i="1" smtClean="0">
                                    <a:latin typeface="Cambria Math" panose="02040503050406030204" pitchFamily="18" charset="0"/>
                                  </a:rPr>
                                  <m:t>.</m:t>
                                </m:r>
                                <m:r>
                                  <a:rPr lang="en-US" altLang="zh-TW" b="1" i="1" smtClean="0">
                                    <a:latin typeface="Cambria Math" panose="02040503050406030204" pitchFamily="18" charset="0"/>
                                  </a:rPr>
                                  <m:t>𝟗</m:t>
                                </m:r>
                              </m:oMath>
                            </m:oMathPara>
                          </a14:m>
                          <a:endParaRPr lang="zh-TW" altLang="en-US" dirty="0"/>
                        </a:p>
                      </a:txBody>
                      <a:tcPr/>
                    </a:tc>
                    <a:tc>
                      <a:txBody>
                        <a:bodyPr/>
                        <a:lstStyle/>
                        <a:p>
                          <a:pPr algn="ctr"/>
                          <a14:m>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𝒔</m:t>
                                  </m:r>
                                </m:e>
                                <m:sub>
                                  <m:r>
                                    <a:rPr lang="en-US" altLang="zh-TW" b="1" i="1" smtClean="0">
                                      <a:latin typeface="Cambria Math" panose="02040503050406030204" pitchFamily="18" charset="0"/>
                                    </a:rPr>
                                    <m:t>𝟏</m:t>
                                  </m:r>
                                </m:sub>
                              </m:sSub>
                              <m:r>
                                <a:rPr lang="en-US" altLang="zh-TW" b="1" i="1" smtClean="0">
                                  <a:latin typeface="Cambria Math" panose="02040503050406030204" pitchFamily="18" charset="0"/>
                                </a:rPr>
                                <m:t>:</m:t>
                              </m:r>
                            </m:oMath>
                          </a14:m>
                          <a:r>
                            <a:rPr lang="en-US" altLang="zh-TW" dirty="0"/>
                            <a:t>Left</a:t>
                          </a:r>
                          <a:endParaRPr lang="zh-TW" altLang="en-US" dirty="0"/>
                        </a:p>
                      </a:txBody>
                      <a:tcPr/>
                    </a:tc>
                    <a:tc>
                      <a:txBody>
                        <a:bodyPr/>
                        <a:lstStyle/>
                        <a:p>
                          <a:pPr algn="ctr"/>
                          <a14:m>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𝒔</m:t>
                                  </m:r>
                                </m:e>
                                <m:sub>
                                  <m:r>
                                    <a:rPr lang="en-US" altLang="zh-TW" b="1" i="1" smtClean="0">
                                      <a:latin typeface="Cambria Math" panose="02040503050406030204" pitchFamily="18" charset="0"/>
                                    </a:rPr>
                                    <m:t>𝟐</m:t>
                                  </m:r>
                                </m:sub>
                              </m:sSub>
                              <m:r>
                                <a:rPr lang="en-US" altLang="zh-TW" b="1" i="1" smtClean="0">
                                  <a:latin typeface="Cambria Math" panose="02040503050406030204" pitchFamily="18" charset="0"/>
                                </a:rPr>
                                <m:t>:</m:t>
                              </m:r>
                            </m:oMath>
                          </a14:m>
                          <a:r>
                            <a:rPr lang="en-US" altLang="zh-TW" dirty="0"/>
                            <a:t>Right</a:t>
                          </a:r>
                          <a:endParaRPr lang="zh-TW" altLang="en-US" dirty="0"/>
                        </a:p>
                      </a:txBody>
                      <a:tcPr/>
                    </a:tc>
                    <a:extLst>
                      <a:ext uri="{0D108BD9-81ED-4DB2-BD59-A6C34878D82A}">
                        <a16:rowId xmlns:a16="http://schemas.microsoft.com/office/drawing/2014/main" val="4249723552"/>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1</a:t>
                          </a:r>
                          <a:endParaRPr lang="zh-TW" altLang="en-US" sz="1800" kern="1200" dirty="0">
                            <a:solidFill>
                              <a:schemeClr val="dk1"/>
                            </a:solidFill>
                            <a:latin typeface="+mn-lt"/>
                            <a:ea typeface="+mn-ea"/>
                            <a:cs typeface="+mn-cs"/>
                          </a:endParaRPr>
                        </a:p>
                      </a:txBody>
                      <a:tcPr/>
                    </a:tc>
                    <a:tc gridSpan="2">
                      <a:txBody>
                        <a:bodyPr/>
                        <a:lstStyle/>
                        <a:p>
                          <a:pPr algn="ctr"/>
                          <a:r>
                            <a:rPr lang="en-US" altLang="zh-TW" dirty="0"/>
                            <a:t>0, Game over</a:t>
                          </a:r>
                          <a:endParaRPr lang="zh-TW" altLang="en-US" dirty="0"/>
                        </a:p>
                      </a:txBody>
                      <a:tcPr/>
                    </a:tc>
                    <a:tc hMerge="1">
                      <a:txBody>
                        <a:bodyPr/>
                        <a:lstStyle/>
                        <a:p>
                          <a:pPr algn="ctr"/>
                          <a:r>
                            <a:rPr lang="en-US" altLang="zh-TW" dirty="0"/>
                            <a:t>0</a:t>
                          </a:r>
                          <a:endParaRPr lang="zh-TW" altLang="en-US" dirty="0"/>
                        </a:p>
                      </a:txBody>
                      <a:tcPr/>
                    </a:tc>
                    <a:extLst>
                      <a:ext uri="{0D108BD9-81ED-4DB2-BD59-A6C34878D82A}">
                        <a16:rowId xmlns:a16="http://schemas.microsoft.com/office/drawing/2014/main" val="2334998379"/>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2</a:t>
                          </a:r>
                          <a:endParaRPr lang="zh-TW" altLang="en-US" sz="1800" kern="1200" dirty="0">
                            <a:solidFill>
                              <a:schemeClr val="dk1"/>
                            </a:solidFill>
                            <a:latin typeface="+mn-lt"/>
                            <a:ea typeface="+mn-ea"/>
                            <a:cs typeface="+mn-cs"/>
                          </a:endParaRPr>
                        </a:p>
                      </a:txBody>
                      <a:tcPr/>
                    </a:tc>
                    <a:tc>
                      <a:txBody>
                        <a:bodyPr/>
                        <a:lstStyle/>
                        <a:p>
                          <a:pPr algn="ctr"/>
                          <a:r>
                            <a:rPr lang="en-US" altLang="zh-TW" dirty="0"/>
                            <a:t>-1, State 1</a:t>
                          </a:r>
                          <a:endParaRPr lang="zh-TW" altLang="en-US" dirty="0"/>
                        </a:p>
                      </a:txBody>
                      <a:tcPr/>
                    </a:tc>
                    <a:tc>
                      <a:txBody>
                        <a:bodyPr/>
                        <a:lstStyle/>
                        <a:p>
                          <a:pPr algn="ctr"/>
                          <a:r>
                            <a:rPr lang="en-US" altLang="zh-TW" dirty="0">
                              <a:solidFill>
                                <a:schemeClr val="tx1"/>
                              </a:solidFill>
                            </a:rPr>
                            <a:t>0</a:t>
                          </a:r>
                          <a:r>
                            <a:rPr lang="en-US" altLang="zh-TW" dirty="0"/>
                            <a:t>, State 3</a:t>
                          </a:r>
                          <a:endParaRPr lang="zh-TW" altLang="en-US" dirty="0">
                            <a:solidFill>
                              <a:schemeClr val="tx1"/>
                            </a:solidFill>
                          </a:endParaRPr>
                        </a:p>
                      </a:txBody>
                      <a:tcPr/>
                    </a:tc>
                    <a:extLst>
                      <a:ext uri="{0D108BD9-81ED-4DB2-BD59-A6C34878D82A}">
                        <a16:rowId xmlns:a16="http://schemas.microsoft.com/office/drawing/2014/main" val="2806613416"/>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3</a:t>
                          </a:r>
                        </a:p>
                      </a:txBody>
                      <a:tcPr marL="7620" marR="7620" marT="7620" marB="0" anchor="ctr"/>
                    </a:tc>
                    <a:tc>
                      <a:txBody>
                        <a:bodyPr/>
                        <a:lstStyle/>
                        <a:p>
                          <a:pPr algn="ctr"/>
                          <a:r>
                            <a:rPr lang="en-US" altLang="zh-TW" dirty="0"/>
                            <a:t>0, State 2</a:t>
                          </a:r>
                          <a:endParaRPr lang="zh-TW" altLang="en-US" dirty="0"/>
                        </a:p>
                      </a:txBody>
                      <a:tcPr/>
                    </a:tc>
                    <a:tc>
                      <a:txBody>
                        <a:bodyPr/>
                        <a:lstStyle/>
                        <a:p>
                          <a:pPr algn="ctr"/>
                          <a:r>
                            <a:rPr lang="en-US" altLang="zh-TW" dirty="0">
                              <a:solidFill>
                                <a:schemeClr val="tx1"/>
                              </a:solidFill>
                            </a:rPr>
                            <a:t>0</a:t>
                          </a:r>
                          <a:r>
                            <a:rPr lang="en-US" altLang="zh-TW" dirty="0"/>
                            <a:t>, State 4</a:t>
                          </a:r>
                          <a:endParaRPr lang="zh-TW" altLang="en-US" dirty="0">
                            <a:solidFill>
                              <a:srgbClr val="FF0000"/>
                            </a:solidFill>
                          </a:endParaRPr>
                        </a:p>
                      </a:txBody>
                      <a:tcPr/>
                    </a:tc>
                    <a:extLst>
                      <a:ext uri="{0D108BD9-81ED-4DB2-BD59-A6C34878D82A}">
                        <a16:rowId xmlns:a16="http://schemas.microsoft.com/office/drawing/2014/main" val="2756867369"/>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4</a:t>
                          </a:r>
                        </a:p>
                      </a:txBody>
                      <a:tcPr marL="7620" marR="7620" marT="7620" marB="0" anchor="ctr"/>
                    </a:tc>
                    <a:tc>
                      <a:txBody>
                        <a:bodyPr/>
                        <a:lstStyle/>
                        <a:p>
                          <a:pPr algn="ctr"/>
                          <a:r>
                            <a:rPr lang="en-US" altLang="zh-TW" dirty="0"/>
                            <a:t>0, State 3</a:t>
                          </a:r>
                          <a:endParaRPr lang="zh-TW" altLang="en-US" dirty="0"/>
                        </a:p>
                      </a:txBody>
                      <a:tcPr/>
                    </a:tc>
                    <a:tc>
                      <a:txBody>
                        <a:bodyPr/>
                        <a:lstStyle/>
                        <a:p>
                          <a:pPr algn="ctr"/>
                          <a:r>
                            <a:rPr lang="en-US" altLang="zh-TW" dirty="0"/>
                            <a:t>1, State 5</a:t>
                          </a:r>
                          <a:endParaRPr lang="zh-TW" altLang="en-US" dirty="0"/>
                        </a:p>
                      </a:txBody>
                      <a:tcPr/>
                    </a:tc>
                    <a:extLst>
                      <a:ext uri="{0D108BD9-81ED-4DB2-BD59-A6C34878D82A}">
                        <a16:rowId xmlns:a16="http://schemas.microsoft.com/office/drawing/2014/main" val="2076074664"/>
                      </a:ext>
                    </a:extLst>
                  </a:tr>
                  <a:tr h="190624">
                    <a:tc>
                      <a:txBody>
                        <a:bodyPr/>
                        <a:lstStyle/>
                        <a:p>
                          <a:pPr marL="0" algn="ctr" defTabSz="914400" rtl="0" eaLnBrk="1" fontAlgn="ctr" latinLnBrk="0" hangingPunct="1"/>
                          <a:r>
                            <a:rPr lang="en-US" sz="1800" kern="1200" dirty="0">
                              <a:solidFill>
                                <a:schemeClr val="dk1"/>
                              </a:solidFill>
                              <a:latin typeface="+mn-lt"/>
                              <a:ea typeface="+mn-ea"/>
                              <a:cs typeface="+mn-cs"/>
                            </a:rPr>
                            <a:t>State 5</a:t>
                          </a:r>
                        </a:p>
                      </a:txBody>
                      <a:tcPr marL="7620" marR="7620" marT="7620" marB="0"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Game over</a:t>
                          </a:r>
                          <a:endParaRPr lang="zh-TW" altLang="en-US" dirty="0"/>
                        </a:p>
                      </a:txBody>
                      <a:tcPr/>
                    </a:tc>
                    <a:extLst>
                      <a:ext uri="{0D108BD9-81ED-4DB2-BD59-A6C34878D82A}">
                        <a16:rowId xmlns:a16="http://schemas.microsoft.com/office/drawing/2014/main" val="2492673390"/>
                      </a:ext>
                    </a:extLst>
                  </a:tr>
                </a:tbl>
              </a:graphicData>
            </a:graphic>
          </p:graphicFrame>
        </mc:Choice>
        <mc:Fallback xmlns="">
          <p:graphicFrame>
            <p:nvGraphicFramePr>
              <p:cNvPr id="9" name="表格 4">
                <a:extLst>
                  <a:ext uri="{FF2B5EF4-FFF2-40B4-BE49-F238E27FC236}">
                    <a16:creationId xmlns:a16="http://schemas.microsoft.com/office/drawing/2014/main" id="{8D93F710-11D8-4CD4-9B9D-0A1EDB3C3FBA}"/>
                  </a:ext>
                </a:extLst>
              </p:cNvPr>
              <p:cNvGraphicFramePr>
                <a:graphicFrameLocks/>
              </p:cNvGraphicFramePr>
              <p:nvPr>
                <p:extLst>
                  <p:ext uri="{D42A27DB-BD31-4B8C-83A1-F6EECF244321}">
                    <p14:modId xmlns:p14="http://schemas.microsoft.com/office/powerpoint/2010/main" val="2309271774"/>
                  </p:ext>
                </p:extLst>
              </p:nvPr>
            </p:nvGraphicFramePr>
            <p:xfrm>
              <a:off x="457200" y="1604084"/>
              <a:ext cx="8229600" cy="2219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42729537"/>
                        </a:ext>
                      </a:extLst>
                    </a:gridCol>
                    <a:gridCol w="2743200">
                      <a:extLst>
                        <a:ext uri="{9D8B030D-6E8A-4147-A177-3AD203B41FA5}">
                          <a16:colId xmlns:a16="http://schemas.microsoft.com/office/drawing/2014/main" val="1328543671"/>
                        </a:ext>
                      </a:extLst>
                    </a:gridCol>
                    <a:gridCol w="2743200">
                      <a:extLst>
                        <a:ext uri="{9D8B030D-6E8A-4147-A177-3AD203B41FA5}">
                          <a16:colId xmlns:a16="http://schemas.microsoft.com/office/drawing/2014/main" val="4010297521"/>
                        </a:ext>
                      </a:extLst>
                    </a:gridCol>
                  </a:tblGrid>
                  <a:tr h="370840">
                    <a:tc>
                      <a:txBody>
                        <a:bodyPr/>
                        <a:lstStyle/>
                        <a:p>
                          <a:endParaRPr lang="zh-TW"/>
                        </a:p>
                      </a:txBody>
                      <a:tcPr>
                        <a:blipFill>
                          <a:blip r:embed="rId4"/>
                          <a:stretch>
                            <a:fillRect l="-444" t="-8197" r="-201111" b="-526230"/>
                          </a:stretch>
                        </a:blipFill>
                      </a:tcPr>
                    </a:tc>
                    <a:tc>
                      <a:txBody>
                        <a:bodyPr/>
                        <a:lstStyle/>
                        <a:p>
                          <a:endParaRPr lang="zh-TW"/>
                        </a:p>
                      </a:txBody>
                      <a:tcPr>
                        <a:blipFill>
                          <a:blip r:embed="rId4"/>
                          <a:stretch>
                            <a:fillRect l="-100444" t="-8197" r="-101111" b="-526230"/>
                          </a:stretch>
                        </a:blipFill>
                      </a:tcPr>
                    </a:tc>
                    <a:tc>
                      <a:txBody>
                        <a:bodyPr/>
                        <a:lstStyle/>
                        <a:p>
                          <a:endParaRPr lang="zh-TW"/>
                        </a:p>
                      </a:txBody>
                      <a:tcPr>
                        <a:blipFill>
                          <a:blip r:embed="rId4"/>
                          <a:stretch>
                            <a:fillRect l="-200444" t="-8197" r="-1111" b="-526230"/>
                          </a:stretch>
                        </a:blipFill>
                      </a:tcPr>
                    </a:tc>
                    <a:extLst>
                      <a:ext uri="{0D108BD9-81ED-4DB2-BD59-A6C34878D82A}">
                        <a16:rowId xmlns:a16="http://schemas.microsoft.com/office/drawing/2014/main" val="4249723552"/>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1</a:t>
                          </a:r>
                          <a:endParaRPr lang="zh-TW" altLang="en-US" sz="1800" kern="1200" dirty="0">
                            <a:solidFill>
                              <a:schemeClr val="dk1"/>
                            </a:solidFill>
                            <a:latin typeface="+mn-lt"/>
                            <a:ea typeface="+mn-ea"/>
                            <a:cs typeface="+mn-cs"/>
                          </a:endParaRPr>
                        </a:p>
                      </a:txBody>
                      <a:tcPr/>
                    </a:tc>
                    <a:tc gridSpan="2">
                      <a:txBody>
                        <a:bodyPr/>
                        <a:lstStyle/>
                        <a:p>
                          <a:pPr algn="ctr"/>
                          <a:r>
                            <a:rPr lang="en-US" altLang="zh-TW" dirty="0"/>
                            <a:t>0, Game over</a:t>
                          </a:r>
                          <a:endParaRPr lang="zh-TW" altLang="en-US" dirty="0"/>
                        </a:p>
                      </a:txBody>
                      <a:tcPr/>
                    </a:tc>
                    <a:tc hMerge="1">
                      <a:txBody>
                        <a:bodyPr/>
                        <a:lstStyle/>
                        <a:p>
                          <a:pPr algn="ctr"/>
                          <a:r>
                            <a:rPr lang="en-US" altLang="zh-TW" dirty="0"/>
                            <a:t>0</a:t>
                          </a:r>
                          <a:endParaRPr lang="zh-TW" altLang="en-US" dirty="0"/>
                        </a:p>
                      </a:txBody>
                      <a:tcPr/>
                    </a:tc>
                    <a:extLst>
                      <a:ext uri="{0D108BD9-81ED-4DB2-BD59-A6C34878D82A}">
                        <a16:rowId xmlns:a16="http://schemas.microsoft.com/office/drawing/2014/main" val="2334998379"/>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2</a:t>
                          </a:r>
                          <a:endParaRPr lang="zh-TW" altLang="en-US" sz="1800" kern="1200" dirty="0">
                            <a:solidFill>
                              <a:schemeClr val="dk1"/>
                            </a:solidFill>
                            <a:latin typeface="+mn-lt"/>
                            <a:ea typeface="+mn-ea"/>
                            <a:cs typeface="+mn-cs"/>
                          </a:endParaRPr>
                        </a:p>
                      </a:txBody>
                      <a:tcPr/>
                    </a:tc>
                    <a:tc>
                      <a:txBody>
                        <a:bodyPr/>
                        <a:lstStyle/>
                        <a:p>
                          <a:pPr algn="ctr"/>
                          <a:r>
                            <a:rPr lang="en-US" altLang="zh-TW" dirty="0"/>
                            <a:t>-1, State 1</a:t>
                          </a:r>
                          <a:endParaRPr lang="zh-TW" altLang="en-US" dirty="0"/>
                        </a:p>
                      </a:txBody>
                      <a:tcPr/>
                    </a:tc>
                    <a:tc>
                      <a:txBody>
                        <a:bodyPr/>
                        <a:lstStyle/>
                        <a:p>
                          <a:pPr algn="ctr"/>
                          <a:r>
                            <a:rPr lang="en-US" altLang="zh-TW" dirty="0">
                              <a:solidFill>
                                <a:schemeClr val="tx1"/>
                              </a:solidFill>
                            </a:rPr>
                            <a:t>0</a:t>
                          </a:r>
                          <a:r>
                            <a:rPr lang="en-US" altLang="zh-TW" dirty="0"/>
                            <a:t>, State 3</a:t>
                          </a:r>
                          <a:endParaRPr lang="zh-TW" altLang="en-US" dirty="0">
                            <a:solidFill>
                              <a:schemeClr val="tx1"/>
                            </a:solidFill>
                          </a:endParaRPr>
                        </a:p>
                      </a:txBody>
                      <a:tcPr/>
                    </a:tc>
                    <a:extLst>
                      <a:ext uri="{0D108BD9-81ED-4DB2-BD59-A6C34878D82A}">
                        <a16:rowId xmlns:a16="http://schemas.microsoft.com/office/drawing/2014/main" val="2806613416"/>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3</a:t>
                          </a:r>
                        </a:p>
                      </a:txBody>
                      <a:tcPr marL="7620" marR="7620" marT="7620" marB="0" anchor="ctr"/>
                    </a:tc>
                    <a:tc>
                      <a:txBody>
                        <a:bodyPr/>
                        <a:lstStyle/>
                        <a:p>
                          <a:pPr algn="ctr"/>
                          <a:r>
                            <a:rPr lang="en-US" altLang="zh-TW" dirty="0"/>
                            <a:t>0, State 2</a:t>
                          </a:r>
                          <a:endParaRPr lang="zh-TW" altLang="en-US" dirty="0"/>
                        </a:p>
                      </a:txBody>
                      <a:tcPr/>
                    </a:tc>
                    <a:tc>
                      <a:txBody>
                        <a:bodyPr/>
                        <a:lstStyle/>
                        <a:p>
                          <a:pPr algn="ctr"/>
                          <a:r>
                            <a:rPr lang="en-US" altLang="zh-TW" dirty="0">
                              <a:solidFill>
                                <a:schemeClr val="tx1"/>
                              </a:solidFill>
                            </a:rPr>
                            <a:t>0</a:t>
                          </a:r>
                          <a:r>
                            <a:rPr lang="en-US" altLang="zh-TW" dirty="0"/>
                            <a:t>, State 4</a:t>
                          </a:r>
                          <a:endParaRPr lang="zh-TW" altLang="en-US" dirty="0">
                            <a:solidFill>
                              <a:srgbClr val="FF0000"/>
                            </a:solidFill>
                          </a:endParaRPr>
                        </a:p>
                      </a:txBody>
                      <a:tcPr/>
                    </a:tc>
                    <a:extLst>
                      <a:ext uri="{0D108BD9-81ED-4DB2-BD59-A6C34878D82A}">
                        <a16:rowId xmlns:a16="http://schemas.microsoft.com/office/drawing/2014/main" val="2756867369"/>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4</a:t>
                          </a:r>
                        </a:p>
                      </a:txBody>
                      <a:tcPr marL="7620" marR="7620" marT="7620" marB="0" anchor="ctr"/>
                    </a:tc>
                    <a:tc>
                      <a:txBody>
                        <a:bodyPr/>
                        <a:lstStyle/>
                        <a:p>
                          <a:pPr algn="ctr"/>
                          <a:r>
                            <a:rPr lang="en-US" altLang="zh-TW" dirty="0"/>
                            <a:t>0, State 3</a:t>
                          </a:r>
                          <a:endParaRPr lang="zh-TW" altLang="en-US" dirty="0"/>
                        </a:p>
                      </a:txBody>
                      <a:tcPr/>
                    </a:tc>
                    <a:tc>
                      <a:txBody>
                        <a:bodyPr/>
                        <a:lstStyle/>
                        <a:p>
                          <a:pPr algn="ctr"/>
                          <a:r>
                            <a:rPr lang="en-US" altLang="zh-TW" dirty="0"/>
                            <a:t>1, State 5</a:t>
                          </a:r>
                          <a:endParaRPr lang="zh-TW" altLang="en-US" dirty="0"/>
                        </a:p>
                      </a:txBody>
                      <a:tcPr/>
                    </a:tc>
                    <a:extLst>
                      <a:ext uri="{0D108BD9-81ED-4DB2-BD59-A6C34878D82A}">
                        <a16:rowId xmlns:a16="http://schemas.microsoft.com/office/drawing/2014/main" val="2076074664"/>
                      </a:ext>
                    </a:extLst>
                  </a:tr>
                  <a:tr h="365760">
                    <a:tc>
                      <a:txBody>
                        <a:bodyPr/>
                        <a:lstStyle/>
                        <a:p>
                          <a:pPr marL="0" algn="ctr" defTabSz="914400" rtl="0" eaLnBrk="1" fontAlgn="ctr" latinLnBrk="0" hangingPunct="1"/>
                          <a:r>
                            <a:rPr lang="en-US" sz="1800" kern="1200" dirty="0">
                              <a:solidFill>
                                <a:schemeClr val="dk1"/>
                              </a:solidFill>
                              <a:latin typeface="+mn-lt"/>
                              <a:ea typeface="+mn-ea"/>
                              <a:cs typeface="+mn-cs"/>
                            </a:rPr>
                            <a:t>State 5</a:t>
                          </a:r>
                        </a:p>
                      </a:txBody>
                      <a:tcPr marL="7620" marR="7620" marT="7620" marB="0"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Game over</a:t>
                          </a:r>
                          <a:endParaRPr lang="zh-TW" altLang="en-US" dirty="0"/>
                        </a:p>
                      </a:txBody>
                      <a:tcPr/>
                    </a:tc>
                    <a:extLst>
                      <a:ext uri="{0D108BD9-81ED-4DB2-BD59-A6C34878D82A}">
                        <a16:rowId xmlns:a16="http://schemas.microsoft.com/office/drawing/2014/main" val="2492673390"/>
                      </a:ext>
                    </a:extLst>
                  </a:tr>
                </a:tbl>
              </a:graphicData>
            </a:graphic>
          </p:graphicFrame>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59FD301B-702C-4853-A19B-3404BA7ACF68}"/>
                  </a:ext>
                </a:extLst>
              </p:cNvPr>
              <p:cNvSpPr txBox="1"/>
              <p:nvPr/>
            </p:nvSpPr>
            <p:spPr>
              <a:xfrm>
                <a:off x="1524000" y="5589240"/>
                <a:ext cx="6096000" cy="47968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r>
                            <a:rPr lang="en-US" altLang="zh-TW" i="1">
                              <a:latin typeface="Cambria Math" panose="02040503050406030204" pitchFamily="18" charset="0"/>
                              <a:cs typeface="Times New Roman" panose="02020603050405020304" pitchFamily="18" charset="0"/>
                            </a:rPr>
                            <m:t>𝑎</m:t>
                          </m:r>
                        </m:lim>
                      </m:limLow>
                      <m:r>
                        <a:rPr lang="en-US" altLang="zh-TW" i="1">
                          <a:latin typeface="Cambria Math" panose="02040503050406030204" pitchFamily="18" charset="0"/>
                          <a:cs typeface="Times New Roman" panose="02020603050405020304" pitchFamily="18" charset="0"/>
                        </a:rPr>
                        <m:t> </m:t>
                      </m:r>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𝑄</m:t>
                          </m:r>
                        </m:e>
                        <m:sup>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𝑖</m:t>
                              </m:r>
                            </m:e>
                          </m:d>
                        </m:sup>
                      </m:sSup>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𝑠</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𝑎</m:t>
                          </m:r>
                        </m:e>
                      </m:d>
                      <m:r>
                        <a:rPr lang="en-US" altLang="zh-TW" i="1">
                          <a:latin typeface="Cambria Math" panose="02040503050406030204" pitchFamily="18" charset="0"/>
                          <a:cs typeface="Times New Roman" panose="02020603050405020304" pitchFamily="18" charset="0"/>
                        </a:rPr>
                        <m:t>=</m:t>
                      </m:r>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r>
                            <a:rPr lang="en-US" altLang="zh-TW" i="1">
                              <a:latin typeface="Cambria Math" panose="02040503050406030204" pitchFamily="18" charset="0"/>
                              <a:cs typeface="Times New Roman" panose="02020603050405020304" pitchFamily="18" charset="0"/>
                            </a:rPr>
                            <m:t>𝑎</m:t>
                          </m:r>
                        </m:lim>
                      </m:limLow>
                      <m:r>
                        <a:rPr lang="en-US" altLang="zh-TW" i="1">
                          <a:latin typeface="Cambria Math" panose="02040503050406030204" pitchFamily="18" charset="0"/>
                          <a:cs typeface="Times New Roman" panose="02020603050405020304" pitchFamily="18" charset="0"/>
                        </a:rPr>
                        <m:t> </m:t>
                      </m:r>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𝑄</m:t>
                          </m:r>
                        </m:e>
                        <m:sup>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𝑖</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𝑡</m:t>
                              </m:r>
                            </m:e>
                          </m:d>
                        </m:sup>
                      </m:sSup>
                      <m:d>
                        <m:dPr>
                          <m:ctrlPr>
                            <a:rPr lang="en-US" altLang="zh-TW" i="1">
                              <a:latin typeface="Cambria Math" panose="02040503050406030204" pitchFamily="18" charset="0"/>
                              <a:cs typeface="Times New Roman" panose="02020603050405020304" pitchFamily="18" charset="0"/>
                            </a:rPr>
                          </m:ctrlPr>
                        </m:dPr>
                        <m:e>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𝑠</m:t>
                              </m:r>
                            </m:e>
                            <m:sup>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𝑡</m:t>
                              </m:r>
                              <m:r>
                                <a:rPr lang="en-US" altLang="zh-TW" i="1">
                                  <a:latin typeface="Cambria Math" panose="02040503050406030204" pitchFamily="18" charset="0"/>
                                  <a:cs typeface="Times New Roman" panose="02020603050405020304" pitchFamily="18" charset="0"/>
                                </a:rPr>
                                <m:t>)</m:t>
                              </m:r>
                            </m:sup>
                          </m:sSup>
                          <m:r>
                            <a:rPr lang="en-US" altLang="zh-TW" i="1">
                              <a:latin typeface="Cambria Math" panose="02040503050406030204" pitchFamily="18" charset="0"/>
                              <a:cs typeface="Times New Roman" panose="02020603050405020304" pitchFamily="18" charset="0"/>
                            </a:rPr>
                            <m:t>,</m:t>
                          </m:r>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𝑎</m:t>
                              </m:r>
                            </m:e>
                            <m:sup>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𝑡</m:t>
                              </m:r>
                              <m:r>
                                <a:rPr lang="en-US" altLang="zh-TW" i="1">
                                  <a:latin typeface="Cambria Math" panose="02040503050406030204" pitchFamily="18" charset="0"/>
                                  <a:cs typeface="Times New Roman" panose="02020603050405020304" pitchFamily="18" charset="0"/>
                                </a:rPr>
                                <m:t>)</m:t>
                              </m:r>
                            </m:sup>
                          </m:sSup>
                        </m:e>
                        <m:e>
                          <m:r>
                            <a:rPr lang="en-US" altLang="zh-TW" i="1">
                              <a:latin typeface="Cambria Math" panose="02040503050406030204" pitchFamily="18" charset="0"/>
                              <a:cs typeface="Times New Roman" panose="02020603050405020304" pitchFamily="18" charset="0"/>
                            </a:rPr>
                            <m:t>𝑠</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𝑎</m:t>
                          </m:r>
                        </m:e>
                      </m:d>
                    </m:oMath>
                  </m:oMathPara>
                </a14:m>
                <a:endParaRPr lang="zh-TW" altLang="en-US" dirty="0"/>
              </a:p>
            </p:txBody>
          </p:sp>
        </mc:Choice>
        <mc:Fallback xmlns="">
          <p:sp>
            <p:nvSpPr>
              <p:cNvPr id="7" name="文字方塊 6">
                <a:extLst>
                  <a:ext uri="{FF2B5EF4-FFF2-40B4-BE49-F238E27FC236}">
                    <a16:creationId xmlns:a16="http://schemas.microsoft.com/office/drawing/2014/main" id="{59FD301B-702C-4853-A19B-3404BA7ACF68}"/>
                  </a:ext>
                </a:extLst>
              </p:cNvPr>
              <p:cNvSpPr txBox="1">
                <a:spLocks noRot="1" noChangeAspect="1" noMove="1" noResize="1" noEditPoints="1" noAdjustHandles="1" noChangeArrowheads="1" noChangeShapeType="1" noTextEdit="1"/>
              </p:cNvSpPr>
              <p:nvPr/>
            </p:nvSpPr>
            <p:spPr>
              <a:xfrm>
                <a:off x="1524000" y="5589240"/>
                <a:ext cx="6096000" cy="479683"/>
              </a:xfrm>
              <a:prstGeom prst="rect">
                <a:avLst/>
              </a:prstGeom>
              <a:blipFill>
                <a:blip r:embed="rId5"/>
                <a:stretch>
                  <a:fillRect/>
                </a:stretch>
              </a:blipFill>
            </p:spPr>
            <p:txBody>
              <a:bodyPr/>
              <a:lstStyle/>
              <a:p>
                <a:r>
                  <a:rPr lang="zh-TW" altLang="en-US">
                    <a:noFill/>
                  </a:rPr>
                  <a:t> </a:t>
                </a:r>
              </a:p>
            </p:txBody>
          </p:sp>
        </mc:Fallback>
      </mc:AlternateContent>
      <p:sp>
        <p:nvSpPr>
          <p:cNvPr id="10" name="文字方塊 9">
            <a:extLst>
              <a:ext uri="{FF2B5EF4-FFF2-40B4-BE49-F238E27FC236}">
                <a16:creationId xmlns:a16="http://schemas.microsoft.com/office/drawing/2014/main" id="{AD358741-C616-44D6-A24C-F2CA836A9BE2}"/>
              </a:ext>
            </a:extLst>
          </p:cNvPr>
          <p:cNvSpPr txBox="1"/>
          <p:nvPr/>
        </p:nvSpPr>
        <p:spPr>
          <a:xfrm>
            <a:off x="6541600" y="6192666"/>
            <a:ext cx="840432" cy="369332"/>
          </a:xfrm>
          <a:prstGeom prst="rect">
            <a:avLst/>
          </a:prstGeom>
          <a:noFill/>
        </p:spPr>
        <p:txBody>
          <a:bodyPr wrap="square" rtlCol="0">
            <a:spAutoFit/>
          </a:bodyPr>
          <a:lstStyle/>
          <a:p>
            <a:r>
              <a:rPr lang="en-US" altLang="zh-TW" dirty="0"/>
              <a:t>5</a:t>
            </a:r>
            <a:endParaRPr lang="zh-TW" altLang="en-US" dirty="0"/>
          </a:p>
        </p:txBody>
      </p:sp>
      <p:sp>
        <p:nvSpPr>
          <p:cNvPr id="11" name="橢圓 10">
            <a:extLst>
              <a:ext uri="{FF2B5EF4-FFF2-40B4-BE49-F238E27FC236}">
                <a16:creationId xmlns:a16="http://schemas.microsoft.com/office/drawing/2014/main" id="{87FB1A15-39B4-4478-980F-2C040107655F}"/>
              </a:ext>
            </a:extLst>
          </p:cNvPr>
          <p:cNvSpPr/>
          <p:nvPr/>
        </p:nvSpPr>
        <p:spPr>
          <a:xfrm>
            <a:off x="1619672"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 name="橢圓 11">
            <a:extLst>
              <a:ext uri="{FF2B5EF4-FFF2-40B4-BE49-F238E27FC236}">
                <a16:creationId xmlns:a16="http://schemas.microsoft.com/office/drawing/2014/main" id="{52472FC8-19C4-4C32-A236-CC1157D8B5E9}"/>
              </a:ext>
            </a:extLst>
          </p:cNvPr>
          <p:cNvSpPr/>
          <p:nvPr/>
        </p:nvSpPr>
        <p:spPr>
          <a:xfrm>
            <a:off x="2807804"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橢圓 12">
            <a:extLst>
              <a:ext uri="{FF2B5EF4-FFF2-40B4-BE49-F238E27FC236}">
                <a16:creationId xmlns:a16="http://schemas.microsoft.com/office/drawing/2014/main" id="{79E779E2-3503-40DD-AA92-7F999E30BE97}"/>
              </a:ext>
            </a:extLst>
          </p:cNvPr>
          <p:cNvSpPr/>
          <p:nvPr/>
        </p:nvSpPr>
        <p:spPr>
          <a:xfrm>
            <a:off x="3995936"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4" name="橢圓 13">
            <a:extLst>
              <a:ext uri="{FF2B5EF4-FFF2-40B4-BE49-F238E27FC236}">
                <a16:creationId xmlns:a16="http://schemas.microsoft.com/office/drawing/2014/main" id="{B5DA2B4C-0112-43AB-8101-88013F19D822}"/>
              </a:ext>
            </a:extLst>
          </p:cNvPr>
          <p:cNvSpPr/>
          <p:nvPr/>
        </p:nvSpPr>
        <p:spPr>
          <a:xfrm>
            <a:off x="5256076"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 name="橢圓 14">
            <a:extLst>
              <a:ext uri="{FF2B5EF4-FFF2-40B4-BE49-F238E27FC236}">
                <a16:creationId xmlns:a16="http://schemas.microsoft.com/office/drawing/2014/main" id="{599F9CB3-A6E6-4E02-A94C-3AD0A1B6BFF7}"/>
              </a:ext>
            </a:extLst>
          </p:cNvPr>
          <p:cNvSpPr/>
          <p:nvPr/>
        </p:nvSpPr>
        <p:spPr>
          <a:xfrm>
            <a:off x="6444208"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6" name="直線單箭頭接點 15">
            <a:extLst>
              <a:ext uri="{FF2B5EF4-FFF2-40B4-BE49-F238E27FC236}">
                <a16:creationId xmlns:a16="http://schemas.microsoft.com/office/drawing/2014/main" id="{9977A5CA-6506-48E5-B109-9BC1B21D2966}"/>
              </a:ext>
            </a:extLst>
          </p:cNvPr>
          <p:cNvCxnSpPr>
            <a:stCxn id="13" idx="1"/>
            <a:endCxn id="12" idx="7"/>
          </p:cNvCxnSpPr>
          <p:nvPr/>
        </p:nvCxnSpPr>
        <p:spPr>
          <a:xfrm flipH="1">
            <a:off x="3238043" y="6197470"/>
            <a:ext cx="8317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6D75B6AF-5731-458E-B130-BE6057FA94D1}"/>
              </a:ext>
            </a:extLst>
          </p:cNvPr>
          <p:cNvCxnSpPr>
            <a:stCxn id="14" idx="1"/>
            <a:endCxn id="13" idx="7"/>
          </p:cNvCxnSpPr>
          <p:nvPr/>
        </p:nvCxnSpPr>
        <p:spPr>
          <a:xfrm flipH="1">
            <a:off x="4426175" y="6197470"/>
            <a:ext cx="9037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a:extLst>
              <a:ext uri="{FF2B5EF4-FFF2-40B4-BE49-F238E27FC236}">
                <a16:creationId xmlns:a16="http://schemas.microsoft.com/office/drawing/2014/main" id="{E8DFEBDD-6AB6-4203-8D92-FD0479E13BC3}"/>
              </a:ext>
            </a:extLst>
          </p:cNvPr>
          <p:cNvCxnSpPr>
            <a:stCxn id="12" idx="2"/>
            <a:endCxn id="11" idx="6"/>
          </p:cNvCxnSpPr>
          <p:nvPr/>
        </p:nvCxnSpPr>
        <p:spPr>
          <a:xfrm flipH="1">
            <a:off x="2123728" y="6360476"/>
            <a:ext cx="684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AA46D788-4E51-4417-A909-3B2B15EFB6E0}"/>
              </a:ext>
            </a:extLst>
          </p:cNvPr>
          <p:cNvCxnSpPr>
            <a:stCxn id="14" idx="6"/>
            <a:endCxn id="15" idx="2"/>
          </p:cNvCxnSpPr>
          <p:nvPr/>
        </p:nvCxnSpPr>
        <p:spPr>
          <a:xfrm>
            <a:off x="5760132" y="6360476"/>
            <a:ext cx="684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a:extLst>
              <a:ext uri="{FF2B5EF4-FFF2-40B4-BE49-F238E27FC236}">
                <a16:creationId xmlns:a16="http://schemas.microsoft.com/office/drawing/2014/main" id="{841993C8-3878-443E-8D17-7E06D5A6AD01}"/>
              </a:ext>
            </a:extLst>
          </p:cNvPr>
          <p:cNvCxnSpPr>
            <a:stCxn id="12" idx="5"/>
            <a:endCxn id="13" idx="3"/>
          </p:cNvCxnSpPr>
          <p:nvPr/>
        </p:nvCxnSpPr>
        <p:spPr>
          <a:xfrm>
            <a:off x="3238043" y="6523482"/>
            <a:ext cx="8317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E53AEAB6-504C-48D2-B21A-6D47C0EB1BB3}"/>
              </a:ext>
            </a:extLst>
          </p:cNvPr>
          <p:cNvCxnSpPr>
            <a:stCxn id="13" idx="5"/>
            <a:endCxn id="14" idx="3"/>
          </p:cNvCxnSpPr>
          <p:nvPr/>
        </p:nvCxnSpPr>
        <p:spPr>
          <a:xfrm>
            <a:off x="4426175" y="6523482"/>
            <a:ext cx="9037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字方塊 21">
            <a:extLst>
              <a:ext uri="{FF2B5EF4-FFF2-40B4-BE49-F238E27FC236}">
                <a16:creationId xmlns:a16="http://schemas.microsoft.com/office/drawing/2014/main" id="{71786049-3989-4BF7-91B5-A26146AF75DE}"/>
              </a:ext>
            </a:extLst>
          </p:cNvPr>
          <p:cNvSpPr txBox="1"/>
          <p:nvPr/>
        </p:nvSpPr>
        <p:spPr>
          <a:xfrm>
            <a:off x="1792839" y="6197470"/>
            <a:ext cx="45719" cy="369332"/>
          </a:xfrm>
          <a:prstGeom prst="rect">
            <a:avLst/>
          </a:prstGeom>
          <a:noFill/>
        </p:spPr>
        <p:txBody>
          <a:bodyPr wrap="square" rtlCol="0">
            <a:spAutoFit/>
          </a:bodyPr>
          <a:lstStyle/>
          <a:p>
            <a:r>
              <a:rPr lang="en-US" altLang="zh-TW" dirty="0"/>
              <a:t>1</a:t>
            </a:r>
            <a:endParaRPr lang="zh-TW" altLang="en-US" dirty="0"/>
          </a:p>
        </p:txBody>
      </p:sp>
      <p:sp>
        <p:nvSpPr>
          <p:cNvPr id="23" name="文字方塊 22">
            <a:extLst>
              <a:ext uri="{FF2B5EF4-FFF2-40B4-BE49-F238E27FC236}">
                <a16:creationId xmlns:a16="http://schemas.microsoft.com/office/drawing/2014/main" id="{7621B2DE-457B-4664-BFB8-A766F3E5BD4C}"/>
              </a:ext>
            </a:extLst>
          </p:cNvPr>
          <p:cNvSpPr txBox="1"/>
          <p:nvPr/>
        </p:nvSpPr>
        <p:spPr>
          <a:xfrm>
            <a:off x="2892216" y="6175810"/>
            <a:ext cx="1473936" cy="369332"/>
          </a:xfrm>
          <a:prstGeom prst="rect">
            <a:avLst/>
          </a:prstGeom>
          <a:noFill/>
        </p:spPr>
        <p:txBody>
          <a:bodyPr wrap="square" rtlCol="0">
            <a:spAutoFit/>
          </a:bodyPr>
          <a:lstStyle/>
          <a:p>
            <a:r>
              <a:rPr lang="en-US" altLang="zh-TW" dirty="0"/>
              <a:t>2</a:t>
            </a:r>
            <a:endParaRPr lang="zh-TW" altLang="en-US" dirty="0"/>
          </a:p>
        </p:txBody>
      </p:sp>
      <p:sp>
        <p:nvSpPr>
          <p:cNvPr id="24" name="文字方塊 23">
            <a:extLst>
              <a:ext uri="{FF2B5EF4-FFF2-40B4-BE49-F238E27FC236}">
                <a16:creationId xmlns:a16="http://schemas.microsoft.com/office/drawing/2014/main" id="{18C9BFC2-7D86-443F-92CE-A5821510D664}"/>
              </a:ext>
            </a:extLst>
          </p:cNvPr>
          <p:cNvSpPr txBox="1"/>
          <p:nvPr/>
        </p:nvSpPr>
        <p:spPr>
          <a:xfrm>
            <a:off x="4105381" y="6168490"/>
            <a:ext cx="301686" cy="369332"/>
          </a:xfrm>
          <a:prstGeom prst="rect">
            <a:avLst/>
          </a:prstGeom>
          <a:noFill/>
        </p:spPr>
        <p:txBody>
          <a:bodyPr wrap="none" rtlCol="0">
            <a:spAutoFit/>
          </a:bodyPr>
          <a:lstStyle/>
          <a:p>
            <a:r>
              <a:rPr lang="en-US" altLang="zh-TW" dirty="0"/>
              <a:t>3</a:t>
            </a:r>
            <a:endParaRPr lang="zh-TW" altLang="en-US" dirty="0"/>
          </a:p>
        </p:txBody>
      </p:sp>
      <p:sp>
        <p:nvSpPr>
          <p:cNvPr id="25" name="文字方塊 24">
            <a:extLst>
              <a:ext uri="{FF2B5EF4-FFF2-40B4-BE49-F238E27FC236}">
                <a16:creationId xmlns:a16="http://schemas.microsoft.com/office/drawing/2014/main" id="{C0BBDFF4-5722-4EB0-97D0-11C15CE548C2}"/>
              </a:ext>
            </a:extLst>
          </p:cNvPr>
          <p:cNvSpPr txBox="1"/>
          <p:nvPr/>
        </p:nvSpPr>
        <p:spPr>
          <a:xfrm>
            <a:off x="5370245" y="6201958"/>
            <a:ext cx="301686" cy="369332"/>
          </a:xfrm>
          <a:prstGeom prst="rect">
            <a:avLst/>
          </a:prstGeom>
          <a:noFill/>
        </p:spPr>
        <p:txBody>
          <a:bodyPr wrap="none" rtlCol="0">
            <a:spAutoFit/>
          </a:bodyPr>
          <a:lstStyle/>
          <a:p>
            <a:r>
              <a:rPr lang="en-US" altLang="zh-TW" dirty="0"/>
              <a:t>4</a:t>
            </a:r>
            <a:endParaRPr lang="zh-TW" altLang="en-US" dirty="0"/>
          </a:p>
        </p:txBody>
      </p:sp>
      <p:sp>
        <p:nvSpPr>
          <p:cNvPr id="26" name="文字方塊 25">
            <a:extLst>
              <a:ext uri="{FF2B5EF4-FFF2-40B4-BE49-F238E27FC236}">
                <a16:creationId xmlns:a16="http://schemas.microsoft.com/office/drawing/2014/main" id="{17EC78A3-E816-44F3-B6A7-E907A52CCB0B}"/>
              </a:ext>
            </a:extLst>
          </p:cNvPr>
          <p:cNvSpPr txBox="1"/>
          <p:nvPr/>
        </p:nvSpPr>
        <p:spPr>
          <a:xfrm>
            <a:off x="2316097" y="6017292"/>
            <a:ext cx="396044" cy="369332"/>
          </a:xfrm>
          <a:prstGeom prst="rect">
            <a:avLst/>
          </a:prstGeom>
          <a:noFill/>
        </p:spPr>
        <p:txBody>
          <a:bodyPr wrap="square" rtlCol="0">
            <a:spAutoFit/>
          </a:bodyPr>
          <a:lstStyle/>
          <a:p>
            <a:r>
              <a:rPr lang="en-US" altLang="zh-TW" dirty="0"/>
              <a:t>-1</a:t>
            </a:r>
            <a:endParaRPr lang="zh-TW" altLang="en-US" dirty="0"/>
          </a:p>
        </p:txBody>
      </p:sp>
      <p:sp>
        <p:nvSpPr>
          <p:cNvPr id="27" name="文字方塊 26">
            <a:extLst>
              <a:ext uri="{FF2B5EF4-FFF2-40B4-BE49-F238E27FC236}">
                <a16:creationId xmlns:a16="http://schemas.microsoft.com/office/drawing/2014/main" id="{3FF11115-3418-41B4-98CF-6C4E36D2A67E}"/>
              </a:ext>
            </a:extLst>
          </p:cNvPr>
          <p:cNvSpPr txBox="1"/>
          <p:nvPr/>
        </p:nvSpPr>
        <p:spPr>
          <a:xfrm>
            <a:off x="5976156" y="6048650"/>
            <a:ext cx="396044" cy="369332"/>
          </a:xfrm>
          <a:prstGeom prst="rect">
            <a:avLst/>
          </a:prstGeom>
          <a:noFill/>
        </p:spPr>
        <p:txBody>
          <a:bodyPr wrap="square" rtlCol="0">
            <a:spAutoFit/>
          </a:bodyPr>
          <a:lstStyle/>
          <a:p>
            <a:r>
              <a:rPr lang="en-US" altLang="zh-TW" dirty="0"/>
              <a:t>1</a:t>
            </a:r>
            <a:endParaRPr lang="zh-TW" altLang="en-US" dirty="0"/>
          </a:p>
        </p:txBody>
      </p:sp>
      <p:sp>
        <p:nvSpPr>
          <p:cNvPr id="28" name="橢圓 27">
            <a:extLst>
              <a:ext uri="{FF2B5EF4-FFF2-40B4-BE49-F238E27FC236}">
                <a16:creationId xmlns:a16="http://schemas.microsoft.com/office/drawing/2014/main" id="{457559E1-9B3B-4A25-B8EA-586B52B62195}"/>
              </a:ext>
            </a:extLst>
          </p:cNvPr>
          <p:cNvSpPr/>
          <p:nvPr/>
        </p:nvSpPr>
        <p:spPr>
          <a:xfrm>
            <a:off x="7778529" y="6129950"/>
            <a:ext cx="465879"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9" name="直線單箭頭接點 28">
            <a:extLst>
              <a:ext uri="{FF2B5EF4-FFF2-40B4-BE49-F238E27FC236}">
                <a16:creationId xmlns:a16="http://schemas.microsoft.com/office/drawing/2014/main" id="{CE35706E-24B1-447D-80DA-5BD6F0E7D8B2}"/>
              </a:ext>
            </a:extLst>
          </p:cNvPr>
          <p:cNvCxnSpPr>
            <a:stCxn id="15" idx="6"/>
            <a:endCxn id="28" idx="2"/>
          </p:cNvCxnSpPr>
          <p:nvPr/>
        </p:nvCxnSpPr>
        <p:spPr>
          <a:xfrm>
            <a:off x="6948264" y="6360476"/>
            <a:ext cx="8302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接點: 肘形 29">
            <a:extLst>
              <a:ext uri="{FF2B5EF4-FFF2-40B4-BE49-F238E27FC236}">
                <a16:creationId xmlns:a16="http://schemas.microsoft.com/office/drawing/2014/main" id="{505087BD-DE36-4E51-BB48-637395EA89C0}"/>
              </a:ext>
            </a:extLst>
          </p:cNvPr>
          <p:cNvCxnSpPr>
            <a:stCxn id="11" idx="4"/>
            <a:endCxn id="28" idx="4"/>
          </p:cNvCxnSpPr>
          <p:nvPr/>
        </p:nvCxnSpPr>
        <p:spPr>
          <a:xfrm rot="16200000" flipH="1">
            <a:off x="4941584" y="3521117"/>
            <a:ext cx="12700" cy="6139769"/>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橢圓 30">
            <a:extLst>
              <a:ext uri="{FF2B5EF4-FFF2-40B4-BE49-F238E27FC236}">
                <a16:creationId xmlns:a16="http://schemas.microsoft.com/office/drawing/2014/main" id="{B7A78210-FEC7-4AF4-8A62-B09FEEFE0D23}"/>
              </a:ext>
            </a:extLst>
          </p:cNvPr>
          <p:cNvSpPr/>
          <p:nvPr/>
        </p:nvSpPr>
        <p:spPr>
          <a:xfrm>
            <a:off x="7812360" y="6201958"/>
            <a:ext cx="396497" cy="34318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316271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anose="02020603050405020304" pitchFamily="18" charset="0"/>
                <a:cs typeface="Times New Roman" panose="02020603050405020304" pitchFamily="18" charset="0"/>
              </a:rPr>
              <a:t>Penetrative Bellman equation</a:t>
            </a:r>
            <a:endParaRPr lang="zh-TW" altLang="en-US" dirty="0">
              <a:latin typeface="Times New Roman" pitchFamily="18" charset="0"/>
              <a:cs typeface="Times New Roman" pitchFamily="18" charset="0"/>
            </a:endParaRPr>
          </a:p>
        </p:txBody>
      </p:sp>
      <p:graphicFrame>
        <p:nvGraphicFramePr>
          <p:cNvPr id="5" name="表格 5">
            <a:extLst>
              <a:ext uri="{FF2B5EF4-FFF2-40B4-BE49-F238E27FC236}">
                <a16:creationId xmlns:a16="http://schemas.microsoft.com/office/drawing/2014/main" id="{17092CE7-BC66-445A-9190-93F4AD100136}"/>
              </a:ext>
            </a:extLst>
          </p:cNvPr>
          <p:cNvGraphicFramePr>
            <a:graphicFrameLocks noGrp="1"/>
          </p:cNvGraphicFramePr>
          <p:nvPr/>
        </p:nvGraphicFramePr>
        <p:xfrm>
          <a:off x="1524000" y="4886960"/>
          <a:ext cx="6096000" cy="74168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4168419058"/>
                    </a:ext>
                  </a:extLst>
                </a:gridCol>
                <a:gridCol w="1219200">
                  <a:extLst>
                    <a:ext uri="{9D8B030D-6E8A-4147-A177-3AD203B41FA5}">
                      <a16:colId xmlns:a16="http://schemas.microsoft.com/office/drawing/2014/main" val="3228948909"/>
                    </a:ext>
                  </a:extLst>
                </a:gridCol>
                <a:gridCol w="1219200">
                  <a:extLst>
                    <a:ext uri="{9D8B030D-6E8A-4147-A177-3AD203B41FA5}">
                      <a16:colId xmlns:a16="http://schemas.microsoft.com/office/drawing/2014/main" val="4163800176"/>
                    </a:ext>
                  </a:extLst>
                </a:gridCol>
                <a:gridCol w="1219200">
                  <a:extLst>
                    <a:ext uri="{9D8B030D-6E8A-4147-A177-3AD203B41FA5}">
                      <a16:colId xmlns:a16="http://schemas.microsoft.com/office/drawing/2014/main" val="2489362430"/>
                    </a:ext>
                  </a:extLst>
                </a:gridCol>
                <a:gridCol w="1219200">
                  <a:extLst>
                    <a:ext uri="{9D8B030D-6E8A-4147-A177-3AD203B41FA5}">
                      <a16:colId xmlns:a16="http://schemas.microsoft.com/office/drawing/2014/main" val="3033016758"/>
                    </a:ext>
                  </a:extLst>
                </a:gridCol>
              </a:tblGrid>
              <a:tr h="370840">
                <a:tc>
                  <a:txBody>
                    <a:bodyPr/>
                    <a:lstStyle/>
                    <a:p>
                      <a:endParaRPr lang="zh-TW" altLang="en-US" dirty="0"/>
                    </a:p>
                  </a:txBody>
                  <a:tcPr>
                    <a:solidFill>
                      <a:schemeClr val="tx1"/>
                    </a:solidFill>
                  </a:tcPr>
                </a:tc>
                <a:tc>
                  <a:txBody>
                    <a:bodyPr/>
                    <a:lstStyle/>
                    <a:p>
                      <a:endParaRPr lang="zh-TW" altLang="en-US" dirty="0"/>
                    </a:p>
                  </a:txBody>
                  <a:tcPr>
                    <a:solidFill>
                      <a:schemeClr val="accent1"/>
                    </a:solidFill>
                  </a:tcPr>
                </a:tc>
                <a:tc>
                  <a:txBody>
                    <a:bodyPr/>
                    <a:lstStyle/>
                    <a:p>
                      <a:endParaRPr lang="zh-TW" altLang="en-US" dirty="0"/>
                    </a:p>
                  </a:txBody>
                  <a:tcPr>
                    <a:solidFill>
                      <a:srgbClr val="FFFF00"/>
                    </a:solidFill>
                  </a:tcPr>
                </a:tc>
                <a:tc>
                  <a:txBody>
                    <a:bodyPr/>
                    <a:lstStyle/>
                    <a:p>
                      <a:endParaRPr lang="zh-TW" altLang="en-US"/>
                    </a:p>
                  </a:txBody>
                  <a:tcPr/>
                </a:tc>
                <a:tc>
                  <a:txBody>
                    <a:bodyPr/>
                    <a:lstStyle/>
                    <a:p>
                      <a:endParaRPr lang="zh-TW" altLang="en-US" dirty="0"/>
                    </a:p>
                  </a:txBody>
                  <a:tcPr>
                    <a:solidFill>
                      <a:srgbClr val="FF0000"/>
                    </a:solidFill>
                  </a:tcPr>
                </a:tc>
                <a:extLst>
                  <a:ext uri="{0D108BD9-81ED-4DB2-BD59-A6C34878D82A}">
                    <a16:rowId xmlns:a16="http://schemas.microsoft.com/office/drawing/2014/main" val="3724245678"/>
                  </a:ext>
                </a:extLst>
              </a:tr>
              <a:tr h="370840">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solidFill>
                      <a:schemeClr val="tx2">
                        <a:lumMod val="20000"/>
                        <a:lumOff val="80000"/>
                      </a:schemeClr>
                    </a:solidFill>
                  </a:tcPr>
                </a:tc>
                <a:extLst>
                  <a:ext uri="{0D108BD9-81ED-4DB2-BD59-A6C34878D82A}">
                    <a16:rowId xmlns:a16="http://schemas.microsoft.com/office/drawing/2014/main" val="1322444737"/>
                  </a:ext>
                </a:extLst>
              </a:tr>
            </a:tbl>
          </a:graphicData>
        </a:graphic>
      </p:graphicFrame>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5EA2A2A1-AB28-4BA3-BDA7-2649D958D1DC}"/>
                  </a:ext>
                </a:extLst>
              </p:cNvPr>
              <p:cNvSpPr txBox="1"/>
              <p:nvPr/>
            </p:nvSpPr>
            <p:spPr>
              <a:xfrm>
                <a:off x="1127956" y="4143936"/>
                <a:ext cx="688808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𝑛𝑒𝑤</m:t>
                          </m:r>
                        </m:sup>
                      </m:sSup>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b="0" i="1" smtClean="0">
                                  <a:latin typeface="Cambria Math" panose="02040503050406030204" pitchFamily="18" charset="0"/>
                                  <a:cs typeface="Times New Roman" panose="02020603050405020304" pitchFamily="18" charset="0"/>
                                </a:rPr>
                                <m:t>2</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2</m:t>
                              </m:r>
                            </m:sub>
                          </m:sSub>
                        </m:e>
                      </m:d>
                      <m:r>
                        <a:rPr lang="en-US" altLang="zh-TW" b="0" i="1" smtClean="0">
                          <a:latin typeface="Cambria Math" panose="02040503050406030204" pitchFamily="18" charset="0"/>
                          <a:cs typeface="Times New Roman" panose="02020603050405020304" pitchFamily="18" charset="0"/>
                        </a:rPr>
                        <m:t>←0×0+1(0+1(0+1×1))</m:t>
                      </m:r>
                    </m:oMath>
                  </m:oMathPara>
                </a14:m>
                <a:endParaRPr lang="en-US" altLang="zh-TW" dirty="0">
                  <a:latin typeface="Times New Roman" panose="02020603050405020304" pitchFamily="18" charset="0"/>
                  <a:cs typeface="Times New Roman" panose="02020603050405020304" pitchFamily="18" charset="0"/>
                </a:endParaRPr>
              </a:p>
            </p:txBody>
          </p:sp>
        </mc:Choice>
        <mc:Fallback xmlns="">
          <p:sp>
            <p:nvSpPr>
              <p:cNvPr id="6" name="文字方塊 5">
                <a:extLst>
                  <a:ext uri="{FF2B5EF4-FFF2-40B4-BE49-F238E27FC236}">
                    <a16:creationId xmlns:a16="http://schemas.microsoft.com/office/drawing/2014/main" id="{5EA2A2A1-AB28-4BA3-BDA7-2649D958D1DC}"/>
                  </a:ext>
                </a:extLst>
              </p:cNvPr>
              <p:cNvSpPr txBox="1">
                <a:spLocks noRot="1" noChangeAspect="1" noMove="1" noResize="1" noEditPoints="1" noAdjustHandles="1" noChangeArrowheads="1" noChangeShapeType="1" noTextEdit="1"/>
              </p:cNvSpPr>
              <p:nvPr/>
            </p:nvSpPr>
            <p:spPr>
              <a:xfrm>
                <a:off x="1127956" y="4143936"/>
                <a:ext cx="6888088" cy="369332"/>
              </a:xfrm>
              <a:prstGeom prst="rect">
                <a:avLst/>
              </a:prstGeom>
              <a:blipFill>
                <a:blip r:embed="rId3"/>
                <a:stretch>
                  <a:fillRect b="-15000"/>
                </a:stretch>
              </a:blipFill>
            </p:spPr>
            <p:txBody>
              <a:bodyPr/>
              <a:lstStyle/>
              <a:p>
                <a:r>
                  <a:rPr lang="zh-TW" altLang="en-US">
                    <a:noFill/>
                  </a:rPr>
                  <a:t> </a:t>
                </a:r>
              </a:p>
            </p:txBody>
          </p:sp>
        </mc:Fallback>
      </mc:AlternateContent>
      <p:sp>
        <p:nvSpPr>
          <p:cNvPr id="7" name="內容版面配置區 6">
            <a:extLst>
              <a:ext uri="{FF2B5EF4-FFF2-40B4-BE49-F238E27FC236}">
                <a16:creationId xmlns:a16="http://schemas.microsoft.com/office/drawing/2014/main" id="{778F2C29-C955-41F5-9D89-B5BC652951BA}"/>
              </a:ext>
            </a:extLst>
          </p:cNvPr>
          <p:cNvSpPr>
            <a:spLocks noGrp="1"/>
          </p:cNvSpPr>
          <p:nvPr>
            <p:ph idx="1"/>
          </p:nvPr>
        </p:nvSpPr>
        <p:spPr/>
        <p:txBody>
          <a:bodyPr/>
          <a:lstStyle/>
          <a:p>
            <a:endParaRPr lang="zh-TW" altLang="en-US"/>
          </a:p>
        </p:txBody>
      </p:sp>
      <mc:AlternateContent xmlns:mc="http://schemas.openxmlformats.org/markup-compatibility/2006" xmlns:a14="http://schemas.microsoft.com/office/drawing/2010/main">
        <mc:Choice Requires="a14">
          <p:graphicFrame>
            <p:nvGraphicFramePr>
              <p:cNvPr id="8" name="表格 4">
                <a:extLst>
                  <a:ext uri="{FF2B5EF4-FFF2-40B4-BE49-F238E27FC236}">
                    <a16:creationId xmlns:a16="http://schemas.microsoft.com/office/drawing/2014/main" id="{20765EED-83D4-41B2-AF56-1DCD0456B410}"/>
                  </a:ext>
                </a:extLst>
              </p:cNvPr>
              <p:cNvGraphicFramePr>
                <a:graphicFrameLocks/>
              </p:cNvGraphicFramePr>
              <p:nvPr>
                <p:extLst>
                  <p:ext uri="{D42A27DB-BD31-4B8C-83A1-F6EECF244321}">
                    <p14:modId xmlns:p14="http://schemas.microsoft.com/office/powerpoint/2010/main" val="3372540743"/>
                  </p:ext>
                </p:extLst>
              </p:nvPr>
            </p:nvGraphicFramePr>
            <p:xfrm>
              <a:off x="457200" y="1604084"/>
              <a:ext cx="8229600" cy="2219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42729537"/>
                        </a:ext>
                      </a:extLst>
                    </a:gridCol>
                    <a:gridCol w="2743200">
                      <a:extLst>
                        <a:ext uri="{9D8B030D-6E8A-4147-A177-3AD203B41FA5}">
                          <a16:colId xmlns:a16="http://schemas.microsoft.com/office/drawing/2014/main" val="1328543671"/>
                        </a:ext>
                      </a:extLst>
                    </a:gridCol>
                    <a:gridCol w="2743200">
                      <a:extLst>
                        <a:ext uri="{9D8B030D-6E8A-4147-A177-3AD203B41FA5}">
                          <a16:colId xmlns:a16="http://schemas.microsoft.com/office/drawing/2014/main" val="401029752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𝜶</m:t>
                                </m:r>
                                <m:r>
                                  <a:rPr lang="en-US" altLang="zh-TW" b="1" i="1" smtClean="0">
                                    <a:latin typeface="Cambria Math" panose="02040503050406030204" pitchFamily="18" charset="0"/>
                                  </a:rPr>
                                  <m:t>=</m:t>
                                </m:r>
                                <m:r>
                                  <a:rPr lang="en-US" altLang="zh-TW" b="1" i="1" smtClean="0">
                                    <a:latin typeface="Cambria Math" panose="02040503050406030204" pitchFamily="18" charset="0"/>
                                  </a:rPr>
                                  <m:t>𝟎</m:t>
                                </m:r>
                                <m:r>
                                  <a:rPr lang="en-US" altLang="zh-TW" b="1" i="1" smtClean="0">
                                    <a:latin typeface="Cambria Math" panose="02040503050406030204" pitchFamily="18" charset="0"/>
                                  </a:rPr>
                                  <m:t>.</m:t>
                                </m:r>
                                <m:r>
                                  <a:rPr lang="en-US" altLang="zh-TW" b="1" i="1" smtClean="0">
                                    <a:latin typeface="Cambria Math" panose="02040503050406030204" pitchFamily="18" charset="0"/>
                                  </a:rPr>
                                  <m:t>𝟓</m:t>
                                </m:r>
                                <m:r>
                                  <a:rPr lang="en-US" altLang="zh-TW" b="1" i="1" smtClean="0">
                                    <a:latin typeface="Cambria Math" panose="02040503050406030204" pitchFamily="18" charset="0"/>
                                  </a:rPr>
                                  <m:t>, </m:t>
                                </m:r>
                                <m:r>
                                  <a:rPr lang="en-US" altLang="zh-TW" b="1" i="1" smtClean="0">
                                    <a:latin typeface="Cambria Math" panose="02040503050406030204" pitchFamily="18" charset="0"/>
                                  </a:rPr>
                                  <m:t>𝜸</m:t>
                                </m:r>
                                <m:r>
                                  <a:rPr lang="en-US" altLang="zh-TW" b="1" i="1" smtClean="0">
                                    <a:latin typeface="Cambria Math" panose="02040503050406030204" pitchFamily="18" charset="0"/>
                                  </a:rPr>
                                  <m:t>=</m:t>
                                </m:r>
                                <m:r>
                                  <a:rPr lang="en-US" altLang="zh-TW" b="1" i="1" smtClean="0">
                                    <a:latin typeface="Cambria Math" panose="02040503050406030204" pitchFamily="18" charset="0"/>
                                  </a:rPr>
                                  <m:t>𝟎</m:t>
                                </m:r>
                                <m:r>
                                  <a:rPr lang="en-US" altLang="zh-TW" b="1" i="1" smtClean="0">
                                    <a:latin typeface="Cambria Math" panose="02040503050406030204" pitchFamily="18" charset="0"/>
                                  </a:rPr>
                                  <m:t>.</m:t>
                                </m:r>
                                <m:r>
                                  <a:rPr lang="en-US" altLang="zh-TW" b="1" i="1" smtClean="0">
                                    <a:latin typeface="Cambria Math" panose="02040503050406030204" pitchFamily="18" charset="0"/>
                                  </a:rPr>
                                  <m:t>𝟗</m:t>
                                </m:r>
                              </m:oMath>
                            </m:oMathPara>
                          </a14:m>
                          <a:endParaRPr lang="zh-TW" altLang="en-US" dirty="0"/>
                        </a:p>
                      </a:txBody>
                      <a:tcPr/>
                    </a:tc>
                    <a:tc>
                      <a:txBody>
                        <a:bodyPr/>
                        <a:lstStyle/>
                        <a:p>
                          <a:pPr algn="ctr"/>
                          <a14:m>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𝒔</m:t>
                                  </m:r>
                                </m:e>
                                <m:sub>
                                  <m:r>
                                    <a:rPr lang="en-US" altLang="zh-TW" b="1" i="1" smtClean="0">
                                      <a:latin typeface="Cambria Math" panose="02040503050406030204" pitchFamily="18" charset="0"/>
                                    </a:rPr>
                                    <m:t>𝟏</m:t>
                                  </m:r>
                                </m:sub>
                              </m:sSub>
                              <m:r>
                                <a:rPr lang="en-US" altLang="zh-TW" b="1" i="1" smtClean="0">
                                  <a:latin typeface="Cambria Math" panose="02040503050406030204" pitchFamily="18" charset="0"/>
                                </a:rPr>
                                <m:t>:</m:t>
                              </m:r>
                            </m:oMath>
                          </a14:m>
                          <a:r>
                            <a:rPr lang="en-US" altLang="zh-TW" dirty="0"/>
                            <a:t>Left</a:t>
                          </a:r>
                          <a:endParaRPr lang="zh-TW" altLang="en-US" dirty="0"/>
                        </a:p>
                      </a:txBody>
                      <a:tcPr/>
                    </a:tc>
                    <a:tc>
                      <a:txBody>
                        <a:bodyPr/>
                        <a:lstStyle/>
                        <a:p>
                          <a:pPr algn="ctr"/>
                          <a14:m>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𝒔</m:t>
                                  </m:r>
                                </m:e>
                                <m:sub>
                                  <m:r>
                                    <a:rPr lang="en-US" altLang="zh-TW" b="1" i="1" smtClean="0">
                                      <a:latin typeface="Cambria Math" panose="02040503050406030204" pitchFamily="18" charset="0"/>
                                    </a:rPr>
                                    <m:t>𝟐</m:t>
                                  </m:r>
                                </m:sub>
                              </m:sSub>
                              <m:r>
                                <a:rPr lang="en-US" altLang="zh-TW" b="1" i="1" smtClean="0">
                                  <a:latin typeface="Cambria Math" panose="02040503050406030204" pitchFamily="18" charset="0"/>
                                </a:rPr>
                                <m:t>:</m:t>
                              </m:r>
                            </m:oMath>
                          </a14:m>
                          <a:r>
                            <a:rPr lang="en-US" altLang="zh-TW" dirty="0"/>
                            <a:t>Right</a:t>
                          </a:r>
                          <a:endParaRPr lang="zh-TW" altLang="en-US" dirty="0"/>
                        </a:p>
                      </a:txBody>
                      <a:tcPr/>
                    </a:tc>
                    <a:extLst>
                      <a:ext uri="{0D108BD9-81ED-4DB2-BD59-A6C34878D82A}">
                        <a16:rowId xmlns:a16="http://schemas.microsoft.com/office/drawing/2014/main" val="4249723552"/>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1</a:t>
                          </a:r>
                          <a:endParaRPr lang="zh-TW" altLang="en-US" sz="1800" kern="1200" dirty="0">
                            <a:solidFill>
                              <a:schemeClr val="dk1"/>
                            </a:solidFill>
                            <a:latin typeface="+mn-lt"/>
                            <a:ea typeface="+mn-ea"/>
                            <a:cs typeface="+mn-cs"/>
                          </a:endParaRPr>
                        </a:p>
                      </a:txBody>
                      <a:tcPr/>
                    </a:tc>
                    <a:tc gridSpan="2">
                      <a:txBody>
                        <a:bodyPr/>
                        <a:lstStyle/>
                        <a:p>
                          <a:pPr algn="ctr"/>
                          <a:r>
                            <a:rPr lang="en-US" altLang="zh-TW" dirty="0"/>
                            <a:t>0, Game over</a:t>
                          </a:r>
                          <a:endParaRPr lang="zh-TW" altLang="en-US" dirty="0"/>
                        </a:p>
                      </a:txBody>
                      <a:tcPr/>
                    </a:tc>
                    <a:tc hMerge="1">
                      <a:txBody>
                        <a:bodyPr/>
                        <a:lstStyle/>
                        <a:p>
                          <a:pPr algn="ctr"/>
                          <a:r>
                            <a:rPr lang="en-US" altLang="zh-TW" dirty="0"/>
                            <a:t>0</a:t>
                          </a:r>
                          <a:endParaRPr lang="zh-TW" altLang="en-US" dirty="0"/>
                        </a:p>
                      </a:txBody>
                      <a:tcPr/>
                    </a:tc>
                    <a:extLst>
                      <a:ext uri="{0D108BD9-81ED-4DB2-BD59-A6C34878D82A}">
                        <a16:rowId xmlns:a16="http://schemas.microsoft.com/office/drawing/2014/main" val="2334998379"/>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2</a:t>
                          </a:r>
                          <a:endParaRPr lang="zh-TW" altLang="en-US" sz="1800" kern="1200" dirty="0">
                            <a:solidFill>
                              <a:schemeClr val="dk1"/>
                            </a:solidFill>
                            <a:latin typeface="+mn-lt"/>
                            <a:ea typeface="+mn-ea"/>
                            <a:cs typeface="+mn-cs"/>
                          </a:endParaRPr>
                        </a:p>
                      </a:txBody>
                      <a:tcPr/>
                    </a:tc>
                    <a:tc>
                      <a:txBody>
                        <a:bodyPr/>
                        <a:lstStyle/>
                        <a:p>
                          <a:pPr algn="ctr"/>
                          <a:r>
                            <a:rPr lang="en-US" altLang="zh-TW" dirty="0"/>
                            <a:t>-1, State 1</a:t>
                          </a:r>
                          <a:endParaRPr lang="zh-TW" altLang="en-US" dirty="0"/>
                        </a:p>
                      </a:txBody>
                      <a:tcPr/>
                    </a:tc>
                    <a:tc>
                      <a:txBody>
                        <a:bodyPr/>
                        <a:lstStyle/>
                        <a:p>
                          <a:pPr algn="ctr"/>
                          <a:r>
                            <a:rPr lang="en-US" altLang="zh-TW" dirty="0">
                              <a:solidFill>
                                <a:srgbClr val="FF0000"/>
                              </a:solidFill>
                            </a:rPr>
                            <a:t>1</a:t>
                          </a:r>
                          <a:r>
                            <a:rPr lang="en-US" altLang="zh-TW" dirty="0"/>
                            <a:t>, State 3</a:t>
                          </a:r>
                          <a:endParaRPr lang="zh-TW" altLang="en-US" dirty="0">
                            <a:solidFill>
                              <a:schemeClr val="tx1"/>
                            </a:solidFill>
                          </a:endParaRPr>
                        </a:p>
                      </a:txBody>
                      <a:tcPr/>
                    </a:tc>
                    <a:extLst>
                      <a:ext uri="{0D108BD9-81ED-4DB2-BD59-A6C34878D82A}">
                        <a16:rowId xmlns:a16="http://schemas.microsoft.com/office/drawing/2014/main" val="2806613416"/>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3</a:t>
                          </a:r>
                        </a:p>
                      </a:txBody>
                      <a:tcPr marL="7620" marR="7620" marT="7620" marB="0" anchor="ctr"/>
                    </a:tc>
                    <a:tc>
                      <a:txBody>
                        <a:bodyPr/>
                        <a:lstStyle/>
                        <a:p>
                          <a:pPr algn="ctr"/>
                          <a:r>
                            <a:rPr lang="en-US" altLang="zh-TW" dirty="0"/>
                            <a:t>0, State 2</a:t>
                          </a:r>
                          <a:endParaRPr lang="zh-TW" altLang="en-US" dirty="0"/>
                        </a:p>
                      </a:txBody>
                      <a:tcPr/>
                    </a:tc>
                    <a:tc>
                      <a:txBody>
                        <a:bodyPr/>
                        <a:lstStyle/>
                        <a:p>
                          <a:pPr algn="ctr"/>
                          <a:r>
                            <a:rPr lang="en-US" altLang="zh-TW" dirty="0">
                              <a:solidFill>
                                <a:schemeClr val="tx1"/>
                              </a:solidFill>
                            </a:rPr>
                            <a:t>0</a:t>
                          </a:r>
                          <a:r>
                            <a:rPr lang="en-US" altLang="zh-TW" dirty="0"/>
                            <a:t>, State 4</a:t>
                          </a:r>
                          <a:endParaRPr lang="zh-TW" altLang="en-US" dirty="0">
                            <a:solidFill>
                              <a:srgbClr val="FF0000"/>
                            </a:solidFill>
                          </a:endParaRPr>
                        </a:p>
                      </a:txBody>
                      <a:tcPr/>
                    </a:tc>
                    <a:extLst>
                      <a:ext uri="{0D108BD9-81ED-4DB2-BD59-A6C34878D82A}">
                        <a16:rowId xmlns:a16="http://schemas.microsoft.com/office/drawing/2014/main" val="2756867369"/>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4</a:t>
                          </a:r>
                        </a:p>
                      </a:txBody>
                      <a:tcPr marL="7620" marR="7620" marT="7620" marB="0" anchor="ctr"/>
                    </a:tc>
                    <a:tc>
                      <a:txBody>
                        <a:bodyPr/>
                        <a:lstStyle/>
                        <a:p>
                          <a:pPr algn="ctr"/>
                          <a:r>
                            <a:rPr lang="en-US" altLang="zh-TW" dirty="0"/>
                            <a:t>0, State 3</a:t>
                          </a:r>
                          <a:endParaRPr lang="zh-TW" altLang="en-US" dirty="0"/>
                        </a:p>
                      </a:txBody>
                      <a:tcPr/>
                    </a:tc>
                    <a:tc>
                      <a:txBody>
                        <a:bodyPr/>
                        <a:lstStyle/>
                        <a:p>
                          <a:pPr algn="ctr"/>
                          <a:r>
                            <a:rPr lang="en-US" altLang="zh-TW" dirty="0"/>
                            <a:t>1, State 5</a:t>
                          </a:r>
                          <a:endParaRPr lang="zh-TW" altLang="en-US" dirty="0"/>
                        </a:p>
                      </a:txBody>
                      <a:tcPr/>
                    </a:tc>
                    <a:extLst>
                      <a:ext uri="{0D108BD9-81ED-4DB2-BD59-A6C34878D82A}">
                        <a16:rowId xmlns:a16="http://schemas.microsoft.com/office/drawing/2014/main" val="2076074664"/>
                      </a:ext>
                    </a:extLst>
                  </a:tr>
                  <a:tr h="190624">
                    <a:tc>
                      <a:txBody>
                        <a:bodyPr/>
                        <a:lstStyle/>
                        <a:p>
                          <a:pPr marL="0" algn="ctr" defTabSz="914400" rtl="0" eaLnBrk="1" fontAlgn="ctr" latinLnBrk="0" hangingPunct="1"/>
                          <a:r>
                            <a:rPr lang="en-US" sz="1800" kern="1200" dirty="0">
                              <a:solidFill>
                                <a:schemeClr val="dk1"/>
                              </a:solidFill>
                              <a:latin typeface="+mn-lt"/>
                              <a:ea typeface="+mn-ea"/>
                              <a:cs typeface="+mn-cs"/>
                            </a:rPr>
                            <a:t>State 5</a:t>
                          </a:r>
                        </a:p>
                      </a:txBody>
                      <a:tcPr marL="7620" marR="7620" marT="7620" marB="0"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Game over</a:t>
                          </a:r>
                          <a:endParaRPr lang="zh-TW" altLang="en-US" dirty="0"/>
                        </a:p>
                      </a:txBody>
                      <a:tcPr/>
                    </a:tc>
                    <a:extLst>
                      <a:ext uri="{0D108BD9-81ED-4DB2-BD59-A6C34878D82A}">
                        <a16:rowId xmlns:a16="http://schemas.microsoft.com/office/drawing/2014/main" val="2492673390"/>
                      </a:ext>
                    </a:extLst>
                  </a:tr>
                </a:tbl>
              </a:graphicData>
            </a:graphic>
          </p:graphicFrame>
        </mc:Choice>
        <mc:Fallback xmlns="">
          <p:graphicFrame>
            <p:nvGraphicFramePr>
              <p:cNvPr id="8" name="表格 4">
                <a:extLst>
                  <a:ext uri="{FF2B5EF4-FFF2-40B4-BE49-F238E27FC236}">
                    <a16:creationId xmlns:a16="http://schemas.microsoft.com/office/drawing/2014/main" id="{20765EED-83D4-41B2-AF56-1DCD0456B410}"/>
                  </a:ext>
                </a:extLst>
              </p:cNvPr>
              <p:cNvGraphicFramePr>
                <a:graphicFrameLocks/>
              </p:cNvGraphicFramePr>
              <p:nvPr>
                <p:extLst>
                  <p:ext uri="{D42A27DB-BD31-4B8C-83A1-F6EECF244321}">
                    <p14:modId xmlns:p14="http://schemas.microsoft.com/office/powerpoint/2010/main" val="3372540743"/>
                  </p:ext>
                </p:extLst>
              </p:nvPr>
            </p:nvGraphicFramePr>
            <p:xfrm>
              <a:off x="457200" y="1604084"/>
              <a:ext cx="8229600" cy="2219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42729537"/>
                        </a:ext>
                      </a:extLst>
                    </a:gridCol>
                    <a:gridCol w="2743200">
                      <a:extLst>
                        <a:ext uri="{9D8B030D-6E8A-4147-A177-3AD203B41FA5}">
                          <a16:colId xmlns:a16="http://schemas.microsoft.com/office/drawing/2014/main" val="1328543671"/>
                        </a:ext>
                      </a:extLst>
                    </a:gridCol>
                    <a:gridCol w="2743200">
                      <a:extLst>
                        <a:ext uri="{9D8B030D-6E8A-4147-A177-3AD203B41FA5}">
                          <a16:colId xmlns:a16="http://schemas.microsoft.com/office/drawing/2014/main" val="4010297521"/>
                        </a:ext>
                      </a:extLst>
                    </a:gridCol>
                  </a:tblGrid>
                  <a:tr h="370840">
                    <a:tc>
                      <a:txBody>
                        <a:bodyPr/>
                        <a:lstStyle/>
                        <a:p>
                          <a:endParaRPr lang="zh-TW"/>
                        </a:p>
                      </a:txBody>
                      <a:tcPr>
                        <a:blipFill>
                          <a:blip r:embed="rId4"/>
                          <a:stretch>
                            <a:fillRect l="-444" t="-8197" r="-201111" b="-526230"/>
                          </a:stretch>
                        </a:blipFill>
                      </a:tcPr>
                    </a:tc>
                    <a:tc>
                      <a:txBody>
                        <a:bodyPr/>
                        <a:lstStyle/>
                        <a:p>
                          <a:endParaRPr lang="zh-TW"/>
                        </a:p>
                      </a:txBody>
                      <a:tcPr>
                        <a:blipFill>
                          <a:blip r:embed="rId4"/>
                          <a:stretch>
                            <a:fillRect l="-100444" t="-8197" r="-101111" b="-526230"/>
                          </a:stretch>
                        </a:blipFill>
                      </a:tcPr>
                    </a:tc>
                    <a:tc>
                      <a:txBody>
                        <a:bodyPr/>
                        <a:lstStyle/>
                        <a:p>
                          <a:endParaRPr lang="zh-TW"/>
                        </a:p>
                      </a:txBody>
                      <a:tcPr>
                        <a:blipFill>
                          <a:blip r:embed="rId4"/>
                          <a:stretch>
                            <a:fillRect l="-200444" t="-8197" r="-1111" b="-526230"/>
                          </a:stretch>
                        </a:blipFill>
                      </a:tcPr>
                    </a:tc>
                    <a:extLst>
                      <a:ext uri="{0D108BD9-81ED-4DB2-BD59-A6C34878D82A}">
                        <a16:rowId xmlns:a16="http://schemas.microsoft.com/office/drawing/2014/main" val="4249723552"/>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1</a:t>
                          </a:r>
                          <a:endParaRPr lang="zh-TW" altLang="en-US" sz="1800" kern="1200" dirty="0">
                            <a:solidFill>
                              <a:schemeClr val="dk1"/>
                            </a:solidFill>
                            <a:latin typeface="+mn-lt"/>
                            <a:ea typeface="+mn-ea"/>
                            <a:cs typeface="+mn-cs"/>
                          </a:endParaRPr>
                        </a:p>
                      </a:txBody>
                      <a:tcPr/>
                    </a:tc>
                    <a:tc gridSpan="2">
                      <a:txBody>
                        <a:bodyPr/>
                        <a:lstStyle/>
                        <a:p>
                          <a:pPr algn="ctr"/>
                          <a:r>
                            <a:rPr lang="en-US" altLang="zh-TW" dirty="0"/>
                            <a:t>0, Game over</a:t>
                          </a:r>
                          <a:endParaRPr lang="zh-TW" altLang="en-US" dirty="0"/>
                        </a:p>
                      </a:txBody>
                      <a:tcPr/>
                    </a:tc>
                    <a:tc hMerge="1">
                      <a:txBody>
                        <a:bodyPr/>
                        <a:lstStyle/>
                        <a:p>
                          <a:pPr algn="ctr"/>
                          <a:r>
                            <a:rPr lang="en-US" altLang="zh-TW" dirty="0"/>
                            <a:t>0</a:t>
                          </a:r>
                          <a:endParaRPr lang="zh-TW" altLang="en-US" dirty="0"/>
                        </a:p>
                      </a:txBody>
                      <a:tcPr/>
                    </a:tc>
                    <a:extLst>
                      <a:ext uri="{0D108BD9-81ED-4DB2-BD59-A6C34878D82A}">
                        <a16:rowId xmlns:a16="http://schemas.microsoft.com/office/drawing/2014/main" val="2334998379"/>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2</a:t>
                          </a:r>
                          <a:endParaRPr lang="zh-TW" altLang="en-US" sz="1800" kern="1200" dirty="0">
                            <a:solidFill>
                              <a:schemeClr val="dk1"/>
                            </a:solidFill>
                            <a:latin typeface="+mn-lt"/>
                            <a:ea typeface="+mn-ea"/>
                            <a:cs typeface="+mn-cs"/>
                          </a:endParaRPr>
                        </a:p>
                      </a:txBody>
                      <a:tcPr/>
                    </a:tc>
                    <a:tc>
                      <a:txBody>
                        <a:bodyPr/>
                        <a:lstStyle/>
                        <a:p>
                          <a:pPr algn="ctr"/>
                          <a:r>
                            <a:rPr lang="en-US" altLang="zh-TW" dirty="0"/>
                            <a:t>-1, State 1</a:t>
                          </a:r>
                          <a:endParaRPr lang="zh-TW" altLang="en-US" dirty="0"/>
                        </a:p>
                      </a:txBody>
                      <a:tcPr/>
                    </a:tc>
                    <a:tc>
                      <a:txBody>
                        <a:bodyPr/>
                        <a:lstStyle/>
                        <a:p>
                          <a:pPr algn="ctr"/>
                          <a:r>
                            <a:rPr lang="en-US" altLang="zh-TW" dirty="0">
                              <a:solidFill>
                                <a:srgbClr val="FF0000"/>
                              </a:solidFill>
                            </a:rPr>
                            <a:t>1</a:t>
                          </a:r>
                          <a:r>
                            <a:rPr lang="en-US" altLang="zh-TW" dirty="0"/>
                            <a:t>, State 3</a:t>
                          </a:r>
                          <a:endParaRPr lang="zh-TW" altLang="en-US" dirty="0">
                            <a:solidFill>
                              <a:schemeClr val="tx1"/>
                            </a:solidFill>
                          </a:endParaRPr>
                        </a:p>
                      </a:txBody>
                      <a:tcPr/>
                    </a:tc>
                    <a:extLst>
                      <a:ext uri="{0D108BD9-81ED-4DB2-BD59-A6C34878D82A}">
                        <a16:rowId xmlns:a16="http://schemas.microsoft.com/office/drawing/2014/main" val="2806613416"/>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3</a:t>
                          </a:r>
                        </a:p>
                      </a:txBody>
                      <a:tcPr marL="7620" marR="7620" marT="7620" marB="0" anchor="ctr"/>
                    </a:tc>
                    <a:tc>
                      <a:txBody>
                        <a:bodyPr/>
                        <a:lstStyle/>
                        <a:p>
                          <a:pPr algn="ctr"/>
                          <a:r>
                            <a:rPr lang="en-US" altLang="zh-TW" dirty="0"/>
                            <a:t>0, State 2</a:t>
                          </a:r>
                          <a:endParaRPr lang="zh-TW" altLang="en-US" dirty="0"/>
                        </a:p>
                      </a:txBody>
                      <a:tcPr/>
                    </a:tc>
                    <a:tc>
                      <a:txBody>
                        <a:bodyPr/>
                        <a:lstStyle/>
                        <a:p>
                          <a:pPr algn="ctr"/>
                          <a:r>
                            <a:rPr lang="en-US" altLang="zh-TW" dirty="0">
                              <a:solidFill>
                                <a:schemeClr val="tx1"/>
                              </a:solidFill>
                            </a:rPr>
                            <a:t>0</a:t>
                          </a:r>
                          <a:r>
                            <a:rPr lang="en-US" altLang="zh-TW" dirty="0"/>
                            <a:t>, State 4</a:t>
                          </a:r>
                          <a:endParaRPr lang="zh-TW" altLang="en-US" dirty="0">
                            <a:solidFill>
                              <a:srgbClr val="FF0000"/>
                            </a:solidFill>
                          </a:endParaRPr>
                        </a:p>
                      </a:txBody>
                      <a:tcPr/>
                    </a:tc>
                    <a:extLst>
                      <a:ext uri="{0D108BD9-81ED-4DB2-BD59-A6C34878D82A}">
                        <a16:rowId xmlns:a16="http://schemas.microsoft.com/office/drawing/2014/main" val="2756867369"/>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4</a:t>
                          </a:r>
                        </a:p>
                      </a:txBody>
                      <a:tcPr marL="7620" marR="7620" marT="7620" marB="0" anchor="ctr"/>
                    </a:tc>
                    <a:tc>
                      <a:txBody>
                        <a:bodyPr/>
                        <a:lstStyle/>
                        <a:p>
                          <a:pPr algn="ctr"/>
                          <a:r>
                            <a:rPr lang="en-US" altLang="zh-TW" dirty="0"/>
                            <a:t>0, State 3</a:t>
                          </a:r>
                          <a:endParaRPr lang="zh-TW" altLang="en-US" dirty="0"/>
                        </a:p>
                      </a:txBody>
                      <a:tcPr/>
                    </a:tc>
                    <a:tc>
                      <a:txBody>
                        <a:bodyPr/>
                        <a:lstStyle/>
                        <a:p>
                          <a:pPr algn="ctr"/>
                          <a:r>
                            <a:rPr lang="en-US" altLang="zh-TW" dirty="0"/>
                            <a:t>1, State 5</a:t>
                          </a:r>
                          <a:endParaRPr lang="zh-TW" altLang="en-US" dirty="0"/>
                        </a:p>
                      </a:txBody>
                      <a:tcPr/>
                    </a:tc>
                    <a:extLst>
                      <a:ext uri="{0D108BD9-81ED-4DB2-BD59-A6C34878D82A}">
                        <a16:rowId xmlns:a16="http://schemas.microsoft.com/office/drawing/2014/main" val="2076074664"/>
                      </a:ext>
                    </a:extLst>
                  </a:tr>
                  <a:tr h="365760">
                    <a:tc>
                      <a:txBody>
                        <a:bodyPr/>
                        <a:lstStyle/>
                        <a:p>
                          <a:pPr marL="0" algn="ctr" defTabSz="914400" rtl="0" eaLnBrk="1" fontAlgn="ctr" latinLnBrk="0" hangingPunct="1"/>
                          <a:r>
                            <a:rPr lang="en-US" sz="1800" kern="1200" dirty="0">
                              <a:solidFill>
                                <a:schemeClr val="dk1"/>
                              </a:solidFill>
                              <a:latin typeface="+mn-lt"/>
                              <a:ea typeface="+mn-ea"/>
                              <a:cs typeface="+mn-cs"/>
                            </a:rPr>
                            <a:t>State 5</a:t>
                          </a:r>
                        </a:p>
                      </a:txBody>
                      <a:tcPr marL="7620" marR="7620" marT="7620" marB="0"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Game over</a:t>
                          </a:r>
                          <a:endParaRPr lang="zh-TW" altLang="en-US" dirty="0"/>
                        </a:p>
                      </a:txBody>
                      <a:tcPr/>
                    </a:tc>
                    <a:extLst>
                      <a:ext uri="{0D108BD9-81ED-4DB2-BD59-A6C34878D82A}">
                        <a16:rowId xmlns:a16="http://schemas.microsoft.com/office/drawing/2014/main" val="2492673390"/>
                      </a:ext>
                    </a:extLst>
                  </a:tr>
                </a:tbl>
              </a:graphicData>
            </a:graphic>
          </p:graphicFrame>
        </mc:Fallback>
      </mc:AlternateContent>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D38C9E0B-8F43-4BA7-ADD1-28278D0DC694}"/>
                  </a:ext>
                </a:extLst>
              </p:cNvPr>
              <p:cNvSpPr txBox="1"/>
              <p:nvPr/>
            </p:nvSpPr>
            <p:spPr>
              <a:xfrm>
                <a:off x="1524000" y="5589240"/>
                <a:ext cx="6096000" cy="47968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r>
                            <a:rPr lang="en-US" altLang="zh-TW" i="1">
                              <a:latin typeface="Cambria Math" panose="02040503050406030204" pitchFamily="18" charset="0"/>
                              <a:cs typeface="Times New Roman" panose="02020603050405020304" pitchFamily="18" charset="0"/>
                            </a:rPr>
                            <m:t>𝑎</m:t>
                          </m:r>
                        </m:lim>
                      </m:limLow>
                      <m:r>
                        <a:rPr lang="en-US" altLang="zh-TW" i="1">
                          <a:latin typeface="Cambria Math" panose="02040503050406030204" pitchFamily="18" charset="0"/>
                          <a:cs typeface="Times New Roman" panose="02020603050405020304" pitchFamily="18" charset="0"/>
                        </a:rPr>
                        <m:t> </m:t>
                      </m:r>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𝑄</m:t>
                          </m:r>
                        </m:e>
                        <m:sup>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𝑖</m:t>
                              </m:r>
                            </m:e>
                          </m:d>
                        </m:sup>
                      </m:sSup>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𝑠</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𝑎</m:t>
                          </m:r>
                        </m:e>
                      </m:d>
                      <m:r>
                        <a:rPr lang="en-US" altLang="zh-TW" i="1">
                          <a:latin typeface="Cambria Math" panose="02040503050406030204" pitchFamily="18" charset="0"/>
                          <a:cs typeface="Times New Roman" panose="02020603050405020304" pitchFamily="18" charset="0"/>
                        </a:rPr>
                        <m:t>=</m:t>
                      </m:r>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r>
                            <a:rPr lang="en-US" altLang="zh-TW" i="1">
                              <a:latin typeface="Cambria Math" panose="02040503050406030204" pitchFamily="18" charset="0"/>
                              <a:cs typeface="Times New Roman" panose="02020603050405020304" pitchFamily="18" charset="0"/>
                            </a:rPr>
                            <m:t>𝑎</m:t>
                          </m:r>
                        </m:lim>
                      </m:limLow>
                      <m:r>
                        <a:rPr lang="en-US" altLang="zh-TW" i="1">
                          <a:latin typeface="Cambria Math" panose="02040503050406030204" pitchFamily="18" charset="0"/>
                          <a:cs typeface="Times New Roman" panose="02020603050405020304" pitchFamily="18" charset="0"/>
                        </a:rPr>
                        <m:t> </m:t>
                      </m:r>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𝑄</m:t>
                          </m:r>
                        </m:e>
                        <m:sup>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𝑖</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𝑡</m:t>
                              </m:r>
                            </m:e>
                          </m:d>
                        </m:sup>
                      </m:sSup>
                      <m:d>
                        <m:dPr>
                          <m:ctrlPr>
                            <a:rPr lang="en-US" altLang="zh-TW" i="1">
                              <a:latin typeface="Cambria Math" panose="02040503050406030204" pitchFamily="18" charset="0"/>
                              <a:cs typeface="Times New Roman" panose="02020603050405020304" pitchFamily="18" charset="0"/>
                            </a:rPr>
                          </m:ctrlPr>
                        </m:dPr>
                        <m:e>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𝑠</m:t>
                              </m:r>
                            </m:e>
                            <m:sup>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𝑡</m:t>
                              </m:r>
                              <m:r>
                                <a:rPr lang="en-US" altLang="zh-TW" i="1">
                                  <a:latin typeface="Cambria Math" panose="02040503050406030204" pitchFamily="18" charset="0"/>
                                  <a:cs typeface="Times New Roman" panose="02020603050405020304" pitchFamily="18" charset="0"/>
                                </a:rPr>
                                <m:t>)</m:t>
                              </m:r>
                            </m:sup>
                          </m:sSup>
                          <m:r>
                            <a:rPr lang="en-US" altLang="zh-TW" i="1">
                              <a:latin typeface="Cambria Math" panose="02040503050406030204" pitchFamily="18" charset="0"/>
                              <a:cs typeface="Times New Roman" panose="02020603050405020304" pitchFamily="18" charset="0"/>
                            </a:rPr>
                            <m:t>,</m:t>
                          </m:r>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𝑎</m:t>
                              </m:r>
                            </m:e>
                            <m:sup>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𝑡</m:t>
                              </m:r>
                              <m:r>
                                <a:rPr lang="en-US" altLang="zh-TW" i="1">
                                  <a:latin typeface="Cambria Math" panose="02040503050406030204" pitchFamily="18" charset="0"/>
                                  <a:cs typeface="Times New Roman" panose="02020603050405020304" pitchFamily="18" charset="0"/>
                                </a:rPr>
                                <m:t>)</m:t>
                              </m:r>
                            </m:sup>
                          </m:sSup>
                        </m:e>
                        <m:e>
                          <m:r>
                            <a:rPr lang="en-US" altLang="zh-TW" i="1">
                              <a:latin typeface="Cambria Math" panose="02040503050406030204" pitchFamily="18" charset="0"/>
                              <a:cs typeface="Times New Roman" panose="02020603050405020304" pitchFamily="18" charset="0"/>
                            </a:rPr>
                            <m:t>𝑠</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𝑎</m:t>
                          </m:r>
                        </m:e>
                      </m:d>
                    </m:oMath>
                  </m:oMathPara>
                </a14:m>
                <a:endParaRPr lang="zh-TW" altLang="en-US" dirty="0"/>
              </a:p>
            </p:txBody>
          </p:sp>
        </mc:Choice>
        <mc:Fallback xmlns="">
          <p:sp>
            <p:nvSpPr>
              <p:cNvPr id="9" name="文字方塊 8">
                <a:extLst>
                  <a:ext uri="{FF2B5EF4-FFF2-40B4-BE49-F238E27FC236}">
                    <a16:creationId xmlns:a16="http://schemas.microsoft.com/office/drawing/2014/main" id="{D38C9E0B-8F43-4BA7-ADD1-28278D0DC694}"/>
                  </a:ext>
                </a:extLst>
              </p:cNvPr>
              <p:cNvSpPr txBox="1">
                <a:spLocks noRot="1" noChangeAspect="1" noMove="1" noResize="1" noEditPoints="1" noAdjustHandles="1" noChangeArrowheads="1" noChangeShapeType="1" noTextEdit="1"/>
              </p:cNvSpPr>
              <p:nvPr/>
            </p:nvSpPr>
            <p:spPr>
              <a:xfrm>
                <a:off x="1524000" y="5589240"/>
                <a:ext cx="6096000" cy="479683"/>
              </a:xfrm>
              <a:prstGeom prst="rect">
                <a:avLst/>
              </a:prstGeom>
              <a:blipFill>
                <a:blip r:embed="rId5"/>
                <a:stretch>
                  <a:fillRect/>
                </a:stretch>
              </a:blipFill>
            </p:spPr>
            <p:txBody>
              <a:bodyPr/>
              <a:lstStyle/>
              <a:p>
                <a:r>
                  <a:rPr lang="zh-TW" altLang="en-US">
                    <a:noFill/>
                  </a:rPr>
                  <a:t> </a:t>
                </a:r>
              </a:p>
            </p:txBody>
          </p:sp>
        </mc:Fallback>
      </mc:AlternateContent>
      <p:sp>
        <p:nvSpPr>
          <p:cNvPr id="10" name="文字方塊 9">
            <a:extLst>
              <a:ext uri="{FF2B5EF4-FFF2-40B4-BE49-F238E27FC236}">
                <a16:creationId xmlns:a16="http://schemas.microsoft.com/office/drawing/2014/main" id="{F4F4AB6A-9872-4440-A7AD-4A2BFF7F6E2B}"/>
              </a:ext>
            </a:extLst>
          </p:cNvPr>
          <p:cNvSpPr txBox="1"/>
          <p:nvPr/>
        </p:nvSpPr>
        <p:spPr>
          <a:xfrm>
            <a:off x="6325576" y="6192666"/>
            <a:ext cx="840432" cy="369332"/>
          </a:xfrm>
          <a:prstGeom prst="rect">
            <a:avLst/>
          </a:prstGeom>
          <a:noFill/>
        </p:spPr>
        <p:txBody>
          <a:bodyPr wrap="square" rtlCol="0">
            <a:spAutoFit/>
          </a:bodyPr>
          <a:lstStyle/>
          <a:p>
            <a:r>
              <a:rPr lang="en-US" altLang="zh-TW" dirty="0"/>
              <a:t>5</a:t>
            </a:r>
            <a:endParaRPr lang="zh-TW" altLang="en-US" dirty="0"/>
          </a:p>
        </p:txBody>
      </p:sp>
      <p:sp>
        <p:nvSpPr>
          <p:cNvPr id="11" name="橢圓 10">
            <a:extLst>
              <a:ext uri="{FF2B5EF4-FFF2-40B4-BE49-F238E27FC236}">
                <a16:creationId xmlns:a16="http://schemas.microsoft.com/office/drawing/2014/main" id="{FD4F44F0-C692-4B38-99B9-0DDEFA71E68B}"/>
              </a:ext>
            </a:extLst>
          </p:cNvPr>
          <p:cNvSpPr/>
          <p:nvPr/>
        </p:nvSpPr>
        <p:spPr>
          <a:xfrm>
            <a:off x="1403648"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 name="橢圓 11">
            <a:extLst>
              <a:ext uri="{FF2B5EF4-FFF2-40B4-BE49-F238E27FC236}">
                <a16:creationId xmlns:a16="http://schemas.microsoft.com/office/drawing/2014/main" id="{8B58ECEB-D8A5-49DC-A777-3460BEC00A6F}"/>
              </a:ext>
            </a:extLst>
          </p:cNvPr>
          <p:cNvSpPr/>
          <p:nvPr/>
        </p:nvSpPr>
        <p:spPr>
          <a:xfrm>
            <a:off x="2591780"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橢圓 12">
            <a:extLst>
              <a:ext uri="{FF2B5EF4-FFF2-40B4-BE49-F238E27FC236}">
                <a16:creationId xmlns:a16="http://schemas.microsoft.com/office/drawing/2014/main" id="{18C4CBC6-73AB-4243-8E07-FCEEE4A56F2D}"/>
              </a:ext>
            </a:extLst>
          </p:cNvPr>
          <p:cNvSpPr/>
          <p:nvPr/>
        </p:nvSpPr>
        <p:spPr>
          <a:xfrm>
            <a:off x="3779912"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4" name="橢圓 13">
            <a:extLst>
              <a:ext uri="{FF2B5EF4-FFF2-40B4-BE49-F238E27FC236}">
                <a16:creationId xmlns:a16="http://schemas.microsoft.com/office/drawing/2014/main" id="{C9552D34-958D-4823-B4C5-7ED8CE987594}"/>
              </a:ext>
            </a:extLst>
          </p:cNvPr>
          <p:cNvSpPr/>
          <p:nvPr/>
        </p:nvSpPr>
        <p:spPr>
          <a:xfrm>
            <a:off x="5040052"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 name="橢圓 14">
            <a:extLst>
              <a:ext uri="{FF2B5EF4-FFF2-40B4-BE49-F238E27FC236}">
                <a16:creationId xmlns:a16="http://schemas.microsoft.com/office/drawing/2014/main" id="{890DCC3D-38FF-41AF-86BC-7F61B45A4366}"/>
              </a:ext>
            </a:extLst>
          </p:cNvPr>
          <p:cNvSpPr/>
          <p:nvPr/>
        </p:nvSpPr>
        <p:spPr>
          <a:xfrm>
            <a:off x="6228184"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6" name="直線單箭頭接點 15">
            <a:extLst>
              <a:ext uri="{FF2B5EF4-FFF2-40B4-BE49-F238E27FC236}">
                <a16:creationId xmlns:a16="http://schemas.microsoft.com/office/drawing/2014/main" id="{DFCDD19A-265F-4F62-B318-778D7A0167D2}"/>
              </a:ext>
            </a:extLst>
          </p:cNvPr>
          <p:cNvCxnSpPr>
            <a:stCxn id="13" idx="1"/>
            <a:endCxn id="12" idx="7"/>
          </p:cNvCxnSpPr>
          <p:nvPr/>
        </p:nvCxnSpPr>
        <p:spPr>
          <a:xfrm flipH="1">
            <a:off x="3022019" y="6197470"/>
            <a:ext cx="8317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00D7CBB6-7720-44DA-A2D2-71781B9E8FA5}"/>
              </a:ext>
            </a:extLst>
          </p:cNvPr>
          <p:cNvCxnSpPr>
            <a:stCxn id="14" idx="1"/>
            <a:endCxn id="13" idx="7"/>
          </p:cNvCxnSpPr>
          <p:nvPr/>
        </p:nvCxnSpPr>
        <p:spPr>
          <a:xfrm flipH="1">
            <a:off x="4210151" y="6197470"/>
            <a:ext cx="9037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a:extLst>
              <a:ext uri="{FF2B5EF4-FFF2-40B4-BE49-F238E27FC236}">
                <a16:creationId xmlns:a16="http://schemas.microsoft.com/office/drawing/2014/main" id="{C2DF1ECC-E7D9-4901-BC67-915352E1332A}"/>
              </a:ext>
            </a:extLst>
          </p:cNvPr>
          <p:cNvCxnSpPr>
            <a:stCxn id="12" idx="2"/>
            <a:endCxn id="11" idx="6"/>
          </p:cNvCxnSpPr>
          <p:nvPr/>
        </p:nvCxnSpPr>
        <p:spPr>
          <a:xfrm flipH="1">
            <a:off x="1907704" y="6360476"/>
            <a:ext cx="684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6F065904-7B0B-4C50-BCA4-6057004E4529}"/>
              </a:ext>
            </a:extLst>
          </p:cNvPr>
          <p:cNvCxnSpPr>
            <a:stCxn id="14" idx="6"/>
            <a:endCxn id="15" idx="2"/>
          </p:cNvCxnSpPr>
          <p:nvPr/>
        </p:nvCxnSpPr>
        <p:spPr>
          <a:xfrm>
            <a:off x="5544108" y="6360476"/>
            <a:ext cx="684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a:extLst>
              <a:ext uri="{FF2B5EF4-FFF2-40B4-BE49-F238E27FC236}">
                <a16:creationId xmlns:a16="http://schemas.microsoft.com/office/drawing/2014/main" id="{1C0E6CE5-B4BC-484A-BFE6-3DB816601E57}"/>
              </a:ext>
            </a:extLst>
          </p:cNvPr>
          <p:cNvCxnSpPr>
            <a:stCxn id="12" idx="5"/>
            <a:endCxn id="13" idx="3"/>
          </p:cNvCxnSpPr>
          <p:nvPr/>
        </p:nvCxnSpPr>
        <p:spPr>
          <a:xfrm>
            <a:off x="3022019" y="6523482"/>
            <a:ext cx="8317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76484E19-BC83-4FC9-A8B7-290838BD645B}"/>
              </a:ext>
            </a:extLst>
          </p:cNvPr>
          <p:cNvCxnSpPr>
            <a:stCxn id="13" idx="5"/>
            <a:endCxn id="14" idx="3"/>
          </p:cNvCxnSpPr>
          <p:nvPr/>
        </p:nvCxnSpPr>
        <p:spPr>
          <a:xfrm>
            <a:off x="4210151" y="6523482"/>
            <a:ext cx="9037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字方塊 21">
            <a:extLst>
              <a:ext uri="{FF2B5EF4-FFF2-40B4-BE49-F238E27FC236}">
                <a16:creationId xmlns:a16="http://schemas.microsoft.com/office/drawing/2014/main" id="{29E95135-EDB3-41C5-B0B8-33D95D21B2D3}"/>
              </a:ext>
            </a:extLst>
          </p:cNvPr>
          <p:cNvSpPr txBox="1"/>
          <p:nvPr/>
        </p:nvSpPr>
        <p:spPr>
          <a:xfrm>
            <a:off x="1576815" y="6197470"/>
            <a:ext cx="45719" cy="369332"/>
          </a:xfrm>
          <a:prstGeom prst="rect">
            <a:avLst/>
          </a:prstGeom>
          <a:noFill/>
        </p:spPr>
        <p:txBody>
          <a:bodyPr wrap="square" rtlCol="0">
            <a:spAutoFit/>
          </a:bodyPr>
          <a:lstStyle/>
          <a:p>
            <a:r>
              <a:rPr lang="en-US" altLang="zh-TW" dirty="0"/>
              <a:t>1</a:t>
            </a:r>
            <a:endParaRPr lang="zh-TW" altLang="en-US" dirty="0"/>
          </a:p>
        </p:txBody>
      </p:sp>
      <p:sp>
        <p:nvSpPr>
          <p:cNvPr id="23" name="文字方塊 22">
            <a:extLst>
              <a:ext uri="{FF2B5EF4-FFF2-40B4-BE49-F238E27FC236}">
                <a16:creationId xmlns:a16="http://schemas.microsoft.com/office/drawing/2014/main" id="{A8EAF744-C3D4-4651-87A1-4F238EF5838D}"/>
              </a:ext>
            </a:extLst>
          </p:cNvPr>
          <p:cNvSpPr txBox="1"/>
          <p:nvPr/>
        </p:nvSpPr>
        <p:spPr>
          <a:xfrm>
            <a:off x="2676192" y="6175810"/>
            <a:ext cx="1473936" cy="369332"/>
          </a:xfrm>
          <a:prstGeom prst="rect">
            <a:avLst/>
          </a:prstGeom>
          <a:noFill/>
        </p:spPr>
        <p:txBody>
          <a:bodyPr wrap="square" rtlCol="0">
            <a:spAutoFit/>
          </a:bodyPr>
          <a:lstStyle/>
          <a:p>
            <a:r>
              <a:rPr lang="en-US" altLang="zh-TW" dirty="0"/>
              <a:t>2</a:t>
            </a:r>
            <a:endParaRPr lang="zh-TW" altLang="en-US" dirty="0"/>
          </a:p>
        </p:txBody>
      </p:sp>
      <p:sp>
        <p:nvSpPr>
          <p:cNvPr id="24" name="文字方塊 23">
            <a:extLst>
              <a:ext uri="{FF2B5EF4-FFF2-40B4-BE49-F238E27FC236}">
                <a16:creationId xmlns:a16="http://schemas.microsoft.com/office/drawing/2014/main" id="{FE12EFB4-07AB-4DF4-86D6-E1C96C962DC1}"/>
              </a:ext>
            </a:extLst>
          </p:cNvPr>
          <p:cNvSpPr txBox="1"/>
          <p:nvPr/>
        </p:nvSpPr>
        <p:spPr>
          <a:xfrm>
            <a:off x="3889357" y="6168490"/>
            <a:ext cx="301686" cy="369332"/>
          </a:xfrm>
          <a:prstGeom prst="rect">
            <a:avLst/>
          </a:prstGeom>
          <a:noFill/>
        </p:spPr>
        <p:txBody>
          <a:bodyPr wrap="none" rtlCol="0">
            <a:spAutoFit/>
          </a:bodyPr>
          <a:lstStyle/>
          <a:p>
            <a:r>
              <a:rPr lang="en-US" altLang="zh-TW" dirty="0"/>
              <a:t>3</a:t>
            </a:r>
            <a:endParaRPr lang="zh-TW" altLang="en-US" dirty="0"/>
          </a:p>
        </p:txBody>
      </p:sp>
      <p:sp>
        <p:nvSpPr>
          <p:cNvPr id="25" name="文字方塊 24">
            <a:extLst>
              <a:ext uri="{FF2B5EF4-FFF2-40B4-BE49-F238E27FC236}">
                <a16:creationId xmlns:a16="http://schemas.microsoft.com/office/drawing/2014/main" id="{12F44414-1614-4BB1-A39A-BCC4D3787750}"/>
              </a:ext>
            </a:extLst>
          </p:cNvPr>
          <p:cNvSpPr txBox="1"/>
          <p:nvPr/>
        </p:nvSpPr>
        <p:spPr>
          <a:xfrm>
            <a:off x="5154221" y="6201958"/>
            <a:ext cx="301686" cy="369332"/>
          </a:xfrm>
          <a:prstGeom prst="rect">
            <a:avLst/>
          </a:prstGeom>
          <a:noFill/>
        </p:spPr>
        <p:txBody>
          <a:bodyPr wrap="none" rtlCol="0">
            <a:spAutoFit/>
          </a:bodyPr>
          <a:lstStyle/>
          <a:p>
            <a:r>
              <a:rPr lang="en-US" altLang="zh-TW" dirty="0"/>
              <a:t>4</a:t>
            </a:r>
            <a:endParaRPr lang="zh-TW" altLang="en-US" dirty="0"/>
          </a:p>
        </p:txBody>
      </p:sp>
      <p:sp>
        <p:nvSpPr>
          <p:cNvPr id="26" name="文字方塊 25">
            <a:extLst>
              <a:ext uri="{FF2B5EF4-FFF2-40B4-BE49-F238E27FC236}">
                <a16:creationId xmlns:a16="http://schemas.microsoft.com/office/drawing/2014/main" id="{FB057C1B-D9F4-4238-9173-D6F1A7DD7902}"/>
              </a:ext>
            </a:extLst>
          </p:cNvPr>
          <p:cNvSpPr txBox="1"/>
          <p:nvPr/>
        </p:nvSpPr>
        <p:spPr>
          <a:xfrm>
            <a:off x="2100073" y="6017292"/>
            <a:ext cx="396044" cy="369332"/>
          </a:xfrm>
          <a:prstGeom prst="rect">
            <a:avLst/>
          </a:prstGeom>
          <a:noFill/>
        </p:spPr>
        <p:txBody>
          <a:bodyPr wrap="square" rtlCol="0">
            <a:spAutoFit/>
          </a:bodyPr>
          <a:lstStyle/>
          <a:p>
            <a:r>
              <a:rPr lang="en-US" altLang="zh-TW" dirty="0"/>
              <a:t>-1</a:t>
            </a:r>
            <a:endParaRPr lang="zh-TW" altLang="en-US" dirty="0"/>
          </a:p>
        </p:txBody>
      </p:sp>
      <p:sp>
        <p:nvSpPr>
          <p:cNvPr id="27" name="文字方塊 26">
            <a:extLst>
              <a:ext uri="{FF2B5EF4-FFF2-40B4-BE49-F238E27FC236}">
                <a16:creationId xmlns:a16="http://schemas.microsoft.com/office/drawing/2014/main" id="{E32A1465-49C7-4C30-9653-F7D1FB3524F9}"/>
              </a:ext>
            </a:extLst>
          </p:cNvPr>
          <p:cNvSpPr txBox="1"/>
          <p:nvPr/>
        </p:nvSpPr>
        <p:spPr>
          <a:xfrm>
            <a:off x="5760132" y="6048650"/>
            <a:ext cx="396044" cy="369332"/>
          </a:xfrm>
          <a:prstGeom prst="rect">
            <a:avLst/>
          </a:prstGeom>
          <a:noFill/>
        </p:spPr>
        <p:txBody>
          <a:bodyPr wrap="square" rtlCol="0">
            <a:spAutoFit/>
          </a:bodyPr>
          <a:lstStyle/>
          <a:p>
            <a:r>
              <a:rPr lang="en-US" altLang="zh-TW" dirty="0"/>
              <a:t>1</a:t>
            </a:r>
            <a:endParaRPr lang="zh-TW" altLang="en-US" dirty="0"/>
          </a:p>
        </p:txBody>
      </p:sp>
      <p:sp>
        <p:nvSpPr>
          <p:cNvPr id="28" name="橢圓 27">
            <a:extLst>
              <a:ext uri="{FF2B5EF4-FFF2-40B4-BE49-F238E27FC236}">
                <a16:creationId xmlns:a16="http://schemas.microsoft.com/office/drawing/2014/main" id="{3ADCDA5A-9508-491C-B15A-D0D2C7AC6A81}"/>
              </a:ext>
            </a:extLst>
          </p:cNvPr>
          <p:cNvSpPr/>
          <p:nvPr/>
        </p:nvSpPr>
        <p:spPr>
          <a:xfrm>
            <a:off x="7562505" y="6129950"/>
            <a:ext cx="465879"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9" name="直線單箭頭接點 28">
            <a:extLst>
              <a:ext uri="{FF2B5EF4-FFF2-40B4-BE49-F238E27FC236}">
                <a16:creationId xmlns:a16="http://schemas.microsoft.com/office/drawing/2014/main" id="{DF3BA516-3A80-4BA5-AE75-C3952F692D85}"/>
              </a:ext>
            </a:extLst>
          </p:cNvPr>
          <p:cNvCxnSpPr>
            <a:stCxn id="15" idx="6"/>
            <a:endCxn id="28" idx="2"/>
          </p:cNvCxnSpPr>
          <p:nvPr/>
        </p:nvCxnSpPr>
        <p:spPr>
          <a:xfrm>
            <a:off x="6732240" y="6360476"/>
            <a:ext cx="8302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接點: 肘形 29">
            <a:extLst>
              <a:ext uri="{FF2B5EF4-FFF2-40B4-BE49-F238E27FC236}">
                <a16:creationId xmlns:a16="http://schemas.microsoft.com/office/drawing/2014/main" id="{F5F8242F-7359-4CE1-9D84-B6D5147BA0D3}"/>
              </a:ext>
            </a:extLst>
          </p:cNvPr>
          <p:cNvCxnSpPr>
            <a:stCxn id="11" idx="4"/>
            <a:endCxn id="28" idx="4"/>
          </p:cNvCxnSpPr>
          <p:nvPr/>
        </p:nvCxnSpPr>
        <p:spPr>
          <a:xfrm rot="16200000" flipH="1">
            <a:off x="4725560" y="3521117"/>
            <a:ext cx="12700" cy="6139769"/>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橢圓 30">
            <a:extLst>
              <a:ext uri="{FF2B5EF4-FFF2-40B4-BE49-F238E27FC236}">
                <a16:creationId xmlns:a16="http://schemas.microsoft.com/office/drawing/2014/main" id="{7EAB2AB9-B40F-423E-8C23-A09A4605C665}"/>
              </a:ext>
            </a:extLst>
          </p:cNvPr>
          <p:cNvSpPr/>
          <p:nvPr/>
        </p:nvSpPr>
        <p:spPr>
          <a:xfrm>
            <a:off x="7596336" y="6201958"/>
            <a:ext cx="396497" cy="34318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文字方塊 2">
            <a:extLst>
              <a:ext uri="{FF2B5EF4-FFF2-40B4-BE49-F238E27FC236}">
                <a16:creationId xmlns:a16="http://schemas.microsoft.com/office/drawing/2014/main" id="{767D7C1B-B611-4D60-BBB5-62E94CC91E1B}"/>
              </a:ext>
            </a:extLst>
          </p:cNvPr>
          <p:cNvSpPr txBox="1"/>
          <p:nvPr/>
        </p:nvSpPr>
        <p:spPr>
          <a:xfrm>
            <a:off x="3291719" y="6195565"/>
            <a:ext cx="914400" cy="369332"/>
          </a:xfrm>
          <a:prstGeom prst="rect">
            <a:avLst/>
          </a:prstGeom>
          <a:noFill/>
        </p:spPr>
        <p:txBody>
          <a:bodyPr wrap="square" rtlCol="0">
            <a:spAutoFit/>
          </a:bodyPr>
          <a:lstStyle/>
          <a:p>
            <a:r>
              <a:rPr lang="en-US" altLang="zh-TW" dirty="0"/>
              <a:t>1</a:t>
            </a:r>
            <a:endParaRPr lang="zh-TW" altLang="en-US" dirty="0"/>
          </a:p>
        </p:txBody>
      </p:sp>
    </p:spTree>
    <p:extLst>
      <p:ext uri="{BB962C8B-B14F-4D97-AF65-F5344CB8AC3E}">
        <p14:creationId xmlns:p14="http://schemas.microsoft.com/office/powerpoint/2010/main" val="30488667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anose="02020603050405020304" pitchFamily="18" charset="0"/>
                <a:cs typeface="Times New Roman" panose="02020603050405020304" pitchFamily="18" charset="0"/>
              </a:rPr>
              <a:t>Penetrative Bellman equation</a:t>
            </a:r>
            <a:endParaRPr lang="zh-TW" alt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BDB5D7A0-C88B-4137-841B-209F7B23DBB6}"/>
                  </a:ext>
                </a:extLst>
              </p:cNvPr>
              <p:cNvGraphicFramePr>
                <a:graphicFrameLocks noGrp="1"/>
              </p:cNvGraphicFramePr>
              <p:nvPr>
                <p:ph idx="1"/>
                <p:extLst>
                  <p:ext uri="{D42A27DB-BD31-4B8C-83A1-F6EECF244321}">
                    <p14:modId xmlns:p14="http://schemas.microsoft.com/office/powerpoint/2010/main" val="3856859545"/>
                  </p:ext>
                </p:extLst>
              </p:nvPr>
            </p:nvGraphicFramePr>
            <p:xfrm>
              <a:off x="457200" y="1604084"/>
              <a:ext cx="8229600" cy="2219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42729537"/>
                        </a:ext>
                      </a:extLst>
                    </a:gridCol>
                    <a:gridCol w="2743200">
                      <a:extLst>
                        <a:ext uri="{9D8B030D-6E8A-4147-A177-3AD203B41FA5}">
                          <a16:colId xmlns:a16="http://schemas.microsoft.com/office/drawing/2014/main" val="1328543671"/>
                        </a:ext>
                      </a:extLst>
                    </a:gridCol>
                    <a:gridCol w="2743200">
                      <a:extLst>
                        <a:ext uri="{9D8B030D-6E8A-4147-A177-3AD203B41FA5}">
                          <a16:colId xmlns:a16="http://schemas.microsoft.com/office/drawing/2014/main" val="401029752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𝜶</m:t>
                                </m:r>
                                <m:r>
                                  <a:rPr lang="en-US" altLang="zh-TW" b="1" i="1" smtClean="0">
                                    <a:latin typeface="Cambria Math" panose="02040503050406030204" pitchFamily="18" charset="0"/>
                                  </a:rPr>
                                  <m:t>=</m:t>
                                </m:r>
                                <m:r>
                                  <a:rPr lang="en-US" altLang="zh-TW" b="1" i="1" smtClean="0">
                                    <a:latin typeface="Cambria Math" panose="02040503050406030204" pitchFamily="18" charset="0"/>
                                  </a:rPr>
                                  <m:t>𝟎</m:t>
                                </m:r>
                                <m:r>
                                  <a:rPr lang="en-US" altLang="zh-TW" b="1" i="1" smtClean="0">
                                    <a:latin typeface="Cambria Math" panose="02040503050406030204" pitchFamily="18" charset="0"/>
                                  </a:rPr>
                                  <m:t>.</m:t>
                                </m:r>
                                <m:r>
                                  <a:rPr lang="en-US" altLang="zh-TW" b="1" i="1" smtClean="0">
                                    <a:latin typeface="Cambria Math" panose="02040503050406030204" pitchFamily="18" charset="0"/>
                                  </a:rPr>
                                  <m:t>𝟓</m:t>
                                </m:r>
                                <m:r>
                                  <a:rPr lang="en-US" altLang="zh-TW" b="1" i="1" smtClean="0">
                                    <a:latin typeface="Cambria Math" panose="02040503050406030204" pitchFamily="18" charset="0"/>
                                  </a:rPr>
                                  <m:t>, </m:t>
                                </m:r>
                                <m:r>
                                  <a:rPr lang="en-US" altLang="zh-TW" b="1" i="1" smtClean="0">
                                    <a:latin typeface="Cambria Math" panose="02040503050406030204" pitchFamily="18" charset="0"/>
                                  </a:rPr>
                                  <m:t>𝜸</m:t>
                                </m:r>
                                <m:r>
                                  <a:rPr lang="en-US" altLang="zh-TW" b="1" i="1" smtClean="0">
                                    <a:latin typeface="Cambria Math" panose="02040503050406030204" pitchFamily="18" charset="0"/>
                                  </a:rPr>
                                  <m:t>=</m:t>
                                </m:r>
                                <m:r>
                                  <a:rPr lang="en-US" altLang="zh-TW" b="1" i="1" smtClean="0">
                                    <a:latin typeface="Cambria Math" panose="02040503050406030204" pitchFamily="18" charset="0"/>
                                  </a:rPr>
                                  <m:t>𝟎</m:t>
                                </m:r>
                                <m:r>
                                  <a:rPr lang="en-US" altLang="zh-TW" b="1" i="1" smtClean="0">
                                    <a:latin typeface="Cambria Math" panose="02040503050406030204" pitchFamily="18" charset="0"/>
                                  </a:rPr>
                                  <m:t>.</m:t>
                                </m:r>
                                <m:r>
                                  <a:rPr lang="en-US" altLang="zh-TW" b="1" i="1" smtClean="0">
                                    <a:latin typeface="Cambria Math" panose="02040503050406030204" pitchFamily="18" charset="0"/>
                                  </a:rPr>
                                  <m:t>𝟗</m:t>
                                </m:r>
                              </m:oMath>
                            </m:oMathPara>
                          </a14:m>
                          <a:endParaRPr lang="zh-TW" altLang="en-US" dirty="0"/>
                        </a:p>
                      </a:txBody>
                      <a:tcPr/>
                    </a:tc>
                    <a:tc>
                      <a:txBody>
                        <a:bodyPr/>
                        <a:lstStyle/>
                        <a:p>
                          <a:pPr algn="ctr"/>
                          <a14:m>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𝒔</m:t>
                                  </m:r>
                                </m:e>
                                <m:sub>
                                  <m:r>
                                    <a:rPr lang="en-US" altLang="zh-TW" b="1" i="1" smtClean="0">
                                      <a:latin typeface="Cambria Math" panose="02040503050406030204" pitchFamily="18" charset="0"/>
                                    </a:rPr>
                                    <m:t>𝟏</m:t>
                                  </m:r>
                                </m:sub>
                              </m:sSub>
                              <m:r>
                                <a:rPr lang="en-US" altLang="zh-TW" b="1" i="1" smtClean="0">
                                  <a:latin typeface="Cambria Math" panose="02040503050406030204" pitchFamily="18" charset="0"/>
                                </a:rPr>
                                <m:t>:</m:t>
                              </m:r>
                            </m:oMath>
                          </a14:m>
                          <a:r>
                            <a:rPr lang="en-US" altLang="zh-TW" dirty="0"/>
                            <a:t>Left</a:t>
                          </a:r>
                          <a:endParaRPr lang="zh-TW" altLang="en-US" dirty="0"/>
                        </a:p>
                      </a:txBody>
                      <a:tcPr/>
                    </a:tc>
                    <a:tc>
                      <a:txBody>
                        <a:bodyPr/>
                        <a:lstStyle/>
                        <a:p>
                          <a:pPr algn="ctr"/>
                          <a14:m>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𝒔</m:t>
                                  </m:r>
                                </m:e>
                                <m:sub>
                                  <m:r>
                                    <a:rPr lang="en-US" altLang="zh-TW" b="1" i="1" smtClean="0">
                                      <a:latin typeface="Cambria Math" panose="02040503050406030204" pitchFamily="18" charset="0"/>
                                    </a:rPr>
                                    <m:t>𝟐</m:t>
                                  </m:r>
                                </m:sub>
                              </m:sSub>
                              <m:r>
                                <a:rPr lang="en-US" altLang="zh-TW" b="1" i="1" smtClean="0">
                                  <a:latin typeface="Cambria Math" panose="02040503050406030204" pitchFamily="18" charset="0"/>
                                </a:rPr>
                                <m:t>:</m:t>
                              </m:r>
                            </m:oMath>
                          </a14:m>
                          <a:r>
                            <a:rPr lang="en-US" altLang="zh-TW" dirty="0"/>
                            <a:t>Right</a:t>
                          </a:r>
                          <a:endParaRPr lang="zh-TW" altLang="en-US" dirty="0"/>
                        </a:p>
                      </a:txBody>
                      <a:tcPr/>
                    </a:tc>
                    <a:extLst>
                      <a:ext uri="{0D108BD9-81ED-4DB2-BD59-A6C34878D82A}">
                        <a16:rowId xmlns:a16="http://schemas.microsoft.com/office/drawing/2014/main" val="4249723552"/>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1</a:t>
                          </a:r>
                          <a:endParaRPr lang="zh-TW" altLang="en-US" sz="1800" kern="1200" dirty="0">
                            <a:solidFill>
                              <a:schemeClr val="dk1"/>
                            </a:solidFill>
                            <a:latin typeface="+mn-lt"/>
                            <a:ea typeface="+mn-ea"/>
                            <a:cs typeface="+mn-cs"/>
                          </a:endParaRPr>
                        </a:p>
                      </a:txBody>
                      <a:tcPr/>
                    </a:tc>
                    <a:tc gridSpan="2">
                      <a:txBody>
                        <a:bodyPr/>
                        <a:lstStyle/>
                        <a:p>
                          <a:pPr algn="ctr"/>
                          <a:r>
                            <a:rPr lang="en-US" altLang="zh-TW" dirty="0"/>
                            <a:t>0, Game over</a:t>
                          </a:r>
                          <a:endParaRPr lang="zh-TW" altLang="en-US" dirty="0"/>
                        </a:p>
                      </a:txBody>
                      <a:tcPr/>
                    </a:tc>
                    <a:tc hMerge="1">
                      <a:txBody>
                        <a:bodyPr/>
                        <a:lstStyle/>
                        <a:p>
                          <a:pPr algn="ctr"/>
                          <a:r>
                            <a:rPr lang="en-US" altLang="zh-TW" dirty="0"/>
                            <a:t>0</a:t>
                          </a:r>
                          <a:endParaRPr lang="zh-TW" altLang="en-US" dirty="0"/>
                        </a:p>
                      </a:txBody>
                      <a:tcPr/>
                    </a:tc>
                    <a:extLst>
                      <a:ext uri="{0D108BD9-81ED-4DB2-BD59-A6C34878D82A}">
                        <a16:rowId xmlns:a16="http://schemas.microsoft.com/office/drawing/2014/main" val="2334998379"/>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2</a:t>
                          </a:r>
                          <a:endParaRPr lang="zh-TW" altLang="en-US" sz="1800" kern="1200" dirty="0">
                            <a:solidFill>
                              <a:schemeClr val="dk1"/>
                            </a:solidFill>
                            <a:latin typeface="+mn-lt"/>
                            <a:ea typeface="+mn-ea"/>
                            <a:cs typeface="+mn-cs"/>
                          </a:endParaRPr>
                        </a:p>
                      </a:txBody>
                      <a:tcPr/>
                    </a:tc>
                    <a:tc>
                      <a:txBody>
                        <a:bodyPr/>
                        <a:lstStyle/>
                        <a:p>
                          <a:pPr algn="ctr"/>
                          <a:r>
                            <a:rPr lang="en-US" altLang="zh-TW" dirty="0"/>
                            <a:t>-1, State 1</a:t>
                          </a:r>
                          <a:endParaRPr lang="zh-TW" altLang="en-US" dirty="0"/>
                        </a:p>
                      </a:txBody>
                      <a:tcPr/>
                    </a:tc>
                    <a:tc>
                      <a:txBody>
                        <a:bodyPr/>
                        <a:lstStyle/>
                        <a:p>
                          <a:pPr algn="ctr"/>
                          <a:r>
                            <a:rPr lang="en-US" altLang="zh-TW" dirty="0">
                              <a:solidFill>
                                <a:schemeClr val="tx1"/>
                              </a:solidFill>
                            </a:rPr>
                            <a:t>1</a:t>
                          </a:r>
                          <a:r>
                            <a:rPr lang="en-US" altLang="zh-TW" dirty="0"/>
                            <a:t>, State 3</a:t>
                          </a:r>
                          <a:endParaRPr lang="zh-TW" altLang="en-US" dirty="0">
                            <a:solidFill>
                              <a:schemeClr val="tx1"/>
                            </a:solidFill>
                          </a:endParaRPr>
                        </a:p>
                      </a:txBody>
                      <a:tcPr/>
                    </a:tc>
                    <a:extLst>
                      <a:ext uri="{0D108BD9-81ED-4DB2-BD59-A6C34878D82A}">
                        <a16:rowId xmlns:a16="http://schemas.microsoft.com/office/drawing/2014/main" val="2806613416"/>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3</a:t>
                          </a:r>
                        </a:p>
                      </a:txBody>
                      <a:tcPr marL="7620" marR="7620" marT="7620" marB="0" anchor="ctr"/>
                    </a:tc>
                    <a:tc>
                      <a:txBody>
                        <a:bodyPr/>
                        <a:lstStyle/>
                        <a:p>
                          <a:pPr algn="ctr"/>
                          <a:r>
                            <a:rPr lang="en-US" altLang="zh-TW" dirty="0"/>
                            <a:t>0, State 2</a:t>
                          </a:r>
                          <a:endParaRPr lang="zh-TW" altLang="en-US" dirty="0"/>
                        </a:p>
                      </a:txBody>
                      <a:tcPr/>
                    </a:tc>
                    <a:tc>
                      <a:txBody>
                        <a:bodyPr/>
                        <a:lstStyle/>
                        <a:p>
                          <a:pPr algn="ctr"/>
                          <a:r>
                            <a:rPr lang="en-US" altLang="zh-TW" dirty="0">
                              <a:solidFill>
                                <a:srgbClr val="FF0000"/>
                              </a:solidFill>
                            </a:rPr>
                            <a:t>1</a:t>
                          </a:r>
                          <a:r>
                            <a:rPr lang="en-US" altLang="zh-TW" dirty="0"/>
                            <a:t>, State 4</a:t>
                          </a:r>
                          <a:endParaRPr lang="zh-TW" altLang="en-US" dirty="0">
                            <a:solidFill>
                              <a:srgbClr val="FF0000"/>
                            </a:solidFill>
                          </a:endParaRPr>
                        </a:p>
                      </a:txBody>
                      <a:tcPr/>
                    </a:tc>
                    <a:extLst>
                      <a:ext uri="{0D108BD9-81ED-4DB2-BD59-A6C34878D82A}">
                        <a16:rowId xmlns:a16="http://schemas.microsoft.com/office/drawing/2014/main" val="2756867369"/>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4</a:t>
                          </a:r>
                        </a:p>
                      </a:txBody>
                      <a:tcPr marL="7620" marR="7620" marT="7620" marB="0" anchor="ctr"/>
                    </a:tc>
                    <a:tc>
                      <a:txBody>
                        <a:bodyPr/>
                        <a:lstStyle/>
                        <a:p>
                          <a:pPr algn="ctr"/>
                          <a:r>
                            <a:rPr lang="en-US" altLang="zh-TW" dirty="0"/>
                            <a:t>0, State 3</a:t>
                          </a:r>
                          <a:endParaRPr lang="zh-TW" altLang="en-US" dirty="0"/>
                        </a:p>
                      </a:txBody>
                      <a:tcPr/>
                    </a:tc>
                    <a:tc>
                      <a:txBody>
                        <a:bodyPr/>
                        <a:lstStyle/>
                        <a:p>
                          <a:pPr algn="ctr"/>
                          <a:r>
                            <a:rPr lang="en-US" altLang="zh-TW" dirty="0"/>
                            <a:t>1, State 5</a:t>
                          </a:r>
                          <a:endParaRPr lang="zh-TW" altLang="en-US" dirty="0"/>
                        </a:p>
                      </a:txBody>
                      <a:tcPr/>
                    </a:tc>
                    <a:extLst>
                      <a:ext uri="{0D108BD9-81ED-4DB2-BD59-A6C34878D82A}">
                        <a16:rowId xmlns:a16="http://schemas.microsoft.com/office/drawing/2014/main" val="2076074664"/>
                      </a:ext>
                    </a:extLst>
                  </a:tr>
                  <a:tr h="190624">
                    <a:tc>
                      <a:txBody>
                        <a:bodyPr/>
                        <a:lstStyle/>
                        <a:p>
                          <a:pPr marL="0" algn="ctr" defTabSz="914400" rtl="0" eaLnBrk="1" fontAlgn="ctr" latinLnBrk="0" hangingPunct="1"/>
                          <a:r>
                            <a:rPr lang="en-US" sz="1800" kern="1200" dirty="0">
                              <a:solidFill>
                                <a:schemeClr val="dk1"/>
                              </a:solidFill>
                              <a:latin typeface="+mn-lt"/>
                              <a:ea typeface="+mn-ea"/>
                              <a:cs typeface="+mn-cs"/>
                            </a:rPr>
                            <a:t>State 5</a:t>
                          </a:r>
                        </a:p>
                      </a:txBody>
                      <a:tcPr marL="7620" marR="7620" marT="7620" marB="0"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Game over</a:t>
                          </a:r>
                          <a:endParaRPr lang="zh-TW" altLang="en-US" dirty="0"/>
                        </a:p>
                      </a:txBody>
                      <a:tcPr/>
                    </a:tc>
                    <a:extLst>
                      <a:ext uri="{0D108BD9-81ED-4DB2-BD59-A6C34878D82A}">
                        <a16:rowId xmlns:a16="http://schemas.microsoft.com/office/drawing/2014/main" val="2492673390"/>
                      </a:ext>
                    </a:extLst>
                  </a:tr>
                </a:tbl>
              </a:graphicData>
            </a:graphic>
          </p:graphicFrame>
        </mc:Choice>
        <mc:Fallback xmlns="">
          <p:graphicFrame>
            <p:nvGraphicFramePr>
              <p:cNvPr id="4" name="表格 4">
                <a:extLst>
                  <a:ext uri="{FF2B5EF4-FFF2-40B4-BE49-F238E27FC236}">
                    <a16:creationId xmlns:a16="http://schemas.microsoft.com/office/drawing/2014/main" id="{BDB5D7A0-C88B-4137-841B-209F7B23DBB6}"/>
                  </a:ext>
                </a:extLst>
              </p:cNvPr>
              <p:cNvGraphicFramePr>
                <a:graphicFrameLocks noGrp="1"/>
              </p:cNvGraphicFramePr>
              <p:nvPr>
                <p:ph idx="1"/>
                <p:extLst>
                  <p:ext uri="{D42A27DB-BD31-4B8C-83A1-F6EECF244321}">
                    <p14:modId xmlns:p14="http://schemas.microsoft.com/office/powerpoint/2010/main" val="3856859545"/>
                  </p:ext>
                </p:extLst>
              </p:nvPr>
            </p:nvGraphicFramePr>
            <p:xfrm>
              <a:off x="457200" y="1604084"/>
              <a:ext cx="8229600" cy="2219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42729537"/>
                        </a:ext>
                      </a:extLst>
                    </a:gridCol>
                    <a:gridCol w="2743200">
                      <a:extLst>
                        <a:ext uri="{9D8B030D-6E8A-4147-A177-3AD203B41FA5}">
                          <a16:colId xmlns:a16="http://schemas.microsoft.com/office/drawing/2014/main" val="1328543671"/>
                        </a:ext>
                      </a:extLst>
                    </a:gridCol>
                    <a:gridCol w="2743200">
                      <a:extLst>
                        <a:ext uri="{9D8B030D-6E8A-4147-A177-3AD203B41FA5}">
                          <a16:colId xmlns:a16="http://schemas.microsoft.com/office/drawing/2014/main" val="4010297521"/>
                        </a:ext>
                      </a:extLst>
                    </a:gridCol>
                  </a:tblGrid>
                  <a:tr h="370840">
                    <a:tc>
                      <a:txBody>
                        <a:bodyPr/>
                        <a:lstStyle/>
                        <a:p>
                          <a:endParaRPr lang="zh-TW"/>
                        </a:p>
                      </a:txBody>
                      <a:tcPr>
                        <a:blipFill>
                          <a:blip r:embed="rId3"/>
                          <a:stretch>
                            <a:fillRect l="-444" t="-8197" r="-201111" b="-526230"/>
                          </a:stretch>
                        </a:blipFill>
                      </a:tcPr>
                    </a:tc>
                    <a:tc>
                      <a:txBody>
                        <a:bodyPr/>
                        <a:lstStyle/>
                        <a:p>
                          <a:endParaRPr lang="zh-TW"/>
                        </a:p>
                      </a:txBody>
                      <a:tcPr>
                        <a:blipFill>
                          <a:blip r:embed="rId3"/>
                          <a:stretch>
                            <a:fillRect l="-100444" t="-8197" r="-101111" b="-526230"/>
                          </a:stretch>
                        </a:blipFill>
                      </a:tcPr>
                    </a:tc>
                    <a:tc>
                      <a:txBody>
                        <a:bodyPr/>
                        <a:lstStyle/>
                        <a:p>
                          <a:endParaRPr lang="zh-TW"/>
                        </a:p>
                      </a:txBody>
                      <a:tcPr>
                        <a:blipFill>
                          <a:blip r:embed="rId3"/>
                          <a:stretch>
                            <a:fillRect l="-200444" t="-8197" r="-1111" b="-526230"/>
                          </a:stretch>
                        </a:blipFill>
                      </a:tcPr>
                    </a:tc>
                    <a:extLst>
                      <a:ext uri="{0D108BD9-81ED-4DB2-BD59-A6C34878D82A}">
                        <a16:rowId xmlns:a16="http://schemas.microsoft.com/office/drawing/2014/main" val="4249723552"/>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1</a:t>
                          </a:r>
                          <a:endParaRPr lang="zh-TW" altLang="en-US" sz="1800" kern="1200" dirty="0">
                            <a:solidFill>
                              <a:schemeClr val="dk1"/>
                            </a:solidFill>
                            <a:latin typeface="+mn-lt"/>
                            <a:ea typeface="+mn-ea"/>
                            <a:cs typeface="+mn-cs"/>
                          </a:endParaRPr>
                        </a:p>
                      </a:txBody>
                      <a:tcPr/>
                    </a:tc>
                    <a:tc gridSpan="2">
                      <a:txBody>
                        <a:bodyPr/>
                        <a:lstStyle/>
                        <a:p>
                          <a:pPr algn="ctr"/>
                          <a:r>
                            <a:rPr lang="en-US" altLang="zh-TW" dirty="0"/>
                            <a:t>0, Game over</a:t>
                          </a:r>
                          <a:endParaRPr lang="zh-TW" altLang="en-US" dirty="0"/>
                        </a:p>
                      </a:txBody>
                      <a:tcPr/>
                    </a:tc>
                    <a:tc hMerge="1">
                      <a:txBody>
                        <a:bodyPr/>
                        <a:lstStyle/>
                        <a:p>
                          <a:pPr algn="ctr"/>
                          <a:r>
                            <a:rPr lang="en-US" altLang="zh-TW" dirty="0"/>
                            <a:t>0</a:t>
                          </a:r>
                          <a:endParaRPr lang="zh-TW" altLang="en-US" dirty="0"/>
                        </a:p>
                      </a:txBody>
                      <a:tcPr/>
                    </a:tc>
                    <a:extLst>
                      <a:ext uri="{0D108BD9-81ED-4DB2-BD59-A6C34878D82A}">
                        <a16:rowId xmlns:a16="http://schemas.microsoft.com/office/drawing/2014/main" val="2334998379"/>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2</a:t>
                          </a:r>
                          <a:endParaRPr lang="zh-TW" altLang="en-US" sz="1800" kern="1200" dirty="0">
                            <a:solidFill>
                              <a:schemeClr val="dk1"/>
                            </a:solidFill>
                            <a:latin typeface="+mn-lt"/>
                            <a:ea typeface="+mn-ea"/>
                            <a:cs typeface="+mn-cs"/>
                          </a:endParaRPr>
                        </a:p>
                      </a:txBody>
                      <a:tcPr/>
                    </a:tc>
                    <a:tc>
                      <a:txBody>
                        <a:bodyPr/>
                        <a:lstStyle/>
                        <a:p>
                          <a:pPr algn="ctr"/>
                          <a:r>
                            <a:rPr lang="en-US" altLang="zh-TW" dirty="0"/>
                            <a:t>-1, State 1</a:t>
                          </a:r>
                          <a:endParaRPr lang="zh-TW" altLang="en-US" dirty="0"/>
                        </a:p>
                      </a:txBody>
                      <a:tcPr/>
                    </a:tc>
                    <a:tc>
                      <a:txBody>
                        <a:bodyPr/>
                        <a:lstStyle/>
                        <a:p>
                          <a:pPr algn="ctr"/>
                          <a:r>
                            <a:rPr lang="en-US" altLang="zh-TW" dirty="0">
                              <a:solidFill>
                                <a:schemeClr val="tx1"/>
                              </a:solidFill>
                            </a:rPr>
                            <a:t>1</a:t>
                          </a:r>
                          <a:r>
                            <a:rPr lang="en-US" altLang="zh-TW" dirty="0"/>
                            <a:t>, State 3</a:t>
                          </a:r>
                          <a:endParaRPr lang="zh-TW" altLang="en-US" dirty="0">
                            <a:solidFill>
                              <a:schemeClr val="tx1"/>
                            </a:solidFill>
                          </a:endParaRPr>
                        </a:p>
                      </a:txBody>
                      <a:tcPr/>
                    </a:tc>
                    <a:extLst>
                      <a:ext uri="{0D108BD9-81ED-4DB2-BD59-A6C34878D82A}">
                        <a16:rowId xmlns:a16="http://schemas.microsoft.com/office/drawing/2014/main" val="2806613416"/>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3</a:t>
                          </a:r>
                        </a:p>
                      </a:txBody>
                      <a:tcPr marL="7620" marR="7620" marT="7620" marB="0" anchor="ctr"/>
                    </a:tc>
                    <a:tc>
                      <a:txBody>
                        <a:bodyPr/>
                        <a:lstStyle/>
                        <a:p>
                          <a:pPr algn="ctr"/>
                          <a:r>
                            <a:rPr lang="en-US" altLang="zh-TW" dirty="0"/>
                            <a:t>0, State 2</a:t>
                          </a:r>
                          <a:endParaRPr lang="zh-TW" altLang="en-US" dirty="0"/>
                        </a:p>
                      </a:txBody>
                      <a:tcPr/>
                    </a:tc>
                    <a:tc>
                      <a:txBody>
                        <a:bodyPr/>
                        <a:lstStyle/>
                        <a:p>
                          <a:pPr algn="ctr"/>
                          <a:r>
                            <a:rPr lang="en-US" altLang="zh-TW" dirty="0">
                              <a:solidFill>
                                <a:srgbClr val="FF0000"/>
                              </a:solidFill>
                            </a:rPr>
                            <a:t>1</a:t>
                          </a:r>
                          <a:r>
                            <a:rPr lang="en-US" altLang="zh-TW" dirty="0"/>
                            <a:t>, State 4</a:t>
                          </a:r>
                          <a:endParaRPr lang="zh-TW" altLang="en-US" dirty="0">
                            <a:solidFill>
                              <a:srgbClr val="FF0000"/>
                            </a:solidFill>
                          </a:endParaRPr>
                        </a:p>
                      </a:txBody>
                      <a:tcPr/>
                    </a:tc>
                    <a:extLst>
                      <a:ext uri="{0D108BD9-81ED-4DB2-BD59-A6C34878D82A}">
                        <a16:rowId xmlns:a16="http://schemas.microsoft.com/office/drawing/2014/main" val="2756867369"/>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4</a:t>
                          </a:r>
                        </a:p>
                      </a:txBody>
                      <a:tcPr marL="7620" marR="7620" marT="7620" marB="0" anchor="ctr"/>
                    </a:tc>
                    <a:tc>
                      <a:txBody>
                        <a:bodyPr/>
                        <a:lstStyle/>
                        <a:p>
                          <a:pPr algn="ctr"/>
                          <a:r>
                            <a:rPr lang="en-US" altLang="zh-TW" dirty="0"/>
                            <a:t>0, State 3</a:t>
                          </a:r>
                          <a:endParaRPr lang="zh-TW" altLang="en-US" dirty="0"/>
                        </a:p>
                      </a:txBody>
                      <a:tcPr/>
                    </a:tc>
                    <a:tc>
                      <a:txBody>
                        <a:bodyPr/>
                        <a:lstStyle/>
                        <a:p>
                          <a:pPr algn="ctr"/>
                          <a:r>
                            <a:rPr lang="en-US" altLang="zh-TW" dirty="0"/>
                            <a:t>1, State 5</a:t>
                          </a:r>
                          <a:endParaRPr lang="zh-TW" altLang="en-US" dirty="0"/>
                        </a:p>
                      </a:txBody>
                      <a:tcPr/>
                    </a:tc>
                    <a:extLst>
                      <a:ext uri="{0D108BD9-81ED-4DB2-BD59-A6C34878D82A}">
                        <a16:rowId xmlns:a16="http://schemas.microsoft.com/office/drawing/2014/main" val="2076074664"/>
                      </a:ext>
                    </a:extLst>
                  </a:tr>
                  <a:tr h="365760">
                    <a:tc>
                      <a:txBody>
                        <a:bodyPr/>
                        <a:lstStyle/>
                        <a:p>
                          <a:pPr marL="0" algn="ctr" defTabSz="914400" rtl="0" eaLnBrk="1" fontAlgn="ctr" latinLnBrk="0" hangingPunct="1"/>
                          <a:r>
                            <a:rPr lang="en-US" sz="1800" kern="1200" dirty="0">
                              <a:solidFill>
                                <a:schemeClr val="dk1"/>
                              </a:solidFill>
                              <a:latin typeface="+mn-lt"/>
                              <a:ea typeface="+mn-ea"/>
                              <a:cs typeface="+mn-cs"/>
                            </a:rPr>
                            <a:t>State 5</a:t>
                          </a:r>
                        </a:p>
                      </a:txBody>
                      <a:tcPr marL="7620" marR="7620" marT="7620" marB="0"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Game over</a:t>
                          </a:r>
                          <a:endParaRPr lang="zh-TW" altLang="en-US" dirty="0"/>
                        </a:p>
                      </a:txBody>
                      <a:tcPr/>
                    </a:tc>
                    <a:extLst>
                      <a:ext uri="{0D108BD9-81ED-4DB2-BD59-A6C34878D82A}">
                        <a16:rowId xmlns:a16="http://schemas.microsoft.com/office/drawing/2014/main" val="2492673390"/>
                      </a:ext>
                    </a:extLst>
                  </a:tr>
                </a:tbl>
              </a:graphicData>
            </a:graphic>
          </p:graphicFrame>
        </mc:Fallback>
      </mc:AlternateContent>
      <p:graphicFrame>
        <p:nvGraphicFramePr>
          <p:cNvPr id="5" name="表格 5">
            <a:extLst>
              <a:ext uri="{FF2B5EF4-FFF2-40B4-BE49-F238E27FC236}">
                <a16:creationId xmlns:a16="http://schemas.microsoft.com/office/drawing/2014/main" id="{17092CE7-BC66-445A-9190-93F4AD100136}"/>
              </a:ext>
            </a:extLst>
          </p:cNvPr>
          <p:cNvGraphicFramePr>
            <a:graphicFrameLocks noGrp="1"/>
          </p:cNvGraphicFramePr>
          <p:nvPr/>
        </p:nvGraphicFramePr>
        <p:xfrm>
          <a:off x="1524000" y="4886960"/>
          <a:ext cx="6096000" cy="74168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4168419058"/>
                    </a:ext>
                  </a:extLst>
                </a:gridCol>
                <a:gridCol w="1219200">
                  <a:extLst>
                    <a:ext uri="{9D8B030D-6E8A-4147-A177-3AD203B41FA5}">
                      <a16:colId xmlns:a16="http://schemas.microsoft.com/office/drawing/2014/main" val="3228948909"/>
                    </a:ext>
                  </a:extLst>
                </a:gridCol>
                <a:gridCol w="1219200">
                  <a:extLst>
                    <a:ext uri="{9D8B030D-6E8A-4147-A177-3AD203B41FA5}">
                      <a16:colId xmlns:a16="http://schemas.microsoft.com/office/drawing/2014/main" val="4163800176"/>
                    </a:ext>
                  </a:extLst>
                </a:gridCol>
                <a:gridCol w="1219200">
                  <a:extLst>
                    <a:ext uri="{9D8B030D-6E8A-4147-A177-3AD203B41FA5}">
                      <a16:colId xmlns:a16="http://schemas.microsoft.com/office/drawing/2014/main" val="2489362430"/>
                    </a:ext>
                  </a:extLst>
                </a:gridCol>
                <a:gridCol w="1219200">
                  <a:extLst>
                    <a:ext uri="{9D8B030D-6E8A-4147-A177-3AD203B41FA5}">
                      <a16:colId xmlns:a16="http://schemas.microsoft.com/office/drawing/2014/main" val="3033016758"/>
                    </a:ext>
                  </a:extLst>
                </a:gridCol>
              </a:tblGrid>
              <a:tr h="370840">
                <a:tc>
                  <a:txBody>
                    <a:bodyPr/>
                    <a:lstStyle/>
                    <a:p>
                      <a:endParaRPr lang="zh-TW" altLang="en-US" dirty="0"/>
                    </a:p>
                  </a:txBody>
                  <a:tcPr>
                    <a:solidFill>
                      <a:schemeClr val="tx1"/>
                    </a:solidFill>
                  </a:tcPr>
                </a:tc>
                <a:tc>
                  <a:txBody>
                    <a:bodyPr/>
                    <a:lstStyle/>
                    <a:p>
                      <a:endParaRPr lang="zh-TW" altLang="en-US" dirty="0"/>
                    </a:p>
                  </a:txBody>
                  <a:tcPr>
                    <a:solidFill>
                      <a:schemeClr val="accent1"/>
                    </a:solidFill>
                  </a:tcPr>
                </a:tc>
                <a:tc>
                  <a:txBody>
                    <a:bodyPr/>
                    <a:lstStyle/>
                    <a:p>
                      <a:endParaRPr lang="zh-TW" altLang="en-US" dirty="0"/>
                    </a:p>
                  </a:txBody>
                  <a:tcPr>
                    <a:solidFill>
                      <a:schemeClr val="accent1"/>
                    </a:solidFill>
                  </a:tcPr>
                </a:tc>
                <a:tc>
                  <a:txBody>
                    <a:bodyPr/>
                    <a:lstStyle/>
                    <a:p>
                      <a:endParaRPr lang="zh-TW" altLang="en-US" dirty="0"/>
                    </a:p>
                  </a:txBody>
                  <a:tcPr>
                    <a:solidFill>
                      <a:srgbClr val="FFFF00"/>
                    </a:solidFill>
                  </a:tcPr>
                </a:tc>
                <a:tc>
                  <a:txBody>
                    <a:bodyPr/>
                    <a:lstStyle/>
                    <a:p>
                      <a:endParaRPr lang="zh-TW" altLang="en-US" dirty="0"/>
                    </a:p>
                  </a:txBody>
                  <a:tcPr>
                    <a:solidFill>
                      <a:srgbClr val="FF0000"/>
                    </a:solidFill>
                  </a:tcPr>
                </a:tc>
                <a:extLst>
                  <a:ext uri="{0D108BD9-81ED-4DB2-BD59-A6C34878D82A}">
                    <a16:rowId xmlns:a16="http://schemas.microsoft.com/office/drawing/2014/main" val="3724245678"/>
                  </a:ext>
                </a:extLst>
              </a:tr>
              <a:tr h="370840">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solidFill>
                      <a:schemeClr val="tx2">
                        <a:lumMod val="20000"/>
                        <a:lumOff val="80000"/>
                      </a:schemeClr>
                    </a:solidFill>
                  </a:tcPr>
                </a:tc>
                <a:extLst>
                  <a:ext uri="{0D108BD9-81ED-4DB2-BD59-A6C34878D82A}">
                    <a16:rowId xmlns:a16="http://schemas.microsoft.com/office/drawing/2014/main" val="1322444737"/>
                  </a:ext>
                </a:extLst>
              </a:tr>
            </a:tbl>
          </a:graphicData>
        </a:graphic>
      </p:graphicFrame>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5EA2A2A1-AB28-4BA3-BDA7-2649D958D1DC}"/>
                  </a:ext>
                </a:extLst>
              </p:cNvPr>
              <p:cNvSpPr txBox="1"/>
              <p:nvPr/>
            </p:nvSpPr>
            <p:spPr>
              <a:xfrm>
                <a:off x="1127956" y="4143936"/>
                <a:ext cx="688808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𝑛𝑒𝑤</m:t>
                          </m:r>
                        </m:sup>
                      </m:sSup>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b="0" i="1" smtClean="0">
                                  <a:latin typeface="Cambria Math" panose="02040503050406030204" pitchFamily="18" charset="0"/>
                                  <a:cs typeface="Times New Roman" panose="02020603050405020304" pitchFamily="18" charset="0"/>
                                </a:rPr>
                                <m:t>3</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2</m:t>
                              </m:r>
                            </m:sub>
                          </m:sSub>
                        </m:e>
                      </m:d>
                      <m:r>
                        <a:rPr lang="en-US" altLang="zh-TW" b="0" i="1" smtClean="0">
                          <a:latin typeface="Cambria Math" panose="02040503050406030204" pitchFamily="18" charset="0"/>
                          <a:cs typeface="Times New Roman" panose="02020603050405020304" pitchFamily="18" charset="0"/>
                        </a:rPr>
                        <m:t>←0×0+1(0+1×1)</m:t>
                      </m:r>
                    </m:oMath>
                  </m:oMathPara>
                </a14:m>
                <a:endParaRPr lang="en-US" altLang="zh-TW" dirty="0">
                  <a:latin typeface="Times New Roman" panose="02020603050405020304" pitchFamily="18" charset="0"/>
                  <a:cs typeface="Times New Roman" panose="02020603050405020304" pitchFamily="18" charset="0"/>
                </a:endParaRPr>
              </a:p>
            </p:txBody>
          </p:sp>
        </mc:Choice>
        <mc:Fallback xmlns="">
          <p:sp>
            <p:nvSpPr>
              <p:cNvPr id="6" name="文字方塊 5">
                <a:extLst>
                  <a:ext uri="{FF2B5EF4-FFF2-40B4-BE49-F238E27FC236}">
                    <a16:creationId xmlns:a16="http://schemas.microsoft.com/office/drawing/2014/main" id="{5EA2A2A1-AB28-4BA3-BDA7-2649D958D1DC}"/>
                  </a:ext>
                </a:extLst>
              </p:cNvPr>
              <p:cNvSpPr txBox="1">
                <a:spLocks noRot="1" noChangeAspect="1" noMove="1" noResize="1" noEditPoints="1" noAdjustHandles="1" noChangeArrowheads="1" noChangeShapeType="1" noTextEdit="1"/>
              </p:cNvSpPr>
              <p:nvPr/>
            </p:nvSpPr>
            <p:spPr>
              <a:xfrm>
                <a:off x="1127956" y="4143936"/>
                <a:ext cx="6888088" cy="369332"/>
              </a:xfrm>
              <a:prstGeom prst="rect">
                <a:avLst/>
              </a:prstGeom>
              <a:blipFill>
                <a:blip r:embed="rId4"/>
                <a:stretch>
                  <a:fillRect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8EFCDC3C-BAE4-4490-A145-8E777B542CBE}"/>
                  </a:ext>
                </a:extLst>
              </p:cNvPr>
              <p:cNvSpPr txBox="1"/>
              <p:nvPr/>
            </p:nvSpPr>
            <p:spPr>
              <a:xfrm>
                <a:off x="1524000" y="5589240"/>
                <a:ext cx="6096000" cy="47968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r>
                            <a:rPr lang="en-US" altLang="zh-TW" i="1">
                              <a:latin typeface="Cambria Math" panose="02040503050406030204" pitchFamily="18" charset="0"/>
                              <a:cs typeface="Times New Roman" panose="02020603050405020304" pitchFamily="18" charset="0"/>
                            </a:rPr>
                            <m:t>𝑎</m:t>
                          </m:r>
                        </m:lim>
                      </m:limLow>
                      <m:r>
                        <a:rPr lang="en-US" altLang="zh-TW" i="1">
                          <a:latin typeface="Cambria Math" panose="02040503050406030204" pitchFamily="18" charset="0"/>
                          <a:cs typeface="Times New Roman" panose="02020603050405020304" pitchFamily="18" charset="0"/>
                        </a:rPr>
                        <m:t> </m:t>
                      </m:r>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𝑄</m:t>
                          </m:r>
                        </m:e>
                        <m:sup>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𝑖</m:t>
                              </m:r>
                            </m:e>
                          </m:d>
                        </m:sup>
                      </m:sSup>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𝑠</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𝑎</m:t>
                          </m:r>
                        </m:e>
                      </m:d>
                      <m:r>
                        <a:rPr lang="en-US" altLang="zh-TW" i="1">
                          <a:latin typeface="Cambria Math" panose="02040503050406030204" pitchFamily="18" charset="0"/>
                          <a:cs typeface="Times New Roman" panose="02020603050405020304" pitchFamily="18" charset="0"/>
                        </a:rPr>
                        <m:t>=</m:t>
                      </m:r>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r>
                            <a:rPr lang="en-US" altLang="zh-TW" i="1">
                              <a:latin typeface="Cambria Math" panose="02040503050406030204" pitchFamily="18" charset="0"/>
                              <a:cs typeface="Times New Roman" panose="02020603050405020304" pitchFamily="18" charset="0"/>
                            </a:rPr>
                            <m:t>𝑎</m:t>
                          </m:r>
                        </m:lim>
                      </m:limLow>
                      <m:r>
                        <a:rPr lang="en-US" altLang="zh-TW" i="1">
                          <a:latin typeface="Cambria Math" panose="02040503050406030204" pitchFamily="18" charset="0"/>
                          <a:cs typeface="Times New Roman" panose="02020603050405020304" pitchFamily="18" charset="0"/>
                        </a:rPr>
                        <m:t> </m:t>
                      </m:r>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𝑄</m:t>
                          </m:r>
                        </m:e>
                        <m:sup>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𝑖</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𝑡</m:t>
                              </m:r>
                            </m:e>
                          </m:d>
                        </m:sup>
                      </m:sSup>
                      <m:d>
                        <m:dPr>
                          <m:ctrlPr>
                            <a:rPr lang="en-US" altLang="zh-TW" i="1">
                              <a:latin typeface="Cambria Math" panose="02040503050406030204" pitchFamily="18" charset="0"/>
                              <a:cs typeface="Times New Roman" panose="02020603050405020304" pitchFamily="18" charset="0"/>
                            </a:rPr>
                          </m:ctrlPr>
                        </m:dPr>
                        <m:e>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𝑠</m:t>
                              </m:r>
                            </m:e>
                            <m:sup>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𝑡</m:t>
                              </m:r>
                              <m:r>
                                <a:rPr lang="en-US" altLang="zh-TW" i="1">
                                  <a:latin typeface="Cambria Math" panose="02040503050406030204" pitchFamily="18" charset="0"/>
                                  <a:cs typeface="Times New Roman" panose="02020603050405020304" pitchFamily="18" charset="0"/>
                                </a:rPr>
                                <m:t>)</m:t>
                              </m:r>
                            </m:sup>
                          </m:sSup>
                          <m:r>
                            <a:rPr lang="en-US" altLang="zh-TW" i="1">
                              <a:latin typeface="Cambria Math" panose="02040503050406030204" pitchFamily="18" charset="0"/>
                              <a:cs typeface="Times New Roman" panose="02020603050405020304" pitchFamily="18" charset="0"/>
                            </a:rPr>
                            <m:t>,</m:t>
                          </m:r>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𝑎</m:t>
                              </m:r>
                            </m:e>
                            <m:sup>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𝑡</m:t>
                              </m:r>
                              <m:r>
                                <a:rPr lang="en-US" altLang="zh-TW" i="1">
                                  <a:latin typeface="Cambria Math" panose="02040503050406030204" pitchFamily="18" charset="0"/>
                                  <a:cs typeface="Times New Roman" panose="02020603050405020304" pitchFamily="18" charset="0"/>
                                </a:rPr>
                                <m:t>)</m:t>
                              </m:r>
                            </m:sup>
                          </m:sSup>
                        </m:e>
                        <m:e>
                          <m:r>
                            <a:rPr lang="en-US" altLang="zh-TW" i="1">
                              <a:latin typeface="Cambria Math" panose="02040503050406030204" pitchFamily="18" charset="0"/>
                              <a:cs typeface="Times New Roman" panose="02020603050405020304" pitchFamily="18" charset="0"/>
                            </a:rPr>
                            <m:t>𝑠</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𝑎</m:t>
                          </m:r>
                        </m:e>
                      </m:d>
                    </m:oMath>
                  </m:oMathPara>
                </a14:m>
                <a:endParaRPr lang="zh-TW" altLang="en-US" dirty="0"/>
              </a:p>
            </p:txBody>
          </p:sp>
        </mc:Choice>
        <mc:Fallback xmlns="">
          <p:sp>
            <p:nvSpPr>
              <p:cNvPr id="7" name="文字方塊 6">
                <a:extLst>
                  <a:ext uri="{FF2B5EF4-FFF2-40B4-BE49-F238E27FC236}">
                    <a16:creationId xmlns:a16="http://schemas.microsoft.com/office/drawing/2014/main" id="{8EFCDC3C-BAE4-4490-A145-8E777B542CBE}"/>
                  </a:ext>
                </a:extLst>
              </p:cNvPr>
              <p:cNvSpPr txBox="1">
                <a:spLocks noRot="1" noChangeAspect="1" noMove="1" noResize="1" noEditPoints="1" noAdjustHandles="1" noChangeArrowheads="1" noChangeShapeType="1" noTextEdit="1"/>
              </p:cNvSpPr>
              <p:nvPr/>
            </p:nvSpPr>
            <p:spPr>
              <a:xfrm>
                <a:off x="1524000" y="5589240"/>
                <a:ext cx="6096000" cy="479683"/>
              </a:xfrm>
              <a:prstGeom prst="rect">
                <a:avLst/>
              </a:prstGeom>
              <a:blipFill>
                <a:blip r:embed="rId5"/>
                <a:stretch>
                  <a:fillRect/>
                </a:stretch>
              </a:blipFill>
            </p:spPr>
            <p:txBody>
              <a:bodyPr/>
              <a:lstStyle/>
              <a:p>
                <a:r>
                  <a:rPr lang="zh-TW" altLang="en-US">
                    <a:noFill/>
                  </a:rPr>
                  <a:t> </a:t>
                </a:r>
              </a:p>
            </p:txBody>
          </p:sp>
        </mc:Fallback>
      </mc:AlternateContent>
      <p:sp>
        <p:nvSpPr>
          <p:cNvPr id="8" name="文字方塊 7">
            <a:extLst>
              <a:ext uri="{FF2B5EF4-FFF2-40B4-BE49-F238E27FC236}">
                <a16:creationId xmlns:a16="http://schemas.microsoft.com/office/drawing/2014/main" id="{9487DFC0-0E2B-48EF-A1ED-F671721E5022}"/>
              </a:ext>
            </a:extLst>
          </p:cNvPr>
          <p:cNvSpPr txBox="1"/>
          <p:nvPr/>
        </p:nvSpPr>
        <p:spPr>
          <a:xfrm>
            <a:off x="6325576" y="6192666"/>
            <a:ext cx="840432" cy="369332"/>
          </a:xfrm>
          <a:prstGeom prst="rect">
            <a:avLst/>
          </a:prstGeom>
          <a:noFill/>
        </p:spPr>
        <p:txBody>
          <a:bodyPr wrap="square" rtlCol="0">
            <a:spAutoFit/>
          </a:bodyPr>
          <a:lstStyle/>
          <a:p>
            <a:r>
              <a:rPr lang="en-US" altLang="zh-TW" dirty="0"/>
              <a:t>5</a:t>
            </a:r>
            <a:endParaRPr lang="zh-TW" altLang="en-US" dirty="0"/>
          </a:p>
        </p:txBody>
      </p:sp>
      <p:sp>
        <p:nvSpPr>
          <p:cNvPr id="9" name="橢圓 8">
            <a:extLst>
              <a:ext uri="{FF2B5EF4-FFF2-40B4-BE49-F238E27FC236}">
                <a16:creationId xmlns:a16="http://schemas.microsoft.com/office/drawing/2014/main" id="{1E581747-9FD5-4FCC-BC01-1C5D894B709F}"/>
              </a:ext>
            </a:extLst>
          </p:cNvPr>
          <p:cNvSpPr/>
          <p:nvPr/>
        </p:nvSpPr>
        <p:spPr>
          <a:xfrm>
            <a:off x="1403648"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 name="橢圓 9">
            <a:extLst>
              <a:ext uri="{FF2B5EF4-FFF2-40B4-BE49-F238E27FC236}">
                <a16:creationId xmlns:a16="http://schemas.microsoft.com/office/drawing/2014/main" id="{D72E26DE-C682-4F19-8A7E-798966578025}"/>
              </a:ext>
            </a:extLst>
          </p:cNvPr>
          <p:cNvSpPr/>
          <p:nvPr/>
        </p:nvSpPr>
        <p:spPr>
          <a:xfrm>
            <a:off x="2591780"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 name="橢圓 10">
            <a:extLst>
              <a:ext uri="{FF2B5EF4-FFF2-40B4-BE49-F238E27FC236}">
                <a16:creationId xmlns:a16="http://schemas.microsoft.com/office/drawing/2014/main" id="{8DC6FE93-C9BF-4C87-89B1-993D1AF2CE91}"/>
              </a:ext>
            </a:extLst>
          </p:cNvPr>
          <p:cNvSpPr/>
          <p:nvPr/>
        </p:nvSpPr>
        <p:spPr>
          <a:xfrm>
            <a:off x="3779912"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 name="橢圓 11">
            <a:extLst>
              <a:ext uri="{FF2B5EF4-FFF2-40B4-BE49-F238E27FC236}">
                <a16:creationId xmlns:a16="http://schemas.microsoft.com/office/drawing/2014/main" id="{276ADCCE-91C0-444E-BD29-BFC656291F43}"/>
              </a:ext>
            </a:extLst>
          </p:cNvPr>
          <p:cNvSpPr/>
          <p:nvPr/>
        </p:nvSpPr>
        <p:spPr>
          <a:xfrm>
            <a:off x="5040052"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橢圓 12">
            <a:extLst>
              <a:ext uri="{FF2B5EF4-FFF2-40B4-BE49-F238E27FC236}">
                <a16:creationId xmlns:a16="http://schemas.microsoft.com/office/drawing/2014/main" id="{636CA94A-77B2-44DD-8F2F-53A09DB52202}"/>
              </a:ext>
            </a:extLst>
          </p:cNvPr>
          <p:cNvSpPr/>
          <p:nvPr/>
        </p:nvSpPr>
        <p:spPr>
          <a:xfrm>
            <a:off x="6228184"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4" name="直線單箭頭接點 13">
            <a:extLst>
              <a:ext uri="{FF2B5EF4-FFF2-40B4-BE49-F238E27FC236}">
                <a16:creationId xmlns:a16="http://schemas.microsoft.com/office/drawing/2014/main" id="{6A553CF3-9B08-462C-8F90-BA5929CFB405}"/>
              </a:ext>
            </a:extLst>
          </p:cNvPr>
          <p:cNvCxnSpPr>
            <a:stCxn id="11" idx="1"/>
            <a:endCxn id="10" idx="7"/>
          </p:cNvCxnSpPr>
          <p:nvPr/>
        </p:nvCxnSpPr>
        <p:spPr>
          <a:xfrm flipH="1">
            <a:off x="3022019" y="6197470"/>
            <a:ext cx="8317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a:extLst>
              <a:ext uri="{FF2B5EF4-FFF2-40B4-BE49-F238E27FC236}">
                <a16:creationId xmlns:a16="http://schemas.microsoft.com/office/drawing/2014/main" id="{F3972B0B-6AEA-4149-BA88-40F51A3A4DB1}"/>
              </a:ext>
            </a:extLst>
          </p:cNvPr>
          <p:cNvCxnSpPr>
            <a:stCxn id="12" idx="1"/>
            <a:endCxn id="11" idx="7"/>
          </p:cNvCxnSpPr>
          <p:nvPr/>
        </p:nvCxnSpPr>
        <p:spPr>
          <a:xfrm flipH="1">
            <a:off x="4210151" y="6197470"/>
            <a:ext cx="9037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a:extLst>
              <a:ext uri="{FF2B5EF4-FFF2-40B4-BE49-F238E27FC236}">
                <a16:creationId xmlns:a16="http://schemas.microsoft.com/office/drawing/2014/main" id="{E8105357-A58E-4A9A-9576-F6B94E6E2AC8}"/>
              </a:ext>
            </a:extLst>
          </p:cNvPr>
          <p:cNvCxnSpPr>
            <a:stCxn id="10" idx="2"/>
            <a:endCxn id="9" idx="6"/>
          </p:cNvCxnSpPr>
          <p:nvPr/>
        </p:nvCxnSpPr>
        <p:spPr>
          <a:xfrm flipH="1">
            <a:off x="1907704" y="6360476"/>
            <a:ext cx="684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5A67706B-C20A-4FC8-AD2B-62DEB97CD0B5}"/>
              </a:ext>
            </a:extLst>
          </p:cNvPr>
          <p:cNvCxnSpPr>
            <a:stCxn id="12" idx="6"/>
            <a:endCxn id="13" idx="2"/>
          </p:cNvCxnSpPr>
          <p:nvPr/>
        </p:nvCxnSpPr>
        <p:spPr>
          <a:xfrm>
            <a:off x="5544108" y="6360476"/>
            <a:ext cx="684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a:extLst>
              <a:ext uri="{FF2B5EF4-FFF2-40B4-BE49-F238E27FC236}">
                <a16:creationId xmlns:a16="http://schemas.microsoft.com/office/drawing/2014/main" id="{923C65C8-C914-40A5-8473-9394B00011C0}"/>
              </a:ext>
            </a:extLst>
          </p:cNvPr>
          <p:cNvCxnSpPr>
            <a:stCxn id="10" idx="5"/>
            <a:endCxn id="11" idx="3"/>
          </p:cNvCxnSpPr>
          <p:nvPr/>
        </p:nvCxnSpPr>
        <p:spPr>
          <a:xfrm>
            <a:off x="3022019" y="6523482"/>
            <a:ext cx="8317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B0A0B097-DD67-4FE6-B589-E30E2A73D6F1}"/>
              </a:ext>
            </a:extLst>
          </p:cNvPr>
          <p:cNvCxnSpPr>
            <a:stCxn id="11" idx="5"/>
            <a:endCxn id="12" idx="3"/>
          </p:cNvCxnSpPr>
          <p:nvPr/>
        </p:nvCxnSpPr>
        <p:spPr>
          <a:xfrm>
            <a:off x="4210151" y="6523482"/>
            <a:ext cx="9037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文字方塊 19">
            <a:extLst>
              <a:ext uri="{FF2B5EF4-FFF2-40B4-BE49-F238E27FC236}">
                <a16:creationId xmlns:a16="http://schemas.microsoft.com/office/drawing/2014/main" id="{0E032DA8-1338-4B6C-A0BA-346B8FC94474}"/>
              </a:ext>
            </a:extLst>
          </p:cNvPr>
          <p:cNvSpPr txBox="1"/>
          <p:nvPr/>
        </p:nvSpPr>
        <p:spPr>
          <a:xfrm>
            <a:off x="1576815" y="6197470"/>
            <a:ext cx="45719" cy="369332"/>
          </a:xfrm>
          <a:prstGeom prst="rect">
            <a:avLst/>
          </a:prstGeom>
          <a:noFill/>
        </p:spPr>
        <p:txBody>
          <a:bodyPr wrap="square" rtlCol="0">
            <a:spAutoFit/>
          </a:bodyPr>
          <a:lstStyle/>
          <a:p>
            <a:r>
              <a:rPr lang="en-US" altLang="zh-TW" dirty="0"/>
              <a:t>1</a:t>
            </a:r>
            <a:endParaRPr lang="zh-TW" altLang="en-US" dirty="0"/>
          </a:p>
        </p:txBody>
      </p:sp>
      <p:sp>
        <p:nvSpPr>
          <p:cNvPr id="21" name="文字方塊 20">
            <a:extLst>
              <a:ext uri="{FF2B5EF4-FFF2-40B4-BE49-F238E27FC236}">
                <a16:creationId xmlns:a16="http://schemas.microsoft.com/office/drawing/2014/main" id="{819E4380-0FA0-4CBD-B931-365C09618255}"/>
              </a:ext>
            </a:extLst>
          </p:cNvPr>
          <p:cNvSpPr txBox="1"/>
          <p:nvPr/>
        </p:nvSpPr>
        <p:spPr>
          <a:xfrm>
            <a:off x="2676192" y="6175810"/>
            <a:ext cx="1473936" cy="369332"/>
          </a:xfrm>
          <a:prstGeom prst="rect">
            <a:avLst/>
          </a:prstGeom>
          <a:noFill/>
        </p:spPr>
        <p:txBody>
          <a:bodyPr wrap="square" rtlCol="0">
            <a:spAutoFit/>
          </a:bodyPr>
          <a:lstStyle/>
          <a:p>
            <a:r>
              <a:rPr lang="en-US" altLang="zh-TW" dirty="0"/>
              <a:t>2</a:t>
            </a:r>
            <a:endParaRPr lang="zh-TW" altLang="en-US" dirty="0"/>
          </a:p>
        </p:txBody>
      </p:sp>
      <p:sp>
        <p:nvSpPr>
          <p:cNvPr id="22" name="文字方塊 21">
            <a:extLst>
              <a:ext uri="{FF2B5EF4-FFF2-40B4-BE49-F238E27FC236}">
                <a16:creationId xmlns:a16="http://schemas.microsoft.com/office/drawing/2014/main" id="{1C880ED9-B7A6-48A2-BF03-29439FB11D90}"/>
              </a:ext>
            </a:extLst>
          </p:cNvPr>
          <p:cNvSpPr txBox="1"/>
          <p:nvPr/>
        </p:nvSpPr>
        <p:spPr>
          <a:xfrm>
            <a:off x="3889357" y="6168490"/>
            <a:ext cx="301686" cy="369332"/>
          </a:xfrm>
          <a:prstGeom prst="rect">
            <a:avLst/>
          </a:prstGeom>
          <a:noFill/>
        </p:spPr>
        <p:txBody>
          <a:bodyPr wrap="none" rtlCol="0">
            <a:spAutoFit/>
          </a:bodyPr>
          <a:lstStyle/>
          <a:p>
            <a:r>
              <a:rPr lang="en-US" altLang="zh-TW" dirty="0"/>
              <a:t>3</a:t>
            </a:r>
            <a:endParaRPr lang="zh-TW" altLang="en-US" dirty="0"/>
          </a:p>
        </p:txBody>
      </p:sp>
      <p:sp>
        <p:nvSpPr>
          <p:cNvPr id="23" name="文字方塊 22">
            <a:extLst>
              <a:ext uri="{FF2B5EF4-FFF2-40B4-BE49-F238E27FC236}">
                <a16:creationId xmlns:a16="http://schemas.microsoft.com/office/drawing/2014/main" id="{AF84CCBE-723D-4FD7-92C1-2E8F2D77EB6E}"/>
              </a:ext>
            </a:extLst>
          </p:cNvPr>
          <p:cNvSpPr txBox="1"/>
          <p:nvPr/>
        </p:nvSpPr>
        <p:spPr>
          <a:xfrm>
            <a:off x="5154221" y="6201958"/>
            <a:ext cx="301686" cy="369332"/>
          </a:xfrm>
          <a:prstGeom prst="rect">
            <a:avLst/>
          </a:prstGeom>
          <a:noFill/>
        </p:spPr>
        <p:txBody>
          <a:bodyPr wrap="none" rtlCol="0">
            <a:spAutoFit/>
          </a:bodyPr>
          <a:lstStyle/>
          <a:p>
            <a:r>
              <a:rPr lang="en-US" altLang="zh-TW" dirty="0"/>
              <a:t>4</a:t>
            </a:r>
            <a:endParaRPr lang="zh-TW" altLang="en-US" dirty="0"/>
          </a:p>
        </p:txBody>
      </p:sp>
      <p:sp>
        <p:nvSpPr>
          <p:cNvPr id="24" name="文字方塊 23">
            <a:extLst>
              <a:ext uri="{FF2B5EF4-FFF2-40B4-BE49-F238E27FC236}">
                <a16:creationId xmlns:a16="http://schemas.microsoft.com/office/drawing/2014/main" id="{2A85C5E8-D3C3-4986-8EB5-8691F57495A0}"/>
              </a:ext>
            </a:extLst>
          </p:cNvPr>
          <p:cNvSpPr txBox="1"/>
          <p:nvPr/>
        </p:nvSpPr>
        <p:spPr>
          <a:xfrm>
            <a:off x="2100073" y="6017292"/>
            <a:ext cx="396044" cy="369332"/>
          </a:xfrm>
          <a:prstGeom prst="rect">
            <a:avLst/>
          </a:prstGeom>
          <a:noFill/>
        </p:spPr>
        <p:txBody>
          <a:bodyPr wrap="square" rtlCol="0">
            <a:spAutoFit/>
          </a:bodyPr>
          <a:lstStyle/>
          <a:p>
            <a:r>
              <a:rPr lang="en-US" altLang="zh-TW" dirty="0"/>
              <a:t>-1</a:t>
            </a:r>
            <a:endParaRPr lang="zh-TW" altLang="en-US" dirty="0"/>
          </a:p>
        </p:txBody>
      </p:sp>
      <p:sp>
        <p:nvSpPr>
          <p:cNvPr id="25" name="文字方塊 24">
            <a:extLst>
              <a:ext uri="{FF2B5EF4-FFF2-40B4-BE49-F238E27FC236}">
                <a16:creationId xmlns:a16="http://schemas.microsoft.com/office/drawing/2014/main" id="{7AEF972B-67E6-4486-81C3-20C8E0FAEC2E}"/>
              </a:ext>
            </a:extLst>
          </p:cNvPr>
          <p:cNvSpPr txBox="1"/>
          <p:nvPr/>
        </p:nvSpPr>
        <p:spPr>
          <a:xfrm>
            <a:off x="5760132" y="6048650"/>
            <a:ext cx="396044" cy="369332"/>
          </a:xfrm>
          <a:prstGeom prst="rect">
            <a:avLst/>
          </a:prstGeom>
          <a:noFill/>
        </p:spPr>
        <p:txBody>
          <a:bodyPr wrap="square" rtlCol="0">
            <a:spAutoFit/>
          </a:bodyPr>
          <a:lstStyle/>
          <a:p>
            <a:r>
              <a:rPr lang="en-US" altLang="zh-TW" dirty="0"/>
              <a:t>1</a:t>
            </a:r>
            <a:endParaRPr lang="zh-TW" altLang="en-US" dirty="0"/>
          </a:p>
        </p:txBody>
      </p:sp>
      <p:sp>
        <p:nvSpPr>
          <p:cNvPr id="26" name="橢圓 25">
            <a:extLst>
              <a:ext uri="{FF2B5EF4-FFF2-40B4-BE49-F238E27FC236}">
                <a16:creationId xmlns:a16="http://schemas.microsoft.com/office/drawing/2014/main" id="{4F91E7E1-E613-4049-9952-473626E7E2D4}"/>
              </a:ext>
            </a:extLst>
          </p:cNvPr>
          <p:cNvSpPr/>
          <p:nvPr/>
        </p:nvSpPr>
        <p:spPr>
          <a:xfrm>
            <a:off x="7562505" y="6129950"/>
            <a:ext cx="465879"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7" name="直線單箭頭接點 26">
            <a:extLst>
              <a:ext uri="{FF2B5EF4-FFF2-40B4-BE49-F238E27FC236}">
                <a16:creationId xmlns:a16="http://schemas.microsoft.com/office/drawing/2014/main" id="{1699038D-CE8C-48E2-809C-E1398C3683E4}"/>
              </a:ext>
            </a:extLst>
          </p:cNvPr>
          <p:cNvCxnSpPr>
            <a:stCxn id="13" idx="6"/>
            <a:endCxn id="26" idx="2"/>
          </p:cNvCxnSpPr>
          <p:nvPr/>
        </p:nvCxnSpPr>
        <p:spPr>
          <a:xfrm>
            <a:off x="6732240" y="6360476"/>
            <a:ext cx="8302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接點: 肘形 27">
            <a:extLst>
              <a:ext uri="{FF2B5EF4-FFF2-40B4-BE49-F238E27FC236}">
                <a16:creationId xmlns:a16="http://schemas.microsoft.com/office/drawing/2014/main" id="{4BC0F175-425D-4224-9697-1DC1712B8055}"/>
              </a:ext>
            </a:extLst>
          </p:cNvPr>
          <p:cNvCxnSpPr>
            <a:stCxn id="9" idx="4"/>
            <a:endCxn id="26" idx="4"/>
          </p:cNvCxnSpPr>
          <p:nvPr/>
        </p:nvCxnSpPr>
        <p:spPr>
          <a:xfrm rot="16200000" flipH="1">
            <a:off x="4725560" y="3521117"/>
            <a:ext cx="12700" cy="6139769"/>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橢圓 28">
            <a:extLst>
              <a:ext uri="{FF2B5EF4-FFF2-40B4-BE49-F238E27FC236}">
                <a16:creationId xmlns:a16="http://schemas.microsoft.com/office/drawing/2014/main" id="{1E249412-7747-416B-8908-4159576A7508}"/>
              </a:ext>
            </a:extLst>
          </p:cNvPr>
          <p:cNvSpPr/>
          <p:nvPr/>
        </p:nvSpPr>
        <p:spPr>
          <a:xfrm>
            <a:off x="7596336" y="6201958"/>
            <a:ext cx="396497" cy="34318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文字方塊 29">
            <a:extLst>
              <a:ext uri="{FF2B5EF4-FFF2-40B4-BE49-F238E27FC236}">
                <a16:creationId xmlns:a16="http://schemas.microsoft.com/office/drawing/2014/main" id="{6AA38589-F8F4-4FA2-8A9C-CF7A1D61B1A1}"/>
              </a:ext>
            </a:extLst>
          </p:cNvPr>
          <p:cNvSpPr txBox="1"/>
          <p:nvPr/>
        </p:nvSpPr>
        <p:spPr>
          <a:xfrm>
            <a:off x="3291719" y="6195565"/>
            <a:ext cx="914400" cy="369332"/>
          </a:xfrm>
          <a:prstGeom prst="rect">
            <a:avLst/>
          </a:prstGeom>
          <a:noFill/>
        </p:spPr>
        <p:txBody>
          <a:bodyPr wrap="square" rtlCol="0">
            <a:spAutoFit/>
          </a:bodyPr>
          <a:lstStyle/>
          <a:p>
            <a:r>
              <a:rPr lang="en-US" altLang="zh-TW" dirty="0"/>
              <a:t>1</a:t>
            </a:r>
            <a:endParaRPr lang="zh-TW" altLang="en-US" dirty="0"/>
          </a:p>
        </p:txBody>
      </p:sp>
      <p:sp>
        <p:nvSpPr>
          <p:cNvPr id="3" name="文字方塊 2">
            <a:extLst>
              <a:ext uri="{FF2B5EF4-FFF2-40B4-BE49-F238E27FC236}">
                <a16:creationId xmlns:a16="http://schemas.microsoft.com/office/drawing/2014/main" id="{E4D06ECE-9915-4144-8EEE-7235DCCCF6B0}"/>
              </a:ext>
            </a:extLst>
          </p:cNvPr>
          <p:cNvSpPr txBox="1"/>
          <p:nvPr/>
        </p:nvSpPr>
        <p:spPr>
          <a:xfrm>
            <a:off x="4499992" y="6165304"/>
            <a:ext cx="45719" cy="369332"/>
          </a:xfrm>
          <a:prstGeom prst="rect">
            <a:avLst/>
          </a:prstGeom>
          <a:noFill/>
        </p:spPr>
        <p:txBody>
          <a:bodyPr wrap="square" rtlCol="0">
            <a:spAutoFit/>
          </a:bodyPr>
          <a:lstStyle/>
          <a:p>
            <a:r>
              <a:rPr lang="en-US" altLang="zh-TW" dirty="0"/>
              <a:t>1</a:t>
            </a:r>
            <a:endParaRPr lang="zh-TW" altLang="en-US" dirty="0"/>
          </a:p>
        </p:txBody>
      </p:sp>
    </p:spTree>
    <p:extLst>
      <p:ext uri="{BB962C8B-B14F-4D97-AF65-F5344CB8AC3E}">
        <p14:creationId xmlns:p14="http://schemas.microsoft.com/office/powerpoint/2010/main" val="4010831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anose="02020603050405020304" pitchFamily="18" charset="0"/>
                <a:cs typeface="Times New Roman" panose="02020603050405020304" pitchFamily="18" charset="0"/>
              </a:rPr>
              <a:t>Penetrative Bellman equation</a:t>
            </a:r>
            <a:endParaRPr lang="zh-TW" altLang="en-US" dirty="0">
              <a:latin typeface="Times New Roman" pitchFamily="18" charset="0"/>
              <a:cs typeface="Times New Roman" pitchFamily="18" charset="0"/>
            </a:endParaRPr>
          </a:p>
        </p:txBody>
      </p:sp>
      <p:pic>
        <p:nvPicPr>
          <p:cNvPr id="5" name="內容版面配置區 4">
            <a:extLst>
              <a:ext uri="{FF2B5EF4-FFF2-40B4-BE49-F238E27FC236}">
                <a16:creationId xmlns:a16="http://schemas.microsoft.com/office/drawing/2014/main" id="{209B0D6F-5E1D-42CD-A601-65A62197A6F5}"/>
              </a:ext>
            </a:extLst>
          </p:cNvPr>
          <p:cNvPicPr>
            <a:picLocks noGrp="1" noChangeAspect="1"/>
          </p:cNvPicPr>
          <p:nvPr>
            <p:ph idx="1"/>
          </p:nvPr>
        </p:nvPicPr>
        <p:blipFill>
          <a:blip r:embed="rId3"/>
          <a:stretch>
            <a:fillRect/>
          </a:stretch>
        </p:blipFill>
        <p:spPr>
          <a:xfrm>
            <a:off x="0" y="2780929"/>
            <a:ext cx="9144000" cy="1492344"/>
          </a:xfrm>
        </p:spPr>
      </p:pic>
      <p:sp>
        <p:nvSpPr>
          <p:cNvPr id="6" name="文字方塊 5">
            <a:extLst>
              <a:ext uri="{FF2B5EF4-FFF2-40B4-BE49-F238E27FC236}">
                <a16:creationId xmlns:a16="http://schemas.microsoft.com/office/drawing/2014/main" id="{1C70DD7E-FE94-4E23-AFF3-0F96F6811CAD}"/>
              </a:ext>
            </a:extLst>
          </p:cNvPr>
          <p:cNvSpPr txBox="1"/>
          <p:nvPr/>
        </p:nvSpPr>
        <p:spPr>
          <a:xfrm>
            <a:off x="179512" y="1916832"/>
            <a:ext cx="3502103" cy="369332"/>
          </a:xfrm>
          <a:prstGeom prst="rect">
            <a:avLst/>
          </a:prstGeom>
          <a:noFill/>
        </p:spPr>
        <p:txBody>
          <a:bodyPr wrap="square" rtlCol="0">
            <a:spAutoFit/>
          </a:bodyPr>
          <a:lstStyle/>
          <a:p>
            <a:r>
              <a:rPr lang="en-US" altLang="zh-TW" dirty="0"/>
              <a:t>Exploration: UCB1</a:t>
            </a:r>
            <a:endParaRPr lang="zh-TW" altLang="en-US" dirty="0"/>
          </a:p>
        </p:txBody>
      </p:sp>
    </p:spTree>
    <p:extLst>
      <p:ext uri="{BB962C8B-B14F-4D97-AF65-F5344CB8AC3E}">
        <p14:creationId xmlns:p14="http://schemas.microsoft.com/office/powerpoint/2010/main" val="28734860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Exploration</a:t>
            </a:r>
            <a:endParaRPr lang="zh-TW" altLang="en-US" dirty="0">
              <a:latin typeface="Times New Roman" pitchFamily="18" charset="0"/>
              <a:cs typeface="Times New Roman" pitchFamily="18" charset="0"/>
            </a:endParaRPr>
          </a:p>
        </p:txBody>
      </p:sp>
      <p:pic>
        <p:nvPicPr>
          <p:cNvPr id="4" name="圖片 3">
            <a:extLst>
              <a:ext uri="{FF2B5EF4-FFF2-40B4-BE49-F238E27FC236}">
                <a16:creationId xmlns:a16="http://schemas.microsoft.com/office/drawing/2014/main" id="{65CF309E-4CF4-4F84-A2C0-5F7E6B42520B}"/>
              </a:ext>
            </a:extLst>
          </p:cNvPr>
          <p:cNvPicPr>
            <a:picLocks noChangeAspect="1"/>
          </p:cNvPicPr>
          <p:nvPr/>
        </p:nvPicPr>
        <p:blipFill>
          <a:blip r:embed="rId3"/>
          <a:stretch>
            <a:fillRect/>
          </a:stretch>
        </p:blipFill>
        <p:spPr>
          <a:xfrm>
            <a:off x="0" y="2276872"/>
            <a:ext cx="9176730" cy="2842047"/>
          </a:xfrm>
          <a:prstGeom prst="rect">
            <a:avLst/>
          </a:prstGeom>
        </p:spPr>
      </p:pic>
      <p:pic>
        <p:nvPicPr>
          <p:cNvPr id="9" name="圖片 8">
            <a:extLst>
              <a:ext uri="{FF2B5EF4-FFF2-40B4-BE49-F238E27FC236}">
                <a16:creationId xmlns:a16="http://schemas.microsoft.com/office/drawing/2014/main" id="{FE4AC67A-9227-4E1C-B552-420E9B142F2B}"/>
              </a:ext>
            </a:extLst>
          </p:cNvPr>
          <p:cNvPicPr>
            <a:picLocks noChangeAspect="1"/>
          </p:cNvPicPr>
          <p:nvPr/>
        </p:nvPicPr>
        <p:blipFill>
          <a:blip r:embed="rId4"/>
          <a:stretch>
            <a:fillRect/>
          </a:stretch>
        </p:blipFill>
        <p:spPr>
          <a:xfrm>
            <a:off x="0" y="2888034"/>
            <a:ext cx="9144000" cy="2845222"/>
          </a:xfrm>
          <a:prstGeom prst="rect">
            <a:avLst/>
          </a:prstGeom>
        </p:spPr>
      </p:pic>
    </p:spTree>
    <p:extLst>
      <p:ext uri="{BB962C8B-B14F-4D97-AF65-F5344CB8AC3E}">
        <p14:creationId xmlns:p14="http://schemas.microsoft.com/office/powerpoint/2010/main" val="37316623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pPr algn="l"/>
            <a:r>
              <a:rPr lang="en-US" altLang="zh-TW" dirty="0">
                <a:latin typeface="Times New Roman" pitchFamily="18" charset="0"/>
                <a:cs typeface="Times New Roman" pitchFamily="18" charset="0"/>
              </a:rPr>
              <a:t>Comparison With the State of the Art</a:t>
            </a:r>
            <a:endParaRPr lang="zh-TW" altLang="en-US" dirty="0">
              <a:latin typeface="Times New Roman" pitchFamily="18" charset="0"/>
              <a:cs typeface="Times New Roman" pitchFamily="18" charset="0"/>
            </a:endParaRPr>
          </a:p>
        </p:txBody>
      </p:sp>
      <p:pic>
        <p:nvPicPr>
          <p:cNvPr id="6" name="內容版面配置區 5">
            <a:extLst>
              <a:ext uri="{FF2B5EF4-FFF2-40B4-BE49-F238E27FC236}">
                <a16:creationId xmlns:a16="http://schemas.microsoft.com/office/drawing/2014/main" id="{59F1131A-102E-4FE0-9C65-C12BAF983CE5}"/>
              </a:ext>
            </a:extLst>
          </p:cNvPr>
          <p:cNvPicPr>
            <a:picLocks noGrp="1" noChangeAspect="1"/>
          </p:cNvPicPr>
          <p:nvPr>
            <p:ph idx="1"/>
          </p:nvPr>
        </p:nvPicPr>
        <p:blipFill>
          <a:blip r:embed="rId3"/>
          <a:stretch>
            <a:fillRect/>
          </a:stretch>
        </p:blipFill>
        <p:spPr>
          <a:xfrm>
            <a:off x="0" y="1937438"/>
            <a:ext cx="9183302" cy="4297820"/>
          </a:xfrm>
        </p:spPr>
      </p:pic>
    </p:spTree>
    <p:extLst>
      <p:ext uri="{BB962C8B-B14F-4D97-AF65-F5344CB8AC3E}">
        <p14:creationId xmlns:p14="http://schemas.microsoft.com/office/powerpoint/2010/main" val="341703362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7812</TotalTime>
  <Words>1132</Words>
  <Application>Microsoft Office PowerPoint</Application>
  <PresentationFormat>如螢幕大小 (4:3)</PresentationFormat>
  <Paragraphs>287</Paragraphs>
  <Slides>21</Slides>
  <Notes>18</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21</vt:i4>
      </vt:variant>
    </vt:vector>
  </HeadingPairs>
  <TitlesOfParts>
    <vt:vector size="26" baseType="lpstr">
      <vt:lpstr>Arial</vt:lpstr>
      <vt:lpstr>Calibri</vt:lpstr>
      <vt:lpstr>Cambria Math</vt:lpstr>
      <vt:lpstr>Times New Roman</vt:lpstr>
      <vt:lpstr>Office 佈景主題</vt:lpstr>
      <vt:lpstr> Automatic Bridge Bidding Using Deep Reinforcement Learning</vt:lpstr>
      <vt:lpstr>Abstract</vt:lpstr>
      <vt:lpstr>Abstract</vt:lpstr>
      <vt:lpstr>Introduction</vt:lpstr>
      <vt:lpstr>Bidding stage</vt:lpstr>
      <vt:lpstr>Problem</vt:lpstr>
      <vt:lpstr>Q Learning</vt:lpstr>
      <vt:lpstr>Q Learning</vt:lpstr>
      <vt:lpstr>Q Learning</vt:lpstr>
      <vt:lpstr>Q Learning</vt:lpstr>
      <vt:lpstr>Deep Q Network</vt:lpstr>
      <vt:lpstr>Proposed Framework</vt:lpstr>
      <vt:lpstr>Exploration</vt:lpstr>
      <vt:lpstr>Proposed Framework</vt:lpstr>
      <vt:lpstr>Proposed Framework</vt:lpstr>
      <vt:lpstr>Penetrative Bellman equation</vt:lpstr>
      <vt:lpstr>Penetrative Bellman equation</vt:lpstr>
      <vt:lpstr>Penetrative Bellman equation</vt:lpstr>
      <vt:lpstr>Penetrative Bellman equation</vt:lpstr>
      <vt:lpstr>Exploration</vt:lpstr>
      <vt:lpstr>Comparison With the State of the Art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faster algorithm for finding shortest substring matches of a regular expression</dc:title>
  <dc:creator>M093040098</dc:creator>
  <cp:lastModifiedBy>pplab</cp:lastModifiedBy>
  <cp:revision>315</cp:revision>
  <dcterms:created xsi:type="dcterms:W3CDTF">2020-10-30T08:30:28Z</dcterms:created>
  <dcterms:modified xsi:type="dcterms:W3CDTF">2021-04-27T10:28:42Z</dcterms:modified>
</cp:coreProperties>
</file>