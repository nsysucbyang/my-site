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99" r:id="rId5"/>
    <p:sldId id="316" r:id="rId6"/>
    <p:sldId id="306" r:id="rId7"/>
    <p:sldId id="319" r:id="rId8"/>
    <p:sldId id="320" r:id="rId9"/>
    <p:sldId id="325" r:id="rId10"/>
    <p:sldId id="322" r:id="rId11"/>
    <p:sldId id="324" r:id="rId12"/>
    <p:sldId id="323" r:id="rId13"/>
    <p:sldId id="326" r:id="rId14"/>
    <p:sldId id="328" r:id="rId15"/>
    <p:sldId id="329" r:id="rId16"/>
    <p:sldId id="300" r:id="rId17"/>
    <p:sldId id="265" r:id="rId18"/>
    <p:sldId id="268" r:id="rId19"/>
    <p:sldId id="269" r:id="rId20"/>
    <p:sldId id="271" r:id="rId21"/>
    <p:sldId id="281" r:id="rId22"/>
    <p:sldId id="313" r:id="rId23"/>
    <p:sldId id="315" r:id="rId24"/>
    <p:sldId id="334" r:id="rId25"/>
    <p:sldId id="285" r:id="rId26"/>
    <p:sldId id="330" r:id="rId27"/>
    <p:sldId id="303" r:id="rId28"/>
    <p:sldId id="309" r:id="rId29"/>
    <p:sldId id="310" r:id="rId30"/>
    <p:sldId id="311" r:id="rId31"/>
    <p:sldId id="312" r:id="rId32"/>
    <p:sldId id="264" r:id="rId33"/>
    <p:sldId id="333" r:id="rId34"/>
    <p:sldId id="290" r:id="rId35"/>
    <p:sldId id="293" r:id="rId36"/>
    <p:sldId id="331" r:id="rId37"/>
    <p:sldId id="274" r:id="rId38"/>
    <p:sldId id="275" r:id="rId39"/>
    <p:sldId id="276" r:id="rId4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87176" autoAdjust="0"/>
  </p:normalViewPr>
  <p:slideViewPr>
    <p:cSldViewPr snapToGrid="0">
      <p:cViewPr varScale="1">
        <p:scale>
          <a:sx n="99" d="100"/>
          <a:sy n="99" d="100"/>
        </p:scale>
        <p:origin x="88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B665E1-0F60-44B7-AB0B-FBE186C96F1D}" type="datetimeFigureOut">
              <a:rPr lang="zh-TW" altLang="en-US" smtClean="0"/>
              <a:t>2021/10/6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519D-4284-4852-A67E-6B6EA261191A}" type="slidenum">
              <a:rPr lang="zh-TW" altLang="en-US" smtClean="0"/>
              <a:t>‹#›</a:t>
            </a:fld>
            <a:endParaRPr lang="zh-TW" altLang="en-US"/>
          </a:p>
        </p:txBody>
      </p:sp>
    </p:spTree>
    <p:extLst>
      <p:ext uri="{BB962C8B-B14F-4D97-AF65-F5344CB8AC3E}">
        <p14:creationId xmlns:p14="http://schemas.microsoft.com/office/powerpoint/2010/main" val="2849418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a:t>
            </a:fld>
            <a:endParaRPr lang="zh-TW" altLang="en-US"/>
          </a:p>
        </p:txBody>
      </p:sp>
    </p:spTree>
    <p:extLst>
      <p:ext uri="{BB962C8B-B14F-4D97-AF65-F5344CB8AC3E}">
        <p14:creationId xmlns:p14="http://schemas.microsoft.com/office/powerpoint/2010/main" val="3066709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噴漆車間，設置時間（包括清潔噴嘴、區域等），白到綠比黑到綠更容易一些</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2</a:t>
            </a:fld>
            <a:endParaRPr lang="zh-TW" altLang="en-US"/>
          </a:p>
        </p:txBody>
      </p:sp>
    </p:spTree>
    <p:extLst>
      <p:ext uri="{BB962C8B-B14F-4D97-AF65-F5344CB8AC3E}">
        <p14:creationId xmlns:p14="http://schemas.microsoft.com/office/powerpoint/2010/main" val="672402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relax</a:t>
            </a:r>
            <a:r>
              <a:rPr lang="zh-TW" altLang="en-US" dirty="0"/>
              <a:t>整數的約束，用列生成算法求解，得的變量直向上取整數</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5</a:t>
            </a:fld>
            <a:endParaRPr lang="zh-TW" altLang="en-US"/>
          </a:p>
        </p:txBody>
      </p:sp>
    </p:spTree>
    <p:extLst>
      <p:ext uri="{BB962C8B-B14F-4D97-AF65-F5344CB8AC3E}">
        <p14:creationId xmlns:p14="http://schemas.microsoft.com/office/powerpoint/2010/main" val="1582797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對偶變量</a:t>
            </a:r>
            <a:r>
              <a:rPr lang="en-US" altLang="zh-TW" dirty="0"/>
              <a:t>CBB-1</a:t>
            </a:r>
            <a:r>
              <a:rPr lang="zh-TW" altLang="en-US" dirty="0"/>
              <a:t>，通過解</a:t>
            </a:r>
            <a:r>
              <a:rPr lang="en-US" altLang="zh-TW" dirty="0" err="1"/>
              <a:t>rmlp</a:t>
            </a:r>
            <a:r>
              <a:rPr lang="zh-TW" altLang="en-US" dirty="0"/>
              <a:t>對偶問題，得出</a:t>
            </a:r>
            <a:r>
              <a:rPr lang="en-US" altLang="zh-TW" dirty="0"/>
              <a:t>CBB-1</a:t>
            </a:r>
          </a:p>
          <a:p>
            <a:r>
              <a:rPr lang="en-US" altLang="zh-TW" dirty="0"/>
              <a:t>Subproblem</a:t>
            </a:r>
            <a:r>
              <a:rPr lang="zh-TW" altLang="en-US" dirty="0"/>
              <a:t>從滔</a:t>
            </a:r>
            <a:r>
              <a:rPr lang="en-US" altLang="zh-TW" dirty="0"/>
              <a:t>j</a:t>
            </a:r>
            <a:r>
              <a:rPr lang="zh-TW" altLang="en-US" dirty="0"/>
              <a:t>公式中 尋找檢驗數位富且最小的變量加入到</a:t>
            </a:r>
            <a:r>
              <a:rPr lang="en-US" altLang="zh-TW" dirty="0"/>
              <a:t>RLMP</a:t>
            </a:r>
          </a:p>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6</a:t>
            </a:fld>
            <a:endParaRPr lang="zh-TW" altLang="en-US"/>
          </a:p>
        </p:txBody>
      </p:sp>
    </p:spTree>
    <p:extLst>
      <p:ext uri="{BB962C8B-B14F-4D97-AF65-F5344CB8AC3E}">
        <p14:creationId xmlns:p14="http://schemas.microsoft.com/office/powerpoint/2010/main" val="950635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解</a:t>
            </a:r>
            <a:r>
              <a:rPr lang="en-US" altLang="zh-TW" dirty="0" err="1"/>
              <a:t>rmlp</a:t>
            </a:r>
            <a:r>
              <a:rPr lang="zh-TW" altLang="en-US" dirty="0"/>
              <a:t>對偶問題，</a:t>
            </a:r>
            <a:r>
              <a:rPr lang="en-US" altLang="zh-TW" dirty="0"/>
              <a:t>CB</a:t>
            </a:r>
            <a:r>
              <a:rPr lang="zh-TW" altLang="en-US" dirty="0"/>
              <a:t>對偶變量</a:t>
            </a:r>
            <a:endParaRPr lang="en-US" altLang="zh-TW" dirty="0"/>
          </a:p>
          <a:p>
            <a:r>
              <a:rPr lang="zh-TW" altLang="en-US" dirty="0"/>
              <a:t>列生成子問題</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7</a:t>
            </a:fld>
            <a:endParaRPr lang="zh-TW" altLang="en-US"/>
          </a:p>
        </p:txBody>
      </p:sp>
    </p:spTree>
    <p:extLst>
      <p:ext uri="{BB962C8B-B14F-4D97-AF65-F5344CB8AC3E}">
        <p14:creationId xmlns:p14="http://schemas.microsoft.com/office/powerpoint/2010/main" val="1758925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Reduced cost</a:t>
            </a:r>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10</a:t>
            </a:fld>
            <a:endParaRPr lang="zh-TW" altLang="en-US"/>
          </a:p>
        </p:txBody>
      </p:sp>
    </p:spTree>
    <p:extLst>
      <p:ext uri="{BB962C8B-B14F-4D97-AF65-F5344CB8AC3E}">
        <p14:creationId xmlns:p14="http://schemas.microsoft.com/office/powerpoint/2010/main" val="710655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11</a:t>
            </a:fld>
            <a:endParaRPr lang="zh-TW" altLang="en-US"/>
          </a:p>
        </p:txBody>
      </p:sp>
    </p:spTree>
    <p:extLst>
      <p:ext uri="{BB962C8B-B14F-4D97-AF65-F5344CB8AC3E}">
        <p14:creationId xmlns:p14="http://schemas.microsoft.com/office/powerpoint/2010/main" val="9165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Reduced cost</a:t>
            </a:r>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13</a:t>
            </a:fld>
            <a:endParaRPr lang="zh-TW" altLang="en-US"/>
          </a:p>
        </p:txBody>
      </p:sp>
    </p:spTree>
    <p:extLst>
      <p:ext uri="{BB962C8B-B14F-4D97-AF65-F5344CB8AC3E}">
        <p14:creationId xmlns:p14="http://schemas.microsoft.com/office/powerpoint/2010/main" val="2050932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非機變量變基變量，現有的基變量。</a:t>
            </a:r>
            <a:endParaRPr lang="en-US" altLang="zh-TW" dirty="0"/>
          </a:p>
          <a:p>
            <a:r>
              <a:rPr lang="zh-TW" altLang="en-US" dirty="0"/>
              <a:t>目前的可行解一定對應著最優解。</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14</a:t>
            </a:fld>
            <a:endParaRPr lang="zh-TW" altLang="en-US"/>
          </a:p>
        </p:txBody>
      </p:sp>
    </p:spTree>
    <p:extLst>
      <p:ext uri="{BB962C8B-B14F-4D97-AF65-F5344CB8AC3E}">
        <p14:creationId xmlns:p14="http://schemas.microsoft.com/office/powerpoint/2010/main" val="1166228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16</a:t>
            </a:fld>
            <a:endParaRPr lang="zh-TW" altLang="en-US"/>
          </a:p>
        </p:txBody>
      </p:sp>
    </p:spTree>
    <p:extLst>
      <p:ext uri="{BB962C8B-B14F-4D97-AF65-F5344CB8AC3E}">
        <p14:creationId xmlns:p14="http://schemas.microsoft.com/office/powerpoint/2010/main" val="1625972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每個組只分配一個時隙，每個時隙專用於接收一個組。在現實世界的問題中，組有不同數量的工作。</a:t>
            </a:r>
          </a:p>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17</a:t>
            </a:fld>
            <a:endParaRPr lang="zh-TW" altLang="en-US"/>
          </a:p>
        </p:txBody>
      </p:sp>
    </p:spTree>
    <p:extLst>
      <p:ext uri="{BB962C8B-B14F-4D97-AF65-F5344CB8AC3E}">
        <p14:creationId xmlns:p14="http://schemas.microsoft.com/office/powerpoint/2010/main" val="67338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LRMP-dual</a:t>
            </a:r>
            <a:r>
              <a:rPr lang="zh-TW" altLang="en-US" dirty="0"/>
              <a:t>原始問題提供了一個下界。</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18</a:t>
            </a:fld>
            <a:endParaRPr lang="zh-TW" altLang="en-US"/>
          </a:p>
        </p:txBody>
      </p:sp>
    </p:spTree>
    <p:extLst>
      <p:ext uri="{BB962C8B-B14F-4D97-AF65-F5344CB8AC3E}">
        <p14:creationId xmlns:p14="http://schemas.microsoft.com/office/powerpoint/2010/main" val="3690645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如果在 </a:t>
            </a:r>
            <a:r>
              <a:rPr lang="en-US" altLang="zh-TW" dirty="0"/>
              <a:t>2 </a:t>
            </a:r>
            <a:r>
              <a:rPr lang="zh-TW" altLang="en-US" dirty="0"/>
              <a:t>小時內無法最優求解 </a:t>
            </a:r>
            <a:r>
              <a:rPr lang="en-US" altLang="zh-TW" dirty="0"/>
              <a:t>SP</a:t>
            </a:r>
            <a:r>
              <a:rPr lang="zh-TW" altLang="en-US" dirty="0"/>
              <a:t>，則停止求解 </a:t>
            </a:r>
            <a:r>
              <a:rPr lang="en-US" altLang="zh-TW" dirty="0"/>
              <a:t>SP</a:t>
            </a:r>
            <a:r>
              <a:rPr lang="zh-TW" altLang="en-US" dirty="0"/>
              <a:t>，將 </a:t>
            </a:r>
            <a:r>
              <a:rPr lang="en-US" altLang="zh-TW" dirty="0"/>
              <a:t>SP </a:t>
            </a:r>
            <a:r>
              <a:rPr lang="zh-TW" altLang="en-US" dirty="0"/>
              <a:t>的下限視為 </a:t>
            </a:r>
            <a:r>
              <a:rPr lang="en-US" altLang="zh-TW" dirty="0"/>
              <a:t>SP </a:t>
            </a:r>
            <a:r>
              <a:rPr lang="zh-TW" altLang="en-US" dirty="0"/>
              <a:t>的目標函數值。 在求解節點期間，使用廣度優先程序。</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19</a:t>
            </a:fld>
            <a:endParaRPr lang="zh-TW" altLang="en-US"/>
          </a:p>
        </p:txBody>
      </p:sp>
    </p:spTree>
    <p:extLst>
      <p:ext uri="{BB962C8B-B14F-4D97-AF65-F5344CB8AC3E}">
        <p14:creationId xmlns:p14="http://schemas.microsoft.com/office/powerpoint/2010/main" val="1115121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如果 </a:t>
            </a:r>
            <a:r>
              <a:rPr lang="en-US" altLang="zh-TW" dirty="0"/>
              <a:t>B&amp;P </a:t>
            </a:r>
            <a:r>
              <a:rPr lang="zh-TW" altLang="en-US" dirty="0"/>
              <a:t>算法以最佳方式解決了問題，則它為原始問題提供了一個下界。如果 </a:t>
            </a:r>
            <a:r>
              <a:rPr lang="en-US" altLang="zh-TW" dirty="0"/>
              <a:t>B&amp;P </a:t>
            </a:r>
            <a:r>
              <a:rPr lang="zh-TW" altLang="en-US" dirty="0"/>
              <a:t>算法無法最優解決問題，則使用以下規則計算原始問題的下界。</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更新子問題</a:t>
            </a:r>
            <a:r>
              <a:rPr lang="en-US" altLang="zh-TW" dirty="0"/>
              <a:t>-dual</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20</a:t>
            </a:fld>
            <a:endParaRPr lang="zh-TW" altLang="en-US"/>
          </a:p>
        </p:txBody>
      </p:sp>
    </p:spTree>
    <p:extLst>
      <p:ext uri="{BB962C8B-B14F-4D97-AF65-F5344CB8AC3E}">
        <p14:creationId xmlns:p14="http://schemas.microsoft.com/office/powerpoint/2010/main" val="747810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在工業中極不可能使用超過六台機器的流水車間。所以考慮了</a:t>
            </a:r>
            <a:r>
              <a:rPr lang="en-US" altLang="zh-TW" dirty="0"/>
              <a:t>2 3 6</a:t>
            </a:r>
            <a:r>
              <a:rPr lang="zh-TW" altLang="en-US" dirty="0"/>
              <a:t>台機器</a:t>
            </a:r>
            <a:endParaRPr lang="en-US" altLang="zh-TW" dirty="0"/>
          </a:p>
          <a:p>
            <a:r>
              <a:rPr lang="zh-TW" altLang="en-US" dirty="0"/>
              <a:t>生產線分解為小型但獨立的製造單元。</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21</a:t>
            </a:fld>
            <a:endParaRPr lang="zh-TW" altLang="en-US"/>
          </a:p>
        </p:txBody>
      </p:sp>
    </p:spTree>
    <p:extLst>
      <p:ext uri="{BB962C8B-B14F-4D97-AF65-F5344CB8AC3E}">
        <p14:creationId xmlns:p14="http://schemas.microsoft.com/office/powerpoint/2010/main" val="2482781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級別 </a:t>
            </a:r>
            <a:r>
              <a:rPr lang="en-US" altLang="zh-TW" dirty="0"/>
              <a:t>1 </a:t>
            </a:r>
            <a:r>
              <a:rPr lang="zh-TW" altLang="en-US" dirty="0"/>
              <a:t>表示每台機器所需的設置時間按順序增加的問題。 第二層次研究所有機器的設置時間幾乎相等的問題。 最後，第三級調查從第一台機器到最後一台機器減少機器設置時間的問題。</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23</a:t>
            </a:fld>
            <a:endParaRPr lang="zh-TW" altLang="en-US"/>
          </a:p>
        </p:txBody>
      </p:sp>
    </p:spTree>
    <p:extLst>
      <p:ext uri="{BB962C8B-B14F-4D97-AF65-F5344CB8AC3E}">
        <p14:creationId xmlns:p14="http://schemas.microsoft.com/office/powerpoint/2010/main" val="342772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開發了一種基於</a:t>
            </a:r>
            <a:r>
              <a:rPr lang="en-US" altLang="zh-TW" dirty="0"/>
              <a:t>TS</a:t>
            </a:r>
            <a:r>
              <a:rPr lang="zh-TW" altLang="en-US" dirty="0"/>
              <a:t>的元啟發式算法以及基於蟻群算法的混合啟發式算法來解決</a:t>
            </a:r>
            <a:r>
              <a:rPr lang="en-US" altLang="zh-TW" dirty="0"/>
              <a:t>FSDGS</a:t>
            </a:r>
            <a:r>
              <a:rPr lang="zh-TW" altLang="en-US" dirty="0"/>
              <a:t>問題。然後，將</a:t>
            </a:r>
            <a:r>
              <a:rPr lang="en-US" altLang="zh-TW" dirty="0"/>
              <a:t>TS</a:t>
            </a:r>
            <a:r>
              <a:rPr lang="zh-TW" altLang="en-US" dirty="0"/>
              <a:t>算法與</a:t>
            </a:r>
            <a:r>
              <a:rPr lang="en-US" altLang="zh-TW" dirty="0"/>
              <a:t>HACO</a:t>
            </a:r>
            <a:r>
              <a:rPr lang="zh-TW" altLang="en-US" dirty="0"/>
              <a:t>算法進行比較。</a:t>
            </a:r>
            <a:br>
              <a:rPr lang="en-US" altLang="zh-TW" dirty="0"/>
            </a:br>
            <a:r>
              <a:rPr lang="zh-TW" altLang="en-US" dirty="0"/>
              <a:t>實驗表明，</a:t>
            </a:r>
            <a:r>
              <a:rPr lang="en-US" altLang="zh-TW" dirty="0"/>
              <a:t>HACO </a:t>
            </a:r>
            <a:r>
              <a:rPr lang="zh-TW" altLang="en-US" dirty="0"/>
              <a:t>算法可以為所研究的問題提供高質量的解決方案。</a:t>
            </a:r>
            <a:endParaRPr lang="en-US" altLang="zh-TW" dirty="0"/>
          </a:p>
          <a:p>
            <a:r>
              <a:rPr lang="en-US" altLang="zh-TW" dirty="0"/>
              <a:t>FSDGS </a:t>
            </a:r>
            <a:r>
              <a:rPr lang="zh-TW" altLang="en-US" dirty="0"/>
              <a:t>問題的所有工作都僅基於最小化完工標準。</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25</a:t>
            </a:fld>
            <a:endParaRPr lang="zh-TW" altLang="en-US"/>
          </a:p>
        </p:txBody>
      </p:sp>
    </p:spTree>
    <p:extLst>
      <p:ext uri="{BB962C8B-B14F-4D97-AF65-F5344CB8AC3E}">
        <p14:creationId xmlns:p14="http://schemas.microsoft.com/office/powerpoint/2010/main" val="3488000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27</a:t>
            </a:fld>
            <a:endParaRPr lang="zh-TW" altLang="en-US"/>
          </a:p>
        </p:txBody>
      </p:sp>
    </p:spTree>
    <p:extLst>
      <p:ext uri="{BB962C8B-B14F-4D97-AF65-F5344CB8AC3E}">
        <p14:creationId xmlns:p14="http://schemas.microsoft.com/office/powerpoint/2010/main" val="3244447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a:t>
            </a:r>
            <a:r>
              <a:rPr lang="zh-TW" altLang="en-US" dirty="0"/>
              <a:t>獨立構建解決方案的（許多）螞蟻群體。</a:t>
            </a:r>
            <a:endParaRPr lang="en-US" altLang="zh-TW" dirty="0"/>
          </a:p>
          <a:p>
            <a:r>
              <a:rPr lang="en-US" altLang="zh-TW" dirty="0"/>
              <a:t>2.</a:t>
            </a:r>
            <a:r>
              <a:rPr lang="zh-TW" altLang="en-US" dirty="0"/>
              <a:t>使用信息素值和啟發式信息工作的解決方案構建階段。</a:t>
            </a:r>
            <a:endParaRPr lang="en-US" altLang="zh-TW" dirty="0"/>
          </a:p>
          <a:p>
            <a:r>
              <a:rPr lang="en-US" altLang="zh-TW" dirty="0"/>
              <a:t>3.</a:t>
            </a:r>
            <a:r>
              <a:rPr lang="zh-TW" altLang="en-US" dirty="0"/>
              <a:t>圍繞找到的最佳解決方案應用本地搜索以改進解決方案。</a:t>
            </a:r>
            <a:endParaRPr lang="en-US" altLang="zh-TW" dirty="0"/>
          </a:p>
          <a:p>
            <a:r>
              <a:rPr lang="en-US" altLang="zh-TW" dirty="0"/>
              <a:t>4.</a:t>
            </a:r>
            <a:r>
              <a:rPr lang="zh-TW" altLang="en-US" dirty="0"/>
              <a:t>更新信息素值階段，根據找到的解決方案的質量更新信息素值，以引導算法朝著有希望的解決方案發展</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32</a:t>
            </a:fld>
            <a:endParaRPr lang="zh-TW" altLang="en-US"/>
          </a:p>
        </p:txBody>
      </p:sp>
    </p:spTree>
    <p:extLst>
      <p:ext uri="{BB962C8B-B14F-4D97-AF65-F5344CB8AC3E}">
        <p14:creationId xmlns:p14="http://schemas.microsoft.com/office/powerpoint/2010/main" val="6791570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螞蟻根據他們的合作經驗，通過動態改變環境（信息素的踪跡）來間接引導殖民地的其他成員，以提出從巢穴到食物的更好路徑，反之亦然。一條路徑上的信息素越多，其他螞蟻跟隨該路徑的可能性就越大。</a:t>
            </a:r>
          </a:p>
        </p:txBody>
      </p:sp>
      <p:sp>
        <p:nvSpPr>
          <p:cNvPr id="4" name="投影片編號版面配置區 3"/>
          <p:cNvSpPr>
            <a:spLocks noGrp="1"/>
          </p:cNvSpPr>
          <p:nvPr>
            <p:ph type="sldNum" sz="quarter" idx="5"/>
          </p:nvPr>
        </p:nvSpPr>
        <p:spPr/>
        <p:txBody>
          <a:bodyPr/>
          <a:lstStyle/>
          <a:p>
            <a:fld id="{5B59519D-4284-4852-A67E-6B6EA261191A}" type="slidenum">
              <a:rPr lang="zh-TW" altLang="en-US" smtClean="0"/>
              <a:t>34</a:t>
            </a:fld>
            <a:endParaRPr lang="zh-TW" altLang="en-US"/>
          </a:p>
        </p:txBody>
      </p:sp>
    </p:spTree>
    <p:extLst>
      <p:ext uri="{BB962C8B-B14F-4D97-AF65-F5344CB8AC3E}">
        <p14:creationId xmlns:p14="http://schemas.microsoft.com/office/powerpoint/2010/main" val="3495433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hasCustomPrompt="1"/>
          </p:nvPr>
        </p:nvSpPr>
        <p:spPr/>
        <p:txBody>
          <a:bodyPr>
            <a:normAutofit/>
          </a:bodyPr>
          <a:lstStyle>
            <a:lvl1pPr>
              <a:defRPr sz="3600">
                <a:latin typeface="Times New Roman" panose="02020603050405020304" pitchFamily="18" charset="0"/>
                <a:cs typeface="Times New Roman" panose="02020603050405020304" pitchFamily="18" charset="0"/>
              </a:defRPr>
            </a:lvl1pPr>
          </a:lstStyle>
          <a:p>
            <a:r>
              <a:rPr lang="en-US" altLang="zh-TW" dirty="0"/>
              <a:t>time</a:t>
            </a:r>
            <a:endParaRPr lang="zh-TW" altLang="en-US" dirty="0"/>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vl2pPr>
              <a:defRPr>
                <a:latin typeface="Timetime"/>
              </a:defRPr>
            </a:lvl2pPr>
            <a:lvl3pPr>
              <a:defRPr>
                <a:latin typeface="Timetime"/>
              </a:defRPr>
            </a:lvl3pPr>
            <a:lvl4pPr>
              <a:defRPr>
                <a:latin typeface="Timetime"/>
              </a:defRPr>
            </a:lvl4pPr>
            <a:lvl5pPr>
              <a:defRPr>
                <a:latin typeface="Timetime"/>
              </a:defRPr>
            </a:lvl5pPr>
          </a:lstStyle>
          <a:p>
            <a:pPr lvl="0"/>
            <a:r>
              <a:rPr lang="en-US" altLang="zh-TW" dirty="0"/>
              <a:t>time</a:t>
            </a:r>
            <a:endParaRPr lang="zh-TW" altLang="en-US" dirty="0"/>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2021/10/6</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2021/10/6</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標楷體" panose="03000509000000000000" pitchFamily="65" charset="-12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9.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9.png"/><Relationship Id="rId10" Type="http://schemas.openxmlformats.org/officeDocument/2006/relationships/image" Target="../media/image35.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2.png"/><Relationship Id="rId3" Type="http://schemas.openxmlformats.org/officeDocument/2006/relationships/image" Target="../media/image30.png"/><Relationship Id="rId7" Type="http://schemas.openxmlformats.org/officeDocument/2006/relationships/image" Target="../media/image48.png"/><Relationship Id="rId12" Type="http://schemas.openxmlformats.org/officeDocument/2006/relationships/image" Target="../media/image45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4" Type="http://schemas.openxmlformats.org/officeDocument/2006/relationships/image" Target="../media/image490.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910.png"/></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60.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3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p:txBody>
          <a:bodyPr>
            <a:noAutofit/>
          </a:bodyPr>
          <a:lstStyle/>
          <a:p>
            <a:r>
              <a:rPr lang="en-US" altLang="zh-TW" sz="3600" b="0" i="0" dirty="0">
                <a:effectLst/>
                <a:latin typeface="Times New Roman" panose="02020603050405020304" pitchFamily="18" charset="0"/>
                <a:cs typeface="Times New Roman" panose="02020603050405020304" pitchFamily="18" charset="0"/>
              </a:rPr>
              <a:t>Total flow time minimization in a </a:t>
            </a:r>
            <a:r>
              <a:rPr lang="en-US" altLang="zh-TW" sz="3600" b="0" i="0" dirty="0" err="1">
                <a:effectLst/>
                <a:latin typeface="Times New Roman" panose="02020603050405020304" pitchFamily="18" charset="0"/>
                <a:cs typeface="Times New Roman" panose="02020603050405020304" pitchFamily="18" charset="0"/>
              </a:rPr>
              <a:t>flowshop</a:t>
            </a:r>
            <a:r>
              <a:rPr lang="en-US" altLang="zh-TW" sz="3600" b="0" i="0" dirty="0">
                <a:effectLst/>
                <a:latin typeface="Times New Roman" panose="02020603050405020304" pitchFamily="18" charset="0"/>
                <a:cs typeface="Times New Roman" panose="02020603050405020304" pitchFamily="18" charset="0"/>
              </a:rPr>
              <a:t> sequence-dependent group scheduling problem</a:t>
            </a:r>
            <a:br>
              <a:rPr lang="en-US" altLang="zh-TW" sz="3600" b="0" i="0" dirty="0">
                <a:effectLst/>
                <a:latin typeface="Times New Roman" panose="02020603050405020304" pitchFamily="18" charset="0"/>
                <a:cs typeface="Times New Roman" panose="02020603050405020304" pitchFamily="18" charset="0"/>
              </a:rPr>
            </a:b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a:xfrm>
            <a:off x="1524000" y="4117078"/>
            <a:ext cx="9144000" cy="1655762"/>
          </a:xfrm>
        </p:spPr>
        <p:txBody>
          <a:bodyPr/>
          <a:lstStyle/>
          <a:p>
            <a:pPr algn="ctr"/>
            <a:r>
              <a:rPr lang="en-US" altLang="zh-TW" b="0" i="0" u="none" strike="noStrike" dirty="0">
                <a:effectLst/>
              </a:rPr>
              <a:t>Computers &amp; Operations Research</a:t>
            </a:r>
            <a:endParaRPr lang="en-US" altLang="zh-TW" b="0" i="0" dirty="0">
              <a:effectLst/>
            </a:endParaRPr>
          </a:p>
          <a:p>
            <a:pPr algn="ctr"/>
            <a:r>
              <a:rPr lang="en-US" altLang="zh-TW" b="0" i="0" u="none" strike="noStrike" dirty="0">
                <a:effectLst/>
              </a:rPr>
              <a:t>Volume 37, Issue 1</a:t>
            </a:r>
            <a:r>
              <a:rPr lang="en-US" altLang="zh-TW" b="0" i="0" dirty="0">
                <a:effectLst/>
              </a:rPr>
              <a:t>, January 2010, Pages 199-212</a:t>
            </a:r>
          </a:p>
          <a:p>
            <a:endParaRPr lang="zh-TW" altLang="en-US" dirty="0"/>
          </a:p>
        </p:txBody>
      </p:sp>
      <p:sp>
        <p:nvSpPr>
          <p:cNvPr id="4" name="文字方塊 3">
            <a:extLst>
              <a:ext uri="{FF2B5EF4-FFF2-40B4-BE49-F238E27FC236}">
                <a16:creationId xmlns:a16="http://schemas.microsoft.com/office/drawing/2014/main" id="{40FFE7E6-65DC-48B5-BE71-C2B8082B40A2}"/>
              </a:ext>
            </a:extLst>
          </p:cNvPr>
          <p:cNvSpPr txBox="1"/>
          <p:nvPr/>
        </p:nvSpPr>
        <p:spPr>
          <a:xfrm>
            <a:off x="2955236" y="3628854"/>
            <a:ext cx="6891130" cy="369332"/>
          </a:xfrm>
          <a:prstGeom prst="rect">
            <a:avLst/>
          </a:prstGeom>
          <a:noFill/>
        </p:spPr>
        <p:txBody>
          <a:bodyPr wrap="square" rtlCol="0">
            <a:spAutoFit/>
          </a:bodyPr>
          <a:lstStyle/>
          <a:p>
            <a:r>
              <a:rPr lang="en-US" altLang="zh-TW" b="0" i="0" u="none" strike="noStrike" dirty="0">
                <a:effectLst/>
                <a:latin typeface="Times New Roman" panose="02020603050405020304" pitchFamily="18" charset="0"/>
                <a:cs typeface="Times New Roman" panose="02020603050405020304" pitchFamily="18" charset="0"/>
              </a:rPr>
              <a:t>NasserSalmasi , RasaratnamLogendran   ,Mohammad RezaSkandari</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1629A1C2-2C10-4598-8D0A-90F2A3AF486D}"/>
              </a:ext>
            </a:extLst>
          </p:cNvPr>
          <p:cNvSpPr txBox="1"/>
          <p:nvPr/>
        </p:nvSpPr>
        <p:spPr>
          <a:xfrm>
            <a:off x="8931966" y="5449674"/>
            <a:ext cx="2822713" cy="646331"/>
          </a:xfrm>
          <a:prstGeom prst="rect">
            <a:avLst/>
          </a:prstGeom>
          <a:noFill/>
        </p:spPr>
        <p:txBody>
          <a:bodyPr wrap="square" rtlCol="0">
            <a:spAutoFit/>
          </a:bodyPr>
          <a:lstStyle/>
          <a:p>
            <a:r>
              <a:rPr lang="en-US" altLang="zh-TW" dirty="0"/>
              <a:t>Date: Oct. 6, 2021</a:t>
            </a:r>
          </a:p>
          <a:p>
            <a:r>
              <a:rPr lang="en-US" altLang="zh-TW" dirty="0"/>
              <a:t>Presenter: </a:t>
            </a:r>
            <a:r>
              <a:rPr lang="en-US" altLang="zh-TW" dirty="0" err="1"/>
              <a:t>Jue</a:t>
            </a:r>
            <a:r>
              <a:rPr lang="en-US" altLang="zh-TW" dirty="0"/>
              <a:t>-Jun, Wu</a:t>
            </a:r>
            <a:endParaRPr lang="zh-TW" altLang="en-US" dirty="0"/>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FACACB-21FF-4651-8875-DE7BCF3D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8841ED0-52AB-4A81-88B6-52C1996329EA}"/>
              </a:ext>
            </a:extLst>
          </p:cNvPr>
          <p:cNvSpPr>
            <a:spLocks noGrp="1"/>
          </p:cNvSpPr>
          <p:nvPr>
            <p:ph idx="1"/>
          </p:nvPr>
        </p:nvSpPr>
        <p:spPr>
          <a:xfrm>
            <a:off x="394447" y="1255059"/>
            <a:ext cx="11665031" cy="5410784"/>
          </a:xfrm>
        </p:spPr>
        <p:txBody>
          <a:bodyPr>
            <a:normAutofit lnSpcReduction="10000"/>
          </a:bodyPr>
          <a:lstStyle/>
          <a:p>
            <a:pPr marL="0" indent="0">
              <a:buNone/>
            </a:pPr>
            <a:r>
              <a:rPr lang="en-US" altLang="zh-TW" b="0" i="0" dirty="0">
                <a:effectLst/>
              </a:rPr>
              <a:t>    We have developed a mathematical programming model for minimizing total flow time of the flow shop sequence dependent group scheduling (FSDGS) problem, typically classified as </a:t>
            </a:r>
            <a:r>
              <a:rPr lang="en-US" altLang="zh-TW" b="0" i="1" dirty="0" err="1">
                <a:effectLst/>
              </a:rPr>
              <a:t>F</a:t>
            </a:r>
            <a:r>
              <a:rPr lang="en-US" altLang="zh-TW" b="0" i="1" baseline="-25000" dirty="0" err="1">
                <a:effectLst/>
              </a:rPr>
              <a:t>m</a:t>
            </a:r>
            <a:r>
              <a:rPr lang="en-US" altLang="zh-TW" b="0" i="0" dirty="0" err="1">
                <a:effectLst/>
              </a:rPr>
              <a:t>|</a:t>
            </a:r>
            <a:r>
              <a:rPr lang="en-US" altLang="zh-TW" b="0" i="1" dirty="0" err="1">
                <a:effectLst/>
              </a:rPr>
              <a:t>fmls</a:t>
            </a:r>
            <a:r>
              <a:rPr lang="en-US" altLang="zh-TW" b="0" i="0" dirty="0">
                <a:effectLst/>
              </a:rPr>
              <a:t>, </a:t>
            </a:r>
            <a:r>
              <a:rPr lang="en-US" altLang="zh-TW" b="0" i="1" dirty="0" err="1">
                <a:effectLst/>
              </a:rPr>
              <a:t>S</a:t>
            </a:r>
            <a:r>
              <a:rPr lang="en-US" altLang="zh-TW" b="0" i="1" baseline="-25000" dirty="0" err="1">
                <a:effectLst/>
              </a:rPr>
              <a:t>plk</a:t>
            </a:r>
            <a:r>
              <a:rPr lang="en-US" altLang="zh-TW" b="0" i="0" dirty="0">
                <a:effectLst/>
              </a:rPr>
              <a:t>, </a:t>
            </a:r>
            <a:r>
              <a:rPr lang="en-US" altLang="zh-TW" b="0" i="1" dirty="0" err="1">
                <a:effectLst/>
              </a:rPr>
              <a:t>prmu</a:t>
            </a:r>
            <a:r>
              <a:rPr lang="en-US" altLang="zh-TW" b="0" i="0" dirty="0">
                <a:effectLst/>
              </a:rPr>
              <a:t>|∑</a:t>
            </a:r>
            <a:r>
              <a:rPr lang="en-US" altLang="zh-TW" b="0" i="1" dirty="0" err="1">
                <a:effectLst/>
              </a:rPr>
              <a:t>C</a:t>
            </a:r>
            <a:r>
              <a:rPr lang="en-US" altLang="zh-TW" b="0" i="1" baseline="-25000" dirty="0" err="1">
                <a:effectLst/>
              </a:rPr>
              <a:t>j</a:t>
            </a:r>
            <a:r>
              <a:rPr lang="en-US" altLang="zh-TW" b="0" i="0" dirty="0">
                <a:effectLst/>
              </a:rPr>
              <a:t>. As the problem is shown to be strongly NP-hard, a tabu search (TS) algorithm as well as a hybrid ant colony optimization (HACO) algorithm have been developed to heuristically solve the problem. A lower bounding (LB) method based on the Branch-and-Price algorithm is also developed to evaluate the quality of the metaheuristic algorithms. In order to compare the performance of metaheuristic algorithms, random test problems, ranging in size from small, medium, to large are created and solved by both the TS and the HACO algorithms. A comparison shows that the HACO algorithm has a better performance than the TS algorithm. The results of the heuristic algorithms are also compared with the results of the LB method to evaluate the quality of the solutions. The LB method presented in this paper can be generalized to solve the FSDGS problem with other objective functions.</a:t>
            </a:r>
            <a:endParaRPr lang="zh-TW" altLang="en-US" dirty="0"/>
          </a:p>
        </p:txBody>
      </p:sp>
    </p:spTree>
    <p:extLst>
      <p:ext uri="{BB962C8B-B14F-4D97-AF65-F5344CB8AC3E}">
        <p14:creationId xmlns:p14="http://schemas.microsoft.com/office/powerpoint/2010/main" val="356833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EC7FA36-95C1-49DA-B39E-63D7280578D4}"/>
              </a:ext>
            </a:extLst>
          </p:cNvPr>
          <p:cNvSpPr>
            <a:spLocks noGrp="1" noChangeArrowheads="1"/>
          </p:cNvSpPr>
          <p:nvPr>
            <p:ph idx="1"/>
          </p:nvPr>
        </p:nvSpPr>
        <p:spPr bwMode="auto">
          <a:xfrm>
            <a:off x="448234" y="740492"/>
            <a:ext cx="11743766"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2352"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indent="-457200"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rgbClr val="2E2E2E"/>
                </a:solidFill>
                <a:effectLst/>
                <a:latin typeface="Times New Roman" panose="02020603050405020304" pitchFamily="18" charset="0"/>
                <a:ea typeface="NexusSerif"/>
              </a:rPr>
              <a:t>It is assumed that in a flow shop environment, </a:t>
            </a:r>
            <a:r>
              <a:rPr kumimoji="0" lang="zh-TW" altLang="zh-TW" sz="2400" b="0" i="1" u="none" strike="noStrike" cap="none" normalizeH="0" baseline="0" dirty="0">
                <a:ln>
                  <a:noFill/>
                </a:ln>
                <a:solidFill>
                  <a:srgbClr val="2E2E2E"/>
                </a:solidFill>
                <a:effectLst/>
                <a:latin typeface="Times New Roman" panose="02020603050405020304" pitchFamily="18" charset="0"/>
                <a:ea typeface="NexusSerif"/>
              </a:rPr>
              <a:t>g</a:t>
            </a:r>
            <a:r>
              <a:rPr kumimoji="0" lang="zh-TW" altLang="zh-TW" sz="2400" b="0" i="0" u="none" strike="noStrike" cap="none" normalizeH="0" baseline="0" dirty="0">
                <a:ln>
                  <a:noFill/>
                </a:ln>
                <a:solidFill>
                  <a:srgbClr val="2E2E2E"/>
                </a:solidFill>
                <a:effectLst/>
                <a:latin typeface="Times New Roman" panose="02020603050405020304" pitchFamily="18" charset="0"/>
                <a:ea typeface="NexusSerif"/>
              </a:rPr>
              <a:t> groups are assigned to a cell that has </a:t>
            </a:r>
            <a:r>
              <a:rPr kumimoji="0" lang="zh-TW" altLang="zh-TW" sz="2400" b="0" i="1" u="none" strike="noStrike" cap="none" normalizeH="0" baseline="0" dirty="0">
                <a:ln>
                  <a:noFill/>
                </a:ln>
                <a:solidFill>
                  <a:srgbClr val="2E2E2E"/>
                </a:solidFill>
                <a:effectLst/>
                <a:latin typeface="Times New Roman" panose="02020603050405020304" pitchFamily="18" charset="0"/>
                <a:ea typeface="NexusSerif"/>
              </a:rPr>
              <a:t>m</a:t>
            </a:r>
            <a:r>
              <a:rPr kumimoji="0" lang="zh-TW" altLang="zh-TW" sz="2400" b="0" i="0" u="none" strike="noStrike" cap="none" normalizeH="0" baseline="0" dirty="0">
                <a:ln>
                  <a:noFill/>
                </a:ln>
                <a:solidFill>
                  <a:srgbClr val="2E2E2E"/>
                </a:solidFill>
                <a:effectLst/>
                <a:latin typeface="Times New Roman" panose="02020603050405020304" pitchFamily="18" charset="0"/>
                <a:ea typeface="NexusSerif"/>
              </a:rPr>
              <a:t> machines (</a:t>
            </a:r>
            <a:r>
              <a:rPr kumimoji="0" lang="zh-TW" altLang="zh-TW" sz="2400" b="0" i="1" u="none" strike="noStrike" cap="none" normalizeH="0" baseline="0" dirty="0">
                <a:ln>
                  <a:noFill/>
                </a:ln>
                <a:solidFill>
                  <a:srgbClr val="2E2E2E"/>
                </a:solidFill>
                <a:effectLst/>
                <a:latin typeface="Times New Roman" panose="02020603050405020304" pitchFamily="18" charset="0"/>
                <a:ea typeface="NexusSerif"/>
              </a:rPr>
              <a:t>F</a:t>
            </a:r>
            <a:r>
              <a:rPr kumimoji="0" lang="zh-TW" altLang="zh-TW" sz="1400" b="0" i="1" u="none" strike="noStrike" cap="none" normalizeH="0" baseline="-30000" dirty="0">
                <a:ln>
                  <a:noFill/>
                </a:ln>
                <a:solidFill>
                  <a:srgbClr val="2E2E2E"/>
                </a:solidFill>
                <a:effectLst/>
                <a:latin typeface="Times New Roman" panose="02020603050405020304" pitchFamily="18" charset="0"/>
                <a:ea typeface="NexusSerif"/>
              </a:rPr>
              <a:t>m</a:t>
            </a:r>
            <a:r>
              <a:rPr kumimoji="0" lang="zh-TW" altLang="zh-TW" sz="2400" b="0" i="0" u="none" strike="noStrike" cap="none" normalizeH="0" baseline="0" dirty="0">
                <a:ln>
                  <a:noFill/>
                </a:ln>
                <a:solidFill>
                  <a:srgbClr val="2E2E2E"/>
                </a:solidFill>
                <a:effectLst/>
                <a:latin typeface="Times New Roman" panose="02020603050405020304" pitchFamily="18" charset="0"/>
                <a:ea typeface="NexusSerif"/>
              </a:rPr>
              <a: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Each group (p=1,2,…,g) includes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b</a:t>
            </a:r>
            <a:r>
              <a:rPr kumimoji="0" lang="zh-TW" altLang="zh-TW" sz="1400" b="0" i="1" u="none" strike="noStrike" cap="none" normalizeH="0" baseline="-30000" dirty="0">
                <a:ln>
                  <a:noFill/>
                </a:ln>
                <a:solidFill>
                  <a:srgbClr val="2E2E2E"/>
                </a:solidFill>
                <a:effectLst/>
                <a:latin typeface="Times New Roman" panose="02020603050405020304" pitchFamily="18" charset="0"/>
                <a:ea typeface="NexusSerif"/>
              </a:rPr>
              <a:t>p</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 jobs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fmls</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The setup time of a group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l</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 on each machine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k</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 depends on the immediately preceding group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p</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 that is processed on that machine (i.e., sequence dependent setup time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s</a:t>
            </a:r>
            <a:r>
              <a:rPr kumimoji="0" lang="zh-TW" altLang="zh-TW" sz="1400" b="0" i="1" u="none" strike="noStrike" cap="none" normalizeH="0" baseline="-30000" dirty="0">
                <a:ln>
                  <a:noFill/>
                </a:ln>
                <a:solidFill>
                  <a:srgbClr val="2E2E2E"/>
                </a:solidFill>
                <a:effectLst/>
                <a:latin typeface="Times New Roman" panose="02020603050405020304" pitchFamily="18" charset="0"/>
                <a:ea typeface="NexusSerif"/>
              </a:rPr>
              <a:t>plk</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The setup time of each group on each machine can be different.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All jobs and groups are processed in the same sequence on all machines (permutation scheduling (</a:t>
            </a:r>
            <a:r>
              <a:rPr kumimoji="0" lang="zh-TW" altLang="zh-TW" b="0" i="1" u="none" strike="noStrike" cap="none" normalizeH="0" baseline="0" dirty="0">
                <a:ln>
                  <a:noFill/>
                </a:ln>
                <a:solidFill>
                  <a:srgbClr val="2E2E2E"/>
                </a:solidFill>
                <a:effectLst/>
                <a:latin typeface="Times New Roman" panose="02020603050405020304" pitchFamily="18" charset="0"/>
                <a:ea typeface="NexusSerif"/>
              </a:rPr>
              <a:t>prmu</a:t>
            </a: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 This is the only way to produce in some industries. For instance, if a conveyer is used to move jobs between machines, then all jobs should be processed in the same sequence on all machines.</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Each job of a group does not need a separate setup time. If it does, the required setup time is assumed to be included in its runtime.</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The setup process of a machine for a group can be started before a job that belongs to the group is available (anticipatory).</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zh-TW" altLang="zh-TW" b="0" i="0" u="none" strike="noStrike" cap="none" normalizeH="0" baseline="0" dirty="0">
                <a:ln>
                  <a:noFill/>
                </a:ln>
                <a:solidFill>
                  <a:srgbClr val="2E2E2E"/>
                </a:solidFill>
                <a:effectLst/>
                <a:latin typeface="Times New Roman" panose="02020603050405020304" pitchFamily="18" charset="0"/>
                <a:ea typeface="NexusSerif"/>
              </a:rPr>
              <a:t>The jobs belonging to each group should be processed without any preemption by other jobs of other groups (group technology assumption).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2400" b="0" i="0" u="none" strike="noStrike" cap="none" normalizeH="0" baseline="0" dirty="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248982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7E1D73-B4E7-4152-9275-30E44B3DD06B}"/>
              </a:ext>
            </a:extLst>
          </p:cNvPr>
          <p:cNvSpPr>
            <a:spLocks noGrp="1"/>
          </p:cNvSpPr>
          <p:nvPr>
            <p:ph type="title"/>
          </p:nvPr>
        </p:nvSpPr>
        <p:spPr/>
        <p:txBody>
          <a:bodyPr/>
          <a:lstStyle/>
          <a:p>
            <a:r>
              <a:rPr lang="en-US" altLang="zh-TW" dirty="0"/>
              <a:t>B</a:t>
            </a:r>
            <a:r>
              <a:rPr lang="en-US" altLang="zh-TW" b="0" i="0" dirty="0">
                <a:effectLst/>
              </a:rPr>
              <a:t>ranch and price</a:t>
            </a:r>
            <a:r>
              <a:rPr lang="zh-TW" altLang="en-US" dirty="0"/>
              <a:t> </a:t>
            </a:r>
            <a:r>
              <a:rPr lang="en-US" altLang="zh-TW" dirty="0"/>
              <a:t>algorithm</a:t>
            </a:r>
            <a:endParaRPr lang="zh-TW" altLang="en-US" dirty="0"/>
          </a:p>
        </p:txBody>
      </p:sp>
      <p:sp>
        <p:nvSpPr>
          <p:cNvPr id="3" name="內容版面配置區 2">
            <a:extLst>
              <a:ext uri="{FF2B5EF4-FFF2-40B4-BE49-F238E27FC236}">
                <a16:creationId xmlns:a16="http://schemas.microsoft.com/office/drawing/2014/main" id="{F0F6049E-8639-45E5-B83A-285D445F67B2}"/>
              </a:ext>
            </a:extLst>
          </p:cNvPr>
          <p:cNvSpPr>
            <a:spLocks noGrp="1"/>
          </p:cNvSpPr>
          <p:nvPr>
            <p:ph idx="1"/>
          </p:nvPr>
        </p:nvSpPr>
        <p:spPr/>
        <p:txBody>
          <a:bodyPr/>
          <a:lstStyle/>
          <a:p>
            <a:pPr marL="0" indent="0">
              <a:buNone/>
            </a:pPr>
            <a:r>
              <a:rPr lang="en-US" altLang="zh-TW" dirty="0"/>
              <a:t>B</a:t>
            </a:r>
            <a:r>
              <a:rPr lang="en-US" altLang="zh-TW" b="0" i="0" dirty="0">
                <a:effectLst/>
              </a:rPr>
              <a:t>ranch and price</a:t>
            </a:r>
            <a:r>
              <a:rPr lang="zh-TW" altLang="en-US" dirty="0"/>
              <a:t> </a:t>
            </a:r>
            <a:r>
              <a:rPr lang="en-US" altLang="zh-TW" dirty="0"/>
              <a:t>algorithm is the combination of </a:t>
            </a:r>
            <a:r>
              <a:rPr lang="en-US" altLang="zh-TW" b="0" i="0" dirty="0">
                <a:effectLst/>
              </a:rPr>
              <a:t>branch and bound</a:t>
            </a:r>
            <a:r>
              <a:rPr lang="zh-TW" altLang="en-US" dirty="0"/>
              <a:t> </a:t>
            </a:r>
            <a:r>
              <a:rPr lang="en-US" altLang="zh-TW" dirty="0"/>
              <a:t>and</a:t>
            </a:r>
            <a:r>
              <a:rPr lang="zh-TW" altLang="en-US" dirty="0"/>
              <a:t> </a:t>
            </a:r>
            <a:r>
              <a:rPr lang="en-US" altLang="zh-TW" b="0" i="0" dirty="0">
                <a:effectLst/>
              </a:rPr>
              <a:t>column generation.</a:t>
            </a:r>
            <a:endParaRPr lang="zh-TW" altLang="en-US" dirty="0"/>
          </a:p>
        </p:txBody>
      </p:sp>
    </p:spTree>
    <p:extLst>
      <p:ext uri="{BB962C8B-B14F-4D97-AF65-F5344CB8AC3E}">
        <p14:creationId xmlns:p14="http://schemas.microsoft.com/office/powerpoint/2010/main" val="72601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32BC8F1-7ABC-4154-AED8-0AE9747796F0}"/>
                  </a:ext>
                </a:extLst>
              </p:cNvPr>
              <p:cNvSpPr>
                <a:spLocks noGrp="1"/>
              </p:cNvSpPr>
              <p:nvPr>
                <p:ph idx="1"/>
              </p:nvPr>
            </p:nvSpPr>
            <p:spPr>
              <a:xfrm>
                <a:off x="838200" y="1850581"/>
                <a:ext cx="10515600" cy="4351338"/>
              </a:xfrm>
            </p:spPr>
            <p:txBody>
              <a:bodyPr/>
              <a:lstStyle/>
              <a:p>
                <a:pPr marL="0" indent="0">
                  <a:buNone/>
                </a:pPr>
                <a:r>
                  <a:rPr lang="zh-TW" altLang="en-US" sz="2800" dirty="0">
                    <a:latin typeface="標楷體" panose="03000509000000000000" pitchFamily="65" charset="-120"/>
                    <a:ea typeface="標楷體" panose="03000509000000000000" pitchFamily="65" charset="-120"/>
                  </a:rPr>
                  <a:t>紙捲每個長</a:t>
                </a:r>
                <a:r>
                  <a:rPr lang="en-US" altLang="zh-TW" sz="2800" dirty="0">
                    <a:latin typeface="標楷體" panose="03000509000000000000" pitchFamily="65" charset="-120"/>
                    <a:ea typeface="標楷體" panose="03000509000000000000" pitchFamily="65" charset="-120"/>
                  </a:rPr>
                  <a:t>17</a:t>
                </a:r>
                <a:r>
                  <a:rPr lang="zh-TW" altLang="en-US" sz="2800" dirty="0">
                    <a:latin typeface="標楷體" panose="03000509000000000000" pitchFamily="65" charset="-120"/>
                    <a:ea typeface="標楷體" panose="03000509000000000000" pitchFamily="65" charset="-120"/>
                  </a:rPr>
                  <a:t>公尺，顧客分別要</a:t>
                </a:r>
                <a:r>
                  <a:rPr lang="en-US" altLang="zh-TW" sz="2800" dirty="0">
                    <a:latin typeface="標楷體" panose="03000509000000000000" pitchFamily="65" charset="-120"/>
                    <a:ea typeface="標楷體" panose="03000509000000000000" pitchFamily="65" charset="-120"/>
                  </a:rPr>
                  <a:t>25</a:t>
                </a:r>
                <a:r>
                  <a:rPr lang="zh-TW" altLang="en-US" sz="2800" dirty="0">
                    <a:latin typeface="標楷體" panose="03000509000000000000" pitchFamily="65" charset="-120"/>
                    <a:ea typeface="標楷體" panose="03000509000000000000" pitchFamily="65" charset="-120"/>
                  </a:rPr>
                  <a:t>個</a:t>
                </a:r>
                <a:r>
                  <a:rPr lang="en-US" altLang="zh-TW" sz="2800" dirty="0">
                    <a:latin typeface="標楷體" panose="03000509000000000000" pitchFamily="65" charset="-120"/>
                    <a:ea typeface="標楷體" panose="03000509000000000000" pitchFamily="65" charset="-120"/>
                  </a:rPr>
                  <a:t>3</a:t>
                </a:r>
                <a:r>
                  <a:rPr lang="zh-TW" altLang="en-US" sz="2800" dirty="0">
                    <a:latin typeface="標楷體" panose="03000509000000000000" pitchFamily="65" charset="-120"/>
                    <a:ea typeface="標楷體" panose="03000509000000000000" pitchFamily="65" charset="-120"/>
                  </a:rPr>
                  <a:t>公尺的，</a:t>
                </a:r>
                <a:r>
                  <a:rPr lang="en-US" altLang="zh-TW" sz="2800" dirty="0">
                    <a:latin typeface="標楷體" panose="03000509000000000000" pitchFamily="65" charset="-120"/>
                    <a:ea typeface="標楷體" panose="03000509000000000000" pitchFamily="65" charset="-120"/>
                  </a:rPr>
                  <a:t>20</a:t>
                </a:r>
                <a:r>
                  <a:rPr lang="zh-TW" altLang="en-US" sz="2800" dirty="0">
                    <a:latin typeface="標楷體" panose="03000509000000000000" pitchFamily="65" charset="-120"/>
                    <a:ea typeface="標楷體" panose="03000509000000000000" pitchFamily="65" charset="-120"/>
                  </a:rPr>
                  <a:t>個</a:t>
                </a:r>
                <a:r>
                  <a:rPr lang="en-US" altLang="zh-TW" sz="2800" dirty="0">
                    <a:latin typeface="標楷體" panose="03000509000000000000" pitchFamily="65" charset="-120"/>
                    <a:ea typeface="標楷體" panose="03000509000000000000" pitchFamily="65" charset="-120"/>
                  </a:rPr>
                  <a:t>5</a:t>
                </a:r>
                <a:r>
                  <a:rPr lang="zh-TW" altLang="en-US" sz="2800" dirty="0">
                    <a:latin typeface="標楷體" panose="03000509000000000000" pitchFamily="65" charset="-120"/>
                    <a:ea typeface="標楷體" panose="03000509000000000000" pitchFamily="65" charset="-120"/>
                  </a:rPr>
                  <a:t>公尺的，</a:t>
                </a:r>
                <a:r>
                  <a:rPr lang="en-US" altLang="zh-TW" sz="2800" dirty="0">
                    <a:latin typeface="標楷體" panose="03000509000000000000" pitchFamily="65" charset="-120"/>
                    <a:ea typeface="標楷體" panose="03000509000000000000" pitchFamily="65" charset="-120"/>
                  </a:rPr>
                  <a:t>15</a:t>
                </a:r>
                <a:r>
                  <a:rPr lang="zh-TW" altLang="en-US" sz="2800" dirty="0">
                    <a:latin typeface="標楷體" panose="03000509000000000000" pitchFamily="65" charset="-120"/>
                    <a:ea typeface="標楷體" panose="03000509000000000000" pitchFamily="65" charset="-120"/>
                  </a:rPr>
                  <a:t>個</a:t>
                </a:r>
                <a:r>
                  <a:rPr lang="en-US" altLang="zh-TW" dirty="0">
                    <a:latin typeface="標楷體" panose="03000509000000000000" pitchFamily="65" charset="-120"/>
                  </a:rPr>
                  <a:t>9</a:t>
                </a:r>
                <a:r>
                  <a:rPr lang="zh-TW" altLang="en-US" sz="2800" dirty="0">
                    <a:latin typeface="標楷體" panose="03000509000000000000" pitchFamily="65" charset="-120"/>
                    <a:ea typeface="標楷體" panose="03000509000000000000" pitchFamily="65" charset="-120"/>
                  </a:rPr>
                  <a:t>公尺長的紙捲，怎樣的切割才能浪費的最少</a:t>
                </a:r>
                <a:r>
                  <a:rPr lang="en-US" altLang="zh-TW" sz="2800" dirty="0">
                    <a:latin typeface="標楷體" panose="03000509000000000000" pitchFamily="65" charset="-120"/>
                    <a:ea typeface="標楷體" panose="03000509000000000000" pitchFamily="65" charset="-120"/>
                  </a:rPr>
                  <a:t>?</a:t>
                </a:r>
              </a:p>
              <a:p>
                <a:pPr marL="0" indent="0">
                  <a:buNone/>
                </a:pPr>
                <a:r>
                  <a:rPr lang="en-US" altLang="zh-TW" dirty="0">
                    <a:latin typeface="標楷體" panose="03000509000000000000" pitchFamily="65" charset="-120"/>
                  </a:rPr>
                  <a:t>Min z = 17(</a:t>
                </a:r>
                <a14:m>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2</m:t>
                        </m:r>
                      </m:sub>
                    </m:sSub>
                    <m:r>
                      <a:rPr lang="en-US" altLang="zh-TW" i="1" smtClean="0">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3</m:t>
                        </m:r>
                      </m:sub>
                    </m:sSub>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4</m:t>
                        </m:r>
                      </m:sub>
                    </m:sSub>
                    <m:r>
                      <a:rPr lang="en-US" altLang="zh-TW" i="1">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5</m:t>
                        </m:r>
                      </m:sub>
                    </m:sSub>
                  </m:oMath>
                </a14:m>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r>
                  <a:rPr lang="en-US" altLang="zh-TW" dirty="0">
                    <a:ea typeface="Cambria Math" panose="02040503050406030204" pitchFamily="18" charset="0"/>
                  </a:rPr>
                  <a:t>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6</m:t>
                        </m:r>
                      </m:sub>
                    </m:sSub>
                  </m:oMath>
                </a14:m>
                <a:r>
                  <a:rPr lang="en-US" altLang="zh-TW" sz="2800" dirty="0">
                    <a:latin typeface="標楷體" panose="03000509000000000000" pitchFamily="65" charset="-120"/>
                    <a:ea typeface="標楷體" panose="03000509000000000000" pitchFamily="65" charset="-120"/>
                  </a:rPr>
                  <a:t>)-310</a:t>
                </a:r>
              </a:p>
              <a:p>
                <a:endParaRPr lang="en-US" altLang="zh-TW" dirty="0">
                  <a:latin typeface="標楷體" panose="03000509000000000000" pitchFamily="65" charset="-120"/>
                </a:endParaRPr>
              </a:p>
              <a:p>
                <a:endParaRPr lang="en-US" altLang="zh-TW" sz="2800" dirty="0">
                  <a:latin typeface="標楷體" panose="03000509000000000000" pitchFamily="65" charset="-120"/>
                  <a:ea typeface="標楷體" panose="03000509000000000000" pitchFamily="65" charset="-120"/>
                </a:endParaRPr>
              </a:p>
              <a:p>
                <a:endParaRPr lang="en-US" altLang="zh-TW" sz="2800" dirty="0">
                  <a:latin typeface="標楷體" panose="03000509000000000000" pitchFamily="65" charset="-120"/>
                  <a:ea typeface="標楷體" panose="03000509000000000000" pitchFamily="65" charset="-120"/>
                </a:endParaRPr>
              </a:p>
              <a:p>
                <a:endParaRPr lang="en-US" altLang="zh-TW" sz="2800" dirty="0">
                  <a:latin typeface="標楷體" panose="03000509000000000000" pitchFamily="65" charset="-120"/>
                  <a:ea typeface="標楷體" panose="03000509000000000000" pitchFamily="65" charset="-120"/>
                </a:endParaRPr>
              </a:p>
              <a:p>
                <a:endParaRPr lang="en-US" altLang="zh-TW" dirty="0"/>
              </a:p>
              <a:p>
                <a:endParaRPr lang="zh-TW" altLang="en-US" dirty="0"/>
              </a:p>
            </p:txBody>
          </p:sp>
        </mc:Choice>
        <mc:Fallback xmlns="">
          <p:sp>
            <p:nvSpPr>
              <p:cNvPr id="3" name="內容版面配置區 2">
                <a:extLst>
                  <a:ext uri="{FF2B5EF4-FFF2-40B4-BE49-F238E27FC236}">
                    <a16:creationId xmlns:a16="http://schemas.microsoft.com/office/drawing/2014/main" id="{832BC8F1-7ABC-4154-AED8-0AE9747796F0}"/>
                  </a:ext>
                </a:extLst>
              </p:cNvPr>
              <p:cNvSpPr>
                <a:spLocks noGrp="1" noRot="1" noChangeAspect="1" noMove="1" noResize="1" noEditPoints="1" noAdjustHandles="1" noChangeArrowheads="1" noChangeShapeType="1" noTextEdit="1"/>
              </p:cNvSpPr>
              <p:nvPr>
                <p:ph idx="1"/>
              </p:nvPr>
            </p:nvSpPr>
            <p:spPr>
              <a:xfrm>
                <a:off x="838200" y="1850581"/>
                <a:ext cx="10515600" cy="4351338"/>
              </a:xfrm>
              <a:blipFill>
                <a:blip r:embed="rId3"/>
                <a:stretch>
                  <a:fillRect l="-1217" t="-2525" r="-986"/>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1E4EE829-BEFD-418A-AD3D-15B3602BDDDD}"/>
              </a:ext>
            </a:extLst>
          </p:cNvPr>
          <p:cNvGraphicFramePr>
            <a:graphicFrameLocks/>
          </p:cNvGraphicFramePr>
          <p:nvPr>
            <p:extLst>
              <p:ext uri="{D42A27DB-BD31-4B8C-83A1-F6EECF244321}">
                <p14:modId xmlns:p14="http://schemas.microsoft.com/office/powerpoint/2010/main" val="2895234905"/>
              </p:ext>
            </p:extLst>
          </p:nvPr>
        </p:nvGraphicFramePr>
        <p:xfrm>
          <a:off x="4446495" y="3631904"/>
          <a:ext cx="7603069" cy="3071903"/>
        </p:xfrm>
        <a:graphic>
          <a:graphicData uri="http://schemas.openxmlformats.org/drawingml/2006/table">
            <a:tbl>
              <a:tblPr firstRow="1" bandRow="1">
                <a:tableStyleId>{5C22544A-7EE6-4342-B048-85BDC9FD1C3A}</a:tableStyleId>
              </a:tblPr>
              <a:tblGrid>
                <a:gridCol w="1963915">
                  <a:extLst>
                    <a:ext uri="{9D8B030D-6E8A-4147-A177-3AD203B41FA5}">
                      <a16:colId xmlns:a16="http://schemas.microsoft.com/office/drawing/2014/main" val="392958277"/>
                    </a:ext>
                  </a:extLst>
                </a:gridCol>
                <a:gridCol w="1376428">
                  <a:extLst>
                    <a:ext uri="{9D8B030D-6E8A-4147-A177-3AD203B41FA5}">
                      <a16:colId xmlns:a16="http://schemas.microsoft.com/office/drawing/2014/main" val="502916786"/>
                    </a:ext>
                  </a:extLst>
                </a:gridCol>
                <a:gridCol w="1443789">
                  <a:extLst>
                    <a:ext uri="{9D8B030D-6E8A-4147-A177-3AD203B41FA5}">
                      <a16:colId xmlns:a16="http://schemas.microsoft.com/office/drawing/2014/main" val="2923496397"/>
                    </a:ext>
                  </a:extLst>
                </a:gridCol>
                <a:gridCol w="1298323">
                  <a:extLst>
                    <a:ext uri="{9D8B030D-6E8A-4147-A177-3AD203B41FA5}">
                      <a16:colId xmlns:a16="http://schemas.microsoft.com/office/drawing/2014/main" val="3903015587"/>
                    </a:ext>
                  </a:extLst>
                </a:gridCol>
                <a:gridCol w="1520614">
                  <a:extLst>
                    <a:ext uri="{9D8B030D-6E8A-4147-A177-3AD203B41FA5}">
                      <a16:colId xmlns:a16="http://schemas.microsoft.com/office/drawing/2014/main" val="2417946123"/>
                    </a:ext>
                  </a:extLst>
                </a:gridCol>
              </a:tblGrid>
              <a:tr h="511583">
                <a:tc>
                  <a:txBody>
                    <a:bodyPr/>
                    <a:lstStyle/>
                    <a:p>
                      <a:pPr algn="ctr"/>
                      <a:r>
                        <a:rPr lang="en-US" altLang="zh-TW" dirty="0">
                          <a:solidFill>
                            <a:schemeClr val="tx1"/>
                          </a:solidFill>
                        </a:rPr>
                        <a:t>Combination</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3m</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5m</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9m</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waste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424521"/>
                  </a:ext>
                </a:extLst>
              </a:tr>
              <a:tr h="292333">
                <a:tc>
                  <a:txBody>
                    <a:bodyPr/>
                    <a:lstStyle/>
                    <a:p>
                      <a:pPr algn="ctr"/>
                      <a:r>
                        <a:rPr lang="en-US" altLang="zh-TW" dirty="0">
                          <a:solidFill>
                            <a:schemeClr val="tx1"/>
                          </a:solidFill>
                        </a:rPr>
                        <a:t>X1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50049"/>
                  </a:ext>
                </a:extLst>
              </a:tr>
              <a:tr h="292333">
                <a:tc>
                  <a:txBody>
                    <a:bodyPr/>
                    <a:lstStyle/>
                    <a:p>
                      <a:pPr algn="ctr"/>
                      <a:r>
                        <a:rPr lang="en-US" altLang="zh-TW" dirty="0">
                          <a:solidFill>
                            <a:schemeClr val="tx1"/>
                          </a:solidFill>
                        </a:rPr>
                        <a:t>X2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182235"/>
                  </a:ext>
                </a:extLst>
              </a:tr>
              <a:tr h="292333">
                <a:tc>
                  <a:txBody>
                    <a:bodyPr/>
                    <a:lstStyle/>
                    <a:p>
                      <a:pPr algn="ctr"/>
                      <a:r>
                        <a:rPr lang="en-US" altLang="zh-TW" dirty="0">
                          <a:solidFill>
                            <a:schemeClr val="tx1"/>
                          </a:solidFill>
                        </a:rPr>
                        <a:t>X3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249908"/>
                  </a:ext>
                </a:extLst>
              </a:tr>
              <a:tr h="292333">
                <a:tc>
                  <a:txBody>
                    <a:bodyPr/>
                    <a:lstStyle/>
                    <a:p>
                      <a:pPr algn="ctr"/>
                      <a:r>
                        <a:rPr lang="en-US" altLang="zh-TW" dirty="0">
                          <a:solidFill>
                            <a:schemeClr val="tx1"/>
                          </a:solidFill>
                        </a:rPr>
                        <a:t>X4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183863"/>
                  </a:ext>
                </a:extLst>
              </a:tr>
              <a:tr h="292333">
                <a:tc>
                  <a:txBody>
                    <a:bodyPr/>
                    <a:lstStyle/>
                    <a:p>
                      <a:pPr algn="ctr"/>
                      <a:r>
                        <a:rPr lang="en-US" altLang="zh-TW" dirty="0">
                          <a:solidFill>
                            <a:schemeClr val="tx1"/>
                          </a:solidFill>
                        </a:rPr>
                        <a:t>X5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4407880"/>
                  </a:ext>
                </a:extLst>
              </a:tr>
              <a:tr h="292333">
                <a:tc>
                  <a:txBody>
                    <a:bodyPr/>
                    <a:lstStyle/>
                    <a:p>
                      <a:pPr algn="ctr"/>
                      <a:r>
                        <a:rPr lang="en-US" altLang="zh-TW" dirty="0">
                          <a:solidFill>
                            <a:schemeClr val="tx1"/>
                          </a:solidFill>
                        </a:rPr>
                        <a:t>x6</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2856717"/>
                  </a:ext>
                </a:extLst>
              </a:tr>
              <a:tr h="292333">
                <a:tc>
                  <a:txBody>
                    <a:bodyPr/>
                    <a:lstStyle/>
                    <a:p>
                      <a:pPr algn="ctr"/>
                      <a:r>
                        <a:rPr lang="en-US" altLang="zh-TW" dirty="0">
                          <a:solidFill>
                            <a:schemeClr val="tx1"/>
                          </a:solidFill>
                        </a:rPr>
                        <a:t>x7</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8</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64464"/>
                  </a:ext>
                </a:extLst>
              </a:tr>
            </a:tbl>
          </a:graphicData>
        </a:graphic>
      </p:graphicFrame>
      <p:pic>
        <p:nvPicPr>
          <p:cNvPr id="5" name="內容版面配置區 4">
            <a:extLst>
              <a:ext uri="{FF2B5EF4-FFF2-40B4-BE49-F238E27FC236}">
                <a16:creationId xmlns:a16="http://schemas.microsoft.com/office/drawing/2014/main" id="{092A6696-6C94-4D69-A094-D050DB768AA3}"/>
              </a:ext>
            </a:extLst>
          </p:cNvPr>
          <p:cNvPicPr>
            <a:picLocks noChangeAspect="1"/>
          </p:cNvPicPr>
          <p:nvPr/>
        </p:nvPicPr>
        <p:blipFill rotWithShape="1">
          <a:blip r:embed="rId4"/>
          <a:srcRect r="338" b="47459"/>
          <a:stretch/>
        </p:blipFill>
        <p:spPr>
          <a:xfrm>
            <a:off x="6904504" y="0"/>
            <a:ext cx="5287496" cy="1631475"/>
          </a:xfrm>
          <a:prstGeom prst="rect">
            <a:avLst/>
          </a:prstGeom>
        </p:spPr>
      </p:pic>
      <p:sp>
        <p:nvSpPr>
          <p:cNvPr id="6" name="文字方塊 5">
            <a:extLst>
              <a:ext uri="{FF2B5EF4-FFF2-40B4-BE49-F238E27FC236}">
                <a16:creationId xmlns:a16="http://schemas.microsoft.com/office/drawing/2014/main" id="{2E3B5E59-A7E4-4542-A930-9D5053F20A82}"/>
              </a:ext>
            </a:extLst>
          </p:cNvPr>
          <p:cNvSpPr txBox="1"/>
          <p:nvPr/>
        </p:nvSpPr>
        <p:spPr>
          <a:xfrm>
            <a:off x="609600" y="519953"/>
            <a:ext cx="5862918" cy="646331"/>
          </a:xfrm>
          <a:prstGeom prst="rect">
            <a:avLst/>
          </a:prstGeom>
          <a:noFill/>
        </p:spPr>
        <p:txBody>
          <a:bodyPr wrap="square" rtlCol="0">
            <a:spAutoFit/>
          </a:bodyPr>
          <a:lstStyle/>
          <a:p>
            <a:r>
              <a:rPr lang="en-US" altLang="zh-TW" sz="3600" dirty="0">
                <a:latin typeface="Times New Roman" panose="02020603050405020304" pitchFamily="18" charset="0"/>
                <a:cs typeface="Times New Roman" panose="02020603050405020304" pitchFamily="18" charset="0"/>
              </a:rPr>
              <a:t>Cutting stock problem</a:t>
            </a:r>
            <a:endParaRPr lang="zh-TW"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646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D06989-BB3E-4995-B978-2751E982BF14}"/>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A661EB89-9051-4205-9540-975BA0B402B7}"/>
              </a:ext>
            </a:extLst>
          </p:cNvPr>
          <p:cNvSpPr>
            <a:spLocks noGrp="1"/>
          </p:cNvSpPr>
          <p:nvPr>
            <p:ph idx="1"/>
          </p:nvPr>
        </p:nvSpPr>
        <p:spPr/>
        <p:txBody>
          <a:bodyPr/>
          <a:lstStyle/>
          <a:p>
            <a:endParaRPr lang="zh-TW" altLang="en-US" dirty="0"/>
          </a:p>
        </p:txBody>
      </p:sp>
      <p:pic>
        <p:nvPicPr>
          <p:cNvPr id="10" name="圖片 9">
            <a:extLst>
              <a:ext uri="{FF2B5EF4-FFF2-40B4-BE49-F238E27FC236}">
                <a16:creationId xmlns:a16="http://schemas.microsoft.com/office/drawing/2014/main" id="{742137B7-83ED-4266-A58E-F2838C684859}"/>
              </a:ext>
            </a:extLst>
          </p:cNvPr>
          <p:cNvPicPr>
            <a:picLocks noChangeAspect="1"/>
          </p:cNvPicPr>
          <p:nvPr/>
        </p:nvPicPr>
        <p:blipFill>
          <a:blip r:embed="rId3"/>
          <a:stretch>
            <a:fillRect/>
          </a:stretch>
        </p:blipFill>
        <p:spPr>
          <a:xfrm>
            <a:off x="0" y="633851"/>
            <a:ext cx="12192000" cy="2795149"/>
          </a:xfrm>
          <a:prstGeom prst="rect">
            <a:avLst/>
          </a:prstGeom>
        </p:spPr>
      </p:pic>
    </p:spTree>
    <p:extLst>
      <p:ext uri="{BB962C8B-B14F-4D97-AF65-F5344CB8AC3E}">
        <p14:creationId xmlns:p14="http://schemas.microsoft.com/office/powerpoint/2010/main" val="1883809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580E2-AF35-4AAE-98DB-32E7A7EBE33D}"/>
              </a:ext>
            </a:extLst>
          </p:cNvPr>
          <p:cNvSpPr>
            <a:spLocks noGrp="1"/>
          </p:cNvSpPr>
          <p:nvPr>
            <p:ph type="title"/>
          </p:nvPr>
        </p:nvSpPr>
        <p:spPr/>
        <p:txBody>
          <a:bodyPr/>
          <a:lstStyle/>
          <a:p>
            <a:r>
              <a:rPr lang="en-US" altLang="zh-TW" dirty="0"/>
              <a:t>Iteration 0</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F0AE536-3FA9-4D18-BD7B-53C554E60F88}"/>
                  </a:ext>
                </a:extLst>
              </p:cNvPr>
              <p:cNvSpPr>
                <a:spLocks noGrp="1"/>
              </p:cNvSpPr>
              <p:nvPr>
                <p:ph idx="1"/>
              </p:nvPr>
            </p:nvSpPr>
            <p:spPr>
              <a:xfrm>
                <a:off x="219927" y="1253331"/>
                <a:ext cx="10515600" cy="4351338"/>
              </a:xfrm>
            </p:spPr>
            <p:txBody>
              <a:bodyPr>
                <a:normAutofit/>
              </a:bodyPr>
              <a:lstStyle/>
              <a:p>
                <a:pPr marL="0" indent="0">
                  <a:buNone/>
                </a:pPr>
                <a:r>
                  <a:rPr lang="en-US" altLang="zh-TW" sz="3200" dirty="0"/>
                  <a:t>BV(0) = {</a:t>
                </a:r>
                <a14:m>
                  <m:oMath xmlns:m="http://schemas.openxmlformats.org/officeDocument/2006/math">
                    <m:sSub>
                      <m:sSubPr>
                        <m:ctrlPr>
                          <a:rPr lang="en-US" altLang="zh-TW" sz="3200" i="1" smtClean="0">
                            <a:latin typeface="Cambria Math" panose="02040503050406030204" pitchFamily="18" charset="0"/>
                            <a:ea typeface="Cambria Math" panose="02040503050406030204" pitchFamily="18" charset="0"/>
                          </a:rPr>
                        </m:ctrlPr>
                      </m:sSubPr>
                      <m:e>
                        <m:r>
                          <a:rPr lang="en-US" altLang="zh-TW" sz="3200" b="0" i="1" smtClean="0">
                            <a:latin typeface="Cambria Math" panose="02040503050406030204" pitchFamily="18" charset="0"/>
                            <a:ea typeface="Cambria Math" panose="02040503050406030204" pitchFamily="18" charset="0"/>
                          </a:rPr>
                          <m:t>𝑥</m:t>
                        </m:r>
                      </m:e>
                      <m:sub>
                        <m:r>
                          <a:rPr lang="en-US" altLang="zh-TW" sz="3200" b="0" i="1" smtClean="0">
                            <a:latin typeface="Cambria Math" panose="02040503050406030204" pitchFamily="18" charset="0"/>
                            <a:ea typeface="Cambria Math" panose="02040503050406030204" pitchFamily="18" charset="0"/>
                          </a:rPr>
                          <m:t>1</m:t>
                        </m:r>
                      </m:sub>
                    </m:sSub>
                  </m:oMath>
                </a14:m>
                <a:r>
                  <a:rPr lang="en-US" altLang="zh-TW" sz="3200" dirty="0"/>
                  <a:t>,</a:t>
                </a:r>
                <a:r>
                  <a:rPr lang="en-US" altLang="zh-TW" sz="3200" dirty="0">
                    <a:ea typeface="Cambria Math" panose="02040503050406030204" pitchFamily="18" charset="0"/>
                  </a:rPr>
                  <a:t> </a:t>
                </a:r>
                <a14:m>
                  <m:oMath xmlns:m="http://schemas.openxmlformats.org/officeDocument/2006/math">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𝑥</m:t>
                        </m:r>
                      </m:e>
                      <m:sub>
                        <m:r>
                          <a:rPr lang="en-US" altLang="zh-TW" sz="3200" b="0" i="1" smtClean="0">
                            <a:latin typeface="Cambria Math" panose="02040503050406030204" pitchFamily="18" charset="0"/>
                            <a:ea typeface="Cambria Math" panose="02040503050406030204" pitchFamily="18" charset="0"/>
                          </a:rPr>
                          <m:t>6</m:t>
                        </m:r>
                      </m:sub>
                    </m:sSub>
                  </m:oMath>
                </a14:m>
                <a:r>
                  <a:rPr lang="en-US" altLang="zh-TW" sz="3200" dirty="0"/>
                  <a:t>,</a:t>
                </a:r>
                <a:r>
                  <a:rPr lang="en-US" altLang="zh-TW" sz="3200" dirty="0">
                    <a:ea typeface="Cambria Math" panose="02040503050406030204" pitchFamily="18" charset="0"/>
                  </a:rPr>
                  <a:t> </a:t>
                </a:r>
                <a14:m>
                  <m:oMath xmlns:m="http://schemas.openxmlformats.org/officeDocument/2006/math">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𝑥</m:t>
                        </m:r>
                      </m:e>
                      <m:sub>
                        <m:r>
                          <a:rPr lang="en-US" altLang="zh-TW" sz="3200" b="0" i="1" smtClean="0">
                            <a:latin typeface="Cambria Math" panose="02040503050406030204" pitchFamily="18" charset="0"/>
                            <a:ea typeface="Cambria Math" panose="02040503050406030204" pitchFamily="18" charset="0"/>
                          </a:rPr>
                          <m:t>7</m:t>
                        </m:r>
                      </m:sub>
                    </m:sSub>
                  </m:oMath>
                </a14:m>
                <a:r>
                  <a:rPr lang="en-US" altLang="zh-TW" sz="3200" dirty="0"/>
                  <a:t>}, </a:t>
                </a:r>
                <a14:m>
                  <m:oMath xmlns:m="http://schemas.openxmlformats.org/officeDocument/2006/math">
                    <m:sSubSup>
                      <m:sSubSupPr>
                        <m:ctrlPr>
                          <a:rPr lang="en-US" altLang="zh-TW" sz="3200" i="1">
                            <a:latin typeface="Cambria Math" panose="02040503050406030204" pitchFamily="18" charset="0"/>
                          </a:rPr>
                        </m:ctrlPr>
                      </m:sSubSupPr>
                      <m:e>
                        <m:r>
                          <a:rPr lang="en-US" altLang="zh-TW" sz="3200" i="1">
                            <a:latin typeface="Cambria Math" panose="02040503050406030204" pitchFamily="18" charset="0"/>
                          </a:rPr>
                          <m:t>𝐵</m:t>
                        </m:r>
                      </m:e>
                      <m:sub>
                        <m:r>
                          <a:rPr lang="en-US" altLang="zh-TW" sz="3200" i="1">
                            <a:latin typeface="Cambria Math" panose="02040503050406030204" pitchFamily="18" charset="0"/>
                          </a:rPr>
                          <m:t>0</m:t>
                        </m:r>
                      </m:sub>
                      <m:sup/>
                    </m:sSubSup>
                    <m:r>
                      <a:rPr lang="en-US" altLang="zh-TW" sz="3200" b="0" i="1" smtClean="0">
                        <a:latin typeface="Cambria Math" panose="02040503050406030204" pitchFamily="18" charset="0"/>
                      </a:rPr>
                      <m:t>= </m:t>
                    </m:r>
                  </m:oMath>
                </a14:m>
                <a:r>
                  <a:rPr lang="en-US" altLang="zh-TW" sz="3200" dirty="0"/>
                  <a:t> </a:t>
                </a:r>
                <a14:m>
                  <m:oMath xmlns:m="http://schemas.openxmlformats.org/officeDocument/2006/math">
                    <m:d>
                      <m:dPr>
                        <m:begChr m:val="["/>
                        <m:endChr m:val="]"/>
                        <m:ctrlPr>
                          <a:rPr lang="en-US" altLang="zh-TW" sz="3200" i="1" dirty="0">
                            <a:latin typeface="Cambria Math" panose="02040503050406030204" pitchFamily="18" charset="0"/>
                          </a:rPr>
                        </m:ctrlPr>
                      </m:dPr>
                      <m:e>
                        <m:m>
                          <m:mPr>
                            <m:mcs>
                              <m:mc>
                                <m:mcPr>
                                  <m:count m:val="3"/>
                                  <m:mcJc m:val="center"/>
                                </m:mcPr>
                              </m:mc>
                            </m:mcs>
                            <m:ctrlPr>
                              <a:rPr lang="en-US" altLang="zh-TW" sz="3200" i="1" dirty="0">
                                <a:latin typeface="Cambria Math" panose="02040503050406030204" pitchFamily="18" charset="0"/>
                              </a:rPr>
                            </m:ctrlPr>
                          </m:mPr>
                          <m:mr>
                            <m:e>
                              <m:r>
                                <m:rPr>
                                  <m:brk m:alnAt="7"/>
                                </m:rPr>
                                <a:rPr lang="en-US" altLang="zh-TW" sz="3200" b="0" i="1" dirty="0" smtClean="0">
                                  <a:latin typeface="Cambria Math" panose="02040503050406030204" pitchFamily="18" charset="0"/>
                                </a:rPr>
                                <m:t>5</m:t>
                              </m:r>
                            </m:e>
                            <m:e>
                              <m:r>
                                <a:rPr lang="en-US" altLang="zh-TW" sz="3200" i="1" dirty="0">
                                  <a:latin typeface="Cambria Math" panose="02040503050406030204" pitchFamily="18" charset="0"/>
                                </a:rPr>
                                <m:t>0</m:t>
                              </m:r>
                            </m:e>
                            <m:e>
                              <m:r>
                                <a:rPr lang="en-US" altLang="zh-TW" sz="3200" i="1" dirty="0">
                                  <a:latin typeface="Cambria Math" panose="02040503050406030204" pitchFamily="18" charset="0"/>
                                </a:rPr>
                                <m:t>0</m:t>
                              </m:r>
                            </m:e>
                          </m:mr>
                          <m:mr>
                            <m:e>
                              <m:r>
                                <a:rPr lang="en-US" altLang="zh-TW" sz="3200" i="1" dirty="0">
                                  <a:latin typeface="Cambria Math" panose="02040503050406030204" pitchFamily="18" charset="0"/>
                                </a:rPr>
                                <m:t>0</m:t>
                              </m:r>
                            </m:e>
                            <m:e>
                              <m:r>
                                <a:rPr lang="en-US" altLang="zh-TW" sz="3200" b="0" i="1" dirty="0" smtClean="0">
                                  <a:latin typeface="Cambria Math" panose="02040503050406030204" pitchFamily="18" charset="0"/>
                                </a:rPr>
                                <m:t>3</m:t>
                              </m:r>
                            </m:e>
                            <m:e>
                              <m:r>
                                <a:rPr lang="en-US" altLang="zh-TW" sz="3200" i="1" dirty="0">
                                  <a:latin typeface="Cambria Math" panose="02040503050406030204" pitchFamily="18" charset="0"/>
                                </a:rPr>
                                <m:t>0</m:t>
                              </m:r>
                            </m:e>
                          </m:mr>
                          <m:mr>
                            <m:e>
                              <m:r>
                                <a:rPr lang="en-US" altLang="zh-TW" sz="3200" i="1" dirty="0">
                                  <a:latin typeface="Cambria Math" panose="02040503050406030204" pitchFamily="18" charset="0"/>
                                </a:rPr>
                                <m:t>0</m:t>
                              </m:r>
                            </m:e>
                            <m:e>
                              <m:r>
                                <a:rPr lang="en-US" altLang="zh-TW" sz="3200" i="1" dirty="0">
                                  <a:latin typeface="Cambria Math" panose="02040503050406030204" pitchFamily="18" charset="0"/>
                                </a:rPr>
                                <m:t>0</m:t>
                              </m:r>
                            </m:e>
                            <m:e>
                              <m:r>
                                <a:rPr lang="en-US" altLang="zh-TW" sz="3200" i="1" dirty="0">
                                  <a:latin typeface="Cambria Math" panose="02040503050406030204" pitchFamily="18" charset="0"/>
                                </a:rPr>
                                <m:t>1</m:t>
                              </m:r>
                            </m:e>
                          </m:mr>
                        </m:m>
                      </m:e>
                    </m:d>
                  </m:oMath>
                </a14:m>
                <a:endParaRPr lang="zh-TW" altLang="en-US" sz="3200" dirty="0"/>
              </a:p>
            </p:txBody>
          </p:sp>
        </mc:Choice>
        <mc:Fallback xmlns="">
          <p:sp>
            <p:nvSpPr>
              <p:cNvPr id="3" name="內容版面配置區 2">
                <a:extLst>
                  <a:ext uri="{FF2B5EF4-FFF2-40B4-BE49-F238E27FC236}">
                    <a16:creationId xmlns:a16="http://schemas.microsoft.com/office/drawing/2014/main" id="{BF0AE536-3FA9-4D18-BD7B-53C554E60F88}"/>
                  </a:ext>
                </a:extLst>
              </p:cNvPr>
              <p:cNvSpPr>
                <a:spLocks noGrp="1" noRot="1" noChangeAspect="1" noMove="1" noResize="1" noEditPoints="1" noAdjustHandles="1" noChangeArrowheads="1" noChangeShapeType="1" noTextEdit="1"/>
              </p:cNvSpPr>
              <p:nvPr>
                <p:ph idx="1"/>
              </p:nvPr>
            </p:nvSpPr>
            <p:spPr>
              <a:xfrm>
                <a:off x="219927" y="1253331"/>
                <a:ext cx="10515600" cy="4351338"/>
              </a:xfrm>
              <a:blipFill>
                <a:blip r:embed="rId3"/>
                <a:stretch>
                  <a:fillRect l="-14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EECA4ED-2FB1-491D-8BD6-6603BE2E9F07}"/>
                  </a:ext>
                </a:extLst>
              </p:cNvPr>
              <p:cNvSpPr txBox="1"/>
              <p:nvPr/>
            </p:nvSpPr>
            <p:spPr>
              <a:xfrm>
                <a:off x="219927" y="2505575"/>
                <a:ext cx="10833847" cy="1877886"/>
              </a:xfrm>
              <a:prstGeom prst="rect">
                <a:avLst/>
              </a:prstGeom>
              <a:noFill/>
            </p:spPr>
            <p:txBody>
              <a:bodyPr wrap="square" lIns="0" tIns="0" rIns="0" bIns="0" rtlCol="0">
                <a:spAutoFit/>
              </a:bodyPr>
              <a:lstStyle/>
              <a:p>
                <a14:m>
                  <m:oMath xmlns:m="http://schemas.openxmlformats.org/officeDocument/2006/math">
                    <m:sSub>
                      <m:sSubPr>
                        <m:ctrlPr>
                          <a:rPr lang="en-US" altLang="zh-TW" sz="3200" i="1" smtClean="0">
                            <a:latin typeface="Cambria Math" panose="02040503050406030204" pitchFamily="18" charset="0"/>
                          </a:rPr>
                        </m:ctrlPr>
                      </m:sSubPr>
                      <m:e>
                        <m:r>
                          <a:rPr lang="en-US" altLang="zh-TW" sz="3200" b="0" i="1" smtClean="0">
                            <a:latin typeface="Cambria Math" panose="02040503050406030204" pitchFamily="18" charset="0"/>
                          </a:rPr>
                          <m:t>𝐶</m:t>
                        </m:r>
                      </m:e>
                      <m:sub>
                        <m:r>
                          <a:rPr lang="en-US" altLang="zh-TW" sz="3200" b="0" i="1" smtClean="0">
                            <a:latin typeface="Cambria Math" panose="02040503050406030204" pitchFamily="18" charset="0"/>
                          </a:rPr>
                          <m:t>𝐵𝑉</m:t>
                        </m:r>
                      </m:sub>
                    </m:sSub>
                    <m:sSubSup>
                      <m:sSubSupPr>
                        <m:ctrlPr>
                          <a:rPr lang="en-US" altLang="zh-TW" sz="3200" i="1" smtClean="0">
                            <a:latin typeface="Cambria Math" panose="02040503050406030204" pitchFamily="18" charset="0"/>
                          </a:rPr>
                        </m:ctrlPr>
                      </m:sSubSupPr>
                      <m:e>
                        <m:r>
                          <a:rPr lang="en-US" altLang="zh-TW" sz="3200" b="0" i="1" smtClean="0">
                            <a:latin typeface="Cambria Math" panose="02040503050406030204" pitchFamily="18" charset="0"/>
                          </a:rPr>
                          <m:t>𝐵</m:t>
                        </m:r>
                      </m:e>
                      <m:sub>
                        <m:r>
                          <a:rPr lang="en-US" altLang="zh-TW" sz="3200" b="0" i="1" smtClean="0">
                            <a:latin typeface="Cambria Math" panose="02040503050406030204" pitchFamily="18" charset="0"/>
                          </a:rPr>
                          <m:t>0</m:t>
                        </m:r>
                      </m:sub>
                      <m:sup>
                        <m:r>
                          <a:rPr lang="en-US" altLang="zh-TW" sz="3200" b="0" i="1" smtClean="0">
                            <a:latin typeface="Cambria Math" panose="02040503050406030204" pitchFamily="18" charset="0"/>
                          </a:rPr>
                          <m:t>−1</m:t>
                        </m:r>
                      </m:sup>
                    </m:sSubSup>
                  </m:oMath>
                </a14:m>
                <a:r>
                  <a:rPr lang="zh-TW" altLang="en-US" sz="3200" dirty="0"/>
                  <a:t> </a:t>
                </a:r>
                <a:r>
                  <a:rPr lang="en-US" altLang="zh-TW" sz="3200" dirty="0"/>
                  <a:t>= [1  1  1] </a:t>
                </a:r>
                <a14:m>
                  <m:oMath xmlns:m="http://schemas.openxmlformats.org/officeDocument/2006/math">
                    <m:d>
                      <m:dPr>
                        <m:begChr m:val="["/>
                        <m:endChr m:val="]"/>
                        <m:ctrlPr>
                          <a:rPr lang="en-US" altLang="zh-TW" sz="3200" i="1" dirty="0">
                            <a:latin typeface="Cambria Math" panose="02040503050406030204" pitchFamily="18" charset="0"/>
                          </a:rPr>
                        </m:ctrlPr>
                      </m:dPr>
                      <m:e>
                        <m:m>
                          <m:mPr>
                            <m:mcs>
                              <m:mc>
                                <m:mcPr>
                                  <m:count m:val="3"/>
                                  <m:mcJc m:val="center"/>
                                </m:mcPr>
                              </m:mc>
                            </m:mcs>
                            <m:ctrlPr>
                              <a:rPr lang="en-US" altLang="zh-TW" sz="3200" i="1" dirty="0">
                                <a:latin typeface="Cambria Math" panose="02040503050406030204" pitchFamily="18" charset="0"/>
                              </a:rPr>
                            </m:ctrlPr>
                          </m:mPr>
                          <m:mr>
                            <m:e>
                              <m:f>
                                <m:fPr>
                                  <m:ctrlPr>
                                    <a:rPr lang="en-US" altLang="zh-TW" sz="3200" i="1" dirty="0">
                                      <a:latin typeface="Cambria Math" panose="02040503050406030204" pitchFamily="18" charset="0"/>
                                    </a:rPr>
                                  </m:ctrlPr>
                                </m:fPr>
                                <m:num>
                                  <m:r>
                                    <a:rPr lang="en-US" altLang="zh-TW" sz="3200" i="1" dirty="0">
                                      <a:latin typeface="Cambria Math" panose="02040503050406030204" pitchFamily="18" charset="0"/>
                                    </a:rPr>
                                    <m:t>1</m:t>
                                  </m:r>
                                </m:num>
                                <m:den>
                                  <m:r>
                                    <a:rPr lang="en-US" altLang="zh-TW" sz="3200" i="1" dirty="0">
                                      <a:latin typeface="Cambria Math" panose="02040503050406030204" pitchFamily="18" charset="0"/>
                                    </a:rPr>
                                    <m:t>5</m:t>
                                  </m:r>
                                </m:den>
                              </m:f>
                            </m:e>
                            <m:e>
                              <m:r>
                                <a:rPr lang="en-US" altLang="zh-TW" sz="3200" i="1" dirty="0">
                                  <a:latin typeface="Cambria Math" panose="02040503050406030204" pitchFamily="18" charset="0"/>
                                </a:rPr>
                                <m:t>0</m:t>
                              </m:r>
                            </m:e>
                            <m:e>
                              <m:r>
                                <a:rPr lang="en-US" altLang="zh-TW" sz="3200" i="1" dirty="0">
                                  <a:latin typeface="Cambria Math" panose="02040503050406030204" pitchFamily="18" charset="0"/>
                                </a:rPr>
                                <m:t>0</m:t>
                              </m:r>
                            </m:e>
                          </m:mr>
                          <m:mr>
                            <m:e>
                              <m:r>
                                <a:rPr lang="en-US" altLang="zh-TW" sz="3200" i="1" dirty="0">
                                  <a:latin typeface="Cambria Math" panose="02040503050406030204" pitchFamily="18" charset="0"/>
                                </a:rPr>
                                <m:t>0</m:t>
                              </m:r>
                            </m:e>
                            <m:e>
                              <m:f>
                                <m:fPr>
                                  <m:ctrlPr>
                                    <a:rPr lang="en-US" altLang="zh-TW" sz="3200" i="1" dirty="0">
                                      <a:latin typeface="Cambria Math" panose="02040503050406030204" pitchFamily="18" charset="0"/>
                                    </a:rPr>
                                  </m:ctrlPr>
                                </m:fPr>
                                <m:num>
                                  <m:r>
                                    <a:rPr lang="en-US" altLang="zh-TW" sz="3200" i="1" dirty="0">
                                      <a:latin typeface="Cambria Math" panose="02040503050406030204" pitchFamily="18" charset="0"/>
                                    </a:rPr>
                                    <m:t>1</m:t>
                                  </m:r>
                                </m:num>
                                <m:den>
                                  <m:r>
                                    <a:rPr lang="en-US" altLang="zh-TW" sz="3200" i="1" dirty="0">
                                      <a:latin typeface="Cambria Math" panose="02040503050406030204" pitchFamily="18" charset="0"/>
                                    </a:rPr>
                                    <m:t>3</m:t>
                                  </m:r>
                                </m:den>
                              </m:f>
                            </m:e>
                            <m:e>
                              <m:r>
                                <a:rPr lang="en-US" altLang="zh-TW" sz="3200" i="1" dirty="0">
                                  <a:latin typeface="Cambria Math" panose="02040503050406030204" pitchFamily="18" charset="0"/>
                                </a:rPr>
                                <m:t>0</m:t>
                              </m:r>
                            </m:e>
                          </m:mr>
                          <m:mr>
                            <m:e>
                              <m:r>
                                <a:rPr lang="en-US" altLang="zh-TW" sz="3200" i="1" dirty="0">
                                  <a:latin typeface="Cambria Math" panose="02040503050406030204" pitchFamily="18" charset="0"/>
                                </a:rPr>
                                <m:t>0</m:t>
                              </m:r>
                            </m:e>
                            <m:e>
                              <m:r>
                                <a:rPr lang="en-US" altLang="zh-TW" sz="3200" i="1" dirty="0">
                                  <a:latin typeface="Cambria Math" panose="02040503050406030204" pitchFamily="18" charset="0"/>
                                </a:rPr>
                                <m:t>0</m:t>
                              </m:r>
                            </m:e>
                            <m:e>
                              <m:r>
                                <a:rPr lang="en-US" altLang="zh-TW" sz="3200" i="1" dirty="0">
                                  <a:latin typeface="Cambria Math" panose="02040503050406030204" pitchFamily="18" charset="0"/>
                                </a:rPr>
                                <m:t>1</m:t>
                              </m:r>
                            </m:e>
                          </m:mr>
                        </m:m>
                      </m:e>
                    </m:d>
                  </m:oMath>
                </a14:m>
                <a:r>
                  <a:rPr lang="zh-TW" altLang="en-US" sz="3200" dirty="0"/>
                  <a:t>   </a:t>
                </a:r>
                <a:r>
                  <a:rPr lang="en-US" altLang="zh-TW" sz="3200" dirty="0"/>
                  <a:t>= [ </a:t>
                </a:r>
                <a14:m>
                  <m:oMath xmlns:m="http://schemas.openxmlformats.org/officeDocument/2006/math">
                    <m:f>
                      <m:fPr>
                        <m:ctrlPr>
                          <a:rPr lang="en-US" altLang="zh-TW" sz="3200" i="1" smtClean="0">
                            <a:latin typeface="Cambria Math" panose="02040503050406030204" pitchFamily="18" charset="0"/>
                          </a:rPr>
                        </m:ctrlPr>
                      </m:fPr>
                      <m:num>
                        <m:r>
                          <a:rPr lang="en-US" altLang="zh-TW" sz="3200" b="0" i="1" smtClean="0">
                            <a:latin typeface="Cambria Math" panose="02040503050406030204" pitchFamily="18" charset="0"/>
                          </a:rPr>
                          <m:t>1</m:t>
                        </m:r>
                      </m:num>
                      <m:den>
                        <m:r>
                          <a:rPr lang="en-US" altLang="zh-TW" sz="3200" b="0" i="1" smtClean="0">
                            <a:latin typeface="Cambria Math" panose="02040503050406030204" pitchFamily="18" charset="0"/>
                          </a:rPr>
                          <m:t>5</m:t>
                        </m:r>
                      </m:den>
                    </m:f>
                  </m:oMath>
                </a14:m>
                <a:r>
                  <a:rPr lang="zh-TW" altLang="en-US" sz="3200" dirty="0"/>
                  <a:t>    </a:t>
                </a:r>
                <a14:m>
                  <m:oMath xmlns:m="http://schemas.openxmlformats.org/officeDocument/2006/math">
                    <m:f>
                      <m:fPr>
                        <m:ctrlPr>
                          <a:rPr lang="en-US" altLang="zh-TW" sz="3200" i="1">
                            <a:latin typeface="Cambria Math" panose="02040503050406030204" pitchFamily="18" charset="0"/>
                          </a:rPr>
                        </m:ctrlPr>
                      </m:fPr>
                      <m:num>
                        <m:r>
                          <a:rPr lang="en-US" altLang="zh-TW" sz="3200" b="0" i="1" smtClean="0">
                            <a:latin typeface="Cambria Math" panose="02040503050406030204" pitchFamily="18" charset="0"/>
                          </a:rPr>
                          <m:t>1</m:t>
                        </m:r>
                      </m:num>
                      <m:den>
                        <m:r>
                          <a:rPr lang="en-US" altLang="zh-TW" sz="3200" b="0" i="1" smtClean="0">
                            <a:latin typeface="Cambria Math" panose="02040503050406030204" pitchFamily="18" charset="0"/>
                          </a:rPr>
                          <m:t>3</m:t>
                        </m:r>
                      </m:den>
                    </m:f>
                  </m:oMath>
                </a14:m>
                <a:r>
                  <a:rPr lang="zh-TW" altLang="en-US" sz="3200" dirty="0"/>
                  <a:t>   </a:t>
                </a:r>
                <a:r>
                  <a:rPr lang="en-US" altLang="zh-TW" sz="3200" dirty="0"/>
                  <a:t>1]</a:t>
                </a:r>
                <a:endParaRPr lang="zh-TW" altLang="en-US" sz="3600" dirty="0"/>
              </a:p>
            </p:txBody>
          </p:sp>
        </mc:Choice>
        <mc:Fallback xmlns="">
          <p:sp>
            <p:nvSpPr>
              <p:cNvPr id="4" name="文字方塊 3">
                <a:extLst>
                  <a:ext uri="{FF2B5EF4-FFF2-40B4-BE49-F238E27FC236}">
                    <a16:creationId xmlns:a16="http://schemas.microsoft.com/office/drawing/2014/main" id="{BEECA4ED-2FB1-491D-8BD6-6603BE2E9F07}"/>
                  </a:ext>
                </a:extLst>
              </p:cNvPr>
              <p:cNvSpPr txBox="1">
                <a:spLocks noRot="1" noChangeAspect="1" noMove="1" noResize="1" noEditPoints="1" noAdjustHandles="1" noChangeArrowheads="1" noChangeShapeType="1" noTextEdit="1"/>
              </p:cNvSpPr>
              <p:nvPr/>
            </p:nvSpPr>
            <p:spPr>
              <a:xfrm>
                <a:off x="219927" y="2505575"/>
                <a:ext cx="10833847" cy="1877886"/>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86698EF-C6CD-46D3-91FB-CF2065DDE222}"/>
                  </a:ext>
                </a:extLst>
              </p:cNvPr>
              <p:cNvSpPr txBox="1"/>
              <p:nvPr/>
            </p:nvSpPr>
            <p:spPr>
              <a:xfrm>
                <a:off x="219927" y="4340029"/>
                <a:ext cx="7781365" cy="1395895"/>
              </a:xfrm>
              <a:prstGeom prst="rect">
                <a:avLst/>
              </a:prstGeom>
              <a:noFill/>
            </p:spPr>
            <p:txBody>
              <a:bodyPr wrap="square" rtlCol="0">
                <a:spAutoFit/>
              </a:bodyPr>
              <a:lstStyle/>
              <a:p>
                <a14:m>
                  <m:oMath xmlns:m="http://schemas.openxmlformats.org/officeDocument/2006/math">
                    <m:sSub>
                      <m:sSubPr>
                        <m:ctrlPr>
                          <a:rPr lang="en-US" altLang="zh-TW" sz="3200" i="1" smtClean="0">
                            <a:latin typeface="Cambria Math" panose="02040503050406030204" pitchFamily="18" charset="0"/>
                          </a:rPr>
                        </m:ctrlPr>
                      </m:sSubPr>
                      <m:e>
                        <m:r>
                          <a:rPr lang="en-US" altLang="zh-TW" sz="3200" b="0" i="1" smtClean="0">
                            <a:latin typeface="Cambria Math" panose="02040503050406030204" pitchFamily="18" charset="0"/>
                          </a:rPr>
                          <m:t>𝐶</m:t>
                        </m:r>
                      </m:e>
                      <m:sub>
                        <m:r>
                          <a:rPr lang="en-US" altLang="zh-TW" sz="3200" b="0" i="1" smtClean="0">
                            <a:latin typeface="Cambria Math" panose="02040503050406030204" pitchFamily="18" charset="0"/>
                          </a:rPr>
                          <m:t>𝐵𝑉</m:t>
                        </m:r>
                      </m:sub>
                    </m:sSub>
                    <m:sSubSup>
                      <m:sSubSupPr>
                        <m:ctrlPr>
                          <a:rPr lang="en-US" altLang="zh-TW" sz="3200" i="1" smtClean="0">
                            <a:latin typeface="Cambria Math" panose="02040503050406030204" pitchFamily="18" charset="0"/>
                          </a:rPr>
                        </m:ctrlPr>
                      </m:sSubSupPr>
                      <m:e>
                        <m:r>
                          <a:rPr lang="en-US" altLang="zh-TW" sz="3200" b="0" i="1" smtClean="0">
                            <a:latin typeface="Cambria Math" panose="02040503050406030204" pitchFamily="18" charset="0"/>
                          </a:rPr>
                          <m:t>𝐵</m:t>
                        </m:r>
                      </m:e>
                      <m:sub>
                        <m:r>
                          <a:rPr lang="en-US" altLang="zh-TW" sz="3200" b="0" i="1" smtClean="0">
                            <a:latin typeface="Cambria Math" panose="02040503050406030204" pitchFamily="18" charset="0"/>
                          </a:rPr>
                          <m:t>0</m:t>
                        </m:r>
                      </m:sub>
                      <m:sup>
                        <m:r>
                          <a:rPr lang="en-US" altLang="zh-TW" sz="3200" b="0" i="1" smtClean="0">
                            <a:latin typeface="Cambria Math" panose="02040503050406030204" pitchFamily="18" charset="0"/>
                          </a:rPr>
                          <m:t>−1</m:t>
                        </m:r>
                      </m:sup>
                    </m:sSubSup>
                  </m:oMath>
                </a14:m>
                <a:r>
                  <a:rPr lang="en-US" altLang="zh-TW" sz="3200" dirty="0"/>
                  <a:t> </a:t>
                </a:r>
                <a14:m>
                  <m:oMath xmlns:m="http://schemas.openxmlformats.org/officeDocument/2006/math">
                    <m:d>
                      <m:dPr>
                        <m:begChr m:val="["/>
                        <m:endChr m:val="]"/>
                        <m:ctrlPr>
                          <a:rPr lang="en-US" altLang="zh-TW" sz="3200" i="1" dirty="0">
                            <a:latin typeface="Cambria Math" panose="02040503050406030204" pitchFamily="18" charset="0"/>
                          </a:rPr>
                        </m:ctrlPr>
                      </m:dPr>
                      <m:e>
                        <m:m>
                          <m:mPr>
                            <m:mcs>
                              <m:mc>
                                <m:mcPr>
                                  <m:count m:val="1"/>
                                  <m:mcJc m:val="center"/>
                                </m:mcPr>
                              </m:mc>
                            </m:mcs>
                            <m:ctrlPr>
                              <a:rPr lang="en-US" altLang="zh-TW" sz="3200" i="1">
                                <a:latin typeface="Cambria Math" panose="02040503050406030204" pitchFamily="18" charset="0"/>
                              </a:rPr>
                            </m:ctrlPr>
                          </m:mPr>
                          <m:mr>
                            <m:e>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𝑎</m:t>
                                  </m:r>
                                </m:e>
                                <m:sub>
                                  <m:r>
                                    <a:rPr lang="en-US" altLang="zh-TW" sz="3200" i="1">
                                      <a:latin typeface="Cambria Math" panose="02040503050406030204" pitchFamily="18" charset="0"/>
                                      <a:ea typeface="Cambria Math" panose="02040503050406030204" pitchFamily="18" charset="0"/>
                                    </a:rPr>
                                    <m:t>1</m:t>
                                  </m:r>
                                </m:sub>
                              </m:sSub>
                            </m:e>
                          </m:mr>
                          <m:mr>
                            <m:e>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𝑎</m:t>
                                  </m:r>
                                </m:e>
                                <m:sub>
                                  <m:r>
                                    <a:rPr lang="en-US" altLang="zh-TW" sz="3200" i="1">
                                      <a:latin typeface="Cambria Math" panose="02040503050406030204" pitchFamily="18" charset="0"/>
                                      <a:ea typeface="Cambria Math" panose="02040503050406030204" pitchFamily="18" charset="0"/>
                                    </a:rPr>
                                    <m:t>2</m:t>
                                  </m:r>
                                </m:sub>
                              </m:sSub>
                            </m:e>
                          </m:mr>
                          <m:mr>
                            <m:e>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𝑎</m:t>
                                  </m:r>
                                </m:e>
                                <m:sub>
                                  <m:r>
                                    <a:rPr lang="en-US" altLang="zh-TW" sz="3200" i="1">
                                      <a:latin typeface="Cambria Math" panose="02040503050406030204" pitchFamily="18" charset="0"/>
                                      <a:ea typeface="Cambria Math" panose="02040503050406030204" pitchFamily="18" charset="0"/>
                                    </a:rPr>
                                    <m:t>3</m:t>
                                  </m:r>
                                </m:sub>
                              </m:sSub>
                            </m:e>
                          </m:mr>
                        </m:m>
                      </m:e>
                    </m:d>
                    <m:r>
                      <a:rPr lang="en-US" altLang="zh-TW" sz="3200" i="1">
                        <a:latin typeface="Cambria Math" panose="02040503050406030204" pitchFamily="18" charset="0"/>
                        <a:ea typeface="Cambria Math" panose="02040503050406030204" pitchFamily="18" charset="0"/>
                      </a:rPr>
                      <m:t> </m:t>
                    </m:r>
                  </m:oMath>
                </a14:m>
                <a:r>
                  <a:rPr lang="en-US" altLang="zh-TW" sz="3200" dirty="0"/>
                  <a:t>-1 = </a:t>
                </a:r>
                <a14:m>
                  <m:oMath xmlns:m="http://schemas.openxmlformats.org/officeDocument/2006/math">
                    <m:f>
                      <m:fPr>
                        <m:ctrlPr>
                          <a:rPr lang="en-US" altLang="zh-TW" sz="3200" i="1">
                            <a:latin typeface="Cambria Math" panose="02040503050406030204" pitchFamily="18" charset="0"/>
                          </a:rPr>
                        </m:ctrlPr>
                      </m:fPr>
                      <m:num>
                        <m:r>
                          <a:rPr lang="en-US" altLang="zh-TW" sz="3200" i="1">
                            <a:latin typeface="Cambria Math" panose="02040503050406030204" pitchFamily="18" charset="0"/>
                          </a:rPr>
                          <m:t>1</m:t>
                        </m:r>
                      </m:num>
                      <m:den>
                        <m:r>
                          <a:rPr lang="en-US" altLang="zh-TW" sz="3200" i="1">
                            <a:latin typeface="Cambria Math" panose="02040503050406030204" pitchFamily="18" charset="0"/>
                          </a:rPr>
                          <m:t>5</m:t>
                        </m:r>
                      </m:den>
                    </m:f>
                  </m:oMath>
                </a14:m>
                <a:r>
                  <a:rPr lang="en-US" altLang="zh-TW" sz="3200" dirty="0">
                    <a:ea typeface="Cambria Math" panose="02040503050406030204" pitchFamily="18" charset="0"/>
                  </a:rPr>
                  <a:t> </a:t>
                </a:r>
                <a14:m>
                  <m:oMath xmlns:m="http://schemas.openxmlformats.org/officeDocument/2006/math">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𝑎</m:t>
                        </m:r>
                      </m:e>
                      <m:sub>
                        <m:r>
                          <a:rPr lang="en-US" altLang="zh-TW" sz="3200" i="1">
                            <a:latin typeface="Cambria Math" panose="02040503050406030204" pitchFamily="18" charset="0"/>
                            <a:ea typeface="Cambria Math" panose="02040503050406030204" pitchFamily="18" charset="0"/>
                          </a:rPr>
                          <m:t>1</m:t>
                        </m:r>
                      </m:sub>
                    </m:sSub>
                    <m:r>
                      <a:rPr lang="en-US" altLang="zh-TW" sz="3200" i="1">
                        <a:latin typeface="Cambria Math" panose="02040503050406030204" pitchFamily="18" charset="0"/>
                        <a:ea typeface="Cambria Math" panose="02040503050406030204" pitchFamily="18" charset="0"/>
                      </a:rPr>
                      <m:t> </m:t>
                    </m:r>
                  </m:oMath>
                </a14:m>
                <a:r>
                  <a:rPr lang="en-US" altLang="zh-TW" sz="3200" dirty="0"/>
                  <a:t>+ </a:t>
                </a:r>
                <a14:m>
                  <m:oMath xmlns:m="http://schemas.openxmlformats.org/officeDocument/2006/math">
                    <m:f>
                      <m:fPr>
                        <m:ctrlPr>
                          <a:rPr lang="en-US" altLang="zh-TW" sz="3200" i="1">
                            <a:latin typeface="Cambria Math" panose="02040503050406030204" pitchFamily="18" charset="0"/>
                          </a:rPr>
                        </m:ctrlPr>
                      </m:fPr>
                      <m:num>
                        <m:r>
                          <a:rPr lang="en-US" altLang="zh-TW" sz="3200" i="1">
                            <a:latin typeface="Cambria Math" panose="02040503050406030204" pitchFamily="18" charset="0"/>
                          </a:rPr>
                          <m:t>1</m:t>
                        </m:r>
                      </m:num>
                      <m:den>
                        <m:r>
                          <a:rPr lang="en-US" altLang="zh-TW" sz="3200" i="1">
                            <a:latin typeface="Cambria Math" panose="02040503050406030204" pitchFamily="18" charset="0"/>
                          </a:rPr>
                          <m:t>3</m:t>
                        </m:r>
                      </m:den>
                    </m:f>
                  </m:oMath>
                </a14:m>
                <a:r>
                  <a:rPr lang="en-US" altLang="zh-TW" sz="3200" dirty="0">
                    <a:ea typeface="Cambria Math" panose="02040503050406030204" pitchFamily="18" charset="0"/>
                  </a:rPr>
                  <a:t> </a:t>
                </a:r>
                <a14:m>
                  <m:oMath xmlns:m="http://schemas.openxmlformats.org/officeDocument/2006/math">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𝑎</m:t>
                        </m:r>
                      </m:e>
                      <m:sub>
                        <m:r>
                          <a:rPr lang="en-US" altLang="zh-TW" sz="3200" i="1">
                            <a:latin typeface="Cambria Math" panose="02040503050406030204" pitchFamily="18" charset="0"/>
                            <a:ea typeface="Cambria Math" panose="02040503050406030204" pitchFamily="18" charset="0"/>
                          </a:rPr>
                          <m:t>2</m:t>
                        </m:r>
                      </m:sub>
                    </m:sSub>
                  </m:oMath>
                </a14:m>
                <a:r>
                  <a:rPr lang="en-US" altLang="zh-TW" sz="3200" dirty="0"/>
                  <a:t> +</a:t>
                </a:r>
                <a:r>
                  <a:rPr lang="zh-TW" altLang="en-US" sz="3200" dirty="0"/>
                  <a:t> </a:t>
                </a:r>
                <a14:m>
                  <m:oMath xmlns:m="http://schemas.openxmlformats.org/officeDocument/2006/math">
                    <m:sSub>
                      <m:sSubPr>
                        <m:ctrlPr>
                          <a:rPr lang="en-US" altLang="zh-TW" sz="3200" i="1">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𝑎</m:t>
                        </m:r>
                      </m:e>
                      <m:sub>
                        <m:r>
                          <a:rPr lang="en-US" altLang="zh-TW" sz="3200" i="1">
                            <a:latin typeface="Cambria Math" panose="02040503050406030204" pitchFamily="18" charset="0"/>
                            <a:ea typeface="Cambria Math" panose="02040503050406030204" pitchFamily="18" charset="0"/>
                          </a:rPr>
                          <m:t>3</m:t>
                        </m:r>
                      </m:sub>
                    </m:sSub>
                  </m:oMath>
                </a14:m>
                <a:r>
                  <a:rPr lang="en-US" altLang="zh-TW" sz="3200" dirty="0"/>
                  <a:t> -1 </a:t>
                </a:r>
                <a:endParaRPr lang="zh-TW" altLang="en-US" sz="3600" dirty="0"/>
              </a:p>
            </p:txBody>
          </p:sp>
        </mc:Choice>
        <mc:Fallback xmlns="">
          <p:sp>
            <p:nvSpPr>
              <p:cNvPr id="6" name="文字方塊 5">
                <a:extLst>
                  <a:ext uri="{FF2B5EF4-FFF2-40B4-BE49-F238E27FC236}">
                    <a16:creationId xmlns:a16="http://schemas.microsoft.com/office/drawing/2014/main" id="{386698EF-C6CD-46D3-91FB-CF2065DDE222}"/>
                  </a:ext>
                </a:extLst>
              </p:cNvPr>
              <p:cNvSpPr txBox="1">
                <a:spLocks noRot="1" noChangeAspect="1" noMove="1" noResize="1" noEditPoints="1" noAdjustHandles="1" noChangeArrowheads="1" noChangeShapeType="1" noTextEdit="1"/>
              </p:cNvSpPr>
              <p:nvPr/>
            </p:nvSpPr>
            <p:spPr>
              <a:xfrm>
                <a:off x="219927" y="4340029"/>
                <a:ext cx="7781365" cy="139589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DBDF442-A957-47D0-9C49-8794F42D837E}"/>
                  </a:ext>
                </a:extLst>
              </p:cNvPr>
              <p:cNvSpPr txBox="1"/>
              <p:nvPr/>
            </p:nvSpPr>
            <p:spPr>
              <a:xfrm>
                <a:off x="-481359" y="6215876"/>
                <a:ext cx="5670177"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200" i="1" smtClean="0">
                              <a:latin typeface="Cambria Math" panose="02040503050406030204" pitchFamily="18" charset="0"/>
                              <a:ea typeface="Cambria Math" panose="02040503050406030204" pitchFamily="18" charset="0"/>
                            </a:rPr>
                          </m:ctrlPr>
                        </m:sSubPr>
                        <m:e>
                          <m:r>
                            <a:rPr lang="en-US" altLang="zh-TW" sz="3200" i="1">
                              <a:latin typeface="Cambria Math" panose="02040503050406030204" pitchFamily="18" charset="0"/>
                              <a:ea typeface="Cambria Math" panose="02040503050406030204" pitchFamily="18" charset="0"/>
                            </a:rPr>
                            <m:t>3</m:t>
                          </m:r>
                        </m:e>
                        <m:sub>
                          <m:r>
                            <a:rPr lang="en-US" altLang="zh-TW" sz="3200" b="0" i="1" smtClean="0">
                              <a:latin typeface="Cambria Math" panose="02040503050406030204" pitchFamily="18" charset="0"/>
                              <a:ea typeface="Cambria Math" panose="02040503050406030204" pitchFamily="18" charset="0"/>
                            </a:rPr>
                            <m:t>𝑎</m:t>
                          </m:r>
                          <m:r>
                            <a:rPr lang="en-US" altLang="zh-TW" sz="3200" b="0" i="1" smtClean="0">
                              <a:latin typeface="Cambria Math" panose="02040503050406030204" pitchFamily="18" charset="0"/>
                              <a:ea typeface="Cambria Math" panose="02040503050406030204" pitchFamily="18" charset="0"/>
                            </a:rPr>
                            <m:t>1</m:t>
                          </m:r>
                        </m:sub>
                      </m:sSub>
                      <m:r>
                        <a:rPr lang="en-US" altLang="zh-TW" sz="3200" i="1" smtClean="0">
                          <a:latin typeface="Cambria Math" panose="02040503050406030204" pitchFamily="18" charset="0"/>
                          <a:ea typeface="Cambria Math" panose="02040503050406030204" pitchFamily="18" charset="0"/>
                        </a:rPr>
                        <m:t>+</m:t>
                      </m:r>
                      <m:sSub>
                        <m:sSubPr>
                          <m:ctrlPr>
                            <a:rPr lang="en-US" altLang="zh-TW" sz="3200" i="1" smtClean="0">
                              <a:latin typeface="Cambria Math" panose="02040503050406030204" pitchFamily="18" charset="0"/>
                              <a:ea typeface="Cambria Math" panose="02040503050406030204" pitchFamily="18" charset="0"/>
                            </a:rPr>
                          </m:ctrlPr>
                        </m:sSubPr>
                        <m:e>
                          <m:r>
                            <a:rPr lang="en-US" altLang="zh-TW" sz="3200" b="0" i="1" smtClean="0">
                              <a:latin typeface="Cambria Math" panose="02040503050406030204" pitchFamily="18" charset="0"/>
                              <a:ea typeface="Cambria Math" panose="02040503050406030204" pitchFamily="18" charset="0"/>
                            </a:rPr>
                            <m:t>5</m:t>
                          </m:r>
                        </m:e>
                        <m:sub>
                          <m:r>
                            <a:rPr lang="en-US" altLang="zh-TW" sz="3200" b="0" i="1" smtClean="0">
                              <a:latin typeface="Cambria Math" panose="02040503050406030204" pitchFamily="18" charset="0"/>
                              <a:ea typeface="Cambria Math" panose="02040503050406030204" pitchFamily="18" charset="0"/>
                            </a:rPr>
                            <m:t>𝑎</m:t>
                          </m:r>
                          <m:r>
                            <a:rPr lang="en-US" altLang="zh-TW" sz="3200" b="0" i="1" smtClean="0">
                              <a:latin typeface="Cambria Math" panose="02040503050406030204" pitchFamily="18" charset="0"/>
                              <a:ea typeface="Cambria Math" panose="02040503050406030204" pitchFamily="18" charset="0"/>
                            </a:rPr>
                            <m:t>2</m:t>
                          </m:r>
                        </m:sub>
                      </m:sSub>
                      <m:r>
                        <a:rPr lang="en-US" altLang="zh-TW" sz="3200" i="1" smtClean="0">
                          <a:latin typeface="Cambria Math" panose="02040503050406030204" pitchFamily="18" charset="0"/>
                          <a:ea typeface="Cambria Math" panose="02040503050406030204" pitchFamily="18" charset="0"/>
                        </a:rPr>
                        <m:t>+</m:t>
                      </m:r>
                      <m:sSub>
                        <m:sSubPr>
                          <m:ctrlPr>
                            <a:rPr lang="en-US" altLang="zh-TW" sz="3200" i="1" smtClean="0">
                              <a:latin typeface="Cambria Math" panose="02040503050406030204" pitchFamily="18" charset="0"/>
                              <a:ea typeface="Cambria Math" panose="02040503050406030204" pitchFamily="18" charset="0"/>
                            </a:rPr>
                          </m:ctrlPr>
                        </m:sSubPr>
                        <m:e>
                          <m:r>
                            <a:rPr lang="en-US" altLang="zh-TW" sz="3200" b="0" i="1" smtClean="0">
                              <a:latin typeface="Cambria Math" panose="02040503050406030204" pitchFamily="18" charset="0"/>
                              <a:ea typeface="Cambria Math" panose="02040503050406030204" pitchFamily="18" charset="0"/>
                            </a:rPr>
                            <m:t>9</m:t>
                          </m:r>
                        </m:e>
                        <m:sub>
                          <m:r>
                            <a:rPr lang="en-US" altLang="zh-TW" sz="3200" b="0" i="1" smtClean="0">
                              <a:latin typeface="Cambria Math" panose="02040503050406030204" pitchFamily="18" charset="0"/>
                              <a:ea typeface="Cambria Math" panose="02040503050406030204" pitchFamily="18" charset="0"/>
                            </a:rPr>
                            <m:t>𝑎</m:t>
                          </m:r>
                          <m:r>
                            <a:rPr lang="en-US" altLang="zh-TW" sz="3200" b="0" i="1" smtClean="0">
                              <a:latin typeface="Cambria Math" panose="02040503050406030204" pitchFamily="18" charset="0"/>
                              <a:ea typeface="Cambria Math" panose="02040503050406030204" pitchFamily="18" charset="0"/>
                            </a:rPr>
                            <m:t>3</m:t>
                          </m:r>
                        </m:sub>
                      </m:sSub>
                      <m:r>
                        <a:rPr lang="zh-TW" altLang="en-US" sz="3200" i="1">
                          <a:latin typeface="Cambria Math" panose="02040503050406030204" pitchFamily="18" charset="0"/>
                        </a:rPr>
                        <m:t>≤</m:t>
                      </m:r>
                      <m:r>
                        <a:rPr lang="en-US" altLang="zh-TW" sz="3200" i="1">
                          <a:latin typeface="Cambria Math" panose="02040503050406030204" pitchFamily="18" charset="0"/>
                          <a:ea typeface="Cambria Math" panose="02040503050406030204" pitchFamily="18" charset="0"/>
                        </a:rPr>
                        <m:t>1</m:t>
                      </m:r>
                      <m:r>
                        <a:rPr lang="en-US" altLang="zh-TW" sz="3200" b="0" i="0" smtClean="0">
                          <a:latin typeface="Cambria Math" panose="02040503050406030204" pitchFamily="18" charset="0"/>
                          <a:ea typeface="Cambria Math" panose="02040503050406030204" pitchFamily="18" charset="0"/>
                        </a:rPr>
                        <m:t>7</m:t>
                      </m:r>
                    </m:oMath>
                  </m:oMathPara>
                </a14:m>
                <a:endParaRPr lang="zh-TW" altLang="en-US" sz="2400" dirty="0"/>
              </a:p>
            </p:txBody>
          </p:sp>
        </mc:Choice>
        <mc:Fallback xmlns="">
          <p:sp>
            <p:nvSpPr>
              <p:cNvPr id="7" name="文字方塊 6">
                <a:extLst>
                  <a:ext uri="{FF2B5EF4-FFF2-40B4-BE49-F238E27FC236}">
                    <a16:creationId xmlns:a16="http://schemas.microsoft.com/office/drawing/2014/main" id="{ADBDF442-A957-47D0-9C49-8794F42D837E}"/>
                  </a:ext>
                </a:extLst>
              </p:cNvPr>
              <p:cNvSpPr txBox="1">
                <a:spLocks noRot="1" noChangeAspect="1" noMove="1" noResize="1" noEditPoints="1" noAdjustHandles="1" noChangeArrowheads="1" noChangeShapeType="1" noTextEdit="1"/>
              </p:cNvSpPr>
              <p:nvPr/>
            </p:nvSpPr>
            <p:spPr>
              <a:xfrm>
                <a:off x="-481359" y="6215876"/>
                <a:ext cx="5670177" cy="492443"/>
              </a:xfrm>
              <a:prstGeom prst="rect">
                <a:avLst/>
              </a:prstGeom>
              <a:blipFill>
                <a:blip r:embed="rId6"/>
                <a:stretch>
                  <a:fillRect/>
                </a:stretch>
              </a:blipFill>
            </p:spPr>
            <p:txBody>
              <a:bodyPr/>
              <a:lstStyle/>
              <a:p>
                <a:r>
                  <a:rPr lang="zh-TW" altLang="en-US">
                    <a:noFill/>
                  </a:rPr>
                  <a:t> </a:t>
                </a:r>
              </a:p>
            </p:txBody>
          </p:sp>
        </mc:Fallback>
      </mc:AlternateContent>
      <p:graphicFrame>
        <p:nvGraphicFramePr>
          <p:cNvPr id="8" name="表格 4">
            <a:extLst>
              <a:ext uri="{FF2B5EF4-FFF2-40B4-BE49-F238E27FC236}">
                <a16:creationId xmlns:a16="http://schemas.microsoft.com/office/drawing/2014/main" id="{495E30B1-925C-44EC-A735-75679012BDCF}"/>
              </a:ext>
            </a:extLst>
          </p:cNvPr>
          <p:cNvGraphicFramePr>
            <a:graphicFrameLocks/>
          </p:cNvGraphicFramePr>
          <p:nvPr>
            <p:extLst>
              <p:ext uri="{D42A27DB-BD31-4B8C-83A1-F6EECF244321}">
                <p14:modId xmlns:p14="http://schemas.microsoft.com/office/powerpoint/2010/main" val="4070410177"/>
              </p:ext>
            </p:extLst>
          </p:nvPr>
        </p:nvGraphicFramePr>
        <p:xfrm>
          <a:off x="8279047" y="20573"/>
          <a:ext cx="3912953" cy="3370881"/>
        </p:xfrm>
        <a:graphic>
          <a:graphicData uri="http://schemas.openxmlformats.org/drawingml/2006/table">
            <a:tbl>
              <a:tblPr firstRow="1" bandRow="1">
                <a:tableStyleId>{5C22544A-7EE6-4342-B048-85BDC9FD1C3A}</a:tableStyleId>
              </a:tblPr>
              <a:tblGrid>
                <a:gridCol w="1410344">
                  <a:extLst>
                    <a:ext uri="{9D8B030D-6E8A-4147-A177-3AD203B41FA5}">
                      <a16:colId xmlns:a16="http://schemas.microsoft.com/office/drawing/2014/main" val="392958277"/>
                    </a:ext>
                  </a:extLst>
                </a:gridCol>
                <a:gridCol w="495946">
                  <a:extLst>
                    <a:ext uri="{9D8B030D-6E8A-4147-A177-3AD203B41FA5}">
                      <a16:colId xmlns:a16="http://schemas.microsoft.com/office/drawing/2014/main" val="502916786"/>
                    </a:ext>
                  </a:extLst>
                </a:gridCol>
                <a:gridCol w="548510">
                  <a:extLst>
                    <a:ext uri="{9D8B030D-6E8A-4147-A177-3AD203B41FA5}">
                      <a16:colId xmlns:a16="http://schemas.microsoft.com/office/drawing/2014/main" val="2923496397"/>
                    </a:ext>
                  </a:extLst>
                </a:gridCol>
                <a:gridCol w="574681">
                  <a:extLst>
                    <a:ext uri="{9D8B030D-6E8A-4147-A177-3AD203B41FA5}">
                      <a16:colId xmlns:a16="http://schemas.microsoft.com/office/drawing/2014/main" val="3903015587"/>
                    </a:ext>
                  </a:extLst>
                </a:gridCol>
                <a:gridCol w="883472">
                  <a:extLst>
                    <a:ext uri="{9D8B030D-6E8A-4147-A177-3AD203B41FA5}">
                      <a16:colId xmlns:a16="http://schemas.microsoft.com/office/drawing/2014/main" val="2417946123"/>
                    </a:ext>
                  </a:extLst>
                </a:gridCol>
              </a:tblGrid>
              <a:tr h="698974">
                <a:tc>
                  <a:txBody>
                    <a:bodyPr/>
                    <a:lstStyle/>
                    <a:p>
                      <a:pPr algn="ctr"/>
                      <a:r>
                        <a:rPr lang="en-US" altLang="zh-TW" dirty="0">
                          <a:solidFill>
                            <a:schemeClr val="tx1"/>
                          </a:solidFill>
                        </a:rPr>
                        <a:t>Combination</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3m</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5m</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9m</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waste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424521"/>
                  </a:ext>
                </a:extLst>
              </a:tr>
              <a:tr h="381701">
                <a:tc>
                  <a:txBody>
                    <a:bodyPr/>
                    <a:lstStyle/>
                    <a:p>
                      <a:pPr algn="ctr"/>
                      <a:r>
                        <a:rPr lang="en-US" altLang="zh-TW" dirty="0">
                          <a:solidFill>
                            <a:schemeClr val="tx1"/>
                          </a:solidFill>
                        </a:rPr>
                        <a:t>X1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50049"/>
                  </a:ext>
                </a:extLst>
              </a:tr>
              <a:tr h="381701">
                <a:tc>
                  <a:txBody>
                    <a:bodyPr/>
                    <a:lstStyle/>
                    <a:p>
                      <a:pPr algn="ctr"/>
                      <a:r>
                        <a:rPr lang="en-US" altLang="zh-TW" dirty="0">
                          <a:solidFill>
                            <a:schemeClr val="tx1"/>
                          </a:solidFill>
                        </a:rPr>
                        <a:t>X2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182235"/>
                  </a:ext>
                </a:extLst>
              </a:tr>
              <a:tr h="381701">
                <a:tc>
                  <a:txBody>
                    <a:bodyPr/>
                    <a:lstStyle/>
                    <a:p>
                      <a:pPr algn="ctr"/>
                      <a:r>
                        <a:rPr lang="en-US" altLang="zh-TW" dirty="0">
                          <a:solidFill>
                            <a:schemeClr val="tx1"/>
                          </a:solidFill>
                        </a:rPr>
                        <a:t>X3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249908"/>
                  </a:ext>
                </a:extLst>
              </a:tr>
              <a:tr h="381701">
                <a:tc>
                  <a:txBody>
                    <a:bodyPr/>
                    <a:lstStyle/>
                    <a:p>
                      <a:pPr algn="ctr"/>
                      <a:r>
                        <a:rPr lang="en-US" altLang="zh-TW" dirty="0">
                          <a:solidFill>
                            <a:schemeClr val="tx1"/>
                          </a:solidFill>
                        </a:rPr>
                        <a:t>X4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183863"/>
                  </a:ext>
                </a:extLst>
              </a:tr>
              <a:tr h="381701">
                <a:tc>
                  <a:txBody>
                    <a:bodyPr/>
                    <a:lstStyle/>
                    <a:p>
                      <a:pPr algn="ctr"/>
                      <a:r>
                        <a:rPr lang="en-US" altLang="zh-TW" dirty="0">
                          <a:solidFill>
                            <a:schemeClr val="tx1"/>
                          </a:solidFill>
                        </a:rPr>
                        <a:t>X5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4407880"/>
                  </a:ext>
                </a:extLst>
              </a:tr>
              <a:tr h="381701">
                <a:tc>
                  <a:txBody>
                    <a:bodyPr/>
                    <a:lstStyle/>
                    <a:p>
                      <a:pPr algn="ctr"/>
                      <a:r>
                        <a:rPr lang="en-US" altLang="zh-TW" dirty="0">
                          <a:solidFill>
                            <a:schemeClr val="tx1"/>
                          </a:solidFill>
                        </a:rPr>
                        <a:t>x6</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2856717"/>
                  </a:ext>
                </a:extLst>
              </a:tr>
              <a:tr h="381701">
                <a:tc>
                  <a:txBody>
                    <a:bodyPr/>
                    <a:lstStyle/>
                    <a:p>
                      <a:pPr algn="ctr"/>
                      <a:r>
                        <a:rPr lang="en-US" altLang="zh-TW" dirty="0">
                          <a:solidFill>
                            <a:schemeClr val="tx1"/>
                          </a:solidFill>
                        </a:rPr>
                        <a:t>x7</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8</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64464"/>
                  </a:ext>
                </a:extLst>
              </a:tr>
            </a:tbl>
          </a:graphicData>
        </a:graphic>
      </p:graphicFrame>
    </p:spTree>
    <p:extLst>
      <p:ext uri="{BB962C8B-B14F-4D97-AF65-F5344CB8AC3E}">
        <p14:creationId xmlns:p14="http://schemas.microsoft.com/office/powerpoint/2010/main" val="258888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B12E76CE-9B7A-43F7-899C-647CA33501DE}"/>
                  </a:ext>
                </a:extLst>
              </p:cNvPr>
              <p:cNvSpPr/>
              <p:nvPr/>
            </p:nvSpPr>
            <p:spPr>
              <a:xfrm>
                <a:off x="6394235" y="375728"/>
                <a:ext cx="1111625" cy="11474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8</m:t>
                        </m:r>
                      </m:num>
                      <m:den>
                        <m:r>
                          <a:rPr lang="en-US" altLang="zh-TW" sz="2400" b="0" i="1" smtClean="0">
                            <a:latin typeface="Cambria Math" panose="02040503050406030204" pitchFamily="18" charset="0"/>
                          </a:rPr>
                          <m:t>9</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a:t>
                </a:r>
                <a14:m>
                  <m:oMath xmlns:m="http://schemas.openxmlformats.org/officeDocument/2006/math">
                    <m:f>
                      <m:fPr>
                        <m:ctrlPr>
                          <a:rPr lang="en-US" altLang="zh-TW" sz="2400" i="1" dirty="0" smtClean="0">
                            <a:solidFill>
                              <a:sysClr val="windowText" lastClr="000000"/>
                            </a:solidFill>
                            <a:latin typeface="Cambria Math" panose="02040503050406030204" pitchFamily="18" charset="0"/>
                          </a:rPr>
                        </m:ctrlPr>
                      </m:fPr>
                      <m:num>
                        <m:r>
                          <a:rPr lang="en-US" altLang="zh-TW" sz="2400" b="0" i="1" dirty="0" smtClean="0">
                            <a:solidFill>
                              <a:sysClr val="windowText" lastClr="000000"/>
                            </a:solidFill>
                            <a:latin typeface="Cambria Math" panose="02040503050406030204" pitchFamily="18" charset="0"/>
                          </a:rPr>
                          <m:t>17</m:t>
                        </m:r>
                      </m:num>
                      <m:den>
                        <m:r>
                          <a:rPr lang="en-US" altLang="zh-TW" sz="2400" b="0" i="1" dirty="0" smtClean="0">
                            <a:solidFill>
                              <a:sysClr val="windowText" lastClr="000000"/>
                            </a:solidFill>
                            <a:latin typeface="Cambria Math" panose="02040503050406030204" pitchFamily="18" charset="0"/>
                          </a:rPr>
                          <m:t>9</m:t>
                        </m:r>
                      </m:den>
                    </m:f>
                  </m:oMath>
                </a14:m>
                <a:endParaRPr lang="zh-TW" altLang="en-US" sz="2800" dirty="0">
                  <a:solidFill>
                    <a:sysClr val="windowText" lastClr="000000"/>
                  </a:solidFill>
                </a:endParaRPr>
              </a:p>
            </p:txBody>
          </p:sp>
        </mc:Choice>
        <mc:Fallback>
          <p:sp>
            <p:nvSpPr>
              <p:cNvPr id="4" name="矩形 3">
                <a:extLst>
                  <a:ext uri="{FF2B5EF4-FFF2-40B4-BE49-F238E27FC236}">
                    <a16:creationId xmlns:a16="http://schemas.microsoft.com/office/drawing/2014/main" id="{B12E76CE-9B7A-43F7-899C-647CA33501DE}"/>
                  </a:ext>
                </a:extLst>
              </p:cNvPr>
              <p:cNvSpPr>
                <a:spLocks noRot="1" noChangeAspect="1" noMove="1" noResize="1" noEditPoints="1" noAdjustHandles="1" noChangeArrowheads="1" noChangeShapeType="1" noTextEdit="1"/>
              </p:cNvSpPr>
              <p:nvPr/>
            </p:nvSpPr>
            <p:spPr>
              <a:xfrm>
                <a:off x="6394235" y="375728"/>
                <a:ext cx="1111625" cy="1147482"/>
              </a:xfrm>
              <a:prstGeom prst="rect">
                <a:avLst/>
              </a:prstGeom>
              <a:blipFill>
                <a:blip r:embed="rId2"/>
                <a:stretch>
                  <a:fillRect b="-4211"/>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id="{33EC9BE2-8A1F-4D33-A7C6-02A72E6E75DE}"/>
              </a:ext>
            </a:extLst>
          </p:cNvPr>
          <p:cNvSpPr/>
          <p:nvPr/>
        </p:nvSpPr>
        <p:spPr>
          <a:xfrm>
            <a:off x="8449176" y="1672906"/>
            <a:ext cx="1926857" cy="17032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800" dirty="0">
                <a:solidFill>
                  <a:sysClr val="windowText" lastClr="000000"/>
                </a:solidFill>
              </a:rPr>
              <a:t>Infeasible</a:t>
            </a:r>
            <a:endParaRPr lang="zh-TW" altLang="en-US" sz="2800" dirty="0">
              <a:solidFill>
                <a:sysClr val="windowText" lastClr="000000"/>
              </a:solidFill>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A7BDEA44-9DFA-433E-8564-AFAA78013EE5}"/>
                  </a:ext>
                </a:extLst>
              </p:cNvPr>
              <p:cNvSpPr/>
              <p:nvPr/>
            </p:nvSpPr>
            <p:spPr>
              <a:xfrm>
                <a:off x="4440548" y="1672906"/>
                <a:ext cx="1139766" cy="17032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8</m:t>
                        </m:r>
                      </m:num>
                      <m:den>
                        <m:r>
                          <a:rPr lang="en-US" altLang="zh-TW" sz="2400" b="0" i="1" smtClean="0">
                            <a:latin typeface="Cambria Math" panose="02040503050406030204" pitchFamily="18" charset="0"/>
                          </a:rPr>
                          <m:t>15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a:t>
                </a:r>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8</m:t>
                        </m:r>
                      </m:num>
                      <m:den>
                        <m:r>
                          <a:rPr lang="en-US" altLang="zh-TW" sz="2400" b="0" i="1" smtClean="0">
                            <a:latin typeface="Cambria Math" panose="02040503050406030204" pitchFamily="18" charset="0"/>
                          </a:rPr>
                          <m:t>3</m:t>
                        </m:r>
                      </m:den>
                    </m:f>
                  </m:oMath>
                </a14:m>
                <a:endParaRPr lang="en-US" altLang="zh-TW" sz="2400" dirty="0">
                  <a:solidFill>
                    <a:sysClr val="windowText" lastClr="000000"/>
                  </a:solidFill>
                </a:endParaRPr>
              </a:p>
            </p:txBody>
          </p:sp>
        </mc:Choice>
        <mc:Fallback xmlns="">
          <p:sp>
            <p:nvSpPr>
              <p:cNvPr id="12" name="矩形 11">
                <a:extLst>
                  <a:ext uri="{FF2B5EF4-FFF2-40B4-BE49-F238E27FC236}">
                    <a16:creationId xmlns:a16="http://schemas.microsoft.com/office/drawing/2014/main" id="{A7BDEA44-9DFA-433E-8564-AFAA78013EE5}"/>
                  </a:ext>
                </a:extLst>
              </p:cNvPr>
              <p:cNvSpPr>
                <a:spLocks noRot="1" noChangeAspect="1" noMove="1" noResize="1" noEditPoints="1" noAdjustHandles="1" noChangeArrowheads="1" noChangeShapeType="1" noTextEdit="1"/>
              </p:cNvSpPr>
              <p:nvPr/>
            </p:nvSpPr>
            <p:spPr>
              <a:xfrm>
                <a:off x="4440548" y="1672906"/>
                <a:ext cx="1139766" cy="170329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A6EF276B-9979-4ABE-853C-80F171B19359}"/>
                  </a:ext>
                </a:extLst>
              </p:cNvPr>
              <p:cNvSpPr txBox="1"/>
              <p:nvPr/>
            </p:nvSpPr>
            <p:spPr>
              <a:xfrm>
                <a:off x="7365743" y="1708020"/>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2</m:t>
                      </m:r>
                    </m:oMath>
                  </m:oMathPara>
                </a14:m>
                <a:endParaRPr lang="zh-TW" altLang="en-US" dirty="0"/>
              </a:p>
            </p:txBody>
          </p:sp>
        </mc:Choice>
        <mc:Fallback>
          <p:sp>
            <p:nvSpPr>
              <p:cNvPr id="13" name="文字方塊 12">
                <a:extLst>
                  <a:ext uri="{FF2B5EF4-FFF2-40B4-BE49-F238E27FC236}">
                    <a16:creationId xmlns:a16="http://schemas.microsoft.com/office/drawing/2014/main" id="{A6EF276B-9979-4ABE-853C-80F171B19359}"/>
                  </a:ext>
                </a:extLst>
              </p:cNvPr>
              <p:cNvSpPr txBox="1">
                <a:spLocks noRot="1" noChangeAspect="1" noMove="1" noResize="1" noEditPoints="1" noAdjustHandles="1" noChangeArrowheads="1" noChangeShapeType="1" noTextEdit="1"/>
              </p:cNvSpPr>
              <p:nvPr/>
            </p:nvSpPr>
            <p:spPr>
              <a:xfrm>
                <a:off x="7365743" y="1708020"/>
                <a:ext cx="921387" cy="369332"/>
              </a:xfrm>
              <a:prstGeom prst="rect">
                <a:avLst/>
              </a:prstGeom>
              <a:blipFill>
                <a:blip r:embed="rId4"/>
                <a:stretch>
                  <a:fillRect l="-5298" r="-9934"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420B1C75-7ACC-4ACB-8BEF-0A3D7BEC2480}"/>
                  </a:ext>
                </a:extLst>
              </p:cNvPr>
              <p:cNvSpPr txBox="1"/>
              <p:nvPr/>
            </p:nvSpPr>
            <p:spPr>
              <a:xfrm>
                <a:off x="5580314" y="1720785"/>
                <a:ext cx="9547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1</m:t>
                      </m:r>
                    </m:oMath>
                  </m:oMathPara>
                </a14:m>
                <a:endParaRPr lang="zh-TW" altLang="en-US" sz="2400" dirty="0"/>
              </a:p>
            </p:txBody>
          </p:sp>
        </mc:Choice>
        <mc:Fallback xmlns="">
          <p:sp>
            <p:nvSpPr>
              <p:cNvPr id="14" name="文字方塊 13">
                <a:extLst>
                  <a:ext uri="{FF2B5EF4-FFF2-40B4-BE49-F238E27FC236}">
                    <a16:creationId xmlns:a16="http://schemas.microsoft.com/office/drawing/2014/main" id="{420B1C75-7ACC-4ACB-8BEF-0A3D7BEC2480}"/>
                  </a:ext>
                </a:extLst>
              </p:cNvPr>
              <p:cNvSpPr txBox="1">
                <a:spLocks noRot="1" noChangeAspect="1" noMove="1" noResize="1" noEditPoints="1" noAdjustHandles="1" noChangeArrowheads="1" noChangeShapeType="1" noTextEdit="1"/>
              </p:cNvSpPr>
              <p:nvPr/>
            </p:nvSpPr>
            <p:spPr>
              <a:xfrm>
                <a:off x="5580314" y="1720785"/>
                <a:ext cx="954749" cy="369332"/>
              </a:xfrm>
              <a:prstGeom prst="rect">
                <a:avLst/>
              </a:prstGeom>
              <a:blipFill>
                <a:blip r:embed="rId5"/>
                <a:stretch>
                  <a:fillRect l="-3822" r="-7643" b="-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9C7D8E90-A85B-440E-B731-166B4E12F905}"/>
                  </a:ext>
                </a:extLst>
              </p:cNvPr>
              <p:cNvSpPr txBox="1"/>
              <p:nvPr/>
            </p:nvSpPr>
            <p:spPr>
              <a:xfrm>
                <a:off x="5580314" y="3477261"/>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1</m:t>
                          </m:r>
                        </m:sub>
                      </m:sSub>
                      <m:r>
                        <a:rPr lang="zh-TW" altLang="en-US" sz="2400" i="1">
                          <a:latin typeface="Cambria Math" panose="02040503050406030204" pitchFamily="18" charset="0"/>
                        </a:rPr>
                        <m:t>≥</m:t>
                      </m:r>
                      <m:r>
                        <a:rPr lang="en-US" altLang="zh-TW" sz="2400" i="1">
                          <a:latin typeface="Cambria Math" panose="02040503050406030204" pitchFamily="18" charset="0"/>
                        </a:rPr>
                        <m:t>3</m:t>
                      </m:r>
                    </m:oMath>
                  </m:oMathPara>
                </a14:m>
                <a:endParaRPr lang="zh-TW" altLang="en-US" dirty="0"/>
              </a:p>
            </p:txBody>
          </p:sp>
        </mc:Choice>
        <mc:Fallback>
          <p:sp>
            <p:nvSpPr>
              <p:cNvPr id="15" name="文字方塊 14">
                <a:extLst>
                  <a:ext uri="{FF2B5EF4-FFF2-40B4-BE49-F238E27FC236}">
                    <a16:creationId xmlns:a16="http://schemas.microsoft.com/office/drawing/2014/main" id="{9C7D8E90-A85B-440E-B731-166B4E12F905}"/>
                  </a:ext>
                </a:extLst>
              </p:cNvPr>
              <p:cNvSpPr txBox="1">
                <a:spLocks noRot="1" noChangeAspect="1" noMove="1" noResize="1" noEditPoints="1" noAdjustHandles="1" noChangeArrowheads="1" noChangeShapeType="1" noTextEdit="1"/>
              </p:cNvSpPr>
              <p:nvPr/>
            </p:nvSpPr>
            <p:spPr>
              <a:xfrm>
                <a:off x="5580314" y="3477261"/>
                <a:ext cx="921387" cy="369332"/>
              </a:xfrm>
              <a:prstGeom prst="rect">
                <a:avLst/>
              </a:prstGeom>
              <a:blipFill>
                <a:blip r:embed="rId6"/>
                <a:stretch>
                  <a:fillRect l="-5263" r="-8553"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E5EA8892-E055-47B1-8DBF-BFFE129E9FED}"/>
                  </a:ext>
                </a:extLst>
              </p:cNvPr>
              <p:cNvSpPr txBox="1"/>
              <p:nvPr/>
            </p:nvSpPr>
            <p:spPr>
              <a:xfrm>
                <a:off x="3620521" y="3446552"/>
                <a:ext cx="94763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16" name="文字方塊 15">
                <a:extLst>
                  <a:ext uri="{FF2B5EF4-FFF2-40B4-BE49-F238E27FC236}">
                    <a16:creationId xmlns:a16="http://schemas.microsoft.com/office/drawing/2014/main" id="{E5EA8892-E055-47B1-8DBF-BFFE129E9FED}"/>
                  </a:ext>
                </a:extLst>
              </p:cNvPr>
              <p:cNvSpPr txBox="1">
                <a:spLocks noRot="1" noChangeAspect="1" noMove="1" noResize="1" noEditPoints="1" noAdjustHandles="1" noChangeArrowheads="1" noChangeShapeType="1" noTextEdit="1"/>
              </p:cNvSpPr>
              <p:nvPr/>
            </p:nvSpPr>
            <p:spPr>
              <a:xfrm>
                <a:off x="3620521" y="3446552"/>
                <a:ext cx="947632" cy="369332"/>
              </a:xfrm>
              <a:prstGeom prst="rect">
                <a:avLst/>
              </a:prstGeom>
              <a:blipFill>
                <a:blip r:embed="rId7"/>
                <a:stretch>
                  <a:fillRect l="-4516" r="-709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41C06E77-FB47-4ED3-88A2-851967CC7423}"/>
                  </a:ext>
                </a:extLst>
              </p:cNvPr>
              <p:cNvSpPr/>
              <p:nvPr/>
            </p:nvSpPr>
            <p:spPr>
              <a:xfrm>
                <a:off x="2177121" y="3395805"/>
                <a:ext cx="1384856" cy="183417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8</m:t>
                        </m:r>
                      </m:num>
                      <m:den>
                        <m:r>
                          <a:rPr lang="en-US" altLang="zh-TW" sz="2400" b="0" i="1" smtClean="0">
                            <a:latin typeface="Cambria Math" panose="02040503050406030204" pitchFamily="18" charset="0"/>
                          </a:rPr>
                          <m:t>15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=2</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a:t>
                </a:r>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2</m:t>
                        </m:r>
                      </m:num>
                      <m:den>
                        <m:r>
                          <a:rPr lang="en-US" altLang="zh-TW" sz="2400" b="0" i="1" smtClean="0">
                            <a:latin typeface="Cambria Math" panose="02040503050406030204" pitchFamily="18" charset="0"/>
                          </a:rPr>
                          <m:t>5</m:t>
                        </m:r>
                      </m:den>
                    </m:f>
                  </m:oMath>
                </a14:m>
                <a:endParaRPr lang="en-US" altLang="zh-TW" sz="2400" dirty="0">
                  <a:solidFill>
                    <a:sysClr val="windowText" lastClr="000000"/>
                  </a:solidFill>
                </a:endParaRPr>
              </a:p>
            </p:txBody>
          </p:sp>
        </mc:Choice>
        <mc:Fallback xmlns="">
          <p:sp>
            <p:nvSpPr>
              <p:cNvPr id="17" name="矩形 16">
                <a:extLst>
                  <a:ext uri="{FF2B5EF4-FFF2-40B4-BE49-F238E27FC236}">
                    <a16:creationId xmlns:a16="http://schemas.microsoft.com/office/drawing/2014/main" id="{41C06E77-FB47-4ED3-88A2-851967CC7423}"/>
                  </a:ext>
                </a:extLst>
              </p:cNvPr>
              <p:cNvSpPr>
                <a:spLocks noRot="1" noChangeAspect="1" noMove="1" noResize="1" noEditPoints="1" noAdjustHandles="1" noChangeArrowheads="1" noChangeShapeType="1" noTextEdit="1"/>
              </p:cNvSpPr>
              <p:nvPr/>
            </p:nvSpPr>
            <p:spPr>
              <a:xfrm>
                <a:off x="2177121" y="3395805"/>
                <a:ext cx="1384856" cy="1834172"/>
              </a:xfrm>
              <a:prstGeom prst="rect">
                <a:avLst/>
              </a:prstGeom>
              <a:blipFill>
                <a:blip r:embed="rId8"/>
                <a:stretch>
                  <a:fillRect b="-396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44DDEA4-73BD-4627-98B7-3E386D7B9664}"/>
                  </a:ext>
                </a:extLst>
              </p:cNvPr>
              <p:cNvSpPr txBox="1"/>
              <p:nvPr/>
            </p:nvSpPr>
            <p:spPr>
              <a:xfrm>
                <a:off x="1518445" y="5374302"/>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r>
                        <a:rPr lang="zh-TW" altLang="en-US" sz="2400" i="1">
                          <a:latin typeface="Cambria Math" panose="02040503050406030204" pitchFamily="18" charset="0"/>
                        </a:rPr>
                        <m:t>≥</m:t>
                      </m:r>
                      <m:r>
                        <a:rPr lang="en-US" altLang="zh-TW" sz="2400" b="0" i="1" smtClean="0">
                          <a:latin typeface="Cambria Math" panose="02040503050406030204" pitchFamily="18" charset="0"/>
                        </a:rPr>
                        <m:t>1</m:t>
                      </m:r>
                    </m:oMath>
                  </m:oMathPara>
                </a14:m>
                <a:endParaRPr lang="zh-TW" altLang="en-US" dirty="0"/>
              </a:p>
            </p:txBody>
          </p:sp>
        </mc:Choice>
        <mc:Fallback xmlns="">
          <p:sp>
            <p:nvSpPr>
              <p:cNvPr id="18" name="文字方塊 17">
                <a:extLst>
                  <a:ext uri="{FF2B5EF4-FFF2-40B4-BE49-F238E27FC236}">
                    <a16:creationId xmlns:a16="http://schemas.microsoft.com/office/drawing/2014/main" id="{C44DDEA4-73BD-4627-98B7-3E386D7B9664}"/>
                  </a:ext>
                </a:extLst>
              </p:cNvPr>
              <p:cNvSpPr txBox="1">
                <a:spLocks noRot="1" noChangeAspect="1" noMove="1" noResize="1" noEditPoints="1" noAdjustHandles="1" noChangeArrowheads="1" noChangeShapeType="1" noTextEdit="1"/>
              </p:cNvSpPr>
              <p:nvPr/>
            </p:nvSpPr>
            <p:spPr>
              <a:xfrm>
                <a:off x="1518445" y="5374302"/>
                <a:ext cx="921387" cy="369332"/>
              </a:xfrm>
              <a:prstGeom prst="rect">
                <a:avLst/>
              </a:prstGeom>
              <a:blipFill>
                <a:blip r:embed="rId9"/>
                <a:stretch>
                  <a:fillRect l="-5298" r="-9934"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561FE506-77E3-4DD9-85A6-CF402DFA4F5A}"/>
                  </a:ext>
                </a:extLst>
              </p:cNvPr>
              <p:cNvSpPr txBox="1"/>
              <p:nvPr/>
            </p:nvSpPr>
            <p:spPr>
              <a:xfrm>
                <a:off x="3755946" y="5385469"/>
                <a:ext cx="9547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0</m:t>
                      </m:r>
                    </m:oMath>
                  </m:oMathPara>
                </a14:m>
                <a:endParaRPr lang="zh-TW" altLang="en-US" sz="2400" dirty="0"/>
              </a:p>
            </p:txBody>
          </p:sp>
        </mc:Choice>
        <mc:Fallback xmlns="">
          <p:sp>
            <p:nvSpPr>
              <p:cNvPr id="19" name="文字方塊 18">
                <a:extLst>
                  <a:ext uri="{FF2B5EF4-FFF2-40B4-BE49-F238E27FC236}">
                    <a16:creationId xmlns:a16="http://schemas.microsoft.com/office/drawing/2014/main" id="{561FE506-77E3-4DD9-85A6-CF402DFA4F5A}"/>
                  </a:ext>
                </a:extLst>
              </p:cNvPr>
              <p:cNvSpPr txBox="1">
                <a:spLocks noRot="1" noChangeAspect="1" noMove="1" noResize="1" noEditPoints="1" noAdjustHandles="1" noChangeArrowheads="1" noChangeShapeType="1" noTextEdit="1"/>
              </p:cNvSpPr>
              <p:nvPr/>
            </p:nvSpPr>
            <p:spPr>
              <a:xfrm>
                <a:off x="3755946" y="5385469"/>
                <a:ext cx="954749" cy="369332"/>
              </a:xfrm>
              <a:prstGeom prst="rect">
                <a:avLst/>
              </a:prstGeom>
              <a:blipFill>
                <a:blip r:embed="rId10"/>
                <a:stretch>
                  <a:fillRect l="-3822" r="-7643"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2C675D50-7ECE-404C-A849-5EEC227BBDD0}"/>
                  </a:ext>
                </a:extLst>
              </p:cNvPr>
              <p:cNvSpPr/>
              <p:nvPr/>
            </p:nvSpPr>
            <p:spPr>
              <a:xfrm>
                <a:off x="146551" y="5224296"/>
                <a:ext cx="1265093" cy="15174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8</m:t>
                        </m:r>
                      </m:num>
                      <m:den>
                        <m:r>
                          <a:rPr lang="en-US" altLang="zh-TW" sz="2400" b="0" i="1" smtClean="0">
                            <a:latin typeface="Cambria Math" panose="02040503050406030204" pitchFamily="18" charset="0"/>
                          </a:rPr>
                          <m:t>15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=1</a:t>
                </a:r>
              </a:p>
            </p:txBody>
          </p:sp>
        </mc:Choice>
        <mc:Fallback xmlns="">
          <p:sp>
            <p:nvSpPr>
              <p:cNvPr id="20" name="矩形 19">
                <a:extLst>
                  <a:ext uri="{FF2B5EF4-FFF2-40B4-BE49-F238E27FC236}">
                    <a16:creationId xmlns:a16="http://schemas.microsoft.com/office/drawing/2014/main" id="{2C675D50-7ECE-404C-A849-5EEC227BBDD0}"/>
                  </a:ext>
                </a:extLst>
              </p:cNvPr>
              <p:cNvSpPr>
                <a:spLocks noRot="1" noChangeAspect="1" noMove="1" noResize="1" noEditPoints="1" noAdjustHandles="1" noChangeArrowheads="1" noChangeShapeType="1" noTextEdit="1"/>
              </p:cNvSpPr>
              <p:nvPr/>
            </p:nvSpPr>
            <p:spPr>
              <a:xfrm>
                <a:off x="146551" y="5224296"/>
                <a:ext cx="1265093" cy="1517489"/>
              </a:xfrm>
              <a:prstGeom prst="rect">
                <a:avLst/>
              </a:prstGeom>
              <a:blipFill>
                <a:blip r:embed="rId11"/>
                <a:stretch>
                  <a:fillRect t="-3984" b="-1474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1" name="矩形 20">
                <a:extLst>
                  <a:ext uri="{FF2B5EF4-FFF2-40B4-BE49-F238E27FC236}">
                    <a16:creationId xmlns:a16="http://schemas.microsoft.com/office/drawing/2014/main" id="{C7A3E532-9A6D-46B5-A022-C22F5F51F4A9}"/>
                  </a:ext>
                </a:extLst>
              </p:cNvPr>
              <p:cNvSpPr/>
              <p:nvPr/>
            </p:nvSpPr>
            <p:spPr>
              <a:xfrm>
                <a:off x="6535063" y="3395805"/>
                <a:ext cx="1384856" cy="183417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22</m:t>
                        </m:r>
                      </m:num>
                      <m:den>
                        <m:r>
                          <a:rPr lang="en-US" altLang="zh-TW" sz="2400" b="0" i="1" smtClean="0">
                            <a:latin typeface="Cambria Math" panose="02040503050406030204" pitchFamily="18" charset="0"/>
                          </a:rPr>
                          <m:t>45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=3</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a:t>
                </a:r>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8</m:t>
                        </m:r>
                      </m:num>
                      <m:den>
                        <m:r>
                          <a:rPr lang="en-US" altLang="zh-TW" sz="2400" b="0" i="1" smtClean="0">
                            <a:latin typeface="Cambria Math" panose="02040503050406030204" pitchFamily="18" charset="0"/>
                          </a:rPr>
                          <m:t>9</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=0</a:t>
                </a:r>
              </a:p>
            </p:txBody>
          </p:sp>
        </mc:Choice>
        <mc:Fallback>
          <p:sp>
            <p:nvSpPr>
              <p:cNvPr id="21" name="矩形 20">
                <a:extLst>
                  <a:ext uri="{FF2B5EF4-FFF2-40B4-BE49-F238E27FC236}">
                    <a16:creationId xmlns:a16="http://schemas.microsoft.com/office/drawing/2014/main" id="{C7A3E532-9A6D-46B5-A022-C22F5F51F4A9}"/>
                  </a:ext>
                </a:extLst>
              </p:cNvPr>
              <p:cNvSpPr>
                <a:spLocks noRot="1" noChangeAspect="1" noMove="1" noResize="1" noEditPoints="1" noAdjustHandles="1" noChangeArrowheads="1" noChangeShapeType="1" noTextEdit="1"/>
              </p:cNvSpPr>
              <p:nvPr/>
            </p:nvSpPr>
            <p:spPr>
              <a:xfrm>
                <a:off x="6535063" y="3395805"/>
                <a:ext cx="1384856" cy="1834172"/>
              </a:xfrm>
              <a:prstGeom prst="rect">
                <a:avLst/>
              </a:prstGeom>
              <a:blipFill>
                <a:blip r:embed="rId12"/>
                <a:stretch>
                  <a:fillRect b="-79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3614E4FE-2C23-4B03-80AC-8279858AA187}"/>
                  </a:ext>
                </a:extLst>
              </p:cNvPr>
              <p:cNvSpPr/>
              <p:nvPr/>
            </p:nvSpPr>
            <p:spPr>
              <a:xfrm>
                <a:off x="4823190" y="5233737"/>
                <a:ext cx="1122145" cy="15174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 </a:t>
                </a:r>
                <a14:m>
                  <m:oMath xmlns:m="http://schemas.openxmlformats.org/officeDocument/2006/math">
                    <m:f>
                      <m:fPr>
                        <m:ctrlPr>
                          <a:rPr lang="en-US" altLang="zh-TW" sz="2400" i="1" dirty="0" smtClean="0">
                            <a:solidFill>
                              <a:sysClr val="windowText" lastClr="000000"/>
                            </a:solidFill>
                            <a:latin typeface="Cambria Math" panose="02040503050406030204" pitchFamily="18" charset="0"/>
                          </a:rPr>
                        </m:ctrlPr>
                      </m:fPr>
                      <m:num>
                        <m:r>
                          <a:rPr lang="en-US" altLang="zh-TW" sz="2400" b="0" i="1" dirty="0" smtClean="0">
                            <a:solidFill>
                              <a:sysClr val="windowText" lastClr="000000"/>
                            </a:solidFill>
                            <a:latin typeface="Cambria Math" panose="02040503050406030204" pitchFamily="18" charset="0"/>
                          </a:rPr>
                          <m:t>2</m:t>
                        </m:r>
                      </m:num>
                      <m:den>
                        <m:r>
                          <a:rPr lang="en-US" altLang="zh-TW" sz="2400" b="0" i="1" dirty="0" smtClean="0">
                            <a:solidFill>
                              <a:sysClr val="windowText" lastClr="000000"/>
                            </a:solidFill>
                            <a:latin typeface="Cambria Math" panose="02040503050406030204" pitchFamily="18" charset="0"/>
                          </a:rPr>
                          <m:t>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 2</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 =</a:t>
                </a:r>
                <a:r>
                  <a:rPr lang="en-US" altLang="zh-TW" sz="2400" dirty="0"/>
                  <a:t> </a:t>
                </a:r>
                <a14:m>
                  <m:oMath xmlns:m="http://schemas.openxmlformats.org/officeDocument/2006/math">
                    <m:r>
                      <a:rPr lang="en-US" altLang="zh-TW" sz="2400" i="1" smtClean="0">
                        <a:latin typeface="Cambria Math" panose="02040503050406030204" pitchFamily="18" charset="0"/>
                      </a:rPr>
                      <m:t>1</m:t>
                    </m:r>
                  </m:oMath>
                </a14:m>
                <a:endParaRPr lang="en-US" altLang="zh-TW" sz="2400" dirty="0"/>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 =0</a:t>
                </a:r>
              </a:p>
            </p:txBody>
          </p:sp>
        </mc:Choice>
        <mc:Fallback xmlns="">
          <p:sp>
            <p:nvSpPr>
              <p:cNvPr id="22" name="矩形 21">
                <a:extLst>
                  <a:ext uri="{FF2B5EF4-FFF2-40B4-BE49-F238E27FC236}">
                    <a16:creationId xmlns:a16="http://schemas.microsoft.com/office/drawing/2014/main" id="{3614E4FE-2C23-4B03-80AC-8279858AA187}"/>
                  </a:ext>
                </a:extLst>
              </p:cNvPr>
              <p:cNvSpPr>
                <a:spLocks noRot="1" noChangeAspect="1" noMove="1" noResize="1" noEditPoints="1" noAdjustHandles="1" noChangeArrowheads="1" noChangeShapeType="1" noTextEdit="1"/>
              </p:cNvSpPr>
              <p:nvPr/>
            </p:nvSpPr>
            <p:spPr>
              <a:xfrm>
                <a:off x="4823190" y="5233737"/>
                <a:ext cx="1122145" cy="1517489"/>
              </a:xfrm>
              <a:prstGeom prst="rect">
                <a:avLst/>
              </a:prstGeom>
              <a:blipFill>
                <a:blip r:embed="rId13"/>
                <a:stretch>
                  <a:fillRect t="-4000" b="-152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8904FFF8-B5B4-455E-856E-4D6A87ABE250}"/>
                  </a:ext>
                </a:extLst>
              </p:cNvPr>
              <p:cNvSpPr txBox="1"/>
              <p:nvPr/>
            </p:nvSpPr>
            <p:spPr>
              <a:xfrm>
                <a:off x="287648" y="208702"/>
                <a:ext cx="8305800" cy="703398"/>
              </a:xfrm>
              <a:prstGeom prst="rect">
                <a:avLst/>
              </a:prstGeom>
              <a:noFill/>
            </p:spPr>
            <p:txBody>
              <a:bodyPr wrap="square">
                <a:spAutoFit/>
              </a:bodyPr>
              <a:lstStyle/>
              <a:p>
                <a:r>
                  <a:rPr lang="en-US" altLang="zh-TW" sz="2800" dirty="0"/>
                  <a:t>Max z = </a:t>
                </a:r>
                <a14:m>
                  <m:oMath xmlns:m="http://schemas.openxmlformats.org/officeDocument/2006/math">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5</m:t>
                        </m:r>
                      </m:den>
                    </m:f>
                  </m:oMath>
                </a14:m>
                <a:r>
                  <a:rPr lang="en-US" altLang="zh-TW" sz="2800" dirty="0">
                    <a:ea typeface="Cambria Math" panose="02040503050406030204" pitchFamily="18" charset="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1</m:t>
                        </m:r>
                      </m:sub>
                    </m:sSub>
                    <m:r>
                      <a:rPr lang="en-US" altLang="zh-TW" sz="2800" i="1">
                        <a:latin typeface="Cambria Math" panose="02040503050406030204" pitchFamily="18" charset="0"/>
                        <a:ea typeface="Cambria Math" panose="02040503050406030204" pitchFamily="18" charset="0"/>
                      </a:rPr>
                      <m:t> </m:t>
                    </m:r>
                  </m:oMath>
                </a14:m>
                <a:r>
                  <a:rPr lang="en-US" altLang="zh-TW" sz="2800" dirty="0"/>
                  <a:t>+ </a:t>
                </a:r>
                <a14:m>
                  <m:oMath xmlns:m="http://schemas.openxmlformats.org/officeDocument/2006/math">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3</m:t>
                        </m:r>
                      </m:den>
                    </m:f>
                  </m:oMath>
                </a14:m>
                <a:r>
                  <a:rPr lang="en-US" altLang="zh-TW" sz="2800" dirty="0">
                    <a:ea typeface="Cambria Math" panose="02040503050406030204" pitchFamily="18" charset="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2</m:t>
                        </m:r>
                      </m:sub>
                    </m:sSub>
                  </m:oMath>
                </a14:m>
                <a:r>
                  <a:rPr lang="en-US" altLang="zh-TW" sz="2800" dirty="0"/>
                  <a:t> +</a:t>
                </a:r>
                <a:r>
                  <a:rPr lang="zh-TW" altLang="en-US" sz="2800" dirty="0"/>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3</m:t>
                        </m:r>
                      </m:sub>
                    </m:sSub>
                  </m:oMath>
                </a14:m>
                <a:r>
                  <a:rPr lang="en-US" altLang="zh-TW" sz="2800" dirty="0"/>
                  <a:t> -1 </a:t>
                </a:r>
                <a:endParaRPr lang="zh-TW" altLang="en-US" sz="2800" dirty="0"/>
              </a:p>
            </p:txBody>
          </p:sp>
        </mc:Choice>
        <mc:Fallback>
          <p:sp>
            <p:nvSpPr>
              <p:cNvPr id="29" name="文字方塊 28">
                <a:extLst>
                  <a:ext uri="{FF2B5EF4-FFF2-40B4-BE49-F238E27FC236}">
                    <a16:creationId xmlns:a16="http://schemas.microsoft.com/office/drawing/2014/main" id="{8904FFF8-B5B4-455E-856E-4D6A87ABE250}"/>
                  </a:ext>
                </a:extLst>
              </p:cNvPr>
              <p:cNvSpPr txBox="1">
                <a:spLocks noRot="1" noChangeAspect="1" noMove="1" noResize="1" noEditPoints="1" noAdjustHandles="1" noChangeArrowheads="1" noChangeShapeType="1" noTextEdit="1"/>
              </p:cNvSpPr>
              <p:nvPr/>
            </p:nvSpPr>
            <p:spPr>
              <a:xfrm>
                <a:off x="287648" y="208702"/>
                <a:ext cx="8305800" cy="703398"/>
              </a:xfrm>
              <a:prstGeom prst="rect">
                <a:avLst/>
              </a:prstGeom>
              <a:blipFill>
                <a:blip r:embed="rId14"/>
                <a:stretch>
                  <a:fillRect l="-1467" b="-112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A77B24CC-6A07-4D80-A0E4-E75C717B4FC6}"/>
                  </a:ext>
                </a:extLst>
              </p:cNvPr>
              <p:cNvSpPr txBox="1"/>
              <p:nvPr/>
            </p:nvSpPr>
            <p:spPr>
              <a:xfrm>
                <a:off x="-589101" y="936039"/>
                <a:ext cx="5670177"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3</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1</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5</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2</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9</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3</m:t>
                          </m:r>
                        </m:sub>
                      </m:sSub>
                      <m:r>
                        <a:rPr lang="zh-TW" altLang="en-US" sz="2800" i="1">
                          <a:latin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1</m:t>
                      </m:r>
                      <m:r>
                        <a:rPr lang="en-US" altLang="zh-TW" sz="2800" b="0" i="0" smtClean="0">
                          <a:latin typeface="Cambria Math" panose="02040503050406030204" pitchFamily="18" charset="0"/>
                          <a:ea typeface="Cambria Math" panose="02040503050406030204" pitchFamily="18" charset="0"/>
                        </a:rPr>
                        <m:t>7</m:t>
                      </m:r>
                    </m:oMath>
                  </m:oMathPara>
                </a14:m>
                <a:endParaRPr lang="zh-TW" altLang="en-US" sz="2800" dirty="0"/>
              </a:p>
            </p:txBody>
          </p:sp>
        </mc:Choice>
        <mc:Fallback xmlns="">
          <p:sp>
            <p:nvSpPr>
              <p:cNvPr id="30" name="文字方塊 29">
                <a:extLst>
                  <a:ext uri="{FF2B5EF4-FFF2-40B4-BE49-F238E27FC236}">
                    <a16:creationId xmlns:a16="http://schemas.microsoft.com/office/drawing/2014/main" id="{A77B24CC-6A07-4D80-A0E4-E75C717B4FC6}"/>
                  </a:ext>
                </a:extLst>
              </p:cNvPr>
              <p:cNvSpPr txBox="1">
                <a:spLocks noRot="1" noChangeAspect="1" noMove="1" noResize="1" noEditPoints="1" noAdjustHandles="1" noChangeArrowheads="1" noChangeShapeType="1" noTextEdit="1"/>
              </p:cNvSpPr>
              <p:nvPr/>
            </p:nvSpPr>
            <p:spPr>
              <a:xfrm>
                <a:off x="-589101" y="936039"/>
                <a:ext cx="5670177" cy="430887"/>
              </a:xfrm>
              <a:prstGeom prst="rect">
                <a:avLst/>
              </a:prstGeom>
              <a:blipFill>
                <a:blip r:embed="rId1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72187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22CDC02F-641F-4547-8BFB-3D7EF1C1FEDD}"/>
                  </a:ext>
                </a:extLst>
              </p:cNvPr>
              <p:cNvSpPr txBox="1"/>
              <p:nvPr/>
            </p:nvSpPr>
            <p:spPr>
              <a:xfrm>
                <a:off x="519950" y="351244"/>
                <a:ext cx="7440705" cy="1732397"/>
              </a:xfrm>
              <a:prstGeom prst="rect">
                <a:avLst/>
              </a:prstGeom>
              <a:noFill/>
            </p:spPr>
            <p:txBody>
              <a:bodyPr wrap="square">
                <a:spAutoFit/>
              </a:bodyPr>
              <a:lstStyle/>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𝐵</m:t>
                        </m:r>
                      </m:e>
                      <m:sub>
                        <m:r>
                          <a:rPr lang="en-US" altLang="zh-TW" sz="2800" b="0" i="1" smtClean="0">
                            <a:latin typeface="Cambria Math" panose="02040503050406030204" pitchFamily="18" charset="0"/>
                          </a:rPr>
                          <m:t>0</m:t>
                        </m:r>
                      </m:sub>
                      <m:sup>
                        <m:r>
                          <a:rPr lang="en-US" altLang="zh-TW" sz="2800" b="0" i="1" smtClean="0">
                            <a:latin typeface="Cambria Math" panose="02040503050406030204" pitchFamily="18" charset="0"/>
                          </a:rPr>
                          <m:t>−1</m:t>
                        </m:r>
                      </m:sup>
                    </m:sSubSup>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1</m:t>
                                  </m:r>
                                </m:sub>
                              </m:sSub>
                            </m:e>
                          </m:m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2</m:t>
                                  </m:r>
                                </m:sub>
                              </m:sSub>
                            </m:e>
                          </m:m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3</m:t>
                                  </m:r>
                                </m:sub>
                              </m:sSub>
                            </m:e>
                          </m:mr>
                        </m:m>
                      </m:e>
                    </m:d>
                    <m:r>
                      <a:rPr lang="en-US" altLang="zh-TW" sz="2800" i="1">
                        <a:latin typeface="Cambria Math" panose="02040503050406030204" pitchFamily="18" charset="0"/>
                        <a:ea typeface="Cambria Math" panose="02040503050406030204" pitchFamily="18" charset="0"/>
                      </a:rPr>
                      <m:t> </m:t>
                    </m:r>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mr>
                          <m:mr>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r>
                                <a:rPr lang="en-US" altLang="zh-TW" sz="2800" i="1" dirty="0">
                                  <a:latin typeface="Cambria Math" panose="02040503050406030204" pitchFamily="18" charset="0"/>
                                </a:rPr>
                                <m:t>0</m:t>
                              </m:r>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r>
                      <a:rPr lang="en-US" altLang="zh-TW" sz="2800" i="1" dirty="0">
                        <a:latin typeface="Cambria Math" panose="02040503050406030204" pitchFamily="18" charset="0"/>
                      </a:rPr>
                      <m:t> </m:t>
                    </m:r>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smtClean="0">
                                <a:latin typeface="Cambria Math" panose="02040503050406030204" pitchFamily="18" charset="0"/>
                              </a:rPr>
                            </m:ctrlPr>
                          </m:mPr>
                          <m:mr>
                            <m:e>
                              <m:r>
                                <a:rPr lang="en-US" altLang="zh-TW" sz="2800" b="0" i="1" smtClean="0">
                                  <a:latin typeface="Cambria Math" panose="02040503050406030204" pitchFamily="18" charset="0"/>
                                </a:rPr>
                                <m:t>1</m:t>
                              </m:r>
                            </m:e>
                          </m:mr>
                          <m:mr>
                            <m:e>
                              <m:r>
                                <a:rPr lang="en-US" altLang="zh-TW" sz="2800" b="0" i="1" smtClean="0">
                                  <a:latin typeface="Cambria Math" panose="02040503050406030204" pitchFamily="18" charset="0"/>
                                </a:rPr>
                                <m:t>1</m:t>
                              </m:r>
                            </m:e>
                          </m:mr>
                          <m:mr>
                            <m:e>
                              <m:r>
                                <a:rPr lang="en-US" altLang="zh-TW" sz="2800" i="1">
                                  <a:latin typeface="Cambria Math" panose="02040503050406030204" pitchFamily="18" charset="0"/>
                                </a:rPr>
                                <m:t>1</m:t>
                              </m:r>
                            </m:e>
                          </m:mr>
                        </m:m>
                      </m:e>
                    </m:d>
                  </m:oMath>
                </a14:m>
                <a:r>
                  <a:rPr lang="en-US" altLang="zh-TW" sz="2800" dirty="0"/>
                  <a:t>  = </a:t>
                </a:r>
                <a14:m>
                  <m:oMath xmlns:m="http://schemas.openxmlformats.org/officeDocument/2006/math">
                    <m:d>
                      <m:dPr>
                        <m:begChr m:val="["/>
                        <m:endChr m:val="]"/>
                        <m:ctrlPr>
                          <a:rPr lang="en-US" altLang="zh-TW" sz="2800" i="1" dirty="0" smtClean="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5</m:t>
                                  </m:r>
                                </m:den>
                              </m:f>
                            </m:e>
                          </m:mr>
                          <m:mr>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3</m:t>
                                  </m:r>
                                </m:den>
                              </m:f>
                            </m:e>
                          </m:mr>
                          <m:mr>
                            <m:e>
                              <m:r>
                                <a:rPr lang="en-US" altLang="zh-TW" sz="2800" i="1">
                                  <a:latin typeface="Cambria Math" panose="02040503050406030204" pitchFamily="18" charset="0"/>
                                </a:rPr>
                                <m:t>1</m:t>
                              </m:r>
                            </m:e>
                          </m:mr>
                        </m:m>
                      </m:e>
                    </m:d>
                  </m:oMath>
                </a14:m>
                <a:endParaRPr lang="zh-TW" altLang="en-US" sz="2800" dirty="0"/>
              </a:p>
            </p:txBody>
          </p:sp>
        </mc:Choice>
        <mc:Fallback xmlns="">
          <p:sp>
            <p:nvSpPr>
              <p:cNvPr id="5" name="文字方塊 4">
                <a:extLst>
                  <a:ext uri="{FF2B5EF4-FFF2-40B4-BE49-F238E27FC236}">
                    <a16:creationId xmlns:a16="http://schemas.microsoft.com/office/drawing/2014/main" id="{22CDC02F-641F-4547-8BFB-3D7EF1C1FEDD}"/>
                  </a:ext>
                </a:extLst>
              </p:cNvPr>
              <p:cNvSpPr txBox="1">
                <a:spLocks noRot="1" noChangeAspect="1" noMove="1" noResize="1" noEditPoints="1" noAdjustHandles="1" noChangeArrowheads="1" noChangeShapeType="1" noTextEdit="1"/>
              </p:cNvSpPr>
              <p:nvPr/>
            </p:nvSpPr>
            <p:spPr>
              <a:xfrm>
                <a:off x="519950" y="351244"/>
                <a:ext cx="7440705" cy="173239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DED80337-9787-4751-A457-B265147DF8C9}"/>
                  </a:ext>
                </a:extLst>
              </p:cNvPr>
              <p:cNvSpPr txBox="1"/>
              <p:nvPr/>
            </p:nvSpPr>
            <p:spPr>
              <a:xfrm>
                <a:off x="7557244" y="525553"/>
                <a:ext cx="4814049" cy="1642886"/>
              </a:xfrm>
              <a:prstGeom prst="rect">
                <a:avLst/>
              </a:prstGeom>
              <a:noFill/>
            </p:spPr>
            <p:txBody>
              <a:bodyPr wrap="square" lIns="0" tIns="0" rIns="0" bIns="0" rtlCol="0">
                <a:spAutoFit/>
              </a:bodyPr>
              <a:lstStyle/>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i="1">
                            <a:latin typeface="Cambria Math" panose="02040503050406030204" pitchFamily="18" charset="0"/>
                          </a:rPr>
                          <m:t>0</m:t>
                        </m:r>
                      </m:sub>
                      <m:sup>
                        <m:r>
                          <a:rPr lang="en-US" altLang="zh-TW" sz="2800" i="1">
                            <a:latin typeface="Cambria Math" panose="02040503050406030204" pitchFamily="18" charset="0"/>
                          </a:rPr>
                          <m:t>−1</m:t>
                        </m:r>
                      </m:sup>
                    </m:sSubSup>
                  </m:oMath>
                </a14:m>
                <a:r>
                  <a:rPr lang="en-US" altLang="zh-TW" sz="2800" dirty="0"/>
                  <a:t>b =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mr>
                          <m:mr>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r>
                                <a:rPr lang="en-US" altLang="zh-TW" sz="2800" i="1" dirty="0">
                                  <a:latin typeface="Cambria Math" panose="02040503050406030204" pitchFamily="18" charset="0"/>
                                </a:rPr>
                                <m:t>0</m:t>
                              </m:r>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r>
                                <a:rPr lang="en-US" altLang="zh-TW" sz="2800" b="0" i="1" smtClean="0">
                                  <a:latin typeface="Cambria Math" panose="02040503050406030204" pitchFamily="18" charset="0"/>
                                </a:rPr>
                                <m:t>25</m:t>
                              </m:r>
                            </m:e>
                          </m:mr>
                          <m:mr>
                            <m:e>
                              <m:r>
                                <a:rPr lang="en-US" altLang="zh-TW" sz="2800" b="0" i="1" smtClean="0">
                                  <a:latin typeface="Cambria Math" panose="02040503050406030204" pitchFamily="18" charset="0"/>
                                </a:rPr>
                                <m:t>20</m:t>
                              </m:r>
                            </m:e>
                          </m:mr>
                          <m:mr>
                            <m:e>
                              <m:r>
                                <a:rPr lang="en-US" altLang="zh-TW" sz="2800" b="0" i="1" smtClean="0">
                                  <a:latin typeface="Cambria Math" panose="02040503050406030204" pitchFamily="18" charset="0"/>
                                </a:rPr>
                                <m:t>15</m:t>
                              </m:r>
                            </m:e>
                          </m:mr>
                        </m:m>
                      </m:e>
                    </m:d>
                  </m:oMath>
                </a14:m>
                <a:r>
                  <a:rPr lang="en-US" altLang="zh-TW" sz="2800" dirty="0"/>
                  <a:t> =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r>
                                <m:rPr>
                                  <m:brk m:alnAt="7"/>
                                </m:rPr>
                                <a:rPr lang="en-US" altLang="zh-TW" sz="2800" b="0" i="1" smtClean="0">
                                  <a:latin typeface="Cambria Math" panose="02040503050406030204" pitchFamily="18" charset="0"/>
                                </a:rPr>
                                <m:t>5</m:t>
                              </m:r>
                            </m:e>
                          </m:mr>
                          <m:mr>
                            <m:e>
                              <m:f>
                                <m:fPr>
                                  <m:ctrlPr>
                                    <a:rPr lang="en-US" altLang="zh-TW" sz="2800" i="1" smtClean="0">
                                      <a:latin typeface="Cambria Math" panose="02040503050406030204" pitchFamily="18" charset="0"/>
                                    </a:rPr>
                                  </m:ctrlPr>
                                </m:fPr>
                                <m:num>
                                  <m:r>
                                    <a:rPr lang="en-US" altLang="zh-TW" sz="2800" b="0" i="1" smtClean="0">
                                      <a:latin typeface="Cambria Math" panose="02040503050406030204" pitchFamily="18" charset="0"/>
                                    </a:rPr>
                                    <m:t>20</m:t>
                                  </m:r>
                                </m:num>
                                <m:den>
                                  <m:r>
                                    <a:rPr lang="en-US" altLang="zh-TW" sz="2800" b="0" i="1" smtClean="0">
                                      <a:latin typeface="Cambria Math" panose="02040503050406030204" pitchFamily="18" charset="0"/>
                                    </a:rPr>
                                    <m:t>3</m:t>
                                  </m:r>
                                </m:den>
                              </m:f>
                            </m:e>
                          </m:mr>
                          <m:mr>
                            <m:e>
                              <m:r>
                                <a:rPr lang="en-US" altLang="zh-TW" sz="2800" b="0" i="1" smtClean="0">
                                  <a:latin typeface="Cambria Math" panose="02040503050406030204" pitchFamily="18" charset="0"/>
                                </a:rPr>
                                <m:t>15</m:t>
                              </m:r>
                            </m:e>
                          </m:mr>
                        </m:m>
                      </m:e>
                    </m:d>
                  </m:oMath>
                </a14:m>
                <a:endParaRPr lang="zh-TW" altLang="en-US" sz="2800" dirty="0"/>
              </a:p>
            </p:txBody>
          </p:sp>
        </mc:Choice>
        <mc:Fallback xmlns="">
          <p:sp>
            <p:nvSpPr>
              <p:cNvPr id="6" name="文字方塊 5">
                <a:extLst>
                  <a:ext uri="{FF2B5EF4-FFF2-40B4-BE49-F238E27FC236}">
                    <a16:creationId xmlns:a16="http://schemas.microsoft.com/office/drawing/2014/main" id="{DED80337-9787-4751-A457-B265147DF8C9}"/>
                  </a:ext>
                </a:extLst>
              </p:cNvPr>
              <p:cNvSpPr txBox="1">
                <a:spLocks noRot="1" noChangeAspect="1" noMove="1" noResize="1" noEditPoints="1" noAdjustHandles="1" noChangeArrowheads="1" noChangeShapeType="1" noTextEdit="1"/>
              </p:cNvSpPr>
              <p:nvPr/>
            </p:nvSpPr>
            <p:spPr>
              <a:xfrm>
                <a:off x="7557244" y="525553"/>
                <a:ext cx="4814049" cy="1642886"/>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3FB8D62C-EC4A-4B25-A029-F7CAA25AF79F}"/>
                  </a:ext>
                </a:extLst>
              </p:cNvPr>
              <p:cNvSpPr txBox="1"/>
              <p:nvPr/>
            </p:nvSpPr>
            <p:spPr>
              <a:xfrm>
                <a:off x="519949" y="2424454"/>
                <a:ext cx="11456897" cy="3581878"/>
              </a:xfrm>
              <a:prstGeom prst="rect">
                <a:avLst/>
              </a:prstGeom>
              <a:noFill/>
            </p:spPr>
            <p:txBody>
              <a:bodyPr wrap="square">
                <a:spAutoFit/>
              </a:bodyPr>
              <a:lstStyle/>
              <a:p>
                <a:r>
                  <a:rPr lang="en-US" altLang="zh-TW" dirty="0"/>
                  <a:t>, </a:t>
                </a:r>
              </a:p>
              <a:p>
                <a:r>
                  <a:rPr lang="en-US" altLang="zh-TW" sz="2800" dirty="0">
                    <a:latin typeface="標楷體" panose="03000509000000000000" pitchFamily="65" charset="-120"/>
                    <a:ea typeface="標楷體" panose="03000509000000000000" pitchFamily="65" charset="-120"/>
                  </a:rPr>
                  <a:t>minimum ratio test </a:t>
                </a:r>
                <a:r>
                  <a:rPr lang="zh-TW" altLang="en-US" sz="2800" dirty="0">
                    <a:latin typeface="標楷體" panose="03000509000000000000" pitchFamily="65" charset="-120"/>
                    <a:ea typeface="標楷體" panose="03000509000000000000" pitchFamily="65" charset="-120"/>
                  </a:rPr>
                  <a:t> 顯示出</a:t>
                </a:r>
                <a:r>
                  <a:rPr lang="en-US" altLang="zh-TW" sz="2800" dirty="0">
                    <a:latin typeface="標楷體" panose="03000509000000000000" pitchFamily="65" charset="-120"/>
                    <a:ea typeface="標楷體" panose="03000509000000000000" pitchFamily="65" charset="-120"/>
                  </a:rPr>
                  <a:t>{</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1</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6</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7</m:t>
                        </m:r>
                      </m:sub>
                    </m:sSub>
                  </m:oMath>
                </a14:m>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的</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7</m:t>
                        </m:r>
                      </m:sub>
                    </m:sSub>
                  </m:oMath>
                </a14:m>
                <a:r>
                  <a:rPr lang="zh-TW" altLang="en-US" sz="2800" dirty="0">
                    <a:latin typeface="標楷體" panose="03000509000000000000" pitchFamily="65" charset="-120"/>
                    <a:ea typeface="標楷體" panose="03000509000000000000" pitchFamily="65" charset="-120"/>
                  </a:rPr>
                  <a:t>要置換，</a:t>
                </a:r>
                <a:endParaRPr lang="en-US" altLang="zh-TW" sz="2800" dirty="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所以新的變量</a:t>
                </a:r>
                <a:r>
                  <a:rPr lang="en-US" altLang="zh-TW" sz="2800" dirty="0">
                    <a:latin typeface="標楷體" panose="03000509000000000000" pitchFamily="65" charset="-120"/>
                    <a:ea typeface="標楷體" panose="03000509000000000000" pitchFamily="65" charset="-120"/>
                  </a:rPr>
                  <a:t>BV(1) =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1</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6</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5</m:t>
                        </m:r>
                      </m:sub>
                    </m:sSub>
                  </m:oMath>
                </a14:m>
                <a:r>
                  <a:rPr lang="en-US" altLang="zh-TW" sz="2800" dirty="0">
                    <a:latin typeface="標楷體" panose="03000509000000000000" pitchFamily="65" charset="-120"/>
                    <a:ea typeface="標楷體" panose="03000509000000000000" pitchFamily="65" charset="-120"/>
                  </a:rPr>
                  <a:t>}</a:t>
                </a:r>
              </a:p>
              <a:p>
                <a:endParaRPr lang="en-US" altLang="zh-TW" sz="2800" dirty="0">
                  <a:latin typeface="標楷體" panose="03000509000000000000" pitchFamily="65" charset="-120"/>
                  <a:ea typeface="標楷體" panose="03000509000000000000" pitchFamily="65" charset="-120"/>
                </a:endParaRPr>
              </a:p>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𝐵</m:t>
                        </m:r>
                      </m:e>
                      <m:sub>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−1</m:t>
                        </m:r>
                      </m:sup>
                    </m:sSubSup>
                  </m:oMath>
                </a14:m>
                <a:r>
                  <a:rPr lang="zh-TW" altLang="en-US" sz="2800" dirty="0"/>
                  <a:t> </a:t>
                </a:r>
                <a:r>
                  <a:rPr lang="en-US" altLang="zh-TW" sz="2800" dirty="0"/>
                  <a:t>= </a:t>
                </a:r>
                <a14:m>
                  <m:oMath xmlns:m="http://schemas.openxmlformats.org/officeDocument/2006/math">
                    <m:sSubSup>
                      <m:sSubSupPr>
                        <m:ctrlPr>
                          <a:rPr lang="en-US" altLang="zh-TW" sz="2800" i="1">
                            <a:latin typeface="Cambria Math" panose="02040503050406030204" pitchFamily="18" charset="0"/>
                          </a:rPr>
                        </m:ctrlPr>
                      </m:sSubSupPr>
                      <m:e>
                        <m:r>
                          <a:rPr lang="en-US" altLang="zh-TW" sz="2800" b="0" i="1" smtClean="0">
                            <a:latin typeface="Cambria Math" panose="02040503050406030204" pitchFamily="18" charset="0"/>
                          </a:rPr>
                          <m:t>𝐸</m:t>
                        </m:r>
                      </m:e>
                      <m:sub>
                        <m:r>
                          <a:rPr lang="en-US" altLang="zh-TW" sz="2800" b="0" i="1" smtClean="0">
                            <a:latin typeface="Cambria Math" panose="02040503050406030204" pitchFamily="18" charset="0"/>
                          </a:rPr>
                          <m:t>0</m:t>
                        </m:r>
                      </m:sub>
                      <m:sup/>
                    </m:sSubSup>
                  </m:oMath>
                </a14:m>
                <a:r>
                  <a:rPr lang="en-US" altLang="zh-TW" sz="2800" dirty="0"/>
                  <a:t> </a:t>
                </a:r>
                <a14:m>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b="0" i="1" smtClean="0">
                            <a:latin typeface="Cambria Math" panose="02040503050406030204" pitchFamily="18" charset="0"/>
                          </a:rPr>
                          <m:t>0</m:t>
                        </m:r>
                      </m:sub>
                      <m:sup>
                        <m:r>
                          <a:rPr lang="en-US" altLang="zh-TW" sz="2800" i="1">
                            <a:latin typeface="Cambria Math" panose="02040503050406030204" pitchFamily="18" charset="0"/>
                          </a:rPr>
                          <m:t>−1</m:t>
                        </m:r>
                      </m:sup>
                    </m:sSubSup>
                  </m:oMath>
                </a14:m>
                <a:r>
                  <a:rPr lang="zh-TW" altLang="en-US" sz="2800" dirty="0"/>
                  <a:t>  </a:t>
                </a:r>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r>
                                <a:rPr lang="en-US" altLang="zh-TW" sz="2800" b="0" i="1" dirty="0" smtClean="0">
                                  <a:latin typeface="Cambria Math" panose="02040503050406030204" pitchFamily="18" charset="0"/>
                                </a:rPr>
                                <m:t>1</m:t>
                              </m:r>
                            </m:e>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mr>
                          <m:mr>
                            <m:e>
                              <m:r>
                                <a:rPr lang="en-US" altLang="zh-TW" sz="2800" i="1" dirty="0">
                                  <a:latin typeface="Cambria Math" panose="02040503050406030204" pitchFamily="18" charset="0"/>
                                </a:rPr>
                                <m:t>0</m:t>
                              </m:r>
                            </m:e>
                            <m:e>
                              <m:r>
                                <a:rPr lang="en-US" altLang="zh-TW" sz="2800" b="0" i="1" dirty="0" smtClean="0">
                                  <a:latin typeface="Cambria Math" panose="02040503050406030204" pitchFamily="18" charset="0"/>
                                </a:rPr>
                                <m:t>1</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d>
                      <m:dPr>
                        <m:begChr m:val="["/>
                        <m:endChr m:val="]"/>
                        <m:ctrlPr>
                          <a:rPr lang="en-US" altLang="zh-TW" sz="2800" i="1" dirty="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e>
                              <m:r>
                                <a:rPr lang="en-US" altLang="zh-TW" sz="2800" i="1" dirty="0">
                                  <a:latin typeface="Cambria Math" panose="02040503050406030204" pitchFamily="18" charset="0"/>
                                </a:rPr>
                                <m:t>0</m:t>
                              </m:r>
                            </m:e>
                            <m:e>
                              <m:r>
                                <a:rPr lang="en-US" altLang="zh-TW" sz="2800" b="0" i="1" dirty="0" smtClean="0">
                                  <a:latin typeface="Cambria Math" panose="02040503050406030204" pitchFamily="18" charset="0"/>
                                </a:rPr>
                                <m:t>0</m:t>
                              </m:r>
                            </m:e>
                          </m:mr>
                          <m:mr>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r>
                                <a:rPr lang="en-US" altLang="zh-TW" sz="2800" b="0" i="1" dirty="0" smtClean="0">
                                  <a:latin typeface="Cambria Math" panose="02040503050406030204" pitchFamily="18" charset="0"/>
                                </a:rPr>
                                <m:t>0</m:t>
                              </m:r>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r>
                      <a:rPr lang="en-US" altLang="zh-TW" sz="2800" b="0" i="1" dirty="0" smtClean="0">
                        <a:latin typeface="Cambria Math" panose="02040503050406030204" pitchFamily="18" charset="0"/>
                      </a:rPr>
                      <m:t>=</m:t>
                    </m:r>
                    <m:d>
                      <m:dPr>
                        <m:begChr m:val="["/>
                        <m:endChr m:val="]"/>
                        <m:ctrlPr>
                          <a:rPr lang="en-US" altLang="zh-TW" sz="2800" i="1" dirty="0" smtClean="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smtClean="0">
                                      <a:latin typeface="Cambria Math" panose="02040503050406030204" pitchFamily="18" charset="0"/>
                                    </a:rPr>
                                  </m:ctrlPr>
                                </m:fPr>
                                <m:num>
                                  <m:r>
                                    <a:rPr lang="en-US" altLang="zh-TW" sz="2800" b="0" i="1" dirty="0" smtClean="0">
                                      <a:latin typeface="Cambria Math" panose="02040503050406030204" pitchFamily="18" charset="0"/>
                                    </a:rPr>
                                    <m:t>1</m:t>
                                  </m:r>
                                </m:num>
                                <m:den>
                                  <m:r>
                                    <a:rPr lang="en-US" altLang="zh-TW" sz="2800" b="0" i="1" dirty="0" smtClean="0">
                                      <a:latin typeface="Cambria Math" panose="02040503050406030204" pitchFamily="18" charset="0"/>
                                    </a:rPr>
                                    <m:t>5</m:t>
                                  </m:r>
                                </m:den>
                              </m:f>
                            </m:e>
                            <m:e>
                              <m:r>
                                <a:rPr lang="en-US" altLang="zh-TW" sz="2800" b="0" i="1" dirty="0" smtClean="0">
                                  <a:latin typeface="Cambria Math" panose="02040503050406030204" pitchFamily="18" charset="0"/>
                                </a:rPr>
                                <m:t>0</m:t>
                              </m:r>
                            </m:e>
                            <m:e>
                              <m:f>
                                <m:fPr>
                                  <m:ctrlPr>
                                    <a:rPr lang="en-US" altLang="zh-TW" sz="2800" i="1" dirty="0" smtClean="0">
                                      <a:latin typeface="Cambria Math" panose="02040503050406030204" pitchFamily="18" charset="0"/>
                                    </a:rPr>
                                  </m:ctrlPr>
                                </m:fPr>
                                <m:num>
                                  <m:r>
                                    <a:rPr lang="en-US" altLang="zh-TW" sz="2800" b="0" i="1" dirty="0" smtClean="0">
                                      <a:latin typeface="Cambria Math" panose="02040503050406030204" pitchFamily="18" charset="0"/>
                                    </a:rPr>
                                    <m:t>−1</m:t>
                                  </m:r>
                                </m:num>
                                <m:den>
                                  <m:r>
                                    <a:rPr lang="en-US" altLang="zh-TW" sz="2800" b="0" i="1" dirty="0" smtClean="0">
                                      <a:latin typeface="Cambria Math" panose="02040503050406030204" pitchFamily="18" charset="0"/>
                                    </a:rPr>
                                    <m:t>5</m:t>
                                  </m:r>
                                </m:den>
                              </m:f>
                            </m:e>
                          </m:mr>
                          <m:mr>
                            <m:e>
                              <m:r>
                                <a:rPr lang="en-US" altLang="zh-TW" sz="2800" b="0" i="1" dirty="0" smtClean="0">
                                  <a:latin typeface="Cambria Math" panose="02040503050406030204" pitchFamily="18" charset="0"/>
                                </a:rPr>
                                <m:t>0</m:t>
                              </m:r>
                            </m:e>
                            <m:e>
                              <m:f>
                                <m:fPr>
                                  <m:ctrlPr>
                                    <a:rPr lang="en-US" altLang="zh-TW" sz="2800" i="1" dirty="0" smtClean="0">
                                      <a:latin typeface="Cambria Math" panose="02040503050406030204" pitchFamily="18" charset="0"/>
                                    </a:rPr>
                                  </m:ctrlPr>
                                </m:fPr>
                                <m:num>
                                  <m:r>
                                    <a:rPr lang="en-US" altLang="zh-TW" sz="2800" b="0" i="1" dirty="0" smtClean="0">
                                      <a:latin typeface="Cambria Math" panose="02040503050406030204" pitchFamily="18" charset="0"/>
                                    </a:rPr>
                                    <m:t>1</m:t>
                                  </m:r>
                                </m:num>
                                <m:den>
                                  <m:r>
                                    <a:rPr lang="en-US" altLang="zh-TW" sz="2800" b="0" i="1" dirty="0" smtClean="0">
                                      <a:latin typeface="Cambria Math" panose="02040503050406030204" pitchFamily="18" charset="0"/>
                                    </a:rPr>
                                    <m:t>3</m:t>
                                  </m:r>
                                </m:den>
                              </m:f>
                            </m:e>
                            <m:e>
                              <m:f>
                                <m:fPr>
                                  <m:ctrlPr>
                                    <a:rPr lang="en-US" altLang="zh-TW" sz="2800" i="1" dirty="0" smtClean="0">
                                      <a:latin typeface="Cambria Math" panose="02040503050406030204" pitchFamily="18" charset="0"/>
                                    </a:rPr>
                                  </m:ctrlPr>
                                </m:fPr>
                                <m:num>
                                  <m:r>
                                    <a:rPr lang="en-US" altLang="zh-TW" sz="2800" b="0" i="1" dirty="0" smtClean="0">
                                      <a:latin typeface="Cambria Math" panose="02040503050406030204" pitchFamily="18" charset="0"/>
                                    </a:rPr>
                                    <m:t>−1</m:t>
                                  </m:r>
                                </m:num>
                                <m:den>
                                  <m:r>
                                    <a:rPr lang="en-US" altLang="zh-TW" sz="2800" b="0" i="1" dirty="0" smtClean="0">
                                      <a:latin typeface="Cambria Math" panose="02040503050406030204" pitchFamily="18" charset="0"/>
                                    </a:rPr>
                                    <m:t>3</m:t>
                                  </m:r>
                                </m:den>
                              </m:f>
                            </m:e>
                          </m:mr>
                          <m:mr>
                            <m:e>
                              <m:r>
                                <a:rPr lang="en-US" altLang="zh-TW" sz="2800" b="0" i="1" dirty="0" smtClean="0">
                                  <a:latin typeface="Cambria Math" panose="02040503050406030204" pitchFamily="18" charset="0"/>
                                </a:rPr>
                                <m:t>0</m:t>
                              </m:r>
                            </m:e>
                            <m:e>
                              <m:r>
                                <a:rPr lang="en-US" altLang="zh-TW" sz="2800" b="0" i="1" dirty="0" smtClean="0">
                                  <a:latin typeface="Cambria Math" panose="02040503050406030204" pitchFamily="18" charset="0"/>
                                </a:rPr>
                                <m:t>0</m:t>
                              </m:r>
                            </m:e>
                            <m:e>
                              <m:r>
                                <a:rPr lang="en-US" altLang="zh-TW" sz="2800" b="0" i="1" dirty="0" smtClean="0">
                                  <a:latin typeface="Cambria Math" panose="02040503050406030204" pitchFamily="18" charset="0"/>
                                </a:rPr>
                                <m:t>1</m:t>
                              </m:r>
                            </m:e>
                          </m:mr>
                        </m:m>
                      </m:e>
                    </m:d>
                  </m:oMath>
                </a14:m>
                <a:endParaRPr lang="zh-TW" altLang="en-US" sz="2800" dirty="0">
                  <a:latin typeface="標楷體" panose="03000509000000000000" pitchFamily="65" charset="-120"/>
                  <a:ea typeface="標楷體" panose="03000509000000000000" pitchFamily="65" charset="-120"/>
                </a:endParaRPr>
              </a:p>
              <a:p>
                <a:endParaRPr lang="zh-TW" altLang="en-US" dirty="0"/>
              </a:p>
            </p:txBody>
          </p:sp>
        </mc:Choice>
        <mc:Fallback xmlns="">
          <p:sp>
            <p:nvSpPr>
              <p:cNvPr id="8" name="文字方塊 7">
                <a:extLst>
                  <a:ext uri="{FF2B5EF4-FFF2-40B4-BE49-F238E27FC236}">
                    <a16:creationId xmlns:a16="http://schemas.microsoft.com/office/drawing/2014/main" id="{3FB8D62C-EC4A-4B25-A029-F7CAA25AF79F}"/>
                  </a:ext>
                </a:extLst>
              </p:cNvPr>
              <p:cNvSpPr txBox="1">
                <a:spLocks noRot="1" noChangeAspect="1" noMove="1" noResize="1" noEditPoints="1" noAdjustHandles="1" noChangeArrowheads="1" noChangeShapeType="1" noTextEdit="1"/>
              </p:cNvSpPr>
              <p:nvPr/>
            </p:nvSpPr>
            <p:spPr>
              <a:xfrm>
                <a:off x="519949" y="2424454"/>
                <a:ext cx="11456897" cy="3581878"/>
              </a:xfrm>
              <a:prstGeom prst="rect">
                <a:avLst/>
              </a:prstGeom>
              <a:blipFill>
                <a:blip r:embed="rId4"/>
                <a:stretch>
                  <a:fillRect l="-1064" t="-10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01473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580E2-AF35-4AAE-98DB-32E7A7EBE33D}"/>
              </a:ext>
            </a:extLst>
          </p:cNvPr>
          <p:cNvSpPr>
            <a:spLocks noGrp="1"/>
          </p:cNvSpPr>
          <p:nvPr>
            <p:ph type="title"/>
          </p:nvPr>
        </p:nvSpPr>
        <p:spPr/>
        <p:txBody>
          <a:bodyPr/>
          <a:lstStyle/>
          <a:p>
            <a:r>
              <a:rPr lang="en-US" altLang="zh-TW" dirty="0"/>
              <a:t>Iteration 1</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F0AE536-3FA9-4D18-BD7B-53C554E60F88}"/>
                  </a:ext>
                </a:extLst>
              </p:cNvPr>
              <p:cNvSpPr>
                <a:spLocks noGrp="1"/>
              </p:cNvSpPr>
              <p:nvPr>
                <p:ph idx="1"/>
              </p:nvPr>
            </p:nvSpPr>
            <p:spPr>
              <a:xfrm>
                <a:off x="519953" y="1520326"/>
                <a:ext cx="10515600" cy="4351338"/>
              </a:xfrm>
            </p:spPr>
            <p:txBody>
              <a:bodyPr>
                <a:normAutofit/>
              </a:bodyPr>
              <a:lstStyle/>
              <a:p>
                <a:pPr marL="0" indent="0">
                  <a:buNone/>
                </a:pPr>
                <a:r>
                  <a:rPr lang="en-US" altLang="zh-TW" sz="3600" dirty="0"/>
                  <a:t>BV(1) = {</a:t>
                </a:r>
                <a14:m>
                  <m:oMath xmlns:m="http://schemas.openxmlformats.org/officeDocument/2006/math">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𝑥</m:t>
                        </m:r>
                      </m:e>
                      <m:sub>
                        <m:r>
                          <a:rPr lang="en-US" altLang="zh-TW" sz="3600" b="0" i="1" smtClean="0">
                            <a:latin typeface="Cambria Math" panose="02040503050406030204" pitchFamily="18" charset="0"/>
                            <a:ea typeface="Cambria Math" panose="02040503050406030204" pitchFamily="18" charset="0"/>
                          </a:rPr>
                          <m:t>1</m:t>
                        </m:r>
                      </m:sub>
                    </m:sSub>
                  </m:oMath>
                </a14:m>
                <a:r>
                  <a:rPr lang="en-US" altLang="zh-TW" sz="3600" dirty="0"/>
                  <a:t>,</a:t>
                </a:r>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𝑥</m:t>
                        </m:r>
                      </m:e>
                      <m:sub>
                        <m:r>
                          <a:rPr lang="en-US" altLang="zh-TW" sz="3600" b="0" i="1" smtClean="0">
                            <a:latin typeface="Cambria Math" panose="02040503050406030204" pitchFamily="18" charset="0"/>
                            <a:ea typeface="Cambria Math" panose="02040503050406030204" pitchFamily="18" charset="0"/>
                          </a:rPr>
                          <m:t>6</m:t>
                        </m:r>
                      </m:sub>
                    </m:sSub>
                  </m:oMath>
                </a14:m>
                <a:r>
                  <a:rPr lang="en-US" altLang="zh-TW" sz="3600" dirty="0"/>
                  <a:t>,</a:t>
                </a:r>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𝑥</m:t>
                        </m:r>
                      </m:e>
                      <m:sub>
                        <m:r>
                          <a:rPr lang="en-US" altLang="zh-TW" sz="3600" i="1">
                            <a:latin typeface="Cambria Math" panose="02040503050406030204" pitchFamily="18" charset="0"/>
                            <a:ea typeface="Cambria Math" panose="02040503050406030204" pitchFamily="18" charset="0"/>
                          </a:rPr>
                          <m:t>5</m:t>
                        </m:r>
                      </m:sub>
                    </m:sSub>
                  </m:oMath>
                </a14:m>
                <a:r>
                  <a:rPr lang="en-US" altLang="zh-TW" sz="3600" dirty="0"/>
                  <a:t>}</a:t>
                </a:r>
                <a:endParaRPr lang="zh-TW" altLang="en-US" sz="3600" dirty="0"/>
              </a:p>
            </p:txBody>
          </p:sp>
        </mc:Choice>
        <mc:Fallback xmlns="">
          <p:sp>
            <p:nvSpPr>
              <p:cNvPr id="3" name="內容版面配置區 2">
                <a:extLst>
                  <a:ext uri="{FF2B5EF4-FFF2-40B4-BE49-F238E27FC236}">
                    <a16:creationId xmlns:a16="http://schemas.microsoft.com/office/drawing/2014/main" id="{BF0AE536-3FA9-4D18-BD7B-53C554E60F88}"/>
                  </a:ext>
                </a:extLst>
              </p:cNvPr>
              <p:cNvSpPr>
                <a:spLocks noGrp="1" noRot="1" noChangeAspect="1" noMove="1" noResize="1" noEditPoints="1" noAdjustHandles="1" noChangeArrowheads="1" noChangeShapeType="1" noTextEdit="1"/>
              </p:cNvSpPr>
              <p:nvPr>
                <p:ph idx="1"/>
              </p:nvPr>
            </p:nvSpPr>
            <p:spPr>
              <a:xfrm>
                <a:off x="519953" y="1520326"/>
                <a:ext cx="10515600" cy="4351338"/>
              </a:xfrm>
              <a:blipFill>
                <a:blip r:embed="rId3"/>
                <a:stretch>
                  <a:fillRect l="-1739" t="-350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EECA4ED-2FB1-491D-8BD6-6603BE2E9F07}"/>
                  </a:ext>
                </a:extLst>
              </p:cNvPr>
              <p:cNvSpPr txBox="1"/>
              <p:nvPr/>
            </p:nvSpPr>
            <p:spPr>
              <a:xfrm>
                <a:off x="448234" y="2372685"/>
                <a:ext cx="11295531" cy="2112630"/>
              </a:xfrm>
              <a:prstGeom prst="rect">
                <a:avLst/>
              </a:prstGeom>
              <a:noFill/>
            </p:spPr>
            <p:txBody>
              <a:bodyPr wrap="square" lIns="0" tIns="0" rIns="0" bIns="0" rtlCol="0">
                <a:spAutoFit/>
              </a:bodyPr>
              <a:lstStyle/>
              <a:p>
                <a14:m>
                  <m:oMath xmlns:m="http://schemas.openxmlformats.org/officeDocument/2006/math">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𝐶</m:t>
                        </m:r>
                      </m:e>
                      <m:sub>
                        <m:r>
                          <a:rPr lang="en-US" altLang="zh-TW" sz="3600" b="0" i="1" smtClean="0">
                            <a:latin typeface="Cambria Math" panose="02040503050406030204" pitchFamily="18" charset="0"/>
                          </a:rPr>
                          <m:t>𝐵𝑉</m:t>
                        </m:r>
                      </m:sub>
                    </m:sSub>
                    <m:sSubSup>
                      <m:sSubSupPr>
                        <m:ctrlPr>
                          <a:rPr lang="en-US" altLang="zh-TW" sz="3600" i="1" smtClean="0">
                            <a:latin typeface="Cambria Math" panose="02040503050406030204" pitchFamily="18" charset="0"/>
                          </a:rPr>
                        </m:ctrlPr>
                      </m:sSubSupPr>
                      <m:e>
                        <m:r>
                          <a:rPr lang="en-US" altLang="zh-TW" sz="3600" b="0" i="1" smtClean="0">
                            <a:latin typeface="Cambria Math" panose="02040503050406030204" pitchFamily="18" charset="0"/>
                          </a:rPr>
                          <m:t>𝐵</m:t>
                        </m:r>
                      </m:e>
                      <m:sub>
                        <m:r>
                          <a:rPr lang="en-US" altLang="zh-TW" sz="3600" i="1">
                            <a:latin typeface="Cambria Math" panose="02040503050406030204" pitchFamily="18" charset="0"/>
                          </a:rPr>
                          <m:t>1</m:t>
                        </m:r>
                      </m:sub>
                      <m:sup>
                        <m:r>
                          <a:rPr lang="en-US" altLang="zh-TW" sz="3600" b="0" i="1" smtClean="0">
                            <a:latin typeface="Cambria Math" panose="02040503050406030204" pitchFamily="18" charset="0"/>
                          </a:rPr>
                          <m:t>−1</m:t>
                        </m:r>
                      </m:sup>
                    </m:sSubSup>
                  </m:oMath>
                </a14:m>
                <a:r>
                  <a:rPr lang="zh-TW" altLang="en-US" sz="3600" dirty="0"/>
                  <a:t>  </a:t>
                </a:r>
                <a:r>
                  <a:rPr lang="en-US" altLang="zh-TW" sz="3600" dirty="0"/>
                  <a:t>= [1  1  1 ] </a:t>
                </a:r>
                <a14:m>
                  <m:oMath xmlns:m="http://schemas.openxmlformats.org/officeDocument/2006/math">
                    <m:d>
                      <m:dPr>
                        <m:begChr m:val="["/>
                        <m:endChr m:val="]"/>
                        <m:ctrlPr>
                          <a:rPr lang="en-US" altLang="zh-TW" sz="3600" i="1" dirty="0">
                            <a:latin typeface="Cambria Math" panose="02040503050406030204" pitchFamily="18" charset="0"/>
                          </a:rPr>
                        </m:ctrlPr>
                      </m:dPr>
                      <m:e>
                        <m:m>
                          <m:mPr>
                            <m:mcs>
                              <m:mc>
                                <m:mcPr>
                                  <m:count m:val="3"/>
                                  <m:mcJc m:val="center"/>
                                </m:mcPr>
                              </m:mc>
                            </m:mcs>
                            <m:ctrlPr>
                              <a:rPr lang="en-US" altLang="zh-TW" sz="3600" i="1" dirty="0">
                                <a:latin typeface="Cambria Math" panose="02040503050406030204" pitchFamily="18" charset="0"/>
                              </a:rPr>
                            </m:ctrlPr>
                          </m:mPr>
                          <m:mr>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5</m:t>
                                  </m:r>
                                </m:den>
                              </m:f>
                            </m:e>
                            <m:e>
                              <m:r>
                                <a:rPr lang="en-US" altLang="zh-TW" sz="3600" i="1" dirty="0">
                                  <a:latin typeface="Cambria Math" panose="02040503050406030204" pitchFamily="18" charset="0"/>
                                </a:rPr>
                                <m:t>0</m:t>
                              </m:r>
                            </m:e>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5</m:t>
                                  </m:r>
                                </m:den>
                              </m:f>
                            </m:e>
                          </m:mr>
                          <m:mr>
                            <m:e>
                              <m:r>
                                <a:rPr lang="en-US" altLang="zh-TW" sz="3600" i="1" dirty="0">
                                  <a:latin typeface="Cambria Math" panose="02040503050406030204" pitchFamily="18" charset="0"/>
                                </a:rPr>
                                <m:t>0</m:t>
                              </m:r>
                            </m:e>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3</m:t>
                                  </m:r>
                                </m:den>
                              </m:f>
                            </m:e>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3</m:t>
                                  </m:r>
                                </m:den>
                              </m:f>
                            </m:e>
                          </m:mr>
                          <m:mr>
                            <m:e>
                              <m:r>
                                <a:rPr lang="en-US" altLang="zh-TW" sz="3600" i="1" dirty="0">
                                  <a:latin typeface="Cambria Math" panose="02040503050406030204" pitchFamily="18" charset="0"/>
                                </a:rPr>
                                <m:t>0</m:t>
                              </m:r>
                            </m:e>
                            <m:e>
                              <m:r>
                                <a:rPr lang="en-US" altLang="zh-TW" sz="3600" i="1" dirty="0">
                                  <a:latin typeface="Cambria Math" panose="02040503050406030204" pitchFamily="18" charset="0"/>
                                </a:rPr>
                                <m:t>0</m:t>
                              </m:r>
                            </m:e>
                            <m:e>
                              <m:r>
                                <a:rPr lang="en-US" altLang="zh-TW" sz="3600" i="1" dirty="0">
                                  <a:latin typeface="Cambria Math" panose="02040503050406030204" pitchFamily="18" charset="0"/>
                                </a:rPr>
                                <m:t>1</m:t>
                              </m:r>
                            </m:e>
                          </m:mr>
                        </m:m>
                      </m:e>
                    </m:d>
                  </m:oMath>
                </a14:m>
                <a:r>
                  <a:rPr lang="zh-TW" altLang="en-US" sz="3600" dirty="0"/>
                  <a:t>    </a:t>
                </a:r>
                <a:r>
                  <a:rPr lang="en-US" altLang="zh-TW" sz="3600" dirty="0"/>
                  <a:t>= [ </a:t>
                </a:r>
                <a14:m>
                  <m:oMath xmlns:m="http://schemas.openxmlformats.org/officeDocument/2006/math">
                    <m:f>
                      <m:fPr>
                        <m:ctrlPr>
                          <a:rPr lang="en-US" altLang="zh-TW" sz="3600" i="1" smtClean="0">
                            <a:latin typeface="Cambria Math" panose="02040503050406030204" pitchFamily="18" charset="0"/>
                          </a:rPr>
                        </m:ctrlPr>
                      </m:fPr>
                      <m:num>
                        <m:r>
                          <a:rPr lang="en-US" altLang="zh-TW" sz="3600" b="0" i="1" smtClean="0">
                            <a:latin typeface="Cambria Math" panose="02040503050406030204" pitchFamily="18" charset="0"/>
                          </a:rPr>
                          <m:t>1</m:t>
                        </m:r>
                      </m:num>
                      <m:den>
                        <m:r>
                          <a:rPr lang="en-US" altLang="zh-TW" sz="3600" b="0" i="1" smtClean="0">
                            <a:latin typeface="Cambria Math" panose="02040503050406030204" pitchFamily="18" charset="0"/>
                          </a:rPr>
                          <m:t>5</m:t>
                        </m:r>
                      </m:den>
                    </m:f>
                  </m:oMath>
                </a14:m>
                <a:r>
                  <a:rPr lang="zh-TW" altLang="en-US" sz="3600" dirty="0"/>
                  <a:t>    </a:t>
                </a:r>
                <a14:m>
                  <m:oMath xmlns:m="http://schemas.openxmlformats.org/officeDocument/2006/math">
                    <m:f>
                      <m:fPr>
                        <m:ctrlPr>
                          <a:rPr lang="en-US" altLang="zh-TW" sz="3600" i="1">
                            <a:latin typeface="Cambria Math" panose="02040503050406030204" pitchFamily="18" charset="0"/>
                          </a:rPr>
                        </m:ctrlPr>
                      </m:fPr>
                      <m:num>
                        <m:r>
                          <a:rPr lang="en-US" altLang="zh-TW" sz="3600" b="0" i="1" smtClean="0">
                            <a:latin typeface="Cambria Math" panose="02040503050406030204" pitchFamily="18" charset="0"/>
                          </a:rPr>
                          <m:t>1</m:t>
                        </m:r>
                      </m:num>
                      <m:den>
                        <m:r>
                          <a:rPr lang="en-US" altLang="zh-TW" sz="3600" b="0" i="1" smtClean="0">
                            <a:latin typeface="Cambria Math" panose="02040503050406030204" pitchFamily="18" charset="0"/>
                          </a:rPr>
                          <m:t>3</m:t>
                        </m:r>
                      </m:den>
                    </m:f>
                  </m:oMath>
                </a14:m>
                <a:r>
                  <a:rPr lang="zh-TW" altLang="en-US" sz="3600" dirty="0"/>
                  <a:t>  </a:t>
                </a:r>
                <a14:m>
                  <m:oMath xmlns:m="http://schemas.openxmlformats.org/officeDocument/2006/math">
                    <m:r>
                      <a:rPr lang="zh-TW" altLang="en-US" sz="3600" i="1" dirty="0">
                        <a:latin typeface="Cambria Math" panose="02040503050406030204" pitchFamily="18" charset="0"/>
                      </a:rPr>
                      <m:t> </m:t>
                    </m:r>
                    <m:f>
                      <m:fPr>
                        <m:ctrlPr>
                          <a:rPr lang="en-US" altLang="zh-TW" sz="3600" i="1" dirty="0" smtClean="0">
                            <a:latin typeface="Cambria Math" panose="02040503050406030204" pitchFamily="18" charset="0"/>
                          </a:rPr>
                        </m:ctrlPr>
                      </m:fPr>
                      <m:num>
                        <m:r>
                          <a:rPr lang="en-US" altLang="zh-TW" sz="3600" i="1" dirty="0">
                            <a:latin typeface="Cambria Math" panose="02040503050406030204" pitchFamily="18" charset="0"/>
                          </a:rPr>
                          <m:t>7</m:t>
                        </m:r>
                      </m:num>
                      <m:den>
                        <m:r>
                          <a:rPr lang="en-US" altLang="zh-TW" sz="3600" i="1" dirty="0">
                            <a:latin typeface="Cambria Math" panose="02040503050406030204" pitchFamily="18" charset="0"/>
                          </a:rPr>
                          <m:t>1</m:t>
                        </m:r>
                        <m:r>
                          <a:rPr lang="en-US" altLang="zh-TW" sz="3600" i="1" dirty="0" smtClean="0">
                            <a:latin typeface="Cambria Math" panose="02040503050406030204" pitchFamily="18" charset="0"/>
                          </a:rPr>
                          <m:t>5</m:t>
                        </m:r>
                      </m:den>
                    </m:f>
                  </m:oMath>
                </a14:m>
                <a:r>
                  <a:rPr lang="en-US" altLang="zh-TW" sz="3600" dirty="0"/>
                  <a:t>]</a:t>
                </a:r>
                <a:endParaRPr lang="zh-TW" altLang="en-US" sz="3600" dirty="0"/>
              </a:p>
            </p:txBody>
          </p:sp>
        </mc:Choice>
        <mc:Fallback xmlns="">
          <p:sp>
            <p:nvSpPr>
              <p:cNvPr id="4" name="文字方塊 3">
                <a:extLst>
                  <a:ext uri="{FF2B5EF4-FFF2-40B4-BE49-F238E27FC236}">
                    <a16:creationId xmlns:a16="http://schemas.microsoft.com/office/drawing/2014/main" id="{BEECA4ED-2FB1-491D-8BD6-6603BE2E9F07}"/>
                  </a:ext>
                </a:extLst>
              </p:cNvPr>
              <p:cNvSpPr txBox="1">
                <a:spLocks noRot="1" noChangeAspect="1" noMove="1" noResize="1" noEditPoints="1" noAdjustHandles="1" noChangeArrowheads="1" noChangeShapeType="1" noTextEdit="1"/>
              </p:cNvSpPr>
              <p:nvPr/>
            </p:nvSpPr>
            <p:spPr>
              <a:xfrm>
                <a:off x="448234" y="2372685"/>
                <a:ext cx="11295531" cy="211263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86698EF-C6CD-46D3-91FB-CF2065DDE222}"/>
                  </a:ext>
                </a:extLst>
              </p:cNvPr>
              <p:cNvSpPr txBox="1"/>
              <p:nvPr/>
            </p:nvSpPr>
            <p:spPr>
              <a:xfrm>
                <a:off x="376517" y="4312776"/>
                <a:ext cx="7781365" cy="1558888"/>
              </a:xfrm>
              <a:prstGeom prst="rect">
                <a:avLst/>
              </a:prstGeom>
              <a:noFill/>
            </p:spPr>
            <p:txBody>
              <a:bodyPr wrap="square" rtlCol="0">
                <a:spAutoFit/>
              </a:bodyPr>
              <a:lstStyle/>
              <a:p>
                <a14:m>
                  <m:oMath xmlns:m="http://schemas.openxmlformats.org/officeDocument/2006/math">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𝐶</m:t>
                        </m:r>
                      </m:e>
                      <m:sub>
                        <m:r>
                          <a:rPr lang="en-US" altLang="zh-TW" sz="3600" b="0" i="1" smtClean="0">
                            <a:latin typeface="Cambria Math" panose="02040503050406030204" pitchFamily="18" charset="0"/>
                          </a:rPr>
                          <m:t>𝐵𝑉</m:t>
                        </m:r>
                      </m:sub>
                    </m:sSub>
                    <m:sSubSup>
                      <m:sSubSupPr>
                        <m:ctrlPr>
                          <a:rPr lang="en-US" altLang="zh-TW" sz="3600" i="1" smtClean="0">
                            <a:latin typeface="Cambria Math" panose="02040503050406030204" pitchFamily="18" charset="0"/>
                          </a:rPr>
                        </m:ctrlPr>
                      </m:sSubSupPr>
                      <m:e>
                        <m:r>
                          <a:rPr lang="en-US" altLang="zh-TW" sz="3600" b="0" i="1" smtClean="0">
                            <a:latin typeface="Cambria Math" panose="02040503050406030204" pitchFamily="18" charset="0"/>
                          </a:rPr>
                          <m:t>𝐵</m:t>
                        </m:r>
                      </m:e>
                      <m:sub>
                        <m:r>
                          <a:rPr lang="en-US" altLang="zh-TW" sz="3600" b="0" i="1" smtClean="0">
                            <a:latin typeface="Cambria Math" panose="02040503050406030204" pitchFamily="18" charset="0"/>
                          </a:rPr>
                          <m:t>1</m:t>
                        </m:r>
                      </m:sub>
                      <m:sup>
                        <m:r>
                          <a:rPr lang="en-US" altLang="zh-TW" sz="3600" b="0" i="1" smtClean="0">
                            <a:latin typeface="Cambria Math" panose="02040503050406030204" pitchFamily="18" charset="0"/>
                          </a:rPr>
                          <m:t>−1</m:t>
                        </m:r>
                      </m:sup>
                    </m:sSubSup>
                    <m:d>
                      <m:dPr>
                        <m:begChr m:val="["/>
                        <m:endChr m:val="]"/>
                        <m:ctrlPr>
                          <a:rPr lang="en-US" altLang="zh-TW" sz="3600" i="1" dirty="0">
                            <a:latin typeface="Cambria Math" panose="02040503050406030204" pitchFamily="18" charset="0"/>
                          </a:rPr>
                        </m:ctrlPr>
                      </m:dPr>
                      <m:e>
                        <m:m>
                          <m:mPr>
                            <m:mcs>
                              <m:mc>
                                <m:mcPr>
                                  <m:count m:val="1"/>
                                  <m:mcJc m:val="center"/>
                                </m:mcPr>
                              </m:mc>
                            </m:mcs>
                            <m:ctrlPr>
                              <a:rPr lang="en-US" altLang="zh-TW" sz="3600" i="1">
                                <a:latin typeface="Cambria Math" panose="02040503050406030204" pitchFamily="18" charset="0"/>
                              </a:rPr>
                            </m:ctrlPr>
                          </m:mPr>
                          <m:mr>
                            <m:e>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1</m:t>
                                  </m:r>
                                </m:sub>
                              </m:sSub>
                            </m:e>
                          </m:mr>
                          <m:mr>
                            <m:e>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2</m:t>
                                  </m:r>
                                </m:sub>
                              </m:sSub>
                            </m:e>
                          </m:mr>
                          <m:mr>
                            <m:e>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3</m:t>
                                  </m:r>
                                </m:sub>
                              </m:sSub>
                            </m:e>
                          </m:mr>
                        </m:m>
                      </m:e>
                    </m:d>
                  </m:oMath>
                </a14:m>
                <a:r>
                  <a:rPr lang="en-US" altLang="zh-TW" sz="3600" dirty="0"/>
                  <a:t>-1 = </a:t>
                </a:r>
                <a14:m>
                  <m:oMath xmlns:m="http://schemas.openxmlformats.org/officeDocument/2006/math">
                    <m:f>
                      <m:fPr>
                        <m:ctrlPr>
                          <a:rPr lang="en-US" altLang="zh-TW" sz="3600" i="1">
                            <a:latin typeface="Cambria Math" panose="02040503050406030204" pitchFamily="18" charset="0"/>
                          </a:rPr>
                        </m:ctrlPr>
                      </m:fPr>
                      <m:num>
                        <m:r>
                          <a:rPr lang="en-US" altLang="zh-TW" sz="3600" i="1">
                            <a:latin typeface="Cambria Math" panose="02040503050406030204" pitchFamily="18" charset="0"/>
                          </a:rPr>
                          <m:t>1</m:t>
                        </m:r>
                      </m:num>
                      <m:den>
                        <m:r>
                          <a:rPr lang="en-US" altLang="zh-TW" sz="3600" i="1">
                            <a:latin typeface="Cambria Math" panose="02040503050406030204" pitchFamily="18" charset="0"/>
                          </a:rPr>
                          <m:t>5</m:t>
                        </m:r>
                      </m:den>
                    </m:f>
                  </m:oMath>
                </a14:m>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1</m:t>
                        </m:r>
                      </m:sub>
                    </m:sSub>
                    <m:r>
                      <a:rPr lang="en-US" altLang="zh-TW" sz="3600" i="1">
                        <a:latin typeface="Cambria Math" panose="02040503050406030204" pitchFamily="18" charset="0"/>
                        <a:ea typeface="Cambria Math" panose="02040503050406030204" pitchFamily="18" charset="0"/>
                      </a:rPr>
                      <m:t> </m:t>
                    </m:r>
                  </m:oMath>
                </a14:m>
                <a:r>
                  <a:rPr lang="en-US" altLang="zh-TW" sz="3600" dirty="0"/>
                  <a:t>+ </a:t>
                </a:r>
                <a14:m>
                  <m:oMath xmlns:m="http://schemas.openxmlformats.org/officeDocument/2006/math">
                    <m:f>
                      <m:fPr>
                        <m:ctrlPr>
                          <a:rPr lang="en-US" altLang="zh-TW" sz="3600" i="1">
                            <a:latin typeface="Cambria Math" panose="02040503050406030204" pitchFamily="18" charset="0"/>
                          </a:rPr>
                        </m:ctrlPr>
                      </m:fPr>
                      <m:num>
                        <m:r>
                          <a:rPr lang="en-US" altLang="zh-TW" sz="3600" i="1">
                            <a:latin typeface="Cambria Math" panose="02040503050406030204" pitchFamily="18" charset="0"/>
                          </a:rPr>
                          <m:t>1</m:t>
                        </m:r>
                      </m:num>
                      <m:den>
                        <m:r>
                          <a:rPr lang="en-US" altLang="zh-TW" sz="3600" i="1">
                            <a:latin typeface="Cambria Math" panose="02040503050406030204" pitchFamily="18" charset="0"/>
                          </a:rPr>
                          <m:t>3</m:t>
                        </m:r>
                      </m:den>
                    </m:f>
                  </m:oMath>
                </a14:m>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2</m:t>
                        </m:r>
                      </m:sub>
                    </m:sSub>
                  </m:oMath>
                </a14:m>
                <a:r>
                  <a:rPr lang="en-US" altLang="zh-TW" sz="3600" dirty="0"/>
                  <a:t> +</a:t>
                </a:r>
                <a:r>
                  <a:rPr lang="zh-TW" altLang="en-US" sz="3600" dirty="0"/>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7</m:t>
                            </m:r>
                          </m:num>
                          <m:den>
                            <m:r>
                              <a:rPr lang="en-US" altLang="zh-TW" sz="3600" i="1" dirty="0">
                                <a:latin typeface="Cambria Math" panose="02040503050406030204" pitchFamily="18" charset="0"/>
                              </a:rPr>
                              <m:t>15</m:t>
                            </m:r>
                          </m:den>
                        </m:f>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3</m:t>
                        </m:r>
                      </m:sub>
                    </m:sSub>
                  </m:oMath>
                </a14:m>
                <a:r>
                  <a:rPr lang="en-US" altLang="zh-TW" sz="3600" dirty="0"/>
                  <a:t> -1 </a:t>
                </a:r>
                <a:endParaRPr lang="zh-TW" altLang="en-US" sz="3600" dirty="0"/>
              </a:p>
            </p:txBody>
          </p:sp>
        </mc:Choice>
        <mc:Fallback xmlns="">
          <p:sp>
            <p:nvSpPr>
              <p:cNvPr id="6" name="文字方塊 5">
                <a:extLst>
                  <a:ext uri="{FF2B5EF4-FFF2-40B4-BE49-F238E27FC236}">
                    <a16:creationId xmlns:a16="http://schemas.microsoft.com/office/drawing/2014/main" id="{386698EF-C6CD-46D3-91FB-CF2065DDE222}"/>
                  </a:ext>
                </a:extLst>
              </p:cNvPr>
              <p:cNvSpPr txBox="1">
                <a:spLocks noRot="1" noChangeAspect="1" noMove="1" noResize="1" noEditPoints="1" noAdjustHandles="1" noChangeArrowheads="1" noChangeShapeType="1" noTextEdit="1"/>
              </p:cNvSpPr>
              <p:nvPr/>
            </p:nvSpPr>
            <p:spPr>
              <a:xfrm>
                <a:off x="376517" y="4312776"/>
                <a:ext cx="7781365" cy="1558888"/>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DBDF442-A957-47D0-9C49-8794F42D837E}"/>
                  </a:ext>
                </a:extLst>
              </p:cNvPr>
              <p:cNvSpPr txBox="1"/>
              <p:nvPr/>
            </p:nvSpPr>
            <p:spPr>
              <a:xfrm>
                <a:off x="107576" y="5938877"/>
                <a:ext cx="5670177"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3</m:t>
                          </m:r>
                        </m:e>
                        <m:sub>
                          <m:r>
                            <a:rPr lang="en-US" altLang="zh-TW" sz="3600" b="0" i="1" smtClean="0">
                              <a:latin typeface="Cambria Math" panose="02040503050406030204" pitchFamily="18" charset="0"/>
                              <a:ea typeface="Cambria Math" panose="02040503050406030204" pitchFamily="18" charset="0"/>
                            </a:rPr>
                            <m:t>𝑎</m:t>
                          </m:r>
                          <m:r>
                            <a:rPr lang="en-US" altLang="zh-TW" sz="3600" b="0" i="1" smtClean="0">
                              <a:latin typeface="Cambria Math" panose="02040503050406030204" pitchFamily="18" charset="0"/>
                              <a:ea typeface="Cambria Math" panose="02040503050406030204" pitchFamily="18" charset="0"/>
                            </a:rPr>
                            <m:t>1</m:t>
                          </m:r>
                        </m:sub>
                      </m:sSub>
                      <m:r>
                        <a:rPr lang="en-US" altLang="zh-TW" sz="3600" i="1" smtClean="0">
                          <a:latin typeface="Cambria Math" panose="02040503050406030204" pitchFamily="18" charset="0"/>
                          <a:ea typeface="Cambria Math" panose="02040503050406030204" pitchFamily="18" charset="0"/>
                        </a:rPr>
                        <m:t>+</m:t>
                      </m:r>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5</m:t>
                          </m:r>
                        </m:e>
                        <m:sub>
                          <m:r>
                            <a:rPr lang="en-US" altLang="zh-TW" sz="3600" b="0" i="1" smtClean="0">
                              <a:latin typeface="Cambria Math" panose="02040503050406030204" pitchFamily="18" charset="0"/>
                              <a:ea typeface="Cambria Math" panose="02040503050406030204" pitchFamily="18" charset="0"/>
                            </a:rPr>
                            <m:t>𝑎</m:t>
                          </m:r>
                          <m:r>
                            <a:rPr lang="en-US" altLang="zh-TW" sz="3600" b="0" i="1" smtClean="0">
                              <a:latin typeface="Cambria Math" panose="02040503050406030204" pitchFamily="18" charset="0"/>
                              <a:ea typeface="Cambria Math" panose="02040503050406030204" pitchFamily="18" charset="0"/>
                            </a:rPr>
                            <m:t>2</m:t>
                          </m:r>
                        </m:sub>
                      </m:sSub>
                      <m:r>
                        <a:rPr lang="en-US" altLang="zh-TW" sz="3600" i="1" smtClean="0">
                          <a:latin typeface="Cambria Math" panose="02040503050406030204" pitchFamily="18" charset="0"/>
                          <a:ea typeface="Cambria Math" panose="02040503050406030204" pitchFamily="18" charset="0"/>
                        </a:rPr>
                        <m:t>+</m:t>
                      </m:r>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9</m:t>
                          </m:r>
                        </m:e>
                        <m:sub>
                          <m:r>
                            <a:rPr lang="en-US" altLang="zh-TW" sz="3600" b="0" i="1" smtClean="0">
                              <a:latin typeface="Cambria Math" panose="02040503050406030204" pitchFamily="18" charset="0"/>
                              <a:ea typeface="Cambria Math" panose="02040503050406030204" pitchFamily="18" charset="0"/>
                            </a:rPr>
                            <m:t>𝑎</m:t>
                          </m:r>
                          <m:r>
                            <a:rPr lang="en-US" altLang="zh-TW" sz="3600" b="0" i="1" smtClean="0">
                              <a:latin typeface="Cambria Math" panose="02040503050406030204" pitchFamily="18" charset="0"/>
                              <a:ea typeface="Cambria Math" panose="02040503050406030204" pitchFamily="18" charset="0"/>
                            </a:rPr>
                            <m:t>3</m:t>
                          </m:r>
                        </m:sub>
                      </m:sSub>
                      <m:r>
                        <a:rPr lang="zh-TW" altLang="en-US" sz="3600" i="1">
                          <a:latin typeface="Cambria Math" panose="02040503050406030204" pitchFamily="18" charset="0"/>
                        </a:rPr>
                        <m:t>≤</m:t>
                      </m:r>
                      <m:r>
                        <a:rPr lang="en-US" altLang="zh-TW" sz="3600" i="1">
                          <a:latin typeface="Cambria Math" panose="02040503050406030204" pitchFamily="18" charset="0"/>
                          <a:ea typeface="Cambria Math" panose="02040503050406030204" pitchFamily="18" charset="0"/>
                        </a:rPr>
                        <m:t>1</m:t>
                      </m:r>
                      <m:r>
                        <a:rPr lang="en-US" altLang="zh-TW" sz="3600" b="0" i="0" smtClean="0">
                          <a:latin typeface="Cambria Math" panose="02040503050406030204" pitchFamily="18" charset="0"/>
                          <a:ea typeface="Cambria Math" panose="02040503050406030204" pitchFamily="18" charset="0"/>
                        </a:rPr>
                        <m:t>7</m:t>
                      </m:r>
                    </m:oMath>
                  </m:oMathPara>
                </a14:m>
                <a:endParaRPr lang="zh-TW" altLang="en-US" sz="2800" dirty="0"/>
              </a:p>
            </p:txBody>
          </p:sp>
        </mc:Choice>
        <mc:Fallback xmlns="">
          <p:sp>
            <p:nvSpPr>
              <p:cNvPr id="7" name="文字方塊 6">
                <a:extLst>
                  <a:ext uri="{FF2B5EF4-FFF2-40B4-BE49-F238E27FC236}">
                    <a16:creationId xmlns:a16="http://schemas.microsoft.com/office/drawing/2014/main" id="{ADBDF442-A957-47D0-9C49-8794F42D837E}"/>
                  </a:ext>
                </a:extLst>
              </p:cNvPr>
              <p:cNvSpPr txBox="1">
                <a:spLocks noRot="1" noChangeAspect="1" noMove="1" noResize="1" noEditPoints="1" noAdjustHandles="1" noChangeArrowheads="1" noChangeShapeType="1" noTextEdit="1"/>
              </p:cNvSpPr>
              <p:nvPr/>
            </p:nvSpPr>
            <p:spPr>
              <a:xfrm>
                <a:off x="107576" y="5938877"/>
                <a:ext cx="5670177" cy="553998"/>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00785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12E76CE-9B7A-43F7-899C-647CA33501DE}"/>
                  </a:ext>
                </a:extLst>
              </p:cNvPr>
              <p:cNvSpPr/>
              <p:nvPr/>
            </p:nvSpPr>
            <p:spPr>
              <a:xfrm>
                <a:off x="6311152" y="376518"/>
                <a:ext cx="1111625" cy="11474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2</m:t>
                        </m:r>
                      </m:num>
                      <m:den>
                        <m:r>
                          <a:rPr lang="en-US" altLang="zh-TW" sz="2400" i="1">
                            <a:latin typeface="Cambria Math" panose="02040503050406030204" pitchFamily="18" charset="0"/>
                          </a:rPr>
                          <m:t>1</m:t>
                        </m:r>
                        <m:r>
                          <a:rPr lang="en-US" altLang="zh-TW" sz="2400" i="1" smtClean="0">
                            <a:latin typeface="Cambria Math" panose="02040503050406030204" pitchFamily="18" charset="0"/>
                          </a:rPr>
                          <m:t>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a:t>
                </a:r>
                <a14:m>
                  <m:oMath xmlns:m="http://schemas.openxmlformats.org/officeDocument/2006/math">
                    <m:f>
                      <m:fPr>
                        <m:ctrlPr>
                          <a:rPr lang="en-US" altLang="zh-TW" sz="2400" i="1" dirty="0" smtClean="0">
                            <a:solidFill>
                              <a:sysClr val="windowText" lastClr="000000"/>
                            </a:solidFill>
                            <a:latin typeface="Cambria Math" panose="02040503050406030204" pitchFamily="18" charset="0"/>
                          </a:rPr>
                        </m:ctrlPr>
                      </m:fPr>
                      <m:num>
                        <m:r>
                          <a:rPr lang="en-US" altLang="zh-TW" sz="2400" b="0" i="1" dirty="0" smtClean="0">
                            <a:solidFill>
                              <a:sysClr val="windowText" lastClr="000000"/>
                            </a:solidFill>
                            <a:latin typeface="Cambria Math" panose="02040503050406030204" pitchFamily="18" charset="0"/>
                          </a:rPr>
                          <m:t>17</m:t>
                        </m:r>
                      </m:num>
                      <m:den>
                        <m:r>
                          <a:rPr lang="en-US" altLang="zh-TW" sz="2400" i="1" dirty="0">
                            <a:solidFill>
                              <a:sysClr val="windowText" lastClr="000000"/>
                            </a:solidFill>
                            <a:latin typeface="Cambria Math" panose="02040503050406030204" pitchFamily="18" charset="0"/>
                          </a:rPr>
                          <m:t>3</m:t>
                        </m:r>
                      </m:den>
                    </m:f>
                  </m:oMath>
                </a14:m>
                <a:endParaRPr lang="zh-TW" altLang="en-US" sz="2800" dirty="0">
                  <a:solidFill>
                    <a:sysClr val="windowText" lastClr="000000"/>
                  </a:solidFill>
                </a:endParaRPr>
              </a:p>
            </p:txBody>
          </p:sp>
        </mc:Choice>
        <mc:Fallback xmlns="">
          <p:sp>
            <p:nvSpPr>
              <p:cNvPr id="4" name="矩形 3">
                <a:extLst>
                  <a:ext uri="{FF2B5EF4-FFF2-40B4-BE49-F238E27FC236}">
                    <a16:creationId xmlns:a16="http://schemas.microsoft.com/office/drawing/2014/main" id="{B12E76CE-9B7A-43F7-899C-647CA33501DE}"/>
                  </a:ext>
                </a:extLst>
              </p:cNvPr>
              <p:cNvSpPr>
                <a:spLocks noRot="1" noChangeAspect="1" noMove="1" noResize="1" noEditPoints="1" noAdjustHandles="1" noChangeArrowheads="1" noChangeShapeType="1" noTextEdit="1"/>
              </p:cNvSpPr>
              <p:nvPr/>
            </p:nvSpPr>
            <p:spPr>
              <a:xfrm>
                <a:off x="6311152" y="376518"/>
                <a:ext cx="1111625" cy="1147482"/>
              </a:xfrm>
              <a:prstGeom prst="rect">
                <a:avLst/>
              </a:prstGeom>
              <a:blipFill>
                <a:blip r:embed="rId3"/>
                <a:stretch>
                  <a:fillRect b="-4211"/>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id="{33EC9BE2-8A1F-4D33-A7C6-02A72E6E75DE}"/>
              </a:ext>
            </a:extLst>
          </p:cNvPr>
          <p:cNvSpPr/>
          <p:nvPr/>
        </p:nvSpPr>
        <p:spPr>
          <a:xfrm>
            <a:off x="8401050" y="1720785"/>
            <a:ext cx="1809750" cy="128911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800" dirty="0">
                <a:solidFill>
                  <a:sysClr val="windowText" lastClr="000000"/>
                </a:solidFill>
              </a:rPr>
              <a:t>Infeasible</a:t>
            </a:r>
            <a:endParaRPr lang="zh-TW" altLang="en-US" sz="2800" dirty="0">
              <a:solidFill>
                <a:sysClr val="windowText" lastClr="000000"/>
              </a:solidFill>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A7BDEA44-9DFA-433E-8564-AFAA78013EE5}"/>
                  </a:ext>
                </a:extLst>
              </p:cNvPr>
              <p:cNvSpPr/>
              <p:nvPr/>
            </p:nvSpPr>
            <p:spPr>
              <a:xfrm>
                <a:off x="4440548" y="1672906"/>
                <a:ext cx="1139766" cy="17032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8</m:t>
                        </m:r>
                      </m:num>
                      <m:den>
                        <m:r>
                          <a:rPr lang="en-US" altLang="zh-TW" sz="2400" b="0" i="1" smtClean="0">
                            <a:latin typeface="Cambria Math" panose="02040503050406030204" pitchFamily="18" charset="0"/>
                          </a:rPr>
                          <m:t>15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a:t>
                </a:r>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8</m:t>
                        </m:r>
                      </m:num>
                      <m:den>
                        <m:r>
                          <a:rPr lang="en-US" altLang="zh-TW" sz="2400" b="0" i="1" smtClean="0">
                            <a:latin typeface="Cambria Math" panose="02040503050406030204" pitchFamily="18" charset="0"/>
                          </a:rPr>
                          <m:t>3</m:t>
                        </m:r>
                      </m:den>
                    </m:f>
                  </m:oMath>
                </a14:m>
                <a:endParaRPr lang="en-US" altLang="zh-TW" sz="2400" dirty="0">
                  <a:solidFill>
                    <a:sysClr val="windowText" lastClr="000000"/>
                  </a:solidFill>
                </a:endParaRPr>
              </a:p>
            </p:txBody>
          </p:sp>
        </mc:Choice>
        <mc:Fallback xmlns="">
          <p:sp>
            <p:nvSpPr>
              <p:cNvPr id="12" name="矩形 11">
                <a:extLst>
                  <a:ext uri="{FF2B5EF4-FFF2-40B4-BE49-F238E27FC236}">
                    <a16:creationId xmlns:a16="http://schemas.microsoft.com/office/drawing/2014/main" id="{A7BDEA44-9DFA-433E-8564-AFAA78013EE5}"/>
                  </a:ext>
                </a:extLst>
              </p:cNvPr>
              <p:cNvSpPr>
                <a:spLocks noRot="1" noChangeAspect="1" noMove="1" noResize="1" noEditPoints="1" noAdjustHandles="1" noChangeArrowheads="1" noChangeShapeType="1" noTextEdit="1"/>
              </p:cNvSpPr>
              <p:nvPr/>
            </p:nvSpPr>
            <p:spPr>
              <a:xfrm>
                <a:off x="4440548" y="1672906"/>
                <a:ext cx="1139766" cy="170329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A6EF276B-9979-4ABE-853C-80F171B19359}"/>
                  </a:ext>
                </a:extLst>
              </p:cNvPr>
              <p:cNvSpPr txBox="1"/>
              <p:nvPr/>
            </p:nvSpPr>
            <p:spPr>
              <a:xfrm>
                <a:off x="7479663" y="1727070"/>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6</m:t>
                      </m:r>
                    </m:oMath>
                  </m:oMathPara>
                </a14:m>
                <a:endParaRPr lang="zh-TW" altLang="en-US" dirty="0"/>
              </a:p>
            </p:txBody>
          </p:sp>
        </mc:Choice>
        <mc:Fallback xmlns="">
          <p:sp>
            <p:nvSpPr>
              <p:cNvPr id="13" name="文字方塊 12">
                <a:extLst>
                  <a:ext uri="{FF2B5EF4-FFF2-40B4-BE49-F238E27FC236}">
                    <a16:creationId xmlns:a16="http://schemas.microsoft.com/office/drawing/2014/main" id="{A6EF276B-9979-4ABE-853C-80F171B19359}"/>
                  </a:ext>
                </a:extLst>
              </p:cNvPr>
              <p:cNvSpPr txBox="1">
                <a:spLocks noRot="1" noChangeAspect="1" noMove="1" noResize="1" noEditPoints="1" noAdjustHandles="1" noChangeArrowheads="1" noChangeShapeType="1" noTextEdit="1"/>
              </p:cNvSpPr>
              <p:nvPr/>
            </p:nvSpPr>
            <p:spPr>
              <a:xfrm>
                <a:off x="7479663" y="1727070"/>
                <a:ext cx="921387" cy="369332"/>
              </a:xfrm>
              <a:prstGeom prst="rect">
                <a:avLst/>
              </a:prstGeom>
              <a:blipFill>
                <a:blip r:embed="rId6"/>
                <a:stretch>
                  <a:fillRect l="-5960" r="-8609"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420B1C75-7ACC-4ACB-8BEF-0A3D7BEC2480}"/>
                  </a:ext>
                </a:extLst>
              </p:cNvPr>
              <p:cNvSpPr txBox="1"/>
              <p:nvPr/>
            </p:nvSpPr>
            <p:spPr>
              <a:xfrm>
                <a:off x="5580314" y="1720785"/>
                <a:ext cx="94763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5</m:t>
                      </m:r>
                    </m:oMath>
                  </m:oMathPara>
                </a14:m>
                <a:endParaRPr lang="zh-TW" altLang="en-US" sz="2400" dirty="0"/>
              </a:p>
            </p:txBody>
          </p:sp>
        </mc:Choice>
        <mc:Fallback xmlns="">
          <p:sp>
            <p:nvSpPr>
              <p:cNvPr id="14" name="文字方塊 13">
                <a:extLst>
                  <a:ext uri="{FF2B5EF4-FFF2-40B4-BE49-F238E27FC236}">
                    <a16:creationId xmlns:a16="http://schemas.microsoft.com/office/drawing/2014/main" id="{420B1C75-7ACC-4ACB-8BEF-0A3D7BEC2480}"/>
                  </a:ext>
                </a:extLst>
              </p:cNvPr>
              <p:cNvSpPr txBox="1">
                <a:spLocks noRot="1" noChangeAspect="1" noMove="1" noResize="1" noEditPoints="1" noAdjustHandles="1" noChangeArrowheads="1" noChangeShapeType="1" noTextEdit="1"/>
              </p:cNvSpPr>
              <p:nvPr/>
            </p:nvSpPr>
            <p:spPr>
              <a:xfrm>
                <a:off x="5580314" y="1720785"/>
                <a:ext cx="947632" cy="369332"/>
              </a:xfrm>
              <a:prstGeom prst="rect">
                <a:avLst/>
              </a:prstGeom>
              <a:blipFill>
                <a:blip r:embed="rId7"/>
                <a:stretch>
                  <a:fillRect l="-3846" r="-7692"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9C7D8E90-A85B-440E-B731-166B4E12F905}"/>
                  </a:ext>
                </a:extLst>
              </p:cNvPr>
              <p:cNvSpPr txBox="1"/>
              <p:nvPr/>
            </p:nvSpPr>
            <p:spPr>
              <a:xfrm>
                <a:off x="3615594" y="3681626"/>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r>
                        <a:rPr lang="zh-TW" altLang="en-US" sz="2400" i="1">
                          <a:latin typeface="Cambria Math" panose="02040503050406030204" pitchFamily="18" charset="0"/>
                        </a:rPr>
                        <m:t>≥</m:t>
                      </m:r>
                      <m:r>
                        <a:rPr lang="en-US" altLang="zh-TW" sz="2400" b="0" i="1" smtClean="0">
                          <a:latin typeface="Cambria Math" panose="02040503050406030204" pitchFamily="18" charset="0"/>
                        </a:rPr>
                        <m:t>1</m:t>
                      </m:r>
                    </m:oMath>
                  </m:oMathPara>
                </a14:m>
                <a:endParaRPr lang="zh-TW" altLang="en-US" dirty="0"/>
              </a:p>
            </p:txBody>
          </p:sp>
        </mc:Choice>
        <mc:Fallback xmlns="">
          <p:sp>
            <p:nvSpPr>
              <p:cNvPr id="15" name="文字方塊 14">
                <a:extLst>
                  <a:ext uri="{FF2B5EF4-FFF2-40B4-BE49-F238E27FC236}">
                    <a16:creationId xmlns:a16="http://schemas.microsoft.com/office/drawing/2014/main" id="{9C7D8E90-A85B-440E-B731-166B4E12F905}"/>
                  </a:ext>
                </a:extLst>
              </p:cNvPr>
              <p:cNvSpPr txBox="1">
                <a:spLocks noRot="1" noChangeAspect="1" noMove="1" noResize="1" noEditPoints="1" noAdjustHandles="1" noChangeArrowheads="1" noChangeShapeType="1" noTextEdit="1"/>
              </p:cNvSpPr>
              <p:nvPr/>
            </p:nvSpPr>
            <p:spPr>
              <a:xfrm>
                <a:off x="3615594" y="3681626"/>
                <a:ext cx="921387" cy="369332"/>
              </a:xfrm>
              <a:prstGeom prst="rect">
                <a:avLst/>
              </a:prstGeom>
              <a:blipFill>
                <a:blip r:embed="rId8"/>
                <a:stretch>
                  <a:fillRect l="-5298" r="-9934"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E5EA8892-E055-47B1-8DBF-BFFE129E9FED}"/>
                  </a:ext>
                </a:extLst>
              </p:cNvPr>
              <p:cNvSpPr txBox="1"/>
              <p:nvPr/>
            </p:nvSpPr>
            <p:spPr>
              <a:xfrm>
                <a:off x="5618625" y="3710630"/>
                <a:ext cx="9547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0</m:t>
                      </m:r>
                    </m:oMath>
                  </m:oMathPara>
                </a14:m>
                <a:endParaRPr lang="zh-TW" altLang="en-US" sz="2400" dirty="0"/>
              </a:p>
            </p:txBody>
          </p:sp>
        </mc:Choice>
        <mc:Fallback xmlns="">
          <p:sp>
            <p:nvSpPr>
              <p:cNvPr id="16" name="文字方塊 15">
                <a:extLst>
                  <a:ext uri="{FF2B5EF4-FFF2-40B4-BE49-F238E27FC236}">
                    <a16:creationId xmlns:a16="http://schemas.microsoft.com/office/drawing/2014/main" id="{E5EA8892-E055-47B1-8DBF-BFFE129E9FED}"/>
                  </a:ext>
                </a:extLst>
              </p:cNvPr>
              <p:cNvSpPr txBox="1">
                <a:spLocks noRot="1" noChangeAspect="1" noMove="1" noResize="1" noEditPoints="1" noAdjustHandles="1" noChangeArrowheads="1" noChangeShapeType="1" noTextEdit="1"/>
              </p:cNvSpPr>
              <p:nvPr/>
            </p:nvSpPr>
            <p:spPr>
              <a:xfrm>
                <a:off x="5618625" y="3710630"/>
                <a:ext cx="954749" cy="369332"/>
              </a:xfrm>
              <a:prstGeom prst="rect">
                <a:avLst/>
              </a:prstGeom>
              <a:blipFill>
                <a:blip r:embed="rId9"/>
                <a:stretch>
                  <a:fillRect l="-4487" r="-7692"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41C06E77-FB47-4ED3-88A2-851967CC7423}"/>
                  </a:ext>
                </a:extLst>
              </p:cNvPr>
              <p:cNvSpPr/>
              <p:nvPr/>
            </p:nvSpPr>
            <p:spPr>
              <a:xfrm>
                <a:off x="1979137" y="3648236"/>
                <a:ext cx="1384856" cy="183417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2</m:t>
                        </m:r>
                      </m:num>
                      <m:den>
                        <m:r>
                          <a:rPr lang="en-US" altLang="zh-TW" sz="2400" b="0" i="1" smtClean="0">
                            <a:latin typeface="Cambria Math" panose="02040503050406030204" pitchFamily="18" charset="0"/>
                          </a:rPr>
                          <m:t>15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=4</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=0</a:t>
                </a:r>
              </a:p>
            </p:txBody>
          </p:sp>
        </mc:Choice>
        <mc:Fallback xmlns="">
          <p:sp>
            <p:nvSpPr>
              <p:cNvPr id="17" name="矩形 16">
                <a:extLst>
                  <a:ext uri="{FF2B5EF4-FFF2-40B4-BE49-F238E27FC236}">
                    <a16:creationId xmlns:a16="http://schemas.microsoft.com/office/drawing/2014/main" id="{41C06E77-FB47-4ED3-88A2-851967CC7423}"/>
                  </a:ext>
                </a:extLst>
              </p:cNvPr>
              <p:cNvSpPr>
                <a:spLocks noRot="1" noChangeAspect="1" noMove="1" noResize="1" noEditPoints="1" noAdjustHandles="1" noChangeArrowheads="1" noChangeShapeType="1" noTextEdit="1"/>
              </p:cNvSpPr>
              <p:nvPr/>
            </p:nvSpPr>
            <p:spPr>
              <a:xfrm>
                <a:off x="1979137" y="3648236"/>
                <a:ext cx="1384856" cy="1834172"/>
              </a:xfrm>
              <a:prstGeom prst="rect">
                <a:avLst/>
              </a:prstGeom>
              <a:blipFill>
                <a:blip r:embed="rId10"/>
                <a:stretch>
                  <a:fillRect b="-396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C7A3E532-9A6D-46B5-A022-C22F5F51F4A9}"/>
                  </a:ext>
                </a:extLst>
              </p:cNvPr>
              <p:cNvSpPr/>
              <p:nvPr/>
            </p:nvSpPr>
            <p:spPr>
              <a:xfrm>
                <a:off x="6573374" y="3509910"/>
                <a:ext cx="1384856" cy="183417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14</m:t>
                        </m:r>
                      </m:num>
                      <m:den>
                        <m:r>
                          <a:rPr lang="en-US" altLang="zh-TW" sz="2400" b="0" i="1" smtClean="0">
                            <a:latin typeface="Cambria Math" panose="02040503050406030204" pitchFamily="18" charset="0"/>
                          </a:rPr>
                          <m:t>135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=5</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=0</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 </a:t>
                </a:r>
                <a14:m>
                  <m:oMath xmlns:m="http://schemas.openxmlformats.org/officeDocument/2006/math">
                    <m:f>
                      <m:fPr>
                        <m:ctrlPr>
                          <a:rPr lang="en-US" altLang="zh-TW" sz="2400" i="1" dirty="0">
                            <a:solidFill>
                              <a:sysClr val="windowText" lastClr="000000"/>
                            </a:solidFill>
                            <a:latin typeface="Cambria Math" panose="02040503050406030204" pitchFamily="18" charset="0"/>
                          </a:rPr>
                        </m:ctrlPr>
                      </m:fPr>
                      <m:num>
                        <m:r>
                          <a:rPr lang="en-US" altLang="zh-TW" sz="2400" b="0" i="1" dirty="0" smtClean="0">
                            <a:solidFill>
                              <a:sysClr val="windowText" lastClr="000000"/>
                            </a:solidFill>
                            <a:latin typeface="Cambria Math" panose="02040503050406030204" pitchFamily="18" charset="0"/>
                          </a:rPr>
                          <m:t>2</m:t>
                        </m:r>
                      </m:num>
                      <m:den>
                        <m:r>
                          <a:rPr lang="en-US" altLang="zh-TW" sz="2400" b="0" i="1" dirty="0" smtClean="0">
                            <a:solidFill>
                              <a:sysClr val="windowText" lastClr="000000"/>
                            </a:solidFill>
                            <a:latin typeface="Cambria Math" panose="02040503050406030204" pitchFamily="18" charset="0"/>
                          </a:rPr>
                          <m:t>9</m:t>
                        </m:r>
                      </m:den>
                    </m:f>
                  </m:oMath>
                </a14:m>
                <a:endParaRPr lang="en-US" altLang="zh-TW" sz="2400" dirty="0">
                  <a:solidFill>
                    <a:sysClr val="windowText" lastClr="000000"/>
                  </a:solidFill>
                </a:endParaRPr>
              </a:p>
            </p:txBody>
          </p:sp>
        </mc:Choice>
        <mc:Fallback xmlns="">
          <p:sp>
            <p:nvSpPr>
              <p:cNvPr id="21" name="矩形 20">
                <a:extLst>
                  <a:ext uri="{FF2B5EF4-FFF2-40B4-BE49-F238E27FC236}">
                    <a16:creationId xmlns:a16="http://schemas.microsoft.com/office/drawing/2014/main" id="{C7A3E532-9A6D-46B5-A022-C22F5F51F4A9}"/>
                  </a:ext>
                </a:extLst>
              </p:cNvPr>
              <p:cNvSpPr>
                <a:spLocks noRot="1" noChangeAspect="1" noMove="1" noResize="1" noEditPoints="1" noAdjustHandles="1" noChangeArrowheads="1" noChangeShapeType="1" noTextEdit="1"/>
              </p:cNvSpPr>
              <p:nvPr/>
            </p:nvSpPr>
            <p:spPr>
              <a:xfrm>
                <a:off x="6573374" y="3509910"/>
                <a:ext cx="1384856" cy="1834171"/>
              </a:xfrm>
              <a:prstGeom prst="rect">
                <a:avLst/>
              </a:prstGeom>
              <a:blipFill>
                <a:blip r:embed="rId11"/>
                <a:stretch>
                  <a:fillRect b="-396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2A368892-3AFE-47EE-B6AF-E9C5B8A0548C}"/>
                  </a:ext>
                </a:extLst>
              </p:cNvPr>
              <p:cNvSpPr txBox="1"/>
              <p:nvPr/>
            </p:nvSpPr>
            <p:spPr>
              <a:xfrm>
                <a:off x="287648" y="319799"/>
                <a:ext cx="8305800" cy="616194"/>
              </a:xfrm>
              <a:prstGeom prst="rect">
                <a:avLst/>
              </a:prstGeom>
              <a:noFill/>
            </p:spPr>
            <p:txBody>
              <a:bodyPr wrap="square">
                <a:spAutoFit/>
              </a:bodyPr>
              <a:lstStyle/>
              <a:p>
                <a:r>
                  <a:rPr lang="en-US" altLang="zh-TW" sz="2400" dirty="0"/>
                  <a:t>Max z =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5</m:t>
                        </m:r>
                      </m:den>
                    </m:f>
                  </m:oMath>
                </a14:m>
                <a:r>
                  <a:rPr lang="en-US" altLang="zh-TW" sz="2400" dirty="0">
                    <a:ea typeface="Cambria Math" panose="02040503050406030204" pitchFamily="18" charset="0"/>
                  </a:rPr>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 </m:t>
                    </m:r>
                  </m:oMath>
                </a14:m>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oMath>
                </a14:m>
                <a:r>
                  <a:rPr lang="en-US" altLang="zh-TW" sz="2400" dirty="0">
                    <a:ea typeface="Cambria Math" panose="02040503050406030204" pitchFamily="18" charset="0"/>
                  </a:rPr>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2</m:t>
                        </m:r>
                      </m:sub>
                    </m:sSub>
                  </m:oMath>
                </a14:m>
                <a:r>
                  <a:rPr lang="en-US" altLang="zh-TW" sz="2400" dirty="0"/>
                  <a:t> +</a:t>
                </a:r>
                <a:r>
                  <a:rPr lang="zh-TW" altLang="en-US" sz="2400" dirty="0"/>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f>
                          <m:fPr>
                            <m:ctrlPr>
                              <a:rPr lang="en-US" altLang="zh-TW" sz="2400" i="1" dirty="0">
                                <a:latin typeface="Cambria Math" panose="02040503050406030204" pitchFamily="18" charset="0"/>
                              </a:rPr>
                            </m:ctrlPr>
                          </m:fPr>
                          <m:num>
                            <m:r>
                              <a:rPr lang="en-US" altLang="zh-TW" sz="2400" i="1" dirty="0">
                                <a:latin typeface="Cambria Math" panose="02040503050406030204" pitchFamily="18" charset="0"/>
                              </a:rPr>
                              <m:t>7</m:t>
                            </m:r>
                          </m:num>
                          <m:den>
                            <m:r>
                              <a:rPr lang="en-US" altLang="zh-TW" sz="2400" i="1" dirty="0">
                                <a:latin typeface="Cambria Math" panose="02040503050406030204" pitchFamily="18" charset="0"/>
                              </a:rPr>
                              <m:t>15</m:t>
                            </m:r>
                          </m:den>
                        </m:f>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t> -1 </a:t>
                </a:r>
                <a:endParaRPr lang="zh-TW" altLang="en-US" sz="2400" dirty="0"/>
              </a:p>
            </p:txBody>
          </p:sp>
        </mc:Choice>
        <mc:Fallback xmlns="">
          <p:sp>
            <p:nvSpPr>
              <p:cNvPr id="23" name="文字方塊 22">
                <a:extLst>
                  <a:ext uri="{FF2B5EF4-FFF2-40B4-BE49-F238E27FC236}">
                    <a16:creationId xmlns:a16="http://schemas.microsoft.com/office/drawing/2014/main" id="{2A368892-3AFE-47EE-B6AF-E9C5B8A0548C}"/>
                  </a:ext>
                </a:extLst>
              </p:cNvPr>
              <p:cNvSpPr txBox="1">
                <a:spLocks noRot="1" noChangeAspect="1" noMove="1" noResize="1" noEditPoints="1" noAdjustHandles="1" noChangeArrowheads="1" noChangeShapeType="1" noTextEdit="1"/>
              </p:cNvSpPr>
              <p:nvPr/>
            </p:nvSpPr>
            <p:spPr>
              <a:xfrm>
                <a:off x="287648" y="319799"/>
                <a:ext cx="8305800" cy="616194"/>
              </a:xfrm>
              <a:prstGeom prst="rect">
                <a:avLst/>
              </a:prstGeom>
              <a:blipFill>
                <a:blip r:embed="rId12"/>
                <a:stretch>
                  <a:fillRect l="-1101" b="-88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622C0D-1DFE-427E-9132-02C2E905CD46}"/>
                  </a:ext>
                </a:extLst>
              </p:cNvPr>
              <p:cNvSpPr txBox="1"/>
              <p:nvPr/>
            </p:nvSpPr>
            <p:spPr>
              <a:xfrm>
                <a:off x="-855951" y="996050"/>
                <a:ext cx="5670177"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3</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1</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5</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2</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9</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3</m:t>
                          </m:r>
                        </m:sub>
                      </m:sSub>
                      <m:r>
                        <a:rPr lang="zh-TW" altLang="en-US" sz="2800" i="1">
                          <a:latin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1</m:t>
                      </m:r>
                      <m:r>
                        <a:rPr lang="en-US" altLang="zh-TW" sz="2800" b="0" i="0" smtClean="0">
                          <a:latin typeface="Cambria Math" panose="02040503050406030204" pitchFamily="18" charset="0"/>
                          <a:ea typeface="Cambria Math" panose="02040503050406030204" pitchFamily="18" charset="0"/>
                        </a:rPr>
                        <m:t>7</m:t>
                      </m:r>
                    </m:oMath>
                  </m:oMathPara>
                </a14:m>
                <a:endParaRPr lang="zh-TW" altLang="en-US" sz="2800" dirty="0"/>
              </a:p>
            </p:txBody>
          </p:sp>
        </mc:Choice>
        <mc:Fallback xmlns="">
          <p:sp>
            <p:nvSpPr>
              <p:cNvPr id="24" name="文字方塊 23">
                <a:extLst>
                  <a:ext uri="{FF2B5EF4-FFF2-40B4-BE49-F238E27FC236}">
                    <a16:creationId xmlns:a16="http://schemas.microsoft.com/office/drawing/2014/main" id="{0E622C0D-1DFE-427E-9132-02C2E905CD46}"/>
                  </a:ext>
                </a:extLst>
              </p:cNvPr>
              <p:cNvSpPr txBox="1">
                <a:spLocks noRot="1" noChangeAspect="1" noMove="1" noResize="1" noEditPoints="1" noAdjustHandles="1" noChangeArrowheads="1" noChangeShapeType="1" noTextEdit="1"/>
              </p:cNvSpPr>
              <p:nvPr/>
            </p:nvSpPr>
            <p:spPr>
              <a:xfrm>
                <a:off x="-855951" y="996050"/>
                <a:ext cx="5670177" cy="430887"/>
              </a:xfrm>
              <a:prstGeom prst="rect">
                <a:avLst/>
              </a:prstGeom>
              <a:blipFill>
                <a:blip r:embed="rId1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73853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22CDC02F-641F-4547-8BFB-3D7EF1C1FEDD}"/>
                  </a:ext>
                </a:extLst>
              </p:cNvPr>
              <p:cNvSpPr txBox="1"/>
              <p:nvPr/>
            </p:nvSpPr>
            <p:spPr>
              <a:xfrm>
                <a:off x="519950" y="351244"/>
                <a:ext cx="7440705" cy="1771447"/>
              </a:xfrm>
              <a:prstGeom prst="rect">
                <a:avLst/>
              </a:prstGeom>
              <a:noFill/>
            </p:spPr>
            <p:txBody>
              <a:bodyPr wrap="square">
                <a:spAutoFit/>
              </a:bodyPr>
              <a:lstStyle/>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𝐵</m:t>
                        </m:r>
                      </m:e>
                      <m:sub>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−1</m:t>
                        </m:r>
                      </m:sup>
                    </m:sSubSup>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1</m:t>
                                  </m:r>
                                </m:sub>
                              </m:sSub>
                            </m:e>
                          </m:m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2</m:t>
                                  </m:r>
                                </m:sub>
                              </m:sSub>
                            </m:e>
                          </m:m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3</m:t>
                                  </m:r>
                                </m:sub>
                              </m:sSub>
                            </m:e>
                          </m:mr>
                        </m:m>
                      </m:e>
                    </m:d>
                    <m:r>
                      <a:rPr lang="en-US" altLang="zh-TW" sz="2800" i="1">
                        <a:latin typeface="Cambria Math" panose="02040503050406030204" pitchFamily="18" charset="0"/>
                        <a:ea typeface="Cambria Math" panose="02040503050406030204" pitchFamily="18" charset="0"/>
                      </a:rPr>
                      <m:t> </m:t>
                    </m:r>
                  </m:oMath>
                </a14:m>
                <a:r>
                  <a:rPr lang="en-US" altLang="zh-TW" sz="2800" dirty="0"/>
                  <a:t>= </a:t>
                </a:r>
                <a14:m>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b="0" i="1" smtClean="0">
                            <a:latin typeface="Cambria Math" panose="02040503050406030204" pitchFamily="18" charset="0"/>
                          </a:rPr>
                          <m:t>1</m:t>
                        </m:r>
                      </m:sub>
                      <m:sup>
                        <m:r>
                          <a:rPr lang="en-US" altLang="zh-TW" sz="2800" i="1">
                            <a:latin typeface="Cambria Math" panose="02040503050406030204" pitchFamily="18" charset="0"/>
                          </a:rPr>
                          <m:t>−1</m:t>
                        </m:r>
                      </m:sup>
                    </m:sSubSup>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smtClean="0">
                                <a:latin typeface="Cambria Math" panose="02040503050406030204" pitchFamily="18" charset="0"/>
                              </a:rPr>
                            </m:ctrlPr>
                          </m:mPr>
                          <m:mr>
                            <m:e>
                              <m:r>
                                <a:rPr lang="en-US" altLang="zh-TW" sz="2800" b="0" i="1" smtClean="0">
                                  <a:latin typeface="Cambria Math" panose="02040503050406030204" pitchFamily="18" charset="0"/>
                                </a:rPr>
                                <m:t>4</m:t>
                              </m:r>
                            </m:e>
                          </m:mr>
                          <m:mr>
                            <m:e>
                              <m:r>
                                <a:rPr lang="en-US" altLang="zh-TW" sz="2800" b="0" i="1" smtClean="0">
                                  <a:latin typeface="Cambria Math" panose="02040503050406030204" pitchFamily="18" charset="0"/>
                                </a:rPr>
                                <m:t>1</m:t>
                              </m:r>
                            </m:e>
                          </m:mr>
                          <m:mr>
                            <m:e>
                              <m:r>
                                <a:rPr lang="en-US" altLang="zh-TW" sz="2800" b="0" i="1" smtClean="0">
                                  <a:latin typeface="Cambria Math" panose="02040503050406030204" pitchFamily="18" charset="0"/>
                                </a:rPr>
                                <m:t>0</m:t>
                              </m:r>
                            </m:e>
                          </m:mr>
                        </m:m>
                      </m:e>
                    </m:d>
                  </m:oMath>
                </a14:m>
                <a:r>
                  <a:rPr lang="en-US" altLang="zh-TW" sz="2800" dirty="0"/>
                  <a:t>  = </a:t>
                </a:r>
                <a14:m>
                  <m:oMath xmlns:m="http://schemas.openxmlformats.org/officeDocument/2006/math">
                    <m:d>
                      <m:dPr>
                        <m:begChr m:val="["/>
                        <m:endChr m:val="]"/>
                        <m:ctrlPr>
                          <a:rPr lang="en-US" altLang="zh-TW" sz="2800" i="1" dirty="0" smtClean="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f>
                                <m:fPr>
                                  <m:ctrlPr>
                                    <a:rPr lang="en-US" altLang="zh-TW" sz="2800" i="1">
                                      <a:latin typeface="Cambria Math" panose="02040503050406030204" pitchFamily="18" charset="0"/>
                                    </a:rPr>
                                  </m:ctrlPr>
                                </m:fPr>
                                <m:num>
                                  <m:r>
                                    <a:rPr lang="en-US" altLang="zh-TW" sz="2800" b="0" i="1" smtClean="0">
                                      <a:latin typeface="Cambria Math" panose="02040503050406030204" pitchFamily="18" charset="0"/>
                                    </a:rPr>
                                    <m:t>4</m:t>
                                  </m:r>
                                </m:num>
                                <m:den>
                                  <m:r>
                                    <a:rPr lang="en-US" altLang="zh-TW" sz="2800" i="1">
                                      <a:latin typeface="Cambria Math" panose="02040503050406030204" pitchFamily="18" charset="0"/>
                                    </a:rPr>
                                    <m:t>5</m:t>
                                  </m:r>
                                </m:den>
                              </m:f>
                            </m:e>
                          </m:mr>
                          <m:mr>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3</m:t>
                                  </m:r>
                                </m:den>
                              </m:f>
                            </m:e>
                          </m:mr>
                          <m:mr>
                            <m:e>
                              <m:r>
                                <a:rPr lang="en-US" altLang="zh-TW" sz="2800" b="0" i="1" smtClean="0">
                                  <a:latin typeface="Cambria Math" panose="02040503050406030204" pitchFamily="18" charset="0"/>
                                </a:rPr>
                                <m:t>0</m:t>
                              </m:r>
                            </m:e>
                          </m:mr>
                        </m:m>
                      </m:e>
                    </m:d>
                  </m:oMath>
                </a14:m>
                <a:endParaRPr lang="zh-TW" altLang="en-US" sz="2800" dirty="0"/>
              </a:p>
            </p:txBody>
          </p:sp>
        </mc:Choice>
        <mc:Fallback xmlns="">
          <p:sp>
            <p:nvSpPr>
              <p:cNvPr id="5" name="文字方塊 4">
                <a:extLst>
                  <a:ext uri="{FF2B5EF4-FFF2-40B4-BE49-F238E27FC236}">
                    <a16:creationId xmlns:a16="http://schemas.microsoft.com/office/drawing/2014/main" id="{22CDC02F-641F-4547-8BFB-3D7EF1C1FEDD}"/>
                  </a:ext>
                </a:extLst>
              </p:cNvPr>
              <p:cNvSpPr txBox="1">
                <a:spLocks noRot="1" noChangeAspect="1" noMove="1" noResize="1" noEditPoints="1" noAdjustHandles="1" noChangeArrowheads="1" noChangeShapeType="1" noTextEdit="1"/>
              </p:cNvSpPr>
              <p:nvPr/>
            </p:nvSpPr>
            <p:spPr>
              <a:xfrm>
                <a:off x="519950" y="351244"/>
                <a:ext cx="7440705" cy="177144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DED80337-9787-4751-A457-B265147DF8C9}"/>
                  </a:ext>
                </a:extLst>
              </p:cNvPr>
              <p:cNvSpPr txBox="1"/>
              <p:nvPr/>
            </p:nvSpPr>
            <p:spPr>
              <a:xfrm>
                <a:off x="7557244" y="525553"/>
                <a:ext cx="4634755" cy="1642886"/>
              </a:xfrm>
              <a:prstGeom prst="rect">
                <a:avLst/>
              </a:prstGeom>
              <a:noFill/>
            </p:spPr>
            <p:txBody>
              <a:bodyPr wrap="square" lIns="0" tIns="0" rIns="0" bIns="0" rtlCol="0">
                <a:spAutoFit/>
              </a:bodyPr>
              <a:lstStyle/>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b="0" i="1" smtClean="0">
                            <a:latin typeface="Cambria Math" panose="02040503050406030204" pitchFamily="18" charset="0"/>
                          </a:rPr>
                          <m:t>1</m:t>
                        </m:r>
                      </m:sub>
                      <m:sup>
                        <m:r>
                          <a:rPr lang="en-US" altLang="zh-TW" sz="2800" i="1">
                            <a:latin typeface="Cambria Math" panose="02040503050406030204" pitchFamily="18" charset="0"/>
                          </a:rPr>
                          <m:t>−1</m:t>
                        </m:r>
                      </m:sup>
                    </m:sSubSup>
                  </m:oMath>
                </a14:m>
                <a:r>
                  <a:rPr lang="en-US" altLang="zh-TW" sz="2800" dirty="0"/>
                  <a:t>b=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mr>
                          <m:mr>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r>
                                <a:rPr lang="en-US" altLang="zh-TW" sz="2800" b="0" i="1" smtClean="0">
                                  <a:latin typeface="Cambria Math" panose="02040503050406030204" pitchFamily="18" charset="0"/>
                                </a:rPr>
                                <m:t>25</m:t>
                              </m:r>
                            </m:e>
                          </m:mr>
                          <m:mr>
                            <m:e>
                              <m:r>
                                <a:rPr lang="en-US" altLang="zh-TW" sz="2800" b="0" i="1" smtClean="0">
                                  <a:latin typeface="Cambria Math" panose="02040503050406030204" pitchFamily="18" charset="0"/>
                                </a:rPr>
                                <m:t>20</m:t>
                              </m:r>
                            </m:e>
                          </m:mr>
                          <m:mr>
                            <m:e>
                              <m:r>
                                <a:rPr lang="en-US" altLang="zh-TW" sz="2800" b="0" i="1" smtClean="0">
                                  <a:latin typeface="Cambria Math" panose="02040503050406030204" pitchFamily="18" charset="0"/>
                                </a:rPr>
                                <m:t>15</m:t>
                              </m:r>
                            </m:e>
                          </m:mr>
                        </m:m>
                      </m:e>
                    </m:d>
                  </m:oMath>
                </a14:m>
                <a:r>
                  <a:rPr lang="en-US" altLang="zh-TW" sz="2800" dirty="0"/>
                  <a:t> =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r>
                                <m:rPr>
                                  <m:brk m:alnAt="7"/>
                                </m:rPr>
                                <a:rPr lang="en-US" altLang="zh-TW" sz="2800" b="0" i="1" smtClean="0">
                                  <a:latin typeface="Cambria Math" panose="02040503050406030204" pitchFamily="18" charset="0"/>
                                </a:rPr>
                                <m:t>2</m:t>
                              </m:r>
                            </m:e>
                          </m:mr>
                          <m:mr>
                            <m:e>
                              <m:f>
                                <m:fPr>
                                  <m:ctrlPr>
                                    <a:rPr lang="en-US" altLang="zh-TW" sz="2800" i="1" smtClean="0">
                                      <a:latin typeface="Cambria Math" panose="02040503050406030204" pitchFamily="18" charset="0"/>
                                    </a:rPr>
                                  </m:ctrlPr>
                                </m:fPr>
                                <m:num>
                                  <m:r>
                                    <a:rPr lang="en-US" altLang="zh-TW" sz="2800" b="0" i="1" smtClean="0">
                                      <a:latin typeface="Cambria Math" panose="02040503050406030204" pitchFamily="18" charset="0"/>
                                    </a:rPr>
                                    <m:t>5</m:t>
                                  </m:r>
                                </m:num>
                                <m:den>
                                  <m:r>
                                    <a:rPr lang="en-US" altLang="zh-TW" sz="2800" b="0" i="1" smtClean="0">
                                      <a:latin typeface="Cambria Math" panose="02040503050406030204" pitchFamily="18" charset="0"/>
                                    </a:rPr>
                                    <m:t>3</m:t>
                                  </m:r>
                                </m:den>
                              </m:f>
                            </m:e>
                          </m:mr>
                          <m:mr>
                            <m:e>
                              <m:r>
                                <a:rPr lang="en-US" altLang="zh-TW" sz="2800" b="0" i="1" smtClean="0">
                                  <a:latin typeface="Cambria Math" panose="02040503050406030204" pitchFamily="18" charset="0"/>
                                </a:rPr>
                                <m:t>15</m:t>
                              </m:r>
                            </m:e>
                          </m:mr>
                        </m:m>
                      </m:e>
                    </m:d>
                  </m:oMath>
                </a14:m>
                <a:endParaRPr lang="zh-TW" altLang="en-US" sz="2800" dirty="0"/>
              </a:p>
            </p:txBody>
          </p:sp>
        </mc:Choice>
        <mc:Fallback xmlns="">
          <p:sp>
            <p:nvSpPr>
              <p:cNvPr id="6" name="文字方塊 5">
                <a:extLst>
                  <a:ext uri="{FF2B5EF4-FFF2-40B4-BE49-F238E27FC236}">
                    <a16:creationId xmlns:a16="http://schemas.microsoft.com/office/drawing/2014/main" id="{DED80337-9787-4751-A457-B265147DF8C9}"/>
                  </a:ext>
                </a:extLst>
              </p:cNvPr>
              <p:cNvSpPr txBox="1">
                <a:spLocks noRot="1" noChangeAspect="1" noMove="1" noResize="1" noEditPoints="1" noAdjustHandles="1" noChangeArrowheads="1" noChangeShapeType="1" noTextEdit="1"/>
              </p:cNvSpPr>
              <p:nvPr/>
            </p:nvSpPr>
            <p:spPr>
              <a:xfrm>
                <a:off x="7557244" y="525553"/>
                <a:ext cx="4634755" cy="1642886"/>
              </a:xfrm>
              <a:prstGeom prst="rect">
                <a:avLst/>
              </a:prstGeom>
              <a:blipFill>
                <a:blip r:embed="rId3"/>
                <a:stretch>
                  <a:fillRect/>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3FB8D62C-EC4A-4B25-A029-F7CAA25AF79F}"/>
              </a:ext>
            </a:extLst>
          </p:cNvPr>
          <p:cNvSpPr txBox="1"/>
          <p:nvPr/>
        </p:nvSpPr>
        <p:spPr>
          <a:xfrm>
            <a:off x="519949" y="2424454"/>
            <a:ext cx="11456897" cy="646331"/>
          </a:xfrm>
          <a:prstGeom prst="rect">
            <a:avLst/>
          </a:prstGeom>
          <a:noFill/>
        </p:spPr>
        <p:txBody>
          <a:bodyPr wrap="square">
            <a:spAutoFit/>
          </a:bodyPr>
          <a:lstStyle/>
          <a:p>
            <a:endParaRPr lang="en-US" altLang="zh-TW" dirty="0"/>
          </a:p>
          <a:p>
            <a:endParaRPr lang="zh-TW" altLang="en-US" dirty="0"/>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FE182B93-CEC2-4583-805F-A0177037D267}"/>
                  </a:ext>
                </a:extLst>
              </p:cNvPr>
              <p:cNvSpPr txBox="1"/>
              <p:nvPr/>
            </p:nvSpPr>
            <p:spPr>
              <a:xfrm>
                <a:off x="519948" y="2747619"/>
                <a:ext cx="9126075" cy="2606226"/>
              </a:xfrm>
              <a:prstGeom prst="rect">
                <a:avLst/>
              </a:prstGeom>
              <a:noFill/>
            </p:spPr>
            <p:txBody>
              <a:bodyPr wrap="square">
                <a:spAutoFit/>
              </a:bodyPr>
              <a:lstStyle/>
              <a:p>
                <a:r>
                  <a:rPr lang="en-US" altLang="zh-TW" sz="2800" dirty="0">
                    <a:latin typeface="標楷體" panose="03000509000000000000" pitchFamily="65" charset="-120"/>
                    <a:ea typeface="標楷體" panose="03000509000000000000" pitchFamily="65" charset="-120"/>
                  </a:rPr>
                  <a:t>minimum ratio test </a:t>
                </a:r>
                <a:r>
                  <a:rPr lang="zh-TW" altLang="en-US" sz="2800" dirty="0">
                    <a:latin typeface="標楷體" panose="03000509000000000000" pitchFamily="65" charset="-120"/>
                    <a:ea typeface="標楷體" panose="03000509000000000000" pitchFamily="65" charset="-120"/>
                  </a:rPr>
                  <a:t> 顯示出</a:t>
                </a:r>
                <a:r>
                  <a:rPr lang="en-US" altLang="zh-TW" sz="2800" dirty="0">
                    <a:latin typeface="標楷體" panose="03000509000000000000" pitchFamily="65" charset="-120"/>
                    <a:ea typeface="標楷體" panose="03000509000000000000" pitchFamily="65" charset="-120"/>
                  </a:rPr>
                  <a:t>{</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1</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6</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7</m:t>
                        </m:r>
                      </m:sub>
                    </m:sSub>
                  </m:oMath>
                </a14:m>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的</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1</m:t>
                        </m:r>
                      </m:sub>
                    </m:sSub>
                  </m:oMath>
                </a14:m>
                <a:r>
                  <a:rPr lang="zh-TW" altLang="en-US" sz="2800" dirty="0">
                    <a:latin typeface="標楷體" panose="03000509000000000000" pitchFamily="65" charset="-120"/>
                    <a:ea typeface="標楷體" panose="03000509000000000000" pitchFamily="65" charset="-120"/>
                  </a:rPr>
                  <a:t>要置換，</a:t>
                </a:r>
                <a:endParaRPr lang="en-US" altLang="zh-TW" sz="2800" dirty="0">
                  <a:latin typeface="標楷體" panose="03000509000000000000" pitchFamily="65" charset="-120"/>
                  <a:ea typeface="標楷體" panose="03000509000000000000" pitchFamily="65" charset="-120"/>
                </a:endParaRPr>
              </a:p>
              <a:p>
                <a:r>
                  <a:rPr lang="zh-TW" altLang="en-US" sz="2800" dirty="0">
                    <a:latin typeface="標楷體" panose="03000509000000000000" pitchFamily="65" charset="-120"/>
                    <a:ea typeface="標楷體" panose="03000509000000000000" pitchFamily="65" charset="-120"/>
                  </a:rPr>
                  <a:t>所以新的基變量</a:t>
                </a:r>
                <a:r>
                  <a:rPr lang="en-US" altLang="zh-TW" sz="2800" dirty="0">
                    <a:latin typeface="標楷體" panose="03000509000000000000" pitchFamily="65" charset="-120"/>
                    <a:ea typeface="標楷體" panose="03000509000000000000" pitchFamily="65" charset="-120"/>
                  </a:rPr>
                  <a:t>BV(2) =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smtClean="0">
                            <a:latin typeface="Cambria Math" panose="02040503050406030204" pitchFamily="18" charset="0"/>
                            <a:ea typeface="Cambria Math" panose="02040503050406030204" pitchFamily="18" charset="0"/>
                          </a:rPr>
                          <m:t>2</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6</m:t>
                        </m:r>
                      </m:sub>
                    </m:sSub>
                  </m:oMath>
                </a14:m>
                <a:r>
                  <a:rPr lang="en-US" altLang="zh-TW" sz="2800" dirty="0">
                    <a:latin typeface="標楷體" panose="03000509000000000000" pitchFamily="65" charset="-120"/>
                    <a:ea typeface="標楷體" panose="03000509000000000000" pitchFamily="65" charset="-12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5</m:t>
                        </m:r>
                      </m:sub>
                    </m:sSub>
                  </m:oMath>
                </a14:m>
                <a:r>
                  <a:rPr lang="en-US" altLang="zh-TW" sz="2800" dirty="0">
                    <a:latin typeface="標楷體" panose="03000509000000000000" pitchFamily="65" charset="-120"/>
                    <a:ea typeface="標楷體" panose="03000509000000000000" pitchFamily="65" charset="-120"/>
                  </a:rPr>
                  <a:t>}</a:t>
                </a:r>
              </a:p>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𝐵</m:t>
                        </m:r>
                      </m:e>
                      <m:sub>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−1</m:t>
                        </m:r>
                      </m:sup>
                    </m:sSubSup>
                  </m:oMath>
                </a14:m>
                <a:r>
                  <a:rPr lang="zh-TW" altLang="en-US" sz="2800" dirty="0"/>
                  <a:t> </a:t>
                </a:r>
                <a:r>
                  <a:rPr lang="en-US" altLang="zh-TW" sz="2800" dirty="0"/>
                  <a:t>= </a:t>
                </a:r>
                <a14:m>
                  <m:oMath xmlns:m="http://schemas.openxmlformats.org/officeDocument/2006/math">
                    <m:sSubSup>
                      <m:sSubSupPr>
                        <m:ctrlPr>
                          <a:rPr lang="en-US" altLang="zh-TW" sz="2800" i="1">
                            <a:latin typeface="Cambria Math" panose="02040503050406030204" pitchFamily="18" charset="0"/>
                          </a:rPr>
                        </m:ctrlPr>
                      </m:sSubSupPr>
                      <m:e>
                        <m:r>
                          <a:rPr lang="en-US" altLang="zh-TW" sz="2800" b="0" i="1" smtClean="0">
                            <a:latin typeface="Cambria Math" panose="02040503050406030204" pitchFamily="18" charset="0"/>
                          </a:rPr>
                          <m:t>𝐸</m:t>
                        </m:r>
                      </m:e>
                      <m:sub>
                        <m:r>
                          <a:rPr lang="en-US" altLang="zh-TW" sz="2800" i="1">
                            <a:latin typeface="Cambria Math" panose="02040503050406030204" pitchFamily="18" charset="0"/>
                          </a:rPr>
                          <m:t>1</m:t>
                        </m:r>
                      </m:sub>
                      <m:sup/>
                    </m:sSubSup>
                  </m:oMath>
                </a14:m>
                <a:r>
                  <a:rPr lang="en-US" altLang="zh-TW" sz="2800" dirty="0"/>
                  <a:t> </a:t>
                </a:r>
                <a14:m>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b="0" i="1" smtClean="0">
                            <a:latin typeface="Cambria Math" panose="02040503050406030204" pitchFamily="18" charset="0"/>
                          </a:rPr>
                          <m:t>0</m:t>
                        </m:r>
                      </m:sub>
                      <m:sup>
                        <m:r>
                          <a:rPr lang="en-US" altLang="zh-TW" sz="2800" i="1">
                            <a:latin typeface="Cambria Math" panose="02040503050406030204" pitchFamily="18" charset="0"/>
                          </a:rPr>
                          <m:t>−1</m:t>
                        </m:r>
                      </m:sup>
                    </m:sSubSup>
                  </m:oMath>
                </a14:m>
                <a:r>
                  <a:rPr lang="zh-TW" altLang="en-US" sz="2800" dirty="0"/>
                  <a:t>  </a:t>
                </a:r>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r>
                          <a:rPr lang="en-US" altLang="zh-TW" sz="2800" i="1" dirty="0" smtClean="0">
                            <a:latin typeface="Cambria Math" panose="02040503050406030204" pitchFamily="18" charset="0"/>
                          </a:rPr>
                          <m:t>−</m:t>
                        </m:r>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smtClean="0">
                                      <a:latin typeface="Cambria Math" panose="02040503050406030204" pitchFamily="18" charset="0"/>
                                    </a:rPr>
                                    <m:t>5</m:t>
                                  </m:r>
                                </m:num>
                                <m:den>
                                  <m:r>
                                    <a:rPr lang="en-US" altLang="zh-TW" sz="2800" i="1" dirty="0" smtClean="0">
                                      <a:latin typeface="Cambria Math" panose="02040503050406030204" pitchFamily="18" charset="0"/>
                                    </a:rPr>
                                    <m:t>4</m:t>
                                  </m:r>
                                </m:den>
                              </m:f>
                            </m:e>
                            <m:e>
                              <m:r>
                                <a:rPr lang="en-US" altLang="zh-TW" sz="2800" i="1" dirty="0">
                                  <a:latin typeface="Cambria Math" panose="02040503050406030204" pitchFamily="18" charset="0"/>
                                </a:rPr>
                                <m:t>0</m:t>
                              </m:r>
                            </m:e>
                            <m:e>
                              <m:r>
                                <a:rPr lang="en-US" altLang="zh-TW" sz="2800" i="1" dirty="0" smtClean="0">
                                  <a:latin typeface="Cambria Math" panose="02040503050406030204" pitchFamily="18" charset="0"/>
                                </a:rPr>
                                <m:t>0</m:t>
                              </m:r>
                            </m:e>
                          </m:m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5</m:t>
                                  </m:r>
                                </m:num>
                                <m:den>
                                  <m:r>
                                    <a:rPr lang="en-US" altLang="zh-TW" sz="2800" i="1" dirty="0" smtClean="0">
                                      <a:latin typeface="Cambria Math" panose="02040503050406030204" pitchFamily="18" charset="0"/>
                                    </a:rPr>
                                    <m:t>1</m:t>
                                  </m:r>
                                  <m:r>
                                    <a:rPr lang="en-US" altLang="zh-TW" sz="2800" i="1" dirty="0">
                                      <a:latin typeface="Cambria Math" panose="02040503050406030204" pitchFamily="18" charset="0"/>
                                    </a:rPr>
                                    <m:t>2</m:t>
                                  </m:r>
                                </m:den>
                              </m:f>
                            </m:e>
                            <m:e>
                              <m:r>
                                <a:rPr lang="en-US" altLang="zh-TW" sz="2800" i="1" dirty="0" smtClean="0">
                                  <a:latin typeface="Cambria Math" panose="02040503050406030204" pitchFamily="18" charset="0"/>
                                </a:rPr>
                                <m:t>1</m:t>
                              </m:r>
                            </m:e>
                            <m:e>
                              <m:r>
                                <a:rPr lang="en-US" altLang="zh-TW" sz="2800" i="1" dirty="0" smtClean="0">
                                  <a:latin typeface="Cambria Math" panose="02040503050406030204" pitchFamily="18" charset="0"/>
                                </a:rPr>
                                <m:t>0</m:t>
                              </m:r>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5</m:t>
                                  </m:r>
                                </m:den>
                              </m:f>
                            </m:e>
                          </m:mr>
                          <m:mr>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oMath>
                </a14:m>
                <a:r>
                  <a:rPr lang="zh-TW" altLang="en-US" sz="2800" dirty="0"/>
                  <a:t> </a:t>
                </a:r>
                <a:r>
                  <a:rPr lang="en-US" altLang="zh-TW" sz="2800" dirty="0"/>
                  <a:t>=</a:t>
                </a:r>
                <a:r>
                  <a:rPr lang="zh-TW" altLang="en-US" sz="2800" dirty="0"/>
                  <a:t> </a:t>
                </a:r>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r>
                          <a:rPr lang="en-US" altLang="zh-TW" sz="2800" i="1" dirty="0">
                            <a:latin typeface="Cambria Math" panose="02040503050406030204" pitchFamily="18" charset="0"/>
                          </a:rPr>
                          <m:t>−</m:t>
                        </m:r>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4</m:t>
                                  </m:r>
                                </m:den>
                              </m:f>
                            </m:e>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smtClean="0">
                                      <a:latin typeface="Cambria Math" panose="02040503050406030204" pitchFamily="18" charset="0"/>
                                    </a:rPr>
                                    <m:t>−</m:t>
                                  </m:r>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4</m:t>
                                  </m:r>
                                </m:den>
                              </m:f>
                            </m:e>
                          </m:m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12</m:t>
                                  </m:r>
                                </m:den>
                              </m:f>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f>
                                <m:fPr>
                                  <m:ctrlPr>
                                    <a:rPr lang="en-US" altLang="zh-TW" sz="2800" i="1" dirty="0">
                                      <a:latin typeface="Cambria Math" panose="02040503050406030204" pitchFamily="18" charset="0"/>
                                    </a:rPr>
                                  </m:ctrlPr>
                                </m:fPr>
                                <m:num>
                                  <m:r>
                                    <a:rPr lang="en-US" altLang="zh-TW" sz="2800" i="1" dirty="0" smtClean="0">
                                      <a:latin typeface="Cambria Math" panose="02040503050406030204" pitchFamily="18" charset="0"/>
                                    </a:rPr>
                                    <m:t>−</m:t>
                                  </m:r>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4</m:t>
                                  </m:r>
                                </m:den>
                              </m:f>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oMath>
                </a14:m>
                <a:endParaRPr lang="zh-TW" altLang="en-US" sz="1800" dirty="0">
                  <a:latin typeface="標楷體" panose="03000509000000000000" pitchFamily="65" charset="-120"/>
                  <a:ea typeface="標楷體" panose="03000509000000000000" pitchFamily="65" charset="-120"/>
                </a:endParaRPr>
              </a:p>
            </p:txBody>
          </p:sp>
        </mc:Choice>
        <mc:Fallback xmlns="">
          <p:sp>
            <p:nvSpPr>
              <p:cNvPr id="10" name="文字方塊 9">
                <a:extLst>
                  <a:ext uri="{FF2B5EF4-FFF2-40B4-BE49-F238E27FC236}">
                    <a16:creationId xmlns:a16="http://schemas.microsoft.com/office/drawing/2014/main" id="{FE182B93-CEC2-4583-805F-A0177037D267}"/>
                  </a:ext>
                </a:extLst>
              </p:cNvPr>
              <p:cNvSpPr txBox="1">
                <a:spLocks noRot="1" noChangeAspect="1" noMove="1" noResize="1" noEditPoints="1" noAdjustHandles="1" noChangeArrowheads="1" noChangeShapeType="1" noTextEdit="1"/>
              </p:cNvSpPr>
              <p:nvPr/>
            </p:nvSpPr>
            <p:spPr>
              <a:xfrm>
                <a:off x="519948" y="2747619"/>
                <a:ext cx="9126075" cy="2606226"/>
              </a:xfrm>
              <a:prstGeom prst="rect">
                <a:avLst/>
              </a:prstGeom>
              <a:blipFill>
                <a:blip r:embed="rId4"/>
                <a:stretch>
                  <a:fillRect l="-1336" t="-2576" r="-46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98632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D580E2-AF35-4AAE-98DB-32E7A7EBE33D}"/>
              </a:ext>
            </a:extLst>
          </p:cNvPr>
          <p:cNvSpPr>
            <a:spLocks noGrp="1"/>
          </p:cNvSpPr>
          <p:nvPr>
            <p:ph type="title"/>
          </p:nvPr>
        </p:nvSpPr>
        <p:spPr/>
        <p:txBody>
          <a:bodyPr/>
          <a:lstStyle/>
          <a:p>
            <a:r>
              <a:rPr lang="en-US" altLang="zh-TW" dirty="0"/>
              <a:t>Iteration 2</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F0AE536-3FA9-4D18-BD7B-53C554E60F88}"/>
                  </a:ext>
                </a:extLst>
              </p:cNvPr>
              <p:cNvSpPr>
                <a:spLocks noGrp="1"/>
              </p:cNvSpPr>
              <p:nvPr>
                <p:ph idx="1"/>
              </p:nvPr>
            </p:nvSpPr>
            <p:spPr>
              <a:xfrm>
                <a:off x="519953" y="1520326"/>
                <a:ext cx="10515600" cy="4351338"/>
              </a:xfrm>
            </p:spPr>
            <p:txBody>
              <a:bodyPr>
                <a:normAutofit/>
              </a:bodyPr>
              <a:lstStyle/>
              <a:p>
                <a:pPr marL="0" indent="0">
                  <a:buNone/>
                </a:pPr>
                <a:r>
                  <a:rPr lang="en-US" altLang="zh-TW" sz="3600" dirty="0"/>
                  <a:t>BV(2) = {</a:t>
                </a:r>
                <a14:m>
                  <m:oMath xmlns:m="http://schemas.openxmlformats.org/officeDocument/2006/math">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𝑥</m:t>
                        </m:r>
                      </m:e>
                      <m:sub>
                        <m:r>
                          <a:rPr lang="en-US" altLang="zh-TW" sz="3600" i="1">
                            <a:latin typeface="Cambria Math" panose="02040503050406030204" pitchFamily="18" charset="0"/>
                            <a:ea typeface="Cambria Math" panose="02040503050406030204" pitchFamily="18" charset="0"/>
                          </a:rPr>
                          <m:t>2</m:t>
                        </m:r>
                      </m:sub>
                    </m:sSub>
                  </m:oMath>
                </a14:m>
                <a:r>
                  <a:rPr lang="en-US" altLang="zh-TW" sz="3600" dirty="0"/>
                  <a:t>,</a:t>
                </a:r>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𝑥</m:t>
                        </m:r>
                      </m:e>
                      <m:sub>
                        <m:r>
                          <a:rPr lang="en-US" altLang="zh-TW" sz="3600" b="0" i="1" smtClean="0">
                            <a:latin typeface="Cambria Math" panose="02040503050406030204" pitchFamily="18" charset="0"/>
                            <a:ea typeface="Cambria Math" panose="02040503050406030204" pitchFamily="18" charset="0"/>
                          </a:rPr>
                          <m:t>6</m:t>
                        </m:r>
                      </m:sub>
                    </m:sSub>
                  </m:oMath>
                </a14:m>
                <a:r>
                  <a:rPr lang="en-US" altLang="zh-TW" sz="3600" dirty="0"/>
                  <a:t>,</a:t>
                </a:r>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𝑥</m:t>
                        </m:r>
                      </m:e>
                      <m:sub>
                        <m:r>
                          <a:rPr lang="en-US" altLang="zh-TW" sz="3600" i="1">
                            <a:latin typeface="Cambria Math" panose="02040503050406030204" pitchFamily="18" charset="0"/>
                            <a:ea typeface="Cambria Math" panose="02040503050406030204" pitchFamily="18" charset="0"/>
                          </a:rPr>
                          <m:t>5</m:t>
                        </m:r>
                      </m:sub>
                    </m:sSub>
                  </m:oMath>
                </a14:m>
                <a:r>
                  <a:rPr lang="en-US" altLang="zh-TW" sz="3600" dirty="0"/>
                  <a:t>}</a:t>
                </a:r>
                <a:endParaRPr lang="zh-TW" altLang="en-US" sz="3600" dirty="0"/>
              </a:p>
            </p:txBody>
          </p:sp>
        </mc:Choice>
        <mc:Fallback xmlns="">
          <p:sp>
            <p:nvSpPr>
              <p:cNvPr id="3" name="內容版面配置區 2">
                <a:extLst>
                  <a:ext uri="{FF2B5EF4-FFF2-40B4-BE49-F238E27FC236}">
                    <a16:creationId xmlns:a16="http://schemas.microsoft.com/office/drawing/2014/main" id="{BF0AE536-3FA9-4D18-BD7B-53C554E60F88}"/>
                  </a:ext>
                </a:extLst>
              </p:cNvPr>
              <p:cNvSpPr>
                <a:spLocks noGrp="1" noRot="1" noChangeAspect="1" noMove="1" noResize="1" noEditPoints="1" noAdjustHandles="1" noChangeArrowheads="1" noChangeShapeType="1" noTextEdit="1"/>
              </p:cNvSpPr>
              <p:nvPr>
                <p:ph idx="1"/>
              </p:nvPr>
            </p:nvSpPr>
            <p:spPr>
              <a:xfrm>
                <a:off x="519953" y="1520326"/>
                <a:ext cx="10515600" cy="4351338"/>
              </a:xfrm>
              <a:blipFill>
                <a:blip r:embed="rId3"/>
                <a:stretch>
                  <a:fillRect l="-1739" t="-350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EECA4ED-2FB1-491D-8BD6-6603BE2E9F07}"/>
                  </a:ext>
                </a:extLst>
              </p:cNvPr>
              <p:cNvSpPr txBox="1"/>
              <p:nvPr/>
            </p:nvSpPr>
            <p:spPr>
              <a:xfrm>
                <a:off x="448234" y="2372685"/>
                <a:ext cx="11295531" cy="2112630"/>
              </a:xfrm>
              <a:prstGeom prst="rect">
                <a:avLst/>
              </a:prstGeom>
              <a:noFill/>
            </p:spPr>
            <p:txBody>
              <a:bodyPr wrap="square" lIns="0" tIns="0" rIns="0" bIns="0" rtlCol="0">
                <a:spAutoFit/>
              </a:bodyPr>
              <a:lstStyle/>
              <a:p>
                <a14:m>
                  <m:oMath xmlns:m="http://schemas.openxmlformats.org/officeDocument/2006/math">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𝐶</m:t>
                        </m:r>
                      </m:e>
                      <m:sub>
                        <m:r>
                          <a:rPr lang="en-US" altLang="zh-TW" sz="3600" b="0" i="1" smtClean="0">
                            <a:latin typeface="Cambria Math" panose="02040503050406030204" pitchFamily="18" charset="0"/>
                          </a:rPr>
                          <m:t>𝐵𝑉</m:t>
                        </m:r>
                      </m:sub>
                    </m:sSub>
                    <m:sSubSup>
                      <m:sSubSupPr>
                        <m:ctrlPr>
                          <a:rPr lang="en-US" altLang="zh-TW" sz="3600" i="1" smtClean="0">
                            <a:latin typeface="Cambria Math" panose="02040503050406030204" pitchFamily="18" charset="0"/>
                          </a:rPr>
                        </m:ctrlPr>
                      </m:sSubSupPr>
                      <m:e>
                        <m:r>
                          <a:rPr lang="en-US" altLang="zh-TW" sz="3600" b="0" i="1" smtClean="0">
                            <a:latin typeface="Cambria Math" panose="02040503050406030204" pitchFamily="18" charset="0"/>
                          </a:rPr>
                          <m:t>𝐵</m:t>
                        </m:r>
                      </m:e>
                      <m:sub>
                        <m:r>
                          <a:rPr lang="en-US" altLang="zh-TW" sz="3600" i="1">
                            <a:latin typeface="Cambria Math" panose="02040503050406030204" pitchFamily="18" charset="0"/>
                          </a:rPr>
                          <m:t>2</m:t>
                        </m:r>
                      </m:sub>
                      <m:sup>
                        <m:r>
                          <a:rPr lang="en-US" altLang="zh-TW" sz="3600" b="0" i="1" smtClean="0">
                            <a:latin typeface="Cambria Math" panose="02040503050406030204" pitchFamily="18" charset="0"/>
                          </a:rPr>
                          <m:t>−1</m:t>
                        </m:r>
                      </m:sup>
                    </m:sSubSup>
                  </m:oMath>
                </a14:m>
                <a:r>
                  <a:rPr lang="zh-TW" altLang="en-US" sz="3600" dirty="0"/>
                  <a:t>  </a:t>
                </a:r>
                <a:r>
                  <a:rPr lang="en-US" altLang="zh-TW" sz="3600" dirty="0"/>
                  <a:t>= [1  1  1 ] </a:t>
                </a:r>
                <a14:m>
                  <m:oMath xmlns:m="http://schemas.openxmlformats.org/officeDocument/2006/math">
                    <m:d>
                      <m:dPr>
                        <m:begChr m:val="["/>
                        <m:endChr m:val="]"/>
                        <m:ctrlPr>
                          <a:rPr lang="en-US" altLang="zh-TW" sz="3600" i="1" dirty="0">
                            <a:latin typeface="Cambria Math" panose="02040503050406030204" pitchFamily="18" charset="0"/>
                          </a:rPr>
                        </m:ctrlPr>
                      </m:dPr>
                      <m:e>
                        <m:r>
                          <a:rPr lang="en-US" altLang="zh-TW" sz="3600" i="1" dirty="0">
                            <a:latin typeface="Cambria Math" panose="02040503050406030204" pitchFamily="18" charset="0"/>
                          </a:rPr>
                          <m:t>−</m:t>
                        </m:r>
                        <m:m>
                          <m:mPr>
                            <m:mcs>
                              <m:mc>
                                <m:mcPr>
                                  <m:count m:val="3"/>
                                  <m:mcJc m:val="center"/>
                                </m:mcPr>
                              </m:mc>
                            </m:mcs>
                            <m:ctrlPr>
                              <a:rPr lang="en-US" altLang="zh-TW" sz="3600" i="1" dirty="0">
                                <a:latin typeface="Cambria Math" panose="02040503050406030204" pitchFamily="18" charset="0"/>
                              </a:rPr>
                            </m:ctrlPr>
                          </m:mPr>
                          <m:mr>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4</m:t>
                                  </m:r>
                                </m:den>
                              </m:f>
                            </m:e>
                            <m:e>
                              <m:r>
                                <a:rPr lang="en-US" altLang="zh-TW" sz="3600" i="1" dirty="0">
                                  <a:latin typeface="Cambria Math" panose="02040503050406030204" pitchFamily="18" charset="0"/>
                                </a:rPr>
                                <m:t>0</m:t>
                              </m:r>
                            </m:e>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4</m:t>
                                  </m:r>
                                </m:den>
                              </m:f>
                            </m:e>
                          </m:mr>
                          <m:mr>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12</m:t>
                                  </m:r>
                                </m:den>
                              </m:f>
                            </m:e>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3</m:t>
                                  </m:r>
                                </m:den>
                              </m:f>
                            </m:e>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4</m:t>
                                  </m:r>
                                </m:den>
                              </m:f>
                            </m:e>
                          </m:mr>
                          <m:mr>
                            <m:e>
                              <m:r>
                                <a:rPr lang="en-US" altLang="zh-TW" sz="3600" i="1" dirty="0">
                                  <a:latin typeface="Cambria Math" panose="02040503050406030204" pitchFamily="18" charset="0"/>
                                </a:rPr>
                                <m:t>0</m:t>
                              </m:r>
                            </m:e>
                            <m:e>
                              <m:r>
                                <a:rPr lang="en-US" altLang="zh-TW" sz="3600" i="1" dirty="0">
                                  <a:latin typeface="Cambria Math" panose="02040503050406030204" pitchFamily="18" charset="0"/>
                                </a:rPr>
                                <m:t>0</m:t>
                              </m:r>
                            </m:e>
                            <m:e>
                              <m:r>
                                <a:rPr lang="en-US" altLang="zh-TW" sz="3600" i="1" dirty="0">
                                  <a:latin typeface="Cambria Math" panose="02040503050406030204" pitchFamily="18" charset="0"/>
                                </a:rPr>
                                <m:t>1</m:t>
                              </m:r>
                            </m:e>
                          </m:mr>
                        </m:m>
                      </m:e>
                    </m:d>
                  </m:oMath>
                </a14:m>
                <a:r>
                  <a:rPr lang="zh-TW" altLang="en-US" sz="3600" dirty="0"/>
                  <a:t>    </a:t>
                </a:r>
                <a:r>
                  <a:rPr lang="en-US" altLang="zh-TW" sz="3600" dirty="0"/>
                  <a:t>= [ </a:t>
                </a:r>
                <a14:m>
                  <m:oMath xmlns:m="http://schemas.openxmlformats.org/officeDocument/2006/math">
                    <m:f>
                      <m:fPr>
                        <m:ctrlPr>
                          <a:rPr lang="en-US" altLang="zh-TW" sz="3600" i="1" smtClean="0">
                            <a:latin typeface="Cambria Math" panose="02040503050406030204" pitchFamily="18" charset="0"/>
                          </a:rPr>
                        </m:ctrlPr>
                      </m:fPr>
                      <m:num>
                        <m:r>
                          <a:rPr lang="en-US" altLang="zh-TW" sz="3600" b="0" i="1" smtClean="0">
                            <a:latin typeface="Cambria Math" panose="02040503050406030204" pitchFamily="18" charset="0"/>
                          </a:rPr>
                          <m:t>1</m:t>
                        </m:r>
                      </m:num>
                      <m:den>
                        <m:r>
                          <a:rPr lang="en-US" altLang="zh-TW" sz="3600" i="1">
                            <a:latin typeface="Cambria Math" panose="02040503050406030204" pitchFamily="18" charset="0"/>
                          </a:rPr>
                          <m:t>6</m:t>
                        </m:r>
                      </m:den>
                    </m:f>
                  </m:oMath>
                </a14:m>
                <a:r>
                  <a:rPr lang="zh-TW" altLang="en-US" sz="3600" dirty="0"/>
                  <a:t>    </a:t>
                </a:r>
                <a14:m>
                  <m:oMath xmlns:m="http://schemas.openxmlformats.org/officeDocument/2006/math">
                    <m:f>
                      <m:fPr>
                        <m:ctrlPr>
                          <a:rPr lang="en-US" altLang="zh-TW" sz="3600" i="1">
                            <a:latin typeface="Cambria Math" panose="02040503050406030204" pitchFamily="18" charset="0"/>
                          </a:rPr>
                        </m:ctrlPr>
                      </m:fPr>
                      <m:num>
                        <m:r>
                          <a:rPr lang="en-US" altLang="zh-TW" sz="3600" b="0" i="1" smtClean="0">
                            <a:latin typeface="Cambria Math" panose="02040503050406030204" pitchFamily="18" charset="0"/>
                          </a:rPr>
                          <m:t>1</m:t>
                        </m:r>
                      </m:num>
                      <m:den>
                        <m:r>
                          <a:rPr lang="en-US" altLang="zh-TW" sz="3600" b="0" i="1" smtClean="0">
                            <a:latin typeface="Cambria Math" panose="02040503050406030204" pitchFamily="18" charset="0"/>
                          </a:rPr>
                          <m:t>3</m:t>
                        </m:r>
                      </m:den>
                    </m:f>
                  </m:oMath>
                </a14:m>
                <a:r>
                  <a:rPr lang="zh-TW" altLang="en-US" sz="3600" dirty="0"/>
                  <a:t>  </a:t>
                </a:r>
                <a14:m>
                  <m:oMath xmlns:m="http://schemas.openxmlformats.org/officeDocument/2006/math">
                    <m:r>
                      <a:rPr lang="zh-TW" altLang="en-US" sz="3600" i="1" dirty="0">
                        <a:latin typeface="Cambria Math" panose="02040503050406030204" pitchFamily="18" charset="0"/>
                      </a:rPr>
                      <m:t> </m:t>
                    </m:r>
                    <m:f>
                      <m:fPr>
                        <m:ctrlPr>
                          <a:rPr lang="en-US" altLang="zh-TW" sz="3600" i="1" dirty="0" smtClean="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2</m:t>
                        </m:r>
                      </m:den>
                    </m:f>
                  </m:oMath>
                </a14:m>
                <a:r>
                  <a:rPr lang="en-US" altLang="zh-TW" sz="3600" dirty="0"/>
                  <a:t>]</a:t>
                </a:r>
                <a:endParaRPr lang="zh-TW" altLang="en-US" sz="3600" dirty="0"/>
              </a:p>
            </p:txBody>
          </p:sp>
        </mc:Choice>
        <mc:Fallback xmlns="">
          <p:sp>
            <p:nvSpPr>
              <p:cNvPr id="4" name="文字方塊 3">
                <a:extLst>
                  <a:ext uri="{FF2B5EF4-FFF2-40B4-BE49-F238E27FC236}">
                    <a16:creationId xmlns:a16="http://schemas.microsoft.com/office/drawing/2014/main" id="{BEECA4ED-2FB1-491D-8BD6-6603BE2E9F07}"/>
                  </a:ext>
                </a:extLst>
              </p:cNvPr>
              <p:cNvSpPr txBox="1">
                <a:spLocks noRot="1" noChangeAspect="1" noMove="1" noResize="1" noEditPoints="1" noAdjustHandles="1" noChangeArrowheads="1" noChangeShapeType="1" noTextEdit="1"/>
              </p:cNvSpPr>
              <p:nvPr/>
            </p:nvSpPr>
            <p:spPr>
              <a:xfrm>
                <a:off x="448234" y="2372685"/>
                <a:ext cx="11295531" cy="211263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86698EF-C6CD-46D3-91FB-CF2065DDE222}"/>
                  </a:ext>
                </a:extLst>
              </p:cNvPr>
              <p:cNvSpPr txBox="1"/>
              <p:nvPr/>
            </p:nvSpPr>
            <p:spPr>
              <a:xfrm>
                <a:off x="376517" y="4312776"/>
                <a:ext cx="7781365" cy="1558888"/>
              </a:xfrm>
              <a:prstGeom prst="rect">
                <a:avLst/>
              </a:prstGeom>
              <a:noFill/>
            </p:spPr>
            <p:txBody>
              <a:bodyPr wrap="square" rtlCol="0">
                <a:spAutoFit/>
              </a:bodyPr>
              <a:lstStyle/>
              <a:p>
                <a14:m>
                  <m:oMath xmlns:m="http://schemas.openxmlformats.org/officeDocument/2006/math">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𝐶</m:t>
                        </m:r>
                      </m:e>
                      <m:sub>
                        <m:r>
                          <a:rPr lang="en-US" altLang="zh-TW" sz="3600" b="0" i="1" smtClean="0">
                            <a:latin typeface="Cambria Math" panose="02040503050406030204" pitchFamily="18" charset="0"/>
                          </a:rPr>
                          <m:t>𝐵𝑉</m:t>
                        </m:r>
                      </m:sub>
                    </m:sSub>
                    <m:sSubSup>
                      <m:sSubSupPr>
                        <m:ctrlPr>
                          <a:rPr lang="en-US" altLang="zh-TW" sz="3600" i="1" smtClean="0">
                            <a:latin typeface="Cambria Math" panose="02040503050406030204" pitchFamily="18" charset="0"/>
                          </a:rPr>
                        </m:ctrlPr>
                      </m:sSubSupPr>
                      <m:e>
                        <m:r>
                          <a:rPr lang="en-US" altLang="zh-TW" sz="3600" b="0" i="1" smtClean="0">
                            <a:latin typeface="Cambria Math" panose="02040503050406030204" pitchFamily="18" charset="0"/>
                          </a:rPr>
                          <m:t>𝐵</m:t>
                        </m:r>
                      </m:e>
                      <m:sub>
                        <m:r>
                          <a:rPr lang="en-US" altLang="zh-TW" sz="3600" i="1">
                            <a:latin typeface="Cambria Math" panose="02040503050406030204" pitchFamily="18" charset="0"/>
                          </a:rPr>
                          <m:t>2</m:t>
                        </m:r>
                      </m:sub>
                      <m:sup>
                        <m:r>
                          <a:rPr lang="en-US" altLang="zh-TW" sz="3600" b="0" i="1" smtClean="0">
                            <a:latin typeface="Cambria Math" panose="02040503050406030204" pitchFamily="18" charset="0"/>
                          </a:rPr>
                          <m:t>−1</m:t>
                        </m:r>
                      </m:sup>
                    </m:sSubSup>
                    <m:d>
                      <m:dPr>
                        <m:begChr m:val="["/>
                        <m:endChr m:val="]"/>
                        <m:ctrlPr>
                          <a:rPr lang="en-US" altLang="zh-TW" sz="3600" i="1" dirty="0">
                            <a:latin typeface="Cambria Math" panose="02040503050406030204" pitchFamily="18" charset="0"/>
                          </a:rPr>
                        </m:ctrlPr>
                      </m:dPr>
                      <m:e>
                        <m:m>
                          <m:mPr>
                            <m:mcs>
                              <m:mc>
                                <m:mcPr>
                                  <m:count m:val="1"/>
                                  <m:mcJc m:val="center"/>
                                </m:mcPr>
                              </m:mc>
                            </m:mcs>
                            <m:ctrlPr>
                              <a:rPr lang="en-US" altLang="zh-TW" sz="3600" i="1">
                                <a:latin typeface="Cambria Math" panose="02040503050406030204" pitchFamily="18" charset="0"/>
                              </a:rPr>
                            </m:ctrlPr>
                          </m:mPr>
                          <m:mr>
                            <m:e>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1</m:t>
                                  </m:r>
                                </m:sub>
                              </m:sSub>
                            </m:e>
                          </m:mr>
                          <m:mr>
                            <m:e>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2</m:t>
                                  </m:r>
                                </m:sub>
                              </m:sSub>
                            </m:e>
                          </m:mr>
                          <m:mr>
                            <m:e>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3</m:t>
                                  </m:r>
                                </m:sub>
                              </m:sSub>
                            </m:e>
                          </m:mr>
                        </m:m>
                      </m:e>
                    </m:d>
                  </m:oMath>
                </a14:m>
                <a:r>
                  <a:rPr lang="en-US" altLang="zh-TW" sz="3600" dirty="0"/>
                  <a:t>-1 = </a:t>
                </a:r>
                <a14:m>
                  <m:oMath xmlns:m="http://schemas.openxmlformats.org/officeDocument/2006/math">
                    <m:f>
                      <m:fPr>
                        <m:ctrlPr>
                          <a:rPr lang="en-US" altLang="zh-TW" sz="3600" i="1">
                            <a:latin typeface="Cambria Math" panose="02040503050406030204" pitchFamily="18" charset="0"/>
                          </a:rPr>
                        </m:ctrlPr>
                      </m:fPr>
                      <m:num>
                        <m:r>
                          <a:rPr lang="en-US" altLang="zh-TW" sz="3600" i="1">
                            <a:latin typeface="Cambria Math" panose="02040503050406030204" pitchFamily="18" charset="0"/>
                          </a:rPr>
                          <m:t>1</m:t>
                        </m:r>
                      </m:num>
                      <m:den>
                        <m:r>
                          <a:rPr lang="en-US" altLang="zh-TW" sz="3600" i="1">
                            <a:latin typeface="Cambria Math" panose="02040503050406030204" pitchFamily="18" charset="0"/>
                          </a:rPr>
                          <m:t>6</m:t>
                        </m:r>
                      </m:den>
                    </m:f>
                  </m:oMath>
                </a14:m>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1</m:t>
                        </m:r>
                      </m:sub>
                    </m:sSub>
                    <m:r>
                      <a:rPr lang="en-US" altLang="zh-TW" sz="3600" i="1">
                        <a:latin typeface="Cambria Math" panose="02040503050406030204" pitchFamily="18" charset="0"/>
                        <a:ea typeface="Cambria Math" panose="02040503050406030204" pitchFamily="18" charset="0"/>
                      </a:rPr>
                      <m:t> </m:t>
                    </m:r>
                  </m:oMath>
                </a14:m>
                <a:r>
                  <a:rPr lang="en-US" altLang="zh-TW" sz="3600" dirty="0"/>
                  <a:t>+ </a:t>
                </a:r>
                <a14:m>
                  <m:oMath xmlns:m="http://schemas.openxmlformats.org/officeDocument/2006/math">
                    <m:f>
                      <m:fPr>
                        <m:ctrlPr>
                          <a:rPr lang="en-US" altLang="zh-TW" sz="3600" i="1">
                            <a:latin typeface="Cambria Math" panose="02040503050406030204" pitchFamily="18" charset="0"/>
                          </a:rPr>
                        </m:ctrlPr>
                      </m:fPr>
                      <m:num>
                        <m:r>
                          <a:rPr lang="en-US" altLang="zh-TW" sz="3600" i="1">
                            <a:latin typeface="Cambria Math" panose="02040503050406030204" pitchFamily="18" charset="0"/>
                          </a:rPr>
                          <m:t>1</m:t>
                        </m:r>
                      </m:num>
                      <m:den>
                        <m:r>
                          <a:rPr lang="en-US" altLang="zh-TW" sz="3600" i="1">
                            <a:latin typeface="Cambria Math" panose="02040503050406030204" pitchFamily="18" charset="0"/>
                          </a:rPr>
                          <m:t>3</m:t>
                        </m:r>
                      </m:den>
                    </m:f>
                  </m:oMath>
                </a14:m>
                <a:r>
                  <a:rPr lang="en-US" altLang="zh-TW" sz="3600" dirty="0">
                    <a:ea typeface="Cambria Math" panose="02040503050406030204" pitchFamily="18" charset="0"/>
                  </a:rPr>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2</m:t>
                        </m:r>
                      </m:sub>
                    </m:sSub>
                  </m:oMath>
                </a14:m>
                <a:r>
                  <a:rPr lang="en-US" altLang="zh-TW" sz="3600" dirty="0"/>
                  <a:t> +</a:t>
                </a:r>
                <a:r>
                  <a:rPr lang="zh-TW" altLang="en-US" sz="3600" dirty="0"/>
                  <a:t> </a:t>
                </a: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f>
                          <m:fPr>
                            <m:ctrlPr>
                              <a:rPr lang="en-US" altLang="zh-TW" sz="3600" i="1" dirty="0">
                                <a:latin typeface="Cambria Math" panose="02040503050406030204" pitchFamily="18" charset="0"/>
                              </a:rPr>
                            </m:ctrlPr>
                          </m:fPr>
                          <m:num>
                            <m:r>
                              <a:rPr lang="en-US" altLang="zh-TW" sz="3600" i="1" dirty="0">
                                <a:latin typeface="Cambria Math" panose="02040503050406030204" pitchFamily="18" charset="0"/>
                              </a:rPr>
                              <m:t>1</m:t>
                            </m:r>
                          </m:num>
                          <m:den>
                            <m:r>
                              <a:rPr lang="en-US" altLang="zh-TW" sz="3600" i="1" dirty="0">
                                <a:latin typeface="Cambria Math" panose="02040503050406030204" pitchFamily="18" charset="0"/>
                              </a:rPr>
                              <m:t>2</m:t>
                            </m:r>
                          </m:den>
                        </m:f>
                        <m:r>
                          <a:rPr lang="en-US" altLang="zh-TW" sz="3600" i="1">
                            <a:latin typeface="Cambria Math" panose="02040503050406030204" pitchFamily="18" charset="0"/>
                            <a:ea typeface="Cambria Math" panose="02040503050406030204" pitchFamily="18" charset="0"/>
                          </a:rPr>
                          <m:t>𝑎</m:t>
                        </m:r>
                      </m:e>
                      <m:sub>
                        <m:r>
                          <a:rPr lang="en-US" altLang="zh-TW" sz="3600" i="1">
                            <a:latin typeface="Cambria Math" panose="02040503050406030204" pitchFamily="18" charset="0"/>
                            <a:ea typeface="Cambria Math" panose="02040503050406030204" pitchFamily="18" charset="0"/>
                          </a:rPr>
                          <m:t>3</m:t>
                        </m:r>
                      </m:sub>
                    </m:sSub>
                  </m:oMath>
                </a14:m>
                <a:r>
                  <a:rPr lang="en-US" altLang="zh-TW" sz="3600" dirty="0"/>
                  <a:t> -1 </a:t>
                </a:r>
                <a:endParaRPr lang="zh-TW" altLang="en-US" sz="3600" dirty="0"/>
              </a:p>
            </p:txBody>
          </p:sp>
        </mc:Choice>
        <mc:Fallback xmlns="">
          <p:sp>
            <p:nvSpPr>
              <p:cNvPr id="6" name="文字方塊 5">
                <a:extLst>
                  <a:ext uri="{FF2B5EF4-FFF2-40B4-BE49-F238E27FC236}">
                    <a16:creationId xmlns:a16="http://schemas.microsoft.com/office/drawing/2014/main" id="{386698EF-C6CD-46D3-91FB-CF2065DDE222}"/>
                  </a:ext>
                </a:extLst>
              </p:cNvPr>
              <p:cNvSpPr txBox="1">
                <a:spLocks noRot="1" noChangeAspect="1" noMove="1" noResize="1" noEditPoints="1" noAdjustHandles="1" noChangeArrowheads="1" noChangeShapeType="1" noTextEdit="1"/>
              </p:cNvSpPr>
              <p:nvPr/>
            </p:nvSpPr>
            <p:spPr>
              <a:xfrm>
                <a:off x="376517" y="4312776"/>
                <a:ext cx="7781365" cy="1558888"/>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DBDF442-A957-47D0-9C49-8794F42D837E}"/>
                  </a:ext>
                </a:extLst>
              </p:cNvPr>
              <p:cNvSpPr txBox="1"/>
              <p:nvPr/>
            </p:nvSpPr>
            <p:spPr>
              <a:xfrm>
                <a:off x="107576" y="5938877"/>
                <a:ext cx="5670177"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i="1">
                              <a:latin typeface="Cambria Math" panose="02040503050406030204" pitchFamily="18" charset="0"/>
                              <a:ea typeface="Cambria Math" panose="02040503050406030204" pitchFamily="18" charset="0"/>
                            </a:rPr>
                            <m:t>3</m:t>
                          </m:r>
                        </m:e>
                        <m:sub>
                          <m:r>
                            <a:rPr lang="en-US" altLang="zh-TW" sz="3600" b="0" i="1" smtClean="0">
                              <a:latin typeface="Cambria Math" panose="02040503050406030204" pitchFamily="18" charset="0"/>
                              <a:ea typeface="Cambria Math" panose="02040503050406030204" pitchFamily="18" charset="0"/>
                            </a:rPr>
                            <m:t>𝑎</m:t>
                          </m:r>
                          <m:r>
                            <a:rPr lang="en-US" altLang="zh-TW" sz="3600" b="0" i="1" smtClean="0">
                              <a:latin typeface="Cambria Math" panose="02040503050406030204" pitchFamily="18" charset="0"/>
                              <a:ea typeface="Cambria Math" panose="02040503050406030204" pitchFamily="18" charset="0"/>
                            </a:rPr>
                            <m:t>1</m:t>
                          </m:r>
                        </m:sub>
                      </m:sSub>
                      <m:r>
                        <a:rPr lang="en-US" altLang="zh-TW" sz="3600" i="1" smtClean="0">
                          <a:latin typeface="Cambria Math" panose="02040503050406030204" pitchFamily="18" charset="0"/>
                          <a:ea typeface="Cambria Math" panose="02040503050406030204" pitchFamily="18" charset="0"/>
                        </a:rPr>
                        <m:t>+</m:t>
                      </m:r>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5</m:t>
                          </m:r>
                        </m:e>
                        <m:sub>
                          <m:r>
                            <a:rPr lang="en-US" altLang="zh-TW" sz="3600" b="0" i="1" smtClean="0">
                              <a:latin typeface="Cambria Math" panose="02040503050406030204" pitchFamily="18" charset="0"/>
                              <a:ea typeface="Cambria Math" panose="02040503050406030204" pitchFamily="18" charset="0"/>
                            </a:rPr>
                            <m:t>𝑎</m:t>
                          </m:r>
                          <m:r>
                            <a:rPr lang="en-US" altLang="zh-TW" sz="3600" b="0" i="1" smtClean="0">
                              <a:latin typeface="Cambria Math" panose="02040503050406030204" pitchFamily="18" charset="0"/>
                              <a:ea typeface="Cambria Math" panose="02040503050406030204" pitchFamily="18" charset="0"/>
                            </a:rPr>
                            <m:t>2</m:t>
                          </m:r>
                        </m:sub>
                      </m:sSub>
                      <m:r>
                        <a:rPr lang="en-US" altLang="zh-TW" sz="3600" i="1" smtClean="0">
                          <a:latin typeface="Cambria Math" panose="02040503050406030204" pitchFamily="18" charset="0"/>
                          <a:ea typeface="Cambria Math" panose="02040503050406030204" pitchFamily="18" charset="0"/>
                        </a:rPr>
                        <m:t>+</m:t>
                      </m:r>
                      <m:sSub>
                        <m:sSubPr>
                          <m:ctrlPr>
                            <a:rPr lang="en-US" altLang="zh-TW" sz="3600" i="1" smtClean="0">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9</m:t>
                          </m:r>
                        </m:e>
                        <m:sub>
                          <m:r>
                            <a:rPr lang="en-US" altLang="zh-TW" sz="3600" b="0" i="1" smtClean="0">
                              <a:latin typeface="Cambria Math" panose="02040503050406030204" pitchFamily="18" charset="0"/>
                              <a:ea typeface="Cambria Math" panose="02040503050406030204" pitchFamily="18" charset="0"/>
                            </a:rPr>
                            <m:t>𝑎</m:t>
                          </m:r>
                          <m:r>
                            <a:rPr lang="en-US" altLang="zh-TW" sz="3600" b="0" i="1" smtClean="0">
                              <a:latin typeface="Cambria Math" panose="02040503050406030204" pitchFamily="18" charset="0"/>
                              <a:ea typeface="Cambria Math" panose="02040503050406030204" pitchFamily="18" charset="0"/>
                            </a:rPr>
                            <m:t>3</m:t>
                          </m:r>
                        </m:sub>
                      </m:sSub>
                      <m:r>
                        <a:rPr lang="zh-TW" altLang="en-US" sz="3600" i="1">
                          <a:latin typeface="Cambria Math" panose="02040503050406030204" pitchFamily="18" charset="0"/>
                        </a:rPr>
                        <m:t>≤</m:t>
                      </m:r>
                      <m:r>
                        <a:rPr lang="en-US" altLang="zh-TW" sz="3600" i="1">
                          <a:latin typeface="Cambria Math" panose="02040503050406030204" pitchFamily="18" charset="0"/>
                          <a:ea typeface="Cambria Math" panose="02040503050406030204" pitchFamily="18" charset="0"/>
                        </a:rPr>
                        <m:t>1</m:t>
                      </m:r>
                      <m:r>
                        <a:rPr lang="en-US" altLang="zh-TW" sz="3600" b="0" i="0" smtClean="0">
                          <a:latin typeface="Cambria Math" panose="02040503050406030204" pitchFamily="18" charset="0"/>
                          <a:ea typeface="Cambria Math" panose="02040503050406030204" pitchFamily="18" charset="0"/>
                        </a:rPr>
                        <m:t>7</m:t>
                      </m:r>
                    </m:oMath>
                  </m:oMathPara>
                </a14:m>
                <a:endParaRPr lang="zh-TW" altLang="en-US" sz="2800" dirty="0"/>
              </a:p>
            </p:txBody>
          </p:sp>
        </mc:Choice>
        <mc:Fallback xmlns="">
          <p:sp>
            <p:nvSpPr>
              <p:cNvPr id="7" name="文字方塊 6">
                <a:extLst>
                  <a:ext uri="{FF2B5EF4-FFF2-40B4-BE49-F238E27FC236}">
                    <a16:creationId xmlns:a16="http://schemas.microsoft.com/office/drawing/2014/main" id="{ADBDF442-A957-47D0-9C49-8794F42D837E}"/>
                  </a:ext>
                </a:extLst>
              </p:cNvPr>
              <p:cNvSpPr txBox="1">
                <a:spLocks noRot="1" noChangeAspect="1" noMove="1" noResize="1" noEditPoints="1" noAdjustHandles="1" noChangeArrowheads="1" noChangeShapeType="1" noTextEdit="1"/>
              </p:cNvSpPr>
              <p:nvPr/>
            </p:nvSpPr>
            <p:spPr>
              <a:xfrm>
                <a:off x="107576" y="5938877"/>
                <a:ext cx="5670177" cy="553998"/>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44142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B12E76CE-9B7A-43F7-899C-647CA33501DE}"/>
                  </a:ext>
                </a:extLst>
              </p:cNvPr>
              <p:cNvSpPr/>
              <p:nvPr/>
            </p:nvSpPr>
            <p:spPr>
              <a:xfrm>
                <a:off x="6311152" y="376518"/>
                <a:ext cx="1111625" cy="11474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2</m:t>
                        </m:r>
                      </m:num>
                      <m:den>
                        <m:r>
                          <a:rPr lang="en-US" altLang="zh-TW" sz="2400" i="1">
                            <a:latin typeface="Cambria Math" panose="02040503050406030204" pitchFamily="18" charset="0"/>
                          </a:rPr>
                          <m:t>1</m:t>
                        </m:r>
                        <m:r>
                          <a:rPr lang="en-US" altLang="zh-TW" sz="2400" i="1" smtClean="0">
                            <a:latin typeface="Cambria Math" panose="02040503050406030204" pitchFamily="18" charset="0"/>
                          </a:rPr>
                          <m:t>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a:t>
                </a:r>
                <a14:m>
                  <m:oMath xmlns:m="http://schemas.openxmlformats.org/officeDocument/2006/math">
                    <m:f>
                      <m:fPr>
                        <m:ctrlPr>
                          <a:rPr lang="en-US" altLang="zh-TW" sz="2400" i="1" dirty="0" smtClean="0">
                            <a:solidFill>
                              <a:sysClr val="windowText" lastClr="000000"/>
                            </a:solidFill>
                            <a:latin typeface="Cambria Math" panose="02040503050406030204" pitchFamily="18" charset="0"/>
                          </a:rPr>
                        </m:ctrlPr>
                      </m:fPr>
                      <m:num>
                        <m:r>
                          <a:rPr lang="en-US" altLang="zh-TW" sz="2400" b="0" i="1" dirty="0" smtClean="0">
                            <a:solidFill>
                              <a:sysClr val="windowText" lastClr="000000"/>
                            </a:solidFill>
                            <a:latin typeface="Cambria Math" panose="02040503050406030204" pitchFamily="18" charset="0"/>
                          </a:rPr>
                          <m:t>17</m:t>
                        </m:r>
                      </m:num>
                      <m:den>
                        <m:r>
                          <a:rPr lang="en-US" altLang="zh-TW" sz="2400" b="0" i="1" dirty="0" smtClean="0">
                            <a:solidFill>
                              <a:sysClr val="windowText" lastClr="000000"/>
                            </a:solidFill>
                            <a:latin typeface="Cambria Math" panose="02040503050406030204" pitchFamily="18" charset="0"/>
                          </a:rPr>
                          <m:t>5</m:t>
                        </m:r>
                      </m:den>
                    </m:f>
                  </m:oMath>
                </a14:m>
                <a:endParaRPr lang="zh-TW" altLang="en-US" sz="2800" dirty="0">
                  <a:solidFill>
                    <a:sysClr val="windowText" lastClr="000000"/>
                  </a:solidFill>
                </a:endParaRPr>
              </a:p>
            </p:txBody>
          </p:sp>
        </mc:Choice>
        <mc:Fallback>
          <p:sp>
            <p:nvSpPr>
              <p:cNvPr id="4" name="矩形 3">
                <a:extLst>
                  <a:ext uri="{FF2B5EF4-FFF2-40B4-BE49-F238E27FC236}">
                    <a16:creationId xmlns:a16="http://schemas.microsoft.com/office/drawing/2014/main" id="{B12E76CE-9B7A-43F7-899C-647CA33501DE}"/>
                  </a:ext>
                </a:extLst>
              </p:cNvPr>
              <p:cNvSpPr>
                <a:spLocks noRot="1" noChangeAspect="1" noMove="1" noResize="1" noEditPoints="1" noAdjustHandles="1" noChangeArrowheads="1" noChangeShapeType="1" noTextEdit="1"/>
              </p:cNvSpPr>
              <p:nvPr/>
            </p:nvSpPr>
            <p:spPr>
              <a:xfrm>
                <a:off x="6311152" y="376518"/>
                <a:ext cx="1111625" cy="1147482"/>
              </a:xfrm>
              <a:prstGeom prst="rect">
                <a:avLst/>
              </a:prstGeom>
              <a:blipFill>
                <a:blip r:embed="rId3"/>
                <a:stretch>
                  <a:fillRect b="-4211"/>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id="{33EC9BE2-8A1F-4D33-A7C6-02A72E6E75DE}"/>
              </a:ext>
            </a:extLst>
          </p:cNvPr>
          <p:cNvSpPr/>
          <p:nvPr/>
        </p:nvSpPr>
        <p:spPr>
          <a:xfrm>
            <a:off x="8401050" y="1720785"/>
            <a:ext cx="1809750" cy="128911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800" dirty="0">
                <a:solidFill>
                  <a:sysClr val="windowText" lastClr="000000"/>
                </a:solidFill>
              </a:rPr>
              <a:t>Infeasible</a:t>
            </a:r>
            <a:endParaRPr lang="zh-TW" altLang="en-US" sz="2800" dirty="0">
              <a:solidFill>
                <a:sysClr val="windowText" lastClr="000000"/>
              </a:solidFill>
            </a:endParaRPr>
          </a:p>
        </p:txBody>
      </p:sp>
      <mc:AlternateContent xmlns:mc="http://schemas.openxmlformats.org/markup-compatibility/2006">
        <mc:Choice xmlns:a14="http://schemas.microsoft.com/office/drawing/2010/main" Requires="a14">
          <p:sp>
            <p:nvSpPr>
              <p:cNvPr id="12" name="矩形 11">
                <a:extLst>
                  <a:ext uri="{FF2B5EF4-FFF2-40B4-BE49-F238E27FC236}">
                    <a16:creationId xmlns:a16="http://schemas.microsoft.com/office/drawing/2014/main" id="{A7BDEA44-9DFA-433E-8564-AFAA78013EE5}"/>
                  </a:ext>
                </a:extLst>
              </p:cNvPr>
              <p:cNvSpPr/>
              <p:nvPr/>
            </p:nvSpPr>
            <p:spPr>
              <a:xfrm>
                <a:off x="4244343" y="1725706"/>
                <a:ext cx="1139766" cy="17032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9</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a:t>
                </a:r>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2</m:t>
                        </m:r>
                      </m:num>
                      <m:den>
                        <m:r>
                          <a:rPr lang="en-US" altLang="zh-TW" sz="2400" b="0" i="1" smtClean="0">
                            <a:latin typeface="Cambria Math" panose="02040503050406030204" pitchFamily="18" charset="0"/>
                          </a:rPr>
                          <m:t>3</m:t>
                        </m:r>
                      </m:den>
                    </m:f>
                  </m:oMath>
                </a14:m>
                <a:endParaRPr lang="en-US" altLang="zh-TW" sz="2400" b="0" dirty="0"/>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=3</a:t>
                </a:r>
              </a:p>
            </p:txBody>
          </p:sp>
        </mc:Choice>
        <mc:Fallback>
          <p:sp>
            <p:nvSpPr>
              <p:cNvPr id="12" name="矩形 11">
                <a:extLst>
                  <a:ext uri="{FF2B5EF4-FFF2-40B4-BE49-F238E27FC236}">
                    <a16:creationId xmlns:a16="http://schemas.microsoft.com/office/drawing/2014/main" id="{A7BDEA44-9DFA-433E-8564-AFAA78013EE5}"/>
                  </a:ext>
                </a:extLst>
              </p:cNvPr>
              <p:cNvSpPr>
                <a:spLocks noRot="1" noChangeAspect="1" noMove="1" noResize="1" noEditPoints="1" noAdjustHandles="1" noChangeArrowheads="1" noChangeShapeType="1" noTextEdit="1"/>
              </p:cNvSpPr>
              <p:nvPr/>
            </p:nvSpPr>
            <p:spPr>
              <a:xfrm>
                <a:off x="4244343" y="1725706"/>
                <a:ext cx="1139766" cy="1703294"/>
              </a:xfrm>
              <a:prstGeom prst="rect">
                <a:avLst/>
              </a:prstGeom>
              <a:blipFill>
                <a:blip r:embed="rId4"/>
                <a:stretch>
                  <a:fillRect b="-141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A6EF276B-9979-4ABE-853C-80F171B19359}"/>
                  </a:ext>
                </a:extLst>
              </p:cNvPr>
              <p:cNvSpPr txBox="1"/>
              <p:nvPr/>
            </p:nvSpPr>
            <p:spPr>
              <a:xfrm>
                <a:off x="7479663" y="1727070"/>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4</m:t>
                      </m:r>
                    </m:oMath>
                  </m:oMathPara>
                </a14:m>
                <a:endParaRPr lang="zh-TW" altLang="en-US" dirty="0"/>
              </a:p>
            </p:txBody>
          </p:sp>
        </mc:Choice>
        <mc:Fallback>
          <p:sp>
            <p:nvSpPr>
              <p:cNvPr id="13" name="文字方塊 12">
                <a:extLst>
                  <a:ext uri="{FF2B5EF4-FFF2-40B4-BE49-F238E27FC236}">
                    <a16:creationId xmlns:a16="http://schemas.microsoft.com/office/drawing/2014/main" id="{A6EF276B-9979-4ABE-853C-80F171B19359}"/>
                  </a:ext>
                </a:extLst>
              </p:cNvPr>
              <p:cNvSpPr txBox="1">
                <a:spLocks noRot="1" noChangeAspect="1" noMove="1" noResize="1" noEditPoints="1" noAdjustHandles="1" noChangeArrowheads="1" noChangeShapeType="1" noTextEdit="1"/>
              </p:cNvSpPr>
              <p:nvPr/>
            </p:nvSpPr>
            <p:spPr>
              <a:xfrm>
                <a:off x="7479663" y="1727070"/>
                <a:ext cx="921387" cy="369332"/>
              </a:xfrm>
              <a:prstGeom prst="rect">
                <a:avLst/>
              </a:prstGeom>
              <a:blipFill>
                <a:blip r:embed="rId5"/>
                <a:stretch>
                  <a:fillRect l="-5960" r="-9272" b="-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420B1C75-7ACC-4ACB-8BEF-0A3D7BEC2480}"/>
                  </a:ext>
                </a:extLst>
              </p:cNvPr>
              <p:cNvSpPr txBox="1"/>
              <p:nvPr/>
            </p:nvSpPr>
            <p:spPr>
              <a:xfrm>
                <a:off x="5580314" y="1720785"/>
                <a:ext cx="9547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3</m:t>
                      </m:r>
                    </m:oMath>
                  </m:oMathPara>
                </a14:m>
                <a:endParaRPr lang="zh-TW" altLang="en-US" sz="2400" dirty="0"/>
              </a:p>
            </p:txBody>
          </p:sp>
        </mc:Choice>
        <mc:Fallback>
          <p:sp>
            <p:nvSpPr>
              <p:cNvPr id="14" name="文字方塊 13">
                <a:extLst>
                  <a:ext uri="{FF2B5EF4-FFF2-40B4-BE49-F238E27FC236}">
                    <a16:creationId xmlns:a16="http://schemas.microsoft.com/office/drawing/2014/main" id="{420B1C75-7ACC-4ACB-8BEF-0A3D7BEC2480}"/>
                  </a:ext>
                </a:extLst>
              </p:cNvPr>
              <p:cNvSpPr txBox="1">
                <a:spLocks noRot="1" noChangeAspect="1" noMove="1" noResize="1" noEditPoints="1" noAdjustHandles="1" noChangeArrowheads="1" noChangeShapeType="1" noTextEdit="1"/>
              </p:cNvSpPr>
              <p:nvPr/>
            </p:nvSpPr>
            <p:spPr>
              <a:xfrm>
                <a:off x="5580314" y="1720785"/>
                <a:ext cx="954749" cy="369332"/>
              </a:xfrm>
              <a:prstGeom prst="rect">
                <a:avLst/>
              </a:prstGeom>
              <a:blipFill>
                <a:blip r:embed="rId6"/>
                <a:stretch>
                  <a:fillRect l="-3822" r="-7643" b="-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9C7D8E90-A85B-440E-B731-166B4E12F905}"/>
                  </a:ext>
                </a:extLst>
              </p:cNvPr>
              <p:cNvSpPr txBox="1"/>
              <p:nvPr/>
            </p:nvSpPr>
            <p:spPr>
              <a:xfrm>
                <a:off x="3615594" y="3681626"/>
                <a:ext cx="92138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r>
                        <a:rPr lang="zh-TW" altLang="en-US" sz="2400" i="1">
                          <a:latin typeface="Cambria Math" panose="02040503050406030204" pitchFamily="18" charset="0"/>
                        </a:rPr>
                        <m:t>≥</m:t>
                      </m:r>
                      <m:r>
                        <a:rPr lang="en-US" altLang="zh-TW" sz="2400" b="0" i="1" smtClean="0">
                          <a:latin typeface="Cambria Math" panose="02040503050406030204" pitchFamily="18" charset="0"/>
                        </a:rPr>
                        <m:t>1</m:t>
                      </m:r>
                    </m:oMath>
                  </m:oMathPara>
                </a14:m>
                <a:endParaRPr lang="zh-TW" altLang="en-US" dirty="0"/>
              </a:p>
            </p:txBody>
          </p:sp>
        </mc:Choice>
        <mc:Fallback>
          <p:sp>
            <p:nvSpPr>
              <p:cNvPr id="15" name="文字方塊 14">
                <a:extLst>
                  <a:ext uri="{FF2B5EF4-FFF2-40B4-BE49-F238E27FC236}">
                    <a16:creationId xmlns:a16="http://schemas.microsoft.com/office/drawing/2014/main" id="{9C7D8E90-A85B-440E-B731-166B4E12F905}"/>
                  </a:ext>
                </a:extLst>
              </p:cNvPr>
              <p:cNvSpPr txBox="1">
                <a:spLocks noRot="1" noChangeAspect="1" noMove="1" noResize="1" noEditPoints="1" noAdjustHandles="1" noChangeArrowheads="1" noChangeShapeType="1" noTextEdit="1"/>
              </p:cNvSpPr>
              <p:nvPr/>
            </p:nvSpPr>
            <p:spPr>
              <a:xfrm>
                <a:off x="3615594" y="3681626"/>
                <a:ext cx="921387" cy="369332"/>
              </a:xfrm>
              <a:prstGeom prst="rect">
                <a:avLst/>
              </a:prstGeom>
              <a:blipFill>
                <a:blip r:embed="rId7"/>
                <a:stretch>
                  <a:fillRect l="-5298" r="-9272" b="-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E5EA8892-E055-47B1-8DBF-BFFE129E9FED}"/>
                  </a:ext>
                </a:extLst>
              </p:cNvPr>
              <p:cNvSpPr txBox="1"/>
              <p:nvPr/>
            </p:nvSpPr>
            <p:spPr>
              <a:xfrm>
                <a:off x="5618625" y="3710630"/>
                <a:ext cx="94763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r>
                        <a:rPr lang="zh-TW" altLang="en-US" sz="2400" i="1" smtClean="0">
                          <a:latin typeface="Cambria Math" panose="02040503050406030204" pitchFamily="18" charset="0"/>
                        </a:rPr>
                        <m:t>≤</m:t>
                      </m:r>
                      <m:r>
                        <a:rPr lang="en-US" altLang="zh-TW" sz="2400" b="0" i="1" smtClean="0">
                          <a:latin typeface="Cambria Math" panose="02040503050406030204" pitchFamily="18" charset="0"/>
                        </a:rPr>
                        <m:t>0</m:t>
                      </m:r>
                    </m:oMath>
                  </m:oMathPara>
                </a14:m>
                <a:endParaRPr lang="zh-TW" altLang="en-US" sz="2400" dirty="0"/>
              </a:p>
            </p:txBody>
          </p:sp>
        </mc:Choice>
        <mc:Fallback>
          <p:sp>
            <p:nvSpPr>
              <p:cNvPr id="16" name="文字方塊 15">
                <a:extLst>
                  <a:ext uri="{FF2B5EF4-FFF2-40B4-BE49-F238E27FC236}">
                    <a16:creationId xmlns:a16="http://schemas.microsoft.com/office/drawing/2014/main" id="{E5EA8892-E055-47B1-8DBF-BFFE129E9FED}"/>
                  </a:ext>
                </a:extLst>
              </p:cNvPr>
              <p:cNvSpPr txBox="1">
                <a:spLocks noRot="1" noChangeAspect="1" noMove="1" noResize="1" noEditPoints="1" noAdjustHandles="1" noChangeArrowheads="1" noChangeShapeType="1" noTextEdit="1"/>
              </p:cNvSpPr>
              <p:nvPr/>
            </p:nvSpPr>
            <p:spPr>
              <a:xfrm>
                <a:off x="5618625" y="3710630"/>
                <a:ext cx="947632" cy="369332"/>
              </a:xfrm>
              <a:prstGeom prst="rect">
                <a:avLst/>
              </a:prstGeom>
              <a:blipFill>
                <a:blip r:embed="rId8"/>
                <a:stretch>
                  <a:fillRect l="-4516" r="-7097" b="-15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41C06E77-FB47-4ED3-88A2-851967CC7423}"/>
                  </a:ext>
                </a:extLst>
              </p:cNvPr>
              <p:cNvSpPr/>
              <p:nvPr/>
            </p:nvSpPr>
            <p:spPr>
              <a:xfrm>
                <a:off x="1979137" y="3895296"/>
                <a:ext cx="1384856" cy="183417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2</m:t>
                        </m:r>
                      </m:num>
                      <m:den>
                        <m:r>
                          <a:rPr lang="en-US" altLang="zh-TW" sz="2400" b="0" i="1" smtClean="0">
                            <a:latin typeface="Cambria Math" panose="02040503050406030204" pitchFamily="18" charset="0"/>
                          </a:rPr>
                          <m:t>15</m:t>
                        </m:r>
                      </m:den>
                    </m:f>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=1</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=2</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=0</a:t>
                </a:r>
              </a:p>
            </p:txBody>
          </p:sp>
        </mc:Choice>
        <mc:Fallback>
          <p:sp>
            <p:nvSpPr>
              <p:cNvPr id="17" name="矩形 16">
                <a:extLst>
                  <a:ext uri="{FF2B5EF4-FFF2-40B4-BE49-F238E27FC236}">
                    <a16:creationId xmlns:a16="http://schemas.microsoft.com/office/drawing/2014/main" id="{41C06E77-FB47-4ED3-88A2-851967CC7423}"/>
                  </a:ext>
                </a:extLst>
              </p:cNvPr>
              <p:cNvSpPr>
                <a:spLocks noRot="1" noChangeAspect="1" noMove="1" noResize="1" noEditPoints="1" noAdjustHandles="1" noChangeArrowheads="1" noChangeShapeType="1" noTextEdit="1"/>
              </p:cNvSpPr>
              <p:nvPr/>
            </p:nvSpPr>
            <p:spPr>
              <a:xfrm>
                <a:off x="1979137" y="3895296"/>
                <a:ext cx="1384856" cy="1834172"/>
              </a:xfrm>
              <a:prstGeom prst="rect">
                <a:avLst/>
              </a:prstGeom>
              <a:blipFill>
                <a:blip r:embed="rId9"/>
                <a:stretch>
                  <a:fillRect b="-363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1" name="矩形 20">
                <a:extLst>
                  <a:ext uri="{FF2B5EF4-FFF2-40B4-BE49-F238E27FC236}">
                    <a16:creationId xmlns:a16="http://schemas.microsoft.com/office/drawing/2014/main" id="{C7A3E532-9A6D-46B5-A022-C22F5F51F4A9}"/>
                  </a:ext>
                </a:extLst>
              </p:cNvPr>
              <p:cNvSpPr/>
              <p:nvPr/>
            </p:nvSpPr>
            <p:spPr>
              <a:xfrm>
                <a:off x="6631368" y="3895297"/>
                <a:ext cx="1384856" cy="183417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2400" dirty="0">
                    <a:solidFill>
                      <a:sysClr val="windowText" lastClr="000000"/>
                    </a:solidFill>
                  </a:rPr>
                  <a:t>z=</a:t>
                </a:r>
                <a:r>
                  <a:rPr lang="en-US" altLang="zh-TW" sz="2400" dirty="0"/>
                  <a:t> </a:t>
                </a:r>
                <a14:m>
                  <m:oMath xmlns:m="http://schemas.openxmlformats.org/officeDocument/2006/math">
                    <m:r>
                      <a:rPr lang="en-US" altLang="zh-TW" sz="2400" i="1" smtClean="0">
                        <a:latin typeface="Cambria Math" panose="02040503050406030204" pitchFamily="18" charset="0"/>
                      </a:rPr>
                      <m:t>0</m:t>
                    </m:r>
                  </m:oMath>
                </a14:m>
                <a:endParaRPr lang="en-US" altLang="zh-TW" sz="2400" dirty="0">
                  <a:solidFill>
                    <a:sysClr val="windowText" lastClr="000000"/>
                  </a:solidFill>
                </a:endParaRP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1</m:t>
                        </m:r>
                      </m:sub>
                    </m:sSub>
                  </m:oMath>
                </a14:m>
                <a:r>
                  <a:rPr lang="en-US" altLang="zh-TW" sz="2400" dirty="0">
                    <a:solidFill>
                      <a:sysClr val="windowText" lastClr="000000"/>
                    </a:solidFill>
                  </a:rPr>
                  <a:t>=0</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2</m:t>
                        </m:r>
                      </m:sub>
                    </m:sSub>
                  </m:oMath>
                </a14:m>
                <a:r>
                  <a:rPr lang="en-US" altLang="zh-TW" sz="2400" dirty="0">
                    <a:solidFill>
                      <a:sysClr val="windowText" lastClr="000000"/>
                    </a:solidFill>
                  </a:rPr>
                  <a:t>=3</a:t>
                </a:r>
              </a:p>
              <a:p>
                <a:pPr algn="ctr"/>
                <a14:m>
                  <m:oMath xmlns:m="http://schemas.openxmlformats.org/officeDocument/2006/math">
                    <m:sSub>
                      <m:sSubPr>
                        <m:ctrlPr>
                          <a:rPr lang="en-US" altLang="zh-TW" sz="240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b="0" i="1" smtClean="0">
                            <a:latin typeface="Cambria Math" panose="02040503050406030204" pitchFamily="18" charset="0"/>
                            <a:ea typeface="Cambria Math" panose="02040503050406030204" pitchFamily="18" charset="0"/>
                          </a:rPr>
                          <m:t>3</m:t>
                        </m:r>
                      </m:sub>
                    </m:sSub>
                  </m:oMath>
                </a14:m>
                <a:r>
                  <a:rPr lang="en-US" altLang="zh-TW" sz="2400" dirty="0">
                    <a:solidFill>
                      <a:sysClr val="windowText" lastClr="000000"/>
                    </a:solidFill>
                  </a:rPr>
                  <a:t>=0</a:t>
                </a:r>
              </a:p>
            </p:txBody>
          </p:sp>
        </mc:Choice>
        <mc:Fallback>
          <p:sp>
            <p:nvSpPr>
              <p:cNvPr id="21" name="矩形 20">
                <a:extLst>
                  <a:ext uri="{FF2B5EF4-FFF2-40B4-BE49-F238E27FC236}">
                    <a16:creationId xmlns:a16="http://schemas.microsoft.com/office/drawing/2014/main" id="{C7A3E532-9A6D-46B5-A022-C22F5F51F4A9}"/>
                  </a:ext>
                </a:extLst>
              </p:cNvPr>
              <p:cNvSpPr>
                <a:spLocks noRot="1" noChangeAspect="1" noMove="1" noResize="1" noEditPoints="1" noAdjustHandles="1" noChangeArrowheads="1" noChangeShapeType="1" noTextEdit="1"/>
              </p:cNvSpPr>
              <p:nvPr/>
            </p:nvSpPr>
            <p:spPr>
              <a:xfrm>
                <a:off x="6631368" y="3895297"/>
                <a:ext cx="1384856" cy="1834171"/>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2A368892-3AFE-47EE-B6AF-E9C5B8A0548C}"/>
                  </a:ext>
                </a:extLst>
              </p:cNvPr>
              <p:cNvSpPr txBox="1"/>
              <p:nvPr/>
            </p:nvSpPr>
            <p:spPr>
              <a:xfrm>
                <a:off x="287648" y="319799"/>
                <a:ext cx="8305800" cy="616194"/>
              </a:xfrm>
              <a:prstGeom prst="rect">
                <a:avLst/>
              </a:prstGeom>
              <a:noFill/>
            </p:spPr>
            <p:txBody>
              <a:bodyPr wrap="square">
                <a:spAutoFit/>
              </a:bodyPr>
              <a:lstStyle/>
              <a:p>
                <a:r>
                  <a:rPr lang="en-US" altLang="zh-TW" sz="2400" dirty="0"/>
                  <a:t>Max z =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6</m:t>
                        </m:r>
                      </m:den>
                    </m:f>
                  </m:oMath>
                </a14:m>
                <a:r>
                  <a:rPr lang="en-US" altLang="zh-TW" sz="2400" dirty="0">
                    <a:ea typeface="Cambria Math" panose="02040503050406030204" pitchFamily="18" charset="0"/>
                  </a:rPr>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 </m:t>
                    </m:r>
                  </m:oMath>
                </a14:m>
                <a:r>
                  <a:rPr lang="en-US" altLang="zh-TW" sz="2400" dirty="0"/>
                  <a:t>+ </a:t>
                </a:r>
                <a14:m>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oMath>
                </a14:m>
                <a:r>
                  <a:rPr lang="en-US" altLang="zh-TW" sz="2400" dirty="0">
                    <a:ea typeface="Cambria Math" panose="02040503050406030204" pitchFamily="18" charset="0"/>
                  </a:rPr>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2</m:t>
                        </m:r>
                      </m:sub>
                    </m:sSub>
                  </m:oMath>
                </a14:m>
                <a:r>
                  <a:rPr lang="en-US" altLang="zh-TW" sz="2400" dirty="0"/>
                  <a:t> +</a:t>
                </a:r>
                <a:r>
                  <a:rPr lang="zh-TW" altLang="en-US" sz="2400" dirty="0"/>
                  <a:t> </a:t>
                </a:r>
                <a14:m>
                  <m:oMath xmlns:m="http://schemas.openxmlformats.org/officeDocument/2006/math">
                    <m:sSub>
                      <m:sSubPr>
                        <m:ctrlPr>
                          <a:rPr lang="en-US" altLang="zh-TW" sz="2400" i="1">
                            <a:latin typeface="Cambria Math" panose="02040503050406030204" pitchFamily="18" charset="0"/>
                            <a:ea typeface="Cambria Math" panose="02040503050406030204" pitchFamily="18" charset="0"/>
                          </a:rPr>
                        </m:ctrlPr>
                      </m:sSubPr>
                      <m:e>
                        <m:f>
                          <m:fPr>
                            <m:ctrlPr>
                              <a:rPr lang="en-US" altLang="zh-TW" sz="2400" i="1" dirty="0">
                                <a:latin typeface="Cambria Math" panose="02040503050406030204" pitchFamily="18" charset="0"/>
                              </a:rPr>
                            </m:ctrlPr>
                          </m:fPr>
                          <m:num>
                            <m:r>
                              <a:rPr lang="en-US" altLang="zh-TW" sz="2400" i="1" dirty="0">
                                <a:latin typeface="Cambria Math" panose="02040503050406030204" pitchFamily="18" charset="0"/>
                              </a:rPr>
                              <m:t>1</m:t>
                            </m:r>
                          </m:num>
                          <m:den>
                            <m:r>
                              <a:rPr lang="en-US" altLang="zh-TW" sz="2400" i="1" dirty="0">
                                <a:latin typeface="Cambria Math" panose="02040503050406030204" pitchFamily="18" charset="0"/>
                              </a:rPr>
                              <m:t>2</m:t>
                            </m:r>
                          </m:den>
                        </m:f>
                        <m:r>
                          <a:rPr lang="en-US" altLang="zh-TW" sz="2400" i="1">
                            <a:latin typeface="Cambria Math" panose="02040503050406030204" pitchFamily="18" charset="0"/>
                            <a:ea typeface="Cambria Math" panose="02040503050406030204" pitchFamily="18" charset="0"/>
                          </a:rPr>
                          <m:t>𝑎</m:t>
                        </m:r>
                      </m:e>
                      <m:sub>
                        <m:r>
                          <a:rPr lang="en-US" altLang="zh-TW" sz="2400" i="1">
                            <a:latin typeface="Cambria Math" panose="02040503050406030204" pitchFamily="18" charset="0"/>
                            <a:ea typeface="Cambria Math" panose="02040503050406030204" pitchFamily="18" charset="0"/>
                          </a:rPr>
                          <m:t>3</m:t>
                        </m:r>
                      </m:sub>
                    </m:sSub>
                  </m:oMath>
                </a14:m>
                <a:r>
                  <a:rPr lang="en-US" altLang="zh-TW" sz="2400" dirty="0"/>
                  <a:t> -1 </a:t>
                </a:r>
                <a:endParaRPr lang="zh-TW" altLang="en-US" sz="2400" dirty="0"/>
              </a:p>
            </p:txBody>
          </p:sp>
        </mc:Choice>
        <mc:Fallback xmlns="">
          <p:sp>
            <p:nvSpPr>
              <p:cNvPr id="23" name="文字方塊 22">
                <a:extLst>
                  <a:ext uri="{FF2B5EF4-FFF2-40B4-BE49-F238E27FC236}">
                    <a16:creationId xmlns:a16="http://schemas.microsoft.com/office/drawing/2014/main" id="{2A368892-3AFE-47EE-B6AF-E9C5B8A0548C}"/>
                  </a:ext>
                </a:extLst>
              </p:cNvPr>
              <p:cNvSpPr txBox="1">
                <a:spLocks noRot="1" noChangeAspect="1" noMove="1" noResize="1" noEditPoints="1" noAdjustHandles="1" noChangeArrowheads="1" noChangeShapeType="1" noTextEdit="1"/>
              </p:cNvSpPr>
              <p:nvPr/>
            </p:nvSpPr>
            <p:spPr>
              <a:xfrm>
                <a:off x="287648" y="319799"/>
                <a:ext cx="8305800" cy="616194"/>
              </a:xfrm>
              <a:prstGeom prst="rect">
                <a:avLst/>
              </a:prstGeom>
              <a:blipFill>
                <a:blip r:embed="rId12"/>
                <a:stretch>
                  <a:fillRect l="-1101" b="-882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文字方塊 23">
                <a:extLst>
                  <a:ext uri="{FF2B5EF4-FFF2-40B4-BE49-F238E27FC236}">
                    <a16:creationId xmlns:a16="http://schemas.microsoft.com/office/drawing/2014/main" id="{0E622C0D-1DFE-427E-9132-02C2E905CD46}"/>
                  </a:ext>
                </a:extLst>
              </p:cNvPr>
              <p:cNvSpPr txBox="1"/>
              <p:nvPr/>
            </p:nvSpPr>
            <p:spPr>
              <a:xfrm>
                <a:off x="-855951" y="996050"/>
                <a:ext cx="5670177"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3</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1</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5</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2</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9</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3</m:t>
                          </m:r>
                        </m:sub>
                      </m:sSub>
                      <m:r>
                        <a:rPr lang="zh-TW" altLang="en-US" sz="2800" i="1">
                          <a:latin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1</m:t>
                      </m:r>
                      <m:r>
                        <a:rPr lang="en-US" altLang="zh-TW" sz="2800" b="0" i="0" smtClean="0">
                          <a:latin typeface="Cambria Math" panose="02040503050406030204" pitchFamily="18" charset="0"/>
                          <a:ea typeface="Cambria Math" panose="02040503050406030204" pitchFamily="18" charset="0"/>
                        </a:rPr>
                        <m:t>7</m:t>
                      </m:r>
                    </m:oMath>
                  </m:oMathPara>
                </a14:m>
                <a:endParaRPr lang="en-US" altLang="zh-TW" sz="2800" dirty="0"/>
              </a:p>
            </p:txBody>
          </p:sp>
        </mc:Choice>
        <mc:Fallback>
          <p:sp>
            <p:nvSpPr>
              <p:cNvPr id="24" name="文字方塊 23">
                <a:extLst>
                  <a:ext uri="{FF2B5EF4-FFF2-40B4-BE49-F238E27FC236}">
                    <a16:creationId xmlns:a16="http://schemas.microsoft.com/office/drawing/2014/main" id="{0E622C0D-1DFE-427E-9132-02C2E905CD46}"/>
                  </a:ext>
                </a:extLst>
              </p:cNvPr>
              <p:cNvSpPr txBox="1">
                <a:spLocks noRot="1" noChangeAspect="1" noMove="1" noResize="1" noEditPoints="1" noAdjustHandles="1" noChangeArrowheads="1" noChangeShapeType="1" noTextEdit="1"/>
              </p:cNvSpPr>
              <p:nvPr/>
            </p:nvSpPr>
            <p:spPr>
              <a:xfrm>
                <a:off x="-855951" y="996050"/>
                <a:ext cx="5670177" cy="430887"/>
              </a:xfrm>
              <a:prstGeom prst="rect">
                <a:avLst/>
              </a:prstGeom>
              <a:blipFill>
                <a:blip r:embed="rId1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33388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22CDC02F-641F-4547-8BFB-3D7EF1C1FEDD}"/>
                  </a:ext>
                </a:extLst>
              </p:cNvPr>
              <p:cNvSpPr txBox="1"/>
              <p:nvPr/>
            </p:nvSpPr>
            <p:spPr>
              <a:xfrm>
                <a:off x="519950" y="351244"/>
                <a:ext cx="7440705" cy="1771447"/>
              </a:xfrm>
              <a:prstGeom prst="rect">
                <a:avLst/>
              </a:prstGeom>
              <a:noFill/>
            </p:spPr>
            <p:txBody>
              <a:bodyPr wrap="square">
                <a:spAutoFit/>
              </a:bodyPr>
              <a:lstStyle/>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𝐵</m:t>
                        </m:r>
                      </m:e>
                      <m:sub>
                        <m:r>
                          <a:rPr lang="en-US" altLang="zh-TW" sz="2800" i="1">
                            <a:latin typeface="Cambria Math" panose="02040503050406030204" pitchFamily="18" charset="0"/>
                          </a:rPr>
                          <m:t>2</m:t>
                        </m:r>
                      </m:sub>
                      <m:sup>
                        <m:r>
                          <a:rPr lang="en-US" altLang="zh-TW" sz="2800" b="0" i="1" smtClean="0">
                            <a:latin typeface="Cambria Math" panose="02040503050406030204" pitchFamily="18" charset="0"/>
                          </a:rPr>
                          <m:t>−1</m:t>
                        </m:r>
                      </m:sup>
                    </m:sSubSup>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1</m:t>
                                  </m:r>
                                </m:sub>
                              </m:sSub>
                            </m:e>
                          </m:m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2</m:t>
                                  </m:r>
                                </m:sub>
                              </m:sSub>
                            </m:e>
                          </m:mr>
                          <m:mr>
                            <m:e>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𝑎</m:t>
                                  </m:r>
                                </m:e>
                                <m:sub>
                                  <m:r>
                                    <a:rPr lang="en-US" altLang="zh-TW" sz="2800" i="1">
                                      <a:latin typeface="Cambria Math" panose="02040503050406030204" pitchFamily="18" charset="0"/>
                                      <a:ea typeface="Cambria Math" panose="02040503050406030204" pitchFamily="18" charset="0"/>
                                    </a:rPr>
                                    <m:t>3</m:t>
                                  </m:r>
                                </m:sub>
                              </m:sSub>
                            </m:e>
                          </m:mr>
                        </m:m>
                      </m:e>
                    </m:d>
                    <m:r>
                      <a:rPr lang="en-US" altLang="zh-TW" sz="2800" i="1">
                        <a:latin typeface="Cambria Math" panose="02040503050406030204" pitchFamily="18" charset="0"/>
                        <a:ea typeface="Cambria Math" panose="02040503050406030204" pitchFamily="18" charset="0"/>
                      </a:rPr>
                      <m:t> </m:t>
                    </m:r>
                  </m:oMath>
                </a14:m>
                <a:r>
                  <a:rPr lang="en-US" altLang="zh-TW" sz="2800" dirty="0"/>
                  <a:t>= </a:t>
                </a:r>
                <a14:m>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i="1">
                            <a:latin typeface="Cambria Math" panose="02040503050406030204" pitchFamily="18" charset="0"/>
                          </a:rPr>
                          <m:t>2</m:t>
                        </m:r>
                      </m:sub>
                      <m:sup>
                        <m:r>
                          <a:rPr lang="en-US" altLang="zh-TW" sz="2800" i="1">
                            <a:latin typeface="Cambria Math" panose="02040503050406030204" pitchFamily="18" charset="0"/>
                          </a:rPr>
                          <m:t>−1</m:t>
                        </m:r>
                      </m:sup>
                    </m:sSubSup>
                  </m:oMath>
                </a14:m>
                <a:r>
                  <a:rPr lang="en-US" altLang="zh-TW" sz="2800" dirty="0"/>
                  <a:t>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smtClean="0">
                                <a:latin typeface="Cambria Math" panose="02040503050406030204" pitchFamily="18" charset="0"/>
                              </a:rPr>
                            </m:ctrlPr>
                          </m:mPr>
                          <m:mr>
                            <m:e>
                              <m:r>
                                <a:rPr lang="en-US" altLang="zh-TW" sz="2800" b="0" i="1" smtClean="0">
                                  <a:latin typeface="Cambria Math" panose="02040503050406030204" pitchFamily="18" charset="0"/>
                                </a:rPr>
                                <m:t>4</m:t>
                              </m:r>
                            </m:e>
                          </m:mr>
                          <m:mr>
                            <m:e>
                              <m:r>
                                <a:rPr lang="en-US" altLang="zh-TW" sz="2800" b="0" i="1" smtClean="0">
                                  <a:latin typeface="Cambria Math" panose="02040503050406030204" pitchFamily="18" charset="0"/>
                                </a:rPr>
                                <m:t>1</m:t>
                              </m:r>
                            </m:e>
                          </m:mr>
                          <m:mr>
                            <m:e>
                              <m:r>
                                <a:rPr lang="en-US" altLang="zh-TW" sz="2800" b="0" i="1" smtClean="0">
                                  <a:latin typeface="Cambria Math" panose="02040503050406030204" pitchFamily="18" charset="0"/>
                                </a:rPr>
                                <m:t>0</m:t>
                              </m:r>
                            </m:e>
                          </m:mr>
                        </m:m>
                      </m:e>
                    </m:d>
                  </m:oMath>
                </a14:m>
                <a:r>
                  <a:rPr lang="en-US" altLang="zh-TW" sz="2800" dirty="0"/>
                  <a:t>  = </a:t>
                </a:r>
                <a14:m>
                  <m:oMath xmlns:m="http://schemas.openxmlformats.org/officeDocument/2006/math">
                    <m:d>
                      <m:dPr>
                        <m:begChr m:val="["/>
                        <m:endChr m:val="]"/>
                        <m:ctrlPr>
                          <a:rPr lang="en-US" altLang="zh-TW" sz="2800" i="1" dirty="0" smtClean="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f>
                                <m:fPr>
                                  <m:ctrlPr>
                                    <a:rPr lang="en-US" altLang="zh-TW" sz="2800" i="1">
                                      <a:latin typeface="Cambria Math" panose="02040503050406030204" pitchFamily="18" charset="0"/>
                                    </a:rPr>
                                  </m:ctrlPr>
                                </m:fPr>
                                <m:num>
                                  <m:r>
                                    <a:rPr lang="en-US" altLang="zh-TW" sz="2800" b="0" i="1" smtClean="0">
                                      <a:latin typeface="Cambria Math" panose="02040503050406030204" pitchFamily="18" charset="0"/>
                                    </a:rPr>
                                    <m:t>4</m:t>
                                  </m:r>
                                </m:num>
                                <m:den>
                                  <m:r>
                                    <a:rPr lang="en-US" altLang="zh-TW" sz="2800" i="1">
                                      <a:latin typeface="Cambria Math" panose="02040503050406030204" pitchFamily="18" charset="0"/>
                                    </a:rPr>
                                    <m:t>5</m:t>
                                  </m:r>
                                </m:den>
                              </m:f>
                            </m:e>
                          </m:mr>
                          <m:mr>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3</m:t>
                                  </m:r>
                                </m:den>
                              </m:f>
                            </m:e>
                          </m:mr>
                          <m:mr>
                            <m:e>
                              <m:r>
                                <a:rPr lang="en-US" altLang="zh-TW" sz="2800" b="0" i="1" smtClean="0">
                                  <a:latin typeface="Cambria Math" panose="02040503050406030204" pitchFamily="18" charset="0"/>
                                </a:rPr>
                                <m:t>0</m:t>
                              </m:r>
                            </m:e>
                          </m:mr>
                        </m:m>
                      </m:e>
                    </m:d>
                  </m:oMath>
                </a14:m>
                <a:endParaRPr lang="zh-TW" altLang="en-US" sz="2800" dirty="0"/>
              </a:p>
            </p:txBody>
          </p:sp>
        </mc:Choice>
        <mc:Fallback xmlns="">
          <p:sp>
            <p:nvSpPr>
              <p:cNvPr id="5" name="文字方塊 4">
                <a:extLst>
                  <a:ext uri="{FF2B5EF4-FFF2-40B4-BE49-F238E27FC236}">
                    <a16:creationId xmlns:a16="http://schemas.microsoft.com/office/drawing/2014/main" id="{22CDC02F-641F-4547-8BFB-3D7EF1C1FEDD}"/>
                  </a:ext>
                </a:extLst>
              </p:cNvPr>
              <p:cNvSpPr txBox="1">
                <a:spLocks noRot="1" noChangeAspect="1" noMove="1" noResize="1" noEditPoints="1" noAdjustHandles="1" noChangeArrowheads="1" noChangeShapeType="1" noTextEdit="1"/>
              </p:cNvSpPr>
              <p:nvPr/>
            </p:nvSpPr>
            <p:spPr>
              <a:xfrm>
                <a:off x="519950" y="351244"/>
                <a:ext cx="7440705" cy="177144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DED80337-9787-4751-A457-B265147DF8C9}"/>
                  </a:ext>
                </a:extLst>
              </p:cNvPr>
              <p:cNvSpPr txBox="1"/>
              <p:nvPr/>
            </p:nvSpPr>
            <p:spPr>
              <a:xfrm>
                <a:off x="6329082" y="525553"/>
                <a:ext cx="5862917" cy="1663597"/>
              </a:xfrm>
              <a:prstGeom prst="rect">
                <a:avLst/>
              </a:prstGeom>
              <a:noFill/>
            </p:spPr>
            <p:txBody>
              <a:bodyPr wrap="square" lIns="0" tIns="0" rIns="0" bIns="0" rtlCol="0">
                <a:spAutoFit/>
              </a:bodyPr>
              <a:lstStyle/>
              <a:p>
                <a14:m>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𝐵</m:t>
                        </m:r>
                      </m:e>
                      <m:sub>
                        <m:r>
                          <a:rPr lang="en-US" altLang="zh-TW" sz="2800" i="1">
                            <a:latin typeface="Cambria Math" panose="02040503050406030204" pitchFamily="18" charset="0"/>
                          </a:rPr>
                          <m:t>2</m:t>
                        </m:r>
                      </m:sub>
                      <m:sup>
                        <m:r>
                          <a:rPr lang="en-US" altLang="zh-TW" sz="2800" i="1">
                            <a:latin typeface="Cambria Math" panose="02040503050406030204" pitchFamily="18" charset="0"/>
                          </a:rPr>
                          <m:t>−1</m:t>
                        </m:r>
                      </m:sup>
                    </m:sSubSup>
                  </m:oMath>
                </a14:m>
                <a:r>
                  <a:rPr lang="en-US" altLang="zh-TW" sz="2800" dirty="0"/>
                  <a:t>b=</a:t>
                </a:r>
                <a14:m>
                  <m:oMath xmlns:m="http://schemas.openxmlformats.org/officeDocument/2006/math">
                    <m:d>
                      <m:dPr>
                        <m:begChr m:val="["/>
                        <m:endChr m:val="]"/>
                        <m:ctrlPr>
                          <a:rPr lang="en-US" altLang="zh-TW" sz="2800" i="1" dirty="0">
                            <a:latin typeface="Cambria Math" panose="02040503050406030204" pitchFamily="18" charset="0"/>
                          </a:rPr>
                        </m:ctrlPr>
                      </m:dPr>
                      <m:e>
                        <m:r>
                          <a:rPr lang="en-US" altLang="zh-TW" sz="2800" i="1" dirty="0">
                            <a:latin typeface="Cambria Math" panose="02040503050406030204" pitchFamily="18" charset="0"/>
                          </a:rPr>
                          <m:t>−</m:t>
                        </m:r>
                        <m:m>
                          <m:mPr>
                            <m:mcs>
                              <m:mc>
                                <m:mcPr>
                                  <m:count m:val="3"/>
                                  <m:mcJc m:val="center"/>
                                </m:mcPr>
                              </m:mc>
                            </m:mcs>
                            <m:ctrlPr>
                              <a:rPr lang="en-US" altLang="zh-TW" sz="2800" i="1" dirty="0">
                                <a:latin typeface="Cambria Math" panose="02040503050406030204" pitchFamily="18" charset="0"/>
                              </a:rPr>
                            </m:ctrlPr>
                          </m:mP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4</m:t>
                                  </m:r>
                                </m:den>
                              </m:f>
                            </m:e>
                            <m:e>
                              <m:r>
                                <a:rPr lang="en-US" altLang="zh-TW" sz="2800" i="1" dirty="0">
                                  <a:latin typeface="Cambria Math" panose="02040503050406030204" pitchFamily="18" charset="0"/>
                                </a:rPr>
                                <m:t>0</m:t>
                              </m:r>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4</m:t>
                                  </m:r>
                                </m:den>
                              </m:f>
                            </m:e>
                          </m:mr>
                          <m:mr>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12</m:t>
                                  </m:r>
                                </m:den>
                              </m:f>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3</m:t>
                                  </m:r>
                                </m:den>
                              </m:f>
                            </m:e>
                            <m:e>
                              <m:f>
                                <m:fPr>
                                  <m:ctrlPr>
                                    <a:rPr lang="en-US" altLang="zh-TW" sz="2800" i="1" dirty="0">
                                      <a:latin typeface="Cambria Math" panose="02040503050406030204" pitchFamily="18" charset="0"/>
                                    </a:rPr>
                                  </m:ctrlPr>
                                </m:fPr>
                                <m:num>
                                  <m:r>
                                    <a:rPr lang="en-US" altLang="zh-TW" sz="2800" i="1" dirty="0">
                                      <a:latin typeface="Cambria Math" panose="02040503050406030204" pitchFamily="18" charset="0"/>
                                    </a:rPr>
                                    <m:t>−1</m:t>
                                  </m:r>
                                </m:num>
                                <m:den>
                                  <m:r>
                                    <a:rPr lang="en-US" altLang="zh-TW" sz="2800" i="1" dirty="0">
                                      <a:latin typeface="Cambria Math" panose="02040503050406030204" pitchFamily="18" charset="0"/>
                                    </a:rPr>
                                    <m:t>4</m:t>
                                  </m:r>
                                </m:den>
                              </m:f>
                            </m:e>
                          </m:mr>
                          <m:mr>
                            <m:e>
                              <m:r>
                                <a:rPr lang="en-US" altLang="zh-TW" sz="2800" i="1" dirty="0">
                                  <a:latin typeface="Cambria Math" panose="02040503050406030204" pitchFamily="18" charset="0"/>
                                </a:rPr>
                                <m:t>0</m:t>
                              </m:r>
                            </m:e>
                            <m:e>
                              <m:r>
                                <a:rPr lang="en-US" altLang="zh-TW" sz="2800" i="1" dirty="0">
                                  <a:latin typeface="Cambria Math" panose="02040503050406030204" pitchFamily="18" charset="0"/>
                                </a:rPr>
                                <m:t>0</m:t>
                              </m:r>
                            </m:e>
                            <m:e>
                              <m:r>
                                <a:rPr lang="en-US" altLang="zh-TW" sz="2800" i="1" dirty="0">
                                  <a:latin typeface="Cambria Math" panose="02040503050406030204" pitchFamily="18" charset="0"/>
                                </a:rPr>
                                <m:t>1</m:t>
                              </m:r>
                            </m:e>
                          </m:mr>
                        </m:m>
                      </m:e>
                    </m:d>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r>
                                <a:rPr lang="en-US" altLang="zh-TW" sz="2800" b="0" i="1" smtClean="0">
                                  <a:latin typeface="Cambria Math" panose="02040503050406030204" pitchFamily="18" charset="0"/>
                                </a:rPr>
                                <m:t>25</m:t>
                              </m:r>
                            </m:e>
                          </m:mr>
                          <m:mr>
                            <m:e>
                              <m:r>
                                <a:rPr lang="en-US" altLang="zh-TW" sz="2800" b="0" i="1" smtClean="0">
                                  <a:latin typeface="Cambria Math" panose="02040503050406030204" pitchFamily="18" charset="0"/>
                                </a:rPr>
                                <m:t>20</m:t>
                              </m:r>
                            </m:e>
                          </m:mr>
                          <m:mr>
                            <m:e>
                              <m:r>
                                <a:rPr lang="en-US" altLang="zh-TW" sz="2800" b="0" i="1" smtClean="0">
                                  <a:latin typeface="Cambria Math" panose="02040503050406030204" pitchFamily="18" charset="0"/>
                                </a:rPr>
                                <m:t>15</m:t>
                              </m:r>
                            </m:e>
                          </m:mr>
                        </m:m>
                      </m:e>
                    </m:d>
                  </m:oMath>
                </a14:m>
                <a:r>
                  <a:rPr lang="en-US" altLang="zh-TW" sz="2800" dirty="0"/>
                  <a:t> = </a:t>
                </a:r>
                <a14:m>
                  <m:oMath xmlns:m="http://schemas.openxmlformats.org/officeDocument/2006/math">
                    <m:d>
                      <m:dPr>
                        <m:begChr m:val="["/>
                        <m:endChr m:val="]"/>
                        <m:ctrlPr>
                          <a:rPr lang="en-US" altLang="zh-TW" sz="2800" i="1" dirty="0">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5</m:t>
                                  </m:r>
                                </m:num>
                                <m:den>
                                  <m:r>
                                    <a:rPr lang="en-US" altLang="zh-TW" sz="2800" i="1" smtClean="0">
                                      <a:latin typeface="Cambria Math" panose="02040503050406030204" pitchFamily="18" charset="0"/>
                                    </a:rPr>
                                    <m:t>2</m:t>
                                  </m:r>
                                </m:den>
                              </m:f>
                            </m:e>
                          </m:mr>
                          <m:mr>
                            <m:e>
                              <m:f>
                                <m:fPr>
                                  <m:ctrlPr>
                                    <a:rPr lang="en-US" altLang="zh-TW" sz="2800" i="1" smtClean="0">
                                      <a:latin typeface="Cambria Math" panose="02040503050406030204" pitchFamily="18" charset="0"/>
                                    </a:rPr>
                                  </m:ctrlPr>
                                </m:fPr>
                                <m:num>
                                  <m:r>
                                    <a:rPr lang="en-US" altLang="zh-TW" sz="2800" b="0" i="1" smtClean="0">
                                      <a:latin typeface="Cambria Math" panose="02040503050406030204" pitchFamily="18" charset="0"/>
                                    </a:rPr>
                                    <m:t>5</m:t>
                                  </m:r>
                                </m:num>
                                <m:den>
                                  <m:r>
                                    <a:rPr lang="en-US" altLang="zh-TW" sz="2800" i="1">
                                      <a:latin typeface="Cambria Math" panose="02040503050406030204" pitchFamily="18" charset="0"/>
                                    </a:rPr>
                                    <m:t>6</m:t>
                                  </m:r>
                                </m:den>
                              </m:f>
                            </m:e>
                          </m:mr>
                          <m:mr>
                            <m:e>
                              <m:r>
                                <a:rPr lang="en-US" altLang="zh-TW" sz="2800" b="0" i="1" smtClean="0">
                                  <a:latin typeface="Cambria Math" panose="02040503050406030204" pitchFamily="18" charset="0"/>
                                </a:rPr>
                                <m:t>15</m:t>
                              </m:r>
                            </m:e>
                          </m:mr>
                        </m:m>
                      </m:e>
                    </m:d>
                  </m:oMath>
                </a14:m>
                <a:endParaRPr lang="zh-TW" altLang="en-US" sz="2800" dirty="0"/>
              </a:p>
            </p:txBody>
          </p:sp>
        </mc:Choice>
        <mc:Fallback xmlns="">
          <p:sp>
            <p:nvSpPr>
              <p:cNvPr id="6" name="文字方塊 5">
                <a:extLst>
                  <a:ext uri="{FF2B5EF4-FFF2-40B4-BE49-F238E27FC236}">
                    <a16:creationId xmlns:a16="http://schemas.microsoft.com/office/drawing/2014/main" id="{DED80337-9787-4751-A457-B265147DF8C9}"/>
                  </a:ext>
                </a:extLst>
              </p:cNvPr>
              <p:cNvSpPr txBox="1">
                <a:spLocks noRot="1" noChangeAspect="1" noMove="1" noResize="1" noEditPoints="1" noAdjustHandles="1" noChangeArrowheads="1" noChangeShapeType="1" noTextEdit="1"/>
              </p:cNvSpPr>
              <p:nvPr/>
            </p:nvSpPr>
            <p:spPr>
              <a:xfrm>
                <a:off x="6329082" y="525553"/>
                <a:ext cx="5862917" cy="166359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3FB8D62C-EC4A-4B25-A029-F7CAA25AF79F}"/>
                  </a:ext>
                </a:extLst>
              </p:cNvPr>
              <p:cNvSpPr txBox="1"/>
              <p:nvPr/>
            </p:nvSpPr>
            <p:spPr>
              <a:xfrm>
                <a:off x="600633" y="2747184"/>
                <a:ext cx="11456897" cy="1418337"/>
              </a:xfrm>
              <a:prstGeom prst="rect">
                <a:avLst/>
              </a:prstGeom>
              <a:noFill/>
            </p:spPr>
            <p:txBody>
              <a:bodyPr wrap="square">
                <a:spAutoFit/>
              </a:bodyPr>
              <a:lstStyle/>
              <a:p>
                <a:r>
                  <a:rPr lang="zh-TW" altLang="en-US" sz="2800" dirty="0">
                    <a:latin typeface="標楷體" panose="03000509000000000000" pitchFamily="65" charset="-120"/>
                    <a:ea typeface="標楷體" panose="03000509000000000000" pitchFamily="65" charset="-120"/>
                  </a:rPr>
                  <a:t>所以最佳解為</a:t>
                </a:r>
                <a14:m>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2</m:t>
                        </m:r>
                        <m:r>
                          <a:rPr lang="zh-TW" altLang="en-US" sz="2800" i="1">
                            <a:latin typeface="Cambria Math" panose="02040503050406030204" pitchFamily="18" charset="0"/>
                            <a:ea typeface="Cambria Math" panose="02040503050406030204" pitchFamily="18" charset="0"/>
                          </a:rPr>
                          <m:t> </m:t>
                        </m:r>
                      </m:sub>
                    </m:sSub>
                    <m:r>
                      <a:rPr lang="en-US" altLang="zh-TW" sz="2800" i="1">
                        <a:latin typeface="Cambria Math" panose="02040503050406030204" pitchFamily="18" charset="0"/>
                        <a:ea typeface="Cambria Math" panose="02040503050406030204" pitchFamily="18" charset="0"/>
                      </a:rPr>
                      <m:t>=</m:t>
                    </m:r>
                    <m:f>
                      <m:fPr>
                        <m:ctrlPr>
                          <a:rPr lang="en-US" altLang="zh-TW" sz="2800" i="1">
                            <a:latin typeface="Cambria Math" panose="02040503050406030204" pitchFamily="18" charset="0"/>
                          </a:rPr>
                        </m:ctrlPr>
                      </m:fPr>
                      <m:num>
                        <m:r>
                          <a:rPr lang="en-US" altLang="zh-TW" sz="2800" i="1">
                            <a:latin typeface="Cambria Math" panose="02040503050406030204" pitchFamily="18" charset="0"/>
                          </a:rPr>
                          <m:t>5</m:t>
                        </m:r>
                      </m:num>
                      <m:den>
                        <m:r>
                          <a:rPr lang="en-US" altLang="zh-TW" sz="2800" i="1">
                            <a:latin typeface="Cambria Math" panose="02040503050406030204" pitchFamily="18" charset="0"/>
                          </a:rPr>
                          <m:t>2</m:t>
                        </m:r>
                      </m:den>
                    </m:f>
                  </m:oMath>
                </a14:m>
                <a:r>
                  <a:rPr lang="en-US" altLang="zh-TW" sz="2800" dirty="0"/>
                  <a:t>,</a:t>
                </a:r>
                <a:r>
                  <a:rPr lang="en-US" altLang="zh-TW" sz="2800" dirty="0">
                    <a:ea typeface="Cambria Math" panose="02040503050406030204" pitchFamily="18" charset="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b="0" i="1" smtClean="0">
                            <a:latin typeface="Cambria Math" panose="02040503050406030204" pitchFamily="18" charset="0"/>
                            <a:ea typeface="Cambria Math" panose="02040503050406030204" pitchFamily="18" charset="0"/>
                          </a:rPr>
                          <m:t>6</m:t>
                        </m:r>
                      </m:sub>
                    </m:sSub>
                    <m:r>
                      <a:rPr lang="en-US" altLang="zh-TW" sz="2800" i="1">
                        <a:latin typeface="Cambria Math" panose="02040503050406030204" pitchFamily="18" charset="0"/>
                        <a:ea typeface="Cambria Math" panose="02040503050406030204" pitchFamily="18" charset="0"/>
                      </a:rPr>
                      <m:t>=</m:t>
                    </m:r>
                    <m:f>
                      <m:fPr>
                        <m:ctrlPr>
                          <a:rPr lang="en-US" altLang="zh-TW" sz="2800" i="1">
                            <a:latin typeface="Cambria Math" panose="02040503050406030204" pitchFamily="18" charset="0"/>
                          </a:rPr>
                        </m:ctrlPr>
                      </m:fPr>
                      <m:num>
                        <m:r>
                          <a:rPr lang="en-US" altLang="zh-TW" sz="2800" i="1">
                            <a:latin typeface="Cambria Math" panose="02040503050406030204" pitchFamily="18" charset="0"/>
                          </a:rPr>
                          <m:t>5</m:t>
                        </m:r>
                      </m:num>
                      <m:den>
                        <m:r>
                          <a:rPr lang="en-US" altLang="zh-TW" sz="2800" i="1">
                            <a:latin typeface="Cambria Math" panose="02040503050406030204" pitchFamily="18" charset="0"/>
                          </a:rPr>
                          <m:t>6</m:t>
                        </m:r>
                      </m:den>
                    </m:f>
                  </m:oMath>
                </a14:m>
                <a:r>
                  <a:rPr lang="en-US" altLang="zh-TW" sz="2800" dirty="0"/>
                  <a:t>,</a:t>
                </a:r>
                <a:r>
                  <a:rPr lang="en-US" altLang="zh-TW" sz="2800" dirty="0">
                    <a:ea typeface="Cambria Math" panose="02040503050406030204" pitchFamily="18" charset="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zh-TW" altLang="en-US" sz="2800" i="1">
                            <a:latin typeface="Cambria Math" panose="02040503050406030204" pitchFamily="18" charset="0"/>
                            <a:ea typeface="Cambria Math" panose="02040503050406030204" pitchFamily="18" charset="0"/>
                          </a:rPr>
                          <m:t> </m:t>
                        </m:r>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5</m:t>
                        </m:r>
                      </m:sub>
                    </m:sSub>
                    <m:r>
                      <a:rPr lang="zh-TW" altLang="en-US" sz="2800" i="1">
                        <a:latin typeface="Cambria Math" panose="02040503050406030204" pitchFamily="18" charset="0"/>
                        <a:ea typeface="Cambria Math" panose="02040503050406030204" pitchFamily="18" charset="0"/>
                      </a:rPr>
                      <m:t> </m:t>
                    </m:r>
                    <m:r>
                      <a:rPr lang="en-US" altLang="zh-TW" sz="2800" i="1">
                        <a:latin typeface="Cambria Math" panose="02040503050406030204" pitchFamily="18" charset="0"/>
                        <a:ea typeface="Cambria Math" panose="02040503050406030204" pitchFamily="18" charset="0"/>
                      </a:rPr>
                      <m:t>= </m:t>
                    </m:r>
                  </m:oMath>
                </a14:m>
                <a:r>
                  <a:rPr lang="en-US" altLang="zh-TW" sz="2800" dirty="0">
                    <a:latin typeface="標楷體" panose="03000509000000000000" pitchFamily="65" charset="-120"/>
                    <a:ea typeface="標楷體" panose="03000509000000000000" pitchFamily="65" charset="-120"/>
                  </a:rPr>
                  <a:t>15</a:t>
                </a:r>
              </a:p>
              <a:p>
                <a:r>
                  <a:rPr lang="zh-TW" altLang="en-US" sz="2800" dirty="0">
                    <a:latin typeface="標楷體" panose="03000509000000000000" pitchFamily="65" charset="-120"/>
                    <a:ea typeface="標楷體" panose="03000509000000000000" pitchFamily="65" charset="-120"/>
                  </a:rPr>
                  <a:t>近似整數解為</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2</m:t>
                        </m:r>
                        <m:r>
                          <a:rPr lang="zh-TW" altLang="en-US" sz="2800" i="1">
                            <a:latin typeface="Cambria Math" panose="02040503050406030204" pitchFamily="18" charset="0"/>
                            <a:ea typeface="Cambria Math" panose="02040503050406030204" pitchFamily="18" charset="0"/>
                          </a:rPr>
                          <m:t> </m:t>
                        </m:r>
                      </m:sub>
                    </m:sSub>
                    <m:r>
                      <a:rPr lang="en-US" altLang="zh-TW" sz="2800" i="1">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3</m:t>
                    </m:r>
                  </m:oMath>
                </a14:m>
                <a:r>
                  <a:rPr lang="en-US" altLang="zh-TW" sz="2800" dirty="0"/>
                  <a:t>,</a:t>
                </a:r>
                <a:r>
                  <a:rPr lang="en-US" altLang="zh-TW" sz="2800" dirty="0">
                    <a:ea typeface="Cambria Math" panose="02040503050406030204" pitchFamily="18" charset="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6</m:t>
                        </m:r>
                      </m:sub>
                    </m:sSub>
                    <m:r>
                      <a:rPr lang="en-US" altLang="zh-TW" sz="2800" i="1">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1</m:t>
                    </m:r>
                  </m:oMath>
                </a14:m>
                <a:r>
                  <a:rPr lang="en-US" altLang="zh-TW" sz="2800" dirty="0"/>
                  <a:t>,</a:t>
                </a:r>
                <a:r>
                  <a:rPr lang="en-US" altLang="zh-TW" sz="2800" dirty="0">
                    <a:ea typeface="Cambria Math" panose="02040503050406030204" pitchFamily="18" charset="0"/>
                  </a:rPr>
                  <a:t> </a:t>
                </a:r>
                <a14:m>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zh-TW" altLang="en-US" sz="2800" i="1">
                            <a:latin typeface="Cambria Math" panose="02040503050406030204" pitchFamily="18" charset="0"/>
                            <a:ea typeface="Cambria Math" panose="02040503050406030204" pitchFamily="18" charset="0"/>
                          </a:rPr>
                          <m:t> </m:t>
                        </m:r>
                        <m:r>
                          <a:rPr lang="en-US" altLang="zh-TW" sz="2800" i="1">
                            <a:latin typeface="Cambria Math" panose="02040503050406030204" pitchFamily="18" charset="0"/>
                            <a:ea typeface="Cambria Math" panose="02040503050406030204" pitchFamily="18" charset="0"/>
                          </a:rPr>
                          <m:t>𝑥</m:t>
                        </m:r>
                      </m:e>
                      <m:sub>
                        <m:r>
                          <a:rPr lang="en-US" altLang="zh-TW" sz="2800" i="1">
                            <a:latin typeface="Cambria Math" panose="02040503050406030204" pitchFamily="18" charset="0"/>
                            <a:ea typeface="Cambria Math" panose="02040503050406030204" pitchFamily="18" charset="0"/>
                          </a:rPr>
                          <m:t>5</m:t>
                        </m:r>
                      </m:sub>
                    </m:sSub>
                    <m:r>
                      <a:rPr lang="zh-TW" altLang="en-US" sz="2800" i="1">
                        <a:latin typeface="Cambria Math" panose="02040503050406030204" pitchFamily="18" charset="0"/>
                        <a:ea typeface="Cambria Math" panose="02040503050406030204" pitchFamily="18" charset="0"/>
                      </a:rPr>
                      <m:t> </m:t>
                    </m:r>
                    <m:r>
                      <a:rPr lang="en-US" altLang="zh-TW" sz="2800" i="1">
                        <a:latin typeface="Cambria Math" panose="02040503050406030204" pitchFamily="18" charset="0"/>
                        <a:ea typeface="Cambria Math" panose="02040503050406030204" pitchFamily="18" charset="0"/>
                      </a:rPr>
                      <m:t>= </m:t>
                    </m:r>
                  </m:oMath>
                </a14:m>
                <a:r>
                  <a:rPr lang="en-US" altLang="zh-TW" sz="2800" dirty="0">
                    <a:latin typeface="標楷體" panose="03000509000000000000" pitchFamily="65" charset="-120"/>
                    <a:ea typeface="標楷體" panose="03000509000000000000" pitchFamily="65" charset="-120"/>
                  </a:rPr>
                  <a:t>15</a:t>
                </a:r>
              </a:p>
              <a:p>
                <a:endParaRPr lang="zh-TW" altLang="en-US" dirty="0"/>
              </a:p>
            </p:txBody>
          </p:sp>
        </mc:Choice>
        <mc:Fallback xmlns="">
          <p:sp>
            <p:nvSpPr>
              <p:cNvPr id="8" name="文字方塊 7">
                <a:extLst>
                  <a:ext uri="{FF2B5EF4-FFF2-40B4-BE49-F238E27FC236}">
                    <a16:creationId xmlns:a16="http://schemas.microsoft.com/office/drawing/2014/main" id="{3FB8D62C-EC4A-4B25-A029-F7CAA25AF79F}"/>
                  </a:ext>
                </a:extLst>
              </p:cNvPr>
              <p:cNvSpPr txBox="1">
                <a:spLocks noRot="1" noChangeAspect="1" noMove="1" noResize="1" noEditPoints="1" noAdjustHandles="1" noChangeArrowheads="1" noChangeShapeType="1" noTextEdit="1"/>
              </p:cNvSpPr>
              <p:nvPr/>
            </p:nvSpPr>
            <p:spPr>
              <a:xfrm>
                <a:off x="600633" y="2747184"/>
                <a:ext cx="11456897" cy="1418337"/>
              </a:xfrm>
              <a:prstGeom prst="rect">
                <a:avLst/>
              </a:prstGeom>
              <a:blipFill>
                <a:blip r:embed="rId4"/>
                <a:stretch>
                  <a:fillRect l="-11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51892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252530-258C-4182-AA44-02223978767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280E54EB-D749-4E4C-BB0B-52390B3247C6}"/>
              </a:ext>
            </a:extLst>
          </p:cNvPr>
          <p:cNvSpPr>
            <a:spLocks noGrp="1"/>
          </p:cNvSpPr>
          <p:nvPr>
            <p:ph idx="1"/>
          </p:nvPr>
        </p:nvSpPr>
        <p:spPr/>
        <p:txBody>
          <a:bodyPr/>
          <a:lstStyle/>
          <a:p>
            <a:endParaRPr lang="zh-TW" altLang="en-US"/>
          </a:p>
        </p:txBody>
      </p:sp>
      <p:pic>
        <p:nvPicPr>
          <p:cNvPr id="6" name="圖片 5">
            <a:extLst>
              <a:ext uri="{FF2B5EF4-FFF2-40B4-BE49-F238E27FC236}">
                <a16:creationId xmlns:a16="http://schemas.microsoft.com/office/drawing/2014/main" id="{0F284130-2FF1-4A5E-A438-48D0FE7DE30B}"/>
              </a:ext>
            </a:extLst>
          </p:cNvPr>
          <p:cNvPicPr>
            <a:picLocks noChangeAspect="1"/>
          </p:cNvPicPr>
          <p:nvPr/>
        </p:nvPicPr>
        <p:blipFill>
          <a:blip r:embed="rId3"/>
          <a:stretch>
            <a:fillRect/>
          </a:stretch>
        </p:blipFill>
        <p:spPr>
          <a:xfrm>
            <a:off x="1595718" y="181620"/>
            <a:ext cx="7296733" cy="6311255"/>
          </a:xfrm>
          <a:prstGeom prst="rect">
            <a:avLst/>
          </a:prstGeom>
        </p:spPr>
      </p:pic>
    </p:spTree>
    <p:extLst>
      <p:ext uri="{BB962C8B-B14F-4D97-AF65-F5344CB8AC3E}">
        <p14:creationId xmlns:p14="http://schemas.microsoft.com/office/powerpoint/2010/main" val="3777000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F6AB3F-0B00-4D5C-A746-2A2A5BC9D594}"/>
              </a:ext>
            </a:extLst>
          </p:cNvPr>
          <p:cNvSpPr>
            <a:spLocks noGrp="1"/>
          </p:cNvSpPr>
          <p:nvPr>
            <p:ph type="title"/>
          </p:nvPr>
        </p:nvSpPr>
        <p:spPr/>
        <p:txBody>
          <a:bodyPr/>
          <a:lstStyle/>
          <a:p>
            <a:r>
              <a:rPr lang="en-US" altLang="zh-TW" dirty="0"/>
              <a:t>Mixed Integer Linear Programming </a:t>
            </a:r>
            <a:endParaRPr lang="zh-TW" altLang="en-US" dirty="0"/>
          </a:p>
        </p:txBody>
      </p:sp>
      <p:sp>
        <p:nvSpPr>
          <p:cNvPr id="3" name="內容版面配置區 2">
            <a:extLst>
              <a:ext uri="{FF2B5EF4-FFF2-40B4-BE49-F238E27FC236}">
                <a16:creationId xmlns:a16="http://schemas.microsoft.com/office/drawing/2014/main" id="{24E8E644-1DD2-49D4-A58A-AFA1486A690E}"/>
              </a:ext>
            </a:extLst>
          </p:cNvPr>
          <p:cNvSpPr>
            <a:spLocks noGrp="1"/>
          </p:cNvSpPr>
          <p:nvPr>
            <p:ph idx="1"/>
          </p:nvPr>
        </p:nvSpPr>
        <p:spPr/>
        <p:txBody>
          <a:bodyPr/>
          <a:lstStyle/>
          <a:p>
            <a:endParaRPr lang="zh-TW" altLang="en-US" dirty="0"/>
          </a:p>
        </p:txBody>
      </p:sp>
      <p:pic>
        <p:nvPicPr>
          <p:cNvPr id="7" name="圖片 6">
            <a:extLst>
              <a:ext uri="{FF2B5EF4-FFF2-40B4-BE49-F238E27FC236}">
                <a16:creationId xmlns:a16="http://schemas.microsoft.com/office/drawing/2014/main" id="{E63A7486-71E8-4DD0-9D0F-21E06FE84AEE}"/>
              </a:ext>
            </a:extLst>
          </p:cNvPr>
          <p:cNvPicPr>
            <a:picLocks noChangeAspect="1"/>
          </p:cNvPicPr>
          <p:nvPr/>
        </p:nvPicPr>
        <p:blipFill>
          <a:blip r:embed="rId3"/>
          <a:stretch>
            <a:fillRect/>
          </a:stretch>
        </p:blipFill>
        <p:spPr>
          <a:xfrm>
            <a:off x="519319" y="1532697"/>
            <a:ext cx="5295900" cy="1009650"/>
          </a:xfrm>
          <a:prstGeom prst="rect">
            <a:avLst/>
          </a:prstGeom>
        </p:spPr>
      </p:pic>
      <p:pic>
        <p:nvPicPr>
          <p:cNvPr id="9" name="圖片 8">
            <a:extLst>
              <a:ext uri="{FF2B5EF4-FFF2-40B4-BE49-F238E27FC236}">
                <a16:creationId xmlns:a16="http://schemas.microsoft.com/office/drawing/2014/main" id="{5E63431D-EB83-4B49-B1D8-6B17F975E582}"/>
              </a:ext>
            </a:extLst>
          </p:cNvPr>
          <p:cNvPicPr>
            <a:picLocks noChangeAspect="1"/>
          </p:cNvPicPr>
          <p:nvPr/>
        </p:nvPicPr>
        <p:blipFill>
          <a:blip r:embed="rId4"/>
          <a:stretch>
            <a:fillRect/>
          </a:stretch>
        </p:blipFill>
        <p:spPr>
          <a:xfrm>
            <a:off x="538369" y="3016250"/>
            <a:ext cx="5276850" cy="3476625"/>
          </a:xfrm>
          <a:prstGeom prst="rect">
            <a:avLst/>
          </a:prstGeom>
        </p:spPr>
      </p:pic>
      <p:pic>
        <p:nvPicPr>
          <p:cNvPr id="11" name="圖片 10">
            <a:extLst>
              <a:ext uri="{FF2B5EF4-FFF2-40B4-BE49-F238E27FC236}">
                <a16:creationId xmlns:a16="http://schemas.microsoft.com/office/drawing/2014/main" id="{52D1F32B-CAF0-4D58-A1D0-C2407FADA963}"/>
              </a:ext>
            </a:extLst>
          </p:cNvPr>
          <p:cNvPicPr>
            <a:picLocks noChangeAspect="1"/>
          </p:cNvPicPr>
          <p:nvPr/>
        </p:nvPicPr>
        <p:blipFill>
          <a:blip r:embed="rId5"/>
          <a:stretch>
            <a:fillRect/>
          </a:stretch>
        </p:blipFill>
        <p:spPr>
          <a:xfrm>
            <a:off x="6538498" y="1184541"/>
            <a:ext cx="5343525" cy="2514600"/>
          </a:xfrm>
          <a:prstGeom prst="rect">
            <a:avLst/>
          </a:prstGeom>
        </p:spPr>
      </p:pic>
      <p:pic>
        <p:nvPicPr>
          <p:cNvPr id="13" name="圖片 12">
            <a:extLst>
              <a:ext uri="{FF2B5EF4-FFF2-40B4-BE49-F238E27FC236}">
                <a16:creationId xmlns:a16="http://schemas.microsoft.com/office/drawing/2014/main" id="{695E2FF2-F676-49DC-9CC0-5984578BEE79}"/>
              </a:ext>
            </a:extLst>
          </p:cNvPr>
          <p:cNvPicPr>
            <a:picLocks noChangeAspect="1"/>
          </p:cNvPicPr>
          <p:nvPr/>
        </p:nvPicPr>
        <p:blipFill>
          <a:blip r:embed="rId6"/>
          <a:stretch>
            <a:fillRect/>
          </a:stretch>
        </p:blipFill>
        <p:spPr>
          <a:xfrm>
            <a:off x="6662323" y="3833813"/>
            <a:ext cx="5219700" cy="2343150"/>
          </a:xfrm>
          <a:prstGeom prst="rect">
            <a:avLst/>
          </a:prstGeom>
        </p:spPr>
      </p:pic>
    </p:spTree>
    <p:extLst>
      <p:ext uri="{BB962C8B-B14F-4D97-AF65-F5344CB8AC3E}">
        <p14:creationId xmlns:p14="http://schemas.microsoft.com/office/powerpoint/2010/main" val="1304491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471C567-8D19-4E8A-8912-188CE20CFA59}"/>
              </a:ext>
            </a:extLst>
          </p:cNvPr>
          <p:cNvPicPr>
            <a:picLocks noChangeAspect="1"/>
          </p:cNvPicPr>
          <p:nvPr/>
        </p:nvPicPr>
        <p:blipFill>
          <a:blip r:embed="rId3"/>
          <a:stretch>
            <a:fillRect/>
          </a:stretch>
        </p:blipFill>
        <p:spPr>
          <a:xfrm>
            <a:off x="589844" y="1817506"/>
            <a:ext cx="5210175" cy="990600"/>
          </a:xfrm>
          <a:prstGeom prst="rect">
            <a:avLst/>
          </a:prstGeom>
        </p:spPr>
      </p:pic>
      <p:pic>
        <p:nvPicPr>
          <p:cNvPr id="7" name="圖片 6">
            <a:extLst>
              <a:ext uri="{FF2B5EF4-FFF2-40B4-BE49-F238E27FC236}">
                <a16:creationId xmlns:a16="http://schemas.microsoft.com/office/drawing/2014/main" id="{BAE6FE18-816E-4812-A813-BD0982E25D5A}"/>
              </a:ext>
            </a:extLst>
          </p:cNvPr>
          <p:cNvPicPr>
            <a:picLocks noChangeAspect="1"/>
          </p:cNvPicPr>
          <p:nvPr/>
        </p:nvPicPr>
        <p:blipFill>
          <a:blip r:embed="rId4"/>
          <a:stretch>
            <a:fillRect/>
          </a:stretch>
        </p:blipFill>
        <p:spPr>
          <a:xfrm>
            <a:off x="589844" y="3494175"/>
            <a:ext cx="5267325" cy="2066925"/>
          </a:xfrm>
          <a:prstGeom prst="rect">
            <a:avLst/>
          </a:prstGeom>
        </p:spPr>
      </p:pic>
      <p:pic>
        <p:nvPicPr>
          <p:cNvPr id="10" name="圖片 9">
            <a:extLst>
              <a:ext uri="{FF2B5EF4-FFF2-40B4-BE49-F238E27FC236}">
                <a16:creationId xmlns:a16="http://schemas.microsoft.com/office/drawing/2014/main" id="{21A07506-A9DE-45E1-A081-5E194A5542B9}"/>
              </a:ext>
            </a:extLst>
          </p:cNvPr>
          <p:cNvPicPr>
            <a:picLocks noChangeAspect="1"/>
          </p:cNvPicPr>
          <p:nvPr/>
        </p:nvPicPr>
        <p:blipFill>
          <a:blip r:embed="rId5"/>
          <a:stretch>
            <a:fillRect/>
          </a:stretch>
        </p:blipFill>
        <p:spPr>
          <a:xfrm>
            <a:off x="6820263" y="1941331"/>
            <a:ext cx="5181600" cy="742950"/>
          </a:xfrm>
          <a:prstGeom prst="rect">
            <a:avLst/>
          </a:prstGeom>
        </p:spPr>
      </p:pic>
      <p:pic>
        <p:nvPicPr>
          <p:cNvPr id="11" name="圖片 10">
            <a:extLst>
              <a:ext uri="{FF2B5EF4-FFF2-40B4-BE49-F238E27FC236}">
                <a16:creationId xmlns:a16="http://schemas.microsoft.com/office/drawing/2014/main" id="{F21C38AE-2DE1-4CB6-A903-83FA545F94FB}"/>
              </a:ext>
            </a:extLst>
          </p:cNvPr>
          <p:cNvPicPr>
            <a:picLocks noChangeAspect="1"/>
          </p:cNvPicPr>
          <p:nvPr/>
        </p:nvPicPr>
        <p:blipFill>
          <a:blip r:embed="rId6"/>
          <a:stretch>
            <a:fillRect/>
          </a:stretch>
        </p:blipFill>
        <p:spPr>
          <a:xfrm>
            <a:off x="6550755" y="3254551"/>
            <a:ext cx="5191125" cy="2809875"/>
          </a:xfrm>
          <a:prstGeom prst="rect">
            <a:avLst/>
          </a:prstGeom>
        </p:spPr>
      </p:pic>
      <p:sp>
        <p:nvSpPr>
          <p:cNvPr id="6" name="標題 5">
            <a:extLst>
              <a:ext uri="{FF2B5EF4-FFF2-40B4-BE49-F238E27FC236}">
                <a16:creationId xmlns:a16="http://schemas.microsoft.com/office/drawing/2014/main" id="{7788C89C-8D9B-4E9D-9A43-9C4B7ED284AB}"/>
              </a:ext>
            </a:extLst>
          </p:cNvPr>
          <p:cNvSpPr>
            <a:spLocks noGrp="1"/>
          </p:cNvSpPr>
          <p:nvPr>
            <p:ph type="title"/>
          </p:nvPr>
        </p:nvSpPr>
        <p:spPr/>
        <p:txBody>
          <a:bodyPr/>
          <a:lstStyle/>
          <a:p>
            <a:r>
              <a:rPr lang="en-US" altLang="zh-TW" dirty="0"/>
              <a:t>LP relaxation of the restricted master problem (LRMP)</a:t>
            </a:r>
            <a:endParaRPr lang="zh-TW" altLang="en-US" dirty="0"/>
          </a:p>
        </p:txBody>
      </p:sp>
    </p:spTree>
    <p:extLst>
      <p:ext uri="{BB962C8B-B14F-4D97-AF65-F5344CB8AC3E}">
        <p14:creationId xmlns:p14="http://schemas.microsoft.com/office/powerpoint/2010/main" val="89401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7DB235-76F2-47CD-878E-66978853E6BE}"/>
              </a:ext>
            </a:extLst>
          </p:cNvPr>
          <p:cNvSpPr>
            <a:spLocks noGrp="1"/>
          </p:cNvSpPr>
          <p:nvPr>
            <p:ph type="title"/>
          </p:nvPr>
        </p:nvSpPr>
        <p:spPr/>
        <p:txBody>
          <a:bodyPr/>
          <a:lstStyle/>
          <a:p>
            <a:r>
              <a:rPr lang="en-US" altLang="zh-TW" dirty="0"/>
              <a:t>Subproblems</a:t>
            </a:r>
            <a:endParaRPr lang="zh-TW" altLang="en-US" dirty="0"/>
          </a:p>
        </p:txBody>
      </p:sp>
      <p:pic>
        <p:nvPicPr>
          <p:cNvPr id="9" name="內容版面配置區 8">
            <a:extLst>
              <a:ext uri="{FF2B5EF4-FFF2-40B4-BE49-F238E27FC236}">
                <a16:creationId xmlns:a16="http://schemas.microsoft.com/office/drawing/2014/main" id="{59EF4DEE-00E9-463F-9727-1E054CB14A6D}"/>
              </a:ext>
            </a:extLst>
          </p:cNvPr>
          <p:cNvPicPr>
            <a:picLocks noGrp="1" noChangeAspect="1"/>
          </p:cNvPicPr>
          <p:nvPr>
            <p:ph idx="1"/>
          </p:nvPr>
        </p:nvPicPr>
        <p:blipFill>
          <a:blip r:embed="rId3"/>
          <a:stretch>
            <a:fillRect/>
          </a:stretch>
        </p:blipFill>
        <p:spPr>
          <a:xfrm>
            <a:off x="745068" y="1429377"/>
            <a:ext cx="7025188" cy="1507525"/>
          </a:xfrm>
        </p:spPr>
      </p:pic>
      <p:pic>
        <p:nvPicPr>
          <p:cNvPr id="11" name="圖片 10">
            <a:extLst>
              <a:ext uri="{FF2B5EF4-FFF2-40B4-BE49-F238E27FC236}">
                <a16:creationId xmlns:a16="http://schemas.microsoft.com/office/drawing/2014/main" id="{F44AA302-47F6-4682-9410-B716EDA71C2E}"/>
              </a:ext>
            </a:extLst>
          </p:cNvPr>
          <p:cNvPicPr>
            <a:picLocks noChangeAspect="1"/>
          </p:cNvPicPr>
          <p:nvPr/>
        </p:nvPicPr>
        <p:blipFill>
          <a:blip r:embed="rId4"/>
          <a:stretch>
            <a:fillRect/>
          </a:stretch>
        </p:blipFill>
        <p:spPr>
          <a:xfrm>
            <a:off x="838200" y="3258317"/>
            <a:ext cx="7069669" cy="1325563"/>
          </a:xfrm>
          <a:prstGeom prst="rect">
            <a:avLst/>
          </a:prstGeom>
        </p:spPr>
      </p:pic>
      <p:pic>
        <p:nvPicPr>
          <p:cNvPr id="13" name="圖片 12">
            <a:extLst>
              <a:ext uri="{FF2B5EF4-FFF2-40B4-BE49-F238E27FC236}">
                <a16:creationId xmlns:a16="http://schemas.microsoft.com/office/drawing/2014/main" id="{B33EB7C3-C576-424B-9847-1DC5085800CD}"/>
              </a:ext>
            </a:extLst>
          </p:cNvPr>
          <p:cNvPicPr>
            <a:picLocks noChangeAspect="1"/>
          </p:cNvPicPr>
          <p:nvPr/>
        </p:nvPicPr>
        <p:blipFill>
          <a:blip r:embed="rId5"/>
          <a:stretch>
            <a:fillRect/>
          </a:stretch>
        </p:blipFill>
        <p:spPr>
          <a:xfrm>
            <a:off x="838200" y="4879747"/>
            <a:ext cx="7038521" cy="1097751"/>
          </a:xfrm>
          <a:prstGeom prst="rect">
            <a:avLst/>
          </a:prstGeom>
        </p:spPr>
      </p:pic>
    </p:spTree>
    <p:extLst>
      <p:ext uri="{BB962C8B-B14F-4D97-AF65-F5344CB8AC3E}">
        <p14:creationId xmlns:p14="http://schemas.microsoft.com/office/powerpoint/2010/main" val="3208725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C2785F49-D543-4FE7-9197-77608FDB1FC8}"/>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05DD0B6-1635-4826-9CAC-2261135553E6}"/>
              </a:ext>
            </a:extLst>
          </p:cNvPr>
          <p:cNvPicPr>
            <a:picLocks noChangeAspect="1"/>
          </p:cNvPicPr>
          <p:nvPr/>
        </p:nvPicPr>
        <p:blipFill>
          <a:blip r:embed="rId3"/>
          <a:stretch>
            <a:fillRect/>
          </a:stretch>
        </p:blipFill>
        <p:spPr>
          <a:xfrm>
            <a:off x="258832" y="982518"/>
            <a:ext cx="5297649" cy="708169"/>
          </a:xfrm>
          <a:prstGeom prst="rect">
            <a:avLst/>
          </a:prstGeom>
        </p:spPr>
      </p:pic>
      <p:pic>
        <p:nvPicPr>
          <p:cNvPr id="7" name="圖片 6">
            <a:extLst>
              <a:ext uri="{FF2B5EF4-FFF2-40B4-BE49-F238E27FC236}">
                <a16:creationId xmlns:a16="http://schemas.microsoft.com/office/drawing/2014/main" id="{A793C634-C48E-417F-AC13-5EF054962D15}"/>
              </a:ext>
            </a:extLst>
          </p:cNvPr>
          <p:cNvPicPr>
            <a:picLocks noChangeAspect="1"/>
          </p:cNvPicPr>
          <p:nvPr/>
        </p:nvPicPr>
        <p:blipFill>
          <a:blip r:embed="rId4"/>
          <a:stretch>
            <a:fillRect/>
          </a:stretch>
        </p:blipFill>
        <p:spPr>
          <a:xfrm>
            <a:off x="258832" y="2020885"/>
            <a:ext cx="5297649" cy="4346789"/>
          </a:xfrm>
          <a:prstGeom prst="rect">
            <a:avLst/>
          </a:prstGeom>
        </p:spPr>
      </p:pic>
      <p:pic>
        <p:nvPicPr>
          <p:cNvPr id="8" name="圖片 7">
            <a:extLst>
              <a:ext uri="{FF2B5EF4-FFF2-40B4-BE49-F238E27FC236}">
                <a16:creationId xmlns:a16="http://schemas.microsoft.com/office/drawing/2014/main" id="{610265A3-416C-4FAE-9C28-51D64A2640D0}"/>
              </a:ext>
            </a:extLst>
          </p:cNvPr>
          <p:cNvPicPr>
            <a:picLocks noChangeAspect="1"/>
          </p:cNvPicPr>
          <p:nvPr/>
        </p:nvPicPr>
        <p:blipFill>
          <a:blip r:embed="rId5"/>
          <a:stretch>
            <a:fillRect/>
          </a:stretch>
        </p:blipFill>
        <p:spPr>
          <a:xfrm>
            <a:off x="6635521" y="1057393"/>
            <a:ext cx="5447426" cy="640874"/>
          </a:xfrm>
          <a:prstGeom prst="rect">
            <a:avLst/>
          </a:prstGeom>
        </p:spPr>
      </p:pic>
      <p:pic>
        <p:nvPicPr>
          <p:cNvPr id="9" name="圖片 8">
            <a:extLst>
              <a:ext uri="{FF2B5EF4-FFF2-40B4-BE49-F238E27FC236}">
                <a16:creationId xmlns:a16="http://schemas.microsoft.com/office/drawing/2014/main" id="{C97BF9D7-287C-4C4D-9477-F4975F7AAB4B}"/>
              </a:ext>
            </a:extLst>
          </p:cNvPr>
          <p:cNvPicPr>
            <a:picLocks noChangeAspect="1"/>
          </p:cNvPicPr>
          <p:nvPr/>
        </p:nvPicPr>
        <p:blipFill>
          <a:blip r:embed="rId6"/>
          <a:stretch>
            <a:fillRect/>
          </a:stretch>
        </p:blipFill>
        <p:spPr>
          <a:xfrm>
            <a:off x="6736233" y="2020885"/>
            <a:ext cx="5246001" cy="4100323"/>
          </a:xfrm>
          <a:prstGeom prst="rect">
            <a:avLst/>
          </a:prstGeom>
        </p:spPr>
      </p:pic>
      <p:sp>
        <p:nvSpPr>
          <p:cNvPr id="10" name="標題 1">
            <a:extLst>
              <a:ext uri="{FF2B5EF4-FFF2-40B4-BE49-F238E27FC236}">
                <a16:creationId xmlns:a16="http://schemas.microsoft.com/office/drawing/2014/main" id="{28D72C93-BB67-4D82-AB62-FC3AC947ECE0}"/>
              </a:ext>
            </a:extLst>
          </p:cNvPr>
          <p:cNvSpPr txBox="1">
            <a:spLocks/>
          </p:cNvSpPr>
          <p:nvPr/>
        </p:nvSpPr>
        <p:spPr>
          <a:xfrm>
            <a:off x="595964" y="4664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stStyle>
          <a:p>
            <a:r>
              <a:rPr lang="en-US" altLang="zh-TW" sz="2800" dirty="0"/>
              <a:t>Lower bounding method</a:t>
            </a:r>
            <a:endParaRPr lang="zh-TW" altLang="en-US" sz="2800" dirty="0"/>
          </a:p>
        </p:txBody>
      </p:sp>
    </p:spTree>
    <p:extLst>
      <p:ext uri="{BB962C8B-B14F-4D97-AF65-F5344CB8AC3E}">
        <p14:creationId xmlns:p14="http://schemas.microsoft.com/office/powerpoint/2010/main" val="22168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DF563D-295B-46DD-BD63-1A0014368028}"/>
              </a:ext>
            </a:extLst>
          </p:cNvPr>
          <p:cNvSpPr>
            <a:spLocks noGrp="1"/>
          </p:cNvSpPr>
          <p:nvPr>
            <p:ph type="title"/>
          </p:nvPr>
        </p:nvSpPr>
        <p:spPr/>
        <p:txBody>
          <a:bodyPr/>
          <a:lstStyle/>
          <a:p>
            <a:r>
              <a:rPr lang="en-US" altLang="zh-TW" dirty="0"/>
              <a:t>Test problem specifications</a:t>
            </a:r>
            <a:endParaRPr lang="zh-TW" altLang="en-US" dirty="0"/>
          </a:p>
        </p:txBody>
      </p:sp>
      <p:sp>
        <p:nvSpPr>
          <p:cNvPr id="3" name="內容版面配置區 2">
            <a:extLst>
              <a:ext uri="{FF2B5EF4-FFF2-40B4-BE49-F238E27FC236}">
                <a16:creationId xmlns:a16="http://schemas.microsoft.com/office/drawing/2014/main" id="{9F115D19-6682-4721-9B6E-3C18BF665C20}"/>
              </a:ext>
            </a:extLst>
          </p:cNvPr>
          <p:cNvSpPr>
            <a:spLocks noGrp="1"/>
          </p:cNvSpPr>
          <p:nvPr>
            <p:ph idx="1"/>
          </p:nvPr>
        </p:nvSpPr>
        <p:spPr/>
        <p:txBody>
          <a:bodyPr>
            <a:normAutofit fontScale="92500" lnSpcReduction="20000"/>
          </a:bodyPr>
          <a:lstStyle/>
          <a:p>
            <a:r>
              <a:rPr lang="en-US" altLang="zh-TW" dirty="0"/>
              <a:t>Number of groups:</a:t>
            </a:r>
            <a:r>
              <a:rPr lang="zh-TW" altLang="en-US" dirty="0"/>
              <a:t> </a:t>
            </a:r>
            <a:r>
              <a:rPr lang="en-US" altLang="zh-TW" dirty="0"/>
              <a:t>DU [1,5], DU [6,10], and DU [11,16] for small, medium, and large size problems, respectively.</a:t>
            </a:r>
          </a:p>
          <a:p>
            <a:endParaRPr lang="en-US" altLang="zh-TW" dirty="0"/>
          </a:p>
          <a:p>
            <a:r>
              <a:rPr lang="en-US" altLang="zh-TW" dirty="0"/>
              <a:t>Number of jobs in a group:</a:t>
            </a:r>
            <a:r>
              <a:rPr lang="zh-TW" altLang="en-US" dirty="0"/>
              <a:t> </a:t>
            </a:r>
            <a:r>
              <a:rPr lang="en-US" altLang="zh-TW" dirty="0"/>
              <a:t>DU [2,4], DU [5,7], and DU [8,10] for small, medium, and large size problems.</a:t>
            </a:r>
          </a:p>
          <a:p>
            <a:endParaRPr lang="en-US" altLang="zh-TW" dirty="0"/>
          </a:p>
          <a:p>
            <a:r>
              <a:rPr lang="en-US" altLang="zh-TW" dirty="0"/>
              <a:t>The ratio of setup times</a:t>
            </a:r>
            <a:r>
              <a:rPr lang="zh-TW" altLang="en-US" dirty="0"/>
              <a:t> </a:t>
            </a:r>
            <a:r>
              <a:rPr lang="en-US" altLang="zh-TW" dirty="0"/>
              <a:t>of groups on consecutive machines:</a:t>
            </a:r>
          </a:p>
          <a:p>
            <a:pPr marL="0" indent="0">
              <a:buNone/>
            </a:pPr>
            <a:r>
              <a:rPr lang="en-US" altLang="zh-TW" dirty="0"/>
              <a:t>First level:M1&lt;M2; Second level: M1=M2; Third level M1&gt;M2;</a:t>
            </a:r>
          </a:p>
          <a:p>
            <a:pPr marL="0" indent="0">
              <a:buNone/>
            </a:pPr>
            <a:endParaRPr lang="en-US" altLang="zh-TW" dirty="0"/>
          </a:p>
          <a:p>
            <a:pPr marL="0" indent="0">
              <a:buNone/>
            </a:pPr>
            <a:r>
              <a:rPr lang="en-US" altLang="zh-TW" dirty="0"/>
              <a:t>Level 1/2/3 indicates the problems in which the required setup times for each machine are increased/almost equal/decreased sequentially.</a:t>
            </a:r>
          </a:p>
          <a:p>
            <a:endParaRPr lang="zh-TW" altLang="en-US" dirty="0"/>
          </a:p>
        </p:txBody>
      </p:sp>
    </p:spTree>
    <p:extLst>
      <p:ext uri="{BB962C8B-B14F-4D97-AF65-F5344CB8AC3E}">
        <p14:creationId xmlns:p14="http://schemas.microsoft.com/office/powerpoint/2010/main" val="2488504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F03A1D-9178-4170-8EFB-65CFDBB65BB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71EAEAC-8E90-4AFD-A495-14726F476E3E}"/>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4068B26-444A-4689-8854-771347648673}"/>
              </a:ext>
            </a:extLst>
          </p:cNvPr>
          <p:cNvPicPr>
            <a:picLocks noChangeAspect="1"/>
          </p:cNvPicPr>
          <p:nvPr/>
        </p:nvPicPr>
        <p:blipFill>
          <a:blip r:embed="rId2"/>
          <a:stretch>
            <a:fillRect/>
          </a:stretch>
        </p:blipFill>
        <p:spPr>
          <a:xfrm>
            <a:off x="0" y="301831"/>
            <a:ext cx="12192000" cy="1452149"/>
          </a:xfrm>
          <a:prstGeom prst="rect">
            <a:avLst/>
          </a:prstGeom>
        </p:spPr>
      </p:pic>
      <p:pic>
        <p:nvPicPr>
          <p:cNvPr id="7" name="圖片 6">
            <a:extLst>
              <a:ext uri="{FF2B5EF4-FFF2-40B4-BE49-F238E27FC236}">
                <a16:creationId xmlns:a16="http://schemas.microsoft.com/office/drawing/2014/main" id="{F6E92897-CE2E-47E9-927C-1FF956FFC9E7}"/>
              </a:ext>
            </a:extLst>
          </p:cNvPr>
          <p:cNvPicPr>
            <a:picLocks noChangeAspect="1"/>
          </p:cNvPicPr>
          <p:nvPr/>
        </p:nvPicPr>
        <p:blipFill>
          <a:blip r:embed="rId3"/>
          <a:stretch>
            <a:fillRect/>
          </a:stretch>
        </p:blipFill>
        <p:spPr>
          <a:xfrm>
            <a:off x="0" y="2634320"/>
            <a:ext cx="12192000" cy="3921849"/>
          </a:xfrm>
          <a:prstGeom prst="rect">
            <a:avLst/>
          </a:prstGeom>
        </p:spPr>
      </p:pic>
    </p:spTree>
    <p:extLst>
      <p:ext uri="{BB962C8B-B14F-4D97-AF65-F5344CB8AC3E}">
        <p14:creationId xmlns:p14="http://schemas.microsoft.com/office/powerpoint/2010/main" val="498299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9E851E-B853-4504-9A6D-FC7598F44CE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8A2370C-1C7F-460E-B7CE-CFD362C124B5}"/>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EA6FA0C-39F0-41B8-A207-29EA0AA2F46B}"/>
              </a:ext>
            </a:extLst>
          </p:cNvPr>
          <p:cNvPicPr>
            <a:picLocks noChangeAspect="1"/>
          </p:cNvPicPr>
          <p:nvPr/>
        </p:nvPicPr>
        <p:blipFill>
          <a:blip r:embed="rId3"/>
          <a:stretch>
            <a:fillRect/>
          </a:stretch>
        </p:blipFill>
        <p:spPr>
          <a:xfrm>
            <a:off x="0" y="4227153"/>
            <a:ext cx="12192000" cy="1949810"/>
          </a:xfrm>
          <a:prstGeom prst="rect">
            <a:avLst/>
          </a:prstGeom>
        </p:spPr>
      </p:pic>
      <p:pic>
        <p:nvPicPr>
          <p:cNvPr id="7" name="圖片 6">
            <a:extLst>
              <a:ext uri="{FF2B5EF4-FFF2-40B4-BE49-F238E27FC236}">
                <a16:creationId xmlns:a16="http://schemas.microsoft.com/office/drawing/2014/main" id="{FAA1ED41-9DA4-49C5-B32C-E035638A68A5}"/>
              </a:ext>
            </a:extLst>
          </p:cNvPr>
          <p:cNvPicPr>
            <a:picLocks noChangeAspect="1"/>
          </p:cNvPicPr>
          <p:nvPr/>
        </p:nvPicPr>
        <p:blipFill>
          <a:blip r:embed="rId4"/>
          <a:stretch>
            <a:fillRect/>
          </a:stretch>
        </p:blipFill>
        <p:spPr>
          <a:xfrm>
            <a:off x="0" y="209256"/>
            <a:ext cx="12192000" cy="1955609"/>
          </a:xfrm>
          <a:prstGeom prst="rect">
            <a:avLst/>
          </a:prstGeom>
        </p:spPr>
      </p:pic>
    </p:spTree>
    <p:extLst>
      <p:ext uri="{BB962C8B-B14F-4D97-AF65-F5344CB8AC3E}">
        <p14:creationId xmlns:p14="http://schemas.microsoft.com/office/powerpoint/2010/main" val="2744961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0489C8-9460-4D85-A36B-4DF423C6DA7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63036A9-C724-450A-9D8A-728984009E51}"/>
              </a:ext>
            </a:extLst>
          </p:cNvPr>
          <p:cNvSpPr>
            <a:spLocks noGrp="1"/>
          </p:cNvSpPr>
          <p:nvPr>
            <p:ph idx="1"/>
          </p:nvPr>
        </p:nvSpPr>
        <p:spPr/>
        <p:txBody>
          <a:bodyPr/>
          <a:lstStyle/>
          <a:p>
            <a:endParaRPr lang="zh-TW" altLang="en-US" dirty="0"/>
          </a:p>
        </p:txBody>
      </p:sp>
      <p:pic>
        <p:nvPicPr>
          <p:cNvPr id="4" name="圖片 3">
            <a:extLst>
              <a:ext uri="{FF2B5EF4-FFF2-40B4-BE49-F238E27FC236}">
                <a16:creationId xmlns:a16="http://schemas.microsoft.com/office/drawing/2014/main" id="{05206C70-A009-46F7-80E1-FAE0720917BC}"/>
              </a:ext>
            </a:extLst>
          </p:cNvPr>
          <p:cNvPicPr>
            <a:picLocks noChangeAspect="1"/>
          </p:cNvPicPr>
          <p:nvPr/>
        </p:nvPicPr>
        <p:blipFill>
          <a:blip r:embed="rId2"/>
          <a:stretch>
            <a:fillRect/>
          </a:stretch>
        </p:blipFill>
        <p:spPr>
          <a:xfrm>
            <a:off x="68315" y="1825625"/>
            <a:ext cx="12055369" cy="3763478"/>
          </a:xfrm>
          <a:prstGeom prst="rect">
            <a:avLst/>
          </a:prstGeom>
        </p:spPr>
      </p:pic>
    </p:spTree>
    <p:extLst>
      <p:ext uri="{BB962C8B-B14F-4D97-AF65-F5344CB8AC3E}">
        <p14:creationId xmlns:p14="http://schemas.microsoft.com/office/powerpoint/2010/main" val="1276914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7AA95A-A044-40F2-B5E2-D7A8DF2AB778}"/>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07135273-21F0-4EE2-B493-E51982B5B699}"/>
              </a:ext>
            </a:extLst>
          </p:cNvPr>
          <p:cNvSpPr>
            <a:spLocks noGrp="1"/>
          </p:cNvSpPr>
          <p:nvPr>
            <p:ph idx="1"/>
          </p:nvPr>
        </p:nvSpPr>
        <p:spPr/>
        <p:txBody>
          <a:bodyPr/>
          <a:lstStyle/>
          <a:p>
            <a:r>
              <a:rPr lang="en-US" altLang="zh-TW" dirty="0"/>
              <a:t>The result of paired t-test shows that the HACO algorithm has a better performance for all problem sizes than the best TS algorithm.</a:t>
            </a:r>
          </a:p>
          <a:p>
            <a:r>
              <a:rPr lang="en-US" altLang="zh-TW" dirty="0"/>
              <a:t>A generalized lower bounding method based on the branch-and-price method is also developed for FSDGS problems to estimate the quality of solutions. </a:t>
            </a:r>
          </a:p>
          <a:p>
            <a:r>
              <a:rPr lang="en-US" altLang="zh-TW" dirty="0"/>
              <a:t>Originally problem is based only on minimization of </a:t>
            </a:r>
            <a:r>
              <a:rPr lang="en-US" altLang="zh-TW" dirty="0" err="1"/>
              <a:t>makespan</a:t>
            </a:r>
            <a:r>
              <a:rPr lang="en-US" altLang="zh-TW" dirty="0"/>
              <a:t> criterion, further research considering such as minimization of total tardiness and minimization of weighted tardiness, amongst others.</a:t>
            </a:r>
            <a:endParaRPr lang="zh-TW" altLang="en-US" dirty="0"/>
          </a:p>
        </p:txBody>
      </p:sp>
    </p:spTree>
    <p:extLst>
      <p:ext uri="{BB962C8B-B14F-4D97-AF65-F5344CB8AC3E}">
        <p14:creationId xmlns:p14="http://schemas.microsoft.com/office/powerpoint/2010/main" val="1231040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B06260-173F-43A6-9276-C3BCDD53F4CC}"/>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965D7EFD-341B-4934-A8E9-6BC8CC2170F5}"/>
              </a:ext>
            </a:extLst>
          </p:cNvPr>
          <p:cNvSpPr>
            <a:spLocks noGrp="1"/>
          </p:cNvSpPr>
          <p:nvPr>
            <p:ph idx="1"/>
          </p:nvPr>
        </p:nvSpPr>
        <p:spPr/>
        <p:txBody>
          <a:bodyPr/>
          <a:lstStyle/>
          <a:p>
            <a:pPr marL="0" indent="0">
              <a:buNone/>
            </a:pPr>
            <a:r>
              <a:rPr lang="en-US" altLang="zh-TW" dirty="0"/>
              <a:t>Thanks for listening.</a:t>
            </a:r>
            <a:endParaRPr lang="zh-TW" altLang="en-US" dirty="0"/>
          </a:p>
        </p:txBody>
      </p:sp>
    </p:spTree>
    <p:extLst>
      <p:ext uri="{BB962C8B-B14F-4D97-AF65-F5344CB8AC3E}">
        <p14:creationId xmlns:p14="http://schemas.microsoft.com/office/powerpoint/2010/main" val="1769642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9D9350-1864-4645-B458-46CD10E8220D}"/>
              </a:ext>
            </a:extLst>
          </p:cNvPr>
          <p:cNvSpPr>
            <a:spLocks noGrp="1"/>
          </p:cNvSpPr>
          <p:nvPr>
            <p:ph type="title"/>
          </p:nvPr>
        </p:nvSpPr>
        <p:spPr/>
        <p:txBody>
          <a:bodyPr/>
          <a:lstStyle/>
          <a:p>
            <a:r>
              <a:rPr lang="en-US" altLang="zh-TW" dirty="0"/>
              <a:t>Cutting stock problem</a:t>
            </a:r>
            <a:endParaRPr lang="zh-TW" altLang="en-US" dirty="0"/>
          </a:p>
        </p:txBody>
      </p:sp>
      <p:pic>
        <p:nvPicPr>
          <p:cNvPr id="5" name="內容版面配置區 4">
            <a:extLst>
              <a:ext uri="{FF2B5EF4-FFF2-40B4-BE49-F238E27FC236}">
                <a16:creationId xmlns:a16="http://schemas.microsoft.com/office/drawing/2014/main" id="{8C43F34C-2E62-4EDF-B8D4-D2D4C01D25CE}"/>
              </a:ext>
            </a:extLst>
          </p:cNvPr>
          <p:cNvPicPr>
            <a:picLocks noGrp="1" noChangeAspect="1"/>
          </p:cNvPicPr>
          <p:nvPr>
            <p:ph idx="1"/>
          </p:nvPr>
        </p:nvPicPr>
        <p:blipFill>
          <a:blip r:embed="rId3"/>
          <a:stretch>
            <a:fillRect/>
          </a:stretch>
        </p:blipFill>
        <p:spPr>
          <a:xfrm>
            <a:off x="6886575" y="138113"/>
            <a:ext cx="5305425" cy="3105150"/>
          </a:xfr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FEEC2EEB-656E-4269-ADFB-5D0C26C17255}"/>
                  </a:ext>
                </a:extLst>
              </p:cNvPr>
              <p:cNvSpPr txBox="1"/>
              <p:nvPr/>
            </p:nvSpPr>
            <p:spPr>
              <a:xfrm>
                <a:off x="530352" y="2055483"/>
                <a:ext cx="7863840" cy="2747034"/>
              </a:xfrm>
              <a:prstGeom prst="rect">
                <a:avLst/>
              </a:prstGeom>
              <a:noFill/>
            </p:spPr>
            <p:txBody>
              <a:bodyPr wrap="square" rtlCol="0">
                <a:spAutoFit/>
              </a:bodyPr>
              <a:lstStyle/>
              <a:p>
                <a:r>
                  <a:rPr lang="zh-TW" altLang="en-US" sz="2400" dirty="0">
                    <a:latin typeface="標楷體" panose="03000509000000000000" pitchFamily="65" charset="-120"/>
                    <a:ea typeface="標楷體" panose="03000509000000000000" pitchFamily="65" charset="-120"/>
                  </a:rPr>
                  <a:t>紙捲每個長</a:t>
                </a:r>
                <a:r>
                  <a:rPr lang="en-US" altLang="zh-TW" sz="2400" dirty="0">
                    <a:latin typeface="標楷體" panose="03000509000000000000" pitchFamily="65" charset="-120"/>
                    <a:ea typeface="標楷體" panose="03000509000000000000" pitchFamily="65" charset="-120"/>
                  </a:rPr>
                  <a:t>17</a:t>
                </a:r>
                <a:r>
                  <a:rPr lang="zh-TW" altLang="en-US" sz="2400" dirty="0">
                    <a:latin typeface="標楷體" panose="03000509000000000000" pitchFamily="65" charset="-120"/>
                    <a:ea typeface="標楷體" panose="03000509000000000000" pitchFamily="65" charset="-120"/>
                  </a:rPr>
                  <a:t>公尺，顧客分別要</a:t>
                </a:r>
                <a:r>
                  <a:rPr lang="en-US" altLang="zh-TW" sz="2400" dirty="0">
                    <a:latin typeface="標楷體" panose="03000509000000000000" pitchFamily="65" charset="-120"/>
                    <a:ea typeface="標楷體" panose="03000509000000000000" pitchFamily="65" charset="-120"/>
                  </a:rPr>
                  <a:t>25</a:t>
                </a:r>
                <a:r>
                  <a:rPr lang="zh-TW" altLang="en-US" sz="2400" dirty="0">
                    <a:latin typeface="標楷體" panose="03000509000000000000" pitchFamily="65" charset="-120"/>
                    <a:ea typeface="標楷體" panose="03000509000000000000" pitchFamily="65" charset="-120"/>
                  </a:rPr>
                  <a:t>個</a:t>
                </a:r>
                <a:r>
                  <a:rPr lang="en-US" altLang="zh-TW" sz="2400" dirty="0">
                    <a:latin typeface="標楷體" panose="03000509000000000000" pitchFamily="65" charset="-120"/>
                    <a:ea typeface="標楷體" panose="03000509000000000000" pitchFamily="65" charset="-120"/>
                  </a:rPr>
                  <a:t>3</a:t>
                </a:r>
                <a:r>
                  <a:rPr lang="zh-TW" altLang="en-US" sz="2400" dirty="0">
                    <a:latin typeface="標楷體" panose="03000509000000000000" pitchFamily="65" charset="-120"/>
                    <a:ea typeface="標楷體" panose="03000509000000000000" pitchFamily="65" charset="-120"/>
                  </a:rPr>
                  <a:t>公尺的，</a:t>
                </a:r>
                <a:r>
                  <a:rPr lang="en-US" altLang="zh-TW" sz="2400" dirty="0">
                    <a:latin typeface="標楷體" panose="03000509000000000000" pitchFamily="65" charset="-120"/>
                    <a:ea typeface="標楷體" panose="03000509000000000000" pitchFamily="65" charset="-120"/>
                  </a:rPr>
                  <a:t>20</a:t>
                </a:r>
                <a:r>
                  <a:rPr lang="zh-TW" altLang="en-US" sz="2400" dirty="0">
                    <a:latin typeface="標楷體" panose="03000509000000000000" pitchFamily="65" charset="-120"/>
                    <a:ea typeface="標楷體" panose="03000509000000000000" pitchFamily="65" charset="-120"/>
                  </a:rPr>
                  <a:t>個</a:t>
                </a:r>
                <a:r>
                  <a:rPr lang="en-US" altLang="zh-TW" sz="2400" dirty="0">
                    <a:latin typeface="標楷體" panose="03000509000000000000" pitchFamily="65" charset="-120"/>
                    <a:ea typeface="標楷體" panose="03000509000000000000" pitchFamily="65" charset="-120"/>
                  </a:rPr>
                  <a:t>5</a:t>
                </a:r>
                <a:r>
                  <a:rPr lang="zh-TW" altLang="en-US" sz="2400" dirty="0">
                    <a:latin typeface="標楷體" panose="03000509000000000000" pitchFamily="65" charset="-120"/>
                    <a:ea typeface="標楷體" panose="03000509000000000000" pitchFamily="65" charset="-120"/>
                  </a:rPr>
                  <a:t>公尺的，</a:t>
                </a:r>
                <a:r>
                  <a:rPr lang="en-US" altLang="zh-TW" sz="2400" dirty="0">
                    <a:latin typeface="標楷體" panose="03000509000000000000" pitchFamily="65" charset="-120"/>
                    <a:ea typeface="標楷體" panose="03000509000000000000" pitchFamily="65" charset="-120"/>
                  </a:rPr>
                  <a:t>18</a:t>
                </a:r>
                <a:r>
                  <a:rPr lang="zh-TW" altLang="en-US" sz="2400" dirty="0">
                    <a:latin typeface="標楷體" panose="03000509000000000000" pitchFamily="65" charset="-120"/>
                    <a:ea typeface="標楷體" panose="03000509000000000000" pitchFamily="65" charset="-120"/>
                  </a:rPr>
                  <a:t>個</a:t>
                </a:r>
                <a:r>
                  <a:rPr lang="en-US" altLang="zh-TW" sz="2400" dirty="0">
                    <a:latin typeface="標楷體" panose="03000509000000000000" pitchFamily="65" charset="-120"/>
                    <a:ea typeface="標楷體" panose="03000509000000000000" pitchFamily="65" charset="-120"/>
                  </a:rPr>
                  <a:t>7</a:t>
                </a:r>
                <a:r>
                  <a:rPr lang="zh-TW" altLang="en-US" sz="2400" dirty="0">
                    <a:latin typeface="標楷體" panose="03000509000000000000" pitchFamily="65" charset="-120"/>
                    <a:ea typeface="標楷體" panose="03000509000000000000" pitchFamily="65" charset="-120"/>
                  </a:rPr>
                  <a:t>公尺長的紙捲，怎樣的切割才能浪費的最少</a:t>
                </a:r>
                <a:r>
                  <a:rPr lang="en-US" altLang="zh-TW" sz="2400" dirty="0">
                    <a:latin typeface="標楷體" panose="03000509000000000000" pitchFamily="65" charset="-120"/>
                    <a:ea typeface="標楷體" panose="03000509000000000000" pitchFamily="65" charset="-120"/>
                  </a:rPr>
                  <a:t>?</a:t>
                </a:r>
              </a:p>
              <a:p>
                <a:endParaRPr lang="en-US" altLang="zh-TW" dirty="0"/>
              </a:p>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𝑎</m:t>
                        </m:r>
                      </m:e>
                      <m:sub>
                        <m:r>
                          <a:rPr lang="en-US" altLang="zh-TW" sz="2800" b="0" i="1" smtClean="0">
                            <a:latin typeface="Cambria Math" panose="02040503050406030204" pitchFamily="18" charset="0"/>
                          </a:rPr>
                          <m:t>𝑖𝑗</m:t>
                        </m:r>
                      </m:sub>
                    </m:sSub>
                  </m:oMath>
                </a14:m>
                <a:r>
                  <a:rPr lang="en-US" altLang="zh-TW" sz="2800" dirty="0">
                    <a:latin typeface="Times New Roman" panose="02020603050405020304" pitchFamily="18" charset="0"/>
                    <a:cs typeface="Times New Roman" panose="02020603050405020304" pitchFamily="18" charset="0"/>
                  </a:rPr>
                  <a:t> : </a:t>
                </a:r>
                <a:r>
                  <a:rPr lang="zh-TW" altLang="en-US" sz="2800" dirty="0">
                    <a:latin typeface="Times New Roman" panose="02020603050405020304" pitchFamily="18" charset="0"/>
                    <a:cs typeface="Times New Roman" panose="02020603050405020304" pitchFamily="18" charset="0"/>
                  </a:rPr>
                  <a:t>第</a:t>
                </a:r>
                <a:r>
                  <a:rPr lang="en-US" altLang="zh-TW" sz="2800" dirty="0">
                    <a:latin typeface="Times New Roman" panose="02020603050405020304" pitchFamily="18" charset="0"/>
                    <a:cs typeface="Times New Roman" panose="02020603050405020304" pitchFamily="18" charset="0"/>
                  </a:rPr>
                  <a:t>j</a:t>
                </a:r>
                <a:r>
                  <a:rPr lang="zh-TW" altLang="en-US" sz="2800" dirty="0">
                    <a:latin typeface="Times New Roman" panose="02020603050405020304" pitchFamily="18" charset="0"/>
                    <a:cs typeface="Times New Roman" panose="02020603050405020304" pitchFamily="18" charset="0"/>
                  </a:rPr>
                  <a:t>種裡類別</a:t>
                </a:r>
                <a:r>
                  <a:rPr lang="en-US" altLang="zh-TW" sz="2800" dirty="0" err="1">
                    <a:latin typeface="Times New Roman" panose="02020603050405020304" pitchFamily="18" charset="0"/>
                    <a:cs typeface="Times New Roman" panose="02020603050405020304" pitchFamily="18" charset="0"/>
                  </a:rPr>
                  <a:t>i</a:t>
                </a:r>
                <a:r>
                  <a:rPr lang="zh-TW" altLang="en-US" sz="2800" dirty="0">
                    <a:latin typeface="Times New Roman" panose="02020603050405020304" pitchFamily="18" charset="0"/>
                    <a:cs typeface="Times New Roman" panose="02020603050405020304" pitchFamily="18" charset="0"/>
                  </a:rPr>
                  <a:t>的個數</a:t>
                </a:r>
                <a:endParaRPr lang="en-US" altLang="zh-TW" sz="2800" dirty="0">
                  <a:latin typeface="Times New Roman" panose="02020603050405020304" pitchFamily="18" charset="0"/>
                  <a:cs typeface="Times New Roman" panose="02020603050405020304" pitchFamily="18" charset="0"/>
                </a:endParaRPr>
              </a:p>
              <a:p>
                <a:endParaRPr lang="en-US" altLang="zh-TW" sz="28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𝑦</m:t>
                        </m:r>
                      </m:e>
                      <m:sub>
                        <m:r>
                          <a:rPr lang="en-US" altLang="zh-TW" sz="2800" b="0" i="1" smtClean="0">
                            <a:latin typeface="Cambria Math" panose="02040503050406030204" pitchFamily="18" charset="0"/>
                          </a:rPr>
                          <m:t>𝑗</m:t>
                        </m:r>
                      </m:sub>
                    </m:sSub>
                    <m:r>
                      <a:rPr lang="zh-TW" altLang="en-US" sz="2800" i="1">
                        <a:latin typeface="Cambria Math" panose="02040503050406030204" pitchFamily="18" charset="0"/>
                      </a:rPr>
                      <m:t> </m:t>
                    </m:r>
                  </m:oMath>
                </a14:m>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第</a:t>
                </a:r>
                <a:r>
                  <a:rPr lang="en-US" altLang="zh-TW" sz="2800" dirty="0">
                    <a:latin typeface="Times New Roman" panose="02020603050405020304" pitchFamily="18" charset="0"/>
                    <a:cs typeface="Times New Roman" panose="02020603050405020304" pitchFamily="18" charset="0"/>
                  </a:rPr>
                  <a:t>j</a:t>
                </a:r>
                <a:r>
                  <a:rPr lang="zh-TW" altLang="en-US" sz="2800" dirty="0">
                    <a:latin typeface="Times New Roman" panose="02020603050405020304" pitchFamily="18" charset="0"/>
                    <a:cs typeface="Times New Roman" panose="02020603050405020304" pitchFamily="18" charset="0"/>
                  </a:rPr>
                  <a:t>種方案的選擇個數</a:t>
                </a:r>
              </a:p>
              <a:p>
                <a:endParaRPr lang="zh-TW" altLang="en-US" dirty="0"/>
              </a:p>
            </p:txBody>
          </p:sp>
        </mc:Choice>
        <mc:Fallback xmlns="">
          <p:sp>
            <p:nvSpPr>
              <p:cNvPr id="6" name="文字方塊 5">
                <a:extLst>
                  <a:ext uri="{FF2B5EF4-FFF2-40B4-BE49-F238E27FC236}">
                    <a16:creationId xmlns:a16="http://schemas.microsoft.com/office/drawing/2014/main" id="{FEEC2EEB-656E-4269-ADFB-5D0C26C17255}"/>
                  </a:ext>
                </a:extLst>
              </p:cNvPr>
              <p:cNvSpPr txBox="1">
                <a:spLocks noRot="1" noChangeAspect="1" noMove="1" noResize="1" noEditPoints="1" noAdjustHandles="1" noChangeArrowheads="1" noChangeShapeType="1" noTextEdit="1"/>
              </p:cNvSpPr>
              <p:nvPr/>
            </p:nvSpPr>
            <p:spPr>
              <a:xfrm>
                <a:off x="530352" y="2055483"/>
                <a:ext cx="7863840" cy="2747034"/>
              </a:xfrm>
              <a:prstGeom prst="rect">
                <a:avLst/>
              </a:prstGeom>
              <a:blipFill>
                <a:blip r:embed="rId4"/>
                <a:stretch>
                  <a:fillRect l="-1163" t="-1774" r="-388"/>
                </a:stretch>
              </a:blipFill>
            </p:spPr>
            <p:txBody>
              <a:bodyPr/>
              <a:lstStyle/>
              <a:p>
                <a:r>
                  <a:rPr lang="zh-TW" altLang="en-US">
                    <a:noFill/>
                  </a:rPr>
                  <a:t> </a:t>
                </a:r>
              </a:p>
            </p:txBody>
          </p:sp>
        </mc:Fallback>
      </mc:AlternateContent>
      <p:pic>
        <p:nvPicPr>
          <p:cNvPr id="12" name="圖片 11">
            <a:extLst>
              <a:ext uri="{FF2B5EF4-FFF2-40B4-BE49-F238E27FC236}">
                <a16:creationId xmlns:a16="http://schemas.microsoft.com/office/drawing/2014/main" id="{562E4F9C-4311-4CC3-BBBB-7C63E4DFD92A}"/>
              </a:ext>
            </a:extLst>
          </p:cNvPr>
          <p:cNvPicPr>
            <a:picLocks noChangeAspect="1"/>
          </p:cNvPicPr>
          <p:nvPr/>
        </p:nvPicPr>
        <p:blipFill>
          <a:blip r:embed="rId5"/>
          <a:stretch>
            <a:fillRect/>
          </a:stretch>
        </p:blipFill>
        <p:spPr>
          <a:xfrm>
            <a:off x="6626352" y="3614738"/>
            <a:ext cx="4829175" cy="2981325"/>
          </a:xfrm>
          <a:prstGeom prst="rect">
            <a:avLst/>
          </a:prstGeom>
        </p:spPr>
      </p:pic>
    </p:spTree>
    <p:extLst>
      <p:ext uri="{BB962C8B-B14F-4D97-AF65-F5344CB8AC3E}">
        <p14:creationId xmlns:p14="http://schemas.microsoft.com/office/powerpoint/2010/main" val="362980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74B45D-4AF3-43D5-B59E-E888589D0316}"/>
              </a:ext>
            </a:extLst>
          </p:cNvPr>
          <p:cNvSpPr>
            <a:spLocks noGrp="1"/>
          </p:cNvSpPr>
          <p:nvPr>
            <p:ph type="title"/>
          </p:nvPr>
        </p:nvSpPr>
        <p:spPr/>
        <p:txBody>
          <a:bodyPr/>
          <a:lstStyle/>
          <a:p>
            <a:r>
              <a:rPr lang="en-US" altLang="zh-TW" dirty="0"/>
              <a:t>Iteration 1</a:t>
            </a:r>
            <a:endParaRPr lang="zh-TW" altLang="en-US" dirty="0"/>
          </a:p>
        </p:txBody>
      </p:sp>
      <p:pic>
        <p:nvPicPr>
          <p:cNvPr id="5" name="圖片 4">
            <a:extLst>
              <a:ext uri="{FF2B5EF4-FFF2-40B4-BE49-F238E27FC236}">
                <a16:creationId xmlns:a16="http://schemas.microsoft.com/office/drawing/2014/main" id="{C3F34307-5512-4695-87EF-FA1D5C001E25}"/>
              </a:ext>
            </a:extLst>
          </p:cNvPr>
          <p:cNvPicPr>
            <a:picLocks noChangeAspect="1"/>
          </p:cNvPicPr>
          <p:nvPr/>
        </p:nvPicPr>
        <p:blipFill>
          <a:blip r:embed="rId2"/>
          <a:stretch>
            <a:fillRect/>
          </a:stretch>
        </p:blipFill>
        <p:spPr>
          <a:xfrm>
            <a:off x="577321" y="1558044"/>
            <a:ext cx="3009900" cy="523875"/>
          </a:xfrm>
          <a:prstGeom prst="rect">
            <a:avLst/>
          </a:prstGeom>
        </p:spPr>
      </p:pic>
      <p:pic>
        <p:nvPicPr>
          <p:cNvPr id="7" name="圖片 6">
            <a:extLst>
              <a:ext uri="{FF2B5EF4-FFF2-40B4-BE49-F238E27FC236}">
                <a16:creationId xmlns:a16="http://schemas.microsoft.com/office/drawing/2014/main" id="{56D6FC37-7BA4-4B90-829F-9439917BE9A6}"/>
              </a:ext>
            </a:extLst>
          </p:cNvPr>
          <p:cNvPicPr>
            <a:picLocks noChangeAspect="1"/>
          </p:cNvPicPr>
          <p:nvPr/>
        </p:nvPicPr>
        <p:blipFill>
          <a:blip r:embed="rId3"/>
          <a:stretch>
            <a:fillRect/>
          </a:stretch>
        </p:blipFill>
        <p:spPr>
          <a:xfrm>
            <a:off x="577321" y="2403849"/>
            <a:ext cx="6905625" cy="600075"/>
          </a:xfrm>
          <a:prstGeom prst="rect">
            <a:avLst/>
          </a:prstGeom>
        </p:spPr>
      </p:pic>
      <p:pic>
        <p:nvPicPr>
          <p:cNvPr id="10" name="圖片 9">
            <a:extLst>
              <a:ext uri="{FF2B5EF4-FFF2-40B4-BE49-F238E27FC236}">
                <a16:creationId xmlns:a16="http://schemas.microsoft.com/office/drawing/2014/main" id="{42576BF8-FB4D-4F04-8549-7EA17E69D08B}"/>
              </a:ext>
            </a:extLst>
          </p:cNvPr>
          <p:cNvPicPr>
            <a:picLocks noChangeAspect="1"/>
          </p:cNvPicPr>
          <p:nvPr/>
        </p:nvPicPr>
        <p:blipFill>
          <a:blip r:embed="rId4"/>
          <a:stretch>
            <a:fillRect/>
          </a:stretch>
        </p:blipFill>
        <p:spPr>
          <a:xfrm>
            <a:off x="747889" y="3881119"/>
            <a:ext cx="8735615" cy="2085628"/>
          </a:xfrm>
          <a:prstGeom prst="rect">
            <a:avLst/>
          </a:prstGeom>
        </p:spPr>
      </p:pic>
      <p:pic>
        <p:nvPicPr>
          <p:cNvPr id="12" name="圖片 11">
            <a:extLst>
              <a:ext uri="{FF2B5EF4-FFF2-40B4-BE49-F238E27FC236}">
                <a16:creationId xmlns:a16="http://schemas.microsoft.com/office/drawing/2014/main" id="{62244F14-A913-4FE0-A1A5-5B5C135E28A2}"/>
              </a:ext>
            </a:extLst>
          </p:cNvPr>
          <p:cNvPicPr>
            <a:picLocks noChangeAspect="1"/>
          </p:cNvPicPr>
          <p:nvPr/>
        </p:nvPicPr>
        <p:blipFill>
          <a:blip r:embed="rId5"/>
          <a:stretch>
            <a:fillRect/>
          </a:stretch>
        </p:blipFill>
        <p:spPr>
          <a:xfrm>
            <a:off x="838200" y="5995510"/>
            <a:ext cx="3971925" cy="523875"/>
          </a:xfrm>
          <a:prstGeom prst="rect">
            <a:avLst/>
          </a:prstGeom>
        </p:spPr>
      </p:pic>
      <p:pic>
        <p:nvPicPr>
          <p:cNvPr id="13" name="圖片 12">
            <a:extLst>
              <a:ext uri="{FF2B5EF4-FFF2-40B4-BE49-F238E27FC236}">
                <a16:creationId xmlns:a16="http://schemas.microsoft.com/office/drawing/2014/main" id="{272E07A0-1DF4-49FB-82BE-9A4A55BA5F49}"/>
              </a:ext>
            </a:extLst>
          </p:cNvPr>
          <p:cNvPicPr>
            <a:picLocks noChangeAspect="1"/>
          </p:cNvPicPr>
          <p:nvPr/>
        </p:nvPicPr>
        <p:blipFill>
          <a:blip r:embed="rId6"/>
          <a:stretch>
            <a:fillRect/>
          </a:stretch>
        </p:blipFill>
        <p:spPr>
          <a:xfrm>
            <a:off x="8161867" y="177007"/>
            <a:ext cx="3931002" cy="2690913"/>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C0B5BEDB-1974-4249-8026-88D03438A6D1}"/>
                  </a:ext>
                </a:extLst>
              </p:cNvPr>
              <p:cNvSpPr txBox="1"/>
              <p:nvPr/>
            </p:nvSpPr>
            <p:spPr>
              <a:xfrm>
                <a:off x="8278817" y="3134273"/>
                <a:ext cx="3697101" cy="465577"/>
              </a:xfrm>
              <a:prstGeom prst="rect">
                <a:avLst/>
              </a:prstGeom>
              <a:noFill/>
            </p:spPr>
            <p:txBody>
              <a:bodyPr wrap="square" lIns="0" tIns="0" rIns="0" bIns="0" rtlCol="0">
                <a:spAutoFit/>
              </a:bodyPr>
              <a:lstStyle/>
              <a:p>
                <a14:m>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3</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1</m:t>
                        </m:r>
                        <m:r>
                          <a:rPr lang="en-US" altLang="zh-TW" sz="2800" b="0" i="1" smtClean="0">
                            <a:latin typeface="Cambria Math" panose="02040503050406030204" pitchFamily="18" charset="0"/>
                            <a:ea typeface="Cambria Math" panose="02040503050406030204" pitchFamily="18" charset="0"/>
                          </a:rPr>
                          <m:t>𝑗</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6</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2</m:t>
                        </m:r>
                        <m:r>
                          <a:rPr lang="en-US" altLang="zh-TW" sz="2800" b="0" i="1" smtClean="0">
                            <a:latin typeface="Cambria Math" panose="02040503050406030204" pitchFamily="18" charset="0"/>
                            <a:ea typeface="Cambria Math" panose="02040503050406030204" pitchFamily="18" charset="0"/>
                          </a:rPr>
                          <m:t>𝑗</m:t>
                        </m:r>
                      </m:sub>
                    </m:sSub>
                    <m:r>
                      <a:rPr lang="en-US" altLang="zh-TW" sz="2800" i="1" smtClean="0">
                        <a:latin typeface="Cambria Math" panose="02040503050406030204" pitchFamily="18" charset="0"/>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7</m:t>
                        </m:r>
                      </m:e>
                      <m:sub>
                        <m:r>
                          <a:rPr lang="en-US" altLang="zh-TW" sz="2800" b="0" i="1" smtClean="0">
                            <a:latin typeface="Cambria Math" panose="02040503050406030204" pitchFamily="18" charset="0"/>
                            <a:ea typeface="Cambria Math" panose="02040503050406030204" pitchFamily="18" charset="0"/>
                          </a:rPr>
                          <m:t>𝑎</m:t>
                        </m:r>
                        <m:r>
                          <a:rPr lang="en-US" altLang="zh-TW" sz="2800" b="0" i="1" smtClean="0">
                            <a:latin typeface="Cambria Math" panose="02040503050406030204" pitchFamily="18" charset="0"/>
                            <a:ea typeface="Cambria Math" panose="02040503050406030204" pitchFamily="18" charset="0"/>
                          </a:rPr>
                          <m:t>3</m:t>
                        </m:r>
                        <m:r>
                          <a:rPr lang="en-US" altLang="zh-TW" sz="2800" b="0" i="1" smtClean="0">
                            <a:latin typeface="Cambria Math" panose="02040503050406030204" pitchFamily="18" charset="0"/>
                            <a:ea typeface="Cambria Math" panose="02040503050406030204" pitchFamily="18" charset="0"/>
                          </a:rPr>
                          <m:t>𝑗</m:t>
                        </m:r>
                      </m:sub>
                    </m:sSub>
                    <m:r>
                      <a:rPr lang="en-US" altLang="zh-TW" sz="2800" i="1" smtClean="0">
                        <a:latin typeface="Cambria Math" panose="02040503050406030204" pitchFamily="18" charset="0"/>
                        <a:ea typeface="Cambria Math" panose="02040503050406030204" pitchFamily="18" charset="0"/>
                      </a:rPr>
                      <m:t>&lt;</m:t>
                    </m:r>
                    <m:r>
                      <a:rPr lang="en-US" altLang="zh-TW" sz="2800" i="1">
                        <a:latin typeface="Cambria Math" panose="02040503050406030204" pitchFamily="18" charset="0"/>
                        <a:ea typeface="Cambria Math" panose="02040503050406030204" pitchFamily="18" charset="0"/>
                      </a:rPr>
                      <m:t>1</m:t>
                    </m:r>
                  </m:oMath>
                </a14:m>
                <a:r>
                  <a:rPr lang="en-US" altLang="zh-TW" sz="2800" dirty="0"/>
                  <a:t>6</a:t>
                </a:r>
                <a:endParaRPr lang="zh-TW" altLang="en-US" sz="2800" dirty="0"/>
              </a:p>
            </p:txBody>
          </p:sp>
        </mc:Choice>
        <mc:Fallback xmlns="">
          <p:sp>
            <p:nvSpPr>
              <p:cNvPr id="9" name="文字方塊 8">
                <a:extLst>
                  <a:ext uri="{FF2B5EF4-FFF2-40B4-BE49-F238E27FC236}">
                    <a16:creationId xmlns:a16="http://schemas.microsoft.com/office/drawing/2014/main" id="{C0B5BEDB-1974-4249-8026-88D03438A6D1}"/>
                  </a:ext>
                </a:extLst>
              </p:cNvPr>
              <p:cNvSpPr txBox="1">
                <a:spLocks noRot="1" noChangeAspect="1" noMove="1" noResize="1" noEditPoints="1" noAdjustHandles="1" noChangeArrowheads="1" noChangeShapeType="1" noTextEdit="1"/>
              </p:cNvSpPr>
              <p:nvPr/>
            </p:nvSpPr>
            <p:spPr>
              <a:xfrm>
                <a:off x="8278817" y="3134273"/>
                <a:ext cx="3697101" cy="465577"/>
              </a:xfrm>
              <a:prstGeom prst="rect">
                <a:avLst/>
              </a:prstGeom>
              <a:blipFill>
                <a:blip r:embed="rId7"/>
                <a:stretch>
                  <a:fillRect t="-22078" r="-4613" b="-389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5735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3FBE8A-9430-4122-8B9D-D812F73F459C}"/>
              </a:ext>
            </a:extLst>
          </p:cNvPr>
          <p:cNvSpPr>
            <a:spLocks noGrp="1"/>
          </p:cNvSpPr>
          <p:nvPr>
            <p:ph type="title"/>
          </p:nvPr>
        </p:nvSpPr>
        <p:spPr/>
        <p:txBody>
          <a:bodyPr/>
          <a:lstStyle/>
          <a:p>
            <a:r>
              <a:rPr lang="en-US" altLang="zh-TW" dirty="0"/>
              <a:t>Iteration 2</a:t>
            </a:r>
            <a:endParaRPr lang="zh-TW" altLang="en-US" dirty="0"/>
          </a:p>
        </p:txBody>
      </p:sp>
      <p:sp>
        <p:nvSpPr>
          <p:cNvPr id="3" name="內容版面配置區 2">
            <a:extLst>
              <a:ext uri="{FF2B5EF4-FFF2-40B4-BE49-F238E27FC236}">
                <a16:creationId xmlns:a16="http://schemas.microsoft.com/office/drawing/2014/main" id="{024784EF-1124-477B-B9EA-2DE9516CF717}"/>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97141C9-8F70-42B7-80D3-6BC1C12C0C9B}"/>
              </a:ext>
            </a:extLst>
          </p:cNvPr>
          <p:cNvPicPr>
            <a:picLocks noChangeAspect="1"/>
          </p:cNvPicPr>
          <p:nvPr/>
        </p:nvPicPr>
        <p:blipFill>
          <a:blip r:embed="rId2"/>
          <a:stretch>
            <a:fillRect/>
          </a:stretch>
        </p:blipFill>
        <p:spPr>
          <a:xfrm>
            <a:off x="7392536" y="259644"/>
            <a:ext cx="4486726" cy="2411149"/>
          </a:xfrm>
          <a:prstGeom prst="rect">
            <a:avLst/>
          </a:prstGeom>
        </p:spPr>
      </p:pic>
      <p:pic>
        <p:nvPicPr>
          <p:cNvPr id="7" name="圖片 6">
            <a:extLst>
              <a:ext uri="{FF2B5EF4-FFF2-40B4-BE49-F238E27FC236}">
                <a16:creationId xmlns:a16="http://schemas.microsoft.com/office/drawing/2014/main" id="{4B7BDB83-3588-43A5-8A79-F9EA07BC1986}"/>
              </a:ext>
            </a:extLst>
          </p:cNvPr>
          <p:cNvPicPr>
            <a:picLocks noChangeAspect="1"/>
          </p:cNvPicPr>
          <p:nvPr/>
        </p:nvPicPr>
        <p:blipFill>
          <a:blip r:embed="rId3"/>
          <a:stretch>
            <a:fillRect/>
          </a:stretch>
        </p:blipFill>
        <p:spPr>
          <a:xfrm>
            <a:off x="838200" y="1777647"/>
            <a:ext cx="3409950" cy="590550"/>
          </a:xfrm>
          <a:prstGeom prst="rect">
            <a:avLst/>
          </a:prstGeom>
        </p:spPr>
      </p:pic>
      <p:pic>
        <p:nvPicPr>
          <p:cNvPr id="9" name="圖片 8">
            <a:extLst>
              <a:ext uri="{FF2B5EF4-FFF2-40B4-BE49-F238E27FC236}">
                <a16:creationId xmlns:a16="http://schemas.microsoft.com/office/drawing/2014/main" id="{3FC2D027-947E-437C-A650-F1E7432D46D8}"/>
              </a:ext>
            </a:extLst>
          </p:cNvPr>
          <p:cNvPicPr>
            <a:picLocks noChangeAspect="1"/>
          </p:cNvPicPr>
          <p:nvPr/>
        </p:nvPicPr>
        <p:blipFill>
          <a:blip r:embed="rId4"/>
          <a:stretch>
            <a:fillRect/>
          </a:stretch>
        </p:blipFill>
        <p:spPr>
          <a:xfrm>
            <a:off x="758825" y="2776274"/>
            <a:ext cx="7829550" cy="561975"/>
          </a:xfrm>
          <a:prstGeom prst="rect">
            <a:avLst/>
          </a:prstGeom>
        </p:spPr>
      </p:pic>
      <p:pic>
        <p:nvPicPr>
          <p:cNvPr id="13" name="圖片 12">
            <a:extLst>
              <a:ext uri="{FF2B5EF4-FFF2-40B4-BE49-F238E27FC236}">
                <a16:creationId xmlns:a16="http://schemas.microsoft.com/office/drawing/2014/main" id="{06C1B503-C5BD-4234-A27A-C7CEA254E688}"/>
              </a:ext>
            </a:extLst>
          </p:cNvPr>
          <p:cNvPicPr>
            <a:picLocks noChangeAspect="1"/>
          </p:cNvPicPr>
          <p:nvPr/>
        </p:nvPicPr>
        <p:blipFill>
          <a:blip r:embed="rId5"/>
          <a:stretch>
            <a:fillRect/>
          </a:stretch>
        </p:blipFill>
        <p:spPr>
          <a:xfrm>
            <a:off x="618243" y="3473186"/>
            <a:ext cx="8810625" cy="2076450"/>
          </a:xfrm>
          <a:prstGeom prst="rect">
            <a:avLst/>
          </a:prstGeom>
        </p:spPr>
      </p:pic>
      <p:pic>
        <p:nvPicPr>
          <p:cNvPr id="15" name="圖片 14">
            <a:extLst>
              <a:ext uri="{FF2B5EF4-FFF2-40B4-BE49-F238E27FC236}">
                <a16:creationId xmlns:a16="http://schemas.microsoft.com/office/drawing/2014/main" id="{6FB3EA54-5560-4691-9E8B-9B7E2D2F997C}"/>
              </a:ext>
            </a:extLst>
          </p:cNvPr>
          <p:cNvPicPr>
            <a:picLocks noChangeAspect="1"/>
          </p:cNvPicPr>
          <p:nvPr/>
        </p:nvPicPr>
        <p:blipFill>
          <a:blip r:embed="rId6"/>
          <a:stretch>
            <a:fillRect/>
          </a:stretch>
        </p:blipFill>
        <p:spPr>
          <a:xfrm>
            <a:off x="758825" y="5975528"/>
            <a:ext cx="4610100" cy="561975"/>
          </a:xfrm>
          <a:prstGeom prst="rect">
            <a:avLst/>
          </a:prstGeom>
        </p:spPr>
      </p:pic>
    </p:spTree>
    <p:extLst>
      <p:ext uri="{BB962C8B-B14F-4D97-AF65-F5344CB8AC3E}">
        <p14:creationId xmlns:p14="http://schemas.microsoft.com/office/powerpoint/2010/main" val="2212159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61A126-2B0D-4362-BC91-019C47B5ACD2}"/>
              </a:ext>
            </a:extLst>
          </p:cNvPr>
          <p:cNvSpPr>
            <a:spLocks noGrp="1"/>
          </p:cNvSpPr>
          <p:nvPr>
            <p:ph type="title"/>
          </p:nvPr>
        </p:nvSpPr>
        <p:spPr/>
        <p:txBody>
          <a:bodyPr/>
          <a:lstStyle/>
          <a:p>
            <a:r>
              <a:rPr lang="en-US" altLang="zh-TW" dirty="0"/>
              <a:t>Iteration 3</a:t>
            </a:r>
            <a:endParaRPr lang="zh-TW" altLang="en-US" dirty="0"/>
          </a:p>
        </p:txBody>
      </p:sp>
      <p:sp>
        <p:nvSpPr>
          <p:cNvPr id="3" name="內容版面配置區 2">
            <a:extLst>
              <a:ext uri="{FF2B5EF4-FFF2-40B4-BE49-F238E27FC236}">
                <a16:creationId xmlns:a16="http://schemas.microsoft.com/office/drawing/2014/main" id="{68168E5F-3EC7-48B7-95ED-3F3F180DB554}"/>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B0E8D64-8F18-4A0F-82A8-BAF95267C1DD}"/>
              </a:ext>
            </a:extLst>
          </p:cNvPr>
          <p:cNvPicPr>
            <a:picLocks noChangeAspect="1"/>
          </p:cNvPicPr>
          <p:nvPr/>
        </p:nvPicPr>
        <p:blipFill>
          <a:blip r:embed="rId2"/>
          <a:stretch>
            <a:fillRect/>
          </a:stretch>
        </p:blipFill>
        <p:spPr>
          <a:xfrm>
            <a:off x="7227005" y="365125"/>
            <a:ext cx="4686300" cy="2047875"/>
          </a:xfrm>
          <a:prstGeom prst="rect">
            <a:avLst/>
          </a:prstGeom>
        </p:spPr>
      </p:pic>
      <p:pic>
        <p:nvPicPr>
          <p:cNvPr id="7" name="圖片 6">
            <a:extLst>
              <a:ext uri="{FF2B5EF4-FFF2-40B4-BE49-F238E27FC236}">
                <a16:creationId xmlns:a16="http://schemas.microsoft.com/office/drawing/2014/main" id="{721BF1A6-5A9A-412E-822B-C3801E179DA6}"/>
              </a:ext>
            </a:extLst>
          </p:cNvPr>
          <p:cNvPicPr>
            <a:picLocks noChangeAspect="1"/>
          </p:cNvPicPr>
          <p:nvPr/>
        </p:nvPicPr>
        <p:blipFill>
          <a:blip r:embed="rId3"/>
          <a:stretch>
            <a:fillRect/>
          </a:stretch>
        </p:blipFill>
        <p:spPr>
          <a:xfrm>
            <a:off x="838200" y="1778000"/>
            <a:ext cx="3438525" cy="609600"/>
          </a:xfrm>
          <a:prstGeom prst="rect">
            <a:avLst/>
          </a:prstGeom>
        </p:spPr>
      </p:pic>
      <p:pic>
        <p:nvPicPr>
          <p:cNvPr id="9" name="圖片 8">
            <a:extLst>
              <a:ext uri="{FF2B5EF4-FFF2-40B4-BE49-F238E27FC236}">
                <a16:creationId xmlns:a16="http://schemas.microsoft.com/office/drawing/2014/main" id="{CDE28F3D-0564-40C4-802B-F409C7722BC5}"/>
              </a:ext>
            </a:extLst>
          </p:cNvPr>
          <p:cNvPicPr>
            <a:picLocks noChangeAspect="1"/>
          </p:cNvPicPr>
          <p:nvPr/>
        </p:nvPicPr>
        <p:blipFill>
          <a:blip r:embed="rId4"/>
          <a:stretch>
            <a:fillRect/>
          </a:stretch>
        </p:blipFill>
        <p:spPr>
          <a:xfrm>
            <a:off x="727251" y="2770982"/>
            <a:ext cx="7915275" cy="542925"/>
          </a:xfrm>
          <a:prstGeom prst="rect">
            <a:avLst/>
          </a:prstGeom>
        </p:spPr>
      </p:pic>
      <p:pic>
        <p:nvPicPr>
          <p:cNvPr id="11" name="圖片 10">
            <a:extLst>
              <a:ext uri="{FF2B5EF4-FFF2-40B4-BE49-F238E27FC236}">
                <a16:creationId xmlns:a16="http://schemas.microsoft.com/office/drawing/2014/main" id="{E92A13E1-7A4A-46E4-97DE-4645702F7581}"/>
              </a:ext>
            </a:extLst>
          </p:cNvPr>
          <p:cNvPicPr>
            <a:picLocks noChangeAspect="1"/>
          </p:cNvPicPr>
          <p:nvPr/>
        </p:nvPicPr>
        <p:blipFill>
          <a:blip r:embed="rId5"/>
          <a:stretch>
            <a:fillRect/>
          </a:stretch>
        </p:blipFill>
        <p:spPr>
          <a:xfrm>
            <a:off x="727251" y="3736755"/>
            <a:ext cx="8629650" cy="1914525"/>
          </a:xfrm>
          <a:prstGeom prst="rect">
            <a:avLst/>
          </a:prstGeom>
        </p:spPr>
      </p:pic>
      <p:pic>
        <p:nvPicPr>
          <p:cNvPr id="13" name="圖片 12">
            <a:extLst>
              <a:ext uri="{FF2B5EF4-FFF2-40B4-BE49-F238E27FC236}">
                <a16:creationId xmlns:a16="http://schemas.microsoft.com/office/drawing/2014/main" id="{A4B0B7E3-B3C4-4919-B5B5-27F3A1777D22}"/>
              </a:ext>
            </a:extLst>
          </p:cNvPr>
          <p:cNvPicPr>
            <a:picLocks noChangeAspect="1"/>
          </p:cNvPicPr>
          <p:nvPr/>
        </p:nvPicPr>
        <p:blipFill>
          <a:blip r:embed="rId6"/>
          <a:stretch>
            <a:fillRect/>
          </a:stretch>
        </p:blipFill>
        <p:spPr>
          <a:xfrm>
            <a:off x="923925" y="5944504"/>
            <a:ext cx="3352800" cy="495300"/>
          </a:xfrm>
          <a:prstGeom prst="rect">
            <a:avLst/>
          </a:prstGeom>
        </p:spPr>
      </p:pic>
    </p:spTree>
    <p:extLst>
      <p:ext uri="{BB962C8B-B14F-4D97-AF65-F5344CB8AC3E}">
        <p14:creationId xmlns:p14="http://schemas.microsoft.com/office/powerpoint/2010/main" val="3402366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9649D1-AD07-4A79-9360-BCF820294026}"/>
              </a:ext>
            </a:extLst>
          </p:cNvPr>
          <p:cNvSpPr>
            <a:spLocks noGrp="1"/>
          </p:cNvSpPr>
          <p:nvPr>
            <p:ph type="title"/>
          </p:nvPr>
        </p:nvSpPr>
        <p:spPr/>
        <p:txBody>
          <a:bodyPr/>
          <a:lstStyle/>
          <a:p>
            <a:r>
              <a:rPr lang="en-US" altLang="zh-TW" dirty="0"/>
              <a:t>Iteration 4</a:t>
            </a:r>
            <a:endParaRPr lang="zh-TW" altLang="en-US" dirty="0"/>
          </a:p>
        </p:txBody>
      </p:sp>
      <p:sp>
        <p:nvSpPr>
          <p:cNvPr id="3" name="內容版面配置區 2">
            <a:extLst>
              <a:ext uri="{FF2B5EF4-FFF2-40B4-BE49-F238E27FC236}">
                <a16:creationId xmlns:a16="http://schemas.microsoft.com/office/drawing/2014/main" id="{09ADB693-E4F9-4954-B64E-94020DA98266}"/>
              </a:ext>
            </a:extLst>
          </p:cNvPr>
          <p:cNvSpPr>
            <a:spLocks noGrp="1"/>
          </p:cNvSpPr>
          <p:nvPr>
            <p:ph idx="1"/>
          </p:nvPr>
        </p:nvSpPr>
        <p:spPr/>
        <p:txBody>
          <a:bodyPr/>
          <a:lstStyle/>
          <a:p>
            <a:r>
              <a:rPr lang="zh-TW" altLang="en-US" dirty="0"/>
              <a:t>方案一</a:t>
            </a:r>
            <a:r>
              <a:rPr lang="en-US" altLang="zh-TW" dirty="0"/>
              <a:t>:</a:t>
            </a:r>
            <a:r>
              <a:rPr lang="zh-TW" altLang="en-US" dirty="0"/>
              <a:t>切成</a:t>
            </a:r>
            <a:r>
              <a:rPr lang="en-US" altLang="zh-TW" dirty="0"/>
              <a:t>5</a:t>
            </a:r>
            <a:r>
              <a:rPr lang="zh-TW" altLang="en-US" dirty="0"/>
              <a:t>個</a:t>
            </a:r>
            <a:r>
              <a:rPr lang="en-US" altLang="zh-TW" dirty="0"/>
              <a:t>3</a:t>
            </a:r>
            <a:r>
              <a:rPr lang="zh-TW" altLang="en-US" dirty="0"/>
              <a:t>公尺</a:t>
            </a:r>
            <a:endParaRPr lang="en-US" altLang="zh-TW" dirty="0"/>
          </a:p>
          <a:p>
            <a:r>
              <a:rPr lang="zh-TW" altLang="en-US" dirty="0"/>
              <a:t>方案二</a:t>
            </a:r>
            <a:r>
              <a:rPr lang="en-US" altLang="zh-TW" dirty="0"/>
              <a:t>:</a:t>
            </a:r>
            <a:r>
              <a:rPr lang="zh-TW" altLang="en-US" dirty="0"/>
              <a:t>切成</a:t>
            </a:r>
            <a:r>
              <a:rPr lang="en-US" altLang="zh-TW" dirty="0"/>
              <a:t>2</a:t>
            </a:r>
            <a:r>
              <a:rPr lang="zh-TW" altLang="en-US" dirty="0"/>
              <a:t>個</a:t>
            </a:r>
            <a:r>
              <a:rPr lang="en-US" altLang="zh-TW" dirty="0"/>
              <a:t>6</a:t>
            </a:r>
            <a:r>
              <a:rPr lang="zh-TW" altLang="en-US" dirty="0"/>
              <a:t>公尺</a:t>
            </a:r>
            <a:endParaRPr lang="en-US" altLang="zh-TW" dirty="0"/>
          </a:p>
          <a:p>
            <a:r>
              <a:rPr lang="zh-TW" altLang="en-US" dirty="0"/>
              <a:t>方案三</a:t>
            </a:r>
            <a:r>
              <a:rPr lang="en-US" altLang="zh-TW" dirty="0"/>
              <a:t>:</a:t>
            </a:r>
            <a:r>
              <a:rPr lang="zh-TW" altLang="en-US" dirty="0"/>
              <a:t>切成</a:t>
            </a:r>
            <a:r>
              <a:rPr lang="en-US" altLang="zh-TW" dirty="0"/>
              <a:t>2</a:t>
            </a:r>
            <a:r>
              <a:rPr lang="zh-TW" altLang="en-US" dirty="0"/>
              <a:t>個</a:t>
            </a:r>
            <a:r>
              <a:rPr lang="en-US" altLang="zh-TW" dirty="0"/>
              <a:t>7</a:t>
            </a:r>
            <a:r>
              <a:rPr lang="zh-TW" altLang="en-US" dirty="0"/>
              <a:t>公尺</a:t>
            </a:r>
            <a:endParaRPr lang="en-US" altLang="zh-TW" dirty="0"/>
          </a:p>
          <a:p>
            <a:r>
              <a:rPr lang="en-US" altLang="zh-TW" sz="2800" dirty="0">
                <a:latin typeface="標楷體" panose="03000509000000000000" pitchFamily="65" charset="-120"/>
                <a:ea typeface="標楷體" panose="03000509000000000000" pitchFamily="65" charset="-120"/>
              </a:rPr>
              <a:t>25</a:t>
            </a:r>
            <a:r>
              <a:rPr lang="zh-TW" altLang="en-US" sz="2800" dirty="0">
                <a:latin typeface="標楷體" panose="03000509000000000000" pitchFamily="65" charset="-120"/>
                <a:ea typeface="標楷體" panose="03000509000000000000" pitchFamily="65" charset="-120"/>
              </a:rPr>
              <a:t>個</a:t>
            </a:r>
            <a:r>
              <a:rPr lang="en-US" altLang="zh-TW" sz="2800" dirty="0">
                <a:latin typeface="標楷體" panose="03000509000000000000" pitchFamily="65" charset="-120"/>
                <a:ea typeface="標楷體" panose="03000509000000000000" pitchFamily="65" charset="-120"/>
              </a:rPr>
              <a:t>3</a:t>
            </a:r>
            <a:r>
              <a:rPr lang="zh-TW" altLang="en-US" sz="2800" dirty="0">
                <a:latin typeface="標楷體" panose="03000509000000000000" pitchFamily="65" charset="-120"/>
                <a:ea typeface="標楷體" panose="03000509000000000000" pitchFamily="65" charset="-120"/>
              </a:rPr>
              <a:t>公尺的，</a:t>
            </a:r>
            <a:r>
              <a:rPr lang="en-US" altLang="zh-TW" sz="2800" dirty="0">
                <a:latin typeface="標楷體" panose="03000509000000000000" pitchFamily="65" charset="-120"/>
                <a:ea typeface="標楷體" panose="03000509000000000000" pitchFamily="65" charset="-120"/>
              </a:rPr>
              <a:t>20</a:t>
            </a:r>
            <a:r>
              <a:rPr lang="zh-TW" altLang="en-US" sz="2800" dirty="0">
                <a:latin typeface="標楷體" panose="03000509000000000000" pitchFamily="65" charset="-120"/>
                <a:ea typeface="標楷體" panose="03000509000000000000" pitchFamily="65" charset="-120"/>
              </a:rPr>
              <a:t>個</a:t>
            </a:r>
            <a:r>
              <a:rPr lang="en-US" altLang="zh-TW" sz="2800" dirty="0">
                <a:latin typeface="標楷體" panose="03000509000000000000" pitchFamily="65" charset="-120"/>
                <a:ea typeface="標楷體" panose="03000509000000000000" pitchFamily="65" charset="-120"/>
              </a:rPr>
              <a:t>5</a:t>
            </a:r>
            <a:r>
              <a:rPr lang="zh-TW" altLang="en-US" sz="2800" dirty="0">
                <a:latin typeface="標楷體" panose="03000509000000000000" pitchFamily="65" charset="-120"/>
                <a:ea typeface="標楷體" panose="03000509000000000000" pitchFamily="65" charset="-120"/>
              </a:rPr>
              <a:t>公尺的，</a:t>
            </a:r>
            <a:r>
              <a:rPr lang="en-US" altLang="zh-TW" sz="2800" dirty="0">
                <a:latin typeface="標楷體" panose="03000509000000000000" pitchFamily="65" charset="-120"/>
                <a:ea typeface="標楷體" panose="03000509000000000000" pitchFamily="65" charset="-120"/>
              </a:rPr>
              <a:t>18</a:t>
            </a:r>
            <a:r>
              <a:rPr lang="zh-TW" altLang="en-US" sz="2800" dirty="0">
                <a:latin typeface="標楷體" panose="03000509000000000000" pitchFamily="65" charset="-120"/>
                <a:ea typeface="標楷體" panose="03000509000000000000" pitchFamily="65" charset="-120"/>
              </a:rPr>
              <a:t>個</a:t>
            </a:r>
            <a:r>
              <a:rPr lang="en-US" altLang="zh-TW" sz="2800" dirty="0">
                <a:latin typeface="標楷體" panose="03000509000000000000" pitchFamily="65" charset="-120"/>
                <a:ea typeface="標楷體" panose="03000509000000000000" pitchFamily="65" charset="-120"/>
              </a:rPr>
              <a:t>7</a:t>
            </a:r>
            <a:r>
              <a:rPr lang="zh-TW" altLang="en-US" sz="2800" dirty="0">
                <a:latin typeface="標楷體" panose="03000509000000000000" pitchFamily="65" charset="-120"/>
                <a:ea typeface="標楷體" panose="03000509000000000000" pitchFamily="65" charset="-120"/>
              </a:rPr>
              <a:t>公尺長的紙捲</a:t>
            </a:r>
            <a:endParaRPr lang="en-US" altLang="zh-TW" dirty="0"/>
          </a:p>
          <a:p>
            <a:endParaRPr lang="en-US" altLang="zh-TW" dirty="0"/>
          </a:p>
          <a:p>
            <a:endParaRPr lang="en-US" altLang="zh-TW" dirty="0"/>
          </a:p>
          <a:p>
            <a:endParaRPr lang="en-US" altLang="zh-TW" dirty="0"/>
          </a:p>
          <a:p>
            <a:endParaRPr lang="zh-TW" altLang="en-US" dirty="0"/>
          </a:p>
        </p:txBody>
      </p:sp>
      <p:pic>
        <p:nvPicPr>
          <p:cNvPr id="5" name="圖片 4">
            <a:extLst>
              <a:ext uri="{FF2B5EF4-FFF2-40B4-BE49-F238E27FC236}">
                <a16:creationId xmlns:a16="http://schemas.microsoft.com/office/drawing/2014/main" id="{14176979-8D07-45EF-9FC9-379FFAFFEA1C}"/>
              </a:ext>
            </a:extLst>
          </p:cNvPr>
          <p:cNvPicPr>
            <a:picLocks noChangeAspect="1"/>
          </p:cNvPicPr>
          <p:nvPr/>
        </p:nvPicPr>
        <p:blipFill>
          <a:blip r:embed="rId2"/>
          <a:stretch>
            <a:fillRect/>
          </a:stretch>
        </p:blipFill>
        <p:spPr>
          <a:xfrm>
            <a:off x="7351183" y="526873"/>
            <a:ext cx="4533900" cy="2124075"/>
          </a:xfrm>
          <a:prstGeom prst="rect">
            <a:avLst/>
          </a:prstGeom>
        </p:spPr>
      </p:pic>
      <p:pic>
        <p:nvPicPr>
          <p:cNvPr id="7" name="圖片 6">
            <a:extLst>
              <a:ext uri="{FF2B5EF4-FFF2-40B4-BE49-F238E27FC236}">
                <a16:creationId xmlns:a16="http://schemas.microsoft.com/office/drawing/2014/main" id="{68CB64D4-8F2D-4340-91CD-49F052C96A58}"/>
              </a:ext>
            </a:extLst>
          </p:cNvPr>
          <p:cNvPicPr>
            <a:picLocks noChangeAspect="1"/>
          </p:cNvPicPr>
          <p:nvPr/>
        </p:nvPicPr>
        <p:blipFill>
          <a:blip r:embed="rId3"/>
          <a:stretch>
            <a:fillRect/>
          </a:stretch>
        </p:blipFill>
        <p:spPr>
          <a:xfrm>
            <a:off x="7218892" y="4491036"/>
            <a:ext cx="2933700" cy="581025"/>
          </a:xfrm>
          <a:prstGeom prst="rect">
            <a:avLst/>
          </a:prstGeom>
        </p:spPr>
      </p:pic>
    </p:spTree>
    <p:extLst>
      <p:ext uri="{BB962C8B-B14F-4D97-AF65-F5344CB8AC3E}">
        <p14:creationId xmlns:p14="http://schemas.microsoft.com/office/powerpoint/2010/main" val="1043223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A26AAD-6BE6-4609-85DD-D05AA52B8268}"/>
              </a:ext>
            </a:extLst>
          </p:cNvPr>
          <p:cNvSpPr>
            <a:spLocks noGrp="1"/>
          </p:cNvSpPr>
          <p:nvPr>
            <p:ph type="title"/>
          </p:nvPr>
        </p:nvSpPr>
        <p:spPr/>
        <p:txBody>
          <a:bodyPr/>
          <a:lstStyle/>
          <a:p>
            <a:r>
              <a:rPr lang="en-US" altLang="zh-TW" dirty="0"/>
              <a:t>Hybrid ant colony optimization algorithm (HACO)</a:t>
            </a:r>
            <a:endParaRPr lang="zh-TW" altLang="en-US" dirty="0"/>
          </a:p>
        </p:txBody>
      </p:sp>
      <p:sp>
        <p:nvSpPr>
          <p:cNvPr id="3" name="內容版面配置區 2">
            <a:extLst>
              <a:ext uri="{FF2B5EF4-FFF2-40B4-BE49-F238E27FC236}">
                <a16:creationId xmlns:a16="http://schemas.microsoft.com/office/drawing/2014/main" id="{AAD06A36-5846-4887-BA03-0FA9A5E8CBD9}"/>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8BFBFE9-8B1A-4EEC-A513-D91B2BBC9FA6}"/>
              </a:ext>
            </a:extLst>
          </p:cNvPr>
          <p:cNvPicPr>
            <a:picLocks noChangeAspect="1"/>
          </p:cNvPicPr>
          <p:nvPr/>
        </p:nvPicPr>
        <p:blipFill>
          <a:blip r:embed="rId3"/>
          <a:stretch>
            <a:fillRect/>
          </a:stretch>
        </p:blipFill>
        <p:spPr>
          <a:xfrm>
            <a:off x="838200" y="1825625"/>
            <a:ext cx="5305425" cy="695325"/>
          </a:xfrm>
          <a:prstGeom prst="rect">
            <a:avLst/>
          </a:prstGeom>
        </p:spPr>
      </p:pic>
      <p:pic>
        <p:nvPicPr>
          <p:cNvPr id="7" name="圖片 6">
            <a:extLst>
              <a:ext uri="{FF2B5EF4-FFF2-40B4-BE49-F238E27FC236}">
                <a16:creationId xmlns:a16="http://schemas.microsoft.com/office/drawing/2014/main" id="{6CF7E4D3-8173-40F0-BDF3-EBC15356CC43}"/>
              </a:ext>
            </a:extLst>
          </p:cNvPr>
          <p:cNvPicPr>
            <a:picLocks noChangeAspect="1"/>
          </p:cNvPicPr>
          <p:nvPr/>
        </p:nvPicPr>
        <p:blipFill>
          <a:blip r:embed="rId4"/>
          <a:stretch>
            <a:fillRect/>
          </a:stretch>
        </p:blipFill>
        <p:spPr>
          <a:xfrm>
            <a:off x="933864" y="2699544"/>
            <a:ext cx="5314950" cy="819150"/>
          </a:xfrm>
          <a:prstGeom prst="rect">
            <a:avLst/>
          </a:prstGeom>
        </p:spPr>
      </p:pic>
      <p:pic>
        <p:nvPicPr>
          <p:cNvPr id="9" name="圖片 8">
            <a:extLst>
              <a:ext uri="{FF2B5EF4-FFF2-40B4-BE49-F238E27FC236}">
                <a16:creationId xmlns:a16="http://schemas.microsoft.com/office/drawing/2014/main" id="{452AF6CC-0A89-4114-877D-84DE9DB5B204}"/>
              </a:ext>
            </a:extLst>
          </p:cNvPr>
          <p:cNvPicPr>
            <a:picLocks noChangeAspect="1"/>
          </p:cNvPicPr>
          <p:nvPr/>
        </p:nvPicPr>
        <p:blipFill>
          <a:blip r:embed="rId5"/>
          <a:stretch>
            <a:fillRect/>
          </a:stretch>
        </p:blipFill>
        <p:spPr>
          <a:xfrm>
            <a:off x="933864" y="3925094"/>
            <a:ext cx="5362575" cy="847725"/>
          </a:xfrm>
          <a:prstGeom prst="rect">
            <a:avLst/>
          </a:prstGeom>
        </p:spPr>
      </p:pic>
      <p:pic>
        <p:nvPicPr>
          <p:cNvPr id="11" name="圖片 10">
            <a:extLst>
              <a:ext uri="{FF2B5EF4-FFF2-40B4-BE49-F238E27FC236}">
                <a16:creationId xmlns:a16="http://schemas.microsoft.com/office/drawing/2014/main" id="{18DA0FE4-EEFA-40C5-A716-000AE9F0AA7B}"/>
              </a:ext>
            </a:extLst>
          </p:cNvPr>
          <p:cNvPicPr>
            <a:picLocks noChangeAspect="1"/>
          </p:cNvPicPr>
          <p:nvPr/>
        </p:nvPicPr>
        <p:blipFill>
          <a:blip r:embed="rId6"/>
          <a:stretch>
            <a:fillRect/>
          </a:stretch>
        </p:blipFill>
        <p:spPr>
          <a:xfrm>
            <a:off x="933864" y="4889362"/>
            <a:ext cx="5286375" cy="1104900"/>
          </a:xfrm>
          <a:prstGeom prst="rect">
            <a:avLst/>
          </a:prstGeom>
        </p:spPr>
      </p:pic>
      <p:pic>
        <p:nvPicPr>
          <p:cNvPr id="13" name="圖片 12">
            <a:extLst>
              <a:ext uri="{FF2B5EF4-FFF2-40B4-BE49-F238E27FC236}">
                <a16:creationId xmlns:a16="http://schemas.microsoft.com/office/drawing/2014/main" id="{4E7E67EE-8E62-4ECA-B5C8-08FD0837E928}"/>
              </a:ext>
            </a:extLst>
          </p:cNvPr>
          <p:cNvPicPr>
            <a:picLocks noChangeAspect="1"/>
          </p:cNvPicPr>
          <p:nvPr/>
        </p:nvPicPr>
        <p:blipFill>
          <a:blip r:embed="rId7"/>
          <a:stretch>
            <a:fillRect/>
          </a:stretch>
        </p:blipFill>
        <p:spPr>
          <a:xfrm>
            <a:off x="967201" y="6290193"/>
            <a:ext cx="5219700" cy="542925"/>
          </a:xfrm>
          <a:prstGeom prst="rect">
            <a:avLst/>
          </a:prstGeom>
        </p:spPr>
      </p:pic>
    </p:spTree>
    <p:extLst>
      <p:ext uri="{BB962C8B-B14F-4D97-AF65-F5344CB8AC3E}">
        <p14:creationId xmlns:p14="http://schemas.microsoft.com/office/powerpoint/2010/main" val="4106436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1F935C-919D-49BB-B255-10D09407448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D8EB231-1D49-457A-A91E-9FD802BC5BDF}"/>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6B256195-4C6D-45AF-B40A-8EEC629FEC3C}"/>
              </a:ext>
            </a:extLst>
          </p:cNvPr>
          <p:cNvPicPr>
            <a:picLocks noChangeAspect="1"/>
          </p:cNvPicPr>
          <p:nvPr/>
        </p:nvPicPr>
        <p:blipFill>
          <a:blip r:embed="rId2"/>
          <a:stretch>
            <a:fillRect/>
          </a:stretch>
        </p:blipFill>
        <p:spPr>
          <a:xfrm>
            <a:off x="1072715" y="47625"/>
            <a:ext cx="3867150" cy="6810375"/>
          </a:xfrm>
          <a:prstGeom prst="rect">
            <a:avLst/>
          </a:prstGeom>
        </p:spPr>
      </p:pic>
    </p:spTree>
    <p:extLst>
      <p:ext uri="{BB962C8B-B14F-4D97-AF65-F5344CB8AC3E}">
        <p14:creationId xmlns:p14="http://schemas.microsoft.com/office/powerpoint/2010/main" val="1538403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1F97D8-881A-471F-8F4F-9924AC1D3FAD}"/>
              </a:ext>
            </a:extLst>
          </p:cNvPr>
          <p:cNvSpPr>
            <a:spLocks noGrp="1"/>
          </p:cNvSpPr>
          <p:nvPr>
            <p:ph type="title"/>
          </p:nvPr>
        </p:nvSpPr>
        <p:spPr/>
        <p:txBody>
          <a:bodyPr/>
          <a:lstStyle/>
          <a:p>
            <a:r>
              <a:rPr lang="en-US" altLang="zh-TW" dirty="0"/>
              <a:t>Hybrid ant colony optimization algorithm (HACO)</a:t>
            </a:r>
            <a:endParaRPr lang="zh-TW" altLang="en-US" dirty="0"/>
          </a:p>
        </p:txBody>
      </p:sp>
      <p:sp>
        <p:nvSpPr>
          <p:cNvPr id="3" name="內容版面配置區 2">
            <a:extLst>
              <a:ext uri="{FF2B5EF4-FFF2-40B4-BE49-F238E27FC236}">
                <a16:creationId xmlns:a16="http://schemas.microsoft.com/office/drawing/2014/main" id="{D74DA6D5-C5C4-482E-B564-6E48B21ADF3B}"/>
              </a:ext>
            </a:extLst>
          </p:cNvPr>
          <p:cNvSpPr>
            <a:spLocks noGrp="1"/>
          </p:cNvSpPr>
          <p:nvPr>
            <p:ph idx="1"/>
          </p:nvPr>
        </p:nvSpPr>
        <p:spPr/>
        <p:txBody>
          <a:bodyPr>
            <a:normAutofit/>
          </a:bodyPr>
          <a:lstStyle/>
          <a:p>
            <a:pPr marL="0" indent="0">
              <a:buNone/>
            </a:pPr>
            <a:r>
              <a:rPr lang="en-US" altLang="zh-TW" dirty="0"/>
              <a:t>1.A colony of (a number of) ants which constructs solutions independently.</a:t>
            </a:r>
          </a:p>
          <a:p>
            <a:pPr marL="0" indent="0">
              <a:buNone/>
            </a:pPr>
            <a:r>
              <a:rPr lang="en-US" altLang="zh-TW" dirty="0"/>
              <a:t>2.The solution construction phase that works using pheromone values and heuristic information.</a:t>
            </a:r>
          </a:p>
          <a:p>
            <a:pPr marL="0" indent="0">
              <a:buNone/>
            </a:pPr>
            <a:r>
              <a:rPr lang="en-US" altLang="zh-TW" dirty="0"/>
              <a:t>3.Local search that is applied around the best found solution(s) to improve the solution(s).</a:t>
            </a:r>
          </a:p>
          <a:p>
            <a:pPr marL="0" indent="0">
              <a:buNone/>
            </a:pPr>
            <a:r>
              <a:rPr lang="en-US" altLang="zh-TW" dirty="0"/>
              <a:t>4.Updating pheromone values phase that updates the pheromone values based on the quality of the solutions found, so as to guide the algorithm toward promising solutions.</a:t>
            </a:r>
            <a:endParaRPr lang="zh-TW" altLang="en-US" dirty="0"/>
          </a:p>
        </p:txBody>
      </p:sp>
    </p:spTree>
    <p:extLst>
      <p:ext uri="{BB962C8B-B14F-4D97-AF65-F5344CB8AC3E}">
        <p14:creationId xmlns:p14="http://schemas.microsoft.com/office/powerpoint/2010/main" val="1130456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81186D-A14B-4B2E-9901-42B6FEDDD53E}"/>
              </a:ext>
            </a:extLst>
          </p:cNvPr>
          <p:cNvSpPr>
            <a:spLocks noGrp="1"/>
          </p:cNvSpPr>
          <p:nvPr>
            <p:ph type="title"/>
          </p:nvPr>
        </p:nvSpPr>
        <p:spPr/>
        <p:txBody>
          <a:bodyPr/>
          <a:lstStyle/>
          <a:p>
            <a:r>
              <a:rPr lang="en-US" altLang="zh-TW" dirty="0"/>
              <a:t>3.2.</a:t>
            </a:r>
            <a:r>
              <a:rPr lang="zh-TW" altLang="en-US" dirty="0"/>
              <a:t>組中的作業順序</a:t>
            </a:r>
          </a:p>
        </p:txBody>
      </p:sp>
      <p:sp>
        <p:nvSpPr>
          <p:cNvPr id="3" name="內容版面配置區 2">
            <a:extLst>
              <a:ext uri="{FF2B5EF4-FFF2-40B4-BE49-F238E27FC236}">
                <a16:creationId xmlns:a16="http://schemas.microsoft.com/office/drawing/2014/main" id="{C135AC26-D15C-46B1-A8D7-48F696E21D6E}"/>
              </a:ext>
            </a:extLst>
          </p:cNvPr>
          <p:cNvSpPr>
            <a:spLocks noGrp="1"/>
          </p:cNvSpPr>
          <p:nvPr>
            <p:ph idx="1"/>
          </p:nvPr>
        </p:nvSpPr>
        <p:spPr>
          <a:xfrm>
            <a:off x="662940" y="1485900"/>
            <a:ext cx="10690860" cy="5171123"/>
          </a:xfrm>
        </p:spPr>
        <p:txBody>
          <a:bodyPr/>
          <a:lstStyle/>
          <a:p>
            <a:r>
              <a:rPr lang="zh-TW" altLang="en-US" dirty="0"/>
              <a:t>原始 </a:t>
            </a:r>
            <a:r>
              <a:rPr lang="en-US" altLang="zh-TW" dirty="0"/>
              <a:t>NEH </a:t>
            </a:r>
            <a:r>
              <a:rPr lang="zh-TW" altLang="en-US" dirty="0"/>
              <a:t>不是迭代的，除非引入新的群序列，否則不會構建新的解決方案。為了解決上述兩個問題，所提出的算法在第一步中隨機對作業進行排序。所提出算法的步驟如下：</a:t>
            </a:r>
            <a:endParaRPr lang="en-US" altLang="zh-TW" dirty="0"/>
          </a:p>
          <a:p>
            <a:r>
              <a:rPr lang="en-US" altLang="zh-TW" dirty="0"/>
              <a:t>(1)</a:t>
            </a:r>
            <a:r>
              <a:rPr lang="zh-TW" altLang="en-US" dirty="0"/>
              <a:t>隨機訂購工作。</a:t>
            </a:r>
            <a:r>
              <a:rPr lang="en-US" altLang="zh-TW" dirty="0"/>
              <a:t>(2)</a:t>
            </a:r>
            <a:r>
              <a:rPr lang="zh-TW" altLang="en-US" dirty="0"/>
              <a:t>取前兩個作業並安排它們以盡量減少部分流程時間，就好像只有這兩個作業一樣。</a:t>
            </a:r>
            <a:r>
              <a:rPr lang="en-US" altLang="zh-TW" dirty="0"/>
              <a:t>(3)</a:t>
            </a:r>
            <a:r>
              <a:rPr lang="zh-TW" altLang="en-US" dirty="0"/>
              <a:t>對於剩餘的作業，嘗試在所有可能的位置一個接一個地插入作業，並選擇最小化部分流程時間的位置，直到所有作業排序。</a:t>
            </a:r>
            <a:endParaRPr lang="en-US" altLang="zh-TW" dirty="0"/>
          </a:p>
          <a:p>
            <a:r>
              <a:rPr lang="zh-TW" altLang="en-US" dirty="0"/>
              <a:t>實驗表明隨機方案優於原始方案。</a:t>
            </a:r>
          </a:p>
        </p:txBody>
      </p:sp>
    </p:spTree>
    <p:extLst>
      <p:ext uri="{BB962C8B-B14F-4D97-AF65-F5344CB8AC3E}">
        <p14:creationId xmlns:p14="http://schemas.microsoft.com/office/powerpoint/2010/main" val="22897193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A4AA15-50E9-493E-8FC7-DA4F94BF1D71}"/>
              </a:ext>
            </a:extLst>
          </p:cNvPr>
          <p:cNvSpPr>
            <a:spLocks noGrp="1"/>
          </p:cNvSpPr>
          <p:nvPr>
            <p:ph type="title"/>
          </p:nvPr>
        </p:nvSpPr>
        <p:spPr/>
        <p:txBody>
          <a:bodyPr/>
          <a:lstStyle/>
          <a:p>
            <a:endParaRPr lang="zh-TW" altLang="en-US"/>
          </a:p>
        </p:txBody>
      </p:sp>
      <p:pic>
        <p:nvPicPr>
          <p:cNvPr id="4" name="內容版面配置區 3">
            <a:extLst>
              <a:ext uri="{FF2B5EF4-FFF2-40B4-BE49-F238E27FC236}">
                <a16:creationId xmlns:a16="http://schemas.microsoft.com/office/drawing/2014/main" id="{F8C7CE75-8DB6-45BD-968E-E6CA7459889A}"/>
              </a:ext>
            </a:extLst>
          </p:cNvPr>
          <p:cNvPicPr>
            <a:picLocks noGrp="1" noChangeAspect="1"/>
          </p:cNvPicPr>
          <p:nvPr>
            <p:ph idx="1"/>
          </p:nvPr>
        </p:nvPicPr>
        <p:blipFill>
          <a:blip r:embed="rId2"/>
          <a:stretch>
            <a:fillRect/>
          </a:stretch>
        </p:blipFill>
        <p:spPr>
          <a:xfrm>
            <a:off x="415096" y="1690688"/>
            <a:ext cx="5680904" cy="1107141"/>
          </a:xfrm>
          <a:prstGeom prst="rect">
            <a:avLst/>
          </a:prstGeom>
        </p:spPr>
      </p:pic>
      <p:pic>
        <p:nvPicPr>
          <p:cNvPr id="5" name="圖片 4">
            <a:extLst>
              <a:ext uri="{FF2B5EF4-FFF2-40B4-BE49-F238E27FC236}">
                <a16:creationId xmlns:a16="http://schemas.microsoft.com/office/drawing/2014/main" id="{82A8911F-0594-45A9-82FF-9FA13223FC99}"/>
              </a:ext>
            </a:extLst>
          </p:cNvPr>
          <p:cNvPicPr>
            <a:picLocks noChangeAspect="1"/>
          </p:cNvPicPr>
          <p:nvPr/>
        </p:nvPicPr>
        <p:blipFill>
          <a:blip r:embed="rId3"/>
          <a:stretch>
            <a:fillRect/>
          </a:stretch>
        </p:blipFill>
        <p:spPr>
          <a:xfrm>
            <a:off x="264193" y="3634941"/>
            <a:ext cx="9353550" cy="2552700"/>
          </a:xfrm>
          <a:prstGeom prst="rect">
            <a:avLst/>
          </a:prstGeom>
        </p:spPr>
      </p:pic>
    </p:spTree>
    <p:extLst>
      <p:ext uri="{BB962C8B-B14F-4D97-AF65-F5344CB8AC3E}">
        <p14:creationId xmlns:p14="http://schemas.microsoft.com/office/powerpoint/2010/main" val="2256144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6036CB1-37A7-49D2-82AD-E8F2EF21D770}"/>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124DA7E-F39A-4758-BF55-12E69AE6EB09}"/>
              </a:ext>
            </a:extLst>
          </p:cNvPr>
          <p:cNvPicPr>
            <a:picLocks noChangeAspect="1"/>
          </p:cNvPicPr>
          <p:nvPr/>
        </p:nvPicPr>
        <p:blipFill>
          <a:blip r:embed="rId2"/>
          <a:stretch>
            <a:fillRect/>
          </a:stretch>
        </p:blipFill>
        <p:spPr>
          <a:xfrm>
            <a:off x="329686" y="928291"/>
            <a:ext cx="7572375" cy="628650"/>
          </a:xfrm>
          <a:prstGeom prst="rect">
            <a:avLst/>
          </a:prstGeom>
        </p:spPr>
      </p:pic>
      <p:pic>
        <p:nvPicPr>
          <p:cNvPr id="7" name="圖片 6">
            <a:extLst>
              <a:ext uri="{FF2B5EF4-FFF2-40B4-BE49-F238E27FC236}">
                <a16:creationId xmlns:a16="http://schemas.microsoft.com/office/drawing/2014/main" id="{F817157C-8CC8-490E-82FB-77A1B0801D23}"/>
              </a:ext>
            </a:extLst>
          </p:cNvPr>
          <p:cNvPicPr>
            <a:picLocks noChangeAspect="1"/>
          </p:cNvPicPr>
          <p:nvPr/>
        </p:nvPicPr>
        <p:blipFill>
          <a:blip r:embed="rId3"/>
          <a:stretch>
            <a:fillRect/>
          </a:stretch>
        </p:blipFill>
        <p:spPr>
          <a:xfrm>
            <a:off x="477324" y="1697435"/>
            <a:ext cx="7458075" cy="723900"/>
          </a:xfrm>
          <a:prstGeom prst="rect">
            <a:avLst/>
          </a:prstGeom>
        </p:spPr>
      </p:pic>
      <p:pic>
        <p:nvPicPr>
          <p:cNvPr id="9" name="圖片 8">
            <a:extLst>
              <a:ext uri="{FF2B5EF4-FFF2-40B4-BE49-F238E27FC236}">
                <a16:creationId xmlns:a16="http://schemas.microsoft.com/office/drawing/2014/main" id="{71F28C56-B532-42BE-8538-A3B91F432392}"/>
              </a:ext>
            </a:extLst>
          </p:cNvPr>
          <p:cNvPicPr>
            <a:picLocks noChangeAspect="1"/>
          </p:cNvPicPr>
          <p:nvPr/>
        </p:nvPicPr>
        <p:blipFill>
          <a:blip r:embed="rId4"/>
          <a:stretch>
            <a:fillRect/>
          </a:stretch>
        </p:blipFill>
        <p:spPr>
          <a:xfrm>
            <a:off x="363024" y="3740944"/>
            <a:ext cx="7505700" cy="1981200"/>
          </a:xfrm>
          <a:prstGeom prst="rect">
            <a:avLst/>
          </a:prstGeom>
        </p:spPr>
      </p:pic>
    </p:spTree>
    <p:extLst>
      <p:ext uri="{BB962C8B-B14F-4D97-AF65-F5344CB8AC3E}">
        <p14:creationId xmlns:p14="http://schemas.microsoft.com/office/powerpoint/2010/main" val="2870587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59FB44-ED2E-4321-890E-1FBC7720E9D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6CCD9DD-18A5-45E5-BED6-E9F70F7819DB}"/>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06C882CD-5EF1-4642-966C-6D58C83516E2}"/>
              </a:ext>
            </a:extLst>
          </p:cNvPr>
          <p:cNvPicPr>
            <a:picLocks noChangeAspect="1"/>
          </p:cNvPicPr>
          <p:nvPr/>
        </p:nvPicPr>
        <p:blipFill>
          <a:blip r:embed="rId2"/>
          <a:stretch>
            <a:fillRect/>
          </a:stretch>
        </p:blipFill>
        <p:spPr>
          <a:xfrm>
            <a:off x="383470" y="3429000"/>
            <a:ext cx="6149493" cy="3341611"/>
          </a:xfrm>
          <a:prstGeom prst="rect">
            <a:avLst/>
          </a:prstGeom>
        </p:spPr>
      </p:pic>
      <p:pic>
        <p:nvPicPr>
          <p:cNvPr id="6" name="圖片 5">
            <a:extLst>
              <a:ext uri="{FF2B5EF4-FFF2-40B4-BE49-F238E27FC236}">
                <a16:creationId xmlns:a16="http://schemas.microsoft.com/office/drawing/2014/main" id="{C7B59393-6647-4732-8E4C-70ACF4B7FF24}"/>
              </a:ext>
            </a:extLst>
          </p:cNvPr>
          <p:cNvPicPr>
            <a:picLocks noChangeAspect="1"/>
          </p:cNvPicPr>
          <p:nvPr/>
        </p:nvPicPr>
        <p:blipFill>
          <a:blip r:embed="rId3"/>
          <a:stretch>
            <a:fillRect/>
          </a:stretch>
        </p:blipFill>
        <p:spPr>
          <a:xfrm>
            <a:off x="485071" y="196850"/>
            <a:ext cx="6367286" cy="2766978"/>
          </a:xfrm>
          <a:prstGeom prst="rect">
            <a:avLst/>
          </a:prstGeom>
        </p:spPr>
      </p:pic>
    </p:spTree>
    <p:extLst>
      <p:ext uri="{BB962C8B-B14F-4D97-AF65-F5344CB8AC3E}">
        <p14:creationId xmlns:p14="http://schemas.microsoft.com/office/powerpoint/2010/main" val="2487289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87D5B7-39F2-4F08-9B61-D0B474E061DE}"/>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7328EDFC-798C-4F00-9013-EB79B00531DB}"/>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8BB73BF3-C260-448E-9D3A-F7ACBB14548F}"/>
              </a:ext>
            </a:extLst>
          </p:cNvPr>
          <p:cNvPicPr>
            <a:picLocks noChangeAspect="1"/>
          </p:cNvPicPr>
          <p:nvPr/>
        </p:nvPicPr>
        <p:blipFill>
          <a:blip r:embed="rId2"/>
          <a:stretch>
            <a:fillRect/>
          </a:stretch>
        </p:blipFill>
        <p:spPr>
          <a:xfrm>
            <a:off x="460305" y="217272"/>
            <a:ext cx="7534275" cy="2676525"/>
          </a:xfrm>
          <a:prstGeom prst="rect">
            <a:avLst/>
          </a:prstGeom>
        </p:spPr>
      </p:pic>
      <p:pic>
        <p:nvPicPr>
          <p:cNvPr id="7" name="圖片 6">
            <a:extLst>
              <a:ext uri="{FF2B5EF4-FFF2-40B4-BE49-F238E27FC236}">
                <a16:creationId xmlns:a16="http://schemas.microsoft.com/office/drawing/2014/main" id="{2163F499-3313-4473-8B99-D0C868F75033}"/>
              </a:ext>
            </a:extLst>
          </p:cNvPr>
          <p:cNvPicPr>
            <a:picLocks noChangeAspect="1"/>
          </p:cNvPicPr>
          <p:nvPr/>
        </p:nvPicPr>
        <p:blipFill>
          <a:blip r:embed="rId3"/>
          <a:stretch>
            <a:fillRect/>
          </a:stretch>
        </p:blipFill>
        <p:spPr>
          <a:xfrm>
            <a:off x="412680" y="4249953"/>
            <a:ext cx="7581900" cy="2390775"/>
          </a:xfrm>
          <a:prstGeom prst="rect">
            <a:avLst/>
          </a:prstGeom>
        </p:spPr>
      </p:pic>
    </p:spTree>
    <p:extLst>
      <p:ext uri="{BB962C8B-B14F-4D97-AF65-F5344CB8AC3E}">
        <p14:creationId xmlns:p14="http://schemas.microsoft.com/office/powerpoint/2010/main" val="374588417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2991</TotalTime>
  <Words>2320</Words>
  <Application>Microsoft Office PowerPoint</Application>
  <PresentationFormat>寬螢幕</PresentationFormat>
  <Paragraphs>296</Paragraphs>
  <Slides>39</Slides>
  <Notes>20</Notes>
  <HiddenSlides>14</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39</vt:i4>
      </vt:variant>
    </vt:vector>
  </HeadingPairs>
  <TitlesOfParts>
    <vt:vector size="46" baseType="lpstr">
      <vt:lpstr>Timetime</vt:lpstr>
      <vt:lpstr>標楷體</vt:lpstr>
      <vt:lpstr>Arial</vt:lpstr>
      <vt:lpstr>Calibri</vt:lpstr>
      <vt:lpstr>Cambria Math</vt:lpstr>
      <vt:lpstr>Times New Roman</vt:lpstr>
      <vt:lpstr>Office 佈景主題</vt:lpstr>
      <vt:lpstr>Total flow time minimization in a flowshop sequence-dependent group scheduling problem </vt:lpstr>
      <vt:lpstr>Abstract</vt:lpstr>
      <vt:lpstr>PowerPoint 簡報</vt:lpstr>
      <vt:lpstr>Branch and price algorithm</vt:lpstr>
      <vt:lpstr>PowerPoint 簡報</vt:lpstr>
      <vt:lpstr>PowerPoint 簡報</vt:lpstr>
      <vt:lpstr>Iteration 0</vt:lpstr>
      <vt:lpstr>PowerPoint 簡報</vt:lpstr>
      <vt:lpstr>PowerPoint 簡報</vt:lpstr>
      <vt:lpstr>Iteration 1</vt:lpstr>
      <vt:lpstr>PowerPoint 簡報</vt:lpstr>
      <vt:lpstr>PowerPoint 簡報</vt:lpstr>
      <vt:lpstr>Iteration 2</vt:lpstr>
      <vt:lpstr>PowerPoint 簡報</vt:lpstr>
      <vt:lpstr>PowerPoint 簡報</vt:lpstr>
      <vt:lpstr>PowerPoint 簡報</vt:lpstr>
      <vt:lpstr>Mixed Integer Linear Programming </vt:lpstr>
      <vt:lpstr>LP relaxation of the restricted master problem (LRMP)</vt:lpstr>
      <vt:lpstr>Subproblems</vt:lpstr>
      <vt:lpstr>PowerPoint 簡報</vt:lpstr>
      <vt:lpstr>Test problem specifications</vt:lpstr>
      <vt:lpstr>PowerPoint 簡報</vt:lpstr>
      <vt:lpstr>PowerPoint 簡報</vt:lpstr>
      <vt:lpstr>PowerPoint 簡報</vt:lpstr>
      <vt:lpstr>Conclusion</vt:lpstr>
      <vt:lpstr>PowerPoint 簡報</vt:lpstr>
      <vt:lpstr>Cutting stock problem</vt:lpstr>
      <vt:lpstr>Iteration 1</vt:lpstr>
      <vt:lpstr>Iteration 2</vt:lpstr>
      <vt:lpstr>Iteration 3</vt:lpstr>
      <vt:lpstr>Iteration 4</vt:lpstr>
      <vt:lpstr>Hybrid ant colony optimization algorithm (HACO)</vt:lpstr>
      <vt:lpstr>PowerPoint 簡報</vt:lpstr>
      <vt:lpstr>Hybrid ant colony optimization algorithm (HACO)</vt:lpstr>
      <vt:lpstr>3.2.組中的作業順序</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Total flow time minimization in a flowshop sequence-dependent group scheduling problem </dc:title>
  <dc:creator>jj wu</dc:creator>
  <cp:lastModifiedBy>jj wu</cp:lastModifiedBy>
  <cp:revision>10</cp:revision>
  <dcterms:created xsi:type="dcterms:W3CDTF">2021-10-04T08:37:47Z</dcterms:created>
  <dcterms:modified xsi:type="dcterms:W3CDTF">2021-10-06T10:31:46Z</dcterms:modified>
</cp:coreProperties>
</file>