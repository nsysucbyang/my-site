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60" r:id="rId5"/>
    <p:sldId id="268" r:id="rId6"/>
    <p:sldId id="269" r:id="rId7"/>
    <p:sldId id="262" r:id="rId8"/>
    <p:sldId id="263" r:id="rId9"/>
    <p:sldId id="264" r:id="rId10"/>
    <p:sldId id="265" r:id="rId11"/>
    <p:sldId id="267" r:id="rId12"/>
    <p:sldId id="270"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740" autoAdjust="0"/>
  </p:normalViewPr>
  <p:slideViewPr>
    <p:cSldViewPr snapToGrid="0" showGuides="1">
      <p:cViewPr varScale="1">
        <p:scale>
          <a:sx n="59" d="100"/>
          <a:sy n="59" d="100"/>
        </p:scale>
        <p:origin x="964" y="64"/>
      </p:cViewPr>
      <p:guideLst>
        <p:guide orient="horz" pos="2183"/>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7C55D-3ED3-44CB-8805-C90AC69210BA}" type="datetimeFigureOut">
              <a:rPr lang="zh-TW" altLang="en-US" smtClean="0"/>
              <a:t>2021/10/5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A33E9-9328-45B9-B616-37F701DCA462}" type="slidenum">
              <a:rPr lang="zh-TW" altLang="en-US" smtClean="0"/>
              <a:t>‹#›</a:t>
            </a:fld>
            <a:endParaRPr lang="zh-TW" altLang="en-US"/>
          </a:p>
        </p:txBody>
      </p:sp>
    </p:spTree>
    <p:extLst>
      <p:ext uri="{BB962C8B-B14F-4D97-AF65-F5344CB8AC3E}">
        <p14:creationId xmlns:p14="http://schemas.microsoft.com/office/powerpoint/2010/main" val="333886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1.</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應用</a:t>
            </a:r>
            <a:r>
              <a:rPr lang="en-US" altLang="zh-TW" sz="2800" dirty="0"/>
              <a:t>back-propagation algorithm</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訓練並構建學習模型，計算輸入對應輸出的重要性，然後根據特徵重要性將輸入排序成一個列表</a:t>
            </a:r>
            <a:endPar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4</a:t>
            </a:fld>
            <a:endParaRPr lang="zh-TW" altLang="en-US"/>
          </a:p>
        </p:txBody>
      </p:sp>
    </p:spTree>
    <p:extLst>
      <p:ext uri="{BB962C8B-B14F-4D97-AF65-F5344CB8AC3E}">
        <p14:creationId xmlns:p14="http://schemas.microsoft.com/office/powerpoint/2010/main" val="613485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2.</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特徵選擇模型</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每次增加一個重要的輸入變量，在</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neural network</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生成的排序列表中</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由</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上而下進行，測試</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C4.5</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決策樹算法的性能並記錄性能的錯誤率。該過程運行多次，直至達到排名列表的大小</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或是</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當迭代</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i+1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時輸入的錯誤率高於</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i</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時，它停止。</a:t>
            </a:r>
            <a:endParaRPr lang="zh-TW" altLang="en-US" sz="1800" dirty="0"/>
          </a:p>
          <a:p>
            <a:endPar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5</a:t>
            </a:fld>
            <a:endParaRPr lang="zh-TW" altLang="en-US"/>
          </a:p>
        </p:txBody>
      </p:sp>
    </p:spTree>
    <p:extLst>
      <p:ext uri="{BB962C8B-B14F-4D97-AF65-F5344CB8AC3E}">
        <p14:creationId xmlns:p14="http://schemas.microsoft.com/office/powerpoint/2010/main" val="9582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3.</a:t>
            </a:r>
            <a:r>
              <a:rPr lang="zh-TW" altLang="zh-TW" sz="1800" dirty="0">
                <a:effectLst/>
                <a:latin typeface="Calibri" panose="020F0502020204030204" pitchFamily="34" charset="0"/>
                <a:ea typeface="+mn-ea"/>
                <a:cs typeface="Times New Roman" panose="02020603050405020304" pitchFamily="18" charset="0"/>
              </a:rPr>
              <a:t>通過</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C4.5</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生成的決策規則測量其性能進行驗證。</a:t>
            </a:r>
            <a:endParaRPr lang="zh-TW" altLang="en-US" dirty="0"/>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6</a:t>
            </a:fld>
            <a:endParaRPr lang="zh-TW" altLang="en-US"/>
          </a:p>
        </p:txBody>
      </p:sp>
    </p:spTree>
    <p:extLst>
      <p:ext uri="{BB962C8B-B14F-4D97-AF65-F5344CB8AC3E}">
        <p14:creationId xmlns:p14="http://schemas.microsoft.com/office/powerpoint/2010/main" val="1709411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10-fold cross-validation</a:t>
            </a:r>
            <a:r>
              <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rPr>
              <a:t>來進行所有實驗，並在</a:t>
            </a:r>
            <a:r>
              <a:rPr lang="en-US" altLang="zh-TW" sz="1800" kern="100" dirty="0">
                <a:effectLst/>
                <a:latin typeface="Calibri" panose="020F0502020204030204" pitchFamily="34" charset="0"/>
                <a:ea typeface="新細明體" panose="02020500000000000000" pitchFamily="18" charset="-120"/>
                <a:cs typeface="Times New Roman" panose="02020603050405020304" pitchFamily="18" charset="0"/>
              </a:rPr>
              <a:t> 10 </a:t>
            </a:r>
            <a:r>
              <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rPr>
              <a:t>次運行中對結果進行平均。 這相當於對每個數據集的每個測試總共運行</a:t>
            </a:r>
            <a:r>
              <a:rPr lang="en-US" altLang="zh-TW" sz="1800" kern="100" dirty="0">
                <a:effectLst/>
                <a:latin typeface="Calibri" panose="020F0502020204030204" pitchFamily="34" charset="0"/>
                <a:ea typeface="新細明體" panose="02020500000000000000" pitchFamily="18" charset="-120"/>
                <a:cs typeface="Times New Roman" panose="02020603050405020304" pitchFamily="18" charset="0"/>
              </a:rPr>
              <a:t> 100 </a:t>
            </a:r>
            <a:r>
              <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rPr>
              <a:t>次。</a:t>
            </a:r>
          </a:p>
          <a:p>
            <a:endParaRPr lang="zh-TW" altLang="en-US" dirty="0"/>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7</a:t>
            </a:fld>
            <a:endParaRPr lang="zh-TW" altLang="en-US"/>
          </a:p>
        </p:txBody>
      </p:sp>
    </p:spTree>
    <p:extLst>
      <p:ext uri="{BB962C8B-B14F-4D97-AF65-F5344CB8AC3E}">
        <p14:creationId xmlns:p14="http://schemas.microsoft.com/office/powerpoint/2010/main" val="1706911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觀察記錄數量的增加如何影響分類器的錯誤率。</a:t>
            </a:r>
            <a:r>
              <a:rPr lang="zh-TW" altLang="zh-TW" sz="1800" dirty="0">
                <a:effectLst/>
                <a:ea typeface="Calibri" panose="020F0502020204030204" pitchFamily="34" charset="0"/>
                <a:cs typeface="Times New Roman" panose="02020603050405020304" pitchFamily="18" charset="0"/>
              </a:rPr>
              <a:t>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我們使用的實例數從</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500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到</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10000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不等。結果表明，隨著實例數的增加，所有三個模型都可以合理地擴展。</a:t>
            </a:r>
            <a:r>
              <a:rPr lang="zh-TW" altLang="zh-TW" sz="1800" dirty="0">
                <a:effectLst/>
                <a:ea typeface="Calibri" panose="020F0502020204030204" pitchFamily="34" charset="0"/>
                <a:cs typeface="Times New Roman" panose="02020603050405020304" pitchFamily="18" charset="0"/>
              </a:rPr>
              <a:t>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我們提出的混合分類器在反向傳播和原始</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C4.5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方法中具有最低的錯誤率（平均保持在</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2%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以下）。</a:t>
            </a:r>
            <a:r>
              <a:rPr lang="zh-TW" altLang="zh-TW" sz="1800" dirty="0">
                <a:effectLst/>
                <a:ea typeface="Calibri" panose="020F0502020204030204" pitchFamily="34" charset="0"/>
                <a:cs typeface="Times New Roman" panose="02020603050405020304" pitchFamily="18" charset="0"/>
              </a:rPr>
              <a:t>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當實例數小於</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1000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時，</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C4.5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分類器和我們提出的混合分類器的錯誤率相對較高。</a:t>
            </a:r>
            <a:r>
              <a:rPr lang="zh-TW" altLang="zh-TW" sz="1800" dirty="0">
                <a:effectLst/>
                <a:ea typeface="Calibri" panose="020F0502020204030204" pitchFamily="34" charset="0"/>
                <a:cs typeface="Times New Roman" panose="02020603050405020304" pitchFamily="18" charset="0"/>
              </a:rPr>
              <a:t>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這意味著需要一定數量的可用數據來啟動分類器。</a:t>
            </a:r>
            <a:endParaRPr lang="zh-TW" altLang="en-US" dirty="0"/>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9</a:t>
            </a:fld>
            <a:endParaRPr lang="zh-TW" altLang="en-US"/>
          </a:p>
        </p:txBody>
      </p:sp>
    </p:spTree>
    <p:extLst>
      <p:ext uri="{BB962C8B-B14F-4D97-AF65-F5344CB8AC3E}">
        <p14:creationId xmlns:p14="http://schemas.microsoft.com/office/powerpoint/2010/main" val="925896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decision tree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只需幾秒鐘即可學習</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1</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萬</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個實例的數據集</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相比之下，神經網絡學習需要的時間相對較長。在同一計算平台上，反向傳播網絡的神經網絡學習時間約為</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20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分鐘</a:t>
            </a:r>
            <a:endParaRPr lang="zh-TW" altLang="en-US" dirty="0"/>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10</a:t>
            </a:fld>
            <a:endParaRPr lang="zh-TW" altLang="en-US"/>
          </a:p>
        </p:txBody>
      </p:sp>
    </p:spTree>
    <p:extLst>
      <p:ext uri="{BB962C8B-B14F-4D97-AF65-F5344CB8AC3E}">
        <p14:creationId xmlns:p14="http://schemas.microsoft.com/office/powerpoint/2010/main" val="2117411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雖然我們的方法需要應用</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back-propagation</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來進行特徵選擇，但這只需要做一次就可以對相對於輸出變量的屬性權重進行排序。在將來向數據集引入其他屬性之前，</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不</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需再執行</a:t>
            </a:r>
            <a:r>
              <a:rPr lang="zh-TW" altLang="zh-TW" sz="1800">
                <a:effectLst/>
                <a:latin typeface="Calibri" panose="020F0502020204030204" pitchFamily="34" charset="0"/>
                <a:ea typeface="新細明體" panose="02020500000000000000" pitchFamily="18" charset="-120"/>
                <a:cs typeface="Times New Roman" panose="02020603050405020304" pitchFamily="18" charset="0"/>
              </a:rPr>
              <a:t>此步驟</a:t>
            </a:r>
            <a:r>
              <a:rPr lang="zh-TW" altLang="en-US" sz="1800">
                <a:effectLst/>
                <a:latin typeface="Calibri" panose="020F0502020204030204" pitchFamily="34" charset="0"/>
                <a:ea typeface="新細明體" panose="02020500000000000000" pitchFamily="18" charset="-120"/>
                <a:cs typeface="Times New Roman" panose="02020603050405020304" pitchFamily="18" charset="0"/>
              </a:rPr>
              <a:t>，因</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此</a:t>
            </a:r>
            <a:r>
              <a:rPr lang="en-US" altLang="zh-TW" sz="1800">
                <a:effectLst/>
                <a:latin typeface="Calibri" panose="020F0502020204030204" pitchFamily="34" charset="0"/>
                <a:ea typeface="新細明體" panose="02020500000000000000" pitchFamily="18" charset="-120"/>
                <a:cs typeface="Times New Roman" panose="02020603050405020304" pitchFamily="18" charset="0"/>
              </a:rPr>
              <a:t>hybrid </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model</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的運行時間始終保持在</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 0.1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秒左右。相比之下，</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C4.5 </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分類器線性增加</a:t>
            </a:r>
            <a:endParaRPr lang="zh-TW" altLang="en-US" dirty="0"/>
          </a:p>
        </p:txBody>
      </p:sp>
      <p:sp>
        <p:nvSpPr>
          <p:cNvPr id="4" name="投影片編號版面配置區 3"/>
          <p:cNvSpPr>
            <a:spLocks noGrp="1"/>
          </p:cNvSpPr>
          <p:nvPr>
            <p:ph type="sldNum" sz="quarter" idx="5"/>
          </p:nvPr>
        </p:nvSpPr>
        <p:spPr/>
        <p:txBody>
          <a:bodyPr/>
          <a:lstStyle/>
          <a:p>
            <a:fld id="{DF5A33E9-9328-45B9-B616-37F701DCA462}" type="slidenum">
              <a:rPr lang="zh-TW" altLang="en-US" smtClean="0"/>
              <a:t>11</a:t>
            </a:fld>
            <a:endParaRPr lang="zh-TW" altLang="en-US"/>
          </a:p>
        </p:txBody>
      </p:sp>
    </p:spTree>
    <p:extLst>
      <p:ext uri="{BB962C8B-B14F-4D97-AF65-F5344CB8AC3E}">
        <p14:creationId xmlns:p14="http://schemas.microsoft.com/office/powerpoint/2010/main" val="2000783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49CD5-B865-44DA-A108-0796ADB3098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68E11706-FC2E-4109-A49E-7FBE1EEC0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9B675F6-8024-4C37-A74D-8D190FF8358E}"/>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DACB1746-F07D-4F13-ABEA-000CEBCCFD1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F391-BC41-4762-9690-243CE7AD7123}"/>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119272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A79099-79C2-4FE4-9E1E-ECE200B0064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83AAC32-B3F5-4D74-9139-C1DF69BDD41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C2256EF-4FD5-4ECC-B9CD-D4B9072187A4}"/>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B2B30301-476F-46F9-B36A-C98EADBA0D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3E86FA-6E1C-42A1-8476-E3E1B2BD9F61}"/>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166106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66B8FB-6EA2-47B2-9508-29316395649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9CBEF7-1625-4A08-8C35-2466AE43FD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9B6FE89B-6505-4FC1-A96F-7D249052632F}"/>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357C2538-6C38-46F8-B013-043B7633E6B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5351F84-C9FF-4782-ACC5-F8063AD4DFFC}"/>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2970148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6561F2-CB7F-4D0B-9F2E-679D4CCF94F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BEDE4AF-5062-41F6-A3F3-AE67BBBABB7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2FE9052-F227-4711-88D1-5448077FDB2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51089B6-EC6C-4DE5-B288-0479A1606F3E}"/>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6" name="頁尾版面配置區 5">
            <a:extLst>
              <a:ext uri="{FF2B5EF4-FFF2-40B4-BE49-F238E27FC236}">
                <a16:creationId xmlns:a16="http://schemas.microsoft.com/office/drawing/2014/main" id="{62E2B4FA-EC47-43A2-B6DA-15446D8E0E2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3E44E8D-82AA-46F0-9A44-62FA7D280EF6}"/>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1886311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EEC33-A92E-4652-B188-18561EA04F0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302849-9614-4C2D-B425-E4AA85CC22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0168A13-6A57-440B-A6D3-75FB5A62EC7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4C79739-2AC0-4A20-8F34-06ED6D4442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C479AB1-0756-456F-A35A-B4FFE8B7F3D7}"/>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052F04C-2CD2-4E0B-B59F-BA671BDC8398}"/>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8" name="頁尾版面配置區 7">
            <a:extLst>
              <a:ext uri="{FF2B5EF4-FFF2-40B4-BE49-F238E27FC236}">
                <a16:creationId xmlns:a16="http://schemas.microsoft.com/office/drawing/2014/main" id="{9D46D4D6-A246-49AE-B599-814F7D34DBB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E57F25D-48F0-47E2-9F2C-D4274B074608}"/>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822541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9ADA1F-B5E5-402C-916D-50D37C2D26C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BCE1283-46AC-4B71-8EF9-C547352FFB48}"/>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4" name="頁尾版面配置區 3">
            <a:extLst>
              <a:ext uri="{FF2B5EF4-FFF2-40B4-BE49-F238E27FC236}">
                <a16:creationId xmlns:a16="http://schemas.microsoft.com/office/drawing/2014/main" id="{DD2292DA-7038-4D21-91D9-AA6634986AB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6F38D3-EBF8-491E-93AB-8D4401FC5770}"/>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283305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638478B-1052-4272-A192-C18D2CCCA988}"/>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3" name="頁尾版面配置區 2">
            <a:extLst>
              <a:ext uri="{FF2B5EF4-FFF2-40B4-BE49-F238E27FC236}">
                <a16:creationId xmlns:a16="http://schemas.microsoft.com/office/drawing/2014/main" id="{B69798C4-C60E-43B8-AC44-588D63FE753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8EE18CA-71EC-4C49-9F6F-42CC20F6D47B}"/>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607956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26D946-6014-4052-B791-9DCAB606154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EB5C9DE-6DCE-4984-8F2A-7FAA1E7855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012E2A4-A16F-494E-929C-4ABB8CE7ED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A1F6B1B-1EBF-4460-A7F8-0E517CC65EA4}"/>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6" name="頁尾版面配置區 5">
            <a:extLst>
              <a:ext uri="{FF2B5EF4-FFF2-40B4-BE49-F238E27FC236}">
                <a16:creationId xmlns:a16="http://schemas.microsoft.com/office/drawing/2014/main" id="{5ED83463-29ED-4377-8C0C-8B5E095552B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A92C3D6-D1E0-40D3-B1A7-FDD98B2BEE6A}"/>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169078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0825A0-B6B0-4563-8DEE-ED96500653F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B0F4574-FEEF-424B-B078-90593E492E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192D0CF-6E3B-4BBF-B63D-0477996DF9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059D450-7A3A-4109-9183-EA98D8E71780}"/>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6" name="頁尾版面配置區 5">
            <a:extLst>
              <a:ext uri="{FF2B5EF4-FFF2-40B4-BE49-F238E27FC236}">
                <a16:creationId xmlns:a16="http://schemas.microsoft.com/office/drawing/2014/main" id="{932AAA33-6284-475A-9D5D-7888300D0FE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F3082AF-0C88-447F-ABBD-EFDDDD807086}"/>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41288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565D8A-1A6B-483C-B34A-DE6B73DB614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7113A1D-47A2-4994-BA76-CF0163489BD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01E22C2-198A-4581-A086-28F1569DF56C}"/>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97EB6F6F-0DD6-4B92-9681-4CCC5A8C5EA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8C40A11-1405-464B-8727-A0717890330C}"/>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4070949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2F87CAF-8968-4BC3-9374-0975C4CB7B56}"/>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5476B0D-C205-4C34-8271-F3651635128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112CD69-F556-4A92-A77E-E1C5C6CD3559}"/>
              </a:ext>
            </a:extLst>
          </p:cNvPr>
          <p:cNvSpPr>
            <a:spLocks noGrp="1"/>
          </p:cNvSpPr>
          <p:nvPr>
            <p:ph type="dt" sz="half" idx="10"/>
          </p:nvPr>
        </p:nvSpPr>
        <p:spPr/>
        <p:txBody>
          <a:body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78AEF85E-58E5-46C7-A7D2-3EFFF976EDA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C7C5261-AF52-43E1-8E31-B5605E9C85B0}"/>
              </a:ext>
            </a:extLst>
          </p:cNvPr>
          <p:cNvSpPr>
            <a:spLocks noGrp="1"/>
          </p:cNvSpPr>
          <p:nvPr>
            <p:ph type="sldNum" sz="quarter" idx="12"/>
          </p:nvPr>
        </p:nvSpPr>
        <p:spPr/>
        <p:txBody>
          <a:body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485813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A00658F-8FD9-4F34-A552-2D803A5C3B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CAC87CB-3E8D-494E-8366-CEDD66C0AE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8B01B3-9F1F-4C2E-9883-3C6AB03CE6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C5CC6-4E97-4607-A98D-FAE6D0B43397}" type="datetimeFigureOut">
              <a:rPr lang="zh-TW" altLang="en-US" smtClean="0"/>
              <a:t>2021/10/5</a:t>
            </a:fld>
            <a:endParaRPr lang="zh-TW" altLang="en-US"/>
          </a:p>
        </p:txBody>
      </p:sp>
      <p:sp>
        <p:nvSpPr>
          <p:cNvPr id="5" name="頁尾版面配置區 4">
            <a:extLst>
              <a:ext uri="{FF2B5EF4-FFF2-40B4-BE49-F238E27FC236}">
                <a16:creationId xmlns:a16="http://schemas.microsoft.com/office/drawing/2014/main" id="{B01B2661-CE9D-4839-8238-2D4A093F4F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C848812-5493-4CA6-91DC-0076B394F5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F45F17-5E44-4522-BF02-B0BDED20136C}" type="slidenum">
              <a:rPr lang="zh-TW" altLang="en-US" smtClean="0"/>
              <a:t>‹#›</a:t>
            </a:fld>
            <a:endParaRPr lang="zh-TW" altLang="en-US"/>
          </a:p>
        </p:txBody>
      </p:sp>
    </p:spTree>
    <p:extLst>
      <p:ext uri="{BB962C8B-B14F-4D97-AF65-F5344CB8AC3E}">
        <p14:creationId xmlns:p14="http://schemas.microsoft.com/office/powerpoint/2010/main" val="1682673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CA1336C-440D-2E43-904F-AABB45E64E1E}"/>
              </a:ext>
            </a:extLst>
          </p:cNvPr>
          <p:cNvSpPr>
            <a:spLocks noGrp="1"/>
          </p:cNvSpPr>
          <p:nvPr/>
        </p:nvSpPr>
        <p:spPr>
          <a:xfrm>
            <a:off x="1029386" y="1149664"/>
            <a:ext cx="9144000" cy="191507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a:lnSpc>
                <a:spcPct val="120000"/>
              </a:lnSpc>
            </a:pPr>
            <a:r>
              <a:rPr kumimoji="1" lang="en-US" altLang="zh-TW" dirty="0"/>
              <a:t>Applying a Hybrid Model of Neural Network and Decision Tree Classifier for </a:t>
            </a:r>
          </a:p>
          <a:p>
            <a:pPr>
              <a:lnSpc>
                <a:spcPct val="120000"/>
              </a:lnSpc>
            </a:pPr>
            <a:r>
              <a:rPr kumimoji="1" lang="en-US" altLang="zh-TW" dirty="0"/>
              <a:t>Predicting University Admission</a:t>
            </a:r>
            <a:endParaRPr kumimoji="1" lang="zh-TW" altLang="en-US"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FD611AA7-209A-4449-AB65-A25622930A66}"/>
              </a:ext>
            </a:extLst>
          </p:cNvPr>
          <p:cNvSpPr>
            <a:spLocks noGrp="1"/>
          </p:cNvSpPr>
          <p:nvPr/>
        </p:nvSpPr>
        <p:spPr>
          <a:xfrm>
            <a:off x="666107" y="3866102"/>
            <a:ext cx="9870558" cy="13440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Simon Fong, </a:t>
            </a:r>
            <a:r>
              <a:rPr kumimoji="1" lang="en-US" altLang="zh-TW" dirty="0" err="1">
                <a:latin typeface="Times New Roman" panose="02020603050405020304" pitchFamily="18" charset="0"/>
                <a:cs typeface="Times New Roman" panose="02020603050405020304" pitchFamily="18" charset="0"/>
              </a:rPr>
              <a:t>Yain-Whar</a:t>
            </a:r>
            <a:r>
              <a:rPr kumimoji="1" lang="en-US" altLang="zh-TW" dirty="0">
                <a:latin typeface="Times New Roman" panose="02020603050405020304" pitchFamily="18" charset="0"/>
                <a:cs typeface="Times New Roman" panose="02020603050405020304" pitchFamily="18" charset="0"/>
              </a:rPr>
              <a:t> Si, Robert P. </a:t>
            </a:r>
            <a:r>
              <a:rPr kumimoji="1" lang="en-US" altLang="zh-TW" dirty="0" err="1">
                <a:latin typeface="Times New Roman" panose="02020603050405020304" pitchFamily="18" charset="0"/>
                <a:cs typeface="Times New Roman" panose="02020603050405020304" pitchFamily="18" charset="0"/>
              </a:rPr>
              <a:t>Biuk-Aghai</a:t>
            </a:r>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 7th International Conference on Information, Communications and Signal Processing (ICICS),December 8-10  2009</a:t>
            </a:r>
            <a:endParaRPr kumimoji="1" lang="zh-TW" altLang="en-US" dirty="0">
              <a:latin typeface="Times New Roman" panose="02020603050405020304" pitchFamily="18" charset="0"/>
              <a:cs typeface="Times New Roman" panose="02020603050405020304" pitchFamily="18" charset="0"/>
            </a:endParaRPr>
          </a:p>
        </p:txBody>
      </p:sp>
      <p:sp>
        <p:nvSpPr>
          <p:cNvPr id="6" name="文字方塊 3">
            <a:extLst>
              <a:ext uri="{FF2B5EF4-FFF2-40B4-BE49-F238E27FC236}">
                <a16:creationId xmlns:a16="http://schemas.microsoft.com/office/drawing/2014/main" id="{BF1141FC-B145-834E-9139-2A899AB73EAA}"/>
              </a:ext>
            </a:extLst>
          </p:cNvPr>
          <p:cNvSpPr txBox="1"/>
          <p:nvPr/>
        </p:nvSpPr>
        <p:spPr>
          <a:xfrm>
            <a:off x="9150372" y="5471581"/>
            <a:ext cx="2375522" cy="646331"/>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 altLang="zh-TW" dirty="0">
                <a:latin typeface="Times New Roman" panose="02020603050405020304" pitchFamily="18" charset="0"/>
                <a:cs typeface="Times New Roman" panose="02020603050405020304" pitchFamily="18" charset="0"/>
              </a:rPr>
              <a:t>Presenter:  Ying-Yu Lin</a:t>
            </a:r>
          </a:p>
          <a:p>
            <a:pPr algn="r"/>
            <a:r>
              <a:rPr kumimoji="1" lang="en" altLang="zh-TW" dirty="0">
                <a:latin typeface="Times New Roman" panose="02020603050405020304" pitchFamily="18" charset="0"/>
                <a:cs typeface="Times New Roman" panose="02020603050405020304" pitchFamily="18" charset="0"/>
              </a:rPr>
              <a:t>Date: Oct. 5,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75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887278"/>
            <a:ext cx="11439524" cy="5083443"/>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kumimoji="1" lang="en-US" altLang="zh-TW" sz="2800" dirty="0">
                <a:latin typeface="Times New Roman" panose="02020603050405020304" pitchFamily="18" charset="0"/>
                <a:cs typeface="Times New Roman" panose="02020603050405020304" pitchFamily="18" charset="0"/>
              </a:rPr>
              <a:t>This paper proposes a hybrid model of neural network and decision tree classifier that predicts the likelihood of which university a student may enter, by </a:t>
            </a:r>
            <a:r>
              <a:rPr kumimoji="1" lang="en-US" altLang="zh-TW" sz="2800" dirty="0" err="1">
                <a:latin typeface="Times New Roman" panose="02020603050405020304" pitchFamily="18" charset="0"/>
                <a:cs typeface="Times New Roman" panose="02020603050405020304" pitchFamily="18" charset="0"/>
              </a:rPr>
              <a:t>analysing</a:t>
            </a:r>
            <a:r>
              <a:rPr kumimoji="1" lang="en-US" altLang="zh-TW" sz="2800" dirty="0">
                <a:latin typeface="Times New Roman" panose="02020603050405020304" pitchFamily="18" charset="0"/>
                <a:cs typeface="Times New Roman" panose="02020603050405020304" pitchFamily="18" charset="0"/>
              </a:rPr>
              <a:t> his academic merits, background and the university admission criteria from that of historical records. Our prototype system was tested with live data from sources of Macau secondary school students. In addition to the high prediction accuracy rate, flexibility is an advantage as the system can predict suitable universities that match the students' profiles and the suitable channels through which the students are advised to enter. Our model can be generalized with other attributes and perform faster when compared to using a neural network alone.</a:t>
            </a:r>
            <a:endParaRPr kumimoji="1"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932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723900" y="976086"/>
            <a:ext cx="10744200" cy="987425"/>
          </a:xfrm>
        </p:spPr>
        <p:txBody>
          <a:bodyPr>
            <a:noAutofit/>
          </a:bodyPr>
          <a:lstStyle/>
          <a:p>
            <a:pPr algn="ctr"/>
            <a:r>
              <a:rPr kumimoji="1" lang="en-US" altLang="zh-TW" sz="3600" b="1" dirty="0">
                <a:latin typeface="Times New Roman" panose="02020603050405020304" pitchFamily="18" charset="0"/>
                <a:ea typeface="+mn-ea"/>
                <a:cs typeface="Times New Roman" panose="02020603050405020304" pitchFamily="18" charset="0"/>
              </a:rPr>
              <a:t>no territory-wide standardized test </a:t>
            </a:r>
            <a:br>
              <a:rPr kumimoji="1" lang="en-US" altLang="zh-TW" sz="3600" b="1" dirty="0">
                <a:latin typeface="Times New Roman" panose="02020603050405020304" pitchFamily="18" charset="0"/>
                <a:ea typeface="+mn-ea"/>
                <a:cs typeface="Times New Roman" panose="02020603050405020304" pitchFamily="18" charset="0"/>
              </a:rPr>
            </a:br>
            <a:r>
              <a:rPr kumimoji="1" lang="en-US" altLang="zh-TW" sz="3600" b="1" dirty="0">
                <a:latin typeface="Times New Roman" panose="02020603050405020304" pitchFamily="18" charset="0"/>
                <a:ea typeface="+mn-ea"/>
                <a:cs typeface="Times New Roman" panose="02020603050405020304" pitchFamily="18" charset="0"/>
              </a:rPr>
              <a:t>for university admission in Macau</a:t>
            </a:r>
            <a:endParaRPr kumimoji="1" lang="zh-TW" altLang="en-US" sz="3600" dirty="0">
              <a:latin typeface="Times New Roman" panose="02020603050405020304" pitchFamily="18" charset="0"/>
              <a:ea typeface="+mn-ea"/>
              <a:cs typeface="Times New Roman" panose="02020603050405020304" pitchFamily="18" charset="0"/>
            </a:endParaRPr>
          </a:p>
        </p:txBody>
      </p:sp>
      <p:sp>
        <p:nvSpPr>
          <p:cNvPr id="6" name="文字方塊 5">
            <a:extLst>
              <a:ext uri="{FF2B5EF4-FFF2-40B4-BE49-F238E27FC236}">
                <a16:creationId xmlns:a16="http://schemas.microsoft.com/office/drawing/2014/main" id="{37BB6BD8-B1A1-45BB-A977-8BE9715E1356}"/>
              </a:ext>
            </a:extLst>
          </p:cNvPr>
          <p:cNvSpPr txBox="1"/>
          <p:nvPr/>
        </p:nvSpPr>
        <p:spPr>
          <a:xfrm>
            <a:off x="1738992" y="2811007"/>
            <a:ext cx="9553575" cy="2246769"/>
          </a:xfrm>
          <a:prstGeom prst="rect">
            <a:avLst/>
          </a:prstGeom>
          <a:noFill/>
        </p:spPr>
        <p:txBody>
          <a:bodyPr wrap="square">
            <a:spAutoFit/>
          </a:bodyPr>
          <a:lstStyle/>
          <a:p>
            <a:pPr marL="342900" indent="-342900">
              <a:buAutoNum type="arabicParenR"/>
            </a:pPr>
            <a:r>
              <a:rPr kumimoji="1" lang="en-US" altLang="zh-TW" sz="2800" dirty="0">
                <a:latin typeface="Times New Roman" panose="02020603050405020304" pitchFamily="18" charset="0"/>
                <a:cs typeface="Times New Roman" panose="02020603050405020304" pitchFamily="18" charset="0"/>
              </a:rPr>
              <a:t>filling the quota of direct admission without entrance examination by selecting top students</a:t>
            </a:r>
          </a:p>
          <a:p>
            <a:pPr marL="342900" indent="-342900">
              <a:buAutoNum type="arabicParenR"/>
            </a:pPr>
            <a:r>
              <a:rPr kumimoji="1" lang="en-US" altLang="zh-TW" sz="2800" dirty="0">
                <a:latin typeface="Times New Roman" panose="02020603050405020304" pitchFamily="18" charset="0"/>
                <a:cs typeface="Times New Roman" panose="02020603050405020304" pitchFamily="18" charset="0"/>
              </a:rPr>
              <a:t>finding the best allocation for the selected top students and the universities</a:t>
            </a:r>
          </a:p>
          <a:p>
            <a:pPr marL="342900" indent="-342900">
              <a:buAutoNum type="arabicParenR"/>
            </a:pPr>
            <a:r>
              <a:rPr kumimoji="1" lang="en-US" altLang="zh-TW" sz="2800" dirty="0">
                <a:latin typeface="Times New Roman" panose="02020603050405020304" pitchFamily="18" charset="0"/>
                <a:cs typeface="Times New Roman" panose="02020603050405020304" pitchFamily="18" charset="0"/>
              </a:rPr>
              <a:t>likewise for choosing the medium-quality students.</a:t>
            </a:r>
            <a:endParaRPr kumimoji="1"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704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961914" cy="758825"/>
          </a:xfrm>
        </p:spPr>
        <p:txBody>
          <a:bodyPr>
            <a:noAutofit/>
          </a:bodyPr>
          <a:lstStyle/>
          <a:p>
            <a:r>
              <a:rPr kumimoji="1" lang="en-US" altLang="zh-TW" sz="2800" b="1" dirty="0">
                <a:latin typeface="Times New Roman" panose="02020603050405020304" pitchFamily="18" charset="0"/>
                <a:ea typeface="+mn-ea"/>
                <a:cs typeface="Times New Roman" panose="02020603050405020304" pitchFamily="18" charset="0"/>
              </a:rPr>
              <a:t>Work flow of Recommender System of Admission to University(RSAU)</a:t>
            </a:r>
            <a:endParaRPr kumimoji="1" lang="zh-TW" altLang="en-US" sz="2800" dirty="0">
              <a:latin typeface="Times New Roman" panose="02020603050405020304" pitchFamily="18" charset="0"/>
              <a:ea typeface="+mn-ea"/>
              <a:cs typeface="Times New Roman" panose="02020603050405020304" pitchFamily="18" charset="0"/>
            </a:endParaRPr>
          </a:p>
        </p:txBody>
      </p:sp>
      <p:sp>
        <p:nvSpPr>
          <p:cNvPr id="7" name="文字方塊 6">
            <a:extLst>
              <a:ext uri="{FF2B5EF4-FFF2-40B4-BE49-F238E27FC236}">
                <a16:creationId xmlns:a16="http://schemas.microsoft.com/office/drawing/2014/main" id="{6DF33CD9-C3DB-49C5-8674-FB433A50F2FA}"/>
              </a:ext>
            </a:extLst>
          </p:cNvPr>
          <p:cNvSpPr txBox="1"/>
          <p:nvPr/>
        </p:nvSpPr>
        <p:spPr>
          <a:xfrm>
            <a:off x="446317" y="5181601"/>
            <a:ext cx="11636827" cy="1643527"/>
          </a:xfrm>
          <a:prstGeom prst="rect">
            <a:avLst/>
          </a:prstGeom>
          <a:noFill/>
        </p:spPr>
        <p:txBody>
          <a:bodyPr wrap="square">
            <a:spAutoFit/>
          </a:bodyPr>
          <a:lstStyle/>
          <a:p>
            <a:pPr>
              <a:lnSpc>
                <a:spcPct val="90000"/>
              </a:lnSpc>
              <a:spcBef>
                <a:spcPct val="0"/>
              </a:spcBef>
            </a:pPr>
            <a:r>
              <a:rPr kumimoji="1" lang="en-US" altLang="zh-TW" sz="2800" dirty="0">
                <a:latin typeface="Times New Roman" panose="02020603050405020304" pitchFamily="18" charset="0"/>
                <a:cs typeface="Times New Roman" panose="02020603050405020304" pitchFamily="18" charset="0"/>
              </a:rPr>
              <a:t>Step1): apply back-propagation algorithm  to train and build a learning model that calculates the importance of input corresponding to the output, and then sorts the inputs into a list by the feature significance. </a:t>
            </a:r>
          </a:p>
          <a:p>
            <a:pPr>
              <a:lnSpc>
                <a:spcPct val="90000"/>
              </a:lnSpc>
              <a:spcBef>
                <a:spcPct val="0"/>
              </a:spcBef>
            </a:pPr>
            <a:endParaRPr kumimoji="1" lang="en-US" altLang="zh-TW" sz="28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718E842B-72B8-4CA6-82E9-9501A2A8CE5E}"/>
              </a:ext>
            </a:extLst>
          </p:cNvPr>
          <p:cNvPicPr/>
          <p:nvPr/>
        </p:nvPicPr>
        <p:blipFill rotWithShape="1">
          <a:blip r:embed="rId3"/>
          <a:srcRect b="36187"/>
          <a:stretch/>
        </p:blipFill>
        <p:spPr>
          <a:xfrm>
            <a:off x="4191522" y="1123950"/>
            <a:ext cx="3735932" cy="3655992"/>
          </a:xfrm>
          <a:prstGeom prst="rect">
            <a:avLst/>
          </a:prstGeom>
        </p:spPr>
      </p:pic>
    </p:spTree>
    <p:extLst>
      <p:ext uri="{BB962C8B-B14F-4D97-AF65-F5344CB8AC3E}">
        <p14:creationId xmlns:p14="http://schemas.microsoft.com/office/powerpoint/2010/main" val="4065056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961914" cy="758825"/>
          </a:xfrm>
        </p:spPr>
        <p:txBody>
          <a:bodyPr>
            <a:noAutofit/>
          </a:bodyPr>
          <a:lstStyle/>
          <a:p>
            <a:r>
              <a:rPr kumimoji="1" lang="en-US" altLang="zh-TW" sz="2800" b="1" dirty="0">
                <a:latin typeface="Times New Roman" panose="02020603050405020304" pitchFamily="18" charset="0"/>
                <a:ea typeface="+mn-ea"/>
                <a:cs typeface="Times New Roman" panose="02020603050405020304" pitchFamily="18" charset="0"/>
              </a:rPr>
              <a:t>Work flow of Recommender System of Admission to University(RSAU)</a:t>
            </a:r>
            <a:endParaRPr kumimoji="1" lang="zh-TW" altLang="en-US" sz="2800" dirty="0">
              <a:latin typeface="Times New Roman" panose="02020603050405020304" pitchFamily="18" charset="0"/>
              <a:ea typeface="+mn-ea"/>
              <a:cs typeface="Times New Roman" panose="02020603050405020304" pitchFamily="18" charset="0"/>
            </a:endParaRPr>
          </a:p>
        </p:txBody>
      </p:sp>
      <p:sp>
        <p:nvSpPr>
          <p:cNvPr id="7" name="文字方塊 6">
            <a:extLst>
              <a:ext uri="{FF2B5EF4-FFF2-40B4-BE49-F238E27FC236}">
                <a16:creationId xmlns:a16="http://schemas.microsoft.com/office/drawing/2014/main" id="{6DF33CD9-C3DB-49C5-8674-FB433A50F2FA}"/>
              </a:ext>
            </a:extLst>
          </p:cNvPr>
          <p:cNvSpPr txBox="1"/>
          <p:nvPr/>
        </p:nvSpPr>
        <p:spPr>
          <a:xfrm>
            <a:off x="457202" y="6164031"/>
            <a:ext cx="11636827" cy="480131"/>
          </a:xfrm>
          <a:prstGeom prst="rect">
            <a:avLst/>
          </a:prstGeom>
          <a:noFill/>
        </p:spPr>
        <p:txBody>
          <a:bodyPr wrap="square">
            <a:spAutoFit/>
          </a:bodyPr>
          <a:lstStyle/>
          <a:p>
            <a:pPr>
              <a:lnSpc>
                <a:spcPct val="90000"/>
              </a:lnSpc>
              <a:spcBef>
                <a:spcPct val="0"/>
              </a:spcBef>
            </a:pPr>
            <a:r>
              <a:rPr kumimoji="1" lang="en-US" altLang="zh-TW" sz="2800" dirty="0">
                <a:latin typeface="Times New Roman" panose="02020603050405020304" pitchFamily="18" charset="0"/>
                <a:cs typeface="Times New Roman" panose="02020603050405020304" pitchFamily="18" charset="0"/>
              </a:rPr>
              <a:t>Step2): a feature selection model </a:t>
            </a:r>
          </a:p>
        </p:txBody>
      </p:sp>
      <p:pic>
        <p:nvPicPr>
          <p:cNvPr id="5" name="圖片 4">
            <a:extLst>
              <a:ext uri="{FF2B5EF4-FFF2-40B4-BE49-F238E27FC236}">
                <a16:creationId xmlns:a16="http://schemas.microsoft.com/office/drawing/2014/main" id="{998860E7-17A6-4369-A3D4-568D0C34B37E}"/>
              </a:ext>
            </a:extLst>
          </p:cNvPr>
          <p:cNvPicPr/>
          <p:nvPr/>
        </p:nvPicPr>
        <p:blipFill rotWithShape="1">
          <a:blip r:embed="rId3"/>
          <a:srcRect t="2028" b="8026"/>
          <a:stretch/>
        </p:blipFill>
        <p:spPr>
          <a:xfrm>
            <a:off x="2168720" y="1083128"/>
            <a:ext cx="7843674" cy="4691743"/>
          </a:xfrm>
          <a:prstGeom prst="rect">
            <a:avLst/>
          </a:prstGeom>
        </p:spPr>
      </p:pic>
    </p:spTree>
    <p:extLst>
      <p:ext uri="{BB962C8B-B14F-4D97-AF65-F5344CB8AC3E}">
        <p14:creationId xmlns:p14="http://schemas.microsoft.com/office/powerpoint/2010/main" val="4014459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961914" cy="758825"/>
          </a:xfrm>
        </p:spPr>
        <p:txBody>
          <a:bodyPr>
            <a:noAutofit/>
          </a:bodyPr>
          <a:lstStyle/>
          <a:p>
            <a:r>
              <a:rPr kumimoji="1" lang="en-US" altLang="zh-TW" sz="2800" b="1" dirty="0">
                <a:latin typeface="Times New Roman" panose="02020603050405020304" pitchFamily="18" charset="0"/>
                <a:ea typeface="+mn-ea"/>
                <a:cs typeface="Times New Roman" panose="02020603050405020304" pitchFamily="18" charset="0"/>
              </a:rPr>
              <a:t>Work flow of Recommender System of Admission to University(RSAU)</a:t>
            </a:r>
            <a:endParaRPr kumimoji="1" lang="zh-TW" altLang="en-US" sz="2800" dirty="0">
              <a:latin typeface="Times New Roman" panose="02020603050405020304" pitchFamily="18" charset="0"/>
              <a:ea typeface="+mn-ea"/>
              <a:cs typeface="Times New Roman" panose="02020603050405020304" pitchFamily="18" charset="0"/>
            </a:endParaRPr>
          </a:p>
        </p:txBody>
      </p:sp>
      <p:sp>
        <p:nvSpPr>
          <p:cNvPr id="7" name="文字方塊 6">
            <a:extLst>
              <a:ext uri="{FF2B5EF4-FFF2-40B4-BE49-F238E27FC236}">
                <a16:creationId xmlns:a16="http://schemas.microsoft.com/office/drawing/2014/main" id="{6DF33CD9-C3DB-49C5-8674-FB433A50F2FA}"/>
              </a:ext>
            </a:extLst>
          </p:cNvPr>
          <p:cNvSpPr txBox="1"/>
          <p:nvPr/>
        </p:nvSpPr>
        <p:spPr>
          <a:xfrm>
            <a:off x="457202" y="4988379"/>
            <a:ext cx="11636827" cy="1643527"/>
          </a:xfrm>
          <a:prstGeom prst="rect">
            <a:avLst/>
          </a:prstGeom>
          <a:noFill/>
        </p:spPr>
        <p:txBody>
          <a:bodyPr wrap="square">
            <a:spAutoFit/>
          </a:bodyPr>
          <a:lstStyle/>
          <a:p>
            <a:pPr>
              <a:lnSpc>
                <a:spcPct val="90000"/>
              </a:lnSpc>
              <a:spcBef>
                <a:spcPct val="0"/>
              </a:spcBef>
            </a:pPr>
            <a:r>
              <a:rPr kumimoji="1" lang="en-US" altLang="zh-TW" sz="2800" dirty="0">
                <a:latin typeface="Times New Roman" panose="02020603050405020304" pitchFamily="18" charset="0"/>
                <a:cs typeface="Times New Roman" panose="02020603050405020304" pitchFamily="18" charset="0"/>
              </a:rPr>
              <a:t>Step3): the decision rules generated by C4.5 are validated by measuring its performance. When it satisfactorily reaches the criterion set by the user, the classifier is ready to be used with new data for classification and prediction of the likelihood of secondary school students being admitted to universities.</a:t>
            </a:r>
            <a:endParaRPr kumimoji="1" lang="zh-TW" altLang="en-US" sz="28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C061624-0F9B-44A3-A4E2-8F929784BFA9}"/>
              </a:ext>
            </a:extLst>
          </p:cNvPr>
          <p:cNvPicPr/>
          <p:nvPr/>
        </p:nvPicPr>
        <p:blipFill>
          <a:blip r:embed="rId3"/>
          <a:stretch>
            <a:fillRect/>
          </a:stretch>
        </p:blipFill>
        <p:spPr>
          <a:xfrm>
            <a:off x="4897030" y="905783"/>
            <a:ext cx="2387054" cy="4082596"/>
          </a:xfrm>
          <a:prstGeom prst="rect">
            <a:avLst/>
          </a:prstGeom>
        </p:spPr>
      </p:pic>
    </p:spTree>
    <p:extLst>
      <p:ext uri="{BB962C8B-B14F-4D97-AF65-F5344CB8AC3E}">
        <p14:creationId xmlns:p14="http://schemas.microsoft.com/office/powerpoint/2010/main" val="192257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 Evaluation Criteria : </a:t>
            </a:r>
            <a:r>
              <a:rPr kumimoji="1" lang="en-US" altLang="zh-TW" sz="2700" dirty="0">
                <a:latin typeface="Times New Roman" panose="02020603050405020304" pitchFamily="18" charset="0"/>
                <a:ea typeface="+mn-ea"/>
                <a:cs typeface="Times New Roman" panose="02020603050405020304" pitchFamily="18" charset="0"/>
              </a:rPr>
              <a:t>accuracy and real-time constraints</a:t>
            </a:r>
            <a:endParaRPr kumimoji="1" lang="zh-TW" altLang="en-US" sz="2700" dirty="0">
              <a:latin typeface="Times New Roman" panose="02020603050405020304" pitchFamily="18" charset="0"/>
              <a:ea typeface="+mn-ea"/>
              <a:cs typeface="Times New Roman" panose="02020603050405020304" pitchFamily="18" charset="0"/>
            </a:endParaRPr>
          </a:p>
        </p:txBody>
      </p:sp>
      <p:pic>
        <p:nvPicPr>
          <p:cNvPr id="7" name="圖片 6">
            <a:extLst>
              <a:ext uri="{FF2B5EF4-FFF2-40B4-BE49-F238E27FC236}">
                <a16:creationId xmlns:a16="http://schemas.microsoft.com/office/drawing/2014/main" id="{2F74D0F3-C67E-4BF1-8EF4-F65199CEA648}"/>
              </a:ext>
            </a:extLst>
          </p:cNvPr>
          <p:cNvPicPr/>
          <p:nvPr/>
        </p:nvPicPr>
        <p:blipFill>
          <a:blip r:embed="rId3"/>
          <a:stretch>
            <a:fillRect/>
          </a:stretch>
        </p:blipFill>
        <p:spPr>
          <a:xfrm>
            <a:off x="3397250" y="1185318"/>
            <a:ext cx="5684936" cy="5307557"/>
          </a:xfrm>
          <a:prstGeom prst="rect">
            <a:avLst/>
          </a:prstGeom>
        </p:spPr>
      </p:pic>
      <p:sp>
        <p:nvSpPr>
          <p:cNvPr id="5" name="文字方塊 4">
            <a:extLst>
              <a:ext uri="{FF2B5EF4-FFF2-40B4-BE49-F238E27FC236}">
                <a16:creationId xmlns:a16="http://schemas.microsoft.com/office/drawing/2014/main" id="{595D427B-10A3-4DBB-AE2E-58CCDE349827}"/>
              </a:ext>
            </a:extLst>
          </p:cNvPr>
          <p:cNvSpPr txBox="1"/>
          <p:nvPr/>
        </p:nvSpPr>
        <p:spPr>
          <a:xfrm>
            <a:off x="8556171" y="6134429"/>
            <a:ext cx="3722914" cy="507831"/>
          </a:xfrm>
          <a:prstGeom prst="rect">
            <a:avLst/>
          </a:prstGeom>
          <a:noFill/>
        </p:spPr>
        <p:txBody>
          <a:bodyPr wrap="square">
            <a:spAutoFit/>
          </a:bodyPr>
          <a:lstStyle/>
          <a:p>
            <a:r>
              <a:rPr kumimoji="1" lang="en-US" altLang="zh-TW" sz="2700" b="1" dirty="0">
                <a:latin typeface="Times New Roman" panose="02020603050405020304" pitchFamily="18" charset="0"/>
                <a:cs typeface="Times New Roman" panose="02020603050405020304" pitchFamily="18" charset="0"/>
              </a:rPr>
              <a:t>10-fold cross-validation</a:t>
            </a:r>
            <a:endParaRPr kumimoji="1" lang="zh-TW" altLang="en-US" sz="2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4026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Classification Cost</a:t>
            </a:r>
            <a:endParaRPr kumimoji="1" lang="zh-TW" altLang="en-US" sz="3600" dirty="0">
              <a:latin typeface="Times New Roman" panose="02020603050405020304" pitchFamily="18" charset="0"/>
              <a:ea typeface="+mn-ea"/>
              <a:cs typeface="Times New Roman" panose="02020603050405020304" pitchFamily="18" charset="0"/>
            </a:endParaRPr>
          </a:p>
        </p:txBody>
      </p:sp>
      <p:pic>
        <p:nvPicPr>
          <p:cNvPr id="5" name="圖片 4">
            <a:extLst>
              <a:ext uri="{FF2B5EF4-FFF2-40B4-BE49-F238E27FC236}">
                <a16:creationId xmlns:a16="http://schemas.microsoft.com/office/drawing/2014/main" id="{FE7C4613-641A-40D7-8870-A9D3ABB26A5B}"/>
              </a:ext>
            </a:extLst>
          </p:cNvPr>
          <p:cNvPicPr/>
          <p:nvPr/>
        </p:nvPicPr>
        <p:blipFill>
          <a:blip r:embed="rId2"/>
          <a:stretch>
            <a:fillRect/>
          </a:stretch>
        </p:blipFill>
        <p:spPr>
          <a:xfrm>
            <a:off x="758852" y="2013515"/>
            <a:ext cx="10594947" cy="3418455"/>
          </a:xfrm>
          <a:prstGeom prst="rect">
            <a:avLst/>
          </a:prstGeom>
        </p:spPr>
      </p:pic>
    </p:spTree>
    <p:extLst>
      <p:ext uri="{BB962C8B-B14F-4D97-AF65-F5344CB8AC3E}">
        <p14:creationId xmlns:p14="http://schemas.microsoft.com/office/powerpoint/2010/main" val="3242092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Error Rate</a:t>
            </a:r>
            <a:endParaRPr kumimoji="1" lang="zh-TW" altLang="en-US" sz="3600" dirty="0">
              <a:latin typeface="Times New Roman" panose="02020603050405020304" pitchFamily="18" charset="0"/>
              <a:ea typeface="+mn-ea"/>
              <a:cs typeface="Times New Roman" panose="02020603050405020304" pitchFamily="18" charset="0"/>
            </a:endParaRPr>
          </a:p>
        </p:txBody>
      </p:sp>
      <p:pic>
        <p:nvPicPr>
          <p:cNvPr id="4" name="圖片 3">
            <a:extLst>
              <a:ext uri="{FF2B5EF4-FFF2-40B4-BE49-F238E27FC236}">
                <a16:creationId xmlns:a16="http://schemas.microsoft.com/office/drawing/2014/main" id="{FBE2A8E8-61E5-4783-ADEA-C14E306E8A55}"/>
              </a:ext>
            </a:extLst>
          </p:cNvPr>
          <p:cNvPicPr/>
          <p:nvPr/>
        </p:nvPicPr>
        <p:blipFill>
          <a:blip r:embed="rId3"/>
          <a:stretch>
            <a:fillRect/>
          </a:stretch>
        </p:blipFill>
        <p:spPr>
          <a:xfrm>
            <a:off x="3252107" y="1123950"/>
            <a:ext cx="5459186" cy="5280315"/>
          </a:xfrm>
          <a:prstGeom prst="rect">
            <a:avLst/>
          </a:prstGeom>
        </p:spPr>
      </p:pic>
    </p:spTree>
    <p:extLst>
      <p:ext uri="{BB962C8B-B14F-4D97-AF65-F5344CB8AC3E}">
        <p14:creationId xmlns:p14="http://schemas.microsoft.com/office/powerpoint/2010/main" val="3936404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 Learning Performance</a:t>
            </a:r>
            <a:endParaRPr kumimoji="1" lang="zh-TW" altLang="en-US" sz="3600" dirty="0">
              <a:latin typeface="Times New Roman" panose="02020603050405020304" pitchFamily="18" charset="0"/>
              <a:ea typeface="+mn-ea"/>
              <a:cs typeface="Times New Roman" panose="02020603050405020304" pitchFamily="18" charset="0"/>
            </a:endParaRPr>
          </a:p>
        </p:txBody>
      </p:sp>
      <p:sp>
        <p:nvSpPr>
          <p:cNvPr id="6" name="文字方塊 5">
            <a:extLst>
              <a:ext uri="{FF2B5EF4-FFF2-40B4-BE49-F238E27FC236}">
                <a16:creationId xmlns:a16="http://schemas.microsoft.com/office/drawing/2014/main" id="{B5A6F049-7261-49AE-8254-F8C1EAADF83B}"/>
              </a:ext>
            </a:extLst>
          </p:cNvPr>
          <p:cNvSpPr txBox="1"/>
          <p:nvPr/>
        </p:nvSpPr>
        <p:spPr>
          <a:xfrm>
            <a:off x="1246415" y="1879938"/>
            <a:ext cx="9318170" cy="3539430"/>
          </a:xfrm>
          <a:prstGeom prst="rect">
            <a:avLst/>
          </a:prstGeom>
          <a:noFill/>
        </p:spPr>
        <p:txBody>
          <a:bodyPr wrap="square">
            <a:spAutoFit/>
          </a:bodyPr>
          <a:lstStyle/>
          <a:p>
            <a:pPr marL="457200" indent="-457200">
              <a:buFont typeface="Arial" panose="020B0604020202020204" pitchFamily="34" charset="0"/>
              <a:buChar char="•"/>
            </a:pPr>
            <a:r>
              <a:rPr kumimoji="1" lang="en-US" altLang="zh-TW" sz="3200" dirty="0">
                <a:latin typeface="Times New Roman" panose="02020603050405020304" pitchFamily="18" charset="0"/>
                <a:cs typeface="Times New Roman" panose="02020603050405020304" pitchFamily="18" charset="0"/>
              </a:rPr>
              <a:t>decision trees is that it takes only several seconds to learn a dataset of 10,000 instances, which is considered fast. </a:t>
            </a:r>
          </a:p>
          <a:p>
            <a:pPr marL="457200" indent="-457200">
              <a:buFont typeface="Arial" panose="020B0604020202020204" pitchFamily="34" charset="0"/>
              <a:buChar char="•"/>
            </a:pPr>
            <a:r>
              <a:rPr kumimoji="1" lang="en-US" altLang="zh-TW" sz="3200" dirty="0">
                <a:latin typeface="Times New Roman" panose="02020603050405020304" pitchFamily="18" charset="0"/>
                <a:cs typeface="Times New Roman" panose="02020603050405020304" pitchFamily="18" charset="0"/>
              </a:rPr>
              <a:t>In contrast, neural network learning takes a relatively longer time. The learning time for the neural nets was about 20 minutes for the back-propagation networks, on the same computing platform</a:t>
            </a:r>
            <a:endParaRPr kumimoji="1"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5282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 Learning Performance</a:t>
            </a:r>
            <a:endParaRPr kumimoji="1" lang="zh-TW" altLang="en-US" sz="3600" dirty="0">
              <a:latin typeface="Times New Roman" panose="02020603050405020304" pitchFamily="18" charset="0"/>
              <a:ea typeface="+mn-ea"/>
              <a:cs typeface="Times New Roman" panose="02020603050405020304" pitchFamily="18" charset="0"/>
            </a:endParaRPr>
          </a:p>
        </p:txBody>
      </p:sp>
      <p:pic>
        <p:nvPicPr>
          <p:cNvPr id="4" name="圖片 3">
            <a:extLst>
              <a:ext uri="{FF2B5EF4-FFF2-40B4-BE49-F238E27FC236}">
                <a16:creationId xmlns:a16="http://schemas.microsoft.com/office/drawing/2014/main" id="{6361BDA5-89E2-457E-9176-B997C287F3D6}"/>
              </a:ext>
            </a:extLst>
          </p:cNvPr>
          <p:cNvPicPr/>
          <p:nvPr/>
        </p:nvPicPr>
        <p:blipFill>
          <a:blip r:embed="rId3"/>
          <a:stretch>
            <a:fillRect/>
          </a:stretch>
        </p:blipFill>
        <p:spPr>
          <a:xfrm>
            <a:off x="2986314" y="1039014"/>
            <a:ext cx="5990771" cy="5558228"/>
          </a:xfrm>
          <a:prstGeom prst="rect">
            <a:avLst/>
          </a:prstGeom>
        </p:spPr>
      </p:pic>
    </p:spTree>
    <p:extLst>
      <p:ext uri="{BB962C8B-B14F-4D97-AF65-F5344CB8AC3E}">
        <p14:creationId xmlns:p14="http://schemas.microsoft.com/office/powerpoint/2010/main" val="3302269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C59307-6ED0-43FB-9DD4-CA4D93F3C5E0}"/>
              </a:ext>
            </a:extLst>
          </p:cNvPr>
          <p:cNvSpPr>
            <a:spLocks noGrp="1"/>
          </p:cNvSpPr>
          <p:nvPr>
            <p:ph type="title"/>
          </p:nvPr>
        </p:nvSpPr>
        <p:spPr>
          <a:xfrm>
            <a:off x="609600" y="365125"/>
            <a:ext cx="10744200" cy="758825"/>
          </a:xfrm>
        </p:spPr>
        <p:txBody>
          <a:bodyPr>
            <a:normAutofit/>
          </a:bodyPr>
          <a:lstStyle/>
          <a:p>
            <a:r>
              <a:rPr kumimoji="1" lang="en-US" altLang="zh-TW" sz="3600" b="1" dirty="0">
                <a:latin typeface="Times New Roman" panose="02020603050405020304" pitchFamily="18" charset="0"/>
                <a:ea typeface="+mn-ea"/>
                <a:cs typeface="Times New Roman" panose="02020603050405020304" pitchFamily="18" charset="0"/>
              </a:rPr>
              <a:t>Conclusion</a:t>
            </a:r>
            <a:endParaRPr kumimoji="1" lang="zh-TW" altLang="en-US" sz="3600" dirty="0">
              <a:latin typeface="Times New Roman" panose="02020603050405020304" pitchFamily="18" charset="0"/>
              <a:ea typeface="+mn-ea"/>
              <a:cs typeface="Times New Roman" panose="02020603050405020304" pitchFamily="18" charset="0"/>
            </a:endParaRPr>
          </a:p>
        </p:txBody>
      </p:sp>
      <p:sp>
        <p:nvSpPr>
          <p:cNvPr id="4" name="文字方塊 3">
            <a:extLst>
              <a:ext uri="{FF2B5EF4-FFF2-40B4-BE49-F238E27FC236}">
                <a16:creationId xmlns:a16="http://schemas.microsoft.com/office/drawing/2014/main" id="{836ECD64-A11A-4B37-9185-534F6BACD482}"/>
              </a:ext>
            </a:extLst>
          </p:cNvPr>
          <p:cNvSpPr txBox="1"/>
          <p:nvPr/>
        </p:nvSpPr>
        <p:spPr>
          <a:xfrm>
            <a:off x="1246415" y="1324759"/>
            <a:ext cx="9318170" cy="4524315"/>
          </a:xfrm>
          <a:prstGeom prst="rect">
            <a:avLst/>
          </a:prstGeom>
          <a:noFill/>
        </p:spPr>
        <p:txBody>
          <a:bodyPr wrap="square">
            <a:spAutoFit/>
          </a:bodyPr>
          <a:lstStyle/>
          <a:p>
            <a:pPr marL="457200" indent="-457200">
              <a:buFont typeface="Arial" panose="020B0604020202020204" pitchFamily="34" charset="0"/>
              <a:buChar char="•"/>
            </a:pPr>
            <a:r>
              <a:rPr kumimoji="1" lang="en-US" altLang="zh-TW" sz="3200" dirty="0">
                <a:latin typeface="Times New Roman" panose="02020603050405020304" pitchFamily="18" charset="0"/>
                <a:cs typeface="Times New Roman" panose="02020603050405020304" pitchFamily="18" charset="0"/>
              </a:rPr>
              <a:t>The experiments showed that a hybrid decision tree and neural network approach improves accuracy in admission to university classification task and performs substantially better than a single decision tree or neural network. </a:t>
            </a:r>
          </a:p>
          <a:p>
            <a:pPr marL="457200" indent="-457200">
              <a:buFont typeface="Arial" panose="020B0604020202020204" pitchFamily="34" charset="0"/>
              <a:buChar char="•"/>
            </a:pPr>
            <a:r>
              <a:rPr kumimoji="1" lang="en-US" altLang="zh-TW" sz="3200" dirty="0">
                <a:latin typeface="Times New Roman" panose="02020603050405020304" pitchFamily="18" charset="0"/>
                <a:cs typeface="Times New Roman" panose="02020603050405020304" pitchFamily="18" charset="0"/>
              </a:rPr>
              <a:t>Although the real students’ data used was from Macau, the design of the recommender is generic and applicable to educational systems in other countries such as those cited in</a:t>
            </a:r>
            <a:endParaRPr kumimoji="1"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03209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9669</TotalTime>
  <Words>865</Words>
  <Application>Microsoft Office PowerPoint</Application>
  <PresentationFormat>寬螢幕</PresentationFormat>
  <Paragraphs>43</Paragraphs>
  <Slides>12</Slides>
  <Notes>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Office 佈景主題</vt:lpstr>
      <vt:lpstr>PowerPoint 簡報</vt:lpstr>
      <vt:lpstr>PowerPoint 簡報</vt:lpstr>
      <vt:lpstr>no territory-wide standardized test  for university admission in Macau</vt:lpstr>
      <vt:lpstr>Work flow of Recommender System of Admission to University(RSAU)</vt:lpstr>
      <vt:lpstr>Work flow of Recommender System of Admission to University(RSAU)</vt:lpstr>
      <vt:lpstr>Work flow of Recommender System of Admission to University(RSAU)</vt:lpstr>
      <vt:lpstr> Evaluation Criteria : accuracy and real-time constraints</vt:lpstr>
      <vt:lpstr>Classification Cost</vt:lpstr>
      <vt:lpstr>Error Rate</vt:lpstr>
      <vt:lpstr> Learning Performance</vt:lpstr>
      <vt:lpstr> Learning Performance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林映妤</dc:creator>
  <cp:lastModifiedBy>m103040019</cp:lastModifiedBy>
  <cp:revision>13</cp:revision>
  <dcterms:created xsi:type="dcterms:W3CDTF">2021-09-14T08:08:54Z</dcterms:created>
  <dcterms:modified xsi:type="dcterms:W3CDTF">2021-10-05T07:53:38Z</dcterms:modified>
</cp:coreProperties>
</file>