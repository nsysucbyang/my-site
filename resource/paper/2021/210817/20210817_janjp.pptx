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535" r:id="rId3"/>
    <p:sldId id="258" r:id="rId4"/>
    <p:sldId id="260" r:id="rId5"/>
    <p:sldId id="403" r:id="rId6"/>
    <p:sldId id="516" r:id="rId7"/>
    <p:sldId id="522" r:id="rId8"/>
    <p:sldId id="526" r:id="rId9"/>
    <p:sldId id="536" r:id="rId10"/>
    <p:sldId id="527" r:id="rId11"/>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CC"/>
    <a:srgbClr val="FF16FF"/>
    <a:srgbClr val="FAEBD7"/>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73300" autoAdjust="0"/>
  </p:normalViewPr>
  <p:slideViewPr>
    <p:cSldViewPr>
      <p:cViewPr varScale="1">
        <p:scale>
          <a:sx n="85" d="100"/>
          <a:sy n="85" d="100"/>
        </p:scale>
        <p:origin x="1267" y="72"/>
      </p:cViewPr>
      <p:guideLst>
        <p:guide orient="horz" pos="2160"/>
        <p:guide pos="2880"/>
      </p:guideLst>
    </p:cSldViewPr>
  </p:slid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2021/8/17</a:t>
            </a:fld>
            <a:endParaRPr lang="zh-TW" altLang="en-US"/>
          </a:p>
        </p:txBody>
      </p:sp>
      <p:sp>
        <p:nvSpPr>
          <p:cNvPr id="4" name="投影片圖像版面配置區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168400" y="1243013"/>
            <a:ext cx="4470400" cy="33543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2952944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168400" y="1243013"/>
            <a:ext cx="4470400" cy="33543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4</a:t>
            </a:fld>
            <a:endParaRPr lang="zh-TW" altLang="en-US"/>
          </a:p>
        </p:txBody>
      </p:sp>
    </p:spTree>
    <p:extLst>
      <p:ext uri="{BB962C8B-B14F-4D97-AF65-F5344CB8AC3E}">
        <p14:creationId xmlns:p14="http://schemas.microsoft.com/office/powerpoint/2010/main" val="2991817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2021/8/17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2021/8/17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2021/8/17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2021/8/17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2021/8/17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2021/8/17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2021/8/17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1497046" y="1700808"/>
            <a:ext cx="6149906" cy="649317"/>
          </a:xfrm>
        </p:spPr>
        <p:txBody>
          <a:bodyPr>
            <a:noAutofit/>
          </a:bodyPr>
          <a:lstStyle/>
          <a:p>
            <a:br>
              <a:rPr lang="en-US" altLang="zh-TW" sz="3200" dirty="0">
                <a:latin typeface="Times New Roman"/>
                <a:ea typeface="新細明體"/>
                <a:cs typeface="Times New Roman"/>
              </a:rPr>
            </a:br>
            <a:r>
              <a:rPr lang="en-US" altLang="zh-TW" sz="3200" dirty="0">
                <a:latin typeface="Times New Roman"/>
                <a:ea typeface="新細明體"/>
                <a:cs typeface="Times New Roman"/>
              </a:rPr>
              <a:t>Who should bid higher, NS or WE, in a given</a:t>
            </a:r>
            <a:r>
              <a:rPr lang="zh-TW" altLang="en-US" sz="3200" dirty="0">
                <a:latin typeface="Times New Roman"/>
                <a:ea typeface="新細明體"/>
                <a:cs typeface="Times New Roman"/>
              </a:rPr>
              <a:t> </a:t>
            </a:r>
            <a:r>
              <a:rPr lang="en-US" altLang="zh-TW" sz="3200" dirty="0">
                <a:latin typeface="Times New Roman"/>
                <a:ea typeface="新細明體"/>
                <a:cs typeface="Times New Roman"/>
              </a:rPr>
              <a:t>Bridge deal?</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vert="horz" lIns="91440" tIns="45720" rIns="91440" bIns="45720" rtlCol="0" anchor="t">
            <a:noAutofit/>
          </a:bodyPr>
          <a:lstStyle/>
          <a:p>
            <a:pPr fontAlgn="ctr"/>
            <a:r>
              <a:rPr lang="en-US" altLang="zh-TW" sz="2000" dirty="0">
                <a:solidFill>
                  <a:schemeClr val="tx1"/>
                </a:solidFill>
                <a:latin typeface="Times New Roman"/>
                <a:ea typeface="新細明體"/>
                <a:cs typeface="Times New Roman"/>
              </a:rPr>
              <a:t>Jacek </a:t>
            </a:r>
            <a:r>
              <a:rPr lang="en-US" altLang="zh-TW" sz="2000" dirty="0" err="1">
                <a:solidFill>
                  <a:schemeClr val="tx1"/>
                </a:solidFill>
                <a:latin typeface="Times New Roman"/>
                <a:ea typeface="新細明體"/>
                <a:cs typeface="Times New Roman"/>
              </a:rPr>
              <a:t>Mańdziuk</a:t>
            </a:r>
            <a:r>
              <a:rPr lang="zh-TW" altLang="en-US" sz="2000" dirty="0">
                <a:solidFill>
                  <a:schemeClr val="tx1"/>
                </a:solidFill>
                <a:latin typeface="Times New Roman"/>
                <a:ea typeface="新細明體"/>
                <a:cs typeface="Times New Roman"/>
              </a:rPr>
              <a:t> </a:t>
            </a:r>
            <a:r>
              <a:rPr lang="en-US" altLang="zh-TW" sz="2000" dirty="0">
                <a:solidFill>
                  <a:schemeClr val="tx1"/>
                </a:solidFill>
                <a:latin typeface="Times New Roman"/>
                <a:ea typeface="新細明體"/>
                <a:cs typeface="Times New Roman"/>
              </a:rPr>
              <a:t>and Jakub </a:t>
            </a:r>
            <a:r>
              <a:rPr lang="en-US" altLang="zh-TW" sz="2000" dirty="0" err="1">
                <a:solidFill>
                  <a:schemeClr val="tx1"/>
                </a:solidFill>
                <a:latin typeface="Times New Roman"/>
                <a:ea typeface="新細明體"/>
                <a:cs typeface="Times New Roman"/>
              </a:rPr>
              <a:t>Suchan</a:t>
            </a:r>
            <a:endParaRPr lang="en-US" altLang="zh-TW" sz="2000" dirty="0">
              <a:solidFill>
                <a:schemeClr val="tx1"/>
              </a:solidFill>
              <a:latin typeface="Times New Roman"/>
              <a:ea typeface="新細明體"/>
              <a:cs typeface="Times New Roman"/>
            </a:endParaRPr>
          </a:p>
        </p:txBody>
      </p:sp>
      <p:sp>
        <p:nvSpPr>
          <p:cNvPr id="8" name="文字方塊 7">
            <a:extLst>
              <a:ext uri="{FF2B5EF4-FFF2-40B4-BE49-F238E27FC236}">
                <a16:creationId xmlns:a16="http://schemas.microsoft.com/office/drawing/2014/main" id="{8F2527E8-BB8F-41FB-8AF1-03DCC96BC069}"/>
              </a:ext>
            </a:extLst>
          </p:cNvPr>
          <p:cNvSpPr txBox="1"/>
          <p:nvPr/>
        </p:nvSpPr>
        <p:spPr>
          <a:xfrm>
            <a:off x="750472" y="3847691"/>
            <a:ext cx="7643054" cy="1107996"/>
          </a:xfrm>
          <a:prstGeom prst="rect">
            <a:avLst/>
          </a:prstGeom>
          <a:noFill/>
        </p:spPr>
        <p:txBody>
          <a:bodyPr wrap="square" lIns="91440" tIns="45720" rIns="91440" bIns="45720" rtlCol="0" anchor="t">
            <a:spAutoFit/>
          </a:bodyPr>
          <a:lstStyle/>
          <a:p>
            <a:pPr algn="ctr"/>
            <a:r>
              <a:rPr lang="en-US" altLang="zh-TW" sz="2200" dirty="0">
                <a:latin typeface="Times New Roman"/>
                <a:ea typeface="+mn-lt"/>
                <a:cs typeface="+mn-lt"/>
              </a:rPr>
              <a:t>International Joint Conference on Neural Networks. Budapest, Hungary. 14-19 July 2019</a:t>
            </a:r>
          </a:p>
          <a:p>
            <a:pPr algn="ctr"/>
            <a:endParaRPr lang="en-US" altLang="zh-TW" sz="2200" dirty="0">
              <a:latin typeface="Times New Roman"/>
              <a:ea typeface="+mn-lt"/>
              <a:cs typeface="+mn-lt"/>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652120" y="5377328"/>
            <a:ext cx="315823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Jing-Ping Jan</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05264"/>
            <a:ext cx="2671565" cy="461665"/>
          </a:xfrm>
          <a:prstGeom prst="rect">
            <a:avLst/>
          </a:prstGeom>
          <a:noFill/>
        </p:spPr>
        <p:txBody>
          <a:bodyPr wrap="none" lIns="91440" tIns="45720" rIns="91440" bIns="45720" rtlCol="0" anchor="t">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latin typeface="Times New Roman"/>
                <a:ea typeface="新細明體"/>
                <a:cs typeface="Times New Roman"/>
              </a:rPr>
              <a:t>Date: Aug. 17, 2021</a:t>
            </a:r>
            <a:endParaRPr lang="zh-TW" altLang="en-US" dirty="0">
              <a:latin typeface="Times New Roman"/>
              <a:ea typeface="新細明體"/>
              <a:cs typeface="Times New Roman"/>
            </a:endParaRPr>
          </a:p>
        </p:txBody>
      </p:sp>
    </p:spTree>
    <p:extLst>
      <p:ext uri="{BB962C8B-B14F-4D97-AF65-F5344CB8AC3E}">
        <p14:creationId xmlns:p14="http://schemas.microsoft.com/office/powerpoint/2010/main" val="355704993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200" dirty="0">
                <a:latin typeface="Times New Roman"/>
                <a:ea typeface="+mn-lt"/>
                <a:cs typeface="+mn-lt"/>
              </a:rPr>
              <a:t>The paper proposes a neural model for a direct comparison of the two so-called Double Dummy Bridge Problem (DDBP) instances, along with a practical use-case for determining which pair, NS or W E, should propose the higher deal during a bidding phase in a Bridge game. The proposed system is composed of two identical subnetworks combined by a comparator layer placed on top of them. The base of each subnetwork is a shallow autoencoder (AE) which is further connected with a Multilayer Perceptron. The system is trained in two phases - an unsupervised one - used to create a meaningful feature-based input representation in AE compression layer, and a supervised one - meant for fine-tuning of the whole model. Training and test data are composed of pairs of Bridge deals in which the second deal in a pair is the first one rotated by 90 degrees. </a:t>
            </a:r>
          </a:p>
        </p:txBody>
      </p:sp>
    </p:spTree>
    <p:extLst>
      <p:ext uri="{BB962C8B-B14F-4D97-AF65-F5344CB8AC3E}">
        <p14:creationId xmlns:p14="http://schemas.microsoft.com/office/powerpoint/2010/main" val="69273145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200" dirty="0">
                <a:latin typeface="Times New Roman"/>
                <a:ea typeface="+mn-lt"/>
                <a:cs typeface="+mn-lt"/>
              </a:rPr>
              <a:t>Since the task is to point which of the two deals promise a higher contract for the NS pair, due to deal rotation within a pair, the system effectively answers the title question “Who should bid higher, NS or WE, in a given deal?”. The proposed approach is experimentally compared with two other methods: one relying on a neural system solving the DDBP and the other one employing several estimators of hand strength used by experienced players. The results clearly indicate that both neural network approaches outperform the usage of human-scoring systems by a large margin, most notably in the trump (suit) contract.</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nchor="ctr">
            <a:normAutofit/>
          </a:bodyPr>
          <a:lstStyle/>
          <a:p>
            <a:pPr algn="l"/>
            <a:r>
              <a:rPr lang="en-US" dirty="0">
                <a:latin typeface="Times New Roman"/>
                <a:cs typeface="Times New Roman"/>
              </a:rPr>
              <a:t>Introduction</a:t>
            </a:r>
            <a:endParaRPr lang="zh-TW" altLang="en-US" dirty="0">
              <a:latin typeface="Times New Roman"/>
              <a:cs typeface="Times New Roman"/>
            </a:endParaRPr>
          </a:p>
        </p:txBody>
      </p:sp>
      <p:sp>
        <p:nvSpPr>
          <p:cNvPr id="3" name="內容版面配置區 2"/>
          <p:cNvSpPr>
            <a:spLocks noGrp="1"/>
          </p:cNvSpPr>
          <p:nvPr>
            <p:ph sz="half" idx="1"/>
          </p:nvPr>
        </p:nvSpPr>
        <p:spPr>
          <a:xfrm>
            <a:off x="457200" y="1600200"/>
            <a:ext cx="4038600" cy="4525963"/>
          </a:xfrm>
        </p:spPr>
        <p:txBody>
          <a:bodyPr vert="horz" lIns="91440" tIns="45720" rIns="91440" bIns="45720" rtlCol="0" anchor="t">
            <a:normAutofit/>
          </a:bodyPr>
          <a:lstStyle/>
          <a:p>
            <a:r>
              <a:rPr lang="en-US" altLang="zh-TW" dirty="0">
                <a:latin typeface="Times New Roman"/>
                <a:ea typeface="新細明體"/>
                <a:cs typeface="Times New Roman"/>
              </a:rPr>
              <a:t>Bidding stage</a:t>
            </a:r>
            <a:br>
              <a:rPr lang="en-US" altLang="zh-TW" dirty="0">
                <a:latin typeface="Times New Roman"/>
              </a:rPr>
            </a:br>
            <a:r>
              <a:rPr lang="en-US" altLang="zh-TW" dirty="0">
                <a:latin typeface="Times New Roman"/>
                <a:ea typeface="新細明體"/>
                <a:cs typeface="Times New Roman"/>
              </a:rPr>
              <a:t>Find the most profitable contract for the playing stage</a:t>
            </a:r>
          </a:p>
          <a:p>
            <a:r>
              <a:rPr lang="en-US" altLang="zh-TW" dirty="0">
                <a:latin typeface="Times New Roman"/>
                <a:ea typeface="新細明體"/>
                <a:cs typeface="Times New Roman"/>
              </a:rPr>
              <a:t>Playing stage</a:t>
            </a:r>
            <a:br>
              <a:rPr lang="en-US" altLang="zh-TW" dirty="0">
                <a:latin typeface="Times New Roman"/>
              </a:rPr>
            </a:br>
            <a:r>
              <a:rPr lang="en-US" altLang="zh-TW" dirty="0">
                <a:latin typeface="Times New Roman"/>
                <a:ea typeface="新細明體"/>
                <a:cs typeface="Times New Roman"/>
              </a:rPr>
              <a:t>13 rounds of a card-strength competition</a:t>
            </a:r>
          </a:p>
        </p:txBody>
      </p:sp>
      <p:pic>
        <p:nvPicPr>
          <p:cNvPr id="4" name="Picture 4">
            <a:extLst>
              <a:ext uri="{FF2B5EF4-FFF2-40B4-BE49-F238E27FC236}">
                <a16:creationId xmlns:a16="http://schemas.microsoft.com/office/drawing/2014/main" id="{10CA24D7-37B0-4AD3-AD31-66F21D408E09}"/>
              </a:ext>
            </a:extLst>
          </p:cNvPr>
          <p:cNvPicPr>
            <a:picLocks noChangeAspect="1"/>
          </p:cNvPicPr>
          <p:nvPr/>
        </p:nvPicPr>
        <p:blipFill>
          <a:blip r:embed="rId3"/>
          <a:stretch>
            <a:fillRect/>
          </a:stretch>
        </p:blipFill>
        <p:spPr>
          <a:xfrm>
            <a:off x="4612895" y="1571995"/>
            <a:ext cx="4947704" cy="3708571"/>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normAutofit fontScale="90000"/>
          </a:bodyPr>
          <a:lstStyle/>
          <a:p>
            <a:pPr algn="l"/>
            <a:br>
              <a:rPr lang="en-US" altLang="zh-TW" sz="3600" dirty="0">
                <a:latin typeface="Times New Roman"/>
                <a:ea typeface="新細明體"/>
                <a:cs typeface="Times New Roman"/>
              </a:rPr>
            </a:br>
            <a:r>
              <a:rPr lang="en-US" altLang="zh-TW" sz="3600" dirty="0">
                <a:latin typeface="Times New Roman"/>
                <a:ea typeface="新細明體"/>
                <a:cs typeface="Times New Roman"/>
              </a:rPr>
              <a:t>Who should bid higher, NS or WE, in a given</a:t>
            </a:r>
            <a:r>
              <a:rPr lang="zh-TW" altLang="en-US" sz="3600" dirty="0">
                <a:latin typeface="Times New Roman"/>
                <a:ea typeface="新細明體"/>
                <a:cs typeface="Times New Roman"/>
              </a:rPr>
              <a:t> </a:t>
            </a:r>
            <a:r>
              <a:rPr lang="en-US" altLang="zh-TW" sz="3600" dirty="0">
                <a:latin typeface="Times New Roman"/>
                <a:ea typeface="新細明體"/>
                <a:cs typeface="Times New Roman"/>
              </a:rPr>
              <a:t>Bridge deal?</a:t>
            </a:r>
            <a:endParaRPr lang="en-US" sz="3600"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CA5D26AE-2421-46D9-99A2-978A0A9C4E30}"/>
              </a:ext>
            </a:extLst>
          </p:cNvPr>
          <p:cNvPicPr>
            <a:picLocks noGrp="1" noChangeAspect="1"/>
          </p:cNvPicPr>
          <p:nvPr>
            <p:ph sz="half" idx="1"/>
          </p:nvPr>
        </p:nvPicPr>
        <p:blipFill>
          <a:blip r:embed="rId2"/>
          <a:stretch>
            <a:fillRect/>
          </a:stretch>
        </p:blipFill>
        <p:spPr>
          <a:xfrm>
            <a:off x="2182019" y="2229644"/>
            <a:ext cx="4781550" cy="3267075"/>
          </a:xfrm>
        </p:spPr>
      </p:pic>
    </p:spTree>
    <p:extLst>
      <p:ext uri="{BB962C8B-B14F-4D97-AF65-F5344CB8AC3E}">
        <p14:creationId xmlns:p14="http://schemas.microsoft.com/office/powerpoint/2010/main" val="418115850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AE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network</a:t>
            </a:r>
            <a:endParaRPr lang="zh-TW" altLang="en-US" dirty="0"/>
          </a:p>
        </p:txBody>
      </p:sp>
      <p:pic>
        <p:nvPicPr>
          <p:cNvPr id="8" name="內容版面配置區 7">
            <a:extLst>
              <a:ext uri="{FF2B5EF4-FFF2-40B4-BE49-F238E27FC236}">
                <a16:creationId xmlns:a16="http://schemas.microsoft.com/office/drawing/2014/main" id="{672C15CA-3126-42D9-AB70-ADD20A596C8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93749" y="2076136"/>
            <a:ext cx="3947502" cy="3574090"/>
          </a:xfrm>
        </p:spPr>
      </p:pic>
      <p:pic>
        <p:nvPicPr>
          <p:cNvPr id="5" name="內容版面配置區 4">
            <a:extLst>
              <a:ext uri="{FF2B5EF4-FFF2-40B4-BE49-F238E27FC236}">
                <a16:creationId xmlns:a16="http://schemas.microsoft.com/office/drawing/2014/main" id="{98C475BC-06FC-486A-A892-11846DFB8C7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457200" y="2123477"/>
            <a:ext cx="4038600" cy="3479409"/>
          </a:xfrm>
        </p:spPr>
      </p:pic>
    </p:spTree>
    <p:extLst>
      <p:ext uri="{BB962C8B-B14F-4D97-AF65-F5344CB8AC3E}">
        <p14:creationId xmlns:p14="http://schemas.microsoft.com/office/powerpoint/2010/main" val="367767849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45B986A8-E240-4ABC-92F2-A7DAC417F5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0072" y="1052736"/>
            <a:ext cx="3302390" cy="5621402"/>
          </a:xfrm>
          <a:prstGeom prst="rect">
            <a:avLst/>
          </a:prstGeom>
        </p:spPr>
      </p:pic>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err="1">
                <a:latin typeface="Times New Roman" panose="02020603050405020304" pitchFamily="18" charset="0"/>
                <a:cs typeface="Times New Roman" panose="02020603050405020304" pitchFamily="18" charset="0"/>
              </a:rPr>
              <a:t>DeepChess</a:t>
            </a:r>
            <a:r>
              <a:rPr lang="en-US" altLang="zh-TW" dirty="0">
                <a:latin typeface="Times New Roman" panose="02020603050405020304" pitchFamily="18" charset="0"/>
                <a:cs typeface="Times New Roman" panose="02020603050405020304" pitchFamily="18" charset="0"/>
              </a:rPr>
              <a:t>-like neural system</a:t>
            </a:r>
            <a:endParaRPr lang="zh-TW" altLang="en-US" dirty="0"/>
          </a:p>
        </p:txBody>
      </p:sp>
      <p:pic>
        <p:nvPicPr>
          <p:cNvPr id="5" name="圖片 4">
            <a:extLst>
              <a:ext uri="{FF2B5EF4-FFF2-40B4-BE49-F238E27FC236}">
                <a16:creationId xmlns:a16="http://schemas.microsoft.com/office/drawing/2014/main" id="{C7FA6317-D1C0-407E-B019-A83E7F6D92D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9512" y="2492896"/>
            <a:ext cx="4837534" cy="3240360"/>
          </a:xfrm>
          <a:prstGeom prst="rect">
            <a:avLst/>
          </a:prstGeom>
        </p:spPr>
      </p:pic>
    </p:spTree>
    <p:extLst>
      <p:ext uri="{BB962C8B-B14F-4D97-AF65-F5344CB8AC3E}">
        <p14:creationId xmlns:p14="http://schemas.microsoft.com/office/powerpoint/2010/main" val="123002819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Bridge trick estimation methods</a:t>
            </a:r>
            <a:endParaRPr lang="zh-TW" altLang="en-US" dirty="0"/>
          </a:p>
        </p:txBody>
      </p:sp>
      <p:pic>
        <p:nvPicPr>
          <p:cNvPr id="5" name="圖片 4">
            <a:extLst>
              <a:ext uri="{FF2B5EF4-FFF2-40B4-BE49-F238E27FC236}">
                <a16:creationId xmlns:a16="http://schemas.microsoft.com/office/drawing/2014/main" id="{C7FA6317-D1C0-407E-B019-A83E7F6D92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75204" y="1196752"/>
            <a:ext cx="6793592" cy="2141065"/>
          </a:xfrm>
          <a:prstGeom prst="rect">
            <a:avLst/>
          </a:prstGeom>
        </p:spPr>
      </p:pic>
      <p:sp>
        <p:nvSpPr>
          <p:cNvPr id="3" name="文字方塊 2">
            <a:extLst>
              <a:ext uri="{FF2B5EF4-FFF2-40B4-BE49-F238E27FC236}">
                <a16:creationId xmlns:a16="http://schemas.microsoft.com/office/drawing/2014/main" id="{80BF2985-EA12-408E-A5B4-23C04C5BF56D}"/>
              </a:ext>
            </a:extLst>
          </p:cNvPr>
          <p:cNvSpPr txBox="1"/>
          <p:nvPr/>
        </p:nvSpPr>
        <p:spPr>
          <a:xfrm>
            <a:off x="457200" y="3645024"/>
            <a:ext cx="8229600" cy="3139321"/>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Assert system(AS): voids +2, singletons +1 and for each longer suit with more than 4 cards an additional +1</a:t>
            </a:r>
          </a:p>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Rule of three and four (R34): </a:t>
            </a:r>
          </a:p>
          <a:p>
            <a:pPr marL="742950" lvl="1"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Trump suit: For each card, starting from the 5th in the trump suit, an additional point is added</a:t>
            </a:r>
          </a:p>
          <a:p>
            <a:pPr marL="742950" lvl="1" indent="-285750">
              <a:buFont typeface="Arial" panose="020B0604020202020204" pitchFamily="34" charset="0"/>
              <a:buChar char="•"/>
            </a:pPr>
            <a:r>
              <a:rPr lang="en-US" altLang="zh-TW" dirty="0" err="1">
                <a:latin typeface="Times New Roman" panose="02020603050405020304" pitchFamily="18" charset="0"/>
                <a:cs typeface="Times New Roman" panose="02020603050405020304" pitchFamily="18" charset="0"/>
              </a:rPr>
              <a:t>Nontrump</a:t>
            </a:r>
            <a:r>
              <a:rPr lang="en-US" altLang="zh-TW" dirty="0">
                <a:latin typeface="Times New Roman" panose="02020603050405020304" pitchFamily="18" charset="0"/>
                <a:cs typeface="Times New Roman" panose="02020603050405020304" pitchFamily="18" charset="0"/>
              </a:rPr>
              <a:t> suit: : For each card, starting from the 4th in the trump suit, an additional point is added</a:t>
            </a:r>
          </a:p>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Plus value (PV):</a:t>
            </a:r>
          </a:p>
          <a:p>
            <a:pPr marL="742950" lvl="1"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Ace: +0.25</a:t>
            </a:r>
          </a:p>
          <a:p>
            <a:pPr marL="742950" lvl="1"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10: with any other honor or with a 9. +0.5</a:t>
            </a:r>
          </a:p>
          <a:p>
            <a:pPr marL="742950" lvl="1"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With 3 honors or 2 out of AKQ: +0.5</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763456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Example</a:t>
            </a:r>
            <a:endParaRPr lang="zh-TW" altLang="en-US" dirty="0"/>
          </a:p>
        </p:txBody>
      </p:sp>
      <p:pic>
        <p:nvPicPr>
          <p:cNvPr id="6" name="圖片 5">
            <a:extLst>
              <a:ext uri="{FF2B5EF4-FFF2-40B4-BE49-F238E27FC236}">
                <a16:creationId xmlns:a16="http://schemas.microsoft.com/office/drawing/2014/main" id="{D3818F79-813D-4519-AED3-D832FAC4703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57097" y="4437112"/>
            <a:ext cx="5829805" cy="2330202"/>
          </a:xfrm>
          <a:prstGeom prst="rect">
            <a:avLst/>
          </a:prstGeom>
        </p:spPr>
      </p:pic>
      <p:pic>
        <p:nvPicPr>
          <p:cNvPr id="8" name="圖片 7" descr="一張含有 文字 的圖片&#10;&#10;自動產生的描述">
            <a:extLst>
              <a:ext uri="{FF2B5EF4-FFF2-40B4-BE49-F238E27FC236}">
                <a16:creationId xmlns:a16="http://schemas.microsoft.com/office/drawing/2014/main" id="{8849998C-DD9D-4D15-BFA7-28FF1DDDC4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1340768"/>
            <a:ext cx="3330229" cy="2949196"/>
          </a:xfrm>
          <a:prstGeom prst="rect">
            <a:avLst/>
          </a:prstGeom>
        </p:spPr>
      </p:pic>
      <p:pic>
        <p:nvPicPr>
          <p:cNvPr id="10" name="圖片 9" descr="一張含有 文字 的圖片&#10;&#10;自動產生的描述">
            <a:extLst>
              <a:ext uri="{FF2B5EF4-FFF2-40B4-BE49-F238E27FC236}">
                <a16:creationId xmlns:a16="http://schemas.microsoft.com/office/drawing/2014/main" id="{9268D896-FE5C-43E9-A410-DC7327490F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4181" y="1333148"/>
            <a:ext cx="3513124" cy="2956816"/>
          </a:xfrm>
          <a:prstGeom prst="rect">
            <a:avLst/>
          </a:prstGeom>
        </p:spPr>
      </p:pic>
    </p:spTree>
    <p:extLst>
      <p:ext uri="{BB962C8B-B14F-4D97-AF65-F5344CB8AC3E}">
        <p14:creationId xmlns:p14="http://schemas.microsoft.com/office/powerpoint/2010/main" val="275892054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Result</a:t>
            </a:r>
            <a:endParaRPr lang="zh-TW" altLang="en-US" dirty="0"/>
          </a:p>
        </p:txBody>
      </p:sp>
      <p:pic>
        <p:nvPicPr>
          <p:cNvPr id="5" name="圖片 4">
            <a:extLst>
              <a:ext uri="{FF2B5EF4-FFF2-40B4-BE49-F238E27FC236}">
                <a16:creationId xmlns:a16="http://schemas.microsoft.com/office/drawing/2014/main" id="{C7FA6317-D1C0-407E-B019-A83E7F6D92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9299" y="1628800"/>
            <a:ext cx="7525401" cy="4229963"/>
          </a:xfrm>
          <a:prstGeom prst="rect">
            <a:avLst/>
          </a:prstGeom>
        </p:spPr>
      </p:pic>
    </p:spTree>
    <p:extLst>
      <p:ext uri="{BB962C8B-B14F-4D97-AF65-F5344CB8AC3E}">
        <p14:creationId xmlns:p14="http://schemas.microsoft.com/office/powerpoint/2010/main" val="180667801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9864</TotalTime>
  <Words>485</Words>
  <Application>Microsoft Office PowerPoint</Application>
  <PresentationFormat>如螢幕大小 (4:3)</PresentationFormat>
  <Paragraphs>30</Paragraphs>
  <Slides>10</Slides>
  <Notes>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10</vt:i4>
      </vt:variant>
    </vt:vector>
  </HeadingPairs>
  <TitlesOfParts>
    <vt:vector size="14" baseType="lpstr">
      <vt:lpstr>Arial</vt:lpstr>
      <vt:lpstr>Calibri</vt:lpstr>
      <vt:lpstr>Times New Roman</vt:lpstr>
      <vt:lpstr>Office 佈景主題</vt:lpstr>
      <vt:lpstr> Who should bid higher, NS or WE, in a given Bridge deal?</vt:lpstr>
      <vt:lpstr>Abstract</vt:lpstr>
      <vt:lpstr>Abstract</vt:lpstr>
      <vt:lpstr>Introduction</vt:lpstr>
      <vt:lpstr> Who should bid higher, NS or WE, in a given Bridge deal?</vt:lpstr>
      <vt:lpstr>AE network</vt:lpstr>
      <vt:lpstr>DeepChess-like neural system</vt:lpstr>
      <vt:lpstr>Bridge trick estimation methods</vt:lpstr>
      <vt:lpstr>Example</vt:lpstr>
      <vt:lpstr>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faster algorithm for finding shortest substring matches of a regular expression</dc:title>
  <dc:creator>M093040098</dc:creator>
  <cp:lastModifiedBy>User</cp:lastModifiedBy>
  <cp:revision>367</cp:revision>
  <dcterms:created xsi:type="dcterms:W3CDTF">2020-10-30T08:30:28Z</dcterms:created>
  <dcterms:modified xsi:type="dcterms:W3CDTF">2021-08-17T08:27:56Z</dcterms:modified>
</cp:coreProperties>
</file>