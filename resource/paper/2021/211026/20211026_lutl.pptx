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8" r:id="rId13"/>
    <p:sldId id="269" r:id="rId14"/>
    <p:sldId id="264" r:id="rId15"/>
    <p:sldId id="272" r:id="rId16"/>
    <p:sldId id="273" r:id="rId17"/>
    <p:sldId id="281" r:id="rId18"/>
    <p:sldId id="271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97"/>
    <p:restoredTop sz="94582"/>
  </p:normalViewPr>
  <p:slideViewPr>
    <p:cSldViewPr snapToGrid="0" snapToObjects="1">
      <p:cViewPr varScale="1">
        <p:scale>
          <a:sx n="120" d="100"/>
          <a:sy n="120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大標題與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大標題文字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大標題文字</a:t>
            </a:r>
          </a:p>
        </p:txBody>
      </p:sp>
      <p:sp>
        <p:nvSpPr>
          <p:cNvPr id="57" name="內文層級一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396875" indent="-396875">
              <a:defRPr sz="3000"/>
            </a:lvl1pPr>
            <a:lvl2pPr marL="714375" indent="-396875">
              <a:defRPr sz="3000"/>
            </a:lvl2pPr>
            <a:lvl3pPr marL="1031875" indent="-396875">
              <a:defRPr sz="3000"/>
            </a:lvl3pPr>
            <a:lvl4pPr marL="1349375" indent="-396875">
              <a:defRPr sz="3000"/>
            </a:lvl4pPr>
            <a:lvl5pPr marL="1666875" indent="-396875">
              <a:defRPr sz="3000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8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095352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2021/10/25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5903"/>
            <a:ext cx="9144000" cy="1872549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Dynamic All Scores Matrices for LCS Score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597283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Amir Carmel,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Dekel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Tsur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Michal Ziv-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Ukelson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arXiv:1808.03553 (2018)</a:t>
            </a:r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Oct. 26,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(1/2)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aligning two strings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determine their similarity is fundamental in the field of pattern matching. An important concept in this domain is the “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scores matrix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that encodes the local alignment comparison of two strings. Namely, let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 the all scores matrix containing the alignment score of every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let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 the all scores matrix containing the alignment score of every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every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 (2/2)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consider the problem of maintaining an all scores matrix where the scoring function is the LCS score, while supporting single character prepend and append operations to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Our algorithms exploit the sparsity parameters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LCS(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∆ = |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−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For the matrix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propose an algorithm that supports incremental operations to both ends of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(∆) time. Whilst for the matrix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propose an algorithm that supports a single type of incremental operation, either a prepend operation to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an append operation to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 This structure can also be extended to support both operations simultaneously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log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1102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Scores Matrices (ASM)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k-IASM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7399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All Scores Matrices (ASM)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40795" cy="4351338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all scores matrix is a matrix that stores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 alignment scores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one or more types from the following types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against every substring of A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against every substring of B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suffix of A against every prefix of B</a:t>
            </a:r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suffix of B against every prefix of A</a:t>
            </a:r>
          </a:p>
          <a:p>
            <a:r>
              <a:rPr lang="en-US" altLang="zh-TW" dirty="0">
                <a:latin typeface="PilGi" pitchFamily="2" charset="-127"/>
                <a:ea typeface="PilGi" pitchFamily="2" charset="-127"/>
              </a:rPr>
              <a:t>L</a:t>
            </a:r>
            <a:r>
              <a:rPr lang="en-US" altLang="zh-TW" dirty="0"/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includes all type</a:t>
            </a:r>
            <a:endParaRPr kumimoji="1" lang="en-US" altLang="zh-TW" dirty="0">
              <a:latin typeface="PilGi" pitchFamily="2" charset="-127"/>
              <a:ea typeface="PilGi" pitchFamily="2" charset="-127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includes type 2</a:t>
            </a:r>
          </a:p>
          <a:p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 includes type 4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1DEAC23-302C-CF48-8B34-3E6A0A352F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" r="49927"/>
          <a:stretch/>
        </p:blipFill>
        <p:spPr>
          <a:xfrm>
            <a:off x="7358804" y="114823"/>
            <a:ext cx="3970566" cy="33449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7DAFBAF-614A-1D4D-8244-5D2FCD9FC7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95"/>
          <a:stretch/>
        </p:blipFill>
        <p:spPr>
          <a:xfrm>
            <a:off x="7453423" y="3390633"/>
            <a:ext cx="3987642" cy="33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9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k-IASM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k-sided incremental all scores matrix problem (k-IASM)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6B41D26-711C-BB42-A402-EF83F01D0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782" y="2369731"/>
            <a:ext cx="10490255" cy="279618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28E186-FE31-0D4D-B673-03CE27260DF8}"/>
              </a:ext>
            </a:extLst>
          </p:cNvPr>
          <p:cNvSpPr/>
          <p:nvPr/>
        </p:nvSpPr>
        <p:spPr>
          <a:xfrm>
            <a:off x="833436" y="5386854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1: Comparison of known and new results for k-IASM.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denote two strings of lengths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respectively, over a constant alphabet. In this setting,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LCS(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∆ =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859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Definition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0604" cy="4895850"/>
          </a:xfrm>
        </p:spPr>
        <p:txBody>
          <a:bodyPr>
            <a:normAutofit/>
          </a:bodyPr>
          <a:lstStyle/>
          <a:p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LCS(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 =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LCS(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LCS(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[0..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</a:t>
            </a:r>
          </a:p>
          <a:p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matrix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denoted by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zh-TW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zh-TW" alt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(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−1]) -</a:t>
            </a:r>
          </a:p>
          <a:p>
            <a:pPr marL="0" indent="0">
              <a:buNone/>
            </a:pPr>
            <a:r>
              <a:rPr kumimoji="1"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kumimoji="1"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斜線</a:t>
            </a:r>
            <a:r>
              <a:rPr kumimoji="1"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1"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反斜線</a:t>
            </a:r>
            <a:r>
              <a:rPr kumimoji="1"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</a:t>
            </a:r>
            <a:r>
              <a:rPr kumimoji="1"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+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D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−1])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AF45FAF-BF35-E74A-9278-962DE99A19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" r="49927"/>
          <a:stretch/>
        </p:blipFill>
        <p:spPr>
          <a:xfrm>
            <a:off x="7358804" y="114823"/>
            <a:ext cx="3970566" cy="334492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1864045-F423-A84C-BFE7-2914802B86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295"/>
          <a:stretch/>
        </p:blipFill>
        <p:spPr>
          <a:xfrm>
            <a:off x="7453423" y="3390633"/>
            <a:ext cx="3987642" cy="336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3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K</a:t>
            </a:r>
            <a:r>
              <a:rPr kumimoji="1" lang="en-US" altLang="zh-TW" dirty="0"/>
              <a:t> Matrix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graphicFrame>
        <p:nvGraphicFramePr>
          <p:cNvPr id="10" name="表格 4">
            <a:extLst>
              <a:ext uri="{FF2B5EF4-FFF2-40B4-BE49-F238E27FC236}">
                <a16:creationId xmlns:a16="http://schemas.microsoft.com/office/drawing/2014/main" id="{5031768C-77B4-9544-BF94-A2C08772B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238470"/>
              </p:ext>
            </p:extLst>
          </p:nvPr>
        </p:nvGraphicFramePr>
        <p:xfrm>
          <a:off x="3858434" y="1403930"/>
          <a:ext cx="433690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770766939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290941712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TW" altLang="en-US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75643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>
                              <a:lumMod val="75000"/>
                            </a:prstClr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75000"/>
                          </a:prstClr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33474"/>
                  </a:ext>
                </a:extLst>
              </a:tr>
            </a:tbl>
          </a:graphicData>
        </a:graphic>
      </p:graphicFrame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9EBF5F80-2FBF-3244-B18A-6AA348696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962854"/>
              </p:ext>
            </p:extLst>
          </p:nvPr>
        </p:nvGraphicFramePr>
        <p:xfrm>
          <a:off x="-106919" y="1403930"/>
          <a:ext cx="433690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770766939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290941712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-8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5643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-9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-8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33474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E67435C-DC36-664D-BB9B-521472FF2E49}"/>
              </a:ext>
            </a:extLst>
          </p:cNvPr>
          <p:cNvSpPr/>
          <p:nvPr/>
        </p:nvSpPr>
        <p:spPr>
          <a:xfrm>
            <a:off x="88605" y="6032424"/>
            <a:ext cx="12014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2: An example of the matrices </a:t>
            </a:r>
            <a:r>
              <a:rPr lang="en-US" altLang="zh-TW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′,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bbcac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ccabaccaa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 prepend of the character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Pivotal points are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yellow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step indices in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 </a:t>
            </a:r>
            <a:r>
              <a:rPr lang="en-US" altLang="zh-TW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green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7605A15-C8B2-EE49-83F6-817912AE66E6}"/>
              </a:ext>
            </a:extLst>
          </p:cNvPr>
          <p:cNvSpPr txBox="1"/>
          <p:nvPr/>
        </p:nvSpPr>
        <p:spPr>
          <a:xfrm>
            <a:off x="156603" y="5485594"/>
            <a:ext cx="255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 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/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 K</a:t>
            </a:r>
            <a:r>
              <a:rPr kumimoji="1" lang="en-US" altLang="zh-TW" sz="2400" baseline="300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􏰏</a:t>
            </a:r>
            <a:endParaRPr kumimoji="1" lang="zh-TW" altLang="en-US" sz="2400" baseline="30000" dirty="0">
              <a:latin typeface="PilGi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585526-7668-8E47-AD12-BD2E5D722916}"/>
              </a:ext>
            </a:extLst>
          </p:cNvPr>
          <p:cNvSpPr txBox="1"/>
          <p:nvPr/>
        </p:nvSpPr>
        <p:spPr>
          <a:xfrm>
            <a:off x="3986028" y="5485594"/>
            <a:ext cx="4380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–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 /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kumimoji="1" lang="zh-TW" altLang="en-US" sz="2400" dirty="0">
              <a:latin typeface="PilGi" pitchFamily="2" charset="-127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124A787-BAB3-AE45-A5D6-594D5EB7C11F}"/>
              </a:ext>
            </a:extLst>
          </p:cNvPr>
          <p:cNvSpPr txBox="1"/>
          <p:nvPr/>
        </p:nvSpPr>
        <p:spPr>
          <a:xfrm>
            <a:off x="8259135" y="5485594"/>
            <a:ext cx="4095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' 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+ </a:t>
            </a:r>
            <a:r>
              <a:rPr kumimoji="1" lang="en-US" altLang="zh-TW" sz="2400" i="1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/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F02A7C-205E-7E40-9EAF-07B6701E4DE1}"/>
              </a:ext>
            </a:extLst>
          </p:cNvPr>
          <p:cNvSpPr/>
          <p:nvPr/>
        </p:nvSpPr>
        <p:spPr>
          <a:xfrm>
            <a:off x="6026886" y="780302"/>
            <a:ext cx="62215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′[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max{</a:t>
            </a:r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lang="en-US" altLang="zh-TW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l-GR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+ 1, </a:t>
            </a:r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]}</a:t>
            </a:r>
            <a:endParaRPr lang="en-US" altLang="zh-TW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9ADA6A73-2ABD-784A-8DA7-EB304DC14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159688"/>
              </p:ext>
            </p:extLst>
          </p:nvPr>
        </p:nvGraphicFramePr>
        <p:xfrm>
          <a:off x="7823788" y="1403930"/>
          <a:ext cx="4336904" cy="402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770766939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290941712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-8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75643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-9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-8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-7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-6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-5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-4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-3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-2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33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609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E5D3D45E-E2F6-E048-B670-F9C2D74EA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681" y="1467287"/>
            <a:ext cx="9958426" cy="406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K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D10C5B-581D-FD47-9ECA-38CA638ABB3B}"/>
              </a:ext>
            </a:extLst>
          </p:cNvPr>
          <p:cNvSpPr/>
          <p:nvPr/>
        </p:nvSpPr>
        <p:spPr>
          <a:xfrm>
            <a:off x="465175" y="5894685"/>
            <a:ext cx="1126165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Figure 3: A run of the algorithm on the strings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 of Figure 2, and a prepend of the character a to </a:t>
            </a:r>
            <a:r>
              <a:rPr lang="en-US" altLang="zh-TW" i="1" dirty="0">
                <a:solidFill>
                  <a:srgbClr val="000000"/>
                </a:solidFill>
                <a:latin typeface="Helvetica" pitchFamily="2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. (a) shows </a:t>
            </a:r>
            <a:r>
              <a:rPr lang="en-US" altLang="zh-TW" b="1" dirty="0">
                <a:solidFill>
                  <a:srgbClr val="000000"/>
                </a:solidFill>
                <a:latin typeface="Helvetica" pitchFamily="2" charset="0"/>
              </a:rPr>
              <a:t>the pivotal points of </a:t>
            </a:r>
            <a:r>
              <a:rPr lang="en-US" altLang="zh-TW" b="1" dirty="0">
                <a:solidFill>
                  <a:srgbClr val="000000"/>
                </a:solidFill>
                <a:latin typeface="PilGi" pitchFamily="2" charset="-127"/>
                <a:ea typeface="PilGi" pitchFamily="2" charset="-127"/>
              </a:rPr>
              <a:t>K</a:t>
            </a:r>
            <a:r>
              <a:rPr lang="en-US" altLang="zh-TW" b="1" baseline="30000" dirty="0">
                <a:solidFill>
                  <a:srgbClr val="000000"/>
                </a:solidFill>
                <a:latin typeface="Helvetica" pitchFamily="2" charset="0"/>
              </a:rPr>
              <a:t>􏰏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. The </a:t>
            </a:r>
            <a:r>
              <a:rPr lang="en-US" altLang="zh-TW" b="1" dirty="0">
                <a:solidFill>
                  <a:srgbClr val="FF0000"/>
                </a:solidFill>
                <a:latin typeface="Helvetica" pitchFamily="2" charset="0"/>
              </a:rPr>
              <a:t>red lines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 correspond to the different values of </a:t>
            </a:r>
            <a:r>
              <a:rPr lang="en-US" altLang="zh-TW" dirty="0" err="1">
                <a:solidFill>
                  <a:srgbClr val="000000"/>
                </a:solidFill>
                <a:latin typeface="Helvetica" pitchFamily="2" charset="0"/>
              </a:rPr>
              <a:t>NextMatchB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(</a:t>
            </a:r>
            <a:r>
              <a:rPr lang="en-US" altLang="zh-TW" dirty="0" err="1">
                <a:solidFill>
                  <a:srgbClr val="000000"/>
                </a:solidFill>
                <a:latin typeface="Helvetica" pitchFamily="2" charset="0"/>
              </a:rPr>
              <a:t>i,a</a:t>
            </a:r>
            <a:r>
              <a:rPr lang="en-US" altLang="zh-TW" dirty="0">
                <a:solidFill>
                  <a:srgbClr val="000000"/>
                </a:solidFill>
                <a:latin typeface="Helvetica" pitchFamily="2" charset="0"/>
              </a:rPr>
              <a:t>). b1,b2 and b3 denote blocks of consecutive pivotal points</a:t>
            </a:r>
            <a:endParaRPr lang="en-US" altLang="zh-TW" dirty="0">
              <a:solidFill>
                <a:srgbClr val="000000"/>
              </a:solidFill>
              <a:effectLst/>
              <a:latin typeface="Helvetica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6ABD59D-9C65-204E-AEF4-D3419E24CCBB}"/>
              </a:ext>
            </a:extLst>
          </p:cNvPr>
          <p:cNvSpPr txBox="1"/>
          <p:nvPr/>
        </p:nvSpPr>
        <p:spPr>
          <a:xfrm>
            <a:off x="6062330" y="612407"/>
            <a:ext cx="57983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→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sz="2400" baseline="300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􏰏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→ </a:t>
            </a:r>
            <a:r>
              <a:rPr kumimoji="1" lang="en-US" altLang="zh-TW" sz="2400" i="1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C</a:t>
            </a:r>
            <a:endParaRPr kumimoji="1" lang="en-US" altLang="zh-TW" sz="2400" i="1" baseline="30000" dirty="0">
              <a:latin typeface="Times New Roman" panose="02020603050405020304" pitchFamily="18" charset="0"/>
              <a:ea typeface="PilGi" pitchFamily="2" charset="-127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indices  in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(0, 5) (1,5) (2,4) (4,7) (7,9)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A9A4C8-9F11-0E42-9663-BF4715BF8FF7}"/>
              </a:ext>
            </a:extLst>
          </p:cNvPr>
          <p:cNvSpPr/>
          <p:nvPr/>
        </p:nvSpPr>
        <p:spPr>
          <a:xfrm>
            <a:off x="5618413" y="5446411"/>
            <a:ext cx="5394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:{ (0, 5) (1,5) (2,4)  (4,7)           (7,9)}</a:t>
            </a:r>
          </a:p>
        </p:txBody>
      </p:sp>
    </p:spTree>
    <p:extLst>
      <p:ext uri="{BB962C8B-B14F-4D97-AF65-F5344CB8AC3E}">
        <p14:creationId xmlns:p14="http://schemas.microsoft.com/office/powerpoint/2010/main" val="3449499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K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E9857AC-7CFB-464B-9EF4-67BB59D74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5" y="1299503"/>
            <a:ext cx="10800000" cy="83883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AB9EAAF0-7E15-3B40-BFC7-FB2EC82F4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5" y="2060766"/>
            <a:ext cx="10800000" cy="81945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4170C8F1-D1C1-5B46-886B-CFEA7DD796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75" y="2802648"/>
            <a:ext cx="10800000" cy="53149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CFA04A1-70B5-C841-92B8-ECE91665E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75" y="3256571"/>
            <a:ext cx="10800000" cy="62912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8915D32-1513-0446-9BAF-C69404D5D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5" y="3808124"/>
            <a:ext cx="10800000" cy="189473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E3EC69A-DAF2-3845-BE01-342D494515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75" y="5625287"/>
            <a:ext cx="10800000" cy="11812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978D894-850E-7844-BE16-98258C2ED649}"/>
              </a:ext>
            </a:extLst>
          </p:cNvPr>
          <p:cNvSpPr/>
          <p:nvPr/>
        </p:nvSpPr>
        <p:spPr>
          <a:xfrm>
            <a:off x="8835901" y="2515660"/>
            <a:ext cx="271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consecutive pivotal points</a:t>
            </a:r>
            <a:endParaRPr lang="en-US" altLang="zh-TW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C91D7C-B6D2-ED45-8F5E-49CED464624A}"/>
              </a:ext>
            </a:extLst>
          </p:cNvPr>
          <p:cNvSpPr/>
          <p:nvPr/>
        </p:nvSpPr>
        <p:spPr>
          <a:xfrm>
            <a:off x="6096000" y="3419665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→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lang="zh-TW" altLang="en-US" b="1" baseline="300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DF95AF-E98E-0847-9D06-7EC41373B9A6}"/>
              </a:ext>
            </a:extLst>
          </p:cNvPr>
          <p:cNvSpPr/>
          <p:nvPr/>
        </p:nvSpPr>
        <p:spPr>
          <a:xfrm>
            <a:off x="2261809" y="6437205"/>
            <a:ext cx="1653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index in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altLang="zh-TW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28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K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1-sided 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(∆) space data structure that supports prepend (or append) operations to the string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(∆) time.</a:t>
            </a:r>
          </a:p>
          <a:p>
            <a:pPr lvl="1"/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encoded via the pivotal points of its density matrix (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baseline="300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/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pivotal points of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baseline="300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kumimoji="1" lang="en-US" altLang="zh-TW" b="1" dirty="0">
                <a:solidFill>
                  <a:srgbClr val="FF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</a:t>
            </a:r>
            <a:r>
              <a:rPr kumimoji="1" lang="en-US" altLang="zh-TW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􏰏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(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P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) → step indices in 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C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→ </a:t>
            </a:r>
            <a:r>
              <a:rPr kumimoji="1"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C</a:t>
            </a:r>
            <a:r>
              <a:rPr kumimoji="1" lang="en-US" altLang="zh-TW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􏰏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→ </a:t>
            </a:r>
            <a:r>
              <a:rPr kumimoji="1" lang="en-US" altLang="zh-TW" b="1" dirty="0">
                <a:solidFill>
                  <a:srgbClr val="FF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K'</a:t>
            </a:r>
            <a:r>
              <a:rPr kumimoji="1" lang="en-US" altLang="zh-TW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􏰏 </a:t>
            </a:r>
            <a:endParaRPr kumimoji="1" lang="en-US" altLang="zh-TW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step indices in C is bounded by ∆. (Lamma3.2)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9680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T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EB4F3B0-B4BD-3D49-9A25-905F2BD75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369168"/>
              </p:ext>
            </p:extLst>
          </p:nvPr>
        </p:nvGraphicFramePr>
        <p:xfrm>
          <a:off x="232145" y="1722697"/>
          <a:ext cx="3548376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3B54E00-3800-9244-8E18-16F7B4366F52}"/>
              </a:ext>
            </a:extLst>
          </p:cNvPr>
          <p:cNvSpPr/>
          <p:nvPr/>
        </p:nvSpPr>
        <p:spPr>
          <a:xfrm>
            <a:off x="280132" y="5661656"/>
            <a:ext cx="11631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Figure 4: An example of the matrices </a:t>
            </a:r>
            <a:r>
              <a:rPr lang="en-US" altLang="zh-TW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′, </a:t>
            </a:r>
            <a:r>
              <a:rPr lang="en-US" altLang="zh-TW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</a:t>
            </a:r>
            <a:r>
              <a:rPr lang="zh-TW" altLang="en-US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􏰏</a:t>
            </a:r>
            <a:r>
              <a:rPr lang="zh-TW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altLang="zh-TW" b="1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bbcbbaa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= </a:t>
            </a:r>
            <a:r>
              <a:rPr lang="en-US" altLang="zh-TW" b="1" dirty="0" err="1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aacabba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and a </a:t>
            </a:r>
            <a:r>
              <a:rPr lang="en-US" altLang="zh-TW" dirty="0" err="1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predend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of the character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to 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Pivotal points are </a:t>
            </a:r>
            <a:r>
              <a:rPr lang="en-US" altLang="zh-TW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yellow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and step indices in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are </a:t>
            </a:r>
            <a:r>
              <a:rPr lang="en-US" altLang="zh-TW" dirty="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green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1268238-1408-8A41-B987-28EC6C7EC7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8520207"/>
              </p:ext>
            </p:extLst>
          </p:nvPr>
        </p:nvGraphicFramePr>
        <p:xfrm>
          <a:off x="8115673" y="1680389"/>
          <a:ext cx="3942640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770766939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-1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5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4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2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3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9368A1F-D5CB-2C47-9483-31E0960FF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780571"/>
              </p:ext>
            </p:extLst>
          </p:nvPr>
        </p:nvGraphicFramePr>
        <p:xfrm>
          <a:off x="3878092" y="1680389"/>
          <a:ext cx="3942640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264">
                  <a:extLst>
                    <a:ext uri="{9D8B030D-6E8A-4147-A177-3AD203B41FA5}">
                      <a16:colId xmlns:a16="http://schemas.microsoft.com/office/drawing/2014/main" val="990418370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81059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4359635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0657324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2396649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12350136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2350870194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4163769853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3170015155"/>
                    </a:ext>
                  </a:extLst>
                </a:gridCol>
                <a:gridCol w="394264">
                  <a:extLst>
                    <a:ext uri="{9D8B030D-6E8A-4147-A177-3AD203B41FA5}">
                      <a16:colId xmlns:a16="http://schemas.microsoft.com/office/drawing/2014/main" val="770766939"/>
                    </a:ext>
                  </a:extLst>
                </a:gridCol>
              </a:tblGrid>
              <a:tr h="292838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-1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268202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725013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099254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505493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361131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7426318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2315220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1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28009"/>
                  </a:ext>
                </a:extLst>
              </a:tr>
              <a:tr h="292838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</a:t>
                      </a:r>
                      <a:endParaRPr lang="zh-TW" altLang="en-US" dirty="0"/>
                    </a:p>
                  </a:txBody>
                  <a:tcPr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Rockwell" panose="02060603020205020403"/>
                          <a:ea typeface="標楷體" panose="02010601000101010101" pitchFamily="2" charset="-120"/>
                          <a:cs typeface="+mn-cs"/>
                        </a:rPr>
                        <a:t>0</a:t>
                      </a:r>
                      <a:endParaRPr kumimoji="0" lang="zh-TW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Rockwell" panose="02060603020205020403"/>
                        <a:ea typeface="標楷體" panose="02010601000101010101" pitchFamily="2" charset="-120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953457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D9220A3-2D7F-FF48-BCBA-8AE7F1A57A6F}"/>
              </a:ext>
            </a:extLst>
          </p:cNvPr>
          <p:cNvSpPr txBox="1"/>
          <p:nvPr/>
        </p:nvSpPr>
        <p:spPr>
          <a:xfrm>
            <a:off x="232145" y="5046546"/>
            <a:ext cx="2554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 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/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 T</a:t>
            </a:r>
            <a:r>
              <a:rPr kumimoji="1" lang="en-US" altLang="zh-TW" sz="2400" baseline="300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􏰏</a:t>
            </a:r>
            <a:endParaRPr kumimoji="1" lang="zh-TW" altLang="en-US" sz="2400" baseline="30000" dirty="0">
              <a:latin typeface="PilGi" pitchFamily="2" charset="-127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04A5755-94D5-EC4E-A2A5-46607D2026C0}"/>
              </a:ext>
            </a:extLst>
          </p:cNvPr>
          <p:cNvSpPr txBox="1"/>
          <p:nvPr/>
        </p:nvSpPr>
        <p:spPr>
          <a:xfrm>
            <a:off x="3905692" y="5046546"/>
            <a:ext cx="4380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kumimoji="1"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–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 /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zh-TW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kumimoji="1" lang="zh-TW" altLang="en-US" sz="2400" dirty="0">
              <a:latin typeface="PilGi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5D4AD1-134F-AC4E-969C-CB1ABD4D8C54}"/>
              </a:ext>
            </a:extLst>
          </p:cNvPr>
          <p:cNvSpPr txBox="1"/>
          <p:nvPr/>
        </p:nvSpPr>
        <p:spPr>
          <a:xfrm>
            <a:off x="8228352" y="5047092"/>
            <a:ext cx="4095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' 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+ </a:t>
            </a:r>
            <a:r>
              <a:rPr kumimoji="1" lang="en-US" altLang="zh-TW" sz="2400" i="1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C</a:t>
            </a:r>
            <a:r>
              <a:rPr kumimoji="1" lang="en-US" altLang="zh-TW" sz="2400" dirty="0"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/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en-US" altLang="zh-TW" sz="2400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922E3BE-7593-F345-B328-2B856E668114}"/>
              </a:ext>
            </a:extLst>
          </p:cNvPr>
          <p:cNvSpPr/>
          <p:nvPr/>
        </p:nvSpPr>
        <p:spPr>
          <a:xfrm>
            <a:off x="5849412" y="760129"/>
            <a:ext cx="6330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′[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max{</a:t>
            </a:r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altLang="zh-TW" sz="2400" dirty="0">
                <a:solidFill>
                  <a:srgbClr val="000000"/>
                </a:solidFill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lang="en-US" altLang="zh-TW" sz="2400" i="1" baseline="-25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σ), </a:t>
            </a:r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+ 1}</a:t>
            </a:r>
            <a:endParaRPr lang="en-US" altLang="zh-TW" sz="240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888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T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B8CEA0C-CEAD-0745-873C-67A80B3E38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468" b="6886"/>
          <a:stretch/>
        </p:blipFill>
        <p:spPr>
          <a:xfrm>
            <a:off x="375979" y="1233619"/>
            <a:ext cx="4224596" cy="413936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CFBF6B9-83F9-1147-B36E-E0BC11CD466B}"/>
              </a:ext>
            </a:extLst>
          </p:cNvPr>
          <p:cNvSpPr/>
          <p:nvPr/>
        </p:nvSpPr>
        <p:spPr>
          <a:xfrm>
            <a:off x="7612616" y="5579678"/>
            <a:ext cx="42034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5: A run of the algorithm on the strings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Figure 4, and a prepend of the character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44448C-8E17-E443-AD8B-6CD3098D17C0}"/>
              </a:ext>
            </a:extLst>
          </p:cNvPr>
          <p:cNvSpPr/>
          <p:nvPr/>
        </p:nvSpPr>
        <p:spPr>
          <a:xfrm>
            <a:off x="365346" y="5940851"/>
            <a:ext cx="74156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sz="24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:{(2,5,-1)  (3,5,1)  (4,1,-1)            (6,1,1)    (7,6,1)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(6,6,-1)   (7,0,1)}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032DB8-808B-AC48-9098-82E9C5BD05A3}"/>
              </a:ext>
            </a:extLst>
          </p:cNvPr>
          <p:cNvSpPr/>
          <p:nvPr/>
        </p:nvSpPr>
        <p:spPr>
          <a:xfrm>
            <a:off x="623527" y="5460363"/>
            <a:ext cx="74156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TW" sz="2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:{              (3,5)                   (5,2)  (6,1)       (7,6)}</a:t>
            </a: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00E4AD6C-AED9-614C-A5A0-5CAEDF7F27B4}"/>
              </a:ext>
            </a:extLst>
          </p:cNvPr>
          <p:cNvCxnSpPr/>
          <p:nvPr/>
        </p:nvCxnSpPr>
        <p:spPr>
          <a:xfrm>
            <a:off x="4486940" y="2700670"/>
            <a:ext cx="0" cy="7283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FDF65921-AA90-7748-AE3D-D5D6B4BEFF28}"/>
              </a:ext>
            </a:extLst>
          </p:cNvPr>
          <p:cNvCxnSpPr>
            <a:cxnSpLocks/>
          </p:cNvCxnSpPr>
          <p:nvPr/>
        </p:nvCxnSpPr>
        <p:spPr>
          <a:xfrm>
            <a:off x="4486940" y="3429000"/>
            <a:ext cx="0" cy="1153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115477F-F8C5-BA4D-A56C-945B91EEDE2D}"/>
              </a:ext>
            </a:extLst>
          </p:cNvPr>
          <p:cNvSpPr txBox="1"/>
          <p:nvPr/>
        </p:nvSpPr>
        <p:spPr>
          <a:xfrm>
            <a:off x="4486943" y="2700670"/>
            <a:ext cx="77050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Lemma4.6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𝝈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𝝈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∞ &amp;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is pivotal, then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</a:p>
          <a:p>
            <a:pPr marL="1257300" lvl="2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∞, then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-1</a:t>
            </a:r>
          </a:p>
          <a:p>
            <a:pPr marL="342900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B[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𝝈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𝝈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∞ &amp; 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∞, then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-1</a:t>
            </a:r>
          </a:p>
          <a:p>
            <a:pPr marL="1257300" lvl="2" indent="-342900">
              <a:buFont typeface="+mj-lt"/>
              <a:buAutoNum type="arabicPeriod"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is pivotal, then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1" lang="en-US" altLang="zh-TW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1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F69C1D98-E83E-C243-989F-B8A83B59DD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340" b="12439"/>
          <a:stretch/>
        </p:blipFill>
        <p:spPr>
          <a:xfrm>
            <a:off x="6499363" y="365125"/>
            <a:ext cx="3907480" cy="25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496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T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E6EBA1A-9C89-0046-ACEB-FEECA282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43058"/>
            <a:ext cx="10800000" cy="80313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E1DAE2D-D8C2-4949-8FF9-57C1E06C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78172"/>
            <a:ext cx="10800000" cy="52734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51E33940-5FF8-C14B-8125-58CCC29AB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37499"/>
            <a:ext cx="10800000" cy="115564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8C11F83-8078-1C43-958D-51FCD8E7F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25124"/>
            <a:ext cx="10800000" cy="81312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6E0A1FD-7DAA-3F45-A950-7B381CF27B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370236"/>
            <a:ext cx="10800000" cy="237683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EA4ADF6-4C20-B242-BD25-1B4ADB3C2E02}"/>
              </a:ext>
            </a:extLst>
          </p:cNvPr>
          <p:cNvSpPr/>
          <p:nvPr/>
        </p:nvSpPr>
        <p:spPr>
          <a:xfrm>
            <a:off x="8856924" y="4010958"/>
            <a:ext cx="32496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 the pivotal point at col 0</a:t>
            </a:r>
            <a:endParaRPr lang="en-US" altLang="zh-TW" b="1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3995E79-ACBA-FA49-A3C1-DCA20EB0C3C2}"/>
              </a:ext>
            </a:extLst>
          </p:cNvPr>
          <p:cNvSpPr/>
          <p:nvPr/>
        </p:nvSpPr>
        <p:spPr>
          <a:xfrm>
            <a:off x="6880231" y="3306434"/>
            <a:ext cx="1640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index in</a:t>
            </a:r>
            <a:r>
              <a:rPr lang="en-US" altLang="zh-TW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5588F9-1EFD-9449-9DAE-5931E71816EF}"/>
              </a:ext>
            </a:extLst>
          </p:cNvPr>
          <p:cNvSpPr/>
          <p:nvPr/>
        </p:nvSpPr>
        <p:spPr>
          <a:xfrm>
            <a:off x="7560312" y="4438251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→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en-US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endParaRPr lang="zh-TW" altLang="en-US" b="1" baseline="300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4685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T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3134D4B3-1698-D040-A169-FA0B0546D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2204"/>
            <a:ext cx="10800000" cy="4112308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4618A67-4CFB-5540-9974-C2FCCA0CF3C1}"/>
              </a:ext>
            </a:extLst>
          </p:cNvPr>
          <p:cNvSpPr/>
          <p:nvPr/>
        </p:nvSpPr>
        <p:spPr>
          <a:xfrm>
            <a:off x="949791" y="1233488"/>
            <a:ext cx="67162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Lemma4.3 (step index in</a:t>
            </a:r>
            <a:r>
              <a:rPr lang="en-US" altLang="zh-TW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+ Lemma4.5 (C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 →C</a:t>
            </a:r>
            <a:r>
              <a:rPr lang="zh-TW" altLang="en-US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1"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PilGi" pitchFamily="2" charset="-127"/>
                <a:cs typeface="Times New Roman" panose="02020603050405020304" pitchFamily="18" charset="0"/>
              </a:rPr>
              <a:t>→ Lemma4.6</a:t>
            </a:r>
            <a:endParaRPr lang="zh-TW" altLang="en-US" b="1" baseline="3000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187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</a:rPr>
              <a:t>T</a:t>
            </a:r>
            <a:r>
              <a:rPr kumimoji="1" lang="en-US" altLang="zh-TW" dirty="0"/>
              <a:t> Matrix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 × m, thus it increases when such operations are performed.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step indices is not bounded by the number of pivotal points.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1-sided incremental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compute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NextMatch</a:t>
            </a:r>
            <a:r>
              <a:rPr kumimoji="1" lang="en-US" altLang="zh-TW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σ). 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starting and ending indices of a block of pivotal points.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then use Lemma 4.6 to compute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in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time.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encode the matrix 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L pivotal points of its density matrix (</a:t>
            </a:r>
            <a:r>
              <a:rPr kumimoji="1" lang="en-US" altLang="zh-TW" dirty="0">
                <a:latin typeface="PilGi" pitchFamily="2" charset="-127"/>
                <a:ea typeface="PilGi" pitchFamily="2" charset="-127"/>
                <a:cs typeface="Times New Roman" panose="02020603050405020304" pitchFamily="18" charset="0"/>
              </a:rPr>
              <a:t>T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􏰏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6697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hank you for listening"/>
          <p:cNvSpPr txBox="1">
            <a:spLocks noGrp="1"/>
          </p:cNvSpPr>
          <p:nvPr>
            <p:ph type="title"/>
          </p:nvPr>
        </p:nvSpPr>
        <p:spPr>
          <a:xfrm>
            <a:off x="844550" y="2857500"/>
            <a:ext cx="10502900" cy="1143000"/>
          </a:xfrm>
          <a:prstGeom prst="rect">
            <a:avLst/>
          </a:prstGeom>
        </p:spPr>
        <p:txBody>
          <a:bodyPr/>
          <a:lstStyle/>
          <a:p>
            <a:pPr algn="ctr"/>
            <a:r>
              <a:rPr dirty="0"/>
              <a:t>Thank you for listening</a:t>
            </a:r>
          </a:p>
        </p:txBody>
      </p:sp>
      <p:sp>
        <p:nvSpPr>
          <p:cNvPr id="305" name="幻燈片編號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9828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2061</Words>
  <Application>Microsoft Macintosh PowerPoint</Application>
  <PresentationFormat>寬螢幕</PresentationFormat>
  <Paragraphs>710</Paragraphs>
  <Slides>18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5" baseType="lpstr">
      <vt:lpstr>PilGi</vt:lpstr>
      <vt:lpstr>Arial</vt:lpstr>
      <vt:lpstr>Calibri</vt:lpstr>
      <vt:lpstr>Helvetica</vt:lpstr>
      <vt:lpstr>Rockwell</vt:lpstr>
      <vt:lpstr>Times New Roman</vt:lpstr>
      <vt:lpstr>Office 佈景主題</vt:lpstr>
      <vt:lpstr>Dynamic All Scores Matrices for LCS Score</vt:lpstr>
      <vt:lpstr>Abstract (1/2)</vt:lpstr>
      <vt:lpstr>Abstract (2/2)</vt:lpstr>
      <vt:lpstr>Outline</vt:lpstr>
      <vt:lpstr>All Scores Matrices (ASM)</vt:lpstr>
      <vt:lpstr>k-IASM</vt:lpstr>
      <vt:lpstr>Definition</vt:lpstr>
      <vt:lpstr>Incremental K Matrix</vt:lpstr>
      <vt:lpstr>Incremental K Matrix</vt:lpstr>
      <vt:lpstr>Incremental K Matrix</vt:lpstr>
      <vt:lpstr>Incremental K Matrix</vt:lpstr>
      <vt:lpstr>Incremental T Matrix</vt:lpstr>
      <vt:lpstr>Incremental T Matrix</vt:lpstr>
      <vt:lpstr>Incremental T Matrix</vt:lpstr>
      <vt:lpstr>Incremental T Matrix</vt:lpstr>
      <vt:lpstr>Incremental T Matrix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46</cp:revision>
  <dcterms:created xsi:type="dcterms:W3CDTF">2021-03-28T03:57:23Z</dcterms:created>
  <dcterms:modified xsi:type="dcterms:W3CDTF">2021-10-26T10:12:20Z</dcterms:modified>
</cp:coreProperties>
</file>