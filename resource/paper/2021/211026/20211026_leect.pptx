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1" r:id="rId4"/>
    <p:sldId id="293" r:id="rId5"/>
    <p:sldId id="273" r:id="rId6"/>
    <p:sldId id="263" r:id="rId7"/>
    <p:sldId id="274" r:id="rId8"/>
    <p:sldId id="294" r:id="rId9"/>
    <p:sldId id="295" r:id="rId10"/>
    <p:sldId id="276" r:id="rId11"/>
    <p:sldId id="29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健廷 李" initials="健廷" lastIdx="1" clrIdx="0">
    <p:extLst>
      <p:ext uri="{19B8F6BF-5375-455C-9EA6-DF929625EA0E}">
        <p15:presenceInfo xmlns:p15="http://schemas.microsoft.com/office/powerpoint/2012/main" userId="0228d1a25d9d8fc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967" autoAdjust="0"/>
  </p:normalViewPr>
  <p:slideViewPr>
    <p:cSldViewPr snapToGrid="0">
      <p:cViewPr varScale="1">
        <p:scale>
          <a:sx n="59" d="100"/>
          <a:sy n="59" d="100"/>
        </p:scale>
        <p:origin x="115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8FFA0-3B76-491C-932C-517BF04BE900}" type="datetimeFigureOut">
              <a:rPr lang="zh-TW" altLang="en-US" smtClean="0"/>
              <a:pPr/>
              <a:t>2021/10/26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BCF65-18E4-404A-9CC7-11855E64B91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327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BCF65-18E4-404A-9CC7-11855E64B910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原先問題是將字串</a:t>
            </a:r>
            <a:r>
              <a:rPr lang="en-US" altLang="zh-TW" dirty="0"/>
              <a:t>A</a:t>
            </a:r>
            <a:r>
              <a:rPr lang="zh-TW" altLang="en-US" dirty="0"/>
              <a:t>轉換成字串</a:t>
            </a:r>
            <a:r>
              <a:rPr lang="en-US" altLang="zh-TW" dirty="0"/>
              <a:t>B</a:t>
            </a:r>
            <a:r>
              <a:rPr lang="zh-TW" altLang="en-US" dirty="0"/>
              <a:t>時需要做幾次 操作指的是</a:t>
            </a:r>
            <a:r>
              <a:rPr lang="en-US" altLang="zh-TW" dirty="0"/>
              <a:t>change</a:t>
            </a:r>
            <a:r>
              <a:rPr lang="zh-TW" altLang="en-US" dirty="0"/>
              <a:t>、</a:t>
            </a:r>
            <a:r>
              <a:rPr lang="en-US" altLang="zh-TW" dirty="0"/>
              <a:t>delete</a:t>
            </a:r>
            <a:r>
              <a:rPr lang="zh-TW" altLang="en-US" dirty="0"/>
              <a:t>、</a:t>
            </a:r>
            <a:r>
              <a:rPr lang="en-US" altLang="zh-TW" dirty="0"/>
              <a:t>insert</a:t>
            </a:r>
            <a:r>
              <a:rPr lang="zh-TW" altLang="en-US" dirty="0"/>
              <a:t>這三個動作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change:</a:t>
            </a:r>
            <a:r>
              <a:rPr lang="zh-TW" altLang="en-US" dirty="0"/>
              <a:t>將字串</a:t>
            </a:r>
            <a:r>
              <a:rPr lang="en-US" altLang="zh-TW" dirty="0"/>
              <a:t>A</a:t>
            </a:r>
            <a:r>
              <a:rPr lang="zh-TW" altLang="en-US" dirty="0"/>
              <a:t>的一個字母轉換成字串</a:t>
            </a:r>
            <a:r>
              <a:rPr lang="en-US" altLang="zh-TW" dirty="0"/>
              <a:t>B</a:t>
            </a:r>
            <a:r>
              <a:rPr lang="zh-TW" altLang="en-US" dirty="0"/>
              <a:t>的一個字母</a:t>
            </a:r>
            <a:r>
              <a:rPr lang="en-US" altLang="zh-TW" dirty="0"/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delete</a:t>
            </a:r>
            <a:r>
              <a:rPr lang="zh-TW" altLang="en-US" dirty="0"/>
              <a:t>將字串</a:t>
            </a:r>
            <a:r>
              <a:rPr lang="en-US" altLang="zh-TW" dirty="0"/>
              <a:t>A</a:t>
            </a:r>
            <a:r>
              <a:rPr lang="zh-TW" altLang="en-US" dirty="0"/>
              <a:t>的一個字母刪除 </a:t>
            </a:r>
            <a:r>
              <a:rPr lang="en-US" altLang="zh-TW" dirty="0"/>
              <a:t>,I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nsert</a:t>
            </a:r>
            <a:r>
              <a:rPr lang="zh-TW" altLang="en-US" dirty="0"/>
              <a:t>插入一個字母至字串</a:t>
            </a:r>
            <a:r>
              <a:rPr lang="en-US" altLang="zh-TW" dirty="0"/>
              <a:t>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假設當我已經求出</a:t>
            </a:r>
            <a:r>
              <a:rPr lang="en-US" altLang="zh-TW" dirty="0"/>
              <a:t>A</a:t>
            </a:r>
            <a:r>
              <a:rPr lang="zh-TW" altLang="en-US" dirty="0"/>
              <a:t>轉換至</a:t>
            </a:r>
            <a:r>
              <a:rPr lang="en-US" altLang="zh-TW" dirty="0"/>
              <a:t>B</a:t>
            </a:r>
            <a:r>
              <a:rPr lang="zh-TW" altLang="en-US" dirty="0"/>
              <a:t>的</a:t>
            </a:r>
            <a:r>
              <a:rPr lang="en-US" altLang="zh-TW" dirty="0"/>
              <a:t>DISTANCE TABLE </a:t>
            </a:r>
            <a:r>
              <a:rPr lang="zh-TW" altLang="en-US" dirty="0"/>
              <a:t>這時候我們將</a:t>
            </a:r>
            <a:r>
              <a:rPr lang="en-US" altLang="zh-TW" dirty="0"/>
              <a:t>B</a:t>
            </a:r>
            <a:r>
              <a:rPr lang="zh-TW" altLang="en-US" dirty="0"/>
              <a:t>的第一個字母做刪除之後該如何求解，所需的時間複雜度是否會降低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那這邊是求出原先問題</a:t>
            </a:r>
            <a:r>
              <a:rPr lang="en-US" altLang="zh-TW" dirty="0"/>
              <a:t>(minimum edit distance)</a:t>
            </a:r>
            <a:r>
              <a:rPr lang="zh-TW" altLang="en-US" dirty="0"/>
              <a:t> 的時間複雜度為</a:t>
            </a:r>
            <a:r>
              <a:rPr lang="en-US" altLang="zh-TW" dirty="0"/>
              <a:t>O(MN)</a:t>
            </a:r>
            <a:r>
              <a:rPr lang="zh-TW" altLang="en-US" dirty="0"/>
              <a:t> </a:t>
            </a:r>
            <a:r>
              <a:rPr lang="en-US" altLang="zh-TW" dirty="0"/>
              <a:t>M N </a:t>
            </a:r>
            <a:r>
              <a:rPr lang="zh-TW" altLang="en-US" dirty="0"/>
              <a:t>分別為</a:t>
            </a:r>
            <a:r>
              <a:rPr lang="en-US" altLang="zh-TW" dirty="0"/>
              <a:t>A B</a:t>
            </a:r>
            <a:r>
              <a:rPr lang="zh-TW" altLang="en-US" dirty="0"/>
              <a:t>的字串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原先操作方式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圖</a:t>
            </a:r>
            <a:r>
              <a:rPr lang="en-US" altLang="zh-TW" dirty="0"/>
              <a:t>D</a:t>
            </a:r>
            <a:r>
              <a:rPr lang="zh-TW" altLang="en-US" dirty="0"/>
              <a:t>是依照</a:t>
            </a:r>
            <a:r>
              <a:rPr lang="en-US" altLang="zh-TW" dirty="0"/>
              <a:t>DP</a:t>
            </a:r>
            <a:r>
              <a:rPr lang="zh-TW" altLang="en-US" dirty="0"/>
              <a:t>方式操作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BCF65-18E4-404A-9CC7-11855E64B910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9019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首先它定義了兩個東西</a:t>
            </a:r>
            <a:endParaRPr lang="en-US" altLang="zh-TW" dirty="0"/>
          </a:p>
          <a:p>
            <a:r>
              <a:rPr lang="zh-TW" altLang="en-US" dirty="0"/>
              <a:t>一個是</a:t>
            </a:r>
            <a:r>
              <a:rPr lang="en-US" altLang="zh-TW" dirty="0"/>
              <a:t>DR TABLE </a:t>
            </a:r>
            <a:r>
              <a:rPr lang="zh-TW" altLang="en-US" dirty="0"/>
              <a:t>另一個是 </a:t>
            </a:r>
            <a:r>
              <a:rPr lang="en-US" altLang="zh-TW" dirty="0"/>
              <a:t>CHANGE TABLE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DR Table 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是由</a:t>
            </a:r>
            <a:r>
              <a:rPr lang="en-US" altLang="zh-TW" sz="1200" dirty="0"/>
              <a:t>DR(</a:t>
            </a:r>
            <a:r>
              <a:rPr lang="en-US" altLang="zh-TW" sz="1200" dirty="0" err="1"/>
              <a:t>i,j</a:t>
            </a:r>
            <a:r>
              <a:rPr lang="en-US" altLang="zh-TW" sz="1200" dirty="0"/>
              <a:t>).L</a:t>
            </a:r>
            <a:r>
              <a:rPr lang="zh-TW" altLang="en-US" sz="1200" dirty="0"/>
              <a:t> </a:t>
            </a:r>
            <a:r>
              <a:rPr lang="en-US" altLang="zh-TW" sz="1200" dirty="0"/>
              <a:t>DR(</a:t>
            </a:r>
            <a:r>
              <a:rPr lang="en-US" altLang="zh-TW" sz="1200" dirty="0" err="1"/>
              <a:t>i,j</a:t>
            </a:r>
            <a:r>
              <a:rPr lang="en-US" altLang="zh-TW" sz="1200" dirty="0"/>
              <a:t>)U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DR(I,J).UL=DR(I,J).U+DR(I-1,J).L</a:t>
            </a:r>
          </a:p>
          <a:p>
            <a:endParaRPr lang="en-US" altLang="zh-TW" dirty="0"/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BCF65-18E4-404A-9CC7-11855E64B910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5731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在我們的算法中實際上並未構建 </a:t>
            </a:r>
            <a:r>
              <a:rPr lang="en-US" altLang="zh-TW" dirty="0"/>
              <a:t>Ch </a:t>
            </a:r>
            <a:r>
              <a:rPr lang="zh-TW" altLang="en-US" dirty="0"/>
              <a:t>表，因為</a:t>
            </a:r>
            <a:r>
              <a:rPr lang="en-US" altLang="zh-TW" dirty="0"/>
              <a:t>Ch-table </a:t>
            </a:r>
            <a:r>
              <a:rPr lang="zh-TW" altLang="en-US" dirty="0"/>
              <a:t>需要 </a:t>
            </a:r>
            <a:r>
              <a:rPr lang="en-US" altLang="zh-TW" dirty="0"/>
              <a:t>(</a:t>
            </a:r>
            <a:r>
              <a:rPr lang="en-US" altLang="zh-TW" dirty="0" err="1"/>
              <a:t>mn</a:t>
            </a:r>
            <a:r>
              <a:rPr lang="en-US" altLang="zh-TW" dirty="0"/>
              <a:t>) </a:t>
            </a:r>
            <a:r>
              <a:rPr lang="zh-TW" altLang="en-US" dirty="0"/>
              <a:t>時間。 它將僅用於算法的描述。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BCF65-18E4-404A-9CC7-11855E64B910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873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2.</a:t>
            </a:r>
            <a:r>
              <a:rPr lang="zh-TW" altLang="en-US" dirty="0"/>
              <a:t>這個範例</a:t>
            </a:r>
            <a:r>
              <a:rPr lang="en-US" altLang="zh-TW" dirty="0"/>
              <a:t>k=2</a:t>
            </a:r>
          </a:p>
          <a:p>
            <a:r>
              <a:rPr lang="zh-TW" altLang="en-US" dirty="0"/>
              <a:t>那根據這些</a:t>
            </a:r>
            <a:r>
              <a:rPr lang="en-US" altLang="zh-TW" dirty="0"/>
              <a:t>lemma</a:t>
            </a:r>
          </a:p>
          <a:p>
            <a:r>
              <a:rPr lang="zh-TW" altLang="en-US" dirty="0"/>
              <a:t>所以</a:t>
            </a:r>
            <a:r>
              <a:rPr lang="en-US" altLang="zh-TW" dirty="0" err="1"/>
              <a:t>chtabke</a:t>
            </a:r>
            <a:r>
              <a:rPr lang="zh-TW" altLang="en-US" dirty="0"/>
              <a:t>的值會是</a:t>
            </a:r>
            <a:r>
              <a:rPr lang="en-US" altLang="zh-TW" dirty="0"/>
              <a:t>-1,0,1</a:t>
            </a: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BCF65-18E4-404A-9CC7-11855E64B910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7581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F(</a:t>
            </a:r>
            <a:r>
              <a:rPr lang="en-US" altLang="zh-TW" dirty="0" err="1"/>
              <a:t>i</a:t>
            </a:r>
            <a:r>
              <a:rPr lang="en-US" altLang="zh-TW" dirty="0"/>
              <a:t>):</a:t>
            </a:r>
            <a:r>
              <a:rPr lang="zh-TW" altLang="en-US" dirty="0"/>
              <a:t>第</a:t>
            </a:r>
            <a:r>
              <a:rPr lang="en-US" altLang="zh-TW" dirty="0" err="1"/>
              <a:t>i</a:t>
            </a:r>
            <a:r>
              <a:rPr lang="zh-TW" altLang="en-US" dirty="0"/>
              <a:t>列第一個為 </a:t>
            </a:r>
            <a:r>
              <a:rPr lang="en-US" altLang="zh-TW" dirty="0"/>
              <a:t>-1</a:t>
            </a:r>
            <a:r>
              <a:rPr lang="zh-TW" altLang="en-US" dirty="0"/>
              <a:t>的</a:t>
            </a:r>
            <a:r>
              <a:rPr lang="en-US" altLang="zh-TW" dirty="0"/>
              <a:t>index</a:t>
            </a:r>
            <a:r>
              <a:rPr lang="zh-TW" altLang="en-US" dirty="0"/>
              <a:t>為多少，且該列之後的</a:t>
            </a:r>
            <a:r>
              <a:rPr lang="en-US" altLang="zh-TW" dirty="0"/>
              <a:t>entry</a:t>
            </a:r>
            <a:r>
              <a:rPr lang="zh-TW" altLang="en-US" dirty="0"/>
              <a:t>皆為</a:t>
            </a:r>
            <a:r>
              <a:rPr lang="en-US" altLang="zh-TW" dirty="0"/>
              <a:t>-1</a:t>
            </a:r>
            <a:r>
              <a:rPr lang="zh-TW" altLang="en-US" dirty="0"/>
              <a:t>，找不到則為</a:t>
            </a:r>
            <a:r>
              <a:rPr lang="en-US" altLang="zh-TW" dirty="0"/>
              <a:t>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下一列</a:t>
            </a:r>
            <a:r>
              <a:rPr lang="en-US" altLang="zh-TW" dirty="0"/>
              <a:t>-1</a:t>
            </a:r>
            <a:r>
              <a:rPr lang="zh-TW" altLang="en-US" dirty="0"/>
              <a:t>起始位置大於上一列用歸納法 </a:t>
            </a:r>
            <a:r>
              <a:rPr lang="en-US" altLang="zh-TW" dirty="0"/>
              <a:t>+</a:t>
            </a:r>
            <a:r>
              <a:rPr lang="zh-TW" altLang="en-US" dirty="0"/>
              <a:t> 前面的的 </a:t>
            </a:r>
            <a:r>
              <a:rPr lang="en-US" altLang="zh-TW" dirty="0"/>
              <a:t>lemma </a:t>
            </a:r>
            <a:r>
              <a:rPr lang="zh-TW" altLang="en-US" dirty="0"/>
              <a:t>其實可以證明</a:t>
            </a:r>
            <a:endParaRPr lang="en-US" altLang="zh-TW" dirty="0"/>
          </a:p>
          <a:p>
            <a:r>
              <a:rPr lang="en-US" altLang="zh-TW" dirty="0"/>
              <a:t>g(j):</a:t>
            </a:r>
            <a:r>
              <a:rPr lang="zh-TW" altLang="en-US" dirty="0"/>
              <a:t>第</a:t>
            </a:r>
            <a:r>
              <a:rPr lang="en-US" altLang="zh-TW" dirty="0"/>
              <a:t>j</a:t>
            </a:r>
            <a:r>
              <a:rPr lang="zh-TW" altLang="en-US" dirty="0"/>
              <a:t>行第一個為  </a:t>
            </a:r>
            <a:r>
              <a:rPr lang="en-US" altLang="zh-TW" dirty="0"/>
              <a:t>1</a:t>
            </a:r>
            <a:r>
              <a:rPr lang="zh-TW" altLang="en-US" dirty="0"/>
              <a:t>的</a:t>
            </a:r>
            <a:r>
              <a:rPr lang="en-US" altLang="zh-TW" dirty="0"/>
              <a:t>index</a:t>
            </a:r>
            <a:r>
              <a:rPr lang="zh-TW" altLang="en-US" dirty="0"/>
              <a:t>是多少，且該行之後的</a:t>
            </a:r>
            <a:r>
              <a:rPr lang="en-US" altLang="zh-TW" dirty="0"/>
              <a:t>entry</a:t>
            </a:r>
            <a:r>
              <a:rPr lang="zh-TW" altLang="en-US" dirty="0"/>
              <a:t>皆為</a:t>
            </a:r>
            <a:r>
              <a:rPr lang="en-US" altLang="zh-TW" dirty="0"/>
              <a:t>1</a:t>
            </a:r>
            <a:r>
              <a:rPr lang="zh-TW" altLang="en-US" dirty="0"/>
              <a:t>，找不到則為</a:t>
            </a:r>
            <a:r>
              <a:rPr lang="en-US" altLang="zh-TW" dirty="0"/>
              <a:t>m+1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下一行</a:t>
            </a:r>
            <a:r>
              <a:rPr lang="en-US" altLang="zh-TW" dirty="0"/>
              <a:t>1</a:t>
            </a:r>
            <a:r>
              <a:rPr lang="zh-TW" altLang="en-US" dirty="0"/>
              <a:t>的起始位置大於上一列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affect</a:t>
            </a:r>
            <a:r>
              <a:rPr lang="zh-TW" altLang="en-US" dirty="0"/>
              <a:t>定義</a:t>
            </a:r>
            <a:r>
              <a:rPr lang="en-US" altLang="zh-TW" dirty="0"/>
              <a:t>:</a:t>
            </a:r>
            <a:r>
              <a:rPr lang="zh-TW" altLang="en-US" dirty="0"/>
              <a:t>左上方</a:t>
            </a:r>
            <a:r>
              <a:rPr lang="en-US" altLang="zh-TW" dirty="0"/>
              <a:t>3</a:t>
            </a:r>
            <a:r>
              <a:rPr lang="zh-TW" altLang="en-US" dirty="0"/>
              <a:t>格值不一樣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BCF65-18E4-404A-9CC7-11855E64B910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7221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邊界定義</a:t>
            </a:r>
            <a:r>
              <a:rPr lang="en-US" altLang="zh-TW" dirty="0"/>
              <a:t>:</a:t>
            </a:r>
            <a:r>
              <a:rPr lang="zh-TW" altLang="en-US" dirty="0"/>
              <a:t>左下三個至少一個不是</a:t>
            </a:r>
            <a:r>
              <a:rPr lang="en-US" altLang="zh-TW" dirty="0"/>
              <a:t>-1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zh-TW" altLang="en-US" baseline="0" dirty="0"/>
              <a:t>                 右上</a:t>
            </a:r>
            <a:r>
              <a:rPr lang="zh-TW" altLang="en-US" dirty="0"/>
              <a:t>三個至少一個不是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BCF65-18E4-404A-9CC7-11855E64B910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7082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BCF65-18E4-404A-9CC7-11855E64B910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依照前面的</a:t>
            </a:r>
            <a:r>
              <a:rPr lang="en-US" altLang="zh-TW" dirty="0"/>
              <a:t>lemma</a:t>
            </a:r>
            <a:r>
              <a:rPr lang="zh-TW" altLang="en-US" dirty="0"/>
              <a:t>，當我們有</a:t>
            </a:r>
            <a:r>
              <a:rPr lang="en-US" altLang="zh-TW" dirty="0" err="1"/>
              <a:t>ch</a:t>
            </a:r>
            <a:r>
              <a:rPr lang="zh-TW" altLang="en-US" dirty="0"/>
              <a:t>表格的數值時我們就可以推出</a:t>
            </a:r>
            <a:r>
              <a:rPr lang="en-US" altLang="zh-TW" dirty="0"/>
              <a:t>D'</a:t>
            </a:r>
            <a:r>
              <a:rPr lang="zh-TW" altLang="en-US" dirty="0"/>
              <a:t>的值</a:t>
            </a:r>
            <a:endParaRPr lang="en-US" altLang="zh-TW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那要計算</a:t>
            </a:r>
            <a:r>
              <a:rPr lang="en-US" altLang="zh-TW" dirty="0"/>
              <a:t>CH(</a:t>
            </a:r>
            <a:r>
              <a:rPr lang="en-US" altLang="zh-TW" dirty="0" err="1"/>
              <a:t>i,j</a:t>
            </a:r>
            <a:r>
              <a:rPr lang="en-US" altLang="zh-TW" dirty="0"/>
              <a:t>)</a:t>
            </a:r>
            <a:r>
              <a:rPr lang="zh-TW" altLang="en-US" dirty="0"/>
              <a:t>時，我們需要</a:t>
            </a:r>
            <a:r>
              <a:rPr lang="en-US" altLang="zh-TW" dirty="0">
                <a:solidFill>
                  <a:srgbClr val="FF0000"/>
                </a:solidFill>
              </a:rPr>
              <a:t>DR</a:t>
            </a:r>
            <a:r>
              <a:rPr lang="en-US" altLang="zh-TW" baseline="0" dirty="0">
                <a:solidFill>
                  <a:srgbClr val="FF0000"/>
                </a:solidFill>
              </a:rPr>
              <a:t>(i,j+1),</a:t>
            </a:r>
            <a:r>
              <a:rPr lang="en-US" altLang="zh-TW" dirty="0">
                <a:solidFill>
                  <a:srgbClr val="FF0000"/>
                </a:solidFill>
              </a:rPr>
              <a:t> CH(i-1,j-1), CH(i-1,j), CH(i,j-1)</a:t>
            </a:r>
            <a:r>
              <a:rPr lang="zh-TW" altLang="en-US" dirty="0"/>
              <a:t>那這些值都可以依照演算法依序推出。</a:t>
            </a:r>
            <a:endParaRPr lang="en-US" altLang="zh-TW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BCF65-18E4-404A-9CC7-11855E64B910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BCF65-18E4-404A-9CC7-11855E64B910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8127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FE9CA9-2D2F-4F32-AF24-15E7BAFAD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20C05A1-6B4C-43DC-B2A7-0971AA29F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3FA422-B303-40CB-9601-EA4B6EEFF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D3FF7-98C8-45EF-858E-1D7577A201E8}" type="datetimeFigureOut">
              <a:rPr lang="zh-TW" altLang="en-US" smtClean="0"/>
              <a:pPr/>
              <a:t>2021/10/26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28DE39-D10A-451A-8D55-E836A0D2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EC4E-D49C-4C4D-939B-8406C842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9D5E-1BBD-45D2-9B47-71D7163E307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689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F7F1D7-8411-4E11-AF8C-2B420A24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F67058-DC92-4082-B2C6-4D129AB8E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85A2B6-A6FF-4586-9C72-9A768CCC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D3FF7-98C8-45EF-858E-1D7577A201E8}" type="datetimeFigureOut">
              <a:rPr lang="zh-TW" altLang="en-US" smtClean="0"/>
              <a:pPr/>
              <a:t>2021/10/26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890196-ACF8-41CE-B82F-5358EB1FF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19A0D5-9B73-4B68-AD00-407EEA9D5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9D5E-1BBD-45D2-9B47-71D7163E307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83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88F12C-EC56-4DFB-A515-B36E8F69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75A81F-8844-4974-A3EE-619D3083E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7FCC78-122C-49B5-B518-46166828F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D3FF7-98C8-45EF-858E-1D7577A201E8}" type="datetimeFigureOut">
              <a:rPr lang="zh-TW" altLang="en-US" smtClean="0"/>
              <a:pPr/>
              <a:t>2021/10/26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B29CD4-F9A7-4EDB-9F7E-6E60B1A8E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F45F51-5F17-4A75-907B-E3612675D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9D5E-1BBD-45D2-9B47-71D7163E307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4795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2D844B-B729-4E25-A1CA-535C68C6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3FCB8A-BE36-4651-98A5-75961A988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0EF4232-CB03-48C5-9EB5-1A596A7F8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D15D8A-D91D-44C1-AEA7-80712A484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D3FF7-98C8-45EF-858E-1D7577A201E8}" type="datetimeFigureOut">
              <a:rPr lang="zh-TW" altLang="en-US" smtClean="0"/>
              <a:pPr/>
              <a:t>2021/10/26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5F2E0F-9BE6-4E57-A5CE-83E94CCE6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64674A4-E2AD-492B-AAEF-423BB79A3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9D5E-1BBD-45D2-9B47-71D7163E307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3809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F5937-DC0A-4941-A312-316A5FE8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40587A-7C8A-4674-9AAE-08E9CFAEE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E957552-3ACD-48DE-A028-6B42D147E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E3115B1-BF88-4BF2-8BF9-A0ED8BA34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D328C5D-5F7C-4F1F-B551-7EA04A895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D1CB5C1-815A-4F4C-BFD6-4DD758AC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D3FF7-98C8-45EF-858E-1D7577A201E8}" type="datetimeFigureOut">
              <a:rPr lang="zh-TW" altLang="en-US" smtClean="0"/>
              <a:pPr/>
              <a:t>2021/10/26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12580DB-1B47-4F36-B256-B07EE3B0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4AEB7D4-1178-4E72-8BCD-1BDF9FE5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9D5E-1BBD-45D2-9B47-71D7163E307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8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9992E3-79C6-4551-8A91-566CBEE53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68B05B7-D88A-436D-8890-877E1E165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D3FF7-98C8-45EF-858E-1D7577A201E8}" type="datetimeFigureOut">
              <a:rPr lang="zh-TW" altLang="en-US" smtClean="0"/>
              <a:pPr/>
              <a:t>2021/10/26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FC63F8D-6A3D-4FEB-BC0A-C80CE8E5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9C39441-1078-46F5-948C-E34A790A7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9D5E-1BBD-45D2-9B47-71D7163E307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634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E69727E-491C-4915-BFF8-620880DD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D3FF7-98C8-45EF-858E-1D7577A201E8}" type="datetimeFigureOut">
              <a:rPr lang="zh-TW" altLang="en-US" smtClean="0"/>
              <a:pPr/>
              <a:t>2021/10/26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0FE5364-20F2-413F-8048-FFCFCBC2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84A7BF-5767-4465-837F-3C118AD2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9D5E-1BBD-45D2-9B47-71D7163E307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455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8CDE37-F35C-4478-A2E4-5432BDF0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760404-E270-40DF-BA81-96F08FC4B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53545B4-D143-456A-8178-04592C865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4AD798C-3D43-42B5-AF0C-3060871F4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D3FF7-98C8-45EF-858E-1D7577A201E8}" type="datetimeFigureOut">
              <a:rPr lang="zh-TW" altLang="en-US" smtClean="0"/>
              <a:pPr/>
              <a:t>2021/10/26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4F6F2E-0FE9-4920-8BCA-34B0A11AE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45DC602-804F-4F43-81A2-FAE2A9A30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9D5E-1BBD-45D2-9B47-71D7163E307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015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6EE344-0B98-4B2C-BFBA-BA2D69D3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CAC1682-7C9E-452E-BD7D-F893AE7FD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9614B5-D1BC-40A7-BC37-F1C8AD207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54F840-3657-4543-997E-94E73C47E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D3FF7-98C8-45EF-858E-1D7577A201E8}" type="datetimeFigureOut">
              <a:rPr lang="zh-TW" altLang="en-US" smtClean="0"/>
              <a:pPr/>
              <a:t>2021/10/26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7FE89D-3350-4401-896A-C7AC5865D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DD5D27-3C12-4209-83F0-98A84BDA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9D5E-1BBD-45D2-9B47-71D7163E307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777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51673E-E078-41F4-9B04-EF8788D0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1C24D8-830F-4171-B40D-266811B4E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C06C65-EF81-4067-A327-AF2A5D4A7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D3FF7-98C8-45EF-858E-1D7577A201E8}" type="datetimeFigureOut">
              <a:rPr lang="zh-TW" altLang="en-US" smtClean="0"/>
              <a:pPr/>
              <a:t>2021/10/26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097134-82EA-4D9B-8AD3-E449645E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FB2585-37E6-433B-92EE-183EC1FB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9D5E-1BBD-45D2-9B47-71D7163E307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955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2C54575-CCE5-42FE-8067-956C08F86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0C5C734-65C0-47EF-B0E4-6013D9676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191F23-1945-4719-987E-90C734F7D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D3FF7-98C8-45EF-858E-1D7577A201E8}" type="datetimeFigureOut">
              <a:rPr lang="zh-TW" altLang="en-US" smtClean="0"/>
              <a:pPr/>
              <a:t>2021/10/26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EA65D5-41A8-4EF5-9FBF-89C7EE6C5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E3F4A5-A4D8-48F9-B4D1-2CA330F1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9D5E-1BBD-45D2-9B47-71D7163E307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1988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600" y="274680"/>
            <a:ext cx="1097232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600" y="1600200"/>
            <a:ext cx="1097232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pPr algn="ctr"/>
            <a:endParaRPr lang="en-US" sz="3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202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1953057-BF49-4C53-A322-005CE9BAD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F6A7BF1-2E90-4F1D-91B8-FA2A73EFA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59B46F-1170-4F97-A73B-6DFF1134D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D3FF7-98C8-45EF-858E-1D7577A201E8}" type="datetimeFigureOut">
              <a:rPr lang="zh-TW" altLang="en-US" smtClean="0"/>
              <a:pPr/>
              <a:t>2021/10/26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5B657E-8859-474C-983C-06D313590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F9E802-D8E1-4A13-A359-01E620FBA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59D5E-1BBD-45D2-9B47-71D7163E307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01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B8ACEC-085F-41D9-AD77-378373AAA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676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Dynamic Edit Distance Table</a:t>
            </a:r>
            <a:endParaRPr kumimoji="1"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196214E-1103-4E26-A6F4-0594CD93DA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>
                <a:latin typeface="Time New Romen"/>
              </a:rPr>
              <a:t>Sung-</a:t>
            </a:r>
            <a:r>
              <a:rPr lang="en-US" altLang="zh-TW" sz="2800" dirty="0" err="1">
                <a:latin typeface="Time New Romen"/>
              </a:rPr>
              <a:t>Ryul</a:t>
            </a:r>
            <a:r>
              <a:rPr lang="en-US" altLang="zh-TW" sz="2800" dirty="0">
                <a:latin typeface="Time New Romen"/>
              </a:rPr>
              <a:t> Kim, </a:t>
            </a:r>
            <a:r>
              <a:rPr lang="en-US" altLang="zh-TW" sz="2800" dirty="0" err="1">
                <a:latin typeface="Time New Romen"/>
              </a:rPr>
              <a:t>Kunsoo</a:t>
            </a:r>
            <a:r>
              <a:rPr lang="en-US" altLang="zh-TW" sz="2800" dirty="0">
                <a:latin typeface="Time New Romen"/>
              </a:rPr>
              <a:t> Park</a:t>
            </a:r>
            <a:endParaRPr lang="en-US" altLang="zh-TW" sz="2800" dirty="0">
              <a:latin typeface="Time New Romen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 New Romen"/>
              </a:rPr>
              <a:t>Journal of Discrete Algorithms</a:t>
            </a:r>
          </a:p>
          <a:p>
            <a:r>
              <a:rPr lang="en-US" altLang="zh-TW" sz="2800" dirty="0">
                <a:latin typeface="Time New Romen"/>
              </a:rPr>
              <a:t>Volume 2, Issue 2, June 2004, Pages 303-312</a:t>
            </a:r>
            <a:endParaRPr lang="zh-TW" altLang="en-US" sz="2800" dirty="0">
              <a:latin typeface="Time New Romen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DBD8C01-2A31-4E2E-94C0-392C9FF4B1C9}"/>
              </a:ext>
            </a:extLst>
          </p:cNvPr>
          <p:cNvSpPr txBox="1"/>
          <p:nvPr/>
        </p:nvSpPr>
        <p:spPr>
          <a:xfrm>
            <a:off x="8809264" y="5943327"/>
            <a:ext cx="3717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/>
              <a:t>Presenter:Chien-Ting</a:t>
            </a:r>
            <a:r>
              <a:rPr lang="en-US" altLang="zh-TW" sz="2400" dirty="0"/>
              <a:t> Lee</a:t>
            </a:r>
          </a:p>
          <a:p>
            <a:r>
              <a:rPr lang="en-US" altLang="zh-TW" sz="2400" dirty="0"/>
              <a:t>Date: </a:t>
            </a:r>
            <a:r>
              <a:rPr lang="en-US" altLang="zh-TW" sz="2400" b="0" strike="noStrike" spc="-1" dirty="0">
                <a:solidFill>
                  <a:srgbClr val="000000"/>
                </a:solidFill>
                <a:latin typeface="Times New Roman"/>
              </a:rPr>
              <a:t>Oct. 26, 2021</a:t>
            </a:r>
            <a:endParaRPr lang="zh-TW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14103111" y="3430072"/>
            <a:ext cx="30040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Journal of Discrete Algorithms</a:t>
            </a:r>
          </a:p>
        </p:txBody>
      </p:sp>
    </p:spTree>
    <p:extLst>
      <p:ext uri="{BB962C8B-B14F-4D97-AF65-F5344CB8AC3E}">
        <p14:creationId xmlns:p14="http://schemas.microsoft.com/office/powerpoint/2010/main" val="38300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88F872-8A2B-43CF-9785-41DC22DFC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07" y="0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2447DF-886A-4310-808F-E71F7D8B3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958" y="1341531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/>
              <a:t>In this paper we consider the incremental/decremental version of the edit distance problem: given a solution to the edit distance between two strings A and B, find a solution to the edit distance between A and B' where B'= </a:t>
            </a:r>
            <a:r>
              <a:rPr lang="en-US" altLang="zh-TW" dirty="0" err="1"/>
              <a:t>aB</a:t>
            </a:r>
            <a:r>
              <a:rPr lang="en-US" altLang="zh-TW" dirty="0"/>
              <a:t> (incremental) or </a:t>
            </a:r>
            <a:r>
              <a:rPr lang="en-US" altLang="zh-TW" dirty="0" err="1"/>
              <a:t>bB</a:t>
            </a:r>
            <a:r>
              <a:rPr lang="en-US" altLang="zh-TW" dirty="0"/>
              <a:t>' = B (decremental). As a solution for the edit distance between A and B, we define the difference representation of the D-table, which leads to a simple and intuitive algorithm for the incremental/decremental edit distance problem.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806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3FC337-BADB-408C-81AA-DD7C6423B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77" y="-132080"/>
            <a:ext cx="10515600" cy="1325563"/>
          </a:xfrm>
        </p:spPr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8760FB4-5CFC-4C91-86E7-A988577CAC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10" y="1431521"/>
            <a:ext cx="6351483" cy="3292130"/>
          </a:xfr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DBC4536-1536-4713-8F7C-B045C40F2558}"/>
              </a:ext>
            </a:extLst>
          </p:cNvPr>
          <p:cNvSpPr txBox="1">
            <a:spLocks/>
          </p:cNvSpPr>
          <p:nvPr/>
        </p:nvSpPr>
        <p:spPr>
          <a:xfrm>
            <a:off x="3203268" y="643301"/>
            <a:ext cx="10515600" cy="1084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/>
              <a:t>A=</a:t>
            </a:r>
            <a:r>
              <a:rPr lang="en-US" altLang="zh-TW" dirty="0" err="1"/>
              <a:t>ababbabb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B=</a:t>
            </a:r>
            <a:r>
              <a:rPr lang="en-US" altLang="zh-TW" dirty="0" err="1"/>
              <a:t>bbababbab</a:t>
            </a:r>
            <a:r>
              <a:rPr lang="en-US" altLang="zh-TW" dirty="0"/>
              <a:t>		B' =</a:t>
            </a:r>
            <a:r>
              <a:rPr lang="en-US" altLang="zh-TW" dirty="0" err="1"/>
              <a:t>bababbab</a:t>
            </a:r>
            <a:endParaRPr lang="en-US" altLang="zh-TW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97C65A2-8A8F-48D2-9AA9-6BA8FA0EF6D0}"/>
              </a:ext>
            </a:extLst>
          </p:cNvPr>
          <p:cNvSpPr txBox="1"/>
          <p:nvPr/>
        </p:nvSpPr>
        <p:spPr>
          <a:xfrm>
            <a:off x="2136301" y="4609495"/>
            <a:ext cx="10812696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D(i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nn-NO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n-NO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0)= i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n-NO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0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≦</a:t>
            </a:r>
            <a:r>
              <a:rPr lang="nn-NO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n-NO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≦ </a:t>
            </a:r>
            <a:r>
              <a:rPr lang="nn-NO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  <a:p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D(0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j) = j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0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≦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≦ 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j) = min{D(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− 1, j − 1) + </a:t>
            </a:r>
            <a:r>
              <a:rPr lang="el-G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D(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− 1,j) + 1, D(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 − 1) + 1 }	     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for 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≦</a:t>
            </a:r>
            <a:r>
              <a:rPr lang="nn-NO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≦</a:t>
            </a:r>
            <a:r>
              <a:rPr lang="nn-NO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≦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≦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</a:p>
          <a:p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δij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if A[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B[j ];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δij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</a:t>
            </a:r>
            <a:endParaRPr lang="nn-NO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nn-NO" altLang="zh-TW" sz="2400" dirty="0">
              <a:latin typeface="Time New Romen"/>
            </a:endParaRPr>
          </a:p>
          <a:p>
            <a:endParaRPr lang="nn-NO" altLang="zh-TW" sz="2400" dirty="0">
              <a:latin typeface="Time New Romen"/>
            </a:endParaRPr>
          </a:p>
          <a:p>
            <a:endParaRPr lang="zh-TW" altLang="en-US" sz="2400" dirty="0">
              <a:latin typeface="Time New Romen"/>
            </a:endParaRPr>
          </a:p>
        </p:txBody>
      </p:sp>
    </p:spTree>
    <p:extLst>
      <p:ext uri="{BB962C8B-B14F-4D97-AF65-F5344CB8AC3E}">
        <p14:creationId xmlns:p14="http://schemas.microsoft.com/office/powerpoint/2010/main" val="1903526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3FC337-BADB-408C-81AA-DD7C6423B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31" y="101121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DR(</a:t>
            </a:r>
            <a:r>
              <a:rPr lang="en-US" altLang="zh-TW" sz="2800" dirty="0" err="1"/>
              <a:t>i,j</a:t>
            </a:r>
            <a:r>
              <a:rPr lang="en-US" altLang="zh-TW" sz="2800" dirty="0"/>
              <a:t>).U=D(</a:t>
            </a:r>
            <a:r>
              <a:rPr lang="en-US" altLang="zh-TW" sz="2800" dirty="0" err="1"/>
              <a:t>i,j</a:t>
            </a:r>
            <a:r>
              <a:rPr lang="en-US" altLang="zh-TW" sz="2800" dirty="0"/>
              <a:t>)-D(i-1,j)</a:t>
            </a:r>
            <a:r>
              <a:rPr lang="pt-BR" altLang="zh-TW" sz="2800" dirty="0"/>
              <a:t>   for </a:t>
            </a:r>
            <a:r>
              <a:rPr lang="en-US" altLang="zh-TW" sz="2800" dirty="0"/>
              <a:t>1</a:t>
            </a:r>
            <a:r>
              <a:rPr lang="zh-TW" altLang="en-US" sz="2800" dirty="0"/>
              <a:t>≦</a:t>
            </a:r>
            <a:r>
              <a:rPr lang="nn-NO" altLang="zh-TW" sz="2800" dirty="0"/>
              <a:t>i</a:t>
            </a:r>
            <a:r>
              <a:rPr lang="zh-TW" altLang="en-US" sz="2800" dirty="0"/>
              <a:t>≦</a:t>
            </a:r>
            <a:r>
              <a:rPr lang="nn-NO" altLang="zh-TW" sz="2800" dirty="0"/>
              <a:t>m and </a:t>
            </a:r>
            <a:r>
              <a:rPr lang="pt-BR" altLang="zh-TW" sz="2800" dirty="0"/>
              <a:t>1</a:t>
            </a:r>
            <a:r>
              <a:rPr lang="zh-TW" altLang="en-US" sz="2800" dirty="0"/>
              <a:t>≦</a:t>
            </a:r>
            <a:r>
              <a:rPr lang="pt-BR" altLang="zh-TW" sz="2800" dirty="0"/>
              <a:t>j</a:t>
            </a:r>
            <a:r>
              <a:rPr lang="zh-TW" altLang="en-US" sz="2800" dirty="0"/>
              <a:t>≦</a:t>
            </a:r>
            <a:r>
              <a:rPr lang="pt-BR" altLang="zh-TW" sz="2800" dirty="0"/>
              <a:t>n</a:t>
            </a:r>
            <a:br>
              <a:rPr lang="en-US" altLang="zh-TW" sz="2800" dirty="0"/>
            </a:br>
            <a:r>
              <a:rPr lang="en-US" altLang="zh-TW" sz="2800" dirty="0"/>
              <a:t>DR(</a:t>
            </a:r>
            <a:r>
              <a:rPr lang="en-US" altLang="zh-TW" sz="2800" dirty="0" err="1"/>
              <a:t>i,j</a:t>
            </a:r>
            <a:r>
              <a:rPr lang="en-US" altLang="zh-TW" sz="2800" dirty="0"/>
              <a:t>).L=D(</a:t>
            </a:r>
            <a:r>
              <a:rPr lang="en-US" altLang="zh-TW" sz="2800" dirty="0" err="1"/>
              <a:t>i,j</a:t>
            </a:r>
            <a:r>
              <a:rPr lang="en-US" altLang="zh-TW" sz="2800" dirty="0"/>
              <a:t>)-D(i,j-1)	  </a:t>
            </a:r>
            <a:r>
              <a:rPr lang="pt-BR" altLang="zh-TW" sz="2800" dirty="0"/>
              <a:t>for </a:t>
            </a:r>
            <a:r>
              <a:rPr lang="en-US" altLang="zh-TW" sz="2800" dirty="0"/>
              <a:t>1</a:t>
            </a:r>
            <a:r>
              <a:rPr lang="zh-TW" altLang="en-US" sz="2800" dirty="0"/>
              <a:t>≦</a:t>
            </a:r>
            <a:r>
              <a:rPr lang="nn-NO" altLang="zh-TW" sz="2800" dirty="0"/>
              <a:t>i</a:t>
            </a:r>
            <a:r>
              <a:rPr lang="zh-TW" altLang="en-US" sz="2800" dirty="0"/>
              <a:t>≦</a:t>
            </a:r>
            <a:r>
              <a:rPr lang="nn-NO" altLang="zh-TW" sz="2800" dirty="0"/>
              <a:t>m and </a:t>
            </a:r>
            <a:r>
              <a:rPr lang="pt-BR" altLang="zh-TW" sz="2800" dirty="0"/>
              <a:t>1</a:t>
            </a:r>
            <a:r>
              <a:rPr lang="zh-TW" altLang="en-US" sz="2800" dirty="0"/>
              <a:t>≦</a:t>
            </a:r>
            <a:r>
              <a:rPr lang="pt-BR" altLang="zh-TW" sz="2800" dirty="0"/>
              <a:t>j</a:t>
            </a:r>
            <a:r>
              <a:rPr lang="zh-TW" altLang="en-US" sz="2800" dirty="0"/>
              <a:t>≦</a:t>
            </a:r>
            <a:r>
              <a:rPr lang="pt-BR" altLang="zh-TW" sz="2800" dirty="0"/>
              <a:t>n</a:t>
            </a:r>
            <a:endParaRPr lang="zh-TW" altLang="en-US" sz="28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EBC83EE-86B6-42F1-8BF7-1172BD892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5" y="2928027"/>
            <a:ext cx="4416541" cy="3929973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E13FC337-BADB-408C-81AA-DD7C6423B043}"/>
              </a:ext>
            </a:extLst>
          </p:cNvPr>
          <p:cNvSpPr txBox="1">
            <a:spLocks/>
          </p:cNvSpPr>
          <p:nvPr/>
        </p:nvSpPr>
        <p:spPr>
          <a:xfrm>
            <a:off x="411862" y="10130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E13FC337-BADB-408C-81AA-DD7C6423B043}"/>
              </a:ext>
            </a:extLst>
          </p:cNvPr>
          <p:cNvSpPr txBox="1">
            <a:spLocks/>
          </p:cNvSpPr>
          <p:nvPr/>
        </p:nvSpPr>
        <p:spPr>
          <a:xfrm>
            <a:off x="250498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DR Table 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78070" y="2953832"/>
            <a:ext cx="5088368" cy="3775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文字方塊 9"/>
          <p:cNvSpPr txBox="1"/>
          <p:nvPr/>
        </p:nvSpPr>
        <p:spPr>
          <a:xfrm>
            <a:off x="6823935" y="2226833"/>
            <a:ext cx="3750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DR(</a:t>
            </a:r>
            <a:r>
              <a:rPr lang="en-US" altLang="zh-TW" sz="2800" dirty="0" err="1"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).U/ DR(</a:t>
            </a:r>
            <a:r>
              <a:rPr lang="en-US" altLang="zh-TW" sz="2800" dirty="0" err="1"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).L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901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3FC337-BADB-408C-81AA-DD7C6423B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66" y="0"/>
            <a:ext cx="10515600" cy="1325563"/>
          </a:xfrm>
        </p:spPr>
        <p:txBody>
          <a:bodyPr/>
          <a:lstStyle/>
          <a:p>
            <a:r>
              <a:rPr lang="en-US" altLang="zh-TW" dirty="0"/>
              <a:t>Ch-Table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97C65A2-8A8F-48D2-9AA9-6BA8FA0EF6D0}"/>
              </a:ext>
            </a:extLst>
          </p:cNvPr>
          <p:cNvSpPr txBox="1"/>
          <p:nvPr/>
        </p:nvSpPr>
        <p:spPr>
          <a:xfrm>
            <a:off x="848474" y="5267548"/>
            <a:ext cx="10812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altLang="zh-TW" sz="2800" dirty="0"/>
              <a:t>Ch(i, j ) = D</a:t>
            </a:r>
            <a:r>
              <a:rPr lang="en-US" altLang="zh-TW" sz="2800" dirty="0"/>
              <a:t>'</a:t>
            </a:r>
            <a:r>
              <a:rPr lang="pl-PL" altLang="zh-TW" sz="2800" dirty="0"/>
              <a:t>(i, j ) − D(i, j + 1)</a:t>
            </a:r>
            <a:endParaRPr lang="zh-TW" altLang="en-US" sz="2800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973D0918-C527-455B-8065-19249DA3F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72" y="1067232"/>
            <a:ext cx="10515600" cy="4060322"/>
          </a:xfrm>
        </p:spPr>
      </p:pic>
    </p:spTree>
    <p:extLst>
      <p:ext uri="{BB962C8B-B14F-4D97-AF65-F5344CB8AC3E}">
        <p14:creationId xmlns:p14="http://schemas.microsoft.com/office/powerpoint/2010/main" val="460526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9A7EE4-D872-4BD2-964F-113E2148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1" y="0"/>
            <a:ext cx="10515600" cy="1325563"/>
          </a:xfrm>
        </p:spPr>
        <p:txBody>
          <a:bodyPr/>
          <a:lstStyle/>
          <a:p>
            <a:r>
              <a:rPr lang="en-US" altLang="zh-TW" dirty="0"/>
              <a:t>Ch-Table Lemma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A6CF2A86-61F5-4696-8EBC-B50DB3FD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0761" y="1839073"/>
            <a:ext cx="7633698" cy="4469259"/>
          </a:xfrm>
        </p:spPr>
        <p:txBody>
          <a:bodyPr>
            <a:normAutofit/>
          </a:bodyPr>
          <a:lstStyle/>
          <a:p>
            <a:pPr lvl="1"/>
            <a:r>
              <a:rPr lang="en-US" altLang="zh-TW" dirty="0"/>
              <a:t>1. Ch(0,j) = −1 for all 0</a:t>
            </a:r>
            <a:r>
              <a:rPr lang="zh-TW" altLang="en-US" dirty="0">
                <a:solidFill>
                  <a:srgbClr val="00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≦</a:t>
            </a:r>
            <a:r>
              <a:rPr lang="en-US" altLang="zh-TW" dirty="0"/>
              <a:t>j</a:t>
            </a:r>
            <a:r>
              <a:rPr lang="en-US" altLang="zh-TW" dirty="0">
                <a:solidFill>
                  <a:srgbClr val="00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&lt;n</a:t>
            </a:r>
            <a:endParaRPr lang="en-US" altLang="zh-TW" dirty="0"/>
          </a:p>
          <a:p>
            <a:pPr lvl="1"/>
            <a:r>
              <a:rPr lang="en-US" altLang="zh-TW" dirty="0"/>
              <a:t>2. Ch(</a:t>
            </a:r>
            <a:r>
              <a:rPr lang="en-US" altLang="zh-TW" dirty="0" err="1"/>
              <a:t>i</a:t>
            </a:r>
            <a:r>
              <a:rPr lang="en-US" altLang="zh-TW" dirty="0"/>
              <a:t>, 0) = 0 for all 1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≦</a:t>
            </a:r>
            <a:r>
              <a:rPr lang="en-US" altLang="zh-TW" dirty="0" err="1"/>
              <a:t>i</a:t>
            </a:r>
            <a:r>
              <a:rPr lang="en-US" altLang="zh-TW" dirty="0">
                <a:solidFill>
                  <a:srgbClr val="00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&lt;</a:t>
            </a:r>
            <a:r>
              <a:rPr lang="en-US" altLang="zh-TW" dirty="0"/>
              <a:t>k, where k is the smallest index in A such that A[k]= B[1].</a:t>
            </a:r>
          </a:p>
          <a:p>
            <a:pPr lvl="1"/>
            <a:r>
              <a:rPr lang="en-US" altLang="zh-TW" dirty="0"/>
              <a:t>3. Ch(</a:t>
            </a:r>
            <a:r>
              <a:rPr lang="en-US" altLang="zh-TW" dirty="0" err="1"/>
              <a:t>i</a:t>
            </a:r>
            <a:r>
              <a:rPr lang="en-US" altLang="zh-TW" dirty="0"/>
              <a:t>, 0) = 1 for all k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≦</a:t>
            </a:r>
            <a:r>
              <a:rPr lang="en-US" altLang="zh-TW" dirty="0" err="1"/>
              <a:t>i</a:t>
            </a:r>
            <a:r>
              <a:rPr lang="en-US" altLang="zh-TW" dirty="0"/>
              <a:t> 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≦</a:t>
            </a:r>
            <a:r>
              <a:rPr lang="en-US" altLang="zh-TW" dirty="0"/>
              <a:t>m.</a:t>
            </a:r>
          </a:p>
          <a:p>
            <a:pPr marL="457200" lvl="1" indent="0">
              <a:buNone/>
            </a:pPr>
            <a:r>
              <a:rPr lang="zh-TW" altLang="en-US" dirty="0"/>
              <a:t>   </a:t>
            </a:r>
            <a:r>
              <a:rPr lang="en-US" altLang="zh-TW" dirty="0"/>
              <a:t>Immediate from the definition of the D-table.</a:t>
            </a:r>
          </a:p>
          <a:p>
            <a:pPr lvl="1"/>
            <a:r>
              <a:rPr lang="en-US" altLang="zh-TW" dirty="0"/>
              <a:t>For 1≦ </a:t>
            </a:r>
            <a:r>
              <a:rPr lang="en-US" altLang="zh-TW" dirty="0" err="1"/>
              <a:t>i</a:t>
            </a:r>
            <a:r>
              <a:rPr lang="en-US" altLang="zh-TW" dirty="0"/>
              <a:t> ≦ m and 1 ≦ j&lt;n, the possible values of Ch(</a:t>
            </a:r>
            <a:r>
              <a:rPr lang="en-US" altLang="zh-TW" dirty="0" err="1"/>
              <a:t>i</a:t>
            </a:r>
            <a:r>
              <a:rPr lang="en-US" altLang="zh-TW" dirty="0"/>
              <a:t>, j ) are in the range min{Ch(</a:t>
            </a:r>
            <a:r>
              <a:rPr lang="en-US" altLang="zh-TW" dirty="0" err="1"/>
              <a:t>i</a:t>
            </a:r>
            <a:r>
              <a:rPr lang="en-US" altLang="zh-TW" dirty="0"/>
              <a:t> − 1, j − 1),</a:t>
            </a:r>
          </a:p>
          <a:p>
            <a:pPr marL="457200" lvl="1" indent="0">
              <a:buNone/>
            </a:pPr>
            <a:r>
              <a:rPr lang="zh-TW" altLang="en-US" dirty="0"/>
              <a:t>  </a:t>
            </a:r>
            <a:r>
              <a:rPr lang="en-US" altLang="zh-TW" dirty="0"/>
              <a:t> Ch(</a:t>
            </a:r>
            <a:r>
              <a:rPr lang="en-US" altLang="zh-TW" dirty="0" err="1"/>
              <a:t>i</a:t>
            </a:r>
            <a:r>
              <a:rPr lang="en-US" altLang="zh-TW" dirty="0"/>
              <a:t> − 1, j ),Ch(</a:t>
            </a:r>
            <a:r>
              <a:rPr lang="en-US" altLang="zh-TW" dirty="0" err="1"/>
              <a:t>i</a:t>
            </a:r>
            <a:r>
              <a:rPr lang="en-US" altLang="zh-TW" dirty="0"/>
              <a:t>, j − 1)}..max{Ch(</a:t>
            </a:r>
            <a:r>
              <a:rPr lang="en-US" altLang="zh-TW" dirty="0" err="1"/>
              <a:t>i</a:t>
            </a:r>
            <a:r>
              <a:rPr lang="en-US" altLang="zh-TW" dirty="0"/>
              <a:t> − 1, j − 1),</a:t>
            </a:r>
          </a:p>
          <a:p>
            <a:pPr marL="457200" lvl="1" indent="0">
              <a:buNone/>
            </a:pPr>
            <a:r>
              <a:rPr lang="en-US" altLang="zh-TW" dirty="0"/>
              <a:t>   Ch(</a:t>
            </a:r>
            <a:r>
              <a:rPr lang="en-US" altLang="zh-TW" dirty="0" err="1"/>
              <a:t>i</a:t>
            </a:r>
            <a:r>
              <a:rPr lang="en-US" altLang="zh-TW" dirty="0"/>
              <a:t> − 1, j ),Ch(</a:t>
            </a:r>
            <a:r>
              <a:rPr lang="en-US" altLang="zh-TW" dirty="0" err="1"/>
              <a:t>i</a:t>
            </a:r>
            <a:r>
              <a:rPr lang="en-US" altLang="zh-TW" dirty="0"/>
              <a:t>, j − 1)}.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A56A8C-5A6B-465F-BB8A-5D1479DAA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1" y="1484996"/>
            <a:ext cx="4286848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51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9A7EE4-D872-4BD2-964F-113E2148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11" y="0"/>
            <a:ext cx="10515600" cy="1325563"/>
          </a:xfrm>
        </p:spPr>
        <p:txBody>
          <a:bodyPr/>
          <a:lstStyle/>
          <a:p>
            <a:r>
              <a:rPr lang="en-US" altLang="zh-TW" dirty="0"/>
              <a:t>Ch-Table Lemma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A6CF2A86-61F5-4696-8EBC-B50DB3FD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0761" y="1839073"/>
            <a:ext cx="7633698" cy="4469259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zh-TW" dirty="0"/>
              <a:t>For each 0 </a:t>
            </a:r>
            <a:r>
              <a:rPr lang="zh-TW" altLang="en-US" dirty="0"/>
              <a:t>≦</a:t>
            </a:r>
            <a:r>
              <a:rPr lang="en-US" altLang="zh-TW" dirty="0" err="1"/>
              <a:t>i</a:t>
            </a:r>
            <a:r>
              <a:rPr lang="zh-TW" altLang="en-US" dirty="0"/>
              <a:t>≦</a:t>
            </a:r>
            <a:r>
              <a:rPr lang="en-US" altLang="zh-TW" dirty="0" err="1"/>
              <a:t>m,let</a:t>
            </a:r>
            <a:r>
              <a:rPr lang="en-US" altLang="zh-TW" dirty="0"/>
              <a:t> f(</a:t>
            </a:r>
            <a:r>
              <a:rPr lang="en-US" altLang="zh-TW" dirty="0" err="1"/>
              <a:t>i</a:t>
            </a:r>
            <a:r>
              <a:rPr lang="en-US" altLang="zh-TW" dirty="0"/>
              <a:t>) be the smallest integer j such that Ch(</a:t>
            </a:r>
            <a:r>
              <a:rPr lang="en-US" altLang="zh-TW" dirty="0" err="1"/>
              <a:t>i</a:t>
            </a:r>
            <a:r>
              <a:rPr lang="en-US" altLang="zh-TW" dirty="0"/>
              <a:t>, j) = −1 (f (</a:t>
            </a:r>
            <a:r>
              <a:rPr lang="en-US" altLang="zh-TW" dirty="0" err="1"/>
              <a:t>i</a:t>
            </a:r>
            <a:r>
              <a:rPr lang="en-US" altLang="zh-TW" dirty="0"/>
              <a:t>) = n if Ch(</a:t>
            </a:r>
            <a:r>
              <a:rPr lang="en-US" altLang="zh-TW" dirty="0" err="1"/>
              <a:t>i,j</a:t>
            </a:r>
            <a:r>
              <a:rPr lang="en-US" altLang="zh-TW" dirty="0"/>
              <a:t>') ≠ −1 for 0</a:t>
            </a:r>
            <a:r>
              <a:rPr lang="zh-TW" altLang="en-US" dirty="0"/>
              <a:t>≦</a:t>
            </a:r>
            <a:r>
              <a:rPr lang="en-US" altLang="zh-TW" dirty="0"/>
              <a:t>j'&lt; n.)</a:t>
            </a:r>
          </a:p>
          <a:p>
            <a:pPr marL="457200" lvl="1" indent="0">
              <a:buNone/>
            </a:pPr>
            <a:r>
              <a:rPr lang="en-US" altLang="zh-TW" dirty="0"/>
              <a:t>   </a:t>
            </a:r>
            <a:r>
              <a:rPr lang="en-US" altLang="zh-TW" dirty="0" err="1"/>
              <a:t>ex:f</a:t>
            </a:r>
            <a:r>
              <a:rPr lang="en-US" altLang="zh-TW" dirty="0"/>
              <a:t>(0)=0,f(2)=3</a:t>
            </a:r>
          </a:p>
          <a:p>
            <a:pPr lvl="1"/>
            <a:r>
              <a:rPr lang="en-US" altLang="zh-TW" dirty="0"/>
              <a:t>For each 0</a:t>
            </a:r>
            <a:r>
              <a:rPr lang="zh-TW" altLang="en-US" dirty="0"/>
              <a:t>≦</a:t>
            </a:r>
            <a:r>
              <a:rPr lang="en-US" altLang="zh-TW" dirty="0"/>
              <a:t>j&lt;n, let g(j) be the smallest integer </a:t>
            </a:r>
            <a:r>
              <a:rPr lang="en-US" altLang="zh-TW" dirty="0" err="1"/>
              <a:t>i</a:t>
            </a:r>
            <a:r>
              <a:rPr lang="en-US" altLang="zh-TW" dirty="0"/>
              <a:t> such that Ch(</a:t>
            </a:r>
            <a:r>
              <a:rPr lang="en-US" altLang="zh-TW" dirty="0" err="1"/>
              <a:t>i</a:t>
            </a:r>
            <a:r>
              <a:rPr lang="en-US" altLang="zh-TW" dirty="0"/>
              <a:t>, j) = 1.(g(j)=m+1 if Ch(</a:t>
            </a:r>
            <a:r>
              <a:rPr lang="en-US" altLang="zh-TW" dirty="0" err="1"/>
              <a:t>i',j</a:t>
            </a:r>
            <a:r>
              <a:rPr lang="en-US" altLang="zh-TW" dirty="0"/>
              <a:t>) ≠ 1 for 0</a:t>
            </a:r>
            <a:r>
              <a:rPr lang="zh-TW" altLang="en-US" dirty="0"/>
              <a:t>≦</a:t>
            </a:r>
            <a:r>
              <a:rPr lang="en-US" altLang="zh-TW" dirty="0" err="1"/>
              <a:t>i</a:t>
            </a:r>
            <a:r>
              <a:rPr lang="en-US" altLang="zh-TW" dirty="0"/>
              <a:t>'</a:t>
            </a:r>
            <a:r>
              <a:rPr lang="zh-TW" altLang="en-US" dirty="0"/>
              <a:t>≦</a:t>
            </a:r>
            <a:r>
              <a:rPr lang="en-US" altLang="zh-TW" dirty="0"/>
              <a:t>m.) </a:t>
            </a:r>
          </a:p>
          <a:p>
            <a:pPr lvl="1">
              <a:buNone/>
            </a:pPr>
            <a:r>
              <a:rPr lang="en-US" altLang="zh-TW" dirty="0"/>
              <a:t>	 </a:t>
            </a:r>
            <a:r>
              <a:rPr lang="en-US" altLang="zh-TW" dirty="0" err="1"/>
              <a:t>ex:g</a:t>
            </a:r>
            <a:r>
              <a:rPr lang="en-US" altLang="zh-TW" dirty="0"/>
              <a:t>(0)=2,g(1)=4</a:t>
            </a:r>
          </a:p>
          <a:p>
            <a:pPr lvl="1"/>
            <a:r>
              <a:rPr lang="en-US" altLang="zh-TW" dirty="0" err="1"/>
              <a:t>affected:Ch</a:t>
            </a:r>
            <a:r>
              <a:rPr lang="en-US" altLang="zh-TW" dirty="0"/>
              <a:t>(</a:t>
            </a:r>
            <a:r>
              <a:rPr lang="en-US" altLang="zh-TW" dirty="0" err="1"/>
              <a:t>i</a:t>
            </a:r>
            <a:r>
              <a:rPr lang="en-US" altLang="zh-TW" dirty="0"/>
              <a:t>, j) is affected if the values of </a:t>
            </a:r>
          </a:p>
          <a:p>
            <a:pPr marL="457200" lvl="1" indent="0">
              <a:buNone/>
            </a:pPr>
            <a:r>
              <a:rPr lang="en-US" altLang="zh-TW" dirty="0"/>
              <a:t>   Ch(</a:t>
            </a:r>
            <a:r>
              <a:rPr lang="en-US" altLang="zh-TW" dirty="0" err="1"/>
              <a:t>i</a:t>
            </a:r>
            <a:r>
              <a:rPr lang="en-US" altLang="zh-TW" dirty="0"/>
              <a:t> − 1, j − 1),Ch(</a:t>
            </a:r>
            <a:r>
              <a:rPr lang="en-US" altLang="zh-TW" dirty="0" err="1"/>
              <a:t>i</a:t>
            </a:r>
            <a:r>
              <a:rPr lang="en-US" altLang="zh-TW" dirty="0"/>
              <a:t> − 1,j), and Ch(</a:t>
            </a:r>
            <a:r>
              <a:rPr lang="en-US" altLang="zh-TW" dirty="0" err="1"/>
              <a:t>i</a:t>
            </a:r>
            <a:r>
              <a:rPr lang="en-US" altLang="zh-TW" dirty="0"/>
              <a:t>, j − 1) are not  </a:t>
            </a:r>
          </a:p>
          <a:p>
            <a:pPr marL="457200" lvl="1" indent="0">
              <a:buNone/>
            </a:pPr>
            <a:r>
              <a:rPr lang="en-US" altLang="zh-TW" dirty="0"/>
              <a:t>   the  same.</a:t>
            </a:r>
            <a:r>
              <a:rPr lang="zh-TW" altLang="en-US" dirty="0"/>
              <a:t> </a:t>
            </a:r>
            <a:r>
              <a:rPr lang="en-US" altLang="zh-TW" dirty="0"/>
              <a:t>We also say that DR (</a:t>
            </a:r>
            <a:r>
              <a:rPr lang="en-US" altLang="zh-TW" dirty="0" err="1"/>
              <a:t>i</a:t>
            </a:r>
            <a:r>
              <a:rPr lang="en-US" altLang="zh-TW" dirty="0"/>
              <a:t>, j) is affected if </a:t>
            </a:r>
          </a:p>
          <a:p>
            <a:pPr marL="457200" lvl="1" indent="0">
              <a:buNone/>
            </a:pPr>
            <a:r>
              <a:rPr lang="en-US" altLang="zh-TW" dirty="0"/>
              <a:t>   Ch(</a:t>
            </a:r>
            <a:r>
              <a:rPr lang="en-US" altLang="zh-TW" dirty="0" err="1"/>
              <a:t>i</a:t>
            </a:r>
            <a:r>
              <a:rPr lang="en-US" altLang="zh-TW" dirty="0"/>
              <a:t>, j) is affected.</a:t>
            </a:r>
          </a:p>
          <a:p>
            <a:pPr lvl="1"/>
            <a:r>
              <a:rPr lang="en-US" altLang="zh-TW" dirty="0"/>
              <a:t>If DR'(</a:t>
            </a:r>
            <a:r>
              <a:rPr lang="en-US" altLang="zh-TW" dirty="0" err="1"/>
              <a:t>i</a:t>
            </a:r>
            <a:r>
              <a:rPr lang="en-US" altLang="zh-TW" dirty="0"/>
              <a:t>, j) is not affected, then DR'(</a:t>
            </a:r>
            <a:r>
              <a:rPr lang="en-US" altLang="zh-TW" dirty="0" err="1"/>
              <a:t>i</a:t>
            </a:r>
            <a:r>
              <a:rPr lang="en-US" altLang="zh-TW" dirty="0"/>
              <a:t>, j) equals </a:t>
            </a:r>
          </a:p>
          <a:p>
            <a:pPr marL="457200" lvl="1" indent="0">
              <a:buNone/>
            </a:pPr>
            <a:r>
              <a:rPr lang="en-US" altLang="zh-TW" dirty="0"/>
              <a:t>   DR(</a:t>
            </a:r>
            <a:r>
              <a:rPr lang="en-US" altLang="zh-TW" dirty="0" err="1"/>
              <a:t>i</a:t>
            </a:r>
            <a:r>
              <a:rPr lang="en-US" altLang="zh-TW" dirty="0"/>
              <a:t>, j + 1).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A56A8C-5A6B-465F-BB8A-5D1479DAA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1" y="1484996"/>
            <a:ext cx="4286848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8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9A7EE4-D872-4BD2-964F-113E2148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880" y="0"/>
            <a:ext cx="10515600" cy="1325563"/>
          </a:xfrm>
        </p:spPr>
        <p:txBody>
          <a:bodyPr/>
          <a:lstStyle/>
          <a:p>
            <a:r>
              <a:rPr lang="en-US" altLang="zh-TW" dirty="0"/>
              <a:t>Ch-Table Lemma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A6CF2A86-61F5-4696-8EBC-B50DB3FD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0761" y="1839073"/>
            <a:ext cx="7633698" cy="4469259"/>
          </a:xfrm>
        </p:spPr>
        <p:txBody>
          <a:bodyPr>
            <a:normAutofit/>
          </a:bodyPr>
          <a:lstStyle/>
          <a:p>
            <a:pPr lvl="1"/>
            <a:r>
              <a:rPr lang="en-US" altLang="zh-TW" dirty="0"/>
              <a:t>Boundary: an entry Ch(</a:t>
            </a:r>
            <a:r>
              <a:rPr lang="en-US" altLang="zh-TW" dirty="0" err="1"/>
              <a:t>i</a:t>
            </a:r>
            <a:r>
              <a:rPr lang="en-US" altLang="zh-TW" dirty="0"/>
              <a:t>, j) is a (−1)-boundary (respectively 1-boundary) entry if Ch(</a:t>
            </a:r>
            <a:r>
              <a:rPr lang="en-US" altLang="zh-TW" dirty="0" err="1"/>
              <a:t>i</a:t>
            </a:r>
            <a:r>
              <a:rPr lang="en-US" altLang="zh-TW" dirty="0"/>
              <a:t>, j) is of value −1 (respectively 1) and at least one of Ch(</a:t>
            </a:r>
            <a:r>
              <a:rPr lang="en-US" altLang="zh-TW" dirty="0" err="1"/>
              <a:t>i</a:t>
            </a:r>
            <a:r>
              <a:rPr lang="en-US" altLang="zh-TW" dirty="0"/>
              <a:t>, j − 1),Ch(</a:t>
            </a:r>
            <a:r>
              <a:rPr lang="en-US" altLang="zh-TW" dirty="0" err="1"/>
              <a:t>i</a:t>
            </a:r>
            <a:r>
              <a:rPr lang="en-US" altLang="zh-TW" dirty="0"/>
              <a:t> + 1,j), and Ch(</a:t>
            </a:r>
            <a:r>
              <a:rPr lang="en-US" altLang="zh-TW" dirty="0" err="1"/>
              <a:t>i</a:t>
            </a:r>
            <a:r>
              <a:rPr lang="en-US" altLang="zh-TW" dirty="0"/>
              <a:t> + 1, j − 1) (respectively Ch(</a:t>
            </a:r>
            <a:r>
              <a:rPr lang="en-US" altLang="zh-TW" dirty="0" err="1"/>
              <a:t>i</a:t>
            </a:r>
            <a:r>
              <a:rPr lang="en-US" altLang="zh-TW" dirty="0"/>
              <a:t>, j + 1),Ch(</a:t>
            </a:r>
            <a:r>
              <a:rPr lang="en-US" altLang="zh-TW" dirty="0" err="1"/>
              <a:t>i</a:t>
            </a:r>
            <a:r>
              <a:rPr lang="en-US" altLang="zh-TW" dirty="0"/>
              <a:t> − 1,j), and Ch(</a:t>
            </a:r>
            <a:r>
              <a:rPr lang="en-US" altLang="zh-TW" dirty="0" err="1"/>
              <a:t>i</a:t>
            </a:r>
            <a:r>
              <a:rPr lang="en-US" altLang="zh-TW" dirty="0"/>
              <a:t> − 1, j + 1)) is not of value −1 (respectively 1).</a:t>
            </a:r>
          </a:p>
          <a:p>
            <a:pPr lvl="1"/>
            <a:r>
              <a:rPr lang="en-US" altLang="zh-TW" dirty="0"/>
              <a:t>Ch(</a:t>
            </a:r>
            <a:r>
              <a:rPr lang="en-US" altLang="zh-TW" dirty="0" err="1"/>
              <a:t>i</a:t>
            </a:r>
            <a:r>
              <a:rPr lang="en-US" altLang="zh-TW" dirty="0"/>
              <a:t>, j) = min{−DR(</a:t>
            </a:r>
            <a:r>
              <a:rPr lang="en-US" altLang="zh-TW" dirty="0" err="1"/>
              <a:t>i</a:t>
            </a:r>
            <a:r>
              <a:rPr lang="en-US" altLang="zh-TW" dirty="0"/>
              <a:t>, j + 1).UL + Ch(</a:t>
            </a:r>
            <a:r>
              <a:rPr lang="en-US" altLang="zh-TW" dirty="0" err="1"/>
              <a:t>i</a:t>
            </a:r>
            <a:r>
              <a:rPr lang="en-US" altLang="zh-TW" dirty="0"/>
              <a:t> − 1, j − 1) + </a:t>
            </a:r>
            <a:r>
              <a:rPr lang="el-GR" altLang="zh-TW" dirty="0"/>
              <a:t>δ</a:t>
            </a:r>
            <a:r>
              <a:rPr lang="en-US" altLang="zh-TW" dirty="0"/>
              <a:t>i,j+1,−DR(</a:t>
            </a:r>
            <a:r>
              <a:rPr lang="en-US" altLang="zh-TW" dirty="0" err="1"/>
              <a:t>i</a:t>
            </a:r>
            <a:r>
              <a:rPr lang="en-US" altLang="zh-TW" dirty="0"/>
              <a:t>, j + 1).U + Ch(</a:t>
            </a:r>
            <a:r>
              <a:rPr lang="en-US" altLang="zh-TW" dirty="0" err="1"/>
              <a:t>i</a:t>
            </a:r>
            <a:r>
              <a:rPr lang="en-US" altLang="zh-TW" dirty="0"/>
              <a:t> − 1,j) + 1,−DR(</a:t>
            </a:r>
            <a:r>
              <a:rPr lang="en-US" altLang="zh-TW" dirty="0" err="1"/>
              <a:t>i,j</a:t>
            </a:r>
            <a:r>
              <a:rPr lang="en-US" altLang="zh-TW" dirty="0"/>
              <a:t>+ 1).L + Ch(</a:t>
            </a:r>
            <a:r>
              <a:rPr lang="en-US" altLang="zh-TW" dirty="0" err="1"/>
              <a:t>i</a:t>
            </a:r>
            <a:r>
              <a:rPr lang="en-US" altLang="zh-TW" dirty="0"/>
              <a:t>, j − 1) + 1} (i.e., </a:t>
            </a:r>
            <a:r>
              <a:rPr lang="en-US" altLang="zh-TW" dirty="0">
                <a:solidFill>
                  <a:srgbClr val="FF0000"/>
                </a:solidFill>
              </a:rPr>
              <a:t>Ch(</a:t>
            </a:r>
            <a:r>
              <a:rPr lang="en-US" altLang="zh-TW" dirty="0" err="1">
                <a:solidFill>
                  <a:srgbClr val="FF0000"/>
                </a:solidFill>
              </a:rPr>
              <a:t>i</a:t>
            </a:r>
            <a:r>
              <a:rPr lang="en-US" altLang="zh-TW" dirty="0">
                <a:solidFill>
                  <a:srgbClr val="FF0000"/>
                </a:solidFill>
              </a:rPr>
              <a:t> − 1, j − 1)</a:t>
            </a:r>
            <a:r>
              <a:rPr lang="en-US" altLang="zh-TW" dirty="0"/>
              <a:t> , </a:t>
            </a:r>
            <a:r>
              <a:rPr lang="en-US" altLang="zh-TW" dirty="0">
                <a:solidFill>
                  <a:srgbClr val="FF0000"/>
                </a:solidFill>
              </a:rPr>
              <a:t>Ch(</a:t>
            </a:r>
            <a:r>
              <a:rPr lang="en-US" altLang="zh-TW" dirty="0" err="1">
                <a:solidFill>
                  <a:srgbClr val="FF0000"/>
                </a:solidFill>
              </a:rPr>
              <a:t>i</a:t>
            </a:r>
            <a:r>
              <a:rPr lang="en-US" altLang="zh-TW" dirty="0">
                <a:solidFill>
                  <a:srgbClr val="FF0000"/>
                </a:solidFill>
              </a:rPr>
              <a:t> - 1,j), </a:t>
            </a:r>
          </a:p>
          <a:p>
            <a:pPr marL="457200" lvl="1" indent="0">
              <a:buNone/>
            </a:pPr>
            <a:r>
              <a:rPr lang="en-US" altLang="zh-TW" dirty="0"/>
              <a:t>   </a:t>
            </a:r>
            <a:r>
              <a:rPr lang="en-US" altLang="zh-TW" dirty="0">
                <a:solidFill>
                  <a:srgbClr val="FF0000"/>
                </a:solidFill>
              </a:rPr>
              <a:t>Ch(</a:t>
            </a:r>
            <a:r>
              <a:rPr lang="en-US" altLang="zh-TW" dirty="0" err="1">
                <a:solidFill>
                  <a:srgbClr val="FF0000"/>
                </a:solidFill>
              </a:rPr>
              <a:t>i</a:t>
            </a:r>
            <a:r>
              <a:rPr lang="en-US" altLang="zh-TW" dirty="0">
                <a:solidFill>
                  <a:srgbClr val="FF0000"/>
                </a:solidFill>
              </a:rPr>
              <a:t>, j − 1)</a:t>
            </a:r>
            <a:r>
              <a:rPr lang="en-US" altLang="zh-TW" dirty="0"/>
              <a:t>,and</a:t>
            </a:r>
            <a:r>
              <a:rPr lang="en-US" altLang="zh-TW" dirty="0">
                <a:solidFill>
                  <a:srgbClr val="FF0000"/>
                </a:solidFill>
              </a:rPr>
              <a:t> DR(</a:t>
            </a:r>
            <a:r>
              <a:rPr lang="en-US" altLang="zh-TW" dirty="0" err="1">
                <a:solidFill>
                  <a:srgbClr val="FF0000"/>
                </a:solidFill>
              </a:rPr>
              <a:t>i</a:t>
            </a:r>
            <a:r>
              <a:rPr lang="en-US" altLang="zh-TW" dirty="0">
                <a:solidFill>
                  <a:srgbClr val="FF0000"/>
                </a:solidFill>
              </a:rPr>
              <a:t>, j + 1) </a:t>
            </a:r>
            <a:r>
              <a:rPr lang="en-US" altLang="zh-TW" dirty="0"/>
              <a:t>are needed to compute</a:t>
            </a:r>
          </a:p>
          <a:p>
            <a:pPr marL="457200" lvl="1" indent="0">
              <a:buNone/>
            </a:pPr>
            <a:r>
              <a:rPr lang="en-US" altLang="zh-TW" dirty="0"/>
              <a:t>   Ch(</a:t>
            </a:r>
            <a:r>
              <a:rPr lang="en-US" altLang="zh-TW" dirty="0" err="1"/>
              <a:t>i</a:t>
            </a:r>
            <a:r>
              <a:rPr lang="en-US" altLang="zh-TW" dirty="0"/>
              <a:t>, j )).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A56A8C-5A6B-465F-BB8A-5D1479DAA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1" y="1484996"/>
            <a:ext cx="4286848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50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718C2E-FE7F-42FF-9A48-1B6D3B2A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325563"/>
          </a:xfrm>
        </p:spPr>
        <p:txBody>
          <a:bodyPr/>
          <a:lstStyle/>
          <a:p>
            <a:r>
              <a:rPr lang="en-US" altLang="zh-TW" dirty="0"/>
              <a:t>Ch-Table Lemma</a:t>
            </a:r>
            <a:endParaRPr lang="zh-TW" altLang="en-US" dirty="0"/>
          </a:p>
        </p:txBody>
      </p:sp>
      <p:pic>
        <p:nvPicPr>
          <p:cNvPr id="4" name="內容版面配置區 4">
            <a:extLst>
              <a:ext uri="{FF2B5EF4-FFF2-40B4-BE49-F238E27FC236}">
                <a16:creationId xmlns:a16="http://schemas.microsoft.com/office/drawing/2014/main" id="{36EC0D54-61F8-48DD-96F9-0AE5F0B28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982" y="1667007"/>
            <a:ext cx="4367288" cy="3476232"/>
          </a:xfrm>
          <a:prstGeom prst="rect">
            <a:avLst/>
          </a:prstGeom>
        </p:spPr>
      </p:pic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D0023DC-CEA3-4EF6-9164-8BF9935C2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106" y="1218697"/>
            <a:ext cx="412232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51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101F02-4793-4C45-AF35-9CB70075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6" y="0"/>
            <a:ext cx="10515600" cy="1325563"/>
          </a:xfrm>
        </p:spPr>
        <p:txBody>
          <a:bodyPr/>
          <a:lstStyle/>
          <a:p>
            <a:r>
              <a:rPr lang="en-US" altLang="zh-TW"/>
              <a:t>Algo.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EB94590-432E-4890-9496-1B14F99CD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059" y="885869"/>
            <a:ext cx="5613310" cy="5464969"/>
          </a:xfrm>
        </p:spPr>
      </p:pic>
      <p:pic>
        <p:nvPicPr>
          <p:cNvPr id="6" name="內容版面配置區 4">
            <a:extLst>
              <a:ext uri="{FF2B5EF4-FFF2-40B4-BE49-F238E27FC236}">
                <a16:creationId xmlns:a16="http://schemas.microsoft.com/office/drawing/2014/main" id="{9D0023DC-CEA3-4EF6-9164-8BF9935C22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19" y="1380062"/>
            <a:ext cx="412232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92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7F580-495B-4B02-BF0A-7B152798A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60" y="122280"/>
            <a:ext cx="10972320" cy="114264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9834494-523F-4B0A-9782-3BA620DA189C}"/>
              </a:ext>
            </a:extLst>
          </p:cNvPr>
          <p:cNvSpPr txBox="1"/>
          <p:nvPr/>
        </p:nvSpPr>
        <p:spPr>
          <a:xfrm>
            <a:off x="1266632" y="1681377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338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1822</TotalTime>
  <Words>1470</Words>
  <Application>Microsoft Office PowerPoint</Application>
  <PresentationFormat>寬螢幕</PresentationFormat>
  <Paragraphs>92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Time New Romen</vt:lpstr>
      <vt:lpstr>新細明體</vt:lpstr>
      <vt:lpstr>Arial</vt:lpstr>
      <vt:lpstr>Calibri</vt:lpstr>
      <vt:lpstr>Calibri Light</vt:lpstr>
      <vt:lpstr>Times New Roman</vt:lpstr>
      <vt:lpstr>Office 佈景主題</vt:lpstr>
      <vt:lpstr>A Dynamic Edit Distance Table</vt:lpstr>
      <vt:lpstr>Abstract</vt:lpstr>
      <vt:lpstr>Introduction</vt:lpstr>
      <vt:lpstr>DR(i,j).U=D(i,j)-D(i-1,j)   for 1≦i≦m and 1≦j≦n DR(i,j).L=D(i,j)-D(i,j-1)   for 1≦i≦m and 1≦j≦n</vt:lpstr>
      <vt:lpstr>Ch-Table</vt:lpstr>
      <vt:lpstr>Ch-Table Lemma</vt:lpstr>
      <vt:lpstr>Ch-Table Lemma</vt:lpstr>
      <vt:lpstr>Ch-Table Lemma</vt:lpstr>
      <vt:lpstr>Ch-Table Lemma</vt:lpstr>
      <vt:lpstr>Algo.</vt:lpstr>
      <vt:lpstr>Time 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a Near-Maximum Independent Set in Linear Time by Reducing-Peeling</dc:title>
  <dc:creator>Ting B</dc:creator>
  <cp:lastModifiedBy>pplab</cp:lastModifiedBy>
  <cp:revision>44</cp:revision>
  <dcterms:created xsi:type="dcterms:W3CDTF">2021-10-09T07:23:00Z</dcterms:created>
  <dcterms:modified xsi:type="dcterms:W3CDTF">2021-10-26T11:03:50Z</dcterms:modified>
</cp:coreProperties>
</file>