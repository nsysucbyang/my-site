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18"/>
  </p:notesMasterIdLst>
  <p:sldIdLst>
    <p:sldId id="256" r:id="rId4"/>
    <p:sldId id="257" r:id="rId5"/>
    <p:sldId id="267" r:id="rId6"/>
    <p:sldId id="268" r:id="rId7"/>
    <p:sldId id="269" r:id="rId8"/>
    <p:sldId id="270" r:id="rId9"/>
    <p:sldId id="271" r:id="rId10"/>
    <p:sldId id="272" r:id="rId11"/>
    <p:sldId id="273" r:id="rId12"/>
    <p:sldId id="274" r:id="rId13"/>
    <p:sldId id="275" r:id="rId14"/>
    <p:sldId id="276" r:id="rId15"/>
    <p:sldId id="277" r:id="rId16"/>
    <p:sldId id="266"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4953"/>
  </p:normalViewPr>
  <p:slideViewPr>
    <p:cSldViewPr snapToGrid="0" snapToObjects="1">
      <p:cViewPr varScale="1">
        <p:scale>
          <a:sx n="54" d="100"/>
          <a:sy n="54" d="100"/>
        </p:scale>
        <p:origin x="13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zh-TW" sz="1800" b="0" strike="noStrike" spc="-1">
                <a:solidFill>
                  <a:srgbClr val="000000"/>
                </a:solidFill>
                <a:latin typeface="Calibri"/>
              </a:rPr>
              <a:t>請按這裡移動投影片</a:t>
            </a:r>
          </a:p>
        </p:txBody>
      </p:sp>
      <p:sp>
        <p:nvSpPr>
          <p:cNvPr id="124"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a:rPr>
              <a:t>請按這裡編輯備註格式</a:t>
            </a:r>
          </a:p>
        </p:txBody>
      </p:sp>
      <p:sp>
        <p:nvSpPr>
          <p:cNvPr id="125"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a:latin typeface="Times New Roman"/>
              </a:rPr>
              <a:t> </a:t>
            </a:r>
          </a:p>
        </p:txBody>
      </p:sp>
      <p:sp>
        <p:nvSpPr>
          <p:cNvPr id="126"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a:latin typeface="Times New Roman"/>
              </a:rPr>
              <a:t> </a:t>
            </a:r>
          </a:p>
        </p:txBody>
      </p:sp>
      <p:sp>
        <p:nvSpPr>
          <p:cNvPr id="127"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a:latin typeface="Times New Roman"/>
              </a:rPr>
              <a:t> </a:t>
            </a:r>
          </a:p>
        </p:txBody>
      </p:sp>
      <p:sp>
        <p:nvSpPr>
          <p:cNvPr id="128" name="PlaceHolder 6"/>
          <p:cNvSpPr>
            <a:spLocks noGrp="1"/>
          </p:cNvSpPr>
          <p:nvPr>
            <p:ph type="sldNum"/>
          </p:nvPr>
        </p:nvSpPr>
        <p:spPr>
          <a:xfrm>
            <a:off x="4278960" y="10157400"/>
            <a:ext cx="3280680" cy="534240"/>
          </a:xfrm>
          <a:prstGeom prst="rect">
            <a:avLst/>
          </a:prstGeom>
        </p:spPr>
        <p:txBody>
          <a:bodyPr lIns="0" tIns="0" rIns="0" bIns="0" anchor="b"/>
          <a:lstStyle/>
          <a:p>
            <a:pPr algn="r"/>
            <a:fld id="{7A97349B-A5F9-45A8-A94D-91F718FCB022}"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noRot="1" noChangeAspect="1"/>
          </p:cNvSpPr>
          <p:nvPr>
            <p:ph type="sldImg"/>
          </p:nvPr>
        </p:nvSpPr>
        <p:spPr>
          <a:xfrm>
            <a:off x="685800" y="1143000"/>
            <a:ext cx="5486400" cy="3086100"/>
          </a:xfrm>
          <a:prstGeom prst="rect">
            <a:avLst/>
          </a:prstGeom>
        </p:spPr>
      </p:sp>
      <p:sp>
        <p:nvSpPr>
          <p:cNvPr id="184" name="PlaceHolder 2"/>
          <p:cNvSpPr>
            <a:spLocks noGrp="1"/>
          </p:cNvSpPr>
          <p:nvPr>
            <p:ph type="body"/>
          </p:nvPr>
        </p:nvSpPr>
        <p:spPr>
          <a:xfrm>
            <a:off x="685800" y="4400640"/>
            <a:ext cx="5486040" cy="36000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sz="1200" b="0" i="0" u="none" strike="noStrike" kern="1200" dirty="0">
                <a:solidFill>
                  <a:schemeClr val="tx1"/>
                </a:solidFill>
                <a:effectLst/>
                <a:latin typeface="+mn-lt"/>
                <a:ea typeface="+mn-ea"/>
                <a:cs typeface="+mn-cs"/>
              </a:rPr>
              <a:t>ACL</a:t>
            </a:r>
            <a:r>
              <a:rPr lang="en-US" altLang="zh-TW" sz="1200" b="0" i="0" u="none" strike="noStrike" kern="1200" dirty="0">
                <a:solidFill>
                  <a:schemeClr val="tx1"/>
                </a:solidFill>
                <a:effectLst/>
                <a:latin typeface="+mn-lt"/>
                <a:ea typeface="+mn-ea"/>
                <a:cs typeface="+mn-cs"/>
              </a:rPr>
              <a:t>2020</a:t>
            </a:r>
            <a:r>
              <a:rPr lang="zh-TW" altLang="en-US" sz="1200" b="0" i="0" u="none" strike="noStrike" kern="1200" dirty="0">
                <a:solidFill>
                  <a:schemeClr val="tx1"/>
                </a:solidFill>
                <a:effectLst/>
                <a:latin typeface="+mn-lt"/>
                <a:ea typeface="+mn-ea"/>
                <a:cs typeface="+mn-cs"/>
              </a:rPr>
              <a:t>年的最佳論文</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dirty="0">
                <a:solidFill>
                  <a:schemeClr val="tx1"/>
                </a:solidFill>
                <a:effectLst/>
                <a:latin typeface="+mn-lt"/>
                <a:ea typeface="+mn-ea"/>
                <a:cs typeface="+mn-cs"/>
              </a:rPr>
              <a:t>作者來自</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第一位</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微軟研究院</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第二位</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華盛頓大學</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第三四位</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加州大學</a:t>
            </a:r>
            <a:endParaRPr lang="en" altLang="zh-TW" sz="1200" b="0" i="0" u="none" strike="noStrike" kern="1200" dirty="0">
              <a:solidFill>
                <a:schemeClr val="tx1"/>
              </a:solidFill>
              <a:effectLst/>
              <a:latin typeface="+mn-lt"/>
              <a:ea typeface="+mn-ea"/>
              <a:cs typeface="+mn-cs"/>
            </a:endParaRPr>
          </a:p>
        </p:txBody>
      </p:sp>
      <p:sp>
        <p:nvSpPr>
          <p:cNvPr id="185" name="TextShape 3"/>
          <p:cNvSpPr txBox="1"/>
          <p:nvPr/>
        </p:nvSpPr>
        <p:spPr>
          <a:xfrm>
            <a:off x="3884760" y="8685360"/>
            <a:ext cx="2971440" cy="458280"/>
          </a:xfrm>
          <a:prstGeom prst="rect">
            <a:avLst/>
          </a:prstGeom>
          <a:noFill/>
          <a:ln>
            <a:noFill/>
          </a:ln>
        </p:spPr>
        <p:txBody>
          <a:bodyPr anchor="b"/>
          <a:lstStyle/>
          <a:p>
            <a:pPr algn="r">
              <a:lnSpc>
                <a:spcPct val="100000"/>
              </a:lnSpc>
            </a:pPr>
            <a:fld id="{FEF418A5-3379-4025-84EF-7EDB94BA8588}" type="slidenum">
              <a:rPr lang="en-US" sz="1200" b="0" strike="noStrike" spc="-1">
                <a:latin typeface="Times New Roman"/>
              </a:rPr>
              <a:t>1</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2783685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zh-TW" altLang="en-US" dirty="0"/>
              <a:t>加</a:t>
            </a:r>
            <a:r>
              <a:rPr kumimoji="1" lang="en-US" altLang="zh-TW" dirty="0"/>
              <a:t>cap</a:t>
            </a:r>
            <a:r>
              <a:rPr kumimoji="1" lang="zh-TW" altLang="en-US" dirty="0"/>
              <a:t>找到近兩倍的</a:t>
            </a:r>
            <a:r>
              <a:rPr kumimoji="1" lang="en-US" altLang="zh-TW" dirty="0"/>
              <a:t>bugs</a:t>
            </a:r>
          </a:p>
          <a:p>
            <a:r>
              <a:rPr kumimoji="1" lang="zh-TW" altLang="en-US" dirty="0"/>
              <a:t>加</a:t>
            </a:r>
            <a:r>
              <a:rPr kumimoji="1" lang="en-US" altLang="zh-TW" dirty="0"/>
              <a:t>cap</a:t>
            </a:r>
            <a:r>
              <a:rPr kumimoji="1" lang="zh-TW" altLang="en-US" dirty="0"/>
              <a:t>加</a:t>
            </a:r>
            <a:r>
              <a:rPr kumimoji="1" lang="en-US" altLang="zh-TW" dirty="0"/>
              <a:t>test type</a:t>
            </a:r>
            <a:r>
              <a:rPr kumimoji="1" lang="zh-TW" altLang="en-US" dirty="0"/>
              <a:t>找到近三倍的</a:t>
            </a:r>
            <a:r>
              <a:rPr kumimoji="1" lang="en-US" altLang="zh-TW" dirty="0"/>
              <a:t>bugs</a:t>
            </a:r>
            <a:endParaRPr kumimoji="1" lang="zh-TW" altLang="en-US"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2413726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en-US" altLang="zh-TW" dirty="0"/>
              <a:t>Named Entity(NER)</a:t>
            </a:r>
            <a:r>
              <a:rPr kumimoji="1" lang="zh-TW" altLang="en-US" dirty="0"/>
              <a:t>名詞標註</a:t>
            </a:r>
            <a:r>
              <a:rPr kumimoji="1" lang="en-US" altLang="zh-TW" dirty="0"/>
              <a:t>/</a:t>
            </a:r>
            <a:r>
              <a:rPr kumimoji="1" lang="zh-TW" altLang="en-US" dirty="0"/>
              <a:t>辨識</a:t>
            </a:r>
            <a:r>
              <a:rPr kumimoji="1" lang="en-US" altLang="zh-TW" dirty="0"/>
              <a:t>:</a:t>
            </a:r>
            <a:r>
              <a:rPr kumimoji="1" lang="zh-TW" altLang="en-US" dirty="0"/>
              <a:t>人名</a:t>
            </a:r>
            <a:r>
              <a:rPr kumimoji="1" lang="en-US" altLang="zh-TW" dirty="0"/>
              <a:t>,</a:t>
            </a:r>
            <a:r>
              <a:rPr kumimoji="1" lang="zh-TW" altLang="en-US" dirty="0"/>
              <a:t>組織</a:t>
            </a:r>
            <a:r>
              <a:rPr kumimoji="1" lang="en-US" altLang="zh-TW" dirty="0"/>
              <a:t>,</a:t>
            </a:r>
            <a:r>
              <a:rPr kumimoji="1" lang="zh-TW" altLang="en-US" dirty="0"/>
              <a:t>地名</a:t>
            </a:r>
            <a:r>
              <a:rPr kumimoji="1" lang="en-US" altLang="zh-TW" dirty="0"/>
              <a:t>,</a:t>
            </a:r>
            <a:r>
              <a:rPr kumimoji="1" lang="zh-TW" altLang="en-US" dirty="0"/>
              <a:t>職稱等</a:t>
            </a:r>
            <a:endParaRPr kumimoji="1" lang="en-US" altLang="zh-TW" dirty="0"/>
          </a:p>
          <a:p>
            <a:r>
              <a:rPr kumimoji="1" lang="en-US" altLang="zh-TW" dirty="0"/>
              <a:t>Negation:</a:t>
            </a:r>
            <a:r>
              <a:rPr kumimoji="1" lang="zh-TW" altLang="en-US" dirty="0"/>
              <a:t>否定語句</a:t>
            </a:r>
            <a:endParaRPr kumimoji="1" lang="en-US" altLang="zh-TW" dirty="0"/>
          </a:p>
          <a:p>
            <a:r>
              <a:rPr kumimoji="1" lang="en-US" altLang="zh-TW" dirty="0"/>
              <a:t>Taxonomy:</a:t>
            </a:r>
            <a:r>
              <a:rPr kumimoji="1" lang="zh-TW" altLang="en-US" dirty="0"/>
              <a:t>分類</a:t>
            </a:r>
            <a:r>
              <a:rPr kumimoji="1" lang="en-US" altLang="zh-TW" dirty="0"/>
              <a:t>,synonym:</a:t>
            </a:r>
            <a:r>
              <a:rPr kumimoji="1" lang="zh-TW" altLang="en-US" dirty="0"/>
              <a:t>代名詞</a:t>
            </a:r>
            <a:r>
              <a:rPr kumimoji="1" lang="en-US" altLang="zh-TW" dirty="0"/>
              <a:t>;</a:t>
            </a:r>
            <a:r>
              <a:rPr kumimoji="1" lang="en-US" altLang="zh-TW" dirty="0" err="1"/>
              <a:t>anytomyn</a:t>
            </a:r>
            <a:r>
              <a:rPr kumimoji="1" lang="zh-TW" altLang="en-US" dirty="0"/>
              <a:t>反義詞</a:t>
            </a:r>
            <a:endParaRPr kumimoji="1" lang="en-US" altLang="zh-TW" dirty="0"/>
          </a:p>
          <a:p>
            <a:r>
              <a:rPr kumimoji="1" lang="en-US" altLang="zh-TW" dirty="0"/>
              <a:t>Robustness:</a:t>
            </a:r>
            <a:r>
              <a:rPr kumimoji="1" lang="zh-TW" altLang="en-US" dirty="0"/>
              <a:t>文章完整度</a:t>
            </a:r>
            <a:r>
              <a:rPr kumimoji="1" lang="en-US" altLang="zh-TW" dirty="0"/>
              <a:t>;Typo</a:t>
            </a:r>
            <a:r>
              <a:rPr kumimoji="1" lang="zh-TW" altLang="en-US" dirty="0"/>
              <a:t>錯字</a:t>
            </a:r>
            <a:r>
              <a:rPr kumimoji="1" lang="en-US" altLang="zh-TW" dirty="0"/>
              <a:t>;irrelevant:</a:t>
            </a:r>
            <a:r>
              <a:rPr kumimoji="1" lang="zh-TW" altLang="en-US" dirty="0"/>
              <a:t>不恰當的字</a:t>
            </a:r>
            <a:endParaRPr kumimoji="1" lang="en-US" altLang="zh-TW" dirty="0"/>
          </a:p>
          <a:p>
            <a:r>
              <a:rPr kumimoji="1" lang="en-US" altLang="zh-TW" dirty="0"/>
              <a:t>Coreference:</a:t>
            </a:r>
            <a:r>
              <a:rPr kumimoji="1" lang="zh-TW" altLang="en-US" dirty="0"/>
              <a:t>指示代名詞</a:t>
            </a:r>
            <a:endParaRPr kumimoji="1" lang="en-US" altLang="zh-TW" dirty="0"/>
          </a:p>
          <a:p>
            <a:r>
              <a:rPr kumimoji="1" lang="en-US" altLang="zh-TW" dirty="0"/>
              <a:t>Fairness:</a:t>
            </a:r>
            <a:r>
              <a:rPr kumimoji="1" lang="zh-TW" altLang="en-US" dirty="0"/>
              <a:t>公平</a:t>
            </a:r>
            <a:r>
              <a:rPr kumimoji="1" lang="en-US" altLang="zh-TW" dirty="0"/>
              <a:t>,</a:t>
            </a:r>
            <a:r>
              <a:rPr kumimoji="1" lang="zh-TW" altLang="en-US" dirty="0"/>
              <a:t>不偏袒性別</a:t>
            </a:r>
            <a:r>
              <a:rPr kumimoji="1" lang="en-US" altLang="zh-TW" dirty="0"/>
              <a:t>/</a:t>
            </a:r>
            <a:r>
              <a:rPr kumimoji="1" lang="zh-TW" altLang="en-US" dirty="0"/>
              <a:t>種族等</a:t>
            </a:r>
            <a:endParaRPr kumimoji="1" lang="en-US" altLang="zh-TW" dirty="0"/>
          </a:p>
          <a:p>
            <a:endParaRPr kumimoji="1" lang="zh-TW" altLang="en-US"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1140470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4272611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8"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5"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6"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7"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9"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0"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1"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23"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4"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5"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27"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8"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30"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1"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2"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3"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35"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6"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7"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8"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9"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40"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47"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49"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51"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2"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56"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7"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8"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0"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1"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2"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4"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5"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6"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8"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9"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71"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2"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3"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4"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76"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7"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8"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9"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80"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81"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88"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0"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2"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3"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7"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8"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9"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1"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2"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3"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5"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6"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7"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9"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0"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12"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3"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4"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5"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17"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8"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9"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0"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1"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2"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zh-TW" sz="6000" b="0" strike="noStrike" spc="-1">
                <a:solidFill>
                  <a:srgbClr val="000000"/>
                </a:solidFill>
                <a:latin typeface="Calibri Light"/>
              </a:rPr>
              <a:t>按一下以編輯母片標題樣式</a:t>
            </a:r>
            <a:endParaRPr lang="zh-TW"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lstStyle/>
          <a:p>
            <a:pPr>
              <a:lnSpc>
                <a:spcPct val="100000"/>
              </a:lnSpc>
            </a:pPr>
            <a:fld id="{663214FC-22D9-434A-AF3C-CA0F7EC63C77}" type="datetime">
              <a:rPr lang="en-US" sz="1200" b="0" strike="noStrike" spc="-1">
                <a:solidFill>
                  <a:srgbClr val="8B8B8B"/>
                </a:solidFill>
                <a:latin typeface="Calibri"/>
              </a:rPr>
              <a:t>1/5/2021</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2B784026-DA04-44D8-85CF-EDDF729FCCC9}"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2800" b="0" strike="noStrike" spc="-1">
                <a:solidFill>
                  <a:srgbClr val="000000"/>
                </a:solidFill>
                <a:latin typeface="Calibri"/>
              </a:rPr>
              <a:t>請按這裡編輯大綱文字格式</a:t>
            </a:r>
          </a:p>
          <a:p>
            <a:pPr marL="864000" lvl="1" indent="-324000">
              <a:spcBef>
                <a:spcPts val="1134"/>
              </a:spcBef>
              <a:buClr>
                <a:srgbClr val="000000"/>
              </a:buClr>
              <a:buSzPct val="75000"/>
              <a:buFont typeface="Symbol" charset="2"/>
              <a:buChar char=""/>
            </a:pPr>
            <a:r>
              <a:rPr lang="zh-TW" sz="2000" b="0" strike="noStrike" spc="-1">
                <a:solidFill>
                  <a:srgbClr val="000000"/>
                </a:solidFill>
                <a:latin typeface="Calibri"/>
              </a:rPr>
              <a:t>第二個大綱層次</a:t>
            </a: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zh-TW" sz="4400" b="0" strike="noStrike" spc="-1">
                <a:solidFill>
                  <a:srgbClr val="000000"/>
                </a:solidFill>
                <a:latin typeface="Calibri Light"/>
              </a:rPr>
              <a:t>按一下以編輯母片標題樣式</a:t>
            </a:r>
            <a:endParaRPr lang="zh-TW"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lstStyle/>
          <a:p>
            <a:pPr marL="228600" indent="-228240">
              <a:lnSpc>
                <a:spcPct val="90000"/>
              </a:lnSpc>
              <a:spcBef>
                <a:spcPts val="1001"/>
              </a:spcBef>
              <a:buClr>
                <a:srgbClr val="000000"/>
              </a:buClr>
              <a:buFont typeface="Arial"/>
              <a:buChar char="•"/>
            </a:pPr>
            <a:r>
              <a:rPr lang="zh-TW" sz="2800" b="0" strike="noStrike" spc="-1">
                <a:solidFill>
                  <a:srgbClr val="000000"/>
                </a:solidFill>
                <a:latin typeface="Calibri"/>
              </a:rPr>
              <a:t>按一下以編輯母片文字樣式</a:t>
            </a:r>
          </a:p>
          <a:p>
            <a:pPr marL="685800" lvl="1" indent="-228240">
              <a:lnSpc>
                <a:spcPct val="90000"/>
              </a:lnSpc>
              <a:spcBef>
                <a:spcPts val="499"/>
              </a:spcBef>
              <a:buClr>
                <a:srgbClr val="000000"/>
              </a:buClr>
              <a:buFont typeface="Arial"/>
              <a:buChar char="•"/>
            </a:pPr>
            <a:r>
              <a:rPr lang="zh-TW" sz="2400" b="0" strike="noStrike" spc="-1">
                <a:solidFill>
                  <a:srgbClr val="000000"/>
                </a:solidFill>
                <a:latin typeface="Calibri"/>
              </a:rPr>
              <a:t>第二層</a:t>
            </a:r>
          </a:p>
          <a:p>
            <a:pPr marL="1143000" lvl="2" indent="-228240">
              <a:lnSpc>
                <a:spcPct val="90000"/>
              </a:lnSpc>
              <a:spcBef>
                <a:spcPts val="499"/>
              </a:spcBef>
              <a:buClr>
                <a:srgbClr val="000000"/>
              </a:buClr>
              <a:buFont typeface="Arial"/>
              <a:buChar char="•"/>
            </a:pPr>
            <a:r>
              <a:rPr lang="zh-TW" sz="2000" b="0" strike="noStrike" spc="-1">
                <a:solidFill>
                  <a:srgbClr val="000000"/>
                </a:solidFill>
                <a:latin typeface="Calibri"/>
              </a:rPr>
              <a:t>第三層</a:t>
            </a:r>
          </a:p>
          <a:p>
            <a:pPr marL="1600200" lvl="3" indent="-228240">
              <a:lnSpc>
                <a:spcPct val="90000"/>
              </a:lnSpc>
              <a:spcBef>
                <a:spcPts val="499"/>
              </a:spcBef>
              <a:buClr>
                <a:srgbClr val="000000"/>
              </a:buClr>
              <a:buFont typeface="Arial"/>
              <a:buChar char="•"/>
            </a:pPr>
            <a:r>
              <a:rPr lang="zh-TW" sz="1800" b="0" strike="noStrike" spc="-1">
                <a:solidFill>
                  <a:srgbClr val="000000"/>
                </a:solidFill>
                <a:latin typeface="Calibri"/>
              </a:rPr>
              <a:t>第四層</a:t>
            </a:r>
          </a:p>
          <a:p>
            <a:pPr marL="2057400" lvl="4" indent="-228240">
              <a:lnSpc>
                <a:spcPct val="90000"/>
              </a:lnSpc>
              <a:spcBef>
                <a:spcPts val="499"/>
              </a:spcBef>
              <a:buClr>
                <a:srgbClr val="000000"/>
              </a:buClr>
              <a:buFont typeface="Arial"/>
              <a:buChar char="•"/>
            </a:pPr>
            <a:r>
              <a:rPr lang="zh-TW" sz="1800" b="0" strike="noStrike" spc="-1">
                <a:solidFill>
                  <a:srgbClr val="000000"/>
                </a:solidFill>
                <a:latin typeface="Calibri"/>
              </a:rPr>
              <a:t>第五層</a:t>
            </a:r>
          </a:p>
        </p:txBody>
      </p:sp>
      <p:sp>
        <p:nvSpPr>
          <p:cNvPr id="43" name="PlaceHolder 3"/>
          <p:cNvSpPr>
            <a:spLocks noGrp="1"/>
          </p:cNvSpPr>
          <p:nvPr>
            <p:ph type="dt"/>
          </p:nvPr>
        </p:nvSpPr>
        <p:spPr>
          <a:xfrm>
            <a:off x="838080" y="6356520"/>
            <a:ext cx="2742840" cy="364680"/>
          </a:xfrm>
          <a:prstGeom prst="rect">
            <a:avLst/>
          </a:prstGeom>
        </p:spPr>
        <p:txBody>
          <a:bodyPr anchor="ctr"/>
          <a:lstStyle/>
          <a:p>
            <a:pPr>
              <a:lnSpc>
                <a:spcPct val="100000"/>
              </a:lnSpc>
            </a:pPr>
            <a:fld id="{4463930C-9F0D-49A3-B35A-D29BF10E72F5}" type="datetime">
              <a:rPr lang="en-US" sz="1200" b="0" strike="noStrike" spc="-1">
                <a:solidFill>
                  <a:srgbClr val="8B8B8B"/>
                </a:solidFill>
                <a:latin typeface="Calibri"/>
              </a:rPr>
              <a:t>1/5/2021</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5141500D-BB92-4513-80C7-F5A0B6D4389E}"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1709640"/>
            <a:ext cx="10515240" cy="2852280"/>
          </a:xfrm>
          <a:prstGeom prst="rect">
            <a:avLst/>
          </a:prstGeom>
        </p:spPr>
        <p:txBody>
          <a:bodyPr anchor="b"/>
          <a:lstStyle/>
          <a:p>
            <a:pPr>
              <a:lnSpc>
                <a:spcPct val="90000"/>
              </a:lnSpc>
            </a:pPr>
            <a:r>
              <a:rPr lang="zh-TW" sz="6000" b="0" strike="noStrike" spc="-1">
                <a:solidFill>
                  <a:srgbClr val="000000"/>
                </a:solidFill>
                <a:latin typeface="Calibri Light"/>
              </a:rPr>
              <a:t>按一下以編輯母片標題樣式</a:t>
            </a:r>
            <a:endParaRPr lang="zh-TW" sz="6000" b="0" strike="noStrike" spc="-1">
              <a:solidFill>
                <a:srgbClr val="000000"/>
              </a:solidFill>
              <a:latin typeface="Calibri"/>
            </a:endParaRPr>
          </a:p>
        </p:txBody>
      </p:sp>
      <p:sp>
        <p:nvSpPr>
          <p:cNvPr id="83" name="PlaceHolder 2"/>
          <p:cNvSpPr>
            <a:spLocks noGrp="1"/>
          </p:cNvSpPr>
          <p:nvPr>
            <p:ph type="body"/>
          </p:nvPr>
        </p:nvSpPr>
        <p:spPr>
          <a:xfrm>
            <a:off x="831960" y="4589640"/>
            <a:ext cx="10515240" cy="1499760"/>
          </a:xfrm>
          <a:prstGeom prst="rect">
            <a:avLst/>
          </a:prstGeom>
        </p:spPr>
        <p:txBody>
          <a:bodyPr/>
          <a:lstStyle/>
          <a:p>
            <a:pPr>
              <a:lnSpc>
                <a:spcPct val="90000"/>
              </a:lnSpc>
              <a:spcBef>
                <a:spcPts val="1001"/>
              </a:spcBef>
            </a:pPr>
            <a:r>
              <a:rPr lang="zh-TW" sz="2400" b="0" strike="noStrike" spc="-1">
                <a:solidFill>
                  <a:srgbClr val="8B8B8B"/>
                </a:solidFill>
                <a:latin typeface="Calibri"/>
              </a:rPr>
              <a:t>按一下以編輯母片文字樣式</a:t>
            </a:r>
            <a:endParaRPr lang="zh-TW" sz="2400" b="0" strike="noStrike" spc="-1">
              <a:solidFill>
                <a:srgbClr val="000000"/>
              </a:solidFill>
              <a:latin typeface="Calibri"/>
            </a:endParaRPr>
          </a:p>
        </p:txBody>
      </p:sp>
      <p:sp>
        <p:nvSpPr>
          <p:cNvPr id="84" name="PlaceHolder 3"/>
          <p:cNvSpPr>
            <a:spLocks noGrp="1"/>
          </p:cNvSpPr>
          <p:nvPr>
            <p:ph type="dt"/>
          </p:nvPr>
        </p:nvSpPr>
        <p:spPr>
          <a:xfrm>
            <a:off x="838080" y="6356520"/>
            <a:ext cx="2742840" cy="364680"/>
          </a:xfrm>
          <a:prstGeom prst="rect">
            <a:avLst/>
          </a:prstGeom>
        </p:spPr>
        <p:txBody>
          <a:bodyPr anchor="ctr"/>
          <a:lstStyle/>
          <a:p>
            <a:pPr>
              <a:lnSpc>
                <a:spcPct val="100000"/>
              </a:lnSpc>
            </a:pPr>
            <a:fld id="{7C8C9CAE-CBB2-48EC-B8A3-93722385D573}" type="datetime">
              <a:rPr lang="en-US" sz="1200" b="0" strike="noStrike" spc="-1">
                <a:solidFill>
                  <a:srgbClr val="8B8B8B"/>
                </a:solidFill>
                <a:latin typeface="Calibri"/>
              </a:rPr>
              <a:t>1/5/2021</a:t>
            </a:fld>
            <a:endParaRPr lang="en-US" sz="1200" b="0" strike="noStrike" spc="-1">
              <a:latin typeface="Times New Roman"/>
            </a:endParaRPr>
          </a:p>
        </p:txBody>
      </p:sp>
      <p:sp>
        <p:nvSpPr>
          <p:cNvPr id="85"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86"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009E6D13-B238-40D5-931A-39EB5D519B82}"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0" y="672480"/>
            <a:ext cx="11968560" cy="2387160"/>
          </a:xfrm>
          <a:prstGeom prst="rect">
            <a:avLst/>
          </a:prstGeom>
          <a:noFill/>
          <a:ln>
            <a:noFill/>
          </a:ln>
        </p:spPr>
        <p:txBody>
          <a:bodyPr anchor="b">
            <a:normAutofit/>
          </a:bodyPr>
          <a:lstStyle/>
          <a:p>
            <a:pPr algn="ctr"/>
            <a:r>
              <a:rPr lang="en" altLang="zh-TW" sz="6000" dirty="0">
                <a:latin typeface="NimbusRomNo9L"/>
              </a:rPr>
              <a:t>Beyond Accuracy: Behavioral Testing of NLP Models with </a:t>
            </a:r>
            <a:r>
              <a:rPr lang="en" altLang="zh-TW" sz="6000" dirty="0" err="1">
                <a:latin typeface="NimbusRomNo9L"/>
              </a:rPr>
              <a:t>C</a:t>
            </a:r>
            <a:r>
              <a:rPr lang="en" altLang="zh-TW" sz="6000" dirty="0" err="1">
                <a:latin typeface="rtxbsc"/>
              </a:rPr>
              <a:t>heck</a:t>
            </a:r>
            <a:r>
              <a:rPr lang="en" altLang="zh-TW" sz="6000" dirty="0" err="1">
                <a:latin typeface="NimbusRomNo9L"/>
              </a:rPr>
              <a:t>L</a:t>
            </a:r>
            <a:r>
              <a:rPr lang="en" altLang="zh-TW" sz="6000" dirty="0" err="1">
                <a:latin typeface="rtxbsc"/>
              </a:rPr>
              <a:t>ist</a:t>
            </a:r>
            <a:r>
              <a:rPr lang="en" altLang="zh-TW" sz="6000" dirty="0">
                <a:latin typeface="rtxbsc"/>
              </a:rPr>
              <a:t> </a:t>
            </a:r>
            <a:endParaRPr lang="en" altLang="zh-TW" sz="6000" dirty="0"/>
          </a:p>
        </p:txBody>
      </p:sp>
      <p:sp>
        <p:nvSpPr>
          <p:cNvPr id="130" name="TextShape 2"/>
          <p:cNvSpPr txBox="1"/>
          <p:nvPr/>
        </p:nvSpPr>
        <p:spPr>
          <a:xfrm>
            <a:off x="738038" y="3429000"/>
            <a:ext cx="9898560" cy="1655280"/>
          </a:xfrm>
          <a:prstGeom prst="rect">
            <a:avLst/>
          </a:prstGeom>
          <a:noFill/>
          <a:ln>
            <a:noFill/>
          </a:ln>
        </p:spPr>
        <p:txBody>
          <a:bodyPr/>
          <a:lstStyle/>
          <a:p>
            <a:pPr algn="ctr"/>
            <a:r>
              <a:rPr lang="en" altLang="zh-TW" dirty="0"/>
              <a:t>Marco Tulio Ribeiro, </a:t>
            </a:r>
            <a:r>
              <a:rPr lang="en" altLang="zh-TW" dirty="0" err="1"/>
              <a:t>Tongshuang</a:t>
            </a:r>
            <a:r>
              <a:rPr lang="en" altLang="zh-TW" dirty="0"/>
              <a:t> Wu, Carlos </a:t>
            </a:r>
            <a:r>
              <a:rPr lang="en" altLang="zh-TW" dirty="0" err="1"/>
              <a:t>Guestrin</a:t>
            </a:r>
            <a:r>
              <a:rPr lang="en" altLang="zh-TW" dirty="0"/>
              <a:t>, Sameer Singh </a:t>
            </a:r>
            <a:endParaRPr lang="en" altLang="zh-TW" sz="2800" dirty="0"/>
          </a:p>
          <a:p>
            <a:pPr algn="ctr">
              <a:lnSpc>
                <a:spcPct val="90000"/>
              </a:lnSpc>
              <a:spcBef>
                <a:spcPts val="1001"/>
              </a:spcBef>
            </a:pPr>
            <a:r>
              <a:rPr lang="en-US" sz="2400" b="0" strike="noStrike" spc="-1" dirty="0">
                <a:solidFill>
                  <a:srgbClr val="000000"/>
                </a:solidFill>
                <a:latin typeface="Calibri"/>
              </a:rPr>
              <a:t>July 2020</a:t>
            </a:r>
            <a:endParaRPr lang="en-US" sz="2400" b="0" strike="noStrike" spc="-1" dirty="0">
              <a:latin typeface="Arial"/>
            </a:endParaRPr>
          </a:p>
          <a:p>
            <a:pPr algn="ctr">
              <a:lnSpc>
                <a:spcPct val="90000"/>
              </a:lnSpc>
              <a:spcBef>
                <a:spcPts val="1001"/>
              </a:spcBef>
            </a:pPr>
            <a:r>
              <a:rPr lang="en-US" sz="2400" spc="-1" dirty="0">
                <a:solidFill>
                  <a:srgbClr val="000000"/>
                </a:solidFill>
                <a:latin typeface="Calibri"/>
              </a:rPr>
              <a:t>Proceedings of the 58th Annual Meeting of the Association for Computational Linguistics</a:t>
            </a:r>
          </a:p>
          <a:p>
            <a:pPr algn="ctr">
              <a:lnSpc>
                <a:spcPct val="90000"/>
              </a:lnSpc>
              <a:spcBef>
                <a:spcPts val="1001"/>
              </a:spcBef>
            </a:pPr>
            <a:endParaRPr lang="en-US" sz="2400" b="0" strike="noStrike" spc="-1" dirty="0">
              <a:latin typeface="Arial"/>
            </a:endParaRPr>
          </a:p>
        </p:txBody>
      </p:sp>
      <p:sp>
        <p:nvSpPr>
          <p:cNvPr id="131" name="CustomShape 3"/>
          <p:cNvSpPr/>
          <p:nvPr/>
        </p:nvSpPr>
        <p:spPr>
          <a:xfrm>
            <a:off x="9488160" y="6029280"/>
            <a:ext cx="260280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latin typeface="Calibri"/>
              </a:rPr>
              <a:t>Present: Chia-Lin Chen</a:t>
            </a:r>
            <a:endParaRPr lang="en-US" sz="1800" b="0" strike="noStrike" spc="-1" dirty="0">
              <a:latin typeface="Arial"/>
            </a:endParaRPr>
          </a:p>
          <a:p>
            <a:pPr>
              <a:lnSpc>
                <a:spcPct val="100000"/>
              </a:lnSpc>
            </a:pPr>
            <a:r>
              <a:rPr lang="en-US" sz="1800" b="0" strike="noStrike" spc="-1" dirty="0">
                <a:solidFill>
                  <a:srgbClr val="000000"/>
                </a:solidFill>
                <a:latin typeface="Calibri"/>
              </a:rPr>
              <a:t>Date: Jan. 5, 2021</a:t>
            </a:r>
            <a:endParaRPr lang="en-US" sz="18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Abstract</a:t>
            </a:r>
            <a:r>
              <a:rPr lang="en-US" altLang="zh-TW" sz="4400" b="0" strike="noStrike" spc="-1" dirty="0">
                <a:solidFill>
                  <a:srgbClr val="000000"/>
                </a:solidFill>
                <a:latin typeface="Calibri Light"/>
              </a:rPr>
              <a:t>(1/2)</a:t>
            </a:r>
            <a:endParaRPr lang="zh-TW" sz="4400" b="0" strike="noStrike" spc="-1" dirty="0">
              <a:solidFill>
                <a:srgbClr val="000000"/>
              </a:solidFill>
              <a:latin typeface="Calibri"/>
            </a:endParaRPr>
          </a:p>
        </p:txBody>
      </p:sp>
      <p:sp>
        <p:nvSpPr>
          <p:cNvPr id="133" name="TextShape 2"/>
          <p:cNvSpPr txBox="1"/>
          <p:nvPr/>
        </p:nvSpPr>
        <p:spPr>
          <a:xfrm>
            <a:off x="223200" y="1494360"/>
            <a:ext cx="11663640" cy="4998240"/>
          </a:xfrm>
          <a:prstGeom prst="rect">
            <a:avLst/>
          </a:prstGeom>
          <a:noFill/>
          <a:ln>
            <a:noFill/>
          </a:ln>
        </p:spPr>
        <p:txBody>
          <a:bodyPr>
            <a:normAutofit/>
          </a:bodyPr>
          <a:lstStyle/>
          <a:p>
            <a:pPr>
              <a:lnSpc>
                <a:spcPct val="110000"/>
              </a:lnSpc>
            </a:pPr>
            <a:r>
              <a:rPr lang="en" altLang="zh-TW" sz="3200" dirty="0"/>
              <a:t>Although measuring held-out accuracy has been the primary approach to evaluate generalization, it often overestimates the performance of NLP models, while alternative approaches for evaluating models either focus on individual tasks or on specific behaviors. Inspired by principles of behavioral testing in software engineering, we introduce </a:t>
            </a:r>
            <a:r>
              <a:rPr lang="en" altLang="zh-TW" sz="3200" dirty="0" err="1"/>
              <a:t>CheckList</a:t>
            </a:r>
            <a:r>
              <a:rPr lang="en" altLang="zh-TW" sz="3200" dirty="0"/>
              <a:t>, a task-agnostic methodology for testing NLP models. </a:t>
            </a:r>
            <a:endParaRPr lang="en" altLang="zh-TW" sz="5400" dirty="0"/>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Abstract</a:t>
            </a:r>
            <a:r>
              <a:rPr lang="en-US" altLang="zh-TW" sz="4400" b="0" strike="noStrike" spc="-1" dirty="0">
                <a:solidFill>
                  <a:srgbClr val="000000"/>
                </a:solidFill>
                <a:latin typeface="Calibri Light"/>
              </a:rPr>
              <a:t>(2/2)</a:t>
            </a:r>
            <a:endParaRPr lang="zh-TW" sz="4400" b="0" strike="noStrike" spc="-1" dirty="0">
              <a:solidFill>
                <a:srgbClr val="000000"/>
              </a:solidFill>
              <a:latin typeface="Calibri"/>
            </a:endParaRPr>
          </a:p>
        </p:txBody>
      </p:sp>
      <p:sp>
        <p:nvSpPr>
          <p:cNvPr id="133" name="TextShape 2"/>
          <p:cNvSpPr txBox="1"/>
          <p:nvPr/>
        </p:nvSpPr>
        <p:spPr>
          <a:xfrm>
            <a:off x="223200" y="1494360"/>
            <a:ext cx="11663640" cy="4998240"/>
          </a:xfrm>
          <a:prstGeom prst="rect">
            <a:avLst/>
          </a:prstGeom>
          <a:noFill/>
          <a:ln>
            <a:noFill/>
          </a:ln>
        </p:spPr>
        <p:txBody>
          <a:bodyPr>
            <a:noAutofit/>
          </a:bodyPr>
          <a:lstStyle/>
          <a:p>
            <a:pPr>
              <a:spcBef>
                <a:spcPts val="1001"/>
              </a:spcBef>
            </a:pPr>
            <a:r>
              <a:rPr lang="en" altLang="zh-TW" sz="3200" dirty="0" err="1"/>
              <a:t>CheckList</a:t>
            </a:r>
            <a:r>
              <a:rPr lang="en" altLang="zh-TW" sz="3200" dirty="0"/>
              <a:t> includes a matrix of general linguistic </a:t>
            </a:r>
            <a:r>
              <a:rPr lang="en" altLang="zh-TW" sz="3200" i="1" dirty="0"/>
              <a:t>capabilities </a:t>
            </a:r>
            <a:r>
              <a:rPr lang="en" altLang="zh-TW" sz="3200" dirty="0"/>
              <a:t>and </a:t>
            </a:r>
            <a:r>
              <a:rPr lang="en" altLang="zh-TW" sz="3200" i="1" dirty="0"/>
              <a:t>test types </a:t>
            </a:r>
            <a:r>
              <a:rPr lang="en" altLang="zh-TW" sz="3200" dirty="0"/>
              <a:t>that facilitate comprehensive test ideation, as well as a software tool to generate a large and diverse number of test cases quickly. We illustrate the utility of </a:t>
            </a:r>
            <a:r>
              <a:rPr lang="en" altLang="zh-TW" sz="3200" dirty="0" err="1"/>
              <a:t>CheckList</a:t>
            </a:r>
            <a:r>
              <a:rPr lang="en" altLang="zh-TW" sz="3200" dirty="0"/>
              <a:t> with tests for three tasks, identifying critical failures in both commercial and state-of-art models. In a user study, a team responsible for a commercial sentiment analysis model found new and actionable bugs in an extensively tested model. In another user study, NLP practitioners with </a:t>
            </a:r>
            <a:r>
              <a:rPr lang="en" altLang="zh-TW" sz="3200" dirty="0" err="1"/>
              <a:t>CheckList</a:t>
            </a:r>
            <a:r>
              <a:rPr lang="en" altLang="zh-TW" sz="3200" dirty="0"/>
              <a:t> created twice as many tests, and found almost three times as many bugs as users without it.</a:t>
            </a:r>
            <a:endParaRPr lang="zh-TW" sz="3200" b="0" strike="noStrike" spc="-1" dirty="0">
              <a:solidFill>
                <a:srgbClr val="000000"/>
              </a:solidFill>
              <a:latin typeface="Calibri"/>
            </a:endParaRPr>
          </a:p>
        </p:txBody>
      </p:sp>
    </p:spTree>
    <p:extLst>
      <p:ext uri="{BB962C8B-B14F-4D97-AF65-F5344CB8AC3E}">
        <p14:creationId xmlns:p14="http://schemas.microsoft.com/office/powerpoint/2010/main" val="332593413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0"/>
            <a:ext cx="10515240" cy="1325160"/>
          </a:xfrm>
          <a:prstGeom prst="rect">
            <a:avLst/>
          </a:prstGeom>
          <a:noFill/>
          <a:ln>
            <a:noFill/>
          </a:ln>
        </p:spPr>
        <p:txBody>
          <a:bodyPr anchor="ctr"/>
          <a:lstStyle/>
          <a:p>
            <a:pPr>
              <a:lnSpc>
                <a:spcPct val="90000"/>
              </a:lnSpc>
            </a:pPr>
            <a:r>
              <a:rPr lang="en-US" altLang="zh-TW" sz="4400" spc="-1" dirty="0" err="1">
                <a:solidFill>
                  <a:srgbClr val="000000"/>
                </a:solidFill>
                <a:latin typeface="Calibri"/>
              </a:rPr>
              <a:t>CheckList</a:t>
            </a:r>
            <a:endParaRPr lang="zh-TW" sz="4400" b="0" strike="noStrike" spc="-1" dirty="0">
              <a:solidFill>
                <a:srgbClr val="000000"/>
              </a:solidFill>
              <a:latin typeface="Calibri"/>
            </a:endParaRPr>
          </a:p>
        </p:txBody>
      </p:sp>
      <p:sp>
        <p:nvSpPr>
          <p:cNvPr id="133" name="TextShape 2"/>
          <p:cNvSpPr txBox="1"/>
          <p:nvPr/>
        </p:nvSpPr>
        <p:spPr>
          <a:xfrm>
            <a:off x="263880" y="1262225"/>
            <a:ext cx="11663640" cy="4998240"/>
          </a:xfrm>
          <a:prstGeom prst="rect">
            <a:avLst/>
          </a:prstGeom>
          <a:noFill/>
          <a:ln>
            <a:noFill/>
          </a:ln>
        </p:spPr>
        <p:txBody>
          <a:bodyPr>
            <a:noAutofit/>
          </a:bodyPr>
          <a:lstStyle/>
          <a:p>
            <a:pPr>
              <a:spcBef>
                <a:spcPts val="1001"/>
              </a:spcBef>
            </a:pPr>
            <a:r>
              <a:rPr lang="en-US" altLang="zh-TW" sz="3200" b="0" strike="noStrike" spc="-1" dirty="0">
                <a:solidFill>
                  <a:srgbClr val="000000"/>
                </a:solidFill>
                <a:latin typeface="Calibri"/>
              </a:rPr>
              <a:t>1-1.Capabilities:</a:t>
            </a:r>
          </a:p>
          <a:p>
            <a:pPr>
              <a:spcBef>
                <a:spcPts val="1001"/>
              </a:spcBef>
            </a:pPr>
            <a:r>
              <a:rPr lang="en-US" altLang="zh-TW" sz="3200" spc="-1" dirty="0">
                <a:solidFill>
                  <a:srgbClr val="000000"/>
                </a:solidFill>
                <a:latin typeface="Calibri"/>
              </a:rPr>
              <a:t>1-2. Behavioral Testing:</a:t>
            </a:r>
          </a:p>
          <a:p>
            <a:pPr>
              <a:spcBef>
                <a:spcPts val="1001"/>
              </a:spcBef>
            </a:pPr>
            <a:r>
              <a:rPr lang="en-US" altLang="zh-TW" sz="3200" spc="-1" dirty="0">
                <a:solidFill>
                  <a:srgbClr val="000000"/>
                </a:solidFill>
                <a:latin typeface="Calibri"/>
              </a:rPr>
              <a:t>Blackbox—focus on input/output</a:t>
            </a:r>
          </a:p>
          <a:p>
            <a:pPr>
              <a:spcBef>
                <a:spcPts val="1001"/>
              </a:spcBef>
            </a:pPr>
            <a:r>
              <a:rPr lang="en-US" altLang="zh-TW" sz="3200" spc="-1" dirty="0">
                <a:solidFill>
                  <a:srgbClr val="000000"/>
                </a:solidFill>
                <a:latin typeface="Calibri"/>
              </a:rPr>
              <a:t>is expected or not.</a:t>
            </a:r>
          </a:p>
          <a:p>
            <a:pPr>
              <a:spcBef>
                <a:spcPts val="1001"/>
              </a:spcBef>
            </a:pPr>
            <a:endParaRPr lang="en-US" altLang="zh-TW" sz="3200" spc="-1" dirty="0">
              <a:solidFill>
                <a:srgbClr val="000000"/>
              </a:solidFill>
              <a:latin typeface="Calibri"/>
            </a:endParaRPr>
          </a:p>
          <a:p>
            <a:pPr>
              <a:spcBef>
                <a:spcPts val="1001"/>
              </a:spcBef>
            </a:pPr>
            <a:r>
              <a:rPr lang="en-US" altLang="zh-TW" sz="3200" spc="-1" dirty="0">
                <a:solidFill>
                  <a:srgbClr val="000000"/>
                </a:solidFill>
                <a:latin typeface="Calibri"/>
              </a:rPr>
              <a:t>2.Test Types: </a:t>
            </a:r>
          </a:p>
          <a:p>
            <a:pPr>
              <a:spcBef>
                <a:spcPts val="1001"/>
              </a:spcBef>
            </a:pPr>
            <a:r>
              <a:rPr lang="en-US" altLang="zh-TW" sz="3200" spc="-1" dirty="0">
                <a:solidFill>
                  <a:srgbClr val="000000"/>
                </a:solidFill>
                <a:latin typeface="Calibri"/>
              </a:rPr>
              <a:t>2-1. Minimum Functionality Test(MFT)</a:t>
            </a:r>
          </a:p>
          <a:p>
            <a:pPr>
              <a:spcBef>
                <a:spcPts val="1001"/>
              </a:spcBef>
            </a:pPr>
            <a:r>
              <a:rPr lang="en-US" altLang="zh-TW" sz="3200" spc="-1" dirty="0">
                <a:solidFill>
                  <a:srgbClr val="000000"/>
                </a:solidFill>
                <a:latin typeface="Calibri"/>
              </a:rPr>
              <a:t>2-2. </a:t>
            </a:r>
            <a:r>
              <a:rPr lang="en-US" altLang="zh-TW" sz="3200" spc="-1" dirty="0" err="1">
                <a:solidFill>
                  <a:srgbClr val="000000"/>
                </a:solidFill>
                <a:latin typeface="Calibri"/>
              </a:rPr>
              <a:t>INVariance</a:t>
            </a:r>
            <a:r>
              <a:rPr lang="en-US" altLang="zh-TW" sz="3200" spc="-1" dirty="0">
                <a:solidFill>
                  <a:srgbClr val="000000"/>
                </a:solidFill>
                <a:latin typeface="Calibri"/>
              </a:rPr>
              <a:t> Test(INV)</a:t>
            </a:r>
          </a:p>
          <a:p>
            <a:pPr>
              <a:spcBef>
                <a:spcPts val="1001"/>
              </a:spcBef>
            </a:pPr>
            <a:r>
              <a:rPr lang="en-US" altLang="zh-TW" sz="3200" spc="-1" dirty="0">
                <a:solidFill>
                  <a:srgbClr val="000000"/>
                </a:solidFill>
                <a:latin typeface="Calibri"/>
              </a:rPr>
              <a:t>2-3. </a:t>
            </a:r>
            <a:r>
              <a:rPr lang="en-US" altLang="zh-TW" sz="3200" spc="-1" dirty="0" err="1">
                <a:solidFill>
                  <a:srgbClr val="000000"/>
                </a:solidFill>
                <a:latin typeface="Calibri"/>
              </a:rPr>
              <a:t>DIRectional</a:t>
            </a:r>
            <a:r>
              <a:rPr lang="en-US" altLang="zh-TW" sz="3200" spc="-1" dirty="0">
                <a:solidFill>
                  <a:srgbClr val="000000"/>
                </a:solidFill>
                <a:latin typeface="Calibri"/>
              </a:rPr>
              <a:t> Expectation Test(DIR)</a:t>
            </a:r>
          </a:p>
          <a:p>
            <a:pPr>
              <a:spcBef>
                <a:spcPts val="1001"/>
              </a:spcBef>
            </a:pPr>
            <a:endParaRPr lang="en-US" altLang="zh-TW" sz="3200" spc="-1" dirty="0">
              <a:solidFill>
                <a:srgbClr val="000000"/>
              </a:solidFill>
              <a:latin typeface="Calibri"/>
            </a:endParaRPr>
          </a:p>
          <a:p>
            <a:pPr>
              <a:spcBef>
                <a:spcPts val="1001"/>
              </a:spcBef>
            </a:pPr>
            <a:endParaRPr lang="en-US" altLang="zh-TW" sz="3200" spc="-1" dirty="0">
              <a:solidFill>
                <a:srgbClr val="000000"/>
              </a:solidFill>
              <a:latin typeface="Calibri"/>
            </a:endParaRPr>
          </a:p>
          <a:p>
            <a:pPr>
              <a:spcBef>
                <a:spcPts val="1001"/>
              </a:spcBef>
            </a:pPr>
            <a:endParaRPr lang="en-US" altLang="zh-TW" sz="3200" spc="-1" dirty="0">
              <a:solidFill>
                <a:srgbClr val="000000"/>
              </a:solidFill>
              <a:latin typeface="Calibri"/>
            </a:endParaRPr>
          </a:p>
          <a:p>
            <a:pPr>
              <a:spcBef>
                <a:spcPts val="1001"/>
              </a:spcBef>
            </a:pPr>
            <a:endParaRPr lang="zh-TW" sz="3200" b="0" strike="noStrike" spc="-1" dirty="0">
              <a:solidFill>
                <a:srgbClr val="000000"/>
              </a:solidFill>
              <a:latin typeface="Calibri"/>
            </a:endParaRPr>
          </a:p>
        </p:txBody>
      </p:sp>
      <p:pic>
        <p:nvPicPr>
          <p:cNvPr id="2" name="圖片 1">
            <a:extLst>
              <a:ext uri="{FF2B5EF4-FFF2-40B4-BE49-F238E27FC236}">
                <a16:creationId xmlns:a16="http://schemas.microsoft.com/office/drawing/2014/main" id="{5C362E70-7928-3B4A-9302-05811D70D0A9}"/>
              </a:ext>
            </a:extLst>
          </p:cNvPr>
          <p:cNvPicPr>
            <a:picLocks noChangeAspect="1"/>
          </p:cNvPicPr>
          <p:nvPr/>
        </p:nvPicPr>
        <p:blipFill rotWithShape="1">
          <a:blip r:embed="rId3"/>
          <a:srcRect t="14492"/>
          <a:stretch/>
        </p:blipFill>
        <p:spPr>
          <a:xfrm>
            <a:off x="6603700" y="639613"/>
            <a:ext cx="5549900" cy="3909420"/>
          </a:xfrm>
          <a:prstGeom prst="rect">
            <a:avLst/>
          </a:prstGeom>
        </p:spPr>
      </p:pic>
    </p:spTree>
    <p:extLst>
      <p:ext uri="{BB962C8B-B14F-4D97-AF65-F5344CB8AC3E}">
        <p14:creationId xmlns:p14="http://schemas.microsoft.com/office/powerpoint/2010/main" val="82470778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F583D938-A865-1E40-8CFB-443B977F1559}"/>
              </a:ext>
            </a:extLst>
          </p:cNvPr>
          <p:cNvPicPr>
            <a:picLocks noChangeAspect="1"/>
          </p:cNvPicPr>
          <p:nvPr/>
        </p:nvPicPr>
        <p:blipFill rotWithShape="1">
          <a:blip r:embed="rId2"/>
          <a:srcRect b="38195"/>
          <a:stretch/>
        </p:blipFill>
        <p:spPr>
          <a:xfrm>
            <a:off x="327093" y="338485"/>
            <a:ext cx="5432085" cy="5031183"/>
          </a:xfrm>
          <a:prstGeom prst="rect">
            <a:avLst/>
          </a:prstGeom>
        </p:spPr>
      </p:pic>
      <p:pic>
        <p:nvPicPr>
          <p:cNvPr id="6" name="圖片 5">
            <a:extLst>
              <a:ext uri="{FF2B5EF4-FFF2-40B4-BE49-F238E27FC236}">
                <a16:creationId xmlns:a16="http://schemas.microsoft.com/office/drawing/2014/main" id="{1D368881-176C-C34A-88B0-357E136B1B90}"/>
              </a:ext>
            </a:extLst>
          </p:cNvPr>
          <p:cNvPicPr>
            <a:picLocks noChangeAspect="1"/>
          </p:cNvPicPr>
          <p:nvPr/>
        </p:nvPicPr>
        <p:blipFill rotWithShape="1">
          <a:blip r:embed="rId2"/>
          <a:srcRect t="61497" b="-1"/>
          <a:stretch/>
        </p:blipFill>
        <p:spPr>
          <a:xfrm>
            <a:off x="6096000" y="1653702"/>
            <a:ext cx="5706154" cy="3292541"/>
          </a:xfrm>
          <a:prstGeom prst="rect">
            <a:avLst/>
          </a:prstGeom>
        </p:spPr>
      </p:pic>
    </p:spTree>
    <p:extLst>
      <p:ext uri="{BB962C8B-B14F-4D97-AF65-F5344CB8AC3E}">
        <p14:creationId xmlns:p14="http://schemas.microsoft.com/office/powerpoint/2010/main" val="44111825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706034B-2F63-FC49-AA33-019FC6B15A5F}"/>
              </a:ext>
            </a:extLst>
          </p:cNvPr>
          <p:cNvPicPr>
            <a:picLocks noChangeAspect="1"/>
          </p:cNvPicPr>
          <p:nvPr/>
        </p:nvPicPr>
        <p:blipFill rotWithShape="1">
          <a:blip r:embed="rId2"/>
          <a:srcRect b="45248"/>
          <a:stretch/>
        </p:blipFill>
        <p:spPr>
          <a:xfrm>
            <a:off x="498069" y="505838"/>
            <a:ext cx="10799892" cy="4922196"/>
          </a:xfrm>
          <a:prstGeom prst="rect">
            <a:avLst/>
          </a:prstGeom>
        </p:spPr>
      </p:pic>
    </p:spTree>
    <p:extLst>
      <p:ext uri="{BB962C8B-B14F-4D97-AF65-F5344CB8AC3E}">
        <p14:creationId xmlns:p14="http://schemas.microsoft.com/office/powerpoint/2010/main" val="324936414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706034B-2F63-FC49-AA33-019FC6B15A5F}"/>
              </a:ext>
            </a:extLst>
          </p:cNvPr>
          <p:cNvPicPr>
            <a:picLocks noChangeAspect="1"/>
          </p:cNvPicPr>
          <p:nvPr/>
        </p:nvPicPr>
        <p:blipFill rotWithShape="1">
          <a:blip r:embed="rId2"/>
          <a:srcRect t="59858"/>
          <a:stretch/>
        </p:blipFill>
        <p:spPr>
          <a:xfrm>
            <a:off x="508439" y="1561928"/>
            <a:ext cx="11175122" cy="3734143"/>
          </a:xfrm>
          <a:prstGeom prst="rect">
            <a:avLst/>
          </a:prstGeom>
        </p:spPr>
      </p:pic>
    </p:spTree>
    <p:extLst>
      <p:ext uri="{BB962C8B-B14F-4D97-AF65-F5344CB8AC3E}">
        <p14:creationId xmlns:p14="http://schemas.microsoft.com/office/powerpoint/2010/main" val="12160369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E108C455-4F74-2F49-9A68-F1F028C252E3}"/>
              </a:ext>
            </a:extLst>
          </p:cNvPr>
          <p:cNvPicPr>
            <a:picLocks noChangeAspect="1"/>
          </p:cNvPicPr>
          <p:nvPr/>
        </p:nvPicPr>
        <p:blipFill>
          <a:blip r:embed="rId2"/>
          <a:stretch>
            <a:fillRect/>
          </a:stretch>
        </p:blipFill>
        <p:spPr>
          <a:xfrm>
            <a:off x="491802" y="680935"/>
            <a:ext cx="11103568" cy="5444725"/>
          </a:xfrm>
          <a:prstGeom prst="rect">
            <a:avLst/>
          </a:prstGeom>
        </p:spPr>
      </p:pic>
    </p:spTree>
    <p:extLst>
      <p:ext uri="{BB962C8B-B14F-4D97-AF65-F5344CB8AC3E}">
        <p14:creationId xmlns:p14="http://schemas.microsoft.com/office/powerpoint/2010/main" val="849048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C651B64-813A-9345-9E44-FDC4F25B48D8}"/>
              </a:ext>
            </a:extLst>
          </p:cNvPr>
          <p:cNvPicPr>
            <a:picLocks noChangeAspect="1"/>
          </p:cNvPicPr>
          <p:nvPr/>
        </p:nvPicPr>
        <p:blipFill>
          <a:blip r:embed="rId2"/>
          <a:stretch>
            <a:fillRect/>
          </a:stretch>
        </p:blipFill>
        <p:spPr>
          <a:xfrm>
            <a:off x="218477" y="1099891"/>
            <a:ext cx="11610357" cy="3891210"/>
          </a:xfrm>
          <a:prstGeom prst="rect">
            <a:avLst/>
          </a:prstGeom>
        </p:spPr>
      </p:pic>
    </p:spTree>
    <p:extLst>
      <p:ext uri="{BB962C8B-B14F-4D97-AF65-F5344CB8AC3E}">
        <p14:creationId xmlns:p14="http://schemas.microsoft.com/office/powerpoint/2010/main" val="327999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078FD3D0-F501-9448-B871-084F09A8C77E}"/>
              </a:ext>
            </a:extLst>
          </p:cNvPr>
          <p:cNvPicPr>
            <a:picLocks noChangeAspect="1"/>
          </p:cNvPicPr>
          <p:nvPr/>
        </p:nvPicPr>
        <p:blipFill>
          <a:blip r:embed="rId2"/>
          <a:stretch>
            <a:fillRect/>
          </a:stretch>
        </p:blipFill>
        <p:spPr>
          <a:xfrm>
            <a:off x="505837" y="1009543"/>
            <a:ext cx="10894979" cy="4838914"/>
          </a:xfrm>
          <a:prstGeom prst="rect">
            <a:avLst/>
          </a:prstGeom>
        </p:spPr>
      </p:pic>
    </p:spTree>
    <p:extLst>
      <p:ext uri="{BB962C8B-B14F-4D97-AF65-F5344CB8AC3E}">
        <p14:creationId xmlns:p14="http://schemas.microsoft.com/office/powerpoint/2010/main" val="2981027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52266E27-30B6-2449-B54C-114D8E5A9414}"/>
              </a:ext>
            </a:extLst>
          </p:cNvPr>
          <p:cNvPicPr>
            <a:picLocks noChangeAspect="1"/>
          </p:cNvPicPr>
          <p:nvPr/>
        </p:nvPicPr>
        <p:blipFill>
          <a:blip r:embed="rId2"/>
          <a:stretch>
            <a:fillRect/>
          </a:stretch>
        </p:blipFill>
        <p:spPr>
          <a:xfrm>
            <a:off x="424774" y="1171224"/>
            <a:ext cx="11342451" cy="4515551"/>
          </a:xfrm>
          <a:prstGeom prst="rect">
            <a:avLst/>
          </a:prstGeom>
        </p:spPr>
      </p:pic>
    </p:spTree>
    <p:extLst>
      <p:ext uri="{BB962C8B-B14F-4D97-AF65-F5344CB8AC3E}">
        <p14:creationId xmlns:p14="http://schemas.microsoft.com/office/powerpoint/2010/main" val="2803112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618CBACC-B2D1-AA40-9EAD-65E36DA0C1F0}"/>
              </a:ext>
            </a:extLst>
          </p:cNvPr>
          <p:cNvPicPr>
            <a:picLocks noChangeAspect="1"/>
          </p:cNvPicPr>
          <p:nvPr/>
        </p:nvPicPr>
        <p:blipFill>
          <a:blip r:embed="rId3"/>
          <a:stretch>
            <a:fillRect/>
          </a:stretch>
        </p:blipFill>
        <p:spPr>
          <a:xfrm>
            <a:off x="536195" y="552620"/>
            <a:ext cx="8491073" cy="5752759"/>
          </a:xfrm>
          <a:prstGeom prst="rect">
            <a:avLst/>
          </a:prstGeom>
        </p:spPr>
      </p:pic>
      <p:sp>
        <p:nvSpPr>
          <p:cNvPr id="5" name="文字方塊 4">
            <a:extLst>
              <a:ext uri="{FF2B5EF4-FFF2-40B4-BE49-F238E27FC236}">
                <a16:creationId xmlns:a16="http://schemas.microsoft.com/office/drawing/2014/main" id="{E503868F-BA30-B04A-850C-242B2BB495EE}"/>
              </a:ext>
            </a:extLst>
          </p:cNvPr>
          <p:cNvSpPr txBox="1"/>
          <p:nvPr/>
        </p:nvSpPr>
        <p:spPr>
          <a:xfrm>
            <a:off x="8813260" y="894945"/>
            <a:ext cx="2634054" cy="646331"/>
          </a:xfrm>
          <a:prstGeom prst="rect">
            <a:avLst/>
          </a:prstGeom>
          <a:noFill/>
        </p:spPr>
        <p:txBody>
          <a:bodyPr wrap="none" rtlCol="0">
            <a:spAutoFit/>
          </a:bodyPr>
          <a:lstStyle/>
          <a:p>
            <a:r>
              <a:rPr kumimoji="1" lang="zh-TW" altLang="en-US" dirty="0"/>
              <a:t>此實驗請</a:t>
            </a:r>
            <a:r>
              <a:rPr kumimoji="1" lang="en-US" altLang="zh-TW" dirty="0"/>
              <a:t>18</a:t>
            </a:r>
            <a:r>
              <a:rPr kumimoji="1" lang="zh-TW" altLang="en-US" dirty="0"/>
              <a:t>人驗證</a:t>
            </a:r>
            <a:endParaRPr kumimoji="1" lang="en-US" altLang="zh-TW" dirty="0"/>
          </a:p>
          <a:p>
            <a:r>
              <a:rPr kumimoji="1" lang="en-US" altLang="zh-TW" dirty="0"/>
              <a:t>(8</a:t>
            </a:r>
            <a:r>
              <a:rPr kumimoji="1" lang="zh-TW" altLang="en-US" dirty="0"/>
              <a:t>位自業界</a:t>
            </a:r>
            <a:r>
              <a:rPr kumimoji="1" lang="en-US" altLang="zh-TW" dirty="0"/>
              <a:t>,10</a:t>
            </a:r>
            <a:r>
              <a:rPr kumimoji="1" lang="zh-TW" altLang="en-US" dirty="0"/>
              <a:t>位自學界</a:t>
            </a:r>
            <a:r>
              <a:rPr kumimoji="1" lang="en-US" altLang="zh-TW" dirty="0"/>
              <a:t>)</a:t>
            </a:r>
            <a:endParaRPr kumimoji="1" lang="zh-TW" altLang="en-US" dirty="0"/>
          </a:p>
        </p:txBody>
      </p:sp>
    </p:spTree>
    <p:extLst>
      <p:ext uri="{BB962C8B-B14F-4D97-AF65-F5344CB8AC3E}">
        <p14:creationId xmlns:p14="http://schemas.microsoft.com/office/powerpoint/2010/main" val="3859846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208ED7C-9C26-A545-8D49-456C97FB7FA3}"/>
              </a:ext>
            </a:extLst>
          </p:cNvPr>
          <p:cNvSpPr/>
          <p:nvPr/>
        </p:nvSpPr>
        <p:spPr>
          <a:xfrm>
            <a:off x="1199744" y="1303507"/>
            <a:ext cx="9539973" cy="4524315"/>
          </a:xfrm>
          <a:prstGeom prst="rect">
            <a:avLst/>
          </a:prstGeom>
        </p:spPr>
        <p:txBody>
          <a:bodyPr wrap="square">
            <a:spAutoFit/>
          </a:bodyPr>
          <a:lstStyle/>
          <a:p>
            <a:r>
              <a:rPr lang="en" altLang="zh-TW" sz="3600" dirty="0">
                <a:latin typeface="+mj-lt"/>
              </a:rPr>
              <a:t>Conclusion:</a:t>
            </a:r>
          </a:p>
          <a:p>
            <a:endParaRPr lang="en" altLang="zh-TW" sz="3600" dirty="0">
              <a:latin typeface="+mj-lt"/>
            </a:endParaRPr>
          </a:p>
          <a:p>
            <a:pPr marL="742950" indent="-742950">
              <a:buAutoNum type="arabicPeriod"/>
            </a:pPr>
            <a:r>
              <a:rPr lang="en-US" altLang="zh-TW" sz="3600" dirty="0">
                <a:latin typeface="+mj-lt"/>
              </a:rPr>
              <a:t>With CHECKLIST</a:t>
            </a:r>
            <a:r>
              <a:rPr lang="en" altLang="zh-TW" sz="3600" dirty="0">
                <a:latin typeface="+mj-lt"/>
              </a:rPr>
              <a:t>, find bugs easily.</a:t>
            </a:r>
          </a:p>
          <a:p>
            <a:pPr marL="742950" indent="-742950">
              <a:buFontTx/>
              <a:buAutoNum type="arabicPeriod"/>
            </a:pPr>
            <a:r>
              <a:rPr lang="en" altLang="zh-TW" sz="3600" dirty="0">
                <a:latin typeface="+mj-lt"/>
              </a:rPr>
              <a:t>Finding significant bugs wi</a:t>
            </a:r>
            <a:r>
              <a:rPr lang="en-US" altLang="zh-TW" sz="3600" dirty="0" err="1">
                <a:latin typeface="+mj-lt"/>
              </a:rPr>
              <a:t>th</a:t>
            </a:r>
            <a:r>
              <a:rPr lang="en-US" altLang="zh-TW" sz="3600" dirty="0">
                <a:latin typeface="+mj-lt"/>
              </a:rPr>
              <a:t> CHECKLIST</a:t>
            </a:r>
            <a:r>
              <a:rPr lang="en" altLang="zh-TW" sz="3600" dirty="0">
                <a:latin typeface="+mj-lt"/>
              </a:rPr>
              <a:t> in a SOTA model in only 2 hours.</a:t>
            </a:r>
          </a:p>
          <a:p>
            <a:pPr marL="742950" indent="-742950">
              <a:buFontTx/>
              <a:buAutoNum type="arabicPeriod"/>
            </a:pPr>
            <a:r>
              <a:rPr lang="en" altLang="zh-TW" sz="3600" dirty="0">
                <a:latin typeface="+mj-lt"/>
              </a:rPr>
              <a:t>Open source, but one package wasn’t allowed to download.</a:t>
            </a:r>
          </a:p>
          <a:p>
            <a:pPr marL="742950" indent="-742950">
              <a:buAutoNum type="arabicPeriod"/>
            </a:pPr>
            <a:endParaRPr lang="en" altLang="zh-TW" sz="3600" dirty="0">
              <a:latin typeface="+mj-lt"/>
            </a:endParaRPr>
          </a:p>
        </p:txBody>
      </p:sp>
    </p:spTree>
    <p:extLst>
      <p:ext uri="{BB962C8B-B14F-4D97-AF65-F5344CB8AC3E}">
        <p14:creationId xmlns:p14="http://schemas.microsoft.com/office/powerpoint/2010/main" val="3919071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Shape 1"/>
          <p:cNvSpPr txBox="1"/>
          <p:nvPr/>
        </p:nvSpPr>
        <p:spPr>
          <a:xfrm>
            <a:off x="838080" y="1138320"/>
            <a:ext cx="10515240" cy="2852280"/>
          </a:xfrm>
          <a:prstGeom prst="rect">
            <a:avLst/>
          </a:prstGeom>
          <a:noFill/>
          <a:ln>
            <a:noFill/>
          </a:ln>
        </p:spPr>
        <p:txBody>
          <a:bodyPr anchor="b"/>
          <a:lstStyle/>
          <a:p>
            <a:pPr algn="ctr">
              <a:lnSpc>
                <a:spcPct val="90000"/>
              </a:lnSpc>
            </a:pPr>
            <a:r>
              <a:rPr lang="zh-TW" sz="6000" b="0" strike="noStrike" spc="-1">
                <a:solidFill>
                  <a:srgbClr val="000000"/>
                </a:solidFill>
                <a:latin typeface="Calibri Light"/>
              </a:rPr>
              <a:t>Thank you!</a:t>
            </a:r>
            <a:endParaRPr lang="zh-TW" sz="600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441</Words>
  <Application>Microsoft Office PowerPoint</Application>
  <PresentationFormat>寬螢幕</PresentationFormat>
  <Paragraphs>45</Paragraphs>
  <Slides>14</Slides>
  <Notes>5</Notes>
  <HiddenSlides>0</HiddenSlides>
  <MMClips>0</MMClips>
  <ScaleCrop>false</ScaleCrop>
  <HeadingPairs>
    <vt:vector size="6" baseType="variant">
      <vt:variant>
        <vt:lpstr>使用字型</vt:lpstr>
      </vt:variant>
      <vt:variant>
        <vt:i4>8</vt:i4>
      </vt:variant>
      <vt:variant>
        <vt:lpstr>佈景主題</vt:lpstr>
      </vt:variant>
      <vt:variant>
        <vt:i4>3</vt:i4>
      </vt:variant>
      <vt:variant>
        <vt:lpstr>投影片標題</vt:lpstr>
      </vt:variant>
      <vt:variant>
        <vt:i4>14</vt:i4>
      </vt:variant>
    </vt:vector>
  </HeadingPairs>
  <TitlesOfParts>
    <vt:vector size="25" baseType="lpstr">
      <vt:lpstr>NimbusRomNo9L</vt:lpstr>
      <vt:lpstr>rtxbsc</vt:lpstr>
      <vt:lpstr>Arial</vt:lpstr>
      <vt:lpstr>Calibri</vt:lpstr>
      <vt:lpstr>Calibri Light</vt:lpstr>
      <vt:lpstr>Symbol</vt:lpstr>
      <vt:lpstr>Times New Roman</vt:lpstr>
      <vt:lpstr>Wingdings</vt:lpstr>
      <vt:lpstr>Office Theme</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M073040105</dc:creator>
  <cp:lastModifiedBy>pplab</cp:lastModifiedBy>
  <cp:revision>36</cp:revision>
  <dcterms:created xsi:type="dcterms:W3CDTF">2021-01-05T08:34:18Z</dcterms:created>
  <dcterms:modified xsi:type="dcterms:W3CDTF">2021-01-05T11:44:11Z</dcterms:modified>
</cp:coreProperties>
</file>