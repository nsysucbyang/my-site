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48" r:id="rId1"/>
  </p:sldMasterIdLst>
  <p:notesMasterIdLst>
    <p:notesMasterId r:id="rId19"/>
  </p:notesMasterIdLst>
  <p:sldIdLst>
    <p:sldId id="256" r:id="rId2"/>
    <p:sldId id="257" r:id="rId3"/>
    <p:sldId id="258" r:id="rId4"/>
    <p:sldId id="260" r:id="rId5"/>
    <p:sldId id="259" r:id="rId6"/>
    <p:sldId id="261" r:id="rId7"/>
    <p:sldId id="263" r:id="rId8"/>
    <p:sldId id="262" r:id="rId9"/>
    <p:sldId id="266" r:id="rId10"/>
    <p:sldId id="265" r:id="rId11"/>
    <p:sldId id="267" r:id="rId12"/>
    <p:sldId id="264" r:id="rId13"/>
    <p:sldId id="268" r:id="rId14"/>
    <p:sldId id="269" r:id="rId15"/>
    <p:sldId id="271" r:id="rId16"/>
    <p:sldId id="272" r:id="rId17"/>
    <p:sldId id="270" r:id="rId18"/>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50"/>
  </p:normalViewPr>
  <p:slideViewPr>
    <p:cSldViewPr snapToGrid="0" snapToObjects="1">
      <p:cViewPr>
        <p:scale>
          <a:sx n="33" d="100"/>
          <a:sy n="33" d="100"/>
        </p:scale>
        <p:origin x="2154" y="82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A45559-0BFE-4344-9B65-AF2AA4340070}" type="datetimeFigureOut">
              <a:rPr kumimoji="1" lang="zh-TW" altLang="en-US" smtClean="0"/>
              <a:t>2021/4/20</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43E2FF-3FFC-0943-9A0D-A0B13F46FECA}" type="slidenum">
              <a:rPr kumimoji="1" lang="zh-TW" altLang="en-US" smtClean="0"/>
              <a:t>‹#›</a:t>
            </a:fld>
            <a:endParaRPr kumimoji="1" lang="zh-TW" altLang="en-US"/>
          </a:p>
        </p:txBody>
      </p:sp>
    </p:spTree>
    <p:extLst>
      <p:ext uri="{BB962C8B-B14F-4D97-AF65-F5344CB8AC3E}">
        <p14:creationId xmlns:p14="http://schemas.microsoft.com/office/powerpoint/2010/main" val="3121076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99CACA6-C67C-E541-892B-44D0091E4B35}"/>
              </a:ext>
            </a:extLst>
          </p:cNvPr>
          <p:cNvSpPr>
            <a:spLocks noGrp="1"/>
          </p:cNvSpPr>
          <p:nvPr>
            <p:ph type="ctrTitle"/>
          </p:nvPr>
        </p:nvSpPr>
        <p:spPr>
          <a:xfrm>
            <a:off x="1524000" y="1122363"/>
            <a:ext cx="9144000" cy="2387600"/>
          </a:xfrm>
        </p:spPr>
        <p:txBody>
          <a:bodyPr anchor="b"/>
          <a:lstStyle>
            <a:lvl1pPr algn="ctr">
              <a:defRPr sz="6000">
                <a:latin typeface="Times New Roman" panose="02020603050405020304" pitchFamily="18" charset="0"/>
                <a:cs typeface="Times New Roman" panose="02020603050405020304" pitchFamily="18" charset="0"/>
              </a:defRPr>
            </a:lvl1pPr>
          </a:lstStyle>
          <a:p>
            <a:r>
              <a:rPr kumimoji="1" lang="zh-TW" altLang="en-US" dirty="0"/>
              <a:t>按一下以編輯母片標題樣式</a:t>
            </a:r>
          </a:p>
        </p:txBody>
      </p:sp>
      <p:sp>
        <p:nvSpPr>
          <p:cNvPr id="3" name="副標題 2">
            <a:extLst>
              <a:ext uri="{FF2B5EF4-FFF2-40B4-BE49-F238E27FC236}">
                <a16:creationId xmlns:a16="http://schemas.microsoft.com/office/drawing/2014/main" id="{11CC1734-2905-E64F-A631-54B4414165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dirty="0"/>
              <a:t>按一下以編輯母片子標題樣式</a:t>
            </a:r>
          </a:p>
        </p:txBody>
      </p:sp>
      <p:sp>
        <p:nvSpPr>
          <p:cNvPr id="4" name="日期版面配置區 3">
            <a:extLst>
              <a:ext uri="{FF2B5EF4-FFF2-40B4-BE49-F238E27FC236}">
                <a16:creationId xmlns:a16="http://schemas.microsoft.com/office/drawing/2014/main" id="{E52928DA-44E4-074F-8536-26603EBDA3A5}"/>
              </a:ext>
            </a:extLst>
          </p:cNvPr>
          <p:cNvSpPr>
            <a:spLocks noGrp="1"/>
          </p:cNvSpPr>
          <p:nvPr>
            <p:ph type="dt" sz="half" idx="10"/>
          </p:nvPr>
        </p:nvSpPr>
        <p:spPr/>
        <p:txBody>
          <a:bodyPr/>
          <a:lstStyle/>
          <a:p>
            <a:fld id="{F8D94305-8CA1-9449-A556-67D5085A7FA1}" type="datetime1">
              <a:rPr kumimoji="1" lang="zh-TW" altLang="en-US" smtClean="0"/>
              <a:t>2021/4/20</a:t>
            </a:fld>
            <a:endParaRPr kumimoji="1" lang="zh-TW" altLang="en-US"/>
          </a:p>
        </p:txBody>
      </p:sp>
      <p:sp>
        <p:nvSpPr>
          <p:cNvPr id="5" name="頁尾版面配置區 4">
            <a:extLst>
              <a:ext uri="{FF2B5EF4-FFF2-40B4-BE49-F238E27FC236}">
                <a16:creationId xmlns:a16="http://schemas.microsoft.com/office/drawing/2014/main" id="{FCCB0FA4-ABBE-BA4C-8404-566B691D00D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136B4FD5-66AB-9441-90B5-4BBD60219EE6}"/>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3481404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870AF28-EC81-FE4B-89D9-F2E8D07FC024}"/>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7F8F01FE-63E4-B148-8F63-BA8CC19DF1BE}"/>
              </a:ext>
            </a:extLst>
          </p:cNvPr>
          <p:cNvSpPr>
            <a:spLocks noGrp="1"/>
          </p:cNvSpPr>
          <p:nvPr>
            <p:ph idx="1"/>
          </p:nvPr>
        </p:nvSpPr>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3CDDCB10-D67B-2F49-9257-3F53E655A9C1}"/>
              </a:ext>
            </a:extLst>
          </p:cNvPr>
          <p:cNvSpPr>
            <a:spLocks noGrp="1"/>
          </p:cNvSpPr>
          <p:nvPr>
            <p:ph type="dt" sz="half" idx="10"/>
          </p:nvPr>
        </p:nvSpPr>
        <p:spPr/>
        <p:txBody>
          <a:bodyPr/>
          <a:lstStyle/>
          <a:p>
            <a:fld id="{045A69C4-18F5-3B4F-9726-B61210AF53BB}" type="datetime1">
              <a:rPr kumimoji="1" lang="zh-TW" altLang="en-US" smtClean="0"/>
              <a:t>2021/4/20</a:t>
            </a:fld>
            <a:endParaRPr kumimoji="1" lang="zh-TW" altLang="en-US"/>
          </a:p>
        </p:txBody>
      </p:sp>
      <p:sp>
        <p:nvSpPr>
          <p:cNvPr id="5" name="頁尾版面配置區 4">
            <a:extLst>
              <a:ext uri="{FF2B5EF4-FFF2-40B4-BE49-F238E27FC236}">
                <a16:creationId xmlns:a16="http://schemas.microsoft.com/office/drawing/2014/main" id="{FE383F78-9598-D74D-9292-89EFE69D19A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ABD1EF3F-2214-5B47-9FDA-094F6F6F1A36}"/>
              </a:ext>
            </a:extLst>
          </p:cNvPr>
          <p:cNvSpPr>
            <a:spLocks noGrp="1"/>
          </p:cNvSpPr>
          <p:nvPr>
            <p:ph type="sldNum" sz="quarter" idx="12"/>
          </p:nvPr>
        </p:nvSpPr>
        <p:spPr/>
        <p:txBody>
          <a:bodyPr/>
          <a:lstStyle>
            <a:lvl1pPr>
              <a:defRPr sz="1600">
                <a:solidFill>
                  <a:schemeClr val="tx1">
                    <a:lumMod val="50000"/>
                    <a:lumOff val="50000"/>
                  </a:schemeClr>
                </a:solidFill>
                <a:latin typeface="Times New Roman" panose="02020603050405020304" pitchFamily="18" charset="0"/>
                <a:cs typeface="Times New Roman" panose="02020603050405020304" pitchFamily="18" charset="0"/>
              </a:defRPr>
            </a:lvl1pPr>
          </a:lstStyle>
          <a:p>
            <a:fld id="{45AB94F7-1CE9-3B41-8002-0A2CB67662D8}" type="slidenum">
              <a:rPr kumimoji="1" lang="zh-TW" altLang="en-US" smtClean="0"/>
              <a:pPr/>
              <a:t>‹#›</a:t>
            </a:fld>
            <a:endParaRPr kumimoji="1" lang="zh-TW" altLang="en-US" dirty="0"/>
          </a:p>
        </p:txBody>
      </p:sp>
    </p:spTree>
    <p:extLst>
      <p:ext uri="{BB962C8B-B14F-4D97-AF65-F5344CB8AC3E}">
        <p14:creationId xmlns:p14="http://schemas.microsoft.com/office/powerpoint/2010/main" val="23392861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40EA4F2-2540-1244-B139-F15C25B79C46}"/>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C2C54D3C-13C8-6242-8D0C-509D676810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TW" altLang="en-US"/>
              <a:t>按一下以編輯母片文字樣式</a:t>
            </a:r>
          </a:p>
        </p:txBody>
      </p:sp>
      <p:sp>
        <p:nvSpPr>
          <p:cNvPr id="4" name="日期版面配置區 3">
            <a:extLst>
              <a:ext uri="{FF2B5EF4-FFF2-40B4-BE49-F238E27FC236}">
                <a16:creationId xmlns:a16="http://schemas.microsoft.com/office/drawing/2014/main" id="{59742759-9CB6-6844-818C-D784DC9DDBEB}"/>
              </a:ext>
            </a:extLst>
          </p:cNvPr>
          <p:cNvSpPr>
            <a:spLocks noGrp="1"/>
          </p:cNvSpPr>
          <p:nvPr>
            <p:ph type="dt" sz="half" idx="10"/>
          </p:nvPr>
        </p:nvSpPr>
        <p:spPr/>
        <p:txBody>
          <a:bodyPr/>
          <a:lstStyle/>
          <a:p>
            <a:fld id="{3C11A6B9-6F66-C749-9323-08ACCB0475DF}" type="datetime1">
              <a:rPr kumimoji="1" lang="zh-TW" altLang="en-US" smtClean="0"/>
              <a:t>2021/4/20</a:t>
            </a:fld>
            <a:endParaRPr kumimoji="1" lang="zh-TW" altLang="en-US"/>
          </a:p>
        </p:txBody>
      </p:sp>
      <p:sp>
        <p:nvSpPr>
          <p:cNvPr id="5" name="頁尾版面配置區 4">
            <a:extLst>
              <a:ext uri="{FF2B5EF4-FFF2-40B4-BE49-F238E27FC236}">
                <a16:creationId xmlns:a16="http://schemas.microsoft.com/office/drawing/2014/main" id="{BAF6B2C8-E956-014A-989F-C4986EEC9705}"/>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14FE7166-F2BC-6E41-A489-D4F1F176A0D3}"/>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15980258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D5B0B7-A085-074E-8B77-3B759476B838}"/>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00DE2419-98D0-C748-9D81-FD99D10E893D}"/>
              </a:ext>
            </a:extLst>
          </p:cNvPr>
          <p:cNvSpPr>
            <a:spLocks noGrp="1"/>
          </p:cNvSpPr>
          <p:nvPr>
            <p:ph sz="half" idx="1"/>
          </p:nvPr>
        </p:nvSpPr>
        <p:spPr>
          <a:xfrm>
            <a:off x="838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a:extLst>
              <a:ext uri="{FF2B5EF4-FFF2-40B4-BE49-F238E27FC236}">
                <a16:creationId xmlns:a16="http://schemas.microsoft.com/office/drawing/2014/main" id="{9E7429AE-8C31-D64A-9CAF-84EF9D9F81FB}"/>
              </a:ext>
            </a:extLst>
          </p:cNvPr>
          <p:cNvSpPr>
            <a:spLocks noGrp="1"/>
          </p:cNvSpPr>
          <p:nvPr>
            <p:ph sz="half" idx="2"/>
          </p:nvPr>
        </p:nvSpPr>
        <p:spPr>
          <a:xfrm>
            <a:off x="6172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a:extLst>
              <a:ext uri="{FF2B5EF4-FFF2-40B4-BE49-F238E27FC236}">
                <a16:creationId xmlns:a16="http://schemas.microsoft.com/office/drawing/2014/main" id="{854F1935-3D64-C547-BE1F-E5DF5E3EAE39}"/>
              </a:ext>
            </a:extLst>
          </p:cNvPr>
          <p:cNvSpPr>
            <a:spLocks noGrp="1"/>
          </p:cNvSpPr>
          <p:nvPr>
            <p:ph type="dt" sz="half" idx="10"/>
          </p:nvPr>
        </p:nvSpPr>
        <p:spPr/>
        <p:txBody>
          <a:bodyPr/>
          <a:lstStyle/>
          <a:p>
            <a:fld id="{0D2A61A4-81BF-334B-8D80-CA36701FDA35}" type="datetime1">
              <a:rPr kumimoji="1" lang="zh-TW" altLang="en-US" smtClean="0"/>
              <a:t>2021/4/20</a:t>
            </a:fld>
            <a:endParaRPr kumimoji="1" lang="zh-TW" altLang="en-US"/>
          </a:p>
        </p:txBody>
      </p:sp>
      <p:sp>
        <p:nvSpPr>
          <p:cNvPr id="6" name="頁尾版面配置區 5">
            <a:extLst>
              <a:ext uri="{FF2B5EF4-FFF2-40B4-BE49-F238E27FC236}">
                <a16:creationId xmlns:a16="http://schemas.microsoft.com/office/drawing/2014/main" id="{712AB15C-9B5B-D44D-B16C-11EF813D9F62}"/>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25CFBA30-686E-724D-9244-E9E6440670BD}"/>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01584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312BDD6-FE7A-F545-960D-362C66F47353}"/>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07F6F60D-37BA-C242-9A1E-32FEB8CCCA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4" name="內容版面配置區 3">
            <a:extLst>
              <a:ext uri="{FF2B5EF4-FFF2-40B4-BE49-F238E27FC236}">
                <a16:creationId xmlns:a16="http://schemas.microsoft.com/office/drawing/2014/main" id="{E9BCDA43-0B87-A645-8BE0-2EA0C0A6B13B}"/>
              </a:ext>
            </a:extLst>
          </p:cNvPr>
          <p:cNvSpPr>
            <a:spLocks noGrp="1"/>
          </p:cNvSpPr>
          <p:nvPr>
            <p:ph sz="half" idx="2"/>
          </p:nvPr>
        </p:nvSpPr>
        <p:spPr>
          <a:xfrm>
            <a:off x="839788" y="2505075"/>
            <a:ext cx="5157787"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a:extLst>
              <a:ext uri="{FF2B5EF4-FFF2-40B4-BE49-F238E27FC236}">
                <a16:creationId xmlns:a16="http://schemas.microsoft.com/office/drawing/2014/main" id="{05D48957-078C-7444-A985-ACC5552F25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6" name="內容版面配置區 5">
            <a:extLst>
              <a:ext uri="{FF2B5EF4-FFF2-40B4-BE49-F238E27FC236}">
                <a16:creationId xmlns:a16="http://schemas.microsoft.com/office/drawing/2014/main" id="{4FEF868D-291B-394E-9BE2-D02FA1CD3C3D}"/>
              </a:ext>
            </a:extLst>
          </p:cNvPr>
          <p:cNvSpPr>
            <a:spLocks noGrp="1"/>
          </p:cNvSpPr>
          <p:nvPr>
            <p:ph sz="quarter" idx="4"/>
          </p:nvPr>
        </p:nvSpPr>
        <p:spPr>
          <a:xfrm>
            <a:off x="6172200" y="2505075"/>
            <a:ext cx="5183188"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a:extLst>
              <a:ext uri="{FF2B5EF4-FFF2-40B4-BE49-F238E27FC236}">
                <a16:creationId xmlns:a16="http://schemas.microsoft.com/office/drawing/2014/main" id="{1EA16361-4974-3C4E-9136-7688A755DDEC}"/>
              </a:ext>
            </a:extLst>
          </p:cNvPr>
          <p:cNvSpPr>
            <a:spLocks noGrp="1"/>
          </p:cNvSpPr>
          <p:nvPr>
            <p:ph type="dt" sz="half" idx="10"/>
          </p:nvPr>
        </p:nvSpPr>
        <p:spPr/>
        <p:txBody>
          <a:bodyPr/>
          <a:lstStyle/>
          <a:p>
            <a:fld id="{8C8A022A-5F93-5C4C-B16C-BEC73CEE6E54}" type="datetime1">
              <a:rPr kumimoji="1" lang="zh-TW" altLang="en-US" smtClean="0"/>
              <a:t>2021/4/20</a:t>
            </a:fld>
            <a:endParaRPr kumimoji="1" lang="zh-TW" altLang="en-US"/>
          </a:p>
        </p:txBody>
      </p:sp>
      <p:sp>
        <p:nvSpPr>
          <p:cNvPr id="8" name="頁尾版面配置區 7">
            <a:extLst>
              <a:ext uri="{FF2B5EF4-FFF2-40B4-BE49-F238E27FC236}">
                <a16:creationId xmlns:a16="http://schemas.microsoft.com/office/drawing/2014/main" id="{556ED032-8661-E941-88E1-00C96942095D}"/>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FB13C977-9E60-0840-8F60-2746A6806D96}"/>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779835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1B53D1F-CD49-4A47-8161-81E7049E7774}"/>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97BAD2FC-9DAA-7243-A022-A4F61BF19E06}"/>
              </a:ext>
            </a:extLst>
          </p:cNvPr>
          <p:cNvSpPr>
            <a:spLocks noGrp="1"/>
          </p:cNvSpPr>
          <p:nvPr>
            <p:ph type="dt" sz="half" idx="10"/>
          </p:nvPr>
        </p:nvSpPr>
        <p:spPr/>
        <p:txBody>
          <a:bodyPr/>
          <a:lstStyle/>
          <a:p>
            <a:fld id="{12C925CB-9510-9341-9576-9B12ECEC775E}" type="datetime1">
              <a:rPr kumimoji="1" lang="zh-TW" altLang="en-US" smtClean="0"/>
              <a:t>2021/4/20</a:t>
            </a:fld>
            <a:endParaRPr kumimoji="1" lang="zh-TW" altLang="en-US"/>
          </a:p>
        </p:txBody>
      </p:sp>
      <p:sp>
        <p:nvSpPr>
          <p:cNvPr id="4" name="頁尾版面配置區 3">
            <a:extLst>
              <a:ext uri="{FF2B5EF4-FFF2-40B4-BE49-F238E27FC236}">
                <a16:creationId xmlns:a16="http://schemas.microsoft.com/office/drawing/2014/main" id="{FB08567B-6FC5-FE42-99C1-56DE3E0EA82A}"/>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EDF5BEE7-69BC-3243-92F7-9D56CF1E4E0D}"/>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994566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C472B68F-CE5E-8E42-845E-216799E9332B}"/>
              </a:ext>
            </a:extLst>
          </p:cNvPr>
          <p:cNvSpPr>
            <a:spLocks noGrp="1"/>
          </p:cNvSpPr>
          <p:nvPr>
            <p:ph type="dt" sz="half" idx="10"/>
          </p:nvPr>
        </p:nvSpPr>
        <p:spPr/>
        <p:txBody>
          <a:bodyPr/>
          <a:lstStyle/>
          <a:p>
            <a:fld id="{9FC0CE8D-F82D-A84C-87DC-2C4A6AB68E2E}" type="datetime1">
              <a:rPr kumimoji="1" lang="zh-TW" altLang="en-US" smtClean="0"/>
              <a:t>2021/4/20</a:t>
            </a:fld>
            <a:endParaRPr kumimoji="1" lang="zh-TW" altLang="en-US"/>
          </a:p>
        </p:txBody>
      </p:sp>
      <p:sp>
        <p:nvSpPr>
          <p:cNvPr id="3" name="頁尾版面配置區 2">
            <a:extLst>
              <a:ext uri="{FF2B5EF4-FFF2-40B4-BE49-F238E27FC236}">
                <a16:creationId xmlns:a16="http://schemas.microsoft.com/office/drawing/2014/main" id="{0AE25D5B-72BF-8541-BB27-109E74F63A4A}"/>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A4D9627B-7493-DE49-BED1-D957B96B65C6}"/>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1052840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0D33F3F-E533-ED46-B706-B8230FBE3629}"/>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6923F0ED-E028-4D48-ACE1-92415A0E02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a:extLst>
              <a:ext uri="{FF2B5EF4-FFF2-40B4-BE49-F238E27FC236}">
                <a16:creationId xmlns:a16="http://schemas.microsoft.com/office/drawing/2014/main" id="{F9259B9D-B493-EE4A-8F83-9E517D43A3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B647DBB5-D8D1-9C4B-958E-74CA3C356597}"/>
              </a:ext>
            </a:extLst>
          </p:cNvPr>
          <p:cNvSpPr>
            <a:spLocks noGrp="1"/>
          </p:cNvSpPr>
          <p:nvPr>
            <p:ph type="dt" sz="half" idx="10"/>
          </p:nvPr>
        </p:nvSpPr>
        <p:spPr/>
        <p:txBody>
          <a:bodyPr/>
          <a:lstStyle/>
          <a:p>
            <a:fld id="{358C0FAD-89C5-7F43-A773-FAE777B2C9F1}" type="datetime1">
              <a:rPr kumimoji="1" lang="zh-TW" altLang="en-US" smtClean="0"/>
              <a:t>2021/4/20</a:t>
            </a:fld>
            <a:endParaRPr kumimoji="1" lang="zh-TW" altLang="en-US"/>
          </a:p>
        </p:txBody>
      </p:sp>
      <p:sp>
        <p:nvSpPr>
          <p:cNvPr id="6" name="頁尾版面配置區 5">
            <a:extLst>
              <a:ext uri="{FF2B5EF4-FFF2-40B4-BE49-F238E27FC236}">
                <a16:creationId xmlns:a16="http://schemas.microsoft.com/office/drawing/2014/main" id="{2DD9DD0B-97B7-7C48-9FAF-367CEFEAD760}"/>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1F04DAF6-0748-E746-B095-EDD0BFA0CD96}"/>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2344851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BB7AA03-AD9D-9B4F-BF9A-0D182E130373}"/>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40629E92-D1EC-7541-B377-00C9F825B7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TW" altLang="en-US"/>
          </a:p>
        </p:txBody>
      </p:sp>
      <p:sp>
        <p:nvSpPr>
          <p:cNvPr id="4" name="文字版面配置區 3">
            <a:extLst>
              <a:ext uri="{FF2B5EF4-FFF2-40B4-BE49-F238E27FC236}">
                <a16:creationId xmlns:a16="http://schemas.microsoft.com/office/drawing/2014/main" id="{49365C22-4E8D-5446-A436-EA77B69D7F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9B89063B-A0C5-524B-897E-9D14FAA16A3A}"/>
              </a:ext>
            </a:extLst>
          </p:cNvPr>
          <p:cNvSpPr>
            <a:spLocks noGrp="1"/>
          </p:cNvSpPr>
          <p:nvPr>
            <p:ph type="dt" sz="half" idx="10"/>
          </p:nvPr>
        </p:nvSpPr>
        <p:spPr/>
        <p:txBody>
          <a:bodyPr/>
          <a:lstStyle/>
          <a:p>
            <a:fld id="{C6BFB9B9-8EF2-A94F-98A1-225287ED6E40}" type="datetime1">
              <a:rPr kumimoji="1" lang="zh-TW" altLang="en-US" smtClean="0"/>
              <a:t>2021/4/20</a:t>
            </a:fld>
            <a:endParaRPr kumimoji="1" lang="zh-TW" altLang="en-US"/>
          </a:p>
        </p:txBody>
      </p:sp>
      <p:sp>
        <p:nvSpPr>
          <p:cNvPr id="6" name="頁尾版面配置區 5">
            <a:extLst>
              <a:ext uri="{FF2B5EF4-FFF2-40B4-BE49-F238E27FC236}">
                <a16:creationId xmlns:a16="http://schemas.microsoft.com/office/drawing/2014/main" id="{DFCC9C8F-50DB-0448-BAE3-DCD747D6EB24}"/>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8E76F315-F817-7046-B413-386F671772BC}"/>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7167390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CAAEEB8-BF61-0D4B-91E0-B11EF6EA06A8}"/>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B92FAE11-B217-A441-BF40-6E86BC48954F}"/>
              </a:ext>
            </a:extLst>
          </p:cNvPr>
          <p:cNvSpPr>
            <a:spLocks noGrp="1"/>
          </p:cNvSpPr>
          <p:nvPr>
            <p:ph type="body" orient="vert" idx="1"/>
          </p:nvPr>
        </p:nvSpPr>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B6718463-BF67-834B-B2DE-31F68E4528C2}"/>
              </a:ext>
            </a:extLst>
          </p:cNvPr>
          <p:cNvSpPr>
            <a:spLocks noGrp="1"/>
          </p:cNvSpPr>
          <p:nvPr>
            <p:ph type="dt" sz="half" idx="10"/>
          </p:nvPr>
        </p:nvSpPr>
        <p:spPr/>
        <p:txBody>
          <a:bodyPr/>
          <a:lstStyle/>
          <a:p>
            <a:fld id="{238B0978-9282-A443-81EE-087251DCE16D}" type="datetime1">
              <a:rPr kumimoji="1" lang="zh-TW" altLang="en-US" smtClean="0"/>
              <a:t>2021/4/20</a:t>
            </a:fld>
            <a:endParaRPr kumimoji="1" lang="zh-TW" altLang="en-US"/>
          </a:p>
        </p:txBody>
      </p:sp>
      <p:sp>
        <p:nvSpPr>
          <p:cNvPr id="5" name="頁尾版面配置區 4">
            <a:extLst>
              <a:ext uri="{FF2B5EF4-FFF2-40B4-BE49-F238E27FC236}">
                <a16:creationId xmlns:a16="http://schemas.microsoft.com/office/drawing/2014/main" id="{F594982C-896E-4149-99DD-209F8E8C0071}"/>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66603828-B8BB-9B4D-B2DF-DD10F4CAE81A}"/>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15649349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535947D6-AA8E-8847-82ED-F06115AA28F2}"/>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FF700A80-132C-4840-9A7C-C78D2A2400F3}"/>
              </a:ext>
            </a:extLst>
          </p:cNvPr>
          <p:cNvSpPr>
            <a:spLocks noGrp="1"/>
          </p:cNvSpPr>
          <p:nvPr>
            <p:ph type="body" orient="vert" idx="1"/>
          </p:nvPr>
        </p:nvSpPr>
        <p:spPr>
          <a:xfrm>
            <a:off x="838200" y="365125"/>
            <a:ext cx="7734300" cy="5811838"/>
          </a:xfrm>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8A617639-2B7B-124E-964F-8866AB88322E}"/>
              </a:ext>
            </a:extLst>
          </p:cNvPr>
          <p:cNvSpPr>
            <a:spLocks noGrp="1"/>
          </p:cNvSpPr>
          <p:nvPr>
            <p:ph type="dt" sz="half" idx="10"/>
          </p:nvPr>
        </p:nvSpPr>
        <p:spPr/>
        <p:txBody>
          <a:bodyPr/>
          <a:lstStyle/>
          <a:p>
            <a:fld id="{22108DF5-4A34-8D4B-8D26-525AA81604B2}" type="datetime1">
              <a:rPr kumimoji="1" lang="zh-TW" altLang="en-US" smtClean="0"/>
              <a:t>2021/4/20</a:t>
            </a:fld>
            <a:endParaRPr kumimoji="1" lang="zh-TW" altLang="en-US"/>
          </a:p>
        </p:txBody>
      </p:sp>
      <p:sp>
        <p:nvSpPr>
          <p:cNvPr id="5" name="頁尾版面配置區 4">
            <a:extLst>
              <a:ext uri="{FF2B5EF4-FFF2-40B4-BE49-F238E27FC236}">
                <a16:creationId xmlns:a16="http://schemas.microsoft.com/office/drawing/2014/main" id="{0438D0C4-A114-014D-8492-65B3EEDD1784}"/>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418114EB-9F4C-BE4F-9F99-D7A2DEEC2A60}"/>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6083713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73116FCC-9057-794F-A6BD-9239D68671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dirty="0"/>
              <a:t>按一下以編輯母片標題樣式</a:t>
            </a:r>
          </a:p>
        </p:txBody>
      </p:sp>
      <p:sp>
        <p:nvSpPr>
          <p:cNvPr id="3" name="文字版面配置區 2">
            <a:extLst>
              <a:ext uri="{FF2B5EF4-FFF2-40B4-BE49-F238E27FC236}">
                <a16:creationId xmlns:a16="http://schemas.microsoft.com/office/drawing/2014/main" id="{0F71D68C-1C2E-1C49-B4D5-25F62E8AE2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dirty="0"/>
              <a:t>按一下以編輯母片文字樣式</a:t>
            </a:r>
          </a:p>
          <a:p>
            <a:pPr lvl="1"/>
            <a:r>
              <a:rPr kumimoji="1" lang="zh-TW" altLang="en-US" dirty="0"/>
              <a:t>第二層</a:t>
            </a:r>
          </a:p>
          <a:p>
            <a:pPr lvl="2"/>
            <a:r>
              <a:rPr kumimoji="1" lang="zh-TW" altLang="en-US" dirty="0"/>
              <a:t>第三層</a:t>
            </a:r>
          </a:p>
          <a:p>
            <a:pPr lvl="3"/>
            <a:r>
              <a:rPr kumimoji="1" lang="zh-TW" altLang="en-US" dirty="0"/>
              <a:t>第四層</a:t>
            </a:r>
          </a:p>
          <a:p>
            <a:pPr lvl="4"/>
            <a:r>
              <a:rPr kumimoji="1" lang="zh-TW" altLang="en-US" dirty="0"/>
              <a:t>第五層</a:t>
            </a:r>
          </a:p>
        </p:txBody>
      </p:sp>
      <p:sp>
        <p:nvSpPr>
          <p:cNvPr id="4" name="日期版面配置區 3">
            <a:extLst>
              <a:ext uri="{FF2B5EF4-FFF2-40B4-BE49-F238E27FC236}">
                <a16:creationId xmlns:a16="http://schemas.microsoft.com/office/drawing/2014/main" id="{6ECE1990-52AC-F546-8798-90353A0395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A140CC-F999-A946-9373-08EAE304F3C9}" type="datetime1">
              <a:rPr kumimoji="1" lang="zh-TW" altLang="en-US" smtClean="0"/>
              <a:t>2021/4/20</a:t>
            </a:fld>
            <a:endParaRPr kumimoji="1" lang="zh-TW" altLang="en-US"/>
          </a:p>
        </p:txBody>
      </p:sp>
      <p:sp>
        <p:nvSpPr>
          <p:cNvPr id="5" name="頁尾版面配置區 4">
            <a:extLst>
              <a:ext uri="{FF2B5EF4-FFF2-40B4-BE49-F238E27FC236}">
                <a16:creationId xmlns:a16="http://schemas.microsoft.com/office/drawing/2014/main" id="{3EB22EAC-653F-C544-A1B0-BE186C1781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126F20A4-E6B9-D241-B29C-161E27408E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7974306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A1336C-440D-2E43-904F-AABB45E64E1E}"/>
              </a:ext>
            </a:extLst>
          </p:cNvPr>
          <p:cNvSpPr>
            <a:spLocks noGrp="1"/>
          </p:cNvSpPr>
          <p:nvPr>
            <p:ph type="ctrTitle"/>
          </p:nvPr>
        </p:nvSpPr>
        <p:spPr>
          <a:xfrm>
            <a:off x="251637" y="570380"/>
            <a:ext cx="11688726" cy="2840612"/>
          </a:xfrm>
        </p:spPr>
        <p:txBody>
          <a:bodyPr>
            <a:normAutofit/>
          </a:bodyPr>
          <a:lstStyle/>
          <a:p>
            <a:r>
              <a:rPr lang="en" altLang="zh-TW" sz="4800" dirty="0" err="1"/>
              <a:t>ProbPFP</a:t>
            </a:r>
            <a:r>
              <a:rPr lang="en" altLang="zh-TW" sz="4800" dirty="0"/>
              <a:t>: A Multiple Sequence</a:t>
            </a:r>
            <a:br>
              <a:rPr lang="en" altLang="zh-TW" sz="4800" dirty="0"/>
            </a:br>
            <a:r>
              <a:rPr lang="en" altLang="zh-TW" sz="4800" dirty="0"/>
              <a:t>Alignment Algorithm Combining Hidden Markov Model Optimized by Particle Swarm Optimization with Partition Function</a:t>
            </a:r>
          </a:p>
        </p:txBody>
      </p:sp>
      <p:sp>
        <p:nvSpPr>
          <p:cNvPr id="3" name="副標題 2">
            <a:extLst>
              <a:ext uri="{FF2B5EF4-FFF2-40B4-BE49-F238E27FC236}">
                <a16:creationId xmlns:a16="http://schemas.microsoft.com/office/drawing/2014/main" id="{FD611AA7-209A-4449-AB65-A25622930A66}"/>
              </a:ext>
            </a:extLst>
          </p:cNvPr>
          <p:cNvSpPr>
            <a:spLocks noGrp="1"/>
          </p:cNvSpPr>
          <p:nvPr>
            <p:ph type="subTitle" idx="1"/>
          </p:nvPr>
        </p:nvSpPr>
        <p:spPr>
          <a:xfrm>
            <a:off x="1524000" y="3835953"/>
            <a:ext cx="9144000" cy="2637019"/>
          </a:xfrm>
        </p:spPr>
        <p:txBody>
          <a:bodyPr>
            <a:normAutofit/>
          </a:bodyPr>
          <a:lstStyle/>
          <a:p>
            <a:r>
              <a:rPr kumimoji="1" lang="en" altLang="zh-TW" dirty="0">
                <a:latin typeface="Times New Roman" panose="02020603050405020304" pitchFamily="18" charset="0"/>
                <a:cs typeface="Times New Roman" panose="02020603050405020304" pitchFamily="18" charset="0"/>
              </a:rPr>
              <a:t>Qing Zhan, Nan Wang, </a:t>
            </a:r>
            <a:r>
              <a:rPr kumimoji="1" lang="en" altLang="zh-TW" dirty="0" err="1">
                <a:latin typeface="Times New Roman" panose="02020603050405020304" pitchFamily="18" charset="0"/>
                <a:cs typeface="Times New Roman" panose="02020603050405020304" pitchFamily="18" charset="0"/>
              </a:rPr>
              <a:t>Shuilin</a:t>
            </a:r>
            <a:r>
              <a:rPr kumimoji="1" lang="en" altLang="zh-TW" dirty="0">
                <a:latin typeface="Times New Roman" panose="02020603050405020304" pitchFamily="18" charset="0"/>
                <a:cs typeface="Times New Roman" panose="02020603050405020304" pitchFamily="18" charset="0"/>
              </a:rPr>
              <a:t> </a:t>
            </a:r>
            <a:r>
              <a:rPr kumimoji="1" lang="en" altLang="zh-TW" dirty="0" err="1">
                <a:latin typeface="Times New Roman" panose="02020603050405020304" pitchFamily="18" charset="0"/>
                <a:cs typeface="Times New Roman" panose="02020603050405020304" pitchFamily="18" charset="0"/>
              </a:rPr>
              <a:t>Jin</a:t>
            </a:r>
            <a:r>
              <a:rPr kumimoji="1" lang="en" altLang="zh-TW" dirty="0">
                <a:latin typeface="Times New Roman" panose="02020603050405020304" pitchFamily="18" charset="0"/>
                <a:cs typeface="Times New Roman" panose="02020603050405020304" pitchFamily="18" charset="0"/>
              </a:rPr>
              <a:t>,</a:t>
            </a:r>
          </a:p>
          <a:p>
            <a:r>
              <a:rPr kumimoji="1" lang="en" altLang="zh-TW" dirty="0" err="1">
                <a:latin typeface="Times New Roman" panose="02020603050405020304" pitchFamily="18" charset="0"/>
                <a:cs typeface="Times New Roman" panose="02020603050405020304" pitchFamily="18" charset="0"/>
              </a:rPr>
              <a:t>Renjie</a:t>
            </a:r>
            <a:r>
              <a:rPr kumimoji="1" lang="en" altLang="zh-TW" dirty="0">
                <a:latin typeface="Times New Roman" panose="02020603050405020304" pitchFamily="18" charset="0"/>
                <a:cs typeface="Times New Roman" panose="02020603050405020304" pitchFamily="18" charset="0"/>
              </a:rPr>
              <a:t> Tan, </a:t>
            </a:r>
            <a:r>
              <a:rPr kumimoji="1" lang="en" altLang="zh-TW" dirty="0" err="1">
                <a:latin typeface="Times New Roman" panose="02020603050405020304" pitchFamily="18" charset="0"/>
                <a:cs typeface="Times New Roman" panose="02020603050405020304" pitchFamily="18" charset="0"/>
              </a:rPr>
              <a:t>Qinghua</a:t>
            </a:r>
            <a:r>
              <a:rPr kumimoji="1" lang="en" altLang="zh-TW" dirty="0">
                <a:latin typeface="Times New Roman" panose="02020603050405020304" pitchFamily="18" charset="0"/>
                <a:cs typeface="Times New Roman" panose="02020603050405020304" pitchFamily="18" charset="0"/>
              </a:rPr>
              <a:t> Jiang, </a:t>
            </a:r>
            <a:r>
              <a:rPr kumimoji="1" lang="en" altLang="zh-TW" dirty="0" err="1">
                <a:latin typeface="Times New Roman" panose="02020603050405020304" pitchFamily="18" charset="0"/>
                <a:cs typeface="Times New Roman" panose="02020603050405020304" pitchFamily="18" charset="0"/>
              </a:rPr>
              <a:t>Yadong</a:t>
            </a:r>
            <a:r>
              <a:rPr kumimoji="1" lang="en" altLang="zh-TW" dirty="0">
                <a:latin typeface="Times New Roman" panose="02020603050405020304" pitchFamily="18" charset="0"/>
                <a:cs typeface="Times New Roman" panose="02020603050405020304" pitchFamily="18" charset="0"/>
              </a:rPr>
              <a:t> Wang</a:t>
            </a:r>
          </a:p>
          <a:p>
            <a:endParaRPr kumimoji="1" lang="en" altLang="zh-TW" dirty="0">
              <a:latin typeface="Times New Roman" panose="02020603050405020304" pitchFamily="18" charset="0"/>
              <a:cs typeface="Times New Roman" panose="02020603050405020304" pitchFamily="18" charset="0"/>
            </a:endParaRPr>
          </a:p>
          <a:p>
            <a:r>
              <a:rPr kumimoji="1" lang="en" altLang="zh-TW" dirty="0">
                <a:latin typeface="Times New Roman" panose="02020603050405020304" pitchFamily="18" charset="0"/>
                <a:cs typeface="Times New Roman" panose="02020603050405020304" pitchFamily="18" charset="0"/>
              </a:rPr>
              <a:t>BMC Bioinformatics, 2019</a:t>
            </a:r>
          </a:p>
          <a:p>
            <a:r>
              <a:rPr kumimoji="1" lang="en" altLang="zh-TW" dirty="0">
                <a:latin typeface="Times New Roman" panose="02020603050405020304" pitchFamily="18" charset="0"/>
                <a:cs typeface="Times New Roman" panose="02020603050405020304" pitchFamily="18" charset="0"/>
              </a:rPr>
              <a:t>Volume 20, Supplement 18, Article number: 573</a:t>
            </a:r>
            <a:endParaRPr kumimoji="1" lang="zh-TW" altLang="en-US"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BF1141FC-B145-834E-9139-2A899AB73EAA}"/>
              </a:ext>
            </a:extLst>
          </p:cNvPr>
          <p:cNvSpPr txBox="1"/>
          <p:nvPr/>
        </p:nvSpPr>
        <p:spPr>
          <a:xfrm>
            <a:off x="9165265" y="5826642"/>
            <a:ext cx="2491964" cy="646331"/>
          </a:xfrm>
          <a:prstGeom prst="rect">
            <a:avLst/>
          </a:prstGeom>
          <a:noFill/>
        </p:spPr>
        <p:txBody>
          <a:bodyPr wrap="none" rtlCol="0">
            <a:spAutoFit/>
          </a:bodyPr>
          <a:lstStyle/>
          <a:p>
            <a:pPr algn="r"/>
            <a:r>
              <a:rPr kumimoji="1" lang="en" altLang="zh-TW" dirty="0">
                <a:latin typeface="Times New Roman" panose="02020603050405020304" pitchFamily="18" charset="0"/>
                <a:cs typeface="Times New Roman" panose="02020603050405020304" pitchFamily="18" charset="0"/>
              </a:rPr>
              <a:t>Presenter:  Tsung-Lin Lu</a:t>
            </a:r>
          </a:p>
          <a:p>
            <a:pPr algn="r"/>
            <a:r>
              <a:rPr kumimoji="1" lang="en" altLang="zh-TW" dirty="0">
                <a:latin typeface="Times New Roman" panose="02020603050405020304" pitchFamily="18" charset="0"/>
                <a:cs typeface="Times New Roman" panose="02020603050405020304" pitchFamily="18" charset="0"/>
              </a:rPr>
              <a:t>Date: Apr. 20, 2021</a:t>
            </a:r>
            <a:endParaRPr kumimoji="1"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523347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Abstract (1/2)</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a:normAutofit/>
          </a:bodyPr>
          <a:lstStyle/>
          <a:p>
            <a:pPr marL="0" indent="0" algn="just">
              <a:buNone/>
            </a:pPr>
            <a:r>
              <a:rPr kumimoji="1" lang="en" altLang="zh-TW" dirty="0">
                <a:latin typeface="Times New Roman" panose="02020603050405020304" pitchFamily="18" charset="0"/>
                <a:cs typeface="Times New Roman" panose="02020603050405020304" pitchFamily="18" charset="0"/>
              </a:rPr>
              <a:t>During procedures for conducting multiple sequence alignment, that is so essential to use the substitution score of pairwise alignment. To compute adaptive scores for alignment, researchers usually use Hidden Markov Model or probabilistic consistency methods such as partition function. Recent studies show that optimizing the parameters for hidden Markov model, as well as integrating hidden Markov model with partition function can raise the accuracy of alignment. The combination of partition function and optimized HMM, which could further improve the alignment’s accuracy, however, was ignored by these researches.</a:t>
            </a: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a:t>
            </a:fld>
            <a:endParaRPr kumimoji="1" lang="zh-TW" altLang="en-US"/>
          </a:p>
        </p:txBody>
      </p:sp>
    </p:spTree>
    <p:extLst>
      <p:ext uri="{BB962C8B-B14F-4D97-AF65-F5344CB8AC3E}">
        <p14:creationId xmlns:p14="http://schemas.microsoft.com/office/powerpoint/2010/main" val="73669004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Abstract (2/2)</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a:xfrm>
            <a:off x="838200" y="1825625"/>
            <a:ext cx="10515600" cy="4895850"/>
          </a:xfrm>
        </p:spPr>
        <p:txBody>
          <a:bodyPr>
            <a:normAutofit/>
          </a:bodyPr>
          <a:lstStyle/>
          <a:p>
            <a:pPr marL="0" indent="0" algn="just">
              <a:buNone/>
            </a:pPr>
            <a:r>
              <a:rPr kumimoji="1" lang="en" altLang="zh-TW" dirty="0">
                <a:latin typeface="Times New Roman" panose="02020603050405020304" pitchFamily="18" charset="0"/>
                <a:cs typeface="Times New Roman" panose="02020603050405020304" pitchFamily="18" charset="0"/>
              </a:rPr>
              <a:t>A novel algorithm for MSA called </a:t>
            </a:r>
            <a:r>
              <a:rPr kumimoji="1" lang="en" altLang="zh-TW" dirty="0" err="1">
                <a:latin typeface="Times New Roman" panose="02020603050405020304" pitchFamily="18" charset="0"/>
                <a:cs typeface="Times New Roman" panose="02020603050405020304" pitchFamily="18" charset="0"/>
              </a:rPr>
              <a:t>ProbPFP</a:t>
            </a:r>
            <a:r>
              <a:rPr kumimoji="1" lang="en" altLang="zh-TW" dirty="0">
                <a:latin typeface="Times New Roman" panose="02020603050405020304" pitchFamily="18" charset="0"/>
                <a:cs typeface="Times New Roman" panose="02020603050405020304" pitchFamily="18" charset="0"/>
              </a:rPr>
              <a:t> is presented in this paper. It </a:t>
            </a:r>
            <a:r>
              <a:rPr kumimoji="1" lang="en" altLang="zh-TW" dirty="0" err="1">
                <a:latin typeface="Times New Roman" panose="02020603050405020304" pitchFamily="18" charset="0"/>
                <a:cs typeface="Times New Roman" panose="02020603050405020304" pitchFamily="18" charset="0"/>
              </a:rPr>
              <a:t>intergrate</a:t>
            </a:r>
            <a:r>
              <a:rPr kumimoji="1" lang="en" altLang="zh-TW" dirty="0">
                <a:latin typeface="Times New Roman" panose="02020603050405020304" pitchFamily="18" charset="0"/>
                <a:cs typeface="Times New Roman" panose="02020603050405020304" pitchFamily="18" charset="0"/>
              </a:rPr>
              <a:t> optimized HMM by </a:t>
            </a:r>
            <a:r>
              <a:rPr kumimoji="1" lang="en" altLang="zh-TW" b="1" dirty="0">
                <a:latin typeface="Times New Roman" panose="02020603050405020304" pitchFamily="18" charset="0"/>
                <a:cs typeface="Times New Roman" panose="02020603050405020304" pitchFamily="18" charset="0"/>
              </a:rPr>
              <a:t>particle swarm</a:t>
            </a:r>
            <a:r>
              <a:rPr kumimoji="1" lang="en" altLang="zh-TW" dirty="0">
                <a:latin typeface="Times New Roman" panose="02020603050405020304" pitchFamily="18" charset="0"/>
                <a:cs typeface="Times New Roman" panose="02020603050405020304" pitchFamily="18" charset="0"/>
              </a:rPr>
              <a:t> with partition function. The algorithm of PSO was applied to optimize HMM’s parameters. After that, the posterior probability obtained by the HMM was combined with the one obtained by partition function, and thus to calculate an integrated substitution score for alignment.</a:t>
            </a:r>
          </a:p>
          <a:p>
            <a:pPr marL="0" indent="0" algn="just">
              <a:buNone/>
            </a:pPr>
            <a:r>
              <a:rPr kumimoji="1" lang="en" altLang="zh-TW" dirty="0">
                <a:latin typeface="Times New Roman" panose="02020603050405020304" pitchFamily="18" charset="0"/>
                <a:cs typeface="Times New Roman" panose="02020603050405020304" pitchFamily="18" charset="0"/>
              </a:rPr>
              <a:t>We propose a new multiple sequence alignment method combining </a:t>
            </a:r>
            <a:r>
              <a:rPr kumimoji="1" lang="en" altLang="zh-TW" b="1" dirty="0">
                <a:latin typeface="Times New Roman" panose="02020603050405020304" pitchFamily="18" charset="0"/>
                <a:cs typeface="Times New Roman" panose="02020603050405020304" pitchFamily="18" charset="0"/>
              </a:rPr>
              <a:t>optimized HMM</a:t>
            </a:r>
            <a:r>
              <a:rPr kumimoji="1" lang="en" altLang="zh-TW" dirty="0">
                <a:latin typeface="Times New Roman" panose="02020603050405020304" pitchFamily="18" charset="0"/>
                <a:cs typeface="Times New Roman" panose="02020603050405020304" pitchFamily="18" charset="0"/>
              </a:rPr>
              <a:t> and </a:t>
            </a:r>
            <a:r>
              <a:rPr kumimoji="1" lang="en" altLang="zh-TW" b="1" dirty="0">
                <a:latin typeface="Times New Roman" panose="02020603050405020304" pitchFamily="18" charset="0"/>
                <a:cs typeface="Times New Roman" panose="02020603050405020304" pitchFamily="18" charset="0"/>
              </a:rPr>
              <a:t>partition function </a:t>
            </a:r>
            <a:r>
              <a:rPr kumimoji="1" lang="en" altLang="zh-TW" dirty="0">
                <a:latin typeface="Times New Roman" panose="02020603050405020304" pitchFamily="18" charset="0"/>
                <a:cs typeface="Times New Roman" panose="02020603050405020304" pitchFamily="18" charset="0"/>
              </a:rPr>
              <a:t>in this paper. The performance validates this method could make a great improvement of the alignment’s accuracy.</a:t>
            </a:r>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2</a:t>
            </a:fld>
            <a:endParaRPr kumimoji="1" lang="zh-TW" altLang="en-US"/>
          </a:p>
        </p:txBody>
      </p:sp>
    </p:spTree>
    <p:extLst>
      <p:ext uri="{BB962C8B-B14F-4D97-AF65-F5344CB8AC3E}">
        <p14:creationId xmlns:p14="http://schemas.microsoft.com/office/powerpoint/2010/main" val="95886456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Outline</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Posterior probability</a:t>
            </a:r>
          </a:p>
          <a:p>
            <a:r>
              <a:rPr kumimoji="1" lang="en-US" altLang="zh-TW" dirty="0">
                <a:latin typeface="Times New Roman" panose="02020603050405020304" pitchFamily="18" charset="0"/>
                <a:cs typeface="Times New Roman" panose="02020603050405020304" pitchFamily="18" charset="0"/>
              </a:rPr>
              <a:t>Partition function</a:t>
            </a:r>
          </a:p>
          <a:p>
            <a:r>
              <a:rPr kumimoji="1" lang="en" altLang="zh-TW" dirty="0">
                <a:latin typeface="Times New Roman" panose="02020603050405020304" pitchFamily="18" charset="0"/>
                <a:cs typeface="Times New Roman" panose="02020603050405020304" pitchFamily="18" charset="0"/>
              </a:rPr>
              <a:t>Particle swarm optimization</a:t>
            </a:r>
          </a:p>
          <a:p>
            <a:r>
              <a:rPr kumimoji="1" lang="en" altLang="zh-TW" dirty="0">
                <a:latin typeface="Times New Roman" panose="02020603050405020304" pitchFamily="18" charset="0"/>
                <a:cs typeface="Times New Roman" panose="02020603050405020304" pitchFamily="18" charset="0"/>
              </a:rPr>
              <a:t>Pair-hidden Markov model </a:t>
            </a:r>
          </a:p>
          <a:p>
            <a:endParaRPr kumimoji="1" lang="en" altLang="zh-TW" dirty="0">
              <a:latin typeface="Times New Roman" panose="02020603050405020304" pitchFamily="18" charset="0"/>
              <a:cs typeface="Times New Roman" panose="02020603050405020304" pitchFamily="18" charset="0"/>
            </a:endParaRPr>
          </a:p>
          <a:p>
            <a:r>
              <a:rPr kumimoji="1" lang="en" altLang="zh-TW" dirty="0">
                <a:latin typeface="Times New Roman" panose="02020603050405020304" pitchFamily="18" charset="0"/>
                <a:cs typeface="Times New Roman" panose="02020603050405020304" pitchFamily="18" charset="0"/>
              </a:rPr>
              <a:t>Progressive alignment</a:t>
            </a:r>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3</a:t>
            </a:fld>
            <a:endParaRPr kumimoji="1" lang="zh-TW" altLang="en-US"/>
          </a:p>
        </p:txBody>
      </p:sp>
    </p:spTree>
    <p:extLst>
      <p:ext uri="{BB962C8B-B14F-4D97-AF65-F5344CB8AC3E}">
        <p14:creationId xmlns:p14="http://schemas.microsoft.com/office/powerpoint/2010/main" val="114941543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Framework of </a:t>
            </a:r>
            <a:r>
              <a:rPr kumimoji="1" lang="en-US" altLang="zh-TW" dirty="0" err="1"/>
              <a:t>ProbPFP</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4</a:t>
            </a:fld>
            <a:endParaRPr kumimoji="1" lang="zh-TW" altLang="en-US"/>
          </a:p>
        </p:txBody>
      </p:sp>
      <p:pic>
        <p:nvPicPr>
          <p:cNvPr id="1026" name="Picture 2" descr="Fig. 1">
            <a:extLst>
              <a:ext uri="{FF2B5EF4-FFF2-40B4-BE49-F238E27FC236}">
                <a16:creationId xmlns:a16="http://schemas.microsoft.com/office/drawing/2014/main" id="{B507C30D-0E5A-9244-A8CD-9455BC74C90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47547"/>
          <a:stretch/>
        </p:blipFill>
        <p:spPr bwMode="auto">
          <a:xfrm>
            <a:off x="252044" y="1457790"/>
            <a:ext cx="6424798" cy="489856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Fig. 1">
            <a:extLst>
              <a:ext uri="{FF2B5EF4-FFF2-40B4-BE49-F238E27FC236}">
                <a16:creationId xmlns:a16="http://schemas.microsoft.com/office/drawing/2014/main" id="{53902FCB-DE60-DC43-8498-BFB1B26E00B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2608" r="27033"/>
          <a:stretch/>
        </p:blipFill>
        <p:spPr bwMode="auto">
          <a:xfrm>
            <a:off x="7019432" y="1457790"/>
            <a:ext cx="5055610" cy="4772889"/>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a:extLst>
              <a:ext uri="{FF2B5EF4-FFF2-40B4-BE49-F238E27FC236}">
                <a16:creationId xmlns:a16="http://schemas.microsoft.com/office/drawing/2014/main" id="{527C820B-6203-BF42-A3D7-B086069F5DCE}"/>
              </a:ext>
            </a:extLst>
          </p:cNvPr>
          <p:cNvSpPr/>
          <p:nvPr/>
        </p:nvSpPr>
        <p:spPr>
          <a:xfrm>
            <a:off x="1630995" y="6308079"/>
            <a:ext cx="4181786" cy="461665"/>
          </a:xfrm>
          <a:prstGeom prst="rect">
            <a:avLst/>
          </a:prstGeom>
        </p:spPr>
        <p:txBody>
          <a:bodyPr wrap="none">
            <a:spAutoFit/>
          </a:bodyPr>
          <a:lstStyle/>
          <a:p>
            <a:r>
              <a:rPr kumimoji="1" lang="en-US" altLang="zh-TW" sz="2400" b="1" dirty="0">
                <a:solidFill>
                  <a:srgbClr val="FF0000"/>
                </a:solidFill>
                <a:latin typeface="Times New Roman" panose="02020603050405020304" pitchFamily="18" charset="0"/>
                <a:cs typeface="Times New Roman" panose="02020603050405020304" pitchFamily="18" charset="0"/>
              </a:rPr>
              <a:t>(a) Rebuilt substitution scores </a:t>
            </a:r>
            <a:endParaRPr lang="zh-TW" altLang="en-US" sz="2400" b="1" dirty="0">
              <a:solidFill>
                <a:srgbClr val="FF0000"/>
              </a:solidFill>
            </a:endParaRPr>
          </a:p>
        </p:txBody>
      </p:sp>
      <p:sp>
        <p:nvSpPr>
          <p:cNvPr id="12" name="矩形 11">
            <a:extLst>
              <a:ext uri="{FF2B5EF4-FFF2-40B4-BE49-F238E27FC236}">
                <a16:creationId xmlns:a16="http://schemas.microsoft.com/office/drawing/2014/main" id="{1BB84BA1-975A-9B41-93F3-74A68C0DF026}"/>
              </a:ext>
            </a:extLst>
          </p:cNvPr>
          <p:cNvSpPr/>
          <p:nvPr/>
        </p:nvSpPr>
        <p:spPr>
          <a:xfrm>
            <a:off x="6969893" y="6262042"/>
            <a:ext cx="4314860" cy="461665"/>
          </a:xfrm>
          <a:prstGeom prst="rect">
            <a:avLst/>
          </a:prstGeom>
        </p:spPr>
        <p:txBody>
          <a:bodyPr wrap="square">
            <a:spAutoFit/>
          </a:bodyPr>
          <a:lstStyle/>
          <a:p>
            <a:r>
              <a:rPr kumimoji="1" lang="en-US" altLang="zh-TW" sz="2400" dirty="0">
                <a:latin typeface="Times New Roman" panose="02020603050405020304" pitchFamily="18" charset="0"/>
                <a:cs typeface="Times New Roman" panose="02020603050405020304" pitchFamily="18" charset="0"/>
              </a:rPr>
              <a:t>(b) Multiple Sequence Alignment</a:t>
            </a:r>
            <a:endParaRPr lang="zh-TW" altLang="en-US" sz="2400" dirty="0"/>
          </a:p>
        </p:txBody>
      </p:sp>
    </p:spTree>
    <p:extLst>
      <p:ext uri="{BB962C8B-B14F-4D97-AF65-F5344CB8AC3E}">
        <p14:creationId xmlns:p14="http://schemas.microsoft.com/office/powerpoint/2010/main" val="44639273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Posterior probability</a:t>
            </a: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a:xfrm>
                <a:off x="3551275" y="1825625"/>
                <a:ext cx="7036981" cy="4351338"/>
              </a:xfrm>
            </p:spPr>
            <p:txBody>
              <a:bodyPr/>
              <a:lstStyle/>
              <a:p>
                <a:r>
                  <a:rPr kumimoji="1" lang="zh-TW" altLang="en-US" b="1" dirty="0">
                    <a:latin typeface="Times New Roman" panose="02020603050405020304" pitchFamily="18" charset="0"/>
                    <a:cs typeface="Times New Roman" panose="02020603050405020304" pitchFamily="18" charset="0"/>
                  </a:rPr>
                  <a:t>事後機率 ∝ 事前機率 </a:t>
                </a:r>
                <a:r>
                  <a:rPr kumimoji="1" lang="en-US" altLang="zh-TW" b="1" dirty="0">
                    <a:latin typeface="Times New Roman" panose="02020603050405020304" pitchFamily="18" charset="0"/>
                    <a:cs typeface="Times New Roman" panose="02020603050405020304" pitchFamily="18" charset="0"/>
                  </a:rPr>
                  <a:t>× </a:t>
                </a:r>
                <a:r>
                  <a:rPr kumimoji="1" lang="zh-TW" altLang="en-US" b="1" dirty="0">
                    <a:latin typeface="Times New Roman" panose="02020603050405020304" pitchFamily="18" charset="0"/>
                    <a:cs typeface="Times New Roman" panose="02020603050405020304" pitchFamily="18" charset="0"/>
                  </a:rPr>
                  <a:t>可能性</a:t>
                </a:r>
                <a:endParaRPr kumimoji="1" lang="en-US" altLang="zh-TW" b="1" dirty="0">
                  <a:latin typeface="Times New Roman" panose="02020603050405020304" pitchFamily="18" charset="0"/>
                  <a:cs typeface="Times New Roman" panose="02020603050405020304" pitchFamily="18" charset="0"/>
                </a:endParaRPr>
              </a:p>
              <a:p>
                <a:r>
                  <a:rPr kumimoji="1" lang="zh-TW" altLang="en-US" dirty="0">
                    <a:latin typeface="Times New Roman" panose="02020603050405020304" pitchFamily="18" charset="0"/>
                    <a:cs typeface="Times New Roman" panose="02020603050405020304" pitchFamily="18" charset="0"/>
                  </a:rPr>
                  <a:t>如：看到穿褲子，為女性的機率？</a:t>
                </a:r>
                <a:endParaRPr kumimoji="1" lang="en-US" altLang="zh-TW" dirty="0">
                  <a:latin typeface="Times New Roman" panose="02020603050405020304" pitchFamily="18" charset="0"/>
                  <a:cs typeface="Times New Roman" panose="02020603050405020304" pitchFamily="18" charset="0"/>
                </a:endParaRPr>
              </a:p>
              <a:p>
                <a14:m>
                  <m:oMath xmlns:m="http://schemas.openxmlformats.org/officeDocument/2006/math">
                    <m:f>
                      <m:fPr>
                        <m:ctrlPr>
                          <a:rPr kumimoji="1" lang="en-US" altLang="zh-TW" i="1" smtClean="0">
                            <a:latin typeface="Cambria Math" panose="02040503050406030204" pitchFamily="18" charset="0"/>
                            <a:cs typeface="Times New Roman" panose="02020603050405020304" pitchFamily="18" charset="0"/>
                          </a:rPr>
                        </m:ctrlPr>
                      </m:fPr>
                      <m:num>
                        <m:r>
                          <a:rPr kumimoji="1" lang="en-US" altLang="zh-TW" b="0" i="1" smtClean="0">
                            <a:latin typeface="Cambria Math" panose="02040503050406030204" pitchFamily="18" charset="0"/>
                            <a:cs typeface="Times New Roman" panose="02020603050405020304" pitchFamily="18" charset="0"/>
                          </a:rPr>
                          <m:t>0.5 </m:t>
                        </m:r>
                        <m: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t>× 0.4</m:t>
                        </m:r>
                      </m:num>
                      <m:den>
                        <m:r>
                          <a:rPr kumimoji="1" lang="en-US" altLang="zh-TW" b="0" i="1" smtClean="0">
                            <a:latin typeface="Cambria Math" panose="02040503050406030204" pitchFamily="18" charset="0"/>
                            <a:cs typeface="Times New Roman" panose="02020603050405020304" pitchFamily="18" charset="0"/>
                          </a:rPr>
                          <m:t>0.8</m:t>
                        </m:r>
                      </m:den>
                    </m:f>
                    <m:r>
                      <a:rPr kumimoji="1" lang="en-US" altLang="zh-TW" b="0" i="1" smtClean="0">
                        <a:latin typeface="Cambria Math" panose="02040503050406030204" pitchFamily="18" charset="0"/>
                        <a:cs typeface="Times New Roman" panose="02020603050405020304" pitchFamily="18" charset="0"/>
                      </a:rPr>
                      <m:t>=0.2</m:t>
                    </m:r>
                  </m:oMath>
                </a14:m>
                <a:r>
                  <a:rPr kumimoji="1" lang="en-US" altLang="zh-TW" dirty="0">
                    <a:latin typeface="Times New Roman" panose="02020603050405020304" pitchFamily="18" charset="0"/>
                    <a:cs typeface="Times New Roman" panose="02020603050405020304" pitchFamily="18" charset="0"/>
                  </a:rPr>
                  <a:t>5</a:t>
                </a:r>
              </a:p>
            </p:txBody>
          </p:sp>
        </mc:Choice>
        <mc:Fallback xmlns="">
          <p:sp>
            <p:nvSpPr>
              <p:cNvPr id="3" name="內容版面配置區 2">
                <a:extLst>
                  <a:ext uri="{FF2B5EF4-FFF2-40B4-BE49-F238E27FC236}">
                    <a16:creationId xmlns:a16="http://schemas.microsoft.com/office/drawing/2014/main" id="{98C395C6-3EBC-4D47-9C22-52A1E36DD1C0}"/>
                  </a:ext>
                </a:extLst>
              </p:cNvPr>
              <p:cNvSpPr>
                <a:spLocks noGrp="1" noRot="1" noChangeAspect="1" noMove="1" noResize="1" noEditPoints="1" noAdjustHandles="1" noChangeArrowheads="1" noChangeShapeType="1" noTextEdit="1"/>
              </p:cNvSpPr>
              <p:nvPr>
                <p:ph idx="1"/>
              </p:nvPr>
            </p:nvSpPr>
            <p:spPr>
              <a:xfrm>
                <a:off x="3551275" y="1825625"/>
                <a:ext cx="7036981" cy="4351338"/>
              </a:xfrm>
              <a:blipFill>
                <a:blip r:embed="rId2"/>
                <a:stretch>
                  <a:fillRect l="-1441" t="-2907"/>
                </a:stretch>
              </a:blipFill>
            </p:spPr>
            <p:txBody>
              <a:bodyPr/>
              <a:lstStyle/>
              <a:p>
                <a:r>
                  <a:rPr lang="zh-TW" altLang="en-US">
                    <a:noFill/>
                  </a:rPr>
                  <a:t> </a:t>
                </a:r>
              </a:p>
            </p:txBody>
          </p:sp>
        </mc:Fallback>
      </mc:AlternateContent>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5</a:t>
            </a:fld>
            <a:endParaRPr kumimoji="1" lang="zh-TW" altLang="en-US" dirty="0"/>
          </a:p>
        </p:txBody>
      </p:sp>
      <p:pic>
        <p:nvPicPr>
          <p:cNvPr id="1026" name="Picture 2" descr="Fig. 1">
            <a:extLst>
              <a:ext uri="{FF2B5EF4-FFF2-40B4-BE49-F238E27FC236}">
                <a16:creationId xmlns:a16="http://schemas.microsoft.com/office/drawing/2014/main" id="{B507C30D-0E5A-9244-A8CD-9455BC74C90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67285" b="48839"/>
          <a:stretch/>
        </p:blipFill>
        <p:spPr bwMode="auto">
          <a:xfrm>
            <a:off x="838200" y="1509890"/>
            <a:ext cx="2192079" cy="4982985"/>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a:extLst>
              <a:ext uri="{FF2B5EF4-FFF2-40B4-BE49-F238E27FC236}">
                <a16:creationId xmlns:a16="http://schemas.microsoft.com/office/drawing/2014/main" id="{E66B5153-81C8-884C-8342-9191C2128BCF}"/>
              </a:ext>
            </a:extLst>
          </p:cNvPr>
          <p:cNvSpPr/>
          <p:nvPr/>
        </p:nvSpPr>
        <p:spPr>
          <a:xfrm>
            <a:off x="1073888" y="4157330"/>
            <a:ext cx="1488559" cy="744279"/>
          </a:xfrm>
          <a:prstGeom prst="rect">
            <a:avLst/>
          </a:prstGeom>
          <a:noFill/>
          <a:ln w="762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aphicFrame>
        <p:nvGraphicFramePr>
          <p:cNvPr id="8" name="表格 8">
            <a:extLst>
              <a:ext uri="{FF2B5EF4-FFF2-40B4-BE49-F238E27FC236}">
                <a16:creationId xmlns:a16="http://schemas.microsoft.com/office/drawing/2014/main" id="{038CC6B8-7127-864E-AD33-C1F76377475E}"/>
              </a:ext>
            </a:extLst>
          </p:cNvPr>
          <p:cNvGraphicFramePr>
            <a:graphicFrameLocks noGrp="1"/>
          </p:cNvGraphicFramePr>
          <p:nvPr>
            <p:extLst>
              <p:ext uri="{D42A27DB-BD31-4B8C-83A1-F6EECF244321}">
                <p14:modId xmlns:p14="http://schemas.microsoft.com/office/powerpoint/2010/main" val="1537480812"/>
              </p:ext>
            </p:extLst>
          </p:nvPr>
        </p:nvGraphicFramePr>
        <p:xfrm>
          <a:off x="3624817" y="3668233"/>
          <a:ext cx="5603358" cy="2824641"/>
        </p:xfrm>
        <a:graphic>
          <a:graphicData uri="http://schemas.openxmlformats.org/drawingml/2006/table">
            <a:tbl>
              <a:tblPr firstRow="1" bandRow="1">
                <a:tableStyleId>{5940675A-B579-460E-94D1-54222C63F5DA}</a:tableStyleId>
              </a:tblPr>
              <a:tblGrid>
                <a:gridCol w="1867786">
                  <a:extLst>
                    <a:ext uri="{9D8B030D-6E8A-4147-A177-3AD203B41FA5}">
                      <a16:colId xmlns:a16="http://schemas.microsoft.com/office/drawing/2014/main" val="3752106289"/>
                    </a:ext>
                  </a:extLst>
                </a:gridCol>
                <a:gridCol w="1867786">
                  <a:extLst>
                    <a:ext uri="{9D8B030D-6E8A-4147-A177-3AD203B41FA5}">
                      <a16:colId xmlns:a16="http://schemas.microsoft.com/office/drawing/2014/main" val="1003145837"/>
                    </a:ext>
                  </a:extLst>
                </a:gridCol>
                <a:gridCol w="1867786">
                  <a:extLst>
                    <a:ext uri="{9D8B030D-6E8A-4147-A177-3AD203B41FA5}">
                      <a16:colId xmlns:a16="http://schemas.microsoft.com/office/drawing/2014/main" val="2665103367"/>
                    </a:ext>
                  </a:extLst>
                </a:gridCol>
              </a:tblGrid>
              <a:tr h="941547">
                <a:tc>
                  <a:txBody>
                    <a:bodyPr/>
                    <a:lstStyle/>
                    <a:p>
                      <a:pPr algn="ctr"/>
                      <a:endParaRPr lang="zh-TW" altLang="en-US" sz="2400" dirty="0">
                        <a:latin typeface="Times New Roman" panose="02020603050405020304" pitchFamily="18" charset="0"/>
                        <a:ea typeface="+mn-ea"/>
                        <a:cs typeface="Times New Roman" panose="02020603050405020304" pitchFamily="18" charset="0"/>
                      </a:endParaRPr>
                    </a:p>
                  </a:txBody>
                  <a:tcPr anchor="ctr"/>
                </a:tc>
                <a:tc>
                  <a:txBody>
                    <a:bodyPr/>
                    <a:lstStyle/>
                    <a:p>
                      <a:pPr algn="ctr"/>
                      <a:r>
                        <a:rPr lang="zh-TW" altLang="en-US" sz="2400" dirty="0">
                          <a:latin typeface="Times New Roman" panose="02020603050405020304" pitchFamily="18" charset="0"/>
                          <a:ea typeface="+mn-ea"/>
                          <a:cs typeface="Times New Roman" panose="02020603050405020304" pitchFamily="18" charset="0"/>
                        </a:rPr>
                        <a:t>穿褲子</a:t>
                      </a:r>
                    </a:p>
                  </a:txBody>
                  <a:tcPr anchor="ctr"/>
                </a:tc>
                <a:tc>
                  <a:txBody>
                    <a:bodyPr/>
                    <a:lstStyle/>
                    <a:p>
                      <a:pPr algn="ctr"/>
                      <a:r>
                        <a:rPr lang="zh-TW" altLang="en-US" sz="2400" dirty="0">
                          <a:latin typeface="Times New Roman" panose="02020603050405020304" pitchFamily="18" charset="0"/>
                          <a:ea typeface="+mn-ea"/>
                          <a:cs typeface="Times New Roman" panose="02020603050405020304" pitchFamily="18" charset="0"/>
                        </a:rPr>
                        <a:t>穿裙子</a:t>
                      </a:r>
                    </a:p>
                  </a:txBody>
                  <a:tcPr anchor="ctr"/>
                </a:tc>
                <a:extLst>
                  <a:ext uri="{0D108BD9-81ED-4DB2-BD59-A6C34878D82A}">
                    <a16:rowId xmlns:a16="http://schemas.microsoft.com/office/drawing/2014/main" val="2002028964"/>
                  </a:ext>
                </a:extLst>
              </a:tr>
              <a:tr h="941547">
                <a:tc>
                  <a:txBody>
                    <a:bodyPr/>
                    <a:lstStyle/>
                    <a:p>
                      <a:pPr algn="ctr"/>
                      <a:r>
                        <a:rPr lang="zh-TW" altLang="en-US" sz="2400" dirty="0">
                          <a:latin typeface="Times New Roman" panose="02020603050405020304" pitchFamily="18" charset="0"/>
                          <a:ea typeface="+mn-ea"/>
                          <a:cs typeface="Times New Roman" panose="02020603050405020304" pitchFamily="18" charset="0"/>
                        </a:rPr>
                        <a:t>男</a:t>
                      </a:r>
                      <a:r>
                        <a:rPr lang="en-US" altLang="zh-TW" sz="2400" dirty="0">
                          <a:latin typeface="Times New Roman" panose="02020603050405020304" pitchFamily="18" charset="0"/>
                          <a:ea typeface="+mn-ea"/>
                          <a:cs typeface="Times New Roman" panose="02020603050405020304" pitchFamily="18" charset="0"/>
                        </a:rPr>
                        <a:t>(0.6)</a:t>
                      </a:r>
                      <a:endParaRPr lang="zh-TW" altLang="en-US" sz="2400" dirty="0">
                        <a:latin typeface="Times New Roman" panose="02020603050405020304" pitchFamily="18" charset="0"/>
                        <a:ea typeface="+mn-ea"/>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ea typeface="+mn-ea"/>
                          <a:cs typeface="Times New Roman" panose="02020603050405020304" pitchFamily="18" charset="0"/>
                        </a:rPr>
                        <a:t>1</a:t>
                      </a:r>
                    </a:p>
                    <a:p>
                      <a:pPr algn="ctr"/>
                      <a:r>
                        <a:rPr lang="en-US" altLang="zh-TW" sz="2400" dirty="0">
                          <a:latin typeface="Times New Roman" panose="02020603050405020304" pitchFamily="18" charset="0"/>
                          <a:ea typeface="+mn-ea"/>
                          <a:cs typeface="Times New Roman" panose="02020603050405020304" pitchFamily="18" charset="0"/>
                        </a:rPr>
                        <a:t>(0.6*1=0.6)</a:t>
                      </a:r>
                      <a:endParaRPr lang="zh-TW" altLang="en-US" sz="2400" dirty="0">
                        <a:latin typeface="Times New Roman" panose="02020603050405020304" pitchFamily="18" charset="0"/>
                        <a:ea typeface="+mn-ea"/>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ea typeface="+mn-ea"/>
                          <a:cs typeface="Times New Roman" panose="02020603050405020304" pitchFamily="18" charset="0"/>
                        </a:rPr>
                        <a:t>0</a:t>
                      </a:r>
                    </a:p>
                    <a:p>
                      <a:pPr algn="ctr"/>
                      <a:r>
                        <a:rPr lang="en-US" altLang="zh-TW" sz="2400" dirty="0">
                          <a:latin typeface="Times New Roman" panose="02020603050405020304" pitchFamily="18" charset="0"/>
                          <a:ea typeface="+mn-ea"/>
                          <a:cs typeface="Times New Roman" panose="02020603050405020304" pitchFamily="18" charset="0"/>
                        </a:rPr>
                        <a:t>(0.6*0=0)</a:t>
                      </a:r>
                      <a:endParaRPr lang="zh-TW" altLang="en-US" sz="2400" dirty="0">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3672688307"/>
                  </a:ext>
                </a:extLst>
              </a:tr>
              <a:tr h="941547">
                <a:tc>
                  <a:txBody>
                    <a:bodyPr/>
                    <a:lstStyle/>
                    <a:p>
                      <a:pPr algn="ctr"/>
                      <a:r>
                        <a:rPr lang="zh-TW" altLang="en-US" sz="2400" dirty="0">
                          <a:latin typeface="Times New Roman" panose="02020603050405020304" pitchFamily="18" charset="0"/>
                          <a:ea typeface="+mn-ea"/>
                          <a:cs typeface="Times New Roman" panose="02020603050405020304" pitchFamily="18" charset="0"/>
                        </a:rPr>
                        <a:t>女</a:t>
                      </a:r>
                      <a:r>
                        <a:rPr lang="en-US" altLang="zh-TW" sz="2400" dirty="0">
                          <a:latin typeface="Times New Roman" panose="02020603050405020304" pitchFamily="18" charset="0"/>
                          <a:ea typeface="+mn-ea"/>
                          <a:cs typeface="Times New Roman" panose="02020603050405020304" pitchFamily="18" charset="0"/>
                        </a:rPr>
                        <a:t>(0.4)</a:t>
                      </a:r>
                      <a:endParaRPr lang="zh-TW" altLang="en-US" sz="2400" dirty="0">
                        <a:latin typeface="Times New Roman" panose="02020603050405020304" pitchFamily="18" charset="0"/>
                        <a:ea typeface="+mn-ea"/>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ea typeface="+mn-ea"/>
                          <a:cs typeface="Times New Roman" panose="02020603050405020304" pitchFamily="18" charset="0"/>
                        </a:rPr>
                        <a:t>0.5</a:t>
                      </a:r>
                    </a:p>
                    <a:p>
                      <a:pPr algn="ctr"/>
                      <a:r>
                        <a:rPr lang="en-US" altLang="zh-TW" sz="2400" dirty="0">
                          <a:latin typeface="Times New Roman" panose="02020603050405020304" pitchFamily="18" charset="0"/>
                          <a:ea typeface="+mn-ea"/>
                          <a:cs typeface="Times New Roman" panose="02020603050405020304" pitchFamily="18" charset="0"/>
                        </a:rPr>
                        <a:t>(0.4*0.5=0.2)</a:t>
                      </a:r>
                      <a:endParaRPr lang="zh-TW" altLang="en-US" sz="2400" dirty="0">
                        <a:latin typeface="Times New Roman" panose="02020603050405020304" pitchFamily="18" charset="0"/>
                        <a:ea typeface="+mn-ea"/>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ea typeface="+mn-ea"/>
                          <a:cs typeface="Times New Roman" panose="02020603050405020304" pitchFamily="18" charset="0"/>
                        </a:rPr>
                        <a:t>0.5</a:t>
                      </a:r>
                    </a:p>
                    <a:p>
                      <a:pPr algn="ctr"/>
                      <a:r>
                        <a:rPr lang="en-US" altLang="zh-TW" sz="2400" dirty="0">
                          <a:latin typeface="Times New Roman" panose="02020603050405020304" pitchFamily="18" charset="0"/>
                          <a:ea typeface="+mn-ea"/>
                          <a:cs typeface="Times New Roman" panose="02020603050405020304" pitchFamily="18" charset="0"/>
                        </a:rPr>
                        <a:t>(0.4*0.5=0.2)</a:t>
                      </a:r>
                      <a:endParaRPr lang="zh-TW" altLang="en-US" sz="2400" dirty="0">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452043993"/>
                  </a:ext>
                </a:extLst>
              </a:tr>
            </a:tbl>
          </a:graphicData>
        </a:graphic>
      </p:graphicFrame>
    </p:spTree>
    <p:extLst>
      <p:ext uri="{BB962C8B-B14F-4D97-AF65-F5344CB8AC3E}">
        <p14:creationId xmlns:p14="http://schemas.microsoft.com/office/powerpoint/2010/main" val="190367807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Partition function</a:t>
            </a: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6</a:t>
            </a:fld>
            <a:endParaRPr kumimoji="1" lang="zh-TW" altLang="en-US" dirty="0"/>
          </a:p>
        </p:txBody>
      </p:sp>
      <p:pic>
        <p:nvPicPr>
          <p:cNvPr id="1026" name="Picture 2" descr="Fig. 1">
            <a:extLst>
              <a:ext uri="{FF2B5EF4-FFF2-40B4-BE49-F238E27FC236}">
                <a16:creationId xmlns:a16="http://schemas.microsoft.com/office/drawing/2014/main" id="{B507C30D-0E5A-9244-A8CD-9455BC74C90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7285" b="48839"/>
          <a:stretch/>
        </p:blipFill>
        <p:spPr bwMode="auto">
          <a:xfrm>
            <a:off x="838200" y="1509890"/>
            <a:ext cx="2192079" cy="4982985"/>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a:extLst>
              <a:ext uri="{FF2B5EF4-FFF2-40B4-BE49-F238E27FC236}">
                <a16:creationId xmlns:a16="http://schemas.microsoft.com/office/drawing/2014/main" id="{E66B5153-81C8-884C-8342-9191C2128BCF}"/>
              </a:ext>
            </a:extLst>
          </p:cNvPr>
          <p:cNvSpPr/>
          <p:nvPr/>
        </p:nvSpPr>
        <p:spPr>
          <a:xfrm>
            <a:off x="1063256" y="3115338"/>
            <a:ext cx="1488559" cy="744279"/>
          </a:xfrm>
          <a:prstGeom prst="rect">
            <a:avLst/>
          </a:prstGeom>
          <a:noFill/>
          <a:ln w="762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mc:AlternateContent xmlns:mc="http://schemas.openxmlformats.org/markup-compatibility/2006" xmlns:a14="http://schemas.microsoft.com/office/drawing/2010/main">
        <mc:Choice Requires="a14">
          <p:sp>
            <p:nvSpPr>
              <p:cNvPr id="10" name="內容版面配置區 2">
                <a:extLst>
                  <a:ext uri="{FF2B5EF4-FFF2-40B4-BE49-F238E27FC236}">
                    <a16:creationId xmlns:a16="http://schemas.microsoft.com/office/drawing/2014/main" id="{63C38E96-16E7-8E42-92BD-2EF20337FA29}"/>
                  </a:ext>
                </a:extLst>
              </p:cNvPr>
              <p:cNvSpPr>
                <a:spLocks noGrp="1"/>
              </p:cNvSpPr>
              <p:nvPr>
                <p:ph idx="1"/>
              </p:nvPr>
            </p:nvSpPr>
            <p:spPr>
              <a:xfrm>
                <a:off x="3551275" y="1825625"/>
                <a:ext cx="7036981" cy="4351338"/>
              </a:xfrm>
            </p:spPr>
            <p:txBody>
              <a:bodyPr/>
              <a:lstStyle/>
              <a:p>
                <a:r>
                  <a:rPr kumimoji="1" lang="en-US" altLang="zh-TW" dirty="0">
                    <a:latin typeface="Times New Roman" panose="02020603050405020304" pitchFamily="18" charset="0"/>
                    <a:cs typeface="Times New Roman" panose="02020603050405020304" pitchFamily="18" charset="0"/>
                  </a:rPr>
                  <a:t>Boltzmann distribution</a:t>
                </a:r>
              </a:p>
              <a:p>
                <a14:m>
                  <m:oMath xmlns:m="http://schemas.openxmlformats.org/officeDocument/2006/math">
                    <m:r>
                      <a:rPr kumimoji="1" lang="en-US" altLang="zh-TW" b="0" i="1" smtClean="0">
                        <a:latin typeface="Cambria Math" panose="02040503050406030204" pitchFamily="18" charset="0"/>
                        <a:cs typeface="Times New Roman" panose="02020603050405020304" pitchFamily="18" charset="0"/>
                      </a:rPr>
                      <m:t>𝑃𝑖</m:t>
                    </m:r>
                    <m:r>
                      <a:rPr kumimoji="1" lang="en-US" altLang="zh-TW" b="0" i="1" smtClean="0">
                        <a:latin typeface="Cambria Math" panose="02040503050406030204" pitchFamily="18" charset="0"/>
                        <a:cs typeface="Times New Roman" panose="02020603050405020304" pitchFamily="18" charset="0"/>
                      </a:rPr>
                      <m:t>∝</m:t>
                    </m:r>
                    <m:sSup>
                      <m:sSupPr>
                        <m:ctrlPr>
                          <a:rPr kumimoji="1" lang="en-US" altLang="zh-TW" b="0" i="1" smtClean="0">
                            <a:latin typeface="Cambria Math" panose="02040503050406030204" pitchFamily="18" charset="0"/>
                            <a:cs typeface="Times New Roman" panose="02020603050405020304" pitchFamily="18" charset="0"/>
                          </a:rPr>
                        </m:ctrlPr>
                      </m:sSupPr>
                      <m:e>
                        <m:r>
                          <a:rPr kumimoji="1" lang="en-US" altLang="zh-TW" b="0" i="1" smtClean="0">
                            <a:latin typeface="Cambria Math" panose="02040503050406030204" pitchFamily="18" charset="0"/>
                            <a:cs typeface="Times New Roman" panose="02020603050405020304" pitchFamily="18" charset="0"/>
                          </a:rPr>
                          <m:t>𝑒</m:t>
                        </m:r>
                      </m:e>
                      <m:sup>
                        <m:f>
                          <m:fPr>
                            <m:ctrlPr>
                              <a:rPr kumimoji="1" lang="en-US" altLang="zh-TW" b="0" i="1" smtClean="0">
                                <a:latin typeface="Cambria Math" panose="02040503050406030204" pitchFamily="18" charset="0"/>
                                <a:cs typeface="Times New Roman" panose="02020603050405020304" pitchFamily="18" charset="0"/>
                              </a:rPr>
                            </m:ctrlPr>
                          </m:fPr>
                          <m:num>
                            <m:r>
                              <a:rPr kumimoji="1" lang="en-US" altLang="zh-TW" b="0" i="1" smtClean="0">
                                <a:latin typeface="Cambria Math" panose="02040503050406030204" pitchFamily="18" charset="0"/>
                                <a:cs typeface="Times New Roman" panose="02020603050405020304" pitchFamily="18" charset="0"/>
                              </a:rPr>
                              <m:t>−</m:t>
                            </m:r>
                            <m:r>
                              <a:rPr kumimoji="1" lang="en-US" altLang="zh-TW" b="0" i="1" smtClean="0">
                                <a:latin typeface="Cambria Math" panose="02040503050406030204" pitchFamily="18" charset="0"/>
                                <a:cs typeface="Times New Roman" panose="02020603050405020304" pitchFamily="18" charset="0"/>
                              </a:rPr>
                              <m:t>𝑒𝑛𝑒𝑟𝑔𝑦</m:t>
                            </m:r>
                          </m:num>
                          <m:den>
                            <m:r>
                              <a:rPr kumimoji="1" lang="en-US" altLang="zh-TW" b="0" i="1" smtClean="0">
                                <a:latin typeface="Cambria Math" panose="02040503050406030204" pitchFamily="18" charset="0"/>
                                <a:cs typeface="Times New Roman" panose="02020603050405020304" pitchFamily="18" charset="0"/>
                              </a:rPr>
                              <m:t>𝑘</m:t>
                            </m:r>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m:t>
                            </m:r>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𝑡𝑒𝑚𝑝𝑒𝑟𝑎𝑡𝑢𝑟𝑒</m:t>
                            </m:r>
                          </m:den>
                        </m:f>
                      </m:sup>
                    </m:sSup>
                  </m:oMath>
                </a14:m>
                <a:endParaRPr kumimoji="1" lang="en-US" altLang="zh-TW" dirty="0">
                  <a:latin typeface="Times New Roman" panose="02020603050405020304" pitchFamily="18" charset="0"/>
                  <a:cs typeface="Times New Roman" panose="02020603050405020304" pitchFamily="18" charset="0"/>
                </a:endParaRPr>
              </a:p>
              <a:p>
                <a:endParaRPr kumimoji="1" lang="en-US"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-energy = score</a:t>
                </a:r>
              </a:p>
              <a:p>
                <a:r>
                  <a:rPr kumimoji="1" lang="en-US" altLang="zh-TW" dirty="0">
                    <a:latin typeface="Times New Roman" panose="02020603050405020304" pitchFamily="18" charset="0"/>
                    <a:cs typeface="Times New Roman" panose="02020603050405020304" pitchFamily="18" charset="0"/>
                  </a:rPr>
                  <a:t>k*temperature = T</a:t>
                </a:r>
              </a:p>
              <a:p>
                <a:r>
                  <a:rPr kumimoji="1" lang="en-US" altLang="zh-TW" dirty="0">
                    <a:latin typeface="Times New Roman" panose="02020603050405020304" pitchFamily="18" charset="0"/>
                    <a:cs typeface="Times New Roman" panose="02020603050405020304" pitchFamily="18" charset="0"/>
                  </a:rPr>
                  <a:t>Posterior probability for partition function</a:t>
                </a:r>
              </a:p>
              <a:p>
                <a:endParaRPr kumimoji="1" lang="en-US" altLang="zh-TW" dirty="0">
                  <a:latin typeface="Times New Roman" panose="02020603050405020304" pitchFamily="18" charset="0"/>
                  <a:cs typeface="Times New Roman" panose="02020603050405020304" pitchFamily="18" charset="0"/>
                </a:endParaRPr>
              </a:p>
            </p:txBody>
          </p:sp>
        </mc:Choice>
        <mc:Fallback xmlns="">
          <p:sp>
            <p:nvSpPr>
              <p:cNvPr id="10" name="內容版面配置區 2">
                <a:extLst>
                  <a:ext uri="{FF2B5EF4-FFF2-40B4-BE49-F238E27FC236}">
                    <a16:creationId xmlns:a16="http://schemas.microsoft.com/office/drawing/2014/main" id="{63C38E96-16E7-8E42-92BD-2EF20337FA29}"/>
                  </a:ext>
                </a:extLst>
              </p:cNvPr>
              <p:cNvSpPr>
                <a:spLocks noGrp="1" noRot="1" noChangeAspect="1" noMove="1" noResize="1" noEditPoints="1" noAdjustHandles="1" noChangeArrowheads="1" noChangeShapeType="1" noTextEdit="1"/>
              </p:cNvSpPr>
              <p:nvPr>
                <p:ph idx="1"/>
              </p:nvPr>
            </p:nvSpPr>
            <p:spPr>
              <a:xfrm>
                <a:off x="3551275" y="1825625"/>
                <a:ext cx="7036981" cy="4351338"/>
              </a:xfrm>
              <a:blipFill>
                <a:blip r:embed="rId3"/>
                <a:stretch>
                  <a:fillRect l="-1441" t="-2326"/>
                </a:stretch>
              </a:blipFill>
            </p:spPr>
            <p:txBody>
              <a:bodyPr/>
              <a:lstStyle/>
              <a:p>
                <a:r>
                  <a:rPr lang="zh-TW" altLang="en-US">
                    <a:noFill/>
                  </a:rPr>
                  <a:t> </a:t>
                </a:r>
              </a:p>
            </p:txBody>
          </p:sp>
        </mc:Fallback>
      </mc:AlternateContent>
      <p:pic>
        <p:nvPicPr>
          <p:cNvPr id="11" name="圖片 10">
            <a:extLst>
              <a:ext uri="{FF2B5EF4-FFF2-40B4-BE49-F238E27FC236}">
                <a16:creationId xmlns:a16="http://schemas.microsoft.com/office/drawing/2014/main" id="{CC9F1AE1-89B8-2A42-8789-A9E8DE184E43}"/>
              </a:ext>
            </a:extLst>
          </p:cNvPr>
          <p:cNvPicPr>
            <a:picLocks noChangeAspect="1"/>
          </p:cNvPicPr>
          <p:nvPr/>
        </p:nvPicPr>
        <p:blipFill>
          <a:blip r:embed="rId4"/>
          <a:stretch>
            <a:fillRect/>
          </a:stretch>
        </p:blipFill>
        <p:spPr>
          <a:xfrm>
            <a:off x="3821223" y="5047457"/>
            <a:ext cx="5740400" cy="812800"/>
          </a:xfrm>
          <a:prstGeom prst="rect">
            <a:avLst/>
          </a:prstGeom>
        </p:spPr>
      </p:pic>
      <p:sp>
        <p:nvSpPr>
          <p:cNvPr id="12" name="矩形 11">
            <a:extLst>
              <a:ext uri="{FF2B5EF4-FFF2-40B4-BE49-F238E27FC236}">
                <a16:creationId xmlns:a16="http://schemas.microsoft.com/office/drawing/2014/main" id="{F99336AB-CF7C-6B49-BED7-85658048D772}"/>
              </a:ext>
            </a:extLst>
          </p:cNvPr>
          <p:cNvSpPr/>
          <p:nvPr/>
        </p:nvSpPr>
        <p:spPr>
          <a:xfrm>
            <a:off x="4347873" y="5897325"/>
            <a:ext cx="4583473" cy="369332"/>
          </a:xfrm>
          <a:prstGeom prst="rect">
            <a:avLst/>
          </a:prstGeom>
        </p:spPr>
        <p:txBody>
          <a:bodyPr wrap="square">
            <a:spAutoFit/>
          </a:bodyPr>
          <a:lstStyle/>
          <a:p>
            <a:r>
              <a:rPr kumimoji="1" lang="zh-TW" altLang="en-US" b="1" dirty="0">
                <a:latin typeface="Times New Roman" panose="02020603050405020304" pitchFamily="18" charset="0"/>
                <a:cs typeface="Times New Roman" panose="02020603050405020304" pitchFamily="18" charset="0"/>
              </a:rPr>
              <a:t>事後機率 </a:t>
            </a:r>
            <a:r>
              <a:rPr kumimoji="1" lang="en-US" altLang="zh-TW" b="1" dirty="0">
                <a:latin typeface="Times New Roman" panose="02020603050405020304" pitchFamily="18" charset="0"/>
                <a:cs typeface="Times New Roman" panose="02020603050405020304" pitchFamily="18" charset="0"/>
              </a:rPr>
              <a:t>     </a:t>
            </a:r>
            <a:r>
              <a:rPr kumimoji="1" lang="zh-TW" altLang="en-US" b="1" dirty="0">
                <a:latin typeface="Times New Roman" panose="02020603050405020304" pitchFamily="18" charset="0"/>
                <a:cs typeface="Times New Roman" panose="02020603050405020304" pitchFamily="18" charset="0"/>
              </a:rPr>
              <a:t>∝ </a:t>
            </a:r>
            <a:r>
              <a:rPr kumimoji="1" lang="en-US" altLang="zh-TW" b="1" dirty="0">
                <a:latin typeface="Times New Roman" panose="02020603050405020304" pitchFamily="18" charset="0"/>
                <a:cs typeface="Times New Roman" panose="02020603050405020304" pitchFamily="18" charset="0"/>
              </a:rPr>
              <a:t>     </a:t>
            </a:r>
            <a:r>
              <a:rPr kumimoji="1" lang="zh-TW" altLang="en-US" b="1" dirty="0">
                <a:latin typeface="Times New Roman" panose="02020603050405020304" pitchFamily="18" charset="0"/>
                <a:cs typeface="Times New Roman" panose="02020603050405020304" pitchFamily="18" charset="0"/>
              </a:rPr>
              <a:t>事前機率 </a:t>
            </a:r>
            <a:r>
              <a:rPr kumimoji="1" lang="en-US" altLang="zh-TW" b="1" dirty="0">
                <a:latin typeface="Times New Roman" panose="02020603050405020304" pitchFamily="18" charset="0"/>
                <a:cs typeface="Times New Roman" panose="02020603050405020304" pitchFamily="18" charset="0"/>
              </a:rPr>
              <a:t>× </a:t>
            </a:r>
            <a:r>
              <a:rPr kumimoji="1" lang="zh-TW" altLang="en-US" b="1" dirty="0">
                <a:latin typeface="Times New Roman" panose="02020603050405020304" pitchFamily="18" charset="0"/>
                <a:cs typeface="Times New Roman" panose="02020603050405020304" pitchFamily="18" charset="0"/>
              </a:rPr>
              <a:t>可能性</a:t>
            </a:r>
            <a:endParaRPr kumimoji="1" lang="en-US" altLang="zh-TW" b="1" dirty="0">
              <a:latin typeface="Times New Roman" panose="02020603050405020304" pitchFamily="18" charset="0"/>
              <a:cs typeface="Times New Roman" panose="02020603050405020304" pitchFamily="18" charset="0"/>
            </a:endParaRPr>
          </a:p>
        </p:txBody>
      </p:sp>
      <p:cxnSp>
        <p:nvCxnSpPr>
          <p:cNvPr id="14" name="直線接點 13">
            <a:extLst>
              <a:ext uri="{FF2B5EF4-FFF2-40B4-BE49-F238E27FC236}">
                <a16:creationId xmlns:a16="http://schemas.microsoft.com/office/drawing/2014/main" id="{6C7E72D3-0C74-DC41-BAA7-59847613F5E3}"/>
              </a:ext>
            </a:extLst>
          </p:cNvPr>
          <p:cNvCxnSpPr/>
          <p:nvPr/>
        </p:nvCxnSpPr>
        <p:spPr>
          <a:xfrm>
            <a:off x="6230679" y="6266657"/>
            <a:ext cx="818707"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6" name="直線接點 15">
            <a:extLst>
              <a:ext uri="{FF2B5EF4-FFF2-40B4-BE49-F238E27FC236}">
                <a16:creationId xmlns:a16="http://schemas.microsoft.com/office/drawing/2014/main" id="{BA180494-F3AF-B147-9773-D6FE190B0B93}"/>
              </a:ext>
            </a:extLst>
          </p:cNvPr>
          <p:cNvCxnSpPr>
            <a:cxnSpLocks/>
          </p:cNvCxnSpPr>
          <p:nvPr/>
        </p:nvCxnSpPr>
        <p:spPr>
          <a:xfrm>
            <a:off x="7414437" y="6266657"/>
            <a:ext cx="730103"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直線接點 17">
            <a:extLst>
              <a:ext uri="{FF2B5EF4-FFF2-40B4-BE49-F238E27FC236}">
                <a16:creationId xmlns:a16="http://schemas.microsoft.com/office/drawing/2014/main" id="{20B0DAF3-5E8C-D741-BE8E-EFA0E5352F80}"/>
              </a:ext>
            </a:extLst>
          </p:cNvPr>
          <p:cNvCxnSpPr/>
          <p:nvPr/>
        </p:nvCxnSpPr>
        <p:spPr>
          <a:xfrm>
            <a:off x="6361813" y="5706675"/>
            <a:ext cx="818707"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9" name="直線接點 18">
            <a:extLst>
              <a:ext uri="{FF2B5EF4-FFF2-40B4-BE49-F238E27FC236}">
                <a16:creationId xmlns:a16="http://schemas.microsoft.com/office/drawing/2014/main" id="{EF481808-F148-CF48-B905-F106C192735C}"/>
              </a:ext>
            </a:extLst>
          </p:cNvPr>
          <p:cNvCxnSpPr>
            <a:cxnSpLocks/>
          </p:cNvCxnSpPr>
          <p:nvPr/>
        </p:nvCxnSpPr>
        <p:spPr>
          <a:xfrm>
            <a:off x="7414437" y="5706675"/>
            <a:ext cx="730103"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D745E2BD-E40A-FF4B-9E78-EE9FDD1FE048}"/>
              </a:ext>
            </a:extLst>
          </p:cNvPr>
          <p:cNvSpPr/>
          <p:nvPr/>
        </p:nvSpPr>
        <p:spPr>
          <a:xfrm>
            <a:off x="4109020" y="6206499"/>
            <a:ext cx="1608129" cy="461665"/>
          </a:xfrm>
          <a:prstGeom prst="rect">
            <a:avLst/>
          </a:prstGeom>
        </p:spPr>
        <p:txBody>
          <a:bodyPr wrap="square">
            <a:spAutoFit/>
          </a:bodyPr>
          <a:lstStyle/>
          <a:p>
            <a:r>
              <a:rPr kumimoji="1" lang="en-US" altLang="zh-TW" sz="2400" dirty="0">
                <a:latin typeface="Times New Roman" panose="02020603050405020304" pitchFamily="18" charset="0"/>
                <a:cs typeface="Times New Roman" panose="02020603050405020304" pitchFamily="18" charset="0"/>
              </a:rPr>
              <a:t>x</a:t>
            </a:r>
            <a:r>
              <a:rPr kumimoji="1" lang="en-US" altLang="zh-TW" sz="2400" baseline="-25000" dirty="0">
                <a:latin typeface="Times New Roman" panose="02020603050405020304" pitchFamily="18" charset="0"/>
                <a:cs typeface="Times New Roman" panose="02020603050405020304" pitchFamily="18" charset="0"/>
              </a:rPr>
              <a:t>i</a:t>
            </a:r>
            <a:r>
              <a:rPr kumimoji="1" lang="en-US" altLang="zh-TW" sz="2400" dirty="0">
                <a:latin typeface="Times New Roman" panose="02020603050405020304" pitchFamily="18" charset="0"/>
                <a:cs typeface="Times New Roman" panose="02020603050405020304" pitchFamily="18" charset="0"/>
              </a:rPr>
              <a:t> aligns </a:t>
            </a:r>
            <a:r>
              <a:rPr kumimoji="1" lang="en-US" altLang="zh-TW" sz="2400" dirty="0" err="1">
                <a:latin typeface="Times New Roman" panose="02020603050405020304" pitchFamily="18" charset="0"/>
                <a:cs typeface="Times New Roman" panose="02020603050405020304" pitchFamily="18" charset="0"/>
              </a:rPr>
              <a:t>y</a:t>
            </a:r>
            <a:r>
              <a:rPr kumimoji="1" lang="en-US" altLang="zh-TW" sz="2400" baseline="-25000" dirty="0" err="1">
                <a:latin typeface="Times New Roman" panose="02020603050405020304" pitchFamily="18" charset="0"/>
                <a:cs typeface="Times New Roman" panose="02020603050405020304" pitchFamily="18" charset="0"/>
              </a:rPr>
              <a:t>i</a:t>
            </a:r>
            <a:endParaRPr kumimoji="1" lang="en-US" altLang="zh-TW" sz="2400" baseline="-25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002759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圖片 12" descr="一張含有 文字 的圖片&#10;&#10;自動產生的描述">
            <a:extLst>
              <a:ext uri="{FF2B5EF4-FFF2-40B4-BE49-F238E27FC236}">
                <a16:creationId xmlns:a16="http://schemas.microsoft.com/office/drawing/2014/main" id="{11920DD8-0CD3-8247-BD77-4933F257381B}"/>
              </a:ext>
            </a:extLst>
          </p:cNvPr>
          <p:cNvPicPr>
            <a:picLocks noChangeAspect="1"/>
          </p:cNvPicPr>
          <p:nvPr/>
        </p:nvPicPr>
        <p:blipFill>
          <a:blip r:embed="rId2"/>
          <a:stretch>
            <a:fillRect/>
          </a:stretch>
        </p:blipFill>
        <p:spPr>
          <a:xfrm>
            <a:off x="5816600" y="1758758"/>
            <a:ext cx="5588000" cy="927100"/>
          </a:xfrm>
          <a:prstGeom prst="rect">
            <a:avLst/>
          </a:prstGeom>
        </p:spPr>
      </p:pic>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 altLang="zh-TW" dirty="0"/>
              <a:t>Particle swarm optimization</a:t>
            </a: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7</a:t>
            </a:fld>
            <a:endParaRPr kumimoji="1" lang="zh-TW" altLang="en-US"/>
          </a:p>
        </p:txBody>
      </p:sp>
      <p:pic>
        <p:nvPicPr>
          <p:cNvPr id="1026" name="Picture 2" descr="Fig. 1">
            <a:extLst>
              <a:ext uri="{FF2B5EF4-FFF2-40B4-BE49-F238E27FC236}">
                <a16:creationId xmlns:a16="http://schemas.microsoft.com/office/drawing/2014/main" id="{B507C30D-0E5A-9244-A8CD-9455BC74C90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2899" r="-1" b="47701"/>
          <a:stretch/>
        </p:blipFill>
        <p:spPr bwMode="auto">
          <a:xfrm>
            <a:off x="838200" y="1406938"/>
            <a:ext cx="4579973" cy="5188711"/>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8">
            <a:extLst>
              <a:ext uri="{FF2B5EF4-FFF2-40B4-BE49-F238E27FC236}">
                <a16:creationId xmlns:a16="http://schemas.microsoft.com/office/drawing/2014/main" id="{72B7F2C3-2A87-4A4F-ADF4-1155B581DF40}"/>
              </a:ext>
            </a:extLst>
          </p:cNvPr>
          <p:cNvSpPr/>
          <p:nvPr/>
        </p:nvSpPr>
        <p:spPr>
          <a:xfrm>
            <a:off x="1307805" y="1541719"/>
            <a:ext cx="1488559" cy="744279"/>
          </a:xfrm>
          <a:prstGeom prst="rect">
            <a:avLst/>
          </a:prstGeom>
          <a:noFill/>
          <a:ln w="762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 name="矩形 9">
            <a:extLst>
              <a:ext uri="{FF2B5EF4-FFF2-40B4-BE49-F238E27FC236}">
                <a16:creationId xmlns:a16="http://schemas.microsoft.com/office/drawing/2014/main" id="{A21932DD-A715-6040-A4F3-5909A58F7AAF}"/>
              </a:ext>
            </a:extLst>
          </p:cNvPr>
          <p:cNvSpPr/>
          <p:nvPr/>
        </p:nvSpPr>
        <p:spPr>
          <a:xfrm>
            <a:off x="3540640" y="4019114"/>
            <a:ext cx="1488559" cy="744279"/>
          </a:xfrm>
          <a:prstGeom prst="rect">
            <a:avLst/>
          </a:prstGeom>
          <a:noFill/>
          <a:ln w="762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 name="矩形 10">
            <a:extLst>
              <a:ext uri="{FF2B5EF4-FFF2-40B4-BE49-F238E27FC236}">
                <a16:creationId xmlns:a16="http://schemas.microsoft.com/office/drawing/2014/main" id="{30D685E3-D0FE-A541-ABCD-020E5F30CB09}"/>
              </a:ext>
            </a:extLst>
          </p:cNvPr>
          <p:cNvSpPr/>
          <p:nvPr/>
        </p:nvSpPr>
        <p:spPr>
          <a:xfrm>
            <a:off x="3540640" y="2753928"/>
            <a:ext cx="1488559" cy="744279"/>
          </a:xfrm>
          <a:prstGeom prst="rect">
            <a:avLst/>
          </a:prstGeom>
          <a:noFill/>
          <a:ln w="762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a:xfrm>
            <a:off x="5818461" y="1409567"/>
            <a:ext cx="5080591" cy="5083308"/>
          </a:xfrm>
        </p:spPr>
        <p:txBody>
          <a:bodyPr>
            <a:normAutofit/>
          </a:bodyPr>
          <a:lstStyle/>
          <a:p>
            <a:r>
              <a:rPr kumimoji="1" lang="en-US" altLang="zh-TW" dirty="0">
                <a:latin typeface="Times New Roman" panose="02020603050405020304" pitchFamily="18" charset="0"/>
                <a:cs typeface="Times New Roman" panose="02020603050405020304" pitchFamily="18" charset="0"/>
              </a:rPr>
              <a:t>Sum-of-pairs score (SP score)</a:t>
            </a:r>
          </a:p>
          <a:p>
            <a:endParaRPr kumimoji="1" lang="en-US" altLang="zh-TW" dirty="0">
              <a:latin typeface="Times New Roman" panose="02020603050405020304" pitchFamily="18" charset="0"/>
              <a:cs typeface="Times New Roman" panose="02020603050405020304" pitchFamily="18" charset="0"/>
            </a:endParaRPr>
          </a:p>
          <a:p>
            <a:endParaRPr kumimoji="1" lang="en-US" altLang="zh-TW" dirty="0">
              <a:latin typeface="Times New Roman" panose="02020603050405020304" pitchFamily="18" charset="0"/>
              <a:cs typeface="Times New Roman" panose="02020603050405020304" pitchFamily="18" charset="0"/>
            </a:endParaRPr>
          </a:p>
          <a:p>
            <a:endParaRPr kumimoji="1" lang="en-US" altLang="zh-TW" dirty="0">
              <a:latin typeface="Times New Roman" panose="02020603050405020304" pitchFamily="18" charset="0"/>
              <a:cs typeface="Times New Roman" panose="02020603050405020304" pitchFamily="18" charset="0"/>
            </a:endParaRPr>
          </a:p>
          <a:p>
            <a:endParaRPr kumimoji="1" lang="en-US" altLang="zh-TW" dirty="0">
              <a:latin typeface="Times New Roman" panose="02020603050405020304" pitchFamily="18" charset="0"/>
              <a:cs typeface="Times New Roman" panose="02020603050405020304" pitchFamily="18" charset="0"/>
            </a:endParaRPr>
          </a:p>
          <a:p>
            <a:endParaRPr kumimoji="1" lang="en-US" altLang="zh-TW" dirty="0">
              <a:latin typeface="Times New Roman" panose="02020603050405020304" pitchFamily="18" charset="0"/>
              <a:cs typeface="Times New Roman" panose="02020603050405020304" pitchFamily="18" charset="0"/>
            </a:endParaRPr>
          </a:p>
          <a:p>
            <a:endParaRPr kumimoji="1" lang="en-US"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score = 𝛾(S</a:t>
            </a:r>
            <a:r>
              <a:rPr kumimoji="1" lang="en-US" altLang="zh-TW" baseline="-25000" dirty="0">
                <a:latin typeface="Times New Roman" panose="02020603050405020304" pitchFamily="18" charset="0"/>
                <a:cs typeface="Times New Roman" panose="02020603050405020304" pitchFamily="18" charset="0"/>
              </a:rPr>
              <a:t>1,3</a:t>
            </a:r>
            <a:r>
              <a:rPr kumimoji="1" lang="en-US" altLang="zh-TW" dirty="0">
                <a:latin typeface="Times New Roman" panose="02020603050405020304" pitchFamily="18" charset="0"/>
                <a:cs typeface="Times New Roman" panose="02020603050405020304" pitchFamily="18" charset="0"/>
              </a:rPr>
              <a:t>, S</a:t>
            </a:r>
            <a:r>
              <a:rPr kumimoji="1" lang="en-US" altLang="zh-TW" baseline="-25000" dirty="0">
                <a:latin typeface="Times New Roman" panose="02020603050405020304" pitchFamily="18" charset="0"/>
                <a:cs typeface="Times New Roman" panose="02020603050405020304" pitchFamily="18" charset="0"/>
              </a:rPr>
              <a:t>2,3</a:t>
            </a:r>
            <a:r>
              <a:rPr kumimoji="1" lang="en-US" altLang="zh-TW" dirty="0">
                <a:latin typeface="Times New Roman" panose="02020603050405020304" pitchFamily="18" charset="0"/>
                <a:cs typeface="Times New Roman" panose="02020603050405020304" pitchFamily="18" charset="0"/>
              </a:rPr>
              <a:t>) + </a:t>
            </a:r>
          </a:p>
          <a:p>
            <a:pPr marL="0" indent="0">
              <a:buNone/>
            </a:pPr>
            <a:r>
              <a:rPr kumimoji="1" lang="en-US" altLang="zh-TW" dirty="0">
                <a:latin typeface="Times New Roman" panose="02020603050405020304" pitchFamily="18" charset="0"/>
                <a:cs typeface="Times New Roman" panose="02020603050405020304" pitchFamily="18" charset="0"/>
              </a:rPr>
              <a:t>               𝛾(S</a:t>
            </a:r>
            <a:r>
              <a:rPr kumimoji="1" lang="en-US" altLang="zh-TW" baseline="-25000" dirty="0">
                <a:latin typeface="Times New Roman" panose="02020603050405020304" pitchFamily="18" charset="0"/>
                <a:cs typeface="Times New Roman" panose="02020603050405020304" pitchFamily="18" charset="0"/>
              </a:rPr>
              <a:t>2,3</a:t>
            </a:r>
            <a:r>
              <a:rPr kumimoji="1" lang="en-US" altLang="zh-TW" dirty="0">
                <a:latin typeface="Times New Roman" panose="02020603050405020304" pitchFamily="18" charset="0"/>
                <a:cs typeface="Times New Roman" panose="02020603050405020304" pitchFamily="18" charset="0"/>
              </a:rPr>
              <a:t>, S</a:t>
            </a:r>
            <a:r>
              <a:rPr kumimoji="1" lang="en-US" altLang="zh-TW" baseline="-25000" dirty="0">
                <a:latin typeface="Times New Roman" panose="02020603050405020304" pitchFamily="18" charset="0"/>
                <a:cs typeface="Times New Roman" panose="02020603050405020304" pitchFamily="18" charset="0"/>
              </a:rPr>
              <a:t>3,3</a:t>
            </a:r>
            <a:r>
              <a:rPr kumimoji="1" lang="en-US" altLang="zh-TW" dirty="0">
                <a:latin typeface="Times New Roman" panose="02020603050405020304" pitchFamily="18" charset="0"/>
                <a:cs typeface="Times New Roman" panose="02020603050405020304" pitchFamily="18" charset="0"/>
              </a:rPr>
              <a:t>) + </a:t>
            </a:r>
          </a:p>
          <a:p>
            <a:pPr marL="0" indent="0">
              <a:buNone/>
            </a:pPr>
            <a:r>
              <a:rPr kumimoji="1" lang="en-US" altLang="zh-TW" dirty="0">
                <a:latin typeface="Times New Roman" panose="02020603050405020304" pitchFamily="18" charset="0"/>
                <a:cs typeface="Times New Roman" panose="02020603050405020304" pitchFamily="18" charset="0"/>
              </a:rPr>
              <a:t>               𝛾(S</a:t>
            </a:r>
            <a:r>
              <a:rPr kumimoji="1" lang="en-US" altLang="zh-TW" baseline="-25000" dirty="0">
                <a:latin typeface="Times New Roman" panose="02020603050405020304" pitchFamily="18" charset="0"/>
                <a:cs typeface="Times New Roman" panose="02020603050405020304" pitchFamily="18" charset="0"/>
              </a:rPr>
              <a:t>1,3</a:t>
            </a:r>
            <a:r>
              <a:rPr kumimoji="1" lang="en-US" altLang="zh-TW" dirty="0">
                <a:latin typeface="Times New Roman" panose="02020603050405020304" pitchFamily="18" charset="0"/>
                <a:cs typeface="Times New Roman" panose="02020603050405020304" pitchFamily="18" charset="0"/>
              </a:rPr>
              <a:t>, S</a:t>
            </a:r>
            <a:r>
              <a:rPr kumimoji="1" lang="en-US" altLang="zh-TW" baseline="-25000" dirty="0">
                <a:latin typeface="Times New Roman" panose="02020603050405020304" pitchFamily="18" charset="0"/>
                <a:cs typeface="Times New Roman" panose="02020603050405020304" pitchFamily="18" charset="0"/>
              </a:rPr>
              <a:t>3,3</a:t>
            </a:r>
            <a:r>
              <a:rPr kumimoji="1" lang="en-US" altLang="zh-TW" dirty="0">
                <a:latin typeface="Times New Roman" panose="02020603050405020304" pitchFamily="18" charset="0"/>
                <a:cs typeface="Times New Roman" panose="02020603050405020304" pitchFamily="18" charset="0"/>
              </a:rPr>
              <a:t>)</a:t>
            </a:r>
          </a:p>
        </p:txBody>
      </p:sp>
      <p:pic>
        <p:nvPicPr>
          <p:cNvPr id="15" name="圖片 14" descr="一張含有 文字 的圖片&#10;&#10;自動產生的描述">
            <a:extLst>
              <a:ext uri="{FF2B5EF4-FFF2-40B4-BE49-F238E27FC236}">
                <a16:creationId xmlns:a16="http://schemas.microsoft.com/office/drawing/2014/main" id="{37D8DD6A-4ADA-8C44-8E30-D44E8877E70B}"/>
              </a:ext>
            </a:extLst>
          </p:cNvPr>
          <p:cNvPicPr>
            <a:picLocks noChangeAspect="1"/>
          </p:cNvPicPr>
          <p:nvPr/>
        </p:nvPicPr>
        <p:blipFill>
          <a:blip r:embed="rId4"/>
          <a:stretch>
            <a:fillRect/>
          </a:stretch>
        </p:blipFill>
        <p:spPr>
          <a:xfrm>
            <a:off x="6096000" y="2766666"/>
            <a:ext cx="5003600" cy="2085853"/>
          </a:xfrm>
          <a:prstGeom prst="rect">
            <a:avLst/>
          </a:prstGeom>
        </p:spPr>
      </p:pic>
    </p:spTree>
    <p:extLst>
      <p:ext uri="{BB962C8B-B14F-4D97-AF65-F5344CB8AC3E}">
        <p14:creationId xmlns:p14="http://schemas.microsoft.com/office/powerpoint/2010/main" val="130972739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圖片 12" descr="一張含有 文字 的圖片&#10;&#10;自動產生的描述">
            <a:extLst>
              <a:ext uri="{FF2B5EF4-FFF2-40B4-BE49-F238E27FC236}">
                <a16:creationId xmlns:a16="http://schemas.microsoft.com/office/drawing/2014/main" id="{11920DD8-0CD3-8247-BD77-4933F257381B}"/>
              </a:ext>
            </a:extLst>
          </p:cNvPr>
          <p:cNvPicPr>
            <a:picLocks noChangeAspect="1"/>
          </p:cNvPicPr>
          <p:nvPr/>
        </p:nvPicPr>
        <p:blipFill>
          <a:blip r:embed="rId2"/>
          <a:stretch>
            <a:fillRect/>
          </a:stretch>
        </p:blipFill>
        <p:spPr>
          <a:xfrm>
            <a:off x="5816600" y="1758758"/>
            <a:ext cx="5588000" cy="927100"/>
          </a:xfrm>
          <a:prstGeom prst="rect">
            <a:avLst/>
          </a:prstGeom>
        </p:spPr>
      </p:pic>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 altLang="zh-TW" dirty="0"/>
              <a:t>Particle swarm optimization</a:t>
            </a:r>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a:xfrm>
            <a:off x="5818461" y="1409567"/>
            <a:ext cx="6373539" cy="4351338"/>
          </a:xfrm>
        </p:spPr>
        <p:txBody>
          <a:bodyPr/>
          <a:lstStyle/>
          <a:p>
            <a:r>
              <a:rPr kumimoji="1" lang="en-US" altLang="zh-TW" dirty="0">
                <a:latin typeface="Times New Roman" panose="02020603050405020304" pitchFamily="18" charset="0"/>
                <a:cs typeface="Times New Roman" panose="02020603050405020304" pitchFamily="18" charset="0"/>
              </a:rPr>
              <a:t>Sum-of-pairs score (SP score)</a:t>
            </a:r>
          </a:p>
          <a:p>
            <a:endParaRPr kumimoji="1" lang="en-US" altLang="zh-TW" dirty="0">
              <a:latin typeface="Times New Roman" panose="02020603050405020304" pitchFamily="18" charset="0"/>
              <a:cs typeface="Times New Roman" panose="02020603050405020304" pitchFamily="18" charset="0"/>
            </a:endParaRPr>
          </a:p>
          <a:p>
            <a:endParaRPr kumimoji="1" lang="en-US"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Update X</a:t>
            </a:r>
            <a:r>
              <a:rPr kumimoji="1" lang="en-US" altLang="zh-TW" baseline="-25000" dirty="0">
                <a:latin typeface="Times New Roman" panose="02020603050405020304" pitchFamily="18" charset="0"/>
                <a:cs typeface="Times New Roman" panose="02020603050405020304" pitchFamily="18" charset="0"/>
              </a:rPr>
              <a:t>i</a:t>
            </a:r>
            <a:r>
              <a:rPr kumimoji="1" lang="en-US" altLang="zh-TW" dirty="0">
                <a:latin typeface="Times New Roman" panose="02020603050405020304" pitchFamily="18" charset="0"/>
                <a:cs typeface="Times New Roman" panose="02020603050405020304" pitchFamily="18" charset="0"/>
              </a:rPr>
              <a:t> </a:t>
            </a:r>
          </a:p>
          <a:p>
            <a:r>
              <a:rPr kumimoji="1" lang="en-US" altLang="zh-TW" dirty="0">
                <a:latin typeface="Times New Roman" panose="02020603050405020304" pitchFamily="18" charset="0"/>
                <a:cs typeface="Times New Roman" panose="02020603050405020304" pitchFamily="18" charset="0"/>
              </a:rPr>
              <a:t>V</a:t>
            </a:r>
            <a:r>
              <a:rPr kumimoji="1" lang="en-US" altLang="zh-TW" baseline="-25000" dirty="0">
                <a:latin typeface="Times New Roman" panose="02020603050405020304" pitchFamily="18" charset="0"/>
                <a:cs typeface="Times New Roman" panose="02020603050405020304" pitchFamily="18" charset="0"/>
              </a:rPr>
              <a:t>i</a:t>
            </a:r>
            <a:r>
              <a:rPr kumimoji="1" lang="en-US" altLang="zh-TW" dirty="0">
                <a:latin typeface="Times New Roman" panose="02020603050405020304" pitchFamily="18" charset="0"/>
                <a:cs typeface="Times New Roman" panose="02020603050405020304" pitchFamily="18" charset="0"/>
              </a:rPr>
              <a:t> = original + </a:t>
            </a:r>
            <a:r>
              <a:rPr kumimoji="1" lang="en-US" altLang="zh-TW">
                <a:latin typeface="Times New Roman" panose="02020603050405020304" pitchFamily="18" charset="0"/>
                <a:cs typeface="Times New Roman" panose="02020603050405020304" pitchFamily="18" charset="0"/>
              </a:rPr>
              <a:t>personal best +Global </a:t>
            </a:r>
            <a:r>
              <a:rPr kumimoji="1" lang="en-US" altLang="zh-TW" dirty="0">
                <a:latin typeface="Times New Roman" panose="02020603050405020304" pitchFamily="18" charset="0"/>
                <a:cs typeface="Times New Roman" panose="02020603050405020304" pitchFamily="18" charset="0"/>
              </a:rPr>
              <a:t>best</a:t>
            </a:r>
            <a:endParaRPr kumimoji="1" lang="en-US" altLang="zh-TW" baseline="-25000"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8</a:t>
            </a:fld>
            <a:endParaRPr kumimoji="1" lang="zh-TW" altLang="en-US"/>
          </a:p>
        </p:txBody>
      </p:sp>
      <p:pic>
        <p:nvPicPr>
          <p:cNvPr id="1026" name="Picture 2" descr="Fig. 1">
            <a:extLst>
              <a:ext uri="{FF2B5EF4-FFF2-40B4-BE49-F238E27FC236}">
                <a16:creationId xmlns:a16="http://schemas.microsoft.com/office/drawing/2014/main" id="{B507C30D-0E5A-9244-A8CD-9455BC74C90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2899" r="-1" b="47701"/>
          <a:stretch/>
        </p:blipFill>
        <p:spPr bwMode="auto">
          <a:xfrm>
            <a:off x="838200" y="1406938"/>
            <a:ext cx="4579973" cy="5188711"/>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8">
            <a:extLst>
              <a:ext uri="{FF2B5EF4-FFF2-40B4-BE49-F238E27FC236}">
                <a16:creationId xmlns:a16="http://schemas.microsoft.com/office/drawing/2014/main" id="{72B7F2C3-2A87-4A4F-ADF4-1155B581DF40}"/>
              </a:ext>
            </a:extLst>
          </p:cNvPr>
          <p:cNvSpPr/>
          <p:nvPr/>
        </p:nvSpPr>
        <p:spPr>
          <a:xfrm>
            <a:off x="1307805" y="1541719"/>
            <a:ext cx="1488559" cy="744279"/>
          </a:xfrm>
          <a:prstGeom prst="rect">
            <a:avLst/>
          </a:prstGeom>
          <a:noFill/>
          <a:ln w="762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 name="矩形 9">
            <a:extLst>
              <a:ext uri="{FF2B5EF4-FFF2-40B4-BE49-F238E27FC236}">
                <a16:creationId xmlns:a16="http://schemas.microsoft.com/office/drawing/2014/main" id="{A21932DD-A715-6040-A4F3-5909A58F7AAF}"/>
              </a:ext>
            </a:extLst>
          </p:cNvPr>
          <p:cNvSpPr/>
          <p:nvPr/>
        </p:nvSpPr>
        <p:spPr>
          <a:xfrm>
            <a:off x="3540640" y="4019114"/>
            <a:ext cx="1488559" cy="744279"/>
          </a:xfrm>
          <a:prstGeom prst="rect">
            <a:avLst/>
          </a:prstGeom>
          <a:noFill/>
          <a:ln w="762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 name="矩形 10">
            <a:extLst>
              <a:ext uri="{FF2B5EF4-FFF2-40B4-BE49-F238E27FC236}">
                <a16:creationId xmlns:a16="http://schemas.microsoft.com/office/drawing/2014/main" id="{30D685E3-D0FE-A541-ABCD-020E5F30CB09}"/>
              </a:ext>
            </a:extLst>
          </p:cNvPr>
          <p:cNvSpPr/>
          <p:nvPr/>
        </p:nvSpPr>
        <p:spPr>
          <a:xfrm>
            <a:off x="3540640" y="2753928"/>
            <a:ext cx="1488559" cy="744279"/>
          </a:xfrm>
          <a:prstGeom prst="rect">
            <a:avLst/>
          </a:prstGeom>
          <a:noFill/>
          <a:ln w="762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pic>
        <p:nvPicPr>
          <p:cNvPr id="4098" name="Picture 2">
            <a:extLst>
              <a:ext uri="{FF2B5EF4-FFF2-40B4-BE49-F238E27FC236}">
                <a16:creationId xmlns:a16="http://schemas.microsoft.com/office/drawing/2014/main" id="{DAFB7805-4824-F241-8E2C-C229F37C53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54572" y="3915490"/>
            <a:ext cx="3662045" cy="2889857"/>
          </a:xfrm>
          <a:prstGeom prst="rect">
            <a:avLst/>
          </a:prstGeom>
          <a:noFill/>
          <a:extLst>
            <a:ext uri="{909E8E84-426E-40DD-AFC4-6F175D3DCCD1}">
              <a14:hiddenFill xmlns:a14="http://schemas.microsoft.com/office/drawing/2010/main">
                <a:solidFill>
                  <a:srgbClr val="FFFFFF"/>
                </a:solidFill>
              </a14:hiddenFill>
            </a:ext>
          </a:extLst>
        </p:spPr>
      </p:pic>
      <p:sp>
        <p:nvSpPr>
          <p:cNvPr id="4" name="橢圓 3">
            <a:extLst>
              <a:ext uri="{FF2B5EF4-FFF2-40B4-BE49-F238E27FC236}">
                <a16:creationId xmlns:a16="http://schemas.microsoft.com/office/drawing/2014/main" id="{B11932CB-BE09-C842-B809-F88F75D620C6}"/>
              </a:ext>
            </a:extLst>
          </p:cNvPr>
          <p:cNvSpPr/>
          <p:nvPr/>
        </p:nvSpPr>
        <p:spPr>
          <a:xfrm>
            <a:off x="6958362" y="5628253"/>
            <a:ext cx="200722" cy="200722"/>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325690068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00183 0.00486 L 0.1181 -0.17176 " pathEditMode="relative" ptsTypes="AA">
                                      <p:cBhvr>
                                        <p:cTn id="6" dur="2000" fill="hold"/>
                                        <p:tgtEl>
                                          <p:spTgt spid="4"/>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 altLang="zh-TW" dirty="0"/>
              <a:t>Pair-hidden Markov model </a:t>
            </a:r>
          </a:p>
        </p:txBody>
      </p:sp>
      <p:pic>
        <p:nvPicPr>
          <p:cNvPr id="15" name="內容版面配置區 14">
            <a:extLst>
              <a:ext uri="{FF2B5EF4-FFF2-40B4-BE49-F238E27FC236}">
                <a16:creationId xmlns:a16="http://schemas.microsoft.com/office/drawing/2014/main" id="{C6FB5D37-5DB1-6943-8081-2EA3F84981C5}"/>
              </a:ext>
            </a:extLst>
          </p:cNvPr>
          <p:cNvPicPr>
            <a:picLocks noGrp="1" noChangeAspect="1"/>
          </p:cNvPicPr>
          <p:nvPr>
            <p:ph idx="1"/>
          </p:nvPr>
        </p:nvPicPr>
        <p:blipFill>
          <a:blip r:embed="rId2"/>
          <a:stretch>
            <a:fillRect/>
          </a:stretch>
        </p:blipFill>
        <p:spPr>
          <a:xfrm>
            <a:off x="5418173" y="1942558"/>
            <a:ext cx="6478008" cy="4117469"/>
          </a:xfrm>
        </p:spPr>
      </p:pic>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9</a:t>
            </a:fld>
            <a:endParaRPr kumimoji="1" lang="zh-TW" altLang="en-US"/>
          </a:p>
        </p:txBody>
      </p:sp>
      <p:pic>
        <p:nvPicPr>
          <p:cNvPr id="1026" name="Picture 2" descr="Fig. 1">
            <a:extLst>
              <a:ext uri="{FF2B5EF4-FFF2-40B4-BE49-F238E27FC236}">
                <a16:creationId xmlns:a16="http://schemas.microsoft.com/office/drawing/2014/main" id="{B507C30D-0E5A-9244-A8CD-9455BC74C90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2899" r="-1" b="47701"/>
          <a:stretch/>
        </p:blipFill>
        <p:spPr bwMode="auto">
          <a:xfrm>
            <a:off x="838200" y="1406938"/>
            <a:ext cx="4579973" cy="5188711"/>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8">
            <a:extLst>
              <a:ext uri="{FF2B5EF4-FFF2-40B4-BE49-F238E27FC236}">
                <a16:creationId xmlns:a16="http://schemas.microsoft.com/office/drawing/2014/main" id="{72B7F2C3-2A87-4A4F-ADF4-1155B581DF40}"/>
              </a:ext>
            </a:extLst>
          </p:cNvPr>
          <p:cNvSpPr/>
          <p:nvPr/>
        </p:nvSpPr>
        <p:spPr>
          <a:xfrm>
            <a:off x="1340324" y="2747901"/>
            <a:ext cx="1488559" cy="744279"/>
          </a:xfrm>
          <a:prstGeom prst="rect">
            <a:avLst/>
          </a:prstGeom>
          <a:noFill/>
          <a:ln w="762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cxnSp>
        <p:nvCxnSpPr>
          <p:cNvPr id="17" name="直線接點 16">
            <a:extLst>
              <a:ext uri="{FF2B5EF4-FFF2-40B4-BE49-F238E27FC236}">
                <a16:creationId xmlns:a16="http://schemas.microsoft.com/office/drawing/2014/main" id="{C54AF68E-DBF1-F744-8109-ECC294B3B16C}"/>
              </a:ext>
            </a:extLst>
          </p:cNvPr>
          <p:cNvCxnSpPr/>
          <p:nvPr/>
        </p:nvCxnSpPr>
        <p:spPr>
          <a:xfrm>
            <a:off x="5910146" y="4226312"/>
            <a:ext cx="272275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0" name="直線接點 19">
            <a:extLst>
              <a:ext uri="{FF2B5EF4-FFF2-40B4-BE49-F238E27FC236}">
                <a16:creationId xmlns:a16="http://schemas.microsoft.com/office/drawing/2014/main" id="{A8DC44CD-AA14-1E4E-96F6-8B38EAB938FF}"/>
              </a:ext>
            </a:extLst>
          </p:cNvPr>
          <p:cNvCxnSpPr/>
          <p:nvPr/>
        </p:nvCxnSpPr>
        <p:spPr>
          <a:xfrm>
            <a:off x="9017619" y="4226312"/>
            <a:ext cx="2722756"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直線接點 20">
            <a:extLst>
              <a:ext uri="{FF2B5EF4-FFF2-40B4-BE49-F238E27FC236}">
                <a16:creationId xmlns:a16="http://schemas.microsoft.com/office/drawing/2014/main" id="{385E79B6-6AD8-914D-BABD-18B2FB8297AF}"/>
              </a:ext>
            </a:extLst>
          </p:cNvPr>
          <p:cNvCxnSpPr>
            <a:cxnSpLocks/>
          </p:cNvCxnSpPr>
          <p:nvPr/>
        </p:nvCxnSpPr>
        <p:spPr>
          <a:xfrm>
            <a:off x="7909931" y="1905387"/>
            <a:ext cx="722971"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3" name="直線接點 22">
            <a:extLst>
              <a:ext uri="{FF2B5EF4-FFF2-40B4-BE49-F238E27FC236}">
                <a16:creationId xmlns:a16="http://schemas.microsoft.com/office/drawing/2014/main" id="{F7C0A2FE-76E3-F045-B2A2-5F41320E6E1B}"/>
              </a:ext>
            </a:extLst>
          </p:cNvPr>
          <p:cNvCxnSpPr>
            <a:cxnSpLocks/>
          </p:cNvCxnSpPr>
          <p:nvPr/>
        </p:nvCxnSpPr>
        <p:spPr>
          <a:xfrm>
            <a:off x="6548553" y="6140605"/>
            <a:ext cx="1361378"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5" name="直線接點 24">
            <a:extLst>
              <a:ext uri="{FF2B5EF4-FFF2-40B4-BE49-F238E27FC236}">
                <a16:creationId xmlns:a16="http://schemas.microsoft.com/office/drawing/2014/main" id="{1E378B31-7CEE-5446-88A5-C61F9EB77838}"/>
              </a:ext>
            </a:extLst>
          </p:cNvPr>
          <p:cNvCxnSpPr>
            <a:cxnSpLocks/>
          </p:cNvCxnSpPr>
          <p:nvPr/>
        </p:nvCxnSpPr>
        <p:spPr>
          <a:xfrm>
            <a:off x="8095785" y="6140605"/>
            <a:ext cx="1282391"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7" name="直線接點 26">
            <a:extLst>
              <a:ext uri="{FF2B5EF4-FFF2-40B4-BE49-F238E27FC236}">
                <a16:creationId xmlns:a16="http://schemas.microsoft.com/office/drawing/2014/main" id="{C78C8415-D81F-514A-ACC6-60403E9A4E11}"/>
              </a:ext>
            </a:extLst>
          </p:cNvPr>
          <p:cNvCxnSpPr>
            <a:cxnSpLocks/>
          </p:cNvCxnSpPr>
          <p:nvPr/>
        </p:nvCxnSpPr>
        <p:spPr>
          <a:xfrm>
            <a:off x="9582614" y="6140605"/>
            <a:ext cx="1356732"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6" name="文字方塊 25">
            <a:extLst>
              <a:ext uri="{FF2B5EF4-FFF2-40B4-BE49-F238E27FC236}">
                <a16:creationId xmlns:a16="http://schemas.microsoft.com/office/drawing/2014/main" id="{155EBA7B-7063-2C45-8501-5A95192E8C06}"/>
              </a:ext>
            </a:extLst>
          </p:cNvPr>
          <p:cNvSpPr txBox="1"/>
          <p:nvPr/>
        </p:nvSpPr>
        <p:spPr>
          <a:xfrm>
            <a:off x="6854780" y="6181857"/>
            <a:ext cx="748923" cy="369332"/>
          </a:xfrm>
          <a:prstGeom prst="rect">
            <a:avLst/>
          </a:prstGeom>
          <a:noFill/>
        </p:spPr>
        <p:txBody>
          <a:bodyPr wrap="none" rtlCol="0">
            <a:spAutoFit/>
          </a:bodyPr>
          <a:lstStyle/>
          <a:p>
            <a:r>
              <a:rPr kumimoji="1" lang="zh-TW" altLang="en-US" dirty="0">
                <a:latin typeface="Times New Roman" panose="02020603050405020304" pitchFamily="18" charset="0"/>
                <a:cs typeface="Times New Roman" panose="02020603050405020304" pitchFamily="18" charset="0"/>
              </a:rPr>
              <a:t>無</a:t>
            </a:r>
            <a:r>
              <a:rPr kumimoji="1" lang="en-US" altLang="zh-TW" dirty="0">
                <a:latin typeface="Times New Roman" panose="02020603050405020304" pitchFamily="18" charset="0"/>
                <a:cs typeface="Times New Roman" panose="02020603050405020304" pitchFamily="18" charset="0"/>
              </a:rPr>
              <a:t>gap</a:t>
            </a:r>
            <a:endParaRPr kumimoji="1" lang="zh-TW" altLang="en-US" dirty="0">
              <a:latin typeface="Times New Roman" panose="02020603050405020304" pitchFamily="18" charset="0"/>
              <a:cs typeface="Times New Roman" panose="02020603050405020304" pitchFamily="18" charset="0"/>
            </a:endParaRPr>
          </a:p>
        </p:txBody>
      </p:sp>
      <p:sp>
        <p:nvSpPr>
          <p:cNvPr id="30" name="文字方塊 29">
            <a:extLst>
              <a:ext uri="{FF2B5EF4-FFF2-40B4-BE49-F238E27FC236}">
                <a16:creationId xmlns:a16="http://schemas.microsoft.com/office/drawing/2014/main" id="{E409E4C4-AADD-6146-98B6-B1C87536F234}"/>
              </a:ext>
            </a:extLst>
          </p:cNvPr>
          <p:cNvSpPr txBox="1"/>
          <p:nvPr/>
        </p:nvSpPr>
        <p:spPr>
          <a:xfrm>
            <a:off x="8362518" y="6181857"/>
            <a:ext cx="748923" cy="369332"/>
          </a:xfrm>
          <a:prstGeom prst="rect">
            <a:avLst/>
          </a:prstGeom>
          <a:noFill/>
        </p:spPr>
        <p:txBody>
          <a:bodyPr wrap="none" rtlCol="0">
            <a:spAutoFit/>
          </a:bodyPr>
          <a:lstStyle/>
          <a:p>
            <a:r>
              <a:rPr kumimoji="1" lang="zh-TW" altLang="en-US" dirty="0">
                <a:latin typeface="Times New Roman" panose="02020603050405020304" pitchFamily="18" charset="0"/>
                <a:cs typeface="Times New Roman" panose="02020603050405020304" pitchFamily="18" charset="0"/>
              </a:rPr>
              <a:t>有</a:t>
            </a:r>
            <a:r>
              <a:rPr kumimoji="1" lang="en-US" altLang="zh-TW" dirty="0">
                <a:latin typeface="Times New Roman" panose="02020603050405020304" pitchFamily="18" charset="0"/>
                <a:cs typeface="Times New Roman" panose="02020603050405020304" pitchFamily="18" charset="0"/>
              </a:rPr>
              <a:t>gap</a:t>
            </a:r>
            <a:endParaRPr kumimoji="1" lang="zh-TW" altLang="en-US" dirty="0">
              <a:latin typeface="Times New Roman" panose="02020603050405020304" pitchFamily="18" charset="0"/>
              <a:cs typeface="Times New Roman" panose="02020603050405020304" pitchFamily="18" charset="0"/>
            </a:endParaRPr>
          </a:p>
        </p:txBody>
      </p:sp>
      <p:sp>
        <p:nvSpPr>
          <p:cNvPr id="32" name="文字方塊 31">
            <a:extLst>
              <a:ext uri="{FF2B5EF4-FFF2-40B4-BE49-F238E27FC236}">
                <a16:creationId xmlns:a16="http://schemas.microsoft.com/office/drawing/2014/main" id="{6E5BF5A1-7ADD-284C-891F-888933B27270}"/>
              </a:ext>
            </a:extLst>
          </p:cNvPr>
          <p:cNvSpPr txBox="1"/>
          <p:nvPr/>
        </p:nvSpPr>
        <p:spPr>
          <a:xfrm>
            <a:off x="9982200" y="6181857"/>
            <a:ext cx="748923" cy="369332"/>
          </a:xfrm>
          <a:prstGeom prst="rect">
            <a:avLst/>
          </a:prstGeom>
          <a:noFill/>
        </p:spPr>
        <p:txBody>
          <a:bodyPr wrap="none" rtlCol="0">
            <a:spAutoFit/>
          </a:bodyPr>
          <a:lstStyle/>
          <a:p>
            <a:r>
              <a:rPr kumimoji="1" lang="zh-TW" altLang="en-US" dirty="0">
                <a:latin typeface="Times New Roman" panose="02020603050405020304" pitchFamily="18" charset="0"/>
                <a:cs typeface="Times New Roman" panose="02020603050405020304" pitchFamily="18" charset="0"/>
              </a:rPr>
              <a:t>無</a:t>
            </a:r>
            <a:r>
              <a:rPr kumimoji="1" lang="en-US" altLang="zh-TW" dirty="0">
                <a:latin typeface="Times New Roman" panose="02020603050405020304" pitchFamily="18" charset="0"/>
                <a:cs typeface="Times New Roman" panose="02020603050405020304" pitchFamily="18" charset="0"/>
              </a:rPr>
              <a:t>gap</a:t>
            </a:r>
            <a:endParaRPr kumimoji="1"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702895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 altLang="zh-TW" dirty="0"/>
              <a:t>Pair-hidden Markov model </a:t>
            </a:r>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a:xfrm>
            <a:off x="5818461" y="1409567"/>
            <a:ext cx="5535339" cy="4351338"/>
          </a:xfrm>
        </p:spPr>
        <p:txBody>
          <a:bodyPr/>
          <a:lstStyle/>
          <a:p>
            <a:r>
              <a:rPr kumimoji="1" lang="en-US" altLang="zh-TW" dirty="0">
                <a:latin typeface="Times New Roman" panose="02020603050405020304" pitchFamily="18" charset="0"/>
                <a:cs typeface="Times New Roman" panose="02020603050405020304" pitchFamily="18" charset="0"/>
              </a:rPr>
              <a:t>Posterior probability for pair-HMM</a:t>
            </a:r>
          </a:p>
          <a:p>
            <a:endParaRPr kumimoji="1" lang="en-US" altLang="zh-TW" dirty="0">
              <a:latin typeface="Times New Roman" panose="02020603050405020304" pitchFamily="18" charset="0"/>
              <a:cs typeface="Times New Roman" panose="02020603050405020304" pitchFamily="18" charset="0"/>
            </a:endParaRPr>
          </a:p>
          <a:p>
            <a:endParaRPr kumimoji="1" lang="en-US" altLang="zh-TW" dirty="0">
              <a:latin typeface="Times New Roman" panose="02020603050405020304" pitchFamily="18" charset="0"/>
              <a:cs typeface="Times New Roman" panose="02020603050405020304" pitchFamily="18" charset="0"/>
            </a:endParaRPr>
          </a:p>
          <a:p>
            <a:endParaRPr kumimoji="1" lang="en-US"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The probability that x</a:t>
            </a:r>
            <a:r>
              <a:rPr kumimoji="1" lang="en-US" altLang="zh-TW" baseline="-25000" dirty="0">
                <a:latin typeface="Times New Roman" panose="02020603050405020304" pitchFamily="18" charset="0"/>
                <a:cs typeface="Times New Roman" panose="02020603050405020304" pitchFamily="18" charset="0"/>
              </a:rPr>
              <a:t>i</a:t>
            </a:r>
            <a:r>
              <a:rPr kumimoji="1" lang="en-US" altLang="zh-TW" dirty="0">
                <a:latin typeface="Times New Roman" panose="02020603050405020304" pitchFamily="18" charset="0"/>
                <a:cs typeface="Times New Roman" panose="02020603050405020304" pitchFamily="18" charset="0"/>
              </a:rPr>
              <a:t> is aligned to </a:t>
            </a:r>
            <a:r>
              <a:rPr kumimoji="1" lang="en-US" altLang="zh-TW" dirty="0" err="1">
                <a:latin typeface="Times New Roman" panose="02020603050405020304" pitchFamily="18" charset="0"/>
                <a:cs typeface="Times New Roman" panose="02020603050405020304" pitchFamily="18" charset="0"/>
              </a:rPr>
              <a:t>y</a:t>
            </a:r>
            <a:r>
              <a:rPr kumimoji="1" lang="en-US" altLang="zh-TW" baseline="-25000" dirty="0" err="1">
                <a:latin typeface="Times New Roman" panose="02020603050405020304" pitchFamily="18" charset="0"/>
                <a:cs typeface="Times New Roman" panose="02020603050405020304" pitchFamily="18" charset="0"/>
              </a:rPr>
              <a:t>j</a:t>
            </a:r>
            <a:r>
              <a:rPr kumimoji="1" lang="en-US" altLang="zh-TW" dirty="0">
                <a:latin typeface="Times New Roman" panose="02020603050405020304" pitchFamily="18" charset="0"/>
                <a:cs typeface="Times New Roman" panose="02020603050405020304" pitchFamily="18" charset="0"/>
              </a:rPr>
              <a:t> in the true alignment l</a:t>
            </a:r>
            <a:r>
              <a:rPr kumimoji="1" lang="en-US" altLang="zh-TW" baseline="30000" dirty="0">
                <a:latin typeface="Times New Roman" panose="02020603050405020304" pitchFamily="18" charset="0"/>
                <a:cs typeface="Times New Roman" panose="02020603050405020304" pitchFamily="18" charset="0"/>
              </a:rPr>
              <a:t>∗</a:t>
            </a:r>
          </a:p>
          <a:p>
            <a:endParaRPr kumimoji="1" lang="en-US" altLang="zh-TW"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10</a:t>
            </a:fld>
            <a:endParaRPr kumimoji="1" lang="zh-TW" altLang="en-US"/>
          </a:p>
        </p:txBody>
      </p:sp>
      <p:pic>
        <p:nvPicPr>
          <p:cNvPr id="1026" name="Picture 2" descr="Fig. 1">
            <a:extLst>
              <a:ext uri="{FF2B5EF4-FFF2-40B4-BE49-F238E27FC236}">
                <a16:creationId xmlns:a16="http://schemas.microsoft.com/office/drawing/2014/main" id="{B507C30D-0E5A-9244-A8CD-9455BC74C90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2899" r="-1" b="47701"/>
          <a:stretch/>
        </p:blipFill>
        <p:spPr bwMode="auto">
          <a:xfrm>
            <a:off x="838200" y="1406938"/>
            <a:ext cx="4579973" cy="5188711"/>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8">
            <a:extLst>
              <a:ext uri="{FF2B5EF4-FFF2-40B4-BE49-F238E27FC236}">
                <a16:creationId xmlns:a16="http://schemas.microsoft.com/office/drawing/2014/main" id="{72B7F2C3-2A87-4A4F-ADF4-1155B581DF40}"/>
              </a:ext>
            </a:extLst>
          </p:cNvPr>
          <p:cNvSpPr/>
          <p:nvPr/>
        </p:nvSpPr>
        <p:spPr>
          <a:xfrm>
            <a:off x="1306871" y="4010389"/>
            <a:ext cx="1488559" cy="744279"/>
          </a:xfrm>
          <a:prstGeom prst="rect">
            <a:avLst/>
          </a:prstGeom>
          <a:noFill/>
          <a:ln w="762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pic>
        <p:nvPicPr>
          <p:cNvPr id="12" name="圖片 11" descr="一張含有 文字 的圖片&#10;&#10;自動產生的描述">
            <a:extLst>
              <a:ext uri="{FF2B5EF4-FFF2-40B4-BE49-F238E27FC236}">
                <a16:creationId xmlns:a16="http://schemas.microsoft.com/office/drawing/2014/main" id="{620C5A7D-4E9E-1B45-9FD8-735541B116D3}"/>
              </a:ext>
            </a:extLst>
          </p:cNvPr>
          <p:cNvPicPr>
            <a:picLocks noChangeAspect="1"/>
          </p:cNvPicPr>
          <p:nvPr/>
        </p:nvPicPr>
        <p:blipFill>
          <a:blip r:embed="rId3"/>
          <a:stretch>
            <a:fillRect/>
          </a:stretch>
        </p:blipFill>
        <p:spPr>
          <a:xfrm>
            <a:off x="5899037" y="2011230"/>
            <a:ext cx="5588000" cy="1447800"/>
          </a:xfrm>
          <a:prstGeom prst="rect">
            <a:avLst/>
          </a:prstGeom>
        </p:spPr>
      </p:pic>
    </p:spTree>
    <p:extLst>
      <p:ext uri="{BB962C8B-B14F-4D97-AF65-F5344CB8AC3E}">
        <p14:creationId xmlns:p14="http://schemas.microsoft.com/office/powerpoint/2010/main" val="177586095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Combination</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a:xfrm>
            <a:off x="3646449" y="1825625"/>
            <a:ext cx="7906213" cy="4351338"/>
          </a:xfrm>
        </p:spPr>
        <p:txBody>
          <a:bodyPr/>
          <a:lstStyle/>
          <a:p>
            <a:r>
              <a:rPr kumimoji="1" lang="en-US" altLang="zh-TW" dirty="0">
                <a:latin typeface="Times New Roman" panose="02020603050405020304" pitchFamily="18" charset="0"/>
                <a:cs typeface="Times New Roman" panose="02020603050405020304" pitchFamily="18" charset="0"/>
              </a:rPr>
              <a:t>Combine posterior probability as substitution scores </a:t>
            </a:r>
          </a:p>
          <a:p>
            <a:endParaRPr kumimoji="1" lang="en-US" altLang="zh-TW" dirty="0">
              <a:latin typeface="Times New Roman" panose="02020603050405020304" pitchFamily="18" charset="0"/>
              <a:cs typeface="Times New Roman" panose="02020603050405020304" pitchFamily="18" charset="0"/>
            </a:endParaRPr>
          </a:p>
          <a:p>
            <a:endParaRPr kumimoji="1" lang="en-US" altLang="zh-TW" dirty="0">
              <a:latin typeface="Times New Roman" panose="02020603050405020304" pitchFamily="18" charset="0"/>
              <a:cs typeface="Times New Roman" panose="02020603050405020304" pitchFamily="18" charset="0"/>
            </a:endParaRPr>
          </a:p>
          <a:p>
            <a:endParaRPr kumimoji="1" lang="en-US"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a is hidden Markov model</a:t>
            </a:r>
          </a:p>
          <a:p>
            <a:r>
              <a:rPr kumimoji="1" lang="en-US" altLang="zh-TW" dirty="0">
                <a:latin typeface="Times New Roman" panose="02020603050405020304" pitchFamily="18" charset="0"/>
                <a:cs typeface="Times New Roman" panose="02020603050405020304" pitchFamily="18" charset="0"/>
              </a:rPr>
              <a:t>b is partition function</a:t>
            </a: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11</a:t>
            </a:fld>
            <a:endParaRPr kumimoji="1" lang="zh-TW" altLang="en-US"/>
          </a:p>
        </p:txBody>
      </p:sp>
      <p:pic>
        <p:nvPicPr>
          <p:cNvPr id="8" name="Picture 2" descr="Fig. 1">
            <a:extLst>
              <a:ext uri="{FF2B5EF4-FFF2-40B4-BE49-F238E27FC236}">
                <a16:creationId xmlns:a16="http://schemas.microsoft.com/office/drawing/2014/main" id="{5B944F7E-0D66-E449-8DD3-DFFA043850F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7285" b="48839"/>
          <a:stretch/>
        </p:blipFill>
        <p:spPr bwMode="auto">
          <a:xfrm>
            <a:off x="838200" y="1509890"/>
            <a:ext cx="2192079" cy="4982985"/>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8">
            <a:extLst>
              <a:ext uri="{FF2B5EF4-FFF2-40B4-BE49-F238E27FC236}">
                <a16:creationId xmlns:a16="http://schemas.microsoft.com/office/drawing/2014/main" id="{0F26D220-6912-A74F-8220-A7BA6042D573}"/>
              </a:ext>
            </a:extLst>
          </p:cNvPr>
          <p:cNvSpPr/>
          <p:nvPr/>
        </p:nvSpPr>
        <p:spPr>
          <a:xfrm>
            <a:off x="1063256" y="5421533"/>
            <a:ext cx="1488559" cy="744279"/>
          </a:xfrm>
          <a:prstGeom prst="rect">
            <a:avLst/>
          </a:prstGeom>
          <a:noFill/>
          <a:ln w="762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pic>
        <p:nvPicPr>
          <p:cNvPr id="10" name="圖片 9" descr="一張含有 文字 的圖片&#10;&#10;自動產生的描述">
            <a:extLst>
              <a:ext uri="{FF2B5EF4-FFF2-40B4-BE49-F238E27FC236}">
                <a16:creationId xmlns:a16="http://schemas.microsoft.com/office/drawing/2014/main" id="{4A98630E-58ED-D44F-9A4C-0D6CBD6D3783}"/>
              </a:ext>
            </a:extLst>
          </p:cNvPr>
          <p:cNvPicPr>
            <a:picLocks noChangeAspect="1"/>
          </p:cNvPicPr>
          <p:nvPr/>
        </p:nvPicPr>
        <p:blipFill>
          <a:blip r:embed="rId3"/>
          <a:stretch>
            <a:fillRect/>
          </a:stretch>
        </p:blipFill>
        <p:spPr>
          <a:xfrm>
            <a:off x="3975873" y="2336799"/>
            <a:ext cx="6830121" cy="1331951"/>
          </a:xfrm>
          <a:prstGeom prst="rect">
            <a:avLst/>
          </a:prstGeom>
        </p:spPr>
      </p:pic>
    </p:spTree>
    <p:extLst>
      <p:ext uri="{BB962C8B-B14F-4D97-AF65-F5344CB8AC3E}">
        <p14:creationId xmlns:p14="http://schemas.microsoft.com/office/powerpoint/2010/main" val="238791584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Progressive alignment</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a:xfrm>
            <a:off x="5464098" y="1825624"/>
            <a:ext cx="6278136" cy="4530726"/>
          </a:xfrm>
        </p:spPr>
        <p:txBody>
          <a:bodyPr>
            <a:normAutofit/>
          </a:bodyPr>
          <a:lstStyle/>
          <a:p>
            <a:r>
              <a:rPr kumimoji="1" lang="en-US" altLang="zh-TW" dirty="0">
                <a:latin typeface="Times New Roman" panose="02020603050405020304" pitchFamily="18" charset="0"/>
                <a:cs typeface="Times New Roman" panose="02020603050405020304" pitchFamily="18" charset="0"/>
              </a:rPr>
              <a:t>Distance matrix : Similarity of this two sequences.</a:t>
            </a:r>
          </a:p>
          <a:p>
            <a:r>
              <a:rPr kumimoji="1" lang="en" altLang="zh-TW" dirty="0">
                <a:latin typeface="Times New Roman" panose="02020603050405020304" pitchFamily="18" charset="0"/>
                <a:cs typeface="Times New Roman" panose="02020603050405020304" pitchFamily="18" charset="0"/>
              </a:rPr>
              <a:t>Guide tree : Guide the subsequent alignment.</a:t>
            </a:r>
          </a:p>
          <a:p>
            <a:r>
              <a:rPr kumimoji="1" lang="en" altLang="zh-TW" dirty="0">
                <a:latin typeface="Times New Roman" panose="02020603050405020304" pitchFamily="18" charset="0"/>
                <a:cs typeface="Times New Roman" panose="02020603050405020304" pitchFamily="18" charset="0"/>
              </a:rPr>
              <a:t>Probabilistic consistency transformation : Re-estimate the probabilities.</a:t>
            </a:r>
          </a:p>
          <a:p>
            <a:r>
              <a:rPr kumimoji="1" lang="en" altLang="zh-TW" dirty="0">
                <a:latin typeface="Times New Roman" panose="02020603050405020304" pitchFamily="18" charset="0"/>
                <a:cs typeface="Times New Roman" panose="02020603050405020304" pitchFamily="18" charset="0"/>
              </a:rPr>
              <a:t>Progressive alignment : Choosing the closest pair of profiles in the set and aligning them to generate a new profile to replace them in the set.</a:t>
            </a:r>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12</a:t>
            </a:fld>
            <a:endParaRPr kumimoji="1" lang="zh-TW" altLang="en-US"/>
          </a:p>
        </p:txBody>
      </p:sp>
      <p:pic>
        <p:nvPicPr>
          <p:cNvPr id="7" name="Picture 2" descr="Fig. 1">
            <a:extLst>
              <a:ext uri="{FF2B5EF4-FFF2-40B4-BE49-F238E27FC236}">
                <a16:creationId xmlns:a16="http://schemas.microsoft.com/office/drawing/2014/main" id="{53902FCB-DE60-DC43-8498-BFB1B26E00B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3212" r="30095"/>
          <a:stretch/>
        </p:blipFill>
        <p:spPr bwMode="auto">
          <a:xfrm>
            <a:off x="838200" y="1690688"/>
            <a:ext cx="4472631" cy="4351338"/>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7">
            <a:extLst>
              <a:ext uri="{FF2B5EF4-FFF2-40B4-BE49-F238E27FC236}">
                <a16:creationId xmlns:a16="http://schemas.microsoft.com/office/drawing/2014/main" id="{9E830735-9C0F-D549-BE03-EEBBEB163B21}"/>
              </a:ext>
            </a:extLst>
          </p:cNvPr>
          <p:cNvSpPr/>
          <p:nvPr/>
        </p:nvSpPr>
        <p:spPr>
          <a:xfrm>
            <a:off x="3360407" y="3016251"/>
            <a:ext cx="1445769" cy="744279"/>
          </a:xfrm>
          <a:prstGeom prst="rect">
            <a:avLst/>
          </a:prstGeom>
          <a:noFill/>
          <a:ln w="762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 name="矩形 9">
            <a:extLst>
              <a:ext uri="{FF2B5EF4-FFF2-40B4-BE49-F238E27FC236}">
                <a16:creationId xmlns:a16="http://schemas.microsoft.com/office/drawing/2014/main" id="{8447E5AB-BB48-7448-A630-E028064F9F3A}"/>
              </a:ext>
            </a:extLst>
          </p:cNvPr>
          <p:cNvSpPr/>
          <p:nvPr/>
        </p:nvSpPr>
        <p:spPr>
          <a:xfrm>
            <a:off x="3360407" y="4029172"/>
            <a:ext cx="1445769" cy="744279"/>
          </a:xfrm>
          <a:prstGeom prst="rect">
            <a:avLst/>
          </a:prstGeom>
          <a:noFill/>
          <a:ln w="762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 name="矩形 10">
            <a:extLst>
              <a:ext uri="{FF2B5EF4-FFF2-40B4-BE49-F238E27FC236}">
                <a16:creationId xmlns:a16="http://schemas.microsoft.com/office/drawing/2014/main" id="{43289E5A-5D66-D94D-9BB5-91F32897C9FD}"/>
              </a:ext>
            </a:extLst>
          </p:cNvPr>
          <p:cNvSpPr/>
          <p:nvPr/>
        </p:nvSpPr>
        <p:spPr>
          <a:xfrm>
            <a:off x="1026085" y="4029172"/>
            <a:ext cx="1445769" cy="744279"/>
          </a:xfrm>
          <a:prstGeom prst="rect">
            <a:avLst/>
          </a:prstGeom>
          <a:noFill/>
          <a:ln w="762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68120825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Results</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a:xfrm>
            <a:off x="285559" y="1736260"/>
            <a:ext cx="10515600" cy="4351338"/>
          </a:xfrm>
        </p:spPr>
        <p:txBody>
          <a:bodyPr/>
          <a:lstStyle/>
          <a:p>
            <a:r>
              <a:rPr kumimoji="1" lang="en-US" altLang="zh-TW" dirty="0">
                <a:latin typeface="Times New Roman" panose="02020603050405020304" pitchFamily="18" charset="0"/>
                <a:cs typeface="Times New Roman" panose="02020603050405020304" pitchFamily="18" charset="0"/>
              </a:rPr>
              <a:t>Particle size : 10</a:t>
            </a:r>
          </a:p>
          <a:p>
            <a:r>
              <a:rPr kumimoji="1" lang="en-US" altLang="zh-TW" dirty="0">
                <a:latin typeface="Times New Roman" panose="02020603050405020304" pitchFamily="18" charset="0"/>
                <a:cs typeface="Times New Roman" panose="02020603050405020304" pitchFamily="18" charset="0"/>
              </a:rPr>
              <a:t>Generation of PSO : 30</a:t>
            </a:r>
          </a:p>
          <a:p>
            <a:endParaRPr kumimoji="1" lang="en-US"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SP (Sum-of-pairs score )</a:t>
            </a:r>
          </a:p>
          <a:p>
            <a:r>
              <a:rPr kumimoji="1" lang="en-US" altLang="zh-TW" dirty="0">
                <a:latin typeface="Times New Roman" panose="02020603050405020304" pitchFamily="18" charset="0"/>
                <a:cs typeface="Times New Roman" panose="02020603050405020304" pitchFamily="18" charset="0"/>
              </a:rPr>
              <a:t>TC (total column) score : </a:t>
            </a:r>
          </a:p>
          <a:p>
            <a:pPr marL="0" indent="0">
              <a:buNone/>
            </a:pPr>
            <a:r>
              <a:rPr kumimoji="1" lang="en-US" altLang="zh-TW" dirty="0">
                <a:latin typeface="Times New Roman" panose="02020603050405020304" pitchFamily="18" charset="0"/>
                <a:cs typeface="Times New Roman" panose="02020603050405020304" pitchFamily="18" charset="0"/>
              </a:rPr>
              <a:t>   A similarity metric</a:t>
            </a:r>
          </a:p>
          <a:p>
            <a:r>
              <a:rPr kumimoji="1" lang="en-US" altLang="zh-TW" dirty="0" err="1">
                <a:latin typeface="Times New Roman" panose="02020603050405020304" pitchFamily="18" charset="0"/>
                <a:cs typeface="Times New Roman" panose="02020603050405020304" pitchFamily="18" charset="0"/>
              </a:rPr>
              <a:t>ProbPFP</a:t>
            </a:r>
            <a:r>
              <a:rPr kumimoji="1" lang="en-US" altLang="zh-TW" dirty="0">
                <a:latin typeface="Times New Roman" panose="02020603050405020304" pitchFamily="18" charset="0"/>
                <a:cs typeface="Times New Roman" panose="02020603050405020304" pitchFamily="18" charset="0"/>
              </a:rPr>
              <a:t> : partition + </a:t>
            </a:r>
            <a:r>
              <a:rPr kumimoji="1" lang="en-US" altLang="zh-TW" dirty="0" err="1">
                <a:latin typeface="Times New Roman" panose="02020603050405020304" pitchFamily="18" charset="0"/>
                <a:cs typeface="Times New Roman" panose="02020603050405020304" pitchFamily="18" charset="0"/>
              </a:rPr>
              <a:t>opmized</a:t>
            </a:r>
            <a:r>
              <a:rPr kumimoji="1" lang="en-US" altLang="zh-TW" dirty="0">
                <a:latin typeface="Times New Roman" panose="02020603050405020304" pitchFamily="18" charset="0"/>
                <a:cs typeface="Times New Roman" panose="02020603050405020304" pitchFamily="18" charset="0"/>
              </a:rPr>
              <a:t> HMM</a:t>
            </a:r>
          </a:p>
          <a:p>
            <a:r>
              <a:rPr kumimoji="1" lang="en-US" altLang="zh-TW" dirty="0" err="1">
                <a:latin typeface="Times New Roman" panose="02020603050405020304" pitchFamily="18" charset="0"/>
                <a:cs typeface="Times New Roman" panose="02020603050405020304" pitchFamily="18" charset="0"/>
              </a:rPr>
              <a:t>Probalign</a:t>
            </a:r>
            <a:r>
              <a:rPr kumimoji="1" lang="en-US" altLang="zh-TW" dirty="0">
                <a:latin typeface="Times New Roman" panose="02020603050405020304" pitchFamily="18" charset="0"/>
                <a:cs typeface="Times New Roman" panose="02020603050405020304" pitchFamily="18" charset="0"/>
              </a:rPr>
              <a:t> : partition function</a:t>
            </a:r>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13</a:t>
            </a:fld>
            <a:endParaRPr kumimoji="1" lang="zh-TW" altLang="en-US"/>
          </a:p>
        </p:txBody>
      </p:sp>
      <p:pic>
        <p:nvPicPr>
          <p:cNvPr id="5" name="圖片 4" descr="一張含有 桌 的圖片&#10;&#10;自動產生的描述">
            <a:extLst>
              <a:ext uri="{FF2B5EF4-FFF2-40B4-BE49-F238E27FC236}">
                <a16:creationId xmlns:a16="http://schemas.microsoft.com/office/drawing/2014/main" id="{2E55EC80-3EFE-9243-A1F4-C14B3D945DBA}"/>
              </a:ext>
            </a:extLst>
          </p:cNvPr>
          <p:cNvPicPr>
            <a:picLocks noChangeAspect="1"/>
          </p:cNvPicPr>
          <p:nvPr/>
        </p:nvPicPr>
        <p:blipFill rotWithShape="1">
          <a:blip r:embed="rId2"/>
          <a:srcRect b="10122"/>
          <a:stretch/>
        </p:blipFill>
        <p:spPr>
          <a:xfrm>
            <a:off x="6096000" y="607742"/>
            <a:ext cx="5953436" cy="5606353"/>
          </a:xfrm>
          <a:prstGeom prst="rect">
            <a:avLst/>
          </a:prstGeom>
        </p:spPr>
      </p:pic>
      <p:sp>
        <p:nvSpPr>
          <p:cNvPr id="9" name="矩形 8">
            <a:extLst>
              <a:ext uri="{FF2B5EF4-FFF2-40B4-BE49-F238E27FC236}">
                <a16:creationId xmlns:a16="http://schemas.microsoft.com/office/drawing/2014/main" id="{9D6DFC9C-17CA-E842-A65A-D7108DB22599}"/>
              </a:ext>
            </a:extLst>
          </p:cNvPr>
          <p:cNvSpPr/>
          <p:nvPr/>
        </p:nvSpPr>
        <p:spPr>
          <a:xfrm>
            <a:off x="6118301" y="1382752"/>
            <a:ext cx="5851454" cy="29775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268145605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Results</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a:xfrm>
            <a:off x="285559" y="1736260"/>
            <a:ext cx="10515600" cy="5121740"/>
          </a:xfrm>
        </p:spPr>
        <p:txBody>
          <a:bodyPr>
            <a:normAutofit/>
          </a:bodyPr>
          <a:lstStyle/>
          <a:p>
            <a:r>
              <a:rPr kumimoji="1" lang="en-US" altLang="zh-TW" dirty="0">
                <a:latin typeface="Times New Roman" panose="02020603050405020304" pitchFamily="18" charset="0"/>
                <a:cs typeface="Times New Roman" panose="02020603050405020304" pitchFamily="18" charset="0"/>
              </a:rPr>
              <a:t>Particle size : 10</a:t>
            </a:r>
          </a:p>
          <a:p>
            <a:r>
              <a:rPr kumimoji="1" lang="en-US" altLang="zh-TW" dirty="0">
                <a:latin typeface="Times New Roman" panose="02020603050405020304" pitchFamily="18" charset="0"/>
                <a:cs typeface="Times New Roman" panose="02020603050405020304" pitchFamily="18" charset="0"/>
              </a:rPr>
              <a:t>Generation of PSO : 30</a:t>
            </a:r>
          </a:p>
          <a:p>
            <a:endParaRPr kumimoji="1" lang="en-US"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SP (Sum-of-pairs score )</a:t>
            </a:r>
          </a:p>
          <a:p>
            <a:r>
              <a:rPr kumimoji="1" lang="en-US" altLang="zh-TW" dirty="0">
                <a:latin typeface="Times New Roman" panose="02020603050405020304" pitchFamily="18" charset="0"/>
                <a:cs typeface="Times New Roman" panose="02020603050405020304" pitchFamily="18" charset="0"/>
              </a:rPr>
              <a:t>TC (total column) score : </a:t>
            </a:r>
          </a:p>
          <a:p>
            <a:pPr marL="0" indent="0">
              <a:buNone/>
            </a:pPr>
            <a:r>
              <a:rPr kumimoji="1" lang="en-US" altLang="zh-TW" dirty="0">
                <a:latin typeface="Times New Roman" panose="02020603050405020304" pitchFamily="18" charset="0"/>
                <a:cs typeface="Times New Roman" panose="02020603050405020304" pitchFamily="18" charset="0"/>
              </a:rPr>
              <a:t>   A similarity metric</a:t>
            </a:r>
          </a:p>
          <a:p>
            <a:r>
              <a:rPr kumimoji="1" lang="en-US" altLang="zh-TW" dirty="0" err="1">
                <a:latin typeface="Times New Roman" panose="02020603050405020304" pitchFamily="18" charset="0"/>
                <a:cs typeface="Times New Roman" panose="02020603050405020304" pitchFamily="18" charset="0"/>
              </a:rPr>
              <a:t>ProbPFP</a:t>
            </a:r>
            <a:r>
              <a:rPr kumimoji="1" lang="en-US" altLang="zh-TW" dirty="0">
                <a:latin typeface="Times New Roman" panose="02020603050405020304" pitchFamily="18" charset="0"/>
                <a:cs typeface="Times New Roman" panose="02020603050405020304" pitchFamily="18" charset="0"/>
              </a:rPr>
              <a:t> : partition + </a:t>
            </a:r>
            <a:r>
              <a:rPr kumimoji="1" lang="en-US" altLang="zh-TW" b="1" dirty="0" err="1">
                <a:latin typeface="Times New Roman" panose="02020603050405020304" pitchFamily="18" charset="0"/>
                <a:cs typeface="Times New Roman" panose="02020603050405020304" pitchFamily="18" charset="0"/>
              </a:rPr>
              <a:t>opmized</a:t>
            </a:r>
            <a:r>
              <a:rPr kumimoji="1" lang="en-US" altLang="zh-TW" b="1" dirty="0">
                <a:latin typeface="Times New Roman" panose="02020603050405020304" pitchFamily="18" charset="0"/>
                <a:cs typeface="Times New Roman" panose="02020603050405020304" pitchFamily="18" charset="0"/>
              </a:rPr>
              <a:t> HMM</a:t>
            </a:r>
          </a:p>
          <a:p>
            <a:r>
              <a:rPr kumimoji="1" lang="en-US" altLang="zh-TW" dirty="0" err="1">
                <a:latin typeface="Times New Roman" panose="02020603050405020304" pitchFamily="18" charset="0"/>
                <a:cs typeface="Times New Roman" panose="02020603050405020304" pitchFamily="18" charset="0"/>
              </a:rPr>
              <a:t>Probalign</a:t>
            </a:r>
            <a:r>
              <a:rPr kumimoji="1" lang="en-US" altLang="zh-TW" dirty="0">
                <a:latin typeface="Times New Roman" panose="02020603050405020304" pitchFamily="18" charset="0"/>
                <a:cs typeface="Times New Roman" panose="02020603050405020304" pitchFamily="18" charset="0"/>
              </a:rPr>
              <a:t> : partition function</a:t>
            </a:r>
          </a:p>
          <a:p>
            <a:r>
              <a:rPr kumimoji="1" lang="en" altLang="zh-TW" dirty="0" err="1">
                <a:latin typeface="Times New Roman" panose="02020603050405020304" pitchFamily="18" charset="0"/>
                <a:cs typeface="Times New Roman" panose="02020603050405020304" pitchFamily="18" charset="0"/>
              </a:rPr>
              <a:t>BAliBASE</a:t>
            </a:r>
            <a:r>
              <a:rPr kumimoji="1" lang="en" altLang="zh-TW" dirty="0">
                <a:latin typeface="Times New Roman" panose="02020603050405020304" pitchFamily="18" charset="0"/>
                <a:cs typeface="Times New Roman" panose="02020603050405020304" pitchFamily="18" charset="0"/>
              </a:rPr>
              <a:t> is heavily </a:t>
            </a:r>
            <a:r>
              <a:rPr kumimoji="1" lang="en" altLang="zh-TW" b="1" dirty="0">
                <a:latin typeface="Times New Roman" panose="02020603050405020304" pitchFamily="18" charset="0"/>
                <a:cs typeface="Times New Roman" panose="02020603050405020304" pitchFamily="18" charset="0"/>
              </a:rPr>
              <a:t>biased</a:t>
            </a:r>
            <a:r>
              <a:rPr kumimoji="1" lang="en" altLang="zh-TW" dirty="0">
                <a:latin typeface="Times New Roman" panose="02020603050405020304" pitchFamily="18" charset="0"/>
                <a:cs typeface="Times New Roman" panose="02020603050405020304" pitchFamily="18" charset="0"/>
              </a:rPr>
              <a:t> toward </a:t>
            </a:r>
          </a:p>
          <a:p>
            <a:pPr marL="0" indent="0">
              <a:buNone/>
            </a:pPr>
            <a:r>
              <a:rPr kumimoji="1" lang="en" altLang="zh-TW" dirty="0">
                <a:latin typeface="Times New Roman" panose="02020603050405020304" pitchFamily="18" charset="0"/>
                <a:cs typeface="Times New Roman" panose="02020603050405020304" pitchFamily="18" charset="0"/>
              </a:rPr>
              <a:t>  globally related protein families.</a:t>
            </a:r>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14</a:t>
            </a:fld>
            <a:endParaRPr kumimoji="1" lang="zh-TW" altLang="en-US"/>
          </a:p>
        </p:txBody>
      </p:sp>
      <p:pic>
        <p:nvPicPr>
          <p:cNvPr id="7" name="圖片 6" descr="一張含有 桌 的圖片&#10;&#10;自動產生的描述">
            <a:extLst>
              <a:ext uri="{FF2B5EF4-FFF2-40B4-BE49-F238E27FC236}">
                <a16:creationId xmlns:a16="http://schemas.microsoft.com/office/drawing/2014/main" id="{9C42D4AD-4842-D64A-8370-B5A26AD1010C}"/>
              </a:ext>
            </a:extLst>
          </p:cNvPr>
          <p:cNvPicPr>
            <a:picLocks noChangeAspect="1"/>
          </p:cNvPicPr>
          <p:nvPr/>
        </p:nvPicPr>
        <p:blipFill rotWithShape="1">
          <a:blip r:embed="rId2"/>
          <a:srcRect b="11201"/>
          <a:stretch/>
        </p:blipFill>
        <p:spPr>
          <a:xfrm>
            <a:off x="6096000" y="643905"/>
            <a:ext cx="5932327" cy="5570190"/>
          </a:xfrm>
          <a:prstGeom prst="rect">
            <a:avLst/>
          </a:prstGeom>
        </p:spPr>
      </p:pic>
      <p:sp>
        <p:nvSpPr>
          <p:cNvPr id="8" name="矩形 7">
            <a:extLst>
              <a:ext uri="{FF2B5EF4-FFF2-40B4-BE49-F238E27FC236}">
                <a16:creationId xmlns:a16="http://schemas.microsoft.com/office/drawing/2014/main" id="{D452C2BA-C566-4747-8C72-548823A0D847}"/>
              </a:ext>
            </a:extLst>
          </p:cNvPr>
          <p:cNvSpPr/>
          <p:nvPr/>
        </p:nvSpPr>
        <p:spPr>
          <a:xfrm>
            <a:off x="6095999" y="1728440"/>
            <a:ext cx="5851454" cy="29775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142517120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Results</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a:xfrm>
            <a:off x="285559" y="1736259"/>
            <a:ext cx="10515600" cy="4985216"/>
          </a:xfrm>
        </p:spPr>
        <p:txBody>
          <a:bodyPr>
            <a:normAutofit/>
          </a:bodyPr>
          <a:lstStyle/>
          <a:p>
            <a:r>
              <a:rPr kumimoji="1" lang="en-US" altLang="zh-TW" dirty="0">
                <a:latin typeface="Times New Roman" panose="02020603050405020304" pitchFamily="18" charset="0"/>
                <a:cs typeface="Times New Roman" panose="02020603050405020304" pitchFamily="18" charset="0"/>
              </a:rPr>
              <a:t>Particle size : 10</a:t>
            </a:r>
          </a:p>
          <a:p>
            <a:r>
              <a:rPr kumimoji="1" lang="en-US" altLang="zh-TW" dirty="0">
                <a:latin typeface="Times New Roman" panose="02020603050405020304" pitchFamily="18" charset="0"/>
                <a:cs typeface="Times New Roman" panose="02020603050405020304" pitchFamily="18" charset="0"/>
              </a:rPr>
              <a:t>Generation of PSO : 30</a:t>
            </a:r>
          </a:p>
          <a:p>
            <a:endParaRPr kumimoji="1" lang="en-US"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SP (Sum-of-pairs score )</a:t>
            </a:r>
          </a:p>
          <a:p>
            <a:r>
              <a:rPr kumimoji="1" lang="en-US" altLang="zh-TW" dirty="0">
                <a:latin typeface="Times New Roman" panose="02020603050405020304" pitchFamily="18" charset="0"/>
                <a:cs typeface="Times New Roman" panose="02020603050405020304" pitchFamily="18" charset="0"/>
              </a:rPr>
              <a:t>TC (total column) score : </a:t>
            </a:r>
          </a:p>
          <a:p>
            <a:pPr marL="0" indent="0">
              <a:buNone/>
            </a:pPr>
            <a:r>
              <a:rPr kumimoji="1" lang="en-US" altLang="zh-TW" dirty="0">
                <a:latin typeface="Times New Roman" panose="02020603050405020304" pitchFamily="18" charset="0"/>
                <a:cs typeface="Times New Roman" panose="02020603050405020304" pitchFamily="18" charset="0"/>
              </a:rPr>
              <a:t>   A similarity metric</a:t>
            </a:r>
          </a:p>
          <a:p>
            <a:r>
              <a:rPr kumimoji="1" lang="en-US" altLang="zh-TW" dirty="0" err="1">
                <a:latin typeface="Times New Roman" panose="02020603050405020304" pitchFamily="18" charset="0"/>
                <a:cs typeface="Times New Roman" panose="02020603050405020304" pitchFamily="18" charset="0"/>
              </a:rPr>
              <a:t>ProbPFP</a:t>
            </a:r>
            <a:r>
              <a:rPr kumimoji="1" lang="en-US" altLang="zh-TW" dirty="0">
                <a:latin typeface="Times New Roman" panose="02020603050405020304" pitchFamily="18" charset="0"/>
                <a:cs typeface="Times New Roman" panose="02020603050405020304" pitchFamily="18" charset="0"/>
              </a:rPr>
              <a:t> : partition + </a:t>
            </a:r>
            <a:r>
              <a:rPr kumimoji="1" lang="en-US" altLang="zh-TW" b="1" dirty="0" err="1">
                <a:solidFill>
                  <a:srgbClr val="FF0000"/>
                </a:solidFill>
                <a:latin typeface="Times New Roman" panose="02020603050405020304" pitchFamily="18" charset="0"/>
                <a:cs typeface="Times New Roman" panose="02020603050405020304" pitchFamily="18" charset="0"/>
              </a:rPr>
              <a:t>opmized</a:t>
            </a:r>
            <a:r>
              <a:rPr kumimoji="1" lang="en-US" altLang="zh-TW" b="1" dirty="0">
                <a:solidFill>
                  <a:srgbClr val="FF0000"/>
                </a:solidFill>
                <a:latin typeface="Times New Roman" panose="02020603050405020304" pitchFamily="18" charset="0"/>
                <a:cs typeface="Times New Roman" panose="02020603050405020304" pitchFamily="18" charset="0"/>
              </a:rPr>
              <a:t> HMM</a:t>
            </a:r>
          </a:p>
          <a:p>
            <a:r>
              <a:rPr kumimoji="1" lang="en-US" altLang="zh-TW" dirty="0" err="1">
                <a:latin typeface="Times New Roman" panose="02020603050405020304" pitchFamily="18" charset="0"/>
                <a:cs typeface="Times New Roman" panose="02020603050405020304" pitchFamily="18" charset="0"/>
              </a:rPr>
              <a:t>Probalign</a:t>
            </a:r>
            <a:r>
              <a:rPr kumimoji="1" lang="en-US" altLang="zh-TW" dirty="0">
                <a:latin typeface="Times New Roman" panose="02020603050405020304" pitchFamily="18" charset="0"/>
                <a:cs typeface="Times New Roman" panose="02020603050405020304" pitchFamily="18" charset="0"/>
              </a:rPr>
              <a:t> : partition function</a:t>
            </a:r>
          </a:p>
          <a:p>
            <a:r>
              <a:rPr kumimoji="1" lang="en" altLang="zh-TW" dirty="0" err="1">
                <a:latin typeface="Times New Roman" panose="02020603050405020304" pitchFamily="18" charset="0"/>
                <a:cs typeface="Times New Roman" panose="02020603050405020304" pitchFamily="18" charset="0"/>
              </a:rPr>
              <a:t>SABmark</a:t>
            </a:r>
            <a:r>
              <a:rPr kumimoji="1" lang="en" altLang="zh-TW" dirty="0">
                <a:latin typeface="Times New Roman" panose="02020603050405020304" pitchFamily="18" charset="0"/>
                <a:cs typeface="Times New Roman" panose="02020603050405020304" pitchFamily="18" charset="0"/>
              </a:rPr>
              <a:t> is divergent</a:t>
            </a:r>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15</a:t>
            </a:fld>
            <a:endParaRPr kumimoji="1" lang="zh-TW" altLang="en-US"/>
          </a:p>
        </p:txBody>
      </p:sp>
      <p:pic>
        <p:nvPicPr>
          <p:cNvPr id="5" name="圖片 4" descr="一張含有 桌 的圖片&#10;&#10;自動產生的描述">
            <a:extLst>
              <a:ext uri="{FF2B5EF4-FFF2-40B4-BE49-F238E27FC236}">
                <a16:creationId xmlns:a16="http://schemas.microsoft.com/office/drawing/2014/main" id="{FCC9BA87-7264-1643-854E-7E532CDDB781}"/>
              </a:ext>
            </a:extLst>
          </p:cNvPr>
          <p:cNvPicPr>
            <a:picLocks noChangeAspect="1"/>
          </p:cNvPicPr>
          <p:nvPr/>
        </p:nvPicPr>
        <p:blipFill rotWithShape="1">
          <a:blip r:embed="rId2"/>
          <a:srcRect b="10470"/>
          <a:stretch/>
        </p:blipFill>
        <p:spPr>
          <a:xfrm>
            <a:off x="6096000" y="643905"/>
            <a:ext cx="5851454" cy="5570190"/>
          </a:xfrm>
          <a:prstGeom prst="rect">
            <a:avLst/>
          </a:prstGeom>
        </p:spPr>
      </p:pic>
      <p:sp>
        <p:nvSpPr>
          <p:cNvPr id="8" name="矩形 7">
            <a:extLst>
              <a:ext uri="{FF2B5EF4-FFF2-40B4-BE49-F238E27FC236}">
                <a16:creationId xmlns:a16="http://schemas.microsoft.com/office/drawing/2014/main" id="{EE0BFBA0-FCA8-7049-9BD5-DF3EE0F2CAFC}"/>
              </a:ext>
            </a:extLst>
          </p:cNvPr>
          <p:cNvSpPr/>
          <p:nvPr/>
        </p:nvSpPr>
        <p:spPr>
          <a:xfrm>
            <a:off x="6095999" y="1405054"/>
            <a:ext cx="5851454" cy="29775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305550501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a:xfrm>
            <a:off x="838200" y="2766219"/>
            <a:ext cx="10515600" cy="1325563"/>
          </a:xfrm>
        </p:spPr>
        <p:txBody>
          <a:bodyPr/>
          <a:lstStyle/>
          <a:p>
            <a:pPr algn="ctr"/>
            <a:r>
              <a:rPr kumimoji="1" lang="en-US" altLang="zh-TW" dirty="0"/>
              <a:t>Thank you for listening</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16</a:t>
            </a:fld>
            <a:endParaRPr kumimoji="1" lang="zh-TW" altLang="en-US"/>
          </a:p>
        </p:txBody>
      </p:sp>
    </p:spTree>
    <p:extLst>
      <p:ext uri="{BB962C8B-B14F-4D97-AF65-F5344CB8AC3E}">
        <p14:creationId xmlns:p14="http://schemas.microsoft.com/office/powerpoint/2010/main" val="263600663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w Cen MT-Rockwell">
      <a:majorFont>
        <a:latin typeface="Tw Cen MT" panose="020B0602020104020603"/>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371</TotalTime>
  <Words>671</Words>
  <Application>Microsoft Office PowerPoint</Application>
  <PresentationFormat>寬螢幕</PresentationFormat>
  <Paragraphs>134</Paragraphs>
  <Slides>17</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17</vt:i4>
      </vt:variant>
    </vt:vector>
  </HeadingPairs>
  <TitlesOfParts>
    <vt:vector size="23" baseType="lpstr">
      <vt:lpstr>Arial</vt:lpstr>
      <vt:lpstr>Calibri</vt:lpstr>
      <vt:lpstr>Cambria Math</vt:lpstr>
      <vt:lpstr>Rockwell</vt:lpstr>
      <vt:lpstr>Times New Roman</vt:lpstr>
      <vt:lpstr>Office 佈景主題</vt:lpstr>
      <vt:lpstr>ProbPFP: A Multiple Sequence Alignment Algorithm Combining Hidden Markov Model Optimized by Particle Swarm Optimization with Partition Function</vt:lpstr>
      <vt:lpstr>Abstract (1/2)</vt:lpstr>
      <vt:lpstr>Abstract (2/2)</vt:lpstr>
      <vt:lpstr>Outline</vt:lpstr>
      <vt:lpstr>Framework of ProbPFP</vt:lpstr>
      <vt:lpstr>Posterior probability</vt:lpstr>
      <vt:lpstr>Partition function</vt:lpstr>
      <vt:lpstr>Particle swarm optimization</vt:lpstr>
      <vt:lpstr>Particle swarm optimization</vt:lpstr>
      <vt:lpstr>Pair-hidden Markov model </vt:lpstr>
      <vt:lpstr>Pair-hidden Markov model </vt:lpstr>
      <vt:lpstr>Combination</vt:lpstr>
      <vt:lpstr>Progressive alignment</vt:lpstr>
      <vt:lpstr>Results</vt:lpstr>
      <vt:lpstr>Results</vt:lpstr>
      <vt:lpstr>Results</vt:lpstr>
      <vt:lpstr>Thank you for listening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Improved Algorithm for The Longest Common Subsequence Problem</dc:title>
  <dc:creator>宗霖 呂</dc:creator>
  <cp:lastModifiedBy>pplab</cp:lastModifiedBy>
  <cp:revision>29</cp:revision>
  <dcterms:created xsi:type="dcterms:W3CDTF">2021-03-28T03:57:23Z</dcterms:created>
  <dcterms:modified xsi:type="dcterms:W3CDTF">2021-04-20T12:18:45Z</dcterms:modified>
</cp:coreProperties>
</file>