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365" r:id="rId2"/>
    <p:sldId id="311" r:id="rId3"/>
    <p:sldId id="384" r:id="rId4"/>
    <p:sldId id="403" r:id="rId5"/>
    <p:sldId id="411" r:id="rId6"/>
    <p:sldId id="412" r:id="rId7"/>
    <p:sldId id="413" r:id="rId8"/>
    <p:sldId id="414" r:id="rId9"/>
    <p:sldId id="415" r:id="rId10"/>
    <p:sldId id="406" r:id="rId11"/>
    <p:sldId id="416" r:id="rId12"/>
    <p:sldId id="417" r:id="rId13"/>
    <p:sldId id="418" r:id="rId14"/>
    <p:sldId id="419" r:id="rId15"/>
    <p:sldId id="420"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 id="2" name="BBOBBOX" initials="B" lastIdx="1" clrIdx="1">
    <p:extLst>
      <p:ext uri="{19B8F6BF-5375-455C-9EA6-DF929625EA0E}">
        <p15:presenceInfo xmlns:p15="http://schemas.microsoft.com/office/powerpoint/2012/main" userId="BBOBBOX"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80328" autoAdjust="0"/>
  </p:normalViewPr>
  <p:slideViewPr>
    <p:cSldViewPr snapToGrid="0">
      <p:cViewPr varScale="1">
        <p:scale>
          <a:sx n="58" d="100"/>
          <a:sy n="58" d="100"/>
        </p:scale>
        <p:origin x="1764" y="6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2021/4/20</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en-US" altLang="zh-TW" dirty="0"/>
              <a:t>journal</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23331752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627773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dirty="0">
                <a:latin typeface="Times New Roman" panose="02020603050405020304" pitchFamily="18" charset="0"/>
                <a:ea typeface="Tahoma" panose="020B0604030504040204" pitchFamily="34" charset="0"/>
                <a:cs typeface="Times New Roman" panose="02020603050405020304" pitchFamily="18" charset="0"/>
              </a:rPr>
              <a:t>儘管利用開發策略可以提高收斂速度，朝著全局最優方向發展，但同時也可以提高捕獲策略陷入局部最優狀態的可能性。</a:t>
            </a:r>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1997744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dirty="0">
                <a:latin typeface="Times New Roman" panose="02020603050405020304" pitchFamily="18" charset="0"/>
                <a:ea typeface="Tahoma" panose="020B0604030504040204" pitchFamily="34" charset="0"/>
                <a:cs typeface="Times New Roman" panose="02020603050405020304" pitchFamily="18" charset="0"/>
              </a:rPr>
              <a:t>the distance among search agents decreases while the effect of exploitation increases. On the other hand, when the distance among search agents increases, the effect of the exploration process is more evident.</a:t>
            </a:r>
          </a:p>
          <a:p>
            <a:endParaRPr lang="en-US" altLang="zh-TW" dirty="0"/>
          </a:p>
          <a:p>
            <a:r>
              <a:rPr lang="en-US" altLang="zh-TW" dirty="0"/>
              <a:t>Both values are computed in every iteration.</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25786529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dirty="0">
                <a:latin typeface="Times New Roman" panose="02020603050405020304" pitchFamily="18" charset="0"/>
                <a:ea typeface="Tahoma" panose="020B0604030504040204" pitchFamily="34" charset="0"/>
                <a:cs typeface="Times New Roman" panose="02020603050405020304" pitchFamily="18" charset="0"/>
              </a:rPr>
              <a:t>探索百分比</a:t>
            </a:r>
            <a:r>
              <a:rPr lang="en-US" altLang="zh-TW" sz="1200" dirty="0">
                <a:latin typeface="Times New Roman" panose="02020603050405020304" pitchFamily="18" charset="0"/>
                <a:ea typeface="Tahoma" panose="020B0604030504040204" pitchFamily="34" charset="0"/>
                <a:cs typeface="Times New Roman" panose="02020603050405020304" pitchFamily="18" charset="0"/>
              </a:rPr>
              <a:t>XPL</a:t>
            </a:r>
            <a:r>
              <a:rPr lang="zh-TW" altLang="en-US" sz="1200" dirty="0">
                <a:latin typeface="Times New Roman" panose="02020603050405020304" pitchFamily="18" charset="0"/>
                <a:ea typeface="Tahoma" panose="020B0604030504040204" pitchFamily="34" charset="0"/>
                <a:cs typeface="Times New Roman" panose="02020603050405020304" pitchFamily="18" charset="0"/>
              </a:rPr>
              <a:t>％將探索級別表示為每次迭代的多樣性與達到的最大多樣性之間的關係。 開發百分比</a:t>
            </a:r>
            <a:r>
              <a:rPr lang="en-US" altLang="zh-TW" sz="1200" dirty="0">
                <a:latin typeface="Times New Roman" panose="02020603050405020304" pitchFamily="18" charset="0"/>
                <a:ea typeface="Tahoma" panose="020B0604030504040204" pitchFamily="34" charset="0"/>
                <a:cs typeface="Times New Roman" panose="02020603050405020304" pitchFamily="18" charset="0"/>
              </a:rPr>
              <a:t>XPT</a:t>
            </a:r>
            <a:r>
              <a:rPr lang="zh-TW" altLang="en-US" sz="1200" dirty="0">
                <a:latin typeface="Times New Roman" panose="02020603050405020304" pitchFamily="18" charset="0"/>
                <a:ea typeface="Tahoma" panose="020B0604030504040204" pitchFamily="34" charset="0"/>
                <a:cs typeface="Times New Roman" panose="02020603050405020304" pitchFamily="18" charset="0"/>
              </a:rPr>
              <a:t>％與開發水平相對應。 它被計算為</a:t>
            </a:r>
            <a:r>
              <a:rPr lang="en-US" altLang="zh-TW" sz="1200" dirty="0">
                <a:latin typeface="Times New Roman" panose="02020603050405020304" pitchFamily="18" charset="0"/>
                <a:ea typeface="Tahoma" panose="020B0604030504040204" pitchFamily="34" charset="0"/>
                <a:cs typeface="Times New Roman" panose="02020603050405020304" pitchFamily="18" charset="0"/>
              </a:rPr>
              <a:t>XPL</a:t>
            </a:r>
            <a:r>
              <a:rPr lang="zh-TW" altLang="en-US" sz="1200" dirty="0">
                <a:latin typeface="Times New Roman" panose="02020603050405020304" pitchFamily="18" charset="0"/>
                <a:ea typeface="Tahoma" panose="020B0604030504040204" pitchFamily="34" charset="0"/>
                <a:cs typeface="Times New Roman" panose="02020603050405020304" pitchFamily="18" charset="0"/>
              </a:rPr>
              <a:t>％的補正百分比，因為最大多樣性與當前迭代多樣性之間的差異是搜索代理濃度的結果而產生的。 可以看出，元素</a:t>
            </a:r>
            <a:r>
              <a:rPr lang="en-US" altLang="zh-TW" sz="1200" dirty="0">
                <a:latin typeface="Times New Roman" panose="02020603050405020304" pitchFamily="18" charset="0"/>
                <a:ea typeface="Tahoma" panose="020B0604030504040204" pitchFamily="34" charset="0"/>
                <a:cs typeface="Times New Roman" panose="02020603050405020304" pitchFamily="18" charset="0"/>
              </a:rPr>
              <a:t>XPL</a:t>
            </a:r>
            <a:r>
              <a:rPr lang="zh-TW" altLang="en-US" sz="1200" dirty="0">
                <a:latin typeface="Times New Roman" panose="02020603050405020304" pitchFamily="18" charset="0"/>
                <a:ea typeface="Tahoma" panose="020B0604030504040204" pitchFamily="34" charset="0"/>
                <a:cs typeface="Times New Roman" panose="02020603050405020304" pitchFamily="18" charset="0"/>
              </a:rPr>
              <a:t>％和</a:t>
            </a:r>
            <a:r>
              <a:rPr lang="en-US" altLang="zh-TW" sz="1200" dirty="0">
                <a:latin typeface="Times New Roman" panose="02020603050405020304" pitchFamily="18" charset="0"/>
                <a:ea typeface="Tahoma" panose="020B0604030504040204" pitchFamily="34" charset="0"/>
                <a:cs typeface="Times New Roman" panose="02020603050405020304" pitchFamily="18" charset="0"/>
              </a:rPr>
              <a:t>XPT</a:t>
            </a:r>
            <a:r>
              <a:rPr lang="zh-TW" altLang="en-US" sz="1200" dirty="0">
                <a:latin typeface="Times New Roman" panose="02020603050405020304" pitchFamily="18" charset="0"/>
                <a:ea typeface="Tahoma" panose="020B0604030504040204" pitchFamily="34" charset="0"/>
                <a:cs typeface="Times New Roman" panose="02020603050405020304" pitchFamily="18" charset="0"/>
              </a:rPr>
              <a:t>％是相互衝突和互補的。</a:t>
            </a:r>
            <a:endParaRPr lang="en-US" altLang="zh-TW" sz="1200" dirty="0">
              <a:latin typeface="Times New Roman" panose="02020603050405020304" pitchFamily="18" charset="0"/>
              <a:ea typeface="Tahoma" panose="020B0604030504040204" pitchFamily="34" charset="0"/>
              <a:cs typeface="Times New Roman" panose="02020603050405020304" pitchFamily="18" charset="0"/>
            </a:endParaRPr>
          </a:p>
          <a:p>
            <a:endParaRPr lang="en-US" altLang="zh-TW" sz="1200" dirty="0">
              <a:latin typeface="Times New Roman" panose="02020603050405020304" pitchFamily="18" charset="0"/>
              <a:ea typeface="Tahoma" panose="020B0604030504040204" pitchFamily="34" charset="0"/>
              <a:cs typeface="Times New Roman" panose="02020603050405020304" pitchFamily="18" charset="0"/>
            </a:endParaRPr>
          </a:p>
          <a:p>
            <a:r>
              <a:rPr lang="zh-TW" altLang="en-US" sz="1200" dirty="0">
                <a:latin typeface="Times New Roman" panose="02020603050405020304" pitchFamily="18" charset="0"/>
                <a:cs typeface="Times New Roman" panose="02020603050405020304" pitchFamily="18" charset="0"/>
              </a:rPr>
              <a:t>缺點</a:t>
            </a:r>
            <a:r>
              <a:rPr lang="en-US" altLang="zh-TW" sz="1200" dirty="0">
                <a:latin typeface="Times New Roman" panose="02020603050405020304" pitchFamily="18" charset="0"/>
                <a:cs typeface="Times New Roman" panose="02020603050405020304" pitchFamily="18" charset="0"/>
              </a:rPr>
              <a:t>:</a:t>
            </a:r>
            <a:r>
              <a:rPr lang="zh-TW" altLang="en-US" sz="1200" dirty="0">
                <a:latin typeface="Times New Roman" panose="02020603050405020304" pitchFamily="18" charset="0"/>
                <a:cs typeface="Times New Roman" panose="02020603050405020304" pitchFamily="18" charset="0"/>
              </a:rPr>
              <a:t>部分很小的多樣性突然變化被忽略了。</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33063424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11807118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dirty="0">
                <a:latin typeface="Times New Roman" panose="02020603050405020304" pitchFamily="18" charset="0"/>
                <a:ea typeface="Tahoma" panose="020B0604030504040204" pitchFamily="34" charset="0"/>
                <a:cs typeface="Times New Roman" panose="02020603050405020304" pitchFamily="18" charset="0"/>
              </a:rPr>
              <a:t>Point (c) represents an early stage of the algorithm (about the 20 iteration) where the balance evaluation has as values XPL% = 90 and XPT% = 10. </a:t>
            </a:r>
          </a:p>
          <a:p>
            <a:r>
              <a:rPr lang="en-US" altLang="zh-TW" dirty="0"/>
              <a:t>Point (d) corresponds to the 60 iterations. In this position, the balance evaluation maintains a value of XPL% = 70 along with XPT% = 30.</a:t>
            </a:r>
          </a:p>
          <a:p>
            <a:r>
              <a:rPr lang="en-US" altLang="zh-TW" dirty="0"/>
              <a:t>Points (e) and (f) correspond to the 150 and 250 iterations, respectively, where the balance evaluations have as values % = 25 , XPT% = 75 and XPL% = 08 , XPT% = 92</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27322619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dirty="0">
                <a:latin typeface="Times New Roman" panose="02020603050405020304" pitchFamily="18" charset="0"/>
                <a:ea typeface="Tahoma" panose="020B0604030504040204" pitchFamily="34" charset="0"/>
                <a:cs typeface="Times New Roman" panose="02020603050405020304" pitchFamily="18" charset="0"/>
              </a:rPr>
              <a:t>Point (c) represents an early stage of the algorithm (about the 20 iteration) where the balance evaluation has as values XPL% = 90 and XPT% = 10. </a:t>
            </a:r>
          </a:p>
          <a:p>
            <a:r>
              <a:rPr lang="en-US" altLang="zh-TW" dirty="0"/>
              <a:t>Point (d) corresponds to the 60 iterations. In this position, the balance evaluation maintains a value of XPL% = 70 along with XPT% = 30.</a:t>
            </a:r>
          </a:p>
          <a:p>
            <a:r>
              <a:rPr lang="en-US" altLang="zh-TW" dirty="0"/>
              <a:t>Points (e) and (f) correspond to the 150 and 250 iterations, respectively, where the balance evaluations have as values % = 25 , XPT% = 75 and XPL% = 08 , XPT% = 92</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4351795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the maximum function evaluations were 50,000 and unless otherwise stated, the population was 50</a:t>
            </a:r>
          </a:p>
          <a:p>
            <a:r>
              <a:rPr lang="en-US" altLang="zh-TW" dirty="0"/>
              <a:t>The average, median and standard deviation of the best-found solutions from 30 individual runs (AB, MD, SD)</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14680454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having multiple local optima</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38183193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having multiple local optima</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12</a:t>
            </a:fld>
            <a:endParaRPr lang="zh-TW" altLang="en-US"/>
          </a:p>
        </p:txBody>
      </p:sp>
    </p:spTree>
    <p:extLst>
      <p:ext uri="{BB962C8B-B14F-4D97-AF65-F5344CB8AC3E}">
        <p14:creationId xmlns:p14="http://schemas.microsoft.com/office/powerpoint/2010/main" val="25294076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having multiple local optima</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13</a:t>
            </a:fld>
            <a:endParaRPr lang="zh-TW" altLang="en-US"/>
          </a:p>
        </p:txBody>
      </p:sp>
    </p:spTree>
    <p:extLst>
      <p:ext uri="{BB962C8B-B14F-4D97-AF65-F5344CB8AC3E}">
        <p14:creationId xmlns:p14="http://schemas.microsoft.com/office/powerpoint/2010/main" val="3974835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he functions f 6 and f 37 are considered.</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14</a:t>
            </a:fld>
            <a:endParaRPr lang="zh-TW" altLang="en-US"/>
          </a:p>
        </p:txBody>
      </p:sp>
    </p:spTree>
    <p:extLst>
      <p:ext uri="{BB962C8B-B14F-4D97-AF65-F5344CB8AC3E}">
        <p14:creationId xmlns:p14="http://schemas.microsoft.com/office/powerpoint/2010/main" val="2978618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15</a:t>
            </a:fld>
            <a:endParaRPr lang="zh-TW" altLang="en-US"/>
          </a:p>
        </p:txBody>
      </p:sp>
    </p:spTree>
    <p:extLst>
      <p:ext uri="{BB962C8B-B14F-4D97-AF65-F5344CB8AC3E}">
        <p14:creationId xmlns:p14="http://schemas.microsoft.com/office/powerpoint/2010/main" val="4103414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2021/4/20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2021/4/20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2021/4/20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2021/4/20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2021/4/20</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2021/4/20</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2021/4/20</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2021/4/20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2021/4/20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2021/4/20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2021/4/20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2021/4/20</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198940" y="1614258"/>
            <a:ext cx="8746101" cy="877881"/>
          </a:xfrm>
        </p:spPr>
        <p:txBody>
          <a:bodyPr>
            <a:noAutofit/>
          </a:bodyPr>
          <a:lstStyle/>
          <a:p>
            <a:r>
              <a:rPr lang="en-US" altLang="zh-TW" sz="3600" dirty="0">
                <a:latin typeface="Times New Roman" panose="02020603050405020304" pitchFamily="18" charset="0"/>
                <a:cs typeface="Times New Roman" panose="02020603050405020304" pitchFamily="18" charset="0"/>
              </a:rPr>
              <a:t>A Better Balance in Metaheuristic Algorithms: Does It Exist?</a:t>
            </a: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303867" y="3070388"/>
            <a:ext cx="8536249" cy="717223"/>
          </a:xfrm>
        </p:spPr>
        <p:txBody>
          <a:bodyPr>
            <a:noAutofit/>
          </a:bodyPr>
          <a:lstStyle/>
          <a:p>
            <a:r>
              <a:rPr lang="en-US" altLang="zh-TW" sz="2800" dirty="0">
                <a:latin typeface="Times New Roman" panose="02020603050405020304" pitchFamily="18" charset="0"/>
                <a:cs typeface="Times New Roman" panose="02020603050405020304" pitchFamily="18" charset="0"/>
              </a:rPr>
              <a:t>Bernardo Morales-</a:t>
            </a:r>
            <a:r>
              <a:rPr lang="en-US" altLang="zh-TW" sz="2800" dirty="0" err="1">
                <a:latin typeface="Times New Roman" panose="02020603050405020304" pitchFamily="18" charset="0"/>
                <a:cs typeface="Times New Roman" panose="02020603050405020304" pitchFamily="18" charset="0"/>
              </a:rPr>
              <a:t>Castañeda</a:t>
            </a:r>
            <a:r>
              <a:rPr lang="en-US" altLang="zh-TW" sz="2800" dirty="0">
                <a:latin typeface="Times New Roman" panose="02020603050405020304" pitchFamily="18" charset="0"/>
                <a:cs typeface="Times New Roman" panose="02020603050405020304" pitchFamily="18" charset="0"/>
              </a:rPr>
              <a:t>, Daniel </a:t>
            </a:r>
            <a:r>
              <a:rPr lang="en-US" altLang="zh-TW" sz="2800" dirty="0" err="1">
                <a:latin typeface="Times New Roman" panose="02020603050405020304" pitchFamily="18" charset="0"/>
                <a:cs typeface="Times New Roman" panose="02020603050405020304" pitchFamily="18" charset="0"/>
              </a:rPr>
              <a:t>Zaldīvar</a:t>
            </a:r>
            <a:r>
              <a:rPr lang="en-US" altLang="zh-TW" sz="2800" dirty="0">
                <a:latin typeface="Times New Roman" panose="02020603050405020304" pitchFamily="18" charset="0"/>
                <a:cs typeface="Times New Roman" panose="02020603050405020304" pitchFamily="18" charset="0"/>
              </a:rPr>
              <a:t>, Erik Cuevas, Fernando Fausto and Alma </a:t>
            </a:r>
            <a:r>
              <a:rPr lang="en-US" altLang="zh-TW" sz="2800" dirty="0" err="1">
                <a:latin typeface="Times New Roman" panose="02020603050405020304" pitchFamily="18" charset="0"/>
                <a:cs typeface="Times New Roman" panose="02020603050405020304" pitchFamily="18" charset="0"/>
              </a:rPr>
              <a:t>Rodrīguez</a:t>
            </a:r>
            <a:r>
              <a:rPr lang="en-US" altLang="zh-TW" sz="2800" dirty="0">
                <a:latin typeface="Times New Roman" panose="02020603050405020304" pitchFamily="18" charset="0"/>
                <a:cs typeface="Times New Roman" panose="02020603050405020304" pitchFamily="18" charset="0"/>
              </a:rPr>
              <a:t>.</a:t>
            </a:r>
            <a:endParaRPr lang="fr-FR" altLang="zh-TW"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61182" y="5443584"/>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 Tzu-Hsu Lee</a:t>
            </a: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 Apr. 20, 2021.</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矩形 5">
            <a:extLst>
              <a:ext uri="{FF2B5EF4-FFF2-40B4-BE49-F238E27FC236}">
                <a16:creationId xmlns:a16="http://schemas.microsoft.com/office/drawing/2014/main" id="{198F8570-D18F-4FAE-A5A6-644CF99DDEB2}"/>
              </a:ext>
            </a:extLst>
          </p:cNvPr>
          <p:cNvSpPr/>
          <p:nvPr/>
        </p:nvSpPr>
        <p:spPr>
          <a:xfrm>
            <a:off x="760548" y="4066229"/>
            <a:ext cx="7622889" cy="830997"/>
          </a:xfrm>
          <a:prstGeom prst="rect">
            <a:avLst/>
          </a:prstGeom>
        </p:spPr>
        <p:txBody>
          <a:bodyPr wrap="square">
            <a:spAutoFit/>
          </a:bodyPr>
          <a:lstStyle/>
          <a:p>
            <a:pPr algn="ct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Swarm and Evolutionary Computation, 2020, </a:t>
            </a:r>
          </a:p>
          <a:p>
            <a:pPr algn="ct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Vol. 54, 100671.</a:t>
            </a:r>
          </a:p>
        </p:txBody>
      </p:sp>
    </p:spTree>
    <p:extLst>
      <p:ext uri="{BB962C8B-B14F-4D97-AF65-F5344CB8AC3E}">
        <p14:creationId xmlns:p14="http://schemas.microsoft.com/office/powerpoint/2010/main" val="3772700387"/>
      </p:ext>
    </p:extLst>
  </p:cSld>
  <p:clrMapOvr>
    <a:masterClrMapping/>
  </p:clrMapOvr>
  <mc:AlternateContent xmlns:mc="http://schemas.openxmlformats.org/markup-compatibility/2006">
    <mc:Choice xmlns:p14="http://schemas.microsoft.com/office/powerpoint/2010/main" Requires="p14">
      <p:transition spd="slow" p14:dur="2000" advTm="2519">
        <p:cut/>
      </p:transition>
    </mc:Choice>
    <mc:Fallback>
      <p:transition spd="slow" advTm="2519">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79816"/>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63183"/>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The constant development of new metaheuristic algorithms has led to a saturation in the field of stochastic search. There are now hundreds of different algorithms that can be used to solve any problem. To produce a good performance, every metaheuristic method needs to address a satisfactory equilibrium between exploration and exploitation of the search space. Although exploration and exploitation represent two fundamental concepts in metaheuristics, the main questions about their combination and balance have not been yet completely understood. Most of the existent analyzes conducted on metaheuristic techniques consider only the comparison of their final results which cannot evaluate the nature of a good or bad balance. </a:t>
            </a:r>
          </a:p>
        </p:txBody>
      </p:sp>
    </p:spTree>
    <p:extLst>
      <p:ext uri="{BB962C8B-B14F-4D97-AF65-F5344CB8AC3E}">
        <p14:creationId xmlns:p14="http://schemas.microsoft.com/office/powerpoint/2010/main" val="399448398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79816"/>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63183"/>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This paper presents an experimental analysis that quantitatively evaluates the balance between exploration and exploitation of several of the most important and better-known metaheuristic algorithms. In the study, a dimension-wise diversity measurement is used to assess the balance of each scheme considering a representative set of 42 benchmark problems that involve multimodal, unimodal, composite and shifted functions. As a result, the analysis provides several observations that allow understanding how this balance affects the results in each type of functions, and which balance is producing better solutions.</a:t>
            </a:r>
          </a:p>
        </p:txBody>
      </p:sp>
    </p:spTree>
    <p:extLst>
      <p:ext uri="{BB962C8B-B14F-4D97-AF65-F5344CB8AC3E}">
        <p14:creationId xmlns:p14="http://schemas.microsoft.com/office/powerpoint/2010/main" val="34652358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Exploration and Exploitation</a:t>
            </a:r>
            <a:endParaRPr lang="zh-TW" altLang="en-US" sz="3200" b="1"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1B8471E5-F010-4148-BA5F-6F76FBF442FC}"/>
              </a:ext>
            </a:extLst>
          </p:cNvPr>
          <p:cNvSpPr txBox="1"/>
          <p:nvPr/>
        </p:nvSpPr>
        <p:spPr>
          <a:xfrm>
            <a:off x="518088" y="1357132"/>
            <a:ext cx="8168703" cy="3416320"/>
          </a:xfrm>
          <a:prstGeom prst="rect">
            <a:avLst/>
          </a:prstGeom>
          <a:noFill/>
        </p:spPr>
        <p:txBody>
          <a:bodyPr wrap="square">
            <a:spAutoFit/>
          </a:bodyPr>
          <a:lstStyle/>
          <a:p>
            <a:pPr marL="285750" indent="-285750">
              <a:buFont typeface="Arial" panose="020B0604020202020204" pitchFamily="34" charset="0"/>
              <a:buChar char="•"/>
            </a:pP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Exploration : The ability of a search algorithm to discover a diverse assortment of solutions, spread within different regions of the search space. </a:t>
            </a:r>
          </a:p>
          <a:p>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t>
            </a: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ex : biotic pollens (FPA) and</a:t>
            </a:r>
            <a:r>
              <a:rPr lang="zh-TW" altLang="en-US"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w &lt; 0.8 (PSO).</a:t>
            </a:r>
          </a:p>
          <a:p>
            <a:pPr marL="285750" indent="-285750">
              <a:buFont typeface="Arial" panose="020B0604020202020204" pitchFamily="34" charset="0"/>
              <a:buChar char="•"/>
            </a:pPr>
            <a:endParaRPr lang="en-US" altLang="zh-TW"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r>
              <a:rPr lang="en-US" altLang="zh-TW" dirty="0">
                <a:latin typeface="Times New Roman" panose="02020603050405020304" pitchFamily="18" charset="0"/>
                <a:ea typeface="Tahoma" panose="020B0604030504040204" pitchFamily="34" charset="0"/>
                <a:cs typeface="Times New Roman" panose="02020603050405020304" pitchFamily="18" charset="0"/>
              </a:rPr>
              <a:t>Exploitation : Emphasizes the idea of intensifying the search process over- promising regions of the solution space with the aim of finding better solutions or improving the existing ones.</a:t>
            </a: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ex : a</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biotic pollens (FPA) and w &gt; 1.2 (PSO).</a:t>
            </a:r>
          </a:p>
          <a:p>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7541569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Evaluation of the Balance (1/5)</a:t>
            </a:r>
            <a:endParaRPr lang="zh-TW" altLang="en-US"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1B8471E5-F010-4148-BA5F-6F76FBF442FC}"/>
                  </a:ext>
                </a:extLst>
              </p:cNvPr>
              <p:cNvSpPr txBox="1"/>
              <p:nvPr/>
            </p:nvSpPr>
            <p:spPr>
              <a:xfrm>
                <a:off x="518088" y="1357132"/>
                <a:ext cx="8168703" cy="4599721"/>
              </a:xfrm>
              <a:prstGeom prst="rect">
                <a:avLst/>
              </a:prstGeom>
              <a:noFill/>
            </p:spPr>
            <p:txBody>
              <a:bodyPr wrap="square">
                <a:spAutoFit/>
              </a:bodyPr>
              <a:lstStyle/>
              <a:p>
                <a:pPr marL="285750" indent="-285750">
                  <a:buFont typeface="Arial" panose="020B0604020202020204" pitchFamily="34" charset="0"/>
                  <a:buChar char="•"/>
                </a:pPr>
                <a:r>
                  <a:rPr lang="en-US" altLang="zh-TW" dirty="0">
                    <a:latin typeface="Times New Roman" panose="02020603050405020304" pitchFamily="18" charset="0"/>
                    <a:ea typeface="Tahoma" panose="020B0604030504040204" pitchFamily="34" charset="0"/>
                    <a:cs typeface="Times New Roman" panose="02020603050405020304" pitchFamily="18" charset="0"/>
                  </a:rPr>
                  <a:t>D</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imension-wise diversity measurement :</a:t>
                </a:r>
              </a:p>
              <a:p>
                <a:pPr marL="285750" indent="-285750">
                  <a:buFont typeface="Arial" panose="020B0604020202020204" pitchFamily="34" charset="0"/>
                  <a:buChar char="•"/>
                </a:pPr>
                <a:endParaRPr lang="en-US" altLang="zh-TW"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endParaRPr lang="en-US" altLang="zh-TW"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endParaRPr lang="en-US" altLang="zh-TW"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endParaRPr lang="en-US" altLang="zh-TW"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 </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where median(</a:t>
                </a:r>
                <a14:m>
                  <m:oMath xmlns:m="http://schemas.openxmlformats.org/officeDocument/2006/math">
                    <m:sSup>
                      <m:sSupPr>
                        <m:ctrlPr>
                          <a:rPr lang="en-US" altLang="zh-TW" sz="1800" i="1" smtClean="0">
                            <a:solidFill>
                              <a:srgbClr val="836967"/>
                            </a:solidFill>
                            <a:latin typeface="Cambria Math" panose="02040503050406030204" pitchFamily="18" charset="0"/>
                          </a:rPr>
                        </m:ctrlPr>
                      </m:sSupPr>
                      <m:e>
                        <m:r>
                          <a:rPr lang="en-US" altLang="zh-TW" sz="1800" i="1" smtClean="0">
                            <a:latin typeface="Cambria Math" panose="02040503050406030204" pitchFamily="18" charset="0"/>
                          </a:rPr>
                          <m:t>𝑥</m:t>
                        </m:r>
                      </m:e>
                      <m:sup>
                        <m:r>
                          <a:rPr lang="en-US" altLang="zh-TW" sz="1800" i="1" smtClean="0">
                            <a:latin typeface="Cambria Math" panose="02040503050406030204" pitchFamily="18" charset="0"/>
                          </a:rPr>
                          <m:t>𝑗</m:t>
                        </m:r>
                      </m:sup>
                    </m:sSup>
                  </m:oMath>
                </a14:m>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represents the median of dimension j in the whole population.      </a:t>
                </a: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14:m>
                  <m:oMath xmlns:m="http://schemas.openxmlformats.org/officeDocument/2006/math">
                    <m:sSubSup>
                      <m:sSubSupPr>
                        <m:ctrlPr>
                          <a:rPr lang="en-US" altLang="zh-TW" sz="1800" i="1" dirty="0" smtClean="0">
                            <a:solidFill>
                              <a:srgbClr val="836967"/>
                            </a:solidFill>
                            <a:latin typeface="Cambria Math" panose="02040503050406030204" pitchFamily="18" charset="0"/>
                          </a:rPr>
                        </m:ctrlPr>
                      </m:sSubSupPr>
                      <m:e>
                        <m:r>
                          <a:rPr lang="en-US" altLang="zh-TW" sz="1800" i="1" dirty="0" err="1" smtClean="0">
                            <a:latin typeface="Cambria Math" panose="02040503050406030204" pitchFamily="18" charset="0"/>
                          </a:rPr>
                          <m:t>𝑥</m:t>
                        </m:r>
                      </m:e>
                      <m:sub>
                        <m:r>
                          <a:rPr lang="en-US" altLang="zh-TW" sz="1800" i="1" dirty="0" err="1" smtClean="0">
                            <a:latin typeface="Cambria Math" panose="02040503050406030204" pitchFamily="18" charset="0"/>
                          </a:rPr>
                          <m:t>𝑖</m:t>
                        </m:r>
                      </m:sub>
                      <m:sup>
                        <m:r>
                          <a:rPr lang="en-US" altLang="zh-TW" sz="1800" i="1" dirty="0" err="1" smtClean="0">
                            <a:latin typeface="Cambria Math" panose="02040503050406030204" pitchFamily="18" charset="0"/>
                          </a:rPr>
                          <m:t>𝑗</m:t>
                        </m:r>
                      </m:sup>
                    </m:sSubSup>
                  </m:oMath>
                </a14:m>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is the dimension j of search agent </a:t>
                </a:r>
                <a:r>
                  <a:rPr lang="en-US" altLang="zh-TW" sz="1800" dirty="0" err="1">
                    <a:latin typeface="Times New Roman" panose="02020603050405020304" pitchFamily="18" charset="0"/>
                    <a:ea typeface="Tahoma" panose="020B0604030504040204" pitchFamily="34" charset="0"/>
                    <a:cs typeface="Times New Roman" panose="02020603050405020304" pitchFamily="18" charset="0"/>
                  </a:rPr>
                  <a:t>i</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n corresponds to the number of search    </a:t>
                </a: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agents in the population while m symbolizes the number of design variables of the </a:t>
                </a: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optimization problem.</a:t>
                </a: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p:txBody>
          </p:sp>
        </mc:Choice>
        <mc:Fallback xmlns="">
          <p:sp>
            <p:nvSpPr>
              <p:cNvPr id="6" name="文字方塊 5">
                <a:extLst>
                  <a:ext uri="{FF2B5EF4-FFF2-40B4-BE49-F238E27FC236}">
                    <a16:creationId xmlns:a16="http://schemas.microsoft.com/office/drawing/2014/main" id="{1B8471E5-F010-4148-BA5F-6F76FBF442FC}"/>
                  </a:ext>
                </a:extLst>
              </p:cNvPr>
              <p:cNvSpPr txBox="1">
                <a:spLocks noRot="1" noChangeAspect="1" noMove="1" noResize="1" noEditPoints="1" noAdjustHandles="1" noChangeArrowheads="1" noChangeShapeType="1" noTextEdit="1"/>
              </p:cNvSpPr>
              <p:nvPr/>
            </p:nvSpPr>
            <p:spPr>
              <a:xfrm>
                <a:off x="518088" y="1357132"/>
                <a:ext cx="8168703" cy="4599721"/>
              </a:xfrm>
              <a:prstGeom prst="rect">
                <a:avLst/>
              </a:prstGeom>
              <a:blipFill>
                <a:blip r:embed="rId3"/>
                <a:stretch>
                  <a:fillRect l="-522" t="-796" r="-2313"/>
                </a:stretch>
              </a:blipFill>
            </p:spPr>
            <p:txBody>
              <a:bodyPr/>
              <a:lstStyle/>
              <a:p>
                <a:r>
                  <a:rPr lang="zh-TW" altLang="en-US">
                    <a:noFill/>
                  </a:rPr>
                  <a:t> </a:t>
                </a:r>
              </a:p>
            </p:txBody>
          </p:sp>
        </mc:Fallback>
      </mc:AlternateContent>
      <p:pic>
        <p:nvPicPr>
          <p:cNvPr id="4" name="圖片 3">
            <a:extLst>
              <a:ext uri="{FF2B5EF4-FFF2-40B4-BE49-F238E27FC236}">
                <a16:creationId xmlns:a16="http://schemas.microsoft.com/office/drawing/2014/main" id="{0CB64031-B815-4B08-AC2F-1D43B5626530}"/>
              </a:ext>
            </a:extLst>
          </p:cNvPr>
          <p:cNvPicPr>
            <a:picLocks noChangeAspect="1"/>
          </p:cNvPicPr>
          <p:nvPr/>
        </p:nvPicPr>
        <p:blipFill>
          <a:blip r:embed="rId4"/>
          <a:stretch>
            <a:fillRect/>
          </a:stretch>
        </p:blipFill>
        <p:spPr>
          <a:xfrm>
            <a:off x="865725" y="1949950"/>
            <a:ext cx="3384157" cy="1963494"/>
          </a:xfrm>
          <a:prstGeom prst="rect">
            <a:avLst/>
          </a:prstGeom>
        </p:spPr>
      </p:pic>
    </p:spTree>
    <p:extLst>
      <p:ext uri="{BB962C8B-B14F-4D97-AF65-F5344CB8AC3E}">
        <p14:creationId xmlns:p14="http://schemas.microsoft.com/office/powerpoint/2010/main" val="280991124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Evaluation of the Balance (2/5)</a:t>
            </a:r>
            <a:endParaRPr lang="zh-TW" altLang="en-US" sz="3200" b="1"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1B8471E5-F010-4148-BA5F-6F76FBF442FC}"/>
              </a:ext>
            </a:extLst>
          </p:cNvPr>
          <p:cNvSpPr txBox="1"/>
          <p:nvPr/>
        </p:nvSpPr>
        <p:spPr>
          <a:xfrm>
            <a:off x="518088" y="1357132"/>
            <a:ext cx="8168703" cy="4801314"/>
          </a:xfrm>
          <a:prstGeom prst="rect">
            <a:avLst/>
          </a:prstGeom>
          <a:noFill/>
        </p:spPr>
        <p:txBody>
          <a:bodyPr wrap="square">
            <a:spAutoFit/>
          </a:bodyPr>
          <a:lstStyle/>
          <a:p>
            <a:pPr marL="285750" indent="-285750">
              <a:buFont typeface="Arial" panose="020B0604020202020204" pitchFamily="34" charset="0"/>
              <a:buChar char="•"/>
            </a:pPr>
            <a:r>
              <a:rPr lang="en-US" altLang="zh-TW" dirty="0">
                <a:latin typeface="Times New Roman" panose="02020603050405020304" pitchFamily="18" charset="0"/>
                <a:ea typeface="Tahoma" panose="020B0604030504040204" pitchFamily="34" charset="0"/>
                <a:cs typeface="Times New Roman" panose="02020603050405020304" pitchFamily="18" charset="0"/>
              </a:rPr>
              <a:t>The percentage of exploration and exploitation :</a:t>
            </a:r>
          </a:p>
          <a:p>
            <a:pPr marL="285750" indent="-285750">
              <a:buFont typeface="Arial" panose="020B0604020202020204" pitchFamily="34" charset="0"/>
              <a:buChar char="•"/>
            </a:pPr>
            <a:endParaRPr lang="en-US" altLang="zh-TW"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endParaRPr lang="en-US" altLang="zh-TW"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endParaRPr lang="en-US" altLang="zh-TW"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endParaRPr lang="en-US" altLang="zh-TW"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endParaRPr lang="en-US" altLang="zh-TW"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endParaRPr lang="en-US" altLang="zh-TW"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 where </a:t>
            </a:r>
            <a:r>
              <a:rPr lang="en-US" altLang="zh-TW" dirty="0" err="1">
                <a:latin typeface="Times New Roman" panose="02020603050405020304" pitchFamily="18" charset="0"/>
                <a:ea typeface="Tahoma" panose="020B0604030504040204" pitchFamily="34" charset="0"/>
                <a:cs typeface="Times New Roman" panose="02020603050405020304" pitchFamily="18" charset="0"/>
              </a:rPr>
              <a:t>Divmax</a:t>
            </a:r>
            <a:r>
              <a:rPr lang="en-US" altLang="zh-TW" dirty="0">
                <a:latin typeface="Times New Roman" panose="02020603050405020304" pitchFamily="18" charset="0"/>
                <a:ea typeface="Tahoma" panose="020B0604030504040204" pitchFamily="34" charset="0"/>
                <a:cs typeface="Times New Roman" panose="02020603050405020304" pitchFamily="18" charset="0"/>
              </a:rPr>
              <a:t> represents the maximum diversity value found in the entire   </a:t>
            </a: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optimization process. </a:t>
            </a:r>
          </a:p>
          <a:p>
            <a:pPr marL="285750" indent="-285750">
              <a:buFont typeface="Arial" panose="020B0604020202020204" pitchFamily="34" charset="0"/>
              <a:buChar char="•"/>
            </a:pP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endParaRPr lang="en-US" altLang="zh-TW"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p:txBody>
      </p:sp>
      <p:pic>
        <p:nvPicPr>
          <p:cNvPr id="5" name="圖片 4">
            <a:extLst>
              <a:ext uri="{FF2B5EF4-FFF2-40B4-BE49-F238E27FC236}">
                <a16:creationId xmlns:a16="http://schemas.microsoft.com/office/drawing/2014/main" id="{D8D5B92A-6DA2-4B62-BD72-B7707F4ED980}"/>
              </a:ext>
            </a:extLst>
          </p:cNvPr>
          <p:cNvPicPr>
            <a:picLocks noChangeAspect="1"/>
          </p:cNvPicPr>
          <p:nvPr/>
        </p:nvPicPr>
        <p:blipFill>
          <a:blip r:embed="rId3"/>
          <a:stretch>
            <a:fillRect/>
          </a:stretch>
        </p:blipFill>
        <p:spPr>
          <a:xfrm>
            <a:off x="875737" y="2061452"/>
            <a:ext cx="3571572" cy="1827804"/>
          </a:xfrm>
          <a:prstGeom prst="rect">
            <a:avLst/>
          </a:prstGeom>
        </p:spPr>
      </p:pic>
    </p:spTree>
    <p:extLst>
      <p:ext uri="{BB962C8B-B14F-4D97-AF65-F5344CB8AC3E}">
        <p14:creationId xmlns:p14="http://schemas.microsoft.com/office/powerpoint/2010/main" val="292136442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Evaluation of the Balance (3/5)</a:t>
            </a:r>
            <a:endParaRPr lang="zh-TW" altLang="en-US" sz="3200" b="1"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1B8471E5-F010-4148-BA5F-6F76FBF442FC}"/>
              </a:ext>
            </a:extLst>
          </p:cNvPr>
          <p:cNvSpPr txBox="1"/>
          <p:nvPr/>
        </p:nvSpPr>
        <p:spPr>
          <a:xfrm>
            <a:off x="518088" y="1357132"/>
            <a:ext cx="8168703" cy="1754326"/>
          </a:xfrm>
          <a:prstGeom prst="rect">
            <a:avLst/>
          </a:prstGeom>
          <a:noFill/>
        </p:spPr>
        <p:txBody>
          <a:bodyPr wrap="square">
            <a:spAutoFit/>
          </a:bodyPr>
          <a:lstStyle/>
          <a:p>
            <a:pPr marL="285750" indent="-285750">
              <a:buFont typeface="Arial" panose="020B0604020202020204" pitchFamily="34" charset="0"/>
              <a:buChar char="•"/>
            </a:pPr>
            <a:r>
              <a:rPr lang="en-US" altLang="zh-TW" dirty="0">
                <a:latin typeface="Times New Roman" panose="02020603050405020304" pitchFamily="18" charset="0"/>
                <a:ea typeface="Tahoma" panose="020B0604030504040204" pitchFamily="34" charset="0"/>
                <a:cs typeface="Times New Roman" panose="02020603050405020304" pitchFamily="18" charset="0"/>
              </a:rPr>
              <a:t>Ex :</a:t>
            </a:r>
          </a:p>
          <a:p>
            <a:pPr marL="285750" indent="-285750">
              <a:buFont typeface="Arial" panose="020B0604020202020204" pitchFamily="34" charset="0"/>
              <a:buChar char="•"/>
            </a:pP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endParaRPr lang="en-US" altLang="zh-TW"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p:txBody>
      </p:sp>
      <p:pic>
        <p:nvPicPr>
          <p:cNvPr id="4" name="圖片 3">
            <a:extLst>
              <a:ext uri="{FF2B5EF4-FFF2-40B4-BE49-F238E27FC236}">
                <a16:creationId xmlns:a16="http://schemas.microsoft.com/office/drawing/2014/main" id="{19B1EC0F-D407-4DE6-8D91-1BCB45974C3E}"/>
              </a:ext>
            </a:extLst>
          </p:cNvPr>
          <p:cNvPicPr>
            <a:picLocks noChangeAspect="1"/>
          </p:cNvPicPr>
          <p:nvPr/>
        </p:nvPicPr>
        <p:blipFill>
          <a:blip r:embed="rId3"/>
          <a:stretch>
            <a:fillRect/>
          </a:stretch>
        </p:blipFill>
        <p:spPr>
          <a:xfrm>
            <a:off x="1599690" y="1236589"/>
            <a:ext cx="5695238" cy="1142857"/>
          </a:xfrm>
          <a:prstGeom prst="rect">
            <a:avLst/>
          </a:prstGeom>
        </p:spPr>
      </p:pic>
      <p:pic>
        <p:nvPicPr>
          <p:cNvPr id="8" name="圖片 7">
            <a:extLst>
              <a:ext uri="{FF2B5EF4-FFF2-40B4-BE49-F238E27FC236}">
                <a16:creationId xmlns:a16="http://schemas.microsoft.com/office/drawing/2014/main" id="{F946E4F2-3220-4DFC-9C62-C3E9530B67BD}"/>
              </a:ext>
            </a:extLst>
          </p:cNvPr>
          <p:cNvPicPr>
            <a:picLocks noChangeAspect="1"/>
          </p:cNvPicPr>
          <p:nvPr/>
        </p:nvPicPr>
        <p:blipFill>
          <a:blip r:embed="rId4"/>
          <a:stretch>
            <a:fillRect/>
          </a:stretch>
        </p:blipFill>
        <p:spPr>
          <a:xfrm>
            <a:off x="1967238" y="2499989"/>
            <a:ext cx="5209524" cy="3666667"/>
          </a:xfrm>
          <a:prstGeom prst="rect">
            <a:avLst/>
          </a:prstGeom>
        </p:spPr>
      </p:pic>
    </p:spTree>
    <p:extLst>
      <p:ext uri="{BB962C8B-B14F-4D97-AF65-F5344CB8AC3E}">
        <p14:creationId xmlns:p14="http://schemas.microsoft.com/office/powerpoint/2010/main" val="14984740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Evaluation of the Balance (4/5)</a:t>
            </a:r>
            <a:endParaRPr lang="zh-TW" altLang="en-US" sz="3200" b="1"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1538B1F7-4201-4E9F-8F40-EA99AFC79B44}"/>
              </a:ext>
            </a:extLst>
          </p:cNvPr>
          <p:cNvPicPr>
            <a:picLocks noChangeAspect="1"/>
          </p:cNvPicPr>
          <p:nvPr/>
        </p:nvPicPr>
        <p:blipFill>
          <a:blip r:embed="rId3"/>
          <a:stretch>
            <a:fillRect/>
          </a:stretch>
        </p:blipFill>
        <p:spPr>
          <a:xfrm>
            <a:off x="1999895" y="1670137"/>
            <a:ext cx="5144210" cy="4034472"/>
          </a:xfrm>
          <a:prstGeom prst="rect">
            <a:avLst/>
          </a:prstGeom>
        </p:spPr>
      </p:pic>
    </p:spTree>
    <p:extLst>
      <p:ext uri="{BB962C8B-B14F-4D97-AF65-F5344CB8AC3E}">
        <p14:creationId xmlns:p14="http://schemas.microsoft.com/office/powerpoint/2010/main" val="266125784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Evaluation of the Balance (5/5)</a:t>
            </a:r>
            <a:endParaRPr lang="zh-TW" altLang="en-US" sz="3200"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ED0BEAEF-C413-4DA0-B69B-AACD175D0D37}"/>
              </a:ext>
            </a:extLst>
          </p:cNvPr>
          <p:cNvPicPr>
            <a:picLocks noChangeAspect="1"/>
          </p:cNvPicPr>
          <p:nvPr/>
        </p:nvPicPr>
        <p:blipFill>
          <a:blip r:embed="rId3"/>
          <a:stretch>
            <a:fillRect/>
          </a:stretch>
        </p:blipFill>
        <p:spPr>
          <a:xfrm>
            <a:off x="0" y="1284130"/>
            <a:ext cx="9144000" cy="5064265"/>
          </a:xfrm>
          <a:prstGeom prst="rect">
            <a:avLst/>
          </a:prstGeom>
        </p:spPr>
      </p:pic>
    </p:spTree>
    <p:extLst>
      <p:ext uri="{BB962C8B-B14F-4D97-AF65-F5344CB8AC3E}">
        <p14:creationId xmlns:p14="http://schemas.microsoft.com/office/powerpoint/2010/main" val="169920505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Experiments and Results (1/5)</a:t>
            </a:r>
            <a:endParaRPr lang="zh-TW" altLang="en-US" sz="3200" b="1"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99BB0FD1-8487-497C-B1BC-F181FA6AC664}"/>
              </a:ext>
            </a:extLst>
          </p:cNvPr>
          <p:cNvPicPr>
            <a:picLocks noChangeAspect="1"/>
          </p:cNvPicPr>
          <p:nvPr/>
        </p:nvPicPr>
        <p:blipFill>
          <a:blip r:embed="rId3"/>
          <a:stretch>
            <a:fillRect/>
          </a:stretch>
        </p:blipFill>
        <p:spPr>
          <a:xfrm>
            <a:off x="862476" y="1487024"/>
            <a:ext cx="7419048" cy="4133333"/>
          </a:xfrm>
          <a:prstGeom prst="rect">
            <a:avLst/>
          </a:prstGeom>
        </p:spPr>
      </p:pic>
    </p:spTree>
    <p:extLst>
      <p:ext uri="{BB962C8B-B14F-4D97-AF65-F5344CB8AC3E}">
        <p14:creationId xmlns:p14="http://schemas.microsoft.com/office/powerpoint/2010/main" val="74529272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64484" y="153524"/>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Experiments and Results (2/5)</a:t>
            </a:r>
            <a:endParaRPr lang="zh-TW" altLang="en-US" sz="3200" b="1"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2D6EDA97-F08E-4248-B2B0-8E1AABFC2437}"/>
              </a:ext>
            </a:extLst>
          </p:cNvPr>
          <p:cNvSpPr txBox="1"/>
          <p:nvPr/>
        </p:nvSpPr>
        <p:spPr>
          <a:xfrm>
            <a:off x="248657" y="736891"/>
            <a:ext cx="8168703" cy="369332"/>
          </a:xfrm>
          <a:prstGeom prst="rect">
            <a:avLst/>
          </a:prstGeom>
          <a:noFill/>
        </p:spPr>
        <p:txBody>
          <a:bodyPr wrap="square">
            <a:spAutoFit/>
          </a:bodyPr>
          <a:lstStyle/>
          <a:p>
            <a:pPr marL="285750" indent="-285750">
              <a:buFont typeface="Arial" panose="020B0604020202020204" pitchFamily="34" charset="0"/>
              <a:buChar char="•"/>
            </a:pP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Results of multimodal test functions</a:t>
            </a:r>
          </a:p>
        </p:txBody>
      </p:sp>
      <p:pic>
        <p:nvPicPr>
          <p:cNvPr id="10" name="圖片 9">
            <a:extLst>
              <a:ext uri="{FF2B5EF4-FFF2-40B4-BE49-F238E27FC236}">
                <a16:creationId xmlns:a16="http://schemas.microsoft.com/office/drawing/2014/main" id="{1086AB50-5713-499A-A06A-777AAAAFAC83}"/>
              </a:ext>
            </a:extLst>
          </p:cNvPr>
          <p:cNvPicPr>
            <a:picLocks noChangeAspect="1"/>
          </p:cNvPicPr>
          <p:nvPr/>
        </p:nvPicPr>
        <p:blipFill>
          <a:blip r:embed="rId3"/>
          <a:stretch>
            <a:fillRect/>
          </a:stretch>
        </p:blipFill>
        <p:spPr>
          <a:xfrm>
            <a:off x="1134947" y="1106223"/>
            <a:ext cx="6874105" cy="5633996"/>
          </a:xfrm>
          <a:prstGeom prst="rect">
            <a:avLst/>
          </a:prstGeom>
        </p:spPr>
      </p:pic>
    </p:spTree>
    <p:extLst>
      <p:ext uri="{BB962C8B-B14F-4D97-AF65-F5344CB8AC3E}">
        <p14:creationId xmlns:p14="http://schemas.microsoft.com/office/powerpoint/2010/main" val="133485094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64484" y="153524"/>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Experiments and Results (3/5)</a:t>
            </a:r>
            <a:endParaRPr lang="zh-TW" altLang="en-US" sz="3200"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2989B67A-409E-44E0-B68A-76F4C598400E}"/>
              </a:ext>
            </a:extLst>
          </p:cNvPr>
          <p:cNvPicPr>
            <a:picLocks noChangeAspect="1"/>
          </p:cNvPicPr>
          <p:nvPr/>
        </p:nvPicPr>
        <p:blipFill>
          <a:blip r:embed="rId3"/>
          <a:stretch>
            <a:fillRect/>
          </a:stretch>
        </p:blipFill>
        <p:spPr>
          <a:xfrm>
            <a:off x="737518" y="696191"/>
            <a:ext cx="7668964" cy="6161809"/>
          </a:xfrm>
          <a:prstGeom prst="rect">
            <a:avLst/>
          </a:prstGeom>
        </p:spPr>
      </p:pic>
    </p:spTree>
    <p:extLst>
      <p:ext uri="{BB962C8B-B14F-4D97-AF65-F5344CB8AC3E}">
        <p14:creationId xmlns:p14="http://schemas.microsoft.com/office/powerpoint/2010/main" val="354796497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64484" y="153524"/>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Experiments and Results (4/5)</a:t>
            </a:r>
            <a:endParaRPr lang="zh-TW" altLang="en-US" sz="3200"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75C02D30-A1F5-45C4-A548-26D6BF430B07}"/>
              </a:ext>
            </a:extLst>
          </p:cNvPr>
          <p:cNvPicPr>
            <a:picLocks noChangeAspect="1"/>
          </p:cNvPicPr>
          <p:nvPr/>
        </p:nvPicPr>
        <p:blipFill>
          <a:blip r:embed="rId3"/>
          <a:stretch>
            <a:fillRect/>
          </a:stretch>
        </p:blipFill>
        <p:spPr>
          <a:xfrm>
            <a:off x="0" y="1670205"/>
            <a:ext cx="9144000" cy="3787751"/>
          </a:xfrm>
          <a:prstGeom prst="rect">
            <a:avLst/>
          </a:prstGeom>
        </p:spPr>
      </p:pic>
    </p:spTree>
    <p:extLst>
      <p:ext uri="{BB962C8B-B14F-4D97-AF65-F5344CB8AC3E}">
        <p14:creationId xmlns:p14="http://schemas.microsoft.com/office/powerpoint/2010/main" val="138485891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64484" y="153524"/>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Experiments and Results (5/5)</a:t>
            </a:r>
            <a:endParaRPr lang="zh-TW" altLang="en-US" sz="3200" b="1"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2D6EDA97-F08E-4248-B2B0-8E1AABFC2437}"/>
              </a:ext>
            </a:extLst>
          </p:cNvPr>
          <p:cNvSpPr txBox="1"/>
          <p:nvPr/>
        </p:nvSpPr>
        <p:spPr>
          <a:xfrm>
            <a:off x="326065" y="914909"/>
            <a:ext cx="8168703" cy="369332"/>
          </a:xfrm>
          <a:prstGeom prst="rect">
            <a:avLst/>
          </a:prstGeom>
          <a:noFill/>
        </p:spPr>
        <p:txBody>
          <a:bodyPr wrap="square">
            <a:spAutoFit/>
          </a:bodyPr>
          <a:lstStyle/>
          <a:p>
            <a:pPr marL="285750" indent="-285750">
              <a:buFont typeface="Arial" panose="020B0604020202020204" pitchFamily="34" charset="0"/>
              <a:buChar char="•"/>
            </a:pP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Diversity analysis</a:t>
            </a:r>
          </a:p>
        </p:txBody>
      </p:sp>
      <p:pic>
        <p:nvPicPr>
          <p:cNvPr id="4" name="圖片 3">
            <a:extLst>
              <a:ext uri="{FF2B5EF4-FFF2-40B4-BE49-F238E27FC236}">
                <a16:creationId xmlns:a16="http://schemas.microsoft.com/office/drawing/2014/main" id="{062F0E2E-9648-432B-B833-E91F172EC114}"/>
              </a:ext>
            </a:extLst>
          </p:cNvPr>
          <p:cNvPicPr>
            <a:picLocks noChangeAspect="1"/>
          </p:cNvPicPr>
          <p:nvPr/>
        </p:nvPicPr>
        <p:blipFill>
          <a:blip r:embed="rId3"/>
          <a:stretch>
            <a:fillRect/>
          </a:stretch>
        </p:blipFill>
        <p:spPr>
          <a:xfrm>
            <a:off x="0" y="1925109"/>
            <a:ext cx="9144000" cy="3672798"/>
          </a:xfrm>
          <a:prstGeom prst="rect">
            <a:avLst/>
          </a:prstGeom>
        </p:spPr>
      </p:pic>
    </p:spTree>
    <p:extLst>
      <p:ext uri="{BB962C8B-B14F-4D97-AF65-F5344CB8AC3E}">
        <p14:creationId xmlns:p14="http://schemas.microsoft.com/office/powerpoint/2010/main" val="85087381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Result Analysis</a:t>
            </a:r>
            <a:endParaRPr lang="zh-TW" altLang="en-US" sz="3200" b="1"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1B8471E5-F010-4148-BA5F-6F76FBF442FC}"/>
              </a:ext>
            </a:extLst>
          </p:cNvPr>
          <p:cNvSpPr txBox="1"/>
          <p:nvPr/>
        </p:nvSpPr>
        <p:spPr>
          <a:xfrm>
            <a:off x="518088" y="1357132"/>
            <a:ext cx="8168703" cy="3139321"/>
          </a:xfrm>
          <a:prstGeom prst="rect">
            <a:avLst/>
          </a:prstGeom>
          <a:noFill/>
        </p:spPr>
        <p:txBody>
          <a:bodyPr wrap="square">
            <a:spAutoFit/>
          </a:bodyPr>
          <a:lstStyle/>
          <a:p>
            <a:pPr marL="285750" indent="-285750">
              <a:buFont typeface="Arial" panose="020B0604020202020204" pitchFamily="34" charset="0"/>
              <a:buChar char="•"/>
            </a:pPr>
            <a:r>
              <a:rPr lang="en-US" altLang="zh-TW" dirty="0">
                <a:latin typeface="Times New Roman" panose="02020603050405020304" pitchFamily="18" charset="0"/>
                <a:ea typeface="Tahoma" panose="020B0604030504040204" pitchFamily="34" charset="0"/>
                <a:cs typeface="Times New Roman" panose="02020603050405020304" pitchFamily="18" charset="0"/>
              </a:rPr>
              <a:t>T</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he best results have been obtained by WOA, CMA-ES, GWO and TLBO through an exploitation rate of over 90% (XPL% = 10, XPT% = 90).     </a:t>
            </a:r>
          </a:p>
          <a:p>
            <a:pPr marL="285750" indent="-285750">
              <a:buFont typeface="Arial" panose="020B0604020202020204" pitchFamily="34" charset="0"/>
              <a:buChar char="•"/>
            </a:pP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In order to produce this behavior, the exploration process should last only the first iterations, specifically from 100 to 300 iterations. Then, the rest of the search strategy is mainly guided by the exploitation process.</a:t>
            </a:r>
          </a:p>
          <a:p>
            <a:pPr marL="285750" indent="-285750">
              <a:buFont typeface="Arial" panose="020B0604020202020204" pitchFamily="34" charset="0"/>
              <a:buChar char="•"/>
            </a:pPr>
            <a:endParaRPr lang="en-US" altLang="zh-TW"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It is also necessary to have operators for the generation of promising solutions so that they take advantage of the adequate diversity conditions observed in the balance response.</a:t>
            </a:r>
          </a:p>
          <a:p>
            <a:pPr marL="285750" indent="-285750">
              <a:buFont typeface="Arial" panose="020B0604020202020204" pitchFamily="34" charset="0"/>
              <a:buChar char="•"/>
            </a:pP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47942427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94015</TotalTime>
  <Words>1086</Words>
  <Application>Microsoft Office PowerPoint</Application>
  <PresentationFormat>如螢幕大小 (4:3)</PresentationFormat>
  <Paragraphs>112</Paragraphs>
  <Slides>15</Slides>
  <Notes>15</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15</vt:i4>
      </vt:variant>
    </vt:vector>
  </HeadingPairs>
  <TitlesOfParts>
    <vt:vector size="21" baseType="lpstr">
      <vt:lpstr>Arial</vt:lpstr>
      <vt:lpstr>Calibri</vt:lpstr>
      <vt:lpstr>Calibri Light</vt:lpstr>
      <vt:lpstr>Cambria Math</vt:lpstr>
      <vt:lpstr>Times New Roman</vt:lpstr>
      <vt:lpstr>Office 佈景主題</vt:lpstr>
      <vt:lpstr>A Better Balance in Metaheuristic Algorithms: Does It Exist?</vt:lpstr>
      <vt:lpstr>Abstract(1/2)</vt:lpstr>
      <vt:lpstr>Abstract(2/2)</vt:lpstr>
      <vt:lpstr>Exploration and Exploitation</vt:lpstr>
      <vt:lpstr>Evaluation of the Balance (1/5)</vt:lpstr>
      <vt:lpstr>Evaluation of the Balance (2/5)</vt:lpstr>
      <vt:lpstr>Evaluation of the Balance (3/5)</vt:lpstr>
      <vt:lpstr>Evaluation of the Balance (4/5)</vt:lpstr>
      <vt:lpstr>Evaluation of the Balance (5/5)</vt:lpstr>
      <vt:lpstr>Experiments and Results (1/5)</vt:lpstr>
      <vt:lpstr>Experiments and Results (2/5)</vt:lpstr>
      <vt:lpstr>Experiments and Results (3/5)</vt:lpstr>
      <vt:lpstr>Experiments and Results (4/5)</vt:lpstr>
      <vt:lpstr>Experiments and Results (5/5)</vt:lpstr>
      <vt:lpstr>Result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pplab</cp:lastModifiedBy>
  <cp:revision>1034</cp:revision>
  <dcterms:created xsi:type="dcterms:W3CDTF">2017-09-25T08:45:50Z</dcterms:created>
  <dcterms:modified xsi:type="dcterms:W3CDTF">2021-04-20T13:01:27Z</dcterms:modified>
</cp:coreProperties>
</file>