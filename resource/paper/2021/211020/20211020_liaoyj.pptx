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308" r:id="rId4"/>
    <p:sldId id="302" r:id="rId5"/>
    <p:sldId id="304" r:id="rId6"/>
    <p:sldId id="267" r:id="rId7"/>
    <p:sldId id="307" r:id="rId8"/>
    <p:sldId id="305" r:id="rId9"/>
    <p:sldId id="282" r:id="rId10"/>
    <p:sldId id="303" r:id="rId11"/>
    <p:sldId id="309" r:id="rId12"/>
    <p:sldId id="306" r:id="rId13"/>
    <p:sldId id="28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郁儒 廖" initials="郁儒" lastIdx="1" clrIdx="0">
    <p:extLst>
      <p:ext uri="{19B8F6BF-5375-455C-9EA6-DF929625EA0E}">
        <p15:presenceInfo xmlns:p15="http://schemas.microsoft.com/office/powerpoint/2012/main" userId="189a1d031aa848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09030"/>
    <a:srgbClr val="000000"/>
    <a:srgbClr val="FFFFFF"/>
    <a:srgbClr val="4472C4"/>
    <a:srgbClr val="FFFF00"/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4" autoAdjust="0"/>
    <p:restoredTop sz="90000" autoAdjust="0"/>
  </p:normalViewPr>
  <p:slideViewPr>
    <p:cSldViewPr snapToGrid="0">
      <p:cViewPr varScale="1">
        <p:scale>
          <a:sx n="65" d="100"/>
          <a:sy n="65" d="100"/>
        </p:scale>
        <p:origin x="77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52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451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370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451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973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423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864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569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62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=&gt;</a:t>
            </a:r>
            <a:r>
              <a:rPr lang="pl-PL" altLang="zh-TW" sz="1200" dirty="0"/>
              <a:t>v</a:t>
            </a:r>
            <a:r>
              <a:rPr lang="pl-PL" altLang="zh-TW" sz="1200" baseline="-25000" dirty="0"/>
              <a:t>0,</a:t>
            </a:r>
            <a:r>
              <a:rPr lang="en-US" altLang="zh-TW" sz="1200" baseline="-25000" dirty="0"/>
              <a:t>3</a:t>
            </a:r>
            <a:r>
              <a:rPr lang="pl-PL" altLang="zh-TW" sz="1200" baseline="-25000" dirty="0"/>
              <a:t> </a:t>
            </a:r>
            <a:r>
              <a:rPr lang="pl-PL" altLang="zh-TW" sz="1200" dirty="0"/>
              <a:t>to v</a:t>
            </a:r>
            <a:r>
              <a:rPr lang="en-US" altLang="zh-TW" sz="1200" baseline="-25000" dirty="0"/>
              <a:t>4,9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03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2021/10/20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3574"/>
            <a:ext cx="9144000" cy="103029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Overlap Graph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61792"/>
            <a:ext cx="9144000" cy="1177017"/>
          </a:xfrm>
        </p:spPr>
        <p:txBody>
          <a:bodyPr>
            <a:normAutofit lnSpcReduction="10000"/>
          </a:bodyPr>
          <a:lstStyle/>
          <a:p>
            <a:pPr algn="l"/>
            <a:endParaRPr lang="zh-TW" altLang="en-US" sz="1800" b="0" i="0" u="none" strike="noStrike" baseline="0" dirty="0">
              <a:solidFill>
                <a:srgbClr val="000000"/>
              </a:solidFill>
              <a:latin typeface="KNMMG G+ Gulliver"/>
            </a:endParaRPr>
          </a:p>
          <a:p>
            <a:r>
              <a:rPr lang="en-US" altLang="zh-TW" b="0" i="0" u="none" strike="noStrike" baseline="0" dirty="0">
                <a:solidFill>
                  <a:srgbClr val="000000"/>
                </a:solidFill>
                <a:latin typeface="KNMMG G+ Gulliver"/>
              </a:rPr>
              <a:t> Bastien </a:t>
            </a:r>
            <a:r>
              <a:rPr lang="en-US" altLang="zh-TW" b="0" i="0" u="none" strike="noStrike" baseline="0" dirty="0" err="1">
                <a:solidFill>
                  <a:srgbClr val="000000"/>
                </a:solidFill>
                <a:latin typeface="KNMMG G+ Gulliver"/>
              </a:rPr>
              <a:t>Cazaux</a:t>
            </a:r>
            <a:r>
              <a:rPr lang="en-US" altLang="zh-TW" b="0" i="0" u="none" strike="noStrike" baseline="0" dirty="0">
                <a:solidFill>
                  <a:srgbClr val="000000"/>
                </a:solidFill>
                <a:latin typeface="KNMMG G+ Gulliver"/>
              </a:rPr>
              <a:t>, Eric Rivals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155 (2020) 105862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Oct.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20, 2021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927" y="1524295"/>
            <a:ext cx="1129684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set of finite words, the Overlap Graph (OG) is a complete weighted digraph where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is a node and where the weight of an arc equals the length of the longest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 of one word onto the other (Overlap is an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notion). The OG serves to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DNA fragments or to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shortest superstrings, which are a compressed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the input. The OG requires space that is quadratic in the number of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words, which limits its scalability. The Hierarchical Overlap Graph (HOG) is an alternative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that also encodes all maximal overlaps, but uses space that is linear in the sum of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lengths of the input words. We propose the first algorithm to build the HOG in linear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for words of equal length.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3737099-EEEF-487F-9C2E-9253C387DDA6}"/>
              </a:ext>
            </a:extLst>
          </p:cNvPr>
          <p:cNvSpPr txBox="1"/>
          <p:nvPr/>
        </p:nvSpPr>
        <p:spPr>
          <a:xfrm>
            <a:off x="908415" y="1726039"/>
            <a:ext cx="342948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‘aa’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42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Overlap Graph (HOG)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686539-5790-40B5-A07A-274AF72860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67" r="67345"/>
          <a:stretch/>
        </p:blipFill>
        <p:spPr>
          <a:xfrm>
            <a:off x="838200" y="1832303"/>
            <a:ext cx="2793056" cy="487543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751558" y="137063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C101EC8-3E33-4DF9-803A-488C073E3A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690" t="19294" r="35658" b="1910"/>
          <a:stretch/>
        </p:blipFill>
        <p:spPr>
          <a:xfrm>
            <a:off x="4389409" y="2012008"/>
            <a:ext cx="2793056" cy="44808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E1C38E5-DD13-4D30-9F76-1BDBDB6F80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746" t="37598" r="2166" b="1514"/>
          <a:stretch/>
        </p:blipFill>
        <p:spPr>
          <a:xfrm>
            <a:off x="7845986" y="2373412"/>
            <a:ext cx="3789842" cy="402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89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Overlap Graph (HOG)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686539-5790-40B5-A07A-274AF728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78" y="2479551"/>
            <a:ext cx="8724502" cy="36683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lang="en-US" altLang="zh-TW" sz="2400" dirty="0" err="1">
                <a:highlight>
                  <a:srgbClr val="66FF33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highlight>
                  <a:srgbClr val="66FF33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F60B55D5-50DD-4DB1-AFDD-AB163934D272}"/>
              </a:ext>
            </a:extLst>
          </p:cNvPr>
          <p:cNvSpPr/>
          <p:nvPr/>
        </p:nvSpPr>
        <p:spPr>
          <a:xfrm>
            <a:off x="6878425" y="5506825"/>
            <a:ext cx="311085" cy="28280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AB5EFBFC-5DCD-4C0F-AEAF-40F07E11D352}"/>
              </a:ext>
            </a:extLst>
          </p:cNvPr>
          <p:cNvSpPr/>
          <p:nvPr/>
        </p:nvSpPr>
        <p:spPr>
          <a:xfrm>
            <a:off x="6493497" y="4717962"/>
            <a:ext cx="311085" cy="282804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4831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Common Superstring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014E47E-21E8-420B-BF72-52A257DDFF69}"/>
              </a:ext>
            </a:extLst>
          </p:cNvPr>
          <p:cNvSpPr txBox="1"/>
          <p:nvPr/>
        </p:nvSpPr>
        <p:spPr>
          <a:xfrm>
            <a:off x="1453599" y="1605302"/>
            <a:ext cx="34294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{aacaa, aagt, gtc}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 = aacaagtc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3737099-EEEF-487F-9C2E-9253C387DDA6}"/>
              </a:ext>
            </a:extLst>
          </p:cNvPr>
          <p:cNvSpPr txBox="1"/>
          <p:nvPr/>
        </p:nvSpPr>
        <p:spPr>
          <a:xfrm>
            <a:off x="1313768" y="3429000"/>
            <a:ext cx="34294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</a:t>
            </a:r>
            <a:r>
              <a:rPr lang="en-US" altLang="zh-TW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8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S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‘aa’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6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Overlap Graph (HOG)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686539-5790-40B5-A07A-274AF728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61" y="2554965"/>
            <a:ext cx="8724502" cy="36683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5A5E5B39-A19B-408E-8D62-48049FF9E9F1}"/>
              </a:ext>
            </a:extLst>
          </p:cNvPr>
          <p:cNvSpPr/>
          <p:nvPr/>
        </p:nvSpPr>
        <p:spPr>
          <a:xfrm>
            <a:off x="2432115" y="3780150"/>
            <a:ext cx="433633" cy="311084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6193377-2C0E-4E0C-84BA-B518E850307D}"/>
              </a:ext>
            </a:extLst>
          </p:cNvPr>
          <p:cNvSpPr/>
          <p:nvPr/>
        </p:nvSpPr>
        <p:spPr>
          <a:xfrm>
            <a:off x="5243379" y="3935692"/>
            <a:ext cx="433633" cy="311084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783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Overlap Graph (HOG)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686539-5790-40B5-A07A-274AF72860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829" r="30917"/>
          <a:stretch/>
        </p:blipFill>
        <p:spPr>
          <a:xfrm>
            <a:off x="1867103" y="2152352"/>
            <a:ext cx="2639506" cy="3668379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B0FBD9C6-199E-453B-A7A8-650BF355B368}"/>
              </a:ext>
            </a:extLst>
          </p:cNvPr>
          <p:cNvSpPr txBox="1"/>
          <p:nvPr/>
        </p:nvSpPr>
        <p:spPr>
          <a:xfrm>
            <a:off x="1297478" y="169068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aacd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470C57-3CE5-4D5E-8430-469CA3AA41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287" t="-525" r="459" b="525"/>
          <a:stretch/>
        </p:blipFill>
        <p:spPr>
          <a:xfrm>
            <a:off x="7239290" y="2238980"/>
            <a:ext cx="2639506" cy="3668379"/>
          </a:xfrm>
          <a:prstGeom prst="rect">
            <a:avLst/>
          </a:prstGeom>
        </p:spPr>
      </p:pic>
      <p:sp>
        <p:nvSpPr>
          <p:cNvPr id="3" name="箭號: 向右 2">
            <a:extLst>
              <a:ext uri="{FF2B5EF4-FFF2-40B4-BE49-F238E27FC236}">
                <a16:creationId xmlns:a16="http://schemas.microsoft.com/office/drawing/2014/main" id="{7C31C46C-D5B7-4577-93F6-19C2CF251517}"/>
              </a:ext>
            </a:extLst>
          </p:cNvPr>
          <p:cNvSpPr/>
          <p:nvPr/>
        </p:nvSpPr>
        <p:spPr>
          <a:xfrm>
            <a:off x="4952711" y="3784411"/>
            <a:ext cx="1412928" cy="5775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656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5EB6554A-6CA0-40CD-A35B-D8B120EE6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547" y="542499"/>
            <a:ext cx="4310310" cy="609253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915586-7514-4CBA-9834-82107FAAEBA5}"/>
              </a:ext>
            </a:extLst>
          </p:cNvPr>
          <p:cNvSpPr txBox="1"/>
          <p:nvPr/>
        </p:nvSpPr>
        <p:spPr>
          <a:xfrm>
            <a:off x="992171" y="151818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tattatt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ctat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gtattat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4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B7E0D9B6-AB2D-44BF-AEC4-4D4246135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998" y="3264885"/>
            <a:ext cx="2095500" cy="2552700"/>
          </a:xfrm>
          <a:prstGeom prst="rect">
            <a:avLst/>
          </a:prstGeom>
        </p:spPr>
      </p:pic>
      <p:sp>
        <p:nvSpPr>
          <p:cNvPr id="17" name="橢圓 16">
            <a:extLst>
              <a:ext uri="{FF2B5EF4-FFF2-40B4-BE49-F238E27FC236}">
                <a16:creationId xmlns:a16="http://schemas.microsoft.com/office/drawing/2014/main" id="{EE4FE248-B75F-41B1-8F42-1C092253572A}"/>
              </a:ext>
            </a:extLst>
          </p:cNvPr>
          <p:cNvSpPr/>
          <p:nvPr/>
        </p:nvSpPr>
        <p:spPr>
          <a:xfrm>
            <a:off x="8262790" y="1690688"/>
            <a:ext cx="362736" cy="3487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379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915586-7514-4CBA-9834-82107FAAEBA5}"/>
              </a:ext>
            </a:extLst>
          </p:cNvPr>
          <p:cNvSpPr txBox="1"/>
          <p:nvPr/>
        </p:nvSpPr>
        <p:spPr>
          <a:xfrm>
            <a:off x="992171" y="151818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tattatt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ctattat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gtattat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F22F93F-1B8C-412E-A6B0-1D4BFCBA5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79" y="2476186"/>
            <a:ext cx="5156959" cy="286362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8D1A6B4-C210-4E0B-AFD5-87E81E10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599" y="231942"/>
            <a:ext cx="4790671" cy="662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85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915586-7514-4CBA-9834-82107FAAEBA5}"/>
              </a:ext>
            </a:extLst>
          </p:cNvPr>
          <p:cNvSpPr txBox="1"/>
          <p:nvPr/>
        </p:nvSpPr>
        <p:spPr>
          <a:xfrm>
            <a:off x="992171" y="151818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{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tattatt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ctattat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gtattat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cctat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D1A6B4-C210-4E0B-AFD5-87E81E10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208" y="2114762"/>
            <a:ext cx="2933700" cy="405765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F22F93F-1B8C-412E-A6B0-1D4BFCBA5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878" y="2819711"/>
            <a:ext cx="5156959" cy="2863629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06619710-FCF1-4E22-BAE2-21EFBF2AE6FE}"/>
              </a:ext>
            </a:extLst>
          </p:cNvPr>
          <p:cNvSpPr/>
          <p:nvPr/>
        </p:nvSpPr>
        <p:spPr>
          <a:xfrm>
            <a:off x="2870659" y="2958514"/>
            <a:ext cx="362736" cy="34879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AD0C5730-E5CF-4CD9-BB3E-02778C45FBD3}"/>
              </a:ext>
            </a:extLst>
          </p:cNvPr>
          <p:cNvSpPr/>
          <p:nvPr/>
        </p:nvSpPr>
        <p:spPr>
          <a:xfrm>
            <a:off x="8305015" y="278349"/>
            <a:ext cx="226243" cy="2168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64F6E032-5F31-40E1-B268-FBA59DB4888B}"/>
              </a:ext>
            </a:extLst>
          </p:cNvPr>
          <p:cNvSpPr/>
          <p:nvPr/>
        </p:nvSpPr>
        <p:spPr>
          <a:xfrm>
            <a:off x="7831316" y="1079680"/>
            <a:ext cx="226243" cy="2168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8D7C9EC4-22B0-41AE-BA0E-8F49F3E1EB84}"/>
              </a:ext>
            </a:extLst>
          </p:cNvPr>
          <p:cNvSpPr/>
          <p:nvPr/>
        </p:nvSpPr>
        <p:spPr>
          <a:xfrm>
            <a:off x="9317318" y="1037236"/>
            <a:ext cx="226243" cy="2168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50D0FC65-CE15-49A1-9BD6-3294DC410077}"/>
              </a:ext>
            </a:extLst>
          </p:cNvPr>
          <p:cNvSpPr/>
          <p:nvPr/>
        </p:nvSpPr>
        <p:spPr>
          <a:xfrm rot="21429531">
            <a:off x="9344629" y="1674299"/>
            <a:ext cx="226243" cy="2168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EC6CF42-3A0D-4AED-83C2-95F04AF738D4}"/>
              </a:ext>
            </a:extLst>
          </p:cNvPr>
          <p:cNvSpPr/>
          <p:nvPr/>
        </p:nvSpPr>
        <p:spPr>
          <a:xfrm>
            <a:off x="6840717" y="1079680"/>
            <a:ext cx="226243" cy="216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2673772-6A79-4A77-B799-05F859E3C27D}"/>
              </a:ext>
            </a:extLst>
          </p:cNvPr>
          <p:cNvSpPr/>
          <p:nvPr/>
        </p:nvSpPr>
        <p:spPr>
          <a:xfrm>
            <a:off x="8537542" y="1066251"/>
            <a:ext cx="226243" cy="216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17074FB-0733-4B2D-B28D-E5D25A2AE0BB}"/>
              </a:ext>
            </a:extLst>
          </p:cNvPr>
          <p:cNvSpPr/>
          <p:nvPr/>
        </p:nvSpPr>
        <p:spPr>
          <a:xfrm>
            <a:off x="9361884" y="2763329"/>
            <a:ext cx="226243" cy="216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5AC555D9-68E9-4F28-90D3-147E3F828C55}"/>
              </a:ext>
            </a:extLst>
          </p:cNvPr>
          <p:cNvCxnSpPr>
            <a:stCxn id="3" idx="3"/>
            <a:endCxn id="4" idx="0"/>
          </p:cNvCxnSpPr>
          <p:nvPr/>
        </p:nvCxnSpPr>
        <p:spPr>
          <a:xfrm flipH="1">
            <a:off x="6953839" y="463414"/>
            <a:ext cx="1384309" cy="61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0A090737-7001-48F5-85BF-96EDD00EB3FF}"/>
              </a:ext>
            </a:extLst>
          </p:cNvPr>
          <p:cNvCxnSpPr>
            <a:cxnSpLocks/>
            <a:stCxn id="3" idx="4"/>
            <a:endCxn id="8" idx="0"/>
          </p:cNvCxnSpPr>
          <p:nvPr/>
        </p:nvCxnSpPr>
        <p:spPr>
          <a:xfrm flipH="1">
            <a:off x="7944438" y="495166"/>
            <a:ext cx="473699" cy="58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B8FB2CDE-E482-46C0-83FD-76F9E192E7B0}"/>
              </a:ext>
            </a:extLst>
          </p:cNvPr>
          <p:cNvCxnSpPr>
            <a:cxnSpLocks/>
            <a:stCxn id="3" idx="4"/>
            <a:endCxn id="17" idx="0"/>
          </p:cNvCxnSpPr>
          <p:nvPr/>
        </p:nvCxnSpPr>
        <p:spPr>
          <a:xfrm>
            <a:off x="8418137" y="495166"/>
            <a:ext cx="232527" cy="57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01ED3FE4-3F06-441E-B30C-092D4C29D6BD}"/>
              </a:ext>
            </a:extLst>
          </p:cNvPr>
          <p:cNvCxnSpPr>
            <a:cxnSpLocks/>
            <a:stCxn id="3" idx="4"/>
            <a:endCxn id="11" idx="0"/>
          </p:cNvCxnSpPr>
          <p:nvPr/>
        </p:nvCxnSpPr>
        <p:spPr>
          <a:xfrm>
            <a:off x="8418137" y="495166"/>
            <a:ext cx="1012303" cy="542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08D1B971-1CC0-4F9F-AFB4-9A9A212EB76D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7944438" y="1296497"/>
            <a:ext cx="25921" cy="486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20D84D3C-FC40-4FF9-99F9-FB3A5341290D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9430440" y="1254053"/>
            <a:ext cx="21938" cy="42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橢圓 39">
            <a:extLst>
              <a:ext uri="{FF2B5EF4-FFF2-40B4-BE49-F238E27FC236}">
                <a16:creationId xmlns:a16="http://schemas.microsoft.com/office/drawing/2014/main" id="{F1F4F1D3-09F9-4E76-9F96-551D7FFF9FB8}"/>
              </a:ext>
            </a:extLst>
          </p:cNvPr>
          <p:cNvSpPr/>
          <p:nvPr/>
        </p:nvSpPr>
        <p:spPr>
          <a:xfrm rot="21429531">
            <a:off x="9367119" y="2278882"/>
            <a:ext cx="226243" cy="2168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01C5D530-DCCC-4DBA-BC31-462EEB3B8164}"/>
              </a:ext>
            </a:extLst>
          </p:cNvPr>
          <p:cNvCxnSpPr>
            <a:cxnSpLocks/>
            <a:stCxn id="12" idx="4"/>
            <a:endCxn id="40" idx="0"/>
          </p:cNvCxnSpPr>
          <p:nvPr/>
        </p:nvCxnSpPr>
        <p:spPr>
          <a:xfrm>
            <a:off x="9463124" y="1890983"/>
            <a:ext cx="11744" cy="3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65DAFFA6-8962-4D95-B95B-EB457AAAB17D}"/>
              </a:ext>
            </a:extLst>
          </p:cNvPr>
          <p:cNvCxnSpPr>
            <a:cxnSpLocks/>
            <a:stCxn id="40" idx="4"/>
            <a:endCxn id="18" idx="0"/>
          </p:cNvCxnSpPr>
          <p:nvPr/>
        </p:nvCxnSpPr>
        <p:spPr>
          <a:xfrm flipH="1">
            <a:off x="9475006" y="2495566"/>
            <a:ext cx="10608" cy="267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D606492-77ED-472C-BB10-B78E4798BDAD}"/>
              </a:ext>
            </a:extLst>
          </p:cNvPr>
          <p:cNvSpPr txBox="1"/>
          <p:nvPr/>
        </p:nvSpPr>
        <p:spPr>
          <a:xfrm>
            <a:off x="6824151" y="981790"/>
            <a:ext cx="22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5A22CB1-F62A-4B07-9F1E-0DB241E9CD87}"/>
              </a:ext>
            </a:extLst>
          </p:cNvPr>
          <p:cNvSpPr/>
          <p:nvPr/>
        </p:nvSpPr>
        <p:spPr>
          <a:xfrm>
            <a:off x="7871600" y="1779374"/>
            <a:ext cx="226243" cy="216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1BE903E4-50ED-42F5-A6DB-41E9091673DB}"/>
              </a:ext>
            </a:extLst>
          </p:cNvPr>
          <p:cNvSpPr txBox="1"/>
          <p:nvPr/>
        </p:nvSpPr>
        <p:spPr>
          <a:xfrm>
            <a:off x="7831315" y="1690688"/>
            <a:ext cx="266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84DF877-F9D4-488A-88E8-223622DADD03}"/>
              </a:ext>
            </a:extLst>
          </p:cNvPr>
          <p:cNvSpPr txBox="1"/>
          <p:nvPr/>
        </p:nvSpPr>
        <p:spPr>
          <a:xfrm>
            <a:off x="8523136" y="1003422"/>
            <a:ext cx="341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D02AD58-29A2-482B-B886-C83E848DB06B}"/>
              </a:ext>
            </a:extLst>
          </p:cNvPr>
          <p:cNvSpPr txBox="1"/>
          <p:nvPr/>
        </p:nvSpPr>
        <p:spPr>
          <a:xfrm>
            <a:off x="9339394" y="2687071"/>
            <a:ext cx="22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54" name="接點: 弧形 53">
            <a:extLst>
              <a:ext uri="{FF2B5EF4-FFF2-40B4-BE49-F238E27FC236}">
                <a16:creationId xmlns:a16="http://schemas.microsoft.com/office/drawing/2014/main" id="{E7B69040-1DD7-49AE-9B10-035BDF861BF1}"/>
              </a:ext>
            </a:extLst>
          </p:cNvPr>
          <p:cNvCxnSpPr>
            <a:stCxn id="47" idx="3"/>
            <a:endCxn id="8" idx="2"/>
          </p:cNvCxnSpPr>
          <p:nvPr/>
        </p:nvCxnSpPr>
        <p:spPr>
          <a:xfrm>
            <a:off x="7050394" y="1166456"/>
            <a:ext cx="780922" cy="216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接點: 弧形 55">
            <a:extLst>
              <a:ext uri="{FF2B5EF4-FFF2-40B4-BE49-F238E27FC236}">
                <a16:creationId xmlns:a16="http://schemas.microsoft.com/office/drawing/2014/main" id="{63B77972-9FD9-4F1C-A2D4-F1F0099F6F7C}"/>
              </a:ext>
            </a:extLst>
          </p:cNvPr>
          <p:cNvCxnSpPr>
            <a:cxnSpLocks/>
            <a:stCxn id="50" idx="2"/>
          </p:cNvCxnSpPr>
          <p:nvPr/>
        </p:nvCxnSpPr>
        <p:spPr>
          <a:xfrm rot="16200000" flipH="1">
            <a:off x="8383090" y="1561339"/>
            <a:ext cx="515716" cy="135273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接點: 弧形 57">
            <a:extLst>
              <a:ext uri="{FF2B5EF4-FFF2-40B4-BE49-F238E27FC236}">
                <a16:creationId xmlns:a16="http://schemas.microsoft.com/office/drawing/2014/main" id="{C455A512-6A8E-4362-8389-A449256A0540}"/>
              </a:ext>
            </a:extLst>
          </p:cNvPr>
          <p:cNvCxnSpPr>
            <a:cxnSpLocks/>
            <a:stCxn id="51" idx="2"/>
            <a:endCxn id="40" idx="2"/>
          </p:cNvCxnSpPr>
          <p:nvPr/>
        </p:nvCxnSpPr>
        <p:spPr>
          <a:xfrm rot="16200000" flipH="1">
            <a:off x="8475599" y="1501239"/>
            <a:ext cx="1109830" cy="67348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接點: 弧形 66">
            <a:extLst>
              <a:ext uri="{FF2B5EF4-FFF2-40B4-BE49-F238E27FC236}">
                <a16:creationId xmlns:a16="http://schemas.microsoft.com/office/drawing/2014/main" id="{E30A8E5B-D814-4071-89F5-20BA88E0834D}"/>
              </a:ext>
            </a:extLst>
          </p:cNvPr>
          <p:cNvCxnSpPr>
            <a:cxnSpLocks/>
            <a:stCxn id="8" idx="6"/>
            <a:endCxn id="11" idx="3"/>
          </p:cNvCxnSpPr>
          <p:nvPr/>
        </p:nvCxnSpPr>
        <p:spPr>
          <a:xfrm>
            <a:off x="8057559" y="1188089"/>
            <a:ext cx="1292892" cy="34212"/>
          </a:xfrm>
          <a:prstGeom prst="curvedConnector4">
            <a:avLst>
              <a:gd name="adj1" fmla="val 2784"/>
              <a:gd name="adj2" fmla="val 76818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接點: 弧形 73">
            <a:extLst>
              <a:ext uri="{FF2B5EF4-FFF2-40B4-BE49-F238E27FC236}">
                <a16:creationId xmlns:a16="http://schemas.microsoft.com/office/drawing/2014/main" id="{A41DE8E3-DC9F-420B-AC7E-D0F745193105}"/>
              </a:ext>
            </a:extLst>
          </p:cNvPr>
          <p:cNvCxnSpPr>
            <a:cxnSpLocks/>
            <a:stCxn id="18" idx="3"/>
            <a:endCxn id="12" idx="5"/>
          </p:cNvCxnSpPr>
          <p:nvPr/>
        </p:nvCxnSpPr>
        <p:spPr>
          <a:xfrm flipH="1" flipV="1">
            <a:off x="9541440" y="1855305"/>
            <a:ext cx="46687" cy="1016433"/>
          </a:xfrm>
          <a:prstGeom prst="curvedConnector4">
            <a:avLst>
              <a:gd name="adj1" fmla="val -489644"/>
              <a:gd name="adj2" fmla="val 9994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接點: 弧形 86">
            <a:extLst>
              <a:ext uri="{FF2B5EF4-FFF2-40B4-BE49-F238E27FC236}">
                <a16:creationId xmlns:a16="http://schemas.microsoft.com/office/drawing/2014/main" id="{ACB69E7B-EC44-4533-A434-58D1CF74D51E}"/>
              </a:ext>
            </a:extLst>
          </p:cNvPr>
          <p:cNvCxnSpPr>
            <a:stCxn id="40" idx="6"/>
            <a:endCxn id="11" idx="6"/>
          </p:cNvCxnSpPr>
          <p:nvPr/>
        </p:nvCxnSpPr>
        <p:spPr>
          <a:xfrm flipH="1" flipV="1">
            <a:off x="9543561" y="1145645"/>
            <a:ext cx="49662" cy="1236039"/>
          </a:xfrm>
          <a:prstGeom prst="curvedConnector3">
            <a:avLst>
              <a:gd name="adj1" fmla="val -460592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接點: 弧形 88">
            <a:extLst>
              <a:ext uri="{FF2B5EF4-FFF2-40B4-BE49-F238E27FC236}">
                <a16:creationId xmlns:a16="http://schemas.microsoft.com/office/drawing/2014/main" id="{94308CB2-F23B-41F9-9CF6-859EDDC3DFB2}"/>
              </a:ext>
            </a:extLst>
          </p:cNvPr>
          <p:cNvCxnSpPr>
            <a:stCxn id="12" idx="6"/>
            <a:endCxn id="3" idx="6"/>
          </p:cNvCxnSpPr>
          <p:nvPr/>
        </p:nvCxnSpPr>
        <p:spPr>
          <a:xfrm flipH="1" flipV="1">
            <a:off x="8531258" y="386758"/>
            <a:ext cx="1039475" cy="1390343"/>
          </a:xfrm>
          <a:prstGeom prst="curvedConnector3">
            <a:avLst>
              <a:gd name="adj1" fmla="val -2200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接點: 弧形 90">
            <a:extLst>
              <a:ext uri="{FF2B5EF4-FFF2-40B4-BE49-F238E27FC236}">
                <a16:creationId xmlns:a16="http://schemas.microsoft.com/office/drawing/2014/main" id="{D5214BAB-F2A1-4DCC-9C0D-AE50CF9B8C1B}"/>
              </a:ext>
            </a:extLst>
          </p:cNvPr>
          <p:cNvCxnSpPr>
            <a:stCxn id="11" idx="7"/>
          </p:cNvCxnSpPr>
          <p:nvPr/>
        </p:nvCxnSpPr>
        <p:spPr>
          <a:xfrm rot="16200000" flipV="1">
            <a:off x="8728615" y="287175"/>
            <a:ext cx="703863" cy="8597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06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90B5D2-2533-4464-92ED-6F9CACF2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8E74E76-92DA-4645-B5C8-EA6CE9AE5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5568" y="1398023"/>
            <a:ext cx="5497153" cy="5137294"/>
          </a:xfrm>
        </p:spPr>
      </p:pic>
    </p:spTree>
    <p:extLst>
      <p:ext uri="{BB962C8B-B14F-4D97-AF65-F5344CB8AC3E}">
        <p14:creationId xmlns:p14="http://schemas.microsoft.com/office/powerpoint/2010/main" val="251714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4CC07DB-708A-4342-B496-41C947FDBA31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A2B3F91-8366-401F-AE85-9585B5A362CB}"/>
              </a:ext>
            </a:extLst>
          </p:cNvPr>
          <p:cNvSpPr txBox="1"/>
          <p:nvPr/>
        </p:nvSpPr>
        <p:spPr>
          <a:xfrm>
            <a:off x="990601" y="1909986"/>
            <a:ext cx="58532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en-US" altLang="zh-TW" sz="2800" dirty="0"/>
              <a:t>For each node, the corresponding C vector is computed once and merged once during the processing of his parent. </a:t>
            </a:r>
          </a:p>
          <a:p>
            <a:pPr marL="342900" indent="-342900">
              <a:buAutoNum type="arabicParenR"/>
            </a:pPr>
            <a:r>
              <a:rPr lang="en-US" altLang="zh-TW" sz="2800" dirty="0"/>
              <a:t> processing all the lists </a:t>
            </a:r>
            <a:r>
              <a:rPr lang="en-US" altLang="zh-TW" sz="2800" dirty="0" err="1"/>
              <a:t>R</a:t>
            </a:r>
            <a:r>
              <a:rPr lang="en-US" altLang="zh-TW" sz="2800" baseline="-25000" dirty="0" err="1"/>
              <a:t>l</a:t>
            </a:r>
            <a:r>
              <a:rPr lang="en-US" altLang="zh-TW" sz="2800" dirty="0"/>
              <a:t> for all nodes takes linear time in </a:t>
            </a:r>
            <a:r>
              <a:rPr lang="en-US" altLang="zh-TW" sz="2800" dirty="0">
                <a:solidFill>
                  <a:srgbClr val="FF0000"/>
                </a:solidFill>
              </a:rPr>
              <a:t>||P||. </a:t>
            </a:r>
          </a:p>
          <a:p>
            <a:pPr marL="342900" indent="-342900">
              <a:buAutoNum type="arabicParenR"/>
            </a:pPr>
            <a:r>
              <a:rPr lang="en-US" altLang="zh-TW" sz="2800" dirty="0"/>
              <a:t>Altogether all calls of Algorithm 2 require </a:t>
            </a:r>
            <a:r>
              <a:rPr lang="en-US" altLang="zh-TW" sz="2800" dirty="0">
                <a:solidFill>
                  <a:srgbClr val="FF0000"/>
                </a:solidFill>
              </a:rPr>
              <a:t>O(||P|| + |P|</a:t>
            </a:r>
            <a:r>
              <a:rPr lang="en-US" altLang="zh-TW" sz="2800" baseline="30000" dirty="0">
                <a:solidFill>
                  <a:srgbClr val="FF0000"/>
                </a:solidFill>
              </a:rPr>
              <a:t>2</a:t>
            </a:r>
            <a:r>
              <a:rPr lang="en-US" altLang="zh-TW" sz="2800" dirty="0">
                <a:solidFill>
                  <a:srgbClr val="FF0000"/>
                </a:solidFill>
              </a:rPr>
              <a:t>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E8F02AA-7299-4B07-A5DB-FF23C0977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314" y="1650876"/>
            <a:ext cx="29337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40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7336</TotalTime>
  <Words>414</Words>
  <Application>Microsoft Office PowerPoint</Application>
  <PresentationFormat>寬螢幕</PresentationFormat>
  <Paragraphs>57</Paragraphs>
  <Slides>13</Slides>
  <Notes>11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KNMMG G+ Gulliver</vt:lpstr>
      <vt:lpstr>Arial</vt:lpstr>
      <vt:lpstr>Calibri</vt:lpstr>
      <vt:lpstr>Calibri Light</vt:lpstr>
      <vt:lpstr>Times New Roman</vt:lpstr>
      <vt:lpstr>Office 佈景主題</vt:lpstr>
      <vt:lpstr>Hierarchical Overlap Graph</vt:lpstr>
      <vt:lpstr>Abstract</vt:lpstr>
      <vt:lpstr>Overlap</vt:lpstr>
      <vt:lpstr>Hierarchical Overlap Graph (HOG)</vt:lpstr>
      <vt:lpstr>Hierarchical Overlap Graph (HOG)</vt:lpstr>
      <vt:lpstr>Shortest Common Superstring</vt:lpstr>
      <vt:lpstr>Hierarchical Overlap Graph (HOG)</vt:lpstr>
      <vt:lpstr>Hierarchical Overlap Graph (HOG)</vt:lpstr>
      <vt:lpstr>Algorithm</vt:lpstr>
      <vt:lpstr>Algorithm</vt:lpstr>
      <vt:lpstr>Algorithm</vt:lpstr>
      <vt:lpstr>Algorithm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pplab</cp:lastModifiedBy>
  <cp:revision>17</cp:revision>
  <dcterms:created xsi:type="dcterms:W3CDTF">2021-06-26T09:28:31Z</dcterms:created>
  <dcterms:modified xsi:type="dcterms:W3CDTF">2021-10-20T11:08:26Z</dcterms:modified>
</cp:coreProperties>
</file>