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9"/>
  </p:notesMasterIdLst>
  <p:sldIdLst>
    <p:sldId id="256" r:id="rId3"/>
    <p:sldId id="257" r:id="rId4"/>
    <p:sldId id="290" r:id="rId5"/>
    <p:sldId id="276" r:id="rId6"/>
    <p:sldId id="259" r:id="rId7"/>
    <p:sldId id="273" r:id="rId8"/>
    <p:sldId id="270" r:id="rId9"/>
    <p:sldId id="271" r:id="rId10"/>
    <p:sldId id="272" r:id="rId11"/>
    <p:sldId id="274" r:id="rId12"/>
    <p:sldId id="275" r:id="rId13"/>
    <p:sldId id="277" r:id="rId14"/>
    <p:sldId id="291" r:id="rId15"/>
    <p:sldId id="285" r:id="rId16"/>
    <p:sldId id="278" r:id="rId17"/>
    <p:sldId id="280" r:id="rId18"/>
    <p:sldId id="279" r:id="rId19"/>
    <p:sldId id="281" r:id="rId20"/>
    <p:sldId id="282" r:id="rId21"/>
    <p:sldId id="283" r:id="rId22"/>
    <p:sldId id="284" r:id="rId23"/>
    <p:sldId id="286" r:id="rId24"/>
    <p:sldId id="289" r:id="rId25"/>
    <p:sldId id="287" r:id="rId26"/>
    <p:sldId id="288" r:id="rId27"/>
    <p:sldId id="292" r:id="rId2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98" autoAdjust="0"/>
    <p:restoredTop sz="94802" autoAdjust="0"/>
  </p:normalViewPr>
  <p:slideViewPr>
    <p:cSldViewPr>
      <p:cViewPr varScale="1">
        <p:scale>
          <a:sx n="54" d="100"/>
          <a:sy n="54" d="100"/>
        </p:scale>
        <p:origin x="1231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Calibri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TW" sz="2000" b="0" strike="noStrike" spc="-1" dirty="0">
                <a:latin typeface="Arial"/>
              </a:rPr>
              <a:t>請按這裡編輯備註格式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1962A5-A15B-4472-A253-73015B2EE908}" type="slidenum">
              <a:rPr lang="en-US" sz="1400" b="0" strike="noStrike" spc="-1">
                <a:latin typeface="Times New Roman"/>
              </a:rPr>
              <a:pPr algn="r"/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 algn="ctr"/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 algn="ctr"/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 algn="ctr"/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 algn="ctr"/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FEC21A0-76F1-4091-8A4E-3D3682A4EBB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10/20/2021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9C6C588-69D4-483A-BFC4-1F3BDC423AB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第二個大綱層次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第三個大綱層次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第六個大綱層次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第七個大綱層次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10/20/2021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714240" y="128592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32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Efficient Computation of Longest Common</a:t>
            </a:r>
          </a:p>
          <a:p>
            <a:pPr algn="ctr"/>
            <a:r>
              <a:rPr lang="en-US" sz="32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Subsequences with Multiple Substring</a:t>
            </a:r>
          </a:p>
          <a:p>
            <a:pPr algn="ctr"/>
            <a:r>
              <a:rPr lang="en-US" sz="32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Inclusive Constraints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1214280" y="3357720"/>
            <a:ext cx="6786360" cy="2071440"/>
          </a:xfrm>
          <a:prstGeom prst="rect">
            <a:avLst/>
          </a:prstGeom>
          <a:noFill/>
          <a:ln>
            <a:noFill/>
          </a:ln>
        </p:spPr>
        <p:txBody>
          <a:bodyPr>
            <a:normAutofit lnSpcReduction="10000"/>
          </a:bodyPr>
          <a:lstStyle/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de-DE" sz="24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XIAODONG WANG, LEI WANG, </a:t>
            </a: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de-DE" sz="24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 DAXIN ZHU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US" sz="2000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JOURNAL OF COMPUTATIONAL BIOLOGY</a:t>
            </a: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Volume 26, Number 9, 2019, Pages 938–947 </a:t>
            </a:r>
          </a:p>
        </p:txBody>
      </p:sp>
      <p:sp>
        <p:nvSpPr>
          <p:cNvPr id="90" name="CustomShape 3"/>
          <p:cNvSpPr/>
          <p:nvPr/>
        </p:nvSpPr>
        <p:spPr>
          <a:xfrm>
            <a:off x="5786280" y="5643720"/>
            <a:ext cx="3114360" cy="10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Presenter: Cheng-Han He</a:t>
            </a:r>
            <a:endParaRPr lang="en-US" sz="2000" b="0" strike="noStrike" spc="-1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Date: Oct. 20, 2021</a:t>
            </a:r>
            <a:endParaRPr lang="en-US" sz="2000" b="0" strike="noStrike" spc="-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60648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Abstract(1/2)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</a:pPr>
            <a:r>
              <a:rPr lang="en-US" sz="2800" spc="-1" dirty="0">
                <a:solidFill>
                  <a:srgbClr val="000000"/>
                </a:solidFill>
                <a:latin typeface="Calibri"/>
              </a:rPr>
              <a:t>In this article, we consider a generalized longest common subsequence (LCS) problem with multiple substring inclusive constraints. For the two input sequences X and Y of lengths n and m, and a set of d constraints P = {P1, …, P</a:t>
            </a:r>
            <a:r>
              <a:rPr lang="en-US" sz="2800" spc="-1" baseline="-25000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800" spc="-1" dirty="0">
                <a:solidFill>
                  <a:srgbClr val="000000"/>
                </a:solidFill>
                <a:latin typeface="Calibri"/>
              </a:rPr>
              <a:t>} of total length r, the problem is to find a common subsequence Z of X and Y including each of constraint string in P as a substring and the length of Z is maximized.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Abstract(2/2)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</a:pPr>
            <a:r>
              <a:rPr lang="en-US" sz="2800" spc="-1" dirty="0">
                <a:solidFill>
                  <a:srgbClr val="000000"/>
                </a:solidFill>
                <a:latin typeface="Calibri"/>
              </a:rPr>
              <a:t>A new dynamic programming solution to this problem is presented in this article. The correctness of the new algorithm is proved. The time complexity of our algorithm is O(d2</a:t>
            </a:r>
            <a:r>
              <a:rPr lang="en-US" sz="2800" spc="-1" baseline="30000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800" spc="-1" dirty="0">
                <a:solidFill>
                  <a:srgbClr val="000000"/>
                </a:solidFill>
                <a:latin typeface="Calibri"/>
              </a:rPr>
              <a:t>nmr). In the case of the number of constraint strings is fixed, our new algorithm for the generalized LCS problem with multiple substring inclusive constraints requires O(</a:t>
            </a:r>
            <a:r>
              <a:rPr lang="en-US" sz="2800" spc="-1" dirty="0" err="1">
                <a:solidFill>
                  <a:srgbClr val="000000"/>
                </a:solidFill>
                <a:latin typeface="Calibri"/>
              </a:rPr>
              <a:t>nmr</a:t>
            </a:r>
            <a:r>
              <a:rPr lang="en-US" sz="2800" spc="-1" dirty="0">
                <a:solidFill>
                  <a:srgbClr val="000000"/>
                </a:solidFill>
                <a:latin typeface="Calibri"/>
              </a:rPr>
              <a:t>) time and space.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2590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sz="44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endParaRPr lang="en-US" sz="44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17784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X = </a:t>
            </a: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aabbbba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Y = </a:t>
            </a: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aabbba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  P = </a:t>
            </a: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{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/>
              </a:rPr>
              <a:t>aab</a:t>
            </a: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‚ aba‚ 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/>
              </a:rPr>
              <a:t>ba</a:t>
            </a: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}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LCS(X, Y) = </a:t>
            </a: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aabbba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r>
              <a:rPr lang="en-US" altLang="zh-TW" sz="28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(X, Y, P) = 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aaba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34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sz="44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Constraints</a:t>
            </a:r>
          </a:p>
        </p:txBody>
      </p:sp>
      <p:sp>
        <p:nvSpPr>
          <p:cNvPr id="92" name="TextShape 2"/>
          <p:cNvSpPr txBox="1"/>
          <p:nvPr/>
        </p:nvSpPr>
        <p:spPr>
          <a:xfrm>
            <a:off x="457200" y="16288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260" indent="-3429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constraint set P = {</a:t>
            </a:r>
            <a:r>
              <a:rPr lang="en-US" sz="2800" i="1" spc="-1" dirty="0" err="1">
                <a:solidFill>
                  <a:srgbClr val="000000"/>
                </a:solidFill>
                <a:latin typeface="Times New Roman"/>
              </a:rPr>
              <a:t>aab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‚ </a:t>
            </a:r>
            <a:r>
              <a:rPr lang="en-US" sz="2800" i="1" spc="-1" dirty="0">
                <a:solidFill>
                  <a:srgbClr val="000000"/>
                </a:solidFill>
                <a:latin typeface="Times New Roman"/>
              </a:rPr>
              <a:t>aba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‚ </a:t>
            </a:r>
            <a:r>
              <a:rPr lang="en-US" sz="2800" i="1" spc="-1" dirty="0" err="1">
                <a:solidFill>
                  <a:srgbClr val="000000"/>
                </a:solidFill>
                <a:latin typeface="Times New Roman"/>
              </a:rPr>
              <a:t>ba</a:t>
            </a:r>
            <a:r>
              <a:rPr lang="en-US" sz="2800" i="1" spc="-1" dirty="0">
                <a:solidFill>
                  <a:srgbClr val="000000"/>
                </a:solidFill>
                <a:latin typeface="Times New Roman"/>
              </a:rPr>
              <a:t>}</a:t>
            </a:r>
          </a:p>
          <a:p>
            <a:pPr marL="343260" indent="-3429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d = 3</a:t>
            </a:r>
          </a:p>
          <a:p>
            <a:pPr marL="343260" indent="-3429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r =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sz="44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Keyword tree</a:t>
            </a:r>
          </a:p>
        </p:txBody>
      </p:sp>
      <p:sp>
        <p:nvSpPr>
          <p:cNvPr id="92" name="TextShape 2"/>
          <p:cNvSpPr txBox="1"/>
          <p:nvPr/>
        </p:nvSpPr>
        <p:spPr>
          <a:xfrm>
            <a:off x="457200" y="16288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spcBef>
                <a:spcPts val="561"/>
              </a:spcBef>
              <a:buClr>
                <a:srgbClr val="000000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The keyword tree for set P is a rooted directed tree T satisfying three conditions: 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each edge is labeled with exactly one character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any two edges out of the same node have distinct Labels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every string P</a:t>
            </a:r>
            <a:r>
              <a:rPr lang="en-US" sz="2400" spc="-1" baseline="-2500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 in P maps to some node v of T such that the characters on the path from the root of T to v exactly spell out P</a:t>
            </a:r>
            <a:r>
              <a:rPr lang="en-US" sz="2400" spc="-1" baseline="-2500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, and every leaf of T is mapped to some string in P.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474BF33-F964-43EC-896D-CB5545A15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4623839"/>
            <a:ext cx="3189598" cy="201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4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85EC398-ABB1-4190-BD7B-8B3DAF4A0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564904"/>
            <a:ext cx="4464496" cy="3706657"/>
          </a:xfrm>
          <a:prstGeom prst="rect">
            <a:avLst/>
          </a:prstGeom>
        </p:spPr>
      </p:pic>
      <p:sp>
        <p:nvSpPr>
          <p:cNvPr id="91" name="TextShape 1"/>
          <p:cNvSpPr txBox="1"/>
          <p:nvPr/>
        </p:nvSpPr>
        <p:spPr>
          <a:xfrm>
            <a:off x="457200" y="233116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altLang="zh-TW" sz="4400" spc="-1" dirty="0" err="1">
                <a:solidFill>
                  <a:srgbClr val="000000"/>
                </a:solidFill>
                <a:latin typeface="Times New Roman"/>
              </a:rPr>
              <a:t>Aho</a:t>
            </a:r>
            <a:r>
              <a:rPr lang="en-US" altLang="zh-TW" sz="4400" spc="-1" dirty="0">
                <a:solidFill>
                  <a:srgbClr val="000000"/>
                </a:solidFill>
                <a:latin typeface="Times New Roman"/>
              </a:rPr>
              <a:t>–</a:t>
            </a:r>
            <a:r>
              <a:rPr lang="en-US" altLang="zh-TW" sz="4400" spc="-1" dirty="0" err="1">
                <a:solidFill>
                  <a:srgbClr val="000000"/>
                </a:solidFill>
                <a:latin typeface="Times New Roman"/>
              </a:rPr>
              <a:t>Corasick</a:t>
            </a:r>
            <a:r>
              <a:rPr lang="en-US" altLang="zh-TW" sz="4400" spc="-1" dirty="0">
                <a:solidFill>
                  <a:srgbClr val="000000"/>
                </a:solidFill>
                <a:latin typeface="Times New Roman"/>
              </a:rPr>
              <a:t> automaton</a:t>
            </a:r>
            <a:endParaRPr lang="en-US" sz="44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288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spcBef>
                <a:spcPts val="561"/>
              </a:spcBef>
              <a:buClr>
                <a:srgbClr val="000000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The keyword tree can be extended into an automaton, </a:t>
            </a: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r>
              <a:rPr lang="en-US" sz="2400" spc="-1" dirty="0" err="1">
                <a:solidFill>
                  <a:srgbClr val="000000"/>
                </a:solidFill>
                <a:latin typeface="Times New Roman"/>
              </a:rPr>
              <a:t>Aho</a:t>
            </a: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–</a:t>
            </a:r>
            <a:r>
              <a:rPr lang="en-US" sz="2400" spc="-1" dirty="0" err="1">
                <a:solidFill>
                  <a:srgbClr val="000000"/>
                </a:solidFill>
                <a:latin typeface="Times New Roman"/>
              </a:rPr>
              <a:t>Corasick</a:t>
            </a: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 automaton, which consists of three functions:</a:t>
            </a:r>
          </a:p>
          <a:p>
            <a:pPr marL="914760" lvl="1" indent="-45720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 err="1">
                <a:solidFill>
                  <a:srgbClr val="000000"/>
                </a:solidFill>
                <a:latin typeface="Times New Roman"/>
              </a:rPr>
              <a:t>Goto</a:t>
            </a:r>
            <a:r>
              <a:rPr lang="zh-TW" altLang="en-US" sz="2400" spc="-1"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US" altLang="zh-TW" sz="2400" spc="-1" dirty="0">
                <a:solidFill>
                  <a:srgbClr val="000000"/>
                </a:solidFill>
                <a:latin typeface="Times New Roman"/>
              </a:rPr>
              <a:t>(solid edges)</a:t>
            </a:r>
            <a:endParaRPr lang="en-US" sz="2400" spc="-1" dirty="0">
              <a:solidFill>
                <a:srgbClr val="000000"/>
              </a:solidFill>
              <a:latin typeface="Times New Roman"/>
            </a:endParaRPr>
          </a:p>
          <a:p>
            <a:pPr marL="914760" lvl="1" indent="-45720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Output</a:t>
            </a:r>
          </a:p>
          <a:p>
            <a:pPr marL="914760" lvl="1" indent="-457200">
              <a:spcBef>
                <a:spcPts val="56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Failure</a:t>
            </a:r>
            <a:r>
              <a:rPr lang="zh-TW" altLang="en-US" sz="2400" spc="-1"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US" altLang="zh-TW" sz="2400" spc="-1" dirty="0">
                <a:solidFill>
                  <a:srgbClr val="000000"/>
                </a:solidFill>
                <a:latin typeface="Times New Roman"/>
              </a:rPr>
              <a:t>(dashed edges)</a:t>
            </a:r>
            <a:endParaRPr lang="en-US" sz="2400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sz="2400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5076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FDF4FB21-9203-4065-9359-42A792419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200" y="2422044"/>
            <a:ext cx="4547127" cy="2871053"/>
          </a:xfrm>
          <a:prstGeom prst="rect">
            <a:avLst/>
          </a:prstGeom>
        </p:spPr>
      </p:pic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altLang="zh-TW" sz="4400" spc="-1" dirty="0">
                <a:solidFill>
                  <a:srgbClr val="000000"/>
                </a:solidFill>
                <a:latin typeface="Times New Roman"/>
              </a:rPr>
              <a:t>Failure list</a:t>
            </a:r>
            <a:endParaRPr lang="en-US" sz="44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288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914760" lvl="1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node(5): {7 </a:t>
            </a:r>
            <a:r>
              <a:rPr lang="zh-TW" altLang="en-US" sz="2800" spc="-1" dirty="0">
                <a:solidFill>
                  <a:srgbClr val="000000"/>
                </a:solidFill>
                <a:latin typeface="Times New Roman"/>
              </a:rPr>
              <a:t>→ 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zh-TW" altLang="en-US" sz="2800" spc="-1" dirty="0">
                <a:solidFill>
                  <a:srgbClr val="000000"/>
                </a:solidFill>
                <a:latin typeface="Times New Roman"/>
              </a:rPr>
              <a:t> →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 0}</a:t>
            </a:r>
          </a:p>
          <a:p>
            <a:pPr marL="914760" lvl="1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node(</a:t>
            </a: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): {0}</a:t>
            </a:r>
          </a:p>
          <a:p>
            <a:pPr marL="914760" lvl="1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914760" lvl="1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spc="-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5489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Shape 1"/>
              <p:cNvSpPr txBox="1"/>
              <p:nvPr/>
            </p:nvSpPr>
            <p:spPr>
              <a:xfrm>
                <a:off x="457200" y="274680"/>
                <a:ext cx="8229240" cy="1142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noAutofit/>
              </a:bodyPr>
              <a:lstStyle/>
              <a:p>
                <a:endParaRPr lang="en-US" altLang="zh-TW" sz="4400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r>
                  <a:rPr lang="en-US" altLang="zh-TW" sz="4400" spc="-1" dirty="0" err="1">
                    <a:solidFill>
                      <a:srgbClr val="000000"/>
                    </a:solidFill>
                    <a:latin typeface="Times New Roman"/>
                  </a:rPr>
                  <a:t>Aho</a:t>
                </a:r>
                <a:r>
                  <a:rPr lang="en-US" altLang="zh-TW" sz="4400" spc="-1" dirty="0">
                    <a:solidFill>
                      <a:srgbClr val="000000"/>
                    </a:solidFill>
                    <a:latin typeface="Times New Roman"/>
                  </a:rPr>
                  <a:t>–</a:t>
                </a:r>
                <a:r>
                  <a:rPr lang="en-US" altLang="zh-TW" sz="4400" spc="-1" dirty="0" err="1">
                    <a:solidFill>
                      <a:srgbClr val="000000"/>
                    </a:solidFill>
                    <a:latin typeface="Times New Roman"/>
                  </a:rPr>
                  <a:t>Corasick</a:t>
                </a:r>
                <a:r>
                  <a:rPr lang="en-US" altLang="zh-TW" sz="4400" spc="-1" dirty="0">
                    <a:solidFill>
                      <a:srgbClr val="000000"/>
                    </a:solidFill>
                    <a:latin typeface="Times New Roman"/>
                  </a:rPr>
                  <a:t>-next function  </a:t>
                </a:r>
                <a14:m>
                  <m:oMath xmlns:m="http://schemas.openxmlformats.org/officeDocument/2006/math">
                    <m:r>
                      <a:rPr lang="zh-TW" altLang="en-US" sz="440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TW" sz="4400" spc="-1" dirty="0">
                    <a:solidFill>
                      <a:srgbClr val="000000"/>
                    </a:solidFill>
                    <a:latin typeface="Times New Roman"/>
                  </a:rPr>
                  <a:t>(</a:t>
                </a:r>
                <a:r>
                  <a:rPr lang="en-US" altLang="zh-TW" sz="4400" spc="-1" dirty="0" err="1">
                    <a:solidFill>
                      <a:srgbClr val="000000"/>
                    </a:solidFill>
                    <a:latin typeface="Times New Roman"/>
                  </a:rPr>
                  <a:t>i</a:t>
                </a:r>
                <a:r>
                  <a:rPr lang="en-US" altLang="zh-TW" sz="4400" spc="-1" dirty="0">
                    <a:solidFill>
                      <a:srgbClr val="000000"/>
                    </a:solidFill>
                    <a:latin typeface="Times New Roman"/>
                  </a:rPr>
                  <a:t>‚ c)</a:t>
                </a:r>
              </a:p>
              <a:p>
                <a:r>
                  <a:rPr lang="en-US" altLang="zh-TW" sz="4400" spc="-1" dirty="0">
                    <a:solidFill>
                      <a:srgbClr val="000000"/>
                    </a:solidFill>
                    <a:latin typeface="Times New Roman"/>
                  </a:rPr>
                  <a:t>  </a:t>
                </a:r>
                <a:endParaRPr lang="en-US" sz="4400" spc="-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1" name="TextShap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4680"/>
                <a:ext cx="8229240" cy="1142640"/>
              </a:xfrm>
              <a:prstGeom prst="rect">
                <a:avLst/>
              </a:prstGeom>
              <a:blipFill>
                <a:blip r:embed="rId2"/>
                <a:stretch>
                  <a:fillRect l="-2963" r="-5185" b="-90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Shape 2"/>
          <p:cNvSpPr txBox="1"/>
          <p:nvPr/>
        </p:nvSpPr>
        <p:spPr>
          <a:xfrm>
            <a:off x="457200" y="16288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endParaRPr lang="en-US" altLang="zh-TW" sz="2400" spc="-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1CB5973-ED00-47D0-A13B-21C0D253D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43" y="1968999"/>
            <a:ext cx="5533973" cy="118872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5802BB65-A620-4E9E-9AE5-69AF7D05B2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614387"/>
            <a:ext cx="4566109" cy="288303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C6AD1A2-4C71-4187-B663-8BE9C142BC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42" y="3356992"/>
            <a:ext cx="5533974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51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Shape 1"/>
              <p:cNvSpPr txBox="1"/>
              <p:nvPr/>
            </p:nvSpPr>
            <p:spPr>
              <a:xfrm>
                <a:off x="457200" y="263794"/>
                <a:ext cx="8229240" cy="1142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noAutofit/>
              </a:bodyPr>
              <a:lstStyle/>
              <a:p>
                <a:r>
                  <a:rPr lang="en-US" sz="4400" spc="-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State   </a:t>
                </a:r>
                <a:r>
                  <a:rPr lang="en-US" altLang="zh-TW" sz="4400" spc="-1" dirty="0">
                    <a:solidFill>
                      <a:srgbClr val="000000"/>
                    </a:solidFill>
                    <a:latin typeface="Times New Roman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440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sz="44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TW" sz="440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z="4400" spc="-1" dirty="0">
                    <a:solidFill>
                      <a:srgbClr val="000000"/>
                    </a:solidFill>
                    <a:latin typeface="Times New Roman"/>
                  </a:rPr>
                  <a:t>)</a:t>
                </a:r>
              </a:p>
            </p:txBody>
          </p:sp>
        </mc:Choice>
        <mc:Fallback xmlns="">
          <p:sp>
            <p:nvSpPr>
              <p:cNvPr id="91" name="TextShap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63794"/>
                <a:ext cx="8229240" cy="1142640"/>
              </a:xfrm>
              <a:prstGeom prst="rect">
                <a:avLst/>
              </a:prstGeom>
              <a:blipFill>
                <a:blip r:embed="rId2"/>
                <a:stretch>
                  <a:fillRect l="-2963" b="-90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Shape 2"/>
              <p:cNvSpPr txBox="1"/>
              <p:nvPr/>
            </p:nvSpPr>
            <p:spPr>
              <a:xfrm>
                <a:off x="459080" y="1479686"/>
                <a:ext cx="8229240" cy="5114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 marL="800460" lvl="1" indent="-342900">
                  <a:spcBef>
                    <a:spcPts val="561"/>
                  </a:spcBef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sz="280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altLang="zh-TW" sz="280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8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TW" sz="2800" spc="-1" dirty="0">
                    <a:solidFill>
                      <a:srgbClr val="000000"/>
                    </a:solidFill>
                    <a:latin typeface="Times New Roman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8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sz="28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TW" sz="28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z="2800" spc="-1" dirty="0">
                    <a:solidFill>
                      <a:srgbClr val="000000"/>
                    </a:solidFill>
                    <a:latin typeface="Times New Roman"/>
                  </a:rPr>
                  <a:t>);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TW" sz="28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8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sz="28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acc>
                    <m:r>
                      <a:rPr lang="zh-TW" altLang="en-US" sz="28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800" spc="-1" dirty="0">
                    <a:solidFill>
                      <a:srgbClr val="000000"/>
                    </a:solidFill>
                    <a:latin typeface="Times New Roman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280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altLang="zh-TW" sz="2800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sSub>
                      <m:sSubPr>
                        <m:ctrlPr>
                          <a:rPr lang="en-US" altLang="zh-TW" sz="280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altLang="zh-TW" sz="2800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800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sub>
                    </m:sSub>
                    <m:r>
                      <a:rPr lang="en-US" altLang="zh-TW" sz="2800" b="0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   </m:t>
                    </m:r>
                  </m:oMath>
                </a14:m>
                <a:r>
                  <a:rPr lang="en-US" altLang="zh-TW" sz="2800" spc="-1" dirty="0">
                    <a:solidFill>
                      <a:srgbClr val="000000"/>
                    </a:solidFill>
                    <a:latin typeface="Times New Roman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800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latin typeface="Times New Roman"/>
                  </a:rPr>
                  <a:t> = g(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TW" sz="280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80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sz="280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latin typeface="Times New Roman"/>
                  </a:rPr>
                  <a:t>)</a:t>
                </a:r>
              </a:p>
              <a:p>
                <a:pPr marL="800460" lvl="1" indent="-342900">
                  <a:spcBef>
                    <a:spcPts val="561"/>
                  </a:spcBef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latin typeface="Times New Roman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80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sz="280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TW" sz="280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latin typeface="Times New Roman"/>
                  </a:rPr>
                  <a:t>) =&gt; (</a:t>
                </a:r>
                <a14:m>
                  <m:oMath xmlns:m="http://schemas.openxmlformats.org/officeDocument/2006/math">
                    <m:r>
                      <a:rPr lang="zh-TW" altLang="en-US" sz="28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TW" sz="28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8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sz="28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TW" sz="28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latin typeface="Times New Roman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280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altLang="zh-TW" sz="28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8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sz="28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TW" sz="280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altLang="zh-TW" sz="28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TW" sz="28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TW" sz="2800" spc="-1" dirty="0">
                    <a:solidFill>
                      <a:srgbClr val="000000"/>
                    </a:solidFill>
                    <a:latin typeface="Times New Roman"/>
                  </a:rPr>
                  <a:t>))</a:t>
                </a:r>
                <a:endParaRPr lang="en-US" sz="2800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800460" lvl="1" indent="-342900">
                  <a:spcBef>
                    <a:spcPts val="561"/>
                  </a:spcBef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n-US" sz="2800" spc="-1" dirty="0">
                    <a:solidFill>
                      <a:srgbClr val="000000"/>
                    </a:solidFill>
                    <a:latin typeface="Times New Roman"/>
                  </a:rPr>
                  <a:t>t2</a:t>
                </a:r>
                <a:r>
                  <a:rPr lang="en-US" sz="2800" spc="-1" baseline="30000" dirty="0">
                    <a:solidFill>
                      <a:srgbClr val="000000"/>
                    </a:solidFill>
                    <a:latin typeface="Times New Roman"/>
                  </a:rPr>
                  <a:t>d</a:t>
                </a:r>
                <a:r>
                  <a:rPr lang="en-US" sz="2800" spc="-1" dirty="0">
                    <a:solidFill>
                      <a:srgbClr val="000000"/>
                    </a:solidFill>
                    <a:latin typeface="Times New Roman"/>
                  </a:rPr>
                  <a:t> states</a:t>
                </a:r>
                <a:endParaRPr lang="en-US" sz="2800" spc="-1" baseline="-25000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800460" lvl="1" indent="-342900">
                  <a:spcBef>
                    <a:spcPts val="561"/>
                  </a:spcBef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endParaRPr lang="en-US" sz="2800" spc="-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</mc:Choice>
        <mc:Fallback xmlns="">
          <p:sp>
            <p:nvSpPr>
              <p:cNvPr id="92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80" y="1479686"/>
                <a:ext cx="8229240" cy="5114520"/>
              </a:xfrm>
              <a:prstGeom prst="rect">
                <a:avLst/>
              </a:prstGeom>
              <a:blipFill>
                <a:blip r:embed="rId3"/>
                <a:stretch>
                  <a:fillRect t="-13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5802BB65-A620-4E9E-9AE5-69AF7D05B2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3140968"/>
            <a:ext cx="4115079" cy="259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00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380" y="245499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nn-NO" altLang="zh-TW" sz="4400" i="1" spc="-1" dirty="0">
                <a:solidFill>
                  <a:srgbClr val="000000"/>
                </a:solidFill>
                <a:latin typeface="Times New Roman"/>
              </a:rPr>
              <a:t>f (i‚ j‚ (</a:t>
            </a:r>
            <a:r>
              <a:rPr lang="zh-TW" altLang="nn-NO" sz="4400" i="1" spc="-1" dirty="0">
                <a:solidFill>
                  <a:srgbClr val="000000"/>
                </a:solidFill>
                <a:latin typeface="Times New Roman"/>
              </a:rPr>
              <a:t>𝛼</a:t>
            </a:r>
            <a:r>
              <a:rPr lang="nn-NO" altLang="zh-TW" sz="4400" i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zh-TW" altLang="nn-NO" sz="4400" i="1" spc="-1" dirty="0">
                <a:solidFill>
                  <a:srgbClr val="000000"/>
                </a:solidFill>
                <a:latin typeface="Times New Roman"/>
              </a:rPr>
              <a:t>𝛽</a:t>
            </a:r>
            <a:r>
              <a:rPr lang="nn-NO" altLang="zh-TW" sz="4400" i="1" spc="-1" dirty="0">
                <a:solidFill>
                  <a:srgbClr val="000000"/>
                </a:solidFill>
                <a:latin typeface="Times New Roman"/>
              </a:rPr>
              <a:t>))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Shape 2"/>
              <p:cNvSpPr txBox="1"/>
              <p:nvPr/>
            </p:nvSpPr>
            <p:spPr>
              <a:xfrm>
                <a:off x="323528" y="1497981"/>
                <a:ext cx="8229240" cy="5114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 marL="800460" lvl="1" indent="-342900">
                  <a:spcBef>
                    <a:spcPts val="561"/>
                  </a:spcBef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pl-PL" sz="2800" i="1" spc="-1" dirty="0">
                    <a:solidFill>
                      <a:srgbClr val="000000"/>
                    </a:solidFill>
                    <a:latin typeface="Times New Roman"/>
                  </a:rPr>
                  <a:t>f (i‚ j‚ (</a:t>
                </a:r>
                <a14:m>
                  <m:oMath xmlns:m="http://schemas.openxmlformats.org/officeDocument/2006/math">
                    <m:r>
                      <a:rPr lang="zh-TW" altLang="pl-PL" sz="2800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800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zh-TW" altLang="pl-PL" sz="2800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l-PL" sz="2800" i="1" spc="-1" dirty="0">
                    <a:solidFill>
                      <a:srgbClr val="000000"/>
                    </a:solidFill>
                    <a:latin typeface="Times New Roman"/>
                  </a:rPr>
                  <a:t>))</a:t>
                </a:r>
                <a:endParaRPr lang="en-US" sz="2800" i="1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800460" lvl="1" indent="-342900">
                  <a:spcBef>
                    <a:spcPts val="561"/>
                  </a:spcBef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 i="0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brk m:alnAt="7"/>
                              </m:r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 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 &lt; 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lim>
                        </m:limLow>
                      </m:fName>
                      <m:e>
                        <m:r>
                          <a:rPr lang="en-US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(</m:t>
                        </m:r>
                        <m:r>
                          <a:rPr lang="en-US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TW" sz="280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2</m:t>
                            </m:r>
                          </m:e>
                          <m:sup>
                            <m:r>
                              <a:rPr lang="en-US" altLang="zh-TW" sz="28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28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8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)}</m:t>
                        </m:r>
                      </m:e>
                    </m:func>
                  </m:oMath>
                </a14:m>
                <a:endParaRPr lang="en-US" sz="2800" spc="-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</mc:Choice>
        <mc:Fallback>
          <p:sp>
            <p:nvSpPr>
              <p:cNvPr id="92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497981"/>
                <a:ext cx="8229240" cy="5114520"/>
              </a:xfrm>
              <a:prstGeom prst="rect">
                <a:avLst/>
              </a:prstGeom>
              <a:blipFill>
                <a:blip r:embed="rId2"/>
                <a:stretch>
                  <a:fillRect t="-13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728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380" y="245499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nn-NO" altLang="zh-TW" sz="4400" i="1" spc="-1" dirty="0">
                <a:solidFill>
                  <a:srgbClr val="000000"/>
                </a:solidFill>
                <a:latin typeface="Times New Roman"/>
              </a:rPr>
              <a:t>f (i‚ j‚ (</a:t>
            </a:r>
            <a:r>
              <a:rPr lang="zh-TW" altLang="nn-NO" sz="4400" i="1" spc="-1" dirty="0">
                <a:solidFill>
                  <a:srgbClr val="000000"/>
                </a:solidFill>
                <a:latin typeface="Times New Roman"/>
              </a:rPr>
              <a:t>𝛼</a:t>
            </a:r>
            <a:r>
              <a:rPr lang="nn-NO" altLang="zh-TW" sz="4400" i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zh-TW" altLang="nn-NO" sz="4400" i="1" spc="-1" dirty="0">
                <a:solidFill>
                  <a:srgbClr val="000000"/>
                </a:solidFill>
                <a:latin typeface="Times New Roman"/>
              </a:rPr>
              <a:t>𝛽</a:t>
            </a:r>
            <a:r>
              <a:rPr lang="nn-NO" altLang="zh-TW" sz="4400" i="1" spc="-1" dirty="0">
                <a:solidFill>
                  <a:srgbClr val="000000"/>
                </a:solidFill>
                <a:latin typeface="Times New Roman"/>
              </a:rPr>
              <a:t>))</a:t>
            </a:r>
          </a:p>
        </p:txBody>
      </p:sp>
      <p:sp>
        <p:nvSpPr>
          <p:cNvPr id="92" name="TextShape 2"/>
          <p:cNvSpPr txBox="1"/>
          <p:nvPr/>
        </p:nvSpPr>
        <p:spPr>
          <a:xfrm>
            <a:off x="323528" y="1497981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560" lvl="1">
              <a:spcBef>
                <a:spcPts val="561"/>
              </a:spcBef>
              <a:buClr>
                <a:srgbClr val="000000"/>
              </a:buClr>
            </a:pPr>
            <a:endParaRPr lang="en-US" sz="2400" spc="-1" dirty="0">
              <a:solidFill>
                <a:srgbClr val="000000"/>
              </a:solidFill>
              <a:latin typeface="Times New Roman"/>
            </a:endParaRPr>
          </a:p>
          <a:p>
            <a:pPr marL="457560" lvl="1">
              <a:spcBef>
                <a:spcPts val="561"/>
              </a:spcBef>
              <a:buClr>
                <a:srgbClr val="000000"/>
              </a:buClr>
            </a:pPr>
            <a:endParaRPr lang="en-US" sz="2400" spc="-1" dirty="0">
              <a:solidFill>
                <a:srgbClr val="000000"/>
              </a:solidFill>
              <a:latin typeface="Times New Roman"/>
            </a:endParaRPr>
          </a:p>
          <a:p>
            <a:pPr marL="457560" lvl="1">
              <a:spcBef>
                <a:spcPts val="561"/>
              </a:spcBef>
              <a:buClr>
                <a:srgbClr val="000000"/>
              </a:buClr>
            </a:pPr>
            <a:endParaRPr lang="en-US" sz="2400" spc="-1" dirty="0">
              <a:solidFill>
                <a:srgbClr val="000000"/>
              </a:solidFill>
              <a:latin typeface="Times New Roman"/>
            </a:endParaRPr>
          </a:p>
          <a:p>
            <a:pPr marL="457560" lvl="1">
              <a:spcBef>
                <a:spcPts val="561"/>
              </a:spcBef>
              <a:buClr>
                <a:srgbClr val="000000"/>
              </a:buClr>
            </a:pPr>
            <a:endParaRPr lang="en-US" sz="2400" spc="-1" dirty="0">
              <a:solidFill>
                <a:srgbClr val="000000"/>
              </a:solidFill>
              <a:latin typeface="Times New Roman"/>
            </a:endParaRPr>
          </a:p>
          <a:p>
            <a:pPr marL="457560" lvl="1">
              <a:spcBef>
                <a:spcPts val="561"/>
              </a:spcBef>
              <a:buClr>
                <a:srgbClr val="000000"/>
              </a:buClr>
            </a:pPr>
            <a:endParaRPr lang="en-US" sz="2400" spc="-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CD628B9-5768-4520-A046-2AC94C122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2" y="1844824"/>
            <a:ext cx="8778975" cy="178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4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sz="44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endParaRPr lang="en-US" sz="44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17784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X = </a:t>
            </a: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aabbbba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Y = </a:t>
            </a: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aabbba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P = </a:t>
            </a: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{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/>
              </a:rPr>
              <a:t>aab</a:t>
            </a: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‚ aba‚ 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/>
              </a:rPr>
              <a:t>ba</a:t>
            </a: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}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LCS(X, Y) = </a:t>
            </a: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aabbba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r>
              <a:rPr lang="en-US" altLang="zh-TW" sz="28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(X, Y, P) = 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aaba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834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6462D9-51C4-45BA-BA63-4C644D4CD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kern="12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4306CB8-B7F1-4AB3-8BD7-0257E5FABA5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 anchor="t"/>
          <a:lstStyle/>
          <a:p>
            <a:pPr algn="l">
              <a:lnSpc>
                <a:spcPct val="150000"/>
              </a:lnSpc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1FEF2C-4E6B-4FAE-944E-1864DD1C0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723728"/>
            <a:ext cx="3825551" cy="3657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C752B2D-5345-4B50-9AF5-957135FC9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913" y="2723728"/>
            <a:ext cx="3825551" cy="3657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483AA17-49AD-4AA6-98B4-46C4F59121BC}"/>
                  </a:ext>
                </a:extLst>
              </p:cNvPr>
              <p:cNvSpPr txBox="1"/>
              <p:nvPr/>
            </p:nvSpPr>
            <p:spPr>
              <a:xfrm>
                <a:off x="80807" y="3011760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TW" sz="2800" b="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483AA17-49AD-4AA6-98B4-46C4F5912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7" y="3011760"/>
                <a:ext cx="50405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A3356E4-F3DD-42CF-A1AF-F23CB6291EB4}"/>
                  </a:ext>
                </a:extLst>
              </p:cNvPr>
              <p:cNvSpPr txBox="1"/>
              <p:nvPr/>
            </p:nvSpPr>
            <p:spPr>
              <a:xfrm>
                <a:off x="971600" y="2200508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A3356E4-F3DD-42CF-A1AF-F23CB6291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2200508"/>
                <a:ext cx="43204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D1D46C8-0CF0-427E-BC42-FA6DC8197C71}"/>
                  </a:ext>
                </a:extLst>
              </p:cNvPr>
              <p:cNvSpPr txBox="1"/>
              <p:nvPr/>
            </p:nvSpPr>
            <p:spPr>
              <a:xfrm>
                <a:off x="4391980" y="3011760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TW" sz="2800" b="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D1D46C8-0CF0-427E-BC42-FA6DC8197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980" y="3011760"/>
                <a:ext cx="50405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FC545D-B9BD-4074-9958-4F1D200F837C}"/>
                  </a:ext>
                </a:extLst>
              </p:cNvPr>
              <p:cNvSpPr txBox="1"/>
              <p:nvPr/>
            </p:nvSpPr>
            <p:spPr>
              <a:xfrm>
                <a:off x="5364088" y="2200508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FC545D-B9BD-4074-9958-4F1D200F8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2200508"/>
                <a:ext cx="43204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8F9BB929-329D-4677-824B-AA804C9AA06B}"/>
              </a:ext>
            </a:extLst>
          </p:cNvPr>
          <p:cNvSpPr txBox="1"/>
          <p:nvPr/>
        </p:nvSpPr>
        <p:spPr>
          <a:xfrm>
            <a:off x="-324544" y="1378027"/>
            <a:ext cx="7272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TW" sz="2800" i="1" u="sng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TW" sz="2800" i="1" u="sng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= 7, j = 6</a:t>
            </a:r>
            <a:br>
              <a:rPr lang="en-US" altLang="zh-TW" sz="2800" i="1" u="sng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</a:br>
            <a:r>
              <a:rPr lang="en-US" altLang="zh-TW" sz="2800" i="1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            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249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7F580-495B-4B02-BF0A-7B152798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80" y="274680"/>
            <a:ext cx="8229240" cy="1142640"/>
          </a:xfrm>
        </p:spPr>
        <p:txBody>
          <a:bodyPr/>
          <a:lstStyle/>
          <a:p>
            <a:r>
              <a:rPr lang="en-US" altLang="zh-TW" sz="4400" kern="12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br>
              <a:rPr lang="en-US" altLang="zh-TW" i="1" u="sng" dirty="0"/>
            </a:b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C508235-AC64-454E-9947-5E9A670E7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605" y="2011320"/>
            <a:ext cx="5091015" cy="457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2E15029-FD2C-4117-BAC7-0ECB1597FCC3}"/>
                  </a:ext>
                </a:extLst>
              </p:cNvPr>
              <p:cNvSpPr txBox="1"/>
              <p:nvPr/>
            </p:nvSpPr>
            <p:spPr>
              <a:xfrm>
                <a:off x="2996151" y="249726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TW" sz="2800" b="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2E15029-FD2C-4117-BAC7-0ECB1597F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51" y="2497266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A19AB26-E562-4133-B551-EB2ED879E50E}"/>
                  </a:ext>
                </a:extLst>
              </p:cNvPr>
              <p:cNvSpPr txBox="1"/>
              <p:nvPr/>
            </p:nvSpPr>
            <p:spPr>
              <a:xfrm>
                <a:off x="4211960" y="1452710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A19AB26-E562-4133-B551-EB2ED879E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1452710"/>
                <a:ext cx="43204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376A071F-91B6-4060-BAF9-67A953372A8F}"/>
              </a:ext>
            </a:extLst>
          </p:cNvPr>
          <p:cNvSpPr txBox="1"/>
          <p:nvPr/>
        </p:nvSpPr>
        <p:spPr>
          <a:xfrm>
            <a:off x="179512" y="1772816"/>
            <a:ext cx="29523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u="sng" dirty="0" err="1">
                <a:latin typeface="Times New Roman" panose="02020603050405020304" pitchFamily="18" charset="0"/>
              </a:rPr>
              <a:t>i</a:t>
            </a:r>
            <a:r>
              <a:rPr lang="en-US" altLang="zh-TW" sz="2800" i="1" u="sng" dirty="0">
                <a:latin typeface="Times New Roman" panose="02020603050405020304" pitchFamily="18" charset="0"/>
              </a:rPr>
              <a:t> = 7, j = 6</a:t>
            </a:r>
            <a:r>
              <a:rPr lang="en-US" altLang="zh-TW" sz="2800" b="1" u="sng" dirty="0">
                <a:latin typeface="Times New Roman" panose="02020603050405020304" pitchFamily="18" charset="0"/>
              </a:rPr>
              <a:t> </a:t>
            </a:r>
            <a:r>
              <a:rPr lang="en-US" altLang="zh-TW" sz="2800" b="1" dirty="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zh-TW" sz="2800" b="1" dirty="0">
                <a:latin typeface="Times New Roman" panose="02020603050405020304" pitchFamily="18" charset="0"/>
              </a:rPr>
              <a:t>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X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aabbbb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Y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aabbb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endParaRPr lang="en-US" altLang="zh-TW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A = A[1:3] + 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</a:rPr>
              <a:t>     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B = B[1:5] + 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endParaRPr lang="zh-TW" altLang="en-US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05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7F580-495B-4B02-BF0A-7B152798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80" y="260648"/>
            <a:ext cx="8229240" cy="1142640"/>
          </a:xfrm>
        </p:spPr>
        <p:txBody>
          <a:bodyPr/>
          <a:lstStyle/>
          <a:p>
            <a:r>
              <a:rPr lang="en-US" altLang="zh-TW" sz="4400" kern="12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br>
              <a:rPr lang="en-US" altLang="zh-TW" i="1" u="sng" dirty="0"/>
            </a:b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1E6E560-89F1-46ED-A253-F1C49BC79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605" y="2025352"/>
            <a:ext cx="5091015" cy="457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212F64C-7153-4BE2-9F52-DB80CE631C01}"/>
                  </a:ext>
                </a:extLst>
              </p:cNvPr>
              <p:cNvSpPr txBox="1"/>
              <p:nvPr/>
            </p:nvSpPr>
            <p:spPr>
              <a:xfrm>
                <a:off x="2996151" y="249289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TW" sz="2800" b="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212F64C-7153-4BE2-9F52-DB80CE631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51" y="2492896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C72FED7-FEAD-4DA0-9A1B-77A6CDC9AF0C}"/>
                  </a:ext>
                </a:extLst>
              </p:cNvPr>
              <p:cNvSpPr txBox="1"/>
              <p:nvPr/>
            </p:nvSpPr>
            <p:spPr>
              <a:xfrm>
                <a:off x="4225283" y="1490198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C72FED7-FEAD-4DA0-9A1B-77A6CDC9A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283" y="1490198"/>
                <a:ext cx="43204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19E76FDB-6B3A-42B1-AC96-B03D084B1E67}"/>
              </a:ext>
            </a:extLst>
          </p:cNvPr>
          <p:cNvSpPr txBox="1"/>
          <p:nvPr/>
        </p:nvSpPr>
        <p:spPr>
          <a:xfrm>
            <a:off x="179512" y="1772816"/>
            <a:ext cx="32403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u="sng" dirty="0" err="1">
                <a:latin typeface="Times New Roman" panose="02020603050405020304" pitchFamily="18" charset="0"/>
              </a:rPr>
              <a:t>i</a:t>
            </a:r>
            <a:r>
              <a:rPr lang="en-US" altLang="zh-TW" sz="2800" i="1" u="sng" dirty="0">
                <a:latin typeface="Times New Roman" panose="02020603050405020304" pitchFamily="18" charset="0"/>
              </a:rPr>
              <a:t> = 6, j = 5 </a:t>
            </a:r>
          </a:p>
          <a:p>
            <a:r>
              <a:rPr lang="en-US" altLang="zh-TW" sz="2800" dirty="0">
                <a:latin typeface="Times New Roman" panose="02020603050405020304" pitchFamily="18" charset="0"/>
              </a:rPr>
              <a:t>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X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aabbb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dirty="0" err="1">
                <a:latin typeface="Times New Roman" panose="02020603050405020304" pitchFamily="18" charset="0"/>
              </a:rPr>
              <a:t>a</a:t>
            </a:r>
            <a:endParaRPr lang="en-US" altLang="zh-TW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Y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aabb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dirty="0" err="1">
                <a:latin typeface="Times New Roman" panose="02020603050405020304" pitchFamily="18" charset="0"/>
              </a:rPr>
              <a:t>a</a:t>
            </a:r>
            <a:endParaRPr lang="en-US" altLang="zh-TW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A = A[1:3] + a        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B = B[1:4] +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dirty="0" err="1">
                <a:latin typeface="Times New Roman" panose="02020603050405020304" pitchFamily="18" charset="0"/>
              </a:rPr>
              <a:t>a</a:t>
            </a:r>
            <a:endParaRPr lang="zh-TW" altLang="en-US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966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7F580-495B-4B02-BF0A-7B152798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kern="12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br>
              <a:rPr lang="en-US" altLang="zh-TW" i="1" u="sng" dirty="0"/>
            </a:b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CBAE2BF-06F6-4C7A-9587-039AD2545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425" y="2011320"/>
            <a:ext cx="5091015" cy="457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E2955F8-3F78-4C92-91FF-A1D7DD5FF4E6}"/>
                  </a:ext>
                </a:extLst>
              </p:cNvPr>
              <p:cNvSpPr txBox="1"/>
              <p:nvPr/>
            </p:nvSpPr>
            <p:spPr>
              <a:xfrm>
                <a:off x="2996151" y="249289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TW" sz="2800" b="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E2955F8-3F78-4C92-91FF-A1D7DD5FF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51" y="2492896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BD2A04B-58BD-4606-AC0C-32844EC230CC}"/>
                  </a:ext>
                </a:extLst>
              </p:cNvPr>
              <p:cNvSpPr txBox="1"/>
              <p:nvPr/>
            </p:nvSpPr>
            <p:spPr>
              <a:xfrm>
                <a:off x="4225283" y="1490198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BD2A04B-58BD-4606-AC0C-32844EC23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283" y="1490198"/>
                <a:ext cx="43204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D1ABC886-2372-4BFA-BB89-06C0E9A84A8C}"/>
              </a:ext>
            </a:extLst>
          </p:cNvPr>
          <p:cNvSpPr txBox="1"/>
          <p:nvPr/>
        </p:nvSpPr>
        <p:spPr>
          <a:xfrm>
            <a:off x="179512" y="1772816"/>
            <a:ext cx="33206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u="sng" dirty="0" err="1">
                <a:latin typeface="Times New Roman" panose="02020603050405020304" pitchFamily="18" charset="0"/>
              </a:rPr>
              <a:t>i</a:t>
            </a:r>
            <a:r>
              <a:rPr lang="en-US" altLang="zh-TW" sz="2800" i="1" u="sng" dirty="0">
                <a:latin typeface="Times New Roman" panose="02020603050405020304" pitchFamily="18" charset="0"/>
              </a:rPr>
              <a:t> = 5, j = 4</a:t>
            </a:r>
            <a:r>
              <a:rPr lang="en-US" altLang="zh-TW" sz="2800" dirty="0">
                <a:latin typeface="Times New Roman" panose="02020603050405020304" pitchFamily="18" charset="0"/>
              </a:rPr>
              <a:t>         </a:t>
            </a:r>
          </a:p>
          <a:p>
            <a:endParaRPr lang="en-US" altLang="zh-TW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X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aabb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dirty="0" err="1">
                <a:latin typeface="Times New Roman" panose="02020603050405020304" pitchFamily="18" charset="0"/>
              </a:rPr>
              <a:t>ba</a:t>
            </a:r>
            <a:r>
              <a:rPr lang="en-US" altLang="zh-TW" sz="2800" dirty="0">
                <a:latin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Y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aab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dirty="0" err="1">
                <a:latin typeface="Times New Roman" panose="02020603050405020304" pitchFamily="18" charset="0"/>
              </a:rPr>
              <a:t>ba</a:t>
            </a:r>
            <a:r>
              <a:rPr lang="en-US" altLang="zh-TW" sz="2800" dirty="0">
                <a:latin typeface="Times New Roman" panose="02020603050405020304" pitchFamily="18" charset="0"/>
              </a:rPr>
              <a:t>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A = A[1:3] + 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B = B[1:3] +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dirty="0" err="1">
                <a:latin typeface="Times New Roman" panose="02020603050405020304" pitchFamily="18" charset="0"/>
              </a:rPr>
              <a:t>ba</a:t>
            </a:r>
            <a:endParaRPr lang="zh-TW" altLang="en-US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795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7F580-495B-4B02-BF0A-7B152798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kern="12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br>
              <a:rPr lang="en-US" altLang="zh-TW" i="1" u="sng" dirty="0"/>
            </a:b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CEAD3CF-A3DD-463E-BE94-2E869A04E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425" y="2015690"/>
            <a:ext cx="5091015" cy="457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E1DE26A-94C4-495B-9F78-59284F095C53}"/>
                  </a:ext>
                </a:extLst>
              </p:cNvPr>
              <p:cNvSpPr txBox="1"/>
              <p:nvPr/>
            </p:nvSpPr>
            <p:spPr>
              <a:xfrm>
                <a:off x="2996151" y="249726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TW" sz="2800" b="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E1DE26A-94C4-495B-9F78-59284F095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51" y="2497266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9D2989D-97AA-4AB6-B95B-4B1AD58E205E}"/>
                  </a:ext>
                </a:extLst>
              </p:cNvPr>
              <p:cNvSpPr txBox="1"/>
              <p:nvPr/>
            </p:nvSpPr>
            <p:spPr>
              <a:xfrm>
                <a:off x="4225283" y="1494568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9D2989D-97AA-4AB6-B95B-4B1AD58E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283" y="1494568"/>
                <a:ext cx="43204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403B808D-31CD-4970-9F79-DEF5F3BE9B89}"/>
              </a:ext>
            </a:extLst>
          </p:cNvPr>
          <p:cNvSpPr txBox="1"/>
          <p:nvPr/>
        </p:nvSpPr>
        <p:spPr>
          <a:xfrm>
            <a:off x="179512" y="1772816"/>
            <a:ext cx="35283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u="sng" dirty="0" err="1">
                <a:latin typeface="Times New Roman" panose="02020603050405020304" pitchFamily="18" charset="0"/>
              </a:rPr>
              <a:t>i</a:t>
            </a:r>
            <a:r>
              <a:rPr lang="en-US" altLang="zh-TW" sz="2800" i="1" u="sng" dirty="0">
                <a:latin typeface="Times New Roman" panose="02020603050405020304" pitchFamily="18" charset="0"/>
              </a:rPr>
              <a:t> = 4, j = 3 </a:t>
            </a:r>
          </a:p>
          <a:p>
            <a:r>
              <a:rPr lang="en-US" altLang="zh-TW" sz="2800" dirty="0">
                <a:latin typeface="Times New Roman" panose="02020603050405020304" pitchFamily="18" charset="0"/>
              </a:rPr>
              <a:t>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X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aab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dirty="0" err="1">
                <a:latin typeface="Times New Roman" panose="02020603050405020304" pitchFamily="18" charset="0"/>
              </a:rPr>
              <a:t>bba</a:t>
            </a:r>
            <a:r>
              <a:rPr lang="en-US" altLang="zh-TW" sz="2800" dirty="0">
                <a:latin typeface="Times New Roman" panose="02020603050405020304" pitchFamily="18" charset="0"/>
              </a:rPr>
              <a:t>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Y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aa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dirty="0" err="1">
                <a:latin typeface="Times New Roman" panose="02020603050405020304" pitchFamily="18" charset="0"/>
              </a:rPr>
              <a:t>bba</a:t>
            </a:r>
            <a:r>
              <a:rPr lang="en-US" altLang="zh-TW" sz="2800" dirty="0">
                <a:latin typeface="Times New Roman" panose="02020603050405020304" pitchFamily="18" charset="0"/>
              </a:rPr>
              <a:t>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A = A[1:2] +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dirty="0" err="1">
                <a:latin typeface="Times New Roman" panose="02020603050405020304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</a:rPr>
              <a:t>         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B = B[1:2] +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dirty="0" err="1">
                <a:latin typeface="Times New Roman" panose="02020603050405020304" pitchFamily="18" charset="0"/>
              </a:rPr>
              <a:t>bba</a:t>
            </a:r>
            <a:endParaRPr lang="zh-TW" altLang="en-US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045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7F580-495B-4B02-BF0A-7B152798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kern="12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br>
              <a:rPr lang="en-US" altLang="zh-TW" i="1" u="sng" dirty="0"/>
            </a:b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4AEF3EE-9948-45A8-A383-755E89B6E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425" y="2011320"/>
            <a:ext cx="5091015" cy="457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F6524F3-902C-4157-BEE6-A4CF6EA60C02}"/>
                  </a:ext>
                </a:extLst>
              </p:cNvPr>
              <p:cNvSpPr txBox="1"/>
              <p:nvPr/>
            </p:nvSpPr>
            <p:spPr>
              <a:xfrm>
                <a:off x="4268905" y="1488100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F6524F3-902C-4157-BEE6-A4CF6EA60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905" y="1488100"/>
                <a:ext cx="43204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06AAB63-A4FC-4EE7-B186-BB13B78898E1}"/>
                  </a:ext>
                </a:extLst>
              </p:cNvPr>
              <p:cNvSpPr txBox="1"/>
              <p:nvPr/>
            </p:nvSpPr>
            <p:spPr>
              <a:xfrm>
                <a:off x="3104073" y="2492896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06AAB63-A4FC-4EE7-B186-BB13B7889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073" y="2492896"/>
                <a:ext cx="43204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9993E016-E41C-4D9A-A2A0-7577E7E31282}"/>
              </a:ext>
            </a:extLst>
          </p:cNvPr>
          <p:cNvSpPr txBox="1"/>
          <p:nvPr/>
        </p:nvSpPr>
        <p:spPr>
          <a:xfrm>
            <a:off x="179512" y="1772816"/>
            <a:ext cx="35283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u="sng" dirty="0" err="1">
                <a:latin typeface="Times New Roman" panose="02020603050405020304" pitchFamily="18" charset="0"/>
              </a:rPr>
              <a:t>i</a:t>
            </a:r>
            <a:r>
              <a:rPr lang="en-US" altLang="zh-TW" sz="2800" i="1" u="sng" dirty="0">
                <a:latin typeface="Times New Roman" panose="02020603050405020304" pitchFamily="18" charset="0"/>
              </a:rPr>
              <a:t> = 3, j = 2 </a:t>
            </a:r>
            <a:r>
              <a:rPr lang="en-US" altLang="zh-TW" sz="2800" dirty="0">
                <a:latin typeface="Times New Roman" panose="02020603050405020304" pitchFamily="18" charset="0"/>
              </a:rPr>
              <a:t>   </a:t>
            </a:r>
          </a:p>
          <a:p>
            <a:r>
              <a:rPr lang="en-US" altLang="zh-TW" sz="2800" dirty="0">
                <a:latin typeface="Times New Roman" panose="02020603050405020304" pitchFamily="18" charset="0"/>
              </a:rPr>
              <a:t>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X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aa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dirty="0" err="1">
                <a:latin typeface="Times New Roman" panose="02020603050405020304" pitchFamily="18" charset="0"/>
              </a:rPr>
              <a:t>bbba</a:t>
            </a:r>
            <a:endParaRPr lang="en-US" altLang="zh-TW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Y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dirty="0" err="1">
                <a:latin typeface="Times New Roman" panose="02020603050405020304" pitchFamily="18" charset="0"/>
              </a:rPr>
              <a:t>bbba</a:t>
            </a:r>
            <a:r>
              <a:rPr lang="en-US" altLang="zh-TW" sz="2800" dirty="0">
                <a:latin typeface="Times New Roman" panose="02020603050405020304" pitchFamily="18" charset="0"/>
              </a:rPr>
              <a:t>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A = A[1:2] + </a:t>
            </a:r>
            <a:r>
              <a:rPr lang="en-US" altLang="zh-TW" sz="2800" dirty="0" err="1">
                <a:latin typeface="Times New Roman" panose="02020603050405020304" pitchFamily="18" charset="0"/>
              </a:rPr>
              <a:t>ba</a:t>
            </a:r>
            <a:endParaRPr lang="en-US" altLang="zh-TW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B = B[1:2] + </a:t>
            </a:r>
            <a:r>
              <a:rPr lang="en-US" altLang="zh-TW" sz="2800" dirty="0" err="1">
                <a:latin typeface="Times New Roman" panose="02020603050405020304" pitchFamily="18" charset="0"/>
              </a:rPr>
              <a:t>bbba</a:t>
            </a:r>
            <a:endParaRPr lang="zh-TW" altLang="en-US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522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7F580-495B-4B02-BF0A-7B152798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kern="12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br>
              <a:rPr lang="en-US" altLang="zh-TW" i="1" u="sng" dirty="0"/>
            </a:br>
            <a:endParaRPr lang="zh-TW" altLang="en-US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6E6038F-6283-4504-963F-91F503E91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92896"/>
            <a:ext cx="4072813" cy="36576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6C5E883-736B-4510-8A09-5147F2F82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343" y="2492896"/>
            <a:ext cx="4072813" cy="3657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6EF5F1C-B7B5-484D-AF2B-48B7389C658D}"/>
                  </a:ext>
                </a:extLst>
              </p:cNvPr>
              <p:cNvSpPr txBox="1"/>
              <p:nvPr/>
            </p:nvSpPr>
            <p:spPr>
              <a:xfrm>
                <a:off x="-36512" y="2780928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TW" sz="2800" b="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6EF5F1C-B7B5-484D-AF2B-48B7389C6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12" y="2780928"/>
                <a:ext cx="50405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CE95D7C-E3DE-46A3-8774-173734A6BE14}"/>
                  </a:ext>
                </a:extLst>
              </p:cNvPr>
              <p:cNvSpPr txBox="1"/>
              <p:nvPr/>
            </p:nvSpPr>
            <p:spPr>
              <a:xfrm>
                <a:off x="971600" y="1916832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CE95D7C-E3DE-46A3-8774-173734A6B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916832"/>
                <a:ext cx="43204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8C71E93E-B90C-464C-AF66-E1EBA02D1877}"/>
              </a:ext>
            </a:extLst>
          </p:cNvPr>
          <p:cNvSpPr txBox="1"/>
          <p:nvPr/>
        </p:nvSpPr>
        <p:spPr>
          <a:xfrm>
            <a:off x="827584" y="1052736"/>
            <a:ext cx="72728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TW" sz="2800" i="1" u="sng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TW" sz="2800" i="1" u="sng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= 2, j = 2</a:t>
            </a:r>
            <a:r>
              <a:rPr lang="en-US" altLang="zh-TW" sz="2800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               </a:t>
            </a:r>
            <a:r>
              <a:rPr lang="en-US" altLang="zh-TW" sz="2800" i="1" u="sng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TW" sz="2800" i="1" u="sng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= 3, j = 1 </a:t>
            </a:r>
            <a:br>
              <a:rPr lang="en-US" altLang="zh-TW" sz="2800" i="1" u="sng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</a:br>
            <a:r>
              <a:rPr lang="en-US" altLang="zh-TW" sz="2800" i="1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TW" sz="2800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X = </a:t>
            </a:r>
            <a:r>
              <a:rPr lang="en-US" altLang="zh-TW" sz="28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bbbba</a:t>
            </a:r>
            <a:r>
              <a:rPr lang="en-US" altLang="zh-TW" sz="2800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           X = </a:t>
            </a:r>
            <a:r>
              <a:rPr lang="en-US" altLang="zh-TW" sz="28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aa</a:t>
            </a:r>
            <a:r>
              <a:rPr lang="en-US" altLang="zh-TW" sz="280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bbba</a:t>
            </a:r>
            <a:r>
              <a:rPr lang="en-US" altLang="zh-TW" sz="2800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</a:t>
            </a:r>
            <a:br>
              <a:rPr lang="en-US" altLang="zh-TW" sz="2800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            Y = </a:t>
            </a:r>
            <a:r>
              <a:rPr lang="en-US" altLang="zh-TW" sz="28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bbba</a:t>
            </a:r>
            <a:r>
              <a:rPr lang="en-US" altLang="zh-TW" sz="2800" kern="0" dirty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              Y = </a:t>
            </a:r>
            <a:r>
              <a:rPr lang="en-US" altLang="zh-TW" sz="280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abbba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015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7F580-495B-4B02-BF0A-7B152798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TW" i="1" u="sng" dirty="0"/>
            </a:br>
            <a:r>
              <a:rPr lang="en-US" altLang="zh-TW" sz="4400" kern="12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br>
              <a:rPr lang="en-US" altLang="zh-TW" i="1" u="sng" dirty="0"/>
            </a:b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FF3147F-0327-42BB-AACD-7E2D08F78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425" y="2011320"/>
            <a:ext cx="5091015" cy="457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08368AB-834E-4406-91E2-FCDE1BE0DADB}"/>
                  </a:ext>
                </a:extLst>
              </p:cNvPr>
              <p:cNvSpPr txBox="1"/>
              <p:nvPr/>
            </p:nvSpPr>
            <p:spPr>
              <a:xfrm>
                <a:off x="2996151" y="249289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TW" sz="2800" b="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08368AB-834E-4406-91E2-FCDE1BE0D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51" y="2492896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62B795-21EE-45A0-A0C6-30250F915EF5}"/>
                  </a:ext>
                </a:extLst>
              </p:cNvPr>
              <p:cNvSpPr txBox="1"/>
              <p:nvPr/>
            </p:nvSpPr>
            <p:spPr>
              <a:xfrm>
                <a:off x="4225283" y="1490198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62B795-21EE-45A0-A0C6-30250F915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283" y="1490198"/>
                <a:ext cx="43204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5447C989-9A9C-46CA-AA44-646FB8004858}"/>
              </a:ext>
            </a:extLst>
          </p:cNvPr>
          <p:cNvSpPr txBox="1"/>
          <p:nvPr/>
        </p:nvSpPr>
        <p:spPr>
          <a:xfrm>
            <a:off x="179512" y="1772816"/>
            <a:ext cx="38884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u="sng" dirty="0" err="1">
                <a:latin typeface="Times New Roman" panose="02020603050405020304" pitchFamily="18" charset="0"/>
              </a:rPr>
              <a:t>i</a:t>
            </a:r>
            <a:r>
              <a:rPr lang="en-US" altLang="zh-TW" sz="2800" i="1" u="sng" dirty="0">
                <a:latin typeface="Times New Roman" panose="02020603050405020304" pitchFamily="18" charset="0"/>
              </a:rPr>
              <a:t> = 2, j = 2 </a:t>
            </a:r>
            <a:r>
              <a:rPr lang="en-US" altLang="zh-TW" sz="2800" dirty="0">
                <a:latin typeface="Times New Roman" panose="02020603050405020304" pitchFamily="18" charset="0"/>
              </a:rPr>
              <a:t>  </a:t>
            </a:r>
          </a:p>
          <a:p>
            <a:r>
              <a:rPr lang="en-US" altLang="zh-TW" sz="2800" dirty="0">
                <a:latin typeface="Times New Roman" panose="02020603050405020304" pitchFamily="18" charset="0"/>
              </a:rPr>
              <a:t>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X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dirty="0" err="1">
                <a:latin typeface="Times New Roman" panose="02020603050405020304" pitchFamily="18" charset="0"/>
              </a:rPr>
              <a:t>bbbba</a:t>
            </a:r>
            <a:endParaRPr lang="en-US" altLang="zh-TW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Y = </a:t>
            </a:r>
            <a:r>
              <a:rPr lang="en-US" altLang="zh-TW" sz="2800" dirty="0" err="1">
                <a:latin typeface="Times New Roman" panose="02020603050405020304" pitchFamily="18" charset="0"/>
              </a:rPr>
              <a:t>a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dirty="0" err="1">
                <a:latin typeface="Times New Roman" panose="02020603050405020304" pitchFamily="18" charset="0"/>
              </a:rPr>
              <a:t>bbba</a:t>
            </a:r>
            <a:endParaRPr lang="en-US" altLang="zh-TW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A = A[1] + 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</a:rPr>
              <a:t>ba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B = B[1] +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dirty="0" err="1">
                <a:latin typeface="Times New Roman" panose="02020603050405020304" pitchFamily="18" charset="0"/>
              </a:rPr>
              <a:t>bbba</a:t>
            </a:r>
            <a:endParaRPr lang="zh-TW" altLang="en-US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948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7F580-495B-4B02-BF0A-7B152798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kern="12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br>
              <a:rPr lang="en-US" altLang="zh-TW" i="1" u="sng" dirty="0"/>
            </a:b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DFC5231-D272-4AC6-9245-9AE63CF21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425" y="2011320"/>
            <a:ext cx="5091015" cy="457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F3226CB-5978-42EF-ACB5-3975722E0485}"/>
                  </a:ext>
                </a:extLst>
              </p:cNvPr>
              <p:cNvSpPr txBox="1"/>
              <p:nvPr/>
            </p:nvSpPr>
            <p:spPr>
              <a:xfrm>
                <a:off x="2996151" y="249289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TW" sz="2800" b="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F3226CB-5978-42EF-ACB5-3975722E0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51" y="2492896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646574C-653B-4429-969E-37184FCE9EC0}"/>
                  </a:ext>
                </a:extLst>
              </p:cNvPr>
              <p:cNvSpPr txBox="1"/>
              <p:nvPr/>
            </p:nvSpPr>
            <p:spPr>
              <a:xfrm>
                <a:off x="4225283" y="1490198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646574C-653B-4429-969E-37184FCE9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283" y="1490198"/>
                <a:ext cx="43204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D1322AB5-02AC-4DD4-A4CE-E418B65559AF}"/>
              </a:ext>
            </a:extLst>
          </p:cNvPr>
          <p:cNvSpPr txBox="1"/>
          <p:nvPr/>
        </p:nvSpPr>
        <p:spPr>
          <a:xfrm>
            <a:off x="179512" y="1772816"/>
            <a:ext cx="29523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u="sng" dirty="0" err="1">
                <a:latin typeface="Times New Roman" panose="02020603050405020304" pitchFamily="18" charset="0"/>
              </a:rPr>
              <a:t>i</a:t>
            </a:r>
            <a:r>
              <a:rPr lang="en-US" altLang="zh-TW" sz="2800" i="1" u="sng" dirty="0">
                <a:latin typeface="Times New Roman" panose="02020603050405020304" pitchFamily="18" charset="0"/>
              </a:rPr>
              <a:t> = 1, j = 1 </a:t>
            </a:r>
          </a:p>
          <a:p>
            <a:r>
              <a:rPr lang="en-US" altLang="zh-TW" sz="2800" dirty="0">
                <a:latin typeface="Times New Roman" panose="02020603050405020304" pitchFamily="18" charset="0"/>
              </a:rPr>
              <a:t>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X =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dirty="0" err="1">
                <a:latin typeface="Times New Roman" panose="02020603050405020304" pitchFamily="18" charset="0"/>
              </a:rPr>
              <a:t>abbbba</a:t>
            </a:r>
            <a:endParaRPr lang="en-US" altLang="zh-TW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Y =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dirty="0" err="1">
                <a:latin typeface="Times New Roman" panose="02020603050405020304" pitchFamily="18" charset="0"/>
              </a:rPr>
              <a:t>abbba</a:t>
            </a:r>
            <a:endParaRPr lang="en-US" altLang="zh-TW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A =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dirty="0" err="1">
                <a:latin typeface="Times New Roman" panose="02020603050405020304" pitchFamily="18" charset="0"/>
              </a:rPr>
              <a:t>aba</a:t>
            </a:r>
            <a:endParaRPr lang="en-US" altLang="zh-TW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</a:rPr>
              <a:t>B =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dirty="0" err="1">
                <a:latin typeface="Times New Roman" panose="02020603050405020304" pitchFamily="18" charset="0"/>
              </a:rPr>
              <a:t>abbba</a:t>
            </a:r>
            <a:endParaRPr lang="zh-TW" altLang="en-US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00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7F580-495B-4B02-BF0A-7B152798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kern="12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M-STR-IC-LCS</a:t>
            </a:r>
            <a:br>
              <a:rPr lang="en-US" altLang="zh-TW" i="1" u="sng" dirty="0"/>
            </a:b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0859BD4-9218-40B3-92B3-6832B706C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425" y="2015690"/>
            <a:ext cx="5091015" cy="457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A5D7FBB-0376-4298-8516-1730536BBC77}"/>
                  </a:ext>
                </a:extLst>
              </p:cNvPr>
              <p:cNvSpPr txBox="1"/>
              <p:nvPr/>
            </p:nvSpPr>
            <p:spPr>
              <a:xfrm>
                <a:off x="2996151" y="2495168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TW" sz="2800" b="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A5D7FBB-0376-4298-8516-1730536B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51" y="2495168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5E4BC9-A72B-4151-AA02-E504FFA01C8B}"/>
                  </a:ext>
                </a:extLst>
              </p:cNvPr>
              <p:cNvSpPr txBox="1"/>
              <p:nvPr/>
            </p:nvSpPr>
            <p:spPr>
              <a:xfrm>
                <a:off x="4225283" y="1492470"/>
                <a:ext cx="432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5E4BC9-A72B-4151-AA02-E504FFA01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283" y="1492470"/>
                <a:ext cx="43204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59834494-523F-4B0A-9782-3BA620DA189C}"/>
              </a:ext>
            </a:extLst>
          </p:cNvPr>
          <p:cNvSpPr txBox="1"/>
          <p:nvPr/>
        </p:nvSpPr>
        <p:spPr>
          <a:xfrm>
            <a:off x="179512" y="1772816"/>
            <a:ext cx="29523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u="sng" dirty="0" err="1">
                <a:latin typeface="+mj-lt"/>
              </a:rPr>
              <a:t>i</a:t>
            </a:r>
            <a:r>
              <a:rPr lang="en-US" altLang="zh-TW" sz="2800" i="1" u="sng" dirty="0">
                <a:latin typeface="+mj-lt"/>
              </a:rPr>
              <a:t> = 0, j = 0 </a:t>
            </a:r>
            <a:r>
              <a:rPr lang="en-US" altLang="zh-TW" sz="2800" dirty="0">
                <a:latin typeface="+mj-lt"/>
              </a:rPr>
              <a:t>  </a:t>
            </a:r>
          </a:p>
          <a:p>
            <a:r>
              <a:rPr lang="en-US" altLang="zh-TW" sz="2800" dirty="0">
                <a:latin typeface="+mj-lt"/>
              </a:rPr>
              <a:t>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</a:rPr>
              <a:t>X = </a:t>
            </a:r>
            <a:r>
              <a:rPr lang="en-US" altLang="zh-TW" sz="2800" dirty="0" err="1">
                <a:latin typeface="+mj-lt"/>
              </a:rPr>
              <a:t>aabbbba</a:t>
            </a:r>
            <a:endParaRPr lang="en-US" altLang="zh-TW" sz="2800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</a:rPr>
              <a:t>Y = </a:t>
            </a:r>
            <a:r>
              <a:rPr lang="en-US" altLang="zh-TW" sz="2800" dirty="0" err="1">
                <a:latin typeface="+mj-lt"/>
              </a:rPr>
              <a:t>aabbba</a:t>
            </a:r>
            <a:endParaRPr lang="en-US" altLang="zh-TW" sz="2800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</a:rPr>
              <a:t>A = </a:t>
            </a:r>
            <a:r>
              <a:rPr lang="en-US" altLang="zh-TW" sz="2800" dirty="0" err="1">
                <a:latin typeface="+mj-lt"/>
              </a:rPr>
              <a:t>aaba</a:t>
            </a:r>
            <a:endParaRPr lang="en-US" altLang="zh-TW" sz="2800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</a:rPr>
              <a:t>B = </a:t>
            </a:r>
            <a:r>
              <a:rPr lang="en-US" altLang="zh-TW" sz="2800" dirty="0" err="1">
                <a:latin typeface="+mj-lt"/>
              </a:rPr>
              <a:t>aabbba</a:t>
            </a:r>
            <a:endParaRPr lang="zh-TW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127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7809-9A34-4E1C-8CB6-4C693DF5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0D5F06B-E9CC-41ED-A780-BDA6586C521A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837861-FB1C-4F90-A3EF-B46995DB4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80" y="846000"/>
            <a:ext cx="8357680" cy="532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16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273A50-085B-44C1-9798-6E595BBBD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4808058-8FB9-4741-A763-3851E9512ABA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D289806-D0C5-4724-8A03-6BFB9CBED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53001"/>
            <a:ext cx="8229240" cy="475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95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7F580-495B-4B02-BF0A-7B152798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9834494-523F-4B0A-9782-3BA620DA189C}"/>
              </a:ext>
            </a:extLst>
          </p:cNvPr>
          <p:cNvSpPr txBox="1"/>
          <p:nvPr/>
        </p:nvSpPr>
        <p:spPr>
          <a:xfrm>
            <a:off x="179512" y="1772816"/>
            <a:ext cx="4752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O(d2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 is fixed =&gt; O(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338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6879</TotalTime>
  <Words>843</Words>
  <Application>Microsoft Office PowerPoint</Application>
  <PresentationFormat>如螢幕大小 (4:3)</PresentationFormat>
  <Paragraphs>147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26</vt:i4>
      </vt:variant>
    </vt:vector>
  </HeadingPairs>
  <TitlesOfParts>
    <vt:vector size="36" baseType="lpstr">
      <vt:lpstr>DejaVu Sans</vt:lpstr>
      <vt:lpstr>微軟正黑體</vt:lpstr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M-STR-IC-LCS</vt:lpstr>
      <vt:lpstr>M-STR-IC-LCS </vt:lpstr>
      <vt:lpstr>M-STR-IC-LCS </vt:lpstr>
      <vt:lpstr>M-STR-IC-LCS </vt:lpstr>
      <vt:lpstr>M-STR-IC-LCS </vt:lpstr>
      <vt:lpstr>M-STR-IC-LCS </vt:lpstr>
      <vt:lpstr>M-STR-IC-LCS </vt:lpstr>
      <vt:lpstr> M-STR-IC-LCS </vt:lpstr>
      <vt:lpstr>M-STR-IC-LCS </vt:lpstr>
      <vt:lpstr>M-STR-IC-LCS </vt:lpstr>
      <vt:lpstr>PowerPoint 簡報</vt:lpstr>
      <vt:lpstr>PowerPoint 簡報</vt:lpstr>
      <vt:lpstr>Time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Parallel Pairwise Local Sequence Alignment Algorithm</dc:title>
  <dc:subject/>
  <dc:creator>super</dc:creator>
  <dc:description/>
  <cp:lastModifiedBy>USER</cp:lastModifiedBy>
  <cp:revision>1083</cp:revision>
  <dcterms:created xsi:type="dcterms:W3CDTF">2020-09-11T11:13:53Z</dcterms:created>
  <dcterms:modified xsi:type="dcterms:W3CDTF">2021-10-20T07:23:53Z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如螢幕大小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