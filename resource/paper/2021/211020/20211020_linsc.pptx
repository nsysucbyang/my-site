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Override PartName="/ppt/slideLayouts/slideLayout82.xml" ContentType="application/vnd.openxmlformats-officedocument.presentationml.slideLayout+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Masters/slideMaster6.xml" ContentType="application/vnd.openxmlformats-officedocument.presentationml.slideMaster+xml"/>
  <Override PartName="/ppt/theme/theme8.xml" ContentType="application/vnd.openxmlformats-officedocument.them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Override PartName="/ppt/slideLayouts/slideLayout76.xml" ContentType="application/vnd.openxmlformats-officedocument.presentationml.slideLayout+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Layouts/slideLayout74.xml" ContentType="application/vnd.openxmlformats-officedocument.presentationml.slideLayout+xml"/>
  <Override PartName="/ppt/slideLayouts/slideLayout83.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slideLayouts/slideLayout72.xml" ContentType="application/vnd.openxmlformats-officedocument.presentationml.slideLayout+xml"/>
  <Override PartName="/ppt/slideLayouts/slideLayout81.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7.xml" ContentType="application/vnd.openxmlformats-officedocument.presentationml.slideMaster+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Layouts/slideLayout84.xml" ContentType="application/vnd.openxmlformats-officedocument.presentationml.slideLayout+xml"/>
  <Override PartName="/ppt/slides/slide2.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Default Extension="rels" ContentType="application/vnd.openxmlformats-package.relationships+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Layouts/slideLayout11.xml" ContentType="application/vnd.openxmlformats-officedocument.presentationml.slideLayout+xml"/>
  <Override PartName="/ppt/slideLayouts/slideLayout4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99" r:id="rId3"/>
    <p:sldMasterId id="2147483738" r:id="rId4"/>
    <p:sldMasterId id="2147483712" r:id="rId5"/>
    <p:sldMasterId id="2147483674" r:id="rId6"/>
    <p:sldMasterId id="2147483725" r:id="rId7"/>
  </p:sldMasterIdLst>
  <p:notesMasterIdLst>
    <p:notesMasterId r:id="rId19"/>
  </p:notesMasterIdLst>
  <p:sldIdLst>
    <p:sldId id="256" r:id="rId8"/>
    <p:sldId id="257" r:id="rId9"/>
    <p:sldId id="258" r:id="rId10"/>
    <p:sldId id="262" r:id="rId11"/>
    <p:sldId id="259" r:id="rId12"/>
    <p:sldId id="260" r:id="rId13"/>
    <p:sldId id="261" r:id="rId14"/>
    <p:sldId id="263" r:id="rId15"/>
    <p:sldId id="265" r:id="rId16"/>
    <p:sldId id="266" r:id="rId17"/>
    <p:sldId id="267"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34587" autoAdjust="0"/>
    <p:restoredTop sz="94632" autoAdjust="0"/>
  </p:normalViewPr>
  <p:slideViewPr>
    <p:cSldViewPr>
      <p:cViewPr varScale="1">
        <p:scale>
          <a:sx n="108" d="100"/>
          <a:sy n="108" d="100"/>
        </p:scale>
        <p:origin x="-16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1962A5-A15B-4472-A253-73015B2EE908}" type="slidenum">
              <a:rPr lang="en-US" sz="1400" b="0" strike="noStrike" spc="-1">
                <a:latin typeface="Times New Roman"/>
              </a:rPr>
              <a:pPr algn="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atin typeface="Times New Roman" pitchFamily="18" charset="0"/>
                <a:cs typeface="Times New Roman" pitchFamily="18" charset="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1_標題及物件T">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BFEC21A0-76F1-4091-8A4E-3D3682A4EBBE}" type="datetime">
              <a:rPr lang="en-US" sz="1200" b="0" strike="noStrike" spc="-1">
                <a:solidFill>
                  <a:srgbClr val="8B8B8B"/>
                </a:solidFill>
                <a:latin typeface="Calibri"/>
              </a:rPr>
              <a:pPr>
                <a:lnSpc>
                  <a:spcPct val="100000"/>
                </a:lnSpc>
              </a:pPr>
              <a:t>10/20/2021</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29C6C588-69D4-483A-BFC4-1F3BDC423AB1}"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dirty="0">
                <a:solidFill>
                  <a:srgbClr val="000000"/>
                </a:solidFill>
                <a:latin typeface="Calibri"/>
              </a:rPr>
              <a:t>請按這裡編輯大綱文字格式</a:t>
            </a:r>
            <a:endParaRPr lang="en-US" sz="3200" b="0" strike="noStrike" spc="-1" dirty="0">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dirty="0">
                <a:solidFill>
                  <a:srgbClr val="000000"/>
                </a:solidFill>
                <a:latin typeface="Calibri"/>
              </a:rPr>
              <a:t>第二個大綱層次</a:t>
            </a:r>
            <a:endParaRPr lang="en-US" sz="2400" b="0" strike="noStrike" spc="-1" dirty="0">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dirty="0">
                <a:solidFill>
                  <a:srgbClr val="000000"/>
                </a:solidFill>
                <a:latin typeface="Calibri"/>
              </a:rPr>
              <a:t>第三個大綱層次</a:t>
            </a:r>
            <a:endParaRPr lang="en-US" sz="2000" b="0" strike="noStrike" spc="-1" dirty="0">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dirty="0">
                <a:solidFill>
                  <a:srgbClr val="000000"/>
                </a:solidFill>
                <a:latin typeface="Calibri"/>
              </a:rPr>
              <a:t>第四個大綱層次</a:t>
            </a:r>
            <a:endParaRPr lang="en-US" sz="2000" b="0" strike="noStrike" spc="-1" dirty="0">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dirty="0">
                <a:solidFill>
                  <a:srgbClr val="000000"/>
                </a:solidFill>
                <a:latin typeface="Calibri"/>
              </a:rPr>
              <a:t>第五個大綱層次</a:t>
            </a:r>
            <a:endParaRPr lang="en-US" sz="2000" b="0" strike="noStrike" spc="-1" dirty="0">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dirty="0">
                <a:solidFill>
                  <a:srgbClr val="000000"/>
                </a:solidFill>
                <a:latin typeface="Calibri"/>
              </a:rPr>
              <a:t>第六個大綱層次</a:t>
            </a:r>
            <a:endParaRPr lang="en-US" sz="2000" b="0" strike="noStrike" spc="-1" dirty="0">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dirty="0">
                <a:solidFill>
                  <a:srgbClr val="000000"/>
                </a:solidFill>
                <a:latin typeface="Calibri"/>
              </a:rPr>
              <a:t>第七個大綱層次</a:t>
            </a:r>
            <a:endParaRPr lang="en-US" sz="2000" b="0" strike="noStrike" spc="-1" dirty="0">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10/20/2021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10/20/2021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F5B75-ECF6-4BE6-A3DE-C8259B535844}" type="datetimeFigureOut">
              <a:rPr lang="zh-TW" altLang="en-US" smtClean="0"/>
              <a:pPr/>
              <a:t>2021/10/20</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404C3-9969-4EFA-96B9-1AADC38D565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5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10/20/2021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1E863-67F1-4DED-9226-013F8637FBA5}" type="datetimeFigureOut">
              <a:rPr lang="zh-TW" altLang="en-US" smtClean="0"/>
              <a:pPr/>
              <a:t>2021/10/20</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AB90B-7E45-4DA0-85F8-FA0EBB18F3F7}"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751"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r>
              <a:rPr lang="en-US" altLang="zh-TW" sz="3200" dirty="0" smtClean="0">
                <a:latin typeface="Times New Roman" pitchFamily="18" charset="0"/>
                <a:cs typeface="Times New Roman" pitchFamily="18" charset="0"/>
              </a:rPr>
              <a:t>Appearance-Based Object Recognition Using Weighted Longest Increasing Subsequence</a:t>
            </a:r>
            <a:endParaRPr lang="en-US" sz="3200" b="0" strike="noStrike" spc="-1" dirty="0">
              <a:solidFill>
                <a:srgbClr val="000000"/>
              </a:solidFill>
              <a:latin typeface="Times New Roman" pitchFamily="18" charset="0"/>
              <a:cs typeface="Times New Roman" pitchFamily="18" charset="0"/>
            </a:endParaRPr>
          </a:p>
        </p:txBody>
      </p:sp>
      <p:sp>
        <p:nvSpPr>
          <p:cNvPr id="89" name="TextShape 2"/>
          <p:cNvSpPr txBox="1"/>
          <p:nvPr/>
        </p:nvSpPr>
        <p:spPr>
          <a:xfrm>
            <a:off x="1214280" y="3357720"/>
            <a:ext cx="6786360" cy="2071440"/>
          </a:xfrm>
          <a:prstGeom prst="rect">
            <a:avLst/>
          </a:prstGeom>
          <a:noFill/>
          <a:ln>
            <a:noFill/>
          </a:ln>
        </p:spPr>
        <p:txBody>
          <a:bodyPr>
            <a:normAutofit/>
          </a:bodyPr>
          <a:lstStyle/>
          <a:p>
            <a:pPr algn="ctr">
              <a:spcBef>
                <a:spcPts val="479"/>
              </a:spcBef>
              <a:tabLst>
                <a:tab pos="0" algn="l"/>
              </a:tabLst>
            </a:pPr>
            <a:r>
              <a:rPr lang="it-IT" sz="2400" spc="-1" dirty="0" smtClean="0">
                <a:solidFill>
                  <a:srgbClr val="000000"/>
                </a:solidFill>
                <a:latin typeface="Times New Roman" pitchFamily="18" charset="0"/>
                <a:cs typeface="Times New Roman" pitchFamily="18" charset="0"/>
              </a:rPr>
              <a:t>Gede Putra Kusuma, Attila Szabo, Li Yiqun and Jimmy Addison Lee</a:t>
            </a:r>
          </a:p>
          <a:p>
            <a:pPr algn="ctr">
              <a:spcBef>
                <a:spcPts val="479"/>
              </a:spcBef>
              <a:tabLst>
                <a:tab pos="0" algn="l"/>
              </a:tabLst>
            </a:pPr>
            <a:endParaRPr lang="en-US" sz="2000" spc="-1" dirty="0" smtClean="0">
              <a:solidFill>
                <a:srgbClr val="000000"/>
              </a:solidFill>
              <a:latin typeface="Times New Roman"/>
            </a:endParaRPr>
          </a:p>
          <a:p>
            <a:pPr algn="ctr">
              <a:spcBef>
                <a:spcPts val="479"/>
              </a:spcBef>
              <a:tabLst>
                <a:tab pos="0" algn="l"/>
              </a:tabLst>
            </a:pPr>
            <a:r>
              <a:rPr lang="en-US" sz="2400" spc="-1" dirty="0" smtClean="0">
                <a:solidFill>
                  <a:srgbClr val="000000"/>
                </a:solidFill>
                <a:latin typeface="Times New Roman"/>
              </a:rPr>
              <a:t>21st International Conference on Pattern Recognition (ICPR 2012) November 11-15, 2012. Tsukuba, Japan</a:t>
            </a: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dirty="0">
                <a:solidFill>
                  <a:srgbClr val="000000"/>
                </a:solidFill>
                <a:latin typeface="Times New Roman"/>
              </a:rPr>
              <a:t>Presenter: Shin-Cheng Lin</a:t>
            </a:r>
            <a:endParaRPr lang="en-US" sz="2000" b="0" strike="noStrike" spc="-1" dirty="0">
              <a:latin typeface="Arial"/>
            </a:endParaRPr>
          </a:p>
          <a:p>
            <a:pPr>
              <a:lnSpc>
                <a:spcPct val="100000"/>
              </a:lnSpc>
              <a:spcBef>
                <a:spcPts val="400"/>
              </a:spcBef>
              <a:tabLst>
                <a:tab pos="0" algn="l"/>
              </a:tabLst>
            </a:pPr>
            <a:r>
              <a:rPr lang="en-US" sz="2000" b="0" strike="noStrike" spc="-1" dirty="0">
                <a:solidFill>
                  <a:srgbClr val="000000"/>
                </a:solidFill>
                <a:latin typeface="Times New Roman"/>
              </a:rPr>
              <a:t>Date: </a:t>
            </a:r>
            <a:r>
              <a:rPr lang="en-US" altLang="zh-TW" sz="2000" b="0" strike="noStrike" spc="-1" dirty="0" smtClean="0">
                <a:solidFill>
                  <a:srgbClr val="000000"/>
                </a:solidFill>
                <a:latin typeface="Times New Roman"/>
              </a:rPr>
              <a:t>Oct</a:t>
            </a:r>
            <a:r>
              <a:rPr lang="en-US" sz="2000" spc="-1" dirty="0" smtClean="0">
                <a:solidFill>
                  <a:srgbClr val="000000"/>
                </a:solidFill>
                <a:latin typeface="Times New Roman"/>
              </a:rPr>
              <a:t>.</a:t>
            </a:r>
            <a:r>
              <a:rPr lang="en-US" sz="2000" b="0" strike="noStrike" spc="-1" dirty="0" smtClean="0">
                <a:solidFill>
                  <a:srgbClr val="000000"/>
                </a:solidFill>
                <a:latin typeface="Times New Roman"/>
              </a:rPr>
              <a:t> 20, 2021</a:t>
            </a:r>
            <a:endParaRPr lang="en-US" sz="2000" b="0" strike="noStrike" spc="-1" dirty="0">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smtClean="0">
                <a:solidFill>
                  <a:srgbClr val="000000"/>
                </a:solidFill>
                <a:latin typeface="Times New Roman"/>
              </a:rPr>
              <a:t>Abstract</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We proposed in this paper a novel weighted longest increasing subsequence to improve the performance of the appearance-based object recognition. The LIS is employed to find the true </a:t>
            </a:r>
            <a:r>
              <a:rPr lang="en-US" sz="2800" spc="-1" dirty="0" err="1" smtClean="0">
                <a:solidFill>
                  <a:srgbClr val="000000"/>
                </a:solidFill>
                <a:latin typeface="Times New Roman"/>
              </a:rPr>
              <a:t>keypoint</a:t>
            </a:r>
            <a:r>
              <a:rPr lang="en-US" sz="2800" spc="-1" dirty="0" smtClean="0">
                <a:solidFill>
                  <a:srgbClr val="000000"/>
                </a:solidFill>
                <a:latin typeface="Times New Roman"/>
              </a:rPr>
              <a:t> matches that have consistent geometric order in both query and gallery images. Then, the similarity between query and gallery images is measured by the sum of the weights of the true </a:t>
            </a:r>
            <a:r>
              <a:rPr lang="en-US" sz="2800" spc="-1" dirty="0" err="1" smtClean="0">
                <a:solidFill>
                  <a:srgbClr val="000000"/>
                </a:solidFill>
                <a:latin typeface="Times New Roman"/>
              </a:rPr>
              <a:t>keypoints</a:t>
            </a:r>
            <a:r>
              <a:rPr lang="en-US" sz="2800" spc="-1" dirty="0" smtClean="0">
                <a:solidFill>
                  <a:srgbClr val="000000"/>
                </a:solidFill>
                <a:latin typeface="Times New Roman"/>
              </a:rPr>
              <a:t>. The experimental results shown that our approach outperforms the SURF and SURF + RANSAC </a:t>
            </a:r>
            <a:r>
              <a:rPr lang="en-US" sz="2800" spc="-1" dirty="0" err="1" smtClean="0">
                <a:solidFill>
                  <a:srgbClr val="000000"/>
                </a:solidFill>
                <a:latin typeface="Times New Roman"/>
              </a:rPr>
              <a:t>Homography</a:t>
            </a:r>
            <a:r>
              <a:rPr lang="en-US" sz="2800" spc="-1" dirty="0" smtClean="0">
                <a:solidFill>
                  <a:srgbClr val="000000"/>
                </a:solidFill>
                <a:latin typeface="Times New Roman"/>
              </a:rPr>
              <a:t> approaches.</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pPr algn="l"/>
            <a:r>
              <a:rPr lang="en-US" altLang="zh-TW" dirty="0" smtClean="0"/>
              <a:t>Feature </a:t>
            </a:r>
            <a:r>
              <a:rPr lang="en-US" altLang="zh-TW" dirty="0" smtClean="0"/>
              <a:t>Detection</a:t>
            </a:r>
            <a:endParaRPr lang="zh-TW" altLang="en-US" dirty="0"/>
          </a:p>
        </p:txBody>
      </p:sp>
      <p:sp>
        <p:nvSpPr>
          <p:cNvPr id="5" name="內容版面配置區 4"/>
          <p:cNvSpPr>
            <a:spLocks noGrp="1"/>
          </p:cNvSpPr>
          <p:nvPr>
            <p:ph idx="1"/>
          </p:nvPr>
        </p:nvSpPr>
        <p:spPr/>
        <p:txBody>
          <a:bodyPr/>
          <a:lstStyle/>
          <a:p>
            <a:r>
              <a:rPr lang="en-US" altLang="zh-TW" dirty="0" smtClean="0"/>
              <a:t>Find the </a:t>
            </a:r>
            <a:r>
              <a:rPr lang="en-US" altLang="zh-TW" dirty="0" err="1" smtClean="0"/>
              <a:t>keypoints</a:t>
            </a:r>
            <a:r>
              <a:rPr lang="en-US" altLang="zh-TW" dirty="0" smtClean="0"/>
              <a:t> in </a:t>
            </a:r>
            <a:r>
              <a:rPr lang="en-US" spc="-1" dirty="0" smtClean="0">
                <a:solidFill>
                  <a:srgbClr val="000000"/>
                </a:solidFill>
              </a:rPr>
              <a:t>query and gallery images.</a:t>
            </a:r>
          </a:p>
          <a:p>
            <a:r>
              <a:rPr lang="en-US" altLang="zh-TW" dirty="0" err="1" smtClean="0"/>
              <a:t>Keypoint</a:t>
            </a:r>
            <a:r>
              <a:rPr lang="en-US" altLang="zh-TW" dirty="0" smtClean="0"/>
              <a:t> → Larger gradient</a:t>
            </a:r>
            <a:endParaRPr lang="zh-TW" altLang="en-US" dirty="0"/>
          </a:p>
        </p:txBody>
      </p:sp>
      <p:pic>
        <p:nvPicPr>
          <p:cNvPr id="1027" name="Picture 3"/>
          <p:cNvPicPr>
            <a:picLocks noChangeAspect="1" noChangeArrowheads="1"/>
          </p:cNvPicPr>
          <p:nvPr/>
        </p:nvPicPr>
        <p:blipFill>
          <a:blip r:embed="rId2"/>
          <a:srcRect/>
          <a:stretch>
            <a:fillRect/>
          </a:stretch>
        </p:blipFill>
        <p:spPr bwMode="auto">
          <a:xfrm>
            <a:off x="4524405" y="3371850"/>
            <a:ext cx="4333875" cy="348615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785786" y="3929066"/>
            <a:ext cx="3686175" cy="19812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Matching</a:t>
            </a:r>
            <a:endParaRPr lang="zh-TW" altLang="en-US" dirty="0"/>
          </a:p>
        </p:txBody>
      </p:sp>
      <p:sp>
        <p:nvSpPr>
          <p:cNvPr id="3" name="內容版面配置區 2"/>
          <p:cNvSpPr>
            <a:spLocks noGrp="1"/>
          </p:cNvSpPr>
          <p:nvPr>
            <p:ph idx="1"/>
          </p:nvPr>
        </p:nvSpPr>
        <p:spPr/>
        <p:txBody>
          <a:bodyPr>
            <a:normAutofit/>
          </a:bodyPr>
          <a:lstStyle/>
          <a:p>
            <a:r>
              <a:rPr lang="en-US" altLang="zh-TW" dirty="0" smtClean="0"/>
              <a:t>Measured </a:t>
            </a:r>
            <a:r>
              <a:rPr lang="en-US" altLang="zh-TW" dirty="0" smtClean="0"/>
              <a:t>by the </a:t>
            </a:r>
            <a:r>
              <a:rPr lang="en-US" altLang="zh-TW" dirty="0" smtClean="0"/>
              <a:t>Euclidean distance </a:t>
            </a:r>
            <a:r>
              <a:rPr lang="en-US" altLang="zh-TW" dirty="0" smtClean="0"/>
              <a:t>of their descriptors</a:t>
            </a:r>
            <a:r>
              <a:rPr lang="en-US" altLang="zh-TW" dirty="0" smtClean="0"/>
              <a:t>.</a:t>
            </a:r>
          </a:p>
          <a:p>
            <a:r>
              <a:rPr lang="en-US" altLang="zh-TW" dirty="0" smtClean="0"/>
              <a:t>d</a:t>
            </a:r>
            <a:r>
              <a:rPr lang="en-US" altLang="zh-TW" baseline="-25000" dirty="0" smtClean="0"/>
              <a:t>1 </a:t>
            </a:r>
            <a:r>
              <a:rPr lang="en-US" altLang="zh-TW" dirty="0" smtClean="0"/>
              <a:t>/ d</a:t>
            </a:r>
            <a:r>
              <a:rPr lang="en-US" altLang="zh-TW" baseline="-25000" dirty="0" smtClean="0"/>
              <a:t>2</a:t>
            </a:r>
            <a:r>
              <a:rPr lang="en-US" altLang="zh-TW" dirty="0" smtClean="0"/>
              <a:t> </a:t>
            </a:r>
            <a:r>
              <a:rPr lang="zh-TW" altLang="en-US" dirty="0" smtClean="0"/>
              <a:t>＜</a:t>
            </a:r>
            <a:r>
              <a:rPr lang="en-US" altLang="zh-TW" dirty="0" smtClean="0"/>
              <a:t>  threshold</a:t>
            </a:r>
          </a:p>
          <a:p>
            <a:r>
              <a:rPr lang="en-US" altLang="zh-TW" dirty="0" smtClean="0"/>
              <a:t>a weight for every pair of </a:t>
            </a:r>
            <a:r>
              <a:rPr lang="en-US" altLang="zh-TW" dirty="0" smtClean="0"/>
              <a:t>best matches</a:t>
            </a:r>
          </a:p>
          <a:p>
            <a:r>
              <a:rPr lang="en-US" altLang="zh-TW" dirty="0" smtClean="0"/>
              <a:t>d</a:t>
            </a:r>
            <a:r>
              <a:rPr lang="en-US" altLang="zh-TW" baseline="-25000" dirty="0" smtClean="0"/>
              <a:t>1</a:t>
            </a:r>
            <a:r>
              <a:rPr lang="en-US" altLang="zh-TW" dirty="0" smtClean="0"/>
              <a:t>: best match, d</a:t>
            </a:r>
            <a:r>
              <a:rPr lang="en-US" altLang="zh-TW" baseline="-25000" dirty="0" smtClean="0"/>
              <a:t>2</a:t>
            </a:r>
            <a:r>
              <a:rPr lang="en-US" altLang="zh-TW" dirty="0" smtClean="0"/>
              <a:t> second best match</a:t>
            </a:r>
            <a:endParaRPr lang="zh-TW" altLang="en-US" dirty="0"/>
          </a:p>
        </p:txBody>
      </p:sp>
      <p:pic>
        <p:nvPicPr>
          <p:cNvPr id="1027" name="Picture 3"/>
          <p:cNvPicPr>
            <a:picLocks noChangeAspect="1" noChangeArrowheads="1"/>
          </p:cNvPicPr>
          <p:nvPr/>
        </p:nvPicPr>
        <p:blipFill>
          <a:blip r:embed="rId2"/>
          <a:srcRect/>
          <a:stretch>
            <a:fillRect/>
          </a:stretch>
        </p:blipFill>
        <p:spPr bwMode="auto">
          <a:xfrm>
            <a:off x="2529952" y="4857760"/>
            <a:ext cx="4084097" cy="107157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RANSAC</a:t>
            </a:r>
            <a:endParaRPr lang="zh-TW" altLang="en-US" dirty="0"/>
          </a:p>
        </p:txBody>
      </p:sp>
      <p:sp>
        <p:nvSpPr>
          <p:cNvPr id="3" name="內容版面配置區 2"/>
          <p:cNvSpPr>
            <a:spLocks noGrp="1"/>
          </p:cNvSpPr>
          <p:nvPr>
            <p:ph idx="1"/>
          </p:nvPr>
        </p:nvSpPr>
        <p:spPr/>
        <p:txBody>
          <a:bodyPr/>
          <a:lstStyle/>
          <a:p>
            <a:r>
              <a:rPr lang="en-US" altLang="zh-TW" dirty="0" smtClean="0"/>
              <a:t>RANSAC (Random sample Consensus)</a:t>
            </a:r>
          </a:p>
          <a:p>
            <a:pPr lvl="1"/>
            <a:r>
              <a:rPr lang="en-US" altLang="zh-TW" dirty="0" smtClean="0"/>
              <a:t>Randomly select 4 pairs</a:t>
            </a:r>
          </a:p>
          <a:p>
            <a:pPr lvl="1"/>
            <a:r>
              <a:rPr lang="en-US" altLang="zh-TW" dirty="0" smtClean="0"/>
              <a:t>Calculate the </a:t>
            </a:r>
            <a:r>
              <a:rPr lang="en-US" altLang="zh-TW" dirty="0" err="1" smtClean="0"/>
              <a:t>Homography</a:t>
            </a:r>
            <a:r>
              <a:rPr lang="en-US" altLang="zh-TW" dirty="0" smtClean="0"/>
              <a:t> Matrix</a:t>
            </a:r>
          </a:p>
          <a:p>
            <a:pPr lvl="1"/>
            <a:r>
              <a:rPr lang="en-US" altLang="zh-TW" dirty="0" smtClean="0"/>
              <a:t>Calculate the error value</a:t>
            </a:r>
          </a:p>
          <a:p>
            <a:pPr lvl="1"/>
            <a:r>
              <a:rPr lang="en-US" altLang="zh-TW" dirty="0" smtClean="0"/>
              <a:t>Record minimum error</a:t>
            </a:r>
            <a:endParaRPr lang="zh-TW" altLang="en-US" dirty="0"/>
          </a:p>
        </p:txBody>
      </p:sp>
      <p:pic>
        <p:nvPicPr>
          <p:cNvPr id="2052" name="Picture 4"/>
          <p:cNvPicPr>
            <a:picLocks noChangeAspect="1" noChangeArrowheads="1"/>
          </p:cNvPicPr>
          <p:nvPr/>
        </p:nvPicPr>
        <p:blipFill>
          <a:blip r:embed="rId2"/>
          <a:srcRect/>
          <a:stretch>
            <a:fillRect/>
          </a:stretch>
        </p:blipFill>
        <p:spPr bwMode="auto">
          <a:xfrm>
            <a:off x="928694" y="4357694"/>
            <a:ext cx="5715008" cy="2338526"/>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err="1" smtClean="0"/>
              <a:t>Homography</a:t>
            </a:r>
            <a:r>
              <a:rPr lang="en-US" altLang="zh-TW" dirty="0" smtClean="0"/>
              <a:t> and error value</a:t>
            </a:r>
            <a:endParaRPr lang="zh-TW" altLang="en-US" dirty="0"/>
          </a:p>
        </p:txBody>
      </p:sp>
      <p:sp>
        <p:nvSpPr>
          <p:cNvPr id="3" name="內容版面配置區 2"/>
          <p:cNvSpPr>
            <a:spLocks noGrp="1"/>
          </p:cNvSpPr>
          <p:nvPr>
            <p:ph idx="1"/>
          </p:nvPr>
        </p:nvSpPr>
        <p:spPr/>
        <p:txBody>
          <a:bodyPr/>
          <a:lstStyle/>
          <a:p>
            <a:r>
              <a:rPr lang="en-US" altLang="zh-TW" dirty="0" err="1" smtClean="0"/>
              <a:t>Homography</a:t>
            </a:r>
            <a:r>
              <a:rPr lang="en-US" altLang="zh-TW" dirty="0" smtClean="0"/>
              <a:t> Matrix</a:t>
            </a:r>
          </a:p>
          <a:p>
            <a:r>
              <a:rPr lang="en-US" altLang="zh-TW" dirty="0" err="1" smtClean="0"/>
              <a:t>wP</a:t>
            </a:r>
            <a:r>
              <a:rPr lang="en-US" altLang="zh-TW" dirty="0" smtClean="0"/>
              <a:t>’ = HP</a:t>
            </a:r>
          </a:p>
          <a:p>
            <a:endParaRPr lang="en-US" altLang="zh-TW" dirty="0" smtClean="0"/>
          </a:p>
          <a:p>
            <a:pPr>
              <a:buNone/>
            </a:pPr>
            <a:endParaRPr lang="en-US" altLang="zh-TW" dirty="0" smtClean="0"/>
          </a:p>
          <a:p>
            <a:pPr>
              <a:buNone/>
            </a:pPr>
            <a:endParaRPr lang="en-US" altLang="zh-TW" dirty="0" smtClean="0"/>
          </a:p>
          <a:p>
            <a:r>
              <a:rPr lang="en-US" altLang="zh-TW" dirty="0" smtClean="0"/>
              <a:t>COUNT( |HP</a:t>
            </a:r>
            <a:r>
              <a:rPr lang="zh-TW" altLang="en-US" dirty="0" smtClean="0"/>
              <a:t>－</a:t>
            </a:r>
            <a:r>
              <a:rPr lang="en-US" altLang="zh-TW" dirty="0" smtClean="0"/>
              <a:t>P’| &lt; threshold)</a:t>
            </a:r>
            <a:endParaRPr lang="zh-TW" altLang="en-US" dirty="0"/>
          </a:p>
        </p:txBody>
      </p:sp>
      <p:pic>
        <p:nvPicPr>
          <p:cNvPr id="5" name="Picture 2"/>
          <p:cNvPicPr>
            <a:picLocks noChangeAspect="1" noChangeArrowheads="1"/>
          </p:cNvPicPr>
          <p:nvPr/>
        </p:nvPicPr>
        <p:blipFill>
          <a:blip r:embed="rId2"/>
          <a:srcRect/>
          <a:stretch>
            <a:fillRect/>
          </a:stretch>
        </p:blipFill>
        <p:spPr bwMode="auto">
          <a:xfrm>
            <a:off x="1785918" y="2871794"/>
            <a:ext cx="4295775" cy="14859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LIS</a:t>
            </a:r>
            <a:endParaRPr lang="zh-TW" altLang="en-US" dirty="0"/>
          </a:p>
        </p:txBody>
      </p:sp>
      <p:sp>
        <p:nvSpPr>
          <p:cNvPr id="3" name="內容版面配置區 2"/>
          <p:cNvSpPr>
            <a:spLocks noGrp="1"/>
          </p:cNvSpPr>
          <p:nvPr>
            <p:ph idx="1"/>
          </p:nvPr>
        </p:nvSpPr>
        <p:spPr/>
        <p:txBody>
          <a:bodyPr/>
          <a:lstStyle/>
          <a:p>
            <a:r>
              <a:rPr lang="en-US" altLang="zh-TW" dirty="0" smtClean="0"/>
              <a:t>finding the LIS </a:t>
            </a:r>
            <a:r>
              <a:rPr lang="en-US" altLang="zh-TW" dirty="0" smtClean="0"/>
              <a:t>of the </a:t>
            </a:r>
            <a:r>
              <a:rPr lang="en-US" altLang="zh-TW" dirty="0" err="1" smtClean="0"/>
              <a:t>keypoint</a:t>
            </a:r>
            <a:r>
              <a:rPr lang="en-US" altLang="zh-TW" dirty="0" smtClean="0"/>
              <a:t> pairs along the X-axis</a:t>
            </a:r>
            <a:r>
              <a:rPr lang="en-US" altLang="zh-TW" dirty="0" smtClean="0"/>
              <a:t>.</a:t>
            </a:r>
          </a:p>
          <a:p>
            <a:r>
              <a:rPr lang="en-US" altLang="zh-TW" dirty="0" smtClean="0"/>
              <a:t>Translate</a:t>
            </a:r>
          </a:p>
          <a:p>
            <a:r>
              <a:rPr lang="en-US" altLang="zh-TW" dirty="0" smtClean="0"/>
              <a:t>Scale</a:t>
            </a:r>
          </a:p>
          <a:p>
            <a:r>
              <a:rPr lang="en-US" altLang="zh-TW" dirty="0" smtClean="0"/>
              <a:t>Rotation</a:t>
            </a:r>
          </a:p>
          <a:p>
            <a:r>
              <a:rPr lang="en-US" dirty="0" smtClean="0"/>
              <a:t>Affine transformation</a:t>
            </a:r>
            <a:endParaRPr lang="en-US" altLang="zh-TW" dirty="0" smtClean="0"/>
          </a:p>
          <a:p>
            <a:endParaRPr lang="zh-TW" altLang="en-US" dirty="0"/>
          </a:p>
        </p:txBody>
      </p:sp>
      <p:pic>
        <p:nvPicPr>
          <p:cNvPr id="4098" name="Picture 2"/>
          <p:cNvPicPr>
            <a:picLocks noChangeAspect="1" noChangeArrowheads="1"/>
          </p:cNvPicPr>
          <p:nvPr/>
        </p:nvPicPr>
        <p:blipFill>
          <a:blip r:embed="rId2"/>
          <a:srcRect/>
          <a:stretch>
            <a:fillRect/>
          </a:stretch>
        </p:blipFill>
        <p:spPr bwMode="auto">
          <a:xfrm>
            <a:off x="4429124" y="4143380"/>
            <a:ext cx="4572032" cy="2532613"/>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Rotation</a:t>
            </a:r>
          </a:p>
          <a:p>
            <a:pPr lvl="1"/>
            <a:r>
              <a:rPr lang="en-US" altLang="zh-TW" dirty="0" smtClean="0"/>
              <a:t>Randomly rotate the </a:t>
            </a:r>
            <a:r>
              <a:rPr lang="en-US" altLang="zh-TW" dirty="0" err="1" smtClean="0"/>
              <a:t>keypoints</a:t>
            </a:r>
            <a:r>
              <a:rPr lang="en-US" altLang="zh-TW" dirty="0" smtClean="0"/>
              <a:t> and re-compute the LIS.</a:t>
            </a:r>
          </a:p>
          <a:p>
            <a:r>
              <a:rPr lang="en-US" dirty="0" smtClean="0"/>
              <a:t>Affine </a:t>
            </a:r>
            <a:r>
              <a:rPr lang="en-US" dirty="0" smtClean="0"/>
              <a:t>transformation</a:t>
            </a:r>
          </a:p>
          <a:p>
            <a:pPr lvl="1"/>
            <a:r>
              <a:rPr lang="en-US" altLang="zh-TW" dirty="0" smtClean="0"/>
              <a:t>Preserve the </a:t>
            </a:r>
            <a:r>
              <a:rPr lang="en-US" altLang="zh-TW" dirty="0" smtClean="0"/>
              <a:t>relative </a:t>
            </a:r>
            <a:r>
              <a:rPr lang="en-US" altLang="zh-TW" dirty="0" smtClean="0"/>
              <a:t>order by rotation.</a:t>
            </a:r>
            <a:endParaRPr lang="zh-TW" altLang="en-US" dirty="0" smtClean="0"/>
          </a:p>
          <a:p>
            <a:pPr lvl="1"/>
            <a:endParaRPr lang="zh-TW" altLang="en-US" dirty="0"/>
          </a:p>
        </p:txBody>
      </p:sp>
      <p:pic>
        <p:nvPicPr>
          <p:cNvPr id="6" name="Picture 2"/>
          <p:cNvPicPr>
            <a:picLocks noChangeAspect="1" noChangeArrowheads="1"/>
          </p:cNvPicPr>
          <p:nvPr/>
        </p:nvPicPr>
        <p:blipFill>
          <a:blip r:embed="rId2"/>
          <a:srcRect/>
          <a:stretch>
            <a:fillRect/>
          </a:stretch>
        </p:blipFill>
        <p:spPr bwMode="auto">
          <a:xfrm>
            <a:off x="1000100" y="4214818"/>
            <a:ext cx="3840560" cy="1643074"/>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Similarity Measure</a:t>
            </a:r>
            <a:endParaRPr lang="zh-TW" altLang="en-US" dirty="0"/>
          </a:p>
        </p:txBody>
      </p:sp>
      <p:sp>
        <p:nvSpPr>
          <p:cNvPr id="3" name="內容版面配置區 2"/>
          <p:cNvSpPr>
            <a:spLocks noGrp="1"/>
          </p:cNvSpPr>
          <p:nvPr>
            <p:ph idx="1"/>
          </p:nvPr>
        </p:nvSpPr>
        <p:spPr/>
        <p:txBody>
          <a:bodyPr/>
          <a:lstStyle/>
          <a:p>
            <a:r>
              <a:rPr lang="en-US" altLang="zh-TW" dirty="0" smtClean="0"/>
              <a:t>only keep true </a:t>
            </a:r>
            <a:r>
              <a:rPr lang="en-US" altLang="zh-TW" dirty="0" err="1" smtClean="0"/>
              <a:t>keypoint</a:t>
            </a:r>
            <a:r>
              <a:rPr lang="en-US" altLang="zh-TW" dirty="0" smtClean="0"/>
              <a:t> matches</a:t>
            </a:r>
          </a:p>
          <a:p>
            <a:r>
              <a:rPr lang="en-US" altLang="zh-TW" dirty="0" err="1" smtClean="0"/>
              <a:t>f</a:t>
            </a:r>
            <a:r>
              <a:rPr lang="en-US" altLang="zh-TW" baseline="-25000" dirty="0" err="1" smtClean="0"/>
              <a:t>i</a:t>
            </a:r>
            <a:r>
              <a:rPr lang="en-US" altLang="zh-TW" dirty="0" smtClean="0"/>
              <a:t> </a:t>
            </a:r>
            <a:r>
              <a:rPr lang="en-US" altLang="zh-TW" dirty="0" smtClean="0"/>
              <a:t>= 1, consistent feature</a:t>
            </a:r>
          </a:p>
          <a:p>
            <a:r>
              <a:rPr lang="en-US" altLang="zh-TW" dirty="0" err="1" smtClean="0"/>
              <a:t>f</a:t>
            </a:r>
            <a:r>
              <a:rPr lang="en-US" altLang="zh-TW" baseline="-25000" dirty="0" err="1" smtClean="0"/>
              <a:t>i</a:t>
            </a:r>
            <a:r>
              <a:rPr lang="en-US" altLang="zh-TW" dirty="0" smtClean="0"/>
              <a:t> </a:t>
            </a:r>
            <a:r>
              <a:rPr lang="en-US" altLang="zh-TW" dirty="0" smtClean="0"/>
              <a:t>= 0, otherwise</a:t>
            </a:r>
            <a:endParaRPr lang="zh-TW" altLang="en-US" dirty="0"/>
          </a:p>
        </p:txBody>
      </p:sp>
      <p:pic>
        <p:nvPicPr>
          <p:cNvPr id="3076" name="Picture 4"/>
          <p:cNvPicPr>
            <a:picLocks noChangeAspect="1" noChangeArrowheads="1"/>
          </p:cNvPicPr>
          <p:nvPr/>
        </p:nvPicPr>
        <p:blipFill>
          <a:blip r:embed="rId2"/>
          <a:srcRect/>
          <a:stretch>
            <a:fillRect/>
          </a:stretch>
        </p:blipFill>
        <p:spPr bwMode="auto">
          <a:xfrm>
            <a:off x="1857356" y="3643314"/>
            <a:ext cx="1957787" cy="857256"/>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5122" name="Picture 2"/>
          <p:cNvPicPr>
            <a:picLocks noChangeAspect="1" noChangeArrowheads="1"/>
          </p:cNvPicPr>
          <p:nvPr/>
        </p:nvPicPr>
        <p:blipFill>
          <a:blip r:embed="rId2"/>
          <a:srcRect/>
          <a:stretch>
            <a:fillRect/>
          </a:stretch>
        </p:blipFill>
        <p:spPr bwMode="auto">
          <a:xfrm>
            <a:off x="1479299" y="1285860"/>
            <a:ext cx="6235973" cy="454820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6146" name="Picture 2"/>
          <p:cNvPicPr>
            <a:picLocks noChangeAspect="1" noChangeArrowheads="1"/>
          </p:cNvPicPr>
          <p:nvPr/>
        </p:nvPicPr>
        <p:blipFill>
          <a:blip r:embed="rId2"/>
          <a:srcRect/>
          <a:stretch>
            <a:fillRect/>
          </a:stretch>
        </p:blipFill>
        <p:spPr bwMode="auto">
          <a:xfrm>
            <a:off x="1357290" y="847547"/>
            <a:ext cx="6438925" cy="3510147"/>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1428728" y="4429132"/>
            <a:ext cx="6286544" cy="21067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2">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12052</TotalTime>
  <Words>267</Words>
  <Application>LibreOffice/6.4.6.2$Windows_X86_64 LibreOffice_project/0ce51a4fd21bff07a5c061082cc82c5ed232f115</Application>
  <PresentationFormat>如螢幕大小 (4:3)</PresentationFormat>
  <Paragraphs>43</Paragraphs>
  <Slides>11</Slides>
  <Notes>0</Notes>
  <HiddenSlides>0</HiddenSlides>
  <MMClips>0</MMClips>
  <ScaleCrop>false</ScaleCrop>
  <HeadingPairs>
    <vt:vector size="4" baseType="variant">
      <vt:variant>
        <vt:lpstr>佈景主題</vt:lpstr>
      </vt:variant>
      <vt:variant>
        <vt:i4>7</vt:i4>
      </vt:variant>
      <vt:variant>
        <vt:lpstr>投影片標題</vt:lpstr>
      </vt:variant>
      <vt:variant>
        <vt:i4>11</vt:i4>
      </vt:variant>
    </vt:vector>
  </HeadingPairs>
  <TitlesOfParts>
    <vt:vector size="18" baseType="lpstr">
      <vt:lpstr>Office Theme</vt:lpstr>
      <vt:lpstr>Office Theme</vt:lpstr>
      <vt:lpstr>2_Office Theme</vt:lpstr>
      <vt:lpstr>1_自訂設計</vt:lpstr>
      <vt:lpstr>3_Office Theme</vt:lpstr>
      <vt:lpstr>自訂設計</vt:lpstr>
      <vt:lpstr>4_Office Theme</vt:lpstr>
      <vt:lpstr>投影片 1</vt:lpstr>
      <vt:lpstr>投影片 2</vt:lpstr>
      <vt:lpstr>Feature Detection</vt:lpstr>
      <vt:lpstr>Matching</vt:lpstr>
      <vt:lpstr>RANSAC</vt:lpstr>
      <vt:lpstr>Homography and error value</vt:lpstr>
      <vt:lpstr>LIS</vt:lpstr>
      <vt:lpstr>投影片 8</vt:lpstr>
      <vt:lpstr>Similarity Measure</vt:lpstr>
      <vt:lpstr>投影片 10</vt:lpstr>
      <vt:lpstr>投影片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super</cp:lastModifiedBy>
  <cp:revision>2360</cp:revision>
  <dcterms:created xsi:type="dcterms:W3CDTF">2020-09-11T11:13:53Z</dcterms:created>
  <dcterms:modified xsi:type="dcterms:W3CDTF">2021-10-20T09:00:38Z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