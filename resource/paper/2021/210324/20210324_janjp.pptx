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58" r:id="rId3"/>
    <p:sldId id="260" r:id="rId4"/>
    <p:sldId id="403" r:id="rId5"/>
    <p:sldId id="399" r:id="rId6"/>
    <p:sldId id="404" r:id="rId7"/>
    <p:sldId id="405" r:id="rId8"/>
    <p:sldId id="406" r:id="rId9"/>
    <p:sldId id="407" r:id="rId10"/>
    <p:sldId id="409" r:id="rId11"/>
    <p:sldId id="408" r:id="rId12"/>
    <p:sldId id="410" r:id="rId13"/>
    <p:sldId id="411" r:id="rId14"/>
    <p:sldId id="412" r:id="rId15"/>
    <p:sldId id="413" r:id="rId16"/>
    <p:sldId id="414" r:id="rId17"/>
    <p:sldId id="415" r:id="rId1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300" autoAdjust="0"/>
  </p:normalViewPr>
  <p:slideViewPr>
    <p:cSldViewPr>
      <p:cViewPr varScale="1">
        <p:scale>
          <a:sx n="83" d="100"/>
          <a:sy n="83" d="100"/>
        </p:scale>
        <p:origin x="2424" y="90"/>
      </p:cViewPr>
      <p:guideLst>
        <p:guide orient="horz" pos="2160"/>
        <p:guide pos="2880"/>
      </p:guideLst>
    </p:cSldViewPr>
  </p:slideViewPr>
  <p:notesTextViewPr>
    <p:cViewPr>
      <p:scale>
        <a:sx n="115" d="100"/>
        <a:sy n="11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2021/3/24</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3</a:t>
            </a:fld>
            <a:endParaRPr lang="zh-TW" altLang="en-US"/>
          </a:p>
        </p:txBody>
      </p:sp>
    </p:spTree>
    <p:extLst>
      <p:ext uri="{BB962C8B-B14F-4D97-AF65-F5344CB8AC3E}">
        <p14:creationId xmlns:p14="http://schemas.microsoft.com/office/powerpoint/2010/main" val="2991817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5</a:t>
            </a:fld>
            <a:endParaRPr lang="zh-TW" altLang="en-US"/>
          </a:p>
        </p:txBody>
      </p:sp>
    </p:spTree>
    <p:extLst>
      <p:ext uri="{BB962C8B-B14F-4D97-AF65-F5344CB8AC3E}">
        <p14:creationId xmlns:p14="http://schemas.microsoft.com/office/powerpoint/2010/main" val="2964750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6</a:t>
            </a:fld>
            <a:endParaRPr lang="zh-TW" altLang="en-US"/>
          </a:p>
        </p:txBody>
      </p:sp>
    </p:spTree>
    <p:extLst>
      <p:ext uri="{BB962C8B-B14F-4D97-AF65-F5344CB8AC3E}">
        <p14:creationId xmlns:p14="http://schemas.microsoft.com/office/powerpoint/2010/main" val="2277383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7</a:t>
            </a:fld>
            <a:endParaRPr lang="zh-TW" altLang="en-US"/>
          </a:p>
        </p:txBody>
      </p:sp>
    </p:spTree>
    <p:extLst>
      <p:ext uri="{BB962C8B-B14F-4D97-AF65-F5344CB8AC3E}">
        <p14:creationId xmlns:p14="http://schemas.microsoft.com/office/powerpoint/2010/main" val="30682446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8</a:t>
            </a:fld>
            <a:endParaRPr lang="zh-TW" altLang="en-US"/>
          </a:p>
        </p:txBody>
      </p:sp>
    </p:spTree>
    <p:extLst>
      <p:ext uri="{BB962C8B-B14F-4D97-AF65-F5344CB8AC3E}">
        <p14:creationId xmlns:p14="http://schemas.microsoft.com/office/powerpoint/2010/main" val="1110176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9</a:t>
            </a:fld>
            <a:endParaRPr lang="zh-TW" altLang="en-US"/>
          </a:p>
        </p:txBody>
      </p:sp>
    </p:spTree>
    <p:extLst>
      <p:ext uri="{BB962C8B-B14F-4D97-AF65-F5344CB8AC3E}">
        <p14:creationId xmlns:p14="http://schemas.microsoft.com/office/powerpoint/2010/main" val="3258281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11</a:t>
            </a:fld>
            <a:endParaRPr lang="zh-TW" altLang="en-US"/>
          </a:p>
        </p:txBody>
      </p:sp>
    </p:spTree>
    <p:extLst>
      <p:ext uri="{BB962C8B-B14F-4D97-AF65-F5344CB8AC3E}">
        <p14:creationId xmlns:p14="http://schemas.microsoft.com/office/powerpoint/2010/main" val="33308099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2021/3/24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2021/3/24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2021/3/24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2021/3/24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2021/3/24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2021/3/24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2021/3/24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2021/3/24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2021/3/24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2021/3/24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2021/3/24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2021/3/24</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br>
              <a:rPr lang="en-US" altLang="zh-TW" sz="3200" dirty="0">
                <a:latin typeface="Times New Roman" pitchFamily="18" charset="0"/>
                <a:cs typeface="Times New Roman" pitchFamily="18" charset="0"/>
              </a:rPr>
            </a:br>
            <a:r>
              <a:rPr lang="en-US" altLang="zh-TW" sz="3200" dirty="0">
                <a:latin typeface="Times New Roman"/>
                <a:ea typeface="新細明體"/>
                <a:cs typeface="Times New Roman"/>
              </a:rPr>
              <a:t>Bridge Bidding with Imperfect Information</a:t>
            </a:r>
            <a:endParaRPr lang="en-US" altLang="zh-TW" sz="3200" dirty="0">
              <a:latin typeface="Times New Roman" pitchFamily="18" charset="0"/>
              <a:ea typeface="新細明體"/>
              <a:cs typeface="Times New Roman" pitchFamily="18" charset="0"/>
            </a:endParaRP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3003984"/>
            <a:ext cx="6858000" cy="425017"/>
          </a:xfrm>
        </p:spPr>
        <p:txBody>
          <a:bodyPr vert="horz" lIns="91440" tIns="45720" rIns="91440" bIns="45720" rtlCol="0" anchor="t">
            <a:noAutofit/>
          </a:bodyPr>
          <a:lstStyle/>
          <a:p>
            <a:pPr fontAlgn="ctr"/>
            <a:r>
              <a:rPr lang="en-US" altLang="zh-TW" sz="2000" dirty="0">
                <a:solidFill>
                  <a:schemeClr val="tx1"/>
                </a:solidFill>
                <a:latin typeface="Times New Roman"/>
                <a:ea typeface="新細明體"/>
                <a:cs typeface="Times New Roman"/>
              </a:rPr>
              <a:t>Lori L. Delooze , James Downey</a:t>
            </a:r>
          </a:p>
        </p:txBody>
      </p:sp>
      <p:sp>
        <p:nvSpPr>
          <p:cNvPr id="8" name="文字方塊 7">
            <a:extLst>
              <a:ext uri="{FF2B5EF4-FFF2-40B4-BE49-F238E27FC236}">
                <a16:creationId xmlns:a16="http://schemas.microsoft.com/office/drawing/2014/main" id="{8F2527E8-BB8F-41FB-8AF1-03DCC96BC069}"/>
              </a:ext>
            </a:extLst>
          </p:cNvPr>
          <p:cNvSpPr txBox="1"/>
          <p:nvPr/>
        </p:nvSpPr>
        <p:spPr>
          <a:xfrm>
            <a:off x="682418" y="4058021"/>
            <a:ext cx="7826181" cy="769441"/>
          </a:xfrm>
          <a:prstGeom prst="rect">
            <a:avLst/>
          </a:prstGeom>
          <a:noFill/>
        </p:spPr>
        <p:txBody>
          <a:bodyPr wrap="none" lIns="91440" tIns="45720" rIns="91440" bIns="45720" rtlCol="0" anchor="t">
            <a:spAutoFit/>
          </a:bodyPr>
          <a:lstStyle/>
          <a:p>
            <a:pPr algn="ctr"/>
            <a:r>
              <a:rPr lang="en-US" sz="2200" dirty="0">
                <a:latin typeface="Times New Roman"/>
                <a:ea typeface="+mn-lt"/>
                <a:cs typeface="+mn-lt"/>
              </a:rPr>
              <a:t>2007 IEEE Symposium on Computational Intelligence and Games, </a:t>
            </a:r>
            <a:endParaRPr lang="en-US" altLang="zh-TW" sz="2200" dirty="0">
              <a:latin typeface="Times New Roman"/>
              <a:ea typeface="新細明體"/>
              <a:cs typeface="Times New Roman"/>
            </a:endParaRPr>
          </a:p>
          <a:p>
            <a:pPr algn="ctr"/>
            <a:r>
              <a:rPr lang="en-US" sz="2200" dirty="0">
                <a:latin typeface="Times New Roman"/>
                <a:ea typeface="+mn-lt"/>
                <a:cs typeface="+mn-lt"/>
              </a:rPr>
              <a:t>Honolulu, HI, USA P368~P373</a:t>
            </a:r>
            <a:endParaRPr lang="en-US" altLang="zh-TW" sz="2200" dirty="0">
              <a:latin typeface="Times New Roman"/>
              <a:ea typeface="新細明體"/>
              <a:cs typeface="Times New Roman"/>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652120" y="5377328"/>
            <a:ext cx="315823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Jing-Ping Jan</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05264"/>
            <a:ext cx="2884123" cy="461665"/>
          </a:xfrm>
          <a:prstGeom prst="rect">
            <a:avLst/>
          </a:prstGeom>
          <a:noFill/>
        </p:spPr>
        <p:txBody>
          <a:bodyPr wrap="none" lIns="91440" tIns="45720" rIns="91440" bIns="45720" rtlCol="0" anchor="t">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latin typeface="Times New Roman"/>
                <a:ea typeface="新細明體"/>
                <a:cs typeface="Times New Roman"/>
              </a:rPr>
              <a:t>Date: March 24, 2021</a:t>
            </a:r>
            <a:endParaRPr lang="zh-TW" altLang="en-US" dirty="0">
              <a:latin typeface="Times New Roman"/>
              <a:ea typeface="新細明體"/>
              <a:cs typeface="Times New Roman"/>
            </a:endParaRPr>
          </a:p>
        </p:txBody>
      </p:sp>
    </p:spTree>
    <p:extLst>
      <p:ext uri="{BB962C8B-B14F-4D97-AF65-F5344CB8AC3E}">
        <p14:creationId xmlns:p14="http://schemas.microsoft.com/office/powerpoint/2010/main" val="35570499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sz="2800" dirty="0">
                <a:latin typeface="Times New Roman"/>
                <a:ea typeface="+mn-lt"/>
                <a:cs typeface="+mn-lt"/>
              </a:rPr>
              <a:t>Multiplayer games with imperfect information, such as Bridge, are especially challenging for game theory researchers. Although several algorithmic techniques have been successfully applied to the card play phase of the game, bidding requires a much different approach. We have shown that a special form of a neural network, called a self-organizing map (SOM), can be used to effectively bid no trump hands. The characteristic boundary that forms between resulting neighboring nodes in a SOM is an ideal mechanism for modeling the imprecise and ambiguous nature of the game.</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nchor="ctr">
            <a:normAutofit/>
          </a:bodyPr>
          <a:lstStyle/>
          <a:p>
            <a:pPr algn="l"/>
            <a:r>
              <a:rPr lang="en-US" dirty="0">
                <a:latin typeface="Times New Roman"/>
                <a:cs typeface="Times New Roman"/>
              </a:rPr>
              <a:t>Introduction</a:t>
            </a:r>
            <a:endParaRPr lang="zh-TW" altLang="en-US">
              <a:latin typeface="Times New Roman"/>
              <a:cs typeface="Times New Roman"/>
            </a:endParaRPr>
          </a:p>
        </p:txBody>
      </p:sp>
      <p:sp>
        <p:nvSpPr>
          <p:cNvPr id="3" name="內容版面配置區 2"/>
          <p:cNvSpPr>
            <a:spLocks noGrp="1"/>
          </p:cNvSpPr>
          <p:nvPr>
            <p:ph sz="half" idx="1"/>
          </p:nvPr>
        </p:nvSpPr>
        <p:spPr>
          <a:xfrm>
            <a:off x="457200" y="1600200"/>
            <a:ext cx="4038600" cy="4525963"/>
          </a:xfrm>
        </p:spPr>
        <p:txBody>
          <a:bodyPr vert="horz" lIns="91440" tIns="45720" rIns="91440" bIns="45720" rtlCol="0" anchor="t">
            <a:normAutofit/>
          </a:bodyPr>
          <a:lstStyle/>
          <a:p>
            <a:r>
              <a:rPr lang="en-US" altLang="zh-TW" dirty="0">
                <a:latin typeface="Times New Roman"/>
                <a:ea typeface="新細明體"/>
                <a:cs typeface="Times New Roman"/>
              </a:rPr>
              <a:t>Bidding stage</a:t>
            </a:r>
            <a:br>
              <a:rPr lang="en-US" altLang="zh-TW" dirty="0">
                <a:latin typeface="Times New Roman"/>
              </a:rPr>
            </a:br>
            <a:r>
              <a:rPr lang="en-US" altLang="zh-TW" dirty="0">
                <a:latin typeface="Times New Roman"/>
                <a:ea typeface="新細明體"/>
                <a:cs typeface="Times New Roman"/>
              </a:rPr>
              <a:t>Find the most profitable contract for the playing stage</a:t>
            </a:r>
          </a:p>
          <a:p>
            <a:r>
              <a:rPr lang="en-US" altLang="zh-TW" dirty="0">
                <a:latin typeface="Times New Roman"/>
                <a:ea typeface="新細明體"/>
                <a:cs typeface="Times New Roman"/>
              </a:rPr>
              <a:t>Playing stage</a:t>
            </a:r>
            <a:br>
              <a:rPr lang="en-US" altLang="zh-TW" dirty="0">
                <a:latin typeface="Times New Roman"/>
              </a:rPr>
            </a:br>
            <a:r>
              <a:rPr lang="en-US" altLang="zh-TW" dirty="0">
                <a:latin typeface="Times New Roman"/>
                <a:ea typeface="新細明體"/>
                <a:cs typeface="Times New Roman"/>
              </a:rPr>
              <a:t>13 rounds of a card-strength competition</a:t>
            </a:r>
          </a:p>
        </p:txBody>
      </p:sp>
      <p:pic>
        <p:nvPicPr>
          <p:cNvPr id="4" name="Picture 4">
            <a:extLst>
              <a:ext uri="{FF2B5EF4-FFF2-40B4-BE49-F238E27FC236}">
                <a16:creationId xmlns:a16="http://schemas.microsoft.com/office/drawing/2014/main" id="{10CA24D7-37B0-4AD3-AD31-66F21D408E09}"/>
              </a:ext>
            </a:extLst>
          </p:cNvPr>
          <p:cNvPicPr>
            <a:picLocks noChangeAspect="1"/>
          </p:cNvPicPr>
          <p:nvPr/>
        </p:nvPicPr>
        <p:blipFill>
          <a:blip r:embed="rId3"/>
          <a:stretch>
            <a:fillRect/>
          </a:stretch>
        </p:blipFill>
        <p:spPr>
          <a:xfrm>
            <a:off x="4612895" y="1571995"/>
            <a:ext cx="4947704" cy="3708571"/>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Bidding stage</a:t>
            </a:r>
          </a:p>
        </p:txBody>
      </p:sp>
      <p:sp>
        <p:nvSpPr>
          <p:cNvPr id="3" name="Content Placeholder 2">
            <a:extLst>
              <a:ext uri="{FF2B5EF4-FFF2-40B4-BE49-F238E27FC236}">
                <a16:creationId xmlns:a16="http://schemas.microsoft.com/office/drawing/2014/main" id="{89D7D1A2-A981-4863-A7DD-8BD8969C78A9}"/>
              </a:ext>
            </a:extLst>
          </p:cNvPr>
          <p:cNvSpPr>
            <a:spLocks noGrp="1"/>
          </p:cNvSpPr>
          <p:nvPr>
            <p:ph sz="half" idx="1"/>
          </p:nvPr>
        </p:nvSpPr>
        <p:spPr>
          <a:xfrm>
            <a:off x="457200" y="1600200"/>
            <a:ext cx="8231071" cy="4525963"/>
          </a:xfrm>
        </p:spPr>
        <p:txBody>
          <a:bodyPr vert="horz" lIns="91440" tIns="45720" rIns="91440" bIns="45720" rtlCol="0" anchor="t">
            <a:normAutofit fontScale="92500" lnSpcReduction="20000"/>
          </a:bodyPr>
          <a:lstStyle/>
          <a:p>
            <a:r>
              <a:rPr lang="en-US" altLang="zh-TW" dirty="0">
                <a:latin typeface="Times New Roman" panose="02020603050405020304" pitchFamily="18" charset="0"/>
                <a:cs typeface="Times New Roman" panose="02020603050405020304" pitchFamily="18" charset="0"/>
              </a:rPr>
              <a:t>Asserting</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By making this bid, I assert that my hand has these properties</a:t>
            </a:r>
          </a:p>
          <a:p>
            <a:r>
              <a:rPr lang="en-US" dirty="0">
                <a:latin typeface="Times New Roman" panose="02020603050405020304" pitchFamily="18" charset="0"/>
                <a:cs typeface="Times New Roman" panose="02020603050405020304" pitchFamily="18" charset="0"/>
              </a:rPr>
              <a:t>Denying</a:t>
            </a:r>
            <a:br>
              <a:rPr lang="en-US"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By making this bid, I deny that my hand has these properties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Asking and Answering Questions</a:t>
            </a:r>
            <a:br>
              <a:rPr lang="en-US"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If your hand is of type 1, make bid 1; if it is of type 2, make bid 2, etc.</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Interrupting</a:t>
            </a:r>
            <a:br>
              <a:rPr lang="en-US"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The primary purpose of this bid is to stop the opponents communicating</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11585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Self-Organizing Maps (SOM)</a:t>
            </a:r>
            <a:endParaRPr lang="zh-TW" altLang="en-US" dirty="0">
              <a:latin typeface="Times New Roman" pitchFamily="18" charset="0"/>
              <a:cs typeface="Times New Roman" pitchFamily="18" charset="0"/>
            </a:endParaRPr>
          </a:p>
        </p:txBody>
      </p:sp>
      <p:pic>
        <p:nvPicPr>
          <p:cNvPr id="10" name="內容版面配置區 9">
            <a:extLst>
              <a:ext uri="{FF2B5EF4-FFF2-40B4-BE49-F238E27FC236}">
                <a16:creationId xmlns:a16="http://schemas.microsoft.com/office/drawing/2014/main" id="{4A448373-C2B9-4246-A69E-5C345558E071}"/>
              </a:ext>
            </a:extLst>
          </p:cNvPr>
          <p:cNvPicPr>
            <a:picLocks noGrp="1" noChangeAspect="1"/>
          </p:cNvPicPr>
          <p:nvPr>
            <p:ph idx="1"/>
          </p:nvPr>
        </p:nvPicPr>
        <p:blipFill>
          <a:blip r:embed="rId3"/>
          <a:stretch>
            <a:fillRect/>
          </a:stretch>
        </p:blipFill>
        <p:spPr>
          <a:xfrm>
            <a:off x="5168900" y="2226469"/>
            <a:ext cx="3495675" cy="3238500"/>
          </a:xfrm>
        </p:spPr>
      </p:pic>
      <p:sp>
        <p:nvSpPr>
          <p:cNvPr id="6" name="內容版面配置區 2">
            <a:extLst>
              <a:ext uri="{FF2B5EF4-FFF2-40B4-BE49-F238E27FC236}">
                <a16:creationId xmlns:a16="http://schemas.microsoft.com/office/drawing/2014/main" id="{D7455BE4-6D8D-4DD0-9DB0-0D21E91A9209}"/>
              </a:ext>
            </a:extLst>
          </p:cNvPr>
          <p:cNvSpPr txBox="1">
            <a:spLocks/>
          </p:cNvSpPr>
          <p:nvPr/>
        </p:nvSpPr>
        <p:spPr>
          <a:xfrm>
            <a:off x="457200" y="1582835"/>
            <a:ext cx="4114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TW" dirty="0">
              <a:latin typeface="Times New Roman" panose="02020603050405020304" pitchFamily="18" charset="0"/>
              <a:cs typeface="Times New Roman" panose="02020603050405020304" pitchFamily="18" charset="0"/>
            </a:endParaRPr>
          </a:p>
        </p:txBody>
      </p:sp>
      <p:sp>
        <p:nvSpPr>
          <p:cNvPr id="7" name="內容版面配置區 2">
            <a:extLst>
              <a:ext uri="{FF2B5EF4-FFF2-40B4-BE49-F238E27FC236}">
                <a16:creationId xmlns:a16="http://schemas.microsoft.com/office/drawing/2014/main" id="{5044C38D-73E8-4039-B2CD-D66F4EDC0693}"/>
              </a:ext>
            </a:extLst>
          </p:cNvPr>
          <p:cNvSpPr txBox="1">
            <a:spLocks/>
          </p:cNvSpPr>
          <p:nvPr/>
        </p:nvSpPr>
        <p:spPr>
          <a:xfrm>
            <a:off x="323528" y="1582834"/>
            <a:ext cx="4114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TW" dirty="0">
              <a:latin typeface="Times New Roman" panose="02020603050405020304" pitchFamily="18" charset="0"/>
              <a:cs typeface="Times New Roman" panose="02020603050405020304" pitchFamily="18" charset="0"/>
            </a:endParaRPr>
          </a:p>
        </p:txBody>
      </p:sp>
      <p:sp>
        <p:nvSpPr>
          <p:cNvPr id="8" name="內容版面配置區 2">
            <a:extLst>
              <a:ext uri="{FF2B5EF4-FFF2-40B4-BE49-F238E27FC236}">
                <a16:creationId xmlns:a16="http://schemas.microsoft.com/office/drawing/2014/main" id="{31F51D42-C0AC-4DA0-965B-660EEC3987D2}"/>
              </a:ext>
            </a:extLst>
          </p:cNvPr>
          <p:cNvSpPr txBox="1">
            <a:spLocks/>
          </p:cNvSpPr>
          <p:nvPr/>
        </p:nvSpPr>
        <p:spPr>
          <a:xfrm>
            <a:off x="390364" y="1582833"/>
            <a:ext cx="4114800" cy="527516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altLang="zh-TW" sz="1400" dirty="0">
                <a:solidFill>
                  <a:srgbClr val="FF0000"/>
                </a:solidFill>
                <a:latin typeface="Times New Roman" panose="02020603050405020304" pitchFamily="18" charset="0"/>
                <a:cs typeface="Times New Roman" panose="02020603050405020304" pitchFamily="18" charset="0"/>
              </a:rPr>
              <a:t>Initialize each node's weights.</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latin typeface="Times New Roman" panose="02020603050405020304" pitchFamily="18" charset="0"/>
                <a:cs typeface="Times New Roman" panose="02020603050405020304" pitchFamily="18" charset="0"/>
              </a:rPr>
              <a:t>Choose a vector at random from the set of training data and present it to the lattice.</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latin typeface="Times New Roman" panose="02020603050405020304" pitchFamily="18" charset="0"/>
                <a:cs typeface="Times New Roman" panose="02020603050405020304" pitchFamily="18" charset="0"/>
              </a:rPr>
              <a:t>Examine every node and determine which one‘s weights are most like the input vector. The winning node is commonly known as the</a:t>
            </a:r>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Best Matching Unit (BMU).</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latin typeface="Times New Roman" panose="02020603050405020304" pitchFamily="18" charset="0"/>
                <a:cs typeface="Times New Roman" panose="02020603050405020304" pitchFamily="18" charset="0"/>
              </a:rPr>
              <a:t>Calculate the radius of the neighborhood of the BMU. This is a value that starts large, typically set to the ‘radius’ of the lattice, but diminishes each</a:t>
            </a:r>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time-step. Any nodes found within this radius are deemed to be inside the BMU's neighborhood.</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latin typeface="Times New Roman" panose="02020603050405020304" pitchFamily="18" charset="0"/>
                <a:cs typeface="Times New Roman" panose="02020603050405020304" pitchFamily="18" charset="0"/>
              </a:rPr>
              <a:t>Adjust the weights of each neighboring node to make them more like the input vector. The closer a node is to the BMU, the more its</a:t>
            </a:r>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weights get altered.</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latin typeface="Times New Roman" panose="02020603050405020304" pitchFamily="18" charset="0"/>
                <a:cs typeface="Times New Roman" panose="02020603050405020304" pitchFamily="18" charset="0"/>
              </a:rPr>
              <a:t>Repeat step 2 for N iterations.</a:t>
            </a:r>
          </a:p>
        </p:txBody>
      </p:sp>
    </p:spTree>
    <p:extLst>
      <p:ext uri="{BB962C8B-B14F-4D97-AF65-F5344CB8AC3E}">
        <p14:creationId xmlns:p14="http://schemas.microsoft.com/office/powerpoint/2010/main" val="159126914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Self-Organizing Maps (SOM)</a:t>
            </a:r>
            <a:endParaRPr lang="zh-TW" altLang="en-US" dirty="0">
              <a:latin typeface="Times New Roman" pitchFamily="18" charset="0"/>
              <a:cs typeface="Times New Roman" pitchFamily="18" charset="0"/>
            </a:endParaRPr>
          </a:p>
        </p:txBody>
      </p:sp>
      <p:sp>
        <p:nvSpPr>
          <p:cNvPr id="6" name="內容版面配置區 2">
            <a:extLst>
              <a:ext uri="{FF2B5EF4-FFF2-40B4-BE49-F238E27FC236}">
                <a16:creationId xmlns:a16="http://schemas.microsoft.com/office/drawing/2014/main" id="{D7455BE4-6D8D-4DD0-9DB0-0D21E91A9209}"/>
              </a:ext>
            </a:extLst>
          </p:cNvPr>
          <p:cNvSpPr txBox="1">
            <a:spLocks/>
          </p:cNvSpPr>
          <p:nvPr/>
        </p:nvSpPr>
        <p:spPr>
          <a:xfrm>
            <a:off x="457200" y="1582835"/>
            <a:ext cx="4114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TW" dirty="0">
              <a:latin typeface="Times New Roman" panose="02020603050405020304" pitchFamily="18" charset="0"/>
              <a:cs typeface="Times New Roman" panose="02020603050405020304" pitchFamily="18" charset="0"/>
            </a:endParaRPr>
          </a:p>
        </p:txBody>
      </p:sp>
      <p:sp>
        <p:nvSpPr>
          <p:cNvPr id="7" name="內容版面配置區 2">
            <a:extLst>
              <a:ext uri="{FF2B5EF4-FFF2-40B4-BE49-F238E27FC236}">
                <a16:creationId xmlns:a16="http://schemas.microsoft.com/office/drawing/2014/main" id="{5044C38D-73E8-4039-B2CD-D66F4EDC0693}"/>
              </a:ext>
            </a:extLst>
          </p:cNvPr>
          <p:cNvSpPr txBox="1">
            <a:spLocks/>
          </p:cNvSpPr>
          <p:nvPr/>
        </p:nvSpPr>
        <p:spPr>
          <a:xfrm>
            <a:off x="323528" y="1582834"/>
            <a:ext cx="4114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TW" dirty="0">
              <a:latin typeface="Times New Roman" panose="02020603050405020304" pitchFamily="18" charset="0"/>
              <a:cs typeface="Times New Roman" panose="02020603050405020304" pitchFamily="18" charset="0"/>
            </a:endParaRPr>
          </a:p>
        </p:txBody>
      </p:sp>
      <p:sp>
        <p:nvSpPr>
          <p:cNvPr id="8" name="內容版面配置區 2">
            <a:extLst>
              <a:ext uri="{FF2B5EF4-FFF2-40B4-BE49-F238E27FC236}">
                <a16:creationId xmlns:a16="http://schemas.microsoft.com/office/drawing/2014/main" id="{31F51D42-C0AC-4DA0-965B-660EEC3987D2}"/>
              </a:ext>
            </a:extLst>
          </p:cNvPr>
          <p:cNvSpPr txBox="1">
            <a:spLocks/>
          </p:cNvSpPr>
          <p:nvPr/>
        </p:nvSpPr>
        <p:spPr>
          <a:xfrm>
            <a:off x="390364" y="1582833"/>
            <a:ext cx="4114800" cy="527516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altLang="zh-TW" sz="1400" dirty="0">
                <a:latin typeface="Times New Roman" panose="02020603050405020304" pitchFamily="18" charset="0"/>
                <a:cs typeface="Times New Roman" panose="02020603050405020304" pitchFamily="18" charset="0"/>
              </a:rPr>
              <a:t>Initialize each node's weights.</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solidFill>
                  <a:srgbClr val="FF0000"/>
                </a:solidFill>
                <a:latin typeface="Times New Roman" panose="02020603050405020304" pitchFamily="18" charset="0"/>
                <a:cs typeface="Times New Roman" panose="02020603050405020304" pitchFamily="18" charset="0"/>
              </a:rPr>
              <a:t>Choose a vector at random from the set of training data and present it to the lattice.</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latin typeface="Times New Roman" panose="02020603050405020304" pitchFamily="18" charset="0"/>
                <a:cs typeface="Times New Roman" panose="02020603050405020304" pitchFamily="18" charset="0"/>
              </a:rPr>
              <a:t>Examine every node and determine which one‘s weights are most like the input vector. The winning node is commonly known as the</a:t>
            </a:r>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Best Matching Unit (BMU).</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latin typeface="Times New Roman" panose="02020603050405020304" pitchFamily="18" charset="0"/>
                <a:cs typeface="Times New Roman" panose="02020603050405020304" pitchFamily="18" charset="0"/>
              </a:rPr>
              <a:t>Calculate the radius of the neighborhood of the BMU. This is a value that starts large, typically set to the ‘radius’ of the lattice, but diminishes each</a:t>
            </a:r>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time-step. Any nodes found within this radius are deemed to be inside the BMU's neighborhood.</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latin typeface="Times New Roman" panose="02020603050405020304" pitchFamily="18" charset="0"/>
                <a:cs typeface="Times New Roman" panose="02020603050405020304" pitchFamily="18" charset="0"/>
              </a:rPr>
              <a:t>Adjust the weights of each neighboring node to make them more like the input vector. The closer a node is to the BMU, the more its</a:t>
            </a:r>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weights get altered.</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latin typeface="Times New Roman" panose="02020603050405020304" pitchFamily="18" charset="0"/>
                <a:cs typeface="Times New Roman" panose="02020603050405020304" pitchFamily="18" charset="0"/>
              </a:rPr>
              <a:t>Repeat step 2 for N iterations.</a:t>
            </a:r>
          </a:p>
        </p:txBody>
      </p:sp>
      <p:pic>
        <p:nvPicPr>
          <p:cNvPr id="12" name="內容版面配置區 9">
            <a:extLst>
              <a:ext uri="{FF2B5EF4-FFF2-40B4-BE49-F238E27FC236}">
                <a16:creationId xmlns:a16="http://schemas.microsoft.com/office/drawing/2014/main" id="{46CCA05E-18AE-4DFB-A938-11668A85CF9D}"/>
              </a:ext>
            </a:extLst>
          </p:cNvPr>
          <p:cNvPicPr>
            <a:picLocks noChangeAspect="1"/>
          </p:cNvPicPr>
          <p:nvPr/>
        </p:nvPicPr>
        <p:blipFill>
          <a:blip r:embed="rId3"/>
          <a:stretch>
            <a:fillRect/>
          </a:stretch>
        </p:blipFill>
        <p:spPr>
          <a:xfrm>
            <a:off x="5168900" y="2226469"/>
            <a:ext cx="3495675" cy="3238500"/>
          </a:xfrm>
          <a:prstGeom prst="rect">
            <a:avLst/>
          </a:prstGeom>
        </p:spPr>
      </p:pic>
      <p:cxnSp>
        <p:nvCxnSpPr>
          <p:cNvPr id="20" name="直線單箭頭接點 19">
            <a:extLst>
              <a:ext uri="{FF2B5EF4-FFF2-40B4-BE49-F238E27FC236}">
                <a16:creationId xmlns:a16="http://schemas.microsoft.com/office/drawing/2014/main" id="{9BD7F695-69BD-4D43-A086-AA59E938B8BD}"/>
              </a:ext>
            </a:extLst>
          </p:cNvPr>
          <p:cNvCxnSpPr>
            <a:cxnSpLocks/>
          </p:cNvCxnSpPr>
          <p:nvPr/>
        </p:nvCxnSpPr>
        <p:spPr>
          <a:xfrm>
            <a:off x="5652120" y="2780928"/>
            <a:ext cx="648072" cy="288032"/>
          </a:xfrm>
          <a:prstGeom prst="straightConnector1">
            <a:avLst/>
          </a:prstGeom>
          <a:ln w="762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07307281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atin typeface="Times New Roman" pitchFamily="18" charset="0"/>
                <a:cs typeface="Times New Roman" pitchFamily="18" charset="0"/>
              </a:rPr>
              <a:t>Self-Organizing Maps (SOM)</a:t>
            </a:r>
            <a:endParaRPr lang="zh-TW" altLang="en-US" dirty="0">
              <a:latin typeface="Times New Roman" pitchFamily="18" charset="0"/>
              <a:cs typeface="Times New Roman" pitchFamily="18" charset="0"/>
            </a:endParaRPr>
          </a:p>
        </p:txBody>
      </p:sp>
      <p:sp>
        <p:nvSpPr>
          <p:cNvPr id="6" name="內容版面配置區 2">
            <a:extLst>
              <a:ext uri="{FF2B5EF4-FFF2-40B4-BE49-F238E27FC236}">
                <a16:creationId xmlns:a16="http://schemas.microsoft.com/office/drawing/2014/main" id="{D7455BE4-6D8D-4DD0-9DB0-0D21E91A9209}"/>
              </a:ext>
            </a:extLst>
          </p:cNvPr>
          <p:cNvSpPr txBox="1">
            <a:spLocks/>
          </p:cNvSpPr>
          <p:nvPr/>
        </p:nvSpPr>
        <p:spPr>
          <a:xfrm>
            <a:off x="457200" y="1582835"/>
            <a:ext cx="4114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TW" dirty="0">
              <a:latin typeface="Times New Roman" panose="02020603050405020304" pitchFamily="18" charset="0"/>
              <a:cs typeface="Times New Roman" panose="02020603050405020304" pitchFamily="18" charset="0"/>
            </a:endParaRPr>
          </a:p>
        </p:txBody>
      </p:sp>
      <p:sp>
        <p:nvSpPr>
          <p:cNvPr id="7" name="內容版面配置區 2">
            <a:extLst>
              <a:ext uri="{FF2B5EF4-FFF2-40B4-BE49-F238E27FC236}">
                <a16:creationId xmlns:a16="http://schemas.microsoft.com/office/drawing/2014/main" id="{5044C38D-73E8-4039-B2CD-D66F4EDC0693}"/>
              </a:ext>
            </a:extLst>
          </p:cNvPr>
          <p:cNvSpPr txBox="1">
            <a:spLocks/>
          </p:cNvSpPr>
          <p:nvPr/>
        </p:nvSpPr>
        <p:spPr>
          <a:xfrm>
            <a:off x="323528" y="1582834"/>
            <a:ext cx="4114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TW" dirty="0">
              <a:latin typeface="Times New Roman" panose="02020603050405020304" pitchFamily="18" charset="0"/>
              <a:cs typeface="Times New Roman" panose="02020603050405020304" pitchFamily="18" charset="0"/>
            </a:endParaRPr>
          </a:p>
        </p:txBody>
      </p:sp>
      <p:sp>
        <p:nvSpPr>
          <p:cNvPr id="8" name="內容版面配置區 2">
            <a:extLst>
              <a:ext uri="{FF2B5EF4-FFF2-40B4-BE49-F238E27FC236}">
                <a16:creationId xmlns:a16="http://schemas.microsoft.com/office/drawing/2014/main" id="{31F51D42-C0AC-4DA0-965B-660EEC3987D2}"/>
              </a:ext>
            </a:extLst>
          </p:cNvPr>
          <p:cNvSpPr txBox="1">
            <a:spLocks/>
          </p:cNvSpPr>
          <p:nvPr/>
        </p:nvSpPr>
        <p:spPr>
          <a:xfrm>
            <a:off x="390364" y="1582833"/>
            <a:ext cx="4114800" cy="527516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altLang="zh-TW" sz="1400">
                <a:latin typeface="Times New Roman" panose="02020603050405020304" pitchFamily="18" charset="0"/>
                <a:cs typeface="Times New Roman" panose="02020603050405020304" pitchFamily="18" charset="0"/>
              </a:rPr>
              <a:t>Initialize each node's weights.</a:t>
            </a:r>
          </a:p>
          <a:p>
            <a:pPr marL="0" indent="0" algn="just">
              <a:buNone/>
            </a:pPr>
            <a:endParaRPr lang="en-US" altLang="zh-TW" sz="1400">
              <a:latin typeface="Times New Roman" panose="02020603050405020304" pitchFamily="18" charset="0"/>
              <a:cs typeface="Times New Roman" panose="02020603050405020304" pitchFamily="18" charset="0"/>
            </a:endParaRPr>
          </a:p>
          <a:p>
            <a:pPr marL="0" indent="0" algn="just">
              <a:buNone/>
            </a:pPr>
            <a:r>
              <a:rPr lang="en-US" altLang="zh-TW" sz="1400">
                <a:latin typeface="Times New Roman" panose="02020603050405020304" pitchFamily="18" charset="0"/>
                <a:cs typeface="Times New Roman" panose="02020603050405020304" pitchFamily="18" charset="0"/>
              </a:rPr>
              <a:t>Choose a vector at random from the set of training data and present it to the lattice.</a:t>
            </a:r>
          </a:p>
          <a:p>
            <a:pPr marL="0" indent="0" algn="just">
              <a:buNone/>
            </a:pPr>
            <a:endParaRPr lang="en-US" altLang="zh-TW" sz="1400">
              <a:latin typeface="Times New Roman" panose="02020603050405020304" pitchFamily="18" charset="0"/>
              <a:cs typeface="Times New Roman" panose="02020603050405020304" pitchFamily="18" charset="0"/>
            </a:endParaRPr>
          </a:p>
          <a:p>
            <a:pPr marL="0" indent="0" algn="just">
              <a:buNone/>
            </a:pPr>
            <a:r>
              <a:rPr lang="en-US" altLang="zh-TW" sz="1400">
                <a:solidFill>
                  <a:srgbClr val="FF0000"/>
                </a:solidFill>
                <a:latin typeface="Times New Roman" panose="02020603050405020304" pitchFamily="18" charset="0"/>
                <a:cs typeface="Times New Roman" panose="02020603050405020304" pitchFamily="18" charset="0"/>
              </a:rPr>
              <a:t>Examine every node and determine which one‘s weights are most like the input vector. The winning node is commonly known as the</a:t>
            </a:r>
            <a:r>
              <a:rPr lang="zh-TW" altLang="en-US" sz="1400">
                <a:solidFill>
                  <a:srgbClr val="FF0000"/>
                </a:solidFill>
                <a:latin typeface="Times New Roman" panose="02020603050405020304" pitchFamily="18" charset="0"/>
                <a:cs typeface="Times New Roman" panose="02020603050405020304" pitchFamily="18" charset="0"/>
              </a:rPr>
              <a:t> </a:t>
            </a:r>
            <a:r>
              <a:rPr lang="en-US" altLang="zh-TW" sz="1400">
                <a:solidFill>
                  <a:srgbClr val="FF0000"/>
                </a:solidFill>
                <a:latin typeface="Times New Roman" panose="02020603050405020304" pitchFamily="18" charset="0"/>
                <a:cs typeface="Times New Roman" panose="02020603050405020304" pitchFamily="18" charset="0"/>
              </a:rPr>
              <a:t>Best Matching Unit (BMU).</a:t>
            </a:r>
          </a:p>
          <a:p>
            <a:pPr marL="0" indent="0" algn="just">
              <a:buNone/>
            </a:pPr>
            <a:endParaRPr lang="en-US" altLang="zh-TW" sz="1400">
              <a:latin typeface="Times New Roman" panose="02020603050405020304" pitchFamily="18" charset="0"/>
              <a:cs typeface="Times New Roman" panose="02020603050405020304" pitchFamily="18" charset="0"/>
            </a:endParaRPr>
          </a:p>
          <a:p>
            <a:pPr marL="0" indent="0" algn="just">
              <a:buNone/>
            </a:pPr>
            <a:r>
              <a:rPr lang="en-US" altLang="zh-TW" sz="1400">
                <a:latin typeface="Times New Roman" panose="02020603050405020304" pitchFamily="18" charset="0"/>
                <a:cs typeface="Times New Roman" panose="02020603050405020304" pitchFamily="18" charset="0"/>
              </a:rPr>
              <a:t>Calculate the radius of the neighborhood of the BMU. This is a value that starts large, typically set to the ‘radius’ of the lattice, but diminishes each</a:t>
            </a:r>
            <a:r>
              <a:rPr lang="zh-TW" altLang="en-US" sz="1400">
                <a:latin typeface="Times New Roman" panose="02020603050405020304" pitchFamily="18" charset="0"/>
                <a:cs typeface="Times New Roman" panose="02020603050405020304" pitchFamily="18" charset="0"/>
              </a:rPr>
              <a:t> </a:t>
            </a:r>
            <a:r>
              <a:rPr lang="en-US" altLang="zh-TW" sz="1400">
                <a:latin typeface="Times New Roman" panose="02020603050405020304" pitchFamily="18" charset="0"/>
                <a:cs typeface="Times New Roman" panose="02020603050405020304" pitchFamily="18" charset="0"/>
              </a:rPr>
              <a:t>time-step. Any nodes found within this radius are deemed to be inside the BMU's neighborhood.</a:t>
            </a:r>
          </a:p>
          <a:p>
            <a:pPr marL="0" indent="0" algn="just">
              <a:buNone/>
            </a:pPr>
            <a:endParaRPr lang="en-US" altLang="zh-TW" sz="1400">
              <a:latin typeface="Times New Roman" panose="02020603050405020304" pitchFamily="18" charset="0"/>
              <a:cs typeface="Times New Roman" panose="02020603050405020304" pitchFamily="18" charset="0"/>
            </a:endParaRPr>
          </a:p>
          <a:p>
            <a:pPr marL="0" indent="0" algn="just">
              <a:buNone/>
            </a:pPr>
            <a:r>
              <a:rPr lang="en-US" altLang="zh-TW" sz="1400">
                <a:latin typeface="Times New Roman" panose="02020603050405020304" pitchFamily="18" charset="0"/>
                <a:cs typeface="Times New Roman" panose="02020603050405020304" pitchFamily="18" charset="0"/>
              </a:rPr>
              <a:t>Adjust the weights of each neighboring node to make them more like the input vector. The closer a node is to the BMU, the more its</a:t>
            </a:r>
            <a:r>
              <a:rPr lang="zh-TW" altLang="en-US" sz="1400">
                <a:latin typeface="Times New Roman" panose="02020603050405020304" pitchFamily="18" charset="0"/>
                <a:cs typeface="Times New Roman" panose="02020603050405020304" pitchFamily="18" charset="0"/>
              </a:rPr>
              <a:t> </a:t>
            </a:r>
            <a:r>
              <a:rPr lang="en-US" altLang="zh-TW" sz="1400">
                <a:latin typeface="Times New Roman" panose="02020603050405020304" pitchFamily="18" charset="0"/>
                <a:cs typeface="Times New Roman" panose="02020603050405020304" pitchFamily="18" charset="0"/>
              </a:rPr>
              <a:t>weights get altered.</a:t>
            </a:r>
          </a:p>
          <a:p>
            <a:pPr marL="0" indent="0" algn="just">
              <a:buNone/>
            </a:pPr>
            <a:endParaRPr lang="en-US" altLang="zh-TW" sz="1400">
              <a:latin typeface="Times New Roman" panose="02020603050405020304" pitchFamily="18" charset="0"/>
              <a:cs typeface="Times New Roman" panose="02020603050405020304" pitchFamily="18" charset="0"/>
            </a:endParaRPr>
          </a:p>
          <a:p>
            <a:pPr marL="0" indent="0" algn="just">
              <a:buNone/>
            </a:pPr>
            <a:r>
              <a:rPr lang="en-US" altLang="zh-TW" sz="1400">
                <a:latin typeface="Times New Roman" panose="02020603050405020304" pitchFamily="18" charset="0"/>
                <a:cs typeface="Times New Roman" panose="02020603050405020304" pitchFamily="18" charset="0"/>
              </a:rPr>
              <a:t>Repeat step 2 for N iterations.</a:t>
            </a:r>
            <a:endParaRPr lang="en-US" altLang="zh-TW" sz="1400" dirty="0">
              <a:latin typeface="Times New Roman" panose="02020603050405020304" pitchFamily="18" charset="0"/>
              <a:cs typeface="Times New Roman" panose="02020603050405020304" pitchFamily="18" charset="0"/>
            </a:endParaRPr>
          </a:p>
        </p:txBody>
      </p:sp>
      <p:pic>
        <p:nvPicPr>
          <p:cNvPr id="10" name="內容版面配置區 9">
            <a:extLst>
              <a:ext uri="{FF2B5EF4-FFF2-40B4-BE49-F238E27FC236}">
                <a16:creationId xmlns:a16="http://schemas.microsoft.com/office/drawing/2014/main" id="{6FF85C67-214B-43FF-BAE4-EE7792072197}"/>
              </a:ext>
            </a:extLst>
          </p:cNvPr>
          <p:cNvPicPr>
            <a:picLocks noChangeAspect="1"/>
          </p:cNvPicPr>
          <p:nvPr/>
        </p:nvPicPr>
        <p:blipFill>
          <a:blip r:embed="rId3"/>
          <a:stretch>
            <a:fillRect/>
          </a:stretch>
        </p:blipFill>
        <p:spPr>
          <a:xfrm>
            <a:off x="5168900" y="2226469"/>
            <a:ext cx="3495675" cy="3238500"/>
          </a:xfrm>
          <a:prstGeom prst="rect">
            <a:avLst/>
          </a:prstGeom>
        </p:spPr>
      </p:pic>
      <p:cxnSp>
        <p:nvCxnSpPr>
          <p:cNvPr id="11" name="直線單箭頭接點 10">
            <a:extLst>
              <a:ext uri="{FF2B5EF4-FFF2-40B4-BE49-F238E27FC236}">
                <a16:creationId xmlns:a16="http://schemas.microsoft.com/office/drawing/2014/main" id="{F9B5C922-9003-4485-A5DC-D2E7639A6AF6}"/>
              </a:ext>
            </a:extLst>
          </p:cNvPr>
          <p:cNvCxnSpPr>
            <a:cxnSpLocks/>
          </p:cNvCxnSpPr>
          <p:nvPr/>
        </p:nvCxnSpPr>
        <p:spPr>
          <a:xfrm>
            <a:off x="5652120" y="2780928"/>
            <a:ext cx="792088" cy="504056"/>
          </a:xfrm>
          <a:prstGeom prst="straightConnector1">
            <a:avLst/>
          </a:prstGeom>
          <a:ln w="762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4230329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Self-Organizing Maps (SOM)</a:t>
            </a:r>
            <a:endParaRPr lang="zh-TW" altLang="en-US" dirty="0">
              <a:latin typeface="Times New Roman" pitchFamily="18" charset="0"/>
              <a:cs typeface="Times New Roman" pitchFamily="18" charset="0"/>
            </a:endParaRPr>
          </a:p>
        </p:txBody>
      </p:sp>
      <p:sp>
        <p:nvSpPr>
          <p:cNvPr id="6" name="內容版面配置區 2">
            <a:extLst>
              <a:ext uri="{FF2B5EF4-FFF2-40B4-BE49-F238E27FC236}">
                <a16:creationId xmlns:a16="http://schemas.microsoft.com/office/drawing/2014/main" id="{D7455BE4-6D8D-4DD0-9DB0-0D21E91A9209}"/>
              </a:ext>
            </a:extLst>
          </p:cNvPr>
          <p:cNvSpPr txBox="1">
            <a:spLocks/>
          </p:cNvSpPr>
          <p:nvPr/>
        </p:nvSpPr>
        <p:spPr>
          <a:xfrm>
            <a:off x="457200" y="1582835"/>
            <a:ext cx="4114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TW" dirty="0">
              <a:latin typeface="Times New Roman" panose="02020603050405020304" pitchFamily="18" charset="0"/>
              <a:cs typeface="Times New Roman" panose="02020603050405020304" pitchFamily="18" charset="0"/>
            </a:endParaRPr>
          </a:p>
        </p:txBody>
      </p:sp>
      <p:sp>
        <p:nvSpPr>
          <p:cNvPr id="7" name="內容版面配置區 2">
            <a:extLst>
              <a:ext uri="{FF2B5EF4-FFF2-40B4-BE49-F238E27FC236}">
                <a16:creationId xmlns:a16="http://schemas.microsoft.com/office/drawing/2014/main" id="{5044C38D-73E8-4039-B2CD-D66F4EDC0693}"/>
              </a:ext>
            </a:extLst>
          </p:cNvPr>
          <p:cNvSpPr txBox="1">
            <a:spLocks/>
          </p:cNvSpPr>
          <p:nvPr/>
        </p:nvSpPr>
        <p:spPr>
          <a:xfrm>
            <a:off x="323528" y="1582834"/>
            <a:ext cx="4114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TW" dirty="0">
              <a:latin typeface="Times New Roman" panose="02020603050405020304" pitchFamily="18" charset="0"/>
              <a:cs typeface="Times New Roman" panose="02020603050405020304" pitchFamily="18" charset="0"/>
            </a:endParaRPr>
          </a:p>
        </p:txBody>
      </p:sp>
      <p:sp>
        <p:nvSpPr>
          <p:cNvPr id="8" name="內容版面配置區 2">
            <a:extLst>
              <a:ext uri="{FF2B5EF4-FFF2-40B4-BE49-F238E27FC236}">
                <a16:creationId xmlns:a16="http://schemas.microsoft.com/office/drawing/2014/main" id="{31F51D42-C0AC-4DA0-965B-660EEC3987D2}"/>
              </a:ext>
            </a:extLst>
          </p:cNvPr>
          <p:cNvSpPr txBox="1">
            <a:spLocks/>
          </p:cNvSpPr>
          <p:nvPr/>
        </p:nvSpPr>
        <p:spPr>
          <a:xfrm>
            <a:off x="390364" y="1582833"/>
            <a:ext cx="4114800" cy="527516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altLang="zh-TW" sz="1400" dirty="0">
                <a:latin typeface="Times New Roman" panose="02020603050405020304" pitchFamily="18" charset="0"/>
                <a:cs typeface="Times New Roman" panose="02020603050405020304" pitchFamily="18" charset="0"/>
              </a:rPr>
              <a:t>Initialize each node's weights.</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latin typeface="Times New Roman" panose="02020603050405020304" pitchFamily="18" charset="0"/>
                <a:cs typeface="Times New Roman" panose="02020603050405020304" pitchFamily="18" charset="0"/>
              </a:rPr>
              <a:t>Choose a vector at random from the set of training data and present it to the lattice.</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latin typeface="Times New Roman" panose="02020603050405020304" pitchFamily="18" charset="0"/>
                <a:cs typeface="Times New Roman" panose="02020603050405020304" pitchFamily="18" charset="0"/>
              </a:rPr>
              <a:t>Examine every node and determine which one‘s weights are most like the input vector. The winning node is commonly known as the</a:t>
            </a:r>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Best Matching Unit (BMU).</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solidFill>
                  <a:srgbClr val="FF0000"/>
                </a:solidFill>
                <a:latin typeface="Times New Roman" panose="02020603050405020304" pitchFamily="18" charset="0"/>
                <a:cs typeface="Times New Roman" panose="02020603050405020304" pitchFamily="18" charset="0"/>
              </a:rPr>
              <a:t>Calculate the radius of the neighborhood of the BMU. This is a value that starts large, typically set to the ‘radius’ of the lattice, but diminishes each</a:t>
            </a:r>
            <a:r>
              <a:rPr lang="zh-TW" altLang="en-US" sz="1400" dirty="0">
                <a:solidFill>
                  <a:srgbClr val="FF0000"/>
                </a:solidFill>
                <a:latin typeface="Times New Roman" panose="02020603050405020304" pitchFamily="18" charset="0"/>
                <a:cs typeface="Times New Roman" panose="02020603050405020304" pitchFamily="18" charset="0"/>
              </a:rPr>
              <a:t> </a:t>
            </a:r>
            <a:r>
              <a:rPr lang="en-US" altLang="zh-TW" sz="1400" dirty="0">
                <a:solidFill>
                  <a:srgbClr val="FF0000"/>
                </a:solidFill>
                <a:latin typeface="Times New Roman" panose="02020603050405020304" pitchFamily="18" charset="0"/>
                <a:cs typeface="Times New Roman" panose="02020603050405020304" pitchFamily="18" charset="0"/>
              </a:rPr>
              <a:t>time-step. Any nodes found within this radius are deemed to be inside the BMU's neighborhood.</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latin typeface="Times New Roman" panose="02020603050405020304" pitchFamily="18" charset="0"/>
                <a:cs typeface="Times New Roman" panose="02020603050405020304" pitchFamily="18" charset="0"/>
              </a:rPr>
              <a:t>Adjust the weights of each neighboring node to make them more like the input vector. The closer a node is to the BMU, the more its</a:t>
            </a:r>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weights get altered.</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latin typeface="Times New Roman" panose="02020603050405020304" pitchFamily="18" charset="0"/>
                <a:cs typeface="Times New Roman" panose="02020603050405020304" pitchFamily="18" charset="0"/>
              </a:rPr>
              <a:t>Repeat step 2 for N iterations.</a:t>
            </a:r>
          </a:p>
        </p:txBody>
      </p:sp>
      <p:pic>
        <p:nvPicPr>
          <p:cNvPr id="9" name="內容版面配置區 4">
            <a:extLst>
              <a:ext uri="{FF2B5EF4-FFF2-40B4-BE49-F238E27FC236}">
                <a16:creationId xmlns:a16="http://schemas.microsoft.com/office/drawing/2014/main" id="{1D53D4BF-A3F3-40A9-8FF5-75593D748379}"/>
              </a:ext>
            </a:extLst>
          </p:cNvPr>
          <p:cNvPicPr>
            <a:picLocks noGrp="1" noChangeAspect="1"/>
          </p:cNvPicPr>
          <p:nvPr>
            <p:ph idx="1"/>
          </p:nvPr>
        </p:nvPicPr>
        <p:blipFill>
          <a:blip r:embed="rId3"/>
          <a:stretch>
            <a:fillRect/>
          </a:stretch>
        </p:blipFill>
        <p:spPr>
          <a:xfrm>
            <a:off x="5211763" y="2135981"/>
            <a:ext cx="3409950" cy="3419475"/>
          </a:xfrm>
        </p:spPr>
      </p:pic>
      <p:cxnSp>
        <p:nvCxnSpPr>
          <p:cNvPr id="10" name="直線單箭頭接點 9">
            <a:extLst>
              <a:ext uri="{FF2B5EF4-FFF2-40B4-BE49-F238E27FC236}">
                <a16:creationId xmlns:a16="http://schemas.microsoft.com/office/drawing/2014/main" id="{62B9BDF2-B400-451D-AD02-425E5F6ABDDD}"/>
              </a:ext>
            </a:extLst>
          </p:cNvPr>
          <p:cNvCxnSpPr>
            <a:cxnSpLocks/>
          </p:cNvCxnSpPr>
          <p:nvPr/>
        </p:nvCxnSpPr>
        <p:spPr>
          <a:xfrm>
            <a:off x="5652120" y="2780928"/>
            <a:ext cx="576064" cy="432048"/>
          </a:xfrm>
          <a:prstGeom prst="straightConnector1">
            <a:avLst/>
          </a:prstGeom>
          <a:ln w="762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7368213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Self-Organizing Maps (SOM)</a:t>
            </a:r>
            <a:endParaRPr lang="zh-TW" altLang="en-US" dirty="0">
              <a:latin typeface="Times New Roman" pitchFamily="18" charset="0"/>
              <a:cs typeface="Times New Roman" pitchFamily="18" charset="0"/>
            </a:endParaRPr>
          </a:p>
        </p:txBody>
      </p:sp>
      <p:sp>
        <p:nvSpPr>
          <p:cNvPr id="6" name="內容版面配置區 2">
            <a:extLst>
              <a:ext uri="{FF2B5EF4-FFF2-40B4-BE49-F238E27FC236}">
                <a16:creationId xmlns:a16="http://schemas.microsoft.com/office/drawing/2014/main" id="{D7455BE4-6D8D-4DD0-9DB0-0D21E91A9209}"/>
              </a:ext>
            </a:extLst>
          </p:cNvPr>
          <p:cNvSpPr txBox="1">
            <a:spLocks/>
          </p:cNvSpPr>
          <p:nvPr/>
        </p:nvSpPr>
        <p:spPr>
          <a:xfrm>
            <a:off x="457200" y="1582835"/>
            <a:ext cx="4114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TW" dirty="0">
              <a:latin typeface="Times New Roman" panose="02020603050405020304" pitchFamily="18" charset="0"/>
              <a:cs typeface="Times New Roman" panose="02020603050405020304" pitchFamily="18" charset="0"/>
            </a:endParaRPr>
          </a:p>
        </p:txBody>
      </p:sp>
      <p:sp>
        <p:nvSpPr>
          <p:cNvPr id="7" name="內容版面配置區 2">
            <a:extLst>
              <a:ext uri="{FF2B5EF4-FFF2-40B4-BE49-F238E27FC236}">
                <a16:creationId xmlns:a16="http://schemas.microsoft.com/office/drawing/2014/main" id="{5044C38D-73E8-4039-B2CD-D66F4EDC0693}"/>
              </a:ext>
            </a:extLst>
          </p:cNvPr>
          <p:cNvSpPr txBox="1">
            <a:spLocks/>
          </p:cNvSpPr>
          <p:nvPr/>
        </p:nvSpPr>
        <p:spPr>
          <a:xfrm>
            <a:off x="323528" y="1582834"/>
            <a:ext cx="4114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TW" dirty="0">
              <a:latin typeface="Times New Roman" panose="02020603050405020304" pitchFamily="18" charset="0"/>
              <a:cs typeface="Times New Roman" panose="02020603050405020304" pitchFamily="18" charset="0"/>
            </a:endParaRPr>
          </a:p>
        </p:txBody>
      </p:sp>
      <p:sp>
        <p:nvSpPr>
          <p:cNvPr id="8" name="內容版面配置區 2">
            <a:extLst>
              <a:ext uri="{FF2B5EF4-FFF2-40B4-BE49-F238E27FC236}">
                <a16:creationId xmlns:a16="http://schemas.microsoft.com/office/drawing/2014/main" id="{31F51D42-C0AC-4DA0-965B-660EEC3987D2}"/>
              </a:ext>
            </a:extLst>
          </p:cNvPr>
          <p:cNvSpPr txBox="1">
            <a:spLocks/>
          </p:cNvSpPr>
          <p:nvPr/>
        </p:nvSpPr>
        <p:spPr>
          <a:xfrm>
            <a:off x="390364" y="1582833"/>
            <a:ext cx="4114800" cy="527516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altLang="zh-TW" sz="1400" dirty="0">
                <a:latin typeface="Times New Roman" panose="02020603050405020304" pitchFamily="18" charset="0"/>
                <a:cs typeface="Times New Roman" panose="02020603050405020304" pitchFamily="18" charset="0"/>
              </a:rPr>
              <a:t>Initialize each node's weights.</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latin typeface="Times New Roman" panose="02020603050405020304" pitchFamily="18" charset="0"/>
                <a:cs typeface="Times New Roman" panose="02020603050405020304" pitchFamily="18" charset="0"/>
              </a:rPr>
              <a:t>Choose a vector at random from the set of training data and present it to the lattice.</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latin typeface="Times New Roman" panose="02020603050405020304" pitchFamily="18" charset="0"/>
                <a:cs typeface="Times New Roman" panose="02020603050405020304" pitchFamily="18" charset="0"/>
              </a:rPr>
              <a:t>Examine every node and determine which one‘s weights are most like the input vector. The winning node is commonly known as the</a:t>
            </a:r>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Best Matching Unit (BMU).</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latin typeface="Times New Roman" panose="02020603050405020304" pitchFamily="18" charset="0"/>
                <a:cs typeface="Times New Roman" panose="02020603050405020304" pitchFamily="18" charset="0"/>
              </a:rPr>
              <a:t>Calculate the radius of the neighborhood of the BMU. This is a value that starts large, typically set to the ‘radius’ of the lattice, but diminishes each</a:t>
            </a:r>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time-step. Any nodes found within this radius are deemed to be inside the BMU's neighborhood.</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solidFill>
                  <a:srgbClr val="FF0000"/>
                </a:solidFill>
                <a:latin typeface="Times New Roman" panose="02020603050405020304" pitchFamily="18" charset="0"/>
                <a:cs typeface="Times New Roman" panose="02020603050405020304" pitchFamily="18" charset="0"/>
              </a:rPr>
              <a:t>Adjust the weights of each neighboring node to make them more like the input vector. The closer a node is to the BMU, the more its</a:t>
            </a:r>
            <a:r>
              <a:rPr lang="zh-TW" altLang="en-US" sz="1400" dirty="0">
                <a:solidFill>
                  <a:srgbClr val="FF0000"/>
                </a:solidFill>
                <a:latin typeface="Times New Roman" panose="02020603050405020304" pitchFamily="18" charset="0"/>
                <a:cs typeface="Times New Roman" panose="02020603050405020304" pitchFamily="18" charset="0"/>
              </a:rPr>
              <a:t> </a:t>
            </a:r>
            <a:r>
              <a:rPr lang="en-US" altLang="zh-TW" sz="1400" dirty="0">
                <a:solidFill>
                  <a:srgbClr val="FF0000"/>
                </a:solidFill>
                <a:latin typeface="Times New Roman" panose="02020603050405020304" pitchFamily="18" charset="0"/>
                <a:cs typeface="Times New Roman" panose="02020603050405020304" pitchFamily="18" charset="0"/>
              </a:rPr>
              <a:t>weights get altered.</a:t>
            </a:r>
          </a:p>
          <a:p>
            <a:pPr marL="0" indent="0" algn="just">
              <a:buNone/>
            </a:pPr>
            <a:endParaRPr lang="en-US" altLang="zh-TW" sz="1400" dirty="0">
              <a:latin typeface="Times New Roman" panose="02020603050405020304" pitchFamily="18" charset="0"/>
              <a:cs typeface="Times New Roman" panose="02020603050405020304" pitchFamily="18" charset="0"/>
            </a:endParaRPr>
          </a:p>
          <a:p>
            <a:pPr marL="0" indent="0" algn="just">
              <a:buNone/>
            </a:pPr>
            <a:r>
              <a:rPr lang="en-US" altLang="zh-TW" sz="1400" dirty="0">
                <a:latin typeface="Times New Roman" panose="02020603050405020304" pitchFamily="18" charset="0"/>
                <a:cs typeface="Times New Roman" panose="02020603050405020304" pitchFamily="18" charset="0"/>
              </a:rPr>
              <a:t>Repeat step 2 for N iterations.</a:t>
            </a:r>
          </a:p>
        </p:txBody>
      </p:sp>
      <p:pic>
        <p:nvPicPr>
          <p:cNvPr id="9" name="內容版面配置區 4">
            <a:extLst>
              <a:ext uri="{FF2B5EF4-FFF2-40B4-BE49-F238E27FC236}">
                <a16:creationId xmlns:a16="http://schemas.microsoft.com/office/drawing/2014/main" id="{BAF2B30F-9776-4D00-869A-D9932B31028A}"/>
              </a:ext>
            </a:extLst>
          </p:cNvPr>
          <p:cNvPicPr>
            <a:picLocks noGrp="1" noChangeAspect="1"/>
          </p:cNvPicPr>
          <p:nvPr>
            <p:ph idx="1"/>
          </p:nvPr>
        </p:nvPicPr>
        <p:blipFill>
          <a:blip r:embed="rId3"/>
          <a:stretch>
            <a:fillRect/>
          </a:stretch>
        </p:blipFill>
        <p:spPr>
          <a:xfrm>
            <a:off x="5211763" y="2135981"/>
            <a:ext cx="3409950" cy="3419475"/>
          </a:xfrm>
        </p:spPr>
      </p:pic>
      <p:sp>
        <p:nvSpPr>
          <p:cNvPr id="5" name="橢圓 4">
            <a:extLst>
              <a:ext uri="{FF2B5EF4-FFF2-40B4-BE49-F238E27FC236}">
                <a16:creationId xmlns:a16="http://schemas.microsoft.com/office/drawing/2014/main" id="{D0CD6B9F-DFFC-4B74-8261-D6E4BE2C2867}"/>
              </a:ext>
            </a:extLst>
          </p:cNvPr>
          <p:cNvSpPr/>
          <p:nvPr/>
        </p:nvSpPr>
        <p:spPr>
          <a:xfrm>
            <a:off x="6012160" y="3212976"/>
            <a:ext cx="792088" cy="360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04165157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FD8D6B-F35D-4704-BBAB-6AD2A2928C8D}"/>
              </a:ext>
            </a:extLst>
          </p:cNvPr>
          <p:cNvSpPr>
            <a:spLocks noGrp="1"/>
          </p:cNvSpPr>
          <p:nvPr>
            <p:ph type="title"/>
          </p:nvPr>
        </p:nvSpPr>
        <p:spPr/>
        <p:txBody>
          <a:bodyPr/>
          <a:lstStyle/>
          <a:p>
            <a:pPr algn="l"/>
            <a:r>
              <a:rPr lang="en-US" altLang="zh-TW" dirty="0">
                <a:latin typeface="Times New Roman" pitchFamily="18" charset="0"/>
                <a:cs typeface="Times New Roman" pitchFamily="18" charset="0"/>
              </a:rPr>
              <a:t>6</a:t>
            </a:r>
            <a:r>
              <a:rPr lang="zh-TW" altLang="en-US" dirty="0">
                <a:latin typeface="Times New Roman" pitchFamily="18" charset="0"/>
                <a:cs typeface="Times New Roman" pitchFamily="18" charset="0"/>
              </a:rPr>
              <a:t> </a:t>
            </a:r>
            <a:r>
              <a:rPr lang="en-US" altLang="zh-TW" dirty="0">
                <a:latin typeface="Times New Roman" pitchFamily="18" charset="0"/>
                <a:cs typeface="Times New Roman" pitchFamily="18" charset="0"/>
              </a:rPr>
              <a:t>SOM</a:t>
            </a:r>
            <a:endParaRPr lang="zh-TW" altLang="en-US" dirty="0"/>
          </a:p>
        </p:txBody>
      </p:sp>
      <p:sp>
        <p:nvSpPr>
          <p:cNvPr id="3" name="內容版面配置區 2">
            <a:extLst>
              <a:ext uri="{FF2B5EF4-FFF2-40B4-BE49-F238E27FC236}">
                <a16:creationId xmlns:a16="http://schemas.microsoft.com/office/drawing/2014/main" id="{E3CA2972-EF2E-45FA-827A-C897EAEE86BA}"/>
              </a:ext>
            </a:extLst>
          </p:cNvPr>
          <p:cNvSpPr>
            <a:spLocks noGrp="1"/>
          </p:cNvSpPr>
          <p:nvPr>
            <p:ph idx="1"/>
          </p:nvPr>
        </p:nvSpPr>
        <p:spPr/>
        <p:txBody>
          <a:bodyPr>
            <a:normAutofit/>
          </a:bodyPr>
          <a:lstStyle/>
          <a:p>
            <a:r>
              <a:rPr lang="en-US" altLang="zh-TW" dirty="0">
                <a:latin typeface="Times New Roman" panose="02020603050405020304" pitchFamily="18" charset="0"/>
                <a:cs typeface="Times New Roman" panose="02020603050405020304" pitchFamily="18" charset="0"/>
              </a:rPr>
              <a:t>Opening bids</a:t>
            </a:r>
          </a:p>
          <a:p>
            <a:r>
              <a:rPr lang="en-US" altLang="zh-TW" dirty="0">
                <a:latin typeface="Times New Roman" panose="02020603050405020304" pitchFamily="18" charset="0"/>
                <a:cs typeface="Times New Roman" panose="02020603050405020304" pitchFamily="18" charset="0"/>
              </a:rPr>
              <a:t>No trump responses</a:t>
            </a:r>
          </a:p>
          <a:p>
            <a:r>
              <a:rPr lang="en-US" altLang="zh-TW" dirty="0">
                <a:latin typeface="Times New Roman" panose="02020603050405020304" pitchFamily="18" charset="0"/>
                <a:cs typeface="Times New Roman" panose="02020603050405020304" pitchFamily="18" charset="0"/>
              </a:rPr>
              <a:t>Primary responses</a:t>
            </a:r>
          </a:p>
          <a:p>
            <a:r>
              <a:rPr lang="en-US" altLang="zh-TW" dirty="0">
                <a:latin typeface="Times New Roman" panose="02020603050405020304" pitchFamily="18" charset="0"/>
                <a:cs typeface="Times New Roman" panose="02020603050405020304" pitchFamily="18" charset="0"/>
              </a:rPr>
              <a:t>Overcalls</a:t>
            </a:r>
          </a:p>
          <a:p>
            <a:r>
              <a:rPr lang="en-US" altLang="zh-TW" dirty="0">
                <a:latin typeface="Times New Roman" panose="02020603050405020304" pitchFamily="18" charset="0"/>
                <a:cs typeface="Times New Roman" panose="02020603050405020304" pitchFamily="18" charset="0"/>
              </a:rPr>
              <a:t>Re-bids by opener</a:t>
            </a:r>
          </a:p>
          <a:p>
            <a:r>
              <a:rPr lang="en-US" altLang="zh-TW" dirty="0">
                <a:latin typeface="Times New Roman" panose="02020603050405020304" pitchFamily="18" charset="0"/>
                <a:cs typeface="Times New Roman" panose="02020603050405020304" pitchFamily="18" charset="0"/>
              </a:rPr>
              <a:t>Re-bids by responder</a:t>
            </a:r>
            <a:endParaRPr lang="zh-TW" altLang="en-US"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08D3C9A2-E2E9-43FB-9EA1-CCC37BA88C55}"/>
              </a:ext>
            </a:extLst>
          </p:cNvPr>
          <p:cNvPicPr>
            <a:picLocks noChangeAspect="1"/>
          </p:cNvPicPr>
          <p:nvPr/>
        </p:nvPicPr>
        <p:blipFill>
          <a:blip r:embed="rId2"/>
          <a:stretch>
            <a:fillRect/>
          </a:stretch>
        </p:blipFill>
        <p:spPr>
          <a:xfrm>
            <a:off x="4193930" y="1124115"/>
            <a:ext cx="4935384" cy="3043849"/>
          </a:xfrm>
          <a:prstGeom prst="rect">
            <a:avLst/>
          </a:prstGeom>
        </p:spPr>
      </p:pic>
    </p:spTree>
    <p:extLst>
      <p:ext uri="{BB962C8B-B14F-4D97-AF65-F5344CB8AC3E}">
        <p14:creationId xmlns:p14="http://schemas.microsoft.com/office/powerpoint/2010/main" val="1150387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FD8D6B-F35D-4704-BBAB-6AD2A2928C8D}"/>
              </a:ext>
            </a:extLst>
          </p:cNvPr>
          <p:cNvSpPr>
            <a:spLocks noGrp="1"/>
          </p:cNvSpPr>
          <p:nvPr>
            <p:ph type="title"/>
          </p:nvPr>
        </p:nvSpPr>
        <p:spPr/>
        <p:txBody>
          <a:bodyPr/>
          <a:lstStyle/>
          <a:p>
            <a:pPr algn="l"/>
            <a:r>
              <a:rPr lang="en-US" altLang="zh-TW" sz="4400" dirty="0">
                <a:latin typeface="Times New Roman" pitchFamily="18" charset="0"/>
                <a:cs typeface="Times New Roman" pitchFamily="18" charset="0"/>
              </a:rPr>
              <a:t>Experimental</a:t>
            </a:r>
            <a:endParaRPr lang="zh-TW" altLang="en-US" dirty="0"/>
          </a:p>
        </p:txBody>
      </p:sp>
      <p:sp>
        <p:nvSpPr>
          <p:cNvPr id="3" name="內容版面配置區 2">
            <a:extLst>
              <a:ext uri="{FF2B5EF4-FFF2-40B4-BE49-F238E27FC236}">
                <a16:creationId xmlns:a16="http://schemas.microsoft.com/office/drawing/2014/main" id="{E3CA2972-EF2E-45FA-827A-C897EAEE86BA}"/>
              </a:ext>
            </a:extLst>
          </p:cNvPr>
          <p:cNvSpPr>
            <a:spLocks noGrp="1"/>
          </p:cNvSpPr>
          <p:nvPr>
            <p:ph idx="1"/>
          </p:nvPr>
        </p:nvSpPr>
        <p:spPr/>
        <p:txBody>
          <a:bodyPr>
            <a:normAutofit/>
          </a:bodyPr>
          <a:lstStyle/>
          <a:p>
            <a:r>
              <a:rPr lang="en-US" altLang="zh-TW" dirty="0">
                <a:latin typeface="Times New Roman" panose="02020603050405020304" pitchFamily="18" charset="0"/>
                <a:cs typeface="Times New Roman" panose="02020603050405020304" pitchFamily="18" charset="0"/>
              </a:rPr>
              <a:t>Training data: American Contract Bridge League</a:t>
            </a:r>
          </a:p>
          <a:p>
            <a:r>
              <a:rPr lang="en-US" altLang="zh-TW" dirty="0">
                <a:latin typeface="Times New Roman" panose="02020603050405020304" pitchFamily="18" charset="0"/>
                <a:cs typeface="Times New Roman" panose="02020603050405020304" pitchFamily="18" charset="0"/>
              </a:rPr>
              <a:t>Feature: The number of cards in each suit, the high card points and the bidding history</a:t>
            </a:r>
          </a:p>
          <a:p>
            <a:r>
              <a:rPr lang="en-US" altLang="zh-TW" dirty="0">
                <a:latin typeface="Times New Roman" panose="02020603050405020304" pitchFamily="18" charset="0"/>
                <a:cs typeface="Times New Roman" panose="02020603050405020304" pitchFamily="18" charset="0"/>
              </a:rPr>
              <a:t>Jack:</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2001~2004, 2006, 2009, 2010, 2012, 2013, 2015</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world computer bridge champion</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7399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FD8D6B-F35D-4704-BBAB-6AD2A2928C8D}"/>
              </a:ext>
            </a:extLst>
          </p:cNvPr>
          <p:cNvSpPr>
            <a:spLocks noGrp="1"/>
          </p:cNvSpPr>
          <p:nvPr>
            <p:ph type="title"/>
          </p:nvPr>
        </p:nvSpPr>
        <p:spPr/>
        <p:txBody>
          <a:bodyPr/>
          <a:lstStyle/>
          <a:p>
            <a:pPr algn="l"/>
            <a:r>
              <a:rPr lang="en-US" altLang="zh-TW" sz="4400" dirty="0">
                <a:latin typeface="Times New Roman" pitchFamily="18" charset="0"/>
                <a:cs typeface="Times New Roman" pitchFamily="18" charset="0"/>
              </a:rPr>
              <a:t>Experimental Result</a:t>
            </a:r>
            <a:endParaRPr lang="zh-TW" altLang="en-US" dirty="0"/>
          </a:p>
        </p:txBody>
      </p:sp>
      <p:pic>
        <p:nvPicPr>
          <p:cNvPr id="5" name="內容版面配置區 4">
            <a:extLst>
              <a:ext uri="{FF2B5EF4-FFF2-40B4-BE49-F238E27FC236}">
                <a16:creationId xmlns:a16="http://schemas.microsoft.com/office/drawing/2014/main" id="{C1462633-D46A-4226-B488-08991412D819}"/>
              </a:ext>
            </a:extLst>
          </p:cNvPr>
          <p:cNvPicPr>
            <a:picLocks noGrp="1" noChangeAspect="1"/>
          </p:cNvPicPr>
          <p:nvPr>
            <p:ph idx="1"/>
          </p:nvPr>
        </p:nvPicPr>
        <p:blipFill>
          <a:blip r:embed="rId2"/>
          <a:stretch>
            <a:fillRect/>
          </a:stretch>
        </p:blipFill>
        <p:spPr>
          <a:xfrm>
            <a:off x="2655279" y="1139333"/>
            <a:ext cx="3833441" cy="5417841"/>
          </a:xfrm>
        </p:spPr>
      </p:pic>
    </p:spTree>
    <p:extLst>
      <p:ext uri="{BB962C8B-B14F-4D97-AF65-F5344CB8AC3E}">
        <p14:creationId xmlns:p14="http://schemas.microsoft.com/office/powerpoint/2010/main" val="4063527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FD8D6B-F35D-4704-BBAB-6AD2A2928C8D}"/>
              </a:ext>
            </a:extLst>
          </p:cNvPr>
          <p:cNvSpPr>
            <a:spLocks noGrp="1"/>
          </p:cNvSpPr>
          <p:nvPr>
            <p:ph type="title"/>
          </p:nvPr>
        </p:nvSpPr>
        <p:spPr/>
        <p:txBody>
          <a:bodyPr/>
          <a:lstStyle/>
          <a:p>
            <a:pPr algn="l"/>
            <a:r>
              <a:rPr lang="en-US" altLang="zh-TW" sz="4400" dirty="0">
                <a:latin typeface="Times New Roman" pitchFamily="18" charset="0"/>
                <a:cs typeface="Times New Roman" pitchFamily="18" charset="0"/>
              </a:rPr>
              <a:t>Experimental Result</a:t>
            </a:r>
            <a:endParaRPr lang="zh-TW" altLang="en-US" dirty="0"/>
          </a:p>
        </p:txBody>
      </p:sp>
      <p:pic>
        <p:nvPicPr>
          <p:cNvPr id="5" name="內容版面配置區 4">
            <a:extLst>
              <a:ext uri="{FF2B5EF4-FFF2-40B4-BE49-F238E27FC236}">
                <a16:creationId xmlns:a16="http://schemas.microsoft.com/office/drawing/2014/main" id="{C1462633-D46A-4226-B488-08991412D819}"/>
              </a:ext>
            </a:extLst>
          </p:cNvPr>
          <p:cNvPicPr>
            <a:picLocks noGrp="1" noChangeAspect="1"/>
          </p:cNvPicPr>
          <p:nvPr>
            <p:ph idx="1"/>
          </p:nvPr>
        </p:nvPicPr>
        <p:blipFill>
          <a:blip r:embed="rId2"/>
          <a:stretch>
            <a:fillRect/>
          </a:stretch>
        </p:blipFill>
        <p:spPr>
          <a:xfrm>
            <a:off x="2655279" y="1139333"/>
            <a:ext cx="3833441" cy="5417841"/>
          </a:xfrm>
        </p:spPr>
      </p:pic>
      <p:sp>
        <p:nvSpPr>
          <p:cNvPr id="3" name="文字方塊 2">
            <a:extLst>
              <a:ext uri="{FF2B5EF4-FFF2-40B4-BE49-F238E27FC236}">
                <a16:creationId xmlns:a16="http://schemas.microsoft.com/office/drawing/2014/main" id="{A3295B15-EC23-4DF6-9701-6B193ACE9C4A}"/>
              </a:ext>
            </a:extLst>
          </p:cNvPr>
          <p:cNvSpPr txBox="1"/>
          <p:nvPr/>
        </p:nvSpPr>
        <p:spPr>
          <a:xfrm>
            <a:off x="827584" y="1417638"/>
            <a:ext cx="1440160" cy="461665"/>
          </a:xfrm>
          <a:prstGeom prst="rect">
            <a:avLst/>
          </a:prstGeom>
          <a:noFill/>
        </p:spPr>
        <p:txBody>
          <a:bodyPr wrap="square" rtlCol="0">
            <a:spAutoFit/>
          </a:bodyPr>
          <a:lstStyle/>
          <a:p>
            <a:r>
              <a:rPr lang="en-US" altLang="zh-TW" sz="2400" dirty="0">
                <a:solidFill>
                  <a:srgbClr val="FF0000"/>
                </a:solidFill>
                <a:latin typeface="Times New Roman" panose="02020603050405020304" pitchFamily="18" charset="0"/>
                <a:cs typeface="Times New Roman" panose="02020603050405020304" pitchFamily="18" charset="0"/>
              </a:rPr>
              <a:t>Initial bid</a:t>
            </a:r>
            <a:endParaRPr lang="zh-TW" altLang="en-US" sz="2400" dirty="0">
              <a:solidFill>
                <a:srgbClr val="FF0000"/>
              </a:solidFill>
              <a:latin typeface="Times New Roman" panose="02020603050405020304" pitchFamily="18" charset="0"/>
              <a:cs typeface="Times New Roman" panose="02020603050405020304" pitchFamily="18" charset="0"/>
            </a:endParaRPr>
          </a:p>
        </p:txBody>
      </p:sp>
      <p:cxnSp>
        <p:nvCxnSpPr>
          <p:cNvPr id="6" name="直線單箭頭接點 5">
            <a:extLst>
              <a:ext uri="{FF2B5EF4-FFF2-40B4-BE49-F238E27FC236}">
                <a16:creationId xmlns:a16="http://schemas.microsoft.com/office/drawing/2014/main" id="{F80DE3ED-A1BA-4B8B-8B65-C3574B36922C}"/>
              </a:ext>
            </a:extLst>
          </p:cNvPr>
          <p:cNvCxnSpPr>
            <a:cxnSpLocks/>
            <a:stCxn id="3" idx="3"/>
          </p:cNvCxnSpPr>
          <p:nvPr/>
        </p:nvCxnSpPr>
        <p:spPr>
          <a:xfrm flipV="1">
            <a:off x="2267744" y="1484785"/>
            <a:ext cx="1440160" cy="16368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2744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FD8D6B-F35D-4704-BBAB-6AD2A2928C8D}"/>
              </a:ext>
            </a:extLst>
          </p:cNvPr>
          <p:cNvSpPr>
            <a:spLocks noGrp="1"/>
          </p:cNvSpPr>
          <p:nvPr>
            <p:ph type="title"/>
          </p:nvPr>
        </p:nvSpPr>
        <p:spPr/>
        <p:txBody>
          <a:bodyPr/>
          <a:lstStyle/>
          <a:p>
            <a:pPr algn="l"/>
            <a:r>
              <a:rPr lang="en-US" altLang="zh-TW" sz="4400" dirty="0">
                <a:latin typeface="Times New Roman" pitchFamily="18" charset="0"/>
                <a:cs typeface="Times New Roman" pitchFamily="18" charset="0"/>
              </a:rPr>
              <a:t>Experimental Result</a:t>
            </a:r>
            <a:endParaRPr lang="zh-TW" altLang="en-US" dirty="0"/>
          </a:p>
        </p:txBody>
      </p:sp>
      <p:pic>
        <p:nvPicPr>
          <p:cNvPr id="5" name="內容版面配置區 4">
            <a:extLst>
              <a:ext uri="{FF2B5EF4-FFF2-40B4-BE49-F238E27FC236}">
                <a16:creationId xmlns:a16="http://schemas.microsoft.com/office/drawing/2014/main" id="{C1462633-D46A-4226-B488-08991412D819}"/>
              </a:ext>
            </a:extLst>
          </p:cNvPr>
          <p:cNvPicPr>
            <a:picLocks noGrp="1" noChangeAspect="1"/>
          </p:cNvPicPr>
          <p:nvPr>
            <p:ph idx="1"/>
          </p:nvPr>
        </p:nvPicPr>
        <p:blipFill>
          <a:blip r:embed="rId2"/>
          <a:stretch>
            <a:fillRect/>
          </a:stretch>
        </p:blipFill>
        <p:spPr>
          <a:xfrm>
            <a:off x="2655279" y="1139333"/>
            <a:ext cx="3833441" cy="5417841"/>
          </a:xfrm>
        </p:spPr>
      </p:pic>
      <p:sp>
        <p:nvSpPr>
          <p:cNvPr id="3" name="文字方塊 2">
            <a:extLst>
              <a:ext uri="{FF2B5EF4-FFF2-40B4-BE49-F238E27FC236}">
                <a16:creationId xmlns:a16="http://schemas.microsoft.com/office/drawing/2014/main" id="{A3295B15-EC23-4DF6-9701-6B193ACE9C4A}"/>
              </a:ext>
            </a:extLst>
          </p:cNvPr>
          <p:cNvSpPr txBox="1"/>
          <p:nvPr/>
        </p:nvSpPr>
        <p:spPr>
          <a:xfrm>
            <a:off x="323528" y="1417638"/>
            <a:ext cx="1944216" cy="461665"/>
          </a:xfrm>
          <a:prstGeom prst="rect">
            <a:avLst/>
          </a:prstGeom>
          <a:noFill/>
        </p:spPr>
        <p:txBody>
          <a:bodyPr wrap="square" rtlCol="0">
            <a:spAutoFit/>
          </a:bodyPr>
          <a:lstStyle/>
          <a:p>
            <a:r>
              <a:rPr lang="en-US" altLang="zh-TW" sz="2400" dirty="0">
                <a:solidFill>
                  <a:srgbClr val="FF0000"/>
                </a:solidFill>
                <a:latin typeface="Times New Roman" panose="02020603050405020304" pitchFamily="18" charset="0"/>
                <a:cs typeface="Times New Roman" panose="02020603050405020304" pitchFamily="18" charset="0"/>
              </a:rPr>
              <a:t>Final contract</a:t>
            </a:r>
            <a:endParaRPr lang="zh-TW" altLang="en-US" sz="2400" dirty="0">
              <a:solidFill>
                <a:srgbClr val="FF0000"/>
              </a:solidFill>
              <a:latin typeface="Times New Roman" panose="02020603050405020304" pitchFamily="18" charset="0"/>
              <a:cs typeface="Times New Roman" panose="02020603050405020304" pitchFamily="18" charset="0"/>
            </a:endParaRPr>
          </a:p>
        </p:txBody>
      </p:sp>
      <p:cxnSp>
        <p:nvCxnSpPr>
          <p:cNvPr id="6" name="直線單箭頭接點 5">
            <a:extLst>
              <a:ext uri="{FF2B5EF4-FFF2-40B4-BE49-F238E27FC236}">
                <a16:creationId xmlns:a16="http://schemas.microsoft.com/office/drawing/2014/main" id="{F80DE3ED-A1BA-4B8B-8B65-C3574B36922C}"/>
              </a:ext>
            </a:extLst>
          </p:cNvPr>
          <p:cNvCxnSpPr>
            <a:cxnSpLocks/>
            <a:stCxn id="3" idx="3"/>
          </p:cNvCxnSpPr>
          <p:nvPr/>
        </p:nvCxnSpPr>
        <p:spPr>
          <a:xfrm flipV="1">
            <a:off x="2267744" y="1543545"/>
            <a:ext cx="1800200" cy="10492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0961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FD8D6B-F35D-4704-BBAB-6AD2A2928C8D}"/>
              </a:ext>
            </a:extLst>
          </p:cNvPr>
          <p:cNvSpPr>
            <a:spLocks noGrp="1"/>
          </p:cNvSpPr>
          <p:nvPr>
            <p:ph type="title"/>
          </p:nvPr>
        </p:nvSpPr>
        <p:spPr/>
        <p:txBody>
          <a:bodyPr/>
          <a:lstStyle/>
          <a:p>
            <a:pPr algn="l"/>
            <a:r>
              <a:rPr lang="en-US" altLang="zh-TW" sz="4400" dirty="0">
                <a:latin typeface="Times New Roman" pitchFamily="18" charset="0"/>
                <a:cs typeface="Times New Roman" pitchFamily="18" charset="0"/>
              </a:rPr>
              <a:t>Experimental Result</a:t>
            </a:r>
            <a:endParaRPr lang="zh-TW" altLang="en-US" dirty="0"/>
          </a:p>
        </p:txBody>
      </p:sp>
      <p:pic>
        <p:nvPicPr>
          <p:cNvPr id="5" name="內容版面配置區 4">
            <a:extLst>
              <a:ext uri="{FF2B5EF4-FFF2-40B4-BE49-F238E27FC236}">
                <a16:creationId xmlns:a16="http://schemas.microsoft.com/office/drawing/2014/main" id="{C1462633-D46A-4226-B488-08991412D819}"/>
              </a:ext>
            </a:extLst>
          </p:cNvPr>
          <p:cNvPicPr>
            <a:picLocks noGrp="1" noChangeAspect="1"/>
          </p:cNvPicPr>
          <p:nvPr>
            <p:ph idx="1"/>
          </p:nvPr>
        </p:nvPicPr>
        <p:blipFill>
          <a:blip r:embed="rId2"/>
          <a:stretch>
            <a:fillRect/>
          </a:stretch>
        </p:blipFill>
        <p:spPr>
          <a:xfrm>
            <a:off x="2655279" y="1139333"/>
            <a:ext cx="3833441" cy="5417841"/>
          </a:xfrm>
        </p:spPr>
      </p:pic>
      <p:sp>
        <p:nvSpPr>
          <p:cNvPr id="3" name="文字方塊 2">
            <a:extLst>
              <a:ext uri="{FF2B5EF4-FFF2-40B4-BE49-F238E27FC236}">
                <a16:creationId xmlns:a16="http://schemas.microsoft.com/office/drawing/2014/main" id="{A3295B15-EC23-4DF6-9701-6B193ACE9C4A}"/>
              </a:ext>
            </a:extLst>
          </p:cNvPr>
          <p:cNvSpPr txBox="1"/>
          <p:nvPr/>
        </p:nvSpPr>
        <p:spPr>
          <a:xfrm>
            <a:off x="611560" y="1417638"/>
            <a:ext cx="1656184" cy="461665"/>
          </a:xfrm>
          <a:prstGeom prst="rect">
            <a:avLst/>
          </a:prstGeom>
          <a:noFill/>
        </p:spPr>
        <p:txBody>
          <a:bodyPr wrap="square" rtlCol="0">
            <a:spAutoFit/>
          </a:bodyPr>
          <a:lstStyle/>
          <a:p>
            <a:r>
              <a:rPr lang="en-US" altLang="zh-TW" sz="2400" dirty="0">
                <a:solidFill>
                  <a:srgbClr val="FF0000"/>
                </a:solidFill>
                <a:latin typeface="Times New Roman" panose="02020603050405020304" pitchFamily="18" charset="0"/>
                <a:cs typeface="Times New Roman" panose="02020603050405020304" pitchFamily="18" charset="0"/>
              </a:rPr>
              <a:t>Final result</a:t>
            </a:r>
            <a:endParaRPr lang="zh-TW" altLang="en-US" sz="2400" dirty="0">
              <a:solidFill>
                <a:srgbClr val="FF0000"/>
              </a:solidFill>
              <a:latin typeface="Times New Roman" panose="02020603050405020304" pitchFamily="18" charset="0"/>
              <a:cs typeface="Times New Roman" panose="02020603050405020304" pitchFamily="18" charset="0"/>
            </a:endParaRPr>
          </a:p>
        </p:txBody>
      </p:sp>
      <p:cxnSp>
        <p:nvCxnSpPr>
          <p:cNvPr id="6" name="直線單箭頭接點 5">
            <a:extLst>
              <a:ext uri="{FF2B5EF4-FFF2-40B4-BE49-F238E27FC236}">
                <a16:creationId xmlns:a16="http://schemas.microsoft.com/office/drawing/2014/main" id="{F80DE3ED-A1BA-4B8B-8B65-C3574B36922C}"/>
              </a:ext>
            </a:extLst>
          </p:cNvPr>
          <p:cNvCxnSpPr>
            <a:cxnSpLocks/>
            <a:stCxn id="3" idx="3"/>
          </p:cNvCxnSpPr>
          <p:nvPr/>
        </p:nvCxnSpPr>
        <p:spPr>
          <a:xfrm flipV="1">
            <a:off x="2267744" y="1484784"/>
            <a:ext cx="2198079" cy="1636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41060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a:extLst>
              <a:ext uri="{FF2B5EF4-FFF2-40B4-BE49-F238E27FC236}">
                <a16:creationId xmlns:a16="http://schemas.microsoft.com/office/drawing/2014/main" id="{C1462633-D46A-4226-B488-08991412D819}"/>
              </a:ext>
            </a:extLst>
          </p:cNvPr>
          <p:cNvPicPr>
            <a:picLocks noGrp="1" noChangeAspect="1"/>
          </p:cNvPicPr>
          <p:nvPr>
            <p:ph idx="1"/>
          </p:nvPr>
        </p:nvPicPr>
        <p:blipFill>
          <a:blip r:embed="rId2"/>
          <a:stretch>
            <a:fillRect/>
          </a:stretch>
        </p:blipFill>
        <p:spPr>
          <a:xfrm>
            <a:off x="2655279" y="1139333"/>
            <a:ext cx="3833441" cy="5417841"/>
          </a:xfrm>
        </p:spPr>
      </p:pic>
      <p:sp>
        <p:nvSpPr>
          <p:cNvPr id="2" name="標題 1">
            <a:extLst>
              <a:ext uri="{FF2B5EF4-FFF2-40B4-BE49-F238E27FC236}">
                <a16:creationId xmlns:a16="http://schemas.microsoft.com/office/drawing/2014/main" id="{5FFD8D6B-F35D-4704-BBAB-6AD2A2928C8D}"/>
              </a:ext>
            </a:extLst>
          </p:cNvPr>
          <p:cNvSpPr>
            <a:spLocks noGrp="1"/>
          </p:cNvSpPr>
          <p:nvPr>
            <p:ph type="title"/>
          </p:nvPr>
        </p:nvSpPr>
        <p:spPr/>
        <p:txBody>
          <a:bodyPr/>
          <a:lstStyle/>
          <a:p>
            <a:pPr algn="l"/>
            <a:r>
              <a:rPr lang="en-US" altLang="zh-TW" sz="4400" dirty="0">
                <a:latin typeface="Times New Roman" pitchFamily="18" charset="0"/>
                <a:cs typeface="Times New Roman" pitchFamily="18" charset="0"/>
              </a:rPr>
              <a:t>Experimental Result</a:t>
            </a:r>
            <a:endParaRPr lang="zh-TW" altLang="en-US" dirty="0"/>
          </a:p>
        </p:txBody>
      </p:sp>
      <p:sp>
        <p:nvSpPr>
          <p:cNvPr id="4" name="矩形 3">
            <a:extLst>
              <a:ext uri="{FF2B5EF4-FFF2-40B4-BE49-F238E27FC236}">
                <a16:creationId xmlns:a16="http://schemas.microsoft.com/office/drawing/2014/main" id="{89E01027-FABC-4932-86F4-E9023FB251C8}"/>
              </a:ext>
            </a:extLst>
          </p:cNvPr>
          <p:cNvSpPr/>
          <p:nvPr/>
        </p:nvSpPr>
        <p:spPr>
          <a:xfrm>
            <a:off x="2655279" y="2420888"/>
            <a:ext cx="3716921"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53CCDCD7-A72D-45BC-AB11-42A2D9E4B61C}"/>
              </a:ext>
            </a:extLst>
          </p:cNvPr>
          <p:cNvSpPr/>
          <p:nvPr/>
        </p:nvSpPr>
        <p:spPr>
          <a:xfrm>
            <a:off x="2627784" y="3068960"/>
            <a:ext cx="3716921" cy="6432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D0C53ADC-2F50-47C7-9B43-29B89268078D}"/>
              </a:ext>
            </a:extLst>
          </p:cNvPr>
          <p:cNvSpPr/>
          <p:nvPr/>
        </p:nvSpPr>
        <p:spPr>
          <a:xfrm>
            <a:off x="2655279" y="3861048"/>
            <a:ext cx="3716921"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B9A0F10C-05A0-479F-B30F-5699CF801838}"/>
              </a:ext>
            </a:extLst>
          </p:cNvPr>
          <p:cNvSpPr/>
          <p:nvPr/>
        </p:nvSpPr>
        <p:spPr>
          <a:xfrm>
            <a:off x="2627784" y="4365104"/>
            <a:ext cx="3716921" cy="4320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1C2E4B4D-69CD-4002-9BDE-A6D87C39633D}"/>
              </a:ext>
            </a:extLst>
          </p:cNvPr>
          <p:cNvSpPr/>
          <p:nvPr/>
        </p:nvSpPr>
        <p:spPr>
          <a:xfrm>
            <a:off x="2627784" y="4941168"/>
            <a:ext cx="3716921"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a:extLst>
              <a:ext uri="{FF2B5EF4-FFF2-40B4-BE49-F238E27FC236}">
                <a16:creationId xmlns:a16="http://schemas.microsoft.com/office/drawing/2014/main" id="{52DC365D-BBDC-4D5F-8A28-42E919B44C0D}"/>
              </a:ext>
            </a:extLst>
          </p:cNvPr>
          <p:cNvSpPr/>
          <p:nvPr/>
        </p:nvSpPr>
        <p:spPr>
          <a:xfrm>
            <a:off x="2627784" y="5805264"/>
            <a:ext cx="3716921"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016396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a:extLst>
              <a:ext uri="{FF2B5EF4-FFF2-40B4-BE49-F238E27FC236}">
                <a16:creationId xmlns:a16="http://schemas.microsoft.com/office/drawing/2014/main" id="{C1462633-D46A-4226-B488-08991412D819}"/>
              </a:ext>
            </a:extLst>
          </p:cNvPr>
          <p:cNvPicPr>
            <a:picLocks noGrp="1" noChangeAspect="1"/>
          </p:cNvPicPr>
          <p:nvPr>
            <p:ph idx="1"/>
          </p:nvPr>
        </p:nvPicPr>
        <p:blipFill>
          <a:blip r:embed="rId2"/>
          <a:stretch>
            <a:fillRect/>
          </a:stretch>
        </p:blipFill>
        <p:spPr>
          <a:xfrm>
            <a:off x="2655279" y="1139333"/>
            <a:ext cx="3833441" cy="5417841"/>
          </a:xfrm>
        </p:spPr>
      </p:pic>
      <p:sp>
        <p:nvSpPr>
          <p:cNvPr id="2" name="標題 1">
            <a:extLst>
              <a:ext uri="{FF2B5EF4-FFF2-40B4-BE49-F238E27FC236}">
                <a16:creationId xmlns:a16="http://schemas.microsoft.com/office/drawing/2014/main" id="{5FFD8D6B-F35D-4704-BBAB-6AD2A2928C8D}"/>
              </a:ext>
            </a:extLst>
          </p:cNvPr>
          <p:cNvSpPr>
            <a:spLocks noGrp="1"/>
          </p:cNvSpPr>
          <p:nvPr>
            <p:ph type="title"/>
          </p:nvPr>
        </p:nvSpPr>
        <p:spPr/>
        <p:txBody>
          <a:bodyPr/>
          <a:lstStyle/>
          <a:p>
            <a:pPr algn="l"/>
            <a:r>
              <a:rPr lang="en-US" altLang="zh-TW" sz="4400" dirty="0">
                <a:latin typeface="Times New Roman" pitchFamily="18" charset="0"/>
                <a:cs typeface="Times New Roman" pitchFamily="18" charset="0"/>
              </a:rPr>
              <a:t>Experimental Result</a:t>
            </a:r>
            <a:endParaRPr lang="zh-TW" altLang="en-US" dirty="0"/>
          </a:p>
        </p:txBody>
      </p:sp>
      <p:sp>
        <p:nvSpPr>
          <p:cNvPr id="7" name="矩形 6">
            <a:extLst>
              <a:ext uri="{FF2B5EF4-FFF2-40B4-BE49-F238E27FC236}">
                <a16:creationId xmlns:a16="http://schemas.microsoft.com/office/drawing/2014/main" id="{53CCDCD7-A72D-45BC-AB11-42A2D9E4B61C}"/>
              </a:ext>
            </a:extLst>
          </p:cNvPr>
          <p:cNvSpPr/>
          <p:nvPr/>
        </p:nvSpPr>
        <p:spPr>
          <a:xfrm>
            <a:off x="2627784" y="3284984"/>
            <a:ext cx="3716921"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86203967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4173</TotalTime>
  <Words>1060</Words>
  <Application>Microsoft Office PowerPoint</Application>
  <PresentationFormat>如螢幕大小 (4:3)</PresentationFormat>
  <Paragraphs>105</Paragraphs>
  <Slides>17</Slides>
  <Notes>9</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17</vt:i4>
      </vt:variant>
    </vt:vector>
  </HeadingPairs>
  <TitlesOfParts>
    <vt:vector size="21" baseType="lpstr">
      <vt:lpstr>Arial</vt:lpstr>
      <vt:lpstr>Calibri</vt:lpstr>
      <vt:lpstr>Times New Roman</vt:lpstr>
      <vt:lpstr>Office 佈景主題</vt:lpstr>
      <vt:lpstr> Bridge Bidding with Imperfect Information</vt:lpstr>
      <vt:lpstr>Abstract</vt:lpstr>
      <vt:lpstr>Introduction</vt:lpstr>
      <vt:lpstr>Bidding stage</vt:lpstr>
      <vt:lpstr>Self-Organizing Maps (SOM)</vt:lpstr>
      <vt:lpstr>Self-Organizing Maps (SOM)</vt:lpstr>
      <vt:lpstr>Self-Organizing Maps (SOM)</vt:lpstr>
      <vt:lpstr>Self-Organizing Maps (SOM)</vt:lpstr>
      <vt:lpstr>Self-Organizing Maps (SOM)</vt:lpstr>
      <vt:lpstr>6 SOM</vt:lpstr>
      <vt:lpstr>Experimental</vt:lpstr>
      <vt:lpstr>Experimental Result</vt:lpstr>
      <vt:lpstr>Experimental Result</vt:lpstr>
      <vt:lpstr>Experimental Result</vt:lpstr>
      <vt:lpstr>Experimental Result</vt:lpstr>
      <vt:lpstr>Experimental Result</vt:lpstr>
      <vt:lpstr>Experimental 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faster algorithm for finding shortest substring matches of a regular expression</dc:title>
  <dc:creator>M093040098</dc:creator>
  <cp:lastModifiedBy>M093040098</cp:lastModifiedBy>
  <cp:revision>195</cp:revision>
  <dcterms:created xsi:type="dcterms:W3CDTF">2020-10-30T08:30:28Z</dcterms:created>
  <dcterms:modified xsi:type="dcterms:W3CDTF">2021-03-24T09:36:46Z</dcterms:modified>
</cp:coreProperties>
</file>