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6" r:id="rId10"/>
    <p:sldId id="267" r:id="rId11"/>
    <p:sldId id="265" r:id="rId12"/>
    <p:sldId id="268"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A9212D-504F-48E1-85F4-453429FE8416}" type="datetimeFigureOut">
              <a:rPr lang="zh-TW" altLang="en-US" smtClean="0"/>
              <a:t>2021/3/24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71D574-54BF-402E-8EB1-17E7F4C28C88}" type="slidenum">
              <a:rPr lang="zh-TW" altLang="en-US" smtClean="0"/>
              <a:t>‹#›</a:t>
            </a:fld>
            <a:endParaRPr lang="zh-TW" altLang="en-US"/>
          </a:p>
        </p:txBody>
      </p:sp>
    </p:spTree>
    <p:extLst>
      <p:ext uri="{BB962C8B-B14F-4D97-AF65-F5344CB8AC3E}">
        <p14:creationId xmlns:p14="http://schemas.microsoft.com/office/powerpoint/2010/main" val="1995732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571D574-54BF-402E-8EB1-17E7F4C28C88}" type="slidenum">
              <a:rPr lang="zh-TW" altLang="en-US" smtClean="0"/>
              <a:t>6</a:t>
            </a:fld>
            <a:endParaRPr lang="zh-TW" altLang="en-US"/>
          </a:p>
        </p:txBody>
      </p:sp>
    </p:spTree>
    <p:extLst>
      <p:ext uri="{BB962C8B-B14F-4D97-AF65-F5344CB8AC3E}">
        <p14:creationId xmlns:p14="http://schemas.microsoft.com/office/powerpoint/2010/main" val="4051253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1589D5-C22A-44A4-B49F-AF9B7EF4472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6A275F82-FDCC-4732-8D0D-52EF319680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ABA3780-DAA8-4F42-800B-E12A3ADC11B1}"/>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CDE5CB17-3219-497F-9E7E-865F4D4A94D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3038765-4735-4539-A712-B04E95E6759B}"/>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3536596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6CBA2D-8BF4-4611-B711-DA24459ACC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04BFCFE-F5F2-473D-BA84-7AF4CB2D572C}"/>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4D9EF12-BF75-4881-89E0-93B4D1C2F280}"/>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BBEF5DDC-4750-41DF-B4B2-73C6D73905A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D8BC348-1E70-426E-96A2-8A60032DFD99}"/>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3667702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4730BD-3A9F-4D57-86D1-8DBDC09ACA7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9A903E9D-1152-4C13-B984-AA75184E59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9E27661-665F-4878-B6F2-DF5EEB20C394}"/>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61A62B59-B50A-4F89-80A8-2BEF99B2AE5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3B8D593-D58E-4D62-A5C2-E72F3C002D22}"/>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408899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3EC14A-0E61-4A78-AD09-72BC3BCA7E8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58E06E0-4236-43BB-978C-6EF4295B40C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AC8522A-56B7-4F84-BEBF-926FFFDC845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D57A89B-69D8-4020-82C4-195A519AA91C}"/>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6" name="頁尾版面配置區 5">
            <a:extLst>
              <a:ext uri="{FF2B5EF4-FFF2-40B4-BE49-F238E27FC236}">
                <a16:creationId xmlns:a16="http://schemas.microsoft.com/office/drawing/2014/main" id="{6AAD7B51-C053-4ED2-8284-44AFC513B26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BF06D97-AAEF-427F-8FC6-682D18E2C0B1}"/>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1509143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681379-D568-4D78-A27C-4366B6DE61F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ACDBCBF-32B3-4233-A459-ACC93FDF8E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98FA5A6-44C4-4B5D-A52B-5E658628FBFE}"/>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440A43EE-E44F-44E9-9F07-E01AEC8FCF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6526A100-12C3-47B5-B074-2750306FA43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F6E0F05-8145-4803-9DEC-97A1CF5B0C37}"/>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8" name="頁尾版面配置區 7">
            <a:extLst>
              <a:ext uri="{FF2B5EF4-FFF2-40B4-BE49-F238E27FC236}">
                <a16:creationId xmlns:a16="http://schemas.microsoft.com/office/drawing/2014/main" id="{88D85CA3-FEA7-4F9F-A980-EC745EDA3B5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844165-65C9-493C-A12F-2BF17BDD6D93}"/>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59431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2E67AA-385B-4C1D-9DE5-7A81B4BB2BA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78502883-62EB-475C-A99B-9183FA994E32}"/>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4" name="頁尾版面配置區 3">
            <a:extLst>
              <a:ext uri="{FF2B5EF4-FFF2-40B4-BE49-F238E27FC236}">
                <a16:creationId xmlns:a16="http://schemas.microsoft.com/office/drawing/2014/main" id="{7CD5B448-3378-4369-9BC0-A4248455A0F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CAC5A88-C824-4DB3-B58A-BC34F2D61CCE}"/>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3148504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D998866-5C72-4E75-A855-444D5B13283B}"/>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3" name="頁尾版面配置區 2">
            <a:extLst>
              <a:ext uri="{FF2B5EF4-FFF2-40B4-BE49-F238E27FC236}">
                <a16:creationId xmlns:a16="http://schemas.microsoft.com/office/drawing/2014/main" id="{3B479D9C-B46D-45B3-BE82-554F067B95A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201716C-FAEE-43EA-B005-775C02090AB4}"/>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85070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CE6748-A15A-48A9-BD2F-925BFA17A0F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D0C6A185-E9DF-494C-AFE0-02B0416F44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6F3ACB7-D042-4FBC-B4F8-5C655E94A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787379F-B3F6-4A87-8FB9-6187FCC8D180}"/>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6" name="頁尾版面配置區 5">
            <a:extLst>
              <a:ext uri="{FF2B5EF4-FFF2-40B4-BE49-F238E27FC236}">
                <a16:creationId xmlns:a16="http://schemas.microsoft.com/office/drawing/2014/main" id="{214E1792-C982-4C7B-975E-4215CE547A9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86F629B-06AD-4B93-800F-0EAA2919B38D}"/>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3394161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221134-BE91-4E11-9758-C2E51FC4219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E736FD7-7431-4250-882B-E85DEE2A79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2A40703-7B97-40FF-8E35-3954B9406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0998DFA-9258-4425-BDBD-E0A236E8BBF8}"/>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6" name="頁尾版面配置區 5">
            <a:extLst>
              <a:ext uri="{FF2B5EF4-FFF2-40B4-BE49-F238E27FC236}">
                <a16:creationId xmlns:a16="http://schemas.microsoft.com/office/drawing/2014/main" id="{833EFCD7-DBD8-4589-A0BA-B7393BA6F9C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BE82B8C-06DF-4A50-8BDF-950CD59747AC}"/>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2177938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EE5A9A-C973-4BCB-9E9B-FC85DB1E006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230BAAA-4D48-4374-8C64-94C4ACB6AE29}"/>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1F14E96-3D3E-43C1-8618-028156D67674}"/>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52B78247-258A-496B-BF94-7932B78DC17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3F3A59D-0226-4C2B-B60C-CB6C95412902}"/>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67957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DDABBC4-9B5A-46D6-B853-3B8A71B1DBD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761BC1F-07F6-43A3-8C1B-26DB205A9BD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D475AAA-DABF-421C-ABB2-14E998E1CDD7}"/>
              </a:ext>
            </a:extLst>
          </p:cNvPr>
          <p:cNvSpPr>
            <a:spLocks noGrp="1"/>
          </p:cNvSpPr>
          <p:nvPr>
            <p:ph type="dt" sz="half" idx="10"/>
          </p:nvPr>
        </p:nvSpPr>
        <p:spPr/>
        <p:txBody>
          <a:bodyPr/>
          <a:lstStyle/>
          <a:p>
            <a:fld id="{6BC2F56C-9360-44D3-9FEB-2D103BE2CCD1}"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98871E16-2AF0-4515-B4A5-E9DFEE98DB1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530B0A1-7181-42E0-A4AC-4F72A6E1D7B7}"/>
              </a:ext>
            </a:extLst>
          </p:cNvPr>
          <p:cNvSpPr>
            <a:spLocks noGrp="1"/>
          </p:cNvSpPr>
          <p:nvPr>
            <p:ph type="sldNum" sz="quarter" idx="12"/>
          </p:nvPr>
        </p:nvSpPr>
        <p:spPr/>
        <p:txBody>
          <a:body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1563265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DEBAAFD-09C2-4B8B-B9E7-BE3227223D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989327D-1C4D-4B88-9CAE-18BC5546E6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AB2B966-4E5A-4F99-9723-D90F58C42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2F56C-9360-44D3-9FEB-2D103BE2CCD1}"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902EF123-C8A8-4D28-8994-31531CA69E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2F96946-0B8E-4D28-BD39-0FEFDD8592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67CB3B-4693-4D42-9594-E253F96F6AD3}" type="slidenum">
              <a:rPr lang="zh-TW" altLang="en-US" smtClean="0"/>
              <a:t>‹#›</a:t>
            </a:fld>
            <a:endParaRPr lang="zh-TW" altLang="en-US"/>
          </a:p>
        </p:txBody>
      </p:sp>
    </p:spTree>
    <p:extLst>
      <p:ext uri="{BB962C8B-B14F-4D97-AF65-F5344CB8AC3E}">
        <p14:creationId xmlns:p14="http://schemas.microsoft.com/office/powerpoint/2010/main" val="2028569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3F36A9-799F-4429-A77C-59A180A6110E}"/>
              </a:ext>
            </a:extLst>
          </p:cNvPr>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Detecting Road Intersections from GPS Traces Using Longest Common Subsequence Algorithm</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9A9BD9D1-A22C-42CA-ADD1-B0E2742198BA}"/>
              </a:ext>
            </a:extLst>
          </p:cNvPr>
          <p:cNvSpPr>
            <a:spLocks noGrp="1"/>
          </p:cNvSpPr>
          <p:nvPr>
            <p:ph type="subTitle" idx="1"/>
          </p:nvPr>
        </p:nvSpPr>
        <p:spPr>
          <a:xfrm>
            <a:off x="1524000" y="3939389"/>
            <a:ext cx="9144000" cy="1655762"/>
          </a:xfrm>
        </p:spPr>
        <p:txBody>
          <a:bodyPr>
            <a:normAutofit/>
          </a:bodyPr>
          <a:lstStyle/>
          <a:p>
            <a:r>
              <a:rPr lang="en-US" altLang="zh-TW" sz="2800" dirty="0" err="1">
                <a:latin typeface="Times New Roman" panose="02020603050405020304" pitchFamily="18" charset="0"/>
                <a:ea typeface="Tahoma" panose="020B0604030504040204" pitchFamily="34" charset="0"/>
                <a:cs typeface="Times New Roman" panose="02020603050405020304" pitchFamily="18" charset="0"/>
              </a:rPr>
              <a:t>Xingzhe</a:t>
            </a: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800" dirty="0" err="1">
                <a:latin typeface="Times New Roman" panose="02020603050405020304" pitchFamily="18" charset="0"/>
                <a:ea typeface="Tahoma" panose="020B0604030504040204" pitchFamily="34" charset="0"/>
                <a:cs typeface="Times New Roman" panose="02020603050405020304" pitchFamily="18" charset="0"/>
              </a:rPr>
              <a:t>Xie</a:t>
            </a: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800" dirty="0" err="1">
                <a:latin typeface="Times New Roman" panose="02020603050405020304" pitchFamily="18" charset="0"/>
                <a:ea typeface="Tahoma" panose="020B0604030504040204" pitchFamily="34" charset="0"/>
                <a:cs typeface="Times New Roman" panose="02020603050405020304" pitchFamily="18" charset="0"/>
              </a:rPr>
              <a:t>Wenzhi</a:t>
            </a: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Liao, Hamid </a:t>
            </a:r>
            <a:r>
              <a:rPr lang="en-US" altLang="zh-TW" sz="2800" dirty="0" err="1">
                <a:latin typeface="Times New Roman" panose="02020603050405020304" pitchFamily="18" charset="0"/>
                <a:ea typeface="Tahoma" panose="020B0604030504040204" pitchFamily="34" charset="0"/>
                <a:cs typeface="Times New Roman" panose="02020603050405020304" pitchFamily="18" charset="0"/>
              </a:rPr>
              <a:t>Aghajan</a:t>
            </a: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Peter </a:t>
            </a:r>
            <a:r>
              <a:rPr lang="en-US" altLang="zh-TW" sz="2800" dirty="0" err="1">
                <a:latin typeface="Times New Roman" panose="02020603050405020304" pitchFamily="18" charset="0"/>
                <a:ea typeface="Tahoma" panose="020B0604030504040204" pitchFamily="34" charset="0"/>
                <a:cs typeface="Times New Roman" panose="02020603050405020304" pitchFamily="18" charset="0"/>
              </a:rPr>
              <a:t>Veelaert</a:t>
            </a: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and Wilfried Philips</a:t>
            </a:r>
          </a:p>
          <a:p>
            <a:r>
              <a:rPr lang="en-US" altLang="zh-TW" dirty="0">
                <a:solidFill>
                  <a:srgbClr val="1A1A1A"/>
                </a:solidFill>
                <a:effectLst/>
                <a:latin typeface="Times New Roman" panose="02020603050405020304" pitchFamily="18" charset="0"/>
                <a:cs typeface="Times New Roman" panose="02020603050405020304" pitchFamily="18" charset="0"/>
              </a:rPr>
              <a:t>International Journal of Geo-Information Vol.6 No.1 2017</a:t>
            </a:r>
            <a:r>
              <a:rPr lang="en-US" altLang="zh-TW" sz="2000" dirty="0">
                <a:solidFill>
                  <a:srgbClr val="1A1A1A"/>
                </a:solidFill>
                <a:effectLst/>
                <a:latin typeface="Times New Roman" panose="02020603050405020304" pitchFamily="18" charset="0"/>
                <a:cs typeface="Times New Roman" panose="02020603050405020304" pitchFamily="18" charset="0"/>
              </a:rPr>
              <a:t> </a:t>
            </a:r>
          </a:p>
          <a:p>
            <a:endParaRPr lang="zh-TW" altLang="en-US" sz="2800" dirty="0">
              <a:latin typeface="Times New Roman" panose="02020603050405020304" pitchFamily="18" charset="0"/>
              <a:cs typeface="Times New Roman" panose="02020603050405020304" pitchFamily="18" charset="0"/>
            </a:endParaRPr>
          </a:p>
        </p:txBody>
      </p:sp>
      <p:sp>
        <p:nvSpPr>
          <p:cNvPr id="4" name="矩形 1">
            <a:extLst>
              <a:ext uri="{FF2B5EF4-FFF2-40B4-BE49-F238E27FC236}">
                <a16:creationId xmlns:a16="http://schemas.microsoft.com/office/drawing/2014/main" id="{D4C554C9-03E2-4F36-9AB7-103B77127A39}"/>
              </a:ext>
            </a:extLst>
          </p:cNvPr>
          <p:cNvSpPr>
            <a:spLocks noChangeArrowheads="1"/>
          </p:cNvSpPr>
          <p:nvPr/>
        </p:nvSpPr>
        <p:spPr bwMode="auto">
          <a:xfrm>
            <a:off x="8475681" y="5876925"/>
            <a:ext cx="264636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Presenter: </a:t>
            </a:r>
            <a:r>
              <a:rPr lang="en-US" altLang="zh-TW" sz="1800" dirty="0" err="1">
                <a:latin typeface="Times New Roman" panose="02020603050405020304" pitchFamily="18" charset="0"/>
                <a:cs typeface="Times New Roman" panose="02020603050405020304" pitchFamily="18" charset="0"/>
              </a:rPr>
              <a:t>En</a:t>
            </a:r>
            <a:r>
              <a:rPr lang="en-US" altLang="zh-TW" sz="1800" dirty="0">
                <a:latin typeface="Times New Roman" panose="02020603050405020304" pitchFamily="18" charset="0"/>
                <a:cs typeface="Times New Roman" panose="02020603050405020304" pitchFamily="18" charset="0"/>
              </a:rPr>
              <a:t>-An Sung</a:t>
            </a:r>
          </a:p>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Date: March 24, 2021</a:t>
            </a:r>
          </a:p>
        </p:txBody>
      </p:sp>
    </p:spTree>
    <p:extLst>
      <p:ext uri="{BB962C8B-B14F-4D97-AF65-F5344CB8AC3E}">
        <p14:creationId xmlns:p14="http://schemas.microsoft.com/office/powerpoint/2010/main" val="2655821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977A8D-74F1-47D8-B318-81DB353503D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83C5485-3343-4246-919E-5C758C1C514C}"/>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Intersections are important components of road networks, which are critical to both route planning and path optimization. Most existing methods define the intersections as locations where the road users change their moving directions and identify the intersections from GPS traces through analyzing the road users’ turning behaviors. However, these methods suffer from finding an appropriate threshold for the moving direction change, leading to true intersections being undetected or spurious intersections being falsely detected. In this paper, the intersections are defined as locations that connect three or more road segments in different directions.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4758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90ADA4-E6CA-42AF-B851-64AE7C605AA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601B6DF-F1B0-4583-BF37-BE14159E2258}"/>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We propose to detect the intersections under this definition by finding the common sub-tracks of the GPS traces. We first detect the Longest Common Subsequences (LCSS) between each pair of GPS traces using the dynamic programming approach. Second, we partition the longest nonconsecutive subsequences into consecutive sub-tracks. The starting and ending points of the common sub-tracks are collected as connecting points. At last, intersections are detected from the connecting points through Kernel Density Estimation (KDE). Experimental results show that our proposed method outperforms the turning point-based methods in terms of the F-score.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535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BF78A2-B87F-4BA8-9E3B-1071BB770EE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Detecting Road Intersections</a:t>
            </a:r>
            <a:endParaRPr lang="zh-TW" altLang="en-US" dirty="0"/>
          </a:p>
        </p:txBody>
      </p:sp>
      <p:pic>
        <p:nvPicPr>
          <p:cNvPr id="5" name="圖片 4">
            <a:extLst>
              <a:ext uri="{FF2B5EF4-FFF2-40B4-BE49-F238E27FC236}">
                <a16:creationId xmlns:a16="http://schemas.microsoft.com/office/drawing/2014/main" id="{95DFC521-CFA5-47E3-B60D-79A7381B4D9A}"/>
              </a:ext>
            </a:extLst>
          </p:cNvPr>
          <p:cNvPicPr>
            <a:picLocks noChangeAspect="1"/>
          </p:cNvPicPr>
          <p:nvPr/>
        </p:nvPicPr>
        <p:blipFill>
          <a:blip r:embed="rId2"/>
          <a:stretch>
            <a:fillRect/>
          </a:stretch>
        </p:blipFill>
        <p:spPr>
          <a:xfrm>
            <a:off x="2500604" y="1432626"/>
            <a:ext cx="6985518" cy="5425374"/>
          </a:xfrm>
          <a:prstGeom prst="rect">
            <a:avLst/>
          </a:prstGeom>
        </p:spPr>
      </p:pic>
      <p:sp>
        <p:nvSpPr>
          <p:cNvPr id="6" name="橢圓 5">
            <a:extLst>
              <a:ext uri="{FF2B5EF4-FFF2-40B4-BE49-F238E27FC236}">
                <a16:creationId xmlns:a16="http://schemas.microsoft.com/office/drawing/2014/main" id="{8E2A5B08-0AA3-4977-8781-3255B6322E9D}"/>
              </a:ext>
            </a:extLst>
          </p:cNvPr>
          <p:cNvSpPr/>
          <p:nvPr/>
        </p:nvSpPr>
        <p:spPr>
          <a:xfrm>
            <a:off x="6335486" y="3223726"/>
            <a:ext cx="438538" cy="41054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96ACE9AD-EF9E-421F-8EA4-2BFE757E6C21}"/>
              </a:ext>
            </a:extLst>
          </p:cNvPr>
          <p:cNvSpPr/>
          <p:nvPr/>
        </p:nvSpPr>
        <p:spPr>
          <a:xfrm>
            <a:off x="6656563" y="4547978"/>
            <a:ext cx="438538" cy="41054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20042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E3D33B7-08E8-4378-A504-1CBD57F39F03}"/>
              </a:ext>
            </a:extLst>
          </p:cNvPr>
          <p:cNvPicPr>
            <a:picLocks noChangeAspect="1"/>
          </p:cNvPicPr>
          <p:nvPr/>
        </p:nvPicPr>
        <p:blipFill>
          <a:blip r:embed="rId2"/>
          <a:stretch>
            <a:fillRect/>
          </a:stretch>
        </p:blipFill>
        <p:spPr>
          <a:xfrm>
            <a:off x="1543606" y="1095561"/>
            <a:ext cx="9104788" cy="5682496"/>
          </a:xfrm>
          <a:prstGeom prst="rect">
            <a:avLst/>
          </a:prstGeom>
        </p:spPr>
      </p:pic>
      <p:sp>
        <p:nvSpPr>
          <p:cNvPr id="6" name="標題 1">
            <a:extLst>
              <a:ext uri="{FF2B5EF4-FFF2-40B4-BE49-F238E27FC236}">
                <a16:creationId xmlns:a16="http://schemas.microsoft.com/office/drawing/2014/main" id="{B50D7C23-B2B0-4E4E-B1B8-8572CB8068AC}"/>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Detecting Road Intersections</a:t>
            </a:r>
            <a:endParaRPr lang="zh-TW" altLang="en-US" dirty="0"/>
          </a:p>
        </p:txBody>
      </p:sp>
    </p:spTree>
    <p:extLst>
      <p:ext uri="{BB962C8B-B14F-4D97-AF65-F5344CB8AC3E}">
        <p14:creationId xmlns:p14="http://schemas.microsoft.com/office/powerpoint/2010/main" val="139631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BEC19AA-99D9-4F02-BF7D-87202BCC6C9F}"/>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Detecting Road Intersections</a:t>
            </a:r>
            <a:endParaRPr lang="zh-TW" altLang="en-US" dirty="0"/>
          </a:p>
        </p:txBody>
      </p:sp>
      <p:pic>
        <p:nvPicPr>
          <p:cNvPr id="6" name="圖片 5">
            <a:extLst>
              <a:ext uri="{FF2B5EF4-FFF2-40B4-BE49-F238E27FC236}">
                <a16:creationId xmlns:a16="http://schemas.microsoft.com/office/drawing/2014/main" id="{11797A39-0C11-4F86-899F-881471601952}"/>
              </a:ext>
            </a:extLst>
          </p:cNvPr>
          <p:cNvPicPr>
            <a:picLocks noChangeAspect="1"/>
          </p:cNvPicPr>
          <p:nvPr/>
        </p:nvPicPr>
        <p:blipFill>
          <a:blip r:embed="rId3"/>
          <a:stretch>
            <a:fillRect/>
          </a:stretch>
        </p:blipFill>
        <p:spPr>
          <a:xfrm>
            <a:off x="570574" y="1819966"/>
            <a:ext cx="10880762" cy="1609034"/>
          </a:xfrm>
          <a:prstGeom prst="rect">
            <a:avLst/>
          </a:prstGeom>
        </p:spPr>
      </p:pic>
      <p:pic>
        <p:nvPicPr>
          <p:cNvPr id="8" name="圖片 7">
            <a:extLst>
              <a:ext uri="{FF2B5EF4-FFF2-40B4-BE49-F238E27FC236}">
                <a16:creationId xmlns:a16="http://schemas.microsoft.com/office/drawing/2014/main" id="{B83E871E-718C-47AF-823D-1C28DDEF20F5}"/>
              </a:ext>
            </a:extLst>
          </p:cNvPr>
          <p:cNvPicPr>
            <a:picLocks noChangeAspect="1"/>
          </p:cNvPicPr>
          <p:nvPr/>
        </p:nvPicPr>
        <p:blipFill>
          <a:blip r:embed="rId4"/>
          <a:stretch>
            <a:fillRect/>
          </a:stretch>
        </p:blipFill>
        <p:spPr>
          <a:xfrm>
            <a:off x="838200" y="4224163"/>
            <a:ext cx="2705478" cy="1971950"/>
          </a:xfrm>
          <a:prstGeom prst="rect">
            <a:avLst/>
          </a:prstGeom>
        </p:spPr>
      </p:pic>
      <p:sp>
        <p:nvSpPr>
          <p:cNvPr id="9" name="文字方塊 8">
            <a:extLst>
              <a:ext uri="{FF2B5EF4-FFF2-40B4-BE49-F238E27FC236}">
                <a16:creationId xmlns:a16="http://schemas.microsoft.com/office/drawing/2014/main" id="{4A777B67-B16C-4C18-A268-C437D0AD95FC}"/>
              </a:ext>
            </a:extLst>
          </p:cNvPr>
          <p:cNvSpPr txBox="1"/>
          <p:nvPr/>
        </p:nvSpPr>
        <p:spPr>
          <a:xfrm>
            <a:off x="4086691" y="4224163"/>
            <a:ext cx="2112885" cy="369332"/>
          </a:xfrm>
          <a:prstGeom prst="rect">
            <a:avLst/>
          </a:prstGeom>
          <a:noFill/>
        </p:spPr>
        <p:txBody>
          <a:bodyPr wrap="square" rtlCol="0">
            <a:spAutoFit/>
          </a:bodyPr>
          <a:lstStyle/>
          <a:p>
            <a:r>
              <a:rPr lang="zh-TW"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Distance threshold</a:t>
            </a:r>
            <a:endParaRPr lang="zh-TW" altLang="en-US" dirty="0">
              <a:latin typeface="Times New Roman" panose="02020603050405020304" pitchFamily="18" charset="0"/>
              <a:cs typeface="Times New Roman" panose="02020603050405020304" pitchFamily="18" charset="0"/>
            </a:endParaRPr>
          </a:p>
        </p:txBody>
      </p:sp>
      <p:cxnSp>
        <p:nvCxnSpPr>
          <p:cNvPr id="11" name="直線單箭頭接點 10">
            <a:extLst>
              <a:ext uri="{FF2B5EF4-FFF2-40B4-BE49-F238E27FC236}">
                <a16:creationId xmlns:a16="http://schemas.microsoft.com/office/drawing/2014/main" id="{FBC88696-7FBF-4CC2-B603-BA313BA5E690}"/>
              </a:ext>
            </a:extLst>
          </p:cNvPr>
          <p:cNvCxnSpPr>
            <a:stCxn id="9" idx="1"/>
          </p:cNvCxnSpPr>
          <p:nvPr/>
        </p:nvCxnSpPr>
        <p:spPr>
          <a:xfrm flipH="1">
            <a:off x="3056882" y="4408829"/>
            <a:ext cx="1029809" cy="211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F7608557-3B30-409A-863B-23B96D92B5B4}"/>
              </a:ext>
            </a:extLst>
          </p:cNvPr>
          <p:cNvSpPr txBox="1"/>
          <p:nvPr/>
        </p:nvSpPr>
        <p:spPr>
          <a:xfrm>
            <a:off x="4086691" y="5628315"/>
            <a:ext cx="2112885" cy="369332"/>
          </a:xfrm>
          <a:prstGeom prst="rect">
            <a:avLst/>
          </a:prstGeom>
          <a:noFill/>
        </p:spPr>
        <p:txBody>
          <a:bodyPr wrap="square" rtlCol="0">
            <a:spAutoFit/>
          </a:bodyPr>
          <a:lstStyle/>
          <a:p>
            <a:r>
              <a:rPr lang="zh-TW"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a:latin typeface="Times New Roman" panose="02020603050405020304" pitchFamily="18" charset="0"/>
                <a:cs typeface="Times New Roman" panose="02020603050405020304" pitchFamily="18" charset="0"/>
                <a:sym typeface="Symbol" panose="05050102010706020507" pitchFamily="18" charset="2"/>
              </a:rPr>
              <a:t>Distance threshold</a:t>
            </a:r>
            <a:endParaRPr lang="zh-TW" altLang="en-US" dirty="0">
              <a:latin typeface="Times New Roman" panose="02020603050405020304" pitchFamily="18" charset="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B92E8628-9D69-40D1-BECA-D9D3BFFCF52D}"/>
              </a:ext>
            </a:extLst>
          </p:cNvPr>
          <p:cNvCxnSpPr>
            <a:stCxn id="12" idx="1"/>
          </p:cNvCxnSpPr>
          <p:nvPr/>
        </p:nvCxnSpPr>
        <p:spPr>
          <a:xfrm flipH="1">
            <a:off x="3056882" y="5812981"/>
            <a:ext cx="1029809" cy="211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21EB7F52-7BA3-41F1-A303-4EE128353461}"/>
              </a:ext>
            </a:extLst>
          </p:cNvPr>
          <p:cNvSpPr txBox="1"/>
          <p:nvPr/>
        </p:nvSpPr>
        <p:spPr>
          <a:xfrm>
            <a:off x="7190168" y="4797318"/>
            <a:ext cx="2916311"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Distance threshold</a:t>
            </a:r>
          </a:p>
          <a:p>
            <a:pPr marL="800100" lvl="1"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GPS pattern</a:t>
            </a:r>
          </a:p>
          <a:p>
            <a:pPr marL="800100" lvl="1"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Road width</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2823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A535E3-3B78-4321-A64D-52B66D889D0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False Positive Intersection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816A48E-2F0D-4447-AEA9-E791C551E011}"/>
              </a:ext>
            </a:extLst>
          </p:cNvPr>
          <p:cNvSpPr>
            <a:spLocks noGrp="1"/>
          </p:cNvSpPr>
          <p:nvPr>
            <p:ph idx="1"/>
          </p:nvPr>
        </p:nvSpPr>
        <p:spPr>
          <a:xfrm>
            <a:off x="838200" y="4494724"/>
            <a:ext cx="10515600" cy="2095130"/>
          </a:xfrm>
        </p:spPr>
        <p:txBody>
          <a:bodyPr/>
          <a:lstStyle/>
          <a:p>
            <a:pPr marL="0" indent="0">
              <a:buNone/>
            </a:pPr>
            <a:r>
              <a:rPr lang="en-US" altLang="zh-TW" dirty="0">
                <a:latin typeface="Times New Roman" panose="02020603050405020304" pitchFamily="18" charset="0"/>
                <a:cs typeface="Times New Roman" panose="02020603050405020304" pitchFamily="18" charset="0"/>
              </a:rPr>
              <a:t>A false positive intersection. One intersection candidate in the red circle is detected from the connecting points in green dots. It is a false positive because all of the connecting points are produced from 152 traces interconnecting with one single trace.</a:t>
            </a:r>
          </a:p>
          <a:p>
            <a:pPr marL="0" indent="0">
              <a:buNone/>
            </a:pP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9" name="圖片 8">
            <a:extLst>
              <a:ext uri="{FF2B5EF4-FFF2-40B4-BE49-F238E27FC236}">
                <a16:creationId xmlns:a16="http://schemas.microsoft.com/office/drawing/2014/main" id="{2DDD056A-CC5C-4253-B2F9-C164594E326F}"/>
              </a:ext>
            </a:extLst>
          </p:cNvPr>
          <p:cNvPicPr>
            <a:picLocks noChangeAspect="1"/>
          </p:cNvPicPr>
          <p:nvPr/>
        </p:nvPicPr>
        <p:blipFill>
          <a:blip r:embed="rId2"/>
          <a:stretch>
            <a:fillRect/>
          </a:stretch>
        </p:blipFill>
        <p:spPr>
          <a:xfrm>
            <a:off x="838200" y="1315711"/>
            <a:ext cx="4294435" cy="2908545"/>
          </a:xfrm>
          <a:prstGeom prst="rect">
            <a:avLst/>
          </a:prstGeom>
        </p:spPr>
      </p:pic>
      <p:sp>
        <p:nvSpPr>
          <p:cNvPr id="10" name="橢圓 9">
            <a:extLst>
              <a:ext uri="{FF2B5EF4-FFF2-40B4-BE49-F238E27FC236}">
                <a16:creationId xmlns:a16="http://schemas.microsoft.com/office/drawing/2014/main" id="{FBA44A4C-949B-4B43-992F-B1359748D61E}"/>
              </a:ext>
            </a:extLst>
          </p:cNvPr>
          <p:cNvSpPr/>
          <p:nvPr/>
        </p:nvSpPr>
        <p:spPr>
          <a:xfrm>
            <a:off x="2636668" y="2661156"/>
            <a:ext cx="479394" cy="48812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a:extLst>
              <a:ext uri="{FF2B5EF4-FFF2-40B4-BE49-F238E27FC236}">
                <a16:creationId xmlns:a16="http://schemas.microsoft.com/office/drawing/2014/main" id="{2CF561B0-A493-4C8D-BA2C-E3686AE7DD76}"/>
              </a:ext>
            </a:extLst>
          </p:cNvPr>
          <p:cNvCxnSpPr/>
          <p:nvPr/>
        </p:nvCxnSpPr>
        <p:spPr>
          <a:xfrm flipH="1">
            <a:off x="3169328" y="2807561"/>
            <a:ext cx="205074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ACF6792C-214B-46BF-B6DF-78002047D6B2}"/>
              </a:ext>
            </a:extLst>
          </p:cNvPr>
          <p:cNvSpPr txBox="1"/>
          <p:nvPr/>
        </p:nvSpPr>
        <p:spPr>
          <a:xfrm>
            <a:off x="5442012" y="2622895"/>
            <a:ext cx="4438779" cy="369332"/>
          </a:xfrm>
          <a:prstGeom prst="rect">
            <a:avLst/>
          </a:prstGeom>
          <a:noFill/>
        </p:spPr>
        <p:txBody>
          <a:bodyPr wrap="non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removed</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sould</a:t>
            </a:r>
            <a:r>
              <a:rPr lang="en-US" altLang="zh-TW" dirty="0">
                <a:latin typeface="Times New Roman" panose="02020603050405020304" pitchFamily="18" charset="0"/>
                <a:cs typeface="Times New Roman" panose="02020603050405020304" pitchFamily="18" charset="0"/>
              </a:rPr>
              <a:t> be confirmed by more traces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0870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DBA9FD-B214-4C59-AC1E-AFD45AE24A9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Another method</a:t>
            </a:r>
            <a:endParaRPr lang="zh-TW" altLang="en-US"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FB7986F3-592D-4207-AA90-92D28DBC3611}"/>
              </a:ext>
            </a:extLst>
          </p:cNvPr>
          <p:cNvSpPr>
            <a:spLocks noGrp="1"/>
          </p:cNvSpPr>
          <p:nvPr>
            <p:ph idx="1"/>
          </p:nvPr>
        </p:nvSpPr>
        <p:spPr>
          <a:xfrm>
            <a:off x="838200" y="1825625"/>
            <a:ext cx="10515600" cy="4351338"/>
          </a:xfrm>
        </p:spPr>
        <p:txBody>
          <a:bodyPr/>
          <a:lstStyle/>
          <a:p>
            <a:r>
              <a:rPr lang="en-US" altLang="zh-TW" dirty="0">
                <a:latin typeface="Times New Roman" panose="02020603050405020304" pitchFamily="18" charset="0"/>
                <a:cs typeface="Times New Roman" panose="02020603050405020304" pitchFamily="18" charset="0"/>
              </a:rPr>
              <a:t>Moving speed</a:t>
            </a:r>
          </a:p>
          <a:p>
            <a:r>
              <a:rPr lang="en-US" altLang="zh-TW" dirty="0">
                <a:latin typeface="Times New Roman" panose="02020603050405020304" pitchFamily="18" charset="0"/>
                <a:cs typeface="Times New Roman" panose="02020603050405020304" pitchFamily="18" charset="0"/>
              </a:rPr>
              <a:t>Moving directions</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Conflict point, two or more (GPS) trace across</a:t>
            </a:r>
          </a:p>
          <a:p>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6" name="右大括弧 5">
            <a:extLst>
              <a:ext uri="{FF2B5EF4-FFF2-40B4-BE49-F238E27FC236}">
                <a16:creationId xmlns:a16="http://schemas.microsoft.com/office/drawing/2014/main" id="{34F288EC-45C6-4A5F-A099-58694C30EEE3}"/>
              </a:ext>
            </a:extLst>
          </p:cNvPr>
          <p:cNvSpPr/>
          <p:nvPr/>
        </p:nvSpPr>
        <p:spPr>
          <a:xfrm>
            <a:off x="4208016" y="1961965"/>
            <a:ext cx="186431" cy="79899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ECA05042-AB5F-4A64-9934-B0138890FD66}"/>
              </a:ext>
            </a:extLst>
          </p:cNvPr>
          <p:cNvSpPr txBox="1"/>
          <p:nvPr/>
        </p:nvSpPr>
        <p:spPr>
          <a:xfrm>
            <a:off x="4634144" y="2176794"/>
            <a:ext cx="3444536"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cs typeface="Times New Roman" panose="02020603050405020304" pitchFamily="18" charset="0"/>
              </a:rPr>
              <a:t>困難點</a:t>
            </a:r>
            <a:r>
              <a:rPr lang="zh-TW" altLang="en-US" dirty="0"/>
              <a:t>：</a:t>
            </a:r>
            <a:r>
              <a:rPr lang="en-US" altLang="zh-TW" dirty="0">
                <a:latin typeface="Times New Roman" panose="02020603050405020304" pitchFamily="18" charset="0"/>
                <a:cs typeface="Times New Roman" panose="02020603050405020304" pitchFamily="18" charset="0"/>
              </a:rPr>
              <a:t>Threshold</a:t>
            </a:r>
            <a:r>
              <a:rPr lang="zh-TW" altLang="en-US" dirty="0">
                <a:latin typeface="標楷體" panose="03000509000000000000" pitchFamily="65" charset="-120"/>
                <a:ea typeface="標楷體" panose="03000509000000000000" pitchFamily="65" charset="-120"/>
              </a:rPr>
              <a:t>的設定</a:t>
            </a:r>
          </a:p>
        </p:txBody>
      </p:sp>
    </p:spTree>
    <p:extLst>
      <p:ext uri="{BB962C8B-B14F-4D97-AF65-F5344CB8AC3E}">
        <p14:creationId xmlns:p14="http://schemas.microsoft.com/office/powerpoint/2010/main" val="2729229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A56461-B496-4B15-B33E-4313858BD86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Accuracy measure</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DE3C6BB-FED6-4A5A-AD3C-2AB2E8243D8A}"/>
              </a:ext>
            </a:extLst>
          </p:cNvPr>
          <p:cNvPicPr>
            <a:picLocks noChangeAspect="1"/>
          </p:cNvPicPr>
          <p:nvPr/>
        </p:nvPicPr>
        <p:blipFill>
          <a:blip r:embed="rId2"/>
          <a:stretch>
            <a:fillRect/>
          </a:stretch>
        </p:blipFill>
        <p:spPr>
          <a:xfrm>
            <a:off x="2169849" y="4001293"/>
            <a:ext cx="6449507" cy="1769191"/>
          </a:xfrm>
          <a:prstGeom prst="rect">
            <a:avLst/>
          </a:prstGeom>
        </p:spPr>
      </p:pic>
      <p:sp>
        <p:nvSpPr>
          <p:cNvPr id="6" name="內容版面配置區 2">
            <a:extLst>
              <a:ext uri="{FF2B5EF4-FFF2-40B4-BE49-F238E27FC236}">
                <a16:creationId xmlns:a16="http://schemas.microsoft.com/office/drawing/2014/main" id="{736DE48D-20EE-406D-9E1A-43CE66148311}"/>
              </a:ext>
            </a:extLst>
          </p:cNvPr>
          <p:cNvSpPr>
            <a:spLocks noGrp="1"/>
          </p:cNvSpPr>
          <p:nvPr>
            <p:ph idx="1"/>
          </p:nvPr>
        </p:nvSpPr>
        <p:spPr>
          <a:xfrm>
            <a:off x="838199" y="1825625"/>
            <a:ext cx="10969101" cy="4351338"/>
          </a:xfrm>
        </p:spPr>
        <p:txBody>
          <a:bodyPr/>
          <a:lstStyle/>
          <a:p>
            <a:r>
              <a:rPr lang="en-US" altLang="zh-TW" dirty="0">
                <a:latin typeface="Times New Roman" panose="02020603050405020304" pitchFamily="18" charset="0"/>
                <a:cs typeface="Times New Roman" panose="02020603050405020304" pitchFamily="18" charset="0"/>
              </a:rPr>
              <a:t>recall = </a:t>
            </a:r>
            <a:r>
              <a:rPr lang="en-US" altLang="zh-TW" dirty="0" err="1">
                <a:latin typeface="Times New Roman" panose="02020603050405020304" pitchFamily="18" charset="0"/>
                <a:cs typeface="Times New Roman" panose="02020603050405020304" pitchFamily="18" charset="0"/>
              </a:rPr>
              <a:t>I</a:t>
            </a:r>
            <a:r>
              <a:rPr lang="en-US" altLang="zh-TW" baseline="-25000" dirty="0" err="1">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baseline="-25000"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I</a:t>
            </a:r>
            <a:r>
              <a:rPr lang="en-US" altLang="zh-TW" baseline="-25000" dirty="0" err="1">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 m : missing(false negative), c : correct(true positive)</a:t>
            </a:r>
          </a:p>
          <a:p>
            <a:r>
              <a:rPr lang="en-US" altLang="zh-TW" dirty="0">
                <a:latin typeface="Times New Roman" panose="02020603050405020304" pitchFamily="18" charset="0"/>
                <a:cs typeface="Times New Roman" panose="02020603050405020304" pitchFamily="18" charset="0"/>
              </a:rPr>
              <a:t>precision = </a:t>
            </a:r>
            <a:r>
              <a:rPr lang="en-US" altLang="zh-TW" dirty="0" err="1">
                <a:latin typeface="Times New Roman" panose="02020603050405020304" pitchFamily="18" charset="0"/>
                <a:cs typeface="Times New Roman" panose="02020603050405020304" pitchFamily="18" charset="0"/>
              </a:rPr>
              <a:t>I</a:t>
            </a:r>
            <a:r>
              <a:rPr lang="en-US" altLang="zh-TW" baseline="-25000" dirty="0" err="1">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/(I</a:t>
            </a:r>
            <a:r>
              <a:rPr lang="en-US" altLang="zh-TW" baseline="-25000" dirty="0">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I</a:t>
            </a:r>
            <a:r>
              <a:rPr lang="en-US" altLang="zh-TW" baseline="-25000" dirty="0" err="1">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 s : spurious(false positive)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498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06AC39-EEE3-44C0-8910-0488DA3ED8A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 </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DFF290AF-B617-4BF6-BF36-56265469270D}"/>
              </a:ext>
            </a:extLst>
          </p:cNvPr>
          <p:cNvPicPr>
            <a:picLocks noChangeAspect="1"/>
          </p:cNvPicPr>
          <p:nvPr/>
        </p:nvPicPr>
        <p:blipFill>
          <a:blip r:embed="rId2"/>
          <a:stretch>
            <a:fillRect/>
          </a:stretch>
        </p:blipFill>
        <p:spPr>
          <a:xfrm>
            <a:off x="83598" y="2095552"/>
            <a:ext cx="5898695" cy="3698772"/>
          </a:xfrm>
          <a:prstGeom prst="rect">
            <a:avLst/>
          </a:prstGeom>
        </p:spPr>
      </p:pic>
      <p:pic>
        <p:nvPicPr>
          <p:cNvPr id="9" name="圖片 8">
            <a:extLst>
              <a:ext uri="{FF2B5EF4-FFF2-40B4-BE49-F238E27FC236}">
                <a16:creationId xmlns:a16="http://schemas.microsoft.com/office/drawing/2014/main" id="{BB0C9C36-C648-4288-812B-788A0079E299}"/>
              </a:ext>
            </a:extLst>
          </p:cNvPr>
          <p:cNvPicPr>
            <a:picLocks noChangeAspect="1"/>
          </p:cNvPicPr>
          <p:nvPr/>
        </p:nvPicPr>
        <p:blipFill>
          <a:blip r:embed="rId3"/>
          <a:stretch>
            <a:fillRect/>
          </a:stretch>
        </p:blipFill>
        <p:spPr>
          <a:xfrm>
            <a:off x="5982293" y="2157274"/>
            <a:ext cx="5855055" cy="3637050"/>
          </a:xfrm>
          <a:prstGeom prst="rect">
            <a:avLst/>
          </a:prstGeom>
        </p:spPr>
      </p:pic>
    </p:spTree>
    <p:extLst>
      <p:ext uri="{BB962C8B-B14F-4D97-AF65-F5344CB8AC3E}">
        <p14:creationId xmlns:p14="http://schemas.microsoft.com/office/powerpoint/2010/main" val="2791490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DAEE22-9B08-4FC2-8BA3-68FACE31170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370C984D-1251-4A6D-B426-DDBE9D833C47}"/>
              </a:ext>
            </a:extLst>
          </p:cNvPr>
          <p:cNvPicPr>
            <a:picLocks noChangeAspect="1"/>
          </p:cNvPicPr>
          <p:nvPr/>
        </p:nvPicPr>
        <p:blipFill>
          <a:blip r:embed="rId2"/>
          <a:stretch>
            <a:fillRect/>
          </a:stretch>
        </p:blipFill>
        <p:spPr>
          <a:xfrm>
            <a:off x="1083210" y="1637840"/>
            <a:ext cx="8586570" cy="3582320"/>
          </a:xfrm>
          <a:prstGeom prst="rect">
            <a:avLst/>
          </a:prstGeom>
        </p:spPr>
      </p:pic>
      <p:sp>
        <p:nvSpPr>
          <p:cNvPr id="7" name="文字方塊 6">
            <a:extLst>
              <a:ext uri="{FF2B5EF4-FFF2-40B4-BE49-F238E27FC236}">
                <a16:creationId xmlns:a16="http://schemas.microsoft.com/office/drawing/2014/main" id="{4787D32F-EDB5-4C6C-A469-E8BA53AEFD68}"/>
              </a:ext>
            </a:extLst>
          </p:cNvPr>
          <p:cNvSpPr txBox="1"/>
          <p:nvPr/>
        </p:nvSpPr>
        <p:spPr>
          <a:xfrm>
            <a:off x="2392680" y="5220160"/>
            <a:ext cx="3009900" cy="1200329"/>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Turning points</a:t>
            </a:r>
          </a:p>
          <a:p>
            <a:pPr marL="742950" lvl="1"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direction detection</a:t>
            </a:r>
          </a:p>
          <a:p>
            <a:pPr marL="742950" lvl="1"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speed detection </a:t>
            </a:r>
          </a:p>
          <a:p>
            <a:pPr marL="742950" lvl="1" indent="-285750">
              <a:buFont typeface="Arial" panose="020B0604020202020204" pitchFamily="34" charset="0"/>
              <a:buChar char="•"/>
            </a:pPr>
            <a:endParaRPr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25562573-7508-44B5-8938-96C0802AED04}"/>
              </a:ext>
            </a:extLst>
          </p:cNvPr>
          <p:cNvSpPr txBox="1"/>
          <p:nvPr/>
        </p:nvSpPr>
        <p:spPr>
          <a:xfrm>
            <a:off x="6530340" y="5220159"/>
            <a:ext cx="3009900"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This method of this paper</a:t>
            </a:r>
          </a:p>
          <a:p>
            <a:pPr marL="742950" lvl="1" indent="-285750">
              <a:buFont typeface="Arial" panose="020B0604020202020204" pitchFamily="34" charset="0"/>
              <a:buChar char="•"/>
            </a:pP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1511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DFA182-5C61-4DEE-A761-48E9181AD68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Conclusion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FDF0FDC-B198-412E-A460-6716CE016EBB}"/>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Computation Cost : N GPS traces, </a:t>
                </a:r>
                <a14:m>
                  <m:oMath xmlns:m="http://schemas.openxmlformats.org/officeDocument/2006/math">
                    <m:f>
                      <m:fPr>
                        <m:ctrlPr>
                          <a:rPr lang="pt-BR" altLang="zh-TW"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𝑁</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𝑁</m:t>
                        </m:r>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2</m:t>
                        </m:r>
                      </m:den>
                    </m:f>
                  </m:oMath>
                </a14:m>
                <a:r>
                  <a:rPr lang="en-US" altLang="zh-TW" dirty="0">
                    <a:latin typeface="Times New Roman" panose="02020603050405020304" pitchFamily="18" charset="0"/>
                    <a:cs typeface="Times New Roman" panose="02020603050405020304" pitchFamily="18" charset="0"/>
                  </a:rPr>
                  <a:t> pairwise traces are processed to detect the common sub-tracks</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Pre-process the GPS traces to reduce the computational cost</a:t>
                </a:r>
              </a:p>
              <a:p>
                <a:pPr lvl="1"/>
                <a:r>
                  <a:rPr lang="en-US" altLang="zh-TW" dirty="0">
                    <a:latin typeface="Times New Roman" panose="02020603050405020304" pitchFamily="18" charset="0"/>
                    <a:cs typeface="Times New Roman" panose="02020603050405020304" pitchFamily="18" charset="0"/>
                  </a:rPr>
                  <a:t>If there are no overlapping points found between two traces </a:t>
                </a:r>
              </a:p>
              <a:p>
                <a:pPr marL="0" indent="0">
                  <a:buNone/>
                </a:pP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FDF0FDC-B198-412E-A460-6716CE016EBB}"/>
                  </a:ext>
                </a:extLst>
              </p:cNvPr>
              <p:cNvSpPr>
                <a:spLocks noGrp="1" noRot="1" noChangeAspect="1" noMove="1" noResize="1" noEditPoints="1" noAdjustHandles="1" noChangeArrowheads="1" noChangeShapeType="1" noTextEdit="1"/>
              </p:cNvSpPr>
              <p:nvPr>
                <p:ph idx="1"/>
              </p:nvPr>
            </p:nvSpPr>
            <p:spPr>
              <a:blipFill>
                <a:blip r:embed="rId2"/>
                <a:stretch>
                  <a:fillRect l="-1043" t="-14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9945480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447</Words>
  <Application>Microsoft Office PowerPoint</Application>
  <PresentationFormat>寬螢幕</PresentationFormat>
  <Paragraphs>41</Paragraphs>
  <Slides>12</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標楷體</vt:lpstr>
      <vt:lpstr>Arial</vt:lpstr>
      <vt:lpstr>Calibri</vt:lpstr>
      <vt:lpstr>Calibri Light</vt:lpstr>
      <vt:lpstr>Cambria Math</vt:lpstr>
      <vt:lpstr>Times New Roman</vt:lpstr>
      <vt:lpstr>Office 佈景主題</vt:lpstr>
      <vt:lpstr>Detecting Road Intersections from GPS Traces Using Longest Common Subsequence Algorithm</vt:lpstr>
      <vt:lpstr>Abstract(1/2)</vt:lpstr>
      <vt:lpstr>Abstract(2/2)</vt:lpstr>
      <vt:lpstr>Detecting Road Intersections</vt:lpstr>
      <vt:lpstr>Detecting Road Intersections</vt:lpstr>
      <vt:lpstr>Detecting Road Intersections</vt:lpstr>
      <vt:lpstr>False Positive Intersection</vt:lpstr>
      <vt:lpstr>Another method</vt:lpstr>
      <vt:lpstr>Accuracy measure</vt:lpstr>
      <vt:lpstr>Experiment </vt:lpstr>
      <vt:lpstr>Experiment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Road Intersections from GPS Traces Using Longest Common Subsequence Algorithm</dc:title>
  <dc:creator>M083040074@o365.student.nsysu.edu.tw</dc:creator>
  <cp:lastModifiedBy>M083040074@o365.student.nsysu.edu.tw</cp:lastModifiedBy>
  <cp:revision>17</cp:revision>
  <dcterms:created xsi:type="dcterms:W3CDTF">2021-03-23T11:06:20Z</dcterms:created>
  <dcterms:modified xsi:type="dcterms:W3CDTF">2021-03-24T10:14:45Z</dcterms:modified>
</cp:coreProperties>
</file>