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9" r:id="rId11"/>
    <p:sldId id="282" r:id="rId12"/>
    <p:sldId id="283" r:id="rId13"/>
    <p:sldId id="268" r:id="rId14"/>
    <p:sldId id="266" r:id="rId15"/>
    <p:sldId id="267" r:id="rId16"/>
    <p:sldId id="281" r:id="rId17"/>
    <p:sldId id="284" r:id="rId1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0"/>
  </p:normalViewPr>
  <p:slideViewPr>
    <p:cSldViewPr snapToGrid="0" snapToObjects="1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45559-0BFE-4344-9B65-AF2AA4340070}" type="datetimeFigureOut">
              <a:rPr kumimoji="1" lang="zh-TW" altLang="en-US" smtClean="0"/>
              <a:t>2021/11/16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43E2FF-3FFC-0943-9A0D-A0B13F46FEC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21076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9CACA6-C67C-E541-892B-44D0091E4B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1CC1734-2905-E64F-A631-54B4414165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 dirty="0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52928DA-44E4-074F-8536-26603EBDA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94305-8CA1-9449-A556-67D5085A7FA1}" type="datetime1">
              <a:rPr kumimoji="1" lang="zh-TW" altLang="en-US" smtClean="0"/>
              <a:t>2021/11/16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CB0FA4-ABBE-BA4C-8404-566B691D0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36B4FD5-66AB-9441-90B5-4BBD60219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81404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70AF28-EC81-FE4B-89D9-F2E8D07FC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8F01FE-63E4-B148-8F63-BA8CC19DF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CDDCB10-D67B-2F49-9257-3F53E655A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A69C4-18F5-3B4F-9726-B61210AF53BB}" type="datetime1">
              <a:rPr kumimoji="1" lang="zh-TW" altLang="en-US" smtClean="0"/>
              <a:t>2021/11/16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E383F78-9598-D74D-9292-89EFE69D1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BD1EF3F-2214-5B47-9FDA-094F6F6F1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45AB94F7-1CE9-3B41-8002-0A2CB67662D8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39286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0EA4F2-2540-1244-B139-F15C25B79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2C54D3C-13C8-6242-8D0C-509D67681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9742759-9CB6-6844-818C-D784DC9DD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1A6B9-6F66-C749-9323-08ACCB0475DF}" type="datetime1">
              <a:rPr kumimoji="1" lang="zh-TW" altLang="en-US" smtClean="0"/>
              <a:t>2021/11/16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AF6B2C8-E956-014A-989F-C4986EEC9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4FE7166-F2BC-6E41-A489-D4F1F176A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98025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D5B0B7-A085-074E-8B77-3B759476B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DE2419-98D0-C748-9D81-FD99D10E89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E7429AE-8C31-D64A-9CAF-84EF9D9F81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54F1935-3D64-C547-BE1F-E5DF5E3EA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A61A4-81BF-334B-8D80-CA36701FDA35}" type="datetime1">
              <a:rPr kumimoji="1" lang="zh-TW" altLang="en-US" smtClean="0"/>
              <a:t>2021/11/16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12AB15C-9B5B-D44D-B16C-11EF813D9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5CFBA30-686E-724D-9244-E9E644067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1584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12BDD6-FE7A-F545-960D-362C66F47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7F6F60D-37BA-C242-9A1E-32FEB8CCC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9BCDA43-0B87-A645-8BE0-2EA0C0A6B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5D48957-078C-7444-A985-ACC5552F25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FEF868D-291B-394E-9BE2-D02FA1CD3C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EA16361-4974-3C4E-9136-7688A755D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A022A-5F93-5C4C-B16C-BEC73CEE6E54}" type="datetime1">
              <a:rPr kumimoji="1" lang="zh-TW" altLang="en-US" smtClean="0"/>
              <a:t>2021/11/16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56ED032-8661-E941-88E1-00C969420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B13C977-9E60-0840-8F60-2746A6806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79835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B53D1F-CD49-4A47-8161-81E7049E7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7BAD2FC-9DAA-7243-A022-A4F61BF19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925CB-9510-9341-9576-9B12ECEC775E}" type="datetime1">
              <a:rPr kumimoji="1" lang="zh-TW" altLang="en-US" smtClean="0"/>
              <a:t>2021/11/16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B08567B-6FC5-FE42-99C1-56DE3E0EA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DF5BEE7-69BC-3243-92F7-9D56CF1E4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94566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472B68F-CE5E-8E42-845E-216799E93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0CE8D-F82D-A84C-87DC-2C4A6AB68E2E}" type="datetime1">
              <a:rPr kumimoji="1" lang="zh-TW" altLang="en-US" smtClean="0"/>
              <a:t>2021/11/16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AE25D5B-72BF-8541-BB27-109E74F63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4D9627B-7493-DE49-BED1-D957B96B6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5284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D33F3F-E533-ED46-B706-B8230FBE3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923F0ED-E028-4D48-ACE1-92415A0E0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9259B9D-B493-EE4A-8F83-9E517D43A3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647DBB5-D8D1-9C4B-958E-74CA3C356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C0FAD-89C5-7F43-A773-FAE777B2C9F1}" type="datetime1">
              <a:rPr kumimoji="1" lang="zh-TW" altLang="en-US" smtClean="0"/>
              <a:t>2021/11/16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DD9DD0B-97B7-7C48-9FAF-367CEFEAD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F04DAF6-0748-E746-B095-EDD0BFA0C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34485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B7AA03-AD9D-9B4F-BF9A-0D182E130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0629E92-D1EC-7541-B377-00C9F825B7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9365C22-4E8D-5446-A436-EA77B69D7F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B89063B-A0C5-524B-897E-9D14FAA16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FB9B9-8EF2-A94F-98A1-225287ED6E40}" type="datetime1">
              <a:rPr kumimoji="1" lang="zh-TW" altLang="en-US" smtClean="0"/>
              <a:t>2021/11/16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FCC9C8F-50DB-0448-BAE3-DCD747D6E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E76F315-F817-7046-B413-386F67177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16739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AAEEB8-BF61-0D4B-91E0-B11EF6EA0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92FAE11-B217-A441-BF40-6E86BC4895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718463-BF67-834B-B2DE-31F68E452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B0978-9282-A443-81EE-087251DCE16D}" type="datetime1">
              <a:rPr kumimoji="1" lang="zh-TW" altLang="en-US" smtClean="0"/>
              <a:t>2021/11/16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594982C-896E-4149-99DD-209F8E8C0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6603828-B8BB-9B4D-B2DF-DD10F4CAE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64934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35947D6-AA8E-8847-82ED-F06115AA28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F700A80-132C-4840-9A7C-C78D2A2400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617639-2B7B-124E-964F-8866AB883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08DF5-4A34-8D4B-8D26-525AA81604B2}" type="datetime1">
              <a:rPr kumimoji="1" lang="zh-TW" altLang="en-US" smtClean="0"/>
              <a:t>2021/11/16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438D0C4-A114-014D-8492-65B3EEDD1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18114EB-9F4C-BE4F-9F99-D7A2DEEC2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083713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大標題與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大標題文字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大標題文字</a:t>
            </a:r>
          </a:p>
        </p:txBody>
      </p:sp>
      <p:sp>
        <p:nvSpPr>
          <p:cNvPr id="57" name="內文層級一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396875" indent="-396875">
              <a:defRPr sz="3000"/>
            </a:lvl1pPr>
            <a:lvl2pPr marL="714375" indent="-396875">
              <a:defRPr sz="3000"/>
            </a:lvl2pPr>
            <a:lvl3pPr marL="1031875" indent="-396875">
              <a:defRPr sz="3000"/>
            </a:lvl3pPr>
            <a:lvl4pPr marL="1349375" indent="-396875">
              <a:defRPr sz="3000"/>
            </a:lvl4pPr>
            <a:lvl5pPr marL="1666875" indent="-396875">
              <a:defRPr sz="3000"/>
            </a:lvl5pPr>
          </a:lstStyle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58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4415674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3116FCC-9057-794F-A6BD-9239D6867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F71D68C-1C2E-1C49-B4D5-25F62E8AE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ECE1990-52AC-F546-8798-90353A0395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A140CC-F999-A946-9373-08EAE304F3C9}" type="datetime1">
              <a:rPr kumimoji="1" lang="zh-TW" altLang="en-US" smtClean="0"/>
              <a:t>2021/11/16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EB22EAC-653F-C544-A1B0-BE186C1781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26F20A4-E6B9-D241-B29C-161E27408E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97430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A1336C-440D-2E43-904F-AABB45E64E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5665" y="1128232"/>
            <a:ext cx="9732335" cy="2127730"/>
          </a:xfrm>
        </p:spPr>
        <p:txBody>
          <a:bodyPr>
            <a:noAutofit/>
          </a:bodyPr>
          <a:lstStyle/>
          <a:p>
            <a:r>
              <a:rPr kumimoji="1" lang="en-US" altLang="zh-TW" dirty="0"/>
              <a:t>Incremental Multiple Longest Common Subsequences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D611AA7-209A-4449-AB65-A25622930A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39813"/>
          </a:xfrm>
        </p:spPr>
        <p:txBody>
          <a:bodyPr>
            <a:norm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Luís M. S.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Russo, Alexandre P. Francisco and T. Rocher. </a:t>
            </a:r>
          </a:p>
          <a:p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arXiv:2005.02725. (2020)</a:t>
            </a:r>
            <a:endParaRPr kumimoji="1" lang="en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F1141FC-B145-834E-9139-2A899AB73EAA}"/>
              </a:ext>
            </a:extLst>
          </p:cNvPr>
          <p:cNvSpPr txBox="1"/>
          <p:nvPr/>
        </p:nvSpPr>
        <p:spPr>
          <a:xfrm>
            <a:off x="9165265" y="5826642"/>
            <a:ext cx="24919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 Tsung-Lin Lu</a:t>
            </a:r>
          </a:p>
          <a:p>
            <a:pPr algn="r"/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Nov. 16, 2021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2334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Abstract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consider the problem of updating the information about </a:t>
            </a:r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longest common subsequences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This kind of sub-sequences is used to highlight information that is shared across several information sequences, therefore it is extensively used namely in bioinformatics and computational genomics. In this paper we propose a way to maintain this information when the underlying sequences are subject to modifications, namely </a:t>
            </a:r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letters are added and removed from the extremes of the sequence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Experimentally our data structure obtains significant improvements over the state of the art.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366900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Outline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 and Level</a:t>
            </a:r>
          </a:p>
          <a:p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Append()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Pop()</a:t>
            </a:r>
          </a:p>
          <a:p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Orthogonal Range Trees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354848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Introduction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68942" cy="3448124"/>
          </a:xfrm>
        </p:spPr>
        <p:txBody>
          <a:bodyPr/>
          <a:lstStyle/>
          <a:p>
            <a:pPr algn="just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data structure that represents the MLCS information.</a:t>
            </a:r>
          </a:p>
          <a:p>
            <a:pPr lvl="1" algn="just"/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Pop()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removes the </a:t>
            </a:r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letter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one of the strings.</a:t>
            </a:r>
          </a:p>
          <a:p>
            <a:pPr lvl="1" algn="just"/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Append()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adds a letter to the </a:t>
            </a:r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some of the strings.</a:t>
            </a:r>
          </a:p>
          <a:p>
            <a:pPr algn="just"/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3</a:t>
            </a:fld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AA427CD-865E-FC46-BCE2-26CF63DCC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8688" y="287214"/>
            <a:ext cx="5774930" cy="6142861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97303B9-D076-6F44-9D69-0551F7E4E44B}"/>
              </a:ext>
            </a:extLst>
          </p:cNvPr>
          <p:cNvSpPr/>
          <p:nvPr/>
        </p:nvSpPr>
        <p:spPr>
          <a:xfrm>
            <a:off x="1036442" y="6027628"/>
            <a:ext cx="39540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1. Illustration of updating a MLCS.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7873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Cover and Level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29470"/>
            <a:ext cx="3861391" cy="2041452"/>
          </a:xfrm>
        </p:spPr>
        <p:txBody>
          <a:bodyPr>
            <a:normAutofit/>
          </a:bodyPr>
          <a:lstStyle/>
          <a:p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cover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≤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  <a:p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dominate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be our attention to non covered matches. 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4</a:t>
            </a:fld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69EF50A-473B-E449-B6D3-F60A2B945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254" y="1690688"/>
            <a:ext cx="4553393" cy="203101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B7E342C2-59A7-3141-B825-A9DCFA469B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5028" y="863028"/>
            <a:ext cx="6414930" cy="5131944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0CE8884B-B21D-2A40-83D9-9ABFE8F8BBC1}"/>
              </a:ext>
            </a:extLst>
          </p:cNvPr>
          <p:cNvSpPr/>
          <p:nvPr/>
        </p:nvSpPr>
        <p:spPr>
          <a:xfrm>
            <a:off x="499171" y="3798759"/>
            <a:ext cx="50595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2. Illustration of level classification of matches.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DDC041F-CE61-374B-8FC4-9CF93D381FE2}"/>
              </a:ext>
            </a:extLst>
          </p:cNvPr>
          <p:cNvSpPr/>
          <p:nvPr/>
        </p:nvSpPr>
        <p:spPr>
          <a:xfrm>
            <a:off x="5558729" y="6072033"/>
            <a:ext cx="611927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1. The classification of uncovered matches according to their maximum level values.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29655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Append()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382799" cy="4895850"/>
          </a:xfrm>
        </p:spPr>
        <p:txBody>
          <a:bodyPr/>
          <a:lstStyle/>
          <a:p>
            <a:pPr algn="just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{15, 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× </a:t>
            </a:r>
          </a:p>
          <a:p>
            <a:pPr marL="0" indent="0" algn="just">
              <a:buNone/>
            </a:pP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{1,4,6,8,14,16,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</a:p>
          <a:p>
            <a:pPr marL="0" indent="0" algn="just">
              <a:buNone/>
            </a:pP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×</a:t>
            </a:r>
          </a:p>
          <a:p>
            <a:pPr marL="0" indent="0" algn="just">
              <a:buNone/>
            </a:pP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{2,7,11,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,16,17,18,19}</a:t>
            </a:r>
          </a:p>
          <a:p>
            <a:pPr algn="just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1st criteria: We only need to consider the points in Table 1 that are </a:t>
            </a:r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dominated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the point (19, 18, 21, 19)</a:t>
            </a:r>
          </a:p>
          <a:p>
            <a:pPr algn="just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2nd criteria: We only consider the matches that </a:t>
            </a:r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dominate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point (0, 0, 19−1 , 0).</a:t>
            </a:r>
          </a:p>
          <a:p>
            <a:pPr algn="just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(0, 0, 18, 0) &lt; old points (</a:t>
            </a:r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16, 17, 20, 12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&lt; (19, 18, 21, 19)</a:t>
            </a:r>
          </a:p>
          <a:p>
            <a:pPr algn="just"/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(19, 18, 21, 15)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dominates (16, 17, 20, 12) in level 9, it is at level 10.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5</a:t>
            </a:fld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9657DC0-6EB3-3746-95AC-3020FA6162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6541"/>
          <a:stretch/>
        </p:blipFill>
        <p:spPr>
          <a:xfrm>
            <a:off x="5759883" y="249365"/>
            <a:ext cx="4688959" cy="2666386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92F45827-D8C8-2A45-ADB7-46A0D4789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9235" y="3077385"/>
            <a:ext cx="4490255" cy="81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2238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Pop() (1/3)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42860" cy="4351338"/>
          </a:xfrm>
        </p:spPr>
        <p:txBody>
          <a:bodyPr/>
          <a:lstStyle/>
          <a:p>
            <a:pPr algn="just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6, 7, 8, 9, 10, 14, 16, 17} × </a:t>
            </a:r>
          </a:p>
          <a:p>
            <a:pPr marL="0" indent="0" algn="just">
              <a:buNone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{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3, 5, 7, 10, 13, 17}×</a:t>
            </a:r>
          </a:p>
          <a:p>
            <a:pPr marL="0" indent="0" algn="just">
              <a:buNone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{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5, 7, 10, 15, 17, 20}×</a:t>
            </a:r>
          </a:p>
          <a:p>
            <a:pPr marL="0" indent="0" algn="just">
              <a:buNone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{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algn="just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1st match point (4, 2, 1, 1) covers others, we only need to consider the </a:t>
            </a:r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1st match (4, 2, 1, 1).</a:t>
            </a:r>
          </a:p>
          <a:p>
            <a:pPr algn="just"/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6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6991168-A206-AB4E-A53E-CD5365953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060" y="350014"/>
            <a:ext cx="5774930" cy="614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4572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Pop() (1/2)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72741" cy="4351338"/>
          </a:xfrm>
        </p:spPr>
        <p:txBody>
          <a:bodyPr/>
          <a:lstStyle/>
          <a:p>
            <a:pPr algn="just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an impact in the structure to remove 1st match point (4, 2, 1, 1) from the list.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covered points may become non covered.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matches at level 2 may be relying on deleted match and may have to be transferred to level 1.</a:t>
            </a:r>
          </a:p>
          <a:p>
            <a:pPr algn="just"/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7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89B023E-7071-1648-98CA-6143BF1B1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060" y="350014"/>
            <a:ext cx="5774930" cy="614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458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圖片 26">
            <a:extLst>
              <a:ext uri="{FF2B5EF4-FFF2-40B4-BE49-F238E27FC236}">
                <a16:creationId xmlns:a16="http://schemas.microsoft.com/office/drawing/2014/main" id="{7FB4B22C-DC68-4347-897C-A9F1DE059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616" y="1319048"/>
            <a:ext cx="5754849" cy="4935273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Pop() (1/3)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8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E8BE63AB-F560-C746-9C25-9DBE41037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261" y="1446103"/>
            <a:ext cx="5588739" cy="4501142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5A977042-6E02-474E-B286-F18E955CD940}"/>
              </a:ext>
            </a:extLst>
          </p:cNvPr>
          <p:cNvSpPr/>
          <p:nvPr/>
        </p:nvSpPr>
        <p:spPr>
          <a:xfrm>
            <a:off x="507261" y="6222874"/>
            <a:ext cx="47945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1. Before appending and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poping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89536F7-9183-E04F-8801-6304FF9D479A}"/>
              </a:ext>
            </a:extLst>
          </p:cNvPr>
          <p:cNvSpPr/>
          <p:nvPr/>
        </p:nvSpPr>
        <p:spPr>
          <a:xfrm>
            <a:off x="6205410" y="6222874"/>
            <a:ext cx="51772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2. After appending and popping.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6066FF97-83A3-8440-A74B-D58DFB410181}"/>
              </a:ext>
            </a:extLst>
          </p:cNvPr>
          <p:cNvCxnSpPr>
            <a:cxnSpLocks/>
          </p:cNvCxnSpPr>
          <p:nvPr/>
        </p:nvCxnSpPr>
        <p:spPr>
          <a:xfrm>
            <a:off x="2377645" y="1813461"/>
            <a:ext cx="1023833" cy="167389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7FC4E076-A4DC-184A-AB10-49E3CD24FBC6}"/>
              </a:ext>
            </a:extLst>
          </p:cNvPr>
          <p:cNvCxnSpPr>
            <a:cxnSpLocks/>
          </p:cNvCxnSpPr>
          <p:nvPr/>
        </p:nvCxnSpPr>
        <p:spPr>
          <a:xfrm>
            <a:off x="3998234" y="2142485"/>
            <a:ext cx="1152974" cy="112346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D33CA291-39AF-E444-BA1E-45CC02D07371}"/>
              </a:ext>
            </a:extLst>
          </p:cNvPr>
          <p:cNvCxnSpPr>
            <a:cxnSpLocks/>
          </p:cNvCxnSpPr>
          <p:nvPr/>
        </p:nvCxnSpPr>
        <p:spPr>
          <a:xfrm flipH="1">
            <a:off x="4841690" y="2381693"/>
            <a:ext cx="357633" cy="389973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130E2C67-3738-D04D-B32C-EBD0CD77D712}"/>
              </a:ext>
            </a:extLst>
          </p:cNvPr>
          <p:cNvCxnSpPr>
            <a:cxnSpLocks/>
          </p:cNvCxnSpPr>
          <p:nvPr/>
        </p:nvCxnSpPr>
        <p:spPr>
          <a:xfrm flipH="1">
            <a:off x="2904518" y="2993175"/>
            <a:ext cx="1252812" cy="464291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9B9E822E-BA07-F241-93E6-3A08F6AB7489}"/>
              </a:ext>
            </a:extLst>
          </p:cNvPr>
          <p:cNvCxnSpPr>
            <a:cxnSpLocks/>
          </p:cNvCxnSpPr>
          <p:nvPr/>
        </p:nvCxnSpPr>
        <p:spPr>
          <a:xfrm>
            <a:off x="2895399" y="3696674"/>
            <a:ext cx="267844" cy="464291"/>
          </a:xfrm>
          <a:prstGeom prst="line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41851E28-D855-0642-9705-03659B5A282B}"/>
              </a:ext>
            </a:extLst>
          </p:cNvPr>
          <p:cNvSpPr/>
          <p:nvPr/>
        </p:nvSpPr>
        <p:spPr>
          <a:xfrm>
            <a:off x="1669311" y="1511615"/>
            <a:ext cx="744279" cy="3073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C0CAEB74-D6D3-FE42-939E-B10D0A826665}"/>
              </a:ext>
            </a:extLst>
          </p:cNvPr>
          <p:cNvCxnSpPr>
            <a:cxnSpLocks/>
          </p:cNvCxnSpPr>
          <p:nvPr/>
        </p:nvCxnSpPr>
        <p:spPr>
          <a:xfrm>
            <a:off x="2471206" y="1782799"/>
            <a:ext cx="1684112" cy="91406"/>
          </a:xfrm>
          <a:prstGeom prst="line">
            <a:avLst/>
          </a:prstGeom>
          <a:ln w="38100" cap="flat" cmpd="sng" algn="ctr">
            <a:solidFill>
              <a:srgbClr val="0070C0">
                <a:alpha val="50196"/>
              </a:srgb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7BDCD13C-0270-034E-89D2-F65950DB4ED4}"/>
              </a:ext>
            </a:extLst>
          </p:cNvPr>
          <p:cNvCxnSpPr>
            <a:cxnSpLocks/>
          </p:cNvCxnSpPr>
          <p:nvPr/>
        </p:nvCxnSpPr>
        <p:spPr>
          <a:xfrm flipH="1">
            <a:off x="4606916" y="2142485"/>
            <a:ext cx="20312" cy="289789"/>
          </a:xfrm>
          <a:prstGeom prst="line">
            <a:avLst/>
          </a:prstGeom>
          <a:ln w="38100" cap="flat" cmpd="sng" algn="ctr">
            <a:solidFill>
              <a:srgbClr val="0070C0">
                <a:alpha val="50196"/>
              </a:srgb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DA17A459-9934-1149-96DE-E17C05F1C687}"/>
              </a:ext>
            </a:extLst>
          </p:cNvPr>
          <p:cNvCxnSpPr>
            <a:cxnSpLocks/>
          </p:cNvCxnSpPr>
          <p:nvPr/>
        </p:nvCxnSpPr>
        <p:spPr>
          <a:xfrm flipH="1">
            <a:off x="2406454" y="2135889"/>
            <a:ext cx="2142846" cy="315895"/>
          </a:xfrm>
          <a:prstGeom prst="line">
            <a:avLst/>
          </a:prstGeom>
          <a:ln w="38100" cap="flat" cmpd="sng" algn="ctr">
            <a:solidFill>
              <a:srgbClr val="0070C0">
                <a:alpha val="50196"/>
              </a:srgb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AF141E6F-1CE0-1B4A-A45A-4660A530C016}"/>
              </a:ext>
            </a:extLst>
          </p:cNvPr>
          <p:cNvCxnSpPr>
            <a:cxnSpLocks/>
          </p:cNvCxnSpPr>
          <p:nvPr/>
        </p:nvCxnSpPr>
        <p:spPr>
          <a:xfrm flipH="1">
            <a:off x="1659155" y="2576679"/>
            <a:ext cx="348686" cy="648641"/>
          </a:xfrm>
          <a:prstGeom prst="line">
            <a:avLst/>
          </a:prstGeom>
          <a:ln w="38100" cap="flat" cmpd="sng" algn="ctr">
            <a:solidFill>
              <a:srgbClr val="0070C0">
                <a:alpha val="50196"/>
              </a:srgb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2BF53086-5DD2-F544-9460-AA9B1471EFA5}"/>
              </a:ext>
            </a:extLst>
          </p:cNvPr>
          <p:cNvCxnSpPr>
            <a:cxnSpLocks/>
          </p:cNvCxnSpPr>
          <p:nvPr/>
        </p:nvCxnSpPr>
        <p:spPr>
          <a:xfrm flipH="1">
            <a:off x="2471206" y="2611731"/>
            <a:ext cx="1594247" cy="614482"/>
          </a:xfrm>
          <a:prstGeom prst="line">
            <a:avLst/>
          </a:prstGeom>
          <a:ln w="38100" cap="flat" cmpd="sng" algn="ctr">
            <a:solidFill>
              <a:srgbClr val="0070C0">
                <a:alpha val="50196"/>
              </a:srgb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CD24AFA7-2B3C-6641-9C0B-E501D0D7FD6F}"/>
              </a:ext>
            </a:extLst>
          </p:cNvPr>
          <p:cNvCxnSpPr>
            <a:cxnSpLocks/>
          </p:cNvCxnSpPr>
          <p:nvPr/>
        </p:nvCxnSpPr>
        <p:spPr>
          <a:xfrm>
            <a:off x="1526987" y="4071226"/>
            <a:ext cx="132168" cy="552210"/>
          </a:xfrm>
          <a:prstGeom prst="line">
            <a:avLst/>
          </a:prstGeom>
          <a:ln w="38100" cap="flat" cmpd="sng" algn="ctr">
            <a:solidFill>
              <a:srgbClr val="0070C0">
                <a:alpha val="50196"/>
              </a:srgb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31910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Dynamic Orthogonal Range Trees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059431"/>
          </a:xfrm>
        </p:spPr>
        <p:txBody>
          <a:bodyPr>
            <a:norm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could use actual lists, but instead we used orthogonal range trees.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ORT computes dominance in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kumimoji="1" lang="en-US" altLang="zh-TW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time.</a:t>
            </a:r>
          </a:p>
          <a:p>
            <a:pPr lvl="1"/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number of strings or dimension of the point space.</a:t>
            </a:r>
          </a:p>
          <a:p>
            <a:pPr lvl="1"/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number of points in the list.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1D ORT is simply a BST. A k dimensional ORT is also a BST, ordered by the last coordinate of the points.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9</a:t>
            </a:fld>
            <a:endParaRPr kumimoji="1" lang="zh-TW" altLang="en-US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D991DD7-B575-544D-A9F8-7585B29607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179377"/>
              </p:ext>
            </p:extLst>
          </p:nvPr>
        </p:nvGraphicFramePr>
        <p:xfrm>
          <a:off x="944527" y="4766731"/>
          <a:ext cx="9645503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94638">
                  <a:extLst>
                    <a:ext uri="{9D8B030D-6E8A-4147-A177-3AD203B41FA5}">
                      <a16:colId xmlns:a16="http://schemas.microsoft.com/office/drawing/2014/main" val="3319016704"/>
                    </a:ext>
                  </a:extLst>
                </a:gridCol>
                <a:gridCol w="1318437">
                  <a:extLst>
                    <a:ext uri="{9D8B030D-6E8A-4147-A177-3AD203B41FA5}">
                      <a16:colId xmlns:a16="http://schemas.microsoft.com/office/drawing/2014/main" val="1854436356"/>
                    </a:ext>
                  </a:extLst>
                </a:gridCol>
                <a:gridCol w="1605517">
                  <a:extLst>
                    <a:ext uri="{9D8B030D-6E8A-4147-A177-3AD203B41FA5}">
                      <a16:colId xmlns:a16="http://schemas.microsoft.com/office/drawing/2014/main" val="1925228489"/>
                    </a:ext>
                  </a:extLst>
                </a:gridCol>
                <a:gridCol w="2491085">
                  <a:extLst>
                    <a:ext uri="{9D8B030D-6E8A-4147-A177-3AD203B41FA5}">
                      <a16:colId xmlns:a16="http://schemas.microsoft.com/office/drawing/2014/main" val="614971298"/>
                    </a:ext>
                  </a:extLst>
                </a:gridCol>
                <a:gridCol w="2835826">
                  <a:extLst>
                    <a:ext uri="{9D8B030D-6E8A-4147-A177-3AD203B41FA5}">
                      <a16:colId xmlns:a16="http://schemas.microsoft.com/office/drawing/2014/main" val="878735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Build time</a:t>
                      </a:r>
                      <a:endParaRPr lang="zh-TW" alt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Build space</a:t>
                      </a:r>
                      <a:endParaRPr lang="zh-TW" alt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Search/Insert/Delete</a:t>
                      </a:r>
                      <a:endParaRPr lang="zh-TW" alt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Orthogonal range search</a:t>
                      </a:r>
                      <a:endParaRPr lang="zh-TW" alt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364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KD-Tree</a:t>
                      </a:r>
                      <a:endParaRPr lang="zh-TW" alt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i="1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i="1" dirty="0" err="1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TW" dirty="0" err="1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log</a:t>
                      </a:r>
                      <a:r>
                        <a:rPr lang="en-US" altLang="zh-TW" i="1" dirty="0" err="1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i="1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i="1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i="1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dirty="0" err="1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log</a:t>
                      </a:r>
                      <a:r>
                        <a:rPr lang="en-US" altLang="zh-TW" i="1" dirty="0" err="1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i="1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i="1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TW" i="1" baseline="300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1-1/d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821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Range Tree</a:t>
                      </a:r>
                      <a:endParaRPr lang="zh-TW" alt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i="1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i="1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log</a:t>
                      </a:r>
                      <a:r>
                        <a:rPr lang="en-US" altLang="zh-TW" baseline="300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d-1</a:t>
                      </a:r>
                      <a:r>
                        <a:rPr lang="en-US" altLang="zh-TW" i="1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i="1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i="1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log</a:t>
                      </a:r>
                      <a:r>
                        <a:rPr lang="en-US" altLang="zh-TW" baseline="300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d-1</a:t>
                      </a:r>
                      <a:r>
                        <a:rPr lang="en-US" altLang="zh-TW" i="1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i="1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dirty="0" err="1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log</a:t>
                      </a:r>
                      <a:r>
                        <a:rPr lang="en-US" altLang="zh-TW" baseline="30000" dirty="0" err="1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altLang="zh-TW" i="1" dirty="0" err="1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i="1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dirty="0" err="1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log</a:t>
                      </a:r>
                      <a:r>
                        <a:rPr lang="en-US" altLang="zh-TW" baseline="30000" dirty="0" err="1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altLang="zh-TW" i="1" dirty="0" err="1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TW" i="1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+ k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11822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9218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1D Range Trees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10</a:t>
            </a:fld>
            <a:endParaRPr kumimoji="1"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E6ACFCFB-256A-ED4F-A6A6-099DFFC18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786" y="1879599"/>
            <a:ext cx="10586428" cy="393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8413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2D Range Trees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11</a:t>
            </a:fld>
            <a:endParaRPr kumimoji="1"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4FC1040-07E2-B940-8C71-3B240297E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3641"/>
            <a:ext cx="6600603" cy="4843853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8660E428-3148-594D-B2C0-6F4653EA6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5288" y="1826807"/>
            <a:ext cx="4940594" cy="2779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0940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Time complexity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98C395C6-3EBC-4D47-9C22-52A1E36DD1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Building: 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sSup>
                      <m:sSup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𝑙𝑜𝑔</m:t>
                        </m:r>
                      </m:e>
                      <m:sup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kumimoji="1"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Query: 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Sup>
                      <m:sSubSup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𝑙𝑜𝑔</m:t>
                        </m:r>
                      </m:e>
                      <m:sub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1/</m:t>
                        </m:r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sub>
                      <m:sup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bSup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kumimoji="1"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Insertion: 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kumimoji="1"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den>
                        </m:f>
                        <m:sSub>
                          <m:sSubPr>
                            <m:ctrlPr>
                              <a:rPr kumimoji="1"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1/</m:t>
                            </m:r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sub>
                        </m:sSub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amortized time</a:t>
                </a:r>
              </a:p>
              <a:p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modification: 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kumimoji="1"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den>
                        </m:f>
                        <m:sSubSup>
                          <m:sSubSupPr>
                            <m:ctrlPr>
                              <a:rPr kumimoji="1"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𝑙𝑜𝑔</m:t>
                            </m:r>
                          </m:e>
                          <m:sub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1/</m:t>
                            </m:r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sub>
                          <m:sup>
                            <m:r>
                              <a:rPr kumimoji="1"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sup>
                        </m:sSubSup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amortized time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98C395C6-3EBC-4D47-9C22-52A1E36DD1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12</a:t>
            </a:fld>
            <a:endParaRPr kumimoji="1"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F6035E9-BA6B-4543-8B42-CCA5D6C968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3460753"/>
              </p:ext>
            </p:extLst>
          </p:nvPr>
        </p:nvGraphicFramePr>
        <p:xfrm>
          <a:off x="838200" y="4597877"/>
          <a:ext cx="9645503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94638">
                  <a:extLst>
                    <a:ext uri="{9D8B030D-6E8A-4147-A177-3AD203B41FA5}">
                      <a16:colId xmlns:a16="http://schemas.microsoft.com/office/drawing/2014/main" val="3319016704"/>
                    </a:ext>
                  </a:extLst>
                </a:gridCol>
                <a:gridCol w="1318437">
                  <a:extLst>
                    <a:ext uri="{9D8B030D-6E8A-4147-A177-3AD203B41FA5}">
                      <a16:colId xmlns:a16="http://schemas.microsoft.com/office/drawing/2014/main" val="1854436356"/>
                    </a:ext>
                  </a:extLst>
                </a:gridCol>
                <a:gridCol w="1605517">
                  <a:extLst>
                    <a:ext uri="{9D8B030D-6E8A-4147-A177-3AD203B41FA5}">
                      <a16:colId xmlns:a16="http://schemas.microsoft.com/office/drawing/2014/main" val="1925228489"/>
                    </a:ext>
                  </a:extLst>
                </a:gridCol>
                <a:gridCol w="2491085">
                  <a:extLst>
                    <a:ext uri="{9D8B030D-6E8A-4147-A177-3AD203B41FA5}">
                      <a16:colId xmlns:a16="http://schemas.microsoft.com/office/drawing/2014/main" val="614971298"/>
                    </a:ext>
                  </a:extLst>
                </a:gridCol>
                <a:gridCol w="2835826">
                  <a:extLst>
                    <a:ext uri="{9D8B030D-6E8A-4147-A177-3AD203B41FA5}">
                      <a16:colId xmlns:a16="http://schemas.microsoft.com/office/drawing/2014/main" val="8787359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Build time</a:t>
                      </a:r>
                      <a:endParaRPr lang="zh-TW" alt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Build space</a:t>
                      </a:r>
                      <a:endParaRPr lang="zh-TW" alt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Search/Insert/Delete</a:t>
                      </a:r>
                      <a:endParaRPr lang="zh-TW" alt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Orthogonal range search</a:t>
                      </a:r>
                      <a:endParaRPr lang="zh-TW" alt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364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KD-Tree</a:t>
                      </a:r>
                      <a:endParaRPr lang="zh-TW" alt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i="1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i="1" dirty="0" err="1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TW" dirty="0" err="1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log</a:t>
                      </a:r>
                      <a:r>
                        <a:rPr lang="en-US" altLang="zh-TW" i="1" dirty="0" err="1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i="1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i="1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i="1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dirty="0" err="1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log</a:t>
                      </a:r>
                      <a:r>
                        <a:rPr lang="en-US" altLang="zh-TW" i="1" dirty="0" err="1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i="1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i="1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TW" i="1" baseline="300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1-1/d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821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Range Tree</a:t>
                      </a:r>
                      <a:endParaRPr lang="zh-TW" alt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i="1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i="1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log</a:t>
                      </a:r>
                      <a:r>
                        <a:rPr lang="en-US" altLang="zh-TW" baseline="300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d-1</a:t>
                      </a:r>
                      <a:r>
                        <a:rPr lang="en-US" altLang="zh-TW" i="1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i="1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i="1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log</a:t>
                      </a:r>
                      <a:r>
                        <a:rPr lang="en-US" altLang="zh-TW" baseline="300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d-1</a:t>
                      </a:r>
                      <a:r>
                        <a:rPr lang="en-US" altLang="zh-TW" i="1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i="1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dirty="0" err="1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log</a:t>
                      </a:r>
                      <a:r>
                        <a:rPr lang="en-US" altLang="zh-TW" baseline="30000" dirty="0" err="1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altLang="zh-TW" i="1" dirty="0" err="1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i="1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TW" dirty="0" err="1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log</a:t>
                      </a:r>
                      <a:r>
                        <a:rPr lang="en-US" altLang="zh-TW" baseline="30000" dirty="0" err="1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altLang="zh-TW" i="1" dirty="0" err="1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en-US" altLang="zh-TW" i="1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+ k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1182269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23932748-A4C8-3845-9D11-042877C53D05}"/>
              </a:ext>
            </a:extLst>
          </p:cNvPr>
          <p:cNvSpPr/>
          <p:nvPr/>
        </p:nvSpPr>
        <p:spPr>
          <a:xfrm>
            <a:off x="6205869" y="1798458"/>
            <a:ext cx="566006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number of strings or dimension of the point space.</a:t>
            </a:r>
          </a:p>
          <a:p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number of points in the list.</a:t>
            </a:r>
          </a:p>
          <a:p>
            <a:r>
              <a:rPr lang="el-GR" altLang="zh-TW" dirty="0"/>
              <a:t>α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factor of a weight balanced BST.</a:t>
            </a:r>
          </a:p>
        </p:txBody>
      </p:sp>
    </p:spTree>
    <p:extLst>
      <p:ext uri="{BB962C8B-B14F-4D97-AF65-F5344CB8AC3E}">
        <p14:creationId xmlns:p14="http://schemas.microsoft.com/office/powerpoint/2010/main" val="18628359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Results (1/2)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Debian 4.9.144-3.1 the x86_64 version with 8Gb of RAM and an Intel(R) Xeon(R) CPU E5-2630 v3 @ 2.40GHz with 4 cores.</a:t>
            </a:r>
          </a:p>
          <a:p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: the size of the alphabet.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: the number of strings. 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: the size of the strings.</a:t>
            </a:r>
          </a:p>
          <a:p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IMLCS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Naive (DP)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DP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254400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Results (2/2)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14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E948C87-852C-674B-94A9-3CCCA201B9DF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31825" y="1816858"/>
            <a:ext cx="3600000" cy="2082759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5814997E-3786-0E45-BEE0-013DF9F2769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1825" y="3970338"/>
            <a:ext cx="3600000" cy="203200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A19011CC-3A9A-FA42-9D50-C4604546C6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1746" y="1816858"/>
            <a:ext cx="3600000" cy="2093333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57E47692-94E6-964E-92DD-4D98506C0345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530836" y="3970338"/>
            <a:ext cx="3600000" cy="1955800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5C5E6C18-2928-F440-B88B-FA48392FD37B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8429846" y="1816837"/>
            <a:ext cx="3600000" cy="2082800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20DC197B-8C8F-A24B-83D5-C93410CD38DE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8429846" y="3970338"/>
            <a:ext cx="3600000" cy="1955800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9CA631A3-FD5B-6242-8BF6-8FD0390FC6B5}"/>
              </a:ext>
            </a:extLst>
          </p:cNvPr>
          <p:cNvSpPr/>
          <p:nvPr/>
        </p:nvSpPr>
        <p:spPr>
          <a:xfrm>
            <a:off x="681929" y="6062485"/>
            <a:ext cx="115100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000000"/>
                </a:solidFill>
                <a:latin typeface="Helvetica" pitchFamily="2" charset="0"/>
              </a:rPr>
              <a:t>Fig. Average value of </a:t>
            </a:r>
            <a:r>
              <a:rPr lang="en-US" altLang="zh-TW" i="1" dirty="0">
                <a:solidFill>
                  <a:srgbClr val="000000"/>
                </a:solidFill>
                <a:latin typeface="Helvetica" pitchFamily="2" charset="0"/>
              </a:rPr>
              <a:t>m</a:t>
            </a:r>
            <a:r>
              <a:rPr lang="en-US" altLang="zh-TW" dirty="0">
                <a:solidFill>
                  <a:srgbClr val="000000"/>
                </a:solidFill>
                <a:latin typeface="Helvetica" pitchFamily="2" charset="0"/>
              </a:rPr>
              <a:t> versus average operation time for different combinations of </a:t>
            </a:r>
            <a:r>
              <a:rPr lang="en-US" altLang="zh-TW" i="1" dirty="0">
                <a:solidFill>
                  <a:srgbClr val="000000"/>
                </a:solidFill>
                <a:latin typeface="Helvetica" pitchFamily="2" charset="0"/>
              </a:rPr>
              <a:t>k</a:t>
            </a:r>
            <a:r>
              <a:rPr lang="en-US" altLang="zh-TW" dirty="0">
                <a:solidFill>
                  <a:srgbClr val="000000"/>
                </a:solidFill>
                <a:latin typeface="Helvetica" pitchFamily="2" charset="0"/>
              </a:rPr>
              <a:t> strings and alphabets </a:t>
            </a:r>
            <a:r>
              <a:rPr lang="en-US" altLang="zh-TW" i="1" dirty="0">
                <a:solidFill>
                  <a:srgbClr val="000000"/>
                </a:solidFill>
                <a:latin typeface="Helvetica" pitchFamily="2" charset="0"/>
              </a:rPr>
              <a:t>S</a:t>
            </a:r>
            <a:r>
              <a:rPr lang="en-US" altLang="zh-TW" dirty="0">
                <a:solidFill>
                  <a:srgbClr val="000000"/>
                </a:solidFill>
                <a:latin typeface="Helvetica" pitchFamily="2" charset="0"/>
              </a:rPr>
              <a:t>.</a:t>
            </a:r>
            <a:endParaRPr lang="en-US" altLang="zh-TW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89879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hank you for listening"/>
          <p:cNvSpPr txBox="1">
            <a:spLocks noGrp="1"/>
          </p:cNvSpPr>
          <p:nvPr>
            <p:ph type="title"/>
          </p:nvPr>
        </p:nvSpPr>
        <p:spPr>
          <a:xfrm>
            <a:off x="844550" y="2857500"/>
            <a:ext cx="10502900" cy="1143000"/>
          </a:xfrm>
          <a:prstGeom prst="rect">
            <a:avLst/>
          </a:prstGeom>
        </p:spPr>
        <p:txBody>
          <a:bodyPr/>
          <a:lstStyle/>
          <a:p>
            <a:pPr algn="ctr"/>
            <a:r>
              <a:rPr dirty="0"/>
              <a:t>Thank you for listening</a:t>
            </a:r>
          </a:p>
        </p:txBody>
      </p:sp>
      <p:sp>
        <p:nvSpPr>
          <p:cNvPr id="305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15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Abstract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887922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w Cen MT-Rockwell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2664</TotalTime>
  <Words>911</Words>
  <Application>Microsoft Office PowerPoint</Application>
  <PresentationFormat>寬螢幕</PresentationFormat>
  <Paragraphs>125</Paragraphs>
  <Slides>17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5" baseType="lpstr">
      <vt:lpstr>Arial</vt:lpstr>
      <vt:lpstr>Calibri</vt:lpstr>
      <vt:lpstr>Cambria</vt:lpstr>
      <vt:lpstr>Cambria Math</vt:lpstr>
      <vt:lpstr>Helvetica</vt:lpstr>
      <vt:lpstr>Rockwell</vt:lpstr>
      <vt:lpstr>Times New Roman</vt:lpstr>
      <vt:lpstr>Office 佈景主題</vt:lpstr>
      <vt:lpstr>Incremental Multiple Longest Common Subsequences</vt:lpstr>
      <vt:lpstr>Abstract</vt:lpstr>
      <vt:lpstr>Outline</vt:lpstr>
      <vt:lpstr>Introduction</vt:lpstr>
      <vt:lpstr>Cover and Level</vt:lpstr>
      <vt:lpstr>Append()</vt:lpstr>
      <vt:lpstr>Pop() (1/3)</vt:lpstr>
      <vt:lpstr>Pop() (1/2)</vt:lpstr>
      <vt:lpstr>Pop() (1/3)</vt:lpstr>
      <vt:lpstr>Dynamic Orthogonal Range Trees</vt:lpstr>
      <vt:lpstr>1D Range Trees</vt:lpstr>
      <vt:lpstr>2D Range Trees</vt:lpstr>
      <vt:lpstr>Time complexity</vt:lpstr>
      <vt:lpstr>Results (1/2)</vt:lpstr>
      <vt:lpstr>Results (2/2)</vt:lpstr>
      <vt:lpstr>Thank you for listening</vt:lpstr>
      <vt:lpstr>Abstract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Improved Algorithm for The Longest Common Subsequence Problem</dc:title>
  <dc:creator>宗霖 呂</dc:creator>
  <cp:lastModifiedBy>pplab</cp:lastModifiedBy>
  <cp:revision>16</cp:revision>
  <dcterms:created xsi:type="dcterms:W3CDTF">2021-03-28T03:57:23Z</dcterms:created>
  <dcterms:modified xsi:type="dcterms:W3CDTF">2021-11-16T10:53:55Z</dcterms:modified>
</cp:coreProperties>
</file>