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302" r:id="rId4"/>
    <p:sldId id="310" r:id="rId5"/>
    <p:sldId id="319" r:id="rId6"/>
    <p:sldId id="309" r:id="rId7"/>
    <p:sldId id="311" r:id="rId8"/>
    <p:sldId id="313" r:id="rId9"/>
    <p:sldId id="314" r:id="rId10"/>
    <p:sldId id="315" r:id="rId11"/>
    <p:sldId id="317" r:id="rId12"/>
    <p:sldId id="31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郁儒 廖" initials="郁儒" lastIdx="1" clrIdx="0">
    <p:extLst>
      <p:ext uri="{19B8F6BF-5375-455C-9EA6-DF929625EA0E}">
        <p15:presenceInfo xmlns:p15="http://schemas.microsoft.com/office/powerpoint/2012/main" userId="189a1d031aa848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09030"/>
    <a:srgbClr val="000000"/>
    <a:srgbClr val="FFFFFF"/>
    <a:srgbClr val="4472C4"/>
    <a:srgbClr val="FFFF00"/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0000" autoAdjust="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451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21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449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97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918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60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4639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33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509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14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2021/11/16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8354"/>
            <a:ext cx="9144000" cy="1030293"/>
          </a:xfrm>
        </p:spPr>
        <p:txBody>
          <a:bodyPr>
            <a:normAutofit fontScale="90000"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Enumerating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Increasing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 Lin, Chao-Yuan Huang, and Ming-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Tsai</a:t>
            </a:r>
          </a:p>
          <a:p>
            <a:r>
              <a:rPr lang="fr-FR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COCOON 2021, LNCS 13025, pp. </a:t>
            </a:r>
            <a:r>
              <a:rPr lang="fr-FR" altLang="zh-TW" sz="1600">
                <a:latin typeface="Times New Roman" panose="02020603050405020304" pitchFamily="18" charset="0"/>
                <a:cs typeface="Times New Roman" panose="02020603050405020304" pitchFamily="18" charset="0"/>
              </a:rPr>
              <a:t>25–36, 2021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Nov.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16, 2021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927" y="1524295"/>
            <a:ext cx="1129684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 increasing subsequence (LCIS) problem is the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two classic problems in algorithms: the longest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subsequence (LIS) problem and the longest common subsequence (LCS)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 In this paper, we propose an algorithm that finds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LCIS of two sequences a, b of length n in O(n + σ +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where σ denotes the size of the alphabet set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increasing subsequences contained in a (thus, the running time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output-sensitive). Our algorithm employs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some simple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structures, and thus is implementation-wise simple. In addition, it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proved that our algorithm is optimal in time complexity when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≤ log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4, 1, 0,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D3DD895-53FB-49F6-A7DE-1EA8AC5FA5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05"/>
          <a:stretch/>
        </p:blipFill>
        <p:spPr>
          <a:xfrm>
            <a:off x="2296028" y="2435878"/>
            <a:ext cx="2247096" cy="427195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252EC9F-07B6-4A89-BC9E-D07C79798E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725"/>
          <a:stretch/>
        </p:blipFill>
        <p:spPr>
          <a:xfrm>
            <a:off x="5881034" y="2435878"/>
            <a:ext cx="3225665" cy="414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8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1, 0,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D3DD895-53FB-49F6-A7DE-1EA8AC5FA5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05"/>
          <a:stretch/>
        </p:blipFill>
        <p:spPr>
          <a:xfrm>
            <a:off x="2296028" y="2435878"/>
            <a:ext cx="2247096" cy="427195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252EC9F-07B6-4A89-BC9E-D07C79798E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725"/>
          <a:stretch/>
        </p:blipFill>
        <p:spPr>
          <a:xfrm>
            <a:off x="5881034" y="2435878"/>
            <a:ext cx="3225665" cy="4147977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6FFD273C-0C5A-4853-BA03-CCD1DF63F79C}"/>
              </a:ext>
            </a:extLst>
          </p:cNvPr>
          <p:cNvSpPr/>
          <p:nvPr/>
        </p:nvSpPr>
        <p:spPr>
          <a:xfrm>
            <a:off x="3741845" y="3638498"/>
            <a:ext cx="801279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27B3B66-1B77-40C9-AE7F-50B0EBBBD23D}"/>
              </a:ext>
            </a:extLst>
          </p:cNvPr>
          <p:cNvSpPr/>
          <p:nvPr/>
        </p:nvSpPr>
        <p:spPr>
          <a:xfrm>
            <a:off x="6711441" y="3770474"/>
            <a:ext cx="2178036" cy="5370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070A85F-A232-407A-B88E-F3B621369266}"/>
              </a:ext>
            </a:extLst>
          </p:cNvPr>
          <p:cNvSpPr/>
          <p:nvPr/>
        </p:nvSpPr>
        <p:spPr>
          <a:xfrm>
            <a:off x="7325754" y="5763971"/>
            <a:ext cx="1337479" cy="53708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46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1, 0,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64610C8-67AB-4A1D-AF45-651CACF39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43" b="23003"/>
          <a:stretch/>
        </p:blipFill>
        <p:spPr>
          <a:xfrm>
            <a:off x="6321646" y="1605519"/>
            <a:ext cx="2700664" cy="35617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1925CDD-4DB9-4015-ABB0-8DCEBCDE2A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44" t="78703" r="2216"/>
          <a:stretch/>
        </p:blipFill>
        <p:spPr>
          <a:xfrm>
            <a:off x="6217623" y="5845357"/>
            <a:ext cx="2804687" cy="741283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5016122C-02BF-4DB7-9B67-BA2ACD70F9BA}"/>
              </a:ext>
            </a:extLst>
          </p:cNvPr>
          <p:cNvGrpSpPr/>
          <p:nvPr/>
        </p:nvGrpSpPr>
        <p:grpSpPr>
          <a:xfrm>
            <a:off x="2007591" y="2627415"/>
            <a:ext cx="3134791" cy="3865460"/>
            <a:chOff x="1713297" y="2306904"/>
            <a:chExt cx="1992429" cy="2755983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9A88D9A-4587-41B7-BB90-AC14D472BC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" r="46958" b="5444"/>
            <a:stretch/>
          </p:blipFill>
          <p:spPr>
            <a:xfrm>
              <a:off x="1713297" y="2306904"/>
              <a:ext cx="1982804" cy="2755983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DD29D7F-CE4E-44F5-A481-5D600A2A52AD}"/>
                </a:ext>
              </a:extLst>
            </p:cNvPr>
            <p:cNvSpPr/>
            <p:nvPr/>
          </p:nvSpPr>
          <p:spPr>
            <a:xfrm>
              <a:off x="2993457" y="4601222"/>
              <a:ext cx="712269" cy="4616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D17448AC-B049-4E7E-9F07-8689CDA3DAD1}"/>
              </a:ext>
            </a:extLst>
          </p:cNvPr>
          <p:cNvSpPr/>
          <p:nvPr/>
        </p:nvSpPr>
        <p:spPr>
          <a:xfrm>
            <a:off x="7522590" y="5832998"/>
            <a:ext cx="1360077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BBB2F31-1E54-4307-8D01-637754BA2763}"/>
              </a:ext>
            </a:extLst>
          </p:cNvPr>
          <p:cNvSpPr/>
          <p:nvPr/>
        </p:nvSpPr>
        <p:spPr>
          <a:xfrm>
            <a:off x="3265862" y="3689084"/>
            <a:ext cx="801279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92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0,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64610C8-67AB-4A1D-AF45-651CACF390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43" b="23003"/>
          <a:stretch/>
        </p:blipFill>
        <p:spPr>
          <a:xfrm>
            <a:off x="6321646" y="1605519"/>
            <a:ext cx="2700664" cy="35617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1925CDD-4DB9-4015-ABB0-8DCEBCDE2A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44" t="78703" r="2216"/>
          <a:stretch/>
        </p:blipFill>
        <p:spPr>
          <a:xfrm>
            <a:off x="6217623" y="5845357"/>
            <a:ext cx="2804687" cy="741283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5016122C-02BF-4DB7-9B67-BA2ACD70F9BA}"/>
              </a:ext>
            </a:extLst>
          </p:cNvPr>
          <p:cNvGrpSpPr/>
          <p:nvPr/>
        </p:nvGrpSpPr>
        <p:grpSpPr>
          <a:xfrm>
            <a:off x="1946256" y="2627415"/>
            <a:ext cx="3134791" cy="3865460"/>
            <a:chOff x="1713297" y="2306904"/>
            <a:chExt cx="1992429" cy="2755983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9A88D9A-4587-41B7-BB90-AC14D472BC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" r="46958" b="5444"/>
            <a:stretch/>
          </p:blipFill>
          <p:spPr>
            <a:xfrm>
              <a:off x="1713297" y="2306904"/>
              <a:ext cx="1982804" cy="2755983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DD29D7F-CE4E-44F5-A481-5D600A2A52AD}"/>
                </a:ext>
              </a:extLst>
            </p:cNvPr>
            <p:cNvSpPr/>
            <p:nvPr/>
          </p:nvSpPr>
          <p:spPr>
            <a:xfrm>
              <a:off x="2993457" y="4601222"/>
              <a:ext cx="712269" cy="4616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D17448AC-B049-4E7E-9F07-8689CDA3DAD1}"/>
              </a:ext>
            </a:extLst>
          </p:cNvPr>
          <p:cNvSpPr/>
          <p:nvPr/>
        </p:nvSpPr>
        <p:spPr>
          <a:xfrm>
            <a:off x="8081388" y="5832998"/>
            <a:ext cx="801279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CEFBB944-019E-437A-8295-6D8C9EEB0454}"/>
              </a:ext>
            </a:extLst>
          </p:cNvPr>
          <p:cNvSpPr/>
          <p:nvPr/>
        </p:nvSpPr>
        <p:spPr>
          <a:xfrm>
            <a:off x="3265862" y="5821126"/>
            <a:ext cx="801279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BBB2F31-1E54-4307-8D01-637754BA2763}"/>
              </a:ext>
            </a:extLst>
          </p:cNvPr>
          <p:cNvSpPr/>
          <p:nvPr/>
        </p:nvSpPr>
        <p:spPr>
          <a:xfrm>
            <a:off x="4067141" y="4219883"/>
            <a:ext cx="801279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41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0,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451579F-B817-4322-8EC4-8BE07C5A0575}"/>
              </a:ext>
            </a:extLst>
          </p:cNvPr>
          <p:cNvGrpSpPr/>
          <p:nvPr/>
        </p:nvGrpSpPr>
        <p:grpSpPr>
          <a:xfrm>
            <a:off x="4437794" y="1784956"/>
            <a:ext cx="3055172" cy="4285906"/>
            <a:chOff x="5138737" y="1957387"/>
            <a:chExt cx="2599975" cy="399697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0497E52-3812-4BD3-BC57-49A441F02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8737" y="1957387"/>
              <a:ext cx="2599975" cy="3996976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3CB0A0C6-D019-475E-B883-AA84014B049F}"/>
                </a:ext>
              </a:extLst>
            </p:cNvPr>
            <p:cNvSpPr/>
            <p:nvPr/>
          </p:nvSpPr>
          <p:spPr>
            <a:xfrm>
              <a:off x="7007192" y="5188017"/>
              <a:ext cx="731520" cy="4616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2994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34E35787-E912-4685-A9F5-DD26B24DEA86}"/>
              </a:ext>
            </a:extLst>
          </p:cNvPr>
          <p:cNvGrpSpPr/>
          <p:nvPr/>
        </p:nvGrpSpPr>
        <p:grpSpPr>
          <a:xfrm>
            <a:off x="2906752" y="1548655"/>
            <a:ext cx="3055172" cy="4285906"/>
            <a:chOff x="2906752" y="1548655"/>
            <a:chExt cx="3055172" cy="4285906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6451579F-B817-4322-8EC4-8BE07C5A0575}"/>
                </a:ext>
              </a:extLst>
            </p:cNvPr>
            <p:cNvGrpSpPr/>
            <p:nvPr/>
          </p:nvGrpSpPr>
          <p:grpSpPr>
            <a:xfrm>
              <a:off x="2906752" y="1548655"/>
              <a:ext cx="3055172" cy="4285906"/>
              <a:chOff x="5138737" y="1957387"/>
              <a:chExt cx="2599975" cy="3996976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50497E52-3812-4BD3-BC57-49A441F02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8737" y="1957387"/>
                <a:ext cx="2599975" cy="3996976"/>
              </a:xfrm>
              <a:prstGeom prst="rect">
                <a:avLst/>
              </a:prstGeom>
            </p:spPr>
          </p:pic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3CB0A0C6-D019-475E-B883-AA84014B049F}"/>
                  </a:ext>
                </a:extLst>
              </p:cNvPr>
              <p:cNvSpPr/>
              <p:nvPr/>
            </p:nvSpPr>
            <p:spPr>
              <a:xfrm>
                <a:off x="7007192" y="5188017"/>
                <a:ext cx="731520" cy="4616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B45CBA9B-7DE1-4AF5-9AE1-04534FA17717}"/>
                </a:ext>
              </a:extLst>
            </p:cNvPr>
            <p:cNvSpPr/>
            <p:nvPr/>
          </p:nvSpPr>
          <p:spPr>
            <a:xfrm>
              <a:off x="4231111" y="2663718"/>
              <a:ext cx="802804" cy="65987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4, 1, 0, 3]</a:t>
            </a:r>
          </a:p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[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3, 1,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155F9D5-E843-4605-8CA7-E2709A856C2D}"/>
              </a:ext>
            </a:extLst>
          </p:cNvPr>
          <p:cNvGrpSpPr/>
          <p:nvPr/>
        </p:nvGrpSpPr>
        <p:grpSpPr>
          <a:xfrm>
            <a:off x="6494873" y="1862377"/>
            <a:ext cx="2152650" cy="3999587"/>
            <a:chOff x="7353370" y="1845278"/>
            <a:chExt cx="2152650" cy="3999587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782C66E-86FE-41A0-8AE1-CE8FD7698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3370" y="1845278"/>
              <a:ext cx="2152650" cy="3999587"/>
            </a:xfrm>
            <a:prstGeom prst="rect">
              <a:avLst/>
            </a:prstGeom>
          </p:spPr>
        </p:pic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E2D01AB9-A64D-4FA9-9E54-7648A9B072E1}"/>
                </a:ext>
              </a:extLst>
            </p:cNvPr>
            <p:cNvSpPr/>
            <p:nvPr/>
          </p:nvSpPr>
          <p:spPr>
            <a:xfrm>
              <a:off x="7387121" y="2860133"/>
              <a:ext cx="2085147" cy="65987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903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34E35787-E912-4685-A9F5-DD26B24DEA86}"/>
              </a:ext>
            </a:extLst>
          </p:cNvPr>
          <p:cNvGrpSpPr/>
          <p:nvPr/>
        </p:nvGrpSpPr>
        <p:grpSpPr>
          <a:xfrm>
            <a:off x="2906752" y="1548655"/>
            <a:ext cx="3055172" cy="4285906"/>
            <a:chOff x="2906752" y="1548655"/>
            <a:chExt cx="3055172" cy="4285906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6451579F-B817-4322-8EC4-8BE07C5A0575}"/>
                </a:ext>
              </a:extLst>
            </p:cNvPr>
            <p:cNvGrpSpPr/>
            <p:nvPr/>
          </p:nvGrpSpPr>
          <p:grpSpPr>
            <a:xfrm>
              <a:off x="2906752" y="1548655"/>
              <a:ext cx="3055172" cy="4285906"/>
              <a:chOff x="5138737" y="1957387"/>
              <a:chExt cx="2599975" cy="3996976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50497E52-3812-4BD3-BC57-49A441F02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8737" y="1957387"/>
                <a:ext cx="2599975" cy="3996976"/>
              </a:xfrm>
              <a:prstGeom prst="rect">
                <a:avLst/>
              </a:prstGeom>
            </p:spPr>
          </p:pic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3CB0A0C6-D019-475E-B883-AA84014B049F}"/>
                  </a:ext>
                </a:extLst>
              </p:cNvPr>
              <p:cNvSpPr/>
              <p:nvPr/>
            </p:nvSpPr>
            <p:spPr>
              <a:xfrm>
                <a:off x="7007192" y="5188017"/>
                <a:ext cx="731520" cy="4616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B45CBA9B-7DE1-4AF5-9AE1-04534FA17717}"/>
                </a:ext>
              </a:extLst>
            </p:cNvPr>
            <p:cNvSpPr/>
            <p:nvPr/>
          </p:nvSpPr>
          <p:spPr>
            <a:xfrm>
              <a:off x="4231111" y="2663718"/>
              <a:ext cx="802804" cy="65987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4, 1, 0, 3]</a:t>
            </a:r>
          </a:p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[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4, 3, 1,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1EAC05-A62E-4CAF-920B-EE571B736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523" y="1548655"/>
            <a:ext cx="2292962" cy="4289704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BDCECDE2-E540-4BF9-9025-4185291F89CB}"/>
              </a:ext>
            </a:extLst>
          </p:cNvPr>
          <p:cNvSpPr/>
          <p:nvPr/>
        </p:nvSpPr>
        <p:spPr>
          <a:xfrm>
            <a:off x="8635592" y="3770722"/>
            <a:ext cx="754144" cy="5279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2526D2E-BAB4-4A6E-A9E9-8FCB9FAD008C}"/>
              </a:ext>
            </a:extLst>
          </p:cNvPr>
          <p:cNvSpPr/>
          <p:nvPr/>
        </p:nvSpPr>
        <p:spPr>
          <a:xfrm>
            <a:off x="8635592" y="4276639"/>
            <a:ext cx="754144" cy="5279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28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6451579F-B817-4322-8EC4-8BE07C5A0575}"/>
              </a:ext>
            </a:extLst>
          </p:cNvPr>
          <p:cNvGrpSpPr/>
          <p:nvPr/>
        </p:nvGrpSpPr>
        <p:grpSpPr>
          <a:xfrm>
            <a:off x="2908023" y="1681229"/>
            <a:ext cx="3055172" cy="4285906"/>
            <a:chOff x="5138737" y="1957387"/>
            <a:chExt cx="2599975" cy="399697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0497E52-3812-4BD3-BC57-49A441F02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8737" y="1957387"/>
              <a:ext cx="2599975" cy="3996976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3CB0A0C6-D019-475E-B883-AA84014B049F}"/>
                </a:ext>
              </a:extLst>
            </p:cNvPr>
            <p:cNvSpPr/>
            <p:nvPr/>
          </p:nvSpPr>
          <p:spPr>
            <a:xfrm>
              <a:off x="7007192" y="5188017"/>
              <a:ext cx="731520" cy="4616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橢圓 8">
            <a:extLst>
              <a:ext uri="{FF2B5EF4-FFF2-40B4-BE49-F238E27FC236}">
                <a16:creationId xmlns:a16="http://schemas.microsoft.com/office/drawing/2014/main" id="{B45CBA9B-7DE1-4AF5-9AE1-04534FA17717}"/>
              </a:ext>
            </a:extLst>
          </p:cNvPr>
          <p:cNvSpPr/>
          <p:nvPr/>
        </p:nvSpPr>
        <p:spPr>
          <a:xfrm>
            <a:off x="4204102" y="4990011"/>
            <a:ext cx="802804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4, 1, 0, 3]</a:t>
            </a:r>
          </a:p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[1, 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1,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1EAC05-A62E-4CAF-920B-EE571B736E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674"/>
          <a:stretch/>
        </p:blipFill>
        <p:spPr>
          <a:xfrm>
            <a:off x="7290828" y="1610995"/>
            <a:ext cx="2292962" cy="3231253"/>
          </a:xfrm>
          <a:prstGeom prst="rect">
            <a:avLst/>
          </a:prstGeo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62526D2E-BAB4-4A6E-A9E9-8FCB9FAD008C}"/>
              </a:ext>
            </a:extLst>
          </p:cNvPr>
          <p:cNvSpPr/>
          <p:nvPr/>
        </p:nvSpPr>
        <p:spPr>
          <a:xfrm>
            <a:off x="7573740" y="4314347"/>
            <a:ext cx="1904854" cy="5279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5C4BF08-6B38-45CE-9CB6-57EE924709F4}"/>
              </a:ext>
            </a:extLst>
          </p:cNvPr>
          <p:cNvSpPr/>
          <p:nvPr/>
        </p:nvSpPr>
        <p:spPr>
          <a:xfrm>
            <a:off x="5160391" y="3425909"/>
            <a:ext cx="802804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DE12E8F-5FE3-4962-BEF6-C836B2F1DCBF}"/>
              </a:ext>
            </a:extLst>
          </p:cNvPr>
          <p:cNvGrpSpPr/>
          <p:nvPr/>
        </p:nvGrpSpPr>
        <p:grpSpPr>
          <a:xfrm>
            <a:off x="7259274" y="5167312"/>
            <a:ext cx="2438400" cy="962025"/>
            <a:chOff x="7260237" y="5144449"/>
            <a:chExt cx="2438400" cy="962025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623AB212-0880-4838-B86F-AC0CCE71F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60237" y="5144449"/>
              <a:ext cx="2438400" cy="962025"/>
            </a:xfrm>
            <a:prstGeom prst="rect">
              <a:avLst/>
            </a:prstGeom>
          </p:spPr>
        </p:pic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187A369B-1142-4B04-B732-9F690BA30F07}"/>
                </a:ext>
              </a:extLst>
            </p:cNvPr>
            <p:cNvSpPr/>
            <p:nvPr/>
          </p:nvSpPr>
          <p:spPr>
            <a:xfrm>
              <a:off x="7814821" y="5640429"/>
              <a:ext cx="480767" cy="2136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847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[1, 4, 1, 0, 3]</a:t>
            </a:r>
          </a:p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[1, 4, 3, 1, 3]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62ADFE-9DF6-4E7F-B4AA-7DF5441637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3"/>
          <a:stretch/>
        </p:blipFill>
        <p:spPr>
          <a:xfrm>
            <a:off x="4344692" y="1822663"/>
            <a:ext cx="5191125" cy="442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7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AF24F8-0BDF-47B5-A746-EFAE913DBB91}"/>
              </a:ext>
            </a:extLst>
          </p:cNvPr>
          <p:cNvSpPr txBox="1"/>
          <p:nvPr/>
        </p:nvSpPr>
        <p:spPr>
          <a:xfrm>
            <a:off x="1451728" y="1828800"/>
            <a:ext cx="6495068" cy="2811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steps : O(n + 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σ)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 : O(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2</a:t>
            </a:r>
            <a:r>
              <a:rPr lang="el-GR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en-US" altLang="zh-TW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TW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: O(n + </a:t>
            </a: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+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51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401</Words>
  <Application>Microsoft Office PowerPoint</Application>
  <PresentationFormat>寬螢幕</PresentationFormat>
  <Paragraphs>47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佈景主題</vt:lpstr>
      <vt:lpstr>An Efficient Algorithm for Enumerating Longest Common Increasing Subsequences</vt:lpstr>
      <vt:lpstr>Abstract</vt:lpstr>
      <vt:lpstr>LCIS</vt:lpstr>
      <vt:lpstr>LCIS</vt:lpstr>
      <vt:lpstr>LCIS</vt:lpstr>
      <vt:lpstr>LCIS</vt:lpstr>
      <vt:lpstr>LCIS</vt:lpstr>
      <vt:lpstr>LCIS</vt:lpstr>
      <vt:lpstr>LCIS</vt:lpstr>
      <vt:lpstr>LCIS</vt:lpstr>
      <vt:lpstr>LCIS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M093040076</cp:lastModifiedBy>
  <cp:revision>18</cp:revision>
  <dcterms:created xsi:type="dcterms:W3CDTF">2021-06-26T09:28:31Z</dcterms:created>
  <dcterms:modified xsi:type="dcterms:W3CDTF">2021-11-16T10:23:12Z</dcterms:modified>
</cp:coreProperties>
</file>