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5" r:id="rId9"/>
    <p:sldId id="263" r:id="rId10"/>
    <p:sldId id="264" r:id="rId11"/>
    <p:sldId id="266" r:id="rId12"/>
    <p:sldId id="267"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434B19-07C0-4180-8884-8312BDA376A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9D902B27-DAB9-45AA-98C7-090FD7BDD2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FFFC1E27-F0A3-47B8-A727-713FEAD5BDC3}"/>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2AE01C74-FFEF-4DD5-948A-07B1F0C235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5D6816-BE4F-4B35-AA49-BB23B0C706BE}"/>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2202896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92A7D0-CC59-4DCB-951C-C4E1ECF89552}"/>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4F322170-51B8-497F-AA63-335B7824CCC2}"/>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C4707E6-EC6E-49DA-9915-0B1025E6C665}"/>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52C09C55-15E6-4D47-8AA5-ECD1C69102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035646-0FCA-44E7-BAE2-2597F552AD93}"/>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321816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99A2A-1494-4B92-9587-1338569A50B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363CFB0-8B3F-4D4F-AE9E-6CF22CF72C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FC850346-B989-48E7-8123-A53458226843}"/>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2D8410DF-A07D-4839-9F50-31911F90FBC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2BBD8F9-CE59-49FA-A37E-F37C8158B393}"/>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898894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44074B-9925-49D7-B617-D341A68DE394}"/>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AAF1E0CC-C827-4FE6-9F30-365E598980A5}"/>
              </a:ext>
            </a:extLst>
          </p:cNvPr>
          <p:cNvSpPr>
            <a:spLocks noGrp="1"/>
          </p:cNvSpPr>
          <p:nvPr>
            <p:ph sz="half" idx="1"/>
          </p:nvPr>
        </p:nvSpPr>
        <p:spPr>
          <a:xfrm>
            <a:off x="838200" y="1825625"/>
            <a:ext cx="5181600" cy="4351338"/>
          </a:xfrm>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內容版面配置區 3">
            <a:extLst>
              <a:ext uri="{FF2B5EF4-FFF2-40B4-BE49-F238E27FC236}">
                <a16:creationId xmlns:a16="http://schemas.microsoft.com/office/drawing/2014/main" id="{78724018-8DE5-4527-9780-D1B3C787D5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89BA428-9085-47F6-9789-99BFB73AC019}"/>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6" name="頁尾版面配置區 5">
            <a:extLst>
              <a:ext uri="{FF2B5EF4-FFF2-40B4-BE49-F238E27FC236}">
                <a16:creationId xmlns:a16="http://schemas.microsoft.com/office/drawing/2014/main" id="{410761B6-63E5-4192-9AB8-3140F61C6A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FF662DC-07F9-4B82-86B0-49C6B8AA16F0}"/>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269240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4689C-4C61-48AA-A989-617463F2C37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6D82B70-A45F-48EF-A718-17ACCDE49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5D3735A-1191-4F0D-835F-212270226D2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D162B3B-1636-42F5-A045-C23113D7E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91D7344-C8DF-4441-BF0A-0B2F80FC9F34}"/>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C4AF757-5A59-4E23-BA47-258555E1E5A0}"/>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8" name="頁尾版面配置區 7">
            <a:extLst>
              <a:ext uri="{FF2B5EF4-FFF2-40B4-BE49-F238E27FC236}">
                <a16:creationId xmlns:a16="http://schemas.microsoft.com/office/drawing/2014/main" id="{ADBDCF46-95E4-4497-ADA0-C885EA4A05E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8339727-B56B-48E5-8383-0042057732F9}"/>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1568325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894925-BF2A-42AA-986C-A78943C967E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391107F-69BC-4185-AAFE-C48AFE0B1D94}"/>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4" name="頁尾版面配置區 3">
            <a:extLst>
              <a:ext uri="{FF2B5EF4-FFF2-40B4-BE49-F238E27FC236}">
                <a16:creationId xmlns:a16="http://schemas.microsoft.com/office/drawing/2014/main" id="{90A95930-661E-4300-911D-3C30C5DF56C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80CE09D-6492-40D7-9405-B5B4E0ED983B}"/>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149880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89D026D-A032-4166-98A5-24F4FD3C79AC}"/>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3" name="頁尾版面配置區 2">
            <a:extLst>
              <a:ext uri="{FF2B5EF4-FFF2-40B4-BE49-F238E27FC236}">
                <a16:creationId xmlns:a16="http://schemas.microsoft.com/office/drawing/2014/main" id="{242FF8B9-B90A-4309-84F4-6EB3B6CB238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146907C-0B81-4BB7-82D3-582899CFCA58}"/>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286087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C176DA-356E-472A-BFC8-88E4CEC5E01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26459C99-8C3B-427F-B293-8EF1087774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3DBB98F-2EDD-469C-B3CF-64B8AA289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E79F440-A03E-445D-AE86-5B4B9EDF8F57}"/>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6" name="頁尾版面配置區 5">
            <a:extLst>
              <a:ext uri="{FF2B5EF4-FFF2-40B4-BE49-F238E27FC236}">
                <a16:creationId xmlns:a16="http://schemas.microsoft.com/office/drawing/2014/main" id="{6441C945-169F-4D1B-8BAA-C306D0E4F10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1D99A4F-CA0C-4028-B74E-81C28FD6D069}"/>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625150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EC2533-3904-43B0-868F-D05E9E4869A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1C08253-9A6D-4347-92A8-56AF0891D5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378F8A6-9B17-41CB-9614-3DA8FC2C0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A4D6A2-23C4-4565-90E4-2CDE38DE4903}"/>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6" name="頁尾版面配置區 5">
            <a:extLst>
              <a:ext uri="{FF2B5EF4-FFF2-40B4-BE49-F238E27FC236}">
                <a16:creationId xmlns:a16="http://schemas.microsoft.com/office/drawing/2014/main" id="{88EF9942-627C-4CF3-90D5-7E378B111B9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452048F-EE43-432B-9425-565761E0E20E}"/>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195155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BD9ACF-7E8B-4E8D-9957-6E6824C3D0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FF18BC1-0DC2-4239-95B2-2C2B6331195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621A4C5-2889-40A4-852F-9A133BE3A56E}"/>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B7733A0A-DB71-4CD1-9930-D608E2B80D4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867B050-78FA-41C8-B963-3EF5779D2BDE}"/>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1371083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C10A406-FB27-426A-BB1A-3174C4FCAE1B}"/>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626DC26-645E-4EE2-B8F8-79287B39ED7B}"/>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A3EDF3B-6F14-4FD9-AA33-C911B1F7FCD3}"/>
              </a:ext>
            </a:extLst>
          </p:cNvPr>
          <p:cNvSpPr>
            <a:spLocks noGrp="1"/>
          </p:cNvSpPr>
          <p:nvPr>
            <p:ph type="dt" sz="half" idx="10"/>
          </p:nvPr>
        </p:nvSpPr>
        <p:spPr/>
        <p:txBody>
          <a:body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28BFDA38-3D34-4274-A7E0-B49C7BD0E30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E8911F-E358-4B61-949D-2A05540CD3E2}"/>
              </a:ext>
            </a:extLst>
          </p:cNvPr>
          <p:cNvSpPr>
            <a:spLocks noGrp="1"/>
          </p:cNvSpPr>
          <p:nvPr>
            <p:ph type="sldNum" sz="quarter" idx="12"/>
          </p:nvPr>
        </p:nvSpPr>
        <p:spPr/>
        <p:txBody>
          <a:body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1032541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65DCB4B-D572-4109-8464-49AA5FF73F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01F7AC9-D2CA-4672-9778-6F3E6D2641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DADBD20-A785-4A15-9D48-06E94E1D3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0450C6-143A-4233-9D96-4EDA532285CB}" type="datetimeFigureOut">
              <a:rPr lang="zh-TW" altLang="en-US" smtClean="0"/>
              <a:t>2021/11/16</a:t>
            </a:fld>
            <a:endParaRPr lang="zh-TW" altLang="en-US"/>
          </a:p>
        </p:txBody>
      </p:sp>
      <p:sp>
        <p:nvSpPr>
          <p:cNvPr id="5" name="頁尾版面配置區 4">
            <a:extLst>
              <a:ext uri="{FF2B5EF4-FFF2-40B4-BE49-F238E27FC236}">
                <a16:creationId xmlns:a16="http://schemas.microsoft.com/office/drawing/2014/main" id="{1523C3A5-4AEA-4352-9F42-DA01B01271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C0CB87-70F3-4E94-ACD2-91030A73C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B06A7-E22A-42D4-A584-AA73E9801391}" type="slidenum">
              <a:rPr lang="zh-TW" altLang="en-US" smtClean="0"/>
              <a:t>‹#›</a:t>
            </a:fld>
            <a:endParaRPr lang="zh-TW" altLang="en-US"/>
          </a:p>
        </p:txBody>
      </p:sp>
    </p:spTree>
    <p:extLst>
      <p:ext uri="{BB962C8B-B14F-4D97-AF65-F5344CB8AC3E}">
        <p14:creationId xmlns:p14="http://schemas.microsoft.com/office/powerpoint/2010/main" val="549795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EBA064-F543-4897-8D34-EBC839005DBC}"/>
              </a:ext>
            </a:extLst>
          </p:cNvPr>
          <p:cNvSpPr>
            <a:spLocks noGrp="1"/>
          </p:cNvSpPr>
          <p:nvPr>
            <p:ph type="ctr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An Encoding Algorithm Based on the Shortest Path Problem </a:t>
            </a:r>
            <a:endParaRPr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C0451A11-E3AC-44E7-8CB9-D3B8434FDDE1}"/>
              </a:ext>
            </a:extLst>
          </p:cNvPr>
          <p:cNvSpPr>
            <a:spLocks noGrp="1"/>
          </p:cNvSpPr>
          <p:nvPr>
            <p:ph type="subTitle" idx="1"/>
          </p:nvPr>
        </p:nvSpPr>
        <p:spPr>
          <a:xfrm>
            <a:off x="1058334" y="3602038"/>
            <a:ext cx="10075333" cy="1655762"/>
          </a:xfrm>
        </p:spPr>
        <p:txBody>
          <a:bodyPr>
            <a:normAutofit lnSpcReduction="10000"/>
          </a:bodyPr>
          <a:lstStyle/>
          <a:p>
            <a:r>
              <a:rPr lang="en-US" altLang="zh-TW" dirty="0" err="1">
                <a:latin typeface="Times New Roman" panose="02020603050405020304" pitchFamily="18" charset="0"/>
                <a:cs typeface="Times New Roman" panose="02020603050405020304" pitchFamily="18" charset="0"/>
              </a:rPr>
              <a:t>Fanghan</a:t>
            </a:r>
            <a:r>
              <a:rPr lang="en-US" altLang="zh-TW" dirty="0">
                <a:latin typeface="Times New Roman" panose="02020603050405020304" pitchFamily="18" charset="0"/>
                <a:cs typeface="Times New Roman" panose="02020603050405020304" pitchFamily="18" charset="0"/>
              </a:rPr>
              <a:t> Liu, </a:t>
            </a:r>
            <a:r>
              <a:rPr lang="en-US" altLang="zh-TW" dirty="0" err="1">
                <a:latin typeface="Times New Roman" panose="02020603050405020304" pitchFamily="18" charset="0"/>
                <a:cs typeface="Times New Roman" panose="02020603050405020304" pitchFamily="18" charset="0"/>
              </a:rPr>
              <a:t>Xiaobing</a:t>
            </a:r>
            <a:r>
              <a:rPr lang="en-US" altLang="zh-TW" dirty="0">
                <a:latin typeface="Times New Roman" panose="02020603050405020304" pitchFamily="18" charset="0"/>
                <a:cs typeface="Times New Roman" panose="02020603050405020304" pitchFamily="18" charset="0"/>
              </a:rPr>
              <a:t> Tang, </a:t>
            </a:r>
            <a:r>
              <a:rPr lang="en-US" altLang="zh-TW" dirty="0" err="1">
                <a:latin typeface="Times New Roman" panose="02020603050405020304" pitchFamily="18" charset="0"/>
                <a:cs typeface="Times New Roman" panose="02020603050405020304" pitchFamily="18" charset="0"/>
              </a:rPr>
              <a:t>Zhaohui</a:t>
            </a:r>
            <a:r>
              <a:rPr lang="en-US" altLang="zh-TW" dirty="0">
                <a:latin typeface="Times New Roman" panose="02020603050405020304" pitchFamily="18" charset="0"/>
                <a:cs typeface="Times New Roman" panose="02020603050405020304" pitchFamily="18" charset="0"/>
              </a:rPr>
              <a:t> Yang</a:t>
            </a:r>
          </a:p>
          <a:p>
            <a:r>
              <a:rPr lang="en-US" altLang="zh-TW" dirty="0">
                <a:latin typeface="Times New Roman" panose="02020603050405020304" pitchFamily="18" charset="0"/>
                <a:cs typeface="Times New Roman" panose="02020603050405020304" pitchFamily="18" charset="0"/>
              </a:rPr>
              <a:t>Nov. 16-19, 2018 </a:t>
            </a:r>
          </a:p>
          <a:p>
            <a:r>
              <a:rPr lang="en-US" altLang="zh-TW" dirty="0">
                <a:latin typeface="Times New Roman" panose="02020603050405020304" pitchFamily="18" charset="0"/>
                <a:cs typeface="Times New Roman" panose="02020603050405020304" pitchFamily="18" charset="0"/>
              </a:rPr>
              <a:t>2018 14th International Conference on Computational Intelligence and Security, Pages 35 - 39, Hangzhou, China</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895E92FB-DFAB-4210-B24C-CB3D5A74E10D}"/>
              </a:ext>
            </a:extLst>
          </p:cNvPr>
          <p:cNvSpPr txBox="1"/>
          <p:nvPr/>
        </p:nvSpPr>
        <p:spPr>
          <a:xfrm>
            <a:off x="8602134" y="6027003"/>
            <a:ext cx="3589866" cy="830997"/>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Guan-Ting Chen</a:t>
            </a:r>
          </a:p>
          <a:p>
            <a:r>
              <a:rPr lang="en-US" altLang="zh-TW" sz="2400" dirty="0">
                <a:latin typeface="Times New Roman" panose="02020603050405020304" pitchFamily="18" charset="0"/>
                <a:cs typeface="Times New Roman" panose="02020603050405020304" pitchFamily="18" charset="0"/>
              </a:rPr>
              <a:t>Date: Nov. 16, 2021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0972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032E1A-3DBA-481F-8522-15535FA823F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D5B5F6F-D150-4ED7-A371-2CBA6867D23D}"/>
              </a:ext>
            </a:extLst>
          </p:cNvPr>
          <p:cNvSpPr>
            <a:spLocks noGrp="1"/>
          </p:cNvSpPr>
          <p:nvPr>
            <p:ph idx="1"/>
          </p:nvPr>
        </p:nvSpPr>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The transportation network of the city is dynamic and stochastic, The problem of dynamic stochastic shortest path is NP-hard. </a:t>
            </a:r>
            <a:r>
              <a:rPr lang="en-US" altLang="zh-TW">
                <a:latin typeface="Times New Roman" panose="02020603050405020304" pitchFamily="18" charset="0"/>
                <a:cs typeface="Times New Roman" panose="02020603050405020304" pitchFamily="18" charset="0"/>
              </a:rPr>
              <a:t>The </a:t>
            </a:r>
            <a:r>
              <a:rPr lang="en-US" altLang="zh-TW" dirty="0">
                <a:latin typeface="Times New Roman" panose="02020603050405020304" pitchFamily="18" charset="0"/>
                <a:cs typeface="Times New Roman" panose="02020603050405020304" pitchFamily="18" charset="0"/>
              </a:rPr>
              <a:t>optimal problem of path is widely used in the fields of  transportation,  communication  and  computer  network. An improved self adaptive genetic algorithm is proposed by encoding the chromosomal mode. The  paper investigates  the  shortest  path problem based on the genetic algorithm principle, and improved genetic algorithm  by  adjusting  the  encoding  parameters.  Many experiments  indicate  that  the  improved  genetic  algorithm could adapt to new transportation rapidly in global optimization than A*  algorithm  and  Dijkstra  algorithm  and  obtain  the  better solutions  in  the  shortest  path  problem  in  the  fields  of transportation and computer network.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521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DB0DB1-475F-4FB7-BEC0-9A4D40E162E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Dynamic Stochastic Shortest Path Problem</a:t>
            </a:r>
            <a:endParaRPr lang="zh-TW" altLang="en-US" dirty="0"/>
          </a:p>
        </p:txBody>
      </p:sp>
      <p:sp>
        <p:nvSpPr>
          <p:cNvPr id="3" name="內容版面配置區 2">
            <a:extLst>
              <a:ext uri="{FF2B5EF4-FFF2-40B4-BE49-F238E27FC236}">
                <a16:creationId xmlns:a16="http://schemas.microsoft.com/office/drawing/2014/main" id="{2D54B939-FBEF-4116-918D-5046ACAEBA96}"/>
              </a:ext>
            </a:extLst>
          </p:cNvPr>
          <p:cNvSpPr>
            <a:spLocks noGrp="1"/>
          </p:cNvSpPr>
          <p:nvPr>
            <p:ph idx="1"/>
          </p:nvPr>
        </p:nvSpPr>
        <p:spPr/>
        <p:txBody>
          <a:bodyPr>
            <a:normAutofit/>
          </a:bodyPr>
          <a:lstStyle/>
          <a:p>
            <a:r>
              <a:rPr lang="en-US" altLang="zh-TW" sz="3200" dirty="0">
                <a:latin typeface="+mj-lt"/>
              </a:rPr>
              <a:t>Weight of Nodes</a:t>
            </a:r>
          </a:p>
          <a:p>
            <a:pPr lvl="1"/>
            <a:r>
              <a:rPr lang="zh-TW" altLang="en-US" sz="2800" dirty="0">
                <a:latin typeface="+mj-lt"/>
              </a:rPr>
              <a:t>離散隨機變量</a:t>
            </a:r>
            <a:endParaRPr lang="en-US" altLang="zh-TW" sz="2800" dirty="0">
              <a:latin typeface="+mj-lt"/>
            </a:endParaRPr>
          </a:p>
          <a:p>
            <a:pPr lvl="1"/>
            <a:endParaRPr lang="en-US" altLang="zh-TW" sz="2800" dirty="0">
              <a:latin typeface="+mj-lt"/>
            </a:endParaRPr>
          </a:p>
          <a:p>
            <a:r>
              <a:rPr lang="en-US" altLang="zh-TW" sz="3200" dirty="0">
                <a:latin typeface="+mj-lt"/>
              </a:rPr>
              <a:t>Weight of Edge</a:t>
            </a:r>
          </a:p>
          <a:p>
            <a:endParaRPr lang="en-US" altLang="zh-TW" sz="3200" dirty="0">
              <a:latin typeface="+mj-lt"/>
            </a:endParaRPr>
          </a:p>
          <a:p>
            <a:r>
              <a:rPr lang="en-US" altLang="zh-TW" sz="3200" dirty="0">
                <a:latin typeface="+mj-lt"/>
              </a:rPr>
              <a:t>Dynamic vs. Static</a:t>
            </a:r>
          </a:p>
          <a:p>
            <a:pPr lvl="1"/>
            <a:r>
              <a:rPr lang="zh-TW" altLang="en-US" sz="2800" dirty="0">
                <a:latin typeface="+mj-lt"/>
              </a:rPr>
              <a:t>時間</a:t>
            </a:r>
            <a:endParaRPr lang="en-US" altLang="zh-TW" sz="2800" dirty="0">
              <a:latin typeface="+mj-lt"/>
            </a:endParaRPr>
          </a:p>
          <a:p>
            <a:pPr lvl="1"/>
            <a:r>
              <a:rPr lang="zh-TW" altLang="en-US" sz="2800" dirty="0">
                <a:latin typeface="+mj-lt"/>
              </a:rPr>
              <a:t>統計成本</a:t>
            </a:r>
            <a:endParaRPr lang="en-US" altLang="zh-TW" sz="2800" dirty="0">
              <a:latin typeface="+mj-lt"/>
            </a:endParaRPr>
          </a:p>
          <a:p>
            <a:pPr lvl="1"/>
            <a:endParaRPr lang="en-US" altLang="zh-TW" sz="2800" dirty="0">
              <a:latin typeface="+mj-lt"/>
            </a:endParaRPr>
          </a:p>
        </p:txBody>
      </p:sp>
    </p:spTree>
    <p:extLst>
      <p:ext uri="{BB962C8B-B14F-4D97-AF65-F5344CB8AC3E}">
        <p14:creationId xmlns:p14="http://schemas.microsoft.com/office/powerpoint/2010/main" val="18275355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41F2EF-2C33-4B34-8EE9-CB5E4081B6E6}"/>
              </a:ext>
            </a:extLst>
          </p:cNvPr>
          <p:cNvSpPr>
            <a:spLocks noGrp="1"/>
          </p:cNvSpPr>
          <p:nvPr>
            <p:ph type="title"/>
          </p:nvPr>
        </p:nvSpPr>
        <p:spPr/>
        <p:txBody>
          <a:bodyPr/>
          <a:lstStyle/>
          <a:p>
            <a:r>
              <a:rPr lang="en-US" altLang="zh-TW" dirty="0"/>
              <a:t>Genetic Algorithm</a:t>
            </a:r>
            <a:endParaRPr lang="zh-TW" altLang="en-US" dirty="0"/>
          </a:p>
        </p:txBody>
      </p:sp>
      <p:sp>
        <p:nvSpPr>
          <p:cNvPr id="3" name="內容版面配置區 2">
            <a:extLst>
              <a:ext uri="{FF2B5EF4-FFF2-40B4-BE49-F238E27FC236}">
                <a16:creationId xmlns:a16="http://schemas.microsoft.com/office/drawing/2014/main" id="{58C26A1A-1664-4AC6-A932-F0D988991FD7}"/>
              </a:ext>
            </a:extLst>
          </p:cNvPr>
          <p:cNvSpPr>
            <a:spLocks noGrp="1"/>
          </p:cNvSpPr>
          <p:nvPr>
            <p:ph idx="1"/>
          </p:nvPr>
        </p:nvSpPr>
        <p:spPr/>
        <p:txBody>
          <a:bodyPr>
            <a:normAutofit/>
          </a:bodyPr>
          <a:lstStyle/>
          <a:p>
            <a:r>
              <a:rPr lang="zh-TW" altLang="en-US" sz="3200" dirty="0"/>
              <a:t>模擬生物</a:t>
            </a:r>
            <a:endParaRPr lang="en-US" altLang="zh-TW" sz="3200" dirty="0"/>
          </a:p>
          <a:p>
            <a:pPr lvl="1"/>
            <a:r>
              <a:rPr lang="zh-TW" altLang="en-US" sz="2800" dirty="0">
                <a:latin typeface="+mj-lt"/>
              </a:rPr>
              <a:t>繼承 </a:t>
            </a:r>
            <a:r>
              <a:rPr lang="en-US" altLang="zh-TW" sz="2800" dirty="0">
                <a:latin typeface="+mj-lt"/>
              </a:rPr>
              <a:t>Inheritance</a:t>
            </a:r>
          </a:p>
          <a:p>
            <a:pPr lvl="1"/>
            <a:r>
              <a:rPr lang="zh-TW" altLang="en-US" sz="2800" dirty="0">
                <a:latin typeface="+mj-lt"/>
              </a:rPr>
              <a:t>選擇 </a:t>
            </a:r>
            <a:r>
              <a:rPr lang="en-US" altLang="zh-TW" sz="2800" dirty="0">
                <a:latin typeface="+mj-lt"/>
              </a:rPr>
              <a:t>Selection</a:t>
            </a:r>
          </a:p>
          <a:p>
            <a:pPr lvl="1"/>
            <a:r>
              <a:rPr lang="zh-TW" altLang="en-US" sz="2800" dirty="0"/>
              <a:t>交配 </a:t>
            </a:r>
            <a:r>
              <a:rPr lang="en-US" altLang="zh-TW" sz="2800" dirty="0">
                <a:latin typeface="+mj-lt"/>
              </a:rPr>
              <a:t>Crossover</a:t>
            </a:r>
          </a:p>
          <a:p>
            <a:pPr lvl="1"/>
            <a:r>
              <a:rPr lang="zh-TW" altLang="en-US" sz="2800" dirty="0"/>
              <a:t>突變 </a:t>
            </a:r>
            <a:r>
              <a:rPr lang="en-US" altLang="zh-TW" sz="2800" dirty="0">
                <a:latin typeface="+mj-lt"/>
              </a:rPr>
              <a:t>Mutation</a:t>
            </a:r>
          </a:p>
          <a:p>
            <a:pPr marL="457200" lvl="1" indent="0">
              <a:buNone/>
            </a:pPr>
            <a:endParaRPr lang="en-US" altLang="zh-TW" sz="2800" dirty="0"/>
          </a:p>
          <a:p>
            <a:pPr lvl="1"/>
            <a:endParaRPr lang="en-US" altLang="zh-TW" sz="2800" dirty="0"/>
          </a:p>
          <a:p>
            <a:r>
              <a:rPr lang="zh-TW" altLang="en-US" sz="3200" dirty="0"/>
              <a:t>染色體</a:t>
            </a:r>
            <a:endParaRPr lang="en-US" altLang="zh-TW" sz="3200" dirty="0"/>
          </a:p>
          <a:p>
            <a:pPr lvl="1"/>
            <a:r>
              <a:rPr lang="zh-TW" altLang="en-US" sz="2800" dirty="0"/>
              <a:t>由字串組成</a:t>
            </a:r>
            <a:endParaRPr lang="en-US" altLang="zh-TW" sz="2800" dirty="0"/>
          </a:p>
        </p:txBody>
      </p:sp>
    </p:spTree>
    <p:extLst>
      <p:ext uri="{BB962C8B-B14F-4D97-AF65-F5344CB8AC3E}">
        <p14:creationId xmlns:p14="http://schemas.microsoft.com/office/powerpoint/2010/main" val="62171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2B25C8-EA4A-4327-A19F-61C99CA0B7D6}"/>
              </a:ext>
            </a:extLst>
          </p:cNvPr>
          <p:cNvSpPr>
            <a:spLocks noGrp="1"/>
          </p:cNvSpPr>
          <p:nvPr>
            <p:ph type="title"/>
          </p:nvPr>
        </p:nvSpPr>
        <p:spPr/>
        <p:txBody>
          <a:bodyPr/>
          <a:lstStyle/>
          <a:p>
            <a:r>
              <a:rPr lang="en-US" altLang="zh-TW" dirty="0"/>
              <a:t>Initialization</a:t>
            </a:r>
            <a:endParaRPr lang="zh-TW" altLang="en-US" dirty="0"/>
          </a:p>
        </p:txBody>
      </p:sp>
      <p:sp>
        <p:nvSpPr>
          <p:cNvPr id="3" name="內容版面配置區 2">
            <a:extLst>
              <a:ext uri="{FF2B5EF4-FFF2-40B4-BE49-F238E27FC236}">
                <a16:creationId xmlns:a16="http://schemas.microsoft.com/office/drawing/2014/main" id="{8E432470-8F71-4673-81DE-F2DB0FD332F9}"/>
              </a:ext>
            </a:extLst>
          </p:cNvPr>
          <p:cNvSpPr>
            <a:spLocks noGrp="1"/>
          </p:cNvSpPr>
          <p:nvPr>
            <p:ph idx="1"/>
          </p:nvPr>
        </p:nvSpPr>
        <p:spPr/>
        <p:txBody>
          <a:bodyPr/>
          <a:lstStyle/>
          <a:p>
            <a:r>
              <a:rPr lang="en-US" altLang="zh-TW" dirty="0">
                <a:latin typeface="+mj-lt"/>
              </a:rPr>
              <a:t>Chromosome</a:t>
            </a:r>
          </a:p>
          <a:p>
            <a:pPr lvl="1"/>
            <a:r>
              <a:rPr lang="zh-TW" altLang="en-US" dirty="0"/>
              <a:t>不需等長</a:t>
            </a:r>
            <a:endParaRPr lang="en-US" altLang="zh-TW" dirty="0"/>
          </a:p>
          <a:p>
            <a:pPr lvl="1"/>
            <a:r>
              <a:rPr lang="zh-TW" altLang="en-US" dirty="0"/>
              <a:t>直接表示路徑長</a:t>
            </a:r>
            <a:endParaRPr lang="en-US" altLang="zh-TW" dirty="0"/>
          </a:p>
          <a:p>
            <a:pPr lvl="1"/>
            <a:endParaRPr lang="en-US" altLang="zh-TW" dirty="0"/>
          </a:p>
          <a:p>
            <a:endParaRPr lang="zh-TW" altLang="en-US" dirty="0"/>
          </a:p>
        </p:txBody>
      </p:sp>
      <p:graphicFrame>
        <p:nvGraphicFramePr>
          <p:cNvPr id="4" name="表格 4">
            <a:extLst>
              <a:ext uri="{FF2B5EF4-FFF2-40B4-BE49-F238E27FC236}">
                <a16:creationId xmlns:a16="http://schemas.microsoft.com/office/drawing/2014/main" id="{F1576701-AD38-408B-9D8C-251DE0DEDACC}"/>
              </a:ext>
            </a:extLst>
          </p:cNvPr>
          <p:cNvGraphicFramePr>
            <a:graphicFrameLocks noGrp="1"/>
          </p:cNvGraphicFramePr>
          <p:nvPr>
            <p:extLst>
              <p:ext uri="{D42A27DB-BD31-4B8C-83A1-F6EECF244321}">
                <p14:modId xmlns:p14="http://schemas.microsoft.com/office/powerpoint/2010/main" val="1976403990"/>
              </p:ext>
            </p:extLst>
          </p:nvPr>
        </p:nvGraphicFramePr>
        <p:xfrm>
          <a:off x="838200" y="5195940"/>
          <a:ext cx="8128000" cy="457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831232460"/>
                    </a:ext>
                  </a:extLst>
                </a:gridCol>
                <a:gridCol w="1625600">
                  <a:extLst>
                    <a:ext uri="{9D8B030D-6E8A-4147-A177-3AD203B41FA5}">
                      <a16:colId xmlns:a16="http://schemas.microsoft.com/office/drawing/2014/main" val="3431810421"/>
                    </a:ext>
                  </a:extLst>
                </a:gridCol>
                <a:gridCol w="1625600">
                  <a:extLst>
                    <a:ext uri="{9D8B030D-6E8A-4147-A177-3AD203B41FA5}">
                      <a16:colId xmlns:a16="http://schemas.microsoft.com/office/drawing/2014/main" val="38840261"/>
                    </a:ext>
                  </a:extLst>
                </a:gridCol>
                <a:gridCol w="1625600">
                  <a:extLst>
                    <a:ext uri="{9D8B030D-6E8A-4147-A177-3AD203B41FA5}">
                      <a16:colId xmlns:a16="http://schemas.microsoft.com/office/drawing/2014/main" val="4210036487"/>
                    </a:ext>
                  </a:extLst>
                </a:gridCol>
                <a:gridCol w="1625600">
                  <a:extLst>
                    <a:ext uri="{9D8B030D-6E8A-4147-A177-3AD203B41FA5}">
                      <a16:colId xmlns:a16="http://schemas.microsoft.com/office/drawing/2014/main" val="629004825"/>
                    </a:ext>
                  </a:extLst>
                </a:gridCol>
              </a:tblGrid>
              <a:tr h="370840">
                <a:tc>
                  <a:txBody>
                    <a:bodyPr/>
                    <a:lstStyle/>
                    <a:p>
                      <a:r>
                        <a:rPr lang="en-US" altLang="zh-TW" sz="2400" b="0" cap="none" spc="0" dirty="0">
                          <a:ln>
                            <a:noFill/>
                          </a:ln>
                          <a:solidFill>
                            <a:schemeClr val="tx1"/>
                          </a:solidFill>
                          <a:effectLst/>
                        </a:rPr>
                        <a:t>S</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3</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7</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10</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t</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1373123"/>
                  </a:ext>
                </a:extLst>
              </a:tr>
            </a:tbl>
          </a:graphicData>
        </a:graphic>
      </p:graphicFrame>
      <p:pic>
        <p:nvPicPr>
          <p:cNvPr id="6" name="圖片 5" descr="一張含有 天空, 白色 的圖片&#10;&#10;自動產生的描述">
            <a:extLst>
              <a:ext uri="{FF2B5EF4-FFF2-40B4-BE49-F238E27FC236}">
                <a16:creationId xmlns:a16="http://schemas.microsoft.com/office/drawing/2014/main" id="{D162A182-927D-4A15-9107-FFEA61C61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6275" y="1027906"/>
            <a:ext cx="6867525" cy="3819525"/>
          </a:xfrm>
          <a:prstGeom prst="rect">
            <a:avLst/>
          </a:prstGeom>
        </p:spPr>
      </p:pic>
    </p:spTree>
    <p:extLst>
      <p:ext uri="{BB962C8B-B14F-4D97-AF65-F5344CB8AC3E}">
        <p14:creationId xmlns:p14="http://schemas.microsoft.com/office/powerpoint/2010/main" val="1645763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2B25C8-EA4A-4327-A19F-61C99CA0B7D6}"/>
              </a:ext>
            </a:extLst>
          </p:cNvPr>
          <p:cNvSpPr>
            <a:spLocks noGrp="1"/>
          </p:cNvSpPr>
          <p:nvPr>
            <p:ph type="title"/>
          </p:nvPr>
        </p:nvSpPr>
        <p:spPr/>
        <p:txBody>
          <a:bodyPr/>
          <a:lstStyle/>
          <a:p>
            <a:r>
              <a:rPr lang="en-US" altLang="zh-TW" dirty="0"/>
              <a:t>Initialization</a:t>
            </a:r>
            <a:endParaRPr lang="zh-TW" altLang="en-US" dirty="0"/>
          </a:p>
        </p:txBody>
      </p:sp>
      <p:sp>
        <p:nvSpPr>
          <p:cNvPr id="3" name="內容版面配置區 2">
            <a:extLst>
              <a:ext uri="{FF2B5EF4-FFF2-40B4-BE49-F238E27FC236}">
                <a16:creationId xmlns:a16="http://schemas.microsoft.com/office/drawing/2014/main" id="{8E432470-8F71-4673-81DE-F2DB0FD332F9}"/>
              </a:ext>
            </a:extLst>
          </p:cNvPr>
          <p:cNvSpPr>
            <a:spLocks noGrp="1"/>
          </p:cNvSpPr>
          <p:nvPr>
            <p:ph idx="1"/>
          </p:nvPr>
        </p:nvSpPr>
        <p:spPr/>
        <p:txBody>
          <a:bodyPr/>
          <a:lstStyle/>
          <a:p>
            <a:r>
              <a:rPr lang="zh-TW" altLang="en-US" dirty="0">
                <a:latin typeface="+mj-lt"/>
              </a:rPr>
              <a:t>檢查是否存在 </a:t>
            </a:r>
            <a:r>
              <a:rPr lang="en-US" altLang="zh-TW" dirty="0">
                <a:latin typeface="+mj-lt"/>
              </a:rPr>
              <a:t>Cycle</a:t>
            </a:r>
          </a:p>
          <a:p>
            <a:pPr lvl="1"/>
            <a:endParaRPr lang="en-US" altLang="zh-TW" dirty="0"/>
          </a:p>
          <a:p>
            <a:endParaRPr lang="zh-TW" altLang="en-US" dirty="0"/>
          </a:p>
        </p:txBody>
      </p:sp>
      <p:graphicFrame>
        <p:nvGraphicFramePr>
          <p:cNvPr id="4" name="表格 4">
            <a:extLst>
              <a:ext uri="{FF2B5EF4-FFF2-40B4-BE49-F238E27FC236}">
                <a16:creationId xmlns:a16="http://schemas.microsoft.com/office/drawing/2014/main" id="{F1576701-AD38-408B-9D8C-251DE0DEDACC}"/>
              </a:ext>
            </a:extLst>
          </p:cNvPr>
          <p:cNvGraphicFramePr>
            <a:graphicFrameLocks noGrp="1"/>
          </p:cNvGraphicFramePr>
          <p:nvPr>
            <p:extLst>
              <p:ext uri="{D42A27DB-BD31-4B8C-83A1-F6EECF244321}">
                <p14:modId xmlns:p14="http://schemas.microsoft.com/office/powerpoint/2010/main" val="2669415565"/>
              </p:ext>
            </p:extLst>
          </p:nvPr>
        </p:nvGraphicFramePr>
        <p:xfrm>
          <a:off x="838200" y="5054997"/>
          <a:ext cx="8128001" cy="45720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831232460"/>
                    </a:ext>
                  </a:extLst>
                </a:gridCol>
                <a:gridCol w="1161143">
                  <a:extLst>
                    <a:ext uri="{9D8B030D-6E8A-4147-A177-3AD203B41FA5}">
                      <a16:colId xmlns:a16="http://schemas.microsoft.com/office/drawing/2014/main" val="3431810421"/>
                    </a:ext>
                  </a:extLst>
                </a:gridCol>
                <a:gridCol w="1161143">
                  <a:extLst>
                    <a:ext uri="{9D8B030D-6E8A-4147-A177-3AD203B41FA5}">
                      <a16:colId xmlns:a16="http://schemas.microsoft.com/office/drawing/2014/main" val="38840261"/>
                    </a:ext>
                  </a:extLst>
                </a:gridCol>
                <a:gridCol w="1161143">
                  <a:extLst>
                    <a:ext uri="{9D8B030D-6E8A-4147-A177-3AD203B41FA5}">
                      <a16:colId xmlns:a16="http://schemas.microsoft.com/office/drawing/2014/main" val="4210036487"/>
                    </a:ext>
                  </a:extLst>
                </a:gridCol>
                <a:gridCol w="1161143">
                  <a:extLst>
                    <a:ext uri="{9D8B030D-6E8A-4147-A177-3AD203B41FA5}">
                      <a16:colId xmlns:a16="http://schemas.microsoft.com/office/drawing/2014/main" val="1752219488"/>
                    </a:ext>
                  </a:extLst>
                </a:gridCol>
                <a:gridCol w="1161143">
                  <a:extLst>
                    <a:ext uri="{9D8B030D-6E8A-4147-A177-3AD203B41FA5}">
                      <a16:colId xmlns:a16="http://schemas.microsoft.com/office/drawing/2014/main" val="172320450"/>
                    </a:ext>
                  </a:extLst>
                </a:gridCol>
                <a:gridCol w="1161143">
                  <a:extLst>
                    <a:ext uri="{9D8B030D-6E8A-4147-A177-3AD203B41FA5}">
                      <a16:colId xmlns:a16="http://schemas.microsoft.com/office/drawing/2014/main" val="629004825"/>
                    </a:ext>
                  </a:extLst>
                </a:gridCol>
              </a:tblGrid>
              <a:tr h="370840">
                <a:tc>
                  <a:txBody>
                    <a:bodyPr/>
                    <a:lstStyle/>
                    <a:p>
                      <a:r>
                        <a:rPr lang="en-US" altLang="zh-TW" sz="2400" b="0" cap="none" spc="0" dirty="0">
                          <a:ln>
                            <a:noFill/>
                          </a:ln>
                          <a:solidFill>
                            <a:schemeClr val="tx1"/>
                          </a:solidFill>
                          <a:effectLst/>
                        </a:rPr>
                        <a:t>s</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4</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8</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9</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5</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8</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t</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1373123"/>
                  </a:ext>
                </a:extLst>
              </a:tr>
            </a:tbl>
          </a:graphicData>
        </a:graphic>
      </p:graphicFrame>
      <p:pic>
        <p:nvPicPr>
          <p:cNvPr id="6" name="圖片 5" descr="一張含有 天空, 白色 的圖片&#10;&#10;自動產生的描述">
            <a:extLst>
              <a:ext uri="{FF2B5EF4-FFF2-40B4-BE49-F238E27FC236}">
                <a16:creationId xmlns:a16="http://schemas.microsoft.com/office/drawing/2014/main" id="{D162A182-927D-4A15-9107-FFEA61C61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6275" y="1027906"/>
            <a:ext cx="6867525" cy="3819525"/>
          </a:xfrm>
          <a:prstGeom prst="rect">
            <a:avLst/>
          </a:prstGeom>
        </p:spPr>
      </p:pic>
      <p:graphicFrame>
        <p:nvGraphicFramePr>
          <p:cNvPr id="7" name="表格 4">
            <a:extLst>
              <a:ext uri="{FF2B5EF4-FFF2-40B4-BE49-F238E27FC236}">
                <a16:creationId xmlns:a16="http://schemas.microsoft.com/office/drawing/2014/main" id="{71262DD3-DA75-463B-BD48-A6A2081CB5D4}"/>
              </a:ext>
            </a:extLst>
          </p:cNvPr>
          <p:cNvGraphicFramePr>
            <a:graphicFrameLocks noGrp="1"/>
          </p:cNvGraphicFramePr>
          <p:nvPr>
            <p:extLst>
              <p:ext uri="{D42A27DB-BD31-4B8C-83A1-F6EECF244321}">
                <p14:modId xmlns:p14="http://schemas.microsoft.com/office/powerpoint/2010/main" val="3730269373"/>
              </p:ext>
            </p:extLst>
          </p:nvPr>
        </p:nvGraphicFramePr>
        <p:xfrm>
          <a:off x="5054600" y="5770761"/>
          <a:ext cx="4644572" cy="45720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831232460"/>
                    </a:ext>
                  </a:extLst>
                </a:gridCol>
                <a:gridCol w="1161143">
                  <a:extLst>
                    <a:ext uri="{9D8B030D-6E8A-4147-A177-3AD203B41FA5}">
                      <a16:colId xmlns:a16="http://schemas.microsoft.com/office/drawing/2014/main" val="3431810421"/>
                    </a:ext>
                  </a:extLst>
                </a:gridCol>
                <a:gridCol w="1161143">
                  <a:extLst>
                    <a:ext uri="{9D8B030D-6E8A-4147-A177-3AD203B41FA5}">
                      <a16:colId xmlns:a16="http://schemas.microsoft.com/office/drawing/2014/main" val="38840261"/>
                    </a:ext>
                  </a:extLst>
                </a:gridCol>
                <a:gridCol w="1161143">
                  <a:extLst>
                    <a:ext uri="{9D8B030D-6E8A-4147-A177-3AD203B41FA5}">
                      <a16:colId xmlns:a16="http://schemas.microsoft.com/office/drawing/2014/main" val="629004825"/>
                    </a:ext>
                  </a:extLst>
                </a:gridCol>
              </a:tblGrid>
              <a:tr h="370840">
                <a:tc>
                  <a:txBody>
                    <a:bodyPr/>
                    <a:lstStyle/>
                    <a:p>
                      <a:r>
                        <a:rPr lang="en-US" altLang="zh-TW" sz="2400" b="0" cap="none" spc="0" dirty="0">
                          <a:ln>
                            <a:noFill/>
                          </a:ln>
                          <a:solidFill>
                            <a:schemeClr val="tx1"/>
                          </a:solidFill>
                          <a:effectLst/>
                        </a:rPr>
                        <a:t>s</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4</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8</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TW" sz="2400" b="0" cap="none" spc="0" dirty="0">
                          <a:ln>
                            <a:noFill/>
                          </a:ln>
                          <a:solidFill>
                            <a:schemeClr val="tx1"/>
                          </a:solidFill>
                          <a:effectLst/>
                        </a:rPr>
                        <a:t>t</a:t>
                      </a:r>
                      <a:endParaRPr lang="zh-TW" altLang="en-US" sz="2400"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1373123"/>
                  </a:ext>
                </a:extLst>
              </a:tr>
            </a:tbl>
          </a:graphicData>
        </a:graphic>
      </p:graphicFrame>
      <p:cxnSp>
        <p:nvCxnSpPr>
          <p:cNvPr id="8" name="接點: 肘形 7">
            <a:extLst>
              <a:ext uri="{FF2B5EF4-FFF2-40B4-BE49-F238E27FC236}">
                <a16:creationId xmlns:a16="http://schemas.microsoft.com/office/drawing/2014/main" id="{E10E56C4-E6BA-401C-A08F-C904B275EA5C}"/>
              </a:ext>
            </a:extLst>
          </p:cNvPr>
          <p:cNvCxnSpPr>
            <a:cxnSpLocks/>
          </p:cNvCxnSpPr>
          <p:nvPr/>
        </p:nvCxnSpPr>
        <p:spPr>
          <a:xfrm>
            <a:off x="1126067" y="5689798"/>
            <a:ext cx="3581400" cy="357883"/>
          </a:xfrm>
          <a:prstGeom prst="bentConnector3">
            <a:avLst>
              <a:gd name="adj1" fmla="val 355"/>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868867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54C85-50AE-483B-84DB-832AF597FED1}"/>
              </a:ext>
            </a:extLst>
          </p:cNvPr>
          <p:cNvSpPr>
            <a:spLocks noGrp="1"/>
          </p:cNvSpPr>
          <p:nvPr>
            <p:ph type="title"/>
          </p:nvPr>
        </p:nvSpPr>
        <p:spPr/>
        <p:txBody>
          <a:bodyPr/>
          <a:lstStyle/>
          <a:p>
            <a:r>
              <a:rPr lang="en-US" altLang="zh-TW" dirty="0"/>
              <a:t>Improved Selection Strategy</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40F5809-83C1-4031-BFFA-9552A6CCB7A4}"/>
                  </a:ext>
                </a:extLst>
              </p:cNvPr>
              <p:cNvSpPr>
                <a:spLocks noGrp="1"/>
              </p:cNvSpPr>
              <p:nvPr>
                <p:ph idx="1"/>
              </p:nvPr>
            </p:nvSpPr>
            <p:spPr/>
            <p:txBody>
              <a:bodyPr/>
              <a:lstStyle/>
              <a:p>
                <a:r>
                  <a:rPr lang="en-US" altLang="zh-TW" sz="3200" dirty="0"/>
                  <a:t>Fitness function</a:t>
                </a:r>
              </a:p>
              <a:p>
                <a:pPr lvl="1"/>
                <a14:m>
                  <m:oMath xmlns:m="http://schemas.openxmlformats.org/officeDocument/2006/math">
                    <m:r>
                      <a:rPr lang="en-US" altLang="zh-TW" sz="2800" b="0" i="1" smtClean="0">
                        <a:latin typeface="Cambria Math" panose="02040503050406030204" pitchFamily="18" charset="0"/>
                      </a:rPr>
                      <m:t>𝑓</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𝑘</m:t>
                        </m:r>
                      </m:e>
                    </m:d>
                    <m:r>
                      <a:rPr lang="en-US" altLang="zh-TW" sz="2800" b="0" i="1" smtClean="0">
                        <a:latin typeface="Cambria Math" panose="02040503050406030204" pitchFamily="18" charset="0"/>
                      </a:rPr>
                      <m:t>=  </m:t>
                    </m:r>
                    <m:nary>
                      <m:naryPr>
                        <m:chr m:val="∑"/>
                        <m:subHide m:val="on"/>
                        <m:supHide m:val="on"/>
                        <m:ctrlPr>
                          <a:rPr lang="en-US" altLang="zh-TW" sz="2800" b="0" i="1" smtClean="0">
                            <a:latin typeface="Cambria Math" panose="02040503050406030204" pitchFamily="18" charset="0"/>
                          </a:rPr>
                        </m:ctrlPr>
                      </m:naryPr>
                      <m:sub/>
                      <m:sup/>
                      <m:e>
                        <m:r>
                          <a:rPr lang="en-US" altLang="zh-TW" sz="2800" b="0" i="1" smtClean="0">
                            <a:latin typeface="Cambria Math" panose="02040503050406030204" pitchFamily="18" charset="0"/>
                          </a:rPr>
                          <m:t>𝐸</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𝑊</m:t>
                            </m:r>
                          </m:e>
                          <m:sub>
                            <m:r>
                              <a:rPr lang="en-US" altLang="zh-TW" sz="2800" b="0" i="1" smtClean="0">
                                <a:latin typeface="Cambria Math" panose="02040503050406030204" pitchFamily="18" charset="0"/>
                              </a:rPr>
                              <m:t>𝑣</m:t>
                            </m:r>
                          </m:sub>
                        </m:sSub>
                        <m:r>
                          <a:rPr lang="en-US" altLang="zh-TW" sz="2800" b="0" i="1" smtClean="0">
                            <a:latin typeface="Cambria Math" panose="02040503050406030204" pitchFamily="18" charset="0"/>
                          </a:rPr>
                          <m:t>)</m:t>
                        </m:r>
                      </m:e>
                    </m:nary>
                    <m:r>
                      <a:rPr lang="en-US" altLang="zh-TW" sz="2800" b="0" i="1" smtClean="0">
                        <a:latin typeface="Cambria Math" panose="02040503050406030204" pitchFamily="18" charset="0"/>
                      </a:rPr>
                      <m:t>+</m:t>
                    </m:r>
                    <m:nary>
                      <m:naryPr>
                        <m:chr m:val="∑"/>
                        <m:subHide m:val="on"/>
                        <m:supHide m:val="on"/>
                        <m:ctrlPr>
                          <a:rPr lang="en-US" altLang="zh-TW" sz="2800" b="0" i="1" smtClean="0">
                            <a:latin typeface="Cambria Math" panose="02040503050406030204" pitchFamily="18" charset="0"/>
                          </a:rPr>
                        </m:ctrlPr>
                      </m:naryPr>
                      <m:sub/>
                      <m:sup/>
                      <m:e>
                        <m:r>
                          <a:rPr lang="en-US" altLang="zh-TW" sz="2800" b="0" i="1" smtClean="0">
                            <a:latin typeface="Cambria Math" panose="02040503050406030204" pitchFamily="18" charset="0"/>
                          </a:rPr>
                          <m:t>𝐸</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𝑊</m:t>
                            </m:r>
                          </m:e>
                          <m:sub>
                            <m:r>
                              <a:rPr lang="en-US" altLang="zh-TW" sz="2800" b="0" i="1" smtClean="0">
                                <a:latin typeface="Cambria Math" panose="02040503050406030204" pitchFamily="18" charset="0"/>
                              </a:rPr>
                              <m:t>𝐸</m:t>
                            </m:r>
                          </m:sub>
                        </m:sSub>
                        <m:r>
                          <a:rPr lang="en-US" altLang="zh-TW" sz="2800" b="0" i="1" smtClean="0">
                            <a:latin typeface="Cambria Math" panose="02040503050406030204" pitchFamily="18" charset="0"/>
                          </a:rPr>
                          <m:t>)</m:t>
                        </m:r>
                      </m:e>
                    </m:nary>
                  </m:oMath>
                </a14:m>
                <a:endParaRPr lang="en-US" altLang="zh-TW" sz="2800" b="0" dirty="0"/>
              </a:p>
              <a:p>
                <a:pPr lvl="1"/>
                <a:endParaRPr lang="en-US" altLang="zh-TW" sz="2800" dirty="0"/>
              </a:p>
              <a:p>
                <a:pPr lvl="1"/>
                <a:endParaRPr lang="en-US" altLang="zh-TW" sz="2800" dirty="0"/>
              </a:p>
              <a:p>
                <a:r>
                  <a:rPr lang="en-US" altLang="zh-TW" sz="3200" dirty="0"/>
                  <a:t>Roulette Wheel Selection</a:t>
                </a:r>
                <a:endParaRPr lang="en-US" altLang="zh-TW" sz="2800" dirty="0"/>
              </a:p>
              <a:p>
                <a:r>
                  <a:rPr lang="en-US" altLang="zh-TW" sz="3200" dirty="0"/>
                  <a:t>Elitist Selection</a:t>
                </a:r>
              </a:p>
              <a:p>
                <a:pPr marL="0" indent="0">
                  <a:buNone/>
                </a:pPr>
                <a:endParaRPr lang="en-US" altLang="zh-TW" sz="3200" dirty="0"/>
              </a:p>
            </p:txBody>
          </p:sp>
        </mc:Choice>
        <mc:Fallback xmlns="">
          <p:sp>
            <p:nvSpPr>
              <p:cNvPr id="3" name="內容版面配置區 2">
                <a:extLst>
                  <a:ext uri="{FF2B5EF4-FFF2-40B4-BE49-F238E27FC236}">
                    <a16:creationId xmlns:a16="http://schemas.microsoft.com/office/drawing/2014/main" id="{140F5809-83C1-4031-BFFA-9552A6CCB7A4}"/>
                  </a:ext>
                </a:extLst>
              </p:cNvPr>
              <p:cNvSpPr>
                <a:spLocks noGrp="1" noRot="1" noChangeAspect="1" noMove="1" noResize="1" noEditPoints="1" noAdjustHandles="1" noChangeArrowheads="1" noChangeShapeType="1" noTextEdit="1"/>
              </p:cNvSpPr>
              <p:nvPr>
                <p:ph idx="1"/>
              </p:nvPr>
            </p:nvSpPr>
            <p:spPr>
              <a:blipFill>
                <a:blip r:embed="rId2"/>
                <a:stretch>
                  <a:fillRect l="-1333" t="-29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6339554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014020-58DC-4B13-83D1-49E3FBDC0922}"/>
              </a:ext>
            </a:extLst>
          </p:cNvPr>
          <p:cNvSpPr>
            <a:spLocks noGrp="1"/>
          </p:cNvSpPr>
          <p:nvPr>
            <p:ph type="title"/>
          </p:nvPr>
        </p:nvSpPr>
        <p:spPr/>
        <p:txBody>
          <a:bodyPr/>
          <a:lstStyle/>
          <a:p>
            <a:r>
              <a:rPr lang="en-US" altLang="zh-TW" dirty="0"/>
              <a:t>Example</a:t>
            </a:r>
            <a:endParaRPr lang="zh-TW" altLang="en-US" dirty="0"/>
          </a:p>
        </p:txBody>
      </p:sp>
      <p:pic>
        <p:nvPicPr>
          <p:cNvPr id="4" name="內容版面配置區 3" descr="一張含有 天空, 白色 的圖片&#10;&#10;自動產生的描述">
            <a:extLst>
              <a:ext uri="{FF2B5EF4-FFF2-40B4-BE49-F238E27FC236}">
                <a16:creationId xmlns:a16="http://schemas.microsoft.com/office/drawing/2014/main" id="{7530E2A2-012A-43AA-8F66-116350BB71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9248" y="1400704"/>
            <a:ext cx="8533504" cy="4746096"/>
          </a:xfrm>
          <a:prstGeom prst="rect">
            <a:avLst/>
          </a:prstGeom>
        </p:spPr>
      </p:pic>
    </p:spTree>
    <p:extLst>
      <p:ext uri="{BB962C8B-B14F-4D97-AF65-F5344CB8AC3E}">
        <p14:creationId xmlns:p14="http://schemas.microsoft.com/office/powerpoint/2010/main" val="11140261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856E2A-7C76-4FCC-989D-FF0B97EF04DE}"/>
              </a:ext>
            </a:extLst>
          </p:cNvPr>
          <p:cNvSpPr>
            <a:spLocks noGrp="1"/>
          </p:cNvSpPr>
          <p:nvPr>
            <p:ph type="title"/>
          </p:nvPr>
        </p:nvSpPr>
        <p:spPr/>
        <p:txBody>
          <a:bodyPr/>
          <a:lstStyle/>
          <a:p>
            <a:r>
              <a:rPr lang="en-US" altLang="zh-TW" dirty="0"/>
              <a:t>Crossover</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E5DF665-DEF5-4085-B5F7-FA46A78A8BE5}"/>
                  </a:ext>
                </a:extLst>
              </p:cNvPr>
              <p:cNvSpPr>
                <a:spLocks noGrp="1"/>
              </p:cNvSpPr>
              <p:nvPr>
                <p:ph idx="1"/>
              </p:nvPr>
            </p:nvSpPr>
            <p:spPr/>
            <p:txBody>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oMath>
                </a14:m>
                <a:endParaRPr lang="en-US" altLang="zh-TW" b="0" i="1" dirty="0">
                  <a:latin typeface="Cambria Math" panose="02040503050406030204" pitchFamily="18" charset="0"/>
                </a:endParaRPr>
              </a:p>
              <a:p>
                <a:endParaRPr lang="en-US" altLang="zh-TW" b="0" i="1" dirty="0">
                  <a:latin typeface="Cambria Math" panose="02040503050406030204" pitchFamily="18" charset="0"/>
                </a:endParaRPr>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Sub>
                  </m:oMath>
                </a14:m>
                <a:endParaRPr lang="en-US" altLang="zh-TW" dirty="0"/>
              </a:p>
              <a:p>
                <a:pPr marL="0" indent="0">
                  <a:buNone/>
                </a:pPr>
                <a:endParaRPr lang="en-US" altLang="zh-TW" dirty="0"/>
              </a:p>
              <a:p>
                <a:endParaRPr lang="en-US" altLang="zh-TW" b="0" i="1" dirty="0">
                  <a:latin typeface="Cambria Math" panose="02040503050406030204" pitchFamily="18" charset="0"/>
                </a:endParaRPr>
              </a:p>
              <a:p>
                <a14:m>
                  <m:oMath xmlns:m="http://schemas.openxmlformats.org/officeDocument/2006/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m:t>
                        </m:r>
                      </m:sup>
                    </m:sSubSup>
                  </m:oMath>
                </a14:m>
                <a:endParaRPr lang="en-US" altLang="zh-TW" dirty="0"/>
              </a:p>
              <a:p>
                <a:pPr marL="0" indent="0">
                  <a:buNone/>
                </a:pPr>
                <a:endParaRPr lang="en-US" altLang="zh-TW" dirty="0"/>
              </a:p>
              <a:p>
                <a14:m>
                  <m:oMath xmlns:m="http://schemas.openxmlformats.org/officeDocument/2006/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m:t>
                        </m:r>
                      </m:sup>
                    </m:sSubSup>
                  </m:oMath>
                </a14:m>
                <a:endParaRPr lang="en-US" altLang="zh-TW" dirty="0"/>
              </a:p>
            </p:txBody>
          </p:sp>
        </mc:Choice>
        <mc:Fallback xmlns="">
          <p:sp>
            <p:nvSpPr>
              <p:cNvPr id="3" name="內容版面配置區 2">
                <a:extLst>
                  <a:ext uri="{FF2B5EF4-FFF2-40B4-BE49-F238E27FC236}">
                    <a16:creationId xmlns:a16="http://schemas.microsoft.com/office/drawing/2014/main" id="{BE5DF665-DEF5-4085-B5F7-FA46A78A8BE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AF23C5E7-0EB9-49A4-AF14-26A1BCCFB8E0}"/>
              </a:ext>
            </a:extLst>
          </p:cNvPr>
          <p:cNvGraphicFramePr>
            <a:graphicFrameLocks noGrp="1"/>
          </p:cNvGraphicFramePr>
          <p:nvPr>
            <p:extLst>
              <p:ext uri="{D42A27DB-BD31-4B8C-83A1-F6EECF244321}">
                <p14:modId xmlns:p14="http://schemas.microsoft.com/office/powerpoint/2010/main" val="2556519083"/>
              </p:ext>
            </p:extLst>
          </p:nvPr>
        </p:nvGraphicFramePr>
        <p:xfrm>
          <a:off x="838199" y="2333572"/>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319125094"/>
                    </a:ext>
                  </a:extLst>
                </a:gridCol>
                <a:gridCol w="1354667">
                  <a:extLst>
                    <a:ext uri="{9D8B030D-6E8A-4147-A177-3AD203B41FA5}">
                      <a16:colId xmlns:a16="http://schemas.microsoft.com/office/drawing/2014/main" val="343824127"/>
                    </a:ext>
                  </a:extLst>
                </a:gridCol>
                <a:gridCol w="1354667">
                  <a:extLst>
                    <a:ext uri="{9D8B030D-6E8A-4147-A177-3AD203B41FA5}">
                      <a16:colId xmlns:a16="http://schemas.microsoft.com/office/drawing/2014/main" val="323321615"/>
                    </a:ext>
                  </a:extLst>
                </a:gridCol>
                <a:gridCol w="1354667">
                  <a:extLst>
                    <a:ext uri="{9D8B030D-6E8A-4147-A177-3AD203B41FA5}">
                      <a16:colId xmlns:a16="http://schemas.microsoft.com/office/drawing/2014/main" val="2366922109"/>
                    </a:ext>
                  </a:extLst>
                </a:gridCol>
                <a:gridCol w="1354667">
                  <a:extLst>
                    <a:ext uri="{9D8B030D-6E8A-4147-A177-3AD203B41FA5}">
                      <a16:colId xmlns:a16="http://schemas.microsoft.com/office/drawing/2014/main" val="824706067"/>
                    </a:ext>
                  </a:extLst>
                </a:gridCol>
                <a:gridCol w="1354667">
                  <a:extLst>
                    <a:ext uri="{9D8B030D-6E8A-4147-A177-3AD203B41FA5}">
                      <a16:colId xmlns:a16="http://schemas.microsoft.com/office/drawing/2014/main" val="1194003124"/>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4</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3</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6</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11</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799718"/>
                  </a:ext>
                </a:extLst>
              </a:tr>
            </a:tbl>
          </a:graphicData>
        </a:graphic>
      </p:graphicFrame>
      <p:graphicFrame>
        <p:nvGraphicFramePr>
          <p:cNvPr id="5" name="表格 5">
            <a:extLst>
              <a:ext uri="{FF2B5EF4-FFF2-40B4-BE49-F238E27FC236}">
                <a16:creationId xmlns:a16="http://schemas.microsoft.com/office/drawing/2014/main" id="{6FF8D3FA-CE29-48A5-B63C-533218036679}"/>
              </a:ext>
            </a:extLst>
          </p:cNvPr>
          <p:cNvGraphicFramePr>
            <a:graphicFrameLocks noGrp="1"/>
          </p:cNvGraphicFramePr>
          <p:nvPr>
            <p:extLst>
              <p:ext uri="{D42A27DB-BD31-4B8C-83A1-F6EECF244321}">
                <p14:modId xmlns:p14="http://schemas.microsoft.com/office/powerpoint/2010/main" val="3995694797"/>
              </p:ext>
            </p:extLst>
          </p:nvPr>
        </p:nvGraphicFramePr>
        <p:xfrm>
          <a:off x="838199" y="3429000"/>
          <a:ext cx="9475200" cy="370840"/>
        </p:xfrm>
        <a:graphic>
          <a:graphicData uri="http://schemas.openxmlformats.org/drawingml/2006/table">
            <a:tbl>
              <a:tblPr firstRow="1" bandRow="1">
                <a:tableStyleId>{5C22544A-7EE6-4342-B048-85BDC9FD1C3A}</a:tableStyleId>
              </a:tblPr>
              <a:tblGrid>
                <a:gridCol w="1353600">
                  <a:extLst>
                    <a:ext uri="{9D8B030D-6E8A-4147-A177-3AD203B41FA5}">
                      <a16:colId xmlns:a16="http://schemas.microsoft.com/office/drawing/2014/main" val="359188561"/>
                    </a:ext>
                  </a:extLst>
                </a:gridCol>
                <a:gridCol w="1353600">
                  <a:extLst>
                    <a:ext uri="{9D8B030D-6E8A-4147-A177-3AD203B41FA5}">
                      <a16:colId xmlns:a16="http://schemas.microsoft.com/office/drawing/2014/main" val="2973093076"/>
                    </a:ext>
                  </a:extLst>
                </a:gridCol>
                <a:gridCol w="1353600">
                  <a:extLst>
                    <a:ext uri="{9D8B030D-6E8A-4147-A177-3AD203B41FA5}">
                      <a16:colId xmlns:a16="http://schemas.microsoft.com/office/drawing/2014/main" val="2112757489"/>
                    </a:ext>
                  </a:extLst>
                </a:gridCol>
                <a:gridCol w="1353600">
                  <a:extLst>
                    <a:ext uri="{9D8B030D-6E8A-4147-A177-3AD203B41FA5}">
                      <a16:colId xmlns:a16="http://schemas.microsoft.com/office/drawing/2014/main" val="1549690985"/>
                    </a:ext>
                  </a:extLst>
                </a:gridCol>
                <a:gridCol w="1353600">
                  <a:extLst>
                    <a:ext uri="{9D8B030D-6E8A-4147-A177-3AD203B41FA5}">
                      <a16:colId xmlns:a16="http://schemas.microsoft.com/office/drawing/2014/main" val="2833525209"/>
                    </a:ext>
                  </a:extLst>
                </a:gridCol>
                <a:gridCol w="1353600">
                  <a:extLst>
                    <a:ext uri="{9D8B030D-6E8A-4147-A177-3AD203B41FA5}">
                      <a16:colId xmlns:a16="http://schemas.microsoft.com/office/drawing/2014/main" val="2754186296"/>
                    </a:ext>
                  </a:extLst>
                </a:gridCol>
                <a:gridCol w="1353600">
                  <a:extLst>
                    <a:ext uri="{9D8B030D-6E8A-4147-A177-3AD203B41FA5}">
                      <a16:colId xmlns:a16="http://schemas.microsoft.com/office/drawing/2014/main" val="4082727796"/>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3</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4</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5</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9</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8</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2734194"/>
                  </a:ext>
                </a:extLst>
              </a:tr>
            </a:tbl>
          </a:graphicData>
        </a:graphic>
      </p:graphicFrame>
      <p:graphicFrame>
        <p:nvGraphicFramePr>
          <p:cNvPr id="6" name="表格 4">
            <a:extLst>
              <a:ext uri="{FF2B5EF4-FFF2-40B4-BE49-F238E27FC236}">
                <a16:creationId xmlns:a16="http://schemas.microsoft.com/office/drawing/2014/main" id="{3E890A32-4DF4-4C25-8EF6-73DDA18A0EAA}"/>
              </a:ext>
            </a:extLst>
          </p:cNvPr>
          <p:cNvGraphicFramePr>
            <a:graphicFrameLocks noGrp="1"/>
          </p:cNvGraphicFramePr>
          <p:nvPr>
            <p:extLst>
              <p:ext uri="{D42A27DB-BD31-4B8C-83A1-F6EECF244321}">
                <p14:modId xmlns:p14="http://schemas.microsoft.com/office/powerpoint/2010/main" val="1098603245"/>
              </p:ext>
            </p:extLst>
          </p:nvPr>
        </p:nvGraphicFramePr>
        <p:xfrm>
          <a:off x="838199" y="4964907"/>
          <a:ext cx="8128002"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319125094"/>
                    </a:ext>
                  </a:extLst>
                </a:gridCol>
                <a:gridCol w="1354667">
                  <a:extLst>
                    <a:ext uri="{9D8B030D-6E8A-4147-A177-3AD203B41FA5}">
                      <a16:colId xmlns:a16="http://schemas.microsoft.com/office/drawing/2014/main" val="343824127"/>
                    </a:ext>
                  </a:extLst>
                </a:gridCol>
                <a:gridCol w="1354667">
                  <a:extLst>
                    <a:ext uri="{9D8B030D-6E8A-4147-A177-3AD203B41FA5}">
                      <a16:colId xmlns:a16="http://schemas.microsoft.com/office/drawing/2014/main" val="323321615"/>
                    </a:ext>
                  </a:extLst>
                </a:gridCol>
                <a:gridCol w="1354667">
                  <a:extLst>
                    <a:ext uri="{9D8B030D-6E8A-4147-A177-3AD203B41FA5}">
                      <a16:colId xmlns:a16="http://schemas.microsoft.com/office/drawing/2014/main" val="2366922109"/>
                    </a:ext>
                  </a:extLst>
                </a:gridCol>
                <a:gridCol w="1354667">
                  <a:extLst>
                    <a:ext uri="{9D8B030D-6E8A-4147-A177-3AD203B41FA5}">
                      <a16:colId xmlns:a16="http://schemas.microsoft.com/office/drawing/2014/main" val="824706067"/>
                    </a:ext>
                  </a:extLst>
                </a:gridCol>
                <a:gridCol w="1354667">
                  <a:extLst>
                    <a:ext uri="{9D8B030D-6E8A-4147-A177-3AD203B41FA5}">
                      <a16:colId xmlns:a16="http://schemas.microsoft.com/office/drawing/2014/main" val="1194003124"/>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4</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5</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9</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8</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799718"/>
                  </a:ext>
                </a:extLst>
              </a:tr>
            </a:tbl>
          </a:graphicData>
        </a:graphic>
      </p:graphicFrame>
      <p:graphicFrame>
        <p:nvGraphicFramePr>
          <p:cNvPr id="7" name="表格 4">
            <a:extLst>
              <a:ext uri="{FF2B5EF4-FFF2-40B4-BE49-F238E27FC236}">
                <a16:creationId xmlns:a16="http://schemas.microsoft.com/office/drawing/2014/main" id="{65E7B8B4-583D-4F1E-A75D-757CB8C336DE}"/>
              </a:ext>
            </a:extLst>
          </p:cNvPr>
          <p:cNvGraphicFramePr>
            <a:graphicFrameLocks noGrp="1"/>
          </p:cNvGraphicFramePr>
          <p:nvPr>
            <p:extLst>
              <p:ext uri="{D42A27DB-BD31-4B8C-83A1-F6EECF244321}">
                <p14:modId xmlns:p14="http://schemas.microsoft.com/office/powerpoint/2010/main" val="3495196838"/>
              </p:ext>
            </p:extLst>
          </p:nvPr>
        </p:nvGraphicFramePr>
        <p:xfrm>
          <a:off x="838199" y="5941060"/>
          <a:ext cx="6773335" cy="3708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319125094"/>
                    </a:ext>
                  </a:extLst>
                </a:gridCol>
                <a:gridCol w="1354667">
                  <a:extLst>
                    <a:ext uri="{9D8B030D-6E8A-4147-A177-3AD203B41FA5}">
                      <a16:colId xmlns:a16="http://schemas.microsoft.com/office/drawing/2014/main" val="343824127"/>
                    </a:ext>
                  </a:extLst>
                </a:gridCol>
                <a:gridCol w="1354667">
                  <a:extLst>
                    <a:ext uri="{9D8B030D-6E8A-4147-A177-3AD203B41FA5}">
                      <a16:colId xmlns:a16="http://schemas.microsoft.com/office/drawing/2014/main" val="323321615"/>
                    </a:ext>
                  </a:extLst>
                </a:gridCol>
                <a:gridCol w="1354667">
                  <a:extLst>
                    <a:ext uri="{9D8B030D-6E8A-4147-A177-3AD203B41FA5}">
                      <a16:colId xmlns:a16="http://schemas.microsoft.com/office/drawing/2014/main" val="2366922109"/>
                    </a:ext>
                  </a:extLst>
                </a:gridCol>
                <a:gridCol w="1354667">
                  <a:extLst>
                    <a:ext uri="{9D8B030D-6E8A-4147-A177-3AD203B41FA5}">
                      <a16:colId xmlns:a16="http://schemas.microsoft.com/office/drawing/2014/main" val="1194003124"/>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3</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6</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11</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799718"/>
                  </a:ext>
                </a:extLst>
              </a:tr>
            </a:tbl>
          </a:graphicData>
        </a:graphic>
      </p:graphicFrame>
      <p:sp>
        <p:nvSpPr>
          <p:cNvPr id="8" name="箭號: 向下 7">
            <a:extLst>
              <a:ext uri="{FF2B5EF4-FFF2-40B4-BE49-F238E27FC236}">
                <a16:creationId xmlns:a16="http://schemas.microsoft.com/office/drawing/2014/main" id="{7AF8A1B1-ADE5-4FA0-84A5-F1102DC70617}"/>
              </a:ext>
            </a:extLst>
          </p:cNvPr>
          <p:cNvSpPr/>
          <p:nvPr/>
        </p:nvSpPr>
        <p:spPr>
          <a:xfrm>
            <a:off x="4790017" y="4014073"/>
            <a:ext cx="224366" cy="736600"/>
          </a:xfrm>
          <a:prstGeom prst="downArrow">
            <a:avLst>
              <a:gd name="adj1" fmla="val 50000"/>
              <a:gd name="adj2" fmla="val 91509"/>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 name="箭號: 向下 9">
            <a:extLst>
              <a:ext uri="{FF2B5EF4-FFF2-40B4-BE49-F238E27FC236}">
                <a16:creationId xmlns:a16="http://schemas.microsoft.com/office/drawing/2014/main" id="{CFBB40A4-1469-4DAC-A395-F618D88137BE}"/>
              </a:ext>
            </a:extLst>
          </p:cNvPr>
          <p:cNvSpPr/>
          <p:nvPr/>
        </p:nvSpPr>
        <p:spPr>
          <a:xfrm>
            <a:off x="2743201" y="1679602"/>
            <a:ext cx="270934" cy="593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箭號: 向下 10">
            <a:extLst>
              <a:ext uri="{FF2B5EF4-FFF2-40B4-BE49-F238E27FC236}">
                <a16:creationId xmlns:a16="http://schemas.microsoft.com/office/drawing/2014/main" id="{C0AB9BFA-14A9-46D2-98C5-0E034EF941F6}"/>
              </a:ext>
            </a:extLst>
          </p:cNvPr>
          <p:cNvSpPr/>
          <p:nvPr/>
        </p:nvSpPr>
        <p:spPr>
          <a:xfrm>
            <a:off x="2743201" y="2767912"/>
            <a:ext cx="270934" cy="593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544994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856E2A-7C76-4FCC-989D-FF0B97EF04DE}"/>
              </a:ext>
            </a:extLst>
          </p:cNvPr>
          <p:cNvSpPr>
            <a:spLocks noGrp="1"/>
          </p:cNvSpPr>
          <p:nvPr>
            <p:ph type="title"/>
          </p:nvPr>
        </p:nvSpPr>
        <p:spPr/>
        <p:txBody>
          <a:bodyPr/>
          <a:lstStyle/>
          <a:p>
            <a:r>
              <a:rPr lang="en-US" altLang="zh-TW" dirty="0"/>
              <a:t>Mutation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E5DF665-DEF5-4085-B5F7-FA46A78A8BE5}"/>
                  </a:ext>
                </a:extLst>
              </p:cNvPr>
              <p:cNvSpPr>
                <a:spLocks noGrp="1"/>
              </p:cNvSpPr>
              <p:nvPr>
                <p:ph idx="1"/>
              </p:nvPr>
            </p:nvSpPr>
            <p:spPr/>
            <p:txBody>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sSub>
                  </m:oMath>
                </a14:m>
                <a:endParaRPr lang="en-US" altLang="zh-TW" b="0" i="1" dirty="0">
                  <a:latin typeface="Cambria Math" panose="02040503050406030204" pitchFamily="18" charset="0"/>
                </a:endParaRPr>
              </a:p>
              <a:p>
                <a:pPr marL="0" indent="0">
                  <a:buNone/>
                </a:pPr>
                <a:endParaRPr lang="en-US" altLang="zh-TW" dirty="0"/>
              </a:p>
              <a:p>
                <a:pPr marL="0" indent="0">
                  <a:buNone/>
                </a:pPr>
                <a:endParaRPr lang="en-US" altLang="zh-TW" dirty="0"/>
              </a:p>
              <a:p>
                <a:endParaRPr lang="en-US" altLang="zh-TW" b="0" i="1" dirty="0">
                  <a:latin typeface="Cambria Math" panose="02040503050406030204" pitchFamily="18" charset="0"/>
                </a:endParaRPr>
              </a:p>
              <a:p>
                <a14:m>
                  <m:oMath xmlns:m="http://schemas.openxmlformats.org/officeDocument/2006/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sup>
                        <m:r>
                          <a:rPr lang="en-US" altLang="zh-TW" b="0" i="1" smtClean="0">
                            <a:latin typeface="Cambria Math" panose="02040503050406030204" pitchFamily="18" charset="0"/>
                          </a:rPr>
                          <m:t>′</m:t>
                        </m:r>
                      </m:sup>
                    </m:sSubSup>
                  </m:oMath>
                </a14:m>
                <a:endParaRPr lang="en-US" altLang="zh-TW" dirty="0"/>
              </a:p>
              <a:p>
                <a:pPr marL="0" indent="0">
                  <a:buNone/>
                </a:pPr>
                <a:endParaRPr lang="en-US" altLang="zh-TW" dirty="0"/>
              </a:p>
            </p:txBody>
          </p:sp>
        </mc:Choice>
        <mc:Fallback xmlns="">
          <p:sp>
            <p:nvSpPr>
              <p:cNvPr id="3" name="內容版面配置區 2">
                <a:extLst>
                  <a:ext uri="{FF2B5EF4-FFF2-40B4-BE49-F238E27FC236}">
                    <a16:creationId xmlns:a16="http://schemas.microsoft.com/office/drawing/2014/main" id="{BE5DF665-DEF5-4085-B5F7-FA46A78A8BE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AF23C5E7-0EB9-49A4-AF14-26A1BCCFB8E0}"/>
              </a:ext>
            </a:extLst>
          </p:cNvPr>
          <p:cNvGraphicFramePr>
            <a:graphicFrameLocks noGrp="1"/>
          </p:cNvGraphicFramePr>
          <p:nvPr>
            <p:extLst>
              <p:ext uri="{D42A27DB-BD31-4B8C-83A1-F6EECF244321}">
                <p14:modId xmlns:p14="http://schemas.microsoft.com/office/powerpoint/2010/main" val="1529987923"/>
              </p:ext>
            </p:extLst>
          </p:nvPr>
        </p:nvGraphicFramePr>
        <p:xfrm>
          <a:off x="838199" y="2333572"/>
          <a:ext cx="10515600" cy="37084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2319125094"/>
                    </a:ext>
                  </a:extLst>
                </a:gridCol>
                <a:gridCol w="1314450">
                  <a:extLst>
                    <a:ext uri="{9D8B030D-6E8A-4147-A177-3AD203B41FA5}">
                      <a16:colId xmlns:a16="http://schemas.microsoft.com/office/drawing/2014/main" val="343824127"/>
                    </a:ext>
                  </a:extLst>
                </a:gridCol>
                <a:gridCol w="1314450">
                  <a:extLst>
                    <a:ext uri="{9D8B030D-6E8A-4147-A177-3AD203B41FA5}">
                      <a16:colId xmlns:a16="http://schemas.microsoft.com/office/drawing/2014/main" val="323321615"/>
                    </a:ext>
                  </a:extLst>
                </a:gridCol>
                <a:gridCol w="1314450">
                  <a:extLst>
                    <a:ext uri="{9D8B030D-6E8A-4147-A177-3AD203B41FA5}">
                      <a16:colId xmlns:a16="http://schemas.microsoft.com/office/drawing/2014/main" val="2366922109"/>
                    </a:ext>
                  </a:extLst>
                </a:gridCol>
                <a:gridCol w="1314450">
                  <a:extLst>
                    <a:ext uri="{9D8B030D-6E8A-4147-A177-3AD203B41FA5}">
                      <a16:colId xmlns:a16="http://schemas.microsoft.com/office/drawing/2014/main" val="824706067"/>
                    </a:ext>
                  </a:extLst>
                </a:gridCol>
                <a:gridCol w="1314450">
                  <a:extLst>
                    <a:ext uri="{9D8B030D-6E8A-4147-A177-3AD203B41FA5}">
                      <a16:colId xmlns:a16="http://schemas.microsoft.com/office/drawing/2014/main" val="1194003124"/>
                    </a:ext>
                  </a:extLst>
                </a:gridCol>
                <a:gridCol w="1314450">
                  <a:extLst>
                    <a:ext uri="{9D8B030D-6E8A-4147-A177-3AD203B41FA5}">
                      <a16:colId xmlns:a16="http://schemas.microsoft.com/office/drawing/2014/main" val="1819690828"/>
                    </a:ext>
                  </a:extLst>
                </a:gridCol>
                <a:gridCol w="1314450">
                  <a:extLst>
                    <a:ext uri="{9D8B030D-6E8A-4147-A177-3AD203B41FA5}">
                      <a16:colId xmlns:a16="http://schemas.microsoft.com/office/drawing/2014/main" val="2012911046"/>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2</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6</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3</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7</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8</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10</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799718"/>
                  </a:ext>
                </a:extLst>
              </a:tr>
            </a:tbl>
          </a:graphicData>
        </a:graphic>
      </p:graphicFrame>
      <p:sp>
        <p:nvSpPr>
          <p:cNvPr id="8" name="箭號: 向下 7">
            <a:extLst>
              <a:ext uri="{FF2B5EF4-FFF2-40B4-BE49-F238E27FC236}">
                <a16:creationId xmlns:a16="http://schemas.microsoft.com/office/drawing/2014/main" id="{7AF8A1B1-ADE5-4FA0-84A5-F1102DC70617}"/>
              </a:ext>
            </a:extLst>
          </p:cNvPr>
          <p:cNvSpPr/>
          <p:nvPr/>
        </p:nvSpPr>
        <p:spPr>
          <a:xfrm>
            <a:off x="5983816" y="3060700"/>
            <a:ext cx="224366" cy="736600"/>
          </a:xfrm>
          <a:prstGeom prst="downArrow">
            <a:avLst>
              <a:gd name="adj1" fmla="val 50000"/>
              <a:gd name="adj2" fmla="val 91509"/>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10" name="箭號: 向下 9">
            <a:extLst>
              <a:ext uri="{FF2B5EF4-FFF2-40B4-BE49-F238E27FC236}">
                <a16:creationId xmlns:a16="http://schemas.microsoft.com/office/drawing/2014/main" id="{CFBB40A4-1469-4DAC-A395-F618D88137BE}"/>
              </a:ext>
            </a:extLst>
          </p:cNvPr>
          <p:cNvSpPr/>
          <p:nvPr/>
        </p:nvSpPr>
        <p:spPr>
          <a:xfrm>
            <a:off x="4038599" y="1707912"/>
            <a:ext cx="270934" cy="593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箭號: 向下 11">
            <a:extLst>
              <a:ext uri="{FF2B5EF4-FFF2-40B4-BE49-F238E27FC236}">
                <a16:creationId xmlns:a16="http://schemas.microsoft.com/office/drawing/2014/main" id="{FB850E91-4BA6-4353-BED0-962BC43D2984}"/>
              </a:ext>
            </a:extLst>
          </p:cNvPr>
          <p:cNvSpPr/>
          <p:nvPr/>
        </p:nvSpPr>
        <p:spPr>
          <a:xfrm>
            <a:off x="7882468" y="1702382"/>
            <a:ext cx="270934" cy="593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4">
            <a:extLst>
              <a:ext uri="{FF2B5EF4-FFF2-40B4-BE49-F238E27FC236}">
                <a16:creationId xmlns:a16="http://schemas.microsoft.com/office/drawing/2014/main" id="{FA71C3E1-BAEF-4ECE-8B54-53BEFB2C8157}"/>
              </a:ext>
            </a:extLst>
          </p:cNvPr>
          <p:cNvGraphicFramePr>
            <a:graphicFrameLocks noGrp="1"/>
          </p:cNvGraphicFramePr>
          <p:nvPr>
            <p:extLst>
              <p:ext uri="{D42A27DB-BD31-4B8C-83A1-F6EECF244321}">
                <p14:modId xmlns:p14="http://schemas.microsoft.com/office/powerpoint/2010/main" val="3146355304"/>
              </p:ext>
            </p:extLst>
          </p:nvPr>
        </p:nvGraphicFramePr>
        <p:xfrm>
          <a:off x="838199" y="4505616"/>
          <a:ext cx="10515600" cy="37084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2319125094"/>
                    </a:ext>
                  </a:extLst>
                </a:gridCol>
                <a:gridCol w="1314450">
                  <a:extLst>
                    <a:ext uri="{9D8B030D-6E8A-4147-A177-3AD203B41FA5}">
                      <a16:colId xmlns:a16="http://schemas.microsoft.com/office/drawing/2014/main" val="343824127"/>
                    </a:ext>
                  </a:extLst>
                </a:gridCol>
                <a:gridCol w="1314450">
                  <a:extLst>
                    <a:ext uri="{9D8B030D-6E8A-4147-A177-3AD203B41FA5}">
                      <a16:colId xmlns:a16="http://schemas.microsoft.com/office/drawing/2014/main" val="323321615"/>
                    </a:ext>
                  </a:extLst>
                </a:gridCol>
                <a:gridCol w="1314450">
                  <a:extLst>
                    <a:ext uri="{9D8B030D-6E8A-4147-A177-3AD203B41FA5}">
                      <a16:colId xmlns:a16="http://schemas.microsoft.com/office/drawing/2014/main" val="2366922109"/>
                    </a:ext>
                  </a:extLst>
                </a:gridCol>
                <a:gridCol w="1314450">
                  <a:extLst>
                    <a:ext uri="{9D8B030D-6E8A-4147-A177-3AD203B41FA5}">
                      <a16:colId xmlns:a16="http://schemas.microsoft.com/office/drawing/2014/main" val="824706067"/>
                    </a:ext>
                  </a:extLst>
                </a:gridCol>
                <a:gridCol w="1314450">
                  <a:extLst>
                    <a:ext uri="{9D8B030D-6E8A-4147-A177-3AD203B41FA5}">
                      <a16:colId xmlns:a16="http://schemas.microsoft.com/office/drawing/2014/main" val="1194003124"/>
                    </a:ext>
                  </a:extLst>
                </a:gridCol>
                <a:gridCol w="1314450">
                  <a:extLst>
                    <a:ext uri="{9D8B030D-6E8A-4147-A177-3AD203B41FA5}">
                      <a16:colId xmlns:a16="http://schemas.microsoft.com/office/drawing/2014/main" val="1819690828"/>
                    </a:ext>
                  </a:extLst>
                </a:gridCol>
                <a:gridCol w="1314450">
                  <a:extLst>
                    <a:ext uri="{9D8B030D-6E8A-4147-A177-3AD203B41FA5}">
                      <a16:colId xmlns:a16="http://schemas.microsoft.com/office/drawing/2014/main" val="2012911046"/>
                    </a:ext>
                  </a:extLst>
                </a:gridCol>
              </a:tblGrid>
              <a:tr h="370840">
                <a:tc>
                  <a:txBody>
                    <a:bodyPr/>
                    <a:lstStyle/>
                    <a:p>
                      <a:r>
                        <a:rPr lang="en-US" altLang="zh-TW" b="0" cap="none" spc="0" dirty="0">
                          <a:ln>
                            <a:noFill/>
                          </a:ln>
                          <a:solidFill>
                            <a:schemeClr val="tx1"/>
                          </a:solidFill>
                          <a:effectLst/>
                        </a:rPr>
                        <a:t>s</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2</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6</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3</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4</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8</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10</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b="0" cap="none" spc="0" dirty="0">
                          <a:ln>
                            <a:noFill/>
                          </a:ln>
                          <a:solidFill>
                            <a:schemeClr val="tx1"/>
                          </a:solidFill>
                          <a:effectLst/>
                        </a:rPr>
                        <a:t>t</a:t>
                      </a:r>
                      <a:endParaRPr lang="zh-TW" alt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5799718"/>
                  </a:ext>
                </a:extLst>
              </a:tr>
            </a:tbl>
          </a:graphicData>
        </a:graphic>
      </p:graphicFrame>
    </p:spTree>
    <p:extLst>
      <p:ext uri="{BB962C8B-B14F-4D97-AF65-F5344CB8AC3E}">
        <p14:creationId xmlns:p14="http://schemas.microsoft.com/office/powerpoint/2010/main" val="38233706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EDEA9C-CFB7-42F3-8F83-E1EED3663562}"/>
              </a:ext>
            </a:extLst>
          </p:cNvPr>
          <p:cNvSpPr>
            <a:spLocks noGrp="1"/>
          </p:cNvSpPr>
          <p:nvPr>
            <p:ph type="title"/>
          </p:nvPr>
        </p:nvSpPr>
        <p:spPr/>
        <p:txBody>
          <a:bodyPr/>
          <a:lstStyle/>
          <a:p>
            <a:r>
              <a:rPr lang="en-US" altLang="zh-TW" dirty="0"/>
              <a:t>Self-adaptive Adjustment </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C45907F-9518-4C41-8DC0-89783FA1BD47}"/>
                  </a:ext>
                </a:extLst>
              </p:cNvPr>
              <p:cNvSpPr>
                <a:spLocks noGrp="1"/>
              </p:cNvSpPr>
              <p:nvPr>
                <p:ph idx="1"/>
              </p:nvPr>
            </p:nvSpPr>
            <p:spPr/>
            <p:txBody>
              <a:bodyPr/>
              <a:lstStyle/>
              <a:p>
                <a14:m>
                  <m:oMath xmlns:m="http://schemas.openxmlformats.org/officeDocument/2006/math">
                    <m:sSub>
                      <m:sSubPr>
                        <m:ctrlPr>
                          <a:rPr lang="pt-BR" altLang="zh-TW" sz="3200" i="1" smtClean="0">
                            <a:latin typeface="Cambria Math" panose="02040503050406030204" pitchFamily="18" charset="0"/>
                          </a:rPr>
                        </m:ctrlPr>
                      </m:sSubPr>
                      <m:e>
                        <m:r>
                          <a:rPr lang="en-US" altLang="zh-TW" sz="3200" b="0" i="1" smtClean="0">
                            <a:latin typeface="Cambria Math" panose="02040503050406030204" pitchFamily="18" charset="0"/>
                          </a:rPr>
                          <m:t>𝑂</m:t>
                        </m:r>
                      </m:e>
                      <m:sub>
                        <m:r>
                          <a:rPr lang="en-US" altLang="zh-TW" sz="3200" b="0" i="1" smtClean="0">
                            <a:latin typeface="Cambria Math" panose="02040503050406030204" pitchFamily="18" charset="0"/>
                          </a:rPr>
                          <m:t>𝑐</m:t>
                        </m:r>
                      </m:sub>
                    </m:sSub>
                  </m:oMath>
                </a14:m>
                <a:r>
                  <a:rPr lang="pt-BR" altLang="zh-TW" sz="3200" dirty="0"/>
                  <a:t> </a:t>
                </a:r>
                <a14:m>
                  <m:oMath xmlns:m="http://schemas.openxmlformats.org/officeDocument/2006/math">
                    <m:r>
                      <a:rPr lang="zh-TW" altLang="pt-BR" sz="3200" i="1" dirty="0" smtClean="0">
                        <a:latin typeface="Cambria Math" panose="02040503050406030204" pitchFamily="18" charset="0"/>
                      </a:rPr>
                      <m:t>𝜖</m:t>
                    </m:r>
                  </m:oMath>
                </a14:m>
                <a:r>
                  <a:rPr lang="pt-BR" altLang="zh-TW" sz="3200" dirty="0"/>
                  <a:t> [0.5,  0.9], </a:t>
                </a:r>
                <a14:m>
                  <m:oMath xmlns:m="http://schemas.openxmlformats.org/officeDocument/2006/math">
                    <m:r>
                      <a:rPr lang="en-US" altLang="zh-TW" sz="3200" b="0" i="1" smtClean="0">
                        <a:latin typeface="Cambria Math" panose="02040503050406030204" pitchFamily="18" charset="0"/>
                      </a:rPr>
                      <m:t>𝑐𝑟𝑜𝑠𝑠𝑜𝑣𝑒𝑟</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0</m:t>
                        </m:r>
                      </m:e>
                    </m:d>
                    <m:r>
                      <a:rPr lang="en-US" altLang="zh-TW" sz="3200" b="0" i="1" smtClean="0">
                        <a:latin typeface="Cambria Math" panose="02040503050406030204" pitchFamily="18" charset="0"/>
                      </a:rPr>
                      <m:t>=0.75</m:t>
                    </m:r>
                  </m:oMath>
                </a14:m>
                <a:endParaRPr lang="pt-BR" altLang="zh-TW" sz="3200" dirty="0"/>
              </a:p>
              <a:p>
                <a:pPr lvl="1"/>
                <a14:m>
                  <m:oMath xmlns:m="http://schemas.openxmlformats.org/officeDocument/2006/math">
                    <m:sSub>
                      <m:sSubPr>
                        <m:ctrlPr>
                          <a:rPr lang="pt-BR" altLang="zh-TW" sz="3200" i="1" smtClean="0">
                            <a:latin typeface="Cambria Math" panose="02040503050406030204" pitchFamily="18" charset="0"/>
                          </a:rPr>
                        </m:ctrlPr>
                      </m:sSubPr>
                      <m:e>
                        <m:r>
                          <a:rPr lang="en-US" altLang="zh-TW" sz="3200" b="0" i="1" smtClean="0">
                            <a:latin typeface="Cambria Math" panose="02040503050406030204" pitchFamily="18" charset="0"/>
                          </a:rPr>
                          <m:t>𝑂</m:t>
                        </m:r>
                      </m:e>
                      <m:sub>
                        <m:r>
                          <a:rPr lang="en-US" altLang="zh-TW" sz="3200" b="0" i="1" smtClean="0">
                            <a:latin typeface="Cambria Math" panose="02040503050406030204" pitchFamily="18" charset="0"/>
                          </a:rPr>
                          <m:t>𝑐</m:t>
                        </m:r>
                      </m:sub>
                    </m:sSub>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𝑐𝑟𝑜𝑠𝑠𝑜𝑣𝑒𝑟</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𝑛</m:t>
                        </m:r>
                      </m:e>
                    </m:d>
                  </m:oMath>
                </a14:m>
                <a:endParaRPr lang="en-US" altLang="zh-TW" sz="3200" b="0" i="1" dirty="0">
                  <a:latin typeface="Cambria Math" panose="02040503050406030204" pitchFamily="18" charset="0"/>
                </a:endParaRPr>
              </a:p>
              <a:p>
                <a:pPr marL="457200" lvl="1" indent="0">
                  <a:buNone/>
                </a:pPr>
                <a:r>
                  <a:rPr lang="en-US" altLang="zh-TW" sz="3200" b="0" dirty="0"/>
                  <a:t>       </a:t>
                </a:r>
                <a14:m>
                  <m:oMath xmlns:m="http://schemas.openxmlformats.org/officeDocument/2006/math">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𝑐𝑟𝑜𝑠𝑠𝑜𝑣𝑒𝑟</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𝑛</m:t>
                        </m:r>
                        <m:r>
                          <a:rPr lang="en-US" altLang="zh-TW" sz="3200" b="0" i="1" smtClean="0">
                            <a:latin typeface="Cambria Math" panose="02040503050406030204" pitchFamily="18" charset="0"/>
                          </a:rPr>
                          <m:t>−1</m:t>
                        </m:r>
                      </m:e>
                    </m:d>
                    <m:r>
                      <a:rPr lang="en-US" altLang="zh-TW" sz="3200" b="0" i="1" smtClean="0">
                        <a:latin typeface="Cambria Math" panose="02040503050406030204" pitchFamily="18" charset="0"/>
                      </a:rPr>
                      <m:t>+</m:t>
                    </m:r>
                    <m:r>
                      <m:rPr>
                        <m:sty m:val="p"/>
                      </m:rPr>
                      <a:rPr lang="en-US" altLang="zh-TW" sz="3200" b="0" i="0" smtClean="0">
                        <a:latin typeface="Cambria Math" panose="02040503050406030204" pitchFamily="18" charset="0"/>
                      </a:rPr>
                      <m:t>sgn</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𝑓</m:t>
                    </m:r>
                    <m:r>
                      <a:rPr lang="en-US" altLang="zh-TW" sz="3200" b="0" i="1" smtClean="0">
                        <a:latin typeface="Cambria Math" panose="02040503050406030204" pitchFamily="18" charset="0"/>
                        <a:ea typeface="Cambria Math" panose="02040503050406030204" pitchFamily="18" charset="0"/>
                      </a:rPr>
                      <m:t>×</m:t>
                    </m:r>
                    <m:sSub>
                      <m:sSubPr>
                        <m:ctrlPr>
                          <a:rPr lang="en-US" altLang="zh-TW" sz="3200" b="0" i="1" smtClean="0">
                            <a:latin typeface="Cambria Math" panose="02040503050406030204" pitchFamily="18" charset="0"/>
                            <a:ea typeface="Cambria Math" panose="02040503050406030204" pitchFamily="18" charset="0"/>
                          </a:rPr>
                        </m:ctrlPr>
                      </m:sSubPr>
                      <m:e>
                        <m:r>
                          <a:rPr lang="en-US" altLang="zh-TW" sz="3200" b="0" i="1" smtClean="0">
                            <a:latin typeface="Cambria Math" panose="02040503050406030204" pitchFamily="18" charset="0"/>
                            <a:ea typeface="Cambria Math" panose="02040503050406030204" pitchFamily="18" charset="0"/>
                          </a:rPr>
                          <m:t>𝐶</m:t>
                        </m:r>
                      </m:e>
                      <m:sub>
                        <m:r>
                          <a:rPr lang="en-US" altLang="zh-TW" sz="3200" b="0" i="1" smtClean="0">
                            <a:latin typeface="Cambria Math" panose="02040503050406030204" pitchFamily="18" charset="0"/>
                            <a:ea typeface="Cambria Math" panose="02040503050406030204" pitchFamily="18" charset="0"/>
                          </a:rPr>
                          <m:t>1</m:t>
                        </m:r>
                      </m:sub>
                    </m:sSub>
                    <m:r>
                      <a:rPr lang="en-US" altLang="zh-TW" sz="3200" b="0" i="1" smtClean="0">
                        <a:latin typeface="Cambria Math" panose="02040503050406030204" pitchFamily="18" charset="0"/>
                        <a:ea typeface="Cambria Math" panose="02040503050406030204" pitchFamily="18" charset="0"/>
                      </a:rPr>
                      <m:t>×</m:t>
                    </m:r>
                    <m:sSup>
                      <m:sSupPr>
                        <m:ctrlPr>
                          <a:rPr lang="en-US" altLang="zh-TW" sz="3200" b="0" i="1" smtClean="0">
                            <a:latin typeface="Cambria Math" panose="02040503050406030204" pitchFamily="18" charset="0"/>
                            <a:ea typeface="Cambria Math" panose="02040503050406030204" pitchFamily="18" charset="0"/>
                          </a:rPr>
                        </m:ctrlPr>
                      </m:sSupPr>
                      <m:e>
                        <m:r>
                          <a:rPr lang="en-US" altLang="zh-TW" sz="3200" b="0" i="1" smtClean="0">
                            <a:latin typeface="Cambria Math" panose="02040503050406030204" pitchFamily="18" charset="0"/>
                            <a:ea typeface="Cambria Math" panose="02040503050406030204" pitchFamily="18" charset="0"/>
                          </a:rPr>
                          <m:t>𝑒</m:t>
                        </m:r>
                      </m:e>
                      <m:sup>
                        <m:r>
                          <a:rPr lang="en-US" altLang="zh-TW" sz="3200" b="0" i="1" smtClean="0">
                            <a:latin typeface="Cambria Math" panose="02040503050406030204" pitchFamily="18" charset="0"/>
                            <a:ea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𝑓</m:t>
                        </m:r>
                      </m:sup>
                    </m:sSup>
                    <m:r>
                      <a:rPr lang="en-US" altLang="zh-TW" sz="3200" b="0" i="1" smtClean="0">
                        <a:latin typeface="Cambria Math" panose="02040503050406030204" pitchFamily="18" charset="0"/>
                        <a:ea typeface="Cambria Math" panose="02040503050406030204" pitchFamily="18" charset="0"/>
                      </a:rPr>
                      <m:t>)</m:t>
                    </m:r>
                  </m:oMath>
                </a14:m>
                <a:endParaRPr lang="pt-BR" altLang="zh-TW" sz="3200" dirty="0"/>
              </a:p>
              <a:p>
                <a:pPr marL="0" indent="0">
                  <a:buNone/>
                </a:pPr>
                <a:endParaRPr lang="pt-BR" altLang="zh-TW" sz="3200" dirty="0"/>
              </a:p>
              <a:p>
                <a14:m>
                  <m:oMath xmlns:m="http://schemas.openxmlformats.org/officeDocument/2006/math">
                    <m:sSub>
                      <m:sSubPr>
                        <m:ctrlPr>
                          <a:rPr lang="pt-BR" altLang="zh-TW" sz="3200" i="1" smtClean="0">
                            <a:latin typeface="Cambria Math" panose="02040503050406030204" pitchFamily="18" charset="0"/>
                          </a:rPr>
                        </m:ctrlPr>
                      </m:sSubPr>
                      <m:e>
                        <m:r>
                          <a:rPr lang="en-US" altLang="zh-TW" sz="3200" b="0" i="1" smtClean="0">
                            <a:latin typeface="Cambria Math" panose="02040503050406030204" pitchFamily="18" charset="0"/>
                          </a:rPr>
                          <m:t>𝑂</m:t>
                        </m:r>
                      </m:e>
                      <m:sub>
                        <m:r>
                          <a:rPr lang="en-US" altLang="zh-TW" sz="3200" b="0" i="1" smtClean="0">
                            <a:latin typeface="Cambria Math" panose="02040503050406030204" pitchFamily="18" charset="0"/>
                          </a:rPr>
                          <m:t>𝑚</m:t>
                        </m:r>
                      </m:sub>
                    </m:sSub>
                  </m:oMath>
                </a14:m>
                <a:r>
                  <a:rPr lang="pt-BR" altLang="zh-TW" sz="3200" dirty="0"/>
                  <a:t> </a:t>
                </a:r>
                <a14:m>
                  <m:oMath xmlns:m="http://schemas.openxmlformats.org/officeDocument/2006/math">
                    <m:r>
                      <a:rPr lang="zh-TW" altLang="pt-BR" sz="3200" i="1" dirty="0" smtClean="0">
                        <a:latin typeface="Cambria Math" panose="02040503050406030204" pitchFamily="18" charset="0"/>
                      </a:rPr>
                      <m:t>𝜖</m:t>
                    </m:r>
                  </m:oMath>
                </a14:m>
                <a:r>
                  <a:rPr lang="pt-BR" altLang="zh-TW" sz="3200" dirty="0"/>
                  <a:t> [0.1,  0.3], </a:t>
                </a:r>
                <a14:m>
                  <m:oMath xmlns:m="http://schemas.openxmlformats.org/officeDocument/2006/math">
                    <m:r>
                      <a:rPr lang="en-US" altLang="zh-TW" sz="3200" b="0" i="1" smtClean="0">
                        <a:latin typeface="Cambria Math" panose="02040503050406030204" pitchFamily="18" charset="0"/>
                      </a:rPr>
                      <m:t>𝑚𝑢𝑡𝑎𝑡𝑖𝑜𝑛</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0</m:t>
                        </m:r>
                      </m:e>
                    </m:d>
                    <m:r>
                      <a:rPr lang="en-US" altLang="zh-TW" sz="3200" b="0" i="1" smtClean="0">
                        <a:latin typeface="Cambria Math" panose="02040503050406030204" pitchFamily="18" charset="0"/>
                      </a:rPr>
                      <m:t>=0.23</m:t>
                    </m:r>
                  </m:oMath>
                </a14:m>
                <a:endParaRPr lang="pt-BR" altLang="zh-TW" sz="3200" dirty="0"/>
              </a:p>
              <a:p>
                <a:pPr lvl="1"/>
                <a14:m>
                  <m:oMath xmlns:m="http://schemas.openxmlformats.org/officeDocument/2006/math">
                    <m:sSub>
                      <m:sSubPr>
                        <m:ctrlPr>
                          <a:rPr lang="pt-BR" altLang="zh-TW" sz="3200" i="1" smtClean="0">
                            <a:latin typeface="Cambria Math" panose="02040503050406030204" pitchFamily="18" charset="0"/>
                          </a:rPr>
                        </m:ctrlPr>
                      </m:sSubPr>
                      <m:e>
                        <m:r>
                          <a:rPr lang="en-US" altLang="zh-TW" sz="3200" b="0" i="1" smtClean="0">
                            <a:latin typeface="Cambria Math" panose="02040503050406030204" pitchFamily="18" charset="0"/>
                          </a:rPr>
                          <m:t>𝑂</m:t>
                        </m:r>
                      </m:e>
                      <m:sub>
                        <m:r>
                          <a:rPr lang="en-US" altLang="zh-TW" sz="3200" b="0" i="1" smtClean="0">
                            <a:latin typeface="Cambria Math" panose="02040503050406030204" pitchFamily="18" charset="0"/>
                          </a:rPr>
                          <m:t>𝑐</m:t>
                        </m:r>
                      </m:sub>
                    </m:sSub>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𝑐𝑟𝑜𝑠𝑠𝑜𝑣𝑒𝑟</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𝑛</m:t>
                        </m:r>
                      </m:e>
                    </m:d>
                  </m:oMath>
                </a14:m>
                <a:endParaRPr lang="en-US" altLang="zh-TW" sz="3200" b="0" i="1" dirty="0">
                  <a:latin typeface="Cambria Math" panose="02040503050406030204" pitchFamily="18" charset="0"/>
                </a:endParaRPr>
              </a:p>
              <a:p>
                <a:pPr marL="457200" lvl="1" indent="0">
                  <a:buNone/>
                </a:pPr>
                <a:r>
                  <a:rPr lang="en-US" altLang="zh-TW" sz="3200" b="0" dirty="0"/>
                  <a:t>       </a:t>
                </a:r>
                <a14:m>
                  <m:oMath xmlns:m="http://schemas.openxmlformats.org/officeDocument/2006/math">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𝑐𝑟𝑜𝑠𝑠𝑜𝑣𝑒𝑟</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𝑛</m:t>
                        </m:r>
                        <m:r>
                          <a:rPr lang="en-US" altLang="zh-TW" sz="3200" b="0" i="1" smtClean="0">
                            <a:latin typeface="Cambria Math" panose="02040503050406030204" pitchFamily="18" charset="0"/>
                          </a:rPr>
                          <m:t>−1</m:t>
                        </m:r>
                      </m:e>
                    </m:d>
                    <m:r>
                      <a:rPr lang="en-US" altLang="zh-TW" sz="3200" b="0" i="1" smtClean="0">
                        <a:latin typeface="Cambria Math" panose="02040503050406030204" pitchFamily="18" charset="0"/>
                      </a:rPr>
                      <m:t>−</m:t>
                    </m:r>
                    <m:r>
                      <m:rPr>
                        <m:sty m:val="p"/>
                      </m:rPr>
                      <a:rPr lang="en-US" altLang="zh-TW" sz="3200" b="0" i="0" smtClean="0">
                        <a:latin typeface="Cambria Math" panose="02040503050406030204" pitchFamily="18" charset="0"/>
                      </a:rPr>
                      <m:t>sgn</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𝑓</m:t>
                    </m:r>
                    <m:r>
                      <a:rPr lang="en-US" altLang="zh-TW" sz="3200" b="0" i="1" smtClean="0">
                        <a:latin typeface="Cambria Math" panose="02040503050406030204" pitchFamily="18" charset="0"/>
                        <a:ea typeface="Cambria Math" panose="02040503050406030204" pitchFamily="18" charset="0"/>
                      </a:rPr>
                      <m:t>×</m:t>
                    </m:r>
                    <m:sSub>
                      <m:sSubPr>
                        <m:ctrlPr>
                          <a:rPr lang="en-US" altLang="zh-TW" sz="3200" b="0" i="1" smtClean="0">
                            <a:latin typeface="Cambria Math" panose="02040503050406030204" pitchFamily="18" charset="0"/>
                            <a:ea typeface="Cambria Math" panose="02040503050406030204" pitchFamily="18" charset="0"/>
                          </a:rPr>
                        </m:ctrlPr>
                      </m:sSubPr>
                      <m:e>
                        <m:r>
                          <a:rPr lang="en-US" altLang="zh-TW" sz="3200" b="0" i="1" smtClean="0">
                            <a:latin typeface="Cambria Math" panose="02040503050406030204" pitchFamily="18" charset="0"/>
                            <a:ea typeface="Cambria Math" panose="02040503050406030204" pitchFamily="18" charset="0"/>
                          </a:rPr>
                          <m:t>𝐶</m:t>
                        </m:r>
                      </m:e>
                      <m:sub>
                        <m:r>
                          <a:rPr lang="en-US" altLang="zh-TW" sz="3200" b="0" i="1" smtClean="0">
                            <a:latin typeface="Cambria Math" panose="02040503050406030204" pitchFamily="18" charset="0"/>
                            <a:ea typeface="Cambria Math" panose="02040503050406030204" pitchFamily="18" charset="0"/>
                          </a:rPr>
                          <m:t>2</m:t>
                        </m:r>
                      </m:sub>
                    </m:sSub>
                    <m:r>
                      <a:rPr lang="en-US" altLang="zh-TW" sz="3200" b="0" i="1" smtClean="0">
                        <a:latin typeface="Cambria Math" panose="02040503050406030204" pitchFamily="18" charset="0"/>
                        <a:ea typeface="Cambria Math" panose="02040503050406030204" pitchFamily="18" charset="0"/>
                      </a:rPr>
                      <m:t>×</m:t>
                    </m:r>
                    <m:sSup>
                      <m:sSupPr>
                        <m:ctrlPr>
                          <a:rPr lang="en-US" altLang="zh-TW" sz="3200" b="0" i="1" smtClean="0">
                            <a:latin typeface="Cambria Math" panose="02040503050406030204" pitchFamily="18" charset="0"/>
                            <a:ea typeface="Cambria Math" panose="02040503050406030204" pitchFamily="18" charset="0"/>
                          </a:rPr>
                        </m:ctrlPr>
                      </m:sSupPr>
                      <m:e>
                        <m:r>
                          <a:rPr lang="en-US" altLang="zh-TW" sz="3200" b="0" i="1" smtClean="0">
                            <a:latin typeface="Cambria Math" panose="02040503050406030204" pitchFamily="18" charset="0"/>
                            <a:ea typeface="Cambria Math" panose="02040503050406030204" pitchFamily="18" charset="0"/>
                          </a:rPr>
                          <m:t>𝑒</m:t>
                        </m:r>
                      </m:e>
                      <m:sup>
                        <m:r>
                          <a:rPr lang="en-US" altLang="zh-TW" sz="3200" b="0" i="1" smtClean="0">
                            <a:latin typeface="Cambria Math" panose="02040503050406030204" pitchFamily="18" charset="0"/>
                            <a:ea typeface="Cambria Math" panose="02040503050406030204" pitchFamily="18" charset="0"/>
                          </a:rPr>
                          <m:t>−∆</m:t>
                        </m:r>
                        <m:r>
                          <a:rPr lang="en-US" altLang="zh-TW" sz="3200" b="0" i="1" smtClean="0">
                            <a:latin typeface="Cambria Math" panose="02040503050406030204" pitchFamily="18" charset="0"/>
                            <a:ea typeface="Cambria Math" panose="02040503050406030204" pitchFamily="18" charset="0"/>
                          </a:rPr>
                          <m:t>𝑓</m:t>
                        </m:r>
                      </m:sup>
                    </m:sSup>
                    <m:r>
                      <a:rPr lang="en-US" altLang="zh-TW" sz="3200" b="0" i="1" smtClean="0">
                        <a:latin typeface="Cambria Math" panose="02040503050406030204" pitchFamily="18" charset="0"/>
                        <a:ea typeface="Cambria Math" panose="02040503050406030204" pitchFamily="18" charset="0"/>
                      </a:rPr>
                      <m:t>)</m:t>
                    </m:r>
                  </m:oMath>
                </a14:m>
                <a:endParaRPr lang="pt-BR" altLang="zh-TW" sz="3200" dirty="0"/>
              </a:p>
              <a:p>
                <a:pPr marL="457200" lvl="1" indent="0">
                  <a:buNone/>
                </a:pPr>
                <a:endParaRPr lang="pt-BR" altLang="zh-TW" sz="3200" dirty="0"/>
              </a:p>
              <a:p>
                <a:endParaRPr lang="pt-BR" altLang="zh-TW" sz="3200" dirty="0"/>
              </a:p>
              <a:p>
                <a:endParaRPr lang="zh-TW" altLang="en-US" dirty="0"/>
              </a:p>
            </p:txBody>
          </p:sp>
        </mc:Choice>
        <mc:Fallback xmlns="">
          <p:sp>
            <p:nvSpPr>
              <p:cNvPr id="3" name="內容版面配置區 2">
                <a:extLst>
                  <a:ext uri="{FF2B5EF4-FFF2-40B4-BE49-F238E27FC236}">
                    <a16:creationId xmlns:a16="http://schemas.microsoft.com/office/drawing/2014/main" id="{DC45907F-9518-4C41-8DC0-89783FA1BD47}"/>
                  </a:ext>
                </a:extLst>
              </p:cNvPr>
              <p:cNvSpPr>
                <a:spLocks noGrp="1" noRot="1" noChangeAspect="1" noMove="1" noResize="1" noEditPoints="1" noAdjustHandles="1" noChangeArrowheads="1" noChangeShapeType="1" noTextEdit="1"/>
              </p:cNvSpPr>
              <p:nvPr>
                <p:ph idx="1"/>
              </p:nvPr>
            </p:nvSpPr>
            <p:spPr>
              <a:blipFill>
                <a:blip r:embed="rId2"/>
                <a:stretch>
                  <a:fillRect t="-29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405935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BCD32F-870B-4166-BB63-4E316C18FD07}"/>
              </a:ext>
            </a:extLst>
          </p:cNvPr>
          <p:cNvSpPr>
            <a:spLocks noGrp="1"/>
          </p:cNvSpPr>
          <p:nvPr>
            <p:ph type="title"/>
          </p:nvPr>
        </p:nvSpPr>
        <p:spPr/>
        <p:txBody>
          <a:bodyPr/>
          <a:lstStyle/>
          <a:p>
            <a:r>
              <a:rPr lang="en-US" altLang="zh-TW" dirty="0"/>
              <a:t>Process</a:t>
            </a:r>
            <a:endParaRPr lang="zh-TW" altLang="en-US" dirty="0"/>
          </a:p>
        </p:txBody>
      </p:sp>
      <p:sp>
        <p:nvSpPr>
          <p:cNvPr id="3" name="內容版面配置區 2">
            <a:extLst>
              <a:ext uri="{FF2B5EF4-FFF2-40B4-BE49-F238E27FC236}">
                <a16:creationId xmlns:a16="http://schemas.microsoft.com/office/drawing/2014/main" id="{B6E08653-AD94-49B6-B551-71EC88925FD5}"/>
              </a:ext>
            </a:extLst>
          </p:cNvPr>
          <p:cNvSpPr>
            <a:spLocks noGrp="1"/>
          </p:cNvSpPr>
          <p:nvPr>
            <p:ph idx="1"/>
          </p:nvPr>
        </p:nvSpPr>
        <p:spPr/>
        <p:txBody>
          <a:bodyPr/>
          <a:lstStyle/>
          <a:p>
            <a:pPr marL="514350" indent="-514350">
              <a:buFont typeface="+mj-lt"/>
              <a:buAutoNum type="arabicPeriod"/>
            </a:pPr>
            <a:r>
              <a:rPr lang="en-US" altLang="zh-TW" dirty="0"/>
              <a:t>Initialize the population</a:t>
            </a:r>
          </a:p>
          <a:p>
            <a:pPr marL="514350" indent="-514350">
              <a:buFont typeface="+mj-lt"/>
              <a:buAutoNum type="arabicPeriod"/>
            </a:pPr>
            <a:r>
              <a:rPr lang="en-US" altLang="zh-TW" dirty="0"/>
              <a:t>Calculate the </a:t>
            </a:r>
            <a:r>
              <a:rPr lang="en-US" altLang="zh-TW" b="1" dirty="0"/>
              <a:t>fitness function </a:t>
            </a:r>
            <a:r>
              <a:rPr lang="en-US" altLang="zh-TW" dirty="0"/>
              <a:t>value </a:t>
            </a:r>
          </a:p>
          <a:p>
            <a:pPr marL="514350" indent="-514350">
              <a:buFont typeface="+mj-lt"/>
              <a:buAutoNum type="arabicPeriod"/>
            </a:pPr>
            <a:r>
              <a:rPr lang="en-US" altLang="zh-TW" dirty="0"/>
              <a:t>Adjust </a:t>
            </a:r>
            <a:r>
              <a:rPr lang="en-US" altLang="zh-TW" b="1" dirty="0"/>
              <a:t>crossover operator </a:t>
            </a:r>
            <a:r>
              <a:rPr lang="en-US" altLang="zh-TW" dirty="0"/>
              <a:t>and </a:t>
            </a:r>
            <a:r>
              <a:rPr lang="en-US" altLang="zh-TW" b="1" dirty="0"/>
              <a:t>mutation operator</a:t>
            </a:r>
          </a:p>
          <a:p>
            <a:pPr marL="514350" indent="-514350">
              <a:buFont typeface="+mj-lt"/>
              <a:buAutoNum type="arabicPeriod"/>
            </a:pPr>
            <a:r>
              <a:rPr lang="en-US" altLang="zh-TW" dirty="0"/>
              <a:t>Crossover operation</a:t>
            </a:r>
            <a:endParaRPr lang="en-US" altLang="zh-TW" b="1" dirty="0"/>
          </a:p>
          <a:p>
            <a:pPr marL="514350" indent="-514350">
              <a:buFont typeface="+mj-lt"/>
              <a:buAutoNum type="arabicPeriod"/>
            </a:pPr>
            <a:r>
              <a:rPr lang="en-US" altLang="zh-TW" dirty="0"/>
              <a:t>Selection operation</a:t>
            </a:r>
          </a:p>
          <a:p>
            <a:pPr marL="514350" indent="-514350">
              <a:buFont typeface="+mj-lt"/>
              <a:buAutoNum type="arabicPeriod"/>
            </a:pPr>
            <a:r>
              <a:rPr lang="en-US" altLang="zh-TW" dirty="0"/>
              <a:t>Mutation operation</a:t>
            </a:r>
            <a:endParaRPr lang="zh-TW" altLang="en-US" dirty="0"/>
          </a:p>
        </p:txBody>
      </p:sp>
    </p:spTree>
    <p:extLst>
      <p:ext uri="{BB962C8B-B14F-4D97-AF65-F5344CB8AC3E}">
        <p14:creationId xmlns:p14="http://schemas.microsoft.com/office/powerpoint/2010/main" val="23641370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19ACC8-FE7C-43D1-AF22-26BE262147F9}"/>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a:extLst>
              <a:ext uri="{FF2B5EF4-FFF2-40B4-BE49-F238E27FC236}">
                <a16:creationId xmlns:a16="http://schemas.microsoft.com/office/drawing/2014/main" id="{83D5B3D2-4033-4B0D-8F8D-E62505325ADE}"/>
              </a:ext>
            </a:extLst>
          </p:cNvPr>
          <p:cNvPicPr>
            <a:picLocks noGrp="1" noChangeAspect="1"/>
          </p:cNvPicPr>
          <p:nvPr>
            <p:ph idx="1"/>
          </p:nvPr>
        </p:nvPicPr>
        <p:blipFill>
          <a:blip r:embed="rId2"/>
          <a:stretch>
            <a:fillRect/>
          </a:stretch>
        </p:blipFill>
        <p:spPr>
          <a:xfrm>
            <a:off x="914876" y="1690688"/>
            <a:ext cx="10362247" cy="4004733"/>
          </a:xfrm>
        </p:spPr>
      </p:pic>
    </p:spTree>
    <p:extLst>
      <p:ext uri="{BB962C8B-B14F-4D97-AF65-F5344CB8AC3E}">
        <p14:creationId xmlns:p14="http://schemas.microsoft.com/office/powerpoint/2010/main" val="332199375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392</Words>
  <Application>Microsoft Office PowerPoint</Application>
  <PresentationFormat>寬螢幕</PresentationFormat>
  <Paragraphs>129</Paragraphs>
  <Slides>13</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Cambria Math</vt:lpstr>
      <vt:lpstr>Times New Roman</vt:lpstr>
      <vt:lpstr>Office 佈景主題</vt:lpstr>
      <vt:lpstr>An Encoding Algorithm Based on the Shortest Path Problem </vt:lpstr>
      <vt:lpstr>Abstract</vt:lpstr>
      <vt:lpstr>Dynamic Stochastic Shortest Path Problem</vt:lpstr>
      <vt:lpstr>Genetic Algorithm</vt:lpstr>
      <vt:lpstr>Initialization</vt:lpstr>
      <vt:lpstr>Initialization</vt:lpstr>
      <vt:lpstr>Improved Selection Strategy</vt:lpstr>
      <vt:lpstr>Example</vt:lpstr>
      <vt:lpstr>Crossover</vt:lpstr>
      <vt:lpstr>Mutation</vt:lpstr>
      <vt:lpstr>Self-adaptive Adjustment </vt:lpstr>
      <vt:lpstr>Process</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Encoding Algorithm Based on the Shortest Path Problem </dc:title>
  <dc:creator>Ting B</dc:creator>
  <cp:lastModifiedBy>pplab</cp:lastModifiedBy>
  <cp:revision>35</cp:revision>
  <dcterms:created xsi:type="dcterms:W3CDTF">2021-11-14T10:52:51Z</dcterms:created>
  <dcterms:modified xsi:type="dcterms:W3CDTF">2021-11-16T12:25:34Z</dcterms:modified>
</cp:coreProperties>
</file>