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 id="2147483738" r:id="rId3"/>
    <p:sldMasterId id="2147483712" r:id="rId4"/>
    <p:sldMasterId id="2147483674" r:id="rId5"/>
    <p:sldMasterId id="2147483725" r:id="rId6"/>
  </p:sldMasterIdLst>
  <p:notesMasterIdLst>
    <p:notesMasterId r:id="rId22"/>
  </p:notesMasterIdLst>
  <p:sldIdLst>
    <p:sldId id="256" r:id="rId7"/>
    <p:sldId id="258" r:id="rId8"/>
    <p:sldId id="259" r:id="rId9"/>
    <p:sldId id="260" r:id="rId10"/>
    <p:sldId id="261" r:id="rId11"/>
    <p:sldId id="262" r:id="rId12"/>
    <p:sldId id="263" r:id="rId13"/>
    <p:sldId id="264" r:id="rId14"/>
    <p:sldId id="265" r:id="rId15"/>
    <p:sldId id="266" r:id="rId16"/>
    <p:sldId id="267" r:id="rId17"/>
    <p:sldId id="271" r:id="rId18"/>
    <p:sldId id="269" r:id="rId19"/>
    <p:sldId id="268" r:id="rId20"/>
    <p:sldId id="270" r:id="rId2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632" autoAdjust="0"/>
  </p:normalViewPr>
  <p:slideViewPr>
    <p:cSldViewPr>
      <p:cViewPr varScale="1">
        <p:scale>
          <a:sx n="68" d="100"/>
          <a:sy n="68" d="100"/>
        </p:scale>
        <p:origin x="77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按一下以編輯母片標題樣式</a:t>
            </a:r>
          </a:p>
        </p:txBody>
      </p:sp>
      <p:sp>
        <p:nvSpPr>
          <p:cNvPr id="3" name="內容版面配置區 2"/>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a:t>按一下以編輯母片標題樣式</a:t>
            </a:r>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11/9/2021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11/9/2021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2021/11/9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11/9/2021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2021/11/9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a:latin typeface="Times New Roman" pitchFamily="18" charset="0"/>
                <a:cs typeface="Times New Roman" pitchFamily="18" charset="0"/>
              </a:rPr>
              <a:t>A New Algorithm for "The LCS Problem" with Application in Compressing</a:t>
            </a:r>
          </a:p>
          <a:p>
            <a:pPr algn="ctr"/>
            <a:r>
              <a:rPr lang="en-US" altLang="zh-TW" sz="3200" dirty="0">
                <a:latin typeface="Times New Roman" pitchFamily="18" charset="0"/>
                <a:cs typeface="Times New Roman" pitchFamily="18" charset="0"/>
              </a:rPr>
              <a:t>Genome </a:t>
            </a:r>
            <a:r>
              <a:rPr lang="en-US" altLang="zh-TW" sz="3200" dirty="0" err="1">
                <a:latin typeface="Times New Roman" pitchFamily="18" charset="0"/>
                <a:cs typeface="Times New Roman" pitchFamily="18" charset="0"/>
              </a:rPr>
              <a:t>Resequencing</a:t>
            </a:r>
            <a:r>
              <a:rPr lang="en-US" altLang="zh-TW" sz="3200" dirty="0">
                <a:latin typeface="Times New Roman" pitchFamily="18" charset="0"/>
                <a:cs typeface="Times New Roman" pitchFamily="18" charset="0"/>
              </a:rPr>
              <a:t> Data</a:t>
            </a:r>
            <a:endParaRPr lang="en-US" sz="3200" b="0" strike="noStrike" spc="-1" dirty="0">
              <a:solidFill>
                <a:srgbClr val="000000"/>
              </a:solidFill>
              <a:latin typeface="Times New Roman" pitchFamily="18" charset="0"/>
              <a:cs typeface="Times New Roman" pitchFamily="18" charset="0"/>
            </a:endParaRPr>
          </a:p>
        </p:txBody>
      </p:sp>
      <p:sp>
        <p:nvSpPr>
          <p:cNvPr id="89" name="TextShape 2"/>
          <p:cNvSpPr txBox="1"/>
          <p:nvPr/>
        </p:nvSpPr>
        <p:spPr>
          <a:xfrm>
            <a:off x="1214280" y="3357720"/>
            <a:ext cx="6786360" cy="2071440"/>
          </a:xfrm>
          <a:prstGeom prst="rect">
            <a:avLst/>
          </a:prstGeom>
          <a:noFill/>
          <a:ln>
            <a:noFill/>
          </a:ln>
        </p:spPr>
        <p:txBody>
          <a:bodyPr>
            <a:normAutofit fontScale="92500"/>
          </a:bodyPr>
          <a:lstStyle/>
          <a:p>
            <a:pPr algn="ctr">
              <a:spcBef>
                <a:spcPts val="479"/>
              </a:spcBef>
              <a:tabLst>
                <a:tab pos="0" algn="l"/>
              </a:tabLst>
            </a:pPr>
            <a:r>
              <a:rPr lang="en-US" sz="2400" spc="-1" dirty="0">
                <a:solidFill>
                  <a:srgbClr val="000000"/>
                </a:solidFill>
                <a:latin typeface="Times New Roman" pitchFamily="18" charset="0"/>
                <a:cs typeface="Times New Roman" pitchFamily="18" charset="0"/>
              </a:rPr>
              <a:t>Richard Beal, </a:t>
            </a:r>
            <a:r>
              <a:rPr lang="en-US" sz="2400" spc="-1" dirty="0" err="1">
                <a:solidFill>
                  <a:srgbClr val="000000"/>
                </a:solidFill>
                <a:latin typeface="Times New Roman" pitchFamily="18" charset="0"/>
                <a:cs typeface="Times New Roman" pitchFamily="18" charset="0"/>
              </a:rPr>
              <a:t>Tazin</a:t>
            </a:r>
            <a:r>
              <a:rPr lang="en-US" sz="2400" spc="-1" dirty="0">
                <a:solidFill>
                  <a:srgbClr val="000000"/>
                </a:solidFill>
                <a:latin typeface="Times New Roman" pitchFamily="18" charset="0"/>
                <a:cs typeface="Times New Roman" pitchFamily="18" charset="0"/>
              </a:rPr>
              <a:t> Afrin, </a:t>
            </a:r>
            <a:r>
              <a:rPr lang="en-US" sz="2400" spc="-1" dirty="0" err="1">
                <a:solidFill>
                  <a:srgbClr val="000000"/>
                </a:solidFill>
                <a:latin typeface="Times New Roman" pitchFamily="18" charset="0"/>
                <a:cs typeface="Times New Roman" pitchFamily="18" charset="0"/>
              </a:rPr>
              <a:t>Aliya</a:t>
            </a:r>
            <a:r>
              <a:rPr lang="en-US" sz="2400" spc="-1" dirty="0">
                <a:solidFill>
                  <a:srgbClr val="000000"/>
                </a:solidFill>
                <a:latin typeface="Times New Roman" pitchFamily="18" charset="0"/>
                <a:cs typeface="Times New Roman" pitchFamily="18" charset="0"/>
              </a:rPr>
              <a:t> </a:t>
            </a:r>
            <a:r>
              <a:rPr lang="en-US" sz="2400" spc="-1" dirty="0" err="1">
                <a:solidFill>
                  <a:srgbClr val="000000"/>
                </a:solidFill>
                <a:latin typeface="Times New Roman" pitchFamily="18" charset="0"/>
                <a:cs typeface="Times New Roman" pitchFamily="18" charset="0"/>
              </a:rPr>
              <a:t>Farheen</a:t>
            </a:r>
            <a:r>
              <a:rPr lang="en-US" sz="2400" spc="-1" dirty="0">
                <a:solidFill>
                  <a:srgbClr val="000000"/>
                </a:solidFill>
                <a:latin typeface="Times New Roman" pitchFamily="18" charset="0"/>
                <a:cs typeface="Times New Roman" pitchFamily="18" charset="0"/>
              </a:rPr>
              <a:t> and Don </a:t>
            </a:r>
            <a:r>
              <a:rPr lang="en-US" sz="2400" spc="-1" dirty="0" err="1">
                <a:solidFill>
                  <a:srgbClr val="000000"/>
                </a:solidFill>
                <a:latin typeface="Times New Roman" pitchFamily="18" charset="0"/>
                <a:cs typeface="Times New Roman" pitchFamily="18" charset="0"/>
              </a:rPr>
              <a:t>Adjeroh</a:t>
            </a:r>
            <a:endParaRPr lang="en-US" sz="2400" spc="-1" dirty="0">
              <a:solidFill>
                <a:srgbClr val="000000"/>
              </a:solidFill>
              <a:latin typeface="Times New Roman" pitchFamily="18" charset="0"/>
              <a:cs typeface="Times New Roman" pitchFamily="18" charset="0"/>
            </a:endParaRPr>
          </a:p>
          <a:p>
            <a:pPr algn="ctr">
              <a:spcBef>
                <a:spcPts val="479"/>
              </a:spcBef>
              <a:tabLst>
                <a:tab pos="0" algn="l"/>
              </a:tabLst>
            </a:pPr>
            <a:endParaRPr lang="en-US" sz="2000" spc="-1" dirty="0">
              <a:solidFill>
                <a:srgbClr val="000000"/>
              </a:solidFill>
              <a:latin typeface="Times New Roman"/>
            </a:endParaRPr>
          </a:p>
          <a:p>
            <a:pPr algn="ctr">
              <a:spcBef>
                <a:spcPts val="479"/>
              </a:spcBef>
              <a:tabLst>
                <a:tab pos="0" algn="l"/>
              </a:tabLst>
            </a:pPr>
            <a:r>
              <a:rPr lang="en-US" sz="2400" spc="-1" dirty="0">
                <a:solidFill>
                  <a:srgbClr val="000000"/>
                </a:solidFill>
                <a:latin typeface="Times New Roman"/>
              </a:rPr>
              <a:t>2015 IEEE International Conference on Bioinformatics and Biomedicine (BIBM) 9-12 Nov. 2015 </a:t>
            </a:r>
          </a:p>
          <a:p>
            <a:pPr algn="ctr">
              <a:spcBef>
                <a:spcPts val="479"/>
              </a:spcBef>
              <a:tabLst>
                <a:tab pos="0" algn="l"/>
              </a:tabLst>
            </a:pPr>
            <a:r>
              <a:rPr lang="en-US" sz="2400" spc="-1" dirty="0">
                <a:solidFill>
                  <a:srgbClr val="000000"/>
                </a:solidFill>
                <a:latin typeface="Times New Roman"/>
              </a:rPr>
              <a:t>Washington, DC, USA</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altLang="zh-TW" sz="2000" spc="-1" dirty="0">
                <a:solidFill>
                  <a:srgbClr val="000000"/>
                </a:solidFill>
                <a:latin typeface="Times New Roman"/>
              </a:rPr>
              <a:t>Nov</a:t>
            </a:r>
            <a:r>
              <a:rPr lang="en-US" sz="2000" spc="-1" dirty="0">
                <a:solidFill>
                  <a:srgbClr val="000000"/>
                </a:solidFill>
                <a:latin typeface="Times New Roman"/>
              </a:rPr>
              <a:t>.</a:t>
            </a:r>
            <a:r>
              <a:rPr lang="en-US" sz="2000" b="0" strike="noStrike" spc="-1" dirty="0">
                <a:solidFill>
                  <a:srgbClr val="000000"/>
                </a:solidFill>
                <a:latin typeface="Times New Roman"/>
              </a:rPr>
              <a:t> 9, 2021</a:t>
            </a:r>
            <a:endParaRPr lang="en-US" sz="2000" b="0" strike="noStrike" spc="-1" dirty="0">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Abstract</a:t>
            </a:r>
            <a:r>
              <a:rPr lang="en-US" altLang="zh-TW" sz="4400" b="0" strike="noStrike" spc="-1" dirty="0">
                <a:solidFill>
                  <a:srgbClr val="000000"/>
                </a:solidFill>
                <a:latin typeface="Times New Roman"/>
              </a:rPr>
              <a:t>(1/2)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a:solidFill>
                  <a:srgbClr val="000000"/>
                </a:solidFill>
                <a:latin typeface="Times New Roman"/>
              </a:rPr>
              <a:t>The longest common subsequence (LCS) problem is a classical problem in computer science, and forms the basis of the current best-performing reference-based compression schemes for genome </a:t>
            </a:r>
            <a:r>
              <a:rPr lang="en-US" sz="2800" spc="-1" dirty="0" err="1">
                <a:solidFill>
                  <a:srgbClr val="000000"/>
                </a:solidFill>
                <a:latin typeface="Times New Roman"/>
              </a:rPr>
              <a:t>resequencing</a:t>
            </a:r>
            <a:r>
              <a:rPr lang="en-US" sz="2800" spc="-1" dirty="0">
                <a:solidFill>
                  <a:srgbClr val="000000"/>
                </a:solidFill>
                <a:latin typeface="Times New Roman"/>
              </a:rPr>
              <a:t> data. First, we present a new algorithm for the LCS problem. Then, we introduce an LCS-motivated reference-based compression scheme using the components of the LCS, rather than the LCS itself. For the Homo sapiens genome (original size 3,080,436,051 bytes), our proposed scheme compressed the genome to 5,267,656 bytes.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a:t>
            </a:r>
            <a:r>
              <a:rPr lang="en-US" altLang="zh-TW" sz="4400" spc="-1">
                <a:solidFill>
                  <a:srgbClr val="000000"/>
                </a:solidFill>
                <a:latin typeface="Times New Roman"/>
              </a:rPr>
              <a:t>(2/2)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a:solidFill>
                  <a:srgbClr val="000000"/>
                </a:solidFill>
                <a:latin typeface="Times New Roman"/>
              </a:rPr>
              <a:t>This can be compared with the previous best results of 19,666,791 bytes (Wang and Zhang, 2011) and 17,971,030 bytes (</a:t>
            </a:r>
            <a:r>
              <a:rPr lang="en-US" sz="2800" spc="-1" dirty="0" err="1">
                <a:solidFill>
                  <a:srgbClr val="000000"/>
                </a:solidFill>
                <a:latin typeface="Times New Roman"/>
              </a:rPr>
              <a:t>Pinho</a:t>
            </a:r>
            <a:r>
              <a:rPr lang="en-US" sz="2800" spc="-1" dirty="0">
                <a:solidFill>
                  <a:srgbClr val="000000"/>
                </a:solidFill>
                <a:latin typeface="Times New Roman"/>
              </a:rPr>
              <a:t>, </a:t>
            </a:r>
            <a:r>
              <a:rPr lang="en-US" sz="2800" spc="-1" dirty="0" err="1">
                <a:solidFill>
                  <a:srgbClr val="000000"/>
                </a:solidFill>
                <a:latin typeface="Times New Roman"/>
              </a:rPr>
              <a:t>Pratas</a:t>
            </a:r>
            <a:r>
              <a:rPr lang="en-US" sz="2800" spc="-1" dirty="0">
                <a:solidFill>
                  <a:srgbClr val="000000"/>
                </a:solidFill>
                <a:latin typeface="Times New Roman"/>
              </a:rPr>
              <a:t>, and Garcia, 2011). Thus, our compression ratio is about 3.73 to 3.41 times better than those from the state-of-the-art reference-based compression algorithms.</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5" name="內容版面配置區 4"/>
          <p:cNvSpPr>
            <a:spLocks noGrp="1"/>
          </p:cNvSpPr>
          <p:nvPr>
            <p:ph idx="1"/>
          </p:nvPr>
        </p:nvSpPr>
        <p:spPr/>
        <p:txBody>
          <a:bodyPr/>
          <a:lstStyle/>
          <a:p>
            <a:r>
              <a:rPr lang="en-US" altLang="zh-TW" dirty="0"/>
              <a:t>Use the suffix tree to compute the common substrings (CSSs).</a:t>
            </a:r>
          </a:p>
          <a:p>
            <a:r>
              <a:rPr lang="en-US" altLang="zh-TW" dirty="0"/>
              <a:t>Use the CSSs to construct a directed acyclic graph (DAG).</a:t>
            </a:r>
          </a:p>
          <a:p>
            <a:r>
              <a:rPr lang="en-US" altLang="zh-TW" dirty="0"/>
              <a:t>Compute LCS by finding the longest path in the DAG.</a:t>
            </a:r>
            <a:endParaRPr lang="zh-TW" altLang="en-US" b="1"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suffix tree</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6" name="Picture 2" descr="An example of the suffix tree and the suffix array."/>
          <p:cNvPicPr>
            <a:picLocks noChangeAspect="1" noChangeArrowheads="1"/>
          </p:cNvPicPr>
          <p:nvPr/>
        </p:nvPicPr>
        <p:blipFill>
          <a:blip r:embed="rId2"/>
          <a:srcRect/>
          <a:stretch>
            <a:fillRect/>
          </a:stretch>
        </p:blipFill>
        <p:spPr bwMode="auto">
          <a:xfrm>
            <a:off x="453846" y="1785926"/>
            <a:ext cx="8236308" cy="3857652"/>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common substrings (CSSs)</a:t>
            </a:r>
            <a:endParaRPr lang="zh-TW" altLang="en-US" dirty="0"/>
          </a:p>
        </p:txBody>
      </p:sp>
      <p:sp>
        <p:nvSpPr>
          <p:cNvPr id="3" name="內容版面配置區 2"/>
          <p:cNvSpPr>
            <a:spLocks noGrp="1"/>
          </p:cNvSpPr>
          <p:nvPr>
            <p:ph idx="1"/>
          </p:nvPr>
        </p:nvSpPr>
        <p:spPr/>
        <p:txBody>
          <a:bodyPr/>
          <a:lstStyle/>
          <a:p>
            <a:r>
              <a:rPr lang="en-US" altLang="zh-TW" dirty="0"/>
              <a:t>X = </a:t>
            </a:r>
            <a:r>
              <a:rPr lang="en-US" altLang="zh-TW" dirty="0" err="1"/>
              <a:t>xabxa</a:t>
            </a:r>
            <a:r>
              <a:rPr lang="en-US" altLang="zh-TW" dirty="0"/>
              <a:t>, and Y = </a:t>
            </a:r>
            <a:r>
              <a:rPr lang="en-US" altLang="zh-TW" dirty="0" err="1"/>
              <a:t>babxba</a:t>
            </a:r>
            <a:endParaRPr lang="en-US" altLang="zh-TW" dirty="0"/>
          </a:p>
          <a:p>
            <a:r>
              <a:rPr lang="en-US" dirty="0" err="1"/>
              <a:t>xabxa#babxba</a:t>
            </a:r>
            <a:r>
              <a:rPr lang="en-US" dirty="0"/>
              <a:t>$</a:t>
            </a:r>
            <a:endParaRPr lang="zh-TW" altLang="en-US" dirty="0"/>
          </a:p>
        </p:txBody>
      </p:sp>
      <p:pic>
        <p:nvPicPr>
          <p:cNvPr id="87042" name="Picture 2" descr="Longest Common Substring"/>
          <p:cNvPicPr>
            <a:picLocks noChangeAspect="1" noChangeArrowheads="1"/>
          </p:cNvPicPr>
          <p:nvPr/>
        </p:nvPicPr>
        <p:blipFill>
          <a:blip r:embed="rId2"/>
          <a:srcRect/>
          <a:stretch>
            <a:fillRect/>
          </a:stretch>
        </p:blipFill>
        <p:spPr bwMode="auto">
          <a:xfrm>
            <a:off x="1214414" y="2714620"/>
            <a:ext cx="6715172" cy="4003603"/>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common substrings (CSSs)</a:t>
            </a:r>
            <a:endParaRPr lang="zh-TW" altLang="en-US" dirty="0"/>
          </a:p>
        </p:txBody>
      </p:sp>
      <p:sp>
        <p:nvSpPr>
          <p:cNvPr id="3" name="內容版面配置區 2"/>
          <p:cNvSpPr>
            <a:spLocks noGrp="1"/>
          </p:cNvSpPr>
          <p:nvPr>
            <p:ph idx="1"/>
          </p:nvPr>
        </p:nvSpPr>
        <p:spPr/>
        <p:txBody>
          <a:bodyPr/>
          <a:lstStyle/>
          <a:p>
            <a:r>
              <a:rPr lang="en-US" altLang="zh-TW" dirty="0"/>
              <a:t>MATCH {id, p1, p2}</a:t>
            </a:r>
          </a:p>
          <a:p>
            <a:r>
              <a:rPr lang="en-US" altLang="zh-TW" dirty="0"/>
              <a:t>O(max{n + m, T})</a:t>
            </a:r>
            <a:endParaRPr lang="zh-TW" altLang="en-US" dirty="0"/>
          </a:p>
        </p:txBody>
      </p:sp>
      <p:pic>
        <p:nvPicPr>
          <p:cNvPr id="87042" name="Picture 2" descr="Longest Common Substring"/>
          <p:cNvPicPr>
            <a:picLocks noChangeAspect="1" noChangeArrowheads="1"/>
          </p:cNvPicPr>
          <p:nvPr/>
        </p:nvPicPr>
        <p:blipFill>
          <a:blip r:embed="rId2"/>
          <a:srcRect/>
          <a:stretch>
            <a:fillRect/>
          </a:stretch>
        </p:blipFill>
        <p:spPr bwMode="auto">
          <a:xfrm>
            <a:off x="3161744" y="3143248"/>
            <a:ext cx="5767974" cy="3438881"/>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DAG</a:t>
            </a:r>
            <a:endParaRPr lang="zh-TW" altLang="en-US" dirty="0"/>
          </a:p>
        </p:txBody>
      </p:sp>
      <p:sp>
        <p:nvSpPr>
          <p:cNvPr id="3" name="內容版面配置區 2"/>
          <p:cNvSpPr>
            <a:spLocks noGrp="1"/>
          </p:cNvSpPr>
          <p:nvPr>
            <p:ph idx="1"/>
          </p:nvPr>
        </p:nvSpPr>
        <p:spPr/>
        <p:txBody>
          <a:bodyPr/>
          <a:lstStyle/>
          <a:p>
            <a:r>
              <a:rPr lang="en-US" altLang="zh-TW" dirty="0"/>
              <a:t>Use the PREV to find the set of parents</a:t>
            </a:r>
          </a:p>
          <a:p>
            <a:r>
              <a:rPr lang="en-US" altLang="zh-TW" dirty="0"/>
              <a:t>PREV </a:t>
            </a:r>
            <a:r>
              <a:rPr lang="en-US" altLang="zh-TW" dirty="0" err="1"/>
              <a:t>pv</a:t>
            </a:r>
            <a:r>
              <a:rPr lang="en-US" altLang="zh-TW" dirty="0"/>
              <a:t> </a:t>
            </a:r>
          </a:p>
          <a:p>
            <a:pPr lvl="1"/>
            <a:r>
              <a:rPr lang="en-US" altLang="zh-TW" dirty="0"/>
              <a:t>{MATCH table1 [][], table2 [][]; ; </a:t>
            </a:r>
            <a:r>
              <a:rPr lang="en-US" altLang="zh-TW" dirty="0" err="1"/>
              <a:t>HashMap</a:t>
            </a:r>
            <a:r>
              <a:rPr lang="en-US" altLang="zh-TW" dirty="0"/>
              <a:t>&lt;</a:t>
            </a:r>
            <a:r>
              <a:rPr lang="en-US" altLang="zh-TW" dirty="0" err="1"/>
              <a:t>int,int</a:t>
            </a:r>
            <a:r>
              <a:rPr lang="en-US" altLang="zh-TW" dirty="0"/>
              <a:t>&gt; ml, m2}</a:t>
            </a:r>
            <a:endParaRPr lang="zh-TW" altLang="en-US" dirty="0"/>
          </a:p>
        </p:txBody>
      </p:sp>
      <p:pic>
        <p:nvPicPr>
          <p:cNvPr id="88066" name="Picture 2" descr="https://upload.wikimedia.org/wikipedia/commons/thumb/f/fe/Tred-G.svg/175px-Tred-G.svg.png"/>
          <p:cNvPicPr>
            <a:picLocks noChangeAspect="1" noChangeArrowheads="1"/>
          </p:cNvPicPr>
          <p:nvPr/>
        </p:nvPicPr>
        <p:blipFill>
          <a:blip r:embed="rId2"/>
          <a:srcRect/>
          <a:stretch>
            <a:fillRect/>
          </a:stretch>
        </p:blipFill>
        <p:spPr bwMode="auto">
          <a:xfrm>
            <a:off x="5831107" y="2928949"/>
            <a:ext cx="2812859" cy="385763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MATCH {id, p1, p2}</a:t>
            </a:r>
          </a:p>
          <a:p>
            <a:r>
              <a:rPr lang="en-US" altLang="zh-TW" dirty="0" err="1"/>
              <a:t>HashMap</a:t>
            </a:r>
            <a:r>
              <a:rPr lang="en-US" altLang="zh-TW" dirty="0"/>
              <a:t>&lt;id,p1&gt; m1</a:t>
            </a:r>
          </a:p>
          <a:p>
            <a:r>
              <a:rPr lang="en-US" altLang="zh-TW" dirty="0" err="1"/>
              <a:t>HashMap</a:t>
            </a:r>
            <a:r>
              <a:rPr lang="en-US" altLang="zh-TW" dirty="0"/>
              <a:t>&lt;id,p2&gt; m2</a:t>
            </a:r>
            <a:endParaRPr lang="zh-TW" altLang="en-US" dirty="0"/>
          </a:p>
          <a:p>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t>table1 [|m1|][|m2|] : the closest MATCH with respect to the p1 values</a:t>
            </a:r>
          </a:p>
          <a:p>
            <a:r>
              <a:rPr lang="en-US" altLang="zh-TW" dirty="0"/>
              <a:t>table2 [|m1|][|m2|] : the closest MATCH with respect to the p2 values</a:t>
            </a:r>
          </a:p>
          <a:p>
            <a:r>
              <a:rPr lang="en-US" altLang="zh-TW" dirty="0"/>
              <a:t>Insert all </a:t>
            </a:r>
            <a:r>
              <a:rPr lang="en-US" altLang="zh-TW" dirty="0" err="1"/>
              <a:t>MATCHes</a:t>
            </a:r>
            <a:r>
              <a:rPr lang="en-US" altLang="zh-TW" dirty="0"/>
              <a:t> to table</a:t>
            </a:r>
          </a:p>
          <a:p>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t>MATCH a {id, p1, p2}</a:t>
            </a:r>
          </a:p>
          <a:p>
            <a:r>
              <a:rPr lang="en-US" altLang="zh-TW" dirty="0"/>
              <a:t>table1[a.p1][a.p2]=a</a:t>
            </a:r>
          </a:p>
          <a:p>
            <a:r>
              <a:rPr lang="en-US" altLang="zh-TW" dirty="0"/>
              <a:t>table1[</a:t>
            </a:r>
            <a:r>
              <a:rPr lang="en-US" altLang="zh-TW" dirty="0" err="1"/>
              <a:t>i</a:t>
            </a:r>
            <a:r>
              <a:rPr lang="en-US" altLang="zh-TW" dirty="0"/>
              <a:t>][j] = table1 [</a:t>
            </a:r>
            <a:r>
              <a:rPr lang="en-US" altLang="zh-TW" dirty="0" err="1"/>
              <a:t>i</a:t>
            </a:r>
            <a:r>
              <a:rPr lang="en-US" altLang="zh-TW" dirty="0"/>
              <a:t> - l][j] if table1 [</a:t>
            </a:r>
            <a:r>
              <a:rPr lang="en-US" altLang="zh-TW" dirty="0" err="1"/>
              <a:t>i</a:t>
            </a:r>
            <a:r>
              <a:rPr lang="en-US" altLang="zh-TW" dirty="0"/>
              <a:t>][j] = null</a:t>
            </a:r>
            <a:endParaRPr lang="zh-TW" altLang="en-US" dirty="0"/>
          </a:p>
        </p:txBody>
      </p:sp>
      <p:graphicFrame>
        <p:nvGraphicFramePr>
          <p:cNvPr id="4" name="內容版面配置區 3"/>
          <p:cNvGraphicFramePr>
            <a:graphicFrameLocks/>
          </p:cNvGraphicFramePr>
          <p:nvPr/>
        </p:nvGraphicFramePr>
        <p:xfrm>
          <a:off x="4714876" y="4286256"/>
          <a:ext cx="3000396" cy="731520"/>
        </p:xfrm>
        <a:graphic>
          <a:graphicData uri="http://schemas.openxmlformats.org/drawingml/2006/table">
            <a:tbl>
              <a:tblPr firstRow="1" bandRow="1">
                <a:tableStyleId>{5C22544A-7EE6-4342-B048-85BDC9FD1C3A}</a:tableStyleId>
              </a:tblPr>
              <a:tblGrid>
                <a:gridCol w="750099">
                  <a:extLst>
                    <a:ext uri="{9D8B030D-6E8A-4147-A177-3AD203B41FA5}">
                      <a16:colId xmlns:a16="http://schemas.microsoft.com/office/drawing/2014/main" val="20000"/>
                    </a:ext>
                  </a:extLst>
                </a:gridCol>
                <a:gridCol w="750099">
                  <a:extLst>
                    <a:ext uri="{9D8B030D-6E8A-4147-A177-3AD203B41FA5}">
                      <a16:colId xmlns:a16="http://schemas.microsoft.com/office/drawing/2014/main" val="20001"/>
                    </a:ext>
                  </a:extLst>
                </a:gridCol>
                <a:gridCol w="750099">
                  <a:extLst>
                    <a:ext uri="{9D8B030D-6E8A-4147-A177-3AD203B41FA5}">
                      <a16:colId xmlns:a16="http://schemas.microsoft.com/office/drawing/2014/main" val="20002"/>
                    </a:ext>
                  </a:extLst>
                </a:gridCol>
                <a:gridCol w="750099">
                  <a:extLst>
                    <a:ext uri="{9D8B030D-6E8A-4147-A177-3AD203B41FA5}">
                      <a16:colId xmlns:a16="http://schemas.microsoft.com/office/drawing/2014/main" val="20003"/>
                    </a:ext>
                  </a:extLst>
                </a:gridCol>
              </a:tblGrid>
              <a:tr h="350043">
                <a:tc>
                  <a:txBody>
                    <a:bodyPr/>
                    <a:lstStyle/>
                    <a:p>
                      <a:r>
                        <a:rPr lang="en-US" altLang="zh-TW" dirty="0"/>
                        <a:t>2</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Null</a:t>
                      </a:r>
                      <a:endParaRPr lang="zh-TW" altLang="en-US" dirty="0"/>
                    </a:p>
                  </a:txBody>
                  <a:tcPr/>
                </a:tc>
                <a:tc>
                  <a:txBody>
                    <a:bodyPr/>
                    <a:lstStyle/>
                    <a:p>
                      <a:r>
                        <a:rPr lang="en-US" altLang="zh-TW" dirty="0"/>
                        <a:t>3</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Null</a:t>
                      </a:r>
                      <a:endParaRPr lang="zh-TW" altLang="en-US" dirty="0"/>
                    </a:p>
                  </a:txBody>
                  <a:tcPr/>
                </a:tc>
                <a:extLst>
                  <a:ext uri="{0D108BD9-81ED-4DB2-BD59-A6C34878D82A}">
                    <a16:rowId xmlns:a16="http://schemas.microsoft.com/office/drawing/2014/main" val="10000"/>
                  </a:ext>
                </a:extLst>
              </a:tr>
              <a:tr h="350043">
                <a:tc>
                  <a:txBody>
                    <a:bodyPr/>
                    <a:lstStyle/>
                    <a:p>
                      <a:r>
                        <a:rPr lang="en-US" altLang="zh-TW" dirty="0"/>
                        <a:t>Null</a:t>
                      </a:r>
                      <a:endParaRPr lang="zh-TW" altLang="en-US" dirty="0"/>
                    </a:p>
                  </a:txBody>
                  <a:tcPr/>
                </a:tc>
                <a:tc>
                  <a:txBody>
                    <a:bodyPr/>
                    <a:lstStyle/>
                    <a:p>
                      <a:r>
                        <a:rPr lang="en-US" altLang="zh-TW" dirty="0"/>
                        <a:t>4</a:t>
                      </a:r>
                      <a:endParaRPr lang="zh-TW" altLang="en-US" dirty="0"/>
                    </a:p>
                  </a:txBody>
                  <a:tcPr/>
                </a:tc>
                <a:tc>
                  <a:txBody>
                    <a:bodyPr/>
                    <a:lstStyle/>
                    <a:p>
                      <a:r>
                        <a:rPr lang="en-US" altLang="zh-TW" dirty="0"/>
                        <a:t>Null</a:t>
                      </a:r>
                      <a:endParaRPr lang="zh-TW" altLang="en-US" dirty="0"/>
                    </a:p>
                  </a:txBody>
                  <a:tcPr/>
                </a:tc>
                <a:tc>
                  <a:txBody>
                    <a:bodyPr/>
                    <a:lstStyle/>
                    <a:p>
                      <a:r>
                        <a:rPr lang="en-US" altLang="zh-TW" dirty="0"/>
                        <a:t>Null</a:t>
                      </a:r>
                      <a:endParaRPr lang="zh-TW" altLang="en-US" dirty="0"/>
                    </a:p>
                  </a:txBody>
                  <a:tcPr/>
                </a:tc>
                <a:extLst>
                  <a:ext uri="{0D108BD9-81ED-4DB2-BD59-A6C34878D82A}">
                    <a16:rowId xmlns:a16="http://schemas.microsoft.com/office/drawing/2014/main" val="10001"/>
                  </a:ext>
                </a:extLst>
              </a:tr>
            </a:tbl>
          </a:graphicData>
        </a:graphic>
      </p:graphicFrame>
      <p:graphicFrame>
        <p:nvGraphicFramePr>
          <p:cNvPr id="5" name="內容版面配置區 3"/>
          <p:cNvGraphicFramePr>
            <a:graphicFrameLocks/>
          </p:cNvGraphicFramePr>
          <p:nvPr/>
        </p:nvGraphicFramePr>
        <p:xfrm>
          <a:off x="4714876" y="5286388"/>
          <a:ext cx="3000400" cy="731520"/>
        </p:xfrm>
        <a:graphic>
          <a:graphicData uri="http://schemas.openxmlformats.org/drawingml/2006/table">
            <a:tbl>
              <a:tblPr firstRow="1" bandRow="1">
                <a:tableStyleId>{5C22544A-7EE6-4342-B048-85BDC9FD1C3A}</a:tableStyleId>
              </a:tblPr>
              <a:tblGrid>
                <a:gridCol w="750100">
                  <a:extLst>
                    <a:ext uri="{9D8B030D-6E8A-4147-A177-3AD203B41FA5}">
                      <a16:colId xmlns:a16="http://schemas.microsoft.com/office/drawing/2014/main" val="20000"/>
                    </a:ext>
                  </a:extLst>
                </a:gridCol>
                <a:gridCol w="750100">
                  <a:extLst>
                    <a:ext uri="{9D8B030D-6E8A-4147-A177-3AD203B41FA5}">
                      <a16:colId xmlns:a16="http://schemas.microsoft.com/office/drawing/2014/main" val="20001"/>
                    </a:ext>
                  </a:extLst>
                </a:gridCol>
                <a:gridCol w="750100">
                  <a:extLst>
                    <a:ext uri="{9D8B030D-6E8A-4147-A177-3AD203B41FA5}">
                      <a16:colId xmlns:a16="http://schemas.microsoft.com/office/drawing/2014/main" val="20002"/>
                    </a:ext>
                  </a:extLst>
                </a:gridCol>
                <a:gridCol w="750100">
                  <a:extLst>
                    <a:ext uri="{9D8B030D-6E8A-4147-A177-3AD203B41FA5}">
                      <a16:colId xmlns:a16="http://schemas.microsoft.com/office/drawing/2014/main" val="20003"/>
                    </a:ext>
                  </a:extLst>
                </a:gridCol>
              </a:tblGrid>
              <a:tr h="350043">
                <a:tc>
                  <a:txBody>
                    <a:bodyPr/>
                    <a:lstStyle/>
                    <a:p>
                      <a:r>
                        <a:rPr lang="en-US" altLang="zh-TW" dirty="0"/>
                        <a:t>2</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3</a:t>
                      </a:r>
                      <a:endParaRPr lang="zh-TW" altLang="en-US" dirty="0"/>
                    </a:p>
                  </a:txBody>
                  <a:tcPr/>
                </a:tc>
                <a:extLst>
                  <a:ext uri="{0D108BD9-81ED-4DB2-BD59-A6C34878D82A}">
                    <a16:rowId xmlns:a16="http://schemas.microsoft.com/office/drawing/2014/main" val="10000"/>
                  </a:ext>
                </a:extLst>
              </a:tr>
              <a:tr h="350043">
                <a:tc>
                  <a:txBody>
                    <a:bodyPr/>
                    <a:lstStyle/>
                    <a:p>
                      <a:r>
                        <a:rPr lang="en-US" altLang="zh-TW" dirty="0"/>
                        <a:t>Null</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tc>
                  <a:txBody>
                    <a:bodyPr/>
                    <a:lstStyle/>
                    <a:p>
                      <a:r>
                        <a:rPr lang="en-US" altLang="zh-TW" dirty="0"/>
                        <a:t>4</a:t>
                      </a:r>
                      <a:endParaRPr lang="zh-TW" altLang="en-US" dirty="0"/>
                    </a:p>
                  </a:txBody>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Get all Direct Parents</a:t>
            </a:r>
          </a:p>
          <a:p>
            <a:endParaRPr lang="en-US" altLang="zh-TW" dirty="0"/>
          </a:p>
          <a:p>
            <a:endParaRPr lang="en-US" altLang="zh-TW" dirty="0"/>
          </a:p>
          <a:p>
            <a:endParaRPr lang="en-US" altLang="zh-TW" dirty="0"/>
          </a:p>
          <a:p>
            <a:endParaRPr lang="en-US" altLang="zh-TW" dirty="0"/>
          </a:p>
          <a:p>
            <a:r>
              <a:rPr lang="en-US" altLang="zh-TW" dirty="0"/>
              <a:t>all Direct Parents:</a:t>
            </a:r>
          </a:p>
          <a:p>
            <a:r>
              <a:rPr lang="en-US" altLang="zh-TW" dirty="0"/>
              <a:t>all </a:t>
            </a:r>
            <a:r>
              <a:rPr lang="en-US" altLang="zh-TW" dirty="0" err="1"/>
              <a:t>MATCHes</a:t>
            </a:r>
            <a:r>
              <a:rPr lang="en-US" altLang="zh-TW" dirty="0"/>
              <a:t> before d1 and d2 </a:t>
            </a:r>
          </a:p>
          <a:p>
            <a:endParaRPr lang="zh-TW" altLang="en-US" dirty="0"/>
          </a:p>
        </p:txBody>
      </p:sp>
      <p:pic>
        <p:nvPicPr>
          <p:cNvPr id="4" name="圖片 3"/>
          <p:cNvPicPr>
            <a:picLocks noChangeAspect="1"/>
          </p:cNvPicPr>
          <p:nvPr/>
        </p:nvPicPr>
        <p:blipFill>
          <a:blip r:embed="rId2"/>
          <a:stretch>
            <a:fillRect/>
          </a:stretch>
        </p:blipFill>
        <p:spPr>
          <a:xfrm>
            <a:off x="457200" y="2276872"/>
            <a:ext cx="8229600" cy="864096"/>
          </a:xfrm>
          <a:prstGeom prst="rect">
            <a:avLst/>
          </a:prstGeom>
        </p:spPr>
      </p:pic>
      <p:pic>
        <p:nvPicPr>
          <p:cNvPr id="6" name="圖片 5"/>
          <p:cNvPicPr>
            <a:picLocks noChangeAspect="1"/>
          </p:cNvPicPr>
          <p:nvPr/>
        </p:nvPicPr>
        <p:blipFill>
          <a:blip r:embed="rId3"/>
          <a:stretch>
            <a:fillRect/>
          </a:stretch>
        </p:blipFill>
        <p:spPr>
          <a:xfrm>
            <a:off x="490530" y="3429000"/>
            <a:ext cx="8257934" cy="828727"/>
          </a:xfrm>
          <a:prstGeom prst="rect">
            <a:avLst/>
          </a:prstGeom>
        </p:spPr>
      </p:pic>
    </p:spTree>
    <p:extLst>
      <p:ext uri="{BB962C8B-B14F-4D97-AF65-F5344CB8AC3E}">
        <p14:creationId xmlns:p14="http://schemas.microsoft.com/office/powerpoint/2010/main" val="16727976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LSC</a:t>
            </a:r>
            <a:endParaRPr lang="zh-TW" altLang="en-US" dirty="0"/>
          </a:p>
        </p:txBody>
      </p:sp>
      <p:sp>
        <p:nvSpPr>
          <p:cNvPr id="3" name="內容版面配置區 2"/>
          <p:cNvSpPr>
            <a:spLocks noGrp="1"/>
          </p:cNvSpPr>
          <p:nvPr>
            <p:ph idx="1"/>
          </p:nvPr>
        </p:nvSpPr>
        <p:spPr/>
        <p:txBody>
          <a:bodyPr/>
          <a:lstStyle/>
          <a:p>
            <a:r>
              <a:rPr lang="en-US" dirty="0"/>
              <a:t>Topological Sorting for DAG</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Complexity Analysis</a:t>
            </a:r>
            <a:endParaRPr lang="zh-TW" altLang="en-US" dirty="0"/>
          </a:p>
        </p:txBody>
      </p:sp>
      <p:sp>
        <p:nvSpPr>
          <p:cNvPr id="3" name="內容版面配置區 2"/>
          <p:cNvSpPr>
            <a:spLocks noGrp="1"/>
          </p:cNvSpPr>
          <p:nvPr>
            <p:ph idx="1"/>
          </p:nvPr>
        </p:nvSpPr>
        <p:spPr/>
        <p:txBody>
          <a:bodyPr>
            <a:normAutofit/>
          </a:bodyPr>
          <a:lstStyle/>
          <a:p>
            <a:r>
              <a:rPr lang="en-US" altLang="zh-TW" dirty="0"/>
              <a:t>(</a:t>
            </a:r>
            <a:r>
              <a:rPr lang="en-US" altLang="zh-TW" dirty="0" err="1"/>
              <a:t>i</a:t>
            </a:r>
            <a:r>
              <a:rPr lang="en-US" altLang="zh-TW" dirty="0"/>
              <a:t>) O(max{n + m, T})</a:t>
            </a:r>
            <a:endParaRPr lang="zh-TW" altLang="en-US" dirty="0"/>
          </a:p>
          <a:p>
            <a:r>
              <a:rPr lang="en-US" altLang="zh-TW" dirty="0"/>
              <a:t>(ii) O(max{ nm, T × </a:t>
            </a:r>
            <a:r>
              <a:rPr lang="en-US" altLang="zh-TW" dirty="0" err="1"/>
              <a:t>t</a:t>
            </a:r>
            <a:r>
              <a:rPr lang="en-US" altLang="zh-TW" baseline="-25000" dirty="0" err="1"/>
              <a:t>getprnts</a:t>
            </a:r>
            <a:r>
              <a:rPr lang="en-US" altLang="zh-TW" dirty="0"/>
              <a:t>})</a:t>
            </a:r>
          </a:p>
          <a:p>
            <a:r>
              <a:rPr lang="en-US" altLang="zh-TW" dirty="0"/>
              <a:t>      Worst O(max{nm, T × max{n, m}})</a:t>
            </a:r>
          </a:p>
          <a:p>
            <a:r>
              <a:rPr lang="en-US" altLang="zh-TW" dirty="0"/>
              <a:t>      Average O(max{nm, × |</a:t>
            </a:r>
            <a:r>
              <a:rPr lang="el-GR" altLang="zh-TW" dirty="0"/>
              <a:t>Σ</a:t>
            </a:r>
            <a:r>
              <a:rPr lang="en-US" altLang="zh-TW" dirty="0"/>
              <a:t>|})</a:t>
            </a:r>
          </a:p>
          <a:p>
            <a:r>
              <a:rPr lang="en-US" altLang="zh-TW" dirty="0"/>
              <a:t> (iii) O(T+E)</a:t>
            </a:r>
          </a:p>
          <a:p>
            <a:endParaRPr lang="en-US" altLang="zh-TW" dirty="0"/>
          </a:p>
          <a:p>
            <a:r>
              <a:rPr lang="en-US" altLang="zh-TW" dirty="0"/>
              <a:t>O(max{nm, T × max{n, m}})</a:t>
            </a:r>
          </a:p>
          <a:p>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Compression</a:t>
            </a:r>
            <a:endParaRPr lang="zh-TW" altLang="en-US" dirty="0"/>
          </a:p>
        </p:txBody>
      </p:sp>
      <p:sp>
        <p:nvSpPr>
          <p:cNvPr id="3" name="內容版面配置區 2"/>
          <p:cNvSpPr>
            <a:spLocks noGrp="1"/>
          </p:cNvSpPr>
          <p:nvPr>
            <p:ph idx="1"/>
          </p:nvPr>
        </p:nvSpPr>
        <p:spPr/>
        <p:txBody>
          <a:bodyPr/>
          <a:lstStyle/>
          <a:p>
            <a:r>
              <a:rPr lang="en-US" altLang="zh-TW" dirty="0"/>
              <a:t>If CSS &lt; k, simply encode the symbol</a:t>
            </a:r>
          </a:p>
          <a:p>
            <a:r>
              <a:rPr lang="en-US" altLang="zh-TW" dirty="0"/>
              <a:t>Otherwise, encode this CSS with the triple (</a:t>
            </a:r>
            <a:r>
              <a:rPr lang="en-US" altLang="zh-TW" dirty="0" err="1"/>
              <a:t>pT</a:t>
            </a:r>
            <a:r>
              <a:rPr lang="en-US" altLang="zh-TW" dirty="0"/>
              <a:t>, </a:t>
            </a:r>
            <a:r>
              <a:rPr lang="en-US" altLang="zh-TW" dirty="0" err="1"/>
              <a:t>pZ</a:t>
            </a:r>
            <a:r>
              <a:rPr lang="en-US" altLang="zh-TW" dirty="0"/>
              <a:t>, l)</a:t>
            </a:r>
          </a:p>
          <a:p>
            <a:r>
              <a:rPr lang="en-US" altLang="zh-TW" dirty="0" err="1"/>
              <a:t>pT</a:t>
            </a:r>
            <a:r>
              <a:rPr lang="en-US" altLang="zh-TW" dirty="0"/>
              <a:t> is the starting position of the CSS in T</a:t>
            </a:r>
          </a:p>
          <a:p>
            <a:r>
              <a:rPr lang="en-US" altLang="zh-TW" dirty="0" err="1"/>
              <a:t>pZ</a:t>
            </a:r>
            <a:r>
              <a:rPr lang="en-US" altLang="zh-TW" dirty="0"/>
              <a:t> is the starting position of the CSS in Z[l...</a:t>
            </a:r>
            <a:r>
              <a:rPr lang="en-US" altLang="zh-TW" dirty="0" err="1"/>
              <a:t>i</a:t>
            </a:r>
            <a:r>
              <a:rPr lang="en-US" altLang="zh-TW" dirty="0"/>
              <a:t> - 1], Z=R</a:t>
            </a:r>
            <a:r>
              <a:rPr lang="zh-TW" altLang="en-US" dirty="0"/>
              <a:t>◦</a:t>
            </a:r>
            <a:r>
              <a:rPr lang="en-US" altLang="zh-TW" dirty="0"/>
              <a:t>T</a:t>
            </a:r>
          </a:p>
          <a:p>
            <a:r>
              <a:rPr lang="en-US" altLang="zh-TW" dirty="0"/>
              <a:t>l = LPF[</a:t>
            </a:r>
            <a:r>
              <a:rPr lang="en-US" altLang="zh-TW" dirty="0" err="1"/>
              <a:t>i</a:t>
            </a:r>
            <a:r>
              <a:rPr lang="en-US" altLang="zh-TW" dirty="0"/>
              <a:t>] is the length of the CSS.</a:t>
            </a:r>
          </a:p>
          <a:p>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12351</TotalTime>
  <Words>600</Words>
  <Application>Microsoft Office PowerPoint</Application>
  <PresentationFormat>如螢幕大小 (4:3)</PresentationFormat>
  <Paragraphs>74</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6</vt:i4>
      </vt:variant>
      <vt:variant>
        <vt:lpstr>投影片標題</vt:lpstr>
      </vt:variant>
      <vt:variant>
        <vt:i4>15</vt:i4>
      </vt:variant>
    </vt:vector>
  </HeadingPairs>
  <TitlesOfParts>
    <vt:vector size="26" baseType="lpstr">
      <vt:lpstr>Arial</vt:lpstr>
      <vt:lpstr>Calibri</vt:lpstr>
      <vt:lpstr>Symbol</vt:lpstr>
      <vt:lpstr>Times New Roman</vt:lpstr>
      <vt:lpstr>Wingdings</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PowerPoint 簡報</vt:lpstr>
      <vt:lpstr>suffix tree</vt:lpstr>
      <vt:lpstr>common substrings (CSSs)</vt:lpstr>
      <vt:lpstr>common substrings (CSSs)</vt:lpstr>
      <vt:lpstr>DAG</vt:lpstr>
      <vt:lpstr>PowerPoint 簡報</vt:lpstr>
      <vt:lpstr>PowerPoint 簡報</vt:lpstr>
      <vt:lpstr>PowerPoint 簡報</vt:lpstr>
      <vt:lpstr>PowerPoint 簡報</vt:lpstr>
      <vt:lpstr>LSC</vt:lpstr>
      <vt:lpstr>Complexity Analysis</vt:lpstr>
      <vt:lpstr>Compression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pplab</cp:lastModifiedBy>
  <cp:revision>2495</cp:revision>
  <dcterms:created xsi:type="dcterms:W3CDTF">2020-09-11T11:13:53Z</dcterms:created>
  <dcterms:modified xsi:type="dcterms:W3CDTF">2021-11-09T11:41:58Z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