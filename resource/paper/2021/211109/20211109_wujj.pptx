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366" r:id="rId4"/>
    <p:sldId id="343" r:id="rId5"/>
    <p:sldId id="344" r:id="rId6"/>
    <p:sldId id="271" r:id="rId7"/>
    <p:sldId id="370" r:id="rId8"/>
    <p:sldId id="259" r:id="rId9"/>
    <p:sldId id="357" r:id="rId10"/>
    <p:sldId id="369" r:id="rId11"/>
    <p:sldId id="373" r:id="rId12"/>
    <p:sldId id="297" r:id="rId13"/>
    <p:sldId id="289" r:id="rId14"/>
    <p:sldId id="292" r:id="rId15"/>
    <p:sldId id="267" r:id="rId16"/>
    <p:sldId id="295" r:id="rId17"/>
    <p:sldId id="371" r:id="rId18"/>
    <p:sldId id="269" r:id="rId19"/>
    <p:sldId id="302" r:id="rId20"/>
    <p:sldId id="272" r:id="rId21"/>
    <p:sldId id="300" r:id="rId22"/>
    <p:sldId id="331"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84515" autoAdjust="0"/>
  </p:normalViewPr>
  <p:slideViewPr>
    <p:cSldViewPr snapToGrid="0">
      <p:cViewPr varScale="1">
        <p:scale>
          <a:sx n="96" d="100"/>
          <a:sy n="96" d="100"/>
        </p:scale>
        <p:origin x="11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7413D9-0E3D-4005-9DFF-174A3670CAEB}" type="datetimeFigureOut">
              <a:rPr lang="zh-TW" altLang="en-US" smtClean="0"/>
              <a:t>2021/11/9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30D7B2-D2EC-4B96-8B99-F687D72744F3}" type="slidenum">
              <a:rPr lang="zh-TW" altLang="en-US" smtClean="0"/>
              <a:t>‹#›</a:t>
            </a:fld>
            <a:endParaRPr lang="zh-TW" altLang="en-US"/>
          </a:p>
        </p:txBody>
      </p:sp>
    </p:spTree>
    <p:extLst>
      <p:ext uri="{BB962C8B-B14F-4D97-AF65-F5344CB8AC3E}">
        <p14:creationId xmlns:p14="http://schemas.microsoft.com/office/powerpoint/2010/main" val="3591749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車  無薛琦 鵬竟</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a:t>
            </a:fld>
            <a:endParaRPr lang="zh-TW" altLang="en-US"/>
          </a:p>
        </p:txBody>
      </p:sp>
    </p:spTree>
    <p:extLst>
      <p:ext uri="{BB962C8B-B14F-4D97-AF65-F5344CB8AC3E}">
        <p14:creationId xmlns:p14="http://schemas.microsoft.com/office/powerpoint/2010/main" val="3621949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複雜性源於調度目標以及作業之間的設置，以及決定設置的長度和空閒持續時間</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4</a:t>
            </a:fld>
            <a:endParaRPr lang="zh-TW" altLang="en-US"/>
          </a:p>
        </p:txBody>
      </p:sp>
    </p:spTree>
    <p:extLst>
      <p:ext uri="{BB962C8B-B14F-4D97-AF65-F5344CB8AC3E}">
        <p14:creationId xmlns:p14="http://schemas.microsoft.com/office/powerpoint/2010/main" val="141163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複雜性源於調度目標以及作業之間的設置，以及決定設置的長度和空閒持續時間</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參數 </a:t>
            </a:r>
            <a:r>
              <a:rPr lang="en-US" altLang="zh-TW" dirty="0"/>
              <a:t>β </a:t>
            </a:r>
            <a:r>
              <a:rPr lang="zh-TW" altLang="en-US" dirty="0"/>
              <a:t>確定截止日期與發布日期之間的距離</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6</a:t>
            </a:fld>
            <a:endParaRPr lang="zh-TW" altLang="en-US"/>
          </a:p>
        </p:txBody>
      </p:sp>
    </p:spTree>
    <p:extLst>
      <p:ext uri="{BB962C8B-B14F-4D97-AF65-F5344CB8AC3E}">
        <p14:creationId xmlns:p14="http://schemas.microsoft.com/office/powerpoint/2010/main" val="100748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我們通常會解決一個目標  像是在已知的</a:t>
            </a:r>
            <a:r>
              <a:rPr lang="en-US" altLang="zh-TW" dirty="0"/>
              <a:t>task</a:t>
            </a:r>
            <a:r>
              <a:rPr lang="zh-TW" altLang="en-US" dirty="0"/>
              <a:t>的起始結束時間上的調度來找到單一目標 最小總延遲。</a:t>
            </a:r>
            <a:endParaRPr lang="en-US" altLang="zh-TW" dirty="0"/>
          </a:p>
          <a:p>
            <a:r>
              <a:rPr lang="zh-TW" altLang="en-US" dirty="0"/>
              <a:t>但是多目標就會需要考慮組合優化的問題，</a:t>
            </a:r>
            <a:endParaRPr lang="en-US" altLang="zh-TW" dirty="0"/>
          </a:p>
          <a:p>
            <a:r>
              <a:rPr lang="zh-TW" altLang="en-US" dirty="0"/>
              <a:t>當作業的順序和設置順序是已知的，必須將</a:t>
            </a:r>
            <a:r>
              <a:rPr lang="zh-TW" altLang="en-US" u="sng" dirty="0"/>
              <a:t>非線性的總延遲目標</a:t>
            </a:r>
            <a:r>
              <a:rPr lang="zh-TW" altLang="en-US" dirty="0"/>
              <a:t>線性化</a:t>
            </a:r>
            <a:r>
              <a:rPr lang="en-US" altLang="zh-TW" dirty="0"/>
              <a:t>.</a:t>
            </a:r>
            <a:r>
              <a:rPr lang="zh-TW" altLang="en-US" dirty="0"/>
              <a:t>變成一個線性問題。</a:t>
            </a:r>
            <a:endParaRPr lang="en-US" altLang="zh-TW"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7</a:t>
            </a:fld>
            <a:endParaRPr lang="zh-TW" altLang="en-US"/>
          </a:p>
        </p:txBody>
      </p:sp>
    </p:spTree>
    <p:extLst>
      <p:ext uri="{BB962C8B-B14F-4D97-AF65-F5344CB8AC3E}">
        <p14:creationId xmlns:p14="http://schemas.microsoft.com/office/powerpoint/2010/main" val="3217811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a:t>作業的順序和設置順序是已知的</a:t>
            </a:r>
            <a:endParaRPr lang="en-US" altLang="zh-TW"/>
          </a:p>
          <a:p>
            <a:r>
              <a:rPr lang="zh-TW" altLang="en-US"/>
              <a:t>必須將</a:t>
            </a:r>
            <a:r>
              <a:rPr lang="zh-TW" altLang="en-US" u="sng"/>
              <a:t>非線性的總延遲目標</a:t>
            </a:r>
            <a:r>
              <a:rPr lang="zh-TW" altLang="en-US"/>
              <a:t>線性化</a:t>
            </a:r>
            <a:endParaRPr lang="en-US" altLang="zh-TW"/>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8</a:t>
            </a:fld>
            <a:endParaRPr lang="zh-TW" altLang="en-US"/>
          </a:p>
        </p:txBody>
      </p:sp>
    </p:spTree>
    <p:extLst>
      <p:ext uri="{BB962C8B-B14F-4D97-AF65-F5344CB8AC3E}">
        <p14:creationId xmlns:p14="http://schemas.microsoft.com/office/powerpoint/2010/main" val="3840610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在構建階段，首先，必須通過將此作業添加到序列中（無論是否設置</a:t>
            </a:r>
            <a:r>
              <a:rPr lang="en-US" altLang="zh-TW" dirty="0"/>
              <a:t>setup</a:t>
            </a:r>
            <a:r>
              <a:rPr lang="zh-TW" altLang="en-US" dirty="0"/>
              <a:t>）來評估每個候選作業。在此評估中，</a:t>
            </a:r>
            <a:r>
              <a:rPr lang="en-US" altLang="zh-TW" dirty="0"/>
              <a:t> </a:t>
            </a:r>
            <a:r>
              <a:rPr lang="zh-TW" altLang="en-US" dirty="0"/>
              <a:t>可能會導致具有不同長度的空閒週期或設置持續時間的多個解決方案。比較每個候選工作的解決方案，並將非主導的解決方案與主導的解決方案分開。</a:t>
            </a:r>
            <a:endParaRPr lang="en-US" altLang="zh-TW" dirty="0"/>
          </a:p>
          <a:p>
            <a:endParaRPr lang="en-US" altLang="zh-TW" dirty="0">
              <a:solidFill>
                <a:srgbClr val="333333"/>
              </a:solidFill>
              <a:latin typeface="Open Sans" panose="020B0606030504020204" pitchFamily="34" charset="0"/>
            </a:endParaRPr>
          </a:p>
          <a:p>
            <a:r>
              <a:rPr lang="zh-TW" altLang="en-US" dirty="0">
                <a:solidFill>
                  <a:srgbClr val="333333"/>
                </a:solidFill>
                <a:latin typeface="Open Sans" panose="020B0606030504020204" pitchFamily="34" charset="0"/>
              </a:rPr>
              <a:t>在</a:t>
            </a:r>
            <a:r>
              <a:rPr lang="en-US" altLang="zh-TW" dirty="0" err="1">
                <a:solidFill>
                  <a:srgbClr val="333333"/>
                </a:solidFill>
                <a:latin typeface="Open Sans" panose="020B0606030504020204" pitchFamily="34" charset="0"/>
              </a:rPr>
              <a:t>multiobjective</a:t>
            </a:r>
            <a:r>
              <a:rPr lang="zh-TW" altLang="en-US" dirty="0">
                <a:solidFill>
                  <a:srgbClr val="333333"/>
                </a:solidFill>
                <a:latin typeface="Open Sans" panose="020B0606030504020204" pitchFamily="34" charset="0"/>
              </a:rPr>
              <a:t> 問題下，使用</a:t>
            </a:r>
            <a:r>
              <a:rPr lang="en-US" altLang="zh-TW" dirty="0">
                <a:solidFill>
                  <a:srgbClr val="333333"/>
                </a:solidFill>
                <a:latin typeface="Open Sans" panose="020B0606030504020204" pitchFamily="34" charset="0"/>
              </a:rPr>
              <a:t>Local search</a:t>
            </a:r>
            <a:r>
              <a:rPr lang="zh-TW" altLang="en-US" dirty="0">
                <a:solidFill>
                  <a:srgbClr val="333333"/>
                </a:solidFill>
                <a:latin typeface="Open Sans" panose="020B0606030504020204" pitchFamily="34" charset="0"/>
              </a:rPr>
              <a:t> 會變成像是在解單一問題。</a:t>
            </a:r>
            <a:br>
              <a:rPr lang="en-US" altLang="zh-TW" dirty="0">
                <a:solidFill>
                  <a:srgbClr val="333333"/>
                </a:solidFill>
                <a:latin typeface="Open Sans" panose="020B0606030504020204" pitchFamily="34" charset="0"/>
              </a:rPr>
            </a:br>
            <a:r>
              <a:rPr lang="zh-TW" altLang="en-US" dirty="0">
                <a:solidFill>
                  <a:srgbClr val="333333"/>
                </a:solidFill>
                <a:latin typeface="Open Sans" panose="020B0606030504020204" pitchFamily="34" charset="0"/>
              </a:rPr>
              <a:t>我們試著找到一系列的</a:t>
            </a:r>
            <a:r>
              <a:rPr lang="en-US" altLang="zh-TW" dirty="0">
                <a:solidFill>
                  <a:srgbClr val="333333"/>
                </a:solidFill>
                <a:latin typeface="Open Sans" panose="020B0606030504020204" pitchFamily="34" charset="0"/>
              </a:rPr>
              <a:t>solutions </a:t>
            </a:r>
            <a:r>
              <a:rPr lang="zh-TW" altLang="en-US" dirty="0">
                <a:solidFill>
                  <a:srgbClr val="333333"/>
                </a:solidFill>
                <a:latin typeface="Open Sans" panose="020B0606030504020204" pitchFamily="34" charset="0"/>
              </a:rPr>
              <a:t>而不是唯一的最佳解。</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9</a:t>
            </a:fld>
            <a:endParaRPr lang="zh-TW" altLang="en-US"/>
          </a:p>
        </p:txBody>
      </p:sp>
    </p:spTree>
    <p:extLst>
      <p:ext uri="{BB962C8B-B14F-4D97-AF65-F5344CB8AC3E}">
        <p14:creationId xmlns:p14="http://schemas.microsoft.com/office/powerpoint/2010/main" val="1682388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在構建階段，首先，必須通過將此作業添加到序列中（無論是否設置</a:t>
            </a:r>
            <a:r>
              <a:rPr lang="en-US" altLang="zh-TW" dirty="0"/>
              <a:t>setup</a:t>
            </a:r>
            <a:r>
              <a:rPr lang="zh-TW" altLang="en-US" dirty="0"/>
              <a:t>）來評估每個候選作業。</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在此評估中，</a:t>
            </a:r>
            <a:r>
              <a:rPr lang="en-US" altLang="zh-TW" dirty="0"/>
              <a:t> </a:t>
            </a:r>
            <a:r>
              <a:rPr lang="zh-TW" altLang="en-US" dirty="0"/>
              <a:t>可能會導致具有不同長度的空閒週期或設置持續時間的多個解決方案。</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10</a:t>
            </a:fld>
            <a:endParaRPr lang="zh-TW" altLang="en-US"/>
          </a:p>
        </p:txBody>
      </p:sp>
    </p:spTree>
    <p:extLst>
      <p:ext uri="{BB962C8B-B14F-4D97-AF65-F5344CB8AC3E}">
        <p14:creationId xmlns:p14="http://schemas.microsoft.com/office/powerpoint/2010/main" val="4217234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在構建階段，首先，必須通過將此作業添加到序列中（無論是否設置</a:t>
            </a:r>
            <a:r>
              <a:rPr lang="en-US" altLang="zh-TW" dirty="0"/>
              <a:t>setup</a:t>
            </a:r>
            <a:r>
              <a:rPr lang="zh-TW" altLang="en-US" dirty="0"/>
              <a:t>）來評估每個候選作業。</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solidFill>
                  <a:srgbClr val="333333"/>
                </a:solidFill>
                <a:latin typeface="Open Sans" panose="020B0606030504020204" pitchFamily="34" charset="0"/>
              </a:rPr>
              <a:t>在</a:t>
            </a:r>
            <a:r>
              <a:rPr lang="en-US" altLang="zh-TW" dirty="0" err="1">
                <a:solidFill>
                  <a:srgbClr val="333333"/>
                </a:solidFill>
                <a:latin typeface="Open Sans" panose="020B0606030504020204" pitchFamily="34" charset="0"/>
              </a:rPr>
              <a:t>multiobjective</a:t>
            </a:r>
            <a:r>
              <a:rPr lang="zh-TW" altLang="en-US" dirty="0">
                <a:solidFill>
                  <a:srgbClr val="333333"/>
                </a:solidFill>
                <a:latin typeface="Open Sans" panose="020B0606030504020204" pitchFamily="34" charset="0"/>
              </a:rPr>
              <a:t> 問題下，使用</a:t>
            </a:r>
            <a:r>
              <a:rPr lang="en-US" altLang="zh-TW" dirty="0">
                <a:solidFill>
                  <a:srgbClr val="333333"/>
                </a:solidFill>
                <a:latin typeface="Open Sans" panose="020B0606030504020204" pitchFamily="34" charset="0"/>
              </a:rPr>
              <a:t>Local search</a:t>
            </a:r>
            <a:r>
              <a:rPr lang="zh-TW" altLang="en-US" dirty="0">
                <a:solidFill>
                  <a:srgbClr val="333333"/>
                </a:solidFill>
                <a:latin typeface="Open Sans" panose="020B0606030504020204" pitchFamily="34" charset="0"/>
              </a:rPr>
              <a:t> 會變成像是在解單一問題。</a:t>
            </a:r>
            <a:br>
              <a:rPr lang="en-US" altLang="zh-TW" dirty="0">
                <a:solidFill>
                  <a:srgbClr val="333333"/>
                </a:solidFill>
                <a:latin typeface="Open Sans" panose="020B0606030504020204" pitchFamily="34" charset="0"/>
              </a:rPr>
            </a:br>
            <a:r>
              <a:rPr lang="zh-TW" altLang="en-US" dirty="0">
                <a:solidFill>
                  <a:srgbClr val="333333"/>
                </a:solidFill>
                <a:latin typeface="Open Sans" panose="020B0606030504020204" pitchFamily="34" charset="0"/>
              </a:rPr>
              <a:t>我們試著找到一系列的</a:t>
            </a:r>
            <a:r>
              <a:rPr lang="en-US" altLang="zh-TW" dirty="0">
                <a:solidFill>
                  <a:srgbClr val="333333"/>
                </a:solidFill>
                <a:latin typeface="Open Sans" panose="020B0606030504020204" pitchFamily="34" charset="0"/>
              </a:rPr>
              <a:t>solutions </a:t>
            </a:r>
            <a:r>
              <a:rPr lang="zh-TW" altLang="en-US" dirty="0">
                <a:solidFill>
                  <a:srgbClr val="333333"/>
                </a:solidFill>
                <a:latin typeface="Open Sans" panose="020B0606030504020204" pitchFamily="34" charset="0"/>
              </a:rPr>
              <a:t>而不是唯一的最佳解。</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11</a:t>
            </a:fld>
            <a:endParaRPr lang="zh-TW" altLang="en-US"/>
          </a:p>
        </p:txBody>
      </p:sp>
    </p:spTree>
    <p:extLst>
      <p:ext uri="{BB962C8B-B14F-4D97-AF65-F5344CB8AC3E}">
        <p14:creationId xmlns:p14="http://schemas.microsoft.com/office/powerpoint/2010/main" val="3635521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生成的集群總數需要預先確定。在每次迭代中，距離最短的兩個簇合併為一個，直到簇數等於 </a:t>
            </a:r>
            <a:r>
              <a:rPr lang="en-US" altLang="zh-TW" dirty="0"/>
              <a:t>m</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請注意，使用較少的集群數量，我們將修復較少的二元變量的值，這會導致更精確的帕累托前沿，同時消耗更多的計算時間。</a:t>
            </a:r>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12</a:t>
            </a:fld>
            <a:endParaRPr lang="zh-TW" altLang="en-US"/>
          </a:p>
        </p:txBody>
      </p:sp>
    </p:spTree>
    <p:extLst>
      <p:ext uri="{BB962C8B-B14F-4D97-AF65-F5344CB8AC3E}">
        <p14:creationId xmlns:p14="http://schemas.microsoft.com/office/powerpoint/2010/main" val="3519894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(E0,D0)</a:t>
            </a:r>
            <a:r>
              <a:rPr lang="zh-TW" altLang="en-US" dirty="0"/>
              <a:t>對應的解中存在有效組的情況，第一種局部搜索是將</a:t>
            </a:r>
            <a:r>
              <a:rPr lang="zh-TW" altLang="en-US" u="sng" dirty="0"/>
              <a:t>每個有效組中所有作業的開始時間推遲一個時間單位</a:t>
            </a:r>
            <a:r>
              <a:rPr lang="zh-TW" altLang="en-US" dirty="0"/>
              <a:t>。那麼我們就可以得到一個可行解，</a:t>
            </a:r>
            <a:endParaRPr lang="en-US" altLang="zh-TW"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13</a:t>
            </a:fld>
            <a:endParaRPr lang="zh-TW" altLang="en-US"/>
          </a:p>
        </p:txBody>
      </p:sp>
    </p:spTree>
    <p:extLst>
      <p:ext uri="{BB962C8B-B14F-4D97-AF65-F5344CB8AC3E}">
        <p14:creationId xmlns:p14="http://schemas.microsoft.com/office/powerpoint/2010/main" val="2226716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dirty="0">
                <a:solidFill>
                  <a:schemeClr val="tx1"/>
                </a:solidFill>
                <a:effectLst/>
              </a:rPr>
              <a:t>Note that in the second type of local search, we only need to postpone one blocked group.</a:t>
            </a:r>
            <a:endParaRPr lang="en-US" altLang="zh-TW" sz="1200" b="0" dirty="0">
              <a:solidFill>
                <a:schemeClr val="tx1"/>
              </a:solidFill>
              <a:effectLst/>
            </a:endParaRPr>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14</a:t>
            </a:fld>
            <a:endParaRPr lang="zh-TW" altLang="en-US"/>
          </a:p>
        </p:txBody>
      </p:sp>
    </p:spTree>
    <p:extLst>
      <p:ext uri="{BB962C8B-B14F-4D97-AF65-F5344CB8AC3E}">
        <p14:creationId xmlns:p14="http://schemas.microsoft.com/office/powerpoint/2010/main" val="3163154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a:r>
              <a:rPr lang="zh-TW" altLang="en-US" dirty="0">
                <a:solidFill>
                  <a:srgbClr val="000000"/>
                </a:solidFill>
                <a:effectLst/>
              </a:rPr>
              <a:t>請注意，</a:t>
            </a:r>
            <a:r>
              <a:rPr lang="en-US" altLang="zh-TW" dirty="0">
                <a:solidFill>
                  <a:srgbClr val="000000"/>
                </a:solidFill>
                <a:effectLst/>
              </a:rPr>
              <a:t>k1 </a:t>
            </a:r>
            <a:r>
              <a:rPr lang="zh-TW" altLang="en-US" dirty="0">
                <a:solidFill>
                  <a:srgbClr val="000000"/>
                </a:solidFill>
                <a:effectLst/>
              </a:rPr>
              <a:t>表示對應於 </a:t>
            </a:r>
            <a:r>
              <a:rPr lang="en-US" altLang="zh-TW" dirty="0">
                <a:solidFill>
                  <a:srgbClr val="000000"/>
                </a:solidFill>
                <a:effectLst/>
              </a:rPr>
              <a:t>(E, D) </a:t>
            </a:r>
            <a:r>
              <a:rPr lang="zh-TW" altLang="en-US" dirty="0">
                <a:solidFill>
                  <a:srgbClr val="000000"/>
                </a:solidFill>
                <a:effectLst/>
              </a:rPr>
              <a:t>的解中有效組的數量，而 </a:t>
            </a:r>
            <a:r>
              <a:rPr lang="en-US" altLang="zh-TW" dirty="0">
                <a:solidFill>
                  <a:srgbClr val="000000"/>
                </a:solidFill>
                <a:effectLst/>
              </a:rPr>
              <a:t>k2 </a:t>
            </a:r>
            <a:r>
              <a:rPr lang="zh-TW" altLang="en-US" dirty="0">
                <a:solidFill>
                  <a:srgbClr val="000000"/>
                </a:solidFill>
                <a:effectLst/>
              </a:rPr>
              <a:t>是所選阻塞組被推遲的時間單位。 </a:t>
            </a:r>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15</a:t>
            </a:fld>
            <a:endParaRPr lang="zh-TW" altLang="en-US"/>
          </a:p>
        </p:txBody>
      </p:sp>
    </p:spTree>
    <p:extLst>
      <p:ext uri="{BB962C8B-B14F-4D97-AF65-F5344CB8AC3E}">
        <p14:creationId xmlns:p14="http://schemas.microsoft.com/office/powerpoint/2010/main" val="2499840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 </a:t>
            </a:r>
            <a:r>
              <a:rPr lang="zh-TW" altLang="en-US" dirty="0"/>
              <a:t>和 </a:t>
            </a:r>
            <a:r>
              <a:rPr lang="en-US" altLang="zh-TW" dirty="0"/>
              <a:t>E* </a:t>
            </a:r>
            <a:r>
              <a:rPr lang="zh-TW" altLang="en-US" dirty="0"/>
              <a:t>會隨著迭代的進行而動態變化，</a:t>
            </a:r>
            <a:endParaRPr lang="en-US" altLang="zh-TW" dirty="0"/>
          </a:p>
          <a:p>
            <a:r>
              <a:rPr lang="en-US" altLang="zh-TW" dirty="0" err="1"/>
              <a:t>yk</a:t>
            </a:r>
            <a:r>
              <a:rPr lang="en-US" altLang="zh-TW" dirty="0"/>
              <a:t> </a:t>
            </a:r>
            <a:r>
              <a:rPr lang="zh-TW" altLang="en-US" dirty="0"/>
              <a:t>表示在第 </a:t>
            </a:r>
            <a:r>
              <a:rPr lang="en-US" altLang="zh-TW" dirty="0"/>
              <a:t>k </a:t>
            </a:r>
            <a:r>
              <a:rPr lang="zh-TW" altLang="en-US" dirty="0"/>
              <a:t>個作業和第 </a:t>
            </a:r>
            <a:r>
              <a:rPr lang="en-US" altLang="zh-TW" dirty="0"/>
              <a:t>(k + 1) </a:t>
            </a:r>
            <a:r>
              <a:rPr lang="zh-TW" altLang="en-US" dirty="0"/>
              <a:t>個作業之間是否應該存在關閉</a:t>
            </a:r>
            <a:r>
              <a:rPr lang="en-US" altLang="zh-TW" dirty="0"/>
              <a:t>-</a:t>
            </a:r>
            <a:r>
              <a:rPr lang="zh-TW" altLang="en-US" dirty="0"/>
              <a:t>開啟操作</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16</a:t>
            </a:fld>
            <a:endParaRPr lang="zh-TW" altLang="en-US"/>
          </a:p>
        </p:txBody>
      </p:sp>
    </p:spTree>
    <p:extLst>
      <p:ext uri="{BB962C8B-B14F-4D97-AF65-F5344CB8AC3E}">
        <p14:creationId xmlns:p14="http://schemas.microsoft.com/office/powerpoint/2010/main" val="1697113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若存在無限個</a:t>
            </a:r>
            <a:r>
              <a:rPr lang="en-US" altLang="zh-TW" dirty="0"/>
              <a:t>optimal points</a:t>
            </a:r>
            <a:r>
              <a:rPr lang="zh-TW" altLang="en-US" dirty="0"/>
              <a:t>，是不可能全部獲得的，所以當限制</a:t>
            </a:r>
            <a:r>
              <a:rPr lang="en-US" altLang="zh-TW" dirty="0"/>
              <a:t>ED </a:t>
            </a:r>
            <a:r>
              <a:rPr lang="zh-TW" altLang="en-US" dirty="0"/>
              <a:t>都為整數時</a:t>
            </a:r>
            <a:endParaRPr lang="en-US" altLang="zh-TW" dirty="0"/>
          </a:p>
          <a:p>
            <a:r>
              <a:rPr lang="zh-TW" altLang="en-US" dirty="0"/>
              <a:t>我們以最大延遲為主要目標，並使用 </a:t>
            </a:r>
            <a:r>
              <a:rPr lang="en-US" altLang="zh-TW" dirty="0"/>
              <a:t>ε </a:t>
            </a:r>
            <a:r>
              <a:rPr lang="zh-TW" altLang="en-US" dirty="0"/>
              <a:t>約束來製定能耗，因為這樣，稍後將介紹的局部搜索和預處理技術可以更容易應用，</a:t>
            </a:r>
          </a:p>
          <a:p>
            <a:endParaRPr lang="zh-TW" altLang="en-US" dirty="0"/>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17</a:t>
            </a:fld>
            <a:endParaRPr lang="zh-TW" altLang="en-US"/>
          </a:p>
        </p:txBody>
      </p:sp>
    </p:spTree>
    <p:extLst>
      <p:ext uri="{BB962C8B-B14F-4D97-AF65-F5344CB8AC3E}">
        <p14:creationId xmlns:p14="http://schemas.microsoft.com/office/powerpoint/2010/main" val="3018465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它的解決方案性能幾乎不受作業聚類的影響。然而，在聚類過程的幫助下，我們的算法得到了極大的加速。</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20</a:t>
            </a:fld>
            <a:endParaRPr lang="zh-TW" altLang="en-US"/>
          </a:p>
        </p:txBody>
      </p:sp>
    </p:spTree>
    <p:extLst>
      <p:ext uri="{BB962C8B-B14F-4D97-AF65-F5344CB8AC3E}">
        <p14:creationId xmlns:p14="http://schemas.microsoft.com/office/powerpoint/2010/main" val="7089324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掉電機制的單機調度問題</a:t>
            </a:r>
          </a:p>
        </p:txBody>
      </p:sp>
      <p:sp>
        <p:nvSpPr>
          <p:cNvPr id="4" name="投影片編號版面配置區 3"/>
          <p:cNvSpPr>
            <a:spLocks noGrp="1"/>
          </p:cNvSpPr>
          <p:nvPr>
            <p:ph type="sldNum" sz="quarter" idx="5"/>
          </p:nvPr>
        </p:nvSpPr>
        <p:spPr/>
        <p:txBody>
          <a:bodyPr/>
          <a:lstStyle/>
          <a:p>
            <a:fld id="{3130D7B2-D2EC-4B96-8B99-F687D72744F3}" type="slidenum">
              <a:rPr lang="zh-TW" altLang="en-US" smtClean="0"/>
              <a:t>21</a:t>
            </a:fld>
            <a:endParaRPr lang="zh-TW" altLang="en-US"/>
          </a:p>
        </p:txBody>
      </p:sp>
    </p:spTree>
    <p:extLst>
      <p:ext uri="{BB962C8B-B14F-4D97-AF65-F5344CB8AC3E}">
        <p14:creationId xmlns:p14="http://schemas.microsoft.com/office/powerpoint/2010/main" val="1282761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8DA2FE-38A9-43C3-AE3E-3D7DC028C2C4}"/>
              </a:ext>
            </a:extLst>
          </p:cNvPr>
          <p:cNvSpPr>
            <a:spLocks noGrp="1"/>
          </p:cNvSpPr>
          <p:nvPr>
            <p:ph type="ctrTitle" hasCustomPrompt="1"/>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lang="en-US" altLang="zh-TW" dirty="0" err="1"/>
              <a:t>Ti</a:t>
            </a:r>
            <a:br>
              <a:rPr lang="en-US" altLang="zh-TW" dirty="0"/>
            </a:br>
            <a:endParaRPr lang="zh-TW" altLang="en-US" dirty="0"/>
          </a:p>
        </p:txBody>
      </p:sp>
      <p:sp>
        <p:nvSpPr>
          <p:cNvPr id="3" name="副標題 2">
            <a:extLst>
              <a:ext uri="{FF2B5EF4-FFF2-40B4-BE49-F238E27FC236}">
                <a16:creationId xmlns:a16="http://schemas.microsoft.com/office/drawing/2014/main" id="{C28DA793-1ED9-4AC5-ADE6-717C6E441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96CD283-2E6E-45B0-AE40-0E03201963B9}"/>
              </a:ext>
            </a:extLst>
          </p:cNvPr>
          <p:cNvSpPr>
            <a:spLocks noGrp="1"/>
          </p:cNvSpPr>
          <p:nvPr>
            <p:ph type="dt" sz="half" idx="10"/>
          </p:nvPr>
        </p:nvSpPr>
        <p:spPr/>
        <p:txBody>
          <a:bodyPr/>
          <a:lstStyle/>
          <a:p>
            <a:fld id="{F4A2503F-1177-4A4E-8015-3B0661847685}" type="datetimeFigureOut">
              <a:rPr lang="zh-TW" altLang="en-US" smtClean="0"/>
              <a:t>2021/11/9</a:t>
            </a:fld>
            <a:endParaRPr lang="zh-TW" altLang="en-US"/>
          </a:p>
        </p:txBody>
      </p:sp>
      <p:sp>
        <p:nvSpPr>
          <p:cNvPr id="5" name="頁尾版面配置區 4">
            <a:extLst>
              <a:ext uri="{FF2B5EF4-FFF2-40B4-BE49-F238E27FC236}">
                <a16:creationId xmlns:a16="http://schemas.microsoft.com/office/drawing/2014/main" id="{1CBFBBAF-E448-48D6-9C98-4F7ED65D41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D44C46B-486A-4EEB-AE91-FC848E313F0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51876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56184D-7BA3-45BD-B790-90F61BE6AA6A}"/>
              </a:ext>
            </a:extLst>
          </p:cNvPr>
          <p:cNvSpPr>
            <a:spLocks noGrp="1"/>
          </p:cNvSpPr>
          <p:nvPr>
            <p:ph type="title" hasCustomPrompt="1"/>
          </p:nvPr>
        </p:nvSpPr>
        <p:spPr/>
        <p:txBody>
          <a:bodyPr/>
          <a:lstStyle>
            <a:lvl1pPr>
              <a:defRPr>
                <a:latin typeface="Times New Roman" panose="02020603050405020304" pitchFamily="18" charset="0"/>
                <a:cs typeface="Times New Roman" panose="02020603050405020304" pitchFamily="18" charset="0"/>
              </a:defRPr>
            </a:lvl1pPr>
          </a:lstStyle>
          <a:p>
            <a:r>
              <a:rPr lang="en-US" altLang="zh-TW" dirty="0" err="1"/>
              <a:t>ti</a:t>
            </a:r>
            <a:endParaRPr lang="zh-TW" altLang="en-US" dirty="0"/>
          </a:p>
        </p:txBody>
      </p:sp>
      <p:sp>
        <p:nvSpPr>
          <p:cNvPr id="3" name="內容版面配置區 2">
            <a:extLst>
              <a:ext uri="{FF2B5EF4-FFF2-40B4-BE49-F238E27FC236}">
                <a16:creationId xmlns:a16="http://schemas.microsoft.com/office/drawing/2014/main" id="{32E43BFC-2DD2-4C4E-A3DC-B1498A5C7BFE}"/>
              </a:ext>
            </a:extLst>
          </p:cNvPr>
          <p:cNvSpPr>
            <a:spLocks noGrp="1"/>
          </p:cNvSpPr>
          <p:nvPr>
            <p:ph idx="1" hasCustomPrompt="1"/>
          </p:nvPr>
        </p:nvSpPr>
        <p:spPr/>
        <p:txBody>
          <a:bodyPr/>
          <a:lstStyle>
            <a:lvl1pPr>
              <a:defRPr/>
            </a:lvl1pPr>
          </a:lstStyle>
          <a:p>
            <a:pPr lvl="0"/>
            <a:r>
              <a:rPr lang="en-US" altLang="zh-TW" dirty="0" err="1"/>
              <a:t>ti</a:t>
            </a:r>
            <a:endParaRPr lang="zh-TW" altLang="en-US" dirty="0"/>
          </a:p>
        </p:txBody>
      </p:sp>
      <p:sp>
        <p:nvSpPr>
          <p:cNvPr id="4" name="日期版面配置區 3">
            <a:extLst>
              <a:ext uri="{FF2B5EF4-FFF2-40B4-BE49-F238E27FC236}">
                <a16:creationId xmlns:a16="http://schemas.microsoft.com/office/drawing/2014/main" id="{FE2AF72A-38B9-4AAF-8A61-A362036F1EAA}"/>
              </a:ext>
            </a:extLst>
          </p:cNvPr>
          <p:cNvSpPr>
            <a:spLocks noGrp="1"/>
          </p:cNvSpPr>
          <p:nvPr>
            <p:ph type="dt" sz="half" idx="10"/>
          </p:nvPr>
        </p:nvSpPr>
        <p:spPr/>
        <p:txBody>
          <a:bodyPr/>
          <a:lstStyle/>
          <a:p>
            <a:fld id="{F4A2503F-1177-4A4E-8015-3B0661847685}" type="datetimeFigureOut">
              <a:rPr lang="zh-TW" altLang="en-US" smtClean="0"/>
              <a:t>2021/11/9</a:t>
            </a:fld>
            <a:endParaRPr lang="zh-TW" altLang="en-US"/>
          </a:p>
        </p:txBody>
      </p:sp>
      <p:sp>
        <p:nvSpPr>
          <p:cNvPr id="5" name="頁尾版面配置區 4">
            <a:extLst>
              <a:ext uri="{FF2B5EF4-FFF2-40B4-BE49-F238E27FC236}">
                <a16:creationId xmlns:a16="http://schemas.microsoft.com/office/drawing/2014/main" id="{259927B3-B328-427A-B723-042ACF31DE9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4E6C5C-F026-4D4A-9396-A8E02D240B3A}"/>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888124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94A83-2AAB-4A5C-A410-587CB4BA1C76}"/>
              </a:ext>
            </a:extLst>
          </p:cNvPr>
          <p:cNvSpPr>
            <a:spLocks noGrp="1"/>
          </p:cNvSpPr>
          <p:nvPr>
            <p:ph type="title" hasCustomPrompt="1"/>
          </p:nvPr>
        </p:nvSpPr>
        <p:spPr>
          <a:xfrm>
            <a:off x="831850" y="1709738"/>
            <a:ext cx="10515600" cy="2852737"/>
          </a:xfrm>
        </p:spPr>
        <p:txBody>
          <a:bodyPr anchor="b"/>
          <a:lstStyle>
            <a:lvl1pPr>
              <a:defRPr sz="6000">
                <a:latin typeface="Times New Roman" panose="02020603050405020304" pitchFamily="18" charset="0"/>
                <a:cs typeface="Times New Roman" panose="02020603050405020304" pitchFamily="18" charset="0"/>
              </a:defRPr>
            </a:lvl1pPr>
          </a:lstStyle>
          <a:p>
            <a:r>
              <a:rPr lang="en-US" altLang="zh-TW" dirty="0" err="1"/>
              <a:t>Ti</a:t>
            </a:r>
            <a:br>
              <a:rPr lang="en-US" altLang="zh-TW" dirty="0"/>
            </a:br>
            <a:endParaRPr lang="zh-TW" altLang="en-US" dirty="0"/>
          </a:p>
        </p:txBody>
      </p:sp>
      <p:sp>
        <p:nvSpPr>
          <p:cNvPr id="3" name="文字版面配置區 2">
            <a:extLst>
              <a:ext uri="{FF2B5EF4-FFF2-40B4-BE49-F238E27FC236}">
                <a16:creationId xmlns:a16="http://schemas.microsoft.com/office/drawing/2014/main" id="{59E32E77-4D2E-4E74-A383-EA8A4FB5FB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AA91082-4FBD-4622-B1DF-8A9487D073B0}"/>
              </a:ext>
            </a:extLst>
          </p:cNvPr>
          <p:cNvSpPr>
            <a:spLocks noGrp="1"/>
          </p:cNvSpPr>
          <p:nvPr>
            <p:ph type="dt" sz="half" idx="10"/>
          </p:nvPr>
        </p:nvSpPr>
        <p:spPr/>
        <p:txBody>
          <a:bodyPr/>
          <a:lstStyle/>
          <a:p>
            <a:fld id="{F4A2503F-1177-4A4E-8015-3B0661847685}" type="datetimeFigureOut">
              <a:rPr lang="zh-TW" altLang="en-US" smtClean="0"/>
              <a:t>2021/11/9</a:t>
            </a:fld>
            <a:endParaRPr lang="zh-TW" altLang="en-US"/>
          </a:p>
        </p:txBody>
      </p:sp>
      <p:sp>
        <p:nvSpPr>
          <p:cNvPr id="5" name="頁尾版面配置區 4">
            <a:extLst>
              <a:ext uri="{FF2B5EF4-FFF2-40B4-BE49-F238E27FC236}">
                <a16:creationId xmlns:a16="http://schemas.microsoft.com/office/drawing/2014/main" id="{0F5F8BDE-A8F0-4DAC-99B2-50D2C0076B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8DC32A-8949-44F7-81E2-B83CF99B6149}"/>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919968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06E30-2946-483D-B775-554A96368A8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E3A773B-9F35-4E3D-A849-8D0145B8D16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5B11846-CABE-4EAB-BE62-420CD5D066C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BEC952-B9F4-416C-BB41-8EE327AE64DA}"/>
              </a:ext>
            </a:extLst>
          </p:cNvPr>
          <p:cNvSpPr>
            <a:spLocks noGrp="1"/>
          </p:cNvSpPr>
          <p:nvPr>
            <p:ph type="dt" sz="half" idx="10"/>
          </p:nvPr>
        </p:nvSpPr>
        <p:spPr/>
        <p:txBody>
          <a:bodyPr/>
          <a:lstStyle/>
          <a:p>
            <a:fld id="{F4A2503F-1177-4A4E-8015-3B0661847685}" type="datetimeFigureOut">
              <a:rPr lang="zh-TW" altLang="en-US" smtClean="0"/>
              <a:t>2021/11/9</a:t>
            </a:fld>
            <a:endParaRPr lang="zh-TW" altLang="en-US"/>
          </a:p>
        </p:txBody>
      </p:sp>
      <p:sp>
        <p:nvSpPr>
          <p:cNvPr id="6" name="頁尾版面配置區 5">
            <a:extLst>
              <a:ext uri="{FF2B5EF4-FFF2-40B4-BE49-F238E27FC236}">
                <a16:creationId xmlns:a16="http://schemas.microsoft.com/office/drawing/2014/main" id="{2FE91547-DAC4-4194-9975-1908B4FB91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8D607A5-83F1-4527-B1B7-BDF1CAEE3F0C}"/>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958607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54347C-74DC-4CB0-AED7-83CE1D00D21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A4958F8-A4BE-4B24-8356-FDD0A3445D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0894F9C-30F3-4BB9-B5A6-A3AE0063796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35A7371-F775-49D1-9F58-FCB95D2C16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B1B7DB5-49B1-46D6-BF9E-30B3944E893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A296A5A-46FE-4924-80F3-7CA1E9542C98}"/>
              </a:ext>
            </a:extLst>
          </p:cNvPr>
          <p:cNvSpPr>
            <a:spLocks noGrp="1"/>
          </p:cNvSpPr>
          <p:nvPr>
            <p:ph type="dt" sz="half" idx="10"/>
          </p:nvPr>
        </p:nvSpPr>
        <p:spPr/>
        <p:txBody>
          <a:bodyPr/>
          <a:lstStyle/>
          <a:p>
            <a:fld id="{F4A2503F-1177-4A4E-8015-3B0661847685}" type="datetimeFigureOut">
              <a:rPr lang="zh-TW" altLang="en-US" smtClean="0"/>
              <a:t>2021/11/9</a:t>
            </a:fld>
            <a:endParaRPr lang="zh-TW" altLang="en-US"/>
          </a:p>
        </p:txBody>
      </p:sp>
      <p:sp>
        <p:nvSpPr>
          <p:cNvPr id="8" name="頁尾版面配置區 7">
            <a:extLst>
              <a:ext uri="{FF2B5EF4-FFF2-40B4-BE49-F238E27FC236}">
                <a16:creationId xmlns:a16="http://schemas.microsoft.com/office/drawing/2014/main" id="{F7C630AC-DFE1-4D71-9917-19247C1F85C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4B8C931-DB59-4526-8001-0E5FDF164AF8}"/>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99803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F63E41-CEC2-4F37-AAEA-7C0C0248FA3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B31E847-1C3E-4C63-AF56-AFC9B011C5D8}"/>
              </a:ext>
            </a:extLst>
          </p:cNvPr>
          <p:cNvSpPr>
            <a:spLocks noGrp="1"/>
          </p:cNvSpPr>
          <p:nvPr>
            <p:ph type="dt" sz="half" idx="10"/>
          </p:nvPr>
        </p:nvSpPr>
        <p:spPr/>
        <p:txBody>
          <a:bodyPr/>
          <a:lstStyle/>
          <a:p>
            <a:fld id="{F4A2503F-1177-4A4E-8015-3B0661847685}" type="datetimeFigureOut">
              <a:rPr lang="zh-TW" altLang="en-US" smtClean="0"/>
              <a:t>2021/11/9</a:t>
            </a:fld>
            <a:endParaRPr lang="zh-TW" altLang="en-US"/>
          </a:p>
        </p:txBody>
      </p:sp>
      <p:sp>
        <p:nvSpPr>
          <p:cNvPr id="4" name="頁尾版面配置區 3">
            <a:extLst>
              <a:ext uri="{FF2B5EF4-FFF2-40B4-BE49-F238E27FC236}">
                <a16:creationId xmlns:a16="http://schemas.microsoft.com/office/drawing/2014/main" id="{75085913-2E3E-4049-A848-946D845AACB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2C93600-AC47-4BCE-9D50-108C888DE3F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253514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E8C1A37-E1DB-4353-B8C2-449B11A093EA}"/>
              </a:ext>
            </a:extLst>
          </p:cNvPr>
          <p:cNvSpPr>
            <a:spLocks noGrp="1"/>
          </p:cNvSpPr>
          <p:nvPr>
            <p:ph type="dt" sz="half" idx="10"/>
          </p:nvPr>
        </p:nvSpPr>
        <p:spPr/>
        <p:txBody>
          <a:bodyPr/>
          <a:lstStyle/>
          <a:p>
            <a:fld id="{F4A2503F-1177-4A4E-8015-3B0661847685}" type="datetimeFigureOut">
              <a:rPr lang="zh-TW" altLang="en-US" smtClean="0"/>
              <a:t>2021/11/9</a:t>
            </a:fld>
            <a:endParaRPr lang="zh-TW" altLang="en-US"/>
          </a:p>
        </p:txBody>
      </p:sp>
      <p:sp>
        <p:nvSpPr>
          <p:cNvPr id="3" name="頁尾版面配置區 2">
            <a:extLst>
              <a:ext uri="{FF2B5EF4-FFF2-40B4-BE49-F238E27FC236}">
                <a16:creationId xmlns:a16="http://schemas.microsoft.com/office/drawing/2014/main" id="{FF3463C6-00AC-42CC-B63E-8629A2782FE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65053A4-6DC4-437D-8D38-E158378EE3C2}"/>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729107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70F7FC-8574-4AD7-9C06-68F6FAE49E6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D36714A-AF50-4099-93D9-86186ED92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6DBC3B7-42ED-430E-B62F-657278DD7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EE20C7E-F4DA-42C0-992D-559213079D7E}"/>
              </a:ext>
            </a:extLst>
          </p:cNvPr>
          <p:cNvSpPr>
            <a:spLocks noGrp="1"/>
          </p:cNvSpPr>
          <p:nvPr>
            <p:ph type="dt" sz="half" idx="10"/>
          </p:nvPr>
        </p:nvSpPr>
        <p:spPr/>
        <p:txBody>
          <a:bodyPr/>
          <a:lstStyle/>
          <a:p>
            <a:fld id="{F4A2503F-1177-4A4E-8015-3B0661847685}" type="datetimeFigureOut">
              <a:rPr lang="zh-TW" altLang="en-US" smtClean="0"/>
              <a:t>2021/11/9</a:t>
            </a:fld>
            <a:endParaRPr lang="zh-TW" altLang="en-US"/>
          </a:p>
        </p:txBody>
      </p:sp>
      <p:sp>
        <p:nvSpPr>
          <p:cNvPr id="6" name="頁尾版面配置區 5">
            <a:extLst>
              <a:ext uri="{FF2B5EF4-FFF2-40B4-BE49-F238E27FC236}">
                <a16:creationId xmlns:a16="http://schemas.microsoft.com/office/drawing/2014/main" id="{8143E935-5D8F-4668-9377-D6659857E2C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B7D27C-5EF8-4572-89F2-8DBEEA27503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732207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A067B3-FF39-49E4-9074-9B95C4A0943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6DD7DA6-20A5-4C3D-8DFC-2DB5745622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a:extLst>
              <a:ext uri="{FF2B5EF4-FFF2-40B4-BE49-F238E27FC236}">
                <a16:creationId xmlns:a16="http://schemas.microsoft.com/office/drawing/2014/main" id="{2986B126-0E5E-4052-A79B-6F1CCAFA1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DEA2E1D-5A5F-40CA-A36D-A312BE08442B}"/>
              </a:ext>
            </a:extLst>
          </p:cNvPr>
          <p:cNvSpPr>
            <a:spLocks noGrp="1"/>
          </p:cNvSpPr>
          <p:nvPr>
            <p:ph type="dt" sz="half" idx="10"/>
          </p:nvPr>
        </p:nvSpPr>
        <p:spPr/>
        <p:txBody>
          <a:bodyPr/>
          <a:lstStyle/>
          <a:p>
            <a:fld id="{F4A2503F-1177-4A4E-8015-3B0661847685}" type="datetimeFigureOut">
              <a:rPr lang="zh-TW" altLang="en-US" smtClean="0"/>
              <a:t>2021/11/9</a:t>
            </a:fld>
            <a:endParaRPr lang="zh-TW" altLang="en-US"/>
          </a:p>
        </p:txBody>
      </p:sp>
      <p:sp>
        <p:nvSpPr>
          <p:cNvPr id="6" name="頁尾版面配置區 5">
            <a:extLst>
              <a:ext uri="{FF2B5EF4-FFF2-40B4-BE49-F238E27FC236}">
                <a16:creationId xmlns:a16="http://schemas.microsoft.com/office/drawing/2014/main" id="{EF647EB2-1087-4D45-AAC7-C04A5AEEA5F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BB460F0-2254-479E-BFB4-4D507B459DF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88282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E3F87C-0C73-4569-942C-CF6451875A8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25398C3-786C-4DCC-95AE-F79AB1877A2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EB9FB1-20EF-4708-BBDB-3E1BCF2CE040}"/>
              </a:ext>
            </a:extLst>
          </p:cNvPr>
          <p:cNvSpPr>
            <a:spLocks noGrp="1"/>
          </p:cNvSpPr>
          <p:nvPr>
            <p:ph type="dt" sz="half" idx="10"/>
          </p:nvPr>
        </p:nvSpPr>
        <p:spPr/>
        <p:txBody>
          <a:bodyPr/>
          <a:lstStyle/>
          <a:p>
            <a:fld id="{F4A2503F-1177-4A4E-8015-3B0661847685}" type="datetimeFigureOut">
              <a:rPr lang="zh-TW" altLang="en-US" smtClean="0"/>
              <a:t>2021/11/9</a:t>
            </a:fld>
            <a:endParaRPr lang="zh-TW" altLang="en-US"/>
          </a:p>
        </p:txBody>
      </p:sp>
      <p:sp>
        <p:nvSpPr>
          <p:cNvPr id="5" name="頁尾版面配置區 4">
            <a:extLst>
              <a:ext uri="{FF2B5EF4-FFF2-40B4-BE49-F238E27FC236}">
                <a16:creationId xmlns:a16="http://schemas.microsoft.com/office/drawing/2014/main" id="{01F7FD53-A757-40F6-9969-6E0434DA469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DE0B9B2-5181-4FAA-87DA-6AD571741D36}"/>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350597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302A61-0C02-46CD-8DC8-BF935321287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dirty="0"/>
          </a:p>
        </p:txBody>
      </p:sp>
      <p:sp>
        <p:nvSpPr>
          <p:cNvPr id="3" name="直排文字版面配置區 2">
            <a:extLst>
              <a:ext uri="{FF2B5EF4-FFF2-40B4-BE49-F238E27FC236}">
                <a16:creationId xmlns:a16="http://schemas.microsoft.com/office/drawing/2014/main" id="{806A379B-846E-46F8-BF6E-611A4DA0A94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BB5C4E5-BA35-4FF8-99C5-98F1A8682EA8}"/>
              </a:ext>
            </a:extLst>
          </p:cNvPr>
          <p:cNvSpPr>
            <a:spLocks noGrp="1"/>
          </p:cNvSpPr>
          <p:nvPr>
            <p:ph type="dt" sz="half" idx="10"/>
          </p:nvPr>
        </p:nvSpPr>
        <p:spPr/>
        <p:txBody>
          <a:bodyPr/>
          <a:lstStyle/>
          <a:p>
            <a:fld id="{F4A2503F-1177-4A4E-8015-3B0661847685}" type="datetimeFigureOut">
              <a:rPr lang="zh-TW" altLang="en-US" smtClean="0"/>
              <a:t>2021/11/9</a:t>
            </a:fld>
            <a:endParaRPr lang="zh-TW" altLang="en-US"/>
          </a:p>
        </p:txBody>
      </p:sp>
      <p:sp>
        <p:nvSpPr>
          <p:cNvPr id="5" name="頁尾版面配置區 4">
            <a:extLst>
              <a:ext uri="{FF2B5EF4-FFF2-40B4-BE49-F238E27FC236}">
                <a16:creationId xmlns:a16="http://schemas.microsoft.com/office/drawing/2014/main" id="{AB141E24-01B9-40CC-8B56-3E2DDCCD7E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7F96409-420B-4CDB-9974-E92F79D38DA4}"/>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442696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B0A74E0-49D5-4C60-9101-23AECDB08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dirty="0" err="1"/>
              <a:t>Ti</a:t>
            </a:r>
            <a:br>
              <a:rPr lang="en-US" altLang="zh-TW" dirty="0"/>
            </a:br>
            <a:endParaRPr lang="zh-TW" altLang="en-US" dirty="0"/>
          </a:p>
        </p:txBody>
      </p:sp>
      <p:sp>
        <p:nvSpPr>
          <p:cNvPr id="3" name="文字版面配置區 2">
            <a:extLst>
              <a:ext uri="{FF2B5EF4-FFF2-40B4-BE49-F238E27FC236}">
                <a16:creationId xmlns:a16="http://schemas.microsoft.com/office/drawing/2014/main" id="{FDEB5E8B-37F4-436E-B651-875A938BC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dirty="0" err="1"/>
              <a:t>Ti</a:t>
            </a:r>
            <a:endParaRPr lang="en-US" altLang="zh-TW" dirty="0"/>
          </a:p>
          <a:p>
            <a:pPr lvl="0"/>
            <a:endParaRPr lang="zh-TW" altLang="en-US" dirty="0"/>
          </a:p>
        </p:txBody>
      </p:sp>
      <p:sp>
        <p:nvSpPr>
          <p:cNvPr id="4" name="日期版面配置區 3">
            <a:extLst>
              <a:ext uri="{FF2B5EF4-FFF2-40B4-BE49-F238E27FC236}">
                <a16:creationId xmlns:a16="http://schemas.microsoft.com/office/drawing/2014/main" id="{8A1E7728-55AD-4793-A9C1-1F9019CC35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2503F-1177-4A4E-8015-3B0661847685}" type="datetimeFigureOut">
              <a:rPr lang="zh-TW" altLang="en-US" smtClean="0"/>
              <a:t>2021/11/9</a:t>
            </a:fld>
            <a:endParaRPr lang="zh-TW" altLang="en-US"/>
          </a:p>
        </p:txBody>
      </p:sp>
      <p:sp>
        <p:nvSpPr>
          <p:cNvPr id="5" name="頁尾版面配置區 4">
            <a:extLst>
              <a:ext uri="{FF2B5EF4-FFF2-40B4-BE49-F238E27FC236}">
                <a16:creationId xmlns:a16="http://schemas.microsoft.com/office/drawing/2014/main" id="{05280DE3-C4AF-4CC8-91A4-8EB5E22A51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20FD4E5-BD8C-43C9-959E-6AA435F715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069491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83053A-CC8D-454D-B92C-944C12D93638}"/>
              </a:ext>
            </a:extLst>
          </p:cNvPr>
          <p:cNvSpPr>
            <a:spLocks noGrp="1"/>
          </p:cNvSpPr>
          <p:nvPr>
            <p:ph type="ctrTitle"/>
          </p:nvPr>
        </p:nvSpPr>
        <p:spPr/>
        <p:txBody>
          <a:bodyPr>
            <a:normAutofit fontScale="90000"/>
          </a:bodyPr>
          <a:lstStyle/>
          <a:p>
            <a:r>
              <a:rPr lang="en-US" altLang="zh-TW" b="0" i="0" dirty="0">
                <a:effectLst/>
              </a:rPr>
              <a:t>Energy-efficient bi-objective single-machine scheduling with power-down mechanism</a:t>
            </a:r>
            <a:br>
              <a:rPr lang="en-US" altLang="zh-TW" b="0" i="0" dirty="0">
                <a:solidFill>
                  <a:srgbClr val="505050"/>
                </a:solidFill>
                <a:effectLst/>
                <a:latin typeface="NexusSerif"/>
              </a:rPr>
            </a:br>
            <a:endParaRPr lang="zh-TW" altLang="en-US" dirty="0"/>
          </a:p>
        </p:txBody>
      </p:sp>
      <p:sp>
        <p:nvSpPr>
          <p:cNvPr id="3" name="副標題 2">
            <a:extLst>
              <a:ext uri="{FF2B5EF4-FFF2-40B4-BE49-F238E27FC236}">
                <a16:creationId xmlns:a16="http://schemas.microsoft.com/office/drawing/2014/main" id="{5F758A5A-5857-4E7C-930D-EA56FC5A3499}"/>
              </a:ext>
            </a:extLst>
          </p:cNvPr>
          <p:cNvSpPr>
            <a:spLocks noGrp="1"/>
          </p:cNvSpPr>
          <p:nvPr>
            <p:ph type="subTitle" idx="1"/>
          </p:nvPr>
        </p:nvSpPr>
        <p:spPr>
          <a:xfrm>
            <a:off x="132521" y="3602038"/>
            <a:ext cx="12470295" cy="1655762"/>
          </a:xfrm>
        </p:spPr>
        <p:txBody>
          <a:bodyPr/>
          <a:lstStyle/>
          <a:p>
            <a:r>
              <a:rPr lang="en-US" altLang="zh-TW" b="0" i="0" u="none" strike="noStrike" dirty="0">
                <a:effectLst/>
              </a:rPr>
              <a:t>Che, Ada</a:t>
            </a:r>
            <a:r>
              <a:rPr lang="en-US" altLang="zh-TW" dirty="0"/>
              <a:t>, </a:t>
            </a:r>
            <a:r>
              <a:rPr lang="en-US" altLang="zh-TW" b="0" i="0" u="none" strike="noStrike" dirty="0">
                <a:effectLst/>
              </a:rPr>
              <a:t>Wu, </a:t>
            </a:r>
            <a:r>
              <a:rPr lang="en-US" altLang="zh-TW" b="0" i="0" u="none" strike="noStrike" dirty="0" err="1">
                <a:effectLst/>
              </a:rPr>
              <a:t>Xueqi</a:t>
            </a:r>
            <a:r>
              <a:rPr lang="en-US" altLang="zh-TW" b="0" i="0" u="none" strike="noStrike" dirty="0">
                <a:effectLst/>
              </a:rPr>
              <a:t>,  Peng, Jing, Yan, </a:t>
            </a:r>
            <a:r>
              <a:rPr lang="en-US" altLang="zh-TW" b="0" i="0" u="none" strike="noStrike" dirty="0" err="1">
                <a:effectLst/>
              </a:rPr>
              <a:t>Pengyu</a:t>
            </a:r>
            <a:endParaRPr lang="en-US" altLang="zh-TW" b="0" i="0" u="none" strike="noStrike" dirty="0">
              <a:effectLst/>
            </a:endParaRPr>
          </a:p>
          <a:p>
            <a:pPr algn="ctr"/>
            <a:r>
              <a:rPr lang="en-US" altLang="zh-TW" b="0" i="0" u="none" strike="noStrike" dirty="0">
                <a:effectLst/>
              </a:rPr>
              <a:t>Computers &amp; Operations Research</a:t>
            </a:r>
            <a:r>
              <a:rPr lang="en-US" altLang="zh-TW" dirty="0"/>
              <a:t> </a:t>
            </a:r>
            <a:r>
              <a:rPr lang="en-US" altLang="zh-TW" b="0" i="0" u="none" strike="noStrike" dirty="0">
                <a:effectLst/>
              </a:rPr>
              <a:t>Volume 85</a:t>
            </a:r>
            <a:r>
              <a:rPr lang="en-US" altLang="zh-TW" b="0" i="0" dirty="0">
                <a:effectLst/>
              </a:rPr>
              <a:t>, September 2017, Pages 172-183</a:t>
            </a:r>
          </a:p>
          <a:p>
            <a:endParaRPr lang="zh-TW" altLang="en-US" dirty="0"/>
          </a:p>
        </p:txBody>
      </p:sp>
      <p:sp>
        <p:nvSpPr>
          <p:cNvPr id="4" name="文字方塊 3">
            <a:extLst>
              <a:ext uri="{FF2B5EF4-FFF2-40B4-BE49-F238E27FC236}">
                <a16:creationId xmlns:a16="http://schemas.microsoft.com/office/drawing/2014/main" id="{18406001-BC81-43B0-9614-D30C0866A89A}"/>
              </a:ext>
            </a:extLst>
          </p:cNvPr>
          <p:cNvSpPr txBox="1"/>
          <p:nvPr/>
        </p:nvSpPr>
        <p:spPr>
          <a:xfrm>
            <a:off x="8574157" y="5565913"/>
            <a:ext cx="3445565" cy="646331"/>
          </a:xfrm>
          <a:prstGeom prst="rect">
            <a:avLst/>
          </a:prstGeom>
          <a:noFill/>
        </p:spPr>
        <p:txBody>
          <a:bodyPr wrap="square" rtlCol="0">
            <a:spAutoFit/>
          </a:bodyPr>
          <a:lstStyle/>
          <a:p>
            <a:r>
              <a:rPr lang="en-US" altLang="zh-TW" dirty="0"/>
              <a:t>Date: Nov. 9, 2021</a:t>
            </a:r>
          </a:p>
          <a:p>
            <a:r>
              <a:rPr lang="en-US" altLang="zh-TW" dirty="0"/>
              <a:t>Presenter: Jue-Jun Wu</a:t>
            </a:r>
            <a:endParaRPr lang="zh-TW" altLang="en-US" dirty="0"/>
          </a:p>
        </p:txBody>
      </p:sp>
    </p:spTree>
    <p:extLst>
      <p:ext uri="{BB962C8B-B14F-4D97-AF65-F5344CB8AC3E}">
        <p14:creationId xmlns:p14="http://schemas.microsoft.com/office/powerpoint/2010/main" val="55839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26F9BC-BBF4-4E36-9C49-E463EA162D6F}"/>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ADBBAAAF-E060-421E-8568-73FCE4D00D13}"/>
              </a:ext>
            </a:extLst>
          </p:cNvPr>
          <p:cNvSpPr>
            <a:spLocks noGrp="1"/>
          </p:cNvSpPr>
          <p:nvPr>
            <p:ph idx="1"/>
          </p:nvPr>
        </p:nvSpPr>
        <p:spPr>
          <a:xfrm>
            <a:off x="198783" y="1457738"/>
            <a:ext cx="11993217" cy="5400261"/>
          </a:xfrm>
        </p:spPr>
        <p:txBody>
          <a:bodyPr>
            <a:normAutofit/>
          </a:bodyPr>
          <a:lstStyle/>
          <a:p>
            <a:pPr marL="0" indent="0" algn="l">
              <a:buNone/>
            </a:pPr>
            <a:r>
              <a:rPr lang="en-US" altLang="zh-TW" sz="2400" b="0" i="0" dirty="0">
                <a:solidFill>
                  <a:srgbClr val="2E2E2E"/>
                </a:solidFill>
                <a:effectLst/>
              </a:rPr>
              <a:t>	This paper considers a single-machine scheduling problem with power-down mechanism to minimize both total energy consumption and maximum tardiness. The aim is to find an optimal processing sequence of jobs and determine if the machine should be executed a power-down operation between two consecutive jobs. To formulate the problem, a mixed-integer linear programming (MILP) model is developed. Then a basic ε − constraint method is proposed to obtain the complete Pareto front of the problem. Considering the particularity of the problem, we also develop local search, preprocessing technique and valid inequalities to strengthen the basic ε − constraint method. Finally, to obtain approximate Pareto fronts for large-size problems, we utilize the method of cluster analysis to divide the jobs into several sorted clusters according to their release times and due dates. Any job in a preceding cluster must be processed before all jobs in a subsequent cluster. Thus, the solution space is reduced significantly. Computational experiments on benchmark and randomly generated instances demonstrate the effectiveness of the proposed exact and approximation approaches.</a:t>
            </a:r>
            <a:br>
              <a:rPr lang="en-US" altLang="zh-TW" sz="2400" b="0" i="0" dirty="0">
                <a:solidFill>
                  <a:srgbClr val="2E2E2E"/>
                </a:solidFill>
                <a:effectLst/>
              </a:rPr>
            </a:br>
            <a:endParaRPr lang="zh-TW" altLang="en-US" sz="2400" dirty="0"/>
          </a:p>
        </p:txBody>
      </p:sp>
    </p:spTree>
    <p:extLst>
      <p:ext uri="{BB962C8B-B14F-4D97-AF65-F5344CB8AC3E}">
        <p14:creationId xmlns:p14="http://schemas.microsoft.com/office/powerpoint/2010/main" val="1050553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1AE1BAC-77C7-4F44-9E79-C19C1A03E6C2}"/>
                  </a:ext>
                </a:extLst>
              </p:cNvPr>
              <p:cNvSpPr>
                <a:spLocks noGrp="1"/>
              </p:cNvSpPr>
              <p:nvPr>
                <p:ph idx="1"/>
              </p:nvPr>
            </p:nvSpPr>
            <p:spPr>
              <a:xfrm>
                <a:off x="546652" y="1133061"/>
                <a:ext cx="10807148" cy="5043902"/>
              </a:xfrm>
            </p:spPr>
            <p:txBody>
              <a:bodyPr>
                <a:normAutofit lnSpcReduction="10000"/>
              </a:bodyPr>
              <a:lstStyle/>
              <a:p>
                <a:r>
                  <a:rPr lang="zh-TW" altLang="en-US" dirty="0"/>
                  <a:t>我們通常會解決一個目標  像是在已知的</a:t>
                </a:r>
                <a:r>
                  <a:rPr lang="en-US" altLang="zh-TW" dirty="0"/>
                  <a:t>task</a:t>
                </a:r>
                <a:r>
                  <a:rPr lang="zh-TW" altLang="en-US" dirty="0"/>
                  <a:t>的起始結束時間上的調度來找到單一目標 最小總延遲。</a:t>
                </a:r>
                <a:endParaRPr lang="en-US" altLang="zh-TW" dirty="0"/>
              </a:p>
              <a:p>
                <a:r>
                  <a:rPr lang="zh-TW" altLang="en-US" dirty="0"/>
                  <a:t>但是多目標就會需要考慮組合優化的問題，</a:t>
                </a:r>
                <a:endParaRPr lang="en-US" altLang="zh-TW" dirty="0"/>
              </a:p>
              <a:p>
                <a:endParaRPr lang="en-US" altLang="zh-TW" dirty="0"/>
              </a:p>
              <a:p>
                <a:r>
                  <a:rPr lang="zh-TW" altLang="en-US" dirty="0"/>
                  <a:t>在做出調度決策時必須考慮幾個因素</a:t>
                </a:r>
                <a:r>
                  <a:rPr lang="en-US" altLang="zh-TW" dirty="0"/>
                  <a:t>::</a:t>
                </a:r>
                <a:r>
                  <a:rPr lang="zh-TW" altLang="en-US" dirty="0"/>
                  <a:t>每個</a:t>
                </a:r>
                <a:r>
                  <a:rPr lang="en-US" altLang="zh-TW" dirty="0"/>
                  <a:t>task</a:t>
                </a:r>
                <a:r>
                  <a:rPr lang="zh-TW" altLang="en-US" dirty="0"/>
                  <a:t>的順序跟開始時間或是完成時間，</a:t>
                </a:r>
                <a:r>
                  <a:rPr lang="zh-TW" altLang="en-US" sz="2800" dirty="0"/>
                  <a:t>其次，必須決定兩個連續作業之間是否會有設置</a:t>
                </a:r>
                <a:r>
                  <a:rPr lang="en-US" altLang="zh-TW" sz="2800" dirty="0"/>
                  <a:t>setup</a:t>
                </a:r>
                <a:r>
                  <a:rPr lang="zh-TW" altLang="en-US" sz="2800" dirty="0"/>
                  <a:t>。最後，必須確定設置的長度或空閒時間的長度。</a:t>
                </a:r>
                <a:endParaRPr lang="en-US" altLang="zh-TW" sz="2800" dirty="0"/>
              </a:p>
              <a:p>
                <a:r>
                  <a:rPr lang="zh-TW" altLang="en-US" sz="2800" dirty="0"/>
                  <a:t>每個</a:t>
                </a:r>
                <a:r>
                  <a:rPr lang="en-US" altLang="zh-TW" sz="2800" dirty="0"/>
                  <a:t>task</a:t>
                </a:r>
                <a:r>
                  <a:rPr lang="zh-TW" altLang="en-US" sz="2800" dirty="0"/>
                  <a:t>的發布日期不相同，造成最小總延遲</a:t>
                </a:r>
                <a:r>
                  <a:rPr lang="en-US" altLang="zh-TW" sz="2800" dirty="0"/>
                  <a:t>(delay)</a:t>
                </a:r>
                <a:r>
                  <a:rPr lang="zh-TW" altLang="en-US" sz="2800" dirty="0"/>
                  <a:t>是</a:t>
                </a:r>
                <a:r>
                  <a:rPr lang="en-US" altLang="zh-TW" sz="2800" dirty="0"/>
                  <a:t>np hard.</a:t>
                </a:r>
                <a:endParaRPr lang="en-US" altLang="zh-TW" dirty="0"/>
              </a:p>
              <a:p>
                <a:r>
                  <a:rPr lang="zh-TW" altLang="en-US" dirty="0"/>
                  <a:t>當機器關閉然後再打開時（即發生設置），它會消耗能量設置。此設置操作至少需要 </a:t>
                </a:r>
                <a:r>
                  <a:rPr lang="en-US" altLang="zh-TW" dirty="0" err="1"/>
                  <a:t>Tsetup</a:t>
                </a:r>
                <a:r>
                  <a:rPr lang="en-US" altLang="zh-TW" dirty="0"/>
                  <a:t> </a:t>
                </a:r>
                <a:r>
                  <a:rPr lang="zh-TW" altLang="en-US" dirty="0"/>
                  <a:t>持續時間。</a:t>
                </a:r>
                <a:endParaRPr lang="en-US" altLang="zh-TW" dirty="0"/>
              </a:p>
              <a:p>
                <a:r>
                  <a:rPr lang="zh-TW" altLang="en-US" dirty="0"/>
                  <a:t>當兩個</a:t>
                </a:r>
                <a:r>
                  <a:rPr lang="en-US" altLang="zh-TW" dirty="0"/>
                  <a:t>task</a:t>
                </a:r>
                <a:r>
                  <a:rPr lang="zh-TW" altLang="en-US" dirty="0"/>
                  <a:t>不直接相互跟隨時（即作業之間存在空閒期），</a:t>
                </a:r>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𝐵</m:t>
                        </m:r>
                      </m:sub>
                    </m:sSub>
                  </m:oMath>
                </a14:m>
                <a:r>
                  <a:rPr lang="zh-TW" altLang="en-US" dirty="0"/>
                  <a:t> 損益平衡點</a:t>
                </a:r>
                <a:r>
                  <a:rPr lang="en-US" altLang="zh-TW" dirty="0"/>
                  <a:t>(</a:t>
                </a:r>
                <a:r>
                  <a:rPr lang="zh-TW" altLang="en-US" dirty="0"/>
                  <a:t>單位是時間</a:t>
                </a:r>
                <a:r>
                  <a:rPr lang="en-US" altLang="zh-TW" dirty="0"/>
                  <a:t>)</a:t>
                </a:r>
                <a:r>
                  <a:rPr lang="zh-TW" altLang="en-US" dirty="0"/>
                  <a:t>，需要決定是讓機器空閒還是待機。</a:t>
                </a:r>
                <a:endParaRPr lang="en-US" altLang="zh-TW" dirty="0"/>
              </a:p>
              <a:p>
                <a:endParaRPr lang="en-US" altLang="zh-TW" dirty="0"/>
              </a:p>
              <a:p>
                <a:endParaRPr lang="zh-TW" altLang="en-US" dirty="0"/>
              </a:p>
              <a:p>
                <a:endParaRPr lang="zh-TW" altLang="en-US" dirty="0"/>
              </a:p>
            </p:txBody>
          </p:sp>
        </mc:Choice>
        <mc:Fallback xmlns="">
          <p:sp>
            <p:nvSpPr>
              <p:cNvPr id="3" name="內容版面配置區 2">
                <a:extLst>
                  <a:ext uri="{FF2B5EF4-FFF2-40B4-BE49-F238E27FC236}">
                    <a16:creationId xmlns:a16="http://schemas.microsoft.com/office/drawing/2014/main" id="{F1AE1BAC-77C7-4F44-9E79-C19C1A03E6C2}"/>
                  </a:ext>
                </a:extLst>
              </p:cNvPr>
              <p:cNvSpPr>
                <a:spLocks noGrp="1" noRot="1" noChangeAspect="1" noMove="1" noResize="1" noEditPoints="1" noAdjustHandles="1" noChangeArrowheads="1" noChangeShapeType="1" noTextEdit="1"/>
              </p:cNvSpPr>
              <p:nvPr>
                <p:ph idx="1"/>
              </p:nvPr>
            </p:nvSpPr>
            <p:spPr>
              <a:xfrm>
                <a:off x="546652" y="1133061"/>
                <a:ext cx="10807148" cy="5043902"/>
              </a:xfrm>
              <a:blipFill>
                <a:blip r:embed="rId2"/>
                <a:stretch>
                  <a:fillRect l="-1015" t="-3023" r="-4061" b="-157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31325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a:extLst>
              <a:ext uri="{FF2B5EF4-FFF2-40B4-BE49-F238E27FC236}">
                <a16:creationId xmlns:a16="http://schemas.microsoft.com/office/drawing/2014/main" id="{A97A7C1A-C104-46C1-ABDB-BB912FF25F65}"/>
              </a:ext>
            </a:extLst>
          </p:cNvPr>
          <p:cNvSpPr>
            <a:spLocks noGrp="1"/>
          </p:cNvSpPr>
          <p:nvPr>
            <p:ph idx="1"/>
          </p:nvPr>
        </p:nvSpPr>
        <p:spPr>
          <a:xfrm>
            <a:off x="336460" y="1961698"/>
            <a:ext cx="10515600" cy="4351338"/>
          </a:xfrm>
        </p:spPr>
        <p:txBody>
          <a:bodyPr/>
          <a:lstStyle/>
          <a:p>
            <a:endParaRPr lang="en-US" altLang="zh-TW" dirty="0"/>
          </a:p>
          <a:p>
            <a:endParaRPr lang="zh-TW" altLang="en-US" dirty="0"/>
          </a:p>
        </p:txBody>
      </p:sp>
      <p:graphicFrame>
        <p:nvGraphicFramePr>
          <p:cNvPr id="10" name="表格 10">
            <a:extLst>
              <a:ext uri="{FF2B5EF4-FFF2-40B4-BE49-F238E27FC236}">
                <a16:creationId xmlns:a16="http://schemas.microsoft.com/office/drawing/2014/main" id="{4ED955C8-4FB5-4E04-8B4B-117BA0F4BA3F}"/>
              </a:ext>
            </a:extLst>
          </p:cNvPr>
          <p:cNvGraphicFramePr>
            <a:graphicFrameLocks noGrp="1"/>
          </p:cNvGraphicFramePr>
          <p:nvPr>
            <p:extLst>
              <p:ext uri="{D42A27DB-BD31-4B8C-83A1-F6EECF244321}">
                <p14:modId xmlns:p14="http://schemas.microsoft.com/office/powerpoint/2010/main" val="1860738898"/>
              </p:ext>
            </p:extLst>
          </p:nvPr>
        </p:nvGraphicFramePr>
        <p:xfrm>
          <a:off x="338298" y="308928"/>
          <a:ext cx="5418668" cy="1381760"/>
        </p:xfrm>
        <a:graphic>
          <a:graphicData uri="http://schemas.openxmlformats.org/drawingml/2006/table">
            <a:tbl>
              <a:tblPr firstRow="1" bandRow="1">
                <a:tableStyleId>{073A0DAA-6AF3-43AB-8588-CEC1D06C72B9}</a:tableStyleId>
              </a:tblPr>
              <a:tblGrid>
                <a:gridCol w="1354667">
                  <a:extLst>
                    <a:ext uri="{9D8B030D-6E8A-4147-A177-3AD203B41FA5}">
                      <a16:colId xmlns:a16="http://schemas.microsoft.com/office/drawing/2014/main" val="3614785331"/>
                    </a:ext>
                  </a:extLst>
                </a:gridCol>
                <a:gridCol w="1354667">
                  <a:extLst>
                    <a:ext uri="{9D8B030D-6E8A-4147-A177-3AD203B41FA5}">
                      <a16:colId xmlns:a16="http://schemas.microsoft.com/office/drawing/2014/main" val="1969921935"/>
                    </a:ext>
                  </a:extLst>
                </a:gridCol>
                <a:gridCol w="1354667">
                  <a:extLst>
                    <a:ext uri="{9D8B030D-6E8A-4147-A177-3AD203B41FA5}">
                      <a16:colId xmlns:a16="http://schemas.microsoft.com/office/drawing/2014/main" val="2114458470"/>
                    </a:ext>
                  </a:extLst>
                </a:gridCol>
                <a:gridCol w="1354667">
                  <a:extLst>
                    <a:ext uri="{9D8B030D-6E8A-4147-A177-3AD203B41FA5}">
                      <a16:colId xmlns:a16="http://schemas.microsoft.com/office/drawing/2014/main" val="4130297835"/>
                    </a:ext>
                  </a:extLst>
                </a:gridCol>
              </a:tblGrid>
              <a:tr h="0">
                <a:tc>
                  <a:txBody>
                    <a:bodyPr/>
                    <a:lstStyle/>
                    <a:p>
                      <a:endParaRPr lang="zh-TW"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Processing time</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Release time</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Due date</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8200598"/>
                  </a:ext>
                </a:extLst>
              </a:tr>
              <a:tr h="370840">
                <a:tc>
                  <a:txBody>
                    <a:bodyPr/>
                    <a:lstStyle/>
                    <a:p>
                      <a:r>
                        <a:rPr lang="en-US" altLang="zh-TW" dirty="0">
                          <a:solidFill>
                            <a:schemeClr val="tx1"/>
                          </a:solidFill>
                        </a:rPr>
                        <a:t>Job1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 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Begin 0 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End 3 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8002590"/>
                  </a:ext>
                </a:extLst>
              </a:tr>
              <a:tr h="370840">
                <a:tc>
                  <a:txBody>
                    <a:bodyPr/>
                    <a:lstStyle/>
                    <a:p>
                      <a:r>
                        <a:rPr lang="en-US" altLang="zh-TW" dirty="0">
                          <a:solidFill>
                            <a:schemeClr val="tx1"/>
                          </a:solidFill>
                        </a:rPr>
                        <a:t>Job2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Begin 4 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End 6 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5804311"/>
                  </a:ext>
                </a:extLst>
              </a:tr>
            </a:tbl>
          </a:graphicData>
        </a:graphic>
      </p:graphicFrame>
      <p:graphicFrame>
        <p:nvGraphicFramePr>
          <p:cNvPr id="11" name="表格 11">
            <a:extLst>
              <a:ext uri="{FF2B5EF4-FFF2-40B4-BE49-F238E27FC236}">
                <a16:creationId xmlns:a16="http://schemas.microsoft.com/office/drawing/2014/main" id="{CD3FCF98-EC13-4FD2-92CA-8BB7C72CA42C}"/>
              </a:ext>
            </a:extLst>
          </p:cNvPr>
          <p:cNvGraphicFramePr>
            <a:graphicFrameLocks noGrp="1"/>
          </p:cNvGraphicFramePr>
          <p:nvPr>
            <p:extLst>
              <p:ext uri="{D42A27DB-BD31-4B8C-83A1-F6EECF244321}">
                <p14:modId xmlns:p14="http://schemas.microsoft.com/office/powerpoint/2010/main" val="4249135545"/>
              </p:ext>
            </p:extLst>
          </p:nvPr>
        </p:nvGraphicFramePr>
        <p:xfrm>
          <a:off x="6272328" y="308928"/>
          <a:ext cx="5581374" cy="1081934"/>
        </p:xfrm>
        <a:graphic>
          <a:graphicData uri="http://schemas.openxmlformats.org/drawingml/2006/table">
            <a:tbl>
              <a:tblPr firstRow="1" bandRow="1">
                <a:tableStyleId>{5C22544A-7EE6-4342-B048-85BDC9FD1C3A}</a:tableStyleId>
              </a:tblPr>
              <a:tblGrid>
                <a:gridCol w="1860458">
                  <a:extLst>
                    <a:ext uri="{9D8B030D-6E8A-4147-A177-3AD203B41FA5}">
                      <a16:colId xmlns:a16="http://schemas.microsoft.com/office/drawing/2014/main" val="162829055"/>
                    </a:ext>
                  </a:extLst>
                </a:gridCol>
                <a:gridCol w="1325585">
                  <a:extLst>
                    <a:ext uri="{9D8B030D-6E8A-4147-A177-3AD203B41FA5}">
                      <a16:colId xmlns:a16="http://schemas.microsoft.com/office/drawing/2014/main" val="706227900"/>
                    </a:ext>
                  </a:extLst>
                </a:gridCol>
                <a:gridCol w="2395331">
                  <a:extLst>
                    <a:ext uri="{9D8B030D-6E8A-4147-A177-3AD203B41FA5}">
                      <a16:colId xmlns:a16="http://schemas.microsoft.com/office/drawing/2014/main" val="2117482219"/>
                    </a:ext>
                  </a:extLst>
                </a:gridCol>
              </a:tblGrid>
              <a:tr h="441854">
                <a:tc>
                  <a:txBody>
                    <a:bodyPr/>
                    <a:lstStyle/>
                    <a:p>
                      <a:r>
                        <a:rPr lang="en-US" altLang="zh-TW" dirty="0">
                          <a:solidFill>
                            <a:schemeClr val="tx1"/>
                          </a:solidFill>
                        </a:rPr>
                        <a:t>Processing power</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Idle power</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Setup energy</a:t>
                      </a:r>
                    </a:p>
                    <a:p>
                      <a:r>
                        <a:rPr lang="en-US" altLang="zh-TW" dirty="0">
                          <a:solidFill>
                            <a:schemeClr val="tx1"/>
                          </a:solidFill>
                        </a:rPr>
                        <a:t>(1.5 </a:t>
                      </a:r>
                      <a:r>
                        <a:rPr lang="en-US" altLang="zh-TW" dirty="0" err="1">
                          <a:solidFill>
                            <a:schemeClr val="tx1"/>
                          </a:solidFill>
                        </a:rPr>
                        <a:t>hp.sec</a:t>
                      </a:r>
                      <a:r>
                        <a:rPr lang="en-US" altLang="zh-TW" dirty="0">
                          <a:solidFill>
                            <a:schemeClr val="tx1"/>
                          </a:solidFill>
                        </a:rPr>
                        <a:t>  ,  2s)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9597458"/>
                  </a:ext>
                </a:extLst>
              </a:tr>
              <a:tr h="441854">
                <a:tc>
                  <a:txBody>
                    <a:bodyPr/>
                    <a:lstStyle/>
                    <a:p>
                      <a:r>
                        <a:rPr lang="en-US" altLang="zh-TW" dirty="0">
                          <a:solidFill>
                            <a:schemeClr val="tx1"/>
                          </a:solidFill>
                        </a:rPr>
                        <a:t>2 hp</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 hp</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1.5 hp  </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5926261"/>
                  </a:ext>
                </a:extLst>
              </a:tr>
            </a:tbl>
          </a:graphicData>
        </a:graphic>
      </p:graphicFrame>
      <p:pic>
        <p:nvPicPr>
          <p:cNvPr id="12" name="內容版面配置區 6">
            <a:extLst>
              <a:ext uri="{FF2B5EF4-FFF2-40B4-BE49-F238E27FC236}">
                <a16:creationId xmlns:a16="http://schemas.microsoft.com/office/drawing/2014/main" id="{4B19ECF5-565A-4281-A5E3-2F26F70FA8BB}"/>
              </a:ext>
            </a:extLst>
          </p:cNvPr>
          <p:cNvPicPr>
            <a:picLocks noChangeAspect="1"/>
          </p:cNvPicPr>
          <p:nvPr/>
        </p:nvPicPr>
        <p:blipFill>
          <a:blip r:embed="rId3"/>
          <a:stretch>
            <a:fillRect/>
          </a:stretch>
        </p:blipFill>
        <p:spPr>
          <a:xfrm>
            <a:off x="-116491" y="3533274"/>
            <a:ext cx="7726415" cy="3160295"/>
          </a:xfrm>
          <a:prstGeom prst="rect">
            <a:avLst/>
          </a:prstGeom>
        </p:spPr>
      </p:pic>
      <p:graphicFrame>
        <p:nvGraphicFramePr>
          <p:cNvPr id="13" name="表格 13">
            <a:extLst>
              <a:ext uri="{FF2B5EF4-FFF2-40B4-BE49-F238E27FC236}">
                <a16:creationId xmlns:a16="http://schemas.microsoft.com/office/drawing/2014/main" id="{4D68CFF5-C149-43DB-BE81-370EDD0C2234}"/>
              </a:ext>
            </a:extLst>
          </p:cNvPr>
          <p:cNvGraphicFramePr>
            <a:graphicFrameLocks noGrp="1"/>
          </p:cNvGraphicFramePr>
          <p:nvPr>
            <p:extLst>
              <p:ext uri="{D42A27DB-BD31-4B8C-83A1-F6EECF244321}">
                <p14:modId xmlns:p14="http://schemas.microsoft.com/office/powerpoint/2010/main" val="3472076489"/>
              </p:ext>
            </p:extLst>
          </p:nvPr>
        </p:nvGraphicFramePr>
        <p:xfrm>
          <a:off x="7609924" y="3208421"/>
          <a:ext cx="4544776" cy="2855494"/>
        </p:xfrm>
        <a:graphic>
          <a:graphicData uri="http://schemas.openxmlformats.org/drawingml/2006/table">
            <a:tbl>
              <a:tblPr firstRow="1" bandRow="1">
                <a:tableStyleId>{5C22544A-7EE6-4342-B048-85BDC9FD1C3A}</a:tableStyleId>
              </a:tblPr>
              <a:tblGrid>
                <a:gridCol w="2272388">
                  <a:extLst>
                    <a:ext uri="{9D8B030D-6E8A-4147-A177-3AD203B41FA5}">
                      <a16:colId xmlns:a16="http://schemas.microsoft.com/office/drawing/2014/main" val="2031683522"/>
                    </a:ext>
                  </a:extLst>
                </a:gridCol>
                <a:gridCol w="2272388">
                  <a:extLst>
                    <a:ext uri="{9D8B030D-6E8A-4147-A177-3AD203B41FA5}">
                      <a16:colId xmlns:a16="http://schemas.microsoft.com/office/drawing/2014/main" val="3474732733"/>
                    </a:ext>
                  </a:extLst>
                </a:gridCol>
              </a:tblGrid>
              <a:tr h="726430">
                <a:tc>
                  <a:txBody>
                    <a:bodyPr/>
                    <a:lstStyle/>
                    <a:p>
                      <a:r>
                        <a:rPr lang="en-US" altLang="zh-TW" dirty="0">
                          <a:solidFill>
                            <a:schemeClr val="tx1"/>
                          </a:solidFill>
                        </a:rPr>
                        <a:t>Total energy </a:t>
                      </a:r>
                    </a:p>
                    <a:p>
                      <a:r>
                        <a:rPr lang="en-US" altLang="zh-TW" dirty="0">
                          <a:solidFill>
                            <a:schemeClr val="tx1"/>
                          </a:solidFill>
                        </a:rPr>
                        <a:t>consumption</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dirty="0">
                          <a:solidFill>
                            <a:schemeClr val="tx1"/>
                          </a:solidFill>
                        </a:rPr>
                        <a:t>Total Tardiness</a:t>
                      </a:r>
                    </a:p>
                    <a:p>
                      <a:r>
                        <a:rPr lang="en-US" altLang="zh-TW" dirty="0">
                          <a:solidFill>
                            <a:schemeClr val="tx1"/>
                          </a:solidFill>
                        </a:rPr>
                        <a:t>(Delay)</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865965"/>
                  </a:ext>
                </a:extLst>
              </a:tr>
              <a:tr h="532266">
                <a:tc>
                  <a:txBody>
                    <a:bodyPr/>
                    <a:lstStyle/>
                    <a:p>
                      <a:r>
                        <a:rPr lang="en-US" altLang="zh-TW" dirty="0">
                          <a:solidFill>
                            <a:schemeClr val="tx1"/>
                          </a:solidFill>
                        </a:rPr>
                        <a:t>8 hp</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690808"/>
                  </a:ext>
                </a:extLst>
              </a:tr>
              <a:tr h="532266">
                <a:tc>
                  <a:txBody>
                    <a:bodyPr/>
                    <a:lstStyle/>
                    <a:p>
                      <a:r>
                        <a:rPr lang="en-US" altLang="zh-TW" dirty="0">
                          <a:solidFill>
                            <a:schemeClr val="tx1"/>
                          </a:solidFill>
                        </a:rPr>
                        <a:t>7.5 hp</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5737938"/>
                  </a:ext>
                </a:extLst>
              </a:tr>
              <a:tr h="532266">
                <a:tc>
                  <a:txBody>
                    <a:bodyPr/>
                    <a:lstStyle/>
                    <a:p>
                      <a:r>
                        <a:rPr lang="en-US" altLang="zh-TW" dirty="0">
                          <a:solidFill>
                            <a:schemeClr val="tx1"/>
                          </a:solidFill>
                        </a:rPr>
                        <a:t>6 hp</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2263142"/>
                  </a:ext>
                </a:extLst>
              </a:tr>
              <a:tr h="532266">
                <a:tc>
                  <a:txBody>
                    <a:bodyPr/>
                    <a:lstStyle/>
                    <a:p>
                      <a:r>
                        <a:rPr lang="en-US" altLang="zh-TW" dirty="0">
                          <a:solidFill>
                            <a:schemeClr val="tx1"/>
                          </a:solidFill>
                        </a:rPr>
                        <a:t>6 hp</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2548178"/>
                  </a:ext>
                </a:extLst>
              </a:tr>
            </a:tbl>
          </a:graphicData>
        </a:graphic>
      </p:graphicFrame>
    </p:spTree>
    <p:extLst>
      <p:ext uri="{BB962C8B-B14F-4D97-AF65-F5344CB8AC3E}">
        <p14:creationId xmlns:p14="http://schemas.microsoft.com/office/powerpoint/2010/main" val="1595054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4B2C8DB9-E450-4022-A0C7-D9F4959C9C28}"/>
              </a:ext>
            </a:extLst>
          </p:cNvPr>
          <p:cNvSpPr>
            <a:spLocks noGrp="1"/>
          </p:cNvSpPr>
          <p:nvPr>
            <p:ph idx="1"/>
          </p:nvPr>
        </p:nvSpPr>
        <p:spPr/>
        <p:txBody>
          <a:bodyPr/>
          <a:lstStyle/>
          <a:p>
            <a:endParaRPr lang="zh-TW" altLang="en-US" dirty="0"/>
          </a:p>
        </p:txBody>
      </p:sp>
      <p:pic>
        <p:nvPicPr>
          <p:cNvPr id="6" name="圖片 5">
            <a:extLst>
              <a:ext uri="{FF2B5EF4-FFF2-40B4-BE49-F238E27FC236}">
                <a16:creationId xmlns:a16="http://schemas.microsoft.com/office/drawing/2014/main" id="{C8572D8D-1A42-4FAB-A3C5-EA894CF34089}"/>
              </a:ext>
            </a:extLst>
          </p:cNvPr>
          <p:cNvPicPr>
            <a:picLocks noChangeAspect="1"/>
          </p:cNvPicPr>
          <p:nvPr/>
        </p:nvPicPr>
        <p:blipFill>
          <a:blip r:embed="rId2"/>
          <a:stretch>
            <a:fillRect/>
          </a:stretch>
        </p:blipFill>
        <p:spPr>
          <a:xfrm>
            <a:off x="6256522" y="2700339"/>
            <a:ext cx="5935478" cy="3476624"/>
          </a:xfrm>
          <a:prstGeom prst="rect">
            <a:avLst/>
          </a:prstGeom>
        </p:spPr>
      </p:pic>
      <p:graphicFrame>
        <p:nvGraphicFramePr>
          <p:cNvPr id="5" name="表格 13">
            <a:extLst>
              <a:ext uri="{FF2B5EF4-FFF2-40B4-BE49-F238E27FC236}">
                <a16:creationId xmlns:a16="http://schemas.microsoft.com/office/drawing/2014/main" id="{24E833D6-6C7B-4359-BB8E-57EF7EED7C26}"/>
              </a:ext>
            </a:extLst>
          </p:cNvPr>
          <p:cNvGraphicFramePr>
            <a:graphicFrameLocks noGrp="1"/>
          </p:cNvGraphicFramePr>
          <p:nvPr>
            <p:extLst>
              <p:ext uri="{D42A27DB-BD31-4B8C-83A1-F6EECF244321}">
                <p14:modId xmlns:p14="http://schemas.microsoft.com/office/powerpoint/2010/main" val="906356656"/>
              </p:ext>
            </p:extLst>
          </p:nvPr>
        </p:nvGraphicFramePr>
        <p:xfrm>
          <a:off x="236955" y="341385"/>
          <a:ext cx="4544776" cy="2855494"/>
        </p:xfrm>
        <a:graphic>
          <a:graphicData uri="http://schemas.openxmlformats.org/drawingml/2006/table">
            <a:tbl>
              <a:tblPr firstRow="1" bandRow="1">
                <a:tableStyleId>{5C22544A-7EE6-4342-B048-85BDC9FD1C3A}</a:tableStyleId>
              </a:tblPr>
              <a:tblGrid>
                <a:gridCol w="2272388">
                  <a:extLst>
                    <a:ext uri="{9D8B030D-6E8A-4147-A177-3AD203B41FA5}">
                      <a16:colId xmlns:a16="http://schemas.microsoft.com/office/drawing/2014/main" val="2031683522"/>
                    </a:ext>
                  </a:extLst>
                </a:gridCol>
                <a:gridCol w="2272388">
                  <a:extLst>
                    <a:ext uri="{9D8B030D-6E8A-4147-A177-3AD203B41FA5}">
                      <a16:colId xmlns:a16="http://schemas.microsoft.com/office/drawing/2014/main" val="3474732733"/>
                    </a:ext>
                  </a:extLst>
                </a:gridCol>
              </a:tblGrid>
              <a:tr h="726430">
                <a:tc>
                  <a:txBody>
                    <a:bodyPr/>
                    <a:lstStyle/>
                    <a:p>
                      <a:r>
                        <a:rPr lang="en-US" altLang="zh-TW" dirty="0">
                          <a:solidFill>
                            <a:schemeClr val="tx1"/>
                          </a:solidFill>
                        </a:rPr>
                        <a:t>Total energy </a:t>
                      </a:r>
                    </a:p>
                    <a:p>
                      <a:r>
                        <a:rPr lang="en-US" altLang="zh-TW" dirty="0">
                          <a:solidFill>
                            <a:schemeClr val="tx1"/>
                          </a:solidFill>
                        </a:rPr>
                        <a:t>consumption</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dirty="0">
                          <a:solidFill>
                            <a:schemeClr val="tx1"/>
                          </a:solidFill>
                        </a:rPr>
                        <a:t>Total Tardiness</a:t>
                      </a:r>
                    </a:p>
                    <a:p>
                      <a:r>
                        <a:rPr lang="en-US" altLang="zh-TW" dirty="0">
                          <a:solidFill>
                            <a:schemeClr val="tx1"/>
                          </a:solidFill>
                        </a:rPr>
                        <a:t>(Delay)</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865965"/>
                  </a:ext>
                </a:extLst>
              </a:tr>
              <a:tr h="532266">
                <a:tc>
                  <a:txBody>
                    <a:bodyPr/>
                    <a:lstStyle/>
                    <a:p>
                      <a:r>
                        <a:rPr lang="en-US" altLang="zh-TW" dirty="0">
                          <a:solidFill>
                            <a:schemeClr val="tx1"/>
                          </a:solidFill>
                        </a:rPr>
                        <a:t>8 hp</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690808"/>
                  </a:ext>
                </a:extLst>
              </a:tr>
              <a:tr h="532266">
                <a:tc>
                  <a:txBody>
                    <a:bodyPr/>
                    <a:lstStyle/>
                    <a:p>
                      <a:r>
                        <a:rPr lang="en-US" altLang="zh-TW" dirty="0">
                          <a:solidFill>
                            <a:schemeClr val="tx1"/>
                          </a:solidFill>
                        </a:rPr>
                        <a:t>7.5 hp</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5737938"/>
                  </a:ext>
                </a:extLst>
              </a:tr>
              <a:tr h="532266">
                <a:tc>
                  <a:txBody>
                    <a:bodyPr/>
                    <a:lstStyle/>
                    <a:p>
                      <a:r>
                        <a:rPr lang="en-US" altLang="zh-TW" dirty="0">
                          <a:solidFill>
                            <a:schemeClr val="tx1"/>
                          </a:solidFill>
                        </a:rPr>
                        <a:t>6 hp</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2263142"/>
                  </a:ext>
                </a:extLst>
              </a:tr>
              <a:tr h="532266">
                <a:tc>
                  <a:txBody>
                    <a:bodyPr/>
                    <a:lstStyle/>
                    <a:p>
                      <a:r>
                        <a:rPr lang="en-US" altLang="zh-TW" dirty="0">
                          <a:solidFill>
                            <a:schemeClr val="tx1"/>
                          </a:solidFill>
                        </a:rPr>
                        <a:t>6 hp</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2548178"/>
                  </a:ext>
                </a:extLst>
              </a:tr>
            </a:tbl>
          </a:graphicData>
        </a:graphic>
      </p:graphicFrame>
      <p:pic>
        <p:nvPicPr>
          <p:cNvPr id="7" name="圖片 6">
            <a:extLst>
              <a:ext uri="{FF2B5EF4-FFF2-40B4-BE49-F238E27FC236}">
                <a16:creationId xmlns:a16="http://schemas.microsoft.com/office/drawing/2014/main" id="{64C27E67-56EF-4389-B269-58F2F5F86BC4}"/>
              </a:ext>
            </a:extLst>
          </p:cNvPr>
          <p:cNvPicPr>
            <a:picLocks noChangeAspect="1"/>
          </p:cNvPicPr>
          <p:nvPr/>
        </p:nvPicPr>
        <p:blipFill rotWithShape="1">
          <a:blip r:embed="rId3"/>
          <a:srcRect t="-1137" r="79803" b="39528"/>
          <a:stretch/>
        </p:blipFill>
        <p:spPr>
          <a:xfrm>
            <a:off x="4781731" y="3840130"/>
            <a:ext cx="1486313" cy="982938"/>
          </a:xfrm>
          <a:prstGeom prst="rect">
            <a:avLst/>
          </a:prstGeom>
        </p:spPr>
      </p:pic>
      <p:pic>
        <p:nvPicPr>
          <p:cNvPr id="8" name="圖片 7">
            <a:extLst>
              <a:ext uri="{FF2B5EF4-FFF2-40B4-BE49-F238E27FC236}">
                <a16:creationId xmlns:a16="http://schemas.microsoft.com/office/drawing/2014/main" id="{143F9928-62DA-4F56-A8BD-15BAA2AAE348}"/>
              </a:ext>
            </a:extLst>
          </p:cNvPr>
          <p:cNvPicPr>
            <a:picLocks noChangeAspect="1"/>
          </p:cNvPicPr>
          <p:nvPr/>
        </p:nvPicPr>
        <p:blipFill rotWithShape="1">
          <a:blip r:embed="rId3"/>
          <a:srcRect t="58396" r="76111" b="-1"/>
          <a:stretch/>
        </p:blipFill>
        <p:spPr>
          <a:xfrm>
            <a:off x="9595817" y="6176963"/>
            <a:ext cx="1757983" cy="663783"/>
          </a:xfrm>
          <a:prstGeom prst="rect">
            <a:avLst/>
          </a:prstGeom>
        </p:spPr>
      </p:pic>
    </p:spTree>
    <p:extLst>
      <p:ext uri="{BB962C8B-B14F-4D97-AF65-F5344CB8AC3E}">
        <p14:creationId xmlns:p14="http://schemas.microsoft.com/office/powerpoint/2010/main" val="3255968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D32F1B-3DE0-4E1E-A8EA-332F80E6F0A8}"/>
              </a:ext>
            </a:extLst>
          </p:cNvPr>
          <p:cNvSpPr>
            <a:spLocks noGrp="1"/>
          </p:cNvSpPr>
          <p:nvPr>
            <p:ph type="title"/>
          </p:nvPr>
        </p:nvSpPr>
        <p:spPr/>
        <p:txBody>
          <a:bodyPr/>
          <a:lstStyle/>
          <a:p>
            <a:r>
              <a:rPr lang="en-US" altLang="zh-TW" dirty="0"/>
              <a:t>Randomly parameter generated </a:t>
            </a:r>
            <a:endParaRPr lang="zh-TW" altLang="en-US" dirty="0"/>
          </a:p>
        </p:txBody>
      </p:sp>
      <p:sp>
        <p:nvSpPr>
          <p:cNvPr id="3" name="內容版面配置區 2">
            <a:extLst>
              <a:ext uri="{FF2B5EF4-FFF2-40B4-BE49-F238E27FC236}">
                <a16:creationId xmlns:a16="http://schemas.microsoft.com/office/drawing/2014/main" id="{0DBBFA49-FA1D-441F-8AAE-D21AF8190694}"/>
              </a:ext>
            </a:extLst>
          </p:cNvPr>
          <p:cNvSpPr>
            <a:spLocks noGrp="1"/>
          </p:cNvSpPr>
          <p:nvPr>
            <p:ph idx="1"/>
          </p:nvPr>
        </p:nvSpPr>
        <p:spPr>
          <a:xfrm>
            <a:off x="258418" y="1808922"/>
            <a:ext cx="11857382" cy="4472609"/>
          </a:xfrm>
        </p:spPr>
        <p:txBody>
          <a:bodyPr>
            <a:normAutofit/>
          </a:bodyPr>
          <a:lstStyle/>
          <a:p>
            <a:pPr marL="0" indent="0">
              <a:buNone/>
            </a:pPr>
            <a:r>
              <a:rPr lang="en-US" altLang="zh-TW" sz="2400" b="0" i="0" dirty="0">
                <a:effectLst/>
              </a:rPr>
              <a:t>1. </a:t>
            </a:r>
            <a:r>
              <a:rPr lang="en-US" altLang="zh-TW" sz="2400" dirty="0"/>
              <a:t>The </a:t>
            </a:r>
            <a:r>
              <a:rPr lang="en-US" altLang="zh-TW" sz="2400" u="sng" dirty="0"/>
              <a:t>processing time </a:t>
            </a:r>
            <a:r>
              <a:rPr lang="en-US" altLang="zh-TW" sz="2400" dirty="0"/>
              <a:t>of each job follows a uniform distribution between 1 and 5 time units.</a:t>
            </a:r>
          </a:p>
          <a:p>
            <a:pPr marL="0" indent="0">
              <a:buNone/>
            </a:pPr>
            <a:endParaRPr lang="en-US" altLang="zh-TW" sz="2400" dirty="0"/>
          </a:p>
          <a:p>
            <a:pPr marL="0" indent="0">
              <a:buNone/>
            </a:pPr>
            <a:r>
              <a:rPr lang="en-US" altLang="zh-TW" sz="2400" dirty="0"/>
              <a:t>2. The </a:t>
            </a:r>
            <a:r>
              <a:rPr lang="en-US" altLang="zh-TW" sz="2400" u="sng" dirty="0"/>
              <a:t>release time </a:t>
            </a:r>
            <a:r>
              <a:rPr lang="en-US" altLang="zh-TW" sz="2400" dirty="0"/>
              <a:t>of each job follows an exponential distribution with a mean of 10 time units. </a:t>
            </a:r>
          </a:p>
          <a:p>
            <a:pPr marL="0" indent="0">
              <a:buNone/>
            </a:pPr>
            <a:endParaRPr lang="en-US" altLang="zh-TW" sz="2400" dirty="0"/>
          </a:p>
          <a:p>
            <a:pPr marL="0" indent="0">
              <a:buNone/>
            </a:pPr>
            <a:r>
              <a:rPr lang="en-US" altLang="zh-TW" sz="2400" dirty="0"/>
              <a:t>3. The </a:t>
            </a:r>
            <a:r>
              <a:rPr lang="en-US" altLang="zh-TW" sz="2400" u="sng" dirty="0"/>
              <a:t>due date </a:t>
            </a:r>
            <a:r>
              <a:rPr lang="en-US" altLang="zh-TW" sz="2400" dirty="0"/>
              <a:t>of each job is the sum of three parts: its release time, processing time and a slack time </a:t>
            </a:r>
          </a:p>
          <a:p>
            <a:pPr marL="0" indent="0">
              <a:buNone/>
            </a:pPr>
            <a:endParaRPr lang="en-US" altLang="zh-TW" sz="2400" dirty="0"/>
          </a:p>
          <a:p>
            <a:pPr marL="0" indent="0">
              <a:buNone/>
            </a:pPr>
            <a:r>
              <a:rPr lang="en-US" altLang="zh-TW" sz="2400" b="0" i="0" dirty="0">
                <a:effectLst/>
              </a:rPr>
              <a:t>4. The </a:t>
            </a:r>
            <a:r>
              <a:rPr lang="en-US" altLang="zh-TW" sz="2400" b="0" i="0" u="sng" dirty="0">
                <a:effectLst/>
              </a:rPr>
              <a:t>parameter β </a:t>
            </a:r>
            <a:r>
              <a:rPr lang="en-US" altLang="zh-TW" sz="2400" b="0" i="0" dirty="0">
                <a:effectLst/>
              </a:rPr>
              <a:t>reflects the degree of how far the due date deviates from the release time. </a:t>
            </a:r>
            <a:r>
              <a:rPr lang="en-US" altLang="zh-TW" sz="2400" dirty="0"/>
              <a:t> As the value of β increases, the due dates become more spread over time.</a:t>
            </a:r>
            <a:endParaRPr lang="zh-TW" altLang="en-US" sz="2400" dirty="0"/>
          </a:p>
        </p:txBody>
      </p:sp>
    </p:spTree>
    <p:extLst>
      <p:ext uri="{BB962C8B-B14F-4D97-AF65-F5344CB8AC3E}">
        <p14:creationId xmlns:p14="http://schemas.microsoft.com/office/powerpoint/2010/main" val="3708509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BF1E28-DBC1-4F75-99D4-684EA1925DB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50FABE6-D5D2-477F-BA3C-222F62CFDCD1}"/>
              </a:ext>
            </a:extLst>
          </p:cNvPr>
          <p:cNvSpPr>
            <a:spLocks noGrp="1"/>
          </p:cNvSpPr>
          <p:nvPr>
            <p:ph idx="1"/>
          </p:nvPr>
        </p:nvSpPr>
        <p:spPr/>
        <p:txBody>
          <a:bodyPr/>
          <a:lstStyle/>
          <a:p>
            <a:endParaRPr lang="zh-TW" altLang="en-US" dirty="0"/>
          </a:p>
        </p:txBody>
      </p:sp>
      <p:pic>
        <p:nvPicPr>
          <p:cNvPr id="4" name="圖片 3">
            <a:extLst>
              <a:ext uri="{FF2B5EF4-FFF2-40B4-BE49-F238E27FC236}">
                <a16:creationId xmlns:a16="http://schemas.microsoft.com/office/drawing/2014/main" id="{91006C38-7F6C-44F8-A3AF-67496ED76798}"/>
              </a:ext>
            </a:extLst>
          </p:cNvPr>
          <p:cNvPicPr>
            <a:picLocks noChangeAspect="1"/>
          </p:cNvPicPr>
          <p:nvPr/>
        </p:nvPicPr>
        <p:blipFill>
          <a:blip r:embed="rId3"/>
          <a:stretch>
            <a:fillRect/>
          </a:stretch>
        </p:blipFill>
        <p:spPr>
          <a:xfrm>
            <a:off x="299621" y="2825351"/>
            <a:ext cx="6061421" cy="3486549"/>
          </a:xfrm>
          <a:prstGeom prst="rect">
            <a:avLst/>
          </a:prstGeom>
        </p:spPr>
      </p:pic>
      <p:pic>
        <p:nvPicPr>
          <p:cNvPr id="7" name="圖片 6">
            <a:extLst>
              <a:ext uri="{FF2B5EF4-FFF2-40B4-BE49-F238E27FC236}">
                <a16:creationId xmlns:a16="http://schemas.microsoft.com/office/drawing/2014/main" id="{0E968218-F24E-4C8D-A406-4A45EE1BDA92}"/>
              </a:ext>
            </a:extLst>
          </p:cNvPr>
          <p:cNvPicPr>
            <a:picLocks noChangeAspect="1"/>
          </p:cNvPicPr>
          <p:nvPr/>
        </p:nvPicPr>
        <p:blipFill>
          <a:blip r:embed="rId4"/>
          <a:stretch>
            <a:fillRect/>
          </a:stretch>
        </p:blipFill>
        <p:spPr>
          <a:xfrm>
            <a:off x="299622" y="309011"/>
            <a:ext cx="5246413" cy="907274"/>
          </a:xfrm>
          <a:prstGeom prst="rect">
            <a:avLst/>
          </a:prstGeom>
        </p:spPr>
      </p:pic>
    </p:spTree>
    <p:extLst>
      <p:ext uri="{BB962C8B-B14F-4D97-AF65-F5344CB8AC3E}">
        <p14:creationId xmlns:p14="http://schemas.microsoft.com/office/powerpoint/2010/main" val="3071482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835B2F-362A-4878-8D1D-09E1650366C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55D43A5C-1950-4A0E-9400-6F0D7446DDAE}"/>
              </a:ext>
            </a:extLst>
          </p:cNvPr>
          <p:cNvSpPr>
            <a:spLocks noGrp="1"/>
          </p:cNvSpPr>
          <p:nvPr>
            <p:ph idx="1"/>
          </p:nvPr>
        </p:nvSpPr>
        <p:spPr/>
        <p:txBody>
          <a:bodyPr/>
          <a:lstStyle/>
          <a:p>
            <a:endParaRPr lang="zh-TW" altLang="en-US" dirty="0"/>
          </a:p>
        </p:txBody>
      </p:sp>
      <p:pic>
        <p:nvPicPr>
          <p:cNvPr id="7" name="圖片 6">
            <a:extLst>
              <a:ext uri="{FF2B5EF4-FFF2-40B4-BE49-F238E27FC236}">
                <a16:creationId xmlns:a16="http://schemas.microsoft.com/office/drawing/2014/main" id="{5F3B5B43-0553-48A8-B0A3-24E006AA1504}"/>
              </a:ext>
            </a:extLst>
          </p:cNvPr>
          <p:cNvPicPr>
            <a:picLocks noChangeAspect="1"/>
          </p:cNvPicPr>
          <p:nvPr/>
        </p:nvPicPr>
        <p:blipFill rotWithShape="1">
          <a:blip r:embed="rId3"/>
          <a:srcRect t="-1137" r="76111" b="-1"/>
          <a:stretch/>
        </p:blipFill>
        <p:spPr>
          <a:xfrm>
            <a:off x="150330" y="77098"/>
            <a:ext cx="1757983" cy="1613590"/>
          </a:xfrm>
          <a:prstGeom prst="rect">
            <a:avLst/>
          </a:prstGeom>
        </p:spPr>
      </p:pic>
      <p:pic>
        <p:nvPicPr>
          <p:cNvPr id="9" name="圖片 8">
            <a:extLst>
              <a:ext uri="{FF2B5EF4-FFF2-40B4-BE49-F238E27FC236}">
                <a16:creationId xmlns:a16="http://schemas.microsoft.com/office/drawing/2014/main" id="{288D51D1-A483-44DE-94BC-3075A087F927}"/>
              </a:ext>
            </a:extLst>
          </p:cNvPr>
          <p:cNvPicPr>
            <a:picLocks noChangeAspect="1"/>
          </p:cNvPicPr>
          <p:nvPr/>
        </p:nvPicPr>
        <p:blipFill>
          <a:blip r:embed="rId4"/>
          <a:stretch>
            <a:fillRect/>
          </a:stretch>
        </p:blipFill>
        <p:spPr>
          <a:xfrm>
            <a:off x="1" y="2238649"/>
            <a:ext cx="6163648" cy="3449333"/>
          </a:xfrm>
          <a:prstGeom prst="rect">
            <a:avLst/>
          </a:prstGeom>
        </p:spPr>
      </p:pic>
      <p:pic>
        <p:nvPicPr>
          <p:cNvPr id="11" name="圖片 10">
            <a:extLst>
              <a:ext uri="{FF2B5EF4-FFF2-40B4-BE49-F238E27FC236}">
                <a16:creationId xmlns:a16="http://schemas.microsoft.com/office/drawing/2014/main" id="{537A9F33-771E-40BD-8204-0AA2D98590C4}"/>
              </a:ext>
            </a:extLst>
          </p:cNvPr>
          <p:cNvPicPr>
            <a:picLocks noChangeAspect="1"/>
          </p:cNvPicPr>
          <p:nvPr/>
        </p:nvPicPr>
        <p:blipFill>
          <a:blip r:embed="rId5"/>
          <a:stretch>
            <a:fillRect/>
          </a:stretch>
        </p:blipFill>
        <p:spPr>
          <a:xfrm>
            <a:off x="6301409" y="2073181"/>
            <a:ext cx="5742305" cy="3983270"/>
          </a:xfrm>
          <a:prstGeom prst="rect">
            <a:avLst/>
          </a:prstGeom>
        </p:spPr>
      </p:pic>
    </p:spTree>
    <p:extLst>
      <p:ext uri="{BB962C8B-B14F-4D97-AF65-F5344CB8AC3E}">
        <p14:creationId xmlns:p14="http://schemas.microsoft.com/office/powerpoint/2010/main" val="3157508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496C536-0A30-4B9E-AD7F-B738ABE4244E}"/>
              </a:ext>
            </a:extLst>
          </p:cNvPr>
          <p:cNvSpPr>
            <a:spLocks noGrp="1"/>
          </p:cNvSpPr>
          <p:nvPr>
            <p:ph idx="1"/>
          </p:nvPr>
        </p:nvSpPr>
        <p:spPr>
          <a:xfrm>
            <a:off x="335463" y="1576884"/>
            <a:ext cx="11144233" cy="5075834"/>
          </a:xfrm>
        </p:spPr>
        <p:txBody>
          <a:bodyPr>
            <a:normAutofit/>
          </a:bodyPr>
          <a:lstStyle/>
          <a:p>
            <a:pPr marL="0" indent="0">
              <a:buNone/>
            </a:pPr>
            <a:r>
              <a:rPr lang="en-US" altLang="zh-TW" sz="2400" dirty="0"/>
              <a:t>1. Append one task to the solution, from the candidate list by its due date and release date.</a:t>
            </a:r>
          </a:p>
          <a:p>
            <a:pPr marL="0" indent="0">
              <a:buNone/>
            </a:pPr>
            <a:r>
              <a:rPr lang="en-US" altLang="zh-TW" sz="2400" dirty="0"/>
              <a:t>2. During the construction, first append the task to the sequence(no matter if there is a setup or not) to evaluate each candidate task.</a:t>
            </a:r>
          </a:p>
          <a:p>
            <a:pPr marL="0" indent="0">
              <a:buNone/>
            </a:pPr>
            <a:r>
              <a:rPr lang="en-US" altLang="zh-TW" sz="2400" dirty="0"/>
              <a:t>3. Might have many different length answers, by idle or setup time, compare the different solution  cause by different candidate solution, we separate the dominate and non-dominate solution.</a:t>
            </a:r>
          </a:p>
          <a:p>
            <a:pPr marL="0" indent="0">
              <a:buNone/>
            </a:pPr>
            <a:r>
              <a:rPr lang="en-US" altLang="zh-TW" sz="2400" b="0" i="0" dirty="0">
                <a:effectLst/>
              </a:rPr>
              <a:t>4. The restricted candidates list is composed of the candidates leading to the non‐dominated solution, </a:t>
            </a:r>
            <a:r>
              <a:rPr lang="en-US" altLang="zh-TW" sz="2400" dirty="0"/>
              <a:t>then it is added to the pareto set. As a result, after each iteration of the local search an approximate pareto front is obtained.</a:t>
            </a:r>
          </a:p>
          <a:p>
            <a:pPr marL="0" indent="0">
              <a:buNone/>
            </a:pPr>
            <a:endParaRPr lang="en-US" altLang="zh-TW" sz="2400" dirty="0"/>
          </a:p>
          <a:p>
            <a:endParaRPr lang="zh-TW" altLang="en-US" sz="2400" dirty="0"/>
          </a:p>
        </p:txBody>
      </p:sp>
      <p:sp>
        <p:nvSpPr>
          <p:cNvPr id="2" name="文字方塊 1">
            <a:extLst>
              <a:ext uri="{FF2B5EF4-FFF2-40B4-BE49-F238E27FC236}">
                <a16:creationId xmlns:a16="http://schemas.microsoft.com/office/drawing/2014/main" id="{FDE513C5-C016-4C44-A3BA-0832A3C2E3E3}"/>
              </a:ext>
            </a:extLst>
          </p:cNvPr>
          <p:cNvSpPr txBox="1"/>
          <p:nvPr/>
        </p:nvSpPr>
        <p:spPr>
          <a:xfrm>
            <a:off x="824948" y="569305"/>
            <a:ext cx="5198165" cy="707886"/>
          </a:xfrm>
          <a:prstGeom prst="rect">
            <a:avLst/>
          </a:prstGeom>
          <a:noFill/>
        </p:spPr>
        <p:txBody>
          <a:bodyPr wrap="square" rtlCol="0">
            <a:spAutoFit/>
          </a:bodyPr>
          <a:lstStyle/>
          <a:p>
            <a:r>
              <a:rPr lang="en-US" altLang="zh-TW" sz="4000" dirty="0">
                <a:latin typeface="Times New Roman" panose="02020603050405020304" pitchFamily="18" charset="0"/>
                <a:cs typeface="Times New Roman" panose="02020603050405020304" pitchFamily="18" charset="0"/>
              </a:rPr>
              <a:t>Process</a:t>
            </a:r>
            <a:endParaRPr lang="zh-TW" alt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9905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991C25-8C36-4742-A2D9-26C924511A88}"/>
              </a:ext>
            </a:extLst>
          </p:cNvPr>
          <p:cNvSpPr>
            <a:spLocks noGrp="1"/>
          </p:cNvSpPr>
          <p:nvPr>
            <p:ph type="title"/>
          </p:nvPr>
        </p:nvSpPr>
        <p:spPr/>
        <p:txBody>
          <a:bodyPr>
            <a:normAutofit/>
          </a:bodyPr>
          <a:lstStyle/>
          <a:p>
            <a:r>
              <a:rPr lang="en-US" altLang="zh-TW" sz="3600" dirty="0">
                <a:solidFill>
                  <a:srgbClr val="333333"/>
                </a:solidFill>
              </a:rPr>
              <a:t>S</a:t>
            </a:r>
            <a:r>
              <a:rPr lang="en-US" altLang="zh-TW" sz="3600" b="0" i="0" dirty="0">
                <a:solidFill>
                  <a:srgbClr val="333333"/>
                </a:solidFill>
                <a:effectLst/>
              </a:rPr>
              <a:t>ingle objective total tardiness problem</a:t>
            </a:r>
            <a:endParaRPr lang="zh-TW" altLang="en-US" sz="3600" dirty="0"/>
          </a:p>
        </p:txBody>
      </p:sp>
      <p:graphicFrame>
        <p:nvGraphicFramePr>
          <p:cNvPr id="5" name="表格 5">
            <a:extLst>
              <a:ext uri="{FF2B5EF4-FFF2-40B4-BE49-F238E27FC236}">
                <a16:creationId xmlns:a16="http://schemas.microsoft.com/office/drawing/2014/main" id="{46510496-782F-4A9C-913F-3B2E5AC7361B}"/>
              </a:ext>
            </a:extLst>
          </p:cNvPr>
          <p:cNvGraphicFramePr>
            <a:graphicFrameLocks noGrp="1"/>
          </p:cNvGraphicFramePr>
          <p:nvPr>
            <p:extLst>
              <p:ext uri="{D42A27DB-BD31-4B8C-83A1-F6EECF244321}">
                <p14:modId xmlns:p14="http://schemas.microsoft.com/office/powerpoint/2010/main" val="3401141253"/>
              </p:ext>
            </p:extLst>
          </p:nvPr>
        </p:nvGraphicFramePr>
        <p:xfrm>
          <a:off x="363616" y="1698619"/>
          <a:ext cx="11145898" cy="1555658"/>
        </p:xfrm>
        <a:graphic>
          <a:graphicData uri="http://schemas.openxmlformats.org/drawingml/2006/table">
            <a:tbl>
              <a:tblPr firstRow="1" bandRow="1">
                <a:tableStyleId>{5C22544A-7EE6-4342-B048-85BDC9FD1C3A}</a:tableStyleId>
              </a:tblPr>
              <a:tblGrid>
                <a:gridCol w="1070672">
                  <a:extLst>
                    <a:ext uri="{9D8B030D-6E8A-4147-A177-3AD203B41FA5}">
                      <a16:colId xmlns:a16="http://schemas.microsoft.com/office/drawing/2014/main" val="952372593"/>
                    </a:ext>
                  </a:extLst>
                </a:gridCol>
                <a:gridCol w="5542982">
                  <a:extLst>
                    <a:ext uri="{9D8B030D-6E8A-4147-A177-3AD203B41FA5}">
                      <a16:colId xmlns:a16="http://schemas.microsoft.com/office/drawing/2014/main" val="2722079571"/>
                    </a:ext>
                  </a:extLst>
                </a:gridCol>
                <a:gridCol w="4532244">
                  <a:extLst>
                    <a:ext uri="{9D8B030D-6E8A-4147-A177-3AD203B41FA5}">
                      <a16:colId xmlns:a16="http://schemas.microsoft.com/office/drawing/2014/main" val="1929300002"/>
                    </a:ext>
                  </a:extLst>
                </a:gridCol>
              </a:tblGrid>
              <a:tr h="1017580">
                <a:tc>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i="0" dirty="0">
                          <a:solidFill>
                            <a:schemeClr val="tx1"/>
                          </a:solidFill>
                          <a:effectLst/>
                          <a:latin typeface="Open Sans" panose="020B0606030504020204" pitchFamily="34" charset="0"/>
                        </a:rPr>
                        <a:t>1.The exchange of two jobs </a:t>
                      </a:r>
                    </a:p>
                    <a:p>
                      <a:r>
                        <a:rPr lang="en-US" altLang="zh-TW" b="0" i="0" dirty="0">
                          <a:solidFill>
                            <a:schemeClr val="tx1"/>
                          </a:solidFill>
                          <a:effectLst/>
                          <a:latin typeface="Open Sans" panose="020B0606030504020204" pitchFamily="34" charset="0"/>
                        </a:rPr>
                        <a:t>2.The insertion of a job </a:t>
                      </a:r>
                    </a:p>
                    <a:p>
                      <a:r>
                        <a:rPr lang="en-US" altLang="zh-TW" b="0" i="0" dirty="0">
                          <a:solidFill>
                            <a:schemeClr val="tx1"/>
                          </a:solidFill>
                          <a:effectLst/>
                          <a:latin typeface="Open Sans" panose="020B0606030504020204" pitchFamily="34" charset="0"/>
                        </a:rPr>
                        <a:t>   between two consecutive jobs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i="0" dirty="0">
                          <a:solidFill>
                            <a:schemeClr val="tx1"/>
                          </a:solidFill>
                          <a:effectLst/>
                          <a:latin typeface="Open Sans" panose="020B0606030504020204" pitchFamily="34" charset="0"/>
                        </a:rPr>
                        <a:t>1.Swapping the positions of two  </a:t>
                      </a:r>
                    </a:p>
                    <a:p>
                      <a:r>
                        <a:rPr lang="en-US" altLang="zh-TW" b="0" i="0" dirty="0">
                          <a:solidFill>
                            <a:schemeClr val="tx1"/>
                          </a:solidFill>
                          <a:effectLst/>
                          <a:latin typeface="Open Sans" panose="020B0606030504020204" pitchFamily="34" charset="0"/>
                        </a:rPr>
                        <a:t>    consecutive jobs</a:t>
                      </a:r>
                    </a:p>
                    <a:p>
                      <a:r>
                        <a:rPr lang="en-US" altLang="zh-TW" b="0" i="0" dirty="0">
                          <a:solidFill>
                            <a:schemeClr val="tx1"/>
                          </a:solidFill>
                          <a:effectLst/>
                          <a:latin typeface="Open Sans" panose="020B0606030504020204" pitchFamily="34" charset="0"/>
                        </a:rPr>
                        <a:t>2. Setup or not </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827015"/>
                  </a:ext>
                </a:extLst>
              </a:tr>
              <a:tr h="538078">
                <a:tc>
                  <a:txBody>
                    <a:bodyPr/>
                    <a:lstStyle/>
                    <a:p>
                      <a:r>
                        <a:rPr lang="en-US" altLang="zh-TW" dirty="0">
                          <a:solidFill>
                            <a:schemeClr val="tx1"/>
                          </a:solidFill>
                        </a:rPr>
                        <a:t>Size</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1" dirty="0">
                          <a:solidFill>
                            <a:schemeClr val="tx1"/>
                          </a:solidFill>
                          <a:effectLst/>
                          <a:latin typeface="Open Sans" panose="020B0606030504020204" pitchFamily="34" charset="0"/>
                        </a:rPr>
                        <a:t>n</a:t>
                      </a:r>
                      <a:r>
                        <a:rPr lang="en-US" altLang="zh-TW" b="0" i="0" dirty="0">
                          <a:solidFill>
                            <a:schemeClr val="tx1"/>
                          </a:solidFill>
                          <a:effectLst/>
                          <a:latin typeface="Open Sans" panose="020B0606030504020204" pitchFamily="34" charset="0"/>
                        </a:rPr>
                        <a:t>×(</a:t>
                      </a:r>
                      <a:r>
                        <a:rPr lang="en-US" altLang="zh-TW" b="0" i="1" dirty="0">
                          <a:solidFill>
                            <a:schemeClr val="tx1"/>
                          </a:solidFill>
                          <a:effectLst/>
                          <a:latin typeface="Open Sans" panose="020B0606030504020204" pitchFamily="34" charset="0"/>
                        </a:rPr>
                        <a:t>n</a:t>
                      </a:r>
                      <a:r>
                        <a:rPr lang="en-US" altLang="zh-TW" b="0" i="0" dirty="0">
                          <a:solidFill>
                            <a:schemeClr val="tx1"/>
                          </a:solidFill>
                          <a:effectLst/>
                          <a:latin typeface="Open Sans" panose="020B0606030504020204" pitchFamily="34" charset="0"/>
                        </a:rPr>
                        <a:t>−1)/2 ,very time‐consuming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TW" b="0" i="0" dirty="0">
                          <a:solidFill>
                            <a:schemeClr val="tx1"/>
                          </a:solidFill>
                          <a:effectLst/>
                          <a:latin typeface="Open Sans" panose="020B0606030504020204" pitchFamily="34" charset="0"/>
                        </a:rPr>
                        <a:t>2×(</a:t>
                      </a:r>
                      <a:r>
                        <a:rPr lang="en-US" altLang="zh-TW" b="0" i="1" dirty="0">
                          <a:solidFill>
                            <a:schemeClr val="tx1"/>
                          </a:solidFill>
                          <a:effectLst/>
                          <a:latin typeface="Open Sans" panose="020B0606030504020204" pitchFamily="34" charset="0"/>
                        </a:rPr>
                        <a:t>n</a:t>
                      </a:r>
                      <a:r>
                        <a:rPr lang="en-US" altLang="zh-TW" b="0" i="0" dirty="0">
                          <a:solidFill>
                            <a:schemeClr val="tx1"/>
                          </a:solidFill>
                          <a:effectLst/>
                          <a:latin typeface="Open Sans" panose="020B0606030504020204" pitchFamily="34" charset="0"/>
                        </a:rPr>
                        <a:t>−1),</a:t>
                      </a:r>
                      <a:r>
                        <a:rPr lang="en-US" altLang="zh-TW" dirty="0">
                          <a:solidFill>
                            <a:schemeClr val="tx1"/>
                          </a:solidFill>
                        </a:rPr>
                        <a:t> in a reasonable amount of time</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5561997"/>
                  </a:ext>
                </a:extLst>
              </a:tr>
            </a:tbl>
          </a:graphicData>
        </a:graphic>
      </p:graphicFrame>
      <p:graphicFrame>
        <p:nvGraphicFramePr>
          <p:cNvPr id="6" name="表格 6">
            <a:extLst>
              <a:ext uri="{FF2B5EF4-FFF2-40B4-BE49-F238E27FC236}">
                <a16:creationId xmlns:a16="http://schemas.microsoft.com/office/drawing/2014/main" id="{B269A768-ECBA-4306-80A9-1C05EB1829CA}"/>
              </a:ext>
            </a:extLst>
          </p:cNvPr>
          <p:cNvGraphicFramePr>
            <a:graphicFrameLocks noGrp="1"/>
          </p:cNvGraphicFramePr>
          <p:nvPr>
            <p:extLst>
              <p:ext uri="{D42A27DB-BD31-4B8C-83A1-F6EECF244321}">
                <p14:modId xmlns:p14="http://schemas.microsoft.com/office/powerpoint/2010/main" val="122236448"/>
              </p:ext>
            </p:extLst>
          </p:nvPr>
        </p:nvGraphicFramePr>
        <p:xfrm>
          <a:off x="5092146" y="4248004"/>
          <a:ext cx="3661049" cy="463680"/>
        </p:xfrm>
        <a:graphic>
          <a:graphicData uri="http://schemas.openxmlformats.org/drawingml/2006/table">
            <a:tbl>
              <a:tblPr firstRow="1" bandRow="1">
                <a:tableStyleId>{5C22544A-7EE6-4342-B048-85BDC9FD1C3A}</a:tableStyleId>
              </a:tblPr>
              <a:tblGrid>
                <a:gridCol w="523007">
                  <a:extLst>
                    <a:ext uri="{9D8B030D-6E8A-4147-A177-3AD203B41FA5}">
                      <a16:colId xmlns:a16="http://schemas.microsoft.com/office/drawing/2014/main" val="1252051994"/>
                    </a:ext>
                  </a:extLst>
                </a:gridCol>
                <a:gridCol w="523007">
                  <a:extLst>
                    <a:ext uri="{9D8B030D-6E8A-4147-A177-3AD203B41FA5}">
                      <a16:colId xmlns:a16="http://schemas.microsoft.com/office/drawing/2014/main" val="2698040159"/>
                    </a:ext>
                  </a:extLst>
                </a:gridCol>
                <a:gridCol w="523007">
                  <a:extLst>
                    <a:ext uri="{9D8B030D-6E8A-4147-A177-3AD203B41FA5}">
                      <a16:colId xmlns:a16="http://schemas.microsoft.com/office/drawing/2014/main" val="1513972789"/>
                    </a:ext>
                  </a:extLst>
                </a:gridCol>
                <a:gridCol w="523007">
                  <a:extLst>
                    <a:ext uri="{9D8B030D-6E8A-4147-A177-3AD203B41FA5}">
                      <a16:colId xmlns:a16="http://schemas.microsoft.com/office/drawing/2014/main" val="1993805836"/>
                    </a:ext>
                  </a:extLst>
                </a:gridCol>
                <a:gridCol w="523007">
                  <a:extLst>
                    <a:ext uri="{9D8B030D-6E8A-4147-A177-3AD203B41FA5}">
                      <a16:colId xmlns:a16="http://schemas.microsoft.com/office/drawing/2014/main" val="2114507383"/>
                    </a:ext>
                  </a:extLst>
                </a:gridCol>
                <a:gridCol w="523007">
                  <a:extLst>
                    <a:ext uri="{9D8B030D-6E8A-4147-A177-3AD203B41FA5}">
                      <a16:colId xmlns:a16="http://schemas.microsoft.com/office/drawing/2014/main" val="3131593101"/>
                    </a:ext>
                  </a:extLst>
                </a:gridCol>
                <a:gridCol w="523007">
                  <a:extLst>
                    <a:ext uri="{9D8B030D-6E8A-4147-A177-3AD203B41FA5}">
                      <a16:colId xmlns:a16="http://schemas.microsoft.com/office/drawing/2014/main" val="948172791"/>
                    </a:ext>
                  </a:extLst>
                </a:gridCol>
              </a:tblGrid>
              <a:tr h="463680">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NS </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128191"/>
                  </a:ext>
                </a:extLst>
              </a:tr>
            </a:tbl>
          </a:graphicData>
        </a:graphic>
      </p:graphicFrame>
      <p:graphicFrame>
        <p:nvGraphicFramePr>
          <p:cNvPr id="8" name="表格 6">
            <a:extLst>
              <a:ext uri="{FF2B5EF4-FFF2-40B4-BE49-F238E27FC236}">
                <a16:creationId xmlns:a16="http://schemas.microsoft.com/office/drawing/2014/main" id="{A43414E5-E14E-4578-9B93-DFE0BE27E933}"/>
              </a:ext>
            </a:extLst>
          </p:cNvPr>
          <p:cNvGraphicFramePr>
            <a:graphicFrameLocks noGrp="1"/>
          </p:cNvGraphicFramePr>
          <p:nvPr>
            <p:extLst>
              <p:ext uri="{D42A27DB-BD31-4B8C-83A1-F6EECF244321}">
                <p14:modId xmlns:p14="http://schemas.microsoft.com/office/powerpoint/2010/main" val="755414380"/>
              </p:ext>
            </p:extLst>
          </p:nvPr>
        </p:nvGraphicFramePr>
        <p:xfrm>
          <a:off x="5092147" y="4992610"/>
          <a:ext cx="3661049" cy="463680"/>
        </p:xfrm>
        <a:graphic>
          <a:graphicData uri="http://schemas.openxmlformats.org/drawingml/2006/table">
            <a:tbl>
              <a:tblPr firstRow="1" bandRow="1">
                <a:tableStyleId>{5C22544A-7EE6-4342-B048-85BDC9FD1C3A}</a:tableStyleId>
              </a:tblPr>
              <a:tblGrid>
                <a:gridCol w="523007">
                  <a:extLst>
                    <a:ext uri="{9D8B030D-6E8A-4147-A177-3AD203B41FA5}">
                      <a16:colId xmlns:a16="http://schemas.microsoft.com/office/drawing/2014/main" val="1252051994"/>
                    </a:ext>
                  </a:extLst>
                </a:gridCol>
                <a:gridCol w="523007">
                  <a:extLst>
                    <a:ext uri="{9D8B030D-6E8A-4147-A177-3AD203B41FA5}">
                      <a16:colId xmlns:a16="http://schemas.microsoft.com/office/drawing/2014/main" val="2698040159"/>
                    </a:ext>
                  </a:extLst>
                </a:gridCol>
                <a:gridCol w="523007">
                  <a:extLst>
                    <a:ext uri="{9D8B030D-6E8A-4147-A177-3AD203B41FA5}">
                      <a16:colId xmlns:a16="http://schemas.microsoft.com/office/drawing/2014/main" val="1513972789"/>
                    </a:ext>
                  </a:extLst>
                </a:gridCol>
                <a:gridCol w="523007">
                  <a:extLst>
                    <a:ext uri="{9D8B030D-6E8A-4147-A177-3AD203B41FA5}">
                      <a16:colId xmlns:a16="http://schemas.microsoft.com/office/drawing/2014/main" val="1993805836"/>
                    </a:ext>
                  </a:extLst>
                </a:gridCol>
                <a:gridCol w="523007">
                  <a:extLst>
                    <a:ext uri="{9D8B030D-6E8A-4147-A177-3AD203B41FA5}">
                      <a16:colId xmlns:a16="http://schemas.microsoft.com/office/drawing/2014/main" val="2114507383"/>
                    </a:ext>
                  </a:extLst>
                </a:gridCol>
                <a:gridCol w="523007">
                  <a:extLst>
                    <a:ext uri="{9D8B030D-6E8A-4147-A177-3AD203B41FA5}">
                      <a16:colId xmlns:a16="http://schemas.microsoft.com/office/drawing/2014/main" val="3131593101"/>
                    </a:ext>
                  </a:extLst>
                </a:gridCol>
                <a:gridCol w="523007">
                  <a:extLst>
                    <a:ext uri="{9D8B030D-6E8A-4147-A177-3AD203B41FA5}">
                      <a16:colId xmlns:a16="http://schemas.microsoft.com/office/drawing/2014/main" val="948172791"/>
                    </a:ext>
                  </a:extLst>
                </a:gridCol>
              </a:tblGrid>
              <a:tr h="463680">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NS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NS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128191"/>
                  </a:ext>
                </a:extLst>
              </a:tr>
            </a:tbl>
          </a:graphicData>
        </a:graphic>
      </p:graphicFrame>
      <p:graphicFrame>
        <p:nvGraphicFramePr>
          <p:cNvPr id="9" name="表格 6">
            <a:extLst>
              <a:ext uri="{FF2B5EF4-FFF2-40B4-BE49-F238E27FC236}">
                <a16:creationId xmlns:a16="http://schemas.microsoft.com/office/drawing/2014/main" id="{84540376-2425-4E45-A22B-831D314C6DC1}"/>
              </a:ext>
            </a:extLst>
          </p:cNvPr>
          <p:cNvGraphicFramePr>
            <a:graphicFrameLocks noGrp="1"/>
          </p:cNvGraphicFramePr>
          <p:nvPr>
            <p:extLst>
              <p:ext uri="{D42A27DB-BD31-4B8C-83A1-F6EECF244321}">
                <p14:modId xmlns:p14="http://schemas.microsoft.com/office/powerpoint/2010/main" val="4105755358"/>
              </p:ext>
            </p:extLst>
          </p:nvPr>
        </p:nvGraphicFramePr>
        <p:xfrm>
          <a:off x="5124867" y="5808856"/>
          <a:ext cx="3661049" cy="463680"/>
        </p:xfrm>
        <a:graphic>
          <a:graphicData uri="http://schemas.openxmlformats.org/drawingml/2006/table">
            <a:tbl>
              <a:tblPr firstRow="1" bandRow="1">
                <a:tableStyleId>{5C22544A-7EE6-4342-B048-85BDC9FD1C3A}</a:tableStyleId>
              </a:tblPr>
              <a:tblGrid>
                <a:gridCol w="523007">
                  <a:extLst>
                    <a:ext uri="{9D8B030D-6E8A-4147-A177-3AD203B41FA5}">
                      <a16:colId xmlns:a16="http://schemas.microsoft.com/office/drawing/2014/main" val="1252051994"/>
                    </a:ext>
                  </a:extLst>
                </a:gridCol>
                <a:gridCol w="523007">
                  <a:extLst>
                    <a:ext uri="{9D8B030D-6E8A-4147-A177-3AD203B41FA5}">
                      <a16:colId xmlns:a16="http://schemas.microsoft.com/office/drawing/2014/main" val="2698040159"/>
                    </a:ext>
                  </a:extLst>
                </a:gridCol>
                <a:gridCol w="523007">
                  <a:extLst>
                    <a:ext uri="{9D8B030D-6E8A-4147-A177-3AD203B41FA5}">
                      <a16:colId xmlns:a16="http://schemas.microsoft.com/office/drawing/2014/main" val="1513972789"/>
                    </a:ext>
                  </a:extLst>
                </a:gridCol>
                <a:gridCol w="523007">
                  <a:extLst>
                    <a:ext uri="{9D8B030D-6E8A-4147-A177-3AD203B41FA5}">
                      <a16:colId xmlns:a16="http://schemas.microsoft.com/office/drawing/2014/main" val="1993805836"/>
                    </a:ext>
                  </a:extLst>
                </a:gridCol>
                <a:gridCol w="523007">
                  <a:extLst>
                    <a:ext uri="{9D8B030D-6E8A-4147-A177-3AD203B41FA5}">
                      <a16:colId xmlns:a16="http://schemas.microsoft.com/office/drawing/2014/main" val="2114507383"/>
                    </a:ext>
                  </a:extLst>
                </a:gridCol>
                <a:gridCol w="523007">
                  <a:extLst>
                    <a:ext uri="{9D8B030D-6E8A-4147-A177-3AD203B41FA5}">
                      <a16:colId xmlns:a16="http://schemas.microsoft.com/office/drawing/2014/main" val="3131593101"/>
                    </a:ext>
                  </a:extLst>
                </a:gridCol>
                <a:gridCol w="523007">
                  <a:extLst>
                    <a:ext uri="{9D8B030D-6E8A-4147-A177-3AD203B41FA5}">
                      <a16:colId xmlns:a16="http://schemas.microsoft.com/office/drawing/2014/main" val="948172791"/>
                    </a:ext>
                  </a:extLst>
                </a:gridCol>
              </a:tblGrid>
              <a:tr h="463680">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NS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128191"/>
                  </a:ext>
                </a:extLst>
              </a:tr>
            </a:tbl>
          </a:graphicData>
        </a:graphic>
      </p:graphicFrame>
      <p:graphicFrame>
        <p:nvGraphicFramePr>
          <p:cNvPr id="10" name="表格 6">
            <a:extLst>
              <a:ext uri="{FF2B5EF4-FFF2-40B4-BE49-F238E27FC236}">
                <a16:creationId xmlns:a16="http://schemas.microsoft.com/office/drawing/2014/main" id="{88DF0025-3409-490B-BD2C-A3304C22400C}"/>
              </a:ext>
            </a:extLst>
          </p:cNvPr>
          <p:cNvGraphicFramePr>
            <a:graphicFrameLocks noGrp="1"/>
          </p:cNvGraphicFramePr>
          <p:nvPr>
            <p:extLst>
              <p:ext uri="{D42A27DB-BD31-4B8C-83A1-F6EECF244321}">
                <p14:modId xmlns:p14="http://schemas.microsoft.com/office/powerpoint/2010/main" val="1569126668"/>
              </p:ext>
            </p:extLst>
          </p:nvPr>
        </p:nvGraphicFramePr>
        <p:xfrm>
          <a:off x="791957" y="5827375"/>
          <a:ext cx="3661049" cy="463680"/>
        </p:xfrm>
        <a:graphic>
          <a:graphicData uri="http://schemas.openxmlformats.org/drawingml/2006/table">
            <a:tbl>
              <a:tblPr firstRow="1" bandRow="1">
                <a:tableStyleId>{5C22544A-7EE6-4342-B048-85BDC9FD1C3A}</a:tableStyleId>
              </a:tblPr>
              <a:tblGrid>
                <a:gridCol w="523007">
                  <a:extLst>
                    <a:ext uri="{9D8B030D-6E8A-4147-A177-3AD203B41FA5}">
                      <a16:colId xmlns:a16="http://schemas.microsoft.com/office/drawing/2014/main" val="1252051994"/>
                    </a:ext>
                  </a:extLst>
                </a:gridCol>
                <a:gridCol w="523007">
                  <a:extLst>
                    <a:ext uri="{9D8B030D-6E8A-4147-A177-3AD203B41FA5}">
                      <a16:colId xmlns:a16="http://schemas.microsoft.com/office/drawing/2014/main" val="2698040159"/>
                    </a:ext>
                  </a:extLst>
                </a:gridCol>
                <a:gridCol w="523007">
                  <a:extLst>
                    <a:ext uri="{9D8B030D-6E8A-4147-A177-3AD203B41FA5}">
                      <a16:colId xmlns:a16="http://schemas.microsoft.com/office/drawing/2014/main" val="1513972789"/>
                    </a:ext>
                  </a:extLst>
                </a:gridCol>
                <a:gridCol w="523007">
                  <a:extLst>
                    <a:ext uri="{9D8B030D-6E8A-4147-A177-3AD203B41FA5}">
                      <a16:colId xmlns:a16="http://schemas.microsoft.com/office/drawing/2014/main" val="1993805836"/>
                    </a:ext>
                  </a:extLst>
                </a:gridCol>
                <a:gridCol w="523007">
                  <a:extLst>
                    <a:ext uri="{9D8B030D-6E8A-4147-A177-3AD203B41FA5}">
                      <a16:colId xmlns:a16="http://schemas.microsoft.com/office/drawing/2014/main" val="2114507383"/>
                    </a:ext>
                  </a:extLst>
                </a:gridCol>
                <a:gridCol w="523007">
                  <a:extLst>
                    <a:ext uri="{9D8B030D-6E8A-4147-A177-3AD203B41FA5}">
                      <a16:colId xmlns:a16="http://schemas.microsoft.com/office/drawing/2014/main" val="3131593101"/>
                    </a:ext>
                  </a:extLst>
                </a:gridCol>
                <a:gridCol w="523007">
                  <a:extLst>
                    <a:ext uri="{9D8B030D-6E8A-4147-A177-3AD203B41FA5}">
                      <a16:colId xmlns:a16="http://schemas.microsoft.com/office/drawing/2014/main" val="948172791"/>
                    </a:ext>
                  </a:extLst>
                </a:gridCol>
              </a:tblGrid>
              <a:tr h="463680">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NS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NS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NS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128191"/>
                  </a:ext>
                </a:extLst>
              </a:tr>
            </a:tbl>
          </a:graphicData>
        </a:graphic>
      </p:graphicFrame>
      <p:graphicFrame>
        <p:nvGraphicFramePr>
          <p:cNvPr id="11" name="表格 6">
            <a:extLst>
              <a:ext uri="{FF2B5EF4-FFF2-40B4-BE49-F238E27FC236}">
                <a16:creationId xmlns:a16="http://schemas.microsoft.com/office/drawing/2014/main" id="{B79A166E-DC10-4F09-864E-280E8062B800}"/>
              </a:ext>
            </a:extLst>
          </p:cNvPr>
          <p:cNvGraphicFramePr>
            <a:graphicFrameLocks noGrp="1"/>
          </p:cNvGraphicFramePr>
          <p:nvPr>
            <p:extLst>
              <p:ext uri="{D42A27DB-BD31-4B8C-83A1-F6EECF244321}">
                <p14:modId xmlns:p14="http://schemas.microsoft.com/office/powerpoint/2010/main" val="1262932666"/>
              </p:ext>
            </p:extLst>
          </p:nvPr>
        </p:nvGraphicFramePr>
        <p:xfrm>
          <a:off x="791957" y="4992610"/>
          <a:ext cx="3661049" cy="463680"/>
        </p:xfrm>
        <a:graphic>
          <a:graphicData uri="http://schemas.openxmlformats.org/drawingml/2006/table">
            <a:tbl>
              <a:tblPr firstRow="1" bandRow="1">
                <a:tableStyleId>{5C22544A-7EE6-4342-B048-85BDC9FD1C3A}</a:tableStyleId>
              </a:tblPr>
              <a:tblGrid>
                <a:gridCol w="523007">
                  <a:extLst>
                    <a:ext uri="{9D8B030D-6E8A-4147-A177-3AD203B41FA5}">
                      <a16:colId xmlns:a16="http://schemas.microsoft.com/office/drawing/2014/main" val="1252051994"/>
                    </a:ext>
                  </a:extLst>
                </a:gridCol>
                <a:gridCol w="523007">
                  <a:extLst>
                    <a:ext uri="{9D8B030D-6E8A-4147-A177-3AD203B41FA5}">
                      <a16:colId xmlns:a16="http://schemas.microsoft.com/office/drawing/2014/main" val="2698040159"/>
                    </a:ext>
                  </a:extLst>
                </a:gridCol>
                <a:gridCol w="523007">
                  <a:extLst>
                    <a:ext uri="{9D8B030D-6E8A-4147-A177-3AD203B41FA5}">
                      <a16:colId xmlns:a16="http://schemas.microsoft.com/office/drawing/2014/main" val="1513972789"/>
                    </a:ext>
                  </a:extLst>
                </a:gridCol>
                <a:gridCol w="523007">
                  <a:extLst>
                    <a:ext uri="{9D8B030D-6E8A-4147-A177-3AD203B41FA5}">
                      <a16:colId xmlns:a16="http://schemas.microsoft.com/office/drawing/2014/main" val="1993805836"/>
                    </a:ext>
                  </a:extLst>
                </a:gridCol>
                <a:gridCol w="523007">
                  <a:extLst>
                    <a:ext uri="{9D8B030D-6E8A-4147-A177-3AD203B41FA5}">
                      <a16:colId xmlns:a16="http://schemas.microsoft.com/office/drawing/2014/main" val="2114507383"/>
                    </a:ext>
                  </a:extLst>
                </a:gridCol>
                <a:gridCol w="523007">
                  <a:extLst>
                    <a:ext uri="{9D8B030D-6E8A-4147-A177-3AD203B41FA5}">
                      <a16:colId xmlns:a16="http://schemas.microsoft.com/office/drawing/2014/main" val="3131593101"/>
                    </a:ext>
                  </a:extLst>
                </a:gridCol>
                <a:gridCol w="523007">
                  <a:extLst>
                    <a:ext uri="{9D8B030D-6E8A-4147-A177-3AD203B41FA5}">
                      <a16:colId xmlns:a16="http://schemas.microsoft.com/office/drawing/2014/main" val="948172791"/>
                    </a:ext>
                  </a:extLst>
                </a:gridCol>
              </a:tblGrid>
              <a:tr h="463680">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NS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NS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128191"/>
                  </a:ext>
                </a:extLst>
              </a:tr>
            </a:tbl>
          </a:graphicData>
        </a:graphic>
      </p:graphicFrame>
      <p:graphicFrame>
        <p:nvGraphicFramePr>
          <p:cNvPr id="12" name="表格 6">
            <a:extLst>
              <a:ext uri="{FF2B5EF4-FFF2-40B4-BE49-F238E27FC236}">
                <a16:creationId xmlns:a16="http://schemas.microsoft.com/office/drawing/2014/main" id="{9B9FB547-586A-4F38-B7CB-E8F745343763}"/>
              </a:ext>
            </a:extLst>
          </p:cNvPr>
          <p:cNvGraphicFramePr>
            <a:graphicFrameLocks noGrp="1"/>
          </p:cNvGraphicFramePr>
          <p:nvPr>
            <p:extLst>
              <p:ext uri="{D42A27DB-BD31-4B8C-83A1-F6EECF244321}">
                <p14:modId xmlns:p14="http://schemas.microsoft.com/office/powerpoint/2010/main" val="321812904"/>
              </p:ext>
            </p:extLst>
          </p:nvPr>
        </p:nvGraphicFramePr>
        <p:xfrm>
          <a:off x="791958" y="4251448"/>
          <a:ext cx="3661049" cy="463680"/>
        </p:xfrm>
        <a:graphic>
          <a:graphicData uri="http://schemas.openxmlformats.org/drawingml/2006/table">
            <a:tbl>
              <a:tblPr firstRow="1" bandRow="1">
                <a:tableStyleId>{5C22544A-7EE6-4342-B048-85BDC9FD1C3A}</a:tableStyleId>
              </a:tblPr>
              <a:tblGrid>
                <a:gridCol w="546651">
                  <a:extLst>
                    <a:ext uri="{9D8B030D-6E8A-4147-A177-3AD203B41FA5}">
                      <a16:colId xmlns:a16="http://schemas.microsoft.com/office/drawing/2014/main" val="1252051994"/>
                    </a:ext>
                  </a:extLst>
                </a:gridCol>
                <a:gridCol w="499363">
                  <a:extLst>
                    <a:ext uri="{9D8B030D-6E8A-4147-A177-3AD203B41FA5}">
                      <a16:colId xmlns:a16="http://schemas.microsoft.com/office/drawing/2014/main" val="2698040159"/>
                    </a:ext>
                  </a:extLst>
                </a:gridCol>
                <a:gridCol w="523007">
                  <a:extLst>
                    <a:ext uri="{9D8B030D-6E8A-4147-A177-3AD203B41FA5}">
                      <a16:colId xmlns:a16="http://schemas.microsoft.com/office/drawing/2014/main" val="1513972789"/>
                    </a:ext>
                  </a:extLst>
                </a:gridCol>
                <a:gridCol w="523007">
                  <a:extLst>
                    <a:ext uri="{9D8B030D-6E8A-4147-A177-3AD203B41FA5}">
                      <a16:colId xmlns:a16="http://schemas.microsoft.com/office/drawing/2014/main" val="1993805836"/>
                    </a:ext>
                  </a:extLst>
                </a:gridCol>
                <a:gridCol w="523007">
                  <a:extLst>
                    <a:ext uri="{9D8B030D-6E8A-4147-A177-3AD203B41FA5}">
                      <a16:colId xmlns:a16="http://schemas.microsoft.com/office/drawing/2014/main" val="2114507383"/>
                    </a:ext>
                  </a:extLst>
                </a:gridCol>
                <a:gridCol w="523007">
                  <a:extLst>
                    <a:ext uri="{9D8B030D-6E8A-4147-A177-3AD203B41FA5}">
                      <a16:colId xmlns:a16="http://schemas.microsoft.com/office/drawing/2014/main" val="3131593101"/>
                    </a:ext>
                  </a:extLst>
                </a:gridCol>
                <a:gridCol w="523007">
                  <a:extLst>
                    <a:ext uri="{9D8B030D-6E8A-4147-A177-3AD203B41FA5}">
                      <a16:colId xmlns:a16="http://schemas.microsoft.com/office/drawing/2014/main" val="948172791"/>
                    </a:ext>
                  </a:extLst>
                </a:gridCol>
              </a:tblGrid>
              <a:tr h="463680">
                <a:tc>
                  <a:txBody>
                    <a:bodyPr/>
                    <a:lstStyle/>
                    <a:p>
                      <a:pPr algn="ctr"/>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NS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NS</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128191"/>
                  </a:ext>
                </a:extLst>
              </a:tr>
            </a:tbl>
          </a:graphicData>
        </a:graphic>
      </p:graphicFrame>
    </p:spTree>
    <p:extLst>
      <p:ext uri="{BB962C8B-B14F-4D97-AF65-F5344CB8AC3E}">
        <p14:creationId xmlns:p14="http://schemas.microsoft.com/office/powerpoint/2010/main" val="829617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496C536-0A30-4B9E-AD7F-B738ABE4244E}"/>
              </a:ext>
            </a:extLst>
          </p:cNvPr>
          <p:cNvSpPr>
            <a:spLocks noGrp="1"/>
          </p:cNvSpPr>
          <p:nvPr>
            <p:ph idx="1"/>
          </p:nvPr>
        </p:nvSpPr>
        <p:spPr>
          <a:xfrm>
            <a:off x="335463" y="1576884"/>
            <a:ext cx="11144233" cy="5075834"/>
          </a:xfrm>
        </p:spPr>
        <p:txBody>
          <a:bodyPr>
            <a:normAutofit/>
          </a:bodyPr>
          <a:lstStyle/>
          <a:p>
            <a:pPr marL="0" indent="0">
              <a:buNone/>
            </a:pPr>
            <a:r>
              <a:rPr lang="en-US" altLang="zh-TW" sz="2400" dirty="0"/>
              <a:t>1. Append one task to the solution, from the candidate list by its due date and release date.</a:t>
            </a:r>
          </a:p>
          <a:p>
            <a:pPr marL="0" indent="0">
              <a:buNone/>
            </a:pPr>
            <a:r>
              <a:rPr lang="en-US" altLang="zh-TW" sz="2400" dirty="0"/>
              <a:t>2. During the construction, first append the task to the sequence(no matter if there is a setup or not) to evaluate each candidate task.</a:t>
            </a:r>
          </a:p>
          <a:p>
            <a:pPr marL="0" indent="0">
              <a:buNone/>
            </a:pPr>
            <a:r>
              <a:rPr lang="en-US" altLang="zh-TW" sz="2400" dirty="0"/>
              <a:t>3. Might have many different length answers, by idle or setup time, compare the different solution  cause by different candidate solution, we separate the dominate and non-dominate solution.</a:t>
            </a:r>
          </a:p>
          <a:p>
            <a:pPr marL="0" indent="0">
              <a:buNone/>
            </a:pPr>
            <a:r>
              <a:rPr lang="en-US" altLang="zh-TW" sz="2400" b="0" i="0" dirty="0">
                <a:effectLst/>
              </a:rPr>
              <a:t>4. The restricted candidates list is composed of the candidates leading to the non‐dominated solution, </a:t>
            </a:r>
            <a:r>
              <a:rPr lang="en-US" altLang="zh-TW" sz="2400" dirty="0"/>
              <a:t>then it is added to the pareto set. As a result, after each iteration of the local search an approximate pareto front is obtained.</a:t>
            </a:r>
          </a:p>
          <a:p>
            <a:pPr marL="0" indent="0">
              <a:buNone/>
            </a:pPr>
            <a:endParaRPr lang="en-US" altLang="zh-TW" sz="2400" dirty="0"/>
          </a:p>
          <a:p>
            <a:endParaRPr lang="zh-TW" altLang="en-US" sz="2400" dirty="0"/>
          </a:p>
        </p:txBody>
      </p:sp>
      <p:sp>
        <p:nvSpPr>
          <p:cNvPr id="2" name="文字方塊 1">
            <a:extLst>
              <a:ext uri="{FF2B5EF4-FFF2-40B4-BE49-F238E27FC236}">
                <a16:creationId xmlns:a16="http://schemas.microsoft.com/office/drawing/2014/main" id="{FDE513C5-C016-4C44-A3BA-0832A3C2E3E3}"/>
              </a:ext>
            </a:extLst>
          </p:cNvPr>
          <p:cNvSpPr txBox="1"/>
          <p:nvPr/>
        </p:nvSpPr>
        <p:spPr>
          <a:xfrm>
            <a:off x="824948" y="430157"/>
            <a:ext cx="5198165" cy="707886"/>
          </a:xfrm>
          <a:prstGeom prst="rect">
            <a:avLst/>
          </a:prstGeom>
          <a:noFill/>
        </p:spPr>
        <p:txBody>
          <a:bodyPr wrap="square" rtlCol="0">
            <a:spAutoFit/>
          </a:bodyPr>
          <a:lstStyle/>
          <a:p>
            <a:r>
              <a:rPr lang="en-US" altLang="zh-TW" sz="4000" dirty="0">
                <a:latin typeface="Times New Roman" panose="02020603050405020304" pitchFamily="18" charset="0"/>
                <a:cs typeface="Times New Roman" panose="02020603050405020304" pitchFamily="18" charset="0"/>
              </a:rPr>
              <a:t>Process</a:t>
            </a:r>
            <a:endParaRPr lang="zh-TW" alt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6485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2E99E3-149C-46BE-835C-8824775B54DC}"/>
              </a:ext>
            </a:extLst>
          </p:cNvPr>
          <p:cNvSpPr>
            <a:spLocks noGrp="1"/>
          </p:cNvSpPr>
          <p:nvPr>
            <p:ph type="title"/>
          </p:nvPr>
        </p:nvSpPr>
        <p:spPr>
          <a:xfrm>
            <a:off x="427382" y="-168759"/>
            <a:ext cx="11854070" cy="1699591"/>
          </a:xfrm>
        </p:spPr>
        <p:txBody>
          <a:bodyPr>
            <a:normAutofit/>
          </a:bodyPr>
          <a:lstStyle/>
          <a:p>
            <a:r>
              <a:rPr lang="en-US" altLang="zh-TW" sz="4000" dirty="0"/>
              <a:t>Clustering of jobs to obtain approximate Pareto front</a:t>
            </a:r>
            <a:endParaRPr lang="zh-TW" altLang="en-US" sz="4000"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A3874345-41ED-42CD-B586-CA70520A27C9}"/>
                  </a:ext>
                </a:extLst>
              </p:cNvPr>
              <p:cNvSpPr>
                <a:spLocks noGrp="1"/>
              </p:cNvSpPr>
              <p:nvPr>
                <p:ph idx="1"/>
              </p:nvPr>
            </p:nvSpPr>
            <p:spPr>
              <a:xfrm>
                <a:off x="520147" y="1530831"/>
                <a:ext cx="11496261" cy="5197959"/>
              </a:xfrm>
            </p:spPr>
            <p:txBody>
              <a:bodyPr>
                <a:normAutofit/>
              </a:bodyPr>
              <a:lstStyle/>
              <a:p>
                <a:r>
                  <a:rPr lang="en-US" altLang="zh-TW" sz="2600" dirty="0"/>
                  <a:t>We use cluster analysis to divide the job into several sorted clusters according to the release time and deadline.</a:t>
                </a:r>
              </a:p>
              <a:p>
                <a:pPr marL="0" indent="0">
                  <a:buNone/>
                </a:pPr>
                <a:r>
                  <a:rPr lang="en-US" altLang="zh-TW" sz="2400" b="0" i="0" dirty="0">
                    <a:solidFill>
                      <a:schemeClr val="tx1"/>
                    </a:solidFill>
                    <a:effectLst/>
                  </a:rPr>
                  <a:t>The distance of job </a:t>
                </a:r>
                <a:r>
                  <a:rPr lang="en-US" altLang="zh-TW" sz="2400" b="0" i="1" dirty="0" err="1">
                    <a:solidFill>
                      <a:schemeClr val="tx1"/>
                    </a:solidFill>
                    <a:effectLst/>
                  </a:rPr>
                  <a:t>i</a:t>
                </a:r>
                <a:r>
                  <a:rPr lang="en-US" altLang="zh-TW" sz="2400" b="0" i="0" dirty="0">
                    <a:solidFill>
                      <a:schemeClr val="tx1"/>
                    </a:solidFill>
                    <a:effectLst/>
                  </a:rPr>
                  <a:t> and </a:t>
                </a:r>
                <a:r>
                  <a:rPr lang="en-US" altLang="zh-TW" sz="2400" b="0" i="1" dirty="0">
                    <a:solidFill>
                      <a:schemeClr val="tx1"/>
                    </a:solidFill>
                    <a:effectLst/>
                  </a:rPr>
                  <a:t>j</a:t>
                </a:r>
                <a:r>
                  <a:rPr lang="en-US" altLang="zh-TW" sz="2400" b="0" i="0" dirty="0">
                    <a:solidFill>
                      <a:schemeClr val="tx1"/>
                    </a:solidFill>
                    <a:effectLst/>
                  </a:rPr>
                  <a:t>, </a:t>
                </a:r>
                <a14:m>
                  <m:oMath xmlns:m="http://schemas.openxmlformats.org/officeDocument/2006/math">
                    <m:sSub>
                      <m:sSubPr>
                        <m:ctrlPr>
                          <a:rPr lang="en-US" altLang="zh-TW" sz="2400" b="0" i="1" smtClean="0">
                            <a:solidFill>
                              <a:schemeClr val="tx1"/>
                            </a:solidFill>
                            <a:effectLst/>
                            <a:latin typeface="Cambria Math" panose="02040503050406030204" pitchFamily="18" charset="0"/>
                          </a:rPr>
                        </m:ctrlPr>
                      </m:sSubPr>
                      <m:e>
                        <m:r>
                          <m:rPr>
                            <m:sty m:val="p"/>
                          </m:rPr>
                          <a:rPr lang="en-US" altLang="zh-TW" sz="2400" i="1">
                            <a:solidFill>
                              <a:schemeClr val="tx1"/>
                            </a:solidFill>
                            <a:latin typeface="Cambria Math" panose="02040503050406030204" pitchFamily="18" charset="0"/>
                          </a:rPr>
                          <m:t>L</m:t>
                        </m:r>
                      </m:e>
                      <m:sub>
                        <m:r>
                          <a:rPr lang="en-US" altLang="zh-TW" sz="2400" b="0" i="1" smtClean="0">
                            <a:solidFill>
                              <a:schemeClr val="tx1"/>
                            </a:solidFill>
                            <a:effectLst/>
                            <a:latin typeface="Cambria Math" panose="02040503050406030204" pitchFamily="18" charset="0"/>
                          </a:rPr>
                          <m:t>𝑖</m:t>
                        </m:r>
                        <m:r>
                          <a:rPr lang="en-US" altLang="zh-TW" sz="2400" b="0" i="1" smtClean="0">
                            <a:solidFill>
                              <a:schemeClr val="tx1"/>
                            </a:solidFill>
                            <a:effectLst/>
                            <a:latin typeface="Cambria Math" panose="02040503050406030204" pitchFamily="18" charset="0"/>
                          </a:rPr>
                          <m:t>,</m:t>
                        </m:r>
                        <m:r>
                          <a:rPr lang="en-US" altLang="zh-TW" sz="2400" b="0" i="1" smtClean="0">
                            <a:solidFill>
                              <a:schemeClr val="tx1"/>
                            </a:solidFill>
                            <a:effectLst/>
                            <a:latin typeface="Cambria Math" panose="02040503050406030204" pitchFamily="18" charset="0"/>
                          </a:rPr>
                          <m:t>𝑗</m:t>
                        </m:r>
                      </m:sub>
                    </m:sSub>
                    <m:r>
                      <a:rPr lang="zh-TW" altLang="en-US" sz="2400" i="1">
                        <a:solidFill>
                          <a:schemeClr val="tx1"/>
                        </a:solidFill>
                        <a:latin typeface="Cambria Math" panose="02040503050406030204" pitchFamily="18" charset="0"/>
                      </a:rPr>
                      <m:t> </m:t>
                    </m:r>
                  </m:oMath>
                </a14:m>
                <a:r>
                  <a:rPr lang="en-US" altLang="zh-TW" sz="2400" dirty="0">
                    <a:solidFill>
                      <a:schemeClr val="tx1"/>
                    </a:solidFill>
                  </a:rPr>
                  <a:t>=</a:t>
                </a:r>
                <a14:m>
                  <m:oMath xmlns:m="http://schemas.openxmlformats.org/officeDocument/2006/math">
                    <m:rad>
                      <m:radPr>
                        <m:degHide m:val="on"/>
                        <m:ctrlPr>
                          <a:rPr lang="en-US" altLang="zh-TW" sz="2400" i="1" dirty="0" smtClean="0">
                            <a:solidFill>
                              <a:schemeClr val="tx1"/>
                            </a:solidFill>
                            <a:latin typeface="Cambria Math" panose="02040503050406030204" pitchFamily="18" charset="0"/>
                          </a:rPr>
                        </m:ctrlPr>
                      </m:radPr>
                      <m:deg/>
                      <m:e>
                        <m:sSup>
                          <m:sSupPr>
                            <m:ctrlPr>
                              <a:rPr lang="en-US" altLang="zh-TW" sz="2400" i="1" dirty="0" smtClean="0">
                                <a:solidFill>
                                  <a:schemeClr val="tx1"/>
                                </a:solidFill>
                                <a:latin typeface="Cambria Math" panose="02040503050406030204" pitchFamily="18" charset="0"/>
                              </a:rPr>
                            </m:ctrlPr>
                          </m:sSupPr>
                          <m:e>
                            <m:r>
                              <a:rPr lang="en-US" altLang="zh-TW" sz="2400" i="1" dirty="0">
                                <a:solidFill>
                                  <a:schemeClr val="tx1"/>
                                </a:solidFill>
                                <a:latin typeface="Cambria Math" panose="02040503050406030204" pitchFamily="18" charset="0"/>
                              </a:rPr>
                              <m:t>(</m:t>
                            </m:r>
                            <m:sSubSup>
                              <m:sSubSupPr>
                                <m:ctrlPr>
                                  <a:rPr lang="en-US" altLang="zh-TW" sz="2400" i="1" dirty="0" smtClean="0">
                                    <a:solidFill>
                                      <a:schemeClr val="tx1"/>
                                    </a:solidFill>
                                    <a:latin typeface="Cambria Math" panose="02040503050406030204" pitchFamily="18" charset="0"/>
                                  </a:rPr>
                                </m:ctrlPr>
                              </m:sSubSupPr>
                              <m:e>
                                <m:r>
                                  <a:rPr lang="en-US" altLang="zh-TW" sz="2400" b="0" i="1" dirty="0" smtClean="0">
                                    <a:solidFill>
                                      <a:schemeClr val="tx1"/>
                                    </a:solidFill>
                                    <a:latin typeface="Cambria Math" panose="02040503050406030204" pitchFamily="18" charset="0"/>
                                  </a:rPr>
                                  <m:t>𝑟</m:t>
                                </m:r>
                              </m:e>
                              <m:sub>
                                <m:r>
                                  <a:rPr lang="en-US" altLang="zh-TW" sz="2400" b="0" i="1" dirty="0" smtClean="0">
                                    <a:solidFill>
                                      <a:schemeClr val="tx1"/>
                                    </a:solidFill>
                                    <a:latin typeface="Cambria Math" panose="02040503050406030204" pitchFamily="18" charset="0"/>
                                  </a:rPr>
                                  <m:t>𝑖</m:t>
                                </m:r>
                              </m:sub>
                              <m:sup/>
                            </m:sSubSup>
                            <m:r>
                              <a:rPr lang="en-US" altLang="zh-TW" sz="2400" b="0" i="1" dirty="0" smtClean="0">
                                <a:solidFill>
                                  <a:schemeClr val="tx1"/>
                                </a:solidFill>
                                <a:latin typeface="Cambria Math" panose="02040503050406030204" pitchFamily="18" charset="0"/>
                              </a:rPr>
                              <m:t>−</m:t>
                            </m:r>
                            <m:sSubSup>
                              <m:sSubSupPr>
                                <m:ctrlPr>
                                  <a:rPr lang="en-US" altLang="zh-TW" sz="2400" i="1" dirty="0">
                                    <a:solidFill>
                                      <a:schemeClr val="tx1"/>
                                    </a:solidFill>
                                    <a:latin typeface="Cambria Math" panose="02040503050406030204" pitchFamily="18" charset="0"/>
                                  </a:rPr>
                                </m:ctrlPr>
                              </m:sSubSupPr>
                              <m:e>
                                <m:r>
                                  <a:rPr lang="en-US" altLang="zh-TW" sz="2400" i="1" dirty="0">
                                    <a:solidFill>
                                      <a:schemeClr val="tx1"/>
                                    </a:solidFill>
                                    <a:latin typeface="Cambria Math" panose="02040503050406030204" pitchFamily="18" charset="0"/>
                                  </a:rPr>
                                  <m:t>𝑟</m:t>
                                </m:r>
                              </m:e>
                              <m:sub>
                                <m:r>
                                  <a:rPr lang="en-US" altLang="zh-TW" sz="2400" b="0" i="1" dirty="0" smtClean="0">
                                    <a:solidFill>
                                      <a:schemeClr val="tx1"/>
                                    </a:solidFill>
                                    <a:latin typeface="Cambria Math" panose="02040503050406030204" pitchFamily="18" charset="0"/>
                                  </a:rPr>
                                  <m:t>𝑗</m:t>
                                </m:r>
                              </m:sub>
                              <m:sup/>
                            </m:sSubSup>
                            <m:r>
                              <a:rPr lang="en-US" altLang="zh-TW" sz="2400" i="1" dirty="0" smtClean="0">
                                <a:solidFill>
                                  <a:schemeClr val="tx1"/>
                                </a:solidFill>
                                <a:latin typeface="Cambria Math" panose="02040503050406030204" pitchFamily="18" charset="0"/>
                              </a:rPr>
                              <m:t>)</m:t>
                            </m:r>
                          </m:e>
                          <m:sup>
                            <m:r>
                              <a:rPr lang="en-US" altLang="zh-TW" sz="2400" i="1" dirty="0" smtClean="0">
                                <a:solidFill>
                                  <a:schemeClr val="tx1"/>
                                </a:solidFill>
                                <a:latin typeface="Cambria Math" panose="02040503050406030204" pitchFamily="18" charset="0"/>
                              </a:rPr>
                              <m:t>2</m:t>
                            </m:r>
                          </m:sup>
                        </m:sSup>
                        <m:r>
                          <a:rPr lang="en-US" altLang="zh-TW" sz="2400" i="1" dirty="0" smtClean="0">
                            <a:solidFill>
                              <a:schemeClr val="tx1"/>
                            </a:solidFill>
                            <a:latin typeface="Cambria Math" panose="02040503050406030204" pitchFamily="18" charset="0"/>
                          </a:rPr>
                          <m:t>+</m:t>
                        </m:r>
                        <m:sSup>
                          <m:sSupPr>
                            <m:ctrlPr>
                              <a:rPr lang="en-US" altLang="zh-TW" sz="2400" i="1" dirty="0" smtClean="0">
                                <a:solidFill>
                                  <a:schemeClr val="tx1"/>
                                </a:solidFill>
                                <a:latin typeface="Cambria Math" panose="02040503050406030204" pitchFamily="18" charset="0"/>
                              </a:rPr>
                            </m:ctrlPr>
                          </m:sSupPr>
                          <m:e>
                            <m:r>
                              <a:rPr lang="en-US" altLang="zh-TW" sz="2400" i="1" dirty="0">
                                <a:solidFill>
                                  <a:schemeClr val="tx1"/>
                                </a:solidFill>
                                <a:latin typeface="Cambria Math" panose="02040503050406030204" pitchFamily="18" charset="0"/>
                              </a:rPr>
                              <m:t>(</m:t>
                            </m:r>
                            <m:sSubSup>
                              <m:sSubSupPr>
                                <m:ctrlPr>
                                  <a:rPr lang="en-US" altLang="zh-TW" sz="2400" i="1" dirty="0">
                                    <a:solidFill>
                                      <a:schemeClr val="tx1"/>
                                    </a:solidFill>
                                    <a:latin typeface="Cambria Math" panose="02040503050406030204" pitchFamily="18" charset="0"/>
                                  </a:rPr>
                                </m:ctrlPr>
                              </m:sSubSupPr>
                              <m:e>
                                <m:r>
                                  <a:rPr lang="en-US" altLang="zh-TW" sz="2400" b="0" i="1" dirty="0" smtClean="0">
                                    <a:solidFill>
                                      <a:schemeClr val="tx1"/>
                                    </a:solidFill>
                                    <a:latin typeface="Cambria Math" panose="02040503050406030204" pitchFamily="18" charset="0"/>
                                  </a:rPr>
                                  <m:t>𝑑</m:t>
                                </m:r>
                              </m:e>
                              <m:sub>
                                <m:r>
                                  <a:rPr lang="en-US" altLang="zh-TW" sz="2400" i="1" dirty="0">
                                    <a:solidFill>
                                      <a:schemeClr val="tx1"/>
                                    </a:solidFill>
                                    <a:latin typeface="Cambria Math" panose="02040503050406030204" pitchFamily="18" charset="0"/>
                                  </a:rPr>
                                  <m:t>𝑖</m:t>
                                </m:r>
                              </m:sub>
                              <m:sup/>
                            </m:sSubSup>
                            <m:r>
                              <a:rPr lang="en-US" altLang="zh-TW" sz="2400" i="1" dirty="0">
                                <a:solidFill>
                                  <a:schemeClr val="tx1"/>
                                </a:solidFill>
                                <a:latin typeface="Cambria Math" panose="02040503050406030204" pitchFamily="18" charset="0"/>
                              </a:rPr>
                              <m:t>−</m:t>
                            </m:r>
                            <m:sSubSup>
                              <m:sSubSupPr>
                                <m:ctrlPr>
                                  <a:rPr lang="en-US" altLang="zh-TW" sz="2400" i="1" dirty="0">
                                    <a:solidFill>
                                      <a:schemeClr val="tx1"/>
                                    </a:solidFill>
                                    <a:latin typeface="Cambria Math" panose="02040503050406030204" pitchFamily="18" charset="0"/>
                                  </a:rPr>
                                </m:ctrlPr>
                              </m:sSubSupPr>
                              <m:e>
                                <m:r>
                                  <a:rPr lang="en-US" altLang="zh-TW" sz="2400" b="0" i="1" dirty="0" smtClean="0">
                                    <a:solidFill>
                                      <a:schemeClr val="tx1"/>
                                    </a:solidFill>
                                    <a:latin typeface="Cambria Math" panose="02040503050406030204" pitchFamily="18" charset="0"/>
                                  </a:rPr>
                                  <m:t>𝑑</m:t>
                                </m:r>
                              </m:e>
                              <m:sub>
                                <m:r>
                                  <a:rPr lang="en-US" altLang="zh-TW" sz="2400" i="1" dirty="0">
                                    <a:solidFill>
                                      <a:schemeClr val="tx1"/>
                                    </a:solidFill>
                                    <a:latin typeface="Cambria Math" panose="02040503050406030204" pitchFamily="18" charset="0"/>
                                  </a:rPr>
                                  <m:t>𝑗</m:t>
                                </m:r>
                              </m:sub>
                              <m:sup/>
                            </m:sSubSup>
                            <m:r>
                              <a:rPr lang="en-US" altLang="zh-TW" sz="2400" i="1" dirty="0">
                                <a:solidFill>
                                  <a:schemeClr val="tx1"/>
                                </a:solidFill>
                                <a:latin typeface="Cambria Math" panose="02040503050406030204" pitchFamily="18" charset="0"/>
                              </a:rPr>
                              <m:t>)</m:t>
                            </m:r>
                          </m:e>
                          <m:sup>
                            <m:r>
                              <a:rPr lang="en-US" altLang="zh-TW" sz="2400" i="1" dirty="0" smtClean="0">
                                <a:solidFill>
                                  <a:schemeClr val="tx1"/>
                                </a:solidFill>
                                <a:latin typeface="Cambria Math" panose="02040503050406030204" pitchFamily="18" charset="0"/>
                              </a:rPr>
                              <m:t>2</m:t>
                            </m:r>
                          </m:sup>
                        </m:sSup>
                      </m:e>
                    </m:rad>
                  </m:oMath>
                </a14:m>
                <a:r>
                  <a:rPr lang="zh-TW" altLang="en-US" sz="2400" dirty="0">
                    <a:solidFill>
                      <a:schemeClr val="tx1"/>
                    </a:solidFill>
                  </a:rPr>
                  <a:t> </a:t>
                </a:r>
                <a:r>
                  <a:rPr lang="en-US" altLang="zh-TW" sz="2400" dirty="0">
                    <a:solidFill>
                      <a:schemeClr val="tx1"/>
                    </a:solidFill>
                  </a:rPr>
                  <a:t>.</a:t>
                </a:r>
              </a:p>
              <a:p>
                <a:endParaRPr lang="en-US" altLang="zh-TW" sz="2400" b="1" i="0" dirty="0">
                  <a:solidFill>
                    <a:schemeClr val="tx1"/>
                  </a:solidFill>
                  <a:effectLst/>
                </a:endParaRPr>
              </a:p>
              <a:p>
                <a:endParaRPr lang="en-US" altLang="zh-TW" sz="2400" b="1" i="0" dirty="0">
                  <a:solidFill>
                    <a:schemeClr val="tx1"/>
                  </a:solidFill>
                  <a:effectLst/>
                </a:endParaRPr>
              </a:p>
              <a:p>
                <a:pPr marL="0" indent="0">
                  <a:buNone/>
                </a:pPr>
                <a:r>
                  <a:rPr lang="en-US" altLang="zh-TW" sz="2400" b="0" i="0" dirty="0">
                    <a:solidFill>
                      <a:schemeClr val="tx1"/>
                    </a:solidFill>
                    <a:effectLst/>
                  </a:rPr>
                  <a:t>Let </a:t>
                </a:r>
                <a14:m>
                  <m:oMath xmlns:m="http://schemas.openxmlformats.org/officeDocument/2006/math">
                    <m:sSub>
                      <m:sSubPr>
                        <m:ctrlPr>
                          <a:rPr lang="en-US" altLang="zh-TW" sz="2400" b="0" i="1" smtClean="0">
                            <a:solidFill>
                              <a:schemeClr val="tx1"/>
                            </a:solidFill>
                            <a:effectLst/>
                            <a:latin typeface="Cambria Math" panose="02040503050406030204" pitchFamily="18" charset="0"/>
                          </a:rPr>
                        </m:ctrlPr>
                      </m:sSubPr>
                      <m:e>
                        <m:r>
                          <a:rPr lang="zh-TW" altLang="en-US" sz="2400" b="0" i="1" smtClean="0">
                            <a:solidFill>
                              <a:schemeClr val="tx1"/>
                            </a:solidFill>
                            <a:effectLst/>
                            <a:latin typeface="Cambria Math" panose="02040503050406030204" pitchFamily="18" charset="0"/>
                          </a:rPr>
                          <m:t>𝜃</m:t>
                        </m:r>
                      </m:e>
                      <m:sub>
                        <m:r>
                          <a:rPr lang="en-US" altLang="zh-TW" sz="2400" b="0" i="1" smtClean="0">
                            <a:solidFill>
                              <a:schemeClr val="tx1"/>
                            </a:solidFill>
                            <a:effectLst/>
                            <a:latin typeface="Cambria Math" panose="02040503050406030204" pitchFamily="18" charset="0"/>
                          </a:rPr>
                          <m:t>𝑎</m:t>
                        </m:r>
                      </m:sub>
                    </m:sSub>
                    <m:r>
                      <a:rPr lang="en-US" altLang="zh-TW" sz="2400" b="0" i="1" smtClean="0">
                        <a:solidFill>
                          <a:schemeClr val="tx1"/>
                        </a:solidFill>
                        <a:effectLst/>
                        <a:latin typeface="Cambria Math" panose="02040503050406030204" pitchFamily="18" charset="0"/>
                      </a:rPr>
                      <m:t> </m:t>
                    </m:r>
                  </m:oMath>
                </a14:m>
                <a:r>
                  <a:rPr lang="en-US" altLang="zh-TW" sz="2400" b="0" i="0" dirty="0">
                    <a:solidFill>
                      <a:schemeClr val="tx1"/>
                    </a:solidFill>
                    <a:effectLst/>
                  </a:rPr>
                  <a:t>, 1 ≤ </a:t>
                </a:r>
                <a:r>
                  <a:rPr lang="en-US" altLang="zh-TW" sz="2400" b="0" i="1" dirty="0">
                    <a:solidFill>
                      <a:schemeClr val="tx1"/>
                    </a:solidFill>
                    <a:effectLst/>
                  </a:rPr>
                  <a:t>a</a:t>
                </a:r>
                <a:r>
                  <a:rPr lang="en-US" altLang="zh-TW" sz="2400" b="0" i="0" dirty="0">
                    <a:solidFill>
                      <a:schemeClr val="tx1"/>
                    </a:solidFill>
                    <a:effectLst/>
                  </a:rPr>
                  <a:t> ≤ </a:t>
                </a:r>
                <a:r>
                  <a:rPr lang="en-US" altLang="zh-TW" sz="2400" b="0" i="1" dirty="0">
                    <a:solidFill>
                      <a:schemeClr val="tx1"/>
                    </a:solidFill>
                    <a:effectLst/>
                  </a:rPr>
                  <a:t>m</a:t>
                </a:r>
                <a:r>
                  <a:rPr lang="en-US" altLang="zh-TW" sz="2400" b="0" i="0" dirty="0">
                    <a:solidFill>
                      <a:schemeClr val="tx1"/>
                    </a:solidFill>
                    <a:effectLst/>
                  </a:rPr>
                  <a:t>, represents the set of indices of jobs assigned to cluster </a:t>
                </a:r>
                <a:r>
                  <a:rPr lang="en-US" altLang="zh-TW" sz="2400" b="0" i="1" dirty="0">
                    <a:solidFill>
                      <a:schemeClr val="tx1"/>
                    </a:solidFill>
                    <a:effectLst/>
                  </a:rPr>
                  <a:t>a</a:t>
                </a:r>
                <a:r>
                  <a:rPr lang="en-US" altLang="zh-TW" sz="2400" b="0" i="0" dirty="0">
                    <a:solidFill>
                      <a:schemeClr val="tx1"/>
                    </a:solidFill>
                    <a:effectLst/>
                  </a:rPr>
                  <a:t>. </a:t>
                </a:r>
                <a:endParaRPr lang="en-US" altLang="zh-TW" sz="2400" dirty="0">
                  <a:solidFill>
                    <a:schemeClr val="tx1"/>
                  </a:solidFill>
                </a:endParaRPr>
              </a:p>
              <a:p>
                <a:r>
                  <a:rPr lang="en-US" altLang="zh-TW" sz="2400" b="0" i="0" dirty="0">
                    <a:solidFill>
                      <a:schemeClr val="tx1"/>
                    </a:solidFill>
                    <a:effectLst/>
                  </a:rPr>
                  <a:t>The distance of clusters </a:t>
                </a:r>
                <a:r>
                  <a:rPr lang="en-US" altLang="zh-TW" sz="2400" b="0" i="1" dirty="0">
                    <a:solidFill>
                      <a:schemeClr val="tx1"/>
                    </a:solidFill>
                    <a:effectLst/>
                  </a:rPr>
                  <a:t>a</a:t>
                </a:r>
                <a:r>
                  <a:rPr lang="en-US" altLang="zh-TW" sz="2400" b="0" i="0" dirty="0">
                    <a:solidFill>
                      <a:schemeClr val="tx1"/>
                    </a:solidFill>
                    <a:effectLst/>
                  </a:rPr>
                  <a:t> and </a:t>
                </a:r>
                <a:r>
                  <a:rPr lang="en-US" altLang="zh-TW" sz="2400" b="0" i="1" dirty="0">
                    <a:solidFill>
                      <a:schemeClr val="tx1"/>
                    </a:solidFill>
                    <a:effectLst/>
                  </a:rPr>
                  <a:t>b</a:t>
                </a:r>
                <a:r>
                  <a:rPr lang="en-US" altLang="zh-TW" sz="2400" b="0" i="0" dirty="0">
                    <a:solidFill>
                      <a:schemeClr val="tx1"/>
                    </a:solidFill>
                    <a:effectLst/>
                  </a:rPr>
                  <a:t>, </a:t>
                </a:r>
                <a:r>
                  <a:rPr lang="en-US" altLang="zh-TW" sz="2400" b="0" dirty="0">
                    <a:solidFill>
                      <a:schemeClr val="tx1"/>
                    </a:solidFill>
                    <a:effectLst/>
                  </a:rPr>
                  <a:t> </a:t>
                </a:r>
                <a14:m>
                  <m:oMath xmlns:m="http://schemas.openxmlformats.org/officeDocument/2006/math">
                    <m:sSub>
                      <m:sSubPr>
                        <m:ctrlPr>
                          <a:rPr lang="en-US" altLang="zh-TW" sz="2400" b="0" i="1" smtClean="0">
                            <a:solidFill>
                              <a:schemeClr val="tx1"/>
                            </a:solidFill>
                            <a:effectLst/>
                            <a:latin typeface="Cambria Math" panose="02040503050406030204" pitchFamily="18" charset="0"/>
                          </a:rPr>
                        </m:ctrlPr>
                      </m:sSubPr>
                      <m:e>
                        <m:r>
                          <m:rPr>
                            <m:sty m:val="p"/>
                          </m:rPr>
                          <a:rPr lang="en-US" altLang="zh-TW" sz="2400" i="1">
                            <a:solidFill>
                              <a:schemeClr val="tx1"/>
                            </a:solidFill>
                            <a:latin typeface="Cambria Math" panose="02040503050406030204" pitchFamily="18" charset="0"/>
                          </a:rPr>
                          <m:t>L</m:t>
                        </m:r>
                      </m:e>
                      <m:sub>
                        <m:r>
                          <a:rPr lang="en-US" altLang="zh-TW" sz="2400" b="0" i="1" smtClean="0">
                            <a:solidFill>
                              <a:schemeClr val="tx1"/>
                            </a:solidFill>
                            <a:latin typeface="Cambria Math" panose="02040503050406030204" pitchFamily="18" charset="0"/>
                          </a:rPr>
                          <m:t>𝑎</m:t>
                        </m:r>
                        <m:r>
                          <a:rPr lang="en-US" altLang="zh-TW" sz="2400" b="0" i="1" smtClean="0">
                            <a:solidFill>
                              <a:schemeClr val="tx1"/>
                            </a:solidFill>
                            <a:latin typeface="Cambria Math" panose="02040503050406030204" pitchFamily="18" charset="0"/>
                          </a:rPr>
                          <m:t>,</m:t>
                        </m:r>
                        <m:r>
                          <a:rPr lang="en-US" altLang="zh-TW" sz="2400" b="0" i="1" smtClean="0">
                            <a:solidFill>
                              <a:schemeClr val="tx1"/>
                            </a:solidFill>
                            <a:latin typeface="Cambria Math" panose="02040503050406030204" pitchFamily="18" charset="0"/>
                          </a:rPr>
                          <m:t>𝑏</m:t>
                        </m:r>
                      </m:sub>
                    </m:sSub>
                    <m:r>
                      <a:rPr lang="en-US" altLang="zh-TW" sz="2400" b="0" i="1" smtClean="0">
                        <a:solidFill>
                          <a:schemeClr val="tx1"/>
                        </a:solidFill>
                        <a:effectLst/>
                        <a:latin typeface="Cambria Math" panose="02040503050406030204" pitchFamily="18" charset="0"/>
                      </a:rPr>
                      <m:t> </m:t>
                    </m:r>
                  </m:oMath>
                </a14:m>
                <a:r>
                  <a:rPr lang="en-US" altLang="zh-TW" sz="2400" b="0" i="0" dirty="0">
                    <a:solidFill>
                      <a:schemeClr val="tx1"/>
                    </a:solidFill>
                    <a:effectLst/>
                  </a:rPr>
                  <a:t>=</a:t>
                </a:r>
                <a14:m>
                  <m:oMath xmlns:m="http://schemas.openxmlformats.org/officeDocument/2006/math">
                    <m:sSub>
                      <m:sSubPr>
                        <m:ctrlPr>
                          <a:rPr lang="en-US" altLang="zh-TW" sz="2400" b="0" i="1" smtClean="0">
                            <a:solidFill>
                              <a:schemeClr val="tx1"/>
                            </a:solidFill>
                            <a:effectLst/>
                            <a:latin typeface="Cambria Math" panose="02040503050406030204" pitchFamily="18" charset="0"/>
                          </a:rPr>
                        </m:ctrlPr>
                      </m:sSubPr>
                      <m:e>
                        <m:r>
                          <a:rPr lang="en-US" altLang="zh-TW" sz="2400" b="0" i="1" smtClean="0">
                            <a:solidFill>
                              <a:schemeClr val="tx1"/>
                            </a:solidFill>
                            <a:effectLst/>
                            <a:latin typeface="Cambria Math" panose="02040503050406030204" pitchFamily="18" charset="0"/>
                          </a:rPr>
                          <m:t>𝑚𝑖𝑛</m:t>
                        </m:r>
                      </m:e>
                      <m:sub>
                        <m:r>
                          <a:rPr lang="en-US" altLang="zh-TW" sz="2400" b="0" i="1" smtClean="0">
                            <a:solidFill>
                              <a:schemeClr val="tx1"/>
                            </a:solidFill>
                            <a:effectLst/>
                            <a:latin typeface="Cambria Math" panose="02040503050406030204" pitchFamily="18" charset="0"/>
                          </a:rPr>
                          <m:t>𝑖</m:t>
                        </m:r>
                        <m:r>
                          <a:rPr lang="zh-TW" altLang="en-US" sz="2400" b="0" i="1" smtClean="0">
                            <a:solidFill>
                              <a:schemeClr val="tx1"/>
                            </a:solidFill>
                            <a:effectLst/>
                            <a:latin typeface="Cambria Math" panose="02040503050406030204" pitchFamily="18" charset="0"/>
                          </a:rPr>
                          <m:t>𝜖</m:t>
                        </m:r>
                        <m:sSub>
                          <m:sSubPr>
                            <m:ctrlPr>
                              <a:rPr lang="en-US" altLang="zh-TW" sz="2400" b="0" i="1" smtClean="0">
                                <a:solidFill>
                                  <a:schemeClr val="tx1"/>
                                </a:solidFill>
                                <a:effectLst/>
                                <a:latin typeface="Cambria Math" panose="02040503050406030204" pitchFamily="18" charset="0"/>
                              </a:rPr>
                            </m:ctrlPr>
                          </m:sSubPr>
                          <m:e>
                            <m:r>
                              <a:rPr lang="zh-TW" altLang="en-US" sz="2400" b="0" i="1" smtClean="0">
                                <a:solidFill>
                                  <a:schemeClr val="tx1"/>
                                </a:solidFill>
                                <a:effectLst/>
                                <a:latin typeface="Cambria Math" panose="02040503050406030204" pitchFamily="18" charset="0"/>
                              </a:rPr>
                              <m:t>𝜃</m:t>
                            </m:r>
                          </m:e>
                          <m:sub>
                            <m:r>
                              <a:rPr lang="en-US" altLang="zh-TW" sz="2400" b="0" i="1" smtClean="0">
                                <a:solidFill>
                                  <a:schemeClr val="tx1"/>
                                </a:solidFill>
                                <a:effectLst/>
                                <a:latin typeface="Cambria Math" panose="02040503050406030204" pitchFamily="18" charset="0"/>
                              </a:rPr>
                              <m:t>𝑎</m:t>
                            </m:r>
                          </m:sub>
                        </m:sSub>
                        <m:r>
                          <a:rPr lang="en-US" altLang="zh-TW" sz="2400" b="0" i="1" smtClean="0">
                            <a:solidFill>
                              <a:schemeClr val="tx1"/>
                            </a:solidFill>
                            <a:effectLst/>
                            <a:latin typeface="Cambria Math" panose="02040503050406030204" pitchFamily="18" charset="0"/>
                          </a:rPr>
                          <m:t> , </m:t>
                        </m:r>
                        <m:r>
                          <a:rPr lang="en-US" altLang="zh-TW" sz="2400" b="0" i="1" smtClean="0">
                            <a:solidFill>
                              <a:schemeClr val="tx1"/>
                            </a:solidFill>
                            <a:effectLst/>
                            <a:latin typeface="Cambria Math" panose="02040503050406030204" pitchFamily="18" charset="0"/>
                          </a:rPr>
                          <m:t>𝑗</m:t>
                        </m:r>
                        <m:r>
                          <a:rPr lang="zh-TW" altLang="en-US" sz="2400" i="1">
                            <a:solidFill>
                              <a:schemeClr val="tx1"/>
                            </a:solidFill>
                            <a:latin typeface="Cambria Math" panose="02040503050406030204" pitchFamily="18" charset="0"/>
                          </a:rPr>
                          <m:t>𝜖</m:t>
                        </m:r>
                        <m:sSub>
                          <m:sSubPr>
                            <m:ctrlPr>
                              <a:rPr lang="en-US" altLang="zh-TW" sz="2400" i="1">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𝜃</m:t>
                            </m:r>
                          </m:e>
                          <m:sub>
                            <m:r>
                              <a:rPr lang="en-US" altLang="zh-TW" sz="2400" b="0" i="1" smtClean="0">
                                <a:solidFill>
                                  <a:schemeClr val="tx1"/>
                                </a:solidFill>
                                <a:latin typeface="Cambria Math" panose="02040503050406030204" pitchFamily="18" charset="0"/>
                              </a:rPr>
                              <m:t>𝑏</m:t>
                            </m:r>
                          </m:sub>
                        </m:sSub>
                      </m:sub>
                    </m:sSub>
                    <m:r>
                      <a:rPr lang="en-US" altLang="zh-TW" sz="2400" b="0" i="0" smtClean="0">
                        <a:solidFill>
                          <a:schemeClr val="tx1"/>
                        </a:solidFill>
                        <a:effectLst/>
                        <a:latin typeface="Cambria Math" panose="02040503050406030204" pitchFamily="18" charset="0"/>
                      </a:rPr>
                      <m:t> </m:t>
                    </m:r>
                    <m:d>
                      <m:dPr>
                        <m:begChr m:val="{"/>
                        <m:endChr m:val="}"/>
                        <m:ctrlPr>
                          <a:rPr lang="en-US" altLang="zh-TW" sz="2400" b="0" i="1" smtClean="0">
                            <a:solidFill>
                              <a:schemeClr val="tx1"/>
                            </a:solidFill>
                            <a:effectLst/>
                            <a:latin typeface="Cambria Math" panose="02040503050406030204" pitchFamily="18" charset="0"/>
                          </a:rPr>
                        </m:ctrlPr>
                      </m:dPr>
                      <m:e>
                        <m:sSub>
                          <m:sSubPr>
                            <m:ctrlPr>
                              <a:rPr lang="en-US" altLang="zh-TW" sz="2400" i="1">
                                <a:solidFill>
                                  <a:schemeClr val="tx1"/>
                                </a:solidFill>
                                <a:latin typeface="Cambria Math" panose="02040503050406030204" pitchFamily="18" charset="0"/>
                              </a:rPr>
                            </m:ctrlPr>
                          </m:sSubPr>
                          <m:e>
                            <m:r>
                              <m:rPr>
                                <m:sty m:val="p"/>
                              </m:rPr>
                              <a:rPr lang="en-US" altLang="zh-TW" sz="2400" i="1">
                                <a:solidFill>
                                  <a:schemeClr val="tx1"/>
                                </a:solidFill>
                                <a:latin typeface="Cambria Math" panose="02040503050406030204" pitchFamily="18" charset="0"/>
                              </a:rPr>
                              <m:t>L</m:t>
                            </m:r>
                          </m:e>
                          <m:sub>
                            <m:r>
                              <a:rPr lang="en-US" altLang="zh-TW" sz="2400" i="1">
                                <a:solidFill>
                                  <a:schemeClr val="tx1"/>
                                </a:solidFill>
                                <a:latin typeface="Cambria Math" panose="02040503050406030204" pitchFamily="18" charset="0"/>
                              </a:rPr>
                              <m:t>𝑖</m:t>
                            </m:r>
                            <m:r>
                              <a:rPr lang="en-US" altLang="zh-TW" sz="2400" i="1">
                                <a:solidFill>
                                  <a:schemeClr val="tx1"/>
                                </a:solidFill>
                                <a:latin typeface="Cambria Math" panose="02040503050406030204" pitchFamily="18" charset="0"/>
                              </a:rPr>
                              <m:t>,</m:t>
                            </m:r>
                            <m:r>
                              <a:rPr lang="en-US" altLang="zh-TW" sz="2400" i="1">
                                <a:solidFill>
                                  <a:schemeClr val="tx1"/>
                                </a:solidFill>
                                <a:latin typeface="Cambria Math" panose="02040503050406030204" pitchFamily="18" charset="0"/>
                              </a:rPr>
                              <m:t>𝑗</m:t>
                            </m:r>
                          </m:sub>
                        </m:sSub>
                      </m:e>
                    </m:d>
                  </m:oMath>
                </a14:m>
                <a:endParaRPr lang="zh-TW" altLang="en-US" sz="2400" dirty="0">
                  <a:solidFill>
                    <a:schemeClr val="tx1"/>
                  </a:solidFill>
                </a:endParaRPr>
              </a:p>
            </p:txBody>
          </p:sp>
        </mc:Choice>
        <mc:Fallback>
          <p:sp>
            <p:nvSpPr>
              <p:cNvPr id="3" name="內容版面配置區 2">
                <a:extLst>
                  <a:ext uri="{FF2B5EF4-FFF2-40B4-BE49-F238E27FC236}">
                    <a16:creationId xmlns:a16="http://schemas.microsoft.com/office/drawing/2014/main" id="{A3874345-41ED-42CD-B586-CA70520A27C9}"/>
                  </a:ext>
                </a:extLst>
              </p:cNvPr>
              <p:cNvSpPr>
                <a:spLocks noGrp="1" noRot="1" noChangeAspect="1" noMove="1" noResize="1" noEditPoints="1" noAdjustHandles="1" noChangeArrowheads="1" noChangeShapeType="1" noTextEdit="1"/>
              </p:cNvSpPr>
              <p:nvPr>
                <p:ph idx="1"/>
              </p:nvPr>
            </p:nvSpPr>
            <p:spPr>
              <a:xfrm>
                <a:off x="520147" y="1530831"/>
                <a:ext cx="11496261" cy="5197959"/>
              </a:xfrm>
              <a:blipFill>
                <a:blip r:embed="rId3"/>
                <a:stretch>
                  <a:fillRect l="-795" t="-175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28675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0A2F8D36-DE1C-435E-B232-9D90D8F77971}"/>
              </a:ext>
            </a:extLst>
          </p:cNvPr>
          <p:cNvSpPr>
            <a:spLocks noGrp="1"/>
          </p:cNvSpPr>
          <p:nvPr>
            <p:ph idx="1"/>
          </p:nvPr>
        </p:nvSpPr>
        <p:spPr>
          <a:xfrm>
            <a:off x="518708" y="2525411"/>
            <a:ext cx="10442626" cy="6577960"/>
          </a:xfrm>
        </p:spPr>
        <p:txBody>
          <a:bodyPr>
            <a:normAutofit/>
          </a:bodyPr>
          <a:lstStyle/>
          <a:p>
            <a:pPr marL="0" indent="0" algn="l">
              <a:buNone/>
            </a:pPr>
            <a:r>
              <a:rPr lang="en-US" altLang="zh-TW" sz="2400" b="0" dirty="0">
                <a:effectLst/>
              </a:rPr>
              <a:t>If there exists only </a:t>
            </a:r>
            <a:r>
              <a:rPr lang="en-US" altLang="zh-TW" sz="2400" b="0" u="sng" dirty="0">
                <a:effectLst/>
              </a:rPr>
              <a:t>one effective </a:t>
            </a:r>
            <a:r>
              <a:rPr lang="en-US" altLang="zh-TW" sz="2400" b="0" dirty="0">
                <a:effectLst/>
              </a:rPr>
              <a:t>group in the solution corresponding to (E</a:t>
            </a:r>
            <a:r>
              <a:rPr lang="en-US" altLang="zh-TW" sz="2400" b="0" baseline="30000" dirty="0">
                <a:effectLst/>
              </a:rPr>
              <a:t>0</a:t>
            </a:r>
            <a:r>
              <a:rPr lang="en-US" altLang="zh-TW" sz="2400" b="0" dirty="0">
                <a:effectLst/>
              </a:rPr>
              <a:t>,D</a:t>
            </a:r>
            <a:r>
              <a:rPr lang="en-US" altLang="zh-TW" sz="2400" b="0" baseline="30000" dirty="0">
                <a:effectLst/>
              </a:rPr>
              <a:t>0</a:t>
            </a:r>
            <a:r>
              <a:rPr lang="en-US" altLang="zh-TW" sz="2400" b="0" dirty="0">
                <a:effectLst/>
              </a:rPr>
              <a:t>), then we can obtain the feasible point (E</a:t>
            </a:r>
            <a:r>
              <a:rPr lang="en-US" altLang="zh-TW" sz="2400" b="0" baseline="30000" dirty="0">
                <a:effectLst/>
              </a:rPr>
              <a:t>0</a:t>
            </a:r>
            <a:r>
              <a:rPr lang="en-US" altLang="zh-TW" sz="2400" b="0" dirty="0">
                <a:effectLst/>
              </a:rPr>
              <a:t> − </a:t>
            </a:r>
            <a:r>
              <a:rPr lang="en-US" altLang="zh-TW" sz="2400" b="0" dirty="0" err="1">
                <a:effectLst/>
              </a:rPr>
              <a:t>P</a:t>
            </a:r>
            <a:r>
              <a:rPr lang="en-US" altLang="zh-TW" sz="2400" b="0" baseline="-25000" dirty="0" err="1">
                <a:effectLst/>
              </a:rPr>
              <a:t>v</a:t>
            </a:r>
            <a:r>
              <a:rPr lang="en-US" altLang="zh-TW" sz="2400" b="0" baseline="-25000" dirty="0">
                <a:effectLst/>
              </a:rPr>
              <a:t> </a:t>
            </a:r>
            <a:r>
              <a:rPr lang="en-US" altLang="zh-TW" sz="2400" b="0" dirty="0">
                <a:effectLst/>
              </a:rPr>
              <a:t>,D</a:t>
            </a:r>
            <a:r>
              <a:rPr lang="en-US" altLang="zh-TW" sz="2400" b="0" baseline="30000" dirty="0">
                <a:effectLst/>
              </a:rPr>
              <a:t>0</a:t>
            </a:r>
            <a:r>
              <a:rPr lang="en-US" altLang="zh-TW" sz="2400" b="0" dirty="0">
                <a:effectLst/>
              </a:rPr>
              <a:t> + </a:t>
            </a:r>
            <a:r>
              <a:rPr lang="en-US" altLang="zh-TW" sz="2400" b="0" u="sng" dirty="0">
                <a:effectLst/>
              </a:rPr>
              <a:t>1</a:t>
            </a:r>
            <a:r>
              <a:rPr lang="en-US" altLang="zh-TW" sz="2400" b="0" dirty="0">
                <a:effectLst/>
              </a:rPr>
              <a:t>) with local search, without missing out any of the integer Pareto optimal points.</a:t>
            </a:r>
            <a:endParaRPr lang="en-US" altLang="zh-TW" sz="2400" dirty="0"/>
          </a:p>
          <a:p>
            <a:r>
              <a:rPr lang="en-US" altLang="zh-TW" sz="2400" b="0" dirty="0">
                <a:effectLst/>
              </a:rPr>
              <a:t> k</a:t>
            </a:r>
            <a:r>
              <a:rPr lang="en-US" altLang="zh-TW" sz="2400" b="0" baseline="-25000" dirty="0">
                <a:effectLst/>
              </a:rPr>
              <a:t>1</a:t>
            </a:r>
            <a:r>
              <a:rPr lang="en-US" altLang="zh-TW" sz="2400" b="0" u="sng" dirty="0">
                <a:effectLst/>
              </a:rPr>
              <a:t> (k</a:t>
            </a:r>
            <a:r>
              <a:rPr lang="en-US" altLang="zh-TW" sz="2400" b="0" u="sng" baseline="-25000" dirty="0">
                <a:effectLst/>
              </a:rPr>
              <a:t>1</a:t>
            </a:r>
            <a:r>
              <a:rPr lang="en-US" altLang="zh-TW" sz="2400" b="0" u="sng" dirty="0">
                <a:effectLst/>
              </a:rPr>
              <a:t> ≥ 1) effective groups </a:t>
            </a:r>
            <a:r>
              <a:rPr lang="en-US" altLang="zh-TW" sz="2400" b="0" dirty="0">
                <a:effectLst/>
              </a:rPr>
              <a:t>-&gt;obtain the feasible point (E</a:t>
            </a:r>
            <a:r>
              <a:rPr lang="en-US" altLang="zh-TW" sz="2400" b="0" baseline="30000" dirty="0">
                <a:effectLst/>
              </a:rPr>
              <a:t>0</a:t>
            </a:r>
            <a:r>
              <a:rPr lang="en-US" altLang="zh-TW" sz="2400" b="0" dirty="0">
                <a:effectLst/>
              </a:rPr>
              <a:t> − k</a:t>
            </a:r>
            <a:r>
              <a:rPr lang="en-US" altLang="zh-TW" sz="2400" b="0" baseline="-25000" dirty="0">
                <a:effectLst/>
              </a:rPr>
              <a:t>1</a:t>
            </a:r>
            <a:r>
              <a:rPr lang="en-US" altLang="zh-TW" sz="2400" b="0" dirty="0">
                <a:effectLst/>
              </a:rPr>
              <a:t>*P</a:t>
            </a:r>
            <a:r>
              <a:rPr lang="en-US" altLang="zh-TW" sz="2400" b="0" baseline="-25000" dirty="0">
                <a:effectLst/>
              </a:rPr>
              <a:t>v</a:t>
            </a:r>
            <a:r>
              <a:rPr lang="en-US" altLang="zh-TW" sz="2400" b="0" dirty="0">
                <a:effectLst/>
              </a:rPr>
              <a:t>,D</a:t>
            </a:r>
            <a:r>
              <a:rPr lang="en-US" altLang="zh-TW" sz="2400" b="0" baseline="30000" dirty="0">
                <a:effectLst/>
              </a:rPr>
              <a:t>0</a:t>
            </a:r>
            <a:r>
              <a:rPr lang="en-US" altLang="zh-TW" sz="2400" b="0" dirty="0">
                <a:effectLst/>
              </a:rPr>
              <a:t> + 1).</a:t>
            </a:r>
          </a:p>
          <a:p>
            <a:pPr algn="l"/>
            <a:endParaRPr lang="en-US" altLang="zh-TW" sz="2400" b="0" dirty="0">
              <a:effectLst/>
            </a:endParaRPr>
          </a:p>
          <a:p>
            <a:pPr algn="l"/>
            <a:endParaRPr lang="en-US" altLang="zh-TW" sz="2400" b="0" dirty="0">
              <a:effectLst/>
            </a:endParaRPr>
          </a:p>
          <a:p>
            <a:pPr marL="0" indent="0">
              <a:buNone/>
            </a:pPr>
            <a:r>
              <a:rPr lang="en-US" altLang="zh-TW" sz="2400" dirty="0"/>
              <a:t>The above local search fails when there exists no effective group in the solution. </a:t>
            </a:r>
          </a:p>
          <a:p>
            <a:pPr marL="0" indent="0">
              <a:buNone/>
            </a:pPr>
            <a:endParaRPr lang="zh-TW" altLang="en-US" sz="2400" dirty="0"/>
          </a:p>
        </p:txBody>
      </p:sp>
      <p:sp>
        <p:nvSpPr>
          <p:cNvPr id="4" name="標題 1">
            <a:extLst>
              <a:ext uri="{FF2B5EF4-FFF2-40B4-BE49-F238E27FC236}">
                <a16:creationId xmlns:a16="http://schemas.microsoft.com/office/drawing/2014/main" id="{A471084F-050D-4E04-AA94-FCFDA678DDAE}"/>
              </a:ext>
            </a:extLst>
          </p:cNvPr>
          <p:cNvSpPr>
            <a:spLocks noGrp="1"/>
          </p:cNvSpPr>
          <p:nvPr>
            <p:ph type="title"/>
          </p:nvPr>
        </p:nvSpPr>
        <p:spPr>
          <a:xfrm>
            <a:off x="924339" y="345247"/>
            <a:ext cx="9631365" cy="698362"/>
          </a:xfrm>
        </p:spPr>
        <p:txBody>
          <a:bodyPr>
            <a:normAutofit fontScale="90000"/>
          </a:bodyPr>
          <a:lstStyle/>
          <a:p>
            <a:r>
              <a:rPr lang="en-US" altLang="zh-TW" dirty="0"/>
              <a:t>Local search to enhanced </a:t>
            </a:r>
            <a:r>
              <a:rPr lang="el-GR" altLang="zh-TW" dirty="0"/>
              <a:t>ε–</a:t>
            </a:r>
            <a:r>
              <a:rPr lang="en-US" altLang="zh-TW" dirty="0"/>
              <a:t>constraint method</a:t>
            </a:r>
            <a:endParaRPr lang="zh-TW" altLang="en-US" dirty="0"/>
          </a:p>
        </p:txBody>
      </p:sp>
      <p:pic>
        <p:nvPicPr>
          <p:cNvPr id="5" name="圖片 4">
            <a:extLst>
              <a:ext uri="{FF2B5EF4-FFF2-40B4-BE49-F238E27FC236}">
                <a16:creationId xmlns:a16="http://schemas.microsoft.com/office/drawing/2014/main" id="{63B5A1AC-E71F-4C5C-943E-85A2134D9B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9704" y="1155562"/>
            <a:ext cx="4848599" cy="1172817"/>
          </a:xfrm>
          <a:prstGeom prst="rect">
            <a:avLst/>
          </a:prstGeom>
        </p:spPr>
      </p:pic>
    </p:spTree>
    <p:extLst>
      <p:ext uri="{BB962C8B-B14F-4D97-AF65-F5344CB8AC3E}">
        <p14:creationId xmlns:p14="http://schemas.microsoft.com/office/powerpoint/2010/main" val="1454430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8965585E-BA5C-4430-A5B6-94A99A116C2F}"/>
              </a:ext>
            </a:extLst>
          </p:cNvPr>
          <p:cNvSpPr>
            <a:spLocks noGrp="1"/>
          </p:cNvSpPr>
          <p:nvPr>
            <p:ph idx="1"/>
          </p:nvPr>
        </p:nvSpPr>
        <p:spPr>
          <a:xfrm>
            <a:off x="326334" y="1172818"/>
            <a:ext cx="11539331" cy="5178286"/>
          </a:xfrm>
        </p:spPr>
        <p:txBody>
          <a:bodyPr>
            <a:noAutofit/>
          </a:bodyPr>
          <a:lstStyle/>
          <a:p>
            <a:pPr algn="l"/>
            <a:endParaRPr lang="en-US" altLang="zh-TW" sz="2400" b="0" dirty="0">
              <a:solidFill>
                <a:schemeClr val="tx1"/>
              </a:solidFill>
              <a:effectLst/>
            </a:endParaRPr>
          </a:p>
          <a:p>
            <a:pPr algn="l"/>
            <a:endParaRPr lang="en-US" altLang="zh-TW" sz="2400" b="0" dirty="0">
              <a:solidFill>
                <a:schemeClr val="tx1"/>
              </a:solidFill>
              <a:effectLst/>
            </a:endParaRPr>
          </a:p>
          <a:p>
            <a:pPr marL="0" indent="0">
              <a:buNone/>
            </a:pPr>
            <a:r>
              <a:rPr lang="en-US" altLang="zh-TW" sz="2400" dirty="0">
                <a:solidFill>
                  <a:schemeClr val="tx1"/>
                </a:solidFill>
              </a:rPr>
              <a:t>We checked the point</a:t>
            </a:r>
            <a:r>
              <a:rPr lang="zh-TW" altLang="en-US" sz="2400" dirty="0">
                <a:solidFill>
                  <a:schemeClr val="tx1"/>
                </a:solidFill>
              </a:rPr>
              <a:t> </a:t>
            </a:r>
            <a:r>
              <a:rPr lang="en-US" altLang="zh-TW" sz="2400" b="0" i="0" dirty="0">
                <a:solidFill>
                  <a:schemeClr val="tx1"/>
                </a:solidFill>
                <a:effectLst/>
              </a:rPr>
              <a:t>(</a:t>
            </a:r>
            <a:r>
              <a:rPr lang="en-US" altLang="zh-TW" sz="2400" b="0" i="1" dirty="0">
                <a:solidFill>
                  <a:schemeClr val="tx1"/>
                </a:solidFill>
                <a:effectLst/>
              </a:rPr>
              <a:t>E</a:t>
            </a:r>
            <a:r>
              <a:rPr lang="en-US" altLang="zh-TW" sz="2400" b="0" i="0" baseline="30000" dirty="0">
                <a:solidFill>
                  <a:schemeClr val="tx1"/>
                </a:solidFill>
                <a:effectLst/>
              </a:rPr>
              <a:t>0</a:t>
            </a:r>
            <a:r>
              <a:rPr lang="en-US" altLang="zh-TW" sz="2400" b="0" i="0" dirty="0">
                <a:solidFill>
                  <a:schemeClr val="tx1"/>
                </a:solidFill>
                <a:effectLst/>
              </a:rPr>
              <a:t> − </a:t>
            </a:r>
            <a:r>
              <a:rPr lang="en-US" altLang="zh-TW" sz="2400" b="0" i="1" dirty="0" err="1">
                <a:solidFill>
                  <a:schemeClr val="tx1"/>
                </a:solidFill>
                <a:effectLst/>
              </a:rPr>
              <a:t>P</a:t>
            </a:r>
            <a:r>
              <a:rPr lang="en-US" altLang="zh-TW" sz="2400" b="0" i="1" baseline="-25000" dirty="0" err="1">
                <a:solidFill>
                  <a:schemeClr val="tx1"/>
                </a:solidFill>
                <a:effectLst/>
              </a:rPr>
              <a:t>v</a:t>
            </a:r>
            <a:r>
              <a:rPr lang="en-US" altLang="zh-TW" sz="2400" b="0" i="1" baseline="-25000" dirty="0">
                <a:solidFill>
                  <a:schemeClr val="tx1"/>
                </a:solidFill>
                <a:effectLst/>
              </a:rPr>
              <a:t> </a:t>
            </a:r>
            <a:r>
              <a:rPr lang="en-US" altLang="zh-TW" sz="2400" b="0" i="1" dirty="0">
                <a:solidFill>
                  <a:schemeClr val="tx1"/>
                </a:solidFill>
                <a:effectLst/>
              </a:rPr>
              <a:t>,D</a:t>
            </a:r>
            <a:r>
              <a:rPr lang="en-US" altLang="zh-TW" sz="2400" b="0" i="0" baseline="30000" dirty="0">
                <a:solidFill>
                  <a:schemeClr val="tx1"/>
                </a:solidFill>
                <a:effectLst/>
              </a:rPr>
              <a:t>0</a:t>
            </a:r>
            <a:r>
              <a:rPr lang="en-US" altLang="zh-TW" sz="2400" b="0" i="0" dirty="0">
                <a:solidFill>
                  <a:schemeClr val="tx1"/>
                </a:solidFill>
                <a:effectLst/>
              </a:rPr>
              <a:t> + </a:t>
            </a:r>
            <a:r>
              <a:rPr lang="en-US" altLang="zh-TW" sz="2400" b="0" i="1" dirty="0">
                <a:solidFill>
                  <a:schemeClr val="tx1"/>
                </a:solidFill>
                <a:effectLst/>
              </a:rPr>
              <a:t>k</a:t>
            </a:r>
            <a:r>
              <a:rPr lang="en-US" altLang="zh-TW" sz="2400" b="0" i="0" baseline="-25000" dirty="0">
                <a:solidFill>
                  <a:schemeClr val="tx1"/>
                </a:solidFill>
                <a:effectLst/>
              </a:rPr>
              <a:t>2</a:t>
            </a:r>
            <a:r>
              <a:rPr lang="en-US" altLang="zh-TW" sz="2400" b="0" i="0" dirty="0">
                <a:solidFill>
                  <a:schemeClr val="tx1"/>
                </a:solidFill>
                <a:effectLst/>
              </a:rPr>
              <a:t>), where </a:t>
            </a:r>
            <a:r>
              <a:rPr lang="en-US" altLang="zh-TW" sz="2400" dirty="0">
                <a:solidFill>
                  <a:schemeClr val="tx1"/>
                </a:solidFill>
              </a:rPr>
              <a:t>k2 is the time units by which the chosen blocked group has been postponed. </a:t>
            </a:r>
            <a:r>
              <a:rPr lang="en-US" altLang="zh-TW" sz="2400" b="0" i="0" dirty="0">
                <a:solidFill>
                  <a:schemeClr val="tx1"/>
                </a:solidFill>
                <a:effectLst/>
              </a:rPr>
              <a:t>(</a:t>
            </a:r>
            <a:r>
              <a:rPr lang="en-US" altLang="zh-TW" sz="2400" b="0" i="1" dirty="0">
                <a:solidFill>
                  <a:schemeClr val="tx1"/>
                </a:solidFill>
                <a:effectLst/>
              </a:rPr>
              <a:t>E</a:t>
            </a:r>
            <a:r>
              <a:rPr lang="en-US" altLang="zh-TW" sz="2400" b="0" i="0" baseline="30000" dirty="0">
                <a:solidFill>
                  <a:schemeClr val="tx1"/>
                </a:solidFill>
                <a:effectLst/>
              </a:rPr>
              <a:t>0</a:t>
            </a:r>
            <a:r>
              <a:rPr lang="en-US" altLang="zh-TW" sz="2400" b="0" i="0" dirty="0">
                <a:solidFill>
                  <a:schemeClr val="tx1"/>
                </a:solidFill>
                <a:effectLst/>
              </a:rPr>
              <a:t> − </a:t>
            </a:r>
            <a:r>
              <a:rPr lang="en-US" altLang="zh-TW" sz="2400" b="0" i="1" dirty="0" err="1">
                <a:solidFill>
                  <a:schemeClr val="tx1"/>
                </a:solidFill>
                <a:effectLst/>
              </a:rPr>
              <a:t>P</a:t>
            </a:r>
            <a:r>
              <a:rPr lang="en-US" altLang="zh-TW" sz="2400" b="0" i="1" baseline="-25000" dirty="0" err="1">
                <a:solidFill>
                  <a:schemeClr val="tx1"/>
                </a:solidFill>
                <a:effectLst/>
              </a:rPr>
              <a:t>v</a:t>
            </a:r>
            <a:r>
              <a:rPr lang="en-US" altLang="zh-TW" sz="2400" b="0" i="1" baseline="-25000" dirty="0">
                <a:solidFill>
                  <a:schemeClr val="tx1"/>
                </a:solidFill>
                <a:effectLst/>
              </a:rPr>
              <a:t> </a:t>
            </a:r>
            <a:r>
              <a:rPr lang="en-US" altLang="zh-TW" sz="2400" b="0" i="1" dirty="0">
                <a:solidFill>
                  <a:schemeClr val="tx1"/>
                </a:solidFill>
                <a:effectLst/>
              </a:rPr>
              <a:t>,D</a:t>
            </a:r>
            <a:r>
              <a:rPr lang="en-US" altLang="zh-TW" sz="2400" b="0" i="0" dirty="0">
                <a:solidFill>
                  <a:schemeClr val="tx1"/>
                </a:solidFill>
                <a:effectLst/>
              </a:rPr>
              <a:t>′(</a:t>
            </a:r>
            <a:r>
              <a:rPr lang="en-US" altLang="zh-TW" sz="2400" b="0" i="1" dirty="0">
                <a:solidFill>
                  <a:schemeClr val="tx1"/>
                </a:solidFill>
                <a:effectLst/>
              </a:rPr>
              <a:t>E</a:t>
            </a:r>
            <a:r>
              <a:rPr lang="en-US" altLang="zh-TW" sz="2400" b="0" i="0" baseline="30000" dirty="0">
                <a:solidFill>
                  <a:schemeClr val="tx1"/>
                </a:solidFill>
                <a:effectLst/>
              </a:rPr>
              <a:t>0</a:t>
            </a:r>
            <a:r>
              <a:rPr lang="en-US" altLang="zh-TW" sz="2400" b="0" i="0" dirty="0">
                <a:solidFill>
                  <a:schemeClr val="tx1"/>
                </a:solidFill>
                <a:effectLst/>
              </a:rPr>
              <a:t> − </a:t>
            </a:r>
            <a:r>
              <a:rPr lang="en-US" altLang="zh-TW" sz="2400" b="0" i="1" dirty="0" err="1">
                <a:solidFill>
                  <a:schemeClr val="tx1"/>
                </a:solidFill>
                <a:effectLst/>
              </a:rPr>
              <a:t>P</a:t>
            </a:r>
            <a:r>
              <a:rPr lang="en-US" altLang="zh-TW" sz="2400" b="0" i="1" baseline="-25000" dirty="0" err="1">
                <a:solidFill>
                  <a:schemeClr val="tx1"/>
                </a:solidFill>
                <a:effectLst/>
              </a:rPr>
              <a:t>v</a:t>
            </a:r>
            <a:r>
              <a:rPr lang="en-US" altLang="zh-TW" sz="2400" b="0" i="0" dirty="0">
                <a:solidFill>
                  <a:schemeClr val="tx1"/>
                </a:solidFill>
                <a:effectLst/>
              </a:rPr>
              <a:t>)) is the next Pareto optimal point.</a:t>
            </a:r>
          </a:p>
          <a:p>
            <a:pPr marL="0" indent="0">
              <a:buNone/>
            </a:pPr>
            <a:endParaRPr lang="en-US" altLang="zh-TW" sz="2400" b="0" i="0" dirty="0">
              <a:solidFill>
                <a:schemeClr val="tx1"/>
              </a:solidFill>
              <a:effectLst/>
            </a:endParaRPr>
          </a:p>
          <a:p>
            <a:pPr marL="0" indent="0">
              <a:buNone/>
            </a:pPr>
            <a:r>
              <a:rPr lang="en-US" altLang="zh-TW" sz="2400" b="0" dirty="0">
                <a:solidFill>
                  <a:schemeClr val="tx1"/>
                </a:solidFill>
                <a:effectLst/>
              </a:rPr>
              <a:t> If </a:t>
            </a:r>
            <a:r>
              <a:rPr lang="en-US" altLang="zh-TW" sz="2400" b="0" u="sng" dirty="0">
                <a:solidFill>
                  <a:schemeClr val="tx1"/>
                </a:solidFill>
                <a:effectLst/>
              </a:rPr>
              <a:t>no effective group</a:t>
            </a:r>
            <a:r>
              <a:rPr lang="en-US" altLang="zh-TW" sz="2400" b="0" dirty="0">
                <a:solidFill>
                  <a:schemeClr val="tx1"/>
                </a:solidFill>
                <a:effectLst/>
              </a:rPr>
              <a:t>, local search will postpone the only blocked group and </a:t>
            </a:r>
            <a:r>
              <a:rPr lang="en-US" altLang="zh-TW" sz="2400" b="0" u="sng" dirty="0">
                <a:solidFill>
                  <a:schemeClr val="tx1"/>
                </a:solidFill>
                <a:effectLst/>
              </a:rPr>
              <a:t> the job with maximum tardiness </a:t>
            </a:r>
            <a:r>
              <a:rPr lang="en-US" altLang="zh-TW" sz="2400" b="0" dirty="0">
                <a:solidFill>
                  <a:schemeClr val="tx1"/>
                </a:solidFill>
                <a:effectLst/>
              </a:rPr>
              <a:t>must lie in it</a:t>
            </a:r>
            <a:r>
              <a:rPr lang="en-US" altLang="zh-TW" sz="2400" dirty="0"/>
              <a:t>.</a:t>
            </a:r>
            <a:endParaRPr lang="en-US" altLang="zh-TW" sz="2400" b="0" dirty="0">
              <a:solidFill>
                <a:schemeClr val="tx1"/>
              </a:solidFill>
              <a:effectLst/>
            </a:endParaRPr>
          </a:p>
          <a:p>
            <a:pPr marL="0" indent="0">
              <a:buNone/>
            </a:pPr>
            <a:endParaRPr lang="zh-TW" altLang="en-US" sz="2400" dirty="0">
              <a:solidFill>
                <a:schemeClr val="tx1"/>
              </a:solidFill>
            </a:endParaRPr>
          </a:p>
          <a:p>
            <a:pPr algn="l"/>
            <a:endParaRPr lang="en-US" altLang="zh-TW" sz="2400" dirty="0">
              <a:solidFill>
                <a:schemeClr val="tx1"/>
              </a:solidFill>
            </a:endParaRPr>
          </a:p>
          <a:p>
            <a:endParaRPr lang="zh-TW" altLang="en-US" sz="2400" dirty="0">
              <a:solidFill>
                <a:schemeClr val="tx1"/>
              </a:solidFill>
            </a:endParaRPr>
          </a:p>
        </p:txBody>
      </p:sp>
      <p:pic>
        <p:nvPicPr>
          <p:cNvPr id="4" name="圖片 3">
            <a:extLst>
              <a:ext uri="{FF2B5EF4-FFF2-40B4-BE49-F238E27FC236}">
                <a16:creationId xmlns:a16="http://schemas.microsoft.com/office/drawing/2014/main" id="{352CA071-C378-42A0-B94D-F0A3623DD1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9661" y="171247"/>
            <a:ext cx="3972339" cy="923364"/>
          </a:xfrm>
          <a:prstGeom prst="rect">
            <a:avLst/>
          </a:prstGeom>
        </p:spPr>
      </p:pic>
    </p:spTree>
    <p:extLst>
      <p:ext uri="{BB962C8B-B14F-4D97-AF65-F5344CB8AC3E}">
        <p14:creationId xmlns:p14="http://schemas.microsoft.com/office/powerpoint/2010/main" val="2007371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E43AEF-C8F2-4EC3-9455-5B810ADADE49}"/>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5B0CAB24-373B-482E-A9C9-228B4E97D838}"/>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92FA596A-D2FD-4CA5-A773-2D5C37210C80}"/>
              </a:ext>
            </a:extLst>
          </p:cNvPr>
          <p:cNvPicPr>
            <a:picLocks noChangeAspect="1"/>
          </p:cNvPicPr>
          <p:nvPr/>
        </p:nvPicPr>
        <p:blipFill>
          <a:blip r:embed="rId3"/>
          <a:stretch>
            <a:fillRect/>
          </a:stretch>
        </p:blipFill>
        <p:spPr>
          <a:xfrm>
            <a:off x="1912595" y="133350"/>
            <a:ext cx="6657975" cy="6591300"/>
          </a:xfrm>
          <a:prstGeom prst="rect">
            <a:avLst/>
          </a:prstGeom>
        </p:spPr>
      </p:pic>
    </p:spTree>
    <p:extLst>
      <p:ext uri="{BB962C8B-B14F-4D97-AF65-F5344CB8AC3E}">
        <p14:creationId xmlns:p14="http://schemas.microsoft.com/office/powerpoint/2010/main" val="471469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4FEA5C-74F3-4E0B-A806-80DCDD2AC651}"/>
              </a:ext>
            </a:extLst>
          </p:cNvPr>
          <p:cNvSpPr>
            <a:spLocks noGrp="1"/>
          </p:cNvSpPr>
          <p:nvPr>
            <p:ph type="title"/>
          </p:nvPr>
        </p:nvSpPr>
        <p:spPr>
          <a:xfrm>
            <a:off x="271669" y="258418"/>
            <a:ext cx="12192000" cy="1521723"/>
          </a:xfrm>
        </p:spPr>
        <p:txBody>
          <a:bodyPr>
            <a:normAutofit fontScale="90000"/>
          </a:bodyPr>
          <a:lstStyle/>
          <a:p>
            <a:r>
              <a:rPr lang="en-US" altLang="zh-TW" b="0" i="0" dirty="0">
                <a:effectLst/>
              </a:rPr>
              <a:t>Dynamic preprocessing technique and valid inequalities</a:t>
            </a:r>
            <a:br>
              <a:rPr lang="en-US" altLang="zh-TW" b="0" i="0" dirty="0">
                <a:solidFill>
                  <a:srgbClr val="505050"/>
                </a:solidFill>
                <a:effectLst/>
                <a:latin typeface="NexusSerif"/>
              </a:rPr>
            </a:b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D2F28A5A-0EDF-44DF-9DC2-B8948AC275BA}"/>
                  </a:ext>
                </a:extLst>
              </p:cNvPr>
              <p:cNvSpPr>
                <a:spLocks noGrp="1"/>
              </p:cNvSpPr>
              <p:nvPr>
                <p:ph idx="1"/>
              </p:nvPr>
            </p:nvSpPr>
            <p:spPr>
              <a:xfrm>
                <a:off x="213916" y="1189520"/>
                <a:ext cx="11764168" cy="5260975"/>
              </a:xfrm>
            </p:spPr>
            <p:txBody>
              <a:bodyPr>
                <a:normAutofit/>
              </a:bodyPr>
              <a:lstStyle/>
              <a:p>
                <a:pPr marL="0" indent="0">
                  <a:buNone/>
                </a:pPr>
                <a:r>
                  <a:rPr lang="en-US" altLang="zh-TW" sz="2400" dirty="0"/>
                  <a:t>In MILP model the numbers </a:t>
                </a:r>
                <a:r>
                  <a:rPr lang="en-US" altLang="zh-TW" sz="2400" u="sng" dirty="0"/>
                  <a:t>of binary variable will affect the computation time</a:t>
                </a:r>
                <a:r>
                  <a:rPr lang="en-US" altLang="zh-TW" sz="2400" dirty="0"/>
                  <a:t>, so why don’t we predetermine the value of some binary variables.</a:t>
                </a:r>
              </a:p>
              <a:p>
                <a:pPr marL="0" indent="0">
                  <a:buNone/>
                </a:pPr>
                <a:endParaRPr lang="en-US" altLang="zh-TW" sz="2400" dirty="0">
                  <a:solidFill>
                    <a:schemeClr val="tx1"/>
                  </a:solidFill>
                  <a:effectLst/>
                </a:endParaRPr>
              </a:p>
              <a:p>
                <a:pPr algn="l"/>
                <a:r>
                  <a:rPr lang="en-US" altLang="zh-TW" sz="2400" b="0" u="sng" dirty="0">
                    <a:solidFill>
                      <a:schemeClr val="tx1"/>
                    </a:solidFill>
                    <a:effectLst/>
                  </a:rPr>
                  <a:t>Given maximum tardiness D*</a:t>
                </a:r>
                <a:r>
                  <a:rPr lang="en-US" altLang="zh-TW" sz="2400" b="0" dirty="0">
                    <a:solidFill>
                      <a:schemeClr val="tx1"/>
                    </a:solidFill>
                    <a:effectLst/>
                  </a:rPr>
                  <a:t>, for any pair of jobs </a:t>
                </a:r>
                <a:r>
                  <a:rPr lang="en-US" altLang="zh-TW" sz="2400" b="0" dirty="0" err="1">
                    <a:solidFill>
                      <a:schemeClr val="tx1"/>
                    </a:solidFill>
                    <a:effectLst/>
                  </a:rPr>
                  <a:t>i</a:t>
                </a:r>
                <a:r>
                  <a:rPr lang="en-US" altLang="zh-TW" sz="2400" b="0" dirty="0">
                    <a:solidFill>
                      <a:schemeClr val="tx1"/>
                    </a:solidFill>
                    <a:effectLst/>
                  </a:rPr>
                  <a:t> and j, if </a:t>
                </a:r>
                <a:r>
                  <a:rPr lang="en-US" altLang="zh-TW" sz="2400" b="0" dirty="0" err="1">
                    <a:solidFill>
                      <a:schemeClr val="tx1"/>
                    </a:solidFill>
                    <a:effectLst/>
                  </a:rPr>
                  <a:t>r</a:t>
                </a:r>
                <a:r>
                  <a:rPr lang="en-US" altLang="zh-TW" sz="2400" b="0" baseline="-25000" dirty="0" err="1">
                    <a:solidFill>
                      <a:schemeClr val="tx1"/>
                    </a:solidFill>
                    <a:effectLst/>
                  </a:rPr>
                  <a:t>i</a:t>
                </a:r>
                <a:r>
                  <a:rPr lang="en-US" altLang="zh-TW" sz="2400" b="0" dirty="0">
                    <a:solidFill>
                      <a:schemeClr val="tx1"/>
                    </a:solidFill>
                    <a:effectLst/>
                  </a:rPr>
                  <a:t> ≥ </a:t>
                </a:r>
                <a:r>
                  <a:rPr lang="en-US" altLang="zh-TW" sz="2400" b="0" dirty="0" err="1">
                    <a:solidFill>
                      <a:schemeClr val="tx1"/>
                    </a:solidFill>
                    <a:effectLst/>
                  </a:rPr>
                  <a:t>d</a:t>
                </a:r>
                <a:r>
                  <a:rPr lang="en-US" altLang="zh-TW" sz="2400" b="0" baseline="-25000" dirty="0" err="1">
                    <a:solidFill>
                      <a:schemeClr val="tx1"/>
                    </a:solidFill>
                    <a:effectLst/>
                  </a:rPr>
                  <a:t>j</a:t>
                </a:r>
                <a:r>
                  <a:rPr lang="en-US" altLang="zh-TW" sz="2400" b="0" dirty="0">
                    <a:solidFill>
                      <a:schemeClr val="tx1"/>
                    </a:solidFill>
                    <a:effectLst/>
                  </a:rPr>
                  <a:t> + D* − </a:t>
                </a:r>
                <a:r>
                  <a:rPr lang="en-US" altLang="zh-TW" sz="2400" b="0" dirty="0" err="1">
                    <a:solidFill>
                      <a:schemeClr val="tx1"/>
                    </a:solidFill>
                    <a:effectLst/>
                  </a:rPr>
                  <a:t>t</a:t>
                </a:r>
                <a:r>
                  <a:rPr lang="en-US" altLang="zh-TW" sz="2400" b="0" baseline="-25000" dirty="0" err="1">
                    <a:solidFill>
                      <a:schemeClr val="tx1"/>
                    </a:solidFill>
                    <a:effectLst/>
                  </a:rPr>
                  <a:t>j</a:t>
                </a:r>
                <a:r>
                  <a:rPr lang="en-US" altLang="zh-TW" sz="2400" b="0" dirty="0">
                    <a:solidFill>
                      <a:schemeClr val="tx1"/>
                    </a:solidFill>
                    <a:effectLst/>
                  </a:rPr>
                  <a:t> holds.</a:t>
                </a:r>
                <a:endParaRPr lang="en-US" altLang="zh-TW" sz="2400" dirty="0">
                  <a:solidFill>
                    <a:srgbClr val="2E2E2E"/>
                  </a:solidFill>
                </a:endParaRPr>
              </a:p>
              <a:p>
                <a:pPr marL="0" indent="0">
                  <a:buNone/>
                </a:pPr>
                <a:r>
                  <a:rPr lang="en-US" altLang="zh-TW" sz="2400" dirty="0"/>
                  <a:t>When the D* value is smaller, each time minus D* little by little, the more formulations will accelerate the algorithm and then </a:t>
                </a:r>
                <a:r>
                  <a:rPr lang="en-US" altLang="zh-TW" sz="2400" b="0" i="0" dirty="0">
                    <a:effectLst/>
                  </a:rPr>
                  <a:t>preprocessing can be the most powerful.</a:t>
                </a:r>
                <a:endParaRPr lang="en-US" altLang="zh-TW" sz="2400" dirty="0"/>
              </a:p>
              <a:p>
                <a:pPr marL="0" indent="0">
                  <a:buNone/>
                </a:pPr>
                <a:endParaRPr lang="en-US" altLang="zh-TW" sz="2400" dirty="0"/>
              </a:p>
              <a:p>
                <a:r>
                  <a:rPr lang="en-US" altLang="zh-TW" sz="2400" b="0" dirty="0">
                    <a:solidFill>
                      <a:schemeClr val="tx1"/>
                    </a:solidFill>
                    <a:effectLst/>
                  </a:rPr>
                  <a:t>At most</a:t>
                </a:r>
                <a:r>
                  <a:rPr lang="en-US" altLang="zh-TW" sz="2400" dirty="0">
                    <a:solidFill>
                      <a:schemeClr val="tx1"/>
                    </a:solidFill>
                  </a:rPr>
                  <a:t> </a:t>
                </a:r>
                <a14:m>
                  <m:oMath xmlns:m="http://schemas.openxmlformats.org/officeDocument/2006/math">
                    <m:f>
                      <m:fPr>
                        <m:ctrlPr>
                          <a:rPr lang="en-US" altLang="zh-TW" sz="2400" i="1" smtClean="0">
                            <a:solidFill>
                              <a:schemeClr val="tx1"/>
                            </a:solidFill>
                            <a:latin typeface="Cambria Math" panose="02040503050406030204" pitchFamily="18" charset="0"/>
                          </a:rPr>
                        </m:ctrlPr>
                      </m:fPr>
                      <m:num>
                        <m:sSup>
                          <m:sSupPr>
                            <m:ctrlPr>
                              <a:rPr lang="en-US" altLang="zh-TW" sz="2400" i="1" smtClean="0">
                                <a:solidFill>
                                  <a:schemeClr val="tx1"/>
                                </a:solidFill>
                                <a:latin typeface="Cambria Math" panose="02040503050406030204" pitchFamily="18" charset="0"/>
                              </a:rPr>
                            </m:ctrlPr>
                          </m:sSupPr>
                          <m:e>
                            <m:r>
                              <m:rPr>
                                <m:sty m:val="p"/>
                              </m:rPr>
                              <a:rPr lang="en-US" altLang="zh-TW" sz="2400" b="0" i="0" smtClean="0">
                                <a:solidFill>
                                  <a:schemeClr val="tx1"/>
                                </a:solidFill>
                                <a:latin typeface="Cambria Math" panose="02040503050406030204" pitchFamily="18" charset="0"/>
                              </a:rPr>
                              <m:t>E</m:t>
                            </m:r>
                          </m:e>
                          <m:sup>
                            <m:r>
                              <a:rPr lang="en-US" altLang="zh-TW" sz="2400" b="0" i="0" smtClean="0">
                                <a:solidFill>
                                  <a:schemeClr val="tx1"/>
                                </a:solidFill>
                                <a:latin typeface="Cambria Math" panose="02040503050406030204" pitchFamily="18" charset="0"/>
                              </a:rPr>
                              <m:t>∗</m:t>
                            </m:r>
                          </m:sup>
                        </m:sSup>
                      </m:num>
                      <m:den>
                        <m:sSub>
                          <m:sSubPr>
                            <m:ctrlPr>
                              <a:rPr lang="en-US" altLang="zh-TW" sz="2400" i="1" smtClean="0">
                                <a:solidFill>
                                  <a:schemeClr val="tx1"/>
                                </a:solidFill>
                                <a:latin typeface="Cambria Math" panose="02040503050406030204" pitchFamily="18" charset="0"/>
                              </a:rPr>
                            </m:ctrlPr>
                          </m:sSubPr>
                          <m:e>
                            <m:r>
                              <m:rPr>
                                <m:sty m:val="p"/>
                              </m:rPr>
                              <a:rPr lang="en-US" altLang="zh-TW" sz="2400" b="0" i="0" smtClean="0">
                                <a:solidFill>
                                  <a:schemeClr val="tx1"/>
                                </a:solidFill>
                                <a:latin typeface="Cambria Math" panose="02040503050406030204" pitchFamily="18" charset="0"/>
                              </a:rPr>
                              <m:t>E</m:t>
                            </m:r>
                          </m:e>
                          <m:sub>
                            <m:r>
                              <m:rPr>
                                <m:sty m:val="p"/>
                              </m:rPr>
                              <a:rPr lang="en-US" altLang="zh-TW" sz="2400" b="0" i="0" smtClean="0">
                                <a:solidFill>
                                  <a:schemeClr val="tx1"/>
                                </a:solidFill>
                                <a:latin typeface="Cambria Math" panose="02040503050406030204" pitchFamily="18" charset="0"/>
                              </a:rPr>
                              <m:t>s</m:t>
                            </m:r>
                          </m:sub>
                        </m:sSub>
                      </m:den>
                    </m:f>
                  </m:oMath>
                </a14:m>
                <a:r>
                  <a:rPr lang="en-US" altLang="zh-TW" sz="2400" b="0" dirty="0">
                    <a:solidFill>
                      <a:schemeClr val="tx1"/>
                    </a:solidFill>
                    <a:effectLst/>
                  </a:rPr>
                  <a:t> turn-off-on operations exist in the solution with the total energy consumption being </a:t>
                </a:r>
                <a:r>
                  <a:rPr lang="en-US" altLang="zh-TW" sz="2400" b="0" u="sng" dirty="0">
                    <a:solidFill>
                      <a:schemeClr val="tx1"/>
                    </a:solidFill>
                    <a:effectLst/>
                  </a:rPr>
                  <a:t>E* turns into </a:t>
                </a:r>
                <a:r>
                  <a:rPr lang="en-US" altLang="zh-TW" sz="2400" i="1" u="sng" dirty="0"/>
                  <a:t>E</a:t>
                </a:r>
                <a:r>
                  <a:rPr lang="en-US" altLang="zh-TW" sz="2400" u="sng" baseline="30000" dirty="0"/>
                  <a:t>0</a:t>
                </a:r>
                <a:r>
                  <a:rPr lang="en-US" altLang="zh-TW" sz="2400" u="sng" dirty="0"/>
                  <a:t> − </a:t>
                </a:r>
                <a:r>
                  <a:rPr lang="en-US" altLang="zh-TW" sz="2400" i="1" u="sng" dirty="0"/>
                  <a:t>k</a:t>
                </a:r>
                <a:r>
                  <a:rPr lang="en-US" altLang="zh-TW" sz="2400" u="sng" baseline="-25000" dirty="0"/>
                  <a:t>1</a:t>
                </a:r>
                <a:r>
                  <a:rPr lang="en-US" altLang="zh-TW" sz="2400" u="sng" dirty="0"/>
                  <a:t>*</a:t>
                </a:r>
                <a:r>
                  <a:rPr lang="en-US" altLang="zh-TW" sz="2400" i="1" u="sng" dirty="0" err="1"/>
                  <a:t>P</a:t>
                </a:r>
                <a:r>
                  <a:rPr lang="en-US" altLang="zh-TW" sz="2400" i="1" u="sng" baseline="-25000" dirty="0" err="1"/>
                  <a:t>v</a:t>
                </a:r>
                <a:r>
                  <a:rPr lang="en-US" altLang="zh-TW" sz="2400" b="0" dirty="0">
                    <a:solidFill>
                      <a:schemeClr val="tx1"/>
                    </a:solidFill>
                    <a:effectLst/>
                  </a:rPr>
                  <a:t>.</a:t>
                </a:r>
                <a:endParaRPr lang="en-US" altLang="zh-TW" sz="2400" dirty="0">
                  <a:solidFill>
                    <a:schemeClr val="tx1"/>
                  </a:solidFill>
                </a:endParaRPr>
              </a:p>
              <a:p>
                <a:pPr marL="0" indent="0">
                  <a:buNone/>
                </a:pPr>
                <a14:m>
                  <m:oMath xmlns:m="http://schemas.openxmlformats.org/officeDocument/2006/math">
                    <m:nary>
                      <m:naryPr>
                        <m:chr m:val="∑"/>
                        <m:limLoc m:val="subSup"/>
                        <m:ctrlPr>
                          <a:rPr lang="en-US" altLang="zh-TW" sz="2400" i="1" smtClean="0">
                            <a:solidFill>
                              <a:schemeClr val="tx1"/>
                            </a:solidFill>
                            <a:latin typeface="Cambria Math" panose="02040503050406030204" pitchFamily="18" charset="0"/>
                          </a:rPr>
                        </m:ctrlPr>
                      </m:naryPr>
                      <m:sub>
                        <m:r>
                          <m:rPr>
                            <m:brk m:alnAt="25"/>
                          </m:rPr>
                          <a:rPr lang="en-US" altLang="zh-TW" sz="2400" b="0" i="1" smtClean="0">
                            <a:solidFill>
                              <a:schemeClr val="tx1"/>
                            </a:solidFill>
                            <a:latin typeface="Cambria Math" panose="02040503050406030204" pitchFamily="18" charset="0"/>
                          </a:rPr>
                          <m:t>𝑘</m:t>
                        </m:r>
                        <m:r>
                          <a:rPr lang="en-US" altLang="zh-TW" sz="2400" b="0" i="1" smtClean="0">
                            <a:solidFill>
                              <a:schemeClr val="tx1"/>
                            </a:solidFill>
                            <a:latin typeface="Cambria Math" panose="02040503050406030204" pitchFamily="18" charset="0"/>
                          </a:rPr>
                          <m:t>=1</m:t>
                        </m:r>
                      </m:sub>
                      <m:sup>
                        <m:r>
                          <a:rPr lang="en-US" altLang="zh-TW" sz="2400" b="0" i="1" smtClean="0">
                            <a:solidFill>
                              <a:schemeClr val="tx1"/>
                            </a:solidFill>
                            <a:latin typeface="Cambria Math" panose="02040503050406030204" pitchFamily="18" charset="0"/>
                          </a:rPr>
                          <m:t>𝑛</m:t>
                        </m:r>
                        <m:r>
                          <a:rPr lang="en-US" altLang="zh-TW" sz="2400" b="0" i="1" smtClean="0">
                            <a:solidFill>
                              <a:schemeClr val="tx1"/>
                            </a:solidFill>
                            <a:latin typeface="Cambria Math" panose="02040503050406030204" pitchFamily="18" charset="0"/>
                          </a:rPr>
                          <m:t>−1</m:t>
                        </m:r>
                      </m:sup>
                      <m:e>
                        <m:sSub>
                          <m:sSubPr>
                            <m:ctrlPr>
                              <a:rPr lang="en-US" altLang="zh-TW" sz="2400" i="1" smtClean="0">
                                <a:solidFill>
                                  <a:schemeClr val="tx1"/>
                                </a:solidFill>
                                <a:latin typeface="Cambria Math" panose="02040503050406030204" pitchFamily="18" charset="0"/>
                              </a:rPr>
                            </m:ctrlPr>
                          </m:sSubPr>
                          <m:e>
                            <m:r>
                              <a:rPr lang="en-US" altLang="zh-TW" sz="2400" b="0" i="1" smtClean="0">
                                <a:solidFill>
                                  <a:schemeClr val="tx1"/>
                                </a:solidFill>
                                <a:latin typeface="Cambria Math" panose="02040503050406030204" pitchFamily="18" charset="0"/>
                              </a:rPr>
                              <m:t>𝑦</m:t>
                            </m:r>
                          </m:e>
                          <m:sub>
                            <m:r>
                              <a:rPr lang="en-US" altLang="zh-TW" sz="2400" b="0" i="1" smtClean="0">
                                <a:solidFill>
                                  <a:schemeClr val="tx1"/>
                                </a:solidFill>
                                <a:latin typeface="Cambria Math" panose="02040503050406030204" pitchFamily="18" charset="0"/>
                              </a:rPr>
                              <m:t>𝑘</m:t>
                            </m:r>
                          </m:sub>
                        </m:sSub>
                      </m:e>
                    </m:nary>
                  </m:oMath>
                </a14:m>
                <a:r>
                  <a:rPr lang="en-US" altLang="zh-TW" sz="2400" dirty="0">
                    <a:solidFill>
                      <a:schemeClr val="tx1"/>
                    </a:solidFill>
                  </a:rPr>
                  <a:t> </a:t>
                </a:r>
                <a14:m>
                  <m:oMath xmlns:m="http://schemas.openxmlformats.org/officeDocument/2006/math">
                    <m:r>
                      <a:rPr lang="en-US" altLang="zh-TW" sz="2400" i="1" dirty="0" smtClean="0">
                        <a:solidFill>
                          <a:schemeClr val="tx1"/>
                        </a:solidFill>
                        <a:latin typeface="Cambria Math" panose="02040503050406030204" pitchFamily="18" charset="0"/>
                        <a:ea typeface="Cambria Math" panose="02040503050406030204" pitchFamily="18" charset="0"/>
                      </a:rPr>
                      <m:t>≤</m:t>
                    </m:r>
                    <m:r>
                      <a:rPr lang="en-US" altLang="zh-TW" sz="2400" b="0" i="1" dirty="0" smtClean="0">
                        <a:solidFill>
                          <a:schemeClr val="tx1"/>
                        </a:solidFill>
                        <a:latin typeface="Cambria Math" panose="02040503050406030204" pitchFamily="18" charset="0"/>
                        <a:ea typeface="Cambria Math" panose="02040503050406030204" pitchFamily="18" charset="0"/>
                      </a:rPr>
                      <m:t> </m:t>
                    </m:r>
                    <m:f>
                      <m:fPr>
                        <m:ctrlPr>
                          <a:rPr lang="en-US" altLang="zh-TW" sz="2400" b="0" i="1" dirty="0" smtClean="0">
                            <a:solidFill>
                              <a:schemeClr val="tx1"/>
                            </a:solidFill>
                            <a:latin typeface="Cambria Math" panose="02040503050406030204" pitchFamily="18" charset="0"/>
                            <a:ea typeface="Cambria Math" panose="02040503050406030204" pitchFamily="18" charset="0"/>
                          </a:rPr>
                        </m:ctrlPr>
                      </m:fPr>
                      <m:num>
                        <m:r>
                          <m:rPr>
                            <m:nor/>
                          </m:rPr>
                          <a:rPr lang="en-US" altLang="zh-TW" sz="2400" i="1" dirty="0">
                            <a:solidFill>
                              <a:schemeClr val="tx1"/>
                            </a:solidFill>
                          </a:rPr>
                          <m:t>E</m:t>
                        </m:r>
                        <m:r>
                          <m:rPr>
                            <m:nor/>
                          </m:rPr>
                          <a:rPr lang="en-US" altLang="zh-TW" sz="2400" dirty="0">
                            <a:solidFill>
                              <a:schemeClr val="tx1"/>
                            </a:solidFill>
                          </a:rPr>
                          <m:t>∗</m:t>
                        </m:r>
                      </m:num>
                      <m:den>
                        <m:sSub>
                          <m:sSubPr>
                            <m:ctrlPr>
                              <a:rPr lang="en-US" altLang="zh-TW" sz="2400" b="0" i="1" dirty="0" smtClean="0">
                                <a:solidFill>
                                  <a:schemeClr val="tx1"/>
                                </a:solidFill>
                                <a:latin typeface="Cambria Math" panose="02040503050406030204" pitchFamily="18" charset="0"/>
                                <a:ea typeface="Cambria Math" panose="02040503050406030204" pitchFamily="18" charset="0"/>
                              </a:rPr>
                            </m:ctrlPr>
                          </m:sSubPr>
                          <m:e>
                            <m:r>
                              <a:rPr lang="en-US" altLang="zh-TW" sz="2400" b="0" i="1" dirty="0" smtClean="0">
                                <a:solidFill>
                                  <a:schemeClr val="tx1"/>
                                </a:solidFill>
                                <a:latin typeface="Cambria Math" panose="02040503050406030204" pitchFamily="18" charset="0"/>
                                <a:ea typeface="Cambria Math" panose="02040503050406030204" pitchFamily="18" charset="0"/>
                              </a:rPr>
                              <m:t>𝐸</m:t>
                            </m:r>
                          </m:e>
                          <m:sub>
                            <m:r>
                              <a:rPr lang="en-US" altLang="zh-TW" sz="2400" b="0" i="1" dirty="0" smtClean="0">
                                <a:solidFill>
                                  <a:schemeClr val="tx1"/>
                                </a:solidFill>
                                <a:latin typeface="Cambria Math" panose="02040503050406030204" pitchFamily="18" charset="0"/>
                                <a:ea typeface="Cambria Math" panose="02040503050406030204" pitchFamily="18" charset="0"/>
                              </a:rPr>
                              <m:t>𝑠</m:t>
                            </m:r>
                          </m:sub>
                        </m:sSub>
                      </m:den>
                    </m:f>
                  </m:oMath>
                </a14:m>
                <a:r>
                  <a:rPr lang="en-US" altLang="zh-TW" sz="2400" dirty="0">
                    <a:solidFill>
                      <a:schemeClr val="tx1"/>
                    </a:solidFill>
                  </a:rPr>
                  <a:t>  , </a:t>
                </a:r>
                <a:r>
                  <a:rPr lang="en-US" altLang="zh-TW" sz="2400" b="0" i="0" dirty="0">
                    <a:solidFill>
                      <a:schemeClr val="tx1"/>
                    </a:solidFill>
                    <a:effectLst/>
                  </a:rPr>
                  <a:t>smaller value of </a:t>
                </a:r>
                <a:r>
                  <a:rPr lang="en-US" altLang="zh-TW" sz="2400" b="0" i="1" dirty="0">
                    <a:solidFill>
                      <a:schemeClr val="tx1"/>
                    </a:solidFill>
                    <a:effectLst/>
                  </a:rPr>
                  <a:t>E</a:t>
                </a:r>
                <a:r>
                  <a:rPr lang="en-US" altLang="zh-TW" sz="2400" b="0" i="0" dirty="0">
                    <a:solidFill>
                      <a:schemeClr val="tx1"/>
                    </a:solidFill>
                    <a:effectLst/>
                  </a:rPr>
                  <a:t>* will make the valid inequalities more efficient.</a:t>
                </a:r>
              </a:p>
              <a:p>
                <a:pPr marL="0" indent="0">
                  <a:buNone/>
                </a:pPr>
                <a:endParaRPr lang="en-US" altLang="zh-TW" sz="2400" b="0" dirty="0">
                  <a:solidFill>
                    <a:srgbClr val="2E2E2E"/>
                  </a:solidFill>
                  <a:effectLst/>
                </a:endParaRPr>
              </a:p>
              <a:p>
                <a:endParaRPr lang="zh-TW" altLang="en-US" sz="2400" dirty="0"/>
              </a:p>
            </p:txBody>
          </p:sp>
        </mc:Choice>
        <mc:Fallback>
          <p:sp>
            <p:nvSpPr>
              <p:cNvPr id="3" name="內容版面配置區 2">
                <a:extLst>
                  <a:ext uri="{FF2B5EF4-FFF2-40B4-BE49-F238E27FC236}">
                    <a16:creationId xmlns:a16="http://schemas.microsoft.com/office/drawing/2014/main" id="{D2F28A5A-0EDF-44DF-9DC2-B8948AC275BA}"/>
                  </a:ext>
                </a:extLst>
              </p:cNvPr>
              <p:cNvSpPr>
                <a:spLocks noGrp="1" noRot="1" noChangeAspect="1" noMove="1" noResize="1" noEditPoints="1" noAdjustHandles="1" noChangeArrowheads="1" noChangeShapeType="1" noTextEdit="1"/>
              </p:cNvSpPr>
              <p:nvPr>
                <p:ph idx="1"/>
              </p:nvPr>
            </p:nvSpPr>
            <p:spPr>
              <a:xfrm>
                <a:off x="213916" y="1189520"/>
                <a:ext cx="11764168" cy="5260975"/>
              </a:xfrm>
              <a:blipFill>
                <a:blip r:embed="rId3"/>
                <a:stretch>
                  <a:fillRect l="-777" t="-162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11184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23118DC1-1667-4952-8E76-8119F417D05F}"/>
              </a:ext>
            </a:extLst>
          </p:cNvPr>
          <p:cNvSpPr>
            <a:spLocks noGrp="1"/>
          </p:cNvSpPr>
          <p:nvPr>
            <p:ph idx="1"/>
          </p:nvPr>
        </p:nvSpPr>
        <p:spPr>
          <a:xfrm>
            <a:off x="510209" y="543477"/>
            <a:ext cx="10515600" cy="4351338"/>
          </a:xfrm>
        </p:spPr>
        <p:txBody>
          <a:bodyPr/>
          <a:lstStyle/>
          <a:p>
            <a:r>
              <a:rPr lang="en-US" altLang="zh-TW" dirty="0"/>
              <a:t>If there exists an effective group in any Pareto optimal point of the problem, then it has </a:t>
            </a:r>
            <a:r>
              <a:rPr lang="en-US" altLang="zh-TW" u="sng" dirty="0"/>
              <a:t>infinite</a:t>
            </a:r>
            <a:r>
              <a:rPr lang="en-US" altLang="zh-TW" dirty="0"/>
              <a:t> number of Pareto optimal points.</a:t>
            </a:r>
          </a:p>
          <a:p>
            <a:r>
              <a:rPr lang="en-US" altLang="zh-TW" dirty="0"/>
              <a:t>We can find all Pareto optimal integer points by decreasing the value of ε by one each time where E and D are restricted to </a:t>
            </a:r>
            <a:r>
              <a:rPr lang="en-US" altLang="zh-TW" u="sng" dirty="0"/>
              <a:t>integer values </a:t>
            </a:r>
            <a:r>
              <a:rPr lang="en-US" altLang="zh-TW" dirty="0"/>
              <a:t>.</a:t>
            </a:r>
          </a:p>
          <a:p>
            <a:endParaRPr lang="en-US" altLang="zh-TW" dirty="0"/>
          </a:p>
          <a:p>
            <a:endParaRPr lang="zh-TW" altLang="en-US" dirty="0"/>
          </a:p>
        </p:txBody>
      </p:sp>
      <p:pic>
        <p:nvPicPr>
          <p:cNvPr id="4" name="圖片 3">
            <a:extLst>
              <a:ext uri="{FF2B5EF4-FFF2-40B4-BE49-F238E27FC236}">
                <a16:creationId xmlns:a16="http://schemas.microsoft.com/office/drawing/2014/main" id="{58ACC911-CC07-42FD-907D-F4818B693D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9348" y="2560352"/>
            <a:ext cx="7074661" cy="4465567"/>
          </a:xfrm>
          <a:prstGeom prst="rect">
            <a:avLst/>
          </a:prstGeom>
        </p:spPr>
      </p:pic>
    </p:spTree>
    <p:extLst>
      <p:ext uri="{BB962C8B-B14F-4D97-AF65-F5344CB8AC3E}">
        <p14:creationId xmlns:p14="http://schemas.microsoft.com/office/powerpoint/2010/main" val="3616329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D92F95-359D-464B-8DFC-29A2201E56B6}"/>
              </a:ext>
            </a:extLst>
          </p:cNvPr>
          <p:cNvSpPr>
            <a:spLocks noGrp="1"/>
          </p:cNvSpPr>
          <p:nvPr>
            <p:ph type="title"/>
          </p:nvPr>
        </p:nvSpPr>
        <p:spPr/>
        <p:txBody>
          <a:bodyPr/>
          <a:lstStyle/>
          <a:p>
            <a:r>
              <a:rPr lang="en-US" altLang="zh-TW" dirty="0"/>
              <a:t>Benchmark instances</a:t>
            </a:r>
            <a:br>
              <a:rPr lang="zh-TW" altLang="en-US" dirty="0"/>
            </a:br>
            <a:endParaRPr lang="zh-TW" altLang="en-US" dirty="0"/>
          </a:p>
        </p:txBody>
      </p:sp>
      <p:sp>
        <p:nvSpPr>
          <p:cNvPr id="3" name="內容版面配置區 2">
            <a:extLst>
              <a:ext uri="{FF2B5EF4-FFF2-40B4-BE49-F238E27FC236}">
                <a16:creationId xmlns:a16="http://schemas.microsoft.com/office/drawing/2014/main" id="{13CFF78E-25D4-4B65-AEED-A27B482B1B77}"/>
              </a:ext>
            </a:extLst>
          </p:cNvPr>
          <p:cNvSpPr>
            <a:spLocks noGrp="1"/>
          </p:cNvSpPr>
          <p:nvPr>
            <p:ph idx="1"/>
          </p:nvPr>
        </p:nvSpPr>
        <p:spPr>
          <a:xfrm>
            <a:off x="364434" y="1242855"/>
            <a:ext cx="11463131" cy="4372289"/>
          </a:xfrm>
        </p:spPr>
        <p:txBody>
          <a:bodyPr>
            <a:normAutofit/>
          </a:bodyPr>
          <a:lstStyle/>
          <a:p>
            <a:pPr marL="0" indent="0">
              <a:buNone/>
            </a:pPr>
            <a:r>
              <a:rPr lang="en-US" altLang="zh-TW" sz="2400" b="0" i="0" dirty="0">
                <a:solidFill>
                  <a:srgbClr val="2E2E2E"/>
                </a:solidFill>
                <a:effectLst/>
              </a:rPr>
              <a:t>The machine consumes 0.4 kw when it is idle and 3 kw when working. </a:t>
            </a:r>
          </a:p>
          <a:p>
            <a:pPr marL="0" indent="0">
              <a:buNone/>
            </a:pPr>
            <a:r>
              <a:rPr lang="en-US" altLang="zh-TW" sz="2400" b="0" i="0" dirty="0">
                <a:solidFill>
                  <a:srgbClr val="2E2E2E"/>
                </a:solidFill>
                <a:effectLst/>
              </a:rPr>
              <a:t>Each turn-off-on operation takes 12 h and requires 4 kwh of electricity.</a:t>
            </a:r>
          </a:p>
          <a:p>
            <a:endParaRPr lang="en-US" altLang="zh-TW" sz="2400" b="0" i="0" dirty="0">
              <a:solidFill>
                <a:srgbClr val="2E2E2E"/>
              </a:solidFill>
              <a:effectLst/>
            </a:endParaRPr>
          </a:p>
          <a:p>
            <a:pPr>
              <a:buFont typeface="Wingdings" panose="05000000000000000000" pitchFamily="2" charset="2"/>
              <a:buChar char="p"/>
            </a:pPr>
            <a:r>
              <a:rPr lang="en-US" altLang="zh-TW" sz="2400" dirty="0">
                <a:solidFill>
                  <a:srgbClr val="2E2E2E"/>
                </a:solidFill>
              </a:rPr>
              <a:t> Liu et al.(2014)</a:t>
            </a:r>
          </a:p>
          <a:p>
            <a:pPr>
              <a:buFont typeface="Wingdings" panose="05000000000000000000" pitchFamily="2" charset="2"/>
              <a:buChar char="l"/>
            </a:pPr>
            <a:r>
              <a:rPr lang="en-US" altLang="zh-TW" sz="2400" dirty="0"/>
              <a:t>Author’s</a:t>
            </a:r>
            <a:endParaRPr lang="zh-TW" altLang="en-US" sz="2400" dirty="0"/>
          </a:p>
        </p:txBody>
      </p:sp>
      <p:pic>
        <p:nvPicPr>
          <p:cNvPr id="4" name="圖片 3">
            <a:extLst>
              <a:ext uri="{FF2B5EF4-FFF2-40B4-BE49-F238E27FC236}">
                <a16:creationId xmlns:a16="http://schemas.microsoft.com/office/drawing/2014/main" id="{199A90C3-8D86-4B01-9C81-89CCDCBCAC97}"/>
              </a:ext>
            </a:extLst>
          </p:cNvPr>
          <p:cNvPicPr>
            <a:picLocks noChangeAspect="1"/>
          </p:cNvPicPr>
          <p:nvPr/>
        </p:nvPicPr>
        <p:blipFill>
          <a:blip r:embed="rId2"/>
          <a:stretch>
            <a:fillRect/>
          </a:stretch>
        </p:blipFill>
        <p:spPr>
          <a:xfrm>
            <a:off x="7110621" y="2477787"/>
            <a:ext cx="4716944" cy="4145193"/>
          </a:xfrm>
          <a:prstGeom prst="rect">
            <a:avLst/>
          </a:prstGeom>
        </p:spPr>
      </p:pic>
    </p:spTree>
    <p:extLst>
      <p:ext uri="{BB962C8B-B14F-4D97-AF65-F5344CB8AC3E}">
        <p14:creationId xmlns:p14="http://schemas.microsoft.com/office/powerpoint/2010/main" val="3294347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7898F0-4F1C-4BEE-AF4F-3B02DF61D6C9}"/>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4E35D687-EFA1-4B0E-80BD-DFAA46A9F989}"/>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079CD76F-E712-48BF-8517-53327B16CB1C}"/>
              </a:ext>
            </a:extLst>
          </p:cNvPr>
          <p:cNvPicPr>
            <a:picLocks noChangeAspect="1"/>
          </p:cNvPicPr>
          <p:nvPr/>
        </p:nvPicPr>
        <p:blipFill>
          <a:blip r:embed="rId2"/>
          <a:stretch>
            <a:fillRect/>
          </a:stretch>
        </p:blipFill>
        <p:spPr>
          <a:xfrm>
            <a:off x="123823" y="681037"/>
            <a:ext cx="5657850" cy="4000500"/>
          </a:xfrm>
          <a:prstGeom prst="rect">
            <a:avLst/>
          </a:prstGeom>
        </p:spPr>
      </p:pic>
      <p:pic>
        <p:nvPicPr>
          <p:cNvPr id="5" name="圖片 4">
            <a:extLst>
              <a:ext uri="{FF2B5EF4-FFF2-40B4-BE49-F238E27FC236}">
                <a16:creationId xmlns:a16="http://schemas.microsoft.com/office/drawing/2014/main" id="{1A5A0684-144E-4F72-92FB-000C21BCB6E7}"/>
              </a:ext>
            </a:extLst>
          </p:cNvPr>
          <p:cNvPicPr>
            <a:picLocks noChangeAspect="1"/>
          </p:cNvPicPr>
          <p:nvPr/>
        </p:nvPicPr>
        <p:blipFill>
          <a:blip r:embed="rId3"/>
          <a:stretch>
            <a:fillRect/>
          </a:stretch>
        </p:blipFill>
        <p:spPr>
          <a:xfrm>
            <a:off x="6534152" y="1276350"/>
            <a:ext cx="5534025" cy="2152650"/>
          </a:xfrm>
          <a:prstGeom prst="rect">
            <a:avLst/>
          </a:prstGeom>
        </p:spPr>
      </p:pic>
    </p:spTree>
    <p:extLst>
      <p:ext uri="{BB962C8B-B14F-4D97-AF65-F5344CB8AC3E}">
        <p14:creationId xmlns:p14="http://schemas.microsoft.com/office/powerpoint/2010/main" val="73166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336BCF-94CA-4007-9987-6A90C80A976F}"/>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C3BA3524-A250-48D3-A62A-C5DBDC8A0748}"/>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50C79AD8-8821-493E-BAD8-C1C9F9AF0133}"/>
              </a:ext>
            </a:extLst>
          </p:cNvPr>
          <p:cNvPicPr>
            <a:picLocks noChangeAspect="1"/>
          </p:cNvPicPr>
          <p:nvPr/>
        </p:nvPicPr>
        <p:blipFill rotWithShape="1">
          <a:blip r:embed="rId3"/>
          <a:srcRect t="7783" r="3615"/>
          <a:stretch/>
        </p:blipFill>
        <p:spPr>
          <a:xfrm>
            <a:off x="0" y="27070"/>
            <a:ext cx="5901034" cy="3773302"/>
          </a:xfrm>
          <a:prstGeom prst="rect">
            <a:avLst/>
          </a:prstGeom>
        </p:spPr>
      </p:pic>
      <p:pic>
        <p:nvPicPr>
          <p:cNvPr id="7" name="圖片 6">
            <a:extLst>
              <a:ext uri="{FF2B5EF4-FFF2-40B4-BE49-F238E27FC236}">
                <a16:creationId xmlns:a16="http://schemas.microsoft.com/office/drawing/2014/main" id="{62926A02-3A33-4B62-A8E4-8845592C5184}"/>
              </a:ext>
            </a:extLst>
          </p:cNvPr>
          <p:cNvPicPr>
            <a:picLocks noChangeAspect="1"/>
          </p:cNvPicPr>
          <p:nvPr/>
        </p:nvPicPr>
        <p:blipFill rotWithShape="1">
          <a:blip r:embed="rId4"/>
          <a:srcRect l="1" t="8492" r="3425"/>
          <a:stretch/>
        </p:blipFill>
        <p:spPr>
          <a:xfrm>
            <a:off x="0" y="4038413"/>
            <a:ext cx="5901034" cy="2814777"/>
          </a:xfrm>
          <a:prstGeom prst="rect">
            <a:avLst/>
          </a:prstGeom>
        </p:spPr>
      </p:pic>
      <p:pic>
        <p:nvPicPr>
          <p:cNvPr id="6" name="圖片 5">
            <a:extLst>
              <a:ext uri="{FF2B5EF4-FFF2-40B4-BE49-F238E27FC236}">
                <a16:creationId xmlns:a16="http://schemas.microsoft.com/office/drawing/2014/main" id="{1972A64A-178C-49C8-A447-4FB5F6718737}"/>
              </a:ext>
            </a:extLst>
          </p:cNvPr>
          <p:cNvPicPr>
            <a:picLocks noChangeAspect="1"/>
          </p:cNvPicPr>
          <p:nvPr/>
        </p:nvPicPr>
        <p:blipFill rotWithShape="1">
          <a:blip r:embed="rId5"/>
          <a:srcRect t="7116" r="116"/>
          <a:stretch/>
        </p:blipFill>
        <p:spPr>
          <a:xfrm>
            <a:off x="5901034" y="91202"/>
            <a:ext cx="5879616" cy="3645037"/>
          </a:xfrm>
          <a:prstGeom prst="rect">
            <a:avLst/>
          </a:prstGeom>
        </p:spPr>
      </p:pic>
      <p:pic>
        <p:nvPicPr>
          <p:cNvPr id="8" name="圖片 7">
            <a:extLst>
              <a:ext uri="{FF2B5EF4-FFF2-40B4-BE49-F238E27FC236}">
                <a16:creationId xmlns:a16="http://schemas.microsoft.com/office/drawing/2014/main" id="{E558AB53-76B9-49A4-8D7C-4B5DBB9BC451}"/>
              </a:ext>
            </a:extLst>
          </p:cNvPr>
          <p:cNvPicPr>
            <a:picLocks noChangeAspect="1"/>
          </p:cNvPicPr>
          <p:nvPr/>
        </p:nvPicPr>
        <p:blipFill rotWithShape="1">
          <a:blip r:embed="rId6"/>
          <a:srcRect l="1" t="7829" r="-266"/>
          <a:stretch/>
        </p:blipFill>
        <p:spPr>
          <a:xfrm>
            <a:off x="6166610" y="3989060"/>
            <a:ext cx="5879616" cy="2864130"/>
          </a:xfrm>
          <a:prstGeom prst="rect">
            <a:avLst/>
          </a:prstGeom>
        </p:spPr>
      </p:pic>
    </p:spTree>
    <p:extLst>
      <p:ext uri="{BB962C8B-B14F-4D97-AF65-F5344CB8AC3E}">
        <p14:creationId xmlns:p14="http://schemas.microsoft.com/office/powerpoint/2010/main" val="607606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1920E1-0F01-45B6-8A26-B1312B725CC7}"/>
              </a:ext>
            </a:extLst>
          </p:cNvPr>
          <p:cNvSpPr>
            <a:spLocks noGrp="1"/>
          </p:cNvSpPr>
          <p:nvPr>
            <p:ph type="title"/>
          </p:nvPr>
        </p:nvSpPr>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id="{B958440B-CCFE-45AD-A341-DA9FB26FF71B}"/>
              </a:ext>
            </a:extLst>
          </p:cNvPr>
          <p:cNvSpPr>
            <a:spLocks noGrp="1"/>
          </p:cNvSpPr>
          <p:nvPr>
            <p:ph idx="1"/>
          </p:nvPr>
        </p:nvSpPr>
        <p:spPr/>
        <p:txBody>
          <a:bodyPr/>
          <a:lstStyle/>
          <a:p>
            <a:r>
              <a:rPr lang="en-US" altLang="zh-TW" dirty="0"/>
              <a:t>Author proposed a basic ε − constraint method and developed local search, preprocessing technique and valid inequalities to enhance the proposed model.</a:t>
            </a:r>
          </a:p>
          <a:p>
            <a:r>
              <a:rPr lang="en-US" altLang="zh-TW" dirty="0"/>
              <a:t>In its practical significance, the proposed model and methods provide production managers with a decision support tool to make reasonable trade-offs between </a:t>
            </a:r>
            <a:r>
              <a:rPr lang="en-US" altLang="zh-TW" u="sng" dirty="0"/>
              <a:t>energy consumption</a:t>
            </a:r>
            <a:r>
              <a:rPr lang="en-US" altLang="zh-TW" dirty="0"/>
              <a:t> and </a:t>
            </a:r>
            <a:r>
              <a:rPr lang="en-US" altLang="zh-TW" u="sng" dirty="0"/>
              <a:t>maximum tardiness </a:t>
            </a:r>
            <a:r>
              <a:rPr lang="en-US" altLang="zh-TW" dirty="0"/>
              <a:t>in production scheduling.</a:t>
            </a:r>
            <a:endParaRPr lang="zh-TW" altLang="en-US" dirty="0"/>
          </a:p>
        </p:txBody>
      </p:sp>
    </p:spTree>
    <p:extLst>
      <p:ext uri="{BB962C8B-B14F-4D97-AF65-F5344CB8AC3E}">
        <p14:creationId xmlns:p14="http://schemas.microsoft.com/office/powerpoint/2010/main" val="1746288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689D24-D2BA-4CBF-81E9-DB35914E96C1}"/>
              </a:ext>
            </a:extLst>
          </p:cNvPr>
          <p:cNvSpPr>
            <a:spLocks noGrp="1"/>
          </p:cNvSpPr>
          <p:nvPr>
            <p:ph type="title"/>
          </p:nvPr>
        </p:nvSpPr>
        <p:spPr/>
        <p:txBody>
          <a:bodyPr/>
          <a:lstStyle/>
          <a:p>
            <a:r>
              <a:rPr lang="en-US" altLang="zh-TW" dirty="0"/>
              <a:t>Pareto Optimal Solutions</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025B94A1-3D3C-4E92-93B6-D12CC7FF3F1A}"/>
                  </a:ext>
                </a:extLst>
              </p:cNvPr>
              <p:cNvSpPr>
                <a:spLocks noGrp="1"/>
              </p:cNvSpPr>
              <p:nvPr>
                <p:ph idx="1"/>
              </p:nvPr>
            </p:nvSpPr>
            <p:spPr/>
            <p:txBody>
              <a:bodyPr/>
              <a:lstStyle/>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𝑇</m:t>
                        </m:r>
                      </m:e>
                      <m:sub>
                        <m:r>
                          <a:rPr lang="en-US" altLang="zh-TW" b="0" i="1" smtClean="0">
                            <a:latin typeface="Cambria Math" panose="02040503050406030204" pitchFamily="18" charset="0"/>
                          </a:rPr>
                          <m:t>𝐵</m:t>
                        </m:r>
                      </m:sub>
                    </m:sSub>
                    <m:r>
                      <a:rPr lang="en-US" altLang="zh-TW"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𝑚𝑎𝑥</m:t>
                    </m:r>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smtClean="0">
                                <a:latin typeface="Cambria Math" panose="02040503050406030204" pitchFamily="18" charset="0"/>
                                <a:ea typeface="Cambria Math" panose="02040503050406030204" pitchFamily="18" charset="0"/>
                              </a:rPr>
                            </m:ctrlPr>
                          </m:fPr>
                          <m:num>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𝐸𝑛𝑒𝑟𝑔𝑦</m:t>
                                </m:r>
                              </m:e>
                              <m:sub>
                                <m:r>
                                  <a:rPr lang="en-US" altLang="zh-TW" b="0" i="1" smtClean="0">
                                    <a:latin typeface="Cambria Math" panose="02040503050406030204" pitchFamily="18" charset="0"/>
                                    <a:ea typeface="Cambria Math" panose="02040503050406030204" pitchFamily="18" charset="0"/>
                                  </a:rPr>
                                  <m:t>𝑠𝑒𝑡𝑢𝑝</m:t>
                                </m:r>
                              </m:sub>
                            </m:sSub>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𝑃𝑜𝑤𝑒𝑟</m:t>
                                </m:r>
                              </m:e>
                              <m:sub>
                                <m:r>
                                  <a:rPr lang="en-US" altLang="zh-TW" b="0" i="1" smtClean="0">
                                    <a:latin typeface="Cambria Math" panose="02040503050406030204" pitchFamily="18" charset="0"/>
                                    <a:ea typeface="Cambria Math" panose="02040503050406030204" pitchFamily="18" charset="0"/>
                                  </a:rPr>
                                  <m:t>𝑖𝑑𝑙𝑒</m:t>
                                </m:r>
                              </m:sub>
                            </m:sSub>
                          </m:den>
                        </m:f>
                        <m:r>
                          <a:rPr lang="en-US" altLang="zh-TW" b="0" i="1" smtClean="0">
                            <a:latin typeface="Cambria Math" panose="02040503050406030204" pitchFamily="18" charset="0"/>
                            <a:ea typeface="Cambria Math" panose="02040503050406030204" pitchFamily="18" charset="0"/>
                          </a:rPr>
                          <m:t> ,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𝑇</m:t>
                            </m:r>
                          </m:e>
                          <m:sub>
                            <m:r>
                              <a:rPr lang="en-US" altLang="zh-TW" b="0" i="1" smtClean="0">
                                <a:latin typeface="Cambria Math" panose="02040503050406030204" pitchFamily="18" charset="0"/>
                                <a:ea typeface="Cambria Math" panose="02040503050406030204" pitchFamily="18" charset="0"/>
                              </a:rPr>
                              <m:t>𝑠𝑒𝑡𝑢𝑝</m:t>
                            </m:r>
                          </m:sub>
                        </m:sSub>
                      </m:e>
                    </m:d>
                  </m:oMath>
                </a14:m>
                <a:endParaRPr lang="zh-TW" altLang="en-US" dirty="0"/>
              </a:p>
            </p:txBody>
          </p:sp>
        </mc:Choice>
        <mc:Fallback>
          <p:sp>
            <p:nvSpPr>
              <p:cNvPr id="3" name="內容版面配置區 2">
                <a:extLst>
                  <a:ext uri="{FF2B5EF4-FFF2-40B4-BE49-F238E27FC236}">
                    <a16:creationId xmlns:a16="http://schemas.microsoft.com/office/drawing/2014/main" id="{025B94A1-3D3C-4E92-93B6-D12CC7FF3F1A}"/>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19FC06A5-C9AD-4E12-AE59-0E6DCBCCD8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7130" y="3009899"/>
            <a:ext cx="7418941" cy="3026612"/>
          </a:xfrm>
          <a:prstGeom prst="rect">
            <a:avLst/>
          </a:prstGeom>
        </p:spPr>
      </p:pic>
      <p:pic>
        <p:nvPicPr>
          <p:cNvPr id="5" name="圖片 4">
            <a:extLst>
              <a:ext uri="{FF2B5EF4-FFF2-40B4-BE49-F238E27FC236}">
                <a16:creationId xmlns:a16="http://schemas.microsoft.com/office/drawing/2014/main" id="{070D8B2E-10B0-4851-A8DA-AAB5A8D9A8DF}"/>
              </a:ext>
            </a:extLst>
          </p:cNvPr>
          <p:cNvPicPr>
            <a:picLocks noChangeAspect="1"/>
          </p:cNvPicPr>
          <p:nvPr/>
        </p:nvPicPr>
        <p:blipFill rotWithShape="1">
          <a:blip r:embed="rId4"/>
          <a:srcRect t="-1137" r="79803" b="39528"/>
          <a:stretch/>
        </p:blipFill>
        <p:spPr>
          <a:xfrm>
            <a:off x="2499279" y="5820431"/>
            <a:ext cx="1486313" cy="982938"/>
          </a:xfrm>
          <a:prstGeom prst="rect">
            <a:avLst/>
          </a:prstGeom>
        </p:spPr>
      </p:pic>
      <p:pic>
        <p:nvPicPr>
          <p:cNvPr id="6" name="圖片 5">
            <a:extLst>
              <a:ext uri="{FF2B5EF4-FFF2-40B4-BE49-F238E27FC236}">
                <a16:creationId xmlns:a16="http://schemas.microsoft.com/office/drawing/2014/main" id="{403F5DCF-6517-401D-AD72-BA6E290E10B6}"/>
              </a:ext>
            </a:extLst>
          </p:cNvPr>
          <p:cNvPicPr>
            <a:picLocks noChangeAspect="1"/>
          </p:cNvPicPr>
          <p:nvPr/>
        </p:nvPicPr>
        <p:blipFill rotWithShape="1">
          <a:blip r:embed="rId4"/>
          <a:srcRect t="59147" r="84079" b="-2"/>
          <a:stretch/>
        </p:blipFill>
        <p:spPr>
          <a:xfrm>
            <a:off x="215555" y="4601818"/>
            <a:ext cx="1171575" cy="651807"/>
          </a:xfrm>
          <a:prstGeom prst="rect">
            <a:avLst/>
          </a:prstGeom>
        </p:spPr>
      </p:pic>
      <p:pic>
        <p:nvPicPr>
          <p:cNvPr id="7" name="圖片 6">
            <a:extLst>
              <a:ext uri="{FF2B5EF4-FFF2-40B4-BE49-F238E27FC236}">
                <a16:creationId xmlns:a16="http://schemas.microsoft.com/office/drawing/2014/main" id="{DFC9DB7A-12B0-49C9-8B37-9912A6AC48C3}"/>
              </a:ext>
            </a:extLst>
          </p:cNvPr>
          <p:cNvPicPr>
            <a:picLocks noChangeAspect="1"/>
          </p:cNvPicPr>
          <p:nvPr/>
        </p:nvPicPr>
        <p:blipFill rotWithShape="1">
          <a:blip r:embed="rId5"/>
          <a:srcRect t="23023" r="992"/>
          <a:stretch/>
        </p:blipFill>
        <p:spPr>
          <a:xfrm>
            <a:off x="8009861" y="191397"/>
            <a:ext cx="4091642" cy="2683565"/>
          </a:xfrm>
          <a:prstGeom prst="rect">
            <a:avLst/>
          </a:prstGeom>
        </p:spPr>
      </p:pic>
    </p:spTree>
    <p:extLst>
      <p:ext uri="{BB962C8B-B14F-4D97-AF65-F5344CB8AC3E}">
        <p14:creationId xmlns:p14="http://schemas.microsoft.com/office/powerpoint/2010/main" val="2884320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報paper範本" id="{69A26A74-F2D4-4C4E-8979-71B91039FD65}" vid="{BF5BF2FF-57E1-4805-99F6-A663F732E57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報paper範本</Template>
  <TotalTime>11829</TotalTime>
  <Words>2179</Words>
  <Application>Microsoft Office PowerPoint</Application>
  <PresentationFormat>寬螢幕</PresentationFormat>
  <Paragraphs>210</Paragraphs>
  <Slides>22</Slides>
  <Notes>16</Notes>
  <HiddenSlides>2</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22</vt:i4>
      </vt:variant>
    </vt:vector>
  </HeadingPairs>
  <TitlesOfParts>
    <vt:vector size="30" baseType="lpstr">
      <vt:lpstr>NexusSerif</vt:lpstr>
      <vt:lpstr>Arial</vt:lpstr>
      <vt:lpstr>Calibri</vt:lpstr>
      <vt:lpstr>Cambria Math</vt:lpstr>
      <vt:lpstr>Open Sans</vt:lpstr>
      <vt:lpstr>Times New Roman</vt:lpstr>
      <vt:lpstr>Wingdings</vt:lpstr>
      <vt:lpstr>Office 佈景主題</vt:lpstr>
      <vt:lpstr>Energy-efficient bi-objective single-machine scheduling with power-down mechanism </vt:lpstr>
      <vt:lpstr>Abstract</vt:lpstr>
      <vt:lpstr>PowerPoint 簡報</vt:lpstr>
      <vt:lpstr>PowerPoint 簡報</vt:lpstr>
      <vt:lpstr>PowerPoint 簡報</vt:lpstr>
      <vt:lpstr>Randomly parameter generated </vt:lpstr>
      <vt:lpstr>PowerPoint 簡報</vt:lpstr>
      <vt:lpstr>PowerPoint 簡報</vt:lpstr>
      <vt:lpstr>PowerPoint 簡報</vt:lpstr>
      <vt:lpstr>Single objective total tardiness problem</vt:lpstr>
      <vt:lpstr>PowerPoint 簡報</vt:lpstr>
      <vt:lpstr>Clustering of jobs to obtain approximate Pareto front</vt:lpstr>
      <vt:lpstr>Local search to enhanced ε–constraint method</vt:lpstr>
      <vt:lpstr>PowerPoint 簡報</vt:lpstr>
      <vt:lpstr>PowerPoint 簡報</vt:lpstr>
      <vt:lpstr>Dynamic preprocessing technique and valid inequalities </vt:lpstr>
      <vt:lpstr>PowerPoint 簡報</vt:lpstr>
      <vt:lpstr>Benchmark instances </vt:lpstr>
      <vt:lpstr>PowerPoint 簡報</vt:lpstr>
      <vt:lpstr>PowerPoint 簡報</vt:lpstr>
      <vt:lpstr>Conclusion</vt:lpstr>
      <vt:lpstr>Pareto Optimal Solutions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Energy-efficient bi-objective single-machine scheduling with power-down mechanism </dc:title>
  <dc:creator>jj wu</dc:creator>
  <cp:lastModifiedBy>jj wu</cp:lastModifiedBy>
  <cp:revision>32</cp:revision>
  <dcterms:created xsi:type="dcterms:W3CDTF">2021-10-24T10:17:33Z</dcterms:created>
  <dcterms:modified xsi:type="dcterms:W3CDTF">2021-11-09T09:52:36Z</dcterms:modified>
</cp:coreProperties>
</file>