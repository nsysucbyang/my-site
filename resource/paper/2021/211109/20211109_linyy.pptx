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4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8CF69-B94F-41EF-B44B-5A23E69E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94E246-5B84-40A5-9198-A6478B53D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C9A6A-81D9-4024-8732-81AD65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30DAD2-5F2F-477A-933C-533FC70E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6A92E9-2EC9-4E85-A2F5-22556455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8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2540F-DED7-457A-80AB-31055F78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592121-7306-4FF5-BC1E-2E3C5CBE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981BAE-3011-41AB-8F71-019D69C9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1EB8D7-5BB0-4DA4-91DC-94A162F6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AC93A1-955E-43AC-888B-B961ABB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3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E3D72-F1B6-454B-95E8-658A7A02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28AABC-6381-4A08-A34B-9775E7CA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CAAA9C-33BB-4FB2-BED3-BC7D9323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27D4F8-53BF-4473-9B99-4C8E6F8C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C0F19-61B3-4F06-B453-872D9D5E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8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BA689-797E-40E7-9EDB-5EDB08C7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53EE-84F0-4CB2-A6D1-70ECB696D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FA3A2B-693F-4492-99C6-0C8FC6BA2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D31AE8-99C0-43FB-B941-AD2B9251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224B4-684C-46B7-BBF1-931F646D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5CC215-AE48-442C-B3C7-A05DA3D2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4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377E4-D784-4175-A078-E0BE59E8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15F7BB-FF4C-4A58-B308-031D2BD23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0221E4-3D33-46C5-9454-CFE7BCF65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25487A-E8A1-4109-B68A-4BC8FE81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B2B406-6511-443F-B0E6-C33BAEC71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84ACC6-C42F-45F3-BE11-E53C8E2A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9A6C5F-EF9B-49B4-8955-2443396E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6F790E7-CBD5-4484-A32F-FEF48BB3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53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2A7656-D8C4-4701-89D9-F6B0EB1C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85F66E-3E02-445B-B1D6-9F7F2B97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C0B5C4-F60F-472B-877C-D558F28D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AF58D9-56FD-47B2-AFA4-E191E86C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14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D15556-2C7C-43E9-BEE7-2F931FDA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A5585-BC54-43DC-AF3A-A0CD372D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BF090F-6470-4F86-9004-6B7FDBD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16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103F5-9E97-4826-B0D2-95F4564C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46CFE7-EA93-4D37-81E5-AA67D27F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FDF5F1-BC00-46C5-8A6D-53247EAAB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FA9920-036B-4577-A0AA-EA9558A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7DF8B8-6B05-4919-B114-D5663C22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666E5C-95E4-4050-9140-1FCCC0B9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23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7E922-EA1A-435F-870D-682421C5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18B7BE4-C689-4096-AD49-68F6034EA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D295FF-4A20-40FD-AC66-98CEC585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219DCA-585C-43B6-9552-4EE13F76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D0F041-3794-4C18-8470-1E81B0B8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689843-4105-446B-A08B-BA8F5DD6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EB34D-E993-49B7-A454-C7F5A38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D361F5-F0E1-4F67-B5F9-593DA8F07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843757-966E-48DA-9D3F-7BCB9426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A665A4-0D51-44C3-83A1-6B3FEA68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AF5088-2FDA-45E4-A2C5-6563CE33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77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B180085-65E4-4ED8-943A-8E4E7DCD7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358ABA-23C5-47E8-9CA9-2449B4342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EEC609-328B-4C6E-97B9-64C473DA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A8800A-57CD-4691-8E11-40185134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1209D-6627-4CFC-8CFF-DE25AA4F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97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173FCB-AF51-413B-9EA7-940E652F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7623B9-D996-4B18-863A-AF24B34F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610FA5-96C9-43C2-9118-EF308B50C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2E98C-ACD1-4F21-B7D7-C715BE9B2230}" type="datetimeFigureOut">
              <a:rPr lang="zh-TW" altLang="en-US" smtClean="0"/>
              <a:t>2021/11/9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A6CC33-55D8-4EFE-8365-937324890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3263F0-2185-4819-9FD7-AB6DE2AA7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AFCD-048C-4D4E-8433-74C544C8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9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/>
        </p:nvSpPr>
        <p:spPr>
          <a:xfrm>
            <a:off x="1029385" y="1720670"/>
            <a:ext cx="10257739" cy="13440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en-US" altLang="zh-TW" dirty="0"/>
              <a:t>Recommending Bids on Dou-</a:t>
            </a:r>
            <a:r>
              <a:rPr kumimoji="1" lang="en-US" altLang="zh-TW" dirty="0" err="1"/>
              <a:t>DiZhu</a:t>
            </a:r>
            <a:r>
              <a:rPr kumimoji="1" lang="en-US" altLang="zh-TW" dirty="0"/>
              <a:t> Poker Games:</a:t>
            </a:r>
          </a:p>
          <a:p>
            <a:pPr>
              <a:lnSpc>
                <a:spcPct val="120000"/>
              </a:lnSpc>
            </a:pPr>
            <a:r>
              <a:rPr kumimoji="1" lang="en-US" altLang="zh-TW" dirty="0"/>
              <a:t>A Deep Learning Approach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/>
        </p:nvSpPr>
        <p:spPr>
          <a:xfrm>
            <a:off x="666107" y="3866102"/>
            <a:ext cx="9870558" cy="1344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 Yuan,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Shuqin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Chinese Automation Congress (CAC), November 6-8, 2020</a:t>
            </a:r>
          </a:p>
        </p:txBody>
      </p:sp>
      <p:sp>
        <p:nvSpPr>
          <p:cNvPr id="6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50372" y="5471581"/>
            <a:ext cx="2375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Ying-Yu Lin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Nov. 9,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5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966FE77-03BE-473A-A343-9E6AC4232AFF}"/>
              </a:ext>
            </a:extLst>
          </p:cNvPr>
          <p:cNvSpPr txBox="1"/>
          <p:nvPr/>
        </p:nvSpPr>
        <p:spPr>
          <a:xfrm>
            <a:off x="376238" y="306253"/>
            <a:ext cx="11439524" cy="5945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kumimoji="1"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  <a:p>
            <a:pPr>
              <a:spcBef>
                <a:spcPts val="1000"/>
              </a:spcBef>
            </a:pPr>
            <a:r>
              <a:rPr lang="en-US" altLang="zh-TW" sz="2800" dirty="0"/>
              <a:t>Dou-</a:t>
            </a:r>
            <a:r>
              <a:rPr lang="en-US" altLang="zh-TW" sz="2800" dirty="0" err="1"/>
              <a:t>DiZhu</a:t>
            </a:r>
            <a:r>
              <a:rPr lang="en-US" altLang="zh-TW" sz="2800" dirty="0"/>
              <a:t> game is a famous traditional Chinese poker game, which requires one player playing cards against the alliance of the other two players. This paper has made a first attempt to establish a machine-aided playing strategy to help player to call bids with a higher gain. In particular, a Convolutional Neural Network (CNN) based recommendation model is proposed to combine the feature of player's hand sequence and strength. To validate the feasibility of the proposed method, a real-world dataset is utilized to examine the performance of the recommendation results outputted the proposed model. The results of comparative experiments show that the proposed model achieves a higher precision, recall, F1 and accuracy performance than traditional machine learning models and single-feature based deep learning models.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93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6EBA0-026E-4827-892A-99C7FCE00CFC}"/>
              </a:ext>
            </a:extLst>
          </p:cNvPr>
          <p:cNvSpPr>
            <a:spLocks noGrp="1"/>
          </p:cNvSpPr>
          <p:nvPr/>
        </p:nvSpPr>
        <p:spPr>
          <a:xfrm>
            <a:off x="187960" y="1638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鬥地主規則介紹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叫地主</a:t>
            </a:r>
          </a:p>
        </p:txBody>
      </p:sp>
      <p:sp>
        <p:nvSpPr>
          <p:cNvPr id="3" name="文字方塊 7">
            <a:extLst>
              <a:ext uri="{FF2B5EF4-FFF2-40B4-BE49-F238E27FC236}">
                <a16:creationId xmlns:a16="http://schemas.microsoft.com/office/drawing/2014/main" id="{441B3F51-4F3E-465D-85B5-360319A24029}"/>
              </a:ext>
            </a:extLst>
          </p:cNvPr>
          <p:cNvSpPr txBox="1"/>
          <p:nvPr/>
        </p:nvSpPr>
        <p:spPr>
          <a:xfrm>
            <a:off x="7002779" y="2231380"/>
            <a:ext cx="48939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兩位農民合攻一位地主</a:t>
            </a:r>
            <a:endParaRPr lang="en-US" altLang="zh-TW" sz="2400" dirty="0"/>
          </a:p>
          <a:p>
            <a:r>
              <a:rPr lang="zh-TW" altLang="en-US" sz="2400" dirty="0"/>
              <a:t>只要一位農民出完牌就算農民獲勝</a:t>
            </a:r>
            <a:endParaRPr lang="en-US" altLang="zh-TW" sz="2400" dirty="0"/>
          </a:p>
          <a:p>
            <a:r>
              <a:rPr lang="zh-TW" altLang="en-US" sz="2400" dirty="0"/>
              <a:t>地主不是通賠就是通殺</a:t>
            </a:r>
            <a:endParaRPr lang="en-US" altLang="zh-TW" sz="2400" dirty="0"/>
          </a:p>
          <a:p>
            <a:r>
              <a:rPr lang="zh-TW" altLang="en-US" sz="2400" dirty="0"/>
              <a:t>輪流當莊家</a:t>
            </a:r>
            <a:endParaRPr lang="en-US" altLang="zh-TW" sz="2400" dirty="0"/>
          </a:p>
          <a:p>
            <a:r>
              <a:rPr lang="zh-TW" altLang="en-US" sz="2400" dirty="0"/>
              <a:t>從莊家開始逆時針叫地主</a:t>
            </a:r>
            <a:endParaRPr lang="en-US" altLang="zh-TW" sz="2400" dirty="0"/>
          </a:p>
          <a:p>
            <a:r>
              <a:rPr lang="zh-TW" altLang="en-US" sz="2400" dirty="0"/>
              <a:t>叫地主分數</a:t>
            </a:r>
            <a:r>
              <a:rPr lang="en-US" altLang="zh-TW" sz="2400" dirty="0"/>
              <a:t>:0,1,2,3,6,12,24</a:t>
            </a:r>
          </a:p>
          <a:p>
            <a:r>
              <a:rPr lang="zh-TW" altLang="en-US" sz="2400" dirty="0"/>
              <a:t>地主可多擁有三張牌</a:t>
            </a:r>
            <a:endParaRPr lang="en-US" altLang="zh-TW" sz="2400" dirty="0"/>
          </a:p>
          <a:p>
            <a:endParaRPr lang="en-US" altLang="zh-TW" sz="2400" dirty="0"/>
          </a:p>
        </p:txBody>
      </p:sp>
      <p:pic>
        <p:nvPicPr>
          <p:cNvPr id="1026" name="Picture 2" descr="烂牌叫地主，叫完直接变成无敌天牌_哔哩哔哩(゜-゜)つロ干杯~-bilibili">
            <a:extLst>
              <a:ext uri="{FF2B5EF4-FFF2-40B4-BE49-F238E27FC236}">
                <a16:creationId xmlns:a16="http://schemas.microsoft.com/office/drawing/2014/main" id="{4E204577-A751-409F-885E-AC560938C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09" y="1806785"/>
            <a:ext cx="6157912" cy="384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1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6EBA0-026E-4827-892A-99C7FCE00CFC}"/>
              </a:ext>
            </a:extLst>
          </p:cNvPr>
          <p:cNvSpPr>
            <a:spLocks noGrp="1"/>
          </p:cNvSpPr>
          <p:nvPr/>
        </p:nvSpPr>
        <p:spPr>
          <a:xfrm>
            <a:off x="187960" y="1638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鬥地主規則介紹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玩牌</a:t>
            </a:r>
          </a:p>
        </p:txBody>
      </p:sp>
      <p:sp>
        <p:nvSpPr>
          <p:cNvPr id="3" name="文字方塊 7">
            <a:extLst>
              <a:ext uri="{FF2B5EF4-FFF2-40B4-BE49-F238E27FC236}">
                <a16:creationId xmlns:a16="http://schemas.microsoft.com/office/drawing/2014/main" id="{441B3F51-4F3E-465D-85B5-360319A24029}"/>
              </a:ext>
            </a:extLst>
          </p:cNvPr>
          <p:cNvSpPr txBox="1"/>
          <p:nvPr/>
        </p:nvSpPr>
        <p:spPr>
          <a:xfrm>
            <a:off x="415607" y="1397333"/>
            <a:ext cx="82315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所有的牌只比點數大小不比花色</a:t>
            </a:r>
            <a:endParaRPr lang="en-US" altLang="zh-TW" sz="2400" dirty="0"/>
          </a:p>
          <a:p>
            <a:r>
              <a:rPr lang="zh-TW" altLang="en-US" sz="2400" dirty="0"/>
              <a:t>鬼牌在鬥地主中是王牌，彩色鬼牌比黑白鬼牌大</a:t>
            </a:r>
            <a:endParaRPr lang="en-US" altLang="zh-TW" sz="2400" dirty="0"/>
          </a:p>
          <a:p>
            <a:r>
              <a:rPr lang="zh-TW" altLang="en-US" sz="2400" dirty="0"/>
              <a:t>火箭</a:t>
            </a:r>
            <a:r>
              <a:rPr lang="en-US" altLang="zh-TW" sz="2400" dirty="0"/>
              <a:t>:</a:t>
            </a:r>
            <a:r>
              <a:rPr lang="zh-TW" altLang="en-US" sz="2400" dirty="0"/>
              <a:t>同時拿到兩張鬼牌，可壓倒所有牌型，積分也翻倍</a:t>
            </a:r>
            <a:endParaRPr lang="en-US" altLang="zh-TW" sz="2400" dirty="0"/>
          </a:p>
          <a:p>
            <a:r>
              <a:rPr lang="zh-TW" altLang="en-US" sz="2400" dirty="0"/>
              <a:t>炸彈</a:t>
            </a:r>
            <a:r>
              <a:rPr lang="en-US" altLang="zh-TW" sz="2400" dirty="0"/>
              <a:t>(</a:t>
            </a:r>
            <a:r>
              <a:rPr lang="zh-TW" altLang="en-US" sz="2400" dirty="0"/>
              <a:t>鐵支</a:t>
            </a:r>
            <a:r>
              <a:rPr lang="en-US" altLang="zh-TW" sz="2400" dirty="0"/>
              <a:t>):</a:t>
            </a:r>
            <a:r>
              <a:rPr lang="zh-TW" altLang="en-US" sz="2400" dirty="0"/>
              <a:t>四張一樣的牌，積分翻倍</a:t>
            </a:r>
            <a:endParaRPr lang="en-US" altLang="zh-TW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ABE66F-CBBD-48DE-9BC4-290C57A4C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73" y="3231116"/>
            <a:ext cx="2571386" cy="150713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7485CC8-241B-4F9D-AF36-10BE927844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00" r="8333"/>
          <a:stretch/>
        </p:blipFill>
        <p:spPr>
          <a:xfrm>
            <a:off x="7189663" y="3192997"/>
            <a:ext cx="2098921" cy="15071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FB7187F-31BC-4E88-B15C-A1B1039CB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973" y="4990284"/>
            <a:ext cx="2647671" cy="150713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0270090-18A0-4A1E-AD84-B09CB001F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93" y="5029068"/>
            <a:ext cx="3941637" cy="15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1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6EBA0-026E-4827-892A-99C7FCE00CFC}"/>
              </a:ext>
            </a:extLst>
          </p:cNvPr>
          <p:cNvSpPr>
            <a:spLocks noGrp="1"/>
          </p:cNvSpPr>
          <p:nvPr/>
        </p:nvSpPr>
        <p:spPr>
          <a:xfrm>
            <a:off x="187960" y="1638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鬥地主規則介紹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玩牌</a:t>
            </a:r>
          </a:p>
        </p:txBody>
      </p:sp>
      <p:sp>
        <p:nvSpPr>
          <p:cNvPr id="3" name="文字方塊 7">
            <a:extLst>
              <a:ext uri="{FF2B5EF4-FFF2-40B4-BE49-F238E27FC236}">
                <a16:creationId xmlns:a16="http://schemas.microsoft.com/office/drawing/2014/main" id="{441B3F51-4F3E-465D-85B5-360319A24029}"/>
              </a:ext>
            </a:extLst>
          </p:cNvPr>
          <p:cNvSpPr txBox="1"/>
          <p:nvPr/>
        </p:nvSpPr>
        <p:spPr>
          <a:xfrm>
            <a:off x="529907" y="1248472"/>
            <a:ext cx="82315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三帶一</a:t>
            </a:r>
            <a:r>
              <a:rPr lang="en-US" altLang="zh-TW" sz="2400" dirty="0"/>
              <a:t>:</a:t>
            </a:r>
            <a:r>
              <a:rPr lang="zh-TW" altLang="en-US" sz="2400" dirty="0"/>
              <a:t>三張一樣的牌加上一張廢牌</a:t>
            </a:r>
            <a:endParaRPr lang="en-US" altLang="zh-TW" sz="2400" dirty="0"/>
          </a:p>
          <a:p>
            <a:r>
              <a:rPr lang="zh-TW" altLang="en-US" sz="2400" dirty="0"/>
              <a:t>三帶二</a:t>
            </a:r>
            <a:r>
              <a:rPr lang="en-US" altLang="zh-TW" sz="2400" dirty="0"/>
              <a:t>:</a:t>
            </a:r>
            <a:r>
              <a:rPr lang="zh-TW" altLang="en-US" sz="2400" dirty="0"/>
              <a:t>三張一樣的牌加上一對</a:t>
            </a:r>
            <a:endParaRPr lang="en-US" altLang="zh-TW" sz="2400" dirty="0"/>
          </a:p>
          <a:p>
            <a:r>
              <a:rPr lang="zh-TW" altLang="en-US" sz="2400" dirty="0"/>
              <a:t>飛機</a:t>
            </a:r>
            <a:r>
              <a:rPr lang="en-US" altLang="zh-TW" sz="2400" dirty="0"/>
              <a:t>:</a:t>
            </a:r>
            <a:r>
              <a:rPr lang="zh-TW" altLang="en-US" sz="2400" dirty="0"/>
              <a:t>連號的三帶一或三帶二，</a:t>
            </a:r>
            <a:r>
              <a:rPr lang="en-US" altLang="zh-TW" sz="2400" dirty="0"/>
              <a:t>2</a:t>
            </a:r>
            <a:r>
              <a:rPr lang="zh-TW" altLang="en-US" sz="2400" dirty="0"/>
              <a:t>除外</a:t>
            </a:r>
            <a:endParaRPr lang="en-US" altLang="zh-TW" sz="2400" dirty="0"/>
          </a:p>
          <a:p>
            <a:r>
              <a:rPr lang="zh-TW" altLang="en-US" sz="2400" dirty="0"/>
              <a:t>連對</a:t>
            </a:r>
            <a:r>
              <a:rPr lang="en-US" altLang="zh-TW" sz="2400" dirty="0"/>
              <a:t>:</a:t>
            </a:r>
            <a:r>
              <a:rPr lang="zh-TW" altLang="en-US" sz="2400" dirty="0"/>
              <a:t>只要三組以上連號的對子可以一起出，</a:t>
            </a:r>
            <a:r>
              <a:rPr lang="en-US" altLang="zh-TW" sz="2400" dirty="0"/>
              <a:t>2</a:t>
            </a:r>
            <a:r>
              <a:rPr lang="zh-TW" altLang="en-US" sz="2400" dirty="0"/>
              <a:t>除外</a:t>
            </a:r>
            <a:endParaRPr lang="en-US" altLang="zh-TW" sz="2400" dirty="0"/>
          </a:p>
          <a:p>
            <a:r>
              <a:rPr lang="zh-TW" altLang="en-US" sz="2400" dirty="0"/>
              <a:t>順子</a:t>
            </a:r>
            <a:r>
              <a:rPr lang="en-US" altLang="zh-TW" sz="2400" dirty="0"/>
              <a:t>:</a:t>
            </a:r>
            <a:r>
              <a:rPr lang="zh-TW" altLang="en-US" sz="2400" dirty="0"/>
              <a:t>至少五張最多</a:t>
            </a:r>
            <a:r>
              <a:rPr lang="en-US" altLang="zh-TW" sz="2400" dirty="0"/>
              <a:t>12</a:t>
            </a:r>
            <a:r>
              <a:rPr lang="zh-TW" altLang="en-US" sz="2400" dirty="0"/>
              <a:t>張，從</a:t>
            </a:r>
            <a:r>
              <a:rPr lang="en-US" altLang="zh-TW" sz="2400" dirty="0"/>
              <a:t>3~A</a:t>
            </a:r>
            <a:r>
              <a:rPr lang="zh-TW" altLang="en-US" sz="2400" dirty="0"/>
              <a:t>都可以一起出</a:t>
            </a:r>
            <a:endParaRPr lang="en-US" altLang="zh-TW" sz="2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AC7E9C7-3C6F-4E32-A1AB-198C94DC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60" y="5178153"/>
            <a:ext cx="2217300" cy="12901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569D8D9-46C0-4FF4-8446-7099A6DC4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60" y="3429000"/>
            <a:ext cx="2166963" cy="147482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437537A4-179F-4D0B-A05C-59776B0E0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47" y="3466176"/>
            <a:ext cx="3292025" cy="139065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473508F0-FDF2-4103-8013-562B43B6A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369" y="5201655"/>
            <a:ext cx="3694100" cy="135855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2F2A3DF-3A73-48EA-9C2D-6B72A6904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248" y="3434736"/>
            <a:ext cx="2579987" cy="1244731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5729AD33-4128-49D5-A4A6-C72C873CA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379" y="5250291"/>
            <a:ext cx="2070421" cy="118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2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烂牌叫地主，叫完直接变成无敌天牌_哔哩哔哩(゜-゜)つロ干杯~-bilibili">
            <a:extLst>
              <a:ext uri="{FF2B5EF4-FFF2-40B4-BE49-F238E27FC236}">
                <a16:creationId xmlns:a16="http://schemas.microsoft.com/office/drawing/2014/main" id="{73E56F78-F3B8-43B7-8381-75FBF0C12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t="61826" b="8912"/>
          <a:stretch/>
        </p:blipFill>
        <p:spPr bwMode="auto">
          <a:xfrm>
            <a:off x="6096000" y="259070"/>
            <a:ext cx="5420996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76A9595-D85D-45C6-B001-A0DDE5FF2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192648"/>
              </p:ext>
            </p:extLst>
          </p:nvPr>
        </p:nvGraphicFramePr>
        <p:xfrm>
          <a:off x="3001965" y="1610682"/>
          <a:ext cx="6130920" cy="4799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728">
                  <a:extLst>
                    <a:ext uri="{9D8B030D-6E8A-4147-A177-3AD203B41FA5}">
                      <a16:colId xmlns:a16="http://schemas.microsoft.com/office/drawing/2014/main" val="1248807270"/>
                    </a:ext>
                  </a:extLst>
                </a:gridCol>
                <a:gridCol w="361207">
                  <a:extLst>
                    <a:ext uri="{9D8B030D-6E8A-4147-A177-3AD203B41FA5}">
                      <a16:colId xmlns:a16="http://schemas.microsoft.com/office/drawing/2014/main" val="2416045981"/>
                    </a:ext>
                  </a:extLst>
                </a:gridCol>
                <a:gridCol w="456249">
                  <a:extLst>
                    <a:ext uri="{9D8B030D-6E8A-4147-A177-3AD203B41FA5}">
                      <a16:colId xmlns:a16="http://schemas.microsoft.com/office/drawing/2014/main" val="3359759715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707542517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2566220570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1801036088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503805616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1355573419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3197228921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1579913072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3984055174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309232433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3664041919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1485084342"/>
                    </a:ext>
                  </a:extLst>
                </a:gridCol>
                <a:gridCol w="408728">
                  <a:extLst>
                    <a:ext uri="{9D8B030D-6E8A-4147-A177-3AD203B41FA5}">
                      <a16:colId xmlns:a16="http://schemas.microsoft.com/office/drawing/2014/main" val="2036130673"/>
                    </a:ext>
                  </a:extLst>
                </a:gridCol>
              </a:tblGrid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914234215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333927124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4121593509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1975833850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2818729083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2612587884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311066910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4119816028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1879874333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382775505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4254870702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1300559225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3272172528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459803867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2212015237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4170448924"/>
                  </a:ext>
                </a:extLst>
              </a:tr>
              <a:tr h="2797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 marL="68973" marR="68973" marT="34486" marB="344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TW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L="68973" marR="68973" marT="34486" marB="34486"/>
                </a:tc>
                <a:extLst>
                  <a:ext uri="{0D108BD9-81ED-4DB2-BD59-A6C34878D82A}">
                    <a16:rowId xmlns:a16="http://schemas.microsoft.com/office/drawing/2014/main" val="3052827948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A0C9B13F-92F0-4FBE-9549-EB07DB4E3B09}"/>
              </a:ext>
            </a:extLst>
          </p:cNvPr>
          <p:cNvSpPr>
            <a:spLocks noGrp="1"/>
          </p:cNvSpPr>
          <p:nvPr/>
        </p:nvSpPr>
        <p:spPr>
          <a:xfrm>
            <a:off x="187959" y="278120"/>
            <a:ext cx="5327015" cy="645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kumimoji="1" lang="en-US" altLang="zh-TW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card sequence vector</a:t>
            </a:r>
            <a:endParaRPr kumimoji="1" lang="zh-TW" altLang="en-US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02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125B4EFA-89FE-437C-91B3-BFAF65DA725B}"/>
              </a:ext>
            </a:extLst>
          </p:cNvPr>
          <p:cNvSpPr txBox="1"/>
          <p:nvPr/>
        </p:nvSpPr>
        <p:spPr>
          <a:xfrm>
            <a:off x="376238" y="306253"/>
            <a:ext cx="11439524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kumimoji="1"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strength vector</a:t>
            </a:r>
          </a:p>
          <a:p>
            <a:pPr marL="571500" indent="-5715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種牌張數的統計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火箭、炸彈、三帶一、三帶二、飛機、連對、順子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1500" indent="-5715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結合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種遊戲中組合牌型抽取結果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kumimoji="1" lang="en-US" altLang="zh-TW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card sequence vector + </a:t>
            </a:r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strength vector</a:t>
            </a:r>
          </a:p>
          <a:p>
            <a:pPr>
              <a:spcBef>
                <a:spcPts val="1000"/>
              </a:spcBef>
            </a:pPr>
            <a:r>
              <a:rPr kumimoji="1" lang="en-US" altLang="zh-TW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=18*15</a:t>
            </a:r>
            <a:r>
              <a:rPr kumimoji="1" lang="zh-TW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TW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matrix</a:t>
            </a:r>
            <a:endParaRPr kumimoji="1" lang="zh-TW" altLang="en-US" sz="2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5EDAA886-98CF-43CE-8D58-A91E2A4B8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377473"/>
              </p:ext>
            </p:extLst>
          </p:nvPr>
        </p:nvGraphicFramePr>
        <p:xfrm>
          <a:off x="9224210" y="647700"/>
          <a:ext cx="2212056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6028">
                  <a:extLst>
                    <a:ext uri="{9D8B030D-6E8A-4147-A177-3AD203B41FA5}">
                      <a16:colId xmlns:a16="http://schemas.microsoft.com/office/drawing/2014/main" val="2959608799"/>
                    </a:ext>
                  </a:extLst>
                </a:gridCol>
                <a:gridCol w="1106028">
                  <a:extLst>
                    <a:ext uri="{9D8B030D-6E8A-4147-A177-3AD203B41FA5}">
                      <a16:colId xmlns:a16="http://schemas.microsoft.com/office/drawing/2014/main" val="225208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單張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2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順子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29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一對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30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連對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334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三張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339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三順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6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三帶一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30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飛機帶單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9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三帶二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29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飛機帶對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四帶二單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47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四帶二對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76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炸彈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8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火箭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9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pass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435518"/>
                  </a:ext>
                </a:extLst>
              </a:tr>
            </a:tbl>
          </a:graphicData>
        </a:graphic>
      </p:graphicFrame>
      <p:pic>
        <p:nvPicPr>
          <p:cNvPr id="4" name="Picture 2" descr="烂牌叫地主，叫完直接变成无敌天牌_哔哩哔哩(゜-゜)つロ干杯~-bilibili">
            <a:extLst>
              <a:ext uri="{FF2B5EF4-FFF2-40B4-BE49-F238E27FC236}">
                <a16:creationId xmlns:a16="http://schemas.microsoft.com/office/drawing/2014/main" id="{45EE7D1E-D529-42E7-88AF-90E9D0FB73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t="61826" b="8912"/>
          <a:stretch/>
        </p:blipFill>
        <p:spPr bwMode="auto">
          <a:xfrm>
            <a:off x="1584960" y="4617710"/>
            <a:ext cx="5420996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48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EF771B5-122A-4C9E-A7CE-D49ED126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" y="1129238"/>
            <a:ext cx="6081639" cy="485179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462D17D-830F-4243-A133-61CA91108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32" y="1941896"/>
            <a:ext cx="2990850" cy="40005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312081B4-DA81-4989-92F3-D841837D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32" y="2527239"/>
            <a:ext cx="1762125" cy="38100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EB86E95E-9EAA-4CF0-844D-5AFF8AACC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032" y="3093532"/>
            <a:ext cx="1514475" cy="33337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F27EC894-243D-45ED-B613-F020D4386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032" y="3612200"/>
            <a:ext cx="3076575" cy="428625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75A26E0C-66F3-4348-A691-8EC9CB4395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032" y="4226118"/>
            <a:ext cx="3133725" cy="371475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8F0E17A2-2D3F-4854-81BE-DE5998BB8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1032" y="4782886"/>
            <a:ext cx="4724400" cy="40005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6475D8DB-44CA-44F4-96DF-8EA338B17295}"/>
              </a:ext>
            </a:extLst>
          </p:cNvPr>
          <p:cNvSpPr txBox="1"/>
          <p:nvPr/>
        </p:nvSpPr>
        <p:spPr>
          <a:xfrm>
            <a:off x="6841458" y="4172533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(5)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510F802-182C-4670-90A1-82452A8D8CA0}"/>
              </a:ext>
            </a:extLst>
          </p:cNvPr>
          <p:cNvSpPr txBox="1"/>
          <p:nvPr/>
        </p:nvSpPr>
        <p:spPr>
          <a:xfrm>
            <a:off x="6841457" y="3618221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(4)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EAE41EE-4808-4D2F-99D7-366404231944}"/>
              </a:ext>
            </a:extLst>
          </p:cNvPr>
          <p:cNvSpPr txBox="1"/>
          <p:nvPr/>
        </p:nvSpPr>
        <p:spPr>
          <a:xfrm>
            <a:off x="6841457" y="2991068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(3)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F07B465-F912-4CD8-86D5-13BFAC307FC5}"/>
              </a:ext>
            </a:extLst>
          </p:cNvPr>
          <p:cNvSpPr txBox="1"/>
          <p:nvPr/>
        </p:nvSpPr>
        <p:spPr>
          <a:xfrm>
            <a:off x="6841457" y="2446574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(2)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91AB364-2656-44C0-A9D1-D321877B385C}"/>
              </a:ext>
            </a:extLst>
          </p:cNvPr>
          <p:cNvSpPr txBox="1"/>
          <p:nvPr/>
        </p:nvSpPr>
        <p:spPr>
          <a:xfrm>
            <a:off x="6841457" y="1877541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(1)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4F3B443-53E6-4BE5-B0DC-365E4FDA79E6}"/>
              </a:ext>
            </a:extLst>
          </p:cNvPr>
          <p:cNvSpPr txBox="1"/>
          <p:nvPr/>
        </p:nvSpPr>
        <p:spPr>
          <a:xfrm>
            <a:off x="7355807" y="5182936"/>
            <a:ext cx="2819400" cy="371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Cross-Entropy Loss function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5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0B690E-6281-433A-ADD6-147C4463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684" y="1415160"/>
            <a:ext cx="7518631" cy="499923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AE4FAF7-DDB3-4CE7-92D1-BB08AD26A2E3}"/>
              </a:ext>
            </a:extLst>
          </p:cNvPr>
          <p:cNvSpPr txBox="1"/>
          <p:nvPr/>
        </p:nvSpPr>
        <p:spPr>
          <a:xfrm>
            <a:off x="376238" y="306253"/>
            <a:ext cx="114395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kumimoji="1"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</a:p>
        </p:txBody>
      </p:sp>
    </p:spTree>
    <p:extLst>
      <p:ext uri="{BB962C8B-B14F-4D97-AF65-F5344CB8AC3E}">
        <p14:creationId xmlns:p14="http://schemas.microsoft.com/office/powerpoint/2010/main" val="118852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AE4FAF7-DDB3-4CE7-92D1-BB08AD26A2E3}"/>
              </a:ext>
            </a:extLst>
          </p:cNvPr>
          <p:cNvSpPr txBox="1"/>
          <p:nvPr/>
        </p:nvSpPr>
        <p:spPr>
          <a:xfrm>
            <a:off x="376238" y="306253"/>
            <a:ext cx="114395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kumimoji="1"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07A363-8ABF-4C5E-9903-DE1DAEDD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098" y="1947862"/>
            <a:ext cx="8151803" cy="41100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0259FA1-F3E9-430D-A6A7-D2CB668ABDAE}"/>
              </a:ext>
            </a:extLst>
          </p:cNvPr>
          <p:cNvSpPr/>
          <p:nvPr/>
        </p:nvSpPr>
        <p:spPr>
          <a:xfrm>
            <a:off x="4752975" y="3429001"/>
            <a:ext cx="5114925" cy="47625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259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756</Words>
  <Application>Microsoft Office PowerPoint</Application>
  <PresentationFormat>寬螢幕</PresentationFormat>
  <Paragraphs>327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映妤 林</dc:creator>
  <cp:lastModifiedBy>映妤 林</cp:lastModifiedBy>
  <cp:revision>12</cp:revision>
  <dcterms:created xsi:type="dcterms:W3CDTF">2021-10-27T06:22:59Z</dcterms:created>
  <dcterms:modified xsi:type="dcterms:W3CDTF">2021-11-09T09:43:27Z</dcterms:modified>
</cp:coreProperties>
</file>