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rgbClr val="000000"/>
                </a:solidFill>
                <a:latin typeface="Calibri"/>
              </a:rPr>
              <a:t>請按這裡移動投影片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TW" sz="2000" b="0" strike="noStrike" spc="-1">
                <a:latin typeface="Arial"/>
              </a:rPr>
              <a:t>請按這裡編輯備註格式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&lt;頁首&gt;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&lt;日期/時間&gt;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&lt;頁尾&gt;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31962A5-A15B-4472-A253-73015B2EE908}" type="slidenum">
              <a:rPr lang="en-US" sz="1400" b="0" strike="noStrike" spc="-1">
                <a:latin typeface="Times New Roman"/>
              </a:rPr>
              <a:pPr algn="r"/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FEC21A0-76F1-4091-8A4E-3D3682A4EBBE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3/17/2021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9C6C588-69D4-483A-BFC4-1F3BDC423AB1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請按這裡編輯大綱文字格式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第二個大綱層次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第三個大綱層次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第六個大綱層次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第七個大綱層次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3/17/2021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714240" y="128592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The longest almost-increasing subsequence</a:t>
            </a:r>
            <a:endParaRPr lang="en-US" sz="32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1214280" y="3357720"/>
            <a:ext cx="6786360" cy="2071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Amr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Elmasry</a:t>
            </a:r>
            <a:endParaRPr lang="en-US" sz="2400" spc="-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en-US" sz="2000" spc="-1" dirty="0" smtClean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Information Processing Letters</a:t>
            </a: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Volume 110, Issue 16, 31 July 2010, Pages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655-658</a:t>
            </a:r>
            <a:endParaRPr lang="en-US" sz="2400" spc="-1" dirty="0" smtClean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5786280" y="5643720"/>
            <a:ext cx="3114360" cy="10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Presenter: Shin-Cheng Lin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Date: </a:t>
            </a:r>
            <a:r>
              <a:rPr lang="en-US" sz="2000" spc="-1" dirty="0" smtClean="0">
                <a:solidFill>
                  <a:srgbClr val="000000"/>
                </a:solidFill>
                <a:latin typeface="Times New Roman"/>
              </a:rPr>
              <a:t>Mar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17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2021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Given a sequence of n elements, we introduce the notion of an almost-increasing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subsequence as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longest subsequence that can be converted to an increasing subsequence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by possibly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adding a value, that is at most a fixed constant, to each of the elements. We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show how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to optimally construct such subsequence in O(n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logk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) time, where k is the length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of the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output subsequence.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sz="4400" b="0" strike="noStrike" spc="-1" dirty="0" err="1" smtClean="0">
                <a:solidFill>
                  <a:srgbClr val="000000"/>
                </a:solidFill>
                <a:latin typeface="Times New Roman"/>
              </a:rPr>
              <a:t>LaIS</a:t>
            </a:r>
            <a:endParaRPr lang="en-US" sz="4400" spc="-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Given a sequence x</a:t>
            </a:r>
            <a:r>
              <a:rPr lang="en-US" sz="2800" spc="-1" baseline="-25000" dirty="0" smtClean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x</a:t>
            </a:r>
            <a:r>
              <a:rPr lang="en-US" sz="2800" spc="-1" baseline="-25000" dirty="0" smtClean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. . . ,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800" spc="-1" baseline="-25000" dirty="0" err="1" smtClean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and a constant c &gt;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0,  constructing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 longest subsequence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y</a:t>
            </a:r>
            <a:r>
              <a:rPr lang="en-US" sz="2800" spc="-1" baseline="-25000" dirty="0" smtClean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y</a:t>
            </a:r>
            <a:r>
              <a:rPr lang="en-US" sz="2800" spc="-1" baseline="-25000" dirty="0" smtClean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. . . ,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y</a:t>
            </a:r>
            <a:r>
              <a:rPr lang="en-US" sz="2800" spc="-1" baseline="-25000" dirty="0" err="1" smtClean="0">
                <a:solidFill>
                  <a:srgbClr val="000000"/>
                </a:solidFill>
                <a:latin typeface="Times New Roman"/>
              </a:rPr>
              <a:t>k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such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that ∀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y</a:t>
            </a:r>
            <a:r>
              <a:rPr lang="en-US" sz="2800" spc="-1" baseline="-25000" dirty="0" err="1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&gt;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max(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y</a:t>
            </a:r>
            <a:r>
              <a:rPr lang="en-US" sz="2800" spc="-1" baseline="-25000" dirty="0" smtClean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y</a:t>
            </a:r>
            <a:r>
              <a:rPr lang="en-US" sz="2800" spc="-1" baseline="-25000" dirty="0" smtClean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. . . ,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y</a:t>
            </a:r>
            <a:r>
              <a:rPr lang="en-US" sz="2800" spc="-1" baseline="-25000" dirty="0" smtClean="0">
                <a:solidFill>
                  <a:srgbClr val="000000"/>
                </a:solidFill>
                <a:latin typeface="Times New Roman"/>
              </a:rPr>
              <a:t>i-1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) － 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c</a:t>
            </a:r>
            <a:r>
              <a:rPr lang="en-US" sz="2800" b="0" strike="noStrike" spc="-1" dirty="0" smtClean="0">
                <a:solidFill>
                  <a:srgbClr val="000000"/>
                </a:solidFill>
                <a:latin typeface="Times New Roman"/>
              </a:rPr>
              <a:t>=2</a:t>
            </a:r>
            <a:endParaRPr lang="en-US" sz="2800" b="0" strike="noStrike" spc="-1" dirty="0" smtClean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(7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15, 2, 14, 14, 6, 8, 11, 17, 15,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14, 13)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(7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15, 14, 14, 15,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14)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(7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6, 8,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11, 15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14)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(2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6, 8, 11, 15,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14)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(7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6, 8, 11, 14,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13)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(2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6,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8, 11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14,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13)</a:t>
            </a:r>
            <a:endParaRPr lang="en-US" sz="2800" spc="-1" dirty="0" smtClean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sz="4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altLang="zh-TW" sz="4400" dirty="0" smtClean="0">
                <a:latin typeface="Times New Roman" pitchFamily="18" charset="0"/>
                <a:cs typeface="Times New Roman" pitchFamily="18" charset="0"/>
              </a:rPr>
              <a:t>iteration</a:t>
            </a:r>
            <a:endParaRPr lang="en-US" sz="4400" spc="-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Step 1:</a:t>
            </a: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Find a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longest almost-increasing subsequence whose largest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element is x</a:t>
            </a:r>
            <a:r>
              <a:rPr lang="en-US" sz="2400" spc="-1" baseline="-25000" dirty="0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look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for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an index k &lt; 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such that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sz="2400" spc="-1" baseline="-25000" dirty="0" err="1" smtClean="0">
                <a:solidFill>
                  <a:srgbClr val="000000"/>
                </a:solidFill>
                <a:latin typeface="Times New Roman"/>
              </a:rPr>
              <a:t>k</a:t>
            </a:r>
            <a:r>
              <a:rPr lang="en-US" sz="2400" spc="-1" baseline="3000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≧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sz="2400" spc="-1" baseline="-25000" dirty="0" err="1" smtClean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among all indexes j &lt;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having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400" spc="-1" baseline="-25000" dirty="0" err="1" smtClean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&lt;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400" spc="-1" baseline="-25000" dirty="0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The length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sz="2400" spc="-1" baseline="-25000" dirty="0" err="1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is then set to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sz="2400" spc="-1" baseline="-25000" dirty="0" err="1" smtClean="0">
                <a:solidFill>
                  <a:srgbClr val="000000"/>
                </a:solidFill>
                <a:latin typeface="Times New Roman"/>
              </a:rPr>
              <a:t>k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+1, and the index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p</a:t>
            </a:r>
            <a:r>
              <a:rPr lang="en-US" sz="2400" spc="-1" baseline="-25000" dirty="0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is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set to k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Step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2:</a:t>
            </a:r>
            <a:endParaRPr lang="en-US" sz="2800" spc="-1" dirty="0" smtClean="0">
              <a:solidFill>
                <a:srgbClr val="000000"/>
              </a:solidFill>
              <a:latin typeface="Times New Roman"/>
            </a:endParaRP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append x</a:t>
            </a:r>
            <a:r>
              <a:rPr lang="en-US" sz="2400" spc="-1" baseline="-25000" dirty="0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to every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subsequence found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so far whose largest element is larger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or equal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to x</a:t>
            </a:r>
            <a:r>
              <a:rPr lang="en-US" sz="2400" spc="-1" baseline="-25000" dirty="0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and smaller than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400" spc="-1" baseline="-25000" dirty="0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+ c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for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all  j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&lt;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, set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sz="2400" spc="-1" baseline="-25000" dirty="0" err="1" smtClean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to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sz="2400" spc="-1" baseline="-25000" dirty="0" err="1" smtClean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+ 1 if x</a:t>
            </a:r>
            <a:r>
              <a:rPr lang="en-US" sz="2400" spc="-1" baseline="-25000" dirty="0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≦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sz="2400" spc="-1" baseline="-25000" dirty="0" err="1" smtClean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＜ x</a:t>
            </a:r>
            <a:r>
              <a:rPr lang="en-US" sz="2400" spc="-1" baseline="-25000" dirty="0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+ 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/>
          </p:nvPr>
        </p:nvSpPr>
        <p:spPr>
          <a:xfrm>
            <a:off x="457200" y="5947214"/>
            <a:ext cx="8229240" cy="767934"/>
          </a:xfrm>
        </p:spPr>
        <p:txBody>
          <a:bodyPr/>
          <a:lstStyle/>
          <a:p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(7, 15, 2, 14, 14, 6, 8, 11, 17, 15, 14, 13)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33364"/>
            <a:ext cx="5553071" cy="579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Shape 2"/>
          <p:cNvSpPr txBox="1"/>
          <p:nvPr/>
        </p:nvSpPr>
        <p:spPr>
          <a:xfrm>
            <a:off x="457200" y="785794"/>
            <a:ext cx="2900354" cy="35719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=2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+1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=1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Shape 2"/>
          <p:cNvSpPr txBox="1"/>
          <p:nvPr/>
        </p:nvSpPr>
        <p:spPr>
          <a:xfrm>
            <a:off x="428596" y="5214950"/>
            <a:ext cx="2286016" cy="7858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(first row)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(second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0034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928662" y="6143644"/>
            <a:ext cx="357190" cy="35719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/>
          </p:nvPr>
        </p:nvSpPr>
        <p:spPr>
          <a:xfrm>
            <a:off x="457200" y="5947214"/>
            <a:ext cx="8229240" cy="767934"/>
          </a:xfrm>
        </p:spPr>
        <p:txBody>
          <a:bodyPr/>
          <a:lstStyle/>
          <a:p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(7, 15, 2, 14, 14, 6, 8, 11, 17, 15, 14, 13)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33364"/>
            <a:ext cx="5553071" cy="579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Shape 2"/>
          <p:cNvSpPr txBox="1"/>
          <p:nvPr/>
        </p:nvSpPr>
        <p:spPr>
          <a:xfrm>
            <a:off x="457200" y="785794"/>
            <a:ext cx="2900354" cy="35719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=3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=1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=3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Shape 2"/>
          <p:cNvSpPr txBox="1"/>
          <p:nvPr/>
        </p:nvSpPr>
        <p:spPr>
          <a:xfrm>
            <a:off x="428596" y="5214950"/>
            <a:ext cx="2286016" cy="7858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(first row)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(second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57290" y="6143644"/>
            <a:ext cx="357190" cy="35719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/>
          </p:nvPr>
        </p:nvSpPr>
        <p:spPr>
          <a:xfrm>
            <a:off x="457200" y="5947214"/>
            <a:ext cx="8229240" cy="767934"/>
          </a:xfrm>
        </p:spPr>
        <p:txBody>
          <a:bodyPr/>
          <a:lstStyle/>
          <a:p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(7, 15, 2, 14, 14, 6, 8, 11, 17, 15, 14, 13)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33364"/>
            <a:ext cx="5553071" cy="579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Shape 2"/>
          <p:cNvSpPr txBox="1"/>
          <p:nvPr/>
        </p:nvSpPr>
        <p:spPr>
          <a:xfrm>
            <a:off x="457200" y="785794"/>
            <a:ext cx="2900354" cy="35719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=4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=max(l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)+1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=(1,3)</a:t>
            </a: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==l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800" baseline="300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+1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14≦15＜14+2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Shape 2"/>
          <p:cNvSpPr txBox="1"/>
          <p:nvPr/>
        </p:nvSpPr>
        <p:spPr>
          <a:xfrm>
            <a:off x="428596" y="5214950"/>
            <a:ext cx="2286016" cy="7858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(first row)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(second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57356" y="6143644"/>
            <a:ext cx="357190" cy="35719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00034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428728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928662" y="6143644"/>
            <a:ext cx="357190" cy="35719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/>
          </p:nvPr>
        </p:nvSpPr>
        <p:spPr>
          <a:xfrm>
            <a:off x="457200" y="5947214"/>
            <a:ext cx="8229240" cy="767934"/>
          </a:xfrm>
        </p:spPr>
        <p:txBody>
          <a:bodyPr/>
          <a:lstStyle/>
          <a:p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(7, 15, 2, 14, 14, 6, 8, 11, 17, 15, 14, 13)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33364"/>
            <a:ext cx="5553071" cy="579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Shape 2"/>
          <p:cNvSpPr txBox="1"/>
          <p:nvPr/>
        </p:nvSpPr>
        <p:spPr>
          <a:xfrm>
            <a:off x="457200" y="785794"/>
            <a:ext cx="2900354" cy="414340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=5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=max(l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)+1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=(1,3)</a:t>
            </a: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==l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800" baseline="300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+1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14≦15＜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14+2</a:t>
            </a:r>
            <a:endParaRPr lang="en-US" sz="2800" baseline="300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+1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14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≦14＜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14+2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Shape 2"/>
          <p:cNvSpPr txBox="1"/>
          <p:nvPr/>
        </p:nvSpPr>
        <p:spPr>
          <a:xfrm>
            <a:off x="428596" y="5214950"/>
            <a:ext cx="2286016" cy="7858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(first row)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(second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357422" y="6143644"/>
            <a:ext cx="357190" cy="35719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00034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428728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928662" y="6143644"/>
            <a:ext cx="357190" cy="35719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857356" y="6143644"/>
            <a:ext cx="357190" cy="35719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/>
          </p:nvPr>
        </p:nvSpPr>
        <p:spPr>
          <a:xfrm>
            <a:off x="457200" y="5947214"/>
            <a:ext cx="8229240" cy="767934"/>
          </a:xfrm>
        </p:spPr>
        <p:txBody>
          <a:bodyPr/>
          <a:lstStyle/>
          <a:p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(7, 15, 2, 14, 14, 6, 8, 11, 17, 15, 14, 13)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33364"/>
            <a:ext cx="5553071" cy="579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Shape 2"/>
          <p:cNvSpPr txBox="1"/>
          <p:nvPr/>
        </p:nvSpPr>
        <p:spPr>
          <a:xfrm>
            <a:off x="457200" y="785794"/>
            <a:ext cx="2900354" cy="414340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=6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+1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=3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+1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≦7＜6+2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Shape 2"/>
          <p:cNvSpPr txBox="1"/>
          <p:nvPr/>
        </p:nvSpPr>
        <p:spPr>
          <a:xfrm>
            <a:off x="428596" y="5214950"/>
            <a:ext cx="2286016" cy="7858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(first row)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(second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786050" y="6143644"/>
            <a:ext cx="357190" cy="35719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428728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500034" y="6143644"/>
            <a:ext cx="357190" cy="35719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/>
          </p:nvPr>
        </p:nvSpPr>
        <p:spPr>
          <a:xfrm>
            <a:off x="457200" y="5947214"/>
            <a:ext cx="8229240" cy="767934"/>
          </a:xfrm>
        </p:spPr>
        <p:txBody>
          <a:bodyPr/>
          <a:lstStyle/>
          <a:p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(7, 15, 2, 14, 14, 6, 8, 11, 17, 15, 14, 13)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33364"/>
            <a:ext cx="5553071" cy="579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Shape 2"/>
          <p:cNvSpPr txBox="1"/>
          <p:nvPr/>
        </p:nvSpPr>
        <p:spPr>
          <a:xfrm>
            <a:off x="457200" y="785794"/>
            <a:ext cx="3043230" cy="414340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=7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=max(l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)+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=(1,6)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==l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sz="28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Shape 2"/>
          <p:cNvSpPr txBox="1"/>
          <p:nvPr/>
        </p:nvSpPr>
        <p:spPr>
          <a:xfrm>
            <a:off x="428596" y="5214950"/>
            <a:ext cx="2286016" cy="7858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(first row)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(second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14678" y="6143644"/>
            <a:ext cx="357190" cy="35719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428728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2857488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71472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/>
          </p:nvPr>
        </p:nvSpPr>
        <p:spPr>
          <a:xfrm>
            <a:off x="457200" y="5947214"/>
            <a:ext cx="8229240" cy="767934"/>
          </a:xfrm>
        </p:spPr>
        <p:txBody>
          <a:bodyPr/>
          <a:lstStyle/>
          <a:p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(7, 15, 2, 14, 14, 6, 8, 11, 17, 15, 14, 13)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33364"/>
            <a:ext cx="5553071" cy="579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Shape 2"/>
          <p:cNvSpPr txBox="1"/>
          <p:nvPr/>
        </p:nvSpPr>
        <p:spPr>
          <a:xfrm>
            <a:off x="457200" y="785794"/>
            <a:ext cx="3043230" cy="414340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=8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=max(l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,l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)+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=7</a:t>
            </a:r>
            <a:endParaRPr lang="en-US" sz="28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Shape 2"/>
          <p:cNvSpPr txBox="1"/>
          <p:nvPr/>
        </p:nvSpPr>
        <p:spPr>
          <a:xfrm>
            <a:off x="428596" y="5214950"/>
            <a:ext cx="2286016" cy="7858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(first row)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(second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571868" y="6143644"/>
            <a:ext cx="357190" cy="35719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428728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2857488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71472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214678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/>
          </p:nvPr>
        </p:nvSpPr>
        <p:spPr>
          <a:xfrm>
            <a:off x="457200" y="5947214"/>
            <a:ext cx="8229240" cy="767934"/>
          </a:xfrm>
        </p:spPr>
        <p:txBody>
          <a:bodyPr/>
          <a:lstStyle/>
          <a:p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(7, 15, 2, 14, 14, 6, 8, 11, 17, 15, 14, 13)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33364"/>
            <a:ext cx="5553071" cy="579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Shape 2"/>
          <p:cNvSpPr txBox="1"/>
          <p:nvPr/>
        </p:nvSpPr>
        <p:spPr>
          <a:xfrm>
            <a:off x="457200" y="785794"/>
            <a:ext cx="3043230" cy="414340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=11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=max(l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)+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=8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+1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+1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+1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=l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+1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Shape 2"/>
          <p:cNvSpPr txBox="1"/>
          <p:nvPr/>
        </p:nvSpPr>
        <p:spPr>
          <a:xfrm>
            <a:off x="428596" y="5214950"/>
            <a:ext cx="2286016" cy="7858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(first row)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(second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14942" y="6143644"/>
            <a:ext cx="357190" cy="35719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428728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2857488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71472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214678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643306" y="6143644"/>
            <a:ext cx="28575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928662" y="6143644"/>
            <a:ext cx="357190" cy="35719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1857356" y="6143644"/>
            <a:ext cx="357190" cy="35719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2357422" y="6143644"/>
            <a:ext cx="357190" cy="35719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4643438" y="6143644"/>
            <a:ext cx="357190" cy="35719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sz="4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4400" spc="-1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=&gt; </a:t>
            </a:r>
            <a:r>
              <a:rPr lang="en-US" sz="4400" spc="-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nlogk</a:t>
            </a:r>
            <a:endParaRPr lang="en-US" sz="4400" spc="-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571480"/>
            <a:ext cx="5491179" cy="561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Shape 2"/>
          <p:cNvSpPr txBox="1"/>
          <p:nvPr/>
        </p:nvSpPr>
        <p:spPr>
          <a:xfrm>
            <a:off x="357158" y="1643050"/>
            <a:ext cx="3043230" cy="414340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binary search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locate the predecessor of x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and that of x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+ c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O(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logk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time.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副標題 2"/>
          <p:cNvSpPr txBox="1">
            <a:spLocks/>
          </p:cNvSpPr>
          <p:nvPr/>
        </p:nvSpPr>
        <p:spPr>
          <a:xfrm>
            <a:off x="457200" y="6090090"/>
            <a:ext cx="8229240" cy="625058"/>
          </a:xfrm>
          <a:prstGeom prst="rect">
            <a:avLst/>
          </a:prstGeo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(7, 15, 2, 14, 14, 6, 8, 11, 17, 15, 14, 13)</a:t>
            </a:r>
            <a:endParaRPr kumimoji="0" lang="en-US" sz="2800" b="0" i="0" u="none" strike="noStrike" kern="0" cap="none" spc="-1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9438" y="928670"/>
            <a:ext cx="8114528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5828</TotalTime>
  <Words>727</Words>
  <Application>LibreOffice/6.4.6.2$Windows_X86_64 LibreOffice_project/0ce51a4fd21bff07a5c061082cc82c5ed232f115</Application>
  <PresentationFormat>如螢幕大小 (4:3)</PresentationFormat>
  <Paragraphs>92</Paragraphs>
  <Slides>14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14</vt:i4>
      </vt:variant>
    </vt:vector>
  </HeadingPairs>
  <TitlesOfParts>
    <vt:vector size="16" baseType="lpstr">
      <vt:lpstr>Office Theme</vt:lpstr>
      <vt:lpstr>Office Theme</vt:lpstr>
      <vt:lpstr>投影片 1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Parallel Pairwise Local Sequence Alignment Algorithm</dc:title>
  <dc:subject/>
  <dc:creator>super</dc:creator>
  <dc:description/>
  <cp:lastModifiedBy>super</cp:lastModifiedBy>
  <cp:revision>1006</cp:revision>
  <dcterms:created xsi:type="dcterms:W3CDTF">2020-09-11T11:13:53Z</dcterms:created>
  <dcterms:modified xsi:type="dcterms:W3CDTF">2021-03-17T06:38:04Z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如螢幕大小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