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21" r:id="rId2"/>
    <p:sldId id="311" r:id="rId3"/>
    <p:sldId id="329" r:id="rId4"/>
    <p:sldId id="330" r:id="rId5"/>
    <p:sldId id="331" r:id="rId6"/>
    <p:sldId id="334" r:id="rId7"/>
    <p:sldId id="336" r:id="rId8"/>
    <p:sldId id="337" r:id="rId9"/>
    <p:sldId id="338" r:id="rId10"/>
    <p:sldId id="339" r:id="rId11"/>
    <p:sldId id="340" r:id="rId12"/>
    <p:sldId id="342" r:id="rId13"/>
    <p:sldId id="341"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43" autoAdjust="0"/>
    <p:restoredTop sz="83275" autoAdjust="0"/>
  </p:normalViewPr>
  <p:slideViewPr>
    <p:cSldViewPr snapToGrid="0">
      <p:cViewPr varScale="1">
        <p:scale>
          <a:sx n="96" d="100"/>
          <a:sy n="96" d="100"/>
        </p:scale>
        <p:origin x="2076" y="8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2021/3/16</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048457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2021/3/16</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244993" y="461639"/>
            <a:ext cx="8433339" cy="1699666"/>
          </a:xfrm>
        </p:spPr>
        <p:txBody>
          <a:bodyPr>
            <a:noAutofit/>
          </a:bodyPr>
          <a:lstStyle/>
          <a:p>
            <a:r>
              <a:rPr lang="en-US" altLang="zh-TW" sz="3600" dirty="0">
                <a:latin typeface="Times New Roman" panose="02020603050405020304" pitchFamily="18" charset="0"/>
                <a:cs typeface="Times New Roman" panose="02020603050405020304" pitchFamily="18" charset="0"/>
              </a:rPr>
              <a:t>A high performance algorithm for static task scheduling in heterogeneous distributed computing systems</a:t>
            </a:r>
            <a:endParaRPr lang="zh-TW" altLang="en-US" sz="36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44993" y="2819042"/>
            <a:ext cx="8536249" cy="927245"/>
          </a:xfrm>
        </p:spPr>
        <p:txBody>
          <a:bodyPr>
            <a:noAutofit/>
          </a:bodyPr>
          <a:lstStyle/>
          <a:p>
            <a:r>
              <a:rPr lang="en-US" altLang="zh-TW" dirty="0">
                <a:latin typeface="Times New Roman" panose="02020603050405020304" pitchFamily="18" charset="0"/>
                <a:cs typeface="Times New Roman" panose="02020603050405020304" pitchFamily="18" charset="0"/>
              </a:rPr>
              <a:t>Mohammad I. </a:t>
            </a:r>
            <a:r>
              <a:rPr lang="en-US" altLang="zh-TW" dirty="0" err="1" smtClean="0">
                <a:latin typeface="Times New Roman" panose="02020603050405020304" pitchFamily="18" charset="0"/>
                <a:cs typeface="Times New Roman" panose="02020603050405020304" pitchFamily="18" charset="0"/>
              </a:rPr>
              <a:t>Daoud</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and </a:t>
            </a:r>
            <a:r>
              <a:rPr lang="en-US" altLang="zh-TW" dirty="0" err="1">
                <a:latin typeface="Times New Roman" panose="02020603050405020304" pitchFamily="18" charset="0"/>
                <a:cs typeface="Times New Roman" panose="02020603050405020304" pitchFamily="18" charset="0"/>
              </a:rPr>
              <a:t>Nawwaf</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Kharma</a:t>
            </a:r>
            <a:endParaRPr lang="en-US" altLang="zh-TW"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5192159" y="5487972"/>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smtClean="0">
                <a:latin typeface="Times New Roman" panose="02020603050405020304" pitchFamily="18" charset="0"/>
                <a:cs typeface="Times New Roman" panose="02020603050405020304" pitchFamily="18" charset="0"/>
              </a:rPr>
              <a:t> </a:t>
            </a:r>
            <a:r>
              <a:rPr lang="en-US" altLang="zh-TW" sz="1800" dirty="0" err="1" smtClean="0">
                <a:latin typeface="Times New Roman" panose="02020603050405020304" pitchFamily="18" charset="0"/>
                <a:cs typeface="Times New Roman" panose="02020603050405020304" pitchFamily="18" charset="0"/>
              </a:rPr>
              <a:t>Chih</a:t>
            </a:r>
            <a:r>
              <a:rPr lang="en-US" altLang="zh-TW" sz="1800" dirty="0" smtClean="0">
                <a:latin typeface="Times New Roman" panose="02020603050405020304" pitchFamily="18" charset="0"/>
                <a:cs typeface="Times New Roman" panose="02020603050405020304" pitchFamily="18" charset="0"/>
              </a:rPr>
              <a:t>-Kai Wu</a:t>
            </a:r>
          </a:p>
          <a:p>
            <a:pPr algn="r"/>
            <a:r>
              <a:rPr lang="en-US" altLang="zh-TW" sz="1800" dirty="0" smtClean="0">
                <a:latin typeface="Times New Roman" panose="02020603050405020304" pitchFamily="18" charset="0"/>
                <a:ea typeface="標楷體" panose="03000509000000000000" pitchFamily="65" charset="-120"/>
                <a:cs typeface="Times New Roman" panose="02020603050405020304" pitchFamily="18" charset="0"/>
              </a:rPr>
              <a:t>Date: Mar.17, 2021.</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244993" y="3955410"/>
            <a:ext cx="8899007" cy="707886"/>
          </a:xfrm>
          <a:prstGeom prst="rect">
            <a:avLst/>
          </a:prstGeom>
        </p:spPr>
        <p:txBody>
          <a:bodyPr wrap="square">
            <a:spAutoFit/>
          </a:bodyPr>
          <a:lstStyle/>
          <a:p>
            <a:r>
              <a:rPr lang="en-US" altLang="zh-TW" sz="2000" dirty="0">
                <a:latin typeface="Times New Roman" panose="02020603050405020304" pitchFamily="18" charset="0"/>
                <a:cs typeface="Times New Roman" panose="02020603050405020304" pitchFamily="18" charset="0"/>
              </a:rPr>
              <a:t>Journal of Parallel and Distributed </a:t>
            </a:r>
            <a:r>
              <a:rPr lang="en-US" altLang="zh-TW" sz="2000" dirty="0" smtClean="0">
                <a:latin typeface="Times New Roman" panose="02020603050405020304" pitchFamily="18" charset="0"/>
                <a:cs typeface="Times New Roman" panose="02020603050405020304" pitchFamily="18" charset="0"/>
              </a:rPr>
              <a:t>Computing, Volume 68, Issue 4, April </a:t>
            </a:r>
            <a:r>
              <a:rPr lang="en-US" altLang="zh-TW" sz="2000" dirty="0">
                <a:latin typeface="Times New Roman" panose="02020603050405020304" pitchFamily="18" charset="0"/>
                <a:cs typeface="Times New Roman" panose="02020603050405020304" pitchFamily="18" charset="0"/>
              </a:rPr>
              <a:t>2008, Pages 399-409</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mc:Choice>
    <mc:Fallback xmlns="">
      <p:transition spd="slow" advTm="2519"/>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724653"/>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Effective task scheduling is essential for obtaining high performance in heterogeneous distributed computing systems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 However, finding an effective task schedule in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 requires the consideration of both the heterogeneity of processors and high </a:t>
            </a:r>
            <a:r>
              <a:rPr lang="en-US" altLang="zh-TW" sz="2400" dirty="0" err="1" smtClean="0">
                <a:latin typeface="Times New Roman" panose="02020603050405020304" pitchFamily="18" charset="0"/>
                <a:cs typeface="Times New Roman" panose="02020603050405020304" pitchFamily="18" charset="0"/>
              </a:rPr>
              <a:t>interprocessor</a:t>
            </a:r>
            <a:r>
              <a:rPr lang="en-US" altLang="zh-TW" sz="2400" dirty="0" smtClean="0">
                <a:latin typeface="Times New Roman" panose="02020603050405020304" pitchFamily="18" charset="0"/>
                <a:cs typeface="Times New Roman" panose="02020603050405020304" pitchFamily="18" charset="0"/>
              </a:rPr>
              <a:t> communication </a:t>
            </a:r>
            <a:r>
              <a:rPr lang="en-US" altLang="zh-TW" sz="2400" dirty="0">
                <a:latin typeface="Times New Roman" panose="02020603050405020304" pitchFamily="18" charset="0"/>
                <a:cs typeface="Times New Roman" panose="02020603050405020304" pitchFamily="18" charset="0"/>
              </a:rPr>
              <a:t>overhead, which results from non-trivial </a:t>
            </a:r>
            <a:r>
              <a:rPr lang="en-US" altLang="zh-TW" sz="2400" dirty="0" smtClean="0">
                <a:latin typeface="Times New Roman" panose="02020603050405020304" pitchFamily="18" charset="0"/>
                <a:cs typeface="Times New Roman" panose="02020603050405020304" pitchFamily="18" charset="0"/>
              </a:rPr>
              <a:t>data movement </a:t>
            </a:r>
            <a:r>
              <a:rPr lang="en-US" altLang="zh-TW" sz="2400" dirty="0">
                <a:latin typeface="Times New Roman" panose="02020603050405020304" pitchFamily="18" charset="0"/>
                <a:cs typeface="Times New Roman" panose="02020603050405020304" pitchFamily="18" charset="0"/>
              </a:rPr>
              <a:t>between tasks scheduled on different processors. In this paper, we present a new high-performance scheduling algorithm, called the longest dynamic critical path (LDCP) algorithm, for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 with a bounded number of processors. The LDCP algorithm is a list-based scheduling algorithm that uses a new attribute to efficiently select tasks for scheduling in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 </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44839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smtClean="0">
                <a:latin typeface="Times New Roman" panose="02020603050405020304" pitchFamily="18" charset="0"/>
                <a:cs typeface="Times New Roman" panose="02020603050405020304" pitchFamily="18" charset="0"/>
              </a:rPr>
              <a:t>Abstract(2/2</a:t>
            </a:r>
            <a:r>
              <a:rPr lang="en-US" altLang="zh-TW" sz="3200" b="1" dirty="0">
                <a:latin typeface="Times New Roman" panose="02020603050405020304" pitchFamily="18" charset="0"/>
                <a:cs typeface="Times New Roman" panose="02020603050405020304" pitchFamily="18" charset="0"/>
              </a:rPr>
              <a: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694979"/>
            <a:ext cx="9004993" cy="5944661"/>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The efficient selection of tasks enables the LDCP algorithm to generate high-quality task schedules in a heterogeneous computing environment. The performance of the LDCP algorithm is compared to two of the best existing scheduling algorithms for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 the HEFT and DLS algorithms. The comparison study shows that the LDCP algorithm outperforms the HEFT and DLS algorithms in terms of schedule length and speedup. Moreover, the improvement in performance obtained by the LDCP algorithm over the HEFT and DLS algorithms increases as the inter-task communication cost increases. Therefore, the LDCP algorithm provides a practical solution for scheduling parallel applications with high communication costs in </a:t>
            </a:r>
            <a:r>
              <a:rPr lang="en-US" altLang="zh-TW" sz="2400" dirty="0" err="1">
                <a:latin typeface="Times New Roman" panose="02020603050405020304" pitchFamily="18" charset="0"/>
                <a:cs typeface="Times New Roman" panose="02020603050405020304" pitchFamily="18" charset="0"/>
              </a:rPr>
              <a:t>HeDCSs</a:t>
            </a:r>
            <a:r>
              <a:rPr lang="en-US" altLang="zh-TW" sz="2400" dirty="0">
                <a:latin typeface="Times New Roman" panose="02020603050405020304" pitchFamily="18" charset="0"/>
                <a:cs typeface="Times New Roman" panose="02020603050405020304" pitchFamily="18" charset="0"/>
              </a:rPr>
              <a:t>.</a:t>
            </a:r>
            <a:endParaRPr lang="fr-FR"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153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30106"/>
            <a:ext cx="5725324" cy="2715004"/>
          </a:xfrm>
          <a:prstGeom prst="rect">
            <a:avLst/>
          </a:prstGeom>
        </p:spPr>
      </p:pic>
      <p:sp>
        <p:nvSpPr>
          <p:cNvPr id="2" name="標題 1"/>
          <p:cNvSpPr>
            <a:spLocks noGrp="1"/>
          </p:cNvSpPr>
          <p:nvPr>
            <p:ph type="title"/>
          </p:nvPr>
        </p:nvSpPr>
        <p:spPr>
          <a:xfrm>
            <a:off x="0" y="-75858"/>
            <a:ext cx="7886700" cy="1325563"/>
          </a:xfrm>
        </p:spPr>
        <p:txBody>
          <a:bodyPr/>
          <a:lstStyle/>
          <a:p>
            <a:r>
              <a:rPr lang="en-US" altLang="zh-TW" dirty="0"/>
              <a:t>Task priorities </a:t>
            </a:r>
            <a:endParaRPr lang="zh-TW" altLang="en-US" dirty="0"/>
          </a:p>
        </p:txBody>
      </p:sp>
      <p:pic>
        <p:nvPicPr>
          <p:cNvPr id="4" name="內容版面配置區 3"/>
          <p:cNvPicPr>
            <a:picLocks noGrp="1" noChangeAspect="1"/>
          </p:cNvPicPr>
          <p:nvPr>
            <p:ph idx="1"/>
          </p:nvPr>
        </p:nvPicPr>
        <p:blipFill rotWithShape="1">
          <a:blip r:embed="rId3">
            <a:extLst>
              <a:ext uri="{28A0092B-C50C-407E-A947-70E740481C1C}">
                <a14:useLocalDpi xmlns:a14="http://schemas.microsoft.com/office/drawing/2010/main" val="0"/>
              </a:ext>
            </a:extLst>
          </a:blip>
          <a:srcRect t="6558"/>
          <a:stretch/>
        </p:blipFill>
        <p:spPr>
          <a:xfrm>
            <a:off x="0" y="832733"/>
            <a:ext cx="5801535" cy="2706095"/>
          </a:xfrm>
        </p:spPr>
      </p:pic>
      <p:sp>
        <p:nvSpPr>
          <p:cNvPr id="6" name="矩形 5"/>
          <p:cNvSpPr/>
          <p:nvPr/>
        </p:nvSpPr>
        <p:spPr>
          <a:xfrm>
            <a:off x="504345" y="6045110"/>
            <a:ext cx="601447" cy="584775"/>
          </a:xfrm>
          <a:prstGeom prst="rect">
            <a:avLst/>
          </a:prstGeom>
          <a:noFill/>
        </p:spPr>
        <p:txBody>
          <a:bodyPr wrap="none" lIns="91440" tIns="45720" rIns="91440" bIns="45720">
            <a:spAutoFit/>
          </a:bodyPr>
          <a:lstStyle/>
          <a:p>
            <a:pPr algn="ctr"/>
            <a:r>
              <a:rPr lang="en-US" altLang="zh-TW" sz="3200" dirty="0" smtClean="0">
                <a:ln w="0"/>
                <a:effectLst>
                  <a:outerShdw blurRad="38100" dist="19050" dir="2700000" algn="tl" rotWithShape="0">
                    <a:schemeClr val="dk1">
                      <a:alpha val="40000"/>
                    </a:schemeClr>
                  </a:outerShdw>
                </a:effectLst>
              </a:rPr>
              <a:t>21</a:t>
            </a:r>
            <a:endParaRPr lang="zh-TW" altLang="en-US" sz="3200" dirty="0">
              <a:ln w="0"/>
              <a:effectLst>
                <a:outerShdw blurRad="38100" dist="19050" dir="2700000" algn="tl" rotWithShape="0">
                  <a:schemeClr val="dk1">
                    <a:alpha val="40000"/>
                  </a:schemeClr>
                </a:outerShdw>
              </a:effectLst>
            </a:endParaRPr>
          </a:p>
        </p:txBody>
      </p:sp>
      <p:sp>
        <p:nvSpPr>
          <p:cNvPr id="8" name="矩形 7"/>
          <p:cNvSpPr/>
          <p:nvPr/>
        </p:nvSpPr>
        <p:spPr>
          <a:xfrm>
            <a:off x="1928954" y="6045109"/>
            <a:ext cx="601447" cy="584775"/>
          </a:xfrm>
          <a:prstGeom prst="rect">
            <a:avLst/>
          </a:prstGeom>
          <a:noFill/>
        </p:spPr>
        <p:txBody>
          <a:bodyPr wrap="none" lIns="91440" tIns="45720" rIns="91440" bIns="45720">
            <a:spAutoFit/>
          </a:bodyPr>
          <a:lstStyle/>
          <a:p>
            <a:pPr algn="ctr"/>
            <a:r>
              <a:rPr lang="en-US" altLang="zh-TW" sz="3200" dirty="0" smtClean="0">
                <a:ln w="0"/>
                <a:effectLst>
                  <a:outerShdw blurRad="38100" dist="19050" dir="2700000" algn="tl" rotWithShape="0">
                    <a:schemeClr val="dk1">
                      <a:alpha val="40000"/>
                    </a:schemeClr>
                  </a:outerShdw>
                </a:effectLst>
              </a:rPr>
              <a:t>28</a:t>
            </a:r>
            <a:endParaRPr lang="zh-TW" altLang="en-US" sz="3200" dirty="0">
              <a:ln w="0"/>
              <a:effectLst>
                <a:outerShdw blurRad="38100" dist="19050" dir="2700000" algn="tl" rotWithShape="0">
                  <a:schemeClr val="dk1">
                    <a:alpha val="40000"/>
                  </a:schemeClr>
                </a:outerShdw>
              </a:effectLst>
            </a:endParaRPr>
          </a:p>
        </p:txBody>
      </p:sp>
      <p:sp>
        <p:nvSpPr>
          <p:cNvPr id="9" name="矩形 8"/>
          <p:cNvSpPr/>
          <p:nvPr/>
        </p:nvSpPr>
        <p:spPr>
          <a:xfrm>
            <a:off x="4754852" y="6041439"/>
            <a:ext cx="601447" cy="584775"/>
          </a:xfrm>
          <a:prstGeom prst="rect">
            <a:avLst/>
          </a:prstGeom>
          <a:noFill/>
        </p:spPr>
        <p:txBody>
          <a:bodyPr wrap="none" lIns="91440" tIns="45720" rIns="91440" bIns="45720">
            <a:spAutoFit/>
          </a:bodyPr>
          <a:lstStyle/>
          <a:p>
            <a:pPr algn="ctr"/>
            <a:r>
              <a:rPr lang="en-US" altLang="zh-TW" sz="3200" dirty="0" smtClean="0">
                <a:ln w="0"/>
                <a:effectLst>
                  <a:outerShdw blurRad="38100" dist="19050" dir="2700000" algn="tl" rotWithShape="0">
                    <a:schemeClr val="dk1">
                      <a:alpha val="40000"/>
                    </a:schemeClr>
                  </a:outerShdw>
                </a:effectLst>
              </a:rPr>
              <a:t>27</a:t>
            </a:r>
            <a:endParaRPr lang="zh-TW" altLang="en-US" sz="3200" dirty="0">
              <a:ln w="0"/>
              <a:effectLst>
                <a:outerShdw blurRad="38100" dist="19050" dir="2700000" algn="tl" rotWithShape="0">
                  <a:schemeClr val="dk1">
                    <a:alpha val="40000"/>
                  </a:schemeClr>
                </a:outerShdw>
              </a:effectLst>
            </a:endParaRPr>
          </a:p>
        </p:txBody>
      </p:sp>
      <p:sp>
        <p:nvSpPr>
          <p:cNvPr id="10" name="矩形 9"/>
          <p:cNvSpPr/>
          <p:nvPr/>
        </p:nvSpPr>
        <p:spPr>
          <a:xfrm>
            <a:off x="3341903" y="6041440"/>
            <a:ext cx="601447" cy="584775"/>
          </a:xfrm>
          <a:prstGeom prst="rect">
            <a:avLst/>
          </a:prstGeom>
          <a:noFill/>
        </p:spPr>
        <p:txBody>
          <a:bodyPr wrap="none" lIns="91440" tIns="45720" rIns="91440" bIns="45720">
            <a:spAutoFit/>
          </a:bodyPr>
          <a:lstStyle/>
          <a:p>
            <a:pPr algn="ctr"/>
            <a:r>
              <a:rPr lang="en-US" altLang="zh-TW" sz="3200" dirty="0" smtClean="0">
                <a:ln w="0"/>
                <a:effectLst>
                  <a:outerShdw blurRad="38100" dist="19050" dir="2700000" algn="tl" rotWithShape="0">
                    <a:schemeClr val="dk1">
                      <a:alpha val="40000"/>
                    </a:schemeClr>
                  </a:outerShdw>
                </a:effectLst>
              </a:rPr>
              <a:t>25</a:t>
            </a:r>
            <a:endParaRPr lang="zh-TW" altLang="en-US" sz="32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2861251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1194419305"/>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68652084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454173236"/>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606719278"/>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96647540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604976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165126" y="4177732"/>
            <a:ext cx="2260555" cy="2246769"/>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0-3-8-10</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T0=78</a:t>
            </a:r>
          </a:p>
          <a:p>
            <a:pPr algn="ctr"/>
            <a:r>
              <a:rPr lang="en-US" altLang="zh-TW" sz="2800" dirty="0" smtClean="0">
                <a:ln w="0"/>
                <a:effectLst>
                  <a:outerShdw blurRad="38100" dist="19050" dir="2700000" algn="tl" rotWithShape="0">
                    <a:schemeClr val="dk1">
                      <a:alpha val="40000"/>
                    </a:schemeClr>
                  </a:outerShdw>
                </a:effectLst>
              </a:rPr>
              <a:t>T3=67</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T8=42.5</a:t>
            </a:r>
          </a:p>
          <a:p>
            <a:pPr algn="ctr"/>
            <a:r>
              <a:rPr lang="en-US" altLang="zh-TW" sz="2800" dirty="0" smtClean="0">
                <a:ln w="0"/>
                <a:effectLst>
                  <a:outerShdw blurRad="38100" dist="19050" dir="2700000" algn="tl" rotWithShape="0">
                    <a:schemeClr val="dk1">
                      <a:alpha val="40000"/>
                    </a:schemeClr>
                  </a:outerShdw>
                </a:effectLst>
              </a:rPr>
              <a:t>T10=13.5</a:t>
            </a: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8997" y="2674419"/>
            <a:ext cx="4963218" cy="3477110"/>
          </a:xfrm>
          <a:prstGeom prst="rect">
            <a:avLst/>
          </a:prstGeom>
        </p:spPr>
      </p:pic>
    </p:spTree>
    <p:extLst>
      <p:ext uri="{BB962C8B-B14F-4D97-AF65-F5344CB8AC3E}">
        <p14:creationId xmlns:p14="http://schemas.microsoft.com/office/powerpoint/2010/main" val="194377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380619527"/>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454173236"/>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606719278"/>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96647540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604976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523397" y="4177732"/>
            <a:ext cx="1544012" cy="1384995"/>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4-9</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T4=38</a:t>
            </a:r>
          </a:p>
          <a:p>
            <a:pPr algn="ctr"/>
            <a:r>
              <a:rPr lang="en-US" altLang="zh-TW" sz="2800" dirty="0" smtClean="0">
                <a:ln w="0"/>
                <a:effectLst>
                  <a:outerShdw blurRad="38100" dist="19050" dir="2700000" algn="tl" rotWithShape="0">
                    <a:schemeClr val="dk1">
                      <a:alpha val="40000"/>
                    </a:schemeClr>
                  </a:outerShdw>
                </a:effectLst>
              </a:rPr>
              <a:t>T9=9</a:t>
            </a:r>
          </a:p>
        </p:txBody>
      </p:sp>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8051" y="2595731"/>
            <a:ext cx="5001323" cy="3515216"/>
          </a:xfrm>
          <a:prstGeom prst="rect">
            <a:avLst/>
          </a:prstGeom>
        </p:spPr>
      </p:pic>
    </p:spTree>
    <p:extLst>
      <p:ext uri="{BB962C8B-B14F-4D97-AF65-F5344CB8AC3E}">
        <p14:creationId xmlns:p14="http://schemas.microsoft.com/office/powerpoint/2010/main" val="2735968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3407335442"/>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r>
                        <a:rPr lang="en-US" altLang="zh-TW" dirty="0" smtClean="0"/>
                        <a:t>t6</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454173236"/>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606719278"/>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96647540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604976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342574" y="4704506"/>
            <a:ext cx="1726755" cy="1384995"/>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6-10</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T6=35.5</a:t>
            </a:r>
          </a:p>
          <a:p>
            <a:pPr algn="ctr"/>
            <a:r>
              <a:rPr lang="en-US" altLang="zh-TW" sz="2800" dirty="0" smtClean="0">
                <a:ln w="0"/>
                <a:effectLst>
                  <a:outerShdw blurRad="38100" dist="19050" dir="2700000" algn="tl" rotWithShape="0">
                    <a:schemeClr val="dk1">
                      <a:alpha val="40000"/>
                    </a:schemeClr>
                  </a:outerShdw>
                </a:effectLst>
              </a:rPr>
              <a:t>T10=13.5</a:t>
            </a: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4452" y="2621917"/>
            <a:ext cx="4991797" cy="3467584"/>
          </a:xfrm>
          <a:prstGeom prst="rect">
            <a:avLst/>
          </a:prstGeom>
        </p:spPr>
      </p:pic>
    </p:spTree>
    <p:extLst>
      <p:ext uri="{BB962C8B-B14F-4D97-AF65-F5344CB8AC3E}">
        <p14:creationId xmlns:p14="http://schemas.microsoft.com/office/powerpoint/2010/main" val="1132796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4212933266"/>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r>
                        <a:rPr lang="en-US" altLang="zh-TW" smtClean="0"/>
                        <a:t>t6</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454173236"/>
                  </a:ext>
                </a:extLst>
              </a:tr>
              <a:tr h="459891">
                <a:tc>
                  <a:txBody>
                    <a:bodyPr/>
                    <a:lstStyle/>
                    <a:p>
                      <a:r>
                        <a:rPr lang="en-US" altLang="zh-TW" dirty="0" smtClean="0"/>
                        <a:t>t2</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606719278"/>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96647540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604976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420638" y="4764141"/>
            <a:ext cx="1491114" cy="1384995"/>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2-9</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T2=34</a:t>
            </a:r>
          </a:p>
          <a:p>
            <a:pPr algn="ctr"/>
            <a:r>
              <a:rPr lang="en-US" altLang="zh-TW" sz="2800" dirty="0" smtClean="0">
                <a:ln w="0"/>
                <a:effectLst>
                  <a:outerShdw blurRad="38100" dist="19050" dir="2700000" algn="tl" rotWithShape="0">
                    <a:schemeClr val="dk1">
                      <a:alpha val="40000"/>
                    </a:schemeClr>
                  </a:outerShdw>
                </a:effectLst>
              </a:rPr>
              <a:t>T9=9</a:t>
            </a:r>
          </a:p>
        </p:txBody>
      </p:sp>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6665" y="2672026"/>
            <a:ext cx="4982270" cy="3477110"/>
          </a:xfrm>
          <a:prstGeom prst="rect">
            <a:avLst/>
          </a:prstGeom>
        </p:spPr>
      </p:pic>
    </p:spTree>
    <p:extLst>
      <p:ext uri="{BB962C8B-B14F-4D97-AF65-F5344CB8AC3E}">
        <p14:creationId xmlns:p14="http://schemas.microsoft.com/office/powerpoint/2010/main" val="364610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2676046459"/>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r>
                        <a:rPr lang="en-US" altLang="zh-TW" dirty="0" smtClean="0"/>
                        <a:t>t6</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454173236"/>
                  </a:ext>
                </a:extLst>
              </a:tr>
              <a:tr h="459891">
                <a:tc>
                  <a:txBody>
                    <a:bodyPr/>
                    <a:lstStyle/>
                    <a:p>
                      <a:r>
                        <a:rPr lang="en-US" altLang="zh-TW" dirty="0" smtClean="0"/>
                        <a:t>t2</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606719278"/>
                  </a:ext>
                </a:extLst>
              </a:tr>
              <a:tr h="459891">
                <a:tc>
                  <a:txBody>
                    <a:bodyPr/>
                    <a:lstStyle/>
                    <a:p>
                      <a:r>
                        <a:rPr lang="en-US" altLang="zh-TW" dirty="0" smtClean="0"/>
                        <a:t>t5</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966475402"/>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31604976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553214" y="4694567"/>
            <a:ext cx="1544012" cy="1384995"/>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5-9</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T5=20.5</a:t>
            </a:r>
          </a:p>
          <a:p>
            <a:pPr algn="ctr"/>
            <a:r>
              <a:rPr lang="en-US" altLang="zh-TW" sz="2800" dirty="0" smtClean="0">
                <a:ln w="0"/>
                <a:effectLst>
                  <a:outerShdw blurRad="38100" dist="19050" dir="2700000" algn="tl" rotWithShape="0">
                    <a:schemeClr val="dk1">
                      <a:alpha val="40000"/>
                    </a:schemeClr>
                  </a:outerShdw>
                </a:effectLst>
              </a:rPr>
              <a:t>T9=9</a:t>
            </a:r>
          </a:p>
        </p:txBody>
      </p:sp>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2327" y="2759107"/>
            <a:ext cx="4991797" cy="3486637"/>
          </a:xfrm>
          <a:prstGeom prst="rect">
            <a:avLst/>
          </a:prstGeom>
        </p:spPr>
      </p:pic>
    </p:spTree>
    <p:extLst>
      <p:ext uri="{BB962C8B-B14F-4D97-AF65-F5344CB8AC3E}">
        <p14:creationId xmlns:p14="http://schemas.microsoft.com/office/powerpoint/2010/main" val="296734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249439678"/>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r>
                        <a:rPr lang="en-US" altLang="zh-TW" dirty="0" smtClean="0"/>
                        <a:t>t6</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454173236"/>
                  </a:ext>
                </a:extLst>
              </a:tr>
              <a:tr h="459891">
                <a:tc>
                  <a:txBody>
                    <a:bodyPr/>
                    <a:lstStyle/>
                    <a:p>
                      <a:r>
                        <a:rPr lang="en-US" altLang="zh-TW" dirty="0" smtClean="0"/>
                        <a:t>t2</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606719278"/>
                  </a:ext>
                </a:extLst>
              </a:tr>
              <a:tr h="459891">
                <a:tc>
                  <a:txBody>
                    <a:bodyPr/>
                    <a:lstStyle/>
                    <a:p>
                      <a:r>
                        <a:rPr lang="en-US" altLang="zh-TW" dirty="0" smtClean="0"/>
                        <a:t>t5</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966475402"/>
                  </a:ext>
                </a:extLst>
              </a:tr>
              <a:tr h="459891">
                <a:tc>
                  <a:txBody>
                    <a:bodyPr/>
                    <a:lstStyle/>
                    <a:p>
                      <a:r>
                        <a:rPr lang="en-US" altLang="zh-TW" smtClean="0"/>
                        <a:t>t7</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160497653"/>
                  </a:ext>
                </a:extLst>
              </a:tr>
              <a:tr h="459891">
                <a:tc>
                  <a:txBody>
                    <a:bodyPr/>
                    <a:lstStyle/>
                    <a:p>
                      <a:r>
                        <a:rPr lang="en-US" altLang="zh-TW" dirty="0" smtClean="0"/>
                        <a:t>t9</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240153153"/>
                  </a:ext>
                </a:extLst>
              </a:tr>
              <a:tr h="459891">
                <a:tc>
                  <a:txBody>
                    <a:bodyPr/>
                    <a:lstStyle/>
                    <a:p>
                      <a:endParaRPr lang="zh-TW" altLang="en-US" dirty="0"/>
                    </a:p>
                  </a:txBody>
                  <a:tcPr/>
                </a:tc>
                <a:tc>
                  <a:txBody>
                    <a:bodyPr/>
                    <a:lstStyle/>
                    <a:p>
                      <a:endParaRPr lang="zh-TW" altLang="en-US" dirty="0"/>
                    </a:p>
                  </a:txBody>
                  <a:tcPr/>
                </a:tc>
                <a:extLst>
                  <a:ext uri="{0D108BD9-81ED-4DB2-BD59-A6C34878D82A}">
                    <a16:rowId xmlns:a16="http://schemas.microsoft.com/office/drawing/2014/main" val="4231779134"/>
                  </a:ext>
                </a:extLst>
              </a:tr>
            </a:tbl>
          </a:graphicData>
        </a:graphic>
      </p:graphicFrame>
      <p:sp>
        <p:nvSpPr>
          <p:cNvPr id="7" name="矩形 6"/>
          <p:cNvSpPr/>
          <p:nvPr/>
        </p:nvSpPr>
        <p:spPr>
          <a:xfrm>
            <a:off x="533336" y="4376515"/>
            <a:ext cx="1544012" cy="1384995"/>
          </a:xfrm>
          <a:prstGeom prst="rect">
            <a:avLst/>
          </a:prstGeom>
          <a:noFill/>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LDCP 7-9</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T7=13</a:t>
            </a:r>
          </a:p>
          <a:p>
            <a:pPr algn="ctr"/>
            <a:r>
              <a:rPr lang="en-US" altLang="zh-TW" sz="2800" dirty="0" smtClean="0">
                <a:ln w="0"/>
                <a:effectLst>
                  <a:outerShdw blurRad="38100" dist="19050" dir="2700000" algn="tl" rotWithShape="0">
                    <a:schemeClr val="dk1">
                      <a:alpha val="40000"/>
                    </a:schemeClr>
                  </a:outerShdw>
                </a:effectLst>
              </a:rPr>
              <a:t>T9=6</a:t>
            </a:r>
          </a:p>
        </p:txBody>
      </p:sp>
      <p:pic>
        <p:nvPicPr>
          <p:cNvPr id="2" name="圖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5400" y="2758695"/>
            <a:ext cx="5010849" cy="3467584"/>
          </a:xfrm>
          <a:prstGeom prst="rect">
            <a:avLst/>
          </a:prstGeom>
        </p:spPr>
      </p:pic>
    </p:spTree>
    <p:extLst>
      <p:ext uri="{BB962C8B-B14F-4D97-AF65-F5344CB8AC3E}">
        <p14:creationId xmlns:p14="http://schemas.microsoft.com/office/powerpoint/2010/main" val="329919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5997994" cy="4107950"/>
          </a:xfrm>
        </p:spPr>
      </p:pic>
      <p:graphicFrame>
        <p:nvGraphicFramePr>
          <p:cNvPr id="6" name="表格 5"/>
          <p:cNvGraphicFramePr>
            <a:graphicFrameLocks noGrp="1"/>
          </p:cNvGraphicFramePr>
          <p:nvPr>
            <p:extLst>
              <p:ext uri="{D42A27DB-BD31-4B8C-83A1-F6EECF244321}">
                <p14:modId xmlns:p14="http://schemas.microsoft.com/office/powerpoint/2010/main" val="1650773924"/>
              </p:ext>
            </p:extLst>
          </p:nvPr>
        </p:nvGraphicFramePr>
        <p:xfrm>
          <a:off x="5997994" y="145890"/>
          <a:ext cx="1918255" cy="5518692"/>
        </p:xfrm>
        <a:graphic>
          <a:graphicData uri="http://schemas.openxmlformats.org/drawingml/2006/table">
            <a:tbl>
              <a:tblPr firstRow="1" bandRow="1">
                <a:tableStyleId>{5C22544A-7EE6-4342-B048-85BDC9FD1C3A}</a:tableStyleId>
              </a:tblPr>
              <a:tblGrid>
                <a:gridCol w="636108">
                  <a:extLst>
                    <a:ext uri="{9D8B030D-6E8A-4147-A177-3AD203B41FA5}">
                      <a16:colId xmlns:a16="http://schemas.microsoft.com/office/drawing/2014/main" val="2218884083"/>
                    </a:ext>
                  </a:extLst>
                </a:gridCol>
                <a:gridCol w="1282147">
                  <a:extLst>
                    <a:ext uri="{9D8B030D-6E8A-4147-A177-3AD203B41FA5}">
                      <a16:colId xmlns:a16="http://schemas.microsoft.com/office/drawing/2014/main" val="477638946"/>
                    </a:ext>
                  </a:extLst>
                </a:gridCol>
              </a:tblGrid>
              <a:tr h="459891">
                <a:tc>
                  <a:txBody>
                    <a:bodyPr/>
                    <a:lstStyle/>
                    <a:p>
                      <a:r>
                        <a:rPr lang="en-US" altLang="zh-TW" dirty="0" smtClean="0"/>
                        <a:t>Task</a:t>
                      </a:r>
                      <a:endParaRPr lang="zh-TW" altLang="en-US" dirty="0"/>
                    </a:p>
                  </a:txBody>
                  <a:tcPr/>
                </a:tc>
                <a:tc>
                  <a:txBody>
                    <a:bodyPr/>
                    <a:lstStyle/>
                    <a:p>
                      <a:r>
                        <a:rPr lang="en-US" altLang="zh-TW" dirty="0" smtClean="0"/>
                        <a:t>processor</a:t>
                      </a:r>
                      <a:endParaRPr lang="zh-TW" altLang="en-US" dirty="0"/>
                    </a:p>
                  </a:txBody>
                  <a:tcPr/>
                </a:tc>
                <a:extLst>
                  <a:ext uri="{0D108BD9-81ED-4DB2-BD59-A6C34878D82A}">
                    <a16:rowId xmlns:a16="http://schemas.microsoft.com/office/drawing/2014/main" val="3313639288"/>
                  </a:ext>
                </a:extLst>
              </a:tr>
              <a:tr h="459891">
                <a:tc>
                  <a:txBody>
                    <a:bodyPr/>
                    <a:lstStyle/>
                    <a:p>
                      <a:r>
                        <a:rPr lang="en-US" altLang="zh-TW" dirty="0" smtClean="0"/>
                        <a:t>t1</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489780915"/>
                  </a:ext>
                </a:extLst>
              </a:tr>
              <a:tr h="459891">
                <a:tc>
                  <a:txBody>
                    <a:bodyPr/>
                    <a:lstStyle/>
                    <a:p>
                      <a:r>
                        <a:rPr lang="en-US" altLang="zh-TW" dirty="0" smtClean="0"/>
                        <a:t>t0</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982516459"/>
                  </a:ext>
                </a:extLst>
              </a:tr>
              <a:tr h="459891">
                <a:tc>
                  <a:txBody>
                    <a:bodyPr/>
                    <a:lstStyle/>
                    <a:p>
                      <a:r>
                        <a:rPr lang="en-US" altLang="zh-TW" dirty="0" smtClean="0"/>
                        <a:t>t3</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764204722"/>
                  </a:ext>
                </a:extLst>
              </a:tr>
              <a:tr h="459891">
                <a:tc>
                  <a:txBody>
                    <a:bodyPr/>
                    <a:lstStyle/>
                    <a:p>
                      <a:r>
                        <a:rPr lang="en-US" altLang="zh-TW" dirty="0" smtClean="0"/>
                        <a:t>t8</a:t>
                      </a:r>
                      <a:endParaRPr lang="zh-TW" altLang="en-US" dirty="0"/>
                    </a:p>
                  </a:txBody>
                  <a:tcPr/>
                </a:tc>
                <a:tc>
                  <a:txBody>
                    <a:bodyPr/>
                    <a:lstStyle/>
                    <a:p>
                      <a:r>
                        <a:rPr lang="en-US" altLang="zh-TW" dirty="0" smtClean="0"/>
                        <a:t>P0</a:t>
                      </a:r>
                    </a:p>
                  </a:txBody>
                  <a:tcPr/>
                </a:tc>
                <a:extLst>
                  <a:ext uri="{0D108BD9-81ED-4DB2-BD59-A6C34878D82A}">
                    <a16:rowId xmlns:a16="http://schemas.microsoft.com/office/drawing/2014/main" val="452490491"/>
                  </a:ext>
                </a:extLst>
              </a:tr>
              <a:tr h="459891">
                <a:tc>
                  <a:txBody>
                    <a:bodyPr/>
                    <a:lstStyle/>
                    <a:p>
                      <a:r>
                        <a:rPr lang="en-US" altLang="zh-TW" dirty="0" smtClean="0"/>
                        <a:t>t4</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686520842"/>
                  </a:ext>
                </a:extLst>
              </a:tr>
              <a:tr h="459891">
                <a:tc>
                  <a:txBody>
                    <a:bodyPr/>
                    <a:lstStyle/>
                    <a:p>
                      <a:r>
                        <a:rPr lang="en-US" altLang="zh-TW" dirty="0" smtClean="0"/>
                        <a:t>t6</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454173236"/>
                  </a:ext>
                </a:extLst>
              </a:tr>
              <a:tr h="459891">
                <a:tc>
                  <a:txBody>
                    <a:bodyPr/>
                    <a:lstStyle/>
                    <a:p>
                      <a:r>
                        <a:rPr lang="en-US" altLang="zh-TW" dirty="0" smtClean="0"/>
                        <a:t>t2</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606719278"/>
                  </a:ext>
                </a:extLst>
              </a:tr>
              <a:tr h="459891">
                <a:tc>
                  <a:txBody>
                    <a:bodyPr/>
                    <a:lstStyle/>
                    <a:p>
                      <a:r>
                        <a:rPr lang="en-US" altLang="zh-TW" dirty="0" smtClean="0"/>
                        <a:t>t5</a:t>
                      </a:r>
                      <a:endParaRPr lang="zh-TW" altLang="en-US" dirty="0"/>
                    </a:p>
                  </a:txBody>
                  <a:tcPr/>
                </a:tc>
                <a:tc>
                  <a:txBody>
                    <a:bodyPr/>
                    <a:lstStyle/>
                    <a:p>
                      <a:r>
                        <a:rPr lang="en-US" altLang="zh-TW" dirty="0" smtClean="0"/>
                        <a:t>P1</a:t>
                      </a:r>
                      <a:endParaRPr lang="zh-TW" altLang="en-US" dirty="0"/>
                    </a:p>
                  </a:txBody>
                  <a:tcPr/>
                </a:tc>
                <a:extLst>
                  <a:ext uri="{0D108BD9-81ED-4DB2-BD59-A6C34878D82A}">
                    <a16:rowId xmlns:a16="http://schemas.microsoft.com/office/drawing/2014/main" val="1966475402"/>
                  </a:ext>
                </a:extLst>
              </a:tr>
              <a:tr h="459891">
                <a:tc>
                  <a:txBody>
                    <a:bodyPr/>
                    <a:lstStyle/>
                    <a:p>
                      <a:r>
                        <a:rPr lang="en-US" altLang="zh-TW" smtClean="0"/>
                        <a:t>t7</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3160497653"/>
                  </a:ext>
                </a:extLst>
              </a:tr>
              <a:tr h="459891">
                <a:tc>
                  <a:txBody>
                    <a:bodyPr/>
                    <a:lstStyle/>
                    <a:p>
                      <a:r>
                        <a:rPr lang="en-US" altLang="zh-TW" dirty="0" smtClean="0"/>
                        <a:t>t9</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1240153153"/>
                  </a:ext>
                </a:extLst>
              </a:tr>
              <a:tr h="459891">
                <a:tc>
                  <a:txBody>
                    <a:bodyPr/>
                    <a:lstStyle/>
                    <a:p>
                      <a:r>
                        <a:rPr lang="en-US" altLang="zh-TW" dirty="0" smtClean="0"/>
                        <a:t>t10</a:t>
                      </a:r>
                      <a:endParaRPr lang="zh-TW" altLang="en-US" dirty="0"/>
                    </a:p>
                  </a:txBody>
                  <a:tcPr/>
                </a:tc>
                <a:tc>
                  <a:txBody>
                    <a:bodyPr/>
                    <a:lstStyle/>
                    <a:p>
                      <a:r>
                        <a:rPr lang="en-US" altLang="zh-TW" dirty="0" smtClean="0"/>
                        <a:t>P0</a:t>
                      </a:r>
                      <a:endParaRPr lang="zh-TW" altLang="en-US" dirty="0"/>
                    </a:p>
                  </a:txBody>
                  <a:tcPr/>
                </a:tc>
                <a:extLst>
                  <a:ext uri="{0D108BD9-81ED-4DB2-BD59-A6C34878D82A}">
                    <a16:rowId xmlns:a16="http://schemas.microsoft.com/office/drawing/2014/main" val="4231779134"/>
                  </a:ext>
                </a:extLst>
              </a:tr>
            </a:tbl>
          </a:graphicData>
        </a:graphic>
      </p:graphicFrame>
      <p:sp>
        <p:nvSpPr>
          <p:cNvPr id="3" name="矩形 2"/>
          <p:cNvSpPr/>
          <p:nvPr/>
        </p:nvSpPr>
        <p:spPr>
          <a:xfrm>
            <a:off x="6176921" y="5849506"/>
            <a:ext cx="2499018" cy="584775"/>
          </a:xfrm>
          <a:prstGeom prst="rect">
            <a:avLst/>
          </a:prstGeom>
          <a:noFill/>
        </p:spPr>
        <p:txBody>
          <a:bodyPr wrap="none" lIns="91440" tIns="45720" rIns="91440" bIns="45720">
            <a:spAutoFit/>
          </a:bodyPr>
          <a:lstStyle/>
          <a:p>
            <a:pPr algn="ctr"/>
            <a:r>
              <a:rPr lang="en-US" altLang="zh-TW" sz="3200" cap="none" spc="0" dirty="0" err="1" smtClean="0">
                <a:ln w="0"/>
                <a:solidFill>
                  <a:schemeClr val="tx1"/>
                </a:solidFill>
              </a:rPr>
              <a:t>makespan</a:t>
            </a:r>
            <a:r>
              <a:rPr lang="en-US" altLang="zh-TW" sz="3200" cap="none" spc="0" dirty="0" smtClean="0">
                <a:ln w="0"/>
                <a:solidFill>
                  <a:schemeClr val="tx1"/>
                </a:solidFill>
              </a:rPr>
              <a:t>=64</a:t>
            </a:r>
            <a:endParaRPr lang="zh-TW" altLang="en-US" sz="3200" cap="none" spc="0" dirty="0">
              <a:ln w="0"/>
              <a:solidFill>
                <a:schemeClr val="tx1"/>
              </a:solidFill>
            </a:endParaRPr>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605" y="2769047"/>
            <a:ext cx="5001323" cy="3486637"/>
          </a:xfrm>
          <a:prstGeom prst="rect">
            <a:avLst/>
          </a:prstGeom>
        </p:spPr>
      </p:pic>
    </p:spTree>
    <p:extLst>
      <p:ext uri="{BB962C8B-B14F-4D97-AF65-F5344CB8AC3E}">
        <p14:creationId xmlns:p14="http://schemas.microsoft.com/office/powerpoint/2010/main" val="2317755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5205" y="1189725"/>
            <a:ext cx="5029902" cy="3496163"/>
          </a:xfrm>
        </p:spPr>
      </p:pic>
    </p:spTree>
    <p:extLst>
      <p:ext uri="{BB962C8B-B14F-4D97-AF65-F5344CB8AC3E}">
        <p14:creationId xmlns:p14="http://schemas.microsoft.com/office/powerpoint/2010/main" val="1865288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44" y="228600"/>
            <a:ext cx="9006856" cy="2396985"/>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144" y="2930080"/>
            <a:ext cx="4422922" cy="3751456"/>
          </a:xfrm>
          <a:prstGeom prst="rect">
            <a:avLst/>
          </a:prstGeom>
        </p:spPr>
      </p:pic>
    </p:spTree>
    <p:extLst>
      <p:ext uri="{BB962C8B-B14F-4D97-AF65-F5344CB8AC3E}">
        <p14:creationId xmlns:p14="http://schemas.microsoft.com/office/powerpoint/2010/main" val="9994875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92611</TotalTime>
  <Words>424</Words>
  <Application>Microsoft Office PowerPoint</Application>
  <PresentationFormat>如螢幕大小 (4:3)</PresentationFormat>
  <Paragraphs>154</Paragraphs>
  <Slides>13</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13</vt:i4>
      </vt:variant>
    </vt:vector>
  </HeadingPairs>
  <TitlesOfParts>
    <vt:vector size="20" baseType="lpstr">
      <vt:lpstr>新細明體</vt:lpstr>
      <vt:lpstr>標楷體</vt:lpstr>
      <vt:lpstr>Arial</vt:lpstr>
      <vt:lpstr>Calibri</vt:lpstr>
      <vt:lpstr>Calibri Light</vt:lpstr>
      <vt:lpstr>Times New Roman</vt:lpstr>
      <vt:lpstr>Office 佈景主題</vt:lpstr>
      <vt:lpstr>A high performance algorithm for static task scheduling in heterogeneous distributed computing systems</vt:lpstr>
      <vt:lpstr>Abstract(1/2)</vt:lpstr>
      <vt:lpstr>Abstract(2/2)</vt:lpstr>
      <vt:lpstr>Task priorities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User</cp:lastModifiedBy>
  <cp:revision>926</cp:revision>
  <dcterms:created xsi:type="dcterms:W3CDTF">2017-09-25T08:45:50Z</dcterms:created>
  <dcterms:modified xsi:type="dcterms:W3CDTF">2021-03-16T12:44:22Z</dcterms:modified>
</cp:coreProperties>
</file>