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93" r:id="rId2"/>
    <p:sldId id="294" r:id="rId3"/>
    <p:sldId id="295" r:id="rId4"/>
    <p:sldId id="320"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1" r:id="rId26"/>
    <p:sldId id="296" r:id="rId27"/>
    <p:sldId id="297" r:id="rId28"/>
    <p:sldId id="298" r:id="rId29"/>
    <p:sldId id="322" r:id="rId30"/>
    <p:sldId id="299" r:id="rId31"/>
    <p:sldId id="258" r:id="rId32"/>
    <p:sldId id="259" r:id="rId33"/>
    <p:sldId id="260"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2021/1/12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30</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31</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err="1">
                <a:latin typeface="Times New Roman" pitchFamily="18" charset="0"/>
                <a:cs typeface="Times New Roman" pitchFamily="18" charset="0"/>
              </a:rPr>
              <a:t>Ngila</a:t>
            </a:r>
            <a:r>
              <a:rPr lang="en-US" altLang="zh-TW" sz="3200" dirty="0">
                <a:latin typeface="Times New Roman" pitchFamily="18" charset="0"/>
                <a:cs typeface="Times New Roman" pitchFamily="18" charset="0"/>
              </a:rPr>
              <a:t>: Global Pair-wise Alignments with Logarithmic and Affine Gap Costs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2852936"/>
            <a:ext cx="6858000" cy="425017"/>
          </a:xfrm>
        </p:spPr>
        <p:txBody>
          <a:bodyPr>
            <a:noAutofit/>
          </a:bodyPr>
          <a:lstStyle/>
          <a:p>
            <a:pPr fontAlgn="ctr"/>
            <a:r>
              <a:rPr lang="it-IT" altLang="zh-TW" sz="2000" dirty="0">
                <a:solidFill>
                  <a:schemeClr val="tx1"/>
                </a:solidFill>
                <a:latin typeface="Times New Roman" pitchFamily="18" charset="0"/>
                <a:cs typeface="Times New Roman" pitchFamily="18" charset="0"/>
              </a:rPr>
              <a:t>Reed A. Cartwright</a:t>
            </a: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1294989" y="3873343"/>
            <a:ext cx="6128409" cy="461665"/>
          </a:xfrm>
          <a:prstGeom prst="rect">
            <a:avLst/>
          </a:prstGeom>
          <a:noFill/>
        </p:spPr>
        <p:txBody>
          <a:bodyPr wrap="none" rtlCol="0">
            <a:spAutoFit/>
          </a:bodyPr>
          <a:lstStyle/>
          <a:p>
            <a:pPr algn="ctr"/>
            <a:r>
              <a:rPr lang="en-US" altLang="zh-TW" sz="2400" dirty="0">
                <a:latin typeface="Times New Roman" panose="02020603050405020304" pitchFamily="18" charset="0"/>
                <a:cs typeface="Times New Roman" panose="02020603050405020304" pitchFamily="18" charset="0"/>
              </a:rPr>
              <a:t>Bioinformatics. 2007 Jun 1; 23(11): 1427–1428.</a:t>
            </a: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68332"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Jan. 12, 2021</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endParaRPr lang="en-US" altLang="zh-TW" sz="2800" b="1" dirty="0">
              <a:latin typeface="Times New Roman" pitchFamily="18" charset="0"/>
              <a:cs typeface="Times New Roman" pitchFamily="18" charset="0"/>
            </a:endParaRPr>
          </a:p>
          <a:p>
            <a:pPr marL="0" indent="0">
              <a:lnSpc>
                <a:spcPts val="3200"/>
              </a:lnSpc>
              <a:buNone/>
            </a:pPr>
            <a:r>
              <a:rPr lang="en-US" altLang="zh-TW" sz="2800" b="1" dirty="0">
                <a:latin typeface="Times New Roman" pitchFamily="18" charset="0"/>
                <a:cs typeface="Times New Roman" pitchFamily="18" charset="0"/>
              </a:rPr>
              <a:t>Summary</a:t>
            </a:r>
          </a:p>
          <a:p>
            <a:pPr marL="0" indent="0">
              <a:lnSpc>
                <a:spcPts val="3200"/>
              </a:lnSpc>
              <a:buNone/>
            </a:pPr>
            <a:r>
              <a:rPr lang="en-US" altLang="zh-TW" sz="2800" dirty="0" err="1">
                <a:latin typeface="Times New Roman" pitchFamily="18" charset="0"/>
                <a:cs typeface="Times New Roman" pitchFamily="18" charset="0"/>
              </a:rPr>
              <a:t>Ngila</a:t>
            </a:r>
            <a:r>
              <a:rPr lang="en-US" altLang="zh-TW" sz="2800" dirty="0">
                <a:latin typeface="Times New Roman" pitchFamily="18" charset="0"/>
                <a:cs typeface="Times New Roman" pitchFamily="18" charset="0"/>
              </a:rPr>
              <a:t> is an application that will find the best alignment of a pair of sequences using log-affine gap costs, which are the most biologically realistic gap costs.</a:t>
            </a:r>
          </a:p>
          <a:p>
            <a:pPr marL="0" indent="0">
              <a:lnSpc>
                <a:spcPts val="3200"/>
              </a:lnSpc>
              <a:buNone/>
            </a:pPr>
            <a:endParaRPr lang="en-US" altLang="zh-TW" sz="2800" dirty="0">
              <a:latin typeface="Times New Roman" pitchFamily="18" charset="0"/>
              <a:cs typeface="Times New Roman" pitchFamily="18" charset="0"/>
            </a:endParaRPr>
          </a:p>
          <a:p>
            <a:pPr marL="0" indent="0">
              <a:lnSpc>
                <a:spcPts val="3200"/>
              </a:lnSpc>
              <a:buNone/>
            </a:pPr>
            <a:r>
              <a:rPr lang="en-US" altLang="zh-TW" sz="2800" b="1" dirty="0">
                <a:latin typeface="Times New Roman" pitchFamily="18" charset="0"/>
                <a:cs typeface="Times New Roman" pitchFamily="18" charset="0"/>
              </a:rPr>
              <a:t>Availability</a:t>
            </a:r>
          </a:p>
          <a:p>
            <a:pPr marL="0" indent="0">
              <a:lnSpc>
                <a:spcPts val="3200"/>
              </a:lnSpc>
              <a:buNone/>
            </a:pPr>
            <a:r>
              <a:rPr lang="en-US" altLang="zh-TW" sz="2800" dirty="0">
                <a:latin typeface="Times New Roman" pitchFamily="18" charset="0"/>
                <a:cs typeface="Times New Roman" pitchFamily="18" charset="0"/>
              </a:rPr>
              <a:t>Portable source code for </a:t>
            </a:r>
            <a:r>
              <a:rPr lang="en-US" altLang="zh-TW" sz="2800" dirty="0" err="1">
                <a:latin typeface="Times New Roman" pitchFamily="18" charset="0"/>
                <a:cs typeface="Times New Roman" pitchFamily="18" charset="0"/>
              </a:rPr>
              <a:t>Ngila</a:t>
            </a:r>
            <a:r>
              <a:rPr lang="en-US" altLang="zh-TW" sz="2800" dirty="0">
                <a:latin typeface="Times New Roman" pitchFamily="18" charset="0"/>
                <a:cs typeface="Times New Roman" pitchFamily="18" charset="0"/>
              </a:rPr>
              <a:t> can be downloaded from its development website, http://scit.us/projects/ngila/. It compiles on most operating systems.</a:t>
            </a: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History</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2679643486"/>
              </p:ext>
            </p:extLst>
          </p:nvPr>
        </p:nvGraphicFramePr>
        <p:xfrm>
          <a:off x="1" y="1700808"/>
          <a:ext cx="9143999" cy="3888432"/>
        </p:xfrm>
        <a:graphic>
          <a:graphicData uri="http://schemas.openxmlformats.org/drawingml/2006/table">
            <a:tbl>
              <a:tblPr firstRow="1" bandRow="1">
                <a:tableStyleId>{5C22544A-7EE6-4342-B048-85BDC9FD1C3A}</a:tableStyleId>
              </a:tblPr>
              <a:tblGrid>
                <a:gridCol w="954157">
                  <a:extLst>
                    <a:ext uri="{9D8B030D-6E8A-4147-A177-3AD203B41FA5}">
                      <a16:colId xmlns:a16="http://schemas.microsoft.com/office/drawing/2014/main" val="20000"/>
                    </a:ext>
                  </a:extLst>
                </a:gridCol>
                <a:gridCol w="2105673">
                  <a:extLst>
                    <a:ext uri="{9D8B030D-6E8A-4147-A177-3AD203B41FA5}">
                      <a16:colId xmlns:a16="http://schemas.microsoft.com/office/drawing/2014/main" val="20001"/>
                    </a:ext>
                  </a:extLst>
                </a:gridCol>
                <a:gridCol w="4176464">
                  <a:extLst>
                    <a:ext uri="{9D8B030D-6E8A-4147-A177-3AD203B41FA5}">
                      <a16:colId xmlns:a16="http://schemas.microsoft.com/office/drawing/2014/main" val="20002"/>
                    </a:ext>
                  </a:extLst>
                </a:gridCol>
                <a:gridCol w="1907705">
                  <a:extLst>
                    <a:ext uri="{9D8B030D-6E8A-4147-A177-3AD203B41FA5}">
                      <a16:colId xmlns:a16="http://schemas.microsoft.com/office/drawing/2014/main" val="20003"/>
                    </a:ext>
                  </a:extLst>
                </a:gridCol>
              </a:tblGrid>
              <a:tr h="503290">
                <a:tc>
                  <a:txBody>
                    <a:bodyPr/>
                    <a:lstStyle/>
                    <a:p>
                      <a:r>
                        <a:rPr lang="zh-TW" altLang="en-US" dirty="0"/>
                        <a:t>年代</a:t>
                      </a:r>
                    </a:p>
                  </a:txBody>
                  <a:tcPr/>
                </a:tc>
                <a:tc>
                  <a:txBody>
                    <a:bodyPr/>
                    <a:lstStyle/>
                    <a:p>
                      <a:r>
                        <a:rPr lang="zh-TW" altLang="en-US" dirty="0"/>
                        <a:t>作者</a:t>
                      </a:r>
                    </a:p>
                  </a:txBody>
                  <a:tcPr/>
                </a:tc>
                <a:tc>
                  <a:txBody>
                    <a:bodyPr/>
                    <a:lstStyle/>
                    <a:p>
                      <a:r>
                        <a:rPr lang="zh-TW" altLang="en-US" dirty="0"/>
                        <a:t>貢獻</a:t>
                      </a:r>
                    </a:p>
                  </a:txBody>
                  <a:tcPr/>
                </a:tc>
                <a:tc>
                  <a:txBody>
                    <a:bodyPr/>
                    <a:lstStyle/>
                    <a:p>
                      <a:r>
                        <a:rPr lang="en-US" altLang="zh-TW" dirty="0"/>
                        <a:t>Time Complexity</a:t>
                      </a:r>
                      <a:endParaRPr lang="zh-TW" altLang="en-US" dirty="0"/>
                    </a:p>
                  </a:txBody>
                  <a:tcPr/>
                </a:tc>
                <a:extLst>
                  <a:ext uri="{0D108BD9-81ED-4DB2-BD59-A6C34878D82A}">
                    <a16:rowId xmlns:a16="http://schemas.microsoft.com/office/drawing/2014/main" val="10000"/>
                  </a:ext>
                </a:extLst>
              </a:tr>
              <a:tr h="503290">
                <a:tc>
                  <a:txBody>
                    <a:bodyPr/>
                    <a:lstStyle/>
                    <a:p>
                      <a:r>
                        <a:rPr lang="en-US" altLang="zh-TW" dirty="0"/>
                        <a:t>1970</a:t>
                      </a:r>
                      <a:endParaRPr lang="zh-TW" altLang="en-US" dirty="0"/>
                    </a:p>
                  </a:txBody>
                  <a:tcPr/>
                </a:tc>
                <a:tc>
                  <a:txBody>
                    <a:bodyPr/>
                    <a:lstStyle/>
                    <a:p>
                      <a:r>
                        <a:rPr lang="en-US" altLang="zh-TW" dirty="0"/>
                        <a:t>Needle</a:t>
                      </a:r>
                      <a:r>
                        <a:rPr lang="en-US" altLang="zh-TW" baseline="0" dirty="0"/>
                        <a:t>man-</a:t>
                      </a:r>
                      <a:r>
                        <a:rPr lang="en-US" altLang="zh-TW" dirty="0" err="1"/>
                        <a:t>Wunsch</a:t>
                      </a:r>
                      <a:endParaRPr lang="zh-TW" altLang="en-US" dirty="0"/>
                    </a:p>
                  </a:txBody>
                  <a:tcPr/>
                </a:tc>
                <a:tc>
                  <a:txBody>
                    <a:bodyPr/>
                    <a:lstStyle/>
                    <a:p>
                      <a:r>
                        <a:rPr lang="en-US" altLang="zh-TW" dirty="0"/>
                        <a:t>Use DP for global alignment</a:t>
                      </a:r>
                      <a:endParaRPr lang="zh-TW" altLang="en-US" dirty="0"/>
                    </a:p>
                  </a:txBody>
                  <a:tcPr/>
                </a:tc>
                <a:tc>
                  <a:txBody>
                    <a:bodyPr/>
                    <a:lstStyle/>
                    <a:p>
                      <a:r>
                        <a:rPr lang="en-US" altLang="zh-TW" dirty="0"/>
                        <a:t>O(</a:t>
                      </a:r>
                      <a:r>
                        <a:rPr lang="en-US" altLang="zh-TW" i="1" dirty="0" err="1"/>
                        <a:t>mn</a:t>
                      </a:r>
                      <a:r>
                        <a:rPr lang="en-US" altLang="zh-TW" dirty="0"/>
                        <a:t>)</a:t>
                      </a:r>
                    </a:p>
                  </a:txBody>
                  <a:tcPr/>
                </a:tc>
                <a:extLst>
                  <a:ext uri="{0D108BD9-81ED-4DB2-BD59-A6C34878D82A}">
                    <a16:rowId xmlns:a16="http://schemas.microsoft.com/office/drawing/2014/main" val="10001"/>
                  </a:ext>
                </a:extLst>
              </a:tr>
              <a:tr h="503290">
                <a:tc>
                  <a:txBody>
                    <a:bodyPr/>
                    <a:lstStyle/>
                    <a:p>
                      <a:r>
                        <a:rPr lang="en-US" altLang="zh-TW" dirty="0"/>
                        <a:t>1976</a:t>
                      </a:r>
                      <a:endParaRPr lang="zh-TW" altLang="en-US" dirty="0"/>
                    </a:p>
                  </a:txBody>
                  <a:tcPr/>
                </a:tc>
                <a:tc>
                  <a:txBody>
                    <a:bodyPr/>
                    <a:lstStyle/>
                    <a:p>
                      <a:r>
                        <a:rPr lang="en-US" altLang="zh-TW" dirty="0"/>
                        <a:t>Smith-Waterman</a:t>
                      </a:r>
                      <a:endParaRPr lang="zh-TW" altLang="en-US" dirty="0"/>
                    </a:p>
                  </a:txBody>
                  <a:tcPr/>
                </a:tc>
                <a:tc>
                  <a:txBody>
                    <a:bodyPr/>
                    <a:lstStyle/>
                    <a:p>
                      <a:r>
                        <a:rPr lang="en-US" altLang="zh-TW" dirty="0"/>
                        <a:t>Arbitrary gap penalties</a:t>
                      </a:r>
                      <a:endParaRPr lang="zh-TW" altLang="en-US" dirty="0"/>
                    </a:p>
                  </a:txBody>
                  <a:tcPr/>
                </a:tc>
                <a:tc>
                  <a:txBody>
                    <a:bodyPr/>
                    <a:lstStyle/>
                    <a:p>
                      <a:r>
                        <a:rPr lang="en-US" altLang="zh-TW" dirty="0"/>
                        <a:t>O(</a:t>
                      </a:r>
                      <a:r>
                        <a:rPr lang="en-US" altLang="zh-TW" i="1" dirty="0" err="1"/>
                        <a:t>mn</a:t>
                      </a:r>
                      <a:r>
                        <a:rPr lang="en-US" altLang="zh-TW" dirty="0"/>
                        <a:t>(</a:t>
                      </a:r>
                      <a:r>
                        <a:rPr lang="en-US" altLang="zh-TW" i="1" dirty="0" err="1"/>
                        <a:t>m</a:t>
                      </a:r>
                      <a:r>
                        <a:rPr lang="en-US" altLang="zh-TW" dirty="0" err="1"/>
                        <a:t>+</a:t>
                      </a:r>
                      <a:r>
                        <a:rPr lang="en-US" altLang="zh-TW" i="1" dirty="0" err="1"/>
                        <a:t>n</a:t>
                      </a:r>
                      <a:r>
                        <a:rPr lang="en-US" altLang="zh-TW" dirty="0"/>
                        <a:t>))</a:t>
                      </a:r>
                    </a:p>
                  </a:txBody>
                  <a:tcPr/>
                </a:tc>
                <a:extLst>
                  <a:ext uri="{0D108BD9-81ED-4DB2-BD59-A6C34878D82A}">
                    <a16:rowId xmlns:a16="http://schemas.microsoft.com/office/drawing/2014/main" val="10002"/>
                  </a:ext>
                </a:extLst>
              </a:tr>
              <a:tr h="503290">
                <a:tc>
                  <a:txBody>
                    <a:bodyPr/>
                    <a:lstStyle/>
                    <a:p>
                      <a:r>
                        <a:rPr lang="en-US" altLang="zh-TW" dirty="0"/>
                        <a:t>1982</a:t>
                      </a:r>
                      <a:endParaRPr lang="zh-TW" altLang="en-US" dirty="0"/>
                    </a:p>
                  </a:txBody>
                  <a:tcPr/>
                </a:tc>
                <a:tc>
                  <a:txBody>
                    <a:bodyPr/>
                    <a:lstStyle/>
                    <a:p>
                      <a:r>
                        <a:rPr lang="en-US" altLang="zh-TW" dirty="0" err="1"/>
                        <a:t>Gotoh</a:t>
                      </a:r>
                      <a:endParaRPr lang="zh-TW" altLang="en-US" dirty="0"/>
                    </a:p>
                  </a:txBody>
                  <a:tcPr/>
                </a:tc>
                <a:tc>
                  <a:txBody>
                    <a:bodyPr/>
                    <a:lstStyle/>
                    <a:p>
                      <a:r>
                        <a:rPr lang="en-US" altLang="zh-TW" dirty="0"/>
                        <a:t>Arbitrary Linear affine gap penalties</a:t>
                      </a:r>
                      <a:endParaRPr lang="zh-TW" altLang="en-US" dirty="0"/>
                    </a:p>
                  </a:txBody>
                  <a:tcPr/>
                </a:tc>
                <a:tc>
                  <a:txBody>
                    <a:bodyPr/>
                    <a:lstStyle/>
                    <a:p>
                      <a:r>
                        <a:rPr lang="en-US" altLang="zh-TW" dirty="0"/>
                        <a:t>O(</a:t>
                      </a:r>
                      <a:r>
                        <a:rPr lang="en-US" altLang="zh-TW" i="1" dirty="0" err="1"/>
                        <a:t>mn</a:t>
                      </a:r>
                      <a:r>
                        <a:rPr lang="en-US" altLang="zh-TW" dirty="0"/>
                        <a:t>)</a:t>
                      </a:r>
                      <a:endParaRPr lang="zh-TW" altLang="en-US" dirty="0"/>
                    </a:p>
                  </a:txBody>
                  <a:tcPr/>
                </a:tc>
                <a:extLst>
                  <a:ext uri="{0D108BD9-81ED-4DB2-BD59-A6C34878D82A}">
                    <a16:rowId xmlns:a16="http://schemas.microsoft.com/office/drawing/2014/main" val="10003"/>
                  </a:ext>
                </a:extLst>
              </a:tr>
              <a:tr h="503290">
                <a:tc>
                  <a:txBody>
                    <a:bodyPr/>
                    <a:lstStyle/>
                    <a:p>
                      <a:r>
                        <a:rPr lang="en-US" altLang="zh-TW" dirty="0"/>
                        <a:t>1984</a:t>
                      </a:r>
                      <a:endParaRPr lang="zh-TW" altLang="en-US" dirty="0"/>
                    </a:p>
                  </a:txBody>
                  <a:tcPr/>
                </a:tc>
                <a:tc>
                  <a:txBody>
                    <a:bodyPr/>
                    <a:lstStyle/>
                    <a:p>
                      <a:r>
                        <a:rPr lang="en-US" altLang="zh-TW" dirty="0"/>
                        <a:t>Waterman</a:t>
                      </a:r>
                      <a:endParaRPr lang="zh-TW" altLang="en-US" dirty="0"/>
                    </a:p>
                  </a:txBody>
                  <a:tcPr/>
                </a:tc>
                <a:tc>
                  <a:txBody>
                    <a:bodyPr/>
                    <a:lstStyle/>
                    <a:p>
                      <a:r>
                        <a:rPr lang="en-US" altLang="zh-TW" dirty="0"/>
                        <a:t>Propose convex gap penalties</a:t>
                      </a:r>
                      <a:endParaRPr lang="zh-TW" altLang="en-US" dirty="0"/>
                    </a:p>
                  </a:txBody>
                  <a:tcPr/>
                </a:tc>
                <a:tc>
                  <a:txBody>
                    <a:bodyPr/>
                    <a:lstStyle/>
                    <a:p>
                      <a:endParaRPr lang="zh-TW" altLang="en-US" dirty="0"/>
                    </a:p>
                  </a:txBody>
                  <a:tcPr/>
                </a:tc>
                <a:extLst>
                  <a:ext uri="{0D108BD9-81ED-4DB2-BD59-A6C34878D82A}">
                    <a16:rowId xmlns:a16="http://schemas.microsoft.com/office/drawing/2014/main" val="10004"/>
                  </a:ext>
                </a:extLst>
              </a:tr>
              <a:tr h="503290">
                <a:tc>
                  <a:txBody>
                    <a:bodyPr/>
                    <a:lstStyle/>
                    <a:p>
                      <a:r>
                        <a:rPr lang="en-US" altLang="zh-TW" dirty="0"/>
                        <a:t>1988</a:t>
                      </a:r>
                      <a:endParaRPr lang="zh-TW" altLang="en-US" dirty="0"/>
                    </a:p>
                  </a:txBody>
                  <a:tcPr/>
                </a:tc>
                <a:tc>
                  <a:txBody>
                    <a:bodyPr/>
                    <a:lstStyle/>
                    <a:p>
                      <a:r>
                        <a:rPr lang="en-US" altLang="zh-TW" dirty="0"/>
                        <a:t>Miller-Myers</a:t>
                      </a:r>
                      <a:endParaRPr lang="zh-TW" altLang="en-US" dirty="0"/>
                    </a:p>
                  </a:txBody>
                  <a:tcPr/>
                </a:tc>
                <a:tc>
                  <a:txBody>
                    <a:bodyPr/>
                    <a:lstStyle/>
                    <a:p>
                      <a:r>
                        <a:rPr lang="en-US" altLang="zh-TW" dirty="0"/>
                        <a:t>Refined</a:t>
                      </a:r>
                      <a:r>
                        <a:rPr lang="en-US" altLang="zh-TW" baseline="0" dirty="0"/>
                        <a:t> 1984`s function in some condition</a:t>
                      </a:r>
                      <a:endParaRPr lang="zh-TW" altLang="en-US" dirty="0"/>
                    </a:p>
                  </a:txBody>
                  <a:tcPr/>
                </a:tc>
                <a:tc>
                  <a:txBody>
                    <a:bodyPr/>
                    <a:lstStyle/>
                    <a:p>
                      <a:r>
                        <a:rPr lang="en-US" altLang="zh-TW" dirty="0"/>
                        <a:t>O(</a:t>
                      </a:r>
                      <a:r>
                        <a:rPr lang="en-US" altLang="zh-TW" i="1" dirty="0" err="1"/>
                        <a:t>mn</a:t>
                      </a:r>
                      <a:r>
                        <a:rPr lang="en-US" altLang="zh-TW" dirty="0"/>
                        <a:t>)</a:t>
                      </a:r>
                      <a:endParaRPr lang="zh-TW" altLang="en-US" dirty="0"/>
                    </a:p>
                  </a:txBody>
                  <a:tcPr/>
                </a:tc>
                <a:extLst>
                  <a:ext uri="{0D108BD9-81ED-4DB2-BD59-A6C34878D82A}">
                    <a16:rowId xmlns:a16="http://schemas.microsoft.com/office/drawing/2014/main" val="10005"/>
                  </a:ext>
                </a:extLst>
              </a:tr>
              <a:tr h="868692">
                <a:tc>
                  <a:txBody>
                    <a:bodyPr/>
                    <a:lstStyle/>
                    <a:p>
                      <a:r>
                        <a:rPr lang="en-US" altLang="zh-TW" dirty="0"/>
                        <a:t>1988</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Miller-Myers</a:t>
                      </a:r>
                      <a:endParaRPr lang="zh-TW" altLang="en-US" dirty="0"/>
                    </a:p>
                  </a:txBody>
                  <a:tcPr/>
                </a:tc>
                <a:tc>
                  <a:txBody>
                    <a:bodyPr/>
                    <a:lstStyle/>
                    <a:p>
                      <a:r>
                        <a:rPr lang="en-US" altLang="zh-TW" dirty="0"/>
                        <a:t>Use Hirschberg`s</a:t>
                      </a:r>
                      <a:r>
                        <a:rPr lang="zh-TW" altLang="en-US" baseline="0" dirty="0"/>
                        <a:t> </a:t>
                      </a:r>
                      <a:r>
                        <a:rPr lang="en-US" altLang="zh-TW" baseline="0" dirty="0"/>
                        <a:t>and 1984`s</a:t>
                      </a:r>
                      <a:r>
                        <a:rPr lang="zh-TW" altLang="en-US" baseline="0" dirty="0"/>
                        <a:t> </a:t>
                      </a:r>
                      <a:r>
                        <a:rPr lang="en-US" altLang="zh-TW" baseline="0" dirty="0"/>
                        <a:t>algorithm to compute convex gap penalties</a:t>
                      </a:r>
                      <a:endParaRPr lang="zh-TW" altLang="en-US" dirty="0"/>
                    </a:p>
                  </a:txBody>
                  <a:tcPr/>
                </a:tc>
                <a:tc>
                  <a:txBody>
                    <a:bodyPr/>
                    <a:lstStyle/>
                    <a:p>
                      <a:r>
                        <a:rPr lang="en-US" altLang="zh-TW" dirty="0"/>
                        <a:t>O(</a:t>
                      </a:r>
                      <a:r>
                        <a:rPr lang="en-US" altLang="zh-TW" i="1" dirty="0" err="1"/>
                        <a:t>mn</a:t>
                      </a:r>
                      <a:r>
                        <a:rPr lang="en-US" altLang="zh-TW" dirty="0"/>
                        <a:t> log</a:t>
                      </a:r>
                      <a:r>
                        <a:rPr lang="en-US" altLang="zh-TW" baseline="0" dirty="0"/>
                        <a:t>(</a:t>
                      </a:r>
                      <a:r>
                        <a:rPr lang="en-US" altLang="zh-TW" i="1" baseline="0" dirty="0" err="1"/>
                        <a:t>m</a:t>
                      </a:r>
                      <a:r>
                        <a:rPr lang="en-US" altLang="zh-TW" baseline="0" dirty="0" err="1"/>
                        <a:t>+</a:t>
                      </a:r>
                      <a:r>
                        <a:rPr lang="en-US" altLang="zh-TW" i="1" baseline="0" dirty="0" err="1"/>
                        <a:t>n</a:t>
                      </a:r>
                      <a:r>
                        <a:rPr lang="en-US" altLang="zh-TW" baseline="0" dirty="0"/>
                        <a:t>)</a:t>
                      </a:r>
                      <a:r>
                        <a:rPr lang="en-US" altLang="zh-TW" dirty="0"/>
                        <a:t>)</a:t>
                      </a:r>
                    </a:p>
                    <a:p>
                      <a:r>
                        <a:rPr lang="en-US" altLang="zh-TW" dirty="0"/>
                        <a:t>Space: O(</a:t>
                      </a:r>
                      <a:r>
                        <a:rPr lang="en-US" altLang="zh-TW" i="1" dirty="0"/>
                        <a:t>m</a:t>
                      </a:r>
                      <a:r>
                        <a:rPr lang="en-US" altLang="zh-TW" dirty="0"/>
                        <a:t>)</a:t>
                      </a:r>
                      <a:endParaRPr lang="zh-TW" altLang="en-US"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 – Needleman-</a:t>
            </a:r>
            <a:r>
              <a:rPr lang="en-US" altLang="zh-TW" dirty="0" err="1">
                <a:latin typeface="Times New Roman" pitchFamily="18" charset="0"/>
                <a:ea typeface="標楷體" pitchFamily="65" charset="-120"/>
                <a:cs typeface="Times New Roman" pitchFamily="18" charset="0"/>
              </a:rPr>
              <a:t>Wunsch</a:t>
            </a:r>
            <a:r>
              <a:rPr lang="en-US" altLang="zh-TW" dirty="0">
                <a:latin typeface="Times New Roman" pitchFamily="18" charset="0"/>
                <a:ea typeface="標楷體" pitchFamily="65" charset="-120"/>
                <a:cs typeface="Times New Roman" pitchFamily="18" charset="0"/>
              </a:rPr>
              <a:t> </a:t>
            </a:r>
            <a:endParaRPr lang="zh-TW" altLang="en-US" dirty="0">
              <a:latin typeface="Times New Roman" pitchFamily="18" charset="0"/>
              <a:ea typeface="標楷體" pitchFamily="65" charset="-120"/>
              <a:cs typeface="Times New Roman" pitchFamily="18" charset="0"/>
            </a:endParaRPr>
          </a:p>
        </p:txBody>
      </p:sp>
      <p:pic>
        <p:nvPicPr>
          <p:cNvPr id="6" name="內容版面配置區 5" descr="Needleman-Wunsch_pairwise_sequence_alignment.png"/>
          <p:cNvPicPr>
            <a:picLocks noGrp="1" noChangeAspect="1"/>
          </p:cNvPicPr>
          <p:nvPr>
            <p:ph idx="1"/>
          </p:nvPr>
        </p:nvPicPr>
        <p:blipFill>
          <a:blip r:embed="rId2"/>
          <a:stretch>
            <a:fillRect/>
          </a:stretch>
        </p:blipFill>
        <p:spPr>
          <a:xfrm>
            <a:off x="1500166" y="1142984"/>
            <a:ext cx="5715016" cy="5715016"/>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 – Smith-Waterman </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a:xfrm>
            <a:off x="457200" y="1124744"/>
            <a:ext cx="8229600" cy="4813995"/>
          </a:xfrm>
        </p:spPr>
        <p:txBody>
          <a:bodyPr/>
          <a:lstStyle/>
          <a:p>
            <a:r>
              <a:rPr lang="en-US" altLang="zh-TW" dirty="0">
                <a:latin typeface="Times New Roman" pitchFamily="18" charset="0"/>
                <a:ea typeface="標楷體" pitchFamily="65" charset="-120"/>
                <a:cs typeface="Times New Roman" pitchFamily="18" charset="0"/>
              </a:rPr>
              <a:t>Do not use gap extension</a:t>
            </a: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pPr>
              <a:buNone/>
            </a:pPr>
            <a:endParaRPr lang="en-US" altLang="zh-TW" dirty="0">
              <a:latin typeface="Times New Roman" pitchFamily="18" charset="0"/>
              <a:ea typeface="標楷體" pitchFamily="65" charset="-120"/>
              <a:cs typeface="Times New Roman" pitchFamily="18" charset="0"/>
            </a:endParaRPr>
          </a:p>
          <a:p>
            <a:pPr>
              <a:buNone/>
            </a:pPr>
            <a:endParaRPr lang="en-US" altLang="zh-TW" sz="1000" dirty="0">
              <a:latin typeface="Times New Roman" pitchFamily="18" charset="0"/>
              <a:ea typeface="標楷體" pitchFamily="65" charset="-120"/>
              <a:cs typeface="Times New Roman" pitchFamily="18" charset="0"/>
            </a:endParaRPr>
          </a:p>
          <a:p>
            <a:r>
              <a:rPr lang="en-US" altLang="zh-TW" dirty="0">
                <a:latin typeface="Times New Roman" pitchFamily="18" charset="0"/>
                <a:ea typeface="標楷體" pitchFamily="65" charset="-120"/>
                <a:cs typeface="Times New Roman" pitchFamily="18" charset="0"/>
              </a:rPr>
              <a:t>Use gap extension</a:t>
            </a:r>
          </a:p>
        </p:txBody>
      </p:sp>
      <p:graphicFrame>
        <p:nvGraphicFramePr>
          <p:cNvPr id="31747" name="Object 3"/>
          <p:cNvGraphicFramePr>
            <a:graphicFrameLocks noChangeAspect="1"/>
          </p:cNvGraphicFramePr>
          <p:nvPr/>
        </p:nvGraphicFramePr>
        <p:xfrm>
          <a:off x="1547664" y="1700808"/>
          <a:ext cx="4359275" cy="1944688"/>
        </p:xfrm>
        <a:graphic>
          <a:graphicData uri="http://schemas.openxmlformats.org/presentationml/2006/ole">
            <mc:AlternateContent xmlns:mc="http://schemas.openxmlformats.org/markup-compatibility/2006">
              <mc:Choice xmlns:v="urn:schemas-microsoft-com:vml" Requires="v">
                <p:oleObj spid="_x0000_s18434" name="Equation" r:id="rId2" imgW="1879560" imgH="838080" progId="Equation.DSMT4">
                  <p:embed/>
                </p:oleObj>
              </mc:Choice>
              <mc:Fallback>
                <p:oleObj name="Equation" r:id="rId2" imgW="1879560" imgH="83808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700808"/>
                        <a:ext cx="43592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8" name="Object 4"/>
          <p:cNvGraphicFramePr>
            <a:graphicFrameLocks noChangeAspect="1"/>
          </p:cNvGraphicFramePr>
          <p:nvPr/>
        </p:nvGraphicFramePr>
        <p:xfrm>
          <a:off x="1580877" y="4365104"/>
          <a:ext cx="4359275" cy="2239962"/>
        </p:xfrm>
        <a:graphic>
          <a:graphicData uri="http://schemas.openxmlformats.org/presentationml/2006/ole">
            <mc:AlternateContent xmlns:mc="http://schemas.openxmlformats.org/markup-compatibility/2006">
              <mc:Choice xmlns:v="urn:schemas-microsoft-com:vml" Requires="v">
                <p:oleObj spid="_x0000_s18435" name="Equation" r:id="rId4" imgW="1879560" imgH="965160" progId="Equation.DSMT4">
                  <p:embed/>
                </p:oleObj>
              </mc:Choice>
              <mc:Fallback>
                <p:oleObj name="Equation" r:id="rId4" imgW="1879560" imgH="9651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0877" y="4365104"/>
                        <a:ext cx="4359275"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3131840" y="2492896"/>
            <a:ext cx="5760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1-4</a:t>
                      </a:r>
                      <a:endParaRPr lang="zh-TW" altLang="en-US" sz="3200" dirty="0">
                        <a:solidFill>
                          <a:srgbClr val="FF0000"/>
                        </a:solidFill>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2996952"/>
            <a:ext cx="648072"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1-5</a:t>
                      </a:r>
                      <a:endParaRPr lang="zh-TW" altLang="en-US" sz="3200" dirty="0">
                        <a:solidFill>
                          <a:srgbClr val="FF0000"/>
                        </a:solidFill>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10" name="直線單箭頭接點 9"/>
          <p:cNvCxnSpPr/>
          <p:nvPr/>
        </p:nvCxnSpPr>
        <p:spPr>
          <a:xfrm>
            <a:off x="4211960" y="2996952"/>
            <a:ext cx="1944216"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solidFill>
                            <a:srgbClr val="FF0000"/>
                          </a:solidFill>
                          <a:latin typeface="Times New Roman" pitchFamily="18" charset="0"/>
                          <a:cs typeface="Times New Roman" pitchFamily="18" charset="0"/>
                        </a:rPr>
                        <a:t>1-6</a:t>
                      </a:r>
                      <a:endParaRPr lang="zh-TW" altLang="en-US" sz="3200" dirty="0">
                        <a:solidFill>
                          <a:srgbClr val="FF0000"/>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427984" y="2996952"/>
            <a:ext cx="3024336"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3068960"/>
            <a:ext cx="0" cy="72008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355976" y="3284984"/>
            <a:ext cx="576064"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6948264" y="3284984"/>
            <a:ext cx="504056"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4283968" y="3212976"/>
            <a:ext cx="0" cy="122413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899592" y="1397000"/>
          <a:ext cx="7488834" cy="4768302"/>
        </p:xfrm>
        <a:graphic>
          <a:graphicData uri="http://schemas.openxmlformats.org/drawingml/2006/table">
            <a:tbl>
              <a:tblPr firstRow="1" bandRow="1">
                <a:tableStyleId>{5C22544A-7EE6-4342-B048-85BDC9FD1C3A}</a:tableStyleId>
              </a:tblPr>
              <a:tblGrid>
                <a:gridCol w="1248139">
                  <a:extLst>
                    <a:ext uri="{9D8B030D-6E8A-4147-A177-3AD203B41FA5}">
                      <a16:colId xmlns:a16="http://schemas.microsoft.com/office/drawing/2014/main" val="20000"/>
                    </a:ext>
                  </a:extLst>
                </a:gridCol>
                <a:gridCol w="1248139">
                  <a:extLst>
                    <a:ext uri="{9D8B030D-6E8A-4147-A177-3AD203B41FA5}">
                      <a16:colId xmlns:a16="http://schemas.microsoft.com/office/drawing/2014/main" val="20001"/>
                    </a:ext>
                  </a:extLst>
                </a:gridCol>
                <a:gridCol w="1248139">
                  <a:extLst>
                    <a:ext uri="{9D8B030D-6E8A-4147-A177-3AD203B41FA5}">
                      <a16:colId xmlns:a16="http://schemas.microsoft.com/office/drawing/2014/main" val="20002"/>
                    </a:ext>
                  </a:extLst>
                </a:gridCol>
                <a:gridCol w="1248139">
                  <a:extLst>
                    <a:ext uri="{9D8B030D-6E8A-4147-A177-3AD203B41FA5}">
                      <a16:colId xmlns:a16="http://schemas.microsoft.com/office/drawing/2014/main" val="20003"/>
                    </a:ext>
                  </a:extLst>
                </a:gridCol>
                <a:gridCol w="1248139">
                  <a:extLst>
                    <a:ext uri="{9D8B030D-6E8A-4147-A177-3AD203B41FA5}">
                      <a16:colId xmlns:a16="http://schemas.microsoft.com/office/drawing/2014/main" val="20004"/>
                    </a:ext>
                  </a:extLst>
                </a:gridCol>
                <a:gridCol w="1248139">
                  <a:extLst>
                    <a:ext uri="{9D8B030D-6E8A-4147-A177-3AD203B41FA5}">
                      <a16:colId xmlns:a16="http://schemas.microsoft.com/office/drawing/2014/main" val="20005"/>
                    </a:ext>
                  </a:extLst>
                </a:gridCol>
              </a:tblGrid>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681186">
                <a:tc>
                  <a:txBody>
                    <a:bodyPr/>
                    <a:lstStyle/>
                    <a:p>
                      <a:pPr algn="ct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681186">
                <a:tc>
                  <a:txBody>
                    <a:bodyPr/>
                    <a:lstStyle/>
                    <a:p>
                      <a:pPr algn="ctr"/>
                      <a:r>
                        <a:rPr lang="en-US" altLang="zh-TW" sz="3200" dirty="0">
                          <a:latin typeface="Times New Roman" pitchFamily="18" charset="0"/>
                          <a:cs typeface="Times New Roman" pitchFamily="18" charset="0"/>
                        </a:rPr>
                        <a:t>C</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solidFill>
                            <a:schemeClr val="tx1"/>
                          </a:solidFill>
                          <a:latin typeface="Times New Roman" pitchFamily="18" charset="0"/>
                          <a:cs typeface="Times New Roman" pitchFamily="18" charset="0"/>
                        </a:rPr>
                        <a:t>-4</a:t>
                      </a:r>
                      <a:endParaRPr lang="zh-TW" altLang="en-US" sz="3200" dirty="0">
                        <a:solidFill>
                          <a:schemeClr val="tx1"/>
                        </a:solidFill>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-3</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-4</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681186">
                <a:tc>
                  <a:txBody>
                    <a:bodyPr/>
                    <a:lstStyle/>
                    <a:p>
                      <a:pPr algn="ctr"/>
                      <a:r>
                        <a:rPr lang="en-US" altLang="zh-TW" sz="3200" dirty="0">
                          <a:latin typeface="Times New Roman" pitchFamily="18" charset="0"/>
                          <a:cs typeface="Times New Roman" pitchFamily="18" charset="0"/>
                        </a:rPr>
                        <a:t>G</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-5</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-9</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-7</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681186">
                <a:tc>
                  <a:txBody>
                    <a:bodyPr/>
                    <a:lstStyle/>
                    <a:p>
                      <a:pPr algn="ctr"/>
                      <a:r>
                        <a:rPr lang="en-US" altLang="zh-TW" sz="3200" dirty="0">
                          <a:latin typeface="Times New Roman" pitchFamily="18" charset="0"/>
                          <a:cs typeface="Times New Roman" pitchFamily="18" charset="0"/>
                        </a:rPr>
                        <a:t>A</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-8</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-10</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-11</a:t>
                      </a:r>
                      <a:endParaRPr lang="zh-TW" altLang="en-US" sz="3200" dirty="0">
                        <a:latin typeface="Times New Roman" pitchFamily="18" charset="0"/>
                        <a:cs typeface="Times New Roman" pitchFamily="18" charset="0"/>
                      </a:endParaRPr>
                    </a:p>
                  </a:txBody>
                  <a:tcPr/>
                </a:tc>
                <a:tc>
                  <a:txBody>
                    <a:bodyPr/>
                    <a:lstStyle/>
                    <a:p>
                      <a:pPr algn="ctr"/>
                      <a:r>
                        <a:rPr lang="en-US" altLang="zh-TW" sz="3200" dirty="0">
                          <a:latin typeface="Times New Roman" pitchFamily="18" charset="0"/>
                          <a:cs typeface="Times New Roman" pitchFamily="18" charset="0"/>
                        </a:rPr>
                        <a:t>-6</a:t>
                      </a:r>
                      <a:endParaRPr lang="zh-TW" altLang="en-US" sz="32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4211960" y="116632"/>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cxnSp>
        <p:nvCxnSpPr>
          <p:cNvPr id="8" name="直線單箭頭接點 7"/>
          <p:cNvCxnSpPr/>
          <p:nvPr/>
        </p:nvCxnSpPr>
        <p:spPr>
          <a:xfrm>
            <a:off x="6876256" y="5301208"/>
            <a:ext cx="576064"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4355976" y="3068960"/>
            <a:ext cx="0" cy="27363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ea typeface="標楷體" pitchFamily="65" charset="-120"/>
                <a:cs typeface="Times New Roman" pitchFamily="18" charset="0"/>
              </a:rPr>
              <a:t>Algorithm -- </a:t>
            </a:r>
            <a:r>
              <a:rPr lang="en-US" altLang="zh-TW" dirty="0" err="1">
                <a:latin typeface="Times New Roman" pitchFamily="18" charset="0"/>
                <a:ea typeface="標楷體" pitchFamily="65" charset="-120"/>
                <a:cs typeface="Times New Roman" pitchFamily="18" charset="0"/>
              </a:rPr>
              <a:t>Gotoh</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a:xfrm>
            <a:off x="457200" y="1124744"/>
            <a:ext cx="8229600" cy="4813995"/>
          </a:xfrm>
        </p:spPr>
        <p:txBody>
          <a:bodyPr/>
          <a:lstStyle/>
          <a:p>
            <a:r>
              <a:rPr lang="en-US" altLang="zh-TW" dirty="0">
                <a:latin typeface="Times New Roman" pitchFamily="18" charset="0"/>
                <a:ea typeface="標楷體" pitchFamily="65" charset="-120"/>
                <a:cs typeface="Times New Roman" pitchFamily="18" charset="0"/>
              </a:rPr>
              <a:t>Smith-Waterman</a:t>
            </a: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pPr>
              <a:buNone/>
            </a:pPr>
            <a:endParaRPr lang="en-US" altLang="zh-TW" dirty="0">
              <a:latin typeface="Times New Roman" pitchFamily="18" charset="0"/>
              <a:ea typeface="標楷體" pitchFamily="65" charset="-120"/>
              <a:cs typeface="Times New Roman" pitchFamily="18" charset="0"/>
            </a:endParaRPr>
          </a:p>
          <a:p>
            <a:r>
              <a:rPr lang="en-US" altLang="zh-TW" dirty="0" err="1">
                <a:latin typeface="Times New Roman" pitchFamily="18" charset="0"/>
                <a:ea typeface="標楷體" pitchFamily="65" charset="-120"/>
                <a:cs typeface="Times New Roman" pitchFamily="18" charset="0"/>
              </a:rPr>
              <a:t>Gotoh</a:t>
            </a:r>
            <a:endParaRPr lang="en-US" altLang="zh-TW" dirty="0">
              <a:latin typeface="Times New Roman" pitchFamily="18" charset="0"/>
              <a:ea typeface="標楷體" pitchFamily="65" charset="-120"/>
              <a:cs typeface="Times New Roman" pitchFamily="18" charset="0"/>
            </a:endParaRPr>
          </a:p>
        </p:txBody>
      </p:sp>
      <p:graphicFrame>
        <p:nvGraphicFramePr>
          <p:cNvPr id="31747" name="Object 3"/>
          <p:cNvGraphicFramePr>
            <a:graphicFrameLocks noChangeAspect="1"/>
          </p:cNvGraphicFramePr>
          <p:nvPr/>
        </p:nvGraphicFramePr>
        <p:xfrm>
          <a:off x="755650" y="4365625"/>
          <a:ext cx="4518025" cy="2016125"/>
        </p:xfrm>
        <a:graphic>
          <a:graphicData uri="http://schemas.openxmlformats.org/presentationml/2006/ole">
            <mc:AlternateContent xmlns:mc="http://schemas.openxmlformats.org/markup-compatibility/2006">
              <mc:Choice xmlns:v="urn:schemas-microsoft-com:vml" Requires="v">
                <p:oleObj spid="_x0000_s20482" name="Equation" r:id="rId2" imgW="1879560" imgH="838080" progId="Equation.DSMT4">
                  <p:embed/>
                </p:oleObj>
              </mc:Choice>
              <mc:Fallback>
                <p:oleObj name="Equation" r:id="rId2" imgW="1879560" imgH="83808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4365625"/>
                        <a:ext cx="451802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48" name="Object 4"/>
          <p:cNvGraphicFramePr>
            <a:graphicFrameLocks noChangeAspect="1"/>
          </p:cNvGraphicFramePr>
          <p:nvPr/>
        </p:nvGraphicFramePr>
        <p:xfrm>
          <a:off x="827584" y="1556792"/>
          <a:ext cx="4359275" cy="2239962"/>
        </p:xfrm>
        <a:graphic>
          <a:graphicData uri="http://schemas.openxmlformats.org/presentationml/2006/ole">
            <mc:AlternateContent xmlns:mc="http://schemas.openxmlformats.org/markup-compatibility/2006">
              <mc:Choice xmlns:v="urn:schemas-microsoft-com:vml" Requires="v">
                <p:oleObj spid="_x0000_s20483" name="Equation" r:id="rId4" imgW="1879560" imgH="965160" progId="Equation.DSMT4">
                  <p:embed/>
                </p:oleObj>
              </mc:Choice>
              <mc:Fallback>
                <p:oleObj name="Equation" r:id="rId4" imgW="1879560" imgH="9651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556792"/>
                        <a:ext cx="4359275"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2" name="Object 4"/>
          <p:cNvGraphicFramePr>
            <a:graphicFrameLocks noChangeAspect="1"/>
          </p:cNvGraphicFramePr>
          <p:nvPr/>
        </p:nvGraphicFramePr>
        <p:xfrm>
          <a:off x="5494338" y="4652963"/>
          <a:ext cx="3573462" cy="1612900"/>
        </p:xfrm>
        <a:graphic>
          <a:graphicData uri="http://schemas.openxmlformats.org/presentationml/2006/ole">
            <mc:AlternateContent xmlns:mc="http://schemas.openxmlformats.org/markup-compatibility/2006">
              <mc:Choice xmlns:v="urn:schemas-microsoft-com:vml" Requires="v">
                <p:oleObj spid="_x0000_s20484" name="Equation" r:id="rId6" imgW="1409400" imgH="634680" progId="Equation.DSMT4">
                  <p:embed/>
                </p:oleObj>
              </mc:Choice>
              <mc:Fallback>
                <p:oleObj name="Equation" r:id="rId6" imgW="1409400" imgH="63468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4338" y="4652963"/>
                        <a:ext cx="3573462" cy="161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11" name="直線單箭頭接點 10"/>
          <p:cNvCxnSpPr/>
          <p:nvPr/>
        </p:nvCxnSpPr>
        <p:spPr>
          <a:xfrm flipV="1">
            <a:off x="2915816" y="2852936"/>
            <a:ext cx="4176464" cy="50405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979712" y="4149080"/>
            <a:ext cx="5040560" cy="158417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a:off x="1979712" y="3429000"/>
            <a:ext cx="504056" cy="43204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3923928" y="2996952"/>
            <a:ext cx="4104456" cy="9361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3923928" y="4149080"/>
            <a:ext cx="4032448"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2915816" y="3717032"/>
            <a:ext cx="4248472" cy="93610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2843808" y="4869160"/>
            <a:ext cx="4176464"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9" name="直線單箭頭接點 8"/>
          <p:cNvCxnSpPr/>
          <p:nvPr/>
        </p:nvCxnSpPr>
        <p:spPr>
          <a:xfrm flipH="1">
            <a:off x="3851920" y="3717032"/>
            <a:ext cx="4176464" cy="108012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H="1" flipV="1">
            <a:off x="3851920" y="4941168"/>
            <a:ext cx="4176464" cy="165618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Example</a:t>
            </a:r>
            <a:endParaRPr lang="zh-TW" altLang="en-US" dirty="0">
              <a:latin typeface="Times New Roman" pitchFamily="18" charset="0"/>
              <a:cs typeface="Times New Roman" pitchFamily="18" charset="0"/>
            </a:endParaRPr>
          </a:p>
        </p:txBody>
      </p:sp>
      <p:sp>
        <p:nvSpPr>
          <p:cNvPr id="6" name="文字方塊 5"/>
          <p:cNvSpPr txBox="1"/>
          <p:nvPr/>
        </p:nvSpPr>
        <p:spPr>
          <a:xfrm>
            <a:off x="2843808" y="332656"/>
            <a:ext cx="1768433" cy="1200329"/>
          </a:xfrm>
          <a:prstGeom prst="rect">
            <a:avLst/>
          </a:prstGeom>
          <a:noFill/>
        </p:spPr>
        <p:txBody>
          <a:bodyPr wrap="none" rtlCol="0">
            <a:spAutoFit/>
          </a:bodyPr>
          <a:lstStyle/>
          <a:p>
            <a:r>
              <a:rPr lang="en-US" altLang="zh-TW" dirty="0">
                <a:latin typeface="Times New Roman" pitchFamily="18" charset="0"/>
                <a:cs typeface="Times New Roman" pitchFamily="18" charset="0"/>
              </a:rPr>
              <a:t>Match:1</a:t>
            </a:r>
          </a:p>
          <a:p>
            <a:r>
              <a:rPr lang="en-US" altLang="zh-TW" dirty="0">
                <a:latin typeface="Times New Roman" pitchFamily="18" charset="0"/>
                <a:cs typeface="Times New Roman" pitchFamily="18" charset="0"/>
              </a:rPr>
              <a:t>Mismatch:-6</a:t>
            </a:r>
          </a:p>
          <a:p>
            <a:r>
              <a:rPr lang="en-US" altLang="zh-TW" dirty="0">
                <a:latin typeface="Times New Roman" pitchFamily="18" charset="0"/>
                <a:cs typeface="Times New Roman" pitchFamily="18" charset="0"/>
              </a:rPr>
              <a:t>Gap opening:-3</a:t>
            </a:r>
          </a:p>
          <a:p>
            <a:r>
              <a:rPr lang="en-US" altLang="zh-TW" dirty="0">
                <a:latin typeface="Times New Roman" pitchFamily="18" charset="0"/>
                <a:cs typeface="Times New Roman" pitchFamily="18" charset="0"/>
              </a:rPr>
              <a:t>Gap extension:-1</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395536" y="2276872"/>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H</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0</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-4</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-6</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-5</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nvGraphicFramePr>
        <p:xfrm>
          <a:off x="4932040" y="105273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P</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nvGraphicFramePr>
        <p:xfrm>
          <a:off x="4932040" y="3933056"/>
          <a:ext cx="3672408" cy="2808312"/>
        </p:xfrm>
        <a:graphic>
          <a:graphicData uri="http://schemas.openxmlformats.org/drawingml/2006/table">
            <a:tbl>
              <a:tblPr firstRow="1" bandRow="1">
                <a:tableStyleId>{5C22544A-7EE6-4342-B048-85BDC9FD1C3A}</a:tableStyleId>
              </a:tblPr>
              <a:tblGrid>
                <a:gridCol w="918102">
                  <a:extLst>
                    <a:ext uri="{9D8B030D-6E8A-4147-A177-3AD203B41FA5}">
                      <a16:colId xmlns:a16="http://schemas.microsoft.com/office/drawing/2014/main" val="20000"/>
                    </a:ext>
                  </a:extLst>
                </a:gridCol>
                <a:gridCol w="918102">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702078">
                <a:tc>
                  <a:txBody>
                    <a:bodyPr/>
                    <a:lstStyle/>
                    <a:p>
                      <a:pPr algn="ctr"/>
                      <a:r>
                        <a:rPr lang="en-US" altLang="zh-TW" sz="2400" dirty="0">
                          <a:latin typeface="Times New Roman" pitchFamily="18" charset="0"/>
                          <a:ea typeface="標楷體" pitchFamily="65" charset="-120"/>
                          <a:cs typeface="Times New Roman" pitchFamily="18" charset="0"/>
                        </a:rPr>
                        <a:t>Q</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0"/>
                  </a:ext>
                </a:extLst>
              </a:tr>
              <a:tr h="702078">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endParaRPr lang="zh-TW" altLang="en-US" sz="2400">
                        <a:latin typeface="Times New Roman" pitchFamily="18" charset="0"/>
                        <a:ea typeface="標楷體" pitchFamily="65" charset="-120"/>
                        <a:cs typeface="Times New Roman" pitchFamily="18" charset="0"/>
                      </a:endParaRPr>
                    </a:p>
                  </a:txBody>
                  <a:tcPr/>
                </a:tc>
                <a:tc>
                  <a:txBody>
                    <a:bodyPr/>
                    <a:lstStyle/>
                    <a:p>
                      <a:pPr algn="ct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1"/>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-8</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2"/>
                  </a:ext>
                </a:extLst>
              </a:tr>
              <a:tr h="702078">
                <a:tc>
                  <a:txBody>
                    <a:bodyPr/>
                    <a:lstStyle/>
                    <a:p>
                      <a:pPr algn="ctr"/>
                      <a:r>
                        <a:rPr lang="en-US" altLang="zh-TW" sz="2400" dirty="0">
                          <a:latin typeface="Times New Roman" pitchFamily="18" charset="0"/>
                          <a:ea typeface="標楷體" pitchFamily="65" charset="-120"/>
                          <a:cs typeface="Times New Roman" pitchFamily="18" charset="0"/>
                        </a:rPr>
                        <a:t>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-9</a:t>
                      </a:r>
                      <a:endParaRPr lang="zh-TW" altLang="en-US" sz="2400" dirty="0">
                        <a:latin typeface="Times New Roman" pitchFamily="18" charset="0"/>
                        <a:ea typeface="標楷體" pitchFamily="65" charset="-120"/>
                        <a:cs typeface="Times New Roman" pitchFamily="18" charset="0"/>
                      </a:endParaRPr>
                    </a:p>
                  </a:txBody>
                  <a:tcPr/>
                </a:tc>
                <a:tc>
                  <a:txBody>
                    <a:bodyPr/>
                    <a:lstStyle/>
                    <a:p>
                      <a:pPr algn="ctr"/>
                      <a:r>
                        <a:rPr lang="en-US" altLang="zh-TW" sz="2400" dirty="0">
                          <a:latin typeface="Times New Roman" pitchFamily="18" charset="0"/>
                          <a:ea typeface="標楷體" pitchFamily="65" charset="-120"/>
                          <a:cs typeface="Times New Roman" pitchFamily="18" charset="0"/>
                        </a:rPr>
                        <a:t>-10</a:t>
                      </a:r>
                      <a:endParaRPr lang="zh-TW" altLang="en-US" sz="2400" dirty="0">
                        <a:latin typeface="Times New Roman" pitchFamily="18" charset="0"/>
                        <a:ea typeface="標楷體" pitchFamily="65" charset="-120"/>
                        <a:cs typeface="Times New Roman" pitchFamily="18" charset="0"/>
                      </a:endParaRPr>
                    </a:p>
                  </a:txBody>
                  <a:tcPr/>
                </a:tc>
                <a:extLst>
                  <a:ext uri="{0D108BD9-81ED-4DB2-BD59-A6C34878D82A}">
                    <a16:rowId xmlns:a16="http://schemas.microsoft.com/office/drawing/2014/main" val="10003"/>
                  </a:ext>
                </a:extLst>
              </a:tr>
            </a:tbl>
          </a:graphicData>
        </a:graphic>
      </p:graphicFrame>
      <p:cxnSp>
        <p:nvCxnSpPr>
          <p:cNvPr id="14" name="直線單箭頭接點 13"/>
          <p:cNvCxnSpPr/>
          <p:nvPr/>
        </p:nvCxnSpPr>
        <p:spPr>
          <a:xfrm flipV="1">
            <a:off x="3923928" y="3645024"/>
            <a:ext cx="4104456" cy="1224136"/>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7884368" y="2708920"/>
            <a:ext cx="0" cy="864096"/>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H="1">
            <a:off x="3851920" y="2564904"/>
            <a:ext cx="3960440" cy="792088"/>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1835696" y="3429000"/>
            <a:ext cx="1872208" cy="0"/>
          </a:xfrm>
          <a:prstGeom prst="straightConnector1">
            <a:avLst/>
          </a:prstGeom>
          <a:ln w="254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1331640" y="5445224"/>
            <a:ext cx="1569660" cy="1200329"/>
          </a:xfrm>
          <a:prstGeom prst="rect">
            <a:avLst/>
          </a:prstGeom>
          <a:noFill/>
        </p:spPr>
        <p:txBody>
          <a:bodyPr wrap="none" rtlCol="0">
            <a:spAutoFit/>
          </a:bodyPr>
          <a:lstStyle/>
          <a:p>
            <a:r>
              <a:rPr lang="en-US" altLang="zh-TW" dirty="0">
                <a:latin typeface="FangSong" pitchFamily="49" charset="-122"/>
                <a:ea typeface="FangSong" pitchFamily="49" charset="-122"/>
              </a:rPr>
              <a:t>A </a:t>
            </a:r>
            <a:r>
              <a:rPr lang="en-US" altLang="zh-TW" dirty="0" err="1">
                <a:latin typeface="FangSong" pitchFamily="49" charset="-122"/>
                <a:ea typeface="FangSong" pitchFamily="49" charset="-122"/>
              </a:rPr>
              <a:t>A</a:t>
            </a:r>
            <a:r>
              <a:rPr lang="en-US" altLang="zh-TW" dirty="0">
                <a:latin typeface="FangSong" pitchFamily="49" charset="-122"/>
                <a:ea typeface="FangSong" pitchFamily="49" charset="-122"/>
              </a:rPr>
              <a:t> _ _</a:t>
            </a:r>
          </a:p>
          <a:p>
            <a:r>
              <a:rPr lang="en-US" altLang="zh-TW" dirty="0">
                <a:latin typeface="FangSong" pitchFamily="49" charset="-122"/>
                <a:ea typeface="FangSong" pitchFamily="49" charset="-122"/>
              </a:rPr>
              <a:t>_ _ T </a:t>
            </a:r>
            <a:r>
              <a:rPr lang="en-US" altLang="zh-TW" dirty="0" err="1">
                <a:latin typeface="FangSong" pitchFamily="49" charset="-122"/>
                <a:ea typeface="FangSong" pitchFamily="49" charset="-122"/>
              </a:rPr>
              <a:t>T</a:t>
            </a:r>
            <a:endParaRPr lang="en-US" altLang="zh-TW" dirty="0">
              <a:latin typeface="FangSong" pitchFamily="49" charset="-122"/>
              <a:ea typeface="FangSong" pitchFamily="49" charset="-122"/>
            </a:endParaRPr>
          </a:p>
          <a:p>
            <a:endParaRPr lang="en-US" altLang="zh-TW" dirty="0">
              <a:latin typeface="FangSong" pitchFamily="49" charset="-122"/>
              <a:ea typeface="FangSong" pitchFamily="49" charset="-122"/>
            </a:endParaRPr>
          </a:p>
          <a:p>
            <a:r>
              <a:rPr lang="en-US" altLang="zh-TW" dirty="0">
                <a:latin typeface="FangSong" pitchFamily="49" charset="-122"/>
                <a:ea typeface="FangSong" pitchFamily="49" charset="-122"/>
              </a:rPr>
              <a:t>Score is -10</a:t>
            </a:r>
            <a:endParaRPr lang="zh-TW" altLang="en-US" dirty="0">
              <a:latin typeface="FangSong" pitchFamily="49" charset="-122"/>
              <a:ea typeface="FangSong"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History</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endParaRPr lang="zh-TW" altLang="en-US" dirty="0"/>
          </a:p>
        </p:txBody>
      </p:sp>
      <p:graphicFrame>
        <p:nvGraphicFramePr>
          <p:cNvPr id="6" name="表格 5"/>
          <p:cNvGraphicFramePr>
            <a:graphicFrameLocks noGrp="1"/>
          </p:cNvGraphicFramePr>
          <p:nvPr/>
        </p:nvGraphicFramePr>
        <p:xfrm>
          <a:off x="1" y="1700808"/>
          <a:ext cx="9143999" cy="3888432"/>
        </p:xfrm>
        <a:graphic>
          <a:graphicData uri="http://schemas.openxmlformats.org/drawingml/2006/table">
            <a:tbl>
              <a:tblPr firstRow="1" bandRow="1">
                <a:tableStyleId>{5C22544A-7EE6-4342-B048-85BDC9FD1C3A}</a:tableStyleId>
              </a:tblPr>
              <a:tblGrid>
                <a:gridCol w="954157">
                  <a:extLst>
                    <a:ext uri="{9D8B030D-6E8A-4147-A177-3AD203B41FA5}">
                      <a16:colId xmlns:a16="http://schemas.microsoft.com/office/drawing/2014/main" val="20000"/>
                    </a:ext>
                  </a:extLst>
                </a:gridCol>
                <a:gridCol w="2105673">
                  <a:extLst>
                    <a:ext uri="{9D8B030D-6E8A-4147-A177-3AD203B41FA5}">
                      <a16:colId xmlns:a16="http://schemas.microsoft.com/office/drawing/2014/main" val="20001"/>
                    </a:ext>
                  </a:extLst>
                </a:gridCol>
                <a:gridCol w="4176464">
                  <a:extLst>
                    <a:ext uri="{9D8B030D-6E8A-4147-A177-3AD203B41FA5}">
                      <a16:colId xmlns:a16="http://schemas.microsoft.com/office/drawing/2014/main" val="20002"/>
                    </a:ext>
                  </a:extLst>
                </a:gridCol>
                <a:gridCol w="1907705">
                  <a:extLst>
                    <a:ext uri="{9D8B030D-6E8A-4147-A177-3AD203B41FA5}">
                      <a16:colId xmlns:a16="http://schemas.microsoft.com/office/drawing/2014/main" val="20003"/>
                    </a:ext>
                  </a:extLst>
                </a:gridCol>
              </a:tblGrid>
              <a:tr h="503290">
                <a:tc>
                  <a:txBody>
                    <a:bodyPr/>
                    <a:lstStyle/>
                    <a:p>
                      <a:r>
                        <a:rPr lang="zh-TW" altLang="en-US" dirty="0"/>
                        <a:t>年代</a:t>
                      </a:r>
                    </a:p>
                  </a:txBody>
                  <a:tcPr/>
                </a:tc>
                <a:tc>
                  <a:txBody>
                    <a:bodyPr/>
                    <a:lstStyle/>
                    <a:p>
                      <a:r>
                        <a:rPr lang="zh-TW" altLang="en-US" dirty="0"/>
                        <a:t>作者</a:t>
                      </a:r>
                    </a:p>
                  </a:txBody>
                  <a:tcPr/>
                </a:tc>
                <a:tc>
                  <a:txBody>
                    <a:bodyPr/>
                    <a:lstStyle/>
                    <a:p>
                      <a:r>
                        <a:rPr lang="zh-TW" altLang="en-US" dirty="0"/>
                        <a:t>貢獻</a:t>
                      </a:r>
                    </a:p>
                  </a:txBody>
                  <a:tcPr/>
                </a:tc>
                <a:tc>
                  <a:txBody>
                    <a:bodyPr/>
                    <a:lstStyle/>
                    <a:p>
                      <a:r>
                        <a:rPr lang="en-US" altLang="zh-TW" dirty="0"/>
                        <a:t>Time Complexity</a:t>
                      </a:r>
                      <a:endParaRPr lang="zh-TW" altLang="en-US" dirty="0"/>
                    </a:p>
                  </a:txBody>
                  <a:tcPr/>
                </a:tc>
                <a:extLst>
                  <a:ext uri="{0D108BD9-81ED-4DB2-BD59-A6C34878D82A}">
                    <a16:rowId xmlns:a16="http://schemas.microsoft.com/office/drawing/2014/main" val="10000"/>
                  </a:ext>
                </a:extLst>
              </a:tr>
              <a:tr h="503290">
                <a:tc>
                  <a:txBody>
                    <a:bodyPr/>
                    <a:lstStyle/>
                    <a:p>
                      <a:r>
                        <a:rPr lang="en-US" altLang="zh-TW" dirty="0"/>
                        <a:t>1970</a:t>
                      </a:r>
                      <a:endParaRPr lang="zh-TW" altLang="en-US" dirty="0"/>
                    </a:p>
                  </a:txBody>
                  <a:tcPr/>
                </a:tc>
                <a:tc>
                  <a:txBody>
                    <a:bodyPr/>
                    <a:lstStyle/>
                    <a:p>
                      <a:r>
                        <a:rPr lang="en-US" altLang="zh-TW" dirty="0"/>
                        <a:t>Needle</a:t>
                      </a:r>
                      <a:r>
                        <a:rPr lang="en-US" altLang="zh-TW" baseline="0" dirty="0"/>
                        <a:t>man-</a:t>
                      </a:r>
                      <a:r>
                        <a:rPr lang="en-US" altLang="zh-TW" dirty="0" err="1"/>
                        <a:t>Wunsch</a:t>
                      </a:r>
                      <a:endParaRPr lang="zh-TW" altLang="en-US" dirty="0"/>
                    </a:p>
                  </a:txBody>
                  <a:tcPr/>
                </a:tc>
                <a:tc>
                  <a:txBody>
                    <a:bodyPr/>
                    <a:lstStyle/>
                    <a:p>
                      <a:r>
                        <a:rPr lang="en-US" altLang="zh-TW" dirty="0"/>
                        <a:t>Use DP for global alignment</a:t>
                      </a:r>
                      <a:endParaRPr lang="zh-TW" altLang="en-US" dirty="0"/>
                    </a:p>
                  </a:txBody>
                  <a:tcPr/>
                </a:tc>
                <a:tc>
                  <a:txBody>
                    <a:bodyPr/>
                    <a:lstStyle/>
                    <a:p>
                      <a:r>
                        <a:rPr lang="en-US" altLang="zh-TW" dirty="0"/>
                        <a:t>O(</a:t>
                      </a:r>
                      <a:r>
                        <a:rPr lang="en-US" altLang="zh-TW" i="1" dirty="0" err="1"/>
                        <a:t>mn</a:t>
                      </a:r>
                      <a:r>
                        <a:rPr lang="en-US" altLang="zh-TW" dirty="0"/>
                        <a:t>)</a:t>
                      </a:r>
                    </a:p>
                  </a:txBody>
                  <a:tcPr/>
                </a:tc>
                <a:extLst>
                  <a:ext uri="{0D108BD9-81ED-4DB2-BD59-A6C34878D82A}">
                    <a16:rowId xmlns:a16="http://schemas.microsoft.com/office/drawing/2014/main" val="10001"/>
                  </a:ext>
                </a:extLst>
              </a:tr>
              <a:tr h="503290">
                <a:tc>
                  <a:txBody>
                    <a:bodyPr/>
                    <a:lstStyle/>
                    <a:p>
                      <a:r>
                        <a:rPr lang="en-US" altLang="zh-TW" dirty="0"/>
                        <a:t>1976</a:t>
                      </a:r>
                      <a:endParaRPr lang="zh-TW" altLang="en-US" dirty="0"/>
                    </a:p>
                  </a:txBody>
                  <a:tcPr/>
                </a:tc>
                <a:tc>
                  <a:txBody>
                    <a:bodyPr/>
                    <a:lstStyle/>
                    <a:p>
                      <a:r>
                        <a:rPr lang="en-US" altLang="zh-TW" dirty="0"/>
                        <a:t>Smith-Waterman</a:t>
                      </a:r>
                      <a:endParaRPr lang="zh-TW" altLang="en-US" dirty="0"/>
                    </a:p>
                  </a:txBody>
                  <a:tcPr/>
                </a:tc>
                <a:tc>
                  <a:txBody>
                    <a:bodyPr/>
                    <a:lstStyle/>
                    <a:p>
                      <a:r>
                        <a:rPr lang="en-US" altLang="zh-TW" dirty="0"/>
                        <a:t>Arbitrary gap penalties</a:t>
                      </a:r>
                      <a:endParaRPr lang="zh-TW" altLang="en-US" dirty="0"/>
                    </a:p>
                  </a:txBody>
                  <a:tcPr/>
                </a:tc>
                <a:tc>
                  <a:txBody>
                    <a:bodyPr/>
                    <a:lstStyle/>
                    <a:p>
                      <a:r>
                        <a:rPr lang="en-US" altLang="zh-TW" dirty="0"/>
                        <a:t>O(</a:t>
                      </a:r>
                      <a:r>
                        <a:rPr lang="en-US" altLang="zh-TW" i="1" dirty="0" err="1"/>
                        <a:t>mn</a:t>
                      </a:r>
                      <a:r>
                        <a:rPr lang="en-US" altLang="zh-TW" dirty="0"/>
                        <a:t>(</a:t>
                      </a:r>
                      <a:r>
                        <a:rPr lang="en-US" altLang="zh-TW" i="1" dirty="0" err="1"/>
                        <a:t>m</a:t>
                      </a:r>
                      <a:r>
                        <a:rPr lang="en-US" altLang="zh-TW" dirty="0" err="1"/>
                        <a:t>+</a:t>
                      </a:r>
                      <a:r>
                        <a:rPr lang="en-US" altLang="zh-TW" i="1" dirty="0" err="1"/>
                        <a:t>n</a:t>
                      </a:r>
                      <a:r>
                        <a:rPr lang="en-US" altLang="zh-TW" dirty="0"/>
                        <a:t>))</a:t>
                      </a:r>
                    </a:p>
                  </a:txBody>
                  <a:tcPr/>
                </a:tc>
                <a:extLst>
                  <a:ext uri="{0D108BD9-81ED-4DB2-BD59-A6C34878D82A}">
                    <a16:rowId xmlns:a16="http://schemas.microsoft.com/office/drawing/2014/main" val="10002"/>
                  </a:ext>
                </a:extLst>
              </a:tr>
              <a:tr h="503290">
                <a:tc>
                  <a:txBody>
                    <a:bodyPr/>
                    <a:lstStyle/>
                    <a:p>
                      <a:r>
                        <a:rPr lang="en-US" altLang="zh-TW" dirty="0"/>
                        <a:t>1982</a:t>
                      </a:r>
                      <a:endParaRPr lang="zh-TW" altLang="en-US" dirty="0"/>
                    </a:p>
                  </a:txBody>
                  <a:tcPr/>
                </a:tc>
                <a:tc>
                  <a:txBody>
                    <a:bodyPr/>
                    <a:lstStyle/>
                    <a:p>
                      <a:r>
                        <a:rPr lang="en-US" altLang="zh-TW" dirty="0" err="1"/>
                        <a:t>Gotoh</a:t>
                      </a:r>
                      <a:endParaRPr lang="zh-TW" altLang="en-US" dirty="0"/>
                    </a:p>
                  </a:txBody>
                  <a:tcPr/>
                </a:tc>
                <a:tc>
                  <a:txBody>
                    <a:bodyPr/>
                    <a:lstStyle/>
                    <a:p>
                      <a:r>
                        <a:rPr lang="en-US" altLang="zh-TW" dirty="0"/>
                        <a:t>Arbitrary Linear affine gap penalties</a:t>
                      </a:r>
                      <a:endParaRPr lang="zh-TW" altLang="en-US" dirty="0"/>
                    </a:p>
                  </a:txBody>
                  <a:tcPr/>
                </a:tc>
                <a:tc>
                  <a:txBody>
                    <a:bodyPr/>
                    <a:lstStyle/>
                    <a:p>
                      <a:r>
                        <a:rPr lang="en-US" altLang="zh-TW" dirty="0"/>
                        <a:t>O(</a:t>
                      </a:r>
                      <a:r>
                        <a:rPr lang="en-US" altLang="zh-TW" i="1" dirty="0" err="1"/>
                        <a:t>mn</a:t>
                      </a:r>
                      <a:r>
                        <a:rPr lang="en-US" altLang="zh-TW" dirty="0"/>
                        <a:t>)</a:t>
                      </a:r>
                      <a:endParaRPr lang="zh-TW" altLang="en-US" dirty="0"/>
                    </a:p>
                  </a:txBody>
                  <a:tcPr/>
                </a:tc>
                <a:extLst>
                  <a:ext uri="{0D108BD9-81ED-4DB2-BD59-A6C34878D82A}">
                    <a16:rowId xmlns:a16="http://schemas.microsoft.com/office/drawing/2014/main" val="10003"/>
                  </a:ext>
                </a:extLst>
              </a:tr>
              <a:tr h="503290">
                <a:tc>
                  <a:txBody>
                    <a:bodyPr/>
                    <a:lstStyle/>
                    <a:p>
                      <a:r>
                        <a:rPr lang="en-US" altLang="zh-TW" dirty="0">
                          <a:solidFill>
                            <a:srgbClr val="FF0000"/>
                          </a:solidFill>
                        </a:rPr>
                        <a:t>1984</a:t>
                      </a:r>
                      <a:endParaRPr lang="zh-TW" altLang="en-US" dirty="0">
                        <a:solidFill>
                          <a:srgbClr val="FF0000"/>
                        </a:solidFill>
                      </a:endParaRPr>
                    </a:p>
                  </a:txBody>
                  <a:tcPr/>
                </a:tc>
                <a:tc>
                  <a:txBody>
                    <a:bodyPr/>
                    <a:lstStyle/>
                    <a:p>
                      <a:r>
                        <a:rPr lang="en-US" altLang="zh-TW" dirty="0">
                          <a:solidFill>
                            <a:srgbClr val="FF0000"/>
                          </a:solidFill>
                        </a:rPr>
                        <a:t>Waterman</a:t>
                      </a:r>
                      <a:endParaRPr lang="zh-TW" altLang="en-US" dirty="0">
                        <a:solidFill>
                          <a:srgbClr val="FF0000"/>
                        </a:solidFill>
                      </a:endParaRPr>
                    </a:p>
                  </a:txBody>
                  <a:tcPr/>
                </a:tc>
                <a:tc>
                  <a:txBody>
                    <a:bodyPr/>
                    <a:lstStyle/>
                    <a:p>
                      <a:r>
                        <a:rPr lang="en-US" altLang="zh-TW" dirty="0">
                          <a:solidFill>
                            <a:srgbClr val="FF0000"/>
                          </a:solidFill>
                        </a:rPr>
                        <a:t>Propose concave gap penalties</a:t>
                      </a:r>
                      <a:endParaRPr lang="zh-TW" altLang="en-US" dirty="0">
                        <a:solidFill>
                          <a:srgbClr val="FF0000"/>
                        </a:solidFill>
                      </a:endParaRPr>
                    </a:p>
                  </a:txBody>
                  <a:tcPr/>
                </a:tc>
                <a:tc>
                  <a:txBody>
                    <a:bodyPr/>
                    <a:lstStyle/>
                    <a:p>
                      <a:endParaRPr lang="zh-TW" altLang="en-US" dirty="0">
                        <a:solidFill>
                          <a:srgbClr val="FF0000"/>
                        </a:solidFill>
                      </a:endParaRPr>
                    </a:p>
                  </a:txBody>
                  <a:tcPr/>
                </a:tc>
                <a:extLst>
                  <a:ext uri="{0D108BD9-81ED-4DB2-BD59-A6C34878D82A}">
                    <a16:rowId xmlns:a16="http://schemas.microsoft.com/office/drawing/2014/main" val="10004"/>
                  </a:ext>
                </a:extLst>
              </a:tr>
              <a:tr h="503290">
                <a:tc>
                  <a:txBody>
                    <a:bodyPr/>
                    <a:lstStyle/>
                    <a:p>
                      <a:r>
                        <a:rPr lang="en-US" altLang="zh-TW" dirty="0"/>
                        <a:t>1988</a:t>
                      </a:r>
                      <a:endParaRPr lang="zh-TW" altLang="en-US" dirty="0"/>
                    </a:p>
                  </a:txBody>
                  <a:tcPr/>
                </a:tc>
                <a:tc>
                  <a:txBody>
                    <a:bodyPr/>
                    <a:lstStyle/>
                    <a:p>
                      <a:r>
                        <a:rPr lang="en-US" altLang="zh-TW" dirty="0"/>
                        <a:t>Miller-Myers</a:t>
                      </a:r>
                      <a:endParaRPr lang="zh-TW" altLang="en-US" dirty="0"/>
                    </a:p>
                  </a:txBody>
                  <a:tcPr/>
                </a:tc>
                <a:tc>
                  <a:txBody>
                    <a:bodyPr/>
                    <a:lstStyle/>
                    <a:p>
                      <a:r>
                        <a:rPr lang="en-US" altLang="zh-TW" dirty="0"/>
                        <a:t>Refined</a:t>
                      </a:r>
                      <a:r>
                        <a:rPr lang="en-US" altLang="zh-TW" baseline="0" dirty="0"/>
                        <a:t> 1984`s function in some condition</a:t>
                      </a:r>
                      <a:endParaRPr lang="zh-TW" altLang="en-US" dirty="0"/>
                    </a:p>
                  </a:txBody>
                  <a:tcPr/>
                </a:tc>
                <a:tc>
                  <a:txBody>
                    <a:bodyPr/>
                    <a:lstStyle/>
                    <a:p>
                      <a:r>
                        <a:rPr lang="en-US" altLang="zh-TW" dirty="0"/>
                        <a:t>O(</a:t>
                      </a:r>
                      <a:r>
                        <a:rPr lang="en-US" altLang="zh-TW" i="1" dirty="0" err="1"/>
                        <a:t>mn</a:t>
                      </a:r>
                      <a:r>
                        <a:rPr lang="en-US" altLang="zh-TW" dirty="0"/>
                        <a:t>)</a:t>
                      </a:r>
                      <a:endParaRPr lang="zh-TW" altLang="en-US" dirty="0"/>
                    </a:p>
                  </a:txBody>
                  <a:tcPr/>
                </a:tc>
                <a:extLst>
                  <a:ext uri="{0D108BD9-81ED-4DB2-BD59-A6C34878D82A}">
                    <a16:rowId xmlns:a16="http://schemas.microsoft.com/office/drawing/2014/main" val="10005"/>
                  </a:ext>
                </a:extLst>
              </a:tr>
              <a:tr h="868692">
                <a:tc>
                  <a:txBody>
                    <a:bodyPr/>
                    <a:lstStyle/>
                    <a:p>
                      <a:r>
                        <a:rPr lang="en-US" altLang="zh-TW" dirty="0"/>
                        <a:t>1988</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Miller-Myers</a:t>
                      </a:r>
                      <a:endParaRPr lang="zh-TW" altLang="en-US" dirty="0"/>
                    </a:p>
                  </a:txBody>
                  <a:tcPr/>
                </a:tc>
                <a:tc>
                  <a:txBody>
                    <a:bodyPr/>
                    <a:lstStyle/>
                    <a:p>
                      <a:r>
                        <a:rPr lang="en-US" altLang="zh-TW" dirty="0"/>
                        <a:t>Use Hirschberg`s</a:t>
                      </a:r>
                      <a:r>
                        <a:rPr lang="zh-TW" altLang="en-US" baseline="0" dirty="0"/>
                        <a:t> </a:t>
                      </a:r>
                      <a:r>
                        <a:rPr lang="en-US" altLang="zh-TW" baseline="0" dirty="0"/>
                        <a:t>and 1984`s</a:t>
                      </a:r>
                      <a:r>
                        <a:rPr lang="zh-TW" altLang="en-US" baseline="0" dirty="0"/>
                        <a:t> </a:t>
                      </a:r>
                      <a:r>
                        <a:rPr lang="en-US" altLang="zh-TW" baseline="0" dirty="0"/>
                        <a:t>algorithm to compute concave gap penalties</a:t>
                      </a:r>
                      <a:endParaRPr lang="zh-TW" altLang="en-US" dirty="0"/>
                    </a:p>
                  </a:txBody>
                  <a:tcPr/>
                </a:tc>
                <a:tc>
                  <a:txBody>
                    <a:bodyPr/>
                    <a:lstStyle/>
                    <a:p>
                      <a:r>
                        <a:rPr lang="en-US" altLang="zh-TW" dirty="0"/>
                        <a:t>O(</a:t>
                      </a:r>
                      <a:r>
                        <a:rPr lang="en-US" altLang="zh-TW" i="1" dirty="0" err="1"/>
                        <a:t>mn</a:t>
                      </a:r>
                      <a:r>
                        <a:rPr lang="en-US" altLang="zh-TW" dirty="0"/>
                        <a:t> log</a:t>
                      </a:r>
                      <a:r>
                        <a:rPr lang="en-US" altLang="zh-TW" baseline="0" dirty="0"/>
                        <a:t>(</a:t>
                      </a:r>
                      <a:r>
                        <a:rPr lang="en-US" altLang="zh-TW" i="1" baseline="0" dirty="0" err="1"/>
                        <a:t>m</a:t>
                      </a:r>
                      <a:r>
                        <a:rPr lang="en-US" altLang="zh-TW" baseline="0" dirty="0" err="1"/>
                        <a:t>+</a:t>
                      </a:r>
                      <a:r>
                        <a:rPr lang="en-US" altLang="zh-TW" i="1" baseline="0" dirty="0" err="1"/>
                        <a:t>n</a:t>
                      </a:r>
                      <a:r>
                        <a:rPr lang="en-US" altLang="zh-TW" baseline="0" dirty="0"/>
                        <a:t>)</a:t>
                      </a:r>
                      <a:r>
                        <a:rPr lang="en-US" altLang="zh-TW" dirty="0"/>
                        <a:t>)</a:t>
                      </a:r>
                    </a:p>
                    <a:p>
                      <a:r>
                        <a:rPr lang="en-US" altLang="zh-TW" dirty="0"/>
                        <a:t>Space: O(</a:t>
                      </a:r>
                      <a:r>
                        <a:rPr lang="en-US" altLang="zh-TW" i="1" dirty="0"/>
                        <a:t>m</a:t>
                      </a:r>
                      <a:r>
                        <a:rPr lang="en-US" altLang="zh-TW" dirty="0"/>
                        <a:t>)</a:t>
                      </a:r>
                      <a:endParaRPr lang="zh-TW" altLang="en-US"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convex</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r>
              <a:rPr lang="en-US" altLang="zh-TW" dirty="0">
                <a:latin typeface="Times New Roman" pitchFamily="18" charset="0"/>
                <a:cs typeface="Times New Roman" pitchFamily="18" charset="0"/>
              </a:rPr>
              <a:t>What is convex gap?</a:t>
            </a:r>
            <a:br>
              <a:rPr lang="en-US" altLang="zh-TW" dirty="0">
                <a:latin typeface="Times New Roman" pitchFamily="18" charset="0"/>
                <a:cs typeface="Times New Roman" pitchFamily="18" charset="0"/>
              </a:rPr>
            </a:b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For example, g(k) = </a:t>
            </a:r>
            <a:r>
              <a:rPr lang="en-US" altLang="zh-TW" i="1" dirty="0">
                <a:latin typeface="Times New Roman" pitchFamily="18" charset="0"/>
                <a:cs typeface="Times New Roman" pitchFamily="18" charset="0"/>
              </a:rPr>
              <a:t>a</a:t>
            </a:r>
            <a:r>
              <a:rPr lang="en-US" altLang="zh-TW" dirty="0">
                <a:latin typeface="Times New Roman" pitchFamily="18" charset="0"/>
                <a:cs typeface="Times New Roman" pitchFamily="18" charset="0"/>
              </a:rPr>
              <a:t> + </a:t>
            </a:r>
            <a:r>
              <a:rPr lang="en-US" altLang="zh-TW" i="1" dirty="0">
                <a:latin typeface="Times New Roman" pitchFamily="18" charset="0"/>
                <a:cs typeface="Times New Roman" pitchFamily="18" charset="0"/>
              </a:rPr>
              <a:t>b</a:t>
            </a:r>
            <a:r>
              <a:rPr lang="en-US" altLang="zh-TW" dirty="0">
                <a:latin typeface="Times New Roman" pitchFamily="18" charset="0"/>
                <a:cs typeface="Times New Roman" pitchFamily="18" charset="0"/>
              </a:rPr>
              <a:t> </a:t>
            </a:r>
            <a:r>
              <a:rPr lang="en-US" altLang="zh-TW" dirty="0" err="1">
                <a:latin typeface="Times New Roman" pitchFamily="18" charset="0"/>
                <a:cs typeface="Times New Roman" pitchFamily="18" charset="0"/>
              </a:rPr>
              <a:t>ln</a:t>
            </a:r>
            <a:r>
              <a:rPr lang="en-US" altLang="zh-TW" dirty="0">
                <a:latin typeface="Times New Roman" pitchFamily="18" charset="0"/>
                <a:cs typeface="Times New Roman" pitchFamily="18" charset="0"/>
              </a:rPr>
              <a:t>(</a:t>
            </a:r>
            <a:r>
              <a:rPr lang="en-US" altLang="zh-TW" i="1" dirty="0">
                <a:latin typeface="Times New Roman" pitchFamily="18" charset="0"/>
                <a:cs typeface="Times New Roman" pitchFamily="18" charset="0"/>
              </a:rPr>
              <a:t>k</a:t>
            </a:r>
            <a:r>
              <a:rPr lang="en-US" altLang="zh-TW" dirty="0">
                <a:latin typeface="Times New Roman" pitchFamily="18" charset="0"/>
                <a:cs typeface="Times New Roman" pitchFamily="18" charset="0"/>
              </a:rPr>
              <a:t>)</a:t>
            </a:r>
            <a:br>
              <a:rPr lang="en-US" altLang="zh-TW" dirty="0">
                <a:latin typeface="Times New Roman" pitchFamily="18" charset="0"/>
                <a:cs typeface="Times New Roman" pitchFamily="18" charset="0"/>
              </a:rPr>
            </a:br>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It has a characteristic : </a:t>
            </a:r>
            <a:br>
              <a:rPr lang="en-US" altLang="zh-TW" dirty="0">
                <a:latin typeface="Times New Roman" pitchFamily="18" charset="0"/>
                <a:cs typeface="Times New Roman" pitchFamily="18" charset="0"/>
              </a:rPr>
            </a:br>
            <a:r>
              <a:rPr lang="zh-TW" altLang="en-US" dirty="0">
                <a:latin typeface="Times New Roman" pitchFamily="18" charset="0"/>
                <a:cs typeface="Times New Roman" pitchFamily="18" charset="0"/>
              </a:rPr>
              <a:t>「</a:t>
            </a:r>
            <a:r>
              <a:rPr lang="en-US" altLang="zh-TW" dirty="0">
                <a:latin typeface="Times New Roman" pitchFamily="18" charset="0"/>
                <a:cs typeface="Times New Roman" pitchFamily="18" charset="0"/>
              </a:rPr>
              <a:t>The longer the continuous gap, </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the less the increasing penalty. </a:t>
            </a:r>
            <a:r>
              <a:rPr lang="zh-TW" altLang="en-US" dirty="0">
                <a:latin typeface="Times New Roman" pitchFamily="18" charset="0"/>
                <a:cs typeface="Times New Roman" pitchFamily="18" charset="0"/>
              </a:rPr>
              <a:t>」 </a:t>
            </a:r>
            <a:br>
              <a:rPr lang="en-US" altLang="zh-TW" dirty="0">
                <a:latin typeface="Times New Roman" pitchFamily="18" charset="0"/>
                <a:cs typeface="Times New Roman" pitchFamily="18" charset="0"/>
              </a:rPr>
            </a:br>
            <a:endParaRPr lang="en-US" altLang="zh-TW"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Why use convex gap?</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r>
              <a:rPr lang="en-US" altLang="zh-TW" dirty="0">
                <a:latin typeface="Times New Roman" pitchFamily="18" charset="0"/>
                <a:cs typeface="Times New Roman" pitchFamily="18" charset="0"/>
              </a:rPr>
              <a:t>When continuous gap is longer, linear gap penalty will cause worse alignment.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Performance</a:t>
            </a:r>
            <a:endParaRPr lang="zh-TW" altLang="en-US" dirty="0">
              <a:latin typeface="Times New Roman" pitchFamily="18" charset="0"/>
              <a:cs typeface="Times New Roman" pitchFamily="18" charset="0"/>
            </a:endParaRPr>
          </a:p>
        </p:txBody>
      </p:sp>
      <p:pic>
        <p:nvPicPr>
          <p:cNvPr id="4" name="內容版面配置區 3" descr="16.PNG"/>
          <p:cNvPicPr>
            <a:picLocks noGrp="1" noChangeAspect="1"/>
          </p:cNvPicPr>
          <p:nvPr>
            <p:ph idx="1"/>
          </p:nvPr>
        </p:nvPicPr>
        <p:blipFill>
          <a:blip r:embed="rId2" cstate="print"/>
          <a:stretch>
            <a:fillRect/>
          </a:stretch>
        </p:blipFill>
        <p:spPr>
          <a:xfrm>
            <a:off x="1331640" y="1340768"/>
            <a:ext cx="6485286" cy="4752528"/>
          </a:xfrm>
        </p:spPr>
      </p:pic>
      <p:pic>
        <p:nvPicPr>
          <p:cNvPr id="6" name="圖片 5" descr="17.PNG"/>
          <p:cNvPicPr>
            <a:picLocks noChangeAspect="1"/>
          </p:cNvPicPr>
          <p:nvPr/>
        </p:nvPicPr>
        <p:blipFill>
          <a:blip r:embed="rId3" cstate="print"/>
          <a:stretch>
            <a:fillRect/>
          </a:stretch>
        </p:blipFill>
        <p:spPr>
          <a:xfrm>
            <a:off x="1403648" y="6206736"/>
            <a:ext cx="4896544" cy="6512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zh-TW" altLang="en-US" dirty="0">
                <a:latin typeface="標楷體" pitchFamily="65" charset="-120"/>
                <a:ea typeface="標楷體" pitchFamily="65" charset="-120"/>
                <a:cs typeface="Times New Roman" pitchFamily="18" charset="0"/>
              </a:rPr>
              <a:t>相關研究</a:t>
            </a:r>
          </a:p>
        </p:txBody>
      </p:sp>
      <p:sp>
        <p:nvSpPr>
          <p:cNvPr id="5" name="內容版面配置區 4"/>
          <p:cNvSpPr>
            <a:spLocks noGrp="1"/>
          </p:cNvSpPr>
          <p:nvPr>
            <p:ph idx="1"/>
          </p:nvPr>
        </p:nvSpPr>
        <p:spPr>
          <a:xfrm>
            <a:off x="457200" y="1600200"/>
            <a:ext cx="8229600" cy="5257800"/>
          </a:xfrm>
        </p:spPr>
        <p:txBody>
          <a:bodyPr/>
          <a:lstStyle/>
          <a:p>
            <a:r>
              <a:rPr lang="zh-TW" altLang="en-US" dirty="0">
                <a:latin typeface="Times New Roman" pitchFamily="18" charset="0"/>
                <a:ea typeface="標楷體" pitchFamily="65" charset="-120"/>
                <a:cs typeface="Times New Roman" pitchFamily="18" charset="0"/>
              </a:rPr>
              <a:t>中華大學</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第</a:t>
            </a:r>
            <a:r>
              <a:rPr lang="en-US" altLang="zh-TW" dirty="0">
                <a:latin typeface="Times New Roman" pitchFamily="18" charset="0"/>
                <a:ea typeface="標楷體" pitchFamily="65" charset="-120"/>
                <a:cs typeface="Times New Roman" pitchFamily="18" charset="0"/>
              </a:rPr>
              <a:t>19</a:t>
            </a:r>
            <a:r>
              <a:rPr lang="zh-TW" altLang="en-US" dirty="0">
                <a:latin typeface="Times New Roman" pitchFamily="18" charset="0"/>
                <a:ea typeface="標楷體" pitchFamily="65" charset="-120"/>
                <a:cs typeface="Times New Roman" pitchFamily="18" charset="0"/>
              </a:rPr>
              <a:t>屆組數研討會</a:t>
            </a:r>
            <a:br>
              <a:rPr lang="en-US" altLang="zh-TW" dirty="0">
                <a:latin typeface="Times New Roman" pitchFamily="18" charset="0"/>
                <a:ea typeface="標楷體" pitchFamily="65" charset="-120"/>
                <a:cs typeface="Times New Roman" pitchFamily="18" charset="0"/>
              </a:rPr>
            </a:br>
            <a:r>
              <a:rPr lang="zh-TW" altLang="en-US" dirty="0">
                <a:latin typeface="Times New Roman" pitchFamily="18" charset="0"/>
                <a:ea typeface="標楷體" pitchFamily="65" charset="-120"/>
                <a:cs typeface="Times New Roman" pitchFamily="18" charset="0"/>
              </a:rPr>
              <a:t>生物序列比對問題上考慮凸形間隔處罰函數的一些 </a:t>
            </a:r>
            <a:r>
              <a:rPr lang="en-US" altLang="zh-TW" dirty="0">
                <a:latin typeface="Times New Roman" pitchFamily="18" charset="0"/>
                <a:ea typeface="標楷體" pitchFamily="65" charset="-120"/>
                <a:cs typeface="Times New Roman" pitchFamily="18" charset="0"/>
              </a:rPr>
              <a:t>O(nm)</a:t>
            </a:r>
            <a:r>
              <a:rPr lang="zh-TW" altLang="en-US" dirty="0">
                <a:latin typeface="Times New Roman" pitchFamily="18" charset="0"/>
                <a:ea typeface="標楷體" pitchFamily="65" charset="-120"/>
                <a:cs typeface="Times New Roman" pitchFamily="18" charset="0"/>
              </a:rPr>
              <a:t>演算法</a:t>
            </a:r>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r>
              <a:rPr lang="zh-TW" altLang="en-US" dirty="0">
                <a:latin typeface="Times New Roman" pitchFamily="18" charset="0"/>
                <a:ea typeface="標楷體" pitchFamily="65" charset="-120"/>
                <a:cs typeface="Times New Roman" pitchFamily="18" charset="0"/>
              </a:rPr>
              <a:t>中華大學</a:t>
            </a:r>
            <a:r>
              <a:rPr lang="en-US" altLang="zh-TW" dirty="0">
                <a:latin typeface="Times New Roman" pitchFamily="18" charset="0"/>
                <a:ea typeface="標楷體" pitchFamily="65" charset="-120"/>
                <a:cs typeface="Times New Roman" pitchFamily="18" charset="0"/>
              </a:rPr>
              <a:t>-2015</a:t>
            </a:r>
            <a:br>
              <a:rPr lang="en-US" altLang="zh-TW" dirty="0">
                <a:latin typeface="Times New Roman" pitchFamily="18" charset="0"/>
                <a:ea typeface="標楷體" pitchFamily="65" charset="-120"/>
                <a:cs typeface="Times New Roman" pitchFamily="18" charset="0"/>
              </a:rPr>
            </a:br>
            <a:r>
              <a:rPr lang="zh-TW" altLang="en-US" dirty="0">
                <a:latin typeface="Times New Roman" pitchFamily="18" charset="0"/>
                <a:ea typeface="標楷體" pitchFamily="65" charset="-120"/>
                <a:cs typeface="Times New Roman" pitchFamily="18" charset="0"/>
              </a:rPr>
              <a:t>考慮凹形間隔處罰函數之有效率生物序列比對演算法</a:t>
            </a:r>
            <a:endParaRPr lang="en-US" altLang="zh-TW" dirty="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r>
              <a:rPr lang="zh-TW" altLang="en-US" dirty="0">
                <a:latin typeface="Times New Roman" pitchFamily="18" charset="0"/>
                <a:ea typeface="標楷體" pitchFamily="65" charset="-120"/>
                <a:cs typeface="Times New Roman" pitchFamily="18" charset="0"/>
              </a:rPr>
              <a:t>常見的演算法</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1997</a:t>
            </a:r>
            <a:r>
              <a:rPr lang="zh-TW" altLang="en-US" dirty="0">
                <a:latin typeface="Times New Roman" pitchFamily="18" charset="0"/>
                <a:ea typeface="標楷體" pitchFamily="65" charset="-120"/>
                <a:cs typeface="Times New Roman" pitchFamily="18" charset="0"/>
              </a:rPr>
              <a:t> </a:t>
            </a:r>
            <a:r>
              <a:rPr lang="en-US" altLang="zh-TW" dirty="0" err="1">
                <a:latin typeface="Times New Roman" pitchFamily="18" charset="0"/>
                <a:ea typeface="標楷體" pitchFamily="65" charset="-120"/>
                <a:cs typeface="Times New Roman" pitchFamily="18" charset="0"/>
              </a:rPr>
              <a:t>Gusfield</a:t>
            </a:r>
            <a:r>
              <a:rPr lang="en-US" altLang="zh-TW" dirty="0">
                <a:latin typeface="Times New Roman" pitchFamily="18" charset="0"/>
                <a:ea typeface="標楷體" pitchFamily="65" charset="-120"/>
                <a:cs typeface="Times New Roman" pitchFamily="18" charset="0"/>
              </a:rPr>
              <a:t> algorithm</a:t>
            </a:r>
          </a:p>
          <a:p>
            <a:endParaRPr lang="en-US" altLang="zh-TW" dirty="0">
              <a:latin typeface="Times New Roman" pitchFamily="18" charset="0"/>
              <a:ea typeface="標楷體" pitchFamily="65" charset="-12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pitchFamily="18" charset="0"/>
                <a:cs typeface="Times New Roman" pitchFamily="18" charset="0"/>
              </a:rPr>
              <a:t>A Basic Analysis Toolkit for Biological Sequences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2852936"/>
            <a:ext cx="6858000" cy="425017"/>
          </a:xfrm>
        </p:spPr>
        <p:txBody>
          <a:bodyPr>
            <a:noAutofit/>
          </a:bodyPr>
          <a:lstStyle/>
          <a:p>
            <a:pPr fontAlgn="ctr"/>
            <a:r>
              <a:rPr lang="it-IT" altLang="zh-TW" sz="2000" dirty="0">
                <a:solidFill>
                  <a:schemeClr val="tx1"/>
                </a:solidFill>
                <a:latin typeface="Times New Roman" pitchFamily="18" charset="0"/>
                <a:cs typeface="Times New Roman" pitchFamily="18" charset="0"/>
              </a:rPr>
              <a:t>Raffaele Giancarlo, Alessandro Siragusa, </a:t>
            </a:r>
          </a:p>
          <a:p>
            <a:pPr fontAlgn="ctr"/>
            <a:r>
              <a:rPr lang="it-IT" altLang="zh-TW" sz="2000" dirty="0">
                <a:solidFill>
                  <a:schemeClr val="tx1"/>
                </a:solidFill>
                <a:latin typeface="Times New Roman" pitchFamily="18" charset="0"/>
                <a:cs typeface="Times New Roman" pitchFamily="18" charset="0"/>
              </a:rPr>
              <a:t>Enrico Siragusa and Filippo Utro</a:t>
            </a:r>
            <a:endParaRPr lang="en-US" altLang="zh-TW" dirty="0"/>
          </a:p>
        </p:txBody>
      </p:sp>
      <p:sp>
        <p:nvSpPr>
          <p:cNvPr id="8" name="文字方塊 7">
            <a:extLst>
              <a:ext uri="{FF2B5EF4-FFF2-40B4-BE49-F238E27FC236}">
                <a16:creationId xmlns:a16="http://schemas.microsoft.com/office/drawing/2014/main" id="{8F2527E8-BB8F-41FB-8AF1-03DCC96BC069}"/>
              </a:ext>
            </a:extLst>
          </p:cNvPr>
          <p:cNvSpPr txBox="1"/>
          <p:nvPr/>
        </p:nvSpPr>
        <p:spPr>
          <a:xfrm>
            <a:off x="1452789" y="3873343"/>
            <a:ext cx="5869748" cy="830997"/>
          </a:xfrm>
          <a:prstGeom prst="rect">
            <a:avLst/>
          </a:prstGeom>
          <a:noFill/>
        </p:spPr>
        <p:txBody>
          <a:bodyPr wrap="none" rtlCol="0">
            <a:spAutoFit/>
          </a:bodyPr>
          <a:lstStyle/>
          <a:p>
            <a:pPr algn="ctr"/>
            <a:r>
              <a:rPr lang="en-US" altLang="zh-TW" sz="2400" dirty="0">
                <a:latin typeface="Times New Roman" panose="02020603050405020304" pitchFamily="18" charset="0"/>
                <a:cs typeface="Times New Roman" panose="02020603050405020304" pitchFamily="18" charset="0"/>
              </a:rPr>
              <a:t>Algorithms for Molecular Biology, Volume 2, </a:t>
            </a:r>
          </a:p>
          <a:p>
            <a:pPr algn="ctr"/>
            <a:r>
              <a:rPr lang="en-US" altLang="zh-TW" sz="2400" dirty="0">
                <a:latin typeface="Times New Roman" panose="02020603050405020304" pitchFamily="18" charset="0"/>
                <a:cs typeface="Times New Roman" panose="02020603050405020304" pitchFamily="18" charset="0"/>
              </a:rPr>
              <a:t>Article number: 10 (2007)</a:t>
            </a:r>
            <a:endParaRPr lang="en-US" altLang="zh-TW" sz="2200" dirty="0">
              <a:latin typeface="+mj-lt"/>
              <a:cs typeface="Times New Roman" pitchFamily="18" charset="0"/>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24855"/>
            <a:ext cx="2568332"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Jan. 12, 2021</a:t>
            </a:r>
            <a:endParaRPr lang="zh-TW" altLang="en-US" dirty="0"/>
          </a:p>
        </p:txBody>
      </p:sp>
    </p:spTree>
    <p:extLst>
      <p:ext uri="{BB962C8B-B14F-4D97-AF65-F5344CB8AC3E}">
        <p14:creationId xmlns:p14="http://schemas.microsoft.com/office/powerpoint/2010/main" val="3557049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altLang="zh-TW" sz="2800" dirty="0">
                <a:latin typeface="Times New Roman" pitchFamily="18" charset="0"/>
                <a:cs typeface="Times New Roman" pitchFamily="18" charset="0"/>
              </a:rPr>
              <a:t>This paper presents a software library, nicknamed BATS, for some basic sequence analysis tasks. Namely, local alignments, via approximate string matching, and global alignments, via longest common subsequence and alignments with affine and concave gap cost functions. Moreover, it also supports filtering operations to select strings from a set and establish their statistical significance, via z-score computation. None of the algorithms is new, but although they are generally regarded as fundamental for sequence analysis, they have not been implemented in a single and consistent software package, as we do here. </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74493"/>
            <a:ext cx="9004993" cy="5246795"/>
          </a:xfrm>
        </p:spPr>
        <p:txBody>
          <a:bodyPr>
            <a:noAutofit/>
          </a:bodyPr>
          <a:lstStyle/>
          <a:p>
            <a:pPr marL="0" indent="0">
              <a:lnSpc>
                <a:spcPts val="3200"/>
              </a:lnSpc>
              <a:buNone/>
            </a:pPr>
            <a:r>
              <a:rPr lang="en-US" altLang="zh-TW" sz="2800" dirty="0">
                <a:latin typeface="Times New Roman" pitchFamily="18" charset="0"/>
                <a:cs typeface="Times New Roman" pitchFamily="18" charset="0"/>
              </a:rPr>
              <a:t>Therefore, our main contribution is to fill this gap between algorithmic theory and practice by providing an extensible and easy to use software library that includes algorithms for the mentioned string matching and alignment problems. The library consists of C/C++ library functions as well as Perl library functions. It can be interfaced with </a:t>
            </a:r>
            <a:r>
              <a:rPr lang="en-US" altLang="zh-TW" sz="2800" dirty="0" err="1">
                <a:latin typeface="Times New Roman" pitchFamily="18" charset="0"/>
                <a:cs typeface="Times New Roman" pitchFamily="18" charset="0"/>
              </a:rPr>
              <a:t>Bioperl</a:t>
            </a:r>
            <a:r>
              <a:rPr lang="en-US" altLang="zh-TW" sz="2800" dirty="0">
                <a:latin typeface="Times New Roman" pitchFamily="18" charset="0"/>
                <a:cs typeface="Times New Roman" pitchFamily="18" charset="0"/>
              </a:rPr>
              <a:t> and can also be used as a stand-alone system with a GUI. The software is available at http://www.math.unipa.it/~raffaele/BATS/ under the GNU GPL.</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K-Mismatch</a:t>
            </a:r>
            <a:endParaRPr lang="zh-TW" altLang="en-US" dirty="0">
              <a:latin typeface="Times New Roman" pitchFamily="18" charset="0"/>
              <a:cs typeface="Times New Roman" pitchFamily="18" charset="0"/>
            </a:endParaRPr>
          </a:p>
        </p:txBody>
      </p:sp>
      <p:pic>
        <p:nvPicPr>
          <p:cNvPr id="4" name="內容版面配置區 3" descr="1.PNG"/>
          <p:cNvPicPr>
            <a:picLocks noGrp="1" noChangeAspect="1"/>
          </p:cNvPicPr>
          <p:nvPr>
            <p:ph idx="1"/>
          </p:nvPr>
        </p:nvPicPr>
        <p:blipFill>
          <a:blip r:embed="rId2" cstate="print"/>
          <a:stretch>
            <a:fillRect/>
          </a:stretch>
        </p:blipFill>
        <p:spPr>
          <a:xfrm>
            <a:off x="1403648" y="1124744"/>
            <a:ext cx="6161523" cy="5733256"/>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K-Mismatch</a:t>
            </a:r>
            <a:endParaRPr lang="zh-TW" altLang="en-US" dirty="0">
              <a:latin typeface="Times New Roman" pitchFamily="18" charset="0"/>
              <a:cs typeface="Times New Roman" pitchFamily="18" charset="0"/>
            </a:endParaRPr>
          </a:p>
        </p:txBody>
      </p:sp>
      <p:pic>
        <p:nvPicPr>
          <p:cNvPr id="6" name="內容版面配置區 5" descr="2.PNG"/>
          <p:cNvPicPr>
            <a:picLocks noGrp="1" noChangeAspect="1"/>
          </p:cNvPicPr>
          <p:nvPr>
            <p:ph idx="1"/>
          </p:nvPr>
        </p:nvPicPr>
        <p:blipFill>
          <a:blip r:embed="rId2" cstate="print"/>
          <a:stretch>
            <a:fillRect/>
          </a:stretch>
        </p:blipFill>
        <p:spPr>
          <a:xfrm>
            <a:off x="1043608" y="1196752"/>
            <a:ext cx="7165140" cy="5661248"/>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K-Mismatch</a:t>
            </a:r>
            <a:endParaRPr lang="zh-TW" altLang="en-US" dirty="0">
              <a:latin typeface="Times New Roman" pitchFamily="18" charset="0"/>
              <a:cs typeface="Times New Roman" pitchFamily="18" charset="0"/>
            </a:endParaRPr>
          </a:p>
        </p:txBody>
      </p:sp>
      <p:sp>
        <p:nvSpPr>
          <p:cNvPr id="4" name="內容版面配置區 3"/>
          <p:cNvSpPr>
            <a:spLocks noGrp="1"/>
          </p:cNvSpPr>
          <p:nvPr>
            <p:ph idx="1"/>
          </p:nvPr>
        </p:nvSpPr>
        <p:spPr/>
        <p:txBody>
          <a:bodyPr/>
          <a:lstStyle/>
          <a:p>
            <a:r>
              <a:rPr lang="en-US" altLang="zh-TW" dirty="0">
                <a:latin typeface="Times New Roman" pitchFamily="18" charset="0"/>
                <a:cs typeface="Times New Roman" pitchFamily="18" charset="0"/>
              </a:rPr>
              <a:t>Find all seeds in the text with at most k </a:t>
            </a:r>
            <a:r>
              <a:rPr lang="en-US" altLang="zh-TW" dirty="0" err="1">
                <a:latin typeface="Times New Roman" pitchFamily="18" charset="0"/>
                <a:cs typeface="Times New Roman" pitchFamily="18" charset="0"/>
              </a:rPr>
              <a:t>mismatchs</a:t>
            </a:r>
            <a:r>
              <a:rPr lang="en-US" altLang="zh-TW" dirty="0">
                <a:latin typeface="Times New Roman" pitchFamily="18" charset="0"/>
                <a:cs typeface="Times New Roman" pitchFamily="18" charset="0"/>
              </a:rPr>
              <a:t>.</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Use</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1. Suffix tree</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2. Lowest common Ancestor</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Time complexity : O(</a:t>
            </a:r>
            <a:r>
              <a:rPr lang="en-US" altLang="zh-TW" i="1" dirty="0" err="1">
                <a:latin typeface="Times New Roman" pitchFamily="18" charset="0"/>
                <a:cs typeface="Times New Roman" pitchFamily="18" charset="0"/>
              </a:rPr>
              <a:t>m</a:t>
            </a:r>
            <a:r>
              <a:rPr lang="en-US" altLang="zh-TW" dirty="0" err="1">
                <a:latin typeface="Times New Roman" pitchFamily="18" charset="0"/>
                <a:cs typeface="Times New Roman" pitchFamily="18" charset="0"/>
              </a:rPr>
              <a:t>+</a:t>
            </a:r>
            <a:r>
              <a:rPr lang="en-US" altLang="zh-TW" i="1" dirty="0" err="1">
                <a:latin typeface="Times New Roman" pitchFamily="18" charset="0"/>
                <a:cs typeface="Times New Roman" pitchFamily="18" charset="0"/>
              </a:rPr>
              <a:t>n</a:t>
            </a:r>
            <a:r>
              <a:rPr lang="en-US" altLang="zh-TW" dirty="0" err="1">
                <a:latin typeface="Times New Roman" pitchFamily="18" charset="0"/>
                <a:cs typeface="Times New Roman" pitchFamily="18" charset="0"/>
              </a:rPr>
              <a:t>+</a:t>
            </a:r>
            <a:r>
              <a:rPr lang="en-US" altLang="zh-TW" i="1" dirty="0" err="1">
                <a:latin typeface="Times New Roman" pitchFamily="18" charset="0"/>
                <a:cs typeface="Times New Roman" pitchFamily="18" charset="0"/>
              </a:rPr>
              <a:t>nk</a:t>
            </a:r>
            <a:r>
              <a:rPr lang="en-US" altLang="zh-TW" dirty="0">
                <a:latin typeface="Times New Roman" pitchFamily="18" charset="0"/>
                <a:cs typeface="Times New Roman" pitchFamily="18" charset="0"/>
              </a:rPr>
              <a:t>)</a:t>
            </a:r>
            <a:endParaRPr lang="zh-TW" altLang="en-US"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K-Difference</a:t>
            </a:r>
            <a:endParaRPr lang="zh-TW" altLang="en-US" dirty="0">
              <a:latin typeface="Times New Roman" pitchFamily="18" charset="0"/>
              <a:cs typeface="Times New Roman" pitchFamily="18" charset="0"/>
            </a:endParaRPr>
          </a:p>
        </p:txBody>
      </p:sp>
      <p:pic>
        <p:nvPicPr>
          <p:cNvPr id="6" name="內容版面配置區 5" descr="3.PNG"/>
          <p:cNvPicPr>
            <a:picLocks noGrp="1" noChangeAspect="1"/>
          </p:cNvPicPr>
          <p:nvPr>
            <p:ph idx="1"/>
          </p:nvPr>
        </p:nvPicPr>
        <p:blipFill>
          <a:blip r:embed="rId2" cstate="print"/>
          <a:stretch>
            <a:fillRect/>
          </a:stretch>
        </p:blipFill>
        <p:spPr>
          <a:xfrm>
            <a:off x="1619672" y="1124744"/>
            <a:ext cx="6106263" cy="5733256"/>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K-Difference</a:t>
            </a:r>
            <a:endParaRPr lang="zh-TW" altLang="en-US" dirty="0">
              <a:latin typeface="Times New Roman" pitchFamily="18" charset="0"/>
              <a:cs typeface="Times New Roman" pitchFamily="18" charset="0"/>
            </a:endParaRPr>
          </a:p>
        </p:txBody>
      </p:sp>
      <p:pic>
        <p:nvPicPr>
          <p:cNvPr id="5" name="內容版面配置區 4" descr="4.PNG"/>
          <p:cNvPicPr>
            <a:picLocks noGrp="1" noChangeAspect="1"/>
          </p:cNvPicPr>
          <p:nvPr>
            <p:ph idx="1"/>
          </p:nvPr>
        </p:nvPicPr>
        <p:blipFill>
          <a:blip r:embed="rId2" cstate="print"/>
          <a:stretch>
            <a:fillRect/>
          </a:stretch>
        </p:blipFill>
        <p:spPr>
          <a:xfrm>
            <a:off x="899592" y="1052736"/>
            <a:ext cx="7278600" cy="5805264"/>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 – K-Difference</a:t>
            </a:r>
            <a:endParaRPr lang="zh-TW" altLang="en-US" dirty="0">
              <a:latin typeface="Times New Roman" pitchFamily="18" charset="0"/>
              <a:cs typeface="Times New Roman" pitchFamily="18" charset="0"/>
            </a:endParaRPr>
          </a:p>
        </p:txBody>
      </p:sp>
      <p:sp>
        <p:nvSpPr>
          <p:cNvPr id="4" name="內容版面配置區 3"/>
          <p:cNvSpPr>
            <a:spLocks noGrp="1"/>
          </p:cNvSpPr>
          <p:nvPr>
            <p:ph idx="1"/>
          </p:nvPr>
        </p:nvSpPr>
        <p:spPr/>
        <p:txBody>
          <a:bodyPr/>
          <a:lstStyle/>
          <a:p>
            <a:r>
              <a:rPr lang="en-US" altLang="zh-TW" dirty="0">
                <a:latin typeface="Times New Roman" pitchFamily="18" charset="0"/>
                <a:cs typeface="Times New Roman" pitchFamily="18" charset="0"/>
              </a:rPr>
              <a:t>Find all seeds in the text with at most k differences.</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Difference have insert, delete and replace.</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Use</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1. Dynamic programming</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Time complexity : O(</a:t>
            </a:r>
            <a:r>
              <a:rPr lang="en-US" altLang="zh-TW" i="1" dirty="0" err="1">
                <a:latin typeface="Times New Roman" pitchFamily="18" charset="0"/>
                <a:cs typeface="Times New Roman" pitchFamily="18" charset="0"/>
              </a:rPr>
              <a:t>m</a:t>
            </a:r>
            <a:r>
              <a:rPr lang="en-US" altLang="zh-TW" dirty="0" err="1">
                <a:latin typeface="Times New Roman" pitchFamily="18" charset="0"/>
                <a:cs typeface="Times New Roman" pitchFamily="18" charset="0"/>
              </a:rPr>
              <a:t>+</a:t>
            </a:r>
            <a:r>
              <a:rPr lang="en-US" altLang="zh-TW" i="1" dirty="0" err="1">
                <a:latin typeface="Times New Roman" pitchFamily="18" charset="0"/>
                <a:cs typeface="Times New Roman" pitchFamily="18" charset="0"/>
              </a:rPr>
              <a:t>n</a:t>
            </a:r>
            <a:r>
              <a:rPr lang="en-US" altLang="zh-TW" dirty="0" err="1">
                <a:latin typeface="Times New Roman" pitchFamily="18" charset="0"/>
                <a:cs typeface="Times New Roman" pitchFamily="18" charset="0"/>
              </a:rPr>
              <a:t>+</a:t>
            </a:r>
            <a:r>
              <a:rPr lang="en-US" altLang="zh-TW" i="1" dirty="0" err="1">
                <a:latin typeface="Times New Roman" pitchFamily="18" charset="0"/>
                <a:cs typeface="Times New Roman" pitchFamily="18" charset="0"/>
              </a:rPr>
              <a:t>nk</a:t>
            </a:r>
            <a:r>
              <a:rPr lang="en-US" altLang="zh-TW" dirty="0">
                <a:latin typeface="Times New Roman" pitchFamily="18" charset="0"/>
                <a:cs typeface="Times New Roman" pitchFamily="18" charset="0"/>
              </a:rPr>
              <a:t>)</a:t>
            </a:r>
            <a:endParaRPr lang="zh-TW" altLang="en-US"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435280" cy="1143000"/>
          </a:xfrm>
        </p:spPr>
        <p:txBody>
          <a:bodyPr>
            <a:normAutofit/>
          </a:bodyPr>
          <a:lstStyle/>
          <a:p>
            <a:pPr algn="l"/>
            <a:r>
              <a:rPr lang="en-US" dirty="0">
                <a:latin typeface="Times New Roman" pitchFamily="18" charset="0"/>
                <a:cs typeface="Times New Roman" pitchFamily="18" charset="0"/>
              </a:rPr>
              <a:t>Introduction – LCS from Fragments</a:t>
            </a:r>
            <a:endParaRPr lang="zh-TW" altLang="en-US" dirty="0">
              <a:latin typeface="Times New Roman" pitchFamily="18" charset="0"/>
              <a:cs typeface="Times New Roman" pitchFamily="18" charset="0"/>
            </a:endParaRPr>
          </a:p>
        </p:txBody>
      </p:sp>
      <p:pic>
        <p:nvPicPr>
          <p:cNvPr id="5" name="內容版面配置區 4" descr="5.PNG"/>
          <p:cNvPicPr>
            <a:picLocks noGrp="1" noChangeAspect="1"/>
          </p:cNvPicPr>
          <p:nvPr>
            <p:ph idx="1"/>
          </p:nvPr>
        </p:nvPicPr>
        <p:blipFill>
          <a:blip r:embed="rId2" cstate="print"/>
          <a:stretch>
            <a:fillRect/>
          </a:stretch>
        </p:blipFill>
        <p:spPr>
          <a:xfrm>
            <a:off x="1475656" y="1159937"/>
            <a:ext cx="6192688" cy="5725447"/>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435280" cy="1143000"/>
          </a:xfrm>
        </p:spPr>
        <p:txBody>
          <a:bodyPr>
            <a:normAutofit/>
          </a:bodyPr>
          <a:lstStyle/>
          <a:p>
            <a:pPr algn="l"/>
            <a:r>
              <a:rPr lang="en-US" dirty="0">
                <a:latin typeface="Times New Roman" pitchFamily="18" charset="0"/>
                <a:cs typeface="Times New Roman" pitchFamily="18" charset="0"/>
              </a:rPr>
              <a:t>Introduction – LCS from Fragments</a:t>
            </a:r>
            <a:endParaRPr lang="zh-TW" altLang="en-US" dirty="0">
              <a:latin typeface="Times New Roman" pitchFamily="18" charset="0"/>
              <a:cs typeface="Times New Roman" pitchFamily="18" charset="0"/>
            </a:endParaRPr>
          </a:p>
        </p:txBody>
      </p:sp>
      <p:pic>
        <p:nvPicPr>
          <p:cNvPr id="6" name="內容版面配置區 5" descr="6.PNG"/>
          <p:cNvPicPr>
            <a:picLocks noGrp="1" noChangeAspect="1"/>
          </p:cNvPicPr>
          <p:nvPr>
            <p:ph idx="1"/>
          </p:nvPr>
        </p:nvPicPr>
        <p:blipFill>
          <a:blip r:embed="rId2" cstate="print"/>
          <a:stretch>
            <a:fillRect/>
          </a:stretch>
        </p:blipFill>
        <p:spPr>
          <a:xfrm>
            <a:off x="1259632" y="1268760"/>
            <a:ext cx="6696744" cy="5598205"/>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435280" cy="1143000"/>
          </a:xfrm>
        </p:spPr>
        <p:txBody>
          <a:bodyPr>
            <a:normAutofit/>
          </a:bodyPr>
          <a:lstStyle/>
          <a:p>
            <a:pPr algn="l"/>
            <a:r>
              <a:rPr lang="en-US" dirty="0">
                <a:latin typeface="Times New Roman" pitchFamily="18" charset="0"/>
                <a:cs typeface="Times New Roman" pitchFamily="18" charset="0"/>
              </a:rPr>
              <a:t>Introduction – LCS from Fragments</a:t>
            </a:r>
            <a:endParaRPr lang="zh-TW" altLang="en-US" dirty="0">
              <a:latin typeface="Times New Roman" pitchFamily="18" charset="0"/>
              <a:cs typeface="Times New Roman" pitchFamily="18" charset="0"/>
            </a:endParaRPr>
          </a:p>
        </p:txBody>
      </p:sp>
      <p:pic>
        <p:nvPicPr>
          <p:cNvPr id="9" name="內容版面配置區 8" descr="7.PNG"/>
          <p:cNvPicPr>
            <a:picLocks noGrp="1" noChangeAspect="1"/>
          </p:cNvPicPr>
          <p:nvPr>
            <p:ph idx="1"/>
          </p:nvPr>
        </p:nvPicPr>
        <p:blipFill>
          <a:blip r:embed="rId2" cstate="print"/>
          <a:stretch>
            <a:fillRect/>
          </a:stretch>
        </p:blipFill>
        <p:spPr>
          <a:xfrm>
            <a:off x="0" y="1355522"/>
            <a:ext cx="4499992" cy="5025806"/>
          </a:xfrm>
        </p:spPr>
      </p:pic>
      <p:pic>
        <p:nvPicPr>
          <p:cNvPr id="10" name="圖片 9" descr="8.PNG"/>
          <p:cNvPicPr>
            <a:picLocks noChangeAspect="1"/>
          </p:cNvPicPr>
          <p:nvPr/>
        </p:nvPicPr>
        <p:blipFill>
          <a:blip r:embed="rId3" cstate="print"/>
          <a:stretch>
            <a:fillRect/>
          </a:stretch>
        </p:blipFill>
        <p:spPr>
          <a:xfrm>
            <a:off x="4750882" y="1368152"/>
            <a:ext cx="4393118" cy="508518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Edit distance with gaps</a:t>
            </a:r>
            <a:endParaRPr lang="zh-TW" altLang="en-US" dirty="0">
              <a:latin typeface="Times New Roman" pitchFamily="18" charset="0"/>
              <a:cs typeface="Times New Roman" pitchFamily="18" charset="0"/>
            </a:endParaRPr>
          </a:p>
        </p:txBody>
      </p:sp>
      <p:pic>
        <p:nvPicPr>
          <p:cNvPr id="6" name="內容版面配置區 5" descr="9.PNG"/>
          <p:cNvPicPr>
            <a:picLocks noGrp="1" noChangeAspect="1"/>
          </p:cNvPicPr>
          <p:nvPr>
            <p:ph idx="1"/>
          </p:nvPr>
        </p:nvPicPr>
        <p:blipFill>
          <a:blip r:embed="rId2" cstate="print"/>
          <a:stretch>
            <a:fillRect/>
          </a:stretch>
        </p:blipFill>
        <p:spPr>
          <a:xfrm>
            <a:off x="1331640" y="1124744"/>
            <a:ext cx="5760640" cy="5716327"/>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Edit distance with gaps</a:t>
            </a:r>
            <a:endParaRPr lang="zh-TW" altLang="en-US" dirty="0">
              <a:latin typeface="Times New Roman" pitchFamily="18" charset="0"/>
              <a:cs typeface="Times New Roman" pitchFamily="18" charset="0"/>
            </a:endParaRPr>
          </a:p>
        </p:txBody>
      </p:sp>
      <p:pic>
        <p:nvPicPr>
          <p:cNvPr id="5" name="內容版面配置區 4" descr="10.PNG"/>
          <p:cNvPicPr>
            <a:picLocks noGrp="1" noChangeAspect="1"/>
          </p:cNvPicPr>
          <p:nvPr>
            <p:ph idx="1"/>
          </p:nvPr>
        </p:nvPicPr>
        <p:blipFill>
          <a:blip r:embed="rId2" cstate="print"/>
          <a:stretch>
            <a:fillRect/>
          </a:stretch>
        </p:blipFill>
        <p:spPr>
          <a:xfrm>
            <a:off x="1187624" y="1268760"/>
            <a:ext cx="6589964" cy="5544616"/>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Edit distance with gaps</a:t>
            </a:r>
            <a:endParaRPr lang="zh-TW" altLang="en-US" dirty="0">
              <a:latin typeface="Times New Roman" pitchFamily="18" charset="0"/>
              <a:cs typeface="Times New Roman" pitchFamily="18" charset="0"/>
            </a:endParaRPr>
          </a:p>
        </p:txBody>
      </p:sp>
      <p:sp>
        <p:nvSpPr>
          <p:cNvPr id="4" name="內容版面配置區 3"/>
          <p:cNvSpPr>
            <a:spLocks noGrp="1"/>
          </p:cNvSpPr>
          <p:nvPr>
            <p:ph idx="1"/>
          </p:nvPr>
        </p:nvSpPr>
        <p:spPr/>
        <p:txBody>
          <a:bodyPr/>
          <a:lstStyle/>
          <a:p>
            <a:r>
              <a:rPr lang="en-US" altLang="zh-TW" dirty="0">
                <a:latin typeface="Times New Roman" pitchFamily="18" charset="0"/>
                <a:cs typeface="Times New Roman" pitchFamily="18" charset="0"/>
              </a:rPr>
              <a:t>Use affine or concave function of the gap</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Use </a:t>
            </a:r>
            <a:r>
              <a:rPr lang="en-US" altLang="zh-TW" dirty="0" err="1">
                <a:latin typeface="Times New Roman" pitchFamily="18" charset="0"/>
                <a:cs typeface="Times New Roman" pitchFamily="18" charset="0"/>
              </a:rPr>
              <a:t>Galil</a:t>
            </a:r>
            <a:r>
              <a:rPr lang="en-US" altLang="zh-TW" dirty="0">
                <a:latin typeface="Times New Roman" pitchFamily="18" charset="0"/>
                <a:cs typeface="Times New Roman" pitchFamily="18" charset="0"/>
              </a:rPr>
              <a:t> and Giancarlo algorithm</a:t>
            </a:r>
          </a:p>
          <a:p>
            <a:endParaRPr lang="en-US" altLang="zh-TW" dirty="0">
              <a:latin typeface="Times New Roman" pitchFamily="18" charset="0"/>
              <a:cs typeface="Times New Roman" pitchFamily="18" charset="0"/>
            </a:endParaRPr>
          </a:p>
          <a:p>
            <a:r>
              <a:rPr lang="en-US" altLang="zh-TW" dirty="0">
                <a:latin typeface="Times New Roman" pitchFamily="18" charset="0"/>
                <a:cs typeface="Times New Roman" pitchFamily="18" charset="0"/>
              </a:rPr>
              <a:t>Time complexity : O(</a:t>
            </a:r>
            <a:r>
              <a:rPr lang="en-US" altLang="zh-TW" i="1" dirty="0" err="1">
                <a:latin typeface="Times New Roman" pitchFamily="18" charset="0"/>
                <a:cs typeface="Times New Roman" pitchFamily="18" charset="0"/>
              </a:rPr>
              <a:t>mn</a:t>
            </a:r>
            <a:r>
              <a:rPr lang="en-US" altLang="zh-TW" dirty="0">
                <a:latin typeface="Times New Roman" pitchFamily="18" charset="0"/>
                <a:cs typeface="Times New Roman" pitchFamily="18" charset="0"/>
              </a:rPr>
              <a:t> log max(</a:t>
            </a:r>
            <a:r>
              <a:rPr lang="en-US" altLang="zh-TW" i="1" dirty="0">
                <a:latin typeface="Times New Roman" pitchFamily="18" charset="0"/>
                <a:cs typeface="Times New Roman" pitchFamily="18" charset="0"/>
              </a:rPr>
              <a:t>m</a:t>
            </a:r>
            <a:r>
              <a:rPr lang="en-US" altLang="zh-TW" dirty="0">
                <a:latin typeface="Times New Roman" pitchFamily="18" charset="0"/>
                <a:cs typeface="Times New Roman" pitchFamily="18" charset="0"/>
              </a:rPr>
              <a:t>, </a:t>
            </a:r>
            <a:r>
              <a:rPr lang="en-US" altLang="zh-TW" i="1" dirty="0">
                <a:latin typeface="Times New Roman" pitchFamily="18" charset="0"/>
                <a:cs typeface="Times New Roman" pitchFamily="18" charset="0"/>
              </a:rPr>
              <a:t>n</a:t>
            </a:r>
            <a:r>
              <a:rPr lang="en-US" altLang="zh-TW" dirty="0">
                <a:latin typeface="Times New Roman" pitchFamily="18" charset="0"/>
                <a:cs typeface="Times New Roman" pitchFamily="18" charset="0"/>
              </a:rPr>
              <a:t>))</a:t>
            </a:r>
            <a:endParaRPr lang="zh-TW" altLang="en-US"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Filter</a:t>
            </a:r>
            <a:endParaRPr lang="zh-TW" altLang="en-US" dirty="0">
              <a:latin typeface="Times New Roman" pitchFamily="18" charset="0"/>
              <a:cs typeface="Times New Roman" pitchFamily="18" charset="0"/>
            </a:endParaRPr>
          </a:p>
        </p:txBody>
      </p:sp>
      <p:pic>
        <p:nvPicPr>
          <p:cNvPr id="5" name="內容版面配置區 4" descr="11.PNG"/>
          <p:cNvPicPr>
            <a:picLocks noGrp="1" noChangeAspect="1"/>
          </p:cNvPicPr>
          <p:nvPr>
            <p:ph idx="1"/>
          </p:nvPr>
        </p:nvPicPr>
        <p:blipFill>
          <a:blip r:embed="rId2" cstate="print"/>
          <a:stretch>
            <a:fillRect/>
          </a:stretch>
        </p:blipFill>
        <p:spPr>
          <a:xfrm>
            <a:off x="1331640" y="1196752"/>
            <a:ext cx="6144050" cy="5661248"/>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Filter</a:t>
            </a:r>
            <a:endParaRPr lang="zh-TW" altLang="en-US" dirty="0">
              <a:latin typeface="Times New Roman" pitchFamily="18" charset="0"/>
              <a:cs typeface="Times New Roman" pitchFamily="18" charset="0"/>
            </a:endParaRPr>
          </a:p>
        </p:txBody>
      </p:sp>
      <p:pic>
        <p:nvPicPr>
          <p:cNvPr id="6" name="內容版面配置區 5" descr="12.PNG"/>
          <p:cNvPicPr>
            <a:picLocks noGrp="1" noChangeAspect="1"/>
          </p:cNvPicPr>
          <p:nvPr>
            <p:ph idx="1"/>
          </p:nvPr>
        </p:nvPicPr>
        <p:blipFill>
          <a:blip r:embed="rId2" cstate="print"/>
          <a:stretch>
            <a:fillRect/>
          </a:stretch>
        </p:blipFill>
        <p:spPr>
          <a:xfrm>
            <a:off x="971600" y="1124744"/>
            <a:ext cx="7272325" cy="5733256"/>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Z-Score</a:t>
            </a:r>
            <a:endParaRPr lang="zh-TW" altLang="en-US" dirty="0">
              <a:latin typeface="Times New Roman" pitchFamily="18" charset="0"/>
              <a:cs typeface="Times New Roman" pitchFamily="18" charset="0"/>
            </a:endParaRPr>
          </a:p>
        </p:txBody>
      </p:sp>
      <p:pic>
        <p:nvPicPr>
          <p:cNvPr id="5" name="內容版面配置區 4" descr="13.PNG"/>
          <p:cNvPicPr>
            <a:picLocks noGrp="1" noChangeAspect="1"/>
          </p:cNvPicPr>
          <p:nvPr>
            <p:ph idx="1"/>
          </p:nvPr>
        </p:nvPicPr>
        <p:blipFill>
          <a:blip r:embed="rId2" cstate="print"/>
          <a:stretch>
            <a:fillRect/>
          </a:stretch>
        </p:blipFill>
        <p:spPr>
          <a:xfrm>
            <a:off x="1475656" y="1196752"/>
            <a:ext cx="5688632" cy="560145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820472" cy="1143000"/>
          </a:xfrm>
        </p:spPr>
        <p:txBody>
          <a:bodyPr>
            <a:normAutofit/>
          </a:bodyPr>
          <a:lstStyle/>
          <a:p>
            <a:pPr algn="l"/>
            <a:r>
              <a:rPr lang="en-US" dirty="0">
                <a:latin typeface="Times New Roman" pitchFamily="18" charset="0"/>
                <a:cs typeface="Times New Roman" pitchFamily="18" charset="0"/>
              </a:rPr>
              <a:t>Introduction – Z-Score</a:t>
            </a:r>
            <a:endParaRPr lang="zh-TW" altLang="en-US" dirty="0">
              <a:latin typeface="Times New Roman" pitchFamily="18" charset="0"/>
              <a:cs typeface="Times New Roman" pitchFamily="18" charset="0"/>
            </a:endParaRPr>
          </a:p>
        </p:txBody>
      </p:sp>
      <p:pic>
        <p:nvPicPr>
          <p:cNvPr id="6" name="內容版面配置區 5" descr="14.PNG"/>
          <p:cNvPicPr>
            <a:picLocks noGrp="1" noChangeAspect="1"/>
          </p:cNvPicPr>
          <p:nvPr>
            <p:ph idx="1"/>
          </p:nvPr>
        </p:nvPicPr>
        <p:blipFill>
          <a:blip r:embed="rId2" cstate="print"/>
          <a:stretch>
            <a:fillRect/>
          </a:stretch>
        </p:blipFill>
        <p:spPr>
          <a:xfrm>
            <a:off x="1043608" y="1268760"/>
            <a:ext cx="7044154" cy="5589240"/>
          </a:xfrm>
        </p:spPr>
      </p:pic>
      <p:pic>
        <p:nvPicPr>
          <p:cNvPr id="7" name="圖片 6" descr="15.PNG"/>
          <p:cNvPicPr>
            <a:picLocks noChangeAspect="1"/>
          </p:cNvPicPr>
          <p:nvPr/>
        </p:nvPicPr>
        <p:blipFill>
          <a:blip r:embed="rId3" cstate="print"/>
          <a:stretch>
            <a:fillRect/>
          </a:stretch>
        </p:blipFill>
        <p:spPr>
          <a:xfrm>
            <a:off x="1187624" y="3717032"/>
            <a:ext cx="4334480" cy="1743318"/>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696</TotalTime>
  <Words>1891</Words>
  <Application>Microsoft Office PowerPoint</Application>
  <PresentationFormat>如螢幕大小 (4:3)</PresentationFormat>
  <Paragraphs>736</Paragraphs>
  <Slides>48</Slides>
  <Notes>5</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1</vt:i4>
      </vt:variant>
      <vt:variant>
        <vt:lpstr>投影片標題</vt:lpstr>
      </vt:variant>
      <vt:variant>
        <vt:i4>48</vt:i4>
      </vt:variant>
    </vt:vector>
  </HeadingPairs>
  <TitlesOfParts>
    <vt:vector size="55" baseType="lpstr">
      <vt:lpstr>FangSong</vt:lpstr>
      <vt:lpstr>標楷體</vt:lpstr>
      <vt:lpstr>Arial</vt:lpstr>
      <vt:lpstr>Calibri</vt:lpstr>
      <vt:lpstr>Times New Roman</vt:lpstr>
      <vt:lpstr>Office 佈景主題</vt:lpstr>
      <vt:lpstr>Equation</vt:lpstr>
      <vt:lpstr>Ngila: Global Pair-wise Alignments with Logarithmic and Affine Gap Costs</vt:lpstr>
      <vt:lpstr>Abstract</vt:lpstr>
      <vt:lpstr>Introduction – History</vt:lpstr>
      <vt:lpstr>Algorithm – Needleman-Wunsch </vt:lpstr>
      <vt:lpstr>Algorithm – Smith-Waterman </vt:lpstr>
      <vt:lpstr>Example</vt:lpstr>
      <vt:lpstr>Example</vt:lpstr>
      <vt:lpstr>Example</vt:lpstr>
      <vt:lpstr>Example</vt:lpstr>
      <vt:lpstr>Example</vt:lpstr>
      <vt:lpstr>Example</vt:lpstr>
      <vt:lpstr>Example</vt:lpstr>
      <vt:lpstr>Example</vt:lpstr>
      <vt:lpstr>Example</vt:lpstr>
      <vt:lpstr>Example</vt:lpstr>
      <vt:lpstr>Example</vt:lpstr>
      <vt:lpstr>Algorithm -- Gotoh</vt:lpstr>
      <vt:lpstr>Example</vt:lpstr>
      <vt:lpstr>Example</vt:lpstr>
      <vt:lpstr>Example</vt:lpstr>
      <vt:lpstr>Example</vt:lpstr>
      <vt:lpstr>Example</vt:lpstr>
      <vt:lpstr>Example</vt:lpstr>
      <vt:lpstr>Example</vt:lpstr>
      <vt:lpstr>Introduction – History</vt:lpstr>
      <vt:lpstr>Introduction – convex</vt:lpstr>
      <vt:lpstr>Why use convex gap?</vt:lpstr>
      <vt:lpstr>Performance</vt:lpstr>
      <vt:lpstr>相關研究</vt:lpstr>
      <vt:lpstr>A Basic Analysis Toolkit for Biological Sequences</vt:lpstr>
      <vt:lpstr>Abstract(1/2)</vt:lpstr>
      <vt:lpstr>Abstract(2/2)</vt:lpstr>
      <vt:lpstr>Introduction – K-Mismatch</vt:lpstr>
      <vt:lpstr>Introduction – K-Mismatch</vt:lpstr>
      <vt:lpstr>Introduction – K-Mismatch</vt:lpstr>
      <vt:lpstr>Introduction – K-Difference</vt:lpstr>
      <vt:lpstr>Introduction – K-Difference</vt:lpstr>
      <vt:lpstr>Introduction – K-Difference</vt:lpstr>
      <vt:lpstr>Introduction – LCS from Fragments</vt:lpstr>
      <vt:lpstr>Introduction – LCS from Fragments</vt:lpstr>
      <vt:lpstr>Introduction – LCS from Fragments</vt:lpstr>
      <vt:lpstr>Introduction – Edit distance with gaps</vt:lpstr>
      <vt:lpstr>Introduction – Edit distance with gaps</vt:lpstr>
      <vt:lpstr>Introduction – Edit distance with gaps</vt:lpstr>
      <vt:lpstr>Introduction – Filter</vt:lpstr>
      <vt:lpstr>Introduction – Filter</vt:lpstr>
      <vt:lpstr>Introduction – Z-Score</vt:lpstr>
      <vt:lpstr>Introduction – Z-Score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pplab</cp:lastModifiedBy>
  <cp:revision>95</cp:revision>
  <dcterms:created xsi:type="dcterms:W3CDTF">2019-09-15T07:43:36Z</dcterms:created>
  <dcterms:modified xsi:type="dcterms:W3CDTF">2021-01-12T08:25:23Z</dcterms:modified>
</cp:coreProperties>
</file>