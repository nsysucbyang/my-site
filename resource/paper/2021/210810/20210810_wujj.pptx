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8" r:id="rId3"/>
    <p:sldId id="283" r:id="rId4"/>
    <p:sldId id="285" r:id="rId5"/>
    <p:sldId id="290" r:id="rId6"/>
    <p:sldId id="266" r:id="rId7"/>
    <p:sldId id="270" r:id="rId8"/>
    <p:sldId id="277" r:id="rId9"/>
    <p:sldId id="276" r:id="rId10"/>
    <p:sldId id="275" r:id="rId11"/>
    <p:sldId id="279" r:id="rId12"/>
    <p:sldId id="278" r:id="rId13"/>
    <p:sldId id="291" r:id="rId14"/>
    <p:sldId id="280" r:id="rId15"/>
    <p:sldId id="282" r:id="rId16"/>
    <p:sldId id="292" r:id="rId17"/>
    <p:sldId id="293"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BD3117-73F0-41C7-9AC7-D34DC2EE33E1}" v="10" dt="2021-08-09T20:25:51.3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78" d="100"/>
          <a:sy n="78" d="100"/>
        </p:scale>
        <p:origin x="102" y="6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7AFC7A-061B-42C6-B40F-B33800BFC028}" type="datetimeFigureOut">
              <a:rPr lang="zh-TW" altLang="en-US" smtClean="0"/>
              <a:t>2021/8/10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D522A3-9BD4-4B89-9E4B-F084B14832D1}" type="slidenum">
              <a:rPr lang="zh-TW" altLang="en-US" smtClean="0"/>
              <a:t>‹#›</a:t>
            </a:fld>
            <a:endParaRPr lang="zh-TW" altLang="en-US"/>
          </a:p>
        </p:txBody>
      </p:sp>
    </p:spTree>
    <p:extLst>
      <p:ext uri="{BB962C8B-B14F-4D97-AF65-F5344CB8AC3E}">
        <p14:creationId xmlns:p14="http://schemas.microsoft.com/office/powerpoint/2010/main" val="2813888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88D522A3-9BD4-4B89-9E4B-F084B14832D1}" type="slidenum">
              <a:rPr lang="zh-TW" altLang="en-US" smtClean="0"/>
              <a:t>3</a:t>
            </a:fld>
            <a:endParaRPr lang="zh-TW" altLang="en-US"/>
          </a:p>
        </p:txBody>
      </p:sp>
    </p:spTree>
    <p:extLst>
      <p:ext uri="{BB962C8B-B14F-4D97-AF65-F5344CB8AC3E}">
        <p14:creationId xmlns:p14="http://schemas.microsoft.com/office/powerpoint/2010/main" val="4191527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highlight>
                  <a:srgbClr val="FF00FF"/>
                </a:highlight>
              </a:rPr>
              <a:t>貨物從多個供應商處取出並合併到一個交叉對接中</a:t>
            </a:r>
            <a:r>
              <a:rPr lang="zh-TW" altLang="en-US" dirty="0"/>
              <a:t>。在根據</a:t>
            </a:r>
            <a:r>
              <a:rPr lang="zh-TW" altLang="en-US" dirty="0">
                <a:highlight>
                  <a:srgbClr val="FF00FF"/>
                </a:highlight>
              </a:rPr>
              <a:t>客戶事先已知的需求將合併貨物分配給客戶之後</a:t>
            </a:r>
            <a:r>
              <a:rPr lang="zh-TW" altLang="en-US" dirty="0"/>
              <a:t>。</a:t>
            </a:r>
            <a:r>
              <a:rPr lang="zh-TW" altLang="en-US" dirty="0">
                <a:highlight>
                  <a:srgbClr val="FF0000"/>
                </a:highlight>
              </a:rPr>
              <a:t>與其他研究不同，在提議的環境中運行的車輛是異質的</a:t>
            </a:r>
            <a:r>
              <a:rPr lang="en-US" altLang="zh-TW" dirty="0">
                <a:highlight>
                  <a:srgbClr val="FF0000"/>
                </a:highlight>
              </a:rPr>
              <a:t>(</a:t>
            </a:r>
            <a:r>
              <a:rPr lang="zh-TW" altLang="en-US" dirty="0">
                <a:highlight>
                  <a:srgbClr val="FF0000"/>
                </a:highlight>
              </a:rPr>
              <a:t>不同的容量</a:t>
            </a:r>
            <a:r>
              <a:rPr lang="en-US" altLang="zh-TW" dirty="0">
                <a:highlight>
                  <a:srgbClr val="FF0000"/>
                </a:highlight>
              </a:rPr>
              <a:t>)</a:t>
            </a:r>
            <a:r>
              <a:rPr lang="zh-TW" altLang="en-US" dirty="0">
                <a:highlight>
                  <a:srgbClr val="FF0000"/>
                </a:highlight>
              </a:rPr>
              <a:t>。</a:t>
            </a:r>
            <a:r>
              <a:rPr lang="zh-TW" altLang="en-US" dirty="0"/>
              <a:t>分別取貨和送貨的最佳路線。建議設置的目的是最大限度地減少系統中的總配送成本，</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88D522A3-9BD4-4B89-9E4B-F084B14832D1}" type="slidenum">
              <a:rPr lang="zh-TW" altLang="en-US" smtClean="0"/>
              <a:t>4</a:t>
            </a:fld>
            <a:endParaRPr lang="zh-TW" altLang="en-US"/>
          </a:p>
        </p:txBody>
      </p:sp>
    </p:spTree>
    <p:extLst>
      <p:ext uri="{BB962C8B-B14F-4D97-AF65-F5344CB8AC3E}">
        <p14:creationId xmlns:p14="http://schemas.microsoft.com/office/powerpoint/2010/main" val="1486880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異構車輛，並且為了計算的簡單性而不使用時間範圍。所有路線都在交叉碼頭開始和結束，不允許拆分交付。對於取貨和送貨，所有節點僅由一輛車訪問。</a:t>
            </a:r>
            <a:r>
              <a:rPr lang="zh-TW" altLang="en-US" u="sng" dirty="0"/>
              <a:t>完成所有取件路線後立即開始交付。</a:t>
            </a: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88D522A3-9BD4-4B89-9E4B-F084B14832D1}" type="slidenum">
              <a:rPr lang="zh-TW" altLang="en-US" smtClean="0"/>
              <a:t>5</a:t>
            </a:fld>
            <a:endParaRPr lang="zh-TW" altLang="en-US"/>
          </a:p>
        </p:txBody>
      </p:sp>
    </p:spTree>
    <p:extLst>
      <p:ext uri="{BB962C8B-B14F-4D97-AF65-F5344CB8AC3E}">
        <p14:creationId xmlns:p14="http://schemas.microsoft.com/office/powerpoint/2010/main" val="4266794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忽略了 </a:t>
            </a:r>
            <a:r>
              <a:rPr lang="en-US" altLang="zh-TW" dirty="0" err="1"/>
              <a:t>Şirin</a:t>
            </a:r>
            <a:r>
              <a:rPr lang="en-US" altLang="zh-TW" dirty="0"/>
              <a:t> (2010) </a:t>
            </a:r>
            <a:r>
              <a:rPr lang="zh-TW" altLang="en-US" dirty="0"/>
              <a:t>中使用的公差值，解決組合優化的元啟發式算法，它通過進行小的局部更改來反復改進初始解，</a:t>
            </a:r>
            <a:r>
              <a:rPr lang="en-US" altLang="zh-TW" dirty="0"/>
              <a:t>SA </a:t>
            </a:r>
            <a:r>
              <a:rPr lang="zh-TW" altLang="en-US" dirty="0"/>
              <a:t>使用多個參數，包括初始溫度、每個溫度下允許的迭代次數、冷卻速率和最終溫度，這意味著搜索的結束條件</a:t>
            </a:r>
            <a:r>
              <a:rPr lang="en-US" altLang="zh-TW" dirty="0"/>
              <a:t>.</a:t>
            </a:r>
          </a:p>
          <a:p>
            <a:endParaRPr lang="zh-TW" altLang="en-US" dirty="0"/>
          </a:p>
        </p:txBody>
      </p:sp>
      <p:sp>
        <p:nvSpPr>
          <p:cNvPr id="4" name="投影片編號版面配置區 3"/>
          <p:cNvSpPr>
            <a:spLocks noGrp="1"/>
          </p:cNvSpPr>
          <p:nvPr>
            <p:ph type="sldNum" sz="quarter" idx="5"/>
          </p:nvPr>
        </p:nvSpPr>
        <p:spPr/>
        <p:txBody>
          <a:bodyPr/>
          <a:lstStyle/>
          <a:p>
            <a:fld id="{88D522A3-9BD4-4B89-9E4B-F084B14832D1}" type="slidenum">
              <a:rPr lang="zh-TW" altLang="en-US" smtClean="0"/>
              <a:t>10</a:t>
            </a:fld>
            <a:endParaRPr lang="zh-TW" altLang="en-US"/>
          </a:p>
        </p:txBody>
      </p:sp>
    </p:spTree>
    <p:extLst>
      <p:ext uri="{BB962C8B-B14F-4D97-AF65-F5344CB8AC3E}">
        <p14:creationId xmlns:p14="http://schemas.microsoft.com/office/powerpoint/2010/main" val="1848390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結果表明，每個測試實例都在合理的時間內完成。除一個實例外，每個測試實例均在 </a:t>
            </a:r>
            <a:r>
              <a:rPr lang="en-US" altLang="zh-TW" dirty="0"/>
              <a:t>2 </a:t>
            </a:r>
            <a:r>
              <a:rPr lang="zh-TW" altLang="en-US" dirty="0"/>
              <a:t>秒前完成。對於 </a:t>
            </a:r>
            <a:r>
              <a:rPr lang="en-US" altLang="zh-TW" dirty="0"/>
              <a:t>30 </a:t>
            </a:r>
            <a:r>
              <a:rPr lang="zh-TW" altLang="en-US" dirty="0"/>
              <a:t>個實例，平均計算時間記錄為 </a:t>
            </a:r>
            <a:r>
              <a:rPr lang="en-US" altLang="zh-TW" dirty="0"/>
              <a:t>1.7434 </a:t>
            </a:r>
            <a:r>
              <a:rPr lang="zh-TW" altLang="en-US" dirty="0"/>
              <a:t>秒</a:t>
            </a:r>
          </a:p>
        </p:txBody>
      </p:sp>
      <p:sp>
        <p:nvSpPr>
          <p:cNvPr id="4" name="投影片編號版面配置區 3"/>
          <p:cNvSpPr>
            <a:spLocks noGrp="1"/>
          </p:cNvSpPr>
          <p:nvPr>
            <p:ph type="sldNum" sz="quarter" idx="5"/>
          </p:nvPr>
        </p:nvSpPr>
        <p:spPr/>
        <p:txBody>
          <a:bodyPr/>
          <a:lstStyle/>
          <a:p>
            <a:fld id="{88D522A3-9BD4-4B89-9E4B-F084B14832D1}" type="slidenum">
              <a:rPr lang="zh-TW" altLang="en-US" smtClean="0"/>
              <a:t>12</a:t>
            </a:fld>
            <a:endParaRPr lang="zh-TW" altLang="en-US"/>
          </a:p>
        </p:txBody>
      </p:sp>
    </p:spTree>
    <p:extLst>
      <p:ext uri="{BB962C8B-B14F-4D97-AF65-F5344CB8AC3E}">
        <p14:creationId xmlns:p14="http://schemas.microsoft.com/office/powerpoint/2010/main" val="8599825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8DA2FE-38A9-43C3-AE3E-3D7DC028C2C4}"/>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endParaRPr lang="zh-TW" altLang="en-US" dirty="0"/>
          </a:p>
        </p:txBody>
      </p:sp>
      <p:sp>
        <p:nvSpPr>
          <p:cNvPr id="3" name="副標題 2">
            <a:extLst>
              <a:ext uri="{FF2B5EF4-FFF2-40B4-BE49-F238E27FC236}">
                <a16:creationId xmlns:a16="http://schemas.microsoft.com/office/drawing/2014/main" id="{C28DA793-1ED9-4AC5-ADE6-717C6E4412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496CD283-2E6E-45B0-AE40-0E03201963B9}"/>
              </a:ext>
            </a:extLst>
          </p:cNvPr>
          <p:cNvSpPr>
            <a:spLocks noGrp="1"/>
          </p:cNvSpPr>
          <p:nvPr>
            <p:ph type="dt" sz="half" idx="10"/>
          </p:nvPr>
        </p:nvSpPr>
        <p:spPr/>
        <p:txBody>
          <a:bodyPr/>
          <a:lstStyle/>
          <a:p>
            <a:fld id="{F4A2503F-1177-4A4E-8015-3B0661847685}" type="datetimeFigureOut">
              <a:rPr lang="zh-TW" altLang="en-US" smtClean="0"/>
              <a:t>2021/8/10</a:t>
            </a:fld>
            <a:endParaRPr lang="zh-TW" altLang="en-US"/>
          </a:p>
        </p:txBody>
      </p:sp>
      <p:sp>
        <p:nvSpPr>
          <p:cNvPr id="5" name="頁尾版面配置區 4">
            <a:extLst>
              <a:ext uri="{FF2B5EF4-FFF2-40B4-BE49-F238E27FC236}">
                <a16:creationId xmlns:a16="http://schemas.microsoft.com/office/drawing/2014/main" id="{1CBFBBAF-E448-48D6-9C98-4F7ED65D417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D44C46B-486A-4EEB-AE91-FC848E313F0D}"/>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518765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56184D-7BA3-45BD-B790-90F61BE6AA6A}"/>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2E43BFC-2DD2-4C4E-A3DC-B1498A5C7BFE}"/>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E2AF72A-38B9-4AAF-8A61-A362036F1EAA}"/>
              </a:ext>
            </a:extLst>
          </p:cNvPr>
          <p:cNvSpPr>
            <a:spLocks noGrp="1"/>
          </p:cNvSpPr>
          <p:nvPr>
            <p:ph type="dt" sz="half" idx="10"/>
          </p:nvPr>
        </p:nvSpPr>
        <p:spPr/>
        <p:txBody>
          <a:bodyPr/>
          <a:lstStyle/>
          <a:p>
            <a:fld id="{F4A2503F-1177-4A4E-8015-3B0661847685}" type="datetimeFigureOut">
              <a:rPr lang="zh-TW" altLang="en-US" smtClean="0"/>
              <a:t>2021/8/10</a:t>
            </a:fld>
            <a:endParaRPr lang="zh-TW" altLang="en-US"/>
          </a:p>
        </p:txBody>
      </p:sp>
      <p:sp>
        <p:nvSpPr>
          <p:cNvPr id="5" name="頁尾版面配置區 4">
            <a:extLst>
              <a:ext uri="{FF2B5EF4-FFF2-40B4-BE49-F238E27FC236}">
                <a16:creationId xmlns:a16="http://schemas.microsoft.com/office/drawing/2014/main" id="{259927B3-B328-427A-B723-042ACF31DE9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84E6C5C-F026-4D4A-9396-A8E02D240B3A}"/>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8881243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594A83-2AAB-4A5C-A410-587CB4BA1C7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9E32E77-4D2E-4E74-A383-EA8A4FB5FB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DAA91082-4FBD-4622-B1DF-8A9487D073B0}"/>
              </a:ext>
            </a:extLst>
          </p:cNvPr>
          <p:cNvSpPr>
            <a:spLocks noGrp="1"/>
          </p:cNvSpPr>
          <p:nvPr>
            <p:ph type="dt" sz="half" idx="10"/>
          </p:nvPr>
        </p:nvSpPr>
        <p:spPr/>
        <p:txBody>
          <a:bodyPr/>
          <a:lstStyle/>
          <a:p>
            <a:fld id="{F4A2503F-1177-4A4E-8015-3B0661847685}" type="datetimeFigureOut">
              <a:rPr lang="zh-TW" altLang="en-US" smtClean="0"/>
              <a:t>2021/8/10</a:t>
            </a:fld>
            <a:endParaRPr lang="zh-TW" altLang="en-US"/>
          </a:p>
        </p:txBody>
      </p:sp>
      <p:sp>
        <p:nvSpPr>
          <p:cNvPr id="5" name="頁尾版面配置區 4">
            <a:extLst>
              <a:ext uri="{FF2B5EF4-FFF2-40B4-BE49-F238E27FC236}">
                <a16:creationId xmlns:a16="http://schemas.microsoft.com/office/drawing/2014/main" id="{0F5F8BDE-A8F0-4DAC-99B2-50D2C0076B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A8DC32A-8949-44F7-81E2-B83CF99B6149}"/>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919968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9106E30-2946-483D-B775-554A96368A81}"/>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E3A773B-9F35-4E3D-A849-8D0145B8D162}"/>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05B11846-CABE-4EAB-BE62-420CD5D066CE}"/>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9BEC952-B9F4-416C-BB41-8EE327AE64DA}"/>
              </a:ext>
            </a:extLst>
          </p:cNvPr>
          <p:cNvSpPr>
            <a:spLocks noGrp="1"/>
          </p:cNvSpPr>
          <p:nvPr>
            <p:ph type="dt" sz="half" idx="10"/>
          </p:nvPr>
        </p:nvSpPr>
        <p:spPr/>
        <p:txBody>
          <a:bodyPr/>
          <a:lstStyle/>
          <a:p>
            <a:fld id="{F4A2503F-1177-4A4E-8015-3B0661847685}" type="datetimeFigureOut">
              <a:rPr lang="zh-TW" altLang="en-US" smtClean="0"/>
              <a:t>2021/8/10</a:t>
            </a:fld>
            <a:endParaRPr lang="zh-TW" altLang="en-US"/>
          </a:p>
        </p:txBody>
      </p:sp>
      <p:sp>
        <p:nvSpPr>
          <p:cNvPr id="6" name="頁尾版面配置區 5">
            <a:extLst>
              <a:ext uri="{FF2B5EF4-FFF2-40B4-BE49-F238E27FC236}">
                <a16:creationId xmlns:a16="http://schemas.microsoft.com/office/drawing/2014/main" id="{2FE91547-DAC4-4194-9975-1908B4FB91D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8D607A5-83F1-4527-B1B7-BDF1CAEE3F0C}"/>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958607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54347C-74DC-4CB0-AED7-83CE1D00D218}"/>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2A4958F8-A4BE-4B24-8356-FDD0A3445D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A0894F9C-30F3-4BB9-B5A6-A3AE00637964}"/>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F35A7371-F775-49D1-9F58-FCB95D2C16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BB1B7DB5-49B1-46D6-BF9E-30B3944E8931}"/>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EA296A5A-46FE-4924-80F3-7CA1E9542C98}"/>
              </a:ext>
            </a:extLst>
          </p:cNvPr>
          <p:cNvSpPr>
            <a:spLocks noGrp="1"/>
          </p:cNvSpPr>
          <p:nvPr>
            <p:ph type="dt" sz="half" idx="10"/>
          </p:nvPr>
        </p:nvSpPr>
        <p:spPr/>
        <p:txBody>
          <a:bodyPr/>
          <a:lstStyle/>
          <a:p>
            <a:fld id="{F4A2503F-1177-4A4E-8015-3B0661847685}" type="datetimeFigureOut">
              <a:rPr lang="zh-TW" altLang="en-US" smtClean="0"/>
              <a:t>2021/8/10</a:t>
            </a:fld>
            <a:endParaRPr lang="zh-TW" altLang="en-US"/>
          </a:p>
        </p:txBody>
      </p:sp>
      <p:sp>
        <p:nvSpPr>
          <p:cNvPr id="8" name="頁尾版面配置區 7">
            <a:extLst>
              <a:ext uri="{FF2B5EF4-FFF2-40B4-BE49-F238E27FC236}">
                <a16:creationId xmlns:a16="http://schemas.microsoft.com/office/drawing/2014/main" id="{F7C630AC-DFE1-4D71-9917-19247C1F85C1}"/>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04B8C931-DB59-4526-8001-0E5FDF164AF8}"/>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998037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F63E41-CEC2-4F37-AAEA-7C0C0248FA3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FB31E847-1C3E-4C63-AF56-AFC9B011C5D8}"/>
              </a:ext>
            </a:extLst>
          </p:cNvPr>
          <p:cNvSpPr>
            <a:spLocks noGrp="1"/>
          </p:cNvSpPr>
          <p:nvPr>
            <p:ph type="dt" sz="half" idx="10"/>
          </p:nvPr>
        </p:nvSpPr>
        <p:spPr/>
        <p:txBody>
          <a:bodyPr/>
          <a:lstStyle/>
          <a:p>
            <a:fld id="{F4A2503F-1177-4A4E-8015-3B0661847685}" type="datetimeFigureOut">
              <a:rPr lang="zh-TW" altLang="en-US" smtClean="0"/>
              <a:t>2021/8/10</a:t>
            </a:fld>
            <a:endParaRPr lang="zh-TW" altLang="en-US"/>
          </a:p>
        </p:txBody>
      </p:sp>
      <p:sp>
        <p:nvSpPr>
          <p:cNvPr id="4" name="頁尾版面配置區 3">
            <a:extLst>
              <a:ext uri="{FF2B5EF4-FFF2-40B4-BE49-F238E27FC236}">
                <a16:creationId xmlns:a16="http://schemas.microsoft.com/office/drawing/2014/main" id="{75085913-2E3E-4049-A848-946D845AACB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2C93600-AC47-4BCE-9D50-108C888DE3FD}"/>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253514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E8C1A37-E1DB-4353-B8C2-449B11A093EA}"/>
              </a:ext>
            </a:extLst>
          </p:cNvPr>
          <p:cNvSpPr>
            <a:spLocks noGrp="1"/>
          </p:cNvSpPr>
          <p:nvPr>
            <p:ph type="dt" sz="half" idx="10"/>
          </p:nvPr>
        </p:nvSpPr>
        <p:spPr/>
        <p:txBody>
          <a:bodyPr/>
          <a:lstStyle/>
          <a:p>
            <a:fld id="{F4A2503F-1177-4A4E-8015-3B0661847685}" type="datetimeFigureOut">
              <a:rPr lang="zh-TW" altLang="en-US" smtClean="0"/>
              <a:t>2021/8/10</a:t>
            </a:fld>
            <a:endParaRPr lang="zh-TW" altLang="en-US"/>
          </a:p>
        </p:txBody>
      </p:sp>
      <p:sp>
        <p:nvSpPr>
          <p:cNvPr id="3" name="頁尾版面配置區 2">
            <a:extLst>
              <a:ext uri="{FF2B5EF4-FFF2-40B4-BE49-F238E27FC236}">
                <a16:creationId xmlns:a16="http://schemas.microsoft.com/office/drawing/2014/main" id="{FF3463C6-00AC-42CC-B63E-8629A2782FE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965053A4-6DC4-437D-8D38-E158378EE3C2}"/>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729107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70F7FC-8574-4AD7-9C06-68F6FAE49E6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D36714A-AF50-4099-93D9-86186ED92B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6DBC3B7-42ED-430E-B62F-657278DD7A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AEE20C7E-F4DA-42C0-992D-559213079D7E}"/>
              </a:ext>
            </a:extLst>
          </p:cNvPr>
          <p:cNvSpPr>
            <a:spLocks noGrp="1"/>
          </p:cNvSpPr>
          <p:nvPr>
            <p:ph type="dt" sz="half" idx="10"/>
          </p:nvPr>
        </p:nvSpPr>
        <p:spPr/>
        <p:txBody>
          <a:bodyPr/>
          <a:lstStyle/>
          <a:p>
            <a:fld id="{F4A2503F-1177-4A4E-8015-3B0661847685}" type="datetimeFigureOut">
              <a:rPr lang="zh-TW" altLang="en-US" smtClean="0"/>
              <a:t>2021/8/10</a:t>
            </a:fld>
            <a:endParaRPr lang="zh-TW" altLang="en-US"/>
          </a:p>
        </p:txBody>
      </p:sp>
      <p:sp>
        <p:nvSpPr>
          <p:cNvPr id="6" name="頁尾版面配置區 5">
            <a:extLst>
              <a:ext uri="{FF2B5EF4-FFF2-40B4-BE49-F238E27FC236}">
                <a16:creationId xmlns:a16="http://schemas.microsoft.com/office/drawing/2014/main" id="{8143E935-5D8F-4668-9377-D6659857E2C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2B7D27C-5EF8-4572-89F2-8DBEEA27503B}"/>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3732207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A067B3-FF39-49E4-9074-9B95C4A09433}"/>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6DD7DA6-20A5-4C3D-8DFC-2DB5745622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p>
        </p:txBody>
      </p:sp>
      <p:sp>
        <p:nvSpPr>
          <p:cNvPr id="4" name="文字版面配置區 3">
            <a:extLst>
              <a:ext uri="{FF2B5EF4-FFF2-40B4-BE49-F238E27FC236}">
                <a16:creationId xmlns:a16="http://schemas.microsoft.com/office/drawing/2014/main" id="{2986B126-0E5E-4052-A79B-6F1CCAFA1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5DEA2E1D-5A5F-40CA-A36D-A312BE08442B}"/>
              </a:ext>
            </a:extLst>
          </p:cNvPr>
          <p:cNvSpPr>
            <a:spLocks noGrp="1"/>
          </p:cNvSpPr>
          <p:nvPr>
            <p:ph type="dt" sz="half" idx="10"/>
          </p:nvPr>
        </p:nvSpPr>
        <p:spPr/>
        <p:txBody>
          <a:bodyPr/>
          <a:lstStyle/>
          <a:p>
            <a:fld id="{F4A2503F-1177-4A4E-8015-3B0661847685}" type="datetimeFigureOut">
              <a:rPr lang="zh-TW" altLang="en-US" smtClean="0"/>
              <a:t>2021/8/10</a:t>
            </a:fld>
            <a:endParaRPr lang="zh-TW" altLang="en-US"/>
          </a:p>
        </p:txBody>
      </p:sp>
      <p:sp>
        <p:nvSpPr>
          <p:cNvPr id="6" name="頁尾版面配置區 5">
            <a:extLst>
              <a:ext uri="{FF2B5EF4-FFF2-40B4-BE49-F238E27FC236}">
                <a16:creationId xmlns:a16="http://schemas.microsoft.com/office/drawing/2014/main" id="{EF647EB2-1087-4D45-AAC7-C04A5AEEA5F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BB460F0-2254-479E-BFB4-4D507B459DFB}"/>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882825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8E3F87C-0C73-4569-942C-CF6451875A8C}"/>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A25398C3-786C-4DCC-95AE-F79AB1877A28}"/>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EEB9FB1-20EF-4708-BBDB-3E1BCF2CE040}"/>
              </a:ext>
            </a:extLst>
          </p:cNvPr>
          <p:cNvSpPr>
            <a:spLocks noGrp="1"/>
          </p:cNvSpPr>
          <p:nvPr>
            <p:ph type="dt" sz="half" idx="10"/>
          </p:nvPr>
        </p:nvSpPr>
        <p:spPr/>
        <p:txBody>
          <a:bodyPr/>
          <a:lstStyle/>
          <a:p>
            <a:fld id="{F4A2503F-1177-4A4E-8015-3B0661847685}" type="datetimeFigureOut">
              <a:rPr lang="zh-TW" altLang="en-US" smtClean="0"/>
              <a:t>2021/8/10</a:t>
            </a:fld>
            <a:endParaRPr lang="zh-TW" altLang="en-US"/>
          </a:p>
        </p:txBody>
      </p:sp>
      <p:sp>
        <p:nvSpPr>
          <p:cNvPr id="5" name="頁尾版面配置區 4">
            <a:extLst>
              <a:ext uri="{FF2B5EF4-FFF2-40B4-BE49-F238E27FC236}">
                <a16:creationId xmlns:a16="http://schemas.microsoft.com/office/drawing/2014/main" id="{01F7FD53-A757-40F6-9969-6E0434DA469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DE0B9B2-5181-4FAA-87DA-6AD571741D36}"/>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350597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4302A61-0C02-46CD-8DC8-BF935321287E}"/>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endParaRPr lang="zh-TW" altLang="en-US" dirty="0"/>
          </a:p>
        </p:txBody>
      </p:sp>
      <p:sp>
        <p:nvSpPr>
          <p:cNvPr id="3" name="直排文字版面配置區 2">
            <a:extLst>
              <a:ext uri="{FF2B5EF4-FFF2-40B4-BE49-F238E27FC236}">
                <a16:creationId xmlns:a16="http://schemas.microsoft.com/office/drawing/2014/main" id="{806A379B-846E-46F8-BF6E-611A4DA0A940}"/>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BB5C4E5-BA35-4FF8-99C5-98F1A8682EA8}"/>
              </a:ext>
            </a:extLst>
          </p:cNvPr>
          <p:cNvSpPr>
            <a:spLocks noGrp="1"/>
          </p:cNvSpPr>
          <p:nvPr>
            <p:ph type="dt" sz="half" idx="10"/>
          </p:nvPr>
        </p:nvSpPr>
        <p:spPr/>
        <p:txBody>
          <a:bodyPr/>
          <a:lstStyle/>
          <a:p>
            <a:fld id="{F4A2503F-1177-4A4E-8015-3B0661847685}" type="datetimeFigureOut">
              <a:rPr lang="zh-TW" altLang="en-US" smtClean="0"/>
              <a:t>2021/8/10</a:t>
            </a:fld>
            <a:endParaRPr lang="zh-TW" altLang="en-US"/>
          </a:p>
        </p:txBody>
      </p:sp>
      <p:sp>
        <p:nvSpPr>
          <p:cNvPr id="5" name="頁尾版面配置區 4">
            <a:extLst>
              <a:ext uri="{FF2B5EF4-FFF2-40B4-BE49-F238E27FC236}">
                <a16:creationId xmlns:a16="http://schemas.microsoft.com/office/drawing/2014/main" id="{AB141E24-01B9-40CC-8B56-3E2DDCCD7E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7F96409-420B-4CDB-9974-E92F79D38DA4}"/>
              </a:ext>
            </a:extLst>
          </p:cNvPr>
          <p:cNvSpPr>
            <a:spLocks noGrp="1"/>
          </p:cNvSpPr>
          <p:nvPr>
            <p:ph type="sldNum" sz="quarter" idx="12"/>
          </p:nvPr>
        </p:nvSpPr>
        <p:spPr/>
        <p:txBody>
          <a:body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2442696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B0A74E0-49D5-4C60-9101-23AECDB087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3" name="文字版面配置區 2">
            <a:extLst>
              <a:ext uri="{FF2B5EF4-FFF2-40B4-BE49-F238E27FC236}">
                <a16:creationId xmlns:a16="http://schemas.microsoft.com/office/drawing/2014/main" id="{FDEB5E8B-37F4-436E-B651-875A938BCF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8A1E7728-55AD-4793-A9C1-1F9019CC35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2503F-1177-4A4E-8015-3B0661847685}" type="datetimeFigureOut">
              <a:rPr lang="zh-TW" altLang="en-US" smtClean="0"/>
              <a:t>2021/8/10</a:t>
            </a:fld>
            <a:endParaRPr lang="zh-TW" altLang="en-US"/>
          </a:p>
        </p:txBody>
      </p:sp>
      <p:sp>
        <p:nvSpPr>
          <p:cNvPr id="5" name="頁尾版面配置區 4">
            <a:extLst>
              <a:ext uri="{FF2B5EF4-FFF2-40B4-BE49-F238E27FC236}">
                <a16:creationId xmlns:a16="http://schemas.microsoft.com/office/drawing/2014/main" id="{05280DE3-C4AF-4CC8-91A4-8EB5E22A51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F20FD4E5-BD8C-43C9-959E-6AA435F715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4DD259-B985-4EC1-B93C-0538084A7A33}" type="slidenum">
              <a:rPr lang="zh-TW" altLang="en-US" smtClean="0"/>
              <a:t>‹#›</a:t>
            </a:fld>
            <a:endParaRPr lang="zh-TW" altLang="en-US"/>
          </a:p>
        </p:txBody>
      </p:sp>
    </p:spTree>
    <p:extLst>
      <p:ext uri="{BB962C8B-B14F-4D97-AF65-F5344CB8AC3E}">
        <p14:creationId xmlns:p14="http://schemas.microsoft.com/office/powerpoint/2010/main" val="1069491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標楷體" panose="03000509000000000000" pitchFamily="65" charset="-120"/>
          <a:ea typeface="標楷體" panose="03000509000000000000" pitchFamily="65" charset="-12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標楷體" panose="03000509000000000000" pitchFamily="65" charset="-12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83053A-CC8D-454D-B92C-944C12D93638}"/>
              </a:ext>
            </a:extLst>
          </p:cNvPr>
          <p:cNvSpPr>
            <a:spLocks noGrp="1"/>
          </p:cNvSpPr>
          <p:nvPr>
            <p:ph type="ctrTitle"/>
          </p:nvPr>
        </p:nvSpPr>
        <p:spPr/>
        <p:txBody>
          <a:bodyPr>
            <a:noAutofit/>
          </a:bodyPr>
          <a:lstStyle/>
          <a:p>
            <a:r>
              <a:rPr lang="en-US" altLang="zh-TW" sz="3600" dirty="0">
                <a:latin typeface="Times New Roman" panose="02020603050405020304" pitchFamily="18" charset="0"/>
                <a:cs typeface="Times New Roman" panose="02020603050405020304" pitchFamily="18" charset="0"/>
              </a:rPr>
              <a:t>Vehicle routing problem with cross docking: </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A simulated annealing approach</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5F758A5A-5857-4E7C-930D-EA56FC5A3499}"/>
              </a:ext>
            </a:extLst>
          </p:cNvPr>
          <p:cNvSpPr>
            <a:spLocks noGrp="1"/>
          </p:cNvSpPr>
          <p:nvPr>
            <p:ph type="subTitle" idx="1"/>
          </p:nvPr>
        </p:nvSpPr>
        <p:spPr/>
        <p:txBody>
          <a:bodyPr>
            <a:normAutofit fontScale="92500" lnSpcReduction="20000"/>
          </a:bodyPr>
          <a:lstStyle/>
          <a:p>
            <a:r>
              <a:rPr lang="en-US" altLang="zh-TW" dirty="0" err="1"/>
              <a:t>Şule</a:t>
            </a:r>
            <a:r>
              <a:rPr lang="en-US" altLang="zh-TW" dirty="0"/>
              <a:t> BİRİM</a:t>
            </a:r>
          </a:p>
          <a:p>
            <a:endParaRPr lang="en-US" altLang="zh-TW" dirty="0"/>
          </a:p>
          <a:p>
            <a:r>
              <a:rPr lang="en-US" altLang="zh-TW" dirty="0"/>
              <a:t>12th International Strategic Management Conference, ISMC 2016, 28-30 October 2016, Antalya, Turkey</a:t>
            </a:r>
          </a:p>
          <a:p>
            <a:r>
              <a:rPr lang="en-US" altLang="zh-TW" dirty="0"/>
              <a:t> Procedia - Social and Behavioral Sciences   235  ( 2016 )  149 –158</a:t>
            </a:r>
            <a:endParaRPr lang="zh-TW" altLang="en-US" dirty="0"/>
          </a:p>
        </p:txBody>
      </p:sp>
      <p:sp>
        <p:nvSpPr>
          <p:cNvPr id="4" name="文字方塊 3">
            <a:extLst>
              <a:ext uri="{FF2B5EF4-FFF2-40B4-BE49-F238E27FC236}">
                <a16:creationId xmlns:a16="http://schemas.microsoft.com/office/drawing/2014/main" id="{0239E72C-6175-4527-9B5F-3D41DDD69618}"/>
              </a:ext>
            </a:extLst>
          </p:cNvPr>
          <p:cNvSpPr txBox="1"/>
          <p:nvPr/>
        </p:nvSpPr>
        <p:spPr>
          <a:xfrm>
            <a:off x="9043333" y="5796793"/>
            <a:ext cx="2852256" cy="646331"/>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Date: Aug. 10 ,  2021</a:t>
            </a:r>
          </a:p>
          <a:p>
            <a:r>
              <a:rPr lang="en-US" altLang="zh-TW" dirty="0">
                <a:latin typeface="Times New Roman" panose="02020603050405020304" pitchFamily="18" charset="0"/>
                <a:cs typeface="Times New Roman" panose="02020603050405020304" pitchFamily="18" charset="0"/>
              </a:rPr>
              <a:t>Presenter: </a:t>
            </a:r>
            <a:r>
              <a:rPr lang="en-US" altLang="zh-TW" dirty="0" err="1">
                <a:latin typeface="Times New Roman" panose="02020603050405020304" pitchFamily="18" charset="0"/>
                <a:cs typeface="Times New Roman" panose="02020603050405020304" pitchFamily="18" charset="0"/>
              </a:rPr>
              <a:t>Jue</a:t>
            </a:r>
            <a:r>
              <a:rPr lang="en-US" altLang="zh-TW" dirty="0">
                <a:latin typeface="Times New Roman" panose="02020603050405020304" pitchFamily="18" charset="0"/>
                <a:cs typeface="Times New Roman" panose="02020603050405020304" pitchFamily="18" charset="0"/>
              </a:rPr>
              <a:t>-Jun Wu</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839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77A3D5-87BB-4176-B150-F43AA00683CA}"/>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BC7AD0B3-2C83-4D3C-BFF3-73B1E0508259}"/>
              </a:ext>
            </a:extLst>
          </p:cNvPr>
          <p:cNvSpPr>
            <a:spLocks noGrp="1"/>
          </p:cNvSpPr>
          <p:nvPr>
            <p:ph idx="1"/>
          </p:nvPr>
        </p:nvSpPr>
        <p:spPr>
          <a:xfrm>
            <a:off x="377505" y="1610686"/>
            <a:ext cx="11635530" cy="4882189"/>
          </a:xfrm>
        </p:spPr>
        <p:txBody>
          <a:bodyPr>
            <a:normAutofit lnSpcReduction="10000"/>
          </a:bodyPr>
          <a:lstStyle/>
          <a:p>
            <a:pPr marL="0" indent="0">
              <a:buNone/>
            </a:pPr>
            <a:r>
              <a:rPr lang="en-US" altLang="zh-TW" dirty="0"/>
              <a:t>	Cross docking is a valuable logistics strategy given that it provides less inventory holding costs, less transportation costs and fast customer deliveries. Cross docking should also be considered in strategic planning since it provides competitive advantage by reducing firm costs. An efficient vehicle routing may even increase the benefits of the cross docking. This study presents a vehicle routing problem in a cross docking setting with heterogeneous vehicles having different capacities. All the routes begin and end at the cross dock and all the pickup and delivery sites are visited by only one vehicle. The aim of this study is to find the routes that minimize total transportation costs and the fixed costs of the vehicles. A simulated annealing algorithm is proposed to solve the problem. The proposed simulated annealing heuristic presents reasonable solutions in terms of computational time, best cost values and the convergence pattern on the best cost.</a:t>
            </a:r>
            <a:endParaRPr lang="zh-TW" altLang="en-US" dirty="0"/>
          </a:p>
        </p:txBody>
      </p:sp>
    </p:spTree>
    <p:extLst>
      <p:ext uri="{BB962C8B-B14F-4D97-AF65-F5344CB8AC3E}">
        <p14:creationId xmlns:p14="http://schemas.microsoft.com/office/powerpoint/2010/main" val="1264595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5F7647E-99F7-4EE9-9BD1-DEE7CFB7D811}"/>
              </a:ext>
            </a:extLst>
          </p:cNvPr>
          <p:cNvSpPr>
            <a:spLocks noGrp="1"/>
          </p:cNvSpPr>
          <p:nvPr>
            <p:ph type="title"/>
          </p:nvPr>
        </p:nvSpPr>
        <p:spPr/>
        <p:txBody>
          <a:bodyPr/>
          <a:lstStyle/>
          <a:p>
            <a:endParaRPr lang="zh-TW" altLang="en-US"/>
          </a:p>
        </p:txBody>
      </p:sp>
      <p:pic>
        <p:nvPicPr>
          <p:cNvPr id="5" name="內容版面配置區 4">
            <a:extLst>
              <a:ext uri="{FF2B5EF4-FFF2-40B4-BE49-F238E27FC236}">
                <a16:creationId xmlns:a16="http://schemas.microsoft.com/office/drawing/2014/main" id="{EAAEA950-4D91-418B-AEF3-C6FC0A9BB3D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61227" y="365125"/>
            <a:ext cx="6762672" cy="6438064"/>
          </a:xfrm>
        </p:spPr>
      </p:pic>
    </p:spTree>
    <p:extLst>
      <p:ext uri="{BB962C8B-B14F-4D97-AF65-F5344CB8AC3E}">
        <p14:creationId xmlns:p14="http://schemas.microsoft.com/office/powerpoint/2010/main" val="990331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61DBFDB1-E1BB-4E40-AA46-9A71CD3DD893}"/>
              </a:ext>
            </a:extLst>
          </p:cNvPr>
          <p:cNvSpPr>
            <a:spLocks noGrp="1"/>
          </p:cNvSpPr>
          <p:nvPr>
            <p:ph idx="1"/>
          </p:nvPr>
        </p:nvSpPr>
        <p:spPr>
          <a:xfrm>
            <a:off x="607380" y="0"/>
            <a:ext cx="11270941" cy="6858000"/>
          </a:xfrm>
        </p:spPr>
        <p:txBody>
          <a:bodyPr>
            <a:normAutofit/>
          </a:bodyPr>
          <a:lstStyle/>
          <a:p>
            <a:pPr marL="0" indent="0">
              <a:buNone/>
            </a:pPr>
            <a:endParaRPr lang="en-US" altLang="zh-TW" dirty="0"/>
          </a:p>
          <a:p>
            <a:r>
              <a:rPr lang="en-US" altLang="zh-TW" dirty="0"/>
              <a:t> The aim of VRP(vehicle  routing  problem ) is to determine a set of vehicle routes that brings minimum total cost in a single period given that </a:t>
            </a:r>
          </a:p>
          <a:p>
            <a:pPr marL="571500" indent="-571500">
              <a:buAutoNum type="romanLcParenBoth"/>
            </a:pPr>
            <a:r>
              <a:rPr lang="en-US" altLang="zh-TW" dirty="0"/>
              <a:t>each route starts and ends at a depot; </a:t>
            </a:r>
          </a:p>
          <a:p>
            <a:pPr marL="571500" indent="-571500">
              <a:buAutoNum type="romanLcParenBoth"/>
            </a:pPr>
            <a:r>
              <a:rPr lang="en-US" altLang="zh-TW" dirty="0"/>
              <a:t>each customer is served by only one vehicle; </a:t>
            </a:r>
          </a:p>
          <a:p>
            <a:pPr marL="571500" indent="-571500">
              <a:buAutoNum type="romanLcParenBoth"/>
            </a:pPr>
            <a:r>
              <a:rPr lang="en-US" altLang="zh-TW" dirty="0"/>
              <a:t>the total demand on each route does not exceed the vehicle capacity.</a:t>
            </a:r>
          </a:p>
          <a:p>
            <a:endParaRPr lang="en-US" altLang="zh-TW" dirty="0"/>
          </a:p>
          <a:p>
            <a:r>
              <a:rPr lang="en-US" altLang="zh-TW" dirty="0"/>
              <a:t>In this aspect VRP  with  cross  docking  (VRPCD)  can  be  considered  as  a  vital  logistics  strategy  during  strategic  planning  of  the  organization and should take more attention from the strategic management point of view.</a:t>
            </a:r>
            <a:endParaRPr lang="zh-TW" altLang="en-US" dirty="0"/>
          </a:p>
        </p:txBody>
      </p:sp>
    </p:spTree>
    <p:extLst>
      <p:ext uri="{BB962C8B-B14F-4D97-AF65-F5344CB8AC3E}">
        <p14:creationId xmlns:p14="http://schemas.microsoft.com/office/powerpoint/2010/main" val="351398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528B132F-FF8F-4839-B229-1C4A57C0B5F8}"/>
              </a:ext>
            </a:extLst>
          </p:cNvPr>
          <p:cNvSpPr>
            <a:spLocks noGrp="1"/>
          </p:cNvSpPr>
          <p:nvPr>
            <p:ph idx="1"/>
          </p:nvPr>
        </p:nvSpPr>
        <p:spPr>
          <a:xfrm>
            <a:off x="479395" y="576501"/>
            <a:ext cx="10515600" cy="4351338"/>
          </a:xfrm>
        </p:spPr>
        <p:txBody>
          <a:bodyPr/>
          <a:lstStyle/>
          <a:p>
            <a:r>
              <a:rPr lang="en-US" altLang="zh-TW" dirty="0"/>
              <a:t>Heterogeneous vehicles.</a:t>
            </a:r>
          </a:p>
          <a:p>
            <a:r>
              <a:rPr lang="en-US" altLang="zh-TW" dirty="0"/>
              <a:t>All routes start and end at the crossing terminal, and split delivery is not allowed. </a:t>
            </a:r>
          </a:p>
          <a:p>
            <a:r>
              <a:rPr lang="en-US" altLang="zh-TW" dirty="0"/>
              <a:t>For pickup and delivery, all nodes are accessed by only one vehicle.</a:t>
            </a:r>
          </a:p>
          <a:p>
            <a:r>
              <a:rPr lang="en-US" altLang="zh-TW" dirty="0"/>
              <a:t> Delivery starts immediately after completing all pickup routes.</a:t>
            </a:r>
          </a:p>
          <a:p>
            <a:endParaRPr lang="zh-TW" altLang="en-US" dirty="0"/>
          </a:p>
        </p:txBody>
      </p:sp>
      <p:pic>
        <p:nvPicPr>
          <p:cNvPr id="4" name="圖片 3">
            <a:extLst>
              <a:ext uri="{FF2B5EF4-FFF2-40B4-BE49-F238E27FC236}">
                <a16:creationId xmlns:a16="http://schemas.microsoft.com/office/drawing/2014/main" id="{64769EA0-7C63-42DD-A202-8B01BDCFB4B9}"/>
              </a:ext>
            </a:extLst>
          </p:cNvPr>
          <p:cNvPicPr>
            <a:picLocks noChangeAspect="1"/>
          </p:cNvPicPr>
          <p:nvPr/>
        </p:nvPicPr>
        <p:blipFill>
          <a:blip r:embed="rId3"/>
          <a:stretch>
            <a:fillRect/>
          </a:stretch>
        </p:blipFill>
        <p:spPr>
          <a:xfrm>
            <a:off x="6854855" y="2988987"/>
            <a:ext cx="4857750" cy="4505325"/>
          </a:xfrm>
          <a:prstGeom prst="rect">
            <a:avLst/>
          </a:prstGeom>
        </p:spPr>
      </p:pic>
    </p:spTree>
    <p:extLst>
      <p:ext uri="{BB962C8B-B14F-4D97-AF65-F5344CB8AC3E}">
        <p14:creationId xmlns:p14="http://schemas.microsoft.com/office/powerpoint/2010/main" val="784600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C1F7D35-BB33-4107-8D23-B6758E60178A}"/>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176040AC-A12F-4CB9-B851-A4ABC9BDCBA4}"/>
              </a:ext>
            </a:extLst>
          </p:cNvPr>
          <p:cNvSpPr>
            <a:spLocks noGrp="1"/>
          </p:cNvSpPr>
          <p:nvPr>
            <p:ph idx="1"/>
          </p:nvPr>
        </p:nvSpPr>
        <p:spPr/>
        <p:txBody>
          <a:bodyPr/>
          <a:lstStyle/>
          <a:p>
            <a:endParaRPr lang="zh-TW" altLang="en-US"/>
          </a:p>
        </p:txBody>
      </p:sp>
      <p:pic>
        <p:nvPicPr>
          <p:cNvPr id="5" name="圖片 4" descr="一張含有 文字 的圖片&#10;&#10;自動產生的描述">
            <a:extLst>
              <a:ext uri="{FF2B5EF4-FFF2-40B4-BE49-F238E27FC236}">
                <a16:creationId xmlns:a16="http://schemas.microsoft.com/office/drawing/2014/main" id="{009C9ECC-7230-4BFF-8073-1F22A1B156F0}"/>
              </a:ext>
            </a:extLst>
          </p:cNvPr>
          <p:cNvPicPr>
            <a:picLocks noChangeAspect="1"/>
          </p:cNvPicPr>
          <p:nvPr/>
        </p:nvPicPr>
        <p:blipFill>
          <a:blip r:embed="rId2"/>
          <a:stretch>
            <a:fillRect/>
          </a:stretch>
        </p:blipFill>
        <p:spPr>
          <a:xfrm>
            <a:off x="285796" y="181159"/>
            <a:ext cx="10182225" cy="6229350"/>
          </a:xfrm>
          <a:prstGeom prst="rect">
            <a:avLst/>
          </a:prstGeom>
        </p:spPr>
      </p:pic>
    </p:spTree>
    <p:extLst>
      <p:ext uri="{BB962C8B-B14F-4D97-AF65-F5344CB8AC3E}">
        <p14:creationId xmlns:p14="http://schemas.microsoft.com/office/powerpoint/2010/main" val="1424450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604368-349F-47CF-A8FD-344BAB81C3B5}"/>
              </a:ext>
            </a:extLst>
          </p:cNvPr>
          <p:cNvSpPr>
            <a:spLocks noGrp="1"/>
          </p:cNvSpPr>
          <p:nvPr>
            <p:ph type="title"/>
          </p:nvPr>
        </p:nvSpPr>
        <p:spPr/>
        <p:txBody>
          <a:bodyPr/>
          <a:lstStyle/>
          <a:p>
            <a:endParaRPr lang="zh-TW" altLang="en-US"/>
          </a:p>
        </p:txBody>
      </p:sp>
      <p:pic>
        <p:nvPicPr>
          <p:cNvPr id="5" name="圖片 4">
            <a:extLst>
              <a:ext uri="{FF2B5EF4-FFF2-40B4-BE49-F238E27FC236}">
                <a16:creationId xmlns:a16="http://schemas.microsoft.com/office/drawing/2014/main" id="{32F4ED9B-1F49-40DF-8959-604B69AF78CD}"/>
              </a:ext>
            </a:extLst>
          </p:cNvPr>
          <p:cNvPicPr>
            <a:picLocks noChangeAspect="1"/>
          </p:cNvPicPr>
          <p:nvPr/>
        </p:nvPicPr>
        <p:blipFill>
          <a:blip r:embed="rId2"/>
          <a:stretch>
            <a:fillRect/>
          </a:stretch>
        </p:blipFill>
        <p:spPr>
          <a:xfrm>
            <a:off x="-225792" y="0"/>
            <a:ext cx="4556596" cy="6858000"/>
          </a:xfrm>
          <a:prstGeom prst="rect">
            <a:avLst/>
          </a:prstGeom>
        </p:spPr>
      </p:pic>
      <p:pic>
        <p:nvPicPr>
          <p:cNvPr id="7" name="圖片 6">
            <a:extLst>
              <a:ext uri="{FF2B5EF4-FFF2-40B4-BE49-F238E27FC236}">
                <a16:creationId xmlns:a16="http://schemas.microsoft.com/office/drawing/2014/main" id="{68A030E6-19AF-4B3A-A193-C99D71DD09B8}"/>
              </a:ext>
            </a:extLst>
          </p:cNvPr>
          <p:cNvPicPr>
            <a:picLocks noChangeAspect="1"/>
          </p:cNvPicPr>
          <p:nvPr/>
        </p:nvPicPr>
        <p:blipFill>
          <a:blip r:embed="rId3"/>
          <a:stretch>
            <a:fillRect/>
          </a:stretch>
        </p:blipFill>
        <p:spPr>
          <a:xfrm>
            <a:off x="8649725" y="0"/>
            <a:ext cx="3688773" cy="6858000"/>
          </a:xfrm>
          <a:prstGeom prst="rect">
            <a:avLst/>
          </a:prstGeom>
        </p:spPr>
      </p:pic>
      <p:pic>
        <p:nvPicPr>
          <p:cNvPr id="8" name="內容版面配置區 7">
            <a:extLst>
              <a:ext uri="{FF2B5EF4-FFF2-40B4-BE49-F238E27FC236}">
                <a16:creationId xmlns:a16="http://schemas.microsoft.com/office/drawing/2014/main" id="{31A2F462-982A-49BD-8634-E04AC300AD50}"/>
              </a:ext>
            </a:extLst>
          </p:cNvPr>
          <p:cNvPicPr>
            <a:picLocks noGrp="1" noChangeAspect="1"/>
          </p:cNvPicPr>
          <p:nvPr>
            <p:ph idx="1"/>
          </p:nvPr>
        </p:nvPicPr>
        <p:blipFill>
          <a:blip r:embed="rId4"/>
          <a:stretch>
            <a:fillRect/>
          </a:stretch>
        </p:blipFill>
        <p:spPr>
          <a:xfrm>
            <a:off x="3478063" y="3154541"/>
            <a:ext cx="5109517" cy="3703459"/>
          </a:xfrm>
          <a:prstGeom prst="rect">
            <a:avLst/>
          </a:prstGeom>
        </p:spPr>
      </p:pic>
    </p:spTree>
    <p:extLst>
      <p:ext uri="{BB962C8B-B14F-4D97-AF65-F5344CB8AC3E}">
        <p14:creationId xmlns:p14="http://schemas.microsoft.com/office/powerpoint/2010/main" val="2600100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descr="一張含有 文字 的圖片&#10;&#10;自動產生的描述">
            <a:extLst>
              <a:ext uri="{FF2B5EF4-FFF2-40B4-BE49-F238E27FC236}">
                <a16:creationId xmlns:a16="http://schemas.microsoft.com/office/drawing/2014/main" id="{62316653-CE3E-4076-9C49-BF1C82977391}"/>
              </a:ext>
            </a:extLst>
          </p:cNvPr>
          <p:cNvPicPr>
            <a:picLocks noChangeAspect="1"/>
          </p:cNvPicPr>
          <p:nvPr/>
        </p:nvPicPr>
        <p:blipFill>
          <a:blip r:embed="rId2"/>
          <a:stretch>
            <a:fillRect/>
          </a:stretch>
        </p:blipFill>
        <p:spPr>
          <a:xfrm>
            <a:off x="838200" y="833498"/>
            <a:ext cx="9903781" cy="6024502"/>
          </a:xfrm>
          <a:prstGeom prst="rect">
            <a:avLst/>
          </a:prstGeom>
        </p:spPr>
      </p:pic>
      <p:sp>
        <p:nvSpPr>
          <p:cNvPr id="6" name="文字方塊 5">
            <a:extLst>
              <a:ext uri="{FF2B5EF4-FFF2-40B4-BE49-F238E27FC236}">
                <a16:creationId xmlns:a16="http://schemas.microsoft.com/office/drawing/2014/main" id="{757D4E2F-8C55-49D3-ABB5-79072264A232}"/>
              </a:ext>
            </a:extLst>
          </p:cNvPr>
          <p:cNvSpPr txBox="1"/>
          <p:nvPr/>
        </p:nvSpPr>
        <p:spPr>
          <a:xfrm>
            <a:off x="926758" y="152461"/>
            <a:ext cx="10181452" cy="528576"/>
          </a:xfrm>
          <a:prstGeom prst="rect">
            <a:avLst/>
          </a:prstGeom>
          <a:noFill/>
        </p:spPr>
        <p:txBody>
          <a:bodyPr wrap="square">
            <a:spAutoFit/>
          </a:bodyPr>
          <a:lstStyle/>
          <a:p>
            <a:r>
              <a:rPr lang="en-US" altLang="zh-TW" sz="2800" dirty="0">
                <a:latin typeface="Times New Roman" panose="02020603050405020304" pitchFamily="18" charset="0"/>
                <a:cs typeface="Times New Roman" panose="02020603050405020304" pitchFamily="18" charset="0"/>
              </a:rPr>
              <a:t>Simulated Annealing Algorithm</a:t>
            </a:r>
            <a:endParaRPr lang="zh-TW" altLang="en-US" sz="2800" dirty="0"/>
          </a:p>
        </p:txBody>
      </p:sp>
    </p:spTree>
    <p:extLst>
      <p:ext uri="{BB962C8B-B14F-4D97-AF65-F5344CB8AC3E}">
        <p14:creationId xmlns:p14="http://schemas.microsoft.com/office/powerpoint/2010/main" val="3165638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31592-08E9-4075-A614-54DBFB334FD1}"/>
              </a:ext>
            </a:extLst>
          </p:cNvPr>
          <p:cNvSpPr>
            <a:spLocks noGrp="1"/>
          </p:cNvSpPr>
          <p:nvPr>
            <p:ph type="title"/>
          </p:nvPr>
        </p:nvSpPr>
        <p:spPr/>
        <p:txBody>
          <a:bodyPr>
            <a:noAutofit/>
          </a:bodyPr>
          <a:lstStyle/>
          <a:p>
            <a:r>
              <a:rPr lang="en-US" altLang="zh-TW" sz="3200" dirty="0">
                <a:latin typeface="Times New Roman" panose="02020603050405020304" pitchFamily="18" charset="0"/>
                <a:cs typeface="Times New Roman" panose="02020603050405020304" pitchFamily="18" charset="0"/>
              </a:rPr>
              <a:t>Three  different  neighborhood  search  mechanisms</a:t>
            </a:r>
            <a:br>
              <a:rPr lang="en-US" altLang="zh-TW" sz="3200" dirty="0"/>
            </a:br>
            <a:endParaRPr lang="zh-TW" altLang="en-US" sz="3200" dirty="0"/>
          </a:p>
        </p:txBody>
      </p:sp>
      <p:sp>
        <p:nvSpPr>
          <p:cNvPr id="3" name="內容版面配置區 2">
            <a:extLst>
              <a:ext uri="{FF2B5EF4-FFF2-40B4-BE49-F238E27FC236}">
                <a16:creationId xmlns:a16="http://schemas.microsoft.com/office/drawing/2014/main" id="{25B4C4F3-CBE9-4F67-9A3E-AF1ED800C34C}"/>
              </a:ext>
            </a:extLst>
          </p:cNvPr>
          <p:cNvSpPr>
            <a:spLocks noGrp="1"/>
          </p:cNvSpPr>
          <p:nvPr>
            <p:ph idx="1"/>
          </p:nvPr>
        </p:nvSpPr>
        <p:spPr/>
        <p:txBody>
          <a:bodyPr/>
          <a:lstStyle/>
          <a:p>
            <a:r>
              <a:rPr lang="en-US" altLang="zh-TW" dirty="0"/>
              <a:t>Swap: In this technique two nodes in a solution are randomly selected and their positions are exchanged in the new solution. </a:t>
            </a:r>
          </a:p>
          <a:p>
            <a:r>
              <a:rPr lang="en-US" altLang="zh-TW" dirty="0"/>
              <a:t>Reversion: In this technique two nodes in a solution are randomly selected and the nodes between the selected nodes are reversely sorted in the new solution.  </a:t>
            </a:r>
          </a:p>
          <a:p>
            <a:r>
              <a:rPr lang="en-US" altLang="zh-TW" dirty="0"/>
              <a:t>Insertion:  In  this  technique  two  nodes  in  a  solution  are  randomly  selected  and  the  node  which  has  the  smallest  position is inserted into the position just before the other node.</a:t>
            </a:r>
            <a:endParaRPr lang="zh-TW" altLang="en-US" dirty="0"/>
          </a:p>
        </p:txBody>
      </p:sp>
    </p:spTree>
    <p:extLst>
      <p:ext uri="{BB962C8B-B14F-4D97-AF65-F5344CB8AC3E}">
        <p14:creationId xmlns:p14="http://schemas.microsoft.com/office/powerpoint/2010/main" val="2237818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6B5CE7-4087-4F25-8621-3CF9410E1C3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Simulated Annealing Algorithm</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3929FDA-1E6D-49DA-8FB8-3BAAAB35EF76}"/>
              </a:ext>
            </a:extLst>
          </p:cNvPr>
          <p:cNvSpPr>
            <a:spLocks noGrp="1"/>
          </p:cNvSpPr>
          <p:nvPr>
            <p:ph idx="1"/>
          </p:nvPr>
        </p:nvSpPr>
        <p:spPr/>
        <p:txBody>
          <a:bodyPr>
            <a:normAutofit/>
          </a:bodyPr>
          <a:lstStyle/>
          <a:p>
            <a:pPr marL="0" indent="0">
              <a:buNone/>
            </a:pPr>
            <a:r>
              <a:rPr lang="en-US" altLang="zh-TW" dirty="0"/>
              <a:t>Step 1: Select a vehicle to route. </a:t>
            </a:r>
          </a:p>
          <a:p>
            <a:pPr marL="0" indent="0">
              <a:buNone/>
            </a:pPr>
            <a:r>
              <a:rPr lang="en-US" altLang="zh-TW" dirty="0"/>
              <a:t>Step 3: Add cross dock as the starting point of the route.</a:t>
            </a:r>
          </a:p>
          <a:p>
            <a:pPr marL="0" indent="0">
              <a:buNone/>
            </a:pPr>
            <a:r>
              <a:rPr lang="en-US" altLang="zh-TW" dirty="0"/>
              <a:t>Step 4: Determine a random combination of the cities.</a:t>
            </a:r>
          </a:p>
          <a:p>
            <a:pPr marL="0" indent="0">
              <a:buNone/>
            </a:pPr>
            <a:r>
              <a:rPr lang="en-US" altLang="zh-TW" dirty="0"/>
              <a:t>Step 5: Add the first city in the random combination to the route. </a:t>
            </a:r>
          </a:p>
          <a:p>
            <a:pPr marL="0" indent="0">
              <a:buNone/>
            </a:pPr>
            <a:r>
              <a:rPr lang="en-US" altLang="zh-TW" dirty="0"/>
              <a:t>Step 6: Add demand of the selected city to the vehicle’s capacity. </a:t>
            </a:r>
          </a:p>
          <a:p>
            <a:pPr marL="0" indent="0">
              <a:buNone/>
            </a:pPr>
            <a:r>
              <a:rPr lang="en-US" altLang="zh-TW" dirty="0"/>
              <a:t>Step 7: Check if the vehicle’s capacity is full. If it is not full, increment 	the city number and repeat steps 5 and 6. If the vehicle is full 	send vehicle back to the cross dock. </a:t>
            </a:r>
          </a:p>
          <a:p>
            <a:pPr marL="0" indent="0">
              <a:buNone/>
            </a:pPr>
            <a:r>
              <a:rPr lang="en-US" altLang="zh-TW" dirty="0"/>
              <a:t>Step 8: Repeat steps1 to 8 until all cities has been visited. </a:t>
            </a:r>
            <a:endParaRPr lang="zh-TW" altLang="en-US" dirty="0"/>
          </a:p>
        </p:txBody>
      </p:sp>
    </p:spTree>
    <p:extLst>
      <p:ext uri="{BB962C8B-B14F-4D97-AF65-F5344CB8AC3E}">
        <p14:creationId xmlns:p14="http://schemas.microsoft.com/office/powerpoint/2010/main" val="2748552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6C69C379-7CB0-4DDC-9B9D-5F1FEA267B8F}"/>
              </a:ext>
            </a:extLst>
          </p:cNvPr>
          <p:cNvSpPr>
            <a:spLocks noGrp="1"/>
          </p:cNvSpPr>
          <p:nvPr>
            <p:ph idx="1"/>
          </p:nvPr>
        </p:nvSpPr>
        <p:spPr>
          <a:xfrm>
            <a:off x="838200" y="218767"/>
            <a:ext cx="10515600" cy="4351338"/>
          </a:xfrm>
        </p:spPr>
        <p:txBody>
          <a:bodyPr/>
          <a:lstStyle/>
          <a:p>
            <a:r>
              <a:rPr lang="en-US" altLang="zh-TW" dirty="0"/>
              <a:t>The SA procedure was run for 30 instances for each data set.</a:t>
            </a:r>
          </a:p>
          <a:p>
            <a:r>
              <a:rPr lang="en-US" altLang="zh-TW" dirty="0"/>
              <a:t>Every run is performed on a Mac with a 2.6 </a:t>
            </a:r>
            <a:r>
              <a:rPr lang="en-US" altLang="zh-TW" dirty="0" err="1"/>
              <a:t>Ghz</a:t>
            </a:r>
            <a:r>
              <a:rPr lang="en-US" altLang="zh-TW" dirty="0"/>
              <a:t> Intel Core i5 Processor and 8 GB of RAM under the OS X El Capitan operating system.</a:t>
            </a:r>
          </a:p>
          <a:p>
            <a:r>
              <a:rPr lang="en-US" altLang="zh-TW" dirty="0"/>
              <a:t>Among SA parameters T0, </a:t>
            </a:r>
            <a:r>
              <a:rPr lang="en-US" altLang="zh-TW" dirty="0" err="1"/>
              <a:t>Tf</a:t>
            </a:r>
            <a:r>
              <a:rPr lang="en-US" altLang="zh-TW" dirty="0"/>
              <a:t>, and alpha were set to 100, 0.01 and 0.99 respectively</a:t>
            </a:r>
            <a:endParaRPr lang="zh-TW" altLang="en-US" dirty="0"/>
          </a:p>
        </p:txBody>
      </p:sp>
      <p:pic>
        <p:nvPicPr>
          <p:cNvPr id="4" name="圖片 3" descr="一張含有 桌 的圖片&#10;&#10;自動產生的描述">
            <a:extLst>
              <a:ext uri="{FF2B5EF4-FFF2-40B4-BE49-F238E27FC236}">
                <a16:creationId xmlns:a16="http://schemas.microsoft.com/office/drawing/2014/main" id="{20DCE209-454C-419A-9A1F-4942441F9A65}"/>
              </a:ext>
            </a:extLst>
          </p:cNvPr>
          <p:cNvPicPr>
            <a:picLocks noChangeAspect="1"/>
          </p:cNvPicPr>
          <p:nvPr/>
        </p:nvPicPr>
        <p:blipFill>
          <a:blip r:embed="rId2"/>
          <a:stretch>
            <a:fillRect/>
          </a:stretch>
        </p:blipFill>
        <p:spPr>
          <a:xfrm>
            <a:off x="6096000" y="2438400"/>
            <a:ext cx="4914900" cy="4419600"/>
          </a:xfrm>
          <a:prstGeom prst="rect">
            <a:avLst/>
          </a:prstGeom>
        </p:spPr>
      </p:pic>
    </p:spTree>
    <p:extLst>
      <p:ext uri="{BB962C8B-B14F-4D97-AF65-F5344CB8AC3E}">
        <p14:creationId xmlns:p14="http://schemas.microsoft.com/office/powerpoint/2010/main" val="1471867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022598-2535-4914-95B6-42545C0A3C82}"/>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E9E71440-7D1C-44BC-A128-61675C7D6B4E}"/>
              </a:ext>
            </a:extLst>
          </p:cNvPr>
          <p:cNvSpPr>
            <a:spLocks noGrp="1"/>
          </p:cNvSpPr>
          <p:nvPr>
            <p:ph idx="1"/>
          </p:nvPr>
        </p:nvSpPr>
        <p:spPr/>
        <p:txBody>
          <a:bodyPr/>
          <a:lstStyle/>
          <a:p>
            <a:endParaRPr lang="zh-TW" altLang="en-US"/>
          </a:p>
        </p:txBody>
      </p:sp>
      <p:pic>
        <p:nvPicPr>
          <p:cNvPr id="7" name="圖片 6" descr="一張含有 桌 的圖片&#10;&#10;自動產生的描述">
            <a:extLst>
              <a:ext uri="{FF2B5EF4-FFF2-40B4-BE49-F238E27FC236}">
                <a16:creationId xmlns:a16="http://schemas.microsoft.com/office/drawing/2014/main" id="{4C085C7C-2949-4609-8C40-5F851DA28DEF}"/>
              </a:ext>
            </a:extLst>
          </p:cNvPr>
          <p:cNvPicPr>
            <a:picLocks noChangeAspect="1"/>
          </p:cNvPicPr>
          <p:nvPr/>
        </p:nvPicPr>
        <p:blipFill>
          <a:blip r:embed="rId3"/>
          <a:stretch>
            <a:fillRect/>
          </a:stretch>
        </p:blipFill>
        <p:spPr>
          <a:xfrm>
            <a:off x="47625" y="681037"/>
            <a:ext cx="12144375" cy="5724525"/>
          </a:xfrm>
          <a:prstGeom prst="rect">
            <a:avLst/>
          </a:prstGeom>
        </p:spPr>
      </p:pic>
    </p:spTree>
    <p:extLst>
      <p:ext uri="{BB962C8B-B14F-4D97-AF65-F5344CB8AC3E}">
        <p14:creationId xmlns:p14="http://schemas.microsoft.com/office/powerpoint/2010/main" val="4157943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36B62FA-A1C5-424A-A14B-99E3FBABB649}"/>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34DFB577-31CA-401D-9398-75AB9F6997DE}"/>
              </a:ext>
            </a:extLst>
          </p:cNvPr>
          <p:cNvSpPr>
            <a:spLocks noGrp="1"/>
          </p:cNvSpPr>
          <p:nvPr>
            <p:ph idx="1"/>
          </p:nvPr>
        </p:nvSpPr>
        <p:spPr/>
        <p:txBody>
          <a:bodyPr/>
          <a:lstStyle/>
          <a:p>
            <a:endParaRPr lang="zh-TW" altLang="en-US"/>
          </a:p>
        </p:txBody>
      </p:sp>
      <p:pic>
        <p:nvPicPr>
          <p:cNvPr id="5" name="圖片 4">
            <a:extLst>
              <a:ext uri="{FF2B5EF4-FFF2-40B4-BE49-F238E27FC236}">
                <a16:creationId xmlns:a16="http://schemas.microsoft.com/office/drawing/2014/main" id="{44E9740E-6693-46C8-AAC0-A9D46207F644}"/>
              </a:ext>
            </a:extLst>
          </p:cNvPr>
          <p:cNvPicPr>
            <a:picLocks noChangeAspect="1"/>
          </p:cNvPicPr>
          <p:nvPr/>
        </p:nvPicPr>
        <p:blipFill>
          <a:blip r:embed="rId2"/>
          <a:stretch>
            <a:fillRect/>
          </a:stretch>
        </p:blipFill>
        <p:spPr>
          <a:xfrm>
            <a:off x="0" y="1006514"/>
            <a:ext cx="12192000" cy="4844972"/>
          </a:xfrm>
          <a:prstGeom prst="rect">
            <a:avLst/>
          </a:prstGeom>
        </p:spPr>
      </p:pic>
    </p:spTree>
    <p:extLst>
      <p:ext uri="{BB962C8B-B14F-4D97-AF65-F5344CB8AC3E}">
        <p14:creationId xmlns:p14="http://schemas.microsoft.com/office/powerpoint/2010/main" val="4082300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76C066-1034-4F6E-8DC3-D815ABB5335E}"/>
              </a:ext>
            </a:extLst>
          </p:cNvPr>
          <p:cNvSpPr>
            <a:spLocks noGrp="1"/>
          </p:cNvSpPr>
          <p:nvPr>
            <p:ph type="title"/>
          </p:nvPr>
        </p:nvSpPr>
        <p:spPr/>
        <p:txBody>
          <a:bodyPr/>
          <a:lstStyle/>
          <a:p>
            <a:r>
              <a:rPr lang="en-US" altLang="zh-TW" dirty="0" err="1">
                <a:latin typeface="Times New Roman" panose="02020603050405020304" pitchFamily="18" charset="0"/>
                <a:cs typeface="Times New Roman" panose="02020603050405020304" pitchFamily="18" charset="0"/>
              </a:rPr>
              <a:t>Conclution</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B95E8F4-55AA-464C-8528-BA546202968F}"/>
              </a:ext>
            </a:extLst>
          </p:cNvPr>
          <p:cNvSpPr>
            <a:spLocks noGrp="1"/>
          </p:cNvSpPr>
          <p:nvPr>
            <p:ph idx="1"/>
          </p:nvPr>
        </p:nvSpPr>
        <p:spPr/>
        <p:txBody>
          <a:bodyPr/>
          <a:lstStyle/>
          <a:p>
            <a:r>
              <a:rPr lang="en-US" altLang="zh-TW" dirty="0"/>
              <a:t>In cross docking there is a transfer center which is called the cross dock that consolidates the products picked  up  from  a  supplier. </a:t>
            </a:r>
          </a:p>
          <a:p>
            <a:r>
              <a:rPr lang="en-US" altLang="zh-TW" dirty="0"/>
              <a:t> The cross dock is not an actual warehouse, firms in the integration bear less inventory costs. </a:t>
            </a:r>
          </a:p>
          <a:p>
            <a:r>
              <a:rPr lang="en-US" altLang="zh-TW" dirty="0"/>
              <a:t>In the proposed setting the goods picked up from the suppliers. The same amounts of goods that are picked up are delivered to the customers. During the pickup and delivery processes heterogeneous vehicles that have different capacities are used. </a:t>
            </a:r>
            <a:endParaRPr lang="zh-TW" altLang="en-US" dirty="0"/>
          </a:p>
        </p:txBody>
      </p:sp>
    </p:spTree>
    <p:extLst>
      <p:ext uri="{BB962C8B-B14F-4D97-AF65-F5344CB8AC3E}">
        <p14:creationId xmlns:p14="http://schemas.microsoft.com/office/powerpoint/2010/main" val="2441965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F696EC-BD9B-46F2-8A01-A2BFD108F2D6}"/>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0D917D4F-A37C-4499-A40D-AC0A1577980B}"/>
              </a:ext>
            </a:extLst>
          </p:cNvPr>
          <p:cNvSpPr>
            <a:spLocks noGrp="1"/>
          </p:cNvSpPr>
          <p:nvPr>
            <p:ph idx="1"/>
          </p:nvPr>
        </p:nvSpPr>
        <p:spPr/>
        <p:txBody>
          <a:bodyPr/>
          <a:lstStyle/>
          <a:p>
            <a:r>
              <a:rPr lang="en-US" altLang="zh-TW" dirty="0"/>
              <a:t>Thanks for listening.</a:t>
            </a:r>
            <a:endParaRPr lang="zh-TW" altLang="en-US" dirty="0"/>
          </a:p>
        </p:txBody>
      </p:sp>
    </p:spTree>
    <p:extLst>
      <p:ext uri="{BB962C8B-B14F-4D97-AF65-F5344CB8AC3E}">
        <p14:creationId xmlns:p14="http://schemas.microsoft.com/office/powerpoint/2010/main" val="2908708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567813-4F90-4073-AAB9-9262F57BA9C5}"/>
              </a:ext>
            </a:extLst>
          </p:cNvPr>
          <p:cNvSpPr>
            <a:spLocks noGrp="1"/>
          </p:cNvSpPr>
          <p:nvPr>
            <p:ph type="title"/>
          </p:nvPr>
        </p:nvSpPr>
        <p:spPr/>
        <p:txBody>
          <a:bodyPr>
            <a:normAutofit/>
          </a:bodyPr>
          <a:lstStyle/>
          <a:p>
            <a:r>
              <a:rPr lang="zh-TW" altLang="en-US" sz="2800" dirty="0"/>
              <a:t>老師的提問</a:t>
            </a:r>
            <a:r>
              <a:rPr lang="en-US" altLang="zh-TW" sz="2800" dirty="0"/>
              <a:t>?</a:t>
            </a:r>
            <a:endParaRPr lang="zh-TW" altLang="en-US" sz="2800" dirty="0"/>
          </a:p>
        </p:txBody>
      </p:sp>
      <p:sp>
        <p:nvSpPr>
          <p:cNvPr id="3" name="內容版面配置區 2">
            <a:extLst>
              <a:ext uri="{FF2B5EF4-FFF2-40B4-BE49-F238E27FC236}">
                <a16:creationId xmlns:a16="http://schemas.microsoft.com/office/drawing/2014/main" id="{EF25879C-9948-46A4-AA6A-EC1C6C3C86A5}"/>
              </a:ext>
            </a:extLst>
          </p:cNvPr>
          <p:cNvSpPr>
            <a:spLocks noGrp="1"/>
          </p:cNvSpPr>
          <p:nvPr>
            <p:ph idx="1"/>
          </p:nvPr>
        </p:nvSpPr>
        <p:spPr/>
        <p:txBody>
          <a:bodyPr>
            <a:normAutofit fontScale="77500" lnSpcReduction="20000"/>
          </a:bodyPr>
          <a:lstStyle/>
          <a:p>
            <a:r>
              <a:rPr lang="en-US" altLang="zh-TW" dirty="0"/>
              <a:t>1.</a:t>
            </a:r>
            <a:r>
              <a:rPr lang="zh-TW" altLang="en-US" dirty="0"/>
              <a:t>缺點</a:t>
            </a:r>
            <a:r>
              <a:rPr lang="en-US" altLang="zh-TW" dirty="0"/>
              <a:t>:</a:t>
            </a:r>
            <a:r>
              <a:rPr lang="zh-TW" altLang="en-US" dirty="0"/>
              <a:t>他的</a:t>
            </a:r>
            <a:r>
              <a:rPr lang="en-US" altLang="zh-TW" dirty="0"/>
              <a:t>LP</a:t>
            </a:r>
            <a:r>
              <a:rPr lang="zh-TW" altLang="en-US" dirty="0"/>
              <a:t>公式可能跟退火無關。雖然退火演算法有三個鄰居的搜尋方法，但那是退火演算法的突變。但他的</a:t>
            </a:r>
            <a:r>
              <a:rPr lang="en-US" altLang="zh-TW" dirty="0"/>
              <a:t>LP</a:t>
            </a:r>
            <a:r>
              <a:rPr lang="zh-TW" altLang="en-US" dirty="0"/>
              <a:t>公式沒有提出這個問題。</a:t>
            </a:r>
            <a:r>
              <a:rPr lang="en-US" altLang="zh-TW" dirty="0"/>
              <a:t>(LP</a:t>
            </a:r>
            <a:r>
              <a:rPr lang="zh-TW" altLang="en-US" dirty="0"/>
              <a:t>定義要再精細一點會更好</a:t>
            </a:r>
            <a:r>
              <a:rPr lang="en-US" altLang="zh-TW" dirty="0"/>
              <a:t>)</a:t>
            </a:r>
          </a:p>
          <a:p>
            <a:r>
              <a:rPr lang="en-US" altLang="zh-TW" dirty="0"/>
              <a:t>2.</a:t>
            </a:r>
            <a:r>
              <a:rPr lang="zh-TW" altLang="en-US" dirty="0"/>
              <a:t> 每條路線若反著走</a:t>
            </a:r>
            <a:r>
              <a:rPr lang="en-US" altLang="zh-TW" dirty="0"/>
              <a:t>0-&gt;1-&gt;2-&gt;0</a:t>
            </a:r>
            <a:r>
              <a:rPr lang="zh-TW" altLang="en-US" dirty="0"/>
              <a:t>，</a:t>
            </a:r>
            <a:r>
              <a:rPr lang="en-US" altLang="zh-TW" dirty="0"/>
              <a:t>0-&gt;2-&gt;1-&gt;0</a:t>
            </a:r>
            <a:r>
              <a:rPr lang="zh-TW" altLang="en-US" dirty="0"/>
              <a:t> 會有不同結果嗎</a:t>
            </a:r>
            <a:r>
              <a:rPr lang="en-US" altLang="zh-TW" dirty="0"/>
              <a:t>?</a:t>
            </a:r>
          </a:p>
          <a:p>
            <a:pPr marL="0" indent="0">
              <a:buNone/>
            </a:pPr>
            <a:r>
              <a:rPr lang="en-US" altLang="zh-TW" dirty="0"/>
              <a:t>	Ans:</a:t>
            </a:r>
            <a:r>
              <a:rPr lang="zh-TW" altLang="en-US" dirty="0"/>
              <a:t>反這走應該是沒有問題的，這篇論文定義的是先確認好每個節點要搬運的貨物量和要走哪條路線。若是路線有新增別的節點，那才會更改結果。</a:t>
            </a:r>
            <a:endParaRPr lang="en-US" altLang="zh-TW" dirty="0"/>
          </a:p>
          <a:p>
            <a:r>
              <a:rPr lang="en-US" altLang="zh-TW" dirty="0"/>
              <a:t>3.</a:t>
            </a:r>
            <a:r>
              <a:rPr lang="zh-TW" altLang="en-US" dirty="0"/>
              <a:t> 從節點</a:t>
            </a:r>
            <a:r>
              <a:rPr lang="en-US" altLang="zh-TW" dirty="0"/>
              <a:t>a</a:t>
            </a:r>
            <a:r>
              <a:rPr lang="zh-TW" altLang="en-US" dirty="0"/>
              <a:t>取貨</a:t>
            </a:r>
            <a:r>
              <a:rPr lang="en-US" altLang="zh-TW" dirty="0"/>
              <a:t>(</a:t>
            </a:r>
            <a:r>
              <a:rPr lang="zh-TW" altLang="en-US" dirty="0"/>
              <a:t>洗衣機</a:t>
            </a:r>
            <a:r>
              <a:rPr lang="en-US" altLang="zh-TW" dirty="0"/>
              <a:t>-&gt;20</a:t>
            </a:r>
            <a:r>
              <a:rPr lang="zh-TW" altLang="en-US" dirty="0"/>
              <a:t>公斤</a:t>
            </a:r>
            <a:r>
              <a:rPr lang="en-US" altLang="zh-TW" dirty="0"/>
              <a:t>)</a:t>
            </a:r>
            <a:r>
              <a:rPr lang="zh-TW" altLang="en-US" dirty="0"/>
              <a:t>時，經過</a:t>
            </a:r>
            <a:r>
              <a:rPr lang="en-US" altLang="zh-TW" dirty="0"/>
              <a:t>cross dock </a:t>
            </a:r>
            <a:r>
              <a:rPr lang="zh-TW" altLang="en-US" dirty="0"/>
              <a:t>，再被運送到節點</a:t>
            </a:r>
            <a:r>
              <a:rPr lang="en-US" altLang="zh-TW" dirty="0"/>
              <a:t>b</a:t>
            </a:r>
            <a:r>
              <a:rPr lang="zh-TW" altLang="en-US" dirty="0"/>
              <a:t>時，他會不會被拆開成</a:t>
            </a:r>
            <a:r>
              <a:rPr lang="en-US" altLang="zh-TW" dirty="0"/>
              <a:t>10</a:t>
            </a:r>
            <a:r>
              <a:rPr lang="zh-TW" altLang="en-US" dirty="0"/>
              <a:t>公斤</a:t>
            </a:r>
            <a:r>
              <a:rPr lang="en-US" altLang="zh-TW" dirty="0"/>
              <a:t>+10</a:t>
            </a:r>
            <a:r>
              <a:rPr lang="zh-TW" altLang="en-US" dirty="0"/>
              <a:t>公斤來運送</a:t>
            </a:r>
            <a:r>
              <a:rPr lang="en-US" altLang="zh-TW" dirty="0"/>
              <a:t>?(</a:t>
            </a:r>
            <a:r>
              <a:rPr lang="zh-TW" altLang="en-US" dirty="0"/>
              <a:t>當送到</a:t>
            </a:r>
            <a:r>
              <a:rPr lang="en-US" altLang="zh-TW" dirty="0"/>
              <a:t>b</a:t>
            </a:r>
            <a:r>
              <a:rPr lang="zh-TW" altLang="en-US" dirty="0"/>
              <a:t>點時，車輛</a:t>
            </a:r>
            <a:r>
              <a:rPr lang="en-US" altLang="zh-TW" dirty="0"/>
              <a:t>z</a:t>
            </a:r>
            <a:r>
              <a:rPr lang="zh-TW" altLang="en-US" dirty="0"/>
              <a:t>最多載</a:t>
            </a:r>
            <a:r>
              <a:rPr lang="en-US" altLang="zh-TW" dirty="0"/>
              <a:t>20</a:t>
            </a:r>
            <a:r>
              <a:rPr lang="zh-TW" altLang="en-US" dirty="0"/>
              <a:t>公斤，目前已經分裝</a:t>
            </a:r>
            <a:r>
              <a:rPr lang="en-US" altLang="zh-TW" dirty="0"/>
              <a:t>10</a:t>
            </a:r>
            <a:r>
              <a:rPr lang="zh-TW" altLang="en-US" dirty="0"/>
              <a:t>公斤了，為了滿足此送貨車，所以拆成兩個</a:t>
            </a:r>
            <a:r>
              <a:rPr lang="en-US" altLang="zh-TW" dirty="0"/>
              <a:t>10</a:t>
            </a:r>
            <a:r>
              <a:rPr lang="zh-TW" altLang="en-US" dirty="0"/>
              <a:t>公斤</a:t>
            </a:r>
            <a:r>
              <a:rPr lang="en-US" altLang="zh-TW" dirty="0"/>
              <a:t>)</a:t>
            </a:r>
          </a:p>
          <a:p>
            <a:pPr marL="0" indent="0">
              <a:buNone/>
            </a:pPr>
            <a:r>
              <a:rPr lang="en-US" altLang="zh-TW" dirty="0"/>
              <a:t>	Ans:</a:t>
            </a:r>
            <a:r>
              <a:rPr lang="zh-TW" altLang="en-US" dirty="0"/>
              <a:t>答案是不會的，這邊用</a:t>
            </a:r>
            <a:r>
              <a:rPr lang="en-US" altLang="zh-TW" dirty="0"/>
              <a:t>cross dock</a:t>
            </a:r>
            <a:r>
              <a:rPr lang="zh-TW" altLang="en-US" dirty="0"/>
              <a:t>所以她的每個商品都有一個條碼用來掃描其重量和分給哪個顧客。當這台車滿了或無法載送這個貨物的時候，他不會載這個貨物也不會拆解掉這個貨物，頂多下一梯次運送</a:t>
            </a:r>
            <a:r>
              <a:rPr lang="en-US" altLang="zh-TW" dirty="0"/>
              <a:t>(</a:t>
            </a:r>
            <a:r>
              <a:rPr lang="zh-TW" altLang="en-US" dirty="0"/>
              <a:t>可能是明天所以收穫日期其實不會差太多</a:t>
            </a:r>
            <a:r>
              <a:rPr lang="en-US" altLang="zh-TW" dirty="0"/>
              <a:t>)</a:t>
            </a:r>
            <a:r>
              <a:rPr lang="zh-TW" altLang="en-US" dirty="0"/>
              <a:t>。</a:t>
            </a:r>
            <a:r>
              <a:rPr lang="en-US" altLang="zh-TW" dirty="0"/>
              <a:t>(</a:t>
            </a:r>
            <a:r>
              <a:rPr lang="zh-TW" altLang="en-US" dirty="0"/>
              <a:t>舉例</a:t>
            </a:r>
            <a:r>
              <a:rPr lang="en-US" altLang="zh-TW" dirty="0"/>
              <a:t>:</a:t>
            </a:r>
            <a:r>
              <a:rPr lang="zh-TW" altLang="en-US" dirty="0"/>
              <a:t>目前超商取貨的包裹有限制包裹大小和公斤數</a:t>
            </a:r>
            <a:r>
              <a:rPr lang="en-US" altLang="zh-TW" dirty="0"/>
              <a:t>)(</a:t>
            </a:r>
            <a:r>
              <a:rPr lang="zh-TW" altLang="en-US" dirty="0"/>
              <a:t>另一種像是大型家電和直播的海鮮平台，多半不走超商取貨，因為有商品需要冷藏和過重的問題，多半會用新竹貨運直接運送到某某人家裡。</a:t>
            </a:r>
            <a:r>
              <a:rPr lang="en-US" altLang="zh-TW" dirty="0"/>
              <a:t>)</a:t>
            </a:r>
          </a:p>
          <a:p>
            <a:endParaRPr lang="en-US" altLang="zh-TW" dirty="0"/>
          </a:p>
          <a:p>
            <a:pPr marL="0" indent="0">
              <a:buNone/>
            </a:pPr>
            <a:endParaRPr lang="zh-TW" altLang="en-US" dirty="0"/>
          </a:p>
        </p:txBody>
      </p:sp>
    </p:spTree>
    <p:extLst>
      <p:ext uri="{BB962C8B-B14F-4D97-AF65-F5344CB8AC3E}">
        <p14:creationId xmlns:p14="http://schemas.microsoft.com/office/powerpoint/2010/main" val="16968460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241E00-209D-43D0-B117-1401047B8412}"/>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82743219-BB46-427D-9B41-D635C01A9CA0}"/>
              </a:ext>
            </a:extLst>
          </p:cNvPr>
          <p:cNvSpPr>
            <a:spLocks noGrp="1"/>
          </p:cNvSpPr>
          <p:nvPr>
            <p:ph idx="1"/>
          </p:nvPr>
        </p:nvSpPr>
        <p:spPr/>
        <p:txBody>
          <a:bodyPr/>
          <a:lstStyle/>
          <a:p>
            <a:endParaRPr lang="zh-TW" altLang="en-US"/>
          </a:p>
        </p:txBody>
      </p:sp>
    </p:spTree>
    <p:extLst>
      <p:ext uri="{BB962C8B-B14F-4D97-AF65-F5344CB8AC3E}">
        <p14:creationId xmlns:p14="http://schemas.microsoft.com/office/powerpoint/2010/main" val="415081826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報paper範本" id="{69A26A74-F2D4-4C4E-8979-71B91039FD65}" vid="{BF5BF2FF-57E1-4805-99F6-A663F732E577}"/>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報paper範本</Template>
  <TotalTime>1873</TotalTime>
  <Words>1322</Words>
  <Application>Microsoft Office PowerPoint</Application>
  <PresentationFormat>寬螢幕</PresentationFormat>
  <Paragraphs>56</Paragraphs>
  <Slides>17</Slides>
  <Notes>5</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17</vt:i4>
      </vt:variant>
    </vt:vector>
  </HeadingPairs>
  <TitlesOfParts>
    <vt:vector size="22" baseType="lpstr">
      <vt:lpstr>標楷體</vt:lpstr>
      <vt:lpstr>Arial</vt:lpstr>
      <vt:lpstr>Calibri</vt:lpstr>
      <vt:lpstr>Times New Roman</vt:lpstr>
      <vt:lpstr>Office 佈景主題</vt:lpstr>
      <vt:lpstr>Vehicle routing problem with cross docking:  A simulated annealing approach</vt:lpstr>
      <vt:lpstr>Abstract</vt:lpstr>
      <vt:lpstr>PowerPoint 簡報</vt:lpstr>
      <vt:lpstr>PowerPoint 簡報</vt:lpstr>
      <vt:lpstr>PowerPoint 簡報</vt:lpstr>
      <vt:lpstr>PowerPoint 簡報</vt:lpstr>
      <vt:lpstr>PowerPoint 簡報</vt:lpstr>
      <vt:lpstr>PowerPoint 簡報</vt:lpstr>
      <vt:lpstr>Three  different  neighborhood  search  mechanisms </vt:lpstr>
      <vt:lpstr>Simulated Annealing Algorithm</vt:lpstr>
      <vt:lpstr>PowerPoint 簡報</vt:lpstr>
      <vt:lpstr>PowerPoint 簡報</vt:lpstr>
      <vt:lpstr>PowerPoint 簡報</vt:lpstr>
      <vt:lpstr>Conclution</vt:lpstr>
      <vt:lpstr>PowerPoint 簡報</vt:lpstr>
      <vt:lpstr>老師的提問?</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Vehicle routing problem with cross docking: A simulated annealing approach</dc:title>
  <dc:creator>jj wu</dc:creator>
  <cp:lastModifiedBy>jj wu</cp:lastModifiedBy>
  <cp:revision>5</cp:revision>
  <dcterms:created xsi:type="dcterms:W3CDTF">2021-08-08T18:32:38Z</dcterms:created>
  <dcterms:modified xsi:type="dcterms:W3CDTF">2021-08-10T10:34:17Z</dcterms:modified>
</cp:coreProperties>
</file>