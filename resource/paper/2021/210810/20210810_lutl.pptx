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9" r:id="rId4"/>
    <p:sldId id="260" r:id="rId5"/>
    <p:sldId id="258" r:id="rId6"/>
    <p:sldId id="261" r:id="rId7"/>
    <p:sldId id="263" r:id="rId8"/>
    <p:sldId id="265" r:id="rId9"/>
    <p:sldId id="266" r:id="rId10"/>
    <p:sldId id="262" r:id="rId11"/>
    <p:sldId id="279" r:id="rId12"/>
    <p:sldId id="270" r:id="rId13"/>
    <p:sldId id="267" r:id="rId14"/>
    <p:sldId id="271" r:id="rId15"/>
    <p:sldId id="268" r:id="rId16"/>
    <p:sldId id="272" r:id="rId17"/>
    <p:sldId id="269" r:id="rId18"/>
    <p:sldId id="280" r:id="rId19"/>
    <p:sldId id="273" r:id="rId20"/>
    <p:sldId id="275" r:id="rId21"/>
    <p:sldId id="276" r:id="rId22"/>
    <p:sldId id="277" r:id="rId23"/>
    <p:sldId id="278" r:id="rId24"/>
    <p:sldId id="281" r:id="rId2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0"/>
  </p:normalViewPr>
  <p:slideViewPr>
    <p:cSldViewPr snapToGrid="0" snapToObjects="1">
      <p:cViewPr varScale="1">
        <p:scale>
          <a:sx n="120" d="100"/>
          <a:sy n="120" d="100"/>
        </p:scale>
        <p:origin x="2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A45559-0BFE-4344-9B65-AF2AA4340070}" type="datetimeFigureOut">
              <a:rPr kumimoji="1" lang="zh-TW" altLang="en-US" smtClean="0"/>
              <a:t>2021/8/10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43E2FF-3FFC-0943-9A0D-A0B13F46FECA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121076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99CACA6-C67C-E541-892B-44D0091E4B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1CC1734-2905-E64F-A631-54B4414165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 dirty="0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52928DA-44E4-074F-8536-26603EBDA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D94305-8CA1-9449-A556-67D5085A7FA1}" type="datetime1">
              <a:rPr kumimoji="1" lang="zh-TW" altLang="en-US" smtClean="0"/>
              <a:t>2021/8/10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CCB0FA4-ABBE-BA4C-8404-566B691D0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36B4FD5-66AB-9441-90B5-4BBD60219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4814042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870AF28-EC81-FE4B-89D9-F2E8D07FC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F8F01FE-63E4-B148-8F63-BA8CC19DF1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CDDCB10-D67B-2F49-9257-3F53E655A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5A69C4-18F5-3B4F-9726-B61210AF53BB}" type="datetime1">
              <a:rPr kumimoji="1" lang="zh-TW" altLang="en-US" smtClean="0"/>
              <a:t>2021/8/10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E383F78-9598-D74D-9292-89EFE69D1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BD1EF3F-2214-5B47-9FDA-094F6F6F1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45AB94F7-1CE9-3B41-8002-0A2CB67662D8}" type="slidenum">
              <a:rPr kumimoji="1" lang="zh-TW" altLang="en-US" smtClean="0"/>
              <a:pPr/>
              <a:t>‹#›</a:t>
            </a:fld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392861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40EA4F2-2540-1244-B139-F15C25B79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2C54D3C-13C8-6242-8D0C-509D676810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9742759-9CB6-6844-818C-D784DC9DD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1A6B9-6F66-C749-9323-08ACCB0475DF}" type="datetime1">
              <a:rPr kumimoji="1" lang="zh-TW" altLang="en-US" smtClean="0"/>
              <a:t>2021/8/10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AF6B2C8-E956-014A-989F-C4986EEC9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4FE7166-F2BC-6E41-A489-D4F1F176A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598025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D5B0B7-A085-074E-8B77-3B759476B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0DE2419-98D0-C748-9D81-FD99D10E89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E7429AE-8C31-D64A-9CAF-84EF9D9F81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54F1935-3D64-C547-BE1F-E5DF5E3EA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A61A4-81BF-334B-8D80-CA36701FDA35}" type="datetime1">
              <a:rPr kumimoji="1" lang="zh-TW" altLang="en-US" smtClean="0"/>
              <a:t>2021/8/10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12AB15C-9B5B-D44D-B16C-11EF813D9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5CFBA30-686E-724D-9244-E9E644067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015848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312BDD6-FE7A-F545-960D-362C66F47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7F6F60D-37BA-C242-9A1E-32FEB8CCCA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9BCDA43-0B87-A645-8BE0-2EA0C0A6B1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5D48957-078C-7444-A985-ACC5552F25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4FEF868D-291B-394E-9BE2-D02FA1CD3C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1EA16361-4974-3C4E-9136-7688A755D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A022A-5F93-5C4C-B16C-BEC73CEE6E54}" type="datetime1">
              <a:rPr kumimoji="1" lang="zh-TW" altLang="en-US" smtClean="0"/>
              <a:t>2021/8/10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556ED032-8661-E941-88E1-00C969420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FB13C977-9E60-0840-8F60-2746A6806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779835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1B53D1F-CD49-4A47-8161-81E7049E7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97BAD2FC-9DAA-7243-A022-A4F61BF19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C925CB-9510-9341-9576-9B12ECEC775E}" type="datetime1">
              <a:rPr kumimoji="1" lang="zh-TW" altLang="en-US" smtClean="0"/>
              <a:t>2021/8/10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FB08567B-6FC5-FE42-99C1-56DE3E0EA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DF5BEE7-69BC-3243-92F7-9D56CF1E4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994566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C472B68F-CE5E-8E42-845E-216799E93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C0CE8D-F82D-A84C-87DC-2C4A6AB68E2E}" type="datetime1">
              <a:rPr kumimoji="1" lang="zh-TW" altLang="en-US" smtClean="0"/>
              <a:t>2021/8/10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0AE25D5B-72BF-8541-BB27-109E74F63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4D9627B-7493-DE49-BED1-D957B96B6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052840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0D33F3F-E533-ED46-B706-B8230FBE3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923F0ED-E028-4D48-ACE1-92415A0E02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9259B9D-B493-EE4A-8F83-9E517D43A3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647DBB5-D8D1-9C4B-958E-74CA3C3565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C0FAD-89C5-7F43-A773-FAE777B2C9F1}" type="datetime1">
              <a:rPr kumimoji="1" lang="zh-TW" altLang="en-US" smtClean="0"/>
              <a:t>2021/8/10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DD9DD0B-97B7-7C48-9FAF-367CEFEAD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F04DAF6-0748-E746-B095-EDD0BFA0C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234485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B7AA03-AD9D-9B4F-BF9A-0D182E1303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40629E92-D1EC-7541-B377-00C9F825B7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9365C22-4E8D-5446-A436-EA77B69D7F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B89063B-A0C5-524B-897E-9D14FAA16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FB9B9-8EF2-A94F-98A1-225287ED6E40}" type="datetime1">
              <a:rPr kumimoji="1" lang="zh-TW" altLang="en-US" smtClean="0"/>
              <a:t>2021/8/10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FCC9C8F-50DB-0448-BAE3-DCD747D6E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E76F315-F817-7046-B413-386F67177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716739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CAAEEB8-BF61-0D4B-91E0-B11EF6EA0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92FAE11-B217-A441-BF40-6E86BC4895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6718463-BF67-834B-B2DE-31F68E452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B0978-9282-A443-81EE-087251DCE16D}" type="datetime1">
              <a:rPr kumimoji="1" lang="zh-TW" altLang="en-US" smtClean="0"/>
              <a:t>2021/8/10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594982C-896E-4149-99DD-209F8E8C0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6603828-B8BB-9B4D-B2DF-DD10F4CAE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5649349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535947D6-AA8E-8847-82ED-F06115AA28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F700A80-132C-4840-9A7C-C78D2A2400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A617639-2B7B-124E-964F-8866AB883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108DF5-4A34-8D4B-8D26-525AA81604B2}" type="datetime1">
              <a:rPr kumimoji="1" lang="zh-TW" altLang="en-US" smtClean="0"/>
              <a:t>2021/8/10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438D0C4-A114-014D-8492-65B3EEDD1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18114EB-9F4C-BE4F-9F99-D7A2DEEC2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6083713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73116FCC-9057-794F-A6BD-9239D6867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F71D68C-1C2E-1C49-B4D5-25F62E8AE2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zh-TW" altLang="en-US" dirty="0"/>
              <a:t>第二層</a:t>
            </a:r>
          </a:p>
          <a:p>
            <a:pPr lvl="2"/>
            <a:r>
              <a:rPr kumimoji="1" lang="zh-TW" altLang="en-US" dirty="0"/>
              <a:t>第三層</a:t>
            </a:r>
          </a:p>
          <a:p>
            <a:pPr lvl="3"/>
            <a:r>
              <a:rPr kumimoji="1" lang="zh-TW" altLang="en-US" dirty="0"/>
              <a:t>第四層</a:t>
            </a:r>
          </a:p>
          <a:p>
            <a:pPr lvl="4"/>
            <a:r>
              <a:rPr kumimoji="1" lang="zh-TW" altLang="en-US" dirty="0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ECE1990-52AC-F546-8798-90353A0395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A140CC-F999-A946-9373-08EAE304F3C9}" type="datetime1">
              <a:rPr kumimoji="1" lang="zh-TW" altLang="en-US" smtClean="0"/>
              <a:t>2021/8/10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EB22EAC-653F-C544-A1B0-BE186C1781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26F20A4-E6B9-D241-B29C-161E27408E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AB94F7-1CE9-3B41-8002-0A2CB67662D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797430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CA1336C-440D-2E43-904F-AABB45E64E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54623"/>
            <a:ext cx="9144000" cy="1830019"/>
          </a:xfrm>
        </p:spPr>
        <p:txBody>
          <a:bodyPr>
            <a:normAutofit/>
          </a:bodyPr>
          <a:lstStyle/>
          <a:p>
            <a:r>
              <a:rPr kumimoji="1" lang="en-US" altLang="zh-TW" dirty="0"/>
              <a:t>Sorting by Prefix Reversals and Prefix Transpositions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FD611AA7-209A-4449-AB65-A25622930A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224604"/>
          </a:xfrm>
        </p:spPr>
        <p:txBody>
          <a:bodyPr>
            <a:normAutofit/>
          </a:bodyPr>
          <a:lstStyle/>
          <a:p>
            <a:r>
              <a:rPr kumimoji="1"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Zanoni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Dias, </a:t>
            </a:r>
            <a:r>
              <a:rPr kumimoji="1"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Ulisses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Dias</a:t>
            </a:r>
          </a:p>
          <a:p>
            <a:endParaRPr kumimoji="1" lang="en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Discrete Applied Mathematics, </a:t>
            </a:r>
            <a:r>
              <a:rPr kumimoji="1" lang="e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2015</a:t>
            </a:r>
          </a:p>
          <a:p>
            <a:r>
              <a:rPr kumimoji="1" lang="e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Volume 181, pp. 78-89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BF1141FC-B145-834E-9139-2A899AB73EAA}"/>
              </a:ext>
            </a:extLst>
          </p:cNvPr>
          <p:cNvSpPr txBox="1"/>
          <p:nvPr/>
        </p:nvSpPr>
        <p:spPr>
          <a:xfrm>
            <a:off x="9165265" y="5826642"/>
            <a:ext cx="24919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kumimoji="1" lang="e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Presenter:  Tsung-Lin Lu</a:t>
            </a:r>
          </a:p>
          <a:p>
            <a:pPr algn="r"/>
            <a:r>
              <a:rPr kumimoji="1" lang="en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Aug. 10, 2021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5233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Abstract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8C395C6-3EBC-4D47-9C22-52A1E36DD1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paper, we present a new algorithm for the </a:t>
            </a:r>
            <a:r>
              <a:rPr kumimoji="1"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Sorting by Prefix Reversals and Prefix Transpositions Problem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 previous approximation algorithm was bounded by factor 3, and here we present an asymptotic </a:t>
            </a:r>
            <a:r>
              <a:rPr kumimoji="1"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2-approximation algorithm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We consider theoretical and practical aspects in our analysis, and we show that our method is better than other approaches in both cases.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7366900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Outline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8C395C6-3EBC-4D47-9C22-52A1E36DD1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Breakpoints</a:t>
            </a:r>
          </a:p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Prefix reversals and prefix transpositions</a:t>
            </a:r>
          </a:p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Previous algorithms</a:t>
            </a:r>
          </a:p>
          <a:p>
            <a:pPr lvl="1"/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Lemma 1. ~ 7.</a:t>
            </a:r>
          </a:p>
          <a:p>
            <a:endParaRPr kumimoji="1"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Z. Dias, U. Dias : Asymptotic 2-approximation (2-app) algorithm</a:t>
            </a:r>
          </a:p>
          <a:p>
            <a:pPr lvl="1"/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Removing prefix reversal breakpoints</a:t>
            </a:r>
          </a:p>
          <a:p>
            <a:pPr lvl="1"/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Dealing with </a:t>
            </a:r>
            <a:r>
              <a:rPr kumimoji="1"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kumimoji="1" lang="el-GR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</a:t>
            </a:r>
            <a:endParaRPr kumimoji="1"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Lemma 11. ~ 13.</a:t>
            </a:r>
          </a:p>
          <a:p>
            <a:pPr lvl="1"/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Proof  and time complexity of 2-app</a:t>
            </a:r>
          </a:p>
          <a:p>
            <a:pPr lvl="1"/>
            <a:endParaRPr kumimoji="1"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kumimoji="1"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4542812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Breakpoints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8C395C6-3EBC-4D47-9C22-52A1E36DD1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338354"/>
            <a:ext cx="10515600" cy="2072795"/>
          </a:xfrm>
        </p:spPr>
        <p:txBody>
          <a:bodyPr>
            <a:norm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≤ </a:t>
            </a:r>
            <a:r>
              <a:rPr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≤ n</a:t>
            </a:r>
            <a:endParaRPr kumimoji="1"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kumimoji="1" lang="en-US" altLang="zh-TW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1"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kumimoji="1"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i+1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is a prefix reversal (pr) breakpoint if |</a:t>
            </a:r>
            <a:r>
              <a:rPr kumimoji="1"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kumimoji="1"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i+1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− </a:t>
            </a:r>
            <a:r>
              <a:rPr kumimoji="1"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kumimoji="1" lang="en-US" altLang="zh-TW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≠ 1</a:t>
            </a:r>
          </a:p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kumimoji="1" lang="en-US" altLang="zh-TW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1"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kumimoji="1"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i+1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is a prefix transposition (</a:t>
            </a:r>
            <a:r>
              <a:rPr kumimoji="1"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breakpoint if </a:t>
            </a:r>
            <a:r>
              <a:rPr kumimoji="1"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kumimoji="1"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i+1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− </a:t>
            </a:r>
            <a:r>
              <a:rPr kumimoji="1"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kumimoji="1" lang="en-US" altLang="zh-TW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≠ 1</a:t>
            </a:r>
          </a:p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Strips are maximal intervals with no prefix reversal breakpoints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3</a:t>
            </a:fld>
            <a:endParaRPr kumimoji="1" lang="zh-TW" altLang="en-US"/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6ED0F9F3-5A1B-3146-89FD-645BE321C1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4111208"/>
              </p:ext>
            </p:extLst>
          </p:nvPr>
        </p:nvGraphicFramePr>
        <p:xfrm>
          <a:off x="1043171" y="2557930"/>
          <a:ext cx="9780771" cy="741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52367">
                  <a:extLst>
                    <a:ext uri="{9D8B030D-6E8A-4147-A177-3AD203B41FA5}">
                      <a16:colId xmlns:a16="http://schemas.microsoft.com/office/drawing/2014/main" val="434049358"/>
                    </a:ext>
                  </a:extLst>
                </a:gridCol>
                <a:gridCol w="752367">
                  <a:extLst>
                    <a:ext uri="{9D8B030D-6E8A-4147-A177-3AD203B41FA5}">
                      <a16:colId xmlns:a16="http://schemas.microsoft.com/office/drawing/2014/main" val="2905560997"/>
                    </a:ext>
                  </a:extLst>
                </a:gridCol>
                <a:gridCol w="752367">
                  <a:extLst>
                    <a:ext uri="{9D8B030D-6E8A-4147-A177-3AD203B41FA5}">
                      <a16:colId xmlns:a16="http://schemas.microsoft.com/office/drawing/2014/main" val="476083024"/>
                    </a:ext>
                  </a:extLst>
                </a:gridCol>
                <a:gridCol w="752367">
                  <a:extLst>
                    <a:ext uri="{9D8B030D-6E8A-4147-A177-3AD203B41FA5}">
                      <a16:colId xmlns:a16="http://schemas.microsoft.com/office/drawing/2014/main" val="44744348"/>
                    </a:ext>
                  </a:extLst>
                </a:gridCol>
                <a:gridCol w="752367">
                  <a:extLst>
                    <a:ext uri="{9D8B030D-6E8A-4147-A177-3AD203B41FA5}">
                      <a16:colId xmlns:a16="http://schemas.microsoft.com/office/drawing/2014/main" val="2551082595"/>
                    </a:ext>
                  </a:extLst>
                </a:gridCol>
                <a:gridCol w="752367">
                  <a:extLst>
                    <a:ext uri="{9D8B030D-6E8A-4147-A177-3AD203B41FA5}">
                      <a16:colId xmlns:a16="http://schemas.microsoft.com/office/drawing/2014/main" val="195287674"/>
                    </a:ext>
                  </a:extLst>
                </a:gridCol>
                <a:gridCol w="752367">
                  <a:extLst>
                    <a:ext uri="{9D8B030D-6E8A-4147-A177-3AD203B41FA5}">
                      <a16:colId xmlns:a16="http://schemas.microsoft.com/office/drawing/2014/main" val="4264364375"/>
                    </a:ext>
                  </a:extLst>
                </a:gridCol>
                <a:gridCol w="752367">
                  <a:extLst>
                    <a:ext uri="{9D8B030D-6E8A-4147-A177-3AD203B41FA5}">
                      <a16:colId xmlns:a16="http://schemas.microsoft.com/office/drawing/2014/main" val="90847139"/>
                    </a:ext>
                  </a:extLst>
                </a:gridCol>
                <a:gridCol w="752367">
                  <a:extLst>
                    <a:ext uri="{9D8B030D-6E8A-4147-A177-3AD203B41FA5}">
                      <a16:colId xmlns:a16="http://schemas.microsoft.com/office/drawing/2014/main" val="891212422"/>
                    </a:ext>
                  </a:extLst>
                </a:gridCol>
                <a:gridCol w="752367">
                  <a:extLst>
                    <a:ext uri="{9D8B030D-6E8A-4147-A177-3AD203B41FA5}">
                      <a16:colId xmlns:a16="http://schemas.microsoft.com/office/drawing/2014/main" val="2465636846"/>
                    </a:ext>
                  </a:extLst>
                </a:gridCol>
                <a:gridCol w="752367">
                  <a:extLst>
                    <a:ext uri="{9D8B030D-6E8A-4147-A177-3AD203B41FA5}">
                      <a16:colId xmlns:a16="http://schemas.microsoft.com/office/drawing/2014/main" val="1276521616"/>
                    </a:ext>
                  </a:extLst>
                </a:gridCol>
                <a:gridCol w="752367">
                  <a:extLst>
                    <a:ext uri="{9D8B030D-6E8A-4147-A177-3AD203B41FA5}">
                      <a16:colId xmlns:a16="http://schemas.microsoft.com/office/drawing/2014/main" val="2898645508"/>
                    </a:ext>
                  </a:extLst>
                </a:gridCol>
                <a:gridCol w="752367">
                  <a:extLst>
                    <a:ext uri="{9D8B030D-6E8A-4147-A177-3AD203B41FA5}">
                      <a16:colId xmlns:a16="http://schemas.microsoft.com/office/drawing/2014/main" val="16570433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𝛑</a:t>
                      </a:r>
                      <a:r>
                        <a:rPr kumimoji="1" lang="en-US" altLang="zh-TW" sz="18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𝛑</a:t>
                      </a:r>
                      <a:r>
                        <a:rPr kumimoji="1" lang="en-US" altLang="zh-TW" sz="18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𝛑</a:t>
                      </a:r>
                      <a:r>
                        <a:rPr kumimoji="1" lang="en-US" altLang="zh-TW" sz="18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𝛑</a:t>
                      </a:r>
                      <a:r>
                        <a:rPr kumimoji="1" lang="en-US" altLang="zh-TW" sz="18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𝛑</a:t>
                      </a:r>
                      <a:r>
                        <a:rPr kumimoji="1" lang="en-US" altLang="zh-TW" sz="18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𝛑</a:t>
                      </a:r>
                      <a:r>
                        <a:rPr kumimoji="1" lang="en-US" altLang="zh-TW" sz="18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𝛑</a:t>
                      </a:r>
                      <a:r>
                        <a:rPr kumimoji="1" lang="en-US" altLang="zh-TW" sz="18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𝛑</a:t>
                      </a:r>
                      <a:r>
                        <a:rPr kumimoji="1" lang="en-US" altLang="zh-TW" sz="18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𝛑</a:t>
                      </a:r>
                      <a:r>
                        <a:rPr kumimoji="1" lang="en-US" altLang="zh-TW" sz="18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𝛑</a:t>
                      </a:r>
                      <a:r>
                        <a:rPr kumimoji="1" lang="en-US" altLang="zh-TW" sz="18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𝛑</a:t>
                      </a:r>
                      <a:r>
                        <a:rPr kumimoji="1" lang="en-US" altLang="zh-TW" sz="18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𝛑</a:t>
                      </a:r>
                      <a:r>
                        <a:rPr kumimoji="1" lang="en-US" altLang="zh-TW" sz="18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𝛑</a:t>
                      </a:r>
                      <a:r>
                        <a:rPr kumimoji="1" lang="en-US" altLang="zh-TW" sz="18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baseline="-25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9737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5344982"/>
                  </a:ext>
                </a:extLst>
              </a:tr>
            </a:tbl>
          </a:graphicData>
        </a:graphic>
      </p:graphicFrame>
      <p:sp>
        <p:nvSpPr>
          <p:cNvPr id="5" name="文字方塊 4">
            <a:extLst>
              <a:ext uri="{FF2B5EF4-FFF2-40B4-BE49-F238E27FC236}">
                <a16:creationId xmlns:a16="http://schemas.microsoft.com/office/drawing/2014/main" id="{E0F65917-4E37-7641-ABC9-000E7B783A95}"/>
              </a:ext>
            </a:extLst>
          </p:cNvPr>
          <p:cNvSpPr txBox="1"/>
          <p:nvPr/>
        </p:nvSpPr>
        <p:spPr>
          <a:xfrm>
            <a:off x="838200" y="1496201"/>
            <a:ext cx="42103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permutation 𝛑, n = 11 </a:t>
            </a:r>
            <a:endParaRPr kumimoji="1" lang="zh-TW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33C75D4A-96FA-034D-B1CB-0C05FC6F2787}"/>
              </a:ext>
            </a:extLst>
          </p:cNvPr>
          <p:cNvCxnSpPr/>
          <p:nvPr/>
        </p:nvCxnSpPr>
        <p:spPr>
          <a:xfrm>
            <a:off x="1796902" y="3487482"/>
            <a:ext cx="1488558" cy="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0C2D4708-1CB2-0845-A6A3-7792A6D9020F}"/>
              </a:ext>
            </a:extLst>
          </p:cNvPr>
          <p:cNvCxnSpPr>
            <a:cxnSpLocks/>
          </p:cNvCxnSpPr>
          <p:nvPr/>
        </p:nvCxnSpPr>
        <p:spPr>
          <a:xfrm>
            <a:off x="4054549" y="3487482"/>
            <a:ext cx="2994837" cy="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9572D7DC-736E-E44B-BA3C-C5F5477078EA}"/>
              </a:ext>
            </a:extLst>
          </p:cNvPr>
          <p:cNvCxnSpPr/>
          <p:nvPr/>
        </p:nvCxnSpPr>
        <p:spPr>
          <a:xfrm>
            <a:off x="7813156" y="3487482"/>
            <a:ext cx="1488558" cy="0"/>
          </a:xfrm>
          <a:prstGeom prst="line">
            <a:avLst/>
          </a:prstGeom>
          <a:ln w="381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4A6362D0-432D-CA43-A9F7-FDB5663AB0BA}"/>
              </a:ext>
            </a:extLst>
          </p:cNvPr>
          <p:cNvSpPr txBox="1"/>
          <p:nvPr/>
        </p:nvSpPr>
        <p:spPr>
          <a:xfrm>
            <a:off x="1698642" y="3484545"/>
            <a:ext cx="168507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 </a:t>
            </a:r>
            <a:r>
              <a:rPr kumimoji="1" lang="en-US" altLang="zh-TW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breakpopint</a:t>
            </a:r>
            <a:endParaRPr kumimoji="1"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-US" altLang="zh-TW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</a:t>
            </a:r>
            <a:r>
              <a:rPr kumimoji="1"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TW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breakpopint</a:t>
            </a:r>
            <a:endParaRPr kumimoji="1"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C154C08E-0076-2047-ADB1-899B7CAEDABE}"/>
              </a:ext>
            </a:extLst>
          </p:cNvPr>
          <p:cNvSpPr txBox="1"/>
          <p:nvPr/>
        </p:nvSpPr>
        <p:spPr>
          <a:xfrm>
            <a:off x="7698047" y="3512361"/>
            <a:ext cx="16706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</a:t>
            </a:r>
            <a:r>
              <a:rPr kumimoji="1"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TW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breakpopint</a:t>
            </a:r>
            <a:endParaRPr kumimoji="1"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A549A679-690C-3B49-84E5-18BC454FDEE0}"/>
              </a:ext>
            </a:extLst>
          </p:cNvPr>
          <p:cNvSpPr txBox="1"/>
          <p:nvPr/>
        </p:nvSpPr>
        <p:spPr>
          <a:xfrm>
            <a:off x="5063303" y="3492226"/>
            <a:ext cx="7377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strips</a:t>
            </a:r>
            <a:endParaRPr kumimoji="1"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48838A12-96DE-0543-945E-618B073DEFC3}"/>
              </a:ext>
            </a:extLst>
          </p:cNvPr>
          <p:cNvCxnSpPr/>
          <p:nvPr/>
        </p:nvCxnSpPr>
        <p:spPr>
          <a:xfrm>
            <a:off x="1043171" y="2465476"/>
            <a:ext cx="1488558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C350B005-136F-FF4F-A2D5-0C9B72337C00}"/>
              </a:ext>
            </a:extLst>
          </p:cNvPr>
          <p:cNvCxnSpPr/>
          <p:nvPr/>
        </p:nvCxnSpPr>
        <p:spPr>
          <a:xfrm>
            <a:off x="9312347" y="2465850"/>
            <a:ext cx="1488558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014E6AA5-51A0-A049-B644-171E91ECB57D}"/>
              </a:ext>
            </a:extLst>
          </p:cNvPr>
          <p:cNvSpPr txBox="1"/>
          <p:nvPr/>
        </p:nvSpPr>
        <p:spPr>
          <a:xfrm>
            <a:off x="9371881" y="2033465"/>
            <a:ext cx="14077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breakpopint</a:t>
            </a:r>
            <a:endParaRPr kumimoji="1" lang="en-US" altLang="zh-TW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BB86605-4555-5144-A048-D60993C89765}"/>
              </a:ext>
            </a:extLst>
          </p:cNvPr>
          <p:cNvSpPr/>
          <p:nvPr/>
        </p:nvSpPr>
        <p:spPr>
          <a:xfrm>
            <a:off x="955944" y="2056923"/>
            <a:ext cx="27270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l-GR" altLang="zh-TW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l-GR" altLang="zh-TW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l-GR" altLang="zh-TW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, π</a:t>
            </a:r>
            <a:r>
              <a:rPr lang="el-GR" altLang="zh-TW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l-GR" altLang="zh-TW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l-GR" altLang="zh-TW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not a breakpoint</a:t>
            </a:r>
            <a:endParaRPr lang="en-US" altLang="zh-TW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15282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8C395C6-3EBC-4D47-9C22-52A1E36DD1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7693"/>
            <a:ext cx="6441557" cy="4351338"/>
          </a:xfrm>
        </p:spPr>
        <p:txBody>
          <a:bodyPr>
            <a:normAutofit/>
          </a:bodyPr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prefix reversal </a:t>
            </a:r>
            <a:r>
              <a:rPr kumimoji="1"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ρ</a:t>
            </a:r>
            <a:r>
              <a:rPr kumimoji="1"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(k) = </a:t>
            </a:r>
            <a:r>
              <a:rPr kumimoji="1"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ρ</a:t>
            </a:r>
            <a:r>
              <a:rPr kumimoji="1"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(1, j)</a:t>
            </a:r>
          </a:p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prefix transposition </a:t>
            </a:r>
            <a:r>
              <a:rPr kumimoji="1"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ρ</a:t>
            </a:r>
            <a:r>
              <a:rPr kumimoji="1" lang="en-US" altLang="zh-TW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(j, k) = </a:t>
            </a:r>
            <a:r>
              <a:rPr kumimoji="1"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ρ</a:t>
            </a:r>
            <a:r>
              <a:rPr kumimoji="1"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(1, j, k)</a:t>
            </a:r>
          </a:p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reversal </a:t>
            </a:r>
            <a:r>
              <a:rPr kumimoji="1"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ρ</a:t>
            </a:r>
            <a:r>
              <a:rPr kumimoji="1"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j)</a:t>
            </a:r>
          </a:p>
          <a:p>
            <a:endParaRPr kumimoji="1"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kumimoji="1"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kumimoji="1"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transposition </a:t>
            </a:r>
            <a:r>
              <a:rPr kumimoji="1"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ρ</a:t>
            </a:r>
            <a:r>
              <a:rPr kumimoji="1"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j, k)</a:t>
            </a:r>
          </a:p>
          <a:p>
            <a:pPr marL="0" indent="0">
              <a:buNone/>
            </a:pPr>
            <a:endParaRPr kumimoji="1"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804451" cy="1325563"/>
          </a:xfrm>
        </p:spPr>
        <p:txBody>
          <a:bodyPr/>
          <a:lstStyle/>
          <a:p>
            <a:r>
              <a:rPr kumimoji="1" lang="en-US" altLang="zh-TW" dirty="0"/>
              <a:t>Prefix reversals and prefix transpositions</a:t>
            </a:r>
            <a:endParaRPr kumimoji="1" lang="zh-TW" alt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4</a:t>
            </a:fld>
            <a:endParaRPr kumimoji="1" lang="zh-TW" altLang="en-US"/>
          </a:p>
        </p:txBody>
      </p:sp>
      <p:graphicFrame>
        <p:nvGraphicFramePr>
          <p:cNvPr id="5" name="表格 6">
            <a:extLst>
              <a:ext uri="{FF2B5EF4-FFF2-40B4-BE49-F238E27FC236}">
                <a16:creationId xmlns:a16="http://schemas.microsoft.com/office/drawing/2014/main" id="{2EC4F008-C501-8249-8383-5BEFB522C9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1645650"/>
              </p:ext>
            </p:extLst>
          </p:nvPr>
        </p:nvGraphicFramePr>
        <p:xfrm>
          <a:off x="8027587" y="2398403"/>
          <a:ext cx="3319133" cy="22250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87953">
                  <a:extLst>
                    <a:ext uri="{9D8B030D-6E8A-4147-A177-3AD203B41FA5}">
                      <a16:colId xmlns:a16="http://schemas.microsoft.com/office/drawing/2014/main" val="182086557"/>
                    </a:ext>
                  </a:extLst>
                </a:gridCol>
                <a:gridCol w="1531180">
                  <a:extLst>
                    <a:ext uri="{9D8B030D-6E8A-4147-A177-3AD203B41FA5}">
                      <a16:colId xmlns:a16="http://schemas.microsoft.com/office/drawing/2014/main" val="25616147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Operations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64668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Reversal</a:t>
                      </a:r>
                      <a:endParaRPr lang="zh-TW" altLang="en-US" sz="1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Signed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5675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Transposition</a:t>
                      </a:r>
                      <a:endParaRPr lang="zh-TW" altLang="en-US" sz="1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8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Prefix</a:t>
                      </a:r>
                      <a:endParaRPr lang="zh-TW" altLang="en-US" sz="18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56940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Translocation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Weighted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451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Fusion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7527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Fission</a:t>
                      </a:r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517741"/>
                  </a:ext>
                </a:extLst>
              </a:tr>
            </a:tbl>
          </a:graphicData>
        </a:graphic>
      </p:graphicFrame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2D5D9E89-FEE2-CF4A-891C-ADEB1778B268}"/>
              </a:ext>
            </a:extLst>
          </p:cNvPr>
          <p:cNvSpPr txBox="1">
            <a:spLocks/>
          </p:cNvSpPr>
          <p:nvPr/>
        </p:nvSpPr>
        <p:spPr>
          <a:xfrm>
            <a:off x="7632995" y="1823334"/>
            <a:ext cx="4009655" cy="6064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Genome Rearrangement</a:t>
            </a:r>
          </a:p>
        </p:txBody>
      </p:sp>
      <p:graphicFrame>
        <p:nvGraphicFramePr>
          <p:cNvPr id="8" name="表格 8">
            <a:extLst>
              <a:ext uri="{FF2B5EF4-FFF2-40B4-BE49-F238E27FC236}">
                <a16:creationId xmlns:a16="http://schemas.microsoft.com/office/drawing/2014/main" id="{FFB59955-2578-B44D-9879-DDE68FDE96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9700578"/>
              </p:ext>
            </p:extLst>
          </p:nvPr>
        </p:nvGraphicFramePr>
        <p:xfrm>
          <a:off x="1094563" y="3434318"/>
          <a:ext cx="544269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4790">
                  <a:extLst>
                    <a:ext uri="{9D8B030D-6E8A-4147-A177-3AD203B41FA5}">
                      <a16:colId xmlns:a16="http://schemas.microsoft.com/office/drawing/2014/main" val="2829264351"/>
                    </a:ext>
                  </a:extLst>
                </a:gridCol>
                <a:gridCol w="494790">
                  <a:extLst>
                    <a:ext uri="{9D8B030D-6E8A-4147-A177-3AD203B41FA5}">
                      <a16:colId xmlns:a16="http://schemas.microsoft.com/office/drawing/2014/main" val="558341440"/>
                    </a:ext>
                  </a:extLst>
                </a:gridCol>
                <a:gridCol w="494790">
                  <a:extLst>
                    <a:ext uri="{9D8B030D-6E8A-4147-A177-3AD203B41FA5}">
                      <a16:colId xmlns:a16="http://schemas.microsoft.com/office/drawing/2014/main" val="4153794919"/>
                    </a:ext>
                  </a:extLst>
                </a:gridCol>
                <a:gridCol w="494790">
                  <a:extLst>
                    <a:ext uri="{9D8B030D-6E8A-4147-A177-3AD203B41FA5}">
                      <a16:colId xmlns:a16="http://schemas.microsoft.com/office/drawing/2014/main" val="245158847"/>
                    </a:ext>
                  </a:extLst>
                </a:gridCol>
                <a:gridCol w="494790">
                  <a:extLst>
                    <a:ext uri="{9D8B030D-6E8A-4147-A177-3AD203B41FA5}">
                      <a16:colId xmlns:a16="http://schemas.microsoft.com/office/drawing/2014/main" val="4093676585"/>
                    </a:ext>
                  </a:extLst>
                </a:gridCol>
                <a:gridCol w="494790">
                  <a:extLst>
                    <a:ext uri="{9D8B030D-6E8A-4147-A177-3AD203B41FA5}">
                      <a16:colId xmlns:a16="http://schemas.microsoft.com/office/drawing/2014/main" val="3597129913"/>
                    </a:ext>
                  </a:extLst>
                </a:gridCol>
                <a:gridCol w="494790">
                  <a:extLst>
                    <a:ext uri="{9D8B030D-6E8A-4147-A177-3AD203B41FA5}">
                      <a16:colId xmlns:a16="http://schemas.microsoft.com/office/drawing/2014/main" val="1996696060"/>
                    </a:ext>
                  </a:extLst>
                </a:gridCol>
                <a:gridCol w="494790">
                  <a:extLst>
                    <a:ext uri="{9D8B030D-6E8A-4147-A177-3AD203B41FA5}">
                      <a16:colId xmlns:a16="http://schemas.microsoft.com/office/drawing/2014/main" val="3254182740"/>
                    </a:ext>
                  </a:extLst>
                </a:gridCol>
                <a:gridCol w="494790">
                  <a:extLst>
                    <a:ext uri="{9D8B030D-6E8A-4147-A177-3AD203B41FA5}">
                      <a16:colId xmlns:a16="http://schemas.microsoft.com/office/drawing/2014/main" val="951990080"/>
                    </a:ext>
                  </a:extLst>
                </a:gridCol>
                <a:gridCol w="494790">
                  <a:extLst>
                    <a:ext uri="{9D8B030D-6E8A-4147-A177-3AD203B41FA5}">
                      <a16:colId xmlns:a16="http://schemas.microsoft.com/office/drawing/2014/main" val="3657641405"/>
                    </a:ext>
                  </a:extLst>
                </a:gridCol>
                <a:gridCol w="494790">
                  <a:extLst>
                    <a:ext uri="{9D8B030D-6E8A-4147-A177-3AD203B41FA5}">
                      <a16:colId xmlns:a16="http://schemas.microsoft.com/office/drawing/2014/main" val="37488595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i-1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i+1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j-1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j+1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8304724"/>
                  </a:ext>
                </a:extLst>
              </a:tr>
            </a:tbl>
          </a:graphicData>
        </a:graphic>
      </p:graphicFrame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C0E42CB5-C3CC-A14A-9E6F-BDF6C498F3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6451203"/>
              </p:ext>
            </p:extLst>
          </p:nvPr>
        </p:nvGraphicFramePr>
        <p:xfrm>
          <a:off x="1094563" y="5362512"/>
          <a:ext cx="6933024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5216">
                  <a:extLst>
                    <a:ext uri="{9D8B030D-6E8A-4147-A177-3AD203B41FA5}">
                      <a16:colId xmlns:a16="http://schemas.microsoft.com/office/drawing/2014/main" val="2829264351"/>
                    </a:ext>
                  </a:extLst>
                </a:gridCol>
                <a:gridCol w="495216">
                  <a:extLst>
                    <a:ext uri="{9D8B030D-6E8A-4147-A177-3AD203B41FA5}">
                      <a16:colId xmlns:a16="http://schemas.microsoft.com/office/drawing/2014/main" val="558341440"/>
                    </a:ext>
                  </a:extLst>
                </a:gridCol>
                <a:gridCol w="495216">
                  <a:extLst>
                    <a:ext uri="{9D8B030D-6E8A-4147-A177-3AD203B41FA5}">
                      <a16:colId xmlns:a16="http://schemas.microsoft.com/office/drawing/2014/main" val="4153794919"/>
                    </a:ext>
                  </a:extLst>
                </a:gridCol>
                <a:gridCol w="495216">
                  <a:extLst>
                    <a:ext uri="{9D8B030D-6E8A-4147-A177-3AD203B41FA5}">
                      <a16:colId xmlns:a16="http://schemas.microsoft.com/office/drawing/2014/main" val="245158847"/>
                    </a:ext>
                  </a:extLst>
                </a:gridCol>
                <a:gridCol w="495216">
                  <a:extLst>
                    <a:ext uri="{9D8B030D-6E8A-4147-A177-3AD203B41FA5}">
                      <a16:colId xmlns:a16="http://schemas.microsoft.com/office/drawing/2014/main" val="4093676585"/>
                    </a:ext>
                  </a:extLst>
                </a:gridCol>
                <a:gridCol w="495216">
                  <a:extLst>
                    <a:ext uri="{9D8B030D-6E8A-4147-A177-3AD203B41FA5}">
                      <a16:colId xmlns:a16="http://schemas.microsoft.com/office/drawing/2014/main" val="3597129913"/>
                    </a:ext>
                  </a:extLst>
                </a:gridCol>
                <a:gridCol w="495216">
                  <a:extLst>
                    <a:ext uri="{9D8B030D-6E8A-4147-A177-3AD203B41FA5}">
                      <a16:colId xmlns:a16="http://schemas.microsoft.com/office/drawing/2014/main" val="1996696060"/>
                    </a:ext>
                  </a:extLst>
                </a:gridCol>
                <a:gridCol w="495216">
                  <a:extLst>
                    <a:ext uri="{9D8B030D-6E8A-4147-A177-3AD203B41FA5}">
                      <a16:colId xmlns:a16="http://schemas.microsoft.com/office/drawing/2014/main" val="3254182740"/>
                    </a:ext>
                  </a:extLst>
                </a:gridCol>
                <a:gridCol w="495216">
                  <a:extLst>
                    <a:ext uri="{9D8B030D-6E8A-4147-A177-3AD203B41FA5}">
                      <a16:colId xmlns:a16="http://schemas.microsoft.com/office/drawing/2014/main" val="951990080"/>
                    </a:ext>
                  </a:extLst>
                </a:gridCol>
                <a:gridCol w="495216">
                  <a:extLst>
                    <a:ext uri="{9D8B030D-6E8A-4147-A177-3AD203B41FA5}">
                      <a16:colId xmlns:a16="http://schemas.microsoft.com/office/drawing/2014/main" val="4114244088"/>
                    </a:ext>
                  </a:extLst>
                </a:gridCol>
                <a:gridCol w="495216">
                  <a:extLst>
                    <a:ext uri="{9D8B030D-6E8A-4147-A177-3AD203B41FA5}">
                      <a16:colId xmlns:a16="http://schemas.microsoft.com/office/drawing/2014/main" val="2968736732"/>
                    </a:ext>
                  </a:extLst>
                </a:gridCol>
                <a:gridCol w="495216">
                  <a:extLst>
                    <a:ext uri="{9D8B030D-6E8A-4147-A177-3AD203B41FA5}">
                      <a16:colId xmlns:a16="http://schemas.microsoft.com/office/drawing/2014/main" val="2418738564"/>
                    </a:ext>
                  </a:extLst>
                </a:gridCol>
                <a:gridCol w="495216">
                  <a:extLst>
                    <a:ext uri="{9D8B030D-6E8A-4147-A177-3AD203B41FA5}">
                      <a16:colId xmlns:a16="http://schemas.microsoft.com/office/drawing/2014/main" val="3657641405"/>
                    </a:ext>
                  </a:extLst>
                </a:gridCol>
                <a:gridCol w="495216">
                  <a:extLst>
                    <a:ext uri="{9D8B030D-6E8A-4147-A177-3AD203B41FA5}">
                      <a16:colId xmlns:a16="http://schemas.microsoft.com/office/drawing/2014/main" val="3748859553"/>
                    </a:ext>
                  </a:extLst>
                </a:gridCol>
              </a:tblGrid>
              <a:tr h="316217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i-1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i+1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j-1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j+1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k-1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8304724"/>
                  </a:ext>
                </a:extLst>
              </a:tr>
            </a:tbl>
          </a:graphicData>
        </a:graphic>
      </p:graphicFrame>
      <p:graphicFrame>
        <p:nvGraphicFramePr>
          <p:cNvPr id="10" name="表格 8">
            <a:extLst>
              <a:ext uri="{FF2B5EF4-FFF2-40B4-BE49-F238E27FC236}">
                <a16:creationId xmlns:a16="http://schemas.microsoft.com/office/drawing/2014/main" id="{EE40100D-AF70-124F-80F4-DFA6949A57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7030308"/>
              </p:ext>
            </p:extLst>
          </p:nvPr>
        </p:nvGraphicFramePr>
        <p:xfrm>
          <a:off x="1094563" y="4101382"/>
          <a:ext cx="544269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4790">
                  <a:extLst>
                    <a:ext uri="{9D8B030D-6E8A-4147-A177-3AD203B41FA5}">
                      <a16:colId xmlns:a16="http://schemas.microsoft.com/office/drawing/2014/main" val="2829264351"/>
                    </a:ext>
                  </a:extLst>
                </a:gridCol>
                <a:gridCol w="494790">
                  <a:extLst>
                    <a:ext uri="{9D8B030D-6E8A-4147-A177-3AD203B41FA5}">
                      <a16:colId xmlns:a16="http://schemas.microsoft.com/office/drawing/2014/main" val="558341440"/>
                    </a:ext>
                  </a:extLst>
                </a:gridCol>
                <a:gridCol w="494790">
                  <a:extLst>
                    <a:ext uri="{9D8B030D-6E8A-4147-A177-3AD203B41FA5}">
                      <a16:colId xmlns:a16="http://schemas.microsoft.com/office/drawing/2014/main" val="4153794919"/>
                    </a:ext>
                  </a:extLst>
                </a:gridCol>
                <a:gridCol w="494790">
                  <a:extLst>
                    <a:ext uri="{9D8B030D-6E8A-4147-A177-3AD203B41FA5}">
                      <a16:colId xmlns:a16="http://schemas.microsoft.com/office/drawing/2014/main" val="245158847"/>
                    </a:ext>
                  </a:extLst>
                </a:gridCol>
                <a:gridCol w="494790">
                  <a:extLst>
                    <a:ext uri="{9D8B030D-6E8A-4147-A177-3AD203B41FA5}">
                      <a16:colId xmlns:a16="http://schemas.microsoft.com/office/drawing/2014/main" val="4093676585"/>
                    </a:ext>
                  </a:extLst>
                </a:gridCol>
                <a:gridCol w="494790">
                  <a:extLst>
                    <a:ext uri="{9D8B030D-6E8A-4147-A177-3AD203B41FA5}">
                      <a16:colId xmlns:a16="http://schemas.microsoft.com/office/drawing/2014/main" val="3597129913"/>
                    </a:ext>
                  </a:extLst>
                </a:gridCol>
                <a:gridCol w="494790">
                  <a:extLst>
                    <a:ext uri="{9D8B030D-6E8A-4147-A177-3AD203B41FA5}">
                      <a16:colId xmlns:a16="http://schemas.microsoft.com/office/drawing/2014/main" val="1996696060"/>
                    </a:ext>
                  </a:extLst>
                </a:gridCol>
                <a:gridCol w="494790">
                  <a:extLst>
                    <a:ext uri="{9D8B030D-6E8A-4147-A177-3AD203B41FA5}">
                      <a16:colId xmlns:a16="http://schemas.microsoft.com/office/drawing/2014/main" val="3254182740"/>
                    </a:ext>
                  </a:extLst>
                </a:gridCol>
                <a:gridCol w="494790">
                  <a:extLst>
                    <a:ext uri="{9D8B030D-6E8A-4147-A177-3AD203B41FA5}">
                      <a16:colId xmlns:a16="http://schemas.microsoft.com/office/drawing/2014/main" val="951990080"/>
                    </a:ext>
                  </a:extLst>
                </a:gridCol>
                <a:gridCol w="494790">
                  <a:extLst>
                    <a:ext uri="{9D8B030D-6E8A-4147-A177-3AD203B41FA5}">
                      <a16:colId xmlns:a16="http://schemas.microsoft.com/office/drawing/2014/main" val="3657641405"/>
                    </a:ext>
                  </a:extLst>
                </a:gridCol>
                <a:gridCol w="494790">
                  <a:extLst>
                    <a:ext uri="{9D8B030D-6E8A-4147-A177-3AD203B41FA5}">
                      <a16:colId xmlns:a16="http://schemas.microsoft.com/office/drawing/2014/main" val="37488595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i-1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j-1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i+1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j+1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8304724"/>
                  </a:ext>
                </a:extLst>
              </a:tr>
            </a:tbl>
          </a:graphicData>
        </a:graphic>
      </p:graphicFrame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86C59103-DFBD-9243-AD4A-A8F536247D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5768305"/>
              </p:ext>
            </p:extLst>
          </p:nvPr>
        </p:nvGraphicFramePr>
        <p:xfrm>
          <a:off x="1094563" y="6020160"/>
          <a:ext cx="6933024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5216">
                  <a:extLst>
                    <a:ext uri="{9D8B030D-6E8A-4147-A177-3AD203B41FA5}">
                      <a16:colId xmlns:a16="http://schemas.microsoft.com/office/drawing/2014/main" val="2829264351"/>
                    </a:ext>
                  </a:extLst>
                </a:gridCol>
                <a:gridCol w="495216">
                  <a:extLst>
                    <a:ext uri="{9D8B030D-6E8A-4147-A177-3AD203B41FA5}">
                      <a16:colId xmlns:a16="http://schemas.microsoft.com/office/drawing/2014/main" val="558341440"/>
                    </a:ext>
                  </a:extLst>
                </a:gridCol>
                <a:gridCol w="495216">
                  <a:extLst>
                    <a:ext uri="{9D8B030D-6E8A-4147-A177-3AD203B41FA5}">
                      <a16:colId xmlns:a16="http://schemas.microsoft.com/office/drawing/2014/main" val="4153794919"/>
                    </a:ext>
                  </a:extLst>
                </a:gridCol>
                <a:gridCol w="495216">
                  <a:extLst>
                    <a:ext uri="{9D8B030D-6E8A-4147-A177-3AD203B41FA5}">
                      <a16:colId xmlns:a16="http://schemas.microsoft.com/office/drawing/2014/main" val="245158847"/>
                    </a:ext>
                  </a:extLst>
                </a:gridCol>
                <a:gridCol w="495216">
                  <a:extLst>
                    <a:ext uri="{9D8B030D-6E8A-4147-A177-3AD203B41FA5}">
                      <a16:colId xmlns:a16="http://schemas.microsoft.com/office/drawing/2014/main" val="4093676585"/>
                    </a:ext>
                  </a:extLst>
                </a:gridCol>
                <a:gridCol w="495216">
                  <a:extLst>
                    <a:ext uri="{9D8B030D-6E8A-4147-A177-3AD203B41FA5}">
                      <a16:colId xmlns:a16="http://schemas.microsoft.com/office/drawing/2014/main" val="3597129913"/>
                    </a:ext>
                  </a:extLst>
                </a:gridCol>
                <a:gridCol w="495216">
                  <a:extLst>
                    <a:ext uri="{9D8B030D-6E8A-4147-A177-3AD203B41FA5}">
                      <a16:colId xmlns:a16="http://schemas.microsoft.com/office/drawing/2014/main" val="1996696060"/>
                    </a:ext>
                  </a:extLst>
                </a:gridCol>
                <a:gridCol w="495216">
                  <a:extLst>
                    <a:ext uri="{9D8B030D-6E8A-4147-A177-3AD203B41FA5}">
                      <a16:colId xmlns:a16="http://schemas.microsoft.com/office/drawing/2014/main" val="3254182740"/>
                    </a:ext>
                  </a:extLst>
                </a:gridCol>
                <a:gridCol w="495216">
                  <a:extLst>
                    <a:ext uri="{9D8B030D-6E8A-4147-A177-3AD203B41FA5}">
                      <a16:colId xmlns:a16="http://schemas.microsoft.com/office/drawing/2014/main" val="951990080"/>
                    </a:ext>
                  </a:extLst>
                </a:gridCol>
                <a:gridCol w="495216">
                  <a:extLst>
                    <a:ext uri="{9D8B030D-6E8A-4147-A177-3AD203B41FA5}">
                      <a16:colId xmlns:a16="http://schemas.microsoft.com/office/drawing/2014/main" val="4114244088"/>
                    </a:ext>
                  </a:extLst>
                </a:gridCol>
                <a:gridCol w="495216">
                  <a:extLst>
                    <a:ext uri="{9D8B030D-6E8A-4147-A177-3AD203B41FA5}">
                      <a16:colId xmlns:a16="http://schemas.microsoft.com/office/drawing/2014/main" val="2968736732"/>
                    </a:ext>
                  </a:extLst>
                </a:gridCol>
                <a:gridCol w="495216">
                  <a:extLst>
                    <a:ext uri="{9D8B030D-6E8A-4147-A177-3AD203B41FA5}">
                      <a16:colId xmlns:a16="http://schemas.microsoft.com/office/drawing/2014/main" val="2418738564"/>
                    </a:ext>
                  </a:extLst>
                </a:gridCol>
                <a:gridCol w="495216">
                  <a:extLst>
                    <a:ext uri="{9D8B030D-6E8A-4147-A177-3AD203B41FA5}">
                      <a16:colId xmlns:a16="http://schemas.microsoft.com/office/drawing/2014/main" val="3657641405"/>
                    </a:ext>
                  </a:extLst>
                </a:gridCol>
                <a:gridCol w="495216">
                  <a:extLst>
                    <a:ext uri="{9D8B030D-6E8A-4147-A177-3AD203B41FA5}">
                      <a16:colId xmlns:a16="http://schemas.microsoft.com/office/drawing/2014/main" val="3748859553"/>
                    </a:ext>
                  </a:extLst>
                </a:gridCol>
              </a:tblGrid>
              <a:tr h="316217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i-1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j+1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k-1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i+1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j-1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8304724"/>
                  </a:ext>
                </a:extLst>
              </a:tr>
            </a:tbl>
          </a:graphicData>
        </a:graphic>
      </p:graphicFrame>
      <p:sp>
        <p:nvSpPr>
          <p:cNvPr id="15" name="文字方塊 14">
            <a:extLst>
              <a:ext uri="{FF2B5EF4-FFF2-40B4-BE49-F238E27FC236}">
                <a16:creationId xmlns:a16="http://schemas.microsoft.com/office/drawing/2014/main" id="{04FE57F2-119D-EF4A-915E-E7BE24BDAE35}"/>
              </a:ext>
            </a:extLst>
          </p:cNvPr>
          <p:cNvSpPr txBox="1"/>
          <p:nvPr/>
        </p:nvSpPr>
        <p:spPr>
          <a:xfrm>
            <a:off x="6530248" y="3433344"/>
            <a:ext cx="335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𝛑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54F5F86D-996E-5F46-B747-A50AC68FDAEC}"/>
              </a:ext>
            </a:extLst>
          </p:cNvPr>
          <p:cNvSpPr txBox="1"/>
          <p:nvPr/>
        </p:nvSpPr>
        <p:spPr>
          <a:xfrm>
            <a:off x="6564460" y="4102890"/>
            <a:ext cx="12715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𝛑 × </a:t>
            </a:r>
            <a:r>
              <a:rPr kumimoji="1"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ρ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r(</a:t>
            </a:r>
            <a:r>
              <a:rPr kumimoji="1"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j)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D4ED554F-4B65-9A4B-A6BF-DF9C3F833BF9}"/>
              </a:ext>
            </a:extLst>
          </p:cNvPr>
          <p:cNvSpPr txBox="1"/>
          <p:nvPr/>
        </p:nvSpPr>
        <p:spPr>
          <a:xfrm>
            <a:off x="8054248" y="5340400"/>
            <a:ext cx="335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𝛑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6E275ACE-50B7-144A-9F58-5C311DD393D2}"/>
              </a:ext>
            </a:extLst>
          </p:cNvPr>
          <p:cNvSpPr txBox="1"/>
          <p:nvPr/>
        </p:nvSpPr>
        <p:spPr>
          <a:xfrm>
            <a:off x="8088460" y="6009946"/>
            <a:ext cx="14686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𝛑 ×</a:t>
            </a:r>
            <a:r>
              <a:rPr kumimoji="1"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ρ</a:t>
            </a:r>
            <a:r>
              <a:rPr kumimoji="1"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j, k)</a:t>
            </a:r>
          </a:p>
        </p:txBody>
      </p:sp>
    </p:spTree>
    <p:extLst>
      <p:ext uri="{BB962C8B-B14F-4D97-AF65-F5344CB8AC3E}">
        <p14:creationId xmlns:p14="http://schemas.microsoft.com/office/powerpoint/2010/main" val="33093996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Previous algorithms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8C395C6-3EBC-4D47-9C22-52A1E36DD1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42412"/>
            <a:ext cx="10515600" cy="3713938"/>
          </a:xfrm>
        </p:spPr>
        <p:txBody>
          <a:bodyPr/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Lemma 1. ∆</a:t>
            </a:r>
            <a:r>
              <a:rPr kumimoji="1"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kumimoji="1" lang="en-US" altLang="zh-TW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π, ρ</a:t>
            </a:r>
            <a:r>
              <a:rPr kumimoji="1"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) ∈ {−1, 0, 1}</a:t>
            </a:r>
          </a:p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Lemma 2. </a:t>
            </a:r>
            <a:r>
              <a:rPr kumimoji="1"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kumimoji="1" lang="en-US" altLang="zh-TW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π) ≤ </a:t>
            </a:r>
            <a:r>
              <a:rPr kumimoji="1"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kumimoji="1" lang="en-US" altLang="zh-TW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kumimoji="1"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π) ≤ 2</a:t>
            </a:r>
            <a:r>
              <a:rPr kumimoji="1"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kumimoji="1" lang="en-US" altLang="zh-TW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π)</a:t>
            </a:r>
            <a:endParaRPr kumimoji="1"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Lemma 3. ∆</a:t>
            </a:r>
            <a:r>
              <a:rPr kumimoji="1"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kumimoji="1" lang="en-US" altLang="zh-TW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π,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ρ</a:t>
            </a:r>
            <a:r>
              <a:rPr kumimoji="1" lang="en-US" altLang="zh-TW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∆</a:t>
            </a:r>
            <a:r>
              <a:rPr kumimoji="1"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kumimoji="1" lang="en-US" altLang="zh-TW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π,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ρ</a:t>
            </a:r>
            <a:r>
              <a:rPr kumimoji="1" lang="en-US" altLang="zh-TW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∈ {−2, −1, 0, 1, 2}</a:t>
            </a:r>
          </a:p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Lemma 4. </a:t>
            </a:r>
            <a:r>
              <a:rPr kumimoji="1"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kumimoji="1" lang="en-US" altLang="zh-TW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π)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2</a:t>
            </a:r>
            <a:r>
              <a:rPr kumimoji="1"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≤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kumimoji="1" lang="en-US" altLang="zh-TW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π)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≤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kumimoji="1" lang="en-US" altLang="zh-TW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π)−1</a:t>
            </a:r>
            <a:endParaRPr kumimoji="1"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Lemma 5. </a:t>
            </a:r>
            <a:r>
              <a:rPr kumimoji="1"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kumimoji="1" lang="en-US" altLang="zh-TW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prpt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π) ≥ </a:t>
            </a:r>
            <a:r>
              <a:rPr kumimoji="1"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kumimoji="1" lang="en-US" altLang="zh-TW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π)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2</a:t>
            </a:r>
          </a:p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Lemma 6. ∆</a:t>
            </a:r>
            <a:r>
              <a:rPr kumimoji="1"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kumimoji="1" lang="en-US" altLang="zh-TW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1"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π,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ρ</a:t>
            </a:r>
            <a:r>
              <a:rPr kumimoji="1"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∈ {−n, −(n−1) ,... ,−1 ,0 ,1 ,... ,n−1 ,n}</a:t>
            </a:r>
          </a:p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Lemma 7. </a:t>
            </a:r>
            <a:r>
              <a:rPr kumimoji="1"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kumimoji="1" lang="en-US" altLang="zh-TW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prpt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kumimoji="1"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π) ≥ </a:t>
            </a:r>
            <a:r>
              <a:rPr kumimoji="1"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kumimoji="1" lang="en-US" altLang="zh-TW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kumimoji="1"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π)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n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5</a:t>
            </a:fld>
            <a:endParaRPr kumimoji="1" lang="zh-TW" altLang="en-US"/>
          </a:p>
        </p:txBody>
      </p:sp>
      <p:graphicFrame>
        <p:nvGraphicFramePr>
          <p:cNvPr id="5" name="表格 8">
            <a:extLst>
              <a:ext uri="{FF2B5EF4-FFF2-40B4-BE49-F238E27FC236}">
                <a16:creationId xmlns:a16="http://schemas.microsoft.com/office/drawing/2014/main" id="{3444ECEA-685A-0842-AA49-129BB5A76B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7980252"/>
              </p:ext>
            </p:extLst>
          </p:nvPr>
        </p:nvGraphicFramePr>
        <p:xfrm>
          <a:off x="1222154" y="1502411"/>
          <a:ext cx="4980177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3353">
                  <a:extLst>
                    <a:ext uri="{9D8B030D-6E8A-4147-A177-3AD203B41FA5}">
                      <a16:colId xmlns:a16="http://schemas.microsoft.com/office/drawing/2014/main" val="4153794919"/>
                    </a:ext>
                  </a:extLst>
                </a:gridCol>
                <a:gridCol w="553353">
                  <a:extLst>
                    <a:ext uri="{9D8B030D-6E8A-4147-A177-3AD203B41FA5}">
                      <a16:colId xmlns:a16="http://schemas.microsoft.com/office/drawing/2014/main" val="245158847"/>
                    </a:ext>
                  </a:extLst>
                </a:gridCol>
                <a:gridCol w="553353">
                  <a:extLst>
                    <a:ext uri="{9D8B030D-6E8A-4147-A177-3AD203B41FA5}">
                      <a16:colId xmlns:a16="http://schemas.microsoft.com/office/drawing/2014/main" val="4093676585"/>
                    </a:ext>
                  </a:extLst>
                </a:gridCol>
                <a:gridCol w="553353">
                  <a:extLst>
                    <a:ext uri="{9D8B030D-6E8A-4147-A177-3AD203B41FA5}">
                      <a16:colId xmlns:a16="http://schemas.microsoft.com/office/drawing/2014/main" val="3597129913"/>
                    </a:ext>
                  </a:extLst>
                </a:gridCol>
                <a:gridCol w="553353">
                  <a:extLst>
                    <a:ext uri="{9D8B030D-6E8A-4147-A177-3AD203B41FA5}">
                      <a16:colId xmlns:a16="http://schemas.microsoft.com/office/drawing/2014/main" val="1996696060"/>
                    </a:ext>
                  </a:extLst>
                </a:gridCol>
                <a:gridCol w="553353">
                  <a:extLst>
                    <a:ext uri="{9D8B030D-6E8A-4147-A177-3AD203B41FA5}">
                      <a16:colId xmlns:a16="http://schemas.microsoft.com/office/drawing/2014/main" val="3254182740"/>
                    </a:ext>
                  </a:extLst>
                </a:gridCol>
                <a:gridCol w="553353">
                  <a:extLst>
                    <a:ext uri="{9D8B030D-6E8A-4147-A177-3AD203B41FA5}">
                      <a16:colId xmlns:a16="http://schemas.microsoft.com/office/drawing/2014/main" val="951990080"/>
                    </a:ext>
                  </a:extLst>
                </a:gridCol>
                <a:gridCol w="553353">
                  <a:extLst>
                    <a:ext uri="{9D8B030D-6E8A-4147-A177-3AD203B41FA5}">
                      <a16:colId xmlns:a16="http://schemas.microsoft.com/office/drawing/2014/main" val="3657641405"/>
                    </a:ext>
                  </a:extLst>
                </a:gridCol>
                <a:gridCol w="553353">
                  <a:extLst>
                    <a:ext uri="{9D8B030D-6E8A-4147-A177-3AD203B41FA5}">
                      <a16:colId xmlns:a16="http://schemas.microsoft.com/office/drawing/2014/main" val="37488595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j-1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j+1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n+1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8304724"/>
                  </a:ext>
                </a:extLst>
              </a:tr>
            </a:tbl>
          </a:graphicData>
        </a:graphic>
      </p:graphicFrame>
      <p:sp>
        <p:nvSpPr>
          <p:cNvPr id="7" name="文字方塊 6">
            <a:extLst>
              <a:ext uri="{FF2B5EF4-FFF2-40B4-BE49-F238E27FC236}">
                <a16:creationId xmlns:a16="http://schemas.microsoft.com/office/drawing/2014/main" id="{61377B0C-3A03-2C41-94F1-8039ACB8BA14}"/>
              </a:ext>
            </a:extLst>
          </p:cNvPr>
          <p:cNvSpPr txBox="1"/>
          <p:nvPr/>
        </p:nvSpPr>
        <p:spPr>
          <a:xfrm>
            <a:off x="6240716" y="1502411"/>
            <a:ext cx="1194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𝛑 × </a:t>
            </a:r>
            <a:r>
              <a:rPr kumimoji="1"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ρ</a:t>
            </a:r>
            <a:r>
              <a:rPr kumimoji="1" lang="en-US" altLang="zh-TW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(k)</a:t>
            </a: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E068C953-F358-AB48-B554-FB33C5A9FE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8083983"/>
              </p:ext>
            </p:extLst>
          </p:nvPr>
        </p:nvGraphicFramePr>
        <p:xfrm>
          <a:off x="1222155" y="2069844"/>
          <a:ext cx="6616992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1416">
                  <a:extLst>
                    <a:ext uri="{9D8B030D-6E8A-4147-A177-3AD203B41FA5}">
                      <a16:colId xmlns:a16="http://schemas.microsoft.com/office/drawing/2014/main" val="2829264351"/>
                    </a:ext>
                  </a:extLst>
                </a:gridCol>
                <a:gridCol w="551416">
                  <a:extLst>
                    <a:ext uri="{9D8B030D-6E8A-4147-A177-3AD203B41FA5}">
                      <a16:colId xmlns:a16="http://schemas.microsoft.com/office/drawing/2014/main" val="245158847"/>
                    </a:ext>
                  </a:extLst>
                </a:gridCol>
                <a:gridCol w="551416">
                  <a:extLst>
                    <a:ext uri="{9D8B030D-6E8A-4147-A177-3AD203B41FA5}">
                      <a16:colId xmlns:a16="http://schemas.microsoft.com/office/drawing/2014/main" val="4093676585"/>
                    </a:ext>
                  </a:extLst>
                </a:gridCol>
                <a:gridCol w="551416">
                  <a:extLst>
                    <a:ext uri="{9D8B030D-6E8A-4147-A177-3AD203B41FA5}">
                      <a16:colId xmlns:a16="http://schemas.microsoft.com/office/drawing/2014/main" val="3597129913"/>
                    </a:ext>
                  </a:extLst>
                </a:gridCol>
                <a:gridCol w="551416">
                  <a:extLst>
                    <a:ext uri="{9D8B030D-6E8A-4147-A177-3AD203B41FA5}">
                      <a16:colId xmlns:a16="http://schemas.microsoft.com/office/drawing/2014/main" val="1996696060"/>
                    </a:ext>
                  </a:extLst>
                </a:gridCol>
                <a:gridCol w="551416">
                  <a:extLst>
                    <a:ext uri="{9D8B030D-6E8A-4147-A177-3AD203B41FA5}">
                      <a16:colId xmlns:a16="http://schemas.microsoft.com/office/drawing/2014/main" val="3254182740"/>
                    </a:ext>
                  </a:extLst>
                </a:gridCol>
                <a:gridCol w="551416">
                  <a:extLst>
                    <a:ext uri="{9D8B030D-6E8A-4147-A177-3AD203B41FA5}">
                      <a16:colId xmlns:a16="http://schemas.microsoft.com/office/drawing/2014/main" val="951990080"/>
                    </a:ext>
                  </a:extLst>
                </a:gridCol>
                <a:gridCol w="551416">
                  <a:extLst>
                    <a:ext uri="{9D8B030D-6E8A-4147-A177-3AD203B41FA5}">
                      <a16:colId xmlns:a16="http://schemas.microsoft.com/office/drawing/2014/main" val="4114244088"/>
                    </a:ext>
                  </a:extLst>
                </a:gridCol>
                <a:gridCol w="551416">
                  <a:extLst>
                    <a:ext uri="{9D8B030D-6E8A-4147-A177-3AD203B41FA5}">
                      <a16:colId xmlns:a16="http://schemas.microsoft.com/office/drawing/2014/main" val="2968736732"/>
                    </a:ext>
                  </a:extLst>
                </a:gridCol>
                <a:gridCol w="551416">
                  <a:extLst>
                    <a:ext uri="{9D8B030D-6E8A-4147-A177-3AD203B41FA5}">
                      <a16:colId xmlns:a16="http://schemas.microsoft.com/office/drawing/2014/main" val="2418738564"/>
                    </a:ext>
                  </a:extLst>
                </a:gridCol>
                <a:gridCol w="551416">
                  <a:extLst>
                    <a:ext uri="{9D8B030D-6E8A-4147-A177-3AD203B41FA5}">
                      <a16:colId xmlns:a16="http://schemas.microsoft.com/office/drawing/2014/main" val="3657641405"/>
                    </a:ext>
                  </a:extLst>
                </a:gridCol>
                <a:gridCol w="551416">
                  <a:extLst>
                    <a:ext uri="{9D8B030D-6E8A-4147-A177-3AD203B41FA5}">
                      <a16:colId xmlns:a16="http://schemas.microsoft.com/office/drawing/2014/main" val="3748859553"/>
                    </a:ext>
                  </a:extLst>
                </a:gridCol>
              </a:tblGrid>
              <a:tr h="316217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j+1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k-1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j-1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n+1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8304724"/>
                  </a:ext>
                </a:extLst>
              </a:tr>
            </a:tbl>
          </a:graphicData>
        </a:graphic>
      </p:graphicFrame>
      <p:sp>
        <p:nvSpPr>
          <p:cNvPr id="9" name="文字方塊 8">
            <a:extLst>
              <a:ext uri="{FF2B5EF4-FFF2-40B4-BE49-F238E27FC236}">
                <a16:creationId xmlns:a16="http://schemas.microsoft.com/office/drawing/2014/main" id="{8180CF52-AE18-9240-84E3-349A9A98BDAD}"/>
              </a:ext>
            </a:extLst>
          </p:cNvPr>
          <p:cNvSpPr txBox="1"/>
          <p:nvPr/>
        </p:nvSpPr>
        <p:spPr>
          <a:xfrm>
            <a:off x="7807248" y="2058122"/>
            <a:ext cx="14093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𝛑 ×</a:t>
            </a:r>
            <a:r>
              <a:rPr kumimoji="1"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ρ</a:t>
            </a:r>
            <a:r>
              <a:rPr kumimoji="1" lang="en-US" altLang="zh-TW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(j, k)</a:t>
            </a:r>
          </a:p>
        </p:txBody>
      </p:sp>
    </p:spTree>
    <p:extLst>
      <p:ext uri="{BB962C8B-B14F-4D97-AF65-F5344CB8AC3E}">
        <p14:creationId xmlns:p14="http://schemas.microsoft.com/office/powerpoint/2010/main" val="20490902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9507" y="500301"/>
            <a:ext cx="4463901" cy="1325563"/>
          </a:xfrm>
        </p:spPr>
        <p:txBody>
          <a:bodyPr>
            <a:normAutofit/>
          </a:bodyPr>
          <a:lstStyle/>
          <a:p>
            <a:r>
              <a:rPr kumimoji="1" lang="en-US" altLang="zh-TW" dirty="0"/>
              <a:t>2-app pseudocode</a:t>
            </a:r>
            <a:endParaRPr kumimoji="1" lang="zh-TW" alt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6</a:t>
            </a:fld>
            <a:endParaRPr kumimoji="1"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36148F24-7CE2-FC48-9151-4CA16A3041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615" y="500301"/>
            <a:ext cx="5694692" cy="5857398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9460A7DD-3C9F-1A4B-AF91-16B0E82BEB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5915" y="1990001"/>
            <a:ext cx="5672470" cy="4355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9543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Removing prefix reversal breakpoints (1/2)</a:t>
            </a:r>
            <a:endParaRPr kumimoji="1" lang="zh-TW" alt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7</a:t>
            </a:fld>
            <a:endParaRPr kumimoji="1"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4A4AC6F7-A67F-EF46-BE04-1F7308B091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823" y="1435500"/>
            <a:ext cx="11078354" cy="4073859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573F49BC-155F-F447-AD50-3804BE5C0262}"/>
              </a:ext>
            </a:extLst>
          </p:cNvPr>
          <p:cNvSpPr/>
          <p:nvPr/>
        </p:nvSpPr>
        <p:spPr>
          <a:xfrm>
            <a:off x="556823" y="5477460"/>
            <a:ext cx="112084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Fig. 1. Scenarios where we can remove </a:t>
            </a:r>
            <a:r>
              <a:rPr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two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prefix reversal breakpoints. In addition, Algorithm  forces c  ≠ 1.</a:t>
            </a:r>
            <a:endParaRPr lang="en-US" altLang="zh-TW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直線箭頭接點 10">
            <a:extLst>
              <a:ext uri="{FF2B5EF4-FFF2-40B4-BE49-F238E27FC236}">
                <a16:creationId xmlns:a16="http://schemas.microsoft.com/office/drawing/2014/main" id="{E0DAB86E-15DE-7344-B104-E0562C5F707B}"/>
              </a:ext>
            </a:extLst>
          </p:cNvPr>
          <p:cNvCxnSpPr/>
          <p:nvPr/>
        </p:nvCxnSpPr>
        <p:spPr>
          <a:xfrm>
            <a:off x="2966484" y="3051538"/>
            <a:ext cx="637953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2" name="直線箭頭接點 11">
            <a:extLst>
              <a:ext uri="{FF2B5EF4-FFF2-40B4-BE49-F238E27FC236}">
                <a16:creationId xmlns:a16="http://schemas.microsoft.com/office/drawing/2014/main" id="{A1357CA1-220D-9549-811A-B33397D78C35}"/>
              </a:ext>
            </a:extLst>
          </p:cNvPr>
          <p:cNvCxnSpPr/>
          <p:nvPr/>
        </p:nvCxnSpPr>
        <p:spPr>
          <a:xfrm>
            <a:off x="8392633" y="3051538"/>
            <a:ext cx="637953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3" name="直線箭頭接點 12">
            <a:extLst>
              <a:ext uri="{FF2B5EF4-FFF2-40B4-BE49-F238E27FC236}">
                <a16:creationId xmlns:a16="http://schemas.microsoft.com/office/drawing/2014/main" id="{64C9C55B-38D5-4A45-A58A-D55D88BDD2D4}"/>
              </a:ext>
            </a:extLst>
          </p:cNvPr>
          <p:cNvCxnSpPr/>
          <p:nvPr/>
        </p:nvCxnSpPr>
        <p:spPr>
          <a:xfrm>
            <a:off x="4089992" y="5139064"/>
            <a:ext cx="637953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4" name="直線箭頭接點 13">
            <a:extLst>
              <a:ext uri="{FF2B5EF4-FFF2-40B4-BE49-F238E27FC236}">
                <a16:creationId xmlns:a16="http://schemas.microsoft.com/office/drawing/2014/main" id="{BD5EE565-9404-9D4B-8790-DAC0D4AA983E}"/>
              </a:ext>
            </a:extLst>
          </p:cNvPr>
          <p:cNvCxnSpPr/>
          <p:nvPr/>
        </p:nvCxnSpPr>
        <p:spPr>
          <a:xfrm>
            <a:off x="4089992" y="3051538"/>
            <a:ext cx="637953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7" name="直線箭頭接點 16">
            <a:extLst>
              <a:ext uri="{FF2B5EF4-FFF2-40B4-BE49-F238E27FC236}">
                <a16:creationId xmlns:a16="http://schemas.microsoft.com/office/drawing/2014/main" id="{4DA12552-14CF-D34C-9DBF-11102C3A71D1}"/>
              </a:ext>
            </a:extLst>
          </p:cNvPr>
          <p:cNvCxnSpPr>
            <a:cxnSpLocks/>
          </p:cNvCxnSpPr>
          <p:nvPr/>
        </p:nvCxnSpPr>
        <p:spPr>
          <a:xfrm flipH="1">
            <a:off x="2853068" y="5139064"/>
            <a:ext cx="71947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箭頭接點 19">
            <a:extLst>
              <a:ext uri="{FF2B5EF4-FFF2-40B4-BE49-F238E27FC236}">
                <a16:creationId xmlns:a16="http://schemas.microsoft.com/office/drawing/2014/main" id="{6A38987F-3FC5-B94D-8406-66F8D26EE759}"/>
              </a:ext>
            </a:extLst>
          </p:cNvPr>
          <p:cNvCxnSpPr>
            <a:cxnSpLocks/>
          </p:cNvCxnSpPr>
          <p:nvPr/>
        </p:nvCxnSpPr>
        <p:spPr>
          <a:xfrm flipH="1">
            <a:off x="9501961" y="3047994"/>
            <a:ext cx="71947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箭頭接點 20">
            <a:extLst>
              <a:ext uri="{FF2B5EF4-FFF2-40B4-BE49-F238E27FC236}">
                <a16:creationId xmlns:a16="http://schemas.microsoft.com/office/drawing/2014/main" id="{97C0AEAB-0290-7948-9AEE-CE44A89407A3}"/>
              </a:ext>
            </a:extLst>
          </p:cNvPr>
          <p:cNvCxnSpPr>
            <a:cxnSpLocks/>
          </p:cNvCxnSpPr>
          <p:nvPr/>
        </p:nvCxnSpPr>
        <p:spPr>
          <a:xfrm flipH="1">
            <a:off x="9501961" y="5146153"/>
            <a:ext cx="71947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箭頭接點 21">
            <a:extLst>
              <a:ext uri="{FF2B5EF4-FFF2-40B4-BE49-F238E27FC236}">
                <a16:creationId xmlns:a16="http://schemas.microsoft.com/office/drawing/2014/main" id="{DB6CF19E-69A7-9846-A800-599B94533CF6}"/>
              </a:ext>
            </a:extLst>
          </p:cNvPr>
          <p:cNvCxnSpPr>
            <a:cxnSpLocks/>
          </p:cNvCxnSpPr>
          <p:nvPr/>
        </p:nvCxnSpPr>
        <p:spPr>
          <a:xfrm flipH="1">
            <a:off x="8334152" y="5149698"/>
            <a:ext cx="71947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9E7CF718-473E-D349-A0D3-2AE4AEE36047}"/>
              </a:ext>
            </a:extLst>
          </p:cNvPr>
          <p:cNvSpPr txBox="1"/>
          <p:nvPr/>
        </p:nvSpPr>
        <p:spPr>
          <a:xfrm>
            <a:off x="3604437" y="1817482"/>
            <a:ext cx="1217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dirty="0">
                <a:solidFill>
                  <a:srgbClr val="FF0000"/>
                </a:solidFill>
              </a:rPr>
              <a:t>Ⓐ</a:t>
            </a:r>
            <a:r>
              <a:rPr kumimoji="1" lang="en-US" altLang="zh-TW" dirty="0">
                <a:solidFill>
                  <a:srgbClr val="FF0000"/>
                </a:solidFill>
              </a:rPr>
              <a:t>           </a:t>
            </a:r>
            <a:r>
              <a:rPr kumimoji="1" lang="zh-TW" altLang="en-US" dirty="0">
                <a:solidFill>
                  <a:srgbClr val="FF0000"/>
                </a:solidFill>
              </a:rPr>
              <a:t>Ⓓ</a:t>
            </a:r>
          </a:p>
        </p:txBody>
      </p:sp>
      <p:graphicFrame>
        <p:nvGraphicFramePr>
          <p:cNvPr id="26" name="表格 26">
            <a:extLst>
              <a:ext uri="{FF2B5EF4-FFF2-40B4-BE49-F238E27FC236}">
                <a16:creationId xmlns:a16="http://schemas.microsoft.com/office/drawing/2014/main" id="{DEB89A41-5212-3A45-9664-A8FEAD802C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3817701"/>
              </p:ext>
            </p:extLst>
          </p:nvPr>
        </p:nvGraphicFramePr>
        <p:xfrm>
          <a:off x="657443" y="5896312"/>
          <a:ext cx="3302044" cy="7924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25511">
                  <a:extLst>
                    <a:ext uri="{9D8B030D-6E8A-4147-A177-3AD203B41FA5}">
                      <a16:colId xmlns:a16="http://schemas.microsoft.com/office/drawing/2014/main" val="1275335217"/>
                    </a:ext>
                  </a:extLst>
                </a:gridCol>
                <a:gridCol w="825511">
                  <a:extLst>
                    <a:ext uri="{9D8B030D-6E8A-4147-A177-3AD203B41FA5}">
                      <a16:colId xmlns:a16="http://schemas.microsoft.com/office/drawing/2014/main" val="3682484876"/>
                    </a:ext>
                  </a:extLst>
                </a:gridCol>
                <a:gridCol w="825511">
                  <a:extLst>
                    <a:ext uri="{9D8B030D-6E8A-4147-A177-3AD203B41FA5}">
                      <a16:colId xmlns:a16="http://schemas.microsoft.com/office/drawing/2014/main" val="3742433878"/>
                    </a:ext>
                  </a:extLst>
                </a:gridCol>
                <a:gridCol w="825511">
                  <a:extLst>
                    <a:ext uri="{9D8B030D-6E8A-4147-A177-3AD203B41FA5}">
                      <a16:colId xmlns:a16="http://schemas.microsoft.com/office/drawing/2014/main" val="30491008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zh-TW" altLang="en-US" sz="20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Ⓐ</a:t>
                      </a:r>
                      <a:endParaRPr lang="zh-TW" altLang="en-US" sz="20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zh-TW" altLang="en-US" sz="20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Ⓑ</a:t>
                      </a:r>
                      <a:endParaRPr lang="zh-TW" altLang="en-US" sz="20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zh-TW" altLang="en-US" sz="20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Ⓒ</a:t>
                      </a:r>
                      <a:endParaRPr lang="zh-TW" altLang="en-US" sz="2000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zh-TW" altLang="en-US" sz="20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Ⓓ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44258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a-1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a+1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b-1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b+1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0492500"/>
                  </a:ext>
                </a:extLst>
              </a:tr>
            </a:tbl>
          </a:graphicData>
        </a:graphic>
      </p:graphicFrame>
      <p:sp>
        <p:nvSpPr>
          <p:cNvPr id="27" name="文字方塊 26">
            <a:extLst>
              <a:ext uri="{FF2B5EF4-FFF2-40B4-BE49-F238E27FC236}">
                <a16:creationId xmlns:a16="http://schemas.microsoft.com/office/drawing/2014/main" id="{95E18966-CFDE-EE4C-82CC-0DE698B9CFC0}"/>
              </a:ext>
            </a:extLst>
          </p:cNvPr>
          <p:cNvSpPr txBox="1"/>
          <p:nvPr/>
        </p:nvSpPr>
        <p:spPr>
          <a:xfrm>
            <a:off x="9036330" y="1817482"/>
            <a:ext cx="1217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dirty="0">
                <a:solidFill>
                  <a:srgbClr val="FF0000"/>
                </a:solidFill>
              </a:rPr>
              <a:t>Ⓐ</a:t>
            </a:r>
            <a:r>
              <a:rPr kumimoji="1" lang="en-US" altLang="zh-TW" dirty="0">
                <a:solidFill>
                  <a:srgbClr val="FF0000"/>
                </a:solidFill>
              </a:rPr>
              <a:t>           </a:t>
            </a:r>
            <a:r>
              <a:rPr kumimoji="1" lang="zh-TW" altLang="en-US" dirty="0">
                <a:solidFill>
                  <a:srgbClr val="FF0000"/>
                </a:solidFill>
              </a:rPr>
              <a:t>Ⓒ</a:t>
            </a: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11CD1516-233B-E743-AEB9-7D8D2811ED88}"/>
              </a:ext>
            </a:extLst>
          </p:cNvPr>
          <p:cNvSpPr txBox="1"/>
          <p:nvPr/>
        </p:nvSpPr>
        <p:spPr>
          <a:xfrm>
            <a:off x="9036330" y="3805236"/>
            <a:ext cx="1217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dirty="0">
                <a:solidFill>
                  <a:srgbClr val="FF0000"/>
                </a:solidFill>
              </a:rPr>
              <a:t>Ⓑ</a:t>
            </a:r>
            <a:r>
              <a:rPr kumimoji="1" lang="en-US" altLang="zh-TW" dirty="0">
                <a:solidFill>
                  <a:srgbClr val="FF0000"/>
                </a:solidFill>
              </a:rPr>
              <a:t>           </a:t>
            </a:r>
            <a:r>
              <a:rPr kumimoji="1" lang="zh-TW" altLang="en-US" dirty="0">
                <a:solidFill>
                  <a:srgbClr val="FF0000"/>
                </a:solidFill>
              </a:rPr>
              <a:t>Ⓒ</a:t>
            </a:r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BFCDD9E5-39D2-C748-BBB2-F14A357B679B}"/>
              </a:ext>
            </a:extLst>
          </p:cNvPr>
          <p:cNvSpPr txBox="1"/>
          <p:nvPr/>
        </p:nvSpPr>
        <p:spPr>
          <a:xfrm>
            <a:off x="3604437" y="3805236"/>
            <a:ext cx="12170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>
                <a:solidFill>
                  <a:srgbClr val="FF0000"/>
                </a:solidFill>
              </a:rPr>
              <a:t>Ⓑ           </a:t>
            </a:r>
            <a:r>
              <a:rPr kumimoji="1" lang="zh-TW" altLang="en-US" dirty="0">
                <a:solidFill>
                  <a:srgbClr val="FF0000"/>
                </a:solidFill>
              </a:rPr>
              <a:t>Ⓓ</a:t>
            </a:r>
          </a:p>
        </p:txBody>
      </p:sp>
    </p:spTree>
    <p:extLst>
      <p:ext uri="{BB962C8B-B14F-4D97-AF65-F5344CB8AC3E}">
        <p14:creationId xmlns:p14="http://schemas.microsoft.com/office/powerpoint/2010/main" val="40678180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Removing prefix reversal breakpoints (2/2)</a:t>
            </a:r>
            <a:endParaRPr kumimoji="1" lang="zh-TW" alt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8</a:t>
            </a:fld>
            <a:endParaRPr kumimoji="1"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FAC271F4-5280-BC43-B487-872655D5A7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751" y="1403607"/>
            <a:ext cx="11798595" cy="3941025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F6279DC8-E9AD-7D4B-997A-A597E99C8C4C}"/>
              </a:ext>
            </a:extLst>
          </p:cNvPr>
          <p:cNvSpPr/>
          <p:nvPr/>
        </p:nvSpPr>
        <p:spPr>
          <a:xfrm>
            <a:off x="318976" y="5319991"/>
            <a:ext cx="11582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Fig. 2. Remove </a:t>
            </a:r>
            <a:r>
              <a:rPr lang="en-US" altLang="zh-TW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prefix reversal breakpoint. Dotted boxes represent strips that have one or more elements. Solid boxes represent strips that have at least two elements.</a:t>
            </a:r>
            <a:endParaRPr lang="en-US" altLang="zh-TW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直線箭頭接點 9">
            <a:extLst>
              <a:ext uri="{FF2B5EF4-FFF2-40B4-BE49-F238E27FC236}">
                <a16:creationId xmlns:a16="http://schemas.microsoft.com/office/drawing/2014/main" id="{EB85EDC5-5981-674A-B0C2-31E08BEF9B97}"/>
              </a:ext>
            </a:extLst>
          </p:cNvPr>
          <p:cNvCxnSpPr>
            <a:cxnSpLocks/>
          </p:cNvCxnSpPr>
          <p:nvPr/>
        </p:nvCxnSpPr>
        <p:spPr>
          <a:xfrm>
            <a:off x="1350333" y="1520448"/>
            <a:ext cx="1775637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2" name="直線箭頭接點 11">
            <a:extLst>
              <a:ext uri="{FF2B5EF4-FFF2-40B4-BE49-F238E27FC236}">
                <a16:creationId xmlns:a16="http://schemas.microsoft.com/office/drawing/2014/main" id="{8CE3CF55-D119-454E-B1E5-6868F5711780}"/>
              </a:ext>
            </a:extLst>
          </p:cNvPr>
          <p:cNvCxnSpPr>
            <a:cxnSpLocks/>
          </p:cNvCxnSpPr>
          <p:nvPr/>
        </p:nvCxnSpPr>
        <p:spPr>
          <a:xfrm flipH="1">
            <a:off x="3820629" y="1534618"/>
            <a:ext cx="1431853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箭頭接點 13">
            <a:extLst>
              <a:ext uri="{FF2B5EF4-FFF2-40B4-BE49-F238E27FC236}">
                <a16:creationId xmlns:a16="http://schemas.microsoft.com/office/drawing/2014/main" id="{0BF75B2C-E5CA-8246-ABA5-10BA5233897F}"/>
              </a:ext>
            </a:extLst>
          </p:cNvPr>
          <p:cNvCxnSpPr>
            <a:cxnSpLocks/>
          </p:cNvCxnSpPr>
          <p:nvPr/>
        </p:nvCxnSpPr>
        <p:spPr>
          <a:xfrm flipH="1">
            <a:off x="2080436" y="3133046"/>
            <a:ext cx="309761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箭頭接點 16">
            <a:extLst>
              <a:ext uri="{FF2B5EF4-FFF2-40B4-BE49-F238E27FC236}">
                <a16:creationId xmlns:a16="http://schemas.microsoft.com/office/drawing/2014/main" id="{5EEF54B0-3434-0944-9F60-9AC12FF56987}"/>
              </a:ext>
            </a:extLst>
          </p:cNvPr>
          <p:cNvCxnSpPr>
            <a:cxnSpLocks/>
          </p:cNvCxnSpPr>
          <p:nvPr/>
        </p:nvCxnSpPr>
        <p:spPr>
          <a:xfrm>
            <a:off x="7340008" y="1534618"/>
            <a:ext cx="1775637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8" name="直線箭頭接點 17">
            <a:extLst>
              <a:ext uri="{FF2B5EF4-FFF2-40B4-BE49-F238E27FC236}">
                <a16:creationId xmlns:a16="http://schemas.microsoft.com/office/drawing/2014/main" id="{91DE90F5-6B53-C54E-B2B0-19503D936B7E}"/>
              </a:ext>
            </a:extLst>
          </p:cNvPr>
          <p:cNvCxnSpPr>
            <a:cxnSpLocks/>
          </p:cNvCxnSpPr>
          <p:nvPr/>
        </p:nvCxnSpPr>
        <p:spPr>
          <a:xfrm flipH="1">
            <a:off x="1272360" y="3429000"/>
            <a:ext cx="177918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箭頭接點 19">
            <a:extLst>
              <a:ext uri="{FF2B5EF4-FFF2-40B4-BE49-F238E27FC236}">
                <a16:creationId xmlns:a16="http://schemas.microsoft.com/office/drawing/2014/main" id="{883123C7-9E17-2348-B3FE-50583673BDE5}"/>
              </a:ext>
            </a:extLst>
          </p:cNvPr>
          <p:cNvCxnSpPr>
            <a:cxnSpLocks/>
          </p:cNvCxnSpPr>
          <p:nvPr/>
        </p:nvCxnSpPr>
        <p:spPr>
          <a:xfrm flipH="1">
            <a:off x="3572538" y="3429000"/>
            <a:ext cx="133261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箭頭接點 21">
            <a:extLst>
              <a:ext uri="{FF2B5EF4-FFF2-40B4-BE49-F238E27FC236}">
                <a16:creationId xmlns:a16="http://schemas.microsoft.com/office/drawing/2014/main" id="{140D9B52-7DEA-7241-8370-B6017C8EA194}"/>
              </a:ext>
            </a:extLst>
          </p:cNvPr>
          <p:cNvCxnSpPr>
            <a:cxnSpLocks/>
          </p:cNvCxnSpPr>
          <p:nvPr/>
        </p:nvCxnSpPr>
        <p:spPr>
          <a:xfrm flipH="1">
            <a:off x="7421523" y="3429000"/>
            <a:ext cx="169412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箭頭接點 23">
            <a:extLst>
              <a:ext uri="{FF2B5EF4-FFF2-40B4-BE49-F238E27FC236}">
                <a16:creationId xmlns:a16="http://schemas.microsoft.com/office/drawing/2014/main" id="{59C94DF7-03EF-1641-A506-6ED27A26858C}"/>
              </a:ext>
            </a:extLst>
          </p:cNvPr>
          <p:cNvCxnSpPr>
            <a:cxnSpLocks/>
          </p:cNvCxnSpPr>
          <p:nvPr/>
        </p:nvCxnSpPr>
        <p:spPr>
          <a:xfrm>
            <a:off x="8109096" y="3140120"/>
            <a:ext cx="2278912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6" name="直線箭頭接點 25">
            <a:extLst>
              <a:ext uri="{FF2B5EF4-FFF2-40B4-BE49-F238E27FC236}">
                <a16:creationId xmlns:a16="http://schemas.microsoft.com/office/drawing/2014/main" id="{0D10E8C2-1521-6E4A-A81F-E5B036028200}"/>
              </a:ext>
            </a:extLst>
          </p:cNvPr>
          <p:cNvCxnSpPr>
            <a:cxnSpLocks/>
          </p:cNvCxnSpPr>
          <p:nvPr/>
        </p:nvCxnSpPr>
        <p:spPr>
          <a:xfrm>
            <a:off x="8109096" y="5121320"/>
            <a:ext cx="2480930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8" name="直線箭頭接點 27">
            <a:extLst>
              <a:ext uri="{FF2B5EF4-FFF2-40B4-BE49-F238E27FC236}">
                <a16:creationId xmlns:a16="http://schemas.microsoft.com/office/drawing/2014/main" id="{23CD3384-E5A6-344B-A6FC-D0D73ECD8878}"/>
              </a:ext>
            </a:extLst>
          </p:cNvPr>
          <p:cNvCxnSpPr>
            <a:cxnSpLocks/>
          </p:cNvCxnSpPr>
          <p:nvPr/>
        </p:nvCxnSpPr>
        <p:spPr>
          <a:xfrm flipH="1">
            <a:off x="1881960" y="5130183"/>
            <a:ext cx="294522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57B035F8-F03A-684B-B5FF-8AE015856805}"/>
              </a:ext>
            </a:extLst>
          </p:cNvPr>
          <p:cNvCxnSpPr>
            <a:cxnSpLocks/>
          </p:cNvCxnSpPr>
          <p:nvPr/>
        </p:nvCxnSpPr>
        <p:spPr>
          <a:xfrm>
            <a:off x="3466212" y="1903227"/>
            <a:ext cx="212651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>
            <a:extLst>
              <a:ext uri="{FF2B5EF4-FFF2-40B4-BE49-F238E27FC236}">
                <a16:creationId xmlns:a16="http://schemas.microsoft.com/office/drawing/2014/main" id="{324F9A0A-6249-E440-AAB7-0524064F4216}"/>
              </a:ext>
            </a:extLst>
          </p:cNvPr>
          <p:cNvCxnSpPr>
            <a:cxnSpLocks/>
          </p:cNvCxnSpPr>
          <p:nvPr/>
        </p:nvCxnSpPr>
        <p:spPr>
          <a:xfrm>
            <a:off x="10600659" y="1903227"/>
            <a:ext cx="212651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接點 34">
            <a:extLst>
              <a:ext uri="{FF2B5EF4-FFF2-40B4-BE49-F238E27FC236}">
                <a16:creationId xmlns:a16="http://schemas.microsoft.com/office/drawing/2014/main" id="{B96E2970-6459-CB48-A13F-4479C353F713}"/>
              </a:ext>
            </a:extLst>
          </p:cNvPr>
          <p:cNvCxnSpPr>
            <a:cxnSpLocks/>
          </p:cNvCxnSpPr>
          <p:nvPr/>
        </p:nvCxnSpPr>
        <p:spPr>
          <a:xfrm>
            <a:off x="4479850" y="3799366"/>
            <a:ext cx="35796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接點 36">
            <a:extLst>
              <a:ext uri="{FF2B5EF4-FFF2-40B4-BE49-F238E27FC236}">
                <a16:creationId xmlns:a16="http://schemas.microsoft.com/office/drawing/2014/main" id="{C448A031-F204-7C43-B809-5990497D2A5C}"/>
              </a:ext>
            </a:extLst>
          </p:cNvPr>
          <p:cNvCxnSpPr>
            <a:cxnSpLocks/>
          </p:cNvCxnSpPr>
          <p:nvPr/>
        </p:nvCxnSpPr>
        <p:spPr>
          <a:xfrm>
            <a:off x="9937896" y="3799366"/>
            <a:ext cx="35796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46948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Dealing with </a:t>
            </a:r>
            <a:r>
              <a:rPr kumimoji="1" lang="el-GR" altLang="zh-TW" dirty="0"/>
              <a:t>π</a:t>
            </a:r>
            <a:r>
              <a:rPr kumimoji="1" lang="el-GR" altLang="zh-TW" baseline="-25000" dirty="0"/>
              <a:t>1</a:t>
            </a:r>
            <a:r>
              <a:rPr kumimoji="1" lang="el-GR" altLang="zh-TW" dirty="0"/>
              <a:t> = 1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8C395C6-3EBC-4D47-9C22-52A1E36DD1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530726"/>
          </a:xfrm>
        </p:spPr>
        <p:txBody>
          <a:bodyPr>
            <a:normAutofit/>
          </a:bodyPr>
          <a:lstStyle/>
          <a:p>
            <a:pPr algn="just"/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𝝓</a:t>
            </a:r>
            <a:r>
              <a:rPr kumimoji="1"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(π) 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strip that contains the element 1 in </a:t>
            </a:r>
            <a:r>
              <a:rPr kumimoji="1"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endParaRPr kumimoji="1"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Lemma11. 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 </a:t>
            </a:r>
            <a:r>
              <a:rPr kumimoji="1"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𝝓</a:t>
            </a:r>
            <a:r>
              <a:rPr lang="el-GR" altLang="zh-TW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(π)</a:t>
            </a:r>
            <a:r>
              <a:rPr lang="en-US" altLang="zh-TW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in ascending order at the end of the permutation </a:t>
            </a:r>
            <a:r>
              <a:rPr lang="el-GR" altLang="zh-TW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l-GR" altLang="zh-TW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prefix operation performed by 2-app that moves it away from there forces the element n to be moved to the end of the permutation.</a:t>
            </a:r>
          </a:p>
          <a:p>
            <a:pPr algn="just"/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Lemma 12. Let </a:t>
            </a:r>
            <a:r>
              <a:rPr kumimoji="1"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 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a permutation of the form </a:t>
            </a:r>
            <a:r>
              <a:rPr kumimoji="1"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 = </a:t>
            </a:r>
            <a:r>
              <a:rPr kumimoji="1" lang="el-GR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(... </a:t>
            </a:r>
            <a:r>
              <a:rPr kumimoji="1"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𝝓</a:t>
            </a:r>
            <a:r>
              <a:rPr kumimoji="1" lang="el-GR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(π) </a:t>
            </a:r>
            <a:r>
              <a:rPr kumimoji="1"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+ 1), 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𝝓</a:t>
            </a:r>
            <a:r>
              <a:rPr kumimoji="1"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(π) 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ascending order, 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2-app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will not split the pair [n, 1] unless we can find a prefix transposition </a:t>
            </a:r>
            <a:r>
              <a:rPr kumimoji="1"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ρ</a:t>
            </a:r>
            <a:r>
              <a:rPr kumimoji="1"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such that </a:t>
            </a:r>
            <a:r>
              <a:rPr kumimoji="1"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 · ρ</a:t>
            </a:r>
            <a:r>
              <a:rPr kumimoji="1" lang="en-US" altLang="zh-TW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pt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kumimoji="1"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ι.</a:t>
            </a:r>
            <a:endParaRPr kumimoji="1"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Lemma 13. The prefix transposition that moves </a:t>
            </a:r>
            <a:r>
              <a:rPr kumimoji="1"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π1 = 1 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the end of the permutation occurs </a:t>
            </a:r>
            <a:r>
              <a:rPr kumimoji="1"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most twice 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during the execution of 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2-app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9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9940127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2-app algorithm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8C395C6-3EBC-4D47-9C22-52A1E36DD1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2064488" cy="4831650"/>
          </a:xfrm>
        </p:spPr>
        <p:txBody>
          <a:bodyPr>
            <a:normAutofit/>
          </a:bodyPr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1st </a:t>
            </a:r>
            <a:r>
              <a:rPr kumimoji="1"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π1 = 1 </a:t>
            </a:r>
            <a:endParaRPr kumimoji="1"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kumimoji="1"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Lemma 11. </a:t>
            </a:r>
          </a:p>
          <a:p>
            <a:endParaRPr kumimoji="1"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2st </a:t>
            </a:r>
            <a:r>
              <a:rPr kumimoji="1"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π1 = 1 </a:t>
            </a:r>
            <a:endParaRPr kumimoji="1"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kumimoji="1"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Lemma 12. </a:t>
            </a:r>
          </a:p>
          <a:p>
            <a:endParaRPr kumimoji="1"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3st </a:t>
            </a:r>
            <a:r>
              <a:rPr kumimoji="1"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π1 = 1 </a:t>
            </a:r>
            <a:endParaRPr kumimoji="1"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10</a:t>
            </a:fld>
            <a:endParaRPr kumimoji="1" lang="zh-TW" altLang="en-US"/>
          </a:p>
        </p:txBody>
      </p:sp>
      <p:graphicFrame>
        <p:nvGraphicFramePr>
          <p:cNvPr id="8" name="表格 8">
            <a:extLst>
              <a:ext uri="{FF2B5EF4-FFF2-40B4-BE49-F238E27FC236}">
                <a16:creationId xmlns:a16="http://schemas.microsoft.com/office/drawing/2014/main" id="{553A5CAE-34C5-B244-8BB0-407F8F8F4B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4248753"/>
              </p:ext>
            </p:extLst>
          </p:nvPr>
        </p:nvGraphicFramePr>
        <p:xfrm>
          <a:off x="3127153" y="1454785"/>
          <a:ext cx="661227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61227">
                  <a:extLst>
                    <a:ext uri="{9D8B030D-6E8A-4147-A177-3AD203B41FA5}">
                      <a16:colId xmlns:a16="http://schemas.microsoft.com/office/drawing/2014/main" val="3262156748"/>
                    </a:ext>
                  </a:extLst>
                </a:gridCol>
                <a:gridCol w="661227">
                  <a:extLst>
                    <a:ext uri="{9D8B030D-6E8A-4147-A177-3AD203B41FA5}">
                      <a16:colId xmlns:a16="http://schemas.microsoft.com/office/drawing/2014/main" val="3015472265"/>
                    </a:ext>
                  </a:extLst>
                </a:gridCol>
                <a:gridCol w="661227">
                  <a:extLst>
                    <a:ext uri="{9D8B030D-6E8A-4147-A177-3AD203B41FA5}">
                      <a16:colId xmlns:a16="http://schemas.microsoft.com/office/drawing/2014/main" val="2918737608"/>
                    </a:ext>
                  </a:extLst>
                </a:gridCol>
                <a:gridCol w="661227">
                  <a:extLst>
                    <a:ext uri="{9D8B030D-6E8A-4147-A177-3AD203B41FA5}">
                      <a16:colId xmlns:a16="http://schemas.microsoft.com/office/drawing/2014/main" val="380214762"/>
                    </a:ext>
                  </a:extLst>
                </a:gridCol>
                <a:gridCol w="661227">
                  <a:extLst>
                    <a:ext uri="{9D8B030D-6E8A-4147-A177-3AD203B41FA5}">
                      <a16:colId xmlns:a16="http://schemas.microsoft.com/office/drawing/2014/main" val="3992019100"/>
                    </a:ext>
                  </a:extLst>
                </a:gridCol>
                <a:gridCol w="661227">
                  <a:extLst>
                    <a:ext uri="{9D8B030D-6E8A-4147-A177-3AD203B41FA5}">
                      <a16:colId xmlns:a16="http://schemas.microsoft.com/office/drawing/2014/main" val="144364646"/>
                    </a:ext>
                  </a:extLst>
                </a:gridCol>
                <a:gridCol w="661227">
                  <a:extLst>
                    <a:ext uri="{9D8B030D-6E8A-4147-A177-3AD203B41FA5}">
                      <a16:colId xmlns:a16="http://schemas.microsoft.com/office/drawing/2014/main" val="2799887745"/>
                    </a:ext>
                  </a:extLst>
                </a:gridCol>
                <a:gridCol w="661227">
                  <a:extLst>
                    <a:ext uri="{9D8B030D-6E8A-4147-A177-3AD203B41FA5}">
                      <a16:colId xmlns:a16="http://schemas.microsoft.com/office/drawing/2014/main" val="2888082613"/>
                    </a:ext>
                  </a:extLst>
                </a:gridCol>
                <a:gridCol w="661227">
                  <a:extLst>
                    <a:ext uri="{9D8B030D-6E8A-4147-A177-3AD203B41FA5}">
                      <a16:colId xmlns:a16="http://schemas.microsoft.com/office/drawing/2014/main" val="2350316804"/>
                    </a:ext>
                  </a:extLst>
                </a:gridCol>
                <a:gridCol w="661227">
                  <a:extLst>
                    <a:ext uri="{9D8B030D-6E8A-4147-A177-3AD203B41FA5}">
                      <a16:colId xmlns:a16="http://schemas.microsoft.com/office/drawing/2014/main" val="41663783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𝝓(</a:t>
                      </a:r>
                      <a:r>
                        <a:rPr kumimoji="1" lang="el-GR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π)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…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…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…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…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…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…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…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n+1</a:t>
                      </a:r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2014605"/>
                  </a:ext>
                </a:extLst>
              </a:tr>
            </a:tbl>
          </a:graphicData>
        </a:graphic>
      </p:graphicFrame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F0FD93CE-CE11-E141-B509-21516FEFC1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3098588"/>
              </p:ext>
            </p:extLst>
          </p:nvPr>
        </p:nvGraphicFramePr>
        <p:xfrm>
          <a:off x="3127153" y="2333766"/>
          <a:ext cx="661227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61227">
                  <a:extLst>
                    <a:ext uri="{9D8B030D-6E8A-4147-A177-3AD203B41FA5}">
                      <a16:colId xmlns:a16="http://schemas.microsoft.com/office/drawing/2014/main" val="3262156748"/>
                    </a:ext>
                  </a:extLst>
                </a:gridCol>
                <a:gridCol w="661227">
                  <a:extLst>
                    <a:ext uri="{9D8B030D-6E8A-4147-A177-3AD203B41FA5}">
                      <a16:colId xmlns:a16="http://schemas.microsoft.com/office/drawing/2014/main" val="3015472265"/>
                    </a:ext>
                  </a:extLst>
                </a:gridCol>
                <a:gridCol w="661227">
                  <a:extLst>
                    <a:ext uri="{9D8B030D-6E8A-4147-A177-3AD203B41FA5}">
                      <a16:colId xmlns:a16="http://schemas.microsoft.com/office/drawing/2014/main" val="2918737608"/>
                    </a:ext>
                  </a:extLst>
                </a:gridCol>
                <a:gridCol w="661227">
                  <a:extLst>
                    <a:ext uri="{9D8B030D-6E8A-4147-A177-3AD203B41FA5}">
                      <a16:colId xmlns:a16="http://schemas.microsoft.com/office/drawing/2014/main" val="380214762"/>
                    </a:ext>
                  </a:extLst>
                </a:gridCol>
                <a:gridCol w="661227">
                  <a:extLst>
                    <a:ext uri="{9D8B030D-6E8A-4147-A177-3AD203B41FA5}">
                      <a16:colId xmlns:a16="http://schemas.microsoft.com/office/drawing/2014/main" val="3992019100"/>
                    </a:ext>
                  </a:extLst>
                </a:gridCol>
                <a:gridCol w="661227">
                  <a:extLst>
                    <a:ext uri="{9D8B030D-6E8A-4147-A177-3AD203B41FA5}">
                      <a16:colId xmlns:a16="http://schemas.microsoft.com/office/drawing/2014/main" val="144364646"/>
                    </a:ext>
                  </a:extLst>
                </a:gridCol>
                <a:gridCol w="661227">
                  <a:extLst>
                    <a:ext uri="{9D8B030D-6E8A-4147-A177-3AD203B41FA5}">
                      <a16:colId xmlns:a16="http://schemas.microsoft.com/office/drawing/2014/main" val="2799887745"/>
                    </a:ext>
                  </a:extLst>
                </a:gridCol>
                <a:gridCol w="661227">
                  <a:extLst>
                    <a:ext uri="{9D8B030D-6E8A-4147-A177-3AD203B41FA5}">
                      <a16:colId xmlns:a16="http://schemas.microsoft.com/office/drawing/2014/main" val="2888082613"/>
                    </a:ext>
                  </a:extLst>
                </a:gridCol>
                <a:gridCol w="661227">
                  <a:extLst>
                    <a:ext uri="{9D8B030D-6E8A-4147-A177-3AD203B41FA5}">
                      <a16:colId xmlns:a16="http://schemas.microsoft.com/office/drawing/2014/main" val="2350316804"/>
                    </a:ext>
                  </a:extLst>
                </a:gridCol>
                <a:gridCol w="661227">
                  <a:extLst>
                    <a:ext uri="{9D8B030D-6E8A-4147-A177-3AD203B41FA5}">
                      <a16:colId xmlns:a16="http://schemas.microsoft.com/office/drawing/2014/main" val="41663783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…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…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…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…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…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…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𝝓(</a:t>
                      </a:r>
                      <a:r>
                        <a:rPr kumimoji="1" lang="el-GR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π)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n+1</a:t>
                      </a:r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2014605"/>
                  </a:ext>
                </a:extLst>
              </a:tr>
            </a:tbl>
          </a:graphicData>
        </a:graphic>
      </p:graphicFrame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A587DCCE-5EDC-9444-AF80-E4B848A07A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8850680"/>
              </p:ext>
            </p:extLst>
          </p:nvPr>
        </p:nvGraphicFramePr>
        <p:xfrm>
          <a:off x="3127153" y="3156113"/>
          <a:ext cx="6612270" cy="3657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61227">
                  <a:extLst>
                    <a:ext uri="{9D8B030D-6E8A-4147-A177-3AD203B41FA5}">
                      <a16:colId xmlns:a16="http://schemas.microsoft.com/office/drawing/2014/main" val="3262156748"/>
                    </a:ext>
                  </a:extLst>
                </a:gridCol>
                <a:gridCol w="661227">
                  <a:extLst>
                    <a:ext uri="{9D8B030D-6E8A-4147-A177-3AD203B41FA5}">
                      <a16:colId xmlns:a16="http://schemas.microsoft.com/office/drawing/2014/main" val="3015472265"/>
                    </a:ext>
                  </a:extLst>
                </a:gridCol>
                <a:gridCol w="661227">
                  <a:extLst>
                    <a:ext uri="{9D8B030D-6E8A-4147-A177-3AD203B41FA5}">
                      <a16:colId xmlns:a16="http://schemas.microsoft.com/office/drawing/2014/main" val="2918737608"/>
                    </a:ext>
                  </a:extLst>
                </a:gridCol>
                <a:gridCol w="661227">
                  <a:extLst>
                    <a:ext uri="{9D8B030D-6E8A-4147-A177-3AD203B41FA5}">
                      <a16:colId xmlns:a16="http://schemas.microsoft.com/office/drawing/2014/main" val="380214762"/>
                    </a:ext>
                  </a:extLst>
                </a:gridCol>
                <a:gridCol w="661227">
                  <a:extLst>
                    <a:ext uri="{9D8B030D-6E8A-4147-A177-3AD203B41FA5}">
                      <a16:colId xmlns:a16="http://schemas.microsoft.com/office/drawing/2014/main" val="3992019100"/>
                    </a:ext>
                  </a:extLst>
                </a:gridCol>
                <a:gridCol w="661227">
                  <a:extLst>
                    <a:ext uri="{9D8B030D-6E8A-4147-A177-3AD203B41FA5}">
                      <a16:colId xmlns:a16="http://schemas.microsoft.com/office/drawing/2014/main" val="144364646"/>
                    </a:ext>
                  </a:extLst>
                </a:gridCol>
                <a:gridCol w="661227">
                  <a:extLst>
                    <a:ext uri="{9D8B030D-6E8A-4147-A177-3AD203B41FA5}">
                      <a16:colId xmlns:a16="http://schemas.microsoft.com/office/drawing/2014/main" val="2799887745"/>
                    </a:ext>
                  </a:extLst>
                </a:gridCol>
                <a:gridCol w="661227">
                  <a:extLst>
                    <a:ext uri="{9D8B030D-6E8A-4147-A177-3AD203B41FA5}">
                      <a16:colId xmlns:a16="http://schemas.microsoft.com/office/drawing/2014/main" val="2888082613"/>
                    </a:ext>
                  </a:extLst>
                </a:gridCol>
                <a:gridCol w="661227">
                  <a:extLst>
                    <a:ext uri="{9D8B030D-6E8A-4147-A177-3AD203B41FA5}">
                      <a16:colId xmlns:a16="http://schemas.microsoft.com/office/drawing/2014/main" val="2350316804"/>
                    </a:ext>
                  </a:extLst>
                </a:gridCol>
                <a:gridCol w="661227">
                  <a:extLst>
                    <a:ext uri="{9D8B030D-6E8A-4147-A177-3AD203B41FA5}">
                      <a16:colId xmlns:a16="http://schemas.microsoft.com/office/drawing/2014/main" val="4166378352"/>
                    </a:ext>
                  </a:extLst>
                </a:gridCol>
              </a:tblGrid>
              <a:tr h="26757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…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…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…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…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…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…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zh-TW" altLang="en-US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n+1</a:t>
                      </a:r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2014605"/>
                  </a:ext>
                </a:extLst>
              </a:tr>
            </a:tbl>
          </a:graphicData>
        </a:graphic>
      </p:graphicFrame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7D79DD42-6B8E-5143-8964-EE5BD0E073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4356225"/>
              </p:ext>
            </p:extLst>
          </p:nvPr>
        </p:nvGraphicFramePr>
        <p:xfrm>
          <a:off x="3127153" y="4449957"/>
          <a:ext cx="661227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61227">
                  <a:extLst>
                    <a:ext uri="{9D8B030D-6E8A-4147-A177-3AD203B41FA5}">
                      <a16:colId xmlns:a16="http://schemas.microsoft.com/office/drawing/2014/main" val="3262156748"/>
                    </a:ext>
                  </a:extLst>
                </a:gridCol>
                <a:gridCol w="661227">
                  <a:extLst>
                    <a:ext uri="{9D8B030D-6E8A-4147-A177-3AD203B41FA5}">
                      <a16:colId xmlns:a16="http://schemas.microsoft.com/office/drawing/2014/main" val="3015472265"/>
                    </a:ext>
                  </a:extLst>
                </a:gridCol>
                <a:gridCol w="661227">
                  <a:extLst>
                    <a:ext uri="{9D8B030D-6E8A-4147-A177-3AD203B41FA5}">
                      <a16:colId xmlns:a16="http://schemas.microsoft.com/office/drawing/2014/main" val="2918737608"/>
                    </a:ext>
                  </a:extLst>
                </a:gridCol>
                <a:gridCol w="661227">
                  <a:extLst>
                    <a:ext uri="{9D8B030D-6E8A-4147-A177-3AD203B41FA5}">
                      <a16:colId xmlns:a16="http://schemas.microsoft.com/office/drawing/2014/main" val="380214762"/>
                    </a:ext>
                  </a:extLst>
                </a:gridCol>
                <a:gridCol w="661227">
                  <a:extLst>
                    <a:ext uri="{9D8B030D-6E8A-4147-A177-3AD203B41FA5}">
                      <a16:colId xmlns:a16="http://schemas.microsoft.com/office/drawing/2014/main" val="3992019100"/>
                    </a:ext>
                  </a:extLst>
                </a:gridCol>
                <a:gridCol w="661227">
                  <a:extLst>
                    <a:ext uri="{9D8B030D-6E8A-4147-A177-3AD203B41FA5}">
                      <a16:colId xmlns:a16="http://schemas.microsoft.com/office/drawing/2014/main" val="144364646"/>
                    </a:ext>
                  </a:extLst>
                </a:gridCol>
                <a:gridCol w="661227">
                  <a:extLst>
                    <a:ext uri="{9D8B030D-6E8A-4147-A177-3AD203B41FA5}">
                      <a16:colId xmlns:a16="http://schemas.microsoft.com/office/drawing/2014/main" val="2799887745"/>
                    </a:ext>
                  </a:extLst>
                </a:gridCol>
                <a:gridCol w="661227">
                  <a:extLst>
                    <a:ext uri="{9D8B030D-6E8A-4147-A177-3AD203B41FA5}">
                      <a16:colId xmlns:a16="http://schemas.microsoft.com/office/drawing/2014/main" val="2888082613"/>
                    </a:ext>
                  </a:extLst>
                </a:gridCol>
                <a:gridCol w="661227">
                  <a:extLst>
                    <a:ext uri="{9D8B030D-6E8A-4147-A177-3AD203B41FA5}">
                      <a16:colId xmlns:a16="http://schemas.microsoft.com/office/drawing/2014/main" val="2350316804"/>
                    </a:ext>
                  </a:extLst>
                </a:gridCol>
                <a:gridCol w="661227">
                  <a:extLst>
                    <a:ext uri="{9D8B030D-6E8A-4147-A177-3AD203B41FA5}">
                      <a16:colId xmlns:a16="http://schemas.microsoft.com/office/drawing/2014/main" val="41663783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…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…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…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…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…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zh-TW" altLang="en-US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𝝓(</a:t>
                      </a:r>
                      <a:r>
                        <a:rPr kumimoji="1" lang="el-GR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π)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n+1</a:t>
                      </a:r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2014605"/>
                  </a:ext>
                </a:extLst>
              </a:tr>
            </a:tbl>
          </a:graphicData>
        </a:graphic>
      </p:graphicFrame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773E4022-B3C0-8941-9648-FD145DD55F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0832841"/>
              </p:ext>
            </p:extLst>
          </p:nvPr>
        </p:nvGraphicFramePr>
        <p:xfrm>
          <a:off x="3127153" y="5288304"/>
          <a:ext cx="661227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61227">
                  <a:extLst>
                    <a:ext uri="{9D8B030D-6E8A-4147-A177-3AD203B41FA5}">
                      <a16:colId xmlns:a16="http://schemas.microsoft.com/office/drawing/2014/main" val="3262156748"/>
                    </a:ext>
                  </a:extLst>
                </a:gridCol>
                <a:gridCol w="661227">
                  <a:extLst>
                    <a:ext uri="{9D8B030D-6E8A-4147-A177-3AD203B41FA5}">
                      <a16:colId xmlns:a16="http://schemas.microsoft.com/office/drawing/2014/main" val="3015472265"/>
                    </a:ext>
                  </a:extLst>
                </a:gridCol>
                <a:gridCol w="661227">
                  <a:extLst>
                    <a:ext uri="{9D8B030D-6E8A-4147-A177-3AD203B41FA5}">
                      <a16:colId xmlns:a16="http://schemas.microsoft.com/office/drawing/2014/main" val="2918737608"/>
                    </a:ext>
                  </a:extLst>
                </a:gridCol>
                <a:gridCol w="661227">
                  <a:extLst>
                    <a:ext uri="{9D8B030D-6E8A-4147-A177-3AD203B41FA5}">
                      <a16:colId xmlns:a16="http://schemas.microsoft.com/office/drawing/2014/main" val="380214762"/>
                    </a:ext>
                  </a:extLst>
                </a:gridCol>
                <a:gridCol w="661227">
                  <a:extLst>
                    <a:ext uri="{9D8B030D-6E8A-4147-A177-3AD203B41FA5}">
                      <a16:colId xmlns:a16="http://schemas.microsoft.com/office/drawing/2014/main" val="3992019100"/>
                    </a:ext>
                  </a:extLst>
                </a:gridCol>
                <a:gridCol w="661227">
                  <a:extLst>
                    <a:ext uri="{9D8B030D-6E8A-4147-A177-3AD203B41FA5}">
                      <a16:colId xmlns:a16="http://schemas.microsoft.com/office/drawing/2014/main" val="144364646"/>
                    </a:ext>
                  </a:extLst>
                </a:gridCol>
                <a:gridCol w="661227">
                  <a:extLst>
                    <a:ext uri="{9D8B030D-6E8A-4147-A177-3AD203B41FA5}">
                      <a16:colId xmlns:a16="http://schemas.microsoft.com/office/drawing/2014/main" val="2799887745"/>
                    </a:ext>
                  </a:extLst>
                </a:gridCol>
                <a:gridCol w="661227">
                  <a:extLst>
                    <a:ext uri="{9D8B030D-6E8A-4147-A177-3AD203B41FA5}">
                      <a16:colId xmlns:a16="http://schemas.microsoft.com/office/drawing/2014/main" val="2888082613"/>
                    </a:ext>
                  </a:extLst>
                </a:gridCol>
                <a:gridCol w="661227">
                  <a:extLst>
                    <a:ext uri="{9D8B030D-6E8A-4147-A177-3AD203B41FA5}">
                      <a16:colId xmlns:a16="http://schemas.microsoft.com/office/drawing/2014/main" val="2350316804"/>
                    </a:ext>
                  </a:extLst>
                </a:gridCol>
                <a:gridCol w="661227">
                  <a:extLst>
                    <a:ext uri="{9D8B030D-6E8A-4147-A177-3AD203B41FA5}">
                      <a16:colId xmlns:a16="http://schemas.microsoft.com/office/drawing/2014/main" val="41663783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n-6</a:t>
                      </a:r>
                      <a:endParaRPr lang="zh-TW" altLang="en-US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n-5</a:t>
                      </a:r>
                      <a:endParaRPr lang="zh-TW" altLang="en-US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n-4</a:t>
                      </a:r>
                      <a:endParaRPr lang="zh-TW" altLang="en-US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n-3</a:t>
                      </a:r>
                      <a:endParaRPr lang="zh-TW" altLang="en-US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n-2</a:t>
                      </a:r>
                      <a:endParaRPr lang="zh-TW" altLang="en-US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n-1</a:t>
                      </a:r>
                      <a:endParaRPr lang="zh-TW" altLang="en-US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zh-TW" altLang="en-US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𝝓(</a:t>
                      </a:r>
                      <a:r>
                        <a:rPr kumimoji="1" lang="el-GR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π)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n+1</a:t>
                      </a:r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2014605"/>
                  </a:ext>
                </a:extLst>
              </a:tr>
            </a:tbl>
          </a:graphicData>
        </a:graphic>
      </p:graphicFrame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9C18E77D-8176-7C49-AAB8-D6A2E90F65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9753758"/>
              </p:ext>
            </p:extLst>
          </p:nvPr>
        </p:nvGraphicFramePr>
        <p:xfrm>
          <a:off x="3127153" y="5743916"/>
          <a:ext cx="661227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61227">
                  <a:extLst>
                    <a:ext uri="{9D8B030D-6E8A-4147-A177-3AD203B41FA5}">
                      <a16:colId xmlns:a16="http://schemas.microsoft.com/office/drawing/2014/main" val="3262156748"/>
                    </a:ext>
                  </a:extLst>
                </a:gridCol>
                <a:gridCol w="661227">
                  <a:extLst>
                    <a:ext uri="{9D8B030D-6E8A-4147-A177-3AD203B41FA5}">
                      <a16:colId xmlns:a16="http://schemas.microsoft.com/office/drawing/2014/main" val="3015472265"/>
                    </a:ext>
                  </a:extLst>
                </a:gridCol>
                <a:gridCol w="661227">
                  <a:extLst>
                    <a:ext uri="{9D8B030D-6E8A-4147-A177-3AD203B41FA5}">
                      <a16:colId xmlns:a16="http://schemas.microsoft.com/office/drawing/2014/main" val="2918737608"/>
                    </a:ext>
                  </a:extLst>
                </a:gridCol>
                <a:gridCol w="661227">
                  <a:extLst>
                    <a:ext uri="{9D8B030D-6E8A-4147-A177-3AD203B41FA5}">
                      <a16:colId xmlns:a16="http://schemas.microsoft.com/office/drawing/2014/main" val="380214762"/>
                    </a:ext>
                  </a:extLst>
                </a:gridCol>
                <a:gridCol w="661227">
                  <a:extLst>
                    <a:ext uri="{9D8B030D-6E8A-4147-A177-3AD203B41FA5}">
                      <a16:colId xmlns:a16="http://schemas.microsoft.com/office/drawing/2014/main" val="3992019100"/>
                    </a:ext>
                  </a:extLst>
                </a:gridCol>
                <a:gridCol w="661227">
                  <a:extLst>
                    <a:ext uri="{9D8B030D-6E8A-4147-A177-3AD203B41FA5}">
                      <a16:colId xmlns:a16="http://schemas.microsoft.com/office/drawing/2014/main" val="144364646"/>
                    </a:ext>
                  </a:extLst>
                </a:gridCol>
                <a:gridCol w="661227">
                  <a:extLst>
                    <a:ext uri="{9D8B030D-6E8A-4147-A177-3AD203B41FA5}">
                      <a16:colId xmlns:a16="http://schemas.microsoft.com/office/drawing/2014/main" val="2799887745"/>
                    </a:ext>
                  </a:extLst>
                </a:gridCol>
                <a:gridCol w="661227">
                  <a:extLst>
                    <a:ext uri="{9D8B030D-6E8A-4147-A177-3AD203B41FA5}">
                      <a16:colId xmlns:a16="http://schemas.microsoft.com/office/drawing/2014/main" val="2888082613"/>
                    </a:ext>
                  </a:extLst>
                </a:gridCol>
                <a:gridCol w="661227">
                  <a:extLst>
                    <a:ext uri="{9D8B030D-6E8A-4147-A177-3AD203B41FA5}">
                      <a16:colId xmlns:a16="http://schemas.microsoft.com/office/drawing/2014/main" val="2350316804"/>
                    </a:ext>
                  </a:extLst>
                </a:gridCol>
                <a:gridCol w="661227">
                  <a:extLst>
                    <a:ext uri="{9D8B030D-6E8A-4147-A177-3AD203B41FA5}">
                      <a16:colId xmlns:a16="http://schemas.microsoft.com/office/drawing/2014/main" val="41663783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3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4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…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…</a:t>
                      </a:r>
                      <a:endParaRPr lang="zh-TW" altLang="en-US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zh-TW" altLang="en-US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n+1</a:t>
                      </a:r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2014605"/>
                  </a:ext>
                </a:extLst>
              </a:tr>
            </a:tbl>
          </a:graphicData>
        </a:graphic>
      </p:graphicFrame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38424BC4-8483-8C48-A688-36FA7236A2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8798843"/>
              </p:ext>
            </p:extLst>
          </p:nvPr>
        </p:nvGraphicFramePr>
        <p:xfrm>
          <a:off x="3127153" y="3615705"/>
          <a:ext cx="661227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61227">
                  <a:extLst>
                    <a:ext uri="{9D8B030D-6E8A-4147-A177-3AD203B41FA5}">
                      <a16:colId xmlns:a16="http://schemas.microsoft.com/office/drawing/2014/main" val="3262156748"/>
                    </a:ext>
                  </a:extLst>
                </a:gridCol>
                <a:gridCol w="661227">
                  <a:extLst>
                    <a:ext uri="{9D8B030D-6E8A-4147-A177-3AD203B41FA5}">
                      <a16:colId xmlns:a16="http://schemas.microsoft.com/office/drawing/2014/main" val="3015472265"/>
                    </a:ext>
                  </a:extLst>
                </a:gridCol>
                <a:gridCol w="661227">
                  <a:extLst>
                    <a:ext uri="{9D8B030D-6E8A-4147-A177-3AD203B41FA5}">
                      <a16:colId xmlns:a16="http://schemas.microsoft.com/office/drawing/2014/main" val="2918737608"/>
                    </a:ext>
                  </a:extLst>
                </a:gridCol>
                <a:gridCol w="661227">
                  <a:extLst>
                    <a:ext uri="{9D8B030D-6E8A-4147-A177-3AD203B41FA5}">
                      <a16:colId xmlns:a16="http://schemas.microsoft.com/office/drawing/2014/main" val="380214762"/>
                    </a:ext>
                  </a:extLst>
                </a:gridCol>
                <a:gridCol w="661227">
                  <a:extLst>
                    <a:ext uri="{9D8B030D-6E8A-4147-A177-3AD203B41FA5}">
                      <a16:colId xmlns:a16="http://schemas.microsoft.com/office/drawing/2014/main" val="3992019100"/>
                    </a:ext>
                  </a:extLst>
                </a:gridCol>
                <a:gridCol w="661227">
                  <a:extLst>
                    <a:ext uri="{9D8B030D-6E8A-4147-A177-3AD203B41FA5}">
                      <a16:colId xmlns:a16="http://schemas.microsoft.com/office/drawing/2014/main" val="144364646"/>
                    </a:ext>
                  </a:extLst>
                </a:gridCol>
                <a:gridCol w="661227">
                  <a:extLst>
                    <a:ext uri="{9D8B030D-6E8A-4147-A177-3AD203B41FA5}">
                      <a16:colId xmlns:a16="http://schemas.microsoft.com/office/drawing/2014/main" val="2799887745"/>
                    </a:ext>
                  </a:extLst>
                </a:gridCol>
                <a:gridCol w="661227">
                  <a:extLst>
                    <a:ext uri="{9D8B030D-6E8A-4147-A177-3AD203B41FA5}">
                      <a16:colId xmlns:a16="http://schemas.microsoft.com/office/drawing/2014/main" val="2888082613"/>
                    </a:ext>
                  </a:extLst>
                </a:gridCol>
                <a:gridCol w="661227">
                  <a:extLst>
                    <a:ext uri="{9D8B030D-6E8A-4147-A177-3AD203B41FA5}">
                      <a16:colId xmlns:a16="http://schemas.microsoft.com/office/drawing/2014/main" val="2350316804"/>
                    </a:ext>
                  </a:extLst>
                </a:gridCol>
                <a:gridCol w="661227">
                  <a:extLst>
                    <a:ext uri="{9D8B030D-6E8A-4147-A177-3AD203B41FA5}">
                      <a16:colId xmlns:a16="http://schemas.microsoft.com/office/drawing/2014/main" val="41663783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𝝓(</a:t>
                      </a:r>
                      <a:r>
                        <a:rPr kumimoji="1" lang="el-GR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π)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…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…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…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…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…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…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zh-TW" altLang="en-US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n+1</a:t>
                      </a:r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20146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02870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00"/>
                </a:solidFill>
              </a:rPr>
              <a:t>Lemma11.</a:t>
            </a:r>
            <a:endParaRPr kumimoji="1" lang="zh-TW" alt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11</a:t>
            </a:fld>
            <a:endParaRPr kumimoji="1"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A2F63E9E-40D3-C145-98CB-27188B7E1F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823" y="1690688"/>
            <a:ext cx="11078354" cy="4073859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C38EF460-B0EE-DC43-BCFA-CBF3D002996A}"/>
              </a:ext>
            </a:extLst>
          </p:cNvPr>
          <p:cNvSpPr/>
          <p:nvPr/>
        </p:nvSpPr>
        <p:spPr>
          <a:xfrm>
            <a:off x="1790468" y="5831149"/>
            <a:ext cx="6896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𝝓</a:t>
            </a:r>
            <a:r>
              <a:rPr kumimoji="1"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(π) </a:t>
            </a:r>
            <a:endParaRPr lang="zh-TW" altLang="en-US" dirty="0"/>
          </a:p>
        </p:txBody>
      </p: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654A9348-CA93-034C-81A4-45885161E827}"/>
              </a:ext>
            </a:extLst>
          </p:cNvPr>
          <p:cNvCxnSpPr>
            <a:cxnSpLocks/>
          </p:cNvCxnSpPr>
          <p:nvPr/>
        </p:nvCxnSpPr>
        <p:spPr>
          <a:xfrm>
            <a:off x="4369982" y="2179675"/>
            <a:ext cx="1456660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4D0D05A2-B849-C346-BD04-9FB29AC5D5EC}"/>
              </a:ext>
            </a:extLst>
          </p:cNvPr>
          <p:cNvCxnSpPr>
            <a:cxnSpLocks/>
          </p:cNvCxnSpPr>
          <p:nvPr/>
        </p:nvCxnSpPr>
        <p:spPr>
          <a:xfrm>
            <a:off x="3317358" y="2179675"/>
            <a:ext cx="673396" cy="0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804280E8-701B-364A-B096-529B0D9A423B}"/>
              </a:ext>
            </a:extLst>
          </p:cNvPr>
          <p:cNvCxnSpPr>
            <a:cxnSpLocks/>
          </p:cNvCxnSpPr>
          <p:nvPr/>
        </p:nvCxnSpPr>
        <p:spPr>
          <a:xfrm>
            <a:off x="4235303" y="3267738"/>
            <a:ext cx="1591339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EFDA86C4-F6A8-5A43-95FD-99ED43E98E2F}"/>
              </a:ext>
            </a:extLst>
          </p:cNvPr>
          <p:cNvCxnSpPr>
            <a:cxnSpLocks/>
          </p:cNvCxnSpPr>
          <p:nvPr/>
        </p:nvCxnSpPr>
        <p:spPr>
          <a:xfrm>
            <a:off x="2690037" y="3267738"/>
            <a:ext cx="701749" cy="0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直線接點 21">
            <a:extLst>
              <a:ext uri="{FF2B5EF4-FFF2-40B4-BE49-F238E27FC236}">
                <a16:creationId xmlns:a16="http://schemas.microsoft.com/office/drawing/2014/main" id="{20791075-0F01-8C48-A3B2-8F0864F6B572}"/>
              </a:ext>
            </a:extLst>
          </p:cNvPr>
          <p:cNvCxnSpPr>
            <a:cxnSpLocks/>
          </p:cNvCxnSpPr>
          <p:nvPr/>
        </p:nvCxnSpPr>
        <p:spPr>
          <a:xfrm>
            <a:off x="9774866" y="2147776"/>
            <a:ext cx="1456660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直線接點 22">
            <a:extLst>
              <a:ext uri="{FF2B5EF4-FFF2-40B4-BE49-F238E27FC236}">
                <a16:creationId xmlns:a16="http://schemas.microsoft.com/office/drawing/2014/main" id="{CB759881-A3ED-4241-AA72-B19B918E3573}"/>
              </a:ext>
            </a:extLst>
          </p:cNvPr>
          <p:cNvCxnSpPr>
            <a:cxnSpLocks/>
          </p:cNvCxnSpPr>
          <p:nvPr/>
        </p:nvCxnSpPr>
        <p:spPr>
          <a:xfrm>
            <a:off x="8610600" y="2147776"/>
            <a:ext cx="785038" cy="0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直線接點 23">
            <a:extLst>
              <a:ext uri="{FF2B5EF4-FFF2-40B4-BE49-F238E27FC236}">
                <a16:creationId xmlns:a16="http://schemas.microsoft.com/office/drawing/2014/main" id="{8837079A-7695-4745-B56B-6E4AEAFE6FC2}"/>
              </a:ext>
            </a:extLst>
          </p:cNvPr>
          <p:cNvCxnSpPr>
            <a:cxnSpLocks/>
          </p:cNvCxnSpPr>
          <p:nvPr/>
        </p:nvCxnSpPr>
        <p:spPr>
          <a:xfrm>
            <a:off x="9597655" y="3289004"/>
            <a:ext cx="1591339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直線接點 24">
            <a:extLst>
              <a:ext uri="{FF2B5EF4-FFF2-40B4-BE49-F238E27FC236}">
                <a16:creationId xmlns:a16="http://schemas.microsoft.com/office/drawing/2014/main" id="{C344E8DD-FCF9-6040-B339-91E6C302ED5F}"/>
              </a:ext>
            </a:extLst>
          </p:cNvPr>
          <p:cNvCxnSpPr>
            <a:cxnSpLocks/>
          </p:cNvCxnSpPr>
          <p:nvPr/>
        </p:nvCxnSpPr>
        <p:spPr>
          <a:xfrm>
            <a:off x="8123274" y="3289004"/>
            <a:ext cx="720358" cy="0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直線接點 25">
            <a:extLst>
              <a:ext uri="{FF2B5EF4-FFF2-40B4-BE49-F238E27FC236}">
                <a16:creationId xmlns:a16="http://schemas.microsoft.com/office/drawing/2014/main" id="{D6E54702-95FB-D44A-B3DF-0A6AD1BB0DC8}"/>
              </a:ext>
            </a:extLst>
          </p:cNvPr>
          <p:cNvCxnSpPr>
            <a:cxnSpLocks/>
          </p:cNvCxnSpPr>
          <p:nvPr/>
        </p:nvCxnSpPr>
        <p:spPr>
          <a:xfrm>
            <a:off x="9806765" y="4171506"/>
            <a:ext cx="1456660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直線接點 26">
            <a:extLst>
              <a:ext uri="{FF2B5EF4-FFF2-40B4-BE49-F238E27FC236}">
                <a16:creationId xmlns:a16="http://schemas.microsoft.com/office/drawing/2014/main" id="{5D14783C-DED0-E940-B6D2-EDD77DFC173D}"/>
              </a:ext>
            </a:extLst>
          </p:cNvPr>
          <p:cNvCxnSpPr>
            <a:cxnSpLocks/>
          </p:cNvCxnSpPr>
          <p:nvPr/>
        </p:nvCxnSpPr>
        <p:spPr>
          <a:xfrm>
            <a:off x="8718698" y="4171506"/>
            <a:ext cx="676940" cy="0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直線接點 27">
            <a:extLst>
              <a:ext uri="{FF2B5EF4-FFF2-40B4-BE49-F238E27FC236}">
                <a16:creationId xmlns:a16="http://schemas.microsoft.com/office/drawing/2014/main" id="{F60C2871-D403-204F-9143-31CCBD38F8AC}"/>
              </a:ext>
            </a:extLst>
          </p:cNvPr>
          <p:cNvCxnSpPr>
            <a:cxnSpLocks/>
          </p:cNvCxnSpPr>
          <p:nvPr/>
        </p:nvCxnSpPr>
        <p:spPr>
          <a:xfrm>
            <a:off x="9640187" y="5344633"/>
            <a:ext cx="1591339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直線接點 28">
            <a:extLst>
              <a:ext uri="{FF2B5EF4-FFF2-40B4-BE49-F238E27FC236}">
                <a16:creationId xmlns:a16="http://schemas.microsoft.com/office/drawing/2014/main" id="{9B33937C-378E-3E4B-89F5-13E1EED3E006}"/>
              </a:ext>
            </a:extLst>
          </p:cNvPr>
          <p:cNvCxnSpPr>
            <a:cxnSpLocks/>
          </p:cNvCxnSpPr>
          <p:nvPr/>
        </p:nvCxnSpPr>
        <p:spPr>
          <a:xfrm>
            <a:off x="8123274" y="5344633"/>
            <a:ext cx="720358" cy="0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" name="直線接點 29">
            <a:extLst>
              <a:ext uri="{FF2B5EF4-FFF2-40B4-BE49-F238E27FC236}">
                <a16:creationId xmlns:a16="http://schemas.microsoft.com/office/drawing/2014/main" id="{7F04A53B-4793-C549-9B17-462055E39A5D}"/>
              </a:ext>
            </a:extLst>
          </p:cNvPr>
          <p:cNvCxnSpPr>
            <a:cxnSpLocks/>
          </p:cNvCxnSpPr>
          <p:nvPr/>
        </p:nvCxnSpPr>
        <p:spPr>
          <a:xfrm>
            <a:off x="4369982" y="4139607"/>
            <a:ext cx="1456660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056447B0-B63C-5E4C-98F0-65726A38D80C}"/>
              </a:ext>
            </a:extLst>
          </p:cNvPr>
          <p:cNvCxnSpPr>
            <a:cxnSpLocks/>
          </p:cNvCxnSpPr>
          <p:nvPr/>
        </p:nvCxnSpPr>
        <p:spPr>
          <a:xfrm>
            <a:off x="3317358" y="4139607"/>
            <a:ext cx="673396" cy="0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F184CC74-6C28-E144-9D75-620D9470CA70}"/>
              </a:ext>
            </a:extLst>
          </p:cNvPr>
          <p:cNvCxnSpPr>
            <a:cxnSpLocks/>
          </p:cNvCxnSpPr>
          <p:nvPr/>
        </p:nvCxnSpPr>
        <p:spPr>
          <a:xfrm>
            <a:off x="4235303" y="5376530"/>
            <a:ext cx="1591339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593836D3-8FBB-5747-9E86-F93EAA475C83}"/>
              </a:ext>
            </a:extLst>
          </p:cNvPr>
          <p:cNvCxnSpPr>
            <a:cxnSpLocks/>
          </p:cNvCxnSpPr>
          <p:nvPr/>
        </p:nvCxnSpPr>
        <p:spPr>
          <a:xfrm>
            <a:off x="2690037" y="5376530"/>
            <a:ext cx="701749" cy="0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8" name="直線箭頭接點 37">
            <a:extLst>
              <a:ext uri="{FF2B5EF4-FFF2-40B4-BE49-F238E27FC236}">
                <a16:creationId xmlns:a16="http://schemas.microsoft.com/office/drawing/2014/main" id="{012E7CFF-33A7-B042-94D5-6AE7EA6AE992}"/>
              </a:ext>
            </a:extLst>
          </p:cNvPr>
          <p:cNvCxnSpPr>
            <a:cxnSpLocks/>
          </p:cNvCxnSpPr>
          <p:nvPr/>
        </p:nvCxnSpPr>
        <p:spPr>
          <a:xfrm flipH="1">
            <a:off x="2913320" y="5508554"/>
            <a:ext cx="62377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箭頭接點 38">
            <a:extLst>
              <a:ext uri="{FF2B5EF4-FFF2-40B4-BE49-F238E27FC236}">
                <a16:creationId xmlns:a16="http://schemas.microsoft.com/office/drawing/2014/main" id="{F4884407-3023-B841-B162-DFBD0501F105}"/>
              </a:ext>
            </a:extLst>
          </p:cNvPr>
          <p:cNvCxnSpPr>
            <a:cxnSpLocks/>
          </p:cNvCxnSpPr>
          <p:nvPr/>
        </p:nvCxnSpPr>
        <p:spPr>
          <a:xfrm>
            <a:off x="2934586" y="3429000"/>
            <a:ext cx="694661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41" name="直線箭頭接點 40">
            <a:extLst>
              <a:ext uri="{FF2B5EF4-FFF2-40B4-BE49-F238E27FC236}">
                <a16:creationId xmlns:a16="http://schemas.microsoft.com/office/drawing/2014/main" id="{E00203D3-DB1D-3249-BD75-4938E0BBF429}"/>
              </a:ext>
            </a:extLst>
          </p:cNvPr>
          <p:cNvCxnSpPr>
            <a:cxnSpLocks/>
          </p:cNvCxnSpPr>
          <p:nvPr/>
        </p:nvCxnSpPr>
        <p:spPr>
          <a:xfrm>
            <a:off x="8350102" y="3448496"/>
            <a:ext cx="694661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43" name="直線箭頭接點 42">
            <a:extLst>
              <a:ext uri="{FF2B5EF4-FFF2-40B4-BE49-F238E27FC236}">
                <a16:creationId xmlns:a16="http://schemas.microsoft.com/office/drawing/2014/main" id="{6F8FE876-5297-894C-A559-7DA5085FA081}"/>
              </a:ext>
            </a:extLst>
          </p:cNvPr>
          <p:cNvCxnSpPr>
            <a:cxnSpLocks/>
          </p:cNvCxnSpPr>
          <p:nvPr/>
        </p:nvCxnSpPr>
        <p:spPr>
          <a:xfrm flipH="1">
            <a:off x="8350102" y="5502353"/>
            <a:ext cx="62377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接點 43">
            <a:extLst>
              <a:ext uri="{FF2B5EF4-FFF2-40B4-BE49-F238E27FC236}">
                <a16:creationId xmlns:a16="http://schemas.microsoft.com/office/drawing/2014/main" id="{092EB742-93C9-9E43-9BF3-E36BD8261B20}"/>
              </a:ext>
            </a:extLst>
          </p:cNvPr>
          <p:cNvCxnSpPr>
            <a:cxnSpLocks/>
          </p:cNvCxnSpPr>
          <p:nvPr/>
        </p:nvCxnSpPr>
        <p:spPr>
          <a:xfrm>
            <a:off x="693542" y="6034573"/>
            <a:ext cx="1096926" cy="0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5" name="直線接點 44">
            <a:extLst>
              <a:ext uri="{FF2B5EF4-FFF2-40B4-BE49-F238E27FC236}">
                <a16:creationId xmlns:a16="http://schemas.microsoft.com/office/drawing/2014/main" id="{B2C67DA9-0519-B943-868E-BBF906798A76}"/>
              </a:ext>
            </a:extLst>
          </p:cNvPr>
          <p:cNvCxnSpPr>
            <a:cxnSpLocks/>
          </p:cNvCxnSpPr>
          <p:nvPr/>
        </p:nvCxnSpPr>
        <p:spPr>
          <a:xfrm>
            <a:off x="693542" y="6455925"/>
            <a:ext cx="1096926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7" name="矩形 46">
            <a:extLst>
              <a:ext uri="{FF2B5EF4-FFF2-40B4-BE49-F238E27FC236}">
                <a16:creationId xmlns:a16="http://schemas.microsoft.com/office/drawing/2014/main" id="{A2F08814-6802-8440-835E-E5936AC9D966}"/>
              </a:ext>
            </a:extLst>
          </p:cNvPr>
          <p:cNvSpPr/>
          <p:nvPr/>
        </p:nvSpPr>
        <p:spPr>
          <a:xfrm>
            <a:off x="1790468" y="6248399"/>
            <a:ext cx="30075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comprised solely of n + 1</a:t>
            </a:r>
            <a:endParaRPr lang="zh-TW" altLang="en-US" dirty="0"/>
          </a:p>
        </p:txBody>
      </p:sp>
      <p:sp>
        <p:nvSpPr>
          <p:cNvPr id="52" name="甜甜圈 51">
            <a:extLst>
              <a:ext uri="{FF2B5EF4-FFF2-40B4-BE49-F238E27FC236}">
                <a16:creationId xmlns:a16="http://schemas.microsoft.com/office/drawing/2014/main" id="{031978B6-B657-8C45-8CDA-3E150CED4597}"/>
              </a:ext>
            </a:extLst>
          </p:cNvPr>
          <p:cNvSpPr/>
          <p:nvPr/>
        </p:nvSpPr>
        <p:spPr>
          <a:xfrm>
            <a:off x="386318" y="1550149"/>
            <a:ext cx="988828" cy="988828"/>
          </a:xfrm>
          <a:prstGeom prst="donut">
            <a:avLst/>
          </a:prstGeom>
          <a:solidFill>
            <a:schemeClr val="accent6">
              <a:alpha val="2980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>
              <a:solidFill>
                <a:schemeClr val="tx1"/>
              </a:solidFill>
            </a:endParaRPr>
          </a:p>
        </p:txBody>
      </p:sp>
      <p:sp>
        <p:nvSpPr>
          <p:cNvPr id="53" name="甜甜圈 52">
            <a:extLst>
              <a:ext uri="{FF2B5EF4-FFF2-40B4-BE49-F238E27FC236}">
                <a16:creationId xmlns:a16="http://schemas.microsoft.com/office/drawing/2014/main" id="{CBCF08B8-588D-AB49-BDC0-48F6A7A72BE7}"/>
              </a:ext>
            </a:extLst>
          </p:cNvPr>
          <p:cNvSpPr/>
          <p:nvPr/>
        </p:nvSpPr>
        <p:spPr>
          <a:xfrm>
            <a:off x="5784110" y="1550258"/>
            <a:ext cx="988828" cy="988828"/>
          </a:xfrm>
          <a:prstGeom prst="donut">
            <a:avLst/>
          </a:prstGeom>
          <a:solidFill>
            <a:schemeClr val="accent6">
              <a:alpha val="2980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>
              <a:solidFill>
                <a:schemeClr val="tx1"/>
              </a:solidFill>
            </a:endParaRPr>
          </a:p>
        </p:txBody>
      </p:sp>
      <p:sp>
        <p:nvSpPr>
          <p:cNvPr id="55" name="乘號 54">
            <a:extLst>
              <a:ext uri="{FF2B5EF4-FFF2-40B4-BE49-F238E27FC236}">
                <a16:creationId xmlns:a16="http://schemas.microsoft.com/office/drawing/2014/main" id="{29E92283-93DD-C443-9EE6-A6B465449E55}"/>
              </a:ext>
            </a:extLst>
          </p:cNvPr>
          <p:cNvSpPr/>
          <p:nvPr/>
        </p:nvSpPr>
        <p:spPr>
          <a:xfrm>
            <a:off x="163946" y="3289004"/>
            <a:ext cx="1348508" cy="1348508"/>
          </a:xfrm>
          <a:prstGeom prst="mathMultiply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56" name="乘號 55">
            <a:extLst>
              <a:ext uri="{FF2B5EF4-FFF2-40B4-BE49-F238E27FC236}">
                <a16:creationId xmlns:a16="http://schemas.microsoft.com/office/drawing/2014/main" id="{F7378A44-FE8C-074A-AB77-1839056E4C2C}"/>
              </a:ext>
            </a:extLst>
          </p:cNvPr>
          <p:cNvSpPr/>
          <p:nvPr/>
        </p:nvSpPr>
        <p:spPr>
          <a:xfrm>
            <a:off x="5563515" y="3315378"/>
            <a:ext cx="1348508" cy="1348508"/>
          </a:xfrm>
          <a:prstGeom prst="mathMultiply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graphicFrame>
        <p:nvGraphicFramePr>
          <p:cNvPr id="34" name="表格 33">
            <a:extLst>
              <a:ext uri="{FF2B5EF4-FFF2-40B4-BE49-F238E27FC236}">
                <a16:creationId xmlns:a16="http://schemas.microsoft.com/office/drawing/2014/main" id="{F276DA4E-6C06-EB45-97C5-CB0615FCFA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7063021"/>
              </p:ext>
            </p:extLst>
          </p:nvPr>
        </p:nvGraphicFramePr>
        <p:xfrm>
          <a:off x="3605888" y="854909"/>
          <a:ext cx="661227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61227">
                  <a:extLst>
                    <a:ext uri="{9D8B030D-6E8A-4147-A177-3AD203B41FA5}">
                      <a16:colId xmlns:a16="http://schemas.microsoft.com/office/drawing/2014/main" val="3262156748"/>
                    </a:ext>
                  </a:extLst>
                </a:gridCol>
                <a:gridCol w="661227">
                  <a:extLst>
                    <a:ext uri="{9D8B030D-6E8A-4147-A177-3AD203B41FA5}">
                      <a16:colId xmlns:a16="http://schemas.microsoft.com/office/drawing/2014/main" val="3015472265"/>
                    </a:ext>
                  </a:extLst>
                </a:gridCol>
                <a:gridCol w="661227">
                  <a:extLst>
                    <a:ext uri="{9D8B030D-6E8A-4147-A177-3AD203B41FA5}">
                      <a16:colId xmlns:a16="http://schemas.microsoft.com/office/drawing/2014/main" val="2918737608"/>
                    </a:ext>
                  </a:extLst>
                </a:gridCol>
                <a:gridCol w="661227">
                  <a:extLst>
                    <a:ext uri="{9D8B030D-6E8A-4147-A177-3AD203B41FA5}">
                      <a16:colId xmlns:a16="http://schemas.microsoft.com/office/drawing/2014/main" val="380214762"/>
                    </a:ext>
                  </a:extLst>
                </a:gridCol>
                <a:gridCol w="661227">
                  <a:extLst>
                    <a:ext uri="{9D8B030D-6E8A-4147-A177-3AD203B41FA5}">
                      <a16:colId xmlns:a16="http://schemas.microsoft.com/office/drawing/2014/main" val="3992019100"/>
                    </a:ext>
                  </a:extLst>
                </a:gridCol>
                <a:gridCol w="661227">
                  <a:extLst>
                    <a:ext uri="{9D8B030D-6E8A-4147-A177-3AD203B41FA5}">
                      <a16:colId xmlns:a16="http://schemas.microsoft.com/office/drawing/2014/main" val="144364646"/>
                    </a:ext>
                  </a:extLst>
                </a:gridCol>
                <a:gridCol w="661227">
                  <a:extLst>
                    <a:ext uri="{9D8B030D-6E8A-4147-A177-3AD203B41FA5}">
                      <a16:colId xmlns:a16="http://schemas.microsoft.com/office/drawing/2014/main" val="2799887745"/>
                    </a:ext>
                  </a:extLst>
                </a:gridCol>
                <a:gridCol w="661227">
                  <a:extLst>
                    <a:ext uri="{9D8B030D-6E8A-4147-A177-3AD203B41FA5}">
                      <a16:colId xmlns:a16="http://schemas.microsoft.com/office/drawing/2014/main" val="2888082613"/>
                    </a:ext>
                  </a:extLst>
                </a:gridCol>
                <a:gridCol w="661227">
                  <a:extLst>
                    <a:ext uri="{9D8B030D-6E8A-4147-A177-3AD203B41FA5}">
                      <a16:colId xmlns:a16="http://schemas.microsoft.com/office/drawing/2014/main" val="2350316804"/>
                    </a:ext>
                  </a:extLst>
                </a:gridCol>
                <a:gridCol w="661227">
                  <a:extLst>
                    <a:ext uri="{9D8B030D-6E8A-4147-A177-3AD203B41FA5}">
                      <a16:colId xmlns:a16="http://schemas.microsoft.com/office/drawing/2014/main" val="41663783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…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…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…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…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…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…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𝝓(</a:t>
                      </a:r>
                      <a:r>
                        <a:rPr kumimoji="1" lang="el-GR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π)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n+1</a:t>
                      </a:r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20146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07813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5739DDD5-41CE-F843-ACDF-4D7E631ECE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703" y="1690688"/>
            <a:ext cx="11798595" cy="3941025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00"/>
                </a:solidFill>
              </a:rPr>
              <a:t>Lemma11.</a:t>
            </a:r>
            <a:endParaRPr kumimoji="1" lang="zh-TW" alt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12</a:t>
            </a:fld>
            <a:endParaRPr kumimoji="1"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9E16DF4-9612-8C4C-BF86-9EE15FA378C1}"/>
              </a:ext>
            </a:extLst>
          </p:cNvPr>
          <p:cNvSpPr/>
          <p:nvPr/>
        </p:nvSpPr>
        <p:spPr>
          <a:xfrm>
            <a:off x="1790468" y="5831149"/>
            <a:ext cx="6896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𝝓</a:t>
            </a:r>
            <a:r>
              <a:rPr kumimoji="1"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(π) </a:t>
            </a:r>
            <a:endParaRPr lang="zh-TW" altLang="en-US" dirty="0"/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DECFC2DA-BCEA-9E4D-B804-EF519FFF40B2}"/>
              </a:ext>
            </a:extLst>
          </p:cNvPr>
          <p:cNvCxnSpPr>
            <a:cxnSpLocks/>
          </p:cNvCxnSpPr>
          <p:nvPr/>
        </p:nvCxnSpPr>
        <p:spPr>
          <a:xfrm>
            <a:off x="693542" y="6034573"/>
            <a:ext cx="1096926" cy="0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4D05E11C-3569-8B44-A751-C62B63A066C7}"/>
              </a:ext>
            </a:extLst>
          </p:cNvPr>
          <p:cNvCxnSpPr>
            <a:cxnSpLocks/>
          </p:cNvCxnSpPr>
          <p:nvPr/>
        </p:nvCxnSpPr>
        <p:spPr>
          <a:xfrm>
            <a:off x="693542" y="6455925"/>
            <a:ext cx="1096926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E8C86F6E-A7E5-B146-9C73-BD42EBE48FA4}"/>
              </a:ext>
            </a:extLst>
          </p:cNvPr>
          <p:cNvSpPr/>
          <p:nvPr/>
        </p:nvSpPr>
        <p:spPr>
          <a:xfrm>
            <a:off x="1790468" y="6248399"/>
            <a:ext cx="30075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comprised solely of n + 1</a:t>
            </a:r>
            <a:endParaRPr lang="zh-TW" altLang="en-US" dirty="0"/>
          </a:p>
        </p:txBody>
      </p:sp>
      <p:sp>
        <p:nvSpPr>
          <p:cNvPr id="12" name="乘號 11">
            <a:extLst>
              <a:ext uri="{FF2B5EF4-FFF2-40B4-BE49-F238E27FC236}">
                <a16:creationId xmlns:a16="http://schemas.microsoft.com/office/drawing/2014/main" id="{21C74703-3316-944B-8A8C-1C9F1DB1CFA5}"/>
              </a:ext>
            </a:extLst>
          </p:cNvPr>
          <p:cNvSpPr/>
          <p:nvPr/>
        </p:nvSpPr>
        <p:spPr>
          <a:xfrm>
            <a:off x="-197561" y="3331534"/>
            <a:ext cx="1348508" cy="1348508"/>
          </a:xfrm>
          <a:prstGeom prst="mathMultiply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3" name="乘號 12">
            <a:extLst>
              <a:ext uri="{FF2B5EF4-FFF2-40B4-BE49-F238E27FC236}">
                <a16:creationId xmlns:a16="http://schemas.microsoft.com/office/drawing/2014/main" id="{D789CC13-EE14-FF4D-8C18-07601FD16C38}"/>
              </a:ext>
            </a:extLst>
          </p:cNvPr>
          <p:cNvSpPr/>
          <p:nvPr/>
        </p:nvSpPr>
        <p:spPr>
          <a:xfrm>
            <a:off x="-197561" y="1419294"/>
            <a:ext cx="1348508" cy="1348508"/>
          </a:xfrm>
          <a:prstGeom prst="mathMultiply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19" name="直線箭頭接點 18">
            <a:extLst>
              <a:ext uri="{FF2B5EF4-FFF2-40B4-BE49-F238E27FC236}">
                <a16:creationId xmlns:a16="http://schemas.microsoft.com/office/drawing/2014/main" id="{6683D0C3-AA07-D746-95F3-3507975781DD}"/>
              </a:ext>
            </a:extLst>
          </p:cNvPr>
          <p:cNvCxnSpPr>
            <a:cxnSpLocks/>
          </p:cNvCxnSpPr>
          <p:nvPr/>
        </p:nvCxnSpPr>
        <p:spPr>
          <a:xfrm flipH="1">
            <a:off x="3625702" y="3725829"/>
            <a:ext cx="126527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>
            <a:extLst>
              <a:ext uri="{FF2B5EF4-FFF2-40B4-BE49-F238E27FC236}">
                <a16:creationId xmlns:a16="http://schemas.microsoft.com/office/drawing/2014/main" id="{01BB644A-919F-1E44-895B-735F43145E75}"/>
              </a:ext>
            </a:extLst>
          </p:cNvPr>
          <p:cNvCxnSpPr>
            <a:cxnSpLocks/>
          </p:cNvCxnSpPr>
          <p:nvPr/>
        </p:nvCxnSpPr>
        <p:spPr>
          <a:xfrm>
            <a:off x="3848986" y="2259609"/>
            <a:ext cx="2247014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直線接點 23">
            <a:extLst>
              <a:ext uri="{FF2B5EF4-FFF2-40B4-BE49-F238E27FC236}">
                <a16:creationId xmlns:a16="http://schemas.microsoft.com/office/drawing/2014/main" id="{0C537DD2-B557-004E-B092-43649233C64C}"/>
              </a:ext>
            </a:extLst>
          </p:cNvPr>
          <p:cNvCxnSpPr>
            <a:cxnSpLocks/>
          </p:cNvCxnSpPr>
          <p:nvPr/>
        </p:nvCxnSpPr>
        <p:spPr>
          <a:xfrm>
            <a:off x="5085907" y="4155749"/>
            <a:ext cx="1187302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直線接點 25">
            <a:extLst>
              <a:ext uri="{FF2B5EF4-FFF2-40B4-BE49-F238E27FC236}">
                <a16:creationId xmlns:a16="http://schemas.microsoft.com/office/drawing/2014/main" id="{1BC85970-919E-424C-9D7E-6ABF386DDBC6}"/>
              </a:ext>
            </a:extLst>
          </p:cNvPr>
          <p:cNvCxnSpPr>
            <a:cxnSpLocks/>
          </p:cNvCxnSpPr>
          <p:nvPr/>
        </p:nvCxnSpPr>
        <p:spPr>
          <a:xfrm>
            <a:off x="9906000" y="4104549"/>
            <a:ext cx="1447800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直線接點 27">
            <a:extLst>
              <a:ext uri="{FF2B5EF4-FFF2-40B4-BE49-F238E27FC236}">
                <a16:creationId xmlns:a16="http://schemas.microsoft.com/office/drawing/2014/main" id="{42C92EC1-1030-F64E-9E41-2AC78DC1C0A3}"/>
              </a:ext>
            </a:extLst>
          </p:cNvPr>
          <p:cNvCxnSpPr>
            <a:cxnSpLocks/>
          </p:cNvCxnSpPr>
          <p:nvPr/>
        </p:nvCxnSpPr>
        <p:spPr>
          <a:xfrm>
            <a:off x="10629900" y="2221003"/>
            <a:ext cx="1214770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" name="直線接點 29">
            <a:extLst>
              <a:ext uri="{FF2B5EF4-FFF2-40B4-BE49-F238E27FC236}">
                <a16:creationId xmlns:a16="http://schemas.microsoft.com/office/drawing/2014/main" id="{FF813D46-FDDA-A44A-9846-10E97C81935C}"/>
              </a:ext>
            </a:extLst>
          </p:cNvPr>
          <p:cNvCxnSpPr>
            <a:cxnSpLocks/>
          </p:cNvCxnSpPr>
          <p:nvPr/>
        </p:nvCxnSpPr>
        <p:spPr>
          <a:xfrm>
            <a:off x="3423684" y="4209317"/>
            <a:ext cx="1467293" cy="0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44721405-3481-7343-94D9-911842F3C300}"/>
              </a:ext>
            </a:extLst>
          </p:cNvPr>
          <p:cNvCxnSpPr>
            <a:cxnSpLocks/>
          </p:cNvCxnSpPr>
          <p:nvPr/>
        </p:nvCxnSpPr>
        <p:spPr>
          <a:xfrm>
            <a:off x="9675628" y="2259609"/>
            <a:ext cx="684028" cy="0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直線箭頭接點 35">
            <a:extLst>
              <a:ext uri="{FF2B5EF4-FFF2-40B4-BE49-F238E27FC236}">
                <a16:creationId xmlns:a16="http://schemas.microsoft.com/office/drawing/2014/main" id="{953C3C2B-9333-4145-807D-43C8B91B7A43}"/>
              </a:ext>
            </a:extLst>
          </p:cNvPr>
          <p:cNvCxnSpPr>
            <a:cxnSpLocks/>
          </p:cNvCxnSpPr>
          <p:nvPr/>
        </p:nvCxnSpPr>
        <p:spPr>
          <a:xfrm>
            <a:off x="1364511" y="1811079"/>
            <a:ext cx="1750829" cy="1772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8" name="直線箭頭接點 37">
            <a:extLst>
              <a:ext uri="{FF2B5EF4-FFF2-40B4-BE49-F238E27FC236}">
                <a16:creationId xmlns:a16="http://schemas.microsoft.com/office/drawing/2014/main" id="{FCBEBEBA-5EF7-7444-8FBC-A92E3796DD7D}"/>
              </a:ext>
            </a:extLst>
          </p:cNvPr>
          <p:cNvCxnSpPr>
            <a:cxnSpLocks/>
          </p:cNvCxnSpPr>
          <p:nvPr/>
        </p:nvCxnSpPr>
        <p:spPr>
          <a:xfrm>
            <a:off x="7371909" y="1811079"/>
            <a:ext cx="1750829" cy="1772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9" name="直線箭頭接點 38">
            <a:extLst>
              <a:ext uri="{FF2B5EF4-FFF2-40B4-BE49-F238E27FC236}">
                <a16:creationId xmlns:a16="http://schemas.microsoft.com/office/drawing/2014/main" id="{8315F65C-09C2-5C4D-96B7-3AB6A27B9502}"/>
              </a:ext>
            </a:extLst>
          </p:cNvPr>
          <p:cNvCxnSpPr>
            <a:cxnSpLocks/>
          </p:cNvCxnSpPr>
          <p:nvPr/>
        </p:nvCxnSpPr>
        <p:spPr>
          <a:xfrm>
            <a:off x="8704523" y="3427228"/>
            <a:ext cx="1750829" cy="1772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40" name="直線接點 39">
            <a:extLst>
              <a:ext uri="{FF2B5EF4-FFF2-40B4-BE49-F238E27FC236}">
                <a16:creationId xmlns:a16="http://schemas.microsoft.com/office/drawing/2014/main" id="{667B5E04-8632-8648-B28D-CF7591357955}"/>
              </a:ext>
            </a:extLst>
          </p:cNvPr>
          <p:cNvCxnSpPr>
            <a:cxnSpLocks/>
          </p:cNvCxnSpPr>
          <p:nvPr/>
        </p:nvCxnSpPr>
        <p:spPr>
          <a:xfrm>
            <a:off x="7931888" y="3427228"/>
            <a:ext cx="678712" cy="0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5" name="直線箭頭接點 44">
            <a:extLst>
              <a:ext uri="{FF2B5EF4-FFF2-40B4-BE49-F238E27FC236}">
                <a16:creationId xmlns:a16="http://schemas.microsoft.com/office/drawing/2014/main" id="{F2D34BA0-86BD-CD4A-8D4C-D6AD57901ED0}"/>
              </a:ext>
            </a:extLst>
          </p:cNvPr>
          <p:cNvCxnSpPr>
            <a:cxnSpLocks/>
          </p:cNvCxnSpPr>
          <p:nvPr/>
        </p:nvCxnSpPr>
        <p:spPr>
          <a:xfrm flipH="1">
            <a:off x="1364512" y="3725829"/>
            <a:ext cx="175082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箭頭接點 46">
            <a:extLst>
              <a:ext uri="{FF2B5EF4-FFF2-40B4-BE49-F238E27FC236}">
                <a16:creationId xmlns:a16="http://schemas.microsoft.com/office/drawing/2014/main" id="{1B2B629D-237C-A94B-B009-243C5294B435}"/>
              </a:ext>
            </a:extLst>
          </p:cNvPr>
          <p:cNvCxnSpPr>
            <a:cxnSpLocks/>
          </p:cNvCxnSpPr>
          <p:nvPr/>
        </p:nvCxnSpPr>
        <p:spPr>
          <a:xfrm flipH="1">
            <a:off x="7495952" y="3733809"/>
            <a:ext cx="160906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0B102247-03A9-7648-BEB4-AC2496F156A0}"/>
              </a:ext>
            </a:extLst>
          </p:cNvPr>
          <p:cNvCxnSpPr>
            <a:cxnSpLocks/>
          </p:cNvCxnSpPr>
          <p:nvPr/>
        </p:nvCxnSpPr>
        <p:spPr>
          <a:xfrm>
            <a:off x="9356651" y="4104549"/>
            <a:ext cx="318977" cy="0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4" name="直線箭頭接點 53">
            <a:extLst>
              <a:ext uri="{FF2B5EF4-FFF2-40B4-BE49-F238E27FC236}">
                <a16:creationId xmlns:a16="http://schemas.microsoft.com/office/drawing/2014/main" id="{0E5E1BFF-9E5D-1443-B7BF-0AEE627A9875}"/>
              </a:ext>
            </a:extLst>
          </p:cNvPr>
          <p:cNvCxnSpPr>
            <a:cxnSpLocks/>
          </p:cNvCxnSpPr>
          <p:nvPr/>
        </p:nvCxnSpPr>
        <p:spPr>
          <a:xfrm>
            <a:off x="8155171" y="5375176"/>
            <a:ext cx="1862471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56" name="直線接點 55">
            <a:extLst>
              <a:ext uri="{FF2B5EF4-FFF2-40B4-BE49-F238E27FC236}">
                <a16:creationId xmlns:a16="http://schemas.microsoft.com/office/drawing/2014/main" id="{8AF401FB-B8D1-244C-B2EE-108D2931B557}"/>
              </a:ext>
            </a:extLst>
          </p:cNvPr>
          <p:cNvCxnSpPr>
            <a:cxnSpLocks/>
          </p:cNvCxnSpPr>
          <p:nvPr/>
        </p:nvCxnSpPr>
        <p:spPr>
          <a:xfrm>
            <a:off x="10629900" y="3450836"/>
            <a:ext cx="1214770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7" name="直線接點 56">
            <a:extLst>
              <a:ext uri="{FF2B5EF4-FFF2-40B4-BE49-F238E27FC236}">
                <a16:creationId xmlns:a16="http://schemas.microsoft.com/office/drawing/2014/main" id="{240D60E9-0EC4-FC4B-BEEB-018F033740F7}"/>
              </a:ext>
            </a:extLst>
          </p:cNvPr>
          <p:cNvCxnSpPr>
            <a:cxnSpLocks/>
          </p:cNvCxnSpPr>
          <p:nvPr/>
        </p:nvCxnSpPr>
        <p:spPr>
          <a:xfrm>
            <a:off x="10120423" y="5375176"/>
            <a:ext cx="1458433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9" name="直線接點 58">
            <a:extLst>
              <a:ext uri="{FF2B5EF4-FFF2-40B4-BE49-F238E27FC236}">
                <a16:creationId xmlns:a16="http://schemas.microsoft.com/office/drawing/2014/main" id="{835B944B-2099-7C47-A753-B9A45550C348}"/>
              </a:ext>
            </a:extLst>
          </p:cNvPr>
          <p:cNvCxnSpPr>
            <a:cxnSpLocks/>
          </p:cNvCxnSpPr>
          <p:nvPr/>
        </p:nvCxnSpPr>
        <p:spPr>
          <a:xfrm flipH="1">
            <a:off x="7666076" y="5375176"/>
            <a:ext cx="287078" cy="0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4" name="甜甜圈 13">
            <a:extLst>
              <a:ext uri="{FF2B5EF4-FFF2-40B4-BE49-F238E27FC236}">
                <a16:creationId xmlns:a16="http://schemas.microsoft.com/office/drawing/2014/main" id="{1A024F29-5BCD-1F41-9A2F-BFCAB32731EB}"/>
              </a:ext>
            </a:extLst>
          </p:cNvPr>
          <p:cNvSpPr/>
          <p:nvPr/>
        </p:nvSpPr>
        <p:spPr>
          <a:xfrm>
            <a:off x="5979044" y="1558593"/>
            <a:ext cx="988828" cy="988828"/>
          </a:xfrm>
          <a:prstGeom prst="donut">
            <a:avLst/>
          </a:prstGeom>
          <a:solidFill>
            <a:schemeClr val="accent6">
              <a:alpha val="2980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>
              <a:solidFill>
                <a:schemeClr val="tx1"/>
              </a:solidFill>
            </a:endParaRPr>
          </a:p>
        </p:txBody>
      </p:sp>
      <p:sp>
        <p:nvSpPr>
          <p:cNvPr id="15" name="甜甜圈 14">
            <a:extLst>
              <a:ext uri="{FF2B5EF4-FFF2-40B4-BE49-F238E27FC236}">
                <a16:creationId xmlns:a16="http://schemas.microsoft.com/office/drawing/2014/main" id="{847E2057-B4D2-9B49-86E0-7DF04E4F38F6}"/>
              </a:ext>
            </a:extLst>
          </p:cNvPr>
          <p:cNvSpPr/>
          <p:nvPr/>
        </p:nvSpPr>
        <p:spPr>
          <a:xfrm>
            <a:off x="5977040" y="3511374"/>
            <a:ext cx="988828" cy="988828"/>
          </a:xfrm>
          <a:prstGeom prst="donut">
            <a:avLst/>
          </a:prstGeom>
          <a:solidFill>
            <a:schemeClr val="accent6">
              <a:alpha val="2980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>
              <a:solidFill>
                <a:schemeClr val="tx1"/>
              </a:solidFill>
            </a:endParaRPr>
          </a:p>
        </p:txBody>
      </p:sp>
      <p:cxnSp>
        <p:nvCxnSpPr>
          <p:cNvPr id="64" name="直線箭頭接點 63">
            <a:extLst>
              <a:ext uri="{FF2B5EF4-FFF2-40B4-BE49-F238E27FC236}">
                <a16:creationId xmlns:a16="http://schemas.microsoft.com/office/drawing/2014/main" id="{272FF071-1C7C-0142-B5C9-EDBC129E35BF}"/>
              </a:ext>
            </a:extLst>
          </p:cNvPr>
          <p:cNvCxnSpPr>
            <a:cxnSpLocks/>
          </p:cNvCxnSpPr>
          <p:nvPr/>
        </p:nvCxnSpPr>
        <p:spPr>
          <a:xfrm flipH="1">
            <a:off x="3820633" y="1811079"/>
            <a:ext cx="138932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2" name="表格 31">
            <a:extLst>
              <a:ext uri="{FF2B5EF4-FFF2-40B4-BE49-F238E27FC236}">
                <a16:creationId xmlns:a16="http://schemas.microsoft.com/office/drawing/2014/main" id="{3F7A3F5A-CDC5-3642-9B68-D009DF77B4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1655117"/>
              </p:ext>
            </p:extLst>
          </p:nvPr>
        </p:nvGraphicFramePr>
        <p:xfrm>
          <a:off x="3605888" y="854909"/>
          <a:ext cx="661227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61227">
                  <a:extLst>
                    <a:ext uri="{9D8B030D-6E8A-4147-A177-3AD203B41FA5}">
                      <a16:colId xmlns:a16="http://schemas.microsoft.com/office/drawing/2014/main" val="3262156748"/>
                    </a:ext>
                  </a:extLst>
                </a:gridCol>
                <a:gridCol w="661227">
                  <a:extLst>
                    <a:ext uri="{9D8B030D-6E8A-4147-A177-3AD203B41FA5}">
                      <a16:colId xmlns:a16="http://schemas.microsoft.com/office/drawing/2014/main" val="3015472265"/>
                    </a:ext>
                  </a:extLst>
                </a:gridCol>
                <a:gridCol w="661227">
                  <a:extLst>
                    <a:ext uri="{9D8B030D-6E8A-4147-A177-3AD203B41FA5}">
                      <a16:colId xmlns:a16="http://schemas.microsoft.com/office/drawing/2014/main" val="2918737608"/>
                    </a:ext>
                  </a:extLst>
                </a:gridCol>
                <a:gridCol w="661227">
                  <a:extLst>
                    <a:ext uri="{9D8B030D-6E8A-4147-A177-3AD203B41FA5}">
                      <a16:colId xmlns:a16="http://schemas.microsoft.com/office/drawing/2014/main" val="380214762"/>
                    </a:ext>
                  </a:extLst>
                </a:gridCol>
                <a:gridCol w="661227">
                  <a:extLst>
                    <a:ext uri="{9D8B030D-6E8A-4147-A177-3AD203B41FA5}">
                      <a16:colId xmlns:a16="http://schemas.microsoft.com/office/drawing/2014/main" val="3992019100"/>
                    </a:ext>
                  </a:extLst>
                </a:gridCol>
                <a:gridCol w="661227">
                  <a:extLst>
                    <a:ext uri="{9D8B030D-6E8A-4147-A177-3AD203B41FA5}">
                      <a16:colId xmlns:a16="http://schemas.microsoft.com/office/drawing/2014/main" val="144364646"/>
                    </a:ext>
                  </a:extLst>
                </a:gridCol>
                <a:gridCol w="661227">
                  <a:extLst>
                    <a:ext uri="{9D8B030D-6E8A-4147-A177-3AD203B41FA5}">
                      <a16:colId xmlns:a16="http://schemas.microsoft.com/office/drawing/2014/main" val="2799887745"/>
                    </a:ext>
                  </a:extLst>
                </a:gridCol>
                <a:gridCol w="661227">
                  <a:extLst>
                    <a:ext uri="{9D8B030D-6E8A-4147-A177-3AD203B41FA5}">
                      <a16:colId xmlns:a16="http://schemas.microsoft.com/office/drawing/2014/main" val="2888082613"/>
                    </a:ext>
                  </a:extLst>
                </a:gridCol>
                <a:gridCol w="661227">
                  <a:extLst>
                    <a:ext uri="{9D8B030D-6E8A-4147-A177-3AD203B41FA5}">
                      <a16:colId xmlns:a16="http://schemas.microsoft.com/office/drawing/2014/main" val="2350316804"/>
                    </a:ext>
                  </a:extLst>
                </a:gridCol>
                <a:gridCol w="661227">
                  <a:extLst>
                    <a:ext uri="{9D8B030D-6E8A-4147-A177-3AD203B41FA5}">
                      <a16:colId xmlns:a16="http://schemas.microsoft.com/office/drawing/2014/main" val="41663783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…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…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…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…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…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…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𝝓(</a:t>
                      </a:r>
                      <a:r>
                        <a:rPr kumimoji="1" lang="el-GR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π)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n+1</a:t>
                      </a:r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20146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92719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00"/>
                </a:solidFill>
              </a:rPr>
              <a:t>Lemma12.</a:t>
            </a:r>
            <a:endParaRPr kumimoji="1" lang="zh-TW" alt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13</a:t>
            </a:fld>
            <a:endParaRPr kumimoji="1"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8296E2E5-EB6D-5545-94C8-E8F4AD3AB6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823" y="1690688"/>
            <a:ext cx="11078354" cy="4073859"/>
          </a:xfrm>
          <a:prstGeom prst="rect">
            <a:avLst/>
          </a:prstGeom>
        </p:spPr>
      </p:pic>
      <p:sp>
        <p:nvSpPr>
          <p:cNvPr id="9" name="乘號 8">
            <a:extLst>
              <a:ext uri="{FF2B5EF4-FFF2-40B4-BE49-F238E27FC236}">
                <a16:creationId xmlns:a16="http://schemas.microsoft.com/office/drawing/2014/main" id="{CB5E3EDD-E259-904F-A60D-76BFB816D11B}"/>
              </a:ext>
            </a:extLst>
          </p:cNvPr>
          <p:cNvSpPr/>
          <p:nvPr/>
        </p:nvSpPr>
        <p:spPr>
          <a:xfrm>
            <a:off x="163946" y="1398029"/>
            <a:ext cx="1348508" cy="1348508"/>
          </a:xfrm>
          <a:prstGeom prst="mathMultiply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0" name="乘號 9">
            <a:extLst>
              <a:ext uri="{FF2B5EF4-FFF2-40B4-BE49-F238E27FC236}">
                <a16:creationId xmlns:a16="http://schemas.microsoft.com/office/drawing/2014/main" id="{C7B3535E-A8BE-2E48-9965-2D87F9FD8BAA}"/>
              </a:ext>
            </a:extLst>
          </p:cNvPr>
          <p:cNvSpPr/>
          <p:nvPr/>
        </p:nvSpPr>
        <p:spPr>
          <a:xfrm>
            <a:off x="5568829" y="1341358"/>
            <a:ext cx="1348508" cy="1348508"/>
          </a:xfrm>
          <a:prstGeom prst="mathMultiply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1" name="乘號 10">
            <a:extLst>
              <a:ext uri="{FF2B5EF4-FFF2-40B4-BE49-F238E27FC236}">
                <a16:creationId xmlns:a16="http://schemas.microsoft.com/office/drawing/2014/main" id="{E68DD651-939D-6F4B-B4B9-72D3D4CCF6B4}"/>
              </a:ext>
            </a:extLst>
          </p:cNvPr>
          <p:cNvSpPr/>
          <p:nvPr/>
        </p:nvSpPr>
        <p:spPr>
          <a:xfrm>
            <a:off x="163946" y="3369454"/>
            <a:ext cx="1348508" cy="1348508"/>
          </a:xfrm>
          <a:prstGeom prst="mathMultiply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2" name="乘號 11">
            <a:extLst>
              <a:ext uri="{FF2B5EF4-FFF2-40B4-BE49-F238E27FC236}">
                <a16:creationId xmlns:a16="http://schemas.microsoft.com/office/drawing/2014/main" id="{EA41601A-45E2-E144-B7D1-0051E2551C78}"/>
              </a:ext>
            </a:extLst>
          </p:cNvPr>
          <p:cNvSpPr/>
          <p:nvPr/>
        </p:nvSpPr>
        <p:spPr>
          <a:xfrm>
            <a:off x="5568829" y="3429000"/>
            <a:ext cx="1348508" cy="1348508"/>
          </a:xfrm>
          <a:prstGeom prst="mathMultiply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EEFE3BC-1E81-AA46-B339-3AE07E484B4F}"/>
              </a:ext>
            </a:extLst>
          </p:cNvPr>
          <p:cNvSpPr/>
          <p:nvPr/>
        </p:nvSpPr>
        <p:spPr>
          <a:xfrm>
            <a:off x="707586" y="5764547"/>
            <a:ext cx="488858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l-GR" altLang="zh-TW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n-US" altLang="zh-TW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c = 1, we explicitly deny.</a:t>
            </a:r>
            <a:endParaRPr lang="zh-TW" altLang="en-US" sz="2800" dirty="0"/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D3D66199-139D-9943-B93D-AA7CA4CC2D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7100493"/>
              </p:ext>
            </p:extLst>
          </p:nvPr>
        </p:nvGraphicFramePr>
        <p:xfrm>
          <a:off x="3611202" y="818138"/>
          <a:ext cx="661227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61227">
                  <a:extLst>
                    <a:ext uri="{9D8B030D-6E8A-4147-A177-3AD203B41FA5}">
                      <a16:colId xmlns:a16="http://schemas.microsoft.com/office/drawing/2014/main" val="3262156748"/>
                    </a:ext>
                  </a:extLst>
                </a:gridCol>
                <a:gridCol w="661227">
                  <a:extLst>
                    <a:ext uri="{9D8B030D-6E8A-4147-A177-3AD203B41FA5}">
                      <a16:colId xmlns:a16="http://schemas.microsoft.com/office/drawing/2014/main" val="3015472265"/>
                    </a:ext>
                  </a:extLst>
                </a:gridCol>
                <a:gridCol w="661227">
                  <a:extLst>
                    <a:ext uri="{9D8B030D-6E8A-4147-A177-3AD203B41FA5}">
                      <a16:colId xmlns:a16="http://schemas.microsoft.com/office/drawing/2014/main" val="2918737608"/>
                    </a:ext>
                  </a:extLst>
                </a:gridCol>
                <a:gridCol w="661227">
                  <a:extLst>
                    <a:ext uri="{9D8B030D-6E8A-4147-A177-3AD203B41FA5}">
                      <a16:colId xmlns:a16="http://schemas.microsoft.com/office/drawing/2014/main" val="380214762"/>
                    </a:ext>
                  </a:extLst>
                </a:gridCol>
                <a:gridCol w="661227">
                  <a:extLst>
                    <a:ext uri="{9D8B030D-6E8A-4147-A177-3AD203B41FA5}">
                      <a16:colId xmlns:a16="http://schemas.microsoft.com/office/drawing/2014/main" val="3992019100"/>
                    </a:ext>
                  </a:extLst>
                </a:gridCol>
                <a:gridCol w="661227">
                  <a:extLst>
                    <a:ext uri="{9D8B030D-6E8A-4147-A177-3AD203B41FA5}">
                      <a16:colId xmlns:a16="http://schemas.microsoft.com/office/drawing/2014/main" val="144364646"/>
                    </a:ext>
                  </a:extLst>
                </a:gridCol>
                <a:gridCol w="661227">
                  <a:extLst>
                    <a:ext uri="{9D8B030D-6E8A-4147-A177-3AD203B41FA5}">
                      <a16:colId xmlns:a16="http://schemas.microsoft.com/office/drawing/2014/main" val="2799887745"/>
                    </a:ext>
                  </a:extLst>
                </a:gridCol>
                <a:gridCol w="661227">
                  <a:extLst>
                    <a:ext uri="{9D8B030D-6E8A-4147-A177-3AD203B41FA5}">
                      <a16:colId xmlns:a16="http://schemas.microsoft.com/office/drawing/2014/main" val="2888082613"/>
                    </a:ext>
                  </a:extLst>
                </a:gridCol>
                <a:gridCol w="661227">
                  <a:extLst>
                    <a:ext uri="{9D8B030D-6E8A-4147-A177-3AD203B41FA5}">
                      <a16:colId xmlns:a16="http://schemas.microsoft.com/office/drawing/2014/main" val="2350316804"/>
                    </a:ext>
                  </a:extLst>
                </a:gridCol>
                <a:gridCol w="661227">
                  <a:extLst>
                    <a:ext uri="{9D8B030D-6E8A-4147-A177-3AD203B41FA5}">
                      <a16:colId xmlns:a16="http://schemas.microsoft.com/office/drawing/2014/main" val="41663783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…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…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…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…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…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zh-TW" altLang="en-US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𝝓(</a:t>
                      </a:r>
                      <a:r>
                        <a:rPr kumimoji="1" lang="el-GR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π)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n+1</a:t>
                      </a:r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20146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11083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00"/>
                </a:solidFill>
              </a:rPr>
              <a:t>Lemma12.</a:t>
            </a:r>
            <a:endParaRPr kumimoji="1" lang="zh-TW" alt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14</a:t>
            </a:fld>
            <a:endParaRPr kumimoji="1"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04C8E486-5EB1-7144-AE11-0AD9E135C1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703" y="1690688"/>
            <a:ext cx="11798595" cy="3941025"/>
          </a:xfrm>
          <a:prstGeom prst="rect">
            <a:avLst/>
          </a:prstGeom>
        </p:spPr>
      </p:pic>
      <p:sp>
        <p:nvSpPr>
          <p:cNvPr id="9" name="乘號 8">
            <a:extLst>
              <a:ext uri="{FF2B5EF4-FFF2-40B4-BE49-F238E27FC236}">
                <a16:creationId xmlns:a16="http://schemas.microsoft.com/office/drawing/2014/main" id="{D03854DB-65AF-584A-8050-AA525654782D}"/>
              </a:ext>
            </a:extLst>
          </p:cNvPr>
          <p:cNvSpPr/>
          <p:nvPr/>
        </p:nvSpPr>
        <p:spPr>
          <a:xfrm>
            <a:off x="-197561" y="1419294"/>
            <a:ext cx="1348508" cy="1348508"/>
          </a:xfrm>
          <a:prstGeom prst="mathMultiply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0" name="乘號 9">
            <a:extLst>
              <a:ext uri="{FF2B5EF4-FFF2-40B4-BE49-F238E27FC236}">
                <a16:creationId xmlns:a16="http://schemas.microsoft.com/office/drawing/2014/main" id="{2A71293D-CB80-5E4C-A755-38828269BF3D}"/>
              </a:ext>
            </a:extLst>
          </p:cNvPr>
          <p:cNvSpPr/>
          <p:nvPr/>
        </p:nvSpPr>
        <p:spPr>
          <a:xfrm>
            <a:off x="-197561" y="3294168"/>
            <a:ext cx="1348508" cy="1348508"/>
          </a:xfrm>
          <a:prstGeom prst="mathMultiply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1" name="乘號 10">
            <a:extLst>
              <a:ext uri="{FF2B5EF4-FFF2-40B4-BE49-F238E27FC236}">
                <a16:creationId xmlns:a16="http://schemas.microsoft.com/office/drawing/2014/main" id="{9176AC38-C9A2-D74F-9EF0-FC9C1321064A}"/>
              </a:ext>
            </a:extLst>
          </p:cNvPr>
          <p:cNvSpPr/>
          <p:nvPr/>
        </p:nvSpPr>
        <p:spPr>
          <a:xfrm>
            <a:off x="5898868" y="3292034"/>
            <a:ext cx="1348508" cy="1348508"/>
          </a:xfrm>
          <a:prstGeom prst="mathMultiply">
            <a:avLst/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2" name="甜甜圈 11">
            <a:extLst>
              <a:ext uri="{FF2B5EF4-FFF2-40B4-BE49-F238E27FC236}">
                <a16:creationId xmlns:a16="http://schemas.microsoft.com/office/drawing/2014/main" id="{CB4592D8-AA69-1D4E-B70C-A34AA4EFBB17}"/>
              </a:ext>
            </a:extLst>
          </p:cNvPr>
          <p:cNvSpPr/>
          <p:nvPr/>
        </p:nvSpPr>
        <p:spPr>
          <a:xfrm>
            <a:off x="5979044" y="1558593"/>
            <a:ext cx="988828" cy="988828"/>
          </a:xfrm>
          <a:prstGeom prst="donut">
            <a:avLst/>
          </a:prstGeom>
          <a:solidFill>
            <a:schemeClr val="accent6">
              <a:alpha val="2980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8A26B97-0847-4C42-BCFF-CE371ADCC2ED}"/>
              </a:ext>
            </a:extLst>
          </p:cNvPr>
          <p:cNvSpPr/>
          <p:nvPr/>
        </p:nvSpPr>
        <p:spPr>
          <a:xfrm>
            <a:off x="1790468" y="5831149"/>
            <a:ext cx="6896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𝝓</a:t>
            </a:r>
            <a:r>
              <a:rPr kumimoji="1" lang="el-G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(π) </a:t>
            </a:r>
            <a:endParaRPr lang="zh-TW" altLang="en-US" dirty="0"/>
          </a:p>
        </p:txBody>
      </p: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B46DAFEA-4098-EB4F-A1B7-037D12855CDF}"/>
              </a:ext>
            </a:extLst>
          </p:cNvPr>
          <p:cNvCxnSpPr>
            <a:cxnSpLocks/>
          </p:cNvCxnSpPr>
          <p:nvPr/>
        </p:nvCxnSpPr>
        <p:spPr>
          <a:xfrm>
            <a:off x="693542" y="6034573"/>
            <a:ext cx="1096926" cy="0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96FB3533-F94D-2B44-AE2D-B27489DF0140}"/>
              </a:ext>
            </a:extLst>
          </p:cNvPr>
          <p:cNvCxnSpPr>
            <a:cxnSpLocks/>
          </p:cNvCxnSpPr>
          <p:nvPr/>
        </p:nvCxnSpPr>
        <p:spPr>
          <a:xfrm>
            <a:off x="693542" y="6455925"/>
            <a:ext cx="1096926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FFD0F255-48EA-8C47-8E2D-259867322E47}"/>
              </a:ext>
            </a:extLst>
          </p:cNvPr>
          <p:cNvSpPr/>
          <p:nvPr/>
        </p:nvSpPr>
        <p:spPr>
          <a:xfrm>
            <a:off x="1790468" y="6248399"/>
            <a:ext cx="30075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comprised solely of n + 1</a:t>
            </a:r>
            <a:endParaRPr lang="zh-TW" altLang="en-US" dirty="0"/>
          </a:p>
        </p:txBody>
      </p: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54F5829C-2F55-534E-844B-CDC21AB4D1C1}"/>
              </a:ext>
            </a:extLst>
          </p:cNvPr>
          <p:cNvCxnSpPr>
            <a:cxnSpLocks/>
          </p:cNvCxnSpPr>
          <p:nvPr/>
        </p:nvCxnSpPr>
        <p:spPr>
          <a:xfrm>
            <a:off x="3854956" y="2295457"/>
            <a:ext cx="1376263" cy="0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B210D169-B6E9-7548-AC5F-860D08CD0B80}"/>
              </a:ext>
            </a:extLst>
          </p:cNvPr>
          <p:cNvCxnSpPr>
            <a:cxnSpLocks/>
          </p:cNvCxnSpPr>
          <p:nvPr/>
        </p:nvCxnSpPr>
        <p:spPr>
          <a:xfrm>
            <a:off x="5305647" y="2295457"/>
            <a:ext cx="915054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直線箭頭接點 22">
            <a:extLst>
              <a:ext uri="{FF2B5EF4-FFF2-40B4-BE49-F238E27FC236}">
                <a16:creationId xmlns:a16="http://schemas.microsoft.com/office/drawing/2014/main" id="{8716CA5E-7773-9844-A3A3-A45A1A4D8850}"/>
              </a:ext>
            </a:extLst>
          </p:cNvPr>
          <p:cNvCxnSpPr>
            <a:cxnSpLocks/>
          </p:cNvCxnSpPr>
          <p:nvPr/>
        </p:nvCxnSpPr>
        <p:spPr>
          <a:xfrm flipH="1">
            <a:off x="3854957" y="1811968"/>
            <a:ext cx="137626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箭頭接點 24">
            <a:extLst>
              <a:ext uri="{FF2B5EF4-FFF2-40B4-BE49-F238E27FC236}">
                <a16:creationId xmlns:a16="http://schemas.microsoft.com/office/drawing/2014/main" id="{3582EAC1-42EA-8147-B2C1-DE294440A3E4}"/>
              </a:ext>
            </a:extLst>
          </p:cNvPr>
          <p:cNvCxnSpPr>
            <a:cxnSpLocks/>
          </p:cNvCxnSpPr>
          <p:nvPr/>
        </p:nvCxnSpPr>
        <p:spPr>
          <a:xfrm flipH="1">
            <a:off x="3625702" y="3725829"/>
            <a:ext cx="126527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箭頭接點 25">
            <a:extLst>
              <a:ext uri="{FF2B5EF4-FFF2-40B4-BE49-F238E27FC236}">
                <a16:creationId xmlns:a16="http://schemas.microsoft.com/office/drawing/2014/main" id="{CEE7D20A-F3DF-0B44-A2C0-FA282A8D7217}"/>
              </a:ext>
            </a:extLst>
          </p:cNvPr>
          <p:cNvCxnSpPr>
            <a:cxnSpLocks/>
          </p:cNvCxnSpPr>
          <p:nvPr/>
        </p:nvCxnSpPr>
        <p:spPr>
          <a:xfrm>
            <a:off x="1364511" y="1811079"/>
            <a:ext cx="1750829" cy="1772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7" name="直線箭頭接點 26">
            <a:extLst>
              <a:ext uri="{FF2B5EF4-FFF2-40B4-BE49-F238E27FC236}">
                <a16:creationId xmlns:a16="http://schemas.microsoft.com/office/drawing/2014/main" id="{4B6C75DA-9308-C543-ACBC-A43FACAB759C}"/>
              </a:ext>
            </a:extLst>
          </p:cNvPr>
          <p:cNvCxnSpPr>
            <a:cxnSpLocks/>
          </p:cNvCxnSpPr>
          <p:nvPr/>
        </p:nvCxnSpPr>
        <p:spPr>
          <a:xfrm flipH="1">
            <a:off x="1364512" y="3725829"/>
            <a:ext cx="175082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接點 27">
            <a:extLst>
              <a:ext uri="{FF2B5EF4-FFF2-40B4-BE49-F238E27FC236}">
                <a16:creationId xmlns:a16="http://schemas.microsoft.com/office/drawing/2014/main" id="{C8408C95-6055-2345-AA19-F8F69ACABB5F}"/>
              </a:ext>
            </a:extLst>
          </p:cNvPr>
          <p:cNvCxnSpPr>
            <a:cxnSpLocks/>
          </p:cNvCxnSpPr>
          <p:nvPr/>
        </p:nvCxnSpPr>
        <p:spPr>
          <a:xfrm>
            <a:off x="3242930" y="4170332"/>
            <a:ext cx="1666456" cy="0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直線接點 28">
            <a:extLst>
              <a:ext uri="{FF2B5EF4-FFF2-40B4-BE49-F238E27FC236}">
                <a16:creationId xmlns:a16="http://schemas.microsoft.com/office/drawing/2014/main" id="{62BF2101-15B5-CD4E-A490-009EFE601951}"/>
              </a:ext>
            </a:extLst>
          </p:cNvPr>
          <p:cNvCxnSpPr>
            <a:cxnSpLocks/>
          </p:cNvCxnSpPr>
          <p:nvPr/>
        </p:nvCxnSpPr>
        <p:spPr>
          <a:xfrm>
            <a:off x="5164569" y="4170332"/>
            <a:ext cx="915054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510E8B38-0F71-3640-9B84-268A1E31EA47}"/>
              </a:ext>
            </a:extLst>
          </p:cNvPr>
          <p:cNvCxnSpPr>
            <a:cxnSpLocks/>
          </p:cNvCxnSpPr>
          <p:nvPr/>
        </p:nvCxnSpPr>
        <p:spPr>
          <a:xfrm>
            <a:off x="9324753" y="2258840"/>
            <a:ext cx="1095842" cy="0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15C6DDB0-3C1E-1D43-9450-4A6CB4AFFE4E}"/>
              </a:ext>
            </a:extLst>
          </p:cNvPr>
          <p:cNvCxnSpPr>
            <a:cxnSpLocks/>
          </p:cNvCxnSpPr>
          <p:nvPr/>
        </p:nvCxnSpPr>
        <p:spPr>
          <a:xfrm>
            <a:off x="9872674" y="4170332"/>
            <a:ext cx="547921" cy="0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" name="直線接點 33">
            <a:extLst>
              <a:ext uri="{FF2B5EF4-FFF2-40B4-BE49-F238E27FC236}">
                <a16:creationId xmlns:a16="http://schemas.microsoft.com/office/drawing/2014/main" id="{B139E5A9-F46B-2540-9EDE-2EF9DA4B8AC8}"/>
              </a:ext>
            </a:extLst>
          </p:cNvPr>
          <p:cNvCxnSpPr>
            <a:cxnSpLocks/>
          </p:cNvCxnSpPr>
          <p:nvPr/>
        </p:nvCxnSpPr>
        <p:spPr>
          <a:xfrm>
            <a:off x="9872674" y="4301467"/>
            <a:ext cx="1481126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直線箭頭接點 36">
            <a:extLst>
              <a:ext uri="{FF2B5EF4-FFF2-40B4-BE49-F238E27FC236}">
                <a16:creationId xmlns:a16="http://schemas.microsoft.com/office/drawing/2014/main" id="{C2B56D61-70E7-0A4C-9C2C-863FE65FD43E}"/>
              </a:ext>
            </a:extLst>
          </p:cNvPr>
          <p:cNvCxnSpPr>
            <a:cxnSpLocks/>
          </p:cNvCxnSpPr>
          <p:nvPr/>
        </p:nvCxnSpPr>
        <p:spPr>
          <a:xfrm>
            <a:off x="7371909" y="1811079"/>
            <a:ext cx="1750829" cy="1772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8" name="直線箭頭接點 37">
            <a:extLst>
              <a:ext uri="{FF2B5EF4-FFF2-40B4-BE49-F238E27FC236}">
                <a16:creationId xmlns:a16="http://schemas.microsoft.com/office/drawing/2014/main" id="{06279275-A0AA-7845-A80A-09540AAA118E}"/>
              </a:ext>
            </a:extLst>
          </p:cNvPr>
          <p:cNvCxnSpPr>
            <a:cxnSpLocks/>
          </p:cNvCxnSpPr>
          <p:nvPr/>
        </p:nvCxnSpPr>
        <p:spPr>
          <a:xfrm>
            <a:off x="8704523" y="3427228"/>
            <a:ext cx="1750829" cy="1772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39" name="直線箭頭接點 38">
            <a:extLst>
              <a:ext uri="{FF2B5EF4-FFF2-40B4-BE49-F238E27FC236}">
                <a16:creationId xmlns:a16="http://schemas.microsoft.com/office/drawing/2014/main" id="{9E52F15D-4BE7-F541-9770-42495427FF82}"/>
              </a:ext>
            </a:extLst>
          </p:cNvPr>
          <p:cNvCxnSpPr>
            <a:cxnSpLocks/>
          </p:cNvCxnSpPr>
          <p:nvPr/>
        </p:nvCxnSpPr>
        <p:spPr>
          <a:xfrm flipH="1">
            <a:off x="7495952" y="3733809"/>
            <a:ext cx="160906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接點 40">
            <a:extLst>
              <a:ext uri="{FF2B5EF4-FFF2-40B4-BE49-F238E27FC236}">
                <a16:creationId xmlns:a16="http://schemas.microsoft.com/office/drawing/2014/main" id="{A35BB278-E316-6F40-A0E8-CC77688F4E4A}"/>
              </a:ext>
            </a:extLst>
          </p:cNvPr>
          <p:cNvCxnSpPr>
            <a:cxnSpLocks/>
          </p:cNvCxnSpPr>
          <p:nvPr/>
        </p:nvCxnSpPr>
        <p:spPr>
          <a:xfrm>
            <a:off x="7666074" y="3427228"/>
            <a:ext cx="1038449" cy="0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30" name="表格 29">
            <a:extLst>
              <a:ext uri="{FF2B5EF4-FFF2-40B4-BE49-F238E27FC236}">
                <a16:creationId xmlns:a16="http://schemas.microsoft.com/office/drawing/2014/main" id="{8C3DAA78-A0CF-3345-B01B-102B5A8628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2808628"/>
              </p:ext>
            </p:extLst>
          </p:nvPr>
        </p:nvGraphicFramePr>
        <p:xfrm>
          <a:off x="3611202" y="818138"/>
          <a:ext cx="661227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61227">
                  <a:extLst>
                    <a:ext uri="{9D8B030D-6E8A-4147-A177-3AD203B41FA5}">
                      <a16:colId xmlns:a16="http://schemas.microsoft.com/office/drawing/2014/main" val="3262156748"/>
                    </a:ext>
                  </a:extLst>
                </a:gridCol>
                <a:gridCol w="661227">
                  <a:extLst>
                    <a:ext uri="{9D8B030D-6E8A-4147-A177-3AD203B41FA5}">
                      <a16:colId xmlns:a16="http://schemas.microsoft.com/office/drawing/2014/main" val="3015472265"/>
                    </a:ext>
                  </a:extLst>
                </a:gridCol>
                <a:gridCol w="661227">
                  <a:extLst>
                    <a:ext uri="{9D8B030D-6E8A-4147-A177-3AD203B41FA5}">
                      <a16:colId xmlns:a16="http://schemas.microsoft.com/office/drawing/2014/main" val="2918737608"/>
                    </a:ext>
                  </a:extLst>
                </a:gridCol>
                <a:gridCol w="661227">
                  <a:extLst>
                    <a:ext uri="{9D8B030D-6E8A-4147-A177-3AD203B41FA5}">
                      <a16:colId xmlns:a16="http://schemas.microsoft.com/office/drawing/2014/main" val="380214762"/>
                    </a:ext>
                  </a:extLst>
                </a:gridCol>
                <a:gridCol w="661227">
                  <a:extLst>
                    <a:ext uri="{9D8B030D-6E8A-4147-A177-3AD203B41FA5}">
                      <a16:colId xmlns:a16="http://schemas.microsoft.com/office/drawing/2014/main" val="3992019100"/>
                    </a:ext>
                  </a:extLst>
                </a:gridCol>
                <a:gridCol w="661227">
                  <a:extLst>
                    <a:ext uri="{9D8B030D-6E8A-4147-A177-3AD203B41FA5}">
                      <a16:colId xmlns:a16="http://schemas.microsoft.com/office/drawing/2014/main" val="144364646"/>
                    </a:ext>
                  </a:extLst>
                </a:gridCol>
                <a:gridCol w="661227">
                  <a:extLst>
                    <a:ext uri="{9D8B030D-6E8A-4147-A177-3AD203B41FA5}">
                      <a16:colId xmlns:a16="http://schemas.microsoft.com/office/drawing/2014/main" val="2799887745"/>
                    </a:ext>
                  </a:extLst>
                </a:gridCol>
                <a:gridCol w="661227">
                  <a:extLst>
                    <a:ext uri="{9D8B030D-6E8A-4147-A177-3AD203B41FA5}">
                      <a16:colId xmlns:a16="http://schemas.microsoft.com/office/drawing/2014/main" val="2888082613"/>
                    </a:ext>
                  </a:extLst>
                </a:gridCol>
                <a:gridCol w="661227">
                  <a:extLst>
                    <a:ext uri="{9D8B030D-6E8A-4147-A177-3AD203B41FA5}">
                      <a16:colId xmlns:a16="http://schemas.microsoft.com/office/drawing/2014/main" val="2350316804"/>
                    </a:ext>
                  </a:extLst>
                </a:gridCol>
                <a:gridCol w="661227">
                  <a:extLst>
                    <a:ext uri="{9D8B030D-6E8A-4147-A177-3AD203B41FA5}">
                      <a16:colId xmlns:a16="http://schemas.microsoft.com/office/drawing/2014/main" val="41663783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</a:t>
                      </a:r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…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…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…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…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…</a:t>
                      </a:r>
                      <a:endParaRPr lang="zh-TW" altLang="en-US" dirty="0"/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  <a:endParaRPr lang="zh-TW" altLang="en-US" dirty="0"/>
                    </a:p>
                  </a:txBody>
                  <a:tcP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𝝓(</a:t>
                      </a:r>
                      <a:r>
                        <a:rPr kumimoji="1" lang="el-GR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π)</a:t>
                      </a:r>
                      <a:endParaRPr lang="zh-TW" altLang="en-US" dirty="0"/>
                    </a:p>
                  </a:txBody>
                  <a:tcPr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n+1</a:t>
                      </a:r>
                      <a:endParaRPr lang="zh-TW" altLang="en-US" dirty="0"/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20146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60460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Proof  and time complexity of 2-app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8C395C6-3EBC-4D47-9C22-52A1E36DD1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Theorem 1. 2-app is an </a:t>
            </a:r>
            <a:r>
              <a:rPr kumimoji="1"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asymptotic 2-approximation algorithm 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the Sorting by Prefix Reversals and Prefix Transpositions Problem</a:t>
            </a:r>
          </a:p>
          <a:p>
            <a:endParaRPr kumimoji="1"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kumimoji="1"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kumimoji="1"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kumimoji="1"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Theorem 2. 2-app runs in O(n</a:t>
            </a:r>
            <a:r>
              <a:rPr kumimoji="1" lang="en-US" altLang="zh-TW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15</a:t>
            </a:fld>
            <a:endParaRPr kumimoji="1"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7ACEFD53-C4F4-1643-A131-4D10B9750E6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-1661" b="5777"/>
          <a:stretch/>
        </p:blipFill>
        <p:spPr>
          <a:xfrm>
            <a:off x="1106229" y="2907123"/>
            <a:ext cx="2700227" cy="617574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122047F2-199D-8646-9454-03372E991C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6543" y="2907123"/>
            <a:ext cx="2999415" cy="778186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71D77934-FE5A-914F-97EC-D451DAC4CA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229" y="3900069"/>
            <a:ext cx="4506385" cy="608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099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Results (1/6)</a:t>
            </a:r>
            <a:endParaRPr kumimoji="1" lang="zh-TW" alt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16</a:t>
            </a:fld>
            <a:endParaRPr kumimoji="1" lang="zh-TW" altLang="en-US"/>
          </a:p>
        </p:txBody>
      </p:sp>
      <p:graphicFrame>
        <p:nvGraphicFramePr>
          <p:cNvPr id="3" name="表格 3">
            <a:extLst>
              <a:ext uri="{FF2B5EF4-FFF2-40B4-BE49-F238E27FC236}">
                <a16:creationId xmlns:a16="http://schemas.microsoft.com/office/drawing/2014/main" id="{453187E7-FCF6-504A-954C-9F88917370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514585"/>
              </p:ext>
            </p:extLst>
          </p:nvPr>
        </p:nvGraphicFramePr>
        <p:xfrm>
          <a:off x="838200" y="1690688"/>
          <a:ext cx="9650229" cy="1854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9277">
                  <a:extLst>
                    <a:ext uri="{9D8B030D-6E8A-4147-A177-3AD203B41FA5}">
                      <a16:colId xmlns:a16="http://schemas.microsoft.com/office/drawing/2014/main" val="2799064472"/>
                    </a:ext>
                  </a:extLst>
                </a:gridCol>
                <a:gridCol w="1508915">
                  <a:extLst>
                    <a:ext uri="{9D8B030D-6E8A-4147-A177-3AD203B41FA5}">
                      <a16:colId xmlns:a16="http://schemas.microsoft.com/office/drawing/2014/main" val="1858937241"/>
                    </a:ext>
                  </a:extLst>
                </a:gridCol>
                <a:gridCol w="5167423">
                  <a:extLst>
                    <a:ext uri="{9D8B030D-6E8A-4147-A177-3AD203B41FA5}">
                      <a16:colId xmlns:a16="http://schemas.microsoft.com/office/drawing/2014/main" val="2226432595"/>
                    </a:ext>
                  </a:extLst>
                </a:gridCol>
                <a:gridCol w="2094614">
                  <a:extLst>
                    <a:ext uri="{9D8B030D-6E8A-4147-A177-3AD203B41FA5}">
                      <a16:colId xmlns:a16="http://schemas.microsoft.com/office/drawing/2014/main" val="34067643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Abbreviation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Topic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99194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2002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ptSort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Sorting by Prefix Transpositions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Dias &amp; </a:t>
                      </a:r>
                      <a:r>
                        <a:rPr lang="en-US" altLang="zh-TW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Meidanis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12468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prSort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Sorting by Prefix Reversals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Fischer &amp; </a:t>
                      </a:r>
                      <a:r>
                        <a:rPr lang="en-US" altLang="zh-TW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Ginzinger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26703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2010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3-app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Sorting by Prefix Reversals and Prefix Transpositions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Sharmin</a:t>
                      </a:r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et al.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48097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2015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2-app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Sorting by Prefix Reversals and Prefix Transpositions</a:t>
                      </a:r>
                      <a:endParaRPr lang="zh-TW" alt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Dias &amp; Dias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4373655"/>
                  </a:ext>
                </a:extLst>
              </a:tr>
            </a:tbl>
          </a:graphicData>
        </a:graphic>
      </p:graphicFrame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42F05EF3-F4A1-4A45-BC1F-7E5005976C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817087"/>
            <a:ext cx="10515600" cy="2359875"/>
          </a:xfrm>
        </p:spPr>
        <p:txBody>
          <a:bodyPr>
            <a:normAutofit/>
          </a:bodyPr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set 1 : All permutation of n = 2 ~ 12</a:t>
            </a:r>
          </a:p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set 2 : Random permutation of n = 2 ~ 500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86082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Results (2/6)</a:t>
            </a:r>
            <a:endParaRPr kumimoji="1" lang="zh-TW" alt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17</a:t>
            </a:fld>
            <a:endParaRPr kumimoji="1"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C6D17FA3-85E7-6241-98F3-5E6789647A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822" y="1683720"/>
            <a:ext cx="10718357" cy="4213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1555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Results (3/6)</a:t>
            </a:r>
            <a:endParaRPr kumimoji="1" lang="zh-TW" alt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18</a:t>
            </a:fld>
            <a:endParaRPr kumimoji="1"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1871E70C-C6B5-7342-A0D8-D80D47C90B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607" y="1333963"/>
            <a:ext cx="8578786" cy="5075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6189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8169FF27-33DE-4145-8B93-F80B493248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5104" y="810979"/>
            <a:ext cx="7921792" cy="5427417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Results</a:t>
            </a:r>
            <a:endParaRPr kumimoji="1" lang="zh-TW" alt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19</a:t>
            </a:fld>
            <a:endParaRPr kumimoji="1"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B38C3ACF-87F9-604A-89CA-0E20F2B0EC4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5570"/>
          <a:stretch/>
        </p:blipFill>
        <p:spPr>
          <a:xfrm>
            <a:off x="2135104" y="6338703"/>
            <a:ext cx="8094557" cy="244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4428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C16578D5-8B75-0E47-A8CC-AF8A74AE72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8722" y="1200924"/>
            <a:ext cx="8094557" cy="5519416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17D6B6F7-5CEA-D544-B2C6-2EC3F7F9F2B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92794"/>
          <a:stretch/>
        </p:blipFill>
        <p:spPr>
          <a:xfrm>
            <a:off x="2135104" y="842879"/>
            <a:ext cx="7921792" cy="39108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Results</a:t>
            </a:r>
            <a:endParaRPr kumimoji="1" lang="zh-TW" alt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20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1819103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Results (6/6)</a:t>
            </a:r>
            <a:endParaRPr kumimoji="1" lang="zh-TW" alt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21</a:t>
            </a:fld>
            <a:endParaRPr kumimoji="1"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89247C7C-BCB4-614D-BCB6-0A96FEB8F8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8501" y="1563709"/>
            <a:ext cx="7674999" cy="4739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4273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4781" y="2766219"/>
            <a:ext cx="6002438" cy="1325563"/>
          </a:xfrm>
        </p:spPr>
        <p:txBody>
          <a:bodyPr/>
          <a:lstStyle/>
          <a:p>
            <a:pPr algn="ctr"/>
            <a:r>
              <a:rPr kumimoji="1" lang="en-US" altLang="zh-TW" dirty="0"/>
              <a:t>Thank you for listening</a:t>
            </a:r>
            <a:endParaRPr kumimoji="1" lang="zh-TW" alt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22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7246465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F9066D-A37A-874A-A6E1-9915FF09D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Abstract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8C395C6-3EBC-4D47-9C22-52A1E36DD1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55F635-A04F-7549-AA66-83765189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B94F7-1CE9-3B41-8002-0A2CB67662D8}" type="slidenum">
              <a:rPr kumimoji="1" lang="zh-TW" altLang="en-US" smtClean="0"/>
              <a:t>23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2351907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w Cen MT-Rockwell">
      <a:majorFont>
        <a:latin typeface="Tw Cen MT" panose="020B0602020104020603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989</TotalTime>
  <Words>1277</Words>
  <Application>Microsoft Macintosh PowerPoint</Application>
  <PresentationFormat>寬螢幕</PresentationFormat>
  <Paragraphs>375</Paragraphs>
  <Slides>24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24</vt:i4>
      </vt:variant>
    </vt:vector>
  </HeadingPairs>
  <TitlesOfParts>
    <vt:vector size="29" baseType="lpstr">
      <vt:lpstr>Arial</vt:lpstr>
      <vt:lpstr>Calibri</vt:lpstr>
      <vt:lpstr>Rockwell</vt:lpstr>
      <vt:lpstr>Times New Roman</vt:lpstr>
      <vt:lpstr>Office 佈景主題</vt:lpstr>
      <vt:lpstr>Sorting by Prefix Reversals and Prefix Transpositions</vt:lpstr>
      <vt:lpstr>Abstract</vt:lpstr>
      <vt:lpstr>Outline</vt:lpstr>
      <vt:lpstr>Breakpoints</vt:lpstr>
      <vt:lpstr>Prefix reversals and prefix transpositions</vt:lpstr>
      <vt:lpstr>Previous algorithms</vt:lpstr>
      <vt:lpstr>2-app pseudocode</vt:lpstr>
      <vt:lpstr>Removing prefix reversal breakpoints (1/2)</vt:lpstr>
      <vt:lpstr>Removing prefix reversal breakpoints (2/2)</vt:lpstr>
      <vt:lpstr>Dealing with π1 = 1</vt:lpstr>
      <vt:lpstr>2-app algorithm</vt:lpstr>
      <vt:lpstr>Lemma11.</vt:lpstr>
      <vt:lpstr>Lemma11.</vt:lpstr>
      <vt:lpstr>Lemma12.</vt:lpstr>
      <vt:lpstr>Lemma12.</vt:lpstr>
      <vt:lpstr>Proof  and time complexity of 2-app</vt:lpstr>
      <vt:lpstr>Results (1/6)</vt:lpstr>
      <vt:lpstr>Results (2/6)</vt:lpstr>
      <vt:lpstr>Results (3/6)</vt:lpstr>
      <vt:lpstr>Results</vt:lpstr>
      <vt:lpstr>Results</vt:lpstr>
      <vt:lpstr>Results (6/6)</vt:lpstr>
      <vt:lpstr>Thank you for listening</vt:lpstr>
      <vt:lpstr>Abstract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Improved Algorithm for The Longest Common Subsequence Problem</dc:title>
  <dc:creator>宗霖 呂</dc:creator>
  <cp:lastModifiedBy>宗霖 呂</cp:lastModifiedBy>
  <cp:revision>37</cp:revision>
  <dcterms:created xsi:type="dcterms:W3CDTF">2021-03-28T03:57:23Z</dcterms:created>
  <dcterms:modified xsi:type="dcterms:W3CDTF">2021-08-10T06:59:17Z</dcterms:modified>
</cp:coreProperties>
</file>