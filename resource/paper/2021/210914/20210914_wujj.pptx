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77" r:id="rId4"/>
    <p:sldId id="262" r:id="rId5"/>
    <p:sldId id="276" r:id="rId6"/>
    <p:sldId id="265" r:id="rId7"/>
    <p:sldId id="266" r:id="rId8"/>
    <p:sldId id="275" r:id="rId9"/>
    <p:sldId id="273" r:id="rId10"/>
    <p:sldId id="274" r:id="rId11"/>
    <p:sldId id="268" r:id="rId12"/>
    <p:sldId id="272" r:id="rId13"/>
    <p:sldId id="269" r:id="rId14"/>
    <p:sldId id="270" r:id="rId15"/>
    <p:sldId id="278"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529" autoAdjust="0"/>
  </p:normalViewPr>
  <p:slideViewPr>
    <p:cSldViewPr snapToGrid="0">
      <p:cViewPr varScale="1">
        <p:scale>
          <a:sx n="109" d="100"/>
          <a:sy n="109" d="100"/>
        </p:scale>
        <p:origin x="61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5E9C06-7AA4-4653-B88E-93F17FA55426}" type="datetimeFigureOut">
              <a:rPr lang="zh-TW" altLang="en-US" smtClean="0"/>
              <a:t>2021/9/14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EE5D13-B0AB-4794-9835-7527DA6BA421}" type="slidenum">
              <a:rPr lang="zh-TW" altLang="en-US" smtClean="0"/>
              <a:t>‹#›</a:t>
            </a:fld>
            <a:endParaRPr lang="zh-TW" altLang="en-US"/>
          </a:p>
        </p:txBody>
      </p:sp>
    </p:spTree>
    <p:extLst>
      <p:ext uri="{BB962C8B-B14F-4D97-AF65-F5344CB8AC3E}">
        <p14:creationId xmlns:p14="http://schemas.microsoft.com/office/powerpoint/2010/main" val="3392793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i="0" dirty="0">
                <a:solidFill>
                  <a:srgbClr val="000000"/>
                </a:solidFill>
                <a:effectLst/>
                <a:latin typeface="Open Sans" panose="020B0606030504020204" pitchFamily="34" charset="0"/>
              </a:rPr>
              <a:t>ISA-95</a:t>
            </a:r>
            <a:r>
              <a:rPr lang="zh-TW" altLang="en-US" b="0" i="0" dirty="0">
                <a:solidFill>
                  <a:srgbClr val="000000"/>
                </a:solidFill>
                <a:effectLst/>
                <a:latin typeface="Open Sans" panose="020B0606030504020204" pitchFamily="34" charset="0"/>
              </a:rPr>
              <a:t>系統架構模型，</a:t>
            </a:r>
            <a:r>
              <a:rPr lang="en-US" altLang="zh-TW" b="0" i="0" dirty="0">
                <a:solidFill>
                  <a:srgbClr val="000000"/>
                </a:solidFill>
                <a:effectLst/>
                <a:latin typeface="Open Sans" panose="020B0606030504020204" pitchFamily="34" charset="0"/>
              </a:rPr>
              <a:t>MOM</a:t>
            </a:r>
            <a:r>
              <a:rPr lang="zh-TW" altLang="en-US" b="0" i="0" dirty="0">
                <a:solidFill>
                  <a:srgbClr val="000000"/>
                </a:solidFill>
                <a:effectLst/>
                <a:latin typeface="Open Sans" panose="020B0606030504020204" pitchFamily="34" charset="0"/>
              </a:rPr>
              <a:t>或</a:t>
            </a:r>
            <a:r>
              <a:rPr lang="en-US" altLang="zh-TW" b="0" i="0" dirty="0">
                <a:solidFill>
                  <a:srgbClr val="000000"/>
                </a:solidFill>
                <a:effectLst/>
                <a:latin typeface="Open Sans" panose="020B0606030504020204" pitchFamily="34" charset="0"/>
              </a:rPr>
              <a:t>MES</a:t>
            </a:r>
            <a:r>
              <a:rPr lang="zh-TW" altLang="en-US" b="0" i="0" dirty="0">
                <a:solidFill>
                  <a:srgbClr val="000000"/>
                </a:solidFill>
                <a:effectLst/>
                <a:latin typeface="Open Sans" panose="020B0606030504020204" pitchFamily="34" charset="0"/>
              </a:rPr>
              <a:t>在第三層，</a:t>
            </a:r>
            <a:r>
              <a:rPr lang="en-US" altLang="zh-TW" b="0" i="0" dirty="0">
                <a:solidFill>
                  <a:srgbClr val="000000"/>
                </a:solidFill>
                <a:effectLst/>
                <a:latin typeface="Open Sans" panose="020B0606030504020204" pitchFamily="34" charset="0"/>
              </a:rPr>
              <a:t>ERP</a:t>
            </a:r>
            <a:r>
              <a:rPr lang="zh-TW" altLang="en-US" b="0" i="0" dirty="0">
                <a:solidFill>
                  <a:srgbClr val="000000"/>
                </a:solidFill>
                <a:effectLst/>
                <a:latin typeface="Open Sans" panose="020B0606030504020204" pitchFamily="34" charset="0"/>
              </a:rPr>
              <a:t>以及其他企業系統在第四層</a:t>
            </a:r>
            <a:br>
              <a:rPr lang="zh-TW" altLang="en-US" dirty="0"/>
            </a:br>
            <a:endParaRPr lang="zh-TW" altLang="en-US" dirty="0"/>
          </a:p>
        </p:txBody>
      </p:sp>
      <p:sp>
        <p:nvSpPr>
          <p:cNvPr id="4" name="投影片編號版面配置區 3"/>
          <p:cNvSpPr>
            <a:spLocks noGrp="1"/>
          </p:cNvSpPr>
          <p:nvPr>
            <p:ph type="sldNum" sz="quarter" idx="5"/>
          </p:nvPr>
        </p:nvSpPr>
        <p:spPr/>
        <p:txBody>
          <a:bodyPr/>
          <a:lstStyle/>
          <a:p>
            <a:fld id="{06EE5D13-B0AB-4794-9835-7527DA6BA421}" type="slidenum">
              <a:rPr lang="zh-TW" altLang="en-US" smtClean="0"/>
              <a:t>3</a:t>
            </a:fld>
            <a:endParaRPr lang="zh-TW" altLang="en-US"/>
          </a:p>
        </p:txBody>
      </p:sp>
    </p:spTree>
    <p:extLst>
      <p:ext uri="{BB962C8B-B14F-4D97-AF65-F5344CB8AC3E}">
        <p14:creationId xmlns:p14="http://schemas.microsoft.com/office/powerpoint/2010/main" val="1409172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糾正計劃成為主要工作，使所有優化目標成為次要目標。因此，獲得支持工具以確保對變化做出正確、敏捷和更有效的反應並在復雜且頻繁變化的環境中開啟優化的可能性是很有價值的。</a:t>
            </a:r>
          </a:p>
        </p:txBody>
      </p:sp>
      <p:sp>
        <p:nvSpPr>
          <p:cNvPr id="4" name="投影片編號版面配置區 3"/>
          <p:cNvSpPr>
            <a:spLocks noGrp="1"/>
          </p:cNvSpPr>
          <p:nvPr>
            <p:ph type="sldNum" sz="quarter" idx="5"/>
          </p:nvPr>
        </p:nvSpPr>
        <p:spPr/>
        <p:txBody>
          <a:bodyPr/>
          <a:lstStyle/>
          <a:p>
            <a:fld id="{06EE5D13-B0AB-4794-9835-7527DA6BA421}" type="slidenum">
              <a:rPr lang="zh-TW" altLang="en-US" smtClean="0"/>
              <a:t>4</a:t>
            </a:fld>
            <a:endParaRPr lang="zh-TW" altLang="en-US"/>
          </a:p>
        </p:txBody>
      </p:sp>
    </p:spTree>
    <p:extLst>
      <p:ext uri="{BB962C8B-B14F-4D97-AF65-F5344CB8AC3E}">
        <p14:creationId xmlns:p14="http://schemas.microsoft.com/office/powerpoint/2010/main" val="1319263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整合對他們企業全局、供應鏈、客戶基礎和產品生命周期更完整的資訊。</a:t>
            </a:r>
          </a:p>
        </p:txBody>
      </p:sp>
      <p:sp>
        <p:nvSpPr>
          <p:cNvPr id="4" name="投影片編號版面配置區 3"/>
          <p:cNvSpPr>
            <a:spLocks noGrp="1"/>
          </p:cNvSpPr>
          <p:nvPr>
            <p:ph type="sldNum" sz="quarter" idx="5"/>
          </p:nvPr>
        </p:nvSpPr>
        <p:spPr/>
        <p:txBody>
          <a:bodyPr/>
          <a:lstStyle/>
          <a:p>
            <a:fld id="{06EE5D13-B0AB-4794-9835-7527DA6BA421}" type="slidenum">
              <a:rPr lang="zh-TW" altLang="en-US" smtClean="0"/>
              <a:t>5</a:t>
            </a:fld>
            <a:endParaRPr lang="zh-TW" altLang="en-US"/>
          </a:p>
        </p:txBody>
      </p:sp>
    </p:spTree>
    <p:extLst>
      <p:ext uri="{BB962C8B-B14F-4D97-AF65-F5344CB8AC3E}">
        <p14:creationId xmlns:p14="http://schemas.microsoft.com/office/powerpoint/2010/main" val="1893805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由於尚未找到解決方案或下限與最優性相差太遠，這毫無意義。</a:t>
            </a:r>
            <a:endParaRPr lang="en-US" altLang="zh-TW" dirty="0"/>
          </a:p>
          <a:p>
            <a:r>
              <a:rPr lang="zh-TW" altLang="en-US" dirty="0"/>
              <a:t>更好的結果僅來自更成功的樹搜索。由於我們無法測量啟發式的完整性差距，因此差距僅顯示解決方案與確定的最佳 </a:t>
            </a:r>
            <a:r>
              <a:rPr lang="en-US" altLang="zh-TW" dirty="0"/>
              <a:t>MILP </a:t>
            </a:r>
            <a:r>
              <a:rPr lang="zh-TW" altLang="en-US" dirty="0"/>
              <a:t>解決方案之間的距離。</a:t>
            </a:r>
          </a:p>
        </p:txBody>
      </p:sp>
      <p:sp>
        <p:nvSpPr>
          <p:cNvPr id="4" name="投影片編號版面配置區 3"/>
          <p:cNvSpPr>
            <a:spLocks noGrp="1"/>
          </p:cNvSpPr>
          <p:nvPr>
            <p:ph type="sldNum" sz="quarter" idx="5"/>
          </p:nvPr>
        </p:nvSpPr>
        <p:spPr/>
        <p:txBody>
          <a:bodyPr/>
          <a:lstStyle/>
          <a:p>
            <a:fld id="{06EE5D13-B0AB-4794-9835-7527DA6BA421}" type="slidenum">
              <a:rPr lang="zh-TW" altLang="en-US" smtClean="0"/>
              <a:t>11</a:t>
            </a:fld>
            <a:endParaRPr lang="zh-TW" altLang="en-US"/>
          </a:p>
        </p:txBody>
      </p:sp>
    </p:spTree>
    <p:extLst>
      <p:ext uri="{BB962C8B-B14F-4D97-AF65-F5344CB8AC3E}">
        <p14:creationId xmlns:p14="http://schemas.microsoft.com/office/powerpoint/2010/main" val="40367391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結構不同問題的結果表明，構造啟發式算法在序列密集型問題中的性能要好得多，，啟發式解決方案在找到的最佳 </a:t>
            </a:r>
            <a:r>
              <a:rPr lang="en-US" altLang="zh-TW" dirty="0"/>
              <a:t>MILP </a:t>
            </a:r>
            <a:r>
              <a:rPr lang="zh-TW" altLang="en-US" dirty="0"/>
              <a:t>解決方案的 </a:t>
            </a:r>
            <a:r>
              <a:rPr lang="en-US" altLang="zh-TW" dirty="0"/>
              <a:t>1-2% </a:t>
            </a:r>
            <a:r>
              <a:rPr lang="zh-TW" altLang="en-US" dirty="0"/>
              <a:t>以內。</a:t>
            </a:r>
          </a:p>
        </p:txBody>
      </p:sp>
      <p:sp>
        <p:nvSpPr>
          <p:cNvPr id="4" name="投影片編號版面配置區 3"/>
          <p:cNvSpPr>
            <a:spLocks noGrp="1"/>
          </p:cNvSpPr>
          <p:nvPr>
            <p:ph type="sldNum" sz="quarter" idx="5"/>
          </p:nvPr>
        </p:nvSpPr>
        <p:spPr/>
        <p:txBody>
          <a:bodyPr/>
          <a:lstStyle/>
          <a:p>
            <a:fld id="{06EE5D13-B0AB-4794-9835-7527DA6BA421}" type="slidenum">
              <a:rPr lang="zh-TW" altLang="en-US" smtClean="0"/>
              <a:t>12</a:t>
            </a:fld>
            <a:endParaRPr lang="zh-TW" altLang="en-US"/>
          </a:p>
        </p:txBody>
      </p:sp>
    </p:spTree>
    <p:extLst>
      <p:ext uri="{BB962C8B-B14F-4D97-AF65-F5344CB8AC3E}">
        <p14:creationId xmlns:p14="http://schemas.microsoft.com/office/powerpoint/2010/main" val="1722816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啟發式方法通常需要編程，而最重要的工作是在 </a:t>
            </a:r>
            <a:r>
              <a:rPr lang="en-US" altLang="zh-TW" dirty="0"/>
              <a:t>MILP </a:t>
            </a:r>
            <a:r>
              <a:rPr lang="zh-TW" altLang="en-US" dirty="0"/>
              <a:t>方法的建模中完成</a:t>
            </a:r>
            <a:endParaRPr lang="en-US" altLang="zh-TW" dirty="0"/>
          </a:p>
          <a:p>
            <a:r>
              <a:rPr lang="zh-TW" altLang="en-US" dirty="0"/>
              <a:t>可擴展性問題</a:t>
            </a:r>
          </a:p>
        </p:txBody>
      </p:sp>
      <p:sp>
        <p:nvSpPr>
          <p:cNvPr id="4" name="投影片編號版面配置區 3"/>
          <p:cNvSpPr>
            <a:spLocks noGrp="1"/>
          </p:cNvSpPr>
          <p:nvPr>
            <p:ph type="sldNum" sz="quarter" idx="5"/>
          </p:nvPr>
        </p:nvSpPr>
        <p:spPr/>
        <p:txBody>
          <a:bodyPr/>
          <a:lstStyle/>
          <a:p>
            <a:fld id="{06EE5D13-B0AB-4794-9835-7527DA6BA421}" type="slidenum">
              <a:rPr lang="zh-TW" altLang="en-US" smtClean="0"/>
              <a:t>13</a:t>
            </a:fld>
            <a:endParaRPr lang="zh-TW" altLang="en-US"/>
          </a:p>
        </p:txBody>
      </p:sp>
    </p:spTree>
    <p:extLst>
      <p:ext uri="{BB962C8B-B14F-4D97-AF65-F5344CB8AC3E}">
        <p14:creationId xmlns:p14="http://schemas.microsoft.com/office/powerpoint/2010/main" val="3106924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已知的啟發式解決方案</a:t>
            </a:r>
            <a:r>
              <a:rPr lang="en-US" altLang="zh-TW" dirty="0"/>
              <a:t>(</a:t>
            </a:r>
            <a:r>
              <a:rPr lang="zh-TW" altLang="en-US" dirty="0"/>
              <a:t>大多數情況下至少 </a:t>
            </a:r>
            <a:r>
              <a:rPr lang="en-US" altLang="zh-TW" dirty="0"/>
              <a:t>80% </a:t>
            </a:r>
            <a:r>
              <a:rPr lang="zh-TW" altLang="en-US" dirty="0"/>
              <a:t>是最佳的</a:t>
            </a:r>
            <a:r>
              <a:rPr lang="en-US" altLang="zh-TW" dirty="0"/>
              <a:t>)</a:t>
            </a:r>
            <a:r>
              <a:rPr lang="zh-TW" altLang="en-US" dirty="0"/>
              <a:t>（部分 </a:t>
            </a:r>
            <a:r>
              <a:rPr lang="en-US" altLang="zh-TW" dirty="0"/>
              <a:t>MILP </a:t>
            </a:r>
            <a:r>
              <a:rPr lang="zh-TW" altLang="en-US" dirty="0"/>
              <a:t>求解器已經應用根節點啟發式和模型縮減）或解決一個可行的子問題或其中的一組。</a:t>
            </a:r>
            <a:endParaRPr lang="en-US" altLang="zh-TW" dirty="0"/>
          </a:p>
          <a:p>
            <a:r>
              <a:rPr lang="zh-TW" altLang="en-US" dirty="0"/>
              <a:t>然而，由於該問題是 </a:t>
            </a:r>
            <a:r>
              <a:rPr lang="en-US" altLang="zh-TW" dirty="0"/>
              <a:t>NP-hard </a:t>
            </a:r>
            <a:r>
              <a:rPr lang="zh-TW" altLang="en-US" dirty="0"/>
              <a:t>問題，因此在計算上這些任務可能與找到最佳解決方案一樣困難。因此，嚴格的數學方法和啟發式方法的結合無疑是一個有趣且具有挑戰性的研究領域。</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雖然這兩種方法遵循完全不同的範式，但它們各自存在，能夠滿足不同應用程序的要求。數學啟發式介於兩種方法之間，是某些需要在算法運行時間和解決方案質量之間取得平衡的應用程序的最佳選擇。</a:t>
            </a:r>
          </a:p>
          <a:p>
            <a:endParaRPr lang="zh-TW" altLang="en-US" dirty="0"/>
          </a:p>
        </p:txBody>
      </p:sp>
      <p:sp>
        <p:nvSpPr>
          <p:cNvPr id="4" name="投影片編號版面配置區 3"/>
          <p:cNvSpPr>
            <a:spLocks noGrp="1"/>
          </p:cNvSpPr>
          <p:nvPr>
            <p:ph type="sldNum" sz="quarter" idx="5"/>
          </p:nvPr>
        </p:nvSpPr>
        <p:spPr/>
        <p:txBody>
          <a:bodyPr/>
          <a:lstStyle/>
          <a:p>
            <a:fld id="{06EE5D13-B0AB-4794-9835-7527DA6BA421}" type="slidenum">
              <a:rPr lang="zh-TW" altLang="en-US" smtClean="0"/>
              <a:t>14</a:t>
            </a:fld>
            <a:endParaRPr lang="zh-TW" altLang="en-US"/>
          </a:p>
        </p:txBody>
      </p:sp>
    </p:spTree>
    <p:extLst>
      <p:ext uri="{BB962C8B-B14F-4D97-AF65-F5344CB8AC3E}">
        <p14:creationId xmlns:p14="http://schemas.microsoft.com/office/powerpoint/2010/main" val="2788121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A8B410B-4C50-4EF8-8280-02DF7BDE5F5D}"/>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altLang="zh-TW" dirty="0" err="1"/>
              <a:t>abc</a:t>
            </a:r>
            <a:endParaRPr lang="zh-TW" altLang="en-US" dirty="0"/>
          </a:p>
        </p:txBody>
      </p:sp>
      <p:sp>
        <p:nvSpPr>
          <p:cNvPr id="3" name="副標題 2">
            <a:extLst>
              <a:ext uri="{FF2B5EF4-FFF2-40B4-BE49-F238E27FC236}">
                <a16:creationId xmlns:a16="http://schemas.microsoft.com/office/drawing/2014/main" id="{38967476-587A-49AA-B5DA-20463F22D04A}"/>
              </a:ext>
            </a:extLst>
          </p:cNvPr>
          <p:cNvSpPr>
            <a:spLocks noGrp="1"/>
          </p:cNvSpPr>
          <p:nvPr>
            <p:ph type="subTitle" idx="1" hasCustomPrompt="1"/>
          </p:nvPr>
        </p:nvSpPr>
        <p:spPr>
          <a:xfrm>
            <a:off x="1524000" y="3602038"/>
            <a:ext cx="9144000" cy="1655762"/>
          </a:xfrm>
        </p:spPr>
        <p:txBody>
          <a:bodyPr/>
          <a:lstStyle>
            <a:lvl1pPr marL="0" indent="0" algn="ctr">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dirty="0" err="1"/>
              <a:t>abc</a:t>
            </a:r>
            <a:endParaRPr lang="zh-TW" altLang="en-US" dirty="0"/>
          </a:p>
        </p:txBody>
      </p:sp>
      <p:sp>
        <p:nvSpPr>
          <p:cNvPr id="4" name="日期版面配置區 3">
            <a:extLst>
              <a:ext uri="{FF2B5EF4-FFF2-40B4-BE49-F238E27FC236}">
                <a16:creationId xmlns:a16="http://schemas.microsoft.com/office/drawing/2014/main" id="{50575EC0-3957-4F61-B88C-49F7BBA71136}"/>
              </a:ext>
            </a:extLst>
          </p:cNvPr>
          <p:cNvSpPr>
            <a:spLocks noGrp="1"/>
          </p:cNvSpPr>
          <p:nvPr>
            <p:ph type="dt" sz="half" idx="10"/>
          </p:nvPr>
        </p:nvSpPr>
        <p:spPr/>
        <p:txBody>
          <a:bodyPr/>
          <a:lstStyle/>
          <a:p>
            <a:fld id="{F6C23B8C-04F0-40DD-AAFD-C799C3A75D33}" type="datetimeFigureOut">
              <a:rPr lang="zh-TW" altLang="en-US" smtClean="0"/>
              <a:t>2021/9/14</a:t>
            </a:fld>
            <a:endParaRPr lang="zh-TW" altLang="en-US"/>
          </a:p>
        </p:txBody>
      </p:sp>
      <p:sp>
        <p:nvSpPr>
          <p:cNvPr id="5" name="頁尾版面配置區 4">
            <a:extLst>
              <a:ext uri="{FF2B5EF4-FFF2-40B4-BE49-F238E27FC236}">
                <a16:creationId xmlns:a16="http://schemas.microsoft.com/office/drawing/2014/main" id="{0C2F82C8-EAAE-48AC-A816-120ADC20488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25B9998-EB52-411A-8B6B-C87C026D554E}"/>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4011734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89B062-9733-4512-A3DB-B082AAB7FB68}"/>
              </a:ext>
            </a:extLst>
          </p:cNvPr>
          <p:cNvSpPr>
            <a:spLocks noGrp="1"/>
          </p:cNvSpPr>
          <p:nvPr>
            <p:ph type="title" hasCustomPrompt="1"/>
          </p:nvPr>
        </p:nvSpPr>
        <p:spPr/>
        <p:txBody>
          <a:bodyPr/>
          <a:lstStyle>
            <a:lvl1pPr>
              <a:defRPr>
                <a:latin typeface="Times New Roman" panose="02020603050405020304" pitchFamily="18" charset="0"/>
                <a:cs typeface="Times New Roman" panose="02020603050405020304" pitchFamily="18" charset="0"/>
              </a:defRPr>
            </a:lvl1pPr>
          </a:lstStyle>
          <a:p>
            <a:r>
              <a:rPr lang="en-US" altLang="zh-TW" dirty="0" err="1"/>
              <a:t>abc</a:t>
            </a:r>
            <a:endParaRPr lang="zh-TW" altLang="en-US" dirty="0"/>
          </a:p>
        </p:txBody>
      </p:sp>
      <p:sp>
        <p:nvSpPr>
          <p:cNvPr id="3" name="內容版面配置區 2">
            <a:extLst>
              <a:ext uri="{FF2B5EF4-FFF2-40B4-BE49-F238E27FC236}">
                <a16:creationId xmlns:a16="http://schemas.microsoft.com/office/drawing/2014/main" id="{ADE56D8F-73BE-487A-A827-93F5406368E9}"/>
              </a:ext>
            </a:extLst>
          </p:cNvPr>
          <p:cNvSpPr>
            <a:spLocks noGrp="1"/>
          </p:cNvSpPr>
          <p:nvPr>
            <p:ph idx="1" hasCustomPrompt="1"/>
          </p:nvPr>
        </p:nvSpPr>
        <p:spPr/>
        <p:txBody>
          <a:bodyPr/>
          <a:lstStyle>
            <a:lvl1pPr>
              <a:defRPr>
                <a:latin typeface="Times New Roman" panose="02020603050405020304" pitchFamily="18" charset="0"/>
                <a:cs typeface="Times New Roman" panose="02020603050405020304" pitchFamily="18" charset="0"/>
              </a:defRPr>
            </a:lvl1pPr>
          </a:lstStyle>
          <a:p>
            <a:pPr lvl="0"/>
            <a:r>
              <a:rPr lang="en-US" altLang="zh-TW" dirty="0" err="1"/>
              <a:t>abc</a:t>
            </a:r>
            <a:endParaRPr lang="zh-TW" altLang="en-US" dirty="0"/>
          </a:p>
        </p:txBody>
      </p:sp>
      <p:sp>
        <p:nvSpPr>
          <p:cNvPr id="4" name="日期版面配置區 3">
            <a:extLst>
              <a:ext uri="{FF2B5EF4-FFF2-40B4-BE49-F238E27FC236}">
                <a16:creationId xmlns:a16="http://schemas.microsoft.com/office/drawing/2014/main" id="{3E8EDED1-E76A-4515-934C-4363AB4EDF06}"/>
              </a:ext>
            </a:extLst>
          </p:cNvPr>
          <p:cNvSpPr>
            <a:spLocks noGrp="1"/>
          </p:cNvSpPr>
          <p:nvPr>
            <p:ph type="dt" sz="half" idx="10"/>
          </p:nvPr>
        </p:nvSpPr>
        <p:spPr/>
        <p:txBody>
          <a:bodyPr/>
          <a:lstStyle/>
          <a:p>
            <a:fld id="{F6C23B8C-04F0-40DD-AAFD-C799C3A75D33}" type="datetimeFigureOut">
              <a:rPr lang="zh-TW" altLang="en-US" smtClean="0"/>
              <a:t>2021/9/14</a:t>
            </a:fld>
            <a:endParaRPr lang="zh-TW" altLang="en-US"/>
          </a:p>
        </p:txBody>
      </p:sp>
      <p:sp>
        <p:nvSpPr>
          <p:cNvPr id="5" name="頁尾版面配置區 4">
            <a:extLst>
              <a:ext uri="{FF2B5EF4-FFF2-40B4-BE49-F238E27FC236}">
                <a16:creationId xmlns:a16="http://schemas.microsoft.com/office/drawing/2014/main" id="{CCDC7CB7-5335-4BE3-B056-57BD1595761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456BEF4-0CC6-4F0A-B177-657C3BFC631D}"/>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144071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8687DE-D29E-4255-973B-CD639842CC65}"/>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29881D5-AFDF-4D94-988F-A265E06F5C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2BF1318E-FD8D-4E8D-845A-65C148CEE500}"/>
              </a:ext>
            </a:extLst>
          </p:cNvPr>
          <p:cNvSpPr>
            <a:spLocks noGrp="1"/>
          </p:cNvSpPr>
          <p:nvPr>
            <p:ph type="dt" sz="half" idx="10"/>
          </p:nvPr>
        </p:nvSpPr>
        <p:spPr/>
        <p:txBody>
          <a:bodyPr/>
          <a:lstStyle/>
          <a:p>
            <a:fld id="{F6C23B8C-04F0-40DD-AAFD-C799C3A75D33}" type="datetimeFigureOut">
              <a:rPr lang="zh-TW" altLang="en-US" smtClean="0"/>
              <a:t>2021/9/14</a:t>
            </a:fld>
            <a:endParaRPr lang="zh-TW" altLang="en-US"/>
          </a:p>
        </p:txBody>
      </p:sp>
      <p:sp>
        <p:nvSpPr>
          <p:cNvPr id="5" name="頁尾版面配置區 4">
            <a:extLst>
              <a:ext uri="{FF2B5EF4-FFF2-40B4-BE49-F238E27FC236}">
                <a16:creationId xmlns:a16="http://schemas.microsoft.com/office/drawing/2014/main" id="{625DB5D8-9816-4A35-B08B-1AFA25ACCA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B0E0823-6E8E-4CFD-8067-203C21AD7505}"/>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894244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69CD3B-3C26-44F5-AE0F-6DAB009D7DC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9FA60C7-5A81-43E0-948F-A34CBB390644}"/>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95D25C24-9E02-41B6-97FC-25017CAEAD8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AEC34AA-4024-44DD-85CF-6FCF9F368A29}"/>
              </a:ext>
            </a:extLst>
          </p:cNvPr>
          <p:cNvSpPr>
            <a:spLocks noGrp="1"/>
          </p:cNvSpPr>
          <p:nvPr>
            <p:ph type="dt" sz="half" idx="10"/>
          </p:nvPr>
        </p:nvSpPr>
        <p:spPr/>
        <p:txBody>
          <a:bodyPr/>
          <a:lstStyle/>
          <a:p>
            <a:fld id="{F6C23B8C-04F0-40DD-AAFD-C799C3A75D33}" type="datetimeFigureOut">
              <a:rPr lang="zh-TW" altLang="en-US" smtClean="0"/>
              <a:t>2021/9/14</a:t>
            </a:fld>
            <a:endParaRPr lang="zh-TW" altLang="en-US"/>
          </a:p>
        </p:txBody>
      </p:sp>
      <p:sp>
        <p:nvSpPr>
          <p:cNvPr id="6" name="頁尾版面配置區 5">
            <a:extLst>
              <a:ext uri="{FF2B5EF4-FFF2-40B4-BE49-F238E27FC236}">
                <a16:creationId xmlns:a16="http://schemas.microsoft.com/office/drawing/2014/main" id="{714F3E38-8B30-461F-A698-E08E6CC34A7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1FE807B-D7A2-4A98-BB31-78D5C92AC73E}"/>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421401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29BD92C-3E1F-4985-BD0A-7D0845928726}"/>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0ECAB7D-8DC4-47AC-905A-D163C654EC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B850D23E-D5FF-469B-AC74-1678FD1B83CC}"/>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C5108FB-E3C5-4B1F-B09E-7ADDCDB135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FC05249A-487A-4CD8-8718-24B62D10962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E9C64B5-B6A2-4FE3-A3FB-10A327969F07}"/>
              </a:ext>
            </a:extLst>
          </p:cNvPr>
          <p:cNvSpPr>
            <a:spLocks noGrp="1"/>
          </p:cNvSpPr>
          <p:nvPr>
            <p:ph type="dt" sz="half" idx="10"/>
          </p:nvPr>
        </p:nvSpPr>
        <p:spPr/>
        <p:txBody>
          <a:bodyPr/>
          <a:lstStyle/>
          <a:p>
            <a:fld id="{F6C23B8C-04F0-40DD-AAFD-C799C3A75D33}" type="datetimeFigureOut">
              <a:rPr lang="zh-TW" altLang="en-US" smtClean="0"/>
              <a:t>2021/9/14</a:t>
            </a:fld>
            <a:endParaRPr lang="zh-TW" altLang="en-US"/>
          </a:p>
        </p:txBody>
      </p:sp>
      <p:sp>
        <p:nvSpPr>
          <p:cNvPr id="8" name="頁尾版面配置區 7">
            <a:extLst>
              <a:ext uri="{FF2B5EF4-FFF2-40B4-BE49-F238E27FC236}">
                <a16:creationId xmlns:a16="http://schemas.microsoft.com/office/drawing/2014/main" id="{C82FB67B-EB35-4F33-A7B8-A59F3545014E}"/>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56F046FA-6C20-44AC-A21B-876D6DA912BC}"/>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670753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97997F-BBDD-4562-811F-D414766465A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8C5C30F-198C-4074-A879-D59C07B32C74}"/>
              </a:ext>
            </a:extLst>
          </p:cNvPr>
          <p:cNvSpPr>
            <a:spLocks noGrp="1"/>
          </p:cNvSpPr>
          <p:nvPr>
            <p:ph type="dt" sz="half" idx="10"/>
          </p:nvPr>
        </p:nvSpPr>
        <p:spPr/>
        <p:txBody>
          <a:bodyPr/>
          <a:lstStyle/>
          <a:p>
            <a:fld id="{F6C23B8C-04F0-40DD-AAFD-C799C3A75D33}" type="datetimeFigureOut">
              <a:rPr lang="zh-TW" altLang="en-US" smtClean="0"/>
              <a:t>2021/9/14</a:t>
            </a:fld>
            <a:endParaRPr lang="zh-TW" altLang="en-US"/>
          </a:p>
        </p:txBody>
      </p:sp>
      <p:sp>
        <p:nvSpPr>
          <p:cNvPr id="4" name="頁尾版面配置區 3">
            <a:extLst>
              <a:ext uri="{FF2B5EF4-FFF2-40B4-BE49-F238E27FC236}">
                <a16:creationId xmlns:a16="http://schemas.microsoft.com/office/drawing/2014/main" id="{46B99179-B7C4-40F6-9694-912B30B4DADA}"/>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D5659D54-E364-4F85-BCB1-959F12FBB764}"/>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2328584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4A1FBFB7-CACA-49E8-A2E0-3843D62E8959}"/>
              </a:ext>
            </a:extLst>
          </p:cNvPr>
          <p:cNvSpPr>
            <a:spLocks noGrp="1"/>
          </p:cNvSpPr>
          <p:nvPr>
            <p:ph type="dt" sz="half" idx="10"/>
          </p:nvPr>
        </p:nvSpPr>
        <p:spPr/>
        <p:txBody>
          <a:bodyPr/>
          <a:lstStyle/>
          <a:p>
            <a:fld id="{F6C23B8C-04F0-40DD-AAFD-C799C3A75D33}" type="datetimeFigureOut">
              <a:rPr lang="zh-TW" altLang="en-US" smtClean="0"/>
              <a:t>2021/9/14</a:t>
            </a:fld>
            <a:endParaRPr lang="zh-TW" altLang="en-US"/>
          </a:p>
        </p:txBody>
      </p:sp>
      <p:sp>
        <p:nvSpPr>
          <p:cNvPr id="3" name="頁尾版面配置區 2">
            <a:extLst>
              <a:ext uri="{FF2B5EF4-FFF2-40B4-BE49-F238E27FC236}">
                <a16:creationId xmlns:a16="http://schemas.microsoft.com/office/drawing/2014/main" id="{3AE18A3C-4246-4CDB-82DF-7832BFAB1829}"/>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E20EF71-43C2-4E8A-A4C2-8BC5A5E246C1}"/>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102056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C49F34-EF8D-4E03-9C03-CD1BDE69FE8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89FE9363-610C-4C3E-95E1-185B7B00B8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CA6F42E-0C2B-4CD3-8A7F-2A4F967FE2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CC1DE91-E474-453E-AD9E-B802064D6DB4}"/>
              </a:ext>
            </a:extLst>
          </p:cNvPr>
          <p:cNvSpPr>
            <a:spLocks noGrp="1"/>
          </p:cNvSpPr>
          <p:nvPr>
            <p:ph type="dt" sz="half" idx="10"/>
          </p:nvPr>
        </p:nvSpPr>
        <p:spPr/>
        <p:txBody>
          <a:bodyPr/>
          <a:lstStyle/>
          <a:p>
            <a:fld id="{F6C23B8C-04F0-40DD-AAFD-C799C3A75D33}" type="datetimeFigureOut">
              <a:rPr lang="zh-TW" altLang="en-US" smtClean="0"/>
              <a:t>2021/9/14</a:t>
            </a:fld>
            <a:endParaRPr lang="zh-TW" altLang="en-US"/>
          </a:p>
        </p:txBody>
      </p:sp>
      <p:sp>
        <p:nvSpPr>
          <p:cNvPr id="6" name="頁尾版面配置區 5">
            <a:extLst>
              <a:ext uri="{FF2B5EF4-FFF2-40B4-BE49-F238E27FC236}">
                <a16:creationId xmlns:a16="http://schemas.microsoft.com/office/drawing/2014/main" id="{383CBAC1-67D4-4F20-A271-06912AC0F8C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2DEAFD7-825E-40C4-80D2-4DD94AEB5E8A}"/>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698296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6F942E-47CA-4E0E-9D4A-4D8591F932C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E29D7568-0222-4300-9033-B5E4EB52B3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BE09A352-7DC5-408E-8547-483E847254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44BB4B8F-89FC-43A7-BA8A-F53EF5A4FC32}"/>
              </a:ext>
            </a:extLst>
          </p:cNvPr>
          <p:cNvSpPr>
            <a:spLocks noGrp="1"/>
          </p:cNvSpPr>
          <p:nvPr>
            <p:ph type="dt" sz="half" idx="10"/>
          </p:nvPr>
        </p:nvSpPr>
        <p:spPr/>
        <p:txBody>
          <a:bodyPr/>
          <a:lstStyle/>
          <a:p>
            <a:fld id="{F6C23B8C-04F0-40DD-AAFD-C799C3A75D33}" type="datetimeFigureOut">
              <a:rPr lang="zh-TW" altLang="en-US" smtClean="0"/>
              <a:t>2021/9/14</a:t>
            </a:fld>
            <a:endParaRPr lang="zh-TW" altLang="en-US"/>
          </a:p>
        </p:txBody>
      </p:sp>
      <p:sp>
        <p:nvSpPr>
          <p:cNvPr id="6" name="頁尾版面配置區 5">
            <a:extLst>
              <a:ext uri="{FF2B5EF4-FFF2-40B4-BE49-F238E27FC236}">
                <a16:creationId xmlns:a16="http://schemas.microsoft.com/office/drawing/2014/main" id="{BCE71494-C6AD-4885-A1B9-7080F67347F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759B4B62-4A60-4B3D-99C3-DD07396AD795}"/>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118928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6318DE-9DD4-4B1D-A773-E7B524D77D2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30B5D6CB-2567-43F2-B662-0FA1EE3E44D3}"/>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CD77D00-FE41-4A97-A6D3-0A13D0503052}"/>
              </a:ext>
            </a:extLst>
          </p:cNvPr>
          <p:cNvSpPr>
            <a:spLocks noGrp="1"/>
          </p:cNvSpPr>
          <p:nvPr>
            <p:ph type="dt" sz="half" idx="10"/>
          </p:nvPr>
        </p:nvSpPr>
        <p:spPr/>
        <p:txBody>
          <a:bodyPr/>
          <a:lstStyle/>
          <a:p>
            <a:fld id="{F6C23B8C-04F0-40DD-AAFD-C799C3A75D33}" type="datetimeFigureOut">
              <a:rPr lang="zh-TW" altLang="en-US" smtClean="0"/>
              <a:t>2021/9/14</a:t>
            </a:fld>
            <a:endParaRPr lang="zh-TW" altLang="en-US"/>
          </a:p>
        </p:txBody>
      </p:sp>
      <p:sp>
        <p:nvSpPr>
          <p:cNvPr id="5" name="頁尾版面配置區 4">
            <a:extLst>
              <a:ext uri="{FF2B5EF4-FFF2-40B4-BE49-F238E27FC236}">
                <a16:creationId xmlns:a16="http://schemas.microsoft.com/office/drawing/2014/main" id="{AE2CE754-AE67-4893-8366-0615E8F5CF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AC70F4B-CCA6-4C17-AE80-223FAA01107A}"/>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3845386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79B0B99-87FF-4E19-B764-1480BA1354F9}"/>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3DDB4BE-A91F-410D-B343-3129D0AD2B79}"/>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4D9DCA-251D-460E-908A-7E01E1E6C907}"/>
              </a:ext>
            </a:extLst>
          </p:cNvPr>
          <p:cNvSpPr>
            <a:spLocks noGrp="1"/>
          </p:cNvSpPr>
          <p:nvPr>
            <p:ph type="dt" sz="half" idx="10"/>
          </p:nvPr>
        </p:nvSpPr>
        <p:spPr/>
        <p:txBody>
          <a:bodyPr/>
          <a:lstStyle/>
          <a:p>
            <a:fld id="{F6C23B8C-04F0-40DD-AAFD-C799C3A75D33}" type="datetimeFigureOut">
              <a:rPr lang="zh-TW" altLang="en-US" smtClean="0"/>
              <a:t>2021/9/14</a:t>
            </a:fld>
            <a:endParaRPr lang="zh-TW" altLang="en-US"/>
          </a:p>
        </p:txBody>
      </p:sp>
      <p:sp>
        <p:nvSpPr>
          <p:cNvPr id="5" name="頁尾版面配置區 4">
            <a:extLst>
              <a:ext uri="{FF2B5EF4-FFF2-40B4-BE49-F238E27FC236}">
                <a16:creationId xmlns:a16="http://schemas.microsoft.com/office/drawing/2014/main" id="{B4ECFD4B-35D4-4A5E-93B5-385ADDE19FC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8EE310-7AEC-4980-883F-CE19C0DACCD6}"/>
              </a:ext>
            </a:extLst>
          </p:cNvPr>
          <p:cNvSpPr>
            <a:spLocks noGrp="1"/>
          </p:cNvSpPr>
          <p:nvPr>
            <p:ph type="sldNum" sz="quarter" idx="12"/>
          </p:nvPr>
        </p:nvSpPr>
        <p:spPr/>
        <p:txBody>
          <a:body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4050751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37CE74B4-E067-4B52-AAB0-28671B0D1C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BA4B5DA-4D6D-41A0-9DA0-B5249FCAC6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BBF7988-D185-4269-B875-9B0C6B3184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23B8C-04F0-40DD-AAFD-C799C3A75D33}" type="datetimeFigureOut">
              <a:rPr lang="zh-TW" altLang="en-US" smtClean="0"/>
              <a:t>2021/9/14</a:t>
            </a:fld>
            <a:endParaRPr lang="zh-TW" altLang="en-US"/>
          </a:p>
        </p:txBody>
      </p:sp>
      <p:sp>
        <p:nvSpPr>
          <p:cNvPr id="5" name="頁尾版面配置區 4">
            <a:extLst>
              <a:ext uri="{FF2B5EF4-FFF2-40B4-BE49-F238E27FC236}">
                <a16:creationId xmlns:a16="http://schemas.microsoft.com/office/drawing/2014/main" id="{B17BF83F-4DDA-4E5A-846B-2BE620207F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3EB1B69-3FA4-4081-B76B-8F17C7D378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4A895-6027-4683-BB45-CAB6FAEFE892}" type="slidenum">
              <a:rPr lang="zh-TW" altLang="en-US" smtClean="0"/>
              <a:t>‹#›</a:t>
            </a:fld>
            <a:endParaRPr lang="zh-TW" altLang="en-US"/>
          </a:p>
        </p:txBody>
      </p:sp>
    </p:spTree>
    <p:extLst>
      <p:ext uri="{BB962C8B-B14F-4D97-AF65-F5344CB8AC3E}">
        <p14:creationId xmlns:p14="http://schemas.microsoft.com/office/powerpoint/2010/main" val="1527430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C020BB-2F3A-40BC-8D8D-94312CEA4980}"/>
              </a:ext>
            </a:extLst>
          </p:cNvPr>
          <p:cNvSpPr>
            <a:spLocks noGrp="1"/>
          </p:cNvSpPr>
          <p:nvPr>
            <p:ph type="ctrTitle"/>
          </p:nvPr>
        </p:nvSpPr>
        <p:spPr>
          <a:xfrm>
            <a:off x="486561" y="1122363"/>
            <a:ext cx="11249637" cy="2387600"/>
          </a:xfrm>
        </p:spPr>
        <p:txBody>
          <a:bodyPr>
            <a:noAutofit/>
          </a:bodyPr>
          <a:lstStyle/>
          <a:p>
            <a:r>
              <a:rPr lang="en-US" altLang="zh-TW" sz="3200" b="0" i="0" dirty="0">
                <a:effectLst/>
                <a:latin typeface="Times New Roman" panose="02020603050405020304" pitchFamily="18" charset="0"/>
                <a:cs typeface="Times New Roman" panose="02020603050405020304" pitchFamily="18" charset="0"/>
              </a:rPr>
              <a:t>Industrial scheduling solution based on flexible heuristics</a:t>
            </a:r>
            <a:br>
              <a:rPr lang="en-US" altLang="zh-TW" sz="3200" b="0" i="0" dirty="0">
                <a:effectLst/>
                <a:latin typeface="Times New Roman" panose="02020603050405020304" pitchFamily="18" charset="0"/>
                <a:cs typeface="Times New Roman" panose="02020603050405020304" pitchFamily="18" charset="0"/>
              </a:rPr>
            </a:br>
            <a:br>
              <a:rPr lang="en-US" altLang="zh-TW" sz="3200" b="0" i="0" dirty="0">
                <a:effectLst/>
                <a:latin typeface="Times New Roman" panose="02020603050405020304" pitchFamily="18" charset="0"/>
                <a:cs typeface="Times New Roman" panose="02020603050405020304" pitchFamily="18" charset="0"/>
              </a:rPr>
            </a:br>
            <a:r>
              <a:rPr lang="en-US" altLang="zh-TW" sz="3200" b="0" i="0" dirty="0" err="1">
                <a:effectLst/>
                <a:latin typeface="Times New Roman" panose="02020603050405020304" pitchFamily="18" charset="0"/>
                <a:cs typeface="Times New Roman" panose="02020603050405020304" pitchFamily="18" charset="0"/>
              </a:rPr>
              <a:t>Iiro</a:t>
            </a:r>
            <a:r>
              <a:rPr lang="en-US" altLang="zh-TW" sz="3200" dirty="0">
                <a:latin typeface="Times New Roman" panose="02020603050405020304" pitchFamily="18" charset="0"/>
                <a:cs typeface="Times New Roman" panose="02020603050405020304" pitchFamily="18" charset="0"/>
              </a:rPr>
              <a:t> </a:t>
            </a:r>
            <a:r>
              <a:rPr lang="en-US" altLang="zh-TW" sz="3200" dirty="0" err="1">
                <a:latin typeface="Times New Roman" panose="02020603050405020304" pitchFamily="18" charset="0"/>
                <a:cs typeface="Times New Roman" panose="02020603050405020304" pitchFamily="18" charset="0"/>
              </a:rPr>
              <a:t>Harjunkoski</a:t>
            </a:r>
            <a:r>
              <a:rPr lang="en-US" altLang="zh-TW" sz="3200" dirty="0">
                <a:latin typeface="Times New Roman" panose="02020603050405020304" pitchFamily="18" charset="0"/>
                <a:cs typeface="Times New Roman" panose="02020603050405020304" pitchFamily="18" charset="0"/>
              </a:rPr>
              <a:t>, Reinhard Bauer</a:t>
            </a:r>
            <a:br>
              <a:rPr lang="en-US" altLang="zh-TW" sz="3200" b="0" i="0" dirty="0">
                <a:solidFill>
                  <a:srgbClr val="505050"/>
                </a:solidFill>
                <a:effectLst/>
                <a:latin typeface="Times New Roman" panose="02020603050405020304" pitchFamily="18" charset="0"/>
                <a:cs typeface="Times New Roman" panose="02020603050405020304" pitchFamily="18" charset="0"/>
              </a:rPr>
            </a:br>
            <a:br>
              <a:rPr lang="en-US" altLang="zh-TW" sz="3200" b="0" i="0" dirty="0">
                <a:solidFill>
                  <a:srgbClr val="505050"/>
                </a:solidFill>
                <a:effectLst/>
                <a:latin typeface="Times New Roman" panose="02020603050405020304" pitchFamily="18" charset="0"/>
                <a:cs typeface="Times New Roman" panose="02020603050405020304" pitchFamily="18" charset="0"/>
              </a:rPr>
            </a:br>
            <a:endParaRPr lang="zh-TW" altLang="en-US" sz="32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0A29652B-FADC-4E71-AC46-521DE2EFB657}"/>
              </a:ext>
            </a:extLst>
          </p:cNvPr>
          <p:cNvSpPr>
            <a:spLocks noGrp="1"/>
          </p:cNvSpPr>
          <p:nvPr>
            <p:ph type="subTitle" idx="1"/>
          </p:nvPr>
        </p:nvSpPr>
        <p:spPr/>
        <p:txBody>
          <a:bodyPr/>
          <a:lstStyle/>
          <a:p>
            <a:pPr algn="ctr"/>
            <a:r>
              <a:rPr lang="en-US" altLang="zh-TW" b="0" i="0" u="none" strike="noStrike" dirty="0">
                <a:effectLst/>
              </a:rPr>
              <a:t>Computers &amp; Chemical Engineering</a:t>
            </a:r>
            <a:endParaRPr lang="en-US" altLang="zh-TW" b="0" i="0" dirty="0">
              <a:effectLst/>
            </a:endParaRPr>
          </a:p>
          <a:p>
            <a:pPr algn="ctr"/>
            <a:r>
              <a:rPr lang="en-US" altLang="zh-TW" b="0" i="0" u="none" strike="noStrike" dirty="0">
                <a:effectLst/>
              </a:rPr>
              <a:t>Volume 106</a:t>
            </a:r>
            <a:r>
              <a:rPr lang="en-US" altLang="zh-TW" b="0" i="0" dirty="0">
                <a:effectLst/>
              </a:rPr>
              <a:t>, 2 November 2017, Pages 883-891</a:t>
            </a:r>
          </a:p>
          <a:p>
            <a:endParaRPr lang="zh-TW" altLang="en-US" dirty="0"/>
          </a:p>
        </p:txBody>
      </p:sp>
      <p:sp>
        <p:nvSpPr>
          <p:cNvPr id="4" name="文字方塊 3">
            <a:extLst>
              <a:ext uri="{FF2B5EF4-FFF2-40B4-BE49-F238E27FC236}">
                <a16:creationId xmlns:a16="http://schemas.microsoft.com/office/drawing/2014/main" id="{8C440FD1-DA82-4248-8401-AACCF3DADFA3}"/>
              </a:ext>
            </a:extLst>
          </p:cNvPr>
          <p:cNvSpPr txBox="1"/>
          <p:nvPr/>
        </p:nvSpPr>
        <p:spPr>
          <a:xfrm>
            <a:off x="9249508" y="5257800"/>
            <a:ext cx="2486690" cy="646331"/>
          </a:xfrm>
          <a:prstGeom prst="rect">
            <a:avLst/>
          </a:prstGeom>
          <a:noFill/>
        </p:spPr>
        <p:txBody>
          <a:bodyPr wrap="square" rtlCol="0">
            <a:spAutoFit/>
          </a:bodyPr>
          <a:lstStyle/>
          <a:p>
            <a:r>
              <a:rPr lang="en-US" altLang="zh-TW" dirty="0"/>
              <a:t>Date: Sept. 14, 2021</a:t>
            </a:r>
          </a:p>
          <a:p>
            <a:r>
              <a:rPr lang="en-US" altLang="zh-TW" dirty="0"/>
              <a:t>Presenter: </a:t>
            </a:r>
            <a:r>
              <a:rPr lang="en-US" altLang="zh-TW" dirty="0" err="1"/>
              <a:t>Jue</a:t>
            </a:r>
            <a:r>
              <a:rPr lang="en-US" altLang="zh-TW"/>
              <a:t>-Jun Wu</a:t>
            </a:r>
            <a:endParaRPr lang="zh-TW" altLang="en-US"/>
          </a:p>
        </p:txBody>
      </p:sp>
    </p:spTree>
    <p:extLst>
      <p:ext uri="{BB962C8B-B14F-4D97-AF65-F5344CB8AC3E}">
        <p14:creationId xmlns:p14="http://schemas.microsoft.com/office/powerpoint/2010/main" val="14943632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870A68-88BB-4FB5-BE44-0D35C223A1A5}"/>
              </a:ext>
            </a:extLst>
          </p:cNvPr>
          <p:cNvSpPr>
            <a:spLocks noGrp="1"/>
          </p:cNvSpPr>
          <p:nvPr>
            <p:ph type="title"/>
          </p:nvPr>
        </p:nvSpPr>
        <p:spPr/>
        <p:txBody>
          <a:bodyPr/>
          <a:lstStyle/>
          <a:p>
            <a:r>
              <a:rPr lang="en-US" altLang="zh-TW" dirty="0"/>
              <a:t>Abstract</a:t>
            </a:r>
            <a:br>
              <a:rPr lang="en-US" altLang="zh-TW" dirty="0"/>
            </a:br>
            <a:endParaRPr lang="zh-TW" altLang="en-US" dirty="0"/>
          </a:p>
        </p:txBody>
      </p:sp>
      <p:sp>
        <p:nvSpPr>
          <p:cNvPr id="3" name="內容版面配置區 2">
            <a:extLst>
              <a:ext uri="{FF2B5EF4-FFF2-40B4-BE49-F238E27FC236}">
                <a16:creationId xmlns:a16="http://schemas.microsoft.com/office/drawing/2014/main" id="{DAF13090-5757-4BE6-B49D-E4229783D809}"/>
              </a:ext>
            </a:extLst>
          </p:cNvPr>
          <p:cNvSpPr>
            <a:spLocks noGrp="1"/>
          </p:cNvSpPr>
          <p:nvPr>
            <p:ph idx="1"/>
          </p:nvPr>
        </p:nvSpPr>
        <p:spPr>
          <a:xfrm>
            <a:off x="563526" y="1382233"/>
            <a:ext cx="10790274" cy="4794730"/>
          </a:xfrm>
        </p:spPr>
        <p:txBody>
          <a:bodyPr>
            <a:normAutofit/>
          </a:bodyPr>
          <a:lstStyle/>
          <a:p>
            <a:pPr marL="0" indent="0">
              <a:buNone/>
            </a:pPr>
            <a:r>
              <a:rPr lang="en-US" altLang="zh-TW" b="0" i="0" dirty="0">
                <a:effectLst/>
              </a:rPr>
              <a:t>	This paper presents a generic heuristic-based scheduling solution. It highlights the flexibility that a simple heuristic method can offer and shows that using the ISA-95 standard it is possible to express the most relevant problem requirements. In order to illustrate the possible benefits, the paper also compares the solution quality of a smaller scale example scheduling problem to a rigorous mixed-integer linear programming (MILP) approach and shows how a heuristic approach scales towards large-size industrial problems. The paper concludes with a discussion of the advantages and disadvantages of both approaches, showing that for certain types of problems, the heuristic approach is fully sufficient, even if it cannot be expected to result in optimal solutions.</a:t>
            </a:r>
            <a:endParaRPr lang="zh-TW" altLang="en-US" dirty="0"/>
          </a:p>
        </p:txBody>
      </p:sp>
    </p:spTree>
    <p:extLst>
      <p:ext uri="{BB962C8B-B14F-4D97-AF65-F5344CB8AC3E}">
        <p14:creationId xmlns:p14="http://schemas.microsoft.com/office/powerpoint/2010/main" val="3086601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5DE336-0625-4119-B828-12DE2FCEAF93}"/>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7597C31E-D44F-49C6-9BDA-DFD95B56B924}"/>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C19B6F76-717C-4A16-AE37-073D4DCF9E9A}"/>
              </a:ext>
            </a:extLst>
          </p:cNvPr>
          <p:cNvPicPr>
            <a:picLocks noChangeAspect="1"/>
          </p:cNvPicPr>
          <p:nvPr/>
        </p:nvPicPr>
        <p:blipFill>
          <a:blip r:embed="rId3"/>
          <a:stretch>
            <a:fillRect/>
          </a:stretch>
        </p:blipFill>
        <p:spPr>
          <a:xfrm>
            <a:off x="600629" y="0"/>
            <a:ext cx="8842963" cy="6858000"/>
          </a:xfrm>
          <a:prstGeom prst="rect">
            <a:avLst/>
          </a:prstGeom>
        </p:spPr>
      </p:pic>
    </p:spTree>
    <p:extLst>
      <p:ext uri="{BB962C8B-B14F-4D97-AF65-F5344CB8AC3E}">
        <p14:creationId xmlns:p14="http://schemas.microsoft.com/office/powerpoint/2010/main" val="112797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0E51E6-ECFC-4EE8-A7F1-8DCC48BE8A41}"/>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D7DC3177-1F39-46AC-A13C-23C0D1BE535C}"/>
              </a:ext>
            </a:extLst>
          </p:cNvPr>
          <p:cNvSpPr>
            <a:spLocks noGrp="1"/>
          </p:cNvSpPr>
          <p:nvPr>
            <p:ph idx="1"/>
          </p:nvPr>
        </p:nvSpPr>
        <p:spPr/>
        <p:txBody>
          <a:bodyPr/>
          <a:lstStyle/>
          <a:p>
            <a:endParaRPr lang="zh-TW" altLang="en-US" dirty="0"/>
          </a:p>
        </p:txBody>
      </p:sp>
      <p:pic>
        <p:nvPicPr>
          <p:cNvPr id="5" name="圖片 4">
            <a:extLst>
              <a:ext uri="{FF2B5EF4-FFF2-40B4-BE49-F238E27FC236}">
                <a16:creationId xmlns:a16="http://schemas.microsoft.com/office/drawing/2014/main" id="{58AA527E-61ED-488E-B44A-2EC981E5C6F6}"/>
              </a:ext>
            </a:extLst>
          </p:cNvPr>
          <p:cNvPicPr>
            <a:picLocks noChangeAspect="1"/>
          </p:cNvPicPr>
          <p:nvPr/>
        </p:nvPicPr>
        <p:blipFill>
          <a:blip r:embed="rId3"/>
          <a:stretch>
            <a:fillRect/>
          </a:stretch>
        </p:blipFill>
        <p:spPr>
          <a:xfrm>
            <a:off x="838200" y="331572"/>
            <a:ext cx="8330662" cy="6526428"/>
          </a:xfrm>
          <a:prstGeom prst="rect">
            <a:avLst/>
          </a:prstGeom>
        </p:spPr>
      </p:pic>
    </p:spTree>
    <p:extLst>
      <p:ext uri="{BB962C8B-B14F-4D97-AF65-F5344CB8AC3E}">
        <p14:creationId xmlns:p14="http://schemas.microsoft.com/office/powerpoint/2010/main" val="1749946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BAE17C-18B8-4E8C-B1F9-7BBEDB426A14}"/>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ACDD54B6-D04E-41E8-93C7-2020E4B8C107}"/>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D542A89B-7313-48A1-B939-41701949C8E5}"/>
              </a:ext>
            </a:extLst>
          </p:cNvPr>
          <p:cNvPicPr>
            <a:picLocks noChangeAspect="1"/>
          </p:cNvPicPr>
          <p:nvPr/>
        </p:nvPicPr>
        <p:blipFill>
          <a:blip r:embed="rId3"/>
          <a:stretch>
            <a:fillRect/>
          </a:stretch>
        </p:blipFill>
        <p:spPr>
          <a:xfrm>
            <a:off x="1053954" y="0"/>
            <a:ext cx="8808186" cy="6858000"/>
          </a:xfrm>
          <a:prstGeom prst="rect">
            <a:avLst/>
          </a:prstGeom>
        </p:spPr>
      </p:pic>
    </p:spTree>
    <p:extLst>
      <p:ext uri="{BB962C8B-B14F-4D97-AF65-F5344CB8AC3E}">
        <p14:creationId xmlns:p14="http://schemas.microsoft.com/office/powerpoint/2010/main" val="1498343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BBB1FBA-D46F-4BE0-B15F-636584F476DE}"/>
              </a:ext>
            </a:extLst>
          </p:cNvPr>
          <p:cNvSpPr>
            <a:spLocks noGrp="1"/>
          </p:cNvSpPr>
          <p:nvPr>
            <p:ph type="title"/>
          </p:nvPr>
        </p:nvSpPr>
        <p:spPr/>
        <p:txBody>
          <a:bodyPr/>
          <a:lstStyle/>
          <a:p>
            <a:r>
              <a:rPr lang="en-US" altLang="zh-TW" dirty="0"/>
              <a:t>Objective</a:t>
            </a:r>
            <a:endParaRPr lang="zh-TW" altLang="en-US" dirty="0"/>
          </a:p>
        </p:txBody>
      </p:sp>
      <p:sp>
        <p:nvSpPr>
          <p:cNvPr id="3" name="內容版面配置區 2">
            <a:extLst>
              <a:ext uri="{FF2B5EF4-FFF2-40B4-BE49-F238E27FC236}">
                <a16:creationId xmlns:a16="http://schemas.microsoft.com/office/drawing/2014/main" id="{6CE36E45-F517-41E2-8F7D-9E54BBC1D360}"/>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838EB949-D87B-4978-865D-27AB873E86A6}"/>
              </a:ext>
            </a:extLst>
          </p:cNvPr>
          <p:cNvPicPr>
            <a:picLocks noChangeAspect="1"/>
          </p:cNvPicPr>
          <p:nvPr/>
        </p:nvPicPr>
        <p:blipFill>
          <a:blip r:embed="rId2"/>
          <a:stretch>
            <a:fillRect/>
          </a:stretch>
        </p:blipFill>
        <p:spPr>
          <a:xfrm>
            <a:off x="523976" y="1825625"/>
            <a:ext cx="11144047" cy="741759"/>
          </a:xfrm>
          <a:prstGeom prst="rect">
            <a:avLst/>
          </a:prstGeom>
        </p:spPr>
      </p:pic>
    </p:spTree>
    <p:extLst>
      <p:ext uri="{BB962C8B-B14F-4D97-AF65-F5344CB8AC3E}">
        <p14:creationId xmlns:p14="http://schemas.microsoft.com/office/powerpoint/2010/main" val="2510518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B8515F0-6AC1-4FA6-950D-165119D1E688}"/>
              </a:ext>
            </a:extLst>
          </p:cNvPr>
          <p:cNvSpPr>
            <a:spLocks noGrp="1"/>
          </p:cNvSpPr>
          <p:nvPr>
            <p:ph type="title"/>
          </p:nvPr>
        </p:nvSpPr>
        <p:spPr/>
        <p:txBody>
          <a:bodyPr/>
          <a:lstStyle/>
          <a:p>
            <a:r>
              <a:rPr lang="en-US" altLang="zh-TW" dirty="0"/>
              <a:t>Constraints</a:t>
            </a:r>
            <a:br>
              <a:rPr lang="en-US" altLang="zh-TW" dirty="0"/>
            </a:br>
            <a:endParaRPr lang="zh-TW" altLang="en-US" dirty="0"/>
          </a:p>
        </p:txBody>
      </p:sp>
      <p:pic>
        <p:nvPicPr>
          <p:cNvPr id="5" name="內容版面配置區 4">
            <a:extLst>
              <a:ext uri="{FF2B5EF4-FFF2-40B4-BE49-F238E27FC236}">
                <a16:creationId xmlns:a16="http://schemas.microsoft.com/office/drawing/2014/main" id="{A26E19A1-A14E-4205-8B98-496EDD2A1923}"/>
              </a:ext>
            </a:extLst>
          </p:cNvPr>
          <p:cNvPicPr>
            <a:picLocks noGrp="1" noChangeAspect="1"/>
          </p:cNvPicPr>
          <p:nvPr>
            <p:ph idx="1"/>
          </p:nvPr>
        </p:nvPicPr>
        <p:blipFill>
          <a:blip r:embed="rId2"/>
          <a:stretch>
            <a:fillRect/>
          </a:stretch>
        </p:blipFill>
        <p:spPr>
          <a:xfrm>
            <a:off x="0" y="1225493"/>
            <a:ext cx="6096000" cy="678209"/>
          </a:xfrm>
        </p:spPr>
      </p:pic>
      <p:pic>
        <p:nvPicPr>
          <p:cNvPr id="7" name="圖片 6">
            <a:extLst>
              <a:ext uri="{FF2B5EF4-FFF2-40B4-BE49-F238E27FC236}">
                <a16:creationId xmlns:a16="http://schemas.microsoft.com/office/drawing/2014/main" id="{AAB1DAF1-A2D9-4845-A9A7-A4BA07C67DC0}"/>
              </a:ext>
            </a:extLst>
          </p:cNvPr>
          <p:cNvPicPr>
            <a:picLocks noChangeAspect="1"/>
          </p:cNvPicPr>
          <p:nvPr/>
        </p:nvPicPr>
        <p:blipFill>
          <a:blip r:embed="rId3"/>
          <a:stretch>
            <a:fillRect/>
          </a:stretch>
        </p:blipFill>
        <p:spPr>
          <a:xfrm>
            <a:off x="6782" y="2142377"/>
            <a:ext cx="5920293" cy="685869"/>
          </a:xfrm>
          <a:prstGeom prst="rect">
            <a:avLst/>
          </a:prstGeom>
        </p:spPr>
      </p:pic>
      <p:pic>
        <p:nvPicPr>
          <p:cNvPr id="9" name="圖片 8">
            <a:extLst>
              <a:ext uri="{FF2B5EF4-FFF2-40B4-BE49-F238E27FC236}">
                <a16:creationId xmlns:a16="http://schemas.microsoft.com/office/drawing/2014/main" id="{4B05062A-A8A1-445E-BD18-16ACF93E334D}"/>
              </a:ext>
            </a:extLst>
          </p:cNvPr>
          <p:cNvPicPr>
            <a:picLocks noChangeAspect="1"/>
          </p:cNvPicPr>
          <p:nvPr/>
        </p:nvPicPr>
        <p:blipFill>
          <a:blip r:embed="rId4"/>
          <a:stretch>
            <a:fillRect/>
          </a:stretch>
        </p:blipFill>
        <p:spPr>
          <a:xfrm>
            <a:off x="-14288" y="2855273"/>
            <a:ext cx="6038850" cy="495447"/>
          </a:xfrm>
          <a:prstGeom prst="rect">
            <a:avLst/>
          </a:prstGeom>
        </p:spPr>
      </p:pic>
      <p:pic>
        <p:nvPicPr>
          <p:cNvPr id="11" name="圖片 10">
            <a:extLst>
              <a:ext uri="{FF2B5EF4-FFF2-40B4-BE49-F238E27FC236}">
                <a16:creationId xmlns:a16="http://schemas.microsoft.com/office/drawing/2014/main" id="{5DA41992-4548-4A67-A8F4-550381C998A1}"/>
              </a:ext>
            </a:extLst>
          </p:cNvPr>
          <p:cNvPicPr>
            <a:picLocks noChangeAspect="1"/>
          </p:cNvPicPr>
          <p:nvPr/>
        </p:nvPicPr>
        <p:blipFill>
          <a:blip r:embed="rId5"/>
          <a:stretch>
            <a:fillRect/>
          </a:stretch>
        </p:blipFill>
        <p:spPr>
          <a:xfrm>
            <a:off x="-179196" y="3507281"/>
            <a:ext cx="6181725" cy="2628900"/>
          </a:xfrm>
          <a:prstGeom prst="rect">
            <a:avLst/>
          </a:prstGeom>
        </p:spPr>
      </p:pic>
      <p:pic>
        <p:nvPicPr>
          <p:cNvPr id="13" name="圖片 12">
            <a:extLst>
              <a:ext uri="{FF2B5EF4-FFF2-40B4-BE49-F238E27FC236}">
                <a16:creationId xmlns:a16="http://schemas.microsoft.com/office/drawing/2014/main" id="{7B69309B-4ABD-4D00-9382-29C82A57B3C3}"/>
              </a:ext>
            </a:extLst>
          </p:cNvPr>
          <p:cNvPicPr>
            <a:picLocks noChangeAspect="1"/>
          </p:cNvPicPr>
          <p:nvPr/>
        </p:nvPicPr>
        <p:blipFill>
          <a:blip r:embed="rId6"/>
          <a:stretch>
            <a:fillRect/>
          </a:stretch>
        </p:blipFill>
        <p:spPr>
          <a:xfrm>
            <a:off x="6264927" y="1941073"/>
            <a:ext cx="7180132" cy="1325563"/>
          </a:xfrm>
          <a:prstGeom prst="rect">
            <a:avLst/>
          </a:prstGeom>
        </p:spPr>
      </p:pic>
      <p:pic>
        <p:nvPicPr>
          <p:cNvPr id="15" name="圖片 14">
            <a:extLst>
              <a:ext uri="{FF2B5EF4-FFF2-40B4-BE49-F238E27FC236}">
                <a16:creationId xmlns:a16="http://schemas.microsoft.com/office/drawing/2014/main" id="{224E47DB-23E8-4241-9204-124733C3324F}"/>
              </a:ext>
            </a:extLst>
          </p:cNvPr>
          <p:cNvPicPr>
            <a:picLocks noChangeAspect="1"/>
          </p:cNvPicPr>
          <p:nvPr/>
        </p:nvPicPr>
        <p:blipFill>
          <a:blip r:embed="rId7"/>
          <a:stretch>
            <a:fillRect/>
          </a:stretch>
        </p:blipFill>
        <p:spPr>
          <a:xfrm>
            <a:off x="6390167" y="3523740"/>
            <a:ext cx="7887563" cy="569589"/>
          </a:xfrm>
          <a:prstGeom prst="rect">
            <a:avLst/>
          </a:prstGeom>
        </p:spPr>
      </p:pic>
      <p:pic>
        <p:nvPicPr>
          <p:cNvPr id="16" name="圖片 15">
            <a:extLst>
              <a:ext uri="{FF2B5EF4-FFF2-40B4-BE49-F238E27FC236}">
                <a16:creationId xmlns:a16="http://schemas.microsoft.com/office/drawing/2014/main" id="{198CBDC7-1DF1-4ABE-8ECF-685243DD80C6}"/>
              </a:ext>
            </a:extLst>
          </p:cNvPr>
          <p:cNvPicPr>
            <a:picLocks noChangeAspect="1"/>
          </p:cNvPicPr>
          <p:nvPr/>
        </p:nvPicPr>
        <p:blipFill>
          <a:blip r:embed="rId8"/>
          <a:stretch>
            <a:fillRect/>
          </a:stretch>
        </p:blipFill>
        <p:spPr>
          <a:xfrm>
            <a:off x="4229503" y="266958"/>
            <a:ext cx="7843676" cy="618586"/>
          </a:xfrm>
          <a:prstGeom prst="rect">
            <a:avLst/>
          </a:prstGeom>
        </p:spPr>
      </p:pic>
      <p:pic>
        <p:nvPicPr>
          <p:cNvPr id="10" name="圖片 9">
            <a:extLst>
              <a:ext uri="{FF2B5EF4-FFF2-40B4-BE49-F238E27FC236}">
                <a16:creationId xmlns:a16="http://schemas.microsoft.com/office/drawing/2014/main" id="{D553A2D4-CE7F-40A2-A06F-5FD478E31F35}"/>
              </a:ext>
            </a:extLst>
          </p:cNvPr>
          <p:cNvPicPr>
            <a:picLocks noChangeAspect="1"/>
          </p:cNvPicPr>
          <p:nvPr/>
        </p:nvPicPr>
        <p:blipFill rotWithShape="1">
          <a:blip r:embed="rId6"/>
          <a:srcRect l="92856" t="-2093"/>
          <a:stretch/>
        </p:blipFill>
        <p:spPr>
          <a:xfrm>
            <a:off x="11737234" y="1903702"/>
            <a:ext cx="512921" cy="1353311"/>
          </a:xfrm>
          <a:prstGeom prst="rect">
            <a:avLst/>
          </a:prstGeom>
        </p:spPr>
      </p:pic>
      <p:pic>
        <p:nvPicPr>
          <p:cNvPr id="12" name="圖片 11">
            <a:extLst>
              <a:ext uri="{FF2B5EF4-FFF2-40B4-BE49-F238E27FC236}">
                <a16:creationId xmlns:a16="http://schemas.microsoft.com/office/drawing/2014/main" id="{E26BFD9C-F380-4F15-A48A-FF6D380D8681}"/>
              </a:ext>
            </a:extLst>
          </p:cNvPr>
          <p:cNvPicPr>
            <a:picLocks noChangeAspect="1"/>
          </p:cNvPicPr>
          <p:nvPr/>
        </p:nvPicPr>
        <p:blipFill rotWithShape="1">
          <a:blip r:embed="rId7"/>
          <a:srcRect l="91549"/>
          <a:stretch/>
        </p:blipFill>
        <p:spPr>
          <a:xfrm>
            <a:off x="11603231" y="3540515"/>
            <a:ext cx="646924" cy="552814"/>
          </a:xfrm>
          <a:prstGeom prst="rect">
            <a:avLst/>
          </a:prstGeom>
        </p:spPr>
      </p:pic>
    </p:spTree>
    <p:extLst>
      <p:ext uri="{BB962C8B-B14F-4D97-AF65-F5344CB8AC3E}">
        <p14:creationId xmlns:p14="http://schemas.microsoft.com/office/powerpoint/2010/main" val="2620740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82424E9-FCDC-41A5-947C-B9969268A06D}"/>
              </a:ext>
            </a:extLst>
          </p:cNvPr>
          <p:cNvSpPr>
            <a:spLocks noGrp="1"/>
          </p:cNvSpPr>
          <p:nvPr>
            <p:ph type="title"/>
          </p:nvPr>
        </p:nvSpPr>
        <p:spPr/>
        <p:txBody>
          <a:bodyPr/>
          <a:lstStyle/>
          <a:p>
            <a:r>
              <a:rPr lang="en-US" altLang="zh-TW" dirty="0"/>
              <a:t>Experiments</a:t>
            </a:r>
            <a:endParaRPr lang="zh-TW" altLang="en-US" dirty="0"/>
          </a:p>
        </p:txBody>
      </p:sp>
      <p:sp>
        <p:nvSpPr>
          <p:cNvPr id="3" name="內容版面配置區 2">
            <a:extLst>
              <a:ext uri="{FF2B5EF4-FFF2-40B4-BE49-F238E27FC236}">
                <a16:creationId xmlns:a16="http://schemas.microsoft.com/office/drawing/2014/main" id="{5D9FDCD0-FF6E-4CD3-A476-A74E7967F24C}"/>
              </a:ext>
            </a:extLst>
          </p:cNvPr>
          <p:cNvSpPr>
            <a:spLocks noGrp="1"/>
          </p:cNvSpPr>
          <p:nvPr>
            <p:ph idx="1"/>
          </p:nvPr>
        </p:nvSpPr>
        <p:spPr/>
        <p:txBody>
          <a:bodyPr/>
          <a:lstStyle/>
          <a:p>
            <a:r>
              <a:rPr lang="en-US" altLang="zh-TW" dirty="0"/>
              <a:t>All computations were done on a Laptop computer with an Intel I5 processor and 16GB of memory. </a:t>
            </a:r>
          </a:p>
          <a:p>
            <a:r>
              <a:rPr lang="en-US" altLang="zh-TW" dirty="0"/>
              <a:t>The MILP problems were solved on GAMS 24.5.3. using CPLEX 12.6.2.0 with standard settings.</a:t>
            </a:r>
          </a:p>
          <a:p>
            <a:endParaRPr lang="zh-TW" altLang="en-US" dirty="0"/>
          </a:p>
        </p:txBody>
      </p:sp>
      <p:pic>
        <p:nvPicPr>
          <p:cNvPr id="6" name="圖片 5">
            <a:extLst>
              <a:ext uri="{FF2B5EF4-FFF2-40B4-BE49-F238E27FC236}">
                <a16:creationId xmlns:a16="http://schemas.microsoft.com/office/drawing/2014/main" id="{C6413A14-2930-49A2-9B85-1970BF13A0F5}"/>
              </a:ext>
            </a:extLst>
          </p:cNvPr>
          <p:cNvPicPr>
            <a:picLocks noChangeAspect="1"/>
          </p:cNvPicPr>
          <p:nvPr/>
        </p:nvPicPr>
        <p:blipFill>
          <a:blip r:embed="rId2"/>
          <a:stretch>
            <a:fillRect/>
          </a:stretch>
        </p:blipFill>
        <p:spPr>
          <a:xfrm>
            <a:off x="1667540" y="3942028"/>
            <a:ext cx="6910474" cy="2234935"/>
          </a:xfrm>
          <a:prstGeom prst="rect">
            <a:avLst/>
          </a:prstGeom>
        </p:spPr>
      </p:pic>
    </p:spTree>
    <p:extLst>
      <p:ext uri="{BB962C8B-B14F-4D97-AF65-F5344CB8AC3E}">
        <p14:creationId xmlns:p14="http://schemas.microsoft.com/office/powerpoint/2010/main" val="86111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2645CD-B457-48D0-8ED6-6922BE83EB1C}"/>
              </a:ext>
            </a:extLst>
          </p:cNvPr>
          <p:cNvSpPr>
            <a:spLocks noGrp="1"/>
          </p:cNvSpPr>
          <p:nvPr>
            <p:ph type="title"/>
          </p:nvPr>
        </p:nvSpPr>
        <p:spPr>
          <a:xfrm>
            <a:off x="249265" y="-128008"/>
            <a:ext cx="10515600" cy="1325563"/>
          </a:xfrm>
        </p:spPr>
        <p:txBody>
          <a:bodyPr>
            <a:normAutofit/>
          </a:bodyPr>
          <a:lstStyle/>
          <a:p>
            <a:r>
              <a:rPr lang="en-US" altLang="zh-TW" sz="3200" b="0" i="0" dirty="0">
                <a:solidFill>
                  <a:srgbClr val="323232"/>
                </a:solidFill>
                <a:effectLst/>
              </a:rPr>
              <a:t>Processing times (min) of each product at each equipment.</a:t>
            </a:r>
            <a:endParaRPr lang="zh-TW" altLang="en-US" sz="3200" dirty="0"/>
          </a:p>
        </p:txBody>
      </p:sp>
      <p:sp>
        <p:nvSpPr>
          <p:cNvPr id="3" name="內容版面配置區 2">
            <a:extLst>
              <a:ext uri="{FF2B5EF4-FFF2-40B4-BE49-F238E27FC236}">
                <a16:creationId xmlns:a16="http://schemas.microsoft.com/office/drawing/2014/main" id="{55C6224F-C05F-432C-B83E-1CD5A8D2C479}"/>
              </a:ext>
            </a:extLst>
          </p:cNvPr>
          <p:cNvSpPr>
            <a:spLocks noGrp="1"/>
          </p:cNvSpPr>
          <p:nvPr>
            <p:ph idx="1"/>
          </p:nvPr>
        </p:nvSpPr>
        <p:spPr>
          <a:xfrm>
            <a:off x="166517" y="3345689"/>
            <a:ext cx="12243660" cy="3139294"/>
          </a:xfrm>
        </p:spPr>
        <p:txBody>
          <a:bodyPr>
            <a:normAutofit/>
          </a:bodyPr>
          <a:lstStyle/>
          <a:p>
            <a:pPr marL="0" indent="0">
              <a:buNone/>
            </a:pPr>
            <a:r>
              <a:rPr lang="en-US" altLang="zh-TW" b="0" i="0" dirty="0">
                <a:solidFill>
                  <a:srgbClr val="323232"/>
                </a:solidFill>
                <a:effectLst/>
              </a:rPr>
              <a:t>Sequence-dependent </a:t>
            </a:r>
            <a:r>
              <a:rPr lang="en-US" altLang="zh-TW" b="0" i="0" dirty="0">
                <a:solidFill>
                  <a:srgbClr val="2E2E2E"/>
                </a:solidFill>
                <a:effectLst/>
              </a:rPr>
              <a:t>changeover</a:t>
            </a:r>
            <a:r>
              <a:rPr lang="en-US" altLang="zh-TW" b="0" i="0" dirty="0">
                <a:solidFill>
                  <a:srgbClr val="323232"/>
                </a:solidFill>
                <a:effectLst/>
              </a:rPr>
              <a:t> times (min) of each product at each equipment.</a:t>
            </a:r>
            <a:endParaRPr lang="zh-TW" altLang="en-US" dirty="0"/>
          </a:p>
        </p:txBody>
      </p:sp>
      <p:pic>
        <p:nvPicPr>
          <p:cNvPr id="7" name="圖片 6">
            <a:extLst>
              <a:ext uri="{FF2B5EF4-FFF2-40B4-BE49-F238E27FC236}">
                <a16:creationId xmlns:a16="http://schemas.microsoft.com/office/drawing/2014/main" id="{36CE1F63-E962-4C35-BFC8-D198F166F3C6}"/>
              </a:ext>
            </a:extLst>
          </p:cNvPr>
          <p:cNvPicPr>
            <a:picLocks noChangeAspect="1"/>
          </p:cNvPicPr>
          <p:nvPr/>
        </p:nvPicPr>
        <p:blipFill>
          <a:blip r:embed="rId2"/>
          <a:stretch>
            <a:fillRect/>
          </a:stretch>
        </p:blipFill>
        <p:spPr>
          <a:xfrm>
            <a:off x="410014" y="1031441"/>
            <a:ext cx="8315325" cy="2171700"/>
          </a:xfrm>
          <a:prstGeom prst="rect">
            <a:avLst/>
          </a:prstGeom>
        </p:spPr>
      </p:pic>
      <p:pic>
        <p:nvPicPr>
          <p:cNvPr id="9" name="圖片 8">
            <a:extLst>
              <a:ext uri="{FF2B5EF4-FFF2-40B4-BE49-F238E27FC236}">
                <a16:creationId xmlns:a16="http://schemas.microsoft.com/office/drawing/2014/main" id="{A5C5BBE0-CF2A-41FE-9E57-3346F332A4A0}"/>
              </a:ext>
            </a:extLst>
          </p:cNvPr>
          <p:cNvPicPr>
            <a:picLocks noChangeAspect="1"/>
          </p:cNvPicPr>
          <p:nvPr/>
        </p:nvPicPr>
        <p:blipFill>
          <a:blip r:embed="rId3"/>
          <a:stretch>
            <a:fillRect/>
          </a:stretch>
        </p:blipFill>
        <p:spPr>
          <a:xfrm>
            <a:off x="497238" y="4172058"/>
            <a:ext cx="8485806" cy="2320817"/>
          </a:xfrm>
          <a:prstGeom prst="rect">
            <a:avLst/>
          </a:prstGeom>
        </p:spPr>
      </p:pic>
    </p:spTree>
    <p:extLst>
      <p:ext uri="{BB962C8B-B14F-4D97-AF65-F5344CB8AC3E}">
        <p14:creationId xmlns:p14="http://schemas.microsoft.com/office/powerpoint/2010/main" val="1806378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13364F-1C7A-4025-9C30-AE6A96044B3E}"/>
              </a:ext>
            </a:extLst>
          </p:cNvPr>
          <p:cNvSpPr>
            <a:spLocks noGrp="1"/>
          </p:cNvSpPr>
          <p:nvPr>
            <p:ph type="title"/>
          </p:nvPr>
        </p:nvSpPr>
        <p:spPr>
          <a:xfrm>
            <a:off x="185980" y="96838"/>
            <a:ext cx="11353800" cy="881025"/>
          </a:xfrm>
        </p:spPr>
        <p:txBody>
          <a:bodyPr>
            <a:noAutofit/>
          </a:bodyPr>
          <a:lstStyle/>
          <a:p>
            <a:r>
              <a:rPr lang="en-US" altLang="zh-TW" sz="3200" b="0" i="0" dirty="0">
                <a:solidFill>
                  <a:srgbClr val="323232"/>
                </a:solidFill>
                <a:effectLst/>
              </a:rPr>
              <a:t> Electricity consumption (kW) of each product at each equipment.</a:t>
            </a:r>
            <a:endParaRPr lang="zh-TW" altLang="en-US" sz="3200" dirty="0"/>
          </a:p>
        </p:txBody>
      </p:sp>
      <p:sp>
        <p:nvSpPr>
          <p:cNvPr id="3" name="內容版面配置區 2">
            <a:extLst>
              <a:ext uri="{FF2B5EF4-FFF2-40B4-BE49-F238E27FC236}">
                <a16:creationId xmlns:a16="http://schemas.microsoft.com/office/drawing/2014/main" id="{7486C1FA-E4AF-4BAD-B596-32DAF847779F}"/>
              </a:ext>
            </a:extLst>
          </p:cNvPr>
          <p:cNvSpPr>
            <a:spLocks noGrp="1"/>
          </p:cNvSpPr>
          <p:nvPr>
            <p:ph idx="1"/>
          </p:nvPr>
        </p:nvSpPr>
        <p:spPr>
          <a:xfrm>
            <a:off x="185980" y="3429000"/>
            <a:ext cx="11344033" cy="3046449"/>
          </a:xfrm>
        </p:spPr>
        <p:txBody>
          <a:bodyPr>
            <a:normAutofit/>
          </a:bodyPr>
          <a:lstStyle/>
          <a:p>
            <a:pPr marL="0" indent="0">
              <a:buNone/>
            </a:pPr>
            <a:r>
              <a:rPr lang="en-US" altLang="zh-TW" sz="3200" b="0" i="0" dirty="0">
                <a:solidFill>
                  <a:srgbClr val="323232"/>
                </a:solidFill>
                <a:effectLst/>
              </a:rPr>
              <a:t>Material consumption (−) and production (+) amounts (kg) per stage</a:t>
            </a:r>
            <a:endParaRPr lang="zh-TW" altLang="en-US" sz="3200" dirty="0"/>
          </a:p>
        </p:txBody>
      </p:sp>
      <p:pic>
        <p:nvPicPr>
          <p:cNvPr id="4" name="圖片 3">
            <a:extLst>
              <a:ext uri="{FF2B5EF4-FFF2-40B4-BE49-F238E27FC236}">
                <a16:creationId xmlns:a16="http://schemas.microsoft.com/office/drawing/2014/main" id="{26924374-32FC-4BF4-8620-C3F3FA272977}"/>
              </a:ext>
            </a:extLst>
          </p:cNvPr>
          <p:cNvPicPr>
            <a:picLocks noChangeAspect="1"/>
          </p:cNvPicPr>
          <p:nvPr/>
        </p:nvPicPr>
        <p:blipFill>
          <a:blip r:embed="rId2"/>
          <a:stretch>
            <a:fillRect/>
          </a:stretch>
        </p:blipFill>
        <p:spPr>
          <a:xfrm>
            <a:off x="667968" y="4011538"/>
            <a:ext cx="8156944" cy="2576401"/>
          </a:xfrm>
          <a:prstGeom prst="rect">
            <a:avLst/>
          </a:prstGeom>
        </p:spPr>
      </p:pic>
      <p:pic>
        <p:nvPicPr>
          <p:cNvPr id="5" name="圖片 4">
            <a:extLst>
              <a:ext uri="{FF2B5EF4-FFF2-40B4-BE49-F238E27FC236}">
                <a16:creationId xmlns:a16="http://schemas.microsoft.com/office/drawing/2014/main" id="{98203BD6-3C08-4C13-8AE9-7A25E8020BA4}"/>
              </a:ext>
            </a:extLst>
          </p:cNvPr>
          <p:cNvPicPr>
            <a:picLocks noChangeAspect="1"/>
          </p:cNvPicPr>
          <p:nvPr/>
        </p:nvPicPr>
        <p:blipFill>
          <a:blip r:embed="rId3"/>
          <a:stretch>
            <a:fillRect/>
          </a:stretch>
        </p:blipFill>
        <p:spPr>
          <a:xfrm>
            <a:off x="661987" y="977863"/>
            <a:ext cx="8162925" cy="2152650"/>
          </a:xfrm>
          <a:prstGeom prst="rect">
            <a:avLst/>
          </a:prstGeom>
        </p:spPr>
      </p:pic>
    </p:spTree>
    <p:extLst>
      <p:ext uri="{BB962C8B-B14F-4D97-AF65-F5344CB8AC3E}">
        <p14:creationId xmlns:p14="http://schemas.microsoft.com/office/powerpoint/2010/main" val="2181772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8ABC33-9362-41BC-B02F-FA582F5BA98A}"/>
              </a:ext>
            </a:extLst>
          </p:cNvPr>
          <p:cNvSpPr>
            <a:spLocks noGrp="1"/>
          </p:cNvSpPr>
          <p:nvPr>
            <p:ph type="title"/>
          </p:nvPr>
        </p:nvSpPr>
        <p:spPr/>
        <p:txBody>
          <a:bodyPr/>
          <a:lstStyle/>
          <a:p>
            <a:endParaRPr lang="zh-TW" altLang="en-US"/>
          </a:p>
        </p:txBody>
      </p:sp>
      <p:pic>
        <p:nvPicPr>
          <p:cNvPr id="5" name="圖片 4">
            <a:extLst>
              <a:ext uri="{FF2B5EF4-FFF2-40B4-BE49-F238E27FC236}">
                <a16:creationId xmlns:a16="http://schemas.microsoft.com/office/drawing/2014/main" id="{7CC677FC-BD8C-4061-BF76-7C3899721497}"/>
              </a:ext>
            </a:extLst>
          </p:cNvPr>
          <p:cNvPicPr>
            <a:picLocks noChangeAspect="1"/>
          </p:cNvPicPr>
          <p:nvPr/>
        </p:nvPicPr>
        <p:blipFill>
          <a:blip r:embed="rId3"/>
          <a:stretch>
            <a:fillRect/>
          </a:stretch>
        </p:blipFill>
        <p:spPr>
          <a:xfrm>
            <a:off x="658807" y="30675"/>
            <a:ext cx="8474560" cy="4595921"/>
          </a:xfrm>
          <a:prstGeom prst="rect">
            <a:avLst/>
          </a:prstGeom>
        </p:spPr>
      </p:pic>
      <p:pic>
        <p:nvPicPr>
          <p:cNvPr id="7" name="圖片 6">
            <a:extLst>
              <a:ext uri="{FF2B5EF4-FFF2-40B4-BE49-F238E27FC236}">
                <a16:creationId xmlns:a16="http://schemas.microsoft.com/office/drawing/2014/main" id="{8F79CF92-F4C7-403F-AACB-978CCF1EDDD8}"/>
              </a:ext>
            </a:extLst>
          </p:cNvPr>
          <p:cNvPicPr>
            <a:picLocks noChangeAspect="1"/>
          </p:cNvPicPr>
          <p:nvPr/>
        </p:nvPicPr>
        <p:blipFill>
          <a:blip r:embed="rId4"/>
          <a:stretch>
            <a:fillRect/>
          </a:stretch>
        </p:blipFill>
        <p:spPr>
          <a:xfrm>
            <a:off x="658807" y="5161633"/>
            <a:ext cx="8758758" cy="1665691"/>
          </a:xfrm>
          <a:prstGeom prst="rect">
            <a:avLst/>
          </a:prstGeom>
        </p:spPr>
      </p:pic>
    </p:spTree>
    <p:extLst>
      <p:ext uri="{BB962C8B-B14F-4D97-AF65-F5344CB8AC3E}">
        <p14:creationId xmlns:p14="http://schemas.microsoft.com/office/powerpoint/2010/main" val="1147373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FA396B-3E20-4FA4-81E1-4EB8D47F0898}"/>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2978158B-89E4-4E7D-B145-ED2E817033A5}"/>
              </a:ext>
            </a:extLst>
          </p:cNvPr>
          <p:cNvSpPr>
            <a:spLocks noGrp="1"/>
          </p:cNvSpPr>
          <p:nvPr>
            <p:ph idx="1"/>
          </p:nvPr>
        </p:nvSpPr>
        <p:spPr/>
        <p:txBody>
          <a:bodyPr/>
          <a:lstStyle/>
          <a:p>
            <a:endParaRPr lang="zh-TW" altLang="en-US" dirty="0"/>
          </a:p>
        </p:txBody>
      </p:sp>
      <p:pic>
        <p:nvPicPr>
          <p:cNvPr id="4" name="圖片 3">
            <a:extLst>
              <a:ext uri="{FF2B5EF4-FFF2-40B4-BE49-F238E27FC236}">
                <a16:creationId xmlns:a16="http://schemas.microsoft.com/office/drawing/2014/main" id="{559A5191-AA61-4691-A738-3C4BE0C597EA}"/>
              </a:ext>
            </a:extLst>
          </p:cNvPr>
          <p:cNvPicPr>
            <a:picLocks noChangeAspect="1"/>
          </p:cNvPicPr>
          <p:nvPr/>
        </p:nvPicPr>
        <p:blipFill>
          <a:blip r:embed="rId3"/>
          <a:stretch>
            <a:fillRect/>
          </a:stretch>
        </p:blipFill>
        <p:spPr>
          <a:xfrm>
            <a:off x="713519" y="740569"/>
            <a:ext cx="8483205" cy="1900238"/>
          </a:xfrm>
          <a:prstGeom prst="rect">
            <a:avLst/>
          </a:prstGeom>
        </p:spPr>
      </p:pic>
      <p:pic>
        <p:nvPicPr>
          <p:cNvPr id="5" name="圖片 4">
            <a:extLst>
              <a:ext uri="{FF2B5EF4-FFF2-40B4-BE49-F238E27FC236}">
                <a16:creationId xmlns:a16="http://schemas.microsoft.com/office/drawing/2014/main" id="{B1600563-ED60-4E22-B87F-B10397C1F332}"/>
              </a:ext>
            </a:extLst>
          </p:cNvPr>
          <p:cNvPicPr>
            <a:picLocks noChangeAspect="1"/>
          </p:cNvPicPr>
          <p:nvPr/>
        </p:nvPicPr>
        <p:blipFill>
          <a:blip r:embed="rId4"/>
          <a:stretch>
            <a:fillRect/>
          </a:stretch>
        </p:blipFill>
        <p:spPr>
          <a:xfrm>
            <a:off x="713519" y="3099121"/>
            <a:ext cx="8732566" cy="3298969"/>
          </a:xfrm>
          <a:prstGeom prst="rect">
            <a:avLst/>
          </a:prstGeom>
        </p:spPr>
      </p:pic>
    </p:spTree>
    <p:extLst>
      <p:ext uri="{BB962C8B-B14F-4D97-AF65-F5344CB8AC3E}">
        <p14:creationId xmlns:p14="http://schemas.microsoft.com/office/powerpoint/2010/main" val="3766187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8275B8-948A-47C5-82B5-230B39C20FBC}"/>
              </a:ext>
            </a:extLst>
          </p:cNvPr>
          <p:cNvSpPr>
            <a:spLocks noGrp="1"/>
          </p:cNvSpPr>
          <p:nvPr>
            <p:ph type="title"/>
          </p:nvPr>
        </p:nvSpPr>
        <p:spPr/>
        <p:txBody>
          <a:bodyPr/>
          <a:lstStyle/>
          <a:p>
            <a:r>
              <a:rPr lang="en-US" altLang="zh-TW" dirty="0"/>
              <a:t>Comparison</a:t>
            </a:r>
            <a:endParaRPr lang="zh-TW" altLang="en-US" dirty="0"/>
          </a:p>
        </p:txBody>
      </p:sp>
      <p:sp>
        <p:nvSpPr>
          <p:cNvPr id="3" name="內容版面配置區 2">
            <a:extLst>
              <a:ext uri="{FF2B5EF4-FFF2-40B4-BE49-F238E27FC236}">
                <a16:creationId xmlns:a16="http://schemas.microsoft.com/office/drawing/2014/main" id="{337A3F1C-007C-4EAD-B632-2D7D514505A3}"/>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4AEBD33E-2AC7-488F-A96D-C8E2577320F2}"/>
              </a:ext>
            </a:extLst>
          </p:cNvPr>
          <p:cNvPicPr>
            <a:picLocks noChangeAspect="1"/>
          </p:cNvPicPr>
          <p:nvPr/>
        </p:nvPicPr>
        <p:blipFill>
          <a:blip r:embed="rId3"/>
          <a:stretch>
            <a:fillRect/>
          </a:stretch>
        </p:blipFill>
        <p:spPr>
          <a:xfrm>
            <a:off x="0" y="1777778"/>
            <a:ext cx="12321078" cy="2772957"/>
          </a:xfrm>
          <a:prstGeom prst="rect">
            <a:avLst/>
          </a:prstGeom>
        </p:spPr>
      </p:pic>
    </p:spTree>
    <p:extLst>
      <p:ext uri="{BB962C8B-B14F-4D97-AF65-F5344CB8AC3E}">
        <p14:creationId xmlns:p14="http://schemas.microsoft.com/office/powerpoint/2010/main" val="2850224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A9E3B0-6C44-42C7-9756-6E744C9EEF00}"/>
              </a:ext>
            </a:extLst>
          </p:cNvPr>
          <p:cNvSpPr>
            <a:spLocks noGrp="1"/>
          </p:cNvSpPr>
          <p:nvPr>
            <p:ph type="title"/>
          </p:nvPr>
        </p:nvSpPr>
        <p:spPr/>
        <p:txBody>
          <a:bodyPr/>
          <a:lstStyle/>
          <a:p>
            <a:r>
              <a:rPr lang="en-US" altLang="zh-TW" dirty="0"/>
              <a:t>Conclusion</a:t>
            </a:r>
            <a:endParaRPr lang="zh-TW" altLang="en-US" dirty="0"/>
          </a:p>
        </p:txBody>
      </p:sp>
      <p:sp>
        <p:nvSpPr>
          <p:cNvPr id="3" name="內容版面配置區 2">
            <a:extLst>
              <a:ext uri="{FF2B5EF4-FFF2-40B4-BE49-F238E27FC236}">
                <a16:creationId xmlns:a16="http://schemas.microsoft.com/office/drawing/2014/main" id="{E140F26A-8A5E-48A8-B2A4-60F3BA5374DF}"/>
              </a:ext>
            </a:extLst>
          </p:cNvPr>
          <p:cNvSpPr>
            <a:spLocks noGrp="1"/>
          </p:cNvSpPr>
          <p:nvPr>
            <p:ph idx="1"/>
          </p:nvPr>
        </p:nvSpPr>
        <p:spPr/>
        <p:txBody>
          <a:bodyPr>
            <a:normAutofit/>
          </a:bodyPr>
          <a:lstStyle/>
          <a:p>
            <a:r>
              <a:rPr lang="en-US" altLang="zh-TW" dirty="0"/>
              <a:t>A generic heuristic approach can be efficiently used to solve many complex and large-size industrial scheduling problems.</a:t>
            </a:r>
          </a:p>
          <a:p>
            <a:r>
              <a:rPr lang="en-US" altLang="zh-TW" dirty="0"/>
              <a:t> Consider possibilities to combine the strengths of both approaches:</a:t>
            </a:r>
          </a:p>
          <a:p>
            <a:pPr lvl="1"/>
            <a:r>
              <a:rPr lang="en-US" altLang="zh-TW" dirty="0"/>
              <a:t>Using MILP to improve the quality of the solution supported by heuristics to boost up the performance. </a:t>
            </a:r>
          </a:p>
          <a:p>
            <a:pPr lvl="1"/>
            <a:r>
              <a:rPr lang="en-US" altLang="zh-TW" dirty="0"/>
              <a:t>MILP successfully implemented various heuristics both in the </a:t>
            </a:r>
            <a:r>
              <a:rPr lang="en-US" altLang="zh-TW" dirty="0" err="1"/>
              <a:t>presolvers</a:t>
            </a:r>
            <a:r>
              <a:rPr lang="en-US" altLang="zh-TW" dirty="0"/>
              <a:t> as well as within the branching schemes.  </a:t>
            </a:r>
          </a:p>
          <a:p>
            <a:r>
              <a:rPr lang="en-US" altLang="zh-TW" dirty="0"/>
              <a:t>Larger problems are still not solvable to optimality and here various collaborative schemes could make a clear change.</a:t>
            </a:r>
          </a:p>
        </p:txBody>
      </p:sp>
    </p:spTree>
    <p:extLst>
      <p:ext uri="{BB962C8B-B14F-4D97-AF65-F5344CB8AC3E}">
        <p14:creationId xmlns:p14="http://schemas.microsoft.com/office/powerpoint/2010/main" val="23012220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55D404-78C0-427D-847B-FE6FAA4DD154}"/>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84C5917-47DB-43C6-B700-B6BD0963EFB6}"/>
              </a:ext>
            </a:extLst>
          </p:cNvPr>
          <p:cNvSpPr>
            <a:spLocks noGrp="1"/>
          </p:cNvSpPr>
          <p:nvPr>
            <p:ph idx="1"/>
          </p:nvPr>
        </p:nvSpPr>
        <p:spPr/>
        <p:txBody>
          <a:bodyPr/>
          <a:lstStyle/>
          <a:p>
            <a:pPr marL="0" indent="0">
              <a:buNone/>
            </a:pPr>
            <a:r>
              <a:rPr lang="en-US" altLang="zh-TW" dirty="0"/>
              <a:t>Thanks for listening.</a:t>
            </a:r>
            <a:endParaRPr lang="zh-TW" altLang="en-US" dirty="0"/>
          </a:p>
        </p:txBody>
      </p:sp>
    </p:spTree>
    <p:extLst>
      <p:ext uri="{BB962C8B-B14F-4D97-AF65-F5344CB8AC3E}">
        <p14:creationId xmlns:p14="http://schemas.microsoft.com/office/powerpoint/2010/main" val="4228014672"/>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1595</TotalTime>
  <Words>716</Words>
  <Application>Microsoft Office PowerPoint</Application>
  <PresentationFormat>寬螢幕</PresentationFormat>
  <Paragraphs>42</Paragraphs>
  <Slides>15</Slides>
  <Notes>7</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15</vt:i4>
      </vt:variant>
    </vt:vector>
  </HeadingPairs>
  <TitlesOfParts>
    <vt:vector size="21" baseType="lpstr">
      <vt:lpstr>Arial</vt:lpstr>
      <vt:lpstr>Calibri</vt:lpstr>
      <vt:lpstr>Calibri Light</vt:lpstr>
      <vt:lpstr>Open Sans</vt:lpstr>
      <vt:lpstr>Times New Roman</vt:lpstr>
      <vt:lpstr>Office 佈景主題</vt:lpstr>
      <vt:lpstr>Industrial scheduling solution based on flexible heuristics  Iiro Harjunkoski, Reinhard Bauer  </vt:lpstr>
      <vt:lpstr>Abstract </vt:lpstr>
      <vt:lpstr>PowerPoint 簡報</vt:lpstr>
      <vt:lpstr>PowerPoint 簡報</vt:lpstr>
      <vt:lpstr>PowerPoint 簡報</vt:lpstr>
      <vt:lpstr>Objective</vt:lpstr>
      <vt:lpstr>Constraints </vt:lpstr>
      <vt:lpstr>Experiments</vt:lpstr>
      <vt:lpstr>Processing times (min) of each product at each equipment.</vt:lpstr>
      <vt:lpstr> Electricity consumption (kW) of each product at each equipment.</vt:lpstr>
      <vt:lpstr>PowerPoint 簡報</vt:lpstr>
      <vt:lpstr>PowerPoint 簡報</vt:lpstr>
      <vt:lpstr>Comparison</vt:lpstr>
      <vt:lpstr>Conclusion</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jj wu</dc:creator>
  <cp:lastModifiedBy>jj wu</cp:lastModifiedBy>
  <cp:revision>10</cp:revision>
  <dcterms:created xsi:type="dcterms:W3CDTF">2021-09-13T05:50:45Z</dcterms:created>
  <dcterms:modified xsi:type="dcterms:W3CDTF">2021-09-14T08:33:56Z</dcterms:modified>
</cp:coreProperties>
</file>