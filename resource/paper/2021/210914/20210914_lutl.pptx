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0" showSpecialPlsOnTitleSld="0" saveSubsetFonts="1" autoCompressPictures="0">
  <p:sldMasterIdLst>
    <p:sldMasterId id="2147483648" r:id="rId1"/>
  </p:sldMasterIdLst>
  <p:notesMasterIdLst>
    <p:notesMasterId r:id="rId17"/>
  </p:notesMasterIdLst>
  <p:sldIdLst>
    <p:sldId id="256" r:id="rId2"/>
    <p:sldId id="257" r:id="rId3"/>
    <p:sldId id="269" r:id="rId4"/>
    <p:sldId id="266" r:id="rId5"/>
    <p:sldId id="258" r:id="rId6"/>
    <p:sldId id="264" r:id="rId7"/>
    <p:sldId id="261" r:id="rId8"/>
    <p:sldId id="260" r:id="rId9"/>
    <p:sldId id="262" r:id="rId10"/>
    <p:sldId id="263" r:id="rId11"/>
    <p:sldId id="265" r:id="rId12"/>
    <p:sldId id="268" r:id="rId13"/>
    <p:sldId id="267" r:id="rId14"/>
    <p:sldId id="278" r:id="rId15"/>
    <p:sldId id="272" r:id="rId16"/>
  </p:sldIdLst>
  <p:sldSz cx="12192000" cy="6858000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0"/>
    <p:restoredTop sz="94650"/>
  </p:normalViewPr>
  <p:slideViewPr>
    <p:cSldViewPr snapToGrid="0" snapToObjects="1">
      <p:cViewPr varScale="1">
        <p:scale>
          <a:sx n="120" d="100"/>
          <a:sy n="120" d="100"/>
        </p:scale>
        <p:origin x="256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3A45559-0BFE-4344-9B65-AF2AA4340070}" type="datetimeFigureOut">
              <a:rPr kumimoji="1" lang="zh-TW" altLang="en-US" smtClean="0"/>
              <a:t>2021/9/14</a:t>
            </a:fld>
            <a:endParaRPr kumimoji="1" lang="zh-TW" altLang="en-US"/>
          </a:p>
        </p:txBody>
      </p:sp>
      <p:sp>
        <p:nvSpPr>
          <p:cNvPr id="4" name="投影片影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TW" altLang="en-US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zh-TW" altLang="en-US"/>
              <a:t>按一下以編輯母片文字樣式</a:t>
            </a:r>
          </a:p>
          <a:p>
            <a:pPr lvl="1"/>
            <a:r>
              <a:rPr kumimoji="1" lang="zh-TW" altLang="en-US"/>
              <a:t>第二層</a:t>
            </a:r>
          </a:p>
          <a:p>
            <a:pPr lvl="2"/>
            <a:r>
              <a:rPr kumimoji="1" lang="zh-TW" altLang="en-US"/>
              <a:t>第三層</a:t>
            </a:r>
          </a:p>
          <a:p>
            <a:pPr lvl="3"/>
            <a:r>
              <a:rPr kumimoji="1" lang="zh-TW" altLang="en-US"/>
              <a:t>第四層</a:t>
            </a:r>
          </a:p>
          <a:p>
            <a:pPr lvl="4"/>
            <a:r>
              <a:rPr kumimoji="1" lang="zh-TW" altLang="en-US"/>
              <a:t>第五層</a:t>
            </a:r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343E2FF-3FFC-0943-9A0D-A0B13F46FECA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312107628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399CACA6-C67C-E541-892B-44D0091E4B3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kumimoji="1" lang="zh-TW" altLang="en-US" dirty="0"/>
              <a:t>按一下以編輯母片標題樣式</a:t>
            </a:r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11CC1734-2905-E64F-A631-54B44141657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TW" altLang="en-US" dirty="0"/>
              <a:t>按一下以編輯母片子標題樣式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E52928DA-44E4-074F-8536-26603EBDA3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D94305-8CA1-9449-A556-67D5085A7FA1}" type="datetime1">
              <a:rPr kumimoji="1" lang="zh-TW" altLang="en-US" smtClean="0"/>
              <a:t>2021/9/14</a:t>
            </a:fld>
            <a:endParaRPr kumimoji="1"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FCCB0FA4-ABBE-BA4C-8404-566B691D00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136B4FD5-66AB-9441-90B5-4BBD60219E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AB94F7-1CE9-3B41-8002-0A2CB67662D8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348140425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5870AF28-EC81-FE4B-89D9-F2E8D07FC0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7F8F01FE-63E4-B148-8F63-BA8CC19DF1B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TW" altLang="en-US"/>
              <a:t>按一下以編輯母片文字樣式</a:t>
            </a:r>
          </a:p>
          <a:p>
            <a:pPr lvl="1"/>
            <a:r>
              <a:rPr kumimoji="1" lang="zh-TW" altLang="en-US"/>
              <a:t>第二層</a:t>
            </a:r>
          </a:p>
          <a:p>
            <a:pPr lvl="2"/>
            <a:r>
              <a:rPr kumimoji="1" lang="zh-TW" altLang="en-US"/>
              <a:t>第三層</a:t>
            </a:r>
          </a:p>
          <a:p>
            <a:pPr lvl="3"/>
            <a:r>
              <a:rPr kumimoji="1" lang="zh-TW" altLang="en-US"/>
              <a:t>第四層</a:t>
            </a:r>
          </a:p>
          <a:p>
            <a:pPr lvl="4"/>
            <a:r>
              <a:rPr kumimoji="1"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3CDDCB10-D67B-2F49-9257-3F53E655A9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5A69C4-18F5-3B4F-9726-B61210AF53BB}" type="datetime1">
              <a:rPr kumimoji="1" lang="zh-TW" altLang="en-US" smtClean="0"/>
              <a:t>2021/9/14</a:t>
            </a:fld>
            <a:endParaRPr kumimoji="1"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FE383F78-9598-D74D-9292-89EFE69D19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ABD1EF3F-2214-5B47-9FDA-094F6F6F1A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160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fld id="{45AB94F7-1CE9-3B41-8002-0A2CB67662D8}" type="slidenum">
              <a:rPr kumimoji="1" lang="zh-TW" altLang="en-US" smtClean="0"/>
              <a:pPr/>
              <a:t>‹#›</a:t>
            </a:fld>
            <a:endParaRPr kumimoji="1"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233928612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540EA4F2-2540-1244-B139-F15C25B79C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C2C54D3C-13C8-6242-8D0C-509D6768103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zh-TW" altLang="en-US"/>
              <a:t>按一下以編輯母片文字樣式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59742759-9CB6-6844-818C-D784DC9DDB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11A6B9-6F66-C749-9323-08ACCB0475DF}" type="datetime1">
              <a:rPr kumimoji="1" lang="zh-TW" altLang="en-US" smtClean="0"/>
              <a:t>2021/9/14</a:t>
            </a:fld>
            <a:endParaRPr kumimoji="1"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BAF6B2C8-E956-014A-989F-C4986EEC97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14FE7166-F2BC-6E41-A489-D4F1F176A0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AB94F7-1CE9-3B41-8002-0A2CB67662D8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159802582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個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0FD5B0B7-A085-074E-8B77-3B759476B8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00DE2419-98D0-C748-9D81-FD99D10E893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zh-TW" altLang="en-US"/>
              <a:t>按一下以編輯母片文字樣式</a:t>
            </a:r>
          </a:p>
          <a:p>
            <a:pPr lvl="1"/>
            <a:r>
              <a:rPr kumimoji="1" lang="zh-TW" altLang="en-US"/>
              <a:t>第二層</a:t>
            </a:r>
          </a:p>
          <a:p>
            <a:pPr lvl="2"/>
            <a:r>
              <a:rPr kumimoji="1" lang="zh-TW" altLang="en-US"/>
              <a:t>第三層</a:t>
            </a:r>
          </a:p>
          <a:p>
            <a:pPr lvl="3"/>
            <a:r>
              <a:rPr kumimoji="1" lang="zh-TW" altLang="en-US"/>
              <a:t>第四層</a:t>
            </a:r>
          </a:p>
          <a:p>
            <a:pPr lvl="4"/>
            <a:r>
              <a:rPr kumimoji="1" lang="zh-TW" altLang="en-US"/>
              <a:t>第五層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9E7429AE-8C31-D64A-9CAF-84EF9D9F81F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zh-TW" altLang="en-US"/>
              <a:t>按一下以編輯母片文字樣式</a:t>
            </a:r>
          </a:p>
          <a:p>
            <a:pPr lvl="1"/>
            <a:r>
              <a:rPr kumimoji="1" lang="zh-TW" altLang="en-US"/>
              <a:t>第二層</a:t>
            </a:r>
          </a:p>
          <a:p>
            <a:pPr lvl="2"/>
            <a:r>
              <a:rPr kumimoji="1" lang="zh-TW" altLang="en-US"/>
              <a:t>第三層</a:t>
            </a:r>
          </a:p>
          <a:p>
            <a:pPr lvl="3"/>
            <a:r>
              <a:rPr kumimoji="1" lang="zh-TW" altLang="en-US"/>
              <a:t>第四層</a:t>
            </a:r>
          </a:p>
          <a:p>
            <a:pPr lvl="4"/>
            <a:r>
              <a:rPr kumimoji="1" lang="zh-TW" altLang="en-US"/>
              <a:t>第五層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854F1935-3D64-C547-BE1F-E5DF5E3EAE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2A61A4-81BF-334B-8D80-CA36701FDA35}" type="datetime1">
              <a:rPr kumimoji="1" lang="zh-TW" altLang="en-US" smtClean="0"/>
              <a:t>2021/9/14</a:t>
            </a:fld>
            <a:endParaRPr kumimoji="1"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712AB15C-9B5B-D44D-B16C-11EF813D9F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25CFBA30-686E-724D-9244-E9E6440670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AB94F7-1CE9-3B41-8002-0A2CB67662D8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20158489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5312BDD6-FE7A-F545-960D-362C66F473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07F6F60D-37BA-C242-9A1E-32FEB8CCCA7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TW" altLang="en-US"/>
              <a:t>按一下以編輯母片文字樣式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E9BCDA43-0B87-A645-8BE0-2EA0C0A6B13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zh-TW" altLang="en-US"/>
              <a:t>按一下以編輯母片文字樣式</a:t>
            </a:r>
          </a:p>
          <a:p>
            <a:pPr lvl="1"/>
            <a:r>
              <a:rPr kumimoji="1" lang="zh-TW" altLang="en-US"/>
              <a:t>第二層</a:t>
            </a:r>
          </a:p>
          <a:p>
            <a:pPr lvl="2"/>
            <a:r>
              <a:rPr kumimoji="1" lang="zh-TW" altLang="en-US"/>
              <a:t>第三層</a:t>
            </a:r>
          </a:p>
          <a:p>
            <a:pPr lvl="3"/>
            <a:r>
              <a:rPr kumimoji="1" lang="zh-TW" altLang="en-US"/>
              <a:t>第四層</a:t>
            </a:r>
          </a:p>
          <a:p>
            <a:pPr lvl="4"/>
            <a:r>
              <a:rPr kumimoji="1" lang="zh-TW" altLang="en-US"/>
              <a:t>第五層</a:t>
            </a:r>
          </a:p>
        </p:txBody>
      </p:sp>
      <p:sp>
        <p:nvSpPr>
          <p:cNvPr id="5" name="文字版面配置區 4">
            <a:extLst>
              <a:ext uri="{FF2B5EF4-FFF2-40B4-BE49-F238E27FC236}">
                <a16:creationId xmlns:a16="http://schemas.microsoft.com/office/drawing/2014/main" id="{05D48957-078C-7444-A985-ACC5552F251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TW" altLang="en-US"/>
              <a:t>按一下以編輯母片文字樣式</a:t>
            </a:r>
          </a:p>
        </p:txBody>
      </p:sp>
      <p:sp>
        <p:nvSpPr>
          <p:cNvPr id="6" name="內容版面配置區 5">
            <a:extLst>
              <a:ext uri="{FF2B5EF4-FFF2-40B4-BE49-F238E27FC236}">
                <a16:creationId xmlns:a16="http://schemas.microsoft.com/office/drawing/2014/main" id="{4FEF868D-291B-394E-9BE2-D02FA1CD3C3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zh-TW" altLang="en-US"/>
              <a:t>按一下以編輯母片文字樣式</a:t>
            </a:r>
          </a:p>
          <a:p>
            <a:pPr lvl="1"/>
            <a:r>
              <a:rPr kumimoji="1" lang="zh-TW" altLang="en-US"/>
              <a:t>第二層</a:t>
            </a:r>
          </a:p>
          <a:p>
            <a:pPr lvl="2"/>
            <a:r>
              <a:rPr kumimoji="1" lang="zh-TW" altLang="en-US"/>
              <a:t>第三層</a:t>
            </a:r>
          </a:p>
          <a:p>
            <a:pPr lvl="3"/>
            <a:r>
              <a:rPr kumimoji="1" lang="zh-TW" altLang="en-US"/>
              <a:t>第四層</a:t>
            </a:r>
          </a:p>
          <a:p>
            <a:pPr lvl="4"/>
            <a:r>
              <a:rPr kumimoji="1" lang="zh-TW" altLang="en-US"/>
              <a:t>第五層</a:t>
            </a:r>
          </a:p>
        </p:txBody>
      </p:sp>
      <p:sp>
        <p:nvSpPr>
          <p:cNvPr id="7" name="日期版面配置區 6">
            <a:extLst>
              <a:ext uri="{FF2B5EF4-FFF2-40B4-BE49-F238E27FC236}">
                <a16:creationId xmlns:a16="http://schemas.microsoft.com/office/drawing/2014/main" id="{1EA16361-4974-3C4E-9136-7688A755DD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8A022A-5F93-5C4C-B16C-BEC73CEE6E54}" type="datetime1">
              <a:rPr kumimoji="1" lang="zh-TW" altLang="en-US" smtClean="0"/>
              <a:t>2021/9/14</a:t>
            </a:fld>
            <a:endParaRPr kumimoji="1" lang="zh-TW" altLang="en-US"/>
          </a:p>
        </p:txBody>
      </p:sp>
      <p:sp>
        <p:nvSpPr>
          <p:cNvPr id="8" name="頁尾版面配置區 7">
            <a:extLst>
              <a:ext uri="{FF2B5EF4-FFF2-40B4-BE49-F238E27FC236}">
                <a16:creationId xmlns:a16="http://schemas.microsoft.com/office/drawing/2014/main" id="{556ED032-8661-E941-88E1-00C9694209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9" name="投影片編號版面配置區 8">
            <a:extLst>
              <a:ext uri="{FF2B5EF4-FFF2-40B4-BE49-F238E27FC236}">
                <a16:creationId xmlns:a16="http://schemas.microsoft.com/office/drawing/2014/main" id="{FB13C977-9E60-0840-8F60-2746A6806D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AB94F7-1CE9-3B41-8002-0A2CB67662D8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77983533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11B53D1F-CD49-4A47-8161-81E7049E77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TW" altLang="en-US"/>
              <a:t>按一下以編輯母片標題樣式</a:t>
            </a:r>
          </a:p>
        </p:txBody>
      </p:sp>
      <p:sp>
        <p:nvSpPr>
          <p:cNvPr id="3" name="日期版面配置區 2">
            <a:extLst>
              <a:ext uri="{FF2B5EF4-FFF2-40B4-BE49-F238E27FC236}">
                <a16:creationId xmlns:a16="http://schemas.microsoft.com/office/drawing/2014/main" id="{97BAD2FC-9DAA-7243-A022-A4F61BF19E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C925CB-9510-9341-9576-9B12ECEC775E}" type="datetime1">
              <a:rPr kumimoji="1" lang="zh-TW" altLang="en-US" smtClean="0"/>
              <a:t>2021/9/14</a:t>
            </a:fld>
            <a:endParaRPr kumimoji="1" lang="zh-TW" altLang="en-US"/>
          </a:p>
        </p:txBody>
      </p:sp>
      <p:sp>
        <p:nvSpPr>
          <p:cNvPr id="4" name="頁尾版面配置區 3">
            <a:extLst>
              <a:ext uri="{FF2B5EF4-FFF2-40B4-BE49-F238E27FC236}">
                <a16:creationId xmlns:a16="http://schemas.microsoft.com/office/drawing/2014/main" id="{FB08567B-6FC5-FE42-99C1-56DE3E0EA8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EDF5BEE7-69BC-3243-92F7-9D56CF1E4E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AB94F7-1CE9-3B41-8002-0A2CB67662D8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299456607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>
            <a:extLst>
              <a:ext uri="{FF2B5EF4-FFF2-40B4-BE49-F238E27FC236}">
                <a16:creationId xmlns:a16="http://schemas.microsoft.com/office/drawing/2014/main" id="{C472B68F-CE5E-8E42-845E-216799E933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C0CE8D-F82D-A84C-87DC-2C4A6AB68E2E}" type="datetime1">
              <a:rPr kumimoji="1" lang="zh-TW" altLang="en-US" smtClean="0"/>
              <a:t>2021/9/14</a:t>
            </a:fld>
            <a:endParaRPr kumimoji="1" lang="zh-TW" altLang="en-US"/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0AE25D5B-72BF-8541-BB27-109E74F63A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A4D9627B-7493-DE49-BED1-D957B96B65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AB94F7-1CE9-3B41-8002-0A2CB67662D8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10528407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輔助字幕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B0D33F3F-E533-ED46-B706-B8230FBE36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6923F0ED-E028-4D48-ACE1-92415A0E025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TW" altLang="en-US"/>
              <a:t>按一下以編輯母片文字樣式</a:t>
            </a:r>
          </a:p>
          <a:p>
            <a:pPr lvl="1"/>
            <a:r>
              <a:rPr kumimoji="1" lang="zh-TW" altLang="en-US"/>
              <a:t>第二層</a:t>
            </a:r>
          </a:p>
          <a:p>
            <a:pPr lvl="2"/>
            <a:r>
              <a:rPr kumimoji="1" lang="zh-TW" altLang="en-US"/>
              <a:t>第三層</a:t>
            </a:r>
          </a:p>
          <a:p>
            <a:pPr lvl="3"/>
            <a:r>
              <a:rPr kumimoji="1" lang="zh-TW" altLang="en-US"/>
              <a:t>第四層</a:t>
            </a:r>
          </a:p>
          <a:p>
            <a:pPr lvl="4"/>
            <a:r>
              <a:rPr kumimoji="1" lang="zh-TW" altLang="en-US"/>
              <a:t>第五層</a:t>
            </a:r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F9259B9D-B493-EE4A-8F83-9E517D43A34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TW" altLang="en-US"/>
              <a:t>按一下以編輯母片文字樣式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B647DBB5-D8D1-9C4B-958E-74CA3C3565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8C0FAD-89C5-7F43-A773-FAE777B2C9F1}" type="datetime1">
              <a:rPr kumimoji="1" lang="zh-TW" altLang="en-US" smtClean="0"/>
              <a:t>2021/9/14</a:t>
            </a:fld>
            <a:endParaRPr kumimoji="1"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2DD9DD0B-97B7-7C48-9FAF-367CEFEAD7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1F04DAF6-0748-E746-B095-EDD0BFA0CD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AB94F7-1CE9-3B41-8002-0A2CB67662D8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223448515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輔助字幕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0BB7AA03-AD9D-9B4F-BF9A-0D182E1303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TW" altLang="en-US"/>
              <a:t>按一下以編輯母片標題樣式</a:t>
            </a:r>
          </a:p>
        </p:txBody>
      </p:sp>
      <p:sp>
        <p:nvSpPr>
          <p:cNvPr id="3" name="圖片版面配置區 2">
            <a:extLst>
              <a:ext uri="{FF2B5EF4-FFF2-40B4-BE49-F238E27FC236}">
                <a16:creationId xmlns:a16="http://schemas.microsoft.com/office/drawing/2014/main" id="{40629E92-D1EC-7541-B377-00C9F825B77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TW" altLang="en-US"/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49365C22-4E8D-5446-A436-EA77B69D7FF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TW" altLang="en-US"/>
              <a:t>按一下以編輯母片文字樣式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9B89063B-A0C5-524B-897E-9D14FAA16A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BFB9B9-8EF2-A94F-98A1-225287ED6E40}" type="datetime1">
              <a:rPr kumimoji="1" lang="zh-TW" altLang="en-US" smtClean="0"/>
              <a:t>2021/9/14</a:t>
            </a:fld>
            <a:endParaRPr kumimoji="1"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DFCC9C8F-50DB-0448-BAE3-DCD747D6EB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8E76F315-F817-7046-B413-386F671772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AB94F7-1CE9-3B41-8002-0A2CB67662D8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271673905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1CAAEEB8-BF61-0D4B-91E0-B11EF6EA06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TW" altLang="en-US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B92FAE11-B217-A441-BF40-6E86BC48954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TW" altLang="en-US"/>
              <a:t>按一下以編輯母片文字樣式</a:t>
            </a:r>
          </a:p>
          <a:p>
            <a:pPr lvl="1"/>
            <a:r>
              <a:rPr kumimoji="1" lang="zh-TW" altLang="en-US"/>
              <a:t>第二層</a:t>
            </a:r>
          </a:p>
          <a:p>
            <a:pPr lvl="2"/>
            <a:r>
              <a:rPr kumimoji="1" lang="zh-TW" altLang="en-US"/>
              <a:t>第三層</a:t>
            </a:r>
          </a:p>
          <a:p>
            <a:pPr lvl="3"/>
            <a:r>
              <a:rPr kumimoji="1" lang="zh-TW" altLang="en-US"/>
              <a:t>第四層</a:t>
            </a:r>
          </a:p>
          <a:p>
            <a:pPr lvl="4"/>
            <a:r>
              <a:rPr kumimoji="1"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B6718463-BF67-834B-B2DE-31F68E4528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8B0978-9282-A443-81EE-087251DCE16D}" type="datetime1">
              <a:rPr kumimoji="1" lang="zh-TW" altLang="en-US" smtClean="0"/>
              <a:t>2021/9/14</a:t>
            </a:fld>
            <a:endParaRPr kumimoji="1"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F594982C-896E-4149-99DD-209F8E8C00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66603828-B8BB-9B4D-B2DF-DD10F4CAE8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AB94F7-1CE9-3B41-8002-0A2CB67662D8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156493494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>
            <a:extLst>
              <a:ext uri="{FF2B5EF4-FFF2-40B4-BE49-F238E27FC236}">
                <a16:creationId xmlns:a16="http://schemas.microsoft.com/office/drawing/2014/main" id="{535947D6-AA8E-8847-82ED-F06115AA28F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zh-TW" altLang="en-US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FF700A80-132C-4840-9A7C-C78D2A2400F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zh-TW" altLang="en-US"/>
              <a:t>按一下以編輯母片文字樣式</a:t>
            </a:r>
          </a:p>
          <a:p>
            <a:pPr lvl="1"/>
            <a:r>
              <a:rPr kumimoji="1" lang="zh-TW" altLang="en-US"/>
              <a:t>第二層</a:t>
            </a:r>
          </a:p>
          <a:p>
            <a:pPr lvl="2"/>
            <a:r>
              <a:rPr kumimoji="1" lang="zh-TW" altLang="en-US"/>
              <a:t>第三層</a:t>
            </a:r>
          </a:p>
          <a:p>
            <a:pPr lvl="3"/>
            <a:r>
              <a:rPr kumimoji="1" lang="zh-TW" altLang="en-US"/>
              <a:t>第四層</a:t>
            </a:r>
          </a:p>
          <a:p>
            <a:pPr lvl="4"/>
            <a:r>
              <a:rPr kumimoji="1"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8A617639-2B7B-124E-964F-8866AB8832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108DF5-4A34-8D4B-8D26-525AA81604B2}" type="datetime1">
              <a:rPr kumimoji="1" lang="zh-TW" altLang="en-US" smtClean="0"/>
              <a:t>2021/9/14</a:t>
            </a:fld>
            <a:endParaRPr kumimoji="1"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0438D0C4-A114-014D-8492-65B3EEDD17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418114EB-9F4C-BE4F-9F99-D7A2DEEC2A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AB94F7-1CE9-3B41-8002-0A2CB67662D8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60837132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>
            <a:extLst>
              <a:ext uri="{FF2B5EF4-FFF2-40B4-BE49-F238E27FC236}">
                <a16:creationId xmlns:a16="http://schemas.microsoft.com/office/drawing/2014/main" id="{73116FCC-9057-794F-A6BD-9239D68671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TW" altLang="en-US" dirty="0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0F71D68C-1C2E-1C49-B4D5-25F62E8AE20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TW" altLang="en-US" dirty="0"/>
              <a:t>按一下以編輯母片文字樣式</a:t>
            </a:r>
          </a:p>
          <a:p>
            <a:pPr lvl="1"/>
            <a:r>
              <a:rPr kumimoji="1" lang="zh-TW" altLang="en-US" dirty="0"/>
              <a:t>第二層</a:t>
            </a:r>
          </a:p>
          <a:p>
            <a:pPr lvl="2"/>
            <a:r>
              <a:rPr kumimoji="1" lang="zh-TW" altLang="en-US" dirty="0"/>
              <a:t>第三層</a:t>
            </a:r>
          </a:p>
          <a:p>
            <a:pPr lvl="3"/>
            <a:r>
              <a:rPr kumimoji="1" lang="zh-TW" altLang="en-US" dirty="0"/>
              <a:t>第四層</a:t>
            </a:r>
          </a:p>
          <a:p>
            <a:pPr lvl="4"/>
            <a:r>
              <a:rPr kumimoji="1" lang="zh-TW" altLang="en-US" dirty="0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6ECE1990-52AC-F546-8798-90353A03952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8A140CC-F999-A946-9373-08EAE304F3C9}" type="datetime1">
              <a:rPr kumimoji="1" lang="zh-TW" altLang="en-US" smtClean="0"/>
              <a:t>2021/9/14</a:t>
            </a:fld>
            <a:endParaRPr kumimoji="1"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3EB22EAC-653F-C544-A1B0-BE186C17815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126F20A4-E6B9-D241-B29C-161E27408EE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5AB94F7-1CE9-3B41-8002-0A2CB67662D8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279743065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Times New Roman" panose="02020603050405020304" pitchFamily="18" charset="0"/>
          <a:ea typeface="+mj-ea"/>
          <a:cs typeface="Times New Roman" panose="02020603050405020304" pitchFamily="18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0CA1336C-440D-2E43-904F-AABB45E64E1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60721" y="1095150"/>
            <a:ext cx="9144000" cy="1915079"/>
          </a:xfrm>
        </p:spPr>
        <p:txBody>
          <a:bodyPr>
            <a:normAutofit/>
          </a:bodyPr>
          <a:lstStyle/>
          <a:p>
            <a:r>
              <a:rPr kumimoji="1" lang="en-US" altLang="zh-TW" dirty="0"/>
              <a:t>Longest Square Subsequence Problem Revisited</a:t>
            </a:r>
            <a:endParaRPr kumimoji="1"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FD611AA7-209A-4449-AB65-A25622930A6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97442" y="3602038"/>
            <a:ext cx="9870558" cy="2224604"/>
          </a:xfrm>
        </p:spPr>
        <p:txBody>
          <a:bodyPr>
            <a:normAutofit lnSpcReduction="10000"/>
          </a:bodyPr>
          <a:lstStyle/>
          <a:p>
            <a:r>
              <a:rPr kumimoji="1" lang="en-US" altLang="zh-TW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Takafumi</a:t>
            </a:r>
            <a:r>
              <a:rPr kumimoji="1"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Inoue, </a:t>
            </a:r>
            <a:r>
              <a:rPr kumimoji="1" lang="en-US" altLang="zh-TW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Shunsuke</a:t>
            </a:r>
            <a:r>
              <a:rPr kumimoji="1"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1" lang="en-US" altLang="zh-TW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Inenaga</a:t>
            </a:r>
            <a:r>
              <a:rPr kumimoji="1"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Hideo </a:t>
            </a:r>
            <a:r>
              <a:rPr kumimoji="1" lang="en-US" altLang="zh-TW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Bannai</a:t>
            </a:r>
            <a:endParaRPr kumimoji="1" lang="en-US" altLang="zh-TW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kumimoji="1" lang="en-US" altLang="zh-TW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kumimoji="1"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27th International Symposium, Orlando, FL, USA, 2020</a:t>
            </a:r>
            <a:endParaRPr kumimoji="1" lang="en" altLang="zh-TW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kumimoji="1"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String Processing and Information Retrieval</a:t>
            </a:r>
            <a:endParaRPr kumimoji="1" lang="en" altLang="zh-TW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kumimoji="1" lang="en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Volume 12303, pp. 147-154</a:t>
            </a:r>
            <a:endParaRPr kumimoji="1"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文字方塊 3">
            <a:extLst>
              <a:ext uri="{FF2B5EF4-FFF2-40B4-BE49-F238E27FC236}">
                <a16:creationId xmlns:a16="http://schemas.microsoft.com/office/drawing/2014/main" id="{BF1141FC-B145-834E-9139-2A899AB73EAA}"/>
              </a:ext>
            </a:extLst>
          </p:cNvPr>
          <p:cNvSpPr txBox="1"/>
          <p:nvPr/>
        </p:nvSpPr>
        <p:spPr>
          <a:xfrm>
            <a:off x="9165265" y="5826642"/>
            <a:ext cx="249196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kumimoji="1" lang="en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Presenter:  Tsung-Lin Lu</a:t>
            </a:r>
          </a:p>
          <a:p>
            <a:pPr algn="r"/>
            <a:r>
              <a:rPr kumimoji="1" lang="en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Date: Sept. 14, 2021</a:t>
            </a:r>
            <a:endParaRPr kumimoji="1"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8523347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41F9066D-A37A-874A-A6E1-9915FF09DB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TW" dirty="0"/>
              <a:t>Abstract</a:t>
            </a:r>
            <a:endParaRPr kumimoji="1"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98C395C6-3EBC-4D47-9C22-52A1E36DD1C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667250"/>
          </a:xfrm>
        </p:spPr>
        <p:txBody>
          <a:bodyPr/>
          <a:lstStyle/>
          <a:p>
            <a:pPr marL="0" indent="0" algn="just">
              <a:buNone/>
            </a:pPr>
            <a:r>
              <a:rPr kumimoji="1"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kumimoji="1" lang="en-US" altLang="zh-TW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longest square subsequence (LSS) </a:t>
            </a:r>
            <a:r>
              <a:rPr kumimoji="1"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problem consists of computing a longest subsequence of a given string </a:t>
            </a:r>
            <a:r>
              <a:rPr kumimoji="1" lang="en-US" altLang="zh-TW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kumimoji="1"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that is a square, i.e., a longest subsequence of form </a:t>
            </a:r>
            <a:r>
              <a:rPr kumimoji="1" lang="en-US" altLang="zh-TW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XX</a:t>
            </a:r>
            <a:r>
              <a:rPr kumimoji="1"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appearing in </a:t>
            </a:r>
            <a:r>
              <a:rPr kumimoji="1" lang="en-US" altLang="zh-TW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kumimoji="1"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It is known that an LSS of a string </a:t>
            </a:r>
            <a:r>
              <a:rPr kumimoji="1" lang="en-US" altLang="zh-TW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kumimoji="1"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of length </a:t>
            </a:r>
            <a:r>
              <a:rPr kumimoji="1" lang="en-US" altLang="zh-TW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kumimoji="1"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can be computed using </a:t>
            </a:r>
            <a:r>
              <a:rPr kumimoji="1" lang="en-US" altLang="zh-TW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</a:t>
            </a:r>
            <a:r>
              <a:rPr kumimoji="1"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kumimoji="1" lang="en-US" altLang="zh-TW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kumimoji="1" lang="en-US" altLang="zh-TW" i="1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kumimoji="1"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time [</a:t>
            </a:r>
            <a:r>
              <a:rPr kumimoji="1" lang="en-US" altLang="zh-TW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Kosowski</a:t>
            </a:r>
            <a:r>
              <a:rPr kumimoji="1"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 2004], or with (model-dependent) polylogarithmic speed-ups using </a:t>
            </a:r>
            <a:r>
              <a:rPr kumimoji="1" lang="en-US" altLang="zh-TW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</a:t>
            </a:r>
            <a:r>
              <a:rPr kumimoji="1"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kumimoji="1" lang="en-US" altLang="zh-TW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kumimoji="1" lang="en-US" altLang="zh-TW" i="1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kumimoji="1"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kumimoji="1" lang="en-US" altLang="zh-TW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log log n</a:t>
            </a:r>
            <a:r>
              <a:rPr kumimoji="1"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kumimoji="1" lang="en-US" altLang="zh-TW" i="1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kumimoji="1"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/</a:t>
            </a:r>
            <a:r>
              <a:rPr kumimoji="1" lang="en-US" altLang="zh-TW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log</a:t>
            </a:r>
            <a:r>
              <a:rPr kumimoji="1" lang="en-US" altLang="zh-TW" i="1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kumimoji="1" lang="en-US" altLang="zh-TW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n</a:t>
            </a:r>
            <a:r>
              <a:rPr kumimoji="1"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time [</a:t>
            </a:r>
            <a:r>
              <a:rPr kumimoji="1" lang="en-US" altLang="zh-TW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Tiskin</a:t>
            </a:r>
            <a:r>
              <a:rPr kumimoji="1"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 2013]. We present the first algorithm for LSS whose running time depends on other parameters, i.e., we show that an LSS of </a:t>
            </a:r>
            <a:r>
              <a:rPr kumimoji="1" lang="en-US" altLang="zh-TW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kumimoji="1"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can be computed in </a:t>
            </a:r>
            <a:r>
              <a:rPr kumimoji="1" lang="en-US" altLang="zh-TW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</a:t>
            </a:r>
            <a:r>
              <a:rPr kumimoji="1" lang="en-US" altLang="zh-TW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kumimoji="1" lang="en-US" altLang="zh-TW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 min{n, M} log n/r + n + M log n</a:t>
            </a:r>
            <a:r>
              <a:rPr kumimoji="1" lang="en-US" altLang="zh-TW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time with </a:t>
            </a:r>
            <a:r>
              <a:rPr kumimoji="1" lang="en-US" altLang="zh-TW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</a:t>
            </a:r>
            <a:r>
              <a:rPr kumimoji="1" lang="en-US" altLang="zh-TW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kumimoji="1" lang="en-US" altLang="zh-TW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</a:t>
            </a:r>
            <a:r>
              <a:rPr kumimoji="1" lang="en-US" altLang="zh-TW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space</a:t>
            </a:r>
            <a:r>
              <a:rPr kumimoji="1"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where </a:t>
            </a:r>
            <a:r>
              <a:rPr kumimoji="1" lang="en-US" altLang="zh-TW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</a:t>
            </a:r>
            <a:r>
              <a:rPr kumimoji="1"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is the length of an LSS of </a:t>
            </a:r>
            <a:r>
              <a:rPr kumimoji="1" lang="en-US" altLang="zh-TW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kumimoji="1"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</a:t>
            </a:r>
            <a:r>
              <a:rPr kumimoji="1" lang="en-US" altLang="zh-TW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</a:t>
            </a:r>
            <a:r>
              <a:rPr kumimoji="1"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is the number of matching points on </a:t>
            </a:r>
            <a:r>
              <a:rPr kumimoji="1" lang="en-US" altLang="zh-TW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kumimoji="1"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kumimoji="1"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2855F635-A04F-7549-AA66-83765189E2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AB94F7-1CE9-3B41-8002-0A2CB67662D8}" type="slidenum">
              <a:rPr kumimoji="1" lang="zh-TW" altLang="en-US" smtClean="0"/>
              <a:t>1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73669004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0CA1336C-440D-2E43-904F-AABB45E64E1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60721" y="1095150"/>
            <a:ext cx="9144000" cy="1915079"/>
          </a:xfrm>
        </p:spPr>
        <p:txBody>
          <a:bodyPr>
            <a:normAutofit/>
          </a:bodyPr>
          <a:lstStyle/>
          <a:p>
            <a:r>
              <a:rPr kumimoji="1" lang="en-US" altLang="zh-TW" dirty="0"/>
              <a:t>Small Longest Tandem Scattered Subsequences</a:t>
            </a:r>
            <a:endParaRPr kumimoji="1"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FD611AA7-209A-4449-AB65-A25622930A6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97442" y="3602038"/>
            <a:ext cx="9870558" cy="2224604"/>
          </a:xfrm>
        </p:spPr>
        <p:txBody>
          <a:bodyPr>
            <a:normAutofit/>
          </a:bodyPr>
          <a:lstStyle/>
          <a:p>
            <a:r>
              <a:rPr kumimoji="1"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Luís M. S. Russo, Alexandre P. Francisco</a:t>
            </a:r>
          </a:p>
          <a:p>
            <a:endParaRPr kumimoji="1" lang="en-US" altLang="zh-TW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kumimoji="1"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Scientific Annals of Computer Science </a:t>
            </a:r>
          </a:p>
          <a:p>
            <a:r>
              <a:rPr kumimoji="1" lang="en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Volume 31 (1), pp. 79-110, 2021</a:t>
            </a:r>
            <a:endParaRPr kumimoji="1"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文字方塊 3">
            <a:extLst>
              <a:ext uri="{FF2B5EF4-FFF2-40B4-BE49-F238E27FC236}">
                <a16:creationId xmlns:a16="http://schemas.microsoft.com/office/drawing/2014/main" id="{BF1141FC-B145-834E-9139-2A899AB73EAA}"/>
              </a:ext>
            </a:extLst>
          </p:cNvPr>
          <p:cNvSpPr txBox="1"/>
          <p:nvPr/>
        </p:nvSpPr>
        <p:spPr>
          <a:xfrm>
            <a:off x="9165265" y="5826642"/>
            <a:ext cx="249196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kumimoji="1" lang="en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Presenter:  Tsung-Lin Lu</a:t>
            </a:r>
          </a:p>
          <a:p>
            <a:pPr algn="r"/>
            <a:r>
              <a:rPr kumimoji="1" lang="en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Date: Sept. 14, 2021</a:t>
            </a:r>
            <a:endParaRPr kumimoji="1"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4722416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41F9066D-A37A-874A-A6E1-9915FF09DB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TW" dirty="0"/>
              <a:t>Abstract</a:t>
            </a:r>
            <a:endParaRPr kumimoji="1"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98C395C6-3EBC-4D47-9C22-52A1E36DD1C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just">
              <a:buNone/>
            </a:pPr>
            <a:r>
              <a:rPr kumimoji="1"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 consider the problem of identifying </a:t>
            </a:r>
            <a:r>
              <a:rPr kumimoji="1" lang="en-US" altLang="zh-TW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tandem scattered subsequences (TSS) </a:t>
            </a:r>
            <a:r>
              <a:rPr kumimoji="1"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within a string. Our algorithm identifies a longest subsequence which occurs twice without overlap in a string. This algorithm is based on the </a:t>
            </a:r>
            <a:r>
              <a:rPr kumimoji="1" lang="en-US" altLang="zh-TW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Hunt-Szymanski algorithm</a:t>
            </a:r>
            <a:r>
              <a:rPr kumimoji="1"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therefore its performance improves if the string is not self similar. This occurs naturally on strings over large alphabets. Our algorithm relies on new results for data structures that support </a:t>
            </a:r>
            <a:r>
              <a:rPr kumimoji="1" lang="en-US" altLang="zh-TW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dynamic longest increasing sub-sequences</a:t>
            </a:r>
            <a:r>
              <a:rPr kumimoji="1"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In the process we also obtain improved algorithms for the decremental string comparison problem.</a:t>
            </a:r>
            <a:endParaRPr kumimoji="1"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2855F635-A04F-7549-AA66-83765189E2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AB94F7-1CE9-3B41-8002-0A2CB67662D8}" type="slidenum">
              <a:rPr kumimoji="1" lang="zh-TW" altLang="en-US" smtClean="0"/>
              <a:t>3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358379561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41F9066D-A37A-874A-A6E1-9915FF09DB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TW" dirty="0"/>
              <a:t>Outline</a:t>
            </a:r>
            <a:endParaRPr kumimoji="1"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98C395C6-3EBC-4D47-9C22-52A1E36DD1C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Longest square subsequence (LSS)</a:t>
            </a:r>
          </a:p>
          <a:p>
            <a:r>
              <a:rPr kumimoji="1"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Longest increasing subsequence (LIS)</a:t>
            </a:r>
          </a:p>
          <a:p>
            <a:endParaRPr kumimoji="1" lang="en-US" altLang="zh-TW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kumimoji="1"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LSS → LIS</a:t>
            </a:r>
          </a:p>
          <a:p>
            <a:r>
              <a:rPr kumimoji="1"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Analysis</a:t>
            </a:r>
          </a:p>
          <a:p>
            <a:endParaRPr kumimoji="1" lang="en-US" altLang="zh-TW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kumimoji="1" lang="en-US" altLang="zh-TW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kumimoji="1"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2855F635-A04F-7549-AA66-83765189E2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AB94F7-1CE9-3B41-8002-0A2CB67662D8}" type="slidenum">
              <a:rPr kumimoji="1" lang="zh-TW" altLang="en-US" smtClean="0"/>
              <a:t>4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429165480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41F9066D-A37A-874A-A6E1-9915FF09DB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942674" cy="1325563"/>
          </a:xfrm>
        </p:spPr>
        <p:txBody>
          <a:bodyPr/>
          <a:lstStyle/>
          <a:p>
            <a:r>
              <a:rPr kumimoji="1" lang="en-US" altLang="zh-TW" dirty="0"/>
              <a:t>Longest square subsequence (LSS) 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98C395C6-3EBC-4D47-9C22-52A1E36DD1C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4530725"/>
          </a:xfrm>
        </p:spPr>
        <p:txBody>
          <a:bodyPr/>
          <a:lstStyle/>
          <a:p>
            <a:r>
              <a:rPr kumimoji="1"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non-empty string Y of form XX is called a square.</a:t>
            </a:r>
          </a:p>
          <a:p>
            <a:endParaRPr kumimoji="1" lang="en-US" altLang="zh-TW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kumimoji="1"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1-LSS</a:t>
            </a:r>
          </a:p>
          <a:p>
            <a:endParaRPr kumimoji="1" lang="en-US" altLang="zh-TW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kumimoji="1"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1-LIS (longest increasing subsequence)</a:t>
            </a:r>
          </a:p>
          <a:p>
            <a:endParaRPr kumimoji="1" lang="en-US" altLang="zh-TW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2855F635-A04F-7549-AA66-83765189E2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AB94F7-1CE9-3B41-8002-0A2CB67662D8}" type="slidenum">
              <a:rPr kumimoji="1" lang="zh-TW" altLang="en-US" smtClean="0"/>
              <a:t>5</a:t>
            </a:fld>
            <a:endParaRPr kumimoji="1" lang="zh-TW" altLang="en-US"/>
          </a:p>
        </p:txBody>
      </p:sp>
      <p:graphicFrame>
        <p:nvGraphicFramePr>
          <p:cNvPr id="4" name="表格 4">
            <a:extLst>
              <a:ext uri="{FF2B5EF4-FFF2-40B4-BE49-F238E27FC236}">
                <a16:creationId xmlns:a16="http://schemas.microsoft.com/office/drawing/2014/main" id="{00EAFAEC-0A23-4149-8558-92E9A347108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28484853"/>
              </p:ext>
            </p:extLst>
          </p:nvPr>
        </p:nvGraphicFramePr>
        <p:xfrm>
          <a:off x="1225897" y="2357080"/>
          <a:ext cx="4687780" cy="37084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68778">
                  <a:extLst>
                    <a:ext uri="{9D8B030D-6E8A-4147-A177-3AD203B41FA5}">
                      <a16:colId xmlns:a16="http://schemas.microsoft.com/office/drawing/2014/main" val="2838638285"/>
                    </a:ext>
                  </a:extLst>
                </a:gridCol>
                <a:gridCol w="468778">
                  <a:extLst>
                    <a:ext uri="{9D8B030D-6E8A-4147-A177-3AD203B41FA5}">
                      <a16:colId xmlns:a16="http://schemas.microsoft.com/office/drawing/2014/main" val="1168390389"/>
                    </a:ext>
                  </a:extLst>
                </a:gridCol>
                <a:gridCol w="468778">
                  <a:extLst>
                    <a:ext uri="{9D8B030D-6E8A-4147-A177-3AD203B41FA5}">
                      <a16:colId xmlns:a16="http://schemas.microsoft.com/office/drawing/2014/main" val="1655455649"/>
                    </a:ext>
                  </a:extLst>
                </a:gridCol>
                <a:gridCol w="468778">
                  <a:extLst>
                    <a:ext uri="{9D8B030D-6E8A-4147-A177-3AD203B41FA5}">
                      <a16:colId xmlns:a16="http://schemas.microsoft.com/office/drawing/2014/main" val="3283071156"/>
                    </a:ext>
                  </a:extLst>
                </a:gridCol>
                <a:gridCol w="468778">
                  <a:extLst>
                    <a:ext uri="{9D8B030D-6E8A-4147-A177-3AD203B41FA5}">
                      <a16:colId xmlns:a16="http://schemas.microsoft.com/office/drawing/2014/main" val="56853656"/>
                    </a:ext>
                  </a:extLst>
                </a:gridCol>
                <a:gridCol w="468778">
                  <a:extLst>
                    <a:ext uri="{9D8B030D-6E8A-4147-A177-3AD203B41FA5}">
                      <a16:colId xmlns:a16="http://schemas.microsoft.com/office/drawing/2014/main" val="1411026334"/>
                    </a:ext>
                  </a:extLst>
                </a:gridCol>
                <a:gridCol w="468778">
                  <a:extLst>
                    <a:ext uri="{9D8B030D-6E8A-4147-A177-3AD203B41FA5}">
                      <a16:colId xmlns:a16="http://schemas.microsoft.com/office/drawing/2014/main" val="2622443117"/>
                    </a:ext>
                  </a:extLst>
                </a:gridCol>
                <a:gridCol w="468778">
                  <a:extLst>
                    <a:ext uri="{9D8B030D-6E8A-4147-A177-3AD203B41FA5}">
                      <a16:colId xmlns:a16="http://schemas.microsoft.com/office/drawing/2014/main" val="3015428416"/>
                    </a:ext>
                  </a:extLst>
                </a:gridCol>
                <a:gridCol w="468778">
                  <a:extLst>
                    <a:ext uri="{9D8B030D-6E8A-4147-A177-3AD203B41FA5}">
                      <a16:colId xmlns:a16="http://schemas.microsoft.com/office/drawing/2014/main" val="3168644849"/>
                    </a:ext>
                  </a:extLst>
                </a:gridCol>
                <a:gridCol w="468778">
                  <a:extLst>
                    <a:ext uri="{9D8B030D-6E8A-4147-A177-3AD203B41FA5}">
                      <a16:colId xmlns:a16="http://schemas.microsoft.com/office/drawing/2014/main" val="336017167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381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381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T w="381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T w="381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T w="381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R w="381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381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381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T w="381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T w="381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T w="381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R w="381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97083552"/>
                  </a:ext>
                </a:extLst>
              </a:tr>
            </a:tbl>
          </a:graphicData>
        </a:graphic>
      </p:graphicFrame>
      <p:graphicFrame>
        <p:nvGraphicFramePr>
          <p:cNvPr id="7" name="表格 4">
            <a:extLst>
              <a:ext uri="{FF2B5EF4-FFF2-40B4-BE49-F238E27FC236}">
                <a16:creationId xmlns:a16="http://schemas.microsoft.com/office/drawing/2014/main" id="{F48950B1-099F-C74B-B3E0-5EC8C9584B7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10091520"/>
              </p:ext>
            </p:extLst>
          </p:nvPr>
        </p:nvGraphicFramePr>
        <p:xfrm>
          <a:off x="6697234" y="3421926"/>
          <a:ext cx="2812668" cy="37084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68778">
                  <a:extLst>
                    <a:ext uri="{9D8B030D-6E8A-4147-A177-3AD203B41FA5}">
                      <a16:colId xmlns:a16="http://schemas.microsoft.com/office/drawing/2014/main" val="2838638285"/>
                    </a:ext>
                  </a:extLst>
                </a:gridCol>
                <a:gridCol w="468778">
                  <a:extLst>
                    <a:ext uri="{9D8B030D-6E8A-4147-A177-3AD203B41FA5}">
                      <a16:colId xmlns:a16="http://schemas.microsoft.com/office/drawing/2014/main" val="1168390389"/>
                    </a:ext>
                  </a:extLst>
                </a:gridCol>
                <a:gridCol w="468778">
                  <a:extLst>
                    <a:ext uri="{9D8B030D-6E8A-4147-A177-3AD203B41FA5}">
                      <a16:colId xmlns:a16="http://schemas.microsoft.com/office/drawing/2014/main" val="1655455649"/>
                    </a:ext>
                  </a:extLst>
                </a:gridCol>
                <a:gridCol w="468778">
                  <a:extLst>
                    <a:ext uri="{9D8B030D-6E8A-4147-A177-3AD203B41FA5}">
                      <a16:colId xmlns:a16="http://schemas.microsoft.com/office/drawing/2014/main" val="3283071156"/>
                    </a:ext>
                  </a:extLst>
                </a:gridCol>
                <a:gridCol w="468778">
                  <a:extLst>
                    <a:ext uri="{9D8B030D-6E8A-4147-A177-3AD203B41FA5}">
                      <a16:colId xmlns:a16="http://schemas.microsoft.com/office/drawing/2014/main" val="56853656"/>
                    </a:ext>
                  </a:extLst>
                </a:gridCol>
                <a:gridCol w="468778">
                  <a:extLst>
                    <a:ext uri="{9D8B030D-6E8A-4147-A177-3AD203B41FA5}">
                      <a16:colId xmlns:a16="http://schemas.microsoft.com/office/drawing/2014/main" val="141102633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381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81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381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>
                      <a:noFill/>
                    </a:lnL>
                    <a:lnR w="381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381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81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>
                      <a:noFill/>
                    </a:lnL>
                    <a:lnR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697083552"/>
                  </a:ext>
                </a:extLst>
              </a:tr>
            </a:tbl>
          </a:graphicData>
        </a:graphic>
      </p:graphicFrame>
      <p:graphicFrame>
        <p:nvGraphicFramePr>
          <p:cNvPr id="9" name="表格 4">
            <a:extLst>
              <a:ext uri="{FF2B5EF4-FFF2-40B4-BE49-F238E27FC236}">
                <a16:creationId xmlns:a16="http://schemas.microsoft.com/office/drawing/2014/main" id="{AF4BA495-9310-A44E-BFB0-5F7286D4E66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46146504"/>
              </p:ext>
            </p:extLst>
          </p:nvPr>
        </p:nvGraphicFramePr>
        <p:xfrm>
          <a:off x="1225897" y="3421926"/>
          <a:ext cx="5083640" cy="37084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69121">
                  <a:extLst>
                    <a:ext uri="{9D8B030D-6E8A-4147-A177-3AD203B41FA5}">
                      <a16:colId xmlns:a16="http://schemas.microsoft.com/office/drawing/2014/main" val="2838638285"/>
                    </a:ext>
                  </a:extLst>
                </a:gridCol>
                <a:gridCol w="469121">
                  <a:extLst>
                    <a:ext uri="{9D8B030D-6E8A-4147-A177-3AD203B41FA5}">
                      <a16:colId xmlns:a16="http://schemas.microsoft.com/office/drawing/2014/main" val="1168390389"/>
                    </a:ext>
                  </a:extLst>
                </a:gridCol>
                <a:gridCol w="469121">
                  <a:extLst>
                    <a:ext uri="{9D8B030D-6E8A-4147-A177-3AD203B41FA5}">
                      <a16:colId xmlns:a16="http://schemas.microsoft.com/office/drawing/2014/main" val="1655455649"/>
                    </a:ext>
                  </a:extLst>
                </a:gridCol>
                <a:gridCol w="469121">
                  <a:extLst>
                    <a:ext uri="{9D8B030D-6E8A-4147-A177-3AD203B41FA5}">
                      <a16:colId xmlns:a16="http://schemas.microsoft.com/office/drawing/2014/main" val="3283071156"/>
                    </a:ext>
                  </a:extLst>
                </a:gridCol>
                <a:gridCol w="469121">
                  <a:extLst>
                    <a:ext uri="{9D8B030D-6E8A-4147-A177-3AD203B41FA5}">
                      <a16:colId xmlns:a16="http://schemas.microsoft.com/office/drawing/2014/main" val="56853656"/>
                    </a:ext>
                  </a:extLst>
                </a:gridCol>
                <a:gridCol w="469121">
                  <a:extLst>
                    <a:ext uri="{9D8B030D-6E8A-4147-A177-3AD203B41FA5}">
                      <a16:colId xmlns:a16="http://schemas.microsoft.com/office/drawing/2014/main" val="1411026334"/>
                    </a:ext>
                  </a:extLst>
                </a:gridCol>
                <a:gridCol w="469121">
                  <a:extLst>
                    <a:ext uri="{9D8B030D-6E8A-4147-A177-3AD203B41FA5}">
                      <a16:colId xmlns:a16="http://schemas.microsoft.com/office/drawing/2014/main" val="2622443117"/>
                    </a:ext>
                  </a:extLst>
                </a:gridCol>
                <a:gridCol w="469121">
                  <a:extLst>
                    <a:ext uri="{9D8B030D-6E8A-4147-A177-3AD203B41FA5}">
                      <a16:colId xmlns:a16="http://schemas.microsoft.com/office/drawing/2014/main" val="3015428416"/>
                    </a:ext>
                  </a:extLst>
                </a:gridCol>
                <a:gridCol w="469121">
                  <a:extLst>
                    <a:ext uri="{9D8B030D-6E8A-4147-A177-3AD203B41FA5}">
                      <a16:colId xmlns:a16="http://schemas.microsoft.com/office/drawing/2014/main" val="3168644849"/>
                    </a:ext>
                  </a:extLst>
                </a:gridCol>
                <a:gridCol w="392430">
                  <a:extLst>
                    <a:ext uri="{9D8B030D-6E8A-4147-A177-3AD203B41FA5}">
                      <a16:colId xmlns:a16="http://schemas.microsoft.com/office/drawing/2014/main" val="3360171679"/>
                    </a:ext>
                  </a:extLst>
                </a:gridCol>
                <a:gridCol w="469121">
                  <a:extLst>
                    <a:ext uri="{9D8B030D-6E8A-4147-A177-3AD203B41FA5}">
                      <a16:colId xmlns:a16="http://schemas.microsoft.com/office/drawing/2014/main" val="138582022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dirty="0">
                        <a:solidFill>
                          <a:schemeClr val="accent2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dirty="0">
                        <a:solidFill>
                          <a:schemeClr val="accent2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</a:t>
                      </a:r>
                      <a:endParaRPr lang="zh-TW" altLang="en-US" dirty="0">
                        <a:solidFill>
                          <a:schemeClr val="accent2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>
                      <a:noFill/>
                    </a:lnL>
                    <a:lnR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dirty="0">
                        <a:solidFill>
                          <a:schemeClr val="accent2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dirty="0">
                        <a:solidFill>
                          <a:schemeClr val="accent2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</a:t>
                      </a:r>
                      <a:endParaRPr lang="zh-TW" altLang="en-US" dirty="0">
                        <a:solidFill>
                          <a:schemeClr val="accent2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>
                      <a:noFill/>
                    </a:lnL>
                    <a:lnR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>
                      <a:noFill/>
                    </a:lnL>
                    <a:lnR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697083552"/>
                  </a:ext>
                </a:extLst>
              </a:tr>
            </a:tbl>
          </a:graphicData>
        </a:graphic>
      </p:graphicFrame>
      <p:graphicFrame>
        <p:nvGraphicFramePr>
          <p:cNvPr id="16" name="表格 4">
            <a:extLst>
              <a:ext uri="{FF2B5EF4-FFF2-40B4-BE49-F238E27FC236}">
                <a16:creationId xmlns:a16="http://schemas.microsoft.com/office/drawing/2014/main" id="{388207B9-F431-314A-9412-65B3FA894BE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34902200"/>
              </p:ext>
            </p:extLst>
          </p:nvPr>
        </p:nvGraphicFramePr>
        <p:xfrm>
          <a:off x="1225897" y="4453473"/>
          <a:ext cx="5083639" cy="37084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62149">
                  <a:extLst>
                    <a:ext uri="{9D8B030D-6E8A-4147-A177-3AD203B41FA5}">
                      <a16:colId xmlns:a16="http://schemas.microsoft.com/office/drawing/2014/main" val="2838638285"/>
                    </a:ext>
                  </a:extLst>
                </a:gridCol>
                <a:gridCol w="462149">
                  <a:extLst>
                    <a:ext uri="{9D8B030D-6E8A-4147-A177-3AD203B41FA5}">
                      <a16:colId xmlns:a16="http://schemas.microsoft.com/office/drawing/2014/main" val="1168390389"/>
                    </a:ext>
                  </a:extLst>
                </a:gridCol>
                <a:gridCol w="462149">
                  <a:extLst>
                    <a:ext uri="{9D8B030D-6E8A-4147-A177-3AD203B41FA5}">
                      <a16:colId xmlns:a16="http://schemas.microsoft.com/office/drawing/2014/main" val="1655455649"/>
                    </a:ext>
                  </a:extLst>
                </a:gridCol>
                <a:gridCol w="462149">
                  <a:extLst>
                    <a:ext uri="{9D8B030D-6E8A-4147-A177-3AD203B41FA5}">
                      <a16:colId xmlns:a16="http://schemas.microsoft.com/office/drawing/2014/main" val="3283071156"/>
                    </a:ext>
                  </a:extLst>
                </a:gridCol>
                <a:gridCol w="462149">
                  <a:extLst>
                    <a:ext uri="{9D8B030D-6E8A-4147-A177-3AD203B41FA5}">
                      <a16:colId xmlns:a16="http://schemas.microsoft.com/office/drawing/2014/main" val="56853656"/>
                    </a:ext>
                  </a:extLst>
                </a:gridCol>
                <a:gridCol w="462149">
                  <a:extLst>
                    <a:ext uri="{9D8B030D-6E8A-4147-A177-3AD203B41FA5}">
                      <a16:colId xmlns:a16="http://schemas.microsoft.com/office/drawing/2014/main" val="1411026334"/>
                    </a:ext>
                  </a:extLst>
                </a:gridCol>
                <a:gridCol w="462149">
                  <a:extLst>
                    <a:ext uri="{9D8B030D-6E8A-4147-A177-3AD203B41FA5}">
                      <a16:colId xmlns:a16="http://schemas.microsoft.com/office/drawing/2014/main" val="2622443117"/>
                    </a:ext>
                  </a:extLst>
                </a:gridCol>
                <a:gridCol w="462149">
                  <a:extLst>
                    <a:ext uri="{9D8B030D-6E8A-4147-A177-3AD203B41FA5}">
                      <a16:colId xmlns:a16="http://schemas.microsoft.com/office/drawing/2014/main" val="3015428416"/>
                    </a:ext>
                  </a:extLst>
                </a:gridCol>
                <a:gridCol w="462149">
                  <a:extLst>
                    <a:ext uri="{9D8B030D-6E8A-4147-A177-3AD203B41FA5}">
                      <a16:colId xmlns:a16="http://schemas.microsoft.com/office/drawing/2014/main" val="3168644849"/>
                    </a:ext>
                  </a:extLst>
                </a:gridCol>
                <a:gridCol w="462149">
                  <a:extLst>
                    <a:ext uri="{9D8B030D-6E8A-4147-A177-3AD203B41FA5}">
                      <a16:colId xmlns:a16="http://schemas.microsoft.com/office/drawing/2014/main" val="3360171679"/>
                    </a:ext>
                  </a:extLst>
                </a:gridCol>
                <a:gridCol w="462149">
                  <a:extLst>
                    <a:ext uri="{9D8B030D-6E8A-4147-A177-3AD203B41FA5}">
                      <a16:colId xmlns:a16="http://schemas.microsoft.com/office/drawing/2014/main" val="138582022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</a:t>
                      </a:r>
                      <a:endParaRPr lang="zh-TW" altLang="en-US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dirty="0">
                        <a:solidFill>
                          <a:schemeClr val="accent2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</a:t>
                      </a:r>
                      <a:endParaRPr lang="zh-TW" altLang="en-US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dirty="0">
                        <a:solidFill>
                          <a:schemeClr val="accent2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>
                      <a:noFill/>
                    </a:lnL>
                    <a:lnR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</a:t>
                      </a:r>
                      <a:endParaRPr lang="zh-TW" altLang="en-US" dirty="0">
                        <a:solidFill>
                          <a:schemeClr val="accent2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</a:t>
                      </a:r>
                      <a:endParaRPr lang="zh-TW" altLang="en-US" dirty="0">
                        <a:solidFill>
                          <a:schemeClr val="accent2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10</a:t>
                      </a:r>
                      <a:endParaRPr lang="zh-TW" altLang="en-US" dirty="0">
                        <a:solidFill>
                          <a:schemeClr val="accent2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</a:t>
                      </a:r>
                      <a:endParaRPr lang="zh-TW" altLang="en-US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11</a:t>
                      </a:r>
                      <a:endParaRPr lang="zh-TW" altLang="en-US" dirty="0">
                        <a:solidFill>
                          <a:schemeClr val="accent2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>
                      <a:noFill/>
                    </a:lnL>
                    <a:lnR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</a:t>
                      </a:r>
                      <a:endParaRPr lang="zh-TW" altLang="en-US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>
                      <a:noFill/>
                    </a:lnL>
                    <a:lnR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697083552"/>
                  </a:ext>
                </a:extLst>
              </a:tr>
            </a:tbl>
          </a:graphicData>
        </a:graphic>
      </p:graphicFrame>
      <p:graphicFrame>
        <p:nvGraphicFramePr>
          <p:cNvPr id="22" name="表格 4">
            <a:extLst>
              <a:ext uri="{FF2B5EF4-FFF2-40B4-BE49-F238E27FC236}">
                <a16:creationId xmlns:a16="http://schemas.microsoft.com/office/drawing/2014/main" id="{30893ACF-CC20-054A-91A0-F71E5AD88E1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1407170"/>
              </p:ext>
            </p:extLst>
          </p:nvPr>
        </p:nvGraphicFramePr>
        <p:xfrm>
          <a:off x="6697234" y="4453473"/>
          <a:ext cx="2812668" cy="37084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68778">
                  <a:extLst>
                    <a:ext uri="{9D8B030D-6E8A-4147-A177-3AD203B41FA5}">
                      <a16:colId xmlns:a16="http://schemas.microsoft.com/office/drawing/2014/main" val="2838638285"/>
                    </a:ext>
                  </a:extLst>
                </a:gridCol>
                <a:gridCol w="468778">
                  <a:extLst>
                    <a:ext uri="{9D8B030D-6E8A-4147-A177-3AD203B41FA5}">
                      <a16:colId xmlns:a16="http://schemas.microsoft.com/office/drawing/2014/main" val="1168390389"/>
                    </a:ext>
                  </a:extLst>
                </a:gridCol>
                <a:gridCol w="468778">
                  <a:extLst>
                    <a:ext uri="{9D8B030D-6E8A-4147-A177-3AD203B41FA5}">
                      <a16:colId xmlns:a16="http://schemas.microsoft.com/office/drawing/2014/main" val="8876364"/>
                    </a:ext>
                  </a:extLst>
                </a:gridCol>
                <a:gridCol w="468778">
                  <a:extLst>
                    <a:ext uri="{9D8B030D-6E8A-4147-A177-3AD203B41FA5}">
                      <a16:colId xmlns:a16="http://schemas.microsoft.com/office/drawing/2014/main" val="1655455649"/>
                    </a:ext>
                  </a:extLst>
                </a:gridCol>
                <a:gridCol w="468778">
                  <a:extLst>
                    <a:ext uri="{9D8B030D-6E8A-4147-A177-3AD203B41FA5}">
                      <a16:colId xmlns:a16="http://schemas.microsoft.com/office/drawing/2014/main" val="56853656"/>
                    </a:ext>
                  </a:extLst>
                </a:gridCol>
                <a:gridCol w="468778">
                  <a:extLst>
                    <a:ext uri="{9D8B030D-6E8A-4147-A177-3AD203B41FA5}">
                      <a16:colId xmlns:a16="http://schemas.microsoft.com/office/drawing/2014/main" val="141102633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381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81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381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>
                      <a:noFill/>
                    </a:lnL>
                    <a:lnR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>
                      <a:noFill/>
                    </a:lnL>
                    <a:lnR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10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>
                      <a:noFill/>
                    </a:lnL>
                    <a:lnR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11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69708355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02575713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41F9066D-A37A-874A-A6E1-9915FF09DB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TW" dirty="0"/>
              <a:t>Dynamic programing</a:t>
            </a:r>
            <a:endParaRPr kumimoji="1" lang="zh-TW" altLang="en-US" dirty="0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2855F635-A04F-7549-AA66-83765189E2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AB94F7-1CE9-3B41-8002-0A2CB67662D8}" type="slidenum">
              <a:rPr kumimoji="1" lang="zh-TW" altLang="en-US" smtClean="0"/>
              <a:t>6</a:t>
            </a:fld>
            <a:endParaRPr kumimoji="1" lang="zh-TW" altLang="en-US"/>
          </a:p>
        </p:txBody>
      </p:sp>
      <p:pic>
        <p:nvPicPr>
          <p:cNvPr id="4" name="圖片 3">
            <a:extLst>
              <a:ext uri="{FF2B5EF4-FFF2-40B4-BE49-F238E27FC236}">
                <a16:creationId xmlns:a16="http://schemas.microsoft.com/office/drawing/2014/main" id="{5DF8EC39-7190-6E40-9734-CF2F483737E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4545" y="1921049"/>
            <a:ext cx="3861391" cy="2250163"/>
          </a:xfrm>
          <a:prstGeom prst="rect">
            <a:avLst/>
          </a:prstGeom>
        </p:spPr>
      </p:pic>
      <p:pic>
        <p:nvPicPr>
          <p:cNvPr id="5" name="圖片 4">
            <a:extLst>
              <a:ext uri="{FF2B5EF4-FFF2-40B4-BE49-F238E27FC236}">
                <a16:creationId xmlns:a16="http://schemas.microsoft.com/office/drawing/2014/main" id="{399E0C2D-29D9-D24C-8306-E0E8A59B448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32828" y="2197495"/>
            <a:ext cx="3861391" cy="2349113"/>
          </a:xfrm>
          <a:prstGeom prst="rect">
            <a:avLst/>
          </a:prstGeom>
        </p:spPr>
      </p:pic>
      <p:pic>
        <p:nvPicPr>
          <p:cNvPr id="7" name="圖片 6">
            <a:extLst>
              <a:ext uri="{FF2B5EF4-FFF2-40B4-BE49-F238E27FC236}">
                <a16:creationId xmlns:a16="http://schemas.microsoft.com/office/drawing/2014/main" id="{060612D2-6AAE-7D42-84FE-7D60856C14C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51111" y="2176229"/>
            <a:ext cx="3584270" cy="2793093"/>
          </a:xfrm>
          <a:prstGeom prst="rect">
            <a:avLst/>
          </a:prstGeom>
        </p:spPr>
      </p:pic>
      <p:pic>
        <p:nvPicPr>
          <p:cNvPr id="10" name="圖片 9">
            <a:extLst>
              <a:ext uri="{FF2B5EF4-FFF2-40B4-BE49-F238E27FC236}">
                <a16:creationId xmlns:a16="http://schemas.microsoft.com/office/drawing/2014/main" id="{5DF50A45-55C5-6249-AAEC-2CBC563D7D39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b="84715"/>
          <a:stretch/>
        </p:blipFill>
        <p:spPr>
          <a:xfrm>
            <a:off x="4133337" y="1850269"/>
            <a:ext cx="4137017" cy="368492"/>
          </a:xfrm>
          <a:prstGeom prst="rect">
            <a:avLst/>
          </a:prstGeom>
        </p:spPr>
      </p:pic>
      <p:pic>
        <p:nvPicPr>
          <p:cNvPr id="11" name="圖片 10">
            <a:extLst>
              <a:ext uri="{FF2B5EF4-FFF2-40B4-BE49-F238E27FC236}">
                <a16:creationId xmlns:a16="http://schemas.microsoft.com/office/drawing/2014/main" id="{12B939C3-AB63-3343-B088-B4B7328DE4B9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b="84715"/>
          <a:stretch/>
        </p:blipFill>
        <p:spPr>
          <a:xfrm>
            <a:off x="7830863" y="1882168"/>
            <a:ext cx="4137017" cy="368492"/>
          </a:xfrm>
          <a:prstGeom prst="rect">
            <a:avLst/>
          </a:prstGeom>
        </p:spPr>
      </p:pic>
      <p:sp>
        <p:nvSpPr>
          <p:cNvPr id="13" name="矩形 12">
            <a:extLst>
              <a:ext uri="{FF2B5EF4-FFF2-40B4-BE49-F238E27FC236}">
                <a16:creationId xmlns:a16="http://schemas.microsoft.com/office/drawing/2014/main" id="{C60ED377-04CA-1A40-BA33-87420A3DCB54}"/>
              </a:ext>
            </a:extLst>
          </p:cNvPr>
          <p:cNvSpPr/>
          <p:nvPr/>
        </p:nvSpPr>
        <p:spPr>
          <a:xfrm>
            <a:off x="707128" y="4969322"/>
            <a:ext cx="3725700" cy="95410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kumimoji="1" lang="en-US" altLang="zh-TW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Dynamic programing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kumimoji="1" lang="en-US" altLang="zh-TW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Time : </a:t>
            </a:r>
            <a:r>
              <a:rPr kumimoji="1" lang="en-US" altLang="zh-TW" sz="2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</a:t>
            </a:r>
            <a:r>
              <a:rPr kumimoji="1" lang="en-US" altLang="zh-TW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kumimoji="1" lang="en-US" altLang="zh-TW" sz="2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kumimoji="1" lang="en-US" altLang="zh-TW" sz="2800" i="1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kumimoji="1" lang="en-US" altLang="zh-TW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zh-TW" altLang="en-US" sz="2800" dirty="0"/>
          </a:p>
        </p:txBody>
      </p:sp>
    </p:spTree>
    <p:extLst>
      <p:ext uri="{BB962C8B-B14F-4D97-AF65-F5344CB8AC3E}">
        <p14:creationId xmlns:p14="http://schemas.microsoft.com/office/powerpoint/2010/main" val="203484427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41F9066D-A37A-874A-A6E1-9915FF09DB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TW" dirty="0"/>
              <a:t>LSS → LIS (1/5)</a:t>
            </a:r>
            <a:endParaRPr kumimoji="1" lang="zh-TW" altLang="en-US" dirty="0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2855F635-A04F-7549-AA66-83765189E2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AB94F7-1CE9-3B41-8002-0A2CB67662D8}" type="slidenum">
              <a:rPr kumimoji="1" lang="zh-TW" altLang="en-US" smtClean="0"/>
              <a:t>7</a:t>
            </a:fld>
            <a:endParaRPr kumimoji="1" lang="zh-TW" altLang="en-US"/>
          </a:p>
        </p:txBody>
      </p:sp>
      <p:pic>
        <p:nvPicPr>
          <p:cNvPr id="4" name="圖片 3">
            <a:extLst>
              <a:ext uri="{FF2B5EF4-FFF2-40B4-BE49-F238E27FC236}">
                <a16:creationId xmlns:a16="http://schemas.microsoft.com/office/drawing/2014/main" id="{499A1A3E-1BC9-A04A-A41E-F226A5F5802E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56161"/>
          <a:stretch/>
        </p:blipFill>
        <p:spPr>
          <a:xfrm>
            <a:off x="838200" y="1662295"/>
            <a:ext cx="4552507" cy="4464000"/>
          </a:xfrm>
          <a:prstGeom prst="rect">
            <a:avLst/>
          </a:prstGeom>
        </p:spPr>
      </p:pic>
      <p:pic>
        <p:nvPicPr>
          <p:cNvPr id="9" name="圖片 8">
            <a:extLst>
              <a:ext uri="{FF2B5EF4-FFF2-40B4-BE49-F238E27FC236}">
                <a16:creationId xmlns:a16="http://schemas.microsoft.com/office/drawing/2014/main" id="{8000EA35-3D58-0E42-AF49-28A2136BEDB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58581" y="2174443"/>
            <a:ext cx="5827345" cy="3468096"/>
          </a:xfrm>
          <a:prstGeom prst="rect">
            <a:avLst/>
          </a:prstGeom>
        </p:spPr>
      </p:pic>
      <p:cxnSp>
        <p:nvCxnSpPr>
          <p:cNvPr id="12" name="直線接點 11">
            <a:extLst>
              <a:ext uri="{FF2B5EF4-FFF2-40B4-BE49-F238E27FC236}">
                <a16:creationId xmlns:a16="http://schemas.microsoft.com/office/drawing/2014/main" id="{6FFA3D71-92AF-244C-A40D-D44F3141B366}"/>
              </a:ext>
            </a:extLst>
          </p:cNvPr>
          <p:cNvCxnSpPr/>
          <p:nvPr/>
        </p:nvCxnSpPr>
        <p:spPr>
          <a:xfrm flipV="1">
            <a:off x="7634176" y="4476307"/>
            <a:ext cx="716811" cy="733646"/>
          </a:xfrm>
          <a:prstGeom prst="line">
            <a:avLst/>
          </a:prstGeom>
          <a:ln w="3810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15" name="直線接點 14">
            <a:extLst>
              <a:ext uri="{FF2B5EF4-FFF2-40B4-BE49-F238E27FC236}">
                <a16:creationId xmlns:a16="http://schemas.microsoft.com/office/drawing/2014/main" id="{CCF90007-695B-184C-A2E9-AA5FF97768AF}"/>
              </a:ext>
            </a:extLst>
          </p:cNvPr>
          <p:cNvCxnSpPr>
            <a:cxnSpLocks/>
          </p:cNvCxnSpPr>
          <p:nvPr/>
        </p:nvCxnSpPr>
        <p:spPr>
          <a:xfrm flipV="1">
            <a:off x="8382886" y="4104167"/>
            <a:ext cx="325180" cy="350874"/>
          </a:xfrm>
          <a:prstGeom prst="line">
            <a:avLst/>
          </a:prstGeom>
          <a:ln w="3810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16" name="直線接點 15">
            <a:extLst>
              <a:ext uri="{FF2B5EF4-FFF2-40B4-BE49-F238E27FC236}">
                <a16:creationId xmlns:a16="http://schemas.microsoft.com/office/drawing/2014/main" id="{40B30C1F-CD10-9340-A426-5E8749B28F1D}"/>
              </a:ext>
            </a:extLst>
          </p:cNvPr>
          <p:cNvCxnSpPr>
            <a:cxnSpLocks/>
          </p:cNvCxnSpPr>
          <p:nvPr/>
        </p:nvCxnSpPr>
        <p:spPr>
          <a:xfrm flipV="1">
            <a:off x="9420448" y="3030279"/>
            <a:ext cx="669850" cy="347866"/>
          </a:xfrm>
          <a:prstGeom prst="line">
            <a:avLst/>
          </a:prstGeom>
          <a:ln w="3810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18" name="直線接點 17">
            <a:extLst>
              <a:ext uri="{FF2B5EF4-FFF2-40B4-BE49-F238E27FC236}">
                <a16:creationId xmlns:a16="http://schemas.microsoft.com/office/drawing/2014/main" id="{0323D033-5E8F-8F47-814A-58E317D7D42A}"/>
              </a:ext>
            </a:extLst>
          </p:cNvPr>
          <p:cNvCxnSpPr>
            <a:cxnSpLocks/>
          </p:cNvCxnSpPr>
          <p:nvPr/>
        </p:nvCxnSpPr>
        <p:spPr>
          <a:xfrm flipV="1">
            <a:off x="8729332" y="3397101"/>
            <a:ext cx="680483" cy="674556"/>
          </a:xfrm>
          <a:prstGeom prst="line">
            <a:avLst/>
          </a:prstGeom>
          <a:ln w="3810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24" name="直線接點 23">
            <a:extLst>
              <a:ext uri="{FF2B5EF4-FFF2-40B4-BE49-F238E27FC236}">
                <a16:creationId xmlns:a16="http://schemas.microsoft.com/office/drawing/2014/main" id="{E7F159EE-DDFC-2E47-AB7F-24D5F03924B7}"/>
              </a:ext>
            </a:extLst>
          </p:cNvPr>
          <p:cNvCxnSpPr>
            <a:cxnSpLocks/>
          </p:cNvCxnSpPr>
          <p:nvPr/>
        </p:nvCxnSpPr>
        <p:spPr>
          <a:xfrm>
            <a:off x="7529624" y="2637216"/>
            <a:ext cx="242777" cy="0"/>
          </a:xfrm>
          <a:prstGeom prst="line">
            <a:avLst/>
          </a:prstGeom>
          <a:ln w="3810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27" name="直線接點 26">
            <a:extLst>
              <a:ext uri="{FF2B5EF4-FFF2-40B4-BE49-F238E27FC236}">
                <a16:creationId xmlns:a16="http://schemas.microsoft.com/office/drawing/2014/main" id="{848CEA47-736D-374A-B21D-6A6DF9BE3969}"/>
              </a:ext>
            </a:extLst>
          </p:cNvPr>
          <p:cNvCxnSpPr>
            <a:cxnSpLocks/>
          </p:cNvCxnSpPr>
          <p:nvPr/>
        </p:nvCxnSpPr>
        <p:spPr>
          <a:xfrm>
            <a:off x="8229598" y="2637216"/>
            <a:ext cx="648588" cy="0"/>
          </a:xfrm>
          <a:prstGeom prst="line">
            <a:avLst/>
          </a:prstGeom>
          <a:ln w="3810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28" name="直線接點 27">
            <a:extLst>
              <a:ext uri="{FF2B5EF4-FFF2-40B4-BE49-F238E27FC236}">
                <a16:creationId xmlns:a16="http://schemas.microsoft.com/office/drawing/2014/main" id="{761845B4-94FB-9C49-97F3-8308830F10CB}"/>
              </a:ext>
            </a:extLst>
          </p:cNvPr>
          <p:cNvCxnSpPr>
            <a:cxnSpLocks/>
          </p:cNvCxnSpPr>
          <p:nvPr/>
        </p:nvCxnSpPr>
        <p:spPr>
          <a:xfrm>
            <a:off x="9320325" y="2637216"/>
            <a:ext cx="242777" cy="0"/>
          </a:xfrm>
          <a:prstGeom prst="line">
            <a:avLst/>
          </a:prstGeom>
          <a:ln w="3810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30" name="直線接點 29">
            <a:extLst>
              <a:ext uri="{FF2B5EF4-FFF2-40B4-BE49-F238E27FC236}">
                <a16:creationId xmlns:a16="http://schemas.microsoft.com/office/drawing/2014/main" id="{E9878E14-E664-A64E-8EB7-B3716748651E}"/>
              </a:ext>
            </a:extLst>
          </p:cNvPr>
          <p:cNvCxnSpPr>
            <a:cxnSpLocks/>
          </p:cNvCxnSpPr>
          <p:nvPr/>
        </p:nvCxnSpPr>
        <p:spPr>
          <a:xfrm>
            <a:off x="10024732" y="2637216"/>
            <a:ext cx="242777" cy="0"/>
          </a:xfrm>
          <a:prstGeom prst="line">
            <a:avLst/>
          </a:prstGeom>
          <a:ln w="3810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32" name="矩形 31">
            <a:extLst>
              <a:ext uri="{FF2B5EF4-FFF2-40B4-BE49-F238E27FC236}">
                <a16:creationId xmlns:a16="http://schemas.microsoft.com/office/drawing/2014/main" id="{ACB68EA6-C806-AF48-ABDE-19A900C8B1FD}"/>
              </a:ext>
            </a:extLst>
          </p:cNvPr>
          <p:cNvSpPr/>
          <p:nvPr/>
        </p:nvSpPr>
        <p:spPr>
          <a:xfrm>
            <a:off x="990157" y="6105312"/>
            <a:ext cx="8419658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TW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Figure 1. Correspondence between an LCS of </a:t>
            </a:r>
            <a:r>
              <a:rPr lang="en-US" altLang="zh-TW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TW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= </a:t>
            </a:r>
            <a:r>
              <a:rPr lang="en-US" altLang="zh-TW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acbabc</a:t>
            </a:r>
            <a:r>
              <a:rPr lang="en-US" altLang="zh-TW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altLang="zh-TW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en-US" altLang="zh-TW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= </a:t>
            </a:r>
            <a:r>
              <a:rPr lang="en-US" altLang="zh-TW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cabacbc</a:t>
            </a:r>
            <a:r>
              <a:rPr lang="en-US" altLang="zh-TW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and an LIS of </a:t>
            </a:r>
            <a:r>
              <a:rPr lang="en-US" altLang="zh-TW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en-US" altLang="zh-TW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.</a:t>
            </a:r>
            <a:endParaRPr lang="en-US" altLang="zh-TW" dirty="0">
              <a:solidFill>
                <a:srgbClr val="000000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34" name="直線箭頭接點 33">
            <a:extLst>
              <a:ext uri="{FF2B5EF4-FFF2-40B4-BE49-F238E27FC236}">
                <a16:creationId xmlns:a16="http://schemas.microsoft.com/office/drawing/2014/main" id="{5F6DE040-BE9D-6146-804B-EC908A3981C5}"/>
              </a:ext>
            </a:extLst>
          </p:cNvPr>
          <p:cNvCxnSpPr/>
          <p:nvPr/>
        </p:nvCxnSpPr>
        <p:spPr>
          <a:xfrm flipH="1">
            <a:off x="1665514" y="6019800"/>
            <a:ext cx="2351315" cy="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直線箭頭接點 34">
            <a:extLst>
              <a:ext uri="{FF2B5EF4-FFF2-40B4-BE49-F238E27FC236}">
                <a16:creationId xmlns:a16="http://schemas.microsoft.com/office/drawing/2014/main" id="{404B1349-E7C3-B644-96A6-71396164534E}"/>
              </a:ext>
            </a:extLst>
          </p:cNvPr>
          <p:cNvCxnSpPr>
            <a:cxnSpLocks/>
          </p:cNvCxnSpPr>
          <p:nvPr/>
        </p:nvCxnSpPr>
        <p:spPr>
          <a:xfrm flipV="1">
            <a:off x="804263" y="3204212"/>
            <a:ext cx="1" cy="2005741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直線箭頭接點 40">
            <a:extLst>
              <a:ext uri="{FF2B5EF4-FFF2-40B4-BE49-F238E27FC236}">
                <a16:creationId xmlns:a16="http://schemas.microsoft.com/office/drawing/2014/main" id="{D0AE7334-9380-6141-82FD-6C37061DBB9E}"/>
              </a:ext>
            </a:extLst>
          </p:cNvPr>
          <p:cNvCxnSpPr>
            <a:cxnSpLocks/>
          </p:cNvCxnSpPr>
          <p:nvPr/>
        </p:nvCxnSpPr>
        <p:spPr>
          <a:xfrm flipV="1">
            <a:off x="11353800" y="3030279"/>
            <a:ext cx="0" cy="2304204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直線箭頭接點 42">
            <a:extLst>
              <a:ext uri="{FF2B5EF4-FFF2-40B4-BE49-F238E27FC236}">
                <a16:creationId xmlns:a16="http://schemas.microsoft.com/office/drawing/2014/main" id="{1D50DAB4-14DA-B24B-B9D8-6B115077BD3C}"/>
              </a:ext>
            </a:extLst>
          </p:cNvPr>
          <p:cNvCxnSpPr>
            <a:cxnSpLocks/>
          </p:cNvCxnSpPr>
          <p:nvPr/>
        </p:nvCxnSpPr>
        <p:spPr>
          <a:xfrm flipH="1">
            <a:off x="5943602" y="5642539"/>
            <a:ext cx="4920341" cy="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5846002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41F9066D-A37A-874A-A6E1-9915FF09DB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TW" dirty="0"/>
              <a:t>LSS → LIS (2/5)</a:t>
            </a:r>
            <a:endParaRPr kumimoji="1" lang="zh-TW" altLang="en-US" dirty="0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2855F635-A04F-7549-AA66-83765189E2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AB94F7-1CE9-3B41-8002-0A2CB67662D8}" type="slidenum">
              <a:rPr kumimoji="1" lang="zh-TW" altLang="en-US" smtClean="0"/>
              <a:t>8</a:t>
            </a:fld>
            <a:endParaRPr kumimoji="1" lang="zh-TW" altLang="en-US"/>
          </a:p>
        </p:txBody>
      </p:sp>
      <p:pic>
        <p:nvPicPr>
          <p:cNvPr id="4" name="圖片 3">
            <a:extLst>
              <a:ext uri="{FF2B5EF4-FFF2-40B4-BE49-F238E27FC236}">
                <a16:creationId xmlns:a16="http://schemas.microsoft.com/office/drawing/2014/main" id="{31618152-22DC-8D42-BF88-AEC5FE6C270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1103" y="1466940"/>
            <a:ext cx="7804298" cy="5025935"/>
          </a:xfrm>
          <a:prstGeom prst="rect">
            <a:avLst/>
          </a:prstGeom>
        </p:spPr>
      </p:pic>
      <p:sp>
        <p:nvSpPr>
          <p:cNvPr id="9" name="矩形 8">
            <a:extLst>
              <a:ext uri="{FF2B5EF4-FFF2-40B4-BE49-F238E27FC236}">
                <a16:creationId xmlns:a16="http://schemas.microsoft.com/office/drawing/2014/main" id="{3C5495A9-C93F-4F4C-872A-BBC3015C4DA3}"/>
              </a:ext>
            </a:extLst>
          </p:cNvPr>
          <p:cNvSpPr/>
          <p:nvPr/>
        </p:nvSpPr>
        <p:spPr>
          <a:xfrm>
            <a:off x="9007928" y="4534078"/>
            <a:ext cx="2833197" cy="175432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Figure 2. Illustration on how points in the 2D plane (and elements in T ) are to be deleted or inserted when </a:t>
            </a:r>
            <a:r>
              <a:rPr lang="en-US" altLang="zh-TW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</a:t>
            </a:r>
            <a:r>
              <a:rPr lang="en-US" altLang="zh-TW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are updated to </a:t>
            </a:r>
            <a:r>
              <a:rPr lang="en-US" altLang="zh-TW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′ and </a:t>
            </a:r>
            <a:r>
              <a:rPr lang="en-US" altLang="zh-TW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′, respectively.</a:t>
            </a:r>
          </a:p>
        </p:txBody>
      </p:sp>
    </p:spTree>
    <p:extLst>
      <p:ext uri="{BB962C8B-B14F-4D97-AF65-F5344CB8AC3E}">
        <p14:creationId xmlns:p14="http://schemas.microsoft.com/office/powerpoint/2010/main" val="404139042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圖片 3">
            <a:extLst>
              <a:ext uri="{FF2B5EF4-FFF2-40B4-BE49-F238E27FC236}">
                <a16:creationId xmlns:a16="http://schemas.microsoft.com/office/drawing/2014/main" id="{973FDEF2-D93B-874D-B4F9-4B05DC08E37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04453" y="0"/>
            <a:ext cx="5474627" cy="6858000"/>
          </a:xfrm>
          <a:prstGeom prst="rect">
            <a:avLst/>
          </a:prstGeom>
        </p:spPr>
      </p:pic>
      <p:sp>
        <p:nvSpPr>
          <p:cNvPr id="2" name="標題 1">
            <a:extLst>
              <a:ext uri="{FF2B5EF4-FFF2-40B4-BE49-F238E27FC236}">
                <a16:creationId xmlns:a16="http://schemas.microsoft.com/office/drawing/2014/main" id="{41F9066D-A37A-874A-A6E1-9915FF09DB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TW" dirty="0"/>
              <a:t>LSS → LIS (3/5)</a:t>
            </a:r>
            <a:endParaRPr kumimoji="1" lang="zh-TW" altLang="en-US" dirty="0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2855F635-A04F-7549-AA66-83765189E2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AB94F7-1CE9-3B41-8002-0A2CB67662D8}" type="slidenum">
              <a:rPr kumimoji="1" lang="zh-TW" altLang="en-US" smtClean="0"/>
              <a:t>9</a:t>
            </a:fld>
            <a:endParaRPr kumimoji="1" lang="zh-TW" altLang="en-US"/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93CD254F-03F9-E74F-99A9-D0F7D4630D63}"/>
              </a:ext>
            </a:extLst>
          </p:cNvPr>
          <p:cNvSpPr/>
          <p:nvPr/>
        </p:nvSpPr>
        <p:spPr>
          <a:xfrm>
            <a:off x="1015987" y="6171684"/>
            <a:ext cx="384592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Figure 3. Reduction from LCSS to LIS.</a:t>
            </a:r>
          </a:p>
        </p:txBody>
      </p:sp>
      <p:pic>
        <p:nvPicPr>
          <p:cNvPr id="10" name="圖片 9">
            <a:extLst>
              <a:ext uri="{FF2B5EF4-FFF2-40B4-BE49-F238E27FC236}">
                <a16:creationId xmlns:a16="http://schemas.microsoft.com/office/drawing/2014/main" id="{AC3C1321-9AA4-B34D-947B-1962A780D05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200" y="1690688"/>
            <a:ext cx="4601714" cy="2856594"/>
          </a:xfrm>
          <a:prstGeom prst="rect">
            <a:avLst/>
          </a:prstGeom>
        </p:spPr>
      </p:pic>
      <p:cxnSp>
        <p:nvCxnSpPr>
          <p:cNvPr id="11" name="直線箭頭接點 10">
            <a:extLst>
              <a:ext uri="{FF2B5EF4-FFF2-40B4-BE49-F238E27FC236}">
                <a16:creationId xmlns:a16="http://schemas.microsoft.com/office/drawing/2014/main" id="{F223C05A-91DA-C646-8626-771383A88E2B}"/>
              </a:ext>
            </a:extLst>
          </p:cNvPr>
          <p:cNvCxnSpPr>
            <a:cxnSpLocks/>
          </p:cNvCxnSpPr>
          <p:nvPr/>
        </p:nvCxnSpPr>
        <p:spPr>
          <a:xfrm flipH="1">
            <a:off x="8153401" y="3552483"/>
            <a:ext cx="1371599" cy="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7994303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41F9066D-A37A-874A-A6E1-9915FF09DB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TW" dirty="0"/>
              <a:t>LSS → LIS (4/5)</a:t>
            </a:r>
            <a:endParaRPr kumimoji="1" lang="zh-TW" altLang="en-US" dirty="0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2855F635-A04F-7549-AA66-83765189E2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AB94F7-1CE9-3B41-8002-0A2CB67662D8}" type="slidenum">
              <a:rPr kumimoji="1" lang="zh-TW" altLang="en-US" smtClean="0"/>
              <a:t>10</a:t>
            </a:fld>
            <a:endParaRPr kumimoji="1" lang="zh-TW" altLang="en-US"/>
          </a:p>
        </p:txBody>
      </p:sp>
      <p:pic>
        <p:nvPicPr>
          <p:cNvPr id="4" name="圖片 3">
            <a:extLst>
              <a:ext uri="{FF2B5EF4-FFF2-40B4-BE49-F238E27FC236}">
                <a16:creationId xmlns:a16="http://schemas.microsoft.com/office/drawing/2014/main" id="{7CD1D07E-7382-6E48-946A-F547586D752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22031" y="0"/>
            <a:ext cx="4627167" cy="6356350"/>
          </a:xfrm>
          <a:prstGeom prst="rect">
            <a:avLst/>
          </a:prstGeom>
        </p:spPr>
      </p:pic>
      <p:pic>
        <p:nvPicPr>
          <p:cNvPr id="5" name="圖片 4">
            <a:extLst>
              <a:ext uri="{FF2B5EF4-FFF2-40B4-BE49-F238E27FC236}">
                <a16:creationId xmlns:a16="http://schemas.microsoft.com/office/drawing/2014/main" id="{65C59230-281B-2747-AE04-191E93AE261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60253" y="1336704"/>
            <a:ext cx="4435415" cy="4980837"/>
          </a:xfrm>
          <a:prstGeom prst="rect">
            <a:avLst/>
          </a:prstGeom>
        </p:spPr>
      </p:pic>
      <p:sp>
        <p:nvSpPr>
          <p:cNvPr id="9" name="矩形 8">
            <a:extLst>
              <a:ext uri="{FF2B5EF4-FFF2-40B4-BE49-F238E27FC236}">
                <a16:creationId xmlns:a16="http://schemas.microsoft.com/office/drawing/2014/main" id="{CC778533-EE22-5C4D-93AD-920F77BA10D6}"/>
              </a:ext>
            </a:extLst>
          </p:cNvPr>
          <p:cNvSpPr/>
          <p:nvPr/>
        </p:nvSpPr>
        <p:spPr>
          <a:xfrm>
            <a:off x="1938841" y="6352143"/>
            <a:ext cx="7766379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TW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Figure 4. Dynamic LIS computation. The top box shows the </a:t>
            </a:r>
            <a:r>
              <a:rPr lang="en-US" altLang="zh-TW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en-US" altLang="zh-TW" i="1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</a:t>
            </a:r>
            <a:r>
              <a:rPr lang="en-US" altLang="zh-TW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lists for </a:t>
            </a:r>
            <a:r>
              <a:rPr lang="en-US" altLang="zh-TW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en-US" altLang="zh-TW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and </a:t>
            </a:r>
            <a:r>
              <a:rPr lang="en-US" altLang="zh-TW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en-US" altLang="zh-TW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US" altLang="zh-TW" dirty="0">
              <a:solidFill>
                <a:srgbClr val="000000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文字方塊 9">
            <a:extLst>
              <a:ext uri="{FF2B5EF4-FFF2-40B4-BE49-F238E27FC236}">
                <a16:creationId xmlns:a16="http://schemas.microsoft.com/office/drawing/2014/main" id="{FB410C35-8DFA-FB4F-9A82-5DFDB3E66ED1}"/>
              </a:ext>
            </a:extLst>
          </p:cNvPr>
          <p:cNvSpPr txBox="1"/>
          <p:nvPr/>
        </p:nvSpPr>
        <p:spPr>
          <a:xfrm>
            <a:off x="10398768" y="627796"/>
            <a:ext cx="47000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TW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PS</a:t>
            </a:r>
            <a:endParaRPr kumimoji="1" lang="zh-TW" altLang="en-US" sz="2000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文字方塊 10">
            <a:extLst>
              <a:ext uri="{FF2B5EF4-FFF2-40B4-BE49-F238E27FC236}">
                <a16:creationId xmlns:a16="http://schemas.microsoft.com/office/drawing/2014/main" id="{F71B6458-07E6-A44C-AD5C-C70F66F19A9C}"/>
              </a:ext>
            </a:extLst>
          </p:cNvPr>
          <p:cNvSpPr txBox="1"/>
          <p:nvPr/>
        </p:nvSpPr>
        <p:spPr>
          <a:xfrm>
            <a:off x="10398768" y="3754987"/>
            <a:ext cx="57900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TW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P'S'</a:t>
            </a:r>
            <a:endParaRPr kumimoji="1" lang="zh-TW" altLang="en-US" sz="2000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文字方塊 11">
            <a:extLst>
              <a:ext uri="{FF2B5EF4-FFF2-40B4-BE49-F238E27FC236}">
                <a16:creationId xmlns:a16="http://schemas.microsoft.com/office/drawing/2014/main" id="{4EA12349-B63D-C841-B4FC-C61A29933377}"/>
              </a:ext>
            </a:extLst>
          </p:cNvPr>
          <p:cNvSpPr txBox="1"/>
          <p:nvPr/>
        </p:nvSpPr>
        <p:spPr>
          <a:xfrm>
            <a:off x="10398768" y="5369660"/>
            <a:ext cx="68800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TW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P''S''</a:t>
            </a:r>
            <a:endParaRPr kumimoji="1" lang="zh-TW" altLang="en-US" sz="2000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13" name="直線箭頭接點 12">
            <a:extLst>
              <a:ext uri="{FF2B5EF4-FFF2-40B4-BE49-F238E27FC236}">
                <a16:creationId xmlns:a16="http://schemas.microsoft.com/office/drawing/2014/main" id="{832BBB36-9908-F04D-BA73-D21578C21F4F}"/>
              </a:ext>
            </a:extLst>
          </p:cNvPr>
          <p:cNvCxnSpPr>
            <a:cxnSpLocks/>
          </p:cNvCxnSpPr>
          <p:nvPr/>
        </p:nvCxnSpPr>
        <p:spPr>
          <a:xfrm>
            <a:off x="10150313" y="184055"/>
            <a:ext cx="0" cy="1152649"/>
          </a:xfrm>
          <a:prstGeom prst="straightConnector1">
            <a:avLst/>
          </a:prstGeom>
          <a:ln w="38100">
            <a:solidFill>
              <a:schemeClr val="bg1">
                <a:lumMod val="6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直線箭頭接點 13">
            <a:extLst>
              <a:ext uri="{FF2B5EF4-FFF2-40B4-BE49-F238E27FC236}">
                <a16:creationId xmlns:a16="http://schemas.microsoft.com/office/drawing/2014/main" id="{C8D5BF21-7F84-BE48-BD44-6D276D20DCEC}"/>
              </a:ext>
            </a:extLst>
          </p:cNvPr>
          <p:cNvCxnSpPr>
            <a:cxnSpLocks/>
          </p:cNvCxnSpPr>
          <p:nvPr/>
        </p:nvCxnSpPr>
        <p:spPr>
          <a:xfrm flipH="1">
            <a:off x="7609114" y="290487"/>
            <a:ext cx="2621134" cy="0"/>
          </a:xfrm>
          <a:prstGeom prst="straightConnector1">
            <a:avLst/>
          </a:prstGeom>
          <a:ln w="38100">
            <a:solidFill>
              <a:schemeClr val="bg1">
                <a:lumMod val="6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橢圓 16">
            <a:extLst>
              <a:ext uri="{FF2B5EF4-FFF2-40B4-BE49-F238E27FC236}">
                <a16:creationId xmlns:a16="http://schemas.microsoft.com/office/drawing/2014/main" id="{9C898483-10CD-5042-99CF-6D2809709134}"/>
              </a:ext>
            </a:extLst>
          </p:cNvPr>
          <p:cNvSpPr/>
          <p:nvPr/>
        </p:nvSpPr>
        <p:spPr>
          <a:xfrm>
            <a:off x="4803599" y="5975117"/>
            <a:ext cx="380853" cy="380853"/>
          </a:xfrm>
          <a:prstGeom prst="ellipse">
            <a:avLst/>
          </a:prstGeom>
          <a:noFill/>
          <a:ln w="3810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sp>
        <p:nvSpPr>
          <p:cNvPr id="18" name="橢圓 17">
            <a:extLst>
              <a:ext uri="{FF2B5EF4-FFF2-40B4-BE49-F238E27FC236}">
                <a16:creationId xmlns:a16="http://schemas.microsoft.com/office/drawing/2014/main" id="{C44D5380-C29C-934F-8448-1E6DD6BC00CA}"/>
              </a:ext>
            </a:extLst>
          </p:cNvPr>
          <p:cNvSpPr/>
          <p:nvPr/>
        </p:nvSpPr>
        <p:spPr>
          <a:xfrm>
            <a:off x="7956073" y="4274839"/>
            <a:ext cx="380853" cy="380853"/>
          </a:xfrm>
          <a:prstGeom prst="ellipse">
            <a:avLst/>
          </a:prstGeom>
          <a:noFill/>
          <a:ln w="3810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sp>
        <p:nvSpPr>
          <p:cNvPr id="19" name="橢圓 18">
            <a:extLst>
              <a:ext uri="{FF2B5EF4-FFF2-40B4-BE49-F238E27FC236}">
                <a16:creationId xmlns:a16="http://schemas.microsoft.com/office/drawing/2014/main" id="{AB165F4C-4588-434A-B089-F7D1CB085B44}"/>
              </a:ext>
            </a:extLst>
          </p:cNvPr>
          <p:cNvSpPr/>
          <p:nvPr/>
        </p:nvSpPr>
        <p:spPr>
          <a:xfrm>
            <a:off x="2672845" y="5949518"/>
            <a:ext cx="380853" cy="380853"/>
          </a:xfrm>
          <a:prstGeom prst="ellipse">
            <a:avLst/>
          </a:prstGeom>
          <a:noFill/>
          <a:ln w="3810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sp>
        <p:nvSpPr>
          <p:cNvPr id="20" name="橢圓 19">
            <a:extLst>
              <a:ext uri="{FF2B5EF4-FFF2-40B4-BE49-F238E27FC236}">
                <a16:creationId xmlns:a16="http://schemas.microsoft.com/office/drawing/2014/main" id="{6E23BCCC-C4B1-A449-9D93-3BD1D78F2155}"/>
              </a:ext>
            </a:extLst>
          </p:cNvPr>
          <p:cNvSpPr/>
          <p:nvPr/>
        </p:nvSpPr>
        <p:spPr>
          <a:xfrm>
            <a:off x="2313764" y="2389712"/>
            <a:ext cx="380853" cy="380853"/>
          </a:xfrm>
          <a:prstGeom prst="ellipse">
            <a:avLst/>
          </a:prstGeom>
          <a:noFill/>
          <a:ln w="3810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cxnSp>
        <p:nvCxnSpPr>
          <p:cNvPr id="36" name="直線箭頭接點 35">
            <a:extLst>
              <a:ext uri="{FF2B5EF4-FFF2-40B4-BE49-F238E27FC236}">
                <a16:creationId xmlns:a16="http://schemas.microsoft.com/office/drawing/2014/main" id="{2AB6C924-C63C-6343-9D1A-F5E32E3AD2D2}"/>
              </a:ext>
            </a:extLst>
          </p:cNvPr>
          <p:cNvCxnSpPr>
            <a:cxnSpLocks/>
          </p:cNvCxnSpPr>
          <p:nvPr/>
        </p:nvCxnSpPr>
        <p:spPr>
          <a:xfrm>
            <a:off x="10137104" y="1650574"/>
            <a:ext cx="0" cy="1152649"/>
          </a:xfrm>
          <a:prstGeom prst="straightConnector1">
            <a:avLst/>
          </a:prstGeom>
          <a:ln w="38100">
            <a:solidFill>
              <a:schemeClr val="bg1">
                <a:lumMod val="6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直線箭頭接點 36">
            <a:extLst>
              <a:ext uri="{FF2B5EF4-FFF2-40B4-BE49-F238E27FC236}">
                <a16:creationId xmlns:a16="http://schemas.microsoft.com/office/drawing/2014/main" id="{EFEAFD2A-9FC4-A24D-8E42-54C97D4A41DB}"/>
              </a:ext>
            </a:extLst>
          </p:cNvPr>
          <p:cNvCxnSpPr>
            <a:cxnSpLocks/>
          </p:cNvCxnSpPr>
          <p:nvPr/>
        </p:nvCxnSpPr>
        <p:spPr>
          <a:xfrm flipH="1">
            <a:off x="7595905" y="1757006"/>
            <a:ext cx="2621134" cy="0"/>
          </a:xfrm>
          <a:prstGeom prst="straightConnector1">
            <a:avLst/>
          </a:prstGeom>
          <a:ln w="38100">
            <a:solidFill>
              <a:schemeClr val="bg1">
                <a:lumMod val="6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直線箭頭接點 37">
            <a:extLst>
              <a:ext uri="{FF2B5EF4-FFF2-40B4-BE49-F238E27FC236}">
                <a16:creationId xmlns:a16="http://schemas.microsoft.com/office/drawing/2014/main" id="{5A0E18FF-6C21-4D49-9B28-CA78499A26AD}"/>
              </a:ext>
            </a:extLst>
          </p:cNvPr>
          <p:cNvCxnSpPr>
            <a:cxnSpLocks/>
          </p:cNvCxnSpPr>
          <p:nvPr/>
        </p:nvCxnSpPr>
        <p:spPr>
          <a:xfrm>
            <a:off x="10110684" y="4930179"/>
            <a:ext cx="0" cy="1152649"/>
          </a:xfrm>
          <a:prstGeom prst="straightConnector1">
            <a:avLst/>
          </a:prstGeom>
          <a:ln w="38100">
            <a:solidFill>
              <a:schemeClr val="bg1">
                <a:lumMod val="6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直線箭頭接點 38">
            <a:extLst>
              <a:ext uri="{FF2B5EF4-FFF2-40B4-BE49-F238E27FC236}">
                <a16:creationId xmlns:a16="http://schemas.microsoft.com/office/drawing/2014/main" id="{08C5CA34-6F4F-9A4F-9C82-714A745B3F9D}"/>
              </a:ext>
            </a:extLst>
          </p:cNvPr>
          <p:cNvCxnSpPr>
            <a:cxnSpLocks/>
          </p:cNvCxnSpPr>
          <p:nvPr/>
        </p:nvCxnSpPr>
        <p:spPr>
          <a:xfrm flipH="1">
            <a:off x="7569485" y="5036611"/>
            <a:ext cx="2621134" cy="0"/>
          </a:xfrm>
          <a:prstGeom prst="straightConnector1">
            <a:avLst/>
          </a:prstGeom>
          <a:ln w="38100">
            <a:solidFill>
              <a:schemeClr val="bg1">
                <a:lumMod val="6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直線箭頭接點 39">
            <a:extLst>
              <a:ext uri="{FF2B5EF4-FFF2-40B4-BE49-F238E27FC236}">
                <a16:creationId xmlns:a16="http://schemas.microsoft.com/office/drawing/2014/main" id="{046F002B-E328-5D44-A7EF-1FE5F91C853D}"/>
              </a:ext>
            </a:extLst>
          </p:cNvPr>
          <p:cNvCxnSpPr>
            <a:cxnSpLocks/>
          </p:cNvCxnSpPr>
          <p:nvPr/>
        </p:nvCxnSpPr>
        <p:spPr>
          <a:xfrm>
            <a:off x="10126398" y="3111304"/>
            <a:ext cx="0" cy="1544388"/>
          </a:xfrm>
          <a:prstGeom prst="straightConnector1">
            <a:avLst/>
          </a:prstGeom>
          <a:ln w="38100">
            <a:solidFill>
              <a:schemeClr val="bg1">
                <a:lumMod val="6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直線箭頭接點 40">
            <a:extLst>
              <a:ext uri="{FF2B5EF4-FFF2-40B4-BE49-F238E27FC236}">
                <a16:creationId xmlns:a16="http://schemas.microsoft.com/office/drawing/2014/main" id="{C52FA939-E210-0A4C-A6DF-8896E92D732B}"/>
              </a:ext>
            </a:extLst>
          </p:cNvPr>
          <p:cNvCxnSpPr>
            <a:cxnSpLocks/>
          </p:cNvCxnSpPr>
          <p:nvPr/>
        </p:nvCxnSpPr>
        <p:spPr>
          <a:xfrm flipH="1">
            <a:off x="7585199" y="3217736"/>
            <a:ext cx="2621134" cy="0"/>
          </a:xfrm>
          <a:prstGeom prst="straightConnector1">
            <a:avLst/>
          </a:prstGeom>
          <a:ln w="38100">
            <a:solidFill>
              <a:schemeClr val="bg1">
                <a:lumMod val="6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橢圓 21">
            <a:extLst>
              <a:ext uri="{FF2B5EF4-FFF2-40B4-BE49-F238E27FC236}">
                <a16:creationId xmlns:a16="http://schemas.microsoft.com/office/drawing/2014/main" id="{1B57A724-933C-A143-B644-ADF614F10A83}"/>
              </a:ext>
            </a:extLst>
          </p:cNvPr>
          <p:cNvSpPr/>
          <p:nvPr/>
        </p:nvSpPr>
        <p:spPr>
          <a:xfrm>
            <a:off x="8375144" y="3167289"/>
            <a:ext cx="380853" cy="380853"/>
          </a:xfrm>
          <a:prstGeom prst="ellipse">
            <a:avLst/>
          </a:prstGeom>
          <a:noFill/>
          <a:ln w="3810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sp>
        <p:nvSpPr>
          <p:cNvPr id="21" name="橢圓 20">
            <a:extLst>
              <a:ext uri="{FF2B5EF4-FFF2-40B4-BE49-F238E27FC236}">
                <a16:creationId xmlns:a16="http://schemas.microsoft.com/office/drawing/2014/main" id="{8D6A2647-9FEF-BF42-AD28-91F8770091A1}"/>
              </a:ext>
            </a:extLst>
          </p:cNvPr>
          <p:cNvSpPr/>
          <p:nvPr/>
        </p:nvSpPr>
        <p:spPr>
          <a:xfrm>
            <a:off x="8788655" y="246943"/>
            <a:ext cx="380853" cy="380853"/>
          </a:xfrm>
          <a:prstGeom prst="ellipse">
            <a:avLst/>
          </a:prstGeom>
          <a:noFill/>
          <a:ln w="3810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340335969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圖片 3">
            <a:extLst>
              <a:ext uri="{FF2B5EF4-FFF2-40B4-BE49-F238E27FC236}">
                <a16:creationId xmlns:a16="http://schemas.microsoft.com/office/drawing/2014/main" id="{E2063DC0-24C9-1A43-B39C-D86322FE702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37316" y="383044"/>
            <a:ext cx="6553199" cy="6109831"/>
          </a:xfrm>
          <a:prstGeom prst="rect">
            <a:avLst/>
          </a:prstGeom>
        </p:spPr>
      </p:pic>
      <p:sp>
        <p:nvSpPr>
          <p:cNvPr id="2" name="標題 1">
            <a:extLst>
              <a:ext uri="{FF2B5EF4-FFF2-40B4-BE49-F238E27FC236}">
                <a16:creationId xmlns:a16="http://schemas.microsoft.com/office/drawing/2014/main" id="{41F9066D-A37A-874A-A6E1-9915FF09DB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TW" dirty="0"/>
              <a:t>LSS → LIS (5/5)</a:t>
            </a:r>
            <a:endParaRPr kumimoji="1" lang="zh-TW" altLang="en-US" dirty="0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2855F635-A04F-7549-AA66-83765189E2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AB94F7-1CE9-3B41-8002-0A2CB67662D8}" type="slidenum">
              <a:rPr kumimoji="1" lang="zh-TW" altLang="en-US" smtClean="0"/>
              <a:t>11</a:t>
            </a:fld>
            <a:endParaRPr kumimoji="1" lang="zh-TW" altLang="en-US"/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id="{13AD1AD1-FECA-5447-9204-C583F16076D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1485" y="1730147"/>
            <a:ext cx="3060700" cy="3467100"/>
          </a:xfrm>
          <a:prstGeom prst="rect">
            <a:avLst/>
          </a:prstGeom>
        </p:spPr>
      </p:pic>
      <p:sp>
        <p:nvSpPr>
          <p:cNvPr id="7" name="矩形 6">
            <a:extLst>
              <a:ext uri="{FF2B5EF4-FFF2-40B4-BE49-F238E27FC236}">
                <a16:creationId xmlns:a16="http://schemas.microsoft.com/office/drawing/2014/main" id="{87C9011C-43AB-714E-9DD1-50F36DE7A9B1}"/>
              </a:ext>
            </a:extLst>
          </p:cNvPr>
          <p:cNvSpPr/>
          <p:nvPr/>
        </p:nvSpPr>
        <p:spPr>
          <a:xfrm>
            <a:off x="421823" y="5433020"/>
            <a:ext cx="4631870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TW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Figure 5.</a:t>
            </a:r>
          </a:p>
          <a:p>
            <a:pPr marL="342900" indent="-342900">
              <a:buAutoNum type="alphaLcParenBoth"/>
            </a:pPr>
            <a:r>
              <a:rPr lang="en-US" altLang="zh-TW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LIS for L</a:t>
            </a:r>
            <a:r>
              <a:rPr lang="en-US" altLang="zh-TW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</a:p>
          <a:p>
            <a:pPr marL="342900" indent="-342900">
              <a:buAutoNum type="alphaLcParenBoth"/>
            </a:pPr>
            <a:r>
              <a:rPr lang="en-US" altLang="zh-TW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Example dynamic list L</a:t>
            </a:r>
          </a:p>
          <a:p>
            <a:pPr marL="342900" indent="-342900">
              <a:buAutoNum type="alphaLcParenBoth"/>
            </a:pPr>
            <a:r>
              <a:rPr lang="en-US" altLang="zh-TW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Augmented threshold data structure for L</a:t>
            </a:r>
            <a:r>
              <a:rPr lang="en-US" altLang="zh-TW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endParaRPr lang="en-US" altLang="zh-TW" baseline="-25000" dirty="0">
              <a:solidFill>
                <a:srgbClr val="000000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文字方塊 9">
            <a:extLst>
              <a:ext uri="{FF2B5EF4-FFF2-40B4-BE49-F238E27FC236}">
                <a16:creationId xmlns:a16="http://schemas.microsoft.com/office/drawing/2014/main" id="{F7308092-0D6E-5241-9055-0D276D0EFBAE}"/>
              </a:ext>
            </a:extLst>
          </p:cNvPr>
          <p:cNvSpPr txBox="1"/>
          <p:nvPr/>
        </p:nvSpPr>
        <p:spPr>
          <a:xfrm>
            <a:off x="1001485" y="1291192"/>
            <a:ext cx="4411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(a)</a:t>
            </a:r>
            <a:endParaRPr kumimoji="1"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文字方塊 10">
            <a:extLst>
              <a:ext uri="{FF2B5EF4-FFF2-40B4-BE49-F238E27FC236}">
                <a16:creationId xmlns:a16="http://schemas.microsoft.com/office/drawing/2014/main" id="{9057ABD3-1F31-5B43-AE1F-A21FA5E9C7EB}"/>
              </a:ext>
            </a:extLst>
          </p:cNvPr>
          <p:cNvSpPr txBox="1"/>
          <p:nvPr/>
        </p:nvSpPr>
        <p:spPr>
          <a:xfrm>
            <a:off x="4637316" y="397783"/>
            <a:ext cx="45397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(b)</a:t>
            </a:r>
            <a:endParaRPr kumimoji="1"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文字方塊 11">
            <a:extLst>
              <a:ext uri="{FF2B5EF4-FFF2-40B4-BE49-F238E27FC236}">
                <a16:creationId xmlns:a16="http://schemas.microsoft.com/office/drawing/2014/main" id="{1BBD58BE-9C58-1E42-B231-EE0C6830EC6E}"/>
              </a:ext>
            </a:extLst>
          </p:cNvPr>
          <p:cNvSpPr txBox="1"/>
          <p:nvPr/>
        </p:nvSpPr>
        <p:spPr>
          <a:xfrm>
            <a:off x="4637316" y="2162050"/>
            <a:ext cx="4411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(c)</a:t>
            </a:r>
            <a:endParaRPr kumimoji="1"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文字方塊 12">
            <a:extLst>
              <a:ext uri="{FF2B5EF4-FFF2-40B4-BE49-F238E27FC236}">
                <a16:creationId xmlns:a16="http://schemas.microsoft.com/office/drawing/2014/main" id="{124F4C08-3682-5940-BB65-8F107BF09D8F}"/>
              </a:ext>
            </a:extLst>
          </p:cNvPr>
          <p:cNvSpPr txBox="1"/>
          <p:nvPr/>
        </p:nvSpPr>
        <p:spPr>
          <a:xfrm>
            <a:off x="10507405" y="978043"/>
            <a:ext cx="47000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TW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PS</a:t>
            </a:r>
            <a:endParaRPr kumimoji="1" lang="zh-TW" altLang="en-US" sz="2000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文字方塊 13">
            <a:extLst>
              <a:ext uri="{FF2B5EF4-FFF2-40B4-BE49-F238E27FC236}">
                <a16:creationId xmlns:a16="http://schemas.microsoft.com/office/drawing/2014/main" id="{A08AEF2C-6A5A-5D44-A87C-C0F26B6BA94C}"/>
              </a:ext>
            </a:extLst>
          </p:cNvPr>
          <p:cNvSpPr txBox="1"/>
          <p:nvPr/>
        </p:nvSpPr>
        <p:spPr>
          <a:xfrm>
            <a:off x="10507405" y="1491543"/>
            <a:ext cx="57900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TW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P'S'</a:t>
            </a:r>
            <a:endParaRPr kumimoji="1" lang="zh-TW" altLang="en-US" sz="2000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文字方塊 14">
            <a:extLst>
              <a:ext uri="{FF2B5EF4-FFF2-40B4-BE49-F238E27FC236}">
                <a16:creationId xmlns:a16="http://schemas.microsoft.com/office/drawing/2014/main" id="{54180F1C-F276-F243-93A0-EE2625CFE1C4}"/>
              </a:ext>
            </a:extLst>
          </p:cNvPr>
          <p:cNvSpPr txBox="1"/>
          <p:nvPr/>
        </p:nvSpPr>
        <p:spPr>
          <a:xfrm>
            <a:off x="10507405" y="2005043"/>
            <a:ext cx="68800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TW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P''S''</a:t>
            </a:r>
            <a:endParaRPr kumimoji="1" lang="zh-TW" altLang="en-US" sz="2000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0669501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41F9066D-A37A-874A-A6E1-9915FF09DB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TW" dirty="0"/>
              <a:t>Analysis</a:t>
            </a:r>
            <a:endParaRPr kumimoji="1"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98C395C6-3EBC-4D47-9C22-52A1E36DD1C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1810204"/>
          </a:xfrm>
        </p:spPr>
        <p:txBody>
          <a:bodyPr/>
          <a:lstStyle/>
          <a:p>
            <a:r>
              <a:rPr kumimoji="1"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Time : </a:t>
            </a:r>
            <a:r>
              <a:rPr kumimoji="1" lang="en-US" altLang="zh-TW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</a:t>
            </a:r>
            <a:r>
              <a:rPr kumimoji="1"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kumimoji="1" lang="en-US" altLang="zh-TW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min{n, M} r log n/r + n + M log n</a:t>
            </a:r>
            <a:r>
              <a:rPr kumimoji="1"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r>
              <a:rPr kumimoji="1"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Space : </a:t>
            </a:r>
            <a:r>
              <a:rPr kumimoji="1" lang="en-US" altLang="zh-TW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</a:t>
            </a:r>
            <a:r>
              <a:rPr kumimoji="1"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kumimoji="1" lang="en-US" altLang="zh-TW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</a:t>
            </a:r>
            <a:r>
              <a:rPr kumimoji="1"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</a:t>
            </a:r>
          </a:p>
          <a:p>
            <a:r>
              <a:rPr kumimoji="1" lang="en-US" altLang="zh-TW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kumimoji="1"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|</a:t>
            </a:r>
            <a:r>
              <a:rPr kumimoji="1" lang="en-US" altLang="zh-TW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kumimoji="1"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|,</a:t>
            </a:r>
            <a:r>
              <a:rPr kumimoji="1" lang="en-US" altLang="zh-TW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 </a:t>
            </a:r>
            <a:r>
              <a:rPr kumimoji="1"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= LSS(</a:t>
            </a:r>
            <a:r>
              <a:rPr kumimoji="1" lang="en-US" altLang="zh-TW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kumimoji="1"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), </a:t>
            </a:r>
            <a:r>
              <a:rPr kumimoji="1" lang="en-US" altLang="zh-TW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 </a:t>
            </a:r>
            <a:r>
              <a:rPr kumimoji="1"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= |𝞛(</a:t>
            </a:r>
            <a:r>
              <a:rPr kumimoji="1" lang="en-US" altLang="zh-TW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kumimoji="1"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)|</a:t>
            </a:r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2855F635-A04F-7549-AA66-83765189E2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AB94F7-1CE9-3B41-8002-0A2CB67662D8}" type="slidenum">
              <a:rPr kumimoji="1" lang="zh-TW" altLang="en-US" smtClean="0"/>
              <a:t>12</a:t>
            </a:fld>
            <a:endParaRPr kumimoji="1" lang="zh-TW" altLang="en-US"/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B0B7FDF5-19E2-D44E-A1BE-0CE27A548C5A}"/>
              </a:ext>
            </a:extLst>
          </p:cNvPr>
          <p:cNvSpPr/>
          <p:nvPr/>
        </p:nvSpPr>
        <p:spPr>
          <a:xfrm>
            <a:off x="2526754" y="4151766"/>
            <a:ext cx="7138493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kumimoji="1" lang="en-US" altLang="zh-TW" sz="36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</a:t>
            </a:r>
            <a:r>
              <a:rPr kumimoji="1" lang="en-US" altLang="zh-TW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kumimoji="1" lang="en-US" altLang="zh-TW" sz="36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min{n, M} r log n/r + n + M log n</a:t>
            </a:r>
            <a:r>
              <a:rPr kumimoji="1" lang="en-US" altLang="zh-TW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C2FD364C-E77B-8148-B34F-37AB41D2FCED}"/>
              </a:ext>
            </a:extLst>
          </p:cNvPr>
          <p:cNvSpPr/>
          <p:nvPr/>
        </p:nvSpPr>
        <p:spPr>
          <a:xfrm>
            <a:off x="7880272" y="3846968"/>
            <a:ext cx="1460656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sz="2800" dirty="0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Insertion</a:t>
            </a:r>
            <a:endParaRPr lang="en-US" altLang="zh-TW" sz="2800" dirty="0">
              <a:solidFill>
                <a:schemeClr val="accent2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文字方塊 8">
            <a:extLst>
              <a:ext uri="{FF2B5EF4-FFF2-40B4-BE49-F238E27FC236}">
                <a16:creationId xmlns:a16="http://schemas.microsoft.com/office/drawing/2014/main" id="{76F59AAD-53A4-8F46-8799-27FFBC8A1C8D}"/>
              </a:ext>
            </a:extLst>
          </p:cNvPr>
          <p:cNvSpPr txBox="1"/>
          <p:nvPr/>
        </p:nvSpPr>
        <p:spPr>
          <a:xfrm>
            <a:off x="3646674" y="3846968"/>
            <a:ext cx="268214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800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Batched Deletion</a:t>
            </a:r>
          </a:p>
        </p:txBody>
      </p:sp>
      <p:cxnSp>
        <p:nvCxnSpPr>
          <p:cNvPr id="10" name="直線接點 9">
            <a:extLst>
              <a:ext uri="{FF2B5EF4-FFF2-40B4-BE49-F238E27FC236}">
                <a16:creationId xmlns:a16="http://schemas.microsoft.com/office/drawing/2014/main" id="{70512A3C-C375-DD4A-858E-EAB383D6D089}"/>
              </a:ext>
            </a:extLst>
          </p:cNvPr>
          <p:cNvCxnSpPr>
            <a:cxnSpLocks/>
          </p:cNvCxnSpPr>
          <p:nvPr/>
        </p:nvCxnSpPr>
        <p:spPr>
          <a:xfrm>
            <a:off x="7021290" y="4808982"/>
            <a:ext cx="533398" cy="0"/>
          </a:xfrm>
          <a:prstGeom prst="line">
            <a:avLst/>
          </a:prstGeom>
          <a:ln w="38100">
            <a:solidFill>
              <a:schemeClr val="accent6"/>
            </a:solidFill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11" name="直線接點 10">
            <a:extLst>
              <a:ext uri="{FF2B5EF4-FFF2-40B4-BE49-F238E27FC236}">
                <a16:creationId xmlns:a16="http://schemas.microsoft.com/office/drawing/2014/main" id="{E8E38C8B-8971-2F4D-93F7-EC3D5E21BE95}"/>
              </a:ext>
            </a:extLst>
          </p:cNvPr>
          <p:cNvCxnSpPr>
            <a:cxnSpLocks/>
          </p:cNvCxnSpPr>
          <p:nvPr/>
        </p:nvCxnSpPr>
        <p:spPr>
          <a:xfrm>
            <a:off x="7923533" y="4808982"/>
            <a:ext cx="404038" cy="0"/>
          </a:xfrm>
          <a:prstGeom prst="line">
            <a:avLst/>
          </a:prstGeom>
          <a:ln w="38100">
            <a:solidFill>
              <a:schemeClr val="accent2"/>
            </a:solidFill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12" name="矩形 11">
            <a:extLst>
              <a:ext uri="{FF2B5EF4-FFF2-40B4-BE49-F238E27FC236}">
                <a16:creationId xmlns:a16="http://schemas.microsoft.com/office/drawing/2014/main" id="{7821D7A4-12AF-2341-9A04-0C1D0333C7A9}"/>
              </a:ext>
            </a:extLst>
          </p:cNvPr>
          <p:cNvSpPr/>
          <p:nvPr/>
        </p:nvSpPr>
        <p:spPr>
          <a:xfrm>
            <a:off x="6923315" y="3846968"/>
            <a:ext cx="776751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sz="2800" dirty="0">
                <a:solidFill>
                  <a:schemeClr val="accent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Test</a:t>
            </a:r>
            <a:endParaRPr lang="en-US" altLang="zh-TW" sz="2800" dirty="0">
              <a:solidFill>
                <a:schemeClr val="accent6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15" name="直線接點 14">
            <a:extLst>
              <a:ext uri="{FF2B5EF4-FFF2-40B4-BE49-F238E27FC236}">
                <a16:creationId xmlns:a16="http://schemas.microsoft.com/office/drawing/2014/main" id="{B8137A23-55F7-994E-91A2-E369ADBA60E8}"/>
              </a:ext>
            </a:extLst>
          </p:cNvPr>
          <p:cNvCxnSpPr>
            <a:cxnSpLocks/>
          </p:cNvCxnSpPr>
          <p:nvPr/>
        </p:nvCxnSpPr>
        <p:spPr>
          <a:xfrm>
            <a:off x="8446047" y="4808982"/>
            <a:ext cx="894881" cy="0"/>
          </a:xfrm>
          <a:prstGeom prst="line">
            <a:avLst/>
          </a:prstGeom>
          <a:ln w="38100">
            <a:solidFill>
              <a:schemeClr val="accent2"/>
            </a:solidFill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18" name="直線接點 17">
            <a:extLst>
              <a:ext uri="{FF2B5EF4-FFF2-40B4-BE49-F238E27FC236}">
                <a16:creationId xmlns:a16="http://schemas.microsoft.com/office/drawing/2014/main" id="{BE5F2A77-1033-A641-A3EB-4BECC3D765DF}"/>
              </a:ext>
            </a:extLst>
          </p:cNvPr>
          <p:cNvCxnSpPr>
            <a:cxnSpLocks/>
          </p:cNvCxnSpPr>
          <p:nvPr/>
        </p:nvCxnSpPr>
        <p:spPr>
          <a:xfrm>
            <a:off x="3102430" y="4817364"/>
            <a:ext cx="1796142" cy="0"/>
          </a:xfrm>
          <a:prstGeom prst="line">
            <a:avLst/>
          </a:prstGeom>
          <a:ln w="3810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19" name="直線接點 18">
            <a:extLst>
              <a:ext uri="{FF2B5EF4-FFF2-40B4-BE49-F238E27FC236}">
                <a16:creationId xmlns:a16="http://schemas.microsoft.com/office/drawing/2014/main" id="{0BB680C1-6D85-104F-BB96-28FCE3EEE308}"/>
              </a:ext>
            </a:extLst>
          </p:cNvPr>
          <p:cNvCxnSpPr>
            <a:cxnSpLocks/>
          </p:cNvCxnSpPr>
          <p:nvPr/>
        </p:nvCxnSpPr>
        <p:spPr>
          <a:xfrm>
            <a:off x="5094514" y="4817364"/>
            <a:ext cx="1534886" cy="0"/>
          </a:xfrm>
          <a:prstGeom prst="line">
            <a:avLst/>
          </a:prstGeom>
          <a:ln w="3810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2331244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41F9066D-A37A-874A-A6E1-9915FF09DB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94781" y="2766219"/>
            <a:ext cx="6002438" cy="1325563"/>
          </a:xfrm>
        </p:spPr>
        <p:txBody>
          <a:bodyPr/>
          <a:lstStyle/>
          <a:p>
            <a:pPr algn="ctr"/>
            <a:r>
              <a:rPr kumimoji="1" lang="en-US" altLang="zh-TW" dirty="0"/>
              <a:t>Thank you for listening</a:t>
            </a:r>
            <a:endParaRPr kumimoji="1" lang="zh-TW" altLang="en-US" dirty="0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2855F635-A04F-7549-AA66-83765189E2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AB94F7-1CE9-3B41-8002-0A2CB67662D8}" type="slidenum">
              <a:rPr kumimoji="1" lang="zh-TW" altLang="en-US" smtClean="0"/>
              <a:t>13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72464655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41F9066D-A37A-874A-A6E1-9915FF09DB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TW" dirty="0"/>
              <a:t>Abstract</a:t>
            </a:r>
            <a:endParaRPr kumimoji="1"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98C395C6-3EBC-4D47-9C22-52A1E36DD1C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endParaRPr kumimoji="1"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2855F635-A04F-7549-AA66-83765189E2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AB94F7-1CE9-3B41-8002-0A2CB67662D8}" type="slidenum">
              <a:rPr kumimoji="1" lang="zh-TW" altLang="en-US" smtClean="0"/>
              <a:t>14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402301237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Tw Cen MT-Rockwell">
      <a:majorFont>
        <a:latin typeface="Tw Cen MT" panose="020B0602020104020603"/>
        <a:ea typeface=""/>
        <a:cs typeface=""/>
        <a:font script="Grek" typeface="Calibri"/>
        <a:font script="Cyrl" typeface="Calibri"/>
        <a:font script="Jpan" typeface="HGPｺﾞｼｯｸE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Rockwell" panose="02060603020205020403"/>
        <a:ea typeface=""/>
        <a:cs typeface=""/>
        <a:font script="Grek" typeface="Cambria"/>
        <a:font script="Cyrl" typeface="Cambria"/>
        <a:font script="Jpan" typeface="HG明朝B"/>
        <a:font script="Hang" typeface="바탕"/>
        <a:font script="Hans" typeface="方正姚体"/>
        <a:font script="Hant" typeface="標楷體"/>
        <a:font script="Arab" typeface="Times New Roman"/>
        <a:font script="Hebr" typeface="David"/>
        <a:font script="Thai" typeface="Jasmine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2257</TotalTime>
  <Words>693</Words>
  <Application>Microsoft Macintosh PowerPoint</Application>
  <PresentationFormat>寬螢幕</PresentationFormat>
  <Paragraphs>125</Paragraphs>
  <Slides>15</Slides>
  <Notes>0</Notes>
  <HiddenSlides>0</HiddenSlides>
  <MMClips>0</MMClips>
  <ScaleCrop>false</ScaleCrop>
  <HeadingPairs>
    <vt:vector size="6" baseType="variant">
      <vt:variant>
        <vt:lpstr>使用字型</vt:lpstr>
      </vt:variant>
      <vt:variant>
        <vt:i4>4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15</vt:i4>
      </vt:variant>
    </vt:vector>
  </HeadingPairs>
  <TitlesOfParts>
    <vt:vector size="20" baseType="lpstr">
      <vt:lpstr>Arial</vt:lpstr>
      <vt:lpstr>Calibri</vt:lpstr>
      <vt:lpstr>Rockwell</vt:lpstr>
      <vt:lpstr>Times New Roman</vt:lpstr>
      <vt:lpstr>Office 佈景主題</vt:lpstr>
      <vt:lpstr>Longest Square Subsequence Problem Revisited</vt:lpstr>
      <vt:lpstr>Abstract</vt:lpstr>
      <vt:lpstr>Small Longest Tandem Scattered Subsequences</vt:lpstr>
      <vt:lpstr>Abstract</vt:lpstr>
      <vt:lpstr>Outline</vt:lpstr>
      <vt:lpstr>Longest square subsequence (LSS) </vt:lpstr>
      <vt:lpstr>Dynamic programing</vt:lpstr>
      <vt:lpstr>LSS → LIS (1/5)</vt:lpstr>
      <vt:lpstr>LSS → LIS (2/5)</vt:lpstr>
      <vt:lpstr>LSS → LIS (3/5)</vt:lpstr>
      <vt:lpstr>LSS → LIS (4/5)</vt:lpstr>
      <vt:lpstr>LSS → LIS (5/5)</vt:lpstr>
      <vt:lpstr>Analysis</vt:lpstr>
      <vt:lpstr>Thank you for listening</vt:lpstr>
      <vt:lpstr>Abstract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An Improved Algorithm for The Longest Common Subsequence Problem</dc:title>
  <dc:creator>宗霖 呂</dc:creator>
  <cp:lastModifiedBy>宗霖 呂</cp:lastModifiedBy>
  <cp:revision>22</cp:revision>
  <dcterms:created xsi:type="dcterms:W3CDTF">2021-03-28T03:57:23Z</dcterms:created>
  <dcterms:modified xsi:type="dcterms:W3CDTF">2021-09-14T07:01:00Z</dcterms:modified>
</cp:coreProperties>
</file>