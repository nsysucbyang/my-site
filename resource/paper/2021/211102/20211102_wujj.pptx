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77" r:id="rId4"/>
    <p:sldId id="260" r:id="rId5"/>
    <p:sldId id="274" r:id="rId6"/>
    <p:sldId id="275" r:id="rId7"/>
    <p:sldId id="279" r:id="rId8"/>
    <p:sldId id="304" r:id="rId9"/>
    <p:sldId id="327" r:id="rId10"/>
    <p:sldId id="301" r:id="rId11"/>
    <p:sldId id="283" r:id="rId12"/>
    <p:sldId id="284" r:id="rId13"/>
    <p:sldId id="285" r:id="rId14"/>
    <p:sldId id="287" r:id="rId15"/>
    <p:sldId id="309" r:id="rId16"/>
    <p:sldId id="289" r:id="rId17"/>
    <p:sldId id="291" r:id="rId18"/>
    <p:sldId id="292" r:id="rId19"/>
    <p:sldId id="293" r:id="rId20"/>
    <p:sldId id="295" r:id="rId21"/>
    <p:sldId id="328" r:id="rId22"/>
    <p:sldId id="267" r:id="rId23"/>
    <p:sldId id="322" r:id="rId24"/>
    <p:sldId id="329" r:id="rId25"/>
    <p:sldId id="324" r:id="rId26"/>
    <p:sldId id="297" r:id="rId27"/>
    <p:sldId id="299" r:id="rId28"/>
    <p:sldId id="326" r:id="rId29"/>
    <p:sldId id="268" r:id="rId30"/>
    <p:sldId id="259" r:id="rId31"/>
    <p:sldId id="269" r:id="rId32"/>
    <p:sldId id="302" r:id="rId33"/>
    <p:sldId id="271" r:id="rId34"/>
    <p:sldId id="272" r:id="rId35"/>
    <p:sldId id="273" r:id="rId36"/>
    <p:sldId id="300" r:id="rId37"/>
    <p:sldId id="281" r:id="rId38"/>
    <p:sldId id="280" r:id="rId39"/>
    <p:sldId id="303" r:id="rId4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4515" autoAdjust="0"/>
  </p:normalViewPr>
  <p:slideViewPr>
    <p:cSldViewPr snapToGrid="0">
      <p:cViewPr varScale="1">
        <p:scale>
          <a:sx n="96" d="100"/>
          <a:sy n="96" d="100"/>
        </p:scale>
        <p:origin x="109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7413D9-0E3D-4005-9DFF-174A3670CAEB}" type="datetimeFigureOut">
              <a:rPr lang="zh-TW" altLang="en-US" smtClean="0"/>
              <a:t>2021/11/2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30D7B2-D2EC-4B96-8B99-F687D72744F3}" type="slidenum">
              <a:rPr lang="zh-TW" altLang="en-US" smtClean="0"/>
              <a:t>‹#›</a:t>
            </a:fld>
            <a:endParaRPr lang="zh-TW" altLang="en-US"/>
          </a:p>
        </p:txBody>
      </p:sp>
    </p:spTree>
    <p:extLst>
      <p:ext uri="{BB962C8B-B14F-4D97-AF65-F5344CB8AC3E}">
        <p14:creationId xmlns:p14="http://schemas.microsoft.com/office/powerpoint/2010/main" val="3591749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車  無薛琦 鵬竟</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a:t>
            </a:fld>
            <a:endParaRPr lang="zh-TW" altLang="en-US"/>
          </a:p>
        </p:txBody>
      </p:sp>
    </p:spTree>
    <p:extLst>
      <p:ext uri="{BB962C8B-B14F-4D97-AF65-F5344CB8AC3E}">
        <p14:creationId xmlns:p14="http://schemas.microsoft.com/office/powerpoint/2010/main" val="3621949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Search for non-dominated points(</a:t>
            </a:r>
            <a:r>
              <a:rPr lang="zh-TW" altLang="en-US" dirty="0"/>
              <a:t>找出這些 則</a:t>
            </a:r>
            <a:r>
              <a:rPr lang="en-US" altLang="zh-TW" dirty="0"/>
              <a:t>all optimal)</a:t>
            </a:r>
          </a:p>
          <a:p>
            <a:r>
              <a:rPr lang="zh-TW" altLang="en-US" dirty="0"/>
              <a:t> </a:t>
            </a:r>
            <a:r>
              <a:rPr lang="en-US" altLang="zh-TW" dirty="0"/>
              <a:t>3</a:t>
            </a:r>
            <a:r>
              <a:rPr lang="zh-TW" altLang="en-US" dirty="0"/>
              <a:t> </a:t>
            </a:r>
            <a:r>
              <a:rPr lang="en-US" altLang="zh-TW" dirty="0"/>
              <a:t>5</a:t>
            </a:r>
            <a:r>
              <a:rPr lang="zh-TW" altLang="en-US" dirty="0"/>
              <a:t> </a:t>
            </a:r>
            <a:r>
              <a:rPr lang="en-US" altLang="zh-TW" dirty="0"/>
              <a:t>6</a:t>
            </a:r>
            <a:r>
              <a:rPr lang="zh-TW" altLang="en-US" dirty="0"/>
              <a:t> 不能被</a:t>
            </a:r>
            <a:r>
              <a:rPr lang="en-US" altLang="zh-TW" dirty="0"/>
              <a:t>dominate </a:t>
            </a:r>
            <a:r>
              <a:rPr lang="zh-TW" altLang="en-US" dirty="0"/>
              <a:t>。</a:t>
            </a:r>
            <a:r>
              <a:rPr lang="en-US" altLang="zh-TW" dirty="0"/>
              <a:t>3</a:t>
            </a:r>
            <a:r>
              <a:rPr lang="zh-TW" altLang="en-US" dirty="0"/>
              <a:t>沒</a:t>
            </a:r>
            <a:r>
              <a:rPr lang="en-US" altLang="zh-TW" dirty="0"/>
              <a:t>better5 </a:t>
            </a:r>
            <a:r>
              <a:rPr lang="zh-TW" altLang="en-US" dirty="0"/>
              <a:t>反之亦然 不是每個</a:t>
            </a:r>
            <a:r>
              <a:rPr lang="en-US" altLang="zh-TW" dirty="0"/>
              <a:t>pair</a:t>
            </a:r>
            <a:r>
              <a:rPr lang="zh-TW" altLang="en-US" dirty="0"/>
              <a:t>都成立</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3</a:t>
            </a:fld>
            <a:endParaRPr lang="zh-TW" altLang="en-US"/>
          </a:p>
        </p:txBody>
      </p:sp>
    </p:spTree>
    <p:extLst>
      <p:ext uri="{BB962C8B-B14F-4D97-AF65-F5344CB8AC3E}">
        <p14:creationId xmlns:p14="http://schemas.microsoft.com/office/powerpoint/2010/main" val="2235142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Convex </a:t>
            </a:r>
            <a:r>
              <a:rPr lang="zh-TW" altLang="en-US" dirty="0"/>
              <a:t>成立只要更換</a:t>
            </a:r>
            <a:r>
              <a:rPr lang="en-US" altLang="zh-TW" dirty="0"/>
              <a:t>w</a:t>
            </a:r>
            <a:r>
              <a:rPr lang="zh-TW" altLang="en-US" dirty="0"/>
              <a:t>的比值就可以找到不同的點。</a:t>
            </a:r>
            <a:r>
              <a:rPr lang="en-US" altLang="zh-TW" dirty="0" err="1"/>
              <a:t>pereto</a:t>
            </a:r>
            <a:r>
              <a:rPr lang="en-US" altLang="zh-TW" dirty="0"/>
              <a:t> optimal  front</a:t>
            </a:r>
          </a:p>
          <a:p>
            <a:r>
              <a:rPr lang="en-US" altLang="zh-TW" dirty="0"/>
              <a:t>Not convex</a:t>
            </a:r>
            <a:r>
              <a:rPr lang="zh-TW" altLang="en-US" dirty="0"/>
              <a:t>就不行 </a:t>
            </a:r>
            <a:r>
              <a:rPr lang="en-US" altLang="zh-TW" dirty="0"/>
              <a:t>BC</a:t>
            </a:r>
            <a:r>
              <a:rPr lang="zh-TW" altLang="en-US" dirty="0"/>
              <a:t>段就找不到 所以要用</a:t>
            </a:r>
            <a:r>
              <a:rPr lang="el-GR" altLang="zh-TW" dirty="0"/>
              <a:t>ε</a:t>
            </a:r>
            <a:endParaRPr lang="en-US" altLang="zh-TW" dirty="0"/>
          </a:p>
          <a:p>
            <a:r>
              <a:rPr lang="zh-TW" altLang="en-US" dirty="0"/>
              <a:t>只改變了目標的權重，沒有施加額外的約束，只要能輕鬆解決相應的單目標優化問題，子問題就很容易解決。</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5</a:t>
            </a:fld>
            <a:endParaRPr lang="zh-TW" altLang="en-US"/>
          </a:p>
        </p:txBody>
      </p:sp>
    </p:spTree>
    <p:extLst>
      <p:ext uri="{BB962C8B-B14F-4D97-AF65-F5344CB8AC3E}">
        <p14:creationId xmlns:p14="http://schemas.microsoft.com/office/powerpoint/2010/main" val="2061838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由於這兩個目標是相互衝突的，因此沒有同時優化它們的方法。</a:t>
            </a:r>
            <a:endParaRPr lang="en-US" altLang="zh-TW" dirty="0"/>
          </a:p>
          <a:p>
            <a:r>
              <a:rPr lang="zh-TW" altLang="en-US" dirty="0"/>
              <a:t>將雙目標優化問題轉化為單目標問題，並形成所謂的 </a:t>
            </a:r>
            <a:r>
              <a:rPr lang="en-US" altLang="zh-TW" dirty="0"/>
              <a:t>ε-</a:t>
            </a:r>
            <a:r>
              <a:rPr lang="zh-TW" altLang="en-US" dirty="0"/>
              <a:t>約束問題。</a:t>
            </a:r>
            <a:endParaRPr lang="en-US" altLang="zh-TW" dirty="0"/>
          </a:p>
          <a:p>
            <a:r>
              <a:rPr lang="zh-TW" altLang="en-US" dirty="0"/>
              <a:t>使一個目標最小化為一個由參數 </a:t>
            </a:r>
            <a:r>
              <a:rPr lang="en-US" altLang="zh-TW" dirty="0"/>
              <a:t>ε </a:t>
            </a:r>
            <a:r>
              <a:rPr lang="zh-TW" altLang="en-US" dirty="0"/>
              <a:t>從上方界定的約束 約束每一個點，我們可以獲得問題的所有帕累托最優點。</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6</a:t>
            </a:fld>
            <a:endParaRPr lang="zh-TW" altLang="en-US"/>
          </a:p>
        </p:txBody>
      </p:sp>
    </p:spTree>
    <p:extLst>
      <p:ext uri="{BB962C8B-B14F-4D97-AF65-F5344CB8AC3E}">
        <p14:creationId xmlns:p14="http://schemas.microsoft.com/office/powerpoint/2010/main" val="2416936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更好地固定</a:t>
            </a:r>
            <a:r>
              <a:rPr lang="en-US" altLang="zh-TW" dirty="0"/>
              <a:t>ε</a:t>
            </a:r>
            <a:r>
              <a:rPr lang="zh-TW" altLang="en-US" dirty="0"/>
              <a:t>的區間，</a:t>
            </a:r>
            <a:br>
              <a:rPr lang="en-US" altLang="zh-TW" dirty="0"/>
            </a:br>
            <a:r>
              <a:rPr lang="zh-TW" altLang="en-US" dirty="0"/>
              <a:t>段 </a:t>
            </a:r>
            <a:r>
              <a:rPr lang="en-US" altLang="zh-TW" dirty="0"/>
              <a:t>II </a:t>
            </a:r>
            <a:r>
              <a:rPr lang="zh-TW" altLang="en-US" dirty="0"/>
              <a:t>包含所有帕累托最優點。換句話說，這一部分是我們唯一需要考慮的部分。</a:t>
            </a:r>
            <a:endParaRPr lang="en-US" altLang="zh-TW" dirty="0"/>
          </a:p>
          <a:p>
            <a:r>
              <a:rPr lang="zh-TW" altLang="en-US" dirty="0"/>
              <a:t>特定情況（時間表），其中第一個作業在足夠晚的時間處理，以便所有其他作業可以在其前一個作業處理完畢後立即處理，沒有任何延遲。 這樣，機器在整個加工過程中不會閒置或經歷任何關機操作。 </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7</a:t>
            </a:fld>
            <a:endParaRPr lang="zh-TW" altLang="en-US"/>
          </a:p>
        </p:txBody>
      </p:sp>
    </p:spTree>
    <p:extLst>
      <p:ext uri="{BB962C8B-B14F-4D97-AF65-F5344CB8AC3E}">
        <p14:creationId xmlns:p14="http://schemas.microsoft.com/office/powerpoint/2010/main" val="3757007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推持有效組中的</a:t>
            </a:r>
            <a:r>
              <a:rPr lang="en-US" altLang="zh-TW" dirty="0"/>
              <a:t>machine working time </a:t>
            </a:r>
            <a:r>
              <a:rPr lang="zh-TW" altLang="en-US" dirty="0"/>
              <a:t>可能會讓總效能降低</a:t>
            </a:r>
            <a:endParaRPr lang="en-US" altLang="zh-TW" dirty="0"/>
          </a:p>
          <a:p>
            <a:r>
              <a:rPr lang="zh-TW" altLang="en-US" dirty="0"/>
              <a:t>前面的</a:t>
            </a:r>
            <a:r>
              <a:rPr lang="en-US" altLang="zh-TW" dirty="0"/>
              <a:t>&gt;= machine is shut down, </a:t>
            </a:r>
            <a:r>
              <a:rPr lang="zh-TW" altLang="en-US" dirty="0"/>
              <a:t>後面</a:t>
            </a:r>
            <a:r>
              <a:rPr lang="en-US" altLang="zh-TW" dirty="0"/>
              <a:t>&lt;</a:t>
            </a:r>
            <a:r>
              <a:rPr lang="zh-TW" altLang="en-US" dirty="0"/>
              <a:t> </a:t>
            </a:r>
            <a:r>
              <a:rPr lang="en-US" altLang="zh-TW" dirty="0"/>
              <a:t>is idle cost E</a:t>
            </a:r>
            <a:r>
              <a:rPr lang="zh-TW" altLang="en-US" dirty="0"/>
              <a:t>，</a:t>
            </a:r>
            <a:endParaRPr lang="en-US" altLang="zh-TW" dirty="0"/>
          </a:p>
          <a:p>
            <a:r>
              <a:rPr lang="zh-TW" altLang="en-US" dirty="0"/>
              <a:t>有效群，如果它滿足定義 </a:t>
            </a:r>
            <a:r>
              <a:rPr lang="en-US" altLang="zh-TW" dirty="0"/>
              <a:t>5 </a:t>
            </a:r>
            <a:r>
              <a:rPr lang="zh-TW" altLang="en-US" dirty="0"/>
              <a:t>的條件 </a:t>
            </a:r>
            <a:r>
              <a:rPr lang="en-US" altLang="zh-TW" dirty="0"/>
              <a:t>2</a:t>
            </a:r>
            <a:r>
              <a:rPr lang="zh-TW" altLang="en-US" dirty="0"/>
              <a:t>），我們就認為它是一個有效群。</a:t>
            </a:r>
            <a:endParaRPr lang="en-US" altLang="zh-TW" dirty="0"/>
          </a:p>
          <a:p>
            <a:pPr marL="0" indent="0">
              <a:buNone/>
            </a:pPr>
            <a:r>
              <a:rPr lang="zh-TW" altLang="en-US" dirty="0"/>
              <a:t>推遲 有效組中作業的開始時間將導致總能耗降低</a:t>
            </a:r>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10</a:t>
            </a:fld>
            <a:endParaRPr lang="zh-TW" altLang="en-US"/>
          </a:p>
        </p:txBody>
      </p:sp>
    </p:spTree>
    <p:extLst>
      <p:ext uri="{BB962C8B-B14F-4D97-AF65-F5344CB8AC3E}">
        <p14:creationId xmlns:p14="http://schemas.microsoft.com/office/powerpoint/2010/main" val="4137153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在帕累托最優點（</a:t>
            </a:r>
            <a:r>
              <a:rPr lang="en-US" altLang="zh-TW" dirty="0"/>
              <a:t>E0</a:t>
            </a:r>
            <a:r>
              <a:rPr lang="zh-TW" altLang="en-US" dirty="0"/>
              <a:t>，</a:t>
            </a:r>
            <a:r>
              <a:rPr lang="en-US" altLang="zh-TW" dirty="0"/>
              <a:t>D0</a:t>
            </a:r>
            <a:r>
              <a:rPr lang="zh-TW" altLang="en-US" dirty="0"/>
              <a:t>）對應的解中，在任何有效組中都必須存在一個具有最大延遲</a:t>
            </a:r>
            <a:r>
              <a:rPr lang="en-US" altLang="zh-TW" dirty="0"/>
              <a:t>D0</a:t>
            </a:r>
            <a:r>
              <a:rPr lang="zh-TW" altLang="en-US" dirty="0"/>
              <a:t>的作業。</a:t>
            </a:r>
            <a:endParaRPr lang="en-US" altLang="zh-TW" dirty="0"/>
          </a:p>
          <a:p>
            <a:r>
              <a:rPr lang="zh-TW" altLang="en-US" b="0" i="0" dirty="0">
                <a:solidFill>
                  <a:srgbClr val="2E2E2E"/>
                </a:solidFill>
                <a:effectLst/>
                <a:latin typeface="NexusSerif"/>
              </a:rPr>
              <a:t>則推遲前最大延誤時間為 </a:t>
            </a:r>
            <a:r>
              <a:rPr lang="en-US" altLang="zh-TW" b="0" i="0" dirty="0">
                <a:solidFill>
                  <a:srgbClr val="2E2E2E"/>
                </a:solidFill>
                <a:effectLst/>
                <a:latin typeface="NexusSerif"/>
              </a:rPr>
              <a:t>D0 </a:t>
            </a:r>
            <a:r>
              <a:rPr lang="zh-TW" altLang="en-US" b="0" i="0" dirty="0">
                <a:solidFill>
                  <a:srgbClr val="2E2E2E"/>
                </a:solidFill>
                <a:effectLst/>
                <a:latin typeface="NexusSerif"/>
              </a:rPr>
              <a:t>的作業的延誤時間增加 </a:t>
            </a:r>
            <a:r>
              <a:rPr lang="en-US" altLang="zh-TW" b="0" i="0" dirty="0">
                <a:solidFill>
                  <a:srgbClr val="2E2E2E"/>
                </a:solidFill>
                <a:effectLst/>
                <a:latin typeface="NexusSerif"/>
              </a:rPr>
              <a:t>θ </a:t>
            </a:r>
            <a:r>
              <a:rPr lang="zh-TW" altLang="en-US" b="0" i="0" dirty="0">
                <a:solidFill>
                  <a:srgbClr val="2E2E2E"/>
                </a:solidFill>
                <a:effectLst/>
                <a:latin typeface="NexusSerif"/>
              </a:rPr>
              <a:t>時間單位</a:t>
            </a:r>
            <a:endParaRPr lang="en-US" altLang="zh-TW"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11</a:t>
            </a:fld>
            <a:endParaRPr lang="zh-TW" altLang="en-US"/>
          </a:p>
        </p:txBody>
      </p:sp>
    </p:spTree>
    <p:extLst>
      <p:ext uri="{BB962C8B-B14F-4D97-AF65-F5344CB8AC3E}">
        <p14:creationId xmlns:p14="http://schemas.microsoft.com/office/powerpoint/2010/main" val="21147643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若存在無限個</a:t>
            </a:r>
            <a:r>
              <a:rPr lang="en-US" altLang="zh-TW" dirty="0"/>
              <a:t>optimal points</a:t>
            </a:r>
            <a:r>
              <a:rPr lang="zh-TW" altLang="en-US" dirty="0"/>
              <a:t>，是不可能全部獲得的，所以當限制</a:t>
            </a:r>
            <a:r>
              <a:rPr lang="en-US" altLang="zh-TW" dirty="0"/>
              <a:t>ED </a:t>
            </a:r>
            <a:r>
              <a:rPr lang="zh-TW" altLang="en-US" dirty="0"/>
              <a:t>都為整數時</a:t>
            </a:r>
            <a:endParaRPr lang="en-US" altLang="zh-TW" dirty="0"/>
          </a:p>
          <a:p>
            <a:r>
              <a:rPr lang="zh-TW" altLang="en-US" dirty="0"/>
              <a:t>第三，最佳整數值和最佳實數值之間的差異可以通過對輸入數據進行縮放來任意減小。</a:t>
            </a:r>
            <a:endParaRPr lang="en-US" altLang="zh-TW" dirty="0"/>
          </a:p>
          <a:p>
            <a:r>
              <a:rPr lang="zh-TW" altLang="en-US" dirty="0"/>
              <a:t>我們以最大延遲為主要目標，並使用 </a:t>
            </a:r>
            <a:r>
              <a:rPr lang="en-US" altLang="zh-TW" dirty="0"/>
              <a:t>ε </a:t>
            </a:r>
            <a:r>
              <a:rPr lang="zh-TW" altLang="en-US" dirty="0"/>
              <a:t>約束來製定能耗，因為這樣，稍後將介紹的局部搜索和預處理技術可以更容易應用，</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12</a:t>
            </a:fld>
            <a:endParaRPr lang="zh-TW" altLang="en-US"/>
          </a:p>
        </p:txBody>
      </p:sp>
    </p:spTree>
    <p:extLst>
      <p:ext uri="{BB962C8B-B14F-4D97-AF65-F5344CB8AC3E}">
        <p14:creationId xmlns:p14="http://schemas.microsoft.com/office/powerpoint/2010/main" val="1292686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A1, we can obtain the exact integer Pareto front of the problem.</a:t>
            </a:r>
          </a:p>
          <a:p>
            <a:r>
              <a:rPr lang="zh-TW" altLang="en-US" dirty="0"/>
              <a:t>精確整數帕累托前沿。但單獨使用它，我們只能解決小規模的問題，其計算效率普遍較低。</a:t>
            </a:r>
            <a:endParaRPr lang="en-US" altLang="zh-TW" dirty="0"/>
          </a:p>
          <a:p>
            <a:r>
              <a:rPr lang="zh-TW" altLang="en-US" dirty="0"/>
              <a:t>考慮到問題的特殊性，我們提出了局部搜索、預處理技術和有效不等式來增強基本的</a:t>
            </a:r>
            <a:r>
              <a:rPr lang="en-US" altLang="zh-TW" dirty="0"/>
              <a:t>ε - </a:t>
            </a:r>
            <a:r>
              <a:rPr lang="zh-TW" altLang="en-US" dirty="0"/>
              <a:t>約束方法，這將顯著提高其速度。</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13</a:t>
            </a:fld>
            <a:endParaRPr lang="zh-TW" altLang="en-US"/>
          </a:p>
        </p:txBody>
      </p:sp>
    </p:spTree>
    <p:extLst>
      <p:ext uri="{BB962C8B-B14F-4D97-AF65-F5344CB8AC3E}">
        <p14:creationId xmlns:p14="http://schemas.microsoft.com/office/powerpoint/2010/main" val="337429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有效組中所有作業的開始時間推遲一個時間單位。那麼我們就可以得到一個可行解</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14</a:t>
            </a:fld>
            <a:endParaRPr lang="zh-TW" altLang="en-US"/>
          </a:p>
        </p:txBody>
      </p:sp>
    </p:spTree>
    <p:extLst>
      <p:ext uri="{BB962C8B-B14F-4D97-AF65-F5344CB8AC3E}">
        <p14:creationId xmlns:p14="http://schemas.microsoft.com/office/powerpoint/2010/main" val="25475684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2E2E2E"/>
                </a:solidFill>
                <a:effectLst/>
                <a:latin typeface="NexusSerif"/>
              </a:rPr>
              <a:t>local search fails when there exists no effective group in the solution. </a:t>
            </a:r>
            <a:r>
              <a:rPr lang="zh-TW" altLang="en-US" b="0" i="0" dirty="0">
                <a:solidFill>
                  <a:srgbClr val="2E2E2E"/>
                </a:solidFill>
                <a:effectLst/>
                <a:latin typeface="NexusSerif"/>
              </a:rPr>
              <a:t>跟定理五很像</a:t>
            </a:r>
            <a:endParaRPr lang="en-US" altLang="zh-TW" b="0" i="0" dirty="0">
              <a:solidFill>
                <a:srgbClr val="2E2E2E"/>
              </a:solidFill>
              <a:effectLst/>
              <a:latin typeface="NexusSerif"/>
            </a:endParaRPr>
          </a:p>
          <a:p>
            <a:r>
              <a:rPr lang="zh-TW" altLang="en-US" dirty="0"/>
              <a:t>第一種局部搜索是將</a:t>
            </a:r>
            <a:r>
              <a:rPr lang="zh-TW" altLang="en-US" u="sng" dirty="0"/>
              <a:t>每個有效組中所有作業的開始時間推遲一個時間單位</a:t>
            </a:r>
            <a:endParaRPr lang="en-US" altLang="zh-TW" b="0" i="0" dirty="0">
              <a:solidFill>
                <a:srgbClr val="2E2E2E"/>
              </a:solidFill>
              <a:effectLst/>
              <a:latin typeface="NexusSerif"/>
            </a:endParaRP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16</a:t>
            </a:fld>
            <a:endParaRPr lang="zh-TW" altLang="en-US"/>
          </a:p>
        </p:txBody>
      </p:sp>
    </p:spTree>
    <p:extLst>
      <p:ext uri="{BB962C8B-B14F-4D97-AF65-F5344CB8AC3E}">
        <p14:creationId xmlns:p14="http://schemas.microsoft.com/office/powerpoint/2010/main" val="2226716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在阻塞組之前和之後都執行了關閉</a:t>
            </a:r>
            <a:r>
              <a:rPr lang="en-US" altLang="zh-TW" dirty="0"/>
              <a:t>-</a:t>
            </a:r>
            <a:r>
              <a:rPr lang="zh-TW" altLang="en-US" dirty="0"/>
              <a:t>開啟操作</a:t>
            </a:r>
            <a:endParaRPr lang="en-US" altLang="zh-TW" dirty="0"/>
          </a:p>
          <a:p>
            <a:r>
              <a:rPr lang="zh-TW" altLang="en-US" dirty="0"/>
              <a:t>滿足條件</a:t>
            </a:r>
            <a:r>
              <a:rPr lang="en-US" altLang="zh-TW" dirty="0"/>
              <a:t>2) </a:t>
            </a:r>
            <a:r>
              <a:rPr lang="zh-TW" altLang="en-US" dirty="0"/>
              <a:t>可視為</a:t>
            </a:r>
            <a:r>
              <a:rPr lang="en-US" altLang="zh-TW" dirty="0"/>
              <a:t>blocked group</a:t>
            </a:r>
            <a:r>
              <a:rPr lang="zh-TW" altLang="en-US" dirty="0"/>
              <a:t>。只有一個</a:t>
            </a:r>
            <a:r>
              <a:rPr lang="en-US" altLang="zh-TW" dirty="0"/>
              <a:t>group</a:t>
            </a:r>
            <a:r>
              <a:rPr lang="zh-TW" altLang="en-US" dirty="0"/>
              <a:t>的話 不算</a:t>
            </a:r>
            <a:r>
              <a:rPr lang="en-US" altLang="zh-TW" dirty="0"/>
              <a:t>effective or blocked </a:t>
            </a:r>
            <a:r>
              <a:rPr lang="zh-TW" altLang="en-US" dirty="0"/>
              <a:t>無須</a:t>
            </a:r>
            <a:r>
              <a:rPr lang="en-US" altLang="zh-TW" dirty="0"/>
              <a:t>local search</a:t>
            </a:r>
            <a:r>
              <a:rPr lang="zh-TW" altLang="en-US" dirty="0"/>
              <a:t>。在下文中，我們只考慮至少有兩個組的解決方案。</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17</a:t>
            </a:fld>
            <a:endParaRPr lang="zh-TW" altLang="en-US"/>
          </a:p>
        </p:txBody>
      </p:sp>
    </p:spTree>
    <p:extLst>
      <p:ext uri="{BB962C8B-B14F-4D97-AF65-F5344CB8AC3E}">
        <p14:creationId xmlns:p14="http://schemas.microsoft.com/office/powerpoint/2010/main" val="908976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 </a:t>
            </a:r>
            <a:r>
              <a:rPr lang="zh-TW" altLang="en-US" dirty="0"/>
              <a:t>和 </a:t>
            </a:r>
            <a:r>
              <a:rPr lang="en-US" altLang="zh-TW" dirty="0"/>
              <a:t>E* </a:t>
            </a:r>
            <a:r>
              <a:rPr lang="zh-TW" altLang="en-US" dirty="0"/>
              <a:t>會隨著迭代的進行而動態變化，</a:t>
            </a:r>
            <a:endParaRPr lang="en-US" altLang="zh-TW" dirty="0"/>
          </a:p>
          <a:p>
            <a:r>
              <a:rPr lang="en-US" altLang="zh-TW" dirty="0" err="1"/>
              <a:t>yk</a:t>
            </a:r>
            <a:r>
              <a:rPr lang="en-US" altLang="zh-TW" dirty="0"/>
              <a:t> </a:t>
            </a:r>
            <a:r>
              <a:rPr lang="zh-TW" altLang="en-US" dirty="0"/>
              <a:t>表示在第 </a:t>
            </a:r>
            <a:r>
              <a:rPr lang="en-US" altLang="zh-TW" dirty="0"/>
              <a:t>k </a:t>
            </a:r>
            <a:r>
              <a:rPr lang="zh-TW" altLang="en-US" dirty="0"/>
              <a:t>個作業和第 </a:t>
            </a:r>
            <a:r>
              <a:rPr lang="en-US" altLang="zh-TW" dirty="0"/>
              <a:t>(k + 1) </a:t>
            </a:r>
            <a:r>
              <a:rPr lang="zh-TW" altLang="en-US" dirty="0"/>
              <a:t>個作業之間是否應該存在關閉</a:t>
            </a:r>
            <a:r>
              <a:rPr lang="en-US" altLang="zh-TW" dirty="0"/>
              <a:t>-</a:t>
            </a:r>
            <a:r>
              <a:rPr lang="zh-TW" altLang="en-US" dirty="0"/>
              <a:t>開啟操作</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20</a:t>
            </a:fld>
            <a:endParaRPr lang="zh-TW" altLang="en-US"/>
          </a:p>
        </p:txBody>
      </p:sp>
    </p:spTree>
    <p:extLst>
      <p:ext uri="{BB962C8B-B14F-4D97-AF65-F5344CB8AC3E}">
        <p14:creationId xmlns:p14="http://schemas.microsoft.com/office/powerpoint/2010/main" val="16971139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a:r>
              <a:rPr lang="zh-TW" altLang="en-US" dirty="0">
                <a:solidFill>
                  <a:srgbClr val="000000"/>
                </a:solidFill>
                <a:effectLst/>
              </a:rPr>
              <a:t>請注意，</a:t>
            </a:r>
            <a:r>
              <a:rPr lang="en-US" altLang="zh-TW" dirty="0">
                <a:solidFill>
                  <a:srgbClr val="000000"/>
                </a:solidFill>
                <a:effectLst/>
              </a:rPr>
              <a:t>k1 </a:t>
            </a:r>
            <a:r>
              <a:rPr lang="zh-TW" altLang="en-US" dirty="0">
                <a:solidFill>
                  <a:srgbClr val="000000"/>
                </a:solidFill>
                <a:effectLst/>
              </a:rPr>
              <a:t>表示對應於 </a:t>
            </a:r>
            <a:r>
              <a:rPr lang="en-US" altLang="zh-TW" dirty="0">
                <a:solidFill>
                  <a:srgbClr val="000000"/>
                </a:solidFill>
                <a:effectLst/>
              </a:rPr>
              <a:t>(E, D) </a:t>
            </a:r>
            <a:r>
              <a:rPr lang="zh-TW" altLang="en-US" dirty="0">
                <a:solidFill>
                  <a:srgbClr val="000000"/>
                </a:solidFill>
                <a:effectLst/>
              </a:rPr>
              <a:t>的解中有效組的數量，而 </a:t>
            </a:r>
            <a:r>
              <a:rPr lang="en-US" altLang="zh-TW" dirty="0">
                <a:solidFill>
                  <a:srgbClr val="000000"/>
                </a:solidFill>
                <a:effectLst/>
              </a:rPr>
              <a:t>k2 </a:t>
            </a:r>
            <a:r>
              <a:rPr lang="zh-TW" altLang="en-US" dirty="0">
                <a:solidFill>
                  <a:srgbClr val="000000"/>
                </a:solidFill>
                <a:effectLst/>
              </a:rPr>
              <a:t>是所選阻塞組被推遲的時間單位。 </a:t>
            </a:r>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22</a:t>
            </a:fld>
            <a:endParaRPr lang="zh-TW" altLang="en-US"/>
          </a:p>
        </p:txBody>
      </p:sp>
    </p:spTree>
    <p:extLst>
      <p:ext uri="{BB962C8B-B14F-4D97-AF65-F5344CB8AC3E}">
        <p14:creationId xmlns:p14="http://schemas.microsoft.com/office/powerpoint/2010/main" val="24998407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生成的集群總數需要預先確定。在每次迭代中，距離最短的兩個簇合併為一個，直到簇數等於 </a:t>
            </a:r>
            <a:r>
              <a:rPr lang="en-US" altLang="zh-TW" dirty="0"/>
              <a:t>m</a:t>
            </a:r>
            <a:r>
              <a:rPr lang="zh-TW" altLang="en-US" dirty="0"/>
              <a:t>。</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26</a:t>
            </a:fld>
            <a:endParaRPr lang="zh-TW" altLang="en-US"/>
          </a:p>
        </p:txBody>
      </p:sp>
    </p:spTree>
    <p:extLst>
      <p:ext uri="{BB962C8B-B14F-4D97-AF65-F5344CB8AC3E}">
        <p14:creationId xmlns:p14="http://schemas.microsoft.com/office/powerpoint/2010/main" val="3519894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在每次迭代中，距離最短的兩個簇合併為一個，直到簇數等於 </a:t>
            </a:r>
            <a:r>
              <a:rPr lang="en-US" altLang="zh-TW" dirty="0"/>
              <a:t>m</a:t>
            </a:r>
            <a:r>
              <a:rPr lang="zh-TW" altLang="en-US" dirty="0"/>
              <a:t>。</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27</a:t>
            </a:fld>
            <a:endParaRPr lang="zh-TW" altLang="en-US"/>
          </a:p>
        </p:txBody>
      </p:sp>
    </p:spTree>
    <p:extLst>
      <p:ext uri="{BB962C8B-B14F-4D97-AF65-F5344CB8AC3E}">
        <p14:creationId xmlns:p14="http://schemas.microsoft.com/office/powerpoint/2010/main" val="1201546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請注意，使用較少的集群數量，我們將修復較少的二元變量的值，這會導致更精確的帕累托前沿，同時消耗更多的計算時間。</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28</a:t>
            </a:fld>
            <a:endParaRPr lang="zh-TW" altLang="en-US"/>
          </a:p>
        </p:txBody>
      </p:sp>
    </p:spTree>
    <p:extLst>
      <p:ext uri="{BB962C8B-B14F-4D97-AF65-F5344CB8AC3E}">
        <p14:creationId xmlns:p14="http://schemas.microsoft.com/office/powerpoint/2010/main" val="3669482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最多 </a:t>
            </a:r>
            <a:r>
              <a:rPr lang="en-US" altLang="zh-TW" dirty="0"/>
              <a:t>25 </a:t>
            </a:r>
            <a:r>
              <a:rPr lang="zh-TW" altLang="en-US" dirty="0"/>
              <a:t>個作業的問題可以在合理的時間內得到最佳解決。</a:t>
            </a:r>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33</a:t>
            </a:fld>
            <a:endParaRPr lang="zh-TW" altLang="en-US"/>
          </a:p>
        </p:txBody>
      </p:sp>
    </p:spTree>
    <p:extLst>
      <p:ext uri="{BB962C8B-B14F-4D97-AF65-F5344CB8AC3E}">
        <p14:creationId xmlns:p14="http://schemas.microsoft.com/office/powerpoint/2010/main" val="100748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它的解決方案性能幾乎不受作業聚類的影響。然而，在聚類過程的幫助下，我們的算法得到了極大的加速。</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34</a:t>
            </a:fld>
            <a:endParaRPr lang="zh-TW" altLang="en-US"/>
          </a:p>
        </p:txBody>
      </p:sp>
    </p:spTree>
    <p:extLst>
      <p:ext uri="{BB962C8B-B14F-4D97-AF65-F5344CB8AC3E}">
        <p14:creationId xmlns:p14="http://schemas.microsoft.com/office/powerpoint/2010/main" val="7089324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掉電機制的單機調度問題</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36</a:t>
            </a:fld>
            <a:endParaRPr lang="zh-TW" altLang="en-US"/>
          </a:p>
        </p:txBody>
      </p:sp>
    </p:spTree>
    <p:extLst>
      <p:ext uri="{BB962C8B-B14F-4D97-AF65-F5344CB8AC3E}">
        <p14:creationId xmlns:p14="http://schemas.microsoft.com/office/powerpoint/2010/main" val="12827617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E </a:t>
            </a:r>
            <a:r>
              <a:rPr lang="zh-TW" altLang="en-US" dirty="0"/>
              <a:t>代表閒置機器和所有關機操作所消耗的總能量 </a:t>
            </a:r>
            <a:r>
              <a:rPr lang="en-US" altLang="zh-TW" dirty="0"/>
              <a:t> </a:t>
            </a:r>
            <a:r>
              <a:rPr lang="zh-TW" altLang="en-US" dirty="0"/>
              <a:t>所以最差情況下</a:t>
            </a:r>
            <a:r>
              <a:rPr lang="en-US" altLang="zh-TW" dirty="0"/>
              <a:t>lower bound</a:t>
            </a:r>
            <a:r>
              <a:rPr lang="zh-TW" altLang="en-US" dirty="0"/>
              <a:t>為</a:t>
            </a:r>
            <a:r>
              <a:rPr lang="en-US" altLang="zh-TW" dirty="0"/>
              <a:t>0</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38</a:t>
            </a:fld>
            <a:endParaRPr lang="zh-TW" altLang="en-US"/>
          </a:p>
        </p:txBody>
      </p:sp>
    </p:spTree>
    <p:extLst>
      <p:ext uri="{BB962C8B-B14F-4D97-AF65-F5344CB8AC3E}">
        <p14:creationId xmlns:p14="http://schemas.microsoft.com/office/powerpoint/2010/main" val="738104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8DA2FE-38A9-43C3-AE3E-3D7DC028C2C4}"/>
              </a:ext>
            </a:extLst>
          </p:cNvPr>
          <p:cNvSpPr>
            <a:spLocks noGrp="1"/>
          </p:cNvSpPr>
          <p:nvPr>
            <p:ph type="ctrTitle" hasCustomPrompt="1"/>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lang="en-US" altLang="zh-TW" dirty="0" err="1"/>
              <a:t>Ti</a:t>
            </a:r>
            <a:br>
              <a:rPr lang="en-US" altLang="zh-TW" dirty="0"/>
            </a:br>
            <a:endParaRPr lang="zh-TW" altLang="en-US" dirty="0"/>
          </a:p>
        </p:txBody>
      </p:sp>
      <p:sp>
        <p:nvSpPr>
          <p:cNvPr id="3" name="副標題 2">
            <a:extLst>
              <a:ext uri="{FF2B5EF4-FFF2-40B4-BE49-F238E27FC236}">
                <a16:creationId xmlns:a16="http://schemas.microsoft.com/office/drawing/2014/main" id="{C28DA793-1ED9-4AC5-ADE6-717C6E4412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496CD283-2E6E-45B0-AE40-0E03201963B9}"/>
              </a:ext>
            </a:extLst>
          </p:cNvPr>
          <p:cNvSpPr>
            <a:spLocks noGrp="1"/>
          </p:cNvSpPr>
          <p:nvPr>
            <p:ph type="dt" sz="half" idx="10"/>
          </p:nvPr>
        </p:nvSpPr>
        <p:spPr/>
        <p:txBody>
          <a:bodyPr/>
          <a:lstStyle/>
          <a:p>
            <a:fld id="{F4A2503F-1177-4A4E-8015-3B0661847685}" type="datetimeFigureOut">
              <a:rPr lang="zh-TW" altLang="en-US" smtClean="0"/>
              <a:t>2021/11/2</a:t>
            </a:fld>
            <a:endParaRPr lang="zh-TW" altLang="en-US"/>
          </a:p>
        </p:txBody>
      </p:sp>
      <p:sp>
        <p:nvSpPr>
          <p:cNvPr id="5" name="頁尾版面配置區 4">
            <a:extLst>
              <a:ext uri="{FF2B5EF4-FFF2-40B4-BE49-F238E27FC236}">
                <a16:creationId xmlns:a16="http://schemas.microsoft.com/office/drawing/2014/main" id="{1CBFBBAF-E448-48D6-9C98-4F7ED65D41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D44C46B-486A-4EEB-AE91-FC848E313F0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51876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56184D-7BA3-45BD-B790-90F61BE6AA6A}"/>
              </a:ext>
            </a:extLst>
          </p:cNvPr>
          <p:cNvSpPr>
            <a:spLocks noGrp="1"/>
          </p:cNvSpPr>
          <p:nvPr>
            <p:ph type="title" hasCustomPrompt="1"/>
          </p:nvPr>
        </p:nvSpPr>
        <p:spPr/>
        <p:txBody>
          <a:bodyPr/>
          <a:lstStyle>
            <a:lvl1pPr>
              <a:defRPr>
                <a:latin typeface="Times New Roman" panose="02020603050405020304" pitchFamily="18" charset="0"/>
                <a:cs typeface="Times New Roman" panose="02020603050405020304" pitchFamily="18" charset="0"/>
              </a:defRPr>
            </a:lvl1pPr>
          </a:lstStyle>
          <a:p>
            <a:r>
              <a:rPr lang="en-US" altLang="zh-TW" dirty="0" err="1"/>
              <a:t>ti</a:t>
            </a:r>
            <a:endParaRPr lang="zh-TW" altLang="en-US" dirty="0"/>
          </a:p>
        </p:txBody>
      </p:sp>
      <p:sp>
        <p:nvSpPr>
          <p:cNvPr id="3" name="內容版面配置區 2">
            <a:extLst>
              <a:ext uri="{FF2B5EF4-FFF2-40B4-BE49-F238E27FC236}">
                <a16:creationId xmlns:a16="http://schemas.microsoft.com/office/drawing/2014/main" id="{32E43BFC-2DD2-4C4E-A3DC-B1498A5C7BFE}"/>
              </a:ext>
            </a:extLst>
          </p:cNvPr>
          <p:cNvSpPr>
            <a:spLocks noGrp="1"/>
          </p:cNvSpPr>
          <p:nvPr>
            <p:ph idx="1" hasCustomPrompt="1"/>
          </p:nvPr>
        </p:nvSpPr>
        <p:spPr/>
        <p:txBody>
          <a:bodyPr/>
          <a:lstStyle>
            <a:lvl1pPr>
              <a:defRPr/>
            </a:lvl1pPr>
          </a:lstStyle>
          <a:p>
            <a:pPr lvl="0"/>
            <a:r>
              <a:rPr lang="en-US" altLang="zh-TW" dirty="0" err="1"/>
              <a:t>ti</a:t>
            </a:r>
            <a:endParaRPr lang="zh-TW" altLang="en-US" dirty="0"/>
          </a:p>
        </p:txBody>
      </p:sp>
      <p:sp>
        <p:nvSpPr>
          <p:cNvPr id="4" name="日期版面配置區 3">
            <a:extLst>
              <a:ext uri="{FF2B5EF4-FFF2-40B4-BE49-F238E27FC236}">
                <a16:creationId xmlns:a16="http://schemas.microsoft.com/office/drawing/2014/main" id="{FE2AF72A-38B9-4AAF-8A61-A362036F1EAA}"/>
              </a:ext>
            </a:extLst>
          </p:cNvPr>
          <p:cNvSpPr>
            <a:spLocks noGrp="1"/>
          </p:cNvSpPr>
          <p:nvPr>
            <p:ph type="dt" sz="half" idx="10"/>
          </p:nvPr>
        </p:nvSpPr>
        <p:spPr/>
        <p:txBody>
          <a:bodyPr/>
          <a:lstStyle/>
          <a:p>
            <a:fld id="{F4A2503F-1177-4A4E-8015-3B0661847685}" type="datetimeFigureOut">
              <a:rPr lang="zh-TW" altLang="en-US" smtClean="0"/>
              <a:t>2021/11/2</a:t>
            </a:fld>
            <a:endParaRPr lang="zh-TW" altLang="en-US"/>
          </a:p>
        </p:txBody>
      </p:sp>
      <p:sp>
        <p:nvSpPr>
          <p:cNvPr id="5" name="頁尾版面配置區 4">
            <a:extLst>
              <a:ext uri="{FF2B5EF4-FFF2-40B4-BE49-F238E27FC236}">
                <a16:creationId xmlns:a16="http://schemas.microsoft.com/office/drawing/2014/main" id="{259927B3-B328-427A-B723-042ACF31DE9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4E6C5C-F026-4D4A-9396-A8E02D240B3A}"/>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888124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94A83-2AAB-4A5C-A410-587CB4BA1C76}"/>
              </a:ext>
            </a:extLst>
          </p:cNvPr>
          <p:cNvSpPr>
            <a:spLocks noGrp="1"/>
          </p:cNvSpPr>
          <p:nvPr>
            <p:ph type="title" hasCustomPrompt="1"/>
          </p:nvPr>
        </p:nvSpPr>
        <p:spPr>
          <a:xfrm>
            <a:off x="831850" y="1709738"/>
            <a:ext cx="10515600" cy="2852737"/>
          </a:xfrm>
        </p:spPr>
        <p:txBody>
          <a:bodyPr anchor="b"/>
          <a:lstStyle>
            <a:lvl1pPr>
              <a:defRPr sz="6000">
                <a:latin typeface="Times New Roman" panose="02020603050405020304" pitchFamily="18" charset="0"/>
                <a:cs typeface="Times New Roman" panose="02020603050405020304" pitchFamily="18" charset="0"/>
              </a:defRPr>
            </a:lvl1pPr>
          </a:lstStyle>
          <a:p>
            <a:r>
              <a:rPr lang="en-US" altLang="zh-TW" dirty="0" err="1"/>
              <a:t>Ti</a:t>
            </a:r>
            <a:br>
              <a:rPr lang="en-US" altLang="zh-TW" dirty="0"/>
            </a:br>
            <a:endParaRPr lang="zh-TW" altLang="en-US" dirty="0"/>
          </a:p>
        </p:txBody>
      </p:sp>
      <p:sp>
        <p:nvSpPr>
          <p:cNvPr id="3" name="文字版面配置區 2">
            <a:extLst>
              <a:ext uri="{FF2B5EF4-FFF2-40B4-BE49-F238E27FC236}">
                <a16:creationId xmlns:a16="http://schemas.microsoft.com/office/drawing/2014/main" id="{59E32E77-4D2E-4E74-A383-EA8A4FB5FB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AA91082-4FBD-4622-B1DF-8A9487D073B0}"/>
              </a:ext>
            </a:extLst>
          </p:cNvPr>
          <p:cNvSpPr>
            <a:spLocks noGrp="1"/>
          </p:cNvSpPr>
          <p:nvPr>
            <p:ph type="dt" sz="half" idx="10"/>
          </p:nvPr>
        </p:nvSpPr>
        <p:spPr/>
        <p:txBody>
          <a:bodyPr/>
          <a:lstStyle/>
          <a:p>
            <a:fld id="{F4A2503F-1177-4A4E-8015-3B0661847685}" type="datetimeFigureOut">
              <a:rPr lang="zh-TW" altLang="en-US" smtClean="0"/>
              <a:t>2021/11/2</a:t>
            </a:fld>
            <a:endParaRPr lang="zh-TW" altLang="en-US"/>
          </a:p>
        </p:txBody>
      </p:sp>
      <p:sp>
        <p:nvSpPr>
          <p:cNvPr id="5" name="頁尾版面配置區 4">
            <a:extLst>
              <a:ext uri="{FF2B5EF4-FFF2-40B4-BE49-F238E27FC236}">
                <a16:creationId xmlns:a16="http://schemas.microsoft.com/office/drawing/2014/main" id="{0F5F8BDE-A8F0-4DAC-99B2-50D2C0076B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8DC32A-8949-44F7-81E2-B83CF99B6149}"/>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919968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106E30-2946-483D-B775-554A96368A8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E3A773B-9F35-4E3D-A849-8D0145B8D16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05B11846-CABE-4EAB-BE62-420CD5D066C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BEC952-B9F4-416C-BB41-8EE327AE64DA}"/>
              </a:ext>
            </a:extLst>
          </p:cNvPr>
          <p:cNvSpPr>
            <a:spLocks noGrp="1"/>
          </p:cNvSpPr>
          <p:nvPr>
            <p:ph type="dt" sz="half" idx="10"/>
          </p:nvPr>
        </p:nvSpPr>
        <p:spPr/>
        <p:txBody>
          <a:bodyPr/>
          <a:lstStyle/>
          <a:p>
            <a:fld id="{F4A2503F-1177-4A4E-8015-3B0661847685}" type="datetimeFigureOut">
              <a:rPr lang="zh-TW" altLang="en-US" smtClean="0"/>
              <a:t>2021/11/2</a:t>
            </a:fld>
            <a:endParaRPr lang="zh-TW" altLang="en-US"/>
          </a:p>
        </p:txBody>
      </p:sp>
      <p:sp>
        <p:nvSpPr>
          <p:cNvPr id="6" name="頁尾版面配置區 5">
            <a:extLst>
              <a:ext uri="{FF2B5EF4-FFF2-40B4-BE49-F238E27FC236}">
                <a16:creationId xmlns:a16="http://schemas.microsoft.com/office/drawing/2014/main" id="{2FE91547-DAC4-4194-9975-1908B4FB91D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8D607A5-83F1-4527-B1B7-BDF1CAEE3F0C}"/>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958607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54347C-74DC-4CB0-AED7-83CE1D00D21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A4958F8-A4BE-4B24-8356-FDD0A3445D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0894F9C-30F3-4BB9-B5A6-A3AE0063796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35A7371-F775-49D1-9F58-FCB95D2C16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B1B7DB5-49B1-46D6-BF9E-30B3944E8931}"/>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A296A5A-46FE-4924-80F3-7CA1E9542C98}"/>
              </a:ext>
            </a:extLst>
          </p:cNvPr>
          <p:cNvSpPr>
            <a:spLocks noGrp="1"/>
          </p:cNvSpPr>
          <p:nvPr>
            <p:ph type="dt" sz="half" idx="10"/>
          </p:nvPr>
        </p:nvSpPr>
        <p:spPr/>
        <p:txBody>
          <a:bodyPr/>
          <a:lstStyle/>
          <a:p>
            <a:fld id="{F4A2503F-1177-4A4E-8015-3B0661847685}" type="datetimeFigureOut">
              <a:rPr lang="zh-TW" altLang="en-US" smtClean="0"/>
              <a:t>2021/11/2</a:t>
            </a:fld>
            <a:endParaRPr lang="zh-TW" altLang="en-US"/>
          </a:p>
        </p:txBody>
      </p:sp>
      <p:sp>
        <p:nvSpPr>
          <p:cNvPr id="8" name="頁尾版面配置區 7">
            <a:extLst>
              <a:ext uri="{FF2B5EF4-FFF2-40B4-BE49-F238E27FC236}">
                <a16:creationId xmlns:a16="http://schemas.microsoft.com/office/drawing/2014/main" id="{F7C630AC-DFE1-4D71-9917-19247C1F85C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4B8C931-DB59-4526-8001-0E5FDF164AF8}"/>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998037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F63E41-CEC2-4F37-AAEA-7C0C0248FA3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B31E847-1C3E-4C63-AF56-AFC9B011C5D8}"/>
              </a:ext>
            </a:extLst>
          </p:cNvPr>
          <p:cNvSpPr>
            <a:spLocks noGrp="1"/>
          </p:cNvSpPr>
          <p:nvPr>
            <p:ph type="dt" sz="half" idx="10"/>
          </p:nvPr>
        </p:nvSpPr>
        <p:spPr/>
        <p:txBody>
          <a:bodyPr/>
          <a:lstStyle/>
          <a:p>
            <a:fld id="{F4A2503F-1177-4A4E-8015-3B0661847685}" type="datetimeFigureOut">
              <a:rPr lang="zh-TW" altLang="en-US" smtClean="0"/>
              <a:t>2021/11/2</a:t>
            </a:fld>
            <a:endParaRPr lang="zh-TW" altLang="en-US"/>
          </a:p>
        </p:txBody>
      </p:sp>
      <p:sp>
        <p:nvSpPr>
          <p:cNvPr id="4" name="頁尾版面配置區 3">
            <a:extLst>
              <a:ext uri="{FF2B5EF4-FFF2-40B4-BE49-F238E27FC236}">
                <a16:creationId xmlns:a16="http://schemas.microsoft.com/office/drawing/2014/main" id="{75085913-2E3E-4049-A848-946D845AACB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2C93600-AC47-4BCE-9D50-108C888DE3F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253514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E8C1A37-E1DB-4353-B8C2-449B11A093EA}"/>
              </a:ext>
            </a:extLst>
          </p:cNvPr>
          <p:cNvSpPr>
            <a:spLocks noGrp="1"/>
          </p:cNvSpPr>
          <p:nvPr>
            <p:ph type="dt" sz="half" idx="10"/>
          </p:nvPr>
        </p:nvSpPr>
        <p:spPr/>
        <p:txBody>
          <a:bodyPr/>
          <a:lstStyle/>
          <a:p>
            <a:fld id="{F4A2503F-1177-4A4E-8015-3B0661847685}" type="datetimeFigureOut">
              <a:rPr lang="zh-TW" altLang="en-US" smtClean="0"/>
              <a:t>2021/11/2</a:t>
            </a:fld>
            <a:endParaRPr lang="zh-TW" altLang="en-US"/>
          </a:p>
        </p:txBody>
      </p:sp>
      <p:sp>
        <p:nvSpPr>
          <p:cNvPr id="3" name="頁尾版面配置區 2">
            <a:extLst>
              <a:ext uri="{FF2B5EF4-FFF2-40B4-BE49-F238E27FC236}">
                <a16:creationId xmlns:a16="http://schemas.microsoft.com/office/drawing/2014/main" id="{FF3463C6-00AC-42CC-B63E-8629A2782FE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65053A4-6DC4-437D-8D38-E158378EE3C2}"/>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729107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70F7FC-8574-4AD7-9C06-68F6FAE49E6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D36714A-AF50-4099-93D9-86186ED92B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6DBC3B7-42ED-430E-B62F-657278DD7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EE20C7E-F4DA-42C0-992D-559213079D7E}"/>
              </a:ext>
            </a:extLst>
          </p:cNvPr>
          <p:cNvSpPr>
            <a:spLocks noGrp="1"/>
          </p:cNvSpPr>
          <p:nvPr>
            <p:ph type="dt" sz="half" idx="10"/>
          </p:nvPr>
        </p:nvSpPr>
        <p:spPr/>
        <p:txBody>
          <a:bodyPr/>
          <a:lstStyle/>
          <a:p>
            <a:fld id="{F4A2503F-1177-4A4E-8015-3B0661847685}" type="datetimeFigureOut">
              <a:rPr lang="zh-TW" altLang="en-US" smtClean="0"/>
              <a:t>2021/11/2</a:t>
            </a:fld>
            <a:endParaRPr lang="zh-TW" altLang="en-US"/>
          </a:p>
        </p:txBody>
      </p:sp>
      <p:sp>
        <p:nvSpPr>
          <p:cNvPr id="6" name="頁尾版面配置區 5">
            <a:extLst>
              <a:ext uri="{FF2B5EF4-FFF2-40B4-BE49-F238E27FC236}">
                <a16:creationId xmlns:a16="http://schemas.microsoft.com/office/drawing/2014/main" id="{8143E935-5D8F-4668-9377-D6659857E2C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B7D27C-5EF8-4572-89F2-8DBEEA27503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732207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A067B3-FF39-49E4-9074-9B95C4A0943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6DD7DA6-20A5-4C3D-8DFC-2DB5745622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a:extLst>
              <a:ext uri="{FF2B5EF4-FFF2-40B4-BE49-F238E27FC236}">
                <a16:creationId xmlns:a16="http://schemas.microsoft.com/office/drawing/2014/main" id="{2986B126-0E5E-4052-A79B-6F1CCAFA1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DEA2E1D-5A5F-40CA-A36D-A312BE08442B}"/>
              </a:ext>
            </a:extLst>
          </p:cNvPr>
          <p:cNvSpPr>
            <a:spLocks noGrp="1"/>
          </p:cNvSpPr>
          <p:nvPr>
            <p:ph type="dt" sz="half" idx="10"/>
          </p:nvPr>
        </p:nvSpPr>
        <p:spPr/>
        <p:txBody>
          <a:bodyPr/>
          <a:lstStyle/>
          <a:p>
            <a:fld id="{F4A2503F-1177-4A4E-8015-3B0661847685}" type="datetimeFigureOut">
              <a:rPr lang="zh-TW" altLang="en-US" smtClean="0"/>
              <a:t>2021/11/2</a:t>
            </a:fld>
            <a:endParaRPr lang="zh-TW" altLang="en-US"/>
          </a:p>
        </p:txBody>
      </p:sp>
      <p:sp>
        <p:nvSpPr>
          <p:cNvPr id="6" name="頁尾版面配置區 5">
            <a:extLst>
              <a:ext uri="{FF2B5EF4-FFF2-40B4-BE49-F238E27FC236}">
                <a16:creationId xmlns:a16="http://schemas.microsoft.com/office/drawing/2014/main" id="{EF647EB2-1087-4D45-AAC7-C04A5AEEA5F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BB460F0-2254-479E-BFB4-4D507B459DF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882825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E3F87C-0C73-4569-942C-CF6451875A8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25398C3-786C-4DCC-95AE-F79AB1877A28}"/>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EB9FB1-20EF-4708-BBDB-3E1BCF2CE040}"/>
              </a:ext>
            </a:extLst>
          </p:cNvPr>
          <p:cNvSpPr>
            <a:spLocks noGrp="1"/>
          </p:cNvSpPr>
          <p:nvPr>
            <p:ph type="dt" sz="half" idx="10"/>
          </p:nvPr>
        </p:nvSpPr>
        <p:spPr/>
        <p:txBody>
          <a:bodyPr/>
          <a:lstStyle/>
          <a:p>
            <a:fld id="{F4A2503F-1177-4A4E-8015-3B0661847685}" type="datetimeFigureOut">
              <a:rPr lang="zh-TW" altLang="en-US" smtClean="0"/>
              <a:t>2021/11/2</a:t>
            </a:fld>
            <a:endParaRPr lang="zh-TW" altLang="en-US"/>
          </a:p>
        </p:txBody>
      </p:sp>
      <p:sp>
        <p:nvSpPr>
          <p:cNvPr id="5" name="頁尾版面配置區 4">
            <a:extLst>
              <a:ext uri="{FF2B5EF4-FFF2-40B4-BE49-F238E27FC236}">
                <a16:creationId xmlns:a16="http://schemas.microsoft.com/office/drawing/2014/main" id="{01F7FD53-A757-40F6-9969-6E0434DA469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DE0B9B2-5181-4FAA-87DA-6AD571741D36}"/>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350597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302A61-0C02-46CD-8DC8-BF935321287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dirty="0"/>
          </a:p>
        </p:txBody>
      </p:sp>
      <p:sp>
        <p:nvSpPr>
          <p:cNvPr id="3" name="直排文字版面配置區 2">
            <a:extLst>
              <a:ext uri="{FF2B5EF4-FFF2-40B4-BE49-F238E27FC236}">
                <a16:creationId xmlns:a16="http://schemas.microsoft.com/office/drawing/2014/main" id="{806A379B-846E-46F8-BF6E-611A4DA0A94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BB5C4E5-BA35-4FF8-99C5-98F1A8682EA8}"/>
              </a:ext>
            </a:extLst>
          </p:cNvPr>
          <p:cNvSpPr>
            <a:spLocks noGrp="1"/>
          </p:cNvSpPr>
          <p:nvPr>
            <p:ph type="dt" sz="half" idx="10"/>
          </p:nvPr>
        </p:nvSpPr>
        <p:spPr/>
        <p:txBody>
          <a:bodyPr/>
          <a:lstStyle/>
          <a:p>
            <a:fld id="{F4A2503F-1177-4A4E-8015-3B0661847685}" type="datetimeFigureOut">
              <a:rPr lang="zh-TW" altLang="en-US" smtClean="0"/>
              <a:t>2021/11/2</a:t>
            </a:fld>
            <a:endParaRPr lang="zh-TW" altLang="en-US"/>
          </a:p>
        </p:txBody>
      </p:sp>
      <p:sp>
        <p:nvSpPr>
          <p:cNvPr id="5" name="頁尾版面配置區 4">
            <a:extLst>
              <a:ext uri="{FF2B5EF4-FFF2-40B4-BE49-F238E27FC236}">
                <a16:creationId xmlns:a16="http://schemas.microsoft.com/office/drawing/2014/main" id="{AB141E24-01B9-40CC-8B56-3E2DDCCD7E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7F96409-420B-4CDB-9974-E92F79D38DA4}"/>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442696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B0A74E0-49D5-4C60-9101-23AECDB08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dirty="0" err="1"/>
              <a:t>Ti</a:t>
            </a:r>
            <a:br>
              <a:rPr lang="en-US" altLang="zh-TW" dirty="0"/>
            </a:br>
            <a:endParaRPr lang="zh-TW" altLang="en-US" dirty="0"/>
          </a:p>
        </p:txBody>
      </p:sp>
      <p:sp>
        <p:nvSpPr>
          <p:cNvPr id="3" name="文字版面配置區 2">
            <a:extLst>
              <a:ext uri="{FF2B5EF4-FFF2-40B4-BE49-F238E27FC236}">
                <a16:creationId xmlns:a16="http://schemas.microsoft.com/office/drawing/2014/main" id="{FDEB5E8B-37F4-436E-B651-875A938BC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dirty="0" err="1"/>
              <a:t>Ti</a:t>
            </a:r>
            <a:endParaRPr lang="en-US" altLang="zh-TW" dirty="0"/>
          </a:p>
          <a:p>
            <a:pPr lvl="0"/>
            <a:endParaRPr lang="zh-TW" altLang="en-US" dirty="0"/>
          </a:p>
        </p:txBody>
      </p:sp>
      <p:sp>
        <p:nvSpPr>
          <p:cNvPr id="4" name="日期版面配置區 3">
            <a:extLst>
              <a:ext uri="{FF2B5EF4-FFF2-40B4-BE49-F238E27FC236}">
                <a16:creationId xmlns:a16="http://schemas.microsoft.com/office/drawing/2014/main" id="{8A1E7728-55AD-4793-A9C1-1F9019CC35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2503F-1177-4A4E-8015-3B0661847685}" type="datetimeFigureOut">
              <a:rPr lang="zh-TW" altLang="en-US" smtClean="0"/>
              <a:t>2021/11/2</a:t>
            </a:fld>
            <a:endParaRPr lang="zh-TW" altLang="en-US"/>
          </a:p>
        </p:txBody>
      </p:sp>
      <p:sp>
        <p:nvSpPr>
          <p:cNvPr id="5" name="頁尾版面配置區 4">
            <a:extLst>
              <a:ext uri="{FF2B5EF4-FFF2-40B4-BE49-F238E27FC236}">
                <a16:creationId xmlns:a16="http://schemas.microsoft.com/office/drawing/2014/main" id="{05280DE3-C4AF-4CC8-91A4-8EB5E22A51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20FD4E5-BD8C-43C9-959E-6AA435F715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069491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sciencedirect.com/science/article/pii/S0305054817300953#eqn0005"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83053A-CC8D-454D-B92C-944C12D93638}"/>
              </a:ext>
            </a:extLst>
          </p:cNvPr>
          <p:cNvSpPr>
            <a:spLocks noGrp="1"/>
          </p:cNvSpPr>
          <p:nvPr>
            <p:ph type="ctrTitle"/>
          </p:nvPr>
        </p:nvSpPr>
        <p:spPr/>
        <p:txBody>
          <a:bodyPr>
            <a:normAutofit fontScale="90000"/>
          </a:bodyPr>
          <a:lstStyle/>
          <a:p>
            <a:r>
              <a:rPr lang="en-US" altLang="zh-TW" b="0" i="0" dirty="0">
                <a:effectLst/>
              </a:rPr>
              <a:t>Energy-efficient bi-objective single-machine scheduling with power-down mechanism</a:t>
            </a:r>
            <a:br>
              <a:rPr lang="en-US" altLang="zh-TW" b="0" i="0" dirty="0">
                <a:solidFill>
                  <a:srgbClr val="505050"/>
                </a:solidFill>
                <a:effectLst/>
                <a:latin typeface="NexusSerif"/>
              </a:rPr>
            </a:br>
            <a:endParaRPr lang="zh-TW" altLang="en-US" dirty="0"/>
          </a:p>
        </p:txBody>
      </p:sp>
      <p:sp>
        <p:nvSpPr>
          <p:cNvPr id="3" name="副標題 2">
            <a:extLst>
              <a:ext uri="{FF2B5EF4-FFF2-40B4-BE49-F238E27FC236}">
                <a16:creationId xmlns:a16="http://schemas.microsoft.com/office/drawing/2014/main" id="{5F758A5A-5857-4E7C-930D-EA56FC5A3499}"/>
              </a:ext>
            </a:extLst>
          </p:cNvPr>
          <p:cNvSpPr>
            <a:spLocks noGrp="1"/>
          </p:cNvSpPr>
          <p:nvPr>
            <p:ph type="subTitle" idx="1"/>
          </p:nvPr>
        </p:nvSpPr>
        <p:spPr>
          <a:xfrm>
            <a:off x="132521" y="3602038"/>
            <a:ext cx="12470295" cy="1655762"/>
          </a:xfrm>
        </p:spPr>
        <p:txBody>
          <a:bodyPr/>
          <a:lstStyle/>
          <a:p>
            <a:r>
              <a:rPr lang="en-US" altLang="zh-TW" b="0" i="0" u="none" strike="noStrike" dirty="0">
                <a:effectLst/>
              </a:rPr>
              <a:t>Che, Ada</a:t>
            </a:r>
            <a:r>
              <a:rPr lang="en-US" altLang="zh-TW" dirty="0"/>
              <a:t>, </a:t>
            </a:r>
            <a:r>
              <a:rPr lang="en-US" altLang="zh-TW" b="0" i="0" u="none" strike="noStrike" dirty="0">
                <a:effectLst/>
              </a:rPr>
              <a:t>Wu, </a:t>
            </a:r>
            <a:r>
              <a:rPr lang="en-US" altLang="zh-TW" b="0" i="0" u="none" strike="noStrike" dirty="0" err="1">
                <a:effectLst/>
              </a:rPr>
              <a:t>Xueqi</a:t>
            </a:r>
            <a:r>
              <a:rPr lang="en-US" altLang="zh-TW" b="0" i="0" u="none" strike="noStrike" dirty="0">
                <a:effectLst/>
              </a:rPr>
              <a:t>,  Peng, Jing, Yan, </a:t>
            </a:r>
            <a:r>
              <a:rPr lang="en-US" altLang="zh-TW" b="0" i="0" u="none" strike="noStrike" dirty="0" err="1">
                <a:effectLst/>
              </a:rPr>
              <a:t>Pengyu</a:t>
            </a:r>
            <a:endParaRPr lang="en-US" altLang="zh-TW" b="0" i="0" u="none" strike="noStrike" dirty="0">
              <a:effectLst/>
            </a:endParaRPr>
          </a:p>
          <a:p>
            <a:pPr algn="ctr"/>
            <a:r>
              <a:rPr lang="en-US" altLang="zh-TW" b="0" i="0" u="none" strike="noStrike" dirty="0">
                <a:effectLst/>
              </a:rPr>
              <a:t>Computers &amp; Operations Research</a:t>
            </a:r>
            <a:r>
              <a:rPr lang="en-US" altLang="zh-TW" dirty="0"/>
              <a:t> </a:t>
            </a:r>
            <a:r>
              <a:rPr lang="en-US" altLang="zh-TW" b="0" i="0" u="none" strike="noStrike" dirty="0">
                <a:effectLst/>
              </a:rPr>
              <a:t>Volume 85</a:t>
            </a:r>
            <a:r>
              <a:rPr lang="en-US" altLang="zh-TW" b="0" i="0" dirty="0">
                <a:effectLst/>
              </a:rPr>
              <a:t>, September 2017, Pages 172-183</a:t>
            </a:r>
          </a:p>
          <a:p>
            <a:endParaRPr lang="zh-TW" altLang="en-US" dirty="0"/>
          </a:p>
        </p:txBody>
      </p:sp>
      <p:sp>
        <p:nvSpPr>
          <p:cNvPr id="4" name="文字方塊 3">
            <a:extLst>
              <a:ext uri="{FF2B5EF4-FFF2-40B4-BE49-F238E27FC236}">
                <a16:creationId xmlns:a16="http://schemas.microsoft.com/office/drawing/2014/main" id="{18406001-BC81-43B0-9614-D30C0866A89A}"/>
              </a:ext>
            </a:extLst>
          </p:cNvPr>
          <p:cNvSpPr txBox="1"/>
          <p:nvPr/>
        </p:nvSpPr>
        <p:spPr>
          <a:xfrm>
            <a:off x="8574157" y="5565913"/>
            <a:ext cx="3445565" cy="646331"/>
          </a:xfrm>
          <a:prstGeom prst="rect">
            <a:avLst/>
          </a:prstGeom>
          <a:noFill/>
        </p:spPr>
        <p:txBody>
          <a:bodyPr wrap="square" rtlCol="0">
            <a:spAutoFit/>
          </a:bodyPr>
          <a:lstStyle/>
          <a:p>
            <a:r>
              <a:rPr lang="en-US" altLang="zh-TW" dirty="0"/>
              <a:t>Date: Oct. 26, 2021</a:t>
            </a:r>
          </a:p>
          <a:p>
            <a:r>
              <a:rPr lang="en-US" altLang="zh-TW" dirty="0"/>
              <a:t>Presenter: Jue-Jun Wu</a:t>
            </a:r>
            <a:endParaRPr lang="zh-TW" altLang="en-US" dirty="0"/>
          </a:p>
        </p:txBody>
      </p:sp>
    </p:spTree>
    <p:extLst>
      <p:ext uri="{BB962C8B-B14F-4D97-AF65-F5344CB8AC3E}">
        <p14:creationId xmlns:p14="http://schemas.microsoft.com/office/powerpoint/2010/main" val="55839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26F9BC-BBF4-4E36-9C49-E463EA162D6F}"/>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ADBBAAAF-E060-421E-8568-73FCE4D00D13}"/>
              </a:ext>
            </a:extLst>
          </p:cNvPr>
          <p:cNvSpPr>
            <a:spLocks noGrp="1"/>
          </p:cNvSpPr>
          <p:nvPr>
            <p:ph idx="1"/>
          </p:nvPr>
        </p:nvSpPr>
        <p:spPr>
          <a:xfrm>
            <a:off x="198783" y="1457738"/>
            <a:ext cx="11993217" cy="5400261"/>
          </a:xfrm>
        </p:spPr>
        <p:txBody>
          <a:bodyPr>
            <a:normAutofit/>
          </a:bodyPr>
          <a:lstStyle/>
          <a:p>
            <a:pPr marL="0" indent="0" algn="l">
              <a:buNone/>
            </a:pPr>
            <a:r>
              <a:rPr lang="en-US" altLang="zh-TW" sz="2400" b="0" i="0" dirty="0">
                <a:solidFill>
                  <a:srgbClr val="2E2E2E"/>
                </a:solidFill>
                <a:effectLst/>
              </a:rPr>
              <a:t>	This paper considers a single-machine scheduling problem with power-down mechanism to minimize both total energy consumption and maximum tardiness. The aim is to find an optimal processing sequence of jobs and determine if the machine should be executed a power-down operation between two consecutive jobs. To formulate the problem, a mixed-integer linear programming (MILP) model is developed. Then a basic ε − constraint method is proposed to obtain the complete Pareto front of the problem. Considering the particularity of the problem, we also develop local search, preprocessing technique and valid inequalities to strengthen the basic ε − constraint method. Finally, to obtain approximate Pareto fronts for large-size problems, we utilize the method of cluster analysis to divide the jobs into several sorted clusters according to their release times and due dates. Any job in a preceding cluster must be processed before all jobs in a subsequent cluster. Thus, the solution space is reduced significantly. Computational experiments on benchmark and randomly generated instances demonstrate the effectiveness of the proposed exact and approximation approaches.</a:t>
            </a:r>
            <a:br>
              <a:rPr lang="en-US" altLang="zh-TW" sz="2400" b="0" i="0" dirty="0">
                <a:solidFill>
                  <a:srgbClr val="2E2E2E"/>
                </a:solidFill>
                <a:effectLst/>
              </a:rPr>
            </a:br>
            <a:endParaRPr lang="zh-TW" altLang="en-US" sz="2400" dirty="0"/>
          </a:p>
        </p:txBody>
      </p:sp>
    </p:spTree>
    <p:extLst>
      <p:ext uri="{BB962C8B-B14F-4D97-AF65-F5344CB8AC3E}">
        <p14:creationId xmlns:p14="http://schemas.microsoft.com/office/powerpoint/2010/main" val="1050553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F34A96-873F-4924-AAF3-370DF8B93E01}"/>
              </a:ext>
            </a:extLst>
          </p:cNvPr>
          <p:cNvSpPr>
            <a:spLocks noGrp="1"/>
          </p:cNvSpPr>
          <p:nvPr>
            <p:ph type="title"/>
          </p:nvPr>
        </p:nvSpPr>
        <p:spPr/>
        <p:txBody>
          <a:bodyPr/>
          <a:lstStyle/>
          <a:p>
            <a:r>
              <a:rPr lang="en-US" altLang="zh-TW" dirty="0"/>
              <a:t>Pareto Optimal Solutions</a:t>
            </a:r>
            <a:endParaRPr lang="zh-TW" altLang="en-US" dirty="0"/>
          </a:p>
        </p:txBody>
      </p:sp>
      <p:sp>
        <p:nvSpPr>
          <p:cNvPr id="3" name="內容版面配置區 2">
            <a:extLst>
              <a:ext uri="{FF2B5EF4-FFF2-40B4-BE49-F238E27FC236}">
                <a16:creationId xmlns:a16="http://schemas.microsoft.com/office/drawing/2014/main" id="{E9D013D1-59BD-4492-A45A-C6654E7E2BEB}"/>
              </a:ext>
            </a:extLst>
          </p:cNvPr>
          <p:cNvSpPr>
            <a:spLocks noGrp="1"/>
          </p:cNvSpPr>
          <p:nvPr>
            <p:ph idx="1"/>
          </p:nvPr>
        </p:nvSpPr>
        <p:spPr>
          <a:xfrm>
            <a:off x="192156" y="1839776"/>
            <a:ext cx="8027505" cy="4351338"/>
          </a:xfrm>
        </p:spPr>
        <p:txBody>
          <a:bodyPr>
            <a:normAutofit fontScale="92500" lnSpcReduction="10000"/>
          </a:bodyPr>
          <a:lstStyle/>
          <a:p>
            <a:pPr marL="0" indent="0">
              <a:buNone/>
            </a:pPr>
            <a:r>
              <a:rPr lang="en-US" altLang="zh-TW" dirty="0"/>
              <a:t>Definition 1</a:t>
            </a:r>
            <a:r>
              <a:rPr lang="zh-TW" altLang="en-US" dirty="0"/>
              <a:t> </a:t>
            </a:r>
            <a:endParaRPr lang="en-US" altLang="zh-TW" dirty="0"/>
          </a:p>
          <a:p>
            <a:pPr marL="457200" indent="-457200"/>
            <a:r>
              <a:rPr lang="en-US" altLang="zh-TW" dirty="0"/>
              <a:t>For any pair of solutions x1 and x2 ∈X, we say x1 dominates x2 if f1(x1) ≤ f1(x2) and f2(x1) &lt; f2(x2) hold or f1(x1) &lt; f1(x2) and f2(x1) ≤ f2(x2) hold.</a:t>
            </a:r>
          </a:p>
          <a:p>
            <a:endParaRPr lang="en-US" altLang="zh-TW" dirty="0"/>
          </a:p>
          <a:p>
            <a:pPr marL="0" indent="0">
              <a:buNone/>
            </a:pPr>
            <a:r>
              <a:rPr lang="en-US" altLang="zh-TW" dirty="0"/>
              <a:t>Definition 2</a:t>
            </a:r>
            <a:r>
              <a:rPr lang="zh-TW" altLang="en-US" dirty="0"/>
              <a:t> </a:t>
            </a:r>
            <a:endParaRPr lang="en-US" altLang="zh-TW" dirty="0"/>
          </a:p>
          <a:p>
            <a:pPr marL="457200" indent="-457200"/>
            <a:r>
              <a:rPr lang="en-US" altLang="zh-TW" dirty="0"/>
              <a:t>A Pareto optimal solution is the one that no solution x ∈ X dominates it.</a:t>
            </a:r>
          </a:p>
          <a:p>
            <a:pPr marL="0" indent="0">
              <a:buNone/>
            </a:pPr>
            <a:r>
              <a:rPr lang="en-US" altLang="zh-TW" dirty="0"/>
              <a:t>Definition 3</a:t>
            </a:r>
            <a:r>
              <a:rPr lang="zh-TW" altLang="en-US" dirty="0"/>
              <a:t> </a:t>
            </a:r>
            <a:r>
              <a:rPr lang="en-US" altLang="zh-TW" dirty="0"/>
              <a:t>:</a:t>
            </a:r>
          </a:p>
          <a:p>
            <a:pPr marL="457200" indent="-457200"/>
            <a:r>
              <a:rPr lang="en-US" altLang="zh-TW" dirty="0"/>
              <a:t>All the Pareto optimal points over the objective space for a problem are called its Pareto front.</a:t>
            </a:r>
            <a:endParaRPr lang="zh-TW" altLang="en-US" dirty="0"/>
          </a:p>
          <a:p>
            <a:endParaRPr lang="zh-TW" altLang="en-US" dirty="0"/>
          </a:p>
        </p:txBody>
      </p:sp>
      <p:pic>
        <p:nvPicPr>
          <p:cNvPr id="7" name="圖片 6">
            <a:extLst>
              <a:ext uri="{FF2B5EF4-FFF2-40B4-BE49-F238E27FC236}">
                <a16:creationId xmlns:a16="http://schemas.microsoft.com/office/drawing/2014/main" id="{55040BCF-2C9D-490B-851A-29E454D1E88D}"/>
              </a:ext>
            </a:extLst>
          </p:cNvPr>
          <p:cNvPicPr>
            <a:picLocks noChangeAspect="1"/>
          </p:cNvPicPr>
          <p:nvPr/>
        </p:nvPicPr>
        <p:blipFill>
          <a:blip r:embed="rId3"/>
          <a:stretch>
            <a:fillRect/>
          </a:stretch>
        </p:blipFill>
        <p:spPr>
          <a:xfrm>
            <a:off x="7824475" y="897650"/>
            <a:ext cx="4367525" cy="2911683"/>
          </a:xfrm>
          <a:prstGeom prst="rect">
            <a:avLst/>
          </a:prstGeom>
        </p:spPr>
      </p:pic>
      <p:pic>
        <p:nvPicPr>
          <p:cNvPr id="9" name="圖片 8">
            <a:extLst>
              <a:ext uri="{FF2B5EF4-FFF2-40B4-BE49-F238E27FC236}">
                <a16:creationId xmlns:a16="http://schemas.microsoft.com/office/drawing/2014/main" id="{6F5DE0BB-F916-49C1-8263-1E0DEAFEE6A1}"/>
              </a:ext>
            </a:extLst>
          </p:cNvPr>
          <p:cNvPicPr>
            <a:picLocks noChangeAspect="1"/>
          </p:cNvPicPr>
          <p:nvPr/>
        </p:nvPicPr>
        <p:blipFill rotWithShape="1">
          <a:blip r:embed="rId4"/>
          <a:srcRect r="1220" b="3305"/>
          <a:stretch/>
        </p:blipFill>
        <p:spPr>
          <a:xfrm>
            <a:off x="7824475" y="4213226"/>
            <a:ext cx="4367525" cy="2381781"/>
          </a:xfrm>
          <a:prstGeom prst="rect">
            <a:avLst/>
          </a:prstGeom>
        </p:spPr>
      </p:pic>
    </p:spTree>
    <p:extLst>
      <p:ext uri="{BB962C8B-B14F-4D97-AF65-F5344CB8AC3E}">
        <p14:creationId xmlns:p14="http://schemas.microsoft.com/office/powerpoint/2010/main" val="2165073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58F558-330C-40EA-A9AD-208D56F2CB8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A773988F-AB93-4D63-AC12-6FEF5597CCD3}"/>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BD389D5D-94FD-4DAE-990C-969FA5D27D66}"/>
              </a:ext>
            </a:extLst>
          </p:cNvPr>
          <p:cNvPicPr>
            <a:picLocks noChangeAspect="1"/>
          </p:cNvPicPr>
          <p:nvPr/>
        </p:nvPicPr>
        <p:blipFill>
          <a:blip r:embed="rId2"/>
          <a:stretch>
            <a:fillRect/>
          </a:stretch>
        </p:blipFill>
        <p:spPr>
          <a:xfrm>
            <a:off x="546653" y="87046"/>
            <a:ext cx="9150626" cy="6234646"/>
          </a:xfrm>
          <a:prstGeom prst="rect">
            <a:avLst/>
          </a:prstGeom>
        </p:spPr>
      </p:pic>
    </p:spTree>
    <p:extLst>
      <p:ext uri="{BB962C8B-B14F-4D97-AF65-F5344CB8AC3E}">
        <p14:creationId xmlns:p14="http://schemas.microsoft.com/office/powerpoint/2010/main" val="3358255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BE08BF-5BCB-4F9F-8130-D511D884124B}"/>
              </a:ext>
            </a:extLst>
          </p:cNvPr>
          <p:cNvSpPr>
            <a:spLocks noGrp="1"/>
          </p:cNvSpPr>
          <p:nvPr>
            <p:ph type="title"/>
          </p:nvPr>
        </p:nvSpPr>
        <p:spPr/>
        <p:txBody>
          <a:bodyPr/>
          <a:lstStyle/>
          <a:p>
            <a:r>
              <a:rPr lang="en-US" altLang="zh-TW" dirty="0"/>
              <a:t>Weighted sum scalarization method</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93174DF-3C72-4A52-A883-85D37ED873CB}"/>
                  </a:ext>
                </a:extLst>
              </p:cNvPr>
              <p:cNvSpPr>
                <a:spLocks noGrp="1"/>
              </p:cNvSpPr>
              <p:nvPr>
                <p:ph idx="1"/>
              </p:nvPr>
            </p:nvSpPr>
            <p:spPr/>
            <p:txBody>
              <a:bodyPr/>
              <a:lstStyle/>
              <a:p>
                <a:r>
                  <a:rPr lang="en-US" altLang="zh-TW" dirty="0"/>
                  <a:t>F(x)=</a:t>
                </a:r>
                <a14:m>
                  <m:oMath xmlns:m="http://schemas.openxmlformats.org/officeDocument/2006/math">
                    <m:nary>
                      <m:naryPr>
                        <m:chr m:val="∑"/>
                        <m:limLoc m:val="subSup"/>
                        <m:ctrlPr>
                          <a:rPr lang="zh-TW" altLang="en-US" i="1" smtClean="0">
                            <a:latin typeface="Cambria Math" panose="02040503050406030204" pitchFamily="18" charset="0"/>
                          </a:rPr>
                        </m:ctrlPr>
                      </m:naryPr>
                      <m:sub>
                        <m:r>
                          <m:rPr>
                            <m:brk m:alnAt="25"/>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𝑀</m:t>
                        </m:r>
                      </m:sup>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𝑖</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𝑓</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m:t>
                        </m:r>
                      </m:e>
                    </m:nary>
                  </m:oMath>
                </a14:m>
                <a:endParaRPr lang="zh-TW" altLang="en-US" dirty="0"/>
              </a:p>
            </p:txBody>
          </p:sp>
        </mc:Choice>
        <mc:Fallback xmlns="">
          <p:sp>
            <p:nvSpPr>
              <p:cNvPr id="3" name="內容版面配置區 2">
                <a:extLst>
                  <a:ext uri="{FF2B5EF4-FFF2-40B4-BE49-F238E27FC236}">
                    <a16:creationId xmlns:a16="http://schemas.microsoft.com/office/drawing/2014/main" id="{B93174DF-3C72-4A52-A883-85D37ED873CB}"/>
                  </a:ext>
                </a:extLst>
              </p:cNvPr>
              <p:cNvSpPr>
                <a:spLocks noGrp="1" noRot="1" noChangeAspect="1" noMove="1" noResize="1" noEditPoints="1" noAdjustHandles="1" noChangeArrowheads="1" noChangeShapeType="1" noTextEdit="1"/>
              </p:cNvSpPr>
              <p:nvPr>
                <p:ph idx="1"/>
              </p:nvPr>
            </p:nvSpPr>
            <p:spPr>
              <a:blipFill>
                <a:blip r:embed="rId3"/>
                <a:stretch>
                  <a:fillRect l="-1043" t="-1961"/>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30A8C886-4EA0-4140-8C09-B42BA9AE690A}"/>
              </a:ext>
            </a:extLst>
          </p:cNvPr>
          <p:cNvPicPr>
            <a:picLocks noChangeAspect="1"/>
          </p:cNvPicPr>
          <p:nvPr/>
        </p:nvPicPr>
        <p:blipFill>
          <a:blip r:embed="rId4"/>
          <a:stretch>
            <a:fillRect/>
          </a:stretch>
        </p:blipFill>
        <p:spPr>
          <a:xfrm>
            <a:off x="510208" y="2382691"/>
            <a:ext cx="5257800" cy="3971925"/>
          </a:xfrm>
          <a:prstGeom prst="rect">
            <a:avLst/>
          </a:prstGeom>
        </p:spPr>
      </p:pic>
      <p:pic>
        <p:nvPicPr>
          <p:cNvPr id="7" name="圖片 6">
            <a:extLst>
              <a:ext uri="{FF2B5EF4-FFF2-40B4-BE49-F238E27FC236}">
                <a16:creationId xmlns:a16="http://schemas.microsoft.com/office/drawing/2014/main" id="{B37F85AB-CF2B-4235-AAF0-F7808FAB13F1}"/>
              </a:ext>
            </a:extLst>
          </p:cNvPr>
          <p:cNvPicPr>
            <a:picLocks noChangeAspect="1"/>
          </p:cNvPicPr>
          <p:nvPr/>
        </p:nvPicPr>
        <p:blipFill>
          <a:blip r:embed="rId5"/>
          <a:stretch>
            <a:fillRect/>
          </a:stretch>
        </p:blipFill>
        <p:spPr>
          <a:xfrm>
            <a:off x="6785963" y="2649391"/>
            <a:ext cx="5076825" cy="3705225"/>
          </a:xfrm>
          <a:prstGeom prst="rect">
            <a:avLst/>
          </a:prstGeom>
        </p:spPr>
      </p:pic>
    </p:spTree>
    <p:extLst>
      <p:ext uri="{BB962C8B-B14F-4D97-AF65-F5344CB8AC3E}">
        <p14:creationId xmlns:p14="http://schemas.microsoft.com/office/powerpoint/2010/main" val="3951961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BCF92D-4A16-4F95-A572-E6F0B1D8ED96}"/>
              </a:ext>
            </a:extLst>
          </p:cNvPr>
          <p:cNvSpPr>
            <a:spLocks noGrp="1"/>
          </p:cNvSpPr>
          <p:nvPr>
            <p:ph type="title"/>
          </p:nvPr>
        </p:nvSpPr>
        <p:spPr/>
        <p:txBody>
          <a:bodyPr/>
          <a:lstStyle/>
          <a:p>
            <a:r>
              <a:rPr lang="en-US" altLang="zh-TW" dirty="0"/>
              <a:t>An advanced  </a:t>
            </a:r>
            <a:r>
              <a:rPr lang="el-GR" altLang="zh-TW" dirty="0"/>
              <a:t>ε–</a:t>
            </a:r>
            <a:r>
              <a:rPr lang="en-US" altLang="zh-TW" dirty="0"/>
              <a:t>constraint method</a:t>
            </a:r>
            <a:endParaRPr lang="zh-TW" altLang="en-US" dirty="0"/>
          </a:p>
        </p:txBody>
      </p:sp>
      <p:pic>
        <p:nvPicPr>
          <p:cNvPr id="5" name="內容版面配置區 4">
            <a:extLst>
              <a:ext uri="{FF2B5EF4-FFF2-40B4-BE49-F238E27FC236}">
                <a16:creationId xmlns:a16="http://schemas.microsoft.com/office/drawing/2014/main" id="{7B050133-E4B1-43DA-B7EC-E7B1C1F8396F}"/>
              </a:ext>
            </a:extLst>
          </p:cNvPr>
          <p:cNvPicPr>
            <a:picLocks noGrp="1" noChangeAspect="1"/>
          </p:cNvPicPr>
          <p:nvPr>
            <p:ph idx="1"/>
          </p:nvPr>
        </p:nvPicPr>
        <p:blipFill>
          <a:blip r:embed="rId3"/>
          <a:stretch>
            <a:fillRect/>
          </a:stretch>
        </p:blipFill>
        <p:spPr>
          <a:xfrm>
            <a:off x="463201" y="2454965"/>
            <a:ext cx="4939960" cy="863005"/>
          </a:xfrm>
        </p:spPr>
      </p:pic>
      <p:pic>
        <p:nvPicPr>
          <p:cNvPr id="7" name="圖片 6">
            <a:extLst>
              <a:ext uri="{FF2B5EF4-FFF2-40B4-BE49-F238E27FC236}">
                <a16:creationId xmlns:a16="http://schemas.microsoft.com/office/drawing/2014/main" id="{78033983-B3DE-4BDB-9AF1-8BC86CB55DE8}"/>
              </a:ext>
            </a:extLst>
          </p:cNvPr>
          <p:cNvPicPr>
            <a:picLocks noChangeAspect="1"/>
          </p:cNvPicPr>
          <p:nvPr/>
        </p:nvPicPr>
        <p:blipFill>
          <a:blip r:embed="rId4"/>
          <a:stretch>
            <a:fillRect/>
          </a:stretch>
        </p:blipFill>
        <p:spPr>
          <a:xfrm>
            <a:off x="6788840" y="1888944"/>
            <a:ext cx="5114925" cy="4314825"/>
          </a:xfrm>
          <a:prstGeom prst="rect">
            <a:avLst/>
          </a:prstGeom>
        </p:spPr>
      </p:pic>
    </p:spTree>
    <p:extLst>
      <p:ext uri="{BB962C8B-B14F-4D97-AF65-F5344CB8AC3E}">
        <p14:creationId xmlns:p14="http://schemas.microsoft.com/office/powerpoint/2010/main" val="172062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8C4926EE-1D8E-4966-A3E6-8E85A23DB793}"/>
                  </a:ext>
                </a:extLst>
              </p:cNvPr>
              <p:cNvSpPr>
                <a:spLocks noGrp="1"/>
              </p:cNvSpPr>
              <p:nvPr>
                <p:ph idx="1"/>
              </p:nvPr>
            </p:nvSpPr>
            <p:spPr>
              <a:xfrm>
                <a:off x="417444" y="367302"/>
                <a:ext cx="11688174" cy="4351338"/>
              </a:xfrm>
            </p:spPr>
            <p:txBody>
              <a:bodyPr>
                <a:normAutofit/>
              </a:bodyPr>
              <a:lstStyle/>
              <a:p>
                <a:pPr marL="0" indent="0">
                  <a:buNone/>
                </a:pPr>
                <a:r>
                  <a:rPr lang="en-US" altLang="zh-TW" dirty="0"/>
                  <a:t>Definition 4 :</a:t>
                </a:r>
              </a:p>
              <a:p>
                <a:r>
                  <a:rPr lang="en-US" altLang="zh-TW" dirty="0"/>
                  <a:t>The Ideal point is defined as (</a:t>
                </a:r>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𝐸</m:t>
                        </m:r>
                      </m:e>
                      <m:sup>
                        <m:r>
                          <a:rPr lang="en-US" altLang="zh-TW" b="0" i="1" smtClean="0">
                            <a:latin typeface="Cambria Math" panose="02040503050406030204" pitchFamily="18" charset="0"/>
                          </a:rPr>
                          <m:t>𝐼</m:t>
                        </m:r>
                      </m:sup>
                    </m:sSup>
                  </m:oMath>
                </a14:m>
                <a:r>
                  <a:rPr lang="en-US" altLang="zh-TW" dirty="0"/>
                  <a:t>,  </a:t>
                </a:r>
                <a14:m>
                  <m:oMath xmlns:m="http://schemas.openxmlformats.org/officeDocument/2006/math">
                    <m:sSup>
                      <m:sSupPr>
                        <m:ctrlPr>
                          <a:rPr lang="en-US" altLang="zh-TW" i="1">
                            <a:latin typeface="Cambria Math" panose="02040503050406030204" pitchFamily="18" charset="0"/>
                          </a:rPr>
                        </m:ctrlPr>
                      </m:sSupPr>
                      <m:e>
                        <m:r>
                          <a:rPr lang="en-US" altLang="zh-TW" b="0" i="1" smtClean="0">
                            <a:latin typeface="Cambria Math" panose="02040503050406030204" pitchFamily="18" charset="0"/>
                          </a:rPr>
                          <m:t>𝐷</m:t>
                        </m:r>
                      </m:e>
                      <m:sup>
                        <m:r>
                          <a:rPr lang="en-US" altLang="zh-TW" b="0" i="1" smtClean="0">
                            <a:latin typeface="Cambria Math" panose="02040503050406030204" pitchFamily="18" charset="0"/>
                          </a:rPr>
                          <m:t>𝐼</m:t>
                        </m:r>
                      </m:sup>
                    </m:sSup>
                  </m:oMath>
                </a14:m>
                <a:r>
                  <a:rPr lang="en-US" altLang="zh-TW" dirty="0"/>
                  <a:t>) = {(E, D)|E = </a:t>
                </a:r>
                <a14:m>
                  <m:oMath xmlns:m="http://schemas.openxmlformats.org/officeDocument/2006/math">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𝑚𝑖𝑛</m:t>
                        </m:r>
                      </m:e>
                      <m:sub>
                        <m:r>
                          <a:rPr lang="en-US" altLang="zh-TW" b="0" i="1" dirty="0" smtClean="0">
                            <a:latin typeface="Cambria Math" panose="02040503050406030204" pitchFamily="18" charset="0"/>
                          </a:rPr>
                          <m:t>𝑥</m:t>
                        </m:r>
                      </m:sub>
                    </m:sSub>
                  </m:oMath>
                </a14:m>
                <a:r>
                  <a:rPr lang="en-US" altLang="zh-TW" dirty="0"/>
                  <a:t>∈ X(E),  D = </a:t>
                </a:r>
                <a14:m>
                  <m:oMath xmlns:m="http://schemas.openxmlformats.org/officeDocument/2006/math">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𝑚𝑖𝑛</m:t>
                        </m:r>
                      </m:e>
                      <m:sub>
                        <m:r>
                          <a:rPr lang="en-US" altLang="zh-TW" i="1" dirty="0">
                            <a:latin typeface="Cambria Math" panose="02040503050406030204" pitchFamily="18" charset="0"/>
                          </a:rPr>
                          <m:t>𝑥</m:t>
                        </m:r>
                      </m:sub>
                    </m:sSub>
                  </m:oMath>
                </a14:m>
                <a:r>
                  <a:rPr lang="en-US" altLang="zh-TW" dirty="0"/>
                  <a:t> 	∈ X(D)}.</a:t>
                </a:r>
              </a:p>
              <a:p>
                <a:pPr marL="0" indent="0">
                  <a:buNone/>
                </a:pPr>
                <a:r>
                  <a:rPr lang="en-US" altLang="zh-TW" dirty="0"/>
                  <a:t>	Nonexistent, lower bound on Pareto-optimal set.</a:t>
                </a:r>
              </a:p>
              <a:p>
                <a:r>
                  <a:rPr lang="en-US" altLang="zh-TW" dirty="0"/>
                  <a:t>The Utopian point, nonexistent.</a:t>
                </a:r>
              </a:p>
              <a:p>
                <a:r>
                  <a:rPr lang="en-US" altLang="zh-TW" dirty="0"/>
                  <a:t>The Nadir point is defined as (</a:t>
                </a:r>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𝐸</m:t>
                        </m:r>
                      </m:e>
                      <m:sup>
                        <m:r>
                          <a:rPr lang="en-US" altLang="zh-TW" b="0" i="1" smtClean="0">
                            <a:latin typeface="Cambria Math" panose="02040503050406030204" pitchFamily="18" charset="0"/>
                          </a:rPr>
                          <m:t>𝑁</m:t>
                        </m:r>
                      </m:sup>
                    </m:sSup>
                  </m:oMath>
                </a14:m>
                <a:r>
                  <a:rPr lang="en-US" altLang="zh-TW" dirty="0"/>
                  <a:t>,  </a:t>
                </a:r>
                <a14:m>
                  <m:oMath xmlns:m="http://schemas.openxmlformats.org/officeDocument/2006/math">
                    <m:sSup>
                      <m:sSupPr>
                        <m:ctrlPr>
                          <a:rPr lang="en-US" altLang="zh-TW" i="1">
                            <a:latin typeface="Cambria Math" panose="02040503050406030204" pitchFamily="18" charset="0"/>
                          </a:rPr>
                        </m:ctrlPr>
                      </m:sSupPr>
                      <m:e>
                        <m:r>
                          <a:rPr lang="en-US" altLang="zh-TW" b="0" i="1" smtClean="0">
                            <a:latin typeface="Cambria Math" panose="02040503050406030204" pitchFamily="18" charset="0"/>
                          </a:rPr>
                          <m:t>𝐷</m:t>
                        </m:r>
                      </m:e>
                      <m:sup>
                        <m:r>
                          <a:rPr lang="en-US" altLang="zh-TW" i="1">
                            <a:latin typeface="Cambria Math" panose="02040503050406030204" pitchFamily="18" charset="0"/>
                          </a:rPr>
                          <m:t>𝑁</m:t>
                        </m:r>
                      </m:sup>
                    </m:sSup>
                  </m:oMath>
                </a14:m>
                <a:r>
                  <a:rPr lang="en-US" altLang="zh-TW" dirty="0"/>
                  <a:t>) = {(E, D)|E = E′(</a:t>
                </a:r>
                <a14:m>
                  <m:oMath xmlns:m="http://schemas.openxmlformats.org/officeDocument/2006/math">
                    <m:sSup>
                      <m:sSupPr>
                        <m:ctrlPr>
                          <a:rPr lang="en-US" altLang="zh-TW" i="1">
                            <a:latin typeface="Cambria Math" panose="02040503050406030204" pitchFamily="18" charset="0"/>
                          </a:rPr>
                        </m:ctrlPr>
                      </m:sSupPr>
                      <m:e>
                        <m:r>
                          <a:rPr lang="en-US" altLang="zh-TW" i="1">
                            <a:latin typeface="Cambria Math" panose="02040503050406030204" pitchFamily="18" charset="0"/>
                          </a:rPr>
                          <m:t>𝐷</m:t>
                        </m:r>
                      </m:e>
                      <m:sup>
                        <m:r>
                          <a:rPr lang="en-US" altLang="zh-TW" i="1">
                            <a:latin typeface="Cambria Math" panose="02040503050406030204" pitchFamily="18" charset="0"/>
                          </a:rPr>
                          <m:t>𝐼</m:t>
                        </m:r>
                      </m:sup>
                    </m:sSup>
                  </m:oMath>
                </a14:m>
                <a:r>
                  <a:rPr lang="en-US" altLang="zh-TW" dirty="0"/>
                  <a:t>), D = D′(</a:t>
                </a:r>
                <a14:m>
                  <m:oMath xmlns:m="http://schemas.openxmlformats.org/officeDocument/2006/math">
                    <m:sSup>
                      <m:sSupPr>
                        <m:ctrlPr>
                          <a:rPr lang="en-US" altLang="zh-TW" i="1">
                            <a:latin typeface="Cambria Math" panose="02040503050406030204" pitchFamily="18" charset="0"/>
                          </a:rPr>
                        </m:ctrlPr>
                      </m:sSupPr>
                      <m:e>
                        <m:r>
                          <a:rPr lang="en-US" altLang="zh-TW" i="1">
                            <a:latin typeface="Cambria Math" panose="02040503050406030204" pitchFamily="18" charset="0"/>
                          </a:rPr>
                          <m:t>𝐸</m:t>
                        </m:r>
                      </m:e>
                      <m:sup>
                        <m:r>
                          <a:rPr lang="en-US" altLang="zh-TW" i="1">
                            <a:latin typeface="Cambria Math" panose="02040503050406030204" pitchFamily="18" charset="0"/>
                          </a:rPr>
                          <m:t>𝐼</m:t>
                        </m:r>
                      </m:sup>
                    </m:sSup>
                  </m:oMath>
                </a14:m>
                <a:r>
                  <a:rPr lang="en-US" altLang="zh-TW" dirty="0"/>
                  <a:t>)}.</a:t>
                </a:r>
              </a:p>
              <a:p>
                <a:pPr marL="0" indent="0">
                  <a:buNone/>
                </a:pPr>
                <a:r>
                  <a:rPr lang="en-US" altLang="zh-TW" dirty="0"/>
                  <a:t>	Upper bound on Pareto-optimal set.</a:t>
                </a:r>
              </a:p>
              <a:p>
                <a:pPr marL="0" indent="0">
                  <a:buNone/>
                </a:pPr>
                <a:r>
                  <a:rPr lang="en-US" altLang="zh-TW" dirty="0"/>
                  <a:t>(E′(</a:t>
                </a:r>
                <a:r>
                  <a:rPr lang="en-US" altLang="zh-TW" dirty="0" err="1"/>
                  <a:t>Dmin</a:t>
                </a:r>
                <a:r>
                  <a:rPr lang="en-US" altLang="zh-TW" dirty="0"/>
                  <a:t>), </a:t>
                </a:r>
                <a:r>
                  <a:rPr lang="en-US" altLang="zh-TW" dirty="0" err="1"/>
                  <a:t>Dmin</a:t>
                </a:r>
                <a:r>
                  <a:rPr lang="en-US" altLang="zh-TW" dirty="0"/>
                  <a:t>) is a Pareto optimal point of the problem.</a:t>
                </a:r>
              </a:p>
            </p:txBody>
          </p:sp>
        </mc:Choice>
        <mc:Fallback xmlns="">
          <p:sp>
            <p:nvSpPr>
              <p:cNvPr id="3" name="內容版面配置區 2">
                <a:extLst>
                  <a:ext uri="{FF2B5EF4-FFF2-40B4-BE49-F238E27FC236}">
                    <a16:creationId xmlns:a16="http://schemas.microsoft.com/office/drawing/2014/main" id="{8C4926EE-1D8E-4966-A3E6-8E85A23DB793}"/>
                  </a:ext>
                </a:extLst>
              </p:cNvPr>
              <p:cNvSpPr>
                <a:spLocks noGrp="1" noRot="1" noChangeAspect="1" noMove="1" noResize="1" noEditPoints="1" noAdjustHandles="1" noChangeArrowheads="1" noChangeShapeType="1" noTextEdit="1"/>
              </p:cNvSpPr>
              <p:nvPr>
                <p:ph idx="1"/>
              </p:nvPr>
            </p:nvSpPr>
            <p:spPr>
              <a:xfrm>
                <a:off x="417444" y="367302"/>
                <a:ext cx="11688174" cy="4351338"/>
              </a:xfrm>
              <a:blipFill>
                <a:blip r:embed="rId3"/>
                <a:stretch>
                  <a:fillRect l="-1043" t="-2381"/>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4A07163C-A17A-443C-9A05-1A424550B2C4}"/>
              </a:ext>
            </a:extLst>
          </p:cNvPr>
          <p:cNvPicPr>
            <a:picLocks noChangeAspect="1"/>
          </p:cNvPicPr>
          <p:nvPr/>
        </p:nvPicPr>
        <p:blipFill>
          <a:blip r:embed="rId4"/>
          <a:stretch>
            <a:fillRect/>
          </a:stretch>
        </p:blipFill>
        <p:spPr>
          <a:xfrm>
            <a:off x="8110330" y="4337482"/>
            <a:ext cx="3995288" cy="2520518"/>
          </a:xfrm>
          <a:prstGeom prst="rect">
            <a:avLst/>
          </a:prstGeom>
        </p:spPr>
      </p:pic>
      <p:pic>
        <p:nvPicPr>
          <p:cNvPr id="9" name="圖片 8">
            <a:extLst>
              <a:ext uri="{FF2B5EF4-FFF2-40B4-BE49-F238E27FC236}">
                <a16:creationId xmlns:a16="http://schemas.microsoft.com/office/drawing/2014/main" id="{A1E4F1B9-06EE-4B07-B0C2-2BE8D005F0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3259" y="4612454"/>
            <a:ext cx="5023100" cy="2049211"/>
          </a:xfrm>
          <a:prstGeom prst="rect">
            <a:avLst/>
          </a:prstGeom>
        </p:spPr>
      </p:pic>
      <p:pic>
        <p:nvPicPr>
          <p:cNvPr id="4" name="圖片 3">
            <a:extLst>
              <a:ext uri="{FF2B5EF4-FFF2-40B4-BE49-F238E27FC236}">
                <a16:creationId xmlns:a16="http://schemas.microsoft.com/office/drawing/2014/main" id="{9C1026B0-1147-4FBC-8E4D-54FAA5B46BC3}"/>
              </a:ext>
            </a:extLst>
          </p:cNvPr>
          <p:cNvPicPr>
            <a:picLocks noChangeAspect="1"/>
          </p:cNvPicPr>
          <p:nvPr/>
        </p:nvPicPr>
        <p:blipFill>
          <a:blip r:embed="rId6"/>
          <a:stretch>
            <a:fillRect/>
          </a:stretch>
        </p:blipFill>
        <p:spPr>
          <a:xfrm>
            <a:off x="6276318" y="216214"/>
            <a:ext cx="5829300" cy="514350"/>
          </a:xfrm>
          <a:prstGeom prst="rect">
            <a:avLst/>
          </a:prstGeom>
        </p:spPr>
      </p:pic>
      <p:pic>
        <p:nvPicPr>
          <p:cNvPr id="7" name="圖片 6">
            <a:extLst>
              <a:ext uri="{FF2B5EF4-FFF2-40B4-BE49-F238E27FC236}">
                <a16:creationId xmlns:a16="http://schemas.microsoft.com/office/drawing/2014/main" id="{0D771598-D4D5-40EC-8317-5597397897ED}"/>
              </a:ext>
            </a:extLst>
          </p:cNvPr>
          <p:cNvPicPr>
            <a:picLocks noChangeAspect="1"/>
          </p:cNvPicPr>
          <p:nvPr/>
        </p:nvPicPr>
        <p:blipFill>
          <a:blip r:embed="rId7"/>
          <a:stretch>
            <a:fillRect/>
          </a:stretch>
        </p:blipFill>
        <p:spPr>
          <a:xfrm>
            <a:off x="6261531" y="820185"/>
            <a:ext cx="5686425" cy="1724025"/>
          </a:xfrm>
          <a:prstGeom prst="rect">
            <a:avLst/>
          </a:prstGeom>
        </p:spPr>
      </p:pic>
    </p:spTree>
    <p:extLst>
      <p:ext uri="{BB962C8B-B14F-4D97-AF65-F5344CB8AC3E}">
        <p14:creationId xmlns:p14="http://schemas.microsoft.com/office/powerpoint/2010/main" val="391131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15A166-69FC-491C-B348-24C43FB3F270}"/>
              </a:ext>
            </a:extLst>
          </p:cNvPr>
          <p:cNvSpPr>
            <a:spLocks noGrp="1"/>
          </p:cNvSpPr>
          <p:nvPr>
            <p:ph type="title"/>
          </p:nvPr>
        </p:nvSpPr>
        <p:spPr/>
        <p:txBody>
          <a:bodyPr/>
          <a:lstStyle/>
          <a:p>
            <a:r>
              <a:rPr lang="en-US" altLang="zh-TW" dirty="0"/>
              <a:t>8-</a:t>
            </a:r>
            <a:endParaRPr lang="zh-TW" altLang="en-US" dirty="0"/>
          </a:p>
        </p:txBody>
      </p:sp>
      <p:sp>
        <p:nvSpPr>
          <p:cNvPr id="3" name="內容版面配置區 2">
            <a:extLst>
              <a:ext uri="{FF2B5EF4-FFF2-40B4-BE49-F238E27FC236}">
                <a16:creationId xmlns:a16="http://schemas.microsoft.com/office/drawing/2014/main" id="{677B3FAA-B6DD-47FA-AD8A-02DC859AC814}"/>
              </a:ext>
            </a:extLst>
          </p:cNvPr>
          <p:cNvSpPr>
            <a:spLocks noGrp="1"/>
          </p:cNvSpPr>
          <p:nvPr>
            <p:ph idx="1"/>
          </p:nvPr>
        </p:nvSpPr>
        <p:spPr/>
        <p:txBody>
          <a:bodyPr/>
          <a:lstStyle/>
          <a:p>
            <a:r>
              <a:rPr lang="zh-TW" altLang="en-US" dirty="0"/>
              <a:t>讓我們考慮一種特定情況（時間表），其中第一個作業在足夠晚的時間處理，以便所有其他作業可以在其前一個作業處理完畢後立即處理，沒有任何延遲。 這樣，機器在整個加工過程中不會閒置或經歷任何關機操作。 在這種情況下，所有連續作業對（即 </a:t>
            </a:r>
            <a:r>
              <a:rPr lang="en-US" altLang="zh-TW" dirty="0"/>
              <a:t>E</a:t>
            </a:r>
            <a:r>
              <a:rPr lang="zh-TW" altLang="en-US" dirty="0"/>
              <a:t>）之間消耗的總能量自然為零。</a:t>
            </a:r>
          </a:p>
        </p:txBody>
      </p:sp>
    </p:spTree>
    <p:extLst>
      <p:ext uri="{BB962C8B-B14F-4D97-AF65-F5344CB8AC3E}">
        <p14:creationId xmlns:p14="http://schemas.microsoft.com/office/powerpoint/2010/main" val="3680142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0EBD27-5E7C-47CB-AE6F-58D82525864E}"/>
              </a:ext>
            </a:extLst>
          </p:cNvPr>
          <p:cNvSpPr>
            <a:spLocks noGrp="1"/>
          </p:cNvSpPr>
          <p:nvPr>
            <p:ph type="title"/>
          </p:nvPr>
        </p:nvSpPr>
        <p:spPr/>
        <p:txBody>
          <a:bodyPr/>
          <a:lstStyle/>
          <a:p>
            <a:r>
              <a:rPr lang="en-US" altLang="zh-TW" dirty="0"/>
              <a:t>Turn on-off operation</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022F783B-6BE1-4403-85FF-12140C4E2ECB}"/>
                  </a:ext>
                </a:extLst>
              </p:cNvPr>
              <p:cNvSpPr>
                <a:spLocks noGrp="1"/>
              </p:cNvSpPr>
              <p:nvPr>
                <p:ph idx="1"/>
              </p:nvPr>
            </p:nvSpPr>
            <p:spPr/>
            <p:txBody>
              <a:bodyPr/>
              <a:lstStyle/>
              <a:p>
                <a:r>
                  <a:rPr lang="en-US" altLang="zh-TW" dirty="0">
                    <a:solidFill>
                      <a:schemeClr val="tx1"/>
                    </a:solidFill>
                  </a:rPr>
                  <a:t>Turn on-off operation times ,each time cost </a:t>
                </a:r>
                <a14:m>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𝐸</m:t>
                        </m:r>
                      </m:e>
                      <m:sub>
                        <m:r>
                          <a:rPr lang="en-US" altLang="zh-TW" b="0" i="1" smtClean="0">
                            <a:solidFill>
                              <a:schemeClr val="tx1"/>
                            </a:solidFill>
                            <a:latin typeface="Cambria Math" panose="02040503050406030204" pitchFamily="18" charset="0"/>
                          </a:rPr>
                          <m:t>𝑠</m:t>
                        </m:r>
                      </m:sub>
                    </m:sSub>
                  </m:oMath>
                </a14:m>
                <a:r>
                  <a:rPr lang="en-US" altLang="zh-TW" dirty="0">
                    <a:solidFill>
                      <a:schemeClr val="tx1"/>
                    </a:solidFill>
                  </a:rPr>
                  <a:t> energy.</a:t>
                </a:r>
              </a:p>
              <a:p>
                <a:r>
                  <a:rPr lang="en-US" altLang="zh-TW" dirty="0">
                    <a:solidFill>
                      <a:schemeClr val="tx1"/>
                    </a:solidFill>
                  </a:rPr>
                  <a:t>If postpone </a:t>
                </a:r>
                <a14:m>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𝐺</m:t>
                        </m:r>
                      </m:e>
                      <m:sub>
                        <m:r>
                          <a:rPr lang="en-US" altLang="zh-TW" b="0" i="1" smtClean="0">
                            <a:solidFill>
                              <a:schemeClr val="tx1"/>
                            </a:solidFill>
                            <a:latin typeface="Cambria Math" panose="02040503050406030204" pitchFamily="18" charset="0"/>
                          </a:rPr>
                          <m:t>𝑒</m:t>
                        </m:r>
                      </m:sub>
                    </m:sSub>
                  </m:oMath>
                </a14:m>
                <a:r>
                  <a:rPr lang="en-US" altLang="zh-TW" dirty="0">
                    <a:solidFill>
                      <a:schemeClr val="tx1"/>
                    </a:solidFill>
                  </a:rPr>
                  <a:t>, then at A part the machine will keep shutting down, and at B part the machine idle time will decrease.</a:t>
                </a:r>
              </a:p>
              <a:p>
                <a:r>
                  <a:rPr lang="en-US" altLang="zh-TW" b="0" i="0" dirty="0">
                    <a:solidFill>
                      <a:schemeClr val="tx1"/>
                    </a:solidFill>
                    <a:effectLst/>
                  </a:rPr>
                  <a:t>(</a:t>
                </a:r>
                <a:r>
                  <a:rPr lang="en-US" altLang="zh-TW" b="0" i="1" dirty="0">
                    <a:solidFill>
                      <a:schemeClr val="tx1"/>
                    </a:solidFill>
                    <a:effectLst/>
                  </a:rPr>
                  <a:t>E</a:t>
                </a:r>
                <a:r>
                  <a:rPr lang="en-US" altLang="zh-TW" b="0" i="0" baseline="30000" dirty="0">
                    <a:solidFill>
                      <a:schemeClr val="tx1"/>
                    </a:solidFill>
                    <a:effectLst/>
                  </a:rPr>
                  <a:t>0</a:t>
                </a:r>
                <a:r>
                  <a:rPr lang="en-US" altLang="zh-TW" b="0" i="0" dirty="0">
                    <a:solidFill>
                      <a:schemeClr val="tx1"/>
                    </a:solidFill>
                    <a:effectLst/>
                  </a:rPr>
                  <a:t> − </a:t>
                </a:r>
                <a:r>
                  <a:rPr lang="el-GR" altLang="zh-TW" b="0" i="0" dirty="0">
                    <a:solidFill>
                      <a:schemeClr val="tx1"/>
                    </a:solidFill>
                    <a:effectLst/>
                  </a:rPr>
                  <a:t>θ*</a:t>
                </a:r>
                <a:r>
                  <a:rPr lang="en-US" altLang="zh-TW" b="0" i="1" dirty="0" err="1">
                    <a:solidFill>
                      <a:schemeClr val="tx1"/>
                    </a:solidFill>
                    <a:effectLst/>
                  </a:rPr>
                  <a:t>P</a:t>
                </a:r>
                <a:r>
                  <a:rPr lang="en-US" altLang="zh-TW" b="0" i="1" baseline="-25000" dirty="0" err="1">
                    <a:solidFill>
                      <a:schemeClr val="tx1"/>
                    </a:solidFill>
                    <a:effectLst/>
                  </a:rPr>
                  <a:t>v</a:t>
                </a:r>
                <a:r>
                  <a:rPr lang="en-US" altLang="zh-TW" b="0" i="1" baseline="-25000" dirty="0">
                    <a:solidFill>
                      <a:schemeClr val="tx1"/>
                    </a:solidFill>
                    <a:effectLst/>
                  </a:rPr>
                  <a:t> </a:t>
                </a:r>
                <a:r>
                  <a:rPr lang="en-US" altLang="zh-TW" b="0" i="1" dirty="0">
                    <a:solidFill>
                      <a:schemeClr val="tx1"/>
                    </a:solidFill>
                    <a:effectLst/>
                  </a:rPr>
                  <a:t>,D</a:t>
                </a:r>
                <a:r>
                  <a:rPr lang="en-US" altLang="zh-TW" b="0" i="0" baseline="30000" dirty="0">
                    <a:solidFill>
                      <a:schemeClr val="tx1"/>
                    </a:solidFill>
                    <a:effectLst/>
                  </a:rPr>
                  <a:t>0</a:t>
                </a:r>
                <a:r>
                  <a:rPr lang="en-US" altLang="zh-TW" b="0" i="0" dirty="0">
                    <a:solidFill>
                      <a:schemeClr val="tx1"/>
                    </a:solidFill>
                    <a:effectLst/>
                  </a:rPr>
                  <a:t> + </a:t>
                </a:r>
                <a:r>
                  <a:rPr lang="el-GR" altLang="zh-TW" b="0" i="0" dirty="0">
                    <a:solidFill>
                      <a:schemeClr val="tx1"/>
                    </a:solidFill>
                    <a:effectLst/>
                  </a:rPr>
                  <a:t>θ) </a:t>
                </a:r>
                <a:r>
                  <a:rPr lang="en-US" altLang="zh-TW" b="0" i="0" dirty="0">
                    <a:solidFill>
                      <a:schemeClr val="tx1"/>
                    </a:solidFill>
                    <a:effectLst/>
                  </a:rPr>
                  <a:t>,</a:t>
                </a:r>
                <a:r>
                  <a:rPr lang="el-GR" altLang="zh-TW" b="0" i="0" dirty="0">
                    <a:solidFill>
                      <a:schemeClr val="tx1"/>
                    </a:solidFill>
                    <a:effectLst/>
                  </a:rPr>
                  <a:t> θ </a:t>
                </a:r>
                <a:r>
                  <a:rPr lang="en-US" altLang="zh-TW" b="0" i="0" dirty="0">
                    <a:solidFill>
                      <a:schemeClr val="tx1"/>
                    </a:solidFill>
                    <a:effectLst/>
                  </a:rPr>
                  <a:t>time unit</a:t>
                </a:r>
              </a:p>
              <a:p>
                <a:r>
                  <a:rPr lang="en-US" altLang="zh-TW" dirty="0">
                    <a:solidFill>
                      <a:schemeClr val="tx1"/>
                    </a:solidFill>
                  </a:rPr>
                  <a:t>F</a:t>
                </a:r>
                <a:r>
                  <a:rPr lang="en-US" altLang="zh-TW" b="0" i="0" dirty="0">
                    <a:solidFill>
                      <a:schemeClr val="tx1"/>
                    </a:solidFill>
                    <a:effectLst/>
                  </a:rPr>
                  <a:t>or any arbitrarily small value of θ, there must exist a Pareto optimal solution. </a:t>
                </a:r>
                <a:endParaRPr lang="en-US" altLang="zh-TW" dirty="0">
                  <a:solidFill>
                    <a:schemeClr val="tx1"/>
                  </a:solidFill>
                </a:endParaRPr>
              </a:p>
              <a:p>
                <a:endParaRPr lang="en-US" altLang="zh-TW" dirty="0"/>
              </a:p>
              <a:p>
                <a:endParaRPr lang="zh-TW" altLang="en-US" dirty="0"/>
              </a:p>
            </p:txBody>
          </p:sp>
        </mc:Choice>
        <mc:Fallback>
          <p:sp>
            <p:nvSpPr>
              <p:cNvPr id="3" name="內容版面配置區 2">
                <a:extLst>
                  <a:ext uri="{FF2B5EF4-FFF2-40B4-BE49-F238E27FC236}">
                    <a16:creationId xmlns:a16="http://schemas.microsoft.com/office/drawing/2014/main" id="{022F783B-6BE1-4403-85FF-12140C4E2ECB}"/>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0E34A95A-CAEA-497D-AF85-D074CA9EEF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4847" y="4807644"/>
            <a:ext cx="6966993" cy="1685231"/>
          </a:xfrm>
          <a:prstGeom prst="rect">
            <a:avLst/>
          </a:prstGeom>
        </p:spPr>
      </p:pic>
    </p:spTree>
    <p:extLst>
      <p:ext uri="{BB962C8B-B14F-4D97-AF65-F5344CB8AC3E}">
        <p14:creationId xmlns:p14="http://schemas.microsoft.com/office/powerpoint/2010/main" val="1246095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CB6A23-3FEE-4941-8FB3-36435287B1A0}"/>
              </a:ext>
            </a:extLst>
          </p:cNvPr>
          <p:cNvSpPr>
            <a:spLocks noGrp="1"/>
          </p:cNvSpPr>
          <p:nvPr>
            <p:ph type="title"/>
          </p:nvPr>
        </p:nvSpPr>
        <p:spPr/>
        <p:txBody>
          <a:bodyPr/>
          <a:lstStyle/>
          <a:p>
            <a:endParaRPr lang="zh-TW" altLang="en-US"/>
          </a:p>
        </p:txBody>
      </p:sp>
      <mc:AlternateContent xmlns:mc="http://schemas.openxmlformats.org/markup-compatibility/2006">
        <mc:Choice xmlns:a14="http://schemas.microsoft.com/office/drawing/2010/main" Requires="a14">
          <p:sp>
            <p:nvSpPr>
              <p:cNvPr id="4" name="Rectangle 1">
                <a:extLst>
                  <a:ext uri="{FF2B5EF4-FFF2-40B4-BE49-F238E27FC236}">
                    <a16:creationId xmlns:a16="http://schemas.microsoft.com/office/drawing/2014/main" id="{5945DDA5-21EE-4D60-AA2B-247AF0BEDC8F}"/>
                  </a:ext>
                </a:extLst>
              </p:cNvPr>
              <p:cNvSpPr>
                <a:spLocks noGrp="1" noChangeArrowheads="1"/>
              </p:cNvSpPr>
              <p:nvPr>
                <p:ph idx="1"/>
              </p:nvPr>
            </p:nvSpPr>
            <p:spPr bwMode="auto">
              <a:xfrm>
                <a:off x="530087" y="2055187"/>
                <a:ext cx="11131826" cy="38910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indent="-457200"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2400" b="1" u="none" strike="noStrike" cap="none" normalizeH="0" baseline="0" dirty="0">
                    <a:ln>
                      <a:noFill/>
                    </a:ln>
                    <a:solidFill>
                      <a:schemeClr val="tx1"/>
                    </a:solidFill>
                    <a:effectLst/>
                    <a:latin typeface="Times New Roman" panose="02020603050405020304" pitchFamily="18" charset="0"/>
                    <a:ea typeface="NexusSerif"/>
                  </a:rPr>
                  <a:t>Definition 5</a:t>
                </a:r>
                <a:endParaRPr kumimoji="0" lang="zh-TW" altLang="zh-TW" sz="2400" b="0" u="none" strike="noStrike" cap="none" normalizeH="0" baseline="0" dirty="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2400" b="0" u="none" strike="noStrike" cap="none" normalizeH="0" baseline="0" dirty="0">
                    <a:ln>
                      <a:noFill/>
                    </a:ln>
                    <a:solidFill>
                      <a:schemeClr val="tx1"/>
                    </a:solidFill>
                    <a:effectLst/>
                    <a:latin typeface="Times New Roman" panose="02020603050405020304" pitchFamily="18" charset="0"/>
                    <a:ea typeface="NexusSerif"/>
                  </a:rPr>
                  <a:t>	</a:t>
                </a:r>
                <a:r>
                  <a:rPr kumimoji="0" lang="zh-TW" altLang="zh-TW" sz="2400" b="0" u="none" strike="noStrike" cap="none" normalizeH="0" baseline="0" dirty="0">
                    <a:ln>
                      <a:noFill/>
                    </a:ln>
                    <a:solidFill>
                      <a:schemeClr val="tx1"/>
                    </a:solidFill>
                    <a:effectLst/>
                    <a:latin typeface="Times New Roman" panose="02020603050405020304" pitchFamily="18" charset="0"/>
                    <a:ea typeface="NexusSerif"/>
                  </a:rPr>
                  <a:t>An </a:t>
                </a:r>
                <a:r>
                  <a:rPr kumimoji="0" lang="zh-TW" altLang="zh-TW" sz="2400" b="0" u="sng" strike="noStrike" cap="none" normalizeH="0" baseline="0" dirty="0">
                    <a:ln>
                      <a:noFill/>
                    </a:ln>
                    <a:solidFill>
                      <a:schemeClr val="tx1"/>
                    </a:solidFill>
                    <a:effectLst/>
                    <a:latin typeface="Times New Roman" panose="02020603050405020304" pitchFamily="18" charset="0"/>
                    <a:ea typeface="NexusSerif"/>
                  </a:rPr>
                  <a:t>effective group G</a:t>
                </a:r>
                <a:r>
                  <a:rPr kumimoji="0" lang="zh-TW" altLang="zh-TW" sz="2400" b="0" u="sng" strike="noStrike" cap="none" normalizeH="0" baseline="-30000" dirty="0">
                    <a:ln>
                      <a:noFill/>
                    </a:ln>
                    <a:solidFill>
                      <a:schemeClr val="tx1"/>
                    </a:solidFill>
                    <a:effectLst/>
                    <a:latin typeface="Times New Roman" panose="02020603050405020304" pitchFamily="18" charset="0"/>
                    <a:ea typeface="NexusSerif"/>
                  </a:rPr>
                  <a:t>e</a:t>
                </a:r>
                <a:r>
                  <a:rPr kumimoji="0" lang="zh-TW" altLang="zh-TW" sz="2400" b="0" u="sng" strike="noStrike" cap="none" normalizeH="0" baseline="0" dirty="0">
                    <a:ln>
                      <a:noFill/>
                    </a:ln>
                    <a:solidFill>
                      <a:schemeClr val="tx1"/>
                    </a:solidFill>
                    <a:effectLst/>
                    <a:latin typeface="Times New Roman" panose="02020603050405020304" pitchFamily="18" charset="0"/>
                    <a:ea typeface="NexusSerif"/>
                  </a:rPr>
                  <a:t> </a:t>
                </a:r>
                <a:r>
                  <a:rPr kumimoji="0" lang="zh-TW" altLang="zh-TW" sz="2400" b="0" u="none" strike="noStrike" cap="none" normalizeH="0" baseline="0" dirty="0">
                    <a:ln>
                      <a:noFill/>
                    </a:ln>
                    <a:solidFill>
                      <a:schemeClr val="tx1"/>
                    </a:solidFill>
                    <a:effectLst/>
                    <a:latin typeface="Times New Roman" panose="02020603050405020304" pitchFamily="18" charset="0"/>
                    <a:ea typeface="NexusSerif"/>
                  </a:rPr>
                  <a:t>in the solution corresponding to (E</a:t>
                </a:r>
                <a:r>
                  <a:rPr kumimoji="0" lang="zh-TW" altLang="zh-TW" sz="2400" b="0" u="none" strike="noStrike" cap="none" normalizeH="0" baseline="30000" dirty="0">
                    <a:ln>
                      <a:noFill/>
                    </a:ln>
                    <a:solidFill>
                      <a:schemeClr val="tx1"/>
                    </a:solidFill>
                    <a:effectLst/>
                    <a:latin typeface="Times New Roman" panose="02020603050405020304" pitchFamily="18" charset="0"/>
                    <a:ea typeface="NexusSerif"/>
                  </a:rPr>
                  <a:t>0</a:t>
                </a:r>
                <a:r>
                  <a:rPr kumimoji="0" lang="zh-TW" altLang="zh-TW" sz="2400" b="0" u="none" strike="noStrike" cap="none" normalizeH="0" baseline="0" dirty="0">
                    <a:ln>
                      <a:noFill/>
                    </a:ln>
                    <a:solidFill>
                      <a:schemeClr val="tx1"/>
                    </a:solidFill>
                    <a:effectLst/>
                    <a:latin typeface="Times New Roman" panose="02020603050405020304" pitchFamily="18" charset="0"/>
                    <a:ea typeface="NexusSerif"/>
                  </a:rPr>
                  <a:t>, D</a:t>
                </a:r>
                <a:r>
                  <a:rPr kumimoji="0" lang="zh-TW" altLang="zh-TW" sz="2400" b="0" u="none" strike="noStrike" cap="none" normalizeH="0" baseline="30000" dirty="0">
                    <a:ln>
                      <a:noFill/>
                    </a:ln>
                    <a:solidFill>
                      <a:schemeClr val="tx1"/>
                    </a:solidFill>
                    <a:effectLst/>
                    <a:latin typeface="Times New Roman" panose="02020603050405020304" pitchFamily="18" charset="0"/>
                    <a:ea typeface="NexusSerif"/>
                  </a:rPr>
                  <a:t>0</a:t>
                </a:r>
                <a:r>
                  <a:rPr kumimoji="0" lang="zh-TW" altLang="zh-TW" sz="2400" b="0" u="none" strike="noStrike" cap="none" normalizeH="0" baseline="0" dirty="0">
                    <a:ln>
                      <a:noFill/>
                    </a:ln>
                    <a:solidFill>
                      <a:schemeClr val="tx1"/>
                    </a:solidFill>
                    <a:effectLst/>
                    <a:latin typeface="Times New Roman" panose="02020603050405020304" pitchFamily="18" charset="0"/>
                    <a:ea typeface="NexusSerif"/>
                  </a:rPr>
                  <a:t>) is the one that satisfies:</a:t>
                </a:r>
                <a:endParaRPr kumimoji="0" lang="zh-TW" altLang="zh-TW" sz="2400" b="0" u="none" strike="noStrike" cap="none" normalizeH="0" baseline="0" dirty="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2400" b="0" u="none" strike="noStrike" cap="none" normalizeH="0" baseline="0" dirty="0">
                    <a:ln>
                      <a:noFill/>
                    </a:ln>
                    <a:solidFill>
                      <a:schemeClr val="tx1"/>
                    </a:solidFill>
                    <a:effectLst/>
                    <a:latin typeface="Times New Roman" panose="02020603050405020304" pitchFamily="18" charset="0"/>
                  </a:rPr>
                  <a:t>1)The starting time of</a:t>
                </a:r>
                <a:r>
                  <a:rPr lang="en-US" altLang="zh-TW" sz="2400" dirty="0">
                    <a:solidFill>
                      <a:schemeClr val="tx1"/>
                    </a:solidFill>
                    <a:latin typeface="Times New Roman" panose="02020603050405020304" pitchFamily="18" charset="0"/>
                  </a:rPr>
                  <a:t> </a:t>
                </a:r>
                <a14:m>
                  <m:oMath xmlns:m="http://schemas.openxmlformats.org/officeDocument/2006/math">
                    <m:sSubSup>
                      <m:sSubSupPr>
                        <m:ctrlPr>
                          <a:rPr lang="en-US" altLang="zh-TW" sz="2400" i="1" dirty="0">
                            <a:solidFill>
                              <a:schemeClr val="tx1"/>
                            </a:solidFill>
                            <a:latin typeface="Cambria Math" panose="02040503050406030204" pitchFamily="18" charset="0"/>
                          </a:rPr>
                        </m:ctrlPr>
                      </m:sSubSupPr>
                      <m:e>
                        <m:r>
                          <a:rPr lang="en-US" altLang="zh-TW" sz="2400" i="1" dirty="0">
                            <a:solidFill>
                              <a:schemeClr val="tx1"/>
                            </a:solidFill>
                            <a:latin typeface="Cambria Math" panose="02040503050406030204" pitchFamily="18" charset="0"/>
                          </a:rPr>
                          <m:t>𝐺</m:t>
                        </m:r>
                      </m:e>
                      <m:sub>
                        <m:r>
                          <a:rPr lang="en-US" altLang="zh-TW" sz="2400" i="1" dirty="0">
                            <a:solidFill>
                              <a:schemeClr val="tx1"/>
                            </a:solidFill>
                            <a:latin typeface="Cambria Math" panose="02040503050406030204" pitchFamily="18" charset="0"/>
                          </a:rPr>
                          <m:t>𝑒</m:t>
                        </m:r>
                      </m:sub>
                      <m:sup>
                        <m:r>
                          <a:rPr lang="en-US" altLang="zh-TW" sz="2400" i="1" dirty="0">
                            <a:solidFill>
                              <a:schemeClr val="tx1"/>
                            </a:solidFill>
                            <a:latin typeface="Cambria Math" panose="02040503050406030204" pitchFamily="18" charset="0"/>
                          </a:rPr>
                          <m:t>1</m:t>
                        </m:r>
                      </m:sup>
                    </m:sSubSup>
                    <m:r>
                      <a:rPr lang="en-US" altLang="zh-TW" sz="2400" i="1" dirty="0">
                        <a:solidFill>
                          <a:schemeClr val="tx1"/>
                        </a:solidFill>
                        <a:latin typeface="Cambria Math" panose="02040503050406030204" pitchFamily="18" charset="0"/>
                      </a:rPr>
                      <m:t> </m:t>
                    </m:r>
                  </m:oMath>
                </a14:m>
                <a:r>
                  <a:rPr kumimoji="0" lang="zh-TW" altLang="zh-TW" sz="2400" b="0" u="none" strike="noStrike" cap="none" normalizeH="0" baseline="0" dirty="0">
                    <a:ln>
                      <a:noFill/>
                    </a:ln>
                    <a:solidFill>
                      <a:schemeClr val="tx1"/>
                    </a:solidFill>
                    <a:effectLst/>
                    <a:latin typeface="Times New Roman" panose="02020603050405020304" pitchFamily="18" charset="0"/>
                  </a:rPr>
                  <a:t> exceeds the completion time of </a:t>
                </a:r>
                <a:r>
                  <a:rPr lang="zh-TW" altLang="zh-TW" sz="2400" dirty="0">
                    <a:solidFill>
                      <a:schemeClr val="tx1"/>
                    </a:solidFill>
                    <a:latin typeface="Times New Roman" panose="02020603050405020304" pitchFamily="18" charset="0"/>
                  </a:rPr>
                  <a:t> </a:t>
                </a:r>
                <a:r>
                  <a:rPr lang="en-US" altLang="zh-TW" sz="2400" dirty="0">
                    <a:solidFill>
                      <a:schemeClr val="tx1"/>
                    </a:solidFill>
                    <a:latin typeface="Times New Roman" panose="02020603050405020304" pitchFamily="18" charset="0"/>
                  </a:rPr>
                  <a:t> </a:t>
                </a:r>
                <a14:m>
                  <m:oMath xmlns:m="http://schemas.openxmlformats.org/officeDocument/2006/math">
                    <m:sSubSup>
                      <m:sSubSupPr>
                        <m:ctrlPr>
                          <a:rPr lang="en-US" altLang="zh-TW" sz="2400" i="1" dirty="0">
                            <a:solidFill>
                              <a:schemeClr val="tx1"/>
                            </a:solidFill>
                            <a:latin typeface="Cambria Math" panose="02040503050406030204" pitchFamily="18" charset="0"/>
                          </a:rPr>
                        </m:ctrlPr>
                      </m:sSubSupPr>
                      <m:e>
                        <m:r>
                          <a:rPr lang="en-US" altLang="zh-TW" sz="2400" i="1" dirty="0">
                            <a:solidFill>
                              <a:schemeClr val="tx1"/>
                            </a:solidFill>
                            <a:latin typeface="Cambria Math" panose="02040503050406030204" pitchFamily="18" charset="0"/>
                          </a:rPr>
                          <m:t>𝐺</m:t>
                        </m:r>
                      </m:e>
                      <m:sub>
                        <m:r>
                          <a:rPr lang="en-US" altLang="zh-TW" sz="2400" b="0" i="1" dirty="0" smtClean="0">
                            <a:solidFill>
                              <a:schemeClr val="tx1"/>
                            </a:solidFill>
                            <a:latin typeface="Cambria Math" panose="02040503050406030204" pitchFamily="18" charset="0"/>
                          </a:rPr>
                          <m:t>𝑒</m:t>
                        </m:r>
                        <m:r>
                          <a:rPr lang="en-US" altLang="zh-TW" sz="2400" i="1" dirty="0">
                            <a:solidFill>
                              <a:schemeClr val="tx1"/>
                            </a:solidFill>
                            <a:latin typeface="Cambria Math" panose="02040503050406030204" pitchFamily="18" charset="0"/>
                          </a:rPr>
                          <m:t>−1</m:t>
                        </m:r>
                      </m:sub>
                      <m:sup>
                        <m:sSub>
                          <m:sSubPr>
                            <m:ctrlPr>
                              <a:rPr lang="en-US" altLang="zh-TW" sz="2400" i="1" dirty="0">
                                <a:solidFill>
                                  <a:schemeClr val="tx1"/>
                                </a:solidFill>
                                <a:latin typeface="Cambria Math" panose="02040503050406030204" pitchFamily="18" charset="0"/>
                              </a:rPr>
                            </m:ctrlPr>
                          </m:sSubPr>
                          <m:e>
                            <m:r>
                              <a:rPr lang="en-US" altLang="zh-TW" sz="2400" i="1" dirty="0">
                                <a:solidFill>
                                  <a:schemeClr val="tx1"/>
                                </a:solidFill>
                                <a:latin typeface="Cambria Math" panose="02040503050406030204" pitchFamily="18" charset="0"/>
                              </a:rPr>
                              <m:t>𝑁</m:t>
                            </m:r>
                          </m:e>
                          <m:sub>
                            <m:r>
                              <a:rPr lang="en-US" altLang="zh-TW" sz="2400" b="0" i="1" dirty="0" smtClean="0">
                                <a:solidFill>
                                  <a:schemeClr val="tx1"/>
                                </a:solidFill>
                                <a:latin typeface="Cambria Math" panose="02040503050406030204" pitchFamily="18" charset="0"/>
                              </a:rPr>
                              <m:t>𝑒</m:t>
                            </m:r>
                            <m:r>
                              <a:rPr lang="en-US" altLang="zh-TW" sz="2400" i="1" dirty="0">
                                <a:solidFill>
                                  <a:schemeClr val="tx1"/>
                                </a:solidFill>
                                <a:latin typeface="Cambria Math" panose="02040503050406030204" pitchFamily="18" charset="0"/>
                              </a:rPr>
                              <m:t>−1</m:t>
                            </m:r>
                          </m:sub>
                        </m:sSub>
                      </m:sup>
                    </m:sSubSup>
                  </m:oMath>
                </a14:m>
                <a:r>
                  <a:rPr kumimoji="0" lang="zh-TW" altLang="zh-TW" sz="2400" b="0" u="none" strike="noStrike" cap="none" normalizeH="0" baseline="0" dirty="0">
                    <a:ln>
                      <a:noFill/>
                    </a:ln>
                    <a:solidFill>
                      <a:schemeClr val="tx1"/>
                    </a:solidFill>
                    <a:effectLst/>
                    <a:latin typeface="Times New Roman" panose="02020603050405020304" pitchFamily="18" charset="0"/>
                  </a:rPr>
                  <a:t> by no less than T</a:t>
                </a:r>
                <a:r>
                  <a:rPr kumimoji="0" lang="zh-TW" altLang="zh-TW" sz="2400" b="0" u="none" strike="noStrike" cap="none" normalizeH="0" baseline="-30000" dirty="0">
                    <a:ln>
                      <a:noFill/>
                    </a:ln>
                    <a:solidFill>
                      <a:schemeClr val="tx1"/>
                    </a:solidFill>
                    <a:effectLst/>
                    <a:latin typeface="Times New Roman" panose="02020603050405020304" pitchFamily="18" charset="0"/>
                  </a:rPr>
                  <a:t>B</a:t>
                </a:r>
                <a:r>
                  <a:rPr kumimoji="0" lang="zh-TW" altLang="zh-TW" sz="2400" b="0" u="none" strike="noStrike" cap="none" normalizeH="0" baseline="0" dirty="0">
                    <a:ln>
                      <a:noFill/>
                    </a:ln>
                    <a:solidFill>
                      <a:schemeClr val="tx1"/>
                    </a:solidFill>
                    <a:effectLst/>
                    <a:latin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2400" b="0" u="none" strike="noStrike" cap="none" normalizeH="0" baseline="0" dirty="0">
                    <a:ln>
                      <a:noFill/>
                    </a:ln>
                    <a:solidFill>
                      <a:schemeClr val="tx1"/>
                    </a:solidFill>
                    <a:effectLst/>
                    <a:latin typeface="Times New Roman" panose="02020603050405020304" pitchFamily="18" charset="0"/>
                  </a:rPr>
                  <a:t>2)The starting time of </a:t>
                </a:r>
                <a:r>
                  <a:rPr lang="en-US" altLang="zh-TW" sz="2400" dirty="0">
                    <a:solidFill>
                      <a:schemeClr val="tx1"/>
                    </a:solidFill>
                    <a:latin typeface="Times New Roman" panose="02020603050405020304" pitchFamily="18" charset="0"/>
                  </a:rPr>
                  <a:t> </a:t>
                </a:r>
                <a14:m>
                  <m:oMath xmlns:m="http://schemas.openxmlformats.org/officeDocument/2006/math">
                    <m:sSubSup>
                      <m:sSubSupPr>
                        <m:ctrlPr>
                          <a:rPr lang="en-US" altLang="zh-TW" sz="2400" i="1" dirty="0">
                            <a:solidFill>
                              <a:schemeClr val="tx1"/>
                            </a:solidFill>
                            <a:latin typeface="Cambria Math" panose="02040503050406030204" pitchFamily="18" charset="0"/>
                          </a:rPr>
                        </m:ctrlPr>
                      </m:sSubSupPr>
                      <m:e>
                        <m:r>
                          <a:rPr lang="en-US" altLang="zh-TW" sz="2400" i="1" dirty="0">
                            <a:solidFill>
                              <a:schemeClr val="tx1"/>
                            </a:solidFill>
                            <a:latin typeface="Cambria Math" panose="02040503050406030204" pitchFamily="18" charset="0"/>
                          </a:rPr>
                          <m:t>𝐺</m:t>
                        </m:r>
                      </m:e>
                      <m:sub>
                        <m:r>
                          <a:rPr lang="en-US" altLang="zh-TW" sz="2400" i="1" dirty="0">
                            <a:solidFill>
                              <a:schemeClr val="tx1"/>
                            </a:solidFill>
                            <a:latin typeface="Cambria Math" panose="02040503050406030204" pitchFamily="18" charset="0"/>
                          </a:rPr>
                          <m:t>𝑒</m:t>
                        </m:r>
                        <m:r>
                          <a:rPr lang="en-US" altLang="zh-TW" sz="2400" b="0" i="1" dirty="0" smtClean="0">
                            <a:solidFill>
                              <a:schemeClr val="tx1"/>
                            </a:solidFill>
                            <a:latin typeface="Cambria Math" panose="02040503050406030204" pitchFamily="18" charset="0"/>
                          </a:rPr>
                          <m:t>+1</m:t>
                        </m:r>
                      </m:sub>
                      <m:sup>
                        <m:r>
                          <a:rPr lang="en-US" altLang="zh-TW" sz="2400" b="0" i="1" dirty="0" smtClean="0">
                            <a:solidFill>
                              <a:schemeClr val="tx1"/>
                            </a:solidFill>
                            <a:latin typeface="Cambria Math" panose="02040503050406030204" pitchFamily="18" charset="0"/>
                          </a:rPr>
                          <m:t>1</m:t>
                        </m:r>
                      </m:sup>
                    </m:sSubSup>
                    <m:r>
                      <a:rPr lang="en-US" altLang="zh-TW" sz="2400" i="1" dirty="0">
                        <a:solidFill>
                          <a:schemeClr val="tx1"/>
                        </a:solidFill>
                        <a:latin typeface="Cambria Math" panose="02040503050406030204" pitchFamily="18" charset="0"/>
                      </a:rPr>
                      <m:t> </m:t>
                    </m:r>
                  </m:oMath>
                </a14:m>
                <a:r>
                  <a:rPr kumimoji="0" lang="zh-TW" altLang="zh-TW" sz="2400" b="0" u="none" strike="noStrike" cap="none" normalizeH="0" baseline="0" dirty="0">
                    <a:ln>
                      <a:noFill/>
                    </a:ln>
                    <a:solidFill>
                      <a:schemeClr val="tx1"/>
                    </a:solidFill>
                    <a:effectLst/>
                    <a:latin typeface="Times New Roman" panose="02020603050405020304" pitchFamily="18" charset="0"/>
                  </a:rPr>
                  <a:t>exceeds the completion time of </a:t>
                </a:r>
                <a:r>
                  <a:rPr lang="en-US" altLang="zh-TW" sz="2400" dirty="0">
                    <a:solidFill>
                      <a:schemeClr val="tx1"/>
                    </a:solidFill>
                    <a:latin typeface="Times New Roman" panose="02020603050405020304" pitchFamily="18" charset="0"/>
                  </a:rPr>
                  <a:t> </a:t>
                </a:r>
                <a14:m>
                  <m:oMath xmlns:m="http://schemas.openxmlformats.org/officeDocument/2006/math">
                    <m:sSubSup>
                      <m:sSubSupPr>
                        <m:ctrlPr>
                          <a:rPr lang="en-US" altLang="zh-TW" sz="2400" i="1" dirty="0">
                            <a:solidFill>
                              <a:schemeClr val="tx1"/>
                            </a:solidFill>
                            <a:latin typeface="Cambria Math" panose="02040503050406030204" pitchFamily="18" charset="0"/>
                          </a:rPr>
                        </m:ctrlPr>
                      </m:sSubSupPr>
                      <m:e>
                        <m:r>
                          <a:rPr lang="en-US" altLang="zh-TW" sz="2400" i="1" dirty="0">
                            <a:solidFill>
                              <a:schemeClr val="tx1"/>
                            </a:solidFill>
                            <a:latin typeface="Cambria Math" panose="02040503050406030204" pitchFamily="18" charset="0"/>
                          </a:rPr>
                          <m:t>𝐺</m:t>
                        </m:r>
                      </m:e>
                      <m:sub>
                        <m:r>
                          <a:rPr lang="en-US" altLang="zh-TW" sz="2400" i="1" dirty="0">
                            <a:solidFill>
                              <a:schemeClr val="tx1"/>
                            </a:solidFill>
                            <a:latin typeface="Cambria Math" panose="02040503050406030204" pitchFamily="18" charset="0"/>
                          </a:rPr>
                          <m:t>𝑒</m:t>
                        </m:r>
                      </m:sub>
                      <m:sup>
                        <m:sSub>
                          <m:sSubPr>
                            <m:ctrlPr>
                              <a:rPr lang="en-US" altLang="zh-TW" sz="2400" i="1" dirty="0">
                                <a:solidFill>
                                  <a:schemeClr val="tx1"/>
                                </a:solidFill>
                                <a:latin typeface="Cambria Math" panose="02040503050406030204" pitchFamily="18" charset="0"/>
                              </a:rPr>
                            </m:ctrlPr>
                          </m:sSubPr>
                          <m:e>
                            <m:r>
                              <a:rPr lang="en-US" altLang="zh-TW" sz="2400" i="1" dirty="0">
                                <a:solidFill>
                                  <a:schemeClr val="tx1"/>
                                </a:solidFill>
                                <a:latin typeface="Cambria Math" panose="02040503050406030204" pitchFamily="18" charset="0"/>
                              </a:rPr>
                              <m:t>𝑁</m:t>
                            </m:r>
                          </m:e>
                          <m:sub>
                            <m:r>
                              <a:rPr lang="en-US" altLang="zh-TW" sz="2400" i="1" dirty="0">
                                <a:solidFill>
                                  <a:schemeClr val="tx1"/>
                                </a:solidFill>
                                <a:latin typeface="Cambria Math" panose="02040503050406030204" pitchFamily="18" charset="0"/>
                              </a:rPr>
                              <m:t>𝑒</m:t>
                            </m:r>
                          </m:sub>
                        </m:sSub>
                      </m:sup>
                    </m:sSubSup>
                    <m:r>
                      <a:rPr lang="en-US" altLang="zh-TW" sz="2400" i="1" dirty="0">
                        <a:solidFill>
                          <a:schemeClr val="tx1"/>
                        </a:solidFill>
                        <a:latin typeface="Cambria Math" panose="02040503050406030204" pitchFamily="18" charset="0"/>
                      </a:rPr>
                      <m:t> </m:t>
                    </m:r>
                  </m:oMath>
                </a14:m>
                <a:r>
                  <a:rPr kumimoji="0" lang="zh-TW" altLang="zh-TW" sz="2400" b="0" u="none" strike="noStrike" cap="none" normalizeH="0" baseline="0" dirty="0">
                    <a:ln>
                      <a:noFill/>
                    </a:ln>
                    <a:solidFill>
                      <a:schemeClr val="tx1"/>
                    </a:solidFill>
                    <a:effectLst/>
                    <a:latin typeface="Times New Roman" panose="02020603050405020304" pitchFamily="18" charset="0"/>
                  </a:rPr>
                  <a:t> by less than T</a:t>
                </a:r>
                <a:r>
                  <a:rPr kumimoji="0" lang="zh-TW" altLang="zh-TW" sz="2400" b="0" u="none" strike="noStrike" cap="none" normalizeH="0" baseline="-30000" dirty="0">
                    <a:ln>
                      <a:noFill/>
                    </a:ln>
                    <a:solidFill>
                      <a:schemeClr val="tx1"/>
                    </a:solidFill>
                    <a:effectLst/>
                    <a:latin typeface="Times New Roman" panose="02020603050405020304" pitchFamily="18" charset="0"/>
                  </a:rPr>
                  <a:t>B</a:t>
                </a:r>
                <a:r>
                  <a:rPr kumimoji="0" lang="zh-TW" altLang="zh-TW" sz="2400" b="0" u="none" strike="noStrike" cap="none" normalizeH="0" baseline="0" dirty="0">
                    <a:ln>
                      <a:noFill/>
                    </a:ln>
                    <a:solidFill>
                      <a:schemeClr val="tx1"/>
                    </a:solidFill>
                    <a:effectLst/>
                    <a:latin typeface="Times New Roman" panose="02020603050405020304" pitchFamily="18" charset="0"/>
                  </a:rPr>
                  <a:t>;</a:t>
                </a:r>
                <a:endParaRPr kumimoji="0" lang="en-US" altLang="zh-TW" sz="2400" b="0" u="none" strike="noStrike" cap="none" normalizeH="0" baseline="0" dirty="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TW" sz="2400" dirty="0">
                  <a:solidFill>
                    <a:schemeClr val="tx1"/>
                  </a:solidFill>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TW" sz="2400" b="0" i="0" dirty="0">
                    <a:solidFill>
                      <a:schemeClr val="tx1"/>
                    </a:solidFill>
                    <a:effectLst/>
                    <a:latin typeface="Times New Roman" panose="02020603050405020304" pitchFamily="18" charset="0"/>
                  </a:rPr>
                  <a:t>We divide the </a:t>
                </a:r>
                <a:r>
                  <a:rPr lang="en-US" altLang="zh-TW" sz="2400" b="0" i="1" dirty="0">
                    <a:solidFill>
                      <a:schemeClr val="tx1"/>
                    </a:solidFill>
                    <a:effectLst/>
                    <a:latin typeface="Times New Roman" panose="02020603050405020304" pitchFamily="18" charset="0"/>
                  </a:rPr>
                  <a:t>n</a:t>
                </a:r>
                <a:r>
                  <a:rPr lang="en-US" altLang="zh-TW" sz="2400" b="0" i="0" dirty="0">
                    <a:solidFill>
                      <a:schemeClr val="tx1"/>
                    </a:solidFill>
                    <a:effectLst/>
                    <a:latin typeface="Times New Roman" panose="02020603050405020304" pitchFamily="18" charset="0"/>
                  </a:rPr>
                  <a:t> jobs into </a:t>
                </a:r>
                <a:r>
                  <a:rPr lang="en-US" altLang="zh-TW" sz="2400" b="0" i="1" dirty="0">
                    <a:solidFill>
                      <a:schemeClr val="tx1"/>
                    </a:solidFill>
                    <a:effectLst/>
                    <a:latin typeface="Times New Roman" panose="02020603050405020304" pitchFamily="18" charset="0"/>
                  </a:rPr>
                  <a:t>m</a:t>
                </a:r>
                <a:r>
                  <a:rPr lang="en-US" altLang="zh-TW" sz="2400" b="0" i="0" dirty="0">
                    <a:solidFill>
                      <a:schemeClr val="tx1"/>
                    </a:solidFill>
                    <a:effectLst/>
                    <a:latin typeface="Times New Roman" panose="02020603050405020304" pitchFamily="18" charset="0"/>
                  </a:rPr>
                  <a:t> groups and denote the group as </a:t>
                </a:r>
                <a:r>
                  <a:rPr lang="en-US" altLang="zh-TW" sz="2400" b="0" i="1" dirty="0">
                    <a:solidFill>
                      <a:schemeClr val="tx1"/>
                    </a:solidFill>
                    <a:effectLst/>
                    <a:latin typeface="Times New Roman" panose="02020603050405020304" pitchFamily="18" charset="0"/>
                  </a:rPr>
                  <a:t>G</a:t>
                </a:r>
                <a:r>
                  <a:rPr lang="en-US" altLang="zh-TW" sz="2400" b="0" i="1" baseline="-25000" dirty="0">
                    <a:solidFill>
                      <a:schemeClr val="tx1"/>
                    </a:solidFill>
                    <a:effectLst/>
                    <a:latin typeface="Times New Roman" panose="02020603050405020304" pitchFamily="18" charset="0"/>
                  </a:rPr>
                  <a:t>i</a:t>
                </a:r>
                <a:r>
                  <a:rPr lang="en-US" altLang="zh-TW" sz="2400" b="0" i="0" dirty="0">
                    <a:solidFill>
                      <a:schemeClr val="tx1"/>
                    </a:solidFill>
                    <a:effectLst/>
                    <a:latin typeface="Times New Roman" panose="02020603050405020304" pitchFamily="18" charset="0"/>
                  </a:rPr>
                  <a:t>, 1 ≤ </a:t>
                </a:r>
                <a:r>
                  <a:rPr lang="en-US" altLang="zh-TW" sz="2400" b="0" i="1" dirty="0" err="1">
                    <a:solidFill>
                      <a:schemeClr val="tx1"/>
                    </a:solidFill>
                    <a:effectLst/>
                    <a:latin typeface="Times New Roman" panose="02020603050405020304" pitchFamily="18" charset="0"/>
                  </a:rPr>
                  <a:t>i</a:t>
                </a:r>
                <a:r>
                  <a:rPr lang="en-US" altLang="zh-TW" sz="2400" b="0" i="0" dirty="0">
                    <a:solidFill>
                      <a:schemeClr val="tx1"/>
                    </a:solidFill>
                    <a:effectLst/>
                    <a:latin typeface="Times New Roman" panose="02020603050405020304" pitchFamily="18" charset="0"/>
                  </a:rPr>
                  <a:t> ≤ </a:t>
                </a:r>
                <a:r>
                  <a:rPr lang="en-US" altLang="zh-TW" sz="2400" b="0" i="1" dirty="0">
                    <a:solidFill>
                      <a:schemeClr val="tx1"/>
                    </a:solidFill>
                    <a:effectLst/>
                    <a:latin typeface="Times New Roman" panose="02020603050405020304" pitchFamily="18" charset="0"/>
                  </a:rPr>
                  <a:t>m</a:t>
                </a:r>
                <a:r>
                  <a:rPr lang="en-US" altLang="zh-TW" sz="2400" b="0" i="0" dirty="0">
                    <a:solidFill>
                      <a:schemeClr val="tx1"/>
                    </a:solidFill>
                    <a:effectLst/>
                    <a:latin typeface="Times New Roman" panose="02020603050405020304" pitchFamily="18" charset="0"/>
                  </a:rPr>
                  <a:t>, where </a:t>
                </a:r>
                <a:r>
                  <a:rPr lang="en-US" altLang="zh-TW" sz="2400" b="0" i="1" dirty="0">
                    <a:solidFill>
                      <a:schemeClr val="tx1"/>
                    </a:solidFill>
                    <a:effectLst/>
                    <a:latin typeface="Times New Roman" panose="02020603050405020304" pitchFamily="18" charset="0"/>
                  </a:rPr>
                  <a:t>m</a:t>
                </a:r>
                <a:r>
                  <a:rPr lang="en-US" altLang="zh-TW" sz="2400" b="0" i="0" dirty="0">
                    <a:solidFill>
                      <a:schemeClr val="tx1"/>
                    </a:solidFill>
                    <a:effectLst/>
                    <a:latin typeface="Times New Roman" panose="02020603050405020304" pitchFamily="18" charset="0"/>
                  </a:rPr>
                  <a:t> is the number of groups. </a:t>
                </a:r>
              </a:p>
              <a:p>
                <a:pPr marL="0" marR="0" lvl="0" indent="0" algn="l" defTabSz="914400" rtl="0" eaLnBrk="0" fontAlgn="base" latinLnBrk="0" hangingPunct="0">
                  <a:lnSpc>
                    <a:spcPct val="100000"/>
                  </a:lnSpc>
                  <a:spcBef>
                    <a:spcPct val="0"/>
                  </a:spcBef>
                  <a:spcAft>
                    <a:spcPct val="0"/>
                  </a:spcAft>
                  <a:buClrTx/>
                  <a:buSzTx/>
                  <a:buFontTx/>
                  <a:buNone/>
                  <a:tabLst/>
                </a:pPr>
                <a:r>
                  <a:rPr lang="en-US" altLang="zh-TW" sz="2400" b="0" i="0" dirty="0">
                    <a:solidFill>
                      <a:schemeClr val="tx1"/>
                    </a:solidFill>
                    <a:effectLst/>
                    <a:latin typeface="Times New Roman" panose="02020603050405020304" pitchFamily="18" charset="0"/>
                  </a:rPr>
                  <a:t>Let </a:t>
                </a:r>
                <a:r>
                  <a:rPr lang="en-US" altLang="zh-TW" sz="2400" b="0" i="1" dirty="0">
                    <a:solidFill>
                      <a:schemeClr val="tx1"/>
                    </a:solidFill>
                    <a:effectLst/>
                    <a:latin typeface="Times New Roman" panose="02020603050405020304" pitchFamily="18" charset="0"/>
                  </a:rPr>
                  <a:t>N</a:t>
                </a:r>
                <a:r>
                  <a:rPr lang="en-US" altLang="zh-TW" sz="2400" b="0" i="1" baseline="-25000" dirty="0">
                    <a:solidFill>
                      <a:schemeClr val="tx1"/>
                    </a:solidFill>
                    <a:effectLst/>
                    <a:latin typeface="Times New Roman" panose="02020603050405020304" pitchFamily="18" charset="0"/>
                  </a:rPr>
                  <a:t>i</a:t>
                </a:r>
                <a:r>
                  <a:rPr lang="en-US" altLang="zh-TW" sz="2400" b="0" i="0" dirty="0">
                    <a:solidFill>
                      <a:schemeClr val="tx1"/>
                    </a:solidFill>
                    <a:effectLst/>
                    <a:latin typeface="Times New Roman" panose="02020603050405020304" pitchFamily="18" charset="0"/>
                  </a:rPr>
                  <a:t> be the number of jobs in group </a:t>
                </a:r>
                <a:r>
                  <a:rPr lang="en-US" altLang="zh-TW" sz="2400" b="0" i="1" dirty="0">
                    <a:solidFill>
                      <a:schemeClr val="tx1"/>
                    </a:solidFill>
                    <a:effectLst/>
                    <a:latin typeface="Times New Roman" panose="02020603050405020304" pitchFamily="18" charset="0"/>
                  </a:rPr>
                  <a:t>G</a:t>
                </a:r>
                <a:r>
                  <a:rPr lang="en-US" altLang="zh-TW" sz="2400" b="0" i="1" baseline="-25000" dirty="0">
                    <a:solidFill>
                      <a:schemeClr val="tx1"/>
                    </a:solidFill>
                    <a:effectLst/>
                    <a:latin typeface="Times New Roman" panose="02020603050405020304" pitchFamily="18" charset="0"/>
                  </a:rPr>
                  <a:t>i</a:t>
                </a:r>
                <a:r>
                  <a:rPr lang="en-US" altLang="zh-TW" sz="2400" b="0" i="0" dirty="0">
                    <a:solidFill>
                      <a:schemeClr val="tx1"/>
                    </a:solidFill>
                    <a:effectLst/>
                    <a:latin typeface="Times New Roman" panose="02020603050405020304" pitchFamily="18" charset="0"/>
                  </a:rPr>
                  <a:t>, and </a:t>
                </a:r>
                <a14:m>
                  <m:oMath xmlns:m="http://schemas.openxmlformats.org/officeDocument/2006/math">
                    <m:sSubSup>
                      <m:sSubSupPr>
                        <m:ctrlPr>
                          <a:rPr lang="en-US" altLang="zh-TW" sz="2400" b="0" i="1" smtClean="0">
                            <a:solidFill>
                              <a:schemeClr val="tx1"/>
                            </a:solidFill>
                            <a:effectLst/>
                            <a:latin typeface="Cambria Math" panose="02040503050406030204" pitchFamily="18" charset="0"/>
                          </a:rPr>
                        </m:ctrlPr>
                      </m:sSubSupPr>
                      <m:e>
                        <m:r>
                          <a:rPr lang="en-US" altLang="zh-TW" sz="2400" b="0" i="1" smtClean="0">
                            <a:solidFill>
                              <a:schemeClr val="tx1"/>
                            </a:solidFill>
                            <a:effectLst/>
                            <a:latin typeface="Cambria Math" panose="02040503050406030204" pitchFamily="18" charset="0"/>
                          </a:rPr>
                          <m:t>𝐺</m:t>
                        </m:r>
                      </m:e>
                      <m:sub>
                        <m:r>
                          <a:rPr lang="en-US" altLang="zh-TW" sz="2400" b="0" i="1" smtClean="0">
                            <a:solidFill>
                              <a:schemeClr val="tx1"/>
                            </a:solidFill>
                            <a:effectLst/>
                            <a:latin typeface="Cambria Math" panose="02040503050406030204" pitchFamily="18" charset="0"/>
                          </a:rPr>
                          <m:t>𝑞</m:t>
                        </m:r>
                      </m:sub>
                      <m:sup>
                        <m:r>
                          <a:rPr lang="en-US" altLang="zh-TW" sz="2400" b="0" i="1" smtClean="0">
                            <a:solidFill>
                              <a:schemeClr val="tx1"/>
                            </a:solidFill>
                            <a:effectLst/>
                            <a:latin typeface="Cambria Math" panose="02040503050406030204" pitchFamily="18" charset="0"/>
                          </a:rPr>
                          <m:t>𝑝</m:t>
                        </m:r>
                      </m:sup>
                    </m:sSubSup>
                  </m:oMath>
                </a14:m>
                <a:r>
                  <a:rPr lang="en-US" altLang="zh-TW" sz="2400" b="0" i="0" dirty="0">
                    <a:solidFill>
                      <a:schemeClr val="tx1"/>
                    </a:solidFill>
                    <a:effectLst/>
                    <a:latin typeface="Times New Roman" panose="02020603050405020304" pitchFamily="18" charset="0"/>
                  </a:rPr>
                  <a:t> represent the job in the </a:t>
                </a:r>
                <a:r>
                  <a:rPr lang="en-US" altLang="zh-TW" sz="2400" b="0" i="1" dirty="0" err="1">
                    <a:solidFill>
                      <a:schemeClr val="tx1"/>
                    </a:solidFill>
                    <a:effectLst/>
                    <a:latin typeface="Times New Roman" panose="02020603050405020304" pitchFamily="18" charset="0"/>
                  </a:rPr>
                  <a:t>q</a:t>
                </a:r>
                <a:r>
                  <a:rPr lang="en-US" altLang="zh-TW" sz="2400" b="0" i="0" dirty="0" err="1">
                    <a:solidFill>
                      <a:schemeClr val="tx1"/>
                    </a:solidFill>
                    <a:effectLst/>
                    <a:latin typeface="Times New Roman" panose="02020603050405020304" pitchFamily="18" charset="0"/>
                  </a:rPr>
                  <a:t>th</a:t>
                </a:r>
                <a:r>
                  <a:rPr lang="en-US" altLang="zh-TW" sz="2400" b="0" i="0" dirty="0">
                    <a:solidFill>
                      <a:schemeClr val="tx1"/>
                    </a:solidFill>
                    <a:effectLst/>
                    <a:latin typeface="Times New Roman" panose="02020603050405020304" pitchFamily="18" charset="0"/>
                  </a:rPr>
                  <a:t> position of the </a:t>
                </a:r>
                <a:r>
                  <a:rPr lang="en-US" altLang="zh-TW" sz="2400" b="0" i="1" dirty="0" err="1">
                    <a:solidFill>
                      <a:schemeClr val="tx1"/>
                    </a:solidFill>
                    <a:effectLst/>
                    <a:latin typeface="Times New Roman" panose="02020603050405020304" pitchFamily="18" charset="0"/>
                  </a:rPr>
                  <a:t>p</a:t>
                </a:r>
                <a:r>
                  <a:rPr lang="en-US" altLang="zh-TW" sz="2400" b="0" i="0" dirty="0" err="1">
                    <a:solidFill>
                      <a:schemeClr val="tx1"/>
                    </a:solidFill>
                    <a:effectLst/>
                    <a:latin typeface="Times New Roman" panose="02020603050405020304" pitchFamily="18" charset="0"/>
                  </a:rPr>
                  <a:t>th</a:t>
                </a:r>
                <a:r>
                  <a:rPr lang="en-US" altLang="zh-TW" sz="2400" b="0" i="0" dirty="0">
                    <a:solidFill>
                      <a:schemeClr val="tx1"/>
                    </a:solidFill>
                    <a:effectLst/>
                    <a:latin typeface="Times New Roman" panose="02020603050405020304" pitchFamily="18" charset="0"/>
                  </a:rPr>
                  <a:t> group.</a:t>
                </a:r>
              </a:p>
            </p:txBody>
          </p:sp>
        </mc:Choice>
        <mc:Fallback>
          <p:sp>
            <p:nvSpPr>
              <p:cNvPr id="4" name="Rectangle 1">
                <a:extLst>
                  <a:ext uri="{FF2B5EF4-FFF2-40B4-BE49-F238E27FC236}">
                    <a16:creationId xmlns:a16="http://schemas.microsoft.com/office/drawing/2014/main" id="{5945DDA5-21EE-4D60-AA2B-247AF0BEDC8F}"/>
                  </a:ext>
                </a:extLst>
              </p:cNvPr>
              <p:cNvSpPr>
                <a:spLocks noGrp="1" noRot="1" noChangeAspect="1" noMove="1" noResize="1" noEditPoints="1" noAdjustHandles="1" noChangeArrowheads="1" noChangeShapeType="1" noTextEdit="1"/>
              </p:cNvSpPr>
              <p:nvPr>
                <p:ph idx="1"/>
              </p:nvPr>
            </p:nvSpPr>
            <p:spPr bwMode="auto">
              <a:xfrm>
                <a:off x="530087" y="2055187"/>
                <a:ext cx="11131826" cy="3891065"/>
              </a:xfrm>
              <a:prstGeom prst="rect">
                <a:avLst/>
              </a:prstGeom>
              <a:blipFill>
                <a:blip r:embed="rId3"/>
                <a:stretch>
                  <a:fillRect l="-1698" t="-1881" b="-438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D8752BD6-B49F-4C37-ABEE-0B68CEBC9B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07830" y="185290"/>
            <a:ext cx="6966993" cy="1685231"/>
          </a:xfrm>
          <a:prstGeom prst="rect">
            <a:avLst/>
          </a:prstGeom>
        </p:spPr>
      </p:pic>
    </p:spTree>
    <p:extLst>
      <p:ext uri="{BB962C8B-B14F-4D97-AF65-F5344CB8AC3E}">
        <p14:creationId xmlns:p14="http://schemas.microsoft.com/office/powerpoint/2010/main" val="17633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AE8B0B-9446-4E63-B471-5B7D17FFE76B}"/>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A6C30425-AF83-4D09-B8F3-FA3F65FDDDBE}"/>
              </a:ext>
            </a:extLst>
          </p:cNvPr>
          <p:cNvSpPr>
            <a:spLocks noGrp="1"/>
          </p:cNvSpPr>
          <p:nvPr>
            <p:ph idx="1"/>
          </p:nvPr>
        </p:nvSpPr>
        <p:spPr>
          <a:xfrm>
            <a:off x="838199" y="1825625"/>
            <a:ext cx="11161295" cy="4667250"/>
          </a:xfrm>
        </p:spPr>
        <p:txBody>
          <a:bodyPr/>
          <a:lstStyle/>
          <a:p>
            <a:pPr marL="0" indent="0" algn="l">
              <a:buNone/>
            </a:pPr>
            <a:r>
              <a:rPr lang="en-US" altLang="zh-TW" b="1" dirty="0">
                <a:effectLst/>
              </a:rPr>
              <a:t>Theorem 4</a:t>
            </a:r>
            <a:endParaRPr lang="en-US" altLang="zh-TW" b="0" dirty="0">
              <a:effectLst/>
            </a:endParaRPr>
          </a:p>
          <a:p>
            <a:pPr algn="l"/>
            <a:r>
              <a:rPr lang="en-US" altLang="zh-TW" b="0" dirty="0">
                <a:effectLst/>
              </a:rPr>
              <a:t>In the solution corresponding to the Pareto optimal point (E</a:t>
            </a:r>
            <a:r>
              <a:rPr lang="en-US" altLang="zh-TW" b="0" baseline="30000" dirty="0">
                <a:effectLst/>
              </a:rPr>
              <a:t>0</a:t>
            </a:r>
            <a:r>
              <a:rPr lang="en-US" altLang="zh-TW" b="0" dirty="0">
                <a:effectLst/>
              </a:rPr>
              <a:t>, D</a:t>
            </a:r>
            <a:r>
              <a:rPr lang="en-US" altLang="zh-TW" b="0" baseline="30000" dirty="0">
                <a:effectLst/>
              </a:rPr>
              <a:t>0</a:t>
            </a:r>
            <a:r>
              <a:rPr lang="en-US" altLang="zh-TW" b="0" dirty="0">
                <a:effectLst/>
              </a:rPr>
              <a:t>), there must exist a job with the </a:t>
            </a:r>
            <a:r>
              <a:rPr lang="en-US" altLang="zh-TW" b="0" u="sng" dirty="0">
                <a:effectLst/>
              </a:rPr>
              <a:t>maximum tardiness D</a:t>
            </a:r>
            <a:r>
              <a:rPr lang="en-US" altLang="zh-TW" b="0" u="sng" baseline="30000" dirty="0">
                <a:effectLst/>
              </a:rPr>
              <a:t>0</a:t>
            </a:r>
            <a:r>
              <a:rPr lang="en-US" altLang="zh-TW" b="0" u="sng" dirty="0">
                <a:effectLst/>
              </a:rPr>
              <a:t> in any effective group</a:t>
            </a:r>
            <a:r>
              <a:rPr lang="en-US" altLang="zh-TW" b="0" dirty="0">
                <a:effectLst/>
              </a:rPr>
              <a:t>.</a:t>
            </a:r>
          </a:p>
          <a:p>
            <a:pPr marL="0" indent="0" algn="l">
              <a:buNone/>
            </a:pPr>
            <a:r>
              <a:rPr lang="en-US" altLang="zh-TW" b="1" dirty="0">
                <a:effectLst/>
              </a:rPr>
              <a:t>Theorem 5</a:t>
            </a:r>
            <a:endParaRPr lang="en-US" altLang="zh-TW" b="0" dirty="0">
              <a:effectLst/>
            </a:endParaRPr>
          </a:p>
          <a:p>
            <a:pPr algn="l"/>
            <a:r>
              <a:rPr lang="en-US" altLang="zh-TW" b="0" dirty="0">
                <a:effectLst/>
              </a:rPr>
              <a:t>If there exists an </a:t>
            </a:r>
            <a:r>
              <a:rPr lang="en-US" altLang="zh-TW" b="0" u="sng" dirty="0">
                <a:effectLst/>
              </a:rPr>
              <a:t>effective group </a:t>
            </a:r>
            <a:r>
              <a:rPr lang="en-US" altLang="zh-TW" b="0" dirty="0">
                <a:effectLst/>
              </a:rPr>
              <a:t>in the solution corresponding to (E</a:t>
            </a:r>
            <a:r>
              <a:rPr lang="en-US" altLang="zh-TW" b="0" baseline="30000" dirty="0">
                <a:effectLst/>
              </a:rPr>
              <a:t>0</a:t>
            </a:r>
            <a:r>
              <a:rPr lang="en-US" altLang="zh-TW" b="0" dirty="0">
                <a:effectLst/>
              </a:rPr>
              <a:t>, D</a:t>
            </a:r>
            <a:r>
              <a:rPr lang="en-US" altLang="zh-TW" b="0" baseline="30000" dirty="0">
                <a:effectLst/>
              </a:rPr>
              <a:t>0</a:t>
            </a:r>
            <a:r>
              <a:rPr lang="en-US" altLang="zh-TW" b="0" dirty="0">
                <a:effectLst/>
              </a:rPr>
              <a:t>), then for any arbitrarily small value of θ, there must exist a feasible point (E</a:t>
            </a:r>
            <a:r>
              <a:rPr lang="en-US" altLang="zh-TW" b="0" baseline="30000" dirty="0">
                <a:effectLst/>
              </a:rPr>
              <a:t>0</a:t>
            </a:r>
            <a:r>
              <a:rPr lang="en-US" altLang="zh-TW" b="0" dirty="0">
                <a:effectLst/>
              </a:rPr>
              <a:t> − θ*</a:t>
            </a:r>
            <a:r>
              <a:rPr lang="en-US" altLang="zh-TW" b="0" dirty="0" err="1">
                <a:effectLst/>
              </a:rPr>
              <a:t>P</a:t>
            </a:r>
            <a:r>
              <a:rPr lang="en-US" altLang="zh-TW" b="0" baseline="-25000" dirty="0" err="1">
                <a:effectLst/>
              </a:rPr>
              <a:t>v</a:t>
            </a:r>
            <a:r>
              <a:rPr lang="en-US" altLang="zh-TW" b="0" baseline="-25000" dirty="0">
                <a:effectLst/>
              </a:rPr>
              <a:t> </a:t>
            </a:r>
            <a:r>
              <a:rPr lang="en-US" altLang="zh-TW" b="0" dirty="0">
                <a:effectLst/>
              </a:rPr>
              <a:t>, D</a:t>
            </a:r>
            <a:r>
              <a:rPr lang="en-US" altLang="zh-TW" b="0" baseline="30000" dirty="0">
                <a:effectLst/>
              </a:rPr>
              <a:t>0</a:t>
            </a:r>
            <a:r>
              <a:rPr lang="en-US" altLang="zh-TW" b="0" dirty="0">
                <a:effectLst/>
              </a:rPr>
              <a:t> + θ) that cannot be dominated by (E</a:t>
            </a:r>
            <a:r>
              <a:rPr lang="en-US" altLang="zh-TW" b="0" baseline="30000" dirty="0">
                <a:effectLst/>
              </a:rPr>
              <a:t>0</a:t>
            </a:r>
            <a:r>
              <a:rPr lang="en-US" altLang="zh-TW" b="0" dirty="0">
                <a:effectLst/>
              </a:rPr>
              <a:t>, D</a:t>
            </a:r>
            <a:r>
              <a:rPr lang="en-US" altLang="zh-TW" b="0" baseline="30000" dirty="0">
                <a:effectLst/>
              </a:rPr>
              <a:t>0</a:t>
            </a:r>
            <a:r>
              <a:rPr lang="en-US" altLang="zh-TW" b="0" dirty="0">
                <a:effectLst/>
              </a:rPr>
              <a:t>).</a:t>
            </a:r>
          </a:p>
          <a:p>
            <a:pPr marL="0" indent="0">
              <a:buNone/>
            </a:pPr>
            <a:r>
              <a:rPr lang="en-US" altLang="zh-TW" dirty="0"/>
              <a:t>	</a:t>
            </a:r>
            <a:endParaRPr lang="en-US" altLang="zh-TW" b="0" i="0" dirty="0">
              <a:effectLst/>
            </a:endParaRPr>
          </a:p>
          <a:p>
            <a:pPr marL="0" indent="0" algn="l">
              <a:buNone/>
            </a:pPr>
            <a:endParaRPr lang="en-US" altLang="zh-TW" b="0" dirty="0">
              <a:effectLst/>
            </a:endParaRPr>
          </a:p>
          <a:p>
            <a:pPr algn="l"/>
            <a:endParaRPr lang="en-US" altLang="zh-TW" b="0" dirty="0">
              <a:effectLst/>
            </a:endParaRPr>
          </a:p>
          <a:p>
            <a:endParaRPr lang="zh-TW" altLang="en-US" dirty="0"/>
          </a:p>
        </p:txBody>
      </p:sp>
      <p:pic>
        <p:nvPicPr>
          <p:cNvPr id="4" name="圖片 3">
            <a:extLst>
              <a:ext uri="{FF2B5EF4-FFF2-40B4-BE49-F238E27FC236}">
                <a16:creationId xmlns:a16="http://schemas.microsoft.com/office/drawing/2014/main" id="{62DB2590-BBEB-4EDE-9FDF-2B8414629E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7830" y="185290"/>
            <a:ext cx="6966993" cy="1685231"/>
          </a:xfrm>
          <a:prstGeom prst="rect">
            <a:avLst/>
          </a:prstGeom>
        </p:spPr>
      </p:pic>
    </p:spTree>
    <p:extLst>
      <p:ext uri="{BB962C8B-B14F-4D97-AF65-F5344CB8AC3E}">
        <p14:creationId xmlns:p14="http://schemas.microsoft.com/office/powerpoint/2010/main" val="336848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6A7097C6-CF65-4FFB-ABC6-BAF532DBD7EB}"/>
              </a:ext>
            </a:extLst>
          </p:cNvPr>
          <p:cNvSpPr>
            <a:spLocks noGrp="1"/>
          </p:cNvSpPr>
          <p:nvPr>
            <p:ph idx="1"/>
          </p:nvPr>
        </p:nvSpPr>
        <p:spPr>
          <a:xfrm>
            <a:off x="327991" y="487017"/>
            <a:ext cx="11430871" cy="6303884"/>
          </a:xfrm>
        </p:spPr>
        <p:txBody>
          <a:bodyPr>
            <a:normAutofit/>
          </a:bodyPr>
          <a:lstStyle/>
          <a:p>
            <a:pPr marL="0" indent="0">
              <a:buNone/>
            </a:pPr>
            <a:r>
              <a:rPr lang="en-US" altLang="zh-TW" dirty="0"/>
              <a:t>If there exists an effective group in any Pareto optimal point of the problem, then it has </a:t>
            </a:r>
            <a:r>
              <a:rPr lang="en-US" altLang="zh-TW" u="sng" dirty="0"/>
              <a:t>infinite</a:t>
            </a:r>
            <a:r>
              <a:rPr lang="en-US" altLang="zh-TW" dirty="0"/>
              <a:t> number of Pareto optimal points.</a:t>
            </a:r>
          </a:p>
          <a:p>
            <a:pPr marL="0" indent="0">
              <a:buNone/>
            </a:pPr>
            <a:r>
              <a:rPr lang="en-US" altLang="zh-TW" dirty="0"/>
              <a:t>We only consider the situation where E and D are restricted to </a:t>
            </a:r>
            <a:r>
              <a:rPr lang="en-US" altLang="zh-TW" u="sng" dirty="0"/>
              <a:t>integer values </a:t>
            </a:r>
            <a:r>
              <a:rPr lang="en-US" altLang="zh-TW" dirty="0"/>
              <a:t>for the following three reasons. </a:t>
            </a:r>
          </a:p>
          <a:p>
            <a:r>
              <a:rPr lang="en-US" altLang="zh-TW" dirty="0"/>
              <a:t>First, we can find all Pareto optimal integer points by decreasing the value of ε by one each time.</a:t>
            </a:r>
          </a:p>
          <a:p>
            <a:r>
              <a:rPr lang="en-US" altLang="zh-TW" dirty="0"/>
              <a:t>Second, such a restriction also allows us to devise and </a:t>
            </a:r>
            <a:r>
              <a:rPr lang="en-US" altLang="zh-TW" u="sng" dirty="0"/>
              <a:t>incorporate specific local search algorithms </a:t>
            </a:r>
            <a:r>
              <a:rPr lang="en-US" altLang="zh-TW" dirty="0"/>
              <a:t>to enhance the basic ε-constraint method. </a:t>
            </a:r>
          </a:p>
          <a:p>
            <a:r>
              <a:rPr lang="en-US" altLang="zh-TW" dirty="0"/>
              <a:t>Third, the difference between an optimal integer value and an optimal real value can be made </a:t>
            </a:r>
            <a:r>
              <a:rPr lang="en-US" altLang="zh-TW" u="sng" dirty="0"/>
              <a:t>arbitrarily small by scaling on input data</a:t>
            </a:r>
            <a:r>
              <a:rPr lang="en-US" altLang="zh-TW" dirty="0"/>
              <a:t>. </a:t>
            </a:r>
          </a:p>
          <a:p>
            <a:pPr marL="0" indent="0">
              <a:buNone/>
            </a:pPr>
            <a:endParaRPr lang="en-US" altLang="zh-TW" dirty="0"/>
          </a:p>
          <a:p>
            <a:pPr marL="0" indent="0">
              <a:buNone/>
            </a:pPr>
            <a:r>
              <a:rPr lang="en-US" altLang="zh-TW" dirty="0"/>
              <a:t>Set </a:t>
            </a:r>
            <a:r>
              <a:rPr lang="en-US" altLang="zh-TW" u="sng" dirty="0"/>
              <a:t>maximum tardiness as the primary objective </a:t>
            </a:r>
            <a:r>
              <a:rPr lang="en-US" altLang="zh-TW" dirty="0"/>
              <a:t>and use </a:t>
            </a:r>
            <a:r>
              <a:rPr lang="en-US" altLang="zh-TW" u="sng" dirty="0"/>
              <a:t>the ε-constraint to formulate the energy consumption</a:t>
            </a:r>
            <a:r>
              <a:rPr lang="en-US" altLang="zh-TW" dirty="0"/>
              <a:t>.</a:t>
            </a:r>
            <a:endParaRPr lang="zh-TW" altLang="en-US" dirty="0"/>
          </a:p>
        </p:txBody>
      </p:sp>
    </p:spTree>
    <p:extLst>
      <p:ext uri="{BB962C8B-B14F-4D97-AF65-F5344CB8AC3E}">
        <p14:creationId xmlns:p14="http://schemas.microsoft.com/office/powerpoint/2010/main" val="3504699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63E448-705E-497A-867F-48BB95583BFE}"/>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F1CBD1E8-A232-4BD4-895F-289D03E08078}"/>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EF4666EF-001C-4FB9-96B5-B25239264918}"/>
              </a:ext>
            </a:extLst>
          </p:cNvPr>
          <p:cNvPicPr>
            <a:picLocks noChangeAspect="1"/>
          </p:cNvPicPr>
          <p:nvPr/>
        </p:nvPicPr>
        <p:blipFill>
          <a:blip r:embed="rId3"/>
          <a:stretch>
            <a:fillRect/>
          </a:stretch>
        </p:blipFill>
        <p:spPr>
          <a:xfrm>
            <a:off x="338976" y="365125"/>
            <a:ext cx="9976079" cy="5638110"/>
          </a:xfrm>
          <a:prstGeom prst="rect">
            <a:avLst/>
          </a:prstGeom>
        </p:spPr>
      </p:pic>
      <p:pic>
        <p:nvPicPr>
          <p:cNvPr id="6" name="圖片 5">
            <a:extLst>
              <a:ext uri="{FF2B5EF4-FFF2-40B4-BE49-F238E27FC236}">
                <a16:creationId xmlns:a16="http://schemas.microsoft.com/office/drawing/2014/main" id="{617EF591-A2DD-4738-A65E-1A57DC7889DF}"/>
              </a:ext>
            </a:extLst>
          </p:cNvPr>
          <p:cNvPicPr>
            <a:picLocks noChangeAspect="1"/>
          </p:cNvPicPr>
          <p:nvPr/>
        </p:nvPicPr>
        <p:blipFill rotWithShape="1">
          <a:blip r:embed="rId4"/>
          <a:srcRect t="23023" r="992"/>
          <a:stretch/>
        </p:blipFill>
        <p:spPr>
          <a:xfrm>
            <a:off x="8009861" y="191397"/>
            <a:ext cx="4091642" cy="2683565"/>
          </a:xfrm>
          <a:prstGeom prst="rect">
            <a:avLst/>
          </a:prstGeom>
        </p:spPr>
      </p:pic>
    </p:spTree>
    <p:extLst>
      <p:ext uri="{BB962C8B-B14F-4D97-AF65-F5344CB8AC3E}">
        <p14:creationId xmlns:p14="http://schemas.microsoft.com/office/powerpoint/2010/main" val="301949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C735BA-4482-4B01-B133-208C853698AB}"/>
              </a:ext>
            </a:extLst>
          </p:cNvPr>
          <p:cNvSpPr>
            <a:spLocks noGrp="1"/>
          </p:cNvSpPr>
          <p:nvPr>
            <p:ph type="title"/>
          </p:nvPr>
        </p:nvSpPr>
        <p:spPr>
          <a:xfrm>
            <a:off x="838199" y="365125"/>
            <a:ext cx="10631905" cy="1325563"/>
          </a:xfrm>
        </p:spPr>
        <p:txBody>
          <a:bodyPr/>
          <a:lstStyle/>
          <a:p>
            <a:r>
              <a:rPr lang="en-US" altLang="zh-TW"/>
              <a:t>Local search to enhanced </a:t>
            </a:r>
            <a:r>
              <a:rPr lang="el-GR" altLang="zh-TW"/>
              <a:t>ε–</a:t>
            </a:r>
            <a:r>
              <a:rPr lang="en-US" altLang="zh-TW"/>
              <a:t>constraint method</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C341B53E-FAF6-46AE-AF9D-B0F6E819205C}"/>
                  </a:ext>
                </a:extLst>
              </p:cNvPr>
              <p:cNvSpPr>
                <a:spLocks noGrp="1"/>
              </p:cNvSpPr>
              <p:nvPr>
                <p:ph idx="1"/>
              </p:nvPr>
            </p:nvSpPr>
            <p:spPr/>
            <p:txBody>
              <a:bodyPr>
                <a:normAutofit fontScale="92500"/>
              </a:bodyPr>
              <a:lstStyle/>
              <a:p>
                <a:r>
                  <a:rPr lang="en-US" altLang="zh-TW" dirty="0"/>
                  <a:t>In A1, each iteration will cause two MILP problem, it cause amount of time.</a:t>
                </a:r>
              </a:p>
              <a:p>
                <a:r>
                  <a:rPr lang="en-US" altLang="zh-TW" dirty="0"/>
                  <a:t>Using local search during each iteration, it only solving one MILP problem and finding the pareto optimal solution simultaneously. </a:t>
                </a:r>
              </a:p>
              <a:p>
                <a:r>
                  <a:rPr lang="en-US" altLang="zh-TW" dirty="0"/>
                  <a:t>Local search from pareto optimal solution point(</a:t>
                </a:r>
                <a14:m>
                  <m:oMath xmlns:m="http://schemas.openxmlformats.org/officeDocument/2006/math">
                    <m:sSup>
                      <m:sSupPr>
                        <m:ctrlPr>
                          <a:rPr lang="en-US" altLang="zh-TW" i="1">
                            <a:latin typeface="Cambria Math" panose="02040503050406030204" pitchFamily="18" charset="0"/>
                          </a:rPr>
                        </m:ctrlPr>
                      </m:sSupPr>
                      <m:e>
                        <m:r>
                          <a:rPr lang="en-US" altLang="zh-TW" b="0" i="1" smtClean="0">
                            <a:latin typeface="Cambria Math" panose="02040503050406030204" pitchFamily="18" charset="0"/>
                          </a:rPr>
                          <m:t>𝐸</m:t>
                        </m:r>
                      </m:e>
                      <m:sup>
                        <m:r>
                          <a:rPr lang="en-US" altLang="zh-TW" i="1">
                            <a:latin typeface="Cambria Math" panose="02040503050406030204" pitchFamily="18" charset="0"/>
                          </a:rPr>
                          <m:t>0</m:t>
                        </m:r>
                      </m:sup>
                    </m:sSup>
                  </m:oMath>
                </a14:m>
                <a:r>
                  <a:rPr lang="en-US" altLang="zh-TW" dirty="0"/>
                  <a:t>, </a:t>
                </a:r>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𝐷</m:t>
                        </m:r>
                      </m:e>
                      <m:sup>
                        <m:r>
                          <a:rPr lang="en-US" altLang="zh-TW" b="0" i="1" smtClean="0">
                            <a:latin typeface="Cambria Math" panose="02040503050406030204" pitchFamily="18" charset="0"/>
                          </a:rPr>
                          <m:t>0</m:t>
                        </m:r>
                      </m:sup>
                    </m:sSup>
                  </m:oMath>
                </a14:m>
                <a:r>
                  <a:rPr lang="en-US" altLang="zh-TW" dirty="0"/>
                  <a:t>), and find the next pareto optimal solution point which means it wont lost any optimal solution point as well.</a:t>
                </a:r>
              </a:p>
              <a:p>
                <a:pPr marL="0" indent="0">
                  <a:buNone/>
                </a:pPr>
                <a:endParaRPr lang="en-US" altLang="zh-TW" dirty="0"/>
              </a:p>
              <a:p>
                <a:pPr marL="0" indent="0">
                  <a:buNone/>
                </a:pPr>
                <a:r>
                  <a:rPr lang="en-US" altLang="zh-TW" dirty="0"/>
                  <a:t>Two types of operations for local search, which are applied when there exist effective groups in the Pareto optimal solution and no effective group exists, respectively.</a:t>
                </a:r>
              </a:p>
              <a:p>
                <a:pPr marL="0" indent="0" algn="l">
                  <a:buNone/>
                </a:pPr>
                <a:endParaRPr lang="en-US" altLang="zh-TW" b="1" i="0" dirty="0">
                  <a:solidFill>
                    <a:srgbClr val="2E2E2E"/>
                  </a:solidFill>
                  <a:effectLst/>
                  <a:latin typeface="NexusSerif"/>
                </a:endParaRPr>
              </a:p>
              <a:p>
                <a:endParaRPr lang="en-US" altLang="zh-TW" dirty="0"/>
              </a:p>
            </p:txBody>
          </p:sp>
        </mc:Choice>
        <mc:Fallback>
          <p:sp>
            <p:nvSpPr>
              <p:cNvPr id="3" name="內容版面配置區 2">
                <a:extLst>
                  <a:ext uri="{FF2B5EF4-FFF2-40B4-BE49-F238E27FC236}">
                    <a16:creationId xmlns:a16="http://schemas.microsoft.com/office/drawing/2014/main" id="{C341B53E-FAF6-46AE-AF9D-B0F6E819205C}"/>
                  </a:ext>
                </a:extLst>
              </p:cNvPr>
              <p:cNvSpPr>
                <a:spLocks noGrp="1" noRot="1" noChangeAspect="1" noMove="1" noResize="1" noEditPoints="1" noAdjustHandles="1" noChangeArrowheads="1" noChangeShapeType="1" noTextEdit="1"/>
              </p:cNvSpPr>
              <p:nvPr>
                <p:ph idx="1"/>
              </p:nvPr>
            </p:nvSpPr>
            <p:spPr>
              <a:blipFill>
                <a:blip r:embed="rId3"/>
                <a:stretch>
                  <a:fillRect l="-1043" t="-2101" r="-87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31257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F6347D-E395-4CFF-A9E7-B1C33D46C27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9466BED-8DC6-4ABF-AD54-9E02277CED95}"/>
              </a:ext>
            </a:extLst>
          </p:cNvPr>
          <p:cNvSpPr>
            <a:spLocks noGrp="1"/>
          </p:cNvSpPr>
          <p:nvPr>
            <p:ph idx="1"/>
          </p:nvPr>
        </p:nvSpPr>
        <p:spPr/>
        <p:txBody>
          <a:bodyPr/>
          <a:lstStyle/>
          <a:p>
            <a:r>
              <a:rPr lang="zh-TW" altLang="en-US" dirty="0"/>
              <a:t>對於</a:t>
            </a:r>
            <a:r>
              <a:rPr lang="en-US" altLang="zh-TW" dirty="0"/>
              <a:t>(E0,D0)</a:t>
            </a:r>
            <a:r>
              <a:rPr lang="zh-TW" altLang="en-US" dirty="0"/>
              <a:t>對應的解中存在有效組的情況，第一種局部搜索是將</a:t>
            </a:r>
            <a:r>
              <a:rPr lang="zh-TW" altLang="en-US" u="sng" dirty="0"/>
              <a:t>每個有效組中所有作業的開始時間推遲一個時間單位</a:t>
            </a:r>
            <a:r>
              <a:rPr lang="zh-TW" altLang="en-US" dirty="0"/>
              <a:t>。那麼我們就可以得到一個可行解，</a:t>
            </a:r>
            <a:endParaRPr lang="en-US" altLang="zh-TW" dirty="0"/>
          </a:p>
          <a:p>
            <a:r>
              <a:rPr lang="en-US" altLang="zh-TW" b="0" i="0" dirty="0">
                <a:solidFill>
                  <a:srgbClr val="2E2E2E"/>
                </a:solidFill>
                <a:effectLst/>
                <a:latin typeface="NexusSerif"/>
              </a:rPr>
              <a:t>local search fails when there exists no effective group in the solution.</a:t>
            </a:r>
          </a:p>
          <a:p>
            <a:pPr marL="0" indent="0">
              <a:buNone/>
            </a:pPr>
            <a:r>
              <a:rPr lang="zh-TW" altLang="en-US" dirty="0"/>
              <a:t>當解決方案中不存在有效組時，上述本地搜索將失敗。</a:t>
            </a:r>
            <a:endParaRPr lang="en-US" altLang="zh-TW" dirty="0">
              <a:solidFill>
                <a:srgbClr val="2E2E2E"/>
              </a:solidFill>
              <a:latin typeface="NexusSerif"/>
            </a:endParaRPr>
          </a:p>
          <a:p>
            <a:r>
              <a:rPr lang="en-US" altLang="zh-TW" b="0" i="0" dirty="0">
                <a:solidFill>
                  <a:srgbClr val="2E2E2E"/>
                </a:solidFill>
                <a:effectLst/>
                <a:latin typeface="NexusSerif"/>
              </a:rPr>
              <a:t>The next step after postponement is to check the Pareto optimality of the point (</a:t>
            </a:r>
            <a:r>
              <a:rPr lang="en-US" altLang="zh-TW" b="0" i="1" dirty="0">
                <a:solidFill>
                  <a:srgbClr val="2E2E2E"/>
                </a:solidFill>
                <a:effectLst/>
                <a:latin typeface="NexusSerif"/>
              </a:rPr>
              <a:t>E</a:t>
            </a:r>
            <a:r>
              <a:rPr lang="en-US" altLang="zh-TW" b="0" i="0" baseline="30000" dirty="0">
                <a:solidFill>
                  <a:srgbClr val="2E2E2E"/>
                </a:solidFill>
                <a:effectLst/>
                <a:latin typeface="NexusSerif"/>
              </a:rPr>
              <a:t>0</a:t>
            </a:r>
            <a:r>
              <a:rPr lang="en-US" altLang="zh-TW" b="0" i="0" dirty="0">
                <a:solidFill>
                  <a:srgbClr val="2E2E2E"/>
                </a:solidFill>
                <a:effectLst/>
                <a:latin typeface="NexusSerif"/>
              </a:rPr>
              <a:t> − </a:t>
            </a:r>
            <a:r>
              <a:rPr lang="en-US" altLang="zh-TW" b="0" i="1" dirty="0">
                <a:solidFill>
                  <a:srgbClr val="2E2E2E"/>
                </a:solidFill>
                <a:effectLst/>
                <a:latin typeface="NexusSerif"/>
              </a:rPr>
              <a:t>k</a:t>
            </a:r>
            <a:r>
              <a:rPr lang="en-US" altLang="zh-TW" b="0" i="0" baseline="-25000" dirty="0">
                <a:solidFill>
                  <a:srgbClr val="2E2E2E"/>
                </a:solidFill>
                <a:effectLst/>
                <a:latin typeface="NexusSerif"/>
              </a:rPr>
              <a:t>1</a:t>
            </a:r>
            <a:r>
              <a:rPr lang="en-US" altLang="zh-TW" b="0" i="0" dirty="0">
                <a:solidFill>
                  <a:srgbClr val="2E2E2E"/>
                </a:solidFill>
                <a:effectLst/>
                <a:latin typeface="NexusSerif"/>
              </a:rPr>
              <a:t>*</a:t>
            </a:r>
            <a:r>
              <a:rPr lang="en-US" altLang="zh-TW" b="0" i="1" dirty="0">
                <a:solidFill>
                  <a:srgbClr val="2E2E2E"/>
                </a:solidFill>
                <a:effectLst/>
                <a:latin typeface="NexusSerif"/>
              </a:rPr>
              <a:t>P</a:t>
            </a:r>
            <a:r>
              <a:rPr lang="en-US" altLang="zh-TW" b="0" i="1" baseline="-25000" dirty="0">
                <a:solidFill>
                  <a:srgbClr val="2E2E2E"/>
                </a:solidFill>
                <a:effectLst/>
                <a:latin typeface="NexusSerif"/>
              </a:rPr>
              <a:t>v</a:t>
            </a:r>
            <a:r>
              <a:rPr lang="en-US" altLang="zh-TW" b="0" i="1" dirty="0">
                <a:solidFill>
                  <a:srgbClr val="2E2E2E"/>
                </a:solidFill>
                <a:effectLst/>
                <a:latin typeface="NexusSerif"/>
              </a:rPr>
              <a:t>,D</a:t>
            </a:r>
            <a:r>
              <a:rPr lang="en-US" altLang="zh-TW" b="0" i="0" baseline="30000" dirty="0">
                <a:solidFill>
                  <a:srgbClr val="2E2E2E"/>
                </a:solidFill>
                <a:effectLst/>
                <a:latin typeface="NexusSerif"/>
              </a:rPr>
              <a:t>0</a:t>
            </a:r>
            <a:r>
              <a:rPr lang="en-US" altLang="zh-TW" b="0" i="0" dirty="0">
                <a:solidFill>
                  <a:srgbClr val="2E2E2E"/>
                </a:solidFill>
                <a:effectLst/>
                <a:latin typeface="NexusSerif"/>
              </a:rPr>
              <a:t> + 1).</a:t>
            </a:r>
            <a:endParaRPr lang="en-US" altLang="zh-TW" dirty="0">
              <a:solidFill>
                <a:srgbClr val="2E2E2E"/>
              </a:solidFill>
              <a:latin typeface="NexusSerif"/>
            </a:endParaRPr>
          </a:p>
          <a:p>
            <a:r>
              <a:rPr lang="en-US" altLang="zh-TW" b="0" i="0" dirty="0">
                <a:solidFill>
                  <a:srgbClr val="2E2E2E"/>
                </a:solidFill>
                <a:effectLst/>
                <a:latin typeface="NexusSerif"/>
              </a:rPr>
              <a:t> </a:t>
            </a:r>
            <a:endParaRPr lang="zh-TW" altLang="en-US" dirty="0"/>
          </a:p>
        </p:txBody>
      </p:sp>
    </p:spTree>
    <p:extLst>
      <p:ext uri="{BB962C8B-B14F-4D97-AF65-F5344CB8AC3E}">
        <p14:creationId xmlns:p14="http://schemas.microsoft.com/office/powerpoint/2010/main" val="2864237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0A2F8D36-DE1C-435E-B232-9D90D8F77971}"/>
                  </a:ext>
                </a:extLst>
              </p:cNvPr>
              <p:cNvSpPr>
                <a:spLocks noGrp="1"/>
              </p:cNvSpPr>
              <p:nvPr>
                <p:ph idx="1"/>
              </p:nvPr>
            </p:nvSpPr>
            <p:spPr>
              <a:xfrm>
                <a:off x="464000" y="280040"/>
                <a:ext cx="11727999" cy="6577960"/>
              </a:xfrm>
            </p:spPr>
            <p:txBody>
              <a:bodyPr>
                <a:normAutofit/>
              </a:bodyPr>
              <a:lstStyle/>
              <a:p>
                <a:pPr marL="0" indent="0" algn="l">
                  <a:buNone/>
                </a:pPr>
                <a:r>
                  <a:rPr lang="en-US" altLang="zh-TW" sz="2400" b="1" i="0" dirty="0">
                    <a:effectLst/>
                  </a:rPr>
                  <a:t>Theorem 6</a:t>
                </a:r>
                <a:endParaRPr lang="en-US" altLang="zh-TW" sz="2400" b="0" i="0" dirty="0">
                  <a:effectLst/>
                </a:endParaRPr>
              </a:p>
              <a:p>
                <a:pPr algn="l"/>
                <a:r>
                  <a:rPr lang="en-US" altLang="zh-TW" sz="2400" b="0" dirty="0">
                    <a:effectLst/>
                  </a:rPr>
                  <a:t>If there exists only </a:t>
                </a:r>
                <a:r>
                  <a:rPr lang="en-US" altLang="zh-TW" sz="2400" b="0" u="sng" dirty="0">
                    <a:effectLst/>
                  </a:rPr>
                  <a:t>one effective </a:t>
                </a:r>
                <a:r>
                  <a:rPr lang="en-US" altLang="zh-TW" sz="2400" b="0" dirty="0">
                    <a:effectLst/>
                  </a:rPr>
                  <a:t>group in the solution corresponding to (E</a:t>
                </a:r>
                <a:r>
                  <a:rPr lang="en-US" altLang="zh-TW" sz="2400" b="0" baseline="30000" dirty="0">
                    <a:effectLst/>
                  </a:rPr>
                  <a:t>0</a:t>
                </a:r>
                <a:r>
                  <a:rPr lang="en-US" altLang="zh-TW" sz="2400" b="0" dirty="0">
                    <a:effectLst/>
                  </a:rPr>
                  <a:t>,D</a:t>
                </a:r>
                <a:r>
                  <a:rPr lang="en-US" altLang="zh-TW" sz="2400" b="0" baseline="30000" dirty="0">
                    <a:effectLst/>
                  </a:rPr>
                  <a:t>0</a:t>
                </a:r>
                <a:r>
                  <a:rPr lang="en-US" altLang="zh-TW" sz="2400" b="0" dirty="0">
                    <a:effectLst/>
                  </a:rPr>
                  <a:t>), then we can obtain the feasible point (E</a:t>
                </a:r>
                <a:r>
                  <a:rPr lang="en-US" altLang="zh-TW" sz="2400" b="0" baseline="30000" dirty="0">
                    <a:effectLst/>
                  </a:rPr>
                  <a:t>0</a:t>
                </a:r>
                <a:r>
                  <a:rPr lang="en-US" altLang="zh-TW" sz="2400" b="0" dirty="0">
                    <a:effectLst/>
                  </a:rPr>
                  <a:t> − </a:t>
                </a:r>
                <a:r>
                  <a:rPr lang="en-US" altLang="zh-TW" sz="2400" b="0" dirty="0" err="1">
                    <a:effectLst/>
                  </a:rPr>
                  <a:t>P</a:t>
                </a:r>
                <a:r>
                  <a:rPr lang="en-US" altLang="zh-TW" sz="2400" b="0" baseline="-25000" dirty="0" err="1">
                    <a:effectLst/>
                  </a:rPr>
                  <a:t>v</a:t>
                </a:r>
                <a:r>
                  <a:rPr lang="en-US" altLang="zh-TW" sz="2400" b="0" baseline="-25000" dirty="0">
                    <a:effectLst/>
                  </a:rPr>
                  <a:t> </a:t>
                </a:r>
                <a:r>
                  <a:rPr lang="en-US" altLang="zh-TW" sz="2400" b="0" dirty="0">
                    <a:effectLst/>
                  </a:rPr>
                  <a:t>,D</a:t>
                </a:r>
                <a:r>
                  <a:rPr lang="en-US" altLang="zh-TW" sz="2400" b="0" baseline="30000" dirty="0">
                    <a:effectLst/>
                  </a:rPr>
                  <a:t>0</a:t>
                </a:r>
                <a:r>
                  <a:rPr lang="en-US" altLang="zh-TW" sz="2400" b="0" dirty="0">
                    <a:effectLst/>
                  </a:rPr>
                  <a:t> + </a:t>
                </a:r>
                <a:r>
                  <a:rPr lang="en-US" altLang="zh-TW" sz="2400" b="0" u="sng" dirty="0">
                    <a:effectLst/>
                  </a:rPr>
                  <a:t>1</a:t>
                </a:r>
                <a:r>
                  <a:rPr lang="en-US" altLang="zh-TW" sz="2400" b="0" dirty="0">
                    <a:effectLst/>
                  </a:rPr>
                  <a:t>) with local search, without missing out any of the integer Pareto optimal points.</a:t>
                </a:r>
              </a:p>
              <a:p>
                <a:pPr marL="0" indent="0" algn="l">
                  <a:buNone/>
                </a:pPr>
                <a:endParaRPr lang="en-US" altLang="zh-TW" sz="2400" b="1" i="0" dirty="0">
                  <a:effectLst/>
                </a:endParaRPr>
              </a:p>
              <a:p>
                <a:pPr marL="0" indent="0" algn="l">
                  <a:buNone/>
                </a:pPr>
                <a:r>
                  <a:rPr lang="en-US" altLang="zh-TW" sz="2400" b="1" i="0" dirty="0">
                    <a:effectLst/>
                  </a:rPr>
                  <a:t>Theorem 7</a:t>
                </a:r>
                <a:endParaRPr lang="en-US" altLang="zh-TW" sz="2400" b="0" i="0" dirty="0">
                  <a:effectLst/>
                </a:endParaRPr>
              </a:p>
              <a:p>
                <a:pPr algn="l"/>
                <a:r>
                  <a:rPr lang="en-US" altLang="zh-TW" sz="2400" b="0" dirty="0">
                    <a:effectLst/>
                  </a:rPr>
                  <a:t>If there exist k</a:t>
                </a:r>
                <a:r>
                  <a:rPr lang="en-US" altLang="zh-TW" sz="2400" b="0" baseline="-25000" dirty="0">
                    <a:effectLst/>
                  </a:rPr>
                  <a:t>1</a:t>
                </a:r>
                <a:r>
                  <a:rPr lang="en-US" altLang="zh-TW" sz="2400" b="0" u="sng" dirty="0">
                    <a:effectLst/>
                  </a:rPr>
                  <a:t> (k</a:t>
                </a:r>
                <a:r>
                  <a:rPr lang="en-US" altLang="zh-TW" sz="2400" b="0" u="sng" baseline="-25000" dirty="0">
                    <a:effectLst/>
                  </a:rPr>
                  <a:t>1</a:t>
                </a:r>
                <a:r>
                  <a:rPr lang="en-US" altLang="zh-TW" sz="2400" b="0" u="sng" dirty="0">
                    <a:effectLst/>
                  </a:rPr>
                  <a:t> ≥ 1) effective groups </a:t>
                </a:r>
                <a:r>
                  <a:rPr lang="en-US" altLang="zh-TW" sz="2400" b="0" dirty="0">
                    <a:effectLst/>
                  </a:rPr>
                  <a:t>in the solution corresponding to (E</a:t>
                </a:r>
                <a:r>
                  <a:rPr lang="en-US" altLang="zh-TW" sz="2400" b="0" baseline="30000" dirty="0">
                    <a:effectLst/>
                  </a:rPr>
                  <a:t>0</a:t>
                </a:r>
                <a:r>
                  <a:rPr lang="en-US" altLang="zh-TW" sz="2400" b="0" dirty="0">
                    <a:effectLst/>
                  </a:rPr>
                  <a:t>,D</a:t>
                </a:r>
                <a:r>
                  <a:rPr lang="en-US" altLang="zh-TW" sz="2400" b="0" baseline="30000" dirty="0">
                    <a:effectLst/>
                  </a:rPr>
                  <a:t>0</a:t>
                </a:r>
                <a:r>
                  <a:rPr lang="en-US" altLang="zh-TW" sz="2400" b="0" dirty="0">
                    <a:effectLst/>
                  </a:rPr>
                  <a:t>), then we can obtain the feasible point (E</a:t>
                </a:r>
                <a:r>
                  <a:rPr lang="en-US" altLang="zh-TW" sz="2400" b="0" baseline="30000" dirty="0">
                    <a:effectLst/>
                  </a:rPr>
                  <a:t>0</a:t>
                </a:r>
                <a:r>
                  <a:rPr lang="en-US" altLang="zh-TW" sz="2400" b="0" dirty="0">
                    <a:effectLst/>
                  </a:rPr>
                  <a:t> − k</a:t>
                </a:r>
                <a:r>
                  <a:rPr lang="en-US" altLang="zh-TW" sz="2400" b="0" baseline="-25000" dirty="0">
                    <a:effectLst/>
                  </a:rPr>
                  <a:t>1</a:t>
                </a:r>
                <a:r>
                  <a:rPr lang="en-US" altLang="zh-TW" sz="2400" b="0" dirty="0">
                    <a:effectLst/>
                  </a:rPr>
                  <a:t>*P</a:t>
                </a:r>
                <a:r>
                  <a:rPr lang="en-US" altLang="zh-TW" sz="2400" b="0" baseline="-25000" dirty="0">
                    <a:effectLst/>
                  </a:rPr>
                  <a:t>v</a:t>
                </a:r>
                <a:r>
                  <a:rPr lang="en-US" altLang="zh-TW" sz="2400" b="0" dirty="0">
                    <a:effectLst/>
                  </a:rPr>
                  <a:t>,D</a:t>
                </a:r>
                <a:r>
                  <a:rPr lang="en-US" altLang="zh-TW" sz="2400" b="0" baseline="30000" dirty="0">
                    <a:effectLst/>
                  </a:rPr>
                  <a:t>0</a:t>
                </a:r>
                <a:r>
                  <a:rPr lang="en-US" altLang="zh-TW" sz="2400" b="0" dirty="0">
                    <a:effectLst/>
                  </a:rPr>
                  <a:t> + 1) with local search and no integer Pareto optimal point is omitted from (E</a:t>
                </a:r>
                <a:r>
                  <a:rPr lang="en-US" altLang="zh-TW" sz="2400" b="0" baseline="30000" dirty="0">
                    <a:effectLst/>
                  </a:rPr>
                  <a:t>0</a:t>
                </a:r>
                <a:r>
                  <a:rPr lang="en-US" altLang="zh-TW" sz="2400" b="0" dirty="0">
                    <a:effectLst/>
                  </a:rPr>
                  <a:t>,D</a:t>
                </a:r>
                <a:r>
                  <a:rPr lang="en-US" altLang="zh-TW" sz="2400" b="0" baseline="30000" dirty="0">
                    <a:effectLst/>
                  </a:rPr>
                  <a:t>0</a:t>
                </a:r>
                <a:r>
                  <a:rPr lang="en-US" altLang="zh-TW" sz="2400" b="0" dirty="0">
                    <a:effectLst/>
                  </a:rPr>
                  <a:t>) to </a:t>
                </a:r>
                <a:r>
                  <a:rPr lang="en-US" altLang="zh-TW" sz="2400" b="0" u="sng" dirty="0">
                    <a:effectLst/>
                  </a:rPr>
                  <a:t>(E</a:t>
                </a:r>
                <a:r>
                  <a:rPr lang="en-US" altLang="zh-TW" sz="2400" b="0" u="sng" baseline="30000" dirty="0">
                    <a:effectLst/>
                  </a:rPr>
                  <a:t>0</a:t>
                </a:r>
                <a:r>
                  <a:rPr lang="en-US" altLang="zh-TW" sz="2400" b="0" u="sng" dirty="0">
                    <a:effectLst/>
                  </a:rPr>
                  <a:t> − k</a:t>
                </a:r>
                <a:r>
                  <a:rPr lang="en-US" altLang="zh-TW" sz="2400" b="0" u="sng" baseline="-25000" dirty="0">
                    <a:effectLst/>
                  </a:rPr>
                  <a:t>1</a:t>
                </a:r>
                <a:r>
                  <a:rPr lang="en-US" altLang="zh-TW" sz="2400" b="0" u="sng" dirty="0">
                    <a:effectLst/>
                  </a:rPr>
                  <a:t>*P</a:t>
                </a:r>
                <a:r>
                  <a:rPr lang="en-US" altLang="zh-TW" sz="2400" b="0" u="sng" baseline="-25000" dirty="0">
                    <a:effectLst/>
                  </a:rPr>
                  <a:t>v</a:t>
                </a:r>
                <a:r>
                  <a:rPr lang="en-US" altLang="zh-TW" sz="2400" b="0" u="sng" dirty="0">
                    <a:effectLst/>
                  </a:rPr>
                  <a:t>,D</a:t>
                </a:r>
                <a:r>
                  <a:rPr lang="en-US" altLang="zh-TW" sz="2400" b="0" u="sng" baseline="30000" dirty="0">
                    <a:effectLst/>
                  </a:rPr>
                  <a:t>0</a:t>
                </a:r>
                <a:r>
                  <a:rPr lang="en-US" altLang="zh-TW" sz="2400" b="0" u="sng" dirty="0">
                    <a:effectLst/>
                  </a:rPr>
                  <a:t> + 1).</a:t>
                </a:r>
              </a:p>
              <a:p>
                <a:pPr marL="0" indent="0">
                  <a:buNone/>
                </a:pPr>
                <a:endParaRPr lang="en-US" altLang="zh-TW" sz="2400" b="0" dirty="0">
                  <a:effectLst/>
                </a:endParaRPr>
              </a:p>
              <a:p>
                <a:pPr marL="0" indent="0">
                  <a:buNone/>
                </a:pPr>
                <a:r>
                  <a:rPr lang="en-US" altLang="zh-TW" sz="2400" dirty="0"/>
                  <a:t>W</a:t>
                </a:r>
                <a:r>
                  <a:rPr lang="en-US" altLang="zh-TW" sz="2400" b="0" i="0" dirty="0">
                    <a:solidFill>
                      <a:schemeClr val="tx1"/>
                    </a:solidFill>
                    <a:effectLst/>
                  </a:rPr>
                  <a:t>e solve </a:t>
                </a:r>
                <a14:m>
                  <m:oMath xmlns:m="http://schemas.openxmlformats.org/officeDocument/2006/math">
                    <m:sSubSup>
                      <m:sSubSupPr>
                        <m:ctrlPr>
                          <a:rPr lang="en-US" altLang="zh-TW" sz="2400" b="0" i="1" dirty="0" smtClean="0">
                            <a:solidFill>
                              <a:schemeClr val="tx1"/>
                            </a:solidFill>
                            <a:effectLst/>
                            <a:latin typeface="Cambria Math" panose="02040503050406030204" pitchFamily="18" charset="0"/>
                          </a:rPr>
                        </m:ctrlPr>
                      </m:sSubSupPr>
                      <m:e>
                        <m:r>
                          <a:rPr lang="en-US" altLang="zh-TW" sz="2400" b="0" i="1" dirty="0" smtClean="0">
                            <a:solidFill>
                              <a:schemeClr val="tx1"/>
                            </a:solidFill>
                            <a:effectLst/>
                            <a:latin typeface="Cambria Math" panose="02040503050406030204" pitchFamily="18" charset="0"/>
                          </a:rPr>
                          <m:t>𝑃</m:t>
                        </m:r>
                      </m:e>
                      <m:sub>
                        <m:r>
                          <a:rPr lang="en-US" altLang="zh-TW" sz="2400" b="0" i="1" dirty="0" smtClean="0">
                            <a:solidFill>
                              <a:schemeClr val="tx1"/>
                            </a:solidFill>
                            <a:effectLst/>
                            <a:latin typeface="Cambria Math" panose="02040503050406030204" pitchFamily="18" charset="0"/>
                          </a:rPr>
                          <m:t>𝐸</m:t>
                        </m:r>
                      </m:sub>
                      <m:sup>
                        <m:r>
                          <a:rPr lang="en-US" altLang="zh-TW" sz="2400" b="0" i="1" dirty="0" smtClean="0">
                            <a:solidFill>
                              <a:schemeClr val="tx1"/>
                            </a:solidFill>
                            <a:effectLst/>
                            <a:latin typeface="Cambria Math" panose="02040503050406030204" pitchFamily="18" charset="0"/>
                          </a:rPr>
                          <m:t>′</m:t>
                        </m:r>
                      </m:sup>
                    </m:sSubSup>
                    <m:r>
                      <a:rPr lang="en-US" altLang="zh-TW" sz="2400" b="0" i="1" dirty="0" smtClean="0">
                        <a:solidFill>
                          <a:schemeClr val="tx1"/>
                        </a:solidFill>
                        <a:effectLst/>
                        <a:latin typeface="Cambria Math" panose="02040503050406030204" pitchFamily="18" charset="0"/>
                      </a:rPr>
                      <m:t> </m:t>
                    </m:r>
                  </m:oMath>
                </a14:m>
                <a:r>
                  <a:rPr lang="en-US" altLang="zh-TW" sz="2400" b="0" i="0" dirty="0">
                    <a:solidFill>
                      <a:schemeClr val="tx1"/>
                    </a:solidFill>
                    <a:effectLst/>
                  </a:rPr>
                  <a:t>(</a:t>
                </a:r>
                <a:r>
                  <a:rPr lang="en-US" altLang="zh-TW" sz="2400" dirty="0"/>
                  <a:t>D</a:t>
                </a:r>
                <a:r>
                  <a:rPr lang="en-US" altLang="zh-TW" sz="2400" baseline="30000" dirty="0"/>
                  <a:t>0</a:t>
                </a:r>
                <a:r>
                  <a:rPr lang="en-US" altLang="zh-TW" sz="2400" dirty="0"/>
                  <a:t> + 1</a:t>
                </a:r>
                <a:r>
                  <a:rPr lang="en-US" altLang="zh-TW" sz="2400" b="0" i="0" dirty="0">
                    <a:solidFill>
                      <a:schemeClr val="tx1"/>
                    </a:solidFill>
                    <a:effectLst/>
                  </a:rPr>
                  <a:t>) and obtain </a:t>
                </a:r>
                <a:r>
                  <a:rPr lang="en-US" altLang="zh-TW" sz="2400" b="0" i="1" dirty="0">
                    <a:solidFill>
                      <a:schemeClr val="tx1"/>
                    </a:solidFill>
                    <a:effectLst/>
                  </a:rPr>
                  <a:t>E</a:t>
                </a:r>
                <a:r>
                  <a:rPr lang="en-US" altLang="zh-TW" sz="2400" b="0" i="0" dirty="0">
                    <a:solidFill>
                      <a:schemeClr val="tx1"/>
                    </a:solidFill>
                    <a:effectLst/>
                  </a:rPr>
                  <a:t>′(</a:t>
                </a:r>
                <a:r>
                  <a:rPr lang="en-US" altLang="zh-TW" sz="2400" b="0" i="1" dirty="0">
                    <a:solidFill>
                      <a:schemeClr val="tx1"/>
                    </a:solidFill>
                    <a:effectLst/>
                  </a:rPr>
                  <a:t>D</a:t>
                </a:r>
                <a:r>
                  <a:rPr lang="en-US" altLang="zh-TW" sz="2400" b="0" i="0" baseline="30000" dirty="0">
                    <a:solidFill>
                      <a:schemeClr val="tx1"/>
                    </a:solidFill>
                    <a:effectLst/>
                  </a:rPr>
                  <a:t>0</a:t>
                </a:r>
                <a:r>
                  <a:rPr lang="en-US" altLang="zh-TW" sz="2400" b="0" i="0" dirty="0">
                    <a:solidFill>
                      <a:schemeClr val="tx1"/>
                    </a:solidFill>
                    <a:effectLst/>
                  </a:rPr>
                  <a:t> + 1). It is clear that </a:t>
                </a:r>
                <a:r>
                  <a:rPr lang="en-US" altLang="zh-TW" sz="2400" b="0" i="0" u="sng" dirty="0">
                    <a:solidFill>
                      <a:schemeClr val="tx1"/>
                    </a:solidFill>
                    <a:effectLst/>
                  </a:rPr>
                  <a:t>(</a:t>
                </a:r>
                <a:r>
                  <a:rPr lang="en-US" altLang="zh-TW" sz="2400" b="0" i="1" u="sng" dirty="0">
                    <a:solidFill>
                      <a:schemeClr val="tx1"/>
                    </a:solidFill>
                    <a:effectLst/>
                  </a:rPr>
                  <a:t>E</a:t>
                </a:r>
                <a:r>
                  <a:rPr lang="en-US" altLang="zh-TW" sz="2400" b="0" i="0" u="sng" dirty="0">
                    <a:solidFill>
                      <a:schemeClr val="tx1"/>
                    </a:solidFill>
                    <a:effectLst/>
                  </a:rPr>
                  <a:t>′(</a:t>
                </a:r>
                <a:r>
                  <a:rPr lang="en-US" altLang="zh-TW" sz="2400" b="0" i="1" u="sng" dirty="0">
                    <a:solidFill>
                      <a:schemeClr val="tx1"/>
                    </a:solidFill>
                    <a:effectLst/>
                  </a:rPr>
                  <a:t>D</a:t>
                </a:r>
                <a:r>
                  <a:rPr lang="en-US" altLang="zh-TW" sz="2400" b="0" i="0" u="sng" baseline="30000" dirty="0">
                    <a:solidFill>
                      <a:schemeClr val="tx1"/>
                    </a:solidFill>
                    <a:effectLst/>
                  </a:rPr>
                  <a:t>0</a:t>
                </a:r>
                <a:r>
                  <a:rPr lang="en-US" altLang="zh-TW" sz="2400" b="0" i="0" u="sng" dirty="0">
                    <a:solidFill>
                      <a:schemeClr val="tx1"/>
                    </a:solidFill>
                    <a:effectLst/>
                  </a:rPr>
                  <a:t> + 1), </a:t>
                </a:r>
                <a:r>
                  <a:rPr lang="en-US" altLang="zh-TW" sz="2400" b="0" i="1" u="sng" dirty="0">
                    <a:solidFill>
                      <a:schemeClr val="tx1"/>
                    </a:solidFill>
                    <a:effectLst/>
                  </a:rPr>
                  <a:t>D</a:t>
                </a:r>
                <a:r>
                  <a:rPr lang="en-US" altLang="zh-TW" sz="2400" b="0" i="0" u="sng" baseline="30000" dirty="0">
                    <a:solidFill>
                      <a:schemeClr val="tx1"/>
                    </a:solidFill>
                    <a:effectLst/>
                  </a:rPr>
                  <a:t>0</a:t>
                </a:r>
                <a:r>
                  <a:rPr lang="en-US" altLang="zh-TW" sz="2400" b="0" i="0" u="sng" dirty="0">
                    <a:solidFill>
                      <a:schemeClr val="tx1"/>
                    </a:solidFill>
                    <a:effectLst/>
                  </a:rPr>
                  <a:t> + 1) is the next Pareto optimal point</a:t>
                </a:r>
                <a:r>
                  <a:rPr lang="en-US" altLang="zh-TW" sz="2400" b="0" i="0" u="sng" dirty="0">
                    <a:solidFill>
                      <a:srgbClr val="2E2E2E"/>
                    </a:solidFill>
                    <a:effectLst/>
                  </a:rPr>
                  <a:t>.</a:t>
                </a:r>
                <a:endParaRPr lang="en-US" altLang="zh-TW" sz="2400" u="sng" dirty="0">
                  <a:solidFill>
                    <a:srgbClr val="2E2E2E"/>
                  </a:solidFill>
                </a:endParaRPr>
              </a:p>
              <a:p>
                <a:pPr marL="0" indent="0">
                  <a:buNone/>
                </a:pPr>
                <a:r>
                  <a:rPr lang="en-US" altLang="zh-TW" sz="2400" dirty="0"/>
                  <a:t>The above local search fails when there exists no effective group in the solution. </a:t>
                </a:r>
              </a:p>
              <a:p>
                <a:pPr marL="0" indent="0">
                  <a:buNone/>
                </a:pPr>
                <a:r>
                  <a:rPr lang="en-US" altLang="zh-TW" sz="2400" dirty="0"/>
                  <a:t>To tackle such condition, we first give the definition of blocked group, on which the second type of local search is based. </a:t>
                </a:r>
                <a:endParaRPr lang="zh-TW" altLang="en-US" sz="2400" dirty="0"/>
              </a:p>
              <a:p>
                <a:pPr marL="0" indent="0">
                  <a:buNone/>
                </a:pPr>
                <a:endParaRPr lang="zh-TW" altLang="en-US" sz="2400" dirty="0"/>
              </a:p>
            </p:txBody>
          </p:sp>
        </mc:Choice>
        <mc:Fallback>
          <p:sp>
            <p:nvSpPr>
              <p:cNvPr id="3" name="內容版面配置區 2">
                <a:extLst>
                  <a:ext uri="{FF2B5EF4-FFF2-40B4-BE49-F238E27FC236}">
                    <a16:creationId xmlns:a16="http://schemas.microsoft.com/office/drawing/2014/main" id="{0A2F8D36-DE1C-435E-B232-9D90D8F77971}"/>
                  </a:ext>
                </a:extLst>
              </p:cNvPr>
              <p:cNvSpPr>
                <a:spLocks noGrp="1" noRot="1" noChangeAspect="1" noMove="1" noResize="1" noEditPoints="1" noAdjustHandles="1" noChangeArrowheads="1" noChangeShapeType="1" noTextEdit="1"/>
              </p:cNvSpPr>
              <p:nvPr>
                <p:ph idx="1"/>
              </p:nvPr>
            </p:nvSpPr>
            <p:spPr>
              <a:xfrm>
                <a:off x="464000" y="280040"/>
                <a:ext cx="11727999" cy="6577960"/>
              </a:xfrm>
              <a:blipFill>
                <a:blip r:embed="rId3"/>
                <a:stretch>
                  <a:fillRect l="-780" t="-1297" r="-78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54430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2">
                <a:extLst>
                  <a:ext uri="{FF2B5EF4-FFF2-40B4-BE49-F238E27FC236}">
                    <a16:creationId xmlns:a16="http://schemas.microsoft.com/office/drawing/2014/main" id="{7C591307-A821-46DD-9D33-6DF98974A18B}"/>
                  </a:ext>
                </a:extLst>
              </p:cNvPr>
              <p:cNvSpPr>
                <a:spLocks noGrp="1" noChangeArrowheads="1"/>
              </p:cNvSpPr>
              <p:nvPr>
                <p:ph idx="1"/>
              </p:nvPr>
            </p:nvSpPr>
            <p:spPr bwMode="auto">
              <a:xfrm>
                <a:off x="79513" y="2377161"/>
                <a:ext cx="12225130" cy="314252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indent="-457200"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TW" b="1" i="0" u="none" strike="noStrike" cap="none" normalizeH="0" baseline="0" dirty="0">
                  <a:ln>
                    <a:noFill/>
                  </a:ln>
                  <a:solidFill>
                    <a:schemeClr val="tx1"/>
                  </a:solidFill>
                  <a:effectLst/>
                  <a:latin typeface="Times New Roman" panose="02020603050405020304" pitchFamily="18" charset="0"/>
                  <a:ea typeface="NexusSerif"/>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b="1" i="0" u="none" strike="noStrike" cap="none" normalizeH="0" baseline="0" dirty="0">
                    <a:ln>
                      <a:noFill/>
                    </a:ln>
                    <a:solidFill>
                      <a:schemeClr val="tx1"/>
                    </a:solidFill>
                    <a:effectLst/>
                    <a:latin typeface="Times New Roman" panose="02020603050405020304" pitchFamily="18" charset="0"/>
                    <a:ea typeface="NexusSerif"/>
                  </a:rPr>
                  <a:t>Definition 6</a:t>
                </a:r>
                <a:endParaRPr kumimoji="0" lang="zh-TW" altLang="zh-TW" b="0" i="0" u="none" strike="noStrike" cap="none" normalizeH="0" baseline="0" dirty="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b="0" strike="noStrike" cap="none" normalizeH="0" baseline="0" dirty="0">
                    <a:ln>
                      <a:noFill/>
                    </a:ln>
                    <a:solidFill>
                      <a:schemeClr val="tx1"/>
                    </a:solidFill>
                    <a:effectLst/>
                    <a:latin typeface="Times New Roman" panose="02020603050405020304" pitchFamily="18" charset="0"/>
                    <a:ea typeface="NexusSerif"/>
                  </a:rPr>
                  <a:t>A</a:t>
                </a:r>
                <a:r>
                  <a:rPr kumimoji="0" lang="zh-TW" altLang="zh-TW" b="0" u="sng" strike="noStrike" cap="none" normalizeH="0" baseline="0" dirty="0">
                    <a:ln>
                      <a:noFill/>
                    </a:ln>
                    <a:solidFill>
                      <a:schemeClr val="tx1"/>
                    </a:solidFill>
                    <a:effectLst/>
                    <a:latin typeface="Times New Roman" panose="02020603050405020304" pitchFamily="18" charset="0"/>
                    <a:ea typeface="NexusSerif"/>
                  </a:rPr>
                  <a:t> blocked group G</a:t>
                </a:r>
                <a:r>
                  <a:rPr kumimoji="0" lang="zh-TW" altLang="zh-TW" b="0" u="sng" strike="noStrike" cap="none" normalizeH="0" baseline="-30000" dirty="0">
                    <a:ln>
                      <a:noFill/>
                    </a:ln>
                    <a:solidFill>
                      <a:schemeClr val="tx1"/>
                    </a:solidFill>
                    <a:effectLst/>
                    <a:latin typeface="Times New Roman" panose="02020603050405020304" pitchFamily="18" charset="0"/>
                    <a:ea typeface="NexusSerif"/>
                  </a:rPr>
                  <a:t>b</a:t>
                </a:r>
                <a:r>
                  <a:rPr kumimoji="0" lang="zh-TW" altLang="zh-TW" b="0" u="sng" strike="noStrike" cap="none" normalizeH="0" baseline="0" dirty="0">
                    <a:ln>
                      <a:noFill/>
                    </a:ln>
                    <a:solidFill>
                      <a:schemeClr val="tx1"/>
                    </a:solidFill>
                    <a:effectLst/>
                    <a:latin typeface="Times New Roman" panose="02020603050405020304" pitchFamily="18" charset="0"/>
                    <a:ea typeface="NexusSerif"/>
                  </a:rPr>
                  <a:t> </a:t>
                </a:r>
                <a:r>
                  <a:rPr kumimoji="0" lang="zh-TW" altLang="zh-TW" b="0" i="0" u="none" strike="noStrike" cap="none" normalizeH="0" baseline="0" dirty="0">
                    <a:ln>
                      <a:noFill/>
                    </a:ln>
                    <a:solidFill>
                      <a:schemeClr val="tx1"/>
                    </a:solidFill>
                    <a:effectLst/>
                    <a:latin typeface="Times New Roman" panose="02020603050405020304" pitchFamily="18" charset="0"/>
                    <a:ea typeface="NexusSerif"/>
                  </a:rPr>
                  <a:t>is the one that satisfies:</a:t>
                </a:r>
                <a:endParaRPr kumimoji="0" lang="zh-TW" altLang="zh-TW" b="0" i="0" u="none" strike="noStrike" cap="none" normalizeH="0" baseline="0" dirty="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b="0" i="0" u="none" strike="noStrike" cap="none" normalizeH="0" baseline="0" dirty="0">
                    <a:ln>
                      <a:noFill/>
                    </a:ln>
                    <a:solidFill>
                      <a:schemeClr val="tx1"/>
                    </a:solidFill>
                    <a:effectLst/>
                    <a:latin typeface="Times New Roman" panose="02020603050405020304" pitchFamily="18" charset="0"/>
                  </a:rPr>
                  <a:t>1)</a:t>
                </a:r>
                <a:r>
                  <a:rPr kumimoji="0" lang="zh-TW" altLang="zh-TW" sz="2800" b="0" i="0" u="none" strike="noStrike" cap="none" normalizeH="0" baseline="0" dirty="0">
                    <a:ln>
                      <a:noFill/>
                    </a:ln>
                    <a:solidFill>
                      <a:schemeClr val="tx1"/>
                    </a:solidFill>
                    <a:effectLst/>
                    <a:latin typeface="Times New Roman" panose="02020603050405020304" pitchFamily="18" charset="0"/>
                  </a:rPr>
                  <a:t>The starting time of</a:t>
                </a:r>
                <a:r>
                  <a:rPr lang="zh-TW" altLang="zh-TW" sz="2800" i="1" dirty="0">
                    <a:solidFill>
                      <a:schemeClr val="tx1"/>
                    </a:solidFill>
                    <a:latin typeface="Times New Roman" panose="02020603050405020304" pitchFamily="18" charset="0"/>
                    <a:ea typeface="NexusSerif"/>
                  </a:rPr>
                  <a:t> </a:t>
                </a:r>
                <a14:m>
                  <m:oMath xmlns:m="http://schemas.openxmlformats.org/officeDocument/2006/math">
                    <m:sSubSup>
                      <m:sSubSupPr>
                        <m:ctrlPr>
                          <a:rPr lang="en-US" altLang="zh-TW" sz="2800" i="1" dirty="0" smtClean="0">
                            <a:solidFill>
                              <a:schemeClr val="tx1"/>
                            </a:solidFill>
                            <a:latin typeface="Cambria Math" panose="02040503050406030204" pitchFamily="18" charset="0"/>
                          </a:rPr>
                        </m:ctrlPr>
                      </m:sSubSupPr>
                      <m:e>
                        <m:r>
                          <a:rPr lang="en-US" altLang="zh-TW" sz="2800" b="0" i="1" dirty="0" smtClean="0">
                            <a:solidFill>
                              <a:schemeClr val="tx1"/>
                            </a:solidFill>
                            <a:latin typeface="Cambria Math" panose="02040503050406030204" pitchFamily="18" charset="0"/>
                          </a:rPr>
                          <m:t>𝐺</m:t>
                        </m:r>
                      </m:e>
                      <m:sub>
                        <m:r>
                          <a:rPr lang="en-US" altLang="zh-TW" sz="2800" b="0" i="1" dirty="0" smtClean="0">
                            <a:solidFill>
                              <a:schemeClr val="tx1"/>
                            </a:solidFill>
                            <a:latin typeface="Cambria Math" panose="02040503050406030204" pitchFamily="18" charset="0"/>
                          </a:rPr>
                          <m:t>𝑏</m:t>
                        </m:r>
                      </m:sub>
                      <m:sup>
                        <m:r>
                          <a:rPr lang="en-US" altLang="zh-TW" sz="2800" b="0" i="1" dirty="0" smtClean="0">
                            <a:solidFill>
                              <a:schemeClr val="tx1"/>
                            </a:solidFill>
                            <a:latin typeface="Cambria Math" panose="02040503050406030204" pitchFamily="18" charset="0"/>
                          </a:rPr>
                          <m:t>1</m:t>
                        </m:r>
                      </m:sup>
                    </m:sSubSup>
                  </m:oMath>
                </a14:m>
                <a:r>
                  <a:rPr kumimoji="0" lang="zh-TW" altLang="zh-TW" sz="2800" b="0" i="0" u="none" strike="noStrike" cap="none" normalizeH="0" baseline="0" dirty="0">
                    <a:ln>
                      <a:noFill/>
                    </a:ln>
                    <a:solidFill>
                      <a:schemeClr val="tx1"/>
                    </a:solidFill>
                    <a:effectLst/>
                    <a:latin typeface="Times New Roman" panose="02020603050405020304" pitchFamily="18" charset="0"/>
                  </a:rPr>
                  <a:t>exceeds the completion time of </a:t>
                </a:r>
                <a:r>
                  <a:rPr lang="en-US" altLang="zh-TW" sz="2800" dirty="0">
                    <a:solidFill>
                      <a:schemeClr val="tx1"/>
                    </a:solidFill>
                    <a:latin typeface="Times New Roman" panose="02020603050405020304" pitchFamily="18" charset="0"/>
                  </a:rPr>
                  <a:t> </a:t>
                </a:r>
                <a14:m>
                  <m:oMath xmlns:m="http://schemas.openxmlformats.org/officeDocument/2006/math">
                    <m:sSubSup>
                      <m:sSubSupPr>
                        <m:ctrlPr>
                          <a:rPr lang="en-US" altLang="zh-TW" sz="2800" i="1" dirty="0" smtClean="0">
                            <a:solidFill>
                              <a:schemeClr val="tx1"/>
                            </a:solidFill>
                            <a:latin typeface="Cambria Math" panose="02040503050406030204" pitchFamily="18" charset="0"/>
                          </a:rPr>
                        </m:ctrlPr>
                      </m:sSubSupPr>
                      <m:e>
                        <m:r>
                          <a:rPr lang="en-US" altLang="zh-TW" sz="2800" i="1" dirty="0">
                            <a:solidFill>
                              <a:schemeClr val="tx1"/>
                            </a:solidFill>
                            <a:latin typeface="Cambria Math" panose="02040503050406030204" pitchFamily="18" charset="0"/>
                          </a:rPr>
                          <m:t>𝐺</m:t>
                        </m:r>
                      </m:e>
                      <m:sub>
                        <m:r>
                          <a:rPr lang="en-US" altLang="zh-TW" sz="2800" i="1" dirty="0">
                            <a:solidFill>
                              <a:schemeClr val="tx1"/>
                            </a:solidFill>
                            <a:latin typeface="Cambria Math" panose="02040503050406030204" pitchFamily="18" charset="0"/>
                          </a:rPr>
                          <m:t>𝑏</m:t>
                        </m:r>
                        <m:r>
                          <a:rPr lang="en-US" altLang="zh-TW" sz="2800" b="0" i="1" dirty="0" smtClean="0">
                            <a:solidFill>
                              <a:schemeClr val="tx1"/>
                            </a:solidFill>
                            <a:latin typeface="Cambria Math" panose="02040503050406030204" pitchFamily="18" charset="0"/>
                          </a:rPr>
                          <m:t>−1</m:t>
                        </m:r>
                      </m:sub>
                      <m:sup>
                        <m:sSub>
                          <m:sSubPr>
                            <m:ctrlPr>
                              <a:rPr lang="en-US" altLang="zh-TW" sz="280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𝑁</m:t>
                            </m:r>
                          </m:e>
                          <m:sub>
                            <m:r>
                              <a:rPr lang="en-US" altLang="zh-TW" sz="2800" b="0" i="1" dirty="0" smtClean="0">
                                <a:solidFill>
                                  <a:schemeClr val="tx1"/>
                                </a:solidFill>
                                <a:latin typeface="Cambria Math" panose="02040503050406030204" pitchFamily="18" charset="0"/>
                              </a:rPr>
                              <m:t>𝑏</m:t>
                            </m:r>
                            <m:r>
                              <a:rPr lang="en-US" altLang="zh-TW" sz="2800" b="0" i="1" dirty="0" smtClean="0">
                                <a:solidFill>
                                  <a:schemeClr val="tx1"/>
                                </a:solidFill>
                                <a:latin typeface="Cambria Math" panose="02040503050406030204" pitchFamily="18" charset="0"/>
                              </a:rPr>
                              <m:t>−1</m:t>
                            </m:r>
                          </m:sub>
                        </m:sSub>
                      </m:sup>
                    </m:sSubSup>
                    <m:r>
                      <a:rPr lang="en-US" altLang="zh-TW" sz="2800" i="1" dirty="0">
                        <a:solidFill>
                          <a:schemeClr val="tx1"/>
                        </a:solidFill>
                        <a:latin typeface="Cambria Math" panose="02040503050406030204" pitchFamily="18" charset="0"/>
                      </a:rPr>
                      <m:t> </m:t>
                    </m:r>
                  </m:oMath>
                </a14:m>
                <a:r>
                  <a:rPr kumimoji="0" lang="zh-TW" altLang="zh-TW" sz="2800" b="0" i="0" u="none" strike="noStrike" cap="none" normalizeH="0" baseline="0" dirty="0">
                    <a:ln>
                      <a:noFill/>
                    </a:ln>
                    <a:solidFill>
                      <a:schemeClr val="tx1"/>
                    </a:solidFill>
                    <a:effectLst/>
                    <a:latin typeface="Times New Roman" panose="02020603050405020304" pitchFamily="18" charset="0"/>
                  </a:rPr>
                  <a:t> by no less than </a:t>
                </a:r>
                <a:r>
                  <a:rPr kumimoji="0" lang="zh-TW" altLang="zh-TW" sz="2800" b="0" i="1" u="none" strike="noStrike" cap="none" normalizeH="0" baseline="0" dirty="0">
                    <a:ln>
                      <a:noFill/>
                    </a:ln>
                    <a:solidFill>
                      <a:schemeClr val="tx1"/>
                    </a:solidFill>
                    <a:effectLst/>
                    <a:latin typeface="Times New Roman" panose="02020603050405020304" pitchFamily="18" charset="0"/>
                  </a:rPr>
                  <a:t>T</a:t>
                </a:r>
                <a:r>
                  <a:rPr kumimoji="0" lang="zh-TW" altLang="zh-TW" sz="2800" b="0" i="1" u="none" strike="noStrike" cap="none" normalizeH="0" baseline="-30000" dirty="0">
                    <a:ln>
                      <a:noFill/>
                    </a:ln>
                    <a:solidFill>
                      <a:schemeClr val="tx1"/>
                    </a:solidFill>
                    <a:effectLst/>
                    <a:latin typeface="Times New Roman" panose="02020603050405020304" pitchFamily="18" charset="0"/>
                  </a:rPr>
                  <a:t>B</a:t>
                </a:r>
                <a:r>
                  <a:rPr kumimoji="0" lang="zh-TW" altLang="zh-TW" sz="2800" b="0" i="0" u="none" strike="noStrike" cap="none" normalizeH="0" baseline="0" dirty="0">
                    <a:ln>
                      <a:noFill/>
                    </a:ln>
                    <a:solidFill>
                      <a:schemeClr val="tx1"/>
                    </a:solidFill>
                    <a:effectLst/>
                    <a:latin typeface="Times New Roman" panose="02020603050405020304" pitchFamily="18" charset="0"/>
                  </a:rPr>
                  <a:t>;</a:t>
                </a:r>
                <a:endParaRPr kumimoji="0" lang="en-US" altLang="zh-TW" sz="2800" b="0" i="0" u="none" strike="noStrike" cap="none" normalizeH="0" baseline="0" dirty="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zh-TW" sz="2800" b="0" i="0" u="none" strike="noStrike" cap="none" normalizeH="0" baseline="0" dirty="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b="0" i="0" u="none" strike="noStrike" cap="none" normalizeH="0" baseline="0" dirty="0">
                    <a:ln>
                      <a:noFill/>
                    </a:ln>
                    <a:solidFill>
                      <a:schemeClr val="tx1"/>
                    </a:solidFill>
                    <a:effectLst/>
                    <a:latin typeface="Times New Roman" panose="02020603050405020304" pitchFamily="18" charset="0"/>
                  </a:rPr>
                  <a:t>2)</a:t>
                </a:r>
                <a:r>
                  <a:rPr kumimoji="0" lang="en-US" altLang="zh-TW" b="0" i="0" u="none" strike="noStrike" cap="none" normalizeH="0" dirty="0">
                    <a:ln>
                      <a:noFill/>
                    </a:ln>
                    <a:solidFill>
                      <a:schemeClr val="tx1"/>
                    </a:solidFill>
                    <a:effectLst/>
                    <a:latin typeface="Times New Roman" panose="02020603050405020304" pitchFamily="18" charset="0"/>
                  </a:rPr>
                  <a:t> </a:t>
                </a:r>
                <a:r>
                  <a:rPr kumimoji="0" lang="zh-TW" altLang="zh-TW" sz="2800" b="0" i="0" u="none" strike="noStrike" cap="none" normalizeH="0" baseline="0" dirty="0">
                    <a:ln>
                      <a:noFill/>
                    </a:ln>
                    <a:solidFill>
                      <a:schemeClr val="tx1"/>
                    </a:solidFill>
                    <a:effectLst/>
                    <a:latin typeface="Times New Roman" panose="02020603050405020304" pitchFamily="18" charset="0"/>
                  </a:rPr>
                  <a:t>The starting time of </a:t>
                </a:r>
                <a:r>
                  <a:rPr lang="en-US" altLang="zh-TW" sz="2800" dirty="0">
                    <a:solidFill>
                      <a:schemeClr val="tx1"/>
                    </a:solidFill>
                    <a:latin typeface="Times New Roman" panose="02020603050405020304" pitchFamily="18" charset="0"/>
                  </a:rPr>
                  <a:t> </a:t>
                </a:r>
                <a14:m>
                  <m:oMath xmlns:m="http://schemas.openxmlformats.org/officeDocument/2006/math">
                    <m:sSubSup>
                      <m:sSubSupPr>
                        <m:ctrlPr>
                          <a:rPr lang="en-US" altLang="zh-TW" sz="2800" i="1" dirty="0">
                            <a:solidFill>
                              <a:schemeClr val="tx1"/>
                            </a:solidFill>
                            <a:latin typeface="Cambria Math" panose="02040503050406030204" pitchFamily="18" charset="0"/>
                          </a:rPr>
                        </m:ctrlPr>
                      </m:sSubSupPr>
                      <m:e>
                        <m:r>
                          <a:rPr lang="en-US" altLang="zh-TW" sz="2800" i="1" dirty="0">
                            <a:solidFill>
                              <a:schemeClr val="tx1"/>
                            </a:solidFill>
                            <a:latin typeface="Cambria Math" panose="02040503050406030204" pitchFamily="18" charset="0"/>
                          </a:rPr>
                          <m:t>𝐺</m:t>
                        </m:r>
                      </m:e>
                      <m:sub>
                        <m:r>
                          <a:rPr lang="en-US" altLang="zh-TW" sz="2800" i="1" dirty="0">
                            <a:solidFill>
                              <a:schemeClr val="tx1"/>
                            </a:solidFill>
                            <a:latin typeface="Cambria Math" panose="02040503050406030204" pitchFamily="18" charset="0"/>
                          </a:rPr>
                          <m:t>𝑏</m:t>
                        </m:r>
                        <m:r>
                          <a:rPr lang="en-US" altLang="zh-TW" sz="2800" b="0" i="1" dirty="0" smtClean="0">
                            <a:solidFill>
                              <a:schemeClr val="tx1"/>
                            </a:solidFill>
                            <a:latin typeface="Cambria Math" panose="02040503050406030204" pitchFamily="18" charset="0"/>
                          </a:rPr>
                          <m:t>+1</m:t>
                        </m:r>
                      </m:sub>
                      <m:sup>
                        <m:r>
                          <a:rPr lang="en-US" altLang="zh-TW" sz="2800" i="1" dirty="0">
                            <a:solidFill>
                              <a:schemeClr val="tx1"/>
                            </a:solidFill>
                            <a:latin typeface="Cambria Math" panose="02040503050406030204" pitchFamily="18" charset="0"/>
                          </a:rPr>
                          <m:t>1</m:t>
                        </m:r>
                      </m:sup>
                    </m:sSubSup>
                    <m:r>
                      <a:rPr lang="en-US" altLang="zh-TW" sz="2800" i="1" dirty="0">
                        <a:solidFill>
                          <a:schemeClr val="tx1"/>
                        </a:solidFill>
                        <a:latin typeface="Cambria Math" panose="02040503050406030204" pitchFamily="18" charset="0"/>
                      </a:rPr>
                      <m:t> </m:t>
                    </m:r>
                  </m:oMath>
                </a14:m>
                <a:r>
                  <a:rPr kumimoji="0" lang="zh-TW" altLang="zh-TW" sz="2800" b="0" i="0" u="none" strike="noStrike" cap="none" normalizeH="0" baseline="0" dirty="0">
                    <a:ln>
                      <a:noFill/>
                    </a:ln>
                    <a:solidFill>
                      <a:schemeClr val="tx1"/>
                    </a:solidFill>
                    <a:effectLst/>
                    <a:latin typeface="Times New Roman" panose="02020603050405020304" pitchFamily="18" charset="0"/>
                  </a:rPr>
                  <a:t> exceeds the completion time of</a:t>
                </a:r>
                <a:r>
                  <a:rPr kumimoji="0" lang="en-US" altLang="zh-TW" sz="2800" b="0" i="0" u="none" strike="noStrike" cap="none" normalizeH="0" dirty="0">
                    <a:ln>
                      <a:noFill/>
                    </a:ln>
                    <a:solidFill>
                      <a:schemeClr val="tx1"/>
                    </a:solidFill>
                    <a:effectLst/>
                    <a:latin typeface="Times New Roman" panose="02020603050405020304" pitchFamily="18" charset="0"/>
                  </a:rPr>
                  <a:t> </a:t>
                </a:r>
                <a14:m>
                  <m:oMath xmlns:m="http://schemas.openxmlformats.org/officeDocument/2006/math">
                    <m:sSubSup>
                      <m:sSubSupPr>
                        <m:ctrlPr>
                          <a:rPr lang="en-US" altLang="zh-TW" sz="2800" i="1" dirty="0">
                            <a:solidFill>
                              <a:schemeClr val="tx1"/>
                            </a:solidFill>
                            <a:latin typeface="Cambria Math" panose="02040503050406030204" pitchFamily="18" charset="0"/>
                          </a:rPr>
                        </m:ctrlPr>
                      </m:sSubSupPr>
                      <m:e>
                        <m:r>
                          <a:rPr lang="en-US" altLang="zh-TW" sz="2800" i="1" dirty="0">
                            <a:solidFill>
                              <a:schemeClr val="tx1"/>
                            </a:solidFill>
                            <a:latin typeface="Cambria Math" panose="02040503050406030204" pitchFamily="18" charset="0"/>
                          </a:rPr>
                          <m:t>𝐺</m:t>
                        </m:r>
                      </m:e>
                      <m:sub>
                        <m:r>
                          <a:rPr lang="en-US" altLang="zh-TW" sz="2800" i="1" dirty="0">
                            <a:solidFill>
                              <a:schemeClr val="tx1"/>
                            </a:solidFill>
                            <a:latin typeface="Cambria Math" panose="02040503050406030204" pitchFamily="18" charset="0"/>
                          </a:rPr>
                          <m:t>𝑏</m:t>
                        </m:r>
                      </m:sub>
                      <m:sup>
                        <m:sSub>
                          <m:sSubPr>
                            <m:ctrlPr>
                              <a:rPr lang="en-US" altLang="zh-TW" sz="2800" i="1" dirty="0">
                                <a:solidFill>
                                  <a:schemeClr val="tx1"/>
                                </a:solidFill>
                                <a:latin typeface="Cambria Math" panose="02040503050406030204" pitchFamily="18" charset="0"/>
                              </a:rPr>
                            </m:ctrlPr>
                          </m:sSubPr>
                          <m:e>
                            <m:r>
                              <a:rPr lang="en-US" altLang="zh-TW" sz="2800" i="1" dirty="0">
                                <a:solidFill>
                                  <a:schemeClr val="tx1"/>
                                </a:solidFill>
                                <a:latin typeface="Cambria Math" panose="02040503050406030204" pitchFamily="18" charset="0"/>
                              </a:rPr>
                              <m:t>𝑁</m:t>
                            </m:r>
                          </m:e>
                          <m:sub>
                            <m:r>
                              <a:rPr lang="en-US" altLang="zh-TW" sz="2800" i="1" dirty="0">
                                <a:solidFill>
                                  <a:schemeClr val="tx1"/>
                                </a:solidFill>
                                <a:latin typeface="Cambria Math" panose="02040503050406030204" pitchFamily="18" charset="0"/>
                              </a:rPr>
                              <m:t>𝑏</m:t>
                            </m:r>
                          </m:sub>
                        </m:sSub>
                      </m:sup>
                    </m:sSubSup>
                    <m:r>
                      <a:rPr lang="en-US" altLang="zh-TW" sz="2800" i="1" dirty="0">
                        <a:solidFill>
                          <a:schemeClr val="tx1"/>
                        </a:solidFill>
                        <a:latin typeface="Cambria Math" panose="02040503050406030204" pitchFamily="18" charset="0"/>
                      </a:rPr>
                      <m:t> </m:t>
                    </m:r>
                  </m:oMath>
                </a14:m>
                <a:r>
                  <a:rPr kumimoji="0" lang="zh-TW" altLang="zh-TW" sz="2800" b="0" i="0" u="none" strike="noStrike" cap="none" normalizeH="0" baseline="0" dirty="0">
                    <a:ln>
                      <a:noFill/>
                    </a:ln>
                    <a:solidFill>
                      <a:schemeClr val="tx1"/>
                    </a:solidFill>
                    <a:effectLst/>
                    <a:latin typeface="Times New Roman" panose="02020603050405020304" pitchFamily="18" charset="0"/>
                  </a:rPr>
                  <a:t>by no less than </a:t>
                </a:r>
                <a:r>
                  <a:rPr kumimoji="0" lang="zh-TW" altLang="zh-TW" sz="2800" b="0" i="1" u="none" strike="noStrike" cap="none" normalizeH="0" baseline="0" dirty="0">
                    <a:ln>
                      <a:noFill/>
                    </a:ln>
                    <a:solidFill>
                      <a:schemeClr val="tx1"/>
                    </a:solidFill>
                    <a:effectLst/>
                    <a:latin typeface="Times New Roman" panose="02020603050405020304" pitchFamily="18" charset="0"/>
                  </a:rPr>
                  <a:t>T</a:t>
                </a:r>
                <a:r>
                  <a:rPr kumimoji="0" lang="zh-TW" altLang="zh-TW" sz="2800" b="0" i="1" u="none" strike="noStrike" cap="none" normalizeH="0" baseline="-30000" dirty="0">
                    <a:ln>
                      <a:noFill/>
                    </a:ln>
                    <a:solidFill>
                      <a:schemeClr val="tx1"/>
                    </a:solidFill>
                    <a:effectLst/>
                    <a:latin typeface="Times New Roman" panose="02020603050405020304" pitchFamily="18" charset="0"/>
                  </a:rPr>
                  <a:t>B</a:t>
                </a:r>
                <a:r>
                  <a:rPr kumimoji="0" lang="zh-TW" altLang="zh-TW" sz="2800" b="0" i="0" u="none" strike="noStrike" cap="none" normalizeH="0" baseline="0" dirty="0">
                    <a:ln>
                      <a:noFill/>
                    </a:ln>
                    <a:solidFill>
                      <a:schemeClr val="tx1"/>
                    </a:solidFill>
                    <a:effectLst/>
                    <a:latin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zh-TW" sz="2400" b="0" i="0" u="none" strike="noStrike" cap="none" normalizeH="0" baseline="0" dirty="0">
                  <a:ln>
                    <a:noFill/>
                  </a:ln>
                  <a:solidFill>
                    <a:schemeClr val="tx1"/>
                  </a:solidFill>
                  <a:effectLst/>
                  <a:latin typeface="Times New Roman" panose="02020603050405020304" pitchFamily="18" charset="0"/>
                </a:endParaRPr>
              </a:p>
            </p:txBody>
          </p:sp>
        </mc:Choice>
        <mc:Fallback xmlns="">
          <p:sp>
            <p:nvSpPr>
              <p:cNvPr id="5" name="Rectangle 2">
                <a:extLst>
                  <a:ext uri="{FF2B5EF4-FFF2-40B4-BE49-F238E27FC236}">
                    <a16:creationId xmlns:a16="http://schemas.microsoft.com/office/drawing/2014/main" id="{7C591307-A821-46DD-9D33-6DF98974A18B}"/>
                  </a:ext>
                </a:extLst>
              </p:cNvPr>
              <p:cNvSpPr>
                <a:spLocks noGrp="1" noRot="1" noChangeAspect="1" noMove="1" noResize="1" noEditPoints="1" noAdjustHandles="1" noChangeArrowheads="1" noChangeShapeType="1" noTextEdit="1"/>
              </p:cNvSpPr>
              <p:nvPr>
                <p:ph idx="1"/>
              </p:nvPr>
            </p:nvSpPr>
            <p:spPr bwMode="auto">
              <a:xfrm>
                <a:off x="79513" y="2377161"/>
                <a:ext cx="12225130" cy="3142527"/>
              </a:xfrm>
              <a:prstGeom prst="rect">
                <a:avLst/>
              </a:prstGeom>
              <a:blipFill>
                <a:blip r:embed="rId3"/>
                <a:stretch>
                  <a:fillRect l="-1746" r="-99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5ECE7089-99B2-4020-9A98-3BA95780AD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7269" y="1329852"/>
            <a:ext cx="6984731" cy="1623589"/>
          </a:xfrm>
          <a:prstGeom prst="rect">
            <a:avLst/>
          </a:prstGeom>
        </p:spPr>
      </p:pic>
    </p:spTree>
    <p:extLst>
      <p:ext uri="{BB962C8B-B14F-4D97-AF65-F5344CB8AC3E}">
        <p14:creationId xmlns:p14="http://schemas.microsoft.com/office/powerpoint/2010/main" val="1660903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8965585E-BA5C-4430-A5B6-94A99A116C2F}"/>
                  </a:ext>
                </a:extLst>
              </p:cNvPr>
              <p:cNvSpPr>
                <a:spLocks noGrp="1"/>
              </p:cNvSpPr>
              <p:nvPr>
                <p:ph idx="1"/>
              </p:nvPr>
            </p:nvSpPr>
            <p:spPr>
              <a:xfrm>
                <a:off x="326335" y="632928"/>
                <a:ext cx="11550926" cy="5429941"/>
              </a:xfrm>
            </p:spPr>
            <p:txBody>
              <a:bodyPr>
                <a:noAutofit/>
              </a:bodyPr>
              <a:lstStyle/>
              <a:p>
                <a:pPr marL="0" indent="0" algn="l">
                  <a:buNone/>
                </a:pPr>
                <a:r>
                  <a:rPr lang="en-US" altLang="zh-TW" sz="2000" b="1" i="0" dirty="0">
                    <a:solidFill>
                      <a:schemeClr val="tx1"/>
                    </a:solidFill>
                    <a:effectLst/>
                  </a:rPr>
                  <a:t>Theorem 8</a:t>
                </a:r>
                <a:endParaRPr lang="en-US" altLang="zh-TW" sz="2000" b="0" i="0" dirty="0">
                  <a:solidFill>
                    <a:schemeClr val="tx1"/>
                  </a:solidFill>
                  <a:effectLst/>
                </a:endParaRPr>
              </a:p>
              <a:p>
                <a:pPr algn="l"/>
                <a:r>
                  <a:rPr lang="en-US" altLang="zh-TW" sz="2000" b="0" dirty="0">
                    <a:solidFill>
                      <a:schemeClr val="tx1"/>
                    </a:solidFill>
                    <a:effectLst/>
                  </a:rPr>
                  <a:t>If </a:t>
                </a:r>
                <a:r>
                  <a:rPr lang="en-US" altLang="zh-TW" sz="2000" b="0" u="sng" dirty="0">
                    <a:solidFill>
                      <a:schemeClr val="tx1"/>
                    </a:solidFill>
                    <a:effectLst/>
                  </a:rPr>
                  <a:t>no effective group </a:t>
                </a:r>
                <a:r>
                  <a:rPr lang="en-US" altLang="zh-TW" sz="2000" b="0" dirty="0">
                    <a:solidFill>
                      <a:schemeClr val="tx1"/>
                    </a:solidFill>
                    <a:effectLst/>
                  </a:rPr>
                  <a:t>exists in the solution corresponding to the Pareto optimal point (E</a:t>
                </a:r>
                <a:r>
                  <a:rPr lang="en-US" altLang="zh-TW" sz="2000" b="0" baseline="30000" dirty="0">
                    <a:solidFill>
                      <a:schemeClr val="tx1"/>
                    </a:solidFill>
                    <a:effectLst/>
                  </a:rPr>
                  <a:t>0</a:t>
                </a:r>
                <a:r>
                  <a:rPr lang="en-US" altLang="zh-TW" sz="2000" b="0" dirty="0">
                    <a:solidFill>
                      <a:schemeClr val="tx1"/>
                    </a:solidFill>
                    <a:effectLst/>
                  </a:rPr>
                  <a:t>,D</a:t>
                </a:r>
                <a:r>
                  <a:rPr lang="en-US" altLang="zh-TW" sz="2000" b="0" baseline="30000" dirty="0">
                    <a:solidFill>
                      <a:schemeClr val="tx1"/>
                    </a:solidFill>
                    <a:effectLst/>
                  </a:rPr>
                  <a:t>0</a:t>
                </a:r>
                <a:r>
                  <a:rPr lang="en-US" altLang="zh-TW" sz="2000" b="0" dirty="0">
                    <a:solidFill>
                      <a:schemeClr val="tx1"/>
                    </a:solidFill>
                    <a:effectLst/>
                  </a:rPr>
                  <a:t>), there must exist at least one blocked group.</a:t>
                </a:r>
              </a:p>
              <a:p>
                <a:pPr marL="0" indent="0">
                  <a:buNone/>
                </a:pPr>
                <a:r>
                  <a:rPr lang="en-US" altLang="zh-TW" sz="2000" b="0" dirty="0">
                    <a:solidFill>
                      <a:schemeClr val="tx1"/>
                    </a:solidFill>
                    <a:effectLst/>
                  </a:rPr>
                  <a:t>If no effective group, the second type of local search will postpone the only blocked group, until the next group start time minus the previous group complete time = </a:t>
                </a:r>
                <a14:m>
                  <m:oMath xmlns:m="http://schemas.openxmlformats.org/officeDocument/2006/math">
                    <m:sSup>
                      <m:sSupPr>
                        <m:ctrlPr>
                          <a:rPr lang="en-US" altLang="zh-TW" sz="2000" b="0" i="1" smtClean="0">
                            <a:solidFill>
                              <a:schemeClr val="tx1"/>
                            </a:solidFill>
                            <a:effectLst/>
                            <a:latin typeface="Cambria Math" panose="02040503050406030204" pitchFamily="18" charset="0"/>
                          </a:rPr>
                        </m:ctrlPr>
                      </m:sSupPr>
                      <m:e>
                        <m:r>
                          <a:rPr lang="en-US" altLang="zh-TW" sz="2000" b="0" i="1" smtClean="0">
                            <a:solidFill>
                              <a:schemeClr val="tx1"/>
                            </a:solidFill>
                            <a:effectLst/>
                            <a:latin typeface="Cambria Math" panose="02040503050406030204" pitchFamily="18" charset="0"/>
                          </a:rPr>
                          <m:t>𝐸</m:t>
                        </m:r>
                      </m:e>
                      <m:sup>
                        <m:r>
                          <a:rPr lang="en-US" altLang="zh-TW" sz="2000" b="0" i="1" smtClean="0">
                            <a:solidFill>
                              <a:schemeClr val="tx1"/>
                            </a:solidFill>
                            <a:effectLst/>
                            <a:latin typeface="Cambria Math" panose="02040503050406030204" pitchFamily="18" charset="0"/>
                          </a:rPr>
                          <m:t>∗</m:t>
                        </m:r>
                      </m:sup>
                    </m:sSup>
                  </m:oMath>
                </a14:m>
                <a:r>
                  <a:rPr lang="en-US" altLang="zh-TW" sz="2000" b="0" dirty="0">
                    <a:solidFill>
                      <a:schemeClr val="tx1"/>
                    </a:solidFill>
                    <a:effectLst/>
                  </a:rPr>
                  <a:t>/</a:t>
                </a:r>
                <a14:m>
                  <m:oMath xmlns:m="http://schemas.openxmlformats.org/officeDocument/2006/math">
                    <m:sSub>
                      <m:sSubPr>
                        <m:ctrlPr>
                          <a:rPr lang="en-US" altLang="zh-TW" sz="2000" b="0" i="1" dirty="0" smtClean="0">
                            <a:solidFill>
                              <a:schemeClr val="tx1"/>
                            </a:solidFill>
                            <a:effectLst/>
                            <a:latin typeface="Cambria Math" panose="02040503050406030204" pitchFamily="18" charset="0"/>
                          </a:rPr>
                        </m:ctrlPr>
                      </m:sSubPr>
                      <m:e>
                        <m:r>
                          <a:rPr lang="en-US" altLang="zh-TW" sz="2000" b="0" i="1" dirty="0" smtClean="0">
                            <a:solidFill>
                              <a:schemeClr val="tx1"/>
                            </a:solidFill>
                            <a:effectLst/>
                            <a:latin typeface="Cambria Math" panose="02040503050406030204" pitchFamily="18" charset="0"/>
                          </a:rPr>
                          <m:t>𝐸</m:t>
                        </m:r>
                      </m:e>
                      <m:sub>
                        <m:r>
                          <a:rPr lang="en-US" altLang="zh-TW" sz="2000" b="0" i="1" dirty="0" smtClean="0">
                            <a:solidFill>
                              <a:schemeClr val="tx1"/>
                            </a:solidFill>
                            <a:effectLst/>
                            <a:latin typeface="Cambria Math" panose="02040503050406030204" pitchFamily="18" charset="0"/>
                          </a:rPr>
                          <m:t>𝑠</m:t>
                        </m:r>
                        <m:r>
                          <a:rPr lang="en-US" altLang="zh-TW" sz="2000" b="0" i="1" dirty="0" smtClean="0">
                            <a:solidFill>
                              <a:schemeClr val="tx1"/>
                            </a:solidFill>
                            <a:effectLst/>
                            <a:latin typeface="Cambria Math" panose="02040503050406030204" pitchFamily="18" charset="0"/>
                          </a:rPr>
                          <m:t> </m:t>
                        </m:r>
                      </m:sub>
                    </m:sSub>
                    <m:r>
                      <a:rPr lang="en-US" altLang="zh-TW" sz="2000" b="0" i="1" dirty="0" smtClean="0">
                        <a:solidFill>
                          <a:schemeClr val="tx1"/>
                        </a:solidFill>
                        <a:effectLst/>
                        <a:latin typeface="Cambria Math" panose="02040503050406030204" pitchFamily="18" charset="0"/>
                      </a:rPr>
                      <m:t>−</m:t>
                    </m:r>
                    <m:r>
                      <a:rPr lang="en-US" altLang="zh-TW" sz="2000" b="0" i="1" dirty="0" smtClean="0">
                        <a:solidFill>
                          <a:schemeClr val="tx1"/>
                        </a:solidFill>
                        <a:effectLst/>
                        <a:latin typeface="Cambria Math" panose="02040503050406030204" pitchFamily="18" charset="0"/>
                      </a:rPr>
                      <m:t>1</m:t>
                    </m:r>
                  </m:oMath>
                </a14:m>
                <a:r>
                  <a:rPr lang="en-US" altLang="zh-TW" sz="2000" b="0" dirty="0">
                    <a:solidFill>
                      <a:schemeClr val="tx1"/>
                    </a:solidFill>
                    <a:effectLst/>
                  </a:rPr>
                  <a:t> time units.</a:t>
                </a:r>
                <a:endParaRPr lang="en-US" altLang="zh-TW" sz="2000" dirty="0">
                  <a:solidFill>
                    <a:schemeClr val="tx1"/>
                  </a:solidFill>
                </a:endParaRPr>
              </a:p>
              <a:p>
                <a:pPr marL="0" indent="0">
                  <a:buNone/>
                </a:pPr>
                <a:r>
                  <a:rPr lang="en-US" altLang="zh-TW" sz="2000" dirty="0">
                    <a:solidFill>
                      <a:schemeClr val="tx1"/>
                    </a:solidFill>
                  </a:rPr>
                  <a:t>In A part the machine is turning off, so it remain the same, in B part the machine still maintain idle and it cost </a:t>
                </a:r>
                <a:r>
                  <a:rPr lang="en-US" altLang="zh-TW" sz="2000" b="0" i="1" dirty="0">
                    <a:solidFill>
                      <a:schemeClr val="tx1"/>
                    </a:solidFill>
                    <a:effectLst/>
                  </a:rPr>
                  <a:t>E</a:t>
                </a:r>
                <a:r>
                  <a:rPr lang="en-US" altLang="zh-TW" sz="2000" b="0" i="1" baseline="-25000" dirty="0">
                    <a:solidFill>
                      <a:schemeClr val="tx1"/>
                    </a:solidFill>
                    <a:effectLst/>
                  </a:rPr>
                  <a:t>s</a:t>
                </a:r>
                <a:r>
                  <a:rPr lang="en-US" altLang="zh-TW" sz="2000" b="0" i="0" dirty="0">
                    <a:solidFill>
                      <a:schemeClr val="tx1"/>
                    </a:solidFill>
                    <a:effectLst/>
                  </a:rPr>
                  <a:t> − </a:t>
                </a:r>
                <a:r>
                  <a:rPr lang="en-US" altLang="zh-TW" sz="2000" b="0" i="1" dirty="0" err="1">
                    <a:solidFill>
                      <a:schemeClr val="tx1"/>
                    </a:solidFill>
                    <a:effectLst/>
                  </a:rPr>
                  <a:t>P</a:t>
                </a:r>
                <a:r>
                  <a:rPr lang="en-US" altLang="zh-TW" sz="2000" b="0" i="1" baseline="-25000" dirty="0" err="1">
                    <a:solidFill>
                      <a:schemeClr val="tx1"/>
                    </a:solidFill>
                    <a:effectLst/>
                  </a:rPr>
                  <a:t>v</a:t>
                </a:r>
                <a:r>
                  <a:rPr lang="zh-TW" altLang="en-US" sz="2000" b="0" i="1" baseline="-25000" dirty="0">
                    <a:solidFill>
                      <a:schemeClr val="tx1"/>
                    </a:solidFill>
                    <a:effectLst/>
                  </a:rPr>
                  <a:t>  </a:t>
                </a:r>
                <a:r>
                  <a:rPr lang="en-US" altLang="zh-TW" sz="2000" dirty="0">
                    <a:solidFill>
                      <a:schemeClr val="tx1"/>
                    </a:solidFill>
                  </a:rPr>
                  <a:t>,and </a:t>
                </a:r>
                <a:r>
                  <a:rPr lang="en-US" altLang="zh-TW" sz="2000" dirty="0" err="1">
                    <a:solidFill>
                      <a:schemeClr val="tx1"/>
                    </a:solidFill>
                  </a:rPr>
                  <a:t>Dmax</a:t>
                </a:r>
                <a:r>
                  <a:rPr lang="en-US" altLang="zh-TW" sz="2000" dirty="0">
                    <a:solidFill>
                      <a:schemeClr val="tx1"/>
                    </a:solidFill>
                  </a:rPr>
                  <a:t> at least increase one unit.</a:t>
                </a:r>
              </a:p>
              <a:p>
                <a:pPr algn="l"/>
                <a:endParaRPr lang="en-US" altLang="zh-TW" sz="2000" b="0" dirty="0">
                  <a:solidFill>
                    <a:schemeClr val="tx1"/>
                  </a:solidFill>
                  <a:effectLst/>
                </a:endParaRPr>
              </a:p>
              <a:p>
                <a:pPr marL="0" indent="0" algn="l">
                  <a:buNone/>
                </a:pPr>
                <a:r>
                  <a:rPr lang="en-US" altLang="zh-TW" sz="2000" b="1" dirty="0">
                    <a:solidFill>
                      <a:schemeClr val="tx1"/>
                    </a:solidFill>
                    <a:effectLst/>
                  </a:rPr>
                  <a:t>Theorem 9</a:t>
                </a:r>
                <a:endParaRPr lang="en-US" altLang="zh-TW" sz="2000" b="0" dirty="0">
                  <a:solidFill>
                    <a:schemeClr val="tx1"/>
                  </a:solidFill>
                  <a:effectLst/>
                </a:endParaRPr>
              </a:p>
              <a:p>
                <a:pPr algn="l"/>
                <a:r>
                  <a:rPr lang="en-US" altLang="zh-TW" sz="2000" b="0" dirty="0">
                    <a:solidFill>
                      <a:schemeClr val="tx1"/>
                    </a:solidFill>
                    <a:effectLst/>
                  </a:rPr>
                  <a:t>For any optimal schedule corresponding to (E</a:t>
                </a:r>
                <a:r>
                  <a:rPr lang="en-US" altLang="zh-TW" sz="2000" b="0" baseline="30000" dirty="0">
                    <a:solidFill>
                      <a:schemeClr val="tx1"/>
                    </a:solidFill>
                    <a:effectLst/>
                  </a:rPr>
                  <a:t>0</a:t>
                </a:r>
                <a:r>
                  <a:rPr lang="en-US" altLang="zh-TW" sz="2000" b="0" dirty="0">
                    <a:solidFill>
                      <a:schemeClr val="tx1"/>
                    </a:solidFill>
                    <a:effectLst/>
                  </a:rPr>
                  <a:t>,D</a:t>
                </a:r>
                <a:r>
                  <a:rPr lang="en-US" altLang="zh-TW" sz="2000" b="0" baseline="30000" dirty="0">
                    <a:solidFill>
                      <a:schemeClr val="tx1"/>
                    </a:solidFill>
                    <a:effectLst/>
                  </a:rPr>
                  <a:t>0</a:t>
                </a:r>
                <a:r>
                  <a:rPr lang="en-US" altLang="zh-TW" sz="2000" b="0" dirty="0">
                    <a:solidFill>
                      <a:schemeClr val="tx1"/>
                    </a:solidFill>
                    <a:effectLst/>
                  </a:rPr>
                  <a:t>), after executing the second type of local search, </a:t>
                </a:r>
                <a:r>
                  <a:rPr lang="en-US" altLang="zh-TW" sz="2000" b="0" u="sng" dirty="0">
                    <a:solidFill>
                      <a:schemeClr val="tx1"/>
                    </a:solidFill>
                    <a:effectLst/>
                  </a:rPr>
                  <a:t>the job with maximum tardiness </a:t>
                </a:r>
                <a:r>
                  <a:rPr lang="en-US" altLang="zh-TW" sz="2000" b="0" dirty="0">
                    <a:solidFill>
                      <a:schemeClr val="tx1"/>
                    </a:solidFill>
                    <a:effectLst/>
                  </a:rPr>
                  <a:t>must lie in the </a:t>
                </a:r>
                <a:r>
                  <a:rPr lang="en-US" altLang="zh-TW" sz="2000" b="0" u="sng" dirty="0">
                    <a:solidFill>
                      <a:schemeClr val="tx1"/>
                    </a:solidFill>
                    <a:effectLst/>
                  </a:rPr>
                  <a:t>postponed blocked group</a:t>
                </a:r>
                <a:r>
                  <a:rPr lang="en-US" altLang="zh-TW" sz="2000" b="0" dirty="0">
                    <a:solidFill>
                      <a:schemeClr val="tx1"/>
                    </a:solidFill>
                    <a:effectLst/>
                  </a:rPr>
                  <a:t>.</a:t>
                </a:r>
              </a:p>
              <a:p>
                <a:pPr marL="0" indent="0">
                  <a:buNone/>
                </a:pPr>
                <a:r>
                  <a:rPr lang="en-US" altLang="zh-TW" sz="2000" dirty="0">
                    <a:solidFill>
                      <a:schemeClr val="tx1"/>
                    </a:solidFill>
                  </a:rPr>
                  <a:t>We checked the point</a:t>
                </a:r>
                <a:r>
                  <a:rPr lang="zh-TW" altLang="en-US" sz="2000" dirty="0">
                    <a:solidFill>
                      <a:schemeClr val="tx1"/>
                    </a:solidFill>
                  </a:rPr>
                  <a:t> </a:t>
                </a:r>
                <a:r>
                  <a:rPr lang="en-US" altLang="zh-TW" sz="2000" b="0" i="0" dirty="0">
                    <a:solidFill>
                      <a:schemeClr val="tx1"/>
                    </a:solidFill>
                    <a:effectLst/>
                  </a:rPr>
                  <a:t>(</a:t>
                </a:r>
                <a:r>
                  <a:rPr lang="en-US" altLang="zh-TW" sz="2000" b="0" i="1" dirty="0">
                    <a:solidFill>
                      <a:schemeClr val="tx1"/>
                    </a:solidFill>
                    <a:effectLst/>
                  </a:rPr>
                  <a:t>E</a:t>
                </a:r>
                <a:r>
                  <a:rPr lang="en-US" altLang="zh-TW" sz="2000" b="0" i="0" baseline="30000" dirty="0">
                    <a:solidFill>
                      <a:schemeClr val="tx1"/>
                    </a:solidFill>
                    <a:effectLst/>
                  </a:rPr>
                  <a:t>0</a:t>
                </a:r>
                <a:r>
                  <a:rPr lang="en-US" altLang="zh-TW" sz="2000" b="0" i="0" dirty="0">
                    <a:solidFill>
                      <a:schemeClr val="tx1"/>
                    </a:solidFill>
                    <a:effectLst/>
                  </a:rPr>
                  <a:t> − </a:t>
                </a:r>
                <a:r>
                  <a:rPr lang="en-US" altLang="zh-TW" sz="2000" b="0" i="1" dirty="0" err="1">
                    <a:solidFill>
                      <a:schemeClr val="tx1"/>
                    </a:solidFill>
                    <a:effectLst/>
                  </a:rPr>
                  <a:t>P</a:t>
                </a:r>
                <a:r>
                  <a:rPr lang="en-US" altLang="zh-TW" sz="2000" b="0" i="1" baseline="-25000" dirty="0" err="1">
                    <a:solidFill>
                      <a:schemeClr val="tx1"/>
                    </a:solidFill>
                    <a:effectLst/>
                  </a:rPr>
                  <a:t>v</a:t>
                </a:r>
                <a:r>
                  <a:rPr lang="en-US" altLang="zh-TW" sz="2000" b="0" i="1" baseline="-25000" dirty="0">
                    <a:solidFill>
                      <a:schemeClr val="tx1"/>
                    </a:solidFill>
                    <a:effectLst/>
                  </a:rPr>
                  <a:t> </a:t>
                </a:r>
                <a:r>
                  <a:rPr lang="en-US" altLang="zh-TW" sz="2000" b="0" i="1" dirty="0">
                    <a:solidFill>
                      <a:schemeClr val="tx1"/>
                    </a:solidFill>
                    <a:effectLst/>
                  </a:rPr>
                  <a:t>,D</a:t>
                </a:r>
                <a:r>
                  <a:rPr lang="en-US" altLang="zh-TW" sz="2000" b="0" i="0" baseline="30000" dirty="0">
                    <a:solidFill>
                      <a:schemeClr val="tx1"/>
                    </a:solidFill>
                    <a:effectLst/>
                  </a:rPr>
                  <a:t>0</a:t>
                </a:r>
                <a:r>
                  <a:rPr lang="en-US" altLang="zh-TW" sz="2000" b="0" i="0" dirty="0">
                    <a:solidFill>
                      <a:schemeClr val="tx1"/>
                    </a:solidFill>
                    <a:effectLst/>
                  </a:rPr>
                  <a:t> + </a:t>
                </a:r>
                <a:r>
                  <a:rPr lang="en-US" altLang="zh-TW" sz="2000" b="0" i="1" dirty="0">
                    <a:solidFill>
                      <a:schemeClr val="tx1"/>
                    </a:solidFill>
                    <a:effectLst/>
                  </a:rPr>
                  <a:t>k</a:t>
                </a:r>
                <a:r>
                  <a:rPr lang="en-US" altLang="zh-TW" sz="2000" b="0" i="0" baseline="-25000" dirty="0">
                    <a:solidFill>
                      <a:schemeClr val="tx1"/>
                    </a:solidFill>
                    <a:effectLst/>
                  </a:rPr>
                  <a:t>2</a:t>
                </a:r>
                <a:r>
                  <a:rPr lang="en-US" altLang="zh-TW" sz="2000" b="0" i="0" dirty="0">
                    <a:solidFill>
                      <a:schemeClr val="tx1"/>
                    </a:solidFill>
                    <a:effectLst/>
                  </a:rPr>
                  <a:t>), where </a:t>
                </a:r>
                <a:r>
                  <a:rPr lang="en-US" altLang="zh-TW" sz="2000" dirty="0">
                    <a:solidFill>
                      <a:schemeClr val="tx1"/>
                    </a:solidFill>
                  </a:rPr>
                  <a:t>k2 is the time units by which the chosen blocked group has been postponed. </a:t>
                </a:r>
                <a:r>
                  <a:rPr lang="en-US" altLang="zh-TW" sz="2000" b="0" i="0" dirty="0">
                    <a:solidFill>
                      <a:schemeClr val="tx1"/>
                    </a:solidFill>
                    <a:effectLst/>
                  </a:rPr>
                  <a:t>(</a:t>
                </a:r>
                <a:r>
                  <a:rPr lang="en-US" altLang="zh-TW" sz="2000" b="0" i="1" dirty="0">
                    <a:solidFill>
                      <a:schemeClr val="tx1"/>
                    </a:solidFill>
                    <a:effectLst/>
                  </a:rPr>
                  <a:t>E</a:t>
                </a:r>
                <a:r>
                  <a:rPr lang="en-US" altLang="zh-TW" sz="2000" b="0" i="0" baseline="30000" dirty="0">
                    <a:solidFill>
                      <a:schemeClr val="tx1"/>
                    </a:solidFill>
                    <a:effectLst/>
                  </a:rPr>
                  <a:t>0</a:t>
                </a:r>
                <a:r>
                  <a:rPr lang="en-US" altLang="zh-TW" sz="2000" b="0" i="0" dirty="0">
                    <a:solidFill>
                      <a:schemeClr val="tx1"/>
                    </a:solidFill>
                    <a:effectLst/>
                  </a:rPr>
                  <a:t> − </a:t>
                </a:r>
                <a:r>
                  <a:rPr lang="en-US" altLang="zh-TW" sz="2000" b="0" i="1" dirty="0" err="1">
                    <a:solidFill>
                      <a:schemeClr val="tx1"/>
                    </a:solidFill>
                    <a:effectLst/>
                  </a:rPr>
                  <a:t>P</a:t>
                </a:r>
                <a:r>
                  <a:rPr lang="en-US" altLang="zh-TW" sz="2000" b="0" i="1" baseline="-25000" dirty="0" err="1">
                    <a:solidFill>
                      <a:schemeClr val="tx1"/>
                    </a:solidFill>
                    <a:effectLst/>
                  </a:rPr>
                  <a:t>v</a:t>
                </a:r>
                <a:r>
                  <a:rPr lang="en-US" altLang="zh-TW" sz="2000" b="0" i="1" baseline="-25000" dirty="0">
                    <a:solidFill>
                      <a:schemeClr val="tx1"/>
                    </a:solidFill>
                    <a:effectLst/>
                  </a:rPr>
                  <a:t> </a:t>
                </a:r>
                <a:r>
                  <a:rPr lang="en-US" altLang="zh-TW" sz="2000" b="0" i="1" dirty="0">
                    <a:solidFill>
                      <a:schemeClr val="tx1"/>
                    </a:solidFill>
                    <a:effectLst/>
                  </a:rPr>
                  <a:t>,D</a:t>
                </a:r>
                <a:r>
                  <a:rPr lang="en-US" altLang="zh-TW" sz="2000" b="0" i="0" dirty="0">
                    <a:solidFill>
                      <a:schemeClr val="tx1"/>
                    </a:solidFill>
                    <a:effectLst/>
                  </a:rPr>
                  <a:t>′(</a:t>
                </a:r>
                <a:r>
                  <a:rPr lang="en-US" altLang="zh-TW" sz="2000" b="0" i="1" dirty="0">
                    <a:solidFill>
                      <a:schemeClr val="tx1"/>
                    </a:solidFill>
                    <a:effectLst/>
                  </a:rPr>
                  <a:t>E</a:t>
                </a:r>
                <a:r>
                  <a:rPr lang="en-US" altLang="zh-TW" sz="2000" b="0" i="0" baseline="30000" dirty="0">
                    <a:solidFill>
                      <a:schemeClr val="tx1"/>
                    </a:solidFill>
                    <a:effectLst/>
                  </a:rPr>
                  <a:t>0</a:t>
                </a:r>
                <a:r>
                  <a:rPr lang="en-US" altLang="zh-TW" sz="2000" b="0" i="0" dirty="0">
                    <a:solidFill>
                      <a:schemeClr val="tx1"/>
                    </a:solidFill>
                    <a:effectLst/>
                  </a:rPr>
                  <a:t> − </a:t>
                </a:r>
                <a:r>
                  <a:rPr lang="en-US" altLang="zh-TW" sz="2000" b="0" i="1" dirty="0" err="1">
                    <a:solidFill>
                      <a:schemeClr val="tx1"/>
                    </a:solidFill>
                    <a:effectLst/>
                  </a:rPr>
                  <a:t>P</a:t>
                </a:r>
                <a:r>
                  <a:rPr lang="en-US" altLang="zh-TW" sz="2000" b="0" i="1" baseline="-25000" dirty="0" err="1">
                    <a:solidFill>
                      <a:schemeClr val="tx1"/>
                    </a:solidFill>
                    <a:effectLst/>
                  </a:rPr>
                  <a:t>v</a:t>
                </a:r>
                <a:r>
                  <a:rPr lang="en-US" altLang="zh-TW" sz="2000" b="0" i="0" dirty="0">
                    <a:solidFill>
                      <a:schemeClr val="tx1"/>
                    </a:solidFill>
                    <a:effectLst/>
                  </a:rPr>
                  <a:t>)) is the next Pareto optimal point.</a:t>
                </a:r>
                <a:endParaRPr lang="zh-TW" altLang="en-US" sz="2000" dirty="0">
                  <a:solidFill>
                    <a:schemeClr val="tx1"/>
                  </a:solidFill>
                </a:endParaRPr>
              </a:p>
              <a:p>
                <a:pPr algn="l"/>
                <a:endParaRPr lang="en-US" altLang="zh-TW" sz="2000" dirty="0">
                  <a:solidFill>
                    <a:schemeClr val="tx1"/>
                  </a:solidFill>
                </a:endParaRPr>
              </a:p>
              <a:p>
                <a:pPr marL="0" indent="0">
                  <a:buNone/>
                </a:pPr>
                <a:r>
                  <a:rPr lang="en-US" altLang="zh-TW" sz="2000" b="0" i="0" dirty="0">
                    <a:solidFill>
                      <a:schemeClr val="tx1"/>
                    </a:solidFill>
                    <a:effectLst/>
                  </a:rPr>
                  <a:t>Note that in the second type of local search, we only need to postpone one blocked group.</a:t>
                </a:r>
                <a:endParaRPr lang="en-US" altLang="zh-TW" sz="2000" b="0" dirty="0">
                  <a:solidFill>
                    <a:schemeClr val="tx1"/>
                  </a:solidFill>
                  <a:effectLst/>
                </a:endParaRPr>
              </a:p>
              <a:p>
                <a:endParaRPr lang="zh-TW" altLang="en-US" sz="2000" dirty="0">
                  <a:solidFill>
                    <a:schemeClr val="tx1"/>
                  </a:solidFill>
                </a:endParaRPr>
              </a:p>
            </p:txBody>
          </p:sp>
        </mc:Choice>
        <mc:Fallback>
          <p:sp>
            <p:nvSpPr>
              <p:cNvPr id="3" name="內容版面配置區 2">
                <a:extLst>
                  <a:ext uri="{FF2B5EF4-FFF2-40B4-BE49-F238E27FC236}">
                    <a16:creationId xmlns:a16="http://schemas.microsoft.com/office/drawing/2014/main" id="{8965585E-BA5C-4430-A5B6-94A99A116C2F}"/>
                  </a:ext>
                </a:extLst>
              </p:cNvPr>
              <p:cNvSpPr>
                <a:spLocks noGrp="1" noRot="1" noChangeAspect="1" noMove="1" noResize="1" noEditPoints="1" noAdjustHandles="1" noChangeArrowheads="1" noChangeShapeType="1" noTextEdit="1"/>
              </p:cNvSpPr>
              <p:nvPr>
                <p:ph idx="1"/>
              </p:nvPr>
            </p:nvSpPr>
            <p:spPr>
              <a:xfrm>
                <a:off x="326335" y="632928"/>
                <a:ext cx="11550926" cy="5429941"/>
              </a:xfrm>
              <a:blipFill>
                <a:blip r:embed="rId2"/>
                <a:stretch>
                  <a:fillRect l="-581" t="-1235" r="-950" b="-561"/>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352CA071-C378-42A0-B94D-F0A3623DD1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9661" y="171247"/>
            <a:ext cx="3972339" cy="923364"/>
          </a:xfrm>
          <a:prstGeom prst="rect">
            <a:avLst/>
          </a:prstGeom>
        </p:spPr>
      </p:pic>
    </p:spTree>
    <p:extLst>
      <p:ext uri="{BB962C8B-B14F-4D97-AF65-F5344CB8AC3E}">
        <p14:creationId xmlns:p14="http://schemas.microsoft.com/office/powerpoint/2010/main" val="2007371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D6D3B6-7062-42B6-BFF9-EE8FD367978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061774D-0AC9-4E13-8DDD-C18E0B7A0499}"/>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0747FB75-2319-498D-9171-36C7687F49A5}"/>
              </a:ext>
            </a:extLst>
          </p:cNvPr>
          <p:cNvPicPr>
            <a:picLocks noChangeAspect="1"/>
          </p:cNvPicPr>
          <p:nvPr/>
        </p:nvPicPr>
        <p:blipFill>
          <a:blip r:embed="rId2"/>
          <a:stretch>
            <a:fillRect/>
          </a:stretch>
        </p:blipFill>
        <p:spPr>
          <a:xfrm>
            <a:off x="291547" y="166542"/>
            <a:ext cx="7242314" cy="6524915"/>
          </a:xfrm>
          <a:prstGeom prst="rect">
            <a:avLst/>
          </a:prstGeom>
        </p:spPr>
      </p:pic>
    </p:spTree>
    <p:extLst>
      <p:ext uri="{BB962C8B-B14F-4D97-AF65-F5344CB8AC3E}">
        <p14:creationId xmlns:p14="http://schemas.microsoft.com/office/powerpoint/2010/main" val="1728712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4FEA5C-74F3-4E0B-A806-80DCDD2AC651}"/>
              </a:ext>
            </a:extLst>
          </p:cNvPr>
          <p:cNvSpPr>
            <a:spLocks noGrp="1"/>
          </p:cNvSpPr>
          <p:nvPr>
            <p:ph type="title"/>
          </p:nvPr>
        </p:nvSpPr>
        <p:spPr>
          <a:xfrm>
            <a:off x="271669" y="258418"/>
            <a:ext cx="12192000" cy="1521723"/>
          </a:xfrm>
        </p:spPr>
        <p:txBody>
          <a:bodyPr>
            <a:normAutofit fontScale="90000"/>
          </a:bodyPr>
          <a:lstStyle/>
          <a:p>
            <a:r>
              <a:rPr lang="en-US" altLang="zh-TW" b="0" i="0" dirty="0">
                <a:effectLst/>
              </a:rPr>
              <a:t>Dynamic preprocessing technique and valid inequalities</a:t>
            </a:r>
            <a:br>
              <a:rPr lang="en-US" altLang="zh-TW" b="0" i="0" dirty="0">
                <a:solidFill>
                  <a:srgbClr val="505050"/>
                </a:solidFill>
                <a:effectLst/>
                <a:latin typeface="NexusSerif"/>
              </a:rPr>
            </a:br>
            <a:endParaRPr lang="zh-TW" altLang="en-US" dirty="0"/>
          </a:p>
        </p:txBody>
      </p:sp>
      <p:sp>
        <p:nvSpPr>
          <p:cNvPr id="3" name="內容版面配置區 2">
            <a:extLst>
              <a:ext uri="{FF2B5EF4-FFF2-40B4-BE49-F238E27FC236}">
                <a16:creationId xmlns:a16="http://schemas.microsoft.com/office/drawing/2014/main" id="{D2F28A5A-0EDF-44DF-9DC2-B8948AC275BA}"/>
              </a:ext>
            </a:extLst>
          </p:cNvPr>
          <p:cNvSpPr>
            <a:spLocks noGrp="1"/>
          </p:cNvSpPr>
          <p:nvPr>
            <p:ph idx="1"/>
          </p:nvPr>
        </p:nvSpPr>
        <p:spPr>
          <a:xfrm>
            <a:off x="213916" y="1189520"/>
            <a:ext cx="11764168" cy="5260975"/>
          </a:xfrm>
        </p:spPr>
        <p:txBody>
          <a:bodyPr>
            <a:normAutofit/>
          </a:bodyPr>
          <a:lstStyle/>
          <a:p>
            <a:pPr marL="0" indent="0">
              <a:buNone/>
            </a:pPr>
            <a:r>
              <a:rPr lang="en-US" altLang="zh-TW" sz="2400" dirty="0"/>
              <a:t>In MILP model the numbers of binary variable will affect the computation time, so why don’t we predetermine the value of some binary variables.</a:t>
            </a:r>
          </a:p>
          <a:p>
            <a:pPr marL="0" indent="0">
              <a:buNone/>
            </a:pPr>
            <a:endParaRPr lang="en-US" altLang="zh-TW" sz="2400" dirty="0">
              <a:solidFill>
                <a:schemeClr val="tx1"/>
              </a:solidFill>
              <a:effectLst/>
            </a:endParaRPr>
          </a:p>
          <a:p>
            <a:pPr marL="0" indent="0" algn="l">
              <a:buNone/>
            </a:pPr>
            <a:r>
              <a:rPr lang="en-US" altLang="zh-TW" sz="2400" b="1" dirty="0">
                <a:solidFill>
                  <a:schemeClr val="tx1"/>
                </a:solidFill>
                <a:effectLst/>
              </a:rPr>
              <a:t>Theorem 10</a:t>
            </a:r>
            <a:endParaRPr lang="en-US" altLang="zh-TW" sz="2400" b="0" dirty="0">
              <a:solidFill>
                <a:schemeClr val="tx1"/>
              </a:solidFill>
              <a:effectLst/>
            </a:endParaRPr>
          </a:p>
          <a:p>
            <a:pPr algn="l"/>
            <a:r>
              <a:rPr lang="en-US" altLang="zh-TW" sz="2400" b="0" u="sng" dirty="0">
                <a:solidFill>
                  <a:schemeClr val="tx1"/>
                </a:solidFill>
                <a:effectLst/>
              </a:rPr>
              <a:t>Given maximum tardiness D*</a:t>
            </a:r>
            <a:r>
              <a:rPr lang="en-US" altLang="zh-TW" sz="2400" b="0" dirty="0">
                <a:solidFill>
                  <a:schemeClr val="tx1"/>
                </a:solidFill>
                <a:effectLst/>
              </a:rPr>
              <a:t>, for any pair of jobs </a:t>
            </a:r>
            <a:r>
              <a:rPr lang="en-US" altLang="zh-TW" sz="2400" b="0" dirty="0" err="1">
                <a:solidFill>
                  <a:schemeClr val="tx1"/>
                </a:solidFill>
                <a:effectLst/>
              </a:rPr>
              <a:t>i</a:t>
            </a:r>
            <a:r>
              <a:rPr lang="en-US" altLang="zh-TW" sz="2400" b="0" dirty="0">
                <a:solidFill>
                  <a:schemeClr val="tx1"/>
                </a:solidFill>
                <a:effectLst/>
              </a:rPr>
              <a:t> and j, if </a:t>
            </a:r>
            <a:r>
              <a:rPr lang="en-US" altLang="zh-TW" sz="2400" b="0" dirty="0" err="1">
                <a:solidFill>
                  <a:schemeClr val="tx1"/>
                </a:solidFill>
                <a:effectLst/>
              </a:rPr>
              <a:t>r</a:t>
            </a:r>
            <a:r>
              <a:rPr lang="en-US" altLang="zh-TW" sz="2400" b="0" baseline="-25000" dirty="0" err="1">
                <a:solidFill>
                  <a:schemeClr val="tx1"/>
                </a:solidFill>
                <a:effectLst/>
              </a:rPr>
              <a:t>i</a:t>
            </a:r>
            <a:r>
              <a:rPr lang="en-US" altLang="zh-TW" sz="2400" b="0" dirty="0">
                <a:solidFill>
                  <a:schemeClr val="tx1"/>
                </a:solidFill>
                <a:effectLst/>
              </a:rPr>
              <a:t> ≥ </a:t>
            </a:r>
            <a:r>
              <a:rPr lang="en-US" altLang="zh-TW" sz="2400" b="0" dirty="0" err="1">
                <a:solidFill>
                  <a:schemeClr val="tx1"/>
                </a:solidFill>
                <a:effectLst/>
              </a:rPr>
              <a:t>d</a:t>
            </a:r>
            <a:r>
              <a:rPr lang="en-US" altLang="zh-TW" sz="2400" b="0" baseline="-25000" dirty="0" err="1">
                <a:solidFill>
                  <a:schemeClr val="tx1"/>
                </a:solidFill>
                <a:effectLst/>
              </a:rPr>
              <a:t>j</a:t>
            </a:r>
            <a:r>
              <a:rPr lang="en-US" altLang="zh-TW" sz="2400" b="0" dirty="0">
                <a:solidFill>
                  <a:schemeClr val="tx1"/>
                </a:solidFill>
                <a:effectLst/>
              </a:rPr>
              <a:t> + D* − </a:t>
            </a:r>
            <a:r>
              <a:rPr lang="en-US" altLang="zh-TW" sz="2400" b="0" dirty="0" err="1">
                <a:solidFill>
                  <a:schemeClr val="tx1"/>
                </a:solidFill>
                <a:effectLst/>
              </a:rPr>
              <a:t>t</a:t>
            </a:r>
            <a:r>
              <a:rPr lang="en-US" altLang="zh-TW" sz="2400" b="0" baseline="-25000" dirty="0" err="1">
                <a:solidFill>
                  <a:schemeClr val="tx1"/>
                </a:solidFill>
                <a:effectLst/>
              </a:rPr>
              <a:t>j</a:t>
            </a:r>
            <a:r>
              <a:rPr lang="en-US" altLang="zh-TW" sz="2400" b="0" dirty="0">
                <a:solidFill>
                  <a:schemeClr val="tx1"/>
                </a:solidFill>
                <a:effectLst/>
              </a:rPr>
              <a:t> holds, then </a:t>
            </a:r>
            <a:r>
              <a:rPr lang="en-US" altLang="zh-TW" sz="2400" b="0" u="sng" dirty="0">
                <a:solidFill>
                  <a:schemeClr val="tx1"/>
                </a:solidFill>
                <a:effectLst/>
              </a:rPr>
              <a:t>job </a:t>
            </a:r>
            <a:r>
              <a:rPr lang="en-US" altLang="zh-TW" sz="2400" b="0" u="sng" dirty="0" err="1">
                <a:solidFill>
                  <a:schemeClr val="tx1"/>
                </a:solidFill>
                <a:effectLst/>
              </a:rPr>
              <a:t>i</a:t>
            </a:r>
            <a:r>
              <a:rPr lang="en-US" altLang="zh-TW" sz="2400" b="0" u="sng" dirty="0">
                <a:solidFill>
                  <a:schemeClr val="tx1"/>
                </a:solidFill>
                <a:effectLst/>
              </a:rPr>
              <a:t> must be processed after job j</a:t>
            </a:r>
            <a:r>
              <a:rPr lang="en-US" altLang="zh-TW" sz="2400" b="0" dirty="0">
                <a:solidFill>
                  <a:schemeClr val="tx1"/>
                </a:solidFill>
                <a:effectLst/>
              </a:rPr>
              <a:t>.</a:t>
            </a:r>
          </a:p>
          <a:p>
            <a:pPr marL="0" indent="0">
              <a:buNone/>
            </a:pPr>
            <a:endParaRPr lang="en-US" altLang="zh-TW" sz="2400" dirty="0">
              <a:solidFill>
                <a:srgbClr val="2E2E2E"/>
              </a:solidFill>
            </a:endParaRPr>
          </a:p>
          <a:p>
            <a:pPr marL="0" indent="0">
              <a:buNone/>
            </a:pPr>
            <a:r>
              <a:rPr lang="en-US" altLang="zh-TW" sz="2400" dirty="0"/>
              <a:t>When the D* value is smaller, each time minus D* little by little, the more formulations will accelerate the algorithm and then </a:t>
            </a:r>
            <a:r>
              <a:rPr lang="en-US" altLang="zh-TW" sz="2400" b="0" i="0" dirty="0">
                <a:effectLst/>
              </a:rPr>
              <a:t>preprocessing can be the most powerful</a:t>
            </a:r>
            <a:endParaRPr lang="en-US" altLang="zh-TW" sz="2400" dirty="0"/>
          </a:p>
          <a:p>
            <a:pPr marL="0" indent="0">
              <a:buNone/>
            </a:pPr>
            <a:r>
              <a:rPr lang="en-US" altLang="zh-TW" sz="2400" dirty="0"/>
              <a:t>Postponing different blocked groups brings about different values of maximum tardiness. </a:t>
            </a:r>
            <a:endParaRPr lang="en-US" altLang="zh-TW" sz="2400" b="0" dirty="0">
              <a:solidFill>
                <a:srgbClr val="2E2E2E"/>
              </a:solidFill>
              <a:effectLst/>
            </a:endParaRPr>
          </a:p>
          <a:p>
            <a:endParaRPr lang="zh-TW" altLang="en-US" sz="2400" dirty="0"/>
          </a:p>
        </p:txBody>
      </p:sp>
    </p:spTree>
    <p:extLst>
      <p:ext uri="{BB962C8B-B14F-4D97-AF65-F5344CB8AC3E}">
        <p14:creationId xmlns:p14="http://schemas.microsoft.com/office/powerpoint/2010/main" val="911184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2E85F6-012E-4192-9BDB-74C9DACA8ECE}"/>
              </a:ext>
            </a:extLst>
          </p:cNvPr>
          <p:cNvSpPr>
            <a:spLocks noGrp="1"/>
          </p:cNvSpPr>
          <p:nvPr>
            <p:ph type="title"/>
          </p:nvPr>
        </p:nvSpPr>
        <p:spPr/>
        <p:txBody>
          <a:bodyPr/>
          <a:lstStyle/>
          <a:p>
            <a:endParaRPr lang="zh-TW" altLang="en-US"/>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C0A320B8-A0DD-4F52-9E3E-652700B54C3B}"/>
                  </a:ext>
                </a:extLst>
              </p:cNvPr>
              <p:cNvSpPr>
                <a:spLocks noGrp="1"/>
              </p:cNvSpPr>
              <p:nvPr>
                <p:ph idx="1"/>
              </p:nvPr>
            </p:nvSpPr>
            <p:spPr>
              <a:xfrm>
                <a:off x="218661" y="1580322"/>
                <a:ext cx="11678477" cy="5277677"/>
              </a:xfrm>
            </p:spPr>
            <p:txBody>
              <a:bodyPr>
                <a:normAutofit/>
              </a:bodyPr>
              <a:lstStyle/>
              <a:p>
                <a:pPr marL="0" indent="0" algn="l">
                  <a:buNone/>
                </a:pPr>
                <a:r>
                  <a:rPr lang="en-US" altLang="zh-TW" sz="2400" b="1" dirty="0">
                    <a:solidFill>
                      <a:schemeClr val="tx1"/>
                    </a:solidFill>
                    <a:effectLst/>
                  </a:rPr>
                  <a:t>Theorem 11</a:t>
                </a:r>
                <a:endParaRPr lang="en-US" altLang="zh-TW" sz="2400" b="0" dirty="0">
                  <a:solidFill>
                    <a:schemeClr val="tx1"/>
                  </a:solidFill>
                  <a:effectLst/>
                </a:endParaRPr>
              </a:p>
              <a:p>
                <a:pPr algn="l"/>
                <a:r>
                  <a:rPr lang="en-US" altLang="zh-TW" sz="2400" b="0" dirty="0">
                    <a:solidFill>
                      <a:schemeClr val="tx1"/>
                    </a:solidFill>
                    <a:effectLst/>
                  </a:rPr>
                  <a:t>At most</a:t>
                </a:r>
                <a:r>
                  <a:rPr lang="en-US" altLang="zh-TW" sz="2400" dirty="0">
                    <a:solidFill>
                      <a:schemeClr val="tx1"/>
                    </a:solidFill>
                  </a:rPr>
                  <a:t> </a:t>
                </a:r>
                <a14:m>
                  <m:oMath xmlns:m="http://schemas.openxmlformats.org/officeDocument/2006/math">
                    <m:f>
                      <m:fPr>
                        <m:ctrlPr>
                          <a:rPr lang="en-US" altLang="zh-TW" sz="2400" i="1" smtClean="0">
                            <a:solidFill>
                              <a:schemeClr val="tx1"/>
                            </a:solidFill>
                            <a:latin typeface="Cambria Math" panose="02040503050406030204" pitchFamily="18" charset="0"/>
                          </a:rPr>
                        </m:ctrlPr>
                      </m:fPr>
                      <m:num>
                        <m:sSup>
                          <m:sSupPr>
                            <m:ctrlPr>
                              <a:rPr lang="en-US" altLang="zh-TW" sz="2400" i="1" smtClean="0">
                                <a:solidFill>
                                  <a:schemeClr val="tx1"/>
                                </a:solidFill>
                                <a:latin typeface="Cambria Math" panose="02040503050406030204" pitchFamily="18" charset="0"/>
                              </a:rPr>
                            </m:ctrlPr>
                          </m:sSupPr>
                          <m:e>
                            <m:r>
                              <m:rPr>
                                <m:sty m:val="p"/>
                              </m:rPr>
                              <a:rPr lang="en-US" altLang="zh-TW" sz="2400" b="0" i="0" smtClean="0">
                                <a:solidFill>
                                  <a:schemeClr val="tx1"/>
                                </a:solidFill>
                                <a:latin typeface="Cambria Math" panose="02040503050406030204" pitchFamily="18" charset="0"/>
                              </a:rPr>
                              <m:t>E</m:t>
                            </m:r>
                          </m:e>
                          <m:sup>
                            <m:r>
                              <a:rPr lang="en-US" altLang="zh-TW" sz="2400" b="0" i="0" smtClean="0">
                                <a:solidFill>
                                  <a:schemeClr val="tx1"/>
                                </a:solidFill>
                                <a:latin typeface="Cambria Math" panose="02040503050406030204" pitchFamily="18" charset="0"/>
                              </a:rPr>
                              <m:t>∗</m:t>
                            </m:r>
                          </m:sup>
                        </m:sSup>
                      </m:num>
                      <m:den>
                        <m:sSub>
                          <m:sSubPr>
                            <m:ctrlPr>
                              <a:rPr lang="en-US" altLang="zh-TW" sz="2400" i="1" smtClean="0">
                                <a:solidFill>
                                  <a:schemeClr val="tx1"/>
                                </a:solidFill>
                                <a:latin typeface="Cambria Math" panose="02040503050406030204" pitchFamily="18" charset="0"/>
                              </a:rPr>
                            </m:ctrlPr>
                          </m:sSubPr>
                          <m:e>
                            <m:r>
                              <m:rPr>
                                <m:sty m:val="p"/>
                              </m:rPr>
                              <a:rPr lang="en-US" altLang="zh-TW" sz="2400" b="0" i="0" smtClean="0">
                                <a:solidFill>
                                  <a:schemeClr val="tx1"/>
                                </a:solidFill>
                                <a:latin typeface="Cambria Math" panose="02040503050406030204" pitchFamily="18" charset="0"/>
                              </a:rPr>
                              <m:t>E</m:t>
                            </m:r>
                          </m:e>
                          <m:sub>
                            <m:r>
                              <m:rPr>
                                <m:sty m:val="p"/>
                              </m:rPr>
                              <a:rPr lang="en-US" altLang="zh-TW" sz="2400" b="0" i="0" smtClean="0">
                                <a:solidFill>
                                  <a:schemeClr val="tx1"/>
                                </a:solidFill>
                                <a:latin typeface="Cambria Math" panose="02040503050406030204" pitchFamily="18" charset="0"/>
                              </a:rPr>
                              <m:t>s</m:t>
                            </m:r>
                          </m:sub>
                        </m:sSub>
                      </m:den>
                    </m:f>
                  </m:oMath>
                </a14:m>
                <a:r>
                  <a:rPr lang="en-US" altLang="zh-TW" sz="2400" b="0" dirty="0">
                    <a:solidFill>
                      <a:schemeClr val="tx1"/>
                    </a:solidFill>
                    <a:effectLst/>
                  </a:rPr>
                  <a:t> turn-off-on operations exist in the solution with the total energy consumption being </a:t>
                </a:r>
                <a:r>
                  <a:rPr lang="en-US" altLang="zh-TW" sz="2400" b="0" u="sng" dirty="0">
                    <a:solidFill>
                      <a:schemeClr val="tx1"/>
                    </a:solidFill>
                    <a:effectLst/>
                  </a:rPr>
                  <a:t>E*</a:t>
                </a:r>
                <a:r>
                  <a:rPr lang="en-US" altLang="zh-TW" sz="2400" b="0" dirty="0">
                    <a:solidFill>
                      <a:schemeClr val="tx1"/>
                    </a:solidFill>
                    <a:effectLst/>
                  </a:rPr>
                  <a:t>.</a:t>
                </a:r>
              </a:p>
              <a:p>
                <a:pPr marL="0" indent="0" algn="l">
                  <a:buNone/>
                </a:pPr>
                <a:endParaRPr lang="en-US" altLang="zh-TW" sz="2400" dirty="0">
                  <a:solidFill>
                    <a:schemeClr val="tx1"/>
                  </a:solidFill>
                </a:endParaRPr>
              </a:p>
              <a:p>
                <a:pPr marL="0" indent="0">
                  <a:buNone/>
                </a:pPr>
                <a14:m>
                  <m:oMath xmlns:m="http://schemas.openxmlformats.org/officeDocument/2006/math">
                    <m:nary>
                      <m:naryPr>
                        <m:chr m:val="∑"/>
                        <m:limLoc m:val="subSup"/>
                        <m:ctrlPr>
                          <a:rPr lang="en-US" altLang="zh-TW" sz="2400" i="1" smtClean="0">
                            <a:solidFill>
                              <a:schemeClr val="tx1"/>
                            </a:solidFill>
                            <a:latin typeface="Cambria Math" panose="02040503050406030204" pitchFamily="18" charset="0"/>
                          </a:rPr>
                        </m:ctrlPr>
                      </m:naryPr>
                      <m:sub>
                        <m:r>
                          <m:rPr>
                            <m:brk m:alnAt="25"/>
                          </m:rPr>
                          <a:rPr lang="en-US" altLang="zh-TW" sz="2400" b="0" i="1" smtClean="0">
                            <a:solidFill>
                              <a:schemeClr val="tx1"/>
                            </a:solidFill>
                            <a:latin typeface="Cambria Math" panose="02040503050406030204" pitchFamily="18" charset="0"/>
                          </a:rPr>
                          <m:t>𝑘</m:t>
                        </m:r>
                        <m:r>
                          <a:rPr lang="en-US" altLang="zh-TW" sz="2400" b="0" i="1" smtClean="0">
                            <a:solidFill>
                              <a:schemeClr val="tx1"/>
                            </a:solidFill>
                            <a:latin typeface="Cambria Math" panose="02040503050406030204" pitchFamily="18" charset="0"/>
                          </a:rPr>
                          <m:t>=1</m:t>
                        </m:r>
                      </m:sub>
                      <m:sup>
                        <m:r>
                          <a:rPr lang="en-US" altLang="zh-TW" sz="2400" b="0" i="1" smtClean="0">
                            <a:solidFill>
                              <a:schemeClr val="tx1"/>
                            </a:solidFill>
                            <a:latin typeface="Cambria Math" panose="02040503050406030204" pitchFamily="18" charset="0"/>
                          </a:rPr>
                          <m:t>𝑛</m:t>
                        </m:r>
                        <m:r>
                          <a:rPr lang="en-US" altLang="zh-TW" sz="2400" b="0" i="1" smtClean="0">
                            <a:solidFill>
                              <a:schemeClr val="tx1"/>
                            </a:solidFill>
                            <a:latin typeface="Cambria Math" panose="02040503050406030204" pitchFamily="18" charset="0"/>
                          </a:rPr>
                          <m:t>−1</m:t>
                        </m:r>
                      </m:sup>
                      <m:e>
                        <m:sSub>
                          <m:sSubPr>
                            <m:ctrlPr>
                              <a:rPr lang="en-US" altLang="zh-TW" sz="2400" i="1" smtClean="0">
                                <a:solidFill>
                                  <a:schemeClr val="tx1"/>
                                </a:solidFill>
                                <a:latin typeface="Cambria Math" panose="02040503050406030204" pitchFamily="18" charset="0"/>
                              </a:rPr>
                            </m:ctrlPr>
                          </m:sSubPr>
                          <m:e>
                            <m:r>
                              <a:rPr lang="en-US" altLang="zh-TW" sz="2400" b="0" i="1" smtClean="0">
                                <a:solidFill>
                                  <a:schemeClr val="tx1"/>
                                </a:solidFill>
                                <a:latin typeface="Cambria Math" panose="02040503050406030204" pitchFamily="18" charset="0"/>
                              </a:rPr>
                              <m:t>𝑦</m:t>
                            </m:r>
                          </m:e>
                          <m:sub>
                            <m:r>
                              <a:rPr lang="en-US" altLang="zh-TW" sz="2400" b="0" i="1" smtClean="0">
                                <a:solidFill>
                                  <a:schemeClr val="tx1"/>
                                </a:solidFill>
                                <a:latin typeface="Cambria Math" panose="02040503050406030204" pitchFamily="18" charset="0"/>
                              </a:rPr>
                              <m:t>𝑘</m:t>
                            </m:r>
                          </m:sub>
                        </m:sSub>
                      </m:e>
                    </m:nary>
                  </m:oMath>
                </a14:m>
                <a:r>
                  <a:rPr lang="en-US" altLang="zh-TW" sz="2400" dirty="0">
                    <a:solidFill>
                      <a:schemeClr val="tx1"/>
                    </a:solidFill>
                  </a:rPr>
                  <a:t> </a:t>
                </a:r>
                <a14:m>
                  <m:oMath xmlns:m="http://schemas.openxmlformats.org/officeDocument/2006/math">
                    <m:r>
                      <a:rPr lang="en-US" altLang="zh-TW" sz="2400" i="1" dirty="0" smtClean="0">
                        <a:solidFill>
                          <a:schemeClr val="tx1"/>
                        </a:solidFill>
                        <a:latin typeface="Cambria Math" panose="02040503050406030204" pitchFamily="18" charset="0"/>
                        <a:ea typeface="Cambria Math" panose="02040503050406030204" pitchFamily="18" charset="0"/>
                      </a:rPr>
                      <m:t>≤</m:t>
                    </m:r>
                    <m:r>
                      <a:rPr lang="en-US" altLang="zh-TW" sz="2400" b="0" i="1" dirty="0" smtClean="0">
                        <a:solidFill>
                          <a:schemeClr val="tx1"/>
                        </a:solidFill>
                        <a:latin typeface="Cambria Math" panose="02040503050406030204" pitchFamily="18" charset="0"/>
                        <a:ea typeface="Cambria Math" panose="02040503050406030204" pitchFamily="18" charset="0"/>
                      </a:rPr>
                      <m:t> </m:t>
                    </m:r>
                    <m:f>
                      <m:fPr>
                        <m:ctrlPr>
                          <a:rPr lang="en-US" altLang="zh-TW" sz="2400" b="0" i="1" dirty="0" smtClean="0">
                            <a:solidFill>
                              <a:schemeClr val="tx1"/>
                            </a:solidFill>
                            <a:latin typeface="Cambria Math" panose="02040503050406030204" pitchFamily="18" charset="0"/>
                            <a:ea typeface="Cambria Math" panose="02040503050406030204" pitchFamily="18" charset="0"/>
                          </a:rPr>
                        </m:ctrlPr>
                      </m:fPr>
                      <m:num>
                        <m:r>
                          <m:rPr>
                            <m:nor/>
                          </m:rPr>
                          <a:rPr lang="en-US" altLang="zh-TW" sz="2400" i="1" dirty="0">
                            <a:solidFill>
                              <a:schemeClr val="tx1"/>
                            </a:solidFill>
                          </a:rPr>
                          <m:t>E</m:t>
                        </m:r>
                        <m:r>
                          <m:rPr>
                            <m:nor/>
                          </m:rPr>
                          <a:rPr lang="en-US" altLang="zh-TW" sz="2400" dirty="0">
                            <a:solidFill>
                              <a:schemeClr val="tx1"/>
                            </a:solidFill>
                          </a:rPr>
                          <m:t>∗</m:t>
                        </m:r>
                      </m:num>
                      <m:den>
                        <m:sSub>
                          <m:sSubPr>
                            <m:ctrlPr>
                              <a:rPr lang="en-US" altLang="zh-TW" sz="2400" b="0" i="1" dirty="0" smtClean="0">
                                <a:solidFill>
                                  <a:schemeClr val="tx1"/>
                                </a:solidFill>
                                <a:latin typeface="Cambria Math" panose="02040503050406030204" pitchFamily="18" charset="0"/>
                                <a:ea typeface="Cambria Math" panose="02040503050406030204" pitchFamily="18" charset="0"/>
                              </a:rPr>
                            </m:ctrlPr>
                          </m:sSubPr>
                          <m:e>
                            <m:r>
                              <a:rPr lang="en-US" altLang="zh-TW" sz="2400" b="0" i="1" dirty="0" smtClean="0">
                                <a:solidFill>
                                  <a:schemeClr val="tx1"/>
                                </a:solidFill>
                                <a:latin typeface="Cambria Math" panose="02040503050406030204" pitchFamily="18" charset="0"/>
                                <a:ea typeface="Cambria Math" panose="02040503050406030204" pitchFamily="18" charset="0"/>
                              </a:rPr>
                              <m:t>𝐸</m:t>
                            </m:r>
                          </m:e>
                          <m:sub>
                            <m:r>
                              <a:rPr lang="en-US" altLang="zh-TW" sz="2400" b="0" i="1" dirty="0" smtClean="0">
                                <a:solidFill>
                                  <a:schemeClr val="tx1"/>
                                </a:solidFill>
                                <a:latin typeface="Cambria Math" panose="02040503050406030204" pitchFamily="18" charset="0"/>
                                <a:ea typeface="Cambria Math" panose="02040503050406030204" pitchFamily="18" charset="0"/>
                              </a:rPr>
                              <m:t>𝑠</m:t>
                            </m:r>
                          </m:sub>
                        </m:sSub>
                      </m:den>
                    </m:f>
                  </m:oMath>
                </a14:m>
                <a:r>
                  <a:rPr lang="en-US" altLang="zh-TW" sz="2400" dirty="0">
                    <a:solidFill>
                      <a:schemeClr val="tx1"/>
                    </a:solidFill>
                  </a:rPr>
                  <a:t>  , </a:t>
                </a:r>
                <a:r>
                  <a:rPr lang="en-US" altLang="zh-TW" sz="2400" b="0" i="0" dirty="0">
                    <a:solidFill>
                      <a:schemeClr val="tx1"/>
                    </a:solidFill>
                    <a:effectLst/>
                  </a:rPr>
                  <a:t>smaller value of </a:t>
                </a:r>
                <a:r>
                  <a:rPr lang="en-US" altLang="zh-TW" sz="2400" b="0" i="1" dirty="0">
                    <a:solidFill>
                      <a:schemeClr val="tx1"/>
                    </a:solidFill>
                    <a:effectLst/>
                  </a:rPr>
                  <a:t>E</a:t>
                </a:r>
                <a:r>
                  <a:rPr lang="en-US" altLang="zh-TW" sz="2400" b="0" i="0" dirty="0">
                    <a:solidFill>
                      <a:schemeClr val="tx1"/>
                    </a:solidFill>
                    <a:effectLst/>
                  </a:rPr>
                  <a:t>* will make the valid inequalities more efficient.</a:t>
                </a:r>
                <a:endParaRPr lang="en-US" altLang="zh-TW" sz="2400" b="0" dirty="0">
                  <a:solidFill>
                    <a:schemeClr val="tx1"/>
                  </a:solidFill>
                  <a:effectLst/>
                </a:endParaRPr>
              </a:p>
              <a:p>
                <a:pPr marL="0" indent="0">
                  <a:buNone/>
                </a:pPr>
                <a:r>
                  <a:rPr lang="en-US" altLang="zh-TW" sz="2400" b="0" i="0" dirty="0">
                    <a:solidFill>
                      <a:schemeClr val="tx1"/>
                    </a:solidFill>
                    <a:effectLst/>
                  </a:rPr>
                  <a:t>In particular, if there exist </a:t>
                </a:r>
                <a:r>
                  <a:rPr lang="en-US" altLang="zh-TW" sz="2400" b="0" i="1" dirty="0">
                    <a:solidFill>
                      <a:schemeClr val="tx1"/>
                    </a:solidFill>
                    <a:effectLst/>
                  </a:rPr>
                  <a:t>k</a:t>
                </a:r>
                <a:r>
                  <a:rPr lang="en-US" altLang="zh-TW" sz="2400" b="0" i="0" baseline="-25000" dirty="0">
                    <a:solidFill>
                      <a:schemeClr val="tx1"/>
                    </a:solidFill>
                    <a:effectLst/>
                  </a:rPr>
                  <a:t>1</a:t>
                </a:r>
                <a:r>
                  <a:rPr lang="en-US" altLang="zh-TW" sz="2400" b="0" i="0" dirty="0">
                    <a:solidFill>
                      <a:schemeClr val="tx1"/>
                    </a:solidFill>
                    <a:effectLst/>
                  </a:rPr>
                  <a:t> (</a:t>
                </a:r>
                <a:r>
                  <a:rPr lang="en-US" altLang="zh-TW" sz="2400" b="0" i="1" dirty="0">
                    <a:solidFill>
                      <a:schemeClr val="tx1"/>
                    </a:solidFill>
                    <a:effectLst/>
                  </a:rPr>
                  <a:t>k</a:t>
                </a:r>
                <a:r>
                  <a:rPr lang="en-US" altLang="zh-TW" sz="2400" b="0" i="0" baseline="-25000" dirty="0">
                    <a:solidFill>
                      <a:schemeClr val="tx1"/>
                    </a:solidFill>
                    <a:effectLst/>
                  </a:rPr>
                  <a:t>1</a:t>
                </a:r>
                <a:r>
                  <a:rPr lang="en-US" altLang="zh-TW" sz="2400" b="0" i="0" dirty="0">
                    <a:solidFill>
                      <a:schemeClr val="tx1"/>
                    </a:solidFill>
                    <a:effectLst/>
                  </a:rPr>
                  <a:t> ≥ 1) </a:t>
                </a:r>
                <a:r>
                  <a:rPr lang="en-US" altLang="zh-TW" sz="2400" b="0" i="0" u="sng" dirty="0">
                    <a:solidFill>
                      <a:schemeClr val="tx1"/>
                    </a:solidFill>
                    <a:effectLst/>
                  </a:rPr>
                  <a:t>effective groups </a:t>
                </a:r>
                <a:r>
                  <a:rPr lang="en-US" altLang="zh-TW" sz="2400" b="0" i="0" dirty="0">
                    <a:solidFill>
                      <a:schemeClr val="tx1"/>
                    </a:solidFill>
                    <a:effectLst/>
                  </a:rPr>
                  <a:t>in the solution corresponding to (</a:t>
                </a:r>
                <a:r>
                  <a:rPr lang="en-US" altLang="zh-TW" sz="2400" b="0" i="1" dirty="0">
                    <a:solidFill>
                      <a:schemeClr val="tx1"/>
                    </a:solidFill>
                    <a:effectLst/>
                  </a:rPr>
                  <a:t>E</a:t>
                </a:r>
                <a:r>
                  <a:rPr lang="en-US" altLang="zh-TW" sz="2400" b="0" i="0" baseline="30000" dirty="0">
                    <a:solidFill>
                      <a:schemeClr val="tx1"/>
                    </a:solidFill>
                    <a:effectLst/>
                  </a:rPr>
                  <a:t>0</a:t>
                </a:r>
                <a:r>
                  <a:rPr lang="en-US" altLang="zh-TW" sz="2400" b="0" i="0" dirty="0">
                    <a:solidFill>
                      <a:schemeClr val="tx1"/>
                    </a:solidFill>
                    <a:effectLst/>
                  </a:rPr>
                  <a:t>,</a:t>
                </a:r>
                <a:r>
                  <a:rPr lang="en-US" altLang="zh-TW" sz="2400" b="0" i="1" dirty="0">
                    <a:solidFill>
                      <a:schemeClr val="tx1"/>
                    </a:solidFill>
                    <a:effectLst/>
                  </a:rPr>
                  <a:t>D</a:t>
                </a:r>
                <a:r>
                  <a:rPr lang="en-US" altLang="zh-TW" sz="2400" b="0" i="0" baseline="30000" dirty="0">
                    <a:solidFill>
                      <a:schemeClr val="tx1"/>
                    </a:solidFill>
                    <a:effectLst/>
                  </a:rPr>
                  <a:t>0</a:t>
                </a:r>
                <a:r>
                  <a:rPr lang="en-US" altLang="zh-TW" sz="2400" b="0" i="0" dirty="0">
                    <a:solidFill>
                      <a:schemeClr val="tx1"/>
                    </a:solidFill>
                    <a:effectLst/>
                  </a:rPr>
                  <a:t>), which means that we can obtain a feasible solution corresponding to (</a:t>
                </a:r>
                <a:r>
                  <a:rPr lang="en-US" altLang="zh-TW" sz="2400" b="0" i="1" dirty="0">
                    <a:solidFill>
                      <a:schemeClr val="tx1"/>
                    </a:solidFill>
                    <a:effectLst/>
                  </a:rPr>
                  <a:t>E</a:t>
                </a:r>
                <a:r>
                  <a:rPr lang="en-US" altLang="zh-TW" sz="2400" b="0" i="0" baseline="30000" dirty="0">
                    <a:solidFill>
                      <a:schemeClr val="tx1"/>
                    </a:solidFill>
                    <a:effectLst/>
                  </a:rPr>
                  <a:t>0</a:t>
                </a:r>
                <a:r>
                  <a:rPr lang="en-US" altLang="zh-TW" sz="2400" b="0" i="0" dirty="0">
                    <a:solidFill>
                      <a:schemeClr val="tx1"/>
                    </a:solidFill>
                    <a:effectLst/>
                  </a:rPr>
                  <a:t> − </a:t>
                </a:r>
                <a:r>
                  <a:rPr lang="en-US" altLang="zh-TW" sz="2400" b="0" i="1" dirty="0">
                    <a:solidFill>
                      <a:schemeClr val="tx1"/>
                    </a:solidFill>
                    <a:effectLst/>
                  </a:rPr>
                  <a:t>k</a:t>
                </a:r>
                <a:r>
                  <a:rPr lang="en-US" altLang="zh-TW" sz="2400" b="0" i="0" baseline="-25000" dirty="0">
                    <a:solidFill>
                      <a:schemeClr val="tx1"/>
                    </a:solidFill>
                    <a:effectLst/>
                  </a:rPr>
                  <a:t>1</a:t>
                </a:r>
                <a:r>
                  <a:rPr lang="en-US" altLang="zh-TW" sz="2400" b="0" i="0" dirty="0">
                    <a:solidFill>
                      <a:schemeClr val="tx1"/>
                    </a:solidFill>
                    <a:effectLst/>
                  </a:rPr>
                  <a:t>*</a:t>
                </a:r>
                <a:r>
                  <a:rPr lang="en-US" altLang="zh-TW" sz="2400" b="0" i="1" dirty="0" err="1">
                    <a:solidFill>
                      <a:schemeClr val="tx1"/>
                    </a:solidFill>
                    <a:effectLst/>
                  </a:rPr>
                  <a:t>P</a:t>
                </a:r>
                <a:r>
                  <a:rPr lang="en-US" altLang="zh-TW" sz="2400" b="0" i="1" baseline="-25000" dirty="0" err="1">
                    <a:solidFill>
                      <a:schemeClr val="tx1"/>
                    </a:solidFill>
                    <a:effectLst/>
                  </a:rPr>
                  <a:t>v</a:t>
                </a:r>
                <a:r>
                  <a:rPr lang="en-US" altLang="zh-TW" sz="2400" b="0" i="1" baseline="-25000" dirty="0">
                    <a:solidFill>
                      <a:schemeClr val="tx1"/>
                    </a:solidFill>
                    <a:effectLst/>
                  </a:rPr>
                  <a:t> </a:t>
                </a:r>
                <a:r>
                  <a:rPr lang="en-US" altLang="zh-TW" sz="2400" b="0" i="1" dirty="0">
                    <a:solidFill>
                      <a:schemeClr val="tx1"/>
                    </a:solidFill>
                    <a:effectLst/>
                  </a:rPr>
                  <a:t>,D</a:t>
                </a:r>
                <a:r>
                  <a:rPr lang="en-US" altLang="zh-TW" sz="2400" b="0" i="0" baseline="30000" dirty="0">
                    <a:solidFill>
                      <a:schemeClr val="tx1"/>
                    </a:solidFill>
                    <a:effectLst/>
                  </a:rPr>
                  <a:t>0</a:t>
                </a:r>
                <a:r>
                  <a:rPr lang="en-US" altLang="zh-TW" sz="2400" b="0" i="0" dirty="0">
                    <a:solidFill>
                      <a:schemeClr val="tx1"/>
                    </a:solidFill>
                    <a:effectLst/>
                  </a:rPr>
                  <a:t> + 1), then </a:t>
                </a:r>
                <a:r>
                  <a:rPr lang="en-US" altLang="zh-TW" sz="2400" dirty="0">
                    <a:solidFill>
                      <a:schemeClr val="tx1"/>
                    </a:solidFill>
                  </a:rPr>
                  <a:t> </a:t>
                </a:r>
                <a14:m>
                  <m:oMath xmlns:m="http://schemas.openxmlformats.org/officeDocument/2006/math">
                    <m:nary>
                      <m:naryPr>
                        <m:chr m:val="∑"/>
                        <m:limLoc m:val="subSup"/>
                        <m:ctrlPr>
                          <a:rPr lang="en-US" altLang="zh-TW" sz="2400" i="1" smtClean="0">
                            <a:solidFill>
                              <a:schemeClr val="tx1"/>
                            </a:solidFill>
                            <a:latin typeface="Cambria Math" panose="02040503050406030204" pitchFamily="18" charset="0"/>
                          </a:rPr>
                        </m:ctrlPr>
                      </m:naryPr>
                      <m:sub>
                        <m:r>
                          <m:rPr>
                            <m:brk m:alnAt="25"/>
                          </m:rPr>
                          <a:rPr lang="en-US" altLang="zh-TW" sz="2400" b="0" i="1" smtClean="0">
                            <a:solidFill>
                              <a:schemeClr val="tx1"/>
                            </a:solidFill>
                            <a:latin typeface="Cambria Math" panose="02040503050406030204" pitchFamily="18" charset="0"/>
                          </a:rPr>
                          <m:t>𝑘</m:t>
                        </m:r>
                        <m:r>
                          <a:rPr lang="en-US" altLang="zh-TW" sz="2400" b="0" i="1" smtClean="0">
                            <a:solidFill>
                              <a:schemeClr val="tx1"/>
                            </a:solidFill>
                            <a:latin typeface="Cambria Math" panose="02040503050406030204" pitchFamily="18" charset="0"/>
                          </a:rPr>
                          <m:t>=1</m:t>
                        </m:r>
                      </m:sub>
                      <m:sup>
                        <m:r>
                          <a:rPr lang="en-US" altLang="zh-TW" sz="2400" b="0" i="1" smtClean="0">
                            <a:solidFill>
                              <a:schemeClr val="tx1"/>
                            </a:solidFill>
                            <a:latin typeface="Cambria Math" panose="02040503050406030204" pitchFamily="18" charset="0"/>
                          </a:rPr>
                          <m:t>𝑛</m:t>
                        </m:r>
                        <m:r>
                          <a:rPr lang="en-US" altLang="zh-TW" sz="2400" b="0" i="1" smtClean="0">
                            <a:solidFill>
                              <a:schemeClr val="tx1"/>
                            </a:solidFill>
                            <a:latin typeface="Cambria Math" panose="02040503050406030204" pitchFamily="18" charset="0"/>
                          </a:rPr>
                          <m:t>−1</m:t>
                        </m:r>
                      </m:sup>
                      <m:e>
                        <m:sSub>
                          <m:sSubPr>
                            <m:ctrlPr>
                              <a:rPr lang="en-US" altLang="zh-TW" sz="2400" i="1" smtClean="0">
                                <a:solidFill>
                                  <a:schemeClr val="tx1"/>
                                </a:solidFill>
                                <a:latin typeface="Cambria Math" panose="02040503050406030204" pitchFamily="18" charset="0"/>
                              </a:rPr>
                            </m:ctrlPr>
                          </m:sSubPr>
                          <m:e>
                            <m:r>
                              <a:rPr lang="en-US" altLang="zh-TW" sz="2400" b="0" i="1" smtClean="0">
                                <a:solidFill>
                                  <a:schemeClr val="tx1"/>
                                </a:solidFill>
                                <a:latin typeface="Cambria Math" panose="02040503050406030204" pitchFamily="18" charset="0"/>
                              </a:rPr>
                              <m:t>𝑦</m:t>
                            </m:r>
                          </m:e>
                          <m:sub>
                            <m:r>
                              <a:rPr lang="en-US" altLang="zh-TW" sz="2400" b="0" i="1" smtClean="0">
                                <a:solidFill>
                                  <a:schemeClr val="tx1"/>
                                </a:solidFill>
                                <a:latin typeface="Cambria Math" panose="02040503050406030204" pitchFamily="18" charset="0"/>
                              </a:rPr>
                              <m:t>𝑘</m:t>
                            </m:r>
                          </m:sub>
                        </m:sSub>
                      </m:e>
                    </m:nary>
                  </m:oMath>
                </a14:m>
                <a:r>
                  <a:rPr lang="en-US" altLang="zh-TW" sz="2400" dirty="0">
                    <a:solidFill>
                      <a:schemeClr val="tx1"/>
                    </a:solidFill>
                  </a:rPr>
                  <a:t> </a:t>
                </a:r>
                <a14:m>
                  <m:oMath xmlns:m="http://schemas.openxmlformats.org/officeDocument/2006/math">
                    <m:r>
                      <a:rPr lang="en-US" altLang="zh-TW" sz="2400" i="1" dirty="0" smtClean="0">
                        <a:solidFill>
                          <a:schemeClr val="tx1"/>
                        </a:solidFill>
                        <a:latin typeface="Cambria Math" panose="02040503050406030204" pitchFamily="18" charset="0"/>
                        <a:ea typeface="Cambria Math" panose="02040503050406030204" pitchFamily="18" charset="0"/>
                      </a:rPr>
                      <m:t>≤</m:t>
                    </m:r>
                    <m:r>
                      <a:rPr lang="en-US" altLang="zh-TW" sz="2400" b="0" i="1" dirty="0" smtClean="0">
                        <a:solidFill>
                          <a:schemeClr val="tx1"/>
                        </a:solidFill>
                        <a:latin typeface="Cambria Math" panose="02040503050406030204" pitchFamily="18" charset="0"/>
                        <a:ea typeface="Cambria Math" panose="02040503050406030204" pitchFamily="18" charset="0"/>
                      </a:rPr>
                      <m:t> </m:t>
                    </m:r>
                    <m:f>
                      <m:fPr>
                        <m:ctrlPr>
                          <a:rPr lang="en-US" altLang="zh-TW" sz="2400" b="0" i="1" dirty="0" smtClean="0">
                            <a:solidFill>
                              <a:schemeClr val="tx1"/>
                            </a:solidFill>
                            <a:latin typeface="Cambria Math" panose="02040503050406030204" pitchFamily="18" charset="0"/>
                            <a:ea typeface="Cambria Math" panose="02040503050406030204" pitchFamily="18" charset="0"/>
                          </a:rPr>
                        </m:ctrlPr>
                      </m:fPr>
                      <m:num>
                        <m:r>
                          <m:rPr>
                            <m:nor/>
                          </m:rPr>
                          <a:rPr lang="en-US" altLang="zh-TW" sz="2400" i="1" dirty="0">
                            <a:solidFill>
                              <a:schemeClr val="tx1"/>
                            </a:solidFill>
                          </a:rPr>
                          <m:t>E</m:t>
                        </m:r>
                        <m:r>
                          <m:rPr>
                            <m:nor/>
                          </m:rPr>
                          <a:rPr lang="en-US" altLang="zh-TW" sz="2400" baseline="30000" dirty="0">
                            <a:solidFill>
                              <a:schemeClr val="tx1"/>
                            </a:solidFill>
                          </a:rPr>
                          <m:t>0</m:t>
                        </m:r>
                        <m:r>
                          <m:rPr>
                            <m:nor/>
                          </m:rPr>
                          <a:rPr lang="en-US" altLang="zh-TW" sz="2400" dirty="0">
                            <a:solidFill>
                              <a:schemeClr val="tx1"/>
                            </a:solidFill>
                          </a:rPr>
                          <m:t> − </m:t>
                        </m:r>
                        <m:r>
                          <m:rPr>
                            <m:nor/>
                          </m:rPr>
                          <a:rPr lang="en-US" altLang="zh-TW" sz="2400" i="1" dirty="0">
                            <a:solidFill>
                              <a:schemeClr val="tx1"/>
                            </a:solidFill>
                          </a:rPr>
                          <m:t>k</m:t>
                        </m:r>
                        <m:r>
                          <m:rPr>
                            <m:nor/>
                          </m:rPr>
                          <a:rPr lang="en-US" altLang="zh-TW" sz="2400" baseline="-25000" dirty="0">
                            <a:solidFill>
                              <a:schemeClr val="tx1"/>
                            </a:solidFill>
                          </a:rPr>
                          <m:t>1</m:t>
                        </m:r>
                        <m:r>
                          <m:rPr>
                            <m:nor/>
                          </m:rPr>
                          <a:rPr lang="en-US" altLang="zh-TW" sz="2400" dirty="0">
                            <a:solidFill>
                              <a:schemeClr val="tx1"/>
                            </a:solidFill>
                          </a:rPr>
                          <m:t>∗</m:t>
                        </m:r>
                        <m:r>
                          <m:rPr>
                            <m:nor/>
                          </m:rPr>
                          <a:rPr lang="en-US" altLang="zh-TW" sz="2400" i="1" dirty="0">
                            <a:solidFill>
                              <a:schemeClr val="tx1"/>
                            </a:solidFill>
                          </a:rPr>
                          <m:t>P</m:t>
                        </m:r>
                        <m:r>
                          <m:rPr>
                            <m:nor/>
                          </m:rPr>
                          <a:rPr lang="en-US" altLang="zh-TW" sz="2400" i="1" baseline="-25000" dirty="0">
                            <a:solidFill>
                              <a:schemeClr val="tx1"/>
                            </a:solidFill>
                          </a:rPr>
                          <m:t>v</m:t>
                        </m:r>
                      </m:num>
                      <m:den>
                        <m:sSub>
                          <m:sSubPr>
                            <m:ctrlPr>
                              <a:rPr lang="en-US" altLang="zh-TW" sz="2400" b="0" i="1" dirty="0" smtClean="0">
                                <a:solidFill>
                                  <a:schemeClr val="tx1"/>
                                </a:solidFill>
                                <a:latin typeface="Cambria Math" panose="02040503050406030204" pitchFamily="18" charset="0"/>
                                <a:ea typeface="Cambria Math" panose="02040503050406030204" pitchFamily="18" charset="0"/>
                              </a:rPr>
                            </m:ctrlPr>
                          </m:sSubPr>
                          <m:e>
                            <m:r>
                              <a:rPr lang="en-US" altLang="zh-TW" sz="2400" b="0" i="1" dirty="0" smtClean="0">
                                <a:solidFill>
                                  <a:schemeClr val="tx1"/>
                                </a:solidFill>
                                <a:latin typeface="Cambria Math" panose="02040503050406030204" pitchFamily="18" charset="0"/>
                                <a:ea typeface="Cambria Math" panose="02040503050406030204" pitchFamily="18" charset="0"/>
                              </a:rPr>
                              <m:t>𝐸</m:t>
                            </m:r>
                          </m:e>
                          <m:sub>
                            <m:r>
                              <a:rPr lang="en-US" altLang="zh-TW" sz="2400" b="0" i="1" dirty="0" smtClean="0">
                                <a:solidFill>
                                  <a:schemeClr val="tx1"/>
                                </a:solidFill>
                                <a:latin typeface="Cambria Math" panose="02040503050406030204" pitchFamily="18" charset="0"/>
                                <a:ea typeface="Cambria Math" panose="02040503050406030204" pitchFamily="18" charset="0"/>
                              </a:rPr>
                              <m:t>𝑠</m:t>
                            </m:r>
                          </m:sub>
                        </m:sSub>
                      </m:den>
                    </m:f>
                  </m:oMath>
                </a14:m>
                <a:r>
                  <a:rPr lang="en-US" altLang="zh-TW" sz="2400" dirty="0">
                    <a:solidFill>
                      <a:schemeClr val="tx1"/>
                    </a:solidFill>
                  </a:rPr>
                  <a:t> </a:t>
                </a:r>
                <a:r>
                  <a:rPr lang="en-US" altLang="zh-TW" sz="2400" b="0" i="0" dirty="0">
                    <a:solidFill>
                      <a:schemeClr val="tx1"/>
                    </a:solidFill>
                    <a:effectLst/>
                  </a:rPr>
                  <a:t>can be applied when solving PE′(D0+1).</a:t>
                </a:r>
              </a:p>
              <a:p>
                <a:pPr marL="0" indent="0">
                  <a:buNone/>
                </a:pPr>
                <a:endParaRPr lang="en-US" altLang="zh-TW" sz="2400" dirty="0">
                  <a:solidFill>
                    <a:schemeClr val="tx1"/>
                  </a:solidFill>
                </a:endParaRPr>
              </a:p>
              <a:p>
                <a:pPr marL="0" indent="0">
                  <a:buNone/>
                </a:pPr>
                <a:r>
                  <a:rPr lang="en-US" altLang="zh-TW" sz="2400" dirty="0">
                    <a:solidFill>
                      <a:schemeClr val="tx1"/>
                    </a:solidFill>
                  </a:rPr>
                  <a:t>Significantly both accelerate the original algorithm.</a:t>
                </a:r>
                <a:endParaRPr lang="zh-TW" altLang="en-US" sz="2400" dirty="0">
                  <a:solidFill>
                    <a:schemeClr val="tx1"/>
                  </a:solidFill>
                </a:endParaRPr>
              </a:p>
              <a:p>
                <a:pPr marL="0" indent="0">
                  <a:buNone/>
                </a:pPr>
                <a:endParaRPr lang="en-US" altLang="zh-TW" sz="2400" dirty="0">
                  <a:solidFill>
                    <a:schemeClr val="tx1"/>
                  </a:solidFill>
                </a:endParaRPr>
              </a:p>
            </p:txBody>
          </p:sp>
        </mc:Choice>
        <mc:Fallback>
          <p:sp>
            <p:nvSpPr>
              <p:cNvPr id="3" name="內容版面配置區 2">
                <a:extLst>
                  <a:ext uri="{FF2B5EF4-FFF2-40B4-BE49-F238E27FC236}">
                    <a16:creationId xmlns:a16="http://schemas.microsoft.com/office/drawing/2014/main" id="{C0A320B8-A0DD-4F52-9E3E-652700B54C3B}"/>
                  </a:ext>
                </a:extLst>
              </p:cNvPr>
              <p:cNvSpPr>
                <a:spLocks noGrp="1" noRot="1" noChangeAspect="1" noMove="1" noResize="1" noEditPoints="1" noAdjustHandles="1" noChangeArrowheads="1" noChangeShapeType="1" noTextEdit="1"/>
              </p:cNvSpPr>
              <p:nvPr>
                <p:ph idx="1"/>
              </p:nvPr>
            </p:nvSpPr>
            <p:spPr>
              <a:xfrm>
                <a:off x="218661" y="1580322"/>
                <a:ext cx="11678477" cy="5277677"/>
              </a:xfrm>
              <a:blipFill>
                <a:blip r:embed="rId2"/>
                <a:stretch>
                  <a:fillRect l="-835" t="-1617" r="-130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0656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E43AEF-C8F2-4EC3-9455-5B810ADADE49}"/>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5B0CAB24-373B-482E-A9C9-228B4E97D838}"/>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92FA596A-D2FD-4CA5-A773-2D5C37210C80}"/>
              </a:ext>
            </a:extLst>
          </p:cNvPr>
          <p:cNvPicPr>
            <a:picLocks noChangeAspect="1"/>
          </p:cNvPicPr>
          <p:nvPr/>
        </p:nvPicPr>
        <p:blipFill>
          <a:blip r:embed="rId3"/>
          <a:stretch>
            <a:fillRect/>
          </a:stretch>
        </p:blipFill>
        <p:spPr>
          <a:xfrm>
            <a:off x="1912595" y="133350"/>
            <a:ext cx="6657975" cy="6591300"/>
          </a:xfrm>
          <a:prstGeom prst="rect">
            <a:avLst/>
          </a:prstGeom>
        </p:spPr>
      </p:pic>
    </p:spTree>
    <p:extLst>
      <p:ext uri="{BB962C8B-B14F-4D97-AF65-F5344CB8AC3E}">
        <p14:creationId xmlns:p14="http://schemas.microsoft.com/office/powerpoint/2010/main" val="471469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114A9F-DE1D-4360-B669-00DF66320748}"/>
              </a:ext>
            </a:extLst>
          </p:cNvPr>
          <p:cNvSpPr>
            <a:spLocks noGrp="1"/>
          </p:cNvSpPr>
          <p:nvPr>
            <p:ph type="title"/>
          </p:nvPr>
        </p:nvSpPr>
        <p:spPr>
          <a:xfrm>
            <a:off x="397565" y="424759"/>
            <a:ext cx="11224591" cy="1325563"/>
          </a:xfrm>
        </p:spPr>
        <p:txBody>
          <a:bodyPr>
            <a:noAutofit/>
          </a:bodyPr>
          <a:lstStyle/>
          <a:p>
            <a:r>
              <a:rPr lang="en-US" altLang="zh-TW" sz="3600" dirty="0"/>
              <a:t>Why we choose the maximum tardiness as the primary objective</a:t>
            </a:r>
            <a:r>
              <a:rPr lang="zh-TW" altLang="en-US" sz="3600" dirty="0"/>
              <a:t> </a:t>
            </a:r>
            <a:r>
              <a:rPr lang="en-US" altLang="zh-TW" sz="3600" dirty="0"/>
              <a:t>function?</a:t>
            </a:r>
            <a:br>
              <a:rPr lang="en-US" altLang="zh-TW" sz="3600" dirty="0"/>
            </a:br>
            <a:endParaRPr lang="zh-TW" altLang="en-US" sz="3600"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18F06F02-9784-499C-8EE3-37B6825D0D20}"/>
                  </a:ext>
                </a:extLst>
              </p:cNvPr>
              <p:cNvSpPr>
                <a:spLocks noGrp="1"/>
              </p:cNvSpPr>
              <p:nvPr>
                <p:ph idx="1"/>
              </p:nvPr>
            </p:nvSpPr>
            <p:spPr/>
            <p:txBody>
              <a:bodyPr>
                <a:normAutofit/>
              </a:bodyPr>
              <a:lstStyle/>
              <a:p>
                <a:r>
                  <a:rPr lang="en-US" altLang="zh-TW" sz="2400" dirty="0"/>
                  <a:t> If we set </a:t>
                </a:r>
                <a:r>
                  <a:rPr lang="en-US" altLang="zh-TW" sz="2400" u="sng" dirty="0"/>
                  <a:t>E as the primary objective</a:t>
                </a:r>
                <a:r>
                  <a:rPr lang="en-US" altLang="zh-TW" sz="2400" dirty="0"/>
                  <a:t>, then the crucial step in this situation is to advance the starting time of certain jobs in order to make the </a:t>
                </a:r>
                <a:r>
                  <a:rPr lang="en-US" altLang="zh-TW" sz="2400" u="sng" dirty="0"/>
                  <a:t>maximum tardiness reduced by one</a:t>
                </a:r>
                <a:r>
                  <a:rPr lang="en-US" altLang="zh-TW" sz="2400" dirty="0"/>
                  <a:t>. </a:t>
                </a:r>
              </a:p>
              <a:p>
                <a:r>
                  <a:rPr lang="en-US" altLang="zh-TW" sz="2400" dirty="0"/>
                  <a:t>In Pareto optimal solution, there may exist </a:t>
                </a:r>
                <a:r>
                  <a:rPr lang="en-US" altLang="zh-TW" sz="2400" u="sng" dirty="0"/>
                  <a:t>multiple jobs</a:t>
                </a:r>
                <a:r>
                  <a:rPr lang="en-US" altLang="zh-TW" sz="2400" dirty="0"/>
                  <a:t> with the maximum tardiness</a:t>
                </a:r>
                <a14:m>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𝐷</m:t>
                        </m:r>
                      </m:e>
                      <m:sup>
                        <m:r>
                          <a:rPr lang="en-US" altLang="zh-TW" sz="2400" b="0" i="1" smtClean="0">
                            <a:latin typeface="Cambria Math" panose="02040503050406030204" pitchFamily="18" charset="0"/>
                          </a:rPr>
                          <m:t>0</m:t>
                        </m:r>
                      </m:sup>
                    </m:sSup>
                  </m:oMath>
                </a14:m>
                <a:r>
                  <a:rPr lang="en-US" altLang="zh-TW" sz="2400" dirty="0"/>
                  <a:t>.</a:t>
                </a:r>
              </a:p>
              <a:p>
                <a:r>
                  <a:rPr lang="en-US" altLang="zh-TW" sz="2400" dirty="0"/>
                  <a:t> In this case, we have to reduce the maximum tardiness of </a:t>
                </a:r>
                <a:r>
                  <a:rPr lang="en-US" altLang="zh-TW" sz="2400" u="sng" dirty="0"/>
                  <a:t>all these jobs by one time unit </a:t>
                </a:r>
                <a:r>
                  <a:rPr lang="en-US" altLang="zh-TW" sz="2400" dirty="0"/>
                  <a:t>while at the same time the total energy consumption is allowed to increase by </a:t>
                </a:r>
                <a:r>
                  <a:rPr lang="en-US" altLang="zh-TW" sz="2400" u="sng" dirty="0"/>
                  <a:t>only </a:t>
                </a:r>
                <a:r>
                  <a:rPr lang="en-US" altLang="zh-TW" sz="2400" u="sng" dirty="0" err="1"/>
                  <a:t>Pv</a:t>
                </a:r>
                <a:r>
                  <a:rPr lang="en-US" altLang="zh-TW" sz="2400" dirty="0"/>
                  <a:t>. This can be very hard to achieve.</a:t>
                </a:r>
                <a:endParaRPr lang="zh-TW" altLang="en-US" sz="2400" dirty="0"/>
              </a:p>
            </p:txBody>
          </p:sp>
        </mc:Choice>
        <mc:Fallback>
          <p:sp>
            <p:nvSpPr>
              <p:cNvPr id="3" name="內容版面配置區 2">
                <a:extLst>
                  <a:ext uri="{FF2B5EF4-FFF2-40B4-BE49-F238E27FC236}">
                    <a16:creationId xmlns:a16="http://schemas.microsoft.com/office/drawing/2014/main" id="{18F06F02-9784-499C-8EE3-37B6825D0D20}"/>
                  </a:ext>
                </a:extLst>
              </p:cNvPr>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20259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8973BB-069C-4590-B153-3CC6F677E21D}"/>
              </a:ext>
            </a:extLst>
          </p:cNvPr>
          <p:cNvSpPr>
            <a:spLocks noGrp="1"/>
          </p:cNvSpPr>
          <p:nvPr>
            <p:ph type="title"/>
          </p:nvPr>
        </p:nvSpPr>
        <p:spPr/>
        <p:txBody>
          <a:bodyPr/>
          <a:lstStyle/>
          <a:p>
            <a:r>
              <a:rPr lang="en-US" altLang="zh-TW" sz="4400" dirty="0"/>
              <a:t>Why we choose the maximum tardiness as the primary objective</a:t>
            </a:r>
            <a:r>
              <a:rPr lang="zh-TW" altLang="en-US" sz="4400" dirty="0"/>
              <a:t> </a:t>
            </a:r>
            <a:r>
              <a:rPr lang="en-US" altLang="zh-TW" sz="4400" dirty="0"/>
              <a:t>function?</a:t>
            </a:r>
            <a:endParaRPr lang="zh-TW" altLang="en-US" dirty="0"/>
          </a:p>
        </p:txBody>
      </p:sp>
      <p:sp>
        <p:nvSpPr>
          <p:cNvPr id="3" name="內容版面配置區 2">
            <a:extLst>
              <a:ext uri="{FF2B5EF4-FFF2-40B4-BE49-F238E27FC236}">
                <a16:creationId xmlns:a16="http://schemas.microsoft.com/office/drawing/2014/main" id="{167B6AA8-A3FC-408F-8D61-CF5B6A2D4699}"/>
              </a:ext>
            </a:extLst>
          </p:cNvPr>
          <p:cNvSpPr>
            <a:spLocks noGrp="1"/>
          </p:cNvSpPr>
          <p:nvPr>
            <p:ph idx="1"/>
          </p:nvPr>
        </p:nvSpPr>
        <p:spPr/>
        <p:txBody>
          <a:bodyPr/>
          <a:lstStyle/>
          <a:p>
            <a:endParaRPr lang="en-US" altLang="zh-TW" dirty="0"/>
          </a:p>
          <a:p>
            <a:r>
              <a:rPr lang="en-US" altLang="zh-TW" dirty="0"/>
              <a:t>From the perspective of preprocessing, it is based on a known maximum tardiness, which means if we have </a:t>
            </a:r>
            <a:r>
              <a:rPr lang="en-US" altLang="zh-TW" u="sng" dirty="0"/>
              <a:t>no idea of the value of D </a:t>
            </a:r>
            <a:r>
              <a:rPr lang="en-US" altLang="zh-TW" dirty="0"/>
              <a:t>before solving PD(E), </a:t>
            </a:r>
            <a:r>
              <a:rPr lang="en-US" altLang="zh-TW" u="sng" dirty="0"/>
              <a:t>preprocessing cannot be applied</a:t>
            </a:r>
            <a:r>
              <a:rPr lang="en-US" altLang="zh-TW" dirty="0"/>
              <a:t>. </a:t>
            </a:r>
          </a:p>
        </p:txBody>
      </p:sp>
    </p:spTree>
    <p:extLst>
      <p:ext uri="{BB962C8B-B14F-4D97-AF65-F5344CB8AC3E}">
        <p14:creationId xmlns:p14="http://schemas.microsoft.com/office/powerpoint/2010/main" val="3446264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74D342-B8B8-485C-BF37-AFF0A54E934E}"/>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13AF76CC-913E-4831-9584-0D1CB4A0D96E}"/>
              </a:ext>
            </a:extLst>
          </p:cNvPr>
          <p:cNvSpPr>
            <a:spLocks noGrp="1"/>
          </p:cNvSpPr>
          <p:nvPr>
            <p:ph idx="1"/>
          </p:nvPr>
        </p:nvSpPr>
        <p:spPr/>
        <p:txBody>
          <a:bodyPr>
            <a:normAutofit fontScale="92500" lnSpcReduction="10000"/>
          </a:bodyPr>
          <a:lstStyle/>
          <a:p>
            <a:r>
              <a:rPr lang="zh-TW" altLang="en-US" dirty="0"/>
              <a:t>在局部搜索方面，如果我們以</a:t>
            </a:r>
            <a:r>
              <a:rPr lang="en-US" altLang="zh-TW" dirty="0"/>
              <a:t>E</a:t>
            </a:r>
            <a:r>
              <a:rPr lang="zh-TW" altLang="en-US" dirty="0"/>
              <a:t>為首要目標，那麼在這種情況下，關鍵的一步就是提前某些作業的開始時間，使最大延遲減少</a:t>
            </a:r>
            <a:r>
              <a:rPr lang="en-US" altLang="zh-TW" dirty="0"/>
              <a:t>1</a:t>
            </a:r>
            <a:r>
              <a:rPr lang="zh-TW" altLang="en-US" dirty="0"/>
              <a:t>。</a:t>
            </a:r>
            <a:endParaRPr lang="en-US" altLang="zh-TW" dirty="0"/>
          </a:p>
          <a:p>
            <a:r>
              <a:rPr lang="zh-TW" altLang="en-US" dirty="0"/>
              <a:t>問題在於，在帕累托最優解中，可能存在多個具有最大延遲 </a:t>
            </a:r>
            <a:r>
              <a:rPr lang="en-US" altLang="zh-TW" dirty="0"/>
              <a:t>D0 </a:t>
            </a:r>
            <a:r>
              <a:rPr lang="zh-TW" altLang="en-US" dirty="0"/>
              <a:t>的作業。在這種情況下，我們必須將所有這些作業的最大延遲減少一個時間單位，同時總能耗只允許增加 </a:t>
            </a:r>
            <a:r>
              <a:rPr lang="en-US" altLang="zh-TW" dirty="0" err="1"/>
              <a:t>Pv</a:t>
            </a:r>
            <a:r>
              <a:rPr lang="zh-TW" altLang="en-US" dirty="0"/>
              <a:t>。這可能很難實現。從預處理的角度來看，如前所述，它基於已知的最大延遲，這意味著如果我們在求解 </a:t>
            </a:r>
            <a:r>
              <a:rPr lang="en-US" altLang="zh-TW" dirty="0"/>
              <a:t>PD(E) </a:t>
            </a:r>
            <a:r>
              <a:rPr lang="zh-TW" altLang="en-US" dirty="0"/>
              <a:t>之前不知道 </a:t>
            </a:r>
            <a:r>
              <a:rPr lang="en-US" altLang="zh-TW" dirty="0"/>
              <a:t>D </a:t>
            </a:r>
            <a:r>
              <a:rPr lang="zh-TW" altLang="en-US" dirty="0"/>
              <a:t>的值，則無法應用預處理。</a:t>
            </a:r>
            <a:endParaRPr lang="en-US" altLang="zh-TW" dirty="0"/>
          </a:p>
          <a:p>
            <a:r>
              <a:rPr lang="zh-TW" altLang="en-US" dirty="0"/>
              <a:t>就</a:t>
            </a:r>
            <a:r>
              <a:rPr lang="en-US" altLang="zh-TW" dirty="0"/>
              <a:t>ε-</a:t>
            </a:r>
            <a:r>
              <a:rPr lang="zh-TW" altLang="en-US" dirty="0"/>
              <a:t>約束法而言，第一步是計算次要目標的有效區間。如果我們將 </a:t>
            </a:r>
            <a:r>
              <a:rPr lang="en-US" altLang="zh-TW" dirty="0"/>
              <a:t>E </a:t>
            </a:r>
            <a:r>
              <a:rPr lang="zh-TW" altLang="en-US" dirty="0"/>
              <a:t>作為主要目標，那麼我們必須計算 </a:t>
            </a:r>
            <a:r>
              <a:rPr lang="en-US" altLang="zh-TW" dirty="0"/>
              <a:t>D </a:t>
            </a:r>
            <a:r>
              <a:rPr lang="zh-TW" altLang="en-US" dirty="0"/>
              <a:t>的有效區間（即 </a:t>
            </a:r>
            <a:r>
              <a:rPr lang="en-US" altLang="zh-TW" dirty="0"/>
              <a:t>[</a:t>
            </a:r>
            <a:r>
              <a:rPr lang="en-US" altLang="zh-TW" dirty="0" err="1"/>
              <a:t>Dmin,D</a:t>
            </a:r>
            <a:r>
              <a:rPr lang="en-US" altLang="zh-TW" dirty="0"/>
              <a:t>'(</a:t>
            </a:r>
            <a:r>
              <a:rPr lang="en-US" altLang="zh-TW" dirty="0" err="1"/>
              <a:t>Emin</a:t>
            </a:r>
            <a:r>
              <a:rPr lang="en-US" altLang="zh-TW" dirty="0"/>
              <a:t>)]</a:t>
            </a:r>
            <a:r>
              <a:rPr lang="zh-TW" altLang="en-US" dirty="0"/>
              <a:t>），其中不能應用預處理。但是，如果我們以</a:t>
            </a:r>
            <a:r>
              <a:rPr lang="en-US" altLang="zh-TW" dirty="0"/>
              <a:t>D</a:t>
            </a:r>
            <a:r>
              <a:rPr lang="zh-TW" altLang="en-US" dirty="0"/>
              <a:t>為主要目標，我們可以利用預處理來計算</a:t>
            </a:r>
            <a:r>
              <a:rPr lang="en-US" altLang="zh-TW" dirty="0"/>
              <a:t>E</a:t>
            </a:r>
            <a:r>
              <a:rPr lang="zh-TW" altLang="en-US" dirty="0"/>
              <a:t>的有效區間，這可能會在一定程度上加速算法。</a:t>
            </a:r>
          </a:p>
        </p:txBody>
      </p:sp>
    </p:spTree>
    <p:extLst>
      <p:ext uri="{BB962C8B-B14F-4D97-AF65-F5344CB8AC3E}">
        <p14:creationId xmlns:p14="http://schemas.microsoft.com/office/powerpoint/2010/main" val="647816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2E99E3-149C-46BE-835C-8824775B54DC}"/>
              </a:ext>
            </a:extLst>
          </p:cNvPr>
          <p:cNvSpPr>
            <a:spLocks noGrp="1"/>
          </p:cNvSpPr>
          <p:nvPr>
            <p:ph type="title"/>
          </p:nvPr>
        </p:nvSpPr>
        <p:spPr>
          <a:xfrm>
            <a:off x="427382" y="-168759"/>
            <a:ext cx="11854070" cy="1699591"/>
          </a:xfrm>
        </p:spPr>
        <p:txBody>
          <a:bodyPr>
            <a:normAutofit/>
          </a:bodyPr>
          <a:lstStyle/>
          <a:p>
            <a:r>
              <a:rPr lang="en-US" altLang="zh-TW" sz="4000" dirty="0"/>
              <a:t>Clustering of jobs to obtain approximate Pareto front</a:t>
            </a:r>
            <a:endParaRPr lang="zh-TW" altLang="en-US" sz="4000"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A3874345-41ED-42CD-B586-CA70520A27C9}"/>
                  </a:ext>
                </a:extLst>
              </p:cNvPr>
              <p:cNvSpPr>
                <a:spLocks noGrp="1"/>
              </p:cNvSpPr>
              <p:nvPr>
                <p:ph idx="1"/>
              </p:nvPr>
            </p:nvSpPr>
            <p:spPr>
              <a:xfrm>
                <a:off x="520147" y="1530831"/>
                <a:ext cx="11496261" cy="5197959"/>
              </a:xfrm>
            </p:spPr>
            <p:txBody>
              <a:bodyPr>
                <a:normAutofit/>
              </a:bodyPr>
              <a:lstStyle/>
              <a:p>
                <a:r>
                  <a:rPr lang="en-US" altLang="zh-TW" sz="2600" dirty="0"/>
                  <a:t>Assignments with smaller release time and due date values tend to be processed earlier.</a:t>
                </a:r>
              </a:p>
              <a:p>
                <a:r>
                  <a:rPr lang="en-US" altLang="zh-TW" sz="2600" dirty="0"/>
                  <a:t>We use cluster analysis to divide the job into several sorted clusters according to the release time and deadline.</a:t>
                </a:r>
              </a:p>
              <a:p>
                <a:pPr marL="0" indent="0" algn="l">
                  <a:buNone/>
                </a:pPr>
                <a:endParaRPr lang="en-US" altLang="zh-TW" b="1" i="0" dirty="0">
                  <a:solidFill>
                    <a:schemeClr val="tx1"/>
                  </a:solidFill>
                  <a:effectLst/>
                </a:endParaRPr>
              </a:p>
              <a:p>
                <a:pPr marL="0" indent="0" algn="l">
                  <a:buNone/>
                </a:pPr>
                <a:r>
                  <a:rPr lang="en-US" altLang="zh-TW" sz="2400" b="1" i="0" dirty="0">
                    <a:solidFill>
                      <a:schemeClr val="tx1"/>
                    </a:solidFill>
                    <a:effectLst/>
                  </a:rPr>
                  <a:t>Definition 7</a:t>
                </a:r>
                <a:endParaRPr lang="en-US" altLang="zh-TW" sz="2400" b="0" i="0" dirty="0">
                  <a:solidFill>
                    <a:schemeClr val="tx1"/>
                  </a:solidFill>
                  <a:effectLst/>
                </a:endParaRPr>
              </a:p>
              <a:p>
                <a:r>
                  <a:rPr lang="en-US" altLang="zh-TW" sz="2400" b="0" i="0" dirty="0">
                    <a:solidFill>
                      <a:schemeClr val="tx1"/>
                    </a:solidFill>
                    <a:effectLst/>
                  </a:rPr>
                  <a:t>The distance of job </a:t>
                </a:r>
                <a:r>
                  <a:rPr lang="en-US" altLang="zh-TW" sz="2400" b="0" i="1" dirty="0" err="1">
                    <a:solidFill>
                      <a:schemeClr val="tx1"/>
                    </a:solidFill>
                    <a:effectLst/>
                  </a:rPr>
                  <a:t>i</a:t>
                </a:r>
                <a:r>
                  <a:rPr lang="en-US" altLang="zh-TW" sz="2400" b="0" i="0" dirty="0">
                    <a:solidFill>
                      <a:schemeClr val="tx1"/>
                    </a:solidFill>
                    <a:effectLst/>
                  </a:rPr>
                  <a:t> and </a:t>
                </a:r>
                <a:r>
                  <a:rPr lang="en-US" altLang="zh-TW" sz="2400" b="0" i="1" dirty="0">
                    <a:solidFill>
                      <a:schemeClr val="tx1"/>
                    </a:solidFill>
                    <a:effectLst/>
                  </a:rPr>
                  <a:t>j</a:t>
                </a:r>
                <a:r>
                  <a:rPr lang="en-US" altLang="zh-TW" sz="2400" b="0" i="0" dirty="0">
                    <a:solidFill>
                      <a:schemeClr val="tx1"/>
                    </a:solidFill>
                    <a:effectLst/>
                  </a:rPr>
                  <a:t>, </a:t>
                </a:r>
                <a14:m>
                  <m:oMath xmlns:m="http://schemas.openxmlformats.org/officeDocument/2006/math">
                    <m:sSub>
                      <m:sSubPr>
                        <m:ctrlPr>
                          <a:rPr lang="en-US" altLang="zh-TW" sz="2400" b="0" i="1" smtClean="0">
                            <a:solidFill>
                              <a:schemeClr val="tx1"/>
                            </a:solidFill>
                            <a:effectLst/>
                            <a:latin typeface="Cambria Math" panose="02040503050406030204" pitchFamily="18" charset="0"/>
                          </a:rPr>
                        </m:ctrlPr>
                      </m:sSubPr>
                      <m:e>
                        <m:r>
                          <m:rPr>
                            <m:sty m:val="p"/>
                          </m:rPr>
                          <a:rPr lang="en-US" altLang="zh-TW" sz="2400" i="1">
                            <a:solidFill>
                              <a:schemeClr val="tx1"/>
                            </a:solidFill>
                            <a:latin typeface="Cambria Math" panose="02040503050406030204" pitchFamily="18" charset="0"/>
                          </a:rPr>
                          <m:t>L</m:t>
                        </m:r>
                      </m:e>
                      <m:sub>
                        <m:r>
                          <a:rPr lang="en-US" altLang="zh-TW" sz="2400" b="0" i="1" smtClean="0">
                            <a:solidFill>
                              <a:schemeClr val="tx1"/>
                            </a:solidFill>
                            <a:effectLst/>
                            <a:latin typeface="Cambria Math" panose="02040503050406030204" pitchFamily="18" charset="0"/>
                          </a:rPr>
                          <m:t>𝑖</m:t>
                        </m:r>
                        <m:r>
                          <a:rPr lang="en-US" altLang="zh-TW" sz="2400" b="0" i="1" smtClean="0">
                            <a:solidFill>
                              <a:schemeClr val="tx1"/>
                            </a:solidFill>
                            <a:effectLst/>
                            <a:latin typeface="Cambria Math" panose="02040503050406030204" pitchFamily="18" charset="0"/>
                          </a:rPr>
                          <m:t>,</m:t>
                        </m:r>
                        <m:r>
                          <a:rPr lang="en-US" altLang="zh-TW" sz="2400" b="0" i="1" smtClean="0">
                            <a:solidFill>
                              <a:schemeClr val="tx1"/>
                            </a:solidFill>
                            <a:effectLst/>
                            <a:latin typeface="Cambria Math" panose="02040503050406030204" pitchFamily="18" charset="0"/>
                          </a:rPr>
                          <m:t>𝑗</m:t>
                        </m:r>
                      </m:sub>
                    </m:sSub>
                    <m:r>
                      <a:rPr lang="zh-TW" altLang="en-US" sz="2400" i="1">
                        <a:solidFill>
                          <a:schemeClr val="tx1"/>
                        </a:solidFill>
                        <a:latin typeface="Cambria Math" panose="02040503050406030204" pitchFamily="18" charset="0"/>
                      </a:rPr>
                      <m:t> </m:t>
                    </m:r>
                  </m:oMath>
                </a14:m>
                <a:r>
                  <a:rPr lang="en-US" altLang="zh-TW" sz="2400" dirty="0">
                    <a:solidFill>
                      <a:schemeClr val="tx1"/>
                    </a:solidFill>
                  </a:rPr>
                  <a:t>=</a:t>
                </a:r>
                <a14:m>
                  <m:oMath xmlns:m="http://schemas.openxmlformats.org/officeDocument/2006/math">
                    <m:rad>
                      <m:radPr>
                        <m:degHide m:val="on"/>
                        <m:ctrlPr>
                          <a:rPr lang="en-US" altLang="zh-TW" sz="2400" i="1" dirty="0" smtClean="0">
                            <a:solidFill>
                              <a:schemeClr val="tx1"/>
                            </a:solidFill>
                            <a:latin typeface="Cambria Math" panose="02040503050406030204" pitchFamily="18" charset="0"/>
                          </a:rPr>
                        </m:ctrlPr>
                      </m:radPr>
                      <m:deg/>
                      <m:e>
                        <m:sSup>
                          <m:sSupPr>
                            <m:ctrlPr>
                              <a:rPr lang="en-US" altLang="zh-TW" sz="2400" i="1" dirty="0" smtClean="0">
                                <a:solidFill>
                                  <a:schemeClr val="tx1"/>
                                </a:solidFill>
                                <a:latin typeface="Cambria Math" panose="02040503050406030204" pitchFamily="18" charset="0"/>
                              </a:rPr>
                            </m:ctrlPr>
                          </m:sSupPr>
                          <m:e>
                            <m:r>
                              <a:rPr lang="en-US" altLang="zh-TW" sz="2400" i="1" dirty="0">
                                <a:solidFill>
                                  <a:schemeClr val="tx1"/>
                                </a:solidFill>
                                <a:latin typeface="Cambria Math" panose="02040503050406030204" pitchFamily="18" charset="0"/>
                              </a:rPr>
                              <m:t>(</m:t>
                            </m:r>
                            <m:sSubSup>
                              <m:sSubSupPr>
                                <m:ctrlPr>
                                  <a:rPr lang="en-US" altLang="zh-TW" sz="2400" i="1" dirty="0" smtClean="0">
                                    <a:solidFill>
                                      <a:schemeClr val="tx1"/>
                                    </a:solidFill>
                                    <a:latin typeface="Cambria Math" panose="02040503050406030204" pitchFamily="18" charset="0"/>
                                  </a:rPr>
                                </m:ctrlPr>
                              </m:sSubSupPr>
                              <m:e>
                                <m:r>
                                  <a:rPr lang="en-US" altLang="zh-TW" sz="2400" b="0" i="1" dirty="0" smtClean="0">
                                    <a:solidFill>
                                      <a:schemeClr val="tx1"/>
                                    </a:solidFill>
                                    <a:latin typeface="Cambria Math" panose="02040503050406030204" pitchFamily="18" charset="0"/>
                                  </a:rPr>
                                  <m:t>𝑟</m:t>
                                </m:r>
                              </m:e>
                              <m:sub>
                                <m:r>
                                  <a:rPr lang="en-US" altLang="zh-TW" sz="2400" b="0" i="1" dirty="0" smtClean="0">
                                    <a:solidFill>
                                      <a:schemeClr val="tx1"/>
                                    </a:solidFill>
                                    <a:latin typeface="Cambria Math" panose="02040503050406030204" pitchFamily="18" charset="0"/>
                                  </a:rPr>
                                  <m:t>𝑖</m:t>
                                </m:r>
                              </m:sub>
                              <m:sup/>
                            </m:sSubSup>
                            <m:r>
                              <a:rPr lang="en-US" altLang="zh-TW" sz="2400" b="0" i="1" dirty="0" smtClean="0">
                                <a:solidFill>
                                  <a:schemeClr val="tx1"/>
                                </a:solidFill>
                                <a:latin typeface="Cambria Math" panose="02040503050406030204" pitchFamily="18" charset="0"/>
                              </a:rPr>
                              <m:t>−</m:t>
                            </m:r>
                            <m:sSubSup>
                              <m:sSubSupPr>
                                <m:ctrlPr>
                                  <a:rPr lang="en-US" altLang="zh-TW" sz="2400" i="1" dirty="0">
                                    <a:solidFill>
                                      <a:schemeClr val="tx1"/>
                                    </a:solidFill>
                                    <a:latin typeface="Cambria Math" panose="02040503050406030204" pitchFamily="18" charset="0"/>
                                  </a:rPr>
                                </m:ctrlPr>
                              </m:sSubSupPr>
                              <m:e>
                                <m:r>
                                  <a:rPr lang="en-US" altLang="zh-TW" sz="2400" i="1" dirty="0">
                                    <a:solidFill>
                                      <a:schemeClr val="tx1"/>
                                    </a:solidFill>
                                    <a:latin typeface="Cambria Math" panose="02040503050406030204" pitchFamily="18" charset="0"/>
                                  </a:rPr>
                                  <m:t>𝑟</m:t>
                                </m:r>
                              </m:e>
                              <m:sub>
                                <m:r>
                                  <a:rPr lang="en-US" altLang="zh-TW" sz="2400" b="0" i="1" dirty="0" smtClean="0">
                                    <a:solidFill>
                                      <a:schemeClr val="tx1"/>
                                    </a:solidFill>
                                    <a:latin typeface="Cambria Math" panose="02040503050406030204" pitchFamily="18" charset="0"/>
                                  </a:rPr>
                                  <m:t>𝑗</m:t>
                                </m:r>
                              </m:sub>
                              <m:sup/>
                            </m:sSubSup>
                            <m:r>
                              <a:rPr lang="en-US" altLang="zh-TW" sz="2400" i="1" dirty="0" smtClean="0">
                                <a:solidFill>
                                  <a:schemeClr val="tx1"/>
                                </a:solidFill>
                                <a:latin typeface="Cambria Math" panose="02040503050406030204" pitchFamily="18" charset="0"/>
                              </a:rPr>
                              <m:t>)</m:t>
                            </m:r>
                          </m:e>
                          <m:sup>
                            <m:r>
                              <a:rPr lang="en-US" altLang="zh-TW" sz="2400" i="1" dirty="0" smtClean="0">
                                <a:solidFill>
                                  <a:schemeClr val="tx1"/>
                                </a:solidFill>
                                <a:latin typeface="Cambria Math" panose="02040503050406030204" pitchFamily="18" charset="0"/>
                              </a:rPr>
                              <m:t>2</m:t>
                            </m:r>
                          </m:sup>
                        </m:sSup>
                        <m:r>
                          <a:rPr lang="en-US" altLang="zh-TW" sz="2400" i="1" dirty="0" smtClean="0">
                            <a:solidFill>
                              <a:schemeClr val="tx1"/>
                            </a:solidFill>
                            <a:latin typeface="Cambria Math" panose="02040503050406030204" pitchFamily="18" charset="0"/>
                          </a:rPr>
                          <m:t>+</m:t>
                        </m:r>
                        <m:sSup>
                          <m:sSupPr>
                            <m:ctrlPr>
                              <a:rPr lang="en-US" altLang="zh-TW" sz="2400" i="1" dirty="0" smtClean="0">
                                <a:solidFill>
                                  <a:schemeClr val="tx1"/>
                                </a:solidFill>
                                <a:latin typeface="Cambria Math" panose="02040503050406030204" pitchFamily="18" charset="0"/>
                              </a:rPr>
                            </m:ctrlPr>
                          </m:sSupPr>
                          <m:e>
                            <m:r>
                              <a:rPr lang="en-US" altLang="zh-TW" sz="2400" i="1" dirty="0">
                                <a:solidFill>
                                  <a:schemeClr val="tx1"/>
                                </a:solidFill>
                                <a:latin typeface="Cambria Math" panose="02040503050406030204" pitchFamily="18" charset="0"/>
                              </a:rPr>
                              <m:t>(</m:t>
                            </m:r>
                            <m:sSubSup>
                              <m:sSubSupPr>
                                <m:ctrlPr>
                                  <a:rPr lang="en-US" altLang="zh-TW" sz="2400" i="1" dirty="0">
                                    <a:solidFill>
                                      <a:schemeClr val="tx1"/>
                                    </a:solidFill>
                                    <a:latin typeface="Cambria Math" panose="02040503050406030204" pitchFamily="18" charset="0"/>
                                  </a:rPr>
                                </m:ctrlPr>
                              </m:sSubSupPr>
                              <m:e>
                                <m:r>
                                  <a:rPr lang="en-US" altLang="zh-TW" sz="2400" b="0" i="1" dirty="0" smtClean="0">
                                    <a:solidFill>
                                      <a:schemeClr val="tx1"/>
                                    </a:solidFill>
                                    <a:latin typeface="Cambria Math" panose="02040503050406030204" pitchFamily="18" charset="0"/>
                                  </a:rPr>
                                  <m:t>𝑑</m:t>
                                </m:r>
                              </m:e>
                              <m:sub>
                                <m:r>
                                  <a:rPr lang="en-US" altLang="zh-TW" sz="2400" i="1" dirty="0">
                                    <a:solidFill>
                                      <a:schemeClr val="tx1"/>
                                    </a:solidFill>
                                    <a:latin typeface="Cambria Math" panose="02040503050406030204" pitchFamily="18" charset="0"/>
                                  </a:rPr>
                                  <m:t>𝑖</m:t>
                                </m:r>
                              </m:sub>
                              <m:sup/>
                            </m:sSubSup>
                            <m:r>
                              <a:rPr lang="en-US" altLang="zh-TW" sz="2400" i="1" dirty="0">
                                <a:solidFill>
                                  <a:schemeClr val="tx1"/>
                                </a:solidFill>
                                <a:latin typeface="Cambria Math" panose="02040503050406030204" pitchFamily="18" charset="0"/>
                              </a:rPr>
                              <m:t>−</m:t>
                            </m:r>
                            <m:sSubSup>
                              <m:sSubSupPr>
                                <m:ctrlPr>
                                  <a:rPr lang="en-US" altLang="zh-TW" sz="2400" i="1" dirty="0">
                                    <a:solidFill>
                                      <a:schemeClr val="tx1"/>
                                    </a:solidFill>
                                    <a:latin typeface="Cambria Math" panose="02040503050406030204" pitchFamily="18" charset="0"/>
                                  </a:rPr>
                                </m:ctrlPr>
                              </m:sSubSupPr>
                              <m:e>
                                <m:r>
                                  <a:rPr lang="en-US" altLang="zh-TW" sz="2400" b="0" i="1" dirty="0" smtClean="0">
                                    <a:solidFill>
                                      <a:schemeClr val="tx1"/>
                                    </a:solidFill>
                                    <a:latin typeface="Cambria Math" panose="02040503050406030204" pitchFamily="18" charset="0"/>
                                  </a:rPr>
                                  <m:t>𝑑</m:t>
                                </m:r>
                              </m:e>
                              <m:sub>
                                <m:r>
                                  <a:rPr lang="en-US" altLang="zh-TW" sz="2400" i="1" dirty="0">
                                    <a:solidFill>
                                      <a:schemeClr val="tx1"/>
                                    </a:solidFill>
                                    <a:latin typeface="Cambria Math" panose="02040503050406030204" pitchFamily="18" charset="0"/>
                                  </a:rPr>
                                  <m:t>𝑗</m:t>
                                </m:r>
                              </m:sub>
                              <m:sup/>
                            </m:sSubSup>
                            <m:r>
                              <a:rPr lang="en-US" altLang="zh-TW" sz="2400" i="1" dirty="0">
                                <a:solidFill>
                                  <a:schemeClr val="tx1"/>
                                </a:solidFill>
                                <a:latin typeface="Cambria Math" panose="02040503050406030204" pitchFamily="18" charset="0"/>
                              </a:rPr>
                              <m:t>)</m:t>
                            </m:r>
                          </m:e>
                          <m:sup>
                            <m:r>
                              <a:rPr lang="en-US" altLang="zh-TW" sz="2400" i="1" dirty="0" smtClean="0">
                                <a:solidFill>
                                  <a:schemeClr val="tx1"/>
                                </a:solidFill>
                                <a:latin typeface="Cambria Math" panose="02040503050406030204" pitchFamily="18" charset="0"/>
                              </a:rPr>
                              <m:t>2</m:t>
                            </m:r>
                          </m:sup>
                        </m:sSup>
                      </m:e>
                    </m:rad>
                  </m:oMath>
                </a14:m>
                <a:r>
                  <a:rPr lang="zh-TW" altLang="en-US" sz="2400" dirty="0">
                    <a:solidFill>
                      <a:schemeClr val="tx1"/>
                    </a:solidFill>
                  </a:rPr>
                  <a:t> </a:t>
                </a:r>
                <a:r>
                  <a:rPr lang="en-US" altLang="zh-TW" sz="2400" dirty="0">
                    <a:solidFill>
                      <a:schemeClr val="tx1"/>
                    </a:solidFill>
                  </a:rPr>
                  <a:t>.</a:t>
                </a:r>
              </a:p>
              <a:p>
                <a:pPr marL="0" indent="0">
                  <a:buNone/>
                </a:pPr>
                <a:r>
                  <a:rPr lang="en-US" altLang="zh-TW" sz="2400" b="1" i="0" dirty="0">
                    <a:solidFill>
                      <a:schemeClr val="tx1"/>
                    </a:solidFill>
                    <a:effectLst/>
                  </a:rPr>
                  <a:t>Definition 8</a:t>
                </a:r>
              </a:p>
              <a:p>
                <a:pPr marL="0" indent="0">
                  <a:buNone/>
                </a:pPr>
                <a:r>
                  <a:rPr lang="en-US" altLang="zh-TW" sz="2400" b="0" i="0" dirty="0">
                    <a:solidFill>
                      <a:schemeClr val="tx1"/>
                    </a:solidFill>
                    <a:effectLst/>
                  </a:rPr>
                  <a:t>Let </a:t>
                </a:r>
                <a14:m>
                  <m:oMath xmlns:m="http://schemas.openxmlformats.org/officeDocument/2006/math">
                    <m:sSub>
                      <m:sSubPr>
                        <m:ctrlPr>
                          <a:rPr lang="en-US" altLang="zh-TW" sz="2400" b="0" i="1" smtClean="0">
                            <a:solidFill>
                              <a:schemeClr val="tx1"/>
                            </a:solidFill>
                            <a:effectLst/>
                            <a:latin typeface="Cambria Math" panose="02040503050406030204" pitchFamily="18" charset="0"/>
                          </a:rPr>
                        </m:ctrlPr>
                      </m:sSubPr>
                      <m:e>
                        <m:r>
                          <a:rPr lang="zh-TW" altLang="en-US" sz="2400" b="0" i="1" smtClean="0">
                            <a:solidFill>
                              <a:schemeClr val="tx1"/>
                            </a:solidFill>
                            <a:effectLst/>
                            <a:latin typeface="Cambria Math" panose="02040503050406030204" pitchFamily="18" charset="0"/>
                          </a:rPr>
                          <m:t>𝜃</m:t>
                        </m:r>
                      </m:e>
                      <m:sub>
                        <m:r>
                          <a:rPr lang="en-US" altLang="zh-TW" sz="2400" b="0" i="1" smtClean="0">
                            <a:solidFill>
                              <a:schemeClr val="tx1"/>
                            </a:solidFill>
                            <a:effectLst/>
                            <a:latin typeface="Cambria Math" panose="02040503050406030204" pitchFamily="18" charset="0"/>
                          </a:rPr>
                          <m:t>𝑎</m:t>
                        </m:r>
                      </m:sub>
                    </m:sSub>
                    <m:r>
                      <a:rPr lang="en-US" altLang="zh-TW" sz="2400" b="0" i="1" smtClean="0">
                        <a:solidFill>
                          <a:schemeClr val="tx1"/>
                        </a:solidFill>
                        <a:effectLst/>
                        <a:latin typeface="Cambria Math" panose="02040503050406030204" pitchFamily="18" charset="0"/>
                      </a:rPr>
                      <m:t> </m:t>
                    </m:r>
                  </m:oMath>
                </a14:m>
                <a:r>
                  <a:rPr lang="en-US" altLang="zh-TW" sz="2400" b="0" i="0" dirty="0">
                    <a:solidFill>
                      <a:schemeClr val="tx1"/>
                    </a:solidFill>
                    <a:effectLst/>
                  </a:rPr>
                  <a:t>, 1 ≤ </a:t>
                </a:r>
                <a:r>
                  <a:rPr lang="en-US" altLang="zh-TW" sz="2400" b="0" i="1" dirty="0">
                    <a:solidFill>
                      <a:schemeClr val="tx1"/>
                    </a:solidFill>
                    <a:effectLst/>
                  </a:rPr>
                  <a:t>a</a:t>
                </a:r>
                <a:r>
                  <a:rPr lang="en-US" altLang="zh-TW" sz="2400" b="0" i="0" dirty="0">
                    <a:solidFill>
                      <a:schemeClr val="tx1"/>
                    </a:solidFill>
                    <a:effectLst/>
                  </a:rPr>
                  <a:t> ≤ </a:t>
                </a:r>
                <a:r>
                  <a:rPr lang="en-US" altLang="zh-TW" sz="2400" b="0" i="1" dirty="0">
                    <a:solidFill>
                      <a:schemeClr val="tx1"/>
                    </a:solidFill>
                    <a:effectLst/>
                  </a:rPr>
                  <a:t>m</a:t>
                </a:r>
                <a:r>
                  <a:rPr lang="en-US" altLang="zh-TW" sz="2400" b="0" i="0" dirty="0">
                    <a:solidFill>
                      <a:schemeClr val="tx1"/>
                    </a:solidFill>
                    <a:effectLst/>
                  </a:rPr>
                  <a:t>, represents the set of indices of jobs assigned to cluster </a:t>
                </a:r>
                <a:r>
                  <a:rPr lang="en-US" altLang="zh-TW" sz="2400" b="0" i="1" dirty="0">
                    <a:solidFill>
                      <a:schemeClr val="tx1"/>
                    </a:solidFill>
                    <a:effectLst/>
                  </a:rPr>
                  <a:t>a</a:t>
                </a:r>
                <a:r>
                  <a:rPr lang="en-US" altLang="zh-TW" sz="2400" b="0" i="0" dirty="0">
                    <a:solidFill>
                      <a:schemeClr val="tx1"/>
                    </a:solidFill>
                    <a:effectLst/>
                  </a:rPr>
                  <a:t>. </a:t>
                </a:r>
                <a:endParaRPr lang="en-US" altLang="zh-TW" sz="2400" dirty="0">
                  <a:solidFill>
                    <a:schemeClr val="tx1"/>
                  </a:solidFill>
                </a:endParaRPr>
              </a:p>
              <a:p>
                <a:r>
                  <a:rPr lang="en-US" altLang="zh-TW" sz="2400" b="0" i="0" dirty="0">
                    <a:solidFill>
                      <a:schemeClr val="tx1"/>
                    </a:solidFill>
                    <a:effectLst/>
                  </a:rPr>
                  <a:t>The distance of clusters </a:t>
                </a:r>
                <a:r>
                  <a:rPr lang="en-US" altLang="zh-TW" sz="2400" b="0" i="1" dirty="0">
                    <a:solidFill>
                      <a:schemeClr val="tx1"/>
                    </a:solidFill>
                    <a:effectLst/>
                  </a:rPr>
                  <a:t>a</a:t>
                </a:r>
                <a:r>
                  <a:rPr lang="en-US" altLang="zh-TW" sz="2400" b="0" i="0" dirty="0">
                    <a:solidFill>
                      <a:schemeClr val="tx1"/>
                    </a:solidFill>
                    <a:effectLst/>
                  </a:rPr>
                  <a:t> and </a:t>
                </a:r>
                <a:r>
                  <a:rPr lang="en-US" altLang="zh-TW" sz="2400" b="0" i="1" dirty="0">
                    <a:solidFill>
                      <a:schemeClr val="tx1"/>
                    </a:solidFill>
                    <a:effectLst/>
                  </a:rPr>
                  <a:t>b</a:t>
                </a:r>
                <a:r>
                  <a:rPr lang="en-US" altLang="zh-TW" sz="2400" b="0" i="0" dirty="0">
                    <a:solidFill>
                      <a:schemeClr val="tx1"/>
                    </a:solidFill>
                    <a:effectLst/>
                  </a:rPr>
                  <a:t>, </a:t>
                </a:r>
                <a:r>
                  <a:rPr lang="en-US" altLang="zh-TW" sz="2400" b="0" dirty="0">
                    <a:solidFill>
                      <a:schemeClr val="tx1"/>
                    </a:solidFill>
                    <a:effectLst/>
                  </a:rPr>
                  <a:t> </a:t>
                </a:r>
                <a14:m>
                  <m:oMath xmlns:m="http://schemas.openxmlformats.org/officeDocument/2006/math">
                    <m:sSub>
                      <m:sSubPr>
                        <m:ctrlPr>
                          <a:rPr lang="en-US" altLang="zh-TW" sz="2400" b="0" i="1" smtClean="0">
                            <a:solidFill>
                              <a:schemeClr val="tx1"/>
                            </a:solidFill>
                            <a:effectLst/>
                            <a:latin typeface="Cambria Math" panose="02040503050406030204" pitchFamily="18" charset="0"/>
                          </a:rPr>
                        </m:ctrlPr>
                      </m:sSubPr>
                      <m:e>
                        <m:r>
                          <m:rPr>
                            <m:sty m:val="p"/>
                          </m:rPr>
                          <a:rPr lang="en-US" altLang="zh-TW" sz="2400" i="1">
                            <a:solidFill>
                              <a:schemeClr val="tx1"/>
                            </a:solidFill>
                            <a:latin typeface="Cambria Math" panose="02040503050406030204" pitchFamily="18" charset="0"/>
                          </a:rPr>
                          <m:t>L</m:t>
                        </m:r>
                      </m:e>
                      <m:sub>
                        <m:r>
                          <a:rPr lang="en-US" altLang="zh-TW" sz="2400" b="0" i="1" smtClean="0">
                            <a:solidFill>
                              <a:schemeClr val="tx1"/>
                            </a:solidFill>
                            <a:latin typeface="Cambria Math" panose="02040503050406030204" pitchFamily="18" charset="0"/>
                          </a:rPr>
                          <m:t>𝑎</m:t>
                        </m:r>
                        <m:r>
                          <a:rPr lang="en-US" altLang="zh-TW" sz="2400" b="0" i="1" smtClean="0">
                            <a:solidFill>
                              <a:schemeClr val="tx1"/>
                            </a:solidFill>
                            <a:latin typeface="Cambria Math" panose="02040503050406030204" pitchFamily="18" charset="0"/>
                          </a:rPr>
                          <m:t>,</m:t>
                        </m:r>
                        <m:r>
                          <a:rPr lang="en-US" altLang="zh-TW" sz="2400" b="0" i="1" smtClean="0">
                            <a:solidFill>
                              <a:schemeClr val="tx1"/>
                            </a:solidFill>
                            <a:latin typeface="Cambria Math" panose="02040503050406030204" pitchFamily="18" charset="0"/>
                          </a:rPr>
                          <m:t>𝑏</m:t>
                        </m:r>
                      </m:sub>
                    </m:sSub>
                    <m:r>
                      <a:rPr lang="en-US" altLang="zh-TW" sz="2400" b="0" i="1" smtClean="0">
                        <a:solidFill>
                          <a:schemeClr val="tx1"/>
                        </a:solidFill>
                        <a:effectLst/>
                        <a:latin typeface="Cambria Math" panose="02040503050406030204" pitchFamily="18" charset="0"/>
                      </a:rPr>
                      <m:t> </m:t>
                    </m:r>
                  </m:oMath>
                </a14:m>
                <a:r>
                  <a:rPr lang="en-US" altLang="zh-TW" sz="2400" b="0" i="0" dirty="0">
                    <a:solidFill>
                      <a:schemeClr val="tx1"/>
                    </a:solidFill>
                    <a:effectLst/>
                  </a:rPr>
                  <a:t>=</a:t>
                </a:r>
                <a14:m>
                  <m:oMath xmlns:m="http://schemas.openxmlformats.org/officeDocument/2006/math">
                    <m:sSub>
                      <m:sSubPr>
                        <m:ctrlPr>
                          <a:rPr lang="en-US" altLang="zh-TW" sz="2400" b="0" i="1" smtClean="0">
                            <a:solidFill>
                              <a:schemeClr val="tx1"/>
                            </a:solidFill>
                            <a:effectLst/>
                            <a:latin typeface="Cambria Math" panose="02040503050406030204" pitchFamily="18" charset="0"/>
                          </a:rPr>
                        </m:ctrlPr>
                      </m:sSubPr>
                      <m:e>
                        <m:r>
                          <a:rPr lang="en-US" altLang="zh-TW" sz="2400" b="0" i="1" smtClean="0">
                            <a:solidFill>
                              <a:schemeClr val="tx1"/>
                            </a:solidFill>
                            <a:effectLst/>
                            <a:latin typeface="Cambria Math" panose="02040503050406030204" pitchFamily="18" charset="0"/>
                          </a:rPr>
                          <m:t>𝑚𝑖𝑛</m:t>
                        </m:r>
                      </m:e>
                      <m:sub>
                        <m:r>
                          <a:rPr lang="en-US" altLang="zh-TW" sz="2400" b="0" i="1" smtClean="0">
                            <a:solidFill>
                              <a:schemeClr val="tx1"/>
                            </a:solidFill>
                            <a:effectLst/>
                            <a:latin typeface="Cambria Math" panose="02040503050406030204" pitchFamily="18" charset="0"/>
                          </a:rPr>
                          <m:t>𝑖</m:t>
                        </m:r>
                        <m:r>
                          <a:rPr lang="zh-TW" altLang="en-US" sz="2400" b="0" i="1" smtClean="0">
                            <a:solidFill>
                              <a:schemeClr val="tx1"/>
                            </a:solidFill>
                            <a:effectLst/>
                            <a:latin typeface="Cambria Math" panose="02040503050406030204" pitchFamily="18" charset="0"/>
                          </a:rPr>
                          <m:t>𝜖</m:t>
                        </m:r>
                        <m:sSub>
                          <m:sSubPr>
                            <m:ctrlPr>
                              <a:rPr lang="en-US" altLang="zh-TW" sz="2400" b="0" i="1" smtClean="0">
                                <a:solidFill>
                                  <a:schemeClr val="tx1"/>
                                </a:solidFill>
                                <a:effectLst/>
                                <a:latin typeface="Cambria Math" panose="02040503050406030204" pitchFamily="18" charset="0"/>
                              </a:rPr>
                            </m:ctrlPr>
                          </m:sSubPr>
                          <m:e>
                            <m:r>
                              <a:rPr lang="zh-TW" altLang="en-US" sz="2400" b="0" i="1" smtClean="0">
                                <a:solidFill>
                                  <a:schemeClr val="tx1"/>
                                </a:solidFill>
                                <a:effectLst/>
                                <a:latin typeface="Cambria Math" panose="02040503050406030204" pitchFamily="18" charset="0"/>
                              </a:rPr>
                              <m:t>𝜃</m:t>
                            </m:r>
                          </m:e>
                          <m:sub>
                            <m:r>
                              <a:rPr lang="en-US" altLang="zh-TW" sz="2400" b="0" i="1" smtClean="0">
                                <a:solidFill>
                                  <a:schemeClr val="tx1"/>
                                </a:solidFill>
                                <a:effectLst/>
                                <a:latin typeface="Cambria Math" panose="02040503050406030204" pitchFamily="18" charset="0"/>
                              </a:rPr>
                              <m:t>𝑎</m:t>
                            </m:r>
                          </m:sub>
                        </m:sSub>
                        <m:r>
                          <a:rPr lang="en-US" altLang="zh-TW" sz="2400" b="0" i="1" smtClean="0">
                            <a:solidFill>
                              <a:schemeClr val="tx1"/>
                            </a:solidFill>
                            <a:effectLst/>
                            <a:latin typeface="Cambria Math" panose="02040503050406030204" pitchFamily="18" charset="0"/>
                          </a:rPr>
                          <m:t> , </m:t>
                        </m:r>
                        <m:r>
                          <a:rPr lang="en-US" altLang="zh-TW" sz="2400" b="0" i="1" smtClean="0">
                            <a:solidFill>
                              <a:schemeClr val="tx1"/>
                            </a:solidFill>
                            <a:effectLst/>
                            <a:latin typeface="Cambria Math" panose="02040503050406030204" pitchFamily="18" charset="0"/>
                          </a:rPr>
                          <m:t>𝑗</m:t>
                        </m:r>
                        <m:r>
                          <a:rPr lang="zh-TW" altLang="en-US" sz="2400" i="1">
                            <a:solidFill>
                              <a:schemeClr val="tx1"/>
                            </a:solidFill>
                            <a:latin typeface="Cambria Math" panose="02040503050406030204" pitchFamily="18" charset="0"/>
                          </a:rPr>
                          <m:t>𝜖</m:t>
                        </m:r>
                        <m:sSub>
                          <m:sSubPr>
                            <m:ctrlPr>
                              <a:rPr lang="en-US" altLang="zh-TW" sz="2400" i="1">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𝜃</m:t>
                            </m:r>
                          </m:e>
                          <m:sub>
                            <m:r>
                              <a:rPr lang="en-US" altLang="zh-TW" sz="2400" b="0" i="1" smtClean="0">
                                <a:solidFill>
                                  <a:schemeClr val="tx1"/>
                                </a:solidFill>
                                <a:latin typeface="Cambria Math" panose="02040503050406030204" pitchFamily="18" charset="0"/>
                              </a:rPr>
                              <m:t>𝑏</m:t>
                            </m:r>
                          </m:sub>
                        </m:sSub>
                      </m:sub>
                    </m:sSub>
                    <m:r>
                      <a:rPr lang="en-US" altLang="zh-TW" sz="2400" b="0" i="0" smtClean="0">
                        <a:solidFill>
                          <a:schemeClr val="tx1"/>
                        </a:solidFill>
                        <a:effectLst/>
                        <a:latin typeface="Cambria Math" panose="02040503050406030204" pitchFamily="18" charset="0"/>
                      </a:rPr>
                      <m:t> </m:t>
                    </m:r>
                    <m:d>
                      <m:dPr>
                        <m:begChr m:val="{"/>
                        <m:endChr m:val="}"/>
                        <m:ctrlPr>
                          <a:rPr lang="en-US" altLang="zh-TW" sz="2400" b="0" i="1" smtClean="0">
                            <a:solidFill>
                              <a:schemeClr val="tx1"/>
                            </a:solidFill>
                            <a:effectLst/>
                            <a:latin typeface="Cambria Math" panose="02040503050406030204" pitchFamily="18" charset="0"/>
                          </a:rPr>
                        </m:ctrlPr>
                      </m:dPr>
                      <m:e>
                        <m:sSub>
                          <m:sSubPr>
                            <m:ctrlPr>
                              <a:rPr lang="en-US" altLang="zh-TW" sz="2400" i="1">
                                <a:solidFill>
                                  <a:schemeClr val="tx1"/>
                                </a:solidFill>
                                <a:latin typeface="Cambria Math" panose="02040503050406030204" pitchFamily="18" charset="0"/>
                              </a:rPr>
                            </m:ctrlPr>
                          </m:sSubPr>
                          <m:e>
                            <m:r>
                              <m:rPr>
                                <m:sty m:val="p"/>
                              </m:rPr>
                              <a:rPr lang="en-US" altLang="zh-TW" sz="2400" i="1">
                                <a:solidFill>
                                  <a:schemeClr val="tx1"/>
                                </a:solidFill>
                                <a:latin typeface="Cambria Math" panose="02040503050406030204" pitchFamily="18" charset="0"/>
                              </a:rPr>
                              <m:t>L</m:t>
                            </m:r>
                          </m:e>
                          <m:sub>
                            <m:r>
                              <a:rPr lang="en-US" altLang="zh-TW" sz="2400" i="1">
                                <a:solidFill>
                                  <a:schemeClr val="tx1"/>
                                </a:solidFill>
                                <a:latin typeface="Cambria Math" panose="02040503050406030204" pitchFamily="18" charset="0"/>
                              </a:rPr>
                              <m:t>𝑖</m:t>
                            </m:r>
                            <m:r>
                              <a:rPr lang="en-US" altLang="zh-TW" sz="2400" i="1">
                                <a:solidFill>
                                  <a:schemeClr val="tx1"/>
                                </a:solidFill>
                                <a:latin typeface="Cambria Math" panose="02040503050406030204" pitchFamily="18" charset="0"/>
                              </a:rPr>
                              <m:t>,</m:t>
                            </m:r>
                            <m:r>
                              <a:rPr lang="en-US" altLang="zh-TW" sz="2400" i="1">
                                <a:solidFill>
                                  <a:schemeClr val="tx1"/>
                                </a:solidFill>
                                <a:latin typeface="Cambria Math" panose="02040503050406030204" pitchFamily="18" charset="0"/>
                              </a:rPr>
                              <m:t>𝑗</m:t>
                            </m:r>
                          </m:sub>
                        </m:sSub>
                      </m:e>
                    </m:d>
                  </m:oMath>
                </a14:m>
                <a:endParaRPr lang="zh-TW" altLang="en-US" sz="2400" dirty="0">
                  <a:solidFill>
                    <a:schemeClr val="tx1"/>
                  </a:solidFill>
                </a:endParaRPr>
              </a:p>
            </p:txBody>
          </p:sp>
        </mc:Choice>
        <mc:Fallback>
          <p:sp>
            <p:nvSpPr>
              <p:cNvPr id="3" name="內容版面配置區 2">
                <a:extLst>
                  <a:ext uri="{FF2B5EF4-FFF2-40B4-BE49-F238E27FC236}">
                    <a16:creationId xmlns:a16="http://schemas.microsoft.com/office/drawing/2014/main" id="{A3874345-41ED-42CD-B586-CA70520A27C9}"/>
                  </a:ext>
                </a:extLst>
              </p:cNvPr>
              <p:cNvSpPr>
                <a:spLocks noGrp="1" noRot="1" noChangeAspect="1" noMove="1" noResize="1" noEditPoints="1" noAdjustHandles="1" noChangeArrowheads="1" noChangeShapeType="1" noTextEdit="1"/>
              </p:cNvSpPr>
              <p:nvPr>
                <p:ph idx="1"/>
              </p:nvPr>
            </p:nvSpPr>
            <p:spPr>
              <a:xfrm>
                <a:off x="520147" y="1530831"/>
                <a:ext cx="11496261" cy="5197959"/>
              </a:xfrm>
              <a:blipFill>
                <a:blip r:embed="rId3"/>
                <a:stretch>
                  <a:fillRect l="-795" t="-175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28675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506656-D85D-45AB-81CD-699C15BBB3B7}"/>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D539B478-BEEE-4943-A82D-27D1AC1F14AE}"/>
              </a:ext>
            </a:extLst>
          </p:cNvPr>
          <p:cNvSpPr>
            <a:spLocks noGrp="1"/>
          </p:cNvSpPr>
          <p:nvPr>
            <p:ph idx="1"/>
          </p:nvPr>
        </p:nvSpPr>
        <p:spPr/>
        <p:txBody>
          <a:bodyPr/>
          <a:lstStyle/>
          <a:p>
            <a:endParaRPr lang="zh-TW" altLang="en-US"/>
          </a:p>
        </p:txBody>
      </p:sp>
      <p:pic>
        <p:nvPicPr>
          <p:cNvPr id="4" name="圖片 3">
            <a:extLst>
              <a:ext uri="{FF2B5EF4-FFF2-40B4-BE49-F238E27FC236}">
                <a16:creationId xmlns:a16="http://schemas.microsoft.com/office/drawing/2014/main" id="{F7A086C5-EA09-4BB6-87F3-C1099C233A66}"/>
              </a:ext>
            </a:extLst>
          </p:cNvPr>
          <p:cNvPicPr>
            <a:picLocks noChangeAspect="1"/>
          </p:cNvPicPr>
          <p:nvPr/>
        </p:nvPicPr>
        <p:blipFill>
          <a:blip r:embed="rId3"/>
          <a:stretch>
            <a:fillRect/>
          </a:stretch>
        </p:blipFill>
        <p:spPr>
          <a:xfrm>
            <a:off x="838200" y="252830"/>
            <a:ext cx="6238875" cy="6096000"/>
          </a:xfrm>
          <a:prstGeom prst="rect">
            <a:avLst/>
          </a:prstGeom>
        </p:spPr>
      </p:pic>
    </p:spTree>
    <p:extLst>
      <p:ext uri="{BB962C8B-B14F-4D97-AF65-F5344CB8AC3E}">
        <p14:creationId xmlns:p14="http://schemas.microsoft.com/office/powerpoint/2010/main" val="31667537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775539-C86C-447E-9EAF-871188E3BFB7}"/>
              </a:ext>
            </a:extLst>
          </p:cNvPr>
          <p:cNvSpPr>
            <a:spLocks noGrp="1"/>
          </p:cNvSpPr>
          <p:nvPr>
            <p:ph type="title"/>
          </p:nvPr>
        </p:nvSpPr>
        <p:spPr/>
        <p:txBody>
          <a:bodyPr/>
          <a:lstStyle/>
          <a:p>
            <a:r>
              <a:rPr lang="en-US" altLang="zh-TW" dirty="0"/>
              <a:t> Why the above clustering procedure is able to accelerate the proposed approach?</a:t>
            </a:r>
            <a:endParaRPr lang="zh-TW" altLang="en-US" dirty="0"/>
          </a:p>
        </p:txBody>
      </p:sp>
      <p:sp>
        <p:nvSpPr>
          <p:cNvPr id="3" name="內容版面配置區 2">
            <a:extLst>
              <a:ext uri="{FF2B5EF4-FFF2-40B4-BE49-F238E27FC236}">
                <a16:creationId xmlns:a16="http://schemas.microsoft.com/office/drawing/2014/main" id="{72E6384E-469D-4703-A001-BEBD55B10FD3}"/>
              </a:ext>
            </a:extLst>
          </p:cNvPr>
          <p:cNvSpPr>
            <a:spLocks noGrp="1"/>
          </p:cNvSpPr>
          <p:nvPr>
            <p:ph idx="1"/>
          </p:nvPr>
        </p:nvSpPr>
        <p:spPr/>
        <p:txBody>
          <a:bodyPr>
            <a:normAutofit/>
          </a:bodyPr>
          <a:lstStyle/>
          <a:p>
            <a:r>
              <a:rPr lang="en-US" altLang="zh-TW" sz="2400" dirty="0">
                <a:solidFill>
                  <a:srgbClr val="2E2E2E"/>
                </a:solidFill>
              </a:rPr>
              <a:t>W</a:t>
            </a:r>
            <a:r>
              <a:rPr lang="en-US" altLang="zh-TW" sz="2400" b="0" i="0" dirty="0">
                <a:solidFill>
                  <a:srgbClr val="2E2E2E"/>
                </a:solidFill>
                <a:effectLst/>
              </a:rPr>
              <a:t>e assume that the </a:t>
            </a:r>
            <a:r>
              <a:rPr lang="en-US" altLang="zh-TW" sz="2400" b="0" i="1" dirty="0" err="1">
                <a:solidFill>
                  <a:srgbClr val="2E2E2E"/>
                </a:solidFill>
                <a:effectLst/>
              </a:rPr>
              <a:t>s</a:t>
            </a:r>
            <a:r>
              <a:rPr lang="en-US" altLang="zh-TW" sz="2400" b="0" i="0" dirty="0" err="1">
                <a:solidFill>
                  <a:srgbClr val="2E2E2E"/>
                </a:solidFill>
                <a:effectLst/>
              </a:rPr>
              <a:t>th</a:t>
            </a:r>
            <a:r>
              <a:rPr lang="en-US" altLang="zh-TW" sz="2400" b="0" i="0" dirty="0">
                <a:solidFill>
                  <a:srgbClr val="2E2E2E"/>
                </a:solidFill>
                <a:effectLst/>
              </a:rPr>
              <a:t> cluster contains </a:t>
            </a:r>
            <a:r>
              <a:rPr lang="en-US" altLang="zh-TW" sz="2400" b="0" i="1" dirty="0">
                <a:solidFill>
                  <a:srgbClr val="2E2E2E"/>
                </a:solidFill>
                <a:effectLst/>
              </a:rPr>
              <a:t>N</a:t>
            </a:r>
            <a:r>
              <a:rPr lang="en-US" altLang="zh-TW" sz="2400" b="0" i="1" baseline="-25000" dirty="0">
                <a:solidFill>
                  <a:srgbClr val="2E2E2E"/>
                </a:solidFill>
                <a:effectLst/>
              </a:rPr>
              <a:t>s</a:t>
            </a:r>
            <a:r>
              <a:rPr lang="en-US" altLang="zh-TW" sz="2400" b="0" i="0" dirty="0">
                <a:solidFill>
                  <a:srgbClr val="2E2E2E"/>
                </a:solidFill>
                <a:effectLst/>
              </a:rPr>
              <a:t> jobs, 1 ≤ </a:t>
            </a:r>
            <a:r>
              <a:rPr lang="en-US" altLang="zh-TW" sz="2400" b="0" i="1" dirty="0">
                <a:solidFill>
                  <a:srgbClr val="2E2E2E"/>
                </a:solidFill>
                <a:effectLst/>
              </a:rPr>
              <a:t>s</a:t>
            </a:r>
            <a:r>
              <a:rPr lang="en-US" altLang="zh-TW" sz="2400" b="0" i="0" dirty="0">
                <a:solidFill>
                  <a:srgbClr val="2E2E2E"/>
                </a:solidFill>
                <a:effectLst/>
              </a:rPr>
              <a:t> ≤ </a:t>
            </a:r>
            <a:r>
              <a:rPr lang="en-US" altLang="zh-TW" sz="2400" b="0" i="1" dirty="0">
                <a:solidFill>
                  <a:srgbClr val="2E2E2E"/>
                </a:solidFill>
                <a:effectLst/>
              </a:rPr>
              <a:t>m</a:t>
            </a:r>
            <a:r>
              <a:rPr lang="en-US" altLang="zh-TW" sz="2400" b="0" i="0" dirty="0">
                <a:solidFill>
                  <a:srgbClr val="2E2E2E"/>
                </a:solidFill>
                <a:effectLst/>
              </a:rPr>
              <a:t>. </a:t>
            </a:r>
          </a:p>
          <a:p>
            <a:r>
              <a:rPr lang="en-US" altLang="zh-TW" sz="2400" b="0" i="0" dirty="0">
                <a:solidFill>
                  <a:srgbClr val="2E2E2E"/>
                </a:solidFill>
                <a:effectLst/>
              </a:rPr>
              <a:t>Since the processing sequence of clusters is fixed, all jobs in cluster </a:t>
            </a:r>
            <a:r>
              <a:rPr lang="en-US" altLang="zh-TW" sz="2400" b="0" i="1" dirty="0">
                <a:solidFill>
                  <a:srgbClr val="2E2E2E"/>
                </a:solidFill>
                <a:effectLst/>
              </a:rPr>
              <a:t>s</a:t>
            </a:r>
            <a:r>
              <a:rPr lang="en-US" altLang="zh-TW" sz="2400" b="0" i="0" dirty="0">
                <a:solidFill>
                  <a:srgbClr val="2E2E2E"/>
                </a:solidFill>
                <a:effectLst/>
              </a:rPr>
              <a:t> must be processed before those in cluster </a:t>
            </a:r>
            <a:r>
              <a:rPr lang="en-US" altLang="zh-TW" sz="2400" b="0" i="1" dirty="0">
                <a:solidFill>
                  <a:srgbClr val="2E2E2E"/>
                </a:solidFill>
                <a:effectLst/>
              </a:rPr>
              <a:t>s </a:t>
            </a:r>
            <a:r>
              <a:rPr lang="en-US" altLang="zh-TW" sz="2400" b="0" i="0" dirty="0">
                <a:solidFill>
                  <a:srgbClr val="2E2E2E"/>
                </a:solidFill>
                <a:effectLst/>
              </a:rPr>
              <a:t>+ 1 for any 1 ≤ </a:t>
            </a:r>
            <a:r>
              <a:rPr lang="en-US" altLang="zh-TW" sz="2400" b="0" i="1" dirty="0">
                <a:solidFill>
                  <a:srgbClr val="2E2E2E"/>
                </a:solidFill>
                <a:effectLst/>
              </a:rPr>
              <a:t>s</a:t>
            </a:r>
            <a:r>
              <a:rPr lang="en-US" altLang="zh-TW" sz="2400" b="0" i="0" dirty="0">
                <a:solidFill>
                  <a:srgbClr val="2E2E2E"/>
                </a:solidFill>
                <a:effectLst/>
              </a:rPr>
              <a:t> ≤ </a:t>
            </a:r>
            <a:r>
              <a:rPr lang="en-US" altLang="zh-TW" sz="2400" b="0" i="1" dirty="0">
                <a:solidFill>
                  <a:srgbClr val="2E2E2E"/>
                </a:solidFill>
                <a:effectLst/>
              </a:rPr>
              <a:t>m</a:t>
            </a:r>
            <a:r>
              <a:rPr lang="en-US" altLang="zh-TW" sz="2400" b="0" i="0" dirty="0">
                <a:solidFill>
                  <a:srgbClr val="2E2E2E"/>
                </a:solidFill>
                <a:effectLst/>
              </a:rPr>
              <a:t>-1. </a:t>
            </a:r>
          </a:p>
          <a:p>
            <a:r>
              <a:rPr lang="en-US" altLang="zh-TW" sz="2400" dirty="0">
                <a:solidFill>
                  <a:srgbClr val="2E2E2E"/>
                </a:solidFill>
              </a:rPr>
              <a:t>After examining all the jobs,  the values of considerable quantity of </a:t>
            </a:r>
            <a:r>
              <a:rPr lang="en-US" altLang="zh-TW" sz="2400" u="sng" dirty="0">
                <a:solidFill>
                  <a:srgbClr val="2E2E2E"/>
                </a:solidFill>
              </a:rPr>
              <a:t>binary variables can be fixed</a:t>
            </a:r>
            <a:r>
              <a:rPr lang="en-US" altLang="zh-TW" sz="2400" dirty="0">
                <a:solidFill>
                  <a:srgbClr val="2E2E2E"/>
                </a:solidFill>
              </a:rPr>
              <a:t>, which significantly </a:t>
            </a:r>
            <a:r>
              <a:rPr lang="en-US" altLang="zh-TW" sz="2400" u="sng" dirty="0">
                <a:solidFill>
                  <a:srgbClr val="2E2E2E"/>
                </a:solidFill>
              </a:rPr>
              <a:t>reduces the computational time </a:t>
            </a:r>
            <a:r>
              <a:rPr lang="en-US" altLang="zh-TW" sz="2400" dirty="0">
                <a:solidFill>
                  <a:srgbClr val="2E2E2E"/>
                </a:solidFill>
              </a:rPr>
              <a:t>for the algorithm to solve the problem.</a:t>
            </a:r>
          </a:p>
          <a:p>
            <a:r>
              <a:rPr lang="en-US" altLang="zh-TW" sz="2400" b="0" i="0" dirty="0">
                <a:solidFill>
                  <a:srgbClr val="2E2E2E"/>
                </a:solidFill>
                <a:effectLst/>
              </a:rPr>
              <a:t>Note that with less number of clusters, we will fix the values of less binary variables, which leads to more precise Pareto front while consuming more computational time.</a:t>
            </a:r>
            <a:endParaRPr lang="zh-TW" altLang="en-US" sz="2400" dirty="0"/>
          </a:p>
        </p:txBody>
      </p:sp>
    </p:spTree>
    <p:extLst>
      <p:ext uri="{BB962C8B-B14F-4D97-AF65-F5344CB8AC3E}">
        <p14:creationId xmlns:p14="http://schemas.microsoft.com/office/powerpoint/2010/main" val="2612221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8DAA94-D83C-4FF8-AE2B-C8C0B48A2034}"/>
              </a:ext>
            </a:extLst>
          </p:cNvPr>
          <p:cNvSpPr>
            <a:spLocks noGrp="1"/>
          </p:cNvSpPr>
          <p:nvPr>
            <p:ph type="title"/>
          </p:nvPr>
        </p:nvSpPr>
        <p:spPr/>
        <p:txBody>
          <a:bodyPr/>
          <a:lstStyle/>
          <a:p>
            <a:r>
              <a:rPr lang="en-US" altLang="zh-TW" dirty="0"/>
              <a:t>Experiments</a:t>
            </a:r>
            <a:endParaRPr lang="zh-TW" altLang="en-US" dirty="0"/>
          </a:p>
        </p:txBody>
      </p:sp>
      <p:sp>
        <p:nvSpPr>
          <p:cNvPr id="3" name="內容版面配置區 2">
            <a:extLst>
              <a:ext uri="{FF2B5EF4-FFF2-40B4-BE49-F238E27FC236}">
                <a16:creationId xmlns:a16="http://schemas.microsoft.com/office/drawing/2014/main" id="{02475FE8-6BFF-49B5-80C2-48DEEA28CEFB}"/>
              </a:ext>
            </a:extLst>
          </p:cNvPr>
          <p:cNvSpPr>
            <a:spLocks noGrp="1"/>
          </p:cNvSpPr>
          <p:nvPr>
            <p:ph idx="1"/>
          </p:nvPr>
        </p:nvSpPr>
        <p:spPr/>
        <p:txBody>
          <a:bodyPr/>
          <a:lstStyle/>
          <a:p>
            <a:r>
              <a:rPr lang="en-US" altLang="zh-TW" dirty="0"/>
              <a:t>C++ solved by the MIP solver of CPLEX (Version 12.5). The experiments are performed on a HP PC with an Intel Core i5-2400 CPU operating at 3.10 GHz.</a:t>
            </a:r>
          </a:p>
          <a:p>
            <a:endParaRPr lang="en-US" altLang="zh-TW" dirty="0"/>
          </a:p>
        </p:txBody>
      </p:sp>
    </p:spTree>
    <p:extLst>
      <p:ext uri="{BB962C8B-B14F-4D97-AF65-F5344CB8AC3E}">
        <p14:creationId xmlns:p14="http://schemas.microsoft.com/office/powerpoint/2010/main" val="30318203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835B2F-362A-4878-8D1D-09E1650366C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55D43A5C-1950-4A0E-9400-6F0D7446DDAE}"/>
              </a:ext>
            </a:extLst>
          </p:cNvPr>
          <p:cNvSpPr>
            <a:spLocks noGrp="1"/>
          </p:cNvSpPr>
          <p:nvPr>
            <p:ph idx="1"/>
          </p:nvPr>
        </p:nvSpPr>
        <p:spPr/>
        <p:txBody>
          <a:bodyPr/>
          <a:lstStyle/>
          <a:p>
            <a:endParaRPr lang="zh-TW" altLang="en-US" dirty="0"/>
          </a:p>
        </p:txBody>
      </p:sp>
      <p:pic>
        <p:nvPicPr>
          <p:cNvPr id="7" name="圖片 6">
            <a:extLst>
              <a:ext uri="{FF2B5EF4-FFF2-40B4-BE49-F238E27FC236}">
                <a16:creationId xmlns:a16="http://schemas.microsoft.com/office/drawing/2014/main" id="{5F3B5B43-0553-48A8-B0A3-24E006AA1504}"/>
              </a:ext>
            </a:extLst>
          </p:cNvPr>
          <p:cNvPicPr>
            <a:picLocks noChangeAspect="1"/>
          </p:cNvPicPr>
          <p:nvPr/>
        </p:nvPicPr>
        <p:blipFill rotWithShape="1">
          <a:blip r:embed="rId2"/>
          <a:srcRect t="-1137" r="76111" b="-1"/>
          <a:stretch/>
        </p:blipFill>
        <p:spPr>
          <a:xfrm>
            <a:off x="150330" y="77098"/>
            <a:ext cx="1757983" cy="1613590"/>
          </a:xfrm>
          <a:prstGeom prst="rect">
            <a:avLst/>
          </a:prstGeom>
        </p:spPr>
      </p:pic>
      <p:pic>
        <p:nvPicPr>
          <p:cNvPr id="9" name="圖片 8">
            <a:extLst>
              <a:ext uri="{FF2B5EF4-FFF2-40B4-BE49-F238E27FC236}">
                <a16:creationId xmlns:a16="http://schemas.microsoft.com/office/drawing/2014/main" id="{288D51D1-A483-44DE-94BC-3075A087F927}"/>
              </a:ext>
            </a:extLst>
          </p:cNvPr>
          <p:cNvPicPr>
            <a:picLocks noChangeAspect="1"/>
          </p:cNvPicPr>
          <p:nvPr/>
        </p:nvPicPr>
        <p:blipFill>
          <a:blip r:embed="rId3"/>
          <a:stretch>
            <a:fillRect/>
          </a:stretch>
        </p:blipFill>
        <p:spPr>
          <a:xfrm>
            <a:off x="1" y="2238649"/>
            <a:ext cx="6163648" cy="3449333"/>
          </a:xfrm>
          <a:prstGeom prst="rect">
            <a:avLst/>
          </a:prstGeom>
        </p:spPr>
      </p:pic>
      <p:pic>
        <p:nvPicPr>
          <p:cNvPr id="11" name="圖片 10">
            <a:extLst>
              <a:ext uri="{FF2B5EF4-FFF2-40B4-BE49-F238E27FC236}">
                <a16:creationId xmlns:a16="http://schemas.microsoft.com/office/drawing/2014/main" id="{537A9F33-771E-40BD-8204-0AA2D98590C4}"/>
              </a:ext>
            </a:extLst>
          </p:cNvPr>
          <p:cNvPicPr>
            <a:picLocks noChangeAspect="1"/>
          </p:cNvPicPr>
          <p:nvPr/>
        </p:nvPicPr>
        <p:blipFill>
          <a:blip r:embed="rId4"/>
          <a:stretch>
            <a:fillRect/>
          </a:stretch>
        </p:blipFill>
        <p:spPr>
          <a:xfrm>
            <a:off x="6301409" y="2073181"/>
            <a:ext cx="5742305" cy="3983270"/>
          </a:xfrm>
          <a:prstGeom prst="rect">
            <a:avLst/>
          </a:prstGeom>
        </p:spPr>
      </p:pic>
    </p:spTree>
    <p:extLst>
      <p:ext uri="{BB962C8B-B14F-4D97-AF65-F5344CB8AC3E}">
        <p14:creationId xmlns:p14="http://schemas.microsoft.com/office/powerpoint/2010/main" val="31575086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D92F95-359D-464B-8DFC-29A2201E56B6}"/>
              </a:ext>
            </a:extLst>
          </p:cNvPr>
          <p:cNvSpPr>
            <a:spLocks noGrp="1"/>
          </p:cNvSpPr>
          <p:nvPr>
            <p:ph type="title"/>
          </p:nvPr>
        </p:nvSpPr>
        <p:spPr/>
        <p:txBody>
          <a:bodyPr/>
          <a:lstStyle/>
          <a:p>
            <a:r>
              <a:rPr lang="en-US" altLang="zh-TW" dirty="0"/>
              <a:t>Benchmark instances</a:t>
            </a:r>
            <a:br>
              <a:rPr lang="zh-TW" altLang="en-US" dirty="0"/>
            </a:br>
            <a:endParaRPr lang="zh-TW" altLang="en-US" dirty="0"/>
          </a:p>
        </p:txBody>
      </p:sp>
      <p:sp>
        <p:nvSpPr>
          <p:cNvPr id="3" name="內容版面配置區 2">
            <a:extLst>
              <a:ext uri="{FF2B5EF4-FFF2-40B4-BE49-F238E27FC236}">
                <a16:creationId xmlns:a16="http://schemas.microsoft.com/office/drawing/2014/main" id="{13CFF78E-25D4-4B65-AEED-A27B482B1B77}"/>
              </a:ext>
            </a:extLst>
          </p:cNvPr>
          <p:cNvSpPr>
            <a:spLocks noGrp="1"/>
          </p:cNvSpPr>
          <p:nvPr>
            <p:ph idx="1"/>
          </p:nvPr>
        </p:nvSpPr>
        <p:spPr>
          <a:xfrm>
            <a:off x="364434" y="1242855"/>
            <a:ext cx="11463131" cy="4372289"/>
          </a:xfrm>
        </p:spPr>
        <p:txBody>
          <a:bodyPr>
            <a:normAutofit/>
          </a:bodyPr>
          <a:lstStyle/>
          <a:p>
            <a:r>
              <a:rPr lang="en-US" altLang="zh-TW" sz="2400" b="0" i="0" dirty="0">
                <a:solidFill>
                  <a:srgbClr val="2E2E2E"/>
                </a:solidFill>
                <a:effectLst/>
              </a:rPr>
              <a:t> Their aim is to minimize the total carbon dioxide emission and the total completion time simultaneously.</a:t>
            </a:r>
          </a:p>
          <a:p>
            <a:r>
              <a:rPr lang="en-US" altLang="zh-TW" sz="2400" b="0" i="0" dirty="0">
                <a:solidFill>
                  <a:srgbClr val="2E2E2E"/>
                </a:solidFill>
                <a:effectLst/>
              </a:rPr>
              <a:t>The machine consumes 0.4 kw when it is idle and 3 kw when working. </a:t>
            </a:r>
          </a:p>
          <a:p>
            <a:r>
              <a:rPr lang="en-US" altLang="zh-TW" sz="2400" b="0" i="0" dirty="0">
                <a:solidFill>
                  <a:srgbClr val="2E2E2E"/>
                </a:solidFill>
                <a:effectLst/>
              </a:rPr>
              <a:t>Each turn-off-on operation takes 12 h and requires 4 kwh of electricity.</a:t>
            </a:r>
          </a:p>
          <a:p>
            <a:endParaRPr lang="en-US" altLang="zh-TW" sz="2400" b="0" i="0" dirty="0">
              <a:solidFill>
                <a:srgbClr val="2E2E2E"/>
              </a:solidFill>
              <a:effectLst/>
            </a:endParaRPr>
          </a:p>
          <a:p>
            <a:pPr>
              <a:buFont typeface="Wingdings" panose="05000000000000000000" pitchFamily="2" charset="2"/>
              <a:buChar char="p"/>
            </a:pPr>
            <a:r>
              <a:rPr lang="en-US" altLang="zh-TW" sz="2400" dirty="0">
                <a:solidFill>
                  <a:srgbClr val="2E2E2E"/>
                </a:solidFill>
              </a:rPr>
              <a:t> Liu et al.(2014)</a:t>
            </a:r>
          </a:p>
          <a:p>
            <a:pPr>
              <a:buFont typeface="Wingdings" panose="05000000000000000000" pitchFamily="2" charset="2"/>
              <a:buChar char="l"/>
            </a:pPr>
            <a:r>
              <a:rPr lang="en-US" altLang="zh-TW" sz="2400" dirty="0"/>
              <a:t>Author’s</a:t>
            </a:r>
            <a:endParaRPr lang="zh-TW" altLang="en-US" sz="2400" dirty="0"/>
          </a:p>
        </p:txBody>
      </p:sp>
      <p:pic>
        <p:nvPicPr>
          <p:cNvPr id="4" name="圖片 3">
            <a:extLst>
              <a:ext uri="{FF2B5EF4-FFF2-40B4-BE49-F238E27FC236}">
                <a16:creationId xmlns:a16="http://schemas.microsoft.com/office/drawing/2014/main" id="{199A90C3-8D86-4B01-9C81-89CCDCBCAC97}"/>
              </a:ext>
            </a:extLst>
          </p:cNvPr>
          <p:cNvPicPr>
            <a:picLocks noChangeAspect="1"/>
          </p:cNvPicPr>
          <p:nvPr/>
        </p:nvPicPr>
        <p:blipFill>
          <a:blip r:embed="rId2"/>
          <a:stretch>
            <a:fillRect/>
          </a:stretch>
        </p:blipFill>
        <p:spPr>
          <a:xfrm>
            <a:off x="7215809" y="3024439"/>
            <a:ext cx="4716944" cy="4145193"/>
          </a:xfrm>
          <a:prstGeom prst="rect">
            <a:avLst/>
          </a:prstGeom>
        </p:spPr>
      </p:pic>
    </p:spTree>
    <p:extLst>
      <p:ext uri="{BB962C8B-B14F-4D97-AF65-F5344CB8AC3E}">
        <p14:creationId xmlns:p14="http://schemas.microsoft.com/office/powerpoint/2010/main" val="3294347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7898F0-4F1C-4BEE-AF4F-3B02DF61D6C9}"/>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4E35D687-EFA1-4B0E-80BD-DFAA46A9F989}"/>
              </a:ext>
            </a:extLst>
          </p:cNvPr>
          <p:cNvSpPr>
            <a:spLocks noGrp="1"/>
          </p:cNvSpPr>
          <p:nvPr>
            <p:ph idx="1"/>
          </p:nvPr>
        </p:nvSpPr>
        <p:spPr/>
        <p:txBody>
          <a:bodyPr/>
          <a:lstStyle/>
          <a:p>
            <a:endParaRPr lang="zh-TW" altLang="en-US"/>
          </a:p>
        </p:txBody>
      </p:sp>
      <p:pic>
        <p:nvPicPr>
          <p:cNvPr id="4" name="圖片 3">
            <a:extLst>
              <a:ext uri="{FF2B5EF4-FFF2-40B4-BE49-F238E27FC236}">
                <a16:creationId xmlns:a16="http://schemas.microsoft.com/office/drawing/2014/main" id="{079CD76F-E712-48BF-8517-53327B16CB1C}"/>
              </a:ext>
            </a:extLst>
          </p:cNvPr>
          <p:cNvPicPr>
            <a:picLocks noChangeAspect="1"/>
          </p:cNvPicPr>
          <p:nvPr/>
        </p:nvPicPr>
        <p:blipFill>
          <a:blip r:embed="rId2"/>
          <a:stretch>
            <a:fillRect/>
          </a:stretch>
        </p:blipFill>
        <p:spPr>
          <a:xfrm>
            <a:off x="241644" y="2096328"/>
            <a:ext cx="5657850" cy="4000500"/>
          </a:xfrm>
          <a:prstGeom prst="rect">
            <a:avLst/>
          </a:prstGeom>
        </p:spPr>
      </p:pic>
      <p:pic>
        <p:nvPicPr>
          <p:cNvPr id="5" name="圖片 4">
            <a:extLst>
              <a:ext uri="{FF2B5EF4-FFF2-40B4-BE49-F238E27FC236}">
                <a16:creationId xmlns:a16="http://schemas.microsoft.com/office/drawing/2014/main" id="{1A5A0684-144E-4F72-92FB-000C21BCB6E7}"/>
              </a:ext>
            </a:extLst>
          </p:cNvPr>
          <p:cNvPicPr>
            <a:picLocks noChangeAspect="1"/>
          </p:cNvPicPr>
          <p:nvPr/>
        </p:nvPicPr>
        <p:blipFill>
          <a:blip r:embed="rId3"/>
          <a:stretch>
            <a:fillRect/>
          </a:stretch>
        </p:blipFill>
        <p:spPr>
          <a:xfrm>
            <a:off x="6784078" y="3355250"/>
            <a:ext cx="5534025" cy="2152650"/>
          </a:xfrm>
          <a:prstGeom prst="rect">
            <a:avLst/>
          </a:prstGeom>
        </p:spPr>
      </p:pic>
    </p:spTree>
    <p:extLst>
      <p:ext uri="{BB962C8B-B14F-4D97-AF65-F5344CB8AC3E}">
        <p14:creationId xmlns:p14="http://schemas.microsoft.com/office/powerpoint/2010/main" val="731663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D32F1B-3DE0-4E1E-A8EA-332F80E6F0A8}"/>
              </a:ext>
            </a:extLst>
          </p:cNvPr>
          <p:cNvSpPr>
            <a:spLocks noGrp="1"/>
          </p:cNvSpPr>
          <p:nvPr>
            <p:ph type="title"/>
          </p:nvPr>
        </p:nvSpPr>
        <p:spPr/>
        <p:txBody>
          <a:bodyPr/>
          <a:lstStyle/>
          <a:p>
            <a:r>
              <a:rPr lang="en-US" altLang="zh-TW" dirty="0"/>
              <a:t>Randomly generated instance</a:t>
            </a:r>
            <a:endParaRPr lang="zh-TW" altLang="en-US" dirty="0"/>
          </a:p>
        </p:txBody>
      </p:sp>
      <p:sp>
        <p:nvSpPr>
          <p:cNvPr id="3" name="內容版面配置區 2">
            <a:extLst>
              <a:ext uri="{FF2B5EF4-FFF2-40B4-BE49-F238E27FC236}">
                <a16:creationId xmlns:a16="http://schemas.microsoft.com/office/drawing/2014/main" id="{0DBBFA49-FA1D-441F-8AAE-D21AF8190694}"/>
              </a:ext>
            </a:extLst>
          </p:cNvPr>
          <p:cNvSpPr>
            <a:spLocks noGrp="1"/>
          </p:cNvSpPr>
          <p:nvPr>
            <p:ph idx="1"/>
          </p:nvPr>
        </p:nvSpPr>
        <p:spPr>
          <a:xfrm>
            <a:off x="208721" y="1550503"/>
            <a:ext cx="11983279" cy="5227983"/>
          </a:xfrm>
        </p:spPr>
        <p:txBody>
          <a:bodyPr>
            <a:normAutofit/>
          </a:bodyPr>
          <a:lstStyle/>
          <a:p>
            <a:pPr marL="0" indent="0">
              <a:buNone/>
            </a:pPr>
            <a:r>
              <a:rPr lang="en-US" altLang="zh-TW" sz="2400" b="0" i="0" dirty="0">
                <a:effectLst/>
              </a:rPr>
              <a:t>1. </a:t>
            </a:r>
            <a:r>
              <a:rPr lang="en-US" altLang="zh-TW" sz="2400" dirty="0"/>
              <a:t>The processing time of each job follows a uniform distribution between 1 and 5 time units.</a:t>
            </a:r>
          </a:p>
          <a:p>
            <a:pPr marL="0" indent="0">
              <a:buNone/>
            </a:pPr>
            <a:endParaRPr lang="en-US" altLang="zh-TW" sz="2400" dirty="0"/>
          </a:p>
          <a:p>
            <a:pPr marL="0" indent="0">
              <a:buNone/>
            </a:pPr>
            <a:r>
              <a:rPr lang="en-US" altLang="zh-TW" sz="2400" dirty="0"/>
              <a:t>2. The release time of each job follows an exponential distribution with a mean of 10 time units. </a:t>
            </a:r>
          </a:p>
          <a:p>
            <a:pPr marL="0" indent="0">
              <a:buNone/>
            </a:pPr>
            <a:endParaRPr lang="en-US" altLang="zh-TW" sz="2400" dirty="0"/>
          </a:p>
          <a:p>
            <a:pPr marL="0" indent="0">
              <a:buNone/>
            </a:pPr>
            <a:r>
              <a:rPr lang="en-US" altLang="zh-TW" sz="2400" dirty="0"/>
              <a:t>3. The due date of each job is the sum of three parts: its release time, processing time and a slack time </a:t>
            </a:r>
          </a:p>
          <a:p>
            <a:pPr marL="0" indent="0">
              <a:buNone/>
            </a:pPr>
            <a:endParaRPr lang="en-US" altLang="zh-TW" sz="2400" dirty="0"/>
          </a:p>
          <a:p>
            <a:pPr marL="0" indent="0">
              <a:buNone/>
            </a:pPr>
            <a:r>
              <a:rPr lang="en-US" altLang="zh-TW" sz="2400" b="0" i="0" dirty="0">
                <a:effectLst/>
              </a:rPr>
              <a:t>4. The parameter β reflects the degree of how far the due date deviates from the release time. </a:t>
            </a:r>
            <a:r>
              <a:rPr lang="en-US" altLang="zh-TW" sz="2400" dirty="0"/>
              <a:t> As the value of β increases, the due dates become more spread over time.</a:t>
            </a:r>
            <a:endParaRPr lang="zh-TW" altLang="en-US" sz="2400" dirty="0"/>
          </a:p>
        </p:txBody>
      </p:sp>
    </p:spTree>
    <p:extLst>
      <p:ext uri="{BB962C8B-B14F-4D97-AF65-F5344CB8AC3E}">
        <p14:creationId xmlns:p14="http://schemas.microsoft.com/office/powerpoint/2010/main" val="3708509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336BCF-94CA-4007-9987-6A90C80A976F}"/>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C3BA3524-A250-48D3-A62A-C5DBDC8A0748}"/>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50C79AD8-8821-493E-BAD8-C1C9F9AF0133}"/>
              </a:ext>
            </a:extLst>
          </p:cNvPr>
          <p:cNvPicPr>
            <a:picLocks noChangeAspect="1"/>
          </p:cNvPicPr>
          <p:nvPr/>
        </p:nvPicPr>
        <p:blipFill rotWithShape="1">
          <a:blip r:embed="rId3"/>
          <a:srcRect t="1882" r="3615"/>
          <a:stretch/>
        </p:blipFill>
        <p:spPr>
          <a:xfrm>
            <a:off x="-179014" y="1239443"/>
            <a:ext cx="5901034" cy="4014789"/>
          </a:xfrm>
          <a:prstGeom prst="rect">
            <a:avLst/>
          </a:prstGeom>
        </p:spPr>
      </p:pic>
      <p:pic>
        <p:nvPicPr>
          <p:cNvPr id="7" name="圖片 6">
            <a:extLst>
              <a:ext uri="{FF2B5EF4-FFF2-40B4-BE49-F238E27FC236}">
                <a16:creationId xmlns:a16="http://schemas.microsoft.com/office/drawing/2014/main" id="{62926A02-3A33-4B62-A8E4-8845592C5184}"/>
              </a:ext>
            </a:extLst>
          </p:cNvPr>
          <p:cNvPicPr>
            <a:picLocks noChangeAspect="1"/>
          </p:cNvPicPr>
          <p:nvPr/>
        </p:nvPicPr>
        <p:blipFill rotWithShape="1">
          <a:blip r:embed="rId4"/>
          <a:srcRect t="2625" r="3328"/>
          <a:stretch/>
        </p:blipFill>
        <p:spPr>
          <a:xfrm>
            <a:off x="5722020" y="1825625"/>
            <a:ext cx="6648994" cy="3371457"/>
          </a:xfrm>
          <a:prstGeom prst="rect">
            <a:avLst/>
          </a:prstGeom>
        </p:spPr>
      </p:pic>
    </p:spTree>
    <p:extLst>
      <p:ext uri="{BB962C8B-B14F-4D97-AF65-F5344CB8AC3E}">
        <p14:creationId xmlns:p14="http://schemas.microsoft.com/office/powerpoint/2010/main" val="6076064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B3A081-2828-4269-B2D4-F749E7574189}"/>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C05D801-D530-4054-9D5D-E83D16C27A3B}"/>
              </a:ext>
            </a:extLst>
          </p:cNvPr>
          <p:cNvSpPr>
            <a:spLocks noGrp="1"/>
          </p:cNvSpPr>
          <p:nvPr>
            <p:ph idx="1"/>
          </p:nvPr>
        </p:nvSpPr>
        <p:spPr/>
        <p:txBody>
          <a:bodyPr/>
          <a:lstStyle/>
          <a:p>
            <a:endParaRPr lang="zh-TW" altLang="en-US" dirty="0"/>
          </a:p>
        </p:txBody>
      </p:sp>
      <p:pic>
        <p:nvPicPr>
          <p:cNvPr id="5" name="圖片 4">
            <a:extLst>
              <a:ext uri="{FF2B5EF4-FFF2-40B4-BE49-F238E27FC236}">
                <a16:creationId xmlns:a16="http://schemas.microsoft.com/office/drawing/2014/main" id="{219652C5-A62F-4C08-9F73-78A27007A6B7}"/>
              </a:ext>
            </a:extLst>
          </p:cNvPr>
          <p:cNvPicPr>
            <a:picLocks noChangeAspect="1"/>
          </p:cNvPicPr>
          <p:nvPr/>
        </p:nvPicPr>
        <p:blipFill>
          <a:blip r:embed="rId2"/>
          <a:stretch>
            <a:fillRect/>
          </a:stretch>
        </p:blipFill>
        <p:spPr>
          <a:xfrm>
            <a:off x="-55286" y="806726"/>
            <a:ext cx="5886450" cy="3924300"/>
          </a:xfrm>
          <a:prstGeom prst="rect">
            <a:avLst/>
          </a:prstGeom>
        </p:spPr>
      </p:pic>
      <p:pic>
        <p:nvPicPr>
          <p:cNvPr id="7" name="圖片 6">
            <a:extLst>
              <a:ext uri="{FF2B5EF4-FFF2-40B4-BE49-F238E27FC236}">
                <a16:creationId xmlns:a16="http://schemas.microsoft.com/office/drawing/2014/main" id="{ADB90BD7-E5BB-4A2C-AFE5-70AB8AB290BB}"/>
              </a:ext>
            </a:extLst>
          </p:cNvPr>
          <p:cNvPicPr>
            <a:picLocks noChangeAspect="1"/>
          </p:cNvPicPr>
          <p:nvPr/>
        </p:nvPicPr>
        <p:blipFill>
          <a:blip r:embed="rId3"/>
          <a:stretch>
            <a:fillRect/>
          </a:stretch>
        </p:blipFill>
        <p:spPr>
          <a:xfrm>
            <a:off x="6096000" y="1518751"/>
            <a:ext cx="5974081" cy="3165753"/>
          </a:xfrm>
          <a:prstGeom prst="rect">
            <a:avLst/>
          </a:prstGeom>
        </p:spPr>
      </p:pic>
    </p:spTree>
    <p:extLst>
      <p:ext uri="{BB962C8B-B14F-4D97-AF65-F5344CB8AC3E}">
        <p14:creationId xmlns:p14="http://schemas.microsoft.com/office/powerpoint/2010/main" val="32652570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1920E1-0F01-45B6-8A26-B1312B725CC7}"/>
              </a:ext>
            </a:extLst>
          </p:cNvPr>
          <p:cNvSpPr>
            <a:spLocks noGrp="1"/>
          </p:cNvSpPr>
          <p:nvPr>
            <p:ph type="title"/>
          </p:nvPr>
        </p:nvSpPr>
        <p:spPr/>
        <p:txBody>
          <a:bodyPr/>
          <a:lstStyle/>
          <a:p>
            <a:r>
              <a:rPr lang="en-US" altLang="zh-TW" dirty="0"/>
              <a:t>Conclusion</a:t>
            </a:r>
            <a:endParaRPr lang="zh-TW" altLang="en-US" dirty="0"/>
          </a:p>
        </p:txBody>
      </p:sp>
      <p:sp>
        <p:nvSpPr>
          <p:cNvPr id="3" name="內容版面配置區 2">
            <a:extLst>
              <a:ext uri="{FF2B5EF4-FFF2-40B4-BE49-F238E27FC236}">
                <a16:creationId xmlns:a16="http://schemas.microsoft.com/office/drawing/2014/main" id="{B958440B-CCFE-45AD-A341-DA9FB26FF71B}"/>
              </a:ext>
            </a:extLst>
          </p:cNvPr>
          <p:cNvSpPr>
            <a:spLocks noGrp="1"/>
          </p:cNvSpPr>
          <p:nvPr>
            <p:ph idx="1"/>
          </p:nvPr>
        </p:nvSpPr>
        <p:spPr/>
        <p:txBody>
          <a:bodyPr/>
          <a:lstStyle/>
          <a:p>
            <a:r>
              <a:rPr lang="en-US" altLang="zh-TW" dirty="0"/>
              <a:t>Author proposed a basic ε − constraint method and developed local search, preprocessing technique and valid inequalities to enhance the proposed model.</a:t>
            </a:r>
          </a:p>
          <a:p>
            <a:r>
              <a:rPr lang="en-US" altLang="zh-TW" dirty="0"/>
              <a:t>In its practical significance, the proposed model and methods provide production managers with a decision support tool to make reasonable trade-offs between </a:t>
            </a:r>
            <a:r>
              <a:rPr lang="en-US" altLang="zh-TW" u="sng" dirty="0"/>
              <a:t>energy consumption</a:t>
            </a:r>
            <a:r>
              <a:rPr lang="en-US" altLang="zh-TW" dirty="0"/>
              <a:t> and </a:t>
            </a:r>
            <a:r>
              <a:rPr lang="en-US" altLang="zh-TW" u="sng" dirty="0"/>
              <a:t>maximum tardiness </a:t>
            </a:r>
            <a:r>
              <a:rPr lang="en-US" altLang="zh-TW" dirty="0"/>
              <a:t>in production scheduling.</a:t>
            </a:r>
            <a:endParaRPr lang="zh-TW" altLang="en-US" dirty="0"/>
          </a:p>
        </p:txBody>
      </p:sp>
    </p:spTree>
    <p:extLst>
      <p:ext uri="{BB962C8B-B14F-4D97-AF65-F5344CB8AC3E}">
        <p14:creationId xmlns:p14="http://schemas.microsoft.com/office/powerpoint/2010/main" val="1746288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C2AB67-2F66-4402-AA70-9B210379DDE3}"/>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B6F85AE4-9408-4388-8CF0-49BCEBE77AA7}"/>
              </a:ext>
            </a:extLst>
          </p:cNvPr>
          <p:cNvSpPr>
            <a:spLocks noGrp="1"/>
          </p:cNvSpPr>
          <p:nvPr>
            <p:ph idx="1"/>
          </p:nvPr>
        </p:nvSpPr>
        <p:spPr/>
        <p:txBody>
          <a:bodyPr/>
          <a:lstStyle/>
          <a:p>
            <a:r>
              <a:rPr lang="en-US" altLang="zh-TW" dirty="0"/>
              <a:t> </a:t>
            </a:r>
            <a:r>
              <a:rPr lang="en-US" altLang="zh-TW" dirty="0" err="1"/>
              <a:t>Dmin</a:t>
            </a:r>
            <a:r>
              <a:rPr lang="en-US" altLang="zh-TW" dirty="0"/>
              <a:t> is the lower bound of the maximum tardiness for this problem.</a:t>
            </a:r>
            <a:endParaRPr lang="zh-TW" altLang="en-US" dirty="0"/>
          </a:p>
        </p:txBody>
      </p:sp>
      <p:pic>
        <p:nvPicPr>
          <p:cNvPr id="5" name="圖片 4">
            <a:extLst>
              <a:ext uri="{FF2B5EF4-FFF2-40B4-BE49-F238E27FC236}">
                <a16:creationId xmlns:a16="http://schemas.microsoft.com/office/drawing/2014/main" id="{E6A82AE1-E8F1-4343-8B10-A467E6012FE8}"/>
              </a:ext>
            </a:extLst>
          </p:cNvPr>
          <p:cNvPicPr>
            <a:picLocks noChangeAspect="1"/>
          </p:cNvPicPr>
          <p:nvPr/>
        </p:nvPicPr>
        <p:blipFill>
          <a:blip r:embed="rId2"/>
          <a:stretch>
            <a:fillRect/>
          </a:stretch>
        </p:blipFill>
        <p:spPr>
          <a:xfrm>
            <a:off x="1228035" y="2640639"/>
            <a:ext cx="7466318" cy="2348456"/>
          </a:xfrm>
          <a:prstGeom prst="rect">
            <a:avLst/>
          </a:prstGeom>
        </p:spPr>
      </p:pic>
    </p:spTree>
    <p:extLst>
      <p:ext uri="{BB962C8B-B14F-4D97-AF65-F5344CB8AC3E}">
        <p14:creationId xmlns:p14="http://schemas.microsoft.com/office/powerpoint/2010/main" val="26707747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B27BA1-F690-469D-9AAA-D540D165DA56}"/>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A8481210-4F94-498E-B0E1-A0FC4DA9DA7B}"/>
              </a:ext>
            </a:extLst>
          </p:cNvPr>
          <p:cNvSpPr>
            <a:spLocks noGrp="1"/>
          </p:cNvSpPr>
          <p:nvPr>
            <p:ph idx="1"/>
          </p:nvPr>
        </p:nvSpPr>
        <p:spPr/>
        <p:txBody>
          <a:bodyPr/>
          <a:lstStyle/>
          <a:p>
            <a:pPr marL="0" indent="0">
              <a:buNone/>
            </a:pPr>
            <a:r>
              <a:rPr lang="en-US" altLang="zh-TW" b="0" i="1" dirty="0">
                <a:solidFill>
                  <a:srgbClr val="2E2E2E"/>
                </a:solidFill>
                <a:effectLst/>
                <a:latin typeface="NexusSerif"/>
              </a:rPr>
              <a:t>The lower bound of E (</a:t>
            </a:r>
            <a:r>
              <a:rPr lang="en-US" altLang="zh-TW" b="0" i="0" dirty="0">
                <a:solidFill>
                  <a:srgbClr val="2E2E2E"/>
                </a:solidFill>
                <a:effectLst/>
                <a:latin typeface="NexusSerif"/>
              </a:rPr>
              <a:t>i.e. </a:t>
            </a:r>
            <a:r>
              <a:rPr lang="en-US" altLang="zh-TW" b="0" i="1" dirty="0">
                <a:solidFill>
                  <a:srgbClr val="2E2E2E"/>
                </a:solidFill>
                <a:effectLst/>
                <a:latin typeface="NexusSerif"/>
              </a:rPr>
              <a:t>E</a:t>
            </a:r>
            <a:r>
              <a:rPr lang="en-US" altLang="zh-TW" b="0" i="1" baseline="30000" dirty="0">
                <a:solidFill>
                  <a:srgbClr val="2E2E2E"/>
                </a:solidFill>
                <a:effectLst/>
                <a:latin typeface="NexusSerif"/>
              </a:rPr>
              <a:t>I</a:t>
            </a:r>
            <a:r>
              <a:rPr lang="en-US" altLang="zh-TW" b="0" i="1" dirty="0">
                <a:solidFill>
                  <a:srgbClr val="2E2E2E"/>
                </a:solidFill>
                <a:effectLst/>
                <a:latin typeface="NexusSerif"/>
              </a:rPr>
              <a:t>) is zero.</a:t>
            </a:r>
          </a:p>
          <a:p>
            <a:pPr marL="0" indent="0">
              <a:buNone/>
            </a:pPr>
            <a:r>
              <a:rPr lang="en-US" altLang="zh-TW" dirty="0">
                <a:solidFill>
                  <a:srgbClr val="2E2E2E"/>
                </a:solidFill>
                <a:latin typeface="NexusSerif"/>
              </a:rPr>
              <a:t>T</a:t>
            </a:r>
            <a:r>
              <a:rPr lang="en-US" altLang="zh-TW" b="0" i="0" dirty="0">
                <a:solidFill>
                  <a:srgbClr val="2E2E2E"/>
                </a:solidFill>
                <a:effectLst/>
                <a:latin typeface="NexusSerif"/>
              </a:rPr>
              <a:t>he lower bound of </a:t>
            </a:r>
            <a:r>
              <a:rPr lang="en-US" altLang="zh-TW" b="0" i="1" dirty="0">
                <a:solidFill>
                  <a:srgbClr val="2E2E2E"/>
                </a:solidFill>
                <a:effectLst/>
                <a:latin typeface="NexusSerif"/>
              </a:rPr>
              <a:t>E</a:t>
            </a:r>
            <a:r>
              <a:rPr lang="en-US" altLang="zh-TW" b="0" i="0" dirty="0">
                <a:solidFill>
                  <a:srgbClr val="2E2E2E"/>
                </a:solidFill>
                <a:effectLst/>
                <a:latin typeface="NexusSerif"/>
              </a:rPr>
              <a:t> can be obtained by solving the MILP model without constraint (</a:t>
            </a:r>
            <a:r>
              <a:rPr lang="en-US" altLang="zh-TW" b="0" i="0" u="none" strike="noStrike" dirty="0">
                <a:solidFill>
                  <a:srgbClr val="0C7DBB"/>
                </a:solidFill>
                <a:effectLst/>
                <a:latin typeface="NexusSerif"/>
                <a:hlinkClick r:id="rId3"/>
              </a:rPr>
              <a:t>5</a:t>
            </a:r>
            <a:r>
              <a:rPr lang="en-US" altLang="zh-TW" b="0" i="0" dirty="0">
                <a:solidFill>
                  <a:srgbClr val="2E2E2E"/>
                </a:solidFill>
                <a:effectLst/>
                <a:latin typeface="NexusSerif"/>
              </a:rPr>
              <a:t>) to minimize </a:t>
            </a:r>
            <a:r>
              <a:rPr lang="en-US" altLang="zh-TW" b="0" i="1" dirty="0">
                <a:solidFill>
                  <a:srgbClr val="2E2E2E"/>
                </a:solidFill>
                <a:effectLst/>
                <a:latin typeface="NexusSerif"/>
              </a:rPr>
              <a:t>E</a:t>
            </a:r>
            <a:r>
              <a:rPr lang="en-US" altLang="zh-TW" b="0" i="0" dirty="0">
                <a:solidFill>
                  <a:srgbClr val="2E2E2E"/>
                </a:solidFill>
                <a:effectLst/>
                <a:latin typeface="NexusSerif"/>
              </a:rPr>
              <a:t>. </a:t>
            </a:r>
            <a:endParaRPr lang="zh-TW" altLang="en-US" dirty="0"/>
          </a:p>
        </p:txBody>
      </p:sp>
      <p:pic>
        <p:nvPicPr>
          <p:cNvPr id="4" name="圖片 3">
            <a:extLst>
              <a:ext uri="{FF2B5EF4-FFF2-40B4-BE49-F238E27FC236}">
                <a16:creationId xmlns:a16="http://schemas.microsoft.com/office/drawing/2014/main" id="{E43F58FD-211D-4272-A902-FB1FFE28287E}"/>
              </a:ext>
            </a:extLst>
          </p:cNvPr>
          <p:cNvPicPr>
            <a:picLocks noChangeAspect="1"/>
          </p:cNvPicPr>
          <p:nvPr/>
        </p:nvPicPr>
        <p:blipFill>
          <a:blip r:embed="rId4"/>
          <a:stretch>
            <a:fillRect/>
          </a:stretch>
        </p:blipFill>
        <p:spPr>
          <a:xfrm>
            <a:off x="5121310" y="841677"/>
            <a:ext cx="6891959" cy="712390"/>
          </a:xfrm>
          <a:prstGeom prst="rect">
            <a:avLst/>
          </a:prstGeom>
        </p:spPr>
      </p:pic>
    </p:spTree>
    <p:extLst>
      <p:ext uri="{BB962C8B-B14F-4D97-AF65-F5344CB8AC3E}">
        <p14:creationId xmlns:p14="http://schemas.microsoft.com/office/powerpoint/2010/main" val="16479617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90A550-36B7-4C8B-BB1E-2E634CE74E5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BCFF47E0-0587-4B99-98F2-6CC1D279D8B2}"/>
              </a:ext>
            </a:extLst>
          </p:cNvPr>
          <p:cNvSpPr>
            <a:spLocks noGrp="1"/>
          </p:cNvSpPr>
          <p:nvPr>
            <p:ph idx="1"/>
          </p:nvPr>
        </p:nvSpPr>
        <p:spPr/>
        <p:txBody>
          <a:bodyPr/>
          <a:lstStyle/>
          <a:p>
            <a:endParaRPr lang="zh-TW" altLang="en-US" dirty="0"/>
          </a:p>
        </p:txBody>
      </p:sp>
      <p:pic>
        <p:nvPicPr>
          <p:cNvPr id="4" name="圖片 3">
            <a:extLst>
              <a:ext uri="{FF2B5EF4-FFF2-40B4-BE49-F238E27FC236}">
                <a16:creationId xmlns:a16="http://schemas.microsoft.com/office/drawing/2014/main" id="{1F1A9ACA-D7C1-4F6C-91F9-E1A95CA514F0}"/>
              </a:ext>
            </a:extLst>
          </p:cNvPr>
          <p:cNvPicPr>
            <a:picLocks noChangeAspect="1"/>
          </p:cNvPicPr>
          <p:nvPr/>
        </p:nvPicPr>
        <p:blipFill>
          <a:blip r:embed="rId2"/>
          <a:stretch>
            <a:fillRect/>
          </a:stretch>
        </p:blipFill>
        <p:spPr>
          <a:xfrm>
            <a:off x="6700906" y="6107488"/>
            <a:ext cx="2105025" cy="552450"/>
          </a:xfrm>
          <a:prstGeom prst="rect">
            <a:avLst/>
          </a:prstGeom>
        </p:spPr>
      </p:pic>
      <p:pic>
        <p:nvPicPr>
          <p:cNvPr id="5" name="圖片 4">
            <a:extLst>
              <a:ext uri="{FF2B5EF4-FFF2-40B4-BE49-F238E27FC236}">
                <a16:creationId xmlns:a16="http://schemas.microsoft.com/office/drawing/2014/main" id="{BC8E7EE0-A683-4677-B24B-A1B8AFFB81A6}"/>
              </a:ext>
            </a:extLst>
          </p:cNvPr>
          <p:cNvPicPr>
            <a:picLocks noChangeAspect="1"/>
          </p:cNvPicPr>
          <p:nvPr/>
        </p:nvPicPr>
        <p:blipFill>
          <a:blip r:embed="rId3"/>
          <a:stretch>
            <a:fillRect/>
          </a:stretch>
        </p:blipFill>
        <p:spPr>
          <a:xfrm>
            <a:off x="3702354" y="6087477"/>
            <a:ext cx="1981200" cy="561975"/>
          </a:xfrm>
          <a:prstGeom prst="rect">
            <a:avLst/>
          </a:prstGeom>
        </p:spPr>
      </p:pic>
      <p:pic>
        <p:nvPicPr>
          <p:cNvPr id="6" name="圖片 5">
            <a:extLst>
              <a:ext uri="{FF2B5EF4-FFF2-40B4-BE49-F238E27FC236}">
                <a16:creationId xmlns:a16="http://schemas.microsoft.com/office/drawing/2014/main" id="{31283B7F-8452-49FB-983D-3AF962A626FF}"/>
              </a:ext>
            </a:extLst>
          </p:cNvPr>
          <p:cNvPicPr>
            <a:picLocks noChangeAspect="1"/>
          </p:cNvPicPr>
          <p:nvPr/>
        </p:nvPicPr>
        <p:blipFill>
          <a:blip r:embed="rId4"/>
          <a:stretch>
            <a:fillRect/>
          </a:stretch>
        </p:blipFill>
        <p:spPr>
          <a:xfrm>
            <a:off x="345318" y="5928417"/>
            <a:ext cx="2339685" cy="721035"/>
          </a:xfrm>
          <a:prstGeom prst="rect">
            <a:avLst/>
          </a:prstGeom>
        </p:spPr>
      </p:pic>
      <p:pic>
        <p:nvPicPr>
          <p:cNvPr id="7" name="圖片 6">
            <a:extLst>
              <a:ext uri="{FF2B5EF4-FFF2-40B4-BE49-F238E27FC236}">
                <a16:creationId xmlns:a16="http://schemas.microsoft.com/office/drawing/2014/main" id="{A3930726-3480-4BD7-880F-9E6F9A91D959}"/>
              </a:ext>
            </a:extLst>
          </p:cNvPr>
          <p:cNvPicPr>
            <a:picLocks noChangeAspect="1"/>
          </p:cNvPicPr>
          <p:nvPr/>
        </p:nvPicPr>
        <p:blipFill>
          <a:blip r:embed="rId5"/>
          <a:stretch>
            <a:fillRect/>
          </a:stretch>
        </p:blipFill>
        <p:spPr>
          <a:xfrm>
            <a:off x="9699457" y="6107488"/>
            <a:ext cx="1238250" cy="409575"/>
          </a:xfrm>
          <a:prstGeom prst="rect">
            <a:avLst/>
          </a:prstGeom>
        </p:spPr>
      </p:pic>
      <p:pic>
        <p:nvPicPr>
          <p:cNvPr id="8" name="圖片 7">
            <a:extLst>
              <a:ext uri="{FF2B5EF4-FFF2-40B4-BE49-F238E27FC236}">
                <a16:creationId xmlns:a16="http://schemas.microsoft.com/office/drawing/2014/main" id="{856EC25F-DE2E-47EB-B388-3866DBC2A220}"/>
              </a:ext>
            </a:extLst>
          </p:cNvPr>
          <p:cNvPicPr>
            <a:picLocks noChangeAspect="1"/>
          </p:cNvPicPr>
          <p:nvPr/>
        </p:nvPicPr>
        <p:blipFill>
          <a:blip r:embed="rId6"/>
          <a:stretch>
            <a:fillRect/>
          </a:stretch>
        </p:blipFill>
        <p:spPr>
          <a:xfrm>
            <a:off x="1136374" y="1898515"/>
            <a:ext cx="4114800" cy="1543050"/>
          </a:xfrm>
          <a:prstGeom prst="rect">
            <a:avLst/>
          </a:prstGeom>
        </p:spPr>
      </p:pic>
      <p:pic>
        <p:nvPicPr>
          <p:cNvPr id="9" name="圖片 8">
            <a:extLst>
              <a:ext uri="{FF2B5EF4-FFF2-40B4-BE49-F238E27FC236}">
                <a16:creationId xmlns:a16="http://schemas.microsoft.com/office/drawing/2014/main" id="{85E4617B-073B-4A0A-8362-7DB731E7C451}"/>
              </a:ext>
            </a:extLst>
          </p:cNvPr>
          <p:cNvPicPr>
            <a:picLocks noChangeAspect="1"/>
          </p:cNvPicPr>
          <p:nvPr/>
        </p:nvPicPr>
        <p:blipFill>
          <a:blip r:embed="rId7"/>
          <a:stretch>
            <a:fillRect/>
          </a:stretch>
        </p:blipFill>
        <p:spPr>
          <a:xfrm>
            <a:off x="1142481" y="641215"/>
            <a:ext cx="1790700" cy="1257300"/>
          </a:xfrm>
          <a:prstGeom prst="rect">
            <a:avLst/>
          </a:prstGeom>
        </p:spPr>
      </p:pic>
      <p:pic>
        <p:nvPicPr>
          <p:cNvPr id="10" name="圖片 9">
            <a:extLst>
              <a:ext uri="{FF2B5EF4-FFF2-40B4-BE49-F238E27FC236}">
                <a16:creationId xmlns:a16="http://schemas.microsoft.com/office/drawing/2014/main" id="{FF7BA97D-7C19-4F33-A3D3-7D50D350F032}"/>
              </a:ext>
            </a:extLst>
          </p:cNvPr>
          <p:cNvPicPr>
            <a:picLocks noChangeAspect="1"/>
          </p:cNvPicPr>
          <p:nvPr/>
        </p:nvPicPr>
        <p:blipFill>
          <a:blip r:embed="rId8"/>
          <a:stretch>
            <a:fillRect/>
          </a:stretch>
        </p:blipFill>
        <p:spPr>
          <a:xfrm>
            <a:off x="1089578" y="293384"/>
            <a:ext cx="4545910" cy="327789"/>
          </a:xfrm>
          <a:prstGeom prst="rect">
            <a:avLst/>
          </a:prstGeom>
        </p:spPr>
      </p:pic>
    </p:spTree>
    <p:extLst>
      <p:ext uri="{BB962C8B-B14F-4D97-AF65-F5344CB8AC3E}">
        <p14:creationId xmlns:p14="http://schemas.microsoft.com/office/powerpoint/2010/main" val="374042404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報paper範本" id="{69A26A74-F2D4-4C4E-8979-71B91039FD65}" vid="{BF5BF2FF-57E1-4805-99F6-A663F732E57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報paper範本</Template>
  <TotalTime>3458</TotalTime>
  <Words>3609</Words>
  <Application>Microsoft Office PowerPoint</Application>
  <PresentationFormat>寬螢幕</PresentationFormat>
  <Paragraphs>209</Paragraphs>
  <Slides>39</Slides>
  <Notes>21</Notes>
  <HiddenSlides>6</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39</vt:i4>
      </vt:variant>
    </vt:vector>
  </HeadingPairs>
  <TitlesOfParts>
    <vt:vector size="46" baseType="lpstr">
      <vt:lpstr>NexusSerif</vt:lpstr>
      <vt:lpstr>Arial</vt:lpstr>
      <vt:lpstr>Calibri</vt:lpstr>
      <vt:lpstr>Cambria Math</vt:lpstr>
      <vt:lpstr>Times New Roman</vt:lpstr>
      <vt:lpstr>Wingdings</vt:lpstr>
      <vt:lpstr>Office 佈景主題</vt:lpstr>
      <vt:lpstr>Energy-efficient bi-objective single-machine scheduling with power-down mechanism </vt:lpstr>
      <vt:lpstr>Abstract</vt:lpstr>
      <vt:lpstr>Pareto Optimal Solutions</vt:lpstr>
      <vt:lpstr>PowerPoint 簡報</vt:lpstr>
      <vt:lpstr>Weighted sum scalarization method</vt:lpstr>
      <vt:lpstr>An advanced  ε–constraint method</vt:lpstr>
      <vt:lpstr>PowerPoint 簡報</vt:lpstr>
      <vt:lpstr>8-</vt:lpstr>
      <vt:lpstr>Turn on-off operation</vt:lpstr>
      <vt:lpstr>PowerPoint 簡報</vt:lpstr>
      <vt:lpstr>PowerPoint 簡報</vt:lpstr>
      <vt:lpstr>PowerPoint 簡報</vt:lpstr>
      <vt:lpstr>PowerPoint 簡報</vt:lpstr>
      <vt:lpstr>Local search to enhanced ε–constraint method</vt:lpstr>
      <vt:lpstr>PowerPoint 簡報</vt:lpstr>
      <vt:lpstr>PowerPoint 簡報</vt:lpstr>
      <vt:lpstr>PowerPoint 簡報</vt:lpstr>
      <vt:lpstr>PowerPoint 簡報</vt:lpstr>
      <vt:lpstr>PowerPoint 簡報</vt:lpstr>
      <vt:lpstr>Dynamic preprocessing technique and valid inequalities </vt:lpstr>
      <vt:lpstr>PowerPoint 簡報</vt:lpstr>
      <vt:lpstr>PowerPoint 簡報</vt:lpstr>
      <vt:lpstr>Why we choose the maximum tardiness as the primary objective function? </vt:lpstr>
      <vt:lpstr>Why we choose the maximum tardiness as the primary objective function?</vt:lpstr>
      <vt:lpstr>PowerPoint 簡報</vt:lpstr>
      <vt:lpstr>Clustering of jobs to obtain approximate Pareto front</vt:lpstr>
      <vt:lpstr>PowerPoint 簡報</vt:lpstr>
      <vt:lpstr> Why the above clustering procedure is able to accelerate the proposed approach?</vt:lpstr>
      <vt:lpstr>Experiments</vt:lpstr>
      <vt:lpstr>PowerPoint 簡報</vt:lpstr>
      <vt:lpstr>Benchmark instances </vt:lpstr>
      <vt:lpstr>PowerPoint 簡報</vt:lpstr>
      <vt:lpstr>Randomly generated instance</vt:lpstr>
      <vt:lpstr>PowerPoint 簡報</vt:lpstr>
      <vt:lpstr>PowerPoint 簡報</vt:lpstr>
      <vt:lpstr>Conclusion</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Energy-efficient bi-objective single-machine scheduling with power-down mechanism </dc:title>
  <dc:creator>jj wu</dc:creator>
  <cp:lastModifiedBy>jj wu</cp:lastModifiedBy>
  <cp:revision>18</cp:revision>
  <dcterms:created xsi:type="dcterms:W3CDTF">2021-10-24T10:17:33Z</dcterms:created>
  <dcterms:modified xsi:type="dcterms:W3CDTF">2021-11-02T10:34:06Z</dcterms:modified>
</cp:coreProperties>
</file>