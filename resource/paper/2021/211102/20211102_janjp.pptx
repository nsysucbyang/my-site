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535" r:id="rId3"/>
    <p:sldId id="260" r:id="rId4"/>
    <p:sldId id="403" r:id="rId5"/>
    <p:sldId id="569" r:id="rId6"/>
    <p:sldId id="572" r:id="rId7"/>
    <p:sldId id="571" r:id="rId8"/>
    <p:sldId id="570" r:id="rId9"/>
    <p:sldId id="578" r:id="rId10"/>
    <p:sldId id="574" r:id="rId11"/>
    <p:sldId id="576" r:id="rId12"/>
    <p:sldId id="577" r:id="rId13"/>
    <p:sldId id="579" r:id="rId14"/>
    <p:sldId id="575" r:id="rId15"/>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CCCC"/>
    <a:srgbClr val="FF16FF"/>
    <a:srgbClr val="FAEBD7"/>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64" autoAdjust="0"/>
    <p:restoredTop sz="73300" autoAdjust="0"/>
  </p:normalViewPr>
  <p:slideViewPr>
    <p:cSldViewPr>
      <p:cViewPr varScale="1">
        <p:scale>
          <a:sx n="85" d="100"/>
          <a:sy n="85" d="100"/>
        </p:scale>
        <p:origin x="1282" y="72"/>
      </p:cViewPr>
      <p:guideLst>
        <p:guide orient="horz" pos="2160"/>
        <p:guide pos="2880"/>
      </p:guideLst>
    </p:cSldViewPr>
  </p:slideViewPr>
  <p:outlineViewPr>
    <p:cViewPr>
      <p:scale>
        <a:sx n="33" d="100"/>
        <a:sy n="33" d="100"/>
      </p:scale>
      <p:origin x="0" y="-5275"/>
    </p:cViewPr>
  </p:outlineViewPr>
  <p:notesTextViewPr>
    <p:cViewPr>
      <p:scale>
        <a:sx n="115" d="100"/>
        <a:sy n="11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787" cy="496967"/>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5838" y="0"/>
            <a:ext cx="2949787" cy="496967"/>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2021/11/2</a:t>
            </a:fld>
            <a:endParaRPr lang="zh-TW" altLang="en-US"/>
          </a:p>
        </p:txBody>
      </p:sp>
      <p:sp>
        <p:nvSpPr>
          <p:cNvPr id="4" name="投影片圖像版面配置區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0720" y="4721186"/>
            <a:ext cx="5445760" cy="4472702"/>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40646"/>
            <a:ext cx="2949787" cy="49696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8" y="9440646"/>
            <a:ext cx="2949787" cy="496967"/>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68400" y="1243013"/>
            <a:ext cx="4470400" cy="3354387"/>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p14="http://schemas.microsoft.com/office/powerpoint/2010/main" val="2952944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65A18BCC-D1EA-4D8A-929C-D092EA2B4393}" type="slidenum">
              <a:rPr lang="zh-TW" altLang="en-US" smtClean="0"/>
              <a:pPr/>
              <a:t>3</a:t>
            </a:fld>
            <a:endParaRPr lang="zh-TW" altLang="en-US"/>
          </a:p>
        </p:txBody>
      </p:sp>
    </p:spTree>
    <p:extLst>
      <p:ext uri="{BB962C8B-B14F-4D97-AF65-F5344CB8AC3E}">
        <p14:creationId xmlns:p14="http://schemas.microsoft.com/office/powerpoint/2010/main" val="2991817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2021/11/2</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0B6A882-00D3-47EF-9E00-5F5448FB3E79}"/>
              </a:ext>
            </a:extLst>
          </p:cNvPr>
          <p:cNvSpPr>
            <a:spLocks noGrp="1"/>
          </p:cNvSpPr>
          <p:nvPr>
            <p:ph type="ctrTitle"/>
          </p:nvPr>
        </p:nvSpPr>
        <p:spPr>
          <a:xfrm>
            <a:off x="1054302" y="1700808"/>
            <a:ext cx="7035394" cy="649317"/>
          </a:xfrm>
        </p:spPr>
        <p:txBody>
          <a:bodyPr>
            <a:noAutofit/>
          </a:bodyPr>
          <a:lstStyle/>
          <a:p>
            <a:r>
              <a:rPr lang="en-US" altLang="zh-TW" sz="2800" dirty="0">
                <a:latin typeface="Times New Roman"/>
                <a:ea typeface="新細明體"/>
                <a:cs typeface="Times New Roman"/>
              </a:rPr>
              <a:t>All Simulations Are Not Equal: Simulation Reweighing for Imperfect Information Games</a:t>
            </a:r>
          </a:p>
        </p:txBody>
      </p:sp>
      <p:sp>
        <p:nvSpPr>
          <p:cNvPr id="3" name="副標題 2">
            <a:extLst>
              <a:ext uri="{FF2B5EF4-FFF2-40B4-BE49-F238E27FC236}">
                <a16:creationId xmlns:a16="http://schemas.microsoft.com/office/drawing/2014/main" id="{7DA53B5D-3737-4D8B-A009-A9D02CAEE169}"/>
              </a:ext>
            </a:extLst>
          </p:cNvPr>
          <p:cNvSpPr>
            <a:spLocks noGrp="1"/>
          </p:cNvSpPr>
          <p:nvPr>
            <p:ph type="subTitle" idx="1"/>
          </p:nvPr>
        </p:nvSpPr>
        <p:spPr>
          <a:xfrm>
            <a:off x="1142999" y="3003984"/>
            <a:ext cx="6858000" cy="425017"/>
          </a:xfrm>
        </p:spPr>
        <p:txBody>
          <a:bodyPr vert="horz" lIns="91440" tIns="45720" rIns="91440" bIns="45720" rtlCol="0" anchor="t">
            <a:noAutofit/>
          </a:bodyPr>
          <a:lstStyle/>
          <a:p>
            <a:pPr fontAlgn="ctr"/>
            <a:r>
              <a:rPr lang="en-US" altLang="zh-TW" sz="2000" dirty="0" err="1">
                <a:solidFill>
                  <a:schemeClr val="tx1"/>
                </a:solidFill>
                <a:latin typeface="Times New Roman"/>
                <a:ea typeface="新細明體"/>
                <a:cs typeface="Times New Roman"/>
              </a:rPr>
              <a:t>Qucheng</a:t>
            </a:r>
            <a:r>
              <a:rPr lang="en-US" altLang="zh-TW" sz="2000" dirty="0">
                <a:solidFill>
                  <a:schemeClr val="tx1"/>
                </a:solidFill>
                <a:latin typeface="Times New Roman"/>
                <a:ea typeface="新細明體"/>
                <a:cs typeface="Times New Roman"/>
              </a:rPr>
              <a:t> Gong and </a:t>
            </a:r>
            <a:r>
              <a:rPr lang="en-US" altLang="zh-TW" sz="2000" dirty="0" err="1">
                <a:solidFill>
                  <a:schemeClr val="tx1"/>
                </a:solidFill>
                <a:latin typeface="Times New Roman"/>
                <a:ea typeface="新細明體"/>
                <a:cs typeface="Times New Roman"/>
              </a:rPr>
              <a:t>Yuandong</a:t>
            </a:r>
            <a:r>
              <a:rPr lang="en-US" altLang="zh-TW" sz="2000" dirty="0">
                <a:solidFill>
                  <a:schemeClr val="tx1"/>
                </a:solidFill>
                <a:latin typeface="Times New Roman"/>
                <a:ea typeface="新細明體"/>
                <a:cs typeface="Times New Roman"/>
              </a:rPr>
              <a:t> Tian</a:t>
            </a:r>
          </a:p>
        </p:txBody>
      </p:sp>
      <p:sp>
        <p:nvSpPr>
          <p:cNvPr id="8" name="文字方塊 7">
            <a:extLst>
              <a:ext uri="{FF2B5EF4-FFF2-40B4-BE49-F238E27FC236}">
                <a16:creationId xmlns:a16="http://schemas.microsoft.com/office/drawing/2014/main" id="{8F2527E8-BB8F-41FB-8AF1-03DCC96BC069}"/>
              </a:ext>
            </a:extLst>
          </p:cNvPr>
          <p:cNvSpPr txBox="1"/>
          <p:nvPr/>
        </p:nvSpPr>
        <p:spPr>
          <a:xfrm>
            <a:off x="179511" y="3856937"/>
            <a:ext cx="8784976" cy="1107996"/>
          </a:xfrm>
          <a:prstGeom prst="rect">
            <a:avLst/>
          </a:prstGeom>
          <a:noFill/>
        </p:spPr>
        <p:txBody>
          <a:bodyPr wrap="square" lIns="91440" tIns="45720" rIns="91440" bIns="45720" rtlCol="0" anchor="t">
            <a:spAutoFit/>
          </a:bodyPr>
          <a:lstStyle/>
          <a:p>
            <a:pPr algn="ctr"/>
            <a:r>
              <a:rPr lang="en-US" altLang="zh-TW" sz="2200" dirty="0">
                <a:latin typeface="Times New Roman"/>
                <a:ea typeface="+mn-lt"/>
                <a:cs typeface="+mn-lt"/>
              </a:rPr>
              <a:t>International Conference on Learning Representations, ICLR 2020, Millennium Hall, Addis Ababa ETHIOPIA, April 26, 2020 - April 30, 2020</a:t>
            </a:r>
          </a:p>
          <a:p>
            <a:pPr algn="ctr"/>
            <a:endParaRPr lang="en-US" altLang="zh-TW" sz="2200" dirty="0">
              <a:latin typeface="Times New Roman"/>
              <a:ea typeface="+mn-lt"/>
              <a:cs typeface="+mn-lt"/>
            </a:endParaRPr>
          </a:p>
        </p:txBody>
      </p:sp>
      <p:sp>
        <p:nvSpPr>
          <p:cNvPr id="9" name="文字方塊 8">
            <a:extLst>
              <a:ext uri="{FF2B5EF4-FFF2-40B4-BE49-F238E27FC236}">
                <a16:creationId xmlns:a16="http://schemas.microsoft.com/office/drawing/2014/main" id="{6BC92671-3184-4146-A361-F82079153C2E}"/>
              </a:ext>
            </a:extLst>
          </p:cNvPr>
          <p:cNvSpPr txBox="1"/>
          <p:nvPr/>
        </p:nvSpPr>
        <p:spPr>
          <a:xfrm>
            <a:off x="5652120" y="5377328"/>
            <a:ext cx="3158237" cy="461665"/>
          </a:xfrm>
          <a:prstGeom prst="rect">
            <a:avLst/>
          </a:prstGeom>
          <a:noFill/>
        </p:spPr>
        <p:txBody>
          <a:bodyPr wrap="none" rtlCol="0">
            <a:spAutoFit/>
          </a:bodyPr>
          <a:lstStyle/>
          <a:p>
            <a:r>
              <a:rPr lang="en-US" altLang="zh-TW" sz="2400">
                <a:latin typeface="Times New Roman" panose="02020603050405020304" pitchFamily="18" charset="0"/>
                <a:cs typeface="Times New Roman" panose="02020603050405020304" pitchFamily="18" charset="0"/>
              </a:rPr>
              <a:t>Presenter</a:t>
            </a:r>
            <a:r>
              <a:rPr lang="en-US" altLang="zh-TW" sz="2400" dirty="0">
                <a:latin typeface="Times New Roman" panose="02020603050405020304" pitchFamily="18" charset="0"/>
                <a:cs typeface="Times New Roman" panose="02020603050405020304" pitchFamily="18" charset="0"/>
              </a:rPr>
              <a:t>: Jing-Ping Jan</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a16="http://schemas.microsoft.com/office/drawing/2014/main" id="{52A0654C-2F84-4026-9FCF-04C8DF590D5F}"/>
              </a:ext>
            </a:extLst>
          </p:cNvPr>
          <p:cNvSpPr txBox="1"/>
          <p:nvPr/>
        </p:nvSpPr>
        <p:spPr>
          <a:xfrm>
            <a:off x="5652120" y="5805264"/>
            <a:ext cx="2514663" cy="461665"/>
          </a:xfrm>
          <a:prstGeom prst="rect">
            <a:avLst/>
          </a:prstGeom>
          <a:noFill/>
        </p:spPr>
        <p:txBody>
          <a:bodyPr wrap="none" lIns="91440" tIns="45720" rIns="91440" bIns="45720" rtlCol="0" anchor="t">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latin typeface="Times New Roman"/>
                <a:ea typeface="新細明體"/>
                <a:cs typeface="Times New Roman"/>
              </a:rPr>
              <a:t>Date: Nov. 2, 2021</a:t>
            </a:r>
            <a:endParaRPr lang="zh-TW" altLang="en-US" dirty="0">
              <a:latin typeface="Times New Roman"/>
              <a:ea typeface="新細明體"/>
              <a:cs typeface="Times New Roman"/>
            </a:endParaRPr>
          </a:p>
        </p:txBody>
      </p:sp>
    </p:spTree>
    <p:extLst>
      <p:ext uri="{BB962C8B-B14F-4D97-AF65-F5344CB8AC3E}">
        <p14:creationId xmlns:p14="http://schemas.microsoft.com/office/powerpoint/2010/main" val="355704993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28649" y="260648"/>
            <a:ext cx="7886700" cy="583367"/>
          </a:xfrm>
        </p:spPr>
        <p:txBody>
          <a:bodyPr>
            <a:normAutofit/>
          </a:bodyPr>
          <a:lstStyle/>
          <a:p>
            <a:pPr algn="l"/>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69502" y="1052736"/>
            <a:ext cx="9004993" cy="5347657"/>
          </a:xfrm>
        </p:spPr>
        <p:txBody>
          <a:bodyPr vert="horz" lIns="91440" tIns="45720" rIns="91440" bIns="45720" rtlCol="0" anchor="t">
            <a:noAutofit/>
          </a:bodyPr>
          <a:lstStyle/>
          <a:p>
            <a:pPr marL="0" indent="0" algn="just">
              <a:lnSpc>
                <a:spcPts val="3200"/>
              </a:lnSpc>
              <a:buNone/>
            </a:pPr>
            <a:r>
              <a:rPr lang="en-US" sz="2200" dirty="0">
                <a:latin typeface="Times New Roman"/>
                <a:ea typeface="+mn-lt"/>
                <a:cs typeface="+mn-lt"/>
              </a:rPr>
              <a:t>Imperfect information games are challenging benchmarks for artificial intelligent systems. To reason and plan under uncertainty is a key towards general AI. Traditionally, large amounts of simulations are used in imperfect information games, and they sometimes perform sub-optimally due to large state and action spaces. In this work, we propose a simulation reweighing mechanism using neural networks. It performs backwards verification to public previous actions and assign proper belief weights to the simulations from the information set of the current observation, using an incomplete state solver network (ISSN). We use simulation reweighing in the playing phase of the game contract bridge, and show that it outperforms previous state-of-the-art Monte Carlo simulation based methods, and achieves better play per decision. </a:t>
            </a:r>
          </a:p>
        </p:txBody>
      </p:sp>
    </p:spTree>
    <p:extLst>
      <p:ext uri="{BB962C8B-B14F-4D97-AF65-F5344CB8AC3E}">
        <p14:creationId xmlns:p14="http://schemas.microsoft.com/office/powerpoint/2010/main" val="69273145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nchor="ctr">
            <a:normAutofit/>
          </a:bodyPr>
          <a:lstStyle/>
          <a:p>
            <a:pPr algn="l"/>
            <a:r>
              <a:rPr lang="en-US" dirty="0">
                <a:latin typeface="Times New Roman"/>
                <a:cs typeface="Times New Roman"/>
              </a:rPr>
              <a:t>Introduction</a:t>
            </a:r>
            <a:endParaRPr lang="zh-TW" altLang="en-US" dirty="0">
              <a:latin typeface="Times New Roman"/>
              <a:cs typeface="Times New Roman"/>
            </a:endParaRPr>
          </a:p>
        </p:txBody>
      </p:sp>
      <p:sp>
        <p:nvSpPr>
          <p:cNvPr id="3" name="內容版面配置區 2"/>
          <p:cNvSpPr>
            <a:spLocks noGrp="1"/>
          </p:cNvSpPr>
          <p:nvPr>
            <p:ph sz="half" idx="1"/>
          </p:nvPr>
        </p:nvSpPr>
        <p:spPr>
          <a:xfrm>
            <a:off x="457200" y="1600200"/>
            <a:ext cx="4038600" cy="4525963"/>
          </a:xfrm>
        </p:spPr>
        <p:txBody>
          <a:bodyPr vert="horz" lIns="91440" tIns="45720" rIns="91440" bIns="45720" rtlCol="0" anchor="t">
            <a:normAutofit/>
          </a:bodyPr>
          <a:lstStyle/>
          <a:p>
            <a:r>
              <a:rPr lang="en-US" altLang="zh-TW">
                <a:latin typeface="Times New Roman"/>
                <a:ea typeface="新細明體"/>
                <a:cs typeface="Times New Roman"/>
              </a:rPr>
              <a:t>Bidding stage</a:t>
            </a:r>
            <a:br>
              <a:rPr lang="en-US" altLang="zh-TW" dirty="0">
                <a:latin typeface="Times New Roman"/>
              </a:rPr>
            </a:br>
            <a:r>
              <a:rPr lang="en-US" altLang="zh-TW">
                <a:latin typeface="Times New Roman"/>
                <a:ea typeface="新細明體"/>
                <a:cs typeface="Times New Roman"/>
              </a:rPr>
              <a:t>Find the most profitable </a:t>
            </a:r>
            <a:r>
              <a:rPr lang="en-US" altLang="zh-TW" dirty="0">
                <a:latin typeface="Times New Roman"/>
                <a:ea typeface="新細明體"/>
                <a:cs typeface="Times New Roman"/>
              </a:rPr>
              <a:t>contract </a:t>
            </a:r>
            <a:r>
              <a:rPr lang="en-US" altLang="zh-TW">
                <a:latin typeface="Times New Roman"/>
                <a:ea typeface="新細明體"/>
                <a:cs typeface="Times New Roman"/>
              </a:rPr>
              <a:t>for the playing stage</a:t>
            </a:r>
            <a:endParaRPr lang="en-US" altLang="zh-TW" dirty="0">
              <a:latin typeface="Times New Roman"/>
              <a:ea typeface="新細明體"/>
              <a:cs typeface="Times New Roman"/>
            </a:endParaRPr>
          </a:p>
          <a:p>
            <a:r>
              <a:rPr lang="en-US" altLang="zh-TW">
                <a:latin typeface="Times New Roman"/>
                <a:ea typeface="新細明體"/>
                <a:cs typeface="Times New Roman"/>
              </a:rPr>
              <a:t>Playing stage</a:t>
            </a:r>
            <a:br>
              <a:rPr lang="en-US" altLang="zh-TW" dirty="0">
                <a:latin typeface="Times New Roman"/>
              </a:rPr>
            </a:br>
            <a:r>
              <a:rPr lang="en-US" altLang="zh-TW" dirty="0">
                <a:latin typeface="Times New Roman"/>
                <a:ea typeface="新細明體"/>
                <a:cs typeface="Times New Roman"/>
              </a:rPr>
              <a:t>13 rounds of </a:t>
            </a:r>
            <a:r>
              <a:rPr lang="en-US" altLang="zh-TW">
                <a:latin typeface="Times New Roman"/>
                <a:ea typeface="新細明體"/>
                <a:cs typeface="Times New Roman"/>
              </a:rPr>
              <a:t>a card-strength competition</a:t>
            </a:r>
            <a:endParaRPr lang="en-US" altLang="zh-TW" dirty="0">
              <a:latin typeface="Times New Roman"/>
              <a:ea typeface="新細明體"/>
              <a:cs typeface="Times New Roman"/>
            </a:endParaRPr>
          </a:p>
        </p:txBody>
      </p:sp>
      <p:pic>
        <p:nvPicPr>
          <p:cNvPr id="4" name="Picture 4">
            <a:extLst>
              <a:ext uri="{FF2B5EF4-FFF2-40B4-BE49-F238E27FC236}">
                <a16:creationId xmlns:a16="http://schemas.microsoft.com/office/drawing/2014/main" id="{10CA24D7-37B0-4AD3-AD31-66F21D408E09}"/>
              </a:ext>
            </a:extLst>
          </p:cNvPr>
          <p:cNvPicPr>
            <a:picLocks noChangeAspect="1"/>
          </p:cNvPicPr>
          <p:nvPr/>
        </p:nvPicPr>
        <p:blipFill>
          <a:blip r:embed="rId3"/>
          <a:stretch>
            <a:fillRect/>
          </a:stretch>
        </p:blipFill>
        <p:spPr>
          <a:xfrm>
            <a:off x="4612895" y="1571995"/>
            <a:ext cx="4947704" cy="3708571"/>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D5194-3DE2-48E0-9A75-9A77ECFE98A3}"/>
              </a:ext>
            </a:extLst>
          </p:cNvPr>
          <p:cNvSpPr>
            <a:spLocks noGrp="1"/>
          </p:cNvSpPr>
          <p:nvPr>
            <p:ph type="title"/>
          </p:nvPr>
        </p:nvSpPr>
        <p:spPr/>
        <p:txBody>
          <a:bodyPr>
            <a:normAutofit/>
          </a:bodyPr>
          <a:lstStyle/>
          <a:p>
            <a:pPr algn="l"/>
            <a:r>
              <a:rPr lang="en-US" sz="3600" dirty="0">
                <a:latin typeface="Times New Roman" panose="02020603050405020304" pitchFamily="18" charset="0"/>
                <a:cs typeface="Times New Roman" panose="02020603050405020304" pitchFamily="18" charset="0"/>
              </a:rPr>
              <a:t>Double Dummy Bridge Problem(DDBP)</a:t>
            </a:r>
          </a:p>
        </p:txBody>
      </p:sp>
      <p:pic>
        <p:nvPicPr>
          <p:cNvPr id="5" name="內容版面配置區 4">
            <a:extLst>
              <a:ext uri="{FF2B5EF4-FFF2-40B4-BE49-F238E27FC236}">
                <a16:creationId xmlns:a16="http://schemas.microsoft.com/office/drawing/2014/main" id="{CA5D26AE-2421-46D9-99A2-978A0A9C4E30}"/>
              </a:ext>
            </a:extLst>
          </p:cNvPr>
          <p:cNvPicPr>
            <a:picLocks noGrp="1" noChangeAspect="1"/>
          </p:cNvPicPr>
          <p:nvPr>
            <p:ph sz="half" idx="1"/>
          </p:nvPr>
        </p:nvPicPr>
        <p:blipFill>
          <a:blip r:embed="rId2"/>
          <a:stretch>
            <a:fillRect/>
          </a:stretch>
        </p:blipFill>
        <p:spPr>
          <a:xfrm>
            <a:off x="2182019" y="2229644"/>
            <a:ext cx="4781550" cy="3267075"/>
          </a:xfrm>
        </p:spPr>
      </p:pic>
    </p:spTree>
    <p:extLst>
      <p:ext uri="{BB962C8B-B14F-4D97-AF65-F5344CB8AC3E}">
        <p14:creationId xmlns:p14="http://schemas.microsoft.com/office/powerpoint/2010/main" val="418115850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882294-9F48-463F-9FA9-9949615C8BDF}"/>
              </a:ext>
            </a:extLst>
          </p:cNvPr>
          <p:cNvSpPr>
            <a:spLocks noGrp="1"/>
          </p:cNvSpPr>
          <p:nvPr>
            <p:ph type="title"/>
          </p:nvPr>
        </p:nvSpPr>
        <p:spPr/>
        <p:txBody>
          <a:bodyPr>
            <a:normAutofit/>
          </a:bodyPr>
          <a:lstStyle/>
          <a:p>
            <a:pPr algn="l"/>
            <a:r>
              <a:rPr lang="en-US" altLang="zh-TW" sz="3600" dirty="0"/>
              <a:t>Incomplete State Solver Network(ISSN)</a:t>
            </a:r>
            <a:endParaRPr lang="zh-TW" altLang="en-US" sz="3600" dirty="0"/>
          </a:p>
        </p:txBody>
      </p:sp>
      <p:pic>
        <p:nvPicPr>
          <p:cNvPr id="8" name="圖片 7">
            <a:extLst>
              <a:ext uri="{FF2B5EF4-FFF2-40B4-BE49-F238E27FC236}">
                <a16:creationId xmlns:a16="http://schemas.microsoft.com/office/drawing/2014/main" id="{6A26EF77-C2D1-498B-9FED-251BF0FEFBED}"/>
              </a:ext>
            </a:extLst>
          </p:cNvPr>
          <p:cNvPicPr>
            <a:picLocks noChangeAspect="1"/>
          </p:cNvPicPr>
          <p:nvPr/>
        </p:nvPicPr>
        <p:blipFill>
          <a:blip r:embed="rId2"/>
          <a:stretch>
            <a:fillRect/>
          </a:stretch>
        </p:blipFill>
        <p:spPr>
          <a:xfrm>
            <a:off x="0" y="1700808"/>
            <a:ext cx="9144000" cy="3969795"/>
          </a:xfrm>
          <a:prstGeom prst="rect">
            <a:avLst/>
          </a:prstGeom>
        </p:spPr>
      </p:pic>
    </p:spTree>
    <p:extLst>
      <p:ext uri="{BB962C8B-B14F-4D97-AF65-F5344CB8AC3E}">
        <p14:creationId xmlns:p14="http://schemas.microsoft.com/office/powerpoint/2010/main" val="384154160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882294-9F48-463F-9FA9-9949615C8BDF}"/>
              </a:ext>
            </a:extLst>
          </p:cNvPr>
          <p:cNvSpPr>
            <a:spLocks noGrp="1"/>
          </p:cNvSpPr>
          <p:nvPr>
            <p:ph type="title"/>
          </p:nvPr>
        </p:nvSpPr>
        <p:spPr/>
        <p:txBody>
          <a:bodyPr>
            <a:normAutofit/>
          </a:bodyPr>
          <a:lstStyle/>
          <a:p>
            <a:pPr algn="l"/>
            <a:r>
              <a:rPr lang="en-US" altLang="zh-TW" sz="3600" dirty="0"/>
              <a:t>Incomplete State Solver Network(ISSN)</a:t>
            </a:r>
            <a:endParaRPr lang="zh-TW" altLang="en-US" sz="3600" dirty="0"/>
          </a:p>
        </p:txBody>
      </p:sp>
      <p:pic>
        <p:nvPicPr>
          <p:cNvPr id="4" name="圖片 3">
            <a:extLst>
              <a:ext uri="{FF2B5EF4-FFF2-40B4-BE49-F238E27FC236}">
                <a16:creationId xmlns:a16="http://schemas.microsoft.com/office/drawing/2014/main" id="{A77EABBA-4C62-4BA0-8FBF-162FC74F6B8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529" y="1268760"/>
            <a:ext cx="9118941" cy="5214724"/>
          </a:xfrm>
          <a:prstGeom prst="rect">
            <a:avLst/>
          </a:prstGeom>
        </p:spPr>
      </p:pic>
    </p:spTree>
    <p:extLst>
      <p:ext uri="{BB962C8B-B14F-4D97-AF65-F5344CB8AC3E}">
        <p14:creationId xmlns:p14="http://schemas.microsoft.com/office/powerpoint/2010/main" val="39025252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882294-9F48-463F-9FA9-9949615C8BDF}"/>
              </a:ext>
            </a:extLst>
          </p:cNvPr>
          <p:cNvSpPr>
            <a:spLocks noGrp="1"/>
          </p:cNvSpPr>
          <p:nvPr>
            <p:ph type="title"/>
          </p:nvPr>
        </p:nvSpPr>
        <p:spPr/>
        <p:txBody>
          <a:bodyPr>
            <a:normAutofit/>
          </a:bodyPr>
          <a:lstStyle/>
          <a:p>
            <a:pPr algn="l"/>
            <a:r>
              <a:rPr lang="en-US" altLang="zh-TW" sz="3600" dirty="0"/>
              <a:t>Incomplete State Solver Network(ISSN)</a:t>
            </a:r>
            <a:endParaRPr lang="zh-TW" altLang="en-US" sz="3600" dirty="0"/>
          </a:p>
        </p:txBody>
      </p:sp>
      <p:pic>
        <p:nvPicPr>
          <p:cNvPr id="4" name="圖片 3">
            <a:extLst>
              <a:ext uri="{FF2B5EF4-FFF2-40B4-BE49-F238E27FC236}">
                <a16:creationId xmlns:a16="http://schemas.microsoft.com/office/drawing/2014/main" id="{A77EABBA-4C62-4BA0-8FBF-162FC74F6B8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388" y="1268760"/>
            <a:ext cx="9121224" cy="5214724"/>
          </a:xfrm>
          <a:prstGeom prst="rect">
            <a:avLst/>
          </a:prstGeom>
        </p:spPr>
      </p:pic>
    </p:spTree>
    <p:extLst>
      <p:ext uri="{BB962C8B-B14F-4D97-AF65-F5344CB8AC3E}">
        <p14:creationId xmlns:p14="http://schemas.microsoft.com/office/powerpoint/2010/main" val="311791294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882294-9F48-463F-9FA9-9949615C8BDF}"/>
              </a:ext>
            </a:extLst>
          </p:cNvPr>
          <p:cNvSpPr>
            <a:spLocks noGrp="1"/>
          </p:cNvSpPr>
          <p:nvPr>
            <p:ph type="title"/>
          </p:nvPr>
        </p:nvSpPr>
        <p:spPr/>
        <p:txBody>
          <a:bodyPr>
            <a:normAutofit/>
          </a:bodyPr>
          <a:lstStyle/>
          <a:p>
            <a:pPr algn="l"/>
            <a:r>
              <a:rPr lang="en-US" altLang="zh-TW" sz="3600" dirty="0"/>
              <a:t>Incomplete State Solver Network(ISSN)</a:t>
            </a:r>
            <a:endParaRPr lang="zh-TW" altLang="en-US" sz="3600" dirty="0"/>
          </a:p>
        </p:txBody>
      </p:sp>
      <p:pic>
        <p:nvPicPr>
          <p:cNvPr id="4" name="圖片 3">
            <a:extLst>
              <a:ext uri="{FF2B5EF4-FFF2-40B4-BE49-F238E27FC236}">
                <a16:creationId xmlns:a16="http://schemas.microsoft.com/office/drawing/2014/main" id="{A77EABBA-4C62-4BA0-8FBF-162FC74F6B86}"/>
              </a:ext>
            </a:extLst>
          </p:cNvPr>
          <p:cNvPicPr>
            <a:picLocks noChangeAspect="1"/>
          </p:cNvPicPr>
          <p:nvPr/>
        </p:nvPicPr>
        <p:blipFill>
          <a:blip r:embed="rId2"/>
          <a:stretch>
            <a:fillRect/>
          </a:stretch>
        </p:blipFill>
        <p:spPr>
          <a:xfrm>
            <a:off x="0" y="1268760"/>
            <a:ext cx="9144000" cy="5214724"/>
          </a:xfrm>
          <a:prstGeom prst="rect">
            <a:avLst/>
          </a:prstGeom>
        </p:spPr>
      </p:pic>
    </p:spTree>
    <p:extLst>
      <p:ext uri="{BB962C8B-B14F-4D97-AF65-F5344CB8AC3E}">
        <p14:creationId xmlns:p14="http://schemas.microsoft.com/office/powerpoint/2010/main" val="270817453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882294-9F48-463F-9FA9-9949615C8BDF}"/>
              </a:ext>
            </a:extLst>
          </p:cNvPr>
          <p:cNvSpPr>
            <a:spLocks noGrp="1"/>
          </p:cNvSpPr>
          <p:nvPr>
            <p:ph type="title"/>
          </p:nvPr>
        </p:nvSpPr>
        <p:spPr/>
        <p:txBody>
          <a:bodyPr>
            <a:normAutofit/>
          </a:bodyPr>
          <a:lstStyle/>
          <a:p>
            <a:pPr algn="l"/>
            <a:r>
              <a:rPr lang="en-US" altLang="zh-TW" sz="3600" dirty="0"/>
              <a:t>Incomplete State Solver Network(ISSN)</a:t>
            </a:r>
            <a:endParaRPr lang="zh-TW" altLang="en-US" sz="3600" dirty="0"/>
          </a:p>
        </p:txBody>
      </p:sp>
      <p:pic>
        <p:nvPicPr>
          <p:cNvPr id="8" name="圖片 7">
            <a:extLst>
              <a:ext uri="{FF2B5EF4-FFF2-40B4-BE49-F238E27FC236}">
                <a16:creationId xmlns:a16="http://schemas.microsoft.com/office/drawing/2014/main" id="{6A26EF77-C2D1-498B-9FED-251BF0FEFBED}"/>
              </a:ext>
            </a:extLst>
          </p:cNvPr>
          <p:cNvPicPr>
            <a:picLocks noChangeAspect="1"/>
          </p:cNvPicPr>
          <p:nvPr/>
        </p:nvPicPr>
        <p:blipFill>
          <a:blip r:embed="rId2"/>
          <a:stretch>
            <a:fillRect/>
          </a:stretch>
        </p:blipFill>
        <p:spPr>
          <a:xfrm>
            <a:off x="0" y="1700808"/>
            <a:ext cx="9144000" cy="3969795"/>
          </a:xfrm>
          <a:prstGeom prst="rect">
            <a:avLst/>
          </a:prstGeom>
        </p:spPr>
      </p:pic>
    </p:spTree>
    <p:extLst>
      <p:ext uri="{BB962C8B-B14F-4D97-AF65-F5344CB8AC3E}">
        <p14:creationId xmlns:p14="http://schemas.microsoft.com/office/powerpoint/2010/main" val="391961871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Network</a:t>
            </a:r>
            <a:endParaRPr lang="zh-TW" altLang="en-US" dirty="0"/>
          </a:p>
        </p:txBody>
      </p:sp>
      <p:sp>
        <p:nvSpPr>
          <p:cNvPr id="6" name="內容版面配置區 5">
            <a:extLst>
              <a:ext uri="{FF2B5EF4-FFF2-40B4-BE49-F238E27FC236}">
                <a16:creationId xmlns:a16="http://schemas.microsoft.com/office/drawing/2014/main" id="{ACC78472-ECE3-432D-AF47-1C65DF8CE031}"/>
              </a:ext>
            </a:extLst>
          </p:cNvPr>
          <p:cNvSpPr>
            <a:spLocks noGrp="1"/>
          </p:cNvSpPr>
          <p:nvPr>
            <p:ph sz="half" idx="1"/>
          </p:nvPr>
        </p:nvSpPr>
        <p:spPr>
          <a:xfrm>
            <a:off x="457200" y="1417638"/>
            <a:ext cx="8229600" cy="4525963"/>
          </a:xfrm>
        </p:spPr>
        <p:txBody>
          <a:bodyPr/>
          <a:lstStyle/>
          <a:p>
            <a:r>
              <a:rPr lang="en-US" altLang="zh-TW" dirty="0">
                <a:latin typeface="+mj-lt"/>
                <a:cs typeface="Times New Roman" panose="02020603050405020304" pitchFamily="18" charset="0"/>
              </a:rPr>
              <a:t>Input:</a:t>
            </a:r>
          </a:p>
          <a:p>
            <a:r>
              <a:rPr lang="en-US" altLang="zh-TW" dirty="0">
                <a:latin typeface="+mj-lt"/>
                <a:cs typeface="Times New Roman" panose="02020603050405020304" pitchFamily="18" charset="0"/>
              </a:rPr>
              <a:t>Hidden layers: 8*100, a skipped connection is </a:t>
            </a:r>
            <a:r>
              <a:rPr lang="en-US" altLang="zh-TW" dirty="0" err="1">
                <a:latin typeface="+mj-lt"/>
                <a:cs typeface="Times New Roman" panose="02020603050405020304" pitchFamily="18" charset="0"/>
              </a:rPr>
              <a:t>addes</a:t>
            </a:r>
            <a:r>
              <a:rPr lang="en-US" altLang="zh-TW" dirty="0">
                <a:latin typeface="+mj-lt"/>
                <a:cs typeface="Times New Roman" panose="02020603050405020304" pitchFamily="18" charset="0"/>
              </a:rPr>
              <a:t> every 2 layers</a:t>
            </a:r>
          </a:p>
          <a:p>
            <a:r>
              <a:rPr lang="en-US" altLang="zh-TW" dirty="0">
                <a:latin typeface="+mj-lt"/>
                <a:cs typeface="Times New Roman" panose="02020603050405020304" pitchFamily="18" charset="0"/>
              </a:rPr>
              <a:t>Output: 52 possibilities</a:t>
            </a:r>
            <a:endParaRPr lang="zh-TW" altLang="en-US" dirty="0">
              <a:latin typeface="+mj-lt"/>
              <a:cs typeface="Times New Roman" panose="02020603050405020304" pitchFamily="18" charset="0"/>
            </a:endParaRPr>
          </a:p>
        </p:txBody>
      </p:sp>
      <p:pic>
        <p:nvPicPr>
          <p:cNvPr id="4" name="圖片 3">
            <a:extLst>
              <a:ext uri="{FF2B5EF4-FFF2-40B4-BE49-F238E27FC236}">
                <a16:creationId xmlns:a16="http://schemas.microsoft.com/office/drawing/2014/main" id="{CA14830F-3F72-4EFB-A65D-B6301529F188}"/>
              </a:ext>
            </a:extLst>
          </p:cNvPr>
          <p:cNvPicPr>
            <a:picLocks noChangeAspect="1"/>
          </p:cNvPicPr>
          <p:nvPr/>
        </p:nvPicPr>
        <p:blipFill rotWithShape="1">
          <a:blip r:embed="rId2"/>
          <a:srcRect l="1156"/>
          <a:stretch/>
        </p:blipFill>
        <p:spPr>
          <a:xfrm>
            <a:off x="1907704" y="1052736"/>
            <a:ext cx="6157342" cy="971550"/>
          </a:xfrm>
          <a:prstGeom prst="rect">
            <a:avLst/>
          </a:prstGeom>
        </p:spPr>
      </p:pic>
      <p:pic>
        <p:nvPicPr>
          <p:cNvPr id="7" name="圖片 6">
            <a:extLst>
              <a:ext uri="{FF2B5EF4-FFF2-40B4-BE49-F238E27FC236}">
                <a16:creationId xmlns:a16="http://schemas.microsoft.com/office/drawing/2014/main" id="{50DD962A-C95F-44C0-9CF8-55D1ED5B4773}"/>
              </a:ext>
            </a:extLst>
          </p:cNvPr>
          <p:cNvPicPr>
            <a:picLocks noChangeAspect="1"/>
          </p:cNvPicPr>
          <p:nvPr/>
        </p:nvPicPr>
        <p:blipFill>
          <a:blip r:embed="rId3"/>
          <a:stretch>
            <a:fillRect/>
          </a:stretch>
        </p:blipFill>
        <p:spPr>
          <a:xfrm>
            <a:off x="719137" y="3861048"/>
            <a:ext cx="7705725" cy="1438275"/>
          </a:xfrm>
          <a:prstGeom prst="rect">
            <a:avLst/>
          </a:prstGeom>
        </p:spPr>
      </p:pic>
    </p:spTree>
    <p:extLst>
      <p:ext uri="{BB962C8B-B14F-4D97-AF65-F5344CB8AC3E}">
        <p14:creationId xmlns:p14="http://schemas.microsoft.com/office/powerpoint/2010/main" val="1487085440"/>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Network</a:t>
            </a:r>
            <a:endParaRPr lang="zh-TW" altLang="en-US" dirty="0"/>
          </a:p>
        </p:txBody>
      </p:sp>
      <p:pic>
        <p:nvPicPr>
          <p:cNvPr id="7" name="圖片 6">
            <a:extLst>
              <a:ext uri="{FF2B5EF4-FFF2-40B4-BE49-F238E27FC236}">
                <a16:creationId xmlns:a16="http://schemas.microsoft.com/office/drawing/2014/main" id="{50DD962A-C95F-44C0-9CF8-55D1ED5B4773}"/>
              </a:ext>
            </a:extLst>
          </p:cNvPr>
          <p:cNvPicPr>
            <a:picLocks noChangeAspect="1"/>
          </p:cNvPicPr>
          <p:nvPr/>
        </p:nvPicPr>
        <p:blipFill rotWithShape="1">
          <a:blip r:embed="rId2"/>
          <a:srcRect l="33775" t="29718" r="62761" b="50255"/>
          <a:stretch/>
        </p:blipFill>
        <p:spPr>
          <a:xfrm>
            <a:off x="3468760" y="3573016"/>
            <a:ext cx="266910" cy="288031"/>
          </a:xfrm>
          <a:prstGeom prst="rect">
            <a:avLst/>
          </a:prstGeom>
        </p:spPr>
      </p:pic>
      <p:sp>
        <p:nvSpPr>
          <p:cNvPr id="3" name="矩形 2">
            <a:extLst>
              <a:ext uri="{FF2B5EF4-FFF2-40B4-BE49-F238E27FC236}">
                <a16:creationId xmlns:a16="http://schemas.microsoft.com/office/drawing/2014/main" id="{3DDAB919-88EC-45B4-BEB5-DA42D3FCEDF7}"/>
              </a:ext>
            </a:extLst>
          </p:cNvPr>
          <p:cNvSpPr/>
          <p:nvPr/>
        </p:nvSpPr>
        <p:spPr>
          <a:xfrm>
            <a:off x="488667" y="1417638"/>
            <a:ext cx="576064" cy="46036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432</a:t>
            </a:r>
            <a:endParaRPr lang="zh-TW" altLang="en-US" dirty="0"/>
          </a:p>
        </p:txBody>
      </p:sp>
      <p:sp>
        <p:nvSpPr>
          <p:cNvPr id="8" name="矩形 7">
            <a:extLst>
              <a:ext uri="{FF2B5EF4-FFF2-40B4-BE49-F238E27FC236}">
                <a16:creationId xmlns:a16="http://schemas.microsoft.com/office/drawing/2014/main" id="{FDE7D1CE-F1B8-4AB6-87BA-0AB40BF1C152}"/>
              </a:ext>
            </a:extLst>
          </p:cNvPr>
          <p:cNvSpPr/>
          <p:nvPr/>
        </p:nvSpPr>
        <p:spPr>
          <a:xfrm>
            <a:off x="1619672" y="2276872"/>
            <a:ext cx="576064" cy="2880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100</a:t>
            </a:r>
            <a:endParaRPr lang="zh-TW" altLang="en-US" dirty="0"/>
          </a:p>
        </p:txBody>
      </p:sp>
      <p:sp>
        <p:nvSpPr>
          <p:cNvPr id="9" name="矩形 8">
            <a:extLst>
              <a:ext uri="{FF2B5EF4-FFF2-40B4-BE49-F238E27FC236}">
                <a16:creationId xmlns:a16="http://schemas.microsoft.com/office/drawing/2014/main" id="{260698E8-C075-4126-A5F5-AB527C061FAC}"/>
              </a:ext>
            </a:extLst>
          </p:cNvPr>
          <p:cNvSpPr/>
          <p:nvPr/>
        </p:nvSpPr>
        <p:spPr>
          <a:xfrm>
            <a:off x="2750677" y="2276872"/>
            <a:ext cx="576064" cy="2880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100</a:t>
            </a:r>
            <a:endParaRPr lang="zh-TW" altLang="en-US" dirty="0"/>
          </a:p>
        </p:txBody>
      </p:sp>
      <p:sp>
        <p:nvSpPr>
          <p:cNvPr id="10" name="矩形 9">
            <a:extLst>
              <a:ext uri="{FF2B5EF4-FFF2-40B4-BE49-F238E27FC236}">
                <a16:creationId xmlns:a16="http://schemas.microsoft.com/office/drawing/2014/main" id="{AB10FD76-EB8A-483E-953B-081DC98623A5}"/>
              </a:ext>
            </a:extLst>
          </p:cNvPr>
          <p:cNvSpPr/>
          <p:nvPr/>
        </p:nvSpPr>
        <p:spPr>
          <a:xfrm>
            <a:off x="3881682" y="2276872"/>
            <a:ext cx="576064" cy="2880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100</a:t>
            </a:r>
            <a:endParaRPr lang="zh-TW" altLang="en-US" dirty="0"/>
          </a:p>
        </p:txBody>
      </p:sp>
      <p:sp>
        <p:nvSpPr>
          <p:cNvPr id="11" name="矩形 10">
            <a:extLst>
              <a:ext uri="{FF2B5EF4-FFF2-40B4-BE49-F238E27FC236}">
                <a16:creationId xmlns:a16="http://schemas.microsoft.com/office/drawing/2014/main" id="{BDAE13AD-F5CD-4C2B-925F-B094DE2E196B}"/>
              </a:ext>
            </a:extLst>
          </p:cNvPr>
          <p:cNvSpPr/>
          <p:nvPr/>
        </p:nvSpPr>
        <p:spPr>
          <a:xfrm>
            <a:off x="5012687" y="2276872"/>
            <a:ext cx="576064" cy="28803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100</a:t>
            </a:r>
            <a:endParaRPr lang="zh-TW" altLang="en-US" dirty="0"/>
          </a:p>
        </p:txBody>
      </p:sp>
      <p:sp>
        <p:nvSpPr>
          <p:cNvPr id="16" name="矩形 15">
            <a:extLst>
              <a:ext uri="{FF2B5EF4-FFF2-40B4-BE49-F238E27FC236}">
                <a16:creationId xmlns:a16="http://schemas.microsoft.com/office/drawing/2014/main" id="{24E54395-92A6-43EB-91C0-4B2D0EF854DA}"/>
              </a:ext>
            </a:extLst>
          </p:cNvPr>
          <p:cNvSpPr/>
          <p:nvPr/>
        </p:nvSpPr>
        <p:spPr>
          <a:xfrm>
            <a:off x="6852228" y="3429000"/>
            <a:ext cx="672100"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mask</a:t>
            </a:r>
            <a:endParaRPr lang="zh-TW" altLang="en-US" dirty="0"/>
          </a:p>
        </p:txBody>
      </p:sp>
      <p:sp>
        <p:nvSpPr>
          <p:cNvPr id="17" name="矩形 16">
            <a:extLst>
              <a:ext uri="{FF2B5EF4-FFF2-40B4-BE49-F238E27FC236}">
                <a16:creationId xmlns:a16="http://schemas.microsoft.com/office/drawing/2014/main" id="{0F14B92A-59AA-4BCB-98FD-5B95B36F77FD}"/>
              </a:ext>
            </a:extLst>
          </p:cNvPr>
          <p:cNvSpPr/>
          <p:nvPr/>
        </p:nvSpPr>
        <p:spPr>
          <a:xfrm>
            <a:off x="7874893" y="3429000"/>
            <a:ext cx="672100" cy="576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52</a:t>
            </a:r>
            <a:endParaRPr lang="zh-TW" altLang="en-US" dirty="0"/>
          </a:p>
        </p:txBody>
      </p:sp>
      <p:cxnSp>
        <p:nvCxnSpPr>
          <p:cNvPr id="18" name="直線單箭頭接點 17">
            <a:extLst>
              <a:ext uri="{FF2B5EF4-FFF2-40B4-BE49-F238E27FC236}">
                <a16:creationId xmlns:a16="http://schemas.microsoft.com/office/drawing/2014/main" id="{2D2AEF2F-6E22-40EA-8BAE-12DA1C5DC0A2}"/>
              </a:ext>
            </a:extLst>
          </p:cNvPr>
          <p:cNvCxnSpPr>
            <a:cxnSpLocks/>
            <a:stCxn id="3" idx="3"/>
            <a:endCxn id="8" idx="1"/>
          </p:cNvCxnSpPr>
          <p:nvPr/>
        </p:nvCxnSpPr>
        <p:spPr>
          <a:xfrm flipV="1">
            <a:off x="1064731" y="3717032"/>
            <a:ext cx="554941" cy="24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a:extLst>
              <a:ext uri="{FF2B5EF4-FFF2-40B4-BE49-F238E27FC236}">
                <a16:creationId xmlns:a16="http://schemas.microsoft.com/office/drawing/2014/main" id="{6D5CF0B4-B326-485A-8F72-9D3E7B1207C4}"/>
              </a:ext>
            </a:extLst>
          </p:cNvPr>
          <p:cNvCxnSpPr>
            <a:stCxn id="8" idx="3"/>
            <a:endCxn id="9" idx="1"/>
          </p:cNvCxnSpPr>
          <p:nvPr/>
        </p:nvCxnSpPr>
        <p:spPr>
          <a:xfrm>
            <a:off x="2195736" y="3717032"/>
            <a:ext cx="5549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a:extLst>
              <a:ext uri="{FF2B5EF4-FFF2-40B4-BE49-F238E27FC236}">
                <a16:creationId xmlns:a16="http://schemas.microsoft.com/office/drawing/2014/main" id="{15D257D9-3B20-4E2B-8CC8-EDC5E82A0CEC}"/>
              </a:ext>
            </a:extLst>
          </p:cNvPr>
          <p:cNvCxnSpPr>
            <a:cxnSpLocks/>
            <a:stCxn id="9" idx="3"/>
          </p:cNvCxnSpPr>
          <p:nvPr/>
        </p:nvCxnSpPr>
        <p:spPr>
          <a:xfrm flipV="1">
            <a:off x="3326741" y="3717031"/>
            <a:ext cx="14201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單箭頭接點 23">
            <a:extLst>
              <a:ext uri="{FF2B5EF4-FFF2-40B4-BE49-F238E27FC236}">
                <a16:creationId xmlns:a16="http://schemas.microsoft.com/office/drawing/2014/main" id="{917780DF-13F3-469A-89ED-55C9A9EBF794}"/>
              </a:ext>
            </a:extLst>
          </p:cNvPr>
          <p:cNvCxnSpPr>
            <a:stCxn id="10" idx="3"/>
            <a:endCxn id="11" idx="1"/>
          </p:cNvCxnSpPr>
          <p:nvPr/>
        </p:nvCxnSpPr>
        <p:spPr>
          <a:xfrm>
            <a:off x="4457746" y="3717032"/>
            <a:ext cx="5549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直線接點 27">
            <a:extLst>
              <a:ext uri="{FF2B5EF4-FFF2-40B4-BE49-F238E27FC236}">
                <a16:creationId xmlns:a16="http://schemas.microsoft.com/office/drawing/2014/main" id="{214C54A1-9F9A-4C68-85A8-DB5475C5CF25}"/>
              </a:ext>
            </a:extLst>
          </p:cNvPr>
          <p:cNvCxnSpPr/>
          <p:nvPr/>
        </p:nvCxnSpPr>
        <p:spPr>
          <a:xfrm flipV="1">
            <a:off x="1342201" y="2132856"/>
            <a:ext cx="0" cy="158417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接點: 肘形 29">
            <a:extLst>
              <a:ext uri="{FF2B5EF4-FFF2-40B4-BE49-F238E27FC236}">
                <a16:creationId xmlns:a16="http://schemas.microsoft.com/office/drawing/2014/main" id="{3086C0EF-B28E-489F-AB93-9C6930F171AC}"/>
              </a:ext>
            </a:extLst>
          </p:cNvPr>
          <p:cNvCxnSpPr>
            <a:cxnSpLocks/>
            <a:endCxn id="7" idx="0"/>
          </p:cNvCxnSpPr>
          <p:nvPr/>
        </p:nvCxnSpPr>
        <p:spPr>
          <a:xfrm>
            <a:off x="1342201" y="2132856"/>
            <a:ext cx="2260014" cy="144016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a:extLst>
              <a:ext uri="{FF2B5EF4-FFF2-40B4-BE49-F238E27FC236}">
                <a16:creationId xmlns:a16="http://schemas.microsoft.com/office/drawing/2014/main" id="{73770DEF-01A4-485C-86A0-B9A9E307498D}"/>
              </a:ext>
            </a:extLst>
          </p:cNvPr>
          <p:cNvCxnSpPr>
            <a:stCxn id="7" idx="3"/>
            <a:endCxn id="10" idx="1"/>
          </p:cNvCxnSpPr>
          <p:nvPr/>
        </p:nvCxnSpPr>
        <p:spPr>
          <a:xfrm>
            <a:off x="3735670" y="3717032"/>
            <a:ext cx="1460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1" name="圖片 40">
            <a:extLst>
              <a:ext uri="{FF2B5EF4-FFF2-40B4-BE49-F238E27FC236}">
                <a16:creationId xmlns:a16="http://schemas.microsoft.com/office/drawing/2014/main" id="{539086B5-5E89-417A-9812-5A74BA630F8E}"/>
              </a:ext>
            </a:extLst>
          </p:cNvPr>
          <p:cNvPicPr>
            <a:picLocks noChangeAspect="1"/>
          </p:cNvPicPr>
          <p:nvPr/>
        </p:nvPicPr>
        <p:blipFill rotWithShape="1">
          <a:blip r:embed="rId2"/>
          <a:srcRect l="33775" t="29718" r="62761" b="50255"/>
          <a:stretch/>
        </p:blipFill>
        <p:spPr>
          <a:xfrm>
            <a:off x="5788295" y="3573015"/>
            <a:ext cx="266910" cy="288031"/>
          </a:xfrm>
          <a:prstGeom prst="rect">
            <a:avLst/>
          </a:prstGeom>
        </p:spPr>
      </p:pic>
      <p:cxnSp>
        <p:nvCxnSpPr>
          <p:cNvPr id="43" name="直線單箭頭接點 42">
            <a:extLst>
              <a:ext uri="{FF2B5EF4-FFF2-40B4-BE49-F238E27FC236}">
                <a16:creationId xmlns:a16="http://schemas.microsoft.com/office/drawing/2014/main" id="{5F109444-894B-495B-AE3C-13A56DA014F1}"/>
              </a:ext>
            </a:extLst>
          </p:cNvPr>
          <p:cNvCxnSpPr>
            <a:stCxn id="11" idx="3"/>
            <a:endCxn id="41" idx="1"/>
          </p:cNvCxnSpPr>
          <p:nvPr/>
        </p:nvCxnSpPr>
        <p:spPr>
          <a:xfrm flipV="1">
            <a:off x="5588751" y="3717031"/>
            <a:ext cx="19954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CDBAE917-F9B5-4F89-A9A6-DA123C84980F}"/>
              </a:ext>
            </a:extLst>
          </p:cNvPr>
          <p:cNvCxnSpPr/>
          <p:nvPr/>
        </p:nvCxnSpPr>
        <p:spPr>
          <a:xfrm flipV="1">
            <a:off x="3735670" y="2132856"/>
            <a:ext cx="0" cy="1584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接點: 肘形 46">
            <a:extLst>
              <a:ext uri="{FF2B5EF4-FFF2-40B4-BE49-F238E27FC236}">
                <a16:creationId xmlns:a16="http://schemas.microsoft.com/office/drawing/2014/main" id="{917A2D63-CF6D-49AB-A0EE-C8FF190BBB17}"/>
              </a:ext>
            </a:extLst>
          </p:cNvPr>
          <p:cNvCxnSpPr>
            <a:endCxn id="41" idx="0"/>
          </p:cNvCxnSpPr>
          <p:nvPr/>
        </p:nvCxnSpPr>
        <p:spPr>
          <a:xfrm>
            <a:off x="3848723" y="2132855"/>
            <a:ext cx="2073027" cy="144016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a:extLst>
              <a:ext uri="{FF2B5EF4-FFF2-40B4-BE49-F238E27FC236}">
                <a16:creationId xmlns:a16="http://schemas.microsoft.com/office/drawing/2014/main" id="{A46DC2A5-758E-4DEA-B237-A125B762BA4E}"/>
              </a:ext>
            </a:extLst>
          </p:cNvPr>
          <p:cNvCxnSpPr/>
          <p:nvPr/>
        </p:nvCxnSpPr>
        <p:spPr>
          <a:xfrm>
            <a:off x="6055205" y="3717031"/>
            <a:ext cx="10097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文字方塊 52">
            <a:extLst>
              <a:ext uri="{FF2B5EF4-FFF2-40B4-BE49-F238E27FC236}">
                <a16:creationId xmlns:a16="http://schemas.microsoft.com/office/drawing/2014/main" id="{D9F2D156-9464-488D-AE8A-981AD6BF5AD4}"/>
              </a:ext>
            </a:extLst>
          </p:cNvPr>
          <p:cNvSpPr txBox="1"/>
          <p:nvPr/>
        </p:nvSpPr>
        <p:spPr>
          <a:xfrm>
            <a:off x="6127684" y="3469650"/>
            <a:ext cx="475093" cy="369332"/>
          </a:xfrm>
          <a:prstGeom prst="rect">
            <a:avLst/>
          </a:prstGeom>
          <a:noFill/>
        </p:spPr>
        <p:txBody>
          <a:bodyPr wrap="square" rtlCol="0">
            <a:spAutoFit/>
          </a:bodyPr>
          <a:lstStyle/>
          <a:p>
            <a:r>
              <a:rPr lang="en-US" altLang="zh-TW" dirty="0"/>
              <a:t>…</a:t>
            </a:r>
            <a:endParaRPr lang="zh-TW" altLang="en-US" dirty="0"/>
          </a:p>
        </p:txBody>
      </p:sp>
      <p:cxnSp>
        <p:nvCxnSpPr>
          <p:cNvPr id="61" name="直線單箭頭接點 60">
            <a:extLst>
              <a:ext uri="{FF2B5EF4-FFF2-40B4-BE49-F238E27FC236}">
                <a16:creationId xmlns:a16="http://schemas.microsoft.com/office/drawing/2014/main" id="{73021C71-7114-4776-B700-20377CC6F058}"/>
              </a:ext>
            </a:extLst>
          </p:cNvPr>
          <p:cNvCxnSpPr>
            <a:cxnSpLocks/>
            <a:endCxn id="16" idx="1"/>
          </p:cNvCxnSpPr>
          <p:nvPr/>
        </p:nvCxnSpPr>
        <p:spPr>
          <a:xfrm>
            <a:off x="6564196" y="3714899"/>
            <a:ext cx="288032" cy="21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a:extLst>
              <a:ext uri="{FF2B5EF4-FFF2-40B4-BE49-F238E27FC236}">
                <a16:creationId xmlns:a16="http://schemas.microsoft.com/office/drawing/2014/main" id="{B9258CB9-2B6F-4BB5-91C6-820549EB5828}"/>
              </a:ext>
            </a:extLst>
          </p:cNvPr>
          <p:cNvCxnSpPr>
            <a:stCxn id="16" idx="3"/>
            <a:endCxn id="17" idx="1"/>
          </p:cNvCxnSpPr>
          <p:nvPr/>
        </p:nvCxnSpPr>
        <p:spPr>
          <a:xfrm>
            <a:off x="7524328" y="3717032"/>
            <a:ext cx="35056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右大括弧 3">
            <a:extLst>
              <a:ext uri="{FF2B5EF4-FFF2-40B4-BE49-F238E27FC236}">
                <a16:creationId xmlns:a16="http://schemas.microsoft.com/office/drawing/2014/main" id="{D99BC1A2-8245-40A6-9999-D6BC09A11C26}"/>
              </a:ext>
            </a:extLst>
          </p:cNvPr>
          <p:cNvSpPr/>
          <p:nvPr/>
        </p:nvSpPr>
        <p:spPr>
          <a:xfrm rot="5400000">
            <a:off x="3619513" y="3157350"/>
            <a:ext cx="770965" cy="4770648"/>
          </a:xfrm>
          <a:prstGeom prst="rightBrace">
            <a:avLst>
              <a:gd name="adj1" fmla="val 8333"/>
              <a:gd name="adj2" fmla="val 4966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5" name="文字方塊 4">
            <a:extLst>
              <a:ext uri="{FF2B5EF4-FFF2-40B4-BE49-F238E27FC236}">
                <a16:creationId xmlns:a16="http://schemas.microsoft.com/office/drawing/2014/main" id="{80AFA321-E5BD-4C29-AE3E-8F48463BD171}"/>
              </a:ext>
            </a:extLst>
          </p:cNvPr>
          <p:cNvSpPr txBox="1"/>
          <p:nvPr/>
        </p:nvSpPr>
        <p:spPr>
          <a:xfrm>
            <a:off x="3365525" y="6076725"/>
            <a:ext cx="1278939" cy="369332"/>
          </a:xfrm>
          <a:prstGeom prst="rect">
            <a:avLst/>
          </a:prstGeom>
          <a:noFill/>
        </p:spPr>
        <p:txBody>
          <a:bodyPr wrap="square" rtlCol="0">
            <a:spAutoFit/>
          </a:bodyPr>
          <a:lstStyle/>
          <a:p>
            <a:pPr algn="ctr"/>
            <a:r>
              <a:rPr lang="en-US" altLang="zh-TW" dirty="0"/>
              <a:t>8</a:t>
            </a:r>
            <a:endParaRPr lang="zh-TW" altLang="en-US" dirty="0"/>
          </a:p>
        </p:txBody>
      </p:sp>
    </p:spTree>
    <p:extLst>
      <p:ext uri="{BB962C8B-B14F-4D97-AF65-F5344CB8AC3E}">
        <p14:creationId xmlns:p14="http://schemas.microsoft.com/office/powerpoint/2010/main" val="3850680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標題 1">
                <a:extLst>
                  <a:ext uri="{FF2B5EF4-FFF2-40B4-BE49-F238E27FC236}">
                    <a16:creationId xmlns:a16="http://schemas.microsoft.com/office/drawing/2014/main" id="{5E67FF01-B4C6-47FE-AA74-80A9B3DB2721}"/>
                  </a:ext>
                </a:extLst>
              </p:cNvPr>
              <p:cNvSpPr>
                <a:spLocks noGrp="1"/>
              </p:cNvSpPr>
              <p:nvPr>
                <p:ph type="title"/>
              </p:nvPr>
            </p:nvSpPr>
            <p:spPr/>
            <p:txBody>
              <a:bodyPr>
                <a:normAutofit/>
              </a:bodyPr>
              <a:lstStyle/>
              <a:p>
                <a:pPr algn="l"/>
                <a:r>
                  <a:rPr lang="en-US" altLang="zh-TW" dirty="0">
                    <a:latin typeface="Times New Roman" panose="02020603050405020304" pitchFamily="18" charset="0"/>
                    <a:cs typeface="Times New Roman" panose="02020603050405020304" pitchFamily="18" charset="0"/>
                  </a:rPr>
                  <a:t>Experiment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for </a:t>
                </a:r>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𝐸</m:t>
                        </m:r>
                      </m:e>
                      <m:sub>
                        <m:r>
                          <a:rPr lang="en-US" altLang="zh-TW" b="0" i="1" smtClean="0">
                            <a:latin typeface="Cambria Math" panose="02040503050406030204" pitchFamily="18" charset="0"/>
                            <a:cs typeface="Times New Roman" panose="02020603050405020304" pitchFamily="18" charset="0"/>
                          </a:rPr>
                          <m:t>1</m:t>
                        </m:r>
                      </m:sub>
                    </m:sSub>
                  </m:oMath>
                </a14:m>
                <a:endParaRPr lang="zh-TW" altLang="en-US" dirty="0"/>
              </a:p>
            </p:txBody>
          </p:sp>
        </mc:Choice>
        <mc:Fallback xmlns="">
          <p:sp>
            <p:nvSpPr>
              <p:cNvPr id="2" name="標題 1">
                <a:extLst>
                  <a:ext uri="{FF2B5EF4-FFF2-40B4-BE49-F238E27FC236}">
                    <a16:creationId xmlns:a16="http://schemas.microsoft.com/office/drawing/2014/main" id="{5E67FF01-B4C6-47FE-AA74-80A9B3DB2721}"/>
                  </a:ext>
                </a:extLst>
              </p:cNvPr>
              <p:cNvSpPr>
                <a:spLocks noGrp="1" noRot="1" noChangeAspect="1" noMove="1" noResize="1" noEditPoints="1" noAdjustHandles="1" noChangeArrowheads="1" noChangeShapeType="1" noTextEdit="1"/>
              </p:cNvSpPr>
              <p:nvPr>
                <p:ph type="title"/>
              </p:nvPr>
            </p:nvSpPr>
            <p:spPr>
              <a:blipFill>
                <a:blip r:embed="rId2"/>
                <a:stretch>
                  <a:fillRect l="-2963" b="-9043"/>
                </a:stretch>
              </a:blipFill>
            </p:spPr>
            <p:txBody>
              <a:bodyPr/>
              <a:lstStyle/>
              <a:p>
                <a:r>
                  <a:rPr lang="zh-TW" altLang="en-US">
                    <a:noFill/>
                  </a:rPr>
                  <a:t> </a:t>
                </a:r>
              </a:p>
            </p:txBody>
          </p:sp>
        </mc:Fallback>
      </mc:AlternateContent>
      <p:sp>
        <p:nvSpPr>
          <p:cNvPr id="6" name="內容版面配置區 5">
            <a:extLst>
              <a:ext uri="{FF2B5EF4-FFF2-40B4-BE49-F238E27FC236}">
                <a16:creationId xmlns:a16="http://schemas.microsoft.com/office/drawing/2014/main" id="{ACC78472-ECE3-432D-AF47-1C65DF8CE031}"/>
              </a:ext>
            </a:extLst>
          </p:cNvPr>
          <p:cNvSpPr>
            <a:spLocks noGrp="1"/>
          </p:cNvSpPr>
          <p:nvPr>
            <p:ph sz="half" idx="1"/>
          </p:nvPr>
        </p:nvSpPr>
        <p:spPr>
          <a:xfrm>
            <a:off x="457200" y="1417638"/>
            <a:ext cx="8229600" cy="4525963"/>
          </a:xfrm>
        </p:spPr>
        <p:txBody>
          <a:bodyPr/>
          <a:lstStyle/>
          <a:p>
            <a:r>
              <a:rPr lang="en-US" altLang="zh-TW" dirty="0">
                <a:latin typeface="+mj-lt"/>
                <a:cs typeface="Times New Roman" panose="02020603050405020304" pitchFamily="18" charset="0"/>
              </a:rPr>
              <a:t>Data: 84k hands from expert tournament play, 2.4 million positions.</a:t>
            </a:r>
          </a:p>
          <a:p>
            <a:r>
              <a:rPr lang="en-US" altLang="zh-TW" dirty="0">
                <a:latin typeface="+mj-lt"/>
                <a:cs typeface="Times New Roman" panose="02020603050405020304" pitchFamily="18" charset="0"/>
              </a:rPr>
              <a:t>Baseline1: DDS simulate result</a:t>
            </a:r>
          </a:p>
          <a:p>
            <a:r>
              <a:rPr lang="en-US" altLang="zh-TW" dirty="0">
                <a:latin typeface="+mj-lt"/>
                <a:cs typeface="Times New Roman" panose="02020603050405020304" pitchFamily="18" charset="0"/>
              </a:rPr>
              <a:t>Baseline2: k simulations and for each simulation run k simulations</a:t>
            </a:r>
          </a:p>
          <a:p>
            <a:r>
              <a:rPr lang="en-US" altLang="zh-TW" dirty="0" err="1">
                <a:latin typeface="+mj-lt"/>
                <a:cs typeface="Times New Roman" panose="02020603050405020304" pitchFamily="18" charset="0"/>
              </a:rPr>
              <a:t>nn</a:t>
            </a:r>
            <a:r>
              <a:rPr lang="en-US" altLang="zh-TW" dirty="0">
                <a:latin typeface="+mj-lt"/>
                <a:cs typeface="Times New Roman" panose="02020603050405020304" pitchFamily="18" charset="0"/>
              </a:rPr>
              <a:t>-baseline: only ISSN</a:t>
            </a:r>
          </a:p>
          <a:p>
            <a:r>
              <a:rPr lang="en-US" altLang="zh-TW" dirty="0">
                <a:latin typeface="+mj-lt"/>
                <a:cs typeface="Times New Roman" panose="02020603050405020304" pitchFamily="18" charset="0"/>
              </a:rPr>
              <a:t>Cost: Trick loss per state</a:t>
            </a:r>
            <a:endParaRPr lang="zh-TW" altLang="en-US" dirty="0">
              <a:latin typeface="+mj-lt"/>
              <a:cs typeface="Times New Roman" panose="02020603050405020304" pitchFamily="18" charset="0"/>
            </a:endParaRPr>
          </a:p>
        </p:txBody>
      </p:sp>
      <p:pic>
        <p:nvPicPr>
          <p:cNvPr id="4" name="圖片 3">
            <a:extLst>
              <a:ext uri="{FF2B5EF4-FFF2-40B4-BE49-F238E27FC236}">
                <a16:creationId xmlns:a16="http://schemas.microsoft.com/office/drawing/2014/main" id="{8829A554-818D-45D4-8D61-F484D2A05410}"/>
              </a:ext>
            </a:extLst>
          </p:cNvPr>
          <p:cNvPicPr>
            <a:picLocks noChangeAspect="1"/>
          </p:cNvPicPr>
          <p:nvPr/>
        </p:nvPicPr>
        <p:blipFill>
          <a:blip r:embed="rId3"/>
          <a:stretch>
            <a:fillRect/>
          </a:stretch>
        </p:blipFill>
        <p:spPr>
          <a:xfrm>
            <a:off x="1276350" y="4797152"/>
            <a:ext cx="6591300" cy="1895475"/>
          </a:xfrm>
          <a:prstGeom prst="rect">
            <a:avLst/>
          </a:prstGeom>
        </p:spPr>
      </p:pic>
    </p:spTree>
    <p:extLst>
      <p:ext uri="{BB962C8B-B14F-4D97-AF65-F5344CB8AC3E}">
        <p14:creationId xmlns:p14="http://schemas.microsoft.com/office/powerpoint/2010/main" val="157998726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882294-9F48-463F-9FA9-9949615C8BDF}"/>
              </a:ext>
            </a:extLst>
          </p:cNvPr>
          <p:cNvSpPr>
            <a:spLocks noGrp="1"/>
          </p:cNvSpPr>
          <p:nvPr>
            <p:ph type="title"/>
          </p:nvPr>
        </p:nvSpPr>
        <p:spPr/>
        <p:txBody>
          <a:bodyPr>
            <a:normAutofit/>
          </a:bodyPr>
          <a:lstStyle/>
          <a:p>
            <a:pPr algn="l"/>
            <a:r>
              <a:rPr lang="en-US" altLang="zh-TW" sz="3600" dirty="0"/>
              <a:t>Incomplete State Solver Network(ISSN)</a:t>
            </a:r>
            <a:endParaRPr lang="zh-TW" altLang="en-US" sz="3600" dirty="0"/>
          </a:p>
        </p:txBody>
      </p:sp>
      <p:pic>
        <p:nvPicPr>
          <p:cNvPr id="8" name="圖片 7">
            <a:extLst>
              <a:ext uri="{FF2B5EF4-FFF2-40B4-BE49-F238E27FC236}">
                <a16:creationId xmlns:a16="http://schemas.microsoft.com/office/drawing/2014/main" id="{6A26EF77-C2D1-498B-9FED-251BF0FEFBED}"/>
              </a:ext>
            </a:extLst>
          </p:cNvPr>
          <p:cNvPicPr>
            <a:picLocks noChangeAspect="1"/>
          </p:cNvPicPr>
          <p:nvPr/>
        </p:nvPicPr>
        <p:blipFill>
          <a:blip r:embed="rId2"/>
          <a:stretch>
            <a:fillRect/>
          </a:stretch>
        </p:blipFill>
        <p:spPr>
          <a:xfrm>
            <a:off x="0" y="1700808"/>
            <a:ext cx="9144000" cy="3969795"/>
          </a:xfrm>
          <a:prstGeom prst="rect">
            <a:avLst/>
          </a:prstGeom>
        </p:spPr>
      </p:pic>
    </p:spTree>
    <p:extLst>
      <p:ext uri="{BB962C8B-B14F-4D97-AF65-F5344CB8AC3E}">
        <p14:creationId xmlns:p14="http://schemas.microsoft.com/office/powerpoint/2010/main" val="165710408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882294-9F48-463F-9FA9-9949615C8BDF}"/>
              </a:ext>
            </a:extLst>
          </p:cNvPr>
          <p:cNvSpPr>
            <a:spLocks noGrp="1"/>
          </p:cNvSpPr>
          <p:nvPr>
            <p:ph type="title"/>
          </p:nvPr>
        </p:nvSpPr>
        <p:spPr/>
        <p:txBody>
          <a:bodyPr>
            <a:normAutofit/>
          </a:bodyPr>
          <a:lstStyle/>
          <a:p>
            <a:pPr algn="l"/>
            <a:r>
              <a:rPr lang="en-US" altLang="zh-TW" sz="3600" dirty="0"/>
              <a:t>Incomplete State Solver Network(ISSN)</a:t>
            </a:r>
            <a:endParaRPr lang="zh-TW" altLang="en-US" sz="3600" dirty="0"/>
          </a:p>
        </p:txBody>
      </p:sp>
      <p:pic>
        <p:nvPicPr>
          <p:cNvPr id="4" name="圖片 3">
            <a:extLst>
              <a:ext uri="{FF2B5EF4-FFF2-40B4-BE49-F238E27FC236}">
                <a16:creationId xmlns:a16="http://schemas.microsoft.com/office/drawing/2014/main" id="{A77EABBA-4C62-4BA0-8FBF-162FC74F6B8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6111" y="1268760"/>
            <a:ext cx="8711777" cy="5214724"/>
          </a:xfrm>
          <a:prstGeom prst="rect">
            <a:avLst/>
          </a:prstGeom>
        </p:spPr>
      </p:pic>
    </p:spTree>
    <p:extLst>
      <p:ext uri="{BB962C8B-B14F-4D97-AF65-F5344CB8AC3E}">
        <p14:creationId xmlns:p14="http://schemas.microsoft.com/office/powerpoint/2010/main" val="233036979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eting">
      <a:majorFont>
        <a:latin typeface="Times New Roman"/>
        <a:ea typeface="新細明體"/>
        <a:cs typeface=""/>
      </a:majorFont>
      <a:minorFont>
        <a:latin typeface="Times New Roman"/>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11901</TotalTime>
  <Words>339</Words>
  <Application>Microsoft Office PowerPoint</Application>
  <PresentationFormat>如螢幕大小 (4:3)</PresentationFormat>
  <Paragraphs>41</Paragraphs>
  <Slides>14</Slides>
  <Notes>3</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14</vt:i4>
      </vt:variant>
    </vt:vector>
  </HeadingPairs>
  <TitlesOfParts>
    <vt:vector size="19" baseType="lpstr">
      <vt:lpstr>Arial</vt:lpstr>
      <vt:lpstr>Calibri</vt:lpstr>
      <vt:lpstr>Cambria Math</vt:lpstr>
      <vt:lpstr>Times New Roman</vt:lpstr>
      <vt:lpstr>Office 佈景主題</vt:lpstr>
      <vt:lpstr>All Simulations Are Not Equal: Simulation Reweighing for Imperfect Information Games</vt:lpstr>
      <vt:lpstr>Abstract</vt:lpstr>
      <vt:lpstr>Introduction</vt:lpstr>
      <vt:lpstr>Double Dummy Bridge Problem(DDBP)</vt:lpstr>
      <vt:lpstr>Incomplete State Solver Network(ISSN)</vt:lpstr>
      <vt:lpstr>Incomplete State Solver Network(ISSN)</vt:lpstr>
      <vt:lpstr>Incomplete State Solver Network(ISSN)</vt:lpstr>
      <vt:lpstr>Incomplete State Solver Network(ISSN)</vt:lpstr>
      <vt:lpstr>Incomplete State Solver Network(ISSN)</vt:lpstr>
      <vt:lpstr>Network</vt:lpstr>
      <vt:lpstr>Network</vt:lpstr>
      <vt:lpstr>Experiment for E_1</vt:lpstr>
      <vt:lpstr>Incomplete State Solver Network(ISSN)</vt:lpstr>
      <vt:lpstr>Incomplete State Solver Network(ISSN)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faster algorithm for finding shortest substring matches of a regular expression</dc:title>
  <dc:creator>M093040098</dc:creator>
  <cp:lastModifiedBy>User</cp:lastModifiedBy>
  <cp:revision>407</cp:revision>
  <dcterms:created xsi:type="dcterms:W3CDTF">2020-10-30T08:30:28Z</dcterms:created>
  <dcterms:modified xsi:type="dcterms:W3CDTF">2021-11-01T21:47:45Z</dcterms:modified>
</cp:coreProperties>
</file>