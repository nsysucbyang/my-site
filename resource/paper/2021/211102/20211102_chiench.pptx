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0" r:id="rId3"/>
    <p:sldId id="259" r:id="rId4"/>
    <p:sldId id="261" r:id="rId5"/>
    <p:sldId id="262" r:id="rId6"/>
    <p:sldId id="264" r:id="rId7"/>
    <p:sldId id="265" r:id="rId8"/>
    <p:sldId id="266" r:id="rId9"/>
    <p:sldId id="267" r:id="rId10"/>
    <p:sldId id="268" r:id="rId11"/>
    <p:sldId id="269" r:id="rId12"/>
    <p:sldId id="270" r:id="rId13"/>
    <p:sldId id="271" r:id="rId14"/>
    <p:sldId id="272" r:id="rId15"/>
    <p:sldId id="273" r:id="rId16"/>
    <p:sldId id="274" r:id="rId17"/>
    <p:sldId id="275"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86D4C-45DE-457B-A9CE-B582512BE3C3}" v="216" dt="2021-10-28T13:57:38.51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B410B-4C50-4EF8-8280-02DF7BDE5F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altLang="zh-TW" dirty="0" err="1"/>
              <a:t>abc</a:t>
            </a:r>
            <a:endParaRPr lang="zh-TW" altLang="en-US" dirty="0"/>
          </a:p>
        </p:txBody>
      </p:sp>
      <p:sp>
        <p:nvSpPr>
          <p:cNvPr id="3" name="副標題 2">
            <a:extLst>
              <a:ext uri="{FF2B5EF4-FFF2-40B4-BE49-F238E27FC236}">
                <a16:creationId xmlns:a16="http://schemas.microsoft.com/office/drawing/2014/main" id="{38967476-587A-49AA-B5DA-20463F22D04A}"/>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dirty="0" err="1"/>
              <a:t>abc</a:t>
            </a:r>
            <a:endParaRPr lang="zh-TW" altLang="en-US" dirty="0"/>
          </a:p>
        </p:txBody>
      </p:sp>
      <p:sp>
        <p:nvSpPr>
          <p:cNvPr id="4" name="日期版面配置區 3">
            <a:extLst>
              <a:ext uri="{FF2B5EF4-FFF2-40B4-BE49-F238E27FC236}">
                <a16:creationId xmlns:a16="http://schemas.microsoft.com/office/drawing/2014/main" id="{50575EC0-3957-4F61-B88C-49F7BBA71136}"/>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0C2F82C8-EAAE-48AC-A816-120ADC2048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5B9998-EB52-411A-8B6B-C87C026D554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159638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9B062-9733-4512-A3DB-B082AAB7FB68}"/>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abc</a:t>
            </a:r>
            <a:endParaRPr lang="zh-TW" altLang="en-US" dirty="0"/>
          </a:p>
        </p:txBody>
      </p:sp>
      <p:sp>
        <p:nvSpPr>
          <p:cNvPr id="3" name="內容版面配置區 2">
            <a:extLst>
              <a:ext uri="{FF2B5EF4-FFF2-40B4-BE49-F238E27FC236}">
                <a16:creationId xmlns:a16="http://schemas.microsoft.com/office/drawing/2014/main" id="{ADE56D8F-73BE-487A-A827-93F5406368E9}"/>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stStyle>
          <a:p>
            <a:pPr lvl="0"/>
            <a:r>
              <a:rPr lang="en-US" altLang="zh-TW" dirty="0" err="1"/>
              <a:t>abc</a:t>
            </a:r>
            <a:endParaRPr lang="zh-TW" altLang="en-US" dirty="0"/>
          </a:p>
        </p:txBody>
      </p:sp>
      <p:sp>
        <p:nvSpPr>
          <p:cNvPr id="4" name="日期版面配置區 3">
            <a:extLst>
              <a:ext uri="{FF2B5EF4-FFF2-40B4-BE49-F238E27FC236}">
                <a16:creationId xmlns:a16="http://schemas.microsoft.com/office/drawing/2014/main" id="{3E8EDED1-E76A-4515-934C-4363AB4EDF06}"/>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CCDC7CB7-5335-4BE3-B056-57BD159576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56BEF4-0CC6-4F0A-B177-657C3BFC631D}"/>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8538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687DE-D29E-4255-973B-CD639842CC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29881D5-AFDF-4D94-988F-A265E06F5C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BF1318E-FD8D-4E8D-845A-65C148CEE500}"/>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625DB5D8-9816-4A35-B08B-1AFA25ACCA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0E0823-6E8E-4CFD-8067-203C21AD750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06918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69CD3B-3C26-44F5-AE0F-6DAB009D7DC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9FA60C7-5A81-43E0-948F-A34CBB39064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5D25C24-9E02-41B6-97FC-25017CAEAD8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AEC34AA-4024-44DD-85CF-6FCF9F368A29}"/>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714F3E38-8B30-461F-A698-E08E6CC34A7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E807B-D7A2-4A98-BB31-78D5C92AC73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39391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9BD92C-3E1F-4985-BD0A-7D084592872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ECAB7D-8DC4-47AC-905A-D163C654E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850D23E-D5FF-469B-AC74-1678FD1B83C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C5108FB-E3C5-4B1F-B09E-7ADDCDB13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C05249A-487A-4CD8-8718-24B62D10962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E9C64B5-B6A2-4FE3-A3FB-10A327969F07}"/>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8" name="頁尾版面配置區 7">
            <a:extLst>
              <a:ext uri="{FF2B5EF4-FFF2-40B4-BE49-F238E27FC236}">
                <a16:creationId xmlns:a16="http://schemas.microsoft.com/office/drawing/2014/main" id="{C82FB67B-EB35-4F33-A7B8-A59F3545014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6F046FA-6C20-44AC-A21B-876D6DA912BC}"/>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183642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97997F-BBDD-4562-811F-D414766465A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8C5C30F-198C-4074-A879-D59C07B32C74}"/>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4" name="頁尾版面配置區 3">
            <a:extLst>
              <a:ext uri="{FF2B5EF4-FFF2-40B4-BE49-F238E27FC236}">
                <a16:creationId xmlns:a16="http://schemas.microsoft.com/office/drawing/2014/main" id="{46B99179-B7C4-40F6-9694-912B30B4DAD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5659D54-E364-4F85-BCB1-959F12FBB764}"/>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97631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A1FBFB7-CACA-49E8-A2E0-3843D62E8959}"/>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3" name="頁尾版面配置區 2">
            <a:extLst>
              <a:ext uri="{FF2B5EF4-FFF2-40B4-BE49-F238E27FC236}">
                <a16:creationId xmlns:a16="http://schemas.microsoft.com/office/drawing/2014/main" id="{3AE18A3C-4246-4CDB-82DF-7832BFAB18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E20EF71-43C2-4E8A-A4C2-8BC5A5E246C1}"/>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543147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C49F34-EF8D-4E03-9C03-CD1BDE69FE8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9FE9363-610C-4C3E-95E1-185B7B00B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CA6F42E-0C2B-4CD3-8A7F-2A4F967FE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CC1DE91-E474-453E-AD9E-B802064D6DB4}"/>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383CBAC1-67D4-4F20-A271-06912AC0F8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2DEAFD7-825E-40C4-80D2-4DD94AEB5E8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28171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6F942E-47CA-4E0E-9D4A-4D8591F932C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29D7568-0222-4300-9033-B5E4EB52B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E09A352-7DC5-408E-8547-483E84725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BB4B8F-89FC-43A7-BA8A-F53EF5A4FC32}"/>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6" name="頁尾版面配置區 5">
            <a:extLst>
              <a:ext uri="{FF2B5EF4-FFF2-40B4-BE49-F238E27FC236}">
                <a16:creationId xmlns:a16="http://schemas.microsoft.com/office/drawing/2014/main" id="{BCE71494-C6AD-4885-A1B9-7080F67347F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59B4B62-4A60-4B3D-99C3-DD07396AD79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9485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6318DE-9DD4-4B1D-A773-E7B524D77D2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B5D6CB-2567-43F2-B662-0FA1EE3E44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CD77D00-FE41-4A97-A6D3-0A13D0503052}"/>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AE2CE754-AE67-4893-8366-0615E8F5CF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C70F4B-CCA6-4C17-AE80-223FAA01107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5398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79B0B99-87FF-4E19-B764-1480BA1354F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3DDB4BE-A91F-410D-B343-3129D0AD2B7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4D9DCA-251D-460E-908A-7E01E1E6C907}"/>
              </a:ext>
            </a:extLst>
          </p:cNvPr>
          <p:cNvSpPr>
            <a:spLocks noGrp="1"/>
          </p:cNvSpPr>
          <p:nvPr>
            <p:ph type="dt" sz="half" idx="10"/>
          </p:nvPr>
        </p:nvSpPr>
        <p:spPr/>
        <p:txBody>
          <a:body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B4ECFD4B-35D4-4A5E-93B5-385ADDE19FC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8EE310-7AEC-4980-883F-CE19C0DACCD6}"/>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9291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7CE74B4-E067-4B52-AAB0-28671B0D1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BA4B5DA-4D6D-41A0-9DA0-B5249FCAC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F7988-D185-4269-B875-9B0C6B318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23B8C-04F0-40DD-AAFD-C799C3A75D33}" type="datetimeFigureOut">
              <a:rPr lang="zh-TW" altLang="en-US" smtClean="0"/>
              <a:t>2021/11/2</a:t>
            </a:fld>
            <a:endParaRPr lang="zh-TW" altLang="en-US"/>
          </a:p>
        </p:txBody>
      </p:sp>
      <p:sp>
        <p:nvSpPr>
          <p:cNvPr id="5" name="頁尾版面配置區 4">
            <a:extLst>
              <a:ext uri="{FF2B5EF4-FFF2-40B4-BE49-F238E27FC236}">
                <a16:creationId xmlns:a16="http://schemas.microsoft.com/office/drawing/2014/main" id="{B17BF83F-4DDA-4E5A-846B-2BE620207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3EB1B69-3FA4-4081-B76B-8F17C7D378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8313179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tmp"/><Relationship Id="rId4" Type="http://schemas.openxmlformats.org/officeDocument/2006/relationships/image" Target="../media/image10.tmp"/></Relationships>
</file>

<file path=ppt/slides/_rels/slide12.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7.xml"/><Relationship Id="rId5" Type="http://schemas.openxmlformats.org/officeDocument/2006/relationships/image" Target="../media/image15.tmp"/><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tmp"/></Relationships>
</file>

<file path=ppt/slides/_rels/slide14.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486561" y="672353"/>
            <a:ext cx="11249637" cy="2837610"/>
          </a:xfrm>
        </p:spPr>
        <p:txBody>
          <a:bodyPr anchor="t">
            <a:noAutofit/>
          </a:bodyPr>
          <a:lstStyle/>
          <a:p>
            <a:r>
              <a:rPr lang="en-US" altLang="zh-TW" sz="4400" b="1" dirty="0">
                <a:latin typeface="Times New Roman" panose="02020603050405020304" pitchFamily="18" charset="0"/>
                <a:cs typeface="Times New Roman" panose="02020603050405020304" pitchFamily="18" charset="0"/>
              </a:rPr>
              <a:t>A Branch Elimination-based Efficient Algorithm for Large-scale Multiple Longest Common Subsequence Problem </a:t>
            </a:r>
            <a:br>
              <a:rPr lang="af-ZA" altLang="zh-TW" sz="4400" b="0" i="0" dirty="0">
                <a:solidFill>
                  <a:srgbClr val="000000"/>
                </a:solidFill>
                <a:effectLst/>
                <a:latin typeface="Times New Roman" panose="02020603050405020304" pitchFamily="18" charset="0"/>
              </a:rPr>
            </a:br>
            <a:r>
              <a:rPr lang="af-ZA" altLang="zh-TW" sz="4400" b="0" i="0" dirty="0">
                <a:solidFill>
                  <a:srgbClr val="000000"/>
                </a:solidFill>
                <a:effectLst/>
                <a:latin typeface="Times New Roman" panose="02020603050405020304" pitchFamily="18" charset="0"/>
              </a:rPr>
              <a:t>​</a:t>
            </a:r>
            <a:br>
              <a:rPr lang="af-ZA" altLang="zh-TW" sz="4400" b="0" i="0" dirty="0">
                <a:solidFill>
                  <a:srgbClr val="000000"/>
                </a:solidFill>
                <a:effectLst/>
                <a:latin typeface="Times New Roman" panose="02020603050405020304" pitchFamily="18" charset="0"/>
              </a:rPr>
            </a:br>
            <a:r>
              <a:rPr lang="en-US" altLang="zh-TW" sz="2800" dirty="0" err="1">
                <a:latin typeface="Times New Roman" panose="02020603050405020304" pitchFamily="18" charset="0"/>
                <a:cs typeface="Times New Roman" panose="02020603050405020304" pitchFamily="18" charset="0"/>
              </a:rPr>
              <a:t>Shiwei</a:t>
            </a:r>
            <a:r>
              <a:rPr lang="en-US" altLang="zh-TW" sz="2800" dirty="0">
                <a:latin typeface="Times New Roman" panose="02020603050405020304" pitchFamily="18" charset="0"/>
                <a:cs typeface="Times New Roman" panose="02020603050405020304" pitchFamily="18" charset="0"/>
              </a:rPr>
              <a:t> Wei, </a:t>
            </a:r>
            <a:r>
              <a:rPr lang="en-US" altLang="zh-TW" sz="2800" dirty="0" err="1">
                <a:latin typeface="Times New Roman" panose="02020603050405020304" pitchFamily="18" charset="0"/>
                <a:cs typeface="Times New Roman" panose="02020603050405020304" pitchFamily="18" charset="0"/>
              </a:rPr>
              <a:t>Yuping</a:t>
            </a:r>
            <a:r>
              <a:rPr lang="en-US" altLang="zh-TW" sz="2800" dirty="0">
                <a:latin typeface="Times New Roman" panose="02020603050405020304" pitchFamily="18" charset="0"/>
                <a:cs typeface="Times New Roman" panose="02020603050405020304" pitchFamily="18" charset="0"/>
              </a:rPr>
              <a:t> Wang and </a:t>
            </a:r>
            <a:r>
              <a:rPr lang="en-US" altLang="zh-TW" sz="2800" dirty="0" err="1">
                <a:latin typeface="Times New Roman" panose="02020603050405020304" pitchFamily="18" charset="0"/>
                <a:cs typeface="Times New Roman" panose="02020603050405020304" pitchFamily="18" charset="0"/>
              </a:rPr>
              <a:t>Yiu-ming</a:t>
            </a:r>
            <a:r>
              <a:rPr lang="en-US" altLang="zh-TW" sz="2800" dirty="0">
                <a:latin typeface="Times New Roman" panose="02020603050405020304" pitchFamily="18" charset="0"/>
                <a:cs typeface="Times New Roman" panose="02020603050405020304" pitchFamily="18" charset="0"/>
              </a:rPr>
              <a:t> Cheung</a:t>
            </a:r>
            <a:br>
              <a:rPr lang="en-US" altLang="zh-TW" sz="44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A29652B-FADC-4E71-AC46-521DE2EFB657}"/>
              </a:ext>
            </a:extLst>
          </p:cNvPr>
          <p:cNvSpPr>
            <a:spLocks noGrp="1"/>
          </p:cNvSpPr>
          <p:nvPr>
            <p:ph type="subTitle" idx="1"/>
          </p:nvPr>
        </p:nvSpPr>
        <p:spPr>
          <a:xfrm>
            <a:off x="1539379" y="3775787"/>
            <a:ext cx="9144000" cy="1655762"/>
          </a:xfrm>
        </p:spPr>
        <p:txBody>
          <a:bodyPr>
            <a:normAutofit/>
          </a:bodyPr>
          <a:lstStyle/>
          <a:p>
            <a:pPr algn="ctr"/>
            <a:r>
              <a:rPr lang="en-US" altLang="zh-TW" i="0" dirty="0">
                <a:effectLst/>
                <a:ea typeface="Times New Roman" panose="02020603050405020304" pitchFamily="18" charset="0"/>
              </a:rPr>
              <a:t>IEEE Transactions on Knowledge and Data Engineering, 2021</a:t>
            </a:r>
          </a:p>
          <a:p>
            <a:pPr algn="ctr"/>
            <a:r>
              <a:rPr lang="en-US" altLang="zh-TW" i="0" dirty="0">
                <a:effectLst/>
                <a:ea typeface="Times New Roman" panose="02020603050405020304" pitchFamily="18" charset="0"/>
              </a:rPr>
              <a:t>pp. 1-14</a:t>
            </a:r>
            <a:endParaRPr lang="zh-TW" altLang="en-US" dirty="0"/>
          </a:p>
        </p:txBody>
      </p:sp>
      <p:sp>
        <p:nvSpPr>
          <p:cNvPr id="9" name="文字方塊 8">
            <a:extLst>
              <a:ext uri="{FF2B5EF4-FFF2-40B4-BE49-F238E27FC236}">
                <a16:creationId xmlns:a16="http://schemas.microsoft.com/office/drawing/2014/main" id="{B9014221-E47C-4C31-898A-DB1330B1B844}"/>
              </a:ext>
            </a:extLst>
          </p:cNvPr>
          <p:cNvSpPr txBox="1"/>
          <p:nvPr/>
        </p:nvSpPr>
        <p:spPr>
          <a:xfrm>
            <a:off x="8635079" y="5875096"/>
            <a:ext cx="335257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P</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resenter:</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 </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Chih-Hsuan Chien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Date:</a:t>
            </a:r>
            <a:r>
              <a:rPr kumimoji="0" lang="zh-TW" alt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Nov</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n-US" altLang="zh-TW" dirty="0">
                <a:solidFill>
                  <a:prstClr val="black"/>
                </a:solidFill>
                <a:latin typeface="Times New Roman" panose="02020603050405020304" pitchFamily="18" charset="0"/>
                <a:cs typeface="Times New Roman" panose="02020603050405020304" pitchFamily="18" charset="0"/>
              </a:rPr>
              <a:t>02</a:t>
            </a:r>
            <a:r>
              <a:rPr kumimoji="0" lang="LID4096" altLang="zh-TW"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2021</a:t>
            </a:r>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0651B0-F0C6-4AB2-BB4A-2B43A99DA11C}"/>
              </a:ext>
            </a:extLst>
          </p:cNvPr>
          <p:cNvSpPr>
            <a:spLocks noGrp="1"/>
          </p:cNvSpPr>
          <p:nvPr>
            <p:ph type="title"/>
          </p:nvPr>
        </p:nvSpPr>
        <p:spPr/>
        <p:txBody>
          <a:bodyPr/>
          <a:lstStyle/>
          <a:p>
            <a:r>
              <a:rPr lang="en-US" altLang="zh-TW" dirty="0"/>
              <a:t>Abstract(1/2)</a:t>
            </a:r>
            <a:endParaRPr lang="zh-TW" altLang="en-US" dirty="0"/>
          </a:p>
        </p:txBody>
      </p:sp>
      <p:sp>
        <p:nvSpPr>
          <p:cNvPr id="3" name="內容版面配置區 2">
            <a:extLst>
              <a:ext uri="{FF2B5EF4-FFF2-40B4-BE49-F238E27FC236}">
                <a16:creationId xmlns:a16="http://schemas.microsoft.com/office/drawing/2014/main" id="{6C2D12B7-A138-4CE3-9F13-737B7841E2E3}"/>
              </a:ext>
            </a:extLst>
          </p:cNvPr>
          <p:cNvSpPr>
            <a:spLocks noGrp="1"/>
          </p:cNvSpPr>
          <p:nvPr>
            <p:ph idx="1"/>
          </p:nvPr>
        </p:nvSpPr>
        <p:spPr/>
        <p:txBody>
          <a:bodyPr/>
          <a:lstStyle/>
          <a:p>
            <a:pPr marL="0" indent="0" algn="just">
              <a:buNone/>
            </a:pPr>
            <a:r>
              <a:rPr lang="en-US" altLang="zh-TW" dirty="0"/>
              <a:t>It is a key issue to find out all longest common subsequences of multiple sequences over a set of finite alphabets, namely MLCS problem, in computational biology, pattern recognition and information retrieval, to name a few. However, it is very challenging to tackle the large-scale MLCS problem effectively and efficiently due to the high complexity of time and space. To this end, this paper will therefore propose a Branch Elimination-based Space and Time efficient algorithm called BEST-MLCS, which includes the following four key strategies: 1) Estimation scheme for the lower bound of the length of MLCS. 2) Estimation scheme for the upper bound of the length of the paths through the current match point. </a:t>
            </a:r>
            <a:endParaRPr lang="zh-TW" altLang="en-US" dirty="0"/>
          </a:p>
          <a:p>
            <a:endParaRPr lang="zh-TW" altLang="en-US" dirty="0"/>
          </a:p>
        </p:txBody>
      </p:sp>
    </p:spTree>
    <p:extLst>
      <p:ext uri="{BB962C8B-B14F-4D97-AF65-F5344CB8AC3E}">
        <p14:creationId xmlns:p14="http://schemas.microsoft.com/office/powerpoint/2010/main" val="3675254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228878-498C-4828-B267-6DEE6A68BE3D}"/>
              </a:ext>
            </a:extLst>
          </p:cNvPr>
          <p:cNvSpPr>
            <a:spLocks noGrp="1"/>
          </p:cNvSpPr>
          <p:nvPr>
            <p:ph type="title"/>
          </p:nvPr>
        </p:nvSpPr>
        <p:spPr/>
        <p:txBody>
          <a:bodyPr/>
          <a:lstStyle/>
          <a:p>
            <a:r>
              <a:rPr lang="en-US" altLang="zh-TW" dirty="0"/>
              <a:t>Abstract(2/2)</a:t>
            </a:r>
            <a:endParaRPr lang="zh-TW" altLang="en-US" dirty="0"/>
          </a:p>
        </p:txBody>
      </p:sp>
      <p:sp>
        <p:nvSpPr>
          <p:cNvPr id="3" name="內容版面配置區 2">
            <a:extLst>
              <a:ext uri="{FF2B5EF4-FFF2-40B4-BE49-F238E27FC236}">
                <a16:creationId xmlns:a16="http://schemas.microsoft.com/office/drawing/2014/main" id="{D2D5EB6D-E8E8-434B-AAEB-CBEE228AD481}"/>
              </a:ext>
            </a:extLst>
          </p:cNvPr>
          <p:cNvSpPr>
            <a:spLocks noGrp="1"/>
          </p:cNvSpPr>
          <p:nvPr>
            <p:ph idx="1"/>
          </p:nvPr>
        </p:nvSpPr>
        <p:spPr/>
        <p:txBody>
          <a:bodyPr>
            <a:noAutofit/>
          </a:bodyPr>
          <a:lstStyle/>
          <a:p>
            <a:pPr marL="0" indent="0" algn="just">
              <a:buNone/>
            </a:pPr>
            <a:r>
              <a:rPr lang="en-US" altLang="zh-TW" dirty="0"/>
              <a:t>3) Branch elimination strategy by finding all useless match points and removing the branches not on the longest paths. 4) A new Directed Acyclic Graph (DAG) construction method for constructing the smallest DAG among the existing ones. As a result, the proposed algorithm BEST-MLCS can save a lot of space and time and can handle much larger scale MLCS problems than the existing algorithms. Extensive experiments conducted on biological DNA sequences show that the performance of the proposed algorithm BEST-MLCS outperforms three state-of-the-art algorithms in terms of run-time and memory consumption.</a:t>
            </a:r>
            <a:endParaRPr lang="zh-TW" altLang="en-US" dirty="0"/>
          </a:p>
        </p:txBody>
      </p:sp>
    </p:spTree>
    <p:extLst>
      <p:ext uri="{BB962C8B-B14F-4D97-AF65-F5344CB8AC3E}">
        <p14:creationId xmlns:p14="http://schemas.microsoft.com/office/powerpoint/2010/main" val="498962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B06ABAD-0E54-4C86-9E4A-8D21C105A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199" y="878868"/>
            <a:ext cx="5336118" cy="1442664"/>
          </a:xfrm>
          <a:prstGeom prst="rect">
            <a:avLst/>
          </a:prstGeom>
        </p:spPr>
      </p:pic>
      <p:sp>
        <p:nvSpPr>
          <p:cNvPr id="8" name="副標題 7">
            <a:extLst>
              <a:ext uri="{FF2B5EF4-FFF2-40B4-BE49-F238E27FC236}">
                <a16:creationId xmlns:a16="http://schemas.microsoft.com/office/drawing/2014/main" id="{6C3D6100-E928-4BD0-AC3B-764088C9C547}"/>
              </a:ext>
            </a:extLst>
          </p:cNvPr>
          <p:cNvSpPr>
            <a:spLocks noGrp="1"/>
          </p:cNvSpPr>
          <p:nvPr>
            <p:ph type="subTitle" idx="1"/>
          </p:nvPr>
        </p:nvSpPr>
        <p:spPr>
          <a:xfrm>
            <a:off x="1819834" y="2510118"/>
            <a:ext cx="8848165" cy="2747682"/>
          </a:xfrm>
        </p:spPr>
        <p:txBody>
          <a:bodyPr/>
          <a:lstStyle/>
          <a:p>
            <a:pPr marL="342900" indent="-342900" algn="l">
              <a:buFont typeface="Arial" panose="020B0604020202020204" pitchFamily="34" charset="0"/>
              <a:buChar char="•"/>
            </a:pPr>
            <a:r>
              <a:rPr lang="en-US" altLang="zh-TW" dirty="0" err="1"/>
              <a:t>succ</a:t>
            </a:r>
            <a:r>
              <a:rPr lang="en-US" altLang="zh-TW" dirty="0"/>
              <a:t>():q is called a successor of p with respect to σ, if there is no other match point r satisfying that p ≺ r ⪯ q and </a:t>
            </a:r>
            <a:r>
              <a:rPr lang="en-US" altLang="zh-TW" dirty="0" err="1"/>
              <a:t>cch</a:t>
            </a:r>
            <a:r>
              <a:rPr lang="en-US" altLang="zh-TW" dirty="0"/>
              <a:t>(r) = </a:t>
            </a:r>
            <a:r>
              <a:rPr lang="en-US" altLang="zh-TW" dirty="0" err="1"/>
              <a:t>cch</a:t>
            </a:r>
            <a:r>
              <a:rPr lang="en-US" altLang="zh-TW" dirty="0"/>
              <a:t>(q) = σ, denoted by q = </a:t>
            </a:r>
            <a:r>
              <a:rPr lang="en-US" altLang="zh-TW" dirty="0" err="1"/>
              <a:t>succ</a:t>
            </a:r>
            <a:r>
              <a:rPr lang="en-US" altLang="zh-TW" dirty="0"/>
              <a:t>(p).</a:t>
            </a:r>
          </a:p>
          <a:p>
            <a:pPr algn="l"/>
            <a:r>
              <a:rPr lang="zh-TW" altLang="en-US" dirty="0"/>
              <a:t>    </a:t>
            </a:r>
            <a:endParaRPr lang="en-US" altLang="zh-TW" dirty="0"/>
          </a:p>
          <a:p>
            <a:pPr algn="l"/>
            <a:r>
              <a:rPr lang="zh-TW" altLang="en-US" dirty="0"/>
              <a:t>     </a:t>
            </a:r>
            <a:r>
              <a:rPr lang="fr-FR" altLang="zh-TW" dirty="0"/>
              <a:t>e.g., </a:t>
            </a:r>
            <a:r>
              <a:rPr lang="fr-FR" altLang="zh-TW" dirty="0" err="1"/>
              <a:t>succ</a:t>
            </a:r>
            <a:r>
              <a:rPr lang="fr-FR" altLang="zh-TW" dirty="0"/>
              <a:t>(A(2, 1)) = {A(3, 7), C(5, 4), G(4, 2), T(7, 3)}.</a:t>
            </a:r>
            <a:endParaRPr lang="zh-TW" altLang="en-US" dirty="0"/>
          </a:p>
        </p:txBody>
      </p:sp>
    </p:spTree>
    <p:extLst>
      <p:ext uri="{BB962C8B-B14F-4D97-AF65-F5344CB8AC3E}">
        <p14:creationId xmlns:p14="http://schemas.microsoft.com/office/powerpoint/2010/main" val="3615689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4E83E47-D6D7-409D-BF57-F992A86EBA0C}"/>
                  </a:ext>
                </a:extLst>
              </p:cNvPr>
              <p:cNvSpPr>
                <a:spLocks noGrp="1"/>
              </p:cNvSpPr>
              <p:nvPr>
                <p:ph idx="1"/>
              </p:nvPr>
            </p:nvSpPr>
            <p:spPr/>
            <p:txBody>
              <a:bodyPr/>
              <a:lstStyle/>
              <a:p>
                <a:r>
                  <a:rPr lang="en-US" altLang="zh-TW" dirty="0"/>
                  <a:t>For a d-dimensional match point p = (</a:t>
                </a:r>
                <a14:m>
                  <m:oMath xmlns:m="http://schemas.openxmlformats.org/officeDocument/2006/math">
                    <m:sSub>
                      <m:sSubPr>
                        <m:ctrlPr>
                          <a:rPr lang="pt-BR" altLang="zh-TW" i="1" dirty="0">
                            <a:latin typeface="Cambria Math" panose="02040503050406030204" pitchFamily="18" charset="0"/>
                          </a:rPr>
                        </m:ctrlPr>
                      </m:sSubPr>
                      <m:e>
                        <m:r>
                          <a:rPr lang="en-US" altLang="zh-TW" i="1" dirty="0">
                            <a:latin typeface="Cambria Math" panose="02040503050406030204" pitchFamily="18" charset="0"/>
                          </a:rPr>
                          <m:t>𝑝</m:t>
                        </m:r>
                      </m:e>
                      <m:sub>
                        <m:r>
                          <a:rPr lang="en-US" altLang="zh-TW" b="0" i="1" dirty="0" smtClean="0">
                            <a:latin typeface="Cambria Math" panose="02040503050406030204" pitchFamily="18" charset="0"/>
                          </a:rPr>
                          <m:t>1</m:t>
                        </m:r>
                      </m:sub>
                    </m:sSub>
                  </m:oMath>
                </a14:m>
                <a:r>
                  <a:rPr lang="en-US" altLang="zh-TW" dirty="0"/>
                  <a:t>, </a:t>
                </a:r>
                <a14:m>
                  <m:oMath xmlns:m="http://schemas.openxmlformats.org/officeDocument/2006/math">
                    <m:sSub>
                      <m:sSubPr>
                        <m:ctrlPr>
                          <a:rPr lang="pt-BR" altLang="zh-TW" i="1" dirty="0">
                            <a:latin typeface="Cambria Math" panose="02040503050406030204" pitchFamily="18" charset="0"/>
                          </a:rPr>
                        </m:ctrlPr>
                      </m:sSubPr>
                      <m:e>
                        <m:r>
                          <a:rPr lang="en-US" altLang="zh-TW" i="1" dirty="0">
                            <a:latin typeface="Cambria Math" panose="02040503050406030204" pitchFamily="18" charset="0"/>
                          </a:rPr>
                          <m:t>𝑝</m:t>
                        </m:r>
                      </m:e>
                      <m:sub>
                        <m:r>
                          <a:rPr lang="en-US" altLang="zh-TW" b="0" i="1" dirty="0" smtClean="0">
                            <a:latin typeface="Cambria Math" panose="02040503050406030204" pitchFamily="18" charset="0"/>
                          </a:rPr>
                          <m:t>2</m:t>
                        </m:r>
                      </m:sub>
                    </m:sSub>
                  </m:oMath>
                </a14:m>
                <a:r>
                  <a:rPr lang="en-US" altLang="zh-TW" dirty="0"/>
                  <a:t>, · · · , </a:t>
                </a:r>
                <a14:m>
                  <m:oMath xmlns:m="http://schemas.openxmlformats.org/officeDocument/2006/math">
                    <m:sSub>
                      <m:sSubPr>
                        <m:ctrlPr>
                          <a:rPr lang="pt-BR" altLang="zh-TW" i="1" dirty="0">
                            <a:latin typeface="Cambria Math" panose="02040503050406030204" pitchFamily="18" charset="0"/>
                          </a:rPr>
                        </m:ctrlPr>
                      </m:sSubPr>
                      <m:e>
                        <m:r>
                          <a:rPr lang="en-US" altLang="zh-TW" i="1" dirty="0">
                            <a:latin typeface="Cambria Math" panose="02040503050406030204" pitchFamily="18" charset="0"/>
                          </a:rPr>
                          <m:t>𝑝</m:t>
                        </m:r>
                      </m:e>
                      <m:sub>
                        <m:r>
                          <a:rPr lang="en-US" altLang="zh-TW" b="0" i="1" dirty="0" smtClean="0">
                            <a:latin typeface="Cambria Math" panose="02040503050406030204" pitchFamily="18" charset="0"/>
                          </a:rPr>
                          <m:t>𝑑</m:t>
                        </m:r>
                      </m:sub>
                    </m:sSub>
                  </m:oMath>
                </a14:m>
                <a:r>
                  <a:rPr lang="en-US" altLang="zh-TW" dirty="0"/>
                  <a:t>), denote sum(p) = </a:t>
                </a:r>
                <a14:m>
                  <m:oMath xmlns:m="http://schemas.openxmlformats.org/officeDocument/2006/math">
                    <m:nary>
                      <m:naryPr>
                        <m:chr m:val="∑"/>
                        <m:ctrlPr>
                          <a:rPr lang="pt-BR"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𝑑</m:t>
                        </m:r>
                      </m:sup>
                      <m:e>
                        <m:sSub>
                          <m:sSubPr>
                            <m:ctrlPr>
                              <a:rPr lang="pt-BR" altLang="zh-TW" i="1" dirty="0">
                                <a:latin typeface="Cambria Math" panose="02040503050406030204" pitchFamily="18" charset="0"/>
                              </a:rPr>
                            </m:ctrlPr>
                          </m:sSubPr>
                          <m:e>
                            <m:r>
                              <a:rPr lang="en-US" altLang="zh-TW" b="0" i="1" dirty="0" smtClean="0">
                                <a:latin typeface="Cambria Math" panose="02040503050406030204" pitchFamily="18" charset="0"/>
                              </a:rPr>
                              <m:t>𝑝</m:t>
                            </m:r>
                          </m:e>
                          <m:sub>
                            <m:r>
                              <a:rPr lang="en-US" altLang="zh-TW" b="0" i="1" dirty="0" smtClean="0">
                                <a:latin typeface="Cambria Math" panose="02040503050406030204" pitchFamily="18" charset="0"/>
                              </a:rPr>
                              <m:t>𝑖</m:t>
                            </m:r>
                          </m:sub>
                        </m:sSub>
                      </m:e>
                    </m:nary>
                  </m:oMath>
                </a14:m>
                <a:r>
                  <a:rPr lang="en-US" altLang="zh-TW" dirty="0"/>
                  <a:t>.</a:t>
                </a:r>
              </a:p>
              <a:p>
                <a:endParaRPr lang="en-US" altLang="zh-TW" dirty="0"/>
              </a:p>
              <a:p>
                <a:pPr marL="0" indent="0">
                  <a:buNone/>
                </a:pPr>
                <a:r>
                  <a:rPr lang="fr-FR" altLang="zh-TW" dirty="0"/>
                  <a:t>  e.g. </a:t>
                </a:r>
                <a:r>
                  <a:rPr lang="fr-FR" altLang="zh-TW" dirty="0" err="1"/>
                  <a:t>sum</a:t>
                </a:r>
                <a:r>
                  <a:rPr lang="fr-FR" altLang="zh-TW" dirty="0"/>
                  <a:t>(A(2, 1)) =2+1=3</a:t>
                </a:r>
              </a:p>
              <a:p>
                <a:endParaRPr lang="en-US" altLang="zh-TW" dirty="0"/>
              </a:p>
              <a:p>
                <a:r>
                  <a:rPr lang="en-US" altLang="zh-TW" dirty="0"/>
                  <a:t>Let θ be a small positive integer (for example, set θ = 2) and we can selected  the first θ smallest values of sum().</a:t>
                </a:r>
                <a:endParaRPr lang="zh-TW" altLang="en-US" dirty="0"/>
              </a:p>
            </p:txBody>
          </p:sp>
        </mc:Choice>
        <mc:Fallback xmlns="">
          <p:sp>
            <p:nvSpPr>
              <p:cNvPr id="3" name="內容版面配置區 2">
                <a:extLst>
                  <a:ext uri="{FF2B5EF4-FFF2-40B4-BE49-F238E27FC236}">
                    <a16:creationId xmlns:a16="http://schemas.microsoft.com/office/drawing/2014/main" id="{94E83E47-D6D7-409D-BF57-F992A86EBA0C}"/>
                  </a:ext>
                </a:extLst>
              </p:cNvPr>
              <p:cNvSpPr>
                <a:spLocks noGrp="1" noRot="1" noChangeAspect="1" noMove="1" noResize="1" noEditPoints="1" noAdjustHandles="1" noChangeArrowheads="1" noChangeShapeType="1" noTextEdit="1"/>
              </p:cNvSpPr>
              <p:nvPr>
                <p:ph idx="1"/>
              </p:nvPr>
            </p:nvSpPr>
            <p:spPr>
              <a:blipFill>
                <a:blip r:embed="rId2"/>
                <a:stretch>
                  <a:fillRect l="-1043" t="-2381" r="-81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36706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電子用品, 計算機 的圖片&#10;&#10;自動產生的描述">
            <a:extLst>
              <a:ext uri="{FF2B5EF4-FFF2-40B4-BE49-F238E27FC236}">
                <a16:creationId xmlns:a16="http://schemas.microsoft.com/office/drawing/2014/main" id="{72E45E9F-4738-4B95-8509-FD4B425642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627" y="418166"/>
            <a:ext cx="9515247" cy="4030009"/>
          </a:xfrm>
        </p:spPr>
      </p:pic>
      <p:pic>
        <p:nvPicPr>
          <p:cNvPr id="6" name="圖片 5">
            <a:extLst>
              <a:ext uri="{FF2B5EF4-FFF2-40B4-BE49-F238E27FC236}">
                <a16:creationId xmlns:a16="http://schemas.microsoft.com/office/drawing/2014/main" id="{F79E2547-EE7E-4506-A3EF-5D943F152454}"/>
              </a:ext>
            </a:extLst>
          </p:cNvPr>
          <p:cNvPicPr>
            <a:picLocks noChangeAspect="1"/>
          </p:cNvPicPr>
          <p:nvPr/>
        </p:nvPicPr>
        <p:blipFill>
          <a:blip r:embed="rId3"/>
          <a:stretch>
            <a:fillRect/>
          </a:stretch>
        </p:blipFill>
        <p:spPr>
          <a:xfrm>
            <a:off x="2438627" y="4448175"/>
            <a:ext cx="9753373" cy="2444708"/>
          </a:xfrm>
          <a:prstGeom prst="rect">
            <a:avLst/>
          </a:prstGeom>
        </p:spPr>
      </p:pic>
      <p:sp>
        <p:nvSpPr>
          <p:cNvPr id="7" name="文字方塊 6">
            <a:extLst>
              <a:ext uri="{FF2B5EF4-FFF2-40B4-BE49-F238E27FC236}">
                <a16:creationId xmlns:a16="http://schemas.microsoft.com/office/drawing/2014/main" id="{E4758A5D-955D-491A-86C9-E5FDBC498448}"/>
              </a:ext>
            </a:extLst>
          </p:cNvPr>
          <p:cNvSpPr txBox="1"/>
          <p:nvPr/>
        </p:nvSpPr>
        <p:spPr>
          <a:xfrm>
            <a:off x="301104" y="265766"/>
            <a:ext cx="3768872" cy="769441"/>
          </a:xfrm>
          <a:prstGeom prst="rect">
            <a:avLst/>
          </a:prstGeom>
          <a:noFill/>
        </p:spPr>
        <p:txBody>
          <a:bodyPr wrap="square" rtlCol="0">
            <a:spAutoFit/>
          </a:bodyPr>
          <a:lstStyle/>
          <a:p>
            <a:r>
              <a:rPr lang="en-US" altLang="zh-TW" sz="4400" dirty="0"/>
              <a:t>Lower Bound</a:t>
            </a:r>
            <a:endParaRPr lang="zh-TW" altLang="en-US" sz="4400" dirty="0"/>
          </a:p>
        </p:txBody>
      </p:sp>
    </p:spTree>
    <p:extLst>
      <p:ext uri="{BB962C8B-B14F-4D97-AF65-F5344CB8AC3E}">
        <p14:creationId xmlns:p14="http://schemas.microsoft.com/office/powerpoint/2010/main" val="792783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DCE5B7-A0DA-45A1-BD4F-F0C8B7B6F6D5}"/>
              </a:ext>
            </a:extLst>
          </p:cNvPr>
          <p:cNvSpPr>
            <a:spLocks noGrp="1"/>
          </p:cNvSpPr>
          <p:nvPr>
            <p:ph type="title"/>
          </p:nvPr>
        </p:nvSpPr>
        <p:spPr/>
        <p:txBody>
          <a:bodyPr/>
          <a:lstStyle/>
          <a:p>
            <a:r>
              <a:rPr lang="en-US" altLang="zh-TW" dirty="0"/>
              <a:t>Upper Bound</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CCFA0DC-E814-4E7B-A959-B86A1B3EC408}"/>
                  </a:ext>
                </a:extLst>
              </p:cNvPr>
              <p:cNvSpPr>
                <a:spLocks noGrp="1"/>
              </p:cNvSpPr>
              <p:nvPr>
                <p:ph idx="1"/>
              </p:nvPr>
            </p:nvSpPr>
            <p:spPr/>
            <p:txBody>
              <a:bodyPr>
                <a:normAutofit/>
              </a:bodyPr>
              <a:lstStyle/>
              <a:p>
                <a:endParaRPr lang="en-US" altLang="zh-TW" sz="2600" dirty="0"/>
              </a:p>
              <a:p>
                <a:pPr marL="0" indent="0">
                  <a:buNone/>
                </a:pPr>
                <a:r>
                  <a:rPr lang="en-US" altLang="zh-TW" dirty="0"/>
                  <a:t>For a sequence s = </a:t>
                </a:r>
                <a14:m>
                  <m:oMath xmlns:m="http://schemas.openxmlformats.org/officeDocument/2006/math">
                    <m:sSub>
                      <m:sSubPr>
                        <m:ctrlPr>
                          <a:rPr lang="pt-BR" altLang="zh-TW" sz="2800" i="1" dirty="0" smtClean="0">
                            <a:latin typeface="Cambria Math" panose="02040503050406030204" pitchFamily="18" charset="0"/>
                          </a:rPr>
                        </m:ctrlPr>
                      </m:sSubPr>
                      <m:e>
                        <m:sSub>
                          <m:sSubPr>
                            <m:ctrlPr>
                              <a:rPr lang="pt-BR" altLang="zh-TW" i="1" dirty="0">
                                <a:latin typeface="Cambria Math" panose="02040503050406030204" pitchFamily="18" charset="0"/>
                              </a:rPr>
                            </m:ctrlPr>
                          </m:sSubPr>
                          <m:e>
                            <m:r>
                              <a:rPr lang="en-US" altLang="zh-TW" b="0" i="1" dirty="0" smtClean="0">
                                <a:latin typeface="Cambria Math" panose="02040503050406030204" pitchFamily="18" charset="0"/>
                              </a:rPr>
                              <m:t>𝑐</m:t>
                            </m:r>
                          </m:e>
                          <m:sub>
                            <m:r>
                              <a:rPr lang="en-US" altLang="zh-TW" b="0" i="1" dirty="0" smtClean="0">
                                <a:latin typeface="Cambria Math" panose="02040503050406030204" pitchFamily="18" charset="0"/>
                              </a:rPr>
                              <m:t>1</m:t>
                            </m:r>
                          </m:sub>
                        </m:sSub>
                        <m:r>
                          <a:rPr lang="en-US" altLang="zh-TW" b="0" i="1" dirty="0" smtClean="0">
                            <a:latin typeface="Cambria Math" panose="02040503050406030204" pitchFamily="18" charset="0"/>
                          </a:rPr>
                          <m:t>𝑐</m:t>
                        </m:r>
                      </m:e>
                      <m:sub>
                        <m:r>
                          <a:rPr lang="en-US" altLang="zh-TW" sz="2800" i="1" dirty="0">
                            <a:latin typeface="Cambria Math" panose="02040503050406030204" pitchFamily="18" charset="0"/>
                          </a:rPr>
                          <m:t>2</m:t>
                        </m:r>
                      </m:sub>
                    </m:sSub>
                    <m:r>
                      <a:rPr lang="en-US" altLang="zh-TW" sz="2800" i="1" dirty="0">
                        <a:latin typeface="Cambria Math" panose="02040503050406030204" pitchFamily="18" charset="0"/>
                      </a:rPr>
                      <m:t> </m:t>
                    </m:r>
                  </m:oMath>
                </a14:m>
                <a:r>
                  <a:rPr lang="en-US" altLang="zh-TW" dirty="0"/>
                  <a:t>· · ·</a:t>
                </a:r>
                <a:r>
                  <a:rPr lang="pt-BR" altLang="zh-TW" dirty="0"/>
                  <a:t> </a:t>
                </a:r>
                <a14:m>
                  <m:oMath xmlns:m="http://schemas.openxmlformats.org/officeDocument/2006/math">
                    <m:sSub>
                      <m:sSubPr>
                        <m:ctrlPr>
                          <a:rPr lang="pt-BR" altLang="zh-TW" i="1" dirty="0">
                            <a:latin typeface="Cambria Math" panose="02040503050406030204" pitchFamily="18" charset="0"/>
                          </a:rPr>
                        </m:ctrlPr>
                      </m:sSubPr>
                      <m:e>
                        <m:r>
                          <a:rPr lang="en-US" altLang="zh-TW" b="0" i="1" dirty="0" smtClean="0">
                            <a:latin typeface="Cambria Math" panose="02040503050406030204" pitchFamily="18" charset="0"/>
                          </a:rPr>
                          <m:t>𝑐</m:t>
                        </m:r>
                      </m:e>
                      <m:sub>
                        <m:r>
                          <a:rPr lang="en-US" altLang="zh-TW" b="0" i="1" dirty="0" smtClean="0">
                            <a:latin typeface="Cambria Math" panose="02040503050406030204" pitchFamily="18" charset="0"/>
                          </a:rPr>
                          <m:t>𝑛</m:t>
                        </m:r>
                      </m:sub>
                    </m:sSub>
                  </m:oMath>
                </a14:m>
                <a:r>
                  <a:rPr lang="pt-BR" altLang="zh-TW" dirty="0"/>
                  <a:t> </a:t>
                </a:r>
                <a:r>
                  <a:rPr lang="en-US" altLang="zh-TW" dirty="0"/>
                  <a:t>on a character set Σ, the times of appearance of the character σ ∈ Σ after the position </a:t>
                </a:r>
                <a:r>
                  <a:rPr lang="en-US" altLang="zh-TW" dirty="0" err="1"/>
                  <a:t>i</a:t>
                </a:r>
                <a:r>
                  <a:rPr lang="en-US" altLang="zh-TW" dirty="0"/>
                  <a:t> in s is denoted by </a:t>
                </a:r>
                <a:r>
                  <a:rPr lang="en-US" altLang="zh-TW" dirty="0" err="1"/>
                  <a:t>nums</a:t>
                </a:r>
                <a:r>
                  <a:rPr lang="en-US" altLang="zh-TW" dirty="0"/>
                  <a:t>(σ, </a:t>
                </a:r>
                <a:r>
                  <a:rPr lang="en-US" altLang="zh-TW" dirty="0" err="1"/>
                  <a:t>i</a:t>
                </a:r>
                <a:r>
                  <a:rPr lang="en-US" altLang="zh-TW" dirty="0"/>
                  <a:t>).</a:t>
                </a:r>
              </a:p>
              <a:p>
                <a:pPr marL="0" indent="0">
                  <a:buNone/>
                </a:pPr>
                <a:endParaRPr lang="en-US" altLang="zh-TW" dirty="0"/>
              </a:p>
              <a:p>
                <a:pPr marL="0" indent="0">
                  <a:buNone/>
                </a:pPr>
                <a:r>
                  <a:rPr lang="fr-FR" altLang="zh-TW" dirty="0"/>
                  <a:t>e.g. </a:t>
                </a:r>
                <a:r>
                  <a:rPr lang="pt-BR" altLang="zh-TW" dirty="0"/>
                  <a:t>A sequence s = GAAGCGTA,</a:t>
                </a:r>
                <a:r>
                  <a:rPr lang="en-US" altLang="zh-TW" dirty="0"/>
                  <a:t> </a:t>
                </a:r>
                <a:r>
                  <a:rPr lang="en-US" altLang="zh-TW" dirty="0" err="1"/>
                  <a:t>nums</a:t>
                </a:r>
                <a:r>
                  <a:rPr lang="en-US" altLang="zh-TW" dirty="0"/>
                  <a:t>(A, 1) = 3 and </a:t>
                </a:r>
                <a:r>
                  <a:rPr lang="en-US" altLang="zh-TW" dirty="0" err="1"/>
                  <a:t>nums</a:t>
                </a:r>
                <a:r>
                  <a:rPr lang="en-US" altLang="zh-TW" dirty="0"/>
                  <a:t>(G, 3) = 2.</a:t>
                </a:r>
              </a:p>
              <a:p>
                <a:pPr marL="0" indent="0">
                  <a:buNone/>
                </a:pPr>
                <a:endParaRPr lang="en-US" altLang="zh-TW" sz="2600" dirty="0"/>
              </a:p>
              <a:p>
                <a:pPr marL="0" indent="0">
                  <a:buNone/>
                </a:pPr>
                <a:endParaRPr lang="zh-TW" altLang="en-US" sz="2600" dirty="0"/>
              </a:p>
            </p:txBody>
          </p:sp>
        </mc:Choice>
        <mc:Fallback xmlns="">
          <p:sp>
            <p:nvSpPr>
              <p:cNvPr id="3" name="內容版面配置區 2">
                <a:extLst>
                  <a:ext uri="{FF2B5EF4-FFF2-40B4-BE49-F238E27FC236}">
                    <a16:creationId xmlns:a16="http://schemas.microsoft.com/office/drawing/2014/main" id="{9CCFA0DC-E814-4E7B-A959-B86A1B3EC408}"/>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7353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1F9E86A-A379-47E8-AD3C-CA3AE0A153B5}"/>
                  </a:ext>
                </a:extLst>
              </p:cNvPr>
              <p:cNvSpPr>
                <a:spLocks noGrp="1"/>
              </p:cNvSpPr>
              <p:nvPr>
                <p:ph idx="1"/>
              </p:nvPr>
            </p:nvSpPr>
            <p:spPr>
              <a:xfrm>
                <a:off x="582706" y="475130"/>
                <a:ext cx="11196918" cy="5701834"/>
              </a:xfrm>
            </p:spPr>
            <p:txBody>
              <a:bodyPr>
                <a:normAutofit fontScale="25000" lnSpcReduction="20000"/>
              </a:bodyPr>
              <a:lstStyle/>
              <a:p>
                <a:pPr marL="0" indent="0">
                  <a:buNone/>
                </a:pPr>
                <a:r>
                  <a:rPr lang="en-US" altLang="zh-TW" sz="11200" dirty="0"/>
                  <a:t>U(p,∞) = </a:t>
                </a:r>
                <a14:m>
                  <m:oMath xmlns:m="http://schemas.openxmlformats.org/officeDocument/2006/math">
                    <m:nary>
                      <m:naryPr>
                        <m:chr m:val="∑"/>
                        <m:supHide m:val="on"/>
                        <m:ctrlPr>
                          <a:rPr lang="pt-BR" altLang="zh-TW" sz="11200" i="1">
                            <a:latin typeface="Cambria Math" panose="02040503050406030204" pitchFamily="18" charset="0"/>
                          </a:rPr>
                        </m:ctrlPr>
                      </m:naryPr>
                      <m:sub>
                        <m:r>
                          <m:rPr>
                            <m:nor/>
                          </m:rPr>
                          <a:rPr lang="el-GR" altLang="zh-TW" sz="11200" dirty="0"/>
                          <m:t>σ</m:t>
                        </m:r>
                        <m:r>
                          <m:rPr>
                            <m:nor/>
                          </m:rPr>
                          <a:rPr lang="zh-TW" altLang="en-US" sz="11200"/>
                          <m:t>∈</m:t>
                        </m:r>
                        <m:r>
                          <m:rPr>
                            <m:nor/>
                          </m:rPr>
                          <a:rPr lang="el-GR" altLang="zh-TW" sz="11200"/>
                          <m:t>Σ</m:t>
                        </m:r>
                      </m:sub>
                      <m:sup/>
                      <m:e>
                        <m:r>
                          <m:rPr>
                            <m:nor/>
                          </m:rPr>
                          <a:rPr lang="en-US" altLang="zh-TW" sz="11200">
                            <a:latin typeface="Cambria Math" panose="02040503050406030204" pitchFamily="18" charset="0"/>
                          </a:rPr>
                          <m:t> </m:t>
                        </m:r>
                        <m:r>
                          <m:rPr>
                            <m:nor/>
                          </m:rPr>
                          <a:rPr lang="en-US" altLang="zh-TW" sz="11200" dirty="0"/>
                          <m:t>min</m:t>
                        </m:r>
                        <m:r>
                          <m:rPr>
                            <m:nor/>
                          </m:rPr>
                          <a:rPr lang="en-US" altLang="zh-TW" sz="11200" dirty="0"/>
                          <m:t>{</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1</m:t>
                            </m:r>
                          </m:sub>
                        </m:sSub>
                        <m:r>
                          <m:rPr>
                            <m:nor/>
                          </m:rPr>
                          <a:rPr lang="en-US" altLang="zh-TW" sz="11200" dirty="0"/>
                          <m:t>(</m:t>
                        </m:r>
                        <m:r>
                          <m:rPr>
                            <m:nor/>
                          </m:rPr>
                          <a:rPr lang="el-GR" altLang="zh-TW" sz="11200" dirty="0"/>
                          <m:t>σ</m:t>
                        </m:r>
                        <m:r>
                          <m:rPr>
                            <m:nor/>
                          </m:rPr>
                          <a:rPr lang="el-GR" altLang="zh-TW" sz="11200" dirty="0"/>
                          <m:t>,</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𝑝</m:t>
                            </m:r>
                          </m:e>
                          <m:sub>
                            <m:r>
                              <a:rPr lang="en-US" altLang="zh-TW" sz="11200" i="1" dirty="0">
                                <a:latin typeface="Cambria Math" panose="02040503050406030204" pitchFamily="18" charset="0"/>
                              </a:rPr>
                              <m:t>1</m:t>
                            </m:r>
                          </m:sub>
                        </m:sSub>
                        <m:r>
                          <m:rPr>
                            <m:nor/>
                          </m:rPr>
                          <a:rPr lang="en-US" altLang="zh-TW" sz="11200" dirty="0"/>
                          <m:t>),</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2</m:t>
                            </m:r>
                          </m:sub>
                        </m:sSub>
                        <m:r>
                          <m:rPr>
                            <m:nor/>
                          </m:rPr>
                          <a:rPr lang="en-US" altLang="zh-TW" sz="11200" dirty="0"/>
                          <m:t>(</m:t>
                        </m:r>
                        <m:r>
                          <m:rPr>
                            <m:nor/>
                          </m:rPr>
                          <a:rPr lang="el-GR" altLang="zh-TW" sz="11200" dirty="0"/>
                          <m:t>σ</m:t>
                        </m:r>
                        <m:r>
                          <m:rPr>
                            <m:nor/>
                          </m:rPr>
                          <a:rPr lang="el-GR" altLang="zh-TW" sz="11200" dirty="0"/>
                          <m:t>,</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𝑝</m:t>
                            </m:r>
                          </m:e>
                          <m:sub>
                            <m:r>
                              <a:rPr lang="en-US" altLang="zh-TW" sz="11200" i="1" dirty="0">
                                <a:latin typeface="Cambria Math" panose="02040503050406030204" pitchFamily="18" charset="0"/>
                              </a:rPr>
                              <m:t>2</m:t>
                            </m:r>
                          </m:sub>
                        </m:sSub>
                        <m:r>
                          <m:rPr>
                            <m:nor/>
                          </m:rPr>
                          <a:rPr lang="en-US" altLang="zh-TW" sz="11200" dirty="0"/>
                          <m:t>), · · · ,</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𝑠𝑑</m:t>
                            </m:r>
                          </m:sub>
                        </m:sSub>
                        <m:r>
                          <m:rPr>
                            <m:nor/>
                          </m:rPr>
                          <a:rPr lang="en-US" altLang="zh-TW" sz="11200" dirty="0"/>
                          <m:t>(</m:t>
                        </m:r>
                        <m:r>
                          <m:rPr>
                            <m:nor/>
                          </m:rPr>
                          <a:rPr lang="el-GR" altLang="zh-TW" sz="11200" dirty="0"/>
                          <m:t>σ</m:t>
                        </m:r>
                        <m:r>
                          <m:rPr>
                            <m:nor/>
                          </m:rPr>
                          <a:rPr lang="el-GR" altLang="zh-TW" sz="11200" dirty="0"/>
                          <m:t>,</m:t>
                        </m:r>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𝑝</m:t>
                            </m:r>
                          </m:e>
                          <m:sub>
                            <m:r>
                              <a:rPr lang="en-US" altLang="zh-TW" sz="11200" i="1" dirty="0">
                                <a:latin typeface="Cambria Math" panose="02040503050406030204" pitchFamily="18" charset="0"/>
                              </a:rPr>
                              <m:t>𝑑</m:t>
                            </m:r>
                          </m:sub>
                        </m:sSub>
                        <m:r>
                          <m:rPr>
                            <m:nor/>
                          </m:rPr>
                          <a:rPr lang="en-US" altLang="zh-TW" sz="11200" dirty="0"/>
                          <m:t>)}</m:t>
                        </m:r>
                      </m:e>
                    </m:nary>
                  </m:oMath>
                </a14:m>
                <a:endParaRPr lang="en-US" altLang="zh-TW" sz="11200" dirty="0"/>
              </a:p>
              <a:p>
                <a:pPr marL="0" indent="0">
                  <a:buNone/>
                </a:pPr>
                <a:endParaRPr lang="en-US" altLang="zh-TW" sz="11200" dirty="0"/>
              </a:p>
              <a:p>
                <a:pPr marL="0" indent="0">
                  <a:buNone/>
                </a:pPr>
                <a:r>
                  <a:rPr lang="pl-PL" altLang="zh-TW" sz="11200" dirty="0"/>
                  <a:t>U(O,p,∞) = lev(p) + U(p,∞)</a:t>
                </a:r>
                <a:endParaRPr lang="en-US" altLang="zh-TW" sz="11200" dirty="0"/>
              </a:p>
              <a:p>
                <a:endParaRPr lang="en-US" altLang="zh-TW" dirty="0"/>
              </a:p>
              <a:p>
                <a:pPr marL="0" indent="0">
                  <a:buNone/>
                </a:pPr>
                <a:endParaRPr lang="en-US" altLang="zh-TW" sz="11200" dirty="0"/>
              </a:p>
              <a:p>
                <a:pPr marL="0" indent="0">
                  <a:buNone/>
                </a:pPr>
                <a:r>
                  <a:rPr lang="en-US" altLang="zh-TW" sz="11200" dirty="0"/>
                  <a:t>e.g. Two sequences s1 = GAAGCGTA </a:t>
                </a:r>
              </a:p>
              <a:p>
                <a:pPr marL="0" indent="0">
                  <a:buNone/>
                </a:pPr>
                <a:r>
                  <a:rPr lang="en-US" altLang="zh-TW" sz="11200" dirty="0"/>
                  <a:t>	                      s2 = AGT CTGAC</a:t>
                </a:r>
              </a:p>
              <a:p>
                <a:pPr marL="0" indent="0">
                  <a:buNone/>
                </a:pPr>
                <a:r>
                  <a:rPr lang="en-US" altLang="zh-TW" sz="11200" dirty="0"/>
                  <a:t>For match point p=(1,2)</a:t>
                </a:r>
              </a:p>
              <a:p>
                <a:pPr marL="0" indent="0">
                  <a:buNone/>
                </a:pPr>
                <a:r>
                  <a:rPr lang="en-US" altLang="zh-TW" sz="11200" dirty="0"/>
                  <a:t>U(p,∞) = min{</a:t>
                </a:r>
                <a14:m>
                  <m:oMath xmlns:m="http://schemas.openxmlformats.org/officeDocument/2006/math">
                    <m:sSub>
                      <m:sSubPr>
                        <m:ctrlPr>
                          <a:rPr lang="pt-BR" altLang="zh-TW" sz="11200" i="1" dirty="0" smtClean="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1</m:t>
                        </m:r>
                      </m:sub>
                    </m:sSub>
                  </m:oMath>
                </a14:m>
                <a:r>
                  <a:rPr lang="en-US" altLang="zh-TW" sz="11200" dirty="0"/>
                  <a:t>(A, 1), </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b="0" i="1" dirty="0" smtClean="0">
                            <a:latin typeface="Cambria Math" panose="02040503050406030204" pitchFamily="18" charset="0"/>
                          </a:rPr>
                          <m:t>2</m:t>
                        </m:r>
                      </m:sub>
                    </m:sSub>
                  </m:oMath>
                </a14:m>
                <a:r>
                  <a:rPr lang="en-US" altLang="zh-TW" sz="11200" dirty="0"/>
                  <a:t>(A, 2)} + min{</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1</m:t>
                        </m:r>
                      </m:sub>
                    </m:sSub>
                  </m:oMath>
                </a14:m>
                <a:r>
                  <a:rPr lang="en-US" altLang="zh-TW" sz="11200" dirty="0"/>
                  <a:t>(C, 1), </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b="0" i="1" dirty="0" smtClean="0">
                            <a:latin typeface="Cambria Math" panose="02040503050406030204" pitchFamily="18" charset="0"/>
                          </a:rPr>
                          <m:t>2</m:t>
                        </m:r>
                      </m:sub>
                    </m:sSub>
                  </m:oMath>
                </a14:m>
                <a:r>
                  <a:rPr lang="en-US" altLang="zh-TW" sz="11200" dirty="0"/>
                  <a:t>                                  (C, 2)} + min{</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1</m:t>
                        </m:r>
                      </m:sub>
                    </m:sSub>
                  </m:oMath>
                </a14:m>
                <a:r>
                  <a:rPr lang="en-US" altLang="zh-TW" sz="11200" dirty="0"/>
                  <a:t>(G, 1), </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b="0" i="1" dirty="0" smtClean="0">
                            <a:latin typeface="Cambria Math" panose="02040503050406030204" pitchFamily="18" charset="0"/>
                          </a:rPr>
                          <m:t>2</m:t>
                        </m:r>
                      </m:sub>
                    </m:sSub>
                  </m:oMath>
                </a14:m>
                <a:r>
                  <a:rPr lang="en-US" altLang="zh-TW" sz="11200" dirty="0"/>
                  <a:t>(G, 2)} + min{</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i="1" dirty="0">
                            <a:latin typeface="Cambria Math" panose="02040503050406030204" pitchFamily="18" charset="0"/>
                          </a:rPr>
                          <m:t>1</m:t>
                        </m:r>
                      </m:sub>
                    </m:sSub>
                  </m:oMath>
                </a14:m>
                <a:r>
                  <a:rPr lang="zh-TW" altLang="en-US" sz="11200" dirty="0"/>
                  <a:t> </a:t>
                </a:r>
                <a:r>
                  <a:rPr lang="en-US" altLang="zh-TW" sz="11200" dirty="0"/>
                  <a:t>(T, 1), </a:t>
                </a:r>
                <a14:m>
                  <m:oMath xmlns:m="http://schemas.openxmlformats.org/officeDocument/2006/math">
                    <m:sSub>
                      <m:sSubPr>
                        <m:ctrlPr>
                          <a:rPr lang="pt-BR" altLang="zh-TW" sz="11200" i="1" dirty="0">
                            <a:latin typeface="Cambria Math" panose="02040503050406030204" pitchFamily="18" charset="0"/>
                          </a:rPr>
                        </m:ctrlPr>
                      </m:sSubPr>
                      <m:e>
                        <m:r>
                          <a:rPr lang="en-US" altLang="zh-TW" sz="11200" i="1" dirty="0">
                            <a:latin typeface="Cambria Math" panose="02040503050406030204" pitchFamily="18" charset="0"/>
                          </a:rPr>
                          <m:t>𝑛𝑢𝑚</m:t>
                        </m:r>
                      </m:e>
                      <m:sub>
                        <m:r>
                          <a:rPr lang="en-US" altLang="zh-TW" sz="11200" i="1" dirty="0">
                            <a:latin typeface="Cambria Math" panose="02040503050406030204" pitchFamily="18" charset="0"/>
                          </a:rPr>
                          <m:t>𝑠</m:t>
                        </m:r>
                        <m:r>
                          <a:rPr lang="en-US" altLang="zh-TW" sz="11200" b="0" i="1" dirty="0" smtClean="0">
                            <a:latin typeface="Cambria Math" panose="02040503050406030204" pitchFamily="18" charset="0"/>
                          </a:rPr>
                          <m:t>2</m:t>
                        </m:r>
                      </m:sub>
                    </m:sSub>
                  </m:oMath>
                </a14:m>
                <a:r>
                  <a:rPr lang="en-US" altLang="zh-TW" sz="11200" dirty="0"/>
                  <a:t>(T, 2)} = min{3, 1} + min{1, 2} + min{2, 1} + min{1, 2}= 4. </a:t>
                </a:r>
              </a:p>
              <a:p>
                <a:pPr marL="0" indent="0">
                  <a:buNone/>
                </a:pPr>
                <a:endParaRPr lang="zh-TW" altLang="en-US" sz="11200" dirty="0"/>
              </a:p>
            </p:txBody>
          </p:sp>
        </mc:Choice>
        <mc:Fallback xmlns="">
          <p:sp>
            <p:nvSpPr>
              <p:cNvPr id="3" name="內容版面配置區 2">
                <a:extLst>
                  <a:ext uri="{FF2B5EF4-FFF2-40B4-BE49-F238E27FC236}">
                    <a16:creationId xmlns:a16="http://schemas.microsoft.com/office/drawing/2014/main" id="{81F9E86A-A379-47E8-AD3C-CA3AE0A153B5}"/>
                  </a:ext>
                </a:extLst>
              </p:cNvPr>
              <p:cNvSpPr>
                <a:spLocks noGrp="1" noRot="1" noChangeAspect="1" noMove="1" noResize="1" noEditPoints="1" noAdjustHandles="1" noChangeArrowheads="1" noChangeShapeType="1" noTextEdit="1"/>
              </p:cNvSpPr>
              <p:nvPr>
                <p:ph idx="1"/>
              </p:nvPr>
            </p:nvSpPr>
            <p:spPr>
              <a:xfrm>
                <a:off x="582706" y="475130"/>
                <a:ext cx="11196918" cy="5701834"/>
              </a:xfrm>
              <a:blipFill>
                <a:blip r:embed="rId2"/>
                <a:stretch>
                  <a:fillRect l="-1144" t="-310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35196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4AF717-C27C-4F6E-A24A-68C6A4696566}"/>
              </a:ext>
            </a:extLst>
          </p:cNvPr>
          <p:cNvSpPr>
            <a:spLocks noGrp="1"/>
          </p:cNvSpPr>
          <p:nvPr>
            <p:ph type="title"/>
          </p:nvPr>
        </p:nvSpPr>
        <p:spPr/>
        <p:txBody>
          <a:bodyPr/>
          <a:lstStyle/>
          <a:p>
            <a:r>
              <a:rPr lang="en-US" altLang="zh-TW" dirty="0"/>
              <a:t> Construct Smaller DAG</a:t>
            </a:r>
            <a:endParaRPr lang="zh-TW" altLang="en-US" dirty="0"/>
          </a:p>
        </p:txBody>
      </p:sp>
      <p:sp>
        <p:nvSpPr>
          <p:cNvPr id="3" name="內容版面配置區 2">
            <a:extLst>
              <a:ext uri="{FF2B5EF4-FFF2-40B4-BE49-F238E27FC236}">
                <a16:creationId xmlns:a16="http://schemas.microsoft.com/office/drawing/2014/main" id="{2215F729-337A-4239-B186-ADB7A4B848EA}"/>
              </a:ext>
            </a:extLst>
          </p:cNvPr>
          <p:cNvSpPr>
            <a:spLocks noGrp="1"/>
          </p:cNvSpPr>
          <p:nvPr>
            <p:ph idx="1"/>
          </p:nvPr>
        </p:nvSpPr>
        <p:spPr>
          <a:xfrm>
            <a:off x="838200" y="1515035"/>
            <a:ext cx="10515600" cy="4661928"/>
          </a:xfrm>
        </p:spPr>
        <p:txBody>
          <a:bodyPr>
            <a:normAutofit fontScale="77500" lnSpcReduction="20000"/>
          </a:bodyPr>
          <a:lstStyle/>
          <a:p>
            <a:pPr marL="0" indent="0">
              <a:buNone/>
            </a:pPr>
            <a:r>
              <a:rPr lang="en-US" altLang="zh-TW" dirty="0"/>
              <a:t>1)Select any match point p ∈ L k , search its successor set </a:t>
            </a:r>
            <a:r>
              <a:rPr lang="en-US" altLang="zh-TW" dirty="0" err="1"/>
              <a:t>succ</a:t>
            </a:r>
            <a:r>
              <a:rPr lang="en-US" altLang="zh-TW" dirty="0"/>
              <a:t>(p). </a:t>
            </a:r>
          </a:p>
          <a:p>
            <a:pPr marL="0" indent="0">
              <a:buNone/>
            </a:pPr>
            <a:r>
              <a:rPr lang="en-US" altLang="zh-TW" dirty="0"/>
              <a:t>2) For each successor q ∈ </a:t>
            </a:r>
            <a:r>
              <a:rPr lang="en-US" altLang="zh-TW" dirty="0" err="1"/>
              <a:t>succ</a:t>
            </a:r>
            <a:r>
              <a:rPr lang="en-US" altLang="zh-TW" dirty="0"/>
              <a:t>(p), check whether q has already existed in DAG. If not, set the level    of q (i.e., the length of the current longest path from O to q) as lev(q) = k + 1, go to step 3). Otherwise, compute the level lev(q) of q in two cases: </a:t>
            </a:r>
          </a:p>
          <a:p>
            <a:pPr marL="0" indent="0">
              <a:buNone/>
            </a:pPr>
            <a:r>
              <a:rPr lang="en-US" altLang="zh-TW" dirty="0"/>
              <a:t>	• If lev(q) &lt; k + 1, it indicates that the existing longest path(s) from O to q is (are) 	shorter than the new longest path from O to q through p. Update lev(q) = k + 1 and 	shift q from L lev(q) to L k+1. Remove all existing paths through q. Go to step 4). 	</a:t>
            </a:r>
          </a:p>
          <a:p>
            <a:pPr marL="0" indent="0">
              <a:buNone/>
            </a:pPr>
            <a:r>
              <a:rPr lang="en-US" altLang="zh-TW" dirty="0"/>
              <a:t>	• If lev(q) = k + 1, it indicates that the path from O to q through p is also a new longest path 	from O to q, keep lev(q) unchanged. Go to step 4). </a:t>
            </a:r>
          </a:p>
          <a:p>
            <a:pPr marL="0" indent="0">
              <a:buNone/>
            </a:pPr>
            <a:r>
              <a:rPr lang="en-US" altLang="zh-TW" dirty="0"/>
              <a:t>3) Identify whether q is a useless match point according to Theorem 2. If yes, do not put q in DAG, go to </a:t>
            </a:r>
            <a:r>
              <a:rPr lang="en-US" altLang="zh-TW" dirty="0" err="1"/>
              <a:t>setp</a:t>
            </a:r>
            <a:r>
              <a:rPr lang="en-US" altLang="zh-TW" dirty="0"/>
              <a:t> 5). Otherwise, put q into L k+1 . </a:t>
            </a:r>
          </a:p>
          <a:p>
            <a:pPr marL="0" indent="0">
              <a:buNone/>
            </a:pPr>
            <a:r>
              <a:rPr lang="en-US" altLang="zh-TW" dirty="0"/>
              <a:t>4) Add a directed edge from p to q in DAG. </a:t>
            </a:r>
          </a:p>
          <a:p>
            <a:pPr marL="0" indent="0">
              <a:buNone/>
            </a:pPr>
            <a:r>
              <a:rPr lang="en-US" altLang="zh-TW" dirty="0"/>
              <a:t>5) If successors of all match points in L k have been checked, the construction of L k+1 is finished. Otherwise, go to step 1).</a:t>
            </a:r>
            <a:endParaRPr lang="zh-TW" altLang="en-US" dirty="0"/>
          </a:p>
        </p:txBody>
      </p:sp>
    </p:spTree>
    <p:extLst>
      <p:ext uri="{BB962C8B-B14F-4D97-AF65-F5344CB8AC3E}">
        <p14:creationId xmlns:p14="http://schemas.microsoft.com/office/powerpoint/2010/main" val="1846192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6">
            <a:extLst>
              <a:ext uri="{FF2B5EF4-FFF2-40B4-BE49-F238E27FC236}">
                <a16:creationId xmlns:a16="http://schemas.microsoft.com/office/drawing/2014/main" id="{8A8BD656-D224-4B87-90B1-6180F4E69D3B}"/>
              </a:ext>
            </a:extLst>
          </p:cNvPr>
          <p:cNvSpPr>
            <a:spLocks noGrp="1"/>
          </p:cNvSpPr>
          <p:nvPr>
            <p:ph idx="1"/>
          </p:nvPr>
        </p:nvSpPr>
        <p:spPr>
          <a:xfrm>
            <a:off x="838200" y="123825"/>
            <a:ext cx="10515600" cy="6053138"/>
          </a:xfrm>
        </p:spPr>
        <p:txBody>
          <a:bodyPr/>
          <a:lstStyle/>
          <a:p>
            <a:pPr marL="0" indent="0">
              <a:buNone/>
            </a:pPr>
            <a:r>
              <a:rPr lang="en-US" altLang="zh-TW" dirty="0"/>
              <a:t>Two sequences s1 = GAAGCGTA </a:t>
            </a:r>
          </a:p>
          <a:p>
            <a:pPr marL="0" indent="0">
              <a:buNone/>
            </a:pPr>
            <a:r>
              <a:rPr lang="en-US" altLang="zh-TW" dirty="0"/>
              <a:t>	               s2 = AGT CTGAC</a:t>
            </a:r>
          </a:p>
          <a:p>
            <a:endParaRPr lang="zh-TW" altLang="en-US" dirty="0"/>
          </a:p>
        </p:txBody>
      </p:sp>
      <p:pic>
        <p:nvPicPr>
          <p:cNvPr id="13" name="圖片 12">
            <a:extLst>
              <a:ext uri="{FF2B5EF4-FFF2-40B4-BE49-F238E27FC236}">
                <a16:creationId xmlns:a16="http://schemas.microsoft.com/office/drawing/2014/main" id="{C24BF426-4DE2-4F23-9389-3E00469F5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425" y="1627656"/>
            <a:ext cx="4368307" cy="3197315"/>
          </a:xfrm>
          <a:prstGeom prst="rect">
            <a:avLst/>
          </a:prstGeom>
        </p:spPr>
      </p:pic>
      <p:pic>
        <p:nvPicPr>
          <p:cNvPr id="17" name="圖片 16">
            <a:extLst>
              <a:ext uri="{FF2B5EF4-FFF2-40B4-BE49-F238E27FC236}">
                <a16:creationId xmlns:a16="http://schemas.microsoft.com/office/drawing/2014/main" id="{E3D7ABB7-2D6E-4378-BA3A-00B85BF95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55753" y="5188519"/>
            <a:ext cx="1493649" cy="312447"/>
          </a:xfrm>
          <a:prstGeom prst="rect">
            <a:avLst/>
          </a:prstGeom>
        </p:spPr>
      </p:pic>
      <p:pic>
        <p:nvPicPr>
          <p:cNvPr id="18" name="圖片 17">
            <a:extLst>
              <a:ext uri="{FF2B5EF4-FFF2-40B4-BE49-F238E27FC236}">
                <a16:creationId xmlns:a16="http://schemas.microsoft.com/office/drawing/2014/main" id="{DE254DB0-0C39-4C4A-A42D-ECDA328FBC94}"/>
              </a:ext>
            </a:extLst>
          </p:cNvPr>
          <p:cNvPicPr>
            <a:picLocks noChangeAspect="1"/>
          </p:cNvPicPr>
          <p:nvPr/>
        </p:nvPicPr>
        <p:blipFill>
          <a:blip r:embed="rId4"/>
          <a:stretch>
            <a:fillRect/>
          </a:stretch>
        </p:blipFill>
        <p:spPr>
          <a:xfrm>
            <a:off x="105268" y="1627656"/>
            <a:ext cx="7223126" cy="4251665"/>
          </a:xfrm>
          <a:prstGeom prst="rect">
            <a:avLst/>
          </a:prstGeom>
        </p:spPr>
      </p:pic>
    </p:spTree>
    <p:extLst>
      <p:ext uri="{BB962C8B-B14F-4D97-AF65-F5344CB8AC3E}">
        <p14:creationId xmlns:p14="http://schemas.microsoft.com/office/powerpoint/2010/main" val="4276170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495BCA8-2BB3-48A3-B54C-1230CFADF28B}"/>
              </a:ext>
            </a:extLst>
          </p:cNvPr>
          <p:cNvPicPr>
            <a:picLocks noChangeAspect="1"/>
          </p:cNvPicPr>
          <p:nvPr/>
        </p:nvPicPr>
        <p:blipFill>
          <a:blip r:embed="rId2"/>
          <a:stretch>
            <a:fillRect/>
          </a:stretch>
        </p:blipFill>
        <p:spPr>
          <a:xfrm>
            <a:off x="200025" y="147913"/>
            <a:ext cx="7446285" cy="4433612"/>
          </a:xfrm>
          <a:prstGeom prst="rect">
            <a:avLst/>
          </a:prstGeom>
        </p:spPr>
      </p:pic>
      <p:graphicFrame>
        <p:nvGraphicFramePr>
          <p:cNvPr id="5" name="表格 5">
            <a:extLst>
              <a:ext uri="{FF2B5EF4-FFF2-40B4-BE49-F238E27FC236}">
                <a16:creationId xmlns:a16="http://schemas.microsoft.com/office/drawing/2014/main" id="{357DA710-6A64-4F26-8D62-47BB1DDAF8E6}"/>
              </a:ext>
            </a:extLst>
          </p:cNvPr>
          <p:cNvGraphicFramePr>
            <a:graphicFrameLocks noGrp="1"/>
          </p:cNvGraphicFramePr>
          <p:nvPr>
            <p:extLst>
              <p:ext uri="{D42A27DB-BD31-4B8C-83A1-F6EECF244321}">
                <p14:modId xmlns:p14="http://schemas.microsoft.com/office/powerpoint/2010/main" val="210700613"/>
              </p:ext>
            </p:extLst>
          </p:nvPr>
        </p:nvGraphicFramePr>
        <p:xfrm>
          <a:off x="352425" y="5359442"/>
          <a:ext cx="8467725" cy="865206"/>
        </p:xfrm>
        <a:graphic>
          <a:graphicData uri="http://schemas.openxmlformats.org/drawingml/2006/table">
            <a:tbl>
              <a:tblPr firstRow="1" bandRow="1">
                <a:tableStyleId>{5C22544A-7EE6-4342-B048-85BDC9FD1C3A}</a:tableStyleId>
              </a:tblPr>
              <a:tblGrid>
                <a:gridCol w="755465">
                  <a:extLst>
                    <a:ext uri="{9D8B030D-6E8A-4147-A177-3AD203B41FA5}">
                      <a16:colId xmlns:a16="http://schemas.microsoft.com/office/drawing/2014/main" val="1200914372"/>
                    </a:ext>
                  </a:extLst>
                </a:gridCol>
                <a:gridCol w="842871">
                  <a:extLst>
                    <a:ext uri="{9D8B030D-6E8A-4147-A177-3AD203B41FA5}">
                      <a16:colId xmlns:a16="http://schemas.microsoft.com/office/drawing/2014/main" val="3683926720"/>
                    </a:ext>
                  </a:extLst>
                </a:gridCol>
                <a:gridCol w="733793">
                  <a:extLst>
                    <a:ext uri="{9D8B030D-6E8A-4147-A177-3AD203B41FA5}">
                      <a16:colId xmlns:a16="http://schemas.microsoft.com/office/drawing/2014/main" val="1439308489"/>
                    </a:ext>
                  </a:extLst>
                </a:gridCol>
                <a:gridCol w="803206">
                  <a:extLst>
                    <a:ext uri="{9D8B030D-6E8A-4147-A177-3AD203B41FA5}">
                      <a16:colId xmlns:a16="http://schemas.microsoft.com/office/drawing/2014/main" val="2079310431"/>
                    </a:ext>
                  </a:extLst>
                </a:gridCol>
                <a:gridCol w="813122">
                  <a:extLst>
                    <a:ext uri="{9D8B030D-6E8A-4147-A177-3AD203B41FA5}">
                      <a16:colId xmlns:a16="http://schemas.microsoft.com/office/drawing/2014/main" val="3406625095"/>
                    </a:ext>
                  </a:extLst>
                </a:gridCol>
                <a:gridCol w="794835">
                  <a:extLst>
                    <a:ext uri="{9D8B030D-6E8A-4147-A177-3AD203B41FA5}">
                      <a16:colId xmlns:a16="http://schemas.microsoft.com/office/drawing/2014/main" val="1943933790"/>
                    </a:ext>
                  </a:extLst>
                </a:gridCol>
                <a:gridCol w="761557">
                  <a:extLst>
                    <a:ext uri="{9D8B030D-6E8A-4147-A177-3AD203B41FA5}">
                      <a16:colId xmlns:a16="http://schemas.microsoft.com/office/drawing/2014/main" val="2011231379"/>
                    </a:ext>
                  </a:extLst>
                </a:gridCol>
                <a:gridCol w="701839">
                  <a:extLst>
                    <a:ext uri="{9D8B030D-6E8A-4147-A177-3AD203B41FA5}">
                      <a16:colId xmlns:a16="http://schemas.microsoft.com/office/drawing/2014/main" val="720527215"/>
                    </a:ext>
                  </a:extLst>
                </a:gridCol>
                <a:gridCol w="801846">
                  <a:extLst>
                    <a:ext uri="{9D8B030D-6E8A-4147-A177-3AD203B41FA5}">
                      <a16:colId xmlns:a16="http://schemas.microsoft.com/office/drawing/2014/main" val="1449780759"/>
                    </a:ext>
                  </a:extLst>
                </a:gridCol>
                <a:gridCol w="669655">
                  <a:extLst>
                    <a:ext uri="{9D8B030D-6E8A-4147-A177-3AD203B41FA5}">
                      <a16:colId xmlns:a16="http://schemas.microsoft.com/office/drawing/2014/main" val="2980215695"/>
                    </a:ext>
                  </a:extLst>
                </a:gridCol>
                <a:gridCol w="789536">
                  <a:extLst>
                    <a:ext uri="{9D8B030D-6E8A-4147-A177-3AD203B41FA5}">
                      <a16:colId xmlns:a16="http://schemas.microsoft.com/office/drawing/2014/main" val="4174216305"/>
                    </a:ext>
                  </a:extLst>
                </a:gridCol>
              </a:tblGrid>
              <a:tr h="499446">
                <a:tc>
                  <a:txBody>
                    <a:bodyPr/>
                    <a:lstStyle/>
                    <a:p>
                      <a:r>
                        <a:rPr lang="en-US" altLang="zh-TW" b="0" dirty="0">
                          <a:solidFill>
                            <a:schemeClr val="bg2">
                              <a:lumMod val="10000"/>
                            </a:schemeClr>
                          </a:solidFill>
                        </a:rPr>
                        <a:t>A(2,1)</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A(2,7)</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A(3,7)</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A(8,7)</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C(5,4)</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G(1,2)</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G(4,2)</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G(4,6)</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G(6,6)</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T(7,3)</a:t>
                      </a:r>
                      <a:endParaRPr lang="zh-TW" altLang="en-US" b="0" dirty="0">
                        <a:solidFill>
                          <a:schemeClr val="bg2">
                            <a:lumMod val="10000"/>
                          </a:schemeClr>
                        </a:solidFill>
                      </a:endParaRPr>
                    </a:p>
                  </a:txBody>
                  <a:tcPr>
                    <a:solidFill>
                      <a:schemeClr val="bg1">
                        <a:lumMod val="85000"/>
                      </a:schemeClr>
                    </a:solidFill>
                  </a:tcPr>
                </a:tc>
                <a:tc>
                  <a:txBody>
                    <a:bodyPr/>
                    <a:lstStyle/>
                    <a:p>
                      <a:r>
                        <a:rPr lang="en-US" altLang="zh-TW" b="0" dirty="0">
                          <a:solidFill>
                            <a:schemeClr val="bg2">
                              <a:lumMod val="10000"/>
                            </a:schemeClr>
                          </a:solidFill>
                        </a:rPr>
                        <a:t>T(7,5)</a:t>
                      </a:r>
                      <a:endParaRPr lang="zh-TW" altLang="en-US" b="0" dirty="0">
                        <a:solidFill>
                          <a:schemeClr val="bg2">
                            <a:lumMod val="10000"/>
                          </a:schemeClr>
                        </a:solidFill>
                      </a:endParaRPr>
                    </a:p>
                  </a:txBody>
                  <a:tcPr>
                    <a:solidFill>
                      <a:schemeClr val="bg1">
                        <a:lumMod val="85000"/>
                      </a:schemeClr>
                    </a:solidFill>
                  </a:tcPr>
                </a:tc>
                <a:extLst>
                  <a:ext uri="{0D108BD9-81ED-4DB2-BD59-A6C34878D82A}">
                    <a16:rowId xmlns:a16="http://schemas.microsoft.com/office/drawing/2014/main" val="3644151416"/>
                  </a:ext>
                </a:extLst>
              </a:tr>
              <a:tr h="345921">
                <a:tc>
                  <a:txBody>
                    <a:bodyPr/>
                    <a:lstStyle/>
                    <a:p>
                      <a:pPr algn="ctr"/>
                      <a:r>
                        <a:rPr lang="en-US" altLang="zh-TW" b="0" dirty="0">
                          <a:solidFill>
                            <a:schemeClr val="bg2">
                              <a:lumMod val="10000"/>
                            </a:schemeClr>
                          </a:solidFill>
                        </a:rPr>
                        <a:t>5</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1</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1</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0</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3</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4</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3</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2</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1</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1</a:t>
                      </a:r>
                      <a:endParaRPr lang="zh-TW" altLang="en-US" b="0" dirty="0">
                        <a:solidFill>
                          <a:schemeClr val="bg2">
                            <a:lumMod val="10000"/>
                          </a:schemeClr>
                        </a:solidFill>
                      </a:endParaRPr>
                    </a:p>
                  </a:txBody>
                  <a:tcPr>
                    <a:solidFill>
                      <a:schemeClr val="bg1">
                        <a:lumMod val="85000"/>
                      </a:schemeClr>
                    </a:solidFill>
                  </a:tcPr>
                </a:tc>
                <a:tc>
                  <a:txBody>
                    <a:bodyPr/>
                    <a:lstStyle/>
                    <a:p>
                      <a:pPr algn="ctr"/>
                      <a:r>
                        <a:rPr lang="en-US" altLang="zh-TW" b="0" dirty="0">
                          <a:solidFill>
                            <a:schemeClr val="bg2">
                              <a:lumMod val="10000"/>
                            </a:schemeClr>
                          </a:solidFill>
                        </a:rPr>
                        <a:t>1</a:t>
                      </a:r>
                      <a:endParaRPr lang="zh-TW" altLang="en-US" b="0" dirty="0">
                        <a:solidFill>
                          <a:schemeClr val="bg2">
                            <a:lumMod val="10000"/>
                          </a:schemeClr>
                        </a:solidFill>
                      </a:endParaRPr>
                    </a:p>
                  </a:txBody>
                  <a:tcPr>
                    <a:solidFill>
                      <a:schemeClr val="bg1">
                        <a:lumMod val="85000"/>
                      </a:schemeClr>
                    </a:solidFill>
                  </a:tcPr>
                </a:tc>
                <a:extLst>
                  <a:ext uri="{0D108BD9-81ED-4DB2-BD59-A6C34878D82A}">
                    <a16:rowId xmlns:a16="http://schemas.microsoft.com/office/drawing/2014/main" val="1475989451"/>
                  </a:ext>
                </a:extLst>
              </a:tr>
            </a:tbl>
          </a:graphicData>
        </a:graphic>
      </p:graphicFrame>
      <p:sp>
        <p:nvSpPr>
          <p:cNvPr id="6" name="文字方塊 5">
            <a:extLst>
              <a:ext uri="{FF2B5EF4-FFF2-40B4-BE49-F238E27FC236}">
                <a16:creationId xmlns:a16="http://schemas.microsoft.com/office/drawing/2014/main" id="{84F67C3E-034D-4FCF-A2D4-DAF1A8E3D845}"/>
              </a:ext>
            </a:extLst>
          </p:cNvPr>
          <p:cNvSpPr txBox="1"/>
          <p:nvPr/>
        </p:nvSpPr>
        <p:spPr>
          <a:xfrm>
            <a:off x="6705599" y="305811"/>
            <a:ext cx="1181101" cy="461665"/>
          </a:xfrm>
          <a:prstGeom prst="rect">
            <a:avLst/>
          </a:prstGeom>
          <a:noFill/>
        </p:spPr>
        <p:txBody>
          <a:bodyPr wrap="square" rtlCol="0">
            <a:spAutoFit/>
          </a:bodyPr>
          <a:lstStyle/>
          <a:p>
            <a:r>
              <a:rPr lang="en-US" altLang="zh-TW" sz="2400" dirty="0" err="1"/>
              <a:t>Lmcs</a:t>
            </a:r>
            <a:r>
              <a:rPr lang="en-US" altLang="zh-TW" sz="2400" dirty="0"/>
              <a:t>=5</a:t>
            </a:r>
            <a:endParaRPr lang="zh-TW" altLang="en-US" sz="2400" dirty="0"/>
          </a:p>
        </p:txBody>
      </p:sp>
      <p:pic>
        <p:nvPicPr>
          <p:cNvPr id="8" name="圖片 7">
            <a:extLst>
              <a:ext uri="{FF2B5EF4-FFF2-40B4-BE49-F238E27FC236}">
                <a16:creationId xmlns:a16="http://schemas.microsoft.com/office/drawing/2014/main" id="{36E79989-0569-4ACD-95FE-32986B18F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120" y="4661550"/>
            <a:ext cx="6239002" cy="471829"/>
          </a:xfrm>
          <a:prstGeom prst="rect">
            <a:avLst/>
          </a:prstGeom>
        </p:spPr>
      </p:pic>
      <p:pic>
        <p:nvPicPr>
          <p:cNvPr id="10" name="圖片 9">
            <a:extLst>
              <a:ext uri="{FF2B5EF4-FFF2-40B4-BE49-F238E27FC236}">
                <a16:creationId xmlns:a16="http://schemas.microsoft.com/office/drawing/2014/main" id="{642D4C0C-AE87-49AF-BCE0-88936D7DA3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46310" y="2057849"/>
            <a:ext cx="4251336" cy="2418293"/>
          </a:xfrm>
          <a:prstGeom prst="rect">
            <a:avLst/>
          </a:prstGeom>
        </p:spPr>
      </p:pic>
      <p:pic>
        <p:nvPicPr>
          <p:cNvPr id="12" name="圖片 11">
            <a:extLst>
              <a:ext uri="{FF2B5EF4-FFF2-40B4-BE49-F238E27FC236}">
                <a16:creationId xmlns:a16="http://schemas.microsoft.com/office/drawing/2014/main" id="{683F9D3F-DE1D-46CB-812B-86CEC0B537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15504" y="4686025"/>
            <a:ext cx="1594188" cy="340895"/>
          </a:xfrm>
          <a:prstGeom prst="rect">
            <a:avLst/>
          </a:prstGeom>
        </p:spPr>
      </p:pic>
    </p:spTree>
    <p:extLst>
      <p:ext uri="{BB962C8B-B14F-4D97-AF65-F5344CB8AC3E}">
        <p14:creationId xmlns:p14="http://schemas.microsoft.com/office/powerpoint/2010/main" val="26335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descr="一張含有 文字, 刻度 的圖片&#10;&#10;自動產生的描述">
            <a:extLst>
              <a:ext uri="{FF2B5EF4-FFF2-40B4-BE49-F238E27FC236}">
                <a16:creationId xmlns:a16="http://schemas.microsoft.com/office/drawing/2014/main" id="{C28FA9CE-87FF-4FD5-9050-03C8E5B7D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4575" y="1981200"/>
            <a:ext cx="5739434" cy="2495549"/>
          </a:xfrm>
          <a:prstGeom prst="rect">
            <a:avLst/>
          </a:prstGeom>
        </p:spPr>
      </p:pic>
      <p:pic>
        <p:nvPicPr>
          <p:cNvPr id="17" name="圖片 16">
            <a:extLst>
              <a:ext uri="{FF2B5EF4-FFF2-40B4-BE49-F238E27FC236}">
                <a16:creationId xmlns:a16="http://schemas.microsoft.com/office/drawing/2014/main" id="{CB5BF747-795C-4DD4-8C34-67CCC6AC7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0424" y="985454"/>
            <a:ext cx="4232296" cy="365986"/>
          </a:xfrm>
          <a:prstGeom prst="rect">
            <a:avLst/>
          </a:prstGeom>
        </p:spPr>
      </p:pic>
      <p:pic>
        <p:nvPicPr>
          <p:cNvPr id="18" name="圖片 17">
            <a:extLst>
              <a:ext uri="{FF2B5EF4-FFF2-40B4-BE49-F238E27FC236}">
                <a16:creationId xmlns:a16="http://schemas.microsoft.com/office/drawing/2014/main" id="{63F6BE99-398F-4D93-89A1-6B127F1BEDAA}"/>
              </a:ext>
            </a:extLst>
          </p:cNvPr>
          <p:cNvPicPr>
            <a:picLocks noChangeAspect="1"/>
          </p:cNvPicPr>
          <p:nvPr/>
        </p:nvPicPr>
        <p:blipFill>
          <a:blip r:embed="rId4"/>
          <a:stretch>
            <a:fillRect/>
          </a:stretch>
        </p:blipFill>
        <p:spPr>
          <a:xfrm>
            <a:off x="261316" y="1763893"/>
            <a:ext cx="4775444" cy="2851677"/>
          </a:xfrm>
          <a:prstGeom prst="rect">
            <a:avLst/>
          </a:prstGeom>
        </p:spPr>
      </p:pic>
      <p:sp>
        <p:nvSpPr>
          <p:cNvPr id="19" name="箭號: 向右 18">
            <a:extLst>
              <a:ext uri="{FF2B5EF4-FFF2-40B4-BE49-F238E27FC236}">
                <a16:creationId xmlns:a16="http://schemas.microsoft.com/office/drawing/2014/main" id="{F8C13910-54CC-4857-AC44-5CA66011AA63}"/>
              </a:ext>
            </a:extLst>
          </p:cNvPr>
          <p:cNvSpPr/>
          <p:nvPr/>
        </p:nvSpPr>
        <p:spPr>
          <a:xfrm>
            <a:off x="5146167" y="294436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B6887DF1-B2DE-4855-8105-10A333381F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280" y="962689"/>
            <a:ext cx="3303396" cy="411516"/>
          </a:xfrm>
          <a:prstGeom prst="rect">
            <a:avLst/>
          </a:prstGeom>
        </p:spPr>
      </p:pic>
    </p:spTree>
    <p:extLst>
      <p:ext uri="{BB962C8B-B14F-4D97-AF65-F5344CB8AC3E}">
        <p14:creationId xmlns:p14="http://schemas.microsoft.com/office/powerpoint/2010/main" val="3390895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descr="一張含有 文字, 刻度 的圖片&#10;&#10;自動產生的描述">
            <a:extLst>
              <a:ext uri="{FF2B5EF4-FFF2-40B4-BE49-F238E27FC236}">
                <a16:creationId xmlns:a16="http://schemas.microsoft.com/office/drawing/2014/main" id="{C28FA9CE-87FF-4FD5-9050-03C8E5B7D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63" y="2343150"/>
            <a:ext cx="5739434" cy="2495549"/>
          </a:xfrm>
          <a:prstGeom prst="rect">
            <a:avLst/>
          </a:prstGeom>
        </p:spPr>
      </p:pic>
      <p:pic>
        <p:nvPicPr>
          <p:cNvPr id="17" name="圖片 16">
            <a:extLst>
              <a:ext uri="{FF2B5EF4-FFF2-40B4-BE49-F238E27FC236}">
                <a16:creationId xmlns:a16="http://schemas.microsoft.com/office/drawing/2014/main" id="{CB5BF747-795C-4DD4-8C34-67CCC6AC7A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853" y="1280729"/>
            <a:ext cx="4419601" cy="365986"/>
          </a:xfrm>
          <a:prstGeom prst="rect">
            <a:avLst/>
          </a:prstGeom>
        </p:spPr>
      </p:pic>
      <p:sp>
        <p:nvSpPr>
          <p:cNvPr id="4" name="箭號: 向右 3">
            <a:extLst>
              <a:ext uri="{FF2B5EF4-FFF2-40B4-BE49-F238E27FC236}">
                <a16:creationId xmlns:a16="http://schemas.microsoft.com/office/drawing/2014/main" id="{6366DC25-D5A9-4DCF-9E72-1B3F2FD82E05}"/>
              </a:ext>
            </a:extLst>
          </p:cNvPr>
          <p:cNvSpPr/>
          <p:nvPr/>
        </p:nvSpPr>
        <p:spPr>
          <a:xfrm>
            <a:off x="5635371" y="3186684"/>
            <a:ext cx="105443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 name="圖片 5">
            <a:extLst>
              <a:ext uri="{FF2B5EF4-FFF2-40B4-BE49-F238E27FC236}">
                <a16:creationId xmlns:a16="http://schemas.microsoft.com/office/drawing/2014/main" id="{FEAF6013-9D49-4E7E-941E-195089CCCF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0275" y="2981992"/>
            <a:ext cx="5506975" cy="894016"/>
          </a:xfrm>
          <a:prstGeom prst="rect">
            <a:avLst/>
          </a:prstGeom>
        </p:spPr>
      </p:pic>
      <p:pic>
        <p:nvPicPr>
          <p:cNvPr id="7" name="圖片 6">
            <a:extLst>
              <a:ext uri="{FF2B5EF4-FFF2-40B4-BE49-F238E27FC236}">
                <a16:creationId xmlns:a16="http://schemas.microsoft.com/office/drawing/2014/main" id="{50D91CB8-3BED-4768-A8B1-045EA9C5722B}"/>
              </a:ext>
            </a:extLst>
          </p:cNvPr>
          <p:cNvPicPr>
            <a:picLocks noChangeAspect="1"/>
          </p:cNvPicPr>
          <p:nvPr/>
        </p:nvPicPr>
        <p:blipFill>
          <a:blip r:embed="rId5"/>
          <a:stretch>
            <a:fillRect/>
          </a:stretch>
        </p:blipFill>
        <p:spPr>
          <a:xfrm>
            <a:off x="6997281" y="1280729"/>
            <a:ext cx="4638866" cy="365792"/>
          </a:xfrm>
          <a:prstGeom prst="rect">
            <a:avLst/>
          </a:prstGeom>
        </p:spPr>
      </p:pic>
    </p:spTree>
    <p:extLst>
      <p:ext uri="{BB962C8B-B14F-4D97-AF65-F5344CB8AC3E}">
        <p14:creationId xmlns:p14="http://schemas.microsoft.com/office/powerpoint/2010/main" val="1323118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39F471D-2F6D-4593-A0DF-C1F81D7A7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629" y="1808922"/>
            <a:ext cx="11591954" cy="2534478"/>
          </a:xfrm>
          <a:prstGeom prst="rect">
            <a:avLst/>
          </a:prstGeom>
        </p:spPr>
      </p:pic>
      <p:pic>
        <p:nvPicPr>
          <p:cNvPr id="9" name="圖片 8">
            <a:extLst>
              <a:ext uri="{FF2B5EF4-FFF2-40B4-BE49-F238E27FC236}">
                <a16:creationId xmlns:a16="http://schemas.microsoft.com/office/drawing/2014/main" id="{7289B0B9-75CC-4A1F-97B4-98829EA980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7699" y="4729353"/>
            <a:ext cx="2449754" cy="443796"/>
          </a:xfrm>
          <a:prstGeom prst="rect">
            <a:avLst/>
          </a:prstGeom>
        </p:spPr>
      </p:pic>
    </p:spTree>
    <p:extLst>
      <p:ext uri="{BB962C8B-B14F-4D97-AF65-F5344CB8AC3E}">
        <p14:creationId xmlns:p14="http://schemas.microsoft.com/office/powerpoint/2010/main" val="2482939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D1B74E31-A5A6-4FB7-8810-8C22224B6015}"/>
              </a:ext>
            </a:extLst>
          </p:cNvPr>
          <p:cNvSpPr>
            <a:spLocks noGrp="1"/>
          </p:cNvSpPr>
          <p:nvPr>
            <p:ph type="title"/>
          </p:nvPr>
        </p:nvSpPr>
        <p:spPr/>
        <p:txBody>
          <a:bodyPr/>
          <a:lstStyle/>
          <a:p>
            <a:r>
              <a:rPr lang="en-US" altLang="zh-TW" dirty="0"/>
              <a:t>data structures</a:t>
            </a:r>
            <a:endParaRPr lang="zh-TW" altLang="en-US" dirty="0"/>
          </a:p>
        </p:txBody>
      </p:sp>
      <p:sp>
        <p:nvSpPr>
          <p:cNvPr id="5" name="內容版面配置區 4">
            <a:extLst>
              <a:ext uri="{FF2B5EF4-FFF2-40B4-BE49-F238E27FC236}">
                <a16:creationId xmlns:a16="http://schemas.microsoft.com/office/drawing/2014/main" id="{B6D6C480-33E6-455C-BD4F-DB00144F2C0C}"/>
              </a:ext>
            </a:extLst>
          </p:cNvPr>
          <p:cNvSpPr>
            <a:spLocks noGrp="1"/>
          </p:cNvSpPr>
          <p:nvPr>
            <p:ph idx="1"/>
          </p:nvPr>
        </p:nvSpPr>
        <p:spPr/>
        <p:txBody>
          <a:bodyPr/>
          <a:lstStyle/>
          <a:p>
            <a:r>
              <a:rPr lang="en-US" altLang="zh-TW" dirty="0"/>
              <a:t>Successor Table </a:t>
            </a:r>
          </a:p>
          <a:p>
            <a:r>
              <a:rPr lang="en-US" altLang="zh-TW" dirty="0"/>
              <a:t>Hash Table</a:t>
            </a:r>
          </a:p>
          <a:p>
            <a:r>
              <a:rPr lang="en-US" altLang="zh-TW" dirty="0"/>
              <a:t>Distance Tables</a:t>
            </a:r>
            <a:endParaRPr lang="zh-TW" altLang="en-US" dirty="0"/>
          </a:p>
        </p:txBody>
      </p:sp>
      <p:pic>
        <p:nvPicPr>
          <p:cNvPr id="9" name="圖片 8" descr="一張含有 文字, 白色 的圖片&#10;&#10;自動產生的描述">
            <a:extLst>
              <a:ext uri="{FF2B5EF4-FFF2-40B4-BE49-F238E27FC236}">
                <a16:creationId xmlns:a16="http://schemas.microsoft.com/office/drawing/2014/main" id="{D8596899-8EDE-4E0B-B83F-DBC6947CD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4964" y="1690688"/>
            <a:ext cx="5891367" cy="4556912"/>
          </a:xfrm>
          <a:prstGeom prst="rect">
            <a:avLst/>
          </a:prstGeom>
        </p:spPr>
      </p:pic>
    </p:spTree>
    <p:extLst>
      <p:ext uri="{BB962C8B-B14F-4D97-AF65-F5344CB8AC3E}">
        <p14:creationId xmlns:p14="http://schemas.microsoft.com/office/powerpoint/2010/main" val="3148009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7B28DA-3E8B-44C0-8BE9-C3C90643B47D}"/>
              </a:ext>
            </a:extLst>
          </p:cNvPr>
          <p:cNvSpPr>
            <a:spLocks noGrp="1"/>
          </p:cNvSpPr>
          <p:nvPr>
            <p:ph type="title"/>
          </p:nvPr>
        </p:nvSpPr>
        <p:spPr>
          <a:xfrm>
            <a:off x="323850" y="117474"/>
            <a:ext cx="10515600" cy="1325563"/>
          </a:xfrm>
        </p:spPr>
        <p:txBody>
          <a:bodyPr/>
          <a:lstStyle/>
          <a:p>
            <a:r>
              <a:rPr lang="en-US" altLang="zh-TW" dirty="0"/>
              <a:t>EXPERIMENTAL RESULTS </a:t>
            </a:r>
            <a:endParaRPr lang="zh-TW" altLang="en-US" dirty="0"/>
          </a:p>
        </p:txBody>
      </p:sp>
      <p:pic>
        <p:nvPicPr>
          <p:cNvPr id="11" name="內容版面配置區 10" descr="一張含有 桌 的圖片&#10;&#10;自動產生的描述">
            <a:extLst>
              <a:ext uri="{FF2B5EF4-FFF2-40B4-BE49-F238E27FC236}">
                <a16:creationId xmlns:a16="http://schemas.microsoft.com/office/drawing/2014/main" id="{A64DCBB0-A002-472A-841F-B13CC2E618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715" y="1171481"/>
            <a:ext cx="11791063" cy="5043488"/>
          </a:xfrm>
        </p:spPr>
      </p:pic>
      <p:sp>
        <p:nvSpPr>
          <p:cNvPr id="12" name="文字方塊 11">
            <a:extLst>
              <a:ext uri="{FF2B5EF4-FFF2-40B4-BE49-F238E27FC236}">
                <a16:creationId xmlns:a16="http://schemas.microsoft.com/office/drawing/2014/main" id="{1C68D67F-B4CC-4CC1-8D4B-430F8BE09DDA}"/>
              </a:ext>
            </a:extLst>
          </p:cNvPr>
          <p:cNvSpPr txBox="1"/>
          <p:nvPr/>
        </p:nvSpPr>
        <p:spPr>
          <a:xfrm>
            <a:off x="5638800" y="2971800"/>
            <a:ext cx="914400" cy="914400"/>
          </a:xfrm>
          <a:prstGeom prst="rect">
            <a:avLst/>
          </a:prstGeom>
          <a:noFill/>
        </p:spPr>
        <p:txBody>
          <a:bodyPr wrap="square" rtlCol="0">
            <a:spAutoFit/>
          </a:bodyPr>
          <a:lstStyle/>
          <a:p>
            <a:endParaRPr lang="zh-TW" altLang="en-US" dirty="0"/>
          </a:p>
        </p:txBody>
      </p:sp>
      <p:sp>
        <p:nvSpPr>
          <p:cNvPr id="13" name="文字方塊 12">
            <a:extLst>
              <a:ext uri="{FF2B5EF4-FFF2-40B4-BE49-F238E27FC236}">
                <a16:creationId xmlns:a16="http://schemas.microsoft.com/office/drawing/2014/main" id="{8F72CA6E-7571-438C-8283-AD9904DEBD4E}"/>
              </a:ext>
            </a:extLst>
          </p:cNvPr>
          <p:cNvSpPr txBox="1"/>
          <p:nvPr/>
        </p:nvSpPr>
        <p:spPr>
          <a:xfrm>
            <a:off x="323850" y="6214969"/>
            <a:ext cx="7538197" cy="523220"/>
          </a:xfrm>
          <a:prstGeom prst="rect">
            <a:avLst/>
          </a:prstGeom>
          <a:noFill/>
        </p:spPr>
        <p:txBody>
          <a:bodyPr wrap="square" rtlCol="0">
            <a:spAutoFit/>
          </a:bodyPr>
          <a:lstStyle/>
          <a:p>
            <a:r>
              <a:rPr lang="en-US" altLang="zh-TW" sz="2800" dirty="0"/>
              <a:t>-:over execution time        +:memory overflow</a:t>
            </a:r>
            <a:endParaRPr lang="zh-TW" altLang="en-US" sz="2800" dirty="0"/>
          </a:p>
        </p:txBody>
      </p:sp>
    </p:spTree>
    <p:extLst>
      <p:ext uri="{BB962C8B-B14F-4D97-AF65-F5344CB8AC3E}">
        <p14:creationId xmlns:p14="http://schemas.microsoft.com/office/powerpoint/2010/main" val="123935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F817BC9E-1F9E-4430-9AA5-19E5E4CC7B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15938"/>
            <a:ext cx="6096000" cy="4799526"/>
          </a:xfrm>
        </p:spPr>
      </p:pic>
      <p:pic>
        <p:nvPicPr>
          <p:cNvPr id="7" name="圖片 6">
            <a:extLst>
              <a:ext uri="{FF2B5EF4-FFF2-40B4-BE49-F238E27FC236}">
                <a16:creationId xmlns:a16="http://schemas.microsoft.com/office/drawing/2014/main" id="{3423A2F2-2056-4D44-8F3A-4E5D0C019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00392"/>
            <a:ext cx="6344119" cy="5030618"/>
          </a:xfrm>
          <a:prstGeom prst="rect">
            <a:avLst/>
          </a:prstGeom>
        </p:spPr>
      </p:pic>
    </p:spTree>
    <p:extLst>
      <p:ext uri="{BB962C8B-B14F-4D97-AF65-F5344CB8AC3E}">
        <p14:creationId xmlns:p14="http://schemas.microsoft.com/office/powerpoint/2010/main" val="839817943"/>
      </p:ext>
    </p:extLst>
  </p:cSld>
  <p:clrMapOvr>
    <a:masterClrMapping/>
  </p:clrMapOvr>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1061</Words>
  <Application>Microsoft Office PowerPoint</Application>
  <PresentationFormat>寬螢幕</PresentationFormat>
  <Paragraphs>71</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Arial</vt:lpstr>
      <vt:lpstr>Calibri</vt:lpstr>
      <vt:lpstr>Calibri Light</vt:lpstr>
      <vt:lpstr>Cambria Math</vt:lpstr>
      <vt:lpstr>Times New Roman</vt:lpstr>
      <vt:lpstr>1_Office 佈景主題</vt:lpstr>
      <vt:lpstr>A Branch Elimination-based Efficient Algorithm for Large-scale Multiple Longest Common Subsequence Problem  ​ Shiwei Wei, Yuping Wang and Yiu-ming Cheung  </vt:lpstr>
      <vt:lpstr>Abstract(1/2)</vt:lpstr>
      <vt:lpstr>Abstract(2/2)</vt:lpstr>
      <vt:lpstr>PowerPoint 簡報</vt:lpstr>
      <vt:lpstr>PowerPoint 簡報</vt:lpstr>
      <vt:lpstr>PowerPoint 簡報</vt:lpstr>
      <vt:lpstr>Upper Bound</vt:lpstr>
      <vt:lpstr>PowerPoint 簡報</vt:lpstr>
      <vt:lpstr> Construct Smaller DAG</vt:lpstr>
      <vt:lpstr>PowerPoint 簡報</vt:lpstr>
      <vt:lpstr>PowerPoint 簡報</vt:lpstr>
      <vt:lpstr>PowerPoint 簡報</vt:lpstr>
      <vt:lpstr>PowerPoint 簡報</vt:lpstr>
      <vt:lpstr>PowerPoint 簡報</vt:lpstr>
      <vt:lpstr>data structures</vt:lpstr>
      <vt:lpstr>EXPERIMENTAL RESULTS </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Branch Elimination-based Efficient Algorithm for Large-scale Multiple Longest Common Subsequence Problem  ​ Shiwei Wei, Yuping Wang and Yiu-ming Cheung</dc:title>
  <dc:creator>M103040069</dc:creator>
  <cp:lastModifiedBy>M103040069</cp:lastModifiedBy>
  <cp:revision>5</cp:revision>
  <dcterms:created xsi:type="dcterms:W3CDTF">2021-10-27T12:11:11Z</dcterms:created>
  <dcterms:modified xsi:type="dcterms:W3CDTF">2021-11-02T09:39:49Z</dcterms:modified>
</cp:coreProperties>
</file>