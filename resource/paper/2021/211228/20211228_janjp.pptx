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57" r:id="rId5"/>
    <p:sldId id="535" r:id="rId6"/>
    <p:sldId id="626" r:id="rId7"/>
    <p:sldId id="602" r:id="rId8"/>
    <p:sldId id="603" r:id="rId9"/>
    <p:sldId id="614" r:id="rId10"/>
    <p:sldId id="403" r:id="rId11"/>
    <p:sldId id="616" r:id="rId12"/>
    <p:sldId id="624" r:id="rId13"/>
    <p:sldId id="617" r:id="rId14"/>
    <p:sldId id="619" r:id="rId15"/>
    <p:sldId id="628" r:id="rId16"/>
    <p:sldId id="615" r:id="rId17"/>
    <p:sldId id="627" r:id="rId18"/>
    <p:sldId id="629" r:id="rId19"/>
    <p:sldId id="630" r:id="rId20"/>
    <p:sldId id="631" r:id="rId21"/>
    <p:sldId id="633" r:id="rId22"/>
    <p:sldId id="634" r:id="rId23"/>
    <p:sldId id="637" r:id="rId24"/>
    <p:sldId id="638" r:id="rId25"/>
    <p:sldId id="640" r:id="rId26"/>
    <p:sldId id="641" r:id="rId27"/>
    <p:sldId id="645" r:id="rId28"/>
    <p:sldId id="642" r:id="rId29"/>
    <p:sldId id="646" r:id="rId30"/>
    <p:sldId id="643" r:id="rId31"/>
    <p:sldId id="639" r:id="rId32"/>
    <p:sldId id="635" r:id="rId33"/>
    <p:sldId id="647" r:id="rId34"/>
    <p:sldId id="644" r:id="rId35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99CCCC"/>
    <a:srgbClr val="FF16FF"/>
    <a:srgbClr val="FAEBD7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73300" autoAdjust="0"/>
  </p:normalViewPr>
  <p:slideViewPr>
    <p:cSldViewPr>
      <p:cViewPr varScale="1">
        <p:scale>
          <a:sx n="58" d="100"/>
          <a:sy n="58" d="100"/>
        </p:scale>
        <p:origin x="21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75"/>
    </p:cViewPr>
  </p:outlin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44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72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932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995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37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214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300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166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324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908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99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104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29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623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641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866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498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019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history</a:t>
            </a:r>
          </a:p>
          <a:p>
            <a:r>
              <a:rPr lang="en-US" altLang="zh-TW" dirty="0"/>
              <a:t>I = information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403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2021/12/28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302" y="1700808"/>
            <a:ext cx="7035394" cy="649317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/>
                <a:ea typeface="新細明體"/>
                <a:cs typeface="Times New Roman"/>
              </a:rPr>
              <a:t>Monte Carlo Sampling for Regret Minimization in Extensive Games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523" y="3003983"/>
            <a:ext cx="8568952" cy="425017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ctr"/>
            <a:r>
              <a:rPr lang="en-US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Marc </a:t>
            </a:r>
            <a:r>
              <a:rPr lang="en-US" altLang="zh-TW" sz="2000" dirty="0" err="1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Lanctot</a:t>
            </a:r>
            <a:r>
              <a:rPr lang="en-US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, Kevin Waugh, Martin </a:t>
            </a:r>
            <a:r>
              <a:rPr lang="en-US" altLang="zh-TW" sz="2000" dirty="0" err="1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Zinkevich</a:t>
            </a:r>
            <a:r>
              <a:rPr lang="en-US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, Michael Bowling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79511" y="3856937"/>
            <a:ext cx="878497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TW" sz="2200" dirty="0">
                <a:latin typeface="Times New Roman"/>
                <a:ea typeface="+mn-lt"/>
                <a:cs typeface="+mn-lt"/>
              </a:rPr>
              <a:t>Twenty-Third Annual Conference on Neural Information Processing Systems, NIPS 2009, Hyatt Regency Vancouver, Vancouver, B.C., Canada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05264"/>
            <a:ext cx="2653290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Date: Dec. 28, 2021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sz="2200" dirty="0">
                <a:latin typeface="Times New Roman"/>
                <a:ea typeface="+mn-lt"/>
                <a:cs typeface="+mn-lt"/>
              </a:rPr>
              <a:t>Sequential decision-making with multiple agents and imperfect information is commonly modeled as an extensive game. One efficient method for computing Nash equilibria in large, zero-sum, imperfect information games is counterfactual regret minimization (CFR). In the domain of poker, CFR has proven effective, particularly when using a domain-specific augmentation involving chance outcome sampling. In this paper, we describe a general family of domain-independent CFR sample-based algorithms called Monte Carlo counterfactual regret minimization (MCCFR) of which the original and poker-specific versions are special cases. We start by showing that MCCFR performs the same regret updates as CFR on expectation. Then, we introduce two sampling schemes: outcome sampling and external sampling, showing that both have bounded overall regret with high probability. Thus, they can compute an approximate equilibrium using self-play.</a:t>
            </a:r>
          </a:p>
        </p:txBody>
      </p:sp>
    </p:spTree>
    <p:extLst>
      <p:ext uri="{BB962C8B-B14F-4D97-AF65-F5344CB8AC3E}">
        <p14:creationId xmlns:p14="http://schemas.microsoft.com/office/powerpoint/2010/main" val="69273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sz="2200" dirty="0">
                <a:latin typeface="Times New Roman"/>
                <a:ea typeface="+mn-lt"/>
                <a:cs typeface="+mn-lt"/>
              </a:rPr>
              <a:t>Finally, we prove a new tighter bound on the regret for the original CFR algorithm and relate this new bound to MCCFR’s bounds. We show empirically that, although the sample-based algorithms require more iterations, their lower cost per iteration can lead to dramatically faster convergence in various games.</a:t>
            </a:r>
          </a:p>
        </p:txBody>
      </p:sp>
    </p:spTree>
    <p:extLst>
      <p:ext uri="{BB962C8B-B14F-4D97-AF65-F5344CB8AC3E}">
        <p14:creationId xmlns:p14="http://schemas.microsoft.com/office/powerpoint/2010/main" val="1564795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Introduction-</a:t>
            </a:r>
            <a:r>
              <a:rPr lang="zh-TW" altLang="en-US" dirty="0">
                <a:latin typeface="Times New Roman"/>
                <a:cs typeface="Times New Roman"/>
              </a:rPr>
              <a:t> </a:t>
            </a:r>
            <a:r>
              <a:rPr lang="en-US" altLang="zh-TW" dirty="0">
                <a:latin typeface="Times New Roman"/>
                <a:cs typeface="Times New Roman"/>
              </a:rPr>
              <a:t>Nash equilibrium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62BE34-65AE-420C-9437-B9D83A296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Business case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Original price: 80, 1200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Cost: 20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One of them decrease 1 dollar: gain 100 customers(80 customers are from another and 20 new customers)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Both decrease 1 dollar: both gain 20 new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If we want to decrease price to 38~42 dollars, which price should be select?</a:t>
            </a:r>
          </a:p>
        </p:txBody>
      </p:sp>
    </p:spTree>
    <p:extLst>
      <p:ext uri="{BB962C8B-B14F-4D97-AF65-F5344CB8AC3E}">
        <p14:creationId xmlns:p14="http://schemas.microsoft.com/office/powerpoint/2010/main" val="2459488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Introduction-</a:t>
            </a:r>
            <a:r>
              <a:rPr lang="zh-TW" altLang="en-US" dirty="0">
                <a:latin typeface="Times New Roman"/>
                <a:cs typeface="Times New Roman"/>
              </a:rPr>
              <a:t> </a:t>
            </a:r>
            <a:r>
              <a:rPr lang="en-US" altLang="zh-TW" dirty="0">
                <a:latin typeface="Times New Roman"/>
                <a:cs typeface="Times New Roman"/>
              </a:rPr>
              <a:t>Nash equilibrium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51A836-A387-4098-973B-984E88208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464635"/>
              </p:ext>
            </p:extLst>
          </p:nvPr>
        </p:nvGraphicFramePr>
        <p:xfrm>
          <a:off x="971600" y="1600200"/>
          <a:ext cx="6996600" cy="468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050">
                  <a:extLst>
                    <a:ext uri="{9D8B030D-6E8A-4147-A177-3AD203B41FA5}">
                      <a16:colId xmlns:a16="http://schemas.microsoft.com/office/drawing/2014/main" val="402053580"/>
                    </a:ext>
                  </a:extLst>
                </a:gridCol>
                <a:gridCol w="583050">
                  <a:extLst>
                    <a:ext uri="{9D8B030D-6E8A-4147-A177-3AD203B41FA5}">
                      <a16:colId xmlns:a16="http://schemas.microsoft.com/office/drawing/2014/main" val="2481057067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933782274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48986793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015282722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62530750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045839821"/>
                    </a:ext>
                  </a:extLst>
                </a:gridCol>
              </a:tblGrid>
              <a:tr h="39337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26496"/>
                  </a:ext>
                </a:extLst>
              </a:tr>
              <a:tr h="393377">
                <a:tc rowSpan="11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41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39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01595"/>
                  </a:ext>
                </a:extLst>
              </a:tr>
              <a:tr h="39337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42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43120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43260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43200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42940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42480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12933"/>
                  </a:ext>
                </a:extLst>
              </a:tr>
              <a:tr h="3933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43120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41360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39600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39840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36080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26109"/>
                  </a:ext>
                </a:extLst>
              </a:tr>
              <a:tr h="39337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41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41360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41580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41600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41420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41040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6650"/>
                  </a:ext>
                </a:extLst>
              </a:tr>
              <a:tr h="3933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00B0F0"/>
                          </a:solidFill>
                        </a:rPr>
                        <a:t>43260</a:t>
                      </a:r>
                      <a:endParaRPr lang="zh-TW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41580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39900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38220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36540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244373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39600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39900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40000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39900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39600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8993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43200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00B0F0"/>
                          </a:solidFill>
                        </a:rPr>
                        <a:t>41600</a:t>
                      </a:r>
                      <a:endParaRPr lang="zh-TW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00B0F0"/>
                          </a:solidFill>
                        </a:rPr>
                        <a:t>40000</a:t>
                      </a:r>
                      <a:endParaRPr lang="zh-TW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00B0F0"/>
                          </a:solidFill>
                        </a:rPr>
                        <a:t>38400</a:t>
                      </a:r>
                      <a:endParaRPr lang="zh-TW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36800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533645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39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37840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38220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38400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38380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38160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722194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42940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41420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39900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38380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00B0F0"/>
                          </a:solidFill>
                        </a:rPr>
                        <a:t>36860</a:t>
                      </a:r>
                      <a:endParaRPr lang="zh-TW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194759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36080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36540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36800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36860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36720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81517"/>
                  </a:ext>
                </a:extLst>
              </a:tr>
              <a:tr h="387988"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42480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41040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39600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38160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36720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87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477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0B214A5E-7BC3-466E-B7CF-4E2FFFED6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Mixed strategies(40:60):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Goalkeeper choose left: 58 % *0.4+93 % *0.6 = 79%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Goalkeeper choose right: 95 % *0.4+70 % *0.6 = 80%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Introduction-</a:t>
            </a:r>
            <a:r>
              <a:rPr lang="zh-TW" altLang="en-US" dirty="0">
                <a:latin typeface="Times New Roman"/>
                <a:cs typeface="Times New Roman"/>
              </a:rPr>
              <a:t> </a:t>
            </a:r>
            <a:r>
              <a:rPr lang="en-US" altLang="zh-TW" dirty="0">
                <a:latin typeface="Times New Roman"/>
                <a:cs typeface="Times New Roman"/>
              </a:rPr>
              <a:t>Mixed Strategies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51A836-A387-4098-973B-984E88208E50}"/>
              </a:ext>
            </a:extLst>
          </p:cNvPr>
          <p:cNvGraphicFramePr>
            <a:graphicFrameLocks noGrp="1"/>
          </p:cNvGraphicFramePr>
          <p:nvPr/>
        </p:nvGraphicFramePr>
        <p:xfrm>
          <a:off x="1066613" y="3445024"/>
          <a:ext cx="7010774" cy="32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402053580"/>
                    </a:ext>
                  </a:extLst>
                </a:gridCol>
                <a:gridCol w="2576830">
                  <a:extLst>
                    <a:ext uri="{9D8B030D-6E8A-4147-A177-3AD203B41FA5}">
                      <a16:colId xmlns:a16="http://schemas.microsoft.com/office/drawing/2014/main" val="2481057067"/>
                    </a:ext>
                  </a:extLst>
                </a:gridCol>
                <a:gridCol w="1804857">
                  <a:extLst>
                    <a:ext uri="{9D8B030D-6E8A-4147-A177-3AD203B41FA5}">
                      <a16:colId xmlns:a16="http://schemas.microsoft.com/office/drawing/2014/main" val="3848986793"/>
                    </a:ext>
                  </a:extLst>
                </a:gridCol>
                <a:gridCol w="1804857">
                  <a:extLst>
                    <a:ext uri="{9D8B030D-6E8A-4147-A177-3AD203B41FA5}">
                      <a16:colId xmlns:a16="http://schemas.microsoft.com/office/drawing/2014/main" val="3015282722"/>
                    </a:ext>
                  </a:extLst>
                </a:gridCol>
              </a:tblGrid>
              <a:tr h="54164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Goalkeeper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26496"/>
                  </a:ext>
                </a:extLst>
              </a:tr>
              <a:tr h="54164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Player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Probability of scoring(%)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Left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Right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01595"/>
                  </a:ext>
                </a:extLst>
              </a:tr>
              <a:tr h="108328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Left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6650"/>
                  </a:ext>
                </a:extLst>
              </a:tr>
              <a:tr h="106844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Right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701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Regret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Cambria Math" panose="02040503050406030204" pitchFamily="18" charset="0"/>
                  </a:rPr>
                  <a:t>Approximate the Nash equilibrium and find the strategy to solve the game</a:t>
                </a:r>
              </a:p>
              <a:p>
                <a:r>
                  <a:rPr lang="en-US" altLang="zh-TW" dirty="0">
                    <a:latin typeface="Cambria Math" panose="02040503050406030204" pitchFamily="18" charset="0"/>
                  </a:rPr>
                  <a:t>The s</a:t>
                </a:r>
                <a:r>
                  <a:rPr lang="en-US" altLang="zh-TW" b="0" dirty="0">
                    <a:latin typeface="Cambria Math" panose="02040503050406030204" pitchFamily="18" charset="0"/>
                  </a:rPr>
                  <a:t>trategy is the probability of each action in each situation</a:t>
                </a:r>
              </a:p>
              <a:p>
                <a:r>
                  <a:rPr lang="en-US" altLang="zh-TW" dirty="0">
                    <a:latin typeface="Cambria Math" panose="02040503050406030204" pitchFamily="18" charset="0"/>
                  </a:rPr>
                  <a:t>Solve by linear programing</a:t>
                </a:r>
                <a:endParaRPr lang="en-US" altLang="zh-TW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</m:e>
                    </m:func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158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minimization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15BF20-0073-495A-87C7-28CA626E8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Kuhn poker</a:t>
            </a:r>
          </a:p>
          <a:p>
            <a:pPr lvl="1"/>
            <a:r>
              <a:rPr lang="en-US" altLang="zh-TW" dirty="0">
                <a:latin typeface="+mj-lt"/>
              </a:rPr>
              <a:t>With three cards: J, Q, K</a:t>
            </a:r>
          </a:p>
          <a:p>
            <a:pPr lvl="1"/>
            <a:r>
              <a:rPr lang="en-US" altLang="zh-TW" dirty="0">
                <a:latin typeface="+mj-lt"/>
              </a:rPr>
              <a:t>Each player antes 1</a:t>
            </a:r>
          </a:p>
          <a:p>
            <a:pPr lvl="1"/>
            <a:r>
              <a:rPr lang="en-US" altLang="zh-TW" dirty="0">
                <a:latin typeface="+mj-lt"/>
              </a:rPr>
              <a:t>One betting round</a:t>
            </a:r>
          </a:p>
          <a:p>
            <a:pPr lvl="1"/>
            <a:r>
              <a:rPr lang="en-US" altLang="zh-TW" dirty="0">
                <a:latin typeface="+mj-lt"/>
              </a:rPr>
              <a:t>One-bet maximum</a:t>
            </a:r>
          </a:p>
          <a:p>
            <a:pPr lvl="1"/>
            <a:r>
              <a:rPr lang="en-US" altLang="zh-TW" dirty="0">
                <a:latin typeface="+mj-lt"/>
              </a:rPr>
              <a:t>12 information sets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4741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minimization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0D9298C3-B199-45C3-B5A1-AA1015070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7624" y="1087066"/>
            <a:ext cx="6768752" cy="580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09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minimization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2CF9E37-875F-44BD-9312-ACFEFA1CB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86" y="1320589"/>
            <a:ext cx="5957827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8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minimization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94FE5BC-35BA-4400-8D4C-6A4E74F63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92349"/>
              </p:ext>
            </p:extLst>
          </p:nvPr>
        </p:nvGraphicFramePr>
        <p:xfrm>
          <a:off x="1758133" y="1124744"/>
          <a:ext cx="5627733" cy="2671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402053580"/>
                    </a:ext>
                  </a:extLst>
                </a:gridCol>
                <a:gridCol w="1956118">
                  <a:extLst>
                    <a:ext uri="{9D8B030D-6E8A-4147-A177-3AD203B41FA5}">
                      <a16:colId xmlns:a16="http://schemas.microsoft.com/office/drawing/2014/main" val="2481057067"/>
                    </a:ext>
                  </a:extLst>
                </a:gridCol>
                <a:gridCol w="1202735">
                  <a:extLst>
                    <a:ext uri="{9D8B030D-6E8A-4147-A177-3AD203B41FA5}">
                      <a16:colId xmlns:a16="http://schemas.microsoft.com/office/drawing/2014/main" val="3848986793"/>
                    </a:ext>
                  </a:extLst>
                </a:gridCol>
              </a:tblGrid>
              <a:tr h="8253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#chips player1 can win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Player 2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26496"/>
                  </a:ext>
                </a:extLst>
              </a:tr>
              <a:tr h="37120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Player 1 Q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History = pass, bet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Bet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01595"/>
                  </a:ext>
                </a:extLst>
              </a:tr>
              <a:tr h="742402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Call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6650"/>
                  </a:ext>
                </a:extLst>
              </a:tr>
              <a:tr h="73223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Fold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899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12B9568-FE51-4159-84EE-17BCBA07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217806"/>
              </p:ext>
            </p:extLst>
          </p:nvPr>
        </p:nvGraphicFramePr>
        <p:xfrm>
          <a:off x="1762397" y="4005064"/>
          <a:ext cx="5627733" cy="2671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402053580"/>
                    </a:ext>
                  </a:extLst>
                </a:gridCol>
                <a:gridCol w="1956118">
                  <a:extLst>
                    <a:ext uri="{9D8B030D-6E8A-4147-A177-3AD203B41FA5}">
                      <a16:colId xmlns:a16="http://schemas.microsoft.com/office/drawing/2014/main" val="2481057067"/>
                    </a:ext>
                  </a:extLst>
                </a:gridCol>
                <a:gridCol w="1202735">
                  <a:extLst>
                    <a:ext uri="{9D8B030D-6E8A-4147-A177-3AD203B41FA5}">
                      <a16:colId xmlns:a16="http://schemas.microsoft.com/office/drawing/2014/main" val="3848986793"/>
                    </a:ext>
                  </a:extLst>
                </a:gridCol>
              </a:tblGrid>
              <a:tr h="8253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#chips player1 can win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Player 2 K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26496"/>
                  </a:ext>
                </a:extLst>
              </a:tr>
              <a:tr h="37120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Player 1 Q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History = pass, bet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Bet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01595"/>
                  </a:ext>
                </a:extLst>
              </a:tr>
              <a:tr h="742402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Call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6650"/>
                  </a:ext>
                </a:extLst>
              </a:tr>
              <a:tr h="73223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Fold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706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regret minimization(CFR)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sup>
                            </m:sSub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</m:e>
                    </m:func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,+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,+</m:t>
                                        </m:r>
                                      </m:sup>
                                    </m:sSub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,+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nary>
                          </m: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)|</m:t>
                                </m:r>
                              </m:den>
                            </m:f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endParaRPr lang="zh-TW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432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b="0" dirty="0">
                    <a:latin typeface="+mj-lt"/>
                  </a:rPr>
                  <a:t>Sampled counterfactual value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⋂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b="0" dirty="0">
                  <a:latin typeface="+mj-lt"/>
                </a:endParaRPr>
              </a:p>
              <a:p>
                <a:r>
                  <a:rPr lang="en-US" altLang="zh-TW" b="0" dirty="0">
                    <a:latin typeface="+mj-lt"/>
                  </a:rPr>
                  <a:t>Outcome Sampling MCCFR</a:t>
                </a:r>
              </a:p>
              <a:p>
                <a:pPr lvl="1"/>
                <a:r>
                  <a:rPr lang="en-US" altLang="zh-TW" dirty="0">
                    <a:latin typeface="+mj-lt"/>
                  </a:rPr>
                  <a:t>Sampled the terminal history</a:t>
                </a:r>
                <a:endParaRPr lang="en-US" altLang="zh-TW" b="0" dirty="0">
                  <a:latin typeface="+mj-lt"/>
                </a:endParaRPr>
              </a:p>
              <a:p>
                <a:r>
                  <a:rPr lang="en-US" altLang="zh-TW" dirty="0">
                    <a:latin typeface="+mj-lt"/>
                  </a:rPr>
                  <a:t>External Sampling MCCFR</a:t>
                </a:r>
              </a:p>
              <a:p>
                <a:pPr lvl="1"/>
                <a:r>
                  <a:rPr lang="en-US" altLang="zh-TW" b="0" dirty="0">
                    <a:latin typeface="+mj-lt"/>
                  </a:rPr>
                  <a:t>Sam</a:t>
                </a:r>
                <a:r>
                  <a:rPr lang="en-US" altLang="zh-TW" dirty="0">
                    <a:latin typeface="+mj-lt"/>
                  </a:rPr>
                  <a:t>pled only the actions of the opponent</a:t>
                </a:r>
                <a:endParaRPr lang="en-US" altLang="zh-TW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186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Monte Carlo Sampling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15BF20-0073-495A-87C7-28CA626E8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endParaRPr lang="en-US" altLang="zh-TW" b="0" i="1" dirty="0">
              <a:latin typeface="Cambria Math" panose="02040503050406030204" pitchFamily="18" charset="0"/>
            </a:endParaRPr>
          </a:p>
          <a:p>
            <a:endParaRPr lang="zh-TW" altLang="en-US" dirty="0">
              <a:latin typeface="+mj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6A2C67-D26F-40FE-81E2-8A4965D15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999" y="1417638"/>
            <a:ext cx="4956001" cy="49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93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b="0" dirty="0">
                    <a:latin typeface="+mj-lt"/>
                  </a:rPr>
                  <a:t>Outcome Sampling MCCFR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⊑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altLang="zh-TW" b="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])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TW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780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back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minimization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0D9298C3-B199-45C3-B5A1-AA1015070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7624" y="1087066"/>
            <a:ext cx="6768752" cy="580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64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+mj-lt"/>
                  </a:rPr>
                  <a:t>External</a:t>
                </a:r>
                <a:r>
                  <a:rPr lang="en-US" altLang="zh-TW" b="0" dirty="0">
                    <a:latin typeface="+mj-lt"/>
                  </a:rPr>
                  <a:t> Sampling MCCFR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⋂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⋂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TW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9C15BF20-0073-495A-87C7-28CA626E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1333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350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0B214A5E-7BC3-466E-B7CF-4E2FFFED6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Mixed strategies(40:60):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Goalkeeper choose left: 58 % *0.383+93 % *0.617 = 79.6%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Goalkeeper choose right: 95 % *0.383+70 % *0.617 = 79.6%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Introduction-</a:t>
            </a:r>
            <a:r>
              <a:rPr lang="zh-TW" altLang="en-US" dirty="0">
                <a:latin typeface="Times New Roman"/>
                <a:cs typeface="Times New Roman"/>
              </a:rPr>
              <a:t> </a:t>
            </a:r>
            <a:r>
              <a:rPr lang="en-US" altLang="zh-TW" dirty="0">
                <a:latin typeface="Times New Roman"/>
                <a:cs typeface="Times New Roman"/>
              </a:rPr>
              <a:t>Mixed Strategies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51A836-A387-4098-973B-984E88208E50}"/>
              </a:ext>
            </a:extLst>
          </p:cNvPr>
          <p:cNvGraphicFramePr>
            <a:graphicFrameLocks noGrp="1"/>
          </p:cNvGraphicFramePr>
          <p:nvPr/>
        </p:nvGraphicFramePr>
        <p:xfrm>
          <a:off x="1066613" y="3445024"/>
          <a:ext cx="7010774" cy="32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402053580"/>
                    </a:ext>
                  </a:extLst>
                </a:gridCol>
                <a:gridCol w="2576830">
                  <a:extLst>
                    <a:ext uri="{9D8B030D-6E8A-4147-A177-3AD203B41FA5}">
                      <a16:colId xmlns:a16="http://schemas.microsoft.com/office/drawing/2014/main" val="2481057067"/>
                    </a:ext>
                  </a:extLst>
                </a:gridCol>
                <a:gridCol w="1804857">
                  <a:extLst>
                    <a:ext uri="{9D8B030D-6E8A-4147-A177-3AD203B41FA5}">
                      <a16:colId xmlns:a16="http://schemas.microsoft.com/office/drawing/2014/main" val="3848986793"/>
                    </a:ext>
                  </a:extLst>
                </a:gridCol>
                <a:gridCol w="1804857">
                  <a:extLst>
                    <a:ext uri="{9D8B030D-6E8A-4147-A177-3AD203B41FA5}">
                      <a16:colId xmlns:a16="http://schemas.microsoft.com/office/drawing/2014/main" val="3015282722"/>
                    </a:ext>
                  </a:extLst>
                </a:gridCol>
              </a:tblGrid>
              <a:tr h="54164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Goalkeeper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926496"/>
                  </a:ext>
                </a:extLst>
              </a:tr>
              <a:tr h="54164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Player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Probability of scoring(%)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Left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Right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01595"/>
                  </a:ext>
                </a:extLst>
              </a:tr>
              <a:tr h="108328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Left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6650"/>
                  </a:ext>
                </a:extLst>
              </a:tr>
              <a:tr h="106844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Right</a:t>
                      </a:r>
                      <a:endParaRPr lang="zh-TW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50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498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One Card Poker</a:t>
            </a:r>
          </a:p>
          <a:p>
            <a:r>
              <a:rPr lang="en-US" altLang="zh-TW" dirty="0" err="1">
                <a:latin typeface="+mj-lt"/>
              </a:rPr>
              <a:t>Goofspiel</a:t>
            </a:r>
            <a:endParaRPr lang="en-US" altLang="zh-TW" dirty="0">
              <a:latin typeface="+mj-lt"/>
            </a:endParaRPr>
          </a:p>
          <a:p>
            <a:r>
              <a:rPr lang="en-US" altLang="zh-TW" dirty="0">
                <a:latin typeface="+mj-lt"/>
              </a:rPr>
              <a:t>Latent Tic-Tac-Toe</a:t>
            </a:r>
          </a:p>
          <a:p>
            <a:r>
              <a:rPr lang="en-US" altLang="zh-TW" dirty="0">
                <a:latin typeface="+mj-lt"/>
              </a:rPr>
              <a:t>Princess and Monster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6829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One Card Poker, deck size = 500</a:t>
            </a:r>
            <a:endParaRPr lang="zh-TW" altLang="en-US" dirty="0">
              <a:latin typeface="+mj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3B1FAE-345E-4EEE-9878-E87E9881C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27" y="2258401"/>
            <a:ext cx="5067146" cy="432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45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>
                <a:latin typeface="+mj-lt"/>
              </a:rPr>
              <a:t>Goofspiel</a:t>
            </a:r>
            <a:endParaRPr lang="en-US" altLang="zh-TW" dirty="0">
              <a:latin typeface="+mj-lt"/>
            </a:endParaRPr>
          </a:p>
          <a:p>
            <a:r>
              <a:rPr lang="en-US" altLang="zh-TW" dirty="0">
                <a:latin typeface="+mj-lt"/>
              </a:rPr>
              <a:t>Size = 7</a:t>
            </a:r>
          </a:p>
          <a:p>
            <a:r>
              <a:rPr lang="en-US" altLang="zh-TW" dirty="0">
                <a:latin typeface="+mj-lt"/>
              </a:rPr>
              <a:t>The player with the highest total points wins</a:t>
            </a:r>
          </a:p>
          <a:p>
            <a:r>
              <a:rPr lang="en-US" altLang="zh-TW" dirty="0">
                <a:latin typeface="+mj-lt"/>
              </a:rPr>
              <a:t>Players only find out the result of each bid and not which cards were use to bid</a:t>
            </a:r>
          </a:p>
        </p:txBody>
      </p:sp>
      <p:pic>
        <p:nvPicPr>
          <p:cNvPr id="4" name="圖片 3" descr="一張含有 文字, 皇后, 向量圖形, 美術館 的圖片&#10;&#10;自動產生的描述">
            <a:extLst>
              <a:ext uri="{FF2B5EF4-FFF2-40B4-BE49-F238E27FC236}">
                <a16:creationId xmlns:a16="http://schemas.microsoft.com/office/drawing/2014/main" id="{B75154C6-AD7E-496B-A0FB-3CFA6F4A9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593845"/>
            <a:ext cx="4185273" cy="496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96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433671"/>
              </p:ext>
            </p:extLst>
          </p:nvPr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0977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A311A96-9EE8-4101-859A-135569DE669B}"/>
              </a:ext>
            </a:extLst>
          </p:cNvPr>
          <p:cNvSpPr/>
          <p:nvPr/>
        </p:nvSpPr>
        <p:spPr>
          <a:xfrm>
            <a:off x="2195736" y="2832382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6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A311A96-9EE8-4101-859A-135569DE669B}"/>
              </a:ext>
            </a:extLst>
          </p:cNvPr>
          <p:cNvSpPr/>
          <p:nvPr/>
        </p:nvSpPr>
        <p:spPr>
          <a:xfrm>
            <a:off x="2195736" y="2832382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91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A311A96-9EE8-4101-859A-135569DE669B}"/>
              </a:ext>
            </a:extLst>
          </p:cNvPr>
          <p:cNvSpPr/>
          <p:nvPr/>
        </p:nvSpPr>
        <p:spPr>
          <a:xfrm>
            <a:off x="2195736" y="2832382"/>
            <a:ext cx="576064" cy="576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0321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A311A96-9EE8-4101-859A-135569DE669B}"/>
              </a:ext>
            </a:extLst>
          </p:cNvPr>
          <p:cNvSpPr/>
          <p:nvPr/>
        </p:nvSpPr>
        <p:spPr>
          <a:xfrm>
            <a:off x="2195736" y="2832382"/>
            <a:ext cx="576064" cy="576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乘號 7">
            <a:extLst>
              <a:ext uri="{FF2B5EF4-FFF2-40B4-BE49-F238E27FC236}">
                <a16:creationId xmlns:a16="http://schemas.microsoft.com/office/drawing/2014/main" id="{7192DF3C-A773-4AE8-811B-EC4ACC04A055}"/>
              </a:ext>
            </a:extLst>
          </p:cNvPr>
          <p:cNvSpPr/>
          <p:nvPr/>
        </p:nvSpPr>
        <p:spPr>
          <a:xfrm>
            <a:off x="2015716" y="2652362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2225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Latent Tic-Tac-Toe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A45854-41CF-44D2-90BD-2A5E00712F23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sp>
        <p:nvSpPr>
          <p:cNvPr id="3" name="乘號 2">
            <a:extLst>
              <a:ext uri="{FF2B5EF4-FFF2-40B4-BE49-F238E27FC236}">
                <a16:creationId xmlns:a16="http://schemas.microsoft.com/office/drawing/2014/main" id="{DE45AF8E-275D-4052-AD74-D3EC2C5EBED7}"/>
              </a:ext>
            </a:extLst>
          </p:cNvPr>
          <p:cNvSpPr/>
          <p:nvPr/>
        </p:nvSpPr>
        <p:spPr>
          <a:xfrm>
            <a:off x="4103947" y="4016560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乘號 7">
            <a:extLst>
              <a:ext uri="{FF2B5EF4-FFF2-40B4-BE49-F238E27FC236}">
                <a16:creationId xmlns:a16="http://schemas.microsoft.com/office/drawing/2014/main" id="{7192DF3C-A773-4AE8-811B-EC4ACC04A055}"/>
              </a:ext>
            </a:extLst>
          </p:cNvPr>
          <p:cNvSpPr/>
          <p:nvPr/>
        </p:nvSpPr>
        <p:spPr>
          <a:xfrm>
            <a:off x="2015716" y="2652362"/>
            <a:ext cx="936104" cy="936104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A311A96-9EE8-4101-859A-135569DE669B}"/>
              </a:ext>
            </a:extLst>
          </p:cNvPr>
          <p:cNvSpPr/>
          <p:nvPr/>
        </p:nvSpPr>
        <p:spPr>
          <a:xfrm>
            <a:off x="2195736" y="2832382"/>
            <a:ext cx="576064" cy="57606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90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Princess and Monster , 3 by 3 grid graph and 13 steps</a:t>
            </a:r>
            <a:endParaRPr lang="zh-TW" altLang="en-US" dirty="0">
              <a:latin typeface="+mj-lt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FBA4E332-6FDF-4185-8F17-7D5AF3E41E79}"/>
              </a:ext>
            </a:extLst>
          </p:cNvPr>
          <p:cNvGraphicFramePr>
            <a:graphicFrameLocks noGrp="1"/>
          </p:cNvGraphicFramePr>
          <p:nvPr/>
        </p:nvGraphicFramePr>
        <p:xfrm>
          <a:off x="1475656" y="2403374"/>
          <a:ext cx="6192687" cy="416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29">
                  <a:extLst>
                    <a:ext uri="{9D8B030D-6E8A-4147-A177-3AD203B41FA5}">
                      <a16:colId xmlns:a16="http://schemas.microsoft.com/office/drawing/2014/main" val="490179114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1449299199"/>
                    </a:ext>
                  </a:extLst>
                </a:gridCol>
                <a:gridCol w="2064229">
                  <a:extLst>
                    <a:ext uri="{9D8B030D-6E8A-4147-A177-3AD203B41FA5}">
                      <a16:colId xmlns:a16="http://schemas.microsoft.com/office/drawing/2014/main" val="2729661397"/>
                    </a:ext>
                  </a:extLst>
                </a:gridCol>
              </a:tblGrid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48827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07282"/>
                  </a:ext>
                </a:extLst>
              </a:tr>
              <a:tr h="138749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227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A3BDB484-3C42-4746-8179-C2677E681B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5" t="5026" r="67256"/>
          <a:stretch/>
        </p:blipFill>
        <p:spPr>
          <a:xfrm>
            <a:off x="6156176" y="5257800"/>
            <a:ext cx="825884" cy="1308050"/>
          </a:xfrm>
          <a:prstGeom prst="rect">
            <a:avLst/>
          </a:prstGeom>
        </p:spPr>
      </p:pic>
      <p:pic>
        <p:nvPicPr>
          <p:cNvPr id="1026" name="Picture 2" descr="King Bowser Running by TransparentJiggly64 on DeviantArt">
            <a:extLst>
              <a:ext uri="{FF2B5EF4-FFF2-40B4-BE49-F238E27FC236}">
                <a16:creationId xmlns:a16="http://schemas.microsoft.com/office/drawing/2014/main" id="{89454CF0-4426-4D1C-B0D4-AB87D5A73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477" y="5256891"/>
            <a:ext cx="1584176" cy="13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墨镜图片素材_免费墨镜PNG设计图片大全_图精灵">
            <a:extLst>
              <a:ext uri="{FF2B5EF4-FFF2-40B4-BE49-F238E27FC236}">
                <a16:creationId xmlns:a16="http://schemas.microsoft.com/office/drawing/2014/main" id="{5FC675A8-3610-4681-8740-D7E5BE101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6" t="43250" r="12876" b="43250"/>
          <a:stretch/>
        </p:blipFill>
        <p:spPr bwMode="auto">
          <a:xfrm>
            <a:off x="2553570" y="5589240"/>
            <a:ext cx="868510" cy="15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墨镜图片素材_免费墨镜PNG设计图片大全_图精灵">
            <a:extLst>
              <a:ext uri="{FF2B5EF4-FFF2-40B4-BE49-F238E27FC236}">
                <a16:creationId xmlns:a16="http://schemas.microsoft.com/office/drawing/2014/main" id="{E3D3AAA4-DC5F-4B2A-8632-4B9904C94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6" t="43250" r="12876" b="43250"/>
          <a:stretch/>
        </p:blipFill>
        <p:spPr bwMode="auto">
          <a:xfrm>
            <a:off x="6521734" y="5501925"/>
            <a:ext cx="535645" cy="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212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C62E26E-6943-4767-9DA5-51CA214CFD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903" y="4365104"/>
            <a:ext cx="9112194" cy="1571694"/>
          </a:xfrm>
        </p:spPr>
      </p:pic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A199FEB-32B9-4174-A391-ED2C8B10EA5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+mj-lt"/>
              </a:rPr>
              <a:t>One Card Poker</a:t>
            </a:r>
          </a:p>
          <a:p>
            <a:r>
              <a:rPr lang="en-US" altLang="zh-TW" dirty="0" err="1">
                <a:latin typeface="+mj-lt"/>
              </a:rPr>
              <a:t>Goofspiel</a:t>
            </a:r>
            <a:endParaRPr lang="en-US" altLang="zh-TW" dirty="0">
              <a:latin typeface="+mj-lt"/>
            </a:endParaRPr>
          </a:p>
          <a:p>
            <a:r>
              <a:rPr lang="en-US" altLang="zh-TW" dirty="0">
                <a:latin typeface="+mj-lt"/>
              </a:rPr>
              <a:t>Latent Tic-Tac-Toe</a:t>
            </a:r>
          </a:p>
          <a:p>
            <a:r>
              <a:rPr lang="en-US" altLang="zh-TW" dirty="0">
                <a:latin typeface="+mj-lt"/>
              </a:rPr>
              <a:t>Princess and Monster</a:t>
            </a:r>
            <a:endParaRPr lang="zh-TW" altLang="en-US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5DE4CC8-B2CC-4705-BFB2-FC9CEB9976DD}"/>
                  </a:ext>
                </a:extLst>
              </p:cNvPr>
              <p:cNvSpPr txBox="1"/>
              <p:nvPr/>
            </p:nvSpPr>
            <p:spPr>
              <a:xfrm>
                <a:off x="3635896" y="5890405"/>
                <a:ext cx="2952328" cy="83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acc>
                            <m:accPr>
                              <m:chr m:val="⃗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</m:e>
                          </m:ra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5DE4CC8-B2CC-4705-BFB2-FC9CEB997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890405"/>
                <a:ext cx="2952328" cy="8366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57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3B1FAE-345E-4EEE-9878-E87E9881C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906" y="1417638"/>
            <a:ext cx="6052188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73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CFR – Experimental result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02D77E-0DF1-4754-BD12-7BCF8A0D5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8" y="1556792"/>
            <a:ext cx="8028384" cy="5301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58DA0351-31A3-464B-A16B-0449ECE613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9959" y="1166018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58DA0351-31A3-464B-A16B-0449ECE61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59" y="1166018"/>
                <a:ext cx="8229600" cy="45259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93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eting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E7DC480B62F4E469E6970C624927947" ma:contentTypeVersion="4" ma:contentTypeDescription="建立新的文件。" ma:contentTypeScope="" ma:versionID="88cf2d749b28b2f319aa39ed52a48173">
  <xsd:schema xmlns:xsd="http://www.w3.org/2001/XMLSchema" xmlns:xs="http://www.w3.org/2001/XMLSchema" xmlns:p="http://schemas.microsoft.com/office/2006/metadata/properties" xmlns:ns3="6837410d-b648-4e44-b323-d0957c9fbae3" targetNamespace="http://schemas.microsoft.com/office/2006/metadata/properties" ma:root="true" ma:fieldsID="98a9eec0ed2078182cc5fbac2eba6f69" ns3:_="">
    <xsd:import namespace="6837410d-b648-4e44-b323-d0957c9fba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7410d-b648-4e44-b323-d0957c9fba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7D9879-059E-4556-9976-24646E087596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6837410d-b648-4e44-b323-d0957c9fbae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49518F6-1DE0-426A-AAE3-1FC4DDD17A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7410d-b648-4e44-b323-d0957c9fba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E57101-EA81-44AA-BEC2-F97612FD23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14530</TotalTime>
  <Words>971</Words>
  <Application>Microsoft Office PowerPoint</Application>
  <PresentationFormat>如螢幕大小 (4:3)</PresentationFormat>
  <Paragraphs>245</Paragraphs>
  <Slides>31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Times New Roman</vt:lpstr>
      <vt:lpstr>Office 佈景主題</vt:lpstr>
      <vt:lpstr>Monte Carlo Sampling for Regret Minimization in Extensive Games</vt:lpstr>
      <vt:lpstr>Abstract</vt:lpstr>
      <vt:lpstr>Abstract</vt:lpstr>
      <vt:lpstr>Introduction- Nash equilibrium</vt:lpstr>
      <vt:lpstr>Introduction- Nash equilibrium</vt:lpstr>
      <vt:lpstr>Introduction- Mixed Strategies</vt:lpstr>
      <vt:lpstr>Look back - Regret minimization</vt:lpstr>
      <vt:lpstr>Look back - Regret minimization</vt:lpstr>
      <vt:lpstr>Look back - Regret minimization</vt:lpstr>
      <vt:lpstr>Look back - Regret minimization</vt:lpstr>
      <vt:lpstr>Look back - Regret minimization</vt:lpstr>
      <vt:lpstr>Look back - Counterfactual regret minimization(CFR)</vt:lpstr>
      <vt:lpstr>Monte Carlo CFR</vt:lpstr>
      <vt:lpstr>Introduction – Monte Carlo Sampling</vt:lpstr>
      <vt:lpstr>Monte Carlo CFR</vt:lpstr>
      <vt:lpstr>Look back - Regret minimization</vt:lpstr>
      <vt:lpstr>Monte Carlo CFR</vt:lpstr>
      <vt:lpstr>Introduction- Mixed Strategies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  <vt:lpstr>Monte Carlo CFR – Experimental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M093040098</cp:lastModifiedBy>
  <cp:revision>439</cp:revision>
  <dcterms:created xsi:type="dcterms:W3CDTF">2020-10-30T08:30:28Z</dcterms:created>
  <dcterms:modified xsi:type="dcterms:W3CDTF">2021-12-28T11:23:32Z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0x010100DE7DC480B62F4E469E6970C624927947</vt:lpwstr>
  </property>
</Properties>
</file>