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256" r:id="rId2"/>
    <p:sldId id="257" r:id="rId3"/>
    <p:sldId id="258" r:id="rId4"/>
    <p:sldId id="259" r:id="rId5"/>
    <p:sldId id="261" r:id="rId6"/>
    <p:sldId id="268" r:id="rId7"/>
    <p:sldId id="263" r:id="rId8"/>
    <p:sldId id="260" r:id="rId9"/>
    <p:sldId id="264" r:id="rId10"/>
    <p:sldId id="265" r:id="rId11"/>
    <p:sldId id="266" r:id="rId12"/>
    <p:sldId id="269" r:id="rId13"/>
    <p:sldId id="267" r:id="rId14"/>
    <p:sldId id="270"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5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98CBC1-47EF-48D3-98E3-9042EE1F4F67}" type="datetimeFigureOut">
              <a:rPr lang="zh-TW" altLang="en-US" smtClean="0"/>
              <a:t>2021/12/28</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EBD8CF-B1A1-44FE-A91F-BE2A6B10D9B8}" type="slidenum">
              <a:rPr lang="zh-TW" altLang="en-US" smtClean="0"/>
              <a:t>‹#›</a:t>
            </a:fld>
            <a:endParaRPr lang="zh-TW" altLang="en-US"/>
          </a:p>
        </p:txBody>
      </p:sp>
    </p:spTree>
    <p:extLst>
      <p:ext uri="{BB962C8B-B14F-4D97-AF65-F5344CB8AC3E}">
        <p14:creationId xmlns:p14="http://schemas.microsoft.com/office/powerpoint/2010/main" val="2794559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875076-5622-45DD-8757-CBB052BD3971}"/>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C0A28721-0769-4FAC-B973-3A35A0F312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2A683F3-5FE8-439B-83AD-6183C3410B3D}"/>
              </a:ext>
            </a:extLst>
          </p:cNvPr>
          <p:cNvSpPr>
            <a:spLocks noGrp="1"/>
          </p:cNvSpPr>
          <p:nvPr>
            <p:ph type="dt" sz="half" idx="10"/>
          </p:nvPr>
        </p:nvSpPr>
        <p:spPr/>
        <p:txBody>
          <a:bodyPr/>
          <a:lstStyle/>
          <a:p>
            <a:fld id="{8CE807F9-284D-4D08-987D-87F1A3F4B891}" type="datetime1">
              <a:rPr lang="zh-TW" altLang="en-US" smtClean="0"/>
              <a:t>2021/12/28</a:t>
            </a:fld>
            <a:endParaRPr lang="zh-TW" altLang="en-US"/>
          </a:p>
        </p:txBody>
      </p:sp>
      <p:sp>
        <p:nvSpPr>
          <p:cNvPr id="5" name="頁尾版面配置區 4">
            <a:extLst>
              <a:ext uri="{FF2B5EF4-FFF2-40B4-BE49-F238E27FC236}">
                <a16:creationId xmlns:a16="http://schemas.microsoft.com/office/drawing/2014/main" id="{12A6061C-60B9-4A62-9B4E-44BB64DCF41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091D838-7930-4CA9-A546-9B4304CC8DE1}"/>
              </a:ext>
            </a:extLst>
          </p:cNvPr>
          <p:cNvSpPr>
            <a:spLocks noGrp="1"/>
          </p:cNvSpPr>
          <p:nvPr>
            <p:ph type="sldNum" sz="quarter" idx="12"/>
          </p:nvPr>
        </p:nvSpPr>
        <p:spPr/>
        <p:txBody>
          <a:bodyPr/>
          <a:lstStyle/>
          <a:p>
            <a:fld id="{E5F01350-A1F2-4F8F-97B1-4F53DCB7E6B7}" type="slidenum">
              <a:rPr lang="zh-TW" altLang="en-US" smtClean="0"/>
              <a:t>‹#›</a:t>
            </a:fld>
            <a:endParaRPr lang="zh-TW" altLang="en-US"/>
          </a:p>
        </p:txBody>
      </p:sp>
    </p:spTree>
    <p:extLst>
      <p:ext uri="{BB962C8B-B14F-4D97-AF65-F5344CB8AC3E}">
        <p14:creationId xmlns:p14="http://schemas.microsoft.com/office/powerpoint/2010/main" val="1762448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8539B8-838A-44B8-A1B7-74DB1725E861}"/>
              </a:ext>
            </a:extLst>
          </p:cNvPr>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04C1B71F-EC9F-4A64-85BB-69CA722761C6}"/>
              </a:ext>
            </a:extLst>
          </p:cNvPr>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4875CF11-3FF9-45BB-B0E8-6EAF0D9FC918}"/>
              </a:ext>
            </a:extLst>
          </p:cNvPr>
          <p:cNvSpPr>
            <a:spLocks noGrp="1"/>
          </p:cNvSpPr>
          <p:nvPr>
            <p:ph type="dt" sz="half" idx="10"/>
          </p:nvPr>
        </p:nvSpPr>
        <p:spPr/>
        <p:txBody>
          <a:bodyPr/>
          <a:lstStyle/>
          <a:p>
            <a:fld id="{4692A8D8-EAA6-4B41-B65F-6C629710E1BC}" type="datetime1">
              <a:rPr lang="zh-TW" altLang="en-US" smtClean="0"/>
              <a:t>2021/12/28</a:t>
            </a:fld>
            <a:endParaRPr lang="zh-TW" altLang="en-US"/>
          </a:p>
        </p:txBody>
      </p:sp>
      <p:sp>
        <p:nvSpPr>
          <p:cNvPr id="5" name="頁尾版面配置區 4">
            <a:extLst>
              <a:ext uri="{FF2B5EF4-FFF2-40B4-BE49-F238E27FC236}">
                <a16:creationId xmlns:a16="http://schemas.microsoft.com/office/drawing/2014/main" id="{7717D7EC-EE1A-4A4B-861F-6D324F22200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10CE4FF-B3F4-467E-83B2-F737389235C0}"/>
              </a:ext>
            </a:extLst>
          </p:cNvPr>
          <p:cNvSpPr>
            <a:spLocks noGrp="1"/>
          </p:cNvSpPr>
          <p:nvPr>
            <p:ph type="sldNum" sz="quarter" idx="12"/>
          </p:nvPr>
        </p:nvSpPr>
        <p:spPr/>
        <p:txBody>
          <a:bodyPr/>
          <a:lstStyle/>
          <a:p>
            <a:fld id="{E5F01350-A1F2-4F8F-97B1-4F53DCB7E6B7}" type="slidenum">
              <a:rPr lang="zh-TW" altLang="en-US" smtClean="0"/>
              <a:t>‹#›</a:t>
            </a:fld>
            <a:endParaRPr lang="zh-TW" altLang="en-US"/>
          </a:p>
        </p:txBody>
      </p:sp>
    </p:spTree>
    <p:extLst>
      <p:ext uri="{BB962C8B-B14F-4D97-AF65-F5344CB8AC3E}">
        <p14:creationId xmlns:p14="http://schemas.microsoft.com/office/powerpoint/2010/main" val="1963833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8CDBB4-3FF3-4841-860C-C9968053EE08}"/>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B59459D5-6748-404D-AA03-7E4A9CB647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E36E98B9-C1B2-47EC-B6CF-917694651EC0}"/>
              </a:ext>
            </a:extLst>
          </p:cNvPr>
          <p:cNvSpPr>
            <a:spLocks noGrp="1"/>
          </p:cNvSpPr>
          <p:nvPr>
            <p:ph type="dt" sz="half" idx="10"/>
          </p:nvPr>
        </p:nvSpPr>
        <p:spPr/>
        <p:txBody>
          <a:bodyPr/>
          <a:lstStyle/>
          <a:p>
            <a:fld id="{1F0ABF52-4066-4ED2-9D4B-F37DDB6CEC06}" type="datetime1">
              <a:rPr lang="zh-TW" altLang="en-US" smtClean="0"/>
              <a:t>2021/12/28</a:t>
            </a:fld>
            <a:endParaRPr lang="zh-TW" altLang="en-US"/>
          </a:p>
        </p:txBody>
      </p:sp>
      <p:sp>
        <p:nvSpPr>
          <p:cNvPr id="5" name="頁尾版面配置區 4">
            <a:extLst>
              <a:ext uri="{FF2B5EF4-FFF2-40B4-BE49-F238E27FC236}">
                <a16:creationId xmlns:a16="http://schemas.microsoft.com/office/drawing/2014/main" id="{E181AE12-77E5-4587-A2FA-0E75D237AD2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881D74D-9528-49AB-B74B-C3F688D54794}"/>
              </a:ext>
            </a:extLst>
          </p:cNvPr>
          <p:cNvSpPr>
            <a:spLocks noGrp="1"/>
          </p:cNvSpPr>
          <p:nvPr>
            <p:ph type="sldNum" sz="quarter" idx="12"/>
          </p:nvPr>
        </p:nvSpPr>
        <p:spPr/>
        <p:txBody>
          <a:bodyPr/>
          <a:lstStyle/>
          <a:p>
            <a:fld id="{E5F01350-A1F2-4F8F-97B1-4F53DCB7E6B7}" type="slidenum">
              <a:rPr lang="zh-TW" altLang="en-US" smtClean="0"/>
              <a:t>‹#›</a:t>
            </a:fld>
            <a:endParaRPr lang="zh-TW" altLang="en-US"/>
          </a:p>
        </p:txBody>
      </p:sp>
    </p:spTree>
    <p:extLst>
      <p:ext uri="{BB962C8B-B14F-4D97-AF65-F5344CB8AC3E}">
        <p14:creationId xmlns:p14="http://schemas.microsoft.com/office/powerpoint/2010/main" val="4004513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410F30-8502-42D6-83A6-353F6608FA3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257138E3-EA0F-489B-909E-4E519127E26E}"/>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BC00847-9560-45F4-AE43-69B641CB9C8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5C32E60A-A4D6-452C-9D0A-EA9570C6C7E2}"/>
              </a:ext>
            </a:extLst>
          </p:cNvPr>
          <p:cNvSpPr>
            <a:spLocks noGrp="1"/>
          </p:cNvSpPr>
          <p:nvPr>
            <p:ph type="dt" sz="half" idx="10"/>
          </p:nvPr>
        </p:nvSpPr>
        <p:spPr/>
        <p:txBody>
          <a:bodyPr/>
          <a:lstStyle/>
          <a:p>
            <a:fld id="{B5BC3FF0-6B4A-4D0D-BEDE-EFA04C3E7B6B}" type="datetime1">
              <a:rPr lang="zh-TW" altLang="en-US" smtClean="0"/>
              <a:t>2021/12/28</a:t>
            </a:fld>
            <a:endParaRPr lang="zh-TW" altLang="en-US"/>
          </a:p>
        </p:txBody>
      </p:sp>
      <p:sp>
        <p:nvSpPr>
          <p:cNvPr id="6" name="頁尾版面配置區 5">
            <a:extLst>
              <a:ext uri="{FF2B5EF4-FFF2-40B4-BE49-F238E27FC236}">
                <a16:creationId xmlns:a16="http://schemas.microsoft.com/office/drawing/2014/main" id="{EA50F85C-536E-4EBF-87F3-CAD3BFC854C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1397B9E-725D-4187-9478-3D722C17A239}"/>
              </a:ext>
            </a:extLst>
          </p:cNvPr>
          <p:cNvSpPr>
            <a:spLocks noGrp="1"/>
          </p:cNvSpPr>
          <p:nvPr>
            <p:ph type="sldNum" sz="quarter" idx="12"/>
          </p:nvPr>
        </p:nvSpPr>
        <p:spPr/>
        <p:txBody>
          <a:bodyPr/>
          <a:lstStyle/>
          <a:p>
            <a:fld id="{E5F01350-A1F2-4F8F-97B1-4F53DCB7E6B7}" type="slidenum">
              <a:rPr lang="zh-TW" altLang="en-US" smtClean="0"/>
              <a:t>‹#›</a:t>
            </a:fld>
            <a:endParaRPr lang="zh-TW" altLang="en-US"/>
          </a:p>
        </p:txBody>
      </p:sp>
    </p:spTree>
    <p:extLst>
      <p:ext uri="{BB962C8B-B14F-4D97-AF65-F5344CB8AC3E}">
        <p14:creationId xmlns:p14="http://schemas.microsoft.com/office/powerpoint/2010/main" val="675161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108786-C251-469E-956A-8BF8A12663FE}"/>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17CA90B-52D9-415C-B837-02C0316541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E928DE73-5437-42F7-8249-A33448D806F2}"/>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C5826242-CF45-4770-96BE-58CB3F4755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0055DFDF-1662-4838-8F1B-4D57B94D052A}"/>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026F969-5E28-4A8E-9403-C7B4466C6FD4}"/>
              </a:ext>
            </a:extLst>
          </p:cNvPr>
          <p:cNvSpPr>
            <a:spLocks noGrp="1"/>
          </p:cNvSpPr>
          <p:nvPr>
            <p:ph type="dt" sz="half" idx="10"/>
          </p:nvPr>
        </p:nvSpPr>
        <p:spPr/>
        <p:txBody>
          <a:bodyPr/>
          <a:lstStyle/>
          <a:p>
            <a:fld id="{92726EE7-802C-442B-A459-46A517B455BB}" type="datetime1">
              <a:rPr lang="zh-TW" altLang="en-US" smtClean="0"/>
              <a:t>2021/12/28</a:t>
            </a:fld>
            <a:endParaRPr lang="zh-TW" altLang="en-US"/>
          </a:p>
        </p:txBody>
      </p:sp>
      <p:sp>
        <p:nvSpPr>
          <p:cNvPr id="8" name="頁尾版面配置區 7">
            <a:extLst>
              <a:ext uri="{FF2B5EF4-FFF2-40B4-BE49-F238E27FC236}">
                <a16:creationId xmlns:a16="http://schemas.microsoft.com/office/drawing/2014/main" id="{5D494567-C2B3-429F-B2C9-D6378DB1FD2E}"/>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EA56F89D-D5C3-40F6-9555-E15BA98EE9C5}"/>
              </a:ext>
            </a:extLst>
          </p:cNvPr>
          <p:cNvSpPr>
            <a:spLocks noGrp="1"/>
          </p:cNvSpPr>
          <p:nvPr>
            <p:ph type="sldNum" sz="quarter" idx="12"/>
          </p:nvPr>
        </p:nvSpPr>
        <p:spPr/>
        <p:txBody>
          <a:bodyPr/>
          <a:lstStyle/>
          <a:p>
            <a:fld id="{E5F01350-A1F2-4F8F-97B1-4F53DCB7E6B7}" type="slidenum">
              <a:rPr lang="zh-TW" altLang="en-US" smtClean="0"/>
              <a:t>‹#›</a:t>
            </a:fld>
            <a:endParaRPr lang="zh-TW" altLang="en-US"/>
          </a:p>
        </p:txBody>
      </p:sp>
    </p:spTree>
    <p:extLst>
      <p:ext uri="{BB962C8B-B14F-4D97-AF65-F5344CB8AC3E}">
        <p14:creationId xmlns:p14="http://schemas.microsoft.com/office/powerpoint/2010/main" val="2716589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7538BB-3C11-4C30-895A-FBDAFEEB67D7}"/>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FF87655-2B9C-4C90-B5D1-EBBD117AFB48}"/>
              </a:ext>
            </a:extLst>
          </p:cNvPr>
          <p:cNvSpPr>
            <a:spLocks noGrp="1"/>
          </p:cNvSpPr>
          <p:nvPr>
            <p:ph type="dt" sz="half" idx="10"/>
          </p:nvPr>
        </p:nvSpPr>
        <p:spPr/>
        <p:txBody>
          <a:bodyPr/>
          <a:lstStyle/>
          <a:p>
            <a:fld id="{583554A7-8DBA-47C2-85C5-C5FB105C0C98}" type="datetime1">
              <a:rPr lang="zh-TW" altLang="en-US" smtClean="0"/>
              <a:t>2021/12/28</a:t>
            </a:fld>
            <a:endParaRPr lang="zh-TW" altLang="en-US"/>
          </a:p>
        </p:txBody>
      </p:sp>
      <p:sp>
        <p:nvSpPr>
          <p:cNvPr id="4" name="頁尾版面配置區 3">
            <a:extLst>
              <a:ext uri="{FF2B5EF4-FFF2-40B4-BE49-F238E27FC236}">
                <a16:creationId xmlns:a16="http://schemas.microsoft.com/office/drawing/2014/main" id="{AF9AACE8-A8E7-4F42-8C89-28E12C278F3C}"/>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C32275C-D8B9-46DB-A104-C4A274A124FB}"/>
              </a:ext>
            </a:extLst>
          </p:cNvPr>
          <p:cNvSpPr>
            <a:spLocks noGrp="1"/>
          </p:cNvSpPr>
          <p:nvPr>
            <p:ph type="sldNum" sz="quarter" idx="12"/>
          </p:nvPr>
        </p:nvSpPr>
        <p:spPr/>
        <p:txBody>
          <a:bodyPr/>
          <a:lstStyle/>
          <a:p>
            <a:fld id="{E5F01350-A1F2-4F8F-97B1-4F53DCB7E6B7}" type="slidenum">
              <a:rPr lang="zh-TW" altLang="en-US" smtClean="0"/>
              <a:t>‹#›</a:t>
            </a:fld>
            <a:endParaRPr lang="zh-TW" altLang="en-US"/>
          </a:p>
        </p:txBody>
      </p:sp>
    </p:spTree>
    <p:extLst>
      <p:ext uri="{BB962C8B-B14F-4D97-AF65-F5344CB8AC3E}">
        <p14:creationId xmlns:p14="http://schemas.microsoft.com/office/powerpoint/2010/main" val="565575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7AE4918-472C-4295-A9FB-60942904C461}"/>
              </a:ext>
            </a:extLst>
          </p:cNvPr>
          <p:cNvSpPr>
            <a:spLocks noGrp="1"/>
          </p:cNvSpPr>
          <p:nvPr>
            <p:ph type="dt" sz="half" idx="10"/>
          </p:nvPr>
        </p:nvSpPr>
        <p:spPr/>
        <p:txBody>
          <a:bodyPr/>
          <a:lstStyle/>
          <a:p>
            <a:fld id="{DEA32C3C-37FB-419A-AB27-72BC6A4FB8AB}" type="datetime1">
              <a:rPr lang="zh-TW" altLang="en-US" smtClean="0"/>
              <a:t>2021/12/28</a:t>
            </a:fld>
            <a:endParaRPr lang="zh-TW" altLang="en-US"/>
          </a:p>
        </p:txBody>
      </p:sp>
      <p:sp>
        <p:nvSpPr>
          <p:cNvPr id="3" name="頁尾版面配置區 2">
            <a:extLst>
              <a:ext uri="{FF2B5EF4-FFF2-40B4-BE49-F238E27FC236}">
                <a16:creationId xmlns:a16="http://schemas.microsoft.com/office/drawing/2014/main" id="{42C065B7-04D1-4882-A9AA-F4A8A1B2546D}"/>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3147B8D-EC2C-45A4-9FE3-6520174CC5E0}"/>
              </a:ext>
            </a:extLst>
          </p:cNvPr>
          <p:cNvSpPr>
            <a:spLocks noGrp="1"/>
          </p:cNvSpPr>
          <p:nvPr>
            <p:ph type="sldNum" sz="quarter" idx="12"/>
          </p:nvPr>
        </p:nvSpPr>
        <p:spPr/>
        <p:txBody>
          <a:bodyPr/>
          <a:lstStyle/>
          <a:p>
            <a:fld id="{E5F01350-A1F2-4F8F-97B1-4F53DCB7E6B7}" type="slidenum">
              <a:rPr lang="zh-TW" altLang="en-US" smtClean="0"/>
              <a:t>‹#›</a:t>
            </a:fld>
            <a:endParaRPr lang="zh-TW" altLang="en-US"/>
          </a:p>
        </p:txBody>
      </p:sp>
    </p:spTree>
    <p:extLst>
      <p:ext uri="{BB962C8B-B14F-4D97-AF65-F5344CB8AC3E}">
        <p14:creationId xmlns:p14="http://schemas.microsoft.com/office/powerpoint/2010/main" val="743932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69D054-0597-4FBE-9917-79152E41DA0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4A0C81B9-FB49-4DBB-A4A6-4A0EB88CF6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7015ABAF-8045-4876-8EB6-B54C91002B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30991A2-14F8-4174-B49A-49AF6BB62AC9}"/>
              </a:ext>
            </a:extLst>
          </p:cNvPr>
          <p:cNvSpPr>
            <a:spLocks noGrp="1"/>
          </p:cNvSpPr>
          <p:nvPr>
            <p:ph type="dt" sz="half" idx="10"/>
          </p:nvPr>
        </p:nvSpPr>
        <p:spPr/>
        <p:txBody>
          <a:bodyPr/>
          <a:lstStyle/>
          <a:p>
            <a:fld id="{8D6E02C2-FAF8-4013-B08C-86901F305412}" type="datetime1">
              <a:rPr lang="zh-TW" altLang="en-US" smtClean="0"/>
              <a:t>2021/12/28</a:t>
            </a:fld>
            <a:endParaRPr lang="zh-TW" altLang="en-US"/>
          </a:p>
        </p:txBody>
      </p:sp>
      <p:sp>
        <p:nvSpPr>
          <p:cNvPr id="6" name="頁尾版面配置區 5">
            <a:extLst>
              <a:ext uri="{FF2B5EF4-FFF2-40B4-BE49-F238E27FC236}">
                <a16:creationId xmlns:a16="http://schemas.microsoft.com/office/drawing/2014/main" id="{68E4F54B-F161-4483-9FBC-5BF1C260872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16C7E9C-44DD-404F-ACF6-F9E10C49F778}"/>
              </a:ext>
            </a:extLst>
          </p:cNvPr>
          <p:cNvSpPr>
            <a:spLocks noGrp="1"/>
          </p:cNvSpPr>
          <p:nvPr>
            <p:ph type="sldNum" sz="quarter" idx="12"/>
          </p:nvPr>
        </p:nvSpPr>
        <p:spPr/>
        <p:txBody>
          <a:bodyPr/>
          <a:lstStyle/>
          <a:p>
            <a:fld id="{E5F01350-A1F2-4F8F-97B1-4F53DCB7E6B7}" type="slidenum">
              <a:rPr lang="zh-TW" altLang="en-US" smtClean="0"/>
              <a:t>‹#›</a:t>
            </a:fld>
            <a:endParaRPr lang="zh-TW" altLang="en-US"/>
          </a:p>
        </p:txBody>
      </p:sp>
    </p:spTree>
    <p:extLst>
      <p:ext uri="{BB962C8B-B14F-4D97-AF65-F5344CB8AC3E}">
        <p14:creationId xmlns:p14="http://schemas.microsoft.com/office/powerpoint/2010/main" val="710053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FD3C9B-A769-4AAA-8FEE-B0DABC8B3B5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B02C70AA-B895-44F5-8B77-C2CF098D9F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2BBB359F-45E7-479B-97D8-4D0C0D56AE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1EDF832-F158-4B0A-ACB8-32E978543CFD}"/>
              </a:ext>
            </a:extLst>
          </p:cNvPr>
          <p:cNvSpPr>
            <a:spLocks noGrp="1"/>
          </p:cNvSpPr>
          <p:nvPr>
            <p:ph type="dt" sz="half" idx="10"/>
          </p:nvPr>
        </p:nvSpPr>
        <p:spPr/>
        <p:txBody>
          <a:bodyPr/>
          <a:lstStyle/>
          <a:p>
            <a:fld id="{07E4D29A-D809-4FA7-B53B-39B8A8239552}" type="datetime1">
              <a:rPr lang="zh-TW" altLang="en-US" smtClean="0"/>
              <a:t>2021/12/28</a:t>
            </a:fld>
            <a:endParaRPr lang="zh-TW" altLang="en-US"/>
          </a:p>
        </p:txBody>
      </p:sp>
      <p:sp>
        <p:nvSpPr>
          <p:cNvPr id="6" name="頁尾版面配置區 5">
            <a:extLst>
              <a:ext uri="{FF2B5EF4-FFF2-40B4-BE49-F238E27FC236}">
                <a16:creationId xmlns:a16="http://schemas.microsoft.com/office/drawing/2014/main" id="{B740A271-1D41-4946-A79E-03F69FEE0E5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1127F0B-3F34-44F0-A572-E2C5E7786248}"/>
              </a:ext>
            </a:extLst>
          </p:cNvPr>
          <p:cNvSpPr>
            <a:spLocks noGrp="1"/>
          </p:cNvSpPr>
          <p:nvPr>
            <p:ph type="sldNum" sz="quarter" idx="12"/>
          </p:nvPr>
        </p:nvSpPr>
        <p:spPr/>
        <p:txBody>
          <a:bodyPr/>
          <a:lstStyle/>
          <a:p>
            <a:fld id="{E5F01350-A1F2-4F8F-97B1-4F53DCB7E6B7}" type="slidenum">
              <a:rPr lang="zh-TW" altLang="en-US" smtClean="0"/>
              <a:t>‹#›</a:t>
            </a:fld>
            <a:endParaRPr lang="zh-TW" altLang="en-US"/>
          </a:p>
        </p:txBody>
      </p:sp>
    </p:spTree>
    <p:extLst>
      <p:ext uri="{BB962C8B-B14F-4D97-AF65-F5344CB8AC3E}">
        <p14:creationId xmlns:p14="http://schemas.microsoft.com/office/powerpoint/2010/main" val="534005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3B8931C-A983-4459-8215-3FCD5E2BB006}"/>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66DF1563-5203-40EC-8E12-535CEB797E10}"/>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022D6B7-C4F3-4251-9065-C766958B0D10}"/>
              </a:ext>
            </a:extLst>
          </p:cNvPr>
          <p:cNvSpPr>
            <a:spLocks noGrp="1"/>
          </p:cNvSpPr>
          <p:nvPr>
            <p:ph type="dt" sz="half" idx="10"/>
          </p:nvPr>
        </p:nvSpPr>
        <p:spPr/>
        <p:txBody>
          <a:bodyPr/>
          <a:lstStyle/>
          <a:p>
            <a:fld id="{9EBE3DDF-DFF4-4AC0-A674-9CAF874EBA5A}" type="datetime1">
              <a:rPr lang="zh-TW" altLang="en-US" smtClean="0"/>
              <a:t>2021/12/28</a:t>
            </a:fld>
            <a:endParaRPr lang="zh-TW" altLang="en-US"/>
          </a:p>
        </p:txBody>
      </p:sp>
      <p:sp>
        <p:nvSpPr>
          <p:cNvPr id="5" name="頁尾版面配置區 4">
            <a:extLst>
              <a:ext uri="{FF2B5EF4-FFF2-40B4-BE49-F238E27FC236}">
                <a16:creationId xmlns:a16="http://schemas.microsoft.com/office/drawing/2014/main" id="{131E1EE1-F9DA-4B9B-827E-37993F9DE2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4DBE0F3-7B81-4F4F-BD34-6F27D27C55B0}"/>
              </a:ext>
            </a:extLst>
          </p:cNvPr>
          <p:cNvSpPr>
            <a:spLocks noGrp="1"/>
          </p:cNvSpPr>
          <p:nvPr>
            <p:ph type="sldNum" sz="quarter" idx="12"/>
          </p:nvPr>
        </p:nvSpPr>
        <p:spPr/>
        <p:txBody>
          <a:bodyPr/>
          <a:lstStyle/>
          <a:p>
            <a:fld id="{E5F01350-A1F2-4F8F-97B1-4F53DCB7E6B7}" type="slidenum">
              <a:rPr lang="zh-TW" altLang="en-US" smtClean="0"/>
              <a:t>‹#›</a:t>
            </a:fld>
            <a:endParaRPr lang="zh-TW" altLang="en-US"/>
          </a:p>
        </p:txBody>
      </p:sp>
    </p:spTree>
    <p:extLst>
      <p:ext uri="{BB962C8B-B14F-4D97-AF65-F5344CB8AC3E}">
        <p14:creationId xmlns:p14="http://schemas.microsoft.com/office/powerpoint/2010/main" val="863907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FFC93E6-F1F1-410A-B4DA-6838EE8E6765}"/>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36E266AA-D8BF-4D9F-95CC-EC7001E53664}"/>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9C4E83F-70E4-4B91-9FA4-E05A550F8213}"/>
              </a:ext>
            </a:extLst>
          </p:cNvPr>
          <p:cNvSpPr>
            <a:spLocks noGrp="1"/>
          </p:cNvSpPr>
          <p:nvPr>
            <p:ph type="dt" sz="half" idx="10"/>
          </p:nvPr>
        </p:nvSpPr>
        <p:spPr/>
        <p:txBody>
          <a:bodyPr/>
          <a:lstStyle/>
          <a:p>
            <a:fld id="{4D528455-04CE-43BE-82C5-07A52A492C77}" type="datetime1">
              <a:rPr lang="zh-TW" altLang="en-US" smtClean="0"/>
              <a:t>2021/12/28</a:t>
            </a:fld>
            <a:endParaRPr lang="zh-TW" altLang="en-US"/>
          </a:p>
        </p:txBody>
      </p:sp>
      <p:sp>
        <p:nvSpPr>
          <p:cNvPr id="5" name="頁尾版面配置區 4">
            <a:extLst>
              <a:ext uri="{FF2B5EF4-FFF2-40B4-BE49-F238E27FC236}">
                <a16:creationId xmlns:a16="http://schemas.microsoft.com/office/drawing/2014/main" id="{1F77DF5E-18B1-4564-88B9-7D9CE9D2868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540792C-060D-4F65-9042-8C9D228F7467}"/>
              </a:ext>
            </a:extLst>
          </p:cNvPr>
          <p:cNvSpPr>
            <a:spLocks noGrp="1"/>
          </p:cNvSpPr>
          <p:nvPr>
            <p:ph type="sldNum" sz="quarter" idx="12"/>
          </p:nvPr>
        </p:nvSpPr>
        <p:spPr/>
        <p:txBody>
          <a:bodyPr/>
          <a:lstStyle/>
          <a:p>
            <a:fld id="{E5F01350-A1F2-4F8F-97B1-4F53DCB7E6B7}" type="slidenum">
              <a:rPr lang="zh-TW" altLang="en-US" smtClean="0"/>
              <a:t>‹#›</a:t>
            </a:fld>
            <a:endParaRPr lang="zh-TW" altLang="en-US"/>
          </a:p>
        </p:txBody>
      </p:sp>
    </p:spTree>
    <p:extLst>
      <p:ext uri="{BB962C8B-B14F-4D97-AF65-F5344CB8AC3E}">
        <p14:creationId xmlns:p14="http://schemas.microsoft.com/office/powerpoint/2010/main" val="1931438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F8D989F0-80E8-48BF-8EF4-7CAD08B16C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1B61B81-C5E5-4A75-8A53-CE4153890D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AF3EC6D-6C10-490D-948A-F1C0FE90A0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61D41-2745-400F-AD33-BBA70C90EB44}" type="datetime1">
              <a:rPr lang="zh-TW" altLang="en-US" smtClean="0"/>
              <a:t>2021/12/28</a:t>
            </a:fld>
            <a:endParaRPr lang="zh-TW" altLang="en-US"/>
          </a:p>
        </p:txBody>
      </p:sp>
      <p:sp>
        <p:nvSpPr>
          <p:cNvPr id="5" name="頁尾版面配置區 4">
            <a:extLst>
              <a:ext uri="{FF2B5EF4-FFF2-40B4-BE49-F238E27FC236}">
                <a16:creationId xmlns:a16="http://schemas.microsoft.com/office/drawing/2014/main" id="{3E6E833F-2BDD-4496-BF89-6A1595AD87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87BEF64E-9FCE-49EA-A22D-AA4D26EFC7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F01350-A1F2-4F8F-97B1-4F53DCB7E6B7}" type="slidenum">
              <a:rPr lang="zh-TW" altLang="en-US" smtClean="0"/>
              <a:t>‹#›</a:t>
            </a:fld>
            <a:endParaRPr lang="zh-TW" altLang="en-US"/>
          </a:p>
        </p:txBody>
      </p:sp>
    </p:spTree>
    <p:extLst>
      <p:ext uri="{BB962C8B-B14F-4D97-AF65-F5344CB8AC3E}">
        <p14:creationId xmlns:p14="http://schemas.microsoft.com/office/powerpoint/2010/main" val="1393361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B37C3B-534B-4FA5-92C6-AA75F0BD2EE6}"/>
              </a:ext>
            </a:extLst>
          </p:cNvPr>
          <p:cNvSpPr>
            <a:spLocks noGrp="1"/>
          </p:cNvSpPr>
          <p:nvPr>
            <p:ph type="ctrTitle"/>
          </p:nvPr>
        </p:nvSpPr>
        <p:spPr/>
        <p:txBody>
          <a:bodyPr>
            <a:normAutofit fontScale="90000"/>
          </a:bodyPr>
          <a:lstStyle/>
          <a:p>
            <a:r>
              <a:rPr lang="en-US" altLang="zh-TW" dirty="0">
                <a:latin typeface="Times New Roman" panose="02020603050405020304" pitchFamily="18" charset="0"/>
                <a:cs typeface="Times New Roman" panose="02020603050405020304" pitchFamily="18" charset="0"/>
              </a:rPr>
              <a:t>An A∗ Search Algorithm for the Constrained Longest Common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Subsequence Problem</a:t>
            </a:r>
            <a:endParaRPr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82FD7188-76E7-4518-8524-2D3F6713E3A6}"/>
              </a:ext>
            </a:extLst>
          </p:cNvPr>
          <p:cNvSpPr>
            <a:spLocks noGrp="1"/>
          </p:cNvSpPr>
          <p:nvPr>
            <p:ph type="subTitle" idx="1"/>
          </p:nvPr>
        </p:nvSpPr>
        <p:spPr/>
        <p:txBody>
          <a:bodyPr>
            <a:normAutofit/>
          </a:bodyPr>
          <a:lstStyle/>
          <a:p>
            <a:r>
              <a:rPr lang="en-US" altLang="zh-TW" dirty="0">
                <a:latin typeface="Times New Roman" panose="02020603050405020304" pitchFamily="18" charset="0"/>
                <a:cs typeface="Times New Roman" panose="02020603050405020304" pitchFamily="18" charset="0"/>
              </a:rPr>
              <a:t>Marko </a:t>
            </a:r>
            <a:r>
              <a:rPr lang="en-US" altLang="zh-TW" dirty="0" err="1">
                <a:latin typeface="Times New Roman" panose="02020603050405020304" pitchFamily="18" charset="0"/>
                <a:cs typeface="Times New Roman" panose="02020603050405020304" pitchFamily="18" charset="0"/>
              </a:rPr>
              <a:t>Djukanovic</a:t>
            </a:r>
            <a:r>
              <a:rPr lang="en-US" altLang="zh-TW" dirty="0">
                <a:latin typeface="Times New Roman" panose="02020603050405020304" pitchFamily="18" charset="0"/>
                <a:cs typeface="Times New Roman" panose="02020603050405020304" pitchFamily="18" charset="0"/>
              </a:rPr>
              <a:t>, Christoph Berger, Günther R. </a:t>
            </a:r>
            <a:r>
              <a:rPr lang="en-US" altLang="zh-TW" dirty="0" err="1">
                <a:latin typeface="Times New Roman" panose="02020603050405020304" pitchFamily="18" charset="0"/>
                <a:cs typeface="Times New Roman" panose="02020603050405020304" pitchFamily="18" charset="0"/>
              </a:rPr>
              <a:t>Raidl</a:t>
            </a:r>
            <a:r>
              <a:rPr lang="en-US" altLang="zh-TW" dirty="0">
                <a:latin typeface="Times New Roman" panose="02020603050405020304" pitchFamily="18" charset="0"/>
                <a:cs typeface="Times New Roman" panose="02020603050405020304" pitchFamily="18" charset="0"/>
              </a:rPr>
              <a:t>, Christian Blum</a:t>
            </a:r>
          </a:p>
          <a:p>
            <a:r>
              <a:rPr lang="en-US" altLang="zh-TW" dirty="0">
                <a:latin typeface="Times New Roman" panose="02020603050405020304" pitchFamily="18" charset="0"/>
                <a:cs typeface="Times New Roman" panose="02020603050405020304" pitchFamily="18" charset="0"/>
              </a:rPr>
              <a:t> February 2021, Information Processing Letters</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AF1010A0-E034-42D4-B7D9-39785E8E4C38}"/>
              </a:ext>
            </a:extLst>
          </p:cNvPr>
          <p:cNvSpPr txBox="1"/>
          <p:nvPr/>
        </p:nvSpPr>
        <p:spPr>
          <a:xfrm>
            <a:off x="8602134" y="6027003"/>
            <a:ext cx="3589866" cy="830997"/>
          </a:xfrm>
          <a:prstGeom prst="rect">
            <a:avLst/>
          </a:prstGeom>
          <a:noFill/>
        </p:spPr>
        <p:txBody>
          <a:bodyPr wrap="square">
            <a:spAutoFit/>
          </a:bodyPr>
          <a:lstStyle/>
          <a:p>
            <a:r>
              <a:rPr lang="en-US" altLang="zh-TW" sz="2400" dirty="0">
                <a:latin typeface="Times New Roman" panose="02020603050405020304" pitchFamily="18" charset="0"/>
                <a:cs typeface="Times New Roman" panose="02020603050405020304" pitchFamily="18" charset="0"/>
              </a:rPr>
              <a:t>Presenter: Guan-Ting Chen</a:t>
            </a:r>
          </a:p>
          <a:p>
            <a:r>
              <a:rPr lang="en-US" altLang="zh-TW" sz="2400" dirty="0">
                <a:latin typeface="Times New Roman" panose="02020603050405020304" pitchFamily="18" charset="0"/>
                <a:cs typeface="Times New Roman" panose="02020603050405020304" pitchFamily="18" charset="0"/>
              </a:rPr>
              <a:t>Date: Dec. 28, 2021</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0671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1348AD-DDA9-46E9-B01C-D8F465E94160}"/>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82B72873-B9E6-4B39-92A5-6CD3E72CD842}"/>
              </a:ext>
            </a:extLst>
          </p:cNvPr>
          <p:cNvSpPr>
            <a:spLocks noGrp="1"/>
          </p:cNvSpPr>
          <p:nvPr>
            <p:ph idx="1"/>
          </p:nvPr>
        </p:nvSpPr>
        <p:spPr>
          <a:xfrm>
            <a:off x="838200" y="1825625"/>
            <a:ext cx="10709366" cy="4351338"/>
          </a:xfrm>
        </p:spPr>
        <p:txBody>
          <a:bodyPr>
            <a:normAutofit fontScale="25000" lnSpcReduction="20000"/>
          </a:bodyPr>
          <a:lstStyle/>
          <a:p>
            <a:pPr marL="0" indent="0">
              <a:lnSpc>
                <a:spcPct val="120000"/>
              </a:lnSpc>
              <a:buNone/>
            </a:pPr>
            <a:r>
              <a:rPr lang="en-US" altLang="zh-TW" sz="9200" dirty="0"/>
              <a:t>The constrained longest common subsequence (CLCS) problem was introduced as a speciﬁc measure of similarity between molecules. It is a special case of the constrained sequence alignment problem and of the longest common subsequence (LCS) problem, which are both well-studied problems in the scientiﬁc literature. Finding similarities between sequences plays an important role in the ﬁelds of molecular biology, gene recognition, pattern matching, text analysis, and voice recognition, among others. The CLCS problem in particular represents an interesting measure of similarity for molecules that have a putative structure in common. This paper proposes an exact A∗ search algorithm for effectively solving the CLCS problem. This A∗ search is guided by a tight upper bound calculation for the cost-to-go for the LCS problem. Our computational study shows that on various artiﬁcial and real benchmark sets this algorithm scales better with growing instance size and requires signiﬁcantly less computation time to prove optimality than earlier state-of-the-art approaches from the literature</a:t>
            </a:r>
            <a:r>
              <a:rPr lang="en-US" altLang="zh-TW" sz="2000" dirty="0"/>
              <a:t>.</a:t>
            </a:r>
            <a:endParaRPr lang="zh-TW" altLang="en-US" sz="2000" dirty="0"/>
          </a:p>
        </p:txBody>
      </p:sp>
      <p:sp>
        <p:nvSpPr>
          <p:cNvPr id="4" name="投影片編號版面配置區 3">
            <a:extLst>
              <a:ext uri="{FF2B5EF4-FFF2-40B4-BE49-F238E27FC236}">
                <a16:creationId xmlns:a16="http://schemas.microsoft.com/office/drawing/2014/main" id="{6F61A82B-281A-46FA-B64A-EDFF1B3CC8C9}"/>
              </a:ext>
            </a:extLst>
          </p:cNvPr>
          <p:cNvSpPr>
            <a:spLocks noGrp="1"/>
          </p:cNvSpPr>
          <p:nvPr>
            <p:ph type="sldNum" sz="quarter" idx="12"/>
          </p:nvPr>
        </p:nvSpPr>
        <p:spPr/>
        <p:txBody>
          <a:bodyPr/>
          <a:lstStyle/>
          <a:p>
            <a:fld id="{E5F01350-A1F2-4F8F-97B1-4F53DCB7E6B7}" type="slidenum">
              <a:rPr lang="zh-TW" altLang="en-US" smtClean="0"/>
              <a:t>2</a:t>
            </a:fld>
            <a:endParaRPr lang="zh-TW" altLang="en-US"/>
          </a:p>
        </p:txBody>
      </p:sp>
    </p:spTree>
    <p:extLst>
      <p:ext uri="{BB962C8B-B14F-4D97-AF65-F5344CB8AC3E}">
        <p14:creationId xmlns:p14="http://schemas.microsoft.com/office/powerpoint/2010/main" val="1644501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4CBF07A-EAB5-477B-88D5-93E15D2F5C2B}"/>
              </a:ext>
            </a:extLst>
          </p:cNvPr>
          <p:cNvSpPr>
            <a:spLocks noGrp="1"/>
          </p:cNvSpPr>
          <p:nvPr>
            <p:ph type="title"/>
          </p:nvPr>
        </p:nvSpPr>
        <p:spPr/>
        <p:txBody>
          <a:bodyPr/>
          <a:lstStyle/>
          <a:p>
            <a:r>
              <a:rPr lang="en-US" altLang="zh-TW" dirty="0"/>
              <a:t>Constrained Longest Common Subsequence</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619676E0-7581-44FC-B768-9F08AE3CECA8}"/>
                  </a:ext>
                </a:extLst>
              </p:cNvPr>
              <p:cNvSpPr>
                <a:spLocks noGrp="1"/>
              </p:cNvSpPr>
              <p:nvPr>
                <p:ph idx="1"/>
              </p:nvPr>
            </p:nvSpPr>
            <p:spPr/>
            <p:txBody>
              <a:bodyPr/>
              <a:lstStyle/>
              <a:p>
                <a:r>
                  <a:rPr lang="en-US" altLang="zh-TW" dirty="0"/>
                  <a:t>Input strings</a:t>
                </a:r>
              </a:p>
              <a:p>
                <a:pPr lvl="1"/>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b="0" i="1" smtClean="0">
                            <a:latin typeface="Cambria Math" panose="02040503050406030204" pitchFamily="18" charset="0"/>
                          </a:rPr>
                          <m:t>2</m:t>
                        </m:r>
                      </m:sub>
                    </m:sSub>
                  </m:oMath>
                </a14:m>
                <a:endParaRPr lang="en-US" altLang="zh-TW" dirty="0"/>
              </a:p>
              <a:p>
                <a:r>
                  <a:rPr lang="en-US" altLang="zh-TW" dirty="0"/>
                  <a:t>Pattern string</a:t>
                </a:r>
              </a:p>
              <a:p>
                <a:pPr lvl="1"/>
                <a14:m>
                  <m:oMath xmlns:m="http://schemas.openxmlformats.org/officeDocument/2006/math">
                    <m:r>
                      <a:rPr lang="en-US" altLang="zh-TW" b="0" i="1" smtClean="0">
                        <a:latin typeface="Cambria Math" panose="02040503050406030204" pitchFamily="18" charset="0"/>
                      </a:rPr>
                      <m:t>𝑃</m:t>
                    </m:r>
                  </m:oMath>
                </a14:m>
                <a:endParaRPr lang="en-US" altLang="zh-TW" dirty="0"/>
              </a:p>
              <a:p>
                <a:pPr lvl="1"/>
                <a:endParaRPr lang="en-US" altLang="zh-TW" dirty="0"/>
              </a:p>
              <a:p>
                <a:r>
                  <a:rPr lang="en-US" altLang="zh-TW" dirty="0"/>
                  <a:t>CLCS</a:t>
                </a:r>
              </a:p>
              <a:p>
                <a:pPr lvl="1"/>
                <a:r>
                  <a:rPr lang="en-US" altLang="zh-TW" dirty="0"/>
                  <a:t>Find the LCS include </a:t>
                </a:r>
                <a14:m>
                  <m:oMath xmlns:m="http://schemas.openxmlformats.org/officeDocument/2006/math">
                    <m:r>
                      <a:rPr lang="en-US" altLang="zh-TW" b="0" i="1" smtClean="0">
                        <a:latin typeface="Cambria Math" panose="02040503050406030204" pitchFamily="18" charset="0"/>
                      </a:rPr>
                      <m:t>𝑃</m:t>
                    </m:r>
                  </m:oMath>
                </a14:m>
                <a:r>
                  <a:rPr lang="en-US" altLang="zh-TW" dirty="0"/>
                  <a:t> as a </a:t>
                </a:r>
                <a:r>
                  <a:rPr lang="en-US" altLang="zh-TW" dirty="0">
                    <a:solidFill>
                      <a:srgbClr val="FF0000"/>
                    </a:solidFill>
                  </a:rPr>
                  <a:t>subsequence</a:t>
                </a:r>
              </a:p>
            </p:txBody>
          </p:sp>
        </mc:Choice>
        <mc:Fallback xmlns="">
          <p:sp>
            <p:nvSpPr>
              <p:cNvPr id="3" name="內容版面配置區 2">
                <a:extLst>
                  <a:ext uri="{FF2B5EF4-FFF2-40B4-BE49-F238E27FC236}">
                    <a16:creationId xmlns:a16="http://schemas.microsoft.com/office/drawing/2014/main" id="{619676E0-7581-44FC-B768-9F08AE3CECA8}"/>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4174EA37-3422-4326-9639-0E33EFB93A34}"/>
              </a:ext>
            </a:extLst>
          </p:cNvPr>
          <p:cNvSpPr>
            <a:spLocks noGrp="1"/>
          </p:cNvSpPr>
          <p:nvPr>
            <p:ph type="sldNum" sz="quarter" idx="12"/>
          </p:nvPr>
        </p:nvSpPr>
        <p:spPr/>
        <p:txBody>
          <a:bodyPr/>
          <a:lstStyle/>
          <a:p>
            <a:fld id="{E5F01350-A1F2-4F8F-97B1-4F53DCB7E6B7}" type="slidenum">
              <a:rPr lang="zh-TW" altLang="en-US" smtClean="0"/>
              <a:t>3</a:t>
            </a:fld>
            <a:endParaRPr lang="zh-TW" altLang="en-US"/>
          </a:p>
        </p:txBody>
      </p:sp>
    </p:spTree>
    <p:extLst>
      <p:ext uri="{BB962C8B-B14F-4D97-AF65-F5344CB8AC3E}">
        <p14:creationId xmlns:p14="http://schemas.microsoft.com/office/powerpoint/2010/main" val="3084063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09B53D-5558-42A8-B3C9-3122689FDDBC}"/>
              </a:ext>
            </a:extLst>
          </p:cNvPr>
          <p:cNvSpPr>
            <a:spLocks noGrp="1"/>
          </p:cNvSpPr>
          <p:nvPr>
            <p:ph type="title"/>
          </p:nvPr>
        </p:nvSpPr>
        <p:spPr/>
        <p:txBody>
          <a:bodyPr/>
          <a:lstStyle/>
          <a:p>
            <a:r>
              <a:rPr lang="en-US" altLang="zh-TW" dirty="0"/>
              <a:t>State Graph</a:t>
            </a:r>
            <a:endParaRPr lang="zh-TW" altLang="en-US" dirty="0"/>
          </a:p>
        </p:txBody>
      </p:sp>
      <p:sp>
        <p:nvSpPr>
          <p:cNvPr id="3" name="內容版面配置區 2">
            <a:extLst>
              <a:ext uri="{FF2B5EF4-FFF2-40B4-BE49-F238E27FC236}">
                <a16:creationId xmlns:a16="http://schemas.microsoft.com/office/drawing/2014/main" id="{FF4F1F70-3053-4C18-BF84-07FAD9DC10CA}"/>
              </a:ext>
            </a:extLst>
          </p:cNvPr>
          <p:cNvSpPr>
            <a:spLocks noGrp="1"/>
          </p:cNvSpPr>
          <p:nvPr>
            <p:ph idx="1"/>
          </p:nvPr>
        </p:nvSpPr>
        <p:spPr/>
        <p:txBody>
          <a:bodyPr/>
          <a:lstStyle/>
          <a:p>
            <a:r>
              <a:rPr lang="en-US" altLang="zh-TW" dirty="0"/>
              <a:t>Inner Nodes</a:t>
            </a:r>
          </a:p>
          <a:p>
            <a:pPr lvl="1"/>
            <a:r>
              <a:rPr lang="en-US" altLang="zh-TW" dirty="0"/>
              <a:t>Partial solutions</a:t>
            </a:r>
          </a:p>
          <a:p>
            <a:r>
              <a:rPr lang="en-US" altLang="zh-TW" dirty="0"/>
              <a:t>Sink Nodes</a:t>
            </a:r>
          </a:p>
          <a:p>
            <a:pPr lvl="1"/>
            <a:r>
              <a:rPr lang="en-US" altLang="zh-TW" dirty="0"/>
              <a:t>Complete solutions</a:t>
            </a:r>
          </a:p>
          <a:p>
            <a:r>
              <a:rPr lang="en-US" altLang="zh-TW" dirty="0"/>
              <a:t>Directed arcs</a:t>
            </a:r>
          </a:p>
          <a:p>
            <a:pPr lvl="1"/>
            <a:r>
              <a:rPr lang="en-US" altLang="zh-TW" dirty="0"/>
              <a:t>Extensions of partial solutions</a:t>
            </a:r>
          </a:p>
          <a:p>
            <a:endParaRPr lang="zh-TW" altLang="en-US" dirty="0"/>
          </a:p>
        </p:txBody>
      </p:sp>
      <p:sp>
        <p:nvSpPr>
          <p:cNvPr id="4" name="投影片編號版面配置區 3">
            <a:extLst>
              <a:ext uri="{FF2B5EF4-FFF2-40B4-BE49-F238E27FC236}">
                <a16:creationId xmlns:a16="http://schemas.microsoft.com/office/drawing/2014/main" id="{5C886F57-9CC8-4F99-BC07-C8DCD1596E10}"/>
              </a:ext>
            </a:extLst>
          </p:cNvPr>
          <p:cNvSpPr>
            <a:spLocks noGrp="1"/>
          </p:cNvSpPr>
          <p:nvPr>
            <p:ph type="sldNum" sz="quarter" idx="12"/>
          </p:nvPr>
        </p:nvSpPr>
        <p:spPr/>
        <p:txBody>
          <a:bodyPr/>
          <a:lstStyle/>
          <a:p>
            <a:fld id="{E5F01350-A1F2-4F8F-97B1-4F53DCB7E6B7}" type="slidenum">
              <a:rPr lang="zh-TW" altLang="en-US" smtClean="0"/>
              <a:t>4</a:t>
            </a:fld>
            <a:endParaRPr lang="zh-TW" altLang="en-US"/>
          </a:p>
        </p:txBody>
      </p:sp>
      <p:pic>
        <p:nvPicPr>
          <p:cNvPr id="5" name="內容版面配置區 5">
            <a:extLst>
              <a:ext uri="{FF2B5EF4-FFF2-40B4-BE49-F238E27FC236}">
                <a16:creationId xmlns:a16="http://schemas.microsoft.com/office/drawing/2014/main" id="{7EBCB792-7564-4084-A817-54761936CD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2521" y="0"/>
            <a:ext cx="4585182" cy="6858000"/>
          </a:xfrm>
          <a:prstGeom prst="rect">
            <a:avLst/>
          </a:prstGeom>
        </p:spPr>
      </p:pic>
    </p:spTree>
    <p:extLst>
      <p:ext uri="{BB962C8B-B14F-4D97-AF65-F5344CB8AC3E}">
        <p14:creationId xmlns:p14="http://schemas.microsoft.com/office/powerpoint/2010/main" val="1316031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09B53D-5558-42A8-B3C9-3122689FDDBC}"/>
              </a:ext>
            </a:extLst>
          </p:cNvPr>
          <p:cNvSpPr>
            <a:spLocks noGrp="1"/>
          </p:cNvSpPr>
          <p:nvPr>
            <p:ph type="title"/>
          </p:nvPr>
        </p:nvSpPr>
        <p:spPr/>
        <p:txBody>
          <a:bodyPr/>
          <a:lstStyle/>
          <a:p>
            <a:r>
              <a:rPr lang="en-US" altLang="zh-TW" dirty="0"/>
              <a:t>State Graph</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FF4F1F70-3053-4C18-BF84-07FAD9DC10CA}"/>
                  </a:ext>
                </a:extLst>
              </p:cNvPr>
              <p:cNvSpPr>
                <a:spLocks noGrp="1"/>
              </p:cNvSpPr>
              <p:nvPr>
                <p:ph idx="1"/>
              </p:nvPr>
            </p:nvSpPr>
            <p:spPr>
              <a:xfrm>
                <a:off x="838200" y="1825625"/>
                <a:ext cx="10515600" cy="4895850"/>
              </a:xfrm>
            </p:spPr>
            <p:txBody>
              <a:bodyPr>
                <a:normAutofit/>
              </a:bodyPr>
              <a:lstStyle/>
              <a:p>
                <a:r>
                  <a:rPr lang="en-US" altLang="zh-TW" sz="2600" dirty="0"/>
                  <a:t>Node</a:t>
                </a:r>
              </a:p>
              <a:p>
                <a:pPr lvl="1"/>
                <a14:m>
                  <m:oMath xmlns:m="http://schemas.openxmlformats.org/officeDocument/2006/math">
                    <m:r>
                      <a:rPr lang="en-US" altLang="zh-TW" b="0" i="1" smtClean="0">
                        <a:latin typeface="Cambria Math" panose="02040503050406030204" pitchFamily="18" charset="0"/>
                      </a:rPr>
                      <m:t>𝑣</m:t>
                    </m:r>
                    <m:r>
                      <a:rPr lang="en-US" altLang="zh-TW" b="0" i="1" smtClean="0">
                        <a:latin typeface="Cambria Math" panose="02040503050406030204" pitchFamily="18" charset="0"/>
                      </a:rPr>
                      <m:t>= </m:t>
                    </m:r>
                    <m:sSup>
                      <m:sSupPr>
                        <m:ctrlPr>
                          <a:rPr lang="pl-PL" altLang="zh-TW" i="1" smtClean="0">
                            <a:latin typeface="Cambria Math" panose="02040503050406030204" pitchFamily="18" charset="0"/>
                          </a:rPr>
                        </m:ctrlPr>
                      </m:sSupPr>
                      <m:e>
                        <m:r>
                          <a:rPr lang="en-US" altLang="zh-TW" b="0" i="1" smtClean="0">
                            <a:latin typeface="Cambria Math" panose="02040503050406030204" pitchFamily="18" charset="0"/>
                          </a:rPr>
                          <m:t>(</m:t>
                        </m:r>
                        <m:r>
                          <a:rPr lang="en-US" altLang="zh-TW" b="0" i="1" smtClean="0">
                            <a:latin typeface="Cambria Math" panose="02040503050406030204" pitchFamily="18" charset="0"/>
                          </a:rPr>
                          <m:t>𝑝</m:t>
                        </m:r>
                      </m:e>
                      <m:sup>
                        <m:r>
                          <a:rPr lang="en-US" altLang="zh-TW" b="0" i="1" smtClean="0">
                            <a:latin typeface="Cambria Math" panose="02040503050406030204" pitchFamily="18" charset="0"/>
                          </a:rPr>
                          <m:t>𝑣</m:t>
                        </m:r>
                      </m:sup>
                    </m:sSup>
                    <m:r>
                      <a:rPr lang="en-US" altLang="zh-TW" b="0" i="1" smtClean="0">
                        <a:latin typeface="Cambria Math" panose="02040503050406030204" pitchFamily="18" charset="0"/>
                      </a:rPr>
                      <m:t>, </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𝑙</m:t>
                        </m:r>
                      </m:e>
                      <m:sup>
                        <m:r>
                          <a:rPr lang="en-US" altLang="zh-TW" b="0" i="1" smtClean="0">
                            <a:latin typeface="Cambria Math" panose="02040503050406030204" pitchFamily="18" charset="0"/>
                          </a:rPr>
                          <m:t>𝑣</m:t>
                        </m:r>
                      </m:sup>
                    </m:sSup>
                    <m:r>
                      <a:rPr lang="en-US" altLang="zh-TW" b="0" i="1" smtClean="0">
                        <a:latin typeface="Cambria Math" panose="02040503050406030204" pitchFamily="18" charset="0"/>
                      </a:rPr>
                      <m:t>, </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𝑢</m:t>
                        </m:r>
                      </m:e>
                      <m:sup>
                        <m:r>
                          <a:rPr lang="en-US" altLang="zh-TW" b="0" i="1" smtClean="0">
                            <a:latin typeface="Cambria Math" panose="02040503050406030204" pitchFamily="18" charset="0"/>
                          </a:rPr>
                          <m:t>𝑣</m:t>
                        </m:r>
                      </m:sup>
                    </m:sSup>
                    <m:r>
                      <a:rPr lang="en-US" altLang="zh-TW" b="0" i="1" smtClean="0">
                        <a:latin typeface="Cambria Math" panose="02040503050406030204" pitchFamily="18" charset="0"/>
                      </a:rPr>
                      <m:t>)</m:t>
                    </m:r>
                  </m:oMath>
                </a14:m>
                <a:endParaRPr lang="en-US" altLang="zh-TW" b="0" dirty="0"/>
              </a:p>
              <a:p>
                <a:pPr lvl="1"/>
                <a14:m>
                  <m:oMath xmlns:m="http://schemas.openxmlformats.org/officeDocument/2006/math">
                    <m:sSup>
                      <m:sSupPr>
                        <m:ctrlPr>
                          <a:rPr lang="pl-PL" altLang="zh-TW" i="1" smtClean="0">
                            <a:latin typeface="Cambria Math" panose="02040503050406030204" pitchFamily="18" charset="0"/>
                          </a:rPr>
                        </m:ctrlPr>
                      </m:sSupPr>
                      <m:e>
                        <m:r>
                          <a:rPr lang="en-US" altLang="zh-TW" b="0" i="1" smtClean="0">
                            <a:latin typeface="Cambria Math" panose="02040503050406030204" pitchFamily="18" charset="0"/>
                          </a:rPr>
                          <m:t>𝑝</m:t>
                        </m:r>
                      </m:e>
                      <m:sup>
                        <m:r>
                          <a:rPr lang="en-US" altLang="zh-TW" b="0" i="1" smtClean="0">
                            <a:latin typeface="Cambria Math" panose="02040503050406030204" pitchFamily="18" charset="0"/>
                          </a:rPr>
                          <m:t>𝑣</m:t>
                        </m:r>
                      </m:sup>
                    </m:sSup>
                  </m:oMath>
                </a14:m>
                <a:endParaRPr lang="en-US" altLang="zh-TW" b="0" dirty="0"/>
              </a:p>
              <a:p>
                <a:pPr lvl="2"/>
                <a:r>
                  <a:rPr lang="en-US" altLang="zh-TW" sz="2400" dirty="0"/>
                  <a:t>Position vector</a:t>
                </a:r>
                <a:endParaRPr lang="en-US" altLang="zh-TW" sz="2400" b="0" dirty="0"/>
              </a:p>
              <a:p>
                <a:pPr lvl="1"/>
                <a14:m>
                  <m:oMath xmlns:m="http://schemas.openxmlformats.org/officeDocument/2006/math">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𝑙</m:t>
                        </m:r>
                      </m:e>
                      <m:sup>
                        <m:r>
                          <a:rPr lang="en-US" altLang="zh-TW" b="0" i="1" smtClean="0">
                            <a:latin typeface="Cambria Math" panose="02040503050406030204" pitchFamily="18" charset="0"/>
                          </a:rPr>
                          <m:t>𝑣</m:t>
                        </m:r>
                      </m:sup>
                    </m:sSup>
                  </m:oMath>
                </a14:m>
                <a:endParaRPr lang="en-US" altLang="zh-TW" b="0" dirty="0"/>
              </a:p>
              <a:p>
                <a:pPr lvl="2"/>
                <a:r>
                  <a:rPr lang="en-US" altLang="zh-TW" sz="2400" dirty="0"/>
                  <a:t>Length of the currently best known valid partial solution</a:t>
                </a:r>
              </a:p>
              <a:p>
                <a:pPr lvl="1"/>
                <a14:m>
                  <m:oMath xmlns:m="http://schemas.openxmlformats.org/officeDocument/2006/math">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𝑢</m:t>
                        </m:r>
                      </m:e>
                      <m:sup>
                        <m:r>
                          <a:rPr lang="en-US" altLang="zh-TW" b="0" i="1" smtClean="0">
                            <a:latin typeface="Cambria Math" panose="02040503050406030204" pitchFamily="18" charset="0"/>
                          </a:rPr>
                          <m:t>𝑣</m:t>
                        </m:r>
                      </m:sup>
                    </m:sSup>
                  </m:oMath>
                </a14:m>
                <a:endParaRPr lang="en-US" altLang="zh-TW" dirty="0"/>
              </a:p>
              <a:p>
                <a:pPr lvl="2"/>
                <a:r>
                  <a:rPr lang="en-US" altLang="zh-TW" sz="2400" dirty="0"/>
                  <a:t>Length of the longest prefix string of pattern string P</a:t>
                </a:r>
              </a:p>
              <a:p>
                <a:endParaRPr lang="zh-TW" altLang="en-US" dirty="0"/>
              </a:p>
            </p:txBody>
          </p:sp>
        </mc:Choice>
        <mc:Fallback xmlns="">
          <p:sp>
            <p:nvSpPr>
              <p:cNvPr id="3" name="內容版面配置區 2">
                <a:extLst>
                  <a:ext uri="{FF2B5EF4-FFF2-40B4-BE49-F238E27FC236}">
                    <a16:creationId xmlns:a16="http://schemas.microsoft.com/office/drawing/2014/main" id="{FF4F1F70-3053-4C18-BF84-07FAD9DC10CA}"/>
                  </a:ext>
                </a:extLst>
              </p:cNvPr>
              <p:cNvSpPr>
                <a:spLocks noGrp="1" noRot="1" noChangeAspect="1" noMove="1" noResize="1" noEditPoints="1" noAdjustHandles="1" noChangeArrowheads="1" noChangeShapeType="1" noTextEdit="1"/>
              </p:cNvSpPr>
              <p:nvPr>
                <p:ph idx="1"/>
              </p:nvPr>
            </p:nvSpPr>
            <p:spPr>
              <a:xfrm>
                <a:off x="838200" y="1825625"/>
                <a:ext cx="10515600" cy="4895850"/>
              </a:xfrm>
              <a:blipFill>
                <a:blip r:embed="rId2"/>
                <a:stretch>
                  <a:fillRect l="-928" t="-186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5C886F57-9CC8-4F99-BC07-C8DCD1596E10}"/>
              </a:ext>
            </a:extLst>
          </p:cNvPr>
          <p:cNvSpPr>
            <a:spLocks noGrp="1"/>
          </p:cNvSpPr>
          <p:nvPr>
            <p:ph type="sldNum" sz="quarter" idx="12"/>
          </p:nvPr>
        </p:nvSpPr>
        <p:spPr/>
        <p:txBody>
          <a:bodyPr/>
          <a:lstStyle/>
          <a:p>
            <a:fld id="{E5F01350-A1F2-4F8F-97B1-4F53DCB7E6B7}" type="slidenum">
              <a:rPr lang="zh-TW" altLang="en-US" smtClean="0"/>
              <a:t>5</a:t>
            </a:fld>
            <a:endParaRPr lang="zh-TW" altLang="en-US"/>
          </a:p>
        </p:txBody>
      </p:sp>
      <p:pic>
        <p:nvPicPr>
          <p:cNvPr id="6" name="內容版面配置區 5">
            <a:extLst>
              <a:ext uri="{FF2B5EF4-FFF2-40B4-BE49-F238E27FC236}">
                <a16:creationId xmlns:a16="http://schemas.microsoft.com/office/drawing/2014/main" id="{FFF8F71C-3224-44CE-86CB-A0E3CAA41252}"/>
              </a:ext>
            </a:extLst>
          </p:cNvPr>
          <p:cNvPicPr>
            <a:picLocks noChangeAspect="1"/>
          </p:cNvPicPr>
          <p:nvPr/>
        </p:nvPicPr>
        <p:blipFill rotWithShape="1">
          <a:blip r:embed="rId3">
            <a:extLst>
              <a:ext uri="{28A0092B-C50C-407E-A947-70E740481C1C}">
                <a14:useLocalDpi xmlns:a14="http://schemas.microsoft.com/office/drawing/2010/main" val="0"/>
              </a:ext>
            </a:extLst>
          </a:blip>
          <a:srcRect l="-45" t="22477" r="61679" b="48825"/>
          <a:stretch/>
        </p:blipFill>
        <p:spPr>
          <a:xfrm>
            <a:off x="8954588" y="2374171"/>
            <a:ext cx="2908663" cy="3254245"/>
          </a:xfrm>
          <a:prstGeom prst="rect">
            <a:avLst/>
          </a:prstGeom>
        </p:spPr>
      </p:pic>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8055143C-31B9-496A-9D42-674B39A46337}"/>
                  </a:ext>
                </a:extLst>
              </p:cNvPr>
              <p:cNvSpPr txBox="1"/>
              <p:nvPr/>
            </p:nvSpPr>
            <p:spPr>
              <a:xfrm>
                <a:off x="8450523" y="1493245"/>
                <a:ext cx="2650614" cy="1384995"/>
              </a:xfrm>
              <a:prstGeom prst="rect">
                <a:avLst/>
              </a:prstGeom>
              <a:noFill/>
            </p:spPr>
            <p:txBody>
              <a:bodyPr wrap="square" rtlCol="0">
                <a:spAutoFit/>
              </a:bodyPr>
              <a:lstStyle/>
              <a:p>
                <a14:m>
                  <m:oMath xmlns:m="http://schemas.openxmlformats.org/officeDocument/2006/math">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𝑆</m:t>
                        </m:r>
                      </m:e>
                      <m:sub>
                        <m:r>
                          <a:rPr lang="en-US" altLang="zh-TW" sz="2800" b="0" i="1" smtClean="0">
                            <a:latin typeface="Cambria Math" panose="02040503050406030204" pitchFamily="18" charset="0"/>
                          </a:rPr>
                          <m:t>1</m:t>
                        </m:r>
                      </m:sub>
                    </m:sSub>
                  </m:oMath>
                </a14:m>
                <a:r>
                  <a:rPr lang="en-US" altLang="zh-TW" sz="2800" dirty="0"/>
                  <a:t> = bcaacbdba</a:t>
                </a:r>
              </a:p>
              <a:p>
                <a14:m>
                  <m:oMath xmlns:m="http://schemas.openxmlformats.org/officeDocument/2006/math">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𝑆</m:t>
                        </m:r>
                      </m:e>
                      <m:sub>
                        <m:r>
                          <a:rPr lang="en-US" altLang="zh-TW" sz="2800" b="0" i="1" smtClean="0">
                            <a:latin typeface="Cambria Math" panose="02040503050406030204" pitchFamily="18" charset="0"/>
                          </a:rPr>
                          <m:t>2</m:t>
                        </m:r>
                      </m:sub>
                    </m:sSub>
                  </m:oMath>
                </a14:m>
                <a:r>
                  <a:rPr lang="zh-TW" altLang="en-US" sz="2800" dirty="0"/>
                  <a:t> </a:t>
                </a:r>
                <a:r>
                  <a:rPr lang="en-US" altLang="zh-TW" sz="2800" dirty="0"/>
                  <a:t>=</a:t>
                </a:r>
                <a:r>
                  <a:rPr lang="zh-TW" altLang="en-US" sz="2800" dirty="0"/>
                  <a:t> </a:t>
                </a:r>
                <a:r>
                  <a:rPr lang="en-US" altLang="zh-TW" sz="2800" dirty="0" err="1"/>
                  <a:t>cbccadcbbd</a:t>
                </a:r>
              </a:p>
              <a:p>
                <a14:m>
                  <m:oMath xmlns:m="http://schemas.openxmlformats.org/officeDocument/2006/math">
                    <m:r>
                      <a:rPr lang="en-US" altLang="zh-TW" sz="2800" i="1">
                        <a:latin typeface="Cambria Math" panose="02040503050406030204" pitchFamily="18" charset="0"/>
                      </a:rPr>
                      <m:t>𝑃</m:t>
                    </m:r>
                  </m:oMath>
                </a14:m>
                <a:r>
                  <a:rPr lang="en-US" altLang="zh-TW" sz="2800" dirty="0"/>
                  <a:t> =</a:t>
                </a:r>
                <a:r>
                  <a:rPr lang="en-US" altLang="zh-TW" sz="2800" i="1" dirty="0"/>
                  <a:t> </a:t>
                </a:r>
                <a:r>
                  <a:rPr lang="en-US" altLang="zh-TW" sz="2800" dirty="0" err="1"/>
                  <a:t>cbb</a:t>
                </a:r>
                <a:endParaRPr lang="en-US" altLang="zh-TW" sz="2800" dirty="0"/>
              </a:p>
            </p:txBody>
          </p:sp>
        </mc:Choice>
        <mc:Fallback xmlns="">
          <p:sp>
            <p:nvSpPr>
              <p:cNvPr id="7" name="文字方塊 6">
                <a:extLst>
                  <a:ext uri="{FF2B5EF4-FFF2-40B4-BE49-F238E27FC236}">
                    <a16:creationId xmlns:a16="http://schemas.microsoft.com/office/drawing/2014/main" id="{8055143C-31B9-496A-9D42-674B39A46337}"/>
                  </a:ext>
                </a:extLst>
              </p:cNvPr>
              <p:cNvSpPr txBox="1">
                <a:spLocks noRot="1" noChangeAspect="1" noMove="1" noResize="1" noEditPoints="1" noAdjustHandles="1" noChangeArrowheads="1" noChangeShapeType="1" noTextEdit="1"/>
              </p:cNvSpPr>
              <p:nvPr/>
            </p:nvSpPr>
            <p:spPr>
              <a:xfrm>
                <a:off x="8450523" y="1493245"/>
                <a:ext cx="2650614" cy="1384995"/>
              </a:xfrm>
              <a:prstGeom prst="rect">
                <a:avLst/>
              </a:prstGeom>
              <a:blipFill>
                <a:blip r:embed="rId4"/>
                <a:stretch>
                  <a:fillRect t="-4405" r="-1379" b="-1189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91199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09B53D-5558-42A8-B3C9-3122689FDDBC}"/>
              </a:ext>
            </a:extLst>
          </p:cNvPr>
          <p:cNvSpPr>
            <a:spLocks noGrp="1"/>
          </p:cNvSpPr>
          <p:nvPr>
            <p:ph type="title"/>
          </p:nvPr>
        </p:nvSpPr>
        <p:spPr/>
        <p:txBody>
          <a:bodyPr/>
          <a:lstStyle/>
          <a:p>
            <a:r>
              <a:rPr lang="en-US" altLang="zh-TW" dirty="0"/>
              <a:t>State Graph</a:t>
            </a: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FF4F1F70-3053-4C18-BF84-07FAD9DC10CA}"/>
                  </a:ext>
                </a:extLst>
              </p:cNvPr>
              <p:cNvSpPr>
                <a:spLocks noGrp="1"/>
              </p:cNvSpPr>
              <p:nvPr>
                <p:ph idx="1"/>
              </p:nvPr>
            </p:nvSpPr>
            <p:spPr>
              <a:xfrm>
                <a:off x="838200" y="1825625"/>
                <a:ext cx="10515600" cy="4895850"/>
              </a:xfrm>
            </p:spPr>
            <p:txBody>
              <a:bodyPr>
                <a:normAutofit/>
              </a:bodyPr>
              <a:lstStyle/>
              <a:p>
                <a:r>
                  <a:rPr lang="en-US" altLang="zh-TW" dirty="0"/>
                  <a:t>Potential letters</a:t>
                </a:r>
              </a:p>
              <a:p>
                <a:pPr lvl="1"/>
                <a:r>
                  <a:rPr lang="en-US" altLang="zh-TW" dirty="0"/>
                  <a:t>The letter appear in both strings from </a:t>
                </a:r>
                <a14:m>
                  <m:oMath xmlns:m="http://schemas.openxmlformats.org/officeDocument/2006/math">
                    <m:r>
                      <a:rPr lang="en-US" altLang="zh-TW" b="0" i="1" smtClean="0">
                        <a:latin typeface="Cambria Math" panose="02040503050406030204" pitchFamily="18" charset="0"/>
                      </a:rPr>
                      <m:t>𝑆</m:t>
                    </m:r>
                    <m:d>
                      <m:dPr>
                        <m:begChr m:val="["/>
                        <m:endChr m:val="]"/>
                        <m:ctrlPr>
                          <a:rPr lang="en-US" altLang="zh-TW" b="0" i="1" smtClean="0">
                            <a:latin typeface="Cambria Math" panose="02040503050406030204" pitchFamily="18" charset="0"/>
                          </a:rPr>
                        </m:ctrlPr>
                      </m:dPr>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𝑝</m:t>
                            </m:r>
                          </m:e>
                          <m:sup>
                            <m:r>
                              <a:rPr lang="en-US" altLang="zh-TW" b="0" i="1" smtClean="0">
                                <a:latin typeface="Cambria Math" panose="02040503050406030204" pitchFamily="18" charset="0"/>
                              </a:rPr>
                              <m:t>𝑣</m:t>
                            </m:r>
                          </m:sup>
                        </m:sSup>
                      </m:e>
                    </m:d>
                  </m:oMath>
                </a14:m>
                <a:endParaRPr lang="en-US" altLang="zh-TW" dirty="0"/>
              </a:p>
              <a:p>
                <a:endParaRPr lang="en-US" altLang="zh-TW" b="0" dirty="0"/>
              </a:p>
              <a:p>
                <a:r>
                  <a:rPr lang="en-US" altLang="zh-TW" sz="2600" dirty="0"/>
                  <a:t>Arc</a:t>
                </a:r>
              </a:p>
              <a:p>
                <a:pPr lvl="1"/>
                <a14:m>
                  <m:oMath xmlns:m="http://schemas.openxmlformats.org/officeDocument/2006/math">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𝑣</m:t>
                        </m:r>
                        <m:r>
                          <a:rPr lang="en-US" altLang="zh-TW" b="0" i="1" smtClean="0">
                            <a:latin typeface="Cambria Math" panose="02040503050406030204" pitchFamily="18" charset="0"/>
                          </a:rPr>
                          <m:t>, </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𝑣</m:t>
                            </m:r>
                          </m:e>
                          <m:sup>
                            <m:r>
                              <a:rPr lang="en-US" altLang="zh-TW" b="0" i="1" smtClean="0">
                                <a:latin typeface="Cambria Math" panose="02040503050406030204" pitchFamily="18" charset="0"/>
                              </a:rPr>
                              <m:t>′</m:t>
                            </m:r>
                          </m:sup>
                        </m:sSup>
                      </m:e>
                    </m:d>
                  </m:oMath>
                </a14:m>
                <a:r>
                  <a:rPr lang="en-US" altLang="zh-TW" dirty="0"/>
                  <a:t> with potential letter</a:t>
                </a:r>
                <a:endParaRPr lang="zh-TW" altLang="en-US" dirty="0"/>
              </a:p>
            </p:txBody>
          </p:sp>
        </mc:Choice>
        <mc:Fallback>
          <p:sp>
            <p:nvSpPr>
              <p:cNvPr id="3" name="內容版面配置區 2">
                <a:extLst>
                  <a:ext uri="{FF2B5EF4-FFF2-40B4-BE49-F238E27FC236}">
                    <a16:creationId xmlns:a16="http://schemas.microsoft.com/office/drawing/2014/main" id="{FF4F1F70-3053-4C18-BF84-07FAD9DC10CA}"/>
                  </a:ext>
                </a:extLst>
              </p:cNvPr>
              <p:cNvSpPr>
                <a:spLocks noGrp="1" noRot="1" noChangeAspect="1" noMove="1" noResize="1" noEditPoints="1" noAdjustHandles="1" noChangeArrowheads="1" noChangeShapeType="1" noTextEdit="1"/>
              </p:cNvSpPr>
              <p:nvPr>
                <p:ph idx="1"/>
              </p:nvPr>
            </p:nvSpPr>
            <p:spPr>
              <a:xfrm>
                <a:off x="838200" y="1825625"/>
                <a:ext cx="10515600" cy="4895850"/>
              </a:xfrm>
              <a:blipFill>
                <a:blip r:embed="rId2"/>
                <a:stretch>
                  <a:fillRect l="-1043" t="-2114"/>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5C886F57-9CC8-4F99-BC07-C8DCD1596E10}"/>
              </a:ext>
            </a:extLst>
          </p:cNvPr>
          <p:cNvSpPr>
            <a:spLocks noGrp="1"/>
          </p:cNvSpPr>
          <p:nvPr>
            <p:ph type="sldNum" sz="quarter" idx="12"/>
          </p:nvPr>
        </p:nvSpPr>
        <p:spPr/>
        <p:txBody>
          <a:bodyPr/>
          <a:lstStyle/>
          <a:p>
            <a:fld id="{E5F01350-A1F2-4F8F-97B1-4F53DCB7E6B7}" type="slidenum">
              <a:rPr lang="zh-TW" altLang="en-US" smtClean="0"/>
              <a:t>6</a:t>
            </a:fld>
            <a:endParaRPr lang="zh-TW" altLang="en-US"/>
          </a:p>
        </p:txBody>
      </p:sp>
      <p:pic>
        <p:nvPicPr>
          <p:cNvPr id="6" name="內容版面配置區 5">
            <a:extLst>
              <a:ext uri="{FF2B5EF4-FFF2-40B4-BE49-F238E27FC236}">
                <a16:creationId xmlns:a16="http://schemas.microsoft.com/office/drawing/2014/main" id="{FFF8F71C-3224-44CE-86CB-A0E3CAA41252}"/>
              </a:ext>
            </a:extLst>
          </p:cNvPr>
          <p:cNvPicPr>
            <a:picLocks noChangeAspect="1"/>
          </p:cNvPicPr>
          <p:nvPr/>
        </p:nvPicPr>
        <p:blipFill rotWithShape="1">
          <a:blip r:embed="rId3">
            <a:extLst>
              <a:ext uri="{28A0092B-C50C-407E-A947-70E740481C1C}">
                <a14:useLocalDpi xmlns:a14="http://schemas.microsoft.com/office/drawing/2010/main" val="0"/>
              </a:ext>
            </a:extLst>
          </a:blip>
          <a:srcRect l="-45" t="22477" r="61679" b="48825"/>
          <a:stretch/>
        </p:blipFill>
        <p:spPr>
          <a:xfrm>
            <a:off x="8954588" y="2374171"/>
            <a:ext cx="2908663" cy="3254245"/>
          </a:xfrm>
          <a:prstGeom prst="rect">
            <a:avLst/>
          </a:prstGeom>
        </p:spPr>
      </p:pic>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8055143C-31B9-496A-9D42-674B39A46337}"/>
                  </a:ext>
                </a:extLst>
              </p:cNvPr>
              <p:cNvSpPr txBox="1"/>
              <p:nvPr/>
            </p:nvSpPr>
            <p:spPr>
              <a:xfrm>
                <a:off x="8450523" y="1493245"/>
                <a:ext cx="2650614" cy="1384995"/>
              </a:xfrm>
              <a:prstGeom prst="rect">
                <a:avLst/>
              </a:prstGeom>
              <a:noFill/>
            </p:spPr>
            <p:txBody>
              <a:bodyPr wrap="square" rtlCol="0">
                <a:spAutoFit/>
              </a:bodyPr>
              <a:lstStyle/>
              <a:p>
                <a14:m>
                  <m:oMath xmlns:m="http://schemas.openxmlformats.org/officeDocument/2006/math">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𝑆</m:t>
                        </m:r>
                      </m:e>
                      <m:sub>
                        <m:r>
                          <a:rPr lang="en-US" altLang="zh-TW" sz="2800" b="0" i="1" smtClean="0">
                            <a:latin typeface="Cambria Math" panose="02040503050406030204" pitchFamily="18" charset="0"/>
                          </a:rPr>
                          <m:t>1</m:t>
                        </m:r>
                      </m:sub>
                    </m:sSub>
                  </m:oMath>
                </a14:m>
                <a:r>
                  <a:rPr lang="en-US" altLang="zh-TW" sz="2800" dirty="0"/>
                  <a:t> = bcaacbdba</a:t>
                </a:r>
              </a:p>
              <a:p>
                <a14:m>
                  <m:oMath xmlns:m="http://schemas.openxmlformats.org/officeDocument/2006/math">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𝑆</m:t>
                        </m:r>
                      </m:e>
                      <m:sub>
                        <m:r>
                          <a:rPr lang="en-US" altLang="zh-TW" sz="2800" b="0" i="1" smtClean="0">
                            <a:latin typeface="Cambria Math" panose="02040503050406030204" pitchFamily="18" charset="0"/>
                          </a:rPr>
                          <m:t>2</m:t>
                        </m:r>
                      </m:sub>
                    </m:sSub>
                  </m:oMath>
                </a14:m>
                <a:r>
                  <a:rPr lang="zh-TW" altLang="en-US" sz="2800" dirty="0"/>
                  <a:t> </a:t>
                </a:r>
                <a:r>
                  <a:rPr lang="en-US" altLang="zh-TW" sz="2800" dirty="0"/>
                  <a:t>=</a:t>
                </a:r>
                <a:r>
                  <a:rPr lang="zh-TW" altLang="en-US" sz="2800" dirty="0"/>
                  <a:t> </a:t>
                </a:r>
                <a:r>
                  <a:rPr lang="en-US" altLang="zh-TW" sz="2800" dirty="0" err="1"/>
                  <a:t>cbccadcbbd</a:t>
                </a:r>
              </a:p>
              <a:p>
                <a14:m>
                  <m:oMath xmlns:m="http://schemas.openxmlformats.org/officeDocument/2006/math">
                    <m:r>
                      <m:rPr>
                        <m:sty m:val="p"/>
                      </m:rPr>
                      <a:rPr lang="en-US" altLang="zh-TW" sz="2800" i="1" smtClean="0">
                        <a:latin typeface="Cambria Math" panose="02040503050406030204" pitchFamily="18" charset="0"/>
                      </a:rPr>
                      <m:t>P</m:t>
                    </m:r>
                  </m:oMath>
                </a14:m>
                <a:r>
                  <a:rPr lang="zh-TW" altLang="en-US" sz="2800" i="1" dirty="0"/>
                  <a:t> </a:t>
                </a:r>
                <a:r>
                  <a:rPr lang="en-US" altLang="zh-TW" sz="2800" dirty="0"/>
                  <a:t>=</a:t>
                </a:r>
                <a:r>
                  <a:rPr lang="en-US" altLang="zh-TW" sz="2800" i="1" dirty="0"/>
                  <a:t> </a:t>
                </a:r>
                <a:r>
                  <a:rPr lang="en-US" altLang="zh-TW" sz="2800" dirty="0" err="1"/>
                  <a:t>cbb</a:t>
                </a:r>
                <a:endParaRPr lang="en-US" altLang="zh-TW" sz="2800" dirty="0"/>
              </a:p>
            </p:txBody>
          </p:sp>
        </mc:Choice>
        <mc:Fallback xmlns="">
          <p:sp>
            <p:nvSpPr>
              <p:cNvPr id="7" name="文字方塊 6">
                <a:extLst>
                  <a:ext uri="{FF2B5EF4-FFF2-40B4-BE49-F238E27FC236}">
                    <a16:creationId xmlns:a16="http://schemas.microsoft.com/office/drawing/2014/main" id="{8055143C-31B9-496A-9D42-674B39A46337}"/>
                  </a:ext>
                </a:extLst>
              </p:cNvPr>
              <p:cNvSpPr txBox="1">
                <a:spLocks noRot="1" noChangeAspect="1" noMove="1" noResize="1" noEditPoints="1" noAdjustHandles="1" noChangeArrowheads="1" noChangeShapeType="1" noTextEdit="1"/>
              </p:cNvSpPr>
              <p:nvPr/>
            </p:nvSpPr>
            <p:spPr>
              <a:xfrm>
                <a:off x="8450523" y="1493245"/>
                <a:ext cx="2650614" cy="1384995"/>
              </a:xfrm>
              <a:prstGeom prst="rect">
                <a:avLst/>
              </a:prstGeom>
              <a:blipFill>
                <a:blip r:embed="rId4"/>
                <a:stretch>
                  <a:fillRect t="-4405" r="-1379" b="-1189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08656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646E17-AF77-4EBE-B8B8-B6F1899C5EBC}"/>
              </a:ext>
            </a:extLst>
          </p:cNvPr>
          <p:cNvSpPr>
            <a:spLocks noGrp="1"/>
          </p:cNvSpPr>
          <p:nvPr>
            <p:ph type="title"/>
          </p:nvPr>
        </p:nvSpPr>
        <p:spPr/>
        <p:txBody>
          <a:bodyPr/>
          <a:lstStyle/>
          <a:p>
            <a:r>
              <a:rPr lang="en-US" altLang="zh-TW" dirty="0"/>
              <a:t>State Graph</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A2FDDB2-90C8-42F9-B45A-F4F7C3C85CDE}"/>
                  </a:ext>
                </a:extLst>
              </p:cNvPr>
              <p:cNvSpPr>
                <a:spLocks noGrp="1"/>
              </p:cNvSpPr>
              <p:nvPr>
                <p:ph idx="1"/>
              </p:nvPr>
            </p:nvSpPr>
            <p:spPr>
              <a:xfrm>
                <a:off x="838200" y="1825624"/>
                <a:ext cx="10515600" cy="4895851"/>
              </a:xfrm>
            </p:spPr>
            <p:txBody>
              <a:bodyPr>
                <a:normAutofit/>
              </a:bodyPr>
              <a:lstStyle/>
              <a:p>
                <a:r>
                  <a:rPr lang="en-US" altLang="zh-TW" dirty="0"/>
                  <a:t>Data Structure</a:t>
                </a:r>
              </a:p>
              <a:p>
                <a:pPr lvl="1"/>
                <a14:m>
                  <m:oMath xmlns:m="http://schemas.openxmlformats.org/officeDocument/2006/math">
                    <m:r>
                      <a:rPr lang="en-US" altLang="zh-TW" b="0" i="1" smtClean="0">
                        <a:latin typeface="Cambria Math" panose="02040503050406030204" pitchFamily="18" charset="0"/>
                      </a:rPr>
                      <m:t>𝑆𝑢𝑐𝑐</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 </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𝑖</m:t>
                            </m:r>
                          </m:sub>
                          <m:sup>
                            <m:r>
                              <a:rPr lang="en-US" altLang="zh-TW" b="0" i="1" smtClean="0">
                                <a:latin typeface="Cambria Math" panose="02040503050406030204" pitchFamily="18" charset="0"/>
                              </a:rPr>
                              <m:t>𝑣</m:t>
                            </m:r>
                          </m:sup>
                        </m:sSubSup>
                        <m:r>
                          <a:rPr lang="en-US" altLang="zh-TW" b="0" i="1" smtClean="0">
                            <a:latin typeface="Cambria Math" panose="02040503050406030204" pitchFamily="18" charset="0"/>
                          </a:rPr>
                          <m:t>, </m:t>
                        </m:r>
                        <m:r>
                          <a:rPr lang="en-US" altLang="zh-TW" b="0" i="1" smtClean="0">
                            <a:latin typeface="Cambria Math" panose="02040503050406030204" pitchFamily="18" charset="0"/>
                          </a:rPr>
                          <m:t>𝑐</m:t>
                        </m:r>
                      </m:e>
                    </m:d>
                  </m:oMath>
                </a14:m>
                <a:endParaRPr lang="en-US" altLang="zh-TW" b="0" dirty="0"/>
              </a:p>
              <a:p>
                <a:pPr lvl="2"/>
                <a:r>
                  <a:rPr lang="en-US" altLang="zh-TW" sz="2400" b="0" dirty="0"/>
                  <a:t>The position tha</a:t>
                </a:r>
                <a:r>
                  <a:rPr lang="en-US" altLang="zh-TW" sz="2400" dirty="0"/>
                  <a:t>t the letter </a:t>
                </a:r>
                <a14:m>
                  <m:oMath xmlns:m="http://schemas.openxmlformats.org/officeDocument/2006/math">
                    <m:r>
                      <a:rPr lang="en-US" altLang="zh-TW" sz="2400" b="0" i="1" smtClean="0">
                        <a:latin typeface="Cambria Math" panose="02040503050406030204" pitchFamily="18" charset="0"/>
                      </a:rPr>
                      <m:t>𝑐</m:t>
                    </m:r>
                  </m:oMath>
                </a14:m>
                <a:r>
                  <a:rPr lang="en-US" altLang="zh-TW" sz="2400" b="0" dirty="0"/>
                  <a:t> first appear in string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Sup>
                      <m:sSubSupPr>
                        <m:ctrlPr>
                          <a:rPr lang="en-US" altLang="zh-TW" sz="2400" i="1" smtClean="0">
                            <a:latin typeface="Cambria Math" panose="02040503050406030204" pitchFamily="18" charset="0"/>
                          </a:rPr>
                        </m:ctrlPr>
                      </m:sSubSupPr>
                      <m:e>
                        <m:r>
                          <a:rPr lang="en-US" altLang="zh-TW" sz="2400" b="0" i="1" smtClean="0">
                            <a:latin typeface="Cambria Math" panose="02040503050406030204" pitchFamily="18" charset="0"/>
                          </a:rPr>
                          <m:t>𝑝</m:t>
                        </m:r>
                      </m:e>
                      <m:sub>
                        <m:r>
                          <a:rPr lang="en-US" altLang="zh-TW" sz="2400" b="0" i="1" smtClean="0">
                            <a:latin typeface="Cambria Math" panose="02040503050406030204" pitchFamily="18" charset="0"/>
                          </a:rPr>
                          <m:t>𝑖</m:t>
                        </m:r>
                      </m:sub>
                      <m:sup>
                        <m:r>
                          <a:rPr lang="en-US" altLang="zh-TW" sz="2400" b="0" i="1" smtClean="0">
                            <a:latin typeface="Cambria Math" panose="02040503050406030204" pitchFamily="18" charset="0"/>
                          </a:rPr>
                          <m:t>𝑣</m:t>
                        </m:r>
                      </m:sup>
                    </m:sSubSup>
                    <m:r>
                      <a:rPr lang="en-US" altLang="zh-TW" sz="2400" b="0" i="1" smtClean="0">
                        <a:latin typeface="Cambria Math" panose="02040503050406030204" pitchFamily="18" charset="0"/>
                      </a:rPr>
                      <m:t>, </m:t>
                    </m:r>
                    <m:d>
                      <m:dPr>
                        <m:begChr m:val="|"/>
                        <m:endChr m:val="|"/>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e>
                    </m:d>
                    <m:r>
                      <a:rPr lang="en-US" altLang="zh-TW" sz="2400" b="0" i="1" smtClean="0">
                        <a:latin typeface="Cambria Math" panose="02040503050406030204" pitchFamily="18" charset="0"/>
                      </a:rPr>
                      <m:t>]</m:t>
                    </m:r>
                  </m:oMath>
                </a14:m>
                <a:endParaRPr lang="en-US" altLang="zh-TW" sz="2400" b="0" dirty="0"/>
              </a:p>
              <a:p>
                <a:pPr lvl="2"/>
                <a14:m>
                  <m:oMath xmlns:m="http://schemas.openxmlformats.org/officeDocument/2006/math">
                    <m:r>
                      <a:rPr lang="en-US" altLang="zh-TW" sz="2400" b="0" i="1" smtClean="0">
                        <a:latin typeface="Cambria Math" panose="02040503050406030204" pitchFamily="18" charset="0"/>
                      </a:rPr>
                      <m:t>𝑐</m:t>
                    </m:r>
                  </m:oMath>
                </a14:m>
                <a:r>
                  <a:rPr lang="en-US" altLang="zh-TW" sz="2400" b="0" dirty="0"/>
                  <a:t> is dominated by </a:t>
                </a:r>
                <a14:m>
                  <m:oMath xmlns:m="http://schemas.openxmlformats.org/officeDocument/2006/math">
                    <m:r>
                      <a:rPr lang="en-US" altLang="zh-TW" sz="2400" b="0" i="1" smtClean="0">
                        <a:latin typeface="Cambria Math" panose="02040503050406030204" pitchFamily="18" charset="0"/>
                      </a:rPr>
                      <m:t>𝑐</m:t>
                    </m:r>
                    <m:r>
                      <a:rPr lang="en-US" altLang="zh-TW" sz="2400" b="0" i="1" smtClean="0">
                        <a:latin typeface="Cambria Math" panose="02040503050406030204" pitchFamily="18" charset="0"/>
                      </a:rPr>
                      <m:t>′</m:t>
                    </m:r>
                  </m:oMath>
                </a14:m>
                <a:endParaRPr lang="en-US" altLang="zh-TW" sz="2400" b="0" dirty="0"/>
              </a:p>
              <a:p>
                <a:pPr lvl="3"/>
                <a14:m>
                  <m:oMath xmlns:m="http://schemas.openxmlformats.org/officeDocument/2006/math">
                    <m:r>
                      <a:rPr lang="en-US" altLang="zh-TW" sz="2400" b="0" i="1" smtClean="0">
                        <a:latin typeface="Cambria Math" panose="02040503050406030204" pitchFamily="18" charset="0"/>
                      </a:rPr>
                      <m:t>𝑆𝑢𝑐𝑐</m:t>
                    </m:r>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 </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𝑝</m:t>
                            </m:r>
                          </m:e>
                          <m:sub>
                            <m:r>
                              <a:rPr lang="en-US" altLang="zh-TW" sz="2400" b="0" i="1" smtClean="0">
                                <a:latin typeface="Cambria Math" panose="02040503050406030204" pitchFamily="18" charset="0"/>
                              </a:rPr>
                              <m:t>𝑖</m:t>
                            </m:r>
                          </m:sub>
                          <m:sup>
                            <m:r>
                              <a:rPr lang="en-US" altLang="zh-TW" sz="2400" b="0" i="1" smtClean="0">
                                <a:latin typeface="Cambria Math" panose="02040503050406030204" pitchFamily="18" charset="0"/>
                              </a:rPr>
                              <m:t>𝑣</m:t>
                            </m:r>
                          </m:sup>
                        </m:sSubSup>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𝑐</m:t>
                        </m:r>
                      </m:e>
                    </m:d>
                    <m:r>
                      <a:rPr lang="en-US" altLang="zh-TW" sz="2400" b="0" i="0" smtClean="0">
                        <a:latin typeface="Cambria Math" panose="02040503050406030204" pitchFamily="18" charset="0"/>
                      </a:rPr>
                      <m:t> </m:t>
                    </m:r>
                    <m:r>
                      <a:rPr lang="en-US" altLang="zh-TW" sz="2400" b="0" i="1" smtClean="0">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rPr>
                      <m:t>𝑆𝑢𝑐𝑐</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𝑖</m:t>
                        </m:r>
                        <m:r>
                          <a:rPr lang="en-US" altLang="zh-TW" sz="2400" i="1">
                            <a:latin typeface="Cambria Math" panose="02040503050406030204" pitchFamily="18" charset="0"/>
                          </a:rPr>
                          <m:t>, </m:t>
                        </m:r>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𝑝</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𝑣</m:t>
                            </m:r>
                          </m:sup>
                        </m:sSubSup>
                        <m:r>
                          <a:rPr lang="en-US" altLang="zh-TW" sz="2400" i="1">
                            <a:latin typeface="Cambria Math" panose="02040503050406030204" pitchFamily="18" charset="0"/>
                          </a:rPr>
                          <m:t>, </m:t>
                        </m:r>
                        <m:r>
                          <a:rPr lang="en-US" altLang="zh-TW" sz="2400" i="1">
                            <a:latin typeface="Cambria Math" panose="02040503050406030204" pitchFamily="18" charset="0"/>
                          </a:rPr>
                          <m:t>𝑐</m:t>
                        </m:r>
                        <m:r>
                          <a:rPr lang="en-US" altLang="zh-TW" sz="2400" b="0" i="1" smtClean="0">
                            <a:latin typeface="Cambria Math" panose="02040503050406030204" pitchFamily="18" charset="0"/>
                          </a:rPr>
                          <m:t>′</m:t>
                        </m:r>
                      </m:e>
                    </m:d>
                  </m:oMath>
                </a14:m>
                <a:endParaRPr lang="en-US" altLang="zh-TW" sz="2000" dirty="0"/>
              </a:p>
              <a:p>
                <a:pPr lvl="3"/>
                <a14:m>
                  <m:oMath xmlns:m="http://schemas.openxmlformats.org/officeDocument/2006/math">
                    <m:sSubSup>
                      <m:sSubSupPr>
                        <m:ctrlPr>
                          <a:rPr lang="en-US" altLang="zh-TW" sz="2000" b="0" i="1" smtClean="0">
                            <a:latin typeface="Cambria Math" panose="02040503050406030204" pitchFamily="18" charset="0"/>
                          </a:rPr>
                        </m:ctrlPr>
                      </m:sSubSupPr>
                      <m:e>
                        <m:r>
                          <a:rPr lang="en-US" altLang="zh-TW" sz="2000" b="0" i="1" smtClean="0">
                            <a:latin typeface="Cambria Math" panose="02040503050406030204" pitchFamily="18" charset="0"/>
                          </a:rPr>
                          <m:t>∑</m:t>
                        </m:r>
                      </m:e>
                      <m:sub>
                        <m:r>
                          <a:rPr lang="en-US" altLang="zh-TW" sz="2000" b="0" i="1" smtClean="0">
                            <a:latin typeface="Cambria Math" panose="02040503050406030204" pitchFamily="18" charset="0"/>
                          </a:rPr>
                          <m:t>𝑣</m:t>
                        </m:r>
                      </m:sub>
                      <m:sup>
                        <m:r>
                          <a:rPr lang="en-US" altLang="zh-TW" sz="2000" b="0" i="1" smtClean="0">
                            <a:latin typeface="Cambria Math" panose="02040503050406030204" pitchFamily="18" charset="0"/>
                          </a:rPr>
                          <m:t>𝑛𝑑</m:t>
                        </m:r>
                      </m:sup>
                    </m:sSubSup>
                  </m:oMath>
                </a14:m>
                <a:endParaRPr lang="en-US" altLang="zh-TW" sz="2000" b="0" dirty="0"/>
              </a:p>
              <a:p>
                <a:pPr lvl="4"/>
                <a:r>
                  <a:rPr lang="en-US" altLang="zh-TW" sz="2400" b="0" dirty="0"/>
                  <a:t>non-dominated potential letters for extending node </a:t>
                </a:r>
                <a14:m>
                  <m:oMath xmlns:m="http://schemas.openxmlformats.org/officeDocument/2006/math">
                    <m:r>
                      <a:rPr lang="en-US" altLang="zh-TW" sz="2400" b="0" i="1" smtClean="0">
                        <a:latin typeface="Cambria Math" panose="02040503050406030204" pitchFamily="18" charset="0"/>
                      </a:rPr>
                      <m:t>𝑣</m:t>
                    </m:r>
                  </m:oMath>
                </a14:m>
                <a:endParaRPr lang="en-US" altLang="zh-TW" sz="2400" b="0" dirty="0"/>
              </a:p>
              <a:p>
                <a:pPr lvl="1"/>
                <a14:m>
                  <m:oMath xmlns:m="http://schemas.openxmlformats.org/officeDocument/2006/math">
                    <m:r>
                      <a:rPr lang="en-US" altLang="zh-TW" b="0" i="1" smtClean="0">
                        <a:latin typeface="Cambria Math" panose="02040503050406030204" pitchFamily="18" charset="0"/>
                      </a:rPr>
                      <m:t>𝐸𝑚𝑏𝑒𝑑</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 </m:t>
                        </m:r>
                        <m:r>
                          <a:rPr lang="en-US" altLang="zh-TW" b="0" i="1" smtClean="0">
                            <a:latin typeface="Cambria Math" panose="02040503050406030204" pitchFamily="18" charset="0"/>
                          </a:rPr>
                          <m:t>𝑢</m:t>
                        </m:r>
                      </m:e>
                    </m:d>
                  </m:oMath>
                </a14:m>
                <a:endParaRPr lang="en-US" altLang="zh-TW" b="0" dirty="0"/>
              </a:p>
              <a:p>
                <a:pPr lvl="2"/>
                <a:r>
                  <a:rPr lang="en-US" altLang="zh-TW" sz="2400" dirty="0"/>
                  <a:t>Right-most position of </a:t>
                </a:r>
                <a14:m>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oMath>
                </a14:m>
                <a:endParaRPr lang="en-US" altLang="zh-TW" sz="2400" dirty="0"/>
              </a:p>
              <a:p>
                <a:pPr lvl="3"/>
                <a14:m>
                  <m:oMath xmlns:m="http://schemas.openxmlformats.org/officeDocument/2006/math">
                    <m:r>
                      <a:rPr lang="en-US" altLang="zh-TW" sz="2400" b="0" i="1" smtClean="0">
                        <a:latin typeface="Cambria Math" panose="02040503050406030204" pitchFamily="18" charset="0"/>
                      </a:rPr>
                      <m:t>𝑃</m:t>
                    </m:r>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𝑢</m:t>
                        </m:r>
                        <m:r>
                          <a:rPr lang="en-US" altLang="zh-TW" sz="2400" b="0" i="1" smtClean="0">
                            <a:latin typeface="Cambria Math" panose="02040503050406030204" pitchFamily="18" charset="0"/>
                          </a:rPr>
                          <m:t>, </m:t>
                        </m:r>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𝑝</m:t>
                            </m:r>
                          </m:e>
                        </m:d>
                      </m:e>
                    </m:d>
                  </m:oMath>
                </a14:m>
                <a:r>
                  <a:rPr lang="en-US" altLang="zh-TW" sz="2400" dirty="0"/>
                  <a:t> is a subsequence of  </a:t>
                </a:r>
                <a14:m>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 </m:t>
                    </m:r>
                    <m:d>
                      <m:dPr>
                        <m:begChr m:val="|"/>
                        <m:endChr m:val="|"/>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e>
                    </m:d>
                    <m:r>
                      <a:rPr lang="en-US" altLang="zh-TW" sz="2400" b="0" i="1" smtClean="0">
                        <a:latin typeface="Cambria Math" panose="02040503050406030204" pitchFamily="18" charset="0"/>
                      </a:rPr>
                      <m:t>]</m:t>
                    </m:r>
                  </m:oMath>
                </a14:m>
                <a:endParaRPr lang="en-US" altLang="zh-TW" sz="2400" dirty="0"/>
              </a:p>
              <a:p>
                <a:pPr lvl="2"/>
                <a:r>
                  <a:rPr lang="en-US" altLang="zh-TW" sz="2400" dirty="0"/>
                  <a:t>If </a:t>
                </a:r>
                <a14:m>
                  <m:oMath xmlns:m="http://schemas.openxmlformats.org/officeDocument/2006/math">
                    <m:r>
                      <a:rPr lang="en-US" altLang="zh-TW" sz="2400" b="0" i="1" smtClean="0">
                        <a:latin typeface="Cambria Math" panose="02040503050406030204" pitchFamily="18" charset="0"/>
                      </a:rPr>
                      <m:t>𝑐</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ea typeface="Cambria Math" panose="02040503050406030204" pitchFamily="18" charset="0"/>
                      </a:rPr>
                      <m:t>𝑃</m:t>
                    </m:r>
                    <m:d>
                      <m:dPr>
                        <m:begChr m:val="["/>
                        <m:endChr m:val="]"/>
                        <m:ctrlPr>
                          <a:rPr lang="en-US" altLang="zh-TW" sz="2400" b="0" i="1" smtClean="0">
                            <a:latin typeface="Cambria Math" panose="02040503050406030204" pitchFamily="18" charset="0"/>
                            <a:ea typeface="Cambria Math" panose="02040503050406030204" pitchFamily="18" charset="0"/>
                          </a:rPr>
                        </m:ctrlPr>
                      </m:dPr>
                      <m:e>
                        <m:sSup>
                          <m:sSupPr>
                            <m:ctrlPr>
                              <a:rPr lang="en-US" altLang="zh-TW" sz="2400" b="0" i="1" smtClean="0">
                                <a:latin typeface="Cambria Math" panose="02040503050406030204" pitchFamily="18" charset="0"/>
                                <a:ea typeface="Cambria Math" panose="02040503050406030204" pitchFamily="18" charset="0"/>
                              </a:rPr>
                            </m:ctrlPr>
                          </m:sSupPr>
                          <m:e>
                            <m:r>
                              <a:rPr lang="en-US" altLang="zh-TW" sz="2400" b="0" i="1" smtClean="0">
                                <a:latin typeface="Cambria Math" panose="02040503050406030204" pitchFamily="18" charset="0"/>
                                <a:ea typeface="Cambria Math" panose="02040503050406030204" pitchFamily="18" charset="0"/>
                              </a:rPr>
                              <m:t>𝑢</m:t>
                            </m:r>
                          </m:e>
                          <m:sup>
                            <m:r>
                              <a:rPr lang="en-US" altLang="zh-TW" sz="2400" b="0" i="1" smtClean="0">
                                <a:latin typeface="Cambria Math" panose="02040503050406030204" pitchFamily="18" charset="0"/>
                                <a:ea typeface="Cambria Math" panose="02040503050406030204" pitchFamily="18" charset="0"/>
                              </a:rPr>
                              <m:t>𝑣</m:t>
                            </m:r>
                          </m:sup>
                        </m:sSup>
                        <m:r>
                          <a:rPr lang="en-US" altLang="zh-TW" sz="2400" b="0" i="1" smtClean="0">
                            <a:latin typeface="Cambria Math" panose="02040503050406030204" pitchFamily="18" charset="0"/>
                            <a:ea typeface="Cambria Math" panose="02040503050406030204" pitchFamily="18" charset="0"/>
                          </a:rPr>
                          <m:t>+1</m:t>
                        </m:r>
                      </m:e>
                    </m:d>
                  </m:oMath>
                </a14:m>
                <a:r>
                  <a:rPr lang="zh-TW" altLang="en-US" sz="2400" dirty="0"/>
                  <a:t> </a:t>
                </a:r>
                <a:r>
                  <a:rPr lang="en-US" altLang="zh-TW" sz="2400" dirty="0"/>
                  <a:t>and </a:t>
                </a:r>
                <a14:m>
                  <m:oMath xmlns:m="http://schemas.openxmlformats.org/officeDocument/2006/math">
                    <m:r>
                      <a:rPr lang="en-US" altLang="zh-TW" sz="2400" i="1">
                        <a:latin typeface="Cambria Math" panose="02040503050406030204" pitchFamily="18" charset="0"/>
                      </a:rPr>
                      <m:t>𝑆𝑢𝑐𝑐</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𝑖</m:t>
                        </m:r>
                        <m:r>
                          <a:rPr lang="en-US" altLang="zh-TW" sz="2400" i="1">
                            <a:latin typeface="Cambria Math" panose="02040503050406030204" pitchFamily="18" charset="0"/>
                          </a:rPr>
                          <m:t>, </m:t>
                        </m:r>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𝑝</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𝑣</m:t>
                            </m:r>
                          </m:sup>
                        </m:sSubSup>
                        <m:r>
                          <a:rPr lang="en-US" altLang="zh-TW" sz="2400" i="1">
                            <a:latin typeface="Cambria Math" panose="02040503050406030204" pitchFamily="18" charset="0"/>
                          </a:rPr>
                          <m:t>, </m:t>
                        </m:r>
                        <m:r>
                          <a:rPr lang="en-US" altLang="zh-TW" sz="2400" i="1">
                            <a:latin typeface="Cambria Math" panose="02040503050406030204" pitchFamily="18" charset="0"/>
                          </a:rPr>
                          <m:t>𝑐</m:t>
                        </m:r>
                      </m:e>
                    </m:d>
                    <m:r>
                      <a:rPr lang="en-US" altLang="zh-TW" sz="2400">
                        <a:latin typeface="Cambria Math" panose="02040503050406030204" pitchFamily="18" charset="0"/>
                      </a:rPr>
                      <m:t> </m:t>
                    </m:r>
                    <m:r>
                      <a:rPr lang="en-US" altLang="zh-TW" sz="2400" i="1" smtClean="0">
                        <a:latin typeface="Cambria Math" panose="02040503050406030204" pitchFamily="18" charset="0"/>
                        <a:ea typeface="Cambria Math" panose="02040503050406030204" pitchFamily="18" charset="0"/>
                      </a:rPr>
                      <m:t>&gt;</m:t>
                    </m:r>
                    <m:r>
                      <a:rPr lang="en-US" altLang="zh-TW" sz="2400" b="0" i="1" smtClean="0">
                        <a:latin typeface="Cambria Math" panose="02040503050406030204" pitchFamily="18" charset="0"/>
                        <a:ea typeface="Cambria Math" panose="02040503050406030204" pitchFamily="18" charset="0"/>
                      </a:rPr>
                      <m:t>𝐸𝑚𝑏𝑒𝑑</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𝑖</m:t>
                    </m:r>
                    <m:r>
                      <a:rPr lang="en-US" altLang="zh-TW" sz="2400" b="0" i="1" smtClean="0">
                        <a:latin typeface="Cambria Math" panose="02040503050406030204" pitchFamily="18" charset="0"/>
                        <a:ea typeface="Cambria Math" panose="02040503050406030204" pitchFamily="18" charset="0"/>
                      </a:rPr>
                      <m:t>, </m:t>
                    </m:r>
                    <m:sSup>
                      <m:sSupPr>
                        <m:ctrlPr>
                          <a:rPr lang="en-US" altLang="zh-TW" sz="2400" b="0" i="1" smtClean="0">
                            <a:latin typeface="Cambria Math" panose="02040503050406030204" pitchFamily="18" charset="0"/>
                            <a:ea typeface="Cambria Math" panose="02040503050406030204" pitchFamily="18" charset="0"/>
                          </a:rPr>
                        </m:ctrlPr>
                      </m:sSupPr>
                      <m:e>
                        <m:r>
                          <a:rPr lang="en-US" altLang="zh-TW" sz="2400" b="0" i="1" smtClean="0">
                            <a:latin typeface="Cambria Math" panose="02040503050406030204" pitchFamily="18" charset="0"/>
                            <a:ea typeface="Cambria Math" panose="02040503050406030204" pitchFamily="18" charset="0"/>
                          </a:rPr>
                          <m:t>𝑢</m:t>
                        </m:r>
                      </m:e>
                      <m:sup>
                        <m:r>
                          <a:rPr lang="en-US" altLang="zh-TW" sz="2400" b="0" i="1" smtClean="0">
                            <a:latin typeface="Cambria Math" panose="02040503050406030204" pitchFamily="18" charset="0"/>
                            <a:ea typeface="Cambria Math" panose="02040503050406030204" pitchFamily="18" charset="0"/>
                          </a:rPr>
                          <m:t>𝑣</m:t>
                        </m:r>
                      </m:sup>
                    </m:sSup>
                    <m:r>
                      <a:rPr lang="en-US" altLang="zh-TW" sz="2400" b="0" i="1" smtClean="0">
                        <a:latin typeface="Cambria Math" panose="02040503050406030204" pitchFamily="18" charset="0"/>
                        <a:ea typeface="Cambria Math" panose="02040503050406030204" pitchFamily="18" charset="0"/>
                      </a:rPr>
                      <m:t>+1]</m:t>
                    </m:r>
                  </m:oMath>
                </a14:m>
                <a:endParaRPr lang="en-US" altLang="zh-TW" sz="2400" dirty="0"/>
              </a:p>
              <a:p>
                <a:pPr lvl="3"/>
                <a:r>
                  <a:rPr lang="en-US" altLang="zh-TW" sz="2400" dirty="0"/>
                  <a:t>Letter </a:t>
                </a:r>
                <a14:m>
                  <m:oMath xmlns:m="http://schemas.openxmlformats.org/officeDocument/2006/math">
                    <m:r>
                      <a:rPr lang="en-US" altLang="zh-TW" sz="2400" b="0" i="1" smtClean="0">
                        <a:latin typeface="Cambria Math" panose="02040503050406030204" pitchFamily="18" charset="0"/>
                      </a:rPr>
                      <m:t>𝑐</m:t>
                    </m:r>
                  </m:oMath>
                </a14:m>
                <a:r>
                  <a:rPr lang="en-US" altLang="zh-TW" sz="2400" dirty="0"/>
                  <a:t> can’t  use for extending</a:t>
                </a:r>
                <a:endParaRPr lang="zh-TW" altLang="en-US" sz="2400" dirty="0"/>
              </a:p>
            </p:txBody>
          </p:sp>
        </mc:Choice>
        <mc:Fallback xmlns="">
          <p:sp>
            <p:nvSpPr>
              <p:cNvPr id="3" name="內容版面配置區 2">
                <a:extLst>
                  <a:ext uri="{FF2B5EF4-FFF2-40B4-BE49-F238E27FC236}">
                    <a16:creationId xmlns:a16="http://schemas.microsoft.com/office/drawing/2014/main" id="{4A2FDDB2-90C8-42F9-B45A-F4F7C3C85CDE}"/>
                  </a:ext>
                </a:extLst>
              </p:cNvPr>
              <p:cNvSpPr>
                <a:spLocks noGrp="1" noRot="1" noChangeAspect="1" noMove="1" noResize="1" noEditPoints="1" noAdjustHandles="1" noChangeArrowheads="1" noChangeShapeType="1" noTextEdit="1"/>
              </p:cNvSpPr>
              <p:nvPr>
                <p:ph idx="1"/>
              </p:nvPr>
            </p:nvSpPr>
            <p:spPr>
              <a:xfrm>
                <a:off x="838200" y="1825624"/>
                <a:ext cx="10515600" cy="4895851"/>
              </a:xfrm>
              <a:blipFill>
                <a:blip r:embed="rId2"/>
                <a:stretch>
                  <a:fillRect l="-1043" t="-2114"/>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95BC59D3-F392-49DB-BD8A-358798EBBFF8}"/>
              </a:ext>
            </a:extLst>
          </p:cNvPr>
          <p:cNvSpPr>
            <a:spLocks noGrp="1"/>
          </p:cNvSpPr>
          <p:nvPr>
            <p:ph type="sldNum" sz="quarter" idx="12"/>
          </p:nvPr>
        </p:nvSpPr>
        <p:spPr/>
        <p:txBody>
          <a:bodyPr/>
          <a:lstStyle/>
          <a:p>
            <a:fld id="{E5F01350-A1F2-4F8F-97B1-4F53DCB7E6B7}" type="slidenum">
              <a:rPr lang="zh-TW" altLang="en-US" smtClean="0"/>
              <a:t>7</a:t>
            </a:fld>
            <a:endParaRPr lang="zh-TW" altLang="en-US"/>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8F4103BD-6F1E-4186-985C-133C8F6D9715}"/>
                  </a:ext>
                </a:extLst>
              </p:cNvPr>
              <p:cNvSpPr txBox="1"/>
              <p:nvPr/>
            </p:nvSpPr>
            <p:spPr>
              <a:xfrm>
                <a:off x="8703186" y="1133126"/>
                <a:ext cx="2650614" cy="1384995"/>
              </a:xfrm>
              <a:prstGeom prst="rect">
                <a:avLst/>
              </a:prstGeom>
              <a:noFill/>
            </p:spPr>
            <p:txBody>
              <a:bodyPr wrap="square" rtlCol="0">
                <a:spAutoFit/>
              </a:bodyPr>
              <a:lstStyle/>
              <a:p>
                <a14:m>
                  <m:oMath xmlns:m="http://schemas.openxmlformats.org/officeDocument/2006/math">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𝑆</m:t>
                        </m:r>
                      </m:e>
                      <m:sub>
                        <m:r>
                          <a:rPr lang="en-US" altLang="zh-TW" sz="2800" b="0" i="1" smtClean="0">
                            <a:latin typeface="Cambria Math" panose="02040503050406030204" pitchFamily="18" charset="0"/>
                          </a:rPr>
                          <m:t>1</m:t>
                        </m:r>
                      </m:sub>
                    </m:sSub>
                  </m:oMath>
                </a14:m>
                <a:r>
                  <a:rPr lang="en-US" altLang="zh-TW" sz="2800" dirty="0"/>
                  <a:t> = bcaacbdba</a:t>
                </a:r>
              </a:p>
              <a:p>
                <a14:m>
                  <m:oMath xmlns:m="http://schemas.openxmlformats.org/officeDocument/2006/math">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𝑆</m:t>
                        </m:r>
                      </m:e>
                      <m:sub>
                        <m:r>
                          <a:rPr lang="en-US" altLang="zh-TW" sz="2800" b="0" i="1" smtClean="0">
                            <a:latin typeface="Cambria Math" panose="02040503050406030204" pitchFamily="18" charset="0"/>
                          </a:rPr>
                          <m:t>2</m:t>
                        </m:r>
                      </m:sub>
                    </m:sSub>
                  </m:oMath>
                </a14:m>
                <a:r>
                  <a:rPr lang="zh-TW" altLang="en-US" sz="2800" dirty="0"/>
                  <a:t> </a:t>
                </a:r>
                <a:r>
                  <a:rPr lang="en-US" altLang="zh-TW" sz="2800" dirty="0"/>
                  <a:t>=</a:t>
                </a:r>
                <a:r>
                  <a:rPr lang="zh-TW" altLang="en-US" sz="2800" dirty="0"/>
                  <a:t> </a:t>
                </a:r>
                <a:r>
                  <a:rPr lang="en-US" altLang="zh-TW" sz="2800" dirty="0" err="1"/>
                  <a:t>cbccadcbbd</a:t>
                </a:r>
              </a:p>
              <a:p>
                <a14:m>
                  <m:oMath xmlns:m="http://schemas.openxmlformats.org/officeDocument/2006/math">
                    <m:r>
                      <a:rPr lang="en-US" altLang="zh-TW" sz="2800" i="1">
                        <a:latin typeface="Cambria Math" panose="02040503050406030204" pitchFamily="18" charset="0"/>
                      </a:rPr>
                      <m:t>𝑃</m:t>
                    </m:r>
                  </m:oMath>
                </a14:m>
                <a:r>
                  <a:rPr lang="en-US" altLang="zh-TW" sz="2800" dirty="0"/>
                  <a:t> =</a:t>
                </a:r>
                <a:r>
                  <a:rPr lang="en-US" altLang="zh-TW" sz="2800" i="1" dirty="0"/>
                  <a:t> </a:t>
                </a:r>
                <a:r>
                  <a:rPr lang="en-US" altLang="zh-TW" sz="2800" dirty="0" err="1"/>
                  <a:t>cbb</a:t>
                </a:r>
                <a:endParaRPr lang="en-US" altLang="zh-TW" sz="2800" dirty="0"/>
              </a:p>
            </p:txBody>
          </p:sp>
        </mc:Choice>
        <mc:Fallback xmlns="">
          <p:sp>
            <p:nvSpPr>
              <p:cNvPr id="5" name="文字方塊 4">
                <a:extLst>
                  <a:ext uri="{FF2B5EF4-FFF2-40B4-BE49-F238E27FC236}">
                    <a16:creationId xmlns:a16="http://schemas.microsoft.com/office/drawing/2014/main" id="{8F4103BD-6F1E-4186-985C-133C8F6D9715}"/>
                  </a:ext>
                </a:extLst>
              </p:cNvPr>
              <p:cNvSpPr txBox="1">
                <a:spLocks noRot="1" noChangeAspect="1" noMove="1" noResize="1" noEditPoints="1" noAdjustHandles="1" noChangeArrowheads="1" noChangeShapeType="1" noTextEdit="1"/>
              </p:cNvSpPr>
              <p:nvPr/>
            </p:nvSpPr>
            <p:spPr>
              <a:xfrm>
                <a:off x="8703186" y="1133126"/>
                <a:ext cx="2650614" cy="1384995"/>
              </a:xfrm>
              <a:prstGeom prst="rect">
                <a:avLst/>
              </a:prstGeom>
              <a:blipFill>
                <a:blip r:embed="rId3"/>
                <a:stretch>
                  <a:fillRect t="-4405" r="-1149" b="-1189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32670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09B53D-5558-42A8-B3C9-3122689FDDBC}"/>
              </a:ext>
            </a:extLst>
          </p:cNvPr>
          <p:cNvSpPr>
            <a:spLocks noGrp="1"/>
          </p:cNvSpPr>
          <p:nvPr>
            <p:ph type="title"/>
          </p:nvPr>
        </p:nvSpPr>
        <p:spPr/>
        <p:txBody>
          <a:bodyPr/>
          <a:lstStyle/>
          <a:p>
            <a:r>
              <a:rPr lang="en-US" altLang="zh-TW" dirty="0"/>
              <a:t>State Graph</a:t>
            </a:r>
            <a:endParaRPr lang="zh-TW" altLang="en-US" dirty="0"/>
          </a:p>
        </p:txBody>
      </p:sp>
      <p:pic>
        <p:nvPicPr>
          <p:cNvPr id="6" name="內容版面配置區 5">
            <a:extLst>
              <a:ext uri="{FF2B5EF4-FFF2-40B4-BE49-F238E27FC236}">
                <a16:creationId xmlns:a16="http://schemas.microsoft.com/office/drawing/2014/main" id="{C9DEAC27-FC0C-463F-AF61-839DB444E6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79452" y="0"/>
            <a:ext cx="4585182" cy="6858000"/>
          </a:xfrm>
        </p:spPr>
      </p:pic>
      <p:sp>
        <p:nvSpPr>
          <p:cNvPr id="4" name="投影片編號版面配置區 3">
            <a:extLst>
              <a:ext uri="{FF2B5EF4-FFF2-40B4-BE49-F238E27FC236}">
                <a16:creationId xmlns:a16="http://schemas.microsoft.com/office/drawing/2014/main" id="{5C886F57-9CC8-4F99-BC07-C8DCD1596E10}"/>
              </a:ext>
            </a:extLst>
          </p:cNvPr>
          <p:cNvSpPr>
            <a:spLocks noGrp="1"/>
          </p:cNvSpPr>
          <p:nvPr>
            <p:ph type="sldNum" sz="quarter" idx="12"/>
          </p:nvPr>
        </p:nvSpPr>
        <p:spPr/>
        <p:txBody>
          <a:bodyPr/>
          <a:lstStyle/>
          <a:p>
            <a:fld id="{E5F01350-A1F2-4F8F-97B1-4F53DCB7E6B7}" type="slidenum">
              <a:rPr lang="zh-TW" altLang="en-US" smtClean="0"/>
              <a:t>8</a:t>
            </a:fld>
            <a:endParaRPr lang="zh-TW" altLang="en-US"/>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F05773D1-4A0B-4D6A-8CE6-FD1B5ACAA68C}"/>
                  </a:ext>
                </a:extLst>
              </p:cNvPr>
              <p:cNvSpPr txBox="1"/>
              <p:nvPr/>
            </p:nvSpPr>
            <p:spPr>
              <a:xfrm>
                <a:off x="838200" y="1690688"/>
                <a:ext cx="4521582" cy="1815882"/>
              </a:xfrm>
              <a:prstGeom prst="rect">
                <a:avLst/>
              </a:prstGeom>
              <a:noFill/>
            </p:spPr>
            <p:txBody>
              <a:bodyPr wrap="square" rtlCol="0">
                <a:spAutoFit/>
              </a:bodyPr>
              <a:lstStyle/>
              <a:p>
                <a14:m>
                  <m:oMath xmlns:m="http://schemas.openxmlformats.org/officeDocument/2006/math">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𝑆</m:t>
                        </m:r>
                      </m:e>
                      <m:sub>
                        <m:r>
                          <a:rPr lang="en-US" altLang="zh-TW" sz="2800" b="0" i="1" smtClean="0">
                            <a:latin typeface="Cambria Math" panose="02040503050406030204" pitchFamily="18" charset="0"/>
                          </a:rPr>
                          <m:t>1</m:t>
                        </m:r>
                      </m:sub>
                    </m:sSub>
                  </m:oMath>
                </a14:m>
                <a:r>
                  <a:rPr lang="en-US" altLang="zh-TW" sz="2800" dirty="0"/>
                  <a:t> = bcaacbdba</a:t>
                </a:r>
              </a:p>
              <a:p>
                <a14:m>
                  <m:oMath xmlns:m="http://schemas.openxmlformats.org/officeDocument/2006/math">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𝑆</m:t>
                        </m:r>
                      </m:e>
                      <m:sub>
                        <m:r>
                          <a:rPr lang="en-US" altLang="zh-TW" sz="2800" b="0" i="1" smtClean="0">
                            <a:latin typeface="Cambria Math" panose="02040503050406030204" pitchFamily="18" charset="0"/>
                          </a:rPr>
                          <m:t>2</m:t>
                        </m:r>
                      </m:sub>
                    </m:sSub>
                  </m:oMath>
                </a14:m>
                <a:r>
                  <a:rPr lang="zh-TW" altLang="en-US" sz="2800" dirty="0"/>
                  <a:t> </a:t>
                </a:r>
                <a:r>
                  <a:rPr lang="en-US" altLang="zh-TW" sz="2800" dirty="0"/>
                  <a:t>=</a:t>
                </a:r>
                <a:r>
                  <a:rPr lang="zh-TW" altLang="en-US" sz="2800" dirty="0"/>
                  <a:t> </a:t>
                </a:r>
                <a:r>
                  <a:rPr lang="en-US" altLang="zh-TW" sz="2800" dirty="0"/>
                  <a:t>cbccadcbbd</a:t>
                </a:r>
              </a:p>
              <a:p>
                <a14:m>
                  <m:oMath xmlns:m="http://schemas.openxmlformats.org/officeDocument/2006/math">
                    <m:r>
                      <m:rPr>
                        <m:sty m:val="p"/>
                      </m:rPr>
                      <a:rPr lang="en-US" altLang="zh-TW" sz="2800" i="1">
                        <a:latin typeface="Cambria Math" panose="02040503050406030204" pitchFamily="18" charset="0"/>
                      </a:rPr>
                      <m:t>P</m:t>
                    </m:r>
                  </m:oMath>
                </a14:m>
                <a:r>
                  <a:rPr lang="zh-TW" altLang="en-US" sz="2800" i="1" dirty="0"/>
                  <a:t> </a:t>
                </a:r>
                <a:r>
                  <a:rPr lang="en-US" altLang="zh-TW" sz="2800" dirty="0"/>
                  <a:t>=</a:t>
                </a:r>
                <a:r>
                  <a:rPr lang="en-US" altLang="zh-TW" sz="2800" i="1" dirty="0"/>
                  <a:t> </a:t>
                </a:r>
                <a:r>
                  <a:rPr lang="en-US" altLang="zh-TW" sz="2800" dirty="0"/>
                  <a:t>cbb</a:t>
                </a:r>
              </a:p>
              <a:p>
                <a:r>
                  <a:rPr lang="en-US" altLang="zh-TW" sz="2800" dirty="0"/>
                  <a:t>∑ = {a, b, c, d}</a:t>
                </a:r>
              </a:p>
            </p:txBody>
          </p:sp>
        </mc:Choice>
        <mc:Fallback xmlns="">
          <p:sp>
            <p:nvSpPr>
              <p:cNvPr id="7" name="文字方塊 6">
                <a:extLst>
                  <a:ext uri="{FF2B5EF4-FFF2-40B4-BE49-F238E27FC236}">
                    <a16:creationId xmlns:a16="http://schemas.microsoft.com/office/drawing/2014/main" id="{F05773D1-4A0B-4D6A-8CE6-FD1B5ACAA68C}"/>
                  </a:ext>
                </a:extLst>
              </p:cNvPr>
              <p:cNvSpPr txBox="1">
                <a:spLocks noRot="1" noChangeAspect="1" noMove="1" noResize="1" noEditPoints="1" noAdjustHandles="1" noChangeArrowheads="1" noChangeShapeType="1" noTextEdit="1"/>
              </p:cNvSpPr>
              <p:nvPr/>
            </p:nvSpPr>
            <p:spPr>
              <a:xfrm>
                <a:off x="838200" y="1690688"/>
                <a:ext cx="4521582" cy="1815882"/>
              </a:xfrm>
              <a:prstGeom prst="rect">
                <a:avLst/>
              </a:prstGeom>
              <a:blipFill>
                <a:blip r:embed="rId3"/>
                <a:stretch>
                  <a:fillRect l="-2834" t="-3020" b="-872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1037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E41AAC-17E5-4899-AA23-D36AAB0D03C2}"/>
              </a:ext>
            </a:extLst>
          </p:cNvPr>
          <p:cNvSpPr>
            <a:spLocks noGrp="1"/>
          </p:cNvSpPr>
          <p:nvPr>
            <p:ph type="title"/>
          </p:nvPr>
        </p:nvSpPr>
        <p:spPr/>
        <p:txBody>
          <a:bodyPr/>
          <a:lstStyle/>
          <a:p>
            <a:r>
              <a:rPr lang="en-US" altLang="zh-TW" dirty="0"/>
              <a:t>Upper bounds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84A64ABA-F240-42A8-9068-C07964855BCD}"/>
                  </a:ext>
                </a:extLst>
              </p:cNvPr>
              <p:cNvSpPr>
                <a:spLocks noGrp="1"/>
              </p:cNvSpPr>
              <p:nvPr>
                <p:ph idx="1"/>
              </p:nvPr>
            </p:nvSpPr>
            <p:spPr/>
            <p:txBody>
              <a:bodyPr/>
              <a:lstStyle/>
              <a:p>
                <a:r>
                  <a:rPr lang="en-US" altLang="zh-TW" dirty="0"/>
                  <a:t>Function</a:t>
                </a:r>
              </a:p>
              <a:p>
                <a:pPr lvl="1"/>
                <a:r>
                  <a:rPr lang="en-US" altLang="zh-TW" dirty="0"/>
                  <a:t>Developed for the LCS</a:t>
                </a:r>
              </a:p>
              <a:p>
                <a:r>
                  <a:rPr lang="en-US" altLang="zh-TW" dirty="0"/>
                  <a:t>Given a node v of the state graph</a:t>
                </a:r>
              </a:p>
              <a:p>
                <a:endParaRPr lang="en-US" altLang="zh-TW" dirty="0"/>
              </a:p>
              <a:p>
                <a:endParaRPr lang="en-US" altLang="zh-TW" dirty="0"/>
              </a:p>
              <a:p>
                <a:r>
                  <a:rPr lang="en-US" altLang="zh-TW" dirty="0"/>
                  <a:t>DP-based upper bound function</a:t>
                </a:r>
              </a:p>
              <a:p>
                <a:pPr lvl="1"/>
                <a:endParaRPr lang="en-US" altLang="zh-TW" dirty="0"/>
              </a:p>
              <a:p>
                <a:pPr lvl="1"/>
                <a:endParaRPr lang="en-US" altLang="zh-TW" dirty="0"/>
              </a:p>
              <a:p>
                <a14:m>
                  <m:oMath xmlns:m="http://schemas.openxmlformats.org/officeDocument/2006/math">
                    <m:r>
                      <a:rPr lang="en-US" altLang="zh-TW" b="0" i="1" smtClean="0">
                        <a:latin typeface="Cambria Math" panose="02040503050406030204" pitchFamily="18" charset="0"/>
                      </a:rPr>
                      <m:t>𝑈𝐵</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𝑣</m:t>
                        </m:r>
                      </m:e>
                    </m:d>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min</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𝑈𝐵</m:t>
                        </m:r>
                      </m:e>
                      <m:sub>
                        <m:r>
                          <a:rPr lang="en-US" altLang="zh-TW" b="0" i="1" smtClean="0">
                            <a:latin typeface="Cambria Math" panose="02040503050406030204" pitchFamily="18" charset="0"/>
                          </a:rPr>
                          <m:t>1</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𝑣</m:t>
                        </m:r>
                      </m:e>
                    </m:d>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𝑈𝐵</m:t>
                        </m:r>
                      </m:e>
                      <m:sub>
                        <m:r>
                          <a:rPr lang="en-US" altLang="zh-TW" b="0" i="1" smtClean="0">
                            <a:latin typeface="Cambria Math" panose="02040503050406030204" pitchFamily="18" charset="0"/>
                          </a:rPr>
                          <m:t>2</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𝑣</m:t>
                        </m:r>
                      </m:e>
                    </m:d>
                    <m:r>
                      <a:rPr lang="en-US" altLang="zh-TW" b="0" i="1" smtClean="0">
                        <a:latin typeface="Cambria Math" panose="02040503050406030204" pitchFamily="18" charset="0"/>
                      </a:rPr>
                      <m:t>}</m:t>
                    </m:r>
                  </m:oMath>
                </a14:m>
                <a:endParaRPr lang="zh-TW" altLang="en-US" dirty="0"/>
              </a:p>
            </p:txBody>
          </p:sp>
        </mc:Choice>
        <mc:Fallback xmlns="">
          <p:sp>
            <p:nvSpPr>
              <p:cNvPr id="3" name="內容版面配置區 2">
                <a:extLst>
                  <a:ext uri="{FF2B5EF4-FFF2-40B4-BE49-F238E27FC236}">
                    <a16:creationId xmlns:a16="http://schemas.microsoft.com/office/drawing/2014/main" id="{84A64ABA-F240-42A8-9068-C07964855BCD}"/>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6A9461C8-AF42-417E-9043-04FBDFACBFEA}"/>
              </a:ext>
            </a:extLst>
          </p:cNvPr>
          <p:cNvSpPr>
            <a:spLocks noGrp="1"/>
          </p:cNvSpPr>
          <p:nvPr>
            <p:ph type="sldNum" sz="quarter" idx="12"/>
          </p:nvPr>
        </p:nvSpPr>
        <p:spPr/>
        <p:txBody>
          <a:bodyPr/>
          <a:lstStyle/>
          <a:p>
            <a:fld id="{E5F01350-A1F2-4F8F-97B1-4F53DCB7E6B7}" type="slidenum">
              <a:rPr lang="zh-TW" altLang="en-US" smtClean="0"/>
              <a:t>9</a:t>
            </a:fld>
            <a:endParaRPr lang="zh-TW" altLang="en-US"/>
          </a:p>
        </p:txBody>
      </p:sp>
      <p:pic>
        <p:nvPicPr>
          <p:cNvPr id="6" name="圖片 5">
            <a:extLst>
              <a:ext uri="{FF2B5EF4-FFF2-40B4-BE49-F238E27FC236}">
                <a16:creationId xmlns:a16="http://schemas.microsoft.com/office/drawing/2014/main" id="{F8CFD68B-5C65-4F86-80F0-CC30208F1CDD}"/>
              </a:ext>
            </a:extLst>
          </p:cNvPr>
          <p:cNvPicPr>
            <a:picLocks noChangeAspect="1"/>
          </p:cNvPicPr>
          <p:nvPr/>
        </p:nvPicPr>
        <p:blipFill rotWithShape="1">
          <a:blip r:embed="rId3"/>
          <a:srcRect l="1162" t="16509" b="6031"/>
          <a:stretch/>
        </p:blipFill>
        <p:spPr>
          <a:xfrm>
            <a:off x="1047206" y="3247380"/>
            <a:ext cx="7221787" cy="966651"/>
          </a:xfrm>
          <a:prstGeom prst="rect">
            <a:avLst/>
          </a:prstGeom>
        </p:spPr>
      </p:pic>
      <p:pic>
        <p:nvPicPr>
          <p:cNvPr id="8" name="圖片 7">
            <a:extLst>
              <a:ext uri="{FF2B5EF4-FFF2-40B4-BE49-F238E27FC236}">
                <a16:creationId xmlns:a16="http://schemas.microsoft.com/office/drawing/2014/main" id="{0429A18C-D7E7-417A-9B5D-370F46157392}"/>
              </a:ext>
            </a:extLst>
          </p:cNvPr>
          <p:cNvPicPr>
            <a:picLocks noChangeAspect="1"/>
          </p:cNvPicPr>
          <p:nvPr/>
        </p:nvPicPr>
        <p:blipFill>
          <a:blip r:embed="rId4"/>
          <a:stretch>
            <a:fillRect/>
          </a:stretch>
        </p:blipFill>
        <p:spPr>
          <a:xfrm>
            <a:off x="1047206" y="4781101"/>
            <a:ext cx="3286584" cy="828791"/>
          </a:xfrm>
          <a:prstGeom prst="rect">
            <a:avLst/>
          </a:prstGeom>
        </p:spPr>
      </p:pic>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D635AFD3-4847-4C75-ACC4-C828E926484A}"/>
                  </a:ext>
                </a:extLst>
              </p:cNvPr>
              <p:cNvSpPr txBox="1"/>
              <p:nvPr/>
            </p:nvSpPr>
            <p:spPr>
              <a:xfrm>
                <a:off x="8769531" y="1825625"/>
                <a:ext cx="2584269" cy="1200329"/>
              </a:xfrm>
              <a:prstGeom prst="rect">
                <a:avLst/>
              </a:prstGeom>
              <a:noFill/>
            </p:spPr>
            <p:txBody>
              <a:bodyPr wrap="square">
                <a:spAutoFit/>
              </a:bodyPr>
              <a:lstStyle/>
              <a:p>
                <a14:m>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1</m:t>
                        </m:r>
                      </m:sub>
                    </m:sSub>
                  </m:oMath>
                </a14:m>
                <a:r>
                  <a:rPr lang="en-US" altLang="zh-TW" sz="2400" dirty="0"/>
                  <a:t> = bcaacbdba</a:t>
                </a:r>
              </a:p>
              <a:p>
                <a14:m>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2</m:t>
                        </m:r>
                      </m:sub>
                    </m:sSub>
                  </m:oMath>
                </a14:m>
                <a:r>
                  <a:rPr lang="zh-TW" altLang="en-US" sz="2400" dirty="0"/>
                  <a:t> </a:t>
                </a:r>
                <a:r>
                  <a:rPr lang="en-US" altLang="zh-TW" sz="2400" dirty="0"/>
                  <a:t>=</a:t>
                </a:r>
                <a:r>
                  <a:rPr lang="zh-TW" altLang="en-US" sz="2400" dirty="0"/>
                  <a:t> </a:t>
                </a:r>
                <a:r>
                  <a:rPr lang="en-US" altLang="zh-TW" sz="2400" dirty="0" err="1"/>
                  <a:t>cbccadcbbd</a:t>
                </a:r>
              </a:p>
              <a:p>
                <a:r>
                  <a:rPr lang="en-US" altLang="zh-TW" sz="2400" dirty="0"/>
                  <a:t>∑ = {a, b, c, d}</a:t>
                </a:r>
              </a:p>
            </p:txBody>
          </p:sp>
        </mc:Choice>
        <mc:Fallback xmlns="">
          <p:sp>
            <p:nvSpPr>
              <p:cNvPr id="10" name="文字方塊 9">
                <a:extLst>
                  <a:ext uri="{FF2B5EF4-FFF2-40B4-BE49-F238E27FC236}">
                    <a16:creationId xmlns:a16="http://schemas.microsoft.com/office/drawing/2014/main" id="{D635AFD3-4847-4C75-ACC4-C828E926484A}"/>
                  </a:ext>
                </a:extLst>
              </p:cNvPr>
              <p:cNvSpPr txBox="1">
                <a:spLocks noRot="1" noChangeAspect="1" noMove="1" noResize="1" noEditPoints="1" noAdjustHandles="1" noChangeArrowheads="1" noChangeShapeType="1" noTextEdit="1"/>
              </p:cNvSpPr>
              <p:nvPr/>
            </p:nvSpPr>
            <p:spPr>
              <a:xfrm>
                <a:off x="8769531" y="1825625"/>
                <a:ext cx="2584269" cy="1200329"/>
              </a:xfrm>
              <a:prstGeom prst="rect">
                <a:avLst/>
              </a:prstGeom>
              <a:blipFill>
                <a:blip r:embed="rId5"/>
                <a:stretch>
                  <a:fillRect l="-3774" t="-4061" b="-1066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49944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4607C9-89CE-4E4F-BB2C-0E0360A9EA70}"/>
              </a:ext>
            </a:extLst>
          </p:cNvPr>
          <p:cNvSpPr>
            <a:spLocks noGrp="1"/>
          </p:cNvSpPr>
          <p:nvPr>
            <p:ph type="title"/>
          </p:nvPr>
        </p:nvSpPr>
        <p:spPr/>
        <p:txBody>
          <a:bodyPr/>
          <a:lstStyle/>
          <a:p>
            <a:r>
              <a:rPr lang="en-US" altLang="zh-TW" dirty="0"/>
              <a:t>A* Algorithm for CLCS</a:t>
            </a: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1A7E22CE-02A4-4BE4-908A-6FAF926FA71A}"/>
                  </a:ext>
                </a:extLst>
              </p:cNvPr>
              <p:cNvSpPr>
                <a:spLocks noGrp="1"/>
              </p:cNvSpPr>
              <p:nvPr>
                <p:ph idx="1"/>
              </p:nvPr>
            </p:nvSpPr>
            <p:spPr/>
            <p:txBody>
              <a:bodyPr/>
              <a:lstStyle/>
              <a:p>
                <a:r>
                  <a:rPr lang="en-US" altLang="zh-TW" dirty="0"/>
                  <a:t>Priority function</a:t>
                </a:r>
              </a:p>
              <a:p>
                <a:pPr lvl="1"/>
                <a14:m>
                  <m:oMath xmlns:m="http://schemas.openxmlformats.org/officeDocument/2006/math">
                    <m:r>
                      <a:rPr lang="en-US" altLang="zh-TW" b="0" i="1" smtClean="0">
                        <a:latin typeface="Cambria Math" panose="02040503050406030204" pitchFamily="18" charset="0"/>
                      </a:rPr>
                      <m:t>𝑓</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𝑣</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𝑔</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𝑣</m:t>
                        </m:r>
                      </m:e>
                    </m:d>
                    <m:r>
                      <a:rPr lang="en-US" altLang="zh-TW" b="0" i="1" smtClean="0">
                        <a:latin typeface="Cambria Math" panose="02040503050406030204" pitchFamily="18" charset="0"/>
                      </a:rPr>
                      <m:t>+</m:t>
                    </m:r>
                    <m:r>
                      <a:rPr lang="en-US" altLang="zh-TW" b="0" i="1" smtClean="0">
                        <a:latin typeface="Cambria Math" panose="02040503050406030204" pitchFamily="18" charset="0"/>
                      </a:rPr>
                      <m:t>h</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𝑣</m:t>
                        </m:r>
                      </m:e>
                    </m:d>
                  </m:oMath>
                </a14:m>
                <a:endParaRPr lang="en-US" altLang="zh-TW" dirty="0"/>
              </a:p>
              <a:p>
                <a:pPr lvl="1"/>
                <a14:m>
                  <m:oMath xmlns:m="http://schemas.openxmlformats.org/officeDocument/2006/math">
                    <m:r>
                      <a:rPr lang="en-US" altLang="zh-TW" b="0" i="1" smtClean="0">
                        <a:latin typeface="Cambria Math" panose="02040503050406030204" pitchFamily="18" charset="0"/>
                      </a:rPr>
                      <m:t>𝑔</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𝑣</m:t>
                        </m:r>
                      </m:e>
                    </m:d>
                  </m:oMath>
                </a14:m>
                <a:endParaRPr lang="en-US" altLang="zh-TW" dirty="0"/>
              </a:p>
              <a:p>
                <a:pPr lvl="2"/>
                <a:r>
                  <a:rPr lang="en-US" altLang="zh-TW" sz="2400" dirty="0"/>
                  <a:t>Length of a best path from the root node to </a:t>
                </a:r>
                <a14:m>
                  <m:oMath xmlns:m="http://schemas.openxmlformats.org/officeDocument/2006/math">
                    <m:r>
                      <a:rPr lang="en-US" altLang="zh-TW" sz="2400" b="0" i="1" smtClean="0">
                        <a:latin typeface="Cambria Math" panose="02040503050406030204" pitchFamily="18" charset="0"/>
                      </a:rPr>
                      <m:t>𝑣</m:t>
                    </m:r>
                  </m:oMath>
                </a14:m>
                <a:endParaRPr lang="en-US" altLang="zh-TW" sz="2400" dirty="0"/>
              </a:p>
              <a:p>
                <a:pPr lvl="1"/>
                <a14:m>
                  <m:oMath xmlns:m="http://schemas.openxmlformats.org/officeDocument/2006/math">
                    <m:r>
                      <a:rPr lang="en-US" altLang="zh-TW" b="0" i="1" smtClean="0">
                        <a:latin typeface="Cambria Math" panose="02040503050406030204" pitchFamily="18" charset="0"/>
                      </a:rPr>
                      <m:t>h</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𝑣</m:t>
                        </m:r>
                      </m:e>
                    </m:d>
                  </m:oMath>
                </a14:m>
                <a:endParaRPr lang="en-US" altLang="zh-TW" dirty="0"/>
              </a:p>
              <a:p>
                <a:pPr lvl="2"/>
                <a:r>
                  <a:rPr lang="en-US" altLang="zh-TW" sz="2400" dirty="0"/>
                  <a:t>Heuristic estimate for the cost-to-go</a:t>
                </a:r>
              </a:p>
              <a:p>
                <a:r>
                  <a:rPr lang="en-US" altLang="zh-TW" sz="3200" dirty="0"/>
                  <a:t>In</a:t>
                </a:r>
                <a:r>
                  <a:rPr lang="zh-TW" altLang="en-US" sz="3200" dirty="0"/>
                  <a:t> </a:t>
                </a:r>
                <a:r>
                  <a:rPr lang="en-US" altLang="zh-TW" sz="3200" dirty="0"/>
                  <a:t>CLCS</a:t>
                </a:r>
              </a:p>
              <a:p>
                <a:pPr lvl="1"/>
                <a14:m>
                  <m:oMath xmlns:m="http://schemas.openxmlformats.org/officeDocument/2006/math">
                    <m:r>
                      <a:rPr lang="en-US" altLang="zh-TW" sz="2800" b="0" i="1" smtClean="0">
                        <a:latin typeface="Cambria Math" panose="02040503050406030204" pitchFamily="18" charset="0"/>
                      </a:rPr>
                      <m:t>𝑔</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𝑣</m:t>
                        </m:r>
                      </m:e>
                    </m:d>
                    <m:r>
                      <a:rPr lang="en-US" altLang="zh-TW" sz="2800" b="0" i="1" smtClean="0">
                        <a:latin typeface="Cambria Math" panose="02040503050406030204" pitchFamily="18" charset="0"/>
                      </a:rPr>
                      <m:t> ≔ </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𝑙</m:t>
                        </m:r>
                      </m:e>
                      <m:sup>
                        <m:r>
                          <a:rPr lang="en-US" altLang="zh-TW" sz="2800" b="0" i="1" smtClean="0">
                            <a:latin typeface="Cambria Math" panose="02040503050406030204" pitchFamily="18" charset="0"/>
                          </a:rPr>
                          <m:t>𝑣</m:t>
                        </m:r>
                      </m:sup>
                    </m:sSup>
                  </m:oMath>
                </a14:m>
                <a:endParaRPr lang="en-US" altLang="zh-TW" sz="2800" b="0" dirty="0"/>
              </a:p>
              <a:p>
                <a:pPr lvl="1"/>
                <a14:m>
                  <m:oMath xmlns:m="http://schemas.openxmlformats.org/officeDocument/2006/math">
                    <m:r>
                      <a:rPr lang="en-US" altLang="zh-TW" sz="2800" b="0" i="1" smtClean="0">
                        <a:latin typeface="Cambria Math" panose="02040503050406030204" pitchFamily="18" charset="0"/>
                      </a:rPr>
                      <m:t>h</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𝑣</m:t>
                        </m:r>
                      </m:e>
                    </m:d>
                  </m:oMath>
                </a14:m>
                <a:r>
                  <a:rPr lang="en-US" altLang="zh-TW" sz="2800" dirty="0"/>
                  <a:t> → the upper bound </a:t>
                </a:r>
                <a14:m>
                  <m:oMath xmlns:m="http://schemas.openxmlformats.org/officeDocument/2006/math">
                    <m:r>
                      <a:rPr lang="en-US" altLang="zh-TW" sz="2800" i="1">
                        <a:latin typeface="Cambria Math" panose="02040503050406030204" pitchFamily="18" charset="0"/>
                      </a:rPr>
                      <m:t>𝑈𝐵</m:t>
                    </m:r>
                    <m:d>
                      <m:dPr>
                        <m:ctrlPr>
                          <a:rPr lang="en-US" altLang="zh-TW" sz="2800" i="1">
                            <a:latin typeface="Cambria Math" panose="02040503050406030204" pitchFamily="18" charset="0"/>
                          </a:rPr>
                        </m:ctrlPr>
                      </m:dPr>
                      <m:e>
                        <m:r>
                          <a:rPr lang="en-US" altLang="zh-TW" sz="2800" i="1">
                            <a:latin typeface="Cambria Math" panose="02040503050406030204" pitchFamily="18" charset="0"/>
                          </a:rPr>
                          <m:t>𝑣</m:t>
                        </m:r>
                      </m:e>
                    </m:d>
                  </m:oMath>
                </a14:m>
                <a:endParaRPr lang="zh-TW" altLang="en-US" sz="2800" dirty="0"/>
              </a:p>
            </p:txBody>
          </p:sp>
        </mc:Choice>
        <mc:Fallback>
          <p:sp>
            <p:nvSpPr>
              <p:cNvPr id="3" name="內容版面配置區 2">
                <a:extLst>
                  <a:ext uri="{FF2B5EF4-FFF2-40B4-BE49-F238E27FC236}">
                    <a16:creationId xmlns:a16="http://schemas.microsoft.com/office/drawing/2014/main" id="{1A7E22CE-02A4-4BE4-908A-6FAF926FA71A}"/>
                  </a:ext>
                </a:extLst>
              </p:cNvPr>
              <p:cNvSpPr>
                <a:spLocks noGrp="1" noRot="1" noChangeAspect="1" noMove="1" noResize="1" noEditPoints="1" noAdjustHandles="1" noChangeArrowheads="1" noChangeShapeType="1" noTextEdit="1"/>
              </p:cNvSpPr>
              <p:nvPr>
                <p:ph idx="1"/>
              </p:nvPr>
            </p:nvSpPr>
            <p:spPr>
              <a:blipFill>
                <a:blip r:embed="rId2"/>
                <a:stretch>
                  <a:fillRect l="-1333" t="-238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37F1C38B-85CB-4778-8CC9-2AEB1BAFE098}"/>
              </a:ext>
            </a:extLst>
          </p:cNvPr>
          <p:cNvSpPr>
            <a:spLocks noGrp="1"/>
          </p:cNvSpPr>
          <p:nvPr>
            <p:ph type="sldNum" sz="quarter" idx="12"/>
          </p:nvPr>
        </p:nvSpPr>
        <p:spPr/>
        <p:txBody>
          <a:bodyPr/>
          <a:lstStyle/>
          <a:p>
            <a:fld id="{E5F01350-A1F2-4F8F-97B1-4F53DCB7E6B7}" type="slidenum">
              <a:rPr lang="zh-TW" altLang="en-US" smtClean="0"/>
              <a:t>10</a:t>
            </a:fld>
            <a:endParaRPr lang="zh-TW" altLang="en-US"/>
          </a:p>
        </p:txBody>
      </p:sp>
    </p:spTree>
    <p:extLst>
      <p:ext uri="{BB962C8B-B14F-4D97-AF65-F5344CB8AC3E}">
        <p14:creationId xmlns:p14="http://schemas.microsoft.com/office/powerpoint/2010/main" val="1928282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52A475-D800-49B9-878B-DFEA7A10E887}"/>
              </a:ext>
            </a:extLst>
          </p:cNvPr>
          <p:cNvSpPr>
            <a:spLocks noGrp="1"/>
          </p:cNvSpPr>
          <p:nvPr>
            <p:ph type="title"/>
          </p:nvPr>
        </p:nvSpPr>
        <p:spPr/>
        <p:txBody>
          <a:bodyPr/>
          <a:lstStyle/>
          <a:p>
            <a:r>
              <a:rPr lang="en-US" altLang="zh-TW" dirty="0"/>
              <a:t>A* Algorithm for CLCS</a:t>
            </a: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1973ABD6-B0BC-4325-8A62-62C7A1D676A2}"/>
                  </a:ext>
                </a:extLst>
              </p:cNvPr>
              <p:cNvSpPr>
                <a:spLocks noGrp="1"/>
              </p:cNvSpPr>
              <p:nvPr>
                <p:ph idx="1"/>
              </p:nvPr>
            </p:nvSpPr>
            <p:spPr>
              <a:xfrm>
                <a:off x="838200" y="1825624"/>
                <a:ext cx="10515600" cy="4530725"/>
              </a:xfrm>
            </p:spPr>
            <p:txBody>
              <a:bodyPr>
                <a:normAutofit/>
              </a:bodyPr>
              <a:lstStyle/>
              <a:p>
                <a14:m>
                  <m:oMath xmlns:m="http://schemas.openxmlformats.org/officeDocument/2006/math">
                    <m:r>
                      <a:rPr lang="en-US" altLang="zh-TW" b="0" i="1" smtClean="0">
                        <a:latin typeface="Cambria Math" panose="02040503050406030204" pitchFamily="18" charset="0"/>
                      </a:rPr>
                      <m:t>𝑁</m:t>
                    </m:r>
                  </m:oMath>
                </a14:m>
                <a:endParaRPr lang="en-US" altLang="zh-TW" b="0" dirty="0"/>
              </a:p>
              <a:p>
                <a:pPr lvl="1"/>
                <a:r>
                  <a:rPr lang="en-US" altLang="zh-TW" b="0" dirty="0"/>
                  <a:t>Hash-map</a:t>
                </a:r>
              </a:p>
              <a:p>
                <a:pPr lvl="1"/>
                <a:r>
                  <a:rPr lang="en-US" altLang="zh-TW" b="0" dirty="0"/>
                  <a:t>The nodes were encountered during the search</a:t>
                </a:r>
              </a:p>
              <a:p>
                <a:pPr lvl="1"/>
                <a:r>
                  <a:rPr lang="en-US" altLang="zh-TW" dirty="0"/>
                  <a:t>Sorted by pair </a:t>
                </a:r>
                <a14:m>
                  <m:oMath xmlns:m="http://schemas.openxmlformats.org/officeDocument/2006/math">
                    <m:r>
                      <a:rPr lang="en-US" altLang="zh-TW" b="0" i="0" dirty="0" smtClean="0">
                        <a:latin typeface="Cambria Math" panose="02040503050406030204" pitchFamily="18" charset="0"/>
                      </a:rPr>
                      <m:t>(</m:t>
                    </m:r>
                    <m:sSup>
                      <m:sSupPr>
                        <m:ctrlPr>
                          <a:rPr lang="en-US" altLang="zh-TW" b="0" i="1" dirty="0" smtClean="0">
                            <a:latin typeface="Cambria Math" panose="02040503050406030204" pitchFamily="18" charset="0"/>
                          </a:rPr>
                        </m:ctrlPr>
                      </m:sSupPr>
                      <m:e>
                        <m:r>
                          <a:rPr lang="en-US" altLang="zh-TW" b="0" i="1" dirty="0" smtClean="0">
                            <a:latin typeface="Cambria Math" panose="02040503050406030204" pitchFamily="18" charset="0"/>
                          </a:rPr>
                          <m:t>𝑙</m:t>
                        </m:r>
                      </m:e>
                      <m:sup>
                        <m:r>
                          <a:rPr lang="en-US" altLang="zh-TW" b="0" i="1" dirty="0" smtClean="0">
                            <a:latin typeface="Cambria Math" panose="02040503050406030204" pitchFamily="18" charset="0"/>
                          </a:rPr>
                          <m:t>𝑣</m:t>
                        </m:r>
                      </m:sup>
                    </m:sSup>
                    <m:r>
                      <a:rPr lang="en-US" altLang="zh-TW" b="0" i="1" dirty="0" smtClean="0">
                        <a:latin typeface="Cambria Math" panose="02040503050406030204" pitchFamily="18" charset="0"/>
                      </a:rPr>
                      <m:t>, </m:t>
                    </m:r>
                    <m:sSup>
                      <m:sSupPr>
                        <m:ctrlPr>
                          <a:rPr lang="en-US" altLang="zh-TW" b="0" i="1" dirty="0" smtClean="0">
                            <a:latin typeface="Cambria Math" panose="02040503050406030204" pitchFamily="18" charset="0"/>
                          </a:rPr>
                        </m:ctrlPr>
                      </m:sSupPr>
                      <m:e>
                        <m:r>
                          <a:rPr lang="en-US" altLang="zh-TW" b="0" i="1" dirty="0" smtClean="0">
                            <a:latin typeface="Cambria Math" panose="02040503050406030204" pitchFamily="18" charset="0"/>
                          </a:rPr>
                          <m:t>𝑢</m:t>
                        </m:r>
                      </m:e>
                      <m:sup>
                        <m:r>
                          <a:rPr lang="en-US" altLang="zh-TW" b="0" i="1" dirty="0" smtClean="0">
                            <a:latin typeface="Cambria Math" panose="02040503050406030204" pitchFamily="18" charset="0"/>
                          </a:rPr>
                          <m:t>𝑣</m:t>
                        </m:r>
                      </m:sup>
                    </m:sSup>
                    <m:r>
                      <a:rPr lang="en-US" altLang="zh-TW" b="0" i="1" dirty="0" smtClean="0">
                        <a:latin typeface="Cambria Math" panose="02040503050406030204" pitchFamily="18" charset="0"/>
                      </a:rPr>
                      <m:t>)</m:t>
                    </m:r>
                    <m:r>
                      <a:rPr lang="en-US" altLang="zh-TW" b="0" i="1" smtClean="0">
                        <a:latin typeface="Cambria Math" panose="02040503050406030204" pitchFamily="18" charset="0"/>
                      </a:rPr>
                      <m:t> </m:t>
                    </m:r>
                  </m:oMath>
                </a14:m>
                <a:endParaRPr lang="en-US" altLang="zh-TW" b="0" dirty="0"/>
              </a:p>
              <a:p>
                <a:pPr lvl="1"/>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𝑟𝑒𝑙</m:t>
                        </m:r>
                      </m:sub>
                    </m:sSub>
                  </m:oMath>
                </a14:m>
                <a:endParaRPr lang="en-US" altLang="zh-TW" b="0" dirty="0"/>
              </a:p>
              <a:p>
                <a:pPr lvl="2"/>
                <a:r>
                  <a:rPr lang="en-US" altLang="zh-TW" sz="2400" dirty="0"/>
                  <a:t>Containing the nodes that represent the same subproblem</a:t>
                </a:r>
                <a:endParaRPr lang="en-US" altLang="zh-TW" sz="2400" b="0" dirty="0"/>
              </a:p>
              <a:p>
                <a:r>
                  <a:rPr lang="en-US" altLang="zh-TW" dirty="0">
                    <a:latin typeface="Cambria Math" panose="02040503050406030204" pitchFamily="18" charset="0"/>
                  </a:rPr>
                  <a:t>Example: </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𝑟𝑒𝑙</m:t>
                        </m:r>
                      </m:sub>
                    </m:sSub>
                  </m:oMath>
                </a14:m>
                <a:endParaRPr lang="en-US" altLang="zh-TW" dirty="0">
                  <a:latin typeface="Cambria Math" panose="02040503050406030204" pitchFamily="18" charset="0"/>
                </a:endParaRPr>
              </a:p>
              <a:p>
                <a:pPr lvl="1"/>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oMath>
                </a14:m>
                <a:r>
                  <a:rPr lang="en-US" altLang="zh-TW" dirty="0"/>
                  <a:t> bacxmnob</a:t>
                </a:r>
              </a:p>
              <a:p>
                <a:pPr lvl="1"/>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2</m:t>
                        </m:r>
                      </m:sub>
                    </m:sSub>
                    <m:r>
                      <a:rPr lang="en-US" altLang="zh-TW" b="0" i="0" smtClean="0">
                        <a:latin typeface="Cambria Math" panose="02040503050406030204" pitchFamily="18" charset="0"/>
                      </a:rPr>
                      <m:t>= </m:t>
                    </m:r>
                  </m:oMath>
                </a14:m>
                <a:r>
                  <a:rPr lang="en-US" altLang="zh-TW" dirty="0"/>
                  <a:t>abcxmbno</a:t>
                </a:r>
              </a:p>
              <a:p>
                <a:pPr lvl="1"/>
                <a14:m>
                  <m:oMath xmlns:m="http://schemas.openxmlformats.org/officeDocument/2006/math">
                    <m:r>
                      <a:rPr lang="en-US" altLang="zh-TW" b="0" i="1" smtClean="0">
                        <a:latin typeface="Cambria Math" panose="02040503050406030204" pitchFamily="18" charset="0"/>
                      </a:rPr>
                      <m:t>𝑃</m:t>
                    </m:r>
                    <m:r>
                      <a:rPr lang="en-US" altLang="zh-TW" b="0" i="1" smtClean="0">
                        <a:latin typeface="Cambria Math" panose="02040503050406030204" pitchFamily="18" charset="0"/>
                      </a:rPr>
                      <m:t>= </m:t>
                    </m:r>
                  </m:oMath>
                </a14:m>
                <a:r>
                  <a:rPr lang="en-US" altLang="zh-TW" dirty="0"/>
                  <a:t>b</a:t>
                </a:r>
              </a:p>
              <a:p>
                <a:endParaRPr lang="zh-TW" altLang="en-US" dirty="0"/>
              </a:p>
            </p:txBody>
          </p:sp>
        </mc:Choice>
        <mc:Fallback>
          <p:sp>
            <p:nvSpPr>
              <p:cNvPr id="3" name="內容版面配置區 2">
                <a:extLst>
                  <a:ext uri="{FF2B5EF4-FFF2-40B4-BE49-F238E27FC236}">
                    <a16:creationId xmlns:a16="http://schemas.microsoft.com/office/drawing/2014/main" id="{1973ABD6-B0BC-4325-8A62-62C7A1D676A2}"/>
                  </a:ext>
                </a:extLst>
              </p:cNvPr>
              <p:cNvSpPr>
                <a:spLocks noGrp="1" noRot="1" noChangeAspect="1" noMove="1" noResize="1" noEditPoints="1" noAdjustHandles="1" noChangeArrowheads="1" noChangeShapeType="1" noTextEdit="1"/>
              </p:cNvSpPr>
              <p:nvPr>
                <p:ph idx="1"/>
              </p:nvPr>
            </p:nvSpPr>
            <p:spPr>
              <a:xfrm>
                <a:off x="838200" y="1825624"/>
                <a:ext cx="10515600" cy="4530725"/>
              </a:xfrm>
              <a:blipFill>
                <a:blip r:embed="rId2"/>
                <a:stretch>
                  <a:fillRect l="-1043"/>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D37D2A89-27B3-4624-95C2-B91D310E774D}"/>
              </a:ext>
            </a:extLst>
          </p:cNvPr>
          <p:cNvSpPr>
            <a:spLocks noGrp="1"/>
          </p:cNvSpPr>
          <p:nvPr>
            <p:ph type="sldNum" sz="quarter" idx="12"/>
          </p:nvPr>
        </p:nvSpPr>
        <p:spPr/>
        <p:txBody>
          <a:bodyPr/>
          <a:lstStyle/>
          <a:p>
            <a:fld id="{E5F01350-A1F2-4F8F-97B1-4F53DCB7E6B7}" type="slidenum">
              <a:rPr lang="zh-TW" altLang="en-US" smtClean="0"/>
              <a:t>11</a:t>
            </a:fld>
            <a:endParaRPr lang="zh-TW" altLang="en-US"/>
          </a:p>
        </p:txBody>
      </p:sp>
      <mc:AlternateContent xmlns:mc="http://schemas.openxmlformats.org/markup-compatibility/2006">
        <mc:Choice xmlns:a14="http://schemas.microsoft.com/office/drawing/2010/main" Requires="a14">
          <p:sp>
            <p:nvSpPr>
              <p:cNvPr id="5" name="文字方塊 4">
                <a:extLst>
                  <a:ext uri="{FF2B5EF4-FFF2-40B4-BE49-F238E27FC236}">
                    <a16:creationId xmlns:a16="http://schemas.microsoft.com/office/drawing/2014/main" id="{D33930D1-998C-4601-919A-DE7276D1FD64}"/>
                  </a:ext>
                </a:extLst>
              </p:cNvPr>
              <p:cNvSpPr txBox="1"/>
              <p:nvPr/>
            </p:nvSpPr>
            <p:spPr>
              <a:xfrm>
                <a:off x="5513613" y="4478318"/>
                <a:ext cx="2962276" cy="1569660"/>
              </a:xfrm>
              <a:prstGeom prst="rect">
                <a:avLst/>
              </a:prstGeom>
              <a:noFill/>
            </p:spPr>
            <p:txBody>
              <a:bodyPr wrap="square" rtlCol="0">
                <a:spAutoFit/>
              </a:bodyPr>
              <a:lstStyle/>
              <a:p>
                <a14:m>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𝑣</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oMath>
                </a14:m>
                <a:r>
                  <a:rPr lang="en-US" altLang="zh-TW" sz="2400" dirty="0"/>
                  <a:t> ((4, 4), 2, 1)</a:t>
                </a:r>
              </a:p>
              <a:p>
                <a:r>
                  <a:rPr lang="en-US" altLang="zh-TW" sz="2400" dirty="0"/>
                  <a:t>→ bx</a:t>
                </a:r>
              </a:p>
              <a:p>
                <a14:m>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𝑣</m:t>
                        </m:r>
                      </m:e>
                      <m:sub>
                        <m:r>
                          <a:rPr lang="en-US" altLang="zh-TW" sz="2400" b="0" i="1" smtClean="0">
                            <a:latin typeface="Cambria Math" panose="02040503050406030204" pitchFamily="18" charset="0"/>
                          </a:rPr>
                          <m:t>2</m:t>
                        </m:r>
                      </m:sub>
                    </m:sSub>
                    <m:r>
                      <a:rPr lang="en-US" altLang="zh-TW" sz="2400" b="0" i="0" smtClean="0">
                        <a:latin typeface="Cambria Math" panose="02040503050406030204" pitchFamily="18" charset="0"/>
                      </a:rPr>
                      <m:t>= </m:t>
                    </m:r>
                  </m:oMath>
                </a14:m>
                <a:r>
                  <a:rPr lang="en-US" altLang="zh-TW" sz="2400" dirty="0"/>
                  <a:t>((4, 4), 3, 0)</a:t>
                </a:r>
              </a:p>
              <a:p>
                <a:r>
                  <a:rPr lang="en-US" altLang="zh-TW" sz="2400" dirty="0"/>
                  <a:t>→ </a:t>
                </a:r>
                <a:r>
                  <a:rPr lang="en-US" altLang="zh-TW" sz="2400" dirty="0" err="1"/>
                  <a:t>acx</a:t>
                </a:r>
                <a:endParaRPr lang="en-US" altLang="zh-TW" sz="2400" dirty="0"/>
              </a:p>
            </p:txBody>
          </p:sp>
        </mc:Choice>
        <mc:Fallback>
          <p:sp>
            <p:nvSpPr>
              <p:cNvPr id="5" name="文字方塊 4">
                <a:extLst>
                  <a:ext uri="{FF2B5EF4-FFF2-40B4-BE49-F238E27FC236}">
                    <a16:creationId xmlns:a16="http://schemas.microsoft.com/office/drawing/2014/main" id="{D33930D1-998C-4601-919A-DE7276D1FD64}"/>
                  </a:ext>
                </a:extLst>
              </p:cNvPr>
              <p:cNvSpPr txBox="1">
                <a:spLocks noRot="1" noChangeAspect="1" noMove="1" noResize="1" noEditPoints="1" noAdjustHandles="1" noChangeArrowheads="1" noChangeShapeType="1" noTextEdit="1"/>
              </p:cNvSpPr>
              <p:nvPr/>
            </p:nvSpPr>
            <p:spPr>
              <a:xfrm>
                <a:off x="5513613" y="4478318"/>
                <a:ext cx="2962276" cy="1569660"/>
              </a:xfrm>
              <a:prstGeom prst="rect">
                <a:avLst/>
              </a:prstGeom>
              <a:blipFill>
                <a:blip r:embed="rId3"/>
                <a:stretch>
                  <a:fillRect l="-3086" t="-3113" b="-8171"/>
                </a:stretch>
              </a:blipFill>
            </p:spPr>
            <p:txBody>
              <a:bodyPr/>
              <a:lstStyle/>
              <a:p>
                <a:r>
                  <a:rPr lang="zh-TW" altLang="en-US">
                    <a:noFill/>
                  </a:rPr>
                  <a:t> </a:t>
                </a:r>
              </a:p>
            </p:txBody>
          </p:sp>
        </mc:Fallback>
      </mc:AlternateContent>
      <p:sp>
        <p:nvSpPr>
          <p:cNvPr id="6" name="箭號: 向右 5">
            <a:extLst>
              <a:ext uri="{FF2B5EF4-FFF2-40B4-BE49-F238E27FC236}">
                <a16:creationId xmlns:a16="http://schemas.microsoft.com/office/drawing/2014/main" id="{34977846-3C13-43F0-89BC-ED5FF55F093F}"/>
              </a:ext>
            </a:extLst>
          </p:cNvPr>
          <p:cNvSpPr/>
          <p:nvPr/>
        </p:nvSpPr>
        <p:spPr>
          <a:xfrm>
            <a:off x="3892731" y="5115102"/>
            <a:ext cx="1515835" cy="296092"/>
          </a:xfrm>
          <a:prstGeom prst="rightArrow">
            <a:avLst>
              <a:gd name="adj1" fmla="val 50000"/>
              <a:gd name="adj2" fmla="val 6470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023335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52A475-D800-49B9-878B-DFEA7A10E887}"/>
              </a:ext>
            </a:extLst>
          </p:cNvPr>
          <p:cNvSpPr>
            <a:spLocks noGrp="1"/>
          </p:cNvSpPr>
          <p:nvPr>
            <p:ph type="title"/>
          </p:nvPr>
        </p:nvSpPr>
        <p:spPr/>
        <p:txBody>
          <a:bodyPr/>
          <a:lstStyle/>
          <a:p>
            <a:r>
              <a:rPr lang="en-US" altLang="zh-TW" dirty="0"/>
              <a:t>A* Algorithm for CLCS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1973ABD6-B0BC-4325-8A62-62C7A1D676A2}"/>
                  </a:ext>
                </a:extLst>
              </p:cNvPr>
              <p:cNvSpPr>
                <a:spLocks noGrp="1"/>
              </p:cNvSpPr>
              <p:nvPr>
                <p:ph idx="1"/>
              </p:nvPr>
            </p:nvSpPr>
            <p:spPr/>
            <p:txBody>
              <a:bodyPr>
                <a:normAutofit/>
              </a:bodyPr>
              <a:lstStyle/>
              <a:p>
                <a14:m>
                  <m:oMath xmlns:m="http://schemas.openxmlformats.org/officeDocument/2006/math">
                    <m:r>
                      <a:rPr lang="en-US" altLang="zh-TW" b="0" i="1" smtClean="0">
                        <a:latin typeface="Cambria Math" panose="02040503050406030204" pitchFamily="18" charset="0"/>
                      </a:rPr>
                      <m:t>𝑄</m:t>
                    </m:r>
                  </m:oMath>
                </a14:m>
                <a:endParaRPr lang="en-US" altLang="zh-TW" b="0" dirty="0"/>
              </a:p>
              <a:p>
                <a:pPr lvl="1"/>
                <a:r>
                  <a:rPr lang="en-US" altLang="zh-TW" dirty="0"/>
                  <a:t>P</a:t>
                </a:r>
                <a:r>
                  <a:rPr lang="en-US" altLang="zh-TW" b="0" dirty="0"/>
                  <a:t>riority queue </a:t>
                </a:r>
              </a:p>
              <a:p>
                <a:pPr lvl="2"/>
                <a14:m>
                  <m:oMath xmlns:m="http://schemas.openxmlformats.org/officeDocument/2006/math">
                    <m:r>
                      <a:rPr lang="en-US" altLang="zh-TW" sz="2400" b="0" i="1" smtClean="0">
                        <a:latin typeface="Cambria Math" panose="02040503050406030204" pitchFamily="18" charset="0"/>
                      </a:rPr>
                      <m:t>𝑓</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𝑣</m:t>
                        </m:r>
                      </m:e>
                    </m:d>
                    <m:r>
                      <a:rPr lang="en-US" altLang="zh-TW" sz="2400" b="0" i="1" smtClean="0">
                        <a:latin typeface="Cambria Math" panose="02040503050406030204" pitchFamily="18" charset="0"/>
                      </a:rPr>
                      <m:t>=</m:t>
                    </m:r>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𝑣</m:t>
                        </m:r>
                      </m:sup>
                    </m:sSup>
                    <m:r>
                      <a:rPr lang="en-US" altLang="zh-TW" sz="2400" b="0" i="1" smtClean="0">
                        <a:latin typeface="Cambria Math" panose="02040503050406030204" pitchFamily="18" charset="0"/>
                      </a:rPr>
                      <m:t>+</m:t>
                    </m:r>
                    <m:r>
                      <a:rPr lang="en-US" altLang="zh-TW" sz="2400" i="1">
                        <a:latin typeface="Cambria Math" panose="02040503050406030204" pitchFamily="18" charset="0"/>
                      </a:rPr>
                      <m:t>𝑈𝐵</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𝑣</m:t>
                        </m:r>
                      </m:e>
                    </m:d>
                  </m:oMath>
                </a14:m>
                <a:endParaRPr lang="en-US" altLang="zh-TW" b="0" dirty="0"/>
              </a:p>
              <a:p>
                <a:pPr lvl="1"/>
                <a:r>
                  <a:rPr lang="en-US" altLang="zh-TW" dirty="0"/>
                  <a:t>All not yet expanded nodes</a:t>
                </a:r>
                <a:endParaRPr lang="en-US" altLang="zh-TW" b="0" dirty="0"/>
              </a:p>
              <a:p>
                <a:endParaRPr lang="zh-TW" altLang="en-US" dirty="0"/>
              </a:p>
            </p:txBody>
          </p:sp>
        </mc:Choice>
        <mc:Fallback xmlns="">
          <p:sp>
            <p:nvSpPr>
              <p:cNvPr id="3" name="內容版面配置區 2">
                <a:extLst>
                  <a:ext uri="{FF2B5EF4-FFF2-40B4-BE49-F238E27FC236}">
                    <a16:creationId xmlns:a16="http://schemas.microsoft.com/office/drawing/2014/main" id="{1973ABD6-B0BC-4325-8A62-62C7A1D676A2}"/>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D37D2A89-27B3-4624-95C2-B91D310E774D}"/>
              </a:ext>
            </a:extLst>
          </p:cNvPr>
          <p:cNvSpPr>
            <a:spLocks noGrp="1"/>
          </p:cNvSpPr>
          <p:nvPr>
            <p:ph type="sldNum" sz="quarter" idx="12"/>
          </p:nvPr>
        </p:nvSpPr>
        <p:spPr/>
        <p:txBody>
          <a:bodyPr/>
          <a:lstStyle/>
          <a:p>
            <a:fld id="{E5F01350-A1F2-4F8F-97B1-4F53DCB7E6B7}" type="slidenum">
              <a:rPr lang="zh-TW" altLang="en-US" smtClean="0"/>
              <a:t>12</a:t>
            </a:fld>
            <a:endParaRPr lang="zh-TW" altLang="en-US"/>
          </a:p>
        </p:txBody>
      </p:sp>
    </p:spTree>
    <p:extLst>
      <p:ext uri="{BB962C8B-B14F-4D97-AF65-F5344CB8AC3E}">
        <p14:creationId xmlns:p14="http://schemas.microsoft.com/office/powerpoint/2010/main" val="1286214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內容版面配置區 5">
            <a:extLst>
              <a:ext uri="{FF2B5EF4-FFF2-40B4-BE49-F238E27FC236}">
                <a16:creationId xmlns:a16="http://schemas.microsoft.com/office/drawing/2014/main" id="{E7E4B610-640A-4D9A-9105-71C597689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7152" y="0"/>
            <a:ext cx="4585182" cy="6858000"/>
          </a:xfrm>
          <a:prstGeom prst="rect">
            <a:avLst/>
          </a:prstGeom>
        </p:spPr>
      </p:pic>
      <p:pic>
        <p:nvPicPr>
          <p:cNvPr id="11" name="內容版面配置區 10">
            <a:extLst>
              <a:ext uri="{FF2B5EF4-FFF2-40B4-BE49-F238E27FC236}">
                <a16:creationId xmlns:a16="http://schemas.microsoft.com/office/drawing/2014/main" id="{95F89FDD-3042-4B3F-B4E4-375FC60FFCC4}"/>
              </a:ext>
            </a:extLst>
          </p:cNvPr>
          <p:cNvPicPr>
            <a:picLocks noGrp="1" noChangeAspect="1"/>
          </p:cNvPicPr>
          <p:nvPr>
            <p:ph idx="1"/>
          </p:nvPr>
        </p:nvPicPr>
        <p:blipFill>
          <a:blip r:embed="rId3"/>
          <a:stretch>
            <a:fillRect/>
          </a:stretch>
        </p:blipFill>
        <p:spPr>
          <a:xfrm>
            <a:off x="838200" y="1268823"/>
            <a:ext cx="5898969" cy="5589177"/>
          </a:xfrm>
          <a:prstGeom prst="rect">
            <a:avLst/>
          </a:prstGeom>
        </p:spPr>
      </p:pic>
      <p:sp>
        <p:nvSpPr>
          <p:cNvPr id="2" name="標題 1">
            <a:extLst>
              <a:ext uri="{FF2B5EF4-FFF2-40B4-BE49-F238E27FC236}">
                <a16:creationId xmlns:a16="http://schemas.microsoft.com/office/drawing/2014/main" id="{3BC5B82B-19DB-4053-90D7-B3C976879A26}"/>
              </a:ext>
            </a:extLst>
          </p:cNvPr>
          <p:cNvSpPr>
            <a:spLocks noGrp="1"/>
          </p:cNvSpPr>
          <p:nvPr>
            <p:ph type="title"/>
          </p:nvPr>
        </p:nvSpPr>
        <p:spPr/>
        <p:txBody>
          <a:bodyPr/>
          <a:lstStyle/>
          <a:p>
            <a:r>
              <a:rPr lang="en-US" altLang="zh-TW" dirty="0"/>
              <a:t>A* Algorithm for CLCS</a:t>
            </a:r>
            <a:endParaRPr lang="zh-TW" altLang="en-US" dirty="0"/>
          </a:p>
        </p:txBody>
      </p:sp>
      <p:sp>
        <p:nvSpPr>
          <p:cNvPr id="4" name="投影片編號版面配置區 3">
            <a:extLst>
              <a:ext uri="{FF2B5EF4-FFF2-40B4-BE49-F238E27FC236}">
                <a16:creationId xmlns:a16="http://schemas.microsoft.com/office/drawing/2014/main" id="{4F4700EB-58DF-49F0-BA74-634CF667C4E9}"/>
              </a:ext>
            </a:extLst>
          </p:cNvPr>
          <p:cNvSpPr>
            <a:spLocks noGrp="1"/>
          </p:cNvSpPr>
          <p:nvPr>
            <p:ph type="sldNum" sz="quarter" idx="12"/>
          </p:nvPr>
        </p:nvSpPr>
        <p:spPr/>
        <p:txBody>
          <a:bodyPr/>
          <a:lstStyle/>
          <a:p>
            <a:fld id="{E5F01350-A1F2-4F8F-97B1-4F53DCB7E6B7}" type="slidenum">
              <a:rPr lang="zh-TW" altLang="en-US" smtClean="0"/>
              <a:t>13</a:t>
            </a:fld>
            <a:endParaRPr lang="zh-TW" altLang="en-US"/>
          </a:p>
        </p:txBody>
      </p:sp>
    </p:spTree>
    <p:extLst>
      <p:ext uri="{BB962C8B-B14F-4D97-AF65-F5344CB8AC3E}">
        <p14:creationId xmlns:p14="http://schemas.microsoft.com/office/powerpoint/2010/main" val="1777594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318C1B1-3531-4BA7-87A1-60D3CFEF4A23}"/>
              </a:ext>
            </a:extLst>
          </p:cNvPr>
          <p:cNvSpPr>
            <a:spLocks noGrp="1"/>
          </p:cNvSpPr>
          <p:nvPr>
            <p:ph type="title"/>
          </p:nvPr>
        </p:nvSpPr>
        <p:spPr/>
        <p:txBody>
          <a:bodyPr/>
          <a:lstStyle/>
          <a:p>
            <a:r>
              <a:rPr lang="en-US" altLang="zh-TW" dirty="0"/>
              <a:t>Time Complexity</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2A85D2EB-5708-472B-A7A4-D4144D170039}"/>
                  </a:ext>
                </a:extLst>
              </p:cNvPr>
              <p:cNvSpPr>
                <a:spLocks noGrp="1"/>
              </p:cNvSpPr>
              <p:nvPr>
                <p:ph idx="1"/>
              </p:nvPr>
            </p:nvSpPr>
            <p:spPr>
              <a:xfrm>
                <a:off x="838200" y="1825624"/>
                <a:ext cx="10515600" cy="4822825"/>
              </a:xfrm>
            </p:spPr>
            <p:txBody>
              <a:bodyPr>
                <a:normAutofit/>
              </a:bodyPr>
              <a:lstStyle/>
              <a:p>
                <a:r>
                  <a:rPr lang="en-US" altLang="zh-TW" dirty="0">
                    <a:latin typeface="Cambria Math" panose="02040503050406030204" pitchFamily="18" charset="0"/>
                  </a:rPr>
                  <a:t>Number of visited node</a:t>
                </a:r>
              </a:p>
              <a:p>
                <a:pPr lvl="1"/>
                <a14:m>
                  <m:oMath xmlns:m="http://schemas.openxmlformats.org/officeDocument/2006/math">
                    <m:r>
                      <a:rPr lang="en-US" altLang="zh-TW" b="0" i="1" smtClean="0">
                        <a:latin typeface="Cambria Math" panose="02040503050406030204" pitchFamily="18" charset="0"/>
                      </a:rPr>
                      <m:t>𝑂</m:t>
                    </m:r>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𝑛</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𝑃</m:t>
                    </m:r>
                    <m:r>
                      <a:rPr lang="en-US" altLang="zh-TW" b="0" i="1" smtClean="0">
                        <a:latin typeface="Cambria Math" panose="02040503050406030204" pitchFamily="18" charset="0"/>
                        <a:ea typeface="Cambria Math" panose="02040503050406030204" pitchFamily="18" charset="0"/>
                      </a:rPr>
                      <m:t>|)</m:t>
                    </m:r>
                  </m:oMath>
                </a14:m>
                <a:endParaRPr lang="zh-TW" altLang="en-US" dirty="0"/>
              </a:p>
              <a:p>
                <a14:m>
                  <m:oMath xmlns:m="http://schemas.openxmlformats.org/officeDocument/2006/math">
                    <m:sSubSup>
                      <m:sSubSupPr>
                        <m:ctrlPr>
                          <a:rPr lang="en-US" altLang="zh-TW" sz="2800" b="0" i="1" smtClean="0">
                            <a:latin typeface="Cambria Math" panose="02040503050406030204" pitchFamily="18" charset="0"/>
                          </a:rPr>
                        </m:ctrlPr>
                      </m:sSubSupPr>
                      <m:e>
                        <m:r>
                          <a:rPr lang="en-US" altLang="zh-TW" sz="2800" b="0" i="1" smtClean="0">
                            <a:latin typeface="Cambria Math" panose="02040503050406030204" pitchFamily="18" charset="0"/>
                          </a:rPr>
                          <m:t>∑</m:t>
                        </m:r>
                      </m:e>
                      <m:sub>
                        <m:r>
                          <a:rPr lang="en-US" altLang="zh-TW" sz="2800" b="0" i="1" smtClean="0">
                            <a:latin typeface="Cambria Math" panose="02040503050406030204" pitchFamily="18" charset="0"/>
                          </a:rPr>
                          <m:t>𝑣</m:t>
                        </m:r>
                      </m:sub>
                      <m:sup>
                        <m:r>
                          <a:rPr lang="en-US" altLang="zh-TW" sz="2800" b="0" i="1" smtClean="0">
                            <a:latin typeface="Cambria Math" panose="02040503050406030204" pitchFamily="18" charset="0"/>
                          </a:rPr>
                          <m:t>𝑛𝑑</m:t>
                        </m:r>
                      </m:sup>
                    </m:sSubSup>
                  </m:oMath>
                </a14:m>
                <a:endParaRPr lang="en-US" altLang="zh-TW" b="0" dirty="0">
                  <a:latin typeface="Cambria Math" panose="02040503050406030204" pitchFamily="18" charset="0"/>
                </a:endParaRPr>
              </a:p>
              <a:p>
                <a:pPr lvl="1"/>
                <a14:m>
                  <m:oMath xmlns:m="http://schemas.openxmlformats.org/officeDocument/2006/math">
                    <m:r>
                      <a:rPr lang="en-US" altLang="zh-TW" b="0" i="1" smtClean="0">
                        <a:latin typeface="Cambria Math" panose="02040503050406030204" pitchFamily="18" charset="0"/>
                      </a:rPr>
                      <m:t>𝑂</m:t>
                    </m:r>
                    <m:r>
                      <a:rPr lang="en-US" altLang="zh-TW" b="0" i="1" smtClean="0">
                        <a:latin typeface="Cambria Math" panose="02040503050406030204" pitchFamily="18" charset="0"/>
                      </a:rPr>
                      <m:t>(|</m:t>
                    </m:r>
                    <m:sSup>
                      <m:sSupPr>
                        <m:ctrlPr>
                          <a:rPr lang="en-US" altLang="zh-TW" i="1" smtClean="0">
                            <a:latin typeface="Cambria Math" panose="02040503050406030204" pitchFamily="18" charset="0"/>
                          </a:rPr>
                        </m:ctrlPr>
                      </m:sSupPr>
                      <m:e>
                        <m:r>
                          <a:rPr lang="en-US" altLang="zh-TW" i="1">
                            <a:latin typeface="Cambria Math" panose="02040503050406030204" pitchFamily="18" charset="0"/>
                          </a:rPr>
                          <m:t>∑</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𝑛</m:t>
                    </m:r>
                    <m:r>
                      <a:rPr lang="en-US" altLang="zh-TW" b="0" i="1" smtClean="0">
                        <a:latin typeface="Cambria Math" panose="02040503050406030204" pitchFamily="18" charset="0"/>
                        <a:ea typeface="Cambria Math" panose="02040503050406030204" pitchFamily="18" charset="0"/>
                      </a:rPr>
                      <m:t>)</m:t>
                    </m:r>
                  </m:oMath>
                </a14:m>
                <a:endParaRPr lang="en-US" altLang="zh-TW" dirty="0">
                  <a:latin typeface="Cambria Math" panose="02040503050406030204" pitchFamily="18" charset="0"/>
                </a:endParaRPr>
              </a:p>
              <a:p>
                <a:r>
                  <a:rPr lang="en-US" altLang="zh-TW" b="0" dirty="0">
                    <a:latin typeface="Cambria Math" panose="02040503050406030204" pitchFamily="18" charset="0"/>
                  </a:rPr>
                  <a:t>Check for the same subproblem</a:t>
                </a:r>
              </a:p>
              <a:p>
                <a:pPr lvl="1"/>
                <a14:m>
                  <m:oMath xmlns:m="http://schemas.openxmlformats.org/officeDocument/2006/math">
                    <m:r>
                      <a:rPr lang="en-US" altLang="zh-TW" b="0" i="1" smtClean="0">
                        <a:latin typeface="Cambria Math" panose="02040503050406030204" pitchFamily="18" charset="0"/>
                      </a:rPr>
                      <m:t>𝑂</m:t>
                    </m:r>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𝑛</m:t>
                    </m:r>
                    <m:r>
                      <a:rPr lang="en-US" altLang="zh-TW" i="1">
                        <a:latin typeface="Cambria Math" panose="02040503050406030204" pitchFamily="18" charset="0"/>
                        <a:ea typeface="Cambria Math" panose="02040503050406030204" pitchFamily="18" charset="0"/>
                      </a:rPr>
                      <m:t>∙</m:t>
                    </m:r>
                    <m:func>
                      <m:funcPr>
                        <m:ctrlPr>
                          <a:rPr lang="en-US" altLang="zh-TW" i="1">
                            <a:latin typeface="Cambria Math" panose="02040503050406030204" pitchFamily="18" charset="0"/>
                            <a:ea typeface="Cambria Math" panose="02040503050406030204" pitchFamily="18" charset="0"/>
                          </a:rPr>
                        </m:ctrlPr>
                      </m:funcPr>
                      <m:fName>
                        <m:r>
                          <m:rPr>
                            <m:sty m:val="p"/>
                          </m:rPr>
                          <a:rPr lang="en-US" altLang="zh-TW">
                            <a:latin typeface="Cambria Math" panose="02040503050406030204" pitchFamily="18" charset="0"/>
                            <a:ea typeface="Cambria Math" panose="02040503050406030204" pitchFamily="18" charset="0"/>
                          </a:rPr>
                          <m:t>log</m:t>
                        </m:r>
                      </m:fName>
                      <m:e>
                        <m:r>
                          <a:rPr lang="en-US" altLang="zh-TW" i="1">
                            <a:latin typeface="Cambria Math" panose="02040503050406030204" pitchFamily="18" charset="0"/>
                            <a:ea typeface="Cambria Math" panose="02040503050406030204" pitchFamily="18" charset="0"/>
                          </a:rPr>
                          <m:t>𝑛</m:t>
                        </m:r>
                      </m:e>
                    </m:func>
                    <m:r>
                      <a:rPr lang="en-US" altLang="zh-TW" b="0" i="1" smtClean="0">
                        <a:latin typeface="Cambria Math" panose="02040503050406030204" pitchFamily="18" charset="0"/>
                        <a:ea typeface="Cambria Math" panose="02040503050406030204" pitchFamily="18" charset="0"/>
                      </a:rPr>
                      <m:t>)</m:t>
                    </m:r>
                  </m:oMath>
                </a14:m>
                <a:endParaRPr lang="en-US" altLang="zh-TW" dirty="0">
                  <a:latin typeface="Cambria Math" panose="02040503050406030204" pitchFamily="18" charset="0"/>
                </a:endParaRPr>
              </a:p>
              <a:p>
                <a:pPr lvl="1"/>
                <a:endParaRPr lang="en-US" altLang="zh-TW" dirty="0">
                  <a:latin typeface="Cambria Math" panose="02040503050406030204" pitchFamily="18" charset="0"/>
                </a:endParaRPr>
              </a:p>
              <a:p>
                <a:pPr marL="457200" lvl="1" indent="0">
                  <a:buNone/>
                </a:pPr>
                <a:endParaRPr lang="en-US" altLang="zh-TW" dirty="0">
                  <a:latin typeface="Cambria Math" panose="02040503050406030204" pitchFamily="18" charset="0"/>
                </a:endParaRPr>
              </a:p>
              <a:p>
                <a:endParaRPr lang="en-US" altLang="zh-TW" b="0" i="1" dirty="0">
                  <a:latin typeface="Cambria Math" panose="02040503050406030204" pitchFamily="18" charset="0"/>
                </a:endParaRPr>
              </a:p>
              <a:p>
                <a14:m>
                  <m:oMath xmlns:m="http://schemas.openxmlformats.org/officeDocument/2006/math">
                    <m:r>
                      <a:rPr lang="en-US" altLang="zh-TW" b="0" i="1" smtClean="0">
                        <a:latin typeface="Cambria Math" panose="02040503050406030204" pitchFamily="18" charset="0"/>
                      </a:rPr>
                      <m:t>𝑂</m:t>
                    </m:r>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𝑛</m:t>
                        </m:r>
                      </m:e>
                      <m:sup>
                        <m:r>
                          <a:rPr lang="en-US" altLang="zh-TW" b="0" i="1" smtClean="0">
                            <a:latin typeface="Cambria Math" panose="02040503050406030204" pitchFamily="18" charset="0"/>
                          </a:rPr>
                          <m:t>3</m:t>
                        </m:r>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𝑃</m:t>
                    </m:r>
                    <m:r>
                      <a:rPr lang="en-US" altLang="zh-TW" b="0" i="1" smtClean="0">
                        <a:latin typeface="Cambria Math" panose="02040503050406030204" pitchFamily="18" charset="0"/>
                        <a:ea typeface="Cambria Math" panose="02040503050406030204" pitchFamily="18" charset="0"/>
                      </a:rPr>
                      <m:t>|∙</m:t>
                    </m:r>
                    <m:func>
                      <m:funcPr>
                        <m:ctrlPr>
                          <a:rPr lang="en-US" altLang="zh-TW" b="0" i="1" smtClean="0">
                            <a:latin typeface="Cambria Math" panose="02040503050406030204" pitchFamily="18" charset="0"/>
                            <a:ea typeface="Cambria Math" panose="02040503050406030204" pitchFamily="18" charset="0"/>
                          </a:rPr>
                        </m:ctrlPr>
                      </m:funcPr>
                      <m:fName>
                        <m:r>
                          <m:rPr>
                            <m:sty m:val="p"/>
                          </m:rPr>
                          <a:rPr lang="en-US" altLang="zh-TW" b="0" i="0" smtClean="0">
                            <a:latin typeface="Cambria Math" panose="02040503050406030204" pitchFamily="18" charset="0"/>
                            <a:ea typeface="Cambria Math" panose="02040503050406030204" pitchFamily="18" charset="0"/>
                          </a:rPr>
                          <m:t>log</m:t>
                        </m:r>
                      </m:fName>
                      <m:e>
                        <m:r>
                          <a:rPr lang="en-US" altLang="zh-TW" b="0" i="1" smtClean="0">
                            <a:latin typeface="Cambria Math" panose="02040503050406030204" pitchFamily="18" charset="0"/>
                            <a:ea typeface="Cambria Math" panose="02040503050406030204" pitchFamily="18" charset="0"/>
                          </a:rPr>
                          <m:t>𝑛</m:t>
                        </m:r>
                      </m:e>
                    </m:func>
                    <m:r>
                      <a:rPr lang="en-US" altLang="zh-TW" b="0" i="1"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3" name="內容版面配置區 2">
                <a:extLst>
                  <a:ext uri="{FF2B5EF4-FFF2-40B4-BE49-F238E27FC236}">
                    <a16:creationId xmlns:a16="http://schemas.microsoft.com/office/drawing/2014/main" id="{2A85D2EB-5708-472B-A7A4-D4144D170039}"/>
                  </a:ext>
                </a:extLst>
              </p:cNvPr>
              <p:cNvSpPr>
                <a:spLocks noGrp="1" noRot="1" noChangeAspect="1" noMove="1" noResize="1" noEditPoints="1" noAdjustHandles="1" noChangeArrowheads="1" noChangeShapeType="1" noTextEdit="1"/>
              </p:cNvSpPr>
              <p:nvPr>
                <p:ph idx="1"/>
              </p:nvPr>
            </p:nvSpPr>
            <p:spPr>
              <a:xfrm>
                <a:off x="838200" y="1825624"/>
                <a:ext cx="10515600" cy="4822825"/>
              </a:xfrm>
              <a:blipFill>
                <a:blip r:embed="rId2"/>
                <a:stretch>
                  <a:fillRect l="-1043" t="-214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44C9BC96-C2B7-479F-837C-53FC9301E63D}"/>
              </a:ext>
            </a:extLst>
          </p:cNvPr>
          <p:cNvSpPr>
            <a:spLocks noGrp="1"/>
          </p:cNvSpPr>
          <p:nvPr>
            <p:ph type="sldNum" sz="quarter" idx="12"/>
          </p:nvPr>
        </p:nvSpPr>
        <p:spPr/>
        <p:txBody>
          <a:bodyPr/>
          <a:lstStyle/>
          <a:p>
            <a:fld id="{E5F01350-A1F2-4F8F-97B1-4F53DCB7E6B7}" type="slidenum">
              <a:rPr lang="zh-TW" altLang="en-US" smtClean="0"/>
              <a:t>14</a:t>
            </a:fld>
            <a:endParaRPr lang="zh-TW" altLang="en-US"/>
          </a:p>
        </p:txBody>
      </p:sp>
      <p:sp>
        <p:nvSpPr>
          <p:cNvPr id="5" name="箭號: 向下 4">
            <a:extLst>
              <a:ext uri="{FF2B5EF4-FFF2-40B4-BE49-F238E27FC236}">
                <a16:creationId xmlns:a16="http://schemas.microsoft.com/office/drawing/2014/main" id="{0681BA4A-168D-461E-99A9-8653395C607E}"/>
              </a:ext>
            </a:extLst>
          </p:cNvPr>
          <p:cNvSpPr/>
          <p:nvPr/>
        </p:nvSpPr>
        <p:spPr>
          <a:xfrm>
            <a:off x="2286000" y="4648200"/>
            <a:ext cx="228600" cy="10287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56787964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448</TotalTime>
  <Words>692</Words>
  <Application>Microsoft Office PowerPoint</Application>
  <PresentationFormat>寬螢幕</PresentationFormat>
  <Paragraphs>132</Paragraphs>
  <Slides>14</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14</vt:i4>
      </vt:variant>
    </vt:vector>
  </HeadingPairs>
  <TitlesOfParts>
    <vt:vector size="20" baseType="lpstr">
      <vt:lpstr>Arial</vt:lpstr>
      <vt:lpstr>Calibri</vt:lpstr>
      <vt:lpstr>Calibri Light</vt:lpstr>
      <vt:lpstr>Cambria Math</vt:lpstr>
      <vt:lpstr>Times New Roman</vt:lpstr>
      <vt:lpstr>Office 佈景主題</vt:lpstr>
      <vt:lpstr>An A∗ Search Algorithm for the Constrained Longest Common  Subsequence Problem</vt:lpstr>
      <vt:lpstr>Abstract</vt:lpstr>
      <vt:lpstr>Constrained Longest Common Subsequence</vt:lpstr>
      <vt:lpstr>State Graph</vt:lpstr>
      <vt:lpstr>State Graph</vt:lpstr>
      <vt:lpstr>State Graph</vt:lpstr>
      <vt:lpstr>State Graph</vt:lpstr>
      <vt:lpstr>State Graph</vt:lpstr>
      <vt:lpstr>Upper bounds</vt:lpstr>
      <vt:lpstr>A* Algorithm for CLCS</vt:lpstr>
      <vt:lpstr>A* Algorithm for CLCS</vt:lpstr>
      <vt:lpstr>A* Algorithm for CLCS</vt:lpstr>
      <vt:lpstr>A* Algorithm for CLCS</vt:lpstr>
      <vt:lpstr>Time Complexity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 Search Algorithm for the Constrained Longest Common   Subsequence Problem</dc:title>
  <dc:creator>Ting B</dc:creator>
  <cp:lastModifiedBy>Ting B</cp:lastModifiedBy>
  <cp:revision>75</cp:revision>
  <dcterms:created xsi:type="dcterms:W3CDTF">2021-12-26T17:24:43Z</dcterms:created>
  <dcterms:modified xsi:type="dcterms:W3CDTF">2021-12-27T18:31:15Z</dcterms:modified>
</cp:coreProperties>
</file>