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59" r:id="rId4"/>
    <p:sldId id="261" r:id="rId5"/>
    <p:sldId id="262" r:id="rId6"/>
    <p:sldId id="263" r:id="rId7"/>
    <p:sldId id="264" r:id="rId8"/>
    <p:sldId id="265" r:id="rId9"/>
    <p:sldId id="266" r:id="rId10"/>
    <p:sldId id="267" r:id="rId11"/>
    <p:sldId id="268" r:id="rId12"/>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2021/2/18</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2021/2/18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2021/2/18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2021/2/18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2021/2/18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2021/2/18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2021/2/18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2021/2/18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2021/2/18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2021/2/18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2021/2/18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2021/2/18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2021/2/18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smtClean="0">
                <a:latin typeface="Times New Roman" pitchFamily="18" charset="0"/>
                <a:cs typeface="Times New Roman" pitchFamily="18" charset="0"/>
              </a:rPr>
              <a:t>MUMmer4: A fast and versatile genome</a:t>
            </a:r>
            <a:br>
              <a:rPr lang="en-US" altLang="zh-TW" sz="3200" dirty="0" smtClean="0">
                <a:latin typeface="Times New Roman" pitchFamily="18" charset="0"/>
                <a:cs typeface="Times New Roman" pitchFamily="18" charset="0"/>
              </a:rPr>
            </a:br>
            <a:r>
              <a:rPr lang="en-US" altLang="zh-TW" sz="3200" dirty="0" smtClean="0">
                <a:latin typeface="Times New Roman" pitchFamily="18" charset="0"/>
                <a:cs typeface="Times New Roman" pitchFamily="18" charset="0"/>
              </a:rPr>
              <a:t>alignment system</a:t>
            </a:r>
            <a:endParaRPr lang="en-US" altLang="zh-TW" sz="3200" dirty="0">
              <a:latin typeface="Times New Roman" pitchFamily="18" charset="0"/>
              <a:cs typeface="Times New Roman" pitchFamily="18" charset="0"/>
            </a:endParaRPr>
          </a:p>
        </p:txBody>
      </p:sp>
      <p:sp>
        <p:nvSpPr>
          <p:cNvPr id="3" name="副標題 2">
            <a:extLst>
              <a:ext uri="{FF2B5EF4-FFF2-40B4-BE49-F238E27FC236}">
                <a16:creationId xmlns="" xmlns:a16="http://schemas.microsoft.com/office/drawing/2014/main" id="{7DA53B5D-3737-4D8B-A009-A9D02CAEE169}"/>
              </a:ext>
            </a:extLst>
          </p:cNvPr>
          <p:cNvSpPr>
            <a:spLocks noGrp="1"/>
          </p:cNvSpPr>
          <p:nvPr>
            <p:ph type="subTitle" idx="1"/>
          </p:nvPr>
        </p:nvSpPr>
        <p:spPr>
          <a:xfrm>
            <a:off x="1142999" y="3003984"/>
            <a:ext cx="6858000" cy="425017"/>
          </a:xfrm>
        </p:spPr>
        <p:txBody>
          <a:bodyPr>
            <a:noAutofit/>
          </a:bodyPr>
          <a:lstStyle/>
          <a:p>
            <a:pPr fontAlgn="ctr"/>
            <a:r>
              <a:rPr lang="en-US" altLang="zh-TW" sz="2000" dirty="0" smtClean="0">
                <a:solidFill>
                  <a:schemeClr val="tx1"/>
                </a:solidFill>
                <a:latin typeface="Times New Roman" pitchFamily="18" charset="0"/>
                <a:cs typeface="Times New Roman" pitchFamily="18" charset="0"/>
              </a:rPr>
              <a:t>Guillaume </a:t>
            </a:r>
            <a:r>
              <a:rPr lang="en-US" altLang="zh-TW" sz="2000" dirty="0" err="1" smtClean="0">
                <a:solidFill>
                  <a:schemeClr val="tx1"/>
                </a:solidFill>
                <a:latin typeface="Times New Roman" pitchFamily="18" charset="0"/>
                <a:cs typeface="Times New Roman" pitchFamily="18" charset="0"/>
              </a:rPr>
              <a:t>MarcËais</a:t>
            </a:r>
            <a:r>
              <a:rPr lang="en-US" altLang="zh-TW" sz="2000" dirty="0" smtClean="0">
                <a:solidFill>
                  <a:schemeClr val="tx1"/>
                </a:solidFill>
                <a:latin typeface="Times New Roman" pitchFamily="18" charset="0"/>
                <a:cs typeface="Times New Roman" pitchFamily="18" charset="0"/>
              </a:rPr>
              <a:t>, </a:t>
            </a:r>
            <a:r>
              <a:rPr lang="en-US" altLang="zh-TW" sz="2000" dirty="0" smtClean="0">
                <a:solidFill>
                  <a:schemeClr val="tx1"/>
                </a:solidFill>
                <a:latin typeface="Times New Roman" pitchFamily="18" charset="0"/>
                <a:cs typeface="Times New Roman" pitchFamily="18" charset="0"/>
              </a:rPr>
              <a:t>Arthur L. </a:t>
            </a:r>
            <a:r>
              <a:rPr lang="en-US" altLang="zh-TW" sz="2000" dirty="0" err="1" smtClean="0">
                <a:solidFill>
                  <a:schemeClr val="tx1"/>
                </a:solidFill>
                <a:latin typeface="Times New Roman" pitchFamily="18" charset="0"/>
                <a:cs typeface="Times New Roman" pitchFamily="18" charset="0"/>
              </a:rPr>
              <a:t>Delcher</a:t>
            </a:r>
            <a:r>
              <a:rPr lang="en-US" altLang="zh-TW" sz="2000" dirty="0" smtClean="0">
                <a:solidFill>
                  <a:schemeClr val="tx1"/>
                </a:solidFill>
                <a:latin typeface="Times New Roman" pitchFamily="18" charset="0"/>
                <a:cs typeface="Times New Roman" pitchFamily="18" charset="0"/>
              </a:rPr>
              <a:t>, </a:t>
            </a:r>
            <a:r>
              <a:rPr lang="en-US" altLang="zh-TW" sz="2000" dirty="0" smtClean="0">
                <a:solidFill>
                  <a:schemeClr val="tx1"/>
                </a:solidFill>
                <a:latin typeface="Times New Roman" pitchFamily="18" charset="0"/>
                <a:cs typeface="Times New Roman" pitchFamily="18" charset="0"/>
              </a:rPr>
              <a:t>Adam M. </a:t>
            </a:r>
            <a:r>
              <a:rPr lang="en-US" altLang="zh-TW" sz="2000" dirty="0" err="1" smtClean="0">
                <a:solidFill>
                  <a:schemeClr val="tx1"/>
                </a:solidFill>
                <a:latin typeface="Times New Roman" pitchFamily="18" charset="0"/>
                <a:cs typeface="Times New Roman" pitchFamily="18" charset="0"/>
              </a:rPr>
              <a:t>Phillippy</a:t>
            </a:r>
            <a:r>
              <a:rPr lang="en-US" altLang="zh-TW" sz="2000" dirty="0" smtClean="0">
                <a:solidFill>
                  <a:schemeClr val="tx1"/>
                </a:solidFill>
                <a:latin typeface="Times New Roman" pitchFamily="18" charset="0"/>
                <a:cs typeface="Times New Roman" pitchFamily="18" charset="0"/>
              </a:rPr>
              <a:t>, </a:t>
            </a:r>
            <a:r>
              <a:rPr lang="en-US" altLang="zh-TW" sz="2000" dirty="0" smtClean="0">
                <a:solidFill>
                  <a:schemeClr val="tx1"/>
                </a:solidFill>
                <a:latin typeface="Times New Roman" pitchFamily="18" charset="0"/>
                <a:cs typeface="Times New Roman" pitchFamily="18" charset="0"/>
              </a:rPr>
              <a:t>Rachel </a:t>
            </a:r>
            <a:r>
              <a:rPr lang="en-US" altLang="zh-TW" sz="2000" dirty="0" err="1" smtClean="0">
                <a:solidFill>
                  <a:schemeClr val="tx1"/>
                </a:solidFill>
                <a:latin typeface="Times New Roman" pitchFamily="18" charset="0"/>
                <a:cs typeface="Times New Roman" pitchFamily="18" charset="0"/>
              </a:rPr>
              <a:t>Coston</a:t>
            </a:r>
            <a:r>
              <a:rPr lang="en-US" altLang="zh-TW" sz="2000" dirty="0" smtClean="0">
                <a:solidFill>
                  <a:schemeClr val="tx1"/>
                </a:solidFill>
                <a:latin typeface="Times New Roman" pitchFamily="18" charset="0"/>
                <a:cs typeface="Times New Roman" pitchFamily="18" charset="0"/>
              </a:rPr>
              <a:t>, Steven L</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Salzberg</a:t>
            </a:r>
            <a:r>
              <a:rPr lang="en-US" altLang="zh-TW" sz="2000" dirty="0" smtClean="0">
                <a:solidFill>
                  <a:schemeClr val="tx1"/>
                </a:solidFill>
                <a:latin typeface="Times New Roman" pitchFamily="18" charset="0"/>
                <a:cs typeface="Times New Roman" pitchFamily="18" charset="0"/>
              </a:rPr>
              <a:t>, </a:t>
            </a:r>
            <a:r>
              <a:rPr lang="en-US" altLang="zh-TW" sz="2000" dirty="0" smtClean="0">
                <a:solidFill>
                  <a:schemeClr val="tx1"/>
                </a:solidFill>
                <a:latin typeface="Times New Roman" pitchFamily="18" charset="0"/>
                <a:cs typeface="Times New Roman" pitchFamily="18" charset="0"/>
              </a:rPr>
              <a:t>Aleksey </a:t>
            </a:r>
            <a:r>
              <a:rPr lang="en-US" altLang="zh-TW" sz="2000" dirty="0" err="1" smtClean="0">
                <a:solidFill>
                  <a:schemeClr val="tx1"/>
                </a:solidFill>
                <a:latin typeface="Times New Roman" pitchFamily="18" charset="0"/>
                <a:cs typeface="Times New Roman" pitchFamily="18" charset="0"/>
              </a:rPr>
              <a:t>Zimin</a:t>
            </a:r>
            <a:endParaRPr lang="en-US" altLang="zh-TW" dirty="0"/>
          </a:p>
        </p:txBody>
      </p:sp>
      <p:sp>
        <p:nvSpPr>
          <p:cNvPr id="8" name="文字方塊 7">
            <a:extLst>
              <a:ext uri="{FF2B5EF4-FFF2-40B4-BE49-F238E27FC236}">
                <a16:creationId xmlns="" xmlns:a16="http://schemas.microsoft.com/office/drawing/2014/main" id="{8F2527E8-BB8F-41FB-8AF1-03DCC96BC069}"/>
              </a:ext>
            </a:extLst>
          </p:cNvPr>
          <p:cNvSpPr txBox="1"/>
          <p:nvPr/>
        </p:nvSpPr>
        <p:spPr>
          <a:xfrm>
            <a:off x="2411760" y="4293096"/>
            <a:ext cx="3973395" cy="1169551"/>
          </a:xfrm>
          <a:prstGeom prst="rect">
            <a:avLst/>
          </a:prstGeom>
          <a:noFill/>
        </p:spPr>
        <p:txBody>
          <a:bodyPr wrap="none" rtlCol="0">
            <a:spAutoFit/>
          </a:bodyPr>
          <a:lstStyle/>
          <a:p>
            <a:pPr algn="ctr"/>
            <a:r>
              <a:rPr lang="en-US" altLang="zh-TW" sz="2400" dirty="0" err="1" smtClean="0">
                <a:latin typeface="Times New Roman" pitchFamily="18" charset="0"/>
                <a:cs typeface="Times New Roman" pitchFamily="18" charset="0"/>
              </a:rPr>
              <a:t>PLoS</a:t>
            </a:r>
            <a:r>
              <a:rPr lang="en-US" altLang="zh-TW" sz="2400" dirty="0" smtClean="0">
                <a:latin typeface="Times New Roman" pitchFamily="18" charset="0"/>
                <a:cs typeface="Times New Roman" pitchFamily="18" charset="0"/>
              </a:rPr>
              <a:t> Computational Biology, </a:t>
            </a:r>
            <a:endParaRPr lang="en-US" altLang="zh-TW" sz="2400" dirty="0" smtClean="0">
              <a:latin typeface="Times New Roman" pitchFamily="18" charset="0"/>
              <a:cs typeface="Times New Roman" pitchFamily="18" charset="0"/>
            </a:endParaRPr>
          </a:p>
          <a:p>
            <a:pPr algn="ctr"/>
            <a:r>
              <a:rPr lang="en-US" altLang="zh-TW" sz="2400" dirty="0" smtClean="0">
                <a:latin typeface="Times New Roman" pitchFamily="18" charset="0"/>
                <a:cs typeface="Times New Roman" pitchFamily="18" charset="0"/>
              </a:rPr>
              <a:t>26 January 2018</a:t>
            </a:r>
            <a:endParaRPr lang="en-US" sz="2400" dirty="0" smtClean="0">
              <a:latin typeface="Times New Roman" pitchFamily="18" charset="0"/>
              <a:cs typeface="Times New Roman" pitchFamily="18" charset="0"/>
            </a:endParaRPr>
          </a:p>
          <a:p>
            <a:pPr algn="ctr"/>
            <a:r>
              <a:rPr lang="en-US" altLang="zh-TW" sz="2200" dirty="0" smtClean="0">
                <a:latin typeface="Times New Roman" pitchFamily="18" charset="0"/>
                <a:cs typeface="Times New Roman" pitchFamily="18" charset="0"/>
              </a:rPr>
              <a:t>(open access)</a:t>
            </a:r>
            <a:endParaRPr lang="en-US" altLang="zh-TW" sz="2200" dirty="0">
              <a:latin typeface="Times New Roman" pitchFamily="18" charset="0"/>
              <a:cs typeface="Times New Roman" pitchFamily="18" charset="0"/>
            </a:endParaRPr>
          </a:p>
        </p:txBody>
      </p:sp>
      <p:sp>
        <p:nvSpPr>
          <p:cNvPr id="9" name="文字方塊 8">
            <a:extLst>
              <a:ext uri="{FF2B5EF4-FFF2-40B4-BE49-F238E27FC236}">
                <a16:creationId xmlns=""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 xmlns:a16="http://schemas.microsoft.com/office/drawing/2014/main" id="{52A0654C-2F84-4026-9FCF-04C8DF590D5F}"/>
              </a:ext>
            </a:extLst>
          </p:cNvPr>
          <p:cNvSpPr txBox="1"/>
          <p:nvPr/>
        </p:nvSpPr>
        <p:spPr>
          <a:xfrm>
            <a:off x="5652120" y="5824855"/>
            <a:ext cx="2619628"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a:t>
            </a:r>
            <a:r>
              <a:rPr lang="en-US" altLang="zh-TW" dirty="0" smtClean="0"/>
              <a:t>Feb. 23, 2021</a:t>
            </a:r>
            <a:endParaRPr lang="zh-TW" altLang="en-US" dirty="0"/>
          </a:p>
        </p:txBody>
      </p:sp>
    </p:spTree>
    <p:extLst>
      <p:ext uri="{BB962C8B-B14F-4D97-AF65-F5344CB8AC3E}">
        <p14:creationId xmlns=""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692696"/>
            <a:ext cx="9004993" cy="5347657"/>
          </a:xfrm>
        </p:spPr>
        <p:txBody>
          <a:bodyPr>
            <a:noAutofit/>
          </a:bodyPr>
          <a:lstStyle/>
          <a:p>
            <a:pPr marL="0" indent="0">
              <a:lnSpc>
                <a:spcPts val="3200"/>
              </a:lnSpc>
              <a:buNone/>
            </a:pPr>
            <a:r>
              <a:rPr lang="en-US" altLang="zh-TW" sz="2800" dirty="0" smtClean="0">
                <a:latin typeface="Times New Roman" pitchFamily="18" charset="0"/>
                <a:cs typeface="Times New Roman" pitchFamily="18" charset="0"/>
              </a:rPr>
              <a:t>The </a:t>
            </a:r>
            <a:r>
              <a:rPr lang="en-US" altLang="zh-TW" sz="2800" dirty="0" err="1" smtClean="0">
                <a:latin typeface="Times New Roman" pitchFamily="18" charset="0"/>
                <a:cs typeface="Times New Roman" pitchFamily="18" charset="0"/>
              </a:rPr>
              <a:t>MUMmer</a:t>
            </a:r>
            <a:r>
              <a:rPr lang="en-US" altLang="zh-TW" sz="2800" dirty="0" smtClean="0">
                <a:latin typeface="Times New Roman" pitchFamily="18" charset="0"/>
                <a:cs typeface="Times New Roman" pitchFamily="18" charset="0"/>
              </a:rPr>
              <a:t> system and the genome </a:t>
            </a:r>
            <a:r>
              <a:rPr lang="en-US" altLang="zh-TW" sz="2800" dirty="0" smtClean="0">
                <a:latin typeface="Times New Roman" pitchFamily="18" charset="0"/>
                <a:cs typeface="Times New Roman" pitchFamily="18" charset="0"/>
              </a:rPr>
              <a:t>sequence aligner </a:t>
            </a:r>
            <a:r>
              <a:rPr lang="en-US" altLang="zh-TW" sz="2800" dirty="0" err="1" smtClean="0">
                <a:latin typeface="Times New Roman" pitchFamily="18" charset="0"/>
                <a:cs typeface="Times New Roman" pitchFamily="18" charset="0"/>
              </a:rPr>
              <a:t>nucmer</a:t>
            </a:r>
            <a:r>
              <a:rPr lang="en-US" altLang="zh-TW" sz="2800" dirty="0" smtClean="0">
                <a:latin typeface="Times New Roman" pitchFamily="18" charset="0"/>
                <a:cs typeface="Times New Roman" pitchFamily="18" charset="0"/>
              </a:rPr>
              <a:t> included within it are among the most widely used alignment packages in genomics. Since the last major release of </a:t>
            </a:r>
            <a:r>
              <a:rPr lang="en-US" altLang="zh-TW" sz="2800" dirty="0" err="1" smtClean="0">
                <a:latin typeface="Times New Roman" pitchFamily="18" charset="0"/>
                <a:cs typeface="Times New Roman" pitchFamily="18" charset="0"/>
              </a:rPr>
              <a:t>MUMmer</a:t>
            </a:r>
            <a:r>
              <a:rPr lang="en-US" altLang="zh-TW" sz="2800" dirty="0" smtClean="0">
                <a:latin typeface="Times New Roman" pitchFamily="18" charset="0"/>
                <a:cs typeface="Times New Roman" pitchFamily="18" charset="0"/>
              </a:rPr>
              <a:t> version 3 in 2004, it has been applied to many types of problems including aligning whole </a:t>
            </a:r>
            <a:r>
              <a:rPr lang="en-US" altLang="zh-TW" sz="2800" dirty="0" smtClean="0">
                <a:latin typeface="Times New Roman" pitchFamily="18" charset="0"/>
                <a:cs typeface="Times New Roman" pitchFamily="18" charset="0"/>
              </a:rPr>
              <a:t>genome sequences</a:t>
            </a:r>
            <a:r>
              <a:rPr lang="en-US" altLang="zh-TW" sz="2800" dirty="0" smtClean="0">
                <a:latin typeface="Times New Roman" pitchFamily="18" charset="0"/>
                <a:cs typeface="Times New Roman" pitchFamily="18" charset="0"/>
              </a:rPr>
              <a:t>, aligning reads to a reference genome, and comparing different assemblies of the same genome. Despite its broad utility, MUMmer3 has limitations that can make it difficult to use for large genomes and for the very large sequence data sets that are common today. In this paper we describe MUMmer4, a substantially improved version of </a:t>
            </a:r>
            <a:r>
              <a:rPr lang="en-US" altLang="zh-TW" sz="2800" dirty="0" err="1" smtClean="0">
                <a:latin typeface="Times New Roman" pitchFamily="18" charset="0"/>
                <a:cs typeface="Times New Roman" pitchFamily="18" charset="0"/>
              </a:rPr>
              <a:t>MUMmer</a:t>
            </a:r>
            <a:r>
              <a:rPr lang="en-US" altLang="zh-TW" sz="2800" dirty="0" smtClean="0">
                <a:latin typeface="Times New Roman" pitchFamily="18" charset="0"/>
                <a:cs typeface="Times New Roman" pitchFamily="18" charset="0"/>
              </a:rPr>
              <a:t> that addresses genome size constraints by changing the 32-bit suffix tree data structure at the core of </a:t>
            </a:r>
            <a:r>
              <a:rPr lang="en-US" altLang="zh-TW" sz="2800" dirty="0" err="1" smtClean="0">
                <a:latin typeface="Times New Roman" pitchFamily="18" charset="0"/>
                <a:cs typeface="Times New Roman" pitchFamily="18" charset="0"/>
              </a:rPr>
              <a:t>MUMmer</a:t>
            </a:r>
            <a:r>
              <a:rPr lang="en-US" altLang="zh-TW" sz="2800" dirty="0" smtClean="0">
                <a:latin typeface="Times New Roman" pitchFamily="18" charset="0"/>
                <a:cs typeface="Times New Roman" pitchFamily="18" charset="0"/>
              </a:rPr>
              <a:t> to a 48-bit suffix array, and that offers improved speed through parallel processing of input query sequences.</a:t>
            </a:r>
            <a:endParaRPr lang="fr-FR" altLang="zh-TW" sz="2800" dirty="0">
              <a:latin typeface="Times New Roman" pitchFamily="18" charset="0"/>
              <a:cs typeface="Times New Roman" pitchFamily="18" charset="0"/>
            </a:endParaRPr>
          </a:p>
        </p:txBody>
      </p:sp>
    </p:spTree>
    <p:extLst>
      <p:ext uri="{BB962C8B-B14F-4D97-AF65-F5344CB8AC3E}">
        <p14:creationId xmlns=""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692696"/>
            <a:ext cx="9004993" cy="5246795"/>
          </a:xfrm>
        </p:spPr>
        <p:txBody>
          <a:bodyPr>
            <a:noAutofit/>
          </a:bodyPr>
          <a:lstStyle/>
          <a:p>
            <a:pPr marL="0" indent="0">
              <a:lnSpc>
                <a:spcPts val="3200"/>
              </a:lnSpc>
              <a:buNone/>
            </a:pPr>
            <a:r>
              <a:rPr lang="en-US" altLang="zh-TW" sz="2800" dirty="0" smtClean="0">
                <a:latin typeface="Times New Roman" pitchFamily="18" charset="0"/>
                <a:cs typeface="Times New Roman" pitchFamily="18" charset="0"/>
              </a:rPr>
              <a:t>With a theoretical limit on the input size of 141Tbp, MUMmer4 can now work with input sequences of any biologically realistic length. We show that as a result of these enhancements, the </a:t>
            </a:r>
            <a:r>
              <a:rPr lang="en-US" altLang="zh-TW" sz="2800" dirty="0" err="1" smtClean="0">
                <a:latin typeface="Times New Roman" pitchFamily="18" charset="0"/>
                <a:cs typeface="Times New Roman" pitchFamily="18" charset="0"/>
              </a:rPr>
              <a:t>nucmer</a:t>
            </a:r>
            <a:r>
              <a:rPr lang="en-US" altLang="zh-TW" sz="2800" dirty="0" smtClean="0">
                <a:latin typeface="Times New Roman" pitchFamily="18" charset="0"/>
                <a:cs typeface="Times New Roman" pitchFamily="18" charset="0"/>
              </a:rPr>
              <a:t> program in MUMmer4 is easily able to handle alignments of large genomes; we illustrate this with an alignment of the human and chimpanzee genomes, which allows us to compute that the two species are 98% identical across 96% of their length. With the enhancements described here, MUMmer4 can also be used to efficiently align reads to reference genomes, although it is less sensitive and accurate than the dedicated read aligners. The </a:t>
            </a:r>
            <a:r>
              <a:rPr lang="en-US" altLang="zh-TW" sz="2800" dirty="0" err="1" smtClean="0">
                <a:latin typeface="Times New Roman" pitchFamily="18" charset="0"/>
                <a:cs typeface="Times New Roman" pitchFamily="18" charset="0"/>
              </a:rPr>
              <a:t>nucmer</a:t>
            </a:r>
            <a:r>
              <a:rPr lang="en-US" altLang="zh-TW" sz="2800" dirty="0" smtClean="0">
                <a:latin typeface="Times New Roman" pitchFamily="18" charset="0"/>
                <a:cs typeface="Times New Roman" pitchFamily="18" charset="0"/>
              </a:rPr>
              <a:t> aligner in MUMmer4 can now be called from scripting languages such as Perl, Python and Ruby. These improvements make MUMer4 one the most versatile genome alignment packages available.</a:t>
            </a:r>
            <a:endParaRPr lang="fr-FR" altLang="zh-TW" sz="2800" dirty="0">
              <a:latin typeface="Times New Roman" pitchFamily="18" charset="0"/>
              <a:cs typeface="Times New Roman" pitchFamily="18" charset="0"/>
            </a:endParaRPr>
          </a:p>
        </p:txBody>
      </p:sp>
    </p:spTree>
    <p:extLst>
      <p:ext uri="{BB962C8B-B14F-4D97-AF65-F5344CB8AC3E}">
        <p14:creationId xmlns="" xmlns:p14="http://schemas.microsoft.com/office/powerpoint/2010/main" val="3994483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smtClean="0">
                <a:latin typeface="Times New Roman" pitchFamily="18" charset="0"/>
                <a:cs typeface="Times New Roman" pitchFamily="18" charset="0"/>
              </a:rPr>
              <a:t>Introduction</a:t>
            </a:r>
            <a:r>
              <a:rPr lang="zh-TW" altLang="en-US"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a:t>
            </a:r>
            <a:r>
              <a:rPr lang="zh-TW" altLang="en-US" dirty="0" smtClean="0">
                <a:latin typeface="Times New Roman" pitchFamily="18" charset="0"/>
                <a:cs typeface="Times New Roman" pitchFamily="18" charset="0"/>
              </a:rPr>
              <a:t> </a:t>
            </a:r>
            <a:r>
              <a:rPr lang="en-US" altLang="zh-TW" dirty="0" err="1" smtClean="0">
                <a:latin typeface="Times New Roman" pitchFamily="18" charset="0"/>
                <a:cs typeface="Times New Roman" pitchFamily="18" charset="0"/>
              </a:rPr>
              <a:t>MUMmer</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Data structure</a:t>
            </a:r>
          </a:p>
          <a:p>
            <a:pPr lvl="1"/>
            <a:r>
              <a:rPr lang="en-US" altLang="zh-TW" dirty="0" smtClean="0">
                <a:latin typeface="Times New Roman" pitchFamily="18" charset="0"/>
                <a:cs typeface="Times New Roman" pitchFamily="18" charset="0"/>
              </a:rPr>
              <a:t>Suffix tree and suffix array</a:t>
            </a:r>
          </a:p>
          <a:p>
            <a:pPr lvl="1"/>
            <a:endParaRPr lang="en-US" altLang="zh-TW" dirty="0" smtClean="0">
              <a:latin typeface="Times New Roman" pitchFamily="18" charset="0"/>
              <a:cs typeface="Times New Roman" pitchFamily="18" charset="0"/>
            </a:endParaRPr>
          </a:p>
          <a:p>
            <a:r>
              <a:rPr lang="en-US" altLang="zh-TW" dirty="0" smtClean="0">
                <a:latin typeface="Times New Roman" pitchFamily="18" charset="0"/>
                <a:cs typeface="Times New Roman" pitchFamily="18" charset="0"/>
              </a:rPr>
              <a:t>Goal</a:t>
            </a:r>
          </a:p>
          <a:p>
            <a:pPr lvl="1"/>
            <a:r>
              <a:rPr lang="en-US" altLang="zh-TW" dirty="0" smtClean="0">
                <a:latin typeface="Times New Roman" pitchFamily="18" charset="0"/>
                <a:cs typeface="Times New Roman" pitchFamily="18" charset="0"/>
              </a:rPr>
              <a:t>Computing global sequence alignment</a:t>
            </a:r>
            <a:endParaRPr lang="zh-TW" altLang="en-US"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smtClean="0">
                <a:latin typeface="Times New Roman" pitchFamily="18" charset="0"/>
                <a:cs typeface="Times New Roman" pitchFamily="18" charset="0"/>
              </a:rPr>
              <a:t>Introduction</a:t>
            </a:r>
            <a:r>
              <a:rPr lang="zh-TW" altLang="en-US"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a:t>
            </a:r>
            <a:r>
              <a:rPr lang="zh-TW" altLang="en-US" dirty="0" smtClean="0">
                <a:latin typeface="Times New Roman" pitchFamily="18" charset="0"/>
                <a:cs typeface="Times New Roman" pitchFamily="18" charset="0"/>
              </a:rPr>
              <a:t> </a:t>
            </a:r>
            <a:r>
              <a:rPr lang="en-US" altLang="zh-TW" dirty="0" err="1" smtClean="0">
                <a:latin typeface="Times New Roman" pitchFamily="18" charset="0"/>
                <a:cs typeface="Times New Roman" pitchFamily="18" charset="0"/>
              </a:rPr>
              <a:t>MUMmer</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What we need to find ?</a:t>
            </a:r>
          </a:p>
          <a:p>
            <a:pPr lvl="1"/>
            <a:r>
              <a:rPr lang="en-US" altLang="zh-TW" dirty="0" smtClean="0">
                <a:latin typeface="Times New Roman" pitchFamily="18" charset="0"/>
                <a:cs typeface="Times New Roman" pitchFamily="18" charset="0"/>
              </a:rPr>
              <a:t>Maximal Unique Matches (MUMs)</a:t>
            </a:r>
            <a:endParaRPr lang="en-US" altLang="zh-TW" dirty="0">
              <a:latin typeface="Times New Roman" pitchFamily="18" charset="0"/>
              <a:cs typeface="Times New Roman" pitchFamily="18" charset="0"/>
            </a:endParaRPr>
          </a:p>
          <a:p>
            <a:pPr lvl="1"/>
            <a:r>
              <a:rPr lang="en-US" altLang="zh-TW" dirty="0" smtClean="0">
                <a:latin typeface="Times New Roman" pitchFamily="18" charset="0"/>
                <a:cs typeface="Times New Roman" pitchFamily="18" charset="0"/>
              </a:rPr>
              <a:t>Maximal Exact Matches (MEMs)</a:t>
            </a:r>
          </a:p>
        </p:txBody>
      </p:sp>
      <p:pic>
        <p:nvPicPr>
          <p:cNvPr id="5" name="圖片 4" descr="8.PNG"/>
          <p:cNvPicPr>
            <a:picLocks noChangeAspect="1"/>
          </p:cNvPicPr>
          <p:nvPr/>
        </p:nvPicPr>
        <p:blipFill>
          <a:blip r:embed="rId2" cstate="print"/>
          <a:stretch>
            <a:fillRect/>
          </a:stretch>
        </p:blipFill>
        <p:spPr>
          <a:xfrm>
            <a:off x="0" y="3665552"/>
            <a:ext cx="9144000" cy="285979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smtClean="0">
                <a:latin typeface="Times New Roman" pitchFamily="18" charset="0"/>
                <a:cs typeface="Times New Roman" pitchFamily="18" charset="0"/>
              </a:rPr>
              <a:t>Introduction</a:t>
            </a:r>
            <a:r>
              <a:rPr lang="zh-TW" altLang="en-US"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a:t>
            </a:r>
            <a:r>
              <a:rPr lang="zh-TW" altLang="en-US" dirty="0" smtClean="0">
                <a:latin typeface="Times New Roman" pitchFamily="18" charset="0"/>
                <a:cs typeface="Times New Roman" pitchFamily="18" charset="0"/>
              </a:rPr>
              <a:t> </a:t>
            </a:r>
            <a:r>
              <a:rPr lang="en-US" altLang="zh-TW" dirty="0" err="1" smtClean="0">
                <a:latin typeface="Times New Roman" pitchFamily="18" charset="0"/>
                <a:cs typeface="Times New Roman" pitchFamily="18" charset="0"/>
              </a:rPr>
              <a:t>MUMmer</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How to do ?</a:t>
            </a:r>
          </a:p>
        </p:txBody>
      </p:sp>
      <p:pic>
        <p:nvPicPr>
          <p:cNvPr id="6" name="圖片 5" descr="9.PNG"/>
          <p:cNvPicPr>
            <a:picLocks noChangeAspect="1"/>
          </p:cNvPicPr>
          <p:nvPr/>
        </p:nvPicPr>
        <p:blipFill>
          <a:blip r:embed="rId2" cstate="print"/>
          <a:stretch>
            <a:fillRect/>
          </a:stretch>
        </p:blipFill>
        <p:spPr>
          <a:xfrm>
            <a:off x="0" y="1365849"/>
            <a:ext cx="9144000" cy="549215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smtClean="0">
                <a:latin typeface="Times New Roman" pitchFamily="18" charset="0"/>
                <a:cs typeface="Times New Roman" pitchFamily="18" charset="0"/>
              </a:rPr>
              <a:t>Experiment</a:t>
            </a:r>
            <a:endParaRPr lang="zh-TW" altLang="en-US" dirty="0">
              <a:latin typeface="Times New Roman" pitchFamily="18" charset="0"/>
              <a:cs typeface="Times New Roman" pitchFamily="18" charset="0"/>
            </a:endParaRPr>
          </a:p>
        </p:txBody>
      </p:sp>
      <p:pic>
        <p:nvPicPr>
          <p:cNvPr id="6" name="內容版面配置區 5" descr="1.PNG"/>
          <p:cNvPicPr>
            <a:picLocks noGrp="1" noChangeAspect="1"/>
          </p:cNvPicPr>
          <p:nvPr>
            <p:ph idx="1"/>
          </p:nvPr>
        </p:nvPicPr>
        <p:blipFill>
          <a:blip r:embed="rId2" cstate="print"/>
          <a:stretch>
            <a:fillRect/>
          </a:stretch>
        </p:blipFill>
        <p:spPr>
          <a:xfrm>
            <a:off x="0" y="1772816"/>
            <a:ext cx="9082082" cy="2736304"/>
          </a:xfrm>
        </p:spPr>
      </p:pic>
      <p:pic>
        <p:nvPicPr>
          <p:cNvPr id="7" name="內容版面配置區 4" descr="2.PNG"/>
          <p:cNvPicPr>
            <a:picLocks noChangeAspect="1"/>
          </p:cNvPicPr>
          <p:nvPr/>
        </p:nvPicPr>
        <p:blipFill>
          <a:blip r:embed="rId3" cstate="print"/>
          <a:stretch>
            <a:fillRect/>
          </a:stretch>
        </p:blipFill>
        <p:spPr>
          <a:xfrm>
            <a:off x="-1" y="4725144"/>
            <a:ext cx="9144001" cy="18455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smtClean="0">
                <a:latin typeface="Times New Roman" pitchFamily="18" charset="0"/>
                <a:cs typeface="Times New Roman" pitchFamily="18" charset="0"/>
              </a:rPr>
              <a:t>Experiment – similar data structure</a:t>
            </a:r>
            <a:endParaRPr lang="zh-TW" altLang="en-US" dirty="0">
              <a:latin typeface="Times New Roman" pitchFamily="18" charset="0"/>
              <a:cs typeface="Times New Roman" pitchFamily="18" charset="0"/>
            </a:endParaRPr>
          </a:p>
        </p:txBody>
      </p:sp>
      <p:pic>
        <p:nvPicPr>
          <p:cNvPr id="9" name="內容版面配置區 8" descr="3.PNG"/>
          <p:cNvPicPr>
            <a:picLocks noGrp="1" noChangeAspect="1"/>
          </p:cNvPicPr>
          <p:nvPr>
            <p:ph idx="1"/>
          </p:nvPr>
        </p:nvPicPr>
        <p:blipFill>
          <a:blip r:embed="rId2" cstate="print"/>
          <a:stretch>
            <a:fillRect/>
          </a:stretch>
        </p:blipFill>
        <p:spPr>
          <a:xfrm>
            <a:off x="-1" y="1484784"/>
            <a:ext cx="9172303" cy="4464496"/>
          </a:xfr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smtClean="0">
                <a:latin typeface="Times New Roman" pitchFamily="18" charset="0"/>
                <a:cs typeface="Times New Roman" pitchFamily="18" charset="0"/>
              </a:rPr>
              <a:t>Experiment – many to one</a:t>
            </a:r>
            <a:endParaRPr lang="zh-TW" altLang="en-US" dirty="0">
              <a:latin typeface="Times New Roman" pitchFamily="18" charset="0"/>
              <a:cs typeface="Times New Roman" pitchFamily="18" charset="0"/>
            </a:endParaRPr>
          </a:p>
        </p:txBody>
      </p:sp>
      <p:pic>
        <p:nvPicPr>
          <p:cNvPr id="5" name="內容版面配置區 4" descr="4.PNG"/>
          <p:cNvPicPr>
            <a:picLocks noGrp="1" noChangeAspect="1"/>
          </p:cNvPicPr>
          <p:nvPr>
            <p:ph idx="1"/>
          </p:nvPr>
        </p:nvPicPr>
        <p:blipFill>
          <a:blip r:embed="rId2" cstate="print"/>
          <a:stretch>
            <a:fillRect/>
          </a:stretch>
        </p:blipFill>
        <p:spPr>
          <a:xfrm>
            <a:off x="-36512" y="1988840"/>
            <a:ext cx="9166889" cy="2088232"/>
          </a:xfrm>
        </p:spPr>
      </p:pic>
      <p:pic>
        <p:nvPicPr>
          <p:cNvPr id="6" name="內容版面配置區 5" descr="5.PNG"/>
          <p:cNvPicPr>
            <a:picLocks noChangeAspect="1"/>
          </p:cNvPicPr>
          <p:nvPr/>
        </p:nvPicPr>
        <p:blipFill>
          <a:blip r:embed="rId3" cstate="print"/>
          <a:stretch>
            <a:fillRect/>
          </a:stretch>
        </p:blipFill>
        <p:spPr>
          <a:xfrm>
            <a:off x="-40852" y="4797152"/>
            <a:ext cx="9184852" cy="158417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smtClean="0">
                <a:latin typeface="Times New Roman" pitchFamily="18" charset="0"/>
                <a:cs typeface="Times New Roman" pitchFamily="18" charset="0"/>
              </a:rPr>
              <a:t>Experiment – many to one</a:t>
            </a:r>
            <a:endParaRPr lang="zh-TW" altLang="en-US" dirty="0">
              <a:latin typeface="Times New Roman" pitchFamily="18" charset="0"/>
              <a:cs typeface="Times New Roman" pitchFamily="18" charset="0"/>
            </a:endParaRPr>
          </a:p>
        </p:txBody>
      </p:sp>
      <p:pic>
        <p:nvPicPr>
          <p:cNvPr id="8" name="內容版面配置區 7" descr="6.PNG"/>
          <p:cNvPicPr>
            <a:picLocks noGrp="1" noChangeAspect="1"/>
          </p:cNvPicPr>
          <p:nvPr>
            <p:ph idx="1"/>
          </p:nvPr>
        </p:nvPicPr>
        <p:blipFill>
          <a:blip r:embed="rId2" cstate="print"/>
          <a:stretch>
            <a:fillRect/>
          </a:stretch>
        </p:blipFill>
        <p:spPr>
          <a:xfrm>
            <a:off x="7176" y="2348880"/>
            <a:ext cx="9136824" cy="2808312"/>
          </a:xfr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smtClean="0">
                <a:latin typeface="Times New Roman" pitchFamily="18" charset="0"/>
                <a:cs typeface="Times New Roman" pitchFamily="18" charset="0"/>
              </a:rPr>
              <a:t>Experiment – multiple thread</a:t>
            </a:r>
            <a:endParaRPr lang="zh-TW" altLang="en-US" dirty="0">
              <a:latin typeface="Times New Roman" pitchFamily="18" charset="0"/>
              <a:cs typeface="Times New Roman" pitchFamily="18" charset="0"/>
            </a:endParaRPr>
          </a:p>
        </p:txBody>
      </p:sp>
      <p:pic>
        <p:nvPicPr>
          <p:cNvPr id="5" name="內容版面配置區 4" descr="7.PNG"/>
          <p:cNvPicPr>
            <a:picLocks noGrp="1" noChangeAspect="1"/>
          </p:cNvPicPr>
          <p:nvPr>
            <p:ph idx="1"/>
          </p:nvPr>
        </p:nvPicPr>
        <p:blipFill>
          <a:blip r:embed="rId2" cstate="print"/>
          <a:stretch>
            <a:fillRect/>
          </a:stretch>
        </p:blipFill>
        <p:spPr>
          <a:xfrm>
            <a:off x="611560" y="1412776"/>
            <a:ext cx="8100392" cy="5150871"/>
          </a:xfr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483</TotalTime>
  <Words>166</Words>
  <Application>Microsoft Office PowerPoint</Application>
  <PresentationFormat>如螢幕大小 (4:3)</PresentationFormat>
  <Paragraphs>31</Paragraphs>
  <Slides>11</Slides>
  <Notes>3</Notes>
  <HiddenSlides>0</HiddenSlides>
  <MMClips>0</MMClips>
  <ScaleCrop>false</ScaleCrop>
  <HeadingPairs>
    <vt:vector size="4" baseType="variant">
      <vt:variant>
        <vt:lpstr>佈景主題</vt:lpstr>
      </vt:variant>
      <vt:variant>
        <vt:i4>1</vt:i4>
      </vt:variant>
      <vt:variant>
        <vt:lpstr>投影片標題</vt:lpstr>
      </vt:variant>
      <vt:variant>
        <vt:i4>11</vt:i4>
      </vt:variant>
    </vt:vector>
  </HeadingPairs>
  <TitlesOfParts>
    <vt:vector size="12" baseType="lpstr">
      <vt:lpstr>Office 佈景主題</vt:lpstr>
      <vt:lpstr>MUMmer4: A fast and versatile genome alignment system</vt:lpstr>
      <vt:lpstr>Abstract(1/2)</vt:lpstr>
      <vt:lpstr>Abstract(2/2)</vt:lpstr>
      <vt:lpstr>Introduction - MUMmer</vt:lpstr>
      <vt:lpstr>Introduction - MUMmer</vt:lpstr>
      <vt:lpstr>Introduction - MUMmer</vt:lpstr>
      <vt:lpstr>Experiment</vt:lpstr>
      <vt:lpstr>Experiment – similar data structure</vt:lpstr>
      <vt:lpstr>Experiment – many to one</vt:lpstr>
      <vt:lpstr>Experiment – many to one</vt:lpstr>
      <vt:lpstr>Experiment – multiple thread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阿修</cp:lastModifiedBy>
  <cp:revision>57</cp:revision>
  <dcterms:created xsi:type="dcterms:W3CDTF">2019-09-15T07:43:36Z</dcterms:created>
  <dcterms:modified xsi:type="dcterms:W3CDTF">2021-02-18T16:12:06Z</dcterms:modified>
</cp:coreProperties>
</file>