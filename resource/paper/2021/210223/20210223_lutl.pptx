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ctr" defTabSz="825500" rtl="0" fontAlgn="auto" latinLnBrk="0" hangingPunct="0">
      <a:lnSpc>
        <a:spcPct val="100000"/>
      </a:lnSpc>
      <a:spcBef>
        <a:spcPts val="0"/>
      </a:spcBef>
      <a:spcAft>
        <a:spcPts val="0"/>
      </a:spcAft>
      <a:buClrTx/>
      <a:buSzTx/>
      <a:buFontTx/>
      <a:buNone/>
      <a:tabLst/>
      <a:defRPr b="1" baseline="0" cap="none" i="0" spc="0" strike="noStrike" sz="3000" u="none" kumimoji="0" normalizeH="0">
        <a:ln>
          <a:noFill/>
        </a:ln>
        <a:solidFill>
          <a:srgbClr val="000000"/>
        </a:solidFill>
        <a:effectLst/>
        <a:uFillTx/>
        <a:latin typeface="Helvetica Neue"/>
        <a:ea typeface="Helvetica Neue"/>
        <a:cs typeface="Helvetica Neue"/>
        <a:sym typeface="Helvetica Neue"/>
      </a:defRPr>
    </a:lvl1pPr>
    <a:lvl2pPr marL="0" marR="0" indent="457200" algn="ctr" defTabSz="825500" rtl="0" fontAlgn="auto" latinLnBrk="0" hangingPunct="0">
      <a:lnSpc>
        <a:spcPct val="100000"/>
      </a:lnSpc>
      <a:spcBef>
        <a:spcPts val="0"/>
      </a:spcBef>
      <a:spcAft>
        <a:spcPts val="0"/>
      </a:spcAft>
      <a:buClrTx/>
      <a:buSzTx/>
      <a:buFontTx/>
      <a:buNone/>
      <a:tabLst/>
      <a:defRPr b="1" baseline="0" cap="none" i="0" spc="0" strike="noStrike" sz="3000" u="none" kumimoji="0" normalizeH="0">
        <a:ln>
          <a:noFill/>
        </a:ln>
        <a:solidFill>
          <a:srgbClr val="000000"/>
        </a:solidFill>
        <a:effectLst/>
        <a:uFillTx/>
        <a:latin typeface="Helvetica Neue"/>
        <a:ea typeface="Helvetica Neue"/>
        <a:cs typeface="Helvetica Neue"/>
        <a:sym typeface="Helvetica Neue"/>
      </a:defRPr>
    </a:lvl2pPr>
    <a:lvl3pPr marL="0" marR="0" indent="914400" algn="ctr" defTabSz="825500" rtl="0" fontAlgn="auto" latinLnBrk="0" hangingPunct="0">
      <a:lnSpc>
        <a:spcPct val="100000"/>
      </a:lnSpc>
      <a:spcBef>
        <a:spcPts val="0"/>
      </a:spcBef>
      <a:spcAft>
        <a:spcPts val="0"/>
      </a:spcAft>
      <a:buClrTx/>
      <a:buSzTx/>
      <a:buFontTx/>
      <a:buNone/>
      <a:tabLst/>
      <a:defRPr b="1" baseline="0" cap="none" i="0" spc="0" strike="noStrike" sz="3000" u="none" kumimoji="0" normalizeH="0">
        <a:ln>
          <a:noFill/>
        </a:ln>
        <a:solidFill>
          <a:srgbClr val="000000"/>
        </a:solidFill>
        <a:effectLst/>
        <a:uFillTx/>
        <a:latin typeface="Helvetica Neue"/>
        <a:ea typeface="Helvetica Neue"/>
        <a:cs typeface="Helvetica Neue"/>
        <a:sym typeface="Helvetica Neue"/>
      </a:defRPr>
    </a:lvl3pPr>
    <a:lvl4pPr marL="0" marR="0" indent="1371600" algn="ctr" defTabSz="825500" rtl="0" fontAlgn="auto" latinLnBrk="0" hangingPunct="0">
      <a:lnSpc>
        <a:spcPct val="100000"/>
      </a:lnSpc>
      <a:spcBef>
        <a:spcPts val="0"/>
      </a:spcBef>
      <a:spcAft>
        <a:spcPts val="0"/>
      </a:spcAft>
      <a:buClrTx/>
      <a:buSzTx/>
      <a:buFontTx/>
      <a:buNone/>
      <a:tabLst/>
      <a:defRPr b="1" baseline="0" cap="none" i="0" spc="0" strike="noStrike" sz="3000" u="none" kumimoji="0" normalizeH="0">
        <a:ln>
          <a:noFill/>
        </a:ln>
        <a:solidFill>
          <a:srgbClr val="000000"/>
        </a:solidFill>
        <a:effectLst/>
        <a:uFillTx/>
        <a:latin typeface="Helvetica Neue"/>
        <a:ea typeface="Helvetica Neue"/>
        <a:cs typeface="Helvetica Neue"/>
        <a:sym typeface="Helvetica Neue"/>
      </a:defRPr>
    </a:lvl4pPr>
    <a:lvl5pPr marL="0" marR="0" indent="1828800" algn="ctr" defTabSz="825500" rtl="0" fontAlgn="auto" latinLnBrk="0" hangingPunct="0">
      <a:lnSpc>
        <a:spcPct val="100000"/>
      </a:lnSpc>
      <a:spcBef>
        <a:spcPts val="0"/>
      </a:spcBef>
      <a:spcAft>
        <a:spcPts val="0"/>
      </a:spcAft>
      <a:buClrTx/>
      <a:buSzTx/>
      <a:buFontTx/>
      <a:buNone/>
      <a:tabLst/>
      <a:defRPr b="1" baseline="0" cap="none" i="0" spc="0" strike="noStrike" sz="3000" u="none" kumimoji="0" normalizeH="0">
        <a:ln>
          <a:noFill/>
        </a:ln>
        <a:solidFill>
          <a:srgbClr val="000000"/>
        </a:solidFill>
        <a:effectLst/>
        <a:uFillTx/>
        <a:latin typeface="Helvetica Neue"/>
        <a:ea typeface="Helvetica Neue"/>
        <a:cs typeface="Helvetica Neue"/>
        <a:sym typeface="Helvetica Neue"/>
      </a:defRPr>
    </a:lvl5pPr>
    <a:lvl6pPr marL="0" marR="0" indent="2286000" algn="ctr" defTabSz="825500" rtl="0" fontAlgn="auto" latinLnBrk="0" hangingPunct="0">
      <a:lnSpc>
        <a:spcPct val="100000"/>
      </a:lnSpc>
      <a:spcBef>
        <a:spcPts val="0"/>
      </a:spcBef>
      <a:spcAft>
        <a:spcPts val="0"/>
      </a:spcAft>
      <a:buClrTx/>
      <a:buSzTx/>
      <a:buFontTx/>
      <a:buNone/>
      <a:tabLst/>
      <a:defRPr b="1" baseline="0" cap="none" i="0" spc="0" strike="noStrike" sz="3000" u="none" kumimoji="0" normalizeH="0">
        <a:ln>
          <a:noFill/>
        </a:ln>
        <a:solidFill>
          <a:srgbClr val="000000"/>
        </a:solidFill>
        <a:effectLst/>
        <a:uFillTx/>
        <a:latin typeface="Helvetica Neue"/>
        <a:ea typeface="Helvetica Neue"/>
        <a:cs typeface="Helvetica Neue"/>
        <a:sym typeface="Helvetica Neue"/>
      </a:defRPr>
    </a:lvl6pPr>
    <a:lvl7pPr marL="0" marR="0" indent="2743200" algn="ctr" defTabSz="825500" rtl="0" fontAlgn="auto" latinLnBrk="0" hangingPunct="0">
      <a:lnSpc>
        <a:spcPct val="100000"/>
      </a:lnSpc>
      <a:spcBef>
        <a:spcPts val="0"/>
      </a:spcBef>
      <a:spcAft>
        <a:spcPts val="0"/>
      </a:spcAft>
      <a:buClrTx/>
      <a:buSzTx/>
      <a:buFontTx/>
      <a:buNone/>
      <a:tabLst/>
      <a:defRPr b="1" baseline="0" cap="none" i="0" spc="0" strike="noStrike" sz="3000" u="none" kumimoji="0" normalizeH="0">
        <a:ln>
          <a:noFill/>
        </a:ln>
        <a:solidFill>
          <a:srgbClr val="000000"/>
        </a:solidFill>
        <a:effectLst/>
        <a:uFillTx/>
        <a:latin typeface="Helvetica Neue"/>
        <a:ea typeface="Helvetica Neue"/>
        <a:cs typeface="Helvetica Neue"/>
        <a:sym typeface="Helvetica Neue"/>
      </a:defRPr>
    </a:lvl7pPr>
    <a:lvl8pPr marL="0" marR="0" indent="3200400" algn="ctr" defTabSz="825500" rtl="0" fontAlgn="auto" latinLnBrk="0" hangingPunct="0">
      <a:lnSpc>
        <a:spcPct val="100000"/>
      </a:lnSpc>
      <a:spcBef>
        <a:spcPts val="0"/>
      </a:spcBef>
      <a:spcAft>
        <a:spcPts val="0"/>
      </a:spcAft>
      <a:buClrTx/>
      <a:buSzTx/>
      <a:buFontTx/>
      <a:buNone/>
      <a:tabLst/>
      <a:defRPr b="1" baseline="0" cap="none" i="0" spc="0" strike="noStrike" sz="3000" u="none" kumimoji="0" normalizeH="0">
        <a:ln>
          <a:noFill/>
        </a:ln>
        <a:solidFill>
          <a:srgbClr val="000000"/>
        </a:solidFill>
        <a:effectLst/>
        <a:uFillTx/>
        <a:latin typeface="Helvetica Neue"/>
        <a:ea typeface="Helvetica Neue"/>
        <a:cs typeface="Helvetica Neue"/>
        <a:sym typeface="Helvetica Neue"/>
      </a:defRPr>
    </a:lvl8pPr>
    <a:lvl9pPr marL="0" marR="0" indent="3657600" algn="ctr" defTabSz="825500" rtl="0" fontAlgn="auto" latinLnBrk="0" hangingPunct="0">
      <a:lnSpc>
        <a:spcPct val="100000"/>
      </a:lnSpc>
      <a:spcBef>
        <a:spcPts val="0"/>
      </a:spcBef>
      <a:spcAft>
        <a:spcPts val="0"/>
      </a:spcAft>
      <a:buClrTx/>
      <a:buSzTx/>
      <a:buFontTx/>
      <a:buNone/>
      <a:tabLst/>
      <a:defRPr b="1" baseline="0" cap="none" i="0" spc="0" strike="noStrike" sz="3000" u="none" kumimoji="0" normalizeH="0">
        <a:ln>
          <a:noFill/>
        </a:ln>
        <a:solidFill>
          <a:srgbClr val="000000"/>
        </a:solidFill>
        <a:effectLst/>
        <a:uFillTx/>
        <a:latin typeface="Helvetica Neue"/>
        <a:ea typeface="Helvetica Neue"/>
        <a:cs typeface="Helvetica Neue"/>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b="def" i="def"/>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5"/>
            </a:schemeClr>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b="def" i="def"/>
      <a:tcStyle>
        <a:tcBdr/>
        <a:fill>
          <a:solidFill>
            <a:srgbClr val="E1E0DA"/>
          </a:solidFill>
        </a:fill>
      </a:tcStyle>
    </a:band2H>
    <a:firstCol>
      <a:tcTxStyle b="off" i="off">
        <a:font>
          <a:latin typeface="Helvetica Neue Medium"/>
          <a:ea typeface="Helvetica Neue Medium"/>
          <a:cs typeface="Helvetica Neue Medium"/>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3">
              <a:hueOff val="362282"/>
              <a:satOff val="31803"/>
              <a:lumOff val="-18242"/>
            </a:schemeClr>
          </a:solidFill>
        </a:fill>
      </a:tcStyle>
    </a:firstCol>
    <a:lastRow>
      <a:tcTxStyle b="off" i="off">
        <a:font>
          <a:latin typeface="Helvetica Neue"/>
          <a:ea typeface="Helvetica Neue"/>
          <a:cs typeface="Helvetica Neue"/>
        </a:font>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b="off" i="off">
        <a:font>
          <a:latin typeface="Helvetica Neue Medium"/>
          <a:ea typeface="Helvetica Neue Medium"/>
          <a:cs typeface="Helvetica Neue Medium"/>
        </a:font>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Helvetica Neue Light"/>
          <a:ea typeface="Helvetica Neue Light"/>
          <a:cs typeface="Helvetica Neue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b="def" i="def"/>
      <a:tcStyle>
        <a:tcBdr/>
        <a:fill>
          <a:solidFill>
            <a:srgbClr val="EDEADD"/>
          </a:solidFill>
        </a:fill>
      </a:tcStyle>
    </a:band2H>
    <a:firstCol>
      <a:tcTxStyle b="off" i="off">
        <a:font>
          <a:latin typeface="Helvetica Neue Medium"/>
          <a:ea typeface="Helvetica Neue Medium"/>
          <a:cs typeface="Helvetica Neue Medium"/>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b="off" i="off">
        <a:font>
          <a:latin typeface="Helvetica Neue Medium"/>
          <a:ea typeface="Helvetica Neue Medium"/>
          <a:cs typeface="Helvetica Neue Medium"/>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b="off" i="off">
        <a:font>
          <a:latin typeface="Helvetica Neue Medium"/>
          <a:ea typeface="Helvetica Neue Medium"/>
          <a:cs typeface="Helvetica Neue Medium"/>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b="def" i="def"/>
      <a:tcStyle>
        <a:tcBdr/>
        <a:fill>
          <a:solidFill>
            <a:srgbClr val="DADBDA"/>
          </a:solidFill>
        </a:fill>
      </a:tcStyle>
    </a:band2H>
    <a:firstCol>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b="def" i="def"/>
      <a:tcStyle>
        <a:tcBdr/>
        <a:fill>
          <a:solidFill>
            <a:srgbClr val="9A9AA5"/>
          </a:solidFill>
        </a:fill>
      </a:tcStyle>
    </a:band2H>
    <a:firstCol>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b="def" i="def"/>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16" name="Shape 116"/>
          <p:cNvSpPr/>
          <p:nvPr>
            <p:ph type="sldImg"/>
          </p:nvPr>
        </p:nvSpPr>
        <p:spPr>
          <a:xfrm>
            <a:off x="1143000" y="685800"/>
            <a:ext cx="4572000" cy="3429000"/>
          </a:xfrm>
          <a:prstGeom prst="rect">
            <a:avLst/>
          </a:prstGeom>
        </p:spPr>
        <p:txBody>
          <a:bodyPr/>
          <a:lstStyle/>
          <a:p>
            <a:pPr/>
          </a:p>
        </p:txBody>
      </p:sp>
      <p:sp>
        <p:nvSpPr>
          <p:cNvPr id="117" name="Shape 117"/>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大標題與副標題">
    <p:spTree>
      <p:nvGrpSpPr>
        <p:cNvPr id="1" name=""/>
        <p:cNvGrpSpPr/>
        <p:nvPr/>
      </p:nvGrpSpPr>
      <p:grpSpPr>
        <a:xfrm>
          <a:off x="0" y="0"/>
          <a:ext cx="0" cy="0"/>
          <a:chOff x="0" y="0"/>
          <a:chExt cx="0" cy="0"/>
        </a:xfrm>
      </p:grpSpPr>
      <p:sp>
        <p:nvSpPr>
          <p:cNvPr id="11" name="大標題文字"/>
          <p:cNvSpPr txBox="1"/>
          <p:nvPr>
            <p:ph type="title"/>
          </p:nvPr>
        </p:nvSpPr>
        <p:spPr>
          <a:xfrm>
            <a:off x="1778000" y="2298700"/>
            <a:ext cx="20828000" cy="4648200"/>
          </a:xfrm>
          <a:prstGeom prst="rect">
            <a:avLst/>
          </a:prstGeom>
        </p:spPr>
        <p:txBody>
          <a:bodyPr anchor="b"/>
          <a:lstStyle/>
          <a:p>
            <a:pPr/>
            <a:r>
              <a:t>大標題文字</a:t>
            </a:r>
          </a:p>
        </p:txBody>
      </p:sp>
      <p:sp>
        <p:nvSpPr>
          <p:cNvPr id="12" name="內文層級一…"/>
          <p:cNvSpPr txBox="1"/>
          <p:nvPr>
            <p:ph type="body" sz="quarter" idx="1"/>
          </p:nvPr>
        </p:nvSpPr>
        <p:spPr>
          <a:xfrm>
            <a:off x="1778000" y="7073900"/>
            <a:ext cx="20828000" cy="1587500"/>
          </a:xfrm>
          <a:prstGeom prst="rect">
            <a:avLst/>
          </a:prstGeom>
        </p:spPr>
        <p:txBody>
          <a:bodyPr anchor="t"/>
          <a:lstStyle>
            <a:lvl1pPr marL="0" indent="0" algn="ctr">
              <a:spcBef>
                <a:spcPts val="0"/>
              </a:spcBef>
              <a:buSzTx/>
              <a:buNone/>
              <a:defRPr sz="5400"/>
            </a:lvl1pPr>
            <a:lvl2pPr marL="0" indent="0" algn="ctr">
              <a:spcBef>
                <a:spcPts val="0"/>
              </a:spcBef>
              <a:buSzTx/>
              <a:buNone/>
              <a:defRPr sz="5400"/>
            </a:lvl2pPr>
            <a:lvl3pPr marL="0" indent="0" algn="ctr">
              <a:spcBef>
                <a:spcPts val="0"/>
              </a:spcBef>
              <a:buSzTx/>
              <a:buNone/>
              <a:defRPr sz="5400"/>
            </a:lvl3pPr>
            <a:lvl4pPr marL="0" indent="0" algn="ctr">
              <a:spcBef>
                <a:spcPts val="0"/>
              </a:spcBef>
              <a:buSzTx/>
              <a:buNone/>
              <a:defRPr sz="5400"/>
            </a:lvl4pPr>
            <a:lvl5pPr marL="0" indent="0" algn="ctr">
              <a:spcBef>
                <a:spcPts val="0"/>
              </a:spcBef>
              <a:buSzTx/>
              <a:buNone/>
              <a:defRPr sz="5400"/>
            </a:lvl5pPr>
          </a:lstStyle>
          <a:p>
            <a:pPr/>
            <a:r>
              <a:t>內文層級一</a:t>
            </a:r>
          </a:p>
          <a:p>
            <a:pPr lvl="1"/>
            <a:r>
              <a:t>內文層級二</a:t>
            </a:r>
          </a:p>
          <a:p>
            <a:pPr lvl="2"/>
            <a:r>
              <a:t>內文層級三</a:t>
            </a:r>
          </a:p>
          <a:p>
            <a:pPr lvl="3"/>
            <a:r>
              <a:t>內文層級四</a:t>
            </a:r>
          </a:p>
          <a:p>
            <a:pPr lvl="4"/>
            <a:r>
              <a:t>內文層級五</a:t>
            </a:r>
          </a:p>
        </p:txBody>
      </p:sp>
      <p:sp>
        <p:nvSpPr>
          <p:cNvPr id="13" name="幻燈片編號"/>
          <p:cNvSpPr txBox="1"/>
          <p:nvPr>
            <p:ph type="sldNum" sz="quarter" idx="2"/>
          </p:nvPr>
        </p:nvSpPr>
        <p:spPr>
          <a:xfrm>
            <a:off x="11944349" y="12984810"/>
            <a:ext cx="495301" cy="517216"/>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照片 - 水平">
    <p:spTree>
      <p:nvGrpSpPr>
        <p:cNvPr id="1" name=""/>
        <p:cNvGrpSpPr/>
        <p:nvPr/>
      </p:nvGrpSpPr>
      <p:grpSpPr>
        <a:xfrm>
          <a:off x="0" y="0"/>
          <a:ext cx="0" cy="0"/>
          <a:chOff x="0" y="0"/>
          <a:chExt cx="0" cy="0"/>
        </a:xfrm>
      </p:grpSpPr>
      <p:sp>
        <p:nvSpPr>
          <p:cNvPr id="20" name="532241774_2880x1920.jpg"/>
          <p:cNvSpPr/>
          <p:nvPr>
            <p:ph type="pic" idx="21"/>
          </p:nvPr>
        </p:nvSpPr>
        <p:spPr>
          <a:xfrm>
            <a:off x="3125968" y="-393700"/>
            <a:ext cx="18135601" cy="12090400"/>
          </a:xfrm>
          <a:prstGeom prst="rect">
            <a:avLst/>
          </a:prstGeom>
        </p:spPr>
        <p:txBody>
          <a:bodyPr lIns="91439" tIns="45719" rIns="91439" bIns="45719" anchor="t">
            <a:noAutofit/>
          </a:bodyPr>
          <a:lstStyle/>
          <a:p>
            <a:pPr/>
          </a:p>
        </p:txBody>
      </p:sp>
      <p:sp>
        <p:nvSpPr>
          <p:cNvPr id="21" name="大標題文字"/>
          <p:cNvSpPr txBox="1"/>
          <p:nvPr>
            <p:ph type="title"/>
          </p:nvPr>
        </p:nvSpPr>
        <p:spPr>
          <a:xfrm>
            <a:off x="635000" y="9512300"/>
            <a:ext cx="23114000" cy="2006600"/>
          </a:xfrm>
          <a:prstGeom prst="rect">
            <a:avLst/>
          </a:prstGeom>
        </p:spPr>
        <p:txBody>
          <a:bodyPr anchor="b"/>
          <a:lstStyle/>
          <a:p>
            <a:pPr/>
            <a:r>
              <a:t>大標題文字</a:t>
            </a:r>
          </a:p>
        </p:txBody>
      </p:sp>
      <p:sp>
        <p:nvSpPr>
          <p:cNvPr id="22" name="內文層級一…"/>
          <p:cNvSpPr txBox="1"/>
          <p:nvPr>
            <p:ph type="body" sz="quarter" idx="1"/>
          </p:nvPr>
        </p:nvSpPr>
        <p:spPr>
          <a:xfrm>
            <a:off x="635000" y="11442700"/>
            <a:ext cx="23114000" cy="1587500"/>
          </a:xfrm>
          <a:prstGeom prst="rect">
            <a:avLst/>
          </a:prstGeom>
        </p:spPr>
        <p:txBody>
          <a:bodyPr anchor="t"/>
          <a:lstStyle>
            <a:lvl1pPr marL="0" indent="0" algn="ctr">
              <a:spcBef>
                <a:spcPts val="0"/>
              </a:spcBef>
              <a:buSzTx/>
              <a:buNone/>
              <a:defRPr sz="5400"/>
            </a:lvl1pPr>
            <a:lvl2pPr marL="0" indent="0" algn="ctr">
              <a:spcBef>
                <a:spcPts val="0"/>
              </a:spcBef>
              <a:buSzTx/>
              <a:buNone/>
              <a:defRPr sz="5400"/>
            </a:lvl2pPr>
            <a:lvl3pPr marL="0" indent="0" algn="ctr">
              <a:spcBef>
                <a:spcPts val="0"/>
              </a:spcBef>
              <a:buSzTx/>
              <a:buNone/>
              <a:defRPr sz="5400"/>
            </a:lvl3pPr>
            <a:lvl4pPr marL="0" indent="0" algn="ctr">
              <a:spcBef>
                <a:spcPts val="0"/>
              </a:spcBef>
              <a:buSzTx/>
              <a:buNone/>
              <a:defRPr sz="5400"/>
            </a:lvl4pPr>
            <a:lvl5pPr marL="0" indent="0" algn="ctr">
              <a:spcBef>
                <a:spcPts val="0"/>
              </a:spcBef>
              <a:buSzTx/>
              <a:buNone/>
              <a:defRPr sz="5400"/>
            </a:lvl5pPr>
          </a:lstStyle>
          <a:p>
            <a:pPr/>
            <a:r>
              <a:t>內文層級一</a:t>
            </a:r>
          </a:p>
          <a:p>
            <a:pPr lvl="1"/>
            <a:r>
              <a:t>內文層級二</a:t>
            </a:r>
          </a:p>
          <a:p>
            <a:pPr lvl="2"/>
            <a:r>
              <a:t>內文層級三</a:t>
            </a:r>
          </a:p>
          <a:p>
            <a:pPr lvl="3"/>
            <a:r>
              <a:t>內文層級四</a:t>
            </a:r>
          </a:p>
          <a:p>
            <a:pPr lvl="4"/>
            <a:r>
              <a:t>內文層級五</a:t>
            </a:r>
          </a:p>
        </p:txBody>
      </p:sp>
      <p:sp>
        <p:nvSpPr>
          <p:cNvPr id="23" name="幻燈片編號"/>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大標題 - 中央">
    <p:spTree>
      <p:nvGrpSpPr>
        <p:cNvPr id="1" name=""/>
        <p:cNvGrpSpPr/>
        <p:nvPr/>
      </p:nvGrpSpPr>
      <p:grpSpPr>
        <a:xfrm>
          <a:off x="0" y="0"/>
          <a:ext cx="0" cy="0"/>
          <a:chOff x="0" y="0"/>
          <a:chExt cx="0" cy="0"/>
        </a:xfrm>
      </p:grpSpPr>
      <p:sp>
        <p:nvSpPr>
          <p:cNvPr id="30" name="大標題文字"/>
          <p:cNvSpPr txBox="1"/>
          <p:nvPr>
            <p:ph type="title"/>
          </p:nvPr>
        </p:nvSpPr>
        <p:spPr>
          <a:xfrm>
            <a:off x="1778000" y="4533900"/>
            <a:ext cx="20828000" cy="4648200"/>
          </a:xfrm>
          <a:prstGeom prst="rect">
            <a:avLst/>
          </a:prstGeom>
        </p:spPr>
        <p:txBody>
          <a:bodyPr/>
          <a:lstStyle/>
          <a:p>
            <a:pPr/>
            <a:r>
              <a:t>大標題文字</a:t>
            </a:r>
          </a:p>
        </p:txBody>
      </p:sp>
      <p:sp>
        <p:nvSpPr>
          <p:cNvPr id="31" name="幻燈片編號"/>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照片 - 直式">
    <p:spTree>
      <p:nvGrpSpPr>
        <p:cNvPr id="1" name=""/>
        <p:cNvGrpSpPr/>
        <p:nvPr/>
      </p:nvGrpSpPr>
      <p:grpSpPr>
        <a:xfrm>
          <a:off x="0" y="0"/>
          <a:ext cx="0" cy="0"/>
          <a:chOff x="0" y="0"/>
          <a:chExt cx="0" cy="0"/>
        </a:xfrm>
      </p:grpSpPr>
      <p:sp>
        <p:nvSpPr>
          <p:cNvPr id="38" name="532204087_1355x1355.jpg"/>
          <p:cNvSpPr/>
          <p:nvPr>
            <p:ph type="pic" sz="half" idx="21"/>
          </p:nvPr>
        </p:nvSpPr>
        <p:spPr>
          <a:xfrm>
            <a:off x="12827000" y="952500"/>
            <a:ext cx="11468100" cy="11468100"/>
          </a:xfrm>
          <a:prstGeom prst="rect">
            <a:avLst/>
          </a:prstGeom>
        </p:spPr>
        <p:txBody>
          <a:bodyPr lIns="91439" tIns="45719" rIns="91439" bIns="45719" anchor="t">
            <a:noAutofit/>
          </a:bodyPr>
          <a:lstStyle/>
          <a:p>
            <a:pPr/>
          </a:p>
        </p:txBody>
      </p:sp>
      <p:sp>
        <p:nvSpPr>
          <p:cNvPr id="39" name="大標題文字"/>
          <p:cNvSpPr txBox="1"/>
          <p:nvPr>
            <p:ph type="title"/>
          </p:nvPr>
        </p:nvSpPr>
        <p:spPr>
          <a:xfrm>
            <a:off x="1651000" y="952500"/>
            <a:ext cx="10223500" cy="5549900"/>
          </a:xfrm>
          <a:prstGeom prst="rect">
            <a:avLst/>
          </a:prstGeom>
        </p:spPr>
        <p:txBody>
          <a:bodyPr anchor="b"/>
          <a:lstStyle>
            <a:lvl1pPr algn="l">
              <a:defRPr sz="9000"/>
            </a:lvl1pPr>
          </a:lstStyle>
          <a:p>
            <a:pPr/>
            <a:r>
              <a:t>大標題文字</a:t>
            </a:r>
          </a:p>
        </p:txBody>
      </p:sp>
      <p:sp>
        <p:nvSpPr>
          <p:cNvPr id="40" name="內文層級一…"/>
          <p:cNvSpPr txBox="1"/>
          <p:nvPr>
            <p:ph type="body" sz="quarter" idx="1"/>
          </p:nvPr>
        </p:nvSpPr>
        <p:spPr>
          <a:xfrm>
            <a:off x="1651000" y="6527800"/>
            <a:ext cx="10223500" cy="5727700"/>
          </a:xfrm>
          <a:prstGeom prst="rect">
            <a:avLst/>
          </a:prstGeom>
        </p:spPr>
        <p:txBody>
          <a:bodyPr anchor="t"/>
          <a:lstStyle>
            <a:lvl1pPr marL="0" indent="0" algn="ctr">
              <a:spcBef>
                <a:spcPts val="0"/>
              </a:spcBef>
              <a:buSzTx/>
              <a:buNone/>
              <a:defRPr sz="5400"/>
            </a:lvl1pPr>
            <a:lvl2pPr marL="0" indent="0" algn="ctr">
              <a:spcBef>
                <a:spcPts val="0"/>
              </a:spcBef>
              <a:buSzTx/>
              <a:buNone/>
              <a:defRPr sz="5400"/>
            </a:lvl2pPr>
            <a:lvl3pPr marL="0" indent="0" algn="ctr">
              <a:spcBef>
                <a:spcPts val="0"/>
              </a:spcBef>
              <a:buSzTx/>
              <a:buNone/>
              <a:defRPr sz="5400"/>
            </a:lvl3pPr>
            <a:lvl4pPr marL="0" indent="0" algn="ctr">
              <a:spcBef>
                <a:spcPts val="0"/>
              </a:spcBef>
              <a:buSzTx/>
              <a:buNone/>
              <a:defRPr sz="5400"/>
            </a:lvl4pPr>
            <a:lvl5pPr marL="0" indent="0" algn="ctr">
              <a:spcBef>
                <a:spcPts val="0"/>
              </a:spcBef>
              <a:buSzTx/>
              <a:buNone/>
              <a:defRPr sz="5400"/>
            </a:lvl5pPr>
          </a:lstStyle>
          <a:p>
            <a:pPr/>
            <a:r>
              <a:t>內文層級一</a:t>
            </a:r>
          </a:p>
          <a:p>
            <a:pPr lvl="1"/>
            <a:r>
              <a:t>內文層級二</a:t>
            </a:r>
          </a:p>
          <a:p>
            <a:pPr lvl="2"/>
            <a:r>
              <a:t>內文層級三</a:t>
            </a:r>
          </a:p>
          <a:p>
            <a:pPr lvl="3"/>
            <a:r>
              <a:t>內文層級四</a:t>
            </a:r>
          </a:p>
          <a:p>
            <a:pPr lvl="4"/>
            <a:r>
              <a:t>內文層級五</a:t>
            </a:r>
          </a:p>
        </p:txBody>
      </p:sp>
      <p:sp>
        <p:nvSpPr>
          <p:cNvPr id="41" name="幻燈片編號"/>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大標題 - 上方">
    <p:spTree>
      <p:nvGrpSpPr>
        <p:cNvPr id="1" name=""/>
        <p:cNvGrpSpPr/>
        <p:nvPr/>
      </p:nvGrpSpPr>
      <p:grpSpPr>
        <a:xfrm>
          <a:off x="0" y="0"/>
          <a:ext cx="0" cy="0"/>
          <a:chOff x="0" y="0"/>
          <a:chExt cx="0" cy="0"/>
        </a:xfrm>
      </p:grpSpPr>
      <p:sp>
        <p:nvSpPr>
          <p:cNvPr id="48" name="大標題文字"/>
          <p:cNvSpPr txBox="1"/>
          <p:nvPr>
            <p:ph type="title"/>
          </p:nvPr>
        </p:nvSpPr>
        <p:spPr>
          <a:prstGeom prst="rect">
            <a:avLst/>
          </a:prstGeom>
        </p:spPr>
        <p:txBody>
          <a:bodyPr/>
          <a:lstStyle/>
          <a:p>
            <a:pPr/>
            <a:r>
              <a:t>大標題文字</a:t>
            </a:r>
          </a:p>
        </p:txBody>
      </p:sp>
      <p:sp>
        <p:nvSpPr>
          <p:cNvPr id="49" name="幻燈片編號"/>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大標題與項目符號">
    <p:spTree>
      <p:nvGrpSpPr>
        <p:cNvPr id="1" name=""/>
        <p:cNvGrpSpPr/>
        <p:nvPr/>
      </p:nvGrpSpPr>
      <p:grpSpPr>
        <a:xfrm>
          <a:off x="0" y="0"/>
          <a:ext cx="0" cy="0"/>
          <a:chOff x="0" y="0"/>
          <a:chExt cx="0" cy="0"/>
        </a:xfrm>
      </p:grpSpPr>
      <p:sp>
        <p:nvSpPr>
          <p:cNvPr id="56" name="大標題文字"/>
          <p:cNvSpPr txBox="1"/>
          <p:nvPr>
            <p:ph type="title"/>
          </p:nvPr>
        </p:nvSpPr>
        <p:spPr>
          <a:prstGeom prst="rect">
            <a:avLst/>
          </a:prstGeom>
        </p:spPr>
        <p:txBody>
          <a:bodyPr/>
          <a:lstStyle/>
          <a:p>
            <a:pPr/>
            <a:r>
              <a:t>大標題文字</a:t>
            </a:r>
          </a:p>
        </p:txBody>
      </p:sp>
      <p:sp>
        <p:nvSpPr>
          <p:cNvPr id="57" name="內文層級一…"/>
          <p:cNvSpPr txBox="1"/>
          <p:nvPr>
            <p:ph type="body" idx="1"/>
          </p:nvPr>
        </p:nvSpPr>
        <p:spPr>
          <a:prstGeom prst="rect">
            <a:avLst/>
          </a:prstGeom>
        </p:spPr>
        <p:txBody>
          <a:bodyPr/>
          <a:lstStyle>
            <a:lvl1pPr marL="793749" indent="-793749">
              <a:defRPr sz="6000"/>
            </a:lvl1pPr>
            <a:lvl2pPr marL="1428750" indent="-793750">
              <a:defRPr sz="6000"/>
            </a:lvl2pPr>
            <a:lvl3pPr marL="2063750" indent="-793750">
              <a:defRPr sz="6000"/>
            </a:lvl3pPr>
            <a:lvl4pPr marL="2698750" indent="-793750">
              <a:defRPr sz="6000"/>
            </a:lvl4pPr>
            <a:lvl5pPr marL="3333750" indent="-793750">
              <a:defRPr sz="6000"/>
            </a:lvl5pPr>
          </a:lstStyle>
          <a:p>
            <a:pPr/>
            <a:r>
              <a:t>內文層級一</a:t>
            </a:r>
          </a:p>
          <a:p>
            <a:pPr lvl="1"/>
            <a:r>
              <a:t>內文層級二</a:t>
            </a:r>
          </a:p>
          <a:p>
            <a:pPr lvl="2"/>
            <a:r>
              <a:t>內文層級三</a:t>
            </a:r>
          </a:p>
          <a:p>
            <a:pPr lvl="3"/>
            <a:r>
              <a:t>內文層級四</a:t>
            </a:r>
          </a:p>
          <a:p>
            <a:pPr lvl="4"/>
            <a:r>
              <a:t>內文層級五</a:t>
            </a:r>
          </a:p>
        </p:txBody>
      </p:sp>
      <p:sp>
        <p:nvSpPr>
          <p:cNvPr id="58" name="幻燈片編號"/>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大標題、項目符號與照片">
    <p:spTree>
      <p:nvGrpSpPr>
        <p:cNvPr id="1" name=""/>
        <p:cNvGrpSpPr/>
        <p:nvPr/>
      </p:nvGrpSpPr>
      <p:grpSpPr>
        <a:xfrm>
          <a:off x="0" y="0"/>
          <a:ext cx="0" cy="0"/>
          <a:chOff x="0" y="0"/>
          <a:chExt cx="0" cy="0"/>
        </a:xfrm>
      </p:grpSpPr>
      <p:sp>
        <p:nvSpPr>
          <p:cNvPr id="65" name="532205080_1647x1098.jpg"/>
          <p:cNvSpPr/>
          <p:nvPr>
            <p:ph type="pic" sz="half" idx="21"/>
          </p:nvPr>
        </p:nvSpPr>
        <p:spPr>
          <a:xfrm>
            <a:off x="10960100" y="3149600"/>
            <a:ext cx="13944600" cy="9296400"/>
          </a:xfrm>
          <a:prstGeom prst="rect">
            <a:avLst/>
          </a:prstGeom>
        </p:spPr>
        <p:txBody>
          <a:bodyPr lIns="91439" tIns="45719" rIns="91439" bIns="45719" anchor="t">
            <a:noAutofit/>
          </a:bodyPr>
          <a:lstStyle/>
          <a:p>
            <a:pPr/>
          </a:p>
        </p:txBody>
      </p:sp>
      <p:sp>
        <p:nvSpPr>
          <p:cNvPr id="66" name="大標題文字"/>
          <p:cNvSpPr txBox="1"/>
          <p:nvPr>
            <p:ph type="title"/>
          </p:nvPr>
        </p:nvSpPr>
        <p:spPr>
          <a:prstGeom prst="rect">
            <a:avLst/>
          </a:prstGeom>
        </p:spPr>
        <p:txBody>
          <a:bodyPr/>
          <a:lstStyle/>
          <a:p>
            <a:pPr/>
            <a:r>
              <a:t>大標題文字</a:t>
            </a:r>
          </a:p>
        </p:txBody>
      </p:sp>
      <p:sp>
        <p:nvSpPr>
          <p:cNvPr id="67" name="內文層級一…"/>
          <p:cNvSpPr txBox="1"/>
          <p:nvPr>
            <p:ph type="body" sz="half" idx="1"/>
          </p:nvPr>
        </p:nvSpPr>
        <p:spPr>
          <a:xfrm>
            <a:off x="1689100" y="3149600"/>
            <a:ext cx="10223500" cy="9296400"/>
          </a:xfrm>
          <a:prstGeom prst="rect">
            <a:avLst/>
          </a:prstGeom>
        </p:spPr>
        <p:txBody>
          <a:bodyPr/>
          <a:lstStyle>
            <a:lvl1pPr marL="558800" indent="-558800" algn="r">
              <a:spcBef>
                <a:spcPts val="2000"/>
              </a:spcBef>
              <a:defRPr sz="3800"/>
            </a:lvl1pPr>
            <a:lvl2pPr marL="1117600" indent="-558800" algn="r">
              <a:spcBef>
                <a:spcPts val="2000"/>
              </a:spcBef>
              <a:defRPr sz="3800"/>
            </a:lvl2pPr>
            <a:lvl3pPr marL="1676400" indent="-558800" algn="r">
              <a:spcBef>
                <a:spcPts val="2000"/>
              </a:spcBef>
              <a:defRPr sz="3800"/>
            </a:lvl3pPr>
            <a:lvl4pPr marL="2235200" indent="-558800" algn="r">
              <a:spcBef>
                <a:spcPts val="2000"/>
              </a:spcBef>
              <a:defRPr sz="3800"/>
            </a:lvl4pPr>
            <a:lvl5pPr marL="2794000" indent="-558800" algn="r">
              <a:spcBef>
                <a:spcPts val="2000"/>
              </a:spcBef>
              <a:defRPr sz="3800"/>
            </a:lvl5pPr>
          </a:lstStyle>
          <a:p>
            <a:pPr/>
            <a:r>
              <a:t>內文層級一</a:t>
            </a:r>
          </a:p>
          <a:p>
            <a:pPr lvl="1"/>
            <a:r>
              <a:t>內文層級二</a:t>
            </a:r>
          </a:p>
          <a:p>
            <a:pPr lvl="2"/>
            <a:r>
              <a:t>內文層級三</a:t>
            </a:r>
          </a:p>
          <a:p>
            <a:pPr lvl="3"/>
            <a:r>
              <a:t>內文層級四</a:t>
            </a:r>
          </a:p>
          <a:p>
            <a:pPr lvl="4"/>
            <a:r>
              <a:t>內文層級五</a:t>
            </a:r>
          </a:p>
        </p:txBody>
      </p:sp>
      <p:sp>
        <p:nvSpPr>
          <p:cNvPr id="68" name="幻燈片編號"/>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項目符號">
    <p:spTree>
      <p:nvGrpSpPr>
        <p:cNvPr id="1" name=""/>
        <p:cNvGrpSpPr/>
        <p:nvPr/>
      </p:nvGrpSpPr>
      <p:grpSpPr>
        <a:xfrm>
          <a:off x="0" y="0"/>
          <a:ext cx="0" cy="0"/>
          <a:chOff x="0" y="0"/>
          <a:chExt cx="0" cy="0"/>
        </a:xfrm>
      </p:grpSpPr>
      <p:sp>
        <p:nvSpPr>
          <p:cNvPr id="75" name="內文層級一…"/>
          <p:cNvSpPr txBox="1"/>
          <p:nvPr>
            <p:ph type="body" idx="1"/>
          </p:nvPr>
        </p:nvSpPr>
        <p:spPr>
          <a:xfrm>
            <a:off x="1689100" y="1778000"/>
            <a:ext cx="21005800" cy="10160000"/>
          </a:xfrm>
          <a:prstGeom prst="rect">
            <a:avLst/>
          </a:prstGeom>
        </p:spPr>
        <p:txBody>
          <a:bodyPr/>
          <a:lstStyle>
            <a:lvl1pPr marL="793749" indent="-793749">
              <a:defRPr sz="6000"/>
            </a:lvl1pPr>
            <a:lvl2pPr marL="1428750" indent="-793750">
              <a:defRPr sz="6000"/>
            </a:lvl2pPr>
            <a:lvl3pPr marL="2063750" indent="-793750">
              <a:defRPr sz="6000"/>
            </a:lvl3pPr>
            <a:lvl4pPr marL="2698750" indent="-793750">
              <a:defRPr sz="6000"/>
            </a:lvl4pPr>
            <a:lvl5pPr marL="3333750" indent="-793750">
              <a:defRPr sz="6000"/>
            </a:lvl5pPr>
          </a:lstStyle>
          <a:p>
            <a:pPr/>
            <a:r>
              <a:t>內文層級一</a:t>
            </a:r>
          </a:p>
          <a:p>
            <a:pPr lvl="1"/>
            <a:r>
              <a:t>內文層級二</a:t>
            </a:r>
          </a:p>
          <a:p>
            <a:pPr lvl="2"/>
            <a:r>
              <a:t>內文層級三</a:t>
            </a:r>
          </a:p>
          <a:p>
            <a:pPr lvl="3"/>
            <a:r>
              <a:t>內文層級四</a:t>
            </a:r>
          </a:p>
          <a:p>
            <a:pPr lvl="4"/>
            <a:r>
              <a:t>內文層級五</a:t>
            </a:r>
          </a:p>
        </p:txBody>
      </p:sp>
      <p:sp>
        <p:nvSpPr>
          <p:cNvPr id="76" name="幻燈片編號"/>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照片 - 一頁三張">
    <p:spTree>
      <p:nvGrpSpPr>
        <p:cNvPr id="1" name=""/>
        <p:cNvGrpSpPr/>
        <p:nvPr/>
      </p:nvGrpSpPr>
      <p:grpSpPr>
        <a:xfrm>
          <a:off x="0" y="0"/>
          <a:ext cx="0" cy="0"/>
          <a:chOff x="0" y="0"/>
          <a:chExt cx="0" cy="0"/>
        </a:xfrm>
      </p:grpSpPr>
      <p:sp>
        <p:nvSpPr>
          <p:cNvPr id="83" name="532205080_1647x1098.jpg"/>
          <p:cNvSpPr/>
          <p:nvPr>
            <p:ph type="pic" sz="quarter" idx="21"/>
          </p:nvPr>
        </p:nvSpPr>
        <p:spPr>
          <a:xfrm>
            <a:off x="15300325" y="7048500"/>
            <a:ext cx="8324850" cy="5549900"/>
          </a:xfrm>
          <a:prstGeom prst="rect">
            <a:avLst/>
          </a:prstGeom>
        </p:spPr>
        <p:txBody>
          <a:bodyPr lIns="91439" tIns="45719" rIns="91439" bIns="45719" anchor="t">
            <a:noAutofit/>
          </a:bodyPr>
          <a:lstStyle/>
          <a:p>
            <a:pPr/>
          </a:p>
        </p:txBody>
      </p:sp>
      <p:sp>
        <p:nvSpPr>
          <p:cNvPr id="84" name="532204087_1355x1355.jpg"/>
          <p:cNvSpPr/>
          <p:nvPr>
            <p:ph type="pic" sz="quarter" idx="22"/>
          </p:nvPr>
        </p:nvSpPr>
        <p:spPr>
          <a:xfrm>
            <a:off x="15760700" y="863600"/>
            <a:ext cx="7404100" cy="7404100"/>
          </a:xfrm>
          <a:prstGeom prst="rect">
            <a:avLst/>
          </a:prstGeom>
        </p:spPr>
        <p:txBody>
          <a:bodyPr lIns="91439" tIns="45719" rIns="91439" bIns="45719" anchor="t">
            <a:noAutofit/>
          </a:bodyPr>
          <a:lstStyle/>
          <a:p>
            <a:pPr/>
          </a:p>
        </p:txBody>
      </p:sp>
      <p:sp>
        <p:nvSpPr>
          <p:cNvPr id="85" name="532241774_2880x1920.jpg"/>
          <p:cNvSpPr/>
          <p:nvPr>
            <p:ph type="pic" idx="23"/>
          </p:nvPr>
        </p:nvSpPr>
        <p:spPr>
          <a:xfrm>
            <a:off x="-990600" y="1130300"/>
            <a:ext cx="17202150" cy="11468100"/>
          </a:xfrm>
          <a:prstGeom prst="rect">
            <a:avLst/>
          </a:prstGeom>
        </p:spPr>
        <p:txBody>
          <a:bodyPr lIns="91439" tIns="45719" rIns="91439" bIns="45719" anchor="t">
            <a:noAutofit/>
          </a:bodyPr>
          <a:lstStyle/>
          <a:p>
            <a:pPr/>
          </a:p>
        </p:txBody>
      </p:sp>
      <p:sp>
        <p:nvSpPr>
          <p:cNvPr id="86" name="幻燈片編號"/>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名言語錄">
    <p:spTree>
      <p:nvGrpSpPr>
        <p:cNvPr id="1" name=""/>
        <p:cNvGrpSpPr/>
        <p:nvPr/>
      </p:nvGrpSpPr>
      <p:grpSpPr>
        <a:xfrm>
          <a:off x="0" y="0"/>
          <a:ext cx="0" cy="0"/>
          <a:chOff x="0" y="0"/>
          <a:chExt cx="0" cy="0"/>
        </a:xfrm>
      </p:grpSpPr>
      <p:sp>
        <p:nvSpPr>
          <p:cNvPr id="93" name="–王大明"/>
          <p:cNvSpPr txBox="1"/>
          <p:nvPr>
            <p:ph type="body" sz="quarter" idx="21"/>
          </p:nvPr>
        </p:nvSpPr>
        <p:spPr>
          <a:xfrm>
            <a:off x="2387600" y="8953500"/>
            <a:ext cx="19621500" cy="673100"/>
          </a:xfrm>
          <a:prstGeom prst="rect">
            <a:avLst/>
          </a:prstGeom>
        </p:spPr>
        <p:txBody>
          <a:bodyPr anchor="t">
            <a:spAutoFit/>
          </a:bodyPr>
          <a:lstStyle>
            <a:lvl1pPr marL="0" indent="0" algn="ctr">
              <a:spcBef>
                <a:spcPts val="0"/>
              </a:spcBef>
              <a:buSzTx/>
              <a:buNone/>
              <a:defRPr i="1" sz="3200">
                <a:latin typeface="Helvetica Neue"/>
                <a:ea typeface="Helvetica Neue"/>
                <a:cs typeface="Helvetica Neue"/>
                <a:sym typeface="Helvetica Neue"/>
              </a:defRPr>
            </a:lvl1pPr>
          </a:lstStyle>
          <a:p>
            <a:pPr/>
            <a:r>
              <a:t>–王大明</a:t>
            </a:r>
          </a:p>
        </p:txBody>
      </p:sp>
      <p:sp>
        <p:nvSpPr>
          <p:cNvPr id="94" name="「在此輸入名言語錄。」"/>
          <p:cNvSpPr txBox="1"/>
          <p:nvPr>
            <p:ph type="body" sz="quarter" idx="22"/>
          </p:nvPr>
        </p:nvSpPr>
        <p:spPr>
          <a:xfrm>
            <a:off x="2387600" y="6013450"/>
            <a:ext cx="19621500" cy="952501"/>
          </a:xfrm>
          <a:prstGeom prst="rect">
            <a:avLst/>
          </a:prstGeom>
        </p:spPr>
        <p:txBody>
          <a:bodyPr>
            <a:spAutoFit/>
          </a:bodyPr>
          <a:lstStyle>
            <a:lvl1pPr marL="0" indent="0" algn="ctr">
              <a:spcBef>
                <a:spcPts val="0"/>
              </a:spcBef>
              <a:buSzTx/>
              <a:buNone/>
              <a:defRPr sz="4800">
                <a:latin typeface="Helvetica Neue Medium"/>
                <a:ea typeface="Helvetica Neue Medium"/>
                <a:cs typeface="Helvetica Neue Medium"/>
                <a:sym typeface="Helvetica Neue Medium"/>
              </a:defRPr>
            </a:lvl1pPr>
          </a:lstStyle>
          <a:p>
            <a:pPr/>
            <a:r>
              <a:t>「在此輸入名言語錄。」</a:t>
            </a:r>
          </a:p>
        </p:txBody>
      </p:sp>
      <p:sp>
        <p:nvSpPr>
          <p:cNvPr id="95" name="幻燈片編號"/>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照片">
    <p:spTree>
      <p:nvGrpSpPr>
        <p:cNvPr id="1" name=""/>
        <p:cNvGrpSpPr/>
        <p:nvPr/>
      </p:nvGrpSpPr>
      <p:grpSpPr>
        <a:xfrm>
          <a:off x="0" y="0"/>
          <a:ext cx="0" cy="0"/>
          <a:chOff x="0" y="0"/>
          <a:chExt cx="0" cy="0"/>
        </a:xfrm>
      </p:grpSpPr>
      <p:sp>
        <p:nvSpPr>
          <p:cNvPr id="102" name="532241774_2880x1920.jpg"/>
          <p:cNvSpPr/>
          <p:nvPr>
            <p:ph type="pic" idx="21"/>
          </p:nvPr>
        </p:nvSpPr>
        <p:spPr>
          <a:xfrm>
            <a:off x="-50800" y="-1270000"/>
            <a:ext cx="24485600" cy="16323734"/>
          </a:xfrm>
          <a:prstGeom prst="rect">
            <a:avLst/>
          </a:prstGeom>
        </p:spPr>
        <p:txBody>
          <a:bodyPr lIns="91439" tIns="45719" rIns="91439" bIns="45719" anchor="t">
            <a:noAutofit/>
          </a:bodyPr>
          <a:lstStyle/>
          <a:p>
            <a:pPr/>
          </a:p>
        </p:txBody>
      </p:sp>
      <p:sp>
        <p:nvSpPr>
          <p:cNvPr id="103" name="幻燈片編號"/>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空白">
    <p:spTree>
      <p:nvGrpSpPr>
        <p:cNvPr id="1" name=""/>
        <p:cNvGrpSpPr/>
        <p:nvPr/>
      </p:nvGrpSpPr>
      <p:grpSpPr>
        <a:xfrm>
          <a:off x="0" y="0"/>
          <a:ext cx="0" cy="0"/>
          <a:chOff x="0" y="0"/>
          <a:chExt cx="0" cy="0"/>
        </a:xfrm>
      </p:grpSpPr>
      <p:sp>
        <p:nvSpPr>
          <p:cNvPr id="110" name="幻燈片編號"/>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大標題文字"/>
          <p:cNvSpPr txBox="1"/>
          <p:nvPr>
            <p:ph type="title"/>
          </p:nvPr>
        </p:nvSpPr>
        <p:spPr>
          <a:xfrm>
            <a:off x="1689100" y="355600"/>
            <a:ext cx="21005800" cy="22860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a:r>
              <a:t>大標題文字</a:t>
            </a:r>
          </a:p>
        </p:txBody>
      </p:sp>
      <p:sp>
        <p:nvSpPr>
          <p:cNvPr id="3" name="幻燈片編號"/>
          <p:cNvSpPr txBox="1"/>
          <p:nvPr>
            <p:ph type="sldNum" sz="quarter" idx="2"/>
          </p:nvPr>
        </p:nvSpPr>
        <p:spPr>
          <a:xfrm>
            <a:off x="11937999" y="13081000"/>
            <a:ext cx="495301" cy="517215"/>
          </a:xfrm>
          <a:prstGeom prst="rect">
            <a:avLst/>
          </a:prstGeom>
          <a:ln w="12700">
            <a:miter lim="400000"/>
          </a:ln>
        </p:spPr>
        <p:txBody>
          <a:bodyPr wrap="none" lIns="50800" tIns="50800" rIns="50800" bIns="50800">
            <a:spAutoFit/>
          </a:bodyPr>
          <a:lstStyle>
            <a:lvl1pPr>
              <a:defRPr b="0">
                <a:latin typeface="+mn-lt"/>
                <a:ea typeface="+mn-ea"/>
                <a:cs typeface="+mn-cs"/>
                <a:sym typeface="Times New Roman"/>
              </a:defRPr>
            </a:lvl1pPr>
          </a:lstStyle>
          <a:p>
            <a:pPr/>
            <a:fld id="{86CB4B4D-7CA3-9044-876B-883B54F8677D}" type="slidenum"/>
          </a:p>
        </p:txBody>
      </p:sp>
      <p:sp>
        <p:nvSpPr>
          <p:cNvPr id="4" name="內文層級一…"/>
          <p:cNvSpPr txBox="1"/>
          <p:nvPr>
            <p:ph type="body" idx="1"/>
          </p:nvPr>
        </p:nvSpPr>
        <p:spPr>
          <a:xfrm>
            <a:off x="1689100" y="3149600"/>
            <a:ext cx="21005800" cy="92964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a:r>
              <a:t>內文層級一</a:t>
            </a:r>
          </a:p>
          <a:p>
            <a:pPr lvl="1"/>
            <a:r>
              <a:t>內文層級二</a:t>
            </a:r>
          </a:p>
          <a:p>
            <a:pPr lvl="2"/>
            <a:r>
              <a:t>內文層級三</a:t>
            </a:r>
          </a:p>
          <a:p>
            <a:pPr lvl="3"/>
            <a:r>
              <a:t>內文層級四</a:t>
            </a:r>
          </a:p>
          <a:p>
            <a:pPr lvl="4"/>
            <a:r>
              <a:t>內文層級五</a:t>
            </a:r>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transition xmlns:p14="http://schemas.microsoft.com/office/powerpoint/2010/main" spd="med" advClick="1"/>
  <p:txStyles>
    <p:titleStyle>
      <a:lvl1pPr marL="0" marR="0" indent="0" algn="ctr" defTabSz="825500" rtl="0" latinLnBrk="0">
        <a:lnSpc>
          <a:spcPct val="100000"/>
        </a:lnSpc>
        <a:spcBef>
          <a:spcPts val="0"/>
        </a:spcBef>
        <a:spcAft>
          <a:spcPts val="0"/>
        </a:spcAft>
        <a:buClrTx/>
        <a:buSzTx/>
        <a:buFontTx/>
        <a:buNone/>
        <a:tabLst/>
        <a:defRPr b="0" baseline="0" cap="none" i="0" spc="0" strike="noStrike" sz="11200" u="none">
          <a:solidFill>
            <a:srgbClr val="000000"/>
          </a:solidFill>
          <a:uFillTx/>
          <a:latin typeface="+mn-lt"/>
          <a:ea typeface="+mn-ea"/>
          <a:cs typeface="+mn-cs"/>
          <a:sym typeface="Times New Roman"/>
        </a:defRPr>
      </a:lvl1pPr>
      <a:lvl2pPr marL="0" marR="0" indent="457200" algn="ctr" defTabSz="825500" rtl="0" latinLnBrk="0">
        <a:lnSpc>
          <a:spcPct val="100000"/>
        </a:lnSpc>
        <a:spcBef>
          <a:spcPts val="0"/>
        </a:spcBef>
        <a:spcAft>
          <a:spcPts val="0"/>
        </a:spcAft>
        <a:buClrTx/>
        <a:buSzTx/>
        <a:buFontTx/>
        <a:buNone/>
        <a:tabLst/>
        <a:defRPr b="0" baseline="0" cap="none" i="0" spc="0" strike="noStrike" sz="11200" u="none">
          <a:solidFill>
            <a:srgbClr val="000000"/>
          </a:solidFill>
          <a:uFillTx/>
          <a:latin typeface="+mn-lt"/>
          <a:ea typeface="+mn-ea"/>
          <a:cs typeface="+mn-cs"/>
          <a:sym typeface="Times New Roman"/>
        </a:defRPr>
      </a:lvl2pPr>
      <a:lvl3pPr marL="0" marR="0" indent="914400" algn="ctr" defTabSz="825500" rtl="0" latinLnBrk="0">
        <a:lnSpc>
          <a:spcPct val="100000"/>
        </a:lnSpc>
        <a:spcBef>
          <a:spcPts val="0"/>
        </a:spcBef>
        <a:spcAft>
          <a:spcPts val="0"/>
        </a:spcAft>
        <a:buClrTx/>
        <a:buSzTx/>
        <a:buFontTx/>
        <a:buNone/>
        <a:tabLst/>
        <a:defRPr b="0" baseline="0" cap="none" i="0" spc="0" strike="noStrike" sz="11200" u="none">
          <a:solidFill>
            <a:srgbClr val="000000"/>
          </a:solidFill>
          <a:uFillTx/>
          <a:latin typeface="+mn-lt"/>
          <a:ea typeface="+mn-ea"/>
          <a:cs typeface="+mn-cs"/>
          <a:sym typeface="Times New Roman"/>
        </a:defRPr>
      </a:lvl3pPr>
      <a:lvl4pPr marL="0" marR="0" indent="1371600" algn="ctr" defTabSz="825500" rtl="0" latinLnBrk="0">
        <a:lnSpc>
          <a:spcPct val="100000"/>
        </a:lnSpc>
        <a:spcBef>
          <a:spcPts val="0"/>
        </a:spcBef>
        <a:spcAft>
          <a:spcPts val="0"/>
        </a:spcAft>
        <a:buClrTx/>
        <a:buSzTx/>
        <a:buFontTx/>
        <a:buNone/>
        <a:tabLst/>
        <a:defRPr b="0" baseline="0" cap="none" i="0" spc="0" strike="noStrike" sz="11200" u="none">
          <a:solidFill>
            <a:srgbClr val="000000"/>
          </a:solidFill>
          <a:uFillTx/>
          <a:latin typeface="+mn-lt"/>
          <a:ea typeface="+mn-ea"/>
          <a:cs typeface="+mn-cs"/>
          <a:sym typeface="Times New Roman"/>
        </a:defRPr>
      </a:lvl4pPr>
      <a:lvl5pPr marL="0" marR="0" indent="1828800" algn="ctr" defTabSz="825500" rtl="0" latinLnBrk="0">
        <a:lnSpc>
          <a:spcPct val="100000"/>
        </a:lnSpc>
        <a:spcBef>
          <a:spcPts val="0"/>
        </a:spcBef>
        <a:spcAft>
          <a:spcPts val="0"/>
        </a:spcAft>
        <a:buClrTx/>
        <a:buSzTx/>
        <a:buFontTx/>
        <a:buNone/>
        <a:tabLst/>
        <a:defRPr b="0" baseline="0" cap="none" i="0" spc="0" strike="noStrike" sz="11200" u="none">
          <a:solidFill>
            <a:srgbClr val="000000"/>
          </a:solidFill>
          <a:uFillTx/>
          <a:latin typeface="+mn-lt"/>
          <a:ea typeface="+mn-ea"/>
          <a:cs typeface="+mn-cs"/>
          <a:sym typeface="Times New Roman"/>
        </a:defRPr>
      </a:lvl5pPr>
      <a:lvl6pPr marL="0" marR="0" indent="2286000" algn="ctr" defTabSz="825500" rtl="0" latinLnBrk="0">
        <a:lnSpc>
          <a:spcPct val="100000"/>
        </a:lnSpc>
        <a:spcBef>
          <a:spcPts val="0"/>
        </a:spcBef>
        <a:spcAft>
          <a:spcPts val="0"/>
        </a:spcAft>
        <a:buClrTx/>
        <a:buSzTx/>
        <a:buFontTx/>
        <a:buNone/>
        <a:tabLst/>
        <a:defRPr b="0" baseline="0" cap="none" i="0" spc="0" strike="noStrike" sz="11200" u="none">
          <a:solidFill>
            <a:srgbClr val="000000"/>
          </a:solidFill>
          <a:uFillTx/>
          <a:latin typeface="+mn-lt"/>
          <a:ea typeface="+mn-ea"/>
          <a:cs typeface="+mn-cs"/>
          <a:sym typeface="Times New Roman"/>
        </a:defRPr>
      </a:lvl6pPr>
      <a:lvl7pPr marL="0" marR="0" indent="2743200" algn="ctr" defTabSz="825500" rtl="0" latinLnBrk="0">
        <a:lnSpc>
          <a:spcPct val="100000"/>
        </a:lnSpc>
        <a:spcBef>
          <a:spcPts val="0"/>
        </a:spcBef>
        <a:spcAft>
          <a:spcPts val="0"/>
        </a:spcAft>
        <a:buClrTx/>
        <a:buSzTx/>
        <a:buFontTx/>
        <a:buNone/>
        <a:tabLst/>
        <a:defRPr b="0" baseline="0" cap="none" i="0" spc="0" strike="noStrike" sz="11200" u="none">
          <a:solidFill>
            <a:srgbClr val="000000"/>
          </a:solidFill>
          <a:uFillTx/>
          <a:latin typeface="+mn-lt"/>
          <a:ea typeface="+mn-ea"/>
          <a:cs typeface="+mn-cs"/>
          <a:sym typeface="Times New Roman"/>
        </a:defRPr>
      </a:lvl7pPr>
      <a:lvl8pPr marL="0" marR="0" indent="3200400" algn="ctr" defTabSz="825500" rtl="0" latinLnBrk="0">
        <a:lnSpc>
          <a:spcPct val="100000"/>
        </a:lnSpc>
        <a:spcBef>
          <a:spcPts val="0"/>
        </a:spcBef>
        <a:spcAft>
          <a:spcPts val="0"/>
        </a:spcAft>
        <a:buClrTx/>
        <a:buSzTx/>
        <a:buFontTx/>
        <a:buNone/>
        <a:tabLst/>
        <a:defRPr b="0" baseline="0" cap="none" i="0" spc="0" strike="noStrike" sz="11200" u="none">
          <a:solidFill>
            <a:srgbClr val="000000"/>
          </a:solidFill>
          <a:uFillTx/>
          <a:latin typeface="+mn-lt"/>
          <a:ea typeface="+mn-ea"/>
          <a:cs typeface="+mn-cs"/>
          <a:sym typeface="Times New Roman"/>
        </a:defRPr>
      </a:lvl8pPr>
      <a:lvl9pPr marL="0" marR="0" indent="3657600" algn="ctr" defTabSz="825500" rtl="0" latinLnBrk="0">
        <a:lnSpc>
          <a:spcPct val="100000"/>
        </a:lnSpc>
        <a:spcBef>
          <a:spcPts val="0"/>
        </a:spcBef>
        <a:spcAft>
          <a:spcPts val="0"/>
        </a:spcAft>
        <a:buClrTx/>
        <a:buSzTx/>
        <a:buFontTx/>
        <a:buNone/>
        <a:tabLst/>
        <a:defRPr b="0" baseline="0" cap="none" i="0" spc="0" strike="noStrike" sz="11200" u="none">
          <a:solidFill>
            <a:srgbClr val="000000"/>
          </a:solidFill>
          <a:uFillTx/>
          <a:latin typeface="+mn-lt"/>
          <a:ea typeface="+mn-ea"/>
          <a:cs typeface="+mn-cs"/>
          <a:sym typeface="Times New Roman"/>
        </a:defRPr>
      </a:lvl9pPr>
    </p:titleStyle>
    <p:bodyStyle>
      <a:lvl1pPr marL="635000" marR="0" indent="-635000" algn="just" defTabSz="825500" latinLnBrk="0">
        <a:lnSpc>
          <a:spcPct val="100000"/>
        </a:lnSpc>
        <a:spcBef>
          <a:spcPts val="5900"/>
        </a:spcBef>
        <a:spcAft>
          <a:spcPts val="0"/>
        </a:spcAft>
        <a:buClrTx/>
        <a:buSzPct val="125000"/>
        <a:buFontTx/>
        <a:buChar char="•"/>
        <a:tabLst/>
        <a:defRPr b="0" baseline="0" cap="none" i="0" spc="0" strike="noStrike" sz="5200" u="none">
          <a:solidFill>
            <a:srgbClr val="000000"/>
          </a:solidFill>
          <a:uFillTx/>
          <a:latin typeface="+mn-lt"/>
          <a:ea typeface="+mn-ea"/>
          <a:cs typeface="+mn-cs"/>
          <a:sym typeface="Times New Roman"/>
        </a:defRPr>
      </a:lvl1pPr>
      <a:lvl2pPr marL="1270000" marR="0" indent="-635000" algn="just" defTabSz="825500" latinLnBrk="0">
        <a:lnSpc>
          <a:spcPct val="100000"/>
        </a:lnSpc>
        <a:spcBef>
          <a:spcPts val="5900"/>
        </a:spcBef>
        <a:spcAft>
          <a:spcPts val="0"/>
        </a:spcAft>
        <a:buClrTx/>
        <a:buSzPct val="125000"/>
        <a:buFontTx/>
        <a:buChar char="•"/>
        <a:tabLst/>
        <a:defRPr b="0" baseline="0" cap="none" i="0" spc="0" strike="noStrike" sz="5200" u="none">
          <a:solidFill>
            <a:srgbClr val="000000"/>
          </a:solidFill>
          <a:uFillTx/>
          <a:latin typeface="+mn-lt"/>
          <a:ea typeface="+mn-ea"/>
          <a:cs typeface="+mn-cs"/>
          <a:sym typeface="Times New Roman"/>
        </a:defRPr>
      </a:lvl2pPr>
      <a:lvl3pPr marL="1905000" marR="0" indent="-635000" algn="just" defTabSz="825500" latinLnBrk="0">
        <a:lnSpc>
          <a:spcPct val="100000"/>
        </a:lnSpc>
        <a:spcBef>
          <a:spcPts val="5900"/>
        </a:spcBef>
        <a:spcAft>
          <a:spcPts val="0"/>
        </a:spcAft>
        <a:buClrTx/>
        <a:buSzPct val="125000"/>
        <a:buFontTx/>
        <a:buChar char="•"/>
        <a:tabLst/>
        <a:defRPr b="0" baseline="0" cap="none" i="0" spc="0" strike="noStrike" sz="5200" u="none">
          <a:solidFill>
            <a:srgbClr val="000000"/>
          </a:solidFill>
          <a:uFillTx/>
          <a:latin typeface="+mn-lt"/>
          <a:ea typeface="+mn-ea"/>
          <a:cs typeface="+mn-cs"/>
          <a:sym typeface="Times New Roman"/>
        </a:defRPr>
      </a:lvl3pPr>
      <a:lvl4pPr marL="2540000" marR="0" indent="-635000" algn="just" defTabSz="825500" latinLnBrk="0">
        <a:lnSpc>
          <a:spcPct val="100000"/>
        </a:lnSpc>
        <a:spcBef>
          <a:spcPts val="5900"/>
        </a:spcBef>
        <a:spcAft>
          <a:spcPts val="0"/>
        </a:spcAft>
        <a:buClrTx/>
        <a:buSzPct val="125000"/>
        <a:buFontTx/>
        <a:buChar char="•"/>
        <a:tabLst/>
        <a:defRPr b="0" baseline="0" cap="none" i="0" spc="0" strike="noStrike" sz="5200" u="none">
          <a:solidFill>
            <a:srgbClr val="000000"/>
          </a:solidFill>
          <a:uFillTx/>
          <a:latin typeface="+mn-lt"/>
          <a:ea typeface="+mn-ea"/>
          <a:cs typeface="+mn-cs"/>
          <a:sym typeface="Times New Roman"/>
        </a:defRPr>
      </a:lvl4pPr>
      <a:lvl5pPr marL="3175000" marR="0" indent="-635000" algn="just" defTabSz="825500" latinLnBrk="0">
        <a:lnSpc>
          <a:spcPct val="100000"/>
        </a:lnSpc>
        <a:spcBef>
          <a:spcPts val="5900"/>
        </a:spcBef>
        <a:spcAft>
          <a:spcPts val="0"/>
        </a:spcAft>
        <a:buClrTx/>
        <a:buSzPct val="125000"/>
        <a:buFontTx/>
        <a:buChar char="•"/>
        <a:tabLst/>
        <a:defRPr b="0" baseline="0" cap="none" i="0" spc="0" strike="noStrike" sz="5200" u="none">
          <a:solidFill>
            <a:srgbClr val="000000"/>
          </a:solidFill>
          <a:uFillTx/>
          <a:latin typeface="+mn-lt"/>
          <a:ea typeface="+mn-ea"/>
          <a:cs typeface="+mn-cs"/>
          <a:sym typeface="Times New Roman"/>
        </a:defRPr>
      </a:lvl5pPr>
      <a:lvl6pPr marL="3810000" marR="0" indent="-635000" algn="just" defTabSz="825500" latinLnBrk="0">
        <a:lnSpc>
          <a:spcPct val="100000"/>
        </a:lnSpc>
        <a:spcBef>
          <a:spcPts val="5900"/>
        </a:spcBef>
        <a:spcAft>
          <a:spcPts val="0"/>
        </a:spcAft>
        <a:buClrTx/>
        <a:buSzPct val="125000"/>
        <a:buFontTx/>
        <a:buChar char="•"/>
        <a:tabLst/>
        <a:defRPr b="0" baseline="0" cap="none" i="0" spc="0" strike="noStrike" sz="5200" u="none">
          <a:solidFill>
            <a:srgbClr val="000000"/>
          </a:solidFill>
          <a:uFillTx/>
          <a:latin typeface="+mn-lt"/>
          <a:ea typeface="+mn-ea"/>
          <a:cs typeface="+mn-cs"/>
          <a:sym typeface="Times New Roman"/>
        </a:defRPr>
      </a:lvl6pPr>
      <a:lvl7pPr marL="4445000" marR="0" indent="-635000" algn="just" defTabSz="825500" latinLnBrk="0">
        <a:lnSpc>
          <a:spcPct val="100000"/>
        </a:lnSpc>
        <a:spcBef>
          <a:spcPts val="5900"/>
        </a:spcBef>
        <a:spcAft>
          <a:spcPts val="0"/>
        </a:spcAft>
        <a:buClrTx/>
        <a:buSzPct val="125000"/>
        <a:buFontTx/>
        <a:buChar char="•"/>
        <a:tabLst/>
        <a:defRPr b="0" baseline="0" cap="none" i="0" spc="0" strike="noStrike" sz="5200" u="none">
          <a:solidFill>
            <a:srgbClr val="000000"/>
          </a:solidFill>
          <a:uFillTx/>
          <a:latin typeface="+mn-lt"/>
          <a:ea typeface="+mn-ea"/>
          <a:cs typeface="+mn-cs"/>
          <a:sym typeface="Times New Roman"/>
        </a:defRPr>
      </a:lvl7pPr>
      <a:lvl8pPr marL="5080000" marR="0" indent="-635000" algn="just" defTabSz="825500" latinLnBrk="0">
        <a:lnSpc>
          <a:spcPct val="100000"/>
        </a:lnSpc>
        <a:spcBef>
          <a:spcPts val="5900"/>
        </a:spcBef>
        <a:spcAft>
          <a:spcPts val="0"/>
        </a:spcAft>
        <a:buClrTx/>
        <a:buSzPct val="125000"/>
        <a:buFontTx/>
        <a:buChar char="•"/>
        <a:tabLst/>
        <a:defRPr b="0" baseline="0" cap="none" i="0" spc="0" strike="noStrike" sz="5200" u="none">
          <a:solidFill>
            <a:srgbClr val="000000"/>
          </a:solidFill>
          <a:uFillTx/>
          <a:latin typeface="+mn-lt"/>
          <a:ea typeface="+mn-ea"/>
          <a:cs typeface="+mn-cs"/>
          <a:sym typeface="Times New Roman"/>
        </a:defRPr>
      </a:lvl8pPr>
      <a:lvl9pPr marL="5715000" marR="0" indent="-635000" algn="just" defTabSz="825500" latinLnBrk="0">
        <a:lnSpc>
          <a:spcPct val="100000"/>
        </a:lnSpc>
        <a:spcBef>
          <a:spcPts val="5900"/>
        </a:spcBef>
        <a:spcAft>
          <a:spcPts val="0"/>
        </a:spcAft>
        <a:buClrTx/>
        <a:buSzPct val="125000"/>
        <a:buFontTx/>
        <a:buChar char="•"/>
        <a:tabLst/>
        <a:defRPr b="0" baseline="0" cap="none" i="0" spc="0" strike="noStrike" sz="5200" u="none">
          <a:solidFill>
            <a:srgbClr val="000000"/>
          </a:solidFill>
          <a:uFillTx/>
          <a:latin typeface="+mn-lt"/>
          <a:ea typeface="+mn-ea"/>
          <a:cs typeface="+mn-cs"/>
          <a:sym typeface="Times New Roman"/>
        </a:defRPr>
      </a:lvl9pPr>
    </p:bodyStyle>
    <p:otherStyle>
      <a:lvl1pPr marL="0" marR="0" indent="0" algn="ctr" defTabSz="825500" rtl="0" latinLnBrk="0">
        <a:lnSpc>
          <a:spcPct val="100000"/>
        </a:lnSpc>
        <a:spcBef>
          <a:spcPts val="0"/>
        </a:spcBef>
        <a:spcAft>
          <a:spcPts val="0"/>
        </a:spcAft>
        <a:buClrTx/>
        <a:buSzTx/>
        <a:buFontTx/>
        <a:buNone/>
        <a:tabLst/>
        <a:defRPr b="0" baseline="0" cap="none" i="0" spc="0" strike="noStrike" sz="3000" u="none">
          <a:solidFill>
            <a:schemeClr val="tx1"/>
          </a:solidFill>
          <a:uFillTx/>
          <a:latin typeface="+mn-lt"/>
          <a:ea typeface="+mn-ea"/>
          <a:cs typeface="+mn-cs"/>
          <a:sym typeface="Times New Roman"/>
        </a:defRPr>
      </a:lvl1pPr>
      <a:lvl2pPr marL="0" marR="0" indent="457200" algn="ctr" defTabSz="825500" rtl="0" latinLnBrk="0">
        <a:lnSpc>
          <a:spcPct val="100000"/>
        </a:lnSpc>
        <a:spcBef>
          <a:spcPts val="0"/>
        </a:spcBef>
        <a:spcAft>
          <a:spcPts val="0"/>
        </a:spcAft>
        <a:buClrTx/>
        <a:buSzTx/>
        <a:buFontTx/>
        <a:buNone/>
        <a:tabLst/>
        <a:defRPr b="0" baseline="0" cap="none" i="0" spc="0" strike="noStrike" sz="3000" u="none">
          <a:solidFill>
            <a:schemeClr val="tx1"/>
          </a:solidFill>
          <a:uFillTx/>
          <a:latin typeface="+mn-lt"/>
          <a:ea typeface="+mn-ea"/>
          <a:cs typeface="+mn-cs"/>
          <a:sym typeface="Times New Roman"/>
        </a:defRPr>
      </a:lvl2pPr>
      <a:lvl3pPr marL="0" marR="0" indent="914400" algn="ctr" defTabSz="825500" rtl="0" latinLnBrk="0">
        <a:lnSpc>
          <a:spcPct val="100000"/>
        </a:lnSpc>
        <a:spcBef>
          <a:spcPts val="0"/>
        </a:spcBef>
        <a:spcAft>
          <a:spcPts val="0"/>
        </a:spcAft>
        <a:buClrTx/>
        <a:buSzTx/>
        <a:buFontTx/>
        <a:buNone/>
        <a:tabLst/>
        <a:defRPr b="0" baseline="0" cap="none" i="0" spc="0" strike="noStrike" sz="3000" u="none">
          <a:solidFill>
            <a:schemeClr val="tx1"/>
          </a:solidFill>
          <a:uFillTx/>
          <a:latin typeface="+mn-lt"/>
          <a:ea typeface="+mn-ea"/>
          <a:cs typeface="+mn-cs"/>
          <a:sym typeface="Times New Roman"/>
        </a:defRPr>
      </a:lvl3pPr>
      <a:lvl4pPr marL="0" marR="0" indent="1371600" algn="ctr" defTabSz="825500" rtl="0" latinLnBrk="0">
        <a:lnSpc>
          <a:spcPct val="100000"/>
        </a:lnSpc>
        <a:spcBef>
          <a:spcPts val="0"/>
        </a:spcBef>
        <a:spcAft>
          <a:spcPts val="0"/>
        </a:spcAft>
        <a:buClrTx/>
        <a:buSzTx/>
        <a:buFontTx/>
        <a:buNone/>
        <a:tabLst/>
        <a:defRPr b="0" baseline="0" cap="none" i="0" spc="0" strike="noStrike" sz="3000" u="none">
          <a:solidFill>
            <a:schemeClr val="tx1"/>
          </a:solidFill>
          <a:uFillTx/>
          <a:latin typeface="+mn-lt"/>
          <a:ea typeface="+mn-ea"/>
          <a:cs typeface="+mn-cs"/>
          <a:sym typeface="Times New Roman"/>
        </a:defRPr>
      </a:lvl4pPr>
      <a:lvl5pPr marL="0" marR="0" indent="1828800" algn="ctr" defTabSz="825500" rtl="0" latinLnBrk="0">
        <a:lnSpc>
          <a:spcPct val="100000"/>
        </a:lnSpc>
        <a:spcBef>
          <a:spcPts val="0"/>
        </a:spcBef>
        <a:spcAft>
          <a:spcPts val="0"/>
        </a:spcAft>
        <a:buClrTx/>
        <a:buSzTx/>
        <a:buFontTx/>
        <a:buNone/>
        <a:tabLst/>
        <a:defRPr b="0" baseline="0" cap="none" i="0" spc="0" strike="noStrike" sz="3000" u="none">
          <a:solidFill>
            <a:schemeClr val="tx1"/>
          </a:solidFill>
          <a:uFillTx/>
          <a:latin typeface="+mn-lt"/>
          <a:ea typeface="+mn-ea"/>
          <a:cs typeface="+mn-cs"/>
          <a:sym typeface="Times New Roman"/>
        </a:defRPr>
      </a:lvl5pPr>
      <a:lvl6pPr marL="0" marR="0" indent="2286000" algn="ctr" defTabSz="825500" rtl="0" latinLnBrk="0">
        <a:lnSpc>
          <a:spcPct val="100000"/>
        </a:lnSpc>
        <a:spcBef>
          <a:spcPts val="0"/>
        </a:spcBef>
        <a:spcAft>
          <a:spcPts val="0"/>
        </a:spcAft>
        <a:buClrTx/>
        <a:buSzTx/>
        <a:buFontTx/>
        <a:buNone/>
        <a:tabLst/>
        <a:defRPr b="0" baseline="0" cap="none" i="0" spc="0" strike="noStrike" sz="3000" u="none">
          <a:solidFill>
            <a:schemeClr val="tx1"/>
          </a:solidFill>
          <a:uFillTx/>
          <a:latin typeface="+mn-lt"/>
          <a:ea typeface="+mn-ea"/>
          <a:cs typeface="+mn-cs"/>
          <a:sym typeface="Times New Roman"/>
        </a:defRPr>
      </a:lvl6pPr>
      <a:lvl7pPr marL="0" marR="0" indent="2743200" algn="ctr" defTabSz="825500" rtl="0" latinLnBrk="0">
        <a:lnSpc>
          <a:spcPct val="100000"/>
        </a:lnSpc>
        <a:spcBef>
          <a:spcPts val="0"/>
        </a:spcBef>
        <a:spcAft>
          <a:spcPts val="0"/>
        </a:spcAft>
        <a:buClrTx/>
        <a:buSzTx/>
        <a:buFontTx/>
        <a:buNone/>
        <a:tabLst/>
        <a:defRPr b="0" baseline="0" cap="none" i="0" spc="0" strike="noStrike" sz="3000" u="none">
          <a:solidFill>
            <a:schemeClr val="tx1"/>
          </a:solidFill>
          <a:uFillTx/>
          <a:latin typeface="+mn-lt"/>
          <a:ea typeface="+mn-ea"/>
          <a:cs typeface="+mn-cs"/>
          <a:sym typeface="Times New Roman"/>
        </a:defRPr>
      </a:lvl7pPr>
      <a:lvl8pPr marL="0" marR="0" indent="3200400" algn="ctr" defTabSz="825500" rtl="0" latinLnBrk="0">
        <a:lnSpc>
          <a:spcPct val="100000"/>
        </a:lnSpc>
        <a:spcBef>
          <a:spcPts val="0"/>
        </a:spcBef>
        <a:spcAft>
          <a:spcPts val="0"/>
        </a:spcAft>
        <a:buClrTx/>
        <a:buSzTx/>
        <a:buFontTx/>
        <a:buNone/>
        <a:tabLst/>
        <a:defRPr b="0" baseline="0" cap="none" i="0" spc="0" strike="noStrike" sz="3000" u="none">
          <a:solidFill>
            <a:schemeClr val="tx1"/>
          </a:solidFill>
          <a:uFillTx/>
          <a:latin typeface="+mn-lt"/>
          <a:ea typeface="+mn-ea"/>
          <a:cs typeface="+mn-cs"/>
          <a:sym typeface="Times New Roman"/>
        </a:defRPr>
      </a:lvl8pPr>
      <a:lvl9pPr marL="0" marR="0" indent="3657600" algn="ctr" defTabSz="825500" rtl="0" latinLnBrk="0">
        <a:lnSpc>
          <a:spcPct val="100000"/>
        </a:lnSpc>
        <a:spcBef>
          <a:spcPts val="0"/>
        </a:spcBef>
        <a:spcAft>
          <a:spcPts val="0"/>
        </a:spcAft>
        <a:buClrTx/>
        <a:buSzTx/>
        <a:buFontTx/>
        <a:buNone/>
        <a:tabLst/>
        <a:defRPr b="0" baseline="0" cap="none" i="0" spc="0" strike="noStrike" sz="3000" u="none">
          <a:solidFill>
            <a:schemeClr val="tx1"/>
          </a:solidFill>
          <a:uFillTx/>
          <a:latin typeface="+mn-lt"/>
          <a:ea typeface="+mn-ea"/>
          <a:cs typeface="+mn-cs"/>
          <a:sym typeface="Times New Roman"/>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 Id="rId3"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 Id="rId3" Type="http://schemas.openxmlformats.org/officeDocument/2006/relationships/image" Target="../media/image9.png"/><Relationship Id="rId4" Type="http://schemas.openxmlformats.org/officeDocument/2006/relationships/image" Target="../media/image8.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 Id="rId3" Type="http://schemas.openxmlformats.org/officeDocument/2006/relationships/image" Target="../media/image9.png"/><Relationship Id="rId4" Type="http://schemas.openxmlformats.org/officeDocument/2006/relationships/image" Target="../media/image8.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png"/></Relationships>

</file>

<file path=ppt/slides/_rels/slide17.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png"/></Relationships>

</file>

<file path=ppt/slides/_rels/slide18.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s>

</file>

<file path=ppt/slides/_rels/slide21.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png"/></Relationships>

</file>

<file path=ppt/slides/_rels/slide22.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9" name="An Improved Algorithm for The Longest Common Subsequence Problem"/>
          <p:cNvSpPr txBox="1"/>
          <p:nvPr>
            <p:ph type="ctrTitle"/>
          </p:nvPr>
        </p:nvSpPr>
        <p:spPr>
          <a:xfrm>
            <a:off x="1326729" y="1968500"/>
            <a:ext cx="21730542" cy="4648200"/>
          </a:xfrm>
          <a:prstGeom prst="rect">
            <a:avLst/>
          </a:prstGeom>
        </p:spPr>
        <p:txBody>
          <a:bodyPr/>
          <a:lstStyle>
            <a:lvl1pPr defTabSz="767715">
              <a:defRPr sz="10416"/>
            </a:lvl1pPr>
          </a:lstStyle>
          <a:p>
            <a:pPr/>
            <a:r>
              <a:t>An Improved Algorithm for The Longest Common Subsequence Problem</a:t>
            </a:r>
          </a:p>
        </p:txBody>
      </p:sp>
      <p:sp>
        <p:nvSpPr>
          <p:cNvPr id="120" name="Sayyed Rasoul Mousavi, Farzaneh Tabataba…"/>
          <p:cNvSpPr txBox="1"/>
          <p:nvPr>
            <p:ph type="subTitle" sz="half" idx="1"/>
          </p:nvPr>
        </p:nvSpPr>
        <p:spPr>
          <a:xfrm>
            <a:off x="1778000" y="7315200"/>
            <a:ext cx="20828000" cy="4648200"/>
          </a:xfrm>
          <a:prstGeom prst="rect">
            <a:avLst/>
          </a:prstGeom>
        </p:spPr>
        <p:txBody>
          <a:bodyPr/>
          <a:lstStyle/>
          <a:p>
            <a:pPr/>
            <a:r>
              <a:t>Sayyed Rasoul Mousavi, Farzaneh Tabataba</a:t>
            </a:r>
          </a:p>
          <a:p>
            <a:pPr/>
            <a:r>
              <a:t>(Isfahan University of Technology, Iran)</a:t>
            </a:r>
          </a:p>
          <a:p>
            <a:pPr/>
          </a:p>
          <a:p>
            <a:pPr/>
            <a:r>
              <a:t>Computers &amp; Operations Research, 2012</a:t>
            </a:r>
          </a:p>
          <a:p>
            <a:pPr/>
            <a:r>
              <a:t>Volume 39, Issue 3, pp512-520</a:t>
            </a:r>
          </a:p>
        </p:txBody>
      </p:sp>
      <p:sp>
        <p:nvSpPr>
          <p:cNvPr id="121" name="幻燈片編號"/>
          <p:cNvSpPr txBox="1"/>
          <p:nvPr>
            <p:ph type="sldNum" sz="quarter" idx="2"/>
          </p:nvPr>
        </p:nvSpPr>
        <p:spPr>
          <a:xfrm>
            <a:off x="12039599" y="12984810"/>
            <a:ext cx="304801" cy="517216"/>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22" name="Presenter:  Tsung-Lin Lu…"/>
          <p:cNvSpPr txBox="1"/>
          <p:nvPr/>
        </p:nvSpPr>
        <p:spPr>
          <a:xfrm>
            <a:off x="17942490" y="11798956"/>
            <a:ext cx="6113114" cy="176141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lgn="r">
              <a:spcBef>
                <a:spcPts val="2000"/>
              </a:spcBef>
              <a:defRPr b="0" sz="3800">
                <a:latin typeface="+mn-lt"/>
                <a:ea typeface="+mn-ea"/>
                <a:cs typeface="+mn-cs"/>
                <a:sym typeface="Times New Roman"/>
              </a:defRPr>
            </a:pPr>
            <a:r>
              <a:t>Presenter:  Tsung-Lin Lu</a:t>
            </a:r>
          </a:p>
          <a:p>
            <a:pPr algn="r">
              <a:spcBef>
                <a:spcPts val="2000"/>
              </a:spcBef>
              <a:defRPr b="0" sz="3800">
                <a:latin typeface="+mn-lt"/>
                <a:ea typeface="+mn-ea"/>
                <a:cs typeface="+mn-cs"/>
                <a:sym typeface="Times New Roman"/>
              </a:defRPr>
            </a:pPr>
            <a:r>
              <a:t>Date: Feb 23, 2021</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4" name="Abstract"/>
          <p:cNvSpPr txBox="1"/>
          <p:nvPr>
            <p:ph type="title"/>
          </p:nvPr>
        </p:nvSpPr>
        <p:spPr>
          <a:prstGeom prst="rect">
            <a:avLst/>
          </a:prstGeom>
        </p:spPr>
        <p:txBody>
          <a:bodyPr/>
          <a:lstStyle>
            <a:lvl1pPr algn="l">
              <a:defRPr sz="9000"/>
            </a:lvl1pPr>
          </a:lstStyle>
          <a:p>
            <a:pPr/>
            <a:r>
              <a:t>Abstract</a:t>
            </a:r>
          </a:p>
        </p:txBody>
      </p:sp>
      <p:sp>
        <p:nvSpPr>
          <p:cNvPr id="125" name="The Longest Common Subsequence problem seeks a longest subsequence of every member of a given set of strings. It has applications, among others, in data compression, FPGA circuit minimization, and bioinformatics. The problem is NP-hard for more than two "/>
          <p:cNvSpPr txBox="1"/>
          <p:nvPr>
            <p:ph type="body" idx="1"/>
          </p:nvPr>
        </p:nvSpPr>
        <p:spPr>
          <a:prstGeom prst="rect">
            <a:avLst/>
          </a:prstGeom>
        </p:spPr>
        <p:txBody>
          <a:bodyPr anchor="t"/>
          <a:lstStyle>
            <a:lvl1pPr marL="0" indent="0" defTabSz="602615">
              <a:spcBef>
                <a:spcPts val="4300"/>
              </a:spcBef>
              <a:buSzTx/>
              <a:buNone/>
              <a:defRPr sz="4380"/>
            </a:lvl1pPr>
          </a:lstStyle>
          <a:p>
            <a:pPr/>
            <a:r>
              <a:t>The Longest Common Subsequence problem seeks a longest subsequence of every member of a given set of strings. It has applications, among others, in data compression, FPGA circuit minimization, and bioinformatics. The problem is NP-hard for more than two input strings, and the existing exact solutions are impractical for large input sizes. Therefore, several approximation and (meta) heuristic algorithms have been proposed which aim at finding good, but not necessarily optimal, solutions to the problem. In this paper, we propose a new algorithm based on the constructive beam search method. We have devised a novel heuristic, inspired by the probability theory, intended for domains where the input strings are assumed to be independent. Special data structures and dynamic programming methods are developed to reduce the time complexity of the algorithm. The proposed algorithm is compared with the state-of-the-art over several standard benchmarks including random and real biological sequences. Extensive experimental results show that the proposed algorithm outperforms the state-of-the-art by giving higher quality solutions with less computation time for most of the experimental cases.</a:t>
            </a:r>
          </a:p>
        </p:txBody>
      </p:sp>
      <p:sp>
        <p:nvSpPr>
          <p:cNvPr id="126" name="幻燈片編號"/>
          <p:cNvSpPr txBox="1"/>
          <p:nvPr>
            <p:ph type="sldNum" sz="quarter" idx="2"/>
          </p:nvPr>
        </p:nvSpPr>
        <p:spPr>
          <a:xfrm>
            <a:off x="12033249" y="13081000"/>
            <a:ext cx="304801" cy="51721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8" name="Introduction"/>
          <p:cNvSpPr txBox="1"/>
          <p:nvPr>
            <p:ph type="title"/>
          </p:nvPr>
        </p:nvSpPr>
        <p:spPr>
          <a:prstGeom prst="rect">
            <a:avLst/>
          </a:prstGeom>
        </p:spPr>
        <p:txBody>
          <a:bodyPr/>
          <a:lstStyle>
            <a:lvl1pPr algn="l">
              <a:defRPr sz="9000"/>
            </a:lvl1pPr>
          </a:lstStyle>
          <a:p>
            <a:pPr/>
            <a:r>
              <a:t>Introduction</a:t>
            </a:r>
          </a:p>
        </p:txBody>
      </p:sp>
      <p:sp>
        <p:nvSpPr>
          <p:cNvPr id="129" name="Beam Search algorithm (BS)[1]…"/>
          <p:cNvSpPr txBox="1"/>
          <p:nvPr>
            <p:ph type="body" idx="1"/>
          </p:nvPr>
        </p:nvSpPr>
        <p:spPr>
          <a:prstGeom prst="rect">
            <a:avLst/>
          </a:prstGeom>
        </p:spPr>
        <p:txBody>
          <a:bodyPr anchor="t"/>
          <a:lstStyle/>
          <a:p>
            <a:pPr marL="777874" indent="-777874" defTabSz="808990">
              <a:spcBef>
                <a:spcPts val="1400"/>
              </a:spcBef>
              <a:defRPr sz="5880"/>
            </a:pPr>
            <a:r>
              <a:t>Beam Search algorithm (BS)</a:t>
            </a:r>
            <a:r>
              <a:rPr baseline="31999"/>
              <a:t>[1]</a:t>
            </a:r>
          </a:p>
          <a:p>
            <a:pPr lvl="1" marL="1400175" indent="-777875" defTabSz="808990">
              <a:spcBef>
                <a:spcPts val="1400"/>
              </a:spcBef>
              <a:buChar char="‣"/>
              <a:defRPr sz="5880"/>
            </a:pPr>
            <a:r>
              <a:t>Two types</a:t>
            </a:r>
          </a:p>
          <a:p>
            <a:pPr lvl="2" marL="2022475" indent="-777875" defTabSz="808990">
              <a:spcBef>
                <a:spcPts val="1400"/>
              </a:spcBef>
              <a:buChar char="-"/>
              <a:defRPr sz="5880"/>
            </a:pPr>
            <a:r>
              <a:t>Low-time</a:t>
            </a:r>
          </a:p>
          <a:p>
            <a:pPr lvl="2" marL="2022475" indent="-777875" defTabSz="808990">
              <a:spcBef>
                <a:spcPts val="1400"/>
              </a:spcBef>
              <a:buChar char="-"/>
              <a:defRPr sz="5880"/>
            </a:pPr>
            <a:r>
              <a:t>High-quality</a:t>
            </a:r>
          </a:p>
          <a:p>
            <a:pPr lvl="1" marL="1400175" indent="-777875" defTabSz="808990">
              <a:spcBef>
                <a:spcPts val="1400"/>
              </a:spcBef>
              <a:buChar char="‣"/>
              <a:defRPr sz="5880"/>
            </a:pPr>
            <a:r>
              <a:t>Two different greedy functions for evaluation</a:t>
            </a:r>
          </a:p>
          <a:p>
            <a:pPr lvl="1" marL="1400175" indent="-777875" defTabSz="808990">
              <a:spcBef>
                <a:spcPts val="1400"/>
              </a:spcBef>
              <a:buChar char="‣"/>
              <a:defRPr sz="5880"/>
            </a:pPr>
            <a:r>
              <a:t>Upper bounds for pruning</a:t>
            </a:r>
          </a:p>
          <a:p>
            <a:pPr marL="777874" indent="-777874" defTabSz="808990">
              <a:spcBef>
                <a:spcPts val="1400"/>
              </a:spcBef>
              <a:defRPr b="1" sz="5880"/>
            </a:pPr>
            <a:r>
              <a:t>Improved Beam Search algorithm (IBS)</a:t>
            </a:r>
          </a:p>
          <a:p>
            <a:pPr lvl="1" marL="1400175" indent="-777875" defTabSz="808990">
              <a:spcBef>
                <a:spcPts val="1400"/>
              </a:spcBef>
              <a:buChar char="‣"/>
              <a:defRPr sz="5880"/>
            </a:pPr>
            <a:r>
              <a:rPr b="1">
                <a:solidFill>
                  <a:schemeClr val="accent5"/>
                </a:solidFill>
              </a:rPr>
              <a:t>Probability</a:t>
            </a:r>
            <a:r>
              <a:t>-based heuristic function for evaluation</a:t>
            </a:r>
          </a:p>
          <a:p>
            <a:pPr lvl="1" marL="1400175" indent="-777875" defTabSz="808990">
              <a:spcBef>
                <a:spcPts val="1400"/>
              </a:spcBef>
              <a:buChar char="‣"/>
              <a:defRPr sz="5880"/>
            </a:pPr>
            <a:r>
              <a:t>A list ĸ-best for pruning</a:t>
            </a:r>
          </a:p>
        </p:txBody>
      </p:sp>
      <p:sp>
        <p:nvSpPr>
          <p:cNvPr id="130" name="幻燈片編號"/>
          <p:cNvSpPr txBox="1"/>
          <p:nvPr>
            <p:ph type="sldNum" sz="quarter" idx="2"/>
          </p:nvPr>
        </p:nvSpPr>
        <p:spPr>
          <a:xfrm>
            <a:off x="12033249" y="13081000"/>
            <a:ext cx="304801" cy="51721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31" name="[1] Blum C, Blesa MJ, Iba ́n ̃ez ML. COR 2009;36(12): 3178–86."/>
          <p:cNvSpPr txBox="1"/>
          <p:nvPr/>
        </p:nvSpPr>
        <p:spPr>
          <a:xfrm>
            <a:off x="15006538" y="12647978"/>
            <a:ext cx="8903849" cy="44371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lgn="l">
              <a:defRPr sz="2500">
                <a:latin typeface="+mn-lt"/>
                <a:ea typeface="+mn-ea"/>
                <a:cs typeface="+mn-cs"/>
                <a:sym typeface="Times New Roman"/>
              </a:defRPr>
            </a:lvl1pPr>
          </a:lstStyle>
          <a:p>
            <a:pPr/>
            <a:r>
              <a:t>[1] Blum C, Blesa MJ, Iba ́n ̃ez ML. COR 2009;36(12): 3178–86.</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3" name="Algorithm"/>
          <p:cNvSpPr txBox="1"/>
          <p:nvPr>
            <p:ph type="title"/>
          </p:nvPr>
        </p:nvSpPr>
        <p:spPr>
          <a:prstGeom prst="rect">
            <a:avLst/>
          </a:prstGeom>
        </p:spPr>
        <p:txBody>
          <a:bodyPr/>
          <a:lstStyle>
            <a:lvl1pPr algn="l">
              <a:defRPr sz="9000"/>
            </a:lvl1pPr>
          </a:lstStyle>
          <a:p>
            <a:pPr/>
            <a:r>
              <a:t>Algorithm</a:t>
            </a:r>
          </a:p>
        </p:txBody>
      </p:sp>
      <p:sp>
        <p:nvSpPr>
          <p:cNvPr id="134" name="幻燈片編號"/>
          <p:cNvSpPr txBox="1"/>
          <p:nvPr>
            <p:ph type="sldNum" sz="quarter" idx="2"/>
          </p:nvPr>
        </p:nvSpPr>
        <p:spPr>
          <a:xfrm>
            <a:off x="12033249" y="13081000"/>
            <a:ext cx="304801" cy="51721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35" name="截圖 2021-02-22 下午7.01.13.png" descr="截圖 2021-02-22 下午7.01.13.png"/>
          <p:cNvPicPr>
            <a:picLocks noChangeAspect="1"/>
          </p:cNvPicPr>
          <p:nvPr/>
        </p:nvPicPr>
        <p:blipFill>
          <a:blip r:embed="rId2">
            <a:extLst/>
          </a:blip>
          <a:stretch>
            <a:fillRect/>
          </a:stretch>
        </p:blipFill>
        <p:spPr>
          <a:xfrm>
            <a:off x="1549224" y="2621490"/>
            <a:ext cx="10960101" cy="9563101"/>
          </a:xfrm>
          <a:prstGeom prst="rect">
            <a:avLst/>
          </a:prstGeom>
          <a:ln w="12700">
            <a:miter lim="400000"/>
          </a:ln>
        </p:spPr>
      </p:pic>
      <p:pic>
        <p:nvPicPr>
          <p:cNvPr id="136" name="截圖 2021-02-22 下午7.01.26.png" descr="截圖 2021-02-22 下午7.01.26.png"/>
          <p:cNvPicPr>
            <a:picLocks noChangeAspect="1"/>
          </p:cNvPicPr>
          <p:nvPr/>
        </p:nvPicPr>
        <p:blipFill>
          <a:blip r:embed="rId3">
            <a:extLst/>
          </a:blip>
          <a:stretch>
            <a:fillRect/>
          </a:stretch>
        </p:blipFill>
        <p:spPr>
          <a:xfrm>
            <a:off x="12549300" y="2664111"/>
            <a:ext cx="11447742" cy="7128091"/>
          </a:xfrm>
          <a:prstGeom prst="rect">
            <a:avLst/>
          </a:prstGeom>
          <a:ln w="12700">
            <a:miter lim="400000"/>
          </a:ln>
        </p:spPr>
      </p:pic>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38" name="截圖 2021-02-22 下午6.52.39.png" descr="截圖 2021-02-22 下午6.52.39.png"/>
          <p:cNvPicPr>
            <a:picLocks noChangeAspect="1"/>
          </p:cNvPicPr>
          <p:nvPr/>
        </p:nvPicPr>
        <p:blipFill>
          <a:blip r:embed="rId2">
            <a:extLst/>
          </a:blip>
          <a:srcRect l="70589" t="0" r="0" b="25139"/>
          <a:stretch>
            <a:fillRect/>
          </a:stretch>
        </p:blipFill>
        <p:spPr>
          <a:xfrm>
            <a:off x="13120013" y="4959579"/>
            <a:ext cx="5174640" cy="3844278"/>
          </a:xfrm>
          <a:prstGeom prst="rect">
            <a:avLst/>
          </a:prstGeom>
          <a:ln w="12700">
            <a:miter lim="400000"/>
          </a:ln>
        </p:spPr>
      </p:pic>
      <p:sp>
        <p:nvSpPr>
          <p:cNvPr id="139" name="Definition"/>
          <p:cNvSpPr txBox="1"/>
          <p:nvPr>
            <p:ph type="title"/>
          </p:nvPr>
        </p:nvSpPr>
        <p:spPr>
          <a:prstGeom prst="rect">
            <a:avLst/>
          </a:prstGeom>
        </p:spPr>
        <p:txBody>
          <a:bodyPr/>
          <a:lstStyle>
            <a:lvl1pPr algn="l">
              <a:defRPr sz="9000"/>
            </a:lvl1pPr>
          </a:lstStyle>
          <a:p>
            <a:pPr/>
            <a:r>
              <a:t>Definition</a:t>
            </a:r>
          </a:p>
        </p:txBody>
      </p:sp>
      <p:sp>
        <p:nvSpPr>
          <p:cNvPr id="140" name="幻燈片編號"/>
          <p:cNvSpPr txBox="1"/>
          <p:nvPr>
            <p:ph type="sldNum" sz="quarter" idx="2"/>
          </p:nvPr>
        </p:nvSpPr>
        <p:spPr>
          <a:xfrm>
            <a:off x="12033249" y="13081000"/>
            <a:ext cx="304801" cy="51721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41" name="截圖 2021-02-22 下午6.56.35.png" descr="截圖 2021-02-22 下午6.56.35.png"/>
          <p:cNvPicPr>
            <a:picLocks noChangeAspect="1"/>
          </p:cNvPicPr>
          <p:nvPr/>
        </p:nvPicPr>
        <p:blipFill>
          <a:blip r:embed="rId3">
            <a:extLst/>
          </a:blip>
          <a:srcRect l="0" t="0" r="0" b="32406"/>
          <a:stretch>
            <a:fillRect/>
          </a:stretch>
        </p:blipFill>
        <p:spPr>
          <a:xfrm>
            <a:off x="709301" y="2012837"/>
            <a:ext cx="11950701" cy="6094899"/>
          </a:xfrm>
          <a:prstGeom prst="rect">
            <a:avLst/>
          </a:prstGeom>
          <a:ln w="12700">
            <a:miter lim="400000"/>
          </a:ln>
        </p:spPr>
      </p:pic>
      <p:pic>
        <p:nvPicPr>
          <p:cNvPr id="142" name="截圖 2021-02-22 下午6.52.39.png" descr="截圖 2021-02-22 下午6.52.39.png"/>
          <p:cNvPicPr>
            <a:picLocks noChangeAspect="1"/>
          </p:cNvPicPr>
          <p:nvPr/>
        </p:nvPicPr>
        <p:blipFill>
          <a:blip r:embed="rId2">
            <a:extLst/>
          </a:blip>
          <a:srcRect l="0" t="0" r="70047" b="21796"/>
          <a:stretch>
            <a:fillRect/>
          </a:stretch>
        </p:blipFill>
        <p:spPr>
          <a:xfrm>
            <a:off x="12933681" y="1253484"/>
            <a:ext cx="5546996" cy="4227136"/>
          </a:xfrm>
          <a:prstGeom prst="rect">
            <a:avLst/>
          </a:prstGeom>
          <a:ln w="12700">
            <a:miter lim="400000"/>
          </a:ln>
        </p:spPr>
      </p:pic>
      <p:sp>
        <p:nvSpPr>
          <p:cNvPr id="143" name="p(x): the cost of the optimal map of x to s…"/>
          <p:cNvSpPr txBox="1"/>
          <p:nvPr/>
        </p:nvSpPr>
        <p:spPr>
          <a:xfrm>
            <a:off x="6885589" y="9115064"/>
            <a:ext cx="17643306" cy="357443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marL="793749" indent="-793749" algn="just">
              <a:buSzPct val="125000"/>
              <a:buChar char="•"/>
              <a:defRPr b="0" sz="6000">
                <a:latin typeface="+mn-lt"/>
                <a:ea typeface="+mn-ea"/>
                <a:cs typeface="+mn-cs"/>
                <a:sym typeface="Times New Roman"/>
              </a:defRPr>
            </a:pPr>
            <a:r>
              <a:t>p(x): the cost of the optimal map of x to s</a:t>
            </a:r>
          </a:p>
          <a:p>
            <a:pPr marL="793749" indent="-793749" algn="just">
              <a:buSzPct val="125000"/>
              <a:buChar char="•"/>
              <a:defRPr b="0" sz="6000">
                <a:latin typeface="+mn-lt"/>
                <a:ea typeface="+mn-ea"/>
                <a:cs typeface="+mn-cs"/>
                <a:sym typeface="Times New Roman"/>
              </a:defRPr>
            </a:pPr>
            <a:r>
              <a:t>q</a:t>
            </a:r>
            <a:r>
              <a:rPr baseline="-16666" sz="600"/>
              <a:t>i</a:t>
            </a:r>
            <a:r>
              <a:t>(x): m</a:t>
            </a:r>
            <a:r>
              <a:rPr baseline="-5999"/>
              <a:t>i</a:t>
            </a:r>
            <a:r>
              <a:t>-p</a:t>
            </a:r>
            <a:r>
              <a:rPr baseline="-5999"/>
              <a:t>i</a:t>
            </a:r>
            <a:r>
              <a:t>(x)</a:t>
            </a:r>
          </a:p>
          <a:p>
            <a:pPr marL="793749" indent="-793749" algn="just">
              <a:buSzPct val="125000"/>
              <a:buChar char="•"/>
              <a:defRPr b="0" sz="6000">
                <a:latin typeface="+mn-lt"/>
                <a:ea typeface="+mn-ea"/>
                <a:cs typeface="+mn-cs"/>
                <a:sym typeface="Times New Roman"/>
              </a:defRPr>
            </a:pPr>
            <a:r>
              <a:t>r(x): the string deleting the first p</a:t>
            </a:r>
            <a:r>
              <a:rPr baseline="-16666" sz="600"/>
              <a:t>i</a:t>
            </a:r>
            <a:r>
              <a:t>(x) charcters from s</a:t>
            </a:r>
            <a:r>
              <a:rPr baseline="-5999"/>
              <a:t>i</a:t>
            </a:r>
          </a:p>
        </p:txBody>
      </p:sp>
      <p:pic>
        <p:nvPicPr>
          <p:cNvPr id="144" name="截圖 2021-02-22 下午6.52.39.png" descr="截圖 2021-02-22 下午6.52.39.png"/>
          <p:cNvPicPr>
            <a:picLocks noChangeAspect="1"/>
          </p:cNvPicPr>
          <p:nvPr/>
        </p:nvPicPr>
        <p:blipFill>
          <a:blip r:embed="rId2">
            <a:extLst/>
          </a:blip>
          <a:srcRect l="37407" t="0" r="32634" b="26758"/>
          <a:stretch>
            <a:fillRect/>
          </a:stretch>
        </p:blipFill>
        <p:spPr>
          <a:xfrm>
            <a:off x="18410428" y="1079914"/>
            <a:ext cx="5910649" cy="4217784"/>
          </a:xfrm>
          <a:prstGeom prst="rect">
            <a:avLst/>
          </a:prstGeom>
          <a:ln w="12700">
            <a:miter lim="400000"/>
          </a:ln>
        </p:spPr>
      </p:pic>
      <p:sp>
        <p:nvSpPr>
          <p:cNvPr id="145" name="ß: beam size…"/>
          <p:cNvSpPr txBox="1"/>
          <p:nvPr/>
        </p:nvSpPr>
        <p:spPr>
          <a:xfrm>
            <a:off x="615398" y="9091988"/>
            <a:ext cx="5910660" cy="269813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marL="793749" indent="-793749" algn="just">
              <a:buSzPct val="125000"/>
              <a:buChar char="•"/>
              <a:defRPr b="0" sz="6000">
                <a:latin typeface="+mn-lt"/>
                <a:ea typeface="+mn-ea"/>
                <a:cs typeface="+mn-cs"/>
                <a:sym typeface="Times New Roman"/>
              </a:defRPr>
            </a:pPr>
            <a:r>
              <a:t>ß: beam size</a:t>
            </a:r>
          </a:p>
          <a:p>
            <a:pPr marL="793749" indent="-793749" algn="just">
              <a:buSzPct val="125000"/>
              <a:buChar char="•"/>
              <a:defRPr b="0" sz="6000">
                <a:latin typeface="+mn-lt"/>
                <a:ea typeface="+mn-ea"/>
                <a:cs typeface="+mn-cs"/>
                <a:sym typeface="Times New Roman"/>
              </a:defRPr>
            </a:pPr>
            <a:r>
              <a:t>∑: alphabet set</a:t>
            </a:r>
          </a:p>
          <a:p>
            <a:pPr marL="793749" indent="-793749" algn="just">
              <a:buSzPct val="125000"/>
              <a:buChar char="•"/>
              <a:defRPr b="0" sz="6000">
                <a:latin typeface="+mn-lt"/>
                <a:ea typeface="+mn-ea"/>
                <a:cs typeface="+mn-cs"/>
                <a:sym typeface="Times New Roman"/>
              </a:defRPr>
            </a:pPr>
            <a:r>
              <a:t>x: candidate</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7" name="Step1: Extension"/>
          <p:cNvSpPr txBox="1"/>
          <p:nvPr>
            <p:ph type="title"/>
          </p:nvPr>
        </p:nvSpPr>
        <p:spPr>
          <a:prstGeom prst="rect">
            <a:avLst/>
          </a:prstGeom>
        </p:spPr>
        <p:txBody>
          <a:bodyPr/>
          <a:lstStyle>
            <a:lvl1pPr algn="l">
              <a:defRPr sz="9000"/>
            </a:lvl1pPr>
          </a:lstStyle>
          <a:p>
            <a:pPr/>
            <a:r>
              <a:t>Step1: Extension</a:t>
            </a:r>
          </a:p>
        </p:txBody>
      </p:sp>
      <p:sp>
        <p:nvSpPr>
          <p:cNvPr id="148" name="幻燈片編號"/>
          <p:cNvSpPr txBox="1"/>
          <p:nvPr>
            <p:ph type="sldNum" sz="quarter" idx="2"/>
          </p:nvPr>
        </p:nvSpPr>
        <p:spPr>
          <a:xfrm>
            <a:off x="12033249" y="13081000"/>
            <a:ext cx="304801" cy="51721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49" name="截圖 2021-02-22 下午6.56.35.png" descr="截圖 2021-02-22 下午6.56.35.png"/>
          <p:cNvPicPr>
            <a:picLocks noChangeAspect="1"/>
          </p:cNvPicPr>
          <p:nvPr/>
        </p:nvPicPr>
        <p:blipFill>
          <a:blip r:embed="rId2">
            <a:extLst/>
          </a:blip>
          <a:srcRect l="0" t="0" r="0" b="32406"/>
          <a:stretch>
            <a:fillRect/>
          </a:stretch>
        </p:blipFill>
        <p:spPr>
          <a:xfrm>
            <a:off x="11266590" y="6509689"/>
            <a:ext cx="11950701" cy="6094899"/>
          </a:xfrm>
          <a:prstGeom prst="rect">
            <a:avLst/>
          </a:prstGeom>
          <a:ln w="12700">
            <a:miter lim="400000"/>
          </a:ln>
        </p:spPr>
      </p:pic>
      <p:sp>
        <p:nvSpPr>
          <p:cNvPr id="150" name="Each candidate solution xi in B is extended by appending at its end a character drawn from P.…"/>
          <p:cNvSpPr txBox="1"/>
          <p:nvPr/>
        </p:nvSpPr>
        <p:spPr>
          <a:xfrm>
            <a:off x="1519503" y="2941505"/>
            <a:ext cx="21344994" cy="384113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marL="793749" indent="-793749" algn="just">
              <a:spcBef>
                <a:spcPts val="1500"/>
              </a:spcBef>
              <a:buSzPct val="125000"/>
              <a:buChar char="•"/>
              <a:defRPr b="0" sz="6000">
                <a:latin typeface="+mn-lt"/>
                <a:ea typeface="+mn-ea"/>
                <a:cs typeface="+mn-cs"/>
                <a:sym typeface="Times New Roman"/>
              </a:defRPr>
            </a:pPr>
            <a:r>
              <a:t>Each candidate solution x</a:t>
            </a:r>
            <a:r>
              <a:rPr baseline="-5999"/>
              <a:t>i</a:t>
            </a:r>
            <a:r>
              <a:t> in B is extended by </a:t>
            </a:r>
            <a:r>
              <a:rPr b="1"/>
              <a:t>appending</a:t>
            </a:r>
            <a:r>
              <a:t> at its end a character drawn from </a:t>
            </a:r>
            <a:r>
              <a:rPr baseline="10000"/>
              <a:t>P</a:t>
            </a:r>
            <a:r>
              <a:t>.</a:t>
            </a:r>
          </a:p>
          <a:p>
            <a:pPr marL="793749" indent="-793749" algn="just">
              <a:spcBef>
                <a:spcPts val="1500"/>
              </a:spcBef>
              <a:buSzPct val="125000"/>
              <a:buChar char="•"/>
              <a:defRPr b="0" sz="6000">
                <a:latin typeface="+mn-lt"/>
                <a:ea typeface="+mn-ea"/>
                <a:cs typeface="+mn-cs"/>
                <a:sym typeface="Times New Roman"/>
              </a:defRPr>
            </a:pPr>
            <a:r>
              <a:t>Only the feasible ones, determined using the function </a:t>
            </a:r>
            <a:r>
              <a:rPr b="1"/>
              <a:t>feasible</a:t>
            </a:r>
            <a:r>
              <a:t>(.), are kept in the set C.</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52" name="截圖 2021-02-22 下午7.47.48.png" descr="截圖 2021-02-22 下午7.47.48.png"/>
          <p:cNvPicPr>
            <a:picLocks noChangeAspect="1"/>
          </p:cNvPicPr>
          <p:nvPr/>
        </p:nvPicPr>
        <p:blipFill>
          <a:blip r:embed="rId2">
            <a:extLst/>
          </a:blip>
          <a:stretch>
            <a:fillRect/>
          </a:stretch>
        </p:blipFill>
        <p:spPr>
          <a:xfrm>
            <a:off x="1388652" y="6144463"/>
            <a:ext cx="19397492" cy="5326651"/>
          </a:xfrm>
          <a:prstGeom prst="rect">
            <a:avLst/>
          </a:prstGeom>
          <a:ln w="12700">
            <a:miter lim="400000"/>
          </a:ln>
        </p:spPr>
      </p:pic>
      <p:sp>
        <p:nvSpPr>
          <p:cNvPr id="153" name="矩形"/>
          <p:cNvSpPr/>
          <p:nvPr/>
        </p:nvSpPr>
        <p:spPr>
          <a:xfrm>
            <a:off x="1817828" y="3991256"/>
            <a:ext cx="9235773" cy="2412257"/>
          </a:xfrm>
          <a:prstGeom prst="rect">
            <a:avLst/>
          </a:prstGeom>
          <a:ln w="63500">
            <a:solidFill>
              <a:schemeClr val="accent1"/>
            </a:solidFill>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154" name="Step2: Calculation of heuristic values"/>
          <p:cNvSpPr txBox="1"/>
          <p:nvPr>
            <p:ph type="title"/>
          </p:nvPr>
        </p:nvSpPr>
        <p:spPr>
          <a:prstGeom prst="rect">
            <a:avLst/>
          </a:prstGeom>
        </p:spPr>
        <p:txBody>
          <a:bodyPr/>
          <a:lstStyle>
            <a:lvl1pPr algn="l">
              <a:defRPr sz="9000"/>
            </a:lvl1pPr>
          </a:lstStyle>
          <a:p>
            <a:pPr/>
            <a:r>
              <a:t>Step2: Calculation of heuristic values</a:t>
            </a:r>
          </a:p>
        </p:txBody>
      </p:sp>
      <p:sp>
        <p:nvSpPr>
          <p:cNvPr id="155" name="幻燈片編號"/>
          <p:cNvSpPr txBox="1"/>
          <p:nvPr>
            <p:ph type="sldNum" sz="quarter" idx="2"/>
          </p:nvPr>
        </p:nvSpPr>
        <p:spPr>
          <a:xfrm>
            <a:off x="12033249" y="13081000"/>
            <a:ext cx="304801" cy="51721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56" name="截圖 2021-02-22 下午7.47.27.png" descr="截圖 2021-02-22 下午7.47.27.png"/>
          <p:cNvPicPr>
            <a:picLocks noChangeAspect="1"/>
          </p:cNvPicPr>
          <p:nvPr/>
        </p:nvPicPr>
        <p:blipFill>
          <a:blip r:embed="rId3">
            <a:extLst/>
          </a:blip>
          <a:stretch>
            <a:fillRect/>
          </a:stretch>
        </p:blipFill>
        <p:spPr>
          <a:xfrm>
            <a:off x="2224287" y="4142039"/>
            <a:ext cx="8422855" cy="2110692"/>
          </a:xfrm>
          <a:prstGeom prst="rect">
            <a:avLst/>
          </a:prstGeom>
          <a:ln w="12700">
            <a:miter lim="400000"/>
          </a:ln>
        </p:spPr>
      </p:pic>
      <p:pic>
        <p:nvPicPr>
          <p:cNvPr id="157" name="截圖 2021-02-22 下午7.48.29.png" descr="截圖 2021-02-22 下午7.48.29.png"/>
          <p:cNvPicPr>
            <a:picLocks noChangeAspect="1"/>
          </p:cNvPicPr>
          <p:nvPr/>
        </p:nvPicPr>
        <p:blipFill>
          <a:blip r:embed="rId4">
            <a:extLst/>
          </a:blip>
          <a:stretch>
            <a:fillRect/>
          </a:stretch>
        </p:blipFill>
        <p:spPr>
          <a:xfrm>
            <a:off x="12162530" y="3654854"/>
            <a:ext cx="10248901" cy="2032001"/>
          </a:xfrm>
          <a:prstGeom prst="rect">
            <a:avLst/>
          </a:prstGeom>
          <a:ln w="12700">
            <a:miter lim="400000"/>
          </a:ln>
        </p:spPr>
      </p:pic>
      <p:sp>
        <p:nvSpPr>
          <p:cNvPr id="158" name="Assumption: The strings in S are “independent”."/>
          <p:cNvSpPr txBox="1"/>
          <p:nvPr/>
        </p:nvSpPr>
        <p:spPr>
          <a:xfrm>
            <a:off x="1826511" y="2485814"/>
            <a:ext cx="15192079" cy="94553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just">
              <a:spcBef>
                <a:spcPts val="5900"/>
              </a:spcBef>
              <a:defRPr b="0" sz="6000">
                <a:latin typeface="+mn-lt"/>
                <a:ea typeface="+mn-ea"/>
                <a:cs typeface="+mn-cs"/>
                <a:sym typeface="Times New Roman"/>
              </a:defRPr>
            </a:pPr>
            <a:r>
              <a:t>Assumption: The strings in S are “</a:t>
            </a:r>
            <a:r>
              <a:rPr b="1">
                <a:solidFill>
                  <a:schemeClr val="accent5"/>
                </a:solidFill>
              </a:rPr>
              <a:t>independent</a:t>
            </a:r>
            <a:r>
              <a:t>”.</a:t>
            </a:r>
          </a:p>
        </p:txBody>
      </p:sp>
      <p:sp>
        <p:nvSpPr>
          <p:cNvPr id="159" name="k = |s|, q = |ri|"/>
          <p:cNvSpPr txBox="1"/>
          <p:nvPr/>
        </p:nvSpPr>
        <p:spPr>
          <a:xfrm>
            <a:off x="1952398" y="11483082"/>
            <a:ext cx="4974160" cy="94553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marL="793749" indent="-793749" algn="just">
              <a:spcBef>
                <a:spcPts val="5900"/>
              </a:spcBef>
              <a:buSzPct val="125000"/>
              <a:buChar char="•"/>
              <a:defRPr b="0" sz="6000">
                <a:latin typeface="+mn-lt"/>
                <a:ea typeface="+mn-ea"/>
                <a:cs typeface="+mn-cs"/>
                <a:sym typeface="Times New Roman"/>
              </a:defRPr>
            </a:pPr>
            <a:r>
              <a:t>k = |s|, q = |r</a:t>
            </a:r>
            <a:r>
              <a:rPr baseline="-5999"/>
              <a:t>i</a:t>
            </a:r>
            <a:r>
              <a:t>|</a:t>
            </a:r>
          </a:p>
        </p:txBody>
      </p:sp>
      <p:sp>
        <p:nvSpPr>
          <p:cNvPr id="160" name="Case (i): s1≠r1, s≺r ↔︎ s≺r'…"/>
          <p:cNvSpPr txBox="1"/>
          <p:nvPr/>
        </p:nvSpPr>
        <p:spPr>
          <a:xfrm>
            <a:off x="11941305" y="6464175"/>
            <a:ext cx="12168760" cy="3192985"/>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just">
              <a:spcBef>
                <a:spcPts val="1500"/>
              </a:spcBef>
              <a:defRPr b="0" sz="6000">
                <a:latin typeface="+mn-lt"/>
                <a:ea typeface="+mn-ea"/>
                <a:cs typeface="+mn-cs"/>
                <a:sym typeface="Times New Roman"/>
              </a:defRPr>
            </a:pPr>
            <a:r>
              <a:t>Case (i): s</a:t>
            </a:r>
            <a:r>
              <a:rPr baseline="31999"/>
              <a:t>1</a:t>
            </a:r>
            <a:r>
              <a:t>≠r</a:t>
            </a:r>
            <a:r>
              <a:rPr baseline="31999"/>
              <a:t>1</a:t>
            </a:r>
            <a:r>
              <a:t>, s≺r ↔︎ s≺r'</a:t>
            </a:r>
          </a:p>
          <a:p>
            <a:pPr algn="just">
              <a:spcBef>
                <a:spcPts val="1500"/>
              </a:spcBef>
              <a:defRPr b="0" sz="6000">
                <a:solidFill>
                  <a:srgbClr val="D5D5D5"/>
                </a:solidFill>
                <a:latin typeface="+mn-lt"/>
                <a:ea typeface="+mn-ea"/>
                <a:cs typeface="+mn-cs"/>
                <a:sym typeface="Times New Roman"/>
              </a:defRPr>
            </a:pPr>
            <a:r>
              <a:t>Case (ii): s</a:t>
            </a:r>
            <a:r>
              <a:rPr baseline="31999"/>
              <a:t>1</a:t>
            </a:r>
            <a:r>
              <a:t>=r</a:t>
            </a:r>
            <a:r>
              <a:rPr baseline="31999"/>
              <a:t>1</a:t>
            </a:r>
            <a:r>
              <a:t>, s≺r ↔︎ s'≺r', implies s≺r</a:t>
            </a:r>
          </a:p>
        </p:txBody>
      </p:sp>
      <p:sp>
        <p:nvSpPr>
          <p:cNvPr id="161" name="取消"/>
          <p:cNvSpPr/>
          <p:nvPr/>
        </p:nvSpPr>
        <p:spPr>
          <a:xfrm>
            <a:off x="4426970" y="9416837"/>
            <a:ext cx="798556" cy="798571"/>
          </a:xfrm>
          <a:custGeom>
            <a:avLst/>
            <a:gdLst/>
            <a:ahLst/>
            <a:cxnLst>
              <a:cxn ang="0">
                <a:pos x="wd2" y="hd2"/>
              </a:cxn>
              <a:cxn ang="5400000">
                <a:pos x="wd2" y="hd2"/>
              </a:cxn>
              <a:cxn ang="10800000">
                <a:pos x="wd2" y="hd2"/>
              </a:cxn>
              <a:cxn ang="16200000">
                <a:pos x="wd2" y="hd2"/>
              </a:cxn>
            </a:cxnLst>
            <a:rect l="0" t="0" r="r" b="b"/>
            <a:pathLst>
              <a:path w="19679" h="20595" fill="norm" stroke="1" extrusionOk="0">
                <a:moveTo>
                  <a:pt x="9839" y="0"/>
                </a:moveTo>
                <a:cubicBezTo>
                  <a:pt x="7321" y="0"/>
                  <a:pt x="4803" y="1006"/>
                  <a:pt x="2881" y="3016"/>
                </a:cubicBezTo>
                <a:cubicBezTo>
                  <a:pt x="-961" y="7037"/>
                  <a:pt x="-961" y="13558"/>
                  <a:pt x="2881" y="17579"/>
                </a:cubicBezTo>
                <a:cubicBezTo>
                  <a:pt x="6724" y="21600"/>
                  <a:pt x="12954" y="21600"/>
                  <a:pt x="16797" y="17579"/>
                </a:cubicBezTo>
                <a:cubicBezTo>
                  <a:pt x="20639" y="13558"/>
                  <a:pt x="20639" y="7037"/>
                  <a:pt x="16797" y="3016"/>
                </a:cubicBezTo>
                <a:cubicBezTo>
                  <a:pt x="14875" y="1006"/>
                  <a:pt x="12357" y="0"/>
                  <a:pt x="9839" y="0"/>
                </a:cubicBezTo>
                <a:close/>
                <a:moveTo>
                  <a:pt x="6165" y="4684"/>
                </a:moveTo>
                <a:cubicBezTo>
                  <a:pt x="6180" y="4684"/>
                  <a:pt x="6194" y="4690"/>
                  <a:pt x="6205" y="4702"/>
                </a:cubicBezTo>
                <a:lnTo>
                  <a:pt x="9799" y="8462"/>
                </a:lnTo>
                <a:cubicBezTo>
                  <a:pt x="9822" y="8486"/>
                  <a:pt x="9858" y="8486"/>
                  <a:pt x="9881" y="8462"/>
                </a:cubicBezTo>
                <a:lnTo>
                  <a:pt x="13474" y="4702"/>
                </a:lnTo>
                <a:cubicBezTo>
                  <a:pt x="13497" y="4678"/>
                  <a:pt x="13533" y="4678"/>
                  <a:pt x="13556" y="4702"/>
                </a:cubicBezTo>
                <a:lnTo>
                  <a:pt x="15186" y="6408"/>
                </a:lnTo>
                <a:cubicBezTo>
                  <a:pt x="15209" y="6432"/>
                  <a:pt x="15209" y="6471"/>
                  <a:pt x="15186" y="6495"/>
                </a:cubicBezTo>
                <a:lnTo>
                  <a:pt x="11593" y="10254"/>
                </a:lnTo>
                <a:cubicBezTo>
                  <a:pt x="11570" y="10278"/>
                  <a:pt x="11570" y="10317"/>
                  <a:pt x="11593" y="10341"/>
                </a:cubicBezTo>
                <a:lnTo>
                  <a:pt x="15186" y="14100"/>
                </a:lnTo>
                <a:cubicBezTo>
                  <a:pt x="15209" y="14124"/>
                  <a:pt x="15209" y="14162"/>
                  <a:pt x="15186" y="14186"/>
                </a:cubicBezTo>
                <a:lnTo>
                  <a:pt x="13556" y="15892"/>
                </a:lnTo>
                <a:cubicBezTo>
                  <a:pt x="13533" y="15916"/>
                  <a:pt x="13497" y="15916"/>
                  <a:pt x="13474" y="15892"/>
                </a:cubicBezTo>
                <a:lnTo>
                  <a:pt x="9881" y="12133"/>
                </a:lnTo>
                <a:cubicBezTo>
                  <a:pt x="9858" y="12109"/>
                  <a:pt x="9822" y="12109"/>
                  <a:pt x="9799" y="12133"/>
                </a:cubicBezTo>
                <a:lnTo>
                  <a:pt x="6205" y="15892"/>
                </a:lnTo>
                <a:cubicBezTo>
                  <a:pt x="6183" y="15916"/>
                  <a:pt x="6147" y="15916"/>
                  <a:pt x="6124" y="15892"/>
                </a:cubicBezTo>
                <a:lnTo>
                  <a:pt x="4493" y="14186"/>
                </a:lnTo>
                <a:cubicBezTo>
                  <a:pt x="4471" y="14162"/>
                  <a:pt x="4471" y="14124"/>
                  <a:pt x="4493" y="14100"/>
                </a:cubicBezTo>
                <a:lnTo>
                  <a:pt x="8085" y="10341"/>
                </a:lnTo>
                <a:cubicBezTo>
                  <a:pt x="8108" y="10317"/>
                  <a:pt x="8108" y="10278"/>
                  <a:pt x="8085" y="10254"/>
                </a:cubicBezTo>
                <a:lnTo>
                  <a:pt x="4493" y="6495"/>
                </a:lnTo>
                <a:cubicBezTo>
                  <a:pt x="4471" y="6471"/>
                  <a:pt x="4471" y="6432"/>
                  <a:pt x="4493" y="6408"/>
                </a:cubicBezTo>
                <a:lnTo>
                  <a:pt x="6124" y="4702"/>
                </a:lnTo>
                <a:cubicBezTo>
                  <a:pt x="6135" y="4690"/>
                  <a:pt x="6151" y="4684"/>
                  <a:pt x="6165" y="4684"/>
                </a:cubicBezTo>
                <a:close/>
              </a:path>
            </a:pathLst>
          </a:custGeom>
          <a:solidFill>
            <a:schemeClr val="accent5">
              <a:hueOff val="-82419"/>
              <a:satOff val="-9513"/>
              <a:lumOff val="-16343"/>
            </a:schemeClr>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162" name="取消"/>
          <p:cNvSpPr/>
          <p:nvPr/>
        </p:nvSpPr>
        <p:spPr>
          <a:xfrm>
            <a:off x="4426970" y="7623281"/>
            <a:ext cx="798556" cy="798572"/>
          </a:xfrm>
          <a:custGeom>
            <a:avLst/>
            <a:gdLst/>
            <a:ahLst/>
            <a:cxnLst>
              <a:cxn ang="0">
                <a:pos x="wd2" y="hd2"/>
              </a:cxn>
              <a:cxn ang="5400000">
                <a:pos x="wd2" y="hd2"/>
              </a:cxn>
              <a:cxn ang="10800000">
                <a:pos x="wd2" y="hd2"/>
              </a:cxn>
              <a:cxn ang="16200000">
                <a:pos x="wd2" y="hd2"/>
              </a:cxn>
            </a:cxnLst>
            <a:rect l="0" t="0" r="r" b="b"/>
            <a:pathLst>
              <a:path w="19679" h="20595" fill="norm" stroke="1" extrusionOk="0">
                <a:moveTo>
                  <a:pt x="9839" y="0"/>
                </a:moveTo>
                <a:cubicBezTo>
                  <a:pt x="7321" y="0"/>
                  <a:pt x="4803" y="1006"/>
                  <a:pt x="2881" y="3016"/>
                </a:cubicBezTo>
                <a:cubicBezTo>
                  <a:pt x="-961" y="7037"/>
                  <a:pt x="-961" y="13558"/>
                  <a:pt x="2881" y="17579"/>
                </a:cubicBezTo>
                <a:cubicBezTo>
                  <a:pt x="6724" y="21600"/>
                  <a:pt x="12954" y="21600"/>
                  <a:pt x="16797" y="17579"/>
                </a:cubicBezTo>
                <a:cubicBezTo>
                  <a:pt x="20639" y="13558"/>
                  <a:pt x="20639" y="7037"/>
                  <a:pt x="16797" y="3016"/>
                </a:cubicBezTo>
                <a:cubicBezTo>
                  <a:pt x="14875" y="1006"/>
                  <a:pt x="12357" y="0"/>
                  <a:pt x="9839" y="0"/>
                </a:cubicBezTo>
                <a:close/>
                <a:moveTo>
                  <a:pt x="6165" y="4684"/>
                </a:moveTo>
                <a:cubicBezTo>
                  <a:pt x="6180" y="4684"/>
                  <a:pt x="6194" y="4690"/>
                  <a:pt x="6205" y="4702"/>
                </a:cubicBezTo>
                <a:lnTo>
                  <a:pt x="9799" y="8462"/>
                </a:lnTo>
                <a:cubicBezTo>
                  <a:pt x="9822" y="8486"/>
                  <a:pt x="9858" y="8486"/>
                  <a:pt x="9881" y="8462"/>
                </a:cubicBezTo>
                <a:lnTo>
                  <a:pt x="13474" y="4702"/>
                </a:lnTo>
                <a:cubicBezTo>
                  <a:pt x="13497" y="4678"/>
                  <a:pt x="13533" y="4678"/>
                  <a:pt x="13556" y="4702"/>
                </a:cubicBezTo>
                <a:lnTo>
                  <a:pt x="15186" y="6408"/>
                </a:lnTo>
                <a:cubicBezTo>
                  <a:pt x="15209" y="6432"/>
                  <a:pt x="15209" y="6471"/>
                  <a:pt x="15186" y="6495"/>
                </a:cubicBezTo>
                <a:lnTo>
                  <a:pt x="11593" y="10254"/>
                </a:lnTo>
                <a:cubicBezTo>
                  <a:pt x="11570" y="10278"/>
                  <a:pt x="11570" y="10317"/>
                  <a:pt x="11593" y="10341"/>
                </a:cubicBezTo>
                <a:lnTo>
                  <a:pt x="15186" y="14100"/>
                </a:lnTo>
                <a:cubicBezTo>
                  <a:pt x="15209" y="14124"/>
                  <a:pt x="15209" y="14162"/>
                  <a:pt x="15186" y="14186"/>
                </a:cubicBezTo>
                <a:lnTo>
                  <a:pt x="13556" y="15892"/>
                </a:lnTo>
                <a:cubicBezTo>
                  <a:pt x="13533" y="15916"/>
                  <a:pt x="13497" y="15916"/>
                  <a:pt x="13474" y="15892"/>
                </a:cubicBezTo>
                <a:lnTo>
                  <a:pt x="9881" y="12133"/>
                </a:lnTo>
                <a:cubicBezTo>
                  <a:pt x="9858" y="12109"/>
                  <a:pt x="9822" y="12109"/>
                  <a:pt x="9799" y="12133"/>
                </a:cubicBezTo>
                <a:lnTo>
                  <a:pt x="6205" y="15892"/>
                </a:lnTo>
                <a:cubicBezTo>
                  <a:pt x="6183" y="15916"/>
                  <a:pt x="6147" y="15916"/>
                  <a:pt x="6124" y="15892"/>
                </a:cubicBezTo>
                <a:lnTo>
                  <a:pt x="4493" y="14186"/>
                </a:lnTo>
                <a:cubicBezTo>
                  <a:pt x="4471" y="14162"/>
                  <a:pt x="4471" y="14124"/>
                  <a:pt x="4493" y="14100"/>
                </a:cubicBezTo>
                <a:lnTo>
                  <a:pt x="8085" y="10341"/>
                </a:lnTo>
                <a:cubicBezTo>
                  <a:pt x="8108" y="10317"/>
                  <a:pt x="8108" y="10278"/>
                  <a:pt x="8085" y="10254"/>
                </a:cubicBezTo>
                <a:lnTo>
                  <a:pt x="4493" y="6495"/>
                </a:lnTo>
                <a:cubicBezTo>
                  <a:pt x="4471" y="6471"/>
                  <a:pt x="4471" y="6432"/>
                  <a:pt x="4493" y="6408"/>
                </a:cubicBezTo>
                <a:lnTo>
                  <a:pt x="6124" y="4702"/>
                </a:lnTo>
                <a:cubicBezTo>
                  <a:pt x="6135" y="4690"/>
                  <a:pt x="6151" y="4684"/>
                  <a:pt x="6165" y="4684"/>
                </a:cubicBezTo>
                <a:close/>
              </a:path>
            </a:pathLst>
          </a:custGeom>
          <a:solidFill>
            <a:schemeClr val="accent5">
              <a:hueOff val="-82419"/>
              <a:satOff val="-9513"/>
              <a:lumOff val="-16343"/>
            </a:schemeClr>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163" name="線條"/>
          <p:cNvSpPr/>
          <p:nvPr/>
        </p:nvSpPr>
        <p:spPr>
          <a:xfrm flipV="1">
            <a:off x="4397656" y="8293025"/>
            <a:ext cx="857184" cy="1149764"/>
          </a:xfrm>
          <a:prstGeom prst="line">
            <a:avLst/>
          </a:prstGeom>
          <a:ln w="127000">
            <a:solidFill>
              <a:schemeClr val="accent1"/>
            </a:solidFill>
            <a:miter lim="400000"/>
          </a:ln>
        </p:spPr>
        <p:txBody>
          <a:bodyPr lIns="50800" tIns="50800" rIns="50800" bIns="50800" anchor="ctr"/>
          <a:lstStyle/>
          <a:p>
            <a:pPr/>
          </a:p>
        </p:txBody>
      </p:sp>
      <p:sp>
        <p:nvSpPr>
          <p:cNvPr id="164" name="線條"/>
          <p:cNvSpPr/>
          <p:nvPr/>
        </p:nvSpPr>
        <p:spPr>
          <a:xfrm flipV="1">
            <a:off x="9382218" y="8291923"/>
            <a:ext cx="1719123" cy="1151967"/>
          </a:xfrm>
          <a:prstGeom prst="line">
            <a:avLst/>
          </a:prstGeom>
          <a:ln w="127000">
            <a:solidFill>
              <a:schemeClr val="accent1"/>
            </a:solidFill>
            <a:miter lim="400000"/>
          </a:ln>
        </p:spPr>
        <p:txBody>
          <a:bodyPr lIns="50800" tIns="50800" rIns="50800" bIns="50800" anchor="ctr"/>
          <a:lstStyle/>
          <a:p>
            <a:pPr/>
          </a:p>
        </p:txBody>
      </p:sp>
      <p:sp>
        <p:nvSpPr>
          <p:cNvPr id="165" name="Case1"/>
          <p:cNvSpPr txBox="1"/>
          <p:nvPr/>
        </p:nvSpPr>
        <p:spPr>
          <a:xfrm>
            <a:off x="18227891" y="5602912"/>
            <a:ext cx="1250443" cy="560449"/>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solidFill>
                  <a:schemeClr val="accent1"/>
                </a:solidFill>
              </a:defRPr>
            </a:lvl1pPr>
          </a:lstStyle>
          <a:p>
            <a:pPr/>
            <a:r>
              <a:t>Case1</a:t>
            </a:r>
          </a:p>
        </p:txBody>
      </p:sp>
      <p:sp>
        <p:nvSpPr>
          <p:cNvPr id="166" name="Case2"/>
          <p:cNvSpPr txBox="1"/>
          <p:nvPr/>
        </p:nvSpPr>
        <p:spPr>
          <a:xfrm>
            <a:off x="15060406" y="5602912"/>
            <a:ext cx="1250443" cy="560449"/>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solidFill>
                  <a:schemeClr val="accent1"/>
                </a:solidFill>
              </a:defRPr>
            </a:lvl1pPr>
          </a:lstStyle>
          <a:p>
            <a:pPr/>
            <a:r>
              <a:t>Case2</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68" name="截圖 2021-02-22 下午7.47.48.png" descr="截圖 2021-02-22 下午7.47.48.png"/>
          <p:cNvPicPr>
            <a:picLocks noChangeAspect="1"/>
          </p:cNvPicPr>
          <p:nvPr/>
        </p:nvPicPr>
        <p:blipFill>
          <a:blip r:embed="rId2">
            <a:extLst/>
          </a:blip>
          <a:stretch>
            <a:fillRect/>
          </a:stretch>
        </p:blipFill>
        <p:spPr>
          <a:xfrm>
            <a:off x="1388652" y="6144463"/>
            <a:ext cx="19397492" cy="5326651"/>
          </a:xfrm>
          <a:prstGeom prst="rect">
            <a:avLst/>
          </a:prstGeom>
          <a:ln w="12700">
            <a:miter lim="400000"/>
          </a:ln>
        </p:spPr>
      </p:pic>
      <p:sp>
        <p:nvSpPr>
          <p:cNvPr id="169" name="矩形"/>
          <p:cNvSpPr/>
          <p:nvPr/>
        </p:nvSpPr>
        <p:spPr>
          <a:xfrm>
            <a:off x="1817828" y="3991256"/>
            <a:ext cx="9235773" cy="2412257"/>
          </a:xfrm>
          <a:prstGeom prst="rect">
            <a:avLst/>
          </a:prstGeom>
          <a:ln w="63500">
            <a:solidFill>
              <a:schemeClr val="accent1"/>
            </a:solidFill>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170" name="Step2: Calculation of heuristic values"/>
          <p:cNvSpPr txBox="1"/>
          <p:nvPr>
            <p:ph type="title"/>
          </p:nvPr>
        </p:nvSpPr>
        <p:spPr>
          <a:prstGeom prst="rect">
            <a:avLst/>
          </a:prstGeom>
        </p:spPr>
        <p:txBody>
          <a:bodyPr/>
          <a:lstStyle>
            <a:lvl1pPr algn="l">
              <a:defRPr sz="9000"/>
            </a:lvl1pPr>
          </a:lstStyle>
          <a:p>
            <a:pPr/>
            <a:r>
              <a:t>Step2: Calculation of heuristic values</a:t>
            </a:r>
          </a:p>
        </p:txBody>
      </p:sp>
      <p:sp>
        <p:nvSpPr>
          <p:cNvPr id="171" name="幻燈片編號"/>
          <p:cNvSpPr txBox="1"/>
          <p:nvPr>
            <p:ph type="sldNum" sz="quarter" idx="2"/>
          </p:nvPr>
        </p:nvSpPr>
        <p:spPr>
          <a:xfrm>
            <a:off x="12033249" y="13081000"/>
            <a:ext cx="304801" cy="51721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72" name="截圖 2021-02-22 下午7.47.27.png" descr="截圖 2021-02-22 下午7.47.27.png"/>
          <p:cNvPicPr>
            <a:picLocks noChangeAspect="1"/>
          </p:cNvPicPr>
          <p:nvPr/>
        </p:nvPicPr>
        <p:blipFill>
          <a:blip r:embed="rId3">
            <a:extLst/>
          </a:blip>
          <a:stretch>
            <a:fillRect/>
          </a:stretch>
        </p:blipFill>
        <p:spPr>
          <a:xfrm>
            <a:off x="2224287" y="4142039"/>
            <a:ext cx="8422855" cy="2110692"/>
          </a:xfrm>
          <a:prstGeom prst="rect">
            <a:avLst/>
          </a:prstGeom>
          <a:ln w="12700">
            <a:miter lim="400000"/>
          </a:ln>
        </p:spPr>
      </p:pic>
      <p:pic>
        <p:nvPicPr>
          <p:cNvPr id="173" name="截圖 2021-02-22 下午7.48.29.png" descr="截圖 2021-02-22 下午7.48.29.png"/>
          <p:cNvPicPr>
            <a:picLocks noChangeAspect="1"/>
          </p:cNvPicPr>
          <p:nvPr/>
        </p:nvPicPr>
        <p:blipFill>
          <a:blip r:embed="rId4">
            <a:extLst/>
          </a:blip>
          <a:stretch>
            <a:fillRect/>
          </a:stretch>
        </p:blipFill>
        <p:spPr>
          <a:xfrm>
            <a:off x="12162530" y="3654854"/>
            <a:ext cx="10248901" cy="2032001"/>
          </a:xfrm>
          <a:prstGeom prst="rect">
            <a:avLst/>
          </a:prstGeom>
          <a:ln w="12700">
            <a:miter lim="400000"/>
          </a:ln>
        </p:spPr>
      </p:pic>
      <p:sp>
        <p:nvSpPr>
          <p:cNvPr id="174" name="Assumption: The strings in S are “independent”."/>
          <p:cNvSpPr txBox="1"/>
          <p:nvPr/>
        </p:nvSpPr>
        <p:spPr>
          <a:xfrm>
            <a:off x="1826511" y="2485814"/>
            <a:ext cx="15192079" cy="94553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just">
              <a:spcBef>
                <a:spcPts val="5900"/>
              </a:spcBef>
              <a:defRPr b="0" sz="6000">
                <a:latin typeface="+mn-lt"/>
                <a:ea typeface="+mn-ea"/>
                <a:cs typeface="+mn-cs"/>
                <a:sym typeface="Times New Roman"/>
              </a:defRPr>
            </a:pPr>
            <a:r>
              <a:t>Assumption: The strings in S are “</a:t>
            </a:r>
            <a:r>
              <a:rPr b="1">
                <a:solidFill>
                  <a:schemeClr val="accent5"/>
                </a:solidFill>
              </a:rPr>
              <a:t>independent</a:t>
            </a:r>
            <a:r>
              <a:t>”.</a:t>
            </a:r>
          </a:p>
        </p:txBody>
      </p:sp>
      <p:sp>
        <p:nvSpPr>
          <p:cNvPr id="175" name="k = |s|, q = |ri|"/>
          <p:cNvSpPr txBox="1"/>
          <p:nvPr/>
        </p:nvSpPr>
        <p:spPr>
          <a:xfrm>
            <a:off x="1952398" y="11483082"/>
            <a:ext cx="4974160" cy="94553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marL="793749" indent="-793749" algn="just">
              <a:spcBef>
                <a:spcPts val="5900"/>
              </a:spcBef>
              <a:buSzPct val="125000"/>
              <a:buChar char="•"/>
              <a:defRPr b="0" sz="6000">
                <a:latin typeface="+mn-lt"/>
                <a:ea typeface="+mn-ea"/>
                <a:cs typeface="+mn-cs"/>
                <a:sym typeface="Times New Roman"/>
              </a:defRPr>
            </a:pPr>
            <a:r>
              <a:t>k = |s|, q = |r</a:t>
            </a:r>
            <a:r>
              <a:rPr baseline="-5999"/>
              <a:t>i</a:t>
            </a:r>
            <a:r>
              <a:t>|</a:t>
            </a:r>
          </a:p>
        </p:txBody>
      </p:sp>
      <p:sp>
        <p:nvSpPr>
          <p:cNvPr id="176" name="Case (i): s1≠r1, s≺r ↔︎ s≺r'…"/>
          <p:cNvSpPr txBox="1"/>
          <p:nvPr/>
        </p:nvSpPr>
        <p:spPr>
          <a:xfrm>
            <a:off x="11941305" y="6464175"/>
            <a:ext cx="12168760" cy="3192985"/>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just">
              <a:spcBef>
                <a:spcPts val="1500"/>
              </a:spcBef>
              <a:defRPr b="0" sz="6000">
                <a:solidFill>
                  <a:srgbClr val="D5D5D5"/>
                </a:solidFill>
                <a:latin typeface="+mn-lt"/>
                <a:ea typeface="+mn-ea"/>
                <a:cs typeface="+mn-cs"/>
                <a:sym typeface="Times New Roman"/>
              </a:defRPr>
            </a:pPr>
            <a:r>
              <a:t>Case (i): s</a:t>
            </a:r>
            <a:r>
              <a:rPr baseline="31999"/>
              <a:t>1</a:t>
            </a:r>
            <a:r>
              <a:t>≠r</a:t>
            </a:r>
            <a:r>
              <a:rPr baseline="31999"/>
              <a:t>1</a:t>
            </a:r>
            <a:r>
              <a:t>, s≺r ↔︎ s≺r'</a:t>
            </a:r>
          </a:p>
          <a:p>
            <a:pPr algn="just">
              <a:spcBef>
                <a:spcPts val="1500"/>
              </a:spcBef>
              <a:defRPr b="0" sz="6000">
                <a:latin typeface="+mn-lt"/>
                <a:ea typeface="+mn-ea"/>
                <a:cs typeface="+mn-cs"/>
                <a:sym typeface="Times New Roman"/>
              </a:defRPr>
            </a:pPr>
            <a:r>
              <a:t>Case (ii): s</a:t>
            </a:r>
            <a:r>
              <a:rPr baseline="31999"/>
              <a:t>1</a:t>
            </a:r>
            <a:r>
              <a:t>=r</a:t>
            </a:r>
            <a:r>
              <a:rPr baseline="31999"/>
              <a:t>1</a:t>
            </a:r>
            <a:r>
              <a:t>, s≺r ↔︎ s'≺r', implies s≺r</a:t>
            </a:r>
          </a:p>
        </p:txBody>
      </p:sp>
      <p:sp>
        <p:nvSpPr>
          <p:cNvPr id="177" name="線條"/>
          <p:cNvSpPr/>
          <p:nvPr/>
        </p:nvSpPr>
        <p:spPr>
          <a:xfrm flipV="1">
            <a:off x="4397656" y="8293025"/>
            <a:ext cx="1" cy="1149764"/>
          </a:xfrm>
          <a:prstGeom prst="line">
            <a:avLst/>
          </a:prstGeom>
          <a:ln w="127000">
            <a:solidFill>
              <a:schemeClr val="accent1"/>
            </a:solidFill>
            <a:miter lim="400000"/>
          </a:ln>
        </p:spPr>
        <p:txBody>
          <a:bodyPr lIns="50800" tIns="50800" rIns="50800" bIns="50800" anchor="ctr"/>
          <a:lstStyle/>
          <a:p>
            <a:pPr/>
          </a:p>
        </p:txBody>
      </p:sp>
      <p:sp>
        <p:nvSpPr>
          <p:cNvPr id="178" name="線條"/>
          <p:cNvSpPr/>
          <p:nvPr/>
        </p:nvSpPr>
        <p:spPr>
          <a:xfrm flipV="1">
            <a:off x="9382218" y="8291923"/>
            <a:ext cx="1719123" cy="1151967"/>
          </a:xfrm>
          <a:prstGeom prst="line">
            <a:avLst/>
          </a:prstGeom>
          <a:ln w="127000">
            <a:solidFill>
              <a:schemeClr val="accent1"/>
            </a:solidFill>
            <a:miter lim="400000"/>
          </a:ln>
        </p:spPr>
        <p:txBody>
          <a:bodyPr lIns="50800" tIns="50800" rIns="50800" bIns="50800" anchor="ctr"/>
          <a:lstStyle/>
          <a:p>
            <a:pPr/>
          </a:p>
        </p:txBody>
      </p:sp>
      <p:sp>
        <p:nvSpPr>
          <p:cNvPr id="179" name="已核准"/>
          <p:cNvSpPr/>
          <p:nvPr/>
        </p:nvSpPr>
        <p:spPr>
          <a:xfrm>
            <a:off x="4455581" y="7690001"/>
            <a:ext cx="741334" cy="74133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9" y="0"/>
                </a:moveTo>
                <a:cubicBezTo>
                  <a:pt x="4834" y="0"/>
                  <a:pt x="0" y="4836"/>
                  <a:pt x="0" y="10801"/>
                </a:cubicBezTo>
                <a:cubicBezTo>
                  <a:pt x="0" y="16765"/>
                  <a:pt x="4835" y="21600"/>
                  <a:pt x="10799" y="21600"/>
                </a:cubicBezTo>
                <a:cubicBezTo>
                  <a:pt x="16764" y="21600"/>
                  <a:pt x="21600" y="16765"/>
                  <a:pt x="21600" y="10801"/>
                </a:cubicBezTo>
                <a:cubicBezTo>
                  <a:pt x="21600" y="4836"/>
                  <a:pt x="16764" y="0"/>
                  <a:pt x="10799" y="0"/>
                </a:cubicBezTo>
                <a:close/>
                <a:moveTo>
                  <a:pt x="16449" y="5521"/>
                </a:moveTo>
                <a:cubicBezTo>
                  <a:pt x="16477" y="5521"/>
                  <a:pt x="16505" y="5532"/>
                  <a:pt x="16527" y="5553"/>
                </a:cubicBezTo>
                <a:lnTo>
                  <a:pt x="18129" y="7155"/>
                </a:lnTo>
                <a:cubicBezTo>
                  <a:pt x="18171" y="7198"/>
                  <a:pt x="18171" y="7268"/>
                  <a:pt x="18129" y="7311"/>
                </a:cubicBezTo>
                <a:lnTo>
                  <a:pt x="8340" y="17100"/>
                </a:lnTo>
                <a:cubicBezTo>
                  <a:pt x="8297" y="17142"/>
                  <a:pt x="8227" y="17142"/>
                  <a:pt x="8185" y="17100"/>
                </a:cubicBezTo>
                <a:lnTo>
                  <a:pt x="7693" y="16608"/>
                </a:lnTo>
                <a:lnTo>
                  <a:pt x="6505" y="15420"/>
                </a:lnTo>
                <a:lnTo>
                  <a:pt x="3062" y="11977"/>
                </a:lnTo>
                <a:cubicBezTo>
                  <a:pt x="3020" y="11934"/>
                  <a:pt x="3020" y="11866"/>
                  <a:pt x="3062" y="11823"/>
                </a:cubicBezTo>
                <a:lnTo>
                  <a:pt x="4664" y="10221"/>
                </a:lnTo>
                <a:cubicBezTo>
                  <a:pt x="4707" y="10178"/>
                  <a:pt x="4777" y="10178"/>
                  <a:pt x="4820" y="10221"/>
                </a:cubicBezTo>
                <a:lnTo>
                  <a:pt x="8185" y="13586"/>
                </a:lnTo>
                <a:cubicBezTo>
                  <a:pt x="8227" y="13629"/>
                  <a:pt x="8297" y="13629"/>
                  <a:pt x="8340" y="13586"/>
                </a:cubicBezTo>
                <a:lnTo>
                  <a:pt x="16373" y="5553"/>
                </a:lnTo>
                <a:cubicBezTo>
                  <a:pt x="16394" y="5532"/>
                  <a:pt x="16421" y="5521"/>
                  <a:pt x="16449" y="5521"/>
                </a:cubicBezTo>
                <a:close/>
              </a:path>
            </a:pathLst>
          </a:custGeom>
          <a:solidFill>
            <a:schemeClr val="accent3"/>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180" name="已核准"/>
          <p:cNvSpPr/>
          <p:nvPr/>
        </p:nvSpPr>
        <p:spPr>
          <a:xfrm>
            <a:off x="4455581" y="9404125"/>
            <a:ext cx="741334" cy="74133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9" y="0"/>
                </a:moveTo>
                <a:cubicBezTo>
                  <a:pt x="4834" y="0"/>
                  <a:pt x="0" y="4836"/>
                  <a:pt x="0" y="10801"/>
                </a:cubicBezTo>
                <a:cubicBezTo>
                  <a:pt x="0" y="16765"/>
                  <a:pt x="4835" y="21600"/>
                  <a:pt x="10799" y="21600"/>
                </a:cubicBezTo>
                <a:cubicBezTo>
                  <a:pt x="16764" y="21600"/>
                  <a:pt x="21600" y="16765"/>
                  <a:pt x="21600" y="10801"/>
                </a:cubicBezTo>
                <a:cubicBezTo>
                  <a:pt x="21600" y="4836"/>
                  <a:pt x="16764" y="0"/>
                  <a:pt x="10799" y="0"/>
                </a:cubicBezTo>
                <a:close/>
                <a:moveTo>
                  <a:pt x="16449" y="5521"/>
                </a:moveTo>
                <a:cubicBezTo>
                  <a:pt x="16477" y="5521"/>
                  <a:pt x="16505" y="5532"/>
                  <a:pt x="16527" y="5553"/>
                </a:cubicBezTo>
                <a:lnTo>
                  <a:pt x="18129" y="7155"/>
                </a:lnTo>
                <a:cubicBezTo>
                  <a:pt x="18171" y="7198"/>
                  <a:pt x="18171" y="7268"/>
                  <a:pt x="18129" y="7311"/>
                </a:cubicBezTo>
                <a:lnTo>
                  <a:pt x="8340" y="17100"/>
                </a:lnTo>
                <a:cubicBezTo>
                  <a:pt x="8297" y="17142"/>
                  <a:pt x="8227" y="17142"/>
                  <a:pt x="8185" y="17100"/>
                </a:cubicBezTo>
                <a:lnTo>
                  <a:pt x="7693" y="16608"/>
                </a:lnTo>
                <a:lnTo>
                  <a:pt x="6505" y="15420"/>
                </a:lnTo>
                <a:lnTo>
                  <a:pt x="3062" y="11977"/>
                </a:lnTo>
                <a:cubicBezTo>
                  <a:pt x="3020" y="11934"/>
                  <a:pt x="3020" y="11866"/>
                  <a:pt x="3062" y="11823"/>
                </a:cubicBezTo>
                <a:lnTo>
                  <a:pt x="4664" y="10221"/>
                </a:lnTo>
                <a:cubicBezTo>
                  <a:pt x="4707" y="10178"/>
                  <a:pt x="4777" y="10178"/>
                  <a:pt x="4820" y="10221"/>
                </a:cubicBezTo>
                <a:lnTo>
                  <a:pt x="8185" y="13586"/>
                </a:lnTo>
                <a:cubicBezTo>
                  <a:pt x="8227" y="13629"/>
                  <a:pt x="8297" y="13629"/>
                  <a:pt x="8340" y="13586"/>
                </a:cubicBezTo>
                <a:lnTo>
                  <a:pt x="16373" y="5553"/>
                </a:lnTo>
                <a:cubicBezTo>
                  <a:pt x="16394" y="5532"/>
                  <a:pt x="16421" y="5521"/>
                  <a:pt x="16449" y="5521"/>
                </a:cubicBezTo>
                <a:close/>
              </a:path>
            </a:pathLst>
          </a:custGeom>
          <a:solidFill>
            <a:schemeClr val="accent3"/>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181" name="Case1"/>
          <p:cNvSpPr txBox="1"/>
          <p:nvPr/>
        </p:nvSpPr>
        <p:spPr>
          <a:xfrm>
            <a:off x="18227891" y="5602912"/>
            <a:ext cx="1250443" cy="560449"/>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solidFill>
                  <a:schemeClr val="accent1"/>
                </a:solidFill>
              </a:defRPr>
            </a:lvl1pPr>
          </a:lstStyle>
          <a:p>
            <a:pPr/>
            <a:r>
              <a:t>Case1</a:t>
            </a:r>
          </a:p>
        </p:txBody>
      </p:sp>
      <p:sp>
        <p:nvSpPr>
          <p:cNvPr id="182" name="Case2"/>
          <p:cNvSpPr txBox="1"/>
          <p:nvPr/>
        </p:nvSpPr>
        <p:spPr>
          <a:xfrm>
            <a:off x="15060406" y="5602912"/>
            <a:ext cx="1250443" cy="560449"/>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solidFill>
                  <a:schemeClr val="accent1"/>
                </a:solidFill>
              </a:defRPr>
            </a:lvl1pPr>
          </a:lstStyle>
          <a:p>
            <a:pPr/>
            <a:r>
              <a:t>Case2</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84" name="截圖 2021-02-22 下午7.47.48.png" descr="截圖 2021-02-22 下午7.47.48.png"/>
          <p:cNvPicPr>
            <a:picLocks noChangeAspect="1"/>
          </p:cNvPicPr>
          <p:nvPr/>
        </p:nvPicPr>
        <p:blipFill>
          <a:blip r:embed="rId2">
            <a:extLst/>
          </a:blip>
          <a:stretch>
            <a:fillRect/>
          </a:stretch>
        </p:blipFill>
        <p:spPr>
          <a:xfrm>
            <a:off x="1388652" y="6144463"/>
            <a:ext cx="19397492" cy="5326651"/>
          </a:xfrm>
          <a:prstGeom prst="rect">
            <a:avLst/>
          </a:prstGeom>
          <a:ln w="12700">
            <a:miter lim="400000"/>
          </a:ln>
        </p:spPr>
      </p:pic>
      <p:sp>
        <p:nvSpPr>
          <p:cNvPr id="185" name="矩形"/>
          <p:cNvSpPr/>
          <p:nvPr/>
        </p:nvSpPr>
        <p:spPr>
          <a:xfrm>
            <a:off x="1817828" y="3991256"/>
            <a:ext cx="9235773" cy="2412257"/>
          </a:xfrm>
          <a:prstGeom prst="rect">
            <a:avLst/>
          </a:prstGeom>
          <a:ln w="63500">
            <a:solidFill>
              <a:schemeClr val="accent1"/>
            </a:solidFill>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186" name="Step2: Calculation of heuristic values"/>
          <p:cNvSpPr txBox="1"/>
          <p:nvPr>
            <p:ph type="title"/>
          </p:nvPr>
        </p:nvSpPr>
        <p:spPr>
          <a:prstGeom prst="rect">
            <a:avLst/>
          </a:prstGeom>
        </p:spPr>
        <p:txBody>
          <a:bodyPr/>
          <a:lstStyle>
            <a:lvl1pPr algn="l">
              <a:defRPr sz="9000"/>
            </a:lvl1pPr>
          </a:lstStyle>
          <a:p>
            <a:pPr/>
            <a:r>
              <a:t>Step2: Calculation of heuristic values</a:t>
            </a:r>
          </a:p>
        </p:txBody>
      </p:sp>
      <p:sp>
        <p:nvSpPr>
          <p:cNvPr id="187" name="幻燈片編號"/>
          <p:cNvSpPr txBox="1"/>
          <p:nvPr>
            <p:ph type="sldNum" sz="quarter" idx="2"/>
          </p:nvPr>
        </p:nvSpPr>
        <p:spPr>
          <a:xfrm>
            <a:off x="12033249" y="13081000"/>
            <a:ext cx="304801" cy="51721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88" name="截圖 2021-02-22 下午7.47.27.png" descr="截圖 2021-02-22 下午7.47.27.png"/>
          <p:cNvPicPr>
            <a:picLocks noChangeAspect="1"/>
          </p:cNvPicPr>
          <p:nvPr/>
        </p:nvPicPr>
        <p:blipFill>
          <a:blip r:embed="rId3">
            <a:extLst/>
          </a:blip>
          <a:stretch>
            <a:fillRect/>
          </a:stretch>
        </p:blipFill>
        <p:spPr>
          <a:xfrm>
            <a:off x="2224287" y="4142039"/>
            <a:ext cx="8422855" cy="2110692"/>
          </a:xfrm>
          <a:prstGeom prst="rect">
            <a:avLst/>
          </a:prstGeom>
          <a:ln w="12700">
            <a:miter lim="400000"/>
          </a:ln>
        </p:spPr>
      </p:pic>
      <p:pic>
        <p:nvPicPr>
          <p:cNvPr id="189" name="截圖 2021-02-22 下午7.48.29.png" descr="截圖 2021-02-22 下午7.48.29.png"/>
          <p:cNvPicPr>
            <a:picLocks noChangeAspect="1"/>
          </p:cNvPicPr>
          <p:nvPr/>
        </p:nvPicPr>
        <p:blipFill>
          <a:blip r:embed="rId4">
            <a:extLst/>
          </a:blip>
          <a:stretch>
            <a:fillRect/>
          </a:stretch>
        </p:blipFill>
        <p:spPr>
          <a:xfrm>
            <a:off x="12162530" y="3654854"/>
            <a:ext cx="10248901" cy="2032001"/>
          </a:xfrm>
          <a:prstGeom prst="rect">
            <a:avLst/>
          </a:prstGeom>
          <a:ln w="12700">
            <a:miter lim="400000"/>
          </a:ln>
        </p:spPr>
      </p:pic>
      <p:sp>
        <p:nvSpPr>
          <p:cNvPr id="190" name="Assumption: The strings in S are “independent”."/>
          <p:cNvSpPr txBox="1"/>
          <p:nvPr/>
        </p:nvSpPr>
        <p:spPr>
          <a:xfrm>
            <a:off x="1826511" y="2485814"/>
            <a:ext cx="15192079" cy="94553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just">
              <a:spcBef>
                <a:spcPts val="5900"/>
              </a:spcBef>
              <a:defRPr b="0" sz="6000">
                <a:latin typeface="+mn-lt"/>
                <a:ea typeface="+mn-ea"/>
                <a:cs typeface="+mn-cs"/>
                <a:sym typeface="Times New Roman"/>
              </a:defRPr>
            </a:pPr>
            <a:r>
              <a:t>Assumption: The strings in S are “</a:t>
            </a:r>
            <a:r>
              <a:rPr b="1">
                <a:solidFill>
                  <a:schemeClr val="accent5"/>
                </a:solidFill>
              </a:rPr>
              <a:t>independent</a:t>
            </a:r>
            <a:r>
              <a:t>”.</a:t>
            </a:r>
          </a:p>
        </p:txBody>
      </p:sp>
      <p:sp>
        <p:nvSpPr>
          <p:cNvPr id="191" name="k = |s|, q = |ri|"/>
          <p:cNvSpPr txBox="1"/>
          <p:nvPr/>
        </p:nvSpPr>
        <p:spPr>
          <a:xfrm>
            <a:off x="1952398" y="11483082"/>
            <a:ext cx="4974160" cy="94553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marL="793749" indent="-793749" algn="just">
              <a:spcBef>
                <a:spcPts val="5900"/>
              </a:spcBef>
              <a:buSzPct val="125000"/>
              <a:buChar char="•"/>
              <a:defRPr b="0" sz="6000">
                <a:latin typeface="+mn-lt"/>
                <a:ea typeface="+mn-ea"/>
                <a:cs typeface="+mn-cs"/>
                <a:sym typeface="Times New Roman"/>
              </a:defRPr>
            </a:pPr>
            <a:r>
              <a:t>k = |s|, q = |r</a:t>
            </a:r>
            <a:r>
              <a:rPr baseline="-5999"/>
              <a:t>i</a:t>
            </a:r>
            <a:r>
              <a:t>|</a:t>
            </a:r>
          </a:p>
        </p:txBody>
      </p:sp>
      <p:sp>
        <p:nvSpPr>
          <p:cNvPr id="192" name="Case (i): s1≠r1, s≺r ↔︎ s≺r'…"/>
          <p:cNvSpPr txBox="1"/>
          <p:nvPr/>
        </p:nvSpPr>
        <p:spPr>
          <a:xfrm>
            <a:off x="11941305" y="6464175"/>
            <a:ext cx="12168760" cy="3192985"/>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just">
              <a:spcBef>
                <a:spcPts val="1500"/>
              </a:spcBef>
              <a:defRPr b="0" sz="6000">
                <a:latin typeface="+mn-lt"/>
                <a:ea typeface="+mn-ea"/>
                <a:cs typeface="+mn-cs"/>
                <a:sym typeface="Times New Roman"/>
              </a:defRPr>
            </a:pPr>
            <a:r>
              <a:t>Case (i): s</a:t>
            </a:r>
            <a:r>
              <a:rPr baseline="31999"/>
              <a:t>1</a:t>
            </a:r>
            <a:r>
              <a:t>≠r</a:t>
            </a:r>
            <a:r>
              <a:rPr baseline="31999"/>
              <a:t>1</a:t>
            </a:r>
            <a:r>
              <a:t>, s≺r ↔︎ s≺r'</a:t>
            </a:r>
          </a:p>
          <a:p>
            <a:pPr algn="just">
              <a:spcBef>
                <a:spcPts val="1500"/>
              </a:spcBef>
              <a:defRPr b="0" sz="6000">
                <a:latin typeface="+mn-lt"/>
                <a:ea typeface="+mn-ea"/>
                <a:cs typeface="+mn-cs"/>
                <a:sym typeface="Times New Roman"/>
              </a:defRPr>
            </a:pPr>
            <a:r>
              <a:t>Case (ii): s</a:t>
            </a:r>
            <a:r>
              <a:rPr baseline="31999"/>
              <a:t>1</a:t>
            </a:r>
            <a:r>
              <a:t>=r</a:t>
            </a:r>
            <a:r>
              <a:rPr baseline="31999"/>
              <a:t>1</a:t>
            </a:r>
            <a:r>
              <a:t>, s≺r ↔︎ s'≺r', implies s≺r</a:t>
            </a:r>
          </a:p>
        </p:txBody>
      </p:sp>
      <p:sp>
        <p:nvSpPr>
          <p:cNvPr id="193" name="線條"/>
          <p:cNvSpPr/>
          <p:nvPr/>
        </p:nvSpPr>
        <p:spPr>
          <a:xfrm flipV="1">
            <a:off x="4397656" y="8293025"/>
            <a:ext cx="1" cy="1149764"/>
          </a:xfrm>
          <a:prstGeom prst="line">
            <a:avLst/>
          </a:prstGeom>
          <a:ln w="127000">
            <a:solidFill>
              <a:schemeClr val="accent1"/>
            </a:solidFill>
            <a:miter lim="400000"/>
          </a:ln>
        </p:spPr>
        <p:txBody>
          <a:bodyPr lIns="50800" tIns="50800" rIns="50800" bIns="50800" anchor="ctr"/>
          <a:lstStyle/>
          <a:p>
            <a:pPr/>
          </a:p>
        </p:txBody>
      </p:sp>
      <p:sp>
        <p:nvSpPr>
          <p:cNvPr id="194" name="線條"/>
          <p:cNvSpPr/>
          <p:nvPr/>
        </p:nvSpPr>
        <p:spPr>
          <a:xfrm flipV="1">
            <a:off x="9382218" y="8291923"/>
            <a:ext cx="1719123" cy="1151967"/>
          </a:xfrm>
          <a:prstGeom prst="line">
            <a:avLst/>
          </a:prstGeom>
          <a:ln w="127000">
            <a:solidFill>
              <a:schemeClr val="accent1"/>
            </a:solidFill>
            <a:miter lim="400000"/>
          </a:ln>
        </p:spPr>
        <p:txBody>
          <a:bodyPr lIns="50800" tIns="50800" rIns="50800" bIns="50800" anchor="ctr"/>
          <a:lstStyle/>
          <a:p>
            <a:pPr/>
          </a:p>
        </p:txBody>
      </p:sp>
      <p:sp>
        <p:nvSpPr>
          <p:cNvPr id="195" name="已核准"/>
          <p:cNvSpPr/>
          <p:nvPr/>
        </p:nvSpPr>
        <p:spPr>
          <a:xfrm>
            <a:off x="4455581" y="7690001"/>
            <a:ext cx="741334" cy="74133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9" y="0"/>
                </a:moveTo>
                <a:cubicBezTo>
                  <a:pt x="4834" y="0"/>
                  <a:pt x="0" y="4836"/>
                  <a:pt x="0" y="10801"/>
                </a:cubicBezTo>
                <a:cubicBezTo>
                  <a:pt x="0" y="16765"/>
                  <a:pt x="4835" y="21600"/>
                  <a:pt x="10799" y="21600"/>
                </a:cubicBezTo>
                <a:cubicBezTo>
                  <a:pt x="16764" y="21600"/>
                  <a:pt x="21600" y="16765"/>
                  <a:pt x="21600" y="10801"/>
                </a:cubicBezTo>
                <a:cubicBezTo>
                  <a:pt x="21600" y="4836"/>
                  <a:pt x="16764" y="0"/>
                  <a:pt x="10799" y="0"/>
                </a:cubicBezTo>
                <a:close/>
                <a:moveTo>
                  <a:pt x="16449" y="5521"/>
                </a:moveTo>
                <a:cubicBezTo>
                  <a:pt x="16477" y="5521"/>
                  <a:pt x="16505" y="5532"/>
                  <a:pt x="16527" y="5553"/>
                </a:cubicBezTo>
                <a:lnTo>
                  <a:pt x="18129" y="7155"/>
                </a:lnTo>
                <a:cubicBezTo>
                  <a:pt x="18171" y="7198"/>
                  <a:pt x="18171" y="7268"/>
                  <a:pt x="18129" y="7311"/>
                </a:cubicBezTo>
                <a:lnTo>
                  <a:pt x="8340" y="17100"/>
                </a:lnTo>
                <a:cubicBezTo>
                  <a:pt x="8297" y="17142"/>
                  <a:pt x="8227" y="17142"/>
                  <a:pt x="8185" y="17100"/>
                </a:cubicBezTo>
                <a:lnTo>
                  <a:pt x="7693" y="16608"/>
                </a:lnTo>
                <a:lnTo>
                  <a:pt x="6505" y="15420"/>
                </a:lnTo>
                <a:lnTo>
                  <a:pt x="3062" y="11977"/>
                </a:lnTo>
                <a:cubicBezTo>
                  <a:pt x="3020" y="11934"/>
                  <a:pt x="3020" y="11866"/>
                  <a:pt x="3062" y="11823"/>
                </a:cubicBezTo>
                <a:lnTo>
                  <a:pt x="4664" y="10221"/>
                </a:lnTo>
                <a:cubicBezTo>
                  <a:pt x="4707" y="10178"/>
                  <a:pt x="4777" y="10178"/>
                  <a:pt x="4820" y="10221"/>
                </a:cubicBezTo>
                <a:lnTo>
                  <a:pt x="8185" y="13586"/>
                </a:lnTo>
                <a:cubicBezTo>
                  <a:pt x="8227" y="13629"/>
                  <a:pt x="8297" y="13629"/>
                  <a:pt x="8340" y="13586"/>
                </a:cubicBezTo>
                <a:lnTo>
                  <a:pt x="16373" y="5553"/>
                </a:lnTo>
                <a:cubicBezTo>
                  <a:pt x="16394" y="5532"/>
                  <a:pt x="16421" y="5521"/>
                  <a:pt x="16449" y="5521"/>
                </a:cubicBezTo>
                <a:close/>
              </a:path>
            </a:pathLst>
          </a:custGeom>
          <a:solidFill>
            <a:schemeClr val="accent3"/>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196" name="已核准"/>
          <p:cNvSpPr/>
          <p:nvPr/>
        </p:nvSpPr>
        <p:spPr>
          <a:xfrm>
            <a:off x="4455581" y="9404125"/>
            <a:ext cx="741334" cy="74133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9" y="0"/>
                </a:moveTo>
                <a:cubicBezTo>
                  <a:pt x="4834" y="0"/>
                  <a:pt x="0" y="4836"/>
                  <a:pt x="0" y="10801"/>
                </a:cubicBezTo>
                <a:cubicBezTo>
                  <a:pt x="0" y="16765"/>
                  <a:pt x="4835" y="21600"/>
                  <a:pt x="10799" y="21600"/>
                </a:cubicBezTo>
                <a:cubicBezTo>
                  <a:pt x="16764" y="21600"/>
                  <a:pt x="21600" y="16765"/>
                  <a:pt x="21600" y="10801"/>
                </a:cubicBezTo>
                <a:cubicBezTo>
                  <a:pt x="21600" y="4836"/>
                  <a:pt x="16764" y="0"/>
                  <a:pt x="10799" y="0"/>
                </a:cubicBezTo>
                <a:close/>
                <a:moveTo>
                  <a:pt x="16449" y="5521"/>
                </a:moveTo>
                <a:cubicBezTo>
                  <a:pt x="16477" y="5521"/>
                  <a:pt x="16505" y="5532"/>
                  <a:pt x="16527" y="5553"/>
                </a:cubicBezTo>
                <a:lnTo>
                  <a:pt x="18129" y="7155"/>
                </a:lnTo>
                <a:cubicBezTo>
                  <a:pt x="18171" y="7198"/>
                  <a:pt x="18171" y="7268"/>
                  <a:pt x="18129" y="7311"/>
                </a:cubicBezTo>
                <a:lnTo>
                  <a:pt x="8340" y="17100"/>
                </a:lnTo>
                <a:cubicBezTo>
                  <a:pt x="8297" y="17142"/>
                  <a:pt x="8227" y="17142"/>
                  <a:pt x="8185" y="17100"/>
                </a:cubicBezTo>
                <a:lnTo>
                  <a:pt x="7693" y="16608"/>
                </a:lnTo>
                <a:lnTo>
                  <a:pt x="6505" y="15420"/>
                </a:lnTo>
                <a:lnTo>
                  <a:pt x="3062" y="11977"/>
                </a:lnTo>
                <a:cubicBezTo>
                  <a:pt x="3020" y="11934"/>
                  <a:pt x="3020" y="11866"/>
                  <a:pt x="3062" y="11823"/>
                </a:cubicBezTo>
                <a:lnTo>
                  <a:pt x="4664" y="10221"/>
                </a:lnTo>
                <a:cubicBezTo>
                  <a:pt x="4707" y="10178"/>
                  <a:pt x="4777" y="10178"/>
                  <a:pt x="4820" y="10221"/>
                </a:cubicBezTo>
                <a:lnTo>
                  <a:pt x="8185" y="13586"/>
                </a:lnTo>
                <a:cubicBezTo>
                  <a:pt x="8227" y="13629"/>
                  <a:pt x="8297" y="13629"/>
                  <a:pt x="8340" y="13586"/>
                </a:cubicBezTo>
                <a:lnTo>
                  <a:pt x="16373" y="5553"/>
                </a:lnTo>
                <a:cubicBezTo>
                  <a:pt x="16394" y="5532"/>
                  <a:pt x="16421" y="5521"/>
                  <a:pt x="16449" y="5521"/>
                </a:cubicBezTo>
                <a:close/>
              </a:path>
            </a:pathLst>
          </a:custGeom>
          <a:solidFill>
            <a:schemeClr val="accent3"/>
          </a:solidFill>
          <a:ln w="12700">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197" name="Case1"/>
          <p:cNvSpPr txBox="1"/>
          <p:nvPr/>
        </p:nvSpPr>
        <p:spPr>
          <a:xfrm>
            <a:off x="18227891" y="5602912"/>
            <a:ext cx="1250443" cy="560449"/>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solidFill>
                  <a:schemeClr val="accent1"/>
                </a:solidFill>
              </a:defRPr>
            </a:lvl1pPr>
          </a:lstStyle>
          <a:p>
            <a:pPr/>
            <a:r>
              <a:t>Case1</a:t>
            </a:r>
          </a:p>
        </p:txBody>
      </p:sp>
      <p:sp>
        <p:nvSpPr>
          <p:cNvPr id="198" name="Case2"/>
          <p:cNvSpPr txBox="1"/>
          <p:nvPr/>
        </p:nvSpPr>
        <p:spPr>
          <a:xfrm>
            <a:off x="15060406" y="5602912"/>
            <a:ext cx="1250443" cy="560449"/>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solidFill>
                  <a:schemeClr val="accent1"/>
                </a:solidFill>
              </a:defRPr>
            </a:lvl1pPr>
          </a:lstStyle>
          <a:p>
            <a:pPr/>
            <a:r>
              <a:t>Case2</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00" name="截圖 2021-02-22 下午7.47.48.png" descr="截圖 2021-02-22 下午7.47.48.png"/>
          <p:cNvPicPr>
            <a:picLocks noChangeAspect="1"/>
          </p:cNvPicPr>
          <p:nvPr/>
        </p:nvPicPr>
        <p:blipFill>
          <a:blip r:embed="rId2">
            <a:extLst/>
          </a:blip>
          <a:stretch>
            <a:fillRect/>
          </a:stretch>
        </p:blipFill>
        <p:spPr>
          <a:xfrm>
            <a:off x="1388652" y="6144463"/>
            <a:ext cx="19397492" cy="5326651"/>
          </a:xfrm>
          <a:prstGeom prst="rect">
            <a:avLst/>
          </a:prstGeom>
          <a:ln w="12700">
            <a:miter lim="400000"/>
          </a:ln>
        </p:spPr>
      </p:pic>
      <p:sp>
        <p:nvSpPr>
          <p:cNvPr id="201" name="矩形"/>
          <p:cNvSpPr/>
          <p:nvPr/>
        </p:nvSpPr>
        <p:spPr>
          <a:xfrm>
            <a:off x="1817828" y="3991256"/>
            <a:ext cx="9235773" cy="2412257"/>
          </a:xfrm>
          <a:prstGeom prst="rect">
            <a:avLst/>
          </a:prstGeom>
          <a:ln w="63500">
            <a:solidFill>
              <a:schemeClr val="accent1"/>
            </a:solidFill>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202" name="Step2: Calculation of heuristic values"/>
          <p:cNvSpPr txBox="1"/>
          <p:nvPr>
            <p:ph type="title"/>
          </p:nvPr>
        </p:nvSpPr>
        <p:spPr>
          <a:prstGeom prst="rect">
            <a:avLst/>
          </a:prstGeom>
        </p:spPr>
        <p:txBody>
          <a:bodyPr/>
          <a:lstStyle>
            <a:lvl1pPr algn="l">
              <a:defRPr sz="9000"/>
            </a:lvl1pPr>
          </a:lstStyle>
          <a:p>
            <a:pPr/>
            <a:r>
              <a:t>Step2: Calculation of heuristic values</a:t>
            </a:r>
          </a:p>
        </p:txBody>
      </p:sp>
      <p:sp>
        <p:nvSpPr>
          <p:cNvPr id="203" name="幻燈片編號"/>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04" name="截圖 2021-02-22 下午7.47.27.png" descr="截圖 2021-02-22 下午7.47.27.png"/>
          <p:cNvPicPr>
            <a:picLocks noChangeAspect="1"/>
          </p:cNvPicPr>
          <p:nvPr/>
        </p:nvPicPr>
        <p:blipFill>
          <a:blip r:embed="rId3">
            <a:extLst/>
          </a:blip>
          <a:stretch>
            <a:fillRect/>
          </a:stretch>
        </p:blipFill>
        <p:spPr>
          <a:xfrm>
            <a:off x="2224287" y="4142039"/>
            <a:ext cx="8422855" cy="2110692"/>
          </a:xfrm>
          <a:prstGeom prst="rect">
            <a:avLst/>
          </a:prstGeom>
          <a:ln w="12700">
            <a:miter lim="400000"/>
          </a:ln>
        </p:spPr>
      </p:pic>
      <p:pic>
        <p:nvPicPr>
          <p:cNvPr id="205" name="截圖 2021-02-22 下午7.48.29.png" descr="截圖 2021-02-22 下午7.48.29.png"/>
          <p:cNvPicPr>
            <a:picLocks noChangeAspect="1"/>
          </p:cNvPicPr>
          <p:nvPr/>
        </p:nvPicPr>
        <p:blipFill>
          <a:blip r:embed="rId4">
            <a:extLst/>
          </a:blip>
          <a:stretch>
            <a:fillRect/>
          </a:stretch>
        </p:blipFill>
        <p:spPr>
          <a:xfrm>
            <a:off x="12162530" y="3654854"/>
            <a:ext cx="10248901" cy="2032001"/>
          </a:xfrm>
          <a:prstGeom prst="rect">
            <a:avLst/>
          </a:prstGeom>
          <a:ln w="12700">
            <a:miter lim="400000"/>
          </a:ln>
        </p:spPr>
      </p:pic>
      <p:pic>
        <p:nvPicPr>
          <p:cNvPr id="206" name="截圖 2021-02-22 下午7.48.41.png" descr="截圖 2021-02-22 下午7.48.41.png"/>
          <p:cNvPicPr>
            <a:picLocks noChangeAspect="1"/>
          </p:cNvPicPr>
          <p:nvPr/>
        </p:nvPicPr>
        <p:blipFill>
          <a:blip r:embed="rId5">
            <a:extLst/>
          </a:blip>
          <a:stretch>
            <a:fillRect/>
          </a:stretch>
        </p:blipFill>
        <p:spPr>
          <a:xfrm>
            <a:off x="12273712" y="6579344"/>
            <a:ext cx="10363201" cy="2133601"/>
          </a:xfrm>
          <a:prstGeom prst="rect">
            <a:avLst/>
          </a:prstGeom>
          <a:ln w="12700">
            <a:miter lim="400000"/>
          </a:ln>
        </p:spPr>
      </p:pic>
      <p:sp>
        <p:nvSpPr>
          <p:cNvPr id="207" name="Assumption: The strings in S are “independent”."/>
          <p:cNvSpPr txBox="1"/>
          <p:nvPr/>
        </p:nvSpPr>
        <p:spPr>
          <a:xfrm>
            <a:off x="1826511" y="2485814"/>
            <a:ext cx="15192079" cy="94553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just">
              <a:spcBef>
                <a:spcPts val="5900"/>
              </a:spcBef>
              <a:defRPr b="0" sz="6000">
                <a:latin typeface="+mn-lt"/>
                <a:ea typeface="+mn-ea"/>
                <a:cs typeface="+mn-cs"/>
                <a:sym typeface="Times New Roman"/>
              </a:defRPr>
            </a:pPr>
            <a:r>
              <a:t>Assumption: The strings in S are “</a:t>
            </a:r>
            <a:r>
              <a:rPr b="1">
                <a:solidFill>
                  <a:schemeClr val="accent5"/>
                </a:solidFill>
              </a:rPr>
              <a:t>independent</a:t>
            </a:r>
            <a:r>
              <a:t>”.</a:t>
            </a:r>
          </a:p>
        </p:txBody>
      </p:sp>
      <p:sp>
        <p:nvSpPr>
          <p:cNvPr id="208" name="k = |s|, q = |ri|"/>
          <p:cNvSpPr txBox="1"/>
          <p:nvPr/>
        </p:nvSpPr>
        <p:spPr>
          <a:xfrm>
            <a:off x="1952398" y="11483082"/>
            <a:ext cx="4974160" cy="94553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marL="793749" indent="-793749" algn="just">
              <a:spcBef>
                <a:spcPts val="5900"/>
              </a:spcBef>
              <a:buSzPct val="125000"/>
              <a:buChar char="•"/>
              <a:defRPr b="0" sz="6000">
                <a:latin typeface="+mn-lt"/>
                <a:ea typeface="+mn-ea"/>
                <a:cs typeface="+mn-cs"/>
                <a:sym typeface="Times New Roman"/>
              </a:defRPr>
            </a:pPr>
            <a:r>
              <a:t>k = |s|, q = |r</a:t>
            </a:r>
            <a:r>
              <a:rPr baseline="-5999"/>
              <a:t>i</a:t>
            </a:r>
            <a:r>
              <a:t>|</a:t>
            </a:r>
          </a:p>
        </p:txBody>
      </p:sp>
      <p:sp>
        <p:nvSpPr>
          <p:cNvPr id="209" name="Case (i): s1≠r1, s≺r ↔︎ s≺r'…"/>
          <p:cNvSpPr txBox="1"/>
          <p:nvPr/>
        </p:nvSpPr>
        <p:spPr>
          <a:xfrm>
            <a:off x="11652737" y="10792696"/>
            <a:ext cx="12168759" cy="3192984"/>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just">
              <a:spcBef>
                <a:spcPts val="1500"/>
              </a:spcBef>
              <a:defRPr b="0" sz="6000">
                <a:latin typeface="+mn-lt"/>
                <a:ea typeface="+mn-ea"/>
                <a:cs typeface="+mn-cs"/>
                <a:sym typeface="Times New Roman"/>
              </a:defRPr>
            </a:pPr>
            <a:r>
              <a:t>Case (i): s</a:t>
            </a:r>
            <a:r>
              <a:rPr baseline="31999"/>
              <a:t>1</a:t>
            </a:r>
            <a:r>
              <a:t>≠r</a:t>
            </a:r>
            <a:r>
              <a:rPr baseline="31999"/>
              <a:t>1</a:t>
            </a:r>
            <a:r>
              <a:t>, s≺r ↔︎ s≺r'</a:t>
            </a:r>
          </a:p>
          <a:p>
            <a:pPr algn="just">
              <a:spcBef>
                <a:spcPts val="1500"/>
              </a:spcBef>
              <a:defRPr b="0" sz="6000">
                <a:latin typeface="+mn-lt"/>
                <a:ea typeface="+mn-ea"/>
                <a:cs typeface="+mn-cs"/>
                <a:sym typeface="Times New Roman"/>
              </a:defRPr>
            </a:pPr>
            <a:r>
              <a:t>Case (ii): s</a:t>
            </a:r>
            <a:r>
              <a:rPr baseline="31999"/>
              <a:t>1</a:t>
            </a:r>
            <a:r>
              <a:t>=r</a:t>
            </a:r>
            <a:r>
              <a:rPr baseline="31999"/>
              <a:t>1</a:t>
            </a:r>
            <a:r>
              <a:t>, s≺r ↔︎ s'≺r', implies s≺r</a:t>
            </a:r>
          </a:p>
        </p:txBody>
      </p:sp>
      <p:sp>
        <p:nvSpPr>
          <p:cNvPr id="210" name="Case1"/>
          <p:cNvSpPr txBox="1"/>
          <p:nvPr/>
        </p:nvSpPr>
        <p:spPr>
          <a:xfrm>
            <a:off x="18227891" y="5602912"/>
            <a:ext cx="1250443" cy="560449"/>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solidFill>
                  <a:schemeClr val="accent1"/>
                </a:solidFill>
              </a:defRPr>
            </a:lvl1pPr>
          </a:lstStyle>
          <a:p>
            <a:pPr/>
            <a:r>
              <a:t>Case1</a:t>
            </a:r>
          </a:p>
        </p:txBody>
      </p:sp>
      <p:sp>
        <p:nvSpPr>
          <p:cNvPr id="211" name="Case2"/>
          <p:cNvSpPr txBox="1"/>
          <p:nvPr/>
        </p:nvSpPr>
        <p:spPr>
          <a:xfrm>
            <a:off x="15060406" y="5602912"/>
            <a:ext cx="1250443" cy="560449"/>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solidFill>
                  <a:schemeClr val="accent1"/>
                </a:solidFill>
              </a:defRPr>
            </a:lvl1pPr>
          </a:lstStyle>
          <a:p>
            <a:pPr/>
            <a:r>
              <a:t>Case2</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3" name="矩形"/>
          <p:cNvSpPr/>
          <p:nvPr/>
        </p:nvSpPr>
        <p:spPr>
          <a:xfrm>
            <a:off x="1817828" y="3000656"/>
            <a:ext cx="9235773" cy="2412257"/>
          </a:xfrm>
          <a:prstGeom prst="rect">
            <a:avLst/>
          </a:prstGeom>
          <a:ln w="63500">
            <a:solidFill>
              <a:schemeClr val="accent1"/>
            </a:solidFill>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214" name="幻燈片編號"/>
          <p:cNvSpPr txBox="1"/>
          <p:nvPr>
            <p:ph type="sldNum" sz="quarter" idx="2"/>
          </p:nvPr>
        </p:nvSpPr>
        <p:spPr>
          <a:xfrm>
            <a:off x="11945069" y="13081000"/>
            <a:ext cx="481162" cy="51721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15" name="截圖 2021-02-22 下午7.47.27.png" descr="截圖 2021-02-22 下午7.47.27.png"/>
          <p:cNvPicPr>
            <a:picLocks noChangeAspect="1"/>
          </p:cNvPicPr>
          <p:nvPr/>
        </p:nvPicPr>
        <p:blipFill>
          <a:blip r:embed="rId2">
            <a:extLst/>
          </a:blip>
          <a:stretch>
            <a:fillRect/>
          </a:stretch>
        </p:blipFill>
        <p:spPr>
          <a:xfrm>
            <a:off x="2224287" y="3151439"/>
            <a:ext cx="8422855" cy="2110692"/>
          </a:xfrm>
          <a:prstGeom prst="rect">
            <a:avLst/>
          </a:prstGeom>
          <a:ln w="12700">
            <a:miter lim="400000"/>
          </a:ln>
        </p:spPr>
      </p:pic>
      <p:pic>
        <p:nvPicPr>
          <p:cNvPr id="216" name="截圖 2021-02-22 下午8.26.46.png" descr="截圖 2021-02-22 下午8.26.46.png"/>
          <p:cNvPicPr>
            <a:picLocks noChangeAspect="1"/>
          </p:cNvPicPr>
          <p:nvPr/>
        </p:nvPicPr>
        <p:blipFill>
          <a:blip r:embed="rId3">
            <a:extLst/>
          </a:blip>
          <a:stretch>
            <a:fillRect/>
          </a:stretch>
        </p:blipFill>
        <p:spPr>
          <a:xfrm>
            <a:off x="12142999" y="2742005"/>
            <a:ext cx="10983611" cy="9417391"/>
          </a:xfrm>
          <a:prstGeom prst="rect">
            <a:avLst/>
          </a:prstGeom>
          <a:ln w="12700">
            <a:miter lim="400000"/>
          </a:ln>
        </p:spPr>
      </p:pic>
      <p:pic>
        <p:nvPicPr>
          <p:cNvPr id="217" name="截圖 2021-02-22 下午7.48.41.png" descr="截圖 2021-02-22 下午7.48.41.png"/>
          <p:cNvPicPr>
            <a:picLocks noChangeAspect="1"/>
          </p:cNvPicPr>
          <p:nvPr/>
        </p:nvPicPr>
        <p:blipFill>
          <a:blip r:embed="rId4">
            <a:extLst/>
          </a:blip>
          <a:stretch>
            <a:fillRect/>
          </a:stretch>
        </p:blipFill>
        <p:spPr>
          <a:xfrm>
            <a:off x="1309749" y="5802654"/>
            <a:ext cx="10251931" cy="2110692"/>
          </a:xfrm>
          <a:prstGeom prst="rect">
            <a:avLst/>
          </a:prstGeom>
          <a:ln w="12700">
            <a:miter lim="400000"/>
          </a:ln>
        </p:spPr>
      </p:pic>
      <p:graphicFrame>
        <p:nvGraphicFramePr>
          <p:cNvPr id="218" name="表格"/>
          <p:cNvGraphicFramePr/>
          <p:nvPr/>
        </p:nvGraphicFramePr>
        <p:xfrm>
          <a:off x="883664" y="8453869"/>
          <a:ext cx="11116801" cy="4261624"/>
        </p:xfrm>
        <a:graphic xmlns:a="http://schemas.openxmlformats.org/drawingml/2006/main">
          <a:graphicData uri="http://schemas.openxmlformats.org/drawingml/2006/table">
            <a:tbl>
              <a:tblPr firstCol="0" firstRow="0" lastCol="0" lastRow="0" bandCol="0" bandRow="0" rtl="0">
                <a:tableStyleId>{EEE7283C-3CF3-47DC-8721-378D4A62B228}</a:tableStyleId>
              </a:tblPr>
              <a:tblGrid>
                <a:gridCol w="3701366"/>
                <a:gridCol w="3701366"/>
                <a:gridCol w="3701366"/>
              </a:tblGrid>
              <a:tr h="1416307">
                <a:tc>
                  <a:txBody>
                    <a:bodyPr/>
                    <a:lstStyle/>
                    <a:p>
                      <a:pPr defTabSz="914400">
                        <a:defRPr sz="1800"/>
                      </a:pPr>
                      <a:r>
                        <a:rPr sz="4500">
                          <a:latin typeface="+mn-lt"/>
                          <a:ea typeface="+mn-ea"/>
                          <a:cs typeface="+mn-cs"/>
                        </a:rPr>
                        <a:t>1</a:t>
                      </a:r>
                    </a:p>
                  </a:txBody>
                  <a:tcPr marL="50800" marR="50800" marT="50800" marB="50800" anchor="ctr" anchorCtr="0" horzOverflow="overflow">
                    <a:lnL w="12700">
                      <a:solidFill>
                        <a:srgbClr val="5D5D5D"/>
                      </a:solidFill>
                      <a:miter lim="400000"/>
                    </a:lnL>
                    <a:lnT w="12700">
                      <a:solidFill>
                        <a:srgbClr val="5D5D5D"/>
                      </a:solidFill>
                      <a:miter lim="400000"/>
                    </a:lnT>
                  </a:tcPr>
                </a:tc>
                <a:tc>
                  <a:txBody>
                    <a:bodyPr/>
                    <a:lstStyle/>
                    <a:p>
                      <a:pPr defTabSz="914400">
                        <a:defRPr sz="1800"/>
                      </a:pPr>
                      <a:r>
                        <a:rPr sz="4500">
                          <a:latin typeface="+mn-lt"/>
                          <a:ea typeface="+mn-ea"/>
                          <a:cs typeface="+mn-cs"/>
                        </a:rPr>
                        <a:t>1</a:t>
                      </a:r>
                    </a:p>
                  </a:txBody>
                  <a:tcPr marL="50800" marR="50800" marT="50800" marB="50800" anchor="ctr" anchorCtr="0" horzOverflow="overflow">
                    <a:lnT w="12700">
                      <a:solidFill>
                        <a:srgbClr val="5D5D5D"/>
                      </a:solidFill>
                      <a:miter lim="400000"/>
                    </a:lnT>
                  </a:tcPr>
                </a:tc>
                <a:tc>
                  <a:txBody>
                    <a:bodyPr/>
                    <a:lstStyle/>
                    <a:p>
                      <a:pPr defTabSz="914400">
                        <a:defRPr sz="1800"/>
                      </a:pPr>
                      <a:r>
                        <a:rPr sz="4500">
                          <a:latin typeface="+mn-lt"/>
                          <a:ea typeface="+mn-ea"/>
                          <a:cs typeface="+mn-cs"/>
                        </a:rPr>
                        <a:t>1</a:t>
                      </a:r>
                    </a:p>
                  </a:txBody>
                  <a:tcPr marL="50800" marR="50800" marT="50800" marB="50800" anchor="ctr" anchorCtr="0" horzOverflow="overflow">
                    <a:lnR w="12700">
                      <a:solidFill>
                        <a:srgbClr val="5D5D5D"/>
                      </a:solidFill>
                      <a:miter lim="400000"/>
                    </a:lnR>
                    <a:lnT w="12700">
                      <a:solidFill>
                        <a:srgbClr val="5D5D5D"/>
                      </a:solidFill>
                      <a:miter lim="400000"/>
                    </a:lnT>
                  </a:tcPr>
                </a:tc>
              </a:tr>
              <a:tr h="1416307">
                <a:tc>
                  <a:txBody>
                    <a:bodyPr/>
                    <a:lstStyle/>
                    <a:p>
                      <a:pPr defTabSz="914400">
                        <a:defRPr sz="1800"/>
                      </a:pPr>
                      <a:r>
                        <a:rPr sz="4500">
                          <a:latin typeface="+mn-lt"/>
                          <a:ea typeface="+mn-ea"/>
                          <a:cs typeface="+mn-cs"/>
                        </a:rPr>
                        <a:t>0</a:t>
                      </a:r>
                    </a:p>
                  </a:txBody>
                  <a:tcPr marL="50800" marR="50800" marT="50800" marB="50800" anchor="ctr" anchorCtr="0" horzOverflow="overflow">
                    <a:lnL w="12700">
                      <a:solidFill>
                        <a:srgbClr val="5D5D5D"/>
                      </a:solidFill>
                      <a:miter lim="400000"/>
                    </a:lnL>
                  </a:tcPr>
                </a:tc>
                <a:tc>
                  <a:txBody>
                    <a:bodyPr/>
                    <a:lstStyle/>
                    <a:p>
                      <a:pPr defTabSz="914400">
                        <a:defRPr sz="1800"/>
                      </a:pPr>
                      <a:r>
                        <a:rPr sz="4500">
                          <a:latin typeface="+mn-lt"/>
                          <a:ea typeface="+mn-ea"/>
                          <a:cs typeface="+mn-cs"/>
                        </a:rPr>
                        <a:t>1/4</a:t>
                      </a:r>
                    </a:p>
                  </a:txBody>
                  <a:tcPr marL="50800" marR="50800" marT="50800" marB="50800" anchor="ctr" anchorCtr="0" horzOverflow="overflow"/>
                </a:tc>
                <a:tc>
                  <a:txBody>
                    <a:bodyPr/>
                    <a:lstStyle/>
                    <a:p>
                      <a:pPr defTabSz="914400">
                        <a:defRPr sz="1800"/>
                      </a:pPr>
                      <a:r>
                        <a:rPr sz="4500">
                          <a:latin typeface="+mn-lt"/>
                          <a:ea typeface="+mn-ea"/>
                          <a:cs typeface="+mn-cs"/>
                        </a:rPr>
                        <a:t>7/16</a:t>
                      </a:r>
                    </a:p>
                  </a:txBody>
                  <a:tcPr marL="50800" marR="50800" marT="50800" marB="50800" anchor="ctr" anchorCtr="0" horzOverflow="overflow">
                    <a:lnR w="12700">
                      <a:solidFill>
                        <a:srgbClr val="5D5D5D"/>
                      </a:solidFill>
                      <a:miter lim="400000"/>
                    </a:lnR>
                  </a:tcPr>
                </a:tc>
              </a:tr>
              <a:tr h="1416307">
                <a:tc>
                  <a:txBody>
                    <a:bodyPr/>
                    <a:lstStyle/>
                    <a:p>
                      <a:pPr defTabSz="914400">
                        <a:defRPr sz="1800"/>
                      </a:pPr>
                      <a:r>
                        <a:rPr sz="4500">
                          <a:latin typeface="+mn-lt"/>
                          <a:ea typeface="+mn-ea"/>
                          <a:cs typeface="+mn-cs"/>
                        </a:rPr>
                        <a:t>0</a:t>
                      </a:r>
                    </a:p>
                  </a:txBody>
                  <a:tcPr marL="50800" marR="50800" marT="50800" marB="50800" anchor="ctr" anchorCtr="0" horzOverflow="overflow">
                    <a:lnL w="12700">
                      <a:solidFill>
                        <a:srgbClr val="5D5D5D"/>
                      </a:solidFill>
                      <a:miter lim="400000"/>
                    </a:lnL>
                    <a:lnB w="12700">
                      <a:solidFill>
                        <a:srgbClr val="5D5D5D"/>
                      </a:solidFill>
                      <a:miter lim="400000"/>
                    </a:lnB>
                  </a:tcPr>
                </a:tc>
                <a:tc>
                  <a:txBody>
                    <a:bodyPr/>
                    <a:lstStyle/>
                    <a:p>
                      <a:pPr defTabSz="914400">
                        <a:defRPr sz="1800"/>
                      </a:pPr>
                      <a:r>
                        <a:rPr sz="4500">
                          <a:latin typeface="+mn-lt"/>
                          <a:ea typeface="+mn-ea"/>
                          <a:cs typeface="+mn-cs"/>
                        </a:rPr>
                        <a:t>0</a:t>
                      </a:r>
                    </a:p>
                  </a:txBody>
                  <a:tcPr marL="50800" marR="50800" marT="50800" marB="50800" anchor="ctr" anchorCtr="0" horzOverflow="overflow">
                    <a:lnB w="12700">
                      <a:solidFill>
                        <a:srgbClr val="5D5D5D"/>
                      </a:solidFill>
                      <a:miter lim="400000"/>
                    </a:lnB>
                  </a:tcPr>
                </a:tc>
                <a:tc>
                  <a:txBody>
                    <a:bodyPr/>
                    <a:lstStyle/>
                    <a:p>
                      <a:pPr defTabSz="914400">
                        <a:defRPr sz="1800"/>
                      </a:pPr>
                      <a:r>
                        <a:rPr sz="4500">
                          <a:latin typeface="+mn-lt"/>
                          <a:ea typeface="+mn-ea"/>
                          <a:cs typeface="+mn-cs"/>
                        </a:rPr>
                        <a:t>1/16</a:t>
                      </a:r>
                    </a:p>
                  </a:txBody>
                  <a:tcPr marL="50800" marR="50800" marT="50800" marB="50800" anchor="ctr" anchorCtr="0" horzOverflow="overflow">
                    <a:lnR w="12700">
                      <a:solidFill>
                        <a:srgbClr val="5D5D5D"/>
                      </a:solidFill>
                      <a:miter lim="400000"/>
                    </a:lnR>
                    <a:lnB w="12700">
                      <a:solidFill>
                        <a:srgbClr val="5D5D5D"/>
                      </a:solidFill>
                      <a:miter lim="400000"/>
                    </a:lnB>
                  </a:tcPr>
                </a:tc>
              </a:tr>
            </a:tbl>
          </a:graphicData>
        </a:graphic>
      </p:graphicFrame>
      <p:sp>
        <p:nvSpPr>
          <p:cNvPr id="219" name="線條"/>
          <p:cNvSpPr/>
          <p:nvPr/>
        </p:nvSpPr>
        <p:spPr>
          <a:xfrm>
            <a:off x="3692209" y="10578331"/>
            <a:ext cx="2076146" cy="1"/>
          </a:xfrm>
          <a:prstGeom prst="line">
            <a:avLst/>
          </a:prstGeom>
          <a:ln w="63500">
            <a:solidFill>
              <a:schemeClr val="accent5">
                <a:hueOff val="-82419"/>
                <a:satOff val="-9513"/>
                <a:lumOff val="-16343"/>
              </a:schemeClr>
            </a:solidFill>
            <a:miter lim="400000"/>
            <a:tailEnd type="triangle"/>
          </a:ln>
        </p:spPr>
        <p:txBody>
          <a:bodyPr lIns="50800" tIns="50800" rIns="50800" bIns="50800" anchor="ctr"/>
          <a:lstStyle/>
          <a:p>
            <a:pPr/>
          </a:p>
        </p:txBody>
      </p:sp>
      <p:sp>
        <p:nvSpPr>
          <p:cNvPr id="220" name="線條"/>
          <p:cNvSpPr/>
          <p:nvPr/>
        </p:nvSpPr>
        <p:spPr>
          <a:xfrm>
            <a:off x="3703512" y="9597689"/>
            <a:ext cx="2064844" cy="786635"/>
          </a:xfrm>
          <a:prstGeom prst="line">
            <a:avLst/>
          </a:prstGeom>
          <a:ln w="63500">
            <a:solidFill>
              <a:schemeClr val="accent5">
                <a:hueOff val="-82419"/>
                <a:satOff val="-9513"/>
                <a:lumOff val="-16343"/>
              </a:schemeClr>
            </a:solidFill>
            <a:miter lim="400000"/>
            <a:tailEnd type="triangle"/>
          </a:ln>
        </p:spPr>
        <p:txBody>
          <a:bodyPr lIns="50800" tIns="50800" rIns="50800" bIns="50800" anchor="ctr"/>
          <a:lstStyle/>
          <a:p>
            <a:pPr/>
          </a:p>
        </p:txBody>
      </p:sp>
      <p:sp>
        <p:nvSpPr>
          <p:cNvPr id="221" name="*1/4"/>
          <p:cNvSpPr txBox="1"/>
          <p:nvPr/>
        </p:nvSpPr>
        <p:spPr>
          <a:xfrm>
            <a:off x="4560603" y="9295124"/>
            <a:ext cx="834391" cy="560450"/>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*1/4</a:t>
            </a:r>
          </a:p>
        </p:txBody>
      </p:sp>
      <p:sp>
        <p:nvSpPr>
          <p:cNvPr id="222" name="*3/4"/>
          <p:cNvSpPr txBox="1"/>
          <p:nvPr/>
        </p:nvSpPr>
        <p:spPr>
          <a:xfrm>
            <a:off x="4110467" y="10672586"/>
            <a:ext cx="834391" cy="560449"/>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*3/4</a:t>
            </a:r>
          </a:p>
        </p:txBody>
      </p:sp>
      <p:sp>
        <p:nvSpPr>
          <p:cNvPr id="223" name="矩形"/>
          <p:cNvSpPr/>
          <p:nvPr/>
        </p:nvSpPr>
        <p:spPr>
          <a:xfrm>
            <a:off x="862698" y="8485619"/>
            <a:ext cx="7421592" cy="2837060"/>
          </a:xfrm>
          <a:prstGeom prst="rect">
            <a:avLst/>
          </a:prstGeom>
          <a:ln w="63500">
            <a:solidFill>
              <a:schemeClr val="accent5"/>
            </a:solidFill>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224" name="矩形"/>
          <p:cNvSpPr/>
          <p:nvPr/>
        </p:nvSpPr>
        <p:spPr>
          <a:xfrm>
            <a:off x="14119544" y="4187909"/>
            <a:ext cx="2567856" cy="2592407"/>
          </a:xfrm>
          <a:prstGeom prst="rect">
            <a:avLst/>
          </a:prstGeom>
          <a:ln w="127000">
            <a:solidFill>
              <a:schemeClr val="accent5"/>
            </a:solidFill>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225" name="Step2: Calculation of heuristic values"/>
          <p:cNvSpPr txBox="1"/>
          <p:nvPr>
            <p:ph type="title"/>
          </p:nvPr>
        </p:nvSpPr>
        <p:spPr>
          <a:prstGeom prst="rect">
            <a:avLst/>
          </a:prstGeom>
        </p:spPr>
        <p:txBody>
          <a:bodyPr/>
          <a:lstStyle>
            <a:lvl1pPr algn="l">
              <a:defRPr sz="9000"/>
            </a:lvl1pPr>
          </a:lstStyle>
          <a:p>
            <a:pPr/>
            <a:r>
              <a:t>Step2: Calculation of heuristic values</a:t>
            </a:r>
          </a:p>
        </p:txBody>
      </p:sp>
      <p:sp>
        <p:nvSpPr>
          <p:cNvPr id="226" name="k = |s|, q = |ri|"/>
          <p:cNvSpPr txBox="1"/>
          <p:nvPr/>
        </p:nvSpPr>
        <p:spPr>
          <a:xfrm>
            <a:off x="18328634" y="11939982"/>
            <a:ext cx="4180410" cy="945530"/>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just">
              <a:spcBef>
                <a:spcPts val="5900"/>
              </a:spcBef>
              <a:defRPr b="0" sz="6000">
                <a:latin typeface="+mn-lt"/>
                <a:ea typeface="+mn-ea"/>
                <a:cs typeface="+mn-cs"/>
                <a:sym typeface="Times New Roman"/>
              </a:defRPr>
            </a:pPr>
            <a:r>
              <a:t>k = |s|, q = |r</a:t>
            </a:r>
            <a:r>
              <a:rPr baseline="-5999"/>
              <a:t>i</a:t>
            </a:r>
            <a:r>
              <a:t>|</a:t>
            </a:r>
          </a:p>
        </p:txBody>
      </p:sp>
      <p:sp>
        <p:nvSpPr>
          <p:cNvPr id="227" name="Case1"/>
          <p:cNvSpPr txBox="1"/>
          <p:nvPr/>
        </p:nvSpPr>
        <p:spPr>
          <a:xfrm>
            <a:off x="7394236" y="7687134"/>
            <a:ext cx="1250443" cy="560449"/>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solidFill>
                  <a:schemeClr val="accent1"/>
                </a:solidFill>
              </a:defRPr>
            </a:lvl1pPr>
          </a:lstStyle>
          <a:p>
            <a:pPr/>
            <a:r>
              <a:t>Case1</a:t>
            </a:r>
          </a:p>
        </p:txBody>
      </p:sp>
      <p:sp>
        <p:nvSpPr>
          <p:cNvPr id="228" name="Case2"/>
          <p:cNvSpPr txBox="1"/>
          <p:nvPr/>
        </p:nvSpPr>
        <p:spPr>
          <a:xfrm>
            <a:off x="4226750" y="7687134"/>
            <a:ext cx="1250443" cy="560449"/>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solidFill>
                  <a:schemeClr val="accent1"/>
                </a:solidFill>
              </a:defRPr>
            </a:lvl1pPr>
          </a:lstStyle>
          <a:p>
            <a:pPr/>
            <a:r>
              <a:t>Case2</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0" name="矩形"/>
          <p:cNvSpPr/>
          <p:nvPr/>
        </p:nvSpPr>
        <p:spPr>
          <a:xfrm>
            <a:off x="1817828" y="3000656"/>
            <a:ext cx="9235773" cy="2412257"/>
          </a:xfrm>
          <a:prstGeom prst="rect">
            <a:avLst/>
          </a:prstGeom>
          <a:ln w="63500">
            <a:solidFill>
              <a:schemeClr val="accent1"/>
            </a:solidFill>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231" name="幻燈片編號"/>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32" name="截圖 2021-02-22 下午7.47.27.png" descr="截圖 2021-02-22 下午7.47.27.png"/>
          <p:cNvPicPr>
            <a:picLocks noChangeAspect="1"/>
          </p:cNvPicPr>
          <p:nvPr/>
        </p:nvPicPr>
        <p:blipFill>
          <a:blip r:embed="rId2">
            <a:extLst/>
          </a:blip>
          <a:stretch>
            <a:fillRect/>
          </a:stretch>
        </p:blipFill>
        <p:spPr>
          <a:xfrm>
            <a:off x="2224287" y="3151439"/>
            <a:ext cx="8422855" cy="2110692"/>
          </a:xfrm>
          <a:prstGeom prst="rect">
            <a:avLst/>
          </a:prstGeom>
          <a:ln w="12700">
            <a:miter lim="400000"/>
          </a:ln>
        </p:spPr>
      </p:pic>
      <p:pic>
        <p:nvPicPr>
          <p:cNvPr id="233" name="截圖 2021-02-22 下午8.26.46.png" descr="截圖 2021-02-22 下午8.26.46.png"/>
          <p:cNvPicPr>
            <a:picLocks noChangeAspect="1"/>
          </p:cNvPicPr>
          <p:nvPr/>
        </p:nvPicPr>
        <p:blipFill>
          <a:blip r:embed="rId3">
            <a:extLst/>
          </a:blip>
          <a:stretch>
            <a:fillRect/>
          </a:stretch>
        </p:blipFill>
        <p:spPr>
          <a:xfrm>
            <a:off x="12142999" y="2742005"/>
            <a:ext cx="10983611" cy="9417391"/>
          </a:xfrm>
          <a:prstGeom prst="rect">
            <a:avLst/>
          </a:prstGeom>
          <a:ln w="12700">
            <a:miter lim="400000"/>
          </a:ln>
        </p:spPr>
      </p:pic>
      <p:pic>
        <p:nvPicPr>
          <p:cNvPr id="234" name="截圖 2021-02-22 下午7.48.41.png" descr="截圖 2021-02-22 下午7.48.41.png"/>
          <p:cNvPicPr>
            <a:picLocks noChangeAspect="1"/>
          </p:cNvPicPr>
          <p:nvPr/>
        </p:nvPicPr>
        <p:blipFill>
          <a:blip r:embed="rId4">
            <a:extLst/>
          </a:blip>
          <a:stretch>
            <a:fillRect/>
          </a:stretch>
        </p:blipFill>
        <p:spPr>
          <a:xfrm>
            <a:off x="1309749" y="5802654"/>
            <a:ext cx="10251931" cy="2110692"/>
          </a:xfrm>
          <a:prstGeom prst="rect">
            <a:avLst/>
          </a:prstGeom>
          <a:ln w="12700">
            <a:miter lim="400000"/>
          </a:ln>
        </p:spPr>
      </p:pic>
      <p:graphicFrame>
        <p:nvGraphicFramePr>
          <p:cNvPr id="235" name="表格"/>
          <p:cNvGraphicFramePr/>
          <p:nvPr/>
        </p:nvGraphicFramePr>
        <p:xfrm>
          <a:off x="883664" y="8453869"/>
          <a:ext cx="11116801" cy="4261624"/>
        </p:xfrm>
        <a:graphic xmlns:a="http://schemas.openxmlformats.org/drawingml/2006/main">
          <a:graphicData uri="http://schemas.openxmlformats.org/drawingml/2006/table">
            <a:tbl>
              <a:tblPr firstCol="0" firstRow="0" lastCol="0" lastRow="0" bandCol="0" bandRow="0" rtl="0">
                <a:tableStyleId>{EEE7283C-3CF3-47DC-8721-378D4A62B228}</a:tableStyleId>
              </a:tblPr>
              <a:tblGrid>
                <a:gridCol w="3701366"/>
                <a:gridCol w="3701366"/>
                <a:gridCol w="3701366"/>
              </a:tblGrid>
              <a:tr h="1416307">
                <a:tc>
                  <a:txBody>
                    <a:bodyPr/>
                    <a:lstStyle/>
                    <a:p>
                      <a:pPr defTabSz="914400">
                        <a:defRPr sz="1800"/>
                      </a:pPr>
                      <a:r>
                        <a:rPr sz="4500">
                          <a:latin typeface="+mn-lt"/>
                          <a:ea typeface="+mn-ea"/>
                          <a:cs typeface="+mn-cs"/>
                        </a:rPr>
                        <a:t>1</a:t>
                      </a:r>
                    </a:p>
                  </a:txBody>
                  <a:tcPr marL="50800" marR="50800" marT="50800" marB="50800" anchor="ctr" anchorCtr="0" horzOverflow="overflow">
                    <a:lnL w="12700">
                      <a:solidFill>
                        <a:srgbClr val="5D5D5D"/>
                      </a:solidFill>
                      <a:miter lim="400000"/>
                    </a:lnL>
                    <a:lnT w="12700">
                      <a:solidFill>
                        <a:srgbClr val="5D5D5D"/>
                      </a:solidFill>
                      <a:miter lim="400000"/>
                    </a:lnT>
                  </a:tcPr>
                </a:tc>
                <a:tc>
                  <a:txBody>
                    <a:bodyPr/>
                    <a:lstStyle/>
                    <a:p>
                      <a:pPr defTabSz="914400">
                        <a:defRPr sz="1800"/>
                      </a:pPr>
                      <a:r>
                        <a:rPr sz="4500">
                          <a:latin typeface="+mn-lt"/>
                          <a:ea typeface="+mn-ea"/>
                          <a:cs typeface="+mn-cs"/>
                        </a:rPr>
                        <a:t>1</a:t>
                      </a:r>
                    </a:p>
                  </a:txBody>
                  <a:tcPr marL="50800" marR="50800" marT="50800" marB="50800" anchor="ctr" anchorCtr="0" horzOverflow="overflow">
                    <a:lnT w="12700">
                      <a:solidFill>
                        <a:srgbClr val="5D5D5D"/>
                      </a:solidFill>
                      <a:miter lim="400000"/>
                    </a:lnT>
                  </a:tcPr>
                </a:tc>
                <a:tc>
                  <a:txBody>
                    <a:bodyPr/>
                    <a:lstStyle/>
                    <a:p>
                      <a:pPr defTabSz="914400">
                        <a:defRPr sz="1800"/>
                      </a:pPr>
                      <a:r>
                        <a:rPr sz="4500">
                          <a:latin typeface="+mn-lt"/>
                          <a:ea typeface="+mn-ea"/>
                          <a:cs typeface="+mn-cs"/>
                        </a:rPr>
                        <a:t>1</a:t>
                      </a:r>
                    </a:p>
                  </a:txBody>
                  <a:tcPr marL="50800" marR="50800" marT="50800" marB="50800" anchor="ctr" anchorCtr="0" horzOverflow="overflow">
                    <a:lnR w="12700">
                      <a:solidFill>
                        <a:srgbClr val="5D5D5D"/>
                      </a:solidFill>
                      <a:miter lim="400000"/>
                    </a:lnR>
                    <a:lnT w="12700">
                      <a:solidFill>
                        <a:srgbClr val="5D5D5D"/>
                      </a:solidFill>
                      <a:miter lim="400000"/>
                    </a:lnT>
                  </a:tcPr>
                </a:tc>
              </a:tr>
              <a:tr h="1416307">
                <a:tc>
                  <a:txBody>
                    <a:bodyPr/>
                    <a:lstStyle/>
                    <a:p>
                      <a:pPr defTabSz="914400">
                        <a:defRPr sz="1800"/>
                      </a:pPr>
                      <a:r>
                        <a:rPr sz="4500">
                          <a:latin typeface="+mn-lt"/>
                          <a:ea typeface="+mn-ea"/>
                          <a:cs typeface="+mn-cs"/>
                        </a:rPr>
                        <a:t>0</a:t>
                      </a:r>
                    </a:p>
                  </a:txBody>
                  <a:tcPr marL="50800" marR="50800" marT="50800" marB="50800" anchor="ctr" anchorCtr="0" horzOverflow="overflow">
                    <a:lnL w="12700">
                      <a:solidFill>
                        <a:srgbClr val="5D5D5D"/>
                      </a:solidFill>
                      <a:miter lim="400000"/>
                    </a:lnL>
                  </a:tcPr>
                </a:tc>
                <a:tc>
                  <a:txBody>
                    <a:bodyPr/>
                    <a:lstStyle/>
                    <a:p>
                      <a:pPr defTabSz="914400">
                        <a:defRPr sz="1800"/>
                      </a:pPr>
                      <a:r>
                        <a:rPr sz="4500">
                          <a:latin typeface="+mn-lt"/>
                          <a:ea typeface="+mn-ea"/>
                          <a:cs typeface="+mn-cs"/>
                        </a:rPr>
                        <a:t>1/4</a:t>
                      </a:r>
                    </a:p>
                  </a:txBody>
                  <a:tcPr marL="50800" marR="50800" marT="50800" marB="50800" anchor="ctr" anchorCtr="0" horzOverflow="overflow"/>
                </a:tc>
                <a:tc>
                  <a:txBody>
                    <a:bodyPr/>
                    <a:lstStyle/>
                    <a:p>
                      <a:pPr defTabSz="914400">
                        <a:defRPr sz="1800"/>
                      </a:pPr>
                      <a:r>
                        <a:rPr sz="4500">
                          <a:latin typeface="+mn-lt"/>
                          <a:ea typeface="+mn-ea"/>
                          <a:cs typeface="+mn-cs"/>
                        </a:rPr>
                        <a:t>7/16</a:t>
                      </a:r>
                    </a:p>
                  </a:txBody>
                  <a:tcPr marL="50800" marR="50800" marT="50800" marB="50800" anchor="ctr" anchorCtr="0" horzOverflow="overflow">
                    <a:lnR w="12700">
                      <a:solidFill>
                        <a:srgbClr val="5D5D5D"/>
                      </a:solidFill>
                      <a:miter lim="400000"/>
                    </a:lnR>
                  </a:tcPr>
                </a:tc>
              </a:tr>
              <a:tr h="1416307">
                <a:tc>
                  <a:txBody>
                    <a:bodyPr/>
                    <a:lstStyle/>
                    <a:p>
                      <a:pPr defTabSz="914400">
                        <a:defRPr sz="1800"/>
                      </a:pPr>
                      <a:r>
                        <a:rPr sz="4500">
                          <a:latin typeface="+mn-lt"/>
                          <a:ea typeface="+mn-ea"/>
                          <a:cs typeface="+mn-cs"/>
                        </a:rPr>
                        <a:t>0</a:t>
                      </a:r>
                    </a:p>
                  </a:txBody>
                  <a:tcPr marL="50800" marR="50800" marT="50800" marB="50800" anchor="ctr" anchorCtr="0" horzOverflow="overflow">
                    <a:lnL w="12700">
                      <a:solidFill>
                        <a:srgbClr val="5D5D5D"/>
                      </a:solidFill>
                      <a:miter lim="400000"/>
                    </a:lnL>
                    <a:lnB w="12700">
                      <a:solidFill>
                        <a:srgbClr val="5D5D5D"/>
                      </a:solidFill>
                      <a:miter lim="400000"/>
                    </a:lnB>
                  </a:tcPr>
                </a:tc>
                <a:tc>
                  <a:txBody>
                    <a:bodyPr/>
                    <a:lstStyle/>
                    <a:p>
                      <a:pPr defTabSz="914400">
                        <a:defRPr sz="1800"/>
                      </a:pPr>
                      <a:r>
                        <a:rPr sz="4500">
                          <a:latin typeface="+mn-lt"/>
                          <a:ea typeface="+mn-ea"/>
                          <a:cs typeface="+mn-cs"/>
                        </a:rPr>
                        <a:t>0</a:t>
                      </a:r>
                    </a:p>
                  </a:txBody>
                  <a:tcPr marL="50800" marR="50800" marT="50800" marB="50800" anchor="ctr" anchorCtr="0" horzOverflow="overflow">
                    <a:lnB w="12700">
                      <a:solidFill>
                        <a:srgbClr val="5D5D5D"/>
                      </a:solidFill>
                      <a:miter lim="400000"/>
                    </a:lnB>
                  </a:tcPr>
                </a:tc>
                <a:tc>
                  <a:txBody>
                    <a:bodyPr/>
                    <a:lstStyle/>
                    <a:p>
                      <a:pPr defTabSz="914400">
                        <a:defRPr sz="1800"/>
                      </a:pPr>
                      <a:r>
                        <a:rPr sz="4500">
                          <a:latin typeface="+mn-lt"/>
                          <a:ea typeface="+mn-ea"/>
                          <a:cs typeface="+mn-cs"/>
                        </a:rPr>
                        <a:t>1/16</a:t>
                      </a:r>
                    </a:p>
                  </a:txBody>
                  <a:tcPr marL="50800" marR="50800" marT="50800" marB="50800" anchor="ctr" anchorCtr="0" horzOverflow="overflow">
                    <a:lnR w="12700">
                      <a:solidFill>
                        <a:srgbClr val="5D5D5D"/>
                      </a:solidFill>
                      <a:miter lim="400000"/>
                    </a:lnR>
                    <a:lnB w="12700">
                      <a:solidFill>
                        <a:srgbClr val="5D5D5D"/>
                      </a:solidFill>
                      <a:miter lim="400000"/>
                    </a:lnB>
                  </a:tcPr>
                </a:tc>
              </a:tr>
            </a:tbl>
          </a:graphicData>
        </a:graphic>
      </p:graphicFrame>
      <p:grpSp>
        <p:nvGrpSpPr>
          <p:cNvPr id="241" name="群組"/>
          <p:cNvGrpSpPr/>
          <p:nvPr/>
        </p:nvGrpSpPr>
        <p:grpSpPr>
          <a:xfrm>
            <a:off x="4574930" y="8453870"/>
            <a:ext cx="7421593" cy="2837059"/>
            <a:chOff x="0" y="0"/>
            <a:chExt cx="7421591" cy="2837058"/>
          </a:xfrm>
        </p:grpSpPr>
        <p:sp>
          <p:nvSpPr>
            <p:cNvPr id="236" name="線條"/>
            <p:cNvSpPr/>
            <p:nvPr/>
          </p:nvSpPr>
          <p:spPr>
            <a:xfrm>
              <a:off x="2829511" y="2092711"/>
              <a:ext cx="2076146" cy="1"/>
            </a:xfrm>
            <a:prstGeom prst="line">
              <a:avLst/>
            </a:prstGeom>
            <a:noFill/>
            <a:ln w="63500" cap="flat">
              <a:solidFill>
                <a:schemeClr val="accent5">
                  <a:hueOff val="-82419"/>
                  <a:satOff val="-9513"/>
                  <a:lumOff val="-16343"/>
                </a:schemeClr>
              </a:solidFill>
              <a:prstDash val="solid"/>
              <a:miter lim="400000"/>
              <a:tailEnd type="triangle" w="med" len="med"/>
            </a:ln>
            <a:effectLst/>
          </p:spPr>
          <p:txBody>
            <a:bodyPr wrap="square" lIns="50800" tIns="50800" rIns="50800" bIns="50800" numCol="1" anchor="ctr">
              <a:noAutofit/>
            </a:bodyPr>
            <a:lstStyle/>
            <a:p>
              <a:pPr/>
            </a:p>
          </p:txBody>
        </p:sp>
        <p:sp>
          <p:nvSpPr>
            <p:cNvPr id="237" name="線條"/>
            <p:cNvSpPr/>
            <p:nvPr/>
          </p:nvSpPr>
          <p:spPr>
            <a:xfrm>
              <a:off x="2840814" y="1112069"/>
              <a:ext cx="2064844" cy="786636"/>
            </a:xfrm>
            <a:prstGeom prst="line">
              <a:avLst/>
            </a:prstGeom>
            <a:noFill/>
            <a:ln w="63500" cap="flat">
              <a:solidFill>
                <a:schemeClr val="accent5">
                  <a:hueOff val="-82419"/>
                  <a:satOff val="-9513"/>
                  <a:lumOff val="-16343"/>
                </a:schemeClr>
              </a:solidFill>
              <a:prstDash val="solid"/>
              <a:miter lim="400000"/>
              <a:tailEnd type="triangle" w="med" len="med"/>
            </a:ln>
            <a:effectLst/>
          </p:spPr>
          <p:txBody>
            <a:bodyPr wrap="square" lIns="50800" tIns="50800" rIns="50800" bIns="50800" numCol="1" anchor="ctr">
              <a:noAutofit/>
            </a:bodyPr>
            <a:lstStyle/>
            <a:p>
              <a:pPr/>
            </a:p>
          </p:txBody>
        </p:sp>
        <p:sp>
          <p:nvSpPr>
            <p:cNvPr id="238" name="*1/4"/>
            <p:cNvSpPr txBox="1"/>
            <p:nvPr/>
          </p:nvSpPr>
          <p:spPr>
            <a:xfrm>
              <a:off x="3697905" y="809505"/>
              <a:ext cx="834391" cy="56044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p>
              <a:pPr/>
              <a:r>
                <a:t>*1/4</a:t>
              </a:r>
            </a:p>
          </p:txBody>
        </p:sp>
        <p:sp>
          <p:nvSpPr>
            <p:cNvPr id="239" name="*3/4"/>
            <p:cNvSpPr txBox="1"/>
            <p:nvPr/>
          </p:nvSpPr>
          <p:spPr>
            <a:xfrm>
              <a:off x="3247769" y="2186967"/>
              <a:ext cx="834391" cy="56044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p>
              <a:pPr/>
              <a:r>
                <a:t>*3/4</a:t>
              </a:r>
            </a:p>
          </p:txBody>
        </p:sp>
        <p:sp>
          <p:nvSpPr>
            <p:cNvPr id="240" name="矩形"/>
            <p:cNvSpPr/>
            <p:nvPr/>
          </p:nvSpPr>
          <p:spPr>
            <a:xfrm>
              <a:off x="0" y="0"/>
              <a:ext cx="7421592" cy="2837059"/>
            </a:xfrm>
            <a:prstGeom prst="rect">
              <a:avLst/>
            </a:prstGeom>
            <a:noFill/>
            <a:ln w="63500" cap="flat">
              <a:solidFill>
                <a:schemeClr val="accent5"/>
              </a:solidFill>
              <a:prstDash val="solid"/>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grpSp>
      <p:sp>
        <p:nvSpPr>
          <p:cNvPr id="242" name="矩形"/>
          <p:cNvSpPr/>
          <p:nvPr/>
        </p:nvSpPr>
        <p:spPr>
          <a:xfrm>
            <a:off x="15321911" y="4187909"/>
            <a:ext cx="2665717" cy="2592407"/>
          </a:xfrm>
          <a:prstGeom prst="rect">
            <a:avLst/>
          </a:prstGeom>
          <a:ln w="127000">
            <a:solidFill>
              <a:schemeClr val="accent5"/>
            </a:solidFill>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243" name="Step2: Calculation of heuristic values"/>
          <p:cNvSpPr txBox="1"/>
          <p:nvPr>
            <p:ph type="title"/>
          </p:nvPr>
        </p:nvSpPr>
        <p:spPr>
          <a:prstGeom prst="rect">
            <a:avLst/>
          </a:prstGeom>
        </p:spPr>
        <p:txBody>
          <a:bodyPr/>
          <a:lstStyle>
            <a:lvl1pPr algn="l">
              <a:defRPr sz="9000"/>
            </a:lvl1pPr>
          </a:lstStyle>
          <a:p>
            <a:pPr/>
            <a:r>
              <a:t>Step2: Calculation of heuristic values</a:t>
            </a:r>
          </a:p>
        </p:txBody>
      </p:sp>
      <p:sp>
        <p:nvSpPr>
          <p:cNvPr id="244" name="k = |s|, q = |ri|"/>
          <p:cNvSpPr txBox="1"/>
          <p:nvPr/>
        </p:nvSpPr>
        <p:spPr>
          <a:xfrm>
            <a:off x="18328634" y="11939982"/>
            <a:ext cx="4180410" cy="945530"/>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just">
              <a:spcBef>
                <a:spcPts val="5900"/>
              </a:spcBef>
              <a:defRPr b="0" sz="6000">
                <a:latin typeface="+mn-lt"/>
                <a:ea typeface="+mn-ea"/>
                <a:cs typeface="+mn-cs"/>
                <a:sym typeface="Times New Roman"/>
              </a:defRPr>
            </a:pPr>
            <a:r>
              <a:t>k = |s|, q = |r</a:t>
            </a:r>
            <a:r>
              <a:rPr baseline="-5999"/>
              <a:t>i</a:t>
            </a:r>
            <a:r>
              <a:t>|</a:t>
            </a:r>
          </a:p>
        </p:txBody>
      </p:sp>
      <p:sp>
        <p:nvSpPr>
          <p:cNvPr id="245" name="Case1"/>
          <p:cNvSpPr txBox="1"/>
          <p:nvPr/>
        </p:nvSpPr>
        <p:spPr>
          <a:xfrm>
            <a:off x="7394236" y="7687134"/>
            <a:ext cx="1250443" cy="560449"/>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solidFill>
                  <a:schemeClr val="accent1"/>
                </a:solidFill>
              </a:defRPr>
            </a:lvl1pPr>
          </a:lstStyle>
          <a:p>
            <a:pPr/>
            <a:r>
              <a:t>Case1</a:t>
            </a:r>
          </a:p>
        </p:txBody>
      </p:sp>
      <p:sp>
        <p:nvSpPr>
          <p:cNvPr id="246" name="Case2"/>
          <p:cNvSpPr txBox="1"/>
          <p:nvPr/>
        </p:nvSpPr>
        <p:spPr>
          <a:xfrm>
            <a:off x="4226750" y="7687134"/>
            <a:ext cx="1250443" cy="560449"/>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solidFill>
                  <a:schemeClr val="accent1"/>
                </a:solidFill>
              </a:defRPr>
            </a:lvl1pPr>
          </a:lstStyle>
          <a:p>
            <a:pPr/>
            <a:r>
              <a:t>Case2</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8" name="矩形"/>
          <p:cNvSpPr/>
          <p:nvPr/>
        </p:nvSpPr>
        <p:spPr>
          <a:xfrm>
            <a:off x="1817828" y="3000656"/>
            <a:ext cx="9235773" cy="2412257"/>
          </a:xfrm>
          <a:prstGeom prst="rect">
            <a:avLst/>
          </a:prstGeom>
          <a:ln w="63500">
            <a:solidFill>
              <a:schemeClr val="accent1"/>
            </a:solidFill>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249" name="幻燈片編號"/>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50" name="截圖 2021-02-22 下午7.47.27.png" descr="截圖 2021-02-22 下午7.47.27.png"/>
          <p:cNvPicPr>
            <a:picLocks noChangeAspect="1"/>
          </p:cNvPicPr>
          <p:nvPr/>
        </p:nvPicPr>
        <p:blipFill>
          <a:blip r:embed="rId2">
            <a:extLst/>
          </a:blip>
          <a:stretch>
            <a:fillRect/>
          </a:stretch>
        </p:blipFill>
        <p:spPr>
          <a:xfrm>
            <a:off x="2224287" y="3151439"/>
            <a:ext cx="8422855" cy="2110692"/>
          </a:xfrm>
          <a:prstGeom prst="rect">
            <a:avLst/>
          </a:prstGeom>
          <a:ln w="12700">
            <a:miter lim="400000"/>
          </a:ln>
        </p:spPr>
      </p:pic>
      <p:pic>
        <p:nvPicPr>
          <p:cNvPr id="251" name="截圖 2021-02-22 下午8.26.46.png" descr="截圖 2021-02-22 下午8.26.46.png"/>
          <p:cNvPicPr>
            <a:picLocks noChangeAspect="1"/>
          </p:cNvPicPr>
          <p:nvPr/>
        </p:nvPicPr>
        <p:blipFill>
          <a:blip r:embed="rId3">
            <a:extLst/>
          </a:blip>
          <a:stretch>
            <a:fillRect/>
          </a:stretch>
        </p:blipFill>
        <p:spPr>
          <a:xfrm>
            <a:off x="12142999" y="2742005"/>
            <a:ext cx="10983611" cy="9417391"/>
          </a:xfrm>
          <a:prstGeom prst="rect">
            <a:avLst/>
          </a:prstGeom>
          <a:ln w="12700">
            <a:miter lim="400000"/>
          </a:ln>
        </p:spPr>
      </p:pic>
      <p:pic>
        <p:nvPicPr>
          <p:cNvPr id="252" name="截圖 2021-02-22 下午7.48.41.png" descr="截圖 2021-02-22 下午7.48.41.png"/>
          <p:cNvPicPr>
            <a:picLocks noChangeAspect="1"/>
          </p:cNvPicPr>
          <p:nvPr/>
        </p:nvPicPr>
        <p:blipFill>
          <a:blip r:embed="rId4">
            <a:extLst/>
          </a:blip>
          <a:stretch>
            <a:fillRect/>
          </a:stretch>
        </p:blipFill>
        <p:spPr>
          <a:xfrm>
            <a:off x="1309749" y="5802654"/>
            <a:ext cx="10251931" cy="2110692"/>
          </a:xfrm>
          <a:prstGeom prst="rect">
            <a:avLst/>
          </a:prstGeom>
          <a:ln w="12700">
            <a:miter lim="400000"/>
          </a:ln>
        </p:spPr>
      </p:pic>
      <p:graphicFrame>
        <p:nvGraphicFramePr>
          <p:cNvPr id="253" name="表格"/>
          <p:cNvGraphicFramePr/>
          <p:nvPr/>
        </p:nvGraphicFramePr>
        <p:xfrm>
          <a:off x="883664" y="8453869"/>
          <a:ext cx="11116801" cy="4261624"/>
        </p:xfrm>
        <a:graphic xmlns:a="http://schemas.openxmlformats.org/drawingml/2006/main">
          <a:graphicData uri="http://schemas.openxmlformats.org/drawingml/2006/table">
            <a:tbl>
              <a:tblPr firstCol="0" firstRow="0" lastCol="0" lastRow="0" bandCol="0" bandRow="0" rtl="0">
                <a:tableStyleId>{EEE7283C-3CF3-47DC-8721-378D4A62B228}</a:tableStyleId>
              </a:tblPr>
              <a:tblGrid>
                <a:gridCol w="3701366"/>
                <a:gridCol w="3701366"/>
                <a:gridCol w="3701366"/>
              </a:tblGrid>
              <a:tr h="1416307">
                <a:tc>
                  <a:txBody>
                    <a:bodyPr/>
                    <a:lstStyle/>
                    <a:p>
                      <a:pPr defTabSz="914400">
                        <a:defRPr sz="1800"/>
                      </a:pPr>
                      <a:r>
                        <a:rPr sz="4500">
                          <a:latin typeface="+mn-lt"/>
                          <a:ea typeface="+mn-ea"/>
                          <a:cs typeface="+mn-cs"/>
                        </a:rPr>
                        <a:t>1</a:t>
                      </a:r>
                    </a:p>
                  </a:txBody>
                  <a:tcPr marL="50800" marR="50800" marT="50800" marB="50800" anchor="ctr" anchorCtr="0" horzOverflow="overflow">
                    <a:lnL w="12700">
                      <a:solidFill>
                        <a:srgbClr val="5D5D5D"/>
                      </a:solidFill>
                      <a:miter lim="400000"/>
                    </a:lnL>
                    <a:lnT w="12700">
                      <a:solidFill>
                        <a:srgbClr val="5D5D5D"/>
                      </a:solidFill>
                      <a:miter lim="400000"/>
                    </a:lnT>
                  </a:tcPr>
                </a:tc>
                <a:tc>
                  <a:txBody>
                    <a:bodyPr/>
                    <a:lstStyle/>
                    <a:p>
                      <a:pPr defTabSz="914400">
                        <a:defRPr sz="1800"/>
                      </a:pPr>
                      <a:r>
                        <a:rPr sz="4500">
                          <a:latin typeface="+mn-lt"/>
                          <a:ea typeface="+mn-ea"/>
                          <a:cs typeface="+mn-cs"/>
                        </a:rPr>
                        <a:t>1</a:t>
                      </a:r>
                    </a:p>
                  </a:txBody>
                  <a:tcPr marL="50800" marR="50800" marT="50800" marB="50800" anchor="ctr" anchorCtr="0" horzOverflow="overflow">
                    <a:lnT w="12700">
                      <a:solidFill>
                        <a:srgbClr val="5D5D5D"/>
                      </a:solidFill>
                      <a:miter lim="400000"/>
                    </a:lnT>
                  </a:tcPr>
                </a:tc>
                <a:tc>
                  <a:txBody>
                    <a:bodyPr/>
                    <a:lstStyle/>
                    <a:p>
                      <a:pPr defTabSz="914400">
                        <a:defRPr sz="1800"/>
                      </a:pPr>
                      <a:r>
                        <a:rPr sz="4500">
                          <a:latin typeface="+mn-lt"/>
                          <a:ea typeface="+mn-ea"/>
                          <a:cs typeface="+mn-cs"/>
                        </a:rPr>
                        <a:t>1</a:t>
                      </a:r>
                    </a:p>
                  </a:txBody>
                  <a:tcPr marL="50800" marR="50800" marT="50800" marB="50800" anchor="ctr" anchorCtr="0" horzOverflow="overflow">
                    <a:lnR w="12700">
                      <a:solidFill>
                        <a:srgbClr val="5D5D5D"/>
                      </a:solidFill>
                      <a:miter lim="400000"/>
                    </a:lnR>
                    <a:lnT w="12700">
                      <a:solidFill>
                        <a:srgbClr val="5D5D5D"/>
                      </a:solidFill>
                      <a:miter lim="400000"/>
                    </a:lnT>
                  </a:tcPr>
                </a:tc>
              </a:tr>
              <a:tr h="1416307">
                <a:tc>
                  <a:txBody>
                    <a:bodyPr/>
                    <a:lstStyle/>
                    <a:p>
                      <a:pPr defTabSz="914400">
                        <a:defRPr sz="1800"/>
                      </a:pPr>
                      <a:r>
                        <a:rPr sz="4500">
                          <a:latin typeface="+mn-lt"/>
                          <a:ea typeface="+mn-ea"/>
                          <a:cs typeface="+mn-cs"/>
                        </a:rPr>
                        <a:t>0</a:t>
                      </a:r>
                    </a:p>
                  </a:txBody>
                  <a:tcPr marL="50800" marR="50800" marT="50800" marB="50800" anchor="ctr" anchorCtr="0" horzOverflow="overflow">
                    <a:lnL w="12700">
                      <a:solidFill>
                        <a:srgbClr val="5D5D5D"/>
                      </a:solidFill>
                      <a:miter lim="400000"/>
                    </a:lnL>
                  </a:tcPr>
                </a:tc>
                <a:tc>
                  <a:txBody>
                    <a:bodyPr/>
                    <a:lstStyle/>
                    <a:p>
                      <a:pPr defTabSz="914400">
                        <a:defRPr sz="1800"/>
                      </a:pPr>
                      <a:r>
                        <a:rPr sz="4500">
                          <a:latin typeface="+mn-lt"/>
                          <a:ea typeface="+mn-ea"/>
                          <a:cs typeface="+mn-cs"/>
                        </a:rPr>
                        <a:t>1/4</a:t>
                      </a:r>
                    </a:p>
                  </a:txBody>
                  <a:tcPr marL="50800" marR="50800" marT="50800" marB="50800" anchor="ctr" anchorCtr="0" horzOverflow="overflow"/>
                </a:tc>
                <a:tc>
                  <a:txBody>
                    <a:bodyPr/>
                    <a:lstStyle/>
                    <a:p>
                      <a:pPr defTabSz="914400">
                        <a:defRPr sz="1800"/>
                      </a:pPr>
                      <a:r>
                        <a:rPr sz="4500">
                          <a:latin typeface="+mn-lt"/>
                          <a:ea typeface="+mn-ea"/>
                          <a:cs typeface="+mn-cs"/>
                        </a:rPr>
                        <a:t>7/16</a:t>
                      </a:r>
                    </a:p>
                  </a:txBody>
                  <a:tcPr marL="50800" marR="50800" marT="50800" marB="50800" anchor="ctr" anchorCtr="0" horzOverflow="overflow">
                    <a:lnR w="12700">
                      <a:solidFill>
                        <a:srgbClr val="5D5D5D"/>
                      </a:solidFill>
                      <a:miter lim="400000"/>
                    </a:lnR>
                  </a:tcPr>
                </a:tc>
              </a:tr>
              <a:tr h="1416307">
                <a:tc>
                  <a:txBody>
                    <a:bodyPr/>
                    <a:lstStyle/>
                    <a:p>
                      <a:pPr defTabSz="914400">
                        <a:defRPr sz="1800"/>
                      </a:pPr>
                      <a:r>
                        <a:rPr sz="4500">
                          <a:latin typeface="+mn-lt"/>
                          <a:ea typeface="+mn-ea"/>
                          <a:cs typeface="+mn-cs"/>
                        </a:rPr>
                        <a:t>0</a:t>
                      </a:r>
                    </a:p>
                  </a:txBody>
                  <a:tcPr marL="50800" marR="50800" marT="50800" marB="50800" anchor="ctr" anchorCtr="0" horzOverflow="overflow">
                    <a:lnL w="12700">
                      <a:solidFill>
                        <a:srgbClr val="5D5D5D"/>
                      </a:solidFill>
                      <a:miter lim="400000"/>
                    </a:lnL>
                    <a:lnB w="12700">
                      <a:solidFill>
                        <a:srgbClr val="5D5D5D"/>
                      </a:solidFill>
                      <a:miter lim="400000"/>
                    </a:lnB>
                  </a:tcPr>
                </a:tc>
                <a:tc>
                  <a:txBody>
                    <a:bodyPr/>
                    <a:lstStyle/>
                    <a:p>
                      <a:pPr defTabSz="914400">
                        <a:defRPr sz="1800"/>
                      </a:pPr>
                      <a:r>
                        <a:rPr sz="4500">
                          <a:latin typeface="+mn-lt"/>
                          <a:ea typeface="+mn-ea"/>
                          <a:cs typeface="+mn-cs"/>
                        </a:rPr>
                        <a:t>0</a:t>
                      </a:r>
                    </a:p>
                  </a:txBody>
                  <a:tcPr marL="50800" marR="50800" marT="50800" marB="50800" anchor="ctr" anchorCtr="0" horzOverflow="overflow">
                    <a:lnB w="12700">
                      <a:solidFill>
                        <a:srgbClr val="5D5D5D"/>
                      </a:solidFill>
                      <a:miter lim="400000"/>
                    </a:lnB>
                  </a:tcPr>
                </a:tc>
                <a:tc>
                  <a:txBody>
                    <a:bodyPr/>
                    <a:lstStyle/>
                    <a:p>
                      <a:pPr defTabSz="914400">
                        <a:defRPr sz="1800"/>
                      </a:pPr>
                      <a:r>
                        <a:rPr sz="4500">
                          <a:latin typeface="+mn-lt"/>
                          <a:ea typeface="+mn-ea"/>
                          <a:cs typeface="+mn-cs"/>
                        </a:rPr>
                        <a:t>1/16</a:t>
                      </a:r>
                    </a:p>
                  </a:txBody>
                  <a:tcPr marL="50800" marR="50800" marT="50800" marB="50800" anchor="ctr" anchorCtr="0" horzOverflow="overflow">
                    <a:lnR w="12700">
                      <a:solidFill>
                        <a:srgbClr val="5D5D5D"/>
                      </a:solidFill>
                      <a:miter lim="400000"/>
                    </a:lnR>
                    <a:lnB w="12700">
                      <a:solidFill>
                        <a:srgbClr val="5D5D5D"/>
                      </a:solidFill>
                      <a:miter lim="400000"/>
                    </a:lnB>
                  </a:tcPr>
                </a:tc>
              </a:tr>
            </a:tbl>
          </a:graphicData>
        </a:graphic>
      </p:graphicFrame>
      <p:grpSp>
        <p:nvGrpSpPr>
          <p:cNvPr id="259" name="群組"/>
          <p:cNvGrpSpPr/>
          <p:nvPr/>
        </p:nvGrpSpPr>
        <p:grpSpPr>
          <a:xfrm>
            <a:off x="4574930" y="9872663"/>
            <a:ext cx="7421593" cy="2837060"/>
            <a:chOff x="0" y="0"/>
            <a:chExt cx="7421591" cy="2837058"/>
          </a:xfrm>
        </p:grpSpPr>
        <p:sp>
          <p:nvSpPr>
            <p:cNvPr id="254" name="線條"/>
            <p:cNvSpPr/>
            <p:nvPr/>
          </p:nvSpPr>
          <p:spPr>
            <a:xfrm>
              <a:off x="2829511" y="2092711"/>
              <a:ext cx="2076146" cy="1"/>
            </a:xfrm>
            <a:prstGeom prst="line">
              <a:avLst/>
            </a:prstGeom>
            <a:noFill/>
            <a:ln w="63500" cap="flat">
              <a:solidFill>
                <a:schemeClr val="accent5">
                  <a:hueOff val="-82419"/>
                  <a:satOff val="-9513"/>
                  <a:lumOff val="-16343"/>
                </a:schemeClr>
              </a:solidFill>
              <a:prstDash val="solid"/>
              <a:miter lim="400000"/>
              <a:tailEnd type="triangle" w="med" len="med"/>
            </a:ln>
            <a:effectLst/>
          </p:spPr>
          <p:txBody>
            <a:bodyPr wrap="square" lIns="50800" tIns="50800" rIns="50800" bIns="50800" numCol="1" anchor="ctr">
              <a:noAutofit/>
            </a:bodyPr>
            <a:lstStyle/>
            <a:p>
              <a:pPr/>
            </a:p>
          </p:txBody>
        </p:sp>
        <p:sp>
          <p:nvSpPr>
            <p:cNvPr id="255" name="線條"/>
            <p:cNvSpPr/>
            <p:nvPr/>
          </p:nvSpPr>
          <p:spPr>
            <a:xfrm>
              <a:off x="2840814" y="1112069"/>
              <a:ext cx="2064844" cy="786636"/>
            </a:xfrm>
            <a:prstGeom prst="line">
              <a:avLst/>
            </a:prstGeom>
            <a:noFill/>
            <a:ln w="63500" cap="flat">
              <a:solidFill>
                <a:schemeClr val="accent5">
                  <a:hueOff val="-82419"/>
                  <a:satOff val="-9513"/>
                  <a:lumOff val="-16343"/>
                </a:schemeClr>
              </a:solidFill>
              <a:prstDash val="solid"/>
              <a:miter lim="400000"/>
              <a:tailEnd type="triangle" w="med" len="med"/>
            </a:ln>
            <a:effectLst/>
          </p:spPr>
          <p:txBody>
            <a:bodyPr wrap="square" lIns="50800" tIns="50800" rIns="50800" bIns="50800" numCol="1" anchor="ctr">
              <a:noAutofit/>
            </a:bodyPr>
            <a:lstStyle/>
            <a:p>
              <a:pPr/>
            </a:p>
          </p:txBody>
        </p:sp>
        <p:sp>
          <p:nvSpPr>
            <p:cNvPr id="256" name="*1/4"/>
            <p:cNvSpPr txBox="1"/>
            <p:nvPr/>
          </p:nvSpPr>
          <p:spPr>
            <a:xfrm>
              <a:off x="3697905" y="809505"/>
              <a:ext cx="834391" cy="56044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p>
              <a:pPr/>
              <a:r>
                <a:t>*1/4</a:t>
              </a:r>
            </a:p>
          </p:txBody>
        </p:sp>
        <p:sp>
          <p:nvSpPr>
            <p:cNvPr id="257" name="*3/4"/>
            <p:cNvSpPr txBox="1"/>
            <p:nvPr/>
          </p:nvSpPr>
          <p:spPr>
            <a:xfrm>
              <a:off x="3247769" y="2186967"/>
              <a:ext cx="834391" cy="56044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p>
              <a:pPr/>
              <a:r>
                <a:t>*3/4</a:t>
              </a:r>
            </a:p>
          </p:txBody>
        </p:sp>
        <p:sp>
          <p:nvSpPr>
            <p:cNvPr id="258" name="矩形"/>
            <p:cNvSpPr/>
            <p:nvPr/>
          </p:nvSpPr>
          <p:spPr>
            <a:xfrm>
              <a:off x="0" y="0"/>
              <a:ext cx="7421592" cy="2837059"/>
            </a:xfrm>
            <a:prstGeom prst="rect">
              <a:avLst/>
            </a:prstGeom>
            <a:noFill/>
            <a:ln w="63500" cap="flat">
              <a:solidFill>
                <a:schemeClr val="accent5"/>
              </a:solidFill>
              <a:prstDash val="solid"/>
              <a:miter lim="400000"/>
            </a:ln>
            <a:effectLst/>
          </p:spPr>
          <p:txBody>
            <a:bodyPr wrap="square" lIns="0" tIns="0" rIns="0" bIns="0" numCol="1" anchor="ctr">
              <a:noAutofit/>
            </a:bodyPr>
            <a:lstStyle/>
            <a:p>
              <a:pPr>
                <a:defRPr b="0" sz="3200">
                  <a:solidFill>
                    <a:srgbClr val="FFFFFF"/>
                  </a:solidFill>
                  <a:latin typeface="Helvetica Neue Medium"/>
                  <a:ea typeface="Helvetica Neue Medium"/>
                  <a:cs typeface="Helvetica Neue Medium"/>
                  <a:sym typeface="Helvetica Neue Medium"/>
                </a:defRPr>
              </a:pPr>
            </a:p>
          </p:txBody>
        </p:sp>
      </p:grpSp>
      <p:sp>
        <p:nvSpPr>
          <p:cNvPr id="260" name="矩形"/>
          <p:cNvSpPr/>
          <p:nvPr/>
        </p:nvSpPr>
        <p:spPr>
          <a:xfrm>
            <a:off x="15345957" y="5498296"/>
            <a:ext cx="2665718" cy="2592408"/>
          </a:xfrm>
          <a:prstGeom prst="rect">
            <a:avLst/>
          </a:prstGeom>
          <a:ln w="127000">
            <a:solidFill>
              <a:schemeClr val="accent5"/>
            </a:solidFill>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261" name="Step2: Calculation of heuristic values"/>
          <p:cNvSpPr txBox="1"/>
          <p:nvPr>
            <p:ph type="title"/>
          </p:nvPr>
        </p:nvSpPr>
        <p:spPr>
          <a:prstGeom prst="rect">
            <a:avLst/>
          </a:prstGeom>
        </p:spPr>
        <p:txBody>
          <a:bodyPr/>
          <a:lstStyle>
            <a:lvl1pPr algn="l">
              <a:defRPr sz="9000"/>
            </a:lvl1pPr>
          </a:lstStyle>
          <a:p>
            <a:pPr/>
            <a:r>
              <a:t>Step2: Calculation of heuristic values</a:t>
            </a:r>
          </a:p>
        </p:txBody>
      </p:sp>
      <p:sp>
        <p:nvSpPr>
          <p:cNvPr id="262" name="k = |s|, q = |ri|"/>
          <p:cNvSpPr txBox="1"/>
          <p:nvPr/>
        </p:nvSpPr>
        <p:spPr>
          <a:xfrm>
            <a:off x="18328634" y="11939982"/>
            <a:ext cx="4180410" cy="945530"/>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just">
              <a:spcBef>
                <a:spcPts val="5900"/>
              </a:spcBef>
              <a:defRPr b="0" sz="6000">
                <a:latin typeface="+mn-lt"/>
                <a:ea typeface="+mn-ea"/>
                <a:cs typeface="+mn-cs"/>
                <a:sym typeface="Times New Roman"/>
              </a:defRPr>
            </a:pPr>
            <a:r>
              <a:t>k = |s|, q = |r</a:t>
            </a:r>
            <a:r>
              <a:rPr baseline="-5999"/>
              <a:t>i</a:t>
            </a:r>
            <a:r>
              <a:t>|</a:t>
            </a:r>
          </a:p>
        </p:txBody>
      </p:sp>
      <p:sp>
        <p:nvSpPr>
          <p:cNvPr id="263" name="Case1"/>
          <p:cNvSpPr txBox="1"/>
          <p:nvPr/>
        </p:nvSpPr>
        <p:spPr>
          <a:xfrm>
            <a:off x="7394236" y="7687134"/>
            <a:ext cx="1250443" cy="560449"/>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solidFill>
                  <a:schemeClr val="accent1"/>
                </a:solidFill>
              </a:defRPr>
            </a:lvl1pPr>
          </a:lstStyle>
          <a:p>
            <a:pPr/>
            <a:r>
              <a:t>Case1</a:t>
            </a:r>
          </a:p>
        </p:txBody>
      </p:sp>
      <p:sp>
        <p:nvSpPr>
          <p:cNvPr id="264" name="Case2"/>
          <p:cNvSpPr txBox="1"/>
          <p:nvPr/>
        </p:nvSpPr>
        <p:spPr>
          <a:xfrm>
            <a:off x="4226750" y="7687134"/>
            <a:ext cx="1250443" cy="560449"/>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solidFill>
                  <a:schemeClr val="accent1"/>
                </a:solidFill>
              </a:defRPr>
            </a:lvl1pPr>
          </a:lstStyle>
          <a:p>
            <a:pPr/>
            <a:r>
              <a:t>Case2</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6" name="Step3: Selection"/>
          <p:cNvSpPr txBox="1"/>
          <p:nvPr>
            <p:ph type="title"/>
          </p:nvPr>
        </p:nvSpPr>
        <p:spPr>
          <a:prstGeom prst="rect">
            <a:avLst/>
          </a:prstGeom>
        </p:spPr>
        <p:txBody>
          <a:bodyPr/>
          <a:lstStyle>
            <a:lvl1pPr algn="l">
              <a:defRPr sz="9000"/>
            </a:lvl1pPr>
          </a:lstStyle>
          <a:p>
            <a:pPr/>
            <a:r>
              <a:t>Step3: Selection</a:t>
            </a:r>
          </a:p>
        </p:txBody>
      </p:sp>
      <p:sp>
        <p:nvSpPr>
          <p:cNvPr id="267" name="幻燈片編號"/>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68" name="a list ĸ-best is constructed which consists of the k best candidate solutions.…"/>
          <p:cNvSpPr txBox="1"/>
          <p:nvPr/>
        </p:nvSpPr>
        <p:spPr>
          <a:xfrm>
            <a:off x="1519503" y="2753523"/>
            <a:ext cx="21344994" cy="570803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marL="793749" indent="-793749" algn="just">
              <a:spcBef>
                <a:spcPts val="1500"/>
              </a:spcBef>
              <a:buSzPct val="125000"/>
              <a:buChar char="•"/>
              <a:defRPr b="0" sz="6000">
                <a:latin typeface="+mn-lt"/>
                <a:ea typeface="+mn-ea"/>
                <a:cs typeface="+mn-cs"/>
                <a:sym typeface="Times New Roman"/>
              </a:defRPr>
            </a:pPr>
            <a:r>
              <a:t>a list ĸ-best is constructed which consists of the </a:t>
            </a:r>
            <a:r>
              <a:rPr sz="1000"/>
              <a:t>k </a:t>
            </a:r>
            <a:r>
              <a:t>best candidate solutions.</a:t>
            </a:r>
          </a:p>
          <a:p>
            <a:pPr marL="793749" indent="-793749" algn="just">
              <a:spcBef>
                <a:spcPts val="1500"/>
              </a:spcBef>
              <a:buSzPct val="125000"/>
              <a:buChar char="•"/>
              <a:defRPr b="0" sz="6000">
                <a:latin typeface="+mn-lt"/>
                <a:ea typeface="+mn-ea"/>
                <a:cs typeface="+mn-cs"/>
                <a:sym typeface="Times New Roman"/>
              </a:defRPr>
            </a:pPr>
            <a:r>
              <a:t>Each candidate solution in C is then checked for being dominated by any member of ĸ-best and removed if so. </a:t>
            </a:r>
          </a:p>
          <a:p>
            <a:pPr marL="793749" indent="-793749" algn="just">
              <a:spcBef>
                <a:spcPts val="1500"/>
              </a:spcBef>
              <a:buSzPct val="125000"/>
              <a:buChar char="•"/>
              <a:defRPr b="0" sz="6000">
                <a:latin typeface="+mn-lt"/>
                <a:ea typeface="+mn-ea"/>
                <a:cs typeface="+mn-cs"/>
                <a:sym typeface="Times New Roman"/>
              </a:defRPr>
            </a:pPr>
            <a:r>
              <a:t>A candidate solution x</a:t>
            </a:r>
            <a:r>
              <a:rPr baseline="-5999"/>
              <a:t>j</a:t>
            </a:r>
            <a:r>
              <a:t> is dominated by another candidate solution x</a:t>
            </a:r>
            <a:r>
              <a:rPr baseline="-5999"/>
              <a:t>ĸ</a:t>
            </a:r>
            <a:r>
              <a:t> if p</a:t>
            </a:r>
            <a:r>
              <a:rPr baseline="-5999"/>
              <a:t>i</a:t>
            </a:r>
            <a:r>
              <a:t>(x</a:t>
            </a:r>
            <a:r>
              <a:rPr baseline="-5999"/>
              <a:t>j</a:t>
            </a:r>
            <a:r>
              <a:t>) ≥ p</a:t>
            </a:r>
            <a:r>
              <a:rPr baseline="-5999"/>
              <a:t>i</a:t>
            </a:r>
            <a:r>
              <a:t>(x</a:t>
            </a:r>
            <a:r>
              <a:rPr baseline="-5999"/>
              <a:t>ĸ</a:t>
            </a:r>
            <a:r>
              <a:t>), i = 1, 2, …, n.</a:t>
            </a:r>
          </a:p>
        </p:txBody>
      </p:sp>
      <p:sp>
        <p:nvSpPr>
          <p:cNvPr id="269" name="ĸ-best: Avoiding the extra comparisons…"/>
          <p:cNvSpPr txBox="1"/>
          <p:nvPr/>
        </p:nvSpPr>
        <p:spPr>
          <a:xfrm>
            <a:off x="1605701" y="10125821"/>
            <a:ext cx="16701289" cy="201233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just">
              <a:spcBef>
                <a:spcPts val="1500"/>
              </a:spcBef>
              <a:defRPr b="0" sz="6000">
                <a:latin typeface="+mn-lt"/>
                <a:ea typeface="+mn-ea"/>
                <a:cs typeface="+mn-cs"/>
                <a:sym typeface="Times New Roman"/>
              </a:defRPr>
            </a:pPr>
            <a:r>
              <a:t>ĸ-best: Avoiding the extra comparisons</a:t>
            </a:r>
          </a:p>
          <a:p>
            <a:pPr algn="just">
              <a:spcBef>
                <a:spcPts val="1500"/>
              </a:spcBef>
              <a:defRPr b="0" sz="6000">
                <a:latin typeface="+mn-lt"/>
                <a:ea typeface="+mn-ea"/>
                <a:cs typeface="+mn-cs"/>
                <a:sym typeface="Times New Roman"/>
              </a:defRPr>
            </a:pPr>
            <a:r>
              <a:t>Heuristic table: Avoiding calculation of upper bounds</a:t>
            </a:r>
          </a:p>
        </p:txBody>
      </p:sp>
      <p:pic>
        <p:nvPicPr>
          <p:cNvPr id="270" name="截圖 2021-02-22 下午11.59.17.png" descr="截圖 2021-02-22 下午11.59.17.png"/>
          <p:cNvPicPr>
            <a:picLocks noChangeAspect="1"/>
          </p:cNvPicPr>
          <p:nvPr/>
        </p:nvPicPr>
        <p:blipFill>
          <a:blip r:embed="rId2">
            <a:extLst/>
          </a:blip>
          <a:stretch>
            <a:fillRect/>
          </a:stretch>
        </p:blipFill>
        <p:spPr>
          <a:xfrm>
            <a:off x="15586059" y="8712665"/>
            <a:ext cx="7633551" cy="1522755"/>
          </a:xfrm>
          <a:prstGeom prst="rect">
            <a:avLst/>
          </a:prstGeom>
          <a:ln w="12700">
            <a:miter lim="400000"/>
          </a:ln>
        </p:spPr>
      </p:pic>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2" name="Time complexity"/>
          <p:cNvSpPr txBox="1"/>
          <p:nvPr>
            <p:ph type="title"/>
          </p:nvPr>
        </p:nvSpPr>
        <p:spPr>
          <a:prstGeom prst="rect">
            <a:avLst/>
          </a:prstGeom>
        </p:spPr>
        <p:txBody>
          <a:bodyPr/>
          <a:lstStyle>
            <a:lvl1pPr algn="l">
              <a:defRPr sz="9000"/>
            </a:lvl1pPr>
          </a:lstStyle>
          <a:p>
            <a:pPr/>
            <a:r>
              <a:t>Time complexity</a:t>
            </a:r>
          </a:p>
        </p:txBody>
      </p:sp>
      <p:sp>
        <p:nvSpPr>
          <p:cNvPr id="273" name="幻燈片編號"/>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74" name="O(m2 + nm |∑| + L*(ß lgß + ĸß |∑|) )"/>
          <p:cNvSpPr txBox="1"/>
          <p:nvPr>
            <p:ph type="body" sz="quarter" idx="1"/>
          </p:nvPr>
        </p:nvSpPr>
        <p:spPr>
          <a:xfrm>
            <a:off x="1520768" y="3325423"/>
            <a:ext cx="12223954" cy="1398098"/>
          </a:xfrm>
          <a:prstGeom prst="rect">
            <a:avLst/>
          </a:prstGeom>
        </p:spPr>
        <p:txBody>
          <a:bodyPr anchor="t"/>
          <a:lstStyle/>
          <a:p>
            <a:pPr>
              <a:spcBef>
                <a:spcPts val="1500"/>
              </a:spcBef>
            </a:pPr>
            <a:r>
              <a:t>O(m</a:t>
            </a:r>
            <a:r>
              <a:rPr baseline="31999"/>
              <a:t>2</a:t>
            </a:r>
            <a:r>
              <a:t> + nm |∑| + L</a:t>
            </a:r>
            <a:r>
              <a:rPr baseline="31999"/>
              <a:t>*</a:t>
            </a:r>
            <a:r>
              <a:t>(ß lgß + ĸß |∑|) )</a:t>
            </a:r>
          </a:p>
        </p:txBody>
      </p:sp>
      <p:sp>
        <p:nvSpPr>
          <p:cNvPr id="275" name="m: the length of input strings…"/>
          <p:cNvSpPr txBox="1"/>
          <p:nvPr/>
        </p:nvSpPr>
        <p:spPr>
          <a:xfrm>
            <a:off x="13767626" y="5782960"/>
            <a:ext cx="10129437" cy="531181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marL="793749" indent="-793749" algn="just">
              <a:spcBef>
                <a:spcPts val="1500"/>
              </a:spcBef>
              <a:buSzPct val="125000"/>
              <a:buChar char="•"/>
              <a:defRPr b="0" sz="6000">
                <a:latin typeface="+mn-lt"/>
                <a:ea typeface="+mn-ea"/>
                <a:cs typeface="+mn-cs"/>
                <a:sym typeface="Times New Roman"/>
              </a:defRPr>
            </a:pPr>
            <a:r>
              <a:t>m: the length of input strings</a:t>
            </a:r>
          </a:p>
          <a:p>
            <a:pPr marL="793749" indent="-793749" algn="just">
              <a:spcBef>
                <a:spcPts val="1500"/>
              </a:spcBef>
              <a:buSzPct val="125000"/>
              <a:buChar char="•"/>
              <a:defRPr b="0" sz="6000">
                <a:latin typeface="+mn-lt"/>
                <a:ea typeface="+mn-ea"/>
                <a:cs typeface="+mn-cs"/>
                <a:sym typeface="Times New Roman"/>
              </a:defRPr>
            </a:pPr>
            <a:r>
              <a:t>n: the number of input strings</a:t>
            </a:r>
          </a:p>
          <a:p>
            <a:pPr marL="793749" indent="-793749" algn="just">
              <a:spcBef>
                <a:spcPts val="1500"/>
              </a:spcBef>
              <a:buSzPct val="125000"/>
              <a:buChar char="•"/>
              <a:defRPr b="0" sz="6000">
                <a:latin typeface="+mn-lt"/>
                <a:ea typeface="+mn-ea"/>
                <a:cs typeface="+mn-cs"/>
                <a:sym typeface="Times New Roman"/>
              </a:defRPr>
            </a:pPr>
            <a:r>
              <a:t>L</a:t>
            </a:r>
            <a:r>
              <a:rPr baseline="31999"/>
              <a:t>*</a:t>
            </a:r>
            <a:r>
              <a:t>: the length of the LCS</a:t>
            </a:r>
          </a:p>
          <a:p>
            <a:pPr marL="793749" indent="-793749" algn="just">
              <a:buSzPct val="125000"/>
              <a:buChar char="•"/>
              <a:defRPr b="0" sz="6000">
                <a:latin typeface="+mn-lt"/>
                <a:ea typeface="+mn-ea"/>
                <a:cs typeface="+mn-cs"/>
                <a:sym typeface="Times New Roman"/>
              </a:defRPr>
            </a:pPr>
            <a:r>
              <a:t>ß: beam size</a:t>
            </a:r>
          </a:p>
          <a:p>
            <a:pPr marL="793749" indent="-793749" algn="just">
              <a:buSzPct val="125000"/>
              <a:buChar char="•"/>
              <a:defRPr b="0" sz="6000">
                <a:latin typeface="+mn-lt"/>
                <a:ea typeface="+mn-ea"/>
                <a:cs typeface="+mn-cs"/>
                <a:sym typeface="Times New Roman"/>
              </a:defRPr>
            </a:pPr>
            <a:r>
              <a:t>∑: alphabet set</a:t>
            </a:r>
          </a:p>
        </p:txBody>
      </p:sp>
      <p:graphicFrame>
        <p:nvGraphicFramePr>
          <p:cNvPr id="276" name="表格"/>
          <p:cNvGraphicFramePr/>
          <p:nvPr/>
        </p:nvGraphicFramePr>
        <p:xfrm>
          <a:off x="1579083" y="5245363"/>
          <a:ext cx="11381643" cy="6063044"/>
        </p:xfrm>
        <a:graphic xmlns:a="http://schemas.openxmlformats.org/drawingml/2006/main">
          <a:graphicData uri="http://schemas.openxmlformats.org/drawingml/2006/table">
            <a:tbl>
              <a:tblPr firstCol="0" firstRow="0" lastCol="0" lastRow="0" bandCol="0" bandRow="0" rtl="0">
                <a:tableStyleId>{EEE7283C-3CF3-47DC-8721-378D4A62B228}</a:tableStyleId>
              </a:tblPr>
              <a:tblGrid>
                <a:gridCol w="1055917"/>
                <a:gridCol w="3241977"/>
                <a:gridCol w="7071048"/>
              </a:tblGrid>
              <a:tr h="1512585">
                <a:tc>
                  <a:txBody>
                    <a:bodyPr/>
                    <a:lstStyle/>
                    <a:p>
                      <a:pPr algn="just">
                        <a:spcBef>
                          <a:spcPts val="5900"/>
                        </a:spcBef>
                        <a:defRPr sz="1800"/>
                      </a:pPr>
                      <a:r>
                        <a:rPr sz="6000">
                          <a:latin typeface="+mn-lt"/>
                          <a:ea typeface="+mn-ea"/>
                          <a:cs typeface="+mn-cs"/>
                        </a:rPr>
                        <a:t>1</a:t>
                      </a:r>
                    </a:p>
                  </a:txBody>
                  <a:tcPr marL="50800" marR="50800" marT="50800" marB="50800" anchor="ctr" anchorCtr="0" horzOverflow="overflow">
                    <a:lnL w="12700">
                      <a:solidFill>
                        <a:srgbClr val="5D5D5D"/>
                      </a:solidFill>
                      <a:miter lim="400000"/>
                    </a:lnL>
                    <a:lnT w="12700">
                      <a:solidFill>
                        <a:srgbClr val="5D5D5D"/>
                      </a:solidFill>
                      <a:miter lim="400000"/>
                    </a:lnT>
                  </a:tcPr>
                </a:tc>
                <a:tc>
                  <a:txBody>
                    <a:bodyPr/>
                    <a:lstStyle/>
                    <a:p>
                      <a:pPr algn="just">
                        <a:spcBef>
                          <a:spcPts val="5900"/>
                        </a:spcBef>
                        <a:defRPr sz="6000">
                          <a:latin typeface="+mn-lt"/>
                          <a:ea typeface="+mn-ea"/>
                          <a:cs typeface="+mn-cs"/>
                        </a:defRPr>
                      </a:pPr>
                      <a:r>
                        <a:t>m</a:t>
                      </a:r>
                      <a:r>
                        <a:rPr baseline="31999"/>
                        <a:t>2</a:t>
                      </a:r>
                    </a:p>
                  </a:txBody>
                  <a:tcPr marL="50800" marR="50800" marT="50800" marB="50800" anchor="ctr" anchorCtr="0" horzOverflow="overflow">
                    <a:lnT w="12700">
                      <a:solidFill>
                        <a:srgbClr val="5D5D5D"/>
                      </a:solidFill>
                      <a:miter lim="400000"/>
                    </a:lnT>
                  </a:tcPr>
                </a:tc>
                <a:tc>
                  <a:txBody>
                    <a:bodyPr/>
                    <a:lstStyle/>
                    <a:p>
                      <a:pPr algn="just">
                        <a:spcBef>
                          <a:spcPts val="5900"/>
                        </a:spcBef>
                        <a:defRPr sz="1800"/>
                      </a:pPr>
                      <a:r>
                        <a:rPr sz="6000">
                          <a:latin typeface="+mn-lt"/>
                          <a:ea typeface="+mn-ea"/>
                          <a:cs typeface="+mn-cs"/>
                        </a:rPr>
                        <a:t>heuristic table</a:t>
                      </a:r>
                    </a:p>
                  </a:txBody>
                  <a:tcPr marL="50800" marR="50800" marT="50800" marB="50800" anchor="ctr" anchorCtr="0" horzOverflow="overflow">
                    <a:lnR w="12700">
                      <a:solidFill>
                        <a:srgbClr val="5D5D5D"/>
                      </a:solidFill>
                      <a:miter lim="400000"/>
                    </a:lnR>
                    <a:lnT w="12700">
                      <a:solidFill>
                        <a:srgbClr val="5D5D5D"/>
                      </a:solidFill>
                      <a:miter lim="400000"/>
                    </a:lnT>
                  </a:tcPr>
                </a:tc>
              </a:tr>
              <a:tr h="1512585">
                <a:tc>
                  <a:txBody>
                    <a:bodyPr/>
                    <a:lstStyle/>
                    <a:p>
                      <a:pPr algn="just">
                        <a:spcBef>
                          <a:spcPts val="5900"/>
                        </a:spcBef>
                        <a:defRPr sz="1800"/>
                      </a:pPr>
                      <a:r>
                        <a:rPr sz="6000">
                          <a:latin typeface="+mn-lt"/>
                          <a:ea typeface="+mn-ea"/>
                          <a:cs typeface="+mn-cs"/>
                        </a:rPr>
                        <a:t>2</a:t>
                      </a:r>
                    </a:p>
                  </a:txBody>
                  <a:tcPr marL="50800" marR="50800" marT="50800" marB="50800" anchor="ctr" anchorCtr="0" horzOverflow="overflow">
                    <a:lnL w="12700">
                      <a:solidFill>
                        <a:srgbClr val="5D5D5D"/>
                      </a:solidFill>
                      <a:miter lim="400000"/>
                    </a:lnL>
                  </a:tcPr>
                </a:tc>
                <a:tc>
                  <a:txBody>
                    <a:bodyPr/>
                    <a:lstStyle/>
                    <a:p>
                      <a:pPr algn="just">
                        <a:spcBef>
                          <a:spcPts val="5900"/>
                        </a:spcBef>
                        <a:defRPr sz="1800"/>
                      </a:pPr>
                      <a:r>
                        <a:rPr sz="6000">
                          <a:latin typeface="+mn-lt"/>
                          <a:ea typeface="+mn-ea"/>
                          <a:cs typeface="+mn-cs"/>
                        </a:rPr>
                        <a:t>nm |∑|</a:t>
                      </a:r>
                    </a:p>
                  </a:txBody>
                  <a:tcPr marL="50800" marR="50800" marT="50800" marB="50800" anchor="ctr" anchorCtr="0" horzOverflow="overflow"/>
                </a:tc>
                <a:tc>
                  <a:txBody>
                    <a:bodyPr/>
                    <a:lstStyle/>
                    <a:p>
                      <a:pPr algn="just">
                        <a:spcBef>
                          <a:spcPts val="5900"/>
                        </a:spcBef>
                        <a:defRPr sz="1800"/>
                      </a:pPr>
                      <a:r>
                        <a:rPr sz="6000">
                          <a:latin typeface="+mn-lt"/>
                          <a:ea typeface="+mn-ea"/>
                          <a:cs typeface="+mn-cs"/>
                        </a:rPr>
                        <a:t>Step1. Extension</a:t>
                      </a:r>
                    </a:p>
                  </a:txBody>
                  <a:tcPr marL="50800" marR="50800" marT="50800" marB="50800" anchor="ctr" anchorCtr="0" horzOverflow="overflow">
                    <a:lnR w="12700">
                      <a:solidFill>
                        <a:srgbClr val="5D5D5D"/>
                      </a:solidFill>
                      <a:miter lim="400000"/>
                    </a:lnR>
                  </a:tcPr>
                </a:tc>
              </a:tr>
              <a:tr h="1512585">
                <a:tc>
                  <a:txBody>
                    <a:bodyPr/>
                    <a:lstStyle/>
                    <a:p>
                      <a:pPr algn="just">
                        <a:spcBef>
                          <a:spcPts val="5900"/>
                        </a:spcBef>
                        <a:defRPr sz="1800"/>
                      </a:pPr>
                      <a:r>
                        <a:rPr sz="6000">
                          <a:latin typeface="+mn-lt"/>
                          <a:ea typeface="+mn-ea"/>
                          <a:cs typeface="+mn-cs"/>
                        </a:rPr>
                        <a:t>3</a:t>
                      </a:r>
                    </a:p>
                  </a:txBody>
                  <a:tcPr marL="50800" marR="50800" marT="50800" marB="50800" anchor="ctr" anchorCtr="0" horzOverflow="overflow">
                    <a:lnL w="12700">
                      <a:solidFill>
                        <a:srgbClr val="5D5D5D"/>
                      </a:solidFill>
                      <a:miter lim="400000"/>
                    </a:lnL>
                  </a:tcPr>
                </a:tc>
                <a:tc>
                  <a:txBody>
                    <a:bodyPr/>
                    <a:lstStyle/>
                    <a:p>
                      <a:pPr algn="just">
                        <a:spcBef>
                          <a:spcPts val="5900"/>
                        </a:spcBef>
                        <a:defRPr sz="1800"/>
                      </a:pPr>
                      <a:r>
                        <a:rPr sz="6000">
                          <a:latin typeface="+mn-lt"/>
                          <a:ea typeface="+mn-ea"/>
                          <a:cs typeface="+mn-cs"/>
                        </a:rPr>
                        <a:t>ß lgß</a:t>
                      </a:r>
                    </a:p>
                  </a:txBody>
                  <a:tcPr marL="50800" marR="50800" marT="50800" marB="50800" anchor="ctr" anchorCtr="0" horzOverflow="overflow"/>
                </a:tc>
                <a:tc>
                  <a:txBody>
                    <a:bodyPr/>
                    <a:lstStyle/>
                    <a:p>
                      <a:pPr algn="just">
                        <a:spcBef>
                          <a:spcPts val="5900"/>
                        </a:spcBef>
                        <a:defRPr sz="1800"/>
                      </a:pPr>
                      <a:r>
                        <a:rPr sz="6000">
                          <a:latin typeface="+mn-lt"/>
                          <a:ea typeface="+mn-ea"/>
                          <a:cs typeface="+mn-cs"/>
                        </a:rPr>
                        <a:t>Step2. Calculation</a:t>
                      </a:r>
                    </a:p>
                  </a:txBody>
                  <a:tcPr marL="50800" marR="50800" marT="50800" marB="50800" anchor="ctr" anchorCtr="0" horzOverflow="overflow">
                    <a:lnR w="12700">
                      <a:solidFill>
                        <a:srgbClr val="5D5D5D"/>
                      </a:solidFill>
                      <a:miter lim="400000"/>
                    </a:lnR>
                  </a:tcPr>
                </a:tc>
              </a:tr>
              <a:tr h="1512585">
                <a:tc>
                  <a:txBody>
                    <a:bodyPr/>
                    <a:lstStyle/>
                    <a:p>
                      <a:pPr algn="just">
                        <a:spcBef>
                          <a:spcPts val="5900"/>
                        </a:spcBef>
                        <a:defRPr sz="1800"/>
                      </a:pPr>
                      <a:r>
                        <a:rPr sz="6000">
                          <a:latin typeface="+mn-lt"/>
                          <a:ea typeface="+mn-ea"/>
                          <a:cs typeface="+mn-cs"/>
                        </a:rPr>
                        <a:t>4</a:t>
                      </a:r>
                    </a:p>
                  </a:txBody>
                  <a:tcPr marL="50800" marR="50800" marT="50800" marB="50800" anchor="ctr" anchorCtr="0" horzOverflow="overflow">
                    <a:lnL w="12700">
                      <a:solidFill>
                        <a:srgbClr val="5D5D5D"/>
                      </a:solidFill>
                      <a:miter lim="400000"/>
                    </a:lnL>
                    <a:lnB w="12700">
                      <a:solidFill>
                        <a:srgbClr val="5D5D5D"/>
                      </a:solidFill>
                      <a:miter lim="400000"/>
                    </a:lnB>
                  </a:tcPr>
                </a:tc>
                <a:tc>
                  <a:txBody>
                    <a:bodyPr/>
                    <a:lstStyle/>
                    <a:p>
                      <a:pPr algn="just">
                        <a:spcBef>
                          <a:spcPts val="5900"/>
                        </a:spcBef>
                        <a:defRPr sz="1800"/>
                      </a:pPr>
                      <a:r>
                        <a:rPr sz="6000">
                          <a:latin typeface="+mn-lt"/>
                          <a:ea typeface="+mn-ea"/>
                          <a:cs typeface="+mn-cs"/>
                        </a:rPr>
                        <a:t>ĸß |∑|</a:t>
                      </a:r>
                    </a:p>
                  </a:txBody>
                  <a:tcPr marL="50800" marR="50800" marT="50800" marB="50800" anchor="ctr" anchorCtr="0" horzOverflow="overflow">
                    <a:lnB w="12700">
                      <a:solidFill>
                        <a:srgbClr val="5D5D5D"/>
                      </a:solidFill>
                      <a:miter lim="400000"/>
                    </a:lnB>
                  </a:tcPr>
                </a:tc>
                <a:tc>
                  <a:txBody>
                    <a:bodyPr/>
                    <a:lstStyle/>
                    <a:p>
                      <a:pPr algn="just">
                        <a:spcBef>
                          <a:spcPts val="5900"/>
                        </a:spcBef>
                        <a:defRPr sz="1800"/>
                      </a:pPr>
                      <a:r>
                        <a:rPr sz="6000">
                          <a:latin typeface="+mn-lt"/>
                          <a:ea typeface="+mn-ea"/>
                          <a:cs typeface="+mn-cs"/>
                        </a:rPr>
                        <a:t>Step3. Selection</a:t>
                      </a:r>
                    </a:p>
                  </a:txBody>
                  <a:tcPr marL="50800" marR="50800" marT="50800" marB="50800" anchor="ctr" anchorCtr="0" horzOverflow="overflow">
                    <a:lnR w="12700">
                      <a:solidFill>
                        <a:srgbClr val="5D5D5D"/>
                      </a:solidFill>
                      <a:miter lim="400000"/>
                    </a:lnR>
                    <a:lnB w="12700">
                      <a:solidFill>
                        <a:srgbClr val="5D5D5D"/>
                      </a:solidFill>
                      <a:miter lim="400000"/>
                    </a:lnB>
                  </a:tcPr>
                </a:tc>
              </a:tr>
            </a:tbl>
          </a:graphicData>
        </a:graphic>
      </p:graphicFrame>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8" name="Result.1 BS-LCS v.s. IBS-LCS"/>
          <p:cNvSpPr txBox="1"/>
          <p:nvPr>
            <p:ph type="title"/>
          </p:nvPr>
        </p:nvSpPr>
        <p:spPr>
          <a:prstGeom prst="rect">
            <a:avLst/>
          </a:prstGeom>
        </p:spPr>
        <p:txBody>
          <a:bodyPr/>
          <a:lstStyle>
            <a:lvl1pPr algn="l">
              <a:defRPr sz="9000"/>
            </a:lvl1pPr>
          </a:lstStyle>
          <a:p>
            <a:pPr/>
            <a:r>
              <a:t>Result.1 BS-LCS v.s. IBS-LCS</a:t>
            </a:r>
          </a:p>
        </p:txBody>
      </p:sp>
      <p:sp>
        <p:nvSpPr>
          <p:cNvPr id="279" name="幻燈片編號"/>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80" name="截圖 2021-02-22 下午10.23.59.png" descr="截圖 2021-02-22 下午10.23.59.png"/>
          <p:cNvPicPr>
            <a:picLocks noChangeAspect="1"/>
          </p:cNvPicPr>
          <p:nvPr/>
        </p:nvPicPr>
        <p:blipFill>
          <a:blip r:embed="rId2">
            <a:extLst/>
          </a:blip>
          <a:stretch>
            <a:fillRect/>
          </a:stretch>
        </p:blipFill>
        <p:spPr>
          <a:xfrm>
            <a:off x="687794" y="2581105"/>
            <a:ext cx="11518859" cy="9321801"/>
          </a:xfrm>
          <a:prstGeom prst="rect">
            <a:avLst/>
          </a:prstGeom>
          <a:ln w="12700">
            <a:miter lim="400000"/>
          </a:ln>
        </p:spPr>
      </p:pic>
      <p:pic>
        <p:nvPicPr>
          <p:cNvPr id="281" name="截圖 2021-02-22 下午10.44.48.png" descr="截圖 2021-02-22 下午10.44.48.png"/>
          <p:cNvPicPr>
            <a:picLocks noChangeAspect="1"/>
          </p:cNvPicPr>
          <p:nvPr/>
        </p:nvPicPr>
        <p:blipFill>
          <a:blip r:embed="rId3">
            <a:extLst/>
          </a:blip>
          <a:stretch>
            <a:fillRect/>
          </a:stretch>
        </p:blipFill>
        <p:spPr>
          <a:xfrm>
            <a:off x="12242033" y="2576054"/>
            <a:ext cx="11774953" cy="7276110"/>
          </a:xfrm>
          <a:prstGeom prst="rect">
            <a:avLst/>
          </a:prstGeom>
          <a:ln w="12700">
            <a:miter lim="400000"/>
          </a:ln>
        </p:spPr>
      </p:pic>
      <p:sp>
        <p:nvSpPr>
          <p:cNvPr id="282" name="BB benchmark, where the sequences are highly related"/>
          <p:cNvSpPr txBox="1"/>
          <p:nvPr/>
        </p:nvSpPr>
        <p:spPr>
          <a:xfrm>
            <a:off x="12648145" y="10034381"/>
            <a:ext cx="10962731" cy="182183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marL="793749" indent="-793749" algn="just">
              <a:spcBef>
                <a:spcPts val="5900"/>
              </a:spcBef>
              <a:buSzPct val="125000"/>
              <a:buChar char="•"/>
              <a:defRPr b="0" sz="6000">
                <a:latin typeface="+mn-lt"/>
                <a:ea typeface="+mn-ea"/>
                <a:cs typeface="+mn-cs"/>
                <a:sym typeface="Times New Roman"/>
              </a:defRPr>
            </a:lvl1pPr>
          </a:lstStyle>
          <a:p>
            <a:pPr/>
            <a:r>
              <a:t>BB benchmark, where the sequences are highly related</a:t>
            </a:r>
          </a:p>
        </p:txBody>
      </p:sp>
      <p:sp>
        <p:nvSpPr>
          <p:cNvPr id="283" name="ES benchmark"/>
          <p:cNvSpPr txBox="1"/>
          <p:nvPr/>
        </p:nvSpPr>
        <p:spPr>
          <a:xfrm>
            <a:off x="980956" y="11819933"/>
            <a:ext cx="5372895" cy="94553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marL="793749" indent="-793749" algn="just">
              <a:spcBef>
                <a:spcPts val="5900"/>
              </a:spcBef>
              <a:buSzPct val="125000"/>
              <a:buChar char="•"/>
              <a:defRPr b="0" sz="6000">
                <a:latin typeface="+mn-lt"/>
                <a:ea typeface="+mn-ea"/>
                <a:cs typeface="+mn-cs"/>
                <a:sym typeface="Times New Roman"/>
              </a:defRPr>
            </a:lvl1pPr>
          </a:lstStyle>
          <a:p>
            <a:pPr/>
            <a:r>
              <a:t>ES benchmark</a:t>
            </a:r>
          </a:p>
        </p:txBody>
      </p:sp>
      <p:sp>
        <p:nvSpPr>
          <p:cNvPr id="284" name="矩形"/>
          <p:cNvSpPr/>
          <p:nvPr/>
        </p:nvSpPr>
        <p:spPr>
          <a:xfrm>
            <a:off x="8481204" y="4197491"/>
            <a:ext cx="1388764" cy="7473144"/>
          </a:xfrm>
          <a:prstGeom prst="rect">
            <a:avLst/>
          </a:prstGeom>
          <a:ln w="63500">
            <a:solidFill>
              <a:schemeClr val="accent5"/>
            </a:solidFill>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285" name="矩形"/>
          <p:cNvSpPr/>
          <p:nvPr/>
        </p:nvSpPr>
        <p:spPr>
          <a:xfrm>
            <a:off x="5752842" y="4197491"/>
            <a:ext cx="1388763" cy="7473144"/>
          </a:xfrm>
          <a:prstGeom prst="rect">
            <a:avLst/>
          </a:prstGeom>
          <a:ln w="63500">
            <a:solidFill>
              <a:srgbClr val="0433FF"/>
            </a:solidFill>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286" name="矩形"/>
          <p:cNvSpPr/>
          <p:nvPr/>
        </p:nvSpPr>
        <p:spPr>
          <a:xfrm>
            <a:off x="10878916" y="11078483"/>
            <a:ext cx="944430" cy="453716"/>
          </a:xfrm>
          <a:prstGeom prst="rect">
            <a:avLst/>
          </a:prstGeom>
          <a:ln w="63500">
            <a:solidFill>
              <a:schemeClr val="accent5"/>
            </a:solidFill>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287" name="矩形"/>
          <p:cNvSpPr/>
          <p:nvPr/>
        </p:nvSpPr>
        <p:spPr>
          <a:xfrm>
            <a:off x="19955842" y="4178604"/>
            <a:ext cx="1388763" cy="2222501"/>
          </a:xfrm>
          <a:prstGeom prst="rect">
            <a:avLst/>
          </a:prstGeom>
          <a:ln w="63500">
            <a:solidFill>
              <a:schemeClr val="accent5"/>
            </a:solidFill>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288" name="矩形"/>
          <p:cNvSpPr/>
          <p:nvPr/>
        </p:nvSpPr>
        <p:spPr>
          <a:xfrm>
            <a:off x="17227480" y="6369670"/>
            <a:ext cx="1388763" cy="3383941"/>
          </a:xfrm>
          <a:prstGeom prst="rect">
            <a:avLst/>
          </a:prstGeom>
          <a:ln w="63500">
            <a:solidFill>
              <a:srgbClr val="0433FF"/>
            </a:solidFill>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289" name="矩形"/>
          <p:cNvSpPr/>
          <p:nvPr/>
        </p:nvSpPr>
        <p:spPr>
          <a:xfrm>
            <a:off x="22684204" y="9161460"/>
            <a:ext cx="944430" cy="453716"/>
          </a:xfrm>
          <a:prstGeom prst="rect">
            <a:avLst/>
          </a:prstGeom>
          <a:ln w="63500">
            <a:solidFill>
              <a:schemeClr val="accent5"/>
            </a:solidFill>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290" name="ß=200, ĸ=7"/>
          <p:cNvSpPr txBox="1"/>
          <p:nvPr/>
        </p:nvSpPr>
        <p:spPr>
          <a:xfrm>
            <a:off x="20264287" y="1448306"/>
            <a:ext cx="3640783" cy="94553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just">
              <a:spcBef>
                <a:spcPts val="5900"/>
              </a:spcBef>
              <a:defRPr b="0" sz="6000">
                <a:latin typeface="+mn-lt"/>
                <a:ea typeface="+mn-ea"/>
                <a:cs typeface="+mn-cs"/>
                <a:sym typeface="Times New Roman"/>
              </a:defRPr>
            </a:lvl1pPr>
          </a:lstStyle>
          <a:p>
            <a:pPr/>
            <a:r>
              <a:t>ß=200, ĸ=7</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ID="10" grpId="1" fill="hold">
                                  <p:stCondLst>
                                    <p:cond delay="0"/>
                                  </p:stCondLst>
                                  <p:iterate type="el" backwards="0">
                                    <p:tmAbs val="0"/>
                                  </p:iterate>
                                  <p:childTnLst>
                                    <p:set>
                                      <p:cBhvr>
                                        <p:cTn id="6" fill="hold"/>
                                        <p:tgtEl>
                                          <p:spTgt spid="285"/>
                                        </p:tgtEl>
                                        <p:attrNameLst>
                                          <p:attrName>style.visibility</p:attrName>
                                        </p:attrNameLst>
                                      </p:cBhvr>
                                      <p:to>
                                        <p:strVal val="visible"/>
                                      </p:to>
                                    </p:set>
                                    <p:animEffect filter="fade" transition="in">
                                      <p:cBhvr>
                                        <p:cTn id="7" dur="2000"/>
                                        <p:tgtEl>
                                          <p:spTgt spid="285"/>
                                        </p:tgtEl>
                                      </p:cBhvr>
                                    </p:animEffect>
                                  </p:childTnLst>
                                </p:cTn>
                              </p:par>
                            </p:childTnLst>
                          </p:cTn>
                        </p:par>
                        <p:par>
                          <p:cTn id="8" fill="hold">
                            <p:stCondLst>
                              <p:cond delay="2000"/>
                            </p:stCondLst>
                            <p:childTnLst>
                              <p:par>
                                <p:cTn id="9" presetClass="entr" nodeType="afterEffect" presetID="10" grpId="2" fill="hold">
                                  <p:stCondLst>
                                    <p:cond delay="0"/>
                                  </p:stCondLst>
                                  <p:iterate type="el" backwards="0">
                                    <p:tmAbs val="0"/>
                                  </p:iterate>
                                  <p:childTnLst>
                                    <p:set>
                                      <p:cBhvr>
                                        <p:cTn id="10" fill="hold"/>
                                        <p:tgtEl>
                                          <p:spTgt spid="284"/>
                                        </p:tgtEl>
                                        <p:attrNameLst>
                                          <p:attrName>style.visibility</p:attrName>
                                        </p:attrNameLst>
                                      </p:cBhvr>
                                      <p:to>
                                        <p:strVal val="visible"/>
                                      </p:to>
                                    </p:set>
                                    <p:animEffect filter="fade" transition="in">
                                      <p:cBhvr>
                                        <p:cTn id="11" dur="1000"/>
                                        <p:tgtEl>
                                          <p:spTgt spid="284"/>
                                        </p:tgtEl>
                                      </p:cBhvr>
                                    </p:animEffect>
                                  </p:childTnLst>
                                </p:cTn>
                              </p:par>
                            </p:childTnLst>
                          </p:cTn>
                        </p:par>
                        <p:par>
                          <p:cTn id="12" fill="hold">
                            <p:stCondLst>
                              <p:cond delay="3000"/>
                            </p:stCondLst>
                            <p:childTnLst>
                              <p:par>
                                <p:cTn id="13" presetClass="entr" nodeType="afterEffect" presetID="10" grpId="3" fill="hold">
                                  <p:stCondLst>
                                    <p:cond delay="0"/>
                                  </p:stCondLst>
                                  <p:iterate type="el" backwards="0">
                                    <p:tmAbs val="0"/>
                                  </p:iterate>
                                  <p:childTnLst>
                                    <p:set>
                                      <p:cBhvr>
                                        <p:cTn id="14" fill="hold"/>
                                        <p:tgtEl>
                                          <p:spTgt spid="286"/>
                                        </p:tgtEl>
                                        <p:attrNameLst>
                                          <p:attrName>style.visibility</p:attrName>
                                        </p:attrNameLst>
                                      </p:cBhvr>
                                      <p:to>
                                        <p:strVal val="visible"/>
                                      </p:to>
                                    </p:set>
                                    <p:animEffect filter="fade" transition="in">
                                      <p:cBhvr>
                                        <p:cTn id="15" dur="1000"/>
                                        <p:tgtEl>
                                          <p:spTgt spid="286"/>
                                        </p:tgtEl>
                                      </p:cBhvr>
                                    </p:animEffect>
                                  </p:childTnLst>
                                </p:cTn>
                              </p:par>
                            </p:childTnLst>
                          </p:cTn>
                        </p:par>
                      </p:childTnLst>
                    </p:cTn>
                  </p:par>
                  <p:par>
                    <p:cTn id="16" fill="hold">
                      <p:stCondLst>
                        <p:cond delay="indefinite"/>
                      </p:stCondLst>
                      <p:childTnLst>
                        <p:par>
                          <p:cTn id="17" fill="hold">
                            <p:stCondLst>
                              <p:cond delay="0"/>
                            </p:stCondLst>
                            <p:childTnLst>
                              <p:par>
                                <p:cTn id="18" presetClass="entr" nodeType="clickEffect" presetID="10" grpId="4" fill="hold">
                                  <p:stCondLst>
                                    <p:cond delay="0"/>
                                  </p:stCondLst>
                                  <p:iterate type="el" backwards="0">
                                    <p:tmAbs val="0"/>
                                  </p:iterate>
                                  <p:childTnLst>
                                    <p:set>
                                      <p:cBhvr>
                                        <p:cTn id="19" fill="hold"/>
                                        <p:tgtEl>
                                          <p:spTgt spid="287"/>
                                        </p:tgtEl>
                                        <p:attrNameLst>
                                          <p:attrName>style.visibility</p:attrName>
                                        </p:attrNameLst>
                                      </p:cBhvr>
                                      <p:to>
                                        <p:strVal val="visible"/>
                                      </p:to>
                                    </p:set>
                                    <p:animEffect filter="fade" transition="in">
                                      <p:cBhvr>
                                        <p:cTn id="20" dur="1000"/>
                                        <p:tgtEl>
                                          <p:spTgt spid="287"/>
                                        </p:tgtEl>
                                      </p:cBhvr>
                                    </p:animEffect>
                                  </p:childTnLst>
                                </p:cTn>
                              </p:par>
                            </p:childTnLst>
                          </p:cTn>
                        </p:par>
                        <p:par>
                          <p:cTn id="21" fill="hold">
                            <p:stCondLst>
                              <p:cond delay="1000"/>
                            </p:stCondLst>
                            <p:childTnLst>
                              <p:par>
                                <p:cTn id="22" presetClass="entr" nodeType="afterEffect" presetID="10" grpId="5" fill="hold">
                                  <p:stCondLst>
                                    <p:cond delay="0"/>
                                  </p:stCondLst>
                                  <p:iterate type="el" backwards="0">
                                    <p:tmAbs val="0"/>
                                  </p:iterate>
                                  <p:childTnLst>
                                    <p:set>
                                      <p:cBhvr>
                                        <p:cTn id="23" fill="hold"/>
                                        <p:tgtEl>
                                          <p:spTgt spid="288"/>
                                        </p:tgtEl>
                                        <p:attrNameLst>
                                          <p:attrName>style.visibility</p:attrName>
                                        </p:attrNameLst>
                                      </p:cBhvr>
                                      <p:to>
                                        <p:strVal val="visible"/>
                                      </p:to>
                                    </p:set>
                                    <p:animEffect filter="fade" transition="in">
                                      <p:cBhvr>
                                        <p:cTn id="24" dur="1000"/>
                                        <p:tgtEl>
                                          <p:spTgt spid="288"/>
                                        </p:tgtEl>
                                      </p:cBhvr>
                                    </p:animEffect>
                                  </p:childTnLst>
                                </p:cTn>
                              </p:par>
                            </p:childTnLst>
                          </p:cTn>
                        </p:par>
                        <p:par>
                          <p:cTn id="25" fill="hold">
                            <p:stCondLst>
                              <p:cond delay="2000"/>
                            </p:stCondLst>
                            <p:childTnLst>
                              <p:par>
                                <p:cTn id="26" presetClass="entr" nodeType="afterEffect" presetID="10" grpId="6" fill="hold">
                                  <p:stCondLst>
                                    <p:cond delay="0"/>
                                  </p:stCondLst>
                                  <p:iterate type="el" backwards="0">
                                    <p:tmAbs val="0"/>
                                  </p:iterate>
                                  <p:childTnLst>
                                    <p:set>
                                      <p:cBhvr>
                                        <p:cTn id="27" fill="hold"/>
                                        <p:tgtEl>
                                          <p:spTgt spid="289"/>
                                        </p:tgtEl>
                                        <p:attrNameLst>
                                          <p:attrName>style.visibility</p:attrName>
                                        </p:attrNameLst>
                                      </p:cBhvr>
                                      <p:to>
                                        <p:strVal val="visible"/>
                                      </p:to>
                                    </p:set>
                                    <p:animEffect filter="fade" transition="in">
                                      <p:cBhvr>
                                        <p:cTn id="28" dur="1000"/>
                                        <p:tgtEl>
                                          <p:spTgt spid="2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87" grpId="4"/>
      <p:bldP build="whole" bldLvl="1" animBg="1" rev="0" advAuto="0" spid="289" grpId="6"/>
      <p:bldP build="whole" bldLvl="1" animBg="1" rev="0" advAuto="0" spid="285" grpId="1"/>
      <p:bldP build="whole" bldLvl="1" animBg="1" rev="0" advAuto="0" spid="288" grpId="5"/>
      <p:bldP build="whole" bldLvl="1" animBg="1" rev="0" advAuto="0" spid="284" grpId="2"/>
      <p:bldP build="whole" bldLvl="1" animBg="1" rev="0" advAuto="0" spid="286" grpId="3"/>
    </p:bldLst>
  </p:timing>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92" name="截圖 2021-02-22 下午11.00.07.png" descr="截圖 2021-02-22 下午11.00.07.png"/>
          <p:cNvPicPr>
            <a:picLocks noChangeAspect="1"/>
          </p:cNvPicPr>
          <p:nvPr/>
        </p:nvPicPr>
        <p:blipFill>
          <a:blip r:embed="rId2">
            <a:extLst/>
          </a:blip>
          <a:stretch>
            <a:fillRect/>
          </a:stretch>
        </p:blipFill>
        <p:spPr>
          <a:xfrm>
            <a:off x="977964" y="2462710"/>
            <a:ext cx="9652001" cy="6769101"/>
          </a:xfrm>
          <a:prstGeom prst="rect">
            <a:avLst/>
          </a:prstGeom>
          <a:ln w="12700">
            <a:miter lim="400000"/>
          </a:ln>
        </p:spPr>
      </p:pic>
      <p:sp>
        <p:nvSpPr>
          <p:cNvPr id="293" name="Result.2 BS-LCS v.s. IBS-LCS"/>
          <p:cNvSpPr txBox="1"/>
          <p:nvPr>
            <p:ph type="title"/>
          </p:nvPr>
        </p:nvSpPr>
        <p:spPr>
          <a:prstGeom prst="rect">
            <a:avLst/>
          </a:prstGeom>
        </p:spPr>
        <p:txBody>
          <a:bodyPr/>
          <a:lstStyle>
            <a:lvl1pPr algn="l">
              <a:defRPr sz="9000"/>
            </a:lvl1pPr>
          </a:lstStyle>
          <a:p>
            <a:pPr/>
            <a:r>
              <a:t>Result.2 BS-LCS v.s. IBS-LCS</a:t>
            </a:r>
          </a:p>
        </p:txBody>
      </p:sp>
      <p:sp>
        <p:nvSpPr>
          <p:cNvPr id="294" name="幻燈片編號"/>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95" name="Solution quality usually decreases, while the run-time of BS grows rapidly, by increasing n or |∑|.…"/>
          <p:cNvSpPr txBox="1"/>
          <p:nvPr/>
        </p:nvSpPr>
        <p:spPr>
          <a:xfrm>
            <a:off x="1442085" y="9295218"/>
            <a:ext cx="20297462" cy="288863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marL="793749" indent="-793749" algn="just">
              <a:spcBef>
                <a:spcPts val="1500"/>
              </a:spcBef>
              <a:buSzPct val="125000"/>
              <a:buChar char="•"/>
              <a:defRPr b="0" sz="6000">
                <a:latin typeface="+mn-lt"/>
                <a:ea typeface="+mn-ea"/>
                <a:cs typeface="+mn-cs"/>
                <a:sym typeface="Times New Roman"/>
              </a:defRPr>
            </a:pPr>
            <a:r>
              <a:t>Solution quality usually decreases, while the run-time of BS grows rapidly, by increasing n or |∑|.</a:t>
            </a:r>
          </a:p>
          <a:p>
            <a:pPr marL="793749" indent="-793749" algn="just">
              <a:spcBef>
                <a:spcPts val="1500"/>
              </a:spcBef>
              <a:buSzPct val="125000"/>
              <a:buChar char="•"/>
              <a:defRPr b="0" sz="6000">
                <a:latin typeface="+mn-lt"/>
                <a:ea typeface="+mn-ea"/>
                <a:cs typeface="+mn-cs"/>
                <a:sym typeface="Times New Roman"/>
              </a:defRPr>
            </a:pPr>
            <a:r>
              <a:t>IBS-LCS should better suit larger alphabets.</a:t>
            </a:r>
          </a:p>
        </p:txBody>
      </p:sp>
      <p:pic>
        <p:nvPicPr>
          <p:cNvPr id="296" name="截圖 2021-02-22 下午11.00.17.png" descr="截圖 2021-02-22 下午11.00.17.png"/>
          <p:cNvPicPr>
            <a:picLocks noChangeAspect="1"/>
          </p:cNvPicPr>
          <p:nvPr/>
        </p:nvPicPr>
        <p:blipFill>
          <a:blip r:embed="rId3">
            <a:extLst/>
          </a:blip>
          <a:stretch>
            <a:fillRect/>
          </a:stretch>
        </p:blipFill>
        <p:spPr>
          <a:xfrm>
            <a:off x="11171287" y="3296453"/>
            <a:ext cx="11868126" cy="5101615"/>
          </a:xfrm>
          <a:prstGeom prst="rect">
            <a:avLst/>
          </a:prstGeom>
          <a:ln w="12700">
            <a:miter lim="400000"/>
          </a:ln>
        </p:spPr>
      </p:pic>
      <p:sp>
        <p:nvSpPr>
          <p:cNvPr id="297" name="矩形"/>
          <p:cNvSpPr/>
          <p:nvPr/>
        </p:nvSpPr>
        <p:spPr>
          <a:xfrm>
            <a:off x="11346510" y="5949837"/>
            <a:ext cx="10592273" cy="557398"/>
          </a:xfrm>
          <a:prstGeom prst="rect">
            <a:avLst/>
          </a:prstGeom>
          <a:ln w="63500">
            <a:solidFill>
              <a:srgbClr val="FF7E79"/>
            </a:solidFill>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298" name="Worst"/>
          <p:cNvSpPr txBox="1"/>
          <p:nvPr/>
        </p:nvSpPr>
        <p:spPr>
          <a:xfrm>
            <a:off x="22208191" y="5948311"/>
            <a:ext cx="1171957" cy="560450"/>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solidFill>
                  <a:srgbClr val="FF2600"/>
                </a:solidFill>
              </a:defRPr>
            </a:lvl1pPr>
          </a:lstStyle>
          <a:p>
            <a:pPr/>
            <a:r>
              <a:t>Worst</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0" name="Conclusion"/>
          <p:cNvSpPr txBox="1"/>
          <p:nvPr>
            <p:ph type="title"/>
          </p:nvPr>
        </p:nvSpPr>
        <p:spPr>
          <a:prstGeom prst="rect">
            <a:avLst/>
          </a:prstGeom>
        </p:spPr>
        <p:txBody>
          <a:bodyPr/>
          <a:lstStyle>
            <a:lvl1pPr algn="l">
              <a:defRPr sz="9000"/>
            </a:lvl1pPr>
          </a:lstStyle>
          <a:p>
            <a:pPr/>
            <a:r>
              <a:t>Conclusion</a:t>
            </a:r>
          </a:p>
        </p:txBody>
      </p:sp>
      <p:sp>
        <p:nvSpPr>
          <p:cNvPr id="301" name="This heuristic function has been inspired by the probability theory.…"/>
          <p:cNvSpPr txBox="1"/>
          <p:nvPr>
            <p:ph type="body" idx="1"/>
          </p:nvPr>
        </p:nvSpPr>
        <p:spPr>
          <a:xfrm>
            <a:off x="1689100" y="3149600"/>
            <a:ext cx="21005800" cy="8758165"/>
          </a:xfrm>
          <a:prstGeom prst="rect">
            <a:avLst/>
          </a:prstGeom>
        </p:spPr>
        <p:txBody>
          <a:bodyPr anchor="t"/>
          <a:lstStyle/>
          <a:p>
            <a:pPr>
              <a:spcBef>
                <a:spcPts val="1500"/>
              </a:spcBef>
            </a:pPr>
            <a:r>
              <a:t>This heuristic function has been inspired by the probability theory.</a:t>
            </a:r>
          </a:p>
          <a:p>
            <a:pPr>
              <a:spcBef>
                <a:spcPts val="1500"/>
              </a:spcBef>
            </a:pPr>
            <a:r>
              <a:t>Assuming the input strings are independent.</a:t>
            </a:r>
          </a:p>
          <a:p>
            <a:pPr>
              <a:spcBef>
                <a:spcPts val="1500"/>
              </a:spcBef>
            </a:pPr>
            <a:r>
              <a:t>Real datasets showed that the assumption is reasonable.</a:t>
            </a:r>
          </a:p>
          <a:p>
            <a:pPr>
              <a:spcBef>
                <a:spcPts val="1500"/>
              </a:spcBef>
            </a:pPr>
          </a:p>
          <a:p>
            <a:pPr>
              <a:spcBef>
                <a:spcPts val="1500"/>
              </a:spcBef>
            </a:pPr>
            <a:r>
              <a:t>Relax the independence assumption.</a:t>
            </a:r>
          </a:p>
          <a:p>
            <a:pPr>
              <a:spcBef>
                <a:spcPts val="1500"/>
              </a:spcBef>
            </a:pPr>
            <a:r>
              <a:t>Generalize the heuristic formula to the case where the input strings are highly related.</a:t>
            </a:r>
          </a:p>
        </p:txBody>
      </p:sp>
      <p:sp>
        <p:nvSpPr>
          <p:cNvPr id="302" name="幻燈片編號"/>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4" name="Thank you for listening"/>
          <p:cNvSpPr txBox="1"/>
          <p:nvPr>
            <p:ph type="title"/>
          </p:nvPr>
        </p:nvSpPr>
        <p:spPr>
          <a:xfrm>
            <a:off x="1689100" y="5715000"/>
            <a:ext cx="21005800" cy="2286000"/>
          </a:xfrm>
          <a:prstGeom prst="rect">
            <a:avLst/>
          </a:prstGeom>
        </p:spPr>
        <p:txBody>
          <a:bodyPr/>
          <a:lstStyle/>
          <a:p>
            <a:pPr/>
            <a:r>
              <a:t>Thank you for listening</a:t>
            </a:r>
          </a:p>
        </p:txBody>
      </p:sp>
      <p:sp>
        <p:nvSpPr>
          <p:cNvPr id="305" name="幻燈片編號"/>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7" name="H-power(.)"/>
          <p:cNvSpPr txBox="1"/>
          <p:nvPr>
            <p:ph type="title"/>
          </p:nvPr>
        </p:nvSpPr>
        <p:spPr>
          <a:prstGeom prst="rect">
            <a:avLst/>
          </a:prstGeom>
        </p:spPr>
        <p:txBody>
          <a:bodyPr/>
          <a:lstStyle>
            <a:lvl1pPr algn="l">
              <a:defRPr sz="9000"/>
            </a:lvl1pPr>
          </a:lstStyle>
          <a:p>
            <a:pPr/>
            <a:r>
              <a:t>H-power(.)</a:t>
            </a:r>
          </a:p>
        </p:txBody>
      </p:sp>
      <p:sp>
        <p:nvSpPr>
          <p:cNvPr id="308" name="幻燈片編號"/>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309" name="截圖 2021-02-22 下午11.57.47.png" descr="截圖 2021-02-22 下午11.57.47.png"/>
          <p:cNvPicPr>
            <a:picLocks noChangeAspect="1"/>
          </p:cNvPicPr>
          <p:nvPr/>
        </p:nvPicPr>
        <p:blipFill>
          <a:blip r:embed="rId2">
            <a:extLst/>
          </a:blip>
          <a:stretch>
            <a:fillRect/>
          </a:stretch>
        </p:blipFill>
        <p:spPr>
          <a:xfrm>
            <a:off x="1438880" y="2802196"/>
            <a:ext cx="10229227" cy="1756535"/>
          </a:xfrm>
          <a:prstGeom prst="rect">
            <a:avLst/>
          </a:prstGeom>
          <a:ln w="12700">
            <a:miter lim="400000"/>
          </a:ln>
        </p:spPr>
      </p:pic>
      <p:pic>
        <p:nvPicPr>
          <p:cNvPr id="310" name="截圖 2021-02-22 下午11.58.43.png" descr="截圖 2021-02-22 下午11.58.43.png"/>
          <p:cNvPicPr>
            <a:picLocks noChangeAspect="1"/>
          </p:cNvPicPr>
          <p:nvPr/>
        </p:nvPicPr>
        <p:blipFill>
          <a:blip r:embed="rId3">
            <a:extLst/>
          </a:blip>
          <a:stretch>
            <a:fillRect/>
          </a:stretch>
        </p:blipFill>
        <p:spPr>
          <a:xfrm>
            <a:off x="1013674" y="4362450"/>
            <a:ext cx="11595101" cy="4991100"/>
          </a:xfrm>
          <a:prstGeom prst="rect">
            <a:avLst/>
          </a:prstGeom>
          <a:ln w="12700">
            <a:miter lim="400000"/>
          </a:ln>
        </p:spPr>
      </p:pic>
      <p:grpSp>
        <p:nvGrpSpPr>
          <p:cNvPr id="313" name="群組"/>
          <p:cNvGrpSpPr/>
          <p:nvPr/>
        </p:nvGrpSpPr>
        <p:grpSpPr>
          <a:xfrm>
            <a:off x="13156153" y="4608399"/>
            <a:ext cx="11137578" cy="7407718"/>
            <a:chOff x="0" y="0"/>
            <a:chExt cx="11137576" cy="7407716"/>
          </a:xfrm>
        </p:grpSpPr>
        <p:pic>
          <p:nvPicPr>
            <p:cNvPr id="311" name="截圖 2021-02-22 下午11.58.09.png" descr="截圖 2021-02-22 下午11.58.09.png"/>
            <p:cNvPicPr>
              <a:picLocks noChangeAspect="1"/>
            </p:cNvPicPr>
            <p:nvPr/>
          </p:nvPicPr>
          <p:blipFill>
            <a:blip r:embed="rId4">
              <a:extLst/>
            </a:blip>
            <a:srcRect l="0" t="0" r="54262" b="0"/>
            <a:stretch>
              <a:fillRect/>
            </a:stretch>
          </p:blipFill>
          <p:spPr>
            <a:xfrm>
              <a:off x="0" y="0"/>
              <a:ext cx="5808241" cy="7407717"/>
            </a:xfrm>
            <a:prstGeom prst="rect">
              <a:avLst/>
            </a:prstGeom>
            <a:ln w="12700" cap="flat">
              <a:noFill/>
              <a:miter lim="400000"/>
            </a:ln>
            <a:effectLst/>
          </p:spPr>
        </p:pic>
        <p:pic>
          <p:nvPicPr>
            <p:cNvPr id="312" name="截圖 2021-02-22 下午11.58.09.png" descr="截圖 2021-02-22 下午11.58.09.png"/>
            <p:cNvPicPr>
              <a:picLocks noChangeAspect="1"/>
            </p:cNvPicPr>
            <p:nvPr/>
          </p:nvPicPr>
          <p:blipFill>
            <a:blip r:embed="rId4">
              <a:extLst/>
            </a:blip>
            <a:srcRect l="58453" t="0" r="0" b="0"/>
            <a:stretch>
              <a:fillRect/>
            </a:stretch>
          </p:blipFill>
          <p:spPr>
            <a:xfrm>
              <a:off x="5861564" y="0"/>
              <a:ext cx="5276013" cy="7407717"/>
            </a:xfrm>
            <a:prstGeom prst="rect">
              <a:avLst/>
            </a:prstGeom>
            <a:ln w="12700" cap="flat">
              <a:noFill/>
              <a:miter lim="400000"/>
            </a:ln>
            <a:effectLst/>
          </p:spPr>
        </p:pic>
      </p:grpSp>
      <p:sp>
        <p:nvSpPr>
          <p:cNvPr id="314" name="ƿ(n)=a×exp(−b×n)+c"/>
          <p:cNvSpPr txBox="1"/>
          <p:nvPr/>
        </p:nvSpPr>
        <p:spPr>
          <a:xfrm>
            <a:off x="1670533" y="9672487"/>
            <a:ext cx="6578650" cy="94553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just">
              <a:spcBef>
                <a:spcPts val="5900"/>
              </a:spcBef>
              <a:defRPr b="0" sz="6000">
                <a:latin typeface="+mn-lt"/>
                <a:ea typeface="+mn-ea"/>
                <a:cs typeface="+mn-cs"/>
                <a:sym typeface="Times New Roman"/>
              </a:defRPr>
            </a:lvl1pPr>
          </a:lstStyle>
          <a:p>
            <a:pPr/>
            <a:r>
              <a:t>ƿ(n)=a×exp(−b×n)+c</a:t>
            </a:r>
          </a:p>
        </p:txBody>
      </p:sp>
      <p:sp>
        <p:nvSpPr>
          <p:cNvPr id="315" name="All the values qi(x), i=1,...,n, should be considered and not only qmin(x)."/>
          <p:cNvSpPr txBox="1"/>
          <p:nvPr/>
        </p:nvSpPr>
        <p:spPr>
          <a:xfrm>
            <a:off x="12015830" y="2654835"/>
            <a:ext cx="12192553" cy="182183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marL="793749" indent="-793749" algn="just">
              <a:spcBef>
                <a:spcPts val="5900"/>
              </a:spcBef>
              <a:buSzPct val="125000"/>
              <a:buChar char="•"/>
              <a:defRPr b="0" sz="6000">
                <a:latin typeface="+mn-lt"/>
                <a:ea typeface="+mn-ea"/>
                <a:cs typeface="+mn-cs"/>
                <a:sym typeface="Times New Roman"/>
              </a:defRPr>
            </a:pPr>
            <a:r>
              <a:t>All the values q</a:t>
            </a:r>
            <a:r>
              <a:rPr baseline="-33333" sz="600"/>
              <a:t>i</a:t>
            </a:r>
            <a:r>
              <a:t>(x), i=1,...,n, should be considered and not only q</a:t>
            </a:r>
            <a:r>
              <a:rPr baseline="-5999"/>
              <a:t>min</a:t>
            </a:r>
            <a:r>
              <a:t>(x).</a:t>
            </a:r>
          </a:p>
        </p:txBody>
      </p:sp>
      <p:sp>
        <p:nvSpPr>
          <p:cNvPr id="316" name="矩形"/>
          <p:cNvSpPr/>
          <p:nvPr/>
        </p:nvSpPr>
        <p:spPr>
          <a:xfrm>
            <a:off x="1336881" y="2688041"/>
            <a:ext cx="10433225" cy="1865357"/>
          </a:xfrm>
          <a:prstGeom prst="rect">
            <a:avLst/>
          </a:prstGeom>
          <a:ln w="63500">
            <a:solidFill>
              <a:schemeClr val="accent1"/>
            </a:solidFill>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317" name="de                          abde"/>
          <p:cNvSpPr txBox="1"/>
          <p:nvPr/>
        </p:nvSpPr>
        <p:spPr>
          <a:xfrm>
            <a:off x="16154730" y="11131559"/>
            <a:ext cx="7819532" cy="94553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lgn="just">
              <a:spcBef>
                <a:spcPts val="5900"/>
              </a:spcBef>
              <a:defRPr b="0" sz="6000">
                <a:solidFill>
                  <a:schemeClr val="accent5"/>
                </a:solidFill>
                <a:latin typeface="+mn-lt"/>
                <a:ea typeface="+mn-ea"/>
                <a:cs typeface="+mn-cs"/>
                <a:sym typeface="Times New Roman"/>
              </a:defRPr>
            </a:lvl1pPr>
          </a:lstStyle>
          <a:p>
            <a:pPr/>
            <a:r>
              <a:t>de                          abde</a:t>
            </a:r>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9" name="Algorithm"/>
          <p:cNvSpPr txBox="1"/>
          <p:nvPr>
            <p:ph type="title"/>
          </p:nvPr>
        </p:nvSpPr>
        <p:spPr>
          <a:prstGeom prst="rect">
            <a:avLst/>
          </a:prstGeom>
        </p:spPr>
        <p:txBody>
          <a:bodyPr/>
          <a:lstStyle>
            <a:lvl1pPr algn="l">
              <a:defRPr sz="9000"/>
            </a:lvl1pPr>
          </a:lstStyle>
          <a:p>
            <a:pPr/>
            <a:r>
              <a:t>Algorithm</a:t>
            </a:r>
          </a:p>
        </p:txBody>
      </p:sp>
      <p:sp>
        <p:nvSpPr>
          <p:cNvPr id="320" name="幻燈片編號"/>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321" name="截圖 2021-02-23 上午12.02.59.png" descr="截圖 2021-02-23 上午12.02.59.png"/>
          <p:cNvPicPr>
            <a:picLocks noChangeAspect="1"/>
          </p:cNvPicPr>
          <p:nvPr/>
        </p:nvPicPr>
        <p:blipFill>
          <a:blip r:embed="rId2">
            <a:extLst/>
          </a:blip>
          <a:stretch>
            <a:fillRect/>
          </a:stretch>
        </p:blipFill>
        <p:spPr>
          <a:xfrm>
            <a:off x="2139046" y="2811021"/>
            <a:ext cx="20105908" cy="9036849"/>
          </a:xfrm>
          <a:prstGeom prst="rect">
            <a:avLst/>
          </a:prstGeom>
          <a:ln w="12700">
            <a:miter lim="400000"/>
          </a:ln>
        </p:spPr>
      </p:pic>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3" name="Result BS-LCS v.s. HH-LCS"/>
          <p:cNvSpPr txBox="1"/>
          <p:nvPr>
            <p:ph type="title"/>
          </p:nvPr>
        </p:nvSpPr>
        <p:spPr>
          <a:prstGeom prst="rect">
            <a:avLst/>
          </a:prstGeom>
        </p:spPr>
        <p:txBody>
          <a:bodyPr/>
          <a:lstStyle>
            <a:lvl1pPr algn="l">
              <a:defRPr sz="9000"/>
            </a:lvl1pPr>
          </a:lstStyle>
          <a:p>
            <a:pPr/>
            <a:r>
              <a:t>Result BS-LCS v.s. HH-LCS</a:t>
            </a:r>
          </a:p>
        </p:txBody>
      </p:sp>
      <p:sp>
        <p:nvSpPr>
          <p:cNvPr id="324" name="幻燈片編號"/>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325" name="截圖 2021-02-23 上午12.04.10.png" descr="截圖 2021-02-23 上午12.04.10.png"/>
          <p:cNvPicPr>
            <a:picLocks noChangeAspect="1"/>
          </p:cNvPicPr>
          <p:nvPr/>
        </p:nvPicPr>
        <p:blipFill>
          <a:blip r:embed="rId2">
            <a:extLst/>
          </a:blip>
          <a:stretch>
            <a:fillRect/>
          </a:stretch>
        </p:blipFill>
        <p:spPr>
          <a:xfrm>
            <a:off x="334139" y="3224368"/>
            <a:ext cx="23715722" cy="8456329"/>
          </a:xfrm>
          <a:prstGeom prst="rect">
            <a:avLst/>
          </a:prstGeom>
          <a:ln w="12700">
            <a:miter lim="400000"/>
          </a:ln>
        </p:spPr>
      </p:pic>
      <p:sp>
        <p:nvSpPr>
          <p:cNvPr id="326" name="矩形"/>
          <p:cNvSpPr/>
          <p:nvPr/>
        </p:nvSpPr>
        <p:spPr>
          <a:xfrm>
            <a:off x="20673204" y="5808662"/>
            <a:ext cx="1388764" cy="3966218"/>
          </a:xfrm>
          <a:prstGeom prst="rect">
            <a:avLst/>
          </a:prstGeom>
          <a:ln w="63500">
            <a:solidFill>
              <a:schemeClr val="accent5"/>
            </a:solidFill>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327" name="矩形"/>
          <p:cNvSpPr/>
          <p:nvPr/>
        </p:nvSpPr>
        <p:spPr>
          <a:xfrm>
            <a:off x="9672558" y="5808662"/>
            <a:ext cx="1388763" cy="3966218"/>
          </a:xfrm>
          <a:prstGeom prst="rect">
            <a:avLst/>
          </a:prstGeom>
          <a:ln w="63500">
            <a:solidFill>
              <a:srgbClr val="0433FF"/>
            </a:solidFill>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328" name="矩形"/>
          <p:cNvSpPr/>
          <p:nvPr/>
        </p:nvSpPr>
        <p:spPr>
          <a:xfrm>
            <a:off x="22060927" y="9794292"/>
            <a:ext cx="944430" cy="453716"/>
          </a:xfrm>
          <a:prstGeom prst="rect">
            <a:avLst/>
          </a:prstGeom>
          <a:ln w="63500">
            <a:solidFill>
              <a:schemeClr val="accent5"/>
            </a:solidFill>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
        <p:nvSpPr>
          <p:cNvPr id="329" name="矩形"/>
          <p:cNvSpPr/>
          <p:nvPr/>
        </p:nvSpPr>
        <p:spPr>
          <a:xfrm>
            <a:off x="22000232" y="10939099"/>
            <a:ext cx="1183256" cy="453716"/>
          </a:xfrm>
          <a:prstGeom prst="rect">
            <a:avLst/>
          </a:prstGeom>
          <a:ln w="63500">
            <a:solidFill>
              <a:srgbClr val="0433FF"/>
            </a:solidFill>
            <a:miter lim="400000"/>
          </a:ln>
        </p:spPr>
        <p:txBody>
          <a:bodyPr lIns="0" tIns="0" rIns="0" bIns="0" anchor="ctr"/>
          <a:lstStyle/>
          <a:p>
            <a:pPr>
              <a:defRPr b="0" sz="3200">
                <a:solidFill>
                  <a:srgbClr val="FFFFFF"/>
                </a:solidFill>
                <a:latin typeface="Helvetica Neue Medium"/>
                <a:ea typeface="Helvetica Neue Medium"/>
                <a:cs typeface="Helvetica Neue Medium"/>
                <a:sym typeface="Helvetica Neue Medium"/>
              </a:defRPr>
            </a:pP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Times New Roman"/>
        <a:ea typeface="Times New Roman"/>
        <a:cs typeface="Times New Roman"/>
      </a:majorFont>
      <a:minorFont>
        <a:latin typeface="Times New Roman"/>
        <a:ea typeface="Times New Roman"/>
        <a:cs typeface="Times New Roman"/>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0" tIns="0" rIns="0" bIns="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1" baseline="0" cap="none" i="0" spc="0" strike="noStrike" sz="3000" u="none" kumimoji="0" normalizeH="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Times New Roman"/>
        <a:ea typeface="Times New Roman"/>
        <a:cs typeface="Times New Roman"/>
      </a:majorFont>
      <a:minorFont>
        <a:latin typeface="Times New Roman"/>
        <a:ea typeface="Times New Roman"/>
        <a:cs typeface="Times New Roman"/>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0" tIns="0" rIns="0" bIns="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1" baseline="0" cap="none" i="0" spc="0" strike="noStrike" sz="3000" u="none" kumimoji="0" normalizeH="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