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256" r:id="rId2"/>
    <p:sldId id="257" r:id="rId3"/>
    <p:sldId id="288" r:id="rId4"/>
    <p:sldId id="258" r:id="rId5"/>
    <p:sldId id="259" r:id="rId6"/>
    <p:sldId id="262" r:id="rId7"/>
    <p:sldId id="271" r:id="rId8"/>
    <p:sldId id="268" r:id="rId9"/>
    <p:sldId id="335" r:id="rId10"/>
    <p:sldId id="277" r:id="rId11"/>
    <p:sldId id="321" r:id="rId12"/>
    <p:sldId id="324" r:id="rId13"/>
    <p:sldId id="322" r:id="rId14"/>
    <p:sldId id="318" r:id="rId15"/>
    <p:sldId id="326" r:id="rId16"/>
    <p:sldId id="327" r:id="rId17"/>
    <p:sldId id="329" r:id="rId18"/>
    <p:sldId id="330" r:id="rId19"/>
    <p:sldId id="328" r:id="rId20"/>
    <p:sldId id="332" r:id="rId21"/>
    <p:sldId id="333" r:id="rId22"/>
    <p:sldId id="331" r:id="rId23"/>
    <p:sldId id="334" r:id="rId24"/>
    <p:sldId id="278" r:id="rId25"/>
    <p:sldId id="279" r:id="rId26"/>
    <p:sldId id="285" r:id="rId27"/>
    <p:sldId id="286" r:id="rId28"/>
    <p:sldId id="290" r:id="rId29"/>
    <p:sldId id="289" r:id="rId30"/>
    <p:sldId id="291" r:id="rId31"/>
    <p:sldId id="292" r:id="rId32"/>
    <p:sldId id="293" r:id="rId33"/>
    <p:sldId id="295" r:id="rId34"/>
    <p:sldId id="296" r:id="rId35"/>
    <p:sldId id="300" r:id="rId36"/>
    <p:sldId id="297" r:id="rId37"/>
    <p:sldId id="303" r:id="rId38"/>
    <p:sldId id="304" r:id="rId39"/>
    <p:sldId id="298" r:id="rId40"/>
    <p:sldId id="305" r:id="rId41"/>
    <p:sldId id="306" r:id="rId42"/>
    <p:sldId id="307" r:id="rId43"/>
    <p:sldId id="308" r:id="rId44"/>
    <p:sldId id="312" r:id="rId45"/>
    <p:sldId id="311" r:id="rId46"/>
    <p:sldId id="309" r:id="rId47"/>
    <p:sldId id="313" r:id="rId48"/>
    <p:sldId id="314" r:id="rId49"/>
    <p:sldId id="315" r:id="rId50"/>
    <p:sldId id="299" r:id="rId51"/>
    <p:sldId id="336" r:id="rId52"/>
    <p:sldId id="316" r:id="rId53"/>
    <p:sldId id="317" r:id="rId54"/>
    <p:sldId id="284" r:id="rId55"/>
    <p:sldId id="287" r:id="rId5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j wu" initials="jw" lastIdx="1" clrIdx="0">
    <p:extLst>
      <p:ext uri="{19B8F6BF-5375-455C-9EA6-DF929625EA0E}">
        <p15:presenceInfo xmlns:p15="http://schemas.microsoft.com/office/powerpoint/2012/main" userId="81a8e4c9801d1db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97" autoAdjust="0"/>
    <p:restoredTop sz="90112" autoAdjust="0"/>
  </p:normalViewPr>
  <p:slideViewPr>
    <p:cSldViewPr snapToGrid="0">
      <p:cViewPr varScale="1">
        <p:scale>
          <a:sx n="65" d="100"/>
          <a:sy n="65" d="100"/>
        </p:scale>
        <p:origin x="84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A8093F-FD30-4CE6-9216-48A51EDB65A7}" type="datetimeFigureOut">
              <a:rPr lang="zh-TW" altLang="en-US" smtClean="0"/>
              <a:t>2021/4/13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23557-60AF-4E42-A8A9-B6EBF2CBFCCB}" type="slidenum">
              <a:rPr lang="zh-TW" altLang="en-US" smtClean="0"/>
              <a:t>‹#›</a:t>
            </a:fld>
            <a:endParaRPr lang="zh-TW" altLang="en-US"/>
          </a:p>
        </p:txBody>
      </p:sp>
    </p:spTree>
    <p:extLst>
      <p:ext uri="{BB962C8B-B14F-4D97-AF65-F5344CB8AC3E}">
        <p14:creationId xmlns:p14="http://schemas.microsoft.com/office/powerpoint/2010/main" val="730328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proposed a new list scheduling algorithm for heterogeneous systems called HSIP.</a:t>
            </a:r>
            <a:endParaRPr lang="zh-TW" altLang="en-US" dirty="0"/>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2</a:t>
            </a:fld>
            <a:endParaRPr lang="zh-TW" altLang="en-US"/>
          </a:p>
        </p:txBody>
      </p:sp>
    </p:spTree>
    <p:extLst>
      <p:ext uri="{BB962C8B-B14F-4D97-AF65-F5344CB8AC3E}">
        <p14:creationId xmlns:p14="http://schemas.microsoft.com/office/powerpoint/2010/main" val="2310083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預測作業對當前任務的所有子級的影響</a:t>
            </a:r>
            <a:endParaRPr lang="en-US" altLang="zh-TW" dirty="0"/>
          </a:p>
          <a:p>
            <a:r>
              <a:rPr lang="en-US" altLang="zh-TW" dirty="0"/>
              <a:t>1</a:t>
            </a:r>
            <a:r>
              <a:rPr lang="zh-TW" altLang="en-US" dirty="0"/>
              <a:t>）基於標準差和通信成本權重的任務優先級策略，以使調度優先級更加有效； </a:t>
            </a:r>
            <a:r>
              <a:rPr lang="en-US" altLang="zh-TW" dirty="0"/>
              <a:t>2</a:t>
            </a:r>
            <a:r>
              <a:rPr lang="zh-TW" altLang="en-US" dirty="0"/>
              <a:t>）條目 任務複製選擇策略，以縮短有效期並改善基於插入的空閒時隙</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3</a:t>
            </a:fld>
            <a:endParaRPr lang="zh-TW" altLang="en-US"/>
          </a:p>
        </p:txBody>
      </p:sp>
    </p:spTree>
    <p:extLst>
      <p:ext uri="{BB962C8B-B14F-4D97-AF65-F5344CB8AC3E}">
        <p14:creationId xmlns:p14="http://schemas.microsoft.com/office/powerpoint/2010/main" val="216871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預測最早完成時間（</a:t>
            </a:r>
            <a:r>
              <a:rPr lang="en-US" altLang="zh-TW" dirty="0"/>
              <a:t>PEFT</a:t>
            </a:r>
            <a:r>
              <a:rPr lang="zh-TW" altLang="en-US" dirty="0"/>
              <a:t>）。在計算中未考慮處理器可用性，因此計算出的值是一個樂觀的成本。我們的算法僅基於用於對任務進行排名和處理器選擇的</a:t>
            </a:r>
            <a:r>
              <a:rPr lang="en-US" altLang="zh-TW" dirty="0"/>
              <a:t>OCT</a:t>
            </a:r>
            <a:r>
              <a:rPr lang="zh-TW" altLang="en-US" dirty="0"/>
              <a:t>。</a:t>
            </a:r>
          </a:p>
          <a:p>
            <a:endParaRPr lang="zh-TW" altLang="en-US" dirty="0"/>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9</a:t>
            </a:fld>
            <a:endParaRPr lang="zh-TW" altLang="en-US"/>
          </a:p>
        </p:txBody>
      </p:sp>
    </p:spTree>
    <p:extLst>
      <p:ext uri="{BB962C8B-B14F-4D97-AF65-F5344CB8AC3E}">
        <p14:creationId xmlns:p14="http://schemas.microsoft.com/office/powerpoint/2010/main" val="1358344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預測最早完成時間（</a:t>
            </a:r>
            <a:r>
              <a:rPr lang="en-US" altLang="zh-TW" dirty="0"/>
              <a:t>PEFT</a:t>
            </a:r>
            <a:r>
              <a:rPr lang="zh-TW" altLang="en-US" dirty="0"/>
              <a:t>）。未考慮處理器可用性，因此計算出的值是一個樂觀的成本。我們的算法僅基於用於對任務進行排名和處理器選擇的</a:t>
            </a:r>
            <a:r>
              <a:rPr lang="en-US" altLang="zh-TW" dirty="0"/>
              <a:t>OCT</a:t>
            </a:r>
            <a:r>
              <a:rPr lang="zh-TW" altLang="en-US" dirty="0"/>
              <a:t>。</a:t>
            </a:r>
          </a:p>
          <a:p>
            <a:endParaRPr lang="zh-TW" altLang="en-US" dirty="0"/>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10</a:t>
            </a:fld>
            <a:endParaRPr lang="zh-TW" altLang="en-US"/>
          </a:p>
        </p:txBody>
      </p:sp>
    </p:spTree>
    <p:extLst>
      <p:ext uri="{BB962C8B-B14F-4D97-AF65-F5344CB8AC3E}">
        <p14:creationId xmlns:p14="http://schemas.microsoft.com/office/powerpoint/2010/main" val="1276376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Task priority</a:t>
            </a:r>
            <a:r>
              <a:rPr lang="zh-TW" altLang="en-US" dirty="0"/>
              <a:t>先求</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26</a:t>
            </a:fld>
            <a:endParaRPr lang="zh-TW" altLang="en-US"/>
          </a:p>
        </p:txBody>
      </p:sp>
    </p:spTree>
    <p:extLst>
      <p:ext uri="{BB962C8B-B14F-4D97-AF65-F5344CB8AC3E}">
        <p14:creationId xmlns:p14="http://schemas.microsoft.com/office/powerpoint/2010/main" val="533583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solidFill>
                  <a:srgbClr val="FF0000"/>
                </a:solidFill>
              </a:rPr>
              <a:t>計算成本差異較大的任務可以獲得更高的優先級，從而提高子節點的傳輸時間</a:t>
            </a:r>
            <a:r>
              <a:rPr lang="zh-TW" altLang="en-US" dirty="0">
                <a:solidFill>
                  <a:srgbClr val="00B050"/>
                </a:solidFill>
              </a:rPr>
              <a:t>。</a:t>
            </a:r>
            <a:endParaRPr lang="zh-TW" altLang="en-US" dirty="0"/>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34</a:t>
            </a:fld>
            <a:endParaRPr lang="zh-TW" altLang="en-US"/>
          </a:p>
        </p:txBody>
      </p:sp>
    </p:spTree>
    <p:extLst>
      <p:ext uri="{BB962C8B-B14F-4D97-AF65-F5344CB8AC3E}">
        <p14:creationId xmlns:p14="http://schemas.microsoft.com/office/powerpoint/2010/main" val="4245077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36</a:t>
            </a:fld>
            <a:endParaRPr lang="zh-TW" altLang="en-US"/>
          </a:p>
        </p:txBody>
      </p:sp>
    </p:spTree>
    <p:extLst>
      <p:ext uri="{BB962C8B-B14F-4D97-AF65-F5344CB8AC3E}">
        <p14:creationId xmlns:p14="http://schemas.microsoft.com/office/powerpoint/2010/main" val="3981574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37</a:t>
            </a:fld>
            <a:endParaRPr lang="zh-TW" altLang="en-US"/>
          </a:p>
        </p:txBody>
      </p:sp>
    </p:spTree>
    <p:extLst>
      <p:ext uri="{BB962C8B-B14F-4D97-AF65-F5344CB8AC3E}">
        <p14:creationId xmlns:p14="http://schemas.microsoft.com/office/powerpoint/2010/main" val="1541916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38</a:t>
            </a:fld>
            <a:endParaRPr lang="zh-TW" altLang="en-US"/>
          </a:p>
        </p:txBody>
      </p:sp>
    </p:spTree>
    <p:extLst>
      <p:ext uri="{BB962C8B-B14F-4D97-AF65-F5344CB8AC3E}">
        <p14:creationId xmlns:p14="http://schemas.microsoft.com/office/powerpoint/2010/main" val="377781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40</a:t>
            </a:fld>
            <a:endParaRPr lang="zh-TW" altLang="en-US"/>
          </a:p>
        </p:txBody>
      </p:sp>
    </p:spTree>
    <p:extLst>
      <p:ext uri="{BB962C8B-B14F-4D97-AF65-F5344CB8AC3E}">
        <p14:creationId xmlns:p14="http://schemas.microsoft.com/office/powerpoint/2010/main" val="2919765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41</a:t>
            </a:fld>
            <a:endParaRPr lang="zh-TW" altLang="en-US"/>
          </a:p>
        </p:txBody>
      </p:sp>
    </p:spTree>
    <p:extLst>
      <p:ext uri="{BB962C8B-B14F-4D97-AF65-F5344CB8AC3E}">
        <p14:creationId xmlns:p14="http://schemas.microsoft.com/office/powerpoint/2010/main" val="2114618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42</a:t>
            </a:fld>
            <a:endParaRPr lang="zh-TW" altLang="en-US"/>
          </a:p>
        </p:txBody>
      </p:sp>
    </p:spTree>
    <p:extLst>
      <p:ext uri="{BB962C8B-B14F-4D97-AF65-F5344CB8AC3E}">
        <p14:creationId xmlns:p14="http://schemas.microsoft.com/office/powerpoint/2010/main" val="24275184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43</a:t>
            </a:fld>
            <a:endParaRPr lang="zh-TW" altLang="en-US"/>
          </a:p>
        </p:txBody>
      </p:sp>
    </p:spTree>
    <p:extLst>
      <p:ext uri="{BB962C8B-B14F-4D97-AF65-F5344CB8AC3E}">
        <p14:creationId xmlns:p14="http://schemas.microsoft.com/office/powerpoint/2010/main" val="1176069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44</a:t>
            </a:fld>
            <a:endParaRPr lang="zh-TW" altLang="en-US"/>
          </a:p>
        </p:txBody>
      </p:sp>
    </p:spTree>
    <p:extLst>
      <p:ext uri="{BB962C8B-B14F-4D97-AF65-F5344CB8AC3E}">
        <p14:creationId xmlns:p14="http://schemas.microsoft.com/office/powerpoint/2010/main" val="4189880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45</a:t>
            </a:fld>
            <a:endParaRPr lang="zh-TW" altLang="en-US"/>
          </a:p>
        </p:txBody>
      </p:sp>
    </p:spTree>
    <p:extLst>
      <p:ext uri="{BB962C8B-B14F-4D97-AF65-F5344CB8AC3E}">
        <p14:creationId xmlns:p14="http://schemas.microsoft.com/office/powerpoint/2010/main" val="373156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46</a:t>
            </a:fld>
            <a:endParaRPr lang="zh-TW" altLang="en-US"/>
          </a:p>
        </p:txBody>
      </p:sp>
    </p:spTree>
    <p:extLst>
      <p:ext uri="{BB962C8B-B14F-4D97-AF65-F5344CB8AC3E}">
        <p14:creationId xmlns:p14="http://schemas.microsoft.com/office/powerpoint/2010/main" val="41953153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即入口任務重複選擇策略和基於</a:t>
            </a:r>
            <a:r>
              <a:rPr lang="en-US" altLang="zh-TW" dirty="0"/>
              <a:t>ITS</a:t>
            </a:r>
            <a:r>
              <a:rPr lang="zh-TW" altLang="en-US" dirty="0"/>
              <a:t>插入的優化策略</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47</a:t>
            </a:fld>
            <a:endParaRPr lang="zh-TW" altLang="en-US"/>
          </a:p>
        </p:txBody>
      </p:sp>
    </p:spTree>
    <p:extLst>
      <p:ext uri="{BB962C8B-B14F-4D97-AF65-F5344CB8AC3E}">
        <p14:creationId xmlns:p14="http://schemas.microsoft.com/office/powerpoint/2010/main" val="1155583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即入口任務重複選擇策略和基於</a:t>
            </a:r>
            <a:r>
              <a:rPr lang="en-US" altLang="zh-TW" dirty="0"/>
              <a:t>ITS</a:t>
            </a:r>
            <a:r>
              <a:rPr lang="zh-TW" altLang="en-US" dirty="0"/>
              <a:t>插入的優化策略</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48</a:t>
            </a:fld>
            <a:endParaRPr lang="zh-TW" altLang="en-US"/>
          </a:p>
        </p:txBody>
      </p:sp>
    </p:spTree>
    <p:extLst>
      <p:ext uri="{BB962C8B-B14F-4D97-AF65-F5344CB8AC3E}">
        <p14:creationId xmlns:p14="http://schemas.microsoft.com/office/powerpoint/2010/main" val="36408263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即入口任務重複選擇策略和基於</a:t>
            </a:r>
            <a:r>
              <a:rPr lang="en-US" altLang="zh-TW" dirty="0"/>
              <a:t>ITS</a:t>
            </a:r>
            <a:r>
              <a:rPr lang="zh-TW" altLang="en-US" dirty="0"/>
              <a:t>插入的優化策略</a:t>
            </a:r>
          </a:p>
        </p:txBody>
      </p:sp>
      <p:sp>
        <p:nvSpPr>
          <p:cNvPr id="4" name="投影片編號版面配置區 3"/>
          <p:cNvSpPr>
            <a:spLocks noGrp="1"/>
          </p:cNvSpPr>
          <p:nvPr>
            <p:ph type="sldNum" sz="quarter" idx="5"/>
          </p:nvPr>
        </p:nvSpPr>
        <p:spPr/>
        <p:txBody>
          <a:bodyPr/>
          <a:lstStyle/>
          <a:p>
            <a:fld id="{DEB23557-60AF-4E42-A8A9-B6EBF2CBFCCB}" type="slidenum">
              <a:rPr lang="zh-TW" altLang="en-US" smtClean="0"/>
              <a:t>49</a:t>
            </a:fld>
            <a:endParaRPr lang="zh-TW" altLang="en-US"/>
          </a:p>
        </p:txBody>
      </p:sp>
    </p:spTree>
    <p:extLst>
      <p:ext uri="{BB962C8B-B14F-4D97-AF65-F5344CB8AC3E}">
        <p14:creationId xmlns:p14="http://schemas.microsoft.com/office/powerpoint/2010/main" val="3859984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5ED46E-4F77-49BA-ADAE-B4725E1625F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D5A0B53-C7DB-4DFC-AD2F-541133D6AE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C76043E7-74B4-4FAC-ABC5-A8AC151CA84A}"/>
              </a:ext>
            </a:extLst>
          </p:cNvPr>
          <p:cNvSpPr>
            <a:spLocks noGrp="1"/>
          </p:cNvSpPr>
          <p:nvPr>
            <p:ph type="dt" sz="half" idx="10"/>
          </p:nvPr>
        </p:nvSpPr>
        <p:spPr/>
        <p:txBody>
          <a:bodyPr/>
          <a:lstStyle/>
          <a:p>
            <a:fld id="{F4A2503F-1177-4A4E-8015-3B0661847685}" type="datetimeFigureOut">
              <a:rPr lang="zh-TW" altLang="en-US" smtClean="0"/>
              <a:t>2021/4/13</a:t>
            </a:fld>
            <a:endParaRPr lang="zh-TW" altLang="en-US"/>
          </a:p>
        </p:txBody>
      </p:sp>
      <p:sp>
        <p:nvSpPr>
          <p:cNvPr id="5" name="頁尾版面配置區 4">
            <a:extLst>
              <a:ext uri="{FF2B5EF4-FFF2-40B4-BE49-F238E27FC236}">
                <a16:creationId xmlns:a16="http://schemas.microsoft.com/office/drawing/2014/main" id="{7742B598-E34E-4FCB-998F-54135A41266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938BD4F-F07D-4D08-B134-9823E582F600}"/>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19538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F986A6-9DE0-4C6E-AA23-4A772FF1540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414EA53-9B4E-45CB-A648-4116816495E8}"/>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FCE7137-85E9-431C-8470-3E9B2BBDF9DC}"/>
              </a:ext>
            </a:extLst>
          </p:cNvPr>
          <p:cNvSpPr>
            <a:spLocks noGrp="1"/>
          </p:cNvSpPr>
          <p:nvPr>
            <p:ph type="dt" sz="half" idx="10"/>
          </p:nvPr>
        </p:nvSpPr>
        <p:spPr/>
        <p:txBody>
          <a:bodyPr/>
          <a:lstStyle/>
          <a:p>
            <a:fld id="{F4A2503F-1177-4A4E-8015-3B0661847685}" type="datetimeFigureOut">
              <a:rPr lang="zh-TW" altLang="en-US" smtClean="0"/>
              <a:t>2021/4/13</a:t>
            </a:fld>
            <a:endParaRPr lang="zh-TW" altLang="en-US"/>
          </a:p>
        </p:txBody>
      </p:sp>
      <p:sp>
        <p:nvSpPr>
          <p:cNvPr id="5" name="頁尾版面配置區 4">
            <a:extLst>
              <a:ext uri="{FF2B5EF4-FFF2-40B4-BE49-F238E27FC236}">
                <a16:creationId xmlns:a16="http://schemas.microsoft.com/office/drawing/2014/main" id="{B55AB782-3412-42A7-BCAD-40FF3966C8B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19FED00-0E86-4CED-9479-AE4B002665A5}"/>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353128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F878AD-819A-4BF3-B9E7-BE0CF642FA6C}"/>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3AFC7AD4-27B1-4DA6-8186-B700C843BC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1203BB7A-7506-498D-B65B-F00D2EECCDDD}"/>
              </a:ext>
            </a:extLst>
          </p:cNvPr>
          <p:cNvSpPr>
            <a:spLocks noGrp="1"/>
          </p:cNvSpPr>
          <p:nvPr>
            <p:ph type="dt" sz="half" idx="10"/>
          </p:nvPr>
        </p:nvSpPr>
        <p:spPr/>
        <p:txBody>
          <a:bodyPr/>
          <a:lstStyle/>
          <a:p>
            <a:fld id="{F4A2503F-1177-4A4E-8015-3B0661847685}" type="datetimeFigureOut">
              <a:rPr lang="zh-TW" altLang="en-US" smtClean="0"/>
              <a:t>2021/4/13</a:t>
            </a:fld>
            <a:endParaRPr lang="zh-TW" altLang="en-US"/>
          </a:p>
        </p:txBody>
      </p:sp>
      <p:sp>
        <p:nvSpPr>
          <p:cNvPr id="5" name="頁尾版面配置區 4">
            <a:extLst>
              <a:ext uri="{FF2B5EF4-FFF2-40B4-BE49-F238E27FC236}">
                <a16:creationId xmlns:a16="http://schemas.microsoft.com/office/drawing/2014/main" id="{C4F9C693-52AC-49E7-94BE-6D657D5EF71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B1E3F5E-16EE-47D9-A2F8-B977B3E7C655}"/>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57170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C6E415-D449-4949-9F50-32299BF06A4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8431DEF-F757-41DA-AAB3-099C3B6DEB4B}"/>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1C29154-2395-4D6E-9E72-201267791D9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A264B64C-6663-4661-B505-45076D281496}"/>
              </a:ext>
            </a:extLst>
          </p:cNvPr>
          <p:cNvSpPr>
            <a:spLocks noGrp="1"/>
          </p:cNvSpPr>
          <p:nvPr>
            <p:ph type="dt" sz="half" idx="10"/>
          </p:nvPr>
        </p:nvSpPr>
        <p:spPr/>
        <p:txBody>
          <a:bodyPr/>
          <a:lstStyle/>
          <a:p>
            <a:fld id="{F4A2503F-1177-4A4E-8015-3B0661847685}" type="datetimeFigureOut">
              <a:rPr lang="zh-TW" altLang="en-US" smtClean="0"/>
              <a:t>2021/4/13</a:t>
            </a:fld>
            <a:endParaRPr lang="zh-TW" altLang="en-US"/>
          </a:p>
        </p:txBody>
      </p:sp>
      <p:sp>
        <p:nvSpPr>
          <p:cNvPr id="6" name="頁尾版面配置區 5">
            <a:extLst>
              <a:ext uri="{FF2B5EF4-FFF2-40B4-BE49-F238E27FC236}">
                <a16:creationId xmlns:a16="http://schemas.microsoft.com/office/drawing/2014/main" id="{8BEAADF6-DF01-4373-B64B-4BF15DE739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9677612-E41F-4524-80E2-1D2596EFE5F4}"/>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4183974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D16678-6DB7-4FAC-AFC5-FA4615DC7D9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286A82E-98CB-4629-B579-AE0FD1E1F2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C3C24D6-3BFF-4531-B1EB-F20E2B200555}"/>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EADBACD-C068-4B50-8523-AF6ECEF155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2A87FD00-56F3-411D-AB18-05E945BD2AE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6A89B70-11A0-42EC-986E-3BBF229CBF3B}"/>
              </a:ext>
            </a:extLst>
          </p:cNvPr>
          <p:cNvSpPr>
            <a:spLocks noGrp="1"/>
          </p:cNvSpPr>
          <p:nvPr>
            <p:ph type="dt" sz="half" idx="10"/>
          </p:nvPr>
        </p:nvSpPr>
        <p:spPr/>
        <p:txBody>
          <a:bodyPr/>
          <a:lstStyle/>
          <a:p>
            <a:fld id="{F4A2503F-1177-4A4E-8015-3B0661847685}" type="datetimeFigureOut">
              <a:rPr lang="zh-TW" altLang="en-US" smtClean="0"/>
              <a:t>2021/4/13</a:t>
            </a:fld>
            <a:endParaRPr lang="zh-TW" altLang="en-US"/>
          </a:p>
        </p:txBody>
      </p:sp>
      <p:sp>
        <p:nvSpPr>
          <p:cNvPr id="8" name="頁尾版面配置區 7">
            <a:extLst>
              <a:ext uri="{FF2B5EF4-FFF2-40B4-BE49-F238E27FC236}">
                <a16:creationId xmlns:a16="http://schemas.microsoft.com/office/drawing/2014/main" id="{E94B3618-E588-4E87-BFDA-D383ED001295}"/>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CE35D9EF-0E70-42BC-99FB-9791B6CF9993}"/>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680942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C7B791-A604-496D-B479-937EF957C71D}"/>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465354B-365E-4DC1-BFD2-E10EDC9C6AD9}"/>
              </a:ext>
            </a:extLst>
          </p:cNvPr>
          <p:cNvSpPr>
            <a:spLocks noGrp="1"/>
          </p:cNvSpPr>
          <p:nvPr>
            <p:ph type="dt" sz="half" idx="10"/>
          </p:nvPr>
        </p:nvSpPr>
        <p:spPr/>
        <p:txBody>
          <a:bodyPr/>
          <a:lstStyle/>
          <a:p>
            <a:fld id="{F4A2503F-1177-4A4E-8015-3B0661847685}" type="datetimeFigureOut">
              <a:rPr lang="zh-TW" altLang="en-US" smtClean="0"/>
              <a:t>2021/4/13</a:t>
            </a:fld>
            <a:endParaRPr lang="zh-TW" altLang="en-US"/>
          </a:p>
        </p:txBody>
      </p:sp>
      <p:sp>
        <p:nvSpPr>
          <p:cNvPr id="4" name="頁尾版面配置區 3">
            <a:extLst>
              <a:ext uri="{FF2B5EF4-FFF2-40B4-BE49-F238E27FC236}">
                <a16:creationId xmlns:a16="http://schemas.microsoft.com/office/drawing/2014/main" id="{3429BA9E-207F-4AE6-B72A-4B916422988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4099502-1A04-4469-98E0-38CEC02C215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896608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1D1D4568-121D-4A35-88FD-9B0A5878A6F7}"/>
              </a:ext>
            </a:extLst>
          </p:cNvPr>
          <p:cNvSpPr>
            <a:spLocks noGrp="1"/>
          </p:cNvSpPr>
          <p:nvPr>
            <p:ph type="dt" sz="half" idx="10"/>
          </p:nvPr>
        </p:nvSpPr>
        <p:spPr/>
        <p:txBody>
          <a:bodyPr/>
          <a:lstStyle/>
          <a:p>
            <a:fld id="{F4A2503F-1177-4A4E-8015-3B0661847685}" type="datetimeFigureOut">
              <a:rPr lang="zh-TW" altLang="en-US" smtClean="0"/>
              <a:t>2021/4/13</a:t>
            </a:fld>
            <a:endParaRPr lang="zh-TW" altLang="en-US"/>
          </a:p>
        </p:txBody>
      </p:sp>
      <p:sp>
        <p:nvSpPr>
          <p:cNvPr id="3" name="頁尾版面配置區 2">
            <a:extLst>
              <a:ext uri="{FF2B5EF4-FFF2-40B4-BE49-F238E27FC236}">
                <a16:creationId xmlns:a16="http://schemas.microsoft.com/office/drawing/2014/main" id="{ADE7D010-E7FF-4268-A319-851E2D85A76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DF46AF-F022-4778-903F-73B6C57FDFE5}"/>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267582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B43C78-6854-4139-9C84-3261AA10F0A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6C80FDC-0AD1-4555-9ADE-151392B645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4EF15162-7878-4F76-A135-738A630FA1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D45DB26-8395-4017-9FBB-DAD64F8C5B45}"/>
              </a:ext>
            </a:extLst>
          </p:cNvPr>
          <p:cNvSpPr>
            <a:spLocks noGrp="1"/>
          </p:cNvSpPr>
          <p:nvPr>
            <p:ph type="dt" sz="half" idx="10"/>
          </p:nvPr>
        </p:nvSpPr>
        <p:spPr/>
        <p:txBody>
          <a:bodyPr/>
          <a:lstStyle/>
          <a:p>
            <a:fld id="{F4A2503F-1177-4A4E-8015-3B0661847685}" type="datetimeFigureOut">
              <a:rPr lang="zh-TW" altLang="en-US" smtClean="0"/>
              <a:t>2021/4/13</a:t>
            </a:fld>
            <a:endParaRPr lang="zh-TW" altLang="en-US"/>
          </a:p>
        </p:txBody>
      </p:sp>
      <p:sp>
        <p:nvSpPr>
          <p:cNvPr id="6" name="頁尾版面配置區 5">
            <a:extLst>
              <a:ext uri="{FF2B5EF4-FFF2-40B4-BE49-F238E27FC236}">
                <a16:creationId xmlns:a16="http://schemas.microsoft.com/office/drawing/2014/main" id="{E672C3B8-499C-457A-AED8-810105B4003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2D6104B-B3AF-4B1C-A927-018355C012CF}"/>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87871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E9D8C8-051A-43C5-A0FA-B17568E4ACE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8D8D6E4-9565-4450-97DA-60A7539D4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DD886C59-2CFC-42D8-BE73-D0ECEAF8DC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95C4614C-35BC-4E29-AE57-DD950B11C8B2}"/>
              </a:ext>
            </a:extLst>
          </p:cNvPr>
          <p:cNvSpPr>
            <a:spLocks noGrp="1"/>
          </p:cNvSpPr>
          <p:nvPr>
            <p:ph type="dt" sz="half" idx="10"/>
          </p:nvPr>
        </p:nvSpPr>
        <p:spPr/>
        <p:txBody>
          <a:bodyPr/>
          <a:lstStyle/>
          <a:p>
            <a:fld id="{F4A2503F-1177-4A4E-8015-3B0661847685}" type="datetimeFigureOut">
              <a:rPr lang="zh-TW" altLang="en-US" smtClean="0"/>
              <a:t>2021/4/13</a:t>
            </a:fld>
            <a:endParaRPr lang="zh-TW" altLang="en-US"/>
          </a:p>
        </p:txBody>
      </p:sp>
      <p:sp>
        <p:nvSpPr>
          <p:cNvPr id="6" name="頁尾版面配置區 5">
            <a:extLst>
              <a:ext uri="{FF2B5EF4-FFF2-40B4-BE49-F238E27FC236}">
                <a16:creationId xmlns:a16="http://schemas.microsoft.com/office/drawing/2014/main" id="{E23A698B-C275-40DA-AC1E-D81EB9671A1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E454766-0E00-46BF-9BCA-7E37D7C704FC}"/>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821621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8772ED-2334-488E-A79F-FA68A9BAAA3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045F129-E23E-4A29-B9AE-9F573B2F1924}"/>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6FF35EB-14BF-4D91-89B3-2BD79C2CA78F}"/>
              </a:ext>
            </a:extLst>
          </p:cNvPr>
          <p:cNvSpPr>
            <a:spLocks noGrp="1"/>
          </p:cNvSpPr>
          <p:nvPr>
            <p:ph type="dt" sz="half" idx="10"/>
          </p:nvPr>
        </p:nvSpPr>
        <p:spPr/>
        <p:txBody>
          <a:bodyPr/>
          <a:lstStyle/>
          <a:p>
            <a:fld id="{F4A2503F-1177-4A4E-8015-3B0661847685}" type="datetimeFigureOut">
              <a:rPr lang="zh-TW" altLang="en-US" smtClean="0"/>
              <a:t>2021/4/13</a:t>
            </a:fld>
            <a:endParaRPr lang="zh-TW" altLang="en-US"/>
          </a:p>
        </p:txBody>
      </p:sp>
      <p:sp>
        <p:nvSpPr>
          <p:cNvPr id="5" name="頁尾版面配置區 4">
            <a:extLst>
              <a:ext uri="{FF2B5EF4-FFF2-40B4-BE49-F238E27FC236}">
                <a16:creationId xmlns:a16="http://schemas.microsoft.com/office/drawing/2014/main" id="{E97E3709-A497-48E7-BF60-95A8AFF82DD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63B46E5-005F-4A21-95FC-0C396D0D9A13}"/>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66133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6FF3ACFE-5F03-4761-BF17-04E4A143C66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8FE3A0C-C637-449B-86A1-CCBF608E7B59}"/>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7D2565E-9CBD-4BBF-9300-722929F2E73A}"/>
              </a:ext>
            </a:extLst>
          </p:cNvPr>
          <p:cNvSpPr>
            <a:spLocks noGrp="1"/>
          </p:cNvSpPr>
          <p:nvPr>
            <p:ph type="dt" sz="half" idx="10"/>
          </p:nvPr>
        </p:nvSpPr>
        <p:spPr/>
        <p:txBody>
          <a:bodyPr/>
          <a:lstStyle/>
          <a:p>
            <a:fld id="{F4A2503F-1177-4A4E-8015-3B0661847685}" type="datetimeFigureOut">
              <a:rPr lang="zh-TW" altLang="en-US" smtClean="0"/>
              <a:t>2021/4/13</a:t>
            </a:fld>
            <a:endParaRPr lang="zh-TW" altLang="en-US"/>
          </a:p>
        </p:txBody>
      </p:sp>
      <p:sp>
        <p:nvSpPr>
          <p:cNvPr id="5" name="頁尾版面配置區 4">
            <a:extLst>
              <a:ext uri="{FF2B5EF4-FFF2-40B4-BE49-F238E27FC236}">
                <a16:creationId xmlns:a16="http://schemas.microsoft.com/office/drawing/2014/main" id="{5F94A869-2201-4271-9ED1-0CAE8342098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3947FF2-04FC-4573-8994-F2161E7F6CB5}"/>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023599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FA9A8E20-2F0A-46E2-A01E-A6767AE4E1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F4F4B5D-423D-45E8-BE8A-AF2C66F131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E7F7F53-3618-4093-96F3-B59117C19A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2503F-1177-4A4E-8015-3B0661847685}" type="datetimeFigureOut">
              <a:rPr lang="zh-TW" altLang="en-US" smtClean="0"/>
              <a:t>2021/4/13</a:t>
            </a:fld>
            <a:endParaRPr lang="zh-TW" altLang="en-US"/>
          </a:p>
        </p:txBody>
      </p:sp>
      <p:sp>
        <p:nvSpPr>
          <p:cNvPr id="5" name="頁尾版面配置區 4">
            <a:extLst>
              <a:ext uri="{FF2B5EF4-FFF2-40B4-BE49-F238E27FC236}">
                <a16:creationId xmlns:a16="http://schemas.microsoft.com/office/drawing/2014/main" id="{BC6CF96F-5DE1-46A5-92D6-4D3CE53976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6C415777-A008-4514-AEAE-8D70DDCA70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8221815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83053A-CC8D-454D-B92C-944C12D93638}"/>
              </a:ext>
            </a:extLst>
          </p:cNvPr>
          <p:cNvSpPr>
            <a:spLocks noGrp="1"/>
          </p:cNvSpPr>
          <p:nvPr>
            <p:ph type="ctrTitle"/>
          </p:nvPr>
        </p:nvSpPr>
        <p:spPr/>
        <p:txBody>
          <a:bodyPr>
            <a:normAutofit fontScale="90000"/>
          </a:bodyPr>
          <a:lstStyle/>
          <a:p>
            <a:r>
              <a:rPr lang="en-US" altLang="zh-TW" i="0" dirty="0">
                <a:solidFill>
                  <a:srgbClr val="333333"/>
                </a:solidFill>
                <a:effectLst/>
                <a:latin typeface="Arial" panose="020B0604020202020204" pitchFamily="34" charset="0"/>
              </a:rPr>
              <a:t>A Novel Heterogeneous Scheduling Algorithm with Improved Task Priority</a:t>
            </a:r>
            <a:br>
              <a:rPr lang="en-US" altLang="zh-TW" b="1" i="0" dirty="0">
                <a:solidFill>
                  <a:srgbClr val="333333"/>
                </a:solidFill>
                <a:effectLst/>
                <a:latin typeface="Arial" panose="020B0604020202020204" pitchFamily="34" charset="0"/>
              </a:rPr>
            </a:br>
            <a:endParaRPr lang="zh-TW" altLang="en-US" dirty="0"/>
          </a:p>
        </p:txBody>
      </p:sp>
      <p:sp>
        <p:nvSpPr>
          <p:cNvPr id="3" name="副標題 2">
            <a:extLst>
              <a:ext uri="{FF2B5EF4-FFF2-40B4-BE49-F238E27FC236}">
                <a16:creationId xmlns:a16="http://schemas.microsoft.com/office/drawing/2014/main" id="{5F758A5A-5857-4E7C-930D-EA56FC5A3499}"/>
              </a:ext>
            </a:extLst>
          </p:cNvPr>
          <p:cNvSpPr>
            <a:spLocks noGrp="1"/>
          </p:cNvSpPr>
          <p:nvPr>
            <p:ph type="subTitle" idx="1"/>
          </p:nvPr>
        </p:nvSpPr>
        <p:spPr>
          <a:xfrm>
            <a:off x="-356462" y="3794919"/>
            <a:ext cx="13576515" cy="1655762"/>
          </a:xfrm>
        </p:spPr>
        <p:txBody>
          <a:bodyPr>
            <a:normAutofit lnSpcReduction="10000"/>
          </a:bodyPr>
          <a:lstStyle/>
          <a:p>
            <a:r>
              <a:rPr lang="en-US" altLang="zh-TW" i="0" dirty="0">
                <a:solidFill>
                  <a:srgbClr val="333333"/>
                </a:solidFill>
                <a:effectLst/>
                <a:latin typeface="Arial" panose="020B0604020202020204" pitchFamily="34" charset="0"/>
              </a:rPr>
              <a:t>2015 IEEE 17th International Conference on High Performance Computing and </a:t>
            </a:r>
          </a:p>
          <a:p>
            <a:r>
              <a:rPr lang="en-US" altLang="zh-TW" i="0" dirty="0">
                <a:solidFill>
                  <a:srgbClr val="333333"/>
                </a:solidFill>
                <a:effectLst/>
                <a:latin typeface="Arial" panose="020B0604020202020204" pitchFamily="34" charset="0"/>
              </a:rPr>
              <a:t>Communications, </a:t>
            </a:r>
          </a:p>
          <a:p>
            <a:r>
              <a:rPr lang="en-US" altLang="zh-TW" i="0" dirty="0">
                <a:solidFill>
                  <a:srgbClr val="333333"/>
                </a:solidFill>
                <a:effectLst/>
                <a:latin typeface="Arial" panose="020B0604020202020204" pitchFamily="34" charset="0"/>
              </a:rPr>
              <a:t>2015 IEEE 7th International Symposium on Cyberspace Safety and Security, and</a:t>
            </a:r>
          </a:p>
          <a:p>
            <a:r>
              <a:rPr lang="en-US" altLang="zh-TW" i="0" dirty="0">
                <a:solidFill>
                  <a:srgbClr val="333333"/>
                </a:solidFill>
                <a:effectLst/>
                <a:latin typeface="Arial" panose="020B0604020202020204" pitchFamily="34" charset="0"/>
              </a:rPr>
              <a:t> 2015 IEEE 12th International Conference on Embedded Software and Systems	</a:t>
            </a:r>
            <a:endParaRPr lang="zh-TW" altLang="en-US" dirty="0"/>
          </a:p>
        </p:txBody>
      </p:sp>
      <p:sp>
        <p:nvSpPr>
          <p:cNvPr id="5" name="文字方塊 4">
            <a:extLst>
              <a:ext uri="{FF2B5EF4-FFF2-40B4-BE49-F238E27FC236}">
                <a16:creationId xmlns:a16="http://schemas.microsoft.com/office/drawing/2014/main" id="{CB5C4AFD-5D01-45AC-8DB2-772886894198}"/>
              </a:ext>
            </a:extLst>
          </p:cNvPr>
          <p:cNvSpPr txBox="1"/>
          <p:nvPr/>
        </p:nvSpPr>
        <p:spPr>
          <a:xfrm>
            <a:off x="9407769" y="5735637"/>
            <a:ext cx="6098344" cy="923330"/>
          </a:xfrm>
          <a:prstGeom prst="rect">
            <a:avLst/>
          </a:prstGeom>
          <a:noFill/>
        </p:spPr>
        <p:txBody>
          <a:bodyPr wrap="square">
            <a:spAutoFit/>
          </a:bodyPr>
          <a:lstStyle/>
          <a:p>
            <a:r>
              <a:rPr lang="en-US" altLang="zh-TW" dirty="0" err="1">
                <a:latin typeface="Times New Roman" panose="02020603050405020304" pitchFamily="18" charset="0"/>
                <a:cs typeface="Times New Roman" panose="02020603050405020304" pitchFamily="18" charset="0"/>
              </a:rPr>
              <a:t>Persenter</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Jue</a:t>
            </a:r>
            <a:r>
              <a:rPr lang="en-US" altLang="zh-TW" dirty="0">
                <a:latin typeface="Times New Roman" panose="02020603050405020304" pitchFamily="18" charset="0"/>
                <a:cs typeface="Times New Roman" panose="02020603050405020304" pitchFamily="18" charset="0"/>
              </a:rPr>
              <a:t>-Jun Wu</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Date :  Mar. 24</a:t>
            </a:r>
            <a:r>
              <a:rPr lang="en-US" altLang="zh-TW" baseline="30000" dirty="0">
                <a:latin typeface="Times New Roman" panose="02020603050405020304" pitchFamily="18" charset="0"/>
                <a:cs typeface="Times New Roman" panose="02020603050405020304" pitchFamily="18" charset="0"/>
              </a:rPr>
              <a:t>th</a:t>
            </a:r>
            <a:r>
              <a:rPr lang="en-US" altLang="zh-TW" dirty="0">
                <a:latin typeface="Times New Roman" panose="02020603050405020304" pitchFamily="18" charset="0"/>
                <a:cs typeface="Times New Roman" panose="02020603050405020304" pitchFamily="18" charset="0"/>
              </a:rPr>
              <a:t> , 2021</a:t>
            </a:r>
            <a:endParaRPr lang="zh-TW" altLang="en-US"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5ABECDA-F96D-43F3-BB62-982213BC11E3}"/>
              </a:ext>
            </a:extLst>
          </p:cNvPr>
          <p:cNvSpPr txBox="1"/>
          <p:nvPr/>
        </p:nvSpPr>
        <p:spPr>
          <a:xfrm>
            <a:off x="3151163" y="2967335"/>
            <a:ext cx="7737231" cy="461665"/>
          </a:xfrm>
          <a:prstGeom prst="rect">
            <a:avLst/>
          </a:prstGeom>
          <a:noFill/>
        </p:spPr>
        <p:txBody>
          <a:bodyPr wrap="square" rtlCol="0">
            <a:spAutoFit/>
          </a:bodyPr>
          <a:lstStyle/>
          <a:p>
            <a:r>
              <a:rPr lang="en-US" altLang="zh-TW" sz="2400" dirty="0"/>
              <a:t>Guan Wang, He Guo, </a:t>
            </a:r>
            <a:r>
              <a:rPr lang="en-US" altLang="zh-TW" sz="2400" dirty="0" err="1"/>
              <a:t>Yuxin</a:t>
            </a:r>
            <a:r>
              <a:rPr lang="en-US" altLang="zh-TW" sz="2400" dirty="0"/>
              <a:t> Wang</a:t>
            </a:r>
            <a:endParaRPr lang="zh-TW" altLang="en-US" sz="2400" dirty="0"/>
          </a:p>
        </p:txBody>
      </p:sp>
    </p:spTree>
    <p:extLst>
      <p:ext uri="{BB962C8B-B14F-4D97-AF65-F5344CB8AC3E}">
        <p14:creationId xmlns:p14="http://schemas.microsoft.com/office/powerpoint/2010/main" val="558392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F714AA-1BD1-4D7D-BEE1-4F5D393B3543}"/>
              </a:ext>
            </a:extLst>
          </p:cNvPr>
          <p:cNvSpPr>
            <a:spLocks noGrp="1"/>
          </p:cNvSpPr>
          <p:nvPr>
            <p:ph type="title"/>
          </p:nvPr>
        </p:nvSpPr>
        <p:spPr>
          <a:xfrm>
            <a:off x="838200" y="247338"/>
            <a:ext cx="10515600" cy="1325563"/>
          </a:xfrm>
        </p:spPr>
        <p:txBody>
          <a:bodyPr/>
          <a:lstStyle/>
          <a:p>
            <a:r>
              <a:rPr lang="en-US" altLang="zh-TW" i="0" dirty="0">
                <a:solidFill>
                  <a:srgbClr val="333333"/>
                </a:solidFill>
                <a:effectLst/>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63AFCB3-02D3-4F95-BA84-53A2B50BCEA6}"/>
              </a:ext>
            </a:extLst>
          </p:cNvPr>
          <p:cNvSpPr>
            <a:spLocks noGrp="1"/>
          </p:cNvSpPr>
          <p:nvPr>
            <p:ph idx="1"/>
          </p:nvPr>
        </p:nvSpPr>
        <p:spPr>
          <a:xfrm>
            <a:off x="254833" y="1469036"/>
            <a:ext cx="11812249" cy="5141626"/>
          </a:xfrm>
        </p:spPr>
        <p:txBody>
          <a:bodyPr>
            <a:normAutofit lnSpcReduction="10000"/>
          </a:bodyPr>
          <a:lstStyle/>
          <a:p>
            <a:pPr marL="0" indent="0">
              <a:buNone/>
            </a:pPr>
            <a:r>
              <a:rPr lang="en-US" altLang="zh-TW" b="0" i="0" dirty="0">
                <a:solidFill>
                  <a:srgbClr val="333333"/>
                </a:solidFill>
                <a:effectLst/>
              </a:rPr>
              <a:t>	Efficient application scheduling algorithms are important to obtain high performance in heterogeneous computing systems. However, most of current algorithms are of low efficiency in scheduling. Aiming at this problem, we propose a heterogeneous scheduling algorithm with improved task priority (HSIP) whose functionality relies on two pillars: 1) a task priority strategy based on standard deviation and Communication Cost Weight to make scheduling priority more efficient, 2) an entry task duplication selection policy to make the </a:t>
            </a:r>
            <a:r>
              <a:rPr lang="en-US" altLang="zh-TW" b="0" i="0" dirty="0" err="1">
                <a:solidFill>
                  <a:srgbClr val="333333"/>
                </a:solidFill>
                <a:effectLst/>
              </a:rPr>
              <a:t>makespan</a:t>
            </a:r>
            <a:r>
              <a:rPr lang="en-US" altLang="zh-TW" b="0" i="0" dirty="0">
                <a:solidFill>
                  <a:srgbClr val="333333"/>
                </a:solidFill>
                <a:effectLst/>
              </a:rPr>
              <a:t> shorter and improve the idle time slot insertion-based. We evaluate our proposed scheme on some real application DAGs by comparison with Predict Earliest Finish Time (PEFT), SD-Based Algorithm for Task Scheduling (SDBATS), Heterogeneous Earliest Finish Time (HEFT) and Critical Path On a Processor (CPOP). Experimental results show that our proposed scheme performs better than other algorithms in terms of schedule length ratio, speedup and efficiency.</a:t>
            </a:r>
          </a:p>
          <a:p>
            <a:endParaRPr lang="zh-TW" altLang="en-US" dirty="0"/>
          </a:p>
        </p:txBody>
      </p:sp>
    </p:spTree>
    <p:extLst>
      <p:ext uri="{BB962C8B-B14F-4D97-AF65-F5344CB8AC3E}">
        <p14:creationId xmlns:p14="http://schemas.microsoft.com/office/powerpoint/2010/main" val="289983720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50E94A-190D-4213-9F9B-C01D9C8AF5C0}"/>
              </a:ext>
            </a:extLst>
          </p:cNvPr>
          <p:cNvSpPr>
            <a:spLocks noGrp="1"/>
          </p:cNvSpPr>
          <p:nvPr>
            <p:ph type="title"/>
          </p:nvPr>
        </p:nvSpPr>
        <p:spPr/>
        <p:txBody>
          <a:bodyPr/>
          <a:lstStyle/>
          <a:p>
            <a:r>
              <a:rPr lang="en-US" altLang="zh-TW" dirty="0"/>
              <a:t>Outline</a:t>
            </a:r>
            <a:br>
              <a:rPr lang="en-US" altLang="zh-TW" dirty="0"/>
            </a:br>
            <a:endParaRPr lang="zh-TW" altLang="en-US" dirty="0"/>
          </a:p>
        </p:txBody>
      </p:sp>
      <p:sp>
        <p:nvSpPr>
          <p:cNvPr id="3" name="內容版面配置區 2">
            <a:extLst>
              <a:ext uri="{FF2B5EF4-FFF2-40B4-BE49-F238E27FC236}">
                <a16:creationId xmlns:a16="http://schemas.microsoft.com/office/drawing/2014/main" id="{87BD9FFC-37C1-4C21-B565-9FD7FD7C7BF2}"/>
              </a:ext>
            </a:extLst>
          </p:cNvPr>
          <p:cNvSpPr>
            <a:spLocks noGrp="1"/>
          </p:cNvSpPr>
          <p:nvPr>
            <p:ph idx="1"/>
          </p:nvPr>
        </p:nvSpPr>
        <p:spPr/>
        <p:txBody>
          <a:bodyPr/>
          <a:lstStyle/>
          <a:p>
            <a:endParaRPr lang="en-US" altLang="zh-TW" b="0" i="0" dirty="0">
              <a:solidFill>
                <a:srgbClr val="333333"/>
              </a:solidFill>
              <a:effectLst/>
              <a:latin typeface="Georgia" panose="02040502050405020303" pitchFamily="18" charset="0"/>
            </a:endParaRPr>
          </a:p>
          <a:p>
            <a:r>
              <a:rPr lang="en-US" altLang="zh-TW" sz="2600" b="0" i="0" dirty="0">
                <a:solidFill>
                  <a:srgbClr val="333333"/>
                </a:solidFill>
                <a:effectLst/>
              </a:rPr>
              <a:t>Predict Earliest Finish Time (PEFT)</a:t>
            </a:r>
          </a:p>
          <a:p>
            <a:r>
              <a:rPr lang="en-US" altLang="zh-TW" sz="2600" b="0" i="0" dirty="0">
                <a:solidFill>
                  <a:srgbClr val="333333"/>
                </a:solidFill>
                <a:effectLst/>
              </a:rPr>
              <a:t>Heterogeneous Scheduling with Improved Task Priority (HSIP)</a:t>
            </a:r>
          </a:p>
          <a:p>
            <a:r>
              <a:rPr lang="en-US" altLang="zh-TW" sz="2600" dirty="0">
                <a:solidFill>
                  <a:srgbClr val="333333"/>
                </a:solidFill>
              </a:rPr>
              <a:t>Experiments</a:t>
            </a:r>
            <a:endParaRPr lang="zh-TW" altLang="en-US" sz="2600" dirty="0"/>
          </a:p>
        </p:txBody>
      </p:sp>
    </p:spTree>
    <p:extLst>
      <p:ext uri="{BB962C8B-B14F-4D97-AF65-F5344CB8AC3E}">
        <p14:creationId xmlns:p14="http://schemas.microsoft.com/office/powerpoint/2010/main" val="216220806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A78FAA-4F47-4C18-B529-8F483FC512E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980D996-B6D2-4155-93B4-03BD78ABD06B}"/>
              </a:ext>
            </a:extLst>
          </p:cNvPr>
          <p:cNvSpPr>
            <a:spLocks noGrp="1"/>
          </p:cNvSpPr>
          <p:nvPr>
            <p:ph idx="1"/>
          </p:nvPr>
        </p:nvSpPr>
        <p:spPr/>
        <p:txBody>
          <a:bodyPr/>
          <a:lstStyle/>
          <a:p>
            <a:r>
              <a:rPr lang="zh-TW" altLang="en-US" dirty="0"/>
              <a:t>，我們提出了一種具有改進的任務優先級（</a:t>
            </a:r>
            <a:r>
              <a:rPr lang="en-US" altLang="zh-TW" dirty="0"/>
              <a:t>HSIP</a:t>
            </a:r>
            <a:r>
              <a:rPr lang="zh-TW" altLang="en-US" dirty="0"/>
              <a:t>）的異構調度算法，其功能依賴於兩個支柱：</a:t>
            </a:r>
            <a:r>
              <a:rPr lang="en-US" altLang="zh-TW" dirty="0"/>
              <a:t>1</a:t>
            </a:r>
            <a:r>
              <a:rPr lang="zh-TW" altLang="en-US" dirty="0"/>
              <a:t>）基於標準差和通信成本權重的任務優先級策略，以使調度優先級更加有效； </a:t>
            </a:r>
            <a:r>
              <a:rPr lang="en-US" altLang="zh-TW" dirty="0"/>
              <a:t>2</a:t>
            </a:r>
            <a:r>
              <a:rPr lang="zh-TW" altLang="en-US" dirty="0"/>
              <a:t>）條目 任務複製選擇策略，以縮短有效期並改善基於插入的空閒時隙。</a:t>
            </a:r>
          </a:p>
        </p:txBody>
      </p:sp>
    </p:spTree>
    <p:extLst>
      <p:ext uri="{BB962C8B-B14F-4D97-AF65-F5344CB8AC3E}">
        <p14:creationId xmlns:p14="http://schemas.microsoft.com/office/powerpoint/2010/main" val="73159425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287FE0-D654-4D3C-A686-85C6524C4D2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FE3869E9-0D33-4AB6-8224-32C0428BB587}"/>
              </a:ext>
            </a:extLst>
          </p:cNvPr>
          <p:cNvSpPr>
            <a:spLocks noGrp="1"/>
          </p:cNvSpPr>
          <p:nvPr>
            <p:ph idx="1"/>
          </p:nvPr>
        </p:nvSpPr>
        <p:spPr/>
        <p:txBody>
          <a:bodyPr>
            <a:normAutofit/>
          </a:bodyPr>
          <a:lstStyle/>
          <a:p>
            <a:r>
              <a:rPr lang="zh-TW" altLang="en-US" dirty="0"/>
              <a:t>，對於具有不同處理器計算時間和子節點之間不同通信成本的異構環境，這被認為是不夠合理的。 </a:t>
            </a:r>
            <a:endParaRPr lang="en-US" altLang="zh-TW" dirty="0"/>
          </a:p>
          <a:p>
            <a:r>
              <a:rPr lang="en-US" altLang="zh-TW" dirty="0"/>
              <a:t>CPOP</a:t>
            </a:r>
            <a:r>
              <a:rPr lang="zh-TW" altLang="en-US" dirty="0"/>
              <a:t>所有關鍵路徑任務都分配給同一處理器，這可能導致處理器的負載不平衡並增加調度時間。</a:t>
            </a:r>
            <a:endParaRPr lang="en-US" altLang="zh-TW" dirty="0"/>
          </a:p>
          <a:p>
            <a:r>
              <a:rPr lang="en-US" altLang="zh-TW" dirty="0"/>
              <a:t>PEFT</a:t>
            </a:r>
            <a:r>
              <a:rPr lang="zh-TW" altLang="en-US" dirty="0"/>
              <a:t>主要關注最短路徑的子任務，而忽略了較大程度的異構任務調度優先級問題。</a:t>
            </a:r>
            <a:endParaRPr lang="en-US" altLang="zh-TW" dirty="0"/>
          </a:p>
          <a:p>
            <a:r>
              <a:rPr lang="zh-TW" altLang="en-US" dirty="0"/>
              <a:t>改進的任務優先級，在製造期限和效率方面，並且不增加複雜性。</a:t>
            </a:r>
            <a:endParaRPr lang="en-US" altLang="zh-TW" dirty="0"/>
          </a:p>
          <a:p>
            <a:pPr marL="0" indent="0">
              <a:buNone/>
            </a:pPr>
            <a:r>
              <a:rPr lang="zh-TW" altLang="en-US" dirty="0">
                <a:solidFill>
                  <a:srgbClr val="00B050"/>
                </a:solidFill>
              </a:rPr>
              <a:t>該算法有兩個主要階段：用於計算任務優先級的任務優先級劃分階段，以及用於選擇執行當前任務的最佳處理器的處理器選擇階段。</a:t>
            </a:r>
          </a:p>
          <a:p>
            <a:endParaRPr lang="zh-TW" altLang="en-US" dirty="0"/>
          </a:p>
        </p:txBody>
      </p:sp>
    </p:spTree>
    <p:extLst>
      <p:ext uri="{BB962C8B-B14F-4D97-AF65-F5344CB8AC3E}">
        <p14:creationId xmlns:p14="http://schemas.microsoft.com/office/powerpoint/2010/main" val="84856941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910FAD-EEA6-4963-ABA6-1F020876520C}"/>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0823F1F-9BA6-4FF3-B8BA-C5576D990F61}"/>
              </a:ext>
            </a:extLst>
          </p:cNvPr>
          <p:cNvSpPr>
            <a:spLocks noGrp="1"/>
          </p:cNvSpPr>
          <p:nvPr>
            <p:ph idx="1"/>
          </p:nvPr>
        </p:nvSpPr>
        <p:spPr/>
        <p:txBody>
          <a:bodyPr/>
          <a:lstStyle/>
          <a:p>
            <a:r>
              <a:rPr lang="zh-TW" altLang="en-US" dirty="0"/>
              <a:t>其中</a:t>
            </a:r>
            <a:r>
              <a:rPr lang="en-US" altLang="zh-TW" dirty="0" err="1"/>
              <a:t>σi</a:t>
            </a:r>
            <a:r>
              <a:rPr lang="zh-TW" altLang="en-US" dirty="0"/>
              <a:t>是可用處理器池上任何給定任務</a:t>
            </a:r>
            <a:r>
              <a:rPr lang="en-US" altLang="zh-TW" dirty="0"/>
              <a:t>Vi</a:t>
            </a:r>
            <a:r>
              <a:rPr lang="zh-TW" altLang="en-US" dirty="0"/>
              <a:t>的計算成本的標準偏差。</a:t>
            </a:r>
            <a:endParaRPr lang="en-US" altLang="zh-TW" dirty="0"/>
          </a:p>
          <a:p>
            <a:r>
              <a:rPr lang="zh-TW" altLang="en-US" dirty="0"/>
              <a:t>但是，</a:t>
            </a:r>
            <a:r>
              <a:rPr lang="zh-TW" altLang="en-US" dirty="0">
                <a:solidFill>
                  <a:srgbClr val="00B050"/>
                </a:solidFill>
              </a:rPr>
              <a:t>計算成本的標準偏差值遠遠低於任務的通信成本權重。 因此，將標準差乘以平均成本作為計算成本權重</a:t>
            </a:r>
            <a:r>
              <a:rPr lang="zh-TW" altLang="en-US" dirty="0">
                <a:solidFill>
                  <a:srgbClr val="FF0000"/>
                </a:solidFill>
              </a:rPr>
              <a:t>。 因此，計算成本差異較大的任務可以獲得更高的優先級，從而提高子節點的傳輸時間</a:t>
            </a:r>
            <a:r>
              <a:rPr lang="zh-TW" altLang="en-US" dirty="0">
                <a:solidFill>
                  <a:srgbClr val="00B050"/>
                </a:solidFill>
              </a:rPr>
              <a:t>。 實際上，與其他最新算法相比，我們的算法</a:t>
            </a:r>
            <a:r>
              <a:rPr lang="en-US" altLang="zh-TW" dirty="0" err="1">
                <a:solidFill>
                  <a:srgbClr val="00B050"/>
                </a:solidFill>
              </a:rPr>
              <a:t>Ranku</a:t>
            </a:r>
            <a:r>
              <a:rPr lang="zh-TW" altLang="en-US" dirty="0">
                <a:solidFill>
                  <a:srgbClr val="00B050"/>
                </a:solidFill>
              </a:rPr>
              <a:t>方程可以產生更好的調度策略，其結果如圖</a:t>
            </a:r>
            <a:r>
              <a:rPr lang="en-US" altLang="zh-TW" dirty="0">
                <a:solidFill>
                  <a:srgbClr val="00B050"/>
                </a:solidFill>
              </a:rPr>
              <a:t>2</a:t>
            </a:r>
            <a:r>
              <a:rPr lang="zh-TW" altLang="en-US" dirty="0">
                <a:solidFill>
                  <a:srgbClr val="00B050"/>
                </a:solidFill>
              </a:rPr>
              <a:t>所示。 我們的方法。 表</a:t>
            </a:r>
            <a:r>
              <a:rPr lang="en-US" altLang="zh-TW" dirty="0">
                <a:solidFill>
                  <a:srgbClr val="00B050"/>
                </a:solidFill>
              </a:rPr>
              <a:t>1</a:t>
            </a:r>
            <a:r>
              <a:rPr lang="zh-TW" altLang="en-US" dirty="0">
                <a:solidFill>
                  <a:srgbClr val="00B050"/>
                </a:solidFill>
              </a:rPr>
              <a:t>顯示了例如圖</a:t>
            </a:r>
            <a:r>
              <a:rPr lang="en-US" altLang="zh-TW" dirty="0">
                <a:solidFill>
                  <a:srgbClr val="00B050"/>
                </a:solidFill>
              </a:rPr>
              <a:t>1</a:t>
            </a:r>
            <a:r>
              <a:rPr lang="zh-TW" altLang="en-US" dirty="0">
                <a:solidFill>
                  <a:srgbClr val="00B050"/>
                </a:solidFill>
              </a:rPr>
              <a:t>提供的每個任務的上位排名。</a:t>
            </a:r>
          </a:p>
        </p:txBody>
      </p:sp>
    </p:spTree>
    <p:extLst>
      <p:ext uri="{BB962C8B-B14F-4D97-AF65-F5344CB8AC3E}">
        <p14:creationId xmlns:p14="http://schemas.microsoft.com/office/powerpoint/2010/main" val="209558472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85E9F8-E3B0-4C6D-AA16-39084ED02908}"/>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08823A72-8D2F-472C-B4AC-0D951B051402}"/>
              </a:ext>
            </a:extLst>
          </p:cNvPr>
          <p:cNvSpPr>
            <a:spLocks noGrp="1"/>
          </p:cNvSpPr>
          <p:nvPr>
            <p:ph idx="1"/>
          </p:nvPr>
        </p:nvSpPr>
        <p:spPr/>
        <p:txBody>
          <a:bodyPr>
            <a:normAutofit/>
          </a:bodyPr>
          <a:lstStyle/>
          <a:p>
            <a:pPr rtl="0"/>
            <a:r>
              <a:rPr lang="zh-TW" altLang="en-US" dirty="0">
                <a:solidFill>
                  <a:srgbClr val="000000"/>
                </a:solidFill>
                <a:effectLst/>
              </a:rPr>
              <a:t>我們觀察到，如果我們遵循僅基於當前任務執行時間選擇處理器的通用策略，就無法獲得最佳的元啟發式調度，因為最佳調度不僅考慮處理時間的立即增加，還考慮了一系列任務的收益。大多數具有二次時間複雜度的基於列表的調度試探法通過僅評估當前任務將任務分配給處理器。這種方法雖然便宜，但無法評估當前任務之前的工作，</a:t>
            </a:r>
            <a:endParaRPr lang="zh-TW" altLang="en-US" dirty="0"/>
          </a:p>
        </p:txBody>
      </p:sp>
    </p:spTree>
    <p:extLst>
      <p:ext uri="{BB962C8B-B14F-4D97-AF65-F5344CB8AC3E}">
        <p14:creationId xmlns:p14="http://schemas.microsoft.com/office/powerpoint/2010/main" val="365448761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075BF8-D893-458E-AA97-D77C05F68A6D}"/>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64510EFA-6EA2-4BD3-B5C7-6855AD41CDFC}"/>
              </a:ext>
            </a:extLst>
          </p:cNvPr>
          <p:cNvSpPr>
            <a:spLocks noGrp="1"/>
          </p:cNvSpPr>
          <p:nvPr>
            <p:ph idx="1"/>
          </p:nvPr>
        </p:nvSpPr>
        <p:spPr/>
        <p:txBody>
          <a:bodyPr>
            <a:normAutofit/>
          </a:bodyPr>
          <a:lstStyle/>
          <a:p>
            <a:r>
              <a:rPr lang="zh-TW" altLang="en-US" dirty="0"/>
              <a:t>預測最早完成時間（</a:t>
            </a:r>
            <a:r>
              <a:rPr lang="en-US" altLang="zh-TW" dirty="0"/>
              <a:t>PEFT</a:t>
            </a:r>
            <a:r>
              <a:rPr lang="zh-TW" altLang="en-US" dirty="0"/>
              <a:t>）。在計算中未考慮處理器可用性，因此計算出的值是一個樂觀的成本。我們的算法僅基於用於對任務進行排名和處理器選擇的</a:t>
            </a:r>
            <a:r>
              <a:rPr lang="en-US" altLang="zh-TW" dirty="0"/>
              <a:t>OCT</a:t>
            </a:r>
            <a:r>
              <a:rPr lang="zh-TW" altLang="en-US" dirty="0"/>
              <a:t>。</a:t>
            </a:r>
          </a:p>
        </p:txBody>
      </p:sp>
    </p:spTree>
    <p:extLst>
      <p:ext uri="{BB962C8B-B14F-4D97-AF65-F5344CB8AC3E}">
        <p14:creationId xmlns:p14="http://schemas.microsoft.com/office/powerpoint/2010/main" val="17827659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4218FB3-C474-4378-9340-355F3598F247}"/>
              </a:ext>
            </a:extLst>
          </p:cNvPr>
          <p:cNvSpPr>
            <a:spLocks noGrp="1"/>
          </p:cNvSpPr>
          <p:nvPr>
            <p:ph type="title"/>
          </p:nvPr>
        </p:nvSpPr>
        <p:spPr/>
        <p:txBody>
          <a:bodyPr/>
          <a:lstStyle/>
          <a:p>
            <a:r>
              <a:rPr lang="en-US" altLang="zh-TW" dirty="0"/>
              <a:t>Predict Earliest Finish Time (PEFT)</a:t>
            </a:r>
            <a:endParaRPr lang="zh-TW" altLang="en-US" dirty="0"/>
          </a:p>
        </p:txBody>
      </p:sp>
      <p:sp>
        <p:nvSpPr>
          <p:cNvPr id="3" name="內容版面配置區 2">
            <a:extLst>
              <a:ext uri="{FF2B5EF4-FFF2-40B4-BE49-F238E27FC236}">
                <a16:creationId xmlns:a16="http://schemas.microsoft.com/office/drawing/2014/main" id="{37B152BD-DBC5-44C5-BCE1-5EEDB972DC5E}"/>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60658800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A961C1FF-1E7A-4F0F-8F56-D31DE4C91131}"/>
              </a:ext>
            </a:extLst>
          </p:cNvPr>
          <p:cNvPicPr>
            <a:picLocks noChangeAspect="1"/>
          </p:cNvPicPr>
          <p:nvPr/>
        </p:nvPicPr>
        <p:blipFill>
          <a:blip r:embed="rId3"/>
          <a:stretch>
            <a:fillRect/>
          </a:stretch>
        </p:blipFill>
        <p:spPr>
          <a:xfrm>
            <a:off x="6366258" y="212996"/>
            <a:ext cx="3543300" cy="3552825"/>
          </a:xfrm>
          <a:prstGeom prst="rect">
            <a:avLst/>
          </a:prstGeom>
        </p:spPr>
      </p:pic>
      <p:pic>
        <p:nvPicPr>
          <p:cNvPr id="5" name="圖片 4">
            <a:extLst>
              <a:ext uri="{FF2B5EF4-FFF2-40B4-BE49-F238E27FC236}">
                <a16:creationId xmlns:a16="http://schemas.microsoft.com/office/drawing/2014/main" id="{9E53AEA5-B58B-471E-A085-092E945B4E09}"/>
              </a:ext>
            </a:extLst>
          </p:cNvPr>
          <p:cNvPicPr>
            <a:picLocks noChangeAspect="1"/>
          </p:cNvPicPr>
          <p:nvPr/>
        </p:nvPicPr>
        <p:blipFill>
          <a:blip r:embed="rId4"/>
          <a:stretch>
            <a:fillRect/>
          </a:stretch>
        </p:blipFill>
        <p:spPr>
          <a:xfrm>
            <a:off x="9945356" y="355330"/>
            <a:ext cx="1981200" cy="2790825"/>
          </a:xfrm>
          <a:prstGeom prst="rect">
            <a:avLst/>
          </a:prstGeom>
        </p:spPr>
      </p:pic>
      <p:graphicFrame>
        <p:nvGraphicFramePr>
          <p:cNvPr id="6" name="表格 4">
            <a:extLst>
              <a:ext uri="{FF2B5EF4-FFF2-40B4-BE49-F238E27FC236}">
                <a16:creationId xmlns:a16="http://schemas.microsoft.com/office/drawing/2014/main" id="{B5ECDB48-0D2F-474E-B867-54DB64C7466B}"/>
              </a:ext>
            </a:extLst>
          </p:cNvPr>
          <p:cNvGraphicFramePr>
            <a:graphicFrameLocks noGrp="1"/>
          </p:cNvGraphicFramePr>
          <p:nvPr>
            <p:extLst>
              <p:ext uri="{D42A27DB-BD31-4B8C-83A1-F6EECF244321}">
                <p14:modId xmlns:p14="http://schemas.microsoft.com/office/powerpoint/2010/main" val="2024885835"/>
              </p:ext>
            </p:extLst>
          </p:nvPr>
        </p:nvGraphicFramePr>
        <p:xfrm>
          <a:off x="0" y="1"/>
          <a:ext cx="6330460" cy="6985640"/>
        </p:xfrm>
        <a:graphic>
          <a:graphicData uri="http://schemas.openxmlformats.org/drawingml/2006/table">
            <a:tbl>
              <a:tblPr firstRow="1" bandRow="1">
                <a:tableStyleId>{5C22544A-7EE6-4342-B048-85BDC9FD1C3A}</a:tableStyleId>
              </a:tblPr>
              <a:tblGrid>
                <a:gridCol w="1266092">
                  <a:extLst>
                    <a:ext uri="{9D8B030D-6E8A-4147-A177-3AD203B41FA5}">
                      <a16:colId xmlns:a16="http://schemas.microsoft.com/office/drawing/2014/main" val="239911059"/>
                    </a:ext>
                  </a:extLst>
                </a:gridCol>
                <a:gridCol w="1266092">
                  <a:extLst>
                    <a:ext uri="{9D8B030D-6E8A-4147-A177-3AD203B41FA5}">
                      <a16:colId xmlns:a16="http://schemas.microsoft.com/office/drawing/2014/main" val="2696759501"/>
                    </a:ext>
                  </a:extLst>
                </a:gridCol>
                <a:gridCol w="1266092">
                  <a:extLst>
                    <a:ext uri="{9D8B030D-6E8A-4147-A177-3AD203B41FA5}">
                      <a16:colId xmlns:a16="http://schemas.microsoft.com/office/drawing/2014/main" val="802323705"/>
                    </a:ext>
                  </a:extLst>
                </a:gridCol>
                <a:gridCol w="1266092">
                  <a:extLst>
                    <a:ext uri="{9D8B030D-6E8A-4147-A177-3AD203B41FA5}">
                      <a16:colId xmlns:a16="http://schemas.microsoft.com/office/drawing/2014/main" val="111345989"/>
                    </a:ext>
                  </a:extLst>
                </a:gridCol>
                <a:gridCol w="1266092">
                  <a:extLst>
                    <a:ext uri="{9D8B030D-6E8A-4147-A177-3AD203B41FA5}">
                      <a16:colId xmlns:a16="http://schemas.microsoft.com/office/drawing/2014/main" val="1167941338"/>
                    </a:ext>
                  </a:extLst>
                </a:gridCol>
              </a:tblGrid>
              <a:tr h="544648">
                <a:tc>
                  <a:txBody>
                    <a:bodyPr/>
                    <a:lstStyle/>
                    <a:p>
                      <a:r>
                        <a:rPr lang="en-US" altLang="zh-TW" sz="1600" b="0" dirty="0">
                          <a:solidFill>
                            <a:schemeClr val="tx1"/>
                          </a:solidFill>
                        </a:rPr>
                        <a:t>Task</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P1</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P2</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P3</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sz="1600" b="0" dirty="0">
                          <a:solidFill>
                            <a:schemeClr val="tx1"/>
                          </a:solidFill>
                          <a:latin typeface="標楷體" panose="03000509000000000000" pitchFamily="65" charset="-120"/>
                          <a:ea typeface="標楷體" panose="03000509000000000000" pitchFamily="65" charset="-120"/>
                        </a:rPr>
                        <a:t>平均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544648">
                <a:tc>
                  <a:txBody>
                    <a:bodyPr/>
                    <a:lstStyle/>
                    <a:p>
                      <a:r>
                        <a:rPr lang="en-US" altLang="zh-TW" sz="1600" b="0" dirty="0">
                          <a:solidFill>
                            <a:schemeClr val="tx1"/>
                          </a:solidFill>
                        </a:rPr>
                        <a:t>T1</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544648">
                <a:tc>
                  <a:txBody>
                    <a:bodyPr/>
                    <a:lstStyle/>
                    <a:p>
                      <a:r>
                        <a:rPr lang="en-US" altLang="zh-TW" sz="1600" b="0" dirty="0">
                          <a:solidFill>
                            <a:schemeClr val="tx1"/>
                          </a:solidFill>
                        </a:rPr>
                        <a:t>T2</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544648">
                <a:tc>
                  <a:txBody>
                    <a:bodyPr/>
                    <a:lstStyle/>
                    <a:p>
                      <a:r>
                        <a:rPr lang="en-US" altLang="zh-TW" sz="1600" b="0" dirty="0">
                          <a:solidFill>
                            <a:schemeClr val="tx1"/>
                          </a:solidFill>
                        </a:rPr>
                        <a:t>T3</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669382">
                <a:tc>
                  <a:txBody>
                    <a:bodyPr/>
                    <a:lstStyle/>
                    <a:p>
                      <a:r>
                        <a:rPr lang="en-US" altLang="zh-TW" sz="1600" b="0" dirty="0">
                          <a:solidFill>
                            <a:schemeClr val="tx1"/>
                          </a:solidFill>
                        </a:rPr>
                        <a:t>T4</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544648">
                <a:tc>
                  <a:txBody>
                    <a:bodyPr/>
                    <a:lstStyle/>
                    <a:p>
                      <a:r>
                        <a:rPr lang="en-US" altLang="zh-TW" sz="1600" b="0" dirty="0">
                          <a:solidFill>
                            <a:schemeClr val="tx1"/>
                          </a:solidFill>
                        </a:rPr>
                        <a:t>T5</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544648">
                <a:tc>
                  <a:txBody>
                    <a:bodyPr/>
                    <a:lstStyle/>
                    <a:p>
                      <a:r>
                        <a:rPr lang="en-US" altLang="zh-TW" sz="1600" b="0" dirty="0">
                          <a:solidFill>
                            <a:schemeClr val="tx1"/>
                          </a:solidFill>
                        </a:rPr>
                        <a:t>T6</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544648">
                <a:tc>
                  <a:txBody>
                    <a:bodyPr/>
                    <a:lstStyle/>
                    <a:p>
                      <a:r>
                        <a:rPr lang="en-US" altLang="zh-TW" sz="1600" b="0" dirty="0">
                          <a:solidFill>
                            <a:schemeClr val="tx1"/>
                          </a:solidFill>
                        </a:rPr>
                        <a:t>T7</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rgbClr val="FF0000"/>
                          </a:solidFill>
                          <a:latin typeface="標楷體" panose="03000509000000000000" pitchFamily="65" charset="-120"/>
                          <a:ea typeface="標楷體" panose="03000509000000000000" pitchFamily="65" charset="-120"/>
                        </a:rPr>
                        <a:t>21</a:t>
                      </a:r>
                    </a:p>
                    <a:p>
                      <a:r>
                        <a:rPr lang="en-US" altLang="zh-TW" sz="1600" b="0" dirty="0">
                          <a:solidFill>
                            <a:schemeClr val="tx1"/>
                          </a:solidFill>
                          <a:latin typeface="標楷體" panose="03000509000000000000" pitchFamily="65" charset="-120"/>
                          <a:ea typeface="標楷體" panose="03000509000000000000" pitchFamily="65" charset="-120"/>
                        </a:rPr>
                        <a:t>7+17</a:t>
                      </a:r>
                    </a:p>
                    <a:p>
                      <a:r>
                        <a:rPr lang="en-US" altLang="zh-TW" sz="1600" b="0" dirty="0">
                          <a:solidFill>
                            <a:schemeClr val="tx1"/>
                          </a:solidFill>
                          <a:latin typeface="標楷體" panose="03000509000000000000" pitchFamily="65" charset="-120"/>
                          <a:ea typeface="標楷體" panose="03000509000000000000" pitchFamily="65" charset="-120"/>
                        </a:rPr>
                        <a:t>16+17</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21+17</a:t>
                      </a:r>
                    </a:p>
                    <a:p>
                      <a:r>
                        <a:rPr lang="en-US" altLang="zh-TW" sz="1600" b="0" dirty="0">
                          <a:solidFill>
                            <a:srgbClr val="FF0000"/>
                          </a:solidFill>
                          <a:latin typeface="標楷體" panose="03000509000000000000" pitchFamily="65" charset="-120"/>
                          <a:ea typeface="標楷體" panose="03000509000000000000" pitchFamily="65" charset="-120"/>
                        </a:rPr>
                        <a:t>7</a:t>
                      </a:r>
                    </a:p>
                    <a:p>
                      <a:r>
                        <a:rPr lang="en-US" altLang="zh-TW" sz="1600" b="0" dirty="0">
                          <a:solidFill>
                            <a:schemeClr val="tx1"/>
                          </a:solidFill>
                          <a:latin typeface="標楷體" panose="03000509000000000000" pitchFamily="65" charset="-120"/>
                          <a:ea typeface="標楷體" panose="03000509000000000000" pitchFamily="65" charset="-120"/>
                        </a:rPr>
                        <a:t>16+17</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21+17</a:t>
                      </a:r>
                    </a:p>
                    <a:p>
                      <a:r>
                        <a:rPr lang="en-US" altLang="zh-TW" sz="1600" b="0" dirty="0">
                          <a:solidFill>
                            <a:schemeClr val="tx1"/>
                          </a:solidFill>
                          <a:latin typeface="標楷體" panose="03000509000000000000" pitchFamily="65" charset="-120"/>
                          <a:ea typeface="標楷體" panose="03000509000000000000" pitchFamily="65" charset="-120"/>
                        </a:rPr>
                        <a:t>7+17</a:t>
                      </a:r>
                    </a:p>
                    <a:p>
                      <a:r>
                        <a:rPr lang="en-US" altLang="zh-TW" sz="1600" b="0" dirty="0">
                          <a:solidFill>
                            <a:srgbClr val="FF0000"/>
                          </a:solidFill>
                          <a:latin typeface="標楷體" panose="03000509000000000000" pitchFamily="65" charset="-120"/>
                          <a:ea typeface="標楷體" panose="03000509000000000000" pitchFamily="65" charset="-120"/>
                        </a:rPr>
                        <a:t>16</a:t>
                      </a:r>
                      <a:endParaRPr lang="zh-TW" altLang="en-US" sz="1600" b="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rgbClr val="FF0000"/>
                          </a:solidFill>
                          <a:latin typeface="標楷體" panose="03000509000000000000" pitchFamily="65" charset="-120"/>
                          <a:ea typeface="標楷體" panose="03000509000000000000" pitchFamily="65" charset="-120"/>
                        </a:rPr>
                        <a:t>21+7+16</a:t>
                      </a:r>
                    </a:p>
                    <a:p>
                      <a:endParaRPr lang="en-US" altLang="zh-TW" sz="1600" b="0" dirty="0">
                        <a:solidFill>
                          <a:schemeClr val="tx1"/>
                        </a:solidFill>
                        <a:latin typeface="標楷體" panose="03000509000000000000" pitchFamily="65" charset="-120"/>
                        <a:ea typeface="標楷體" panose="03000509000000000000" pitchFamily="65" charset="-120"/>
                      </a:endParaRPr>
                    </a:p>
                    <a:p>
                      <a:r>
                        <a:rPr lang="en-US" altLang="zh-TW" sz="1600" b="0" dirty="0">
                          <a:solidFill>
                            <a:schemeClr val="tx1"/>
                          </a:solidFill>
                          <a:latin typeface="標楷體" panose="03000509000000000000" pitchFamily="65" charset="-120"/>
                          <a:ea typeface="標楷體" panose="03000509000000000000" pitchFamily="65" charset="-120"/>
                        </a:rPr>
                        <a:t>44/3=14.67</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685541">
                <a:tc>
                  <a:txBody>
                    <a:bodyPr/>
                    <a:lstStyle/>
                    <a:p>
                      <a:r>
                        <a:rPr lang="en-US" altLang="zh-TW" sz="1600" b="0" dirty="0">
                          <a:solidFill>
                            <a:schemeClr val="tx1"/>
                          </a:solidFill>
                        </a:rPr>
                        <a:t>T8</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21</a:t>
                      </a:r>
                    </a:p>
                    <a:p>
                      <a:r>
                        <a:rPr lang="en-US" altLang="zh-TW" sz="1600" b="0" dirty="0">
                          <a:solidFill>
                            <a:srgbClr val="0070C0"/>
                          </a:solidFill>
                          <a:latin typeface="標楷體" panose="03000509000000000000" pitchFamily="65" charset="-120"/>
                          <a:ea typeface="標楷體" panose="03000509000000000000" pitchFamily="65" charset="-120"/>
                        </a:rPr>
                        <a:t>7+11</a:t>
                      </a:r>
                    </a:p>
                    <a:p>
                      <a:r>
                        <a:rPr lang="en-US" altLang="zh-TW" sz="1600" b="0" dirty="0">
                          <a:solidFill>
                            <a:schemeClr val="tx1"/>
                          </a:solidFill>
                          <a:latin typeface="標楷體" panose="03000509000000000000" pitchFamily="65" charset="-120"/>
                          <a:ea typeface="標楷體" panose="03000509000000000000" pitchFamily="65" charset="-120"/>
                        </a:rPr>
                        <a:t>16+11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21+11</a:t>
                      </a:r>
                    </a:p>
                    <a:p>
                      <a:r>
                        <a:rPr lang="en-US" altLang="zh-TW" sz="1600" b="0" dirty="0">
                          <a:solidFill>
                            <a:srgbClr val="0070C0"/>
                          </a:solidFill>
                          <a:latin typeface="標楷體" panose="03000509000000000000" pitchFamily="65" charset="-120"/>
                          <a:ea typeface="標楷體" panose="03000509000000000000" pitchFamily="65" charset="-120"/>
                        </a:rPr>
                        <a:t>7</a:t>
                      </a:r>
                    </a:p>
                    <a:p>
                      <a:r>
                        <a:rPr lang="en-US" altLang="zh-TW" sz="1600" b="0" dirty="0">
                          <a:solidFill>
                            <a:schemeClr val="tx1"/>
                          </a:solidFill>
                          <a:latin typeface="標楷體" panose="03000509000000000000" pitchFamily="65" charset="-120"/>
                          <a:ea typeface="標楷體" panose="03000509000000000000" pitchFamily="65" charset="-120"/>
                        </a:rPr>
                        <a:t>21+11</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21+11</a:t>
                      </a:r>
                    </a:p>
                    <a:p>
                      <a:r>
                        <a:rPr lang="en-US" altLang="zh-TW" sz="1600" b="0" dirty="0">
                          <a:solidFill>
                            <a:schemeClr val="tx1"/>
                          </a:solidFill>
                          <a:latin typeface="標楷體" panose="03000509000000000000" pitchFamily="65" charset="-120"/>
                          <a:ea typeface="標楷體" panose="03000509000000000000" pitchFamily="65" charset="-120"/>
                        </a:rPr>
                        <a:t>7+11</a:t>
                      </a:r>
                    </a:p>
                    <a:p>
                      <a:r>
                        <a:rPr lang="en-US" altLang="zh-TW" sz="1600" b="0" dirty="0">
                          <a:solidFill>
                            <a:srgbClr val="0070C0"/>
                          </a:solidFill>
                          <a:latin typeface="標楷體" panose="03000509000000000000" pitchFamily="65" charset="-120"/>
                          <a:ea typeface="標楷體" panose="03000509000000000000" pitchFamily="65" charset="-12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rgbClr val="0070C0"/>
                          </a:solidFill>
                          <a:latin typeface="標楷體" panose="03000509000000000000" pitchFamily="65" charset="-120"/>
                          <a:ea typeface="標楷體" panose="03000509000000000000" pitchFamily="65" charset="-120"/>
                        </a:rPr>
                        <a:t>18+7+16</a:t>
                      </a:r>
                    </a:p>
                    <a:p>
                      <a:endParaRPr lang="en-US" altLang="zh-TW" sz="1600" b="0" dirty="0">
                        <a:solidFill>
                          <a:schemeClr val="tx1"/>
                        </a:solidFill>
                        <a:latin typeface="標楷體" panose="03000509000000000000" pitchFamily="65" charset="-120"/>
                        <a:ea typeface="標楷體" panose="03000509000000000000" pitchFamily="65" charset="-120"/>
                      </a:endParaRPr>
                    </a:p>
                    <a:p>
                      <a:r>
                        <a:rPr lang="en-US" altLang="zh-TW" sz="1600" b="0" dirty="0">
                          <a:solidFill>
                            <a:schemeClr val="tx1"/>
                          </a:solidFill>
                          <a:latin typeface="標楷體" panose="03000509000000000000" pitchFamily="65" charset="-120"/>
                          <a:ea typeface="標楷體" panose="03000509000000000000" pitchFamily="65" charset="-120"/>
                        </a:rPr>
                        <a:t>41/3=13.67</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857802">
                <a:tc>
                  <a:txBody>
                    <a:bodyPr/>
                    <a:lstStyle/>
                    <a:p>
                      <a:r>
                        <a:rPr lang="en-US" altLang="zh-TW" sz="1600" b="0" dirty="0">
                          <a:solidFill>
                            <a:schemeClr val="tx1"/>
                          </a:solidFill>
                        </a:rPr>
                        <a:t>T9</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21</a:t>
                      </a:r>
                    </a:p>
                    <a:p>
                      <a:r>
                        <a:rPr lang="en-US" altLang="zh-TW" sz="1600" b="0" dirty="0">
                          <a:solidFill>
                            <a:srgbClr val="00B050"/>
                          </a:solidFill>
                          <a:latin typeface="標楷體" panose="03000509000000000000" pitchFamily="65" charset="-120"/>
                          <a:ea typeface="標楷體" panose="03000509000000000000" pitchFamily="65" charset="-120"/>
                        </a:rPr>
                        <a:t>7+13</a:t>
                      </a:r>
                    </a:p>
                    <a:p>
                      <a:r>
                        <a:rPr lang="en-US" altLang="zh-TW" sz="1600" b="0" dirty="0">
                          <a:solidFill>
                            <a:schemeClr val="tx1"/>
                          </a:solidFill>
                          <a:latin typeface="標楷體" panose="03000509000000000000" pitchFamily="65" charset="-120"/>
                          <a:ea typeface="標楷體" panose="03000509000000000000" pitchFamily="65" charset="-120"/>
                        </a:rPr>
                        <a:t>16+13</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21+13</a:t>
                      </a:r>
                    </a:p>
                    <a:p>
                      <a:r>
                        <a:rPr lang="en-US" altLang="zh-TW" sz="1600" b="0" dirty="0">
                          <a:solidFill>
                            <a:srgbClr val="00B050"/>
                          </a:solidFill>
                          <a:latin typeface="標楷體" panose="03000509000000000000" pitchFamily="65" charset="-120"/>
                          <a:ea typeface="標楷體" panose="03000509000000000000" pitchFamily="65" charset="-120"/>
                        </a:rPr>
                        <a:t>7</a:t>
                      </a:r>
                    </a:p>
                    <a:p>
                      <a:r>
                        <a:rPr lang="en-US" altLang="zh-TW" sz="1600" b="0" dirty="0">
                          <a:solidFill>
                            <a:schemeClr val="tx1"/>
                          </a:solidFill>
                          <a:latin typeface="標楷體" panose="03000509000000000000" pitchFamily="65" charset="-120"/>
                          <a:ea typeface="標楷體" panose="03000509000000000000" pitchFamily="65" charset="-120"/>
                        </a:rPr>
                        <a:t>16+13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21+13</a:t>
                      </a:r>
                    </a:p>
                    <a:p>
                      <a:r>
                        <a:rPr lang="en-US" altLang="zh-TW" sz="1600" b="0" dirty="0">
                          <a:solidFill>
                            <a:schemeClr val="tx1"/>
                          </a:solidFill>
                          <a:latin typeface="標楷體" panose="03000509000000000000" pitchFamily="65" charset="-120"/>
                          <a:ea typeface="標楷體" panose="03000509000000000000" pitchFamily="65" charset="-120"/>
                        </a:rPr>
                        <a:t>7+13</a:t>
                      </a:r>
                    </a:p>
                    <a:p>
                      <a:r>
                        <a:rPr lang="en-US" altLang="zh-TW" sz="1600" b="0" dirty="0">
                          <a:solidFill>
                            <a:srgbClr val="00B050"/>
                          </a:solidFill>
                          <a:latin typeface="標楷體" panose="03000509000000000000" pitchFamily="65" charset="-120"/>
                          <a:ea typeface="標楷體" panose="03000509000000000000" pitchFamily="65" charset="-120"/>
                        </a:rPr>
                        <a:t>16</a:t>
                      </a:r>
                      <a:endParaRPr lang="zh-TW" altLang="en-US" sz="1600" b="0" dirty="0">
                        <a:solidFill>
                          <a:srgbClr val="00B05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rgbClr val="00B050"/>
                          </a:solidFill>
                          <a:latin typeface="標楷體" panose="03000509000000000000" pitchFamily="65" charset="-120"/>
                          <a:ea typeface="標楷體" panose="03000509000000000000" pitchFamily="65" charset="-120"/>
                        </a:rPr>
                        <a:t>20+7+16</a:t>
                      </a:r>
                    </a:p>
                    <a:p>
                      <a:endParaRPr lang="en-US" altLang="zh-TW" sz="1600" b="0" dirty="0">
                        <a:solidFill>
                          <a:schemeClr val="tx1"/>
                        </a:solidFill>
                        <a:latin typeface="標楷體" panose="03000509000000000000" pitchFamily="65" charset="-120"/>
                        <a:ea typeface="標楷體" panose="03000509000000000000" pitchFamily="65" charset="-120"/>
                      </a:endParaRPr>
                    </a:p>
                    <a:p>
                      <a:r>
                        <a:rPr lang="en-US" altLang="zh-TW" sz="1600" b="0" dirty="0">
                          <a:solidFill>
                            <a:schemeClr val="tx1"/>
                          </a:solidFill>
                          <a:latin typeface="標楷體" panose="03000509000000000000" pitchFamily="65" charset="-120"/>
                          <a:ea typeface="標楷體" panose="03000509000000000000" pitchFamily="65" charset="-120"/>
                        </a:rPr>
                        <a:t>43/3=14.34</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544648">
                <a:tc>
                  <a:txBody>
                    <a:bodyPr/>
                    <a:lstStyle/>
                    <a:p>
                      <a:r>
                        <a:rPr lang="en-US" altLang="zh-TW" sz="1600" b="0" dirty="0">
                          <a:solidFill>
                            <a:schemeClr val="tx1"/>
                          </a:solidFill>
                        </a:rPr>
                        <a:t>T10</a:t>
                      </a:r>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0</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0</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0</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標楷體" panose="03000509000000000000" pitchFamily="65" charset="-120"/>
                          <a:ea typeface="標楷體" panose="03000509000000000000" pitchFamily="65" charset="-120"/>
                        </a:rPr>
                        <a:t>0</a:t>
                      </a:r>
                      <a:endParaRPr lang="zh-TW" altLang="en-US" sz="16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7" name="圖片 6">
            <a:extLst>
              <a:ext uri="{FF2B5EF4-FFF2-40B4-BE49-F238E27FC236}">
                <a16:creationId xmlns:a16="http://schemas.microsoft.com/office/drawing/2014/main" id="{AF70F975-1700-48B9-9D10-C16BE52FAF2A}"/>
              </a:ext>
            </a:extLst>
          </p:cNvPr>
          <p:cNvPicPr>
            <a:picLocks noChangeAspect="1"/>
          </p:cNvPicPr>
          <p:nvPr/>
        </p:nvPicPr>
        <p:blipFill>
          <a:blip r:embed="rId5"/>
          <a:stretch>
            <a:fillRect/>
          </a:stretch>
        </p:blipFill>
        <p:spPr>
          <a:xfrm>
            <a:off x="6466270" y="4755199"/>
            <a:ext cx="6886575" cy="1114425"/>
          </a:xfrm>
          <a:prstGeom prst="rect">
            <a:avLst/>
          </a:prstGeom>
        </p:spPr>
      </p:pic>
      <p:pic>
        <p:nvPicPr>
          <p:cNvPr id="10" name="圖片 9">
            <a:extLst>
              <a:ext uri="{FF2B5EF4-FFF2-40B4-BE49-F238E27FC236}">
                <a16:creationId xmlns:a16="http://schemas.microsoft.com/office/drawing/2014/main" id="{BDE77E92-75DA-46B7-94E7-3D16CF787837}"/>
              </a:ext>
            </a:extLst>
          </p:cNvPr>
          <p:cNvPicPr>
            <a:picLocks noChangeAspect="1"/>
          </p:cNvPicPr>
          <p:nvPr/>
        </p:nvPicPr>
        <p:blipFill>
          <a:blip r:embed="rId6"/>
          <a:stretch>
            <a:fillRect/>
          </a:stretch>
        </p:blipFill>
        <p:spPr>
          <a:xfrm>
            <a:off x="8647260" y="5824537"/>
            <a:ext cx="3131449" cy="820467"/>
          </a:xfrm>
          <a:prstGeom prst="rect">
            <a:avLst/>
          </a:prstGeom>
        </p:spPr>
      </p:pic>
    </p:spTree>
    <p:extLst>
      <p:ext uri="{BB962C8B-B14F-4D97-AF65-F5344CB8AC3E}">
        <p14:creationId xmlns:p14="http://schemas.microsoft.com/office/powerpoint/2010/main" val="34891386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A961C1FF-1E7A-4F0F-8F56-D31DE4C91131}"/>
              </a:ext>
            </a:extLst>
          </p:cNvPr>
          <p:cNvPicPr>
            <a:picLocks noChangeAspect="1"/>
          </p:cNvPicPr>
          <p:nvPr/>
        </p:nvPicPr>
        <p:blipFill>
          <a:blip r:embed="rId2"/>
          <a:stretch>
            <a:fillRect/>
          </a:stretch>
        </p:blipFill>
        <p:spPr>
          <a:xfrm>
            <a:off x="6015404" y="403915"/>
            <a:ext cx="3543300" cy="3552825"/>
          </a:xfrm>
          <a:prstGeom prst="rect">
            <a:avLst/>
          </a:prstGeom>
        </p:spPr>
      </p:pic>
      <p:pic>
        <p:nvPicPr>
          <p:cNvPr id="5" name="圖片 4">
            <a:extLst>
              <a:ext uri="{FF2B5EF4-FFF2-40B4-BE49-F238E27FC236}">
                <a16:creationId xmlns:a16="http://schemas.microsoft.com/office/drawing/2014/main" id="{9E53AEA5-B58B-471E-A085-092E945B4E09}"/>
              </a:ext>
            </a:extLst>
          </p:cNvPr>
          <p:cNvPicPr>
            <a:picLocks noChangeAspect="1"/>
          </p:cNvPicPr>
          <p:nvPr/>
        </p:nvPicPr>
        <p:blipFill>
          <a:blip r:embed="rId3"/>
          <a:stretch>
            <a:fillRect/>
          </a:stretch>
        </p:blipFill>
        <p:spPr>
          <a:xfrm>
            <a:off x="9773645" y="611083"/>
            <a:ext cx="1981200" cy="2790825"/>
          </a:xfrm>
          <a:prstGeom prst="rect">
            <a:avLst/>
          </a:prstGeom>
        </p:spPr>
      </p:pic>
      <p:graphicFrame>
        <p:nvGraphicFramePr>
          <p:cNvPr id="6" name="表格 4">
            <a:extLst>
              <a:ext uri="{FF2B5EF4-FFF2-40B4-BE49-F238E27FC236}">
                <a16:creationId xmlns:a16="http://schemas.microsoft.com/office/drawing/2014/main" id="{B5ECDB48-0D2F-474E-B867-54DB64C7466B}"/>
              </a:ext>
            </a:extLst>
          </p:cNvPr>
          <p:cNvGraphicFramePr>
            <a:graphicFrameLocks noGrp="1"/>
          </p:cNvGraphicFramePr>
          <p:nvPr>
            <p:extLst>
              <p:ext uri="{D42A27DB-BD31-4B8C-83A1-F6EECF244321}">
                <p14:modId xmlns:p14="http://schemas.microsoft.com/office/powerpoint/2010/main" val="3813122625"/>
              </p:ext>
            </p:extLst>
          </p:nvPr>
        </p:nvGraphicFramePr>
        <p:xfrm>
          <a:off x="120476" y="-1185705"/>
          <a:ext cx="6011687" cy="8596182"/>
        </p:xfrm>
        <a:graphic>
          <a:graphicData uri="http://schemas.openxmlformats.org/drawingml/2006/table">
            <a:tbl>
              <a:tblPr firstRow="1" bandRow="1">
                <a:tableStyleId>{5C22544A-7EE6-4342-B048-85BDC9FD1C3A}</a:tableStyleId>
              </a:tblPr>
              <a:tblGrid>
                <a:gridCol w="792016">
                  <a:extLst>
                    <a:ext uri="{9D8B030D-6E8A-4147-A177-3AD203B41FA5}">
                      <a16:colId xmlns:a16="http://schemas.microsoft.com/office/drawing/2014/main" val="239911059"/>
                    </a:ext>
                  </a:extLst>
                </a:gridCol>
                <a:gridCol w="1097372">
                  <a:extLst>
                    <a:ext uri="{9D8B030D-6E8A-4147-A177-3AD203B41FA5}">
                      <a16:colId xmlns:a16="http://schemas.microsoft.com/office/drawing/2014/main" val="2696759501"/>
                    </a:ext>
                  </a:extLst>
                </a:gridCol>
                <a:gridCol w="1173710">
                  <a:extLst>
                    <a:ext uri="{9D8B030D-6E8A-4147-A177-3AD203B41FA5}">
                      <a16:colId xmlns:a16="http://schemas.microsoft.com/office/drawing/2014/main" val="802323705"/>
                    </a:ext>
                  </a:extLst>
                </a:gridCol>
                <a:gridCol w="1285852">
                  <a:extLst>
                    <a:ext uri="{9D8B030D-6E8A-4147-A177-3AD203B41FA5}">
                      <a16:colId xmlns:a16="http://schemas.microsoft.com/office/drawing/2014/main" val="111345989"/>
                    </a:ext>
                  </a:extLst>
                </a:gridCol>
                <a:gridCol w="1662737">
                  <a:extLst>
                    <a:ext uri="{9D8B030D-6E8A-4147-A177-3AD203B41FA5}">
                      <a16:colId xmlns:a16="http://schemas.microsoft.com/office/drawing/2014/main" val="1167941338"/>
                    </a:ext>
                  </a:extLst>
                </a:gridCol>
              </a:tblGrid>
              <a:tr h="311499">
                <a:tc>
                  <a:txBody>
                    <a:bodyPr/>
                    <a:lstStyle/>
                    <a:p>
                      <a:r>
                        <a:rPr lang="en-US" altLang="zh-TW" sz="1400" b="0" dirty="0">
                          <a:solidFill>
                            <a:schemeClr val="tx1"/>
                          </a:solidFill>
                        </a:rPr>
                        <a:t>Task</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P1</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P2</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P3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sz="1400" b="0" dirty="0">
                          <a:solidFill>
                            <a:schemeClr val="tx1"/>
                          </a:solidFill>
                          <a:latin typeface="標楷體" panose="03000509000000000000" pitchFamily="65" charset="-120"/>
                          <a:ea typeface="標楷體" panose="03000509000000000000" pitchFamily="65" charset="-120"/>
                        </a:rPr>
                        <a:t>平均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90054">
                <a:tc>
                  <a:txBody>
                    <a:bodyPr/>
                    <a:lstStyle/>
                    <a:p>
                      <a:r>
                        <a:rPr lang="en-US" altLang="zh-TW" sz="1400" b="0" dirty="0">
                          <a:solidFill>
                            <a:schemeClr val="tx1"/>
                          </a:solidFill>
                        </a:rPr>
                        <a:t>T1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38+13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19+19</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36+18</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51+38+54</a:t>
                      </a:r>
                    </a:p>
                    <a:p>
                      <a:r>
                        <a:rPr lang="en-US" altLang="zh-TW" sz="1400" b="0" dirty="0">
                          <a:solidFill>
                            <a:schemeClr val="tx1"/>
                          </a:solidFill>
                          <a:latin typeface="標楷體" panose="03000509000000000000" pitchFamily="65" charset="-120"/>
                          <a:ea typeface="標楷體" panose="03000509000000000000" pitchFamily="65" charset="-120"/>
                        </a:rPr>
                        <a:t>143/3=43.67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691840">
                <a:tc rowSpan="2">
                  <a:txBody>
                    <a:bodyPr/>
                    <a:lstStyle/>
                    <a:p>
                      <a:r>
                        <a:rPr lang="en-US" altLang="zh-TW" sz="1400" b="0" dirty="0">
                          <a:solidFill>
                            <a:schemeClr val="tx1"/>
                          </a:solidFill>
                        </a:rPr>
                        <a:t>T2(T8)</a:t>
                      </a:r>
                    </a:p>
                    <a:p>
                      <a:endParaRPr lang="en-US" altLang="zh-TW" sz="1400" b="0" dirty="0">
                        <a:solidFill>
                          <a:schemeClr val="tx1"/>
                        </a:solidFill>
                      </a:endParaRPr>
                    </a:p>
                    <a:p>
                      <a:endParaRPr lang="en-US" altLang="zh-TW" sz="1400" b="0" dirty="0">
                        <a:solidFill>
                          <a:schemeClr val="tx1"/>
                        </a:solidFill>
                      </a:endParaRPr>
                    </a:p>
                    <a:p>
                      <a:r>
                        <a:rPr lang="en-US" altLang="zh-TW" sz="1400" b="0" dirty="0">
                          <a:solidFill>
                            <a:schemeClr val="tx1"/>
                          </a:solidFill>
                        </a:rPr>
                        <a:t>T2(T9)</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a:t>
                      </a:r>
                    </a:p>
                    <a:p>
                      <a:r>
                        <a:rPr lang="en-US" altLang="zh-TW" sz="1400" b="0" dirty="0">
                          <a:solidFill>
                            <a:schemeClr val="tx1"/>
                          </a:solidFill>
                          <a:latin typeface="標楷體" panose="03000509000000000000" pitchFamily="65" charset="-120"/>
                          <a:ea typeface="標楷體" panose="03000509000000000000" pitchFamily="65" charset="-120"/>
                        </a:rPr>
                        <a:t>7+11+16</a:t>
                      </a:r>
                    </a:p>
                    <a:p>
                      <a:r>
                        <a:rPr lang="en-US" altLang="zh-TW" sz="1400" b="0" dirty="0">
                          <a:solidFill>
                            <a:schemeClr val="tx1"/>
                          </a:solidFill>
                          <a:latin typeface="標楷體" panose="03000509000000000000" pitchFamily="65" charset="-120"/>
                          <a:ea typeface="標楷體" panose="03000509000000000000" pitchFamily="65" charset="-120"/>
                        </a:rPr>
                        <a:t>16+14+16</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18+5+16</a:t>
                      </a:r>
                    </a:p>
                    <a:p>
                      <a:r>
                        <a:rPr lang="en-US" altLang="zh-TW" sz="1400" b="0" dirty="0">
                          <a:solidFill>
                            <a:schemeClr val="tx1"/>
                          </a:solidFill>
                          <a:latin typeface="標楷體" panose="03000509000000000000" pitchFamily="65" charset="-120"/>
                          <a:ea typeface="標楷體" panose="03000509000000000000" pitchFamily="65" charset="-120"/>
                        </a:rPr>
                        <a:t>7+11</a:t>
                      </a:r>
                    </a:p>
                    <a:p>
                      <a:r>
                        <a:rPr lang="en-US" altLang="zh-TW" sz="1400" b="0" dirty="0">
                          <a:solidFill>
                            <a:schemeClr val="tx1"/>
                          </a:solidFill>
                          <a:latin typeface="標楷體" panose="03000509000000000000" pitchFamily="65" charset="-120"/>
                          <a:ea typeface="標楷體" panose="03000509000000000000" pitchFamily="65" charset="-120"/>
                        </a:rPr>
                        <a:t>16+14+16</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18+5+16</a:t>
                      </a:r>
                    </a:p>
                    <a:p>
                      <a:r>
                        <a:rPr lang="en-US" altLang="zh-TW" sz="1400" b="0" dirty="0">
                          <a:solidFill>
                            <a:schemeClr val="tx1"/>
                          </a:solidFill>
                          <a:latin typeface="標楷體" panose="03000509000000000000" pitchFamily="65" charset="-120"/>
                          <a:ea typeface="標楷體" panose="03000509000000000000" pitchFamily="65" charset="-120"/>
                        </a:rPr>
                        <a:t>7+11+16</a:t>
                      </a:r>
                    </a:p>
                    <a:p>
                      <a:r>
                        <a:rPr lang="en-US" altLang="zh-TW" sz="1400" b="0" dirty="0">
                          <a:solidFill>
                            <a:schemeClr val="tx1"/>
                          </a:solidFill>
                          <a:latin typeface="標楷體" panose="03000509000000000000" pitchFamily="65" charset="-120"/>
                          <a:ea typeface="標楷體" panose="03000509000000000000" pitchFamily="65" charset="-120"/>
                        </a:rPr>
                        <a:t>16+14</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23+18+30</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71/3=23.67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691840">
                <a:tc vMerge="1">
                  <a:txBody>
                    <a:bodyPr/>
                    <a:lstStyle/>
                    <a:p>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a:t>
                      </a:r>
                    </a:p>
                    <a:p>
                      <a:r>
                        <a:rPr lang="en-US" altLang="zh-TW" sz="1400" b="0" dirty="0">
                          <a:solidFill>
                            <a:schemeClr val="tx1"/>
                          </a:solidFill>
                          <a:latin typeface="標楷體" panose="03000509000000000000" pitchFamily="65" charset="-120"/>
                          <a:ea typeface="標楷體" panose="03000509000000000000" pitchFamily="65" charset="-120"/>
                        </a:rPr>
                        <a:t>7+12+19</a:t>
                      </a:r>
                    </a:p>
                    <a:p>
                      <a:r>
                        <a:rPr lang="en-US" altLang="zh-TW" sz="1400" b="0" dirty="0">
                          <a:solidFill>
                            <a:schemeClr val="tx1"/>
                          </a:solidFill>
                          <a:latin typeface="標楷體" panose="03000509000000000000" pitchFamily="65" charset="-120"/>
                          <a:ea typeface="標楷體" panose="03000509000000000000" pitchFamily="65" charset="-120"/>
                        </a:rPr>
                        <a:t>16+20+19</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20+18+19</a:t>
                      </a:r>
                    </a:p>
                    <a:p>
                      <a:r>
                        <a:rPr lang="en-US" altLang="zh-TW" sz="1400" b="0" dirty="0">
                          <a:solidFill>
                            <a:schemeClr val="tx1"/>
                          </a:solidFill>
                          <a:latin typeface="標楷體" panose="03000509000000000000" pitchFamily="65" charset="-120"/>
                          <a:ea typeface="標楷體" panose="03000509000000000000" pitchFamily="65" charset="-120"/>
                        </a:rPr>
                        <a:t>7+12</a:t>
                      </a:r>
                    </a:p>
                    <a:p>
                      <a:r>
                        <a:rPr lang="en-US" altLang="zh-TW" sz="1400" b="0" dirty="0">
                          <a:solidFill>
                            <a:schemeClr val="tx1"/>
                          </a:solidFill>
                          <a:latin typeface="標楷體" panose="03000509000000000000" pitchFamily="65" charset="-120"/>
                          <a:ea typeface="標楷體" panose="03000509000000000000" pitchFamily="65" charset="-120"/>
                        </a:rPr>
                        <a:t>16+20+19</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20+18+19</a:t>
                      </a:r>
                    </a:p>
                    <a:p>
                      <a:r>
                        <a:rPr lang="en-US" altLang="zh-TW" sz="1400" b="0" dirty="0">
                          <a:solidFill>
                            <a:schemeClr val="tx1"/>
                          </a:solidFill>
                          <a:latin typeface="標楷體" panose="03000509000000000000" pitchFamily="65" charset="-120"/>
                          <a:ea typeface="標楷體" panose="03000509000000000000" pitchFamily="65" charset="-120"/>
                        </a:rPr>
                        <a:t>7+12+19</a:t>
                      </a:r>
                    </a:p>
                    <a:p>
                      <a:r>
                        <a:rPr lang="en-US" altLang="zh-TW" sz="1400" b="0" dirty="0">
                          <a:solidFill>
                            <a:schemeClr val="tx1"/>
                          </a:solidFill>
                          <a:latin typeface="標楷體" panose="03000509000000000000" pitchFamily="65" charset="-120"/>
                          <a:ea typeface="標楷體" panose="03000509000000000000" pitchFamily="65" charset="-120"/>
                        </a:rPr>
                        <a:t>16+20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38+19+36</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93/3=31</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0115345"/>
                  </a:ext>
                </a:extLst>
              </a:tr>
              <a:tr h="691840">
                <a:tc>
                  <a:txBody>
                    <a:bodyPr/>
                    <a:lstStyle/>
                    <a:p>
                      <a:r>
                        <a:rPr lang="en-US" altLang="zh-TW" sz="1400" b="0" dirty="0">
                          <a:solidFill>
                            <a:schemeClr val="tx1"/>
                          </a:solidFill>
                        </a:rPr>
                        <a:t>T3</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21+7</a:t>
                      </a:r>
                    </a:p>
                    <a:p>
                      <a:r>
                        <a:rPr lang="en-US" altLang="zh-TW" sz="1400" b="0" dirty="0">
                          <a:solidFill>
                            <a:schemeClr val="tx1"/>
                          </a:solidFill>
                          <a:latin typeface="標楷體" panose="03000509000000000000" pitchFamily="65" charset="-120"/>
                          <a:ea typeface="標楷體" panose="03000509000000000000" pitchFamily="65" charset="-120"/>
                        </a:rPr>
                        <a:t>7+15+23</a:t>
                      </a:r>
                    </a:p>
                    <a:p>
                      <a:r>
                        <a:rPr lang="en-US" altLang="zh-TW" sz="1400" b="0" dirty="0">
                          <a:solidFill>
                            <a:schemeClr val="tx1"/>
                          </a:solidFill>
                          <a:latin typeface="標楷體" panose="03000509000000000000" pitchFamily="65" charset="-120"/>
                          <a:ea typeface="標楷體" panose="03000509000000000000" pitchFamily="65" charset="-120"/>
                        </a:rPr>
                        <a:t>16+11+23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21+7+23</a:t>
                      </a:r>
                    </a:p>
                    <a:p>
                      <a:r>
                        <a:rPr lang="en-US" altLang="zh-TW" sz="1400" b="0" dirty="0">
                          <a:solidFill>
                            <a:schemeClr val="tx1"/>
                          </a:solidFill>
                          <a:latin typeface="標楷體" panose="03000509000000000000" pitchFamily="65" charset="-120"/>
                          <a:ea typeface="標楷體" panose="03000509000000000000" pitchFamily="65" charset="-120"/>
                        </a:rPr>
                        <a:t>7+15</a:t>
                      </a:r>
                    </a:p>
                    <a:p>
                      <a:r>
                        <a:rPr lang="en-US" altLang="zh-TW" sz="1400" b="0" dirty="0">
                          <a:solidFill>
                            <a:schemeClr val="tx1"/>
                          </a:solidFill>
                          <a:latin typeface="標楷體" panose="03000509000000000000" pitchFamily="65" charset="-120"/>
                          <a:ea typeface="標楷體" panose="03000509000000000000" pitchFamily="65" charset="-120"/>
                        </a:rPr>
                        <a:t>16+11+23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21+7+23</a:t>
                      </a:r>
                    </a:p>
                    <a:p>
                      <a:r>
                        <a:rPr lang="en-US" altLang="zh-TW" sz="1400" b="0" dirty="0">
                          <a:solidFill>
                            <a:schemeClr val="tx1"/>
                          </a:solidFill>
                          <a:latin typeface="標楷體" panose="03000509000000000000" pitchFamily="65" charset="-120"/>
                          <a:ea typeface="標楷體" panose="03000509000000000000" pitchFamily="65" charset="-120"/>
                        </a:rPr>
                        <a:t>7+15+23</a:t>
                      </a:r>
                    </a:p>
                    <a:p>
                      <a:r>
                        <a:rPr lang="en-US" altLang="zh-TW" sz="1400" b="0" dirty="0">
                          <a:solidFill>
                            <a:schemeClr val="tx1"/>
                          </a:solidFill>
                          <a:latin typeface="標楷體" panose="03000509000000000000" pitchFamily="65" charset="-120"/>
                          <a:ea typeface="標楷體" panose="03000509000000000000" pitchFamily="65" charset="-120"/>
                        </a:rPr>
                        <a:t>16+11</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28+22+27</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77/3=25.67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691840">
                <a:tc rowSpan="2">
                  <a:txBody>
                    <a:bodyPr/>
                    <a:lstStyle/>
                    <a:p>
                      <a:r>
                        <a:rPr lang="en-US" altLang="zh-TW" sz="1400" b="0" dirty="0">
                          <a:solidFill>
                            <a:schemeClr val="tx1"/>
                          </a:solidFill>
                        </a:rPr>
                        <a:t>T4(T8)</a:t>
                      </a:r>
                    </a:p>
                    <a:p>
                      <a:endParaRPr lang="en-US" altLang="zh-TW" sz="1400" b="0" dirty="0">
                        <a:solidFill>
                          <a:schemeClr val="tx1"/>
                        </a:solidFill>
                      </a:endParaRPr>
                    </a:p>
                    <a:p>
                      <a:endParaRPr lang="en-US" altLang="zh-TW" sz="1400" b="0" dirty="0">
                        <a:solidFill>
                          <a:schemeClr val="tx1"/>
                        </a:solidFill>
                      </a:endParaRPr>
                    </a:p>
                    <a:p>
                      <a:r>
                        <a:rPr lang="en-US" altLang="zh-TW" sz="1400" b="0" dirty="0">
                          <a:solidFill>
                            <a:schemeClr val="tx1"/>
                          </a:solidFill>
                        </a:rPr>
                        <a:t>T4(T9)</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a:t>
                      </a:r>
                    </a:p>
                    <a:p>
                      <a:r>
                        <a:rPr lang="en-US" altLang="zh-TW" sz="1400" b="0" dirty="0">
                          <a:solidFill>
                            <a:schemeClr val="tx1"/>
                          </a:solidFill>
                          <a:latin typeface="標楷體" panose="03000509000000000000" pitchFamily="65" charset="-120"/>
                          <a:ea typeface="標楷體" panose="03000509000000000000" pitchFamily="65" charset="-120"/>
                        </a:rPr>
                        <a:t>7+11+27</a:t>
                      </a:r>
                    </a:p>
                    <a:p>
                      <a:r>
                        <a:rPr lang="en-US" altLang="zh-TW" sz="1400" b="0" dirty="0">
                          <a:solidFill>
                            <a:schemeClr val="tx1"/>
                          </a:solidFill>
                          <a:latin typeface="標楷體" panose="03000509000000000000" pitchFamily="65" charset="-120"/>
                          <a:ea typeface="標楷體" panose="03000509000000000000" pitchFamily="65" charset="-120"/>
                        </a:rPr>
                        <a:t>16+14+27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18+5+27</a:t>
                      </a:r>
                    </a:p>
                    <a:p>
                      <a:r>
                        <a:rPr lang="en-US" altLang="zh-TW" sz="1400" b="0" dirty="0">
                          <a:solidFill>
                            <a:schemeClr val="tx1"/>
                          </a:solidFill>
                          <a:latin typeface="標楷體" panose="03000509000000000000" pitchFamily="65" charset="-120"/>
                          <a:ea typeface="標楷體" panose="03000509000000000000" pitchFamily="65" charset="-120"/>
                        </a:rPr>
                        <a:t>7+11</a:t>
                      </a:r>
                    </a:p>
                    <a:p>
                      <a:r>
                        <a:rPr lang="en-US" altLang="zh-TW" sz="1400" b="0" dirty="0">
                          <a:solidFill>
                            <a:schemeClr val="tx1"/>
                          </a:solidFill>
                          <a:latin typeface="標楷體" panose="03000509000000000000" pitchFamily="65" charset="-120"/>
                          <a:ea typeface="標楷體" panose="03000509000000000000" pitchFamily="65" charset="-120"/>
                        </a:rPr>
                        <a:t>16+14+27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18+5+27</a:t>
                      </a:r>
                    </a:p>
                    <a:p>
                      <a:r>
                        <a:rPr lang="en-US" altLang="zh-TW" sz="1400" b="0" dirty="0">
                          <a:solidFill>
                            <a:schemeClr val="tx1"/>
                          </a:solidFill>
                          <a:latin typeface="標楷體" panose="03000509000000000000" pitchFamily="65" charset="-120"/>
                          <a:ea typeface="標楷體" panose="03000509000000000000" pitchFamily="65" charset="-120"/>
                        </a:rPr>
                        <a:t>7+11+27</a:t>
                      </a:r>
                    </a:p>
                    <a:p>
                      <a:r>
                        <a:rPr lang="en-US" altLang="zh-TW" sz="1400" b="0" dirty="0">
                          <a:solidFill>
                            <a:schemeClr val="tx1"/>
                          </a:solidFill>
                          <a:latin typeface="標楷體" panose="03000509000000000000" pitchFamily="65" charset="-120"/>
                          <a:ea typeface="標楷體" panose="03000509000000000000" pitchFamily="65" charset="-120"/>
                        </a:rPr>
                        <a:t>16+14</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23+18+30</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71/3=27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691840">
                <a:tc vMerge="1">
                  <a:txBody>
                    <a:bodyPr/>
                    <a:lstStyle/>
                    <a:p>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a:t>
                      </a:r>
                    </a:p>
                    <a:p>
                      <a:r>
                        <a:rPr lang="en-US" altLang="zh-TW" sz="1400" b="0" dirty="0">
                          <a:solidFill>
                            <a:schemeClr val="tx1"/>
                          </a:solidFill>
                          <a:latin typeface="標楷體" panose="03000509000000000000" pitchFamily="65" charset="-120"/>
                          <a:ea typeface="標楷體" panose="03000509000000000000" pitchFamily="65" charset="-120"/>
                        </a:rPr>
                        <a:t>7+12+23</a:t>
                      </a:r>
                    </a:p>
                    <a:p>
                      <a:r>
                        <a:rPr lang="en-US" altLang="zh-TW" sz="1400" b="0" dirty="0">
                          <a:solidFill>
                            <a:schemeClr val="tx1"/>
                          </a:solidFill>
                          <a:latin typeface="標楷體" panose="03000509000000000000" pitchFamily="65" charset="-120"/>
                          <a:ea typeface="標楷體" panose="03000509000000000000" pitchFamily="65" charset="-120"/>
                        </a:rPr>
                        <a:t>16+20+23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20+18+23</a:t>
                      </a:r>
                    </a:p>
                    <a:p>
                      <a:r>
                        <a:rPr lang="en-US" altLang="zh-TW" sz="1400" b="0" dirty="0">
                          <a:solidFill>
                            <a:schemeClr val="tx1"/>
                          </a:solidFill>
                          <a:latin typeface="標楷體" panose="03000509000000000000" pitchFamily="65" charset="-120"/>
                          <a:ea typeface="標楷體" panose="03000509000000000000" pitchFamily="65" charset="-120"/>
                        </a:rPr>
                        <a:t>7+12</a:t>
                      </a:r>
                    </a:p>
                    <a:p>
                      <a:r>
                        <a:rPr lang="en-US" altLang="zh-TW" sz="1400" b="0" dirty="0">
                          <a:solidFill>
                            <a:schemeClr val="tx1"/>
                          </a:solidFill>
                          <a:latin typeface="標楷體" panose="03000509000000000000" pitchFamily="65" charset="-120"/>
                          <a:ea typeface="標楷體" panose="03000509000000000000" pitchFamily="65" charset="-120"/>
                        </a:rPr>
                        <a:t>16+20+23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20+18+23</a:t>
                      </a:r>
                    </a:p>
                    <a:p>
                      <a:r>
                        <a:rPr lang="en-US" altLang="zh-TW" sz="1400" b="0" dirty="0">
                          <a:solidFill>
                            <a:schemeClr val="tx1"/>
                          </a:solidFill>
                          <a:latin typeface="標楷體" panose="03000509000000000000" pitchFamily="65" charset="-120"/>
                          <a:ea typeface="標楷體" panose="03000509000000000000" pitchFamily="65" charset="-120"/>
                        </a:rPr>
                        <a:t>7+12+23</a:t>
                      </a:r>
                    </a:p>
                    <a:p>
                      <a:r>
                        <a:rPr lang="en-US" altLang="zh-TW" sz="1400" b="0" dirty="0">
                          <a:solidFill>
                            <a:schemeClr val="tx1"/>
                          </a:solidFill>
                          <a:latin typeface="標楷體" panose="03000509000000000000" pitchFamily="65" charset="-120"/>
                          <a:ea typeface="標楷體" panose="03000509000000000000" pitchFamily="65" charset="-120"/>
                        </a:rPr>
                        <a:t>16+20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38+19+36</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94/3=31.3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2182626"/>
                  </a:ext>
                </a:extLst>
              </a:tr>
              <a:tr h="691840">
                <a:tc>
                  <a:txBody>
                    <a:bodyPr/>
                    <a:lstStyle/>
                    <a:p>
                      <a:r>
                        <a:rPr lang="en-US" altLang="zh-TW" sz="1400" b="0" dirty="0">
                          <a:solidFill>
                            <a:schemeClr val="tx1"/>
                          </a:solidFill>
                        </a:rPr>
                        <a:t>T5</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a:t>
                      </a:r>
                    </a:p>
                    <a:p>
                      <a:r>
                        <a:rPr lang="en-US" altLang="zh-TW" sz="1400" b="0" dirty="0">
                          <a:solidFill>
                            <a:schemeClr val="tx1"/>
                          </a:solidFill>
                          <a:latin typeface="標楷體" panose="03000509000000000000" pitchFamily="65" charset="-120"/>
                          <a:ea typeface="標楷體" panose="03000509000000000000" pitchFamily="65" charset="-120"/>
                        </a:rPr>
                        <a:t>7+12+13</a:t>
                      </a:r>
                    </a:p>
                    <a:p>
                      <a:r>
                        <a:rPr lang="en-US" altLang="zh-TW" sz="1400" b="0" dirty="0">
                          <a:solidFill>
                            <a:schemeClr val="tx1"/>
                          </a:solidFill>
                          <a:latin typeface="標楷體" panose="03000509000000000000" pitchFamily="65" charset="-120"/>
                          <a:ea typeface="標楷體" panose="03000509000000000000" pitchFamily="65" charset="-120"/>
                        </a:rPr>
                        <a:t>16+20+13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20+18+13</a:t>
                      </a:r>
                    </a:p>
                    <a:p>
                      <a:r>
                        <a:rPr lang="en-US" altLang="zh-TW" sz="1400" b="0" dirty="0">
                          <a:solidFill>
                            <a:schemeClr val="tx1"/>
                          </a:solidFill>
                          <a:latin typeface="標楷體" panose="03000509000000000000" pitchFamily="65" charset="-120"/>
                          <a:ea typeface="標楷體" panose="03000509000000000000" pitchFamily="65" charset="-120"/>
                        </a:rPr>
                        <a:t>7+12</a:t>
                      </a:r>
                    </a:p>
                    <a:p>
                      <a:r>
                        <a:rPr lang="en-US" altLang="zh-TW" sz="1400" b="0" dirty="0">
                          <a:solidFill>
                            <a:schemeClr val="tx1"/>
                          </a:solidFill>
                          <a:latin typeface="標楷體" panose="03000509000000000000" pitchFamily="65" charset="-120"/>
                          <a:ea typeface="標楷體" panose="03000509000000000000" pitchFamily="65" charset="-120"/>
                        </a:rPr>
                        <a:t>16+20+13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20+18+113</a:t>
                      </a:r>
                    </a:p>
                    <a:p>
                      <a:r>
                        <a:rPr lang="en-US" altLang="zh-TW" sz="1400" b="0" dirty="0">
                          <a:solidFill>
                            <a:schemeClr val="tx1"/>
                          </a:solidFill>
                          <a:latin typeface="標楷體" panose="03000509000000000000" pitchFamily="65" charset="-120"/>
                          <a:ea typeface="標楷體" panose="03000509000000000000" pitchFamily="65" charset="-120"/>
                        </a:rPr>
                        <a:t>7+12+13</a:t>
                      </a:r>
                    </a:p>
                    <a:p>
                      <a:r>
                        <a:rPr lang="en-US" altLang="zh-TW" sz="1400" b="0" dirty="0">
                          <a:solidFill>
                            <a:schemeClr val="tx1"/>
                          </a:solidFill>
                          <a:latin typeface="標楷體" panose="03000509000000000000" pitchFamily="65" charset="-120"/>
                          <a:ea typeface="標楷體" panose="03000509000000000000" pitchFamily="65" charset="-120"/>
                        </a:rPr>
                        <a:t>16+20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32+19+21</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93/3=27.67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691840">
                <a:tc>
                  <a:txBody>
                    <a:bodyPr/>
                    <a:lstStyle/>
                    <a:p>
                      <a:r>
                        <a:rPr lang="en-US" altLang="zh-TW" sz="1400" b="0" dirty="0">
                          <a:solidFill>
                            <a:schemeClr val="tx1"/>
                          </a:solidFill>
                        </a:rPr>
                        <a:t>T6</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rgbClr val="0070C0"/>
                          </a:solidFill>
                          <a:latin typeface="標楷體" panose="03000509000000000000" pitchFamily="65" charset="-120"/>
                          <a:ea typeface="標楷體" panose="03000509000000000000" pitchFamily="65" charset="-120"/>
                        </a:rPr>
                        <a:t>18</a:t>
                      </a:r>
                      <a:r>
                        <a:rPr lang="en-US" altLang="zh-TW" sz="1400" b="0" dirty="0">
                          <a:solidFill>
                            <a:schemeClr val="tx1"/>
                          </a:solidFill>
                          <a:latin typeface="標楷體" panose="03000509000000000000" pitchFamily="65" charset="-120"/>
                          <a:ea typeface="標楷體" panose="03000509000000000000" pitchFamily="65" charset="-120"/>
                        </a:rPr>
                        <a:t>+5</a:t>
                      </a:r>
                    </a:p>
                    <a:p>
                      <a:r>
                        <a:rPr lang="en-US" altLang="zh-TW" sz="1400" b="0" dirty="0">
                          <a:solidFill>
                            <a:schemeClr val="tx1"/>
                          </a:solidFill>
                          <a:latin typeface="標楷體" panose="03000509000000000000" pitchFamily="65" charset="-120"/>
                          <a:ea typeface="標楷體" panose="03000509000000000000" pitchFamily="65" charset="-120"/>
                        </a:rPr>
                        <a:t>7+11+15</a:t>
                      </a:r>
                    </a:p>
                    <a:p>
                      <a:r>
                        <a:rPr lang="en-US" altLang="zh-TW" sz="1400" b="0" dirty="0">
                          <a:solidFill>
                            <a:schemeClr val="tx1"/>
                          </a:solidFill>
                          <a:latin typeface="標楷體" panose="03000509000000000000" pitchFamily="65" charset="-120"/>
                          <a:ea typeface="標楷體" panose="03000509000000000000" pitchFamily="65" charset="-120"/>
                        </a:rPr>
                        <a:t>16+14+15</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18+5+15</a:t>
                      </a:r>
                    </a:p>
                    <a:p>
                      <a:r>
                        <a:rPr lang="en-US" altLang="zh-TW" sz="1400" b="0" dirty="0">
                          <a:solidFill>
                            <a:srgbClr val="0070C0"/>
                          </a:solidFill>
                          <a:latin typeface="標楷體" panose="03000509000000000000" pitchFamily="65" charset="-120"/>
                          <a:ea typeface="標楷體" panose="03000509000000000000" pitchFamily="65" charset="-120"/>
                        </a:rPr>
                        <a:t>7</a:t>
                      </a:r>
                      <a:r>
                        <a:rPr lang="en-US" altLang="zh-TW" sz="1400" b="0" dirty="0">
                          <a:solidFill>
                            <a:schemeClr val="tx1"/>
                          </a:solidFill>
                          <a:latin typeface="標楷體" panose="03000509000000000000" pitchFamily="65" charset="-120"/>
                          <a:ea typeface="標楷體" panose="03000509000000000000" pitchFamily="65" charset="-120"/>
                        </a:rPr>
                        <a:t>+11</a:t>
                      </a:r>
                    </a:p>
                    <a:p>
                      <a:r>
                        <a:rPr lang="en-US" altLang="zh-TW" sz="1400" b="0" dirty="0">
                          <a:solidFill>
                            <a:schemeClr val="tx1"/>
                          </a:solidFill>
                          <a:latin typeface="標楷體" panose="03000509000000000000" pitchFamily="65" charset="-120"/>
                          <a:ea typeface="標楷體" panose="03000509000000000000" pitchFamily="65" charset="-120"/>
                        </a:rPr>
                        <a:t>16+14+15</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18+5+15</a:t>
                      </a:r>
                    </a:p>
                    <a:p>
                      <a:r>
                        <a:rPr lang="en-US" altLang="zh-TW" sz="1400" b="0" dirty="0">
                          <a:solidFill>
                            <a:schemeClr val="tx1"/>
                          </a:solidFill>
                          <a:latin typeface="標楷體" panose="03000509000000000000" pitchFamily="65" charset="-120"/>
                          <a:ea typeface="標楷體" panose="03000509000000000000" pitchFamily="65" charset="-120"/>
                        </a:rPr>
                        <a:t>7+11+15</a:t>
                      </a:r>
                    </a:p>
                    <a:p>
                      <a:r>
                        <a:rPr lang="en-US" altLang="zh-TW" sz="1400" b="0" dirty="0">
                          <a:solidFill>
                            <a:srgbClr val="0070C0"/>
                          </a:solidFill>
                          <a:latin typeface="標楷體" panose="03000509000000000000" pitchFamily="65" charset="-120"/>
                          <a:ea typeface="標楷體" panose="03000509000000000000" pitchFamily="65" charset="-120"/>
                        </a:rPr>
                        <a:t>16</a:t>
                      </a:r>
                      <a:r>
                        <a:rPr lang="en-US" altLang="zh-TW" sz="1400" b="0" dirty="0">
                          <a:solidFill>
                            <a:schemeClr val="tx1"/>
                          </a:solidFill>
                          <a:latin typeface="標楷體" panose="03000509000000000000" pitchFamily="65" charset="-120"/>
                          <a:ea typeface="標楷體" panose="03000509000000000000" pitchFamily="65" charset="-120"/>
                        </a:rPr>
                        <a:t>+14</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23+18+30</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71/3=27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691840">
                <a:tc>
                  <a:txBody>
                    <a:bodyPr/>
                    <a:lstStyle/>
                    <a:p>
                      <a:r>
                        <a:rPr lang="en-US" altLang="zh-TW" sz="1400" b="0" dirty="0">
                          <a:solidFill>
                            <a:schemeClr val="tx1"/>
                          </a:solidFill>
                        </a:rPr>
                        <a:t>T7</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rgbClr val="FF0000"/>
                          </a:solidFill>
                          <a:latin typeface="標楷體" panose="03000509000000000000" pitchFamily="65" charset="-120"/>
                          <a:ea typeface="標楷體" panose="03000509000000000000" pitchFamily="65" charset="-120"/>
                        </a:rPr>
                        <a:t>21</a:t>
                      </a:r>
                    </a:p>
                    <a:p>
                      <a:r>
                        <a:rPr lang="en-US" altLang="zh-TW" sz="1400" b="0" dirty="0">
                          <a:solidFill>
                            <a:schemeClr val="tx1"/>
                          </a:solidFill>
                          <a:latin typeface="標楷體" panose="03000509000000000000" pitchFamily="65" charset="-120"/>
                          <a:ea typeface="標楷體" panose="03000509000000000000" pitchFamily="65" charset="-120"/>
                        </a:rPr>
                        <a:t>7+17</a:t>
                      </a:r>
                    </a:p>
                    <a:p>
                      <a:r>
                        <a:rPr lang="en-US" altLang="zh-TW" sz="1400" b="0" dirty="0">
                          <a:solidFill>
                            <a:schemeClr val="tx1"/>
                          </a:solidFill>
                          <a:latin typeface="標楷體" panose="03000509000000000000" pitchFamily="65" charset="-120"/>
                          <a:ea typeface="標楷體" panose="03000509000000000000" pitchFamily="65" charset="-120"/>
                        </a:rPr>
                        <a:t>16+17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21+17</a:t>
                      </a:r>
                    </a:p>
                    <a:p>
                      <a:r>
                        <a:rPr lang="en-US" altLang="zh-TW" sz="1400" b="0" dirty="0">
                          <a:solidFill>
                            <a:srgbClr val="FF0000"/>
                          </a:solidFill>
                          <a:latin typeface="標楷體" panose="03000509000000000000" pitchFamily="65" charset="-120"/>
                          <a:ea typeface="標楷體" panose="03000509000000000000" pitchFamily="65" charset="-120"/>
                        </a:rPr>
                        <a:t>7</a:t>
                      </a:r>
                    </a:p>
                    <a:p>
                      <a:r>
                        <a:rPr lang="en-US" altLang="zh-TW" sz="1400" b="0" dirty="0">
                          <a:solidFill>
                            <a:schemeClr val="tx1"/>
                          </a:solidFill>
                          <a:latin typeface="標楷體" panose="03000509000000000000" pitchFamily="65" charset="-120"/>
                          <a:ea typeface="標楷體" panose="03000509000000000000" pitchFamily="65" charset="-120"/>
                        </a:rPr>
                        <a:t>16+17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21+17</a:t>
                      </a:r>
                    </a:p>
                    <a:p>
                      <a:r>
                        <a:rPr lang="en-US" altLang="zh-TW" sz="1400" b="0" dirty="0">
                          <a:solidFill>
                            <a:schemeClr val="tx1"/>
                          </a:solidFill>
                          <a:latin typeface="標楷體" panose="03000509000000000000" pitchFamily="65" charset="-120"/>
                          <a:ea typeface="標楷體" panose="03000509000000000000" pitchFamily="65" charset="-120"/>
                        </a:rPr>
                        <a:t>7+17</a:t>
                      </a:r>
                    </a:p>
                    <a:p>
                      <a:r>
                        <a:rPr lang="en-US" altLang="zh-TW" sz="1400" b="0" dirty="0">
                          <a:solidFill>
                            <a:srgbClr val="FF0000"/>
                          </a:solidFill>
                          <a:latin typeface="標楷體" panose="03000509000000000000" pitchFamily="65" charset="-120"/>
                          <a:ea typeface="標楷體" panose="03000509000000000000" pitchFamily="65" charset="-120"/>
                        </a:rPr>
                        <a:t>16</a:t>
                      </a:r>
                      <a:endParaRPr lang="zh-TW" altLang="en-US" sz="1400" b="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rgbClr val="FF0000"/>
                          </a:solidFill>
                          <a:latin typeface="標楷體" panose="03000509000000000000" pitchFamily="65" charset="-120"/>
                          <a:ea typeface="標楷體" panose="03000509000000000000" pitchFamily="65" charset="-120"/>
                        </a:rPr>
                        <a:t>21+7+16</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44/3=14.67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691840">
                <a:tc>
                  <a:txBody>
                    <a:bodyPr/>
                    <a:lstStyle/>
                    <a:p>
                      <a:r>
                        <a:rPr lang="en-US" altLang="zh-TW" sz="1400" b="0" dirty="0">
                          <a:solidFill>
                            <a:schemeClr val="tx1"/>
                          </a:solidFill>
                        </a:rPr>
                        <a:t>T8</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a:t>
                      </a:r>
                    </a:p>
                    <a:p>
                      <a:r>
                        <a:rPr lang="en-US" altLang="zh-TW" sz="1400" b="0" dirty="0">
                          <a:solidFill>
                            <a:srgbClr val="0070C0"/>
                          </a:solidFill>
                          <a:latin typeface="標楷體" panose="03000509000000000000" pitchFamily="65" charset="-120"/>
                          <a:ea typeface="標楷體" panose="03000509000000000000" pitchFamily="65" charset="-120"/>
                        </a:rPr>
                        <a:t>7+11</a:t>
                      </a:r>
                    </a:p>
                    <a:p>
                      <a:r>
                        <a:rPr lang="en-US" altLang="zh-TW" sz="1400" b="0" dirty="0">
                          <a:solidFill>
                            <a:schemeClr val="tx1"/>
                          </a:solidFill>
                          <a:latin typeface="標楷體" panose="03000509000000000000" pitchFamily="65" charset="-120"/>
                          <a:ea typeface="標楷體" panose="03000509000000000000" pitchFamily="65" charset="-120"/>
                        </a:rPr>
                        <a:t>16+11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21+11</a:t>
                      </a:r>
                    </a:p>
                    <a:p>
                      <a:r>
                        <a:rPr lang="en-US" altLang="zh-TW" sz="1400" b="0" dirty="0">
                          <a:solidFill>
                            <a:srgbClr val="0070C0"/>
                          </a:solidFill>
                          <a:latin typeface="標楷體" panose="03000509000000000000" pitchFamily="65" charset="-120"/>
                          <a:ea typeface="標楷體" panose="03000509000000000000" pitchFamily="65" charset="-120"/>
                        </a:rPr>
                        <a:t>7</a:t>
                      </a:r>
                    </a:p>
                    <a:p>
                      <a:r>
                        <a:rPr lang="en-US" altLang="zh-TW" sz="1400" b="0" dirty="0">
                          <a:solidFill>
                            <a:schemeClr val="tx1"/>
                          </a:solidFill>
                          <a:latin typeface="標楷體" panose="03000509000000000000" pitchFamily="65" charset="-120"/>
                          <a:ea typeface="標楷體" panose="03000509000000000000" pitchFamily="65" charset="-120"/>
                        </a:rPr>
                        <a:t>21+11</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21+11</a:t>
                      </a:r>
                    </a:p>
                    <a:p>
                      <a:r>
                        <a:rPr lang="en-US" altLang="zh-TW" sz="1400" b="0" dirty="0">
                          <a:solidFill>
                            <a:schemeClr val="tx1"/>
                          </a:solidFill>
                          <a:latin typeface="標楷體" panose="03000509000000000000" pitchFamily="65" charset="-120"/>
                          <a:ea typeface="標楷體" panose="03000509000000000000" pitchFamily="65" charset="-120"/>
                        </a:rPr>
                        <a:t>7+11</a:t>
                      </a:r>
                    </a:p>
                    <a:p>
                      <a:r>
                        <a:rPr lang="en-US" altLang="zh-TW" sz="1400" b="0" dirty="0">
                          <a:solidFill>
                            <a:srgbClr val="0070C0"/>
                          </a:solidFill>
                          <a:latin typeface="標楷體" panose="03000509000000000000" pitchFamily="65" charset="-120"/>
                          <a:ea typeface="標楷體" panose="03000509000000000000" pitchFamily="65" charset="-12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rgbClr val="0070C0"/>
                          </a:solidFill>
                          <a:latin typeface="標楷體" panose="03000509000000000000" pitchFamily="65" charset="-120"/>
                          <a:ea typeface="標楷體" panose="03000509000000000000" pitchFamily="65" charset="-120"/>
                        </a:rPr>
                        <a:t>18+7+16</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41/3=13.67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710820">
                <a:tc>
                  <a:txBody>
                    <a:bodyPr/>
                    <a:lstStyle/>
                    <a:p>
                      <a:r>
                        <a:rPr lang="en-US" altLang="zh-TW" sz="1400" b="0" dirty="0">
                          <a:solidFill>
                            <a:schemeClr val="tx1"/>
                          </a:solidFill>
                        </a:rPr>
                        <a:t>T9</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a:t>
                      </a:r>
                    </a:p>
                    <a:p>
                      <a:r>
                        <a:rPr lang="en-US" altLang="zh-TW" sz="1400" b="0" dirty="0">
                          <a:solidFill>
                            <a:srgbClr val="00B050"/>
                          </a:solidFill>
                          <a:latin typeface="標楷體" panose="03000509000000000000" pitchFamily="65" charset="-120"/>
                          <a:ea typeface="標楷體" panose="03000509000000000000" pitchFamily="65" charset="-120"/>
                        </a:rPr>
                        <a:t>7+13</a:t>
                      </a:r>
                    </a:p>
                    <a:p>
                      <a:r>
                        <a:rPr lang="en-US" altLang="zh-TW" sz="1400" b="0" dirty="0">
                          <a:solidFill>
                            <a:schemeClr val="tx1"/>
                          </a:solidFill>
                          <a:latin typeface="標楷體" panose="03000509000000000000" pitchFamily="65" charset="-120"/>
                          <a:ea typeface="標楷體" panose="03000509000000000000" pitchFamily="65" charset="-120"/>
                        </a:rPr>
                        <a:t>16+13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21+13</a:t>
                      </a:r>
                    </a:p>
                    <a:p>
                      <a:r>
                        <a:rPr lang="en-US" altLang="zh-TW" sz="1400" b="0" dirty="0">
                          <a:solidFill>
                            <a:srgbClr val="00B050"/>
                          </a:solidFill>
                          <a:latin typeface="標楷體" panose="03000509000000000000" pitchFamily="65" charset="-120"/>
                          <a:ea typeface="標楷體" panose="03000509000000000000" pitchFamily="65" charset="-120"/>
                        </a:rPr>
                        <a:t>7</a:t>
                      </a:r>
                    </a:p>
                    <a:p>
                      <a:r>
                        <a:rPr lang="en-US" altLang="zh-TW" sz="1400" b="0" dirty="0">
                          <a:solidFill>
                            <a:schemeClr val="tx1"/>
                          </a:solidFill>
                          <a:latin typeface="標楷體" panose="03000509000000000000" pitchFamily="65" charset="-120"/>
                          <a:ea typeface="標楷體" panose="03000509000000000000" pitchFamily="65" charset="-120"/>
                        </a:rPr>
                        <a:t>16+13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21+13</a:t>
                      </a:r>
                    </a:p>
                    <a:p>
                      <a:r>
                        <a:rPr lang="en-US" altLang="zh-TW" sz="1400" b="0" dirty="0">
                          <a:solidFill>
                            <a:schemeClr val="tx1"/>
                          </a:solidFill>
                          <a:latin typeface="標楷體" panose="03000509000000000000" pitchFamily="65" charset="-120"/>
                          <a:ea typeface="標楷體" panose="03000509000000000000" pitchFamily="65" charset="-120"/>
                        </a:rPr>
                        <a:t>7+13</a:t>
                      </a:r>
                    </a:p>
                    <a:p>
                      <a:r>
                        <a:rPr lang="en-US" altLang="zh-TW" sz="1400" b="0" dirty="0">
                          <a:solidFill>
                            <a:srgbClr val="00B050"/>
                          </a:solidFill>
                          <a:latin typeface="標楷體" panose="03000509000000000000" pitchFamily="65" charset="-120"/>
                          <a:ea typeface="標楷體" panose="03000509000000000000" pitchFamily="65" charset="-120"/>
                        </a:rPr>
                        <a:t>16</a:t>
                      </a:r>
                      <a:endParaRPr lang="zh-TW" altLang="en-US" sz="1400" b="0" dirty="0">
                        <a:solidFill>
                          <a:srgbClr val="00B05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rgbClr val="00B050"/>
                          </a:solidFill>
                          <a:latin typeface="標楷體" panose="03000509000000000000" pitchFamily="65" charset="-120"/>
                          <a:ea typeface="標楷體" panose="03000509000000000000" pitchFamily="65" charset="-120"/>
                        </a:rPr>
                        <a:t>20+7+16</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43/3=14.34</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51323">
                <a:tc>
                  <a:txBody>
                    <a:bodyPr/>
                    <a:lstStyle/>
                    <a:p>
                      <a:r>
                        <a:rPr lang="en-US" altLang="zh-TW" sz="1400" b="0" dirty="0">
                          <a:solidFill>
                            <a:schemeClr val="tx1"/>
                          </a:solidFill>
                        </a:rPr>
                        <a:t>T10</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7" name="圖片 6">
            <a:extLst>
              <a:ext uri="{FF2B5EF4-FFF2-40B4-BE49-F238E27FC236}">
                <a16:creationId xmlns:a16="http://schemas.microsoft.com/office/drawing/2014/main" id="{AF70F975-1700-48B9-9D10-C16BE52FAF2A}"/>
              </a:ext>
            </a:extLst>
          </p:cNvPr>
          <p:cNvPicPr>
            <a:picLocks noChangeAspect="1"/>
          </p:cNvPicPr>
          <p:nvPr/>
        </p:nvPicPr>
        <p:blipFill>
          <a:blip r:embed="rId4"/>
          <a:stretch>
            <a:fillRect/>
          </a:stretch>
        </p:blipFill>
        <p:spPr>
          <a:xfrm>
            <a:off x="6330357" y="4656569"/>
            <a:ext cx="6886575" cy="1114425"/>
          </a:xfrm>
          <a:prstGeom prst="rect">
            <a:avLst/>
          </a:prstGeom>
        </p:spPr>
      </p:pic>
      <p:pic>
        <p:nvPicPr>
          <p:cNvPr id="3" name="圖片 2">
            <a:extLst>
              <a:ext uri="{FF2B5EF4-FFF2-40B4-BE49-F238E27FC236}">
                <a16:creationId xmlns:a16="http://schemas.microsoft.com/office/drawing/2014/main" id="{CA476B0F-688A-46C2-AA7F-326DB0C81CCC}"/>
              </a:ext>
            </a:extLst>
          </p:cNvPr>
          <p:cNvPicPr>
            <a:picLocks noChangeAspect="1"/>
          </p:cNvPicPr>
          <p:nvPr/>
        </p:nvPicPr>
        <p:blipFill>
          <a:blip r:embed="rId5"/>
          <a:stretch>
            <a:fillRect/>
          </a:stretch>
        </p:blipFill>
        <p:spPr>
          <a:xfrm>
            <a:off x="8375955" y="5948625"/>
            <a:ext cx="3131449" cy="820467"/>
          </a:xfrm>
          <a:prstGeom prst="rect">
            <a:avLst/>
          </a:prstGeom>
        </p:spPr>
      </p:pic>
    </p:spTree>
    <p:extLst>
      <p:ext uri="{BB962C8B-B14F-4D97-AF65-F5344CB8AC3E}">
        <p14:creationId xmlns:p14="http://schemas.microsoft.com/office/powerpoint/2010/main" val="128356838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A961C1FF-1E7A-4F0F-8F56-D31DE4C91131}"/>
              </a:ext>
            </a:extLst>
          </p:cNvPr>
          <p:cNvPicPr>
            <a:picLocks noChangeAspect="1"/>
          </p:cNvPicPr>
          <p:nvPr/>
        </p:nvPicPr>
        <p:blipFill>
          <a:blip r:embed="rId2"/>
          <a:stretch>
            <a:fillRect/>
          </a:stretch>
        </p:blipFill>
        <p:spPr>
          <a:xfrm>
            <a:off x="6015404" y="403915"/>
            <a:ext cx="3543300" cy="3552825"/>
          </a:xfrm>
          <a:prstGeom prst="rect">
            <a:avLst/>
          </a:prstGeom>
        </p:spPr>
      </p:pic>
      <p:pic>
        <p:nvPicPr>
          <p:cNvPr id="5" name="圖片 4">
            <a:extLst>
              <a:ext uri="{FF2B5EF4-FFF2-40B4-BE49-F238E27FC236}">
                <a16:creationId xmlns:a16="http://schemas.microsoft.com/office/drawing/2014/main" id="{9E53AEA5-B58B-471E-A085-092E945B4E09}"/>
              </a:ext>
            </a:extLst>
          </p:cNvPr>
          <p:cNvPicPr>
            <a:picLocks noChangeAspect="1"/>
          </p:cNvPicPr>
          <p:nvPr/>
        </p:nvPicPr>
        <p:blipFill>
          <a:blip r:embed="rId3"/>
          <a:stretch>
            <a:fillRect/>
          </a:stretch>
        </p:blipFill>
        <p:spPr>
          <a:xfrm>
            <a:off x="9773645" y="611083"/>
            <a:ext cx="1981200" cy="2790825"/>
          </a:xfrm>
          <a:prstGeom prst="rect">
            <a:avLst/>
          </a:prstGeom>
        </p:spPr>
      </p:pic>
      <p:graphicFrame>
        <p:nvGraphicFramePr>
          <p:cNvPr id="6" name="表格 4">
            <a:extLst>
              <a:ext uri="{FF2B5EF4-FFF2-40B4-BE49-F238E27FC236}">
                <a16:creationId xmlns:a16="http://schemas.microsoft.com/office/drawing/2014/main" id="{B5ECDB48-0D2F-474E-B867-54DB64C7466B}"/>
              </a:ext>
            </a:extLst>
          </p:cNvPr>
          <p:cNvGraphicFramePr>
            <a:graphicFrameLocks noGrp="1"/>
          </p:cNvGraphicFramePr>
          <p:nvPr>
            <p:extLst>
              <p:ext uri="{D42A27DB-BD31-4B8C-83A1-F6EECF244321}">
                <p14:modId xmlns:p14="http://schemas.microsoft.com/office/powerpoint/2010/main" val="3313123816"/>
              </p:ext>
            </p:extLst>
          </p:nvPr>
        </p:nvGraphicFramePr>
        <p:xfrm>
          <a:off x="120476" y="-1185705"/>
          <a:ext cx="6011687" cy="8596182"/>
        </p:xfrm>
        <a:graphic>
          <a:graphicData uri="http://schemas.openxmlformats.org/drawingml/2006/table">
            <a:tbl>
              <a:tblPr firstRow="1" bandRow="1">
                <a:tableStyleId>{5C22544A-7EE6-4342-B048-85BDC9FD1C3A}</a:tableStyleId>
              </a:tblPr>
              <a:tblGrid>
                <a:gridCol w="792016">
                  <a:extLst>
                    <a:ext uri="{9D8B030D-6E8A-4147-A177-3AD203B41FA5}">
                      <a16:colId xmlns:a16="http://schemas.microsoft.com/office/drawing/2014/main" val="239911059"/>
                    </a:ext>
                  </a:extLst>
                </a:gridCol>
                <a:gridCol w="1097372">
                  <a:extLst>
                    <a:ext uri="{9D8B030D-6E8A-4147-A177-3AD203B41FA5}">
                      <a16:colId xmlns:a16="http://schemas.microsoft.com/office/drawing/2014/main" val="2696759501"/>
                    </a:ext>
                  </a:extLst>
                </a:gridCol>
                <a:gridCol w="1173710">
                  <a:extLst>
                    <a:ext uri="{9D8B030D-6E8A-4147-A177-3AD203B41FA5}">
                      <a16:colId xmlns:a16="http://schemas.microsoft.com/office/drawing/2014/main" val="802323705"/>
                    </a:ext>
                  </a:extLst>
                </a:gridCol>
                <a:gridCol w="1285852">
                  <a:extLst>
                    <a:ext uri="{9D8B030D-6E8A-4147-A177-3AD203B41FA5}">
                      <a16:colId xmlns:a16="http://schemas.microsoft.com/office/drawing/2014/main" val="111345989"/>
                    </a:ext>
                  </a:extLst>
                </a:gridCol>
                <a:gridCol w="1662737">
                  <a:extLst>
                    <a:ext uri="{9D8B030D-6E8A-4147-A177-3AD203B41FA5}">
                      <a16:colId xmlns:a16="http://schemas.microsoft.com/office/drawing/2014/main" val="1167941338"/>
                    </a:ext>
                  </a:extLst>
                </a:gridCol>
              </a:tblGrid>
              <a:tr h="311499">
                <a:tc>
                  <a:txBody>
                    <a:bodyPr/>
                    <a:lstStyle/>
                    <a:p>
                      <a:r>
                        <a:rPr lang="en-US" altLang="zh-TW" sz="1400" b="0" dirty="0">
                          <a:solidFill>
                            <a:schemeClr val="tx1"/>
                          </a:solidFill>
                        </a:rPr>
                        <a:t>Task</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P1</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P2</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P3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sz="1400" b="0" dirty="0">
                          <a:solidFill>
                            <a:schemeClr val="tx1"/>
                          </a:solidFill>
                          <a:latin typeface="標楷體" panose="03000509000000000000" pitchFamily="65" charset="-120"/>
                          <a:ea typeface="標楷體" panose="03000509000000000000" pitchFamily="65" charset="-120"/>
                        </a:rPr>
                        <a:t>平均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90054">
                <a:tc>
                  <a:txBody>
                    <a:bodyPr/>
                    <a:lstStyle/>
                    <a:p>
                      <a:r>
                        <a:rPr lang="en-US" altLang="zh-TW" sz="1400" b="0" dirty="0">
                          <a:solidFill>
                            <a:schemeClr val="tx1"/>
                          </a:solidFill>
                        </a:rPr>
                        <a:t>T1</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38+13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19+19</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36+18</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51+38+54</a:t>
                      </a:r>
                    </a:p>
                    <a:p>
                      <a:r>
                        <a:rPr lang="en-US" altLang="zh-TW" sz="1400" b="0" dirty="0">
                          <a:solidFill>
                            <a:schemeClr val="tx1"/>
                          </a:solidFill>
                          <a:latin typeface="標楷體" panose="03000509000000000000" pitchFamily="65" charset="-120"/>
                          <a:ea typeface="標楷體" panose="03000509000000000000" pitchFamily="65" charset="-120"/>
                        </a:rPr>
                        <a:t>143/3=43.67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691840">
                <a:tc rowSpan="2">
                  <a:txBody>
                    <a:bodyPr/>
                    <a:lstStyle/>
                    <a:p>
                      <a:r>
                        <a:rPr lang="en-US" altLang="zh-TW" sz="1400" b="0" dirty="0">
                          <a:solidFill>
                            <a:schemeClr val="tx1"/>
                          </a:solidFill>
                        </a:rPr>
                        <a:t>T2(T8)</a:t>
                      </a:r>
                    </a:p>
                    <a:p>
                      <a:endParaRPr lang="en-US" altLang="zh-TW" sz="1400" b="0" dirty="0">
                        <a:solidFill>
                          <a:schemeClr val="tx1"/>
                        </a:solidFill>
                      </a:endParaRPr>
                    </a:p>
                    <a:p>
                      <a:endParaRPr lang="en-US" altLang="zh-TW" sz="1400" b="0" dirty="0">
                        <a:solidFill>
                          <a:schemeClr val="tx1"/>
                        </a:solidFill>
                      </a:endParaRPr>
                    </a:p>
                    <a:p>
                      <a:r>
                        <a:rPr lang="en-US" altLang="zh-TW" sz="1400" b="0" dirty="0">
                          <a:solidFill>
                            <a:schemeClr val="tx1"/>
                          </a:solidFill>
                        </a:rPr>
                        <a:t>T2(T9)</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a:t>
                      </a:r>
                    </a:p>
                    <a:p>
                      <a:r>
                        <a:rPr lang="en-US" altLang="zh-TW" sz="1400" b="0" dirty="0">
                          <a:solidFill>
                            <a:schemeClr val="tx1"/>
                          </a:solidFill>
                          <a:latin typeface="標楷體" panose="03000509000000000000" pitchFamily="65" charset="-120"/>
                          <a:ea typeface="標楷體" panose="03000509000000000000" pitchFamily="65" charset="-120"/>
                        </a:rPr>
                        <a:t>7+11+16</a:t>
                      </a:r>
                    </a:p>
                    <a:p>
                      <a:r>
                        <a:rPr lang="en-US" altLang="zh-TW" sz="1400" b="0" dirty="0">
                          <a:solidFill>
                            <a:schemeClr val="tx1"/>
                          </a:solidFill>
                          <a:latin typeface="標楷體" panose="03000509000000000000" pitchFamily="65" charset="-120"/>
                          <a:ea typeface="標楷體" panose="03000509000000000000" pitchFamily="65" charset="-120"/>
                        </a:rPr>
                        <a:t>16+14+16</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18+5+16</a:t>
                      </a:r>
                    </a:p>
                    <a:p>
                      <a:r>
                        <a:rPr lang="en-US" altLang="zh-TW" sz="1400" b="0" dirty="0">
                          <a:solidFill>
                            <a:schemeClr val="tx1"/>
                          </a:solidFill>
                          <a:latin typeface="標楷體" panose="03000509000000000000" pitchFamily="65" charset="-120"/>
                          <a:ea typeface="標楷體" panose="03000509000000000000" pitchFamily="65" charset="-120"/>
                        </a:rPr>
                        <a:t>7+11</a:t>
                      </a:r>
                    </a:p>
                    <a:p>
                      <a:r>
                        <a:rPr lang="en-US" altLang="zh-TW" sz="1400" b="0" dirty="0">
                          <a:solidFill>
                            <a:schemeClr val="tx1"/>
                          </a:solidFill>
                          <a:latin typeface="標楷體" panose="03000509000000000000" pitchFamily="65" charset="-120"/>
                          <a:ea typeface="標楷體" panose="03000509000000000000" pitchFamily="65" charset="-120"/>
                        </a:rPr>
                        <a:t>16+14+16</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18+5+16</a:t>
                      </a:r>
                    </a:p>
                    <a:p>
                      <a:r>
                        <a:rPr lang="en-US" altLang="zh-TW" sz="1400" b="0" dirty="0">
                          <a:solidFill>
                            <a:schemeClr val="tx1"/>
                          </a:solidFill>
                          <a:latin typeface="標楷體" panose="03000509000000000000" pitchFamily="65" charset="-120"/>
                          <a:ea typeface="標楷體" panose="03000509000000000000" pitchFamily="65" charset="-120"/>
                        </a:rPr>
                        <a:t>7+11+16</a:t>
                      </a:r>
                    </a:p>
                    <a:p>
                      <a:r>
                        <a:rPr lang="en-US" altLang="zh-TW" sz="1400" b="0" dirty="0">
                          <a:solidFill>
                            <a:schemeClr val="tx1"/>
                          </a:solidFill>
                          <a:latin typeface="標楷體" panose="03000509000000000000" pitchFamily="65" charset="-120"/>
                          <a:ea typeface="標楷體" panose="03000509000000000000" pitchFamily="65" charset="-120"/>
                        </a:rPr>
                        <a:t>16+14</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23+18+30</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71/3=23.67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691840">
                <a:tc vMerge="1">
                  <a:txBody>
                    <a:bodyPr/>
                    <a:lstStyle/>
                    <a:p>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a:t>
                      </a:r>
                    </a:p>
                    <a:p>
                      <a:r>
                        <a:rPr lang="en-US" altLang="zh-TW" sz="1400" b="0" dirty="0">
                          <a:solidFill>
                            <a:schemeClr val="tx1"/>
                          </a:solidFill>
                          <a:latin typeface="標楷體" panose="03000509000000000000" pitchFamily="65" charset="-120"/>
                          <a:ea typeface="標楷體" panose="03000509000000000000" pitchFamily="65" charset="-120"/>
                        </a:rPr>
                        <a:t>7+12+19</a:t>
                      </a:r>
                    </a:p>
                    <a:p>
                      <a:r>
                        <a:rPr lang="en-US" altLang="zh-TW" sz="1400" b="0" dirty="0">
                          <a:solidFill>
                            <a:schemeClr val="tx1"/>
                          </a:solidFill>
                          <a:latin typeface="標楷體" panose="03000509000000000000" pitchFamily="65" charset="-120"/>
                          <a:ea typeface="標楷體" panose="03000509000000000000" pitchFamily="65" charset="-120"/>
                        </a:rPr>
                        <a:t>16+20+19</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20+18+19</a:t>
                      </a:r>
                    </a:p>
                    <a:p>
                      <a:r>
                        <a:rPr lang="en-US" altLang="zh-TW" sz="1400" b="0" dirty="0">
                          <a:solidFill>
                            <a:schemeClr val="tx1"/>
                          </a:solidFill>
                          <a:latin typeface="標楷體" panose="03000509000000000000" pitchFamily="65" charset="-120"/>
                          <a:ea typeface="標楷體" panose="03000509000000000000" pitchFamily="65" charset="-120"/>
                        </a:rPr>
                        <a:t>7+12</a:t>
                      </a:r>
                    </a:p>
                    <a:p>
                      <a:r>
                        <a:rPr lang="en-US" altLang="zh-TW" sz="1400" b="0" dirty="0">
                          <a:solidFill>
                            <a:schemeClr val="tx1"/>
                          </a:solidFill>
                          <a:latin typeface="標楷體" panose="03000509000000000000" pitchFamily="65" charset="-120"/>
                          <a:ea typeface="標楷體" panose="03000509000000000000" pitchFamily="65" charset="-120"/>
                        </a:rPr>
                        <a:t>16+20+19</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20+18+19</a:t>
                      </a:r>
                    </a:p>
                    <a:p>
                      <a:r>
                        <a:rPr lang="en-US" altLang="zh-TW" sz="1400" b="0" dirty="0">
                          <a:solidFill>
                            <a:schemeClr val="tx1"/>
                          </a:solidFill>
                          <a:latin typeface="標楷體" panose="03000509000000000000" pitchFamily="65" charset="-120"/>
                          <a:ea typeface="標楷體" panose="03000509000000000000" pitchFamily="65" charset="-120"/>
                        </a:rPr>
                        <a:t>7+12+19</a:t>
                      </a:r>
                    </a:p>
                    <a:p>
                      <a:r>
                        <a:rPr lang="en-US" altLang="zh-TW" sz="1400" b="0" dirty="0">
                          <a:solidFill>
                            <a:schemeClr val="tx1"/>
                          </a:solidFill>
                          <a:latin typeface="標楷體" panose="03000509000000000000" pitchFamily="65" charset="-120"/>
                          <a:ea typeface="標楷體" panose="03000509000000000000" pitchFamily="65" charset="-120"/>
                        </a:rPr>
                        <a:t>16+20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38+19+36</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93/3=31</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0115345"/>
                  </a:ext>
                </a:extLst>
              </a:tr>
              <a:tr h="691840">
                <a:tc>
                  <a:txBody>
                    <a:bodyPr/>
                    <a:lstStyle/>
                    <a:p>
                      <a:r>
                        <a:rPr lang="en-US" altLang="zh-TW" sz="1400" b="0" dirty="0">
                          <a:solidFill>
                            <a:schemeClr val="tx1"/>
                          </a:solidFill>
                        </a:rPr>
                        <a:t>T3</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21+7</a:t>
                      </a:r>
                    </a:p>
                    <a:p>
                      <a:r>
                        <a:rPr lang="en-US" altLang="zh-TW" sz="1400" b="0" dirty="0">
                          <a:solidFill>
                            <a:schemeClr val="tx1"/>
                          </a:solidFill>
                          <a:latin typeface="標楷體" panose="03000509000000000000" pitchFamily="65" charset="-120"/>
                          <a:ea typeface="標楷體" panose="03000509000000000000" pitchFamily="65" charset="-120"/>
                        </a:rPr>
                        <a:t>7+15+23</a:t>
                      </a:r>
                    </a:p>
                    <a:p>
                      <a:r>
                        <a:rPr lang="en-US" altLang="zh-TW" sz="1400" b="0" dirty="0">
                          <a:solidFill>
                            <a:schemeClr val="tx1"/>
                          </a:solidFill>
                          <a:latin typeface="標楷體" panose="03000509000000000000" pitchFamily="65" charset="-120"/>
                          <a:ea typeface="標楷體" panose="03000509000000000000" pitchFamily="65" charset="-120"/>
                        </a:rPr>
                        <a:t>16+11+23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21+7+23</a:t>
                      </a:r>
                    </a:p>
                    <a:p>
                      <a:r>
                        <a:rPr lang="en-US" altLang="zh-TW" sz="1400" b="0" dirty="0">
                          <a:solidFill>
                            <a:schemeClr val="tx1"/>
                          </a:solidFill>
                          <a:latin typeface="標楷體" panose="03000509000000000000" pitchFamily="65" charset="-120"/>
                          <a:ea typeface="標楷體" panose="03000509000000000000" pitchFamily="65" charset="-120"/>
                        </a:rPr>
                        <a:t>7+15</a:t>
                      </a:r>
                    </a:p>
                    <a:p>
                      <a:r>
                        <a:rPr lang="en-US" altLang="zh-TW" sz="1400" b="0" dirty="0">
                          <a:solidFill>
                            <a:schemeClr val="tx1"/>
                          </a:solidFill>
                          <a:latin typeface="標楷體" panose="03000509000000000000" pitchFamily="65" charset="-120"/>
                          <a:ea typeface="標楷體" panose="03000509000000000000" pitchFamily="65" charset="-120"/>
                        </a:rPr>
                        <a:t>16+11+23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21+7+23</a:t>
                      </a:r>
                    </a:p>
                    <a:p>
                      <a:r>
                        <a:rPr lang="en-US" altLang="zh-TW" sz="1400" b="0" dirty="0">
                          <a:solidFill>
                            <a:schemeClr val="tx1"/>
                          </a:solidFill>
                          <a:latin typeface="標楷體" panose="03000509000000000000" pitchFamily="65" charset="-120"/>
                          <a:ea typeface="標楷體" panose="03000509000000000000" pitchFamily="65" charset="-120"/>
                        </a:rPr>
                        <a:t>7+15+23</a:t>
                      </a:r>
                    </a:p>
                    <a:p>
                      <a:r>
                        <a:rPr lang="en-US" altLang="zh-TW" sz="1400" b="0" dirty="0">
                          <a:solidFill>
                            <a:schemeClr val="tx1"/>
                          </a:solidFill>
                          <a:latin typeface="標楷體" panose="03000509000000000000" pitchFamily="65" charset="-120"/>
                          <a:ea typeface="標楷體" panose="03000509000000000000" pitchFamily="65" charset="-120"/>
                        </a:rPr>
                        <a:t>16+11</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28+22+27</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77/3=25.67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691840">
                <a:tc rowSpan="2">
                  <a:txBody>
                    <a:bodyPr/>
                    <a:lstStyle/>
                    <a:p>
                      <a:r>
                        <a:rPr lang="en-US" altLang="zh-TW" sz="1400" b="0" dirty="0">
                          <a:solidFill>
                            <a:schemeClr val="tx1"/>
                          </a:solidFill>
                        </a:rPr>
                        <a:t>T4(T8)</a:t>
                      </a:r>
                    </a:p>
                    <a:p>
                      <a:endParaRPr lang="en-US" altLang="zh-TW" sz="1400" b="0" dirty="0">
                        <a:solidFill>
                          <a:schemeClr val="tx1"/>
                        </a:solidFill>
                      </a:endParaRPr>
                    </a:p>
                    <a:p>
                      <a:endParaRPr lang="en-US" altLang="zh-TW" sz="1400" b="0" dirty="0">
                        <a:solidFill>
                          <a:schemeClr val="tx1"/>
                        </a:solidFill>
                      </a:endParaRPr>
                    </a:p>
                    <a:p>
                      <a:r>
                        <a:rPr lang="en-US" altLang="zh-TW" sz="1400" b="0" dirty="0">
                          <a:solidFill>
                            <a:schemeClr val="tx1"/>
                          </a:solidFill>
                        </a:rPr>
                        <a:t>T4(T9)</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rgbClr val="0070C0"/>
                          </a:solidFill>
                          <a:latin typeface="標楷體" panose="03000509000000000000" pitchFamily="65" charset="-120"/>
                          <a:ea typeface="標楷體" panose="03000509000000000000" pitchFamily="65" charset="-120"/>
                        </a:rPr>
                        <a:t>18</a:t>
                      </a:r>
                      <a:r>
                        <a:rPr lang="en-US" altLang="zh-TW" sz="1400" b="0" dirty="0">
                          <a:solidFill>
                            <a:schemeClr val="tx1"/>
                          </a:solidFill>
                          <a:latin typeface="標楷體" panose="03000509000000000000" pitchFamily="65" charset="-120"/>
                          <a:ea typeface="標楷體" panose="03000509000000000000" pitchFamily="65" charset="-120"/>
                        </a:rPr>
                        <a:t>+5</a:t>
                      </a:r>
                    </a:p>
                    <a:p>
                      <a:r>
                        <a:rPr lang="en-US" altLang="zh-TW" sz="1400" b="0" dirty="0">
                          <a:solidFill>
                            <a:schemeClr val="tx1"/>
                          </a:solidFill>
                          <a:latin typeface="標楷體" panose="03000509000000000000" pitchFamily="65" charset="-120"/>
                          <a:ea typeface="標楷體" panose="03000509000000000000" pitchFamily="65" charset="-120"/>
                        </a:rPr>
                        <a:t>7+11+27</a:t>
                      </a:r>
                    </a:p>
                    <a:p>
                      <a:r>
                        <a:rPr lang="en-US" altLang="zh-TW" sz="1400" b="0" dirty="0">
                          <a:solidFill>
                            <a:schemeClr val="tx1"/>
                          </a:solidFill>
                          <a:latin typeface="標楷體" panose="03000509000000000000" pitchFamily="65" charset="-120"/>
                          <a:ea typeface="標楷體" panose="03000509000000000000" pitchFamily="65" charset="-120"/>
                        </a:rPr>
                        <a:t>16+14+27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18+5+27</a:t>
                      </a:r>
                    </a:p>
                    <a:p>
                      <a:r>
                        <a:rPr lang="en-US" altLang="zh-TW" sz="1400" b="0" dirty="0">
                          <a:solidFill>
                            <a:srgbClr val="0070C0"/>
                          </a:solidFill>
                          <a:latin typeface="標楷體" panose="03000509000000000000" pitchFamily="65" charset="-120"/>
                          <a:ea typeface="標楷體" panose="03000509000000000000" pitchFamily="65" charset="-120"/>
                        </a:rPr>
                        <a:t>7</a:t>
                      </a:r>
                      <a:r>
                        <a:rPr lang="en-US" altLang="zh-TW" sz="1400" b="0" dirty="0">
                          <a:solidFill>
                            <a:schemeClr val="tx1"/>
                          </a:solidFill>
                          <a:latin typeface="標楷體" panose="03000509000000000000" pitchFamily="65" charset="-120"/>
                          <a:ea typeface="標楷體" panose="03000509000000000000" pitchFamily="65" charset="-120"/>
                        </a:rPr>
                        <a:t>+11</a:t>
                      </a:r>
                    </a:p>
                    <a:p>
                      <a:r>
                        <a:rPr lang="en-US" altLang="zh-TW" sz="1400" b="0" dirty="0">
                          <a:solidFill>
                            <a:schemeClr val="tx1"/>
                          </a:solidFill>
                          <a:latin typeface="標楷體" panose="03000509000000000000" pitchFamily="65" charset="-120"/>
                          <a:ea typeface="標楷體" panose="03000509000000000000" pitchFamily="65" charset="-120"/>
                        </a:rPr>
                        <a:t>16+14+27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18+5+27</a:t>
                      </a:r>
                    </a:p>
                    <a:p>
                      <a:r>
                        <a:rPr lang="en-US" altLang="zh-TW" sz="1400" b="0" dirty="0">
                          <a:solidFill>
                            <a:schemeClr val="tx1"/>
                          </a:solidFill>
                          <a:latin typeface="標楷體" panose="03000509000000000000" pitchFamily="65" charset="-120"/>
                          <a:ea typeface="標楷體" panose="03000509000000000000" pitchFamily="65" charset="-120"/>
                        </a:rPr>
                        <a:t>7+11+27</a:t>
                      </a:r>
                    </a:p>
                    <a:p>
                      <a:r>
                        <a:rPr lang="en-US" altLang="zh-TW" sz="1400" b="0" dirty="0">
                          <a:solidFill>
                            <a:srgbClr val="0070C0"/>
                          </a:solidFill>
                          <a:latin typeface="標楷體" panose="03000509000000000000" pitchFamily="65" charset="-120"/>
                          <a:ea typeface="標楷體" panose="03000509000000000000" pitchFamily="65" charset="-120"/>
                        </a:rPr>
                        <a:t>16</a:t>
                      </a:r>
                      <a:r>
                        <a:rPr lang="en-US" altLang="zh-TW" sz="1400" b="0" dirty="0">
                          <a:solidFill>
                            <a:schemeClr val="tx1"/>
                          </a:solidFill>
                          <a:latin typeface="標楷體" panose="03000509000000000000" pitchFamily="65" charset="-120"/>
                          <a:ea typeface="標楷體" panose="03000509000000000000" pitchFamily="65" charset="-120"/>
                        </a:rPr>
                        <a:t>+14</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23+18+30</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71/3=27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691840">
                <a:tc vMerge="1">
                  <a:txBody>
                    <a:bodyPr/>
                    <a:lstStyle/>
                    <a:p>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rgbClr val="00B050"/>
                          </a:solidFill>
                          <a:latin typeface="標楷體" panose="03000509000000000000" pitchFamily="65" charset="-120"/>
                          <a:ea typeface="標楷體" panose="03000509000000000000" pitchFamily="65" charset="-120"/>
                        </a:rPr>
                        <a:t>20</a:t>
                      </a:r>
                      <a:r>
                        <a:rPr lang="en-US" altLang="zh-TW" sz="1400" b="0" dirty="0">
                          <a:solidFill>
                            <a:schemeClr val="tx1"/>
                          </a:solidFill>
                          <a:latin typeface="標楷體" panose="03000509000000000000" pitchFamily="65" charset="-120"/>
                          <a:ea typeface="標楷體" panose="03000509000000000000" pitchFamily="65" charset="-120"/>
                        </a:rPr>
                        <a:t>+18</a:t>
                      </a:r>
                    </a:p>
                    <a:p>
                      <a:r>
                        <a:rPr lang="en-US" altLang="zh-TW" sz="1400" b="0" dirty="0">
                          <a:solidFill>
                            <a:schemeClr val="tx1"/>
                          </a:solidFill>
                          <a:latin typeface="標楷體" panose="03000509000000000000" pitchFamily="65" charset="-120"/>
                          <a:ea typeface="標楷體" panose="03000509000000000000" pitchFamily="65" charset="-120"/>
                        </a:rPr>
                        <a:t>7+12+23</a:t>
                      </a:r>
                    </a:p>
                    <a:p>
                      <a:r>
                        <a:rPr lang="en-US" altLang="zh-TW" sz="1400" b="0" dirty="0">
                          <a:solidFill>
                            <a:schemeClr val="tx1"/>
                          </a:solidFill>
                          <a:latin typeface="標楷體" panose="03000509000000000000" pitchFamily="65" charset="-120"/>
                          <a:ea typeface="標楷體" panose="03000509000000000000" pitchFamily="65" charset="-120"/>
                        </a:rPr>
                        <a:t>16+20+23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20+18+23</a:t>
                      </a:r>
                    </a:p>
                    <a:p>
                      <a:r>
                        <a:rPr lang="en-US" altLang="zh-TW" sz="1400" b="0" dirty="0">
                          <a:solidFill>
                            <a:srgbClr val="00B050"/>
                          </a:solidFill>
                          <a:latin typeface="標楷體" panose="03000509000000000000" pitchFamily="65" charset="-120"/>
                          <a:ea typeface="標楷體" panose="03000509000000000000" pitchFamily="65" charset="-120"/>
                        </a:rPr>
                        <a:t>7</a:t>
                      </a:r>
                      <a:r>
                        <a:rPr lang="en-US" altLang="zh-TW" sz="1400" b="0" dirty="0">
                          <a:solidFill>
                            <a:schemeClr val="tx1"/>
                          </a:solidFill>
                          <a:latin typeface="標楷體" panose="03000509000000000000" pitchFamily="65" charset="-120"/>
                          <a:ea typeface="標楷體" panose="03000509000000000000" pitchFamily="65" charset="-120"/>
                        </a:rPr>
                        <a:t>+12</a:t>
                      </a:r>
                    </a:p>
                    <a:p>
                      <a:r>
                        <a:rPr lang="en-US" altLang="zh-TW" sz="1400" b="0" dirty="0">
                          <a:solidFill>
                            <a:schemeClr val="tx1"/>
                          </a:solidFill>
                          <a:latin typeface="標楷體" panose="03000509000000000000" pitchFamily="65" charset="-120"/>
                          <a:ea typeface="標楷體" panose="03000509000000000000" pitchFamily="65" charset="-120"/>
                        </a:rPr>
                        <a:t>16+20+23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20+18+23</a:t>
                      </a:r>
                    </a:p>
                    <a:p>
                      <a:r>
                        <a:rPr lang="en-US" altLang="zh-TW" sz="1400" b="0" dirty="0">
                          <a:solidFill>
                            <a:schemeClr val="tx1"/>
                          </a:solidFill>
                          <a:latin typeface="標楷體" panose="03000509000000000000" pitchFamily="65" charset="-120"/>
                          <a:ea typeface="標楷體" panose="03000509000000000000" pitchFamily="65" charset="-120"/>
                        </a:rPr>
                        <a:t>7+12+23</a:t>
                      </a:r>
                    </a:p>
                    <a:p>
                      <a:r>
                        <a:rPr lang="en-US" altLang="zh-TW" sz="1400" b="0" dirty="0">
                          <a:solidFill>
                            <a:srgbClr val="00B050"/>
                          </a:solidFill>
                          <a:latin typeface="標楷體" panose="03000509000000000000" pitchFamily="65" charset="-120"/>
                          <a:ea typeface="標楷體" panose="03000509000000000000" pitchFamily="65" charset="-120"/>
                        </a:rPr>
                        <a:t>16</a:t>
                      </a:r>
                      <a:r>
                        <a:rPr lang="en-US" altLang="zh-TW" sz="1400" b="0" dirty="0">
                          <a:solidFill>
                            <a:schemeClr val="tx1"/>
                          </a:solidFill>
                          <a:latin typeface="標楷體" panose="03000509000000000000" pitchFamily="65" charset="-120"/>
                          <a:ea typeface="標楷體" panose="03000509000000000000" pitchFamily="65" charset="-120"/>
                        </a:rPr>
                        <a:t>+20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38+19+36</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94/3=31.3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2182626"/>
                  </a:ext>
                </a:extLst>
              </a:tr>
              <a:tr h="691840">
                <a:tc>
                  <a:txBody>
                    <a:bodyPr/>
                    <a:lstStyle/>
                    <a:p>
                      <a:r>
                        <a:rPr lang="en-US" altLang="zh-TW" sz="1400" b="0" dirty="0">
                          <a:solidFill>
                            <a:schemeClr val="tx1"/>
                          </a:solidFill>
                        </a:rPr>
                        <a:t>T5</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a:t>
                      </a:r>
                    </a:p>
                    <a:p>
                      <a:r>
                        <a:rPr lang="en-US" altLang="zh-TW" sz="1400" b="0" dirty="0">
                          <a:solidFill>
                            <a:schemeClr val="tx1"/>
                          </a:solidFill>
                          <a:latin typeface="標楷體" panose="03000509000000000000" pitchFamily="65" charset="-120"/>
                          <a:ea typeface="標楷體" panose="03000509000000000000" pitchFamily="65" charset="-120"/>
                        </a:rPr>
                        <a:t>7+12+13</a:t>
                      </a:r>
                    </a:p>
                    <a:p>
                      <a:r>
                        <a:rPr lang="en-US" altLang="zh-TW" sz="1400" b="0" dirty="0">
                          <a:solidFill>
                            <a:schemeClr val="tx1"/>
                          </a:solidFill>
                          <a:latin typeface="標楷體" panose="03000509000000000000" pitchFamily="65" charset="-120"/>
                          <a:ea typeface="標楷體" panose="03000509000000000000" pitchFamily="65" charset="-120"/>
                        </a:rPr>
                        <a:t>16+20+13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20+18+13</a:t>
                      </a:r>
                    </a:p>
                    <a:p>
                      <a:r>
                        <a:rPr lang="en-US" altLang="zh-TW" sz="1400" b="0" dirty="0">
                          <a:solidFill>
                            <a:schemeClr val="tx1"/>
                          </a:solidFill>
                          <a:latin typeface="標楷體" panose="03000509000000000000" pitchFamily="65" charset="-120"/>
                          <a:ea typeface="標楷體" panose="03000509000000000000" pitchFamily="65" charset="-120"/>
                        </a:rPr>
                        <a:t>7+12</a:t>
                      </a:r>
                    </a:p>
                    <a:p>
                      <a:r>
                        <a:rPr lang="en-US" altLang="zh-TW" sz="1400" b="0" dirty="0">
                          <a:solidFill>
                            <a:schemeClr val="tx1"/>
                          </a:solidFill>
                          <a:latin typeface="標楷體" panose="03000509000000000000" pitchFamily="65" charset="-120"/>
                          <a:ea typeface="標楷體" panose="03000509000000000000" pitchFamily="65" charset="-120"/>
                        </a:rPr>
                        <a:t>16+20+13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20+18+113</a:t>
                      </a:r>
                    </a:p>
                    <a:p>
                      <a:r>
                        <a:rPr lang="en-US" altLang="zh-TW" sz="1400" b="0" dirty="0">
                          <a:solidFill>
                            <a:schemeClr val="tx1"/>
                          </a:solidFill>
                          <a:latin typeface="標楷體" panose="03000509000000000000" pitchFamily="65" charset="-120"/>
                          <a:ea typeface="標楷體" panose="03000509000000000000" pitchFamily="65" charset="-120"/>
                        </a:rPr>
                        <a:t>7+12+13</a:t>
                      </a:r>
                    </a:p>
                    <a:p>
                      <a:r>
                        <a:rPr lang="en-US" altLang="zh-TW" sz="1400" b="0" dirty="0">
                          <a:solidFill>
                            <a:schemeClr val="tx1"/>
                          </a:solidFill>
                          <a:latin typeface="標楷體" panose="03000509000000000000" pitchFamily="65" charset="-120"/>
                          <a:ea typeface="標楷體" panose="03000509000000000000" pitchFamily="65" charset="-120"/>
                        </a:rPr>
                        <a:t>16+20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32+19+21</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93/3=27.67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691840">
                <a:tc>
                  <a:txBody>
                    <a:bodyPr/>
                    <a:lstStyle/>
                    <a:p>
                      <a:r>
                        <a:rPr lang="en-US" altLang="zh-TW" sz="1400" b="0" dirty="0">
                          <a:solidFill>
                            <a:schemeClr val="tx1"/>
                          </a:solidFill>
                        </a:rPr>
                        <a:t>T6</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a:t>
                      </a:r>
                    </a:p>
                    <a:p>
                      <a:r>
                        <a:rPr lang="en-US" altLang="zh-TW" sz="1400" b="0" dirty="0">
                          <a:solidFill>
                            <a:schemeClr val="tx1"/>
                          </a:solidFill>
                          <a:latin typeface="標楷體" panose="03000509000000000000" pitchFamily="65" charset="-120"/>
                          <a:ea typeface="標楷體" panose="03000509000000000000" pitchFamily="65" charset="-120"/>
                        </a:rPr>
                        <a:t>7+11+15</a:t>
                      </a:r>
                    </a:p>
                    <a:p>
                      <a:r>
                        <a:rPr lang="en-US" altLang="zh-TW" sz="1400" b="0" dirty="0">
                          <a:solidFill>
                            <a:schemeClr val="tx1"/>
                          </a:solidFill>
                          <a:latin typeface="標楷體" panose="03000509000000000000" pitchFamily="65" charset="-120"/>
                          <a:ea typeface="標楷體" panose="03000509000000000000" pitchFamily="65" charset="-120"/>
                        </a:rPr>
                        <a:t>16+14+15</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18+5+15</a:t>
                      </a:r>
                    </a:p>
                    <a:p>
                      <a:r>
                        <a:rPr lang="en-US" altLang="zh-TW" sz="1400" b="0" dirty="0">
                          <a:solidFill>
                            <a:schemeClr val="tx1"/>
                          </a:solidFill>
                          <a:latin typeface="標楷體" panose="03000509000000000000" pitchFamily="65" charset="-120"/>
                          <a:ea typeface="標楷體" panose="03000509000000000000" pitchFamily="65" charset="-120"/>
                        </a:rPr>
                        <a:t>7+11</a:t>
                      </a:r>
                    </a:p>
                    <a:p>
                      <a:r>
                        <a:rPr lang="en-US" altLang="zh-TW" sz="1400" b="0" dirty="0">
                          <a:solidFill>
                            <a:schemeClr val="tx1"/>
                          </a:solidFill>
                          <a:latin typeface="標楷體" panose="03000509000000000000" pitchFamily="65" charset="-120"/>
                          <a:ea typeface="標楷體" panose="03000509000000000000" pitchFamily="65" charset="-120"/>
                        </a:rPr>
                        <a:t>16+14+15</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18+5+15</a:t>
                      </a:r>
                    </a:p>
                    <a:p>
                      <a:r>
                        <a:rPr lang="en-US" altLang="zh-TW" sz="1400" b="0" dirty="0">
                          <a:solidFill>
                            <a:schemeClr val="tx1"/>
                          </a:solidFill>
                          <a:latin typeface="標楷體" panose="03000509000000000000" pitchFamily="65" charset="-120"/>
                          <a:ea typeface="標楷體" panose="03000509000000000000" pitchFamily="65" charset="-120"/>
                        </a:rPr>
                        <a:t>7+11+15</a:t>
                      </a:r>
                    </a:p>
                    <a:p>
                      <a:r>
                        <a:rPr lang="en-US" altLang="zh-TW" sz="1400" b="0" dirty="0">
                          <a:solidFill>
                            <a:schemeClr val="tx1"/>
                          </a:solidFill>
                          <a:latin typeface="標楷體" panose="03000509000000000000" pitchFamily="65" charset="-120"/>
                          <a:ea typeface="標楷體" panose="03000509000000000000" pitchFamily="65" charset="-120"/>
                        </a:rPr>
                        <a:t>16+14</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23+18+30</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71/3=27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691840">
                <a:tc>
                  <a:txBody>
                    <a:bodyPr/>
                    <a:lstStyle/>
                    <a:p>
                      <a:r>
                        <a:rPr lang="en-US" altLang="zh-TW" sz="1400" b="0" dirty="0">
                          <a:solidFill>
                            <a:schemeClr val="tx1"/>
                          </a:solidFill>
                        </a:rPr>
                        <a:t>T7</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rgbClr val="FF0000"/>
                          </a:solidFill>
                          <a:latin typeface="標楷體" panose="03000509000000000000" pitchFamily="65" charset="-120"/>
                          <a:ea typeface="標楷體" panose="03000509000000000000" pitchFamily="65" charset="-120"/>
                        </a:rPr>
                        <a:t>21</a:t>
                      </a:r>
                    </a:p>
                    <a:p>
                      <a:r>
                        <a:rPr lang="en-US" altLang="zh-TW" sz="1400" b="0" dirty="0">
                          <a:solidFill>
                            <a:schemeClr val="tx1"/>
                          </a:solidFill>
                          <a:latin typeface="標楷體" panose="03000509000000000000" pitchFamily="65" charset="-120"/>
                          <a:ea typeface="標楷體" panose="03000509000000000000" pitchFamily="65" charset="-120"/>
                        </a:rPr>
                        <a:t>7+17</a:t>
                      </a:r>
                    </a:p>
                    <a:p>
                      <a:r>
                        <a:rPr lang="en-US" altLang="zh-TW" sz="1400" b="0" dirty="0">
                          <a:solidFill>
                            <a:schemeClr val="tx1"/>
                          </a:solidFill>
                          <a:latin typeface="標楷體" panose="03000509000000000000" pitchFamily="65" charset="-120"/>
                          <a:ea typeface="標楷體" panose="03000509000000000000" pitchFamily="65" charset="-120"/>
                        </a:rPr>
                        <a:t>16+17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21+17</a:t>
                      </a:r>
                    </a:p>
                    <a:p>
                      <a:r>
                        <a:rPr lang="en-US" altLang="zh-TW" sz="1400" b="0" dirty="0">
                          <a:solidFill>
                            <a:srgbClr val="FF0000"/>
                          </a:solidFill>
                          <a:latin typeface="標楷體" panose="03000509000000000000" pitchFamily="65" charset="-120"/>
                          <a:ea typeface="標楷體" panose="03000509000000000000" pitchFamily="65" charset="-120"/>
                        </a:rPr>
                        <a:t>7</a:t>
                      </a:r>
                    </a:p>
                    <a:p>
                      <a:r>
                        <a:rPr lang="en-US" altLang="zh-TW" sz="1400" b="0" dirty="0">
                          <a:solidFill>
                            <a:schemeClr val="tx1"/>
                          </a:solidFill>
                          <a:latin typeface="標楷體" panose="03000509000000000000" pitchFamily="65" charset="-120"/>
                          <a:ea typeface="標楷體" panose="03000509000000000000" pitchFamily="65" charset="-120"/>
                        </a:rPr>
                        <a:t>16+17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21+17</a:t>
                      </a:r>
                    </a:p>
                    <a:p>
                      <a:r>
                        <a:rPr lang="en-US" altLang="zh-TW" sz="1400" b="0" dirty="0">
                          <a:solidFill>
                            <a:schemeClr val="tx1"/>
                          </a:solidFill>
                          <a:latin typeface="標楷體" panose="03000509000000000000" pitchFamily="65" charset="-120"/>
                          <a:ea typeface="標楷體" panose="03000509000000000000" pitchFamily="65" charset="-120"/>
                        </a:rPr>
                        <a:t>7+17</a:t>
                      </a:r>
                    </a:p>
                    <a:p>
                      <a:r>
                        <a:rPr lang="en-US" altLang="zh-TW" sz="1400" b="0" dirty="0">
                          <a:solidFill>
                            <a:srgbClr val="FF0000"/>
                          </a:solidFill>
                          <a:latin typeface="標楷體" panose="03000509000000000000" pitchFamily="65" charset="-120"/>
                          <a:ea typeface="標楷體" panose="03000509000000000000" pitchFamily="65" charset="-120"/>
                        </a:rPr>
                        <a:t>16</a:t>
                      </a:r>
                      <a:endParaRPr lang="zh-TW" altLang="en-US" sz="1400" b="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rgbClr val="FF0000"/>
                          </a:solidFill>
                          <a:latin typeface="標楷體" panose="03000509000000000000" pitchFamily="65" charset="-120"/>
                          <a:ea typeface="標楷體" panose="03000509000000000000" pitchFamily="65" charset="-120"/>
                        </a:rPr>
                        <a:t>21+7+16</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44/3=14.67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691840">
                <a:tc>
                  <a:txBody>
                    <a:bodyPr/>
                    <a:lstStyle/>
                    <a:p>
                      <a:r>
                        <a:rPr lang="en-US" altLang="zh-TW" sz="1400" b="0" dirty="0">
                          <a:solidFill>
                            <a:schemeClr val="tx1"/>
                          </a:solidFill>
                        </a:rPr>
                        <a:t>T8</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a:t>
                      </a:r>
                    </a:p>
                    <a:p>
                      <a:r>
                        <a:rPr lang="en-US" altLang="zh-TW" sz="1400" b="0" dirty="0">
                          <a:solidFill>
                            <a:srgbClr val="0070C0"/>
                          </a:solidFill>
                          <a:latin typeface="標楷體" panose="03000509000000000000" pitchFamily="65" charset="-120"/>
                          <a:ea typeface="標楷體" panose="03000509000000000000" pitchFamily="65" charset="-120"/>
                        </a:rPr>
                        <a:t>7+11</a:t>
                      </a:r>
                    </a:p>
                    <a:p>
                      <a:r>
                        <a:rPr lang="en-US" altLang="zh-TW" sz="1400" b="0" dirty="0">
                          <a:solidFill>
                            <a:schemeClr val="tx1"/>
                          </a:solidFill>
                          <a:latin typeface="標楷體" panose="03000509000000000000" pitchFamily="65" charset="-120"/>
                          <a:ea typeface="標楷體" panose="03000509000000000000" pitchFamily="65" charset="-120"/>
                        </a:rPr>
                        <a:t>16+11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21+11</a:t>
                      </a:r>
                    </a:p>
                    <a:p>
                      <a:r>
                        <a:rPr lang="en-US" altLang="zh-TW" sz="1400" b="0" dirty="0">
                          <a:solidFill>
                            <a:srgbClr val="0070C0"/>
                          </a:solidFill>
                          <a:latin typeface="標楷體" panose="03000509000000000000" pitchFamily="65" charset="-120"/>
                          <a:ea typeface="標楷體" panose="03000509000000000000" pitchFamily="65" charset="-120"/>
                        </a:rPr>
                        <a:t>7</a:t>
                      </a:r>
                    </a:p>
                    <a:p>
                      <a:r>
                        <a:rPr lang="en-US" altLang="zh-TW" sz="1400" b="0" dirty="0">
                          <a:solidFill>
                            <a:schemeClr val="tx1"/>
                          </a:solidFill>
                          <a:latin typeface="標楷體" panose="03000509000000000000" pitchFamily="65" charset="-120"/>
                          <a:ea typeface="標楷體" panose="03000509000000000000" pitchFamily="65" charset="-120"/>
                        </a:rPr>
                        <a:t>21+11</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21+11</a:t>
                      </a:r>
                    </a:p>
                    <a:p>
                      <a:r>
                        <a:rPr lang="en-US" altLang="zh-TW" sz="1400" b="0" dirty="0">
                          <a:solidFill>
                            <a:schemeClr val="tx1"/>
                          </a:solidFill>
                          <a:latin typeface="標楷體" panose="03000509000000000000" pitchFamily="65" charset="-120"/>
                          <a:ea typeface="標楷體" panose="03000509000000000000" pitchFamily="65" charset="-120"/>
                        </a:rPr>
                        <a:t>7+11</a:t>
                      </a:r>
                    </a:p>
                    <a:p>
                      <a:r>
                        <a:rPr lang="en-US" altLang="zh-TW" sz="1400" b="0" dirty="0">
                          <a:solidFill>
                            <a:srgbClr val="0070C0"/>
                          </a:solidFill>
                          <a:latin typeface="標楷體" panose="03000509000000000000" pitchFamily="65" charset="-120"/>
                          <a:ea typeface="標楷體" panose="03000509000000000000" pitchFamily="65" charset="-12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rgbClr val="0070C0"/>
                          </a:solidFill>
                          <a:latin typeface="標楷體" panose="03000509000000000000" pitchFamily="65" charset="-120"/>
                          <a:ea typeface="標楷體" panose="03000509000000000000" pitchFamily="65" charset="-120"/>
                        </a:rPr>
                        <a:t>18+7+16</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41/3=13.67</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710820">
                <a:tc>
                  <a:txBody>
                    <a:bodyPr/>
                    <a:lstStyle/>
                    <a:p>
                      <a:r>
                        <a:rPr lang="en-US" altLang="zh-TW" sz="1400" b="0" dirty="0">
                          <a:solidFill>
                            <a:schemeClr val="tx1"/>
                          </a:solidFill>
                        </a:rPr>
                        <a:t>T9</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a:t>
                      </a:r>
                    </a:p>
                    <a:p>
                      <a:r>
                        <a:rPr lang="en-US" altLang="zh-TW" sz="1400" b="0" dirty="0">
                          <a:solidFill>
                            <a:srgbClr val="00B050"/>
                          </a:solidFill>
                          <a:latin typeface="標楷體" panose="03000509000000000000" pitchFamily="65" charset="-120"/>
                          <a:ea typeface="標楷體" panose="03000509000000000000" pitchFamily="65" charset="-120"/>
                        </a:rPr>
                        <a:t>7+13</a:t>
                      </a:r>
                    </a:p>
                    <a:p>
                      <a:r>
                        <a:rPr lang="en-US" altLang="zh-TW" sz="1400" b="0" dirty="0">
                          <a:solidFill>
                            <a:schemeClr val="tx1"/>
                          </a:solidFill>
                          <a:latin typeface="標楷體" panose="03000509000000000000" pitchFamily="65" charset="-120"/>
                          <a:ea typeface="標楷體" panose="03000509000000000000" pitchFamily="65" charset="-120"/>
                        </a:rPr>
                        <a:t>16+13</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21+13</a:t>
                      </a:r>
                    </a:p>
                    <a:p>
                      <a:r>
                        <a:rPr lang="en-US" altLang="zh-TW" sz="1400" b="0" dirty="0">
                          <a:solidFill>
                            <a:srgbClr val="00B050"/>
                          </a:solidFill>
                          <a:latin typeface="標楷體" panose="03000509000000000000" pitchFamily="65" charset="-120"/>
                          <a:ea typeface="標楷體" panose="03000509000000000000" pitchFamily="65" charset="-120"/>
                        </a:rPr>
                        <a:t>7</a:t>
                      </a:r>
                    </a:p>
                    <a:p>
                      <a:r>
                        <a:rPr lang="en-US" altLang="zh-TW" sz="1400" b="0" dirty="0">
                          <a:solidFill>
                            <a:schemeClr val="tx1"/>
                          </a:solidFill>
                          <a:latin typeface="標楷體" panose="03000509000000000000" pitchFamily="65" charset="-120"/>
                          <a:ea typeface="標楷體" panose="03000509000000000000" pitchFamily="65" charset="-120"/>
                        </a:rPr>
                        <a:t>16+13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21+13</a:t>
                      </a:r>
                    </a:p>
                    <a:p>
                      <a:r>
                        <a:rPr lang="en-US" altLang="zh-TW" sz="1400" b="0" dirty="0">
                          <a:solidFill>
                            <a:schemeClr val="tx1"/>
                          </a:solidFill>
                          <a:latin typeface="標楷體" panose="03000509000000000000" pitchFamily="65" charset="-120"/>
                          <a:ea typeface="標楷體" panose="03000509000000000000" pitchFamily="65" charset="-120"/>
                        </a:rPr>
                        <a:t>7+13</a:t>
                      </a:r>
                    </a:p>
                    <a:p>
                      <a:r>
                        <a:rPr lang="en-US" altLang="zh-TW" sz="1400" b="0" dirty="0">
                          <a:solidFill>
                            <a:srgbClr val="00B050"/>
                          </a:solidFill>
                          <a:latin typeface="標楷體" panose="03000509000000000000" pitchFamily="65" charset="-120"/>
                          <a:ea typeface="標楷體" panose="03000509000000000000" pitchFamily="65" charset="-120"/>
                        </a:rPr>
                        <a:t>16</a:t>
                      </a:r>
                      <a:endParaRPr lang="zh-TW" altLang="en-US" sz="1400" b="0" dirty="0">
                        <a:solidFill>
                          <a:srgbClr val="00B05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rgbClr val="00B050"/>
                          </a:solidFill>
                          <a:latin typeface="標楷體" panose="03000509000000000000" pitchFamily="65" charset="-120"/>
                          <a:ea typeface="標楷體" panose="03000509000000000000" pitchFamily="65" charset="-120"/>
                        </a:rPr>
                        <a:t>20+7+16</a:t>
                      </a:r>
                    </a:p>
                    <a:p>
                      <a:endParaRPr lang="en-US" altLang="zh-TW" sz="1400" b="0" dirty="0">
                        <a:solidFill>
                          <a:schemeClr val="tx1"/>
                        </a:solidFill>
                        <a:latin typeface="標楷體" panose="03000509000000000000" pitchFamily="65" charset="-120"/>
                        <a:ea typeface="標楷體" panose="03000509000000000000" pitchFamily="65" charset="-120"/>
                      </a:endParaRPr>
                    </a:p>
                    <a:p>
                      <a:r>
                        <a:rPr lang="en-US" altLang="zh-TW" sz="1400" b="0" dirty="0">
                          <a:solidFill>
                            <a:schemeClr val="tx1"/>
                          </a:solidFill>
                          <a:latin typeface="標楷體" panose="03000509000000000000" pitchFamily="65" charset="-120"/>
                          <a:ea typeface="標楷體" panose="03000509000000000000" pitchFamily="65" charset="-120"/>
                        </a:rPr>
                        <a:t>43/3=14.34</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51323">
                <a:tc>
                  <a:txBody>
                    <a:bodyPr/>
                    <a:lstStyle/>
                    <a:p>
                      <a:r>
                        <a:rPr lang="en-US" altLang="zh-TW" sz="1400" b="0" dirty="0">
                          <a:solidFill>
                            <a:schemeClr val="tx1"/>
                          </a:solidFill>
                        </a:rPr>
                        <a:t>T10</a:t>
                      </a:r>
                      <a:endParaRPr lang="zh-TW" alt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dirty="0">
                          <a:solidFill>
                            <a:schemeClr val="tx1"/>
                          </a:solidFill>
                          <a:latin typeface="標楷體" panose="03000509000000000000" pitchFamily="65" charset="-120"/>
                          <a:ea typeface="標楷體" panose="03000509000000000000" pitchFamily="65" charset="-120"/>
                        </a:rPr>
                        <a:t>0</a:t>
                      </a:r>
                      <a:endParaRPr lang="zh-TW" altLang="en-US" sz="140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7" name="圖片 6">
            <a:extLst>
              <a:ext uri="{FF2B5EF4-FFF2-40B4-BE49-F238E27FC236}">
                <a16:creationId xmlns:a16="http://schemas.microsoft.com/office/drawing/2014/main" id="{AF70F975-1700-48B9-9D10-C16BE52FAF2A}"/>
              </a:ext>
            </a:extLst>
          </p:cNvPr>
          <p:cNvPicPr>
            <a:picLocks noChangeAspect="1"/>
          </p:cNvPicPr>
          <p:nvPr/>
        </p:nvPicPr>
        <p:blipFill>
          <a:blip r:embed="rId4"/>
          <a:stretch>
            <a:fillRect/>
          </a:stretch>
        </p:blipFill>
        <p:spPr>
          <a:xfrm>
            <a:off x="6330357" y="4656569"/>
            <a:ext cx="6886575" cy="1114425"/>
          </a:xfrm>
          <a:prstGeom prst="rect">
            <a:avLst/>
          </a:prstGeom>
        </p:spPr>
      </p:pic>
      <p:pic>
        <p:nvPicPr>
          <p:cNvPr id="3" name="圖片 2">
            <a:extLst>
              <a:ext uri="{FF2B5EF4-FFF2-40B4-BE49-F238E27FC236}">
                <a16:creationId xmlns:a16="http://schemas.microsoft.com/office/drawing/2014/main" id="{CA476B0F-688A-46C2-AA7F-326DB0C81CCC}"/>
              </a:ext>
            </a:extLst>
          </p:cNvPr>
          <p:cNvPicPr>
            <a:picLocks noChangeAspect="1"/>
          </p:cNvPicPr>
          <p:nvPr/>
        </p:nvPicPr>
        <p:blipFill>
          <a:blip r:embed="rId5"/>
          <a:stretch>
            <a:fillRect/>
          </a:stretch>
        </p:blipFill>
        <p:spPr>
          <a:xfrm>
            <a:off x="8375955" y="5948625"/>
            <a:ext cx="3131449" cy="820467"/>
          </a:xfrm>
          <a:prstGeom prst="rect">
            <a:avLst/>
          </a:prstGeom>
        </p:spPr>
      </p:pic>
    </p:spTree>
    <p:extLst>
      <p:ext uri="{BB962C8B-B14F-4D97-AF65-F5344CB8AC3E}">
        <p14:creationId xmlns:p14="http://schemas.microsoft.com/office/powerpoint/2010/main" val="174103372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A961C1FF-1E7A-4F0F-8F56-D31DE4C91131}"/>
              </a:ext>
            </a:extLst>
          </p:cNvPr>
          <p:cNvPicPr>
            <a:picLocks noChangeAspect="1"/>
          </p:cNvPicPr>
          <p:nvPr/>
        </p:nvPicPr>
        <p:blipFill>
          <a:blip r:embed="rId2"/>
          <a:stretch>
            <a:fillRect/>
          </a:stretch>
        </p:blipFill>
        <p:spPr>
          <a:xfrm>
            <a:off x="6146032" y="223044"/>
            <a:ext cx="3543300" cy="3552825"/>
          </a:xfrm>
          <a:prstGeom prst="rect">
            <a:avLst/>
          </a:prstGeom>
        </p:spPr>
      </p:pic>
      <p:pic>
        <p:nvPicPr>
          <p:cNvPr id="5" name="圖片 4">
            <a:extLst>
              <a:ext uri="{FF2B5EF4-FFF2-40B4-BE49-F238E27FC236}">
                <a16:creationId xmlns:a16="http://schemas.microsoft.com/office/drawing/2014/main" id="{9E53AEA5-B58B-471E-A085-092E945B4E09}"/>
              </a:ext>
            </a:extLst>
          </p:cNvPr>
          <p:cNvPicPr>
            <a:picLocks noChangeAspect="1"/>
          </p:cNvPicPr>
          <p:nvPr/>
        </p:nvPicPr>
        <p:blipFill>
          <a:blip r:embed="rId3"/>
          <a:stretch>
            <a:fillRect/>
          </a:stretch>
        </p:blipFill>
        <p:spPr>
          <a:xfrm>
            <a:off x="9904273" y="430212"/>
            <a:ext cx="1981200" cy="2790825"/>
          </a:xfrm>
          <a:prstGeom prst="rect">
            <a:avLst/>
          </a:prstGeom>
        </p:spPr>
      </p:pic>
      <p:graphicFrame>
        <p:nvGraphicFramePr>
          <p:cNvPr id="6" name="表格 4">
            <a:extLst>
              <a:ext uri="{FF2B5EF4-FFF2-40B4-BE49-F238E27FC236}">
                <a16:creationId xmlns:a16="http://schemas.microsoft.com/office/drawing/2014/main" id="{B5ECDB48-0D2F-474E-B867-54DB64C7466B}"/>
              </a:ext>
            </a:extLst>
          </p:cNvPr>
          <p:cNvGraphicFramePr>
            <a:graphicFrameLocks noGrp="1"/>
          </p:cNvGraphicFramePr>
          <p:nvPr>
            <p:extLst>
              <p:ext uri="{D42A27DB-BD31-4B8C-83A1-F6EECF244321}">
                <p14:modId xmlns:p14="http://schemas.microsoft.com/office/powerpoint/2010/main" val="3484125093"/>
              </p:ext>
            </p:extLst>
          </p:nvPr>
        </p:nvGraphicFramePr>
        <p:xfrm>
          <a:off x="0" y="0"/>
          <a:ext cx="5731016" cy="6860134"/>
        </p:xfrm>
        <a:graphic>
          <a:graphicData uri="http://schemas.openxmlformats.org/drawingml/2006/table">
            <a:tbl>
              <a:tblPr firstRow="1" bandRow="1">
                <a:tableStyleId>{5C22544A-7EE6-4342-B048-85BDC9FD1C3A}</a:tableStyleId>
              </a:tblPr>
              <a:tblGrid>
                <a:gridCol w="755039">
                  <a:extLst>
                    <a:ext uri="{9D8B030D-6E8A-4147-A177-3AD203B41FA5}">
                      <a16:colId xmlns:a16="http://schemas.microsoft.com/office/drawing/2014/main" val="239911059"/>
                    </a:ext>
                  </a:extLst>
                </a:gridCol>
                <a:gridCol w="1046138">
                  <a:extLst>
                    <a:ext uri="{9D8B030D-6E8A-4147-A177-3AD203B41FA5}">
                      <a16:colId xmlns:a16="http://schemas.microsoft.com/office/drawing/2014/main" val="2696759501"/>
                    </a:ext>
                  </a:extLst>
                </a:gridCol>
                <a:gridCol w="1118913">
                  <a:extLst>
                    <a:ext uri="{9D8B030D-6E8A-4147-A177-3AD203B41FA5}">
                      <a16:colId xmlns:a16="http://schemas.microsoft.com/office/drawing/2014/main" val="802323705"/>
                    </a:ext>
                  </a:extLst>
                </a:gridCol>
                <a:gridCol w="1225819">
                  <a:extLst>
                    <a:ext uri="{9D8B030D-6E8A-4147-A177-3AD203B41FA5}">
                      <a16:colId xmlns:a16="http://schemas.microsoft.com/office/drawing/2014/main" val="111345989"/>
                    </a:ext>
                  </a:extLst>
                </a:gridCol>
                <a:gridCol w="1585107">
                  <a:extLst>
                    <a:ext uri="{9D8B030D-6E8A-4147-A177-3AD203B41FA5}">
                      <a16:colId xmlns:a16="http://schemas.microsoft.com/office/drawing/2014/main" val="1167941338"/>
                    </a:ext>
                  </a:extLst>
                </a:gridCol>
              </a:tblGrid>
              <a:tr h="333827">
                <a:tc>
                  <a:txBody>
                    <a:bodyPr/>
                    <a:lstStyle/>
                    <a:p>
                      <a:r>
                        <a:rPr lang="en-US" altLang="zh-TW" sz="1050" b="0" dirty="0">
                          <a:solidFill>
                            <a:schemeClr val="tx1"/>
                          </a:solidFill>
                        </a:rPr>
                        <a:t>Task</a:t>
                      </a:r>
                      <a:endParaRPr lang="zh-TW" altLang="en-US" sz="105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P1</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P2</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P3</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sz="1050" b="0" dirty="0">
                          <a:solidFill>
                            <a:schemeClr val="tx1"/>
                          </a:solidFill>
                          <a:latin typeface="標楷體" panose="03000509000000000000" pitchFamily="65" charset="-120"/>
                          <a:ea typeface="標楷體" panose="03000509000000000000" pitchFamily="65" charset="-120"/>
                        </a:rPr>
                        <a:t>平均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09348">
                <a:tc>
                  <a:txBody>
                    <a:bodyPr/>
                    <a:lstStyle/>
                    <a:p>
                      <a:r>
                        <a:rPr lang="en-US" altLang="zh-TW" sz="1050" b="0" dirty="0">
                          <a:solidFill>
                            <a:schemeClr val="tx1"/>
                          </a:solidFill>
                        </a:rPr>
                        <a:t>T1</a:t>
                      </a:r>
                      <a:endParaRPr lang="zh-TW" altLang="en-US" sz="105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38+13</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19+19</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36+18</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51+38+54</a:t>
                      </a:r>
                    </a:p>
                    <a:p>
                      <a:r>
                        <a:rPr lang="en-US" altLang="zh-TW" sz="1050" b="0" dirty="0">
                          <a:solidFill>
                            <a:schemeClr val="tx1"/>
                          </a:solidFill>
                          <a:latin typeface="標楷體" panose="03000509000000000000" pitchFamily="65" charset="-120"/>
                          <a:ea typeface="標楷體" panose="03000509000000000000" pitchFamily="65" charset="-120"/>
                        </a:rPr>
                        <a:t>143/3=43.67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578100">
                <a:tc rowSpan="2">
                  <a:txBody>
                    <a:bodyPr/>
                    <a:lstStyle/>
                    <a:p>
                      <a:r>
                        <a:rPr lang="en-US" altLang="zh-TW" sz="1050" b="0" dirty="0">
                          <a:solidFill>
                            <a:schemeClr val="tx1"/>
                          </a:solidFill>
                        </a:rPr>
                        <a:t>T2(T8)</a:t>
                      </a:r>
                    </a:p>
                    <a:p>
                      <a:endParaRPr lang="en-US" altLang="zh-TW" sz="1050" b="0" dirty="0">
                        <a:solidFill>
                          <a:schemeClr val="tx1"/>
                        </a:solidFill>
                      </a:endParaRPr>
                    </a:p>
                    <a:p>
                      <a:endParaRPr lang="en-US" altLang="zh-TW" sz="1050" b="0" dirty="0">
                        <a:solidFill>
                          <a:schemeClr val="tx1"/>
                        </a:solidFill>
                      </a:endParaRPr>
                    </a:p>
                    <a:p>
                      <a:r>
                        <a:rPr lang="en-US" altLang="zh-TW" sz="1050" b="0" dirty="0">
                          <a:solidFill>
                            <a:schemeClr val="tx1"/>
                          </a:solidFill>
                        </a:rPr>
                        <a:t>T2(T9)</a:t>
                      </a:r>
                      <a:endParaRPr lang="zh-TW" altLang="en-US" sz="105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18+5</a:t>
                      </a:r>
                    </a:p>
                    <a:p>
                      <a:r>
                        <a:rPr lang="en-US" altLang="zh-TW" sz="1050" b="0" dirty="0">
                          <a:solidFill>
                            <a:schemeClr val="tx1"/>
                          </a:solidFill>
                          <a:latin typeface="標楷體" panose="03000509000000000000" pitchFamily="65" charset="-120"/>
                          <a:ea typeface="標楷體" panose="03000509000000000000" pitchFamily="65" charset="-120"/>
                        </a:rPr>
                        <a:t>7+11+16</a:t>
                      </a:r>
                    </a:p>
                    <a:p>
                      <a:r>
                        <a:rPr lang="en-US" altLang="zh-TW" sz="1050" b="0" dirty="0">
                          <a:solidFill>
                            <a:schemeClr val="tx1"/>
                          </a:solidFill>
                          <a:latin typeface="標楷體" panose="03000509000000000000" pitchFamily="65" charset="-120"/>
                          <a:ea typeface="標楷體" panose="03000509000000000000" pitchFamily="65" charset="-120"/>
                        </a:rPr>
                        <a:t>16+14+16</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18+5+16</a:t>
                      </a:r>
                    </a:p>
                    <a:p>
                      <a:r>
                        <a:rPr lang="en-US" altLang="zh-TW" sz="1050" b="0" dirty="0">
                          <a:solidFill>
                            <a:schemeClr val="tx1"/>
                          </a:solidFill>
                          <a:latin typeface="標楷體" panose="03000509000000000000" pitchFamily="65" charset="-120"/>
                          <a:ea typeface="標楷體" panose="03000509000000000000" pitchFamily="65" charset="-120"/>
                        </a:rPr>
                        <a:t>7+11</a:t>
                      </a:r>
                    </a:p>
                    <a:p>
                      <a:r>
                        <a:rPr lang="en-US" altLang="zh-TW" sz="1050" b="0" dirty="0">
                          <a:solidFill>
                            <a:schemeClr val="tx1"/>
                          </a:solidFill>
                          <a:latin typeface="標楷體" panose="03000509000000000000" pitchFamily="65" charset="-120"/>
                          <a:ea typeface="標楷體" panose="03000509000000000000" pitchFamily="65" charset="-120"/>
                        </a:rPr>
                        <a:t>16+14+16</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18+5+16</a:t>
                      </a:r>
                    </a:p>
                    <a:p>
                      <a:r>
                        <a:rPr lang="en-US" altLang="zh-TW" sz="1050" b="0" dirty="0">
                          <a:solidFill>
                            <a:schemeClr val="tx1"/>
                          </a:solidFill>
                          <a:latin typeface="標楷體" panose="03000509000000000000" pitchFamily="65" charset="-120"/>
                          <a:ea typeface="標楷體" panose="03000509000000000000" pitchFamily="65" charset="-120"/>
                        </a:rPr>
                        <a:t>7+11+16</a:t>
                      </a:r>
                    </a:p>
                    <a:p>
                      <a:r>
                        <a:rPr lang="en-US" altLang="zh-TW" sz="1050" b="0" dirty="0">
                          <a:solidFill>
                            <a:schemeClr val="tx1"/>
                          </a:solidFill>
                          <a:latin typeface="標楷體" panose="03000509000000000000" pitchFamily="65" charset="-120"/>
                          <a:ea typeface="標楷體" panose="03000509000000000000" pitchFamily="65" charset="-120"/>
                        </a:rPr>
                        <a:t>16+14</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23+18+30</a:t>
                      </a:r>
                    </a:p>
                    <a:p>
                      <a:endParaRPr lang="en-US" altLang="zh-TW" sz="1050" b="0" dirty="0">
                        <a:solidFill>
                          <a:schemeClr val="tx1"/>
                        </a:solidFill>
                        <a:latin typeface="標楷體" panose="03000509000000000000" pitchFamily="65" charset="-120"/>
                        <a:ea typeface="標楷體" panose="03000509000000000000" pitchFamily="65" charset="-120"/>
                      </a:endParaRPr>
                    </a:p>
                    <a:p>
                      <a:r>
                        <a:rPr lang="en-US" altLang="zh-TW" sz="1050" b="0" dirty="0">
                          <a:solidFill>
                            <a:schemeClr val="tx1"/>
                          </a:solidFill>
                          <a:latin typeface="標楷體" panose="03000509000000000000" pitchFamily="65" charset="-120"/>
                          <a:ea typeface="標楷體" panose="03000509000000000000" pitchFamily="65" charset="-120"/>
                        </a:rPr>
                        <a:t>71/3=23.67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578100">
                <a:tc vMerge="1">
                  <a:txBody>
                    <a:bodyPr/>
                    <a:lstStyle/>
                    <a:p>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20+18</a:t>
                      </a:r>
                    </a:p>
                    <a:p>
                      <a:r>
                        <a:rPr lang="en-US" altLang="zh-TW" sz="1050" b="0" dirty="0">
                          <a:solidFill>
                            <a:schemeClr val="tx1"/>
                          </a:solidFill>
                          <a:latin typeface="標楷體" panose="03000509000000000000" pitchFamily="65" charset="-120"/>
                          <a:ea typeface="標楷體" panose="03000509000000000000" pitchFamily="65" charset="-120"/>
                        </a:rPr>
                        <a:t>7+12+19</a:t>
                      </a:r>
                    </a:p>
                    <a:p>
                      <a:r>
                        <a:rPr lang="en-US" altLang="zh-TW" sz="1050" b="0" dirty="0">
                          <a:solidFill>
                            <a:schemeClr val="tx1"/>
                          </a:solidFill>
                          <a:latin typeface="標楷體" panose="03000509000000000000" pitchFamily="65" charset="-120"/>
                          <a:ea typeface="標楷體" panose="03000509000000000000" pitchFamily="65" charset="-120"/>
                        </a:rPr>
                        <a:t>16+20+19</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20+18+19</a:t>
                      </a:r>
                    </a:p>
                    <a:p>
                      <a:r>
                        <a:rPr lang="en-US" altLang="zh-TW" sz="1050" b="0" dirty="0">
                          <a:solidFill>
                            <a:schemeClr val="tx1"/>
                          </a:solidFill>
                          <a:latin typeface="標楷體" panose="03000509000000000000" pitchFamily="65" charset="-120"/>
                          <a:ea typeface="標楷體" panose="03000509000000000000" pitchFamily="65" charset="-120"/>
                        </a:rPr>
                        <a:t>7+12</a:t>
                      </a:r>
                    </a:p>
                    <a:p>
                      <a:r>
                        <a:rPr lang="en-US" altLang="zh-TW" sz="1050" b="0" dirty="0">
                          <a:solidFill>
                            <a:schemeClr val="tx1"/>
                          </a:solidFill>
                          <a:latin typeface="標楷體" panose="03000509000000000000" pitchFamily="65" charset="-120"/>
                          <a:ea typeface="標楷體" panose="03000509000000000000" pitchFamily="65" charset="-120"/>
                        </a:rPr>
                        <a:t>16+20+19</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20+18+19</a:t>
                      </a:r>
                    </a:p>
                    <a:p>
                      <a:r>
                        <a:rPr lang="en-US" altLang="zh-TW" sz="1050" b="0" dirty="0">
                          <a:solidFill>
                            <a:schemeClr val="tx1"/>
                          </a:solidFill>
                          <a:latin typeface="標楷體" panose="03000509000000000000" pitchFamily="65" charset="-120"/>
                          <a:ea typeface="標楷體" panose="03000509000000000000" pitchFamily="65" charset="-120"/>
                        </a:rPr>
                        <a:t>7+12+19</a:t>
                      </a:r>
                    </a:p>
                    <a:p>
                      <a:r>
                        <a:rPr lang="en-US" altLang="zh-TW" sz="1050" b="0" dirty="0">
                          <a:solidFill>
                            <a:schemeClr val="tx1"/>
                          </a:solidFill>
                          <a:latin typeface="標楷體" panose="03000509000000000000" pitchFamily="65" charset="-120"/>
                          <a:ea typeface="標楷體" panose="03000509000000000000" pitchFamily="65" charset="-120"/>
                        </a:rPr>
                        <a:t>16+20</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38+19+36</a:t>
                      </a:r>
                    </a:p>
                    <a:p>
                      <a:endParaRPr lang="en-US" altLang="zh-TW" sz="1050" b="0" dirty="0">
                        <a:solidFill>
                          <a:schemeClr val="tx1"/>
                        </a:solidFill>
                        <a:latin typeface="標楷體" panose="03000509000000000000" pitchFamily="65" charset="-120"/>
                        <a:ea typeface="標楷體" panose="03000509000000000000" pitchFamily="65" charset="-120"/>
                      </a:endParaRPr>
                    </a:p>
                    <a:p>
                      <a:r>
                        <a:rPr lang="en-US" altLang="zh-TW" sz="1050" b="0" dirty="0">
                          <a:solidFill>
                            <a:schemeClr val="tx1"/>
                          </a:solidFill>
                          <a:latin typeface="標楷體" panose="03000509000000000000" pitchFamily="65" charset="-120"/>
                          <a:ea typeface="標楷體" panose="03000509000000000000" pitchFamily="65" charset="-120"/>
                        </a:rPr>
                        <a:t>93/3=31</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0115345"/>
                  </a:ext>
                </a:extLst>
              </a:tr>
              <a:tr h="578100">
                <a:tc>
                  <a:txBody>
                    <a:bodyPr/>
                    <a:lstStyle/>
                    <a:p>
                      <a:r>
                        <a:rPr lang="en-US" altLang="zh-TW" sz="1050" b="0" dirty="0">
                          <a:solidFill>
                            <a:schemeClr val="tx1"/>
                          </a:solidFill>
                        </a:rPr>
                        <a:t>T3</a:t>
                      </a:r>
                      <a:endParaRPr lang="zh-TW" altLang="en-US" sz="105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21+7</a:t>
                      </a:r>
                    </a:p>
                    <a:p>
                      <a:r>
                        <a:rPr lang="en-US" altLang="zh-TW" sz="1050" b="0" dirty="0">
                          <a:solidFill>
                            <a:schemeClr val="tx1"/>
                          </a:solidFill>
                          <a:latin typeface="標楷體" panose="03000509000000000000" pitchFamily="65" charset="-120"/>
                          <a:ea typeface="標楷體" panose="03000509000000000000" pitchFamily="65" charset="-120"/>
                        </a:rPr>
                        <a:t>7+15+23</a:t>
                      </a:r>
                    </a:p>
                    <a:p>
                      <a:r>
                        <a:rPr lang="en-US" altLang="zh-TW" sz="1050" b="0" dirty="0">
                          <a:solidFill>
                            <a:schemeClr val="tx1"/>
                          </a:solidFill>
                          <a:latin typeface="標楷體" panose="03000509000000000000" pitchFamily="65" charset="-120"/>
                          <a:ea typeface="標楷體" panose="03000509000000000000" pitchFamily="65" charset="-120"/>
                        </a:rPr>
                        <a:t>16+11+23</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21+7+23</a:t>
                      </a:r>
                    </a:p>
                    <a:p>
                      <a:r>
                        <a:rPr lang="en-US" altLang="zh-TW" sz="1050" b="0" dirty="0">
                          <a:solidFill>
                            <a:schemeClr val="tx1"/>
                          </a:solidFill>
                          <a:latin typeface="標楷體" panose="03000509000000000000" pitchFamily="65" charset="-120"/>
                          <a:ea typeface="標楷體" panose="03000509000000000000" pitchFamily="65" charset="-120"/>
                        </a:rPr>
                        <a:t>7+15</a:t>
                      </a:r>
                    </a:p>
                    <a:p>
                      <a:r>
                        <a:rPr lang="en-US" altLang="zh-TW" sz="1050" b="0" dirty="0">
                          <a:solidFill>
                            <a:schemeClr val="tx1"/>
                          </a:solidFill>
                          <a:latin typeface="標楷體" panose="03000509000000000000" pitchFamily="65" charset="-120"/>
                          <a:ea typeface="標楷體" panose="03000509000000000000" pitchFamily="65" charset="-120"/>
                        </a:rPr>
                        <a:t>16+11+23</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21+7+23</a:t>
                      </a:r>
                    </a:p>
                    <a:p>
                      <a:r>
                        <a:rPr lang="en-US" altLang="zh-TW" sz="1050" b="0" dirty="0">
                          <a:solidFill>
                            <a:schemeClr val="tx1"/>
                          </a:solidFill>
                          <a:latin typeface="標楷體" panose="03000509000000000000" pitchFamily="65" charset="-120"/>
                          <a:ea typeface="標楷體" panose="03000509000000000000" pitchFamily="65" charset="-120"/>
                        </a:rPr>
                        <a:t>7+15+23</a:t>
                      </a:r>
                    </a:p>
                    <a:p>
                      <a:r>
                        <a:rPr lang="en-US" altLang="zh-TW" sz="1050" b="0" dirty="0">
                          <a:solidFill>
                            <a:schemeClr val="tx1"/>
                          </a:solidFill>
                          <a:latin typeface="標楷體" panose="03000509000000000000" pitchFamily="65" charset="-120"/>
                          <a:ea typeface="標楷體" panose="03000509000000000000" pitchFamily="65" charset="-120"/>
                        </a:rPr>
                        <a:t>16+11</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28+22+27</a:t>
                      </a:r>
                    </a:p>
                    <a:p>
                      <a:endParaRPr lang="en-US" altLang="zh-TW" sz="1050" b="0" dirty="0">
                        <a:solidFill>
                          <a:schemeClr val="tx1"/>
                        </a:solidFill>
                        <a:latin typeface="標楷體" panose="03000509000000000000" pitchFamily="65" charset="-120"/>
                        <a:ea typeface="標楷體" panose="03000509000000000000" pitchFamily="65" charset="-120"/>
                      </a:endParaRPr>
                    </a:p>
                    <a:p>
                      <a:r>
                        <a:rPr lang="en-US" altLang="zh-TW" sz="1050" b="0" dirty="0">
                          <a:solidFill>
                            <a:schemeClr val="tx1"/>
                          </a:solidFill>
                          <a:latin typeface="標楷體" panose="03000509000000000000" pitchFamily="65" charset="-120"/>
                          <a:ea typeface="標楷體" panose="03000509000000000000" pitchFamily="65" charset="-120"/>
                        </a:rPr>
                        <a:t>77/3=25.67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78100">
                <a:tc rowSpan="2">
                  <a:txBody>
                    <a:bodyPr/>
                    <a:lstStyle/>
                    <a:p>
                      <a:r>
                        <a:rPr lang="en-US" altLang="zh-TW" sz="1050" b="0" dirty="0">
                          <a:solidFill>
                            <a:schemeClr val="tx1"/>
                          </a:solidFill>
                        </a:rPr>
                        <a:t>T4(T8)</a:t>
                      </a:r>
                    </a:p>
                    <a:p>
                      <a:endParaRPr lang="en-US" altLang="zh-TW" sz="1050" b="0" dirty="0">
                        <a:solidFill>
                          <a:schemeClr val="tx1"/>
                        </a:solidFill>
                      </a:endParaRPr>
                    </a:p>
                    <a:p>
                      <a:endParaRPr lang="en-US" altLang="zh-TW" sz="1050" b="0" dirty="0">
                        <a:solidFill>
                          <a:schemeClr val="tx1"/>
                        </a:solidFill>
                      </a:endParaRPr>
                    </a:p>
                    <a:p>
                      <a:r>
                        <a:rPr lang="en-US" altLang="zh-TW" sz="1050" b="0" dirty="0">
                          <a:solidFill>
                            <a:schemeClr val="tx1"/>
                          </a:solidFill>
                        </a:rPr>
                        <a:t>T4(T9)</a:t>
                      </a:r>
                      <a:endParaRPr lang="zh-TW" altLang="en-US" sz="105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18+5</a:t>
                      </a:r>
                    </a:p>
                    <a:p>
                      <a:r>
                        <a:rPr lang="en-US" altLang="zh-TW" sz="1050" b="0" dirty="0">
                          <a:solidFill>
                            <a:schemeClr val="tx1"/>
                          </a:solidFill>
                          <a:latin typeface="標楷體" panose="03000509000000000000" pitchFamily="65" charset="-120"/>
                          <a:ea typeface="標楷體" panose="03000509000000000000" pitchFamily="65" charset="-120"/>
                        </a:rPr>
                        <a:t>7+11+27</a:t>
                      </a:r>
                    </a:p>
                    <a:p>
                      <a:r>
                        <a:rPr lang="en-US" altLang="zh-TW" sz="1050" b="0" dirty="0">
                          <a:solidFill>
                            <a:schemeClr val="tx1"/>
                          </a:solidFill>
                          <a:latin typeface="標楷體" panose="03000509000000000000" pitchFamily="65" charset="-120"/>
                          <a:ea typeface="標楷體" panose="03000509000000000000" pitchFamily="65" charset="-120"/>
                        </a:rPr>
                        <a:t>16+14+27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18+5+27</a:t>
                      </a:r>
                    </a:p>
                    <a:p>
                      <a:r>
                        <a:rPr lang="en-US" altLang="zh-TW" sz="1050" b="0" dirty="0">
                          <a:solidFill>
                            <a:schemeClr val="tx1"/>
                          </a:solidFill>
                          <a:latin typeface="標楷體" panose="03000509000000000000" pitchFamily="65" charset="-120"/>
                          <a:ea typeface="標楷體" panose="03000509000000000000" pitchFamily="65" charset="-120"/>
                        </a:rPr>
                        <a:t>7+11</a:t>
                      </a:r>
                    </a:p>
                    <a:p>
                      <a:r>
                        <a:rPr lang="en-US" altLang="zh-TW" sz="1050" b="0" dirty="0">
                          <a:solidFill>
                            <a:schemeClr val="tx1"/>
                          </a:solidFill>
                          <a:latin typeface="標楷體" panose="03000509000000000000" pitchFamily="65" charset="-120"/>
                          <a:ea typeface="標楷體" panose="03000509000000000000" pitchFamily="65" charset="-120"/>
                        </a:rPr>
                        <a:t>16+14+27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18+5+27</a:t>
                      </a:r>
                    </a:p>
                    <a:p>
                      <a:r>
                        <a:rPr lang="en-US" altLang="zh-TW" sz="1050" b="0" dirty="0">
                          <a:solidFill>
                            <a:schemeClr val="tx1"/>
                          </a:solidFill>
                          <a:latin typeface="標楷體" panose="03000509000000000000" pitchFamily="65" charset="-120"/>
                          <a:ea typeface="標楷體" panose="03000509000000000000" pitchFamily="65" charset="-120"/>
                        </a:rPr>
                        <a:t>7+11+27</a:t>
                      </a:r>
                    </a:p>
                    <a:p>
                      <a:r>
                        <a:rPr lang="en-US" altLang="zh-TW" sz="1050" b="0" dirty="0">
                          <a:solidFill>
                            <a:schemeClr val="tx1"/>
                          </a:solidFill>
                          <a:latin typeface="標楷體" panose="03000509000000000000" pitchFamily="65" charset="-120"/>
                          <a:ea typeface="標楷體" panose="03000509000000000000" pitchFamily="65" charset="-120"/>
                        </a:rPr>
                        <a:t>16+14</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23+18+30</a:t>
                      </a:r>
                    </a:p>
                    <a:p>
                      <a:endParaRPr lang="en-US" altLang="zh-TW" sz="1050" b="0" dirty="0">
                        <a:solidFill>
                          <a:schemeClr val="tx1"/>
                        </a:solidFill>
                        <a:latin typeface="標楷體" panose="03000509000000000000" pitchFamily="65" charset="-120"/>
                        <a:ea typeface="標楷體" panose="03000509000000000000" pitchFamily="65" charset="-120"/>
                      </a:endParaRPr>
                    </a:p>
                    <a:p>
                      <a:r>
                        <a:rPr lang="en-US" altLang="zh-TW" sz="1050" b="0" dirty="0">
                          <a:solidFill>
                            <a:schemeClr val="tx1"/>
                          </a:solidFill>
                          <a:latin typeface="標楷體" panose="03000509000000000000" pitchFamily="65" charset="-120"/>
                          <a:ea typeface="標楷體" panose="03000509000000000000" pitchFamily="65" charset="-120"/>
                        </a:rPr>
                        <a:t>71/3=27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578100">
                <a:tc vMerge="1">
                  <a:txBody>
                    <a:bodyPr/>
                    <a:lstStyle/>
                    <a:p>
                      <a:endParaRPr lang="zh-TW"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20+18</a:t>
                      </a:r>
                    </a:p>
                    <a:p>
                      <a:r>
                        <a:rPr lang="en-US" altLang="zh-TW" sz="1050" b="0" dirty="0">
                          <a:solidFill>
                            <a:schemeClr val="tx1"/>
                          </a:solidFill>
                          <a:latin typeface="標楷體" panose="03000509000000000000" pitchFamily="65" charset="-120"/>
                          <a:ea typeface="標楷體" panose="03000509000000000000" pitchFamily="65" charset="-120"/>
                        </a:rPr>
                        <a:t>7+12+23</a:t>
                      </a:r>
                    </a:p>
                    <a:p>
                      <a:r>
                        <a:rPr lang="en-US" altLang="zh-TW" sz="1050" b="0" dirty="0">
                          <a:solidFill>
                            <a:schemeClr val="tx1"/>
                          </a:solidFill>
                          <a:latin typeface="標楷體" panose="03000509000000000000" pitchFamily="65" charset="-120"/>
                          <a:ea typeface="標楷體" panose="03000509000000000000" pitchFamily="65" charset="-120"/>
                        </a:rPr>
                        <a:t>16+20+23</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20+18+23</a:t>
                      </a:r>
                    </a:p>
                    <a:p>
                      <a:r>
                        <a:rPr lang="en-US" altLang="zh-TW" sz="1050" b="0" dirty="0">
                          <a:solidFill>
                            <a:schemeClr val="tx1"/>
                          </a:solidFill>
                          <a:latin typeface="標楷體" panose="03000509000000000000" pitchFamily="65" charset="-120"/>
                          <a:ea typeface="標楷體" panose="03000509000000000000" pitchFamily="65" charset="-120"/>
                        </a:rPr>
                        <a:t>7+12</a:t>
                      </a:r>
                    </a:p>
                    <a:p>
                      <a:r>
                        <a:rPr lang="en-US" altLang="zh-TW" sz="1050" b="0" dirty="0">
                          <a:solidFill>
                            <a:schemeClr val="tx1"/>
                          </a:solidFill>
                          <a:latin typeface="標楷體" panose="03000509000000000000" pitchFamily="65" charset="-120"/>
                          <a:ea typeface="標楷體" panose="03000509000000000000" pitchFamily="65" charset="-120"/>
                        </a:rPr>
                        <a:t>16+20+23</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20+18+23</a:t>
                      </a:r>
                    </a:p>
                    <a:p>
                      <a:r>
                        <a:rPr lang="en-US" altLang="zh-TW" sz="1050" b="0" dirty="0">
                          <a:solidFill>
                            <a:schemeClr val="tx1"/>
                          </a:solidFill>
                          <a:latin typeface="標楷體" panose="03000509000000000000" pitchFamily="65" charset="-120"/>
                          <a:ea typeface="標楷體" panose="03000509000000000000" pitchFamily="65" charset="-120"/>
                        </a:rPr>
                        <a:t>7+12+23</a:t>
                      </a:r>
                    </a:p>
                    <a:p>
                      <a:r>
                        <a:rPr lang="en-US" altLang="zh-TW" sz="1050" b="0" dirty="0">
                          <a:solidFill>
                            <a:schemeClr val="tx1"/>
                          </a:solidFill>
                          <a:latin typeface="標楷體" panose="03000509000000000000" pitchFamily="65" charset="-120"/>
                          <a:ea typeface="標楷體" panose="03000509000000000000" pitchFamily="65" charset="-120"/>
                        </a:rPr>
                        <a:t>16+20</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38+19+36</a:t>
                      </a:r>
                    </a:p>
                    <a:p>
                      <a:endParaRPr lang="en-US" altLang="zh-TW" sz="1050" b="0" dirty="0">
                        <a:solidFill>
                          <a:schemeClr val="tx1"/>
                        </a:solidFill>
                        <a:latin typeface="標楷體" panose="03000509000000000000" pitchFamily="65" charset="-120"/>
                        <a:ea typeface="標楷體" panose="03000509000000000000" pitchFamily="65" charset="-120"/>
                      </a:endParaRPr>
                    </a:p>
                    <a:p>
                      <a:r>
                        <a:rPr lang="en-US" altLang="zh-TW" sz="1050" b="0" dirty="0">
                          <a:solidFill>
                            <a:schemeClr val="tx1"/>
                          </a:solidFill>
                          <a:latin typeface="標楷體" panose="03000509000000000000" pitchFamily="65" charset="-120"/>
                          <a:ea typeface="標楷體" panose="03000509000000000000" pitchFamily="65" charset="-120"/>
                        </a:rPr>
                        <a:t>94/3=31.3</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2182626"/>
                  </a:ext>
                </a:extLst>
              </a:tr>
              <a:tr h="578100">
                <a:tc>
                  <a:txBody>
                    <a:bodyPr/>
                    <a:lstStyle/>
                    <a:p>
                      <a:r>
                        <a:rPr lang="en-US" altLang="zh-TW" sz="1050" b="0" dirty="0">
                          <a:solidFill>
                            <a:schemeClr val="tx1"/>
                          </a:solidFill>
                        </a:rPr>
                        <a:t>T5</a:t>
                      </a:r>
                      <a:endParaRPr lang="zh-TW" altLang="en-US" sz="105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20+18</a:t>
                      </a:r>
                    </a:p>
                    <a:p>
                      <a:r>
                        <a:rPr lang="en-US" altLang="zh-TW" sz="1050" b="0" dirty="0">
                          <a:solidFill>
                            <a:schemeClr val="tx1"/>
                          </a:solidFill>
                          <a:latin typeface="標楷體" panose="03000509000000000000" pitchFamily="65" charset="-120"/>
                          <a:ea typeface="標楷體" panose="03000509000000000000" pitchFamily="65" charset="-120"/>
                        </a:rPr>
                        <a:t>7+12+13</a:t>
                      </a:r>
                    </a:p>
                    <a:p>
                      <a:r>
                        <a:rPr lang="en-US" altLang="zh-TW" sz="1050" b="0" dirty="0">
                          <a:solidFill>
                            <a:schemeClr val="tx1"/>
                          </a:solidFill>
                          <a:latin typeface="標楷體" panose="03000509000000000000" pitchFamily="65" charset="-120"/>
                          <a:ea typeface="標楷體" panose="03000509000000000000" pitchFamily="65" charset="-120"/>
                        </a:rPr>
                        <a:t>16+20+13</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20+18+13</a:t>
                      </a:r>
                    </a:p>
                    <a:p>
                      <a:r>
                        <a:rPr lang="en-US" altLang="zh-TW" sz="1050" b="0" dirty="0">
                          <a:solidFill>
                            <a:schemeClr val="tx1"/>
                          </a:solidFill>
                          <a:latin typeface="標楷體" panose="03000509000000000000" pitchFamily="65" charset="-120"/>
                          <a:ea typeface="標楷體" panose="03000509000000000000" pitchFamily="65" charset="-120"/>
                        </a:rPr>
                        <a:t>7+12</a:t>
                      </a:r>
                    </a:p>
                    <a:p>
                      <a:r>
                        <a:rPr lang="en-US" altLang="zh-TW" sz="1050" b="0" dirty="0">
                          <a:solidFill>
                            <a:schemeClr val="tx1"/>
                          </a:solidFill>
                          <a:latin typeface="標楷體" panose="03000509000000000000" pitchFamily="65" charset="-120"/>
                          <a:ea typeface="標楷體" panose="03000509000000000000" pitchFamily="65" charset="-120"/>
                        </a:rPr>
                        <a:t>16+20+13</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20+18+113</a:t>
                      </a:r>
                    </a:p>
                    <a:p>
                      <a:r>
                        <a:rPr lang="en-US" altLang="zh-TW" sz="1050" b="0" dirty="0">
                          <a:solidFill>
                            <a:schemeClr val="tx1"/>
                          </a:solidFill>
                          <a:latin typeface="標楷體" panose="03000509000000000000" pitchFamily="65" charset="-120"/>
                          <a:ea typeface="標楷體" panose="03000509000000000000" pitchFamily="65" charset="-120"/>
                        </a:rPr>
                        <a:t>7+12+13</a:t>
                      </a:r>
                    </a:p>
                    <a:p>
                      <a:r>
                        <a:rPr lang="en-US" altLang="zh-TW" sz="1050" b="0" dirty="0">
                          <a:solidFill>
                            <a:schemeClr val="tx1"/>
                          </a:solidFill>
                          <a:latin typeface="標楷體" panose="03000509000000000000" pitchFamily="65" charset="-120"/>
                          <a:ea typeface="標楷體" panose="03000509000000000000" pitchFamily="65" charset="-120"/>
                        </a:rPr>
                        <a:t>16+20</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32+19+21</a:t>
                      </a:r>
                    </a:p>
                    <a:p>
                      <a:endParaRPr lang="en-US" altLang="zh-TW" sz="1050" b="0" dirty="0">
                        <a:solidFill>
                          <a:schemeClr val="tx1"/>
                        </a:solidFill>
                        <a:latin typeface="標楷體" panose="03000509000000000000" pitchFamily="65" charset="-120"/>
                        <a:ea typeface="標楷體" panose="03000509000000000000" pitchFamily="65" charset="-120"/>
                      </a:endParaRPr>
                    </a:p>
                    <a:p>
                      <a:r>
                        <a:rPr lang="en-US" altLang="zh-TW" sz="1050" b="0" dirty="0">
                          <a:solidFill>
                            <a:schemeClr val="tx1"/>
                          </a:solidFill>
                          <a:latin typeface="標楷體" panose="03000509000000000000" pitchFamily="65" charset="-120"/>
                          <a:ea typeface="標楷體" panose="03000509000000000000" pitchFamily="65" charset="-120"/>
                        </a:rPr>
                        <a:t>93/3=27.67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578100">
                <a:tc>
                  <a:txBody>
                    <a:bodyPr/>
                    <a:lstStyle/>
                    <a:p>
                      <a:r>
                        <a:rPr lang="en-US" altLang="zh-TW" sz="1050" b="0" dirty="0">
                          <a:solidFill>
                            <a:schemeClr val="tx1"/>
                          </a:solidFill>
                        </a:rPr>
                        <a:t>T6</a:t>
                      </a:r>
                      <a:endParaRPr lang="zh-TW" altLang="en-US" sz="105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18+5</a:t>
                      </a:r>
                    </a:p>
                    <a:p>
                      <a:r>
                        <a:rPr lang="en-US" altLang="zh-TW" sz="1050" b="0" dirty="0">
                          <a:solidFill>
                            <a:schemeClr val="tx1"/>
                          </a:solidFill>
                          <a:latin typeface="標楷體" panose="03000509000000000000" pitchFamily="65" charset="-120"/>
                          <a:ea typeface="標楷體" panose="03000509000000000000" pitchFamily="65" charset="-120"/>
                        </a:rPr>
                        <a:t>7+11+15</a:t>
                      </a:r>
                    </a:p>
                    <a:p>
                      <a:r>
                        <a:rPr lang="en-US" altLang="zh-TW" sz="1050" b="0" dirty="0">
                          <a:solidFill>
                            <a:schemeClr val="tx1"/>
                          </a:solidFill>
                          <a:latin typeface="標楷體" panose="03000509000000000000" pitchFamily="65" charset="-120"/>
                          <a:ea typeface="標楷體" panose="03000509000000000000" pitchFamily="65" charset="-120"/>
                        </a:rPr>
                        <a:t>16+14+15</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18+5+15</a:t>
                      </a:r>
                    </a:p>
                    <a:p>
                      <a:r>
                        <a:rPr lang="en-US" altLang="zh-TW" sz="1050" b="0" dirty="0">
                          <a:solidFill>
                            <a:schemeClr val="tx1"/>
                          </a:solidFill>
                          <a:latin typeface="標楷體" panose="03000509000000000000" pitchFamily="65" charset="-120"/>
                          <a:ea typeface="標楷體" panose="03000509000000000000" pitchFamily="65" charset="-120"/>
                        </a:rPr>
                        <a:t>7+11</a:t>
                      </a:r>
                    </a:p>
                    <a:p>
                      <a:r>
                        <a:rPr lang="en-US" altLang="zh-TW" sz="1050" b="0" dirty="0">
                          <a:solidFill>
                            <a:schemeClr val="tx1"/>
                          </a:solidFill>
                          <a:latin typeface="標楷體" panose="03000509000000000000" pitchFamily="65" charset="-120"/>
                          <a:ea typeface="標楷體" panose="03000509000000000000" pitchFamily="65" charset="-120"/>
                        </a:rPr>
                        <a:t>16+14+15</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18+5+15</a:t>
                      </a:r>
                    </a:p>
                    <a:p>
                      <a:r>
                        <a:rPr lang="en-US" altLang="zh-TW" sz="1050" b="0" dirty="0">
                          <a:solidFill>
                            <a:schemeClr val="tx1"/>
                          </a:solidFill>
                          <a:latin typeface="標楷體" panose="03000509000000000000" pitchFamily="65" charset="-120"/>
                          <a:ea typeface="標楷體" panose="03000509000000000000" pitchFamily="65" charset="-120"/>
                        </a:rPr>
                        <a:t>7+11+15</a:t>
                      </a:r>
                    </a:p>
                    <a:p>
                      <a:r>
                        <a:rPr lang="en-US" altLang="zh-TW" sz="1050" b="0" dirty="0">
                          <a:solidFill>
                            <a:schemeClr val="tx1"/>
                          </a:solidFill>
                          <a:latin typeface="標楷體" panose="03000509000000000000" pitchFamily="65" charset="-120"/>
                          <a:ea typeface="標楷體" panose="03000509000000000000" pitchFamily="65" charset="-120"/>
                        </a:rPr>
                        <a:t>16+14</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23+18+30</a:t>
                      </a:r>
                    </a:p>
                    <a:p>
                      <a:endParaRPr lang="en-US" altLang="zh-TW" sz="1050" b="0" dirty="0">
                        <a:solidFill>
                          <a:schemeClr val="tx1"/>
                        </a:solidFill>
                        <a:latin typeface="標楷體" panose="03000509000000000000" pitchFamily="65" charset="-120"/>
                        <a:ea typeface="標楷體" panose="03000509000000000000" pitchFamily="65" charset="-120"/>
                      </a:endParaRPr>
                    </a:p>
                    <a:p>
                      <a:r>
                        <a:rPr lang="en-US" altLang="zh-TW" sz="1050" b="0" dirty="0">
                          <a:solidFill>
                            <a:schemeClr val="tx1"/>
                          </a:solidFill>
                          <a:latin typeface="標楷體" panose="03000509000000000000" pitchFamily="65" charset="-120"/>
                          <a:ea typeface="標楷體" panose="03000509000000000000" pitchFamily="65" charset="-120"/>
                        </a:rPr>
                        <a:t>71/3=27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578100">
                <a:tc>
                  <a:txBody>
                    <a:bodyPr/>
                    <a:lstStyle/>
                    <a:p>
                      <a:r>
                        <a:rPr lang="en-US" altLang="zh-TW" sz="1050" b="0" dirty="0">
                          <a:solidFill>
                            <a:schemeClr val="tx1"/>
                          </a:solidFill>
                        </a:rPr>
                        <a:t>T7</a:t>
                      </a:r>
                      <a:endParaRPr lang="zh-TW" altLang="en-US" sz="105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a:t>
                      </a:r>
                    </a:p>
                    <a:p>
                      <a:r>
                        <a:rPr lang="en-US" altLang="zh-TW" sz="1050" b="0" dirty="0">
                          <a:solidFill>
                            <a:schemeClr val="tx1"/>
                          </a:solidFill>
                          <a:latin typeface="標楷體" panose="03000509000000000000" pitchFamily="65" charset="-120"/>
                          <a:ea typeface="標楷體" panose="03000509000000000000" pitchFamily="65" charset="-120"/>
                        </a:rPr>
                        <a:t>7+17</a:t>
                      </a:r>
                    </a:p>
                    <a:p>
                      <a:r>
                        <a:rPr lang="en-US" altLang="zh-TW" sz="1050" b="0" dirty="0">
                          <a:solidFill>
                            <a:schemeClr val="tx1"/>
                          </a:solidFill>
                          <a:latin typeface="標楷體" panose="03000509000000000000" pitchFamily="65" charset="-120"/>
                          <a:ea typeface="標楷體" panose="03000509000000000000" pitchFamily="65" charset="-120"/>
                        </a:rPr>
                        <a:t>16+17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21+17</a:t>
                      </a:r>
                    </a:p>
                    <a:p>
                      <a:r>
                        <a:rPr lang="en-US" altLang="zh-TW" sz="1050" b="0" dirty="0">
                          <a:solidFill>
                            <a:schemeClr val="tx1"/>
                          </a:solidFill>
                          <a:latin typeface="標楷體" panose="03000509000000000000" pitchFamily="65" charset="-120"/>
                          <a:ea typeface="標楷體" panose="03000509000000000000" pitchFamily="65" charset="-120"/>
                        </a:rPr>
                        <a:t>7</a:t>
                      </a:r>
                    </a:p>
                    <a:p>
                      <a:r>
                        <a:rPr lang="en-US" altLang="zh-TW" sz="1050" b="0" dirty="0">
                          <a:solidFill>
                            <a:schemeClr val="tx1"/>
                          </a:solidFill>
                          <a:latin typeface="標楷體" panose="03000509000000000000" pitchFamily="65" charset="-120"/>
                          <a:ea typeface="標楷體" panose="03000509000000000000" pitchFamily="65" charset="-120"/>
                        </a:rPr>
                        <a:t>16+17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21+17</a:t>
                      </a:r>
                    </a:p>
                    <a:p>
                      <a:r>
                        <a:rPr lang="en-US" altLang="zh-TW" sz="1050" b="0" dirty="0">
                          <a:solidFill>
                            <a:schemeClr val="tx1"/>
                          </a:solidFill>
                          <a:latin typeface="標楷體" panose="03000509000000000000" pitchFamily="65" charset="-120"/>
                          <a:ea typeface="標楷體" panose="03000509000000000000" pitchFamily="65" charset="-120"/>
                        </a:rPr>
                        <a:t>7+17</a:t>
                      </a:r>
                    </a:p>
                    <a:p>
                      <a:r>
                        <a:rPr lang="en-US" altLang="zh-TW" sz="1050" b="0" dirty="0">
                          <a:solidFill>
                            <a:schemeClr val="tx1"/>
                          </a:solidFill>
                          <a:latin typeface="標楷體" panose="03000509000000000000" pitchFamily="65" charset="-120"/>
                          <a:ea typeface="標楷體" panose="03000509000000000000" pitchFamily="65" charset="-120"/>
                        </a:rPr>
                        <a:t>16</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21+7+16</a:t>
                      </a:r>
                    </a:p>
                    <a:p>
                      <a:endParaRPr lang="en-US" altLang="zh-TW" sz="1050" b="0" dirty="0">
                        <a:solidFill>
                          <a:schemeClr val="tx1"/>
                        </a:solidFill>
                        <a:latin typeface="標楷體" panose="03000509000000000000" pitchFamily="65" charset="-120"/>
                        <a:ea typeface="標楷體" panose="03000509000000000000" pitchFamily="65" charset="-120"/>
                      </a:endParaRPr>
                    </a:p>
                    <a:p>
                      <a:r>
                        <a:rPr lang="en-US" altLang="zh-TW" sz="1050" b="0" dirty="0">
                          <a:solidFill>
                            <a:schemeClr val="tx1"/>
                          </a:solidFill>
                          <a:latin typeface="標楷體" panose="03000509000000000000" pitchFamily="65" charset="-120"/>
                          <a:ea typeface="標楷體" panose="03000509000000000000" pitchFamily="65" charset="-120"/>
                        </a:rPr>
                        <a:t>44/3=14.67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578100">
                <a:tc>
                  <a:txBody>
                    <a:bodyPr/>
                    <a:lstStyle/>
                    <a:p>
                      <a:r>
                        <a:rPr lang="en-US" altLang="zh-TW" sz="1050" b="0" dirty="0">
                          <a:solidFill>
                            <a:schemeClr val="tx1"/>
                          </a:solidFill>
                        </a:rPr>
                        <a:t>T8</a:t>
                      </a:r>
                      <a:endParaRPr lang="zh-TW" altLang="en-US" sz="105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a:t>
                      </a:r>
                    </a:p>
                    <a:p>
                      <a:r>
                        <a:rPr lang="en-US" altLang="zh-TW" sz="1050" b="0" dirty="0">
                          <a:solidFill>
                            <a:schemeClr val="tx1"/>
                          </a:solidFill>
                          <a:latin typeface="標楷體" panose="03000509000000000000" pitchFamily="65" charset="-120"/>
                          <a:ea typeface="標楷體" panose="03000509000000000000" pitchFamily="65" charset="-120"/>
                        </a:rPr>
                        <a:t>7+11</a:t>
                      </a:r>
                    </a:p>
                    <a:p>
                      <a:r>
                        <a:rPr lang="en-US" altLang="zh-TW" sz="1050" b="0" dirty="0">
                          <a:solidFill>
                            <a:schemeClr val="tx1"/>
                          </a:solidFill>
                          <a:latin typeface="標楷體" panose="03000509000000000000" pitchFamily="65" charset="-120"/>
                          <a:ea typeface="標楷體" panose="03000509000000000000" pitchFamily="65" charset="-120"/>
                        </a:rPr>
                        <a:t>16+11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21+11</a:t>
                      </a:r>
                    </a:p>
                    <a:p>
                      <a:r>
                        <a:rPr lang="en-US" altLang="zh-TW" sz="1050" b="0" dirty="0">
                          <a:solidFill>
                            <a:schemeClr val="tx1"/>
                          </a:solidFill>
                          <a:latin typeface="標楷體" panose="03000509000000000000" pitchFamily="65" charset="-120"/>
                          <a:ea typeface="標楷體" panose="03000509000000000000" pitchFamily="65" charset="-120"/>
                        </a:rPr>
                        <a:t>7</a:t>
                      </a:r>
                    </a:p>
                    <a:p>
                      <a:r>
                        <a:rPr lang="en-US" altLang="zh-TW" sz="1050" b="0" dirty="0">
                          <a:solidFill>
                            <a:schemeClr val="tx1"/>
                          </a:solidFill>
                          <a:latin typeface="標楷體" panose="03000509000000000000" pitchFamily="65" charset="-120"/>
                          <a:ea typeface="標楷體" panose="03000509000000000000" pitchFamily="65" charset="-120"/>
                        </a:rPr>
                        <a:t>21+11</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21+11</a:t>
                      </a:r>
                    </a:p>
                    <a:p>
                      <a:r>
                        <a:rPr lang="en-US" altLang="zh-TW" sz="1050" b="0" dirty="0">
                          <a:solidFill>
                            <a:schemeClr val="tx1"/>
                          </a:solidFill>
                          <a:latin typeface="標楷體" panose="03000509000000000000" pitchFamily="65" charset="-120"/>
                          <a:ea typeface="標楷體" panose="03000509000000000000" pitchFamily="65" charset="-120"/>
                        </a:rPr>
                        <a:t>7+11</a:t>
                      </a:r>
                    </a:p>
                    <a:p>
                      <a:r>
                        <a:rPr lang="en-US" altLang="zh-TW" sz="1050" b="0" dirty="0">
                          <a:solidFill>
                            <a:schemeClr val="tx1"/>
                          </a:solidFill>
                          <a:latin typeface="標楷體" panose="03000509000000000000" pitchFamily="65" charset="-120"/>
                          <a:ea typeface="標楷體" panose="03000509000000000000" pitchFamily="65" charset="-12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18+7+16</a:t>
                      </a:r>
                    </a:p>
                    <a:p>
                      <a:endParaRPr lang="en-US" altLang="zh-TW" sz="1050" b="0" dirty="0">
                        <a:solidFill>
                          <a:schemeClr val="tx1"/>
                        </a:solidFill>
                        <a:latin typeface="標楷體" panose="03000509000000000000" pitchFamily="65" charset="-120"/>
                        <a:ea typeface="標楷體" panose="03000509000000000000" pitchFamily="65" charset="-120"/>
                      </a:endParaRPr>
                    </a:p>
                    <a:p>
                      <a:r>
                        <a:rPr lang="en-US" altLang="zh-TW" sz="1050" b="0" dirty="0">
                          <a:solidFill>
                            <a:schemeClr val="tx1"/>
                          </a:solidFill>
                          <a:latin typeface="標楷體" panose="03000509000000000000" pitchFamily="65" charset="-120"/>
                          <a:ea typeface="標楷體" panose="03000509000000000000" pitchFamily="65" charset="-120"/>
                        </a:rPr>
                        <a:t>41/3=13.67</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578100">
                <a:tc>
                  <a:txBody>
                    <a:bodyPr/>
                    <a:lstStyle/>
                    <a:p>
                      <a:r>
                        <a:rPr lang="en-US" altLang="zh-TW" sz="1050" b="0" dirty="0">
                          <a:solidFill>
                            <a:schemeClr val="tx1"/>
                          </a:solidFill>
                        </a:rPr>
                        <a:t>T9</a:t>
                      </a:r>
                      <a:endParaRPr lang="zh-TW" altLang="en-US" sz="105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a:t>
                      </a:r>
                    </a:p>
                    <a:p>
                      <a:r>
                        <a:rPr lang="en-US" altLang="zh-TW" sz="1050" b="0" dirty="0">
                          <a:solidFill>
                            <a:schemeClr val="tx1"/>
                          </a:solidFill>
                          <a:latin typeface="標楷體" panose="03000509000000000000" pitchFamily="65" charset="-120"/>
                          <a:ea typeface="標楷體" panose="03000509000000000000" pitchFamily="65" charset="-120"/>
                        </a:rPr>
                        <a:t>7+13</a:t>
                      </a:r>
                    </a:p>
                    <a:p>
                      <a:r>
                        <a:rPr lang="en-US" altLang="zh-TW" sz="1050" b="0" dirty="0">
                          <a:solidFill>
                            <a:schemeClr val="tx1"/>
                          </a:solidFill>
                          <a:latin typeface="標楷體" panose="03000509000000000000" pitchFamily="65" charset="-120"/>
                          <a:ea typeface="標楷體" panose="03000509000000000000" pitchFamily="65" charset="-120"/>
                        </a:rPr>
                        <a:t>16+13</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21+13</a:t>
                      </a:r>
                    </a:p>
                    <a:p>
                      <a:r>
                        <a:rPr lang="en-US" altLang="zh-TW" sz="1050" b="0" dirty="0">
                          <a:solidFill>
                            <a:schemeClr val="tx1"/>
                          </a:solidFill>
                          <a:latin typeface="標楷體" panose="03000509000000000000" pitchFamily="65" charset="-120"/>
                          <a:ea typeface="標楷體" panose="03000509000000000000" pitchFamily="65" charset="-120"/>
                        </a:rPr>
                        <a:t>7</a:t>
                      </a:r>
                    </a:p>
                    <a:p>
                      <a:r>
                        <a:rPr lang="en-US" altLang="zh-TW" sz="1050" b="0" dirty="0">
                          <a:solidFill>
                            <a:schemeClr val="tx1"/>
                          </a:solidFill>
                          <a:latin typeface="標楷體" panose="03000509000000000000" pitchFamily="65" charset="-120"/>
                          <a:ea typeface="標楷體" panose="03000509000000000000" pitchFamily="65" charset="-120"/>
                        </a:rPr>
                        <a:t>16+13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21+13</a:t>
                      </a:r>
                    </a:p>
                    <a:p>
                      <a:r>
                        <a:rPr lang="en-US" altLang="zh-TW" sz="1050" b="0" dirty="0">
                          <a:solidFill>
                            <a:schemeClr val="tx1"/>
                          </a:solidFill>
                          <a:latin typeface="標楷體" panose="03000509000000000000" pitchFamily="65" charset="-120"/>
                          <a:ea typeface="標楷體" panose="03000509000000000000" pitchFamily="65" charset="-120"/>
                        </a:rPr>
                        <a:t>7+13</a:t>
                      </a:r>
                    </a:p>
                    <a:p>
                      <a:r>
                        <a:rPr lang="en-US" altLang="zh-TW" sz="1050" b="0" dirty="0">
                          <a:solidFill>
                            <a:schemeClr val="tx1"/>
                          </a:solidFill>
                          <a:latin typeface="標楷體" panose="03000509000000000000" pitchFamily="65" charset="-120"/>
                          <a:ea typeface="標楷體" panose="03000509000000000000" pitchFamily="65" charset="-120"/>
                        </a:rPr>
                        <a:t>16</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20+7+16/3</a:t>
                      </a:r>
                    </a:p>
                    <a:p>
                      <a:endParaRPr lang="en-US" altLang="zh-TW" sz="1050" b="0" dirty="0">
                        <a:solidFill>
                          <a:schemeClr val="tx1"/>
                        </a:solidFill>
                        <a:latin typeface="標楷體" panose="03000509000000000000" pitchFamily="65" charset="-120"/>
                        <a:ea typeface="標楷體" panose="03000509000000000000" pitchFamily="65" charset="-120"/>
                      </a:endParaRPr>
                    </a:p>
                    <a:p>
                      <a:r>
                        <a:rPr lang="en-US" altLang="zh-TW" sz="1050" b="0" dirty="0">
                          <a:solidFill>
                            <a:schemeClr val="tx1"/>
                          </a:solidFill>
                          <a:latin typeface="標楷體" panose="03000509000000000000" pitchFamily="65" charset="-120"/>
                          <a:ea typeface="標楷體" panose="03000509000000000000" pitchFamily="65" charset="-120"/>
                        </a:rPr>
                        <a:t>=14.34</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333827">
                <a:tc>
                  <a:txBody>
                    <a:bodyPr/>
                    <a:lstStyle/>
                    <a:p>
                      <a:r>
                        <a:rPr lang="en-US" altLang="zh-TW" sz="1050" b="0" dirty="0">
                          <a:solidFill>
                            <a:schemeClr val="tx1"/>
                          </a:solidFill>
                        </a:rPr>
                        <a:t>T10</a:t>
                      </a:r>
                      <a:endParaRPr lang="zh-TW" altLang="en-US" sz="105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0</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0</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0</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050" b="0" dirty="0">
                          <a:solidFill>
                            <a:schemeClr val="tx1"/>
                          </a:solidFill>
                          <a:latin typeface="標楷體" panose="03000509000000000000" pitchFamily="65" charset="-120"/>
                          <a:ea typeface="標楷體" panose="03000509000000000000" pitchFamily="65" charset="-120"/>
                        </a:rPr>
                        <a:t>0</a:t>
                      </a:r>
                      <a:endParaRPr lang="zh-TW" altLang="en-US" sz="1050"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7" name="圖片 6">
            <a:extLst>
              <a:ext uri="{FF2B5EF4-FFF2-40B4-BE49-F238E27FC236}">
                <a16:creationId xmlns:a16="http://schemas.microsoft.com/office/drawing/2014/main" id="{AF70F975-1700-48B9-9D10-C16BE52FAF2A}"/>
              </a:ext>
            </a:extLst>
          </p:cNvPr>
          <p:cNvPicPr>
            <a:picLocks noChangeAspect="1"/>
          </p:cNvPicPr>
          <p:nvPr/>
        </p:nvPicPr>
        <p:blipFill>
          <a:blip r:embed="rId4"/>
          <a:stretch>
            <a:fillRect/>
          </a:stretch>
        </p:blipFill>
        <p:spPr>
          <a:xfrm>
            <a:off x="6460985" y="4475698"/>
            <a:ext cx="6886575" cy="1114425"/>
          </a:xfrm>
          <a:prstGeom prst="rect">
            <a:avLst/>
          </a:prstGeom>
        </p:spPr>
      </p:pic>
      <p:pic>
        <p:nvPicPr>
          <p:cNvPr id="3" name="圖片 2">
            <a:extLst>
              <a:ext uri="{FF2B5EF4-FFF2-40B4-BE49-F238E27FC236}">
                <a16:creationId xmlns:a16="http://schemas.microsoft.com/office/drawing/2014/main" id="{CA476B0F-688A-46C2-AA7F-326DB0C81CCC}"/>
              </a:ext>
            </a:extLst>
          </p:cNvPr>
          <p:cNvPicPr>
            <a:picLocks noChangeAspect="1"/>
          </p:cNvPicPr>
          <p:nvPr/>
        </p:nvPicPr>
        <p:blipFill>
          <a:blip r:embed="rId5"/>
          <a:stretch>
            <a:fillRect/>
          </a:stretch>
        </p:blipFill>
        <p:spPr>
          <a:xfrm>
            <a:off x="8506583" y="5767754"/>
            <a:ext cx="3131449" cy="820467"/>
          </a:xfrm>
          <a:prstGeom prst="rect">
            <a:avLst/>
          </a:prstGeom>
        </p:spPr>
      </p:pic>
    </p:spTree>
    <p:extLst>
      <p:ext uri="{BB962C8B-B14F-4D97-AF65-F5344CB8AC3E}">
        <p14:creationId xmlns:p14="http://schemas.microsoft.com/office/powerpoint/2010/main" val="60804307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386572456"/>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𝑅𝑎𝑛𝑘</m:t>
                                    </m:r>
                                  </m:e>
                                  <m:sub>
                                    <m:r>
                                      <a:rPr lang="en-US" altLang="zh-TW" sz="1200" b="0" i="1" smtClean="0">
                                        <a:solidFill>
                                          <a:schemeClr val="tx1"/>
                                        </a:solidFill>
                                        <a:latin typeface="Cambria Math" panose="02040503050406030204" pitchFamily="18" charset="0"/>
                                      </a:rPr>
                                      <m:t>𝑜𝑐𝑡</m:t>
                                    </m:r>
                                  </m:sub>
                                </m:sSub>
                              </m:oMath>
                            </m:oMathPara>
                          </a14:m>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ea typeface="標楷體" panose="03000509000000000000" pitchFamily="65" charset="-120"/>
                                      </a:rPr>
                                    </m:ctrlPr>
                                  </m:sSubPr>
                                  <m:e>
                                    <m:r>
                                      <a:rPr lang="en-US" altLang="zh-TW" sz="1200" b="0" i="1" smtClean="0">
                                        <a:solidFill>
                                          <a:schemeClr val="tx1"/>
                                        </a:solidFill>
                                        <a:latin typeface="Cambria Math" panose="02040503050406030204" pitchFamily="18" charset="0"/>
                                        <a:ea typeface="標楷體" panose="03000509000000000000" pitchFamily="65" charset="-120"/>
                                      </a:rPr>
                                      <m:t>𝑂</m:t>
                                    </m:r>
                                  </m:e>
                                  <m:sub>
                                    <m:r>
                                      <a:rPr lang="en-US" altLang="zh-TW" sz="1200" b="0" i="1" smtClean="0">
                                        <a:solidFill>
                                          <a:schemeClr val="tx1"/>
                                        </a:solidFill>
                                        <a:latin typeface="Cambria Math" panose="02040503050406030204" pitchFamily="18" charset="0"/>
                                        <a:ea typeface="標楷體" panose="03000509000000000000" pitchFamily="65" charset="-120"/>
                                      </a:rPr>
                                      <m:t>𝐸𝐹𝑇</m:t>
                                    </m:r>
                                  </m:sub>
                                </m:sSub>
                              </m:oMath>
                            </m:oMathPara>
                          </a14:m>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P1</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P2</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P3</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P1</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P2</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P3</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b="0" i="0" dirty="0">
                              <a:solidFill>
                                <a:schemeClr val="tx1"/>
                              </a:solidFill>
                            </a:rPr>
                            <a:t>T1</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14</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16</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9</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rgbClr val="00B050"/>
                              </a:solidFill>
                              <a:latin typeface="標楷體" panose="03000509000000000000" pitchFamily="65" charset="-120"/>
                              <a:ea typeface="標楷體" panose="03000509000000000000" pitchFamily="65" charset="-120"/>
                            </a:rPr>
                            <a:t>51</a:t>
                          </a:r>
                          <a:r>
                            <a:rPr lang="en-US" altLang="zh-TW" b="0" i="0" dirty="0">
                              <a:solidFill>
                                <a:schemeClr val="tx1"/>
                              </a:solidFill>
                              <a:latin typeface="標楷體" panose="03000509000000000000" pitchFamily="65" charset="-120"/>
                              <a:ea typeface="標楷體" panose="03000509000000000000" pitchFamily="65" charset="-120"/>
                            </a:rPr>
                            <a:t>+14</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rgbClr val="00B050"/>
                              </a:solidFill>
                              <a:latin typeface="標楷體" panose="03000509000000000000" pitchFamily="65" charset="-120"/>
                              <a:ea typeface="標楷體" panose="03000509000000000000" pitchFamily="65" charset="-120"/>
                            </a:rPr>
                            <a:t>38</a:t>
                          </a:r>
                          <a:r>
                            <a:rPr lang="en-US" altLang="zh-TW" b="0" i="0" dirty="0">
                              <a:solidFill>
                                <a:schemeClr val="tx1"/>
                              </a:solidFill>
                              <a:latin typeface="標楷體" panose="03000509000000000000" pitchFamily="65" charset="-120"/>
                              <a:ea typeface="標楷體" panose="03000509000000000000" pitchFamily="65" charset="-120"/>
                            </a:rPr>
                            <a:t>+16</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rgbClr val="00B050"/>
                              </a:solidFill>
                              <a:latin typeface="標楷體" panose="03000509000000000000" pitchFamily="65" charset="-120"/>
                              <a:ea typeface="標楷體" panose="03000509000000000000" pitchFamily="65" charset="-120"/>
                            </a:rPr>
                            <a:t>54</a:t>
                          </a:r>
                          <a:r>
                            <a:rPr lang="en-US" altLang="zh-TW" b="0" i="0" dirty="0">
                              <a:solidFill>
                                <a:schemeClr val="tx1"/>
                              </a:solidFill>
                              <a:latin typeface="標楷體" panose="03000509000000000000" pitchFamily="65" charset="-120"/>
                              <a:ea typeface="標楷體" panose="03000509000000000000" pitchFamily="65" charset="-120"/>
                            </a:rPr>
                            <a:t>+9</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P2</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b="0" i="0" dirty="0">
                              <a:solidFill>
                                <a:schemeClr val="tx1"/>
                              </a:solidFill>
                            </a:rPr>
                            <a:t>T4</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b="0" i="0" dirty="0">
                              <a:solidFill>
                                <a:schemeClr val="tx1"/>
                              </a:solidFill>
                            </a:rPr>
                            <a:t>T2</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b="0" i="0" dirty="0">
                              <a:solidFill>
                                <a:schemeClr val="tx1"/>
                              </a:solidFill>
                            </a:rPr>
                            <a:t>T5</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b="0" i="0" dirty="0">
                              <a:solidFill>
                                <a:schemeClr val="tx1"/>
                              </a:solidFill>
                            </a:rPr>
                            <a:t>T3</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b="0" i="0" dirty="0">
                              <a:solidFill>
                                <a:schemeClr val="tx1"/>
                              </a:solidFill>
                            </a:rPr>
                            <a:t>T6</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b="0" i="0" dirty="0">
                              <a:solidFill>
                                <a:schemeClr val="tx1"/>
                              </a:solidFill>
                            </a:rPr>
                            <a:t>T7</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b="0" i="0" dirty="0">
                              <a:solidFill>
                                <a:schemeClr val="tx1"/>
                              </a:solidFill>
                            </a:rPr>
                            <a:t>T9</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b="0" i="0" dirty="0">
                              <a:solidFill>
                                <a:schemeClr val="tx1"/>
                              </a:solidFill>
                            </a:rPr>
                            <a:t>T8</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b="0" i="0" dirty="0">
                              <a:solidFill>
                                <a:schemeClr val="tx1"/>
                              </a:solidFill>
                            </a:rPr>
                            <a:t>T10</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386572456"/>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03" t="-1587" r="-1351351" b="-1301587"/>
                          </a:stretch>
                        </a:blip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026" t="-1587" r="-248718" b="-1301587"/>
                          </a:stretch>
                        </a:blip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P1</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P2</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P3</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P1</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P2</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P3</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b="0" i="0" dirty="0">
                              <a:solidFill>
                                <a:schemeClr val="tx1"/>
                              </a:solidFill>
                            </a:rPr>
                            <a:t>T1</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14</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16</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9</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rgbClr val="00B050"/>
                              </a:solidFill>
                              <a:latin typeface="標楷體" panose="03000509000000000000" pitchFamily="65" charset="-120"/>
                              <a:ea typeface="標楷體" panose="03000509000000000000" pitchFamily="65" charset="-120"/>
                            </a:rPr>
                            <a:t>51</a:t>
                          </a:r>
                          <a:r>
                            <a:rPr lang="en-US" altLang="zh-TW" b="0" i="0" dirty="0">
                              <a:solidFill>
                                <a:schemeClr val="tx1"/>
                              </a:solidFill>
                              <a:latin typeface="標楷體" panose="03000509000000000000" pitchFamily="65" charset="-120"/>
                              <a:ea typeface="標楷體" panose="03000509000000000000" pitchFamily="65" charset="-120"/>
                            </a:rPr>
                            <a:t>+14</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rgbClr val="00B050"/>
                              </a:solidFill>
                              <a:latin typeface="標楷體" panose="03000509000000000000" pitchFamily="65" charset="-120"/>
                              <a:ea typeface="標楷體" panose="03000509000000000000" pitchFamily="65" charset="-120"/>
                            </a:rPr>
                            <a:t>38</a:t>
                          </a:r>
                          <a:r>
                            <a:rPr lang="en-US" altLang="zh-TW" b="0" i="0" dirty="0">
                              <a:solidFill>
                                <a:schemeClr val="tx1"/>
                              </a:solidFill>
                              <a:latin typeface="標楷體" panose="03000509000000000000" pitchFamily="65" charset="-120"/>
                              <a:ea typeface="標楷體" panose="03000509000000000000" pitchFamily="65" charset="-120"/>
                            </a:rPr>
                            <a:t>+16</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rgbClr val="00B050"/>
                              </a:solidFill>
                              <a:latin typeface="標楷體" panose="03000509000000000000" pitchFamily="65" charset="-120"/>
                              <a:ea typeface="標楷體" panose="03000509000000000000" pitchFamily="65" charset="-120"/>
                            </a:rPr>
                            <a:t>54</a:t>
                          </a:r>
                          <a:r>
                            <a:rPr lang="en-US" altLang="zh-TW" b="0" i="0" dirty="0">
                              <a:solidFill>
                                <a:schemeClr val="tx1"/>
                              </a:solidFill>
                              <a:latin typeface="標楷體" panose="03000509000000000000" pitchFamily="65" charset="-120"/>
                              <a:ea typeface="標楷體" panose="03000509000000000000" pitchFamily="65" charset="-120"/>
                            </a:rPr>
                            <a:t>+9</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標楷體" panose="03000509000000000000" pitchFamily="65" charset="-120"/>
                              <a:ea typeface="標楷體" panose="03000509000000000000" pitchFamily="65" charset="-120"/>
                            </a:rPr>
                            <a:t>P2</a:t>
                          </a:r>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b="0" i="0" dirty="0">
                              <a:solidFill>
                                <a:schemeClr val="tx1"/>
                              </a:solidFill>
                            </a:rPr>
                            <a:t>T4</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b="0" i="0" dirty="0">
                              <a:solidFill>
                                <a:schemeClr val="tx1"/>
                              </a:solidFill>
                            </a:rPr>
                            <a:t>T2</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b="0" i="0" dirty="0">
                              <a:solidFill>
                                <a:schemeClr val="tx1"/>
                              </a:solidFill>
                            </a:rPr>
                            <a:t>T5</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b="0" i="0" dirty="0">
                              <a:solidFill>
                                <a:schemeClr val="tx1"/>
                              </a:solidFill>
                            </a:rPr>
                            <a:t>T3</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b="0" i="0" dirty="0">
                              <a:solidFill>
                                <a:schemeClr val="tx1"/>
                              </a:solidFill>
                            </a:rPr>
                            <a:t>T6</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b="0" i="0" dirty="0">
                              <a:solidFill>
                                <a:schemeClr val="tx1"/>
                              </a:solidFill>
                            </a:rPr>
                            <a:t>T7</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b="0" i="0" dirty="0">
                              <a:solidFill>
                                <a:schemeClr val="tx1"/>
                              </a:solidFill>
                            </a:rPr>
                            <a:t>T9</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b="0" i="0" dirty="0">
                              <a:solidFill>
                                <a:schemeClr val="tx1"/>
                              </a:solidFill>
                            </a:rPr>
                            <a:t>T8</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b="0" i="0" dirty="0">
                              <a:solidFill>
                                <a:schemeClr val="tx1"/>
                              </a:solidFill>
                            </a:rPr>
                            <a:t>T10</a:t>
                          </a:r>
                          <a:endParaRPr lang="zh-TW" altLang="en-US"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81F29571-F3DE-49D1-A6B8-7824FFD6114A}"/>
              </a:ext>
            </a:extLst>
          </p:cNvPr>
          <p:cNvPicPr>
            <a:picLocks noChangeAspect="1"/>
          </p:cNvPicPr>
          <p:nvPr/>
        </p:nvPicPr>
        <p:blipFill>
          <a:blip r:embed="rId3"/>
          <a:stretch>
            <a:fillRect/>
          </a:stretch>
        </p:blipFill>
        <p:spPr>
          <a:xfrm>
            <a:off x="6555676" y="0"/>
            <a:ext cx="2637564" cy="3715415"/>
          </a:xfrm>
          <a:prstGeom prst="rect">
            <a:avLst/>
          </a:prstGeom>
        </p:spPr>
      </p:pic>
      <p:pic>
        <p:nvPicPr>
          <p:cNvPr id="6" name="圖片 5">
            <a:extLst>
              <a:ext uri="{FF2B5EF4-FFF2-40B4-BE49-F238E27FC236}">
                <a16:creationId xmlns:a16="http://schemas.microsoft.com/office/drawing/2014/main" id="{26979AF4-A06E-4C10-85A7-8BA80E60C601}"/>
              </a:ext>
            </a:extLst>
          </p:cNvPr>
          <p:cNvPicPr>
            <a:picLocks noChangeAspect="1"/>
          </p:cNvPicPr>
          <p:nvPr/>
        </p:nvPicPr>
        <p:blipFill>
          <a:blip r:embed="rId4"/>
          <a:stretch>
            <a:fillRect/>
          </a:stretch>
        </p:blipFill>
        <p:spPr>
          <a:xfrm>
            <a:off x="9784229" y="3429000"/>
            <a:ext cx="2201095" cy="3830751"/>
          </a:xfrm>
          <a:prstGeom prst="rect">
            <a:avLst/>
          </a:prstGeom>
        </p:spPr>
      </p:pic>
      <p:graphicFrame>
        <p:nvGraphicFramePr>
          <p:cNvPr id="7" name="表格 4">
            <a:extLst>
              <a:ext uri="{FF2B5EF4-FFF2-40B4-BE49-F238E27FC236}">
                <a16:creationId xmlns:a16="http://schemas.microsoft.com/office/drawing/2014/main" id="{D7432878-4003-40F3-A096-CD2D7E0B51B9}"/>
              </a:ext>
            </a:extLst>
          </p:cNvPr>
          <p:cNvGraphicFramePr>
            <a:graphicFrameLocks noGrp="1"/>
          </p:cNvGraphicFramePr>
          <p:nvPr>
            <p:extLst>
              <p:ext uri="{D42A27DB-BD31-4B8C-83A1-F6EECF244321}">
                <p14:modId xmlns:p14="http://schemas.microsoft.com/office/powerpoint/2010/main" val="2622294610"/>
              </p:ext>
            </p:extLst>
          </p:nvPr>
        </p:nvGraphicFramePr>
        <p:xfrm>
          <a:off x="6885906" y="3715415"/>
          <a:ext cx="2201095" cy="3240535"/>
        </p:xfrm>
        <a:graphic>
          <a:graphicData uri="http://schemas.openxmlformats.org/drawingml/2006/table">
            <a:tbl>
              <a:tblPr firstRow="1" bandRow="1">
                <a:tableStyleId>{5C22544A-7EE6-4342-B048-85BDC9FD1C3A}</a:tableStyleId>
              </a:tblPr>
              <a:tblGrid>
                <a:gridCol w="606870">
                  <a:extLst>
                    <a:ext uri="{9D8B030D-6E8A-4147-A177-3AD203B41FA5}">
                      <a16:colId xmlns:a16="http://schemas.microsoft.com/office/drawing/2014/main" val="239911059"/>
                    </a:ext>
                  </a:extLst>
                </a:gridCol>
                <a:gridCol w="493677">
                  <a:extLst>
                    <a:ext uri="{9D8B030D-6E8A-4147-A177-3AD203B41FA5}">
                      <a16:colId xmlns:a16="http://schemas.microsoft.com/office/drawing/2014/main" val="2696759501"/>
                    </a:ext>
                  </a:extLst>
                </a:gridCol>
                <a:gridCol w="550274">
                  <a:extLst>
                    <a:ext uri="{9D8B030D-6E8A-4147-A177-3AD203B41FA5}">
                      <a16:colId xmlns:a16="http://schemas.microsoft.com/office/drawing/2014/main" val="802323705"/>
                    </a:ext>
                  </a:extLst>
                </a:gridCol>
                <a:gridCol w="550274">
                  <a:extLst>
                    <a:ext uri="{9D8B030D-6E8A-4147-A177-3AD203B41FA5}">
                      <a16:colId xmlns:a16="http://schemas.microsoft.com/office/drawing/2014/main" val="111345989"/>
                    </a:ext>
                  </a:extLst>
                </a:gridCol>
              </a:tblGrid>
              <a:tr h="260982">
                <a:tc>
                  <a:txBody>
                    <a:bodyPr/>
                    <a:lstStyle/>
                    <a:p>
                      <a:r>
                        <a:rPr lang="en-US" altLang="zh-TW" sz="1050" b="0" dirty="0">
                          <a:solidFill>
                            <a:schemeClr val="tx1"/>
                          </a:solidFill>
                          <a:latin typeface="Times New Roman" panose="02020603050405020304" pitchFamily="18" charset="0"/>
                          <a:cs typeface="Times New Roman" panose="02020603050405020304" pitchFamily="18" charset="0"/>
                        </a:rPr>
                        <a:t>      </a:t>
                      </a:r>
                      <a:r>
                        <a:rPr lang="en-US" altLang="zh-TW" sz="800" b="0" dirty="0">
                          <a:solidFill>
                            <a:schemeClr val="tx1"/>
                          </a:solidFill>
                          <a:latin typeface="Times New Roman" panose="02020603050405020304" pitchFamily="18" charset="0"/>
                          <a:cs typeface="Times New Roman" panose="02020603050405020304" pitchFamily="18" charset="0"/>
                        </a:rPr>
                        <a:t>OCT</a:t>
                      </a:r>
                    </a:p>
                    <a:p>
                      <a:r>
                        <a:rPr lang="en-US" altLang="zh-TW" sz="1000" b="0" dirty="0">
                          <a:solidFill>
                            <a:schemeClr val="tx1"/>
                          </a:solidFill>
                          <a:latin typeface="Times New Roman" panose="02020603050405020304" pitchFamily="18" charset="0"/>
                          <a:cs typeface="Times New Roman" panose="02020603050405020304" pitchFamily="18" charset="0"/>
                        </a:rPr>
                        <a:t>Task</a:t>
                      </a:r>
                      <a:endParaRPr lang="zh-TW" altLang="en-US" sz="1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260982">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54</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704504711"/>
                  </a:ext>
                </a:extLst>
              </a:tr>
              <a:tr h="260982">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260982">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260982">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260982">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260982">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260982">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260982">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260982">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367795">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7A9ACAC5-0307-4523-971E-9E7000191554}"/>
              </a:ext>
            </a:extLst>
          </p:cNvPr>
          <p:cNvPicPr>
            <a:picLocks noChangeAspect="1"/>
          </p:cNvPicPr>
          <p:nvPr/>
        </p:nvPicPr>
        <p:blipFill>
          <a:blip r:embed="rId5"/>
          <a:stretch>
            <a:fillRect/>
          </a:stretch>
        </p:blipFill>
        <p:spPr>
          <a:xfrm>
            <a:off x="9087001" y="0"/>
            <a:ext cx="3154445" cy="3162925"/>
          </a:xfrm>
          <a:prstGeom prst="rect">
            <a:avLst/>
          </a:prstGeom>
        </p:spPr>
      </p:pic>
    </p:spTree>
    <p:extLst>
      <p:ext uri="{BB962C8B-B14F-4D97-AF65-F5344CB8AC3E}">
        <p14:creationId xmlns:p14="http://schemas.microsoft.com/office/powerpoint/2010/main" val="419905713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2573684412"/>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𝑅𝑎𝑛𝑘</m:t>
                                    </m:r>
                                  </m:e>
                                  <m:sub>
                                    <m:r>
                                      <a:rPr lang="en-US" altLang="zh-TW" sz="1200" b="0" i="1" smtClean="0">
                                        <a:solidFill>
                                          <a:schemeClr val="tx1"/>
                                        </a:solidFill>
                                        <a:latin typeface="Cambria Math" panose="02040503050406030204" pitchFamily="18" charset="0"/>
                                      </a:rPr>
                                      <m:t>𝑜𝑐𝑡</m:t>
                                    </m:r>
                                  </m:sub>
                                </m:sSub>
                              </m:oMath>
                            </m:oMathPara>
                          </a14:m>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ea typeface="標楷體" panose="03000509000000000000" pitchFamily="65" charset="-120"/>
                                      </a:rPr>
                                    </m:ctrlPr>
                                  </m:sSubPr>
                                  <m:e>
                                    <m:r>
                                      <a:rPr lang="en-US" altLang="zh-TW" sz="1200" b="0" i="1" smtClean="0">
                                        <a:solidFill>
                                          <a:schemeClr val="tx1"/>
                                        </a:solidFill>
                                        <a:latin typeface="Cambria Math" panose="02040503050406030204" pitchFamily="18" charset="0"/>
                                        <a:ea typeface="標楷體" panose="03000509000000000000" pitchFamily="65" charset="-120"/>
                                      </a:rPr>
                                      <m:t>𝑂</m:t>
                                    </m:r>
                                  </m:e>
                                  <m:sub>
                                    <m:r>
                                      <a:rPr lang="en-US" altLang="zh-TW" sz="1200" b="0" i="1" smtClean="0">
                                        <a:solidFill>
                                          <a:schemeClr val="tx1"/>
                                        </a:solidFill>
                                        <a:latin typeface="Cambria Math" panose="02040503050406030204" pitchFamily="18" charset="0"/>
                                        <a:ea typeface="標楷體" panose="03000509000000000000" pitchFamily="65" charset="-120"/>
                                      </a:rPr>
                                      <m:t>𝐸𝐹𝑇</m:t>
                                    </m:r>
                                  </m:sub>
                                </m:sSub>
                              </m:oMath>
                            </m:oMathPara>
                          </a14:m>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2573684412"/>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03" t="-1587" r="-1351351" b="-1300000"/>
                          </a:stretch>
                        </a:blip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026" t="-1587" r="-248718" b="-1300000"/>
                          </a:stretch>
                        </a:blip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81F29571-F3DE-49D1-A6B8-7824FFD6114A}"/>
              </a:ext>
            </a:extLst>
          </p:cNvPr>
          <p:cNvPicPr>
            <a:picLocks noChangeAspect="1"/>
          </p:cNvPicPr>
          <p:nvPr/>
        </p:nvPicPr>
        <p:blipFill>
          <a:blip r:embed="rId3"/>
          <a:stretch>
            <a:fillRect/>
          </a:stretch>
        </p:blipFill>
        <p:spPr>
          <a:xfrm>
            <a:off x="6555676" y="0"/>
            <a:ext cx="2637564" cy="3715415"/>
          </a:xfrm>
          <a:prstGeom prst="rect">
            <a:avLst/>
          </a:prstGeom>
        </p:spPr>
      </p:pic>
      <p:pic>
        <p:nvPicPr>
          <p:cNvPr id="6" name="圖片 5">
            <a:extLst>
              <a:ext uri="{FF2B5EF4-FFF2-40B4-BE49-F238E27FC236}">
                <a16:creationId xmlns:a16="http://schemas.microsoft.com/office/drawing/2014/main" id="{26979AF4-A06E-4C10-85A7-8BA80E60C601}"/>
              </a:ext>
            </a:extLst>
          </p:cNvPr>
          <p:cNvPicPr>
            <a:picLocks noChangeAspect="1"/>
          </p:cNvPicPr>
          <p:nvPr/>
        </p:nvPicPr>
        <p:blipFill>
          <a:blip r:embed="rId4"/>
          <a:stretch>
            <a:fillRect/>
          </a:stretch>
        </p:blipFill>
        <p:spPr>
          <a:xfrm>
            <a:off x="10180948" y="3419271"/>
            <a:ext cx="2011052" cy="3500003"/>
          </a:xfrm>
          <a:prstGeom prst="rect">
            <a:avLst/>
          </a:prstGeom>
        </p:spPr>
      </p:pic>
      <p:graphicFrame>
        <p:nvGraphicFramePr>
          <p:cNvPr id="7" name="表格 4">
            <a:extLst>
              <a:ext uri="{FF2B5EF4-FFF2-40B4-BE49-F238E27FC236}">
                <a16:creationId xmlns:a16="http://schemas.microsoft.com/office/drawing/2014/main" id="{D7432878-4003-40F3-A096-CD2D7E0B51B9}"/>
              </a:ext>
            </a:extLst>
          </p:cNvPr>
          <p:cNvGraphicFramePr>
            <a:graphicFrameLocks noGrp="1"/>
          </p:cNvGraphicFramePr>
          <p:nvPr>
            <p:extLst>
              <p:ext uri="{D42A27DB-BD31-4B8C-83A1-F6EECF244321}">
                <p14:modId xmlns:p14="http://schemas.microsoft.com/office/powerpoint/2010/main" val="3206303469"/>
              </p:ext>
            </p:extLst>
          </p:nvPr>
        </p:nvGraphicFramePr>
        <p:xfrm>
          <a:off x="6885906" y="3715415"/>
          <a:ext cx="2201095" cy="3240535"/>
        </p:xfrm>
        <a:graphic>
          <a:graphicData uri="http://schemas.openxmlformats.org/drawingml/2006/table">
            <a:tbl>
              <a:tblPr firstRow="1" bandRow="1">
                <a:tableStyleId>{5C22544A-7EE6-4342-B048-85BDC9FD1C3A}</a:tableStyleId>
              </a:tblPr>
              <a:tblGrid>
                <a:gridCol w="606870">
                  <a:extLst>
                    <a:ext uri="{9D8B030D-6E8A-4147-A177-3AD203B41FA5}">
                      <a16:colId xmlns:a16="http://schemas.microsoft.com/office/drawing/2014/main" val="239911059"/>
                    </a:ext>
                  </a:extLst>
                </a:gridCol>
                <a:gridCol w="493677">
                  <a:extLst>
                    <a:ext uri="{9D8B030D-6E8A-4147-A177-3AD203B41FA5}">
                      <a16:colId xmlns:a16="http://schemas.microsoft.com/office/drawing/2014/main" val="2696759501"/>
                    </a:ext>
                  </a:extLst>
                </a:gridCol>
                <a:gridCol w="550274">
                  <a:extLst>
                    <a:ext uri="{9D8B030D-6E8A-4147-A177-3AD203B41FA5}">
                      <a16:colId xmlns:a16="http://schemas.microsoft.com/office/drawing/2014/main" val="802323705"/>
                    </a:ext>
                  </a:extLst>
                </a:gridCol>
                <a:gridCol w="550274">
                  <a:extLst>
                    <a:ext uri="{9D8B030D-6E8A-4147-A177-3AD203B41FA5}">
                      <a16:colId xmlns:a16="http://schemas.microsoft.com/office/drawing/2014/main" val="111345989"/>
                    </a:ext>
                  </a:extLst>
                </a:gridCol>
              </a:tblGrid>
              <a:tr h="260982">
                <a:tc>
                  <a:txBody>
                    <a:bodyPr/>
                    <a:lstStyle/>
                    <a:p>
                      <a:r>
                        <a:rPr lang="en-US" altLang="zh-TW" sz="1050" b="0" dirty="0">
                          <a:solidFill>
                            <a:schemeClr val="tx1"/>
                          </a:solidFill>
                          <a:latin typeface="Times New Roman" panose="02020603050405020304" pitchFamily="18" charset="0"/>
                          <a:cs typeface="Times New Roman" panose="02020603050405020304" pitchFamily="18" charset="0"/>
                        </a:rPr>
                        <a:t>      </a:t>
                      </a:r>
                      <a:r>
                        <a:rPr lang="en-US" altLang="zh-TW" sz="800" b="0" dirty="0">
                          <a:solidFill>
                            <a:schemeClr val="tx1"/>
                          </a:solidFill>
                          <a:latin typeface="Times New Roman" panose="02020603050405020304" pitchFamily="18" charset="0"/>
                          <a:cs typeface="Times New Roman" panose="02020603050405020304" pitchFamily="18" charset="0"/>
                        </a:rPr>
                        <a:t>OCT</a:t>
                      </a:r>
                    </a:p>
                    <a:p>
                      <a:r>
                        <a:rPr lang="en-US" altLang="zh-TW" sz="1000" b="0" dirty="0">
                          <a:solidFill>
                            <a:schemeClr val="tx1"/>
                          </a:solidFill>
                          <a:latin typeface="Times New Roman" panose="02020603050405020304" pitchFamily="18" charset="0"/>
                          <a:cs typeface="Times New Roman" panose="02020603050405020304" pitchFamily="18" charset="0"/>
                        </a:rPr>
                        <a:t>Task</a:t>
                      </a:r>
                      <a:endParaRPr lang="zh-TW" altLang="en-US" sz="1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260982">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54</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260982">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079493796"/>
                  </a:ext>
                </a:extLst>
              </a:tr>
              <a:tr h="0">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260982">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260982">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260982">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260982">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260982">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260982">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367795">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321A8BEE-D63B-439B-88CA-296A842252F4}"/>
              </a:ext>
            </a:extLst>
          </p:cNvPr>
          <p:cNvPicPr>
            <a:picLocks noChangeAspect="1"/>
          </p:cNvPicPr>
          <p:nvPr/>
        </p:nvPicPr>
        <p:blipFill>
          <a:blip r:embed="rId5"/>
          <a:stretch>
            <a:fillRect/>
          </a:stretch>
        </p:blipFill>
        <p:spPr>
          <a:xfrm>
            <a:off x="9087001" y="178736"/>
            <a:ext cx="3104999" cy="3113346"/>
          </a:xfrm>
          <a:prstGeom prst="rect">
            <a:avLst/>
          </a:prstGeom>
        </p:spPr>
      </p:pic>
    </p:spTree>
    <p:extLst>
      <p:ext uri="{BB962C8B-B14F-4D97-AF65-F5344CB8AC3E}">
        <p14:creationId xmlns:p14="http://schemas.microsoft.com/office/powerpoint/2010/main" val="41360631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2503711251"/>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𝑅𝑎𝑛𝑘</m:t>
                                    </m:r>
                                  </m:e>
                                  <m:sub>
                                    <m:r>
                                      <a:rPr lang="en-US" altLang="zh-TW" sz="1200" b="0" i="1" smtClean="0">
                                        <a:solidFill>
                                          <a:schemeClr val="tx1"/>
                                        </a:solidFill>
                                        <a:latin typeface="Cambria Math" panose="02040503050406030204" pitchFamily="18" charset="0"/>
                                      </a:rPr>
                                      <m:t>𝑜𝑐𝑡</m:t>
                                    </m:r>
                                  </m:sub>
                                </m:sSub>
                              </m:oMath>
                            </m:oMathPara>
                          </a14:m>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ea typeface="標楷體" panose="03000509000000000000" pitchFamily="65" charset="-120"/>
                                      </a:rPr>
                                    </m:ctrlPr>
                                  </m:sSubPr>
                                  <m:e>
                                    <m:r>
                                      <a:rPr lang="en-US" altLang="zh-TW" sz="1200" b="0" i="1" smtClean="0">
                                        <a:solidFill>
                                          <a:schemeClr val="tx1"/>
                                        </a:solidFill>
                                        <a:latin typeface="Cambria Math" panose="02040503050406030204" pitchFamily="18" charset="0"/>
                                        <a:ea typeface="標楷體" panose="03000509000000000000" pitchFamily="65" charset="-120"/>
                                      </a:rPr>
                                      <m:t>𝑂</m:t>
                                    </m:r>
                                  </m:e>
                                  <m:sub>
                                    <m:r>
                                      <a:rPr lang="en-US" altLang="zh-TW" sz="1200" b="0" i="1" smtClean="0">
                                        <a:solidFill>
                                          <a:schemeClr val="tx1"/>
                                        </a:solidFill>
                                        <a:latin typeface="Cambria Math" panose="02040503050406030204" pitchFamily="18" charset="0"/>
                                        <a:ea typeface="標楷體" panose="03000509000000000000" pitchFamily="65" charset="-120"/>
                                      </a:rPr>
                                      <m:t>𝐸𝐹𝑇</m:t>
                                    </m:r>
                                  </m:sub>
                                </m:sSub>
                              </m:oMath>
                            </m:oMathPara>
                          </a14:m>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2503711251"/>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03" t="-1587" r="-1351351" b="-1300000"/>
                          </a:stretch>
                        </a:blip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026" t="-1587" r="-248718" b="-1300000"/>
                          </a:stretch>
                        </a:blip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81F29571-F3DE-49D1-A6B8-7824FFD6114A}"/>
              </a:ext>
            </a:extLst>
          </p:cNvPr>
          <p:cNvPicPr>
            <a:picLocks noChangeAspect="1"/>
          </p:cNvPicPr>
          <p:nvPr/>
        </p:nvPicPr>
        <p:blipFill>
          <a:blip r:embed="rId3"/>
          <a:stretch>
            <a:fillRect/>
          </a:stretch>
        </p:blipFill>
        <p:spPr>
          <a:xfrm>
            <a:off x="6555676" y="0"/>
            <a:ext cx="2637564" cy="3715415"/>
          </a:xfrm>
          <a:prstGeom prst="rect">
            <a:avLst/>
          </a:prstGeom>
        </p:spPr>
      </p:pic>
      <p:pic>
        <p:nvPicPr>
          <p:cNvPr id="6" name="圖片 5">
            <a:extLst>
              <a:ext uri="{FF2B5EF4-FFF2-40B4-BE49-F238E27FC236}">
                <a16:creationId xmlns:a16="http://schemas.microsoft.com/office/drawing/2014/main" id="{26979AF4-A06E-4C10-85A7-8BA80E60C601}"/>
              </a:ext>
            </a:extLst>
          </p:cNvPr>
          <p:cNvPicPr>
            <a:picLocks noChangeAspect="1"/>
          </p:cNvPicPr>
          <p:nvPr/>
        </p:nvPicPr>
        <p:blipFill>
          <a:blip r:embed="rId4"/>
          <a:stretch>
            <a:fillRect/>
          </a:stretch>
        </p:blipFill>
        <p:spPr>
          <a:xfrm>
            <a:off x="10180948" y="3419271"/>
            <a:ext cx="2011052" cy="3500003"/>
          </a:xfrm>
          <a:prstGeom prst="rect">
            <a:avLst/>
          </a:prstGeom>
        </p:spPr>
      </p:pic>
      <p:graphicFrame>
        <p:nvGraphicFramePr>
          <p:cNvPr id="7" name="表格 4">
            <a:extLst>
              <a:ext uri="{FF2B5EF4-FFF2-40B4-BE49-F238E27FC236}">
                <a16:creationId xmlns:a16="http://schemas.microsoft.com/office/drawing/2014/main" id="{D7432878-4003-40F3-A096-CD2D7E0B51B9}"/>
              </a:ext>
            </a:extLst>
          </p:cNvPr>
          <p:cNvGraphicFramePr>
            <a:graphicFrameLocks noGrp="1"/>
          </p:cNvGraphicFramePr>
          <p:nvPr>
            <p:extLst>
              <p:ext uri="{D42A27DB-BD31-4B8C-83A1-F6EECF244321}">
                <p14:modId xmlns:p14="http://schemas.microsoft.com/office/powerpoint/2010/main" val="1882932932"/>
              </p:ext>
            </p:extLst>
          </p:nvPr>
        </p:nvGraphicFramePr>
        <p:xfrm>
          <a:off x="6885906" y="3715415"/>
          <a:ext cx="2201095" cy="3240535"/>
        </p:xfrm>
        <a:graphic>
          <a:graphicData uri="http://schemas.openxmlformats.org/drawingml/2006/table">
            <a:tbl>
              <a:tblPr firstRow="1" bandRow="1">
                <a:tableStyleId>{5C22544A-7EE6-4342-B048-85BDC9FD1C3A}</a:tableStyleId>
              </a:tblPr>
              <a:tblGrid>
                <a:gridCol w="606870">
                  <a:extLst>
                    <a:ext uri="{9D8B030D-6E8A-4147-A177-3AD203B41FA5}">
                      <a16:colId xmlns:a16="http://schemas.microsoft.com/office/drawing/2014/main" val="239911059"/>
                    </a:ext>
                  </a:extLst>
                </a:gridCol>
                <a:gridCol w="493677">
                  <a:extLst>
                    <a:ext uri="{9D8B030D-6E8A-4147-A177-3AD203B41FA5}">
                      <a16:colId xmlns:a16="http://schemas.microsoft.com/office/drawing/2014/main" val="2696759501"/>
                    </a:ext>
                  </a:extLst>
                </a:gridCol>
                <a:gridCol w="550274">
                  <a:extLst>
                    <a:ext uri="{9D8B030D-6E8A-4147-A177-3AD203B41FA5}">
                      <a16:colId xmlns:a16="http://schemas.microsoft.com/office/drawing/2014/main" val="802323705"/>
                    </a:ext>
                  </a:extLst>
                </a:gridCol>
                <a:gridCol w="550274">
                  <a:extLst>
                    <a:ext uri="{9D8B030D-6E8A-4147-A177-3AD203B41FA5}">
                      <a16:colId xmlns:a16="http://schemas.microsoft.com/office/drawing/2014/main" val="111345989"/>
                    </a:ext>
                  </a:extLst>
                </a:gridCol>
              </a:tblGrid>
              <a:tr h="260982">
                <a:tc>
                  <a:txBody>
                    <a:bodyPr/>
                    <a:lstStyle/>
                    <a:p>
                      <a:r>
                        <a:rPr lang="en-US" altLang="zh-TW" sz="1050" b="0" dirty="0">
                          <a:solidFill>
                            <a:schemeClr val="tx1"/>
                          </a:solidFill>
                          <a:latin typeface="Times New Roman" panose="02020603050405020304" pitchFamily="18" charset="0"/>
                          <a:cs typeface="Times New Roman" panose="02020603050405020304" pitchFamily="18" charset="0"/>
                        </a:rPr>
                        <a:t>      </a:t>
                      </a:r>
                      <a:r>
                        <a:rPr lang="en-US" altLang="zh-TW" sz="800" b="0" dirty="0">
                          <a:solidFill>
                            <a:schemeClr val="tx1"/>
                          </a:solidFill>
                          <a:latin typeface="Times New Roman" panose="02020603050405020304" pitchFamily="18" charset="0"/>
                          <a:cs typeface="Times New Roman" panose="02020603050405020304" pitchFamily="18" charset="0"/>
                        </a:rPr>
                        <a:t>OCT</a:t>
                      </a:r>
                    </a:p>
                    <a:p>
                      <a:r>
                        <a:rPr lang="en-US" altLang="zh-TW" sz="1000" b="0" dirty="0">
                          <a:solidFill>
                            <a:schemeClr val="tx1"/>
                          </a:solidFill>
                          <a:latin typeface="Times New Roman" panose="02020603050405020304" pitchFamily="18" charset="0"/>
                          <a:cs typeface="Times New Roman" panose="02020603050405020304" pitchFamily="18" charset="0"/>
                        </a:rPr>
                        <a:t>Task</a:t>
                      </a:r>
                      <a:endParaRPr lang="zh-TW" altLang="en-US" sz="1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260982">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54</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260982">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0">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119750404"/>
                  </a:ext>
                </a:extLst>
              </a:tr>
              <a:tr h="260982">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260982">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260982">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260982">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260982">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260982">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367795">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321A8BEE-D63B-439B-88CA-296A842252F4}"/>
              </a:ext>
            </a:extLst>
          </p:cNvPr>
          <p:cNvPicPr>
            <a:picLocks noChangeAspect="1"/>
          </p:cNvPicPr>
          <p:nvPr/>
        </p:nvPicPr>
        <p:blipFill>
          <a:blip r:embed="rId5"/>
          <a:stretch>
            <a:fillRect/>
          </a:stretch>
        </p:blipFill>
        <p:spPr>
          <a:xfrm>
            <a:off x="9087001" y="178736"/>
            <a:ext cx="3104999" cy="3113346"/>
          </a:xfrm>
          <a:prstGeom prst="rect">
            <a:avLst/>
          </a:prstGeom>
        </p:spPr>
      </p:pic>
    </p:spTree>
    <p:extLst>
      <p:ext uri="{BB962C8B-B14F-4D97-AF65-F5344CB8AC3E}">
        <p14:creationId xmlns:p14="http://schemas.microsoft.com/office/powerpoint/2010/main" val="234023351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2396104571"/>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𝑅𝑎𝑛𝑘</m:t>
                                    </m:r>
                                  </m:e>
                                  <m:sub>
                                    <m:r>
                                      <a:rPr lang="en-US" altLang="zh-TW" sz="1200" b="0" i="1" smtClean="0">
                                        <a:solidFill>
                                          <a:schemeClr val="tx1"/>
                                        </a:solidFill>
                                        <a:latin typeface="Cambria Math" panose="02040503050406030204" pitchFamily="18" charset="0"/>
                                      </a:rPr>
                                      <m:t>𝑜𝑐𝑡</m:t>
                                    </m:r>
                                  </m:sub>
                                </m:sSub>
                              </m:oMath>
                            </m:oMathPara>
                          </a14:m>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ea typeface="標楷體" panose="03000509000000000000" pitchFamily="65" charset="-120"/>
                                      </a:rPr>
                                    </m:ctrlPr>
                                  </m:sSubPr>
                                  <m:e>
                                    <m:r>
                                      <a:rPr lang="en-US" altLang="zh-TW" sz="1200" b="0" i="1" smtClean="0">
                                        <a:solidFill>
                                          <a:schemeClr val="tx1"/>
                                        </a:solidFill>
                                        <a:latin typeface="Cambria Math" panose="02040503050406030204" pitchFamily="18" charset="0"/>
                                        <a:ea typeface="標楷體" panose="03000509000000000000" pitchFamily="65" charset="-120"/>
                                      </a:rPr>
                                      <m:t>𝑂</m:t>
                                    </m:r>
                                  </m:e>
                                  <m:sub>
                                    <m:r>
                                      <a:rPr lang="en-US" altLang="zh-TW" sz="1200" b="0" i="1" smtClean="0">
                                        <a:solidFill>
                                          <a:schemeClr val="tx1"/>
                                        </a:solidFill>
                                        <a:latin typeface="Cambria Math" panose="02040503050406030204" pitchFamily="18" charset="0"/>
                                        <a:ea typeface="標楷體" panose="03000509000000000000" pitchFamily="65" charset="-120"/>
                                      </a:rPr>
                                      <m:t>𝐸𝐹𝑇</m:t>
                                    </m:r>
                                  </m:sub>
                                </m:sSub>
                              </m:oMath>
                            </m:oMathPara>
                          </a14:m>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en-US" altLang="zh-TW" sz="1200" b="0" i="0" dirty="0">
                              <a:solidFill>
                                <a:srgbClr val="FF0000"/>
                              </a:solidFill>
                              <a:latin typeface="標楷體" panose="03000509000000000000" pitchFamily="65" charset="-120"/>
                              <a:ea typeface="標楷體" panose="03000509000000000000" pitchFamily="65" charset="-120"/>
                            </a:rPr>
                            <a:t>43</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2396104571"/>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03" t="-1587" r="-1351351" b="-1300000"/>
                          </a:stretch>
                        </a:blip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026" t="-1587" r="-248718" b="-1300000"/>
                          </a:stretch>
                        </a:blip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en-US" altLang="zh-TW" sz="1200" b="0" i="0" dirty="0">
                              <a:solidFill>
                                <a:srgbClr val="FF0000"/>
                              </a:solidFill>
                              <a:latin typeface="標楷體" panose="03000509000000000000" pitchFamily="65" charset="-120"/>
                              <a:ea typeface="標楷體" panose="03000509000000000000" pitchFamily="65" charset="-120"/>
                            </a:rPr>
                            <a:t>43</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81F29571-F3DE-49D1-A6B8-7824FFD6114A}"/>
              </a:ext>
            </a:extLst>
          </p:cNvPr>
          <p:cNvPicPr>
            <a:picLocks noChangeAspect="1"/>
          </p:cNvPicPr>
          <p:nvPr/>
        </p:nvPicPr>
        <p:blipFill>
          <a:blip r:embed="rId3"/>
          <a:stretch>
            <a:fillRect/>
          </a:stretch>
        </p:blipFill>
        <p:spPr>
          <a:xfrm>
            <a:off x="6555676" y="0"/>
            <a:ext cx="2637564" cy="3715415"/>
          </a:xfrm>
          <a:prstGeom prst="rect">
            <a:avLst/>
          </a:prstGeom>
        </p:spPr>
      </p:pic>
      <p:pic>
        <p:nvPicPr>
          <p:cNvPr id="6" name="圖片 5">
            <a:extLst>
              <a:ext uri="{FF2B5EF4-FFF2-40B4-BE49-F238E27FC236}">
                <a16:creationId xmlns:a16="http://schemas.microsoft.com/office/drawing/2014/main" id="{26979AF4-A06E-4C10-85A7-8BA80E60C601}"/>
              </a:ext>
            </a:extLst>
          </p:cNvPr>
          <p:cNvPicPr>
            <a:picLocks noChangeAspect="1"/>
          </p:cNvPicPr>
          <p:nvPr/>
        </p:nvPicPr>
        <p:blipFill>
          <a:blip r:embed="rId4"/>
          <a:stretch>
            <a:fillRect/>
          </a:stretch>
        </p:blipFill>
        <p:spPr>
          <a:xfrm>
            <a:off x="10180948" y="3419271"/>
            <a:ext cx="2011052" cy="3500003"/>
          </a:xfrm>
          <a:prstGeom prst="rect">
            <a:avLst/>
          </a:prstGeom>
        </p:spPr>
      </p:pic>
      <p:graphicFrame>
        <p:nvGraphicFramePr>
          <p:cNvPr id="7" name="表格 4">
            <a:extLst>
              <a:ext uri="{FF2B5EF4-FFF2-40B4-BE49-F238E27FC236}">
                <a16:creationId xmlns:a16="http://schemas.microsoft.com/office/drawing/2014/main" id="{D7432878-4003-40F3-A096-CD2D7E0B51B9}"/>
              </a:ext>
            </a:extLst>
          </p:cNvPr>
          <p:cNvGraphicFramePr>
            <a:graphicFrameLocks noGrp="1"/>
          </p:cNvGraphicFramePr>
          <p:nvPr>
            <p:extLst>
              <p:ext uri="{D42A27DB-BD31-4B8C-83A1-F6EECF244321}">
                <p14:modId xmlns:p14="http://schemas.microsoft.com/office/powerpoint/2010/main" val="784505857"/>
              </p:ext>
            </p:extLst>
          </p:nvPr>
        </p:nvGraphicFramePr>
        <p:xfrm>
          <a:off x="6885906" y="3715415"/>
          <a:ext cx="2201095" cy="3240535"/>
        </p:xfrm>
        <a:graphic>
          <a:graphicData uri="http://schemas.openxmlformats.org/drawingml/2006/table">
            <a:tbl>
              <a:tblPr firstRow="1" bandRow="1">
                <a:tableStyleId>{5C22544A-7EE6-4342-B048-85BDC9FD1C3A}</a:tableStyleId>
              </a:tblPr>
              <a:tblGrid>
                <a:gridCol w="606870">
                  <a:extLst>
                    <a:ext uri="{9D8B030D-6E8A-4147-A177-3AD203B41FA5}">
                      <a16:colId xmlns:a16="http://schemas.microsoft.com/office/drawing/2014/main" val="239911059"/>
                    </a:ext>
                  </a:extLst>
                </a:gridCol>
                <a:gridCol w="493677">
                  <a:extLst>
                    <a:ext uri="{9D8B030D-6E8A-4147-A177-3AD203B41FA5}">
                      <a16:colId xmlns:a16="http://schemas.microsoft.com/office/drawing/2014/main" val="2696759501"/>
                    </a:ext>
                  </a:extLst>
                </a:gridCol>
                <a:gridCol w="550274">
                  <a:extLst>
                    <a:ext uri="{9D8B030D-6E8A-4147-A177-3AD203B41FA5}">
                      <a16:colId xmlns:a16="http://schemas.microsoft.com/office/drawing/2014/main" val="802323705"/>
                    </a:ext>
                  </a:extLst>
                </a:gridCol>
                <a:gridCol w="550274">
                  <a:extLst>
                    <a:ext uri="{9D8B030D-6E8A-4147-A177-3AD203B41FA5}">
                      <a16:colId xmlns:a16="http://schemas.microsoft.com/office/drawing/2014/main" val="111345989"/>
                    </a:ext>
                  </a:extLst>
                </a:gridCol>
              </a:tblGrid>
              <a:tr h="260982">
                <a:tc>
                  <a:txBody>
                    <a:bodyPr/>
                    <a:lstStyle/>
                    <a:p>
                      <a:r>
                        <a:rPr lang="en-US" altLang="zh-TW" sz="1050" b="0" dirty="0">
                          <a:solidFill>
                            <a:schemeClr val="tx1"/>
                          </a:solidFill>
                          <a:latin typeface="Times New Roman" panose="02020603050405020304" pitchFamily="18" charset="0"/>
                          <a:cs typeface="Times New Roman" panose="02020603050405020304" pitchFamily="18" charset="0"/>
                        </a:rPr>
                        <a:t>      </a:t>
                      </a:r>
                      <a:r>
                        <a:rPr lang="en-US" altLang="zh-TW" sz="800" b="0" dirty="0">
                          <a:solidFill>
                            <a:schemeClr val="tx1"/>
                          </a:solidFill>
                          <a:latin typeface="Times New Roman" panose="02020603050405020304" pitchFamily="18" charset="0"/>
                          <a:cs typeface="Times New Roman" panose="02020603050405020304" pitchFamily="18" charset="0"/>
                        </a:rPr>
                        <a:t>OCT</a:t>
                      </a:r>
                    </a:p>
                    <a:p>
                      <a:r>
                        <a:rPr lang="en-US" altLang="zh-TW" sz="1000" b="0" dirty="0">
                          <a:solidFill>
                            <a:schemeClr val="tx1"/>
                          </a:solidFill>
                          <a:latin typeface="Times New Roman" panose="02020603050405020304" pitchFamily="18" charset="0"/>
                          <a:cs typeface="Times New Roman" panose="02020603050405020304" pitchFamily="18" charset="0"/>
                        </a:rPr>
                        <a:t>Task</a:t>
                      </a:r>
                      <a:endParaRPr lang="zh-TW" altLang="en-US" sz="1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260982">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54</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260982">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0">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260982">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542198463"/>
                  </a:ext>
                </a:extLst>
              </a:tr>
              <a:tr h="260982">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260982">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260982">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260982">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260982">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367795">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321A8BEE-D63B-439B-88CA-296A842252F4}"/>
              </a:ext>
            </a:extLst>
          </p:cNvPr>
          <p:cNvPicPr>
            <a:picLocks noChangeAspect="1"/>
          </p:cNvPicPr>
          <p:nvPr/>
        </p:nvPicPr>
        <p:blipFill>
          <a:blip r:embed="rId5"/>
          <a:stretch>
            <a:fillRect/>
          </a:stretch>
        </p:blipFill>
        <p:spPr>
          <a:xfrm>
            <a:off x="9087001" y="178736"/>
            <a:ext cx="3104999" cy="3113346"/>
          </a:xfrm>
          <a:prstGeom prst="rect">
            <a:avLst/>
          </a:prstGeom>
        </p:spPr>
      </p:pic>
    </p:spTree>
    <p:extLst>
      <p:ext uri="{BB962C8B-B14F-4D97-AF65-F5344CB8AC3E}">
        <p14:creationId xmlns:p14="http://schemas.microsoft.com/office/powerpoint/2010/main" val="2933776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3315687026"/>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22103">
                      <a:extLst>
                        <a:ext uri="{9D8B030D-6E8A-4147-A177-3AD203B41FA5}">
                          <a16:colId xmlns:a16="http://schemas.microsoft.com/office/drawing/2014/main" val="2191588877"/>
                        </a:ext>
                      </a:extLst>
                    </a:gridCol>
                    <a:gridCol w="744719">
                      <a:extLst>
                        <a:ext uri="{9D8B030D-6E8A-4147-A177-3AD203B41FA5}">
                          <a16:colId xmlns:a16="http://schemas.microsoft.com/office/drawing/2014/main" val="3878786471"/>
                        </a:ext>
                      </a:extLst>
                    </a:gridCol>
                  </a:tblGrid>
                  <a:tr h="382051">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𝑅𝑎𝑛𝑘</m:t>
                                    </m:r>
                                  </m:e>
                                  <m:sub>
                                    <m:r>
                                      <a:rPr lang="en-US" altLang="zh-TW" sz="1200" b="0" i="1" smtClean="0">
                                        <a:solidFill>
                                          <a:schemeClr val="tx1"/>
                                        </a:solidFill>
                                        <a:latin typeface="Cambria Math" panose="02040503050406030204" pitchFamily="18" charset="0"/>
                                      </a:rPr>
                                      <m:t>𝑜𝑐𝑡</m:t>
                                    </m:r>
                                  </m:sub>
                                </m:sSub>
                              </m:oMath>
                            </m:oMathPara>
                          </a14:m>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ea typeface="標楷體" panose="03000509000000000000" pitchFamily="65" charset="-120"/>
                                      </a:rPr>
                                    </m:ctrlPr>
                                  </m:sSubPr>
                                  <m:e>
                                    <m:r>
                                      <a:rPr lang="en-US" altLang="zh-TW" sz="1200" b="0" i="1" smtClean="0">
                                        <a:solidFill>
                                          <a:schemeClr val="tx1"/>
                                        </a:solidFill>
                                        <a:latin typeface="Cambria Math" panose="02040503050406030204" pitchFamily="18" charset="0"/>
                                        <a:ea typeface="標楷體" panose="03000509000000000000" pitchFamily="65" charset="-120"/>
                                      </a:rPr>
                                      <m:t>𝑂</m:t>
                                    </m:r>
                                  </m:e>
                                  <m:sub>
                                    <m:r>
                                      <a:rPr lang="en-US" altLang="zh-TW" sz="1200" b="0" i="1" smtClean="0">
                                        <a:solidFill>
                                          <a:schemeClr val="tx1"/>
                                        </a:solidFill>
                                        <a:latin typeface="Cambria Math" panose="02040503050406030204" pitchFamily="18" charset="0"/>
                                        <a:ea typeface="標楷體" panose="03000509000000000000" pitchFamily="65" charset="-120"/>
                                      </a:rPr>
                                      <m:t>𝐸𝐹𝑇</m:t>
                                    </m:r>
                                  </m:sub>
                                </m:sSub>
                              </m:oMath>
                            </m:oMathPara>
                          </a14:m>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en-US" altLang="zh-TW" sz="1200" b="0" i="0" dirty="0">
                              <a:solidFill>
                                <a:srgbClr val="FF0000"/>
                              </a:solidFill>
                              <a:latin typeface="標楷體" panose="03000509000000000000" pitchFamily="65" charset="-120"/>
                              <a:ea typeface="標楷體" panose="03000509000000000000" pitchFamily="65" charset="-120"/>
                            </a:rPr>
                            <a:t>43</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a:t>
                          </a:r>
                          <a:r>
                            <a:rPr lang="en-US" altLang="zh-TW" sz="1200" b="0" i="0" dirty="0">
                              <a:solidFill>
                                <a:srgbClr val="FF0000"/>
                              </a:solidFill>
                              <a:latin typeface="標楷體" panose="03000509000000000000" pitchFamily="65" charset="-120"/>
                              <a:ea typeface="標楷體" panose="03000509000000000000" pitchFamily="65" charset="-120"/>
                            </a:rPr>
                            <a:t>37</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3315687026"/>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22103">
                      <a:extLst>
                        <a:ext uri="{9D8B030D-6E8A-4147-A177-3AD203B41FA5}">
                          <a16:colId xmlns:a16="http://schemas.microsoft.com/office/drawing/2014/main" val="2191588877"/>
                        </a:ext>
                      </a:extLst>
                    </a:gridCol>
                    <a:gridCol w="744719">
                      <a:extLst>
                        <a:ext uri="{9D8B030D-6E8A-4147-A177-3AD203B41FA5}">
                          <a16:colId xmlns:a16="http://schemas.microsoft.com/office/drawing/2014/main" val="3878786471"/>
                        </a:ext>
                      </a:extLst>
                    </a:gridCol>
                  </a:tblGrid>
                  <a:tr h="382051">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03" t="-1587" r="-1351351" b="-1300000"/>
                          </a:stretch>
                        </a:blip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026" t="-1587" r="-248718" b="-1300000"/>
                          </a:stretch>
                        </a:blip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en-US" altLang="zh-TW" sz="1200" b="0" i="0" dirty="0">
                              <a:solidFill>
                                <a:srgbClr val="FF0000"/>
                              </a:solidFill>
                              <a:latin typeface="標楷體" panose="03000509000000000000" pitchFamily="65" charset="-120"/>
                              <a:ea typeface="標楷體" panose="03000509000000000000" pitchFamily="65" charset="-120"/>
                            </a:rPr>
                            <a:t>43</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a:t>
                          </a:r>
                          <a:r>
                            <a:rPr lang="en-US" altLang="zh-TW" sz="1200" b="0" i="0" dirty="0">
                              <a:solidFill>
                                <a:srgbClr val="FF0000"/>
                              </a:solidFill>
                              <a:latin typeface="標楷體" panose="03000509000000000000" pitchFamily="65" charset="-120"/>
                              <a:ea typeface="標楷體" panose="03000509000000000000" pitchFamily="65" charset="-120"/>
                            </a:rPr>
                            <a:t>37</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81F29571-F3DE-49D1-A6B8-7824FFD6114A}"/>
              </a:ext>
            </a:extLst>
          </p:cNvPr>
          <p:cNvPicPr>
            <a:picLocks noChangeAspect="1"/>
          </p:cNvPicPr>
          <p:nvPr/>
        </p:nvPicPr>
        <p:blipFill>
          <a:blip r:embed="rId3"/>
          <a:stretch>
            <a:fillRect/>
          </a:stretch>
        </p:blipFill>
        <p:spPr>
          <a:xfrm>
            <a:off x="6555676" y="0"/>
            <a:ext cx="2637564" cy="3715415"/>
          </a:xfrm>
          <a:prstGeom prst="rect">
            <a:avLst/>
          </a:prstGeom>
        </p:spPr>
      </p:pic>
      <p:pic>
        <p:nvPicPr>
          <p:cNvPr id="6" name="圖片 5">
            <a:extLst>
              <a:ext uri="{FF2B5EF4-FFF2-40B4-BE49-F238E27FC236}">
                <a16:creationId xmlns:a16="http://schemas.microsoft.com/office/drawing/2014/main" id="{26979AF4-A06E-4C10-85A7-8BA80E60C601}"/>
              </a:ext>
            </a:extLst>
          </p:cNvPr>
          <p:cNvPicPr>
            <a:picLocks noChangeAspect="1"/>
          </p:cNvPicPr>
          <p:nvPr/>
        </p:nvPicPr>
        <p:blipFill>
          <a:blip r:embed="rId4"/>
          <a:stretch>
            <a:fillRect/>
          </a:stretch>
        </p:blipFill>
        <p:spPr>
          <a:xfrm>
            <a:off x="10180948" y="3419271"/>
            <a:ext cx="2011052" cy="3500003"/>
          </a:xfrm>
          <a:prstGeom prst="rect">
            <a:avLst/>
          </a:prstGeom>
        </p:spPr>
      </p:pic>
      <p:graphicFrame>
        <p:nvGraphicFramePr>
          <p:cNvPr id="7" name="表格 4">
            <a:extLst>
              <a:ext uri="{FF2B5EF4-FFF2-40B4-BE49-F238E27FC236}">
                <a16:creationId xmlns:a16="http://schemas.microsoft.com/office/drawing/2014/main" id="{D7432878-4003-40F3-A096-CD2D7E0B51B9}"/>
              </a:ext>
            </a:extLst>
          </p:cNvPr>
          <p:cNvGraphicFramePr>
            <a:graphicFrameLocks noGrp="1"/>
          </p:cNvGraphicFramePr>
          <p:nvPr>
            <p:extLst>
              <p:ext uri="{D42A27DB-BD31-4B8C-83A1-F6EECF244321}">
                <p14:modId xmlns:p14="http://schemas.microsoft.com/office/powerpoint/2010/main" val="2676718561"/>
              </p:ext>
            </p:extLst>
          </p:nvPr>
        </p:nvGraphicFramePr>
        <p:xfrm>
          <a:off x="6885906" y="3715415"/>
          <a:ext cx="2201095" cy="3240535"/>
        </p:xfrm>
        <a:graphic>
          <a:graphicData uri="http://schemas.openxmlformats.org/drawingml/2006/table">
            <a:tbl>
              <a:tblPr firstRow="1" bandRow="1">
                <a:tableStyleId>{5C22544A-7EE6-4342-B048-85BDC9FD1C3A}</a:tableStyleId>
              </a:tblPr>
              <a:tblGrid>
                <a:gridCol w="606870">
                  <a:extLst>
                    <a:ext uri="{9D8B030D-6E8A-4147-A177-3AD203B41FA5}">
                      <a16:colId xmlns:a16="http://schemas.microsoft.com/office/drawing/2014/main" val="239911059"/>
                    </a:ext>
                  </a:extLst>
                </a:gridCol>
                <a:gridCol w="493677">
                  <a:extLst>
                    <a:ext uri="{9D8B030D-6E8A-4147-A177-3AD203B41FA5}">
                      <a16:colId xmlns:a16="http://schemas.microsoft.com/office/drawing/2014/main" val="2696759501"/>
                    </a:ext>
                  </a:extLst>
                </a:gridCol>
                <a:gridCol w="550274">
                  <a:extLst>
                    <a:ext uri="{9D8B030D-6E8A-4147-A177-3AD203B41FA5}">
                      <a16:colId xmlns:a16="http://schemas.microsoft.com/office/drawing/2014/main" val="802323705"/>
                    </a:ext>
                  </a:extLst>
                </a:gridCol>
                <a:gridCol w="550274">
                  <a:extLst>
                    <a:ext uri="{9D8B030D-6E8A-4147-A177-3AD203B41FA5}">
                      <a16:colId xmlns:a16="http://schemas.microsoft.com/office/drawing/2014/main" val="111345989"/>
                    </a:ext>
                  </a:extLst>
                </a:gridCol>
              </a:tblGrid>
              <a:tr h="260982">
                <a:tc>
                  <a:txBody>
                    <a:bodyPr/>
                    <a:lstStyle/>
                    <a:p>
                      <a:r>
                        <a:rPr lang="en-US" altLang="zh-TW" sz="1050" b="0" dirty="0">
                          <a:solidFill>
                            <a:schemeClr val="tx1"/>
                          </a:solidFill>
                          <a:latin typeface="Times New Roman" panose="02020603050405020304" pitchFamily="18" charset="0"/>
                          <a:cs typeface="Times New Roman" panose="02020603050405020304" pitchFamily="18" charset="0"/>
                        </a:rPr>
                        <a:t>      </a:t>
                      </a:r>
                      <a:r>
                        <a:rPr lang="en-US" altLang="zh-TW" sz="800" b="0" dirty="0">
                          <a:solidFill>
                            <a:schemeClr val="tx1"/>
                          </a:solidFill>
                          <a:latin typeface="Times New Roman" panose="02020603050405020304" pitchFamily="18" charset="0"/>
                          <a:cs typeface="Times New Roman" panose="02020603050405020304" pitchFamily="18" charset="0"/>
                        </a:rPr>
                        <a:t>OCT</a:t>
                      </a:r>
                    </a:p>
                    <a:p>
                      <a:r>
                        <a:rPr lang="en-US" altLang="zh-TW" sz="1000" b="0" dirty="0">
                          <a:solidFill>
                            <a:schemeClr val="tx1"/>
                          </a:solidFill>
                          <a:latin typeface="Times New Roman" panose="02020603050405020304" pitchFamily="18" charset="0"/>
                          <a:cs typeface="Times New Roman" panose="02020603050405020304" pitchFamily="18" charset="0"/>
                        </a:rPr>
                        <a:t>Task</a:t>
                      </a:r>
                      <a:endParaRPr lang="zh-TW" altLang="en-US" sz="1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260982">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54</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260982">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0">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260982">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260982">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633892923"/>
                  </a:ext>
                </a:extLst>
              </a:tr>
              <a:tr h="260982">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260982">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260982">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260982">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367795">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321A8BEE-D63B-439B-88CA-296A842252F4}"/>
              </a:ext>
            </a:extLst>
          </p:cNvPr>
          <p:cNvPicPr>
            <a:picLocks noChangeAspect="1"/>
          </p:cNvPicPr>
          <p:nvPr/>
        </p:nvPicPr>
        <p:blipFill>
          <a:blip r:embed="rId5"/>
          <a:stretch>
            <a:fillRect/>
          </a:stretch>
        </p:blipFill>
        <p:spPr>
          <a:xfrm>
            <a:off x="9087001" y="178736"/>
            <a:ext cx="3104999" cy="3113346"/>
          </a:xfrm>
          <a:prstGeom prst="rect">
            <a:avLst/>
          </a:prstGeom>
        </p:spPr>
      </p:pic>
    </p:spTree>
    <p:extLst>
      <p:ext uri="{BB962C8B-B14F-4D97-AF65-F5344CB8AC3E}">
        <p14:creationId xmlns:p14="http://schemas.microsoft.com/office/powerpoint/2010/main" val="64821943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2685546854"/>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𝑅𝑎𝑛𝑘</m:t>
                                    </m:r>
                                  </m:e>
                                  <m:sub>
                                    <m:r>
                                      <a:rPr lang="en-US" altLang="zh-TW" sz="1200" b="0" i="1" smtClean="0">
                                        <a:solidFill>
                                          <a:schemeClr val="tx1"/>
                                        </a:solidFill>
                                        <a:latin typeface="Cambria Math" panose="02040503050406030204" pitchFamily="18" charset="0"/>
                                      </a:rPr>
                                      <m:t>𝑜𝑐𝑡</m:t>
                                    </m:r>
                                  </m:sub>
                                </m:sSub>
                              </m:oMath>
                            </m:oMathPara>
                          </a14:m>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ea typeface="標楷體" panose="03000509000000000000" pitchFamily="65" charset="-120"/>
                                      </a:rPr>
                                    </m:ctrlPr>
                                  </m:sSubPr>
                                  <m:e>
                                    <m:r>
                                      <a:rPr lang="en-US" altLang="zh-TW" sz="1200" b="0" i="1" smtClean="0">
                                        <a:solidFill>
                                          <a:schemeClr val="tx1"/>
                                        </a:solidFill>
                                        <a:latin typeface="Cambria Math" panose="02040503050406030204" pitchFamily="18" charset="0"/>
                                        <a:ea typeface="標楷體" panose="03000509000000000000" pitchFamily="65" charset="-120"/>
                                      </a:rPr>
                                      <m:t>𝑂</m:t>
                                    </m:r>
                                  </m:e>
                                  <m:sub>
                                    <m:r>
                                      <a:rPr lang="en-US" altLang="zh-TW" sz="1200" b="0" i="1" smtClean="0">
                                        <a:solidFill>
                                          <a:schemeClr val="tx1"/>
                                        </a:solidFill>
                                        <a:latin typeface="Cambria Math" panose="02040503050406030204" pitchFamily="18" charset="0"/>
                                        <a:ea typeface="標楷體" panose="03000509000000000000" pitchFamily="65" charset="-120"/>
                                      </a:rPr>
                                      <m:t>𝐸𝐹𝑇</m:t>
                                    </m:r>
                                  </m:sub>
                                </m:sSub>
                              </m:oMath>
                            </m:oMathPara>
                          </a14:m>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a:t>
                          </a:r>
                          <a:r>
                            <a:rPr lang="en-US" altLang="zh-TW" sz="1200" b="0" i="0" dirty="0">
                              <a:solidFill>
                                <a:srgbClr val="FF0000"/>
                              </a:solidFill>
                              <a:latin typeface="標楷體" panose="03000509000000000000" pitchFamily="65" charset="-120"/>
                              <a:ea typeface="標楷體" panose="03000509000000000000" pitchFamily="65" charset="-120"/>
                            </a:rPr>
                            <a:t>39</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en-US" altLang="zh-TW" sz="1200" b="0" i="0" dirty="0">
                              <a:solidFill>
                                <a:srgbClr val="FF0000"/>
                              </a:solidFill>
                              <a:latin typeface="標楷體" panose="03000509000000000000" pitchFamily="65" charset="-120"/>
                              <a:ea typeface="標楷體" panose="03000509000000000000" pitchFamily="65" charset="-120"/>
                            </a:rPr>
                            <a:t>43</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a:t>
                          </a:r>
                          <a:r>
                            <a:rPr lang="en-US" altLang="zh-TW" sz="1200" b="0" i="0" dirty="0">
                              <a:solidFill>
                                <a:srgbClr val="FF0000"/>
                              </a:solidFill>
                              <a:latin typeface="標楷體" panose="03000509000000000000" pitchFamily="65" charset="-120"/>
                              <a:ea typeface="標楷體" panose="03000509000000000000" pitchFamily="65" charset="-120"/>
                            </a:rPr>
                            <a:t>37</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 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46+30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2685546854"/>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03" t="-1587" r="-1351351" b="-1300000"/>
                          </a:stretch>
                        </a:blip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026" t="-1587" r="-248718" b="-1300000"/>
                          </a:stretch>
                        </a:blip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a:t>
                          </a:r>
                          <a:r>
                            <a:rPr lang="en-US" altLang="zh-TW" sz="1200" b="0" i="0" dirty="0">
                              <a:solidFill>
                                <a:srgbClr val="FF0000"/>
                              </a:solidFill>
                              <a:latin typeface="標楷體" panose="03000509000000000000" pitchFamily="65" charset="-120"/>
                              <a:ea typeface="標楷體" panose="03000509000000000000" pitchFamily="65" charset="-120"/>
                            </a:rPr>
                            <a:t>39</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en-US" altLang="zh-TW" sz="1200" b="0" i="0" dirty="0">
                              <a:solidFill>
                                <a:srgbClr val="FF0000"/>
                              </a:solidFill>
                              <a:latin typeface="標楷體" panose="03000509000000000000" pitchFamily="65" charset="-120"/>
                              <a:ea typeface="標楷體" panose="03000509000000000000" pitchFamily="65" charset="-120"/>
                            </a:rPr>
                            <a:t>43</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a:t>
                          </a:r>
                          <a:r>
                            <a:rPr lang="en-US" altLang="zh-TW" sz="1200" b="0" i="0" dirty="0">
                              <a:solidFill>
                                <a:srgbClr val="FF0000"/>
                              </a:solidFill>
                              <a:latin typeface="標楷體" panose="03000509000000000000" pitchFamily="65" charset="-120"/>
                              <a:ea typeface="標楷體" panose="03000509000000000000" pitchFamily="65" charset="-120"/>
                            </a:rPr>
                            <a:t>37</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 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46+30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81F29571-F3DE-49D1-A6B8-7824FFD6114A}"/>
              </a:ext>
            </a:extLst>
          </p:cNvPr>
          <p:cNvPicPr>
            <a:picLocks noChangeAspect="1"/>
          </p:cNvPicPr>
          <p:nvPr/>
        </p:nvPicPr>
        <p:blipFill>
          <a:blip r:embed="rId3"/>
          <a:stretch>
            <a:fillRect/>
          </a:stretch>
        </p:blipFill>
        <p:spPr>
          <a:xfrm>
            <a:off x="6555676" y="0"/>
            <a:ext cx="2637564" cy="3715415"/>
          </a:xfrm>
          <a:prstGeom prst="rect">
            <a:avLst/>
          </a:prstGeom>
        </p:spPr>
      </p:pic>
      <p:pic>
        <p:nvPicPr>
          <p:cNvPr id="6" name="圖片 5">
            <a:extLst>
              <a:ext uri="{FF2B5EF4-FFF2-40B4-BE49-F238E27FC236}">
                <a16:creationId xmlns:a16="http://schemas.microsoft.com/office/drawing/2014/main" id="{26979AF4-A06E-4C10-85A7-8BA80E60C601}"/>
              </a:ext>
            </a:extLst>
          </p:cNvPr>
          <p:cNvPicPr>
            <a:picLocks noChangeAspect="1"/>
          </p:cNvPicPr>
          <p:nvPr/>
        </p:nvPicPr>
        <p:blipFill>
          <a:blip r:embed="rId4"/>
          <a:stretch>
            <a:fillRect/>
          </a:stretch>
        </p:blipFill>
        <p:spPr>
          <a:xfrm>
            <a:off x="10180948" y="3419271"/>
            <a:ext cx="2011052" cy="3500003"/>
          </a:xfrm>
          <a:prstGeom prst="rect">
            <a:avLst/>
          </a:prstGeom>
        </p:spPr>
      </p:pic>
      <p:graphicFrame>
        <p:nvGraphicFramePr>
          <p:cNvPr id="7" name="表格 4">
            <a:extLst>
              <a:ext uri="{FF2B5EF4-FFF2-40B4-BE49-F238E27FC236}">
                <a16:creationId xmlns:a16="http://schemas.microsoft.com/office/drawing/2014/main" id="{D7432878-4003-40F3-A096-CD2D7E0B51B9}"/>
              </a:ext>
            </a:extLst>
          </p:cNvPr>
          <p:cNvGraphicFramePr>
            <a:graphicFrameLocks noGrp="1"/>
          </p:cNvGraphicFramePr>
          <p:nvPr>
            <p:extLst>
              <p:ext uri="{D42A27DB-BD31-4B8C-83A1-F6EECF244321}">
                <p14:modId xmlns:p14="http://schemas.microsoft.com/office/powerpoint/2010/main" val="445105210"/>
              </p:ext>
            </p:extLst>
          </p:nvPr>
        </p:nvGraphicFramePr>
        <p:xfrm>
          <a:off x="6885906" y="3715415"/>
          <a:ext cx="2210960" cy="3240535"/>
        </p:xfrm>
        <a:graphic>
          <a:graphicData uri="http://schemas.openxmlformats.org/drawingml/2006/table">
            <a:tbl>
              <a:tblPr firstRow="1" bandRow="1">
                <a:tableStyleId>{5C22544A-7EE6-4342-B048-85BDC9FD1C3A}</a:tableStyleId>
              </a:tblPr>
              <a:tblGrid>
                <a:gridCol w="606870">
                  <a:extLst>
                    <a:ext uri="{9D8B030D-6E8A-4147-A177-3AD203B41FA5}">
                      <a16:colId xmlns:a16="http://schemas.microsoft.com/office/drawing/2014/main" val="239911059"/>
                    </a:ext>
                  </a:extLst>
                </a:gridCol>
                <a:gridCol w="493677">
                  <a:extLst>
                    <a:ext uri="{9D8B030D-6E8A-4147-A177-3AD203B41FA5}">
                      <a16:colId xmlns:a16="http://schemas.microsoft.com/office/drawing/2014/main" val="2696759501"/>
                    </a:ext>
                  </a:extLst>
                </a:gridCol>
                <a:gridCol w="550274">
                  <a:extLst>
                    <a:ext uri="{9D8B030D-6E8A-4147-A177-3AD203B41FA5}">
                      <a16:colId xmlns:a16="http://schemas.microsoft.com/office/drawing/2014/main" val="802323705"/>
                    </a:ext>
                  </a:extLst>
                </a:gridCol>
                <a:gridCol w="560139">
                  <a:extLst>
                    <a:ext uri="{9D8B030D-6E8A-4147-A177-3AD203B41FA5}">
                      <a16:colId xmlns:a16="http://schemas.microsoft.com/office/drawing/2014/main" val="111345989"/>
                    </a:ext>
                  </a:extLst>
                </a:gridCol>
              </a:tblGrid>
              <a:tr h="260982">
                <a:tc>
                  <a:txBody>
                    <a:bodyPr/>
                    <a:lstStyle/>
                    <a:p>
                      <a:r>
                        <a:rPr lang="en-US" altLang="zh-TW" sz="1050" b="0" dirty="0">
                          <a:solidFill>
                            <a:schemeClr val="tx1"/>
                          </a:solidFill>
                          <a:latin typeface="Times New Roman" panose="02020603050405020304" pitchFamily="18" charset="0"/>
                          <a:cs typeface="Times New Roman" panose="02020603050405020304" pitchFamily="18" charset="0"/>
                        </a:rPr>
                        <a:t>      </a:t>
                      </a:r>
                      <a:r>
                        <a:rPr lang="en-US" altLang="zh-TW" sz="800" b="0" dirty="0">
                          <a:solidFill>
                            <a:schemeClr val="tx1"/>
                          </a:solidFill>
                          <a:latin typeface="Times New Roman" panose="02020603050405020304" pitchFamily="18" charset="0"/>
                          <a:cs typeface="Times New Roman" panose="02020603050405020304" pitchFamily="18" charset="0"/>
                        </a:rPr>
                        <a:t>OCT</a:t>
                      </a:r>
                    </a:p>
                    <a:p>
                      <a:r>
                        <a:rPr lang="en-US" altLang="zh-TW" sz="1000" b="0" dirty="0">
                          <a:solidFill>
                            <a:schemeClr val="tx1"/>
                          </a:solidFill>
                          <a:latin typeface="Times New Roman" panose="02020603050405020304" pitchFamily="18" charset="0"/>
                          <a:cs typeface="Times New Roman" panose="02020603050405020304" pitchFamily="18" charset="0"/>
                        </a:rPr>
                        <a:t>Task</a:t>
                      </a:r>
                      <a:endParaRPr lang="zh-TW" altLang="en-US" sz="1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260982">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54</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260982">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0">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260982">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260982">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260982">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657082305"/>
                  </a:ext>
                </a:extLst>
              </a:tr>
              <a:tr h="260982">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260982">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260982">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367795">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321A8BEE-D63B-439B-88CA-296A842252F4}"/>
              </a:ext>
            </a:extLst>
          </p:cNvPr>
          <p:cNvPicPr>
            <a:picLocks noChangeAspect="1"/>
          </p:cNvPicPr>
          <p:nvPr/>
        </p:nvPicPr>
        <p:blipFill>
          <a:blip r:embed="rId5"/>
          <a:stretch>
            <a:fillRect/>
          </a:stretch>
        </p:blipFill>
        <p:spPr>
          <a:xfrm>
            <a:off x="9087001" y="178736"/>
            <a:ext cx="3104999" cy="3113346"/>
          </a:xfrm>
          <a:prstGeom prst="rect">
            <a:avLst/>
          </a:prstGeom>
        </p:spPr>
      </p:pic>
    </p:spTree>
    <p:extLst>
      <p:ext uri="{BB962C8B-B14F-4D97-AF65-F5344CB8AC3E}">
        <p14:creationId xmlns:p14="http://schemas.microsoft.com/office/powerpoint/2010/main" val="337123167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180394397"/>
                  </p:ext>
                </p:extLst>
              </p:nvPr>
            </p:nvGraphicFramePr>
            <p:xfrm>
              <a:off x="183104" y="1503044"/>
              <a:ext cx="6528782" cy="5330618"/>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40957">
                      <a:extLst>
                        <a:ext uri="{9D8B030D-6E8A-4147-A177-3AD203B41FA5}">
                          <a16:colId xmlns:a16="http://schemas.microsoft.com/office/drawing/2014/main" val="2191588877"/>
                        </a:ext>
                      </a:extLst>
                    </a:gridCol>
                    <a:gridCol w="725865">
                      <a:extLst>
                        <a:ext uri="{9D8B030D-6E8A-4147-A177-3AD203B41FA5}">
                          <a16:colId xmlns:a16="http://schemas.microsoft.com/office/drawing/2014/main" val="3878786471"/>
                        </a:ext>
                      </a:extLst>
                    </a:gridCol>
                  </a:tblGrid>
                  <a:tr h="448304">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𝑅𝑎𝑛𝑘</m:t>
                                    </m:r>
                                  </m:e>
                                  <m:sub>
                                    <m:r>
                                      <a:rPr lang="en-US" altLang="zh-TW" sz="1200" b="0" i="1" smtClean="0">
                                        <a:solidFill>
                                          <a:schemeClr val="tx1"/>
                                        </a:solidFill>
                                        <a:latin typeface="Cambria Math" panose="02040503050406030204" pitchFamily="18" charset="0"/>
                                      </a:rPr>
                                      <m:t>𝑜𝑐𝑡</m:t>
                                    </m:r>
                                  </m:sub>
                                </m:sSub>
                              </m:oMath>
                            </m:oMathPara>
                          </a14:m>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ea typeface="標楷體" panose="03000509000000000000" pitchFamily="65" charset="-120"/>
                                      </a:rPr>
                                    </m:ctrlPr>
                                  </m:sSubPr>
                                  <m:e>
                                    <m:r>
                                      <a:rPr lang="en-US" altLang="zh-TW" sz="1200" b="0" i="1" smtClean="0">
                                        <a:solidFill>
                                          <a:schemeClr val="tx1"/>
                                        </a:solidFill>
                                        <a:latin typeface="Cambria Math" panose="02040503050406030204" pitchFamily="18" charset="0"/>
                                        <a:ea typeface="標楷體" panose="03000509000000000000" pitchFamily="65" charset="-120"/>
                                      </a:rPr>
                                      <m:t>𝑂</m:t>
                                    </m:r>
                                  </m:e>
                                  <m:sub>
                                    <m:r>
                                      <a:rPr lang="en-US" altLang="zh-TW" sz="1200" b="0" i="1" smtClean="0">
                                        <a:solidFill>
                                          <a:schemeClr val="tx1"/>
                                        </a:solidFill>
                                        <a:latin typeface="Cambria Math" panose="02040503050406030204" pitchFamily="18" charset="0"/>
                                        <a:ea typeface="標楷體" panose="03000509000000000000" pitchFamily="65" charset="-120"/>
                                      </a:rPr>
                                      <m:t>𝐸𝐹𝑇</m:t>
                                    </m:r>
                                  </m:sub>
                                </m:sSub>
                              </m:oMath>
                            </m:oMathPara>
                          </a14:m>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77073">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a:t>
                          </a:r>
                          <a:r>
                            <a:rPr lang="en-US" altLang="zh-TW" sz="1200" b="0" i="0" dirty="0">
                              <a:solidFill>
                                <a:srgbClr val="FF0000"/>
                              </a:solidFill>
                              <a:latin typeface="標楷體" panose="03000509000000000000" pitchFamily="65" charset="-120"/>
                              <a:ea typeface="標楷體" panose="03000509000000000000" pitchFamily="65" charset="-120"/>
                            </a:rPr>
                            <a:t>52</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zh-TW" altLang="en-US" sz="1200" b="0" i="0" dirty="0">
                              <a:solidFill>
                                <a:schemeClr val="tx1"/>
                              </a:solidFill>
                              <a:latin typeface="標楷體" panose="03000509000000000000" pitchFamily="65" charset="-120"/>
                              <a:ea typeface="標楷體" panose="03000509000000000000" pitchFamily="65" charset="-120"/>
                            </a:rPr>
                            <a:t> </a:t>
                          </a:r>
                          <a:r>
                            <a:rPr lang="en-US" altLang="zh-TW" sz="1200" b="0" i="0" dirty="0">
                              <a:solidFill>
                                <a:srgbClr val="FF0000"/>
                              </a:solidFill>
                              <a:latin typeface="標楷體" panose="03000509000000000000" pitchFamily="65" charset="-120"/>
                              <a:ea typeface="標楷體" panose="03000509000000000000" pitchFamily="65" charset="-120"/>
                            </a:rPr>
                            <a:t>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a:t>
                          </a:r>
                          <a:r>
                            <a:rPr lang="en-US" altLang="zh-TW" sz="1200" b="0" i="0" dirty="0">
                              <a:solidFill>
                                <a:srgbClr val="FF0000"/>
                              </a:solidFill>
                              <a:latin typeface="標楷體" panose="03000509000000000000" pitchFamily="65" charset="-120"/>
                              <a:ea typeface="標楷體" panose="03000509000000000000" pitchFamily="65" charset="-120"/>
                            </a:rPr>
                            <a:t>37</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46+30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59+21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77+7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180394397"/>
                  </p:ext>
                </p:extLst>
              </p:nvPr>
            </p:nvGraphicFramePr>
            <p:xfrm>
              <a:off x="183104" y="1503044"/>
              <a:ext cx="6528782" cy="5330618"/>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40957">
                      <a:extLst>
                        <a:ext uri="{9D8B030D-6E8A-4147-A177-3AD203B41FA5}">
                          <a16:colId xmlns:a16="http://schemas.microsoft.com/office/drawing/2014/main" val="2191588877"/>
                        </a:ext>
                      </a:extLst>
                    </a:gridCol>
                    <a:gridCol w="725865">
                      <a:extLst>
                        <a:ext uri="{9D8B030D-6E8A-4147-A177-3AD203B41FA5}">
                          <a16:colId xmlns:a16="http://schemas.microsoft.com/office/drawing/2014/main" val="3878786471"/>
                        </a:ext>
                      </a:extLst>
                    </a:gridCol>
                  </a:tblGrid>
                  <a:tr h="448304">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03" t="-1351" r="-1351351" b="-1086486"/>
                          </a:stretch>
                        </a:blip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026" t="-1351" r="-248718" b="-1086486"/>
                          </a:stretch>
                        </a:blip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77073">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a:t>
                          </a:r>
                          <a:r>
                            <a:rPr lang="en-US" altLang="zh-TW" sz="1200" b="0" i="0" dirty="0">
                              <a:solidFill>
                                <a:srgbClr val="FF0000"/>
                              </a:solidFill>
                              <a:latin typeface="標楷體" panose="03000509000000000000" pitchFamily="65" charset="-120"/>
                              <a:ea typeface="標楷體" panose="03000509000000000000" pitchFamily="65" charset="-120"/>
                            </a:rPr>
                            <a:t>52</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zh-TW" altLang="en-US" sz="1200" b="0" i="0" dirty="0">
                              <a:solidFill>
                                <a:schemeClr val="tx1"/>
                              </a:solidFill>
                              <a:latin typeface="標楷體" panose="03000509000000000000" pitchFamily="65" charset="-120"/>
                              <a:ea typeface="標楷體" panose="03000509000000000000" pitchFamily="65" charset="-120"/>
                            </a:rPr>
                            <a:t> </a:t>
                          </a:r>
                          <a:r>
                            <a:rPr lang="en-US" altLang="zh-TW" sz="1200" b="0" i="0" dirty="0">
                              <a:solidFill>
                                <a:srgbClr val="FF0000"/>
                              </a:solidFill>
                              <a:latin typeface="標楷體" panose="03000509000000000000" pitchFamily="65" charset="-120"/>
                              <a:ea typeface="標楷體" panose="03000509000000000000" pitchFamily="65" charset="-120"/>
                            </a:rPr>
                            <a:t>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a:t>
                          </a:r>
                          <a:r>
                            <a:rPr lang="en-US" altLang="zh-TW" sz="1200" b="0" i="0" dirty="0">
                              <a:solidFill>
                                <a:srgbClr val="FF0000"/>
                              </a:solidFill>
                              <a:latin typeface="標楷體" panose="03000509000000000000" pitchFamily="65" charset="-120"/>
                              <a:ea typeface="標楷體" panose="03000509000000000000" pitchFamily="65" charset="-120"/>
                            </a:rPr>
                            <a:t>37</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46+30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59+21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77+7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81F29571-F3DE-49D1-A6B8-7824FFD6114A}"/>
              </a:ext>
            </a:extLst>
          </p:cNvPr>
          <p:cNvPicPr>
            <a:picLocks noChangeAspect="1"/>
          </p:cNvPicPr>
          <p:nvPr/>
        </p:nvPicPr>
        <p:blipFill>
          <a:blip r:embed="rId3"/>
          <a:stretch>
            <a:fillRect/>
          </a:stretch>
        </p:blipFill>
        <p:spPr>
          <a:xfrm>
            <a:off x="6555676" y="0"/>
            <a:ext cx="2637564" cy="3715415"/>
          </a:xfrm>
          <a:prstGeom prst="rect">
            <a:avLst/>
          </a:prstGeom>
        </p:spPr>
      </p:pic>
      <p:pic>
        <p:nvPicPr>
          <p:cNvPr id="6" name="圖片 5">
            <a:extLst>
              <a:ext uri="{FF2B5EF4-FFF2-40B4-BE49-F238E27FC236}">
                <a16:creationId xmlns:a16="http://schemas.microsoft.com/office/drawing/2014/main" id="{26979AF4-A06E-4C10-85A7-8BA80E60C601}"/>
              </a:ext>
            </a:extLst>
          </p:cNvPr>
          <p:cNvPicPr>
            <a:picLocks noChangeAspect="1"/>
          </p:cNvPicPr>
          <p:nvPr/>
        </p:nvPicPr>
        <p:blipFill>
          <a:blip r:embed="rId4"/>
          <a:stretch>
            <a:fillRect/>
          </a:stretch>
        </p:blipFill>
        <p:spPr>
          <a:xfrm>
            <a:off x="10180948" y="3419271"/>
            <a:ext cx="2011052" cy="3500003"/>
          </a:xfrm>
          <a:prstGeom prst="rect">
            <a:avLst/>
          </a:prstGeom>
        </p:spPr>
      </p:pic>
      <p:graphicFrame>
        <p:nvGraphicFramePr>
          <p:cNvPr id="7" name="表格 4">
            <a:extLst>
              <a:ext uri="{FF2B5EF4-FFF2-40B4-BE49-F238E27FC236}">
                <a16:creationId xmlns:a16="http://schemas.microsoft.com/office/drawing/2014/main" id="{D7432878-4003-40F3-A096-CD2D7E0B51B9}"/>
              </a:ext>
            </a:extLst>
          </p:cNvPr>
          <p:cNvGraphicFramePr>
            <a:graphicFrameLocks noGrp="1"/>
          </p:cNvGraphicFramePr>
          <p:nvPr>
            <p:extLst>
              <p:ext uri="{D42A27DB-BD31-4B8C-83A1-F6EECF244321}">
                <p14:modId xmlns:p14="http://schemas.microsoft.com/office/powerpoint/2010/main" val="709762779"/>
              </p:ext>
            </p:extLst>
          </p:nvPr>
        </p:nvGraphicFramePr>
        <p:xfrm>
          <a:off x="6885906" y="3715415"/>
          <a:ext cx="2201095" cy="3240535"/>
        </p:xfrm>
        <a:graphic>
          <a:graphicData uri="http://schemas.openxmlformats.org/drawingml/2006/table">
            <a:tbl>
              <a:tblPr firstRow="1" bandRow="1">
                <a:tableStyleId>{5C22544A-7EE6-4342-B048-85BDC9FD1C3A}</a:tableStyleId>
              </a:tblPr>
              <a:tblGrid>
                <a:gridCol w="606870">
                  <a:extLst>
                    <a:ext uri="{9D8B030D-6E8A-4147-A177-3AD203B41FA5}">
                      <a16:colId xmlns:a16="http://schemas.microsoft.com/office/drawing/2014/main" val="239911059"/>
                    </a:ext>
                  </a:extLst>
                </a:gridCol>
                <a:gridCol w="493677">
                  <a:extLst>
                    <a:ext uri="{9D8B030D-6E8A-4147-A177-3AD203B41FA5}">
                      <a16:colId xmlns:a16="http://schemas.microsoft.com/office/drawing/2014/main" val="2696759501"/>
                    </a:ext>
                  </a:extLst>
                </a:gridCol>
                <a:gridCol w="550274">
                  <a:extLst>
                    <a:ext uri="{9D8B030D-6E8A-4147-A177-3AD203B41FA5}">
                      <a16:colId xmlns:a16="http://schemas.microsoft.com/office/drawing/2014/main" val="802323705"/>
                    </a:ext>
                  </a:extLst>
                </a:gridCol>
                <a:gridCol w="550274">
                  <a:extLst>
                    <a:ext uri="{9D8B030D-6E8A-4147-A177-3AD203B41FA5}">
                      <a16:colId xmlns:a16="http://schemas.microsoft.com/office/drawing/2014/main" val="111345989"/>
                    </a:ext>
                  </a:extLst>
                </a:gridCol>
              </a:tblGrid>
              <a:tr h="260982">
                <a:tc>
                  <a:txBody>
                    <a:bodyPr/>
                    <a:lstStyle/>
                    <a:p>
                      <a:r>
                        <a:rPr lang="en-US" altLang="zh-TW" sz="1050" b="0" dirty="0">
                          <a:solidFill>
                            <a:schemeClr val="tx1"/>
                          </a:solidFill>
                          <a:latin typeface="Times New Roman" panose="02020603050405020304" pitchFamily="18" charset="0"/>
                          <a:cs typeface="Times New Roman" panose="02020603050405020304" pitchFamily="18" charset="0"/>
                        </a:rPr>
                        <a:t>      </a:t>
                      </a:r>
                      <a:r>
                        <a:rPr lang="en-US" altLang="zh-TW" sz="800" b="0" dirty="0">
                          <a:solidFill>
                            <a:schemeClr val="tx1"/>
                          </a:solidFill>
                          <a:latin typeface="Times New Roman" panose="02020603050405020304" pitchFamily="18" charset="0"/>
                          <a:cs typeface="Times New Roman" panose="02020603050405020304" pitchFamily="18" charset="0"/>
                        </a:rPr>
                        <a:t>OCT</a:t>
                      </a:r>
                    </a:p>
                    <a:p>
                      <a:r>
                        <a:rPr lang="en-US" altLang="zh-TW" sz="1000" b="0" dirty="0">
                          <a:solidFill>
                            <a:schemeClr val="tx1"/>
                          </a:solidFill>
                          <a:latin typeface="Times New Roman" panose="02020603050405020304" pitchFamily="18" charset="0"/>
                          <a:cs typeface="Times New Roman" panose="02020603050405020304" pitchFamily="18" charset="0"/>
                        </a:rPr>
                        <a:t>Task</a:t>
                      </a:r>
                      <a:endParaRPr lang="zh-TW" altLang="en-US" sz="1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260982">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54</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260982">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0">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260982">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260982">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260982">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260982">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910222979"/>
                  </a:ext>
                </a:extLst>
              </a:tr>
              <a:tr h="260982">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260982">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367795">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321A8BEE-D63B-439B-88CA-296A842252F4}"/>
              </a:ext>
            </a:extLst>
          </p:cNvPr>
          <p:cNvPicPr>
            <a:picLocks noChangeAspect="1"/>
          </p:cNvPicPr>
          <p:nvPr/>
        </p:nvPicPr>
        <p:blipFill>
          <a:blip r:embed="rId5"/>
          <a:stretch>
            <a:fillRect/>
          </a:stretch>
        </p:blipFill>
        <p:spPr>
          <a:xfrm>
            <a:off x="9087001" y="178736"/>
            <a:ext cx="3104999" cy="3113346"/>
          </a:xfrm>
          <a:prstGeom prst="rect">
            <a:avLst/>
          </a:prstGeom>
        </p:spPr>
      </p:pic>
    </p:spTree>
    <p:extLst>
      <p:ext uri="{BB962C8B-B14F-4D97-AF65-F5344CB8AC3E}">
        <p14:creationId xmlns:p14="http://schemas.microsoft.com/office/powerpoint/2010/main" val="117535145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2915799010"/>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𝑅𝑎𝑛𝑘</m:t>
                                    </m:r>
                                  </m:e>
                                  <m:sub>
                                    <m:r>
                                      <a:rPr lang="en-US" altLang="zh-TW" sz="1200" b="0" i="1" smtClean="0">
                                        <a:solidFill>
                                          <a:schemeClr val="tx1"/>
                                        </a:solidFill>
                                        <a:latin typeface="Cambria Math" panose="02040503050406030204" pitchFamily="18" charset="0"/>
                                      </a:rPr>
                                      <m:t>𝑜𝑐𝑡</m:t>
                                    </m:r>
                                  </m:sub>
                                </m:sSub>
                              </m:oMath>
                            </m:oMathPara>
                          </a14:m>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ea typeface="標楷體" panose="03000509000000000000" pitchFamily="65" charset="-120"/>
                                      </a:rPr>
                                    </m:ctrlPr>
                                  </m:sSubPr>
                                  <m:e>
                                    <m:r>
                                      <a:rPr lang="en-US" altLang="zh-TW" sz="1200" b="0" i="1" smtClean="0">
                                        <a:solidFill>
                                          <a:schemeClr val="tx1"/>
                                        </a:solidFill>
                                        <a:latin typeface="Cambria Math" panose="02040503050406030204" pitchFamily="18" charset="0"/>
                                        <a:ea typeface="標楷體" panose="03000509000000000000" pitchFamily="65" charset="-120"/>
                                      </a:rPr>
                                      <m:t>𝑂</m:t>
                                    </m:r>
                                  </m:e>
                                  <m:sub>
                                    <m:r>
                                      <a:rPr lang="en-US" altLang="zh-TW" sz="1200" b="0" i="1" smtClean="0">
                                        <a:solidFill>
                                          <a:schemeClr val="tx1"/>
                                        </a:solidFill>
                                        <a:latin typeface="Cambria Math" panose="02040503050406030204" pitchFamily="18" charset="0"/>
                                        <a:ea typeface="標楷體" panose="03000509000000000000" pitchFamily="65" charset="-120"/>
                                      </a:rPr>
                                      <m:t>𝐸𝐹𝑇</m:t>
                                    </m:r>
                                  </m:sub>
                                </m:sSub>
                              </m:oMath>
                            </m:oMathPara>
                          </a14:m>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a:t>
                          </a:r>
                          <a:r>
                            <a:rPr lang="en-US" altLang="zh-TW" sz="1200" b="0" i="0" dirty="0">
                              <a:solidFill>
                                <a:srgbClr val="FF0000"/>
                              </a:solidFill>
                              <a:latin typeface="標楷體" panose="03000509000000000000" pitchFamily="65" charset="-120"/>
                              <a:ea typeface="標楷體" panose="03000509000000000000" pitchFamily="65" charset="-120"/>
                            </a:rPr>
                            <a:t>59</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en-US" altLang="zh-TW" sz="1200" b="0" i="0" dirty="0">
                              <a:solidFill>
                                <a:srgbClr val="FF0000"/>
                              </a:solidFill>
                              <a:latin typeface="標楷體" panose="03000509000000000000" pitchFamily="65" charset="-120"/>
                              <a:ea typeface="標楷體" panose="03000509000000000000" pitchFamily="65" charset="-120"/>
                            </a:rPr>
                            <a:t>43</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a:t>
                          </a:r>
                          <a:r>
                            <a:rPr lang="en-US" altLang="zh-TW" sz="1200" b="0" i="0" dirty="0">
                              <a:solidFill>
                                <a:srgbClr val="FF0000"/>
                              </a:solidFill>
                              <a:latin typeface="標楷體" panose="03000509000000000000" pitchFamily="65" charset="-120"/>
                              <a:ea typeface="標楷體" panose="03000509000000000000" pitchFamily="65" charset="-120"/>
                            </a:rPr>
                            <a:t>37</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46+30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59+21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77+7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77+20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79+16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2915799010"/>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03" t="-1587" r="-1351351" b="-1300000"/>
                          </a:stretch>
                        </a:blip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026" t="-1587" r="-248718" b="-1300000"/>
                          </a:stretch>
                        </a:blip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a:t>
                          </a:r>
                          <a:r>
                            <a:rPr lang="en-US" altLang="zh-TW" sz="1200" b="0" i="0" dirty="0">
                              <a:solidFill>
                                <a:srgbClr val="FF0000"/>
                              </a:solidFill>
                              <a:latin typeface="標楷體" panose="03000509000000000000" pitchFamily="65" charset="-120"/>
                              <a:ea typeface="標楷體" panose="03000509000000000000" pitchFamily="65" charset="-120"/>
                            </a:rPr>
                            <a:t>59</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en-US" altLang="zh-TW" sz="1200" b="0" i="0" dirty="0">
                              <a:solidFill>
                                <a:srgbClr val="FF0000"/>
                              </a:solidFill>
                              <a:latin typeface="標楷體" panose="03000509000000000000" pitchFamily="65" charset="-120"/>
                              <a:ea typeface="標楷體" panose="03000509000000000000" pitchFamily="65" charset="-120"/>
                            </a:rPr>
                            <a:t>43</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a:t>
                          </a:r>
                          <a:r>
                            <a:rPr lang="en-US" altLang="zh-TW" sz="1200" b="0" i="0" dirty="0">
                              <a:solidFill>
                                <a:srgbClr val="FF0000"/>
                              </a:solidFill>
                              <a:latin typeface="標楷體" panose="03000509000000000000" pitchFamily="65" charset="-120"/>
                              <a:ea typeface="標楷體" panose="03000509000000000000" pitchFamily="65" charset="-120"/>
                            </a:rPr>
                            <a:t>37</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46+30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59+21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77+7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77+20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79+16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81F29571-F3DE-49D1-A6B8-7824FFD6114A}"/>
              </a:ext>
            </a:extLst>
          </p:cNvPr>
          <p:cNvPicPr>
            <a:picLocks noChangeAspect="1"/>
          </p:cNvPicPr>
          <p:nvPr/>
        </p:nvPicPr>
        <p:blipFill>
          <a:blip r:embed="rId3"/>
          <a:stretch>
            <a:fillRect/>
          </a:stretch>
        </p:blipFill>
        <p:spPr>
          <a:xfrm>
            <a:off x="6555676" y="0"/>
            <a:ext cx="2637564" cy="3715415"/>
          </a:xfrm>
          <a:prstGeom prst="rect">
            <a:avLst/>
          </a:prstGeom>
        </p:spPr>
      </p:pic>
      <p:pic>
        <p:nvPicPr>
          <p:cNvPr id="6" name="圖片 5">
            <a:extLst>
              <a:ext uri="{FF2B5EF4-FFF2-40B4-BE49-F238E27FC236}">
                <a16:creationId xmlns:a16="http://schemas.microsoft.com/office/drawing/2014/main" id="{26979AF4-A06E-4C10-85A7-8BA80E60C601}"/>
              </a:ext>
            </a:extLst>
          </p:cNvPr>
          <p:cNvPicPr>
            <a:picLocks noChangeAspect="1"/>
          </p:cNvPicPr>
          <p:nvPr/>
        </p:nvPicPr>
        <p:blipFill>
          <a:blip r:embed="rId4"/>
          <a:stretch>
            <a:fillRect/>
          </a:stretch>
        </p:blipFill>
        <p:spPr>
          <a:xfrm>
            <a:off x="10180948" y="3419271"/>
            <a:ext cx="2011052" cy="3500003"/>
          </a:xfrm>
          <a:prstGeom prst="rect">
            <a:avLst/>
          </a:prstGeom>
        </p:spPr>
      </p:pic>
      <p:graphicFrame>
        <p:nvGraphicFramePr>
          <p:cNvPr id="7" name="表格 4">
            <a:extLst>
              <a:ext uri="{FF2B5EF4-FFF2-40B4-BE49-F238E27FC236}">
                <a16:creationId xmlns:a16="http://schemas.microsoft.com/office/drawing/2014/main" id="{D7432878-4003-40F3-A096-CD2D7E0B51B9}"/>
              </a:ext>
            </a:extLst>
          </p:cNvPr>
          <p:cNvGraphicFramePr>
            <a:graphicFrameLocks noGrp="1"/>
          </p:cNvGraphicFramePr>
          <p:nvPr>
            <p:extLst>
              <p:ext uri="{D42A27DB-BD31-4B8C-83A1-F6EECF244321}">
                <p14:modId xmlns:p14="http://schemas.microsoft.com/office/powerpoint/2010/main" val="4176315704"/>
              </p:ext>
            </p:extLst>
          </p:nvPr>
        </p:nvGraphicFramePr>
        <p:xfrm>
          <a:off x="6885906" y="3715415"/>
          <a:ext cx="2201095" cy="3240535"/>
        </p:xfrm>
        <a:graphic>
          <a:graphicData uri="http://schemas.openxmlformats.org/drawingml/2006/table">
            <a:tbl>
              <a:tblPr firstRow="1" bandRow="1">
                <a:tableStyleId>{5C22544A-7EE6-4342-B048-85BDC9FD1C3A}</a:tableStyleId>
              </a:tblPr>
              <a:tblGrid>
                <a:gridCol w="606870">
                  <a:extLst>
                    <a:ext uri="{9D8B030D-6E8A-4147-A177-3AD203B41FA5}">
                      <a16:colId xmlns:a16="http://schemas.microsoft.com/office/drawing/2014/main" val="239911059"/>
                    </a:ext>
                  </a:extLst>
                </a:gridCol>
                <a:gridCol w="493677">
                  <a:extLst>
                    <a:ext uri="{9D8B030D-6E8A-4147-A177-3AD203B41FA5}">
                      <a16:colId xmlns:a16="http://schemas.microsoft.com/office/drawing/2014/main" val="2696759501"/>
                    </a:ext>
                  </a:extLst>
                </a:gridCol>
                <a:gridCol w="550274">
                  <a:extLst>
                    <a:ext uri="{9D8B030D-6E8A-4147-A177-3AD203B41FA5}">
                      <a16:colId xmlns:a16="http://schemas.microsoft.com/office/drawing/2014/main" val="802323705"/>
                    </a:ext>
                  </a:extLst>
                </a:gridCol>
                <a:gridCol w="550274">
                  <a:extLst>
                    <a:ext uri="{9D8B030D-6E8A-4147-A177-3AD203B41FA5}">
                      <a16:colId xmlns:a16="http://schemas.microsoft.com/office/drawing/2014/main" val="111345989"/>
                    </a:ext>
                  </a:extLst>
                </a:gridCol>
              </a:tblGrid>
              <a:tr h="260982">
                <a:tc>
                  <a:txBody>
                    <a:bodyPr/>
                    <a:lstStyle/>
                    <a:p>
                      <a:r>
                        <a:rPr lang="en-US" altLang="zh-TW" sz="1050" b="0" dirty="0">
                          <a:solidFill>
                            <a:schemeClr val="tx1"/>
                          </a:solidFill>
                          <a:latin typeface="Times New Roman" panose="02020603050405020304" pitchFamily="18" charset="0"/>
                          <a:cs typeface="Times New Roman" panose="02020603050405020304" pitchFamily="18" charset="0"/>
                        </a:rPr>
                        <a:t>      </a:t>
                      </a:r>
                      <a:r>
                        <a:rPr lang="en-US" altLang="zh-TW" sz="800" b="0" dirty="0">
                          <a:solidFill>
                            <a:schemeClr val="tx1"/>
                          </a:solidFill>
                          <a:latin typeface="Times New Roman" panose="02020603050405020304" pitchFamily="18" charset="0"/>
                          <a:cs typeface="Times New Roman" panose="02020603050405020304" pitchFamily="18" charset="0"/>
                        </a:rPr>
                        <a:t>OCT</a:t>
                      </a:r>
                    </a:p>
                    <a:p>
                      <a:r>
                        <a:rPr lang="en-US" altLang="zh-TW" sz="1000" b="0" dirty="0">
                          <a:solidFill>
                            <a:schemeClr val="tx1"/>
                          </a:solidFill>
                          <a:latin typeface="Times New Roman" panose="02020603050405020304" pitchFamily="18" charset="0"/>
                          <a:cs typeface="Times New Roman" panose="02020603050405020304" pitchFamily="18" charset="0"/>
                        </a:rPr>
                        <a:t>Task</a:t>
                      </a:r>
                      <a:endParaRPr lang="zh-TW" altLang="en-US" sz="1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260982">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54</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260982">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0">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260982">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260982">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260982">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260982">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260982">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2424121044"/>
                  </a:ext>
                </a:extLst>
              </a:tr>
              <a:tr h="260982">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367795">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321A8BEE-D63B-439B-88CA-296A842252F4}"/>
              </a:ext>
            </a:extLst>
          </p:cNvPr>
          <p:cNvPicPr>
            <a:picLocks noChangeAspect="1"/>
          </p:cNvPicPr>
          <p:nvPr/>
        </p:nvPicPr>
        <p:blipFill>
          <a:blip r:embed="rId5"/>
          <a:stretch>
            <a:fillRect/>
          </a:stretch>
        </p:blipFill>
        <p:spPr>
          <a:xfrm>
            <a:off x="9087001" y="178736"/>
            <a:ext cx="3104999" cy="3113346"/>
          </a:xfrm>
          <a:prstGeom prst="rect">
            <a:avLst/>
          </a:prstGeom>
        </p:spPr>
      </p:pic>
    </p:spTree>
    <p:extLst>
      <p:ext uri="{BB962C8B-B14F-4D97-AF65-F5344CB8AC3E}">
        <p14:creationId xmlns:p14="http://schemas.microsoft.com/office/powerpoint/2010/main" val="266530917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3410193927"/>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𝑅𝑎𝑛𝑘</m:t>
                                    </m:r>
                                  </m:e>
                                  <m:sub>
                                    <m:r>
                                      <a:rPr lang="en-US" altLang="zh-TW" sz="1200" b="0" i="1" smtClean="0">
                                        <a:solidFill>
                                          <a:schemeClr val="tx1"/>
                                        </a:solidFill>
                                        <a:latin typeface="Cambria Math" panose="02040503050406030204" pitchFamily="18" charset="0"/>
                                      </a:rPr>
                                      <m:t>𝑜𝑐𝑡</m:t>
                                    </m:r>
                                  </m:sub>
                                </m:sSub>
                              </m:oMath>
                            </m:oMathPara>
                          </a14:m>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ea typeface="標楷體" panose="03000509000000000000" pitchFamily="65" charset="-120"/>
                                      </a:rPr>
                                    </m:ctrlPr>
                                  </m:sSubPr>
                                  <m:e>
                                    <m:r>
                                      <a:rPr lang="en-US" altLang="zh-TW" sz="1200" b="0" i="1" smtClean="0">
                                        <a:solidFill>
                                          <a:schemeClr val="tx1"/>
                                        </a:solidFill>
                                        <a:latin typeface="Cambria Math" panose="02040503050406030204" pitchFamily="18" charset="0"/>
                                        <a:ea typeface="標楷體" panose="03000509000000000000" pitchFamily="65" charset="-120"/>
                                      </a:rPr>
                                      <m:t>𝑂</m:t>
                                    </m:r>
                                  </m:e>
                                  <m:sub>
                                    <m:r>
                                      <a:rPr lang="en-US" altLang="zh-TW" sz="1200" b="0" i="1" smtClean="0">
                                        <a:solidFill>
                                          <a:schemeClr val="tx1"/>
                                        </a:solidFill>
                                        <a:latin typeface="Cambria Math" panose="02040503050406030204" pitchFamily="18" charset="0"/>
                                        <a:ea typeface="標楷體" panose="03000509000000000000" pitchFamily="65" charset="-120"/>
                                      </a:rPr>
                                      <m:t>𝐸𝐹𝑇</m:t>
                                    </m:r>
                                  </m:sub>
                                </m:sSub>
                              </m:oMath>
                            </m:oMathPara>
                          </a14:m>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a:t>
                          </a:r>
                          <a:r>
                            <a:rPr lang="en-US" altLang="zh-TW" sz="1200" b="0" i="0" dirty="0">
                              <a:solidFill>
                                <a:srgbClr val="FF0000"/>
                              </a:solidFill>
                              <a:latin typeface="標楷體" panose="03000509000000000000" pitchFamily="65" charset="-120"/>
                              <a:ea typeface="標楷體" panose="03000509000000000000" pitchFamily="65" charset="-120"/>
                            </a:rPr>
                            <a:t>59</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en-US" altLang="zh-TW" sz="1200" b="0" i="0" dirty="0">
                              <a:solidFill>
                                <a:srgbClr val="FF0000"/>
                              </a:solidFill>
                              <a:latin typeface="標楷體" panose="03000509000000000000" pitchFamily="65" charset="-120"/>
                              <a:ea typeface="標楷體" panose="03000509000000000000" pitchFamily="65" charset="-120"/>
                            </a:rPr>
                            <a:t>62</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a:t>
                          </a:r>
                          <a:r>
                            <a:rPr lang="en-US" altLang="zh-TW" sz="1200" b="0" i="0" dirty="0">
                              <a:solidFill>
                                <a:srgbClr val="FF0000"/>
                              </a:solidFill>
                              <a:latin typeface="標楷體" panose="03000509000000000000" pitchFamily="65" charset="-120"/>
                              <a:ea typeface="標楷體" panose="03000509000000000000" pitchFamily="65" charset="-120"/>
                            </a:rPr>
                            <a:t>43</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46+30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59+21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77+7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77+20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79+16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43+19+5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52+15+11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52+15+14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67+18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78+7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81+16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3410193927"/>
                  </p:ext>
                </p:extLst>
              </p:nvPr>
            </p:nvGraphicFramePr>
            <p:xfrm>
              <a:off x="183104" y="1503044"/>
              <a:ext cx="6528782" cy="5354956"/>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82051">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03" t="-1587" r="-1351351" b="-1300000"/>
                          </a:stretch>
                        </a:blip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1026" t="-1587" r="-248718" b="-1300000"/>
                          </a:stretch>
                        </a:blip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67664">
                    <a:tc>
                      <a:txBody>
                        <a:bodyPr/>
                        <a:lstStyle/>
                        <a:p>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   </a:t>
                          </a:r>
                          <a:r>
                            <a:rPr lang="en-US" altLang="zh-TW" sz="1200" b="0" i="0" dirty="0">
                              <a:solidFill>
                                <a:srgbClr val="FF0000"/>
                              </a:solidFill>
                              <a:latin typeface="標楷體" panose="03000509000000000000" pitchFamily="65" charset="-120"/>
                              <a:ea typeface="標楷體" panose="03000509000000000000" pitchFamily="65" charset="-120"/>
                            </a:rPr>
                            <a:t>59</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    </a:t>
                          </a:r>
                          <a:r>
                            <a:rPr lang="en-US" altLang="zh-TW" sz="1200" b="0" i="0" dirty="0">
                              <a:solidFill>
                                <a:srgbClr val="FF0000"/>
                              </a:solidFill>
                              <a:latin typeface="標楷體" panose="03000509000000000000" pitchFamily="65" charset="-120"/>
                              <a:ea typeface="標楷體" panose="03000509000000000000" pitchFamily="65" charset="-120"/>
                            </a:rPr>
                            <a:t>62</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  </a:t>
                          </a:r>
                          <a:r>
                            <a:rPr lang="en-US" altLang="zh-TW" sz="1200" b="0" i="0" dirty="0">
                              <a:solidFill>
                                <a:srgbClr val="FF0000"/>
                              </a:solidFill>
                              <a:latin typeface="標楷體" panose="03000509000000000000" pitchFamily="65" charset="-120"/>
                              <a:ea typeface="標楷體" panose="03000509000000000000" pitchFamily="65" charset="-120"/>
                            </a:rPr>
                            <a:t>43</a:t>
                          </a:r>
                          <a:endParaRPr lang="zh-TW" altLang="en-US" sz="1200" b="0" i="0" dirty="0">
                            <a:solidFill>
                              <a:srgbClr val="FF0000"/>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410938">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10938">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10938">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505049">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10938">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10938">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52+23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46+30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10938">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39+23+11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59+21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77+7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10938">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37+13+12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43+16+20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77+20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79+16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10938">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43+19+5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52+15+11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52+15+14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67+18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78+7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81+16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712688">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81F29571-F3DE-49D1-A6B8-7824FFD6114A}"/>
              </a:ext>
            </a:extLst>
          </p:cNvPr>
          <p:cNvPicPr>
            <a:picLocks noChangeAspect="1"/>
          </p:cNvPicPr>
          <p:nvPr/>
        </p:nvPicPr>
        <p:blipFill>
          <a:blip r:embed="rId3"/>
          <a:stretch>
            <a:fillRect/>
          </a:stretch>
        </p:blipFill>
        <p:spPr>
          <a:xfrm>
            <a:off x="6555676" y="0"/>
            <a:ext cx="2637564" cy="3715415"/>
          </a:xfrm>
          <a:prstGeom prst="rect">
            <a:avLst/>
          </a:prstGeom>
        </p:spPr>
      </p:pic>
      <p:pic>
        <p:nvPicPr>
          <p:cNvPr id="6" name="圖片 5">
            <a:extLst>
              <a:ext uri="{FF2B5EF4-FFF2-40B4-BE49-F238E27FC236}">
                <a16:creationId xmlns:a16="http://schemas.microsoft.com/office/drawing/2014/main" id="{26979AF4-A06E-4C10-85A7-8BA80E60C601}"/>
              </a:ext>
            </a:extLst>
          </p:cNvPr>
          <p:cNvPicPr>
            <a:picLocks noChangeAspect="1"/>
          </p:cNvPicPr>
          <p:nvPr/>
        </p:nvPicPr>
        <p:blipFill>
          <a:blip r:embed="rId4"/>
          <a:stretch>
            <a:fillRect/>
          </a:stretch>
        </p:blipFill>
        <p:spPr>
          <a:xfrm>
            <a:off x="10180948" y="3419271"/>
            <a:ext cx="2011052" cy="3500003"/>
          </a:xfrm>
          <a:prstGeom prst="rect">
            <a:avLst/>
          </a:prstGeom>
        </p:spPr>
      </p:pic>
      <p:graphicFrame>
        <p:nvGraphicFramePr>
          <p:cNvPr id="7" name="表格 4">
            <a:extLst>
              <a:ext uri="{FF2B5EF4-FFF2-40B4-BE49-F238E27FC236}">
                <a16:creationId xmlns:a16="http://schemas.microsoft.com/office/drawing/2014/main" id="{D7432878-4003-40F3-A096-CD2D7E0B51B9}"/>
              </a:ext>
            </a:extLst>
          </p:cNvPr>
          <p:cNvGraphicFramePr>
            <a:graphicFrameLocks noGrp="1"/>
          </p:cNvGraphicFramePr>
          <p:nvPr>
            <p:extLst>
              <p:ext uri="{D42A27DB-BD31-4B8C-83A1-F6EECF244321}">
                <p14:modId xmlns:p14="http://schemas.microsoft.com/office/powerpoint/2010/main" val="3373786496"/>
              </p:ext>
            </p:extLst>
          </p:nvPr>
        </p:nvGraphicFramePr>
        <p:xfrm>
          <a:off x="6885906" y="3715415"/>
          <a:ext cx="2201095" cy="3240535"/>
        </p:xfrm>
        <a:graphic>
          <a:graphicData uri="http://schemas.openxmlformats.org/drawingml/2006/table">
            <a:tbl>
              <a:tblPr firstRow="1" bandRow="1">
                <a:tableStyleId>{5C22544A-7EE6-4342-B048-85BDC9FD1C3A}</a:tableStyleId>
              </a:tblPr>
              <a:tblGrid>
                <a:gridCol w="606870">
                  <a:extLst>
                    <a:ext uri="{9D8B030D-6E8A-4147-A177-3AD203B41FA5}">
                      <a16:colId xmlns:a16="http://schemas.microsoft.com/office/drawing/2014/main" val="239911059"/>
                    </a:ext>
                  </a:extLst>
                </a:gridCol>
                <a:gridCol w="493677">
                  <a:extLst>
                    <a:ext uri="{9D8B030D-6E8A-4147-A177-3AD203B41FA5}">
                      <a16:colId xmlns:a16="http://schemas.microsoft.com/office/drawing/2014/main" val="2696759501"/>
                    </a:ext>
                  </a:extLst>
                </a:gridCol>
                <a:gridCol w="550274">
                  <a:extLst>
                    <a:ext uri="{9D8B030D-6E8A-4147-A177-3AD203B41FA5}">
                      <a16:colId xmlns:a16="http://schemas.microsoft.com/office/drawing/2014/main" val="802323705"/>
                    </a:ext>
                  </a:extLst>
                </a:gridCol>
                <a:gridCol w="550274">
                  <a:extLst>
                    <a:ext uri="{9D8B030D-6E8A-4147-A177-3AD203B41FA5}">
                      <a16:colId xmlns:a16="http://schemas.microsoft.com/office/drawing/2014/main" val="111345989"/>
                    </a:ext>
                  </a:extLst>
                </a:gridCol>
              </a:tblGrid>
              <a:tr h="260982">
                <a:tc>
                  <a:txBody>
                    <a:bodyPr/>
                    <a:lstStyle/>
                    <a:p>
                      <a:r>
                        <a:rPr lang="en-US" altLang="zh-TW" sz="1050" b="0" dirty="0">
                          <a:solidFill>
                            <a:schemeClr val="tx1"/>
                          </a:solidFill>
                          <a:latin typeface="Times New Roman" panose="02020603050405020304" pitchFamily="18" charset="0"/>
                          <a:cs typeface="Times New Roman" panose="02020603050405020304" pitchFamily="18" charset="0"/>
                        </a:rPr>
                        <a:t>      </a:t>
                      </a:r>
                      <a:r>
                        <a:rPr lang="en-US" altLang="zh-TW" sz="800" b="0" dirty="0">
                          <a:solidFill>
                            <a:schemeClr val="tx1"/>
                          </a:solidFill>
                          <a:latin typeface="Times New Roman" panose="02020603050405020304" pitchFamily="18" charset="0"/>
                          <a:cs typeface="Times New Roman" panose="02020603050405020304" pitchFamily="18" charset="0"/>
                        </a:rPr>
                        <a:t>OCT</a:t>
                      </a:r>
                    </a:p>
                    <a:p>
                      <a:r>
                        <a:rPr lang="en-US" altLang="zh-TW" sz="1000" b="0" dirty="0">
                          <a:solidFill>
                            <a:schemeClr val="tx1"/>
                          </a:solidFill>
                          <a:latin typeface="Times New Roman" panose="02020603050405020304" pitchFamily="18" charset="0"/>
                          <a:cs typeface="Times New Roman" panose="02020603050405020304" pitchFamily="18" charset="0"/>
                        </a:rPr>
                        <a:t>Task</a:t>
                      </a:r>
                      <a:endParaRPr lang="zh-TW" altLang="en-US" sz="1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260982">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54</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260982">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0">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260982">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260982">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260982">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260982">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260982">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260982">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2631858819"/>
                  </a:ext>
                </a:extLst>
              </a:tr>
              <a:tr h="367795">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321A8BEE-D63B-439B-88CA-296A842252F4}"/>
              </a:ext>
            </a:extLst>
          </p:cNvPr>
          <p:cNvPicPr>
            <a:picLocks noChangeAspect="1"/>
          </p:cNvPicPr>
          <p:nvPr/>
        </p:nvPicPr>
        <p:blipFill>
          <a:blip r:embed="rId5"/>
          <a:stretch>
            <a:fillRect/>
          </a:stretch>
        </p:blipFill>
        <p:spPr>
          <a:xfrm>
            <a:off x="9087001" y="178736"/>
            <a:ext cx="3104999" cy="3113346"/>
          </a:xfrm>
          <a:prstGeom prst="rect">
            <a:avLst/>
          </a:prstGeom>
        </p:spPr>
      </p:pic>
    </p:spTree>
    <p:extLst>
      <p:ext uri="{BB962C8B-B14F-4D97-AF65-F5344CB8AC3E}">
        <p14:creationId xmlns:p14="http://schemas.microsoft.com/office/powerpoint/2010/main" val="163700486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1605211249"/>
                  </p:ext>
                </p:extLst>
              </p:nvPr>
            </p:nvGraphicFramePr>
            <p:xfrm>
              <a:off x="183104" y="1503044"/>
              <a:ext cx="6528782" cy="5067438"/>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61538">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rPr>
                                    </m:ctrlPr>
                                  </m:sSubPr>
                                  <m:e>
                                    <m:r>
                                      <a:rPr lang="en-US" altLang="zh-TW" sz="1200" b="0" i="1" smtClean="0">
                                        <a:solidFill>
                                          <a:schemeClr val="tx1"/>
                                        </a:solidFill>
                                        <a:latin typeface="Cambria Math" panose="02040503050406030204" pitchFamily="18" charset="0"/>
                                      </a:rPr>
                                      <m:t>𝑅𝑎𝑛𝑘</m:t>
                                    </m:r>
                                  </m:e>
                                  <m:sub>
                                    <m:r>
                                      <a:rPr lang="en-US" altLang="zh-TW" sz="1200" b="0" i="1" smtClean="0">
                                        <a:solidFill>
                                          <a:schemeClr val="tx1"/>
                                        </a:solidFill>
                                        <a:latin typeface="Cambria Math" panose="02040503050406030204" pitchFamily="18" charset="0"/>
                                      </a:rPr>
                                      <m:t>𝑜𝑐𝑡</m:t>
                                    </m:r>
                                  </m:sub>
                                </m:sSub>
                              </m:oMath>
                            </m:oMathPara>
                          </a14:m>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ea typeface="標楷體" panose="03000509000000000000" pitchFamily="65" charset="-120"/>
                                      </a:rPr>
                                    </m:ctrlPr>
                                  </m:sSubPr>
                                  <m:e>
                                    <m:r>
                                      <a:rPr lang="en-US" altLang="zh-TW" sz="1200" b="0" i="1" smtClean="0">
                                        <a:solidFill>
                                          <a:schemeClr val="tx1"/>
                                        </a:solidFill>
                                        <a:latin typeface="Cambria Math" panose="02040503050406030204" pitchFamily="18" charset="0"/>
                                        <a:ea typeface="標楷體" panose="03000509000000000000" pitchFamily="65" charset="-120"/>
                                      </a:rPr>
                                      <m:t>𝑂</m:t>
                                    </m:r>
                                  </m:e>
                                  <m:sub>
                                    <m:r>
                                      <a:rPr lang="en-US" altLang="zh-TW" sz="1200" b="0" i="1" smtClean="0">
                                        <a:solidFill>
                                          <a:schemeClr val="tx1"/>
                                        </a:solidFill>
                                        <a:latin typeface="Cambria Math" panose="02040503050406030204" pitchFamily="18" charset="0"/>
                                        <a:ea typeface="標楷體" panose="03000509000000000000" pitchFamily="65" charset="-120"/>
                                      </a:rPr>
                                      <m:t>𝐸𝐹𝑇</m:t>
                                    </m:r>
                                  </m:sub>
                                </m:sSub>
                              </m:oMath>
                            </m:oMathPara>
                          </a14:m>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42554">
                    <a:tc>
                      <a:txBody>
                        <a:bodyPr/>
                        <a:lstStyle/>
                        <a:p>
                          <a:pPr algn="ct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388874">
                    <a:tc>
                      <a:txBody>
                        <a:bodyPr/>
                        <a:lstStyle/>
                        <a:p>
                          <a:pPr algn="ctr"/>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388874">
                    <a:tc>
                      <a:txBody>
                        <a:bodyPr/>
                        <a:lstStyle/>
                        <a:p>
                          <a:pPr algn="ctr"/>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388874">
                    <a:tc>
                      <a:txBody>
                        <a:bodyPr/>
                        <a:lstStyle/>
                        <a:p>
                          <a:pPr algn="ctr"/>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7932">
                    <a:tc>
                      <a:txBody>
                        <a:bodyPr/>
                        <a:lstStyle/>
                        <a:p>
                          <a:pPr algn="ctr"/>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388874">
                    <a:tc>
                      <a:txBody>
                        <a:bodyPr/>
                        <a:lstStyle/>
                        <a:p>
                          <a:pPr algn="ctr"/>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388874">
                    <a:tc>
                      <a:txBody>
                        <a:bodyPr/>
                        <a:lstStyle/>
                        <a:p>
                          <a:pPr algn="ctr"/>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37+9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52+23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59+18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46+30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388874">
                    <a:tc>
                      <a:txBody>
                        <a:bodyPr/>
                        <a:lstStyle/>
                        <a:p>
                          <a:pPr algn="ctr"/>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39+23+15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39+23+11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59+21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77+7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73+16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388874">
                    <a:tc>
                      <a:txBody>
                        <a:bodyPr/>
                        <a:lstStyle/>
                        <a:p>
                          <a:pPr algn="ctr"/>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43+16+18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37+13+12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43+16+20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77+20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79+16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388874">
                    <a:tc>
                      <a:txBody>
                        <a:bodyPr/>
                        <a:lstStyle/>
                        <a:p>
                          <a:pPr algn="ctr"/>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43+19+5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52+15+11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52+15+14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67+18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78+7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81+16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674422">
                    <a:tc>
                      <a:txBody>
                        <a:bodyPr/>
                        <a:lstStyle/>
                        <a:p>
                          <a:pPr algn="ctr"/>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62+13+21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67+11+7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67+11+16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96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85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94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227CDD30-D486-4B0F-BE6F-8F2C5AC7E4A6}"/>
                  </a:ext>
                </a:extLst>
              </p:cNvPr>
              <p:cNvGraphicFramePr>
                <a:graphicFrameLocks noGrp="1"/>
              </p:cNvGraphicFramePr>
              <p:nvPr>
                <p:extLst>
                  <p:ext uri="{D42A27DB-BD31-4B8C-83A1-F6EECF244321}">
                    <p14:modId xmlns:p14="http://schemas.microsoft.com/office/powerpoint/2010/main" val="1605211249"/>
                  </p:ext>
                </p:extLst>
              </p:nvPr>
            </p:nvGraphicFramePr>
            <p:xfrm>
              <a:off x="183104" y="1503044"/>
              <a:ext cx="6528782" cy="5067438"/>
            </p:xfrm>
            <a:graphic>
              <a:graphicData uri="http://schemas.openxmlformats.org/drawingml/2006/table">
                <a:tbl>
                  <a:tblPr firstRow="1" bandRow="1">
                    <a:tableStyleId>{5C22544A-7EE6-4342-B048-85BDC9FD1C3A}</a:tableStyleId>
                  </a:tblPr>
                  <a:tblGrid>
                    <a:gridCol w="449566">
                      <a:extLst>
                        <a:ext uri="{9D8B030D-6E8A-4147-A177-3AD203B41FA5}">
                          <a16:colId xmlns:a16="http://schemas.microsoft.com/office/drawing/2014/main" val="239911059"/>
                        </a:ext>
                      </a:extLst>
                    </a:gridCol>
                    <a:gridCol w="921300">
                      <a:extLst>
                        <a:ext uri="{9D8B030D-6E8A-4147-A177-3AD203B41FA5}">
                          <a16:colId xmlns:a16="http://schemas.microsoft.com/office/drawing/2014/main" val="2696759501"/>
                        </a:ext>
                      </a:extLst>
                    </a:gridCol>
                    <a:gridCol w="972131">
                      <a:extLst>
                        <a:ext uri="{9D8B030D-6E8A-4147-A177-3AD203B41FA5}">
                          <a16:colId xmlns:a16="http://schemas.microsoft.com/office/drawing/2014/main" val="3091083214"/>
                        </a:ext>
                      </a:extLst>
                    </a:gridCol>
                    <a:gridCol w="884155">
                      <a:extLst>
                        <a:ext uri="{9D8B030D-6E8A-4147-A177-3AD203B41FA5}">
                          <a16:colId xmlns:a16="http://schemas.microsoft.com/office/drawing/2014/main" val="802323705"/>
                        </a:ext>
                      </a:extLst>
                    </a:gridCol>
                    <a:gridCol w="951397">
                      <a:extLst>
                        <a:ext uri="{9D8B030D-6E8A-4147-A177-3AD203B41FA5}">
                          <a16:colId xmlns:a16="http://schemas.microsoft.com/office/drawing/2014/main" val="111345989"/>
                        </a:ext>
                      </a:extLst>
                    </a:gridCol>
                    <a:gridCol w="783411">
                      <a:extLst>
                        <a:ext uri="{9D8B030D-6E8A-4147-A177-3AD203B41FA5}">
                          <a16:colId xmlns:a16="http://schemas.microsoft.com/office/drawing/2014/main" val="1167941338"/>
                        </a:ext>
                      </a:extLst>
                    </a:gridCol>
                    <a:gridCol w="838457">
                      <a:extLst>
                        <a:ext uri="{9D8B030D-6E8A-4147-A177-3AD203B41FA5}">
                          <a16:colId xmlns:a16="http://schemas.microsoft.com/office/drawing/2014/main" val="2191588877"/>
                        </a:ext>
                      </a:extLst>
                    </a:gridCol>
                    <a:gridCol w="728365">
                      <a:extLst>
                        <a:ext uri="{9D8B030D-6E8A-4147-A177-3AD203B41FA5}">
                          <a16:colId xmlns:a16="http://schemas.microsoft.com/office/drawing/2014/main" val="3878786471"/>
                        </a:ext>
                      </a:extLst>
                    </a:gridCol>
                  </a:tblGrid>
                  <a:tr h="361538">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03" t="-1695" r="-1351351" b="-1313559"/>
                          </a:stretch>
                        </a:blipFill>
                      </a:tcPr>
                    </a:tc>
                    <a:tc gridSpan="3">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EFT</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066" t="-1695" r="-28910" b="-1313559"/>
                          </a:stretch>
                        </a:blipFill>
                      </a:tcPr>
                    </a:tc>
                    <a:tc hMerge="1">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CPU</a:t>
                          </a:r>
                          <a:r>
                            <a:rPr lang="zh-TW" altLang="en-US" sz="1200" b="0" i="0" dirty="0">
                              <a:solidFill>
                                <a:schemeClr val="tx1"/>
                              </a:solidFill>
                              <a:latin typeface="標楷體" panose="03000509000000000000" pitchFamily="65" charset="-120"/>
                              <a:ea typeface="標楷體" panose="03000509000000000000" pitchFamily="65" charset="-120"/>
                            </a:rPr>
                            <a:t>選擇</a:t>
                          </a:r>
                          <a:endParaRPr lang="en-US" altLang="zh-TW"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42554">
                    <a:tc>
                      <a:txBody>
                        <a:bodyPr/>
                        <a:lstStyle/>
                        <a:p>
                          <a:pPr algn="ct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840242"/>
                      </a:ext>
                    </a:extLst>
                  </a:tr>
                  <a:tr h="388874">
                    <a:tc>
                      <a:txBody>
                        <a:bodyPr/>
                        <a:lstStyle/>
                        <a:p>
                          <a:pPr algn="ctr"/>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14+51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i="0" dirty="0">
                              <a:solidFill>
                                <a:schemeClr val="tx1"/>
                              </a:solidFill>
                              <a:latin typeface="標楷體" panose="03000509000000000000" pitchFamily="65" charset="-120"/>
                              <a:ea typeface="標楷體" panose="03000509000000000000" pitchFamily="65" charset="-120"/>
                            </a:rPr>
                            <a:t>38+16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54+9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388874">
                    <a:tc>
                      <a:txBody>
                        <a:bodyPr/>
                        <a:lstStyle/>
                        <a:p>
                          <a:pPr algn="ctr"/>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16+9+17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38+38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19+24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36+32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388874">
                    <a:tc>
                      <a:txBody>
                        <a:bodyPr/>
                        <a:lstStyle/>
                        <a:p>
                          <a:pPr algn="ctr"/>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16+18+13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24+19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16+18+18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47+28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52+27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7932">
                    <a:tc>
                      <a:txBody>
                        <a:bodyPr/>
                        <a:lstStyle/>
                        <a:p>
                          <a:pPr algn="ctr"/>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16+11+12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16+11+10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56+19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37+32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388874">
                    <a:tc>
                      <a:txBody>
                        <a:bodyPr/>
                        <a:lstStyle/>
                        <a:p>
                          <a:pPr algn="ctr"/>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39+12+11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37+19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39+28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56+22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388874">
                    <a:tc>
                      <a:txBody>
                        <a:bodyPr/>
                        <a:lstStyle/>
                        <a:p>
                          <a:pPr algn="ctr"/>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39+13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37+9</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52+23</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59+18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46+30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388874">
                    <a:tc>
                      <a:txBody>
                        <a:bodyPr/>
                        <a:lstStyle/>
                        <a:p>
                          <a:pPr algn="ctr"/>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39+23+15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39+23+11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59+21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77+7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73+16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388874">
                    <a:tc>
                      <a:txBody>
                        <a:bodyPr/>
                        <a:lstStyle/>
                        <a:p>
                          <a:pPr algn="ctr"/>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43+16+18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37+13+12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43+16+20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77+20</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62+7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79+16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388874">
                    <a:tc>
                      <a:txBody>
                        <a:bodyPr/>
                        <a:lstStyle/>
                        <a:p>
                          <a:pPr algn="ctr"/>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43+19+5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52+15+11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52+15+14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67+18</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78+7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81+16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674422">
                    <a:tc>
                      <a:txBody>
                        <a:bodyPr/>
                        <a:lstStyle/>
                        <a:p>
                          <a:pPr algn="ctr"/>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62+13+21</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67+11+7</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67+11+16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96</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85</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94</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TW" sz="1200" b="0" i="0" dirty="0">
                              <a:solidFill>
                                <a:schemeClr val="tx1"/>
                              </a:solidFill>
                              <a:latin typeface="標楷體" panose="03000509000000000000" pitchFamily="65" charset="-120"/>
                              <a:ea typeface="標楷體" panose="03000509000000000000" pitchFamily="65" charset="-120"/>
                            </a:rPr>
                            <a:t>P2</a:t>
                          </a:r>
                          <a:endParaRPr lang="zh-TW" altLang="en-US" sz="1200" b="0" i="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81F29571-F3DE-49D1-A6B8-7824FFD6114A}"/>
              </a:ext>
            </a:extLst>
          </p:cNvPr>
          <p:cNvPicPr>
            <a:picLocks noChangeAspect="1"/>
          </p:cNvPicPr>
          <p:nvPr/>
        </p:nvPicPr>
        <p:blipFill>
          <a:blip r:embed="rId3"/>
          <a:stretch>
            <a:fillRect/>
          </a:stretch>
        </p:blipFill>
        <p:spPr>
          <a:xfrm>
            <a:off x="6555676" y="0"/>
            <a:ext cx="2637564" cy="3715415"/>
          </a:xfrm>
          <a:prstGeom prst="rect">
            <a:avLst/>
          </a:prstGeom>
        </p:spPr>
      </p:pic>
      <p:pic>
        <p:nvPicPr>
          <p:cNvPr id="6" name="圖片 5">
            <a:extLst>
              <a:ext uri="{FF2B5EF4-FFF2-40B4-BE49-F238E27FC236}">
                <a16:creationId xmlns:a16="http://schemas.microsoft.com/office/drawing/2014/main" id="{26979AF4-A06E-4C10-85A7-8BA80E60C601}"/>
              </a:ext>
            </a:extLst>
          </p:cNvPr>
          <p:cNvPicPr>
            <a:picLocks noChangeAspect="1"/>
          </p:cNvPicPr>
          <p:nvPr/>
        </p:nvPicPr>
        <p:blipFill>
          <a:blip r:embed="rId4"/>
          <a:stretch>
            <a:fillRect/>
          </a:stretch>
        </p:blipFill>
        <p:spPr>
          <a:xfrm>
            <a:off x="10180948" y="3419271"/>
            <a:ext cx="2011052" cy="3500003"/>
          </a:xfrm>
          <a:prstGeom prst="rect">
            <a:avLst/>
          </a:prstGeom>
        </p:spPr>
      </p:pic>
      <p:graphicFrame>
        <p:nvGraphicFramePr>
          <p:cNvPr id="7" name="表格 4">
            <a:extLst>
              <a:ext uri="{FF2B5EF4-FFF2-40B4-BE49-F238E27FC236}">
                <a16:creationId xmlns:a16="http://schemas.microsoft.com/office/drawing/2014/main" id="{D7432878-4003-40F3-A096-CD2D7E0B51B9}"/>
              </a:ext>
            </a:extLst>
          </p:cNvPr>
          <p:cNvGraphicFramePr>
            <a:graphicFrameLocks noGrp="1"/>
          </p:cNvGraphicFramePr>
          <p:nvPr>
            <p:extLst>
              <p:ext uri="{D42A27DB-BD31-4B8C-83A1-F6EECF244321}">
                <p14:modId xmlns:p14="http://schemas.microsoft.com/office/powerpoint/2010/main" val="3126359354"/>
              </p:ext>
            </p:extLst>
          </p:nvPr>
        </p:nvGraphicFramePr>
        <p:xfrm>
          <a:off x="6885906" y="3715415"/>
          <a:ext cx="2201095" cy="3240535"/>
        </p:xfrm>
        <a:graphic>
          <a:graphicData uri="http://schemas.openxmlformats.org/drawingml/2006/table">
            <a:tbl>
              <a:tblPr firstRow="1" bandRow="1">
                <a:tableStyleId>{5C22544A-7EE6-4342-B048-85BDC9FD1C3A}</a:tableStyleId>
              </a:tblPr>
              <a:tblGrid>
                <a:gridCol w="606870">
                  <a:extLst>
                    <a:ext uri="{9D8B030D-6E8A-4147-A177-3AD203B41FA5}">
                      <a16:colId xmlns:a16="http://schemas.microsoft.com/office/drawing/2014/main" val="239911059"/>
                    </a:ext>
                  </a:extLst>
                </a:gridCol>
                <a:gridCol w="493677">
                  <a:extLst>
                    <a:ext uri="{9D8B030D-6E8A-4147-A177-3AD203B41FA5}">
                      <a16:colId xmlns:a16="http://schemas.microsoft.com/office/drawing/2014/main" val="2696759501"/>
                    </a:ext>
                  </a:extLst>
                </a:gridCol>
                <a:gridCol w="550274">
                  <a:extLst>
                    <a:ext uri="{9D8B030D-6E8A-4147-A177-3AD203B41FA5}">
                      <a16:colId xmlns:a16="http://schemas.microsoft.com/office/drawing/2014/main" val="802323705"/>
                    </a:ext>
                  </a:extLst>
                </a:gridCol>
                <a:gridCol w="550274">
                  <a:extLst>
                    <a:ext uri="{9D8B030D-6E8A-4147-A177-3AD203B41FA5}">
                      <a16:colId xmlns:a16="http://schemas.microsoft.com/office/drawing/2014/main" val="111345989"/>
                    </a:ext>
                  </a:extLst>
                </a:gridCol>
              </a:tblGrid>
              <a:tr h="260982">
                <a:tc>
                  <a:txBody>
                    <a:bodyPr/>
                    <a:lstStyle/>
                    <a:p>
                      <a:r>
                        <a:rPr lang="en-US" altLang="zh-TW" sz="1050" b="0" dirty="0">
                          <a:solidFill>
                            <a:schemeClr val="tx1"/>
                          </a:solidFill>
                          <a:latin typeface="Times New Roman" panose="02020603050405020304" pitchFamily="18" charset="0"/>
                          <a:cs typeface="Times New Roman" panose="02020603050405020304" pitchFamily="18" charset="0"/>
                        </a:rPr>
                        <a:t>      </a:t>
                      </a:r>
                      <a:r>
                        <a:rPr lang="en-US" altLang="zh-TW" sz="800" b="0" dirty="0">
                          <a:solidFill>
                            <a:schemeClr val="tx1"/>
                          </a:solidFill>
                          <a:latin typeface="Times New Roman" panose="02020603050405020304" pitchFamily="18" charset="0"/>
                          <a:cs typeface="Times New Roman" panose="02020603050405020304" pitchFamily="18" charset="0"/>
                        </a:rPr>
                        <a:t>OCT</a:t>
                      </a:r>
                    </a:p>
                    <a:p>
                      <a:r>
                        <a:rPr lang="en-US" altLang="zh-TW" sz="1000" b="0" dirty="0">
                          <a:solidFill>
                            <a:schemeClr val="tx1"/>
                          </a:solidFill>
                          <a:latin typeface="Times New Roman" panose="02020603050405020304" pitchFamily="18" charset="0"/>
                          <a:cs typeface="Times New Roman" panose="02020603050405020304" pitchFamily="18" charset="0"/>
                        </a:rPr>
                        <a:t>Task</a:t>
                      </a:r>
                      <a:endParaRPr lang="zh-TW" altLang="en-US" sz="1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260982">
                <a:tc>
                  <a:txBody>
                    <a:bodyPr/>
                    <a:lstStyle/>
                    <a:p>
                      <a:r>
                        <a:rPr lang="en-US" altLang="zh-TW" sz="1200" b="0" i="0" dirty="0">
                          <a:solidFill>
                            <a:schemeClr val="tx1"/>
                          </a:solidFill>
                        </a:rPr>
                        <a:t>T1</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54</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260982">
                <a:tc>
                  <a:txBody>
                    <a:bodyPr/>
                    <a:lstStyle/>
                    <a:p>
                      <a:r>
                        <a:rPr lang="en-US" altLang="zh-TW" sz="1200" b="0" i="0" dirty="0">
                          <a:solidFill>
                            <a:schemeClr val="tx1"/>
                          </a:solidFill>
                        </a:rPr>
                        <a:t>T4</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0">
                <a:tc>
                  <a:txBody>
                    <a:bodyPr/>
                    <a:lstStyle/>
                    <a:p>
                      <a:r>
                        <a:rPr lang="en-US" altLang="zh-TW" sz="1200" b="0" i="0" dirty="0">
                          <a:solidFill>
                            <a:schemeClr val="tx1"/>
                          </a:solidFill>
                        </a:rPr>
                        <a:t>T2</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260982">
                <a:tc>
                  <a:txBody>
                    <a:bodyPr/>
                    <a:lstStyle/>
                    <a:p>
                      <a:r>
                        <a:rPr lang="en-US" altLang="zh-TW" sz="1200" b="0" i="0" dirty="0">
                          <a:solidFill>
                            <a:schemeClr val="tx1"/>
                          </a:solidFill>
                        </a:rPr>
                        <a:t>T5</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260982">
                <a:tc>
                  <a:txBody>
                    <a:bodyPr/>
                    <a:lstStyle/>
                    <a:p>
                      <a:r>
                        <a:rPr lang="en-US" altLang="zh-TW" sz="1200" b="0" i="0" dirty="0">
                          <a:solidFill>
                            <a:schemeClr val="tx1"/>
                          </a:solidFill>
                        </a:rPr>
                        <a:t>T3</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260982">
                <a:tc>
                  <a:txBody>
                    <a:bodyPr/>
                    <a:lstStyle/>
                    <a:p>
                      <a:r>
                        <a:rPr lang="en-US" altLang="zh-TW" sz="1200" b="0" i="0" dirty="0">
                          <a:solidFill>
                            <a:schemeClr val="tx1"/>
                          </a:solidFill>
                        </a:rPr>
                        <a:t>T6</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260982">
                <a:tc>
                  <a:txBody>
                    <a:bodyPr/>
                    <a:lstStyle/>
                    <a:p>
                      <a:r>
                        <a:rPr lang="en-US" altLang="zh-TW" sz="1200" b="0" i="0" dirty="0">
                          <a:solidFill>
                            <a:schemeClr val="tx1"/>
                          </a:solidFill>
                        </a:rPr>
                        <a:t>T7</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260982">
                <a:tc>
                  <a:txBody>
                    <a:bodyPr/>
                    <a:lstStyle/>
                    <a:p>
                      <a:r>
                        <a:rPr lang="en-US" altLang="zh-TW" sz="1200" b="0" i="0" dirty="0">
                          <a:solidFill>
                            <a:schemeClr val="tx1"/>
                          </a:solidFill>
                        </a:rPr>
                        <a:t>T9</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260982">
                <a:tc>
                  <a:txBody>
                    <a:bodyPr/>
                    <a:lstStyle/>
                    <a:p>
                      <a:r>
                        <a:rPr lang="en-US" altLang="zh-TW" sz="1200" b="0" i="0" dirty="0">
                          <a:solidFill>
                            <a:schemeClr val="tx1"/>
                          </a:solidFill>
                        </a:rPr>
                        <a:t>T8</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367795">
                <a:tc>
                  <a:txBody>
                    <a:bodyPr/>
                    <a:lstStyle/>
                    <a:p>
                      <a:r>
                        <a:rPr lang="en-US" altLang="zh-TW" sz="1200" b="0" i="0" dirty="0">
                          <a:solidFill>
                            <a:schemeClr val="tx1"/>
                          </a:solidFill>
                        </a:rPr>
                        <a:t>T10</a:t>
                      </a:r>
                      <a:endParaRPr lang="zh-TW" altLang="en-US" sz="12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sz="1200"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321A8BEE-D63B-439B-88CA-296A842252F4}"/>
              </a:ext>
            </a:extLst>
          </p:cNvPr>
          <p:cNvPicPr>
            <a:picLocks noChangeAspect="1"/>
          </p:cNvPicPr>
          <p:nvPr/>
        </p:nvPicPr>
        <p:blipFill>
          <a:blip r:embed="rId5"/>
          <a:stretch>
            <a:fillRect/>
          </a:stretch>
        </p:blipFill>
        <p:spPr>
          <a:xfrm>
            <a:off x="9087001" y="178736"/>
            <a:ext cx="3104999" cy="3113346"/>
          </a:xfrm>
          <a:prstGeom prst="rect">
            <a:avLst/>
          </a:prstGeom>
        </p:spPr>
      </p:pic>
    </p:spTree>
    <p:extLst>
      <p:ext uri="{BB962C8B-B14F-4D97-AF65-F5344CB8AC3E}">
        <p14:creationId xmlns:p14="http://schemas.microsoft.com/office/powerpoint/2010/main" val="378664660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A3C5F3-B78B-497D-9F80-85C3F2AD1ED0}"/>
              </a:ext>
            </a:extLst>
          </p:cNvPr>
          <p:cNvSpPr>
            <a:spLocks noGrp="1"/>
          </p:cNvSpPr>
          <p:nvPr>
            <p:ph type="title"/>
          </p:nvPr>
        </p:nvSpPr>
        <p:spPr/>
        <p:txBody>
          <a:bodyPr/>
          <a:lstStyle/>
          <a:p>
            <a:r>
              <a:rPr lang="en-US" altLang="zh-TW" dirty="0"/>
              <a:t>3.2.1</a:t>
            </a:r>
            <a:endParaRPr lang="zh-TW" altLang="en-US" dirty="0"/>
          </a:p>
        </p:txBody>
      </p:sp>
      <p:sp>
        <p:nvSpPr>
          <p:cNvPr id="3" name="內容版面配置區 2">
            <a:extLst>
              <a:ext uri="{FF2B5EF4-FFF2-40B4-BE49-F238E27FC236}">
                <a16:creationId xmlns:a16="http://schemas.microsoft.com/office/drawing/2014/main" id="{9B5A9C71-4160-456A-A413-BEB180D8F056}"/>
              </a:ext>
            </a:extLst>
          </p:cNvPr>
          <p:cNvSpPr>
            <a:spLocks noGrp="1"/>
          </p:cNvSpPr>
          <p:nvPr>
            <p:ph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 詳細信息如下：</a:t>
            </a:r>
          </a:p>
        </p:txBody>
      </p:sp>
    </p:spTree>
    <p:extLst>
      <p:ext uri="{BB962C8B-B14F-4D97-AF65-F5344CB8AC3E}">
        <p14:creationId xmlns:p14="http://schemas.microsoft.com/office/powerpoint/2010/main" val="90705068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727E93-927D-47F3-ABCB-F623958E9FA3}"/>
              </a:ext>
            </a:extLst>
          </p:cNvPr>
          <p:cNvSpPr>
            <a:spLocks noGrp="1"/>
          </p:cNvSpPr>
          <p:nvPr>
            <p:ph type="title"/>
          </p:nvPr>
        </p:nvSpPr>
        <p:spPr/>
        <p:txBody>
          <a:bodyPr/>
          <a:lstStyle/>
          <a:p>
            <a:r>
              <a:rPr lang="en-US" altLang="zh-TW" dirty="0"/>
              <a:t>1</a:t>
            </a:r>
            <a:endParaRPr lang="zh-TW" altLang="en-US" dirty="0"/>
          </a:p>
        </p:txBody>
      </p:sp>
      <p:sp>
        <p:nvSpPr>
          <p:cNvPr id="3" name="內容版面配置區 2">
            <a:extLst>
              <a:ext uri="{FF2B5EF4-FFF2-40B4-BE49-F238E27FC236}">
                <a16:creationId xmlns:a16="http://schemas.microsoft.com/office/drawing/2014/main" id="{A682435C-4E09-4D0C-B892-93237E7686C1}"/>
              </a:ext>
            </a:extLst>
          </p:cNvPr>
          <p:cNvSpPr>
            <a:spLocks noGrp="1"/>
          </p:cNvSpPr>
          <p:nvPr>
            <p:ph idx="1"/>
          </p:nvPr>
        </p:nvSpPr>
        <p:spPr/>
        <p:txBody>
          <a:bodyPr/>
          <a:lstStyle/>
          <a:p>
            <a:pPr rtl="0"/>
            <a:r>
              <a:rPr lang="zh-TW" altLang="en-US" dirty="0">
                <a:solidFill>
                  <a:srgbClr val="000000"/>
                </a:solidFill>
                <a:effectLst/>
              </a:rPr>
              <a:t>但受到處理器利用率超載的限制。 </a:t>
            </a:r>
            <a:r>
              <a:rPr lang="zh-TW" altLang="en-US" dirty="0">
                <a:solidFill>
                  <a:srgbClr val="FF0000"/>
                </a:solidFill>
                <a:effectLst/>
              </a:rPr>
              <a:t>對於輸入任務，因為它是第一個計劃任務，所以無需考慮處理器超載問題。 僅輸入任務需要以下複製選擇策略：</a:t>
            </a:r>
            <a:r>
              <a:rPr lang="zh-TW" altLang="en-US" dirty="0">
                <a:solidFill>
                  <a:srgbClr val="000000"/>
                </a:solidFill>
                <a:effectLst/>
              </a:rPr>
              <a:t> 選擇對進入任務產生最小</a:t>
            </a:r>
            <a:r>
              <a:rPr lang="en-US" altLang="zh-TW" dirty="0">
                <a:solidFill>
                  <a:srgbClr val="000000"/>
                </a:solidFill>
                <a:effectLst/>
              </a:rPr>
              <a:t>EFT</a:t>
            </a:r>
            <a:r>
              <a:rPr lang="zh-TW" altLang="en-US" dirty="0">
                <a:solidFill>
                  <a:srgbClr val="000000"/>
                </a:solidFill>
                <a:effectLst/>
              </a:rPr>
              <a:t>的處理器</a:t>
            </a:r>
            <a:r>
              <a:rPr lang="en-US" altLang="zh-TW" dirty="0" err="1">
                <a:solidFill>
                  <a:srgbClr val="000000"/>
                </a:solidFill>
                <a:effectLst/>
              </a:rPr>
              <a:t>pj</a:t>
            </a:r>
            <a:r>
              <a:rPr lang="zh-TW" altLang="en-US" dirty="0">
                <a:solidFill>
                  <a:srgbClr val="000000"/>
                </a:solidFill>
                <a:effectLst/>
              </a:rPr>
              <a:t>； 確定是否需要復制其他處理器</a:t>
            </a:r>
            <a:r>
              <a:rPr lang="en-US" altLang="zh-TW" dirty="0">
                <a:solidFill>
                  <a:srgbClr val="000000"/>
                </a:solidFill>
                <a:effectLst/>
              </a:rPr>
              <a:t>Pi</a:t>
            </a:r>
            <a:r>
              <a:rPr lang="zh-TW" altLang="en-US" dirty="0">
                <a:solidFill>
                  <a:srgbClr val="000000"/>
                </a:solidFill>
                <a:effectLst/>
              </a:rPr>
              <a:t>（</a:t>
            </a:r>
            <a:r>
              <a:rPr lang="en-US" altLang="zh-TW" dirty="0" err="1">
                <a:solidFill>
                  <a:srgbClr val="000000"/>
                </a:solidFill>
                <a:effectLst/>
              </a:rPr>
              <a:t>pi∈P</a:t>
            </a:r>
            <a:r>
              <a:rPr lang="zh-TW" altLang="en-US" dirty="0">
                <a:solidFill>
                  <a:srgbClr val="000000"/>
                </a:solidFill>
                <a:effectLst/>
              </a:rPr>
              <a:t>）中的輸入任務。 </a:t>
            </a:r>
            <a:endParaRPr lang="en-US" altLang="zh-TW" dirty="0">
              <a:solidFill>
                <a:srgbClr val="000000"/>
              </a:solidFill>
              <a:effectLst/>
            </a:endParaRPr>
          </a:p>
          <a:p>
            <a:pPr rtl="0"/>
            <a:r>
              <a:rPr lang="zh-TW" altLang="en-US" dirty="0">
                <a:solidFill>
                  <a:srgbClr val="000000"/>
                </a:solidFill>
                <a:effectLst/>
              </a:rPr>
              <a:t>則在</a:t>
            </a:r>
            <a:r>
              <a:rPr lang="en-US" altLang="zh-TW" dirty="0">
                <a:solidFill>
                  <a:srgbClr val="000000"/>
                </a:solidFill>
                <a:effectLst/>
              </a:rPr>
              <a:t>pi</a:t>
            </a:r>
            <a:r>
              <a:rPr lang="zh-TW" altLang="en-US" dirty="0">
                <a:solidFill>
                  <a:srgbClr val="000000"/>
                </a:solidFill>
                <a:effectLst/>
              </a:rPr>
              <a:t>中執行</a:t>
            </a:r>
            <a:r>
              <a:rPr lang="en-US" altLang="zh-TW" dirty="0">
                <a:solidFill>
                  <a:srgbClr val="000000"/>
                </a:solidFill>
                <a:effectLst/>
              </a:rPr>
              <a:t>Entry Task </a:t>
            </a:r>
            <a:r>
              <a:rPr lang="en-US" altLang="zh-TW" dirty="0" err="1">
                <a:solidFill>
                  <a:srgbClr val="000000"/>
                </a:solidFill>
                <a:effectLst/>
              </a:rPr>
              <a:t>Duplicat</a:t>
            </a:r>
            <a:r>
              <a:rPr lang="zh-TW" altLang="en-US" dirty="0">
                <a:solidFill>
                  <a:srgbClr val="000000"/>
                </a:solidFill>
                <a:effectLst/>
              </a:rPr>
              <a:t>，</a:t>
            </a:r>
            <a:endParaRPr lang="en-US" altLang="zh-TW" dirty="0">
              <a:solidFill>
                <a:srgbClr val="000000"/>
              </a:solidFill>
              <a:effectLst/>
            </a:endParaRPr>
          </a:p>
          <a:p>
            <a:pPr rtl="0"/>
            <a:r>
              <a:rPr lang="zh-TW" altLang="en-US" dirty="0"/>
              <a:t>即每個處理器的進入任務重複判斷已經完成；輸入任務（</a:t>
            </a:r>
            <a:r>
              <a:rPr lang="en-US" altLang="zh-TW" dirty="0" err="1"/>
              <a:t>vn</a:t>
            </a:r>
            <a:r>
              <a:rPr lang="zh-TW" altLang="en-US" dirty="0"/>
              <a:t>）的所有直接後繼節點都是已調度的，不需要輸入任務即可傳輸數據。</a:t>
            </a:r>
            <a:endParaRPr lang="zh-TW" altLang="en-US" dirty="0">
              <a:solidFill>
                <a:srgbClr val="000000"/>
              </a:solidFill>
              <a:effectLst/>
            </a:endParaRPr>
          </a:p>
          <a:p>
            <a:endParaRPr lang="zh-TW" altLang="en-US" dirty="0"/>
          </a:p>
        </p:txBody>
      </p:sp>
    </p:spTree>
    <p:extLst>
      <p:ext uri="{BB962C8B-B14F-4D97-AF65-F5344CB8AC3E}">
        <p14:creationId xmlns:p14="http://schemas.microsoft.com/office/powerpoint/2010/main" val="30687721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D6BB8B-6E28-4D30-9DF4-277E82113194}"/>
              </a:ext>
            </a:extLst>
          </p:cNvPr>
          <p:cNvSpPr>
            <a:spLocks noGrp="1"/>
          </p:cNvSpPr>
          <p:nvPr>
            <p:ph type="title"/>
          </p:nvPr>
        </p:nvSpPr>
        <p:spPr/>
        <p:txBody>
          <a:bodyPr/>
          <a:lstStyle/>
          <a:p>
            <a:r>
              <a:rPr lang="en-US" altLang="zh-TW" b="0" i="0" dirty="0">
                <a:solidFill>
                  <a:srgbClr val="333333"/>
                </a:solidFill>
                <a:effectLst/>
                <a:latin typeface="Georgia" panose="02040502050405020303" pitchFamily="18" charset="0"/>
              </a:rPr>
              <a:t>Heterogeneous Scheduling with Improved Task Priority (HSIP)</a:t>
            </a:r>
            <a:endParaRPr lang="zh-TW" altLang="en-US" dirty="0"/>
          </a:p>
        </p:txBody>
      </p:sp>
      <p:sp>
        <p:nvSpPr>
          <p:cNvPr id="3" name="內容版面配置區 2">
            <a:extLst>
              <a:ext uri="{FF2B5EF4-FFF2-40B4-BE49-F238E27FC236}">
                <a16:creationId xmlns:a16="http://schemas.microsoft.com/office/drawing/2014/main" id="{D5557D2A-54DA-4707-977B-3EA2AF9007F3}"/>
              </a:ext>
            </a:extLst>
          </p:cNvPr>
          <p:cNvSpPr>
            <a:spLocks noGrp="1"/>
          </p:cNvSpPr>
          <p:nvPr>
            <p:ph idx="1"/>
          </p:nvPr>
        </p:nvSpPr>
        <p:spPr/>
        <p:txBody>
          <a:bodyPr/>
          <a:lstStyle/>
          <a:p>
            <a:endParaRPr lang="zh-TW" altLang="en-US" dirty="0"/>
          </a:p>
        </p:txBody>
      </p:sp>
    </p:spTree>
    <p:extLst>
      <p:ext uri="{BB962C8B-B14F-4D97-AF65-F5344CB8AC3E}">
        <p14:creationId xmlns:p14="http://schemas.microsoft.com/office/powerpoint/2010/main" val="97394555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46F39C90-9989-4D6A-A87E-4CEAEDC977E3}"/>
              </a:ext>
            </a:extLst>
          </p:cNvPr>
          <p:cNvPicPr>
            <a:picLocks noChangeAspect="1"/>
          </p:cNvPicPr>
          <p:nvPr/>
        </p:nvPicPr>
        <p:blipFill>
          <a:blip r:embed="rId2"/>
          <a:stretch>
            <a:fillRect/>
          </a:stretch>
        </p:blipFill>
        <p:spPr>
          <a:xfrm>
            <a:off x="6305550" y="0"/>
            <a:ext cx="5674206" cy="3695700"/>
          </a:xfrm>
          <a:prstGeom prst="rect">
            <a:avLst/>
          </a:prstGeom>
        </p:spPr>
      </p:pic>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1550356265"/>
              </p:ext>
            </p:extLst>
          </p:nvPr>
        </p:nvGraphicFramePr>
        <p:xfrm>
          <a:off x="398439" y="168813"/>
          <a:ext cx="5907111" cy="4995316"/>
        </p:xfrm>
        <a:graphic>
          <a:graphicData uri="http://schemas.openxmlformats.org/drawingml/2006/table">
            <a:tbl>
              <a:tblPr firstRow="1" bandRow="1">
                <a:tableStyleId>{5C22544A-7EE6-4342-B048-85BDC9FD1C3A}</a:tableStyleId>
              </a:tblPr>
              <a:tblGrid>
                <a:gridCol w="554872">
                  <a:extLst>
                    <a:ext uri="{9D8B030D-6E8A-4147-A177-3AD203B41FA5}">
                      <a16:colId xmlns:a16="http://schemas.microsoft.com/office/drawing/2014/main" val="239911059"/>
                    </a:ext>
                  </a:extLst>
                </a:gridCol>
                <a:gridCol w="739302">
                  <a:extLst>
                    <a:ext uri="{9D8B030D-6E8A-4147-A177-3AD203B41FA5}">
                      <a16:colId xmlns:a16="http://schemas.microsoft.com/office/drawing/2014/main" val="2696759501"/>
                    </a:ext>
                  </a:extLst>
                </a:gridCol>
                <a:gridCol w="1293778">
                  <a:extLst>
                    <a:ext uri="{9D8B030D-6E8A-4147-A177-3AD203B41FA5}">
                      <a16:colId xmlns:a16="http://schemas.microsoft.com/office/drawing/2014/main" val="65385490"/>
                    </a:ext>
                  </a:extLst>
                </a:gridCol>
                <a:gridCol w="1257850">
                  <a:extLst>
                    <a:ext uri="{9D8B030D-6E8A-4147-A177-3AD203B41FA5}">
                      <a16:colId xmlns:a16="http://schemas.microsoft.com/office/drawing/2014/main" val="802323705"/>
                    </a:ext>
                  </a:extLst>
                </a:gridCol>
                <a:gridCol w="1143765">
                  <a:extLst>
                    <a:ext uri="{9D8B030D-6E8A-4147-A177-3AD203B41FA5}">
                      <a16:colId xmlns:a16="http://schemas.microsoft.com/office/drawing/2014/main" val="111345989"/>
                    </a:ext>
                  </a:extLst>
                </a:gridCol>
                <a:gridCol w="917544">
                  <a:extLst>
                    <a:ext uri="{9D8B030D-6E8A-4147-A177-3AD203B41FA5}">
                      <a16:colId xmlns:a16="http://schemas.microsoft.com/office/drawing/2014/main" val="1167941338"/>
                    </a:ext>
                  </a:extLst>
                </a:gridCol>
              </a:tblGrid>
              <a:tr h="91439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2654">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F4E8A9CA-0C80-4D70-B538-6ECF36071FBA}"/>
              </a:ext>
            </a:extLst>
          </p:cNvPr>
          <p:cNvPicPr>
            <a:picLocks noChangeAspect="1"/>
          </p:cNvPicPr>
          <p:nvPr/>
        </p:nvPicPr>
        <p:blipFill>
          <a:blip r:embed="rId3"/>
          <a:stretch>
            <a:fillRect/>
          </a:stretch>
        </p:blipFill>
        <p:spPr>
          <a:xfrm>
            <a:off x="9355161" y="5080415"/>
            <a:ext cx="2438400" cy="1114425"/>
          </a:xfrm>
          <a:prstGeom prst="rect">
            <a:avLst/>
          </a:prstGeom>
        </p:spPr>
      </p:pic>
    </p:spTree>
    <p:extLst>
      <p:ext uri="{BB962C8B-B14F-4D97-AF65-F5344CB8AC3E}">
        <p14:creationId xmlns:p14="http://schemas.microsoft.com/office/powerpoint/2010/main" val="28450465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7318126-136C-4D99-8FDD-A12E4F6188C6}"/>
              </a:ext>
            </a:extLst>
          </p:cNvPr>
          <p:cNvPicPr>
            <a:picLocks noChangeAspect="1"/>
          </p:cNvPicPr>
          <p:nvPr/>
        </p:nvPicPr>
        <p:blipFill>
          <a:blip r:embed="rId2"/>
          <a:stretch>
            <a:fillRect/>
          </a:stretch>
        </p:blipFill>
        <p:spPr>
          <a:xfrm>
            <a:off x="8505825" y="3497080"/>
            <a:ext cx="3686175" cy="1400175"/>
          </a:xfrm>
          <a:prstGeom prst="rect">
            <a:avLst/>
          </a:prstGeom>
        </p:spPr>
      </p:pic>
      <p:pic>
        <p:nvPicPr>
          <p:cNvPr id="5" name="圖片 4">
            <a:extLst>
              <a:ext uri="{FF2B5EF4-FFF2-40B4-BE49-F238E27FC236}">
                <a16:creationId xmlns:a16="http://schemas.microsoft.com/office/drawing/2014/main" id="{46F39C90-9989-4D6A-A87E-4CEAEDC977E3}"/>
              </a:ext>
            </a:extLst>
          </p:cNvPr>
          <p:cNvPicPr>
            <a:picLocks noChangeAspect="1"/>
          </p:cNvPicPr>
          <p:nvPr/>
        </p:nvPicPr>
        <p:blipFill>
          <a:blip r:embed="rId3"/>
          <a:stretch>
            <a:fillRect/>
          </a:stretch>
        </p:blipFill>
        <p:spPr>
          <a:xfrm>
            <a:off x="6305550" y="0"/>
            <a:ext cx="5674206" cy="3695700"/>
          </a:xfrm>
          <a:prstGeom prst="rect">
            <a:avLst/>
          </a:prstGeom>
        </p:spPr>
      </p:pic>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4263000240"/>
              </p:ext>
            </p:extLst>
          </p:nvPr>
        </p:nvGraphicFramePr>
        <p:xfrm>
          <a:off x="631345" y="168813"/>
          <a:ext cx="5674205" cy="4995316"/>
        </p:xfrm>
        <a:graphic>
          <a:graphicData uri="http://schemas.openxmlformats.org/drawingml/2006/table">
            <a:tbl>
              <a:tblPr firstRow="1" bandRow="1">
                <a:tableStyleId>{5C22544A-7EE6-4342-B048-85BDC9FD1C3A}</a:tableStyleId>
              </a:tblPr>
              <a:tblGrid>
                <a:gridCol w="594340">
                  <a:extLst>
                    <a:ext uri="{9D8B030D-6E8A-4147-A177-3AD203B41FA5}">
                      <a16:colId xmlns:a16="http://schemas.microsoft.com/office/drawing/2014/main" val="239911059"/>
                    </a:ext>
                  </a:extLst>
                </a:gridCol>
                <a:gridCol w="797668">
                  <a:extLst>
                    <a:ext uri="{9D8B030D-6E8A-4147-A177-3AD203B41FA5}">
                      <a16:colId xmlns:a16="http://schemas.microsoft.com/office/drawing/2014/main" val="2696759501"/>
                    </a:ext>
                  </a:extLst>
                </a:gridCol>
                <a:gridCol w="1313234">
                  <a:extLst>
                    <a:ext uri="{9D8B030D-6E8A-4147-A177-3AD203B41FA5}">
                      <a16:colId xmlns:a16="http://schemas.microsoft.com/office/drawing/2014/main" val="65385490"/>
                    </a:ext>
                  </a:extLst>
                </a:gridCol>
                <a:gridCol w="1215958">
                  <a:extLst>
                    <a:ext uri="{9D8B030D-6E8A-4147-A177-3AD203B41FA5}">
                      <a16:colId xmlns:a16="http://schemas.microsoft.com/office/drawing/2014/main" val="802323705"/>
                    </a:ext>
                  </a:extLst>
                </a:gridCol>
                <a:gridCol w="871638">
                  <a:extLst>
                    <a:ext uri="{9D8B030D-6E8A-4147-A177-3AD203B41FA5}">
                      <a16:colId xmlns:a16="http://schemas.microsoft.com/office/drawing/2014/main" val="111345989"/>
                    </a:ext>
                  </a:extLst>
                </a:gridCol>
                <a:gridCol w="881367">
                  <a:extLst>
                    <a:ext uri="{9D8B030D-6E8A-4147-A177-3AD203B41FA5}">
                      <a16:colId xmlns:a16="http://schemas.microsoft.com/office/drawing/2014/main" val="1167941338"/>
                    </a:ext>
                  </a:extLst>
                </a:gridCol>
              </a:tblGrid>
              <a:tr h="91439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2654">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pic>
        <p:nvPicPr>
          <p:cNvPr id="8" name="圖片 7">
            <a:extLst>
              <a:ext uri="{FF2B5EF4-FFF2-40B4-BE49-F238E27FC236}">
                <a16:creationId xmlns:a16="http://schemas.microsoft.com/office/drawing/2014/main" id="{F4E8A9CA-0C80-4D70-B538-6ECF36071FBA}"/>
              </a:ext>
            </a:extLst>
          </p:cNvPr>
          <p:cNvPicPr>
            <a:picLocks noChangeAspect="1"/>
          </p:cNvPicPr>
          <p:nvPr/>
        </p:nvPicPr>
        <p:blipFill>
          <a:blip r:embed="rId4"/>
          <a:stretch>
            <a:fillRect/>
          </a:stretch>
        </p:blipFill>
        <p:spPr>
          <a:xfrm>
            <a:off x="9355161" y="5080415"/>
            <a:ext cx="2438400" cy="1114425"/>
          </a:xfrm>
          <a:prstGeom prst="rect">
            <a:avLst/>
          </a:prstGeom>
        </p:spPr>
      </p:pic>
    </p:spTree>
    <p:extLst>
      <p:ext uri="{BB962C8B-B14F-4D97-AF65-F5344CB8AC3E}">
        <p14:creationId xmlns:p14="http://schemas.microsoft.com/office/powerpoint/2010/main" val="410136307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4">
            <a:extLst>
              <a:ext uri="{FF2B5EF4-FFF2-40B4-BE49-F238E27FC236}">
                <a16:creationId xmlns:a16="http://schemas.microsoft.com/office/drawing/2014/main" id="{B2309EA4-1FC4-42C1-8FDB-6E188E0B2200}"/>
              </a:ext>
            </a:extLst>
          </p:cNvPr>
          <p:cNvPicPr>
            <a:picLocks noChangeAspect="1"/>
          </p:cNvPicPr>
          <p:nvPr/>
        </p:nvPicPr>
        <p:blipFill>
          <a:blip r:embed="rId2"/>
          <a:stretch>
            <a:fillRect/>
          </a:stretch>
        </p:blipFill>
        <p:spPr>
          <a:xfrm>
            <a:off x="6621486" y="3695700"/>
            <a:ext cx="5467350" cy="895350"/>
          </a:xfrm>
          <a:prstGeom prst="rect">
            <a:avLst/>
          </a:prstGeom>
        </p:spPr>
      </p:pic>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2069845040"/>
                  </p:ext>
                </p:extLst>
              </p:nvPr>
            </p:nvGraphicFramePr>
            <p:xfrm>
              <a:off x="631345" y="168813"/>
              <a:ext cx="5674205" cy="5234478"/>
            </p:xfrm>
            <a:graphic>
              <a:graphicData uri="http://schemas.openxmlformats.org/drawingml/2006/table">
                <a:tbl>
                  <a:tblPr firstRow="1" bandRow="1">
                    <a:tableStyleId>{5C22544A-7EE6-4342-B048-85BDC9FD1C3A}</a:tableStyleId>
                  </a:tblPr>
                  <a:tblGrid>
                    <a:gridCol w="564799">
                      <a:extLst>
                        <a:ext uri="{9D8B030D-6E8A-4147-A177-3AD203B41FA5}">
                          <a16:colId xmlns:a16="http://schemas.microsoft.com/office/drawing/2014/main" val="239911059"/>
                        </a:ext>
                      </a:extLst>
                    </a:gridCol>
                    <a:gridCol w="734763">
                      <a:extLst>
                        <a:ext uri="{9D8B030D-6E8A-4147-A177-3AD203B41FA5}">
                          <a16:colId xmlns:a16="http://schemas.microsoft.com/office/drawing/2014/main" val="2696759501"/>
                        </a:ext>
                      </a:extLst>
                    </a:gridCol>
                    <a:gridCol w="995173">
                      <a:extLst>
                        <a:ext uri="{9D8B030D-6E8A-4147-A177-3AD203B41FA5}">
                          <a16:colId xmlns:a16="http://schemas.microsoft.com/office/drawing/2014/main" val="1698922967"/>
                        </a:ext>
                      </a:extLst>
                    </a:gridCol>
                    <a:gridCol w="1258098">
                      <a:extLst>
                        <a:ext uri="{9D8B030D-6E8A-4147-A177-3AD203B41FA5}">
                          <a16:colId xmlns:a16="http://schemas.microsoft.com/office/drawing/2014/main" val="802323705"/>
                        </a:ext>
                      </a:extLst>
                    </a:gridCol>
                    <a:gridCol w="1133484">
                      <a:extLst>
                        <a:ext uri="{9D8B030D-6E8A-4147-A177-3AD203B41FA5}">
                          <a16:colId xmlns:a16="http://schemas.microsoft.com/office/drawing/2014/main" val="111345989"/>
                        </a:ext>
                      </a:extLst>
                    </a:gridCol>
                    <a:gridCol w="987888">
                      <a:extLst>
                        <a:ext uri="{9D8B030D-6E8A-4147-A177-3AD203B41FA5}">
                          <a16:colId xmlns:a16="http://schemas.microsoft.com/office/drawing/2014/main" val="1167941338"/>
                        </a:ext>
                      </a:extLst>
                    </a:gridCol>
                  </a:tblGrid>
                  <a:tr h="91439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sSub>
                                <m:sSubPr>
                                  <m:ctrlPr>
                                    <a:rPr lang="en-US" altLang="zh-TW" sz="1800" b="0" i="1" u="none" strike="noStrike" kern="1200" smtClean="0">
                                      <a:solidFill>
                                        <a:schemeClr val="tx1"/>
                                      </a:solidFill>
                                      <a:effectLst/>
                                      <a:latin typeface="Cambria Math" panose="02040503050406030204" pitchFamily="18" charset="0"/>
                                      <a:ea typeface="+mn-ea"/>
                                      <a:cs typeface="+mn-cs"/>
                                    </a:rPr>
                                  </m:ctrlPr>
                                </m:sSubPr>
                                <m:e>
                                  <m:r>
                                    <a:rPr lang="en-US" altLang="zh-TW" sz="1800" b="0" i="1" u="none" strike="noStrike" kern="1200" smtClean="0">
                                      <a:solidFill>
                                        <a:schemeClr val="tx1"/>
                                      </a:solidFill>
                                      <a:effectLst/>
                                      <a:latin typeface="Cambria Math" panose="02040503050406030204" pitchFamily="18" charset="0"/>
                                      <a:ea typeface="+mn-ea"/>
                                      <a:cs typeface="+mn-cs"/>
                                    </a:rPr>
                                    <m:t>𝑅𝑎𝑛𝑘</m:t>
                                  </m:r>
                                </m:e>
                                <m:sub>
                                  <m:r>
                                    <a:rPr lang="en-US" altLang="zh-TW" sz="1800" b="0" i="1" u="none" strike="noStrike" kern="1200" smtClean="0">
                                      <a:solidFill>
                                        <a:schemeClr val="tx1"/>
                                      </a:solidFill>
                                      <a:effectLst/>
                                      <a:latin typeface="Cambria Math" panose="02040503050406030204" pitchFamily="18" charset="0"/>
                                      <a:ea typeface="+mn-ea"/>
                                      <a:cs typeface="+mn-cs"/>
                                    </a:rPr>
                                    <m:t>𝑢</m:t>
                                  </m:r>
                                </m:sub>
                              </m:sSub>
                            </m:oMath>
                          </a14:m>
                          <a:r>
                            <a:rPr lang="en-US" altLang="zh-TW" sz="1800" b="0" i="0" u="none" strike="noStrike" kern="1200" dirty="0">
                              <a:solidFill>
                                <a:schemeClr val="tx1"/>
                              </a:solidFill>
                              <a:effectLst/>
                              <a:latin typeface="+mn-lt"/>
                              <a:ea typeface="+mn-ea"/>
                              <a:cs typeface="+mn-cs"/>
                            </a:rPr>
                            <a:t>(</a:t>
                          </a:r>
                          <a14:m>
                            <m:oMath xmlns:m="http://schemas.openxmlformats.org/officeDocument/2006/math">
                              <m:sSub>
                                <m:sSubPr>
                                  <m:ctrlPr>
                                    <a:rPr lang="el-GR" altLang="zh-TW" sz="1800" b="0" i="1" u="none" strike="noStrike" kern="1200" dirty="0" smtClean="0">
                                      <a:solidFill>
                                        <a:schemeClr val="tx1"/>
                                      </a:solidFill>
                                      <a:effectLst/>
                                      <a:latin typeface="Cambria Math" panose="02040503050406030204" pitchFamily="18" charset="0"/>
                                      <a:ea typeface="+mn-ea"/>
                                      <a:cs typeface="+mn-cs"/>
                                    </a:rPr>
                                  </m:ctrlPr>
                                </m:sSubPr>
                                <m:e>
                                  <m:r>
                                    <a:rPr lang="en-US" altLang="zh-TW" sz="1800" b="0" i="1" u="none" strike="noStrike" kern="1200" dirty="0" smtClean="0">
                                      <a:solidFill>
                                        <a:schemeClr val="tx1"/>
                                      </a:solidFill>
                                      <a:effectLst/>
                                      <a:latin typeface="Cambria Math" panose="02040503050406030204" pitchFamily="18" charset="0"/>
                                      <a:ea typeface="+mn-ea"/>
                                      <a:cs typeface="+mn-cs"/>
                                    </a:rPr>
                                    <m:t>𝑣</m:t>
                                  </m:r>
                                </m:e>
                                <m:sub>
                                  <m:r>
                                    <a:rPr lang="en-US" altLang="zh-TW" sz="1800" b="0" i="1" u="none" strike="noStrike" kern="1200" dirty="0" smtClean="0">
                                      <a:solidFill>
                                        <a:schemeClr val="tx1"/>
                                      </a:solidFill>
                                      <a:effectLst/>
                                      <a:latin typeface="Cambria Math" panose="02040503050406030204" pitchFamily="18" charset="0"/>
                                      <a:ea typeface="+mn-ea"/>
                                      <a:cs typeface="+mn-cs"/>
                                    </a:rPr>
                                    <m:t>𝑖</m:t>
                                  </m:r>
                                </m:sub>
                              </m:sSub>
                            </m:oMath>
                          </a14:m>
                          <a:r>
                            <a:rPr lang="en-US" altLang="zh-TW" sz="1800" b="0" i="0" u="none" strike="noStrike"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highlight>
                                <a:srgbClr val="FF0000"/>
                              </a:highlight>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highlight>
                              <a:srgbClr val="FF00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2654">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2069845040"/>
                  </p:ext>
                </p:extLst>
              </p:nvPr>
            </p:nvGraphicFramePr>
            <p:xfrm>
              <a:off x="631345" y="168813"/>
              <a:ext cx="5674205" cy="5234478"/>
            </p:xfrm>
            <a:graphic>
              <a:graphicData uri="http://schemas.openxmlformats.org/drawingml/2006/table">
                <a:tbl>
                  <a:tblPr firstRow="1" bandRow="1">
                    <a:tableStyleId>{5C22544A-7EE6-4342-B048-85BDC9FD1C3A}</a:tableStyleId>
                  </a:tblPr>
                  <a:tblGrid>
                    <a:gridCol w="564799">
                      <a:extLst>
                        <a:ext uri="{9D8B030D-6E8A-4147-A177-3AD203B41FA5}">
                          <a16:colId xmlns:a16="http://schemas.microsoft.com/office/drawing/2014/main" val="239911059"/>
                        </a:ext>
                      </a:extLst>
                    </a:gridCol>
                    <a:gridCol w="734763">
                      <a:extLst>
                        <a:ext uri="{9D8B030D-6E8A-4147-A177-3AD203B41FA5}">
                          <a16:colId xmlns:a16="http://schemas.microsoft.com/office/drawing/2014/main" val="2696759501"/>
                        </a:ext>
                      </a:extLst>
                    </a:gridCol>
                    <a:gridCol w="995173">
                      <a:extLst>
                        <a:ext uri="{9D8B030D-6E8A-4147-A177-3AD203B41FA5}">
                          <a16:colId xmlns:a16="http://schemas.microsoft.com/office/drawing/2014/main" val="1698922967"/>
                        </a:ext>
                      </a:extLst>
                    </a:gridCol>
                    <a:gridCol w="1258098">
                      <a:extLst>
                        <a:ext uri="{9D8B030D-6E8A-4147-A177-3AD203B41FA5}">
                          <a16:colId xmlns:a16="http://schemas.microsoft.com/office/drawing/2014/main" val="802323705"/>
                        </a:ext>
                      </a:extLst>
                    </a:gridCol>
                    <a:gridCol w="1133484">
                      <a:extLst>
                        <a:ext uri="{9D8B030D-6E8A-4147-A177-3AD203B41FA5}">
                          <a16:colId xmlns:a16="http://schemas.microsoft.com/office/drawing/2014/main" val="111345989"/>
                        </a:ext>
                      </a:extLst>
                    </a:gridCol>
                    <a:gridCol w="987888">
                      <a:extLst>
                        <a:ext uri="{9D8B030D-6E8A-4147-A177-3AD203B41FA5}">
                          <a16:colId xmlns:a16="http://schemas.microsoft.com/office/drawing/2014/main" val="1167941338"/>
                        </a:ext>
                      </a:extLst>
                    </a:gridCol>
                  </a:tblGrid>
                  <a:tr h="91440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14516" t="-3333" r="-88172" b="-480000"/>
                          </a:stretch>
                        </a:blip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highlight>
                                <a:srgbClr val="FF0000"/>
                              </a:highlight>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highlight>
                              <a:srgbClr val="FF00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2654">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11" name="圖片 10">
            <a:extLst>
              <a:ext uri="{FF2B5EF4-FFF2-40B4-BE49-F238E27FC236}">
                <a16:creationId xmlns:a16="http://schemas.microsoft.com/office/drawing/2014/main" id="{6C5C637A-2CC6-479A-BDFA-1E4D8ABB6992}"/>
              </a:ext>
            </a:extLst>
          </p:cNvPr>
          <p:cNvPicPr>
            <a:picLocks noChangeAspect="1"/>
          </p:cNvPicPr>
          <p:nvPr/>
        </p:nvPicPr>
        <p:blipFill>
          <a:blip r:embed="rId4"/>
          <a:stretch>
            <a:fillRect/>
          </a:stretch>
        </p:blipFill>
        <p:spPr>
          <a:xfrm>
            <a:off x="7969730" y="171450"/>
            <a:ext cx="3590925" cy="3524250"/>
          </a:xfrm>
          <a:prstGeom prst="rect">
            <a:avLst/>
          </a:prstGeom>
        </p:spPr>
      </p:pic>
      <p:pic>
        <p:nvPicPr>
          <p:cNvPr id="13" name="圖片 12">
            <a:extLst>
              <a:ext uri="{FF2B5EF4-FFF2-40B4-BE49-F238E27FC236}">
                <a16:creationId xmlns:a16="http://schemas.microsoft.com/office/drawing/2014/main" id="{D4467E24-E576-4DC7-892C-CA1DED028FF6}"/>
              </a:ext>
            </a:extLst>
          </p:cNvPr>
          <p:cNvPicPr>
            <a:picLocks noChangeAspect="1"/>
          </p:cNvPicPr>
          <p:nvPr/>
        </p:nvPicPr>
        <p:blipFill>
          <a:blip r:embed="rId5"/>
          <a:stretch>
            <a:fillRect/>
          </a:stretch>
        </p:blipFill>
        <p:spPr>
          <a:xfrm>
            <a:off x="9355161" y="5080415"/>
            <a:ext cx="2438400" cy="1114425"/>
          </a:xfrm>
          <a:prstGeom prst="rect">
            <a:avLst/>
          </a:prstGeom>
        </p:spPr>
      </p:pic>
    </p:spTree>
    <p:extLst>
      <p:ext uri="{BB962C8B-B14F-4D97-AF65-F5344CB8AC3E}">
        <p14:creationId xmlns:p14="http://schemas.microsoft.com/office/powerpoint/2010/main" val="357278090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4">
            <a:extLst>
              <a:ext uri="{FF2B5EF4-FFF2-40B4-BE49-F238E27FC236}">
                <a16:creationId xmlns:a16="http://schemas.microsoft.com/office/drawing/2014/main" id="{B2309EA4-1FC4-42C1-8FDB-6E188E0B2200}"/>
              </a:ext>
            </a:extLst>
          </p:cNvPr>
          <p:cNvPicPr>
            <a:picLocks noChangeAspect="1"/>
          </p:cNvPicPr>
          <p:nvPr/>
        </p:nvPicPr>
        <p:blipFill>
          <a:blip r:embed="rId2"/>
          <a:stretch>
            <a:fillRect/>
          </a:stretch>
        </p:blipFill>
        <p:spPr>
          <a:xfrm>
            <a:off x="6621486" y="3695700"/>
            <a:ext cx="5467350" cy="895350"/>
          </a:xfrm>
          <a:prstGeom prst="rect">
            <a:avLst/>
          </a:prstGeom>
        </p:spPr>
      </p:pic>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2805952039"/>
                  </p:ext>
                </p:extLst>
              </p:nvPr>
            </p:nvGraphicFramePr>
            <p:xfrm>
              <a:off x="631345" y="168813"/>
              <a:ext cx="5674205" cy="5234478"/>
            </p:xfrm>
            <a:graphic>
              <a:graphicData uri="http://schemas.openxmlformats.org/drawingml/2006/table">
                <a:tbl>
                  <a:tblPr firstRow="1" bandRow="1">
                    <a:tableStyleId>{5C22544A-7EE6-4342-B048-85BDC9FD1C3A}</a:tableStyleId>
                  </a:tblPr>
                  <a:tblGrid>
                    <a:gridCol w="564799">
                      <a:extLst>
                        <a:ext uri="{9D8B030D-6E8A-4147-A177-3AD203B41FA5}">
                          <a16:colId xmlns:a16="http://schemas.microsoft.com/office/drawing/2014/main" val="239911059"/>
                        </a:ext>
                      </a:extLst>
                    </a:gridCol>
                    <a:gridCol w="734763">
                      <a:extLst>
                        <a:ext uri="{9D8B030D-6E8A-4147-A177-3AD203B41FA5}">
                          <a16:colId xmlns:a16="http://schemas.microsoft.com/office/drawing/2014/main" val="2696759501"/>
                        </a:ext>
                      </a:extLst>
                    </a:gridCol>
                    <a:gridCol w="995173">
                      <a:extLst>
                        <a:ext uri="{9D8B030D-6E8A-4147-A177-3AD203B41FA5}">
                          <a16:colId xmlns:a16="http://schemas.microsoft.com/office/drawing/2014/main" val="1698922967"/>
                        </a:ext>
                      </a:extLst>
                    </a:gridCol>
                    <a:gridCol w="1258098">
                      <a:extLst>
                        <a:ext uri="{9D8B030D-6E8A-4147-A177-3AD203B41FA5}">
                          <a16:colId xmlns:a16="http://schemas.microsoft.com/office/drawing/2014/main" val="802323705"/>
                        </a:ext>
                      </a:extLst>
                    </a:gridCol>
                    <a:gridCol w="1133484">
                      <a:extLst>
                        <a:ext uri="{9D8B030D-6E8A-4147-A177-3AD203B41FA5}">
                          <a16:colId xmlns:a16="http://schemas.microsoft.com/office/drawing/2014/main" val="111345989"/>
                        </a:ext>
                      </a:extLst>
                    </a:gridCol>
                    <a:gridCol w="987888">
                      <a:extLst>
                        <a:ext uri="{9D8B030D-6E8A-4147-A177-3AD203B41FA5}">
                          <a16:colId xmlns:a16="http://schemas.microsoft.com/office/drawing/2014/main" val="1167941338"/>
                        </a:ext>
                      </a:extLst>
                    </a:gridCol>
                  </a:tblGrid>
                  <a:tr h="91439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sSub>
                                <m:sSubPr>
                                  <m:ctrlPr>
                                    <a:rPr lang="en-US" altLang="zh-TW" sz="1800" b="0" i="1" u="none" strike="noStrike" kern="1200" smtClean="0">
                                      <a:solidFill>
                                        <a:schemeClr val="tx1"/>
                                      </a:solidFill>
                                      <a:effectLst/>
                                      <a:latin typeface="Cambria Math" panose="02040503050406030204" pitchFamily="18" charset="0"/>
                                      <a:ea typeface="+mn-ea"/>
                                      <a:cs typeface="+mn-cs"/>
                                    </a:rPr>
                                  </m:ctrlPr>
                                </m:sSubPr>
                                <m:e>
                                  <m:r>
                                    <a:rPr lang="en-US" altLang="zh-TW" sz="1800" b="0" i="1" u="none" strike="noStrike" kern="1200" smtClean="0">
                                      <a:solidFill>
                                        <a:schemeClr val="tx1"/>
                                      </a:solidFill>
                                      <a:effectLst/>
                                      <a:latin typeface="Cambria Math" panose="02040503050406030204" pitchFamily="18" charset="0"/>
                                      <a:ea typeface="+mn-ea"/>
                                      <a:cs typeface="+mn-cs"/>
                                    </a:rPr>
                                    <m:t>𝑅𝑎𝑛𝑘</m:t>
                                  </m:r>
                                </m:e>
                                <m:sub>
                                  <m:r>
                                    <a:rPr lang="en-US" altLang="zh-TW" sz="1800" b="0" i="1" u="none" strike="noStrike" kern="1200" smtClean="0">
                                      <a:solidFill>
                                        <a:schemeClr val="tx1"/>
                                      </a:solidFill>
                                      <a:effectLst/>
                                      <a:latin typeface="Cambria Math" panose="02040503050406030204" pitchFamily="18" charset="0"/>
                                      <a:ea typeface="+mn-ea"/>
                                      <a:cs typeface="+mn-cs"/>
                                    </a:rPr>
                                    <m:t>𝑢</m:t>
                                  </m:r>
                                </m:sub>
                              </m:sSub>
                            </m:oMath>
                          </a14:m>
                          <a:r>
                            <a:rPr lang="en-US" altLang="zh-TW" sz="1800" b="0" i="0" u="none" strike="noStrike" kern="1200" dirty="0">
                              <a:solidFill>
                                <a:schemeClr val="tx1"/>
                              </a:solidFill>
                              <a:effectLst/>
                              <a:latin typeface="+mn-lt"/>
                              <a:ea typeface="+mn-ea"/>
                              <a:cs typeface="+mn-cs"/>
                            </a:rPr>
                            <a:t>(</a:t>
                          </a:r>
                          <a14:m>
                            <m:oMath xmlns:m="http://schemas.openxmlformats.org/officeDocument/2006/math">
                              <m:sSub>
                                <m:sSubPr>
                                  <m:ctrlPr>
                                    <a:rPr lang="el-GR" altLang="zh-TW" sz="1800" b="0" i="1" u="none" strike="noStrike" kern="1200" dirty="0" smtClean="0">
                                      <a:solidFill>
                                        <a:schemeClr val="tx1"/>
                                      </a:solidFill>
                                      <a:effectLst/>
                                      <a:latin typeface="Cambria Math" panose="02040503050406030204" pitchFamily="18" charset="0"/>
                                      <a:ea typeface="+mn-ea"/>
                                      <a:cs typeface="+mn-cs"/>
                                    </a:rPr>
                                  </m:ctrlPr>
                                </m:sSubPr>
                                <m:e>
                                  <m:r>
                                    <a:rPr lang="en-US" altLang="zh-TW" sz="1800" b="0" i="1" u="none" strike="noStrike" kern="1200" dirty="0" smtClean="0">
                                      <a:solidFill>
                                        <a:schemeClr val="tx1"/>
                                      </a:solidFill>
                                      <a:effectLst/>
                                      <a:latin typeface="Cambria Math" panose="02040503050406030204" pitchFamily="18" charset="0"/>
                                      <a:ea typeface="+mn-ea"/>
                                      <a:cs typeface="+mn-cs"/>
                                    </a:rPr>
                                    <m:t>𝑣</m:t>
                                  </m:r>
                                </m:e>
                                <m:sub>
                                  <m:r>
                                    <a:rPr lang="en-US" altLang="zh-TW" sz="1800" b="0" i="1" u="none" strike="noStrike" kern="1200" dirty="0" smtClean="0">
                                      <a:solidFill>
                                        <a:schemeClr val="tx1"/>
                                      </a:solidFill>
                                      <a:effectLst/>
                                      <a:latin typeface="Cambria Math" panose="02040503050406030204" pitchFamily="18" charset="0"/>
                                      <a:ea typeface="+mn-ea"/>
                                      <a:cs typeface="+mn-cs"/>
                                    </a:rPr>
                                    <m:t>𝑖</m:t>
                                  </m:r>
                                </m:sub>
                              </m:sSub>
                            </m:oMath>
                          </a14:m>
                          <a:r>
                            <a:rPr lang="en-US" altLang="zh-TW" sz="1800" b="0" i="0" u="none" strike="noStrike"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2654">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2805952039"/>
                  </p:ext>
                </p:extLst>
              </p:nvPr>
            </p:nvGraphicFramePr>
            <p:xfrm>
              <a:off x="631345" y="168813"/>
              <a:ext cx="5674205" cy="5234478"/>
            </p:xfrm>
            <a:graphic>
              <a:graphicData uri="http://schemas.openxmlformats.org/drawingml/2006/table">
                <a:tbl>
                  <a:tblPr firstRow="1" bandRow="1">
                    <a:tableStyleId>{5C22544A-7EE6-4342-B048-85BDC9FD1C3A}</a:tableStyleId>
                  </a:tblPr>
                  <a:tblGrid>
                    <a:gridCol w="564799">
                      <a:extLst>
                        <a:ext uri="{9D8B030D-6E8A-4147-A177-3AD203B41FA5}">
                          <a16:colId xmlns:a16="http://schemas.microsoft.com/office/drawing/2014/main" val="239911059"/>
                        </a:ext>
                      </a:extLst>
                    </a:gridCol>
                    <a:gridCol w="734763">
                      <a:extLst>
                        <a:ext uri="{9D8B030D-6E8A-4147-A177-3AD203B41FA5}">
                          <a16:colId xmlns:a16="http://schemas.microsoft.com/office/drawing/2014/main" val="2696759501"/>
                        </a:ext>
                      </a:extLst>
                    </a:gridCol>
                    <a:gridCol w="995173">
                      <a:extLst>
                        <a:ext uri="{9D8B030D-6E8A-4147-A177-3AD203B41FA5}">
                          <a16:colId xmlns:a16="http://schemas.microsoft.com/office/drawing/2014/main" val="1698922967"/>
                        </a:ext>
                      </a:extLst>
                    </a:gridCol>
                    <a:gridCol w="1258098">
                      <a:extLst>
                        <a:ext uri="{9D8B030D-6E8A-4147-A177-3AD203B41FA5}">
                          <a16:colId xmlns:a16="http://schemas.microsoft.com/office/drawing/2014/main" val="802323705"/>
                        </a:ext>
                      </a:extLst>
                    </a:gridCol>
                    <a:gridCol w="1133484">
                      <a:extLst>
                        <a:ext uri="{9D8B030D-6E8A-4147-A177-3AD203B41FA5}">
                          <a16:colId xmlns:a16="http://schemas.microsoft.com/office/drawing/2014/main" val="111345989"/>
                        </a:ext>
                      </a:extLst>
                    </a:gridCol>
                    <a:gridCol w="987888">
                      <a:extLst>
                        <a:ext uri="{9D8B030D-6E8A-4147-A177-3AD203B41FA5}">
                          <a16:colId xmlns:a16="http://schemas.microsoft.com/office/drawing/2014/main" val="1167941338"/>
                        </a:ext>
                      </a:extLst>
                    </a:gridCol>
                  </a:tblGrid>
                  <a:tr h="91440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14516" t="-3333" r="-88172" b="-480000"/>
                          </a:stretch>
                        </a:blip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2654">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8" name="圖片 7">
            <a:extLst>
              <a:ext uri="{FF2B5EF4-FFF2-40B4-BE49-F238E27FC236}">
                <a16:creationId xmlns:a16="http://schemas.microsoft.com/office/drawing/2014/main" id="{FC0F9C04-39EA-4C26-84D1-95E791D41A98}"/>
              </a:ext>
            </a:extLst>
          </p:cNvPr>
          <p:cNvPicPr>
            <a:picLocks noChangeAspect="1"/>
          </p:cNvPicPr>
          <p:nvPr/>
        </p:nvPicPr>
        <p:blipFill>
          <a:blip r:embed="rId4"/>
          <a:stretch>
            <a:fillRect/>
          </a:stretch>
        </p:blipFill>
        <p:spPr>
          <a:xfrm>
            <a:off x="8017355" y="168813"/>
            <a:ext cx="3543300" cy="3552825"/>
          </a:xfrm>
          <a:prstGeom prst="rect">
            <a:avLst/>
          </a:prstGeom>
        </p:spPr>
      </p:pic>
    </p:spTree>
    <p:extLst>
      <p:ext uri="{BB962C8B-B14F-4D97-AF65-F5344CB8AC3E}">
        <p14:creationId xmlns:p14="http://schemas.microsoft.com/office/powerpoint/2010/main" val="367192394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4">
            <a:extLst>
              <a:ext uri="{FF2B5EF4-FFF2-40B4-BE49-F238E27FC236}">
                <a16:creationId xmlns:a16="http://schemas.microsoft.com/office/drawing/2014/main" id="{B2309EA4-1FC4-42C1-8FDB-6E188E0B2200}"/>
              </a:ext>
            </a:extLst>
          </p:cNvPr>
          <p:cNvPicPr>
            <a:picLocks noChangeAspect="1"/>
          </p:cNvPicPr>
          <p:nvPr/>
        </p:nvPicPr>
        <p:blipFill>
          <a:blip r:embed="rId2"/>
          <a:stretch>
            <a:fillRect/>
          </a:stretch>
        </p:blipFill>
        <p:spPr>
          <a:xfrm>
            <a:off x="7258174" y="3721638"/>
            <a:ext cx="5308963" cy="869412"/>
          </a:xfrm>
          <a:prstGeom prst="rect">
            <a:avLst/>
          </a:prstGeom>
        </p:spPr>
      </p:pic>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320837387"/>
                  </p:ext>
                </p:extLst>
              </p:nvPr>
            </p:nvGraphicFramePr>
            <p:xfrm>
              <a:off x="53814" y="267287"/>
              <a:ext cx="8091379" cy="5234478"/>
            </p:xfrm>
            <a:graphic>
              <a:graphicData uri="http://schemas.openxmlformats.org/drawingml/2006/table">
                <a:tbl>
                  <a:tblPr firstRow="1" bandRow="1">
                    <a:tableStyleId>{5C22544A-7EE6-4342-B048-85BDC9FD1C3A}</a:tableStyleId>
                  </a:tblPr>
                  <a:tblGrid>
                    <a:gridCol w="607368">
                      <a:extLst>
                        <a:ext uri="{9D8B030D-6E8A-4147-A177-3AD203B41FA5}">
                          <a16:colId xmlns:a16="http://schemas.microsoft.com/office/drawing/2014/main" val="239911059"/>
                        </a:ext>
                      </a:extLst>
                    </a:gridCol>
                    <a:gridCol w="787790">
                      <a:extLst>
                        <a:ext uri="{9D8B030D-6E8A-4147-A177-3AD203B41FA5}">
                          <a16:colId xmlns:a16="http://schemas.microsoft.com/office/drawing/2014/main" val="2696759501"/>
                        </a:ext>
                      </a:extLst>
                    </a:gridCol>
                    <a:gridCol w="998806">
                      <a:extLst>
                        <a:ext uri="{9D8B030D-6E8A-4147-A177-3AD203B41FA5}">
                          <a16:colId xmlns:a16="http://schemas.microsoft.com/office/drawing/2014/main" val="1698922967"/>
                        </a:ext>
                      </a:extLst>
                    </a:gridCol>
                    <a:gridCol w="1308296">
                      <a:extLst>
                        <a:ext uri="{9D8B030D-6E8A-4147-A177-3AD203B41FA5}">
                          <a16:colId xmlns:a16="http://schemas.microsoft.com/office/drawing/2014/main" val="802323705"/>
                        </a:ext>
                      </a:extLst>
                    </a:gridCol>
                    <a:gridCol w="3314736">
                      <a:extLst>
                        <a:ext uri="{9D8B030D-6E8A-4147-A177-3AD203B41FA5}">
                          <a16:colId xmlns:a16="http://schemas.microsoft.com/office/drawing/2014/main" val="111345989"/>
                        </a:ext>
                      </a:extLst>
                    </a:gridCol>
                    <a:gridCol w="1074383">
                      <a:extLst>
                        <a:ext uri="{9D8B030D-6E8A-4147-A177-3AD203B41FA5}">
                          <a16:colId xmlns:a16="http://schemas.microsoft.com/office/drawing/2014/main" val="1167941338"/>
                        </a:ext>
                      </a:extLst>
                    </a:gridCol>
                  </a:tblGrid>
                  <a:tr h="91439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sSub>
                                <m:sSubPr>
                                  <m:ctrlPr>
                                    <a:rPr lang="en-US" altLang="zh-TW" sz="1800" b="0" i="1" u="none" strike="noStrike" kern="1200" smtClean="0">
                                      <a:solidFill>
                                        <a:schemeClr val="tx1"/>
                                      </a:solidFill>
                                      <a:effectLst/>
                                      <a:latin typeface="Cambria Math" panose="02040503050406030204" pitchFamily="18" charset="0"/>
                                      <a:ea typeface="+mn-ea"/>
                                      <a:cs typeface="+mn-cs"/>
                                    </a:rPr>
                                  </m:ctrlPr>
                                </m:sSubPr>
                                <m:e>
                                  <m:r>
                                    <a:rPr lang="en-US" altLang="zh-TW" sz="1800" b="0" i="1" u="none" strike="noStrike" kern="1200" smtClean="0">
                                      <a:solidFill>
                                        <a:schemeClr val="tx1"/>
                                      </a:solidFill>
                                      <a:effectLst/>
                                      <a:latin typeface="Cambria Math" panose="02040503050406030204" pitchFamily="18" charset="0"/>
                                      <a:ea typeface="+mn-ea"/>
                                      <a:cs typeface="+mn-cs"/>
                                    </a:rPr>
                                    <m:t>𝑅𝑎𝑛𝑘</m:t>
                                  </m:r>
                                </m:e>
                                <m:sub>
                                  <m:r>
                                    <a:rPr lang="en-US" altLang="zh-TW" sz="1800" b="0" i="1" u="none" strike="noStrike" kern="1200" smtClean="0">
                                      <a:solidFill>
                                        <a:schemeClr val="tx1"/>
                                      </a:solidFill>
                                      <a:effectLst/>
                                      <a:latin typeface="Cambria Math" panose="02040503050406030204" pitchFamily="18" charset="0"/>
                                      <a:ea typeface="+mn-ea"/>
                                      <a:cs typeface="+mn-cs"/>
                                    </a:rPr>
                                    <m:t>𝑢</m:t>
                                  </m:r>
                                </m:sub>
                              </m:sSub>
                            </m:oMath>
                          </a14:m>
                          <a:r>
                            <a:rPr lang="en-US" altLang="zh-TW" sz="1800" b="0" i="0" u="none" strike="noStrike" kern="1200" dirty="0">
                              <a:solidFill>
                                <a:schemeClr val="tx1"/>
                              </a:solidFill>
                              <a:effectLst/>
                              <a:latin typeface="+mn-lt"/>
                              <a:ea typeface="+mn-ea"/>
                              <a:cs typeface="+mn-cs"/>
                            </a:rPr>
                            <a:t>(</a:t>
                          </a:r>
                          <a14:m>
                            <m:oMath xmlns:m="http://schemas.openxmlformats.org/officeDocument/2006/math">
                              <m:sSub>
                                <m:sSubPr>
                                  <m:ctrlPr>
                                    <a:rPr lang="el-GR" altLang="zh-TW" sz="1800" b="0" i="1" u="none" strike="noStrike" kern="1200" dirty="0" smtClean="0">
                                      <a:solidFill>
                                        <a:schemeClr val="tx1"/>
                                      </a:solidFill>
                                      <a:effectLst/>
                                      <a:latin typeface="Cambria Math" panose="02040503050406030204" pitchFamily="18" charset="0"/>
                                      <a:ea typeface="+mn-ea"/>
                                      <a:cs typeface="+mn-cs"/>
                                    </a:rPr>
                                  </m:ctrlPr>
                                </m:sSubPr>
                                <m:e>
                                  <m:r>
                                    <a:rPr lang="en-US" altLang="zh-TW" sz="1800" b="0" i="1" u="none" strike="noStrike" kern="1200" dirty="0" smtClean="0">
                                      <a:solidFill>
                                        <a:schemeClr val="tx1"/>
                                      </a:solidFill>
                                      <a:effectLst/>
                                      <a:latin typeface="Cambria Math" panose="02040503050406030204" pitchFamily="18" charset="0"/>
                                      <a:ea typeface="+mn-ea"/>
                                      <a:cs typeface="+mn-cs"/>
                                    </a:rPr>
                                    <m:t>𝑣</m:t>
                                  </m:r>
                                </m:e>
                                <m:sub>
                                  <m:r>
                                    <a:rPr lang="en-US" altLang="zh-TW" sz="1800" b="0" i="1" u="none" strike="noStrike" kern="1200" dirty="0" smtClean="0">
                                      <a:solidFill>
                                        <a:schemeClr val="tx1"/>
                                      </a:solidFill>
                                      <a:effectLst/>
                                      <a:latin typeface="Cambria Math" panose="02040503050406030204" pitchFamily="18" charset="0"/>
                                      <a:ea typeface="+mn-ea"/>
                                      <a:cs typeface="+mn-cs"/>
                                    </a:rPr>
                                    <m:t>𝑖</m:t>
                                  </m:r>
                                </m:sub>
                              </m:sSub>
                            </m:oMath>
                          </a14:m>
                          <a:r>
                            <a:rPr lang="en-US" altLang="zh-TW" sz="1800" b="0" i="0" u="none" strike="noStrike"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2654">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11*3.27+17+</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=137.97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10*3.74+11+</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=133.4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16.6*3.71+13+</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14.6*5.9  = </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320837387"/>
                  </p:ext>
                </p:extLst>
              </p:nvPr>
            </p:nvGraphicFramePr>
            <p:xfrm>
              <a:off x="53814" y="267287"/>
              <a:ext cx="8091379" cy="5234478"/>
            </p:xfrm>
            <a:graphic>
              <a:graphicData uri="http://schemas.openxmlformats.org/drawingml/2006/table">
                <a:tbl>
                  <a:tblPr firstRow="1" bandRow="1">
                    <a:tableStyleId>{5C22544A-7EE6-4342-B048-85BDC9FD1C3A}</a:tableStyleId>
                  </a:tblPr>
                  <a:tblGrid>
                    <a:gridCol w="607368">
                      <a:extLst>
                        <a:ext uri="{9D8B030D-6E8A-4147-A177-3AD203B41FA5}">
                          <a16:colId xmlns:a16="http://schemas.microsoft.com/office/drawing/2014/main" val="239911059"/>
                        </a:ext>
                      </a:extLst>
                    </a:gridCol>
                    <a:gridCol w="787790">
                      <a:extLst>
                        <a:ext uri="{9D8B030D-6E8A-4147-A177-3AD203B41FA5}">
                          <a16:colId xmlns:a16="http://schemas.microsoft.com/office/drawing/2014/main" val="2696759501"/>
                        </a:ext>
                      </a:extLst>
                    </a:gridCol>
                    <a:gridCol w="998806">
                      <a:extLst>
                        <a:ext uri="{9D8B030D-6E8A-4147-A177-3AD203B41FA5}">
                          <a16:colId xmlns:a16="http://schemas.microsoft.com/office/drawing/2014/main" val="1698922967"/>
                        </a:ext>
                      </a:extLst>
                    </a:gridCol>
                    <a:gridCol w="1308296">
                      <a:extLst>
                        <a:ext uri="{9D8B030D-6E8A-4147-A177-3AD203B41FA5}">
                          <a16:colId xmlns:a16="http://schemas.microsoft.com/office/drawing/2014/main" val="802323705"/>
                        </a:ext>
                      </a:extLst>
                    </a:gridCol>
                    <a:gridCol w="3314736">
                      <a:extLst>
                        <a:ext uri="{9D8B030D-6E8A-4147-A177-3AD203B41FA5}">
                          <a16:colId xmlns:a16="http://schemas.microsoft.com/office/drawing/2014/main" val="111345989"/>
                        </a:ext>
                      </a:extLst>
                    </a:gridCol>
                    <a:gridCol w="1074383">
                      <a:extLst>
                        <a:ext uri="{9D8B030D-6E8A-4147-A177-3AD203B41FA5}">
                          <a16:colId xmlns:a16="http://schemas.microsoft.com/office/drawing/2014/main" val="1167941338"/>
                        </a:ext>
                      </a:extLst>
                    </a:gridCol>
                  </a:tblGrid>
                  <a:tr h="91440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1743" t="-3333" r="-32661" b="-480000"/>
                          </a:stretch>
                        </a:blip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2654">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11*3.27+17+</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=137.97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10*3.74+11+</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=133.4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16.6*3.71+13+</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14.6*5.9  = </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8" name="圖片 7">
            <a:extLst>
              <a:ext uri="{FF2B5EF4-FFF2-40B4-BE49-F238E27FC236}">
                <a16:creationId xmlns:a16="http://schemas.microsoft.com/office/drawing/2014/main" id="{FC0F9C04-39EA-4C26-84D1-95E791D41A98}"/>
              </a:ext>
            </a:extLst>
          </p:cNvPr>
          <p:cNvPicPr>
            <a:picLocks noChangeAspect="1"/>
          </p:cNvPicPr>
          <p:nvPr/>
        </p:nvPicPr>
        <p:blipFill>
          <a:blip r:embed="rId4"/>
          <a:stretch>
            <a:fillRect/>
          </a:stretch>
        </p:blipFill>
        <p:spPr>
          <a:xfrm>
            <a:off x="8369047" y="218050"/>
            <a:ext cx="3543300" cy="3552825"/>
          </a:xfrm>
          <a:prstGeom prst="rect">
            <a:avLst/>
          </a:prstGeom>
        </p:spPr>
      </p:pic>
    </p:spTree>
    <p:extLst>
      <p:ext uri="{BB962C8B-B14F-4D97-AF65-F5344CB8AC3E}">
        <p14:creationId xmlns:p14="http://schemas.microsoft.com/office/powerpoint/2010/main" val="1474208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4">
            <a:extLst>
              <a:ext uri="{FF2B5EF4-FFF2-40B4-BE49-F238E27FC236}">
                <a16:creationId xmlns:a16="http://schemas.microsoft.com/office/drawing/2014/main" id="{B2309EA4-1FC4-42C1-8FDB-6E188E0B2200}"/>
              </a:ext>
            </a:extLst>
          </p:cNvPr>
          <p:cNvPicPr>
            <a:picLocks noChangeAspect="1"/>
          </p:cNvPicPr>
          <p:nvPr/>
        </p:nvPicPr>
        <p:blipFill>
          <a:blip r:embed="rId2"/>
          <a:stretch>
            <a:fillRect/>
          </a:stretch>
        </p:blipFill>
        <p:spPr>
          <a:xfrm>
            <a:off x="7258174" y="3721638"/>
            <a:ext cx="5308963" cy="869412"/>
          </a:xfrm>
          <a:prstGeom prst="rect">
            <a:avLst/>
          </a:prstGeom>
        </p:spPr>
      </p:pic>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2630709822"/>
                  </p:ext>
                </p:extLst>
              </p:nvPr>
            </p:nvGraphicFramePr>
            <p:xfrm>
              <a:off x="53814" y="267287"/>
              <a:ext cx="8091379" cy="5641066"/>
            </p:xfrm>
            <a:graphic>
              <a:graphicData uri="http://schemas.openxmlformats.org/drawingml/2006/table">
                <a:tbl>
                  <a:tblPr firstRow="1" bandRow="1">
                    <a:tableStyleId>{5C22544A-7EE6-4342-B048-85BDC9FD1C3A}</a:tableStyleId>
                  </a:tblPr>
                  <a:tblGrid>
                    <a:gridCol w="607368">
                      <a:extLst>
                        <a:ext uri="{9D8B030D-6E8A-4147-A177-3AD203B41FA5}">
                          <a16:colId xmlns:a16="http://schemas.microsoft.com/office/drawing/2014/main" val="239911059"/>
                        </a:ext>
                      </a:extLst>
                    </a:gridCol>
                    <a:gridCol w="787790">
                      <a:extLst>
                        <a:ext uri="{9D8B030D-6E8A-4147-A177-3AD203B41FA5}">
                          <a16:colId xmlns:a16="http://schemas.microsoft.com/office/drawing/2014/main" val="2696759501"/>
                        </a:ext>
                      </a:extLst>
                    </a:gridCol>
                    <a:gridCol w="998806">
                      <a:extLst>
                        <a:ext uri="{9D8B030D-6E8A-4147-A177-3AD203B41FA5}">
                          <a16:colId xmlns:a16="http://schemas.microsoft.com/office/drawing/2014/main" val="1698922967"/>
                        </a:ext>
                      </a:extLst>
                    </a:gridCol>
                    <a:gridCol w="1308296">
                      <a:extLst>
                        <a:ext uri="{9D8B030D-6E8A-4147-A177-3AD203B41FA5}">
                          <a16:colId xmlns:a16="http://schemas.microsoft.com/office/drawing/2014/main" val="802323705"/>
                        </a:ext>
                      </a:extLst>
                    </a:gridCol>
                    <a:gridCol w="3314736">
                      <a:extLst>
                        <a:ext uri="{9D8B030D-6E8A-4147-A177-3AD203B41FA5}">
                          <a16:colId xmlns:a16="http://schemas.microsoft.com/office/drawing/2014/main" val="111345989"/>
                        </a:ext>
                      </a:extLst>
                    </a:gridCol>
                    <a:gridCol w="1074383">
                      <a:extLst>
                        <a:ext uri="{9D8B030D-6E8A-4147-A177-3AD203B41FA5}">
                          <a16:colId xmlns:a16="http://schemas.microsoft.com/office/drawing/2014/main" val="1167941338"/>
                        </a:ext>
                      </a:extLst>
                    </a:gridCol>
                  </a:tblGrid>
                  <a:tr h="91439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sSub>
                                <m:sSubPr>
                                  <m:ctrlPr>
                                    <a:rPr lang="en-US" altLang="zh-TW" sz="1800" b="0" i="1" u="none" strike="noStrike" kern="1200" smtClean="0">
                                      <a:solidFill>
                                        <a:schemeClr val="tx1"/>
                                      </a:solidFill>
                                      <a:effectLst/>
                                      <a:latin typeface="Cambria Math" panose="02040503050406030204" pitchFamily="18" charset="0"/>
                                      <a:ea typeface="+mn-ea"/>
                                      <a:cs typeface="+mn-cs"/>
                                    </a:rPr>
                                  </m:ctrlPr>
                                </m:sSubPr>
                                <m:e>
                                  <m:r>
                                    <a:rPr lang="en-US" altLang="zh-TW" sz="1800" b="0" i="1" u="none" strike="noStrike" kern="1200" smtClean="0">
                                      <a:solidFill>
                                        <a:schemeClr val="tx1"/>
                                      </a:solidFill>
                                      <a:effectLst/>
                                      <a:latin typeface="Cambria Math" panose="02040503050406030204" pitchFamily="18" charset="0"/>
                                      <a:ea typeface="+mn-ea"/>
                                      <a:cs typeface="+mn-cs"/>
                                    </a:rPr>
                                    <m:t>𝑅𝑎𝑛𝑘</m:t>
                                  </m:r>
                                </m:e>
                                <m:sub>
                                  <m:r>
                                    <a:rPr lang="en-US" altLang="zh-TW" sz="1800" b="0" i="1" u="none" strike="noStrike" kern="1200" smtClean="0">
                                      <a:solidFill>
                                        <a:schemeClr val="tx1"/>
                                      </a:solidFill>
                                      <a:effectLst/>
                                      <a:latin typeface="Cambria Math" panose="02040503050406030204" pitchFamily="18" charset="0"/>
                                      <a:ea typeface="+mn-ea"/>
                                      <a:cs typeface="+mn-cs"/>
                                    </a:rPr>
                                    <m:t>𝑢</m:t>
                                  </m:r>
                                </m:sub>
                              </m:sSub>
                            </m:oMath>
                          </a14:m>
                          <a:r>
                            <a:rPr lang="en-US" altLang="zh-TW" sz="1800" b="0" i="0" u="none" strike="noStrike" kern="1200" dirty="0">
                              <a:solidFill>
                                <a:schemeClr val="tx1"/>
                              </a:solidFill>
                              <a:effectLst/>
                              <a:latin typeface="+mn-lt"/>
                              <a:ea typeface="+mn-ea"/>
                              <a:cs typeface="+mn-cs"/>
                            </a:rPr>
                            <a:t>(</a:t>
                          </a:r>
                          <a14:m>
                            <m:oMath xmlns:m="http://schemas.openxmlformats.org/officeDocument/2006/math">
                              <m:sSub>
                                <m:sSubPr>
                                  <m:ctrlPr>
                                    <a:rPr lang="el-GR" altLang="zh-TW" sz="1800" b="0" i="1" u="none" strike="noStrike" kern="1200" dirty="0" smtClean="0">
                                      <a:solidFill>
                                        <a:schemeClr val="tx1"/>
                                      </a:solidFill>
                                      <a:effectLst/>
                                      <a:latin typeface="Cambria Math" panose="02040503050406030204" pitchFamily="18" charset="0"/>
                                      <a:ea typeface="+mn-ea"/>
                                      <a:cs typeface="+mn-cs"/>
                                    </a:rPr>
                                  </m:ctrlPr>
                                </m:sSubPr>
                                <m:e>
                                  <m:r>
                                    <a:rPr lang="en-US" altLang="zh-TW" sz="1800" b="0" i="1" u="none" strike="noStrike" kern="1200" dirty="0" smtClean="0">
                                      <a:solidFill>
                                        <a:schemeClr val="tx1"/>
                                      </a:solidFill>
                                      <a:effectLst/>
                                      <a:latin typeface="Cambria Math" panose="02040503050406030204" pitchFamily="18" charset="0"/>
                                      <a:ea typeface="+mn-ea"/>
                                      <a:cs typeface="+mn-cs"/>
                                    </a:rPr>
                                    <m:t>𝑣</m:t>
                                  </m:r>
                                </m:e>
                                <m:sub>
                                  <m:r>
                                    <a:rPr lang="en-US" altLang="zh-TW" sz="1800" b="0" i="1" u="none" strike="noStrike" kern="1200" dirty="0" smtClean="0">
                                      <a:solidFill>
                                        <a:schemeClr val="tx1"/>
                                      </a:solidFill>
                                      <a:effectLst/>
                                      <a:latin typeface="Cambria Math" panose="02040503050406030204" pitchFamily="18" charset="0"/>
                                      <a:ea typeface="+mn-ea"/>
                                      <a:cs typeface="+mn-cs"/>
                                    </a:rPr>
                                    <m:t>𝑖</m:t>
                                  </m:r>
                                </m:sub>
                              </m:sSub>
                            </m:oMath>
                          </a14:m>
                          <a:r>
                            <a:rPr lang="en-US" altLang="zh-TW" sz="1800" b="0" i="0" u="none" strike="noStrike"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=218.37</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=239.4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14.3*3.53+23+</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=211.55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2654">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=232.54</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=253.74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11.6*1.76+13+</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=188.02</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12.6*3.14+15+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11*3.27+17+</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endParaRPr lang="zh-TW" altLang="en-US"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10*3.74+11+</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endParaRPr lang="zh-TW" altLang="en-US"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16.6*3.71+13+</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endParaRPr lang="zh-TW" altLang="en-US"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14.6*5.9   = </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2630709822"/>
                  </p:ext>
                </p:extLst>
              </p:nvPr>
            </p:nvGraphicFramePr>
            <p:xfrm>
              <a:off x="53814" y="267287"/>
              <a:ext cx="8091379" cy="5641066"/>
            </p:xfrm>
            <a:graphic>
              <a:graphicData uri="http://schemas.openxmlformats.org/drawingml/2006/table">
                <a:tbl>
                  <a:tblPr firstRow="1" bandRow="1">
                    <a:tableStyleId>{5C22544A-7EE6-4342-B048-85BDC9FD1C3A}</a:tableStyleId>
                  </a:tblPr>
                  <a:tblGrid>
                    <a:gridCol w="607368">
                      <a:extLst>
                        <a:ext uri="{9D8B030D-6E8A-4147-A177-3AD203B41FA5}">
                          <a16:colId xmlns:a16="http://schemas.microsoft.com/office/drawing/2014/main" val="239911059"/>
                        </a:ext>
                      </a:extLst>
                    </a:gridCol>
                    <a:gridCol w="787790">
                      <a:extLst>
                        <a:ext uri="{9D8B030D-6E8A-4147-A177-3AD203B41FA5}">
                          <a16:colId xmlns:a16="http://schemas.microsoft.com/office/drawing/2014/main" val="2696759501"/>
                        </a:ext>
                      </a:extLst>
                    </a:gridCol>
                    <a:gridCol w="998806">
                      <a:extLst>
                        <a:ext uri="{9D8B030D-6E8A-4147-A177-3AD203B41FA5}">
                          <a16:colId xmlns:a16="http://schemas.microsoft.com/office/drawing/2014/main" val="1698922967"/>
                        </a:ext>
                      </a:extLst>
                    </a:gridCol>
                    <a:gridCol w="1308296">
                      <a:extLst>
                        <a:ext uri="{9D8B030D-6E8A-4147-A177-3AD203B41FA5}">
                          <a16:colId xmlns:a16="http://schemas.microsoft.com/office/drawing/2014/main" val="802323705"/>
                        </a:ext>
                      </a:extLst>
                    </a:gridCol>
                    <a:gridCol w="3314736">
                      <a:extLst>
                        <a:ext uri="{9D8B030D-6E8A-4147-A177-3AD203B41FA5}">
                          <a16:colId xmlns:a16="http://schemas.microsoft.com/office/drawing/2014/main" val="111345989"/>
                        </a:ext>
                      </a:extLst>
                    </a:gridCol>
                    <a:gridCol w="1074383">
                      <a:extLst>
                        <a:ext uri="{9D8B030D-6E8A-4147-A177-3AD203B41FA5}">
                          <a16:colId xmlns:a16="http://schemas.microsoft.com/office/drawing/2014/main" val="1167941338"/>
                        </a:ext>
                      </a:extLst>
                    </a:gridCol>
                  </a:tblGrid>
                  <a:tr h="91440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1743" t="-3333" r="-32661" b="-524000"/>
                          </a:stretch>
                        </a:blip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=218.37</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=239.4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14.3*3.53+23+</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=211.55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=232.54</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=253.74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11.6*1.76+13+</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=188.02</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12.6*3.14+15+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11*3.27+17+</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endParaRPr lang="zh-TW" altLang="en-US"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10*3.74+11+</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endParaRPr lang="zh-TW" altLang="en-US"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16.6*3.71+13+</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endParaRPr lang="zh-TW" altLang="en-US"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14.6*5.9   = </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8" name="圖片 7">
            <a:extLst>
              <a:ext uri="{FF2B5EF4-FFF2-40B4-BE49-F238E27FC236}">
                <a16:creationId xmlns:a16="http://schemas.microsoft.com/office/drawing/2014/main" id="{FC0F9C04-39EA-4C26-84D1-95E791D41A98}"/>
              </a:ext>
            </a:extLst>
          </p:cNvPr>
          <p:cNvPicPr>
            <a:picLocks noChangeAspect="1"/>
          </p:cNvPicPr>
          <p:nvPr/>
        </p:nvPicPr>
        <p:blipFill>
          <a:blip r:embed="rId4"/>
          <a:stretch>
            <a:fillRect/>
          </a:stretch>
        </p:blipFill>
        <p:spPr>
          <a:xfrm>
            <a:off x="8369047" y="218050"/>
            <a:ext cx="3543300" cy="3552825"/>
          </a:xfrm>
          <a:prstGeom prst="rect">
            <a:avLst/>
          </a:prstGeom>
        </p:spPr>
      </p:pic>
    </p:spTree>
    <p:extLst>
      <p:ext uri="{BB962C8B-B14F-4D97-AF65-F5344CB8AC3E}">
        <p14:creationId xmlns:p14="http://schemas.microsoft.com/office/powerpoint/2010/main" val="257091059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4">
            <a:extLst>
              <a:ext uri="{FF2B5EF4-FFF2-40B4-BE49-F238E27FC236}">
                <a16:creationId xmlns:a16="http://schemas.microsoft.com/office/drawing/2014/main" id="{B2309EA4-1FC4-42C1-8FDB-6E188E0B2200}"/>
              </a:ext>
            </a:extLst>
          </p:cNvPr>
          <p:cNvPicPr>
            <a:picLocks noChangeAspect="1"/>
          </p:cNvPicPr>
          <p:nvPr/>
        </p:nvPicPr>
        <p:blipFill>
          <a:blip r:embed="rId2"/>
          <a:stretch>
            <a:fillRect/>
          </a:stretch>
        </p:blipFill>
        <p:spPr>
          <a:xfrm>
            <a:off x="6755756" y="5988588"/>
            <a:ext cx="5308963" cy="869412"/>
          </a:xfrm>
          <a:prstGeom prst="rect">
            <a:avLst/>
          </a:prstGeom>
        </p:spPr>
      </p:pic>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3965982579"/>
                  </p:ext>
                </p:extLst>
              </p:nvPr>
            </p:nvGraphicFramePr>
            <p:xfrm>
              <a:off x="53814" y="267287"/>
              <a:ext cx="8091379" cy="5641066"/>
            </p:xfrm>
            <a:graphic>
              <a:graphicData uri="http://schemas.openxmlformats.org/drawingml/2006/table">
                <a:tbl>
                  <a:tblPr firstRow="1" bandRow="1">
                    <a:tableStyleId>{5C22544A-7EE6-4342-B048-85BDC9FD1C3A}</a:tableStyleId>
                  </a:tblPr>
                  <a:tblGrid>
                    <a:gridCol w="607368">
                      <a:extLst>
                        <a:ext uri="{9D8B030D-6E8A-4147-A177-3AD203B41FA5}">
                          <a16:colId xmlns:a16="http://schemas.microsoft.com/office/drawing/2014/main" val="239911059"/>
                        </a:ext>
                      </a:extLst>
                    </a:gridCol>
                    <a:gridCol w="787790">
                      <a:extLst>
                        <a:ext uri="{9D8B030D-6E8A-4147-A177-3AD203B41FA5}">
                          <a16:colId xmlns:a16="http://schemas.microsoft.com/office/drawing/2014/main" val="2696759501"/>
                        </a:ext>
                      </a:extLst>
                    </a:gridCol>
                    <a:gridCol w="998806">
                      <a:extLst>
                        <a:ext uri="{9D8B030D-6E8A-4147-A177-3AD203B41FA5}">
                          <a16:colId xmlns:a16="http://schemas.microsoft.com/office/drawing/2014/main" val="1698922967"/>
                        </a:ext>
                      </a:extLst>
                    </a:gridCol>
                    <a:gridCol w="1308296">
                      <a:extLst>
                        <a:ext uri="{9D8B030D-6E8A-4147-A177-3AD203B41FA5}">
                          <a16:colId xmlns:a16="http://schemas.microsoft.com/office/drawing/2014/main" val="802323705"/>
                        </a:ext>
                      </a:extLst>
                    </a:gridCol>
                    <a:gridCol w="3314736">
                      <a:extLst>
                        <a:ext uri="{9D8B030D-6E8A-4147-A177-3AD203B41FA5}">
                          <a16:colId xmlns:a16="http://schemas.microsoft.com/office/drawing/2014/main" val="111345989"/>
                        </a:ext>
                      </a:extLst>
                    </a:gridCol>
                    <a:gridCol w="1074383">
                      <a:extLst>
                        <a:ext uri="{9D8B030D-6E8A-4147-A177-3AD203B41FA5}">
                          <a16:colId xmlns:a16="http://schemas.microsoft.com/office/drawing/2014/main" val="1167941338"/>
                        </a:ext>
                      </a:extLst>
                    </a:gridCol>
                  </a:tblGrid>
                  <a:tr h="91439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sSub>
                                <m:sSubPr>
                                  <m:ctrlPr>
                                    <a:rPr lang="en-US" altLang="zh-TW" sz="1800" b="0" i="1" u="none" strike="noStrike" kern="1200" smtClean="0">
                                      <a:solidFill>
                                        <a:schemeClr val="tx1"/>
                                      </a:solidFill>
                                      <a:effectLst/>
                                      <a:latin typeface="Cambria Math" panose="02040503050406030204" pitchFamily="18" charset="0"/>
                                      <a:ea typeface="+mn-ea"/>
                                      <a:cs typeface="+mn-cs"/>
                                    </a:rPr>
                                  </m:ctrlPr>
                                </m:sSubPr>
                                <m:e>
                                  <m:r>
                                    <a:rPr lang="en-US" altLang="zh-TW" sz="1800" b="0" i="1" u="none" strike="noStrike" kern="1200" smtClean="0">
                                      <a:solidFill>
                                        <a:schemeClr val="tx1"/>
                                      </a:solidFill>
                                      <a:effectLst/>
                                      <a:latin typeface="Cambria Math" panose="02040503050406030204" pitchFamily="18" charset="0"/>
                                      <a:ea typeface="+mn-ea"/>
                                      <a:cs typeface="+mn-cs"/>
                                    </a:rPr>
                                    <m:t>𝑅𝑎𝑛𝑘</m:t>
                                  </m:r>
                                </m:e>
                                <m:sub>
                                  <m:r>
                                    <a:rPr lang="en-US" altLang="zh-TW" sz="1800" b="0" i="1" u="none" strike="noStrike" kern="1200" smtClean="0">
                                      <a:solidFill>
                                        <a:schemeClr val="tx1"/>
                                      </a:solidFill>
                                      <a:effectLst/>
                                      <a:latin typeface="Cambria Math" panose="02040503050406030204" pitchFamily="18" charset="0"/>
                                      <a:ea typeface="+mn-ea"/>
                                      <a:cs typeface="+mn-cs"/>
                                    </a:rPr>
                                    <m:t>𝑢</m:t>
                                  </m:r>
                                </m:sub>
                              </m:sSub>
                            </m:oMath>
                          </a14:m>
                          <a:r>
                            <a:rPr lang="en-US" altLang="zh-TW" sz="1800" b="0" i="0" u="none" strike="noStrike" kern="1200" dirty="0">
                              <a:solidFill>
                                <a:schemeClr val="tx1"/>
                              </a:solidFill>
                              <a:effectLst/>
                              <a:latin typeface="+mn-lt"/>
                              <a:ea typeface="+mn-ea"/>
                              <a:cs typeface="+mn-cs"/>
                            </a:rPr>
                            <a:t>(</a:t>
                          </a:r>
                          <a14:m>
                            <m:oMath xmlns:m="http://schemas.openxmlformats.org/officeDocument/2006/math">
                              <m:sSub>
                                <m:sSubPr>
                                  <m:ctrlPr>
                                    <a:rPr lang="el-GR" altLang="zh-TW" sz="1800" b="0" i="1" u="none" strike="noStrike" kern="1200" dirty="0" smtClean="0">
                                      <a:solidFill>
                                        <a:schemeClr val="tx1"/>
                                      </a:solidFill>
                                      <a:effectLst/>
                                      <a:latin typeface="Cambria Math" panose="02040503050406030204" pitchFamily="18" charset="0"/>
                                      <a:ea typeface="+mn-ea"/>
                                      <a:cs typeface="+mn-cs"/>
                                    </a:rPr>
                                  </m:ctrlPr>
                                </m:sSubPr>
                                <m:e>
                                  <m:r>
                                    <a:rPr lang="en-US" altLang="zh-TW" sz="1800" b="0" i="1" u="none" strike="noStrike" kern="1200" dirty="0" smtClean="0">
                                      <a:solidFill>
                                        <a:schemeClr val="tx1"/>
                                      </a:solidFill>
                                      <a:effectLst/>
                                      <a:latin typeface="Cambria Math" panose="02040503050406030204" pitchFamily="18" charset="0"/>
                                      <a:ea typeface="+mn-ea"/>
                                      <a:cs typeface="+mn-cs"/>
                                    </a:rPr>
                                    <m:t>𝑣</m:t>
                                  </m:r>
                                </m:e>
                                <m:sub>
                                  <m:r>
                                    <a:rPr lang="en-US" altLang="zh-TW" sz="1800" b="0" i="1" u="none" strike="noStrike" kern="1200" dirty="0" smtClean="0">
                                      <a:solidFill>
                                        <a:schemeClr val="tx1"/>
                                      </a:solidFill>
                                      <a:effectLst/>
                                      <a:latin typeface="Cambria Math" panose="02040503050406030204" pitchFamily="18" charset="0"/>
                                      <a:ea typeface="+mn-ea"/>
                                      <a:cs typeface="+mn-cs"/>
                                    </a:rPr>
                                    <m:t>𝑖</m:t>
                                  </m:r>
                                </m:sub>
                              </m:sSub>
                            </m:oMath>
                          </a14:m>
                          <a:r>
                            <a:rPr lang="en-US" altLang="zh-TW" sz="1800" b="0" i="0" u="none" strike="noStrike"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=218.37</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=239.4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14.3*3.53+23+</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=211.55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2654">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=232.54</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=253.74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11.6*1.76+13+</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=188.02</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12.6*3.14+15+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11*3.27+17+</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endParaRPr lang="zh-TW" altLang="en-US"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10*3.74+11+</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endParaRPr lang="zh-TW" altLang="en-US"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16.6*3.71+13+</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endParaRPr lang="zh-TW" altLang="en-US"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14.6*5.9   = </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3965982579"/>
                  </p:ext>
                </p:extLst>
              </p:nvPr>
            </p:nvGraphicFramePr>
            <p:xfrm>
              <a:off x="53814" y="267287"/>
              <a:ext cx="8091379" cy="5641066"/>
            </p:xfrm>
            <a:graphic>
              <a:graphicData uri="http://schemas.openxmlformats.org/drawingml/2006/table">
                <a:tbl>
                  <a:tblPr firstRow="1" bandRow="1">
                    <a:tableStyleId>{5C22544A-7EE6-4342-B048-85BDC9FD1C3A}</a:tableStyleId>
                  </a:tblPr>
                  <a:tblGrid>
                    <a:gridCol w="607368">
                      <a:extLst>
                        <a:ext uri="{9D8B030D-6E8A-4147-A177-3AD203B41FA5}">
                          <a16:colId xmlns:a16="http://schemas.microsoft.com/office/drawing/2014/main" val="239911059"/>
                        </a:ext>
                      </a:extLst>
                    </a:gridCol>
                    <a:gridCol w="787790">
                      <a:extLst>
                        <a:ext uri="{9D8B030D-6E8A-4147-A177-3AD203B41FA5}">
                          <a16:colId xmlns:a16="http://schemas.microsoft.com/office/drawing/2014/main" val="2696759501"/>
                        </a:ext>
                      </a:extLst>
                    </a:gridCol>
                    <a:gridCol w="998806">
                      <a:extLst>
                        <a:ext uri="{9D8B030D-6E8A-4147-A177-3AD203B41FA5}">
                          <a16:colId xmlns:a16="http://schemas.microsoft.com/office/drawing/2014/main" val="1698922967"/>
                        </a:ext>
                      </a:extLst>
                    </a:gridCol>
                    <a:gridCol w="1308296">
                      <a:extLst>
                        <a:ext uri="{9D8B030D-6E8A-4147-A177-3AD203B41FA5}">
                          <a16:colId xmlns:a16="http://schemas.microsoft.com/office/drawing/2014/main" val="802323705"/>
                        </a:ext>
                      </a:extLst>
                    </a:gridCol>
                    <a:gridCol w="3314736">
                      <a:extLst>
                        <a:ext uri="{9D8B030D-6E8A-4147-A177-3AD203B41FA5}">
                          <a16:colId xmlns:a16="http://schemas.microsoft.com/office/drawing/2014/main" val="111345989"/>
                        </a:ext>
                      </a:extLst>
                    </a:gridCol>
                    <a:gridCol w="1074383">
                      <a:extLst>
                        <a:ext uri="{9D8B030D-6E8A-4147-A177-3AD203B41FA5}">
                          <a16:colId xmlns:a16="http://schemas.microsoft.com/office/drawing/2014/main" val="1167941338"/>
                        </a:ext>
                      </a:extLst>
                    </a:gridCol>
                  </a:tblGrid>
                  <a:tr h="91440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1743" t="-3333" r="-32661" b="-524000"/>
                          </a:stretch>
                        </a:blip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=218.37</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=239.4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14.3*3.53+23+</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=211.55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=232.54</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=253.74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11.6*1.76+13+</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=188.02</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12.6*3.14+15+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11*3.27+17+</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endParaRPr lang="zh-TW" altLang="en-US"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10*3.74+11+</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endParaRPr lang="zh-TW" altLang="en-US"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16.6*3.71+13+</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endParaRPr lang="zh-TW" altLang="en-US"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14.6*5.9   = </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3" name="圖片 2">
            <a:extLst>
              <a:ext uri="{FF2B5EF4-FFF2-40B4-BE49-F238E27FC236}">
                <a16:creationId xmlns:a16="http://schemas.microsoft.com/office/drawing/2014/main" id="{0636B7E4-AD18-410B-B923-D74CAA4C2C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5082" y="222565"/>
            <a:ext cx="3508479" cy="3499073"/>
          </a:xfrm>
          <a:prstGeom prst="rect">
            <a:avLst/>
          </a:prstGeom>
        </p:spPr>
      </p:pic>
    </p:spTree>
    <p:extLst>
      <p:ext uri="{BB962C8B-B14F-4D97-AF65-F5344CB8AC3E}">
        <p14:creationId xmlns:p14="http://schemas.microsoft.com/office/powerpoint/2010/main" val="241117091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4">
            <a:extLst>
              <a:ext uri="{FF2B5EF4-FFF2-40B4-BE49-F238E27FC236}">
                <a16:creationId xmlns:a16="http://schemas.microsoft.com/office/drawing/2014/main" id="{B2309EA4-1FC4-42C1-8FDB-6E188E0B2200}"/>
              </a:ext>
            </a:extLst>
          </p:cNvPr>
          <p:cNvPicPr>
            <a:picLocks noChangeAspect="1"/>
          </p:cNvPicPr>
          <p:nvPr/>
        </p:nvPicPr>
        <p:blipFill>
          <a:blip r:embed="rId3"/>
          <a:stretch>
            <a:fillRect/>
          </a:stretch>
        </p:blipFill>
        <p:spPr>
          <a:xfrm>
            <a:off x="6829223" y="5988588"/>
            <a:ext cx="5308963" cy="869412"/>
          </a:xfrm>
          <a:prstGeom prst="rect">
            <a:avLst/>
          </a:prstGeom>
        </p:spPr>
      </p:pic>
      <mc:AlternateContent xmlns:mc="http://schemas.openxmlformats.org/markup-compatibility/2006" xmlns:a14="http://schemas.microsoft.com/office/drawing/2010/main">
        <mc:Choice Requires="a14">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1344299976"/>
                  </p:ext>
                </p:extLst>
              </p:nvPr>
            </p:nvGraphicFramePr>
            <p:xfrm>
              <a:off x="53814" y="267287"/>
              <a:ext cx="8315234" cy="5880228"/>
            </p:xfrm>
            <a:graphic>
              <a:graphicData uri="http://schemas.openxmlformats.org/drawingml/2006/table">
                <a:tbl>
                  <a:tblPr firstRow="1" bandRow="1">
                    <a:tableStyleId>{5C22544A-7EE6-4342-B048-85BDC9FD1C3A}</a:tableStyleId>
                  </a:tblPr>
                  <a:tblGrid>
                    <a:gridCol w="624171">
                      <a:extLst>
                        <a:ext uri="{9D8B030D-6E8A-4147-A177-3AD203B41FA5}">
                          <a16:colId xmlns:a16="http://schemas.microsoft.com/office/drawing/2014/main" val="239911059"/>
                        </a:ext>
                      </a:extLst>
                    </a:gridCol>
                    <a:gridCol w="809585">
                      <a:extLst>
                        <a:ext uri="{9D8B030D-6E8A-4147-A177-3AD203B41FA5}">
                          <a16:colId xmlns:a16="http://schemas.microsoft.com/office/drawing/2014/main" val="2696759501"/>
                        </a:ext>
                      </a:extLst>
                    </a:gridCol>
                    <a:gridCol w="1026439">
                      <a:extLst>
                        <a:ext uri="{9D8B030D-6E8A-4147-A177-3AD203B41FA5}">
                          <a16:colId xmlns:a16="http://schemas.microsoft.com/office/drawing/2014/main" val="1698922967"/>
                        </a:ext>
                      </a:extLst>
                    </a:gridCol>
                    <a:gridCol w="1344491">
                      <a:extLst>
                        <a:ext uri="{9D8B030D-6E8A-4147-A177-3AD203B41FA5}">
                          <a16:colId xmlns:a16="http://schemas.microsoft.com/office/drawing/2014/main" val="802323705"/>
                        </a:ext>
                      </a:extLst>
                    </a:gridCol>
                    <a:gridCol w="3031491">
                      <a:extLst>
                        <a:ext uri="{9D8B030D-6E8A-4147-A177-3AD203B41FA5}">
                          <a16:colId xmlns:a16="http://schemas.microsoft.com/office/drawing/2014/main" val="111345989"/>
                        </a:ext>
                      </a:extLst>
                    </a:gridCol>
                    <a:gridCol w="1479057">
                      <a:extLst>
                        <a:ext uri="{9D8B030D-6E8A-4147-A177-3AD203B41FA5}">
                          <a16:colId xmlns:a16="http://schemas.microsoft.com/office/drawing/2014/main" val="1167941338"/>
                        </a:ext>
                      </a:extLst>
                    </a:gridCol>
                  </a:tblGrid>
                  <a:tr h="914399">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sSub>
                                <m:sSubPr>
                                  <m:ctrlPr>
                                    <a:rPr lang="en-US" altLang="zh-TW" sz="1800" b="0" i="1" u="none" strike="noStrike" kern="1200" smtClean="0">
                                      <a:solidFill>
                                        <a:schemeClr val="tx1"/>
                                      </a:solidFill>
                                      <a:effectLst/>
                                      <a:latin typeface="Cambria Math" panose="02040503050406030204" pitchFamily="18" charset="0"/>
                                      <a:ea typeface="+mn-ea"/>
                                      <a:cs typeface="+mn-cs"/>
                                    </a:rPr>
                                  </m:ctrlPr>
                                </m:sSubPr>
                                <m:e>
                                  <m:r>
                                    <a:rPr lang="en-US" altLang="zh-TW" sz="1800" b="0" i="1" u="none" strike="noStrike" kern="1200" smtClean="0">
                                      <a:solidFill>
                                        <a:schemeClr val="tx1"/>
                                      </a:solidFill>
                                      <a:effectLst/>
                                      <a:latin typeface="Cambria Math" panose="02040503050406030204" pitchFamily="18" charset="0"/>
                                      <a:ea typeface="+mn-ea"/>
                                      <a:cs typeface="+mn-cs"/>
                                    </a:rPr>
                                    <m:t>𝑅𝑎𝑛𝑘</m:t>
                                  </m:r>
                                </m:e>
                                <m:sub>
                                  <m:r>
                                    <a:rPr lang="en-US" altLang="zh-TW" sz="1800" b="0" i="1" u="none" strike="noStrike" kern="1200" smtClean="0">
                                      <a:solidFill>
                                        <a:schemeClr val="tx1"/>
                                      </a:solidFill>
                                      <a:effectLst/>
                                      <a:latin typeface="Cambria Math" panose="02040503050406030204" pitchFamily="18" charset="0"/>
                                      <a:ea typeface="+mn-ea"/>
                                      <a:cs typeface="+mn-cs"/>
                                    </a:rPr>
                                    <m:t>𝑢</m:t>
                                  </m:r>
                                </m:sub>
                              </m:sSub>
                            </m:oMath>
                          </a14:m>
                          <a:r>
                            <a:rPr lang="en-US" altLang="zh-TW" sz="1800" b="0" i="0" u="none" strike="noStrike" kern="1200" dirty="0">
                              <a:solidFill>
                                <a:schemeClr val="tx1"/>
                              </a:solidFill>
                              <a:effectLst/>
                              <a:latin typeface="+mn-lt"/>
                              <a:ea typeface="+mn-ea"/>
                              <a:cs typeface="+mn-cs"/>
                            </a:rPr>
                            <a:t>(</a:t>
                          </a:r>
                          <a14:m>
                            <m:oMath xmlns:m="http://schemas.openxmlformats.org/officeDocument/2006/math">
                              <m:sSub>
                                <m:sSubPr>
                                  <m:ctrlPr>
                                    <a:rPr lang="el-GR" altLang="zh-TW" sz="1800" b="0" i="1" u="none" strike="noStrike" kern="1200" dirty="0" smtClean="0">
                                      <a:solidFill>
                                        <a:schemeClr val="tx1"/>
                                      </a:solidFill>
                                      <a:effectLst/>
                                      <a:latin typeface="Cambria Math" panose="02040503050406030204" pitchFamily="18" charset="0"/>
                                      <a:ea typeface="+mn-ea"/>
                                      <a:cs typeface="+mn-cs"/>
                                    </a:rPr>
                                  </m:ctrlPr>
                                </m:sSubPr>
                                <m:e>
                                  <m:r>
                                    <a:rPr lang="en-US" altLang="zh-TW" sz="1800" b="0" i="1" u="none" strike="noStrike" kern="1200" dirty="0" smtClean="0">
                                      <a:solidFill>
                                        <a:schemeClr val="tx1"/>
                                      </a:solidFill>
                                      <a:effectLst/>
                                      <a:latin typeface="Cambria Math" panose="02040503050406030204" pitchFamily="18" charset="0"/>
                                      <a:ea typeface="+mn-ea"/>
                                      <a:cs typeface="+mn-cs"/>
                                    </a:rPr>
                                    <m:t>𝑣</m:t>
                                  </m:r>
                                </m:e>
                                <m:sub>
                                  <m:r>
                                    <a:rPr lang="en-US" altLang="zh-TW" sz="1800" b="0" i="1" u="none" strike="noStrike" kern="1200" dirty="0" smtClean="0">
                                      <a:solidFill>
                                        <a:schemeClr val="tx1"/>
                                      </a:solidFill>
                                      <a:effectLst/>
                                      <a:latin typeface="Cambria Math" panose="02040503050406030204" pitchFamily="18" charset="0"/>
                                      <a:ea typeface="+mn-ea"/>
                                      <a:cs typeface="+mn-cs"/>
                                    </a:rPr>
                                    <m:t>𝑖</m:t>
                                  </m:r>
                                </m:sub>
                              </m:sSub>
                            </m:oMath>
                          </a14:m>
                          <a:r>
                            <a:rPr lang="en-US" altLang="zh-TW" sz="1800" b="0" i="0" u="none" strike="noStrike"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sSub>
                                <m:sSubPr>
                                  <m:ctrlPr>
                                    <a:rPr lang="en-US" altLang="zh-TW" sz="1800" b="0" i="1" u="none" strike="noStrike" kern="1200" smtClean="0">
                                      <a:solidFill>
                                        <a:schemeClr val="tx1"/>
                                      </a:solidFill>
                                      <a:effectLst/>
                                      <a:latin typeface="Cambria Math" panose="02040503050406030204" pitchFamily="18" charset="0"/>
                                      <a:ea typeface="+mn-ea"/>
                                      <a:cs typeface="+mn-cs"/>
                                    </a:rPr>
                                  </m:ctrlPr>
                                </m:sSubPr>
                                <m:e>
                                  <m:r>
                                    <a:rPr lang="en-US" altLang="zh-TW" sz="1800" b="0" i="1" u="none" strike="noStrike" kern="1200" smtClean="0">
                                      <a:solidFill>
                                        <a:schemeClr val="tx1"/>
                                      </a:solidFill>
                                      <a:effectLst/>
                                      <a:latin typeface="Cambria Math" panose="02040503050406030204" pitchFamily="18" charset="0"/>
                                      <a:ea typeface="+mn-ea"/>
                                      <a:cs typeface="+mn-cs"/>
                                    </a:rPr>
                                    <m:t>𝑅𝑎𝑛𝑘</m:t>
                                  </m:r>
                                </m:e>
                                <m:sub>
                                  <m:r>
                                    <a:rPr lang="en-US" altLang="zh-TW" sz="1800" b="0" i="1" u="none" strike="noStrike" kern="1200" smtClean="0">
                                      <a:solidFill>
                                        <a:schemeClr val="tx1"/>
                                      </a:solidFill>
                                      <a:effectLst/>
                                      <a:latin typeface="Cambria Math" panose="02040503050406030204" pitchFamily="18" charset="0"/>
                                      <a:ea typeface="+mn-ea"/>
                                      <a:cs typeface="+mn-cs"/>
                                    </a:rPr>
                                    <m:t>𝑢</m:t>
                                  </m:r>
                                </m:sub>
                              </m:sSub>
                            </m:oMath>
                          </a14:m>
                          <a:r>
                            <a:rPr lang="en-US" altLang="zh-TW" sz="1800" b="0" i="0" u="none" strike="noStrike" kern="1200" dirty="0">
                              <a:solidFill>
                                <a:schemeClr val="tx1"/>
                              </a:solidFill>
                              <a:effectLst/>
                              <a:latin typeface="+mn-lt"/>
                              <a:ea typeface="+mn-ea"/>
                              <a:cs typeface="+mn-cs"/>
                            </a:rPr>
                            <a:t>(</a:t>
                          </a:r>
                          <a14:m>
                            <m:oMath xmlns:m="http://schemas.openxmlformats.org/officeDocument/2006/math">
                              <m:sSub>
                                <m:sSubPr>
                                  <m:ctrlPr>
                                    <a:rPr lang="el-GR" altLang="zh-TW" sz="1800" b="0" i="1" u="none" strike="noStrike" kern="1200" dirty="0" smtClean="0">
                                      <a:solidFill>
                                        <a:schemeClr val="tx1"/>
                                      </a:solidFill>
                                      <a:effectLst/>
                                      <a:latin typeface="Cambria Math" panose="02040503050406030204" pitchFamily="18" charset="0"/>
                                      <a:ea typeface="+mn-ea"/>
                                      <a:cs typeface="+mn-cs"/>
                                    </a:rPr>
                                  </m:ctrlPr>
                                </m:sSubPr>
                                <m:e>
                                  <m:r>
                                    <a:rPr lang="en-US" altLang="zh-TW" sz="1800" b="0" i="1" u="none" strike="noStrike" kern="1200" dirty="0" smtClean="0">
                                      <a:solidFill>
                                        <a:schemeClr val="tx1"/>
                                      </a:solidFill>
                                      <a:effectLst/>
                                      <a:latin typeface="Cambria Math" panose="02040503050406030204" pitchFamily="18" charset="0"/>
                                      <a:ea typeface="+mn-ea"/>
                                      <a:cs typeface="+mn-cs"/>
                                    </a:rPr>
                                    <m:t>𝑣</m:t>
                                  </m:r>
                                </m:e>
                                <m:sub>
                                  <m:r>
                                    <a:rPr lang="en-US" altLang="zh-TW" sz="1800" b="0" i="1" u="none" strike="noStrike" kern="1200" dirty="0" smtClean="0">
                                      <a:solidFill>
                                        <a:schemeClr val="tx1"/>
                                      </a:solidFill>
                                      <a:effectLst/>
                                      <a:latin typeface="Cambria Math" panose="02040503050406030204" pitchFamily="18" charset="0"/>
                                      <a:ea typeface="+mn-ea"/>
                                      <a:cs typeface="+mn-cs"/>
                                    </a:rPr>
                                    <m:t>𝑖</m:t>
                                  </m:r>
                                </m:sub>
                              </m:sSub>
                            </m:oMath>
                          </a14:m>
                          <a:r>
                            <a:rPr lang="en-US" altLang="zh-TW" sz="1800" b="0" i="0" u="none" strike="noStrike"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13*2.93+64+</a:t>
                          </a:r>
                          <a:r>
                            <a:rPr lang="en-US" altLang="zh-TW" b="0" dirty="0">
                              <a:solidFill>
                                <a:schemeClr val="tx1"/>
                              </a:solidFill>
                              <a:highlight>
                                <a:srgbClr val="FF0000"/>
                              </a:highlight>
                              <a:latin typeface="Times New Roman" panose="02020603050405020304" pitchFamily="18" charset="0"/>
                              <a:ea typeface="標楷體" panose="03000509000000000000" pitchFamily="65" charset="-120"/>
                              <a:cs typeface="Times New Roman" panose="02020603050405020304" pitchFamily="18" charset="0"/>
                            </a:rPr>
                            <a:t>253.74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=355.86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=218.37</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=239.4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14.3*3.53+23+</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=211.55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72654">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=232.54</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b="0" dirty="0">
                              <a:solidFill>
                                <a:schemeClr val="tx1"/>
                              </a:solidFill>
                              <a:highlight>
                                <a:srgbClr val="FF0000"/>
                              </a:highlight>
                              <a:latin typeface="Times New Roman" panose="02020603050405020304" pitchFamily="18" charset="0"/>
                              <a:ea typeface="標楷體" panose="03000509000000000000" pitchFamily="65" charset="-120"/>
                              <a:cs typeface="Times New Roman" panose="02020603050405020304" pitchFamily="18" charset="0"/>
                            </a:rPr>
                            <a:t>253.74</a:t>
                          </a:r>
                          <a:endParaRPr lang="zh-TW" altLang="en-US" b="0" dirty="0">
                            <a:solidFill>
                              <a:schemeClr val="tx1"/>
                            </a:solidFill>
                            <a:highlight>
                              <a:srgbClr val="FF00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11.6*1.76+13+</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=188.02</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12.6*3.14+15+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11*3.27+17+</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endParaRPr lang="zh-TW" altLang="en-US"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8</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10*3.74+11+</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endParaRPr lang="zh-TW" altLang="en-US"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16.6*3.71+13+</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endParaRPr lang="zh-TW" altLang="en-US"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14.6*5.9   = </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Choice>
        <mc:Fallback xmlns="">
          <p:graphicFrame>
            <p:nvGraphicFramePr>
              <p:cNvPr id="7" name="表格 4">
                <a:extLst>
                  <a:ext uri="{FF2B5EF4-FFF2-40B4-BE49-F238E27FC236}">
                    <a16:creationId xmlns:a16="http://schemas.microsoft.com/office/drawing/2014/main" id="{43757802-1506-4C84-BF55-A641CC7BE2F0}"/>
                  </a:ext>
                </a:extLst>
              </p:cNvPr>
              <p:cNvGraphicFramePr>
                <a:graphicFrameLocks noGrp="1"/>
              </p:cNvGraphicFramePr>
              <p:nvPr>
                <p:extLst>
                  <p:ext uri="{D42A27DB-BD31-4B8C-83A1-F6EECF244321}">
                    <p14:modId xmlns:p14="http://schemas.microsoft.com/office/powerpoint/2010/main" val="1344299976"/>
                  </p:ext>
                </p:extLst>
              </p:nvPr>
            </p:nvGraphicFramePr>
            <p:xfrm>
              <a:off x="53814" y="267287"/>
              <a:ext cx="8315234" cy="5880228"/>
            </p:xfrm>
            <a:graphic>
              <a:graphicData uri="http://schemas.openxmlformats.org/drawingml/2006/table">
                <a:tbl>
                  <a:tblPr firstRow="1" bandRow="1">
                    <a:tableStyleId>{5C22544A-7EE6-4342-B048-85BDC9FD1C3A}</a:tableStyleId>
                  </a:tblPr>
                  <a:tblGrid>
                    <a:gridCol w="624171">
                      <a:extLst>
                        <a:ext uri="{9D8B030D-6E8A-4147-A177-3AD203B41FA5}">
                          <a16:colId xmlns:a16="http://schemas.microsoft.com/office/drawing/2014/main" val="239911059"/>
                        </a:ext>
                      </a:extLst>
                    </a:gridCol>
                    <a:gridCol w="809585">
                      <a:extLst>
                        <a:ext uri="{9D8B030D-6E8A-4147-A177-3AD203B41FA5}">
                          <a16:colId xmlns:a16="http://schemas.microsoft.com/office/drawing/2014/main" val="2696759501"/>
                        </a:ext>
                      </a:extLst>
                    </a:gridCol>
                    <a:gridCol w="1026439">
                      <a:extLst>
                        <a:ext uri="{9D8B030D-6E8A-4147-A177-3AD203B41FA5}">
                          <a16:colId xmlns:a16="http://schemas.microsoft.com/office/drawing/2014/main" val="1698922967"/>
                        </a:ext>
                      </a:extLst>
                    </a:gridCol>
                    <a:gridCol w="1344491">
                      <a:extLst>
                        <a:ext uri="{9D8B030D-6E8A-4147-A177-3AD203B41FA5}">
                          <a16:colId xmlns:a16="http://schemas.microsoft.com/office/drawing/2014/main" val="802323705"/>
                        </a:ext>
                      </a:extLst>
                    </a:gridCol>
                    <a:gridCol w="3031491">
                      <a:extLst>
                        <a:ext uri="{9D8B030D-6E8A-4147-A177-3AD203B41FA5}">
                          <a16:colId xmlns:a16="http://schemas.microsoft.com/office/drawing/2014/main" val="111345989"/>
                        </a:ext>
                      </a:extLst>
                    </a:gridCol>
                    <a:gridCol w="1479057">
                      <a:extLst>
                        <a:ext uri="{9D8B030D-6E8A-4147-A177-3AD203B41FA5}">
                          <a16:colId xmlns:a16="http://schemas.microsoft.com/office/drawing/2014/main" val="1167941338"/>
                        </a:ext>
                      </a:extLst>
                    </a:gridCol>
                  </a:tblGrid>
                  <a:tr h="91440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平均處理時間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l-GR" altLang="zh-TW" sz="1800" b="1" i="0" u="none" strike="noStrike" kern="1200" dirty="0">
                              <a:solidFill>
                                <a:schemeClr val="tx1"/>
                              </a:solidFill>
                              <a:effectLst/>
                              <a:latin typeface="+mn-lt"/>
                              <a:ea typeface="+mn-ea"/>
                              <a:cs typeface="+mn-cs"/>
                            </a:rPr>
                            <a:t>σ</a:t>
                          </a:r>
                          <a:r>
                            <a:rPr lang="en-US" altLang="zh-TW" sz="1800" b="0" i="0" u="none" strike="noStrike" kern="1200" dirty="0">
                              <a:solidFill>
                                <a:schemeClr val="tx1"/>
                              </a:solidFill>
                              <a:effectLst/>
                              <a:latin typeface="+mn-lt"/>
                              <a:ea typeface="+mn-ea"/>
                              <a:cs typeface="+mn-cs"/>
                            </a:rPr>
                            <a:t>(</a:t>
                          </a:r>
                          <a:r>
                            <a:rPr lang="en-US" altLang="zh-TW" sz="1800" b="0" i="0" kern="1200" dirty="0">
                              <a:solidFill>
                                <a:schemeClr val="tx1"/>
                              </a:solidFill>
                              <a:effectLst/>
                              <a:latin typeface="+mn-lt"/>
                              <a:ea typeface="+mn-ea"/>
                              <a:cs typeface="+mn-cs"/>
                            </a:rPr>
                            <a:t>sigma</a:t>
                          </a:r>
                          <a:r>
                            <a:rPr lang="zh-TW" altLang="en-US" sz="1800" b="0" i="0" kern="1200" dirty="0">
                              <a:solidFill>
                                <a:schemeClr val="tx1"/>
                              </a:solidFill>
                              <a:effectLst/>
                              <a:latin typeface="+mn-lt"/>
                              <a:ea typeface="+mn-ea"/>
                              <a:cs typeface="+mn-cs"/>
                            </a:rPr>
                            <a: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Occw</a:t>
                          </a:r>
                          <a:endPar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Out degree cost</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5956" t="-3333" r="-49296" b="-550667"/>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62140" t="-3333" r="-823" b="-550667"/>
                          </a:stretch>
                        </a:blipFill>
                      </a:tcPr>
                    </a:tc>
                    <a:extLst>
                      <a:ext uri="{0D108BD9-81ED-4DB2-BD59-A6C34878D82A}">
                        <a16:rowId xmlns:a16="http://schemas.microsoft.com/office/drawing/2014/main" val="2531583041"/>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18+12+9+ 11+14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13*2.93+64+</a:t>
                          </a:r>
                          <a:r>
                            <a:rPr lang="en-US" altLang="zh-TW" b="0" dirty="0">
                              <a:solidFill>
                                <a:schemeClr val="tx1"/>
                              </a:solidFill>
                              <a:highlight>
                                <a:srgbClr val="FF0000"/>
                              </a:highlight>
                              <a:latin typeface="Times New Roman" panose="02020603050405020304" pitchFamily="18" charset="0"/>
                              <a:ea typeface="標楷體" panose="03000509000000000000" pitchFamily="65" charset="-120"/>
                              <a:cs typeface="Times New Roman" panose="02020603050405020304" pitchFamily="18" charset="0"/>
                            </a:rPr>
                            <a:t>253.74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=355.86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3.01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16+19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=218.37</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16.6*3.01+35+</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=239.4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3.54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14.3*3.53+23+</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=211.55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64008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27+23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=232.54</a:t>
                          </a:r>
                        </a:p>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12.6*3.9+50+</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b="0" dirty="0">
                              <a:solidFill>
                                <a:schemeClr val="tx1"/>
                              </a:solidFill>
                              <a:highlight>
                                <a:srgbClr val="FF0000"/>
                              </a:highlight>
                              <a:latin typeface="Times New Roman" panose="02020603050405020304" pitchFamily="18" charset="0"/>
                              <a:ea typeface="標楷體" panose="03000509000000000000" pitchFamily="65" charset="-120"/>
                              <a:cs typeface="Times New Roman" panose="02020603050405020304" pitchFamily="18" charset="0"/>
                            </a:rPr>
                            <a:t>253.74</a:t>
                          </a:r>
                          <a:endParaRPr lang="zh-TW" altLang="en-US" b="0" dirty="0">
                            <a:solidFill>
                              <a:schemeClr val="tx1"/>
                            </a:solidFill>
                            <a:highlight>
                              <a:srgbClr val="FF00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11.6*1.76+13+</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=188.02</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3.14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12.6*3.14+15+</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=188.06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3.27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11*3.27+17+</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rPr>
                            <a:t>137.97</a:t>
                          </a:r>
                          <a:endParaRPr lang="zh-TW" altLang="en-US" b="0" dirty="0">
                            <a:solidFill>
                              <a:schemeClr val="tx1"/>
                            </a:solidFill>
                            <a:highlight>
                              <a:srgbClr val="FF00FF"/>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8</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3.74</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10*3.74+11+</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133.4</a:t>
                          </a:r>
                          <a:endParaRPr lang="zh-TW" altLang="en-US" b="0"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3.71</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13</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16.6*3.71+13+</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 </a:t>
                          </a:r>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rPr>
                            <a:t>154.6</a:t>
                          </a:r>
                          <a:endParaRPr lang="zh-TW" altLang="en-US" b="0" dirty="0">
                            <a:solidFill>
                              <a:schemeClr val="tx1"/>
                            </a:solidFill>
                            <a:highlight>
                              <a:srgbClr val="00FF0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7</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40091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5.9</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14.6*5.9   = </a:t>
                          </a:r>
                          <a:r>
                            <a:rPr lang="en-US" altLang="zh-TW"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rPr>
                            <a:t>85</a:t>
                          </a:r>
                          <a:endParaRPr lang="zh-TW" altLang="en-US" b="0" dirty="0">
                            <a:solidFill>
                              <a:schemeClr val="tx1"/>
                            </a:solidFill>
                            <a:highlight>
                              <a:srgbClr val="C0C0C0"/>
                            </a:highlight>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10</a:t>
                          </a:r>
                          <a:endParaRPr lang="zh-TW" altLang="en-US" b="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mc:Fallback>
      </mc:AlternateContent>
      <p:pic>
        <p:nvPicPr>
          <p:cNvPr id="8" name="圖片 7">
            <a:extLst>
              <a:ext uri="{FF2B5EF4-FFF2-40B4-BE49-F238E27FC236}">
                <a16:creationId xmlns:a16="http://schemas.microsoft.com/office/drawing/2014/main" id="{FC0F9C04-39EA-4C26-84D1-95E791D41A98}"/>
              </a:ext>
            </a:extLst>
          </p:cNvPr>
          <p:cNvPicPr>
            <a:picLocks noChangeAspect="1"/>
          </p:cNvPicPr>
          <p:nvPr/>
        </p:nvPicPr>
        <p:blipFill>
          <a:blip r:embed="rId5"/>
          <a:stretch>
            <a:fillRect/>
          </a:stretch>
        </p:blipFill>
        <p:spPr>
          <a:xfrm>
            <a:off x="8369047" y="218050"/>
            <a:ext cx="3543300" cy="3552825"/>
          </a:xfrm>
          <a:prstGeom prst="rect">
            <a:avLst/>
          </a:prstGeom>
        </p:spPr>
      </p:pic>
    </p:spTree>
    <p:extLst>
      <p:ext uri="{BB962C8B-B14F-4D97-AF65-F5344CB8AC3E}">
        <p14:creationId xmlns:p14="http://schemas.microsoft.com/office/powerpoint/2010/main" val="7279483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0E2BF4-491A-474C-87BB-39A7AED66F6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B4E264A-280B-4D22-94B2-2EFCD6DC247F}"/>
              </a:ext>
            </a:extLst>
          </p:cNvPr>
          <p:cNvSpPr>
            <a:spLocks noGrp="1"/>
          </p:cNvSpPr>
          <p:nvPr>
            <p:ph idx="1"/>
          </p:nvPr>
        </p:nvSpPr>
        <p:spPr/>
        <p:txBody>
          <a:bodyPr/>
          <a:lstStyle/>
          <a:p>
            <a:r>
              <a:rPr lang="zh-TW" altLang="en-US" dirty="0"/>
              <a:t>處理器選擇階段通常是根據任務調度順序的優先級，分配給最小的</a:t>
            </a:r>
            <a:r>
              <a:rPr lang="en-US" altLang="zh-TW" dirty="0"/>
              <a:t>EFT</a:t>
            </a:r>
            <a:r>
              <a:rPr lang="zh-TW" altLang="en-US" dirty="0"/>
              <a:t>處理器執行的</a:t>
            </a:r>
            <a:r>
              <a:rPr lang="en-US" altLang="zh-TW" dirty="0"/>
              <a:t>[2]</a:t>
            </a:r>
            <a:r>
              <a:rPr lang="zh-TW" altLang="en-US" dirty="0"/>
              <a:t>。 在上述策略的基礎上，提出了兩種創新策略，即入口任務重複選擇策略和基於</a:t>
            </a:r>
            <a:r>
              <a:rPr lang="en-US" altLang="zh-TW" dirty="0"/>
              <a:t>ITS</a:t>
            </a:r>
            <a:r>
              <a:rPr lang="zh-TW" altLang="en-US" dirty="0"/>
              <a:t>插入的優化策略，以提高調度算法的效率。</a:t>
            </a:r>
            <a:endParaRPr lang="en-US" altLang="zh-TW" dirty="0"/>
          </a:p>
          <a:p>
            <a:r>
              <a:rPr lang="zh-TW" altLang="en-US" dirty="0">
                <a:solidFill>
                  <a:srgbClr val="FF0000"/>
                </a:solidFill>
              </a:rPr>
              <a:t>。 因此，計算成本差異較大的任務可以獲得更高的優先級，從而提高子節點的傳輸時間</a:t>
            </a:r>
            <a:r>
              <a:rPr lang="zh-TW" altLang="en-US" dirty="0">
                <a:solidFill>
                  <a:srgbClr val="00B050"/>
                </a:solidFill>
              </a:rPr>
              <a:t>。</a:t>
            </a:r>
            <a:endParaRPr lang="zh-TW" altLang="en-US" dirty="0"/>
          </a:p>
        </p:txBody>
      </p:sp>
    </p:spTree>
    <p:extLst>
      <p:ext uri="{BB962C8B-B14F-4D97-AF65-F5344CB8AC3E}">
        <p14:creationId xmlns:p14="http://schemas.microsoft.com/office/powerpoint/2010/main" val="214285692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2242913428"/>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38498">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3849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38498">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38498">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38498">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38498">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38498">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38498">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38498">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38498">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38498">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2242913428"/>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5760">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785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8485" t="-101563" r="-922222"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4478" t="-101563" r="-3843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085" t="-101563" r="-1051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5760">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5760">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5760">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5760">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5760">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576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5760">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5760">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5760">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2902323566"/>
              </p:ext>
            </p:extLst>
          </p:nvPr>
        </p:nvGraphicFramePr>
        <p:xfrm>
          <a:off x="8185201" y="2818899"/>
          <a:ext cx="3073400" cy="4039101"/>
        </p:xfrm>
        <a:graphic>
          <a:graphicData uri="http://schemas.openxmlformats.org/drawingml/2006/table">
            <a:tbl>
              <a:tblPr firstRow="1" bandRow="1">
                <a:tableStyleId>{5C22544A-7EE6-4342-B048-85BDC9FD1C3A}</a:tableStyleId>
              </a:tblPr>
              <a:tblGrid>
                <a:gridCol w="768350">
                  <a:extLst>
                    <a:ext uri="{9D8B030D-6E8A-4147-A177-3AD203B41FA5}">
                      <a16:colId xmlns:a16="http://schemas.microsoft.com/office/drawing/2014/main" val="321835290"/>
                    </a:ext>
                  </a:extLst>
                </a:gridCol>
                <a:gridCol w="768350">
                  <a:extLst>
                    <a:ext uri="{9D8B030D-6E8A-4147-A177-3AD203B41FA5}">
                      <a16:colId xmlns:a16="http://schemas.microsoft.com/office/drawing/2014/main" val="120986023"/>
                    </a:ext>
                  </a:extLst>
                </a:gridCol>
                <a:gridCol w="760414">
                  <a:extLst>
                    <a:ext uri="{9D8B030D-6E8A-4147-A177-3AD203B41FA5}">
                      <a16:colId xmlns:a16="http://schemas.microsoft.com/office/drawing/2014/main" val="956206097"/>
                    </a:ext>
                  </a:extLst>
                </a:gridCol>
                <a:gridCol w="776286">
                  <a:extLst>
                    <a:ext uri="{9D8B030D-6E8A-4147-A177-3AD203B41FA5}">
                      <a16:colId xmlns:a16="http://schemas.microsoft.com/office/drawing/2014/main" val="1013173815"/>
                    </a:ext>
                  </a:extLst>
                </a:gridCol>
              </a:tblGrid>
              <a:tr h="0">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381501">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94921" y="0"/>
            <a:ext cx="2381544" cy="2387946"/>
          </a:xfrm>
          <a:prstGeom prst="rect">
            <a:avLst/>
          </a:prstGeom>
        </p:spPr>
      </p:pic>
    </p:spTree>
    <p:extLst>
      <p:ext uri="{BB962C8B-B14F-4D97-AF65-F5344CB8AC3E}">
        <p14:creationId xmlns:p14="http://schemas.microsoft.com/office/powerpoint/2010/main" val="88576329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3670274605"/>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38498">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3849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38498">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38498">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38498">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38498">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38498">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38498">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38498">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38498">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38498">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3670274605"/>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5760">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785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8485" t="-101563" r="-922222"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4478" t="-101563" r="-3843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085" t="-101563" r="-1051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5760">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5760">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5760">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5760">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5760">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576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5760">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5760">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5760">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2452895890"/>
              </p:ext>
            </p:extLst>
          </p:nvPr>
        </p:nvGraphicFramePr>
        <p:xfrm>
          <a:off x="7994921" y="2790825"/>
          <a:ext cx="3073400" cy="4039101"/>
        </p:xfrm>
        <a:graphic>
          <a:graphicData uri="http://schemas.openxmlformats.org/drawingml/2006/table">
            <a:tbl>
              <a:tblPr firstRow="1" bandRow="1">
                <a:tableStyleId>{5C22544A-7EE6-4342-B048-85BDC9FD1C3A}</a:tableStyleId>
              </a:tblPr>
              <a:tblGrid>
                <a:gridCol w="768350">
                  <a:extLst>
                    <a:ext uri="{9D8B030D-6E8A-4147-A177-3AD203B41FA5}">
                      <a16:colId xmlns:a16="http://schemas.microsoft.com/office/drawing/2014/main" val="321835290"/>
                    </a:ext>
                  </a:extLst>
                </a:gridCol>
                <a:gridCol w="768350">
                  <a:extLst>
                    <a:ext uri="{9D8B030D-6E8A-4147-A177-3AD203B41FA5}">
                      <a16:colId xmlns:a16="http://schemas.microsoft.com/office/drawing/2014/main" val="120986023"/>
                    </a:ext>
                  </a:extLst>
                </a:gridCol>
                <a:gridCol w="768350">
                  <a:extLst>
                    <a:ext uri="{9D8B030D-6E8A-4147-A177-3AD203B41FA5}">
                      <a16:colId xmlns:a16="http://schemas.microsoft.com/office/drawing/2014/main" val="956206097"/>
                    </a:ext>
                  </a:extLst>
                </a:gridCol>
                <a:gridCol w="768350">
                  <a:extLst>
                    <a:ext uri="{9D8B030D-6E8A-4147-A177-3AD203B41FA5}">
                      <a16:colId xmlns:a16="http://schemas.microsoft.com/office/drawing/2014/main" val="1013173815"/>
                    </a:ext>
                  </a:extLst>
                </a:gridCol>
              </a:tblGrid>
              <a:tr h="0">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381501">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94921" y="0"/>
            <a:ext cx="2381544" cy="2387946"/>
          </a:xfrm>
          <a:prstGeom prst="rect">
            <a:avLst/>
          </a:prstGeom>
        </p:spPr>
      </p:pic>
    </p:spTree>
    <p:extLst>
      <p:ext uri="{BB962C8B-B14F-4D97-AF65-F5344CB8AC3E}">
        <p14:creationId xmlns:p14="http://schemas.microsoft.com/office/powerpoint/2010/main" val="404970427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38498">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3849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38498">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38498">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38498">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38498">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38498">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38498">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38498">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38498">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38498">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5760">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785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8485" t="-101563" r="-922222"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4478" t="-101563" r="-3843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085" t="-101563" r="-1051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5760">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5760">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5760">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5760">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5760">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576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5760">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5760">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5760">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828529891"/>
              </p:ext>
            </p:extLst>
          </p:nvPr>
        </p:nvGraphicFramePr>
        <p:xfrm>
          <a:off x="8275636" y="2855400"/>
          <a:ext cx="3073400" cy="4039101"/>
        </p:xfrm>
        <a:graphic>
          <a:graphicData uri="http://schemas.openxmlformats.org/drawingml/2006/table">
            <a:tbl>
              <a:tblPr firstRow="1" bandRow="1">
                <a:tableStyleId>{5C22544A-7EE6-4342-B048-85BDC9FD1C3A}</a:tableStyleId>
              </a:tblPr>
              <a:tblGrid>
                <a:gridCol w="768350">
                  <a:extLst>
                    <a:ext uri="{9D8B030D-6E8A-4147-A177-3AD203B41FA5}">
                      <a16:colId xmlns:a16="http://schemas.microsoft.com/office/drawing/2014/main" val="321835290"/>
                    </a:ext>
                  </a:extLst>
                </a:gridCol>
                <a:gridCol w="768350">
                  <a:extLst>
                    <a:ext uri="{9D8B030D-6E8A-4147-A177-3AD203B41FA5}">
                      <a16:colId xmlns:a16="http://schemas.microsoft.com/office/drawing/2014/main" val="120986023"/>
                    </a:ext>
                  </a:extLst>
                </a:gridCol>
                <a:gridCol w="768350">
                  <a:extLst>
                    <a:ext uri="{9D8B030D-6E8A-4147-A177-3AD203B41FA5}">
                      <a16:colId xmlns:a16="http://schemas.microsoft.com/office/drawing/2014/main" val="956206097"/>
                    </a:ext>
                  </a:extLst>
                </a:gridCol>
                <a:gridCol w="768350">
                  <a:extLst>
                    <a:ext uri="{9D8B030D-6E8A-4147-A177-3AD203B41FA5}">
                      <a16:colId xmlns:a16="http://schemas.microsoft.com/office/drawing/2014/main" val="1013173815"/>
                    </a:ext>
                  </a:extLst>
                </a:gridCol>
              </a:tblGrid>
              <a:tr h="0">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18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381501">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94921" y="0"/>
            <a:ext cx="2381544" cy="2387946"/>
          </a:xfrm>
          <a:prstGeom prst="rect">
            <a:avLst/>
          </a:prstGeom>
        </p:spPr>
      </p:pic>
    </p:spTree>
    <p:extLst>
      <p:ext uri="{BB962C8B-B14F-4D97-AF65-F5344CB8AC3E}">
        <p14:creationId xmlns:p14="http://schemas.microsoft.com/office/powerpoint/2010/main" val="11889426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1AB9DC-FE44-49D7-A8AC-373E4949F3E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FB6F1EA-3BC8-416C-9C70-EF97EB12A89C}"/>
              </a:ext>
            </a:extLst>
          </p:cNvPr>
          <p:cNvSpPr>
            <a:spLocks noGrp="1"/>
          </p:cNvSpPr>
          <p:nvPr>
            <p:ph idx="1"/>
          </p:nvPr>
        </p:nvSpPr>
        <p:spPr/>
        <p:txBody>
          <a:bodyPr/>
          <a:lstStyle/>
          <a:p>
            <a:r>
              <a:rPr lang="en-US" altLang="zh-TW" dirty="0"/>
              <a:t>Choose the processor </a:t>
            </a:r>
            <a:r>
              <a:rPr lang="en-US" altLang="zh-TW" dirty="0" err="1"/>
              <a:t>pj</a:t>
            </a:r>
            <a:r>
              <a:rPr lang="en-US" altLang="zh-TW" dirty="0"/>
              <a:t> which</a:t>
            </a:r>
          </a:p>
          <a:p>
            <a:pPr marL="0" indent="0">
              <a:buNone/>
            </a:pPr>
            <a:r>
              <a:rPr lang="en-US" altLang="zh-TW" dirty="0"/>
              <a:t> produce the minimum EFT for entry task;</a:t>
            </a:r>
          </a:p>
          <a:p>
            <a:endParaRPr lang="en-US" altLang="zh-TW" dirty="0"/>
          </a:p>
          <a:p>
            <a:pPr marL="0" indent="0">
              <a:buNone/>
            </a:pPr>
            <a:r>
              <a:rPr lang="en-US" altLang="zh-TW" dirty="0"/>
              <a:t>Determine whether the entry task in </a:t>
            </a:r>
          </a:p>
          <a:p>
            <a:pPr marL="0" indent="0">
              <a:buNone/>
            </a:pPr>
            <a:r>
              <a:rPr lang="en-US" altLang="zh-TW" dirty="0"/>
              <a:t>other processor Pi (</a:t>
            </a:r>
            <a:r>
              <a:rPr lang="en-US" altLang="zh-TW" dirty="0" err="1"/>
              <a:t>pi∈P</a:t>
            </a:r>
            <a:r>
              <a:rPr lang="en-US" altLang="zh-TW" dirty="0"/>
              <a:t>) need to be duplicated.</a:t>
            </a:r>
          </a:p>
        </p:txBody>
      </p:sp>
      <p:pic>
        <p:nvPicPr>
          <p:cNvPr id="5" name="圖片 4">
            <a:extLst>
              <a:ext uri="{FF2B5EF4-FFF2-40B4-BE49-F238E27FC236}">
                <a16:creationId xmlns:a16="http://schemas.microsoft.com/office/drawing/2014/main" id="{EB56C692-7229-4671-B7DF-5FAC40CD5324}"/>
              </a:ext>
            </a:extLst>
          </p:cNvPr>
          <p:cNvPicPr>
            <a:picLocks noChangeAspect="1"/>
          </p:cNvPicPr>
          <p:nvPr/>
        </p:nvPicPr>
        <p:blipFill>
          <a:blip r:embed="rId2"/>
          <a:stretch>
            <a:fillRect/>
          </a:stretch>
        </p:blipFill>
        <p:spPr>
          <a:xfrm>
            <a:off x="8303985" y="92075"/>
            <a:ext cx="3049815" cy="5337176"/>
          </a:xfrm>
          <a:prstGeom prst="rect">
            <a:avLst/>
          </a:prstGeom>
        </p:spPr>
      </p:pic>
    </p:spTree>
    <p:extLst>
      <p:ext uri="{BB962C8B-B14F-4D97-AF65-F5344CB8AC3E}">
        <p14:creationId xmlns:p14="http://schemas.microsoft.com/office/powerpoint/2010/main" val="39236110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38498">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3849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38498">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38498">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38498">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38498">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38498">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38498">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38498">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38498">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38498">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5760">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785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8485" t="-101563" r="-922222"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4478" t="-101563" r="-3843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085" t="-101563" r="-1051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5760">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5760">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5760">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5760">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5760">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576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5760">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5760">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5760">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nvGraphicFramePr>
        <p:xfrm>
          <a:off x="8275636" y="2855400"/>
          <a:ext cx="3073400" cy="4039101"/>
        </p:xfrm>
        <a:graphic>
          <a:graphicData uri="http://schemas.openxmlformats.org/drawingml/2006/table">
            <a:tbl>
              <a:tblPr firstRow="1" bandRow="1">
                <a:tableStyleId>{5C22544A-7EE6-4342-B048-85BDC9FD1C3A}</a:tableStyleId>
              </a:tblPr>
              <a:tblGrid>
                <a:gridCol w="768350">
                  <a:extLst>
                    <a:ext uri="{9D8B030D-6E8A-4147-A177-3AD203B41FA5}">
                      <a16:colId xmlns:a16="http://schemas.microsoft.com/office/drawing/2014/main" val="321835290"/>
                    </a:ext>
                  </a:extLst>
                </a:gridCol>
                <a:gridCol w="768350">
                  <a:extLst>
                    <a:ext uri="{9D8B030D-6E8A-4147-A177-3AD203B41FA5}">
                      <a16:colId xmlns:a16="http://schemas.microsoft.com/office/drawing/2014/main" val="120986023"/>
                    </a:ext>
                  </a:extLst>
                </a:gridCol>
                <a:gridCol w="768350">
                  <a:extLst>
                    <a:ext uri="{9D8B030D-6E8A-4147-A177-3AD203B41FA5}">
                      <a16:colId xmlns:a16="http://schemas.microsoft.com/office/drawing/2014/main" val="956206097"/>
                    </a:ext>
                  </a:extLst>
                </a:gridCol>
                <a:gridCol w="768350">
                  <a:extLst>
                    <a:ext uri="{9D8B030D-6E8A-4147-A177-3AD203B41FA5}">
                      <a16:colId xmlns:a16="http://schemas.microsoft.com/office/drawing/2014/main" val="1013173815"/>
                    </a:ext>
                  </a:extLst>
                </a:gridCol>
              </a:tblGrid>
              <a:tr h="0">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18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381501">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94921" y="0"/>
            <a:ext cx="2381544" cy="2387946"/>
          </a:xfrm>
          <a:prstGeom prst="rect">
            <a:avLst/>
          </a:prstGeom>
        </p:spPr>
      </p:pic>
    </p:spTree>
    <p:extLst>
      <p:ext uri="{BB962C8B-B14F-4D97-AF65-F5344CB8AC3E}">
        <p14:creationId xmlns:p14="http://schemas.microsoft.com/office/powerpoint/2010/main" val="36637509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38498">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3849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38498">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38498">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38498">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38498">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38498">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38498">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38498">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38498">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38498">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5760">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785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8485" t="-101563" r="-922222"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4478" t="-101563" r="-3843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085" t="-101563" r="-1051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5760">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5760">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5760">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5760">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5760">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576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5760">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5760">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5760">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3188171083"/>
              </p:ext>
            </p:extLst>
          </p:nvPr>
        </p:nvGraphicFramePr>
        <p:xfrm>
          <a:off x="8275636" y="2855400"/>
          <a:ext cx="3073400" cy="4039101"/>
        </p:xfrm>
        <a:graphic>
          <a:graphicData uri="http://schemas.openxmlformats.org/drawingml/2006/table">
            <a:tbl>
              <a:tblPr firstRow="1" bandRow="1">
                <a:tableStyleId>{5C22544A-7EE6-4342-B048-85BDC9FD1C3A}</a:tableStyleId>
              </a:tblPr>
              <a:tblGrid>
                <a:gridCol w="768350">
                  <a:extLst>
                    <a:ext uri="{9D8B030D-6E8A-4147-A177-3AD203B41FA5}">
                      <a16:colId xmlns:a16="http://schemas.microsoft.com/office/drawing/2014/main" val="321835290"/>
                    </a:ext>
                  </a:extLst>
                </a:gridCol>
                <a:gridCol w="768350">
                  <a:extLst>
                    <a:ext uri="{9D8B030D-6E8A-4147-A177-3AD203B41FA5}">
                      <a16:colId xmlns:a16="http://schemas.microsoft.com/office/drawing/2014/main" val="120986023"/>
                    </a:ext>
                  </a:extLst>
                </a:gridCol>
                <a:gridCol w="768350">
                  <a:extLst>
                    <a:ext uri="{9D8B030D-6E8A-4147-A177-3AD203B41FA5}">
                      <a16:colId xmlns:a16="http://schemas.microsoft.com/office/drawing/2014/main" val="956206097"/>
                    </a:ext>
                  </a:extLst>
                </a:gridCol>
                <a:gridCol w="768350">
                  <a:extLst>
                    <a:ext uri="{9D8B030D-6E8A-4147-A177-3AD203B41FA5}">
                      <a16:colId xmlns:a16="http://schemas.microsoft.com/office/drawing/2014/main" val="1013173815"/>
                    </a:ext>
                  </a:extLst>
                </a:gridCol>
              </a:tblGrid>
              <a:tr h="0">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381501">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94921" y="0"/>
            <a:ext cx="2381544" cy="2387946"/>
          </a:xfrm>
          <a:prstGeom prst="rect">
            <a:avLst/>
          </a:prstGeom>
        </p:spPr>
      </p:pic>
    </p:spTree>
    <p:extLst>
      <p:ext uri="{BB962C8B-B14F-4D97-AF65-F5344CB8AC3E}">
        <p14:creationId xmlns:p14="http://schemas.microsoft.com/office/powerpoint/2010/main" val="200398005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3584388613"/>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38498">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3849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38498">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38498">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38498">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38498">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38498">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38498">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38498">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38498">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38498">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3584388613"/>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5760">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785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8485" t="-101563" r="-922222"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4478" t="-101563" r="-3843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085" t="-101563" r="-1051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5760">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5760">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5760">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5760">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5760">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576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5760">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5760">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5760">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1033432349"/>
              </p:ext>
            </p:extLst>
          </p:nvPr>
        </p:nvGraphicFramePr>
        <p:xfrm>
          <a:off x="8275636" y="2855400"/>
          <a:ext cx="3073400" cy="4039101"/>
        </p:xfrm>
        <a:graphic>
          <a:graphicData uri="http://schemas.openxmlformats.org/drawingml/2006/table">
            <a:tbl>
              <a:tblPr firstRow="1" bandRow="1">
                <a:tableStyleId>{5C22544A-7EE6-4342-B048-85BDC9FD1C3A}</a:tableStyleId>
              </a:tblPr>
              <a:tblGrid>
                <a:gridCol w="768350">
                  <a:extLst>
                    <a:ext uri="{9D8B030D-6E8A-4147-A177-3AD203B41FA5}">
                      <a16:colId xmlns:a16="http://schemas.microsoft.com/office/drawing/2014/main" val="321835290"/>
                    </a:ext>
                  </a:extLst>
                </a:gridCol>
                <a:gridCol w="768350">
                  <a:extLst>
                    <a:ext uri="{9D8B030D-6E8A-4147-A177-3AD203B41FA5}">
                      <a16:colId xmlns:a16="http://schemas.microsoft.com/office/drawing/2014/main" val="120986023"/>
                    </a:ext>
                  </a:extLst>
                </a:gridCol>
                <a:gridCol w="768350">
                  <a:extLst>
                    <a:ext uri="{9D8B030D-6E8A-4147-A177-3AD203B41FA5}">
                      <a16:colId xmlns:a16="http://schemas.microsoft.com/office/drawing/2014/main" val="956206097"/>
                    </a:ext>
                  </a:extLst>
                </a:gridCol>
                <a:gridCol w="768350">
                  <a:extLst>
                    <a:ext uri="{9D8B030D-6E8A-4147-A177-3AD203B41FA5}">
                      <a16:colId xmlns:a16="http://schemas.microsoft.com/office/drawing/2014/main" val="1013173815"/>
                    </a:ext>
                  </a:extLst>
                </a:gridCol>
              </a:tblGrid>
              <a:tr h="0">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381501">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94921" y="0"/>
            <a:ext cx="2381544" cy="2387946"/>
          </a:xfrm>
          <a:prstGeom prst="rect">
            <a:avLst/>
          </a:prstGeom>
        </p:spPr>
      </p:pic>
    </p:spTree>
    <p:extLst>
      <p:ext uri="{BB962C8B-B14F-4D97-AF65-F5344CB8AC3E}">
        <p14:creationId xmlns:p14="http://schemas.microsoft.com/office/powerpoint/2010/main" val="175306299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75371387"/>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38498">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3849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38498">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38498">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38498">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38498">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38498">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38498">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38498">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38498">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38498">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75371387"/>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5760">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785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8485" t="-101563" r="-922222"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4478" t="-101563" r="-3843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085" t="-101563" r="-1051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5760">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5760">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5760">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5760">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5760">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576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5760">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5760">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5760">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65859389"/>
              </p:ext>
            </p:extLst>
          </p:nvPr>
        </p:nvGraphicFramePr>
        <p:xfrm>
          <a:off x="7786687" y="2752725"/>
          <a:ext cx="3114676" cy="4096701"/>
        </p:xfrm>
        <a:graphic>
          <a:graphicData uri="http://schemas.openxmlformats.org/drawingml/2006/table">
            <a:tbl>
              <a:tblPr firstRow="1" bandRow="1">
                <a:tableStyleId>{5C22544A-7EE6-4342-B048-85BDC9FD1C3A}</a:tableStyleId>
              </a:tblPr>
              <a:tblGrid>
                <a:gridCol w="778669">
                  <a:extLst>
                    <a:ext uri="{9D8B030D-6E8A-4147-A177-3AD203B41FA5}">
                      <a16:colId xmlns:a16="http://schemas.microsoft.com/office/drawing/2014/main" val="321835290"/>
                    </a:ext>
                  </a:extLst>
                </a:gridCol>
                <a:gridCol w="778669">
                  <a:extLst>
                    <a:ext uri="{9D8B030D-6E8A-4147-A177-3AD203B41FA5}">
                      <a16:colId xmlns:a16="http://schemas.microsoft.com/office/drawing/2014/main" val="120986023"/>
                    </a:ext>
                  </a:extLst>
                </a:gridCol>
                <a:gridCol w="778669">
                  <a:extLst>
                    <a:ext uri="{9D8B030D-6E8A-4147-A177-3AD203B41FA5}">
                      <a16:colId xmlns:a16="http://schemas.microsoft.com/office/drawing/2014/main" val="956206097"/>
                    </a:ext>
                  </a:extLst>
                </a:gridCol>
                <a:gridCol w="778669">
                  <a:extLst>
                    <a:ext uri="{9D8B030D-6E8A-4147-A177-3AD203B41FA5}">
                      <a16:colId xmlns:a16="http://schemas.microsoft.com/office/drawing/2014/main" val="1013173815"/>
                    </a:ext>
                  </a:extLst>
                </a:gridCol>
              </a:tblGrid>
              <a:tr h="370976">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370976">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370976">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370976">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386941">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370976">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370976">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370976">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370976">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370976">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370976">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94921" y="0"/>
            <a:ext cx="2381544" cy="2387946"/>
          </a:xfrm>
          <a:prstGeom prst="rect">
            <a:avLst/>
          </a:prstGeom>
        </p:spPr>
      </p:pic>
    </p:spTree>
    <p:extLst>
      <p:ext uri="{BB962C8B-B14F-4D97-AF65-F5344CB8AC3E}">
        <p14:creationId xmlns:p14="http://schemas.microsoft.com/office/powerpoint/2010/main" val="244200093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401450666"/>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38498">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3849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38498">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38498">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38498">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38498">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38498">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38498">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38498">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38498">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38498">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401450666"/>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5760">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785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8485" t="-101563" r="-922222"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4478" t="-101563" r="-3843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085" t="-101563" r="-1051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5760">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5760">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5760">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5760">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5760">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576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5760">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5760">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5760">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1678929532"/>
              </p:ext>
            </p:extLst>
          </p:nvPr>
        </p:nvGraphicFramePr>
        <p:xfrm>
          <a:off x="7786687" y="2752725"/>
          <a:ext cx="3114676" cy="4096701"/>
        </p:xfrm>
        <a:graphic>
          <a:graphicData uri="http://schemas.openxmlformats.org/drawingml/2006/table">
            <a:tbl>
              <a:tblPr firstRow="1" bandRow="1">
                <a:tableStyleId>{5C22544A-7EE6-4342-B048-85BDC9FD1C3A}</a:tableStyleId>
              </a:tblPr>
              <a:tblGrid>
                <a:gridCol w="778669">
                  <a:extLst>
                    <a:ext uri="{9D8B030D-6E8A-4147-A177-3AD203B41FA5}">
                      <a16:colId xmlns:a16="http://schemas.microsoft.com/office/drawing/2014/main" val="321835290"/>
                    </a:ext>
                  </a:extLst>
                </a:gridCol>
                <a:gridCol w="778669">
                  <a:extLst>
                    <a:ext uri="{9D8B030D-6E8A-4147-A177-3AD203B41FA5}">
                      <a16:colId xmlns:a16="http://schemas.microsoft.com/office/drawing/2014/main" val="120986023"/>
                    </a:ext>
                  </a:extLst>
                </a:gridCol>
                <a:gridCol w="778669">
                  <a:extLst>
                    <a:ext uri="{9D8B030D-6E8A-4147-A177-3AD203B41FA5}">
                      <a16:colId xmlns:a16="http://schemas.microsoft.com/office/drawing/2014/main" val="956206097"/>
                    </a:ext>
                  </a:extLst>
                </a:gridCol>
                <a:gridCol w="778669">
                  <a:extLst>
                    <a:ext uri="{9D8B030D-6E8A-4147-A177-3AD203B41FA5}">
                      <a16:colId xmlns:a16="http://schemas.microsoft.com/office/drawing/2014/main" val="1013173815"/>
                    </a:ext>
                  </a:extLst>
                </a:gridCol>
              </a:tblGrid>
              <a:tr h="370976">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370976">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370976">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370976">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386941">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370976">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370976">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370976">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370976">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370976">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370976">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94921" y="0"/>
            <a:ext cx="2381544" cy="2387946"/>
          </a:xfrm>
          <a:prstGeom prst="rect">
            <a:avLst/>
          </a:prstGeom>
        </p:spPr>
      </p:pic>
    </p:spTree>
    <p:extLst>
      <p:ext uri="{BB962C8B-B14F-4D97-AF65-F5344CB8AC3E}">
        <p14:creationId xmlns:p14="http://schemas.microsoft.com/office/powerpoint/2010/main" val="33017622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2154185055"/>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38498">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3849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38498">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38498">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38498">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38498">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38498">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38498">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38498">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38498">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38498">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2154185055"/>
                  </p:ext>
                </p:extLst>
              </p:nvPr>
            </p:nvGraphicFramePr>
            <p:xfrm>
              <a:off x="96273" y="2387945"/>
              <a:ext cx="7640184" cy="446147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5760">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785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8485" t="-101563" r="-922222"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4478" t="-101563" r="-3843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085" t="-101563" r="-105128" b="-97656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5760">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5760">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5760">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0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5760">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5760">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576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5760">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5760">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5760">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1537163596"/>
              </p:ext>
            </p:extLst>
          </p:nvPr>
        </p:nvGraphicFramePr>
        <p:xfrm>
          <a:off x="8275636" y="2855400"/>
          <a:ext cx="3073400" cy="4039101"/>
        </p:xfrm>
        <a:graphic>
          <a:graphicData uri="http://schemas.openxmlformats.org/drawingml/2006/table">
            <a:tbl>
              <a:tblPr firstRow="1" bandRow="1">
                <a:tableStyleId>{5C22544A-7EE6-4342-B048-85BDC9FD1C3A}</a:tableStyleId>
              </a:tblPr>
              <a:tblGrid>
                <a:gridCol w="768350">
                  <a:extLst>
                    <a:ext uri="{9D8B030D-6E8A-4147-A177-3AD203B41FA5}">
                      <a16:colId xmlns:a16="http://schemas.microsoft.com/office/drawing/2014/main" val="321835290"/>
                    </a:ext>
                  </a:extLst>
                </a:gridCol>
                <a:gridCol w="768350">
                  <a:extLst>
                    <a:ext uri="{9D8B030D-6E8A-4147-A177-3AD203B41FA5}">
                      <a16:colId xmlns:a16="http://schemas.microsoft.com/office/drawing/2014/main" val="120986023"/>
                    </a:ext>
                  </a:extLst>
                </a:gridCol>
                <a:gridCol w="674689">
                  <a:extLst>
                    <a:ext uri="{9D8B030D-6E8A-4147-A177-3AD203B41FA5}">
                      <a16:colId xmlns:a16="http://schemas.microsoft.com/office/drawing/2014/main" val="956206097"/>
                    </a:ext>
                  </a:extLst>
                </a:gridCol>
                <a:gridCol w="862011">
                  <a:extLst>
                    <a:ext uri="{9D8B030D-6E8A-4147-A177-3AD203B41FA5}">
                      <a16:colId xmlns:a16="http://schemas.microsoft.com/office/drawing/2014/main" val="1013173815"/>
                    </a:ext>
                  </a:extLst>
                </a:gridCol>
              </a:tblGrid>
              <a:tr h="0">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381501">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94921" y="0"/>
            <a:ext cx="2381544" cy="2387946"/>
          </a:xfrm>
          <a:prstGeom prst="rect">
            <a:avLst/>
          </a:prstGeom>
        </p:spPr>
      </p:pic>
    </p:spTree>
    <p:extLst>
      <p:ext uri="{BB962C8B-B14F-4D97-AF65-F5344CB8AC3E}">
        <p14:creationId xmlns:p14="http://schemas.microsoft.com/office/powerpoint/2010/main" val="194609776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94456756"/>
                  </p:ext>
                </p:extLst>
              </p:nvPr>
            </p:nvGraphicFramePr>
            <p:xfrm>
              <a:off x="146504" y="1573557"/>
              <a:ext cx="7640184" cy="5017991"/>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6463">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8604">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6463">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6463">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6463">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8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6463">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6463">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6463">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16+23</a:t>
                          </a:r>
                        </a:p>
                        <a:p>
                          <a:r>
                            <a:rPr lang="en-US" altLang="zh-TW" b="0" dirty="0">
                              <a:solidFill>
                                <a:schemeClr val="tx1"/>
                              </a:solidFill>
                              <a:latin typeface="標楷體" panose="03000509000000000000" pitchFamily="65" charset="-120"/>
                              <a:ea typeface="標楷體" panose="03000509000000000000" pitchFamily="65" charset="-120"/>
                            </a:rPr>
                            <a:t>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45</a:t>
                          </a:r>
                        </a:p>
                        <a:p>
                          <a:r>
                            <a:rPr lang="en-US" altLang="zh-TW" b="0" strike="sngStrike" dirty="0">
                              <a:solidFill>
                                <a:schemeClr val="tx1"/>
                              </a:solidFill>
                            </a:rPr>
                            <a:t>57</a:t>
                          </a:r>
                        </a:p>
                        <a:p>
                          <a:r>
                            <a:rPr lang="en-US" altLang="zh-TW" b="0" dirty="0">
                              <a:solidFill>
                                <a:schemeClr val="tx1"/>
                              </a:solidFill>
                            </a:rPr>
                            <a:t>66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40+16</a:t>
                          </a:r>
                        </a:p>
                        <a:p>
                          <a:r>
                            <a:rPr lang="en-US" altLang="zh-TW" b="0" dirty="0">
                              <a:solidFill>
                                <a:schemeClr val="tx1"/>
                              </a:solidFill>
                              <a:latin typeface="標楷體" panose="03000509000000000000" pitchFamily="65" charset="-120"/>
                              <a:ea typeface="標楷體" panose="03000509000000000000" pitchFamily="65" charset="-120"/>
                            </a:rPr>
                            <a:t>16+2335+13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55</a:t>
                          </a:r>
                        </a:p>
                        <a:p>
                          <a:r>
                            <a:rPr lang="en-US" altLang="zh-TW" b="0" strike="sngStrike" dirty="0">
                              <a:solidFill>
                                <a:schemeClr val="tx1"/>
                              </a:solidFill>
                            </a:rPr>
                            <a:t>51</a:t>
                          </a:r>
                        </a:p>
                        <a:p>
                          <a:r>
                            <a:rPr lang="en-US" altLang="zh-TW" b="0"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27+16</a:t>
                          </a:r>
                        </a:p>
                        <a:p>
                          <a:r>
                            <a:rPr lang="en-US" altLang="zh-TW" b="0" strike="sngStrike" dirty="0">
                              <a:solidFill>
                                <a:schemeClr val="tx1"/>
                              </a:solidFill>
                            </a:rPr>
                            <a:t>16</a:t>
                          </a:r>
                        </a:p>
                        <a:p>
                          <a:r>
                            <a:rPr lang="en-US" altLang="zh-TW" b="0" dirty="0">
                              <a:solidFill>
                                <a:schemeClr val="tx1"/>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20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p>
                        <a:p>
                          <a:r>
                            <a:rPr lang="en-US" altLang="zh-TW" b="0" strike="sngStrike" dirty="0">
                              <a:solidFill>
                                <a:schemeClr val="tx1"/>
                              </a:solidFill>
                              <a:latin typeface="標楷體" panose="03000509000000000000" pitchFamily="65" charset="-120"/>
                              <a:ea typeface="標楷體" panose="03000509000000000000" pitchFamily="65" charset="-120"/>
                            </a:rPr>
                            <a:t>36</a:t>
                          </a:r>
                        </a:p>
                        <a:p>
                          <a:r>
                            <a:rPr lang="en-US" altLang="zh-TW" b="0" strike="sngStrike" dirty="0">
                              <a:solidFill>
                                <a:schemeClr val="tx1"/>
                              </a:solidFill>
                              <a:latin typeface="標楷體" panose="03000509000000000000" pitchFamily="65" charset="-120"/>
                              <a:ea typeface="標楷體" panose="03000509000000000000" pitchFamily="65" charset="-120"/>
                            </a:rPr>
                            <a:t>55</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6463">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6463">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6463">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94456756"/>
                  </p:ext>
                </p:extLst>
              </p:nvPr>
            </p:nvGraphicFramePr>
            <p:xfrm>
              <a:off x="146504" y="1573557"/>
              <a:ext cx="7640184" cy="5017991"/>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6463">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8604">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6000" t="-101563" r="-912000" b="-1117188"/>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5224" t="-101563" r="-383582" b="-1117188"/>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085" t="-101563" r="-105128" b="-1117188"/>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6463">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6463">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6463">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8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6463">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6463">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91440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16+23</a:t>
                          </a:r>
                        </a:p>
                        <a:p>
                          <a:r>
                            <a:rPr lang="en-US" altLang="zh-TW" b="0" dirty="0">
                              <a:solidFill>
                                <a:schemeClr val="tx1"/>
                              </a:solidFill>
                              <a:latin typeface="標楷體" panose="03000509000000000000" pitchFamily="65" charset="-120"/>
                              <a:ea typeface="標楷體" panose="03000509000000000000" pitchFamily="65" charset="-120"/>
                            </a:rPr>
                            <a:t>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45</a:t>
                          </a:r>
                        </a:p>
                        <a:p>
                          <a:r>
                            <a:rPr lang="en-US" altLang="zh-TW" b="0" strike="sngStrike" dirty="0">
                              <a:solidFill>
                                <a:schemeClr val="tx1"/>
                              </a:solidFill>
                            </a:rPr>
                            <a:t>57</a:t>
                          </a:r>
                        </a:p>
                        <a:p>
                          <a:r>
                            <a:rPr lang="en-US" altLang="zh-TW" b="0" dirty="0">
                              <a:solidFill>
                                <a:schemeClr val="tx1"/>
                              </a:solidFill>
                            </a:rPr>
                            <a:t>66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40+16</a:t>
                          </a:r>
                        </a:p>
                        <a:p>
                          <a:r>
                            <a:rPr lang="en-US" altLang="zh-TW" b="0" dirty="0">
                              <a:solidFill>
                                <a:schemeClr val="tx1"/>
                              </a:solidFill>
                              <a:latin typeface="標楷體" panose="03000509000000000000" pitchFamily="65" charset="-120"/>
                              <a:ea typeface="標楷體" panose="03000509000000000000" pitchFamily="65" charset="-120"/>
                            </a:rPr>
                            <a:t>16+2335+13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55</a:t>
                          </a:r>
                        </a:p>
                        <a:p>
                          <a:r>
                            <a:rPr lang="en-US" altLang="zh-TW" b="0" strike="sngStrike" dirty="0">
                              <a:solidFill>
                                <a:schemeClr val="tx1"/>
                              </a:solidFill>
                            </a:rPr>
                            <a:t>51</a:t>
                          </a:r>
                        </a:p>
                        <a:p>
                          <a:r>
                            <a:rPr lang="en-US" altLang="zh-TW" b="0"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27+16</a:t>
                          </a:r>
                        </a:p>
                        <a:p>
                          <a:r>
                            <a:rPr lang="en-US" altLang="zh-TW" b="0" strike="sngStrike" dirty="0">
                              <a:solidFill>
                                <a:schemeClr val="tx1"/>
                              </a:solidFill>
                            </a:rPr>
                            <a:t>16</a:t>
                          </a:r>
                        </a:p>
                        <a:p>
                          <a:r>
                            <a:rPr lang="en-US" altLang="zh-TW" b="0" dirty="0">
                              <a:solidFill>
                                <a:schemeClr val="tx1"/>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20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p>
                        <a:p>
                          <a:r>
                            <a:rPr lang="en-US" altLang="zh-TW" b="0" strike="sngStrike" dirty="0">
                              <a:solidFill>
                                <a:schemeClr val="tx1"/>
                              </a:solidFill>
                              <a:latin typeface="標楷體" panose="03000509000000000000" pitchFamily="65" charset="-120"/>
                              <a:ea typeface="標楷體" panose="03000509000000000000" pitchFamily="65" charset="-120"/>
                            </a:rPr>
                            <a:t>36</a:t>
                          </a:r>
                        </a:p>
                        <a:p>
                          <a:r>
                            <a:rPr lang="en-US" altLang="zh-TW" b="0" strike="sngStrike" dirty="0">
                              <a:solidFill>
                                <a:schemeClr val="tx1"/>
                              </a:solidFill>
                              <a:latin typeface="標楷體" panose="03000509000000000000" pitchFamily="65" charset="-120"/>
                              <a:ea typeface="標楷體" panose="03000509000000000000" pitchFamily="65" charset="-120"/>
                            </a:rPr>
                            <a:t>55</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6463">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6463">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6463">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3121844419"/>
              </p:ext>
            </p:extLst>
          </p:nvPr>
        </p:nvGraphicFramePr>
        <p:xfrm>
          <a:off x="7994921" y="2047625"/>
          <a:ext cx="3073400" cy="4587741"/>
        </p:xfrm>
        <a:graphic>
          <a:graphicData uri="http://schemas.openxmlformats.org/drawingml/2006/table">
            <a:tbl>
              <a:tblPr firstRow="1" bandRow="1">
                <a:tableStyleId>{5C22544A-7EE6-4342-B048-85BDC9FD1C3A}</a:tableStyleId>
              </a:tblPr>
              <a:tblGrid>
                <a:gridCol w="768350">
                  <a:extLst>
                    <a:ext uri="{9D8B030D-6E8A-4147-A177-3AD203B41FA5}">
                      <a16:colId xmlns:a16="http://schemas.microsoft.com/office/drawing/2014/main" val="321835290"/>
                    </a:ext>
                  </a:extLst>
                </a:gridCol>
                <a:gridCol w="768350">
                  <a:extLst>
                    <a:ext uri="{9D8B030D-6E8A-4147-A177-3AD203B41FA5}">
                      <a16:colId xmlns:a16="http://schemas.microsoft.com/office/drawing/2014/main" val="120986023"/>
                    </a:ext>
                  </a:extLst>
                </a:gridCol>
                <a:gridCol w="768350">
                  <a:extLst>
                    <a:ext uri="{9D8B030D-6E8A-4147-A177-3AD203B41FA5}">
                      <a16:colId xmlns:a16="http://schemas.microsoft.com/office/drawing/2014/main" val="956206097"/>
                    </a:ext>
                  </a:extLst>
                </a:gridCol>
                <a:gridCol w="768350">
                  <a:extLst>
                    <a:ext uri="{9D8B030D-6E8A-4147-A177-3AD203B41FA5}">
                      <a16:colId xmlns:a16="http://schemas.microsoft.com/office/drawing/2014/main" val="1013173815"/>
                    </a:ext>
                  </a:extLst>
                </a:gridCol>
              </a:tblGrid>
              <a:tr h="0">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381501">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310412">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60</a:t>
                      </a:r>
                    </a:p>
                    <a:p>
                      <a:endParaRPr lang="en-US" altLang="zh-TW" b="0" dirty="0">
                        <a:solidFill>
                          <a:schemeClr val="tx1"/>
                        </a:solidFill>
                      </a:endParaRPr>
                    </a:p>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310412">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94921" y="0"/>
            <a:ext cx="2381544" cy="2387946"/>
          </a:xfrm>
          <a:prstGeom prst="rect">
            <a:avLst/>
          </a:prstGeom>
        </p:spPr>
      </p:pic>
    </p:spTree>
    <p:extLst>
      <p:ext uri="{BB962C8B-B14F-4D97-AF65-F5344CB8AC3E}">
        <p14:creationId xmlns:p14="http://schemas.microsoft.com/office/powerpoint/2010/main" val="53755325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515576971"/>
                  </p:ext>
                </p:extLst>
              </p:nvPr>
            </p:nvGraphicFramePr>
            <p:xfrm>
              <a:off x="146504" y="1573557"/>
              <a:ext cx="7640184" cy="5017991"/>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6463">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8604">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6463">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6463">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6463">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8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6463">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6463">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6463">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16+23</a:t>
                          </a:r>
                        </a:p>
                        <a:p>
                          <a:r>
                            <a:rPr lang="en-US" altLang="zh-TW" b="0" dirty="0">
                              <a:solidFill>
                                <a:schemeClr val="tx1"/>
                              </a:solidFill>
                              <a:latin typeface="標楷體" panose="03000509000000000000" pitchFamily="65" charset="-120"/>
                              <a:ea typeface="標楷體" panose="03000509000000000000" pitchFamily="65" charset="-120"/>
                            </a:rPr>
                            <a:t>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45</a:t>
                          </a:r>
                        </a:p>
                        <a:p>
                          <a:r>
                            <a:rPr lang="en-US" altLang="zh-TW" b="0" strike="sngStrike" dirty="0">
                              <a:solidFill>
                                <a:schemeClr val="tx1"/>
                              </a:solidFill>
                            </a:rPr>
                            <a:t>57</a:t>
                          </a:r>
                        </a:p>
                        <a:p>
                          <a:r>
                            <a:rPr lang="en-US" altLang="zh-TW" b="0" dirty="0">
                              <a:solidFill>
                                <a:schemeClr val="tx1"/>
                              </a:solidFill>
                            </a:rPr>
                            <a:t>66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40+16</a:t>
                          </a:r>
                        </a:p>
                        <a:p>
                          <a:r>
                            <a:rPr lang="en-US" altLang="zh-TW" b="0" dirty="0">
                              <a:solidFill>
                                <a:schemeClr val="tx1"/>
                              </a:solidFill>
                              <a:latin typeface="標楷體" panose="03000509000000000000" pitchFamily="65" charset="-120"/>
                              <a:ea typeface="標楷體" panose="03000509000000000000" pitchFamily="65" charset="-120"/>
                            </a:rPr>
                            <a:t>16+2335+13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55</a:t>
                          </a:r>
                        </a:p>
                        <a:p>
                          <a:r>
                            <a:rPr lang="en-US" altLang="zh-TW" b="0" strike="sngStrike" dirty="0">
                              <a:solidFill>
                                <a:schemeClr val="tx1"/>
                              </a:solidFill>
                            </a:rPr>
                            <a:t>51</a:t>
                          </a:r>
                        </a:p>
                        <a:p>
                          <a:r>
                            <a:rPr lang="en-US" altLang="zh-TW" b="0"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27+16</a:t>
                          </a:r>
                        </a:p>
                        <a:p>
                          <a:r>
                            <a:rPr lang="en-US" altLang="zh-TW" b="0" strike="sngStrike" dirty="0">
                              <a:solidFill>
                                <a:schemeClr val="tx1"/>
                              </a:solidFill>
                            </a:rPr>
                            <a:t>16</a:t>
                          </a:r>
                        </a:p>
                        <a:p>
                          <a:r>
                            <a:rPr lang="en-US" altLang="zh-TW" b="0" dirty="0">
                              <a:solidFill>
                                <a:schemeClr val="tx1"/>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20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p>
                        <a:p>
                          <a:r>
                            <a:rPr lang="en-US" altLang="zh-TW" b="0" strike="sngStrike" dirty="0">
                              <a:solidFill>
                                <a:schemeClr val="tx1"/>
                              </a:solidFill>
                              <a:latin typeface="標楷體" panose="03000509000000000000" pitchFamily="65" charset="-120"/>
                              <a:ea typeface="標楷體" panose="03000509000000000000" pitchFamily="65" charset="-120"/>
                            </a:rPr>
                            <a:t>36</a:t>
                          </a:r>
                        </a:p>
                        <a:p>
                          <a:r>
                            <a:rPr lang="en-US" altLang="zh-TW" b="0" strike="sngStrike" dirty="0">
                              <a:solidFill>
                                <a:schemeClr val="tx1"/>
                              </a:solidFill>
                              <a:latin typeface="標楷體" panose="03000509000000000000" pitchFamily="65" charset="-120"/>
                              <a:ea typeface="標楷體" panose="03000509000000000000" pitchFamily="65" charset="-120"/>
                            </a:rPr>
                            <a:t>55</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6463">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29+23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59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29+23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6463">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6463">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515576971"/>
                  </p:ext>
                </p:extLst>
              </p:nvPr>
            </p:nvGraphicFramePr>
            <p:xfrm>
              <a:off x="146504" y="1573557"/>
              <a:ext cx="7640184" cy="5017991"/>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6463">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8604">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6000" t="-101563" r="-912000" b="-1117188"/>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5224" t="-101563" r="-383582" b="-1117188"/>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085" t="-101563" r="-105128" b="-1117188"/>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6463">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6463">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6463">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8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6463">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6463">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91440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16+23</a:t>
                          </a:r>
                        </a:p>
                        <a:p>
                          <a:r>
                            <a:rPr lang="en-US" altLang="zh-TW" b="0" dirty="0">
                              <a:solidFill>
                                <a:schemeClr val="tx1"/>
                              </a:solidFill>
                              <a:latin typeface="標楷體" panose="03000509000000000000" pitchFamily="65" charset="-120"/>
                              <a:ea typeface="標楷體" panose="03000509000000000000" pitchFamily="65" charset="-120"/>
                            </a:rPr>
                            <a:t>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45</a:t>
                          </a:r>
                        </a:p>
                        <a:p>
                          <a:r>
                            <a:rPr lang="en-US" altLang="zh-TW" b="0" strike="sngStrike" dirty="0">
                              <a:solidFill>
                                <a:schemeClr val="tx1"/>
                              </a:solidFill>
                            </a:rPr>
                            <a:t>57</a:t>
                          </a:r>
                        </a:p>
                        <a:p>
                          <a:r>
                            <a:rPr lang="en-US" altLang="zh-TW" b="0" dirty="0">
                              <a:solidFill>
                                <a:schemeClr val="tx1"/>
                              </a:solidFill>
                            </a:rPr>
                            <a:t>66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40+16</a:t>
                          </a:r>
                        </a:p>
                        <a:p>
                          <a:r>
                            <a:rPr lang="en-US" altLang="zh-TW" b="0" dirty="0">
                              <a:solidFill>
                                <a:schemeClr val="tx1"/>
                              </a:solidFill>
                              <a:latin typeface="標楷體" panose="03000509000000000000" pitchFamily="65" charset="-120"/>
                              <a:ea typeface="標楷體" panose="03000509000000000000" pitchFamily="65" charset="-120"/>
                            </a:rPr>
                            <a:t>16+2335+13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55</a:t>
                          </a:r>
                        </a:p>
                        <a:p>
                          <a:r>
                            <a:rPr lang="en-US" altLang="zh-TW" b="0" strike="sngStrike" dirty="0">
                              <a:solidFill>
                                <a:schemeClr val="tx1"/>
                              </a:solidFill>
                            </a:rPr>
                            <a:t>51</a:t>
                          </a:r>
                        </a:p>
                        <a:p>
                          <a:r>
                            <a:rPr lang="en-US" altLang="zh-TW" b="0"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27+16</a:t>
                          </a:r>
                        </a:p>
                        <a:p>
                          <a:r>
                            <a:rPr lang="en-US" altLang="zh-TW" b="0" strike="sngStrike" dirty="0">
                              <a:solidFill>
                                <a:schemeClr val="tx1"/>
                              </a:solidFill>
                            </a:rPr>
                            <a:t>16</a:t>
                          </a:r>
                        </a:p>
                        <a:p>
                          <a:r>
                            <a:rPr lang="en-US" altLang="zh-TW" b="0" dirty="0">
                              <a:solidFill>
                                <a:schemeClr val="tx1"/>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20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p>
                        <a:p>
                          <a:r>
                            <a:rPr lang="en-US" altLang="zh-TW" b="0" strike="sngStrike" dirty="0">
                              <a:solidFill>
                                <a:schemeClr val="tx1"/>
                              </a:solidFill>
                              <a:latin typeface="標楷體" panose="03000509000000000000" pitchFamily="65" charset="-120"/>
                              <a:ea typeface="標楷體" panose="03000509000000000000" pitchFamily="65" charset="-120"/>
                            </a:rPr>
                            <a:t>36</a:t>
                          </a:r>
                        </a:p>
                        <a:p>
                          <a:r>
                            <a:rPr lang="en-US" altLang="zh-TW" b="0" strike="sngStrike" dirty="0">
                              <a:solidFill>
                                <a:schemeClr val="tx1"/>
                              </a:solidFill>
                              <a:latin typeface="標楷體" panose="03000509000000000000" pitchFamily="65" charset="-120"/>
                              <a:ea typeface="標楷體" panose="03000509000000000000" pitchFamily="65" charset="-120"/>
                            </a:rPr>
                            <a:t>55</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6463">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29+23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59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29+23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6463">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6463">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900841663"/>
              </p:ext>
            </p:extLst>
          </p:nvPr>
        </p:nvGraphicFramePr>
        <p:xfrm>
          <a:off x="8184629" y="1573557"/>
          <a:ext cx="3058316" cy="5031774"/>
        </p:xfrm>
        <a:graphic>
          <a:graphicData uri="http://schemas.openxmlformats.org/drawingml/2006/table">
            <a:tbl>
              <a:tblPr firstRow="1" bandRow="1">
                <a:tableStyleId>{5C22544A-7EE6-4342-B048-85BDC9FD1C3A}</a:tableStyleId>
              </a:tblPr>
              <a:tblGrid>
                <a:gridCol w="764579">
                  <a:extLst>
                    <a:ext uri="{9D8B030D-6E8A-4147-A177-3AD203B41FA5}">
                      <a16:colId xmlns:a16="http://schemas.microsoft.com/office/drawing/2014/main" val="321835290"/>
                    </a:ext>
                  </a:extLst>
                </a:gridCol>
                <a:gridCol w="764579">
                  <a:extLst>
                    <a:ext uri="{9D8B030D-6E8A-4147-A177-3AD203B41FA5}">
                      <a16:colId xmlns:a16="http://schemas.microsoft.com/office/drawing/2014/main" val="120986023"/>
                    </a:ext>
                  </a:extLst>
                </a:gridCol>
                <a:gridCol w="764579">
                  <a:extLst>
                    <a:ext uri="{9D8B030D-6E8A-4147-A177-3AD203B41FA5}">
                      <a16:colId xmlns:a16="http://schemas.microsoft.com/office/drawing/2014/main" val="956206097"/>
                    </a:ext>
                  </a:extLst>
                </a:gridCol>
                <a:gridCol w="764579">
                  <a:extLst>
                    <a:ext uri="{9D8B030D-6E8A-4147-A177-3AD203B41FA5}">
                      <a16:colId xmlns:a16="http://schemas.microsoft.com/office/drawing/2014/main" val="1013173815"/>
                    </a:ext>
                  </a:extLst>
                </a:gridCol>
              </a:tblGrid>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427617">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900619">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60</a:t>
                      </a:r>
                    </a:p>
                    <a:p>
                      <a:endParaRPr lang="en-US" altLang="zh-TW" b="0" dirty="0">
                        <a:solidFill>
                          <a:schemeClr val="tx1"/>
                        </a:solidFill>
                      </a:endParaRPr>
                    </a:p>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409973">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409973">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29797" y="-1"/>
            <a:ext cx="2446668" cy="2453245"/>
          </a:xfrm>
          <a:prstGeom prst="rect">
            <a:avLst/>
          </a:prstGeom>
        </p:spPr>
      </p:pic>
    </p:spTree>
    <p:extLst>
      <p:ext uri="{BB962C8B-B14F-4D97-AF65-F5344CB8AC3E}">
        <p14:creationId xmlns:p14="http://schemas.microsoft.com/office/powerpoint/2010/main" val="146465523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980692313"/>
                  </p:ext>
                </p:extLst>
              </p:nvPr>
            </p:nvGraphicFramePr>
            <p:xfrm>
              <a:off x="162197" y="1033911"/>
              <a:ext cx="7640184" cy="584024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6463">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8604">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6463">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6463">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6463">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8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6463">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6463">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6463">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16+23</a:t>
                          </a:r>
                        </a:p>
                        <a:p>
                          <a:r>
                            <a:rPr lang="en-US" altLang="zh-TW" b="0" dirty="0">
                              <a:solidFill>
                                <a:schemeClr val="tx1"/>
                              </a:solidFill>
                              <a:latin typeface="標楷體" panose="03000509000000000000" pitchFamily="65" charset="-120"/>
                              <a:ea typeface="標楷體" panose="03000509000000000000" pitchFamily="65" charset="-120"/>
                            </a:rPr>
                            <a:t>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45</a:t>
                          </a:r>
                        </a:p>
                        <a:p>
                          <a:r>
                            <a:rPr lang="en-US" altLang="zh-TW" b="0" strike="sngStrike" dirty="0">
                              <a:solidFill>
                                <a:schemeClr val="tx1"/>
                              </a:solidFill>
                            </a:rPr>
                            <a:t>57</a:t>
                          </a:r>
                        </a:p>
                        <a:p>
                          <a:r>
                            <a:rPr lang="en-US" altLang="zh-TW" b="0" dirty="0">
                              <a:solidFill>
                                <a:schemeClr val="tx1"/>
                              </a:solidFill>
                            </a:rPr>
                            <a:t>66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40+16</a:t>
                          </a:r>
                        </a:p>
                        <a:p>
                          <a:r>
                            <a:rPr lang="en-US" altLang="zh-TW" b="0" dirty="0">
                              <a:solidFill>
                                <a:schemeClr val="tx1"/>
                              </a:solidFill>
                              <a:latin typeface="標楷體" panose="03000509000000000000" pitchFamily="65" charset="-120"/>
                              <a:ea typeface="標楷體" panose="03000509000000000000" pitchFamily="65" charset="-120"/>
                            </a:rPr>
                            <a:t>16+2335+13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55</a:t>
                          </a:r>
                        </a:p>
                        <a:p>
                          <a:r>
                            <a:rPr lang="en-US" altLang="zh-TW" b="0" strike="sngStrike" dirty="0">
                              <a:solidFill>
                                <a:schemeClr val="tx1"/>
                              </a:solidFill>
                            </a:rPr>
                            <a:t>51</a:t>
                          </a:r>
                        </a:p>
                        <a:p>
                          <a:r>
                            <a:rPr lang="en-US" altLang="zh-TW" b="0"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27+16</a:t>
                          </a:r>
                        </a:p>
                        <a:p>
                          <a:r>
                            <a:rPr lang="en-US" altLang="zh-TW" b="0" strike="sngStrike" dirty="0">
                              <a:solidFill>
                                <a:schemeClr val="tx1"/>
                              </a:solidFill>
                            </a:rPr>
                            <a:t>16</a:t>
                          </a:r>
                        </a:p>
                        <a:p>
                          <a:r>
                            <a:rPr lang="en-US" altLang="zh-TW" b="0" dirty="0">
                              <a:solidFill>
                                <a:schemeClr val="tx1"/>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20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p>
                        <a:p>
                          <a:r>
                            <a:rPr lang="en-US" altLang="zh-TW" b="0" strike="sngStrike" dirty="0">
                              <a:solidFill>
                                <a:schemeClr val="tx1"/>
                              </a:solidFill>
                              <a:latin typeface="標楷體" panose="03000509000000000000" pitchFamily="65" charset="-120"/>
                              <a:ea typeface="標楷體" panose="03000509000000000000" pitchFamily="65" charset="-120"/>
                            </a:rPr>
                            <a:t>36</a:t>
                          </a:r>
                        </a:p>
                        <a:p>
                          <a:r>
                            <a:rPr lang="en-US" altLang="zh-TW" b="0" strike="sngStrike" dirty="0">
                              <a:solidFill>
                                <a:schemeClr val="tx1"/>
                              </a:solidFill>
                              <a:latin typeface="標楷體" panose="03000509000000000000" pitchFamily="65" charset="-120"/>
                              <a:ea typeface="標楷體" panose="03000509000000000000" pitchFamily="65" charset="-120"/>
                            </a:rPr>
                            <a:t>55</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6463">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29+23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59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29+23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6463">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16+27</a:t>
                          </a:r>
                        </a:p>
                        <a:p>
                          <a:r>
                            <a:rPr lang="en-US" altLang="zh-TW" b="0" dirty="0">
                              <a:solidFill>
                                <a:schemeClr val="tx1"/>
                              </a:solidFill>
                              <a:latin typeface="標楷體" panose="03000509000000000000" pitchFamily="65" charset="-120"/>
                              <a:ea typeface="標楷體" panose="03000509000000000000" pitchFamily="65" charset="-120"/>
                            </a:rPr>
                            <a:t>25+15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32</a:t>
                          </a:r>
                        </a:p>
                        <a:p>
                          <a:r>
                            <a:rPr lang="en-US" altLang="zh-TW" b="0" dirty="0">
                              <a:solidFill>
                                <a:schemeClr val="tx1"/>
                              </a:solidFill>
                            </a:rPr>
                            <a:t>48</a:t>
                          </a:r>
                        </a:p>
                        <a:p>
                          <a:r>
                            <a:rPr lang="en-US" altLang="zh-TW" b="0" strike="sngStrike" dirty="0">
                              <a:solidFill>
                                <a:schemeClr val="tx1"/>
                              </a:solidFill>
                            </a:rPr>
                            <a:t>45</a:t>
                          </a:r>
                          <a:endParaRPr lang="zh-TW" altLang="en-US" b="0" strike="sngStrik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latin typeface="標楷體" panose="03000509000000000000" pitchFamily="65" charset="-120"/>
                              <a:ea typeface="標楷體" panose="03000509000000000000" pitchFamily="65" charset="-120"/>
                            </a:rPr>
                            <a:t>27+19</a:t>
                          </a:r>
                        </a:p>
                        <a:p>
                          <a:r>
                            <a:rPr lang="en-US" altLang="zh-TW" b="0" strike="sngStrike" dirty="0">
                              <a:solidFill>
                                <a:schemeClr val="tx1"/>
                              </a:solidFill>
                              <a:latin typeface="標楷體" panose="03000509000000000000" pitchFamily="65" charset="-120"/>
                              <a:ea typeface="標楷體" panose="03000509000000000000" pitchFamily="65" charset="-120"/>
                            </a:rPr>
                            <a:t>16+27</a:t>
                          </a:r>
                        </a:p>
                        <a:p>
                          <a:r>
                            <a:rPr lang="en-US" altLang="zh-TW" b="0" strike="sngStrike" dirty="0">
                              <a:solidFill>
                                <a:schemeClr val="tx1"/>
                              </a:solidFill>
                              <a:latin typeface="標楷體" panose="03000509000000000000" pitchFamily="65" charset="-120"/>
                              <a:ea typeface="標楷體" panose="03000509000000000000" pitchFamily="65" charset="-120"/>
                            </a:rPr>
                            <a:t>25+15</a:t>
                          </a:r>
                        </a:p>
                        <a:p>
                          <a:r>
                            <a:rPr lang="en-US" altLang="zh-TW" b="0" dirty="0">
                              <a:solidFill>
                                <a:schemeClr val="tx1"/>
                              </a:solidFill>
                              <a:latin typeface="標楷體" panose="03000509000000000000" pitchFamily="65" charset="-120"/>
                              <a:ea typeface="標楷體" panose="03000509000000000000" pitchFamily="65" charset="-120"/>
                            </a:rPr>
                            <a:t>60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57</a:t>
                          </a:r>
                        </a:p>
                        <a:p>
                          <a:r>
                            <a:rPr lang="en-US" altLang="zh-TW" b="0" strike="sngStrike" dirty="0">
                              <a:solidFill>
                                <a:schemeClr val="tx1"/>
                              </a:solidFill>
                            </a:rPr>
                            <a:t>54</a:t>
                          </a:r>
                        </a:p>
                        <a:p>
                          <a:r>
                            <a:rPr lang="en-US" altLang="zh-TW" b="0" strike="sngStrike" dirty="0">
                              <a:solidFill>
                                <a:schemeClr val="tx1"/>
                              </a:solidFill>
                            </a:rPr>
                            <a:t>51</a:t>
                          </a:r>
                        </a:p>
                        <a:p>
                          <a:r>
                            <a:rPr lang="en-US" altLang="zh-TW" b="0" dirty="0">
                              <a:solidFill>
                                <a:schemeClr val="tx1"/>
                              </a:solidFill>
                            </a:rPr>
                            <a:t>71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27+19</a:t>
                          </a:r>
                        </a:p>
                        <a:p>
                          <a:r>
                            <a:rPr lang="en-US" altLang="zh-TW" b="0" strike="sngStrike" dirty="0">
                              <a:solidFill>
                                <a:schemeClr val="tx1"/>
                              </a:solidFill>
                            </a:rPr>
                            <a:t>16</a:t>
                          </a:r>
                        </a:p>
                        <a:p>
                          <a:r>
                            <a:rPr lang="en-US" altLang="zh-TW" b="0" strike="sngStrike" dirty="0">
                              <a:solidFill>
                                <a:schemeClr val="tx1"/>
                              </a:solidFill>
                            </a:rPr>
                            <a:t>25</a:t>
                          </a:r>
                        </a:p>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60</a:t>
                          </a:r>
                        </a:p>
                        <a:p>
                          <a:r>
                            <a:rPr lang="en-US" altLang="zh-TW" b="0" strike="sngStrike" dirty="0">
                              <a:solidFill>
                                <a:schemeClr val="tx1"/>
                              </a:solidFill>
                              <a:latin typeface="標楷體" panose="03000509000000000000" pitchFamily="65" charset="-120"/>
                              <a:ea typeface="標楷體" panose="03000509000000000000" pitchFamily="65" charset="-120"/>
                            </a:rPr>
                            <a:t>30</a:t>
                          </a:r>
                        </a:p>
                        <a:p>
                          <a:r>
                            <a:rPr lang="en-US" altLang="zh-TW" b="0" strike="sngStrike" dirty="0">
                              <a:solidFill>
                                <a:schemeClr val="tx1"/>
                              </a:solidFill>
                              <a:latin typeface="標楷體" panose="03000509000000000000" pitchFamily="65" charset="-120"/>
                              <a:ea typeface="標楷體" panose="03000509000000000000" pitchFamily="65" charset="-120"/>
                            </a:rPr>
                            <a:t>29</a:t>
                          </a:r>
                        </a:p>
                        <a:p>
                          <a:r>
                            <a:rPr lang="en-US" altLang="zh-TW" b="0" strike="sngStrike" dirty="0">
                              <a:solidFill>
                                <a:schemeClr val="tx1"/>
                              </a:solidFill>
                              <a:latin typeface="標楷體" panose="03000509000000000000" pitchFamily="65" charset="-120"/>
                              <a:ea typeface="標楷體" panose="03000509000000000000" pitchFamily="65" charset="-120"/>
                            </a:rPr>
                            <a:t>49</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6463">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980692313"/>
                  </p:ext>
                </p:extLst>
              </p:nvPr>
            </p:nvGraphicFramePr>
            <p:xfrm>
              <a:off x="162197" y="1033911"/>
              <a:ext cx="7640184" cy="5840248"/>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6463">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8604">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5000" t="-101563" r="-913000" b="-1329688"/>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4478" t="-101563" r="-384328" b="-1329688"/>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69231" t="-101563" r="-105983" b="-1329688"/>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6463">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6463">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6463">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8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6463">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6463">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91440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16+23</a:t>
                          </a:r>
                        </a:p>
                        <a:p>
                          <a:r>
                            <a:rPr lang="en-US" altLang="zh-TW" b="0" dirty="0">
                              <a:solidFill>
                                <a:schemeClr val="tx1"/>
                              </a:solidFill>
                              <a:latin typeface="標楷體" panose="03000509000000000000" pitchFamily="65" charset="-120"/>
                              <a:ea typeface="標楷體" panose="03000509000000000000" pitchFamily="65" charset="-120"/>
                            </a:rPr>
                            <a:t>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45</a:t>
                          </a:r>
                        </a:p>
                        <a:p>
                          <a:r>
                            <a:rPr lang="en-US" altLang="zh-TW" b="0" strike="sngStrike" dirty="0">
                              <a:solidFill>
                                <a:schemeClr val="tx1"/>
                              </a:solidFill>
                            </a:rPr>
                            <a:t>57</a:t>
                          </a:r>
                        </a:p>
                        <a:p>
                          <a:r>
                            <a:rPr lang="en-US" altLang="zh-TW" b="0" dirty="0">
                              <a:solidFill>
                                <a:schemeClr val="tx1"/>
                              </a:solidFill>
                            </a:rPr>
                            <a:t>66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40+16</a:t>
                          </a:r>
                        </a:p>
                        <a:p>
                          <a:r>
                            <a:rPr lang="en-US" altLang="zh-TW" b="0" dirty="0">
                              <a:solidFill>
                                <a:schemeClr val="tx1"/>
                              </a:solidFill>
                              <a:latin typeface="標楷體" panose="03000509000000000000" pitchFamily="65" charset="-120"/>
                              <a:ea typeface="標楷體" panose="03000509000000000000" pitchFamily="65" charset="-120"/>
                            </a:rPr>
                            <a:t>16+2335+13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55</a:t>
                          </a:r>
                        </a:p>
                        <a:p>
                          <a:r>
                            <a:rPr lang="en-US" altLang="zh-TW" b="0" strike="sngStrike" dirty="0">
                              <a:solidFill>
                                <a:schemeClr val="tx1"/>
                              </a:solidFill>
                            </a:rPr>
                            <a:t>51</a:t>
                          </a:r>
                        </a:p>
                        <a:p>
                          <a:r>
                            <a:rPr lang="en-US" altLang="zh-TW" b="0"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27+16</a:t>
                          </a:r>
                        </a:p>
                        <a:p>
                          <a:r>
                            <a:rPr lang="en-US" altLang="zh-TW" b="0" strike="sngStrike" dirty="0">
                              <a:solidFill>
                                <a:schemeClr val="tx1"/>
                              </a:solidFill>
                            </a:rPr>
                            <a:t>16</a:t>
                          </a:r>
                        </a:p>
                        <a:p>
                          <a:r>
                            <a:rPr lang="en-US" altLang="zh-TW" b="0" dirty="0">
                              <a:solidFill>
                                <a:schemeClr val="tx1"/>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20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p>
                        <a:p>
                          <a:r>
                            <a:rPr lang="en-US" altLang="zh-TW" b="0" strike="sngStrike" dirty="0">
                              <a:solidFill>
                                <a:schemeClr val="tx1"/>
                              </a:solidFill>
                              <a:latin typeface="標楷體" panose="03000509000000000000" pitchFamily="65" charset="-120"/>
                              <a:ea typeface="標楷體" panose="03000509000000000000" pitchFamily="65" charset="-120"/>
                            </a:rPr>
                            <a:t>36</a:t>
                          </a:r>
                        </a:p>
                        <a:p>
                          <a:r>
                            <a:rPr lang="en-US" altLang="zh-TW" b="0" strike="sngStrike" dirty="0">
                              <a:solidFill>
                                <a:schemeClr val="tx1"/>
                              </a:solidFill>
                              <a:latin typeface="標楷體" panose="03000509000000000000" pitchFamily="65" charset="-120"/>
                              <a:ea typeface="標楷體" panose="03000509000000000000" pitchFamily="65" charset="-120"/>
                            </a:rPr>
                            <a:t>55</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6463">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29+23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59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29+23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1188720">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16+27</a:t>
                          </a:r>
                        </a:p>
                        <a:p>
                          <a:r>
                            <a:rPr lang="en-US" altLang="zh-TW" b="0" dirty="0">
                              <a:solidFill>
                                <a:schemeClr val="tx1"/>
                              </a:solidFill>
                              <a:latin typeface="標楷體" panose="03000509000000000000" pitchFamily="65" charset="-120"/>
                              <a:ea typeface="標楷體" panose="03000509000000000000" pitchFamily="65" charset="-120"/>
                            </a:rPr>
                            <a:t>25+15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32</a:t>
                          </a:r>
                        </a:p>
                        <a:p>
                          <a:r>
                            <a:rPr lang="en-US" altLang="zh-TW" b="0" dirty="0">
                              <a:solidFill>
                                <a:schemeClr val="tx1"/>
                              </a:solidFill>
                            </a:rPr>
                            <a:t>48</a:t>
                          </a:r>
                        </a:p>
                        <a:p>
                          <a:r>
                            <a:rPr lang="en-US" altLang="zh-TW" b="0" strike="sngStrike" dirty="0">
                              <a:solidFill>
                                <a:schemeClr val="tx1"/>
                              </a:solidFill>
                            </a:rPr>
                            <a:t>45</a:t>
                          </a:r>
                          <a:endParaRPr lang="zh-TW" altLang="en-US" b="0" strike="sngStrik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latin typeface="標楷體" panose="03000509000000000000" pitchFamily="65" charset="-120"/>
                              <a:ea typeface="標楷體" panose="03000509000000000000" pitchFamily="65" charset="-120"/>
                            </a:rPr>
                            <a:t>27+19</a:t>
                          </a:r>
                        </a:p>
                        <a:p>
                          <a:r>
                            <a:rPr lang="en-US" altLang="zh-TW" b="0" strike="sngStrike" dirty="0">
                              <a:solidFill>
                                <a:schemeClr val="tx1"/>
                              </a:solidFill>
                              <a:latin typeface="標楷體" panose="03000509000000000000" pitchFamily="65" charset="-120"/>
                              <a:ea typeface="標楷體" panose="03000509000000000000" pitchFamily="65" charset="-120"/>
                            </a:rPr>
                            <a:t>16+27</a:t>
                          </a:r>
                        </a:p>
                        <a:p>
                          <a:r>
                            <a:rPr lang="en-US" altLang="zh-TW" b="0" strike="sngStrike" dirty="0">
                              <a:solidFill>
                                <a:schemeClr val="tx1"/>
                              </a:solidFill>
                              <a:latin typeface="標楷體" panose="03000509000000000000" pitchFamily="65" charset="-120"/>
                              <a:ea typeface="標楷體" panose="03000509000000000000" pitchFamily="65" charset="-120"/>
                            </a:rPr>
                            <a:t>25+15</a:t>
                          </a:r>
                        </a:p>
                        <a:p>
                          <a:r>
                            <a:rPr lang="en-US" altLang="zh-TW" b="0" dirty="0">
                              <a:solidFill>
                                <a:schemeClr val="tx1"/>
                              </a:solidFill>
                              <a:latin typeface="標楷體" panose="03000509000000000000" pitchFamily="65" charset="-120"/>
                              <a:ea typeface="標楷體" panose="03000509000000000000" pitchFamily="65" charset="-120"/>
                            </a:rPr>
                            <a:t>60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57</a:t>
                          </a:r>
                        </a:p>
                        <a:p>
                          <a:r>
                            <a:rPr lang="en-US" altLang="zh-TW" b="0" strike="sngStrike" dirty="0">
                              <a:solidFill>
                                <a:schemeClr val="tx1"/>
                              </a:solidFill>
                            </a:rPr>
                            <a:t>54</a:t>
                          </a:r>
                        </a:p>
                        <a:p>
                          <a:r>
                            <a:rPr lang="en-US" altLang="zh-TW" b="0" strike="sngStrike" dirty="0">
                              <a:solidFill>
                                <a:schemeClr val="tx1"/>
                              </a:solidFill>
                            </a:rPr>
                            <a:t>51</a:t>
                          </a:r>
                        </a:p>
                        <a:p>
                          <a:r>
                            <a:rPr lang="en-US" altLang="zh-TW" b="0" dirty="0">
                              <a:solidFill>
                                <a:schemeClr val="tx1"/>
                              </a:solidFill>
                            </a:rPr>
                            <a:t>71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27+19</a:t>
                          </a:r>
                        </a:p>
                        <a:p>
                          <a:r>
                            <a:rPr lang="en-US" altLang="zh-TW" b="0" strike="sngStrike" dirty="0">
                              <a:solidFill>
                                <a:schemeClr val="tx1"/>
                              </a:solidFill>
                            </a:rPr>
                            <a:t>16</a:t>
                          </a:r>
                        </a:p>
                        <a:p>
                          <a:r>
                            <a:rPr lang="en-US" altLang="zh-TW" b="0" strike="sngStrike" dirty="0">
                              <a:solidFill>
                                <a:schemeClr val="tx1"/>
                              </a:solidFill>
                            </a:rPr>
                            <a:t>25</a:t>
                          </a:r>
                        </a:p>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60</a:t>
                          </a:r>
                        </a:p>
                        <a:p>
                          <a:r>
                            <a:rPr lang="en-US" altLang="zh-TW" b="0" strike="sngStrike" dirty="0">
                              <a:solidFill>
                                <a:schemeClr val="tx1"/>
                              </a:solidFill>
                              <a:latin typeface="標楷體" panose="03000509000000000000" pitchFamily="65" charset="-120"/>
                              <a:ea typeface="標楷體" panose="03000509000000000000" pitchFamily="65" charset="-120"/>
                            </a:rPr>
                            <a:t>30</a:t>
                          </a:r>
                        </a:p>
                        <a:p>
                          <a:r>
                            <a:rPr lang="en-US" altLang="zh-TW" b="0" strike="sngStrike" dirty="0">
                              <a:solidFill>
                                <a:schemeClr val="tx1"/>
                              </a:solidFill>
                              <a:latin typeface="標楷體" panose="03000509000000000000" pitchFamily="65" charset="-120"/>
                              <a:ea typeface="標楷體" panose="03000509000000000000" pitchFamily="65" charset="-120"/>
                            </a:rPr>
                            <a:t>29</a:t>
                          </a:r>
                        </a:p>
                        <a:p>
                          <a:r>
                            <a:rPr lang="en-US" altLang="zh-TW" b="0" strike="sngStrike" dirty="0">
                              <a:solidFill>
                                <a:schemeClr val="tx1"/>
                              </a:solidFill>
                              <a:latin typeface="標楷體" panose="03000509000000000000" pitchFamily="65" charset="-120"/>
                              <a:ea typeface="標楷體" panose="03000509000000000000" pitchFamily="65" charset="-120"/>
                            </a:rPr>
                            <a:t>49</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6463">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653875536"/>
              </p:ext>
            </p:extLst>
          </p:nvPr>
        </p:nvGraphicFramePr>
        <p:xfrm>
          <a:off x="8184629" y="1573557"/>
          <a:ext cx="3058316" cy="5031774"/>
        </p:xfrm>
        <a:graphic>
          <a:graphicData uri="http://schemas.openxmlformats.org/drawingml/2006/table">
            <a:tbl>
              <a:tblPr firstRow="1" bandRow="1">
                <a:tableStyleId>{5C22544A-7EE6-4342-B048-85BDC9FD1C3A}</a:tableStyleId>
              </a:tblPr>
              <a:tblGrid>
                <a:gridCol w="764579">
                  <a:extLst>
                    <a:ext uri="{9D8B030D-6E8A-4147-A177-3AD203B41FA5}">
                      <a16:colId xmlns:a16="http://schemas.microsoft.com/office/drawing/2014/main" val="321835290"/>
                    </a:ext>
                  </a:extLst>
                </a:gridCol>
                <a:gridCol w="764579">
                  <a:extLst>
                    <a:ext uri="{9D8B030D-6E8A-4147-A177-3AD203B41FA5}">
                      <a16:colId xmlns:a16="http://schemas.microsoft.com/office/drawing/2014/main" val="120986023"/>
                    </a:ext>
                  </a:extLst>
                </a:gridCol>
                <a:gridCol w="764579">
                  <a:extLst>
                    <a:ext uri="{9D8B030D-6E8A-4147-A177-3AD203B41FA5}">
                      <a16:colId xmlns:a16="http://schemas.microsoft.com/office/drawing/2014/main" val="956206097"/>
                    </a:ext>
                  </a:extLst>
                </a:gridCol>
                <a:gridCol w="764579">
                  <a:extLst>
                    <a:ext uri="{9D8B030D-6E8A-4147-A177-3AD203B41FA5}">
                      <a16:colId xmlns:a16="http://schemas.microsoft.com/office/drawing/2014/main" val="1013173815"/>
                    </a:ext>
                  </a:extLst>
                </a:gridCol>
              </a:tblGrid>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427617">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900619">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60</a:t>
                      </a:r>
                    </a:p>
                    <a:p>
                      <a:endParaRPr lang="en-US" altLang="zh-TW" b="0" dirty="0">
                        <a:solidFill>
                          <a:schemeClr val="tx1"/>
                        </a:solidFill>
                      </a:endParaRPr>
                    </a:p>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409973">
                <a:tc>
                  <a:txBody>
                    <a:bodyPr/>
                    <a:lstStyle/>
                    <a:p>
                      <a:r>
                        <a:rPr lang="en-US" altLang="zh-TW" b="0" dirty="0">
                          <a:solidFill>
                            <a:schemeClr val="tx1"/>
                          </a:solidFill>
                          <a:latin typeface="標楷體" panose="03000509000000000000" pitchFamily="65" charset="-120"/>
                          <a:ea typeface="標楷體" panose="03000509000000000000" pitchFamily="65" charset="-120"/>
                        </a:rPr>
                        <a:t>48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60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409973">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pic>
        <p:nvPicPr>
          <p:cNvPr id="8" name="圖片 7">
            <a:extLst>
              <a:ext uri="{FF2B5EF4-FFF2-40B4-BE49-F238E27FC236}">
                <a16:creationId xmlns:a16="http://schemas.microsoft.com/office/drawing/2014/main" id="{51419E11-D880-4305-A1C4-0623E03C6970}"/>
              </a:ext>
            </a:extLst>
          </p:cNvPr>
          <p:cNvPicPr>
            <a:picLocks noChangeAspect="1"/>
          </p:cNvPicPr>
          <p:nvPr/>
        </p:nvPicPr>
        <p:blipFill>
          <a:blip r:embed="rId5"/>
          <a:stretch>
            <a:fillRect/>
          </a:stretch>
        </p:blipFill>
        <p:spPr>
          <a:xfrm>
            <a:off x="7929797" y="-1"/>
            <a:ext cx="2446668" cy="2453245"/>
          </a:xfrm>
          <a:prstGeom prst="rect">
            <a:avLst/>
          </a:prstGeom>
        </p:spPr>
      </p:pic>
    </p:spTree>
    <p:extLst>
      <p:ext uri="{BB962C8B-B14F-4D97-AF65-F5344CB8AC3E}">
        <p14:creationId xmlns:p14="http://schemas.microsoft.com/office/powerpoint/2010/main" val="159215642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01374050"/>
                  </p:ext>
                </p:extLst>
              </p:nvPr>
            </p:nvGraphicFramePr>
            <p:xfrm>
              <a:off x="162197" y="329373"/>
              <a:ext cx="7640184" cy="6388185"/>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6463">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8604">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ea typeface="標楷體" panose="03000509000000000000" pitchFamily="65" charset="-120"/>
                                      </a:rPr>
                                    </m:ctrlPr>
                                  </m:sSubPr>
                                  <m:e>
                                    <m:r>
                                      <a:rPr lang="en-US" altLang="zh-TW" b="0" i="1" smtClean="0">
                                        <a:solidFill>
                                          <a:schemeClr val="tx1"/>
                                        </a:solidFill>
                                        <a:latin typeface="Cambria Math" panose="02040503050406030204" pitchFamily="18" charset="0"/>
                                        <a:ea typeface="標楷體" panose="03000509000000000000" pitchFamily="65" charset="-120"/>
                                      </a:rPr>
                                      <m:t>𝑤</m:t>
                                    </m:r>
                                  </m:e>
                                  <m:sub>
                                    <m:r>
                                      <a:rPr lang="en-US" altLang="zh-TW" b="0" i="1" smtClean="0">
                                        <a:solidFill>
                                          <a:schemeClr val="tx1"/>
                                        </a:solidFill>
                                        <a:latin typeface="Cambria Math" panose="02040503050406030204" pitchFamily="18" charset="0"/>
                                        <a:ea typeface="標楷體" panose="03000509000000000000" pitchFamily="65" charset="-120"/>
                                      </a:rPr>
                                      <m:t>𝑖</m:t>
                                    </m:r>
                                    <m:r>
                                      <a:rPr lang="en-US" altLang="zh-TW" b="0" i="1" smtClean="0">
                                        <a:solidFill>
                                          <a:schemeClr val="tx1"/>
                                        </a:solidFill>
                                        <a:latin typeface="Cambria Math" panose="02040503050406030204" pitchFamily="18" charset="0"/>
                                        <a:ea typeface="標楷體" panose="03000509000000000000" pitchFamily="65" charset="-120"/>
                                      </a:rPr>
                                      <m:t>,</m:t>
                                    </m:r>
                                    <m:r>
                                      <a:rPr lang="en-US" altLang="zh-TW" b="0" i="1" smtClean="0">
                                        <a:solidFill>
                                          <a:schemeClr val="tx1"/>
                                        </a:solidFill>
                                        <a:latin typeface="Cambria Math" panose="02040503050406030204" pitchFamily="18" charset="0"/>
                                        <a:ea typeface="標楷體" panose="03000509000000000000" pitchFamily="65" charset="-120"/>
                                      </a:rPr>
                                      <m:t>𝑗</m:t>
                                    </m:r>
                                  </m:sub>
                                </m:sSub>
                              </m:oMath>
                            </m:oMathPara>
                          </a14:m>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6463">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6463">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6463">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8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6463">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6463">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366463">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16+23</a:t>
                          </a:r>
                        </a:p>
                        <a:p>
                          <a:r>
                            <a:rPr lang="en-US" altLang="zh-TW" b="0" dirty="0">
                              <a:solidFill>
                                <a:schemeClr val="tx1"/>
                              </a:solidFill>
                              <a:latin typeface="標楷體" panose="03000509000000000000" pitchFamily="65" charset="-120"/>
                              <a:ea typeface="標楷體" panose="03000509000000000000" pitchFamily="65" charset="-120"/>
                            </a:rPr>
                            <a:t>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45</a:t>
                          </a:r>
                        </a:p>
                        <a:p>
                          <a:r>
                            <a:rPr lang="en-US" altLang="zh-TW" b="0" strike="sngStrike" dirty="0">
                              <a:solidFill>
                                <a:schemeClr val="tx1"/>
                              </a:solidFill>
                            </a:rPr>
                            <a:t>57</a:t>
                          </a:r>
                        </a:p>
                        <a:p>
                          <a:r>
                            <a:rPr lang="en-US" altLang="zh-TW" b="0" dirty="0">
                              <a:solidFill>
                                <a:schemeClr val="tx1"/>
                              </a:solidFill>
                            </a:rPr>
                            <a:t>66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40+16</a:t>
                          </a:r>
                        </a:p>
                        <a:p>
                          <a:r>
                            <a:rPr lang="en-US" altLang="zh-TW" b="0" dirty="0">
                              <a:solidFill>
                                <a:schemeClr val="tx1"/>
                              </a:solidFill>
                              <a:latin typeface="標楷體" panose="03000509000000000000" pitchFamily="65" charset="-120"/>
                              <a:ea typeface="標楷體" panose="03000509000000000000" pitchFamily="65" charset="-120"/>
                            </a:rPr>
                            <a:t>16+2335+13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55</a:t>
                          </a:r>
                        </a:p>
                        <a:p>
                          <a:r>
                            <a:rPr lang="en-US" altLang="zh-TW" b="0" strike="sngStrike" dirty="0">
                              <a:solidFill>
                                <a:schemeClr val="tx1"/>
                              </a:solidFill>
                            </a:rPr>
                            <a:t>51</a:t>
                          </a:r>
                        </a:p>
                        <a:p>
                          <a:r>
                            <a:rPr lang="en-US" altLang="zh-TW" b="0"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27+16</a:t>
                          </a:r>
                        </a:p>
                        <a:p>
                          <a:r>
                            <a:rPr lang="en-US" altLang="zh-TW" b="0" strike="sngStrike" dirty="0">
                              <a:solidFill>
                                <a:schemeClr val="tx1"/>
                              </a:solidFill>
                            </a:rPr>
                            <a:t>16</a:t>
                          </a:r>
                        </a:p>
                        <a:p>
                          <a:r>
                            <a:rPr lang="en-US" altLang="zh-TW" b="0" dirty="0">
                              <a:solidFill>
                                <a:schemeClr val="tx1"/>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20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p>
                        <a:p>
                          <a:r>
                            <a:rPr lang="en-US" altLang="zh-TW" b="0" strike="sngStrike" dirty="0">
                              <a:solidFill>
                                <a:schemeClr val="tx1"/>
                              </a:solidFill>
                              <a:latin typeface="標楷體" panose="03000509000000000000" pitchFamily="65" charset="-120"/>
                              <a:ea typeface="標楷體" panose="03000509000000000000" pitchFamily="65" charset="-120"/>
                            </a:rPr>
                            <a:t>36</a:t>
                          </a:r>
                        </a:p>
                        <a:p>
                          <a:r>
                            <a:rPr lang="en-US" altLang="zh-TW" b="0" strike="sngStrike" dirty="0">
                              <a:solidFill>
                                <a:schemeClr val="tx1"/>
                              </a:solidFill>
                              <a:latin typeface="標楷體" panose="03000509000000000000" pitchFamily="65" charset="-120"/>
                              <a:ea typeface="標楷體" panose="03000509000000000000" pitchFamily="65" charset="-120"/>
                            </a:rPr>
                            <a:t>55</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6463">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29+23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59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29+23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366463">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16+27</a:t>
                          </a:r>
                        </a:p>
                        <a:p>
                          <a:r>
                            <a:rPr lang="en-US" altLang="zh-TW" b="0" dirty="0">
                              <a:solidFill>
                                <a:schemeClr val="tx1"/>
                              </a:solidFill>
                              <a:latin typeface="標楷體" panose="03000509000000000000" pitchFamily="65" charset="-120"/>
                              <a:ea typeface="標楷體" panose="03000509000000000000" pitchFamily="65" charset="-120"/>
                            </a:rPr>
                            <a:t>25+15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32</a:t>
                          </a:r>
                        </a:p>
                        <a:p>
                          <a:r>
                            <a:rPr lang="en-US" altLang="zh-TW" b="0" dirty="0">
                              <a:solidFill>
                                <a:schemeClr val="tx1"/>
                              </a:solidFill>
                            </a:rPr>
                            <a:t>48</a:t>
                          </a:r>
                        </a:p>
                        <a:p>
                          <a:r>
                            <a:rPr lang="en-US" altLang="zh-TW" b="0" strike="sngStrike" dirty="0">
                              <a:solidFill>
                                <a:schemeClr val="tx1"/>
                              </a:solidFill>
                            </a:rPr>
                            <a:t>45</a:t>
                          </a:r>
                          <a:endParaRPr lang="zh-TW" altLang="en-US" b="0" strike="sngStrik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latin typeface="標楷體" panose="03000509000000000000" pitchFamily="65" charset="-120"/>
                              <a:ea typeface="標楷體" panose="03000509000000000000" pitchFamily="65" charset="-120"/>
                            </a:rPr>
                            <a:t>27+19</a:t>
                          </a:r>
                        </a:p>
                        <a:p>
                          <a:r>
                            <a:rPr lang="en-US" altLang="zh-TW" b="0" strike="sngStrike" dirty="0">
                              <a:solidFill>
                                <a:schemeClr val="tx1"/>
                              </a:solidFill>
                              <a:latin typeface="標楷體" panose="03000509000000000000" pitchFamily="65" charset="-120"/>
                              <a:ea typeface="標楷體" panose="03000509000000000000" pitchFamily="65" charset="-120"/>
                            </a:rPr>
                            <a:t>16+27</a:t>
                          </a:r>
                        </a:p>
                        <a:p>
                          <a:r>
                            <a:rPr lang="en-US" altLang="zh-TW" b="0" strike="sngStrike" dirty="0">
                              <a:solidFill>
                                <a:schemeClr val="tx1"/>
                              </a:solidFill>
                              <a:latin typeface="標楷體" panose="03000509000000000000" pitchFamily="65" charset="-120"/>
                              <a:ea typeface="標楷體" panose="03000509000000000000" pitchFamily="65" charset="-120"/>
                            </a:rPr>
                            <a:t>25+15</a:t>
                          </a:r>
                        </a:p>
                        <a:p>
                          <a:r>
                            <a:rPr lang="en-US" altLang="zh-TW" b="0" dirty="0">
                              <a:solidFill>
                                <a:schemeClr val="tx1"/>
                              </a:solidFill>
                              <a:latin typeface="標楷體" panose="03000509000000000000" pitchFamily="65" charset="-120"/>
                              <a:ea typeface="標楷體" panose="03000509000000000000" pitchFamily="65" charset="-120"/>
                            </a:rPr>
                            <a:t>60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57</a:t>
                          </a:r>
                        </a:p>
                        <a:p>
                          <a:r>
                            <a:rPr lang="en-US" altLang="zh-TW" b="0" strike="sngStrike" dirty="0">
                              <a:solidFill>
                                <a:schemeClr val="tx1"/>
                              </a:solidFill>
                            </a:rPr>
                            <a:t>54</a:t>
                          </a:r>
                        </a:p>
                        <a:p>
                          <a:r>
                            <a:rPr lang="en-US" altLang="zh-TW" b="0" strike="sngStrike" dirty="0">
                              <a:solidFill>
                                <a:schemeClr val="tx1"/>
                              </a:solidFill>
                            </a:rPr>
                            <a:t>51</a:t>
                          </a:r>
                        </a:p>
                        <a:p>
                          <a:r>
                            <a:rPr lang="en-US" altLang="zh-TW" b="0" dirty="0">
                              <a:solidFill>
                                <a:schemeClr val="tx1"/>
                              </a:solidFill>
                            </a:rPr>
                            <a:t>71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27+19</a:t>
                          </a:r>
                        </a:p>
                        <a:p>
                          <a:r>
                            <a:rPr lang="en-US" altLang="zh-TW" b="0" strike="sngStrike" dirty="0">
                              <a:solidFill>
                                <a:schemeClr val="tx1"/>
                              </a:solidFill>
                            </a:rPr>
                            <a:t>16</a:t>
                          </a:r>
                        </a:p>
                        <a:p>
                          <a:r>
                            <a:rPr lang="en-US" altLang="zh-TW" b="0" strike="sngStrike" dirty="0">
                              <a:solidFill>
                                <a:schemeClr val="tx1"/>
                              </a:solidFill>
                            </a:rPr>
                            <a:t>25</a:t>
                          </a:r>
                        </a:p>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60</a:t>
                          </a:r>
                        </a:p>
                        <a:p>
                          <a:r>
                            <a:rPr lang="en-US" altLang="zh-TW" b="0" strike="sngStrike" dirty="0">
                              <a:solidFill>
                                <a:schemeClr val="tx1"/>
                              </a:solidFill>
                              <a:latin typeface="標楷體" panose="03000509000000000000" pitchFamily="65" charset="-120"/>
                              <a:ea typeface="標楷體" panose="03000509000000000000" pitchFamily="65" charset="-120"/>
                            </a:rPr>
                            <a:t>30</a:t>
                          </a:r>
                        </a:p>
                        <a:p>
                          <a:r>
                            <a:rPr lang="en-US" altLang="zh-TW" b="0" strike="sngStrike" dirty="0">
                              <a:solidFill>
                                <a:schemeClr val="tx1"/>
                              </a:solidFill>
                              <a:latin typeface="標楷體" panose="03000509000000000000" pitchFamily="65" charset="-120"/>
                              <a:ea typeface="標楷體" panose="03000509000000000000" pitchFamily="65" charset="-120"/>
                            </a:rPr>
                            <a:t>29</a:t>
                          </a:r>
                        </a:p>
                        <a:p>
                          <a:r>
                            <a:rPr lang="en-US" altLang="zh-TW" b="0" strike="sngStrike" dirty="0">
                              <a:solidFill>
                                <a:schemeClr val="tx1"/>
                              </a:solidFill>
                              <a:latin typeface="標楷體" panose="03000509000000000000" pitchFamily="65" charset="-120"/>
                              <a:ea typeface="標楷體" panose="03000509000000000000" pitchFamily="65" charset="-120"/>
                            </a:rPr>
                            <a:t>49</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366463">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44+17</a:t>
                          </a:r>
                        </a:p>
                        <a:p>
                          <a:r>
                            <a:rPr lang="en-US" altLang="zh-TW" b="0" dirty="0">
                              <a:solidFill>
                                <a:schemeClr val="tx1"/>
                              </a:solidFill>
                              <a:latin typeface="標楷體" panose="03000509000000000000" pitchFamily="65" charset="-120"/>
                              <a:ea typeface="標楷體" panose="03000509000000000000" pitchFamily="65" charset="-120"/>
                            </a:rPr>
                            <a:t>48</a:t>
                          </a:r>
                        </a:p>
                        <a:p>
                          <a:r>
                            <a:rPr lang="en-US" altLang="zh-TW" b="0" dirty="0">
                              <a:solidFill>
                                <a:schemeClr val="tx1"/>
                              </a:solidFill>
                              <a:latin typeface="標楷體" panose="03000509000000000000" pitchFamily="65" charset="-120"/>
                              <a:ea typeface="標楷體" panose="03000509000000000000" pitchFamily="65" charset="-120"/>
                            </a:rPr>
                            <a:t>60+13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81</a:t>
                          </a:r>
                        </a:p>
                        <a:p>
                          <a:r>
                            <a:rPr lang="en-US" altLang="zh-TW" b="0" strike="sngStrike" dirty="0">
                              <a:solidFill>
                                <a:schemeClr val="tx1"/>
                              </a:solidFill>
                            </a:rPr>
                            <a:t>69</a:t>
                          </a:r>
                        </a:p>
                        <a:p>
                          <a:r>
                            <a:rPr lang="en-US" altLang="zh-TW" b="0" dirty="0">
                              <a:solidFill>
                                <a:schemeClr val="tx1"/>
                              </a:solidFill>
                            </a:rPr>
                            <a:t>94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latin typeface="標楷體" panose="03000509000000000000" pitchFamily="65" charset="-120"/>
                              <a:ea typeface="標楷體" panose="03000509000000000000" pitchFamily="65" charset="-120"/>
                            </a:rPr>
                            <a:t>44</a:t>
                          </a:r>
                        </a:p>
                        <a:p>
                          <a:r>
                            <a:rPr lang="en-US" altLang="zh-TW" b="0" strike="sngStrike" dirty="0">
                              <a:solidFill>
                                <a:schemeClr val="tx1"/>
                              </a:solidFill>
                              <a:latin typeface="標楷體" panose="03000509000000000000" pitchFamily="65" charset="-120"/>
                              <a:ea typeface="標楷體" panose="03000509000000000000" pitchFamily="65" charset="-120"/>
                            </a:rPr>
                            <a:t>48+11</a:t>
                          </a:r>
                        </a:p>
                        <a:p>
                          <a:r>
                            <a:rPr lang="en-US" altLang="zh-TW" b="0" dirty="0">
                              <a:solidFill>
                                <a:schemeClr val="tx1"/>
                              </a:solidFill>
                              <a:latin typeface="標楷體" panose="03000509000000000000" pitchFamily="65" charset="-120"/>
                              <a:ea typeface="標楷體" panose="03000509000000000000" pitchFamily="65" charset="-120"/>
                            </a:rPr>
                            <a:t>60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51</a:t>
                          </a:r>
                        </a:p>
                        <a:p>
                          <a:r>
                            <a:rPr lang="en-US" altLang="zh-TW" b="0" strike="sngStrike" dirty="0">
                              <a:solidFill>
                                <a:schemeClr val="tx1"/>
                              </a:solidFill>
                            </a:rPr>
                            <a:t>66</a:t>
                          </a:r>
                        </a:p>
                        <a:p>
                          <a:r>
                            <a:rPr lang="en-US" altLang="zh-TW" b="0" dirty="0">
                              <a:solidFill>
                                <a:schemeClr val="tx1"/>
                              </a:solidFill>
                            </a:rPr>
                            <a:t>67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44+17</a:t>
                          </a:r>
                        </a:p>
                        <a:p>
                          <a:r>
                            <a:rPr lang="en-US" altLang="zh-TW" b="0" dirty="0">
                              <a:solidFill>
                                <a:schemeClr val="tx1"/>
                              </a:solidFill>
                            </a:rPr>
                            <a:t>48+11</a:t>
                          </a:r>
                        </a:p>
                        <a:p>
                          <a:r>
                            <a:rPr lang="en-US" altLang="zh-TW" b="0" dirty="0">
                              <a:solidFill>
                                <a:schemeClr val="tx1"/>
                              </a:solidFill>
                            </a:rPr>
                            <a:t>60+13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strike="sngStrike" dirty="0">
                              <a:solidFill>
                                <a:schemeClr val="tx1"/>
                              </a:solidFill>
                              <a:latin typeface="標楷體" panose="03000509000000000000" pitchFamily="65" charset="-120"/>
                              <a:ea typeface="標楷體" panose="03000509000000000000" pitchFamily="65" charset="-120"/>
                            </a:rPr>
                            <a:t>77</a:t>
                          </a:r>
                        </a:p>
                        <a:p>
                          <a:r>
                            <a:rPr lang="en-US" altLang="zh-TW" b="0" strike="sngStrike" dirty="0">
                              <a:solidFill>
                                <a:schemeClr val="tx1"/>
                              </a:solidFill>
                              <a:latin typeface="標楷體" panose="03000509000000000000" pitchFamily="65" charset="-120"/>
                              <a:ea typeface="標楷體" panose="03000509000000000000" pitchFamily="65" charset="-120"/>
                            </a:rPr>
                            <a:t>75</a:t>
                          </a:r>
                        </a:p>
                        <a:p>
                          <a:r>
                            <a:rPr lang="en-US" altLang="zh-TW" b="0" dirty="0">
                              <a:solidFill>
                                <a:schemeClr val="tx1"/>
                              </a:solidFill>
                              <a:latin typeface="標楷體" panose="03000509000000000000" pitchFamily="65" charset="-120"/>
                              <a:ea typeface="標楷體" panose="03000509000000000000" pitchFamily="65" charset="-120"/>
                            </a:rPr>
                            <a:t>89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Choice>
        <mc:Fallback xmlns="">
          <p:graphicFrame>
            <p:nvGraphicFramePr>
              <p:cNvPr id="4" name="表格 4">
                <a:extLst>
                  <a:ext uri="{FF2B5EF4-FFF2-40B4-BE49-F238E27FC236}">
                    <a16:creationId xmlns:a16="http://schemas.microsoft.com/office/drawing/2014/main" id="{FD737B36-F851-4BEF-9C1D-36CC7B2D0845}"/>
                  </a:ext>
                </a:extLst>
              </p:cNvPr>
              <p:cNvGraphicFramePr>
                <a:graphicFrameLocks noGrp="1"/>
              </p:cNvGraphicFramePr>
              <p:nvPr>
                <p:extLst>
                  <p:ext uri="{D42A27DB-BD31-4B8C-83A1-F6EECF244321}">
                    <p14:modId xmlns:p14="http://schemas.microsoft.com/office/powerpoint/2010/main" val="101374050"/>
                  </p:ext>
                </p:extLst>
              </p:nvPr>
            </p:nvGraphicFramePr>
            <p:xfrm>
              <a:off x="162197" y="329373"/>
              <a:ext cx="7640184" cy="6388185"/>
            </p:xfrm>
            <a:graphic>
              <a:graphicData uri="http://schemas.openxmlformats.org/drawingml/2006/table">
                <a:tbl>
                  <a:tblPr firstRow="1" bandRow="1">
                    <a:tableStyleId>{5C22544A-7EE6-4342-B048-85BDC9FD1C3A}</a:tableStyleId>
                  </a:tblPr>
                  <a:tblGrid>
                    <a:gridCol w="642938">
                      <a:extLst>
                        <a:ext uri="{9D8B030D-6E8A-4147-A177-3AD203B41FA5}">
                          <a16:colId xmlns:a16="http://schemas.microsoft.com/office/drawing/2014/main" val="239911059"/>
                        </a:ext>
                      </a:extLst>
                    </a:gridCol>
                    <a:gridCol w="846702">
                      <a:extLst>
                        <a:ext uri="{9D8B030D-6E8A-4147-A177-3AD203B41FA5}">
                          <a16:colId xmlns:a16="http://schemas.microsoft.com/office/drawing/2014/main" val="2696759501"/>
                        </a:ext>
                      </a:extLst>
                    </a:gridCol>
                    <a:gridCol w="606339">
                      <a:extLst>
                        <a:ext uri="{9D8B030D-6E8A-4147-A177-3AD203B41FA5}">
                          <a16:colId xmlns:a16="http://schemas.microsoft.com/office/drawing/2014/main" val="3241295276"/>
                        </a:ext>
                      </a:extLst>
                    </a:gridCol>
                    <a:gridCol w="740108">
                      <a:extLst>
                        <a:ext uri="{9D8B030D-6E8A-4147-A177-3AD203B41FA5}">
                          <a16:colId xmlns:a16="http://schemas.microsoft.com/office/drawing/2014/main" val="603036246"/>
                        </a:ext>
                      </a:extLst>
                    </a:gridCol>
                    <a:gridCol w="868115">
                      <a:extLst>
                        <a:ext uri="{9D8B030D-6E8A-4147-A177-3AD203B41FA5}">
                          <a16:colId xmlns:a16="http://schemas.microsoft.com/office/drawing/2014/main" val="802323705"/>
                        </a:ext>
                      </a:extLst>
                    </a:gridCol>
                    <a:gridCol w="814388">
                      <a:extLst>
                        <a:ext uri="{9D8B030D-6E8A-4147-A177-3AD203B41FA5}">
                          <a16:colId xmlns:a16="http://schemas.microsoft.com/office/drawing/2014/main" val="3525194124"/>
                        </a:ext>
                      </a:extLst>
                    </a:gridCol>
                    <a:gridCol w="757237">
                      <a:extLst>
                        <a:ext uri="{9D8B030D-6E8A-4147-A177-3AD203B41FA5}">
                          <a16:colId xmlns:a16="http://schemas.microsoft.com/office/drawing/2014/main" val="111345989"/>
                        </a:ext>
                      </a:extLst>
                    </a:gridCol>
                    <a:gridCol w="914400">
                      <a:extLst>
                        <a:ext uri="{9D8B030D-6E8A-4147-A177-3AD203B41FA5}">
                          <a16:colId xmlns:a16="http://schemas.microsoft.com/office/drawing/2014/main" val="4230603876"/>
                        </a:ext>
                      </a:extLst>
                    </a:gridCol>
                    <a:gridCol w="714375">
                      <a:extLst>
                        <a:ext uri="{9D8B030D-6E8A-4147-A177-3AD203B41FA5}">
                          <a16:colId xmlns:a16="http://schemas.microsoft.com/office/drawing/2014/main" val="4159905605"/>
                        </a:ext>
                      </a:extLst>
                    </a:gridCol>
                    <a:gridCol w="735582">
                      <a:extLst>
                        <a:ext uri="{9D8B030D-6E8A-4147-A177-3AD203B41FA5}">
                          <a16:colId xmlns:a16="http://schemas.microsoft.com/office/drawing/2014/main" val="1167941338"/>
                        </a:ext>
                      </a:extLst>
                    </a:gridCol>
                  </a:tblGrid>
                  <a:tr h="366463">
                    <a:tc>
                      <a:txBody>
                        <a:bodyPr/>
                        <a:lstStyle/>
                        <a:p>
                          <a:r>
                            <a:rPr lang="en-US" altLang="zh-TW" b="0" dirty="0">
                              <a:solidFill>
                                <a:schemeClr val="tx1"/>
                              </a:solidFill>
                            </a:rPr>
                            <a:t>Task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TW" altLang="en-US"/>
                        </a:p>
                      </a:txBody>
                      <a:tcPr/>
                    </a:tc>
                    <a:tc h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r>
                            <a:rPr lang="en-US" altLang="zh-TW" b="0" dirty="0">
                              <a:solidFill>
                                <a:schemeClr val="tx1"/>
                              </a:solidFill>
                            </a:rPr>
                            <a:t>P3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hMerge="1">
                      <a:txBody>
                        <a:bodyPr/>
                        <a:lstStyle/>
                        <a:p>
                          <a:endParaRPr lang="zh-TW" altLang="en-US"/>
                        </a:p>
                      </a:txBody>
                      <a:tcPr/>
                    </a:tc>
                    <a:tc hMerge="1">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88604">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5000" t="-101563" r="-913000" b="-147031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54478" t="-101563" r="-384328" b="-147031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start</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69231" t="-101563" r="-105983" b="-1470313"/>
                          </a:stretch>
                        </a:blipFill>
                      </a:tcPr>
                    </a:tc>
                    <a:tc>
                      <a:txBody>
                        <a:bodyPr/>
                        <a:lstStyle/>
                        <a:p>
                          <a:r>
                            <a:rPr lang="en-US" altLang="zh-TW" b="0" dirty="0">
                              <a:solidFill>
                                <a:schemeClr val="tx1"/>
                              </a:solidFill>
                            </a:rPr>
                            <a:t>finish</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55081921"/>
                      </a:ext>
                    </a:extLst>
                  </a:tr>
                  <a:tr h="366463">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704504711"/>
                      </a:ext>
                    </a:extLst>
                  </a:tr>
                  <a:tr h="366463">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079493796"/>
                      </a:ext>
                    </a:extLst>
                  </a:tr>
                  <a:tr h="366463">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27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119750404"/>
                      </a:ext>
                    </a:extLst>
                  </a:tr>
                  <a:tr h="416820">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542198463"/>
                      </a:ext>
                    </a:extLst>
                  </a:tr>
                  <a:tr h="366463">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40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33892923"/>
                      </a:ext>
                    </a:extLst>
                  </a:tr>
                  <a:tr h="366463">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657082305"/>
                      </a:ext>
                    </a:extLst>
                  </a:tr>
                  <a:tr h="914400">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16+23</a:t>
                          </a:r>
                        </a:p>
                        <a:p>
                          <a:r>
                            <a:rPr lang="en-US" altLang="zh-TW" b="0" dirty="0">
                              <a:solidFill>
                                <a:schemeClr val="tx1"/>
                              </a:solidFill>
                              <a:latin typeface="標楷體" panose="03000509000000000000" pitchFamily="65" charset="-120"/>
                              <a:ea typeface="標楷體" panose="03000509000000000000" pitchFamily="65" charset="-120"/>
                            </a:rPr>
                            <a:t>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18</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45</a:t>
                          </a:r>
                        </a:p>
                        <a:p>
                          <a:r>
                            <a:rPr lang="en-US" altLang="zh-TW" b="0" strike="sngStrike" dirty="0">
                              <a:solidFill>
                                <a:schemeClr val="tx1"/>
                              </a:solidFill>
                            </a:rPr>
                            <a:t>57</a:t>
                          </a:r>
                        </a:p>
                        <a:p>
                          <a:r>
                            <a:rPr lang="en-US" altLang="zh-TW" b="0" dirty="0">
                              <a:solidFill>
                                <a:schemeClr val="tx1"/>
                              </a:solidFill>
                            </a:rPr>
                            <a:t>66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40+16</a:t>
                          </a:r>
                        </a:p>
                        <a:p>
                          <a:r>
                            <a:rPr lang="en-US" altLang="zh-TW" b="0" dirty="0">
                              <a:solidFill>
                                <a:schemeClr val="tx1"/>
                              </a:solidFill>
                              <a:latin typeface="標楷體" panose="03000509000000000000" pitchFamily="65" charset="-120"/>
                              <a:ea typeface="標楷體" panose="03000509000000000000" pitchFamily="65" charset="-120"/>
                            </a:rPr>
                            <a:t>16+2335+13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55</a:t>
                          </a:r>
                        </a:p>
                        <a:p>
                          <a:r>
                            <a:rPr lang="en-US" altLang="zh-TW" b="0" strike="sngStrike" dirty="0">
                              <a:solidFill>
                                <a:schemeClr val="tx1"/>
                              </a:solidFill>
                            </a:rPr>
                            <a:t>51</a:t>
                          </a:r>
                        </a:p>
                        <a:p>
                          <a:r>
                            <a:rPr lang="en-US" altLang="zh-TW" b="0" dirty="0">
                              <a:solidFill>
                                <a:schemeClr val="tx1"/>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27+16</a:t>
                          </a:r>
                        </a:p>
                        <a:p>
                          <a:r>
                            <a:rPr lang="en-US" altLang="zh-TW" b="0" strike="sngStrike" dirty="0">
                              <a:solidFill>
                                <a:schemeClr val="tx1"/>
                              </a:solidFill>
                            </a:rPr>
                            <a:t>16</a:t>
                          </a:r>
                        </a:p>
                        <a:p>
                          <a:r>
                            <a:rPr lang="en-US" altLang="zh-TW" b="0" dirty="0">
                              <a:solidFill>
                                <a:schemeClr val="tx1"/>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20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p>
                        <a:p>
                          <a:r>
                            <a:rPr lang="en-US" altLang="zh-TW" b="0" strike="sngStrike" dirty="0">
                              <a:solidFill>
                                <a:schemeClr val="tx1"/>
                              </a:solidFill>
                              <a:latin typeface="標楷體" panose="03000509000000000000" pitchFamily="65" charset="-120"/>
                              <a:ea typeface="標楷體" panose="03000509000000000000" pitchFamily="65" charset="-120"/>
                            </a:rPr>
                            <a:t>36</a:t>
                          </a:r>
                        </a:p>
                        <a:p>
                          <a:r>
                            <a:rPr lang="en-US" altLang="zh-TW" b="0" strike="sngStrike" dirty="0">
                              <a:solidFill>
                                <a:schemeClr val="tx1"/>
                              </a:solidFill>
                              <a:latin typeface="標楷體" panose="03000509000000000000" pitchFamily="65" charset="-120"/>
                              <a:ea typeface="標楷體" panose="03000509000000000000" pitchFamily="65" charset="-120"/>
                            </a:rPr>
                            <a:t>55</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3910222979"/>
                      </a:ext>
                    </a:extLst>
                  </a:tr>
                  <a:tr h="366463">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29+23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59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29+23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424121044"/>
                      </a:ext>
                    </a:extLst>
                  </a:tr>
                  <a:tr h="1188720">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p>
                        <a:p>
                          <a:r>
                            <a:rPr lang="en-US" altLang="zh-TW" b="0" dirty="0">
                              <a:solidFill>
                                <a:schemeClr val="tx1"/>
                              </a:solidFill>
                              <a:latin typeface="標楷體" panose="03000509000000000000" pitchFamily="65" charset="-120"/>
                              <a:ea typeface="標楷體" panose="03000509000000000000" pitchFamily="65" charset="-120"/>
                            </a:rPr>
                            <a:t>16+27</a:t>
                          </a:r>
                        </a:p>
                        <a:p>
                          <a:r>
                            <a:rPr lang="en-US" altLang="zh-TW" b="0" dirty="0">
                              <a:solidFill>
                                <a:schemeClr val="tx1"/>
                              </a:solidFill>
                              <a:latin typeface="標楷體" panose="03000509000000000000" pitchFamily="65" charset="-120"/>
                              <a:ea typeface="標楷體" panose="03000509000000000000" pitchFamily="65" charset="-120"/>
                            </a:rPr>
                            <a:t>25+15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32</a:t>
                          </a:r>
                        </a:p>
                        <a:p>
                          <a:r>
                            <a:rPr lang="en-US" altLang="zh-TW" b="0" dirty="0">
                              <a:solidFill>
                                <a:schemeClr val="tx1"/>
                              </a:solidFill>
                            </a:rPr>
                            <a:t>48</a:t>
                          </a:r>
                        </a:p>
                        <a:p>
                          <a:r>
                            <a:rPr lang="en-US" altLang="zh-TW" b="0" strike="sngStrike" dirty="0">
                              <a:solidFill>
                                <a:schemeClr val="tx1"/>
                              </a:solidFill>
                            </a:rPr>
                            <a:t>45</a:t>
                          </a:r>
                          <a:endParaRPr lang="zh-TW" altLang="en-US" b="0" strike="sngStrik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latin typeface="標楷體" panose="03000509000000000000" pitchFamily="65" charset="-120"/>
                              <a:ea typeface="標楷體" panose="03000509000000000000" pitchFamily="65" charset="-120"/>
                            </a:rPr>
                            <a:t>27+19</a:t>
                          </a:r>
                        </a:p>
                        <a:p>
                          <a:r>
                            <a:rPr lang="en-US" altLang="zh-TW" b="0" strike="sngStrike" dirty="0">
                              <a:solidFill>
                                <a:schemeClr val="tx1"/>
                              </a:solidFill>
                              <a:latin typeface="標楷體" panose="03000509000000000000" pitchFamily="65" charset="-120"/>
                              <a:ea typeface="標楷體" panose="03000509000000000000" pitchFamily="65" charset="-120"/>
                            </a:rPr>
                            <a:t>16+27</a:t>
                          </a:r>
                        </a:p>
                        <a:p>
                          <a:r>
                            <a:rPr lang="en-US" altLang="zh-TW" b="0" strike="sngStrike" dirty="0">
                              <a:solidFill>
                                <a:schemeClr val="tx1"/>
                              </a:solidFill>
                              <a:latin typeface="標楷體" panose="03000509000000000000" pitchFamily="65" charset="-120"/>
                              <a:ea typeface="標楷體" panose="03000509000000000000" pitchFamily="65" charset="-120"/>
                            </a:rPr>
                            <a:t>25+15</a:t>
                          </a:r>
                        </a:p>
                        <a:p>
                          <a:r>
                            <a:rPr lang="en-US" altLang="zh-TW" b="0" dirty="0">
                              <a:solidFill>
                                <a:schemeClr val="tx1"/>
                              </a:solidFill>
                              <a:latin typeface="標楷體" panose="03000509000000000000" pitchFamily="65" charset="-120"/>
                              <a:ea typeface="標楷體" panose="03000509000000000000" pitchFamily="65" charset="-120"/>
                            </a:rPr>
                            <a:t>60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57</a:t>
                          </a:r>
                        </a:p>
                        <a:p>
                          <a:r>
                            <a:rPr lang="en-US" altLang="zh-TW" b="0" strike="sngStrike" dirty="0">
                              <a:solidFill>
                                <a:schemeClr val="tx1"/>
                              </a:solidFill>
                            </a:rPr>
                            <a:t>54</a:t>
                          </a:r>
                        </a:p>
                        <a:p>
                          <a:r>
                            <a:rPr lang="en-US" altLang="zh-TW" b="0" strike="sngStrike" dirty="0">
                              <a:solidFill>
                                <a:schemeClr val="tx1"/>
                              </a:solidFill>
                            </a:rPr>
                            <a:t>51</a:t>
                          </a:r>
                        </a:p>
                        <a:p>
                          <a:r>
                            <a:rPr lang="en-US" altLang="zh-TW" b="0" dirty="0">
                              <a:solidFill>
                                <a:schemeClr val="tx1"/>
                              </a:solidFill>
                            </a:rPr>
                            <a:t>71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27+19</a:t>
                          </a:r>
                        </a:p>
                        <a:p>
                          <a:r>
                            <a:rPr lang="en-US" altLang="zh-TW" b="0" strike="sngStrike" dirty="0">
                              <a:solidFill>
                                <a:schemeClr val="tx1"/>
                              </a:solidFill>
                            </a:rPr>
                            <a:t>16</a:t>
                          </a:r>
                        </a:p>
                        <a:p>
                          <a:r>
                            <a:rPr lang="en-US" altLang="zh-TW" b="0" strike="sngStrike" dirty="0">
                              <a:solidFill>
                                <a:schemeClr val="tx1"/>
                              </a:solidFill>
                            </a:rPr>
                            <a:t>25</a:t>
                          </a:r>
                        </a:p>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60</a:t>
                          </a:r>
                        </a:p>
                        <a:p>
                          <a:r>
                            <a:rPr lang="en-US" altLang="zh-TW" b="0" strike="sngStrike" dirty="0">
                              <a:solidFill>
                                <a:schemeClr val="tx1"/>
                              </a:solidFill>
                              <a:latin typeface="標楷體" panose="03000509000000000000" pitchFamily="65" charset="-120"/>
                              <a:ea typeface="標楷體" panose="03000509000000000000" pitchFamily="65" charset="-120"/>
                            </a:rPr>
                            <a:t>30</a:t>
                          </a:r>
                        </a:p>
                        <a:p>
                          <a:r>
                            <a:rPr lang="en-US" altLang="zh-TW" b="0" strike="sngStrike" dirty="0">
                              <a:solidFill>
                                <a:schemeClr val="tx1"/>
                              </a:solidFill>
                              <a:latin typeface="標楷體" panose="03000509000000000000" pitchFamily="65" charset="-120"/>
                              <a:ea typeface="標楷體" panose="03000509000000000000" pitchFamily="65" charset="-120"/>
                            </a:rPr>
                            <a:t>29</a:t>
                          </a:r>
                        </a:p>
                        <a:p>
                          <a:r>
                            <a:rPr lang="en-US" altLang="zh-TW" b="0" strike="sngStrike" dirty="0">
                              <a:solidFill>
                                <a:schemeClr val="tx1"/>
                              </a:solidFill>
                              <a:latin typeface="標楷體" panose="03000509000000000000" pitchFamily="65" charset="-120"/>
                              <a:ea typeface="標楷體" panose="03000509000000000000" pitchFamily="65" charset="-120"/>
                            </a:rPr>
                            <a:t>49</a:t>
                          </a:r>
                          <a:endParaRPr lang="zh-TW" altLang="en-US" b="0" strike="sngStrike"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631858819"/>
                      </a:ext>
                    </a:extLst>
                  </a:tr>
                  <a:tr h="914400">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44+17</a:t>
                          </a:r>
                        </a:p>
                        <a:p>
                          <a:r>
                            <a:rPr lang="en-US" altLang="zh-TW" b="0" dirty="0">
                              <a:solidFill>
                                <a:schemeClr val="tx1"/>
                              </a:solidFill>
                              <a:latin typeface="標楷體" panose="03000509000000000000" pitchFamily="65" charset="-120"/>
                              <a:ea typeface="標楷體" panose="03000509000000000000" pitchFamily="65" charset="-120"/>
                            </a:rPr>
                            <a:t>48</a:t>
                          </a:r>
                        </a:p>
                        <a:p>
                          <a:r>
                            <a:rPr lang="en-US" altLang="zh-TW" b="0" dirty="0">
                              <a:solidFill>
                                <a:schemeClr val="tx1"/>
                              </a:solidFill>
                              <a:latin typeface="標楷體" panose="03000509000000000000" pitchFamily="65" charset="-120"/>
                              <a:ea typeface="標楷體" panose="03000509000000000000" pitchFamily="65" charset="-120"/>
                            </a:rPr>
                            <a:t>60+13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rPr>
                            <a:t>81</a:t>
                          </a:r>
                        </a:p>
                        <a:p>
                          <a:r>
                            <a:rPr lang="en-US" altLang="zh-TW" b="0" strike="sngStrike" dirty="0">
                              <a:solidFill>
                                <a:schemeClr val="tx1"/>
                              </a:solidFill>
                            </a:rPr>
                            <a:t>69</a:t>
                          </a:r>
                        </a:p>
                        <a:p>
                          <a:r>
                            <a:rPr lang="en-US" altLang="zh-TW" b="0" dirty="0">
                              <a:solidFill>
                                <a:schemeClr val="tx1"/>
                              </a:solidFill>
                            </a:rPr>
                            <a:t>94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strike="sngStrike" dirty="0">
                              <a:solidFill>
                                <a:schemeClr val="tx1"/>
                              </a:solidFill>
                              <a:latin typeface="標楷體" panose="03000509000000000000" pitchFamily="65" charset="-120"/>
                              <a:ea typeface="標楷體" panose="03000509000000000000" pitchFamily="65" charset="-120"/>
                            </a:rPr>
                            <a:t>44</a:t>
                          </a:r>
                        </a:p>
                        <a:p>
                          <a:r>
                            <a:rPr lang="en-US" altLang="zh-TW" b="0" strike="sngStrike" dirty="0">
                              <a:solidFill>
                                <a:schemeClr val="tx1"/>
                              </a:solidFill>
                              <a:latin typeface="標楷體" panose="03000509000000000000" pitchFamily="65" charset="-120"/>
                              <a:ea typeface="標楷體" panose="03000509000000000000" pitchFamily="65" charset="-120"/>
                            </a:rPr>
                            <a:t>48+11</a:t>
                          </a:r>
                        </a:p>
                        <a:p>
                          <a:r>
                            <a:rPr lang="en-US" altLang="zh-TW" b="0" dirty="0">
                              <a:solidFill>
                                <a:schemeClr val="tx1"/>
                              </a:solidFill>
                              <a:latin typeface="標楷體" panose="03000509000000000000" pitchFamily="65" charset="-120"/>
                              <a:ea typeface="標楷體" panose="03000509000000000000" pitchFamily="65" charset="-120"/>
                            </a:rPr>
                            <a:t>60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strike="sngStrike" dirty="0">
                              <a:solidFill>
                                <a:schemeClr val="tx1"/>
                              </a:solidFill>
                            </a:rPr>
                            <a:t>51</a:t>
                          </a:r>
                        </a:p>
                        <a:p>
                          <a:r>
                            <a:rPr lang="en-US" altLang="zh-TW" b="0" strike="sngStrike" dirty="0">
                              <a:solidFill>
                                <a:schemeClr val="tx1"/>
                              </a:solidFill>
                            </a:rPr>
                            <a:t>66</a:t>
                          </a:r>
                        </a:p>
                        <a:p>
                          <a:r>
                            <a:rPr lang="en-US" altLang="zh-TW" b="0" dirty="0">
                              <a:solidFill>
                                <a:schemeClr val="tx1"/>
                              </a:solidFill>
                            </a:rPr>
                            <a:t>67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rPr>
                            <a:t>44+17</a:t>
                          </a:r>
                        </a:p>
                        <a:p>
                          <a:r>
                            <a:rPr lang="en-US" altLang="zh-TW" b="0" dirty="0">
                              <a:solidFill>
                                <a:schemeClr val="tx1"/>
                              </a:solidFill>
                            </a:rPr>
                            <a:t>48+11</a:t>
                          </a:r>
                        </a:p>
                        <a:p>
                          <a:r>
                            <a:rPr lang="en-US" altLang="zh-TW" b="0" dirty="0">
                              <a:solidFill>
                                <a:schemeClr val="tx1"/>
                              </a:solidFill>
                            </a:rPr>
                            <a:t>60+13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r>
                            <a:rPr lang="en-US" altLang="zh-TW" b="0" strike="sngStrike" dirty="0">
                              <a:solidFill>
                                <a:schemeClr val="tx1"/>
                              </a:solidFill>
                              <a:latin typeface="標楷體" panose="03000509000000000000" pitchFamily="65" charset="-120"/>
                              <a:ea typeface="標楷體" panose="03000509000000000000" pitchFamily="65" charset="-120"/>
                            </a:rPr>
                            <a:t>77</a:t>
                          </a:r>
                        </a:p>
                        <a:p>
                          <a:r>
                            <a:rPr lang="en-US" altLang="zh-TW" b="0" strike="sngStrike" dirty="0">
                              <a:solidFill>
                                <a:schemeClr val="tx1"/>
                              </a:solidFill>
                              <a:latin typeface="標楷體" panose="03000509000000000000" pitchFamily="65" charset="-120"/>
                              <a:ea typeface="標楷體" panose="03000509000000000000" pitchFamily="65" charset="-120"/>
                            </a:rPr>
                            <a:t>75</a:t>
                          </a:r>
                        </a:p>
                        <a:p>
                          <a:r>
                            <a:rPr lang="en-US" altLang="zh-TW" b="0" dirty="0">
                              <a:solidFill>
                                <a:schemeClr val="tx1"/>
                              </a:solidFill>
                              <a:latin typeface="標楷體" panose="03000509000000000000" pitchFamily="65" charset="-120"/>
                              <a:ea typeface="標楷體" panose="03000509000000000000" pitchFamily="65" charset="-120"/>
                            </a:rPr>
                            <a:t>89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959609190"/>
                      </a:ext>
                    </a:extLst>
                  </a:tr>
                </a:tbl>
              </a:graphicData>
            </a:graphic>
          </p:graphicFrame>
        </mc:Fallback>
      </mc:AlternateContent>
      <p:pic>
        <p:nvPicPr>
          <p:cNvPr id="5" name="圖片 4">
            <a:extLst>
              <a:ext uri="{FF2B5EF4-FFF2-40B4-BE49-F238E27FC236}">
                <a16:creationId xmlns:a16="http://schemas.microsoft.com/office/drawing/2014/main" id="{D1899809-AE05-446F-B786-277E483C4670}"/>
              </a:ext>
            </a:extLst>
          </p:cNvPr>
          <p:cNvPicPr>
            <a:picLocks noChangeAspect="1"/>
          </p:cNvPicPr>
          <p:nvPr/>
        </p:nvPicPr>
        <p:blipFill>
          <a:blip r:embed="rId4"/>
          <a:stretch>
            <a:fillRect/>
          </a:stretch>
        </p:blipFill>
        <p:spPr>
          <a:xfrm>
            <a:off x="10358436" y="0"/>
            <a:ext cx="1981200" cy="2790825"/>
          </a:xfrm>
          <a:prstGeom prst="rect">
            <a:avLst/>
          </a:prstGeom>
        </p:spPr>
      </p:pic>
      <p:graphicFrame>
        <p:nvGraphicFramePr>
          <p:cNvPr id="6" name="表格 5">
            <a:extLst>
              <a:ext uri="{FF2B5EF4-FFF2-40B4-BE49-F238E27FC236}">
                <a16:creationId xmlns:a16="http://schemas.microsoft.com/office/drawing/2014/main" id="{CAADDDA8-1F53-4829-A443-745732F04B69}"/>
              </a:ext>
            </a:extLst>
          </p:cNvPr>
          <p:cNvGraphicFramePr>
            <a:graphicFrameLocks noGrp="1"/>
          </p:cNvGraphicFramePr>
          <p:nvPr>
            <p:extLst>
              <p:ext uri="{D42A27DB-BD31-4B8C-83A1-F6EECF244321}">
                <p14:modId xmlns:p14="http://schemas.microsoft.com/office/powerpoint/2010/main" val="1468856308"/>
              </p:ext>
            </p:extLst>
          </p:nvPr>
        </p:nvGraphicFramePr>
        <p:xfrm>
          <a:off x="7802380" y="689548"/>
          <a:ext cx="3155428" cy="6052724"/>
        </p:xfrm>
        <a:graphic>
          <a:graphicData uri="http://schemas.openxmlformats.org/drawingml/2006/table">
            <a:tbl>
              <a:tblPr firstRow="1" bandRow="1">
                <a:tableStyleId>{5C22544A-7EE6-4342-B048-85BDC9FD1C3A}</a:tableStyleId>
              </a:tblPr>
              <a:tblGrid>
                <a:gridCol w="788857">
                  <a:extLst>
                    <a:ext uri="{9D8B030D-6E8A-4147-A177-3AD203B41FA5}">
                      <a16:colId xmlns:a16="http://schemas.microsoft.com/office/drawing/2014/main" val="321835290"/>
                    </a:ext>
                  </a:extLst>
                </a:gridCol>
                <a:gridCol w="788857">
                  <a:extLst>
                    <a:ext uri="{9D8B030D-6E8A-4147-A177-3AD203B41FA5}">
                      <a16:colId xmlns:a16="http://schemas.microsoft.com/office/drawing/2014/main" val="120986023"/>
                    </a:ext>
                  </a:extLst>
                </a:gridCol>
                <a:gridCol w="788857">
                  <a:extLst>
                    <a:ext uri="{9D8B030D-6E8A-4147-A177-3AD203B41FA5}">
                      <a16:colId xmlns:a16="http://schemas.microsoft.com/office/drawing/2014/main" val="956206097"/>
                    </a:ext>
                  </a:extLst>
                </a:gridCol>
                <a:gridCol w="788857">
                  <a:extLst>
                    <a:ext uri="{9D8B030D-6E8A-4147-A177-3AD203B41FA5}">
                      <a16:colId xmlns:a16="http://schemas.microsoft.com/office/drawing/2014/main" val="1013173815"/>
                    </a:ext>
                  </a:extLst>
                </a:gridCol>
              </a:tblGrid>
              <a:tr h="392826">
                <a:tc>
                  <a:txBody>
                    <a:bodyPr/>
                    <a:lstStyle/>
                    <a:p>
                      <a:r>
                        <a:rPr lang="en-US" altLang="zh-TW" b="0" dirty="0">
                          <a:solidFill>
                            <a:schemeClr val="tx1"/>
                          </a:solidFill>
                          <a:latin typeface="標楷體" panose="03000509000000000000" pitchFamily="65" charset="-120"/>
                          <a:ea typeface="標楷體" panose="03000509000000000000" pitchFamily="65" charset="-120"/>
                        </a:rPr>
                        <a:t>P1</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P2</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P3</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160405"/>
                  </a:ext>
                </a:extLst>
              </a:tr>
              <a:tr h="381742">
                <a:tc>
                  <a:txBody>
                    <a:bodyPr/>
                    <a:lstStyle/>
                    <a:p>
                      <a:r>
                        <a:rPr lang="en-US" altLang="zh-TW" b="0" dirty="0">
                          <a:solidFill>
                            <a:schemeClr val="tx1"/>
                          </a:solidFill>
                          <a:latin typeface="標楷體" panose="03000509000000000000" pitchFamily="65" charset="-120"/>
                          <a:ea typeface="標楷體" panose="03000509000000000000" pitchFamily="65" charset="-120"/>
                        </a:rPr>
                        <a:t>0</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9</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947382"/>
                  </a:ext>
                </a:extLst>
              </a:tr>
              <a:tr h="334704">
                <a:tc>
                  <a:txBody>
                    <a:bodyPr/>
                    <a:lstStyle/>
                    <a:p>
                      <a:r>
                        <a:rPr lang="en-US" altLang="zh-TW" b="0" dirty="0">
                          <a:solidFill>
                            <a:schemeClr val="tx1"/>
                          </a:solidFill>
                          <a:latin typeface="標楷體" panose="03000509000000000000" pitchFamily="65" charset="-120"/>
                          <a:ea typeface="標楷體" panose="03000509000000000000" pitchFamily="65" charset="-120"/>
                        </a:rPr>
                        <a:t>14</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233434"/>
                  </a:ext>
                </a:extLst>
              </a:tr>
              <a:tr h="283737">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16</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501696"/>
                  </a:ext>
                </a:extLst>
              </a:tr>
              <a:tr h="407199">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88190"/>
                  </a:ext>
                </a:extLst>
              </a:tr>
              <a:tr h="350227">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25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593798"/>
                  </a:ext>
                </a:extLst>
              </a:tr>
              <a:tr h="329241">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427503"/>
                  </a:ext>
                </a:extLst>
              </a:tr>
              <a:tr h="874336">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60</a:t>
                      </a:r>
                    </a:p>
                    <a:p>
                      <a:endParaRPr lang="en-US" altLang="zh-TW" b="0" dirty="0">
                        <a:solidFill>
                          <a:schemeClr val="tx1"/>
                        </a:solidFill>
                      </a:endParaRPr>
                    </a:p>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39627"/>
                  </a:ext>
                </a:extLst>
              </a:tr>
              <a:tr h="390397">
                <a:tc>
                  <a:txBody>
                    <a:bodyPr/>
                    <a:lstStyle/>
                    <a:p>
                      <a:r>
                        <a:rPr lang="en-US" altLang="zh-TW" b="0" dirty="0">
                          <a:solidFill>
                            <a:schemeClr val="tx1"/>
                          </a:solidFill>
                          <a:latin typeface="標楷體" panose="03000509000000000000" pitchFamily="65" charset="-120"/>
                          <a:ea typeface="標楷體" panose="03000509000000000000" pitchFamily="65" charset="-120"/>
                        </a:rPr>
                        <a:t>27</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965453"/>
                  </a:ext>
                </a:extLst>
              </a:tr>
              <a:tr h="1136637">
                <a:tc>
                  <a:txBody>
                    <a:bodyPr/>
                    <a:lstStyle/>
                    <a:p>
                      <a:r>
                        <a:rPr lang="en-US" altLang="zh-TW" b="0" dirty="0">
                          <a:solidFill>
                            <a:schemeClr val="tx1"/>
                          </a:solidFill>
                          <a:latin typeface="標楷體" panose="03000509000000000000" pitchFamily="65" charset="-120"/>
                          <a:ea typeface="標楷體" panose="03000509000000000000" pitchFamily="65" charset="-120"/>
                        </a:rPr>
                        <a:t>48</a:t>
                      </a:r>
                    </a:p>
                    <a:p>
                      <a:endParaRPr lang="en-US" altLang="zh-TW" b="0" dirty="0">
                        <a:solidFill>
                          <a:schemeClr val="tx1"/>
                        </a:solidFill>
                        <a:latin typeface="標楷體" panose="03000509000000000000" pitchFamily="65" charset="-120"/>
                        <a:ea typeface="標楷體" panose="03000509000000000000" pitchFamily="65" charset="-120"/>
                      </a:endParaRPr>
                    </a:p>
                    <a:p>
                      <a:endParaRPr lang="en-US" altLang="zh-TW" b="0" dirty="0">
                        <a:solidFill>
                          <a:schemeClr val="tx1"/>
                        </a:solidFill>
                        <a:latin typeface="標楷體" panose="03000509000000000000" pitchFamily="65" charset="-120"/>
                        <a:ea typeface="標楷體" panose="03000509000000000000" pitchFamily="65" charset="-120"/>
                      </a:endParaRPr>
                    </a:p>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dirty="0">
                          <a:solidFill>
                            <a:schemeClr val="tx1"/>
                          </a:solidFill>
                        </a:rPr>
                        <a:t>60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408664"/>
                  </a:ext>
                </a:extLst>
              </a:tr>
              <a:tr h="874336">
                <a:tc>
                  <a:txBody>
                    <a:bodyPr/>
                    <a:lstStyle/>
                    <a:p>
                      <a:r>
                        <a:rPr lang="en-US" altLang="zh-TW" b="0" dirty="0">
                          <a:solidFill>
                            <a:schemeClr val="tx1"/>
                          </a:solidFill>
                          <a:latin typeface="標楷體" panose="03000509000000000000" pitchFamily="65" charset="-120"/>
                          <a:ea typeface="標楷體" panose="03000509000000000000" pitchFamily="65" charset="-120"/>
                        </a:rPr>
                        <a:t>48</a:t>
                      </a:r>
                    </a:p>
                    <a:p>
                      <a:endParaRPr lang="en-US" altLang="zh-TW" b="0" dirty="0">
                        <a:solidFill>
                          <a:schemeClr val="tx1"/>
                        </a:solidFill>
                        <a:latin typeface="標楷體" panose="03000509000000000000" pitchFamily="65" charset="-120"/>
                        <a:ea typeface="標楷體" panose="03000509000000000000" pitchFamily="65" charset="-120"/>
                      </a:endParaRPr>
                    </a:p>
                    <a:p>
                      <a:endParaRPr lang="en-US" altLang="zh-TW"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67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altLang="zh-TW" b="0" dirty="0">
                          <a:solidFill>
                            <a:schemeClr val="tx1"/>
                          </a:solidFill>
                          <a:latin typeface="標楷體" panose="03000509000000000000" pitchFamily="65" charset="-120"/>
                          <a:ea typeface="標楷體" panose="03000509000000000000" pitchFamily="65" charset="-120"/>
                        </a:rPr>
                        <a:t>35</a:t>
                      </a:r>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146356"/>
                  </a:ext>
                </a:extLst>
              </a:tr>
            </a:tbl>
          </a:graphicData>
        </a:graphic>
      </p:graphicFrame>
    </p:spTree>
    <p:extLst>
      <p:ext uri="{BB962C8B-B14F-4D97-AF65-F5344CB8AC3E}">
        <p14:creationId xmlns:p14="http://schemas.microsoft.com/office/powerpoint/2010/main" val="331969853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0B2810B7-FFB4-4723-8302-651B56A1D31C}"/>
              </a:ext>
            </a:extLst>
          </p:cNvPr>
          <p:cNvSpPr>
            <a:spLocks noGrp="1"/>
          </p:cNvSpPr>
          <p:nvPr>
            <p:ph idx="1"/>
          </p:nvPr>
        </p:nvSpPr>
        <p:spPr>
          <a:xfrm>
            <a:off x="838200" y="5787322"/>
            <a:ext cx="11353800" cy="913281"/>
          </a:xfrm>
        </p:spPr>
        <p:txBody>
          <a:bodyPr>
            <a:normAutofit fontScale="92500" lnSpcReduction="10000"/>
          </a:bodyPr>
          <a:lstStyle/>
          <a:p>
            <a:pPr marL="0" indent="0">
              <a:buNone/>
            </a:pPr>
            <a:r>
              <a:rPr lang="en-US" altLang="zh-TW" dirty="0"/>
              <a:t>HSIP			         CPOP			HEFT			PEFT</a:t>
            </a:r>
          </a:p>
          <a:p>
            <a:pPr marL="0" indent="0">
              <a:buNone/>
            </a:pPr>
            <a:r>
              <a:rPr lang="en-US" altLang="zh-TW" dirty="0"/>
              <a:t>Makespan:67		     Makespan:86	          Makespan:80       Makespan:85</a:t>
            </a:r>
            <a:endParaRPr lang="zh-TW" altLang="en-US" dirty="0"/>
          </a:p>
        </p:txBody>
      </p:sp>
      <p:pic>
        <p:nvPicPr>
          <p:cNvPr id="5" name="圖片 4">
            <a:extLst>
              <a:ext uri="{FF2B5EF4-FFF2-40B4-BE49-F238E27FC236}">
                <a16:creationId xmlns:a16="http://schemas.microsoft.com/office/drawing/2014/main" id="{442E3EE7-52C4-4A45-A68A-483A71529956}"/>
              </a:ext>
            </a:extLst>
          </p:cNvPr>
          <p:cNvPicPr>
            <a:picLocks noChangeAspect="1"/>
          </p:cNvPicPr>
          <p:nvPr/>
        </p:nvPicPr>
        <p:blipFill>
          <a:blip r:embed="rId2"/>
          <a:stretch>
            <a:fillRect/>
          </a:stretch>
        </p:blipFill>
        <p:spPr>
          <a:xfrm>
            <a:off x="283565" y="600067"/>
            <a:ext cx="2860136" cy="5005238"/>
          </a:xfrm>
          <a:prstGeom prst="rect">
            <a:avLst/>
          </a:prstGeom>
        </p:spPr>
      </p:pic>
      <p:pic>
        <p:nvPicPr>
          <p:cNvPr id="7" name="圖片 6">
            <a:extLst>
              <a:ext uri="{FF2B5EF4-FFF2-40B4-BE49-F238E27FC236}">
                <a16:creationId xmlns:a16="http://schemas.microsoft.com/office/drawing/2014/main" id="{46893630-7ECE-4682-974C-6030F2C8008E}"/>
              </a:ext>
            </a:extLst>
          </p:cNvPr>
          <p:cNvPicPr>
            <a:picLocks noChangeAspect="1"/>
          </p:cNvPicPr>
          <p:nvPr/>
        </p:nvPicPr>
        <p:blipFill>
          <a:blip r:embed="rId3"/>
          <a:stretch>
            <a:fillRect/>
          </a:stretch>
        </p:blipFill>
        <p:spPr>
          <a:xfrm>
            <a:off x="3143700" y="630133"/>
            <a:ext cx="2952300" cy="4975172"/>
          </a:xfrm>
          <a:prstGeom prst="rect">
            <a:avLst/>
          </a:prstGeom>
        </p:spPr>
      </p:pic>
      <p:pic>
        <p:nvPicPr>
          <p:cNvPr id="9" name="圖片 8">
            <a:extLst>
              <a:ext uri="{FF2B5EF4-FFF2-40B4-BE49-F238E27FC236}">
                <a16:creationId xmlns:a16="http://schemas.microsoft.com/office/drawing/2014/main" id="{564DCFCB-7982-4295-A3E9-24286FA3BFA9}"/>
              </a:ext>
            </a:extLst>
          </p:cNvPr>
          <p:cNvPicPr>
            <a:picLocks noChangeAspect="1"/>
          </p:cNvPicPr>
          <p:nvPr/>
        </p:nvPicPr>
        <p:blipFill rotWithShape="1">
          <a:blip r:embed="rId4"/>
          <a:srcRect r="786" b="6089"/>
          <a:stretch/>
        </p:blipFill>
        <p:spPr>
          <a:xfrm>
            <a:off x="6147235" y="630133"/>
            <a:ext cx="2778415" cy="4902369"/>
          </a:xfrm>
          <a:prstGeom prst="rect">
            <a:avLst/>
          </a:prstGeom>
        </p:spPr>
      </p:pic>
      <p:pic>
        <p:nvPicPr>
          <p:cNvPr id="11" name="圖片 10">
            <a:extLst>
              <a:ext uri="{FF2B5EF4-FFF2-40B4-BE49-F238E27FC236}">
                <a16:creationId xmlns:a16="http://schemas.microsoft.com/office/drawing/2014/main" id="{C66279B6-D5B8-49E0-B721-D35DD7D5C9AF}"/>
              </a:ext>
            </a:extLst>
          </p:cNvPr>
          <p:cNvPicPr>
            <a:picLocks noChangeAspect="1"/>
          </p:cNvPicPr>
          <p:nvPr/>
        </p:nvPicPr>
        <p:blipFill>
          <a:blip r:embed="rId5"/>
          <a:stretch>
            <a:fillRect/>
          </a:stretch>
        </p:blipFill>
        <p:spPr>
          <a:xfrm>
            <a:off x="9092779" y="527049"/>
            <a:ext cx="2815657" cy="4900326"/>
          </a:xfrm>
          <a:prstGeom prst="rect">
            <a:avLst/>
          </a:prstGeom>
        </p:spPr>
      </p:pic>
    </p:spTree>
    <p:extLst>
      <p:ext uri="{BB962C8B-B14F-4D97-AF65-F5344CB8AC3E}">
        <p14:creationId xmlns:p14="http://schemas.microsoft.com/office/powerpoint/2010/main" val="37471579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A9AA14-C80F-45EF-93A2-2E2DB5631B0A}"/>
              </a:ext>
            </a:extLst>
          </p:cNvPr>
          <p:cNvSpPr>
            <a:spLocks noGrp="1"/>
          </p:cNvSpPr>
          <p:nvPr>
            <p:ph type="title"/>
          </p:nvPr>
        </p:nvSpPr>
        <p:spPr/>
        <p:txBody>
          <a:bodyPr/>
          <a:lstStyle/>
          <a:p>
            <a:r>
              <a:rPr lang="en-US" altLang="zh-TW" dirty="0"/>
              <a:t>Experiments</a:t>
            </a:r>
            <a:endParaRPr lang="zh-TW" altLang="en-US" dirty="0"/>
          </a:p>
        </p:txBody>
      </p:sp>
      <p:sp>
        <p:nvSpPr>
          <p:cNvPr id="4" name="Rectangle 1">
            <a:extLst>
              <a:ext uri="{FF2B5EF4-FFF2-40B4-BE49-F238E27FC236}">
                <a16:creationId xmlns:a16="http://schemas.microsoft.com/office/drawing/2014/main" id="{56DAA8C9-9DC6-4B1F-A74D-D23EC97930E3}"/>
              </a:ext>
            </a:extLst>
          </p:cNvPr>
          <p:cNvSpPr>
            <a:spLocks noGrp="1" noChangeArrowheads="1"/>
          </p:cNvSpPr>
          <p:nvPr>
            <p:ph idx="1"/>
          </p:nvPr>
        </p:nvSpPr>
        <p:spPr bwMode="auto">
          <a:xfrm>
            <a:off x="838200" y="2232546"/>
            <a:ext cx="994214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2400" b="0" i="0" u="none" strike="noStrike" cap="none" normalizeH="0" baseline="0" dirty="0">
                <a:ln>
                  <a:noFill/>
                </a:ln>
                <a:solidFill>
                  <a:srgbClr val="333333"/>
                </a:solidFill>
                <a:effectLst/>
                <a:latin typeface="Georgia" panose="02040502050405020303" pitchFamily="18" charset="0"/>
              </a:rPr>
              <a:t> graph </a:t>
            </a:r>
            <a:r>
              <a:rPr kumimoji="0" lang="zh-TW" altLang="zh-TW" sz="2400" b="0" i="0" u="none" strike="noStrike" cap="none" normalizeH="0" baseline="0" dirty="0">
                <a:ln>
                  <a:noFill/>
                </a:ln>
                <a:solidFill>
                  <a:schemeClr val="tx1"/>
                </a:solidFill>
                <a:effectLst/>
                <a:ea typeface="MathJax_Main"/>
              </a:rPr>
              <a:t>(v)</a:t>
            </a:r>
            <a:r>
              <a:rPr kumimoji="0" lang="zh-TW" altLang="zh-TW" sz="2400" b="0" i="0" u="none" strike="noStrike" cap="none" normalizeH="0" baseline="0" dirty="0">
                <a:ln>
                  <a:noFill/>
                </a:ln>
                <a:solidFill>
                  <a:srgbClr val="333333"/>
                </a:solidFill>
                <a:effectLst/>
                <a:latin typeface="Georgia" panose="02040502050405020303" pitchFamily="18" charset="0"/>
              </a:rPr>
              <a:t>, out degree </a:t>
            </a:r>
            <a:r>
              <a:rPr kumimoji="0" lang="zh-TW" altLang="zh-TW" sz="2400" b="0" i="0" u="none" strike="noStrike" cap="none" normalizeH="0" baseline="0" dirty="0">
                <a:ln>
                  <a:noFill/>
                </a:ln>
                <a:solidFill>
                  <a:schemeClr val="tx1"/>
                </a:solidFill>
                <a:effectLst/>
                <a:ea typeface="MathJax_Main"/>
              </a:rPr>
              <a:t>(</a:t>
            </a:r>
            <a:r>
              <a:rPr kumimoji="0" lang="zh-TW" altLang="zh-TW" sz="2400" b="0" i="0" u="none" strike="noStrike" cap="none" normalizeH="0" baseline="0" dirty="0">
                <a:ln>
                  <a:noFill/>
                </a:ln>
                <a:solidFill>
                  <a:schemeClr val="tx1"/>
                </a:solidFill>
                <a:effectLst/>
                <a:ea typeface="MathJax_Math-italic"/>
              </a:rPr>
              <a:t>β</a:t>
            </a:r>
            <a:r>
              <a:rPr kumimoji="0" lang="zh-TW" altLang="zh-TW" sz="2400" b="0" i="0" u="none" strike="noStrike" cap="none" normalizeH="0" baseline="0" dirty="0">
                <a:ln>
                  <a:noFill/>
                </a:ln>
                <a:solidFill>
                  <a:schemeClr val="tx1"/>
                </a:solidFill>
                <a:effectLst/>
                <a:ea typeface="MathJax_Main"/>
              </a:rPr>
              <a:t>)</a:t>
            </a:r>
            <a:r>
              <a:rPr kumimoji="0" lang="zh-TW" altLang="zh-TW" sz="2400" b="0" i="0" u="none" strike="noStrike" cap="none" normalizeH="0" baseline="0" dirty="0">
                <a:ln>
                  <a:noFill/>
                </a:ln>
                <a:solidFill>
                  <a:srgbClr val="333333"/>
                </a:solidFill>
                <a:effectLst/>
                <a:latin typeface="Georgia" panose="02040502050405020303" pitchFamily="18" charset="0"/>
              </a:rPr>
              <a:t>, in degree </a:t>
            </a:r>
            <a:r>
              <a:rPr kumimoji="0" lang="zh-TW" altLang="zh-TW" sz="2400" b="0" i="0" u="none" strike="noStrike" cap="none" normalizeH="0" baseline="0" dirty="0">
                <a:ln>
                  <a:noFill/>
                </a:ln>
                <a:solidFill>
                  <a:schemeClr val="tx1"/>
                </a:solidFill>
                <a:effectLst/>
                <a:ea typeface="MathJax_Main"/>
              </a:rPr>
              <a:t>(</a:t>
            </a:r>
            <a:r>
              <a:rPr kumimoji="0" lang="zh-TW" altLang="zh-TW" sz="2400" b="0" i="0" u="none" strike="noStrike" cap="none" normalizeH="0" baseline="0" dirty="0">
                <a:ln>
                  <a:noFill/>
                </a:ln>
                <a:solidFill>
                  <a:schemeClr val="tx1"/>
                </a:solidFill>
                <a:effectLst/>
                <a:ea typeface="MathJax_Math-italic"/>
              </a:rPr>
              <a:t>γ</a:t>
            </a:r>
            <a:r>
              <a:rPr lang="en-US" altLang="zh-TW" sz="2400" dirty="0">
                <a:solidFill>
                  <a:srgbClr val="333333"/>
                </a:solidFill>
                <a:latin typeface="Georgia" panose="02040502050405020303" pitchFamily="18" charset="0"/>
              </a:rPr>
              <a:t>),</a:t>
            </a:r>
            <a:r>
              <a:rPr kumimoji="0" lang="zh-TW" altLang="zh-TW" sz="2400" b="0" i="0" u="none" strike="noStrike" cap="none" normalizeH="0" baseline="0" dirty="0">
                <a:ln>
                  <a:noFill/>
                </a:ln>
                <a:solidFill>
                  <a:srgbClr val="333333"/>
                </a:solidFill>
                <a:effectLst/>
                <a:latin typeface="Georgia" panose="02040502050405020303" pitchFamily="18" charset="0"/>
              </a:rPr>
              <a:t> shape parameter of a graph </a:t>
            </a:r>
            <a:r>
              <a:rPr kumimoji="0" lang="zh-TW" altLang="zh-TW" sz="2400" b="0" i="0" u="none" strike="noStrike" cap="none" normalizeH="0" baseline="0" dirty="0">
                <a:ln>
                  <a:noFill/>
                </a:ln>
                <a:solidFill>
                  <a:schemeClr val="tx1"/>
                </a:solidFill>
                <a:effectLst/>
                <a:ea typeface="MathJax_Main"/>
              </a:rPr>
              <a:t>(</a:t>
            </a:r>
            <a:r>
              <a:rPr kumimoji="0" lang="zh-TW" altLang="zh-TW" sz="2400" b="0" i="0" u="none" strike="noStrike" cap="none" normalizeH="0" baseline="0" dirty="0">
                <a:ln>
                  <a:noFill/>
                </a:ln>
                <a:solidFill>
                  <a:schemeClr val="tx1"/>
                </a:solidFill>
                <a:effectLst/>
                <a:ea typeface="MathJax_Math-italic"/>
              </a:rPr>
              <a:t>α</a:t>
            </a:r>
            <a:r>
              <a:rPr kumimoji="0" lang="zh-TW" altLang="zh-TW" sz="2400" b="0" i="0" u="none" strike="noStrike" cap="none" normalizeH="0" baseline="0" dirty="0">
                <a:ln>
                  <a:noFill/>
                </a:ln>
                <a:solidFill>
                  <a:schemeClr val="tx1"/>
                </a:solidFill>
                <a:effectLst/>
                <a:ea typeface="MathJax_Main"/>
              </a:rPr>
              <a:t>)</a:t>
            </a:r>
            <a:endParaRPr kumimoji="0" lang="en-US" altLang="zh-TW" sz="2400" b="0" i="0" u="none" strike="noStrike" cap="none" normalizeH="0" baseline="0" dirty="0">
              <a:ln>
                <a:noFill/>
              </a:ln>
              <a:solidFill>
                <a:schemeClr val="tx1"/>
              </a:solidFill>
              <a:effectLst/>
              <a:ea typeface="MathJax_Main"/>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TW" sz="2400" b="0" i="0" u="none" strike="noStrike" cap="none" normalizeH="0" baseline="0" dirty="0">
              <a:ln>
                <a:noFill/>
              </a:ln>
              <a:solidFill>
                <a:schemeClr val="tx1"/>
              </a:solidFill>
              <a:effectLst/>
              <a:ea typeface="MathJax_Main"/>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2400" b="0" i="0" u="none" strike="noStrike" cap="none" normalizeH="0" baseline="0" dirty="0">
                <a:ln>
                  <a:noFill/>
                </a:ln>
                <a:solidFill>
                  <a:schemeClr val="tx1"/>
                </a:solidFill>
                <a:effectLst/>
              </a:rPr>
              <a:t> </a:t>
            </a:r>
          </a:p>
        </p:txBody>
      </p:sp>
      <p:sp>
        <p:nvSpPr>
          <p:cNvPr id="6" name="Rectangle 3">
            <a:extLst>
              <a:ext uri="{FF2B5EF4-FFF2-40B4-BE49-F238E27FC236}">
                <a16:creationId xmlns:a16="http://schemas.microsoft.com/office/drawing/2014/main" id="{B9EB4F09-A0EF-4136-AEF3-C3BE6801EA12}"/>
              </a:ext>
            </a:extLst>
          </p:cNvPr>
          <p:cNvSpPr>
            <a:spLocks noChangeArrowheads="1"/>
          </p:cNvSpPr>
          <p:nvPr/>
        </p:nvSpPr>
        <p:spPr bwMode="auto">
          <a:xfrm>
            <a:off x="838200" y="3013501"/>
            <a:ext cx="924163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2400" b="0" i="0" u="none" strike="noStrike" cap="none" normalizeH="0" baseline="0" dirty="0">
                <a:ln>
                  <a:noFill/>
                </a:ln>
                <a:solidFill>
                  <a:schemeClr val="tx1"/>
                </a:solidFill>
                <a:effectLst/>
                <a:ea typeface="MathJax_Main"/>
              </a:rPr>
              <a:t>v={20,40,60,80,100},</a:t>
            </a:r>
            <a:r>
              <a:rPr kumimoji="0" lang="zh-TW" altLang="zh-TW" sz="2400" b="0" i="0" u="none" strike="noStrike" cap="none" normalizeH="0" baseline="0" dirty="0">
                <a:ln>
                  <a:noFill/>
                </a:ln>
                <a:solidFill>
                  <a:schemeClr val="tx1"/>
                </a:solidFill>
                <a:effectLst/>
                <a:ea typeface="MathJax_Math-italic"/>
              </a:rPr>
              <a:t>α</a:t>
            </a:r>
            <a:r>
              <a:rPr kumimoji="0" lang="zh-TW" altLang="zh-TW" sz="2400" b="0" i="0" u="none" strike="noStrike" cap="none" normalizeH="0" baseline="0" dirty="0">
                <a:ln>
                  <a:noFill/>
                </a:ln>
                <a:solidFill>
                  <a:srgbClr val="333333"/>
                </a:solidFill>
                <a:effectLst/>
                <a:latin typeface="Georgia" panose="02040502050405020303" pitchFamily="18" charset="0"/>
              </a:rPr>
              <a:t> = {0.5, 1.0,2.0}, </a:t>
            </a:r>
            <a:r>
              <a:rPr kumimoji="0" lang="zh-TW" altLang="zh-TW" sz="2400" b="0" i="0" u="none" strike="noStrike" cap="none" normalizeH="0" baseline="0" dirty="0">
                <a:ln>
                  <a:noFill/>
                </a:ln>
                <a:solidFill>
                  <a:schemeClr val="tx1"/>
                </a:solidFill>
                <a:effectLst/>
                <a:ea typeface="MathJax_Math-italic"/>
              </a:rPr>
              <a:t>β</a:t>
            </a:r>
            <a:r>
              <a:rPr kumimoji="0" lang="zh-TW" altLang="zh-TW" sz="2400" b="0" i="0" u="none" strike="noStrike" cap="none" normalizeH="0" baseline="0" dirty="0">
                <a:ln>
                  <a:noFill/>
                </a:ln>
                <a:solidFill>
                  <a:schemeClr val="tx1"/>
                </a:solidFill>
                <a:effectLst/>
                <a:ea typeface="MathJax_Main"/>
              </a:rPr>
              <a:t>={1,2,3,4,5},</a:t>
            </a:r>
            <a:r>
              <a:rPr kumimoji="0" lang="zh-TW" altLang="zh-TW" sz="2400" b="0" i="0" u="none" strike="noStrike" cap="none" normalizeH="0" baseline="0" dirty="0">
                <a:ln>
                  <a:noFill/>
                </a:ln>
                <a:solidFill>
                  <a:schemeClr val="tx1"/>
                </a:solidFill>
                <a:effectLst/>
                <a:ea typeface="MathJax_Math-italic"/>
              </a:rPr>
              <a:t>γ</a:t>
            </a:r>
            <a:r>
              <a:rPr kumimoji="0" lang="zh-TW" altLang="zh-TW" sz="2400" b="0" i="0" u="none" strike="noStrike" cap="none" normalizeH="0" baseline="0" dirty="0">
                <a:ln>
                  <a:noFill/>
                </a:ln>
                <a:solidFill>
                  <a:schemeClr val="tx1"/>
                </a:solidFill>
                <a:effectLst/>
                <a:ea typeface="MathJax_Main"/>
              </a:rPr>
              <a:t>={1,2,3,4,5}</a:t>
            </a:r>
            <a:r>
              <a:rPr kumimoji="0" lang="zh-TW" altLang="zh-TW" sz="2400" b="0" i="0" u="none" strike="noStrike" cap="none" normalizeH="0" baseline="0" dirty="0">
                <a:ln>
                  <a:noFill/>
                </a:ln>
                <a:solidFill>
                  <a:srgbClr val="333333"/>
                </a:solidFill>
                <a:effectLst/>
                <a:latin typeface="Georgia" panose="02040502050405020303" pitchFamily="18" charset="0"/>
              </a:rPr>
              <a:t>, </a:t>
            </a:r>
            <a:endParaRPr kumimoji="0" lang="en-US" altLang="zh-TW" sz="2400" b="0" i="0" u="none" strike="noStrike" cap="none" normalizeH="0" baseline="0" dirty="0">
              <a:ln>
                <a:noFill/>
              </a:ln>
              <a:solidFill>
                <a:srgbClr val="333333"/>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2400" b="0" i="0" u="none" strike="noStrike" cap="none" normalizeH="0" baseline="0" dirty="0">
                <a:ln>
                  <a:noFill/>
                </a:ln>
                <a:solidFill>
                  <a:schemeClr val="tx1"/>
                </a:solidFill>
                <a:effectLst/>
                <a:ea typeface="MathJax_Math-italic"/>
              </a:rPr>
              <a:t>CCR</a:t>
            </a:r>
            <a:r>
              <a:rPr kumimoji="0" lang="zh-TW" altLang="zh-TW" sz="2400" b="0" i="0" u="none" strike="noStrike" cap="none" normalizeH="0" baseline="0" dirty="0">
                <a:ln>
                  <a:noFill/>
                </a:ln>
                <a:solidFill>
                  <a:schemeClr val="tx1"/>
                </a:solidFill>
                <a:effectLst/>
                <a:ea typeface="MathJax_Main"/>
              </a:rPr>
              <a:t>={0.1,0.5,1.025.0,10.0}</a:t>
            </a:r>
            <a:r>
              <a:rPr kumimoji="0" lang="zh-TW" altLang="zh-TW" sz="2400" b="0" i="0" u="none" strike="noStrike" cap="none" normalizeH="0" baseline="0" dirty="0">
                <a:ln>
                  <a:noFill/>
                </a:ln>
                <a:solidFill>
                  <a:srgbClr val="333333"/>
                </a:solidFill>
                <a:effectLst/>
                <a:latin typeface="Georgia" panose="02040502050405020303" pitchFamily="18" charset="0"/>
              </a:rPr>
              <a:t> and </a:t>
            </a:r>
            <a:r>
              <a:rPr kumimoji="0" lang="zh-TW" altLang="zh-TW" sz="2400" b="0" i="0" u="none" strike="noStrike" cap="none" normalizeH="0" baseline="0" dirty="0">
                <a:ln>
                  <a:noFill/>
                </a:ln>
                <a:solidFill>
                  <a:schemeClr val="tx1"/>
                </a:solidFill>
                <a:effectLst/>
                <a:ea typeface="MathJax_Math-italic"/>
              </a:rPr>
              <a:t>η</a:t>
            </a:r>
            <a:r>
              <a:rPr kumimoji="0" lang="zh-TW" altLang="zh-TW" sz="2400" b="0" i="0" u="none" strike="noStrike" cap="none" normalizeH="0" baseline="0" dirty="0">
                <a:ln>
                  <a:noFill/>
                </a:ln>
                <a:solidFill>
                  <a:schemeClr val="tx1"/>
                </a:solidFill>
                <a:effectLst/>
                <a:ea typeface="MathJax_Main"/>
              </a:rPr>
              <a:t>={0.1,0.5,1.0}</a:t>
            </a:r>
            <a:r>
              <a:rPr kumimoji="0" lang="zh-TW" altLang="zh-TW" sz="2400" b="0" i="0" u="none" strike="noStrike" cap="none" normalizeH="0" baseline="0" dirty="0">
                <a:ln>
                  <a:noFill/>
                </a:ln>
                <a:solidFill>
                  <a:srgbClr val="333333"/>
                </a:solidFill>
                <a:effectLst/>
                <a:latin typeface="Georgia" panose="02040502050405020303" pitchFamily="18" charset="0"/>
              </a:rPr>
              <a:t>.</a:t>
            </a:r>
            <a:r>
              <a:rPr kumimoji="0" lang="zh-TW" altLang="zh-TW" sz="24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194695308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2F22FF-951F-4E87-B857-6100853776EF}"/>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BBFA673-65C6-43F9-85BB-EAA86C9CCB3D}"/>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0711ACBD-681B-47E0-80B5-AD5352EBD20C}"/>
              </a:ext>
            </a:extLst>
          </p:cNvPr>
          <p:cNvPicPr>
            <a:picLocks noChangeAspect="1"/>
          </p:cNvPicPr>
          <p:nvPr/>
        </p:nvPicPr>
        <p:blipFill>
          <a:blip r:embed="rId2"/>
          <a:stretch>
            <a:fillRect/>
          </a:stretch>
        </p:blipFill>
        <p:spPr>
          <a:xfrm>
            <a:off x="253116" y="441325"/>
            <a:ext cx="5962650" cy="4581525"/>
          </a:xfrm>
          <a:prstGeom prst="rect">
            <a:avLst/>
          </a:prstGeom>
        </p:spPr>
      </p:pic>
      <p:pic>
        <p:nvPicPr>
          <p:cNvPr id="7" name="圖片 6">
            <a:extLst>
              <a:ext uri="{FF2B5EF4-FFF2-40B4-BE49-F238E27FC236}">
                <a16:creationId xmlns:a16="http://schemas.microsoft.com/office/drawing/2014/main" id="{46793D91-2210-466B-A2AA-2AF41C190B28}"/>
              </a:ext>
            </a:extLst>
          </p:cNvPr>
          <p:cNvPicPr>
            <a:picLocks noChangeAspect="1"/>
          </p:cNvPicPr>
          <p:nvPr/>
        </p:nvPicPr>
        <p:blipFill>
          <a:blip r:embed="rId3"/>
          <a:stretch>
            <a:fillRect/>
          </a:stretch>
        </p:blipFill>
        <p:spPr>
          <a:xfrm>
            <a:off x="6215766" y="441325"/>
            <a:ext cx="5619750" cy="4238625"/>
          </a:xfrm>
          <a:prstGeom prst="rect">
            <a:avLst/>
          </a:prstGeom>
        </p:spPr>
      </p:pic>
    </p:spTree>
    <p:extLst>
      <p:ext uri="{BB962C8B-B14F-4D97-AF65-F5344CB8AC3E}">
        <p14:creationId xmlns:p14="http://schemas.microsoft.com/office/powerpoint/2010/main" val="253423551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915A6D-CB87-4C7B-9085-0CC80381816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F7FE92E8-82F8-42DA-B2FF-507701CD6E9C}"/>
              </a:ext>
            </a:extLst>
          </p:cNvPr>
          <p:cNvSpPr>
            <a:spLocks noGrp="1"/>
          </p:cNvSpPr>
          <p:nvPr>
            <p:ph idx="1"/>
          </p:nvPr>
        </p:nvSpPr>
        <p:spPr>
          <a:xfrm>
            <a:off x="2583873" y="3093316"/>
            <a:ext cx="10515600" cy="4351338"/>
          </a:xfrm>
        </p:spPr>
        <p:txBody>
          <a:bodyPr>
            <a:normAutofit/>
          </a:bodyPr>
          <a:lstStyle/>
          <a:p>
            <a:pPr marL="0" indent="0">
              <a:buNone/>
            </a:pPr>
            <a:r>
              <a:rPr lang="en-US" altLang="zh-TW" sz="4800" dirty="0"/>
              <a:t>Thanks for listening.</a:t>
            </a:r>
            <a:endParaRPr lang="zh-TW" altLang="en-US" sz="4800" dirty="0"/>
          </a:p>
        </p:txBody>
      </p:sp>
    </p:spTree>
    <p:extLst>
      <p:ext uri="{BB962C8B-B14F-4D97-AF65-F5344CB8AC3E}">
        <p14:creationId xmlns:p14="http://schemas.microsoft.com/office/powerpoint/2010/main" val="341986162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A5A6EE56-0E4B-48B1-A0AE-C26BBED6A560}"/>
              </a:ext>
            </a:extLst>
          </p:cNvPr>
          <p:cNvGraphicFramePr>
            <a:graphicFrameLocks noGrp="1"/>
          </p:cNvGraphicFramePr>
          <p:nvPr>
            <p:extLst>
              <p:ext uri="{D42A27DB-BD31-4B8C-83A1-F6EECF244321}">
                <p14:modId xmlns:p14="http://schemas.microsoft.com/office/powerpoint/2010/main" val="3069181902"/>
              </p:ext>
            </p:extLst>
          </p:nvPr>
        </p:nvGraphicFramePr>
        <p:xfrm>
          <a:off x="2032000" y="719666"/>
          <a:ext cx="8128000" cy="4164168"/>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39911059"/>
                    </a:ext>
                  </a:extLst>
                </a:gridCol>
                <a:gridCol w="1625600">
                  <a:extLst>
                    <a:ext uri="{9D8B030D-6E8A-4147-A177-3AD203B41FA5}">
                      <a16:colId xmlns:a16="http://schemas.microsoft.com/office/drawing/2014/main" val="2696759501"/>
                    </a:ext>
                  </a:extLst>
                </a:gridCol>
                <a:gridCol w="1625600">
                  <a:extLst>
                    <a:ext uri="{9D8B030D-6E8A-4147-A177-3AD203B41FA5}">
                      <a16:colId xmlns:a16="http://schemas.microsoft.com/office/drawing/2014/main" val="802323705"/>
                    </a:ext>
                  </a:extLst>
                </a:gridCol>
                <a:gridCol w="1625600">
                  <a:extLst>
                    <a:ext uri="{9D8B030D-6E8A-4147-A177-3AD203B41FA5}">
                      <a16:colId xmlns:a16="http://schemas.microsoft.com/office/drawing/2014/main" val="111345989"/>
                    </a:ext>
                  </a:extLst>
                </a:gridCol>
                <a:gridCol w="1625600">
                  <a:extLst>
                    <a:ext uri="{9D8B030D-6E8A-4147-A177-3AD203B41FA5}">
                      <a16:colId xmlns:a16="http://schemas.microsoft.com/office/drawing/2014/main" val="1167941338"/>
                    </a:ext>
                  </a:extLst>
                </a:gridCol>
              </a:tblGrid>
              <a:tr h="37084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1583041"/>
                  </a:ext>
                </a:extLst>
              </a:tr>
              <a:tr h="37084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504711"/>
                  </a:ext>
                </a:extLst>
              </a:tr>
              <a:tr h="37084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493796"/>
                  </a:ext>
                </a:extLst>
              </a:tr>
              <a:tr h="37084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750404"/>
                  </a:ext>
                </a:extLst>
              </a:tr>
              <a:tr h="455768">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2198463"/>
                  </a:ext>
                </a:extLst>
              </a:tr>
              <a:tr h="37084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892923"/>
                  </a:ext>
                </a:extLst>
              </a:tr>
              <a:tr h="37084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82305"/>
                  </a:ext>
                </a:extLst>
              </a:tr>
              <a:tr h="37084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0222979"/>
                  </a:ext>
                </a:extLst>
              </a:tr>
              <a:tr h="37084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21044"/>
                  </a:ext>
                </a:extLst>
              </a:tr>
              <a:tr h="37084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858819"/>
                  </a:ext>
                </a:extLst>
              </a:tr>
              <a:tr h="37084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標楷體" panose="03000509000000000000" pitchFamily="65" charset="-120"/>
                        <a:ea typeface="標楷體" panose="03000509000000000000" pitchFamily="65" charset="-12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609190"/>
                  </a:ext>
                </a:extLst>
              </a:tr>
            </a:tbl>
          </a:graphicData>
        </a:graphic>
      </p:graphicFrame>
    </p:spTree>
    <p:extLst>
      <p:ext uri="{BB962C8B-B14F-4D97-AF65-F5344CB8AC3E}">
        <p14:creationId xmlns:p14="http://schemas.microsoft.com/office/powerpoint/2010/main" val="405021293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0645BD-5BD9-405C-9DA3-56BEAD7798C1}"/>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3B28BC76-C270-4AD5-A558-CC0DF81BC283}"/>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80E03AAB-2712-46BE-BA46-6A2568424B70}"/>
              </a:ext>
            </a:extLst>
          </p:cNvPr>
          <p:cNvPicPr>
            <a:picLocks noChangeAspect="1"/>
          </p:cNvPicPr>
          <p:nvPr/>
        </p:nvPicPr>
        <p:blipFill>
          <a:blip r:embed="rId2"/>
          <a:stretch>
            <a:fillRect/>
          </a:stretch>
        </p:blipFill>
        <p:spPr>
          <a:xfrm>
            <a:off x="5058508" y="681037"/>
            <a:ext cx="3543300" cy="3552825"/>
          </a:xfrm>
          <a:prstGeom prst="rect">
            <a:avLst/>
          </a:prstGeom>
        </p:spPr>
      </p:pic>
      <p:pic>
        <p:nvPicPr>
          <p:cNvPr id="7" name="圖片 6">
            <a:extLst>
              <a:ext uri="{FF2B5EF4-FFF2-40B4-BE49-F238E27FC236}">
                <a16:creationId xmlns:a16="http://schemas.microsoft.com/office/drawing/2014/main" id="{4D8D4A47-EA4B-4CF0-8CA2-491F84EE601E}"/>
              </a:ext>
            </a:extLst>
          </p:cNvPr>
          <p:cNvPicPr>
            <a:picLocks noChangeAspect="1"/>
          </p:cNvPicPr>
          <p:nvPr/>
        </p:nvPicPr>
        <p:blipFill>
          <a:blip r:embed="rId3"/>
          <a:stretch>
            <a:fillRect/>
          </a:stretch>
        </p:blipFill>
        <p:spPr>
          <a:xfrm>
            <a:off x="9372600" y="430212"/>
            <a:ext cx="1981200" cy="2790825"/>
          </a:xfrm>
          <a:prstGeom prst="rect">
            <a:avLst/>
          </a:prstGeom>
        </p:spPr>
      </p:pic>
    </p:spTree>
    <p:extLst>
      <p:ext uri="{BB962C8B-B14F-4D97-AF65-F5344CB8AC3E}">
        <p14:creationId xmlns:p14="http://schemas.microsoft.com/office/powerpoint/2010/main" val="189420218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4963</TotalTime>
  <Words>5324</Words>
  <Application>Microsoft Office PowerPoint</Application>
  <PresentationFormat>寬螢幕</PresentationFormat>
  <Paragraphs>3190</Paragraphs>
  <Slides>55</Slides>
  <Notes>19</Notes>
  <HiddenSlides>8</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55</vt:i4>
      </vt:variant>
    </vt:vector>
  </HeadingPairs>
  <TitlesOfParts>
    <vt:vector size="63" baseType="lpstr">
      <vt:lpstr>標楷體</vt:lpstr>
      <vt:lpstr>Arial</vt:lpstr>
      <vt:lpstr>Calibri</vt:lpstr>
      <vt:lpstr>Calibri Light</vt:lpstr>
      <vt:lpstr>Cambria Math</vt:lpstr>
      <vt:lpstr>Georgia</vt:lpstr>
      <vt:lpstr>Times New Roman</vt:lpstr>
      <vt:lpstr>Office 佈景主題</vt:lpstr>
      <vt:lpstr>A Novel Heterogeneous Scheduling Algorithm with Improved Task Priority </vt:lpstr>
      <vt:lpstr>Abstract</vt:lpstr>
      <vt:lpstr>Outline </vt:lpstr>
      <vt:lpstr>PowerPoint 簡報</vt:lpstr>
      <vt:lpstr>PowerPoint 簡報</vt:lpstr>
      <vt:lpstr>PowerPoint 簡報</vt:lpstr>
      <vt:lpstr>PowerPoint 簡報</vt:lpstr>
      <vt:lpstr>PowerPoint 簡報</vt:lpstr>
      <vt:lpstr>Predict Earliest Finish Time (PEFT)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3.2.1</vt:lpstr>
      <vt:lpstr>1</vt:lpstr>
      <vt:lpstr>Heterogeneous Scheduling with Improved Task Priority (HSIP)</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Experiments</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Novel Heterogeneous Scheduling Algorithm with Improved Task Priority </dc:title>
  <dc:creator>jj wu</dc:creator>
  <cp:lastModifiedBy>pplab</cp:lastModifiedBy>
  <cp:revision>53</cp:revision>
  <dcterms:created xsi:type="dcterms:W3CDTF">2021-04-09T22:14:20Z</dcterms:created>
  <dcterms:modified xsi:type="dcterms:W3CDTF">2021-04-13T12:18:57Z</dcterms:modified>
</cp:coreProperties>
</file>