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256" r:id="rId2"/>
    <p:sldId id="257" r:id="rId3"/>
    <p:sldId id="300" r:id="rId4"/>
    <p:sldId id="301" r:id="rId5"/>
    <p:sldId id="302" r:id="rId6"/>
    <p:sldId id="303" r:id="rId7"/>
    <p:sldId id="307" r:id="rId8"/>
    <p:sldId id="304" r:id="rId9"/>
    <p:sldId id="305" r:id="rId10"/>
    <p:sldId id="306" r:id="rId11"/>
    <p:sldId id="308" r:id="rId12"/>
    <p:sldId id="309" r:id="rId13"/>
    <p:sldId id="310" r:id="rId14"/>
    <p:sldId id="311" r:id="rId15"/>
    <p:sldId id="312" r:id="rId16"/>
    <p:sldId id="313" r:id="rId17"/>
    <p:sldId id="314" r:id="rId18"/>
    <p:sldId id="315" r:id="rId19"/>
    <p:sldId id="316" r:id="rId20"/>
    <p:sldId id="317" r:id="rId21"/>
    <p:sldId id="318" r:id="rId22"/>
    <p:sldId id="319" r:id="rId23"/>
    <p:sldId id="320" r:id="rId24"/>
    <p:sldId id="321" r:id="rId25"/>
    <p:sldId id="322" r:id="rId26"/>
    <p:sldId id="323" r:id="rId27"/>
    <p:sldId id="324" r:id="rId28"/>
    <p:sldId id="325" r:id="rId29"/>
    <p:sldId id="326" r:id="rId30"/>
    <p:sldId id="327" r:id="rId31"/>
    <p:sldId id="328" r:id="rId32"/>
    <p:sldId id="329" r:id="rId33"/>
    <p:sldId id="330" r:id="rId34"/>
    <p:sldId id="331" r:id="rId35"/>
    <p:sldId id="333" r:id="rId36"/>
    <p:sldId id="334" r:id="rId37"/>
    <p:sldId id="335" r:id="rId38"/>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預設章節" id="{6186186C-64BA-44FD-9B78-555D693B99E1}">
          <p14:sldIdLst>
            <p14:sldId id="256"/>
            <p14:sldId id="257"/>
            <p14:sldId id="300"/>
            <p14:sldId id="301"/>
            <p14:sldId id="302"/>
            <p14:sldId id="303"/>
            <p14:sldId id="307"/>
            <p14:sldId id="304"/>
            <p14:sldId id="305"/>
            <p14:sldId id="306"/>
            <p14:sldId id="308"/>
            <p14:sldId id="309"/>
            <p14:sldId id="310"/>
            <p14:sldId id="311"/>
            <p14:sldId id="312"/>
            <p14:sldId id="313"/>
            <p14:sldId id="314"/>
            <p14:sldId id="315"/>
            <p14:sldId id="316"/>
            <p14:sldId id="317"/>
            <p14:sldId id="318"/>
            <p14:sldId id="319"/>
            <p14:sldId id="320"/>
            <p14:sldId id="321"/>
            <p14:sldId id="322"/>
            <p14:sldId id="323"/>
            <p14:sldId id="324"/>
            <p14:sldId id="325"/>
            <p14:sldId id="326"/>
            <p14:sldId id="327"/>
            <p14:sldId id="328"/>
            <p14:sldId id="329"/>
            <p14:sldId id="330"/>
            <p14:sldId id="331"/>
            <p14:sldId id="333"/>
            <p14:sldId id="334"/>
            <p14:sldId id="335"/>
          </p14:sldIdLst>
        </p14:section>
      </p14:sectionLst>
    </p:ext>
    <p:ext uri="{EFAFB233-063F-42B5-8137-9DF3F51BA10A}">
      <p15:sldGuideLst xmlns:p15="http://schemas.microsoft.com/office/powerpoint/2012/main">
        <p15:guide id="1" orient="horz" pos="4065" userDrawn="1">
          <p15:clr>
            <a:srgbClr val="A4A3A4"/>
          </p15:clr>
        </p15:guide>
        <p15:guide id="2" pos="438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4FD19"/>
    <a:srgbClr val="323EFE"/>
    <a:srgbClr val="FCEBE0"/>
    <a:srgbClr val="E25DE5"/>
    <a:srgbClr val="FFFFFF"/>
    <a:srgbClr val="B381D9"/>
    <a:srgbClr val="00FFFF"/>
    <a:srgbClr val="934BC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868" autoAdjust="0"/>
    <p:restoredTop sz="90471" autoAdjust="0"/>
  </p:normalViewPr>
  <p:slideViewPr>
    <p:cSldViewPr snapToGrid="0">
      <p:cViewPr varScale="1">
        <p:scale>
          <a:sx n="65" d="100"/>
          <a:sy n="65" d="100"/>
        </p:scale>
        <p:origin x="822" y="48"/>
      </p:cViewPr>
      <p:guideLst>
        <p:guide orient="horz" pos="4065"/>
        <p:guide pos="4384"/>
      </p:guideLst>
    </p:cSldViewPr>
  </p:slideViewPr>
  <p:outlineViewPr>
    <p:cViewPr>
      <p:scale>
        <a:sx n="33" d="100"/>
        <a:sy n="33" d="100"/>
      </p:scale>
      <p:origin x="0" y="-9542"/>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4033D0-5A25-41C7-969A-EF5F7C649CD4}" type="datetimeFigureOut">
              <a:rPr lang="zh-TW" altLang="en-US" smtClean="0"/>
              <a:t>2021/1/26</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C9F1D4-CE95-410B-B0BC-C775142743A3}" type="slidenum">
              <a:rPr lang="zh-TW" altLang="en-US" smtClean="0"/>
              <a:t>‹#›</a:t>
            </a:fld>
            <a:endParaRPr lang="zh-TW" altLang="en-US"/>
          </a:p>
        </p:txBody>
      </p:sp>
    </p:spTree>
    <p:extLst>
      <p:ext uri="{BB962C8B-B14F-4D97-AF65-F5344CB8AC3E}">
        <p14:creationId xmlns:p14="http://schemas.microsoft.com/office/powerpoint/2010/main" val="39338623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en-US" altLang="zh-TW" sz="2000" b="0" i="0" u="sng" dirty="0">
              <a:solidFill>
                <a:srgbClr val="4D5156"/>
              </a:solidFill>
              <a:effectLst/>
              <a:latin typeface="arial" panose="020B0604020202020204" pitchFamily="34" charset="0"/>
            </a:endParaRPr>
          </a:p>
        </p:txBody>
      </p:sp>
      <p:sp>
        <p:nvSpPr>
          <p:cNvPr id="4" name="投影片編號版面配置區 3"/>
          <p:cNvSpPr>
            <a:spLocks noGrp="1"/>
          </p:cNvSpPr>
          <p:nvPr>
            <p:ph type="sldNum" sz="quarter" idx="5"/>
          </p:nvPr>
        </p:nvSpPr>
        <p:spPr/>
        <p:txBody>
          <a:bodyPr/>
          <a:lstStyle/>
          <a:p>
            <a:fld id="{D3C9F1D4-CE95-410B-B0BC-C775142743A3}" type="slidenum">
              <a:rPr lang="zh-TW" altLang="en-US" smtClean="0"/>
              <a:t>1</a:t>
            </a:fld>
            <a:endParaRPr lang="zh-TW" altLang="en-US"/>
          </a:p>
        </p:txBody>
      </p:sp>
    </p:spTree>
    <p:extLst>
      <p:ext uri="{BB962C8B-B14F-4D97-AF65-F5344CB8AC3E}">
        <p14:creationId xmlns:p14="http://schemas.microsoft.com/office/powerpoint/2010/main" val="13924744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D3C9F1D4-CE95-410B-B0BC-C775142743A3}" type="slidenum">
              <a:rPr lang="zh-TW" altLang="en-US" smtClean="0"/>
              <a:t>2</a:t>
            </a:fld>
            <a:endParaRPr lang="zh-TW" altLang="en-US"/>
          </a:p>
        </p:txBody>
      </p:sp>
    </p:spTree>
    <p:extLst>
      <p:ext uri="{BB962C8B-B14F-4D97-AF65-F5344CB8AC3E}">
        <p14:creationId xmlns:p14="http://schemas.microsoft.com/office/powerpoint/2010/main" val="23739721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D3C9F1D4-CE95-410B-B0BC-C775142743A3}" type="slidenum">
              <a:rPr lang="zh-TW" altLang="en-US" smtClean="0"/>
              <a:t>3</a:t>
            </a:fld>
            <a:endParaRPr lang="zh-TW" altLang="en-US"/>
          </a:p>
        </p:txBody>
      </p:sp>
    </p:spTree>
    <p:extLst>
      <p:ext uri="{BB962C8B-B14F-4D97-AF65-F5344CB8AC3E}">
        <p14:creationId xmlns:p14="http://schemas.microsoft.com/office/powerpoint/2010/main" val="5108520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D3C9F1D4-CE95-410B-B0BC-C775142743A3}" type="slidenum">
              <a:rPr lang="zh-TW" altLang="en-US" smtClean="0"/>
              <a:t>4</a:t>
            </a:fld>
            <a:endParaRPr lang="zh-TW" altLang="en-US"/>
          </a:p>
        </p:txBody>
      </p:sp>
    </p:spTree>
    <p:extLst>
      <p:ext uri="{BB962C8B-B14F-4D97-AF65-F5344CB8AC3E}">
        <p14:creationId xmlns:p14="http://schemas.microsoft.com/office/powerpoint/2010/main" val="42344354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D3C9F1D4-CE95-410B-B0BC-C775142743A3}" type="slidenum">
              <a:rPr lang="zh-TW" altLang="en-US" smtClean="0"/>
              <a:t>7</a:t>
            </a:fld>
            <a:endParaRPr lang="zh-TW" altLang="en-US"/>
          </a:p>
        </p:txBody>
      </p:sp>
    </p:spTree>
    <p:extLst>
      <p:ext uri="{BB962C8B-B14F-4D97-AF65-F5344CB8AC3E}">
        <p14:creationId xmlns:p14="http://schemas.microsoft.com/office/powerpoint/2010/main" val="840534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D3C9F1D4-CE95-410B-B0BC-C775142743A3}" type="slidenum">
              <a:rPr lang="zh-TW" altLang="en-US" smtClean="0"/>
              <a:t>8</a:t>
            </a:fld>
            <a:endParaRPr lang="zh-TW" altLang="en-US"/>
          </a:p>
        </p:txBody>
      </p:sp>
    </p:spTree>
    <p:extLst>
      <p:ext uri="{BB962C8B-B14F-4D97-AF65-F5344CB8AC3E}">
        <p14:creationId xmlns:p14="http://schemas.microsoft.com/office/powerpoint/2010/main" val="41523972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D3C9F1D4-CE95-410B-B0BC-C775142743A3}" type="slidenum">
              <a:rPr lang="zh-TW" altLang="en-US" smtClean="0"/>
              <a:t>9</a:t>
            </a:fld>
            <a:endParaRPr lang="zh-TW" altLang="en-US"/>
          </a:p>
        </p:txBody>
      </p:sp>
    </p:spTree>
    <p:extLst>
      <p:ext uri="{BB962C8B-B14F-4D97-AF65-F5344CB8AC3E}">
        <p14:creationId xmlns:p14="http://schemas.microsoft.com/office/powerpoint/2010/main" val="18201976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D3C9F1D4-CE95-410B-B0BC-C775142743A3}" type="slidenum">
              <a:rPr lang="zh-TW" altLang="en-US" smtClean="0"/>
              <a:t>10</a:t>
            </a:fld>
            <a:endParaRPr lang="zh-TW" altLang="en-US"/>
          </a:p>
        </p:txBody>
      </p:sp>
    </p:spTree>
    <p:extLst>
      <p:ext uri="{BB962C8B-B14F-4D97-AF65-F5344CB8AC3E}">
        <p14:creationId xmlns:p14="http://schemas.microsoft.com/office/powerpoint/2010/main" val="19326219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D3C9F1D4-CE95-410B-B0BC-C775142743A3}" type="slidenum">
              <a:rPr lang="zh-TW" altLang="en-US" smtClean="0"/>
              <a:t>11</a:t>
            </a:fld>
            <a:endParaRPr lang="zh-TW" altLang="en-US"/>
          </a:p>
        </p:txBody>
      </p:sp>
    </p:spTree>
    <p:extLst>
      <p:ext uri="{BB962C8B-B14F-4D97-AF65-F5344CB8AC3E}">
        <p14:creationId xmlns:p14="http://schemas.microsoft.com/office/powerpoint/2010/main" val="34610344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D3C9F1D4-CE95-410B-B0BC-C775142743A3}" type="slidenum">
              <a:rPr lang="zh-TW" altLang="en-US" smtClean="0"/>
              <a:t>12</a:t>
            </a:fld>
            <a:endParaRPr lang="zh-TW" altLang="en-US"/>
          </a:p>
        </p:txBody>
      </p:sp>
    </p:spTree>
    <p:extLst>
      <p:ext uri="{BB962C8B-B14F-4D97-AF65-F5344CB8AC3E}">
        <p14:creationId xmlns:p14="http://schemas.microsoft.com/office/powerpoint/2010/main" val="27206784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D3C9F1D4-CE95-410B-B0BC-C775142743A3}" type="slidenum">
              <a:rPr lang="zh-TW" altLang="en-US" smtClean="0"/>
              <a:t>13</a:t>
            </a:fld>
            <a:endParaRPr lang="zh-TW" altLang="en-US"/>
          </a:p>
        </p:txBody>
      </p:sp>
    </p:spTree>
    <p:extLst>
      <p:ext uri="{BB962C8B-B14F-4D97-AF65-F5344CB8AC3E}">
        <p14:creationId xmlns:p14="http://schemas.microsoft.com/office/powerpoint/2010/main" val="9460652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D3C9F1D4-CE95-410B-B0BC-C775142743A3}" type="slidenum">
              <a:rPr lang="zh-TW" altLang="en-US" smtClean="0"/>
              <a:t>14</a:t>
            </a:fld>
            <a:endParaRPr lang="zh-TW" altLang="en-US"/>
          </a:p>
        </p:txBody>
      </p:sp>
    </p:spTree>
    <p:extLst>
      <p:ext uri="{BB962C8B-B14F-4D97-AF65-F5344CB8AC3E}">
        <p14:creationId xmlns:p14="http://schemas.microsoft.com/office/powerpoint/2010/main" val="6887017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D3C9F1D4-CE95-410B-B0BC-C775142743A3}" type="slidenum">
              <a:rPr lang="zh-TW" altLang="en-US" smtClean="0"/>
              <a:t>15</a:t>
            </a:fld>
            <a:endParaRPr lang="zh-TW" altLang="en-US"/>
          </a:p>
        </p:txBody>
      </p:sp>
    </p:spTree>
    <p:extLst>
      <p:ext uri="{BB962C8B-B14F-4D97-AF65-F5344CB8AC3E}">
        <p14:creationId xmlns:p14="http://schemas.microsoft.com/office/powerpoint/2010/main" val="6304350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D3C9F1D4-CE95-410B-B0BC-C775142743A3}" type="slidenum">
              <a:rPr lang="zh-TW" altLang="en-US" smtClean="0"/>
              <a:t>16</a:t>
            </a:fld>
            <a:endParaRPr lang="zh-TW" altLang="en-US"/>
          </a:p>
        </p:txBody>
      </p:sp>
    </p:spTree>
    <p:extLst>
      <p:ext uri="{BB962C8B-B14F-4D97-AF65-F5344CB8AC3E}">
        <p14:creationId xmlns:p14="http://schemas.microsoft.com/office/powerpoint/2010/main" val="28938155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其實只有</a:t>
            </a:r>
            <a:r>
              <a:rPr lang="en-US" altLang="zh-TW" dirty="0"/>
              <a:t>5</a:t>
            </a:r>
            <a:r>
              <a:rPr lang="zh-TW" altLang="en-US" dirty="0"/>
              <a:t>個 </a:t>
            </a:r>
            <a:r>
              <a:rPr lang="en-US" altLang="zh-TW" dirty="0"/>
              <a:t>(|V|)</a:t>
            </a:r>
            <a:r>
              <a:rPr lang="zh-TW" altLang="en-US" dirty="0"/>
              <a:t> 再用，因為 </a:t>
            </a:r>
            <a:r>
              <a:rPr lang="en-US" altLang="zh-TW" dirty="0" err="1"/>
              <a:t>y.distance</a:t>
            </a:r>
            <a:r>
              <a:rPr lang="en-US" altLang="zh-TW" dirty="0"/>
              <a:t> &gt; </a:t>
            </a:r>
            <a:r>
              <a:rPr lang="en-US" altLang="zh-TW" dirty="0" err="1"/>
              <a:t>x.distance</a:t>
            </a:r>
            <a:r>
              <a:rPr lang="en-US" altLang="zh-TW" dirty="0"/>
              <a:t> + w(</a:t>
            </a:r>
            <a:r>
              <a:rPr lang="en-US" altLang="zh-TW" dirty="0" err="1"/>
              <a:t>x,y</a:t>
            </a:r>
            <a:r>
              <a:rPr lang="en-US" altLang="zh-TW" dirty="0"/>
              <a:t>)</a:t>
            </a:r>
            <a:r>
              <a:rPr lang="zh-TW" altLang="en-US" dirty="0"/>
              <a:t>，更新為</a:t>
            </a:r>
            <a:r>
              <a:rPr lang="en-US" altLang="zh-TW" dirty="0"/>
              <a:t>Optimal</a:t>
            </a:r>
            <a:r>
              <a:rPr lang="zh-TW" altLang="en-US" dirty="0"/>
              <a:t>之後就不會更新了</a:t>
            </a:r>
          </a:p>
        </p:txBody>
      </p:sp>
      <p:sp>
        <p:nvSpPr>
          <p:cNvPr id="4" name="投影片編號版面配置區 3"/>
          <p:cNvSpPr>
            <a:spLocks noGrp="1"/>
          </p:cNvSpPr>
          <p:nvPr>
            <p:ph type="sldNum" sz="quarter" idx="5"/>
          </p:nvPr>
        </p:nvSpPr>
        <p:spPr/>
        <p:txBody>
          <a:bodyPr/>
          <a:lstStyle/>
          <a:p>
            <a:fld id="{D3C9F1D4-CE95-410B-B0BC-C775142743A3}" type="slidenum">
              <a:rPr lang="zh-TW" altLang="en-US" smtClean="0"/>
              <a:t>23</a:t>
            </a:fld>
            <a:endParaRPr lang="zh-TW" altLang="en-US"/>
          </a:p>
        </p:txBody>
      </p:sp>
    </p:spTree>
    <p:extLst>
      <p:ext uri="{BB962C8B-B14F-4D97-AF65-F5344CB8AC3E}">
        <p14:creationId xmlns:p14="http://schemas.microsoft.com/office/powerpoint/2010/main" val="19128180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D3C9F1D4-CE95-410B-B0BC-C775142743A3}" type="slidenum">
              <a:rPr lang="zh-TW" altLang="en-US" smtClean="0"/>
              <a:t>24</a:t>
            </a:fld>
            <a:endParaRPr lang="zh-TW" altLang="en-US"/>
          </a:p>
        </p:txBody>
      </p:sp>
    </p:spTree>
    <p:extLst>
      <p:ext uri="{BB962C8B-B14F-4D97-AF65-F5344CB8AC3E}">
        <p14:creationId xmlns:p14="http://schemas.microsoft.com/office/powerpoint/2010/main" val="30659006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D3C9F1D4-CE95-410B-B0BC-C775142743A3}" type="slidenum">
              <a:rPr lang="zh-TW" altLang="en-US" smtClean="0"/>
              <a:t>28</a:t>
            </a:fld>
            <a:endParaRPr lang="zh-TW" altLang="en-US"/>
          </a:p>
        </p:txBody>
      </p:sp>
    </p:spTree>
    <p:extLst>
      <p:ext uri="{BB962C8B-B14F-4D97-AF65-F5344CB8AC3E}">
        <p14:creationId xmlns:p14="http://schemas.microsoft.com/office/powerpoint/2010/main" val="14295984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D3C9F1D4-CE95-410B-B0BC-C775142743A3}" type="slidenum">
              <a:rPr lang="zh-TW" altLang="en-US" smtClean="0"/>
              <a:t>29</a:t>
            </a:fld>
            <a:endParaRPr lang="zh-TW" altLang="en-US"/>
          </a:p>
        </p:txBody>
      </p:sp>
    </p:spTree>
    <p:extLst>
      <p:ext uri="{BB962C8B-B14F-4D97-AF65-F5344CB8AC3E}">
        <p14:creationId xmlns:p14="http://schemas.microsoft.com/office/powerpoint/2010/main" val="31692719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D3C9F1D4-CE95-410B-B0BC-C775142743A3}" type="slidenum">
              <a:rPr lang="zh-TW" altLang="en-US" smtClean="0"/>
              <a:t>30</a:t>
            </a:fld>
            <a:endParaRPr lang="zh-TW" altLang="en-US"/>
          </a:p>
        </p:txBody>
      </p:sp>
    </p:spTree>
    <p:extLst>
      <p:ext uri="{BB962C8B-B14F-4D97-AF65-F5344CB8AC3E}">
        <p14:creationId xmlns:p14="http://schemas.microsoft.com/office/powerpoint/2010/main" val="5547231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D3C9F1D4-CE95-410B-B0BC-C775142743A3}" type="slidenum">
              <a:rPr lang="zh-TW" altLang="en-US" smtClean="0"/>
              <a:t>31</a:t>
            </a:fld>
            <a:endParaRPr lang="zh-TW" altLang="en-US"/>
          </a:p>
        </p:txBody>
      </p:sp>
    </p:spTree>
    <p:extLst>
      <p:ext uri="{BB962C8B-B14F-4D97-AF65-F5344CB8AC3E}">
        <p14:creationId xmlns:p14="http://schemas.microsoft.com/office/powerpoint/2010/main" val="20576840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D3C9F1D4-CE95-410B-B0BC-C775142743A3}" type="slidenum">
              <a:rPr lang="zh-TW" altLang="en-US" smtClean="0"/>
              <a:t>32</a:t>
            </a:fld>
            <a:endParaRPr lang="zh-TW" altLang="en-US"/>
          </a:p>
        </p:txBody>
      </p:sp>
    </p:spTree>
    <p:extLst>
      <p:ext uri="{BB962C8B-B14F-4D97-AF65-F5344CB8AC3E}">
        <p14:creationId xmlns:p14="http://schemas.microsoft.com/office/powerpoint/2010/main" val="605652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D3C9F1D4-CE95-410B-B0BC-C775142743A3}" type="slidenum">
              <a:rPr lang="zh-TW" altLang="en-US" smtClean="0"/>
              <a:t>33</a:t>
            </a:fld>
            <a:endParaRPr lang="zh-TW" altLang="en-US"/>
          </a:p>
        </p:txBody>
      </p:sp>
    </p:spTree>
    <p:extLst>
      <p:ext uri="{BB962C8B-B14F-4D97-AF65-F5344CB8AC3E}">
        <p14:creationId xmlns:p14="http://schemas.microsoft.com/office/powerpoint/2010/main" val="15150986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D3C9F1D4-CE95-410B-B0BC-C775142743A3}" type="slidenum">
              <a:rPr lang="zh-TW" altLang="en-US" smtClean="0"/>
              <a:t>34</a:t>
            </a:fld>
            <a:endParaRPr lang="zh-TW" altLang="en-US"/>
          </a:p>
        </p:txBody>
      </p:sp>
    </p:spTree>
    <p:extLst>
      <p:ext uri="{BB962C8B-B14F-4D97-AF65-F5344CB8AC3E}">
        <p14:creationId xmlns:p14="http://schemas.microsoft.com/office/powerpoint/2010/main" val="39087702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D3C9F1D4-CE95-410B-B0BC-C775142743A3}" type="slidenum">
              <a:rPr lang="zh-TW" altLang="en-US" smtClean="0"/>
              <a:t>35</a:t>
            </a:fld>
            <a:endParaRPr lang="zh-TW" altLang="en-US"/>
          </a:p>
        </p:txBody>
      </p:sp>
    </p:spTree>
    <p:extLst>
      <p:ext uri="{BB962C8B-B14F-4D97-AF65-F5344CB8AC3E}">
        <p14:creationId xmlns:p14="http://schemas.microsoft.com/office/powerpoint/2010/main" val="22247456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D3C9F1D4-CE95-410B-B0BC-C775142743A3}" type="slidenum">
              <a:rPr lang="zh-TW" altLang="en-US" smtClean="0"/>
              <a:t>36</a:t>
            </a:fld>
            <a:endParaRPr lang="zh-TW" altLang="en-US"/>
          </a:p>
        </p:txBody>
      </p:sp>
    </p:spTree>
    <p:extLst>
      <p:ext uri="{BB962C8B-B14F-4D97-AF65-F5344CB8AC3E}">
        <p14:creationId xmlns:p14="http://schemas.microsoft.com/office/powerpoint/2010/main" val="232918550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D3C9F1D4-CE95-410B-B0BC-C775142743A3}" type="slidenum">
              <a:rPr lang="zh-TW" altLang="en-US" smtClean="0"/>
              <a:t>37</a:t>
            </a:fld>
            <a:endParaRPr lang="zh-TW" altLang="en-US"/>
          </a:p>
        </p:txBody>
      </p:sp>
    </p:spTree>
    <p:extLst>
      <p:ext uri="{BB962C8B-B14F-4D97-AF65-F5344CB8AC3E}">
        <p14:creationId xmlns:p14="http://schemas.microsoft.com/office/powerpoint/2010/main" val="25170214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B5D6350-B6ED-41FC-9D7E-7F401D1D3B8D}"/>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110C62AA-5FAB-4981-A45A-1A8517CA604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5450ED99-A302-4A55-B3DF-54415272259F}"/>
              </a:ext>
            </a:extLst>
          </p:cNvPr>
          <p:cNvSpPr>
            <a:spLocks noGrp="1"/>
          </p:cNvSpPr>
          <p:nvPr>
            <p:ph type="dt" sz="half" idx="10"/>
          </p:nvPr>
        </p:nvSpPr>
        <p:spPr/>
        <p:txBody>
          <a:bodyPr/>
          <a:lstStyle/>
          <a:p>
            <a:fld id="{B409E770-9C80-4ED4-983E-8A15F27ADAA7}" type="datetimeFigureOut">
              <a:rPr lang="zh-TW" altLang="en-US" smtClean="0"/>
              <a:t>2021/1/26</a:t>
            </a:fld>
            <a:endParaRPr lang="zh-TW" altLang="en-US"/>
          </a:p>
        </p:txBody>
      </p:sp>
      <p:sp>
        <p:nvSpPr>
          <p:cNvPr id="5" name="頁尾版面配置區 4">
            <a:extLst>
              <a:ext uri="{FF2B5EF4-FFF2-40B4-BE49-F238E27FC236}">
                <a16:creationId xmlns:a16="http://schemas.microsoft.com/office/drawing/2014/main" id="{9E377494-B569-42CD-88D2-0988ED58F52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6D7DF940-0364-4C9B-9D2E-F53DCBCFE38B}"/>
              </a:ext>
            </a:extLst>
          </p:cNvPr>
          <p:cNvSpPr>
            <a:spLocks noGrp="1"/>
          </p:cNvSpPr>
          <p:nvPr>
            <p:ph type="sldNum" sz="quarter" idx="12"/>
          </p:nvPr>
        </p:nvSpPr>
        <p:spPr/>
        <p:txBody>
          <a:bodyPr/>
          <a:lstStyle/>
          <a:p>
            <a:fld id="{1695738F-21BE-4DF4-85F7-2BB3376BAEFC}" type="slidenum">
              <a:rPr lang="zh-TW" altLang="en-US" smtClean="0"/>
              <a:t>‹#›</a:t>
            </a:fld>
            <a:endParaRPr lang="zh-TW" altLang="en-US"/>
          </a:p>
        </p:txBody>
      </p:sp>
    </p:spTree>
    <p:extLst>
      <p:ext uri="{BB962C8B-B14F-4D97-AF65-F5344CB8AC3E}">
        <p14:creationId xmlns:p14="http://schemas.microsoft.com/office/powerpoint/2010/main" val="36046406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0292AC1-9699-4F08-B315-69E76AA049CD}"/>
              </a:ext>
            </a:extLst>
          </p:cNvPr>
          <p:cNvSpPr>
            <a:spLocks noGrp="1"/>
          </p:cNvSpPr>
          <p:nvPr>
            <p:ph type="title"/>
          </p:nvPr>
        </p:nvSpPr>
        <p:spPr/>
        <p:txBody>
          <a:bodyPr/>
          <a:lstStyle>
            <a:lvl1pPr>
              <a:defRPr sz="4000" baseline="0">
                <a:latin typeface="Times New Roman" panose="02020603050405020304" pitchFamily="18" charset="0"/>
                <a:ea typeface="標楷體" panose="03000509000000000000" pitchFamily="65" charset="-120"/>
                <a:cs typeface="Times New Roman" panose="02020603050405020304" pitchFamily="18" charset="0"/>
              </a:defRPr>
            </a:lvl1pPr>
          </a:lstStyle>
          <a:p>
            <a:r>
              <a:rPr lang="zh-TW" altLang="en-US" dirty="0"/>
              <a:t>按一下以編輯母片標題樣式</a:t>
            </a:r>
          </a:p>
        </p:txBody>
      </p:sp>
      <p:sp>
        <p:nvSpPr>
          <p:cNvPr id="3" name="內容版面配置區 2">
            <a:extLst>
              <a:ext uri="{FF2B5EF4-FFF2-40B4-BE49-F238E27FC236}">
                <a16:creationId xmlns:a16="http://schemas.microsoft.com/office/drawing/2014/main" id="{DA8B8D7B-403B-4E87-82BF-F03CE7156135}"/>
              </a:ext>
            </a:extLst>
          </p:cNvPr>
          <p:cNvSpPr>
            <a:spLocks noGrp="1"/>
          </p:cNvSpPr>
          <p:nvPr>
            <p:ph idx="1"/>
          </p:nvPr>
        </p:nvSpPr>
        <p:spPr/>
        <p:txBody>
          <a:bodyPr/>
          <a:lstStyle>
            <a:lvl1pPr>
              <a:defRPr baseline="0">
                <a:latin typeface="Times New Roman" panose="02020603050405020304" pitchFamily="18" charset="0"/>
                <a:ea typeface="標楷體" panose="03000509000000000000" pitchFamily="65" charset="-120"/>
                <a:cs typeface="Times New Roman" panose="02020603050405020304" pitchFamily="18" charset="0"/>
              </a:defRPr>
            </a:lvl1pPr>
            <a:lvl2pPr>
              <a:defRPr baseline="0">
                <a:latin typeface="Times New Roman" panose="02020603050405020304" pitchFamily="18" charset="0"/>
                <a:ea typeface="標楷體" panose="03000509000000000000" pitchFamily="65" charset="-120"/>
                <a:cs typeface="Times New Roman" panose="02020603050405020304" pitchFamily="18" charset="0"/>
              </a:defRPr>
            </a:lvl2pPr>
            <a:lvl3pPr>
              <a:defRPr baseline="0">
                <a:latin typeface="Times New Roman" panose="02020603050405020304" pitchFamily="18" charset="0"/>
                <a:ea typeface="標楷體" panose="03000509000000000000" pitchFamily="65" charset="-120"/>
                <a:cs typeface="Times New Roman" panose="02020603050405020304" pitchFamily="18" charset="0"/>
              </a:defRPr>
            </a:lvl3pPr>
            <a:lvl4pPr>
              <a:defRPr baseline="0">
                <a:latin typeface="Times New Roman" panose="02020603050405020304" pitchFamily="18" charset="0"/>
                <a:ea typeface="標楷體" panose="03000509000000000000" pitchFamily="65" charset="-120"/>
                <a:cs typeface="Times New Roman" panose="02020603050405020304" pitchFamily="18" charset="0"/>
              </a:defRPr>
            </a:lvl4pPr>
            <a:lvl5pPr>
              <a:defRPr baseline="0">
                <a:latin typeface="Times New Roman" panose="02020603050405020304" pitchFamily="18" charset="0"/>
                <a:ea typeface="標楷體" panose="03000509000000000000" pitchFamily="65" charset="-120"/>
                <a:cs typeface="Times New Roman" panose="02020603050405020304" pitchFamily="18" charset="0"/>
              </a:defRPr>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EF124561-057D-4469-9AB5-4C6597D38B9F}"/>
              </a:ext>
            </a:extLst>
          </p:cNvPr>
          <p:cNvSpPr>
            <a:spLocks noGrp="1"/>
          </p:cNvSpPr>
          <p:nvPr>
            <p:ph type="dt" sz="half" idx="10"/>
          </p:nvPr>
        </p:nvSpPr>
        <p:spPr/>
        <p:txBody>
          <a:bodyPr/>
          <a:lstStyle>
            <a:lvl1pPr>
              <a:defRPr baseline="0">
                <a:latin typeface="Times New Roman" panose="02020603050405020304" pitchFamily="18" charset="0"/>
                <a:ea typeface="標楷體" panose="03000509000000000000" pitchFamily="65" charset="-120"/>
                <a:cs typeface="Times New Roman" panose="02020603050405020304" pitchFamily="18" charset="0"/>
              </a:defRPr>
            </a:lvl1pPr>
          </a:lstStyle>
          <a:p>
            <a:fld id="{B409E770-9C80-4ED4-983E-8A15F27ADAA7}" type="datetimeFigureOut">
              <a:rPr lang="zh-TW" altLang="en-US" smtClean="0"/>
              <a:pPr/>
              <a:t>2021/1/26</a:t>
            </a:fld>
            <a:endParaRPr lang="zh-TW" altLang="en-US">
              <a:ea typeface="標楷體" panose="03000509000000000000" pitchFamily="65" charset="-120"/>
            </a:endParaRPr>
          </a:p>
        </p:txBody>
      </p:sp>
      <p:sp>
        <p:nvSpPr>
          <p:cNvPr id="5" name="頁尾版面配置區 4">
            <a:extLst>
              <a:ext uri="{FF2B5EF4-FFF2-40B4-BE49-F238E27FC236}">
                <a16:creationId xmlns:a16="http://schemas.microsoft.com/office/drawing/2014/main" id="{C1CA6533-3974-4E64-AB88-349851F808A9}"/>
              </a:ext>
            </a:extLst>
          </p:cNvPr>
          <p:cNvSpPr>
            <a:spLocks noGrp="1"/>
          </p:cNvSpPr>
          <p:nvPr>
            <p:ph type="ftr" sz="quarter" idx="11"/>
          </p:nvPr>
        </p:nvSpPr>
        <p:spPr/>
        <p:txBody>
          <a:bodyPr/>
          <a:lstStyle>
            <a:lvl1pPr>
              <a:defRPr baseline="0">
                <a:latin typeface="Times New Roman" panose="02020603050405020304" pitchFamily="18" charset="0"/>
                <a:ea typeface="標楷體" panose="03000509000000000000" pitchFamily="65" charset="-120"/>
                <a:cs typeface="Times New Roman" panose="02020603050405020304" pitchFamily="18" charset="0"/>
              </a:defRPr>
            </a:lvl1pPr>
          </a:lstStyle>
          <a:p>
            <a:endParaRPr lang="zh-TW" altLang="en-US">
              <a:ea typeface="標楷體" panose="03000509000000000000" pitchFamily="65" charset="-120"/>
            </a:endParaRPr>
          </a:p>
        </p:txBody>
      </p:sp>
      <p:sp>
        <p:nvSpPr>
          <p:cNvPr id="6" name="投影片編號版面配置區 5">
            <a:extLst>
              <a:ext uri="{FF2B5EF4-FFF2-40B4-BE49-F238E27FC236}">
                <a16:creationId xmlns:a16="http://schemas.microsoft.com/office/drawing/2014/main" id="{211307E2-178E-4165-A305-28B315270CBA}"/>
              </a:ext>
            </a:extLst>
          </p:cNvPr>
          <p:cNvSpPr>
            <a:spLocks noGrp="1"/>
          </p:cNvSpPr>
          <p:nvPr>
            <p:ph type="sldNum" sz="quarter" idx="12"/>
          </p:nvPr>
        </p:nvSpPr>
        <p:spPr/>
        <p:txBody>
          <a:bodyPr/>
          <a:lstStyle>
            <a:lvl1pPr>
              <a:defRPr baseline="0">
                <a:latin typeface="Times New Roman" panose="02020603050405020304" pitchFamily="18" charset="0"/>
                <a:ea typeface="標楷體" panose="03000509000000000000" pitchFamily="65" charset="-120"/>
                <a:cs typeface="Times New Roman" panose="02020603050405020304" pitchFamily="18" charset="0"/>
              </a:defRPr>
            </a:lvl1pPr>
          </a:lstStyle>
          <a:p>
            <a:fld id="{1695738F-21BE-4DF4-85F7-2BB3376BAEFC}" type="slidenum">
              <a:rPr lang="zh-TW" altLang="en-US" smtClean="0"/>
              <a:pPr/>
              <a:t>‹#›</a:t>
            </a:fld>
            <a:endParaRPr lang="zh-TW" altLang="en-US">
              <a:ea typeface="標楷體" panose="03000509000000000000" pitchFamily="65" charset="-120"/>
            </a:endParaRPr>
          </a:p>
        </p:txBody>
      </p:sp>
    </p:spTree>
    <p:extLst>
      <p:ext uri="{BB962C8B-B14F-4D97-AF65-F5344CB8AC3E}">
        <p14:creationId xmlns:p14="http://schemas.microsoft.com/office/powerpoint/2010/main" val="42428349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54F4D4-9F65-4A3C-90CA-5E6012D4A6B3}"/>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1605989C-B6AE-485E-B909-2AACC4420A0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77F143C1-A721-46A9-8DA4-CBAF6D76DA12}"/>
              </a:ext>
            </a:extLst>
          </p:cNvPr>
          <p:cNvSpPr>
            <a:spLocks noGrp="1"/>
          </p:cNvSpPr>
          <p:nvPr>
            <p:ph type="dt" sz="half" idx="10"/>
          </p:nvPr>
        </p:nvSpPr>
        <p:spPr/>
        <p:txBody>
          <a:bodyPr/>
          <a:lstStyle/>
          <a:p>
            <a:fld id="{B409E770-9C80-4ED4-983E-8A15F27ADAA7}" type="datetimeFigureOut">
              <a:rPr lang="zh-TW" altLang="en-US" smtClean="0"/>
              <a:t>2021/1/26</a:t>
            </a:fld>
            <a:endParaRPr lang="zh-TW" altLang="en-US"/>
          </a:p>
        </p:txBody>
      </p:sp>
      <p:sp>
        <p:nvSpPr>
          <p:cNvPr id="5" name="頁尾版面配置區 4">
            <a:extLst>
              <a:ext uri="{FF2B5EF4-FFF2-40B4-BE49-F238E27FC236}">
                <a16:creationId xmlns:a16="http://schemas.microsoft.com/office/drawing/2014/main" id="{58B4BB70-EBF3-4E15-B0D9-362EC6358D7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D82C94A2-8B8A-4F73-8AB7-9086E29781D9}"/>
              </a:ext>
            </a:extLst>
          </p:cNvPr>
          <p:cNvSpPr>
            <a:spLocks noGrp="1"/>
          </p:cNvSpPr>
          <p:nvPr>
            <p:ph type="sldNum" sz="quarter" idx="12"/>
          </p:nvPr>
        </p:nvSpPr>
        <p:spPr/>
        <p:txBody>
          <a:bodyPr/>
          <a:lstStyle/>
          <a:p>
            <a:fld id="{1695738F-21BE-4DF4-85F7-2BB3376BAEFC}" type="slidenum">
              <a:rPr lang="zh-TW" altLang="en-US" smtClean="0"/>
              <a:t>‹#›</a:t>
            </a:fld>
            <a:endParaRPr lang="zh-TW" altLang="en-US"/>
          </a:p>
        </p:txBody>
      </p:sp>
    </p:spTree>
    <p:extLst>
      <p:ext uri="{BB962C8B-B14F-4D97-AF65-F5344CB8AC3E}">
        <p14:creationId xmlns:p14="http://schemas.microsoft.com/office/powerpoint/2010/main" val="8366950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8CF601E-8FD2-4C96-84ED-A1535992AB70}"/>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75658968-2AA4-47D9-8EE7-25EB5B574F31}"/>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CCB8EEDE-671F-4288-8102-60AF3949E29B}"/>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37C4633D-0EA1-483A-BCAE-A2C11947C28E}"/>
              </a:ext>
            </a:extLst>
          </p:cNvPr>
          <p:cNvSpPr>
            <a:spLocks noGrp="1"/>
          </p:cNvSpPr>
          <p:nvPr>
            <p:ph type="dt" sz="half" idx="10"/>
          </p:nvPr>
        </p:nvSpPr>
        <p:spPr/>
        <p:txBody>
          <a:bodyPr/>
          <a:lstStyle/>
          <a:p>
            <a:fld id="{B409E770-9C80-4ED4-983E-8A15F27ADAA7}" type="datetimeFigureOut">
              <a:rPr lang="zh-TW" altLang="en-US" smtClean="0"/>
              <a:t>2021/1/26</a:t>
            </a:fld>
            <a:endParaRPr lang="zh-TW" altLang="en-US"/>
          </a:p>
        </p:txBody>
      </p:sp>
      <p:sp>
        <p:nvSpPr>
          <p:cNvPr id="6" name="頁尾版面配置區 5">
            <a:extLst>
              <a:ext uri="{FF2B5EF4-FFF2-40B4-BE49-F238E27FC236}">
                <a16:creationId xmlns:a16="http://schemas.microsoft.com/office/drawing/2014/main" id="{B89957CD-A76F-4E8A-A600-37A8E89B3AAD}"/>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60CD5A3C-70C9-4468-805A-3216FAD54C92}"/>
              </a:ext>
            </a:extLst>
          </p:cNvPr>
          <p:cNvSpPr>
            <a:spLocks noGrp="1"/>
          </p:cNvSpPr>
          <p:nvPr>
            <p:ph type="sldNum" sz="quarter" idx="12"/>
          </p:nvPr>
        </p:nvSpPr>
        <p:spPr/>
        <p:txBody>
          <a:bodyPr/>
          <a:lstStyle/>
          <a:p>
            <a:fld id="{1695738F-21BE-4DF4-85F7-2BB3376BAEFC}" type="slidenum">
              <a:rPr lang="zh-TW" altLang="en-US" smtClean="0"/>
              <a:t>‹#›</a:t>
            </a:fld>
            <a:endParaRPr lang="zh-TW" altLang="en-US"/>
          </a:p>
        </p:txBody>
      </p:sp>
    </p:spTree>
    <p:extLst>
      <p:ext uri="{BB962C8B-B14F-4D97-AF65-F5344CB8AC3E}">
        <p14:creationId xmlns:p14="http://schemas.microsoft.com/office/powerpoint/2010/main" val="7692866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98B42B-89C1-47C8-B9DF-997A8833F11A}"/>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A3EC08FF-5F84-4CC0-B4E9-D623E4AC3E4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6A51DA6E-7A90-4DB0-9126-5CC8C4B06012}"/>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BA7D7BB7-2FC8-4BE2-A1A4-57D098F5849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B64E82F7-2C0E-4490-AD80-0749C7C5B1AB}"/>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F137E754-7BA1-463B-94AE-949313510271}"/>
              </a:ext>
            </a:extLst>
          </p:cNvPr>
          <p:cNvSpPr>
            <a:spLocks noGrp="1"/>
          </p:cNvSpPr>
          <p:nvPr>
            <p:ph type="dt" sz="half" idx="10"/>
          </p:nvPr>
        </p:nvSpPr>
        <p:spPr/>
        <p:txBody>
          <a:bodyPr/>
          <a:lstStyle/>
          <a:p>
            <a:fld id="{B409E770-9C80-4ED4-983E-8A15F27ADAA7}" type="datetimeFigureOut">
              <a:rPr lang="zh-TW" altLang="en-US" smtClean="0"/>
              <a:t>2021/1/26</a:t>
            </a:fld>
            <a:endParaRPr lang="zh-TW" altLang="en-US"/>
          </a:p>
        </p:txBody>
      </p:sp>
      <p:sp>
        <p:nvSpPr>
          <p:cNvPr id="8" name="頁尾版面配置區 7">
            <a:extLst>
              <a:ext uri="{FF2B5EF4-FFF2-40B4-BE49-F238E27FC236}">
                <a16:creationId xmlns:a16="http://schemas.microsoft.com/office/drawing/2014/main" id="{8380C5EB-E691-4156-928C-26330C64B11E}"/>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E1A806DF-D52B-4FB1-971E-F10E0C2DF23D}"/>
              </a:ext>
            </a:extLst>
          </p:cNvPr>
          <p:cNvSpPr>
            <a:spLocks noGrp="1"/>
          </p:cNvSpPr>
          <p:nvPr>
            <p:ph type="sldNum" sz="quarter" idx="12"/>
          </p:nvPr>
        </p:nvSpPr>
        <p:spPr/>
        <p:txBody>
          <a:bodyPr/>
          <a:lstStyle/>
          <a:p>
            <a:fld id="{1695738F-21BE-4DF4-85F7-2BB3376BAEFC}" type="slidenum">
              <a:rPr lang="zh-TW" altLang="en-US" smtClean="0"/>
              <a:t>‹#›</a:t>
            </a:fld>
            <a:endParaRPr lang="zh-TW" altLang="en-US"/>
          </a:p>
        </p:txBody>
      </p:sp>
    </p:spTree>
    <p:extLst>
      <p:ext uri="{BB962C8B-B14F-4D97-AF65-F5344CB8AC3E}">
        <p14:creationId xmlns:p14="http://schemas.microsoft.com/office/powerpoint/2010/main" val="17046380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EC3BD06-DAE3-4E3E-B6B3-648191629630}"/>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F7A04491-282C-4221-A3EF-28A94F786F36}"/>
              </a:ext>
            </a:extLst>
          </p:cNvPr>
          <p:cNvSpPr>
            <a:spLocks noGrp="1"/>
          </p:cNvSpPr>
          <p:nvPr>
            <p:ph type="dt" sz="half" idx="10"/>
          </p:nvPr>
        </p:nvSpPr>
        <p:spPr/>
        <p:txBody>
          <a:bodyPr/>
          <a:lstStyle/>
          <a:p>
            <a:fld id="{B409E770-9C80-4ED4-983E-8A15F27ADAA7}" type="datetimeFigureOut">
              <a:rPr lang="zh-TW" altLang="en-US" smtClean="0"/>
              <a:t>2021/1/26</a:t>
            </a:fld>
            <a:endParaRPr lang="zh-TW" altLang="en-US"/>
          </a:p>
        </p:txBody>
      </p:sp>
      <p:sp>
        <p:nvSpPr>
          <p:cNvPr id="4" name="頁尾版面配置區 3">
            <a:extLst>
              <a:ext uri="{FF2B5EF4-FFF2-40B4-BE49-F238E27FC236}">
                <a16:creationId xmlns:a16="http://schemas.microsoft.com/office/drawing/2014/main" id="{271379CA-0E38-42B7-BE99-6B584783AB9E}"/>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F4B7507D-DFF5-48B7-9C10-7C05EE3825B4}"/>
              </a:ext>
            </a:extLst>
          </p:cNvPr>
          <p:cNvSpPr>
            <a:spLocks noGrp="1"/>
          </p:cNvSpPr>
          <p:nvPr>
            <p:ph type="sldNum" sz="quarter" idx="12"/>
          </p:nvPr>
        </p:nvSpPr>
        <p:spPr/>
        <p:txBody>
          <a:bodyPr/>
          <a:lstStyle/>
          <a:p>
            <a:fld id="{1695738F-21BE-4DF4-85F7-2BB3376BAEFC}" type="slidenum">
              <a:rPr lang="zh-TW" altLang="en-US" smtClean="0"/>
              <a:t>‹#›</a:t>
            </a:fld>
            <a:endParaRPr lang="zh-TW" altLang="en-US"/>
          </a:p>
        </p:txBody>
      </p:sp>
    </p:spTree>
    <p:extLst>
      <p:ext uri="{BB962C8B-B14F-4D97-AF65-F5344CB8AC3E}">
        <p14:creationId xmlns:p14="http://schemas.microsoft.com/office/powerpoint/2010/main" val="19537257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2B1D52D3-FF08-4F05-AE9A-D07E40E7AE69}"/>
              </a:ext>
            </a:extLst>
          </p:cNvPr>
          <p:cNvSpPr>
            <a:spLocks noGrp="1"/>
          </p:cNvSpPr>
          <p:nvPr>
            <p:ph type="dt" sz="half" idx="10"/>
          </p:nvPr>
        </p:nvSpPr>
        <p:spPr/>
        <p:txBody>
          <a:bodyPr/>
          <a:lstStyle/>
          <a:p>
            <a:fld id="{B409E770-9C80-4ED4-983E-8A15F27ADAA7}" type="datetimeFigureOut">
              <a:rPr lang="zh-TW" altLang="en-US" smtClean="0"/>
              <a:t>2021/1/26</a:t>
            </a:fld>
            <a:endParaRPr lang="zh-TW" altLang="en-US"/>
          </a:p>
        </p:txBody>
      </p:sp>
      <p:sp>
        <p:nvSpPr>
          <p:cNvPr id="3" name="頁尾版面配置區 2">
            <a:extLst>
              <a:ext uri="{FF2B5EF4-FFF2-40B4-BE49-F238E27FC236}">
                <a16:creationId xmlns:a16="http://schemas.microsoft.com/office/drawing/2014/main" id="{E2090C79-D9CF-4D2A-85D5-EBCD12C0C9AB}"/>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92EFD9B8-B153-43FE-B1B0-FDFA19393B45}"/>
              </a:ext>
            </a:extLst>
          </p:cNvPr>
          <p:cNvSpPr>
            <a:spLocks noGrp="1"/>
          </p:cNvSpPr>
          <p:nvPr>
            <p:ph type="sldNum" sz="quarter" idx="12"/>
          </p:nvPr>
        </p:nvSpPr>
        <p:spPr/>
        <p:txBody>
          <a:bodyPr/>
          <a:lstStyle/>
          <a:p>
            <a:fld id="{1695738F-21BE-4DF4-85F7-2BB3376BAEFC}" type="slidenum">
              <a:rPr lang="zh-TW" altLang="en-US" smtClean="0"/>
              <a:t>‹#›</a:t>
            </a:fld>
            <a:endParaRPr lang="zh-TW" altLang="en-US"/>
          </a:p>
        </p:txBody>
      </p:sp>
    </p:spTree>
    <p:extLst>
      <p:ext uri="{BB962C8B-B14F-4D97-AF65-F5344CB8AC3E}">
        <p14:creationId xmlns:p14="http://schemas.microsoft.com/office/powerpoint/2010/main" val="33263777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717D1F5-4F45-434A-9699-03158D52967B}"/>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A64CFA46-9726-4680-8164-F1258B007AC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A88E2037-0EFD-4F48-A629-1F43D084A2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29FA2B0E-7569-4EE9-B847-3B3B3E00C7EE}"/>
              </a:ext>
            </a:extLst>
          </p:cNvPr>
          <p:cNvSpPr>
            <a:spLocks noGrp="1"/>
          </p:cNvSpPr>
          <p:nvPr>
            <p:ph type="dt" sz="half" idx="10"/>
          </p:nvPr>
        </p:nvSpPr>
        <p:spPr/>
        <p:txBody>
          <a:bodyPr/>
          <a:lstStyle/>
          <a:p>
            <a:fld id="{B409E770-9C80-4ED4-983E-8A15F27ADAA7}" type="datetimeFigureOut">
              <a:rPr lang="zh-TW" altLang="en-US" smtClean="0"/>
              <a:t>2021/1/26</a:t>
            </a:fld>
            <a:endParaRPr lang="zh-TW" altLang="en-US"/>
          </a:p>
        </p:txBody>
      </p:sp>
      <p:sp>
        <p:nvSpPr>
          <p:cNvPr id="6" name="頁尾版面配置區 5">
            <a:extLst>
              <a:ext uri="{FF2B5EF4-FFF2-40B4-BE49-F238E27FC236}">
                <a16:creationId xmlns:a16="http://schemas.microsoft.com/office/drawing/2014/main" id="{A2A74A09-DF0D-4516-9B6E-A1BA4FA50999}"/>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8AE58F68-574D-4991-AB67-979AE7EC2E00}"/>
              </a:ext>
            </a:extLst>
          </p:cNvPr>
          <p:cNvSpPr>
            <a:spLocks noGrp="1"/>
          </p:cNvSpPr>
          <p:nvPr>
            <p:ph type="sldNum" sz="quarter" idx="12"/>
          </p:nvPr>
        </p:nvSpPr>
        <p:spPr/>
        <p:txBody>
          <a:bodyPr/>
          <a:lstStyle/>
          <a:p>
            <a:fld id="{1695738F-21BE-4DF4-85F7-2BB3376BAEFC}" type="slidenum">
              <a:rPr lang="zh-TW" altLang="en-US" smtClean="0"/>
              <a:t>‹#›</a:t>
            </a:fld>
            <a:endParaRPr lang="zh-TW" altLang="en-US"/>
          </a:p>
        </p:txBody>
      </p:sp>
    </p:spTree>
    <p:extLst>
      <p:ext uri="{BB962C8B-B14F-4D97-AF65-F5344CB8AC3E}">
        <p14:creationId xmlns:p14="http://schemas.microsoft.com/office/powerpoint/2010/main" val="9267135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64A608B-EB2D-43E3-806D-315F7F6C6E11}"/>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C17BB9D9-6CF8-47E2-9613-CFC9E5CFB40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8DAE305B-85A6-42D3-BDFE-E012EAD5A9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0333906F-B54E-487C-A495-4EE49A687E1E}"/>
              </a:ext>
            </a:extLst>
          </p:cNvPr>
          <p:cNvSpPr>
            <a:spLocks noGrp="1"/>
          </p:cNvSpPr>
          <p:nvPr>
            <p:ph type="dt" sz="half" idx="10"/>
          </p:nvPr>
        </p:nvSpPr>
        <p:spPr/>
        <p:txBody>
          <a:bodyPr/>
          <a:lstStyle/>
          <a:p>
            <a:fld id="{B409E770-9C80-4ED4-983E-8A15F27ADAA7}" type="datetimeFigureOut">
              <a:rPr lang="zh-TW" altLang="en-US" smtClean="0"/>
              <a:t>2021/1/26</a:t>
            </a:fld>
            <a:endParaRPr lang="zh-TW" altLang="en-US"/>
          </a:p>
        </p:txBody>
      </p:sp>
      <p:sp>
        <p:nvSpPr>
          <p:cNvPr id="6" name="頁尾版面配置區 5">
            <a:extLst>
              <a:ext uri="{FF2B5EF4-FFF2-40B4-BE49-F238E27FC236}">
                <a16:creationId xmlns:a16="http://schemas.microsoft.com/office/drawing/2014/main" id="{0AFDA8D6-DFC2-44AD-AB91-CCEF4579961C}"/>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9F7815D7-84B9-4D45-8E5A-58AFEF382EA5}"/>
              </a:ext>
            </a:extLst>
          </p:cNvPr>
          <p:cNvSpPr>
            <a:spLocks noGrp="1"/>
          </p:cNvSpPr>
          <p:nvPr>
            <p:ph type="sldNum" sz="quarter" idx="12"/>
          </p:nvPr>
        </p:nvSpPr>
        <p:spPr/>
        <p:txBody>
          <a:bodyPr/>
          <a:lstStyle/>
          <a:p>
            <a:fld id="{1695738F-21BE-4DF4-85F7-2BB3376BAEFC}" type="slidenum">
              <a:rPr lang="zh-TW" altLang="en-US" smtClean="0"/>
              <a:t>‹#›</a:t>
            </a:fld>
            <a:endParaRPr lang="zh-TW" altLang="en-US"/>
          </a:p>
        </p:txBody>
      </p:sp>
    </p:spTree>
    <p:extLst>
      <p:ext uri="{BB962C8B-B14F-4D97-AF65-F5344CB8AC3E}">
        <p14:creationId xmlns:p14="http://schemas.microsoft.com/office/powerpoint/2010/main" val="28608178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2763308-F782-4AC8-A223-E354635B38F9}"/>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173B59CF-1B41-495A-93CF-6101A5CE7C02}"/>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09B80BB1-A83C-4652-BAC8-2B3F681B2890}"/>
              </a:ext>
            </a:extLst>
          </p:cNvPr>
          <p:cNvSpPr>
            <a:spLocks noGrp="1"/>
          </p:cNvSpPr>
          <p:nvPr>
            <p:ph type="dt" sz="half" idx="10"/>
          </p:nvPr>
        </p:nvSpPr>
        <p:spPr/>
        <p:txBody>
          <a:bodyPr/>
          <a:lstStyle/>
          <a:p>
            <a:fld id="{B409E770-9C80-4ED4-983E-8A15F27ADAA7}" type="datetimeFigureOut">
              <a:rPr lang="zh-TW" altLang="en-US" smtClean="0"/>
              <a:t>2021/1/26</a:t>
            </a:fld>
            <a:endParaRPr lang="zh-TW" altLang="en-US"/>
          </a:p>
        </p:txBody>
      </p:sp>
      <p:sp>
        <p:nvSpPr>
          <p:cNvPr id="5" name="頁尾版面配置區 4">
            <a:extLst>
              <a:ext uri="{FF2B5EF4-FFF2-40B4-BE49-F238E27FC236}">
                <a16:creationId xmlns:a16="http://schemas.microsoft.com/office/drawing/2014/main" id="{1707E1EE-E900-4925-B1A8-EE7DD6AF463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791F960C-8C3A-496F-B3A0-26297D927F1A}"/>
              </a:ext>
            </a:extLst>
          </p:cNvPr>
          <p:cNvSpPr>
            <a:spLocks noGrp="1"/>
          </p:cNvSpPr>
          <p:nvPr>
            <p:ph type="sldNum" sz="quarter" idx="12"/>
          </p:nvPr>
        </p:nvSpPr>
        <p:spPr/>
        <p:txBody>
          <a:bodyPr/>
          <a:lstStyle/>
          <a:p>
            <a:fld id="{1695738F-21BE-4DF4-85F7-2BB3376BAEFC}" type="slidenum">
              <a:rPr lang="zh-TW" altLang="en-US" smtClean="0"/>
              <a:t>‹#›</a:t>
            </a:fld>
            <a:endParaRPr lang="zh-TW" altLang="en-US"/>
          </a:p>
        </p:txBody>
      </p:sp>
    </p:spTree>
    <p:extLst>
      <p:ext uri="{BB962C8B-B14F-4D97-AF65-F5344CB8AC3E}">
        <p14:creationId xmlns:p14="http://schemas.microsoft.com/office/powerpoint/2010/main" val="4901393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A0B6D235-6449-4393-9C71-2079D2809C50}"/>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7D2B0F98-2672-4DE5-827E-1F7351B7F942}"/>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443C27C8-C683-4B57-A443-2B79354B9887}"/>
              </a:ext>
            </a:extLst>
          </p:cNvPr>
          <p:cNvSpPr>
            <a:spLocks noGrp="1"/>
          </p:cNvSpPr>
          <p:nvPr>
            <p:ph type="dt" sz="half" idx="10"/>
          </p:nvPr>
        </p:nvSpPr>
        <p:spPr/>
        <p:txBody>
          <a:bodyPr/>
          <a:lstStyle/>
          <a:p>
            <a:fld id="{B409E770-9C80-4ED4-983E-8A15F27ADAA7}" type="datetimeFigureOut">
              <a:rPr lang="zh-TW" altLang="en-US" smtClean="0"/>
              <a:t>2021/1/26</a:t>
            </a:fld>
            <a:endParaRPr lang="zh-TW" altLang="en-US"/>
          </a:p>
        </p:txBody>
      </p:sp>
      <p:sp>
        <p:nvSpPr>
          <p:cNvPr id="5" name="頁尾版面配置區 4">
            <a:extLst>
              <a:ext uri="{FF2B5EF4-FFF2-40B4-BE49-F238E27FC236}">
                <a16:creationId xmlns:a16="http://schemas.microsoft.com/office/drawing/2014/main" id="{8424A34C-43DD-4DF5-84E9-8562F9B9B40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EF67B5B2-0E14-4C16-8BB2-353A2AA0BADE}"/>
              </a:ext>
            </a:extLst>
          </p:cNvPr>
          <p:cNvSpPr>
            <a:spLocks noGrp="1"/>
          </p:cNvSpPr>
          <p:nvPr>
            <p:ph type="sldNum" sz="quarter" idx="12"/>
          </p:nvPr>
        </p:nvSpPr>
        <p:spPr/>
        <p:txBody>
          <a:bodyPr/>
          <a:lstStyle/>
          <a:p>
            <a:fld id="{1695738F-21BE-4DF4-85F7-2BB3376BAEFC}" type="slidenum">
              <a:rPr lang="zh-TW" altLang="en-US" smtClean="0"/>
              <a:t>‹#›</a:t>
            </a:fld>
            <a:endParaRPr lang="zh-TW" altLang="en-US"/>
          </a:p>
        </p:txBody>
      </p:sp>
    </p:spTree>
    <p:extLst>
      <p:ext uri="{BB962C8B-B14F-4D97-AF65-F5344CB8AC3E}">
        <p14:creationId xmlns:p14="http://schemas.microsoft.com/office/powerpoint/2010/main" val="14301127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7747F35C-0173-40E0-88F5-5C85ABA0CC7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B518B1AB-6AFD-4952-BDFB-11797FAB997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58BCFE33-872D-4C90-867C-8B41F7A9085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09E770-9C80-4ED4-983E-8A15F27ADAA7}" type="datetimeFigureOut">
              <a:rPr lang="zh-TW" altLang="en-US" smtClean="0"/>
              <a:t>2021/1/26</a:t>
            </a:fld>
            <a:endParaRPr lang="zh-TW" altLang="en-US"/>
          </a:p>
        </p:txBody>
      </p:sp>
      <p:sp>
        <p:nvSpPr>
          <p:cNvPr id="5" name="頁尾版面配置區 4">
            <a:extLst>
              <a:ext uri="{FF2B5EF4-FFF2-40B4-BE49-F238E27FC236}">
                <a16:creationId xmlns:a16="http://schemas.microsoft.com/office/drawing/2014/main" id="{010F5102-CD48-4F14-B5B2-F49CC9C34FC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3021C4BF-8ADC-4392-A585-48B57FAFAD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695738F-21BE-4DF4-85F7-2BB3376BAEFC}" type="slidenum">
              <a:rPr lang="zh-TW" altLang="en-US" smtClean="0"/>
              <a:t>‹#›</a:t>
            </a:fld>
            <a:endParaRPr lang="zh-TW" altLang="en-US"/>
          </a:p>
        </p:txBody>
      </p:sp>
    </p:spTree>
    <p:extLst>
      <p:ext uri="{BB962C8B-B14F-4D97-AF65-F5344CB8AC3E}">
        <p14:creationId xmlns:p14="http://schemas.microsoft.com/office/powerpoint/2010/main" val="29408209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56684BF-5890-4FC5-B196-08274D50E2DE}"/>
              </a:ext>
            </a:extLst>
          </p:cNvPr>
          <p:cNvSpPr>
            <a:spLocks noGrp="1"/>
          </p:cNvSpPr>
          <p:nvPr>
            <p:ph type="ctrTitle"/>
          </p:nvPr>
        </p:nvSpPr>
        <p:spPr>
          <a:xfrm>
            <a:off x="1181493" y="1604685"/>
            <a:ext cx="9829014" cy="1348065"/>
          </a:xfrm>
        </p:spPr>
        <p:txBody>
          <a:bodyPr anchor="ctr">
            <a:normAutofit/>
          </a:bodyPr>
          <a:lstStyle/>
          <a:p>
            <a:r>
              <a:rPr lang="en-US" altLang="zh-TW" sz="4400" dirty="0">
                <a:latin typeface="Times New Roman" panose="02020603050405020304" pitchFamily="18" charset="0"/>
                <a:cs typeface="Times New Roman" panose="02020603050405020304" pitchFamily="18" charset="0"/>
              </a:rPr>
              <a:t>On the Complexity of Sequence-to-graph Alignment</a:t>
            </a:r>
            <a:endParaRPr lang="zh-TW" altLang="en-US" sz="44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25B088C0-E697-4363-A21A-D66DFFC167BB}"/>
              </a:ext>
            </a:extLst>
          </p:cNvPr>
          <p:cNvSpPr>
            <a:spLocks noGrp="1"/>
          </p:cNvSpPr>
          <p:nvPr>
            <p:ph type="subTitle" idx="1"/>
          </p:nvPr>
        </p:nvSpPr>
        <p:spPr>
          <a:xfrm>
            <a:off x="609600" y="3656415"/>
            <a:ext cx="11163299" cy="1655762"/>
          </a:xfrm>
        </p:spPr>
        <p:txBody>
          <a:bodyPr>
            <a:noAutofit/>
          </a:bodyPr>
          <a:lstStyle/>
          <a:p>
            <a:r>
              <a:rPr lang="pt-BR" altLang="zh-TW" dirty="0">
                <a:latin typeface="Times New Roman" panose="02020603050405020304" pitchFamily="18" charset="0"/>
                <a:cs typeface="Times New Roman" panose="02020603050405020304" pitchFamily="18" charset="0"/>
              </a:rPr>
              <a:t>Chirag Jain, Haowen Zhang, Yu Gao, and Srinivas Aluru</a:t>
            </a:r>
          </a:p>
          <a:p>
            <a:endParaRPr lang="pt-BR"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Journal of Computational Biology</a:t>
            </a:r>
          </a:p>
          <a:p>
            <a:r>
              <a:rPr lang="en-US" altLang="zh-TW" dirty="0">
                <a:latin typeface="Times New Roman" panose="02020603050405020304" pitchFamily="18" charset="0"/>
                <a:cs typeface="Times New Roman" panose="02020603050405020304" pitchFamily="18" charset="0"/>
              </a:rPr>
              <a:t>Volume 27, Number 0, 2020, Pages 1-15</a:t>
            </a:r>
          </a:p>
        </p:txBody>
      </p:sp>
      <p:sp>
        <p:nvSpPr>
          <p:cNvPr id="4" name="文字方塊 3">
            <a:extLst>
              <a:ext uri="{FF2B5EF4-FFF2-40B4-BE49-F238E27FC236}">
                <a16:creationId xmlns:a16="http://schemas.microsoft.com/office/drawing/2014/main" id="{EAEC4D25-9ABF-4EA3-BD8D-ACD84E94CF46}"/>
              </a:ext>
            </a:extLst>
          </p:cNvPr>
          <p:cNvSpPr txBox="1"/>
          <p:nvPr/>
        </p:nvSpPr>
        <p:spPr>
          <a:xfrm>
            <a:off x="8942664" y="5933983"/>
            <a:ext cx="3249336" cy="646331"/>
          </a:xfrm>
          <a:prstGeom prst="rect">
            <a:avLst/>
          </a:prstGeom>
          <a:noFill/>
        </p:spPr>
        <p:txBody>
          <a:bodyPr wrap="square" rtlCol="0">
            <a:spAutoFit/>
          </a:bodyPr>
          <a:lstStyle/>
          <a:p>
            <a:pPr algn="r"/>
            <a:r>
              <a:rPr lang="en-US" altLang="zh-TW" dirty="0">
                <a:latin typeface="Times New Roman" panose="02020603050405020304" pitchFamily="18" charset="0"/>
                <a:cs typeface="Times New Roman" panose="02020603050405020304" pitchFamily="18" charset="0"/>
              </a:rPr>
              <a:t>Presenter</a:t>
            </a:r>
            <a:r>
              <a:rPr lang="zh-TW" altLang="en-US" dirty="0">
                <a:latin typeface="Times New Roman" panose="02020603050405020304" pitchFamily="18" charset="0"/>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Yu-Cheng Chang</a:t>
            </a:r>
          </a:p>
          <a:p>
            <a:pPr algn="r"/>
            <a:r>
              <a:rPr lang="en-US" altLang="zh-TW" dirty="0">
                <a:latin typeface="Times New Roman" panose="02020603050405020304" pitchFamily="18" charset="0"/>
                <a:cs typeface="Times New Roman" panose="02020603050405020304" pitchFamily="18" charset="0"/>
              </a:rPr>
              <a:t>Date</a:t>
            </a:r>
            <a:r>
              <a:rPr lang="zh-TW" altLang="en-US" dirty="0">
                <a:latin typeface="Times New Roman" panose="02020603050405020304" pitchFamily="18" charset="0"/>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Jan. 26, 2021</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389056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486405-10E9-4237-AE0C-C311986846D7}"/>
              </a:ext>
            </a:extLst>
          </p:cNvPr>
          <p:cNvSpPr>
            <a:spLocks noGrp="1"/>
          </p:cNvSpPr>
          <p:nvPr>
            <p:ph type="title"/>
          </p:nvPr>
        </p:nvSpPr>
        <p:spPr/>
        <p:txBody>
          <a:bodyPr>
            <a:normAutofit/>
          </a:bodyPr>
          <a:lstStyle/>
          <a:p>
            <a:r>
              <a:rPr lang="en-US" altLang="zh-TW" sz="4000" dirty="0">
                <a:latin typeface="Times New Roman" panose="02020603050405020304" pitchFamily="18" charset="0"/>
                <a:cs typeface="Times New Roman" panose="02020603050405020304" pitchFamily="18" charset="0"/>
              </a:rPr>
              <a:t>Abstract (1/2)</a:t>
            </a:r>
            <a:endParaRPr lang="zh-TW" altLang="en-US" sz="4000"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9175771A-477F-4B4A-9278-972CA4C51B49}"/>
              </a:ext>
            </a:extLst>
          </p:cNvPr>
          <p:cNvSpPr>
            <a:spLocks noGrp="1"/>
          </p:cNvSpPr>
          <p:nvPr>
            <p:ph idx="1"/>
          </p:nvPr>
        </p:nvSpPr>
        <p:spPr>
          <a:xfrm>
            <a:off x="838200" y="1435099"/>
            <a:ext cx="10515600" cy="5337175"/>
          </a:xfrm>
        </p:spPr>
        <p:txBody>
          <a:bodyPr>
            <a:noAutofit/>
          </a:bodyPr>
          <a:lstStyle/>
          <a:p>
            <a:pPr marL="0" indent="0" algn="just">
              <a:lnSpc>
                <a:spcPts val="3500"/>
              </a:lnSpc>
              <a:spcBef>
                <a:spcPts val="1800"/>
              </a:spcBef>
              <a:buNone/>
            </a:pPr>
            <a:r>
              <a:rPr lang="en-US" altLang="zh-TW" sz="2400" dirty="0">
                <a:latin typeface="Times New Roman" panose="02020603050405020304" pitchFamily="18" charset="0"/>
                <a:cs typeface="Times New Roman" panose="02020603050405020304" pitchFamily="18" charset="0"/>
              </a:rPr>
              <a:t>Availability of extensive genetic data across multiple individuals and populations is driving the growing importance of graph-based reference representations. Aligning sequences to graphs is a fundamental operation on several types of sequence graphs (variation graphs, assembly graphs, pan-genomes, etc.) and their biological applications. Although research on sequence-to-graph alignments is nascent, it can draw from related work on pattern matching in hypertext. In this article, we study sequence-to-graph alignment problems under Hamming and edit distance models, and linear and affine gap penalty functions, for multiple variants of the problem that allow changes in query alone, graph alone, or in both. </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175806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486405-10E9-4237-AE0C-C311986846D7}"/>
              </a:ext>
            </a:extLst>
          </p:cNvPr>
          <p:cNvSpPr>
            <a:spLocks noGrp="1"/>
          </p:cNvSpPr>
          <p:nvPr>
            <p:ph type="title"/>
          </p:nvPr>
        </p:nvSpPr>
        <p:spPr/>
        <p:txBody>
          <a:bodyPr>
            <a:normAutofit/>
          </a:bodyPr>
          <a:lstStyle/>
          <a:p>
            <a:r>
              <a:rPr lang="en-US" altLang="zh-TW" sz="4000" dirty="0">
                <a:latin typeface="Times New Roman" panose="02020603050405020304" pitchFamily="18" charset="0"/>
                <a:cs typeface="Times New Roman" panose="02020603050405020304" pitchFamily="18" charset="0"/>
              </a:rPr>
              <a:t>Abstract (2/2)</a:t>
            </a:r>
            <a:endParaRPr lang="zh-TW" altLang="en-US" sz="4000"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9175771A-477F-4B4A-9278-972CA4C51B49}"/>
              </a:ext>
            </a:extLst>
          </p:cNvPr>
          <p:cNvSpPr>
            <a:spLocks noGrp="1"/>
          </p:cNvSpPr>
          <p:nvPr>
            <p:ph idx="1"/>
          </p:nvPr>
        </p:nvSpPr>
        <p:spPr>
          <a:xfrm>
            <a:off x="838199" y="1435099"/>
            <a:ext cx="10614891" cy="5337175"/>
          </a:xfrm>
        </p:spPr>
        <p:txBody>
          <a:bodyPr>
            <a:noAutofit/>
          </a:bodyPr>
          <a:lstStyle/>
          <a:p>
            <a:pPr marL="0" indent="0" algn="just">
              <a:lnSpc>
                <a:spcPts val="3500"/>
              </a:lnSpc>
              <a:spcBef>
                <a:spcPts val="1800"/>
              </a:spcBef>
              <a:buNone/>
            </a:pPr>
            <a:r>
              <a:rPr lang="en-US" altLang="zh-TW" sz="2400" dirty="0">
                <a:latin typeface="Times New Roman" panose="02020603050405020304" pitchFamily="18" charset="0"/>
                <a:cs typeface="Times New Roman" panose="02020603050405020304" pitchFamily="18" charset="0"/>
              </a:rPr>
              <a:t>We prove that when changes are permitted in graphs either standalone or in conjunction with changes in the query, the sequence-to-graph alignment problem is NP-complete under both Hamming and edit distance models for alphabets of size </a:t>
            </a: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 </a:t>
            </a:r>
            <a:r>
              <a:rPr lang="en-US" altLang="zh-TW" sz="2400" dirty="0">
                <a:latin typeface="Times New Roman" panose="02020603050405020304" pitchFamily="18" charset="0"/>
                <a:cs typeface="Times New Roman" panose="02020603050405020304" pitchFamily="18" charset="0"/>
              </a:rPr>
              <a:t>2. For the case where only changes to the sequence are permitted, we present an O(|</a:t>
            </a:r>
            <a:r>
              <a:rPr lang="en-US" altLang="zh-TW" sz="2400" i="1" dirty="0">
                <a:latin typeface="Times New Roman" panose="02020603050405020304" pitchFamily="18" charset="0"/>
                <a:cs typeface="Times New Roman" panose="02020603050405020304" pitchFamily="18" charset="0"/>
              </a:rPr>
              <a:t>V</a:t>
            </a:r>
            <a:r>
              <a:rPr lang="en-US" altLang="zh-TW" sz="2400" dirty="0">
                <a:latin typeface="Times New Roman" panose="02020603050405020304" pitchFamily="18" charset="0"/>
                <a:cs typeface="Times New Roman" panose="02020603050405020304" pitchFamily="18" charset="0"/>
              </a:rPr>
              <a:t>| + </a:t>
            </a:r>
            <a:r>
              <a:rPr lang="en-US" altLang="zh-TW" sz="2400" i="1" dirty="0" err="1">
                <a:latin typeface="Times New Roman" panose="02020603050405020304" pitchFamily="18" charset="0"/>
                <a:cs typeface="Times New Roman" panose="02020603050405020304" pitchFamily="18" charset="0"/>
              </a:rPr>
              <a:t>m</a:t>
            </a:r>
            <a:r>
              <a:rPr lang="en-US" altLang="zh-TW" sz="2400" dirty="0" err="1">
                <a:latin typeface="Times New Roman" panose="02020603050405020304" pitchFamily="18" charset="0"/>
                <a:cs typeface="Times New Roman" panose="02020603050405020304" pitchFamily="18" charset="0"/>
              </a:rPr>
              <a:t>|</a:t>
            </a:r>
            <a:r>
              <a:rPr lang="en-US" altLang="zh-TW" sz="2400" i="1" dirty="0" err="1">
                <a:latin typeface="Times New Roman" panose="02020603050405020304" pitchFamily="18" charset="0"/>
                <a:cs typeface="Times New Roman" panose="02020603050405020304" pitchFamily="18" charset="0"/>
              </a:rPr>
              <a:t>E</a:t>
            </a:r>
            <a:r>
              <a:rPr lang="en-US" altLang="zh-TW" sz="2400" dirty="0">
                <a:latin typeface="Times New Roman" panose="02020603050405020304" pitchFamily="18" charset="0"/>
                <a:cs typeface="Times New Roman" panose="02020603050405020304" pitchFamily="18" charset="0"/>
              </a:rPr>
              <a:t>|) time algorithm, where </a:t>
            </a:r>
            <a:r>
              <a:rPr lang="en-US" altLang="zh-TW" sz="2400" i="1" dirty="0">
                <a:latin typeface="Times New Roman" panose="02020603050405020304" pitchFamily="18" charset="0"/>
                <a:cs typeface="Times New Roman" panose="02020603050405020304" pitchFamily="18" charset="0"/>
              </a:rPr>
              <a:t>m</a:t>
            </a:r>
            <a:r>
              <a:rPr lang="en-US" altLang="zh-TW" sz="2400" dirty="0">
                <a:latin typeface="Times New Roman" panose="02020603050405020304" pitchFamily="18" charset="0"/>
                <a:cs typeface="Times New Roman" panose="02020603050405020304" pitchFamily="18" charset="0"/>
              </a:rPr>
              <a:t> denotes the query size, and </a:t>
            </a:r>
            <a:r>
              <a:rPr lang="en-US" altLang="zh-TW" sz="2400" i="1" dirty="0">
                <a:latin typeface="Times New Roman" panose="02020603050405020304" pitchFamily="18" charset="0"/>
                <a:cs typeface="Times New Roman" panose="02020603050405020304" pitchFamily="18" charset="0"/>
              </a:rPr>
              <a:t>V</a:t>
            </a:r>
            <a:r>
              <a:rPr lang="en-US" altLang="zh-TW" sz="2400" dirty="0">
                <a:latin typeface="Times New Roman" panose="02020603050405020304" pitchFamily="18" charset="0"/>
                <a:cs typeface="Times New Roman" panose="02020603050405020304" pitchFamily="18" charset="0"/>
              </a:rPr>
              <a:t> and </a:t>
            </a:r>
            <a:r>
              <a:rPr lang="en-US" altLang="zh-TW" sz="2400" i="1" dirty="0">
                <a:latin typeface="Times New Roman" panose="02020603050405020304" pitchFamily="18" charset="0"/>
                <a:cs typeface="Times New Roman" panose="02020603050405020304" pitchFamily="18" charset="0"/>
              </a:rPr>
              <a:t>E</a:t>
            </a:r>
            <a:r>
              <a:rPr lang="en-US" altLang="zh-TW" sz="2400" dirty="0">
                <a:latin typeface="Times New Roman" panose="02020603050405020304" pitchFamily="18" charset="0"/>
                <a:cs typeface="Times New Roman" panose="02020603050405020304" pitchFamily="18" charset="0"/>
              </a:rPr>
              <a:t> denote the vertex and edge sets of the graph, respectively. Our result is generalizable to both linear and affine gap penalty functions, and improves upon the runtime complexity of existing algorithms.</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433450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486405-10E9-4237-AE0C-C311986846D7}"/>
              </a:ext>
            </a:extLst>
          </p:cNvPr>
          <p:cNvSpPr>
            <a:spLocks noGrp="1"/>
          </p:cNvSpPr>
          <p:nvPr>
            <p:ph type="title"/>
          </p:nvPr>
        </p:nvSpPr>
        <p:spPr/>
        <p:txBody>
          <a:bodyPr>
            <a:normAutofit/>
          </a:bodyPr>
          <a:lstStyle/>
          <a:p>
            <a:r>
              <a:rPr lang="en-US" altLang="zh-TW" sz="4000" dirty="0">
                <a:latin typeface="Times New Roman" panose="02020603050405020304" pitchFamily="18" charset="0"/>
                <a:cs typeface="Times New Roman" panose="02020603050405020304" pitchFamily="18" charset="0"/>
              </a:rPr>
              <a:t>Sequence-to-graph alignment</a:t>
            </a:r>
            <a:endParaRPr lang="zh-TW" altLang="en-US" sz="4000"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9175771A-477F-4B4A-9278-972CA4C51B49}"/>
              </a:ext>
            </a:extLst>
          </p:cNvPr>
          <p:cNvSpPr>
            <a:spLocks noGrp="1"/>
          </p:cNvSpPr>
          <p:nvPr>
            <p:ph idx="1"/>
          </p:nvPr>
        </p:nvSpPr>
        <p:spPr>
          <a:xfrm>
            <a:off x="3138056" y="5051772"/>
            <a:ext cx="2071256" cy="537445"/>
          </a:xfrm>
        </p:spPr>
        <p:txBody>
          <a:bodyPr>
            <a:noAutofit/>
          </a:bodyPr>
          <a:lstStyle/>
          <a:p>
            <a:pPr marL="0" indent="0" algn="just">
              <a:lnSpc>
                <a:spcPts val="3500"/>
              </a:lnSpc>
              <a:spcBef>
                <a:spcPts val="1800"/>
              </a:spcBef>
              <a:buNone/>
            </a:pPr>
            <a:r>
              <a:rPr lang="en-US" altLang="zh-TW" sz="2400" dirty="0">
                <a:latin typeface="Times New Roman" panose="02020603050405020304" pitchFamily="18" charset="0"/>
                <a:cs typeface="Times New Roman" panose="02020603050405020304" pitchFamily="18" charset="0"/>
              </a:rPr>
              <a:t>2 substitutions</a:t>
            </a:r>
            <a:endParaRPr lang="zh-TW" altLang="en-US" sz="2400" dirty="0">
              <a:latin typeface="Times New Roman" panose="02020603050405020304" pitchFamily="18" charset="0"/>
              <a:cs typeface="Times New Roman" panose="02020603050405020304" pitchFamily="18" charset="0"/>
            </a:endParaRPr>
          </a:p>
        </p:txBody>
      </p:sp>
      <p:pic>
        <p:nvPicPr>
          <p:cNvPr id="5" name="圖片 4">
            <a:extLst>
              <a:ext uri="{FF2B5EF4-FFF2-40B4-BE49-F238E27FC236}">
                <a16:creationId xmlns:a16="http://schemas.microsoft.com/office/drawing/2014/main" id="{0F13455A-F644-4C20-AFF8-CA0EA24F46ED}"/>
              </a:ext>
            </a:extLst>
          </p:cNvPr>
          <p:cNvPicPr>
            <a:picLocks noChangeAspect="1"/>
          </p:cNvPicPr>
          <p:nvPr/>
        </p:nvPicPr>
        <p:blipFill>
          <a:blip r:embed="rId3"/>
          <a:stretch>
            <a:fillRect/>
          </a:stretch>
        </p:blipFill>
        <p:spPr>
          <a:xfrm>
            <a:off x="838200" y="2894288"/>
            <a:ext cx="9211961" cy="2095792"/>
          </a:xfrm>
          <a:prstGeom prst="rect">
            <a:avLst/>
          </a:prstGeom>
        </p:spPr>
      </p:pic>
      <p:sp>
        <p:nvSpPr>
          <p:cNvPr id="6" name="內容版面配置區 2">
            <a:extLst>
              <a:ext uri="{FF2B5EF4-FFF2-40B4-BE49-F238E27FC236}">
                <a16:creationId xmlns:a16="http://schemas.microsoft.com/office/drawing/2014/main" id="{3E53924B-EEC9-40E2-A327-0B084C55816A}"/>
              </a:ext>
            </a:extLst>
          </p:cNvPr>
          <p:cNvSpPr txBox="1">
            <a:spLocks/>
          </p:cNvSpPr>
          <p:nvPr/>
        </p:nvSpPr>
        <p:spPr>
          <a:xfrm>
            <a:off x="6255329" y="5082363"/>
            <a:ext cx="2071256" cy="53744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ts val="3500"/>
              </a:lnSpc>
              <a:spcBef>
                <a:spcPts val="1800"/>
              </a:spcBef>
              <a:buFont typeface="Arial" panose="020B0604020202020204" pitchFamily="34" charset="0"/>
              <a:buNone/>
            </a:pPr>
            <a:r>
              <a:rPr lang="en-US" altLang="zh-TW" sz="2400">
                <a:latin typeface="Times New Roman" panose="02020603050405020304" pitchFamily="18" charset="0"/>
                <a:cs typeface="Times New Roman" panose="02020603050405020304" pitchFamily="18" charset="0"/>
              </a:rPr>
              <a:t>2 substitutions</a:t>
            </a:r>
            <a:endParaRPr lang="zh-TW" altLang="en-US" sz="2400" dirty="0">
              <a:latin typeface="Times New Roman" panose="02020603050405020304" pitchFamily="18" charset="0"/>
              <a:cs typeface="Times New Roman" panose="02020603050405020304" pitchFamily="18" charset="0"/>
            </a:endParaRPr>
          </a:p>
        </p:txBody>
      </p:sp>
      <p:sp>
        <p:nvSpPr>
          <p:cNvPr id="7" name="內容版面配置區 2">
            <a:extLst>
              <a:ext uri="{FF2B5EF4-FFF2-40B4-BE49-F238E27FC236}">
                <a16:creationId xmlns:a16="http://schemas.microsoft.com/office/drawing/2014/main" id="{D7B2DE19-CA0E-4E29-AD34-3AA4381FC706}"/>
              </a:ext>
            </a:extLst>
          </p:cNvPr>
          <p:cNvSpPr txBox="1">
            <a:spLocks/>
          </p:cNvSpPr>
          <p:nvPr/>
        </p:nvSpPr>
        <p:spPr>
          <a:xfrm>
            <a:off x="8532092" y="5051771"/>
            <a:ext cx="2071256" cy="53744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ts val="3500"/>
              </a:lnSpc>
              <a:spcBef>
                <a:spcPts val="1800"/>
              </a:spcBef>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1 substitution</a:t>
            </a:r>
            <a:endParaRPr lang="zh-TW" altLang="en-US" sz="2400" dirty="0">
              <a:latin typeface="Times New Roman" panose="02020603050405020304" pitchFamily="18" charset="0"/>
              <a:cs typeface="Times New Roman" panose="02020603050405020304" pitchFamily="18" charset="0"/>
            </a:endParaRPr>
          </a:p>
        </p:txBody>
      </p:sp>
      <p:sp>
        <p:nvSpPr>
          <p:cNvPr id="8" name="內容版面配置區 2">
            <a:extLst>
              <a:ext uri="{FF2B5EF4-FFF2-40B4-BE49-F238E27FC236}">
                <a16:creationId xmlns:a16="http://schemas.microsoft.com/office/drawing/2014/main" id="{5EDB6905-57D8-4072-9611-DBFFAE812D47}"/>
              </a:ext>
            </a:extLst>
          </p:cNvPr>
          <p:cNvSpPr txBox="1">
            <a:spLocks/>
          </p:cNvSpPr>
          <p:nvPr/>
        </p:nvSpPr>
        <p:spPr>
          <a:xfrm>
            <a:off x="2052315" y="1986263"/>
            <a:ext cx="3543363" cy="53744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ts val="3500"/>
              </a:lnSpc>
              <a:spcBef>
                <a:spcPts val="1800"/>
              </a:spcBef>
              <a:buFont typeface="Arial" panose="020B0604020202020204" pitchFamily="34" charset="0"/>
              <a:buNone/>
            </a:pPr>
            <a:r>
              <a:rPr lang="en-US" altLang="zh-TW" sz="3000" dirty="0"/>
              <a:t>sequence-to-sequence</a:t>
            </a:r>
            <a:endParaRPr lang="zh-TW" altLang="en-US" sz="3000" dirty="0"/>
          </a:p>
        </p:txBody>
      </p:sp>
      <p:sp>
        <p:nvSpPr>
          <p:cNvPr id="10" name="內容版面配置區 2">
            <a:extLst>
              <a:ext uri="{FF2B5EF4-FFF2-40B4-BE49-F238E27FC236}">
                <a16:creationId xmlns:a16="http://schemas.microsoft.com/office/drawing/2014/main" id="{03C00922-4E7E-4A86-8FF1-8BD2B233DA5B}"/>
              </a:ext>
            </a:extLst>
          </p:cNvPr>
          <p:cNvSpPr txBox="1">
            <a:spLocks/>
          </p:cNvSpPr>
          <p:nvPr/>
        </p:nvSpPr>
        <p:spPr>
          <a:xfrm>
            <a:off x="6596324" y="1986263"/>
            <a:ext cx="3543363" cy="53744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ts val="3500"/>
              </a:lnSpc>
              <a:spcBef>
                <a:spcPts val="1800"/>
              </a:spcBef>
              <a:buFont typeface="Arial" panose="020B0604020202020204" pitchFamily="34" charset="0"/>
              <a:buNone/>
            </a:pPr>
            <a:r>
              <a:rPr lang="en-US" altLang="zh-TW" sz="3000" dirty="0"/>
              <a:t>sequence-to-graph</a:t>
            </a:r>
            <a:endParaRPr lang="zh-TW" altLang="en-US" sz="3000" dirty="0"/>
          </a:p>
        </p:txBody>
      </p:sp>
    </p:spTree>
    <p:extLst>
      <p:ext uri="{BB962C8B-B14F-4D97-AF65-F5344CB8AC3E}">
        <p14:creationId xmlns:p14="http://schemas.microsoft.com/office/powerpoint/2010/main" val="8834437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A50326-6405-4445-BF11-96C1760E914A}"/>
              </a:ext>
            </a:extLst>
          </p:cNvPr>
          <p:cNvSpPr>
            <a:spLocks noGrp="1"/>
          </p:cNvSpPr>
          <p:nvPr>
            <p:ph type="title"/>
          </p:nvPr>
        </p:nvSpPr>
        <p:spPr/>
        <p:txBody>
          <a:bodyPr>
            <a:normAutofit/>
          </a:bodyPr>
          <a:lstStyle/>
          <a:p>
            <a:r>
              <a:rPr lang="en-US" altLang="zh-TW" sz="4000" dirty="0">
                <a:latin typeface="Times New Roman" panose="02020603050405020304" pitchFamily="18" charset="0"/>
                <a:cs typeface="Times New Roman" panose="02020603050405020304" pitchFamily="18" charset="0"/>
              </a:rPr>
              <a:t>Complexity of related algorithms</a:t>
            </a:r>
            <a:endParaRPr lang="zh-TW" altLang="en-US" sz="4000"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94BDC594-2633-4EB7-9D19-8B07F28A17EC}"/>
              </a:ext>
            </a:extLst>
          </p:cNvPr>
          <p:cNvSpPr>
            <a:spLocks noGrp="1"/>
          </p:cNvSpPr>
          <p:nvPr>
            <p:ph idx="1"/>
          </p:nvPr>
        </p:nvSpPr>
        <p:spPr>
          <a:xfrm>
            <a:off x="838200" y="1563145"/>
            <a:ext cx="10515600" cy="2128333"/>
          </a:xfrm>
        </p:spPr>
        <p:txBody>
          <a:bodyPr>
            <a:normAutofit/>
          </a:bodyPr>
          <a:lstStyle/>
          <a:p>
            <a:pPr marL="0" indent="0" algn="ctr">
              <a:buNone/>
            </a:pPr>
            <a:r>
              <a:rPr lang="en-US" altLang="zh-TW" sz="2400" dirty="0">
                <a:latin typeface="Courier New" panose="02070309020205020404" pitchFamily="49" charset="0"/>
                <a:cs typeface="Courier New" panose="02070309020205020404" pitchFamily="49" charset="0"/>
              </a:rPr>
              <a:t>a b _ _ a b _ c </a:t>
            </a:r>
            <a:r>
              <a:rPr lang="en-US" altLang="zh-TW" sz="2400" dirty="0" err="1">
                <a:latin typeface="Courier New" panose="02070309020205020404" pitchFamily="49" charset="0"/>
                <a:cs typeface="Courier New" panose="02070309020205020404" pitchFamily="49" charset="0"/>
              </a:rPr>
              <a:t>c</a:t>
            </a:r>
            <a:r>
              <a:rPr lang="en-US" altLang="zh-TW" sz="2400" dirty="0">
                <a:latin typeface="Courier New" panose="02070309020205020404" pitchFamily="49" charset="0"/>
                <a:cs typeface="Courier New" panose="02070309020205020404" pitchFamily="49" charset="0"/>
              </a:rPr>
              <a:t> </a:t>
            </a:r>
            <a:r>
              <a:rPr lang="en-US" altLang="zh-TW" sz="2400" dirty="0" err="1">
                <a:latin typeface="Courier New" panose="02070309020205020404" pitchFamily="49" charset="0"/>
                <a:cs typeface="Courier New" panose="02070309020205020404" pitchFamily="49" charset="0"/>
              </a:rPr>
              <a:t>c</a:t>
            </a:r>
            <a:br>
              <a:rPr lang="en-US" altLang="zh-TW" sz="2400" dirty="0">
                <a:latin typeface="Courier New" panose="02070309020205020404" pitchFamily="49" charset="0"/>
                <a:cs typeface="Courier New" panose="02070309020205020404" pitchFamily="49" charset="0"/>
              </a:rPr>
            </a:br>
            <a:r>
              <a:rPr lang="en-US" altLang="zh-TW" sz="2400" dirty="0">
                <a:latin typeface="Courier New" panose="02070309020205020404" pitchFamily="49" charset="0"/>
                <a:cs typeface="Courier New" panose="02070309020205020404" pitchFamily="49" charset="0"/>
              </a:rPr>
              <a:t>a b _ _ _ a b c </a:t>
            </a:r>
            <a:r>
              <a:rPr lang="en-US" altLang="zh-TW" sz="2400" dirty="0" err="1">
                <a:latin typeface="Courier New" panose="02070309020205020404" pitchFamily="49" charset="0"/>
                <a:cs typeface="Courier New" panose="02070309020205020404" pitchFamily="49" charset="0"/>
              </a:rPr>
              <a:t>c</a:t>
            </a:r>
            <a:r>
              <a:rPr lang="en-US" altLang="zh-TW" sz="2400" dirty="0">
                <a:latin typeface="Courier New" panose="02070309020205020404" pitchFamily="49" charset="0"/>
                <a:cs typeface="Courier New" panose="02070309020205020404" pitchFamily="49" charset="0"/>
              </a:rPr>
              <a:t> </a:t>
            </a:r>
            <a:r>
              <a:rPr lang="en-US" altLang="zh-TW" sz="2400" dirty="0" err="1">
                <a:latin typeface="Courier New" panose="02070309020205020404" pitchFamily="49" charset="0"/>
                <a:cs typeface="Courier New" panose="02070309020205020404" pitchFamily="49" charset="0"/>
              </a:rPr>
              <a:t>c</a:t>
            </a:r>
            <a:endParaRPr lang="en-US" altLang="zh-TW" sz="2400" dirty="0">
              <a:latin typeface="Courier New" panose="02070309020205020404" pitchFamily="49" charset="0"/>
              <a:cs typeface="Courier New" panose="02070309020205020404" pitchFamily="49" charset="0"/>
            </a:endParaRPr>
          </a:p>
          <a:p>
            <a:pPr marL="0" indent="0">
              <a:buNone/>
            </a:pPr>
            <a:r>
              <a:rPr lang="en-US" altLang="zh-TW" sz="2400" dirty="0">
                <a:latin typeface="Times New Roman" panose="02020603050405020304" pitchFamily="18" charset="0"/>
                <a:cs typeface="Times New Roman" panose="02020603050405020304" pitchFamily="18" charset="0"/>
              </a:rPr>
              <a:t>linear gap penalty:  -4*3 = -12</a:t>
            </a:r>
          </a:p>
          <a:p>
            <a:pPr marL="0" indent="0">
              <a:buNone/>
            </a:pPr>
            <a:r>
              <a:rPr lang="en-US" altLang="zh-TW" sz="2400" dirty="0">
                <a:latin typeface="Times New Roman" panose="02020603050405020304" pitchFamily="18" charset="0"/>
                <a:cs typeface="Times New Roman" panose="02020603050405020304" pitchFamily="18" charset="0"/>
              </a:rPr>
              <a:t>affine gap penalty:  -4-2*2 + -4-2*1 = -14</a:t>
            </a:r>
            <a:br>
              <a:rPr lang="en-US" altLang="zh-TW" sz="2400" dirty="0">
                <a:latin typeface="Times New Roman" panose="02020603050405020304" pitchFamily="18" charset="0"/>
                <a:cs typeface="Times New Roman" panose="02020603050405020304" pitchFamily="18" charset="0"/>
              </a:rPr>
            </a:br>
            <a:r>
              <a:rPr lang="en-US" altLang="zh-TW" sz="2400" dirty="0">
                <a:latin typeface="Times New Roman" panose="02020603050405020304" pitchFamily="18" charset="0"/>
                <a:cs typeface="Times New Roman" panose="02020603050405020304" pitchFamily="18" charset="0"/>
              </a:rPr>
              <a:t>		        -4-2*3 = -10</a:t>
            </a:r>
            <a:endParaRPr lang="zh-TW" altLang="en-US" sz="2400" dirty="0">
              <a:latin typeface="Times New Roman" panose="02020603050405020304" pitchFamily="18" charset="0"/>
              <a:cs typeface="Times New Roman" panose="02020603050405020304" pitchFamily="18" charset="0"/>
            </a:endParaRPr>
          </a:p>
        </p:txBody>
      </p:sp>
      <p:pic>
        <p:nvPicPr>
          <p:cNvPr id="5" name="圖片 4">
            <a:extLst>
              <a:ext uri="{FF2B5EF4-FFF2-40B4-BE49-F238E27FC236}">
                <a16:creationId xmlns:a16="http://schemas.microsoft.com/office/drawing/2014/main" id="{41ACD29A-B377-428B-9337-810CA6CF9364}"/>
              </a:ext>
            </a:extLst>
          </p:cNvPr>
          <p:cNvPicPr>
            <a:picLocks noChangeAspect="1"/>
          </p:cNvPicPr>
          <p:nvPr/>
        </p:nvPicPr>
        <p:blipFill>
          <a:blip r:embed="rId2"/>
          <a:stretch>
            <a:fillRect/>
          </a:stretch>
        </p:blipFill>
        <p:spPr>
          <a:xfrm>
            <a:off x="0" y="3691479"/>
            <a:ext cx="12192000" cy="3166521"/>
          </a:xfrm>
          <a:prstGeom prst="rect">
            <a:avLst/>
          </a:prstGeom>
        </p:spPr>
      </p:pic>
    </p:spTree>
    <p:extLst>
      <p:ext uri="{BB962C8B-B14F-4D97-AF65-F5344CB8AC3E}">
        <p14:creationId xmlns:p14="http://schemas.microsoft.com/office/powerpoint/2010/main" val="24768762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B66326-0258-4924-B0B5-05633F8B6DD4}"/>
              </a:ext>
            </a:extLst>
          </p:cNvPr>
          <p:cNvSpPr>
            <a:spLocks noGrp="1"/>
          </p:cNvSpPr>
          <p:nvPr>
            <p:ph type="title"/>
          </p:nvPr>
        </p:nvSpPr>
        <p:spPr/>
        <p:txBody>
          <a:bodyPr>
            <a:normAutofit/>
          </a:bodyPr>
          <a:lstStyle/>
          <a:p>
            <a:r>
              <a:rPr lang="en-US" altLang="zh-TW" sz="4000" dirty="0">
                <a:latin typeface="Times New Roman" panose="02020603050405020304" pitchFamily="18" charset="0"/>
                <a:cs typeface="Times New Roman" panose="02020603050405020304" pitchFamily="18" charset="0"/>
              </a:rPr>
              <a:t>Hardness</a:t>
            </a:r>
            <a:endParaRPr lang="zh-TW" altLang="en-US" sz="4000"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D62D5C57-92EA-4061-8DBC-ABC04F3533CB}"/>
              </a:ext>
            </a:extLst>
          </p:cNvPr>
          <p:cNvSpPr>
            <a:spLocks noGrp="1"/>
          </p:cNvSpPr>
          <p:nvPr>
            <p:ph idx="1"/>
          </p:nvPr>
        </p:nvSpPr>
        <p:spPr/>
        <p:txBody>
          <a:bodyPr>
            <a:normAutofit/>
          </a:bodyPr>
          <a:lstStyle/>
          <a:p>
            <a:pPr marL="0" indent="0">
              <a:buNone/>
            </a:pPr>
            <a:r>
              <a:rPr lang="en-US" altLang="zh-TW" dirty="0">
                <a:latin typeface="Times New Roman" panose="02020603050405020304" pitchFamily="18" charset="0"/>
                <a:cs typeface="Times New Roman" panose="02020603050405020304" pitchFamily="18" charset="0"/>
              </a:rPr>
              <a:t>Variants of sequence-to-graph alignment</a:t>
            </a:r>
          </a:p>
          <a:p>
            <a:r>
              <a:rPr lang="en-US" altLang="zh-TW" dirty="0">
                <a:latin typeface="Times New Roman" panose="02020603050405020304" pitchFamily="18" charset="0"/>
                <a:cs typeface="Times New Roman" panose="02020603050405020304" pitchFamily="18" charset="0"/>
              </a:rPr>
              <a:t>Hamming distance model</a:t>
            </a:r>
            <a:r>
              <a:rPr lang="zh-TW" altLang="en-US" dirty="0">
                <a:latin typeface="Times New Roman" panose="02020603050405020304" pitchFamily="18" charset="0"/>
                <a:cs typeface="Times New Roman" panose="02020603050405020304" pitchFamily="18" charset="0"/>
              </a:rPr>
              <a:t>：</a:t>
            </a:r>
            <a:endParaRPr lang="en-US" altLang="zh-TW" dirty="0">
              <a:latin typeface="Times New Roman" panose="02020603050405020304" pitchFamily="18" charset="0"/>
              <a:cs typeface="Times New Roman" panose="02020603050405020304" pitchFamily="18" charset="0"/>
            </a:endParaRPr>
          </a:p>
          <a:p>
            <a:pPr marL="914400" lvl="1" indent="-457200">
              <a:buFont typeface="+mj-lt"/>
              <a:buAutoNum type="arabicPeriod"/>
            </a:pPr>
            <a:r>
              <a:rPr lang="en-US" altLang="zh-TW" dirty="0">
                <a:latin typeface="Times New Roman" panose="02020603050405020304" pitchFamily="18" charset="0"/>
                <a:cs typeface="Times New Roman" panose="02020603050405020304" pitchFamily="18" charset="0"/>
              </a:rPr>
              <a:t>Changes to graph alone</a:t>
            </a:r>
          </a:p>
          <a:p>
            <a:pPr marL="914400" lvl="1" indent="-457200">
              <a:buFont typeface="+mj-lt"/>
              <a:buAutoNum type="arabicPeriod"/>
            </a:pPr>
            <a:r>
              <a:rPr lang="en-US" altLang="zh-TW" dirty="0">
                <a:latin typeface="Times New Roman" panose="02020603050405020304" pitchFamily="18" charset="0"/>
                <a:cs typeface="Times New Roman" panose="02020603050405020304" pitchFamily="18" charset="0"/>
              </a:rPr>
              <a:t>Changes to both graph and query</a:t>
            </a:r>
          </a:p>
          <a:p>
            <a:pPr marL="914400" lvl="1" indent="-457200">
              <a:buFont typeface="+mj-lt"/>
              <a:buAutoNum type="arabicPeriod"/>
            </a:pPr>
            <a:r>
              <a:rPr lang="en-US" altLang="zh-TW" dirty="0">
                <a:latin typeface="Times New Roman" panose="02020603050405020304" pitchFamily="18" charset="0"/>
                <a:cs typeface="Times New Roman" panose="02020603050405020304" pitchFamily="18" charset="0"/>
              </a:rPr>
              <a:t>Changes to query alone</a:t>
            </a:r>
          </a:p>
          <a:p>
            <a:pPr marL="914400" lvl="1" indent="-457200">
              <a:buFont typeface="+mj-lt"/>
              <a:buAutoNum type="arabicPeriod"/>
            </a:pPr>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Edit distance model</a:t>
            </a:r>
            <a:r>
              <a:rPr lang="zh-TW" altLang="en-US" dirty="0">
                <a:latin typeface="Times New Roman" panose="02020603050405020304" pitchFamily="18" charset="0"/>
                <a:cs typeface="Times New Roman" panose="02020603050405020304" pitchFamily="18" charset="0"/>
              </a:rPr>
              <a:t>：</a:t>
            </a:r>
            <a:endParaRPr lang="en-US" altLang="zh-TW" dirty="0">
              <a:latin typeface="Times New Roman" panose="02020603050405020304" pitchFamily="18" charset="0"/>
              <a:cs typeface="Times New Roman" panose="02020603050405020304" pitchFamily="18" charset="0"/>
            </a:endParaRPr>
          </a:p>
          <a:p>
            <a:pPr marL="914400" lvl="1" indent="-457200">
              <a:buFont typeface="+mj-lt"/>
              <a:buAutoNum type="arabicPeriod" startAt="4"/>
            </a:pPr>
            <a:r>
              <a:rPr lang="en-US" altLang="zh-TW" dirty="0">
                <a:latin typeface="Times New Roman" panose="02020603050405020304" pitchFamily="18" charset="0"/>
                <a:cs typeface="Times New Roman" panose="02020603050405020304" pitchFamily="18" charset="0"/>
              </a:rPr>
              <a:t>Changes to graph alone</a:t>
            </a:r>
          </a:p>
          <a:p>
            <a:pPr marL="914400" lvl="1" indent="-457200">
              <a:buFont typeface="+mj-lt"/>
              <a:buAutoNum type="arabicPeriod" startAt="4"/>
            </a:pPr>
            <a:r>
              <a:rPr lang="en-US" altLang="zh-TW" dirty="0">
                <a:latin typeface="Times New Roman" panose="02020603050405020304" pitchFamily="18" charset="0"/>
                <a:cs typeface="Times New Roman" panose="02020603050405020304" pitchFamily="18" charset="0"/>
              </a:rPr>
              <a:t>Changes to both graph and query</a:t>
            </a:r>
          </a:p>
          <a:p>
            <a:pPr marL="914400" lvl="1" indent="-457200">
              <a:buFont typeface="+mj-lt"/>
              <a:buAutoNum type="arabicPeriod" startAt="4"/>
            </a:pPr>
            <a:r>
              <a:rPr lang="en-US" altLang="zh-TW" dirty="0">
                <a:latin typeface="Times New Roman" panose="02020603050405020304" pitchFamily="18" charset="0"/>
                <a:cs typeface="Times New Roman" panose="02020603050405020304" pitchFamily="18" charset="0"/>
              </a:rPr>
              <a:t>Changes to query alone</a:t>
            </a:r>
          </a:p>
        </p:txBody>
      </p:sp>
      <p:sp>
        <p:nvSpPr>
          <p:cNvPr id="4" name="右大括弧 3">
            <a:extLst>
              <a:ext uri="{FF2B5EF4-FFF2-40B4-BE49-F238E27FC236}">
                <a16:creationId xmlns:a16="http://schemas.microsoft.com/office/drawing/2014/main" id="{63B09E17-F817-42F3-A51C-C6E057DA2A1B}"/>
              </a:ext>
            </a:extLst>
          </p:cNvPr>
          <p:cNvSpPr/>
          <p:nvPr/>
        </p:nvSpPr>
        <p:spPr>
          <a:xfrm>
            <a:off x="6363855" y="2839172"/>
            <a:ext cx="323272" cy="726064"/>
          </a:xfrm>
          <a:prstGeom prst="rightBrace">
            <a:avLst>
              <a:gd name="adj1" fmla="val 0"/>
              <a:gd name="adj2" fmla="val 51272"/>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5" name="文字方塊 4">
            <a:extLst>
              <a:ext uri="{FF2B5EF4-FFF2-40B4-BE49-F238E27FC236}">
                <a16:creationId xmlns:a16="http://schemas.microsoft.com/office/drawing/2014/main" id="{A1241965-7BED-4970-81C1-585A57C1FD38}"/>
              </a:ext>
            </a:extLst>
          </p:cNvPr>
          <p:cNvSpPr txBox="1"/>
          <p:nvPr/>
        </p:nvSpPr>
        <p:spPr>
          <a:xfrm>
            <a:off x="6964219" y="2976571"/>
            <a:ext cx="2161309"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NP-complete</a:t>
            </a:r>
            <a:endParaRPr lang="zh-TW" altLang="en-US" sz="2400" dirty="0">
              <a:latin typeface="Times New Roman" panose="02020603050405020304" pitchFamily="18" charset="0"/>
              <a:cs typeface="Times New Roman" panose="02020603050405020304" pitchFamily="18" charset="0"/>
            </a:endParaRPr>
          </a:p>
        </p:txBody>
      </p:sp>
      <p:sp>
        <p:nvSpPr>
          <p:cNvPr id="6" name="右大括弧 5">
            <a:extLst>
              <a:ext uri="{FF2B5EF4-FFF2-40B4-BE49-F238E27FC236}">
                <a16:creationId xmlns:a16="http://schemas.microsoft.com/office/drawing/2014/main" id="{032F4EED-AB35-43AD-AA5E-76AD3E4F43D1}"/>
              </a:ext>
            </a:extLst>
          </p:cNvPr>
          <p:cNvSpPr/>
          <p:nvPr/>
        </p:nvSpPr>
        <p:spPr>
          <a:xfrm>
            <a:off x="6363855" y="4875790"/>
            <a:ext cx="323272" cy="726064"/>
          </a:xfrm>
          <a:prstGeom prst="rightBrace">
            <a:avLst>
              <a:gd name="adj1" fmla="val 0"/>
              <a:gd name="adj2" fmla="val 51272"/>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7" name="文字方塊 6">
            <a:extLst>
              <a:ext uri="{FF2B5EF4-FFF2-40B4-BE49-F238E27FC236}">
                <a16:creationId xmlns:a16="http://schemas.microsoft.com/office/drawing/2014/main" id="{FF4A7354-56CD-44BD-BA08-1021D7082A3B}"/>
              </a:ext>
            </a:extLst>
          </p:cNvPr>
          <p:cNvSpPr txBox="1"/>
          <p:nvPr/>
        </p:nvSpPr>
        <p:spPr>
          <a:xfrm>
            <a:off x="6964219" y="5013189"/>
            <a:ext cx="2161309"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NP-complete</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33295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B66326-0258-4924-B0B5-05633F8B6DD4}"/>
              </a:ext>
            </a:extLst>
          </p:cNvPr>
          <p:cNvSpPr>
            <a:spLocks noGrp="1"/>
          </p:cNvSpPr>
          <p:nvPr>
            <p:ph type="title"/>
          </p:nvPr>
        </p:nvSpPr>
        <p:spPr/>
        <p:txBody>
          <a:bodyPr>
            <a:normAutofit/>
          </a:bodyPr>
          <a:lstStyle/>
          <a:p>
            <a:r>
              <a:rPr lang="en-US" altLang="zh-TW" sz="4000" dirty="0">
                <a:latin typeface="Times New Roman" panose="02020603050405020304" pitchFamily="18" charset="0"/>
                <a:cs typeface="Times New Roman" panose="02020603050405020304" pitchFamily="18" charset="0"/>
              </a:rPr>
              <a:t>Hamming distance model</a:t>
            </a:r>
            <a:endParaRPr lang="zh-TW" altLang="en-US" sz="4000"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D62D5C57-92EA-4061-8DBC-ABC04F3533CB}"/>
              </a:ext>
            </a:extLst>
          </p:cNvPr>
          <p:cNvSpPr>
            <a:spLocks noGrp="1"/>
          </p:cNvSpPr>
          <p:nvPr>
            <p:ph idx="1"/>
          </p:nvPr>
        </p:nvSpPr>
        <p:spPr>
          <a:xfrm>
            <a:off x="703278" y="1825625"/>
            <a:ext cx="10515600" cy="4351338"/>
          </a:xfrm>
        </p:spPr>
        <p:txBody>
          <a:bodyPr>
            <a:normAutofit/>
          </a:bodyPr>
          <a:lstStyle/>
          <a:p>
            <a:pPr marL="0" indent="0">
              <a:buNone/>
            </a:pPr>
            <a:r>
              <a:rPr lang="en-US" altLang="zh-TW" dirty="0">
                <a:latin typeface="Times New Roman" panose="02020603050405020304" pitchFamily="18" charset="0"/>
                <a:cs typeface="Times New Roman" panose="02020603050405020304" pitchFamily="18" charset="0"/>
                <a:sym typeface="Symbol" panose="05050102010706020507" pitchFamily="18" charset="2"/>
              </a:rPr>
              <a:t>Theorem 3.1</a:t>
            </a:r>
            <a:r>
              <a:rPr lang="zh-TW" altLang="en-US" dirty="0">
                <a:latin typeface="Times New Roman" panose="02020603050405020304" pitchFamily="18" charset="0"/>
                <a:cs typeface="Times New Roman" panose="02020603050405020304" pitchFamily="18" charset="0"/>
                <a:sym typeface="Symbol" panose="05050102010706020507" pitchFamily="18" charset="2"/>
              </a:rPr>
              <a:t>：</a:t>
            </a:r>
            <a:endParaRPr lang="en-US" altLang="zh-TW" dirty="0">
              <a:latin typeface="Times New Roman" panose="02020603050405020304" pitchFamily="18" charset="0"/>
              <a:cs typeface="Times New Roman" panose="02020603050405020304" pitchFamily="18" charset="0"/>
              <a:sym typeface="Symbol" panose="05050102010706020507" pitchFamily="18" charset="2"/>
            </a:endParaRPr>
          </a:p>
          <a:p>
            <a:pPr marL="0" indent="0">
              <a:buNone/>
            </a:pPr>
            <a:r>
              <a:rPr lang="en-US" altLang="zh-TW" dirty="0">
                <a:latin typeface="Times New Roman" panose="02020603050405020304" pitchFamily="18" charset="0"/>
                <a:cs typeface="Times New Roman" panose="02020603050405020304" pitchFamily="18" charset="0"/>
                <a:sym typeface="Symbol" panose="05050102010706020507" pitchFamily="18" charset="2"/>
              </a:rPr>
              <a:t>The problem “Can we substitute a total of  </a:t>
            </a:r>
            <a:r>
              <a:rPr lang="en-US" altLang="zh-TW" i="1" dirty="0">
                <a:latin typeface="Times New Roman" panose="02020603050405020304" pitchFamily="18" charset="0"/>
                <a:cs typeface="Times New Roman" panose="02020603050405020304" pitchFamily="18" charset="0"/>
                <a:sym typeface="Symbol" panose="05050102010706020507" pitchFamily="18" charset="2"/>
              </a:rPr>
              <a:t>d</a:t>
            </a:r>
            <a:r>
              <a:rPr lang="en-US" altLang="zh-TW" dirty="0">
                <a:latin typeface="Times New Roman" panose="02020603050405020304" pitchFamily="18" charset="0"/>
                <a:cs typeface="Times New Roman" panose="02020603050405020304" pitchFamily="18" charset="0"/>
                <a:sym typeface="Symbol" panose="05050102010706020507" pitchFamily="18" charset="2"/>
              </a:rPr>
              <a:t> characters</a:t>
            </a:r>
            <a:r>
              <a:rPr lang="en-US" altLang="zh-TW"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 in graph </a:t>
            </a:r>
            <a:r>
              <a:rPr lang="en-US" altLang="zh-TW" i="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G</a:t>
            </a:r>
            <a:r>
              <a:rPr lang="en-US" altLang="zh-TW"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 and query </a:t>
            </a:r>
            <a:r>
              <a:rPr lang="en-US" altLang="zh-TW" i="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q</a:t>
            </a:r>
            <a:r>
              <a:rPr lang="en-US" altLang="zh-TW" dirty="0">
                <a:latin typeface="Times New Roman" panose="02020603050405020304" pitchFamily="18" charset="0"/>
                <a:cs typeface="Times New Roman" panose="02020603050405020304" pitchFamily="18" charset="0"/>
                <a:sym typeface="Symbol" panose="05050102010706020507" pitchFamily="18" charset="2"/>
              </a:rPr>
              <a:t> such that </a:t>
            </a:r>
            <a:r>
              <a:rPr lang="en-US" altLang="zh-TW" i="1" dirty="0">
                <a:latin typeface="Times New Roman" panose="02020603050405020304" pitchFamily="18" charset="0"/>
                <a:cs typeface="Times New Roman" panose="02020603050405020304" pitchFamily="18" charset="0"/>
                <a:sym typeface="Symbol" panose="05050102010706020507" pitchFamily="18" charset="2"/>
              </a:rPr>
              <a:t>q</a:t>
            </a:r>
            <a:r>
              <a:rPr lang="en-US" altLang="zh-TW" dirty="0">
                <a:latin typeface="Times New Roman" panose="02020603050405020304" pitchFamily="18" charset="0"/>
                <a:cs typeface="Times New Roman" panose="02020603050405020304" pitchFamily="18" charset="0"/>
                <a:sym typeface="Symbol" panose="05050102010706020507" pitchFamily="18" charset="2"/>
              </a:rPr>
              <a:t> will have a matching path in </a:t>
            </a:r>
            <a:r>
              <a:rPr lang="en-US" altLang="zh-TW" i="1" dirty="0">
                <a:latin typeface="Times New Roman" panose="02020603050405020304" pitchFamily="18" charset="0"/>
                <a:cs typeface="Times New Roman" panose="02020603050405020304" pitchFamily="18" charset="0"/>
                <a:sym typeface="Symbol" panose="05050102010706020507" pitchFamily="18" charset="2"/>
              </a:rPr>
              <a:t>G</a:t>
            </a:r>
            <a:r>
              <a:rPr lang="en-US" altLang="zh-TW" dirty="0">
                <a:latin typeface="Times New Roman" panose="02020603050405020304" pitchFamily="18" charset="0"/>
                <a:cs typeface="Times New Roman" panose="02020603050405020304" pitchFamily="18" charset="0"/>
                <a:sym typeface="Symbol" panose="05050102010706020507" pitchFamily="18" charset="2"/>
              </a:rPr>
              <a:t>?” is NP-complete for ||  2</a:t>
            </a:r>
          </a:p>
          <a:p>
            <a:pPr marL="0" indent="0">
              <a:buNone/>
            </a:pPr>
            <a:endParaRPr lang="en-US" altLang="zh-TW" i="1" dirty="0">
              <a:latin typeface="Times New Roman" panose="02020603050405020304" pitchFamily="18" charset="0"/>
              <a:cs typeface="Times New Roman" panose="02020603050405020304" pitchFamily="18" charset="0"/>
              <a:sym typeface="Symbol" panose="05050102010706020507" pitchFamily="18" charset="2"/>
            </a:endParaRPr>
          </a:p>
          <a:p>
            <a:pPr marL="0" indent="0">
              <a:buNone/>
            </a:pPr>
            <a:r>
              <a:rPr lang="en-US" altLang="zh-TW" dirty="0">
                <a:latin typeface="Times New Roman" panose="02020603050405020304" pitchFamily="18" charset="0"/>
                <a:cs typeface="Times New Roman" panose="02020603050405020304" pitchFamily="18" charset="0"/>
                <a:sym typeface="Symbol" panose="05050102010706020507" pitchFamily="18" charset="2"/>
              </a:rPr>
              <a:t>Corollary 3.1.1</a:t>
            </a:r>
            <a:r>
              <a:rPr lang="zh-TW" altLang="en-US" dirty="0">
                <a:latin typeface="Times New Roman" panose="02020603050405020304" pitchFamily="18" charset="0"/>
                <a:cs typeface="Times New Roman" panose="02020603050405020304" pitchFamily="18" charset="0"/>
                <a:sym typeface="Symbol" panose="05050102010706020507" pitchFamily="18" charset="2"/>
              </a:rPr>
              <a:t>：</a:t>
            </a:r>
            <a:endParaRPr lang="en-US" altLang="zh-TW" dirty="0">
              <a:latin typeface="Times New Roman" panose="02020603050405020304" pitchFamily="18" charset="0"/>
              <a:cs typeface="Times New Roman" panose="02020603050405020304" pitchFamily="18" charset="0"/>
              <a:sym typeface="Symbol" panose="05050102010706020507" pitchFamily="18" charset="2"/>
            </a:endParaRPr>
          </a:p>
          <a:p>
            <a:pPr marL="0" indent="0">
              <a:buNone/>
            </a:pPr>
            <a:r>
              <a:rPr lang="en-US" altLang="zh-TW" dirty="0">
                <a:latin typeface="Times New Roman" panose="02020603050405020304" pitchFamily="18" charset="0"/>
                <a:cs typeface="Times New Roman" panose="02020603050405020304" pitchFamily="18" charset="0"/>
                <a:sym typeface="Symbol" panose="05050102010706020507" pitchFamily="18" charset="2"/>
              </a:rPr>
              <a:t>The problem “Can we substitute a total of  </a:t>
            </a:r>
            <a:r>
              <a:rPr lang="en-US" altLang="zh-TW" i="1" dirty="0">
                <a:latin typeface="Times New Roman" panose="02020603050405020304" pitchFamily="18" charset="0"/>
                <a:cs typeface="Times New Roman" panose="02020603050405020304" pitchFamily="18" charset="0"/>
                <a:sym typeface="Symbol" panose="05050102010706020507" pitchFamily="18" charset="2"/>
              </a:rPr>
              <a:t>d</a:t>
            </a:r>
            <a:r>
              <a:rPr lang="en-US" altLang="zh-TW" dirty="0">
                <a:latin typeface="Times New Roman" panose="02020603050405020304" pitchFamily="18" charset="0"/>
                <a:cs typeface="Times New Roman" panose="02020603050405020304" pitchFamily="18" charset="0"/>
                <a:sym typeface="Symbol" panose="05050102010706020507" pitchFamily="18" charset="2"/>
              </a:rPr>
              <a:t> characters </a:t>
            </a:r>
            <a:r>
              <a:rPr lang="en-US" altLang="zh-TW"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in graph </a:t>
            </a:r>
            <a:r>
              <a:rPr lang="en-US" altLang="zh-TW" i="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G</a:t>
            </a:r>
            <a:r>
              <a:rPr lang="en-US" altLang="zh-TW" dirty="0">
                <a:latin typeface="Times New Roman" panose="02020603050405020304" pitchFamily="18" charset="0"/>
                <a:cs typeface="Times New Roman" panose="02020603050405020304" pitchFamily="18" charset="0"/>
                <a:sym typeface="Symbol" panose="05050102010706020507" pitchFamily="18" charset="2"/>
              </a:rPr>
              <a:t> such that </a:t>
            </a:r>
            <a:r>
              <a:rPr lang="en-US" altLang="zh-TW" i="1" dirty="0">
                <a:latin typeface="Times New Roman" panose="02020603050405020304" pitchFamily="18" charset="0"/>
                <a:cs typeface="Times New Roman" panose="02020603050405020304" pitchFamily="18" charset="0"/>
                <a:sym typeface="Symbol" panose="05050102010706020507" pitchFamily="18" charset="2"/>
              </a:rPr>
              <a:t>q</a:t>
            </a:r>
            <a:r>
              <a:rPr lang="en-US" altLang="zh-TW" dirty="0">
                <a:latin typeface="Times New Roman" panose="02020603050405020304" pitchFamily="18" charset="0"/>
                <a:cs typeface="Times New Roman" panose="02020603050405020304" pitchFamily="18" charset="0"/>
                <a:sym typeface="Symbol" panose="05050102010706020507" pitchFamily="18" charset="2"/>
              </a:rPr>
              <a:t> will have a matching path in </a:t>
            </a:r>
            <a:r>
              <a:rPr lang="en-US" altLang="zh-TW" i="1" dirty="0">
                <a:latin typeface="Times New Roman" panose="02020603050405020304" pitchFamily="18" charset="0"/>
                <a:cs typeface="Times New Roman" panose="02020603050405020304" pitchFamily="18" charset="0"/>
                <a:sym typeface="Symbol" panose="05050102010706020507" pitchFamily="18" charset="2"/>
              </a:rPr>
              <a:t>G</a:t>
            </a:r>
            <a:r>
              <a:rPr lang="en-US" altLang="zh-TW" dirty="0">
                <a:latin typeface="Times New Roman" panose="02020603050405020304" pitchFamily="18" charset="0"/>
                <a:cs typeface="Times New Roman" panose="02020603050405020304" pitchFamily="18" charset="0"/>
                <a:sym typeface="Symbol" panose="05050102010706020507" pitchFamily="18" charset="2"/>
              </a:rPr>
              <a:t>?” is NP-complete for ||  2</a:t>
            </a:r>
          </a:p>
          <a:p>
            <a:pPr marL="0" indent="0">
              <a:buNone/>
            </a:pPr>
            <a:endParaRPr lang="en-US" altLang="zh-TW" dirty="0">
              <a:latin typeface="Times New Roman" panose="02020603050405020304" pitchFamily="18" charset="0"/>
              <a:cs typeface="Times New Roman" panose="02020603050405020304" pitchFamily="18" charset="0"/>
              <a:sym typeface="Symbol" panose="05050102010706020507" pitchFamily="18" charset="2"/>
            </a:endParaRPr>
          </a:p>
        </p:txBody>
      </p:sp>
    </p:spTree>
    <p:extLst>
      <p:ext uri="{BB962C8B-B14F-4D97-AF65-F5344CB8AC3E}">
        <p14:creationId xmlns:p14="http://schemas.microsoft.com/office/powerpoint/2010/main" val="152088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B66326-0258-4924-B0B5-05633F8B6DD4}"/>
              </a:ext>
            </a:extLst>
          </p:cNvPr>
          <p:cNvSpPr>
            <a:spLocks noGrp="1"/>
          </p:cNvSpPr>
          <p:nvPr>
            <p:ph type="title"/>
          </p:nvPr>
        </p:nvSpPr>
        <p:spPr/>
        <p:txBody>
          <a:bodyPr>
            <a:normAutofit/>
          </a:bodyPr>
          <a:lstStyle/>
          <a:p>
            <a:r>
              <a:rPr lang="en-US" altLang="zh-TW" sz="4000" dirty="0">
                <a:latin typeface="Times New Roman" panose="02020603050405020304" pitchFamily="18" charset="0"/>
                <a:cs typeface="Times New Roman" panose="02020603050405020304" pitchFamily="18" charset="0"/>
              </a:rPr>
              <a:t>Hamming distance model</a:t>
            </a:r>
            <a:endParaRPr lang="zh-TW" altLang="en-US" sz="4000"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D62D5C57-92EA-4061-8DBC-ABC04F3533CB}"/>
              </a:ext>
            </a:extLst>
          </p:cNvPr>
          <p:cNvSpPr>
            <a:spLocks noGrp="1"/>
          </p:cNvSpPr>
          <p:nvPr>
            <p:ph idx="1"/>
          </p:nvPr>
        </p:nvSpPr>
        <p:spPr>
          <a:xfrm>
            <a:off x="703278" y="1825625"/>
            <a:ext cx="10515600" cy="4351338"/>
          </a:xfrm>
        </p:spPr>
        <p:txBody>
          <a:bodyPr>
            <a:normAutofit/>
          </a:bodyPr>
          <a:lstStyle/>
          <a:p>
            <a:pPr marL="0" indent="0">
              <a:buNone/>
            </a:pPr>
            <a:r>
              <a:rPr lang="en-US" altLang="zh-TW" dirty="0">
                <a:latin typeface="Times New Roman" panose="02020603050405020304" pitchFamily="18" charset="0"/>
                <a:cs typeface="Times New Roman" panose="02020603050405020304" pitchFamily="18" charset="0"/>
              </a:rPr>
              <a:t>directed Hamiltonian cycle </a:t>
            </a:r>
            <a:r>
              <a:rPr lang="en-US" altLang="zh-TW" dirty="0">
                <a:latin typeface="Times New Roman" panose="02020603050405020304" pitchFamily="18" charset="0"/>
                <a:cs typeface="Times New Roman" panose="02020603050405020304" pitchFamily="18" charset="0"/>
                <a:sym typeface="Symbol" panose="05050102010706020507" pitchFamily="18" charset="2"/>
              </a:rPr>
              <a:t> sequence-to-graph alignment</a:t>
            </a:r>
          </a:p>
          <a:p>
            <a:pPr marL="0" indent="0">
              <a:buNone/>
            </a:pPr>
            <a:r>
              <a:rPr lang="en-US" altLang="zh-TW" dirty="0">
                <a:latin typeface="Times New Roman" panose="02020603050405020304" pitchFamily="18" charset="0"/>
                <a:cs typeface="Times New Roman" panose="02020603050405020304" pitchFamily="18" charset="0"/>
                <a:sym typeface="Symbol" panose="05050102010706020507" pitchFamily="18" charset="2"/>
              </a:rPr>
              <a:t>label</a:t>
            </a:r>
            <a:r>
              <a:rPr lang="zh-TW" altLang="en-US" dirty="0">
                <a:latin typeface="Times New Roman" panose="02020603050405020304" pitchFamily="18" charset="0"/>
                <a:cs typeface="Times New Roman" panose="02020603050405020304" pitchFamily="18" charset="0"/>
                <a:sym typeface="Symbol" panose="05050102010706020507" pitchFamily="18" charset="2"/>
              </a:rPr>
              <a:t>：</a:t>
            </a:r>
            <a:r>
              <a:rPr lang="zh-TW" altLang="en-US" i="1" dirty="0">
                <a:latin typeface="Times New Roman" panose="02020603050405020304" pitchFamily="18" charset="0"/>
                <a:cs typeface="Times New Roman" panose="02020603050405020304" pitchFamily="18" charset="0"/>
                <a:sym typeface="Symbol" panose="05050102010706020507" pitchFamily="18" charset="2"/>
              </a:rPr>
              <a:t></a:t>
            </a:r>
            <a:r>
              <a:rPr lang="en-US" altLang="zh-TW" i="1" baseline="30000" dirty="0">
                <a:latin typeface="Times New Roman" panose="02020603050405020304" pitchFamily="18" charset="0"/>
                <a:cs typeface="Times New Roman" panose="02020603050405020304" pitchFamily="18" charset="0"/>
                <a:sym typeface="Symbol" panose="05050102010706020507" pitchFamily="18" charset="2"/>
              </a:rPr>
              <a:t>n</a:t>
            </a:r>
            <a:br>
              <a:rPr lang="en-US" altLang="zh-TW" i="1" baseline="30000" dirty="0">
                <a:latin typeface="Times New Roman" panose="02020603050405020304" pitchFamily="18" charset="0"/>
                <a:cs typeface="Times New Roman" panose="02020603050405020304" pitchFamily="18" charset="0"/>
                <a:sym typeface="Symbol" panose="05050102010706020507" pitchFamily="18" charset="2"/>
              </a:rPr>
            </a:br>
            <a:r>
              <a:rPr lang="en-US" altLang="zh-TW" i="1" dirty="0" err="1">
                <a:latin typeface="Times New Roman" panose="02020603050405020304" pitchFamily="18" charset="0"/>
                <a:cs typeface="Times New Roman" panose="02020603050405020304" pitchFamily="18" charset="0"/>
                <a:sym typeface="Symbol" panose="05050102010706020507" pitchFamily="18" charset="2"/>
              </a:rPr>
              <a:t>t</a:t>
            </a:r>
            <a:r>
              <a:rPr lang="en-US" altLang="zh-TW" i="1" baseline="-25000" dirty="0" err="1">
                <a:latin typeface="Times New Roman" panose="02020603050405020304" pitchFamily="18" charset="0"/>
                <a:cs typeface="Times New Roman" panose="02020603050405020304" pitchFamily="18" charset="0"/>
                <a:sym typeface="Symbol" panose="05050102010706020507" pitchFamily="18" charset="2"/>
              </a:rPr>
              <a:t>i</a:t>
            </a:r>
            <a:r>
              <a:rPr lang="zh-TW" altLang="en-US" dirty="0">
                <a:latin typeface="Times New Roman" panose="02020603050405020304" pitchFamily="18" charset="0"/>
                <a:cs typeface="Times New Roman" panose="02020603050405020304" pitchFamily="18" charset="0"/>
                <a:sym typeface="Symbol" panose="05050102010706020507" pitchFamily="18" charset="2"/>
              </a:rPr>
              <a:t>：</a:t>
            </a:r>
            <a:r>
              <a:rPr lang="zh-TW" altLang="en-US" i="1" dirty="0">
                <a:latin typeface="Times New Roman" panose="02020603050405020304" pitchFamily="18" charset="0"/>
                <a:cs typeface="Times New Roman" panose="02020603050405020304" pitchFamily="18" charset="0"/>
                <a:sym typeface="Symbol" panose="05050102010706020507" pitchFamily="18" charset="2"/>
              </a:rPr>
              <a:t> </a:t>
            </a:r>
            <a:r>
              <a:rPr lang="en-US" altLang="zh-TW" i="1" baseline="30000" dirty="0">
                <a:latin typeface="Times New Roman" panose="02020603050405020304" pitchFamily="18" charset="0"/>
                <a:cs typeface="Times New Roman" panose="02020603050405020304" pitchFamily="18" charset="0"/>
                <a:sym typeface="Symbol" panose="05050102010706020507" pitchFamily="18" charset="2"/>
              </a:rPr>
              <a:t>n</a:t>
            </a:r>
            <a:r>
              <a:rPr lang="en-US" altLang="zh-TW" baseline="30000" dirty="0">
                <a:latin typeface="Times New Roman" panose="02020603050405020304" pitchFamily="18" charset="0"/>
                <a:cs typeface="Times New Roman" panose="02020603050405020304" pitchFamily="18" charset="0"/>
                <a:sym typeface="Symbol" panose="05050102010706020507" pitchFamily="18" charset="2"/>
              </a:rPr>
              <a:t>-</a:t>
            </a:r>
            <a:r>
              <a:rPr lang="en-US" altLang="zh-TW" i="1" baseline="30000" dirty="0">
                <a:latin typeface="Times New Roman" panose="02020603050405020304" pitchFamily="18" charset="0"/>
                <a:cs typeface="Times New Roman" panose="02020603050405020304" pitchFamily="18" charset="0"/>
                <a:sym typeface="Symbol" panose="05050102010706020507" pitchFamily="18" charset="2"/>
              </a:rPr>
              <a:t>i</a:t>
            </a:r>
            <a:r>
              <a:rPr lang="en-US" altLang="zh-TW" baseline="30000" dirty="0">
                <a:latin typeface="Times New Roman" panose="02020603050405020304" pitchFamily="18" charset="0"/>
                <a:cs typeface="Times New Roman" panose="02020603050405020304" pitchFamily="18" charset="0"/>
                <a:sym typeface="Symbol" panose="05050102010706020507" pitchFamily="18" charset="2"/>
              </a:rPr>
              <a:t>-1</a:t>
            </a:r>
            <a:r>
              <a:rPr lang="zh-TW" altLang="en-US" sz="2800" i="1" dirty="0">
                <a:latin typeface="Times New Roman" panose="02020603050405020304" pitchFamily="18" charset="0"/>
                <a:cs typeface="Times New Roman" panose="02020603050405020304" pitchFamily="18" charset="0"/>
                <a:sym typeface="Symbol" panose="05050102010706020507" pitchFamily="18" charset="2"/>
              </a:rPr>
              <a:t></a:t>
            </a:r>
            <a:r>
              <a:rPr lang="zh-TW" altLang="en-US" i="1" dirty="0">
                <a:latin typeface="Times New Roman" panose="02020603050405020304" pitchFamily="18" charset="0"/>
                <a:cs typeface="Times New Roman" panose="02020603050405020304" pitchFamily="18" charset="0"/>
                <a:sym typeface="Symbol" panose="05050102010706020507" pitchFamily="18" charset="2"/>
              </a:rPr>
              <a:t></a:t>
            </a:r>
            <a:r>
              <a:rPr lang="en-US" altLang="zh-TW" i="1" baseline="30000" dirty="0" err="1">
                <a:latin typeface="Times New Roman" panose="02020603050405020304" pitchFamily="18" charset="0"/>
                <a:cs typeface="Times New Roman" panose="02020603050405020304" pitchFamily="18" charset="0"/>
                <a:sym typeface="Symbol" panose="05050102010706020507" pitchFamily="18" charset="2"/>
              </a:rPr>
              <a:t>i</a:t>
            </a:r>
            <a:br>
              <a:rPr lang="en-US" altLang="zh-TW" i="1" baseline="30000" dirty="0">
                <a:latin typeface="Times New Roman" panose="02020603050405020304" pitchFamily="18" charset="0"/>
                <a:cs typeface="Times New Roman" panose="02020603050405020304" pitchFamily="18" charset="0"/>
                <a:sym typeface="Symbol" panose="05050102010706020507" pitchFamily="18" charset="2"/>
              </a:rPr>
            </a:br>
            <a:r>
              <a:rPr lang="en-US" altLang="zh-TW" i="1" dirty="0">
                <a:latin typeface="Times New Roman" panose="02020603050405020304" pitchFamily="18" charset="0"/>
                <a:cs typeface="Times New Roman" panose="02020603050405020304" pitchFamily="18" charset="0"/>
                <a:sym typeface="Symbol" panose="05050102010706020507" pitchFamily="18" charset="2"/>
              </a:rPr>
              <a:t>q</a:t>
            </a:r>
            <a:r>
              <a:rPr lang="zh-TW" altLang="en-US" dirty="0">
                <a:latin typeface="Times New Roman" panose="02020603050405020304" pitchFamily="18" charset="0"/>
                <a:cs typeface="Times New Roman" panose="02020603050405020304" pitchFamily="18" charset="0"/>
                <a:sym typeface="Symbol" panose="05050102010706020507" pitchFamily="18" charset="2"/>
              </a:rPr>
              <a:t>：</a:t>
            </a:r>
            <a:r>
              <a:rPr lang="en-US" altLang="zh-TW" dirty="0">
                <a:latin typeface="Times New Roman" panose="02020603050405020304" pitchFamily="18" charset="0"/>
                <a:cs typeface="Times New Roman" panose="02020603050405020304" pitchFamily="18" charset="0"/>
                <a:sym typeface="Symbol" panose="05050102010706020507" pitchFamily="18" charset="2"/>
              </a:rPr>
              <a:t> ( </a:t>
            </a:r>
            <a:r>
              <a:rPr lang="en-US" altLang="zh-TW" i="1" dirty="0">
                <a:latin typeface="Times New Roman" panose="02020603050405020304" pitchFamily="18" charset="0"/>
                <a:cs typeface="Times New Roman" panose="02020603050405020304" pitchFamily="18" charset="0"/>
                <a:sym typeface="Symbol" panose="05050102010706020507" pitchFamily="18" charset="2"/>
              </a:rPr>
              <a:t>t</a:t>
            </a:r>
            <a:r>
              <a:rPr lang="en-US" altLang="zh-TW" baseline="-25000" dirty="0">
                <a:latin typeface="Times New Roman" panose="02020603050405020304" pitchFamily="18" charset="0"/>
                <a:cs typeface="Times New Roman" panose="02020603050405020304" pitchFamily="18" charset="0"/>
                <a:sym typeface="Symbol" panose="05050102010706020507" pitchFamily="18" charset="2"/>
              </a:rPr>
              <a:t>0</a:t>
            </a:r>
            <a:r>
              <a:rPr lang="en-US" altLang="zh-TW" i="1" dirty="0">
                <a:latin typeface="Times New Roman" panose="02020603050405020304" pitchFamily="18" charset="0"/>
                <a:cs typeface="Times New Roman" panose="02020603050405020304" pitchFamily="18" charset="0"/>
                <a:sym typeface="Symbol" panose="05050102010706020507" pitchFamily="18" charset="2"/>
              </a:rPr>
              <a:t>t</a:t>
            </a:r>
            <a:r>
              <a:rPr lang="en-US" altLang="zh-TW"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TW" i="1" dirty="0">
                <a:latin typeface="Times New Roman" panose="02020603050405020304" pitchFamily="18" charset="0"/>
                <a:cs typeface="Times New Roman" panose="02020603050405020304" pitchFamily="18" charset="0"/>
                <a:sym typeface="Symbol" panose="05050102010706020507" pitchFamily="18" charset="2"/>
              </a:rPr>
              <a:t>t</a:t>
            </a:r>
            <a:r>
              <a:rPr lang="en-US" altLang="zh-TW" baseline="-25000" dirty="0">
                <a:latin typeface="Times New Roman" panose="02020603050405020304" pitchFamily="18" charset="0"/>
                <a:cs typeface="Times New Roman" panose="02020603050405020304" pitchFamily="18" charset="0"/>
                <a:sym typeface="Symbol" panose="05050102010706020507" pitchFamily="18" charset="2"/>
              </a:rPr>
              <a:t>2</a:t>
            </a:r>
            <a:r>
              <a:rPr lang="en-US" altLang="zh-TW" dirty="0">
                <a:latin typeface="Times New Roman" panose="02020603050405020304" pitchFamily="18" charset="0"/>
                <a:cs typeface="Times New Roman" panose="02020603050405020304" pitchFamily="18" charset="0"/>
                <a:sym typeface="Symbol" panose="05050102010706020507" pitchFamily="18" charset="2"/>
              </a:rPr>
              <a:t>…</a:t>
            </a:r>
            <a:r>
              <a:rPr lang="en-US" altLang="zh-TW" i="1" dirty="0">
                <a:latin typeface="Times New Roman" panose="02020603050405020304" pitchFamily="18" charset="0"/>
                <a:cs typeface="Times New Roman" panose="02020603050405020304" pitchFamily="18" charset="0"/>
                <a:sym typeface="Symbol" panose="05050102010706020507" pitchFamily="18" charset="2"/>
              </a:rPr>
              <a:t>t</a:t>
            </a:r>
            <a:r>
              <a:rPr lang="en-US" altLang="zh-TW" i="1" baseline="-25000" dirty="0">
                <a:latin typeface="Times New Roman" panose="02020603050405020304" pitchFamily="18" charset="0"/>
                <a:cs typeface="Times New Roman" panose="02020603050405020304" pitchFamily="18" charset="0"/>
                <a:sym typeface="Symbol" panose="05050102010706020507" pitchFamily="18" charset="2"/>
              </a:rPr>
              <a:t>n</a:t>
            </a:r>
            <a:r>
              <a:rPr lang="en-US" altLang="zh-TW"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TW" dirty="0">
                <a:latin typeface="Times New Roman" panose="02020603050405020304" pitchFamily="18" charset="0"/>
                <a:cs typeface="Times New Roman" panose="02020603050405020304" pitchFamily="18" charset="0"/>
                <a:sym typeface="Symbol" panose="05050102010706020507" pitchFamily="18" charset="2"/>
              </a:rPr>
              <a:t> )</a:t>
            </a:r>
            <a:r>
              <a:rPr lang="en-US" altLang="zh-TW" baseline="30000" dirty="0">
                <a:latin typeface="Times New Roman" panose="02020603050405020304" pitchFamily="18" charset="0"/>
                <a:cs typeface="Times New Roman" panose="02020603050405020304" pitchFamily="18" charset="0"/>
                <a:sym typeface="Symbol" panose="05050102010706020507" pitchFamily="18" charset="2"/>
              </a:rPr>
              <a:t>2</a:t>
            </a:r>
            <a:r>
              <a:rPr lang="en-US" altLang="zh-TW" i="1" baseline="30000" dirty="0">
                <a:latin typeface="Times New Roman" panose="02020603050405020304" pitchFamily="18" charset="0"/>
                <a:cs typeface="Times New Roman" panose="02020603050405020304" pitchFamily="18" charset="0"/>
                <a:sym typeface="Symbol" panose="05050102010706020507" pitchFamily="18" charset="2"/>
              </a:rPr>
              <a:t>n</a:t>
            </a:r>
            <a:r>
              <a:rPr lang="en-US" altLang="zh-TW" baseline="30000" dirty="0">
                <a:latin typeface="Times New Roman" panose="02020603050405020304" pitchFamily="18" charset="0"/>
                <a:cs typeface="Times New Roman" panose="02020603050405020304" pitchFamily="18" charset="0"/>
                <a:sym typeface="Symbol" panose="05050102010706020507" pitchFamily="18" charset="2"/>
              </a:rPr>
              <a:t>+2</a:t>
            </a:r>
            <a:endParaRPr lang="en-US" altLang="zh-TW" baseline="30000" dirty="0">
              <a:latin typeface="Times New Roman" panose="02020603050405020304" pitchFamily="18" charset="0"/>
              <a:cs typeface="Times New Roman" panose="02020603050405020304" pitchFamily="18" charset="0"/>
            </a:endParaRPr>
          </a:p>
        </p:txBody>
      </p:sp>
      <p:grpSp>
        <p:nvGrpSpPr>
          <p:cNvPr id="42" name="群組 41">
            <a:extLst>
              <a:ext uri="{FF2B5EF4-FFF2-40B4-BE49-F238E27FC236}">
                <a16:creationId xmlns:a16="http://schemas.microsoft.com/office/drawing/2014/main" id="{6A4BBC55-57D3-44B4-9659-2EF6B03419E9}"/>
              </a:ext>
            </a:extLst>
          </p:cNvPr>
          <p:cNvGrpSpPr/>
          <p:nvPr/>
        </p:nvGrpSpPr>
        <p:grpSpPr>
          <a:xfrm>
            <a:off x="7020234" y="4531132"/>
            <a:ext cx="3529538" cy="1860896"/>
            <a:chOff x="1219200" y="3202204"/>
            <a:chExt cx="1712351" cy="1563579"/>
          </a:xfrm>
        </p:grpSpPr>
        <p:sp>
          <p:nvSpPr>
            <p:cNvPr id="43" name="橢圓 42">
              <a:extLst>
                <a:ext uri="{FF2B5EF4-FFF2-40B4-BE49-F238E27FC236}">
                  <a16:creationId xmlns:a16="http://schemas.microsoft.com/office/drawing/2014/main" id="{98CE7BB5-C571-44D6-AC65-9012F67BCD8C}"/>
                </a:ext>
              </a:extLst>
            </p:cNvPr>
            <p:cNvSpPr/>
            <p:nvPr/>
          </p:nvSpPr>
          <p:spPr>
            <a:xfrm>
              <a:off x="1219200" y="3202204"/>
              <a:ext cx="540000" cy="540000"/>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lang="zh-TW" altLang="en-US" i="1" dirty="0">
                  <a:latin typeface="Times New Roman" panose="02020603050405020304" pitchFamily="18" charset="0"/>
                  <a:cs typeface="Times New Roman" panose="02020603050405020304" pitchFamily="18" charset="0"/>
                  <a:sym typeface="Symbol" panose="05050102010706020507" pitchFamily="18" charset="2"/>
                </a:rPr>
                <a:t></a:t>
              </a:r>
              <a:endParaRPr lang="zh-TW" altLang="en-US" i="1" dirty="0">
                <a:latin typeface="Times New Roman" panose="02020603050405020304" pitchFamily="18" charset="0"/>
                <a:cs typeface="Times New Roman" panose="02020603050405020304" pitchFamily="18" charset="0"/>
              </a:endParaRPr>
            </a:p>
          </p:txBody>
        </p:sp>
        <p:sp>
          <p:nvSpPr>
            <p:cNvPr id="44" name="橢圓 43">
              <a:extLst>
                <a:ext uri="{FF2B5EF4-FFF2-40B4-BE49-F238E27FC236}">
                  <a16:creationId xmlns:a16="http://schemas.microsoft.com/office/drawing/2014/main" id="{D7D9CC14-B7C4-47B4-8F21-D7A4975E0104}"/>
                </a:ext>
              </a:extLst>
            </p:cNvPr>
            <p:cNvSpPr/>
            <p:nvPr/>
          </p:nvSpPr>
          <p:spPr>
            <a:xfrm>
              <a:off x="1219200" y="4225783"/>
              <a:ext cx="540000" cy="540000"/>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lang="zh-TW" altLang="en-US" i="1" dirty="0">
                  <a:latin typeface="Times New Roman" panose="02020603050405020304" pitchFamily="18" charset="0"/>
                  <a:cs typeface="Times New Roman" panose="02020603050405020304" pitchFamily="18" charset="0"/>
                  <a:sym typeface="Symbol" panose="05050102010706020507" pitchFamily="18" charset="2"/>
                </a:rPr>
                <a:t></a:t>
              </a:r>
              <a:endParaRPr lang="zh-TW" altLang="en-US" i="1" dirty="0">
                <a:latin typeface="Times New Roman" panose="02020603050405020304" pitchFamily="18" charset="0"/>
                <a:cs typeface="Times New Roman" panose="02020603050405020304" pitchFamily="18" charset="0"/>
              </a:endParaRPr>
            </a:p>
          </p:txBody>
        </p:sp>
        <p:sp>
          <p:nvSpPr>
            <p:cNvPr id="45" name="橢圓 44">
              <a:extLst>
                <a:ext uri="{FF2B5EF4-FFF2-40B4-BE49-F238E27FC236}">
                  <a16:creationId xmlns:a16="http://schemas.microsoft.com/office/drawing/2014/main" id="{462C9D20-783A-4629-821E-A243A90E5F05}"/>
                </a:ext>
              </a:extLst>
            </p:cNvPr>
            <p:cNvSpPr/>
            <p:nvPr/>
          </p:nvSpPr>
          <p:spPr>
            <a:xfrm>
              <a:off x="2391551" y="3202204"/>
              <a:ext cx="540000" cy="540000"/>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lang="zh-TW" altLang="en-US" i="1" dirty="0">
                  <a:latin typeface="Times New Roman" panose="02020603050405020304" pitchFamily="18" charset="0"/>
                  <a:cs typeface="Times New Roman" panose="02020603050405020304" pitchFamily="18" charset="0"/>
                  <a:sym typeface="Symbol" panose="05050102010706020507" pitchFamily="18" charset="2"/>
                </a:rPr>
                <a:t></a:t>
              </a:r>
              <a:endParaRPr lang="zh-TW" altLang="en-US" i="1" dirty="0">
                <a:latin typeface="Times New Roman" panose="02020603050405020304" pitchFamily="18" charset="0"/>
                <a:cs typeface="Times New Roman" panose="02020603050405020304" pitchFamily="18" charset="0"/>
              </a:endParaRPr>
            </a:p>
          </p:txBody>
        </p:sp>
        <p:sp>
          <p:nvSpPr>
            <p:cNvPr id="46" name="橢圓 45">
              <a:extLst>
                <a:ext uri="{FF2B5EF4-FFF2-40B4-BE49-F238E27FC236}">
                  <a16:creationId xmlns:a16="http://schemas.microsoft.com/office/drawing/2014/main" id="{1814CCB5-D226-45DA-95F1-8955FFAE0E9B}"/>
                </a:ext>
              </a:extLst>
            </p:cNvPr>
            <p:cNvSpPr/>
            <p:nvPr/>
          </p:nvSpPr>
          <p:spPr>
            <a:xfrm>
              <a:off x="2391551" y="4225783"/>
              <a:ext cx="540000" cy="540000"/>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lang="zh-TW" altLang="en-US" i="1" dirty="0">
                  <a:latin typeface="Times New Roman" panose="02020603050405020304" pitchFamily="18" charset="0"/>
                  <a:cs typeface="Times New Roman" panose="02020603050405020304" pitchFamily="18" charset="0"/>
                  <a:sym typeface="Symbol" panose="05050102010706020507" pitchFamily="18" charset="2"/>
                </a:rPr>
                <a:t></a:t>
              </a:r>
              <a:endParaRPr lang="zh-TW" altLang="en-US" i="1" dirty="0">
                <a:latin typeface="Times New Roman" panose="02020603050405020304" pitchFamily="18" charset="0"/>
                <a:cs typeface="Times New Roman" panose="02020603050405020304" pitchFamily="18" charset="0"/>
              </a:endParaRPr>
            </a:p>
          </p:txBody>
        </p:sp>
        <p:cxnSp>
          <p:nvCxnSpPr>
            <p:cNvPr id="47" name="直線單箭頭接點 46">
              <a:extLst>
                <a:ext uri="{FF2B5EF4-FFF2-40B4-BE49-F238E27FC236}">
                  <a16:creationId xmlns:a16="http://schemas.microsoft.com/office/drawing/2014/main" id="{D86D6132-2B5A-4921-AF83-4368221C3BE6}"/>
                </a:ext>
              </a:extLst>
            </p:cNvPr>
            <p:cNvCxnSpPr>
              <a:stCxn id="43" idx="6"/>
              <a:endCxn id="45" idx="2"/>
            </p:cNvCxnSpPr>
            <p:nvPr/>
          </p:nvCxnSpPr>
          <p:spPr>
            <a:xfrm>
              <a:off x="1759200" y="3472204"/>
              <a:ext cx="632351"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線單箭頭接點 47">
              <a:extLst>
                <a:ext uri="{FF2B5EF4-FFF2-40B4-BE49-F238E27FC236}">
                  <a16:creationId xmlns:a16="http://schemas.microsoft.com/office/drawing/2014/main" id="{EE100049-5ED6-4055-A226-369F509CA5F5}"/>
                </a:ext>
              </a:extLst>
            </p:cNvPr>
            <p:cNvCxnSpPr>
              <a:cxnSpLocks/>
              <a:stCxn id="45" idx="4"/>
              <a:endCxn id="46" idx="0"/>
            </p:cNvCxnSpPr>
            <p:nvPr/>
          </p:nvCxnSpPr>
          <p:spPr>
            <a:xfrm>
              <a:off x="2661551" y="3742204"/>
              <a:ext cx="0" cy="48357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線單箭頭接點 48">
              <a:extLst>
                <a:ext uri="{FF2B5EF4-FFF2-40B4-BE49-F238E27FC236}">
                  <a16:creationId xmlns:a16="http://schemas.microsoft.com/office/drawing/2014/main" id="{CE019408-EEEE-4A12-83C8-D5F29535A91D}"/>
                </a:ext>
              </a:extLst>
            </p:cNvPr>
            <p:cNvCxnSpPr>
              <a:cxnSpLocks/>
              <a:stCxn id="46" idx="2"/>
              <a:endCxn id="44" idx="6"/>
            </p:cNvCxnSpPr>
            <p:nvPr/>
          </p:nvCxnSpPr>
          <p:spPr>
            <a:xfrm flipH="1">
              <a:off x="1759200" y="4495783"/>
              <a:ext cx="632351"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53" name="內容版面配置區 2">
            <a:extLst>
              <a:ext uri="{FF2B5EF4-FFF2-40B4-BE49-F238E27FC236}">
                <a16:creationId xmlns:a16="http://schemas.microsoft.com/office/drawing/2014/main" id="{45EE7712-52F8-4E55-B572-779D6DCCDECA}"/>
              </a:ext>
            </a:extLst>
          </p:cNvPr>
          <p:cNvSpPr txBox="1">
            <a:spLocks/>
          </p:cNvSpPr>
          <p:nvPr/>
        </p:nvSpPr>
        <p:spPr>
          <a:xfrm>
            <a:off x="6857537" y="6412169"/>
            <a:ext cx="4764118" cy="46674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i="1" dirty="0">
                <a:latin typeface="Times New Roman" panose="02020603050405020304" pitchFamily="18" charset="0"/>
                <a:cs typeface="Times New Roman" panose="02020603050405020304" pitchFamily="18" charset="0"/>
              </a:rPr>
              <a:t>q</a:t>
            </a:r>
            <a:r>
              <a:rPr lang="en-US" altLang="zh-TW" sz="2400" dirty="0">
                <a:latin typeface="Times New Roman" panose="02020603050405020304" pitchFamily="18" charset="0"/>
                <a:cs typeface="Times New Roman" panose="02020603050405020304" pitchFamily="18" charset="0"/>
              </a:rPr>
              <a:t>: (</a:t>
            </a:r>
            <a:r>
              <a:rPr lang="zh-TW" altLang="en-US" sz="2400" i="1"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a:t>
            </a:r>
            <a:r>
              <a:rPr lang="zh-TW" altLang="en-US" sz="2400" i="1" dirty="0">
                <a:latin typeface="Times New Roman" panose="02020603050405020304" pitchFamily="18" charset="0"/>
                <a:cs typeface="Times New Roman" panose="02020603050405020304" pitchFamily="18" charset="0"/>
                <a:sym typeface="Symbol" panose="05050102010706020507" pitchFamily="18" charset="2"/>
              </a:rPr>
              <a:t> </a:t>
            </a:r>
            <a:r>
              <a:rPr lang="zh-TW" altLang="en-US" sz="2400" i="1"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a:t>
            </a:r>
            <a:r>
              <a:rPr lang="zh-TW" altLang="en-US" sz="2400" i="1" dirty="0">
                <a:latin typeface="Times New Roman" panose="02020603050405020304" pitchFamily="18" charset="0"/>
                <a:cs typeface="Times New Roman" panose="02020603050405020304" pitchFamily="18" charset="0"/>
                <a:sym typeface="Symbol" panose="05050102010706020507" pitchFamily="18" charset="2"/>
              </a:rPr>
              <a:t> </a:t>
            </a:r>
            <a:r>
              <a:rPr lang="zh-TW" altLang="en-US" sz="2400" i="1"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a:t>
            </a:r>
            <a:r>
              <a:rPr lang="zh-TW" altLang="en-US" sz="2400" i="1" dirty="0">
                <a:latin typeface="Times New Roman" panose="02020603050405020304" pitchFamily="18" charset="0"/>
                <a:cs typeface="Times New Roman" panose="02020603050405020304" pitchFamily="18" charset="0"/>
                <a:sym typeface="Symbol" panose="05050102010706020507" pitchFamily="18" charset="2"/>
              </a:rPr>
              <a:t> </a:t>
            </a:r>
            <a:r>
              <a:rPr lang="zh-TW" altLang="en-US" sz="2400" i="1"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a:t>
            </a:r>
            <a:r>
              <a:rPr lang="zh-TW" altLang="en-US" sz="2400" i="1" dirty="0">
                <a:latin typeface="Times New Roman" panose="02020603050405020304" pitchFamily="18" charset="0"/>
                <a:cs typeface="Times New Roman" panose="02020603050405020304" pitchFamily="18" charset="0"/>
                <a:sym typeface="Symbol" panose="05050102010706020507" pitchFamily="18" charset="2"/>
              </a:rPr>
              <a:t> </a:t>
            </a: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a:t>
            </a:r>
            <a:r>
              <a:rPr lang="en-US" altLang="zh-TW" sz="2400" baseline="30000" dirty="0">
                <a:latin typeface="Times New Roman" panose="02020603050405020304" pitchFamily="18" charset="0"/>
                <a:cs typeface="Times New Roman" panose="02020603050405020304" pitchFamily="18" charset="0"/>
                <a:sym typeface="Symbol" panose="05050102010706020507" pitchFamily="18" charset="2"/>
              </a:rPr>
              <a:t>10</a:t>
            </a:r>
            <a:endParaRPr lang="en-US" altLang="zh-TW" sz="2400" baseline="30000" dirty="0">
              <a:latin typeface="Times New Roman" panose="02020603050405020304" pitchFamily="18" charset="0"/>
              <a:cs typeface="Times New Roman" panose="02020603050405020304" pitchFamily="18" charset="0"/>
            </a:endParaRPr>
          </a:p>
        </p:txBody>
      </p:sp>
      <p:sp>
        <p:nvSpPr>
          <p:cNvPr id="54" name="內容版面配置區 2">
            <a:extLst>
              <a:ext uri="{FF2B5EF4-FFF2-40B4-BE49-F238E27FC236}">
                <a16:creationId xmlns:a16="http://schemas.microsoft.com/office/drawing/2014/main" id="{B63E4647-DDF0-4C9A-807A-3EA754380867}"/>
              </a:ext>
            </a:extLst>
          </p:cNvPr>
          <p:cNvSpPr txBox="1">
            <a:spLocks/>
          </p:cNvSpPr>
          <p:nvPr/>
        </p:nvSpPr>
        <p:spPr>
          <a:xfrm>
            <a:off x="1926179" y="3995134"/>
            <a:ext cx="1275836" cy="53599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dirty="0">
                <a:latin typeface="Times New Roman" panose="02020603050405020304" pitchFamily="18" charset="0"/>
                <a:cs typeface="Times New Roman" panose="02020603050405020304" pitchFamily="18" charset="0"/>
              </a:rPr>
              <a:t>G</a:t>
            </a:r>
            <a:r>
              <a:rPr lang="en-US" altLang="zh-TW" dirty="0">
                <a:latin typeface="+mj-lt"/>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a:t>
            </a:r>
            <a:r>
              <a:rPr lang="en-US" altLang="zh-TW" i="1" dirty="0">
                <a:latin typeface="Times New Roman" panose="02020603050405020304" pitchFamily="18" charset="0"/>
                <a:cs typeface="Times New Roman" panose="02020603050405020304" pitchFamily="18" charset="0"/>
              </a:rPr>
              <a:t>V</a:t>
            </a:r>
            <a:r>
              <a:rPr lang="en-US" altLang="zh-TW" dirty="0">
                <a:latin typeface="Times New Roman" panose="02020603050405020304" pitchFamily="18" charset="0"/>
                <a:cs typeface="Times New Roman" panose="02020603050405020304" pitchFamily="18" charset="0"/>
              </a:rPr>
              <a:t>,</a:t>
            </a:r>
            <a:r>
              <a:rPr lang="en-US" altLang="zh-TW" i="1" dirty="0">
                <a:latin typeface="Times New Roman" panose="02020603050405020304" pitchFamily="18" charset="0"/>
                <a:cs typeface="Times New Roman" panose="02020603050405020304" pitchFamily="18" charset="0"/>
              </a:rPr>
              <a:t>E</a:t>
            </a:r>
            <a:r>
              <a:rPr lang="en-US" altLang="zh-TW" dirty="0">
                <a:latin typeface="Times New Roman" panose="02020603050405020304" pitchFamily="18" charset="0"/>
                <a:cs typeface="Times New Roman" panose="02020603050405020304" pitchFamily="18" charset="0"/>
              </a:rPr>
              <a:t>)</a:t>
            </a:r>
            <a:endParaRPr lang="en-US" altLang="zh-TW" baseline="30000" dirty="0">
              <a:latin typeface="Times New Roman" panose="02020603050405020304" pitchFamily="18" charset="0"/>
              <a:cs typeface="Times New Roman" panose="02020603050405020304" pitchFamily="18" charset="0"/>
            </a:endParaRPr>
          </a:p>
        </p:txBody>
      </p:sp>
      <p:sp>
        <p:nvSpPr>
          <p:cNvPr id="56" name="內容版面配置區 2">
            <a:extLst>
              <a:ext uri="{FF2B5EF4-FFF2-40B4-BE49-F238E27FC236}">
                <a16:creationId xmlns:a16="http://schemas.microsoft.com/office/drawing/2014/main" id="{1B5BF6DB-4EC5-4C74-81B0-85C279DE1BFF}"/>
              </a:ext>
            </a:extLst>
          </p:cNvPr>
          <p:cNvSpPr txBox="1">
            <a:spLocks/>
          </p:cNvSpPr>
          <p:nvPr/>
        </p:nvSpPr>
        <p:spPr>
          <a:xfrm>
            <a:off x="8129686" y="3995134"/>
            <a:ext cx="1614677" cy="53599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dirty="0">
                <a:latin typeface="Times New Roman" panose="02020603050405020304" pitchFamily="18" charset="0"/>
                <a:cs typeface="Times New Roman" panose="02020603050405020304" pitchFamily="18" charset="0"/>
              </a:rPr>
              <a:t>G(</a:t>
            </a:r>
            <a:r>
              <a:rPr lang="en-US" altLang="zh-TW" i="1" dirty="0">
                <a:latin typeface="Times New Roman" panose="02020603050405020304" pitchFamily="18" charset="0"/>
                <a:cs typeface="Times New Roman" panose="02020603050405020304" pitchFamily="18" charset="0"/>
              </a:rPr>
              <a:t>V</a:t>
            </a:r>
            <a:r>
              <a:rPr lang="en-US" altLang="zh-TW" dirty="0">
                <a:latin typeface="Times New Roman" panose="02020603050405020304" pitchFamily="18" charset="0"/>
                <a:cs typeface="Times New Roman" panose="02020603050405020304" pitchFamily="18" charset="0"/>
              </a:rPr>
              <a:t>,</a:t>
            </a:r>
            <a:r>
              <a:rPr lang="en-US" altLang="zh-TW" i="1" dirty="0">
                <a:latin typeface="Times New Roman" panose="02020603050405020304" pitchFamily="18" charset="0"/>
                <a:cs typeface="Times New Roman" panose="02020603050405020304" pitchFamily="18" charset="0"/>
              </a:rPr>
              <a:t>E</a:t>
            </a:r>
            <a:r>
              <a:rPr lang="en-US" altLang="zh-TW" dirty="0">
                <a:latin typeface="Times New Roman" panose="02020603050405020304" pitchFamily="18" charset="0"/>
                <a:cs typeface="Times New Roman" panose="02020603050405020304" pitchFamily="18" charset="0"/>
              </a:rPr>
              <a:t>,</a:t>
            </a:r>
            <a:r>
              <a:rPr lang="en-US" altLang="zh-TW" i="1" dirty="0">
                <a:latin typeface="Times New Roman" panose="02020603050405020304" pitchFamily="18" charset="0"/>
                <a:cs typeface="Times New Roman" panose="02020603050405020304" pitchFamily="18" charset="0"/>
                <a:sym typeface="Symbol" panose="05050102010706020507" pitchFamily="18" charset="2"/>
              </a:rPr>
              <a:t></a:t>
            </a:r>
            <a:r>
              <a:rPr lang="en-US" altLang="zh-TW" dirty="0">
                <a:latin typeface="Times New Roman" panose="02020603050405020304" pitchFamily="18" charset="0"/>
                <a:cs typeface="Times New Roman" panose="02020603050405020304" pitchFamily="18" charset="0"/>
              </a:rPr>
              <a:t>)</a:t>
            </a:r>
            <a:endParaRPr lang="en-US" altLang="zh-TW" baseline="30000" dirty="0">
              <a:latin typeface="Times New Roman" panose="02020603050405020304" pitchFamily="18" charset="0"/>
              <a:cs typeface="Times New Roman" panose="02020603050405020304" pitchFamily="18" charset="0"/>
            </a:endParaRPr>
          </a:p>
        </p:txBody>
      </p:sp>
      <p:cxnSp>
        <p:nvCxnSpPr>
          <p:cNvPr id="58" name="直線單箭頭接點 57">
            <a:extLst>
              <a:ext uri="{FF2B5EF4-FFF2-40B4-BE49-F238E27FC236}">
                <a16:creationId xmlns:a16="http://schemas.microsoft.com/office/drawing/2014/main" id="{1398CFED-BB13-4D5D-A7C8-FE044C61A84B}"/>
              </a:ext>
            </a:extLst>
          </p:cNvPr>
          <p:cNvCxnSpPr/>
          <p:nvPr/>
        </p:nvCxnSpPr>
        <p:spPr>
          <a:xfrm>
            <a:off x="4304145" y="5426421"/>
            <a:ext cx="1948873"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8" name="直線單箭頭接點 27">
            <a:extLst>
              <a:ext uri="{FF2B5EF4-FFF2-40B4-BE49-F238E27FC236}">
                <a16:creationId xmlns:a16="http://schemas.microsoft.com/office/drawing/2014/main" id="{94D1C4A7-0E69-4487-A379-2E696A3CAEC1}"/>
              </a:ext>
            </a:extLst>
          </p:cNvPr>
          <p:cNvCxnSpPr>
            <a:cxnSpLocks/>
          </p:cNvCxnSpPr>
          <p:nvPr/>
        </p:nvCxnSpPr>
        <p:spPr>
          <a:xfrm>
            <a:off x="7411773" y="5173814"/>
            <a:ext cx="0" cy="57553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線單箭頭接點 29">
            <a:extLst>
              <a:ext uri="{FF2B5EF4-FFF2-40B4-BE49-F238E27FC236}">
                <a16:creationId xmlns:a16="http://schemas.microsoft.com/office/drawing/2014/main" id="{28A8973E-822A-4E24-BB4A-271527F369D5}"/>
              </a:ext>
            </a:extLst>
          </p:cNvPr>
          <p:cNvCxnSpPr>
            <a:cxnSpLocks/>
          </p:cNvCxnSpPr>
          <p:nvPr/>
        </p:nvCxnSpPr>
        <p:spPr>
          <a:xfrm flipV="1">
            <a:off x="7732124" y="5173814"/>
            <a:ext cx="0" cy="57553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7" name="群組 6">
            <a:extLst>
              <a:ext uri="{FF2B5EF4-FFF2-40B4-BE49-F238E27FC236}">
                <a16:creationId xmlns:a16="http://schemas.microsoft.com/office/drawing/2014/main" id="{7A9A2B79-BED2-4467-8CA7-7D9B4446539E}"/>
              </a:ext>
            </a:extLst>
          </p:cNvPr>
          <p:cNvGrpSpPr/>
          <p:nvPr/>
        </p:nvGrpSpPr>
        <p:grpSpPr>
          <a:xfrm>
            <a:off x="1626300" y="4510703"/>
            <a:ext cx="1859757" cy="1758214"/>
            <a:chOff x="3754266" y="2695574"/>
            <a:chExt cx="1859757" cy="1758214"/>
          </a:xfrm>
        </p:grpSpPr>
        <p:grpSp>
          <p:nvGrpSpPr>
            <p:cNvPr id="32" name="群組 31">
              <a:extLst>
                <a:ext uri="{FF2B5EF4-FFF2-40B4-BE49-F238E27FC236}">
                  <a16:creationId xmlns:a16="http://schemas.microsoft.com/office/drawing/2014/main" id="{BF28BEDC-A5FE-4949-8686-6293D3171A6D}"/>
                </a:ext>
              </a:extLst>
            </p:cNvPr>
            <p:cNvGrpSpPr/>
            <p:nvPr/>
          </p:nvGrpSpPr>
          <p:grpSpPr>
            <a:xfrm>
              <a:off x="3754266" y="2695574"/>
              <a:ext cx="1859757" cy="1758214"/>
              <a:chOff x="1219200" y="3202204"/>
              <a:chExt cx="1652038" cy="1477303"/>
            </a:xfrm>
          </p:grpSpPr>
          <p:sp>
            <p:nvSpPr>
              <p:cNvPr id="33" name="橢圓 32">
                <a:extLst>
                  <a:ext uri="{FF2B5EF4-FFF2-40B4-BE49-F238E27FC236}">
                    <a16:creationId xmlns:a16="http://schemas.microsoft.com/office/drawing/2014/main" id="{32F412EA-F454-4ACD-9B95-ECE27EB4FC1D}"/>
                  </a:ext>
                </a:extLst>
              </p:cNvPr>
              <p:cNvSpPr/>
              <p:nvPr/>
            </p:nvSpPr>
            <p:spPr>
              <a:xfrm>
                <a:off x="1219200" y="3202204"/>
                <a:ext cx="479686" cy="453724"/>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i="1" dirty="0">
                  <a:latin typeface="Times New Roman" panose="02020603050405020304" pitchFamily="18" charset="0"/>
                  <a:cs typeface="Times New Roman" panose="02020603050405020304" pitchFamily="18" charset="0"/>
                </a:endParaRPr>
              </a:p>
            </p:txBody>
          </p:sp>
          <p:sp>
            <p:nvSpPr>
              <p:cNvPr id="34" name="橢圓 33">
                <a:extLst>
                  <a:ext uri="{FF2B5EF4-FFF2-40B4-BE49-F238E27FC236}">
                    <a16:creationId xmlns:a16="http://schemas.microsoft.com/office/drawing/2014/main" id="{7ECB0434-03C8-4C2C-9868-28B0AC693003}"/>
                  </a:ext>
                </a:extLst>
              </p:cNvPr>
              <p:cNvSpPr/>
              <p:nvPr/>
            </p:nvSpPr>
            <p:spPr>
              <a:xfrm>
                <a:off x="1219200" y="4225783"/>
                <a:ext cx="479687" cy="453724"/>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i="1" dirty="0">
                  <a:latin typeface="Times New Roman" panose="02020603050405020304" pitchFamily="18" charset="0"/>
                  <a:cs typeface="Times New Roman" panose="02020603050405020304" pitchFamily="18" charset="0"/>
                </a:endParaRPr>
              </a:p>
            </p:txBody>
          </p:sp>
          <p:sp>
            <p:nvSpPr>
              <p:cNvPr id="35" name="橢圓 34">
                <a:extLst>
                  <a:ext uri="{FF2B5EF4-FFF2-40B4-BE49-F238E27FC236}">
                    <a16:creationId xmlns:a16="http://schemas.microsoft.com/office/drawing/2014/main" id="{773B1FC8-4B1D-4E5D-BE4A-EC961ED68504}"/>
                  </a:ext>
                </a:extLst>
              </p:cNvPr>
              <p:cNvSpPr/>
              <p:nvPr/>
            </p:nvSpPr>
            <p:spPr>
              <a:xfrm>
                <a:off x="2391551" y="3202204"/>
                <a:ext cx="479686" cy="453724"/>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i="1" dirty="0">
                  <a:latin typeface="Times New Roman" panose="02020603050405020304" pitchFamily="18" charset="0"/>
                  <a:cs typeface="Times New Roman" panose="02020603050405020304" pitchFamily="18" charset="0"/>
                </a:endParaRPr>
              </a:p>
            </p:txBody>
          </p:sp>
          <p:sp>
            <p:nvSpPr>
              <p:cNvPr id="36" name="橢圓 35">
                <a:extLst>
                  <a:ext uri="{FF2B5EF4-FFF2-40B4-BE49-F238E27FC236}">
                    <a16:creationId xmlns:a16="http://schemas.microsoft.com/office/drawing/2014/main" id="{BE4B5E33-EC16-43C1-9F21-5A3E25A24488}"/>
                  </a:ext>
                </a:extLst>
              </p:cNvPr>
              <p:cNvSpPr/>
              <p:nvPr/>
            </p:nvSpPr>
            <p:spPr>
              <a:xfrm>
                <a:off x="2391551" y="4225783"/>
                <a:ext cx="479687" cy="453724"/>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i="1" dirty="0">
                  <a:latin typeface="Times New Roman" panose="02020603050405020304" pitchFamily="18" charset="0"/>
                  <a:cs typeface="Times New Roman" panose="02020603050405020304" pitchFamily="18" charset="0"/>
                </a:endParaRPr>
              </a:p>
            </p:txBody>
          </p:sp>
          <p:cxnSp>
            <p:nvCxnSpPr>
              <p:cNvPr id="37" name="直線單箭頭接點 36">
                <a:extLst>
                  <a:ext uri="{FF2B5EF4-FFF2-40B4-BE49-F238E27FC236}">
                    <a16:creationId xmlns:a16="http://schemas.microsoft.com/office/drawing/2014/main" id="{E97DC4F2-2F60-4DB4-9C3F-97AB61F75BFC}"/>
                  </a:ext>
                </a:extLst>
              </p:cNvPr>
              <p:cNvCxnSpPr>
                <a:stCxn id="33" idx="6"/>
                <a:endCxn id="35" idx="2"/>
              </p:cNvCxnSpPr>
              <p:nvPr/>
            </p:nvCxnSpPr>
            <p:spPr>
              <a:xfrm>
                <a:off x="1698886" y="3429066"/>
                <a:ext cx="692666"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線單箭頭接點 37">
                <a:extLst>
                  <a:ext uri="{FF2B5EF4-FFF2-40B4-BE49-F238E27FC236}">
                    <a16:creationId xmlns:a16="http://schemas.microsoft.com/office/drawing/2014/main" id="{455304A6-73A3-4F85-B4BE-8ECF3B8085B0}"/>
                  </a:ext>
                </a:extLst>
              </p:cNvPr>
              <p:cNvCxnSpPr>
                <a:cxnSpLocks/>
                <a:stCxn id="35" idx="4"/>
                <a:endCxn id="36" idx="0"/>
              </p:cNvCxnSpPr>
              <p:nvPr/>
            </p:nvCxnSpPr>
            <p:spPr>
              <a:xfrm>
                <a:off x="2631395" y="3655928"/>
                <a:ext cx="0" cy="5698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線單箭頭接點 38">
                <a:extLst>
                  <a:ext uri="{FF2B5EF4-FFF2-40B4-BE49-F238E27FC236}">
                    <a16:creationId xmlns:a16="http://schemas.microsoft.com/office/drawing/2014/main" id="{3BCA18C4-3174-4A14-9F16-2F04FFBC1BE1}"/>
                  </a:ext>
                </a:extLst>
              </p:cNvPr>
              <p:cNvCxnSpPr>
                <a:cxnSpLocks/>
                <a:stCxn id="36" idx="2"/>
                <a:endCxn id="34" idx="6"/>
              </p:cNvCxnSpPr>
              <p:nvPr/>
            </p:nvCxnSpPr>
            <p:spPr>
              <a:xfrm flipH="1">
                <a:off x="1698887" y="4452645"/>
                <a:ext cx="692665"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52" name="直線單箭頭接點 51">
              <a:extLst>
                <a:ext uri="{FF2B5EF4-FFF2-40B4-BE49-F238E27FC236}">
                  <a16:creationId xmlns:a16="http://schemas.microsoft.com/office/drawing/2014/main" id="{C85AFBE2-41D6-46C6-B6D4-116888E9D6AB}"/>
                </a:ext>
              </a:extLst>
            </p:cNvPr>
            <p:cNvCxnSpPr>
              <a:cxnSpLocks/>
            </p:cNvCxnSpPr>
            <p:nvPr/>
          </p:nvCxnSpPr>
          <p:spPr>
            <a:xfrm flipV="1">
              <a:off x="4133618" y="3235574"/>
              <a:ext cx="0" cy="67821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線單箭頭接點 54">
              <a:extLst>
                <a:ext uri="{FF2B5EF4-FFF2-40B4-BE49-F238E27FC236}">
                  <a16:creationId xmlns:a16="http://schemas.microsoft.com/office/drawing/2014/main" id="{9D475EFF-0419-4C6C-8825-59F93341CB20}"/>
                </a:ext>
              </a:extLst>
            </p:cNvPr>
            <p:cNvCxnSpPr>
              <a:cxnSpLocks/>
            </p:cNvCxnSpPr>
            <p:nvPr/>
          </p:nvCxnSpPr>
          <p:spPr>
            <a:xfrm>
              <a:off x="3931455" y="3235574"/>
              <a:ext cx="0" cy="67821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206101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B66326-0258-4924-B0B5-05633F8B6DD4}"/>
              </a:ext>
            </a:extLst>
          </p:cNvPr>
          <p:cNvSpPr>
            <a:spLocks noGrp="1"/>
          </p:cNvSpPr>
          <p:nvPr>
            <p:ph type="title"/>
          </p:nvPr>
        </p:nvSpPr>
        <p:spPr/>
        <p:txBody>
          <a:bodyPr>
            <a:normAutofit/>
          </a:bodyPr>
          <a:lstStyle/>
          <a:p>
            <a:r>
              <a:rPr lang="en-US" altLang="zh-TW" sz="4000" dirty="0">
                <a:latin typeface="Times New Roman" panose="02020603050405020304" pitchFamily="18" charset="0"/>
                <a:cs typeface="Times New Roman" panose="02020603050405020304" pitchFamily="18" charset="0"/>
              </a:rPr>
              <a:t>Hamming distance model</a:t>
            </a:r>
            <a:endParaRPr lang="zh-TW" altLang="en-US" sz="4000"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D62D5C57-92EA-4061-8DBC-ABC04F3533CB}"/>
              </a:ext>
            </a:extLst>
          </p:cNvPr>
          <p:cNvSpPr>
            <a:spLocks noGrp="1"/>
          </p:cNvSpPr>
          <p:nvPr>
            <p:ph idx="1"/>
          </p:nvPr>
        </p:nvSpPr>
        <p:spPr>
          <a:xfrm>
            <a:off x="703278" y="1825625"/>
            <a:ext cx="10515600" cy="4351338"/>
          </a:xfrm>
        </p:spPr>
        <p:txBody>
          <a:bodyPr>
            <a:normAutofit/>
          </a:bodyPr>
          <a:lstStyle/>
          <a:p>
            <a:pPr marL="0" indent="0">
              <a:buNone/>
            </a:pPr>
            <a:r>
              <a:rPr lang="en-US" altLang="zh-TW" dirty="0">
                <a:latin typeface="Times New Roman" panose="02020603050405020304" pitchFamily="18" charset="0"/>
                <a:cs typeface="Times New Roman" panose="02020603050405020304" pitchFamily="18" charset="0"/>
              </a:rPr>
              <a:t>directed Hamiltonian cycle </a:t>
            </a:r>
            <a:r>
              <a:rPr lang="en-US" altLang="zh-TW" dirty="0">
                <a:latin typeface="Times New Roman" panose="02020603050405020304" pitchFamily="18" charset="0"/>
                <a:cs typeface="Times New Roman" panose="02020603050405020304" pitchFamily="18" charset="0"/>
                <a:sym typeface="Symbol" panose="05050102010706020507" pitchFamily="18" charset="2"/>
              </a:rPr>
              <a:t> sequence-to-graph alignment</a:t>
            </a:r>
            <a:br>
              <a:rPr lang="en-US" altLang="zh-TW" dirty="0">
                <a:latin typeface="Times New Roman" panose="02020603050405020304" pitchFamily="18" charset="0"/>
                <a:cs typeface="Times New Roman" panose="02020603050405020304" pitchFamily="18" charset="0"/>
                <a:sym typeface="Symbol" panose="05050102010706020507" pitchFamily="18" charset="2"/>
              </a:rPr>
            </a:br>
            <a:r>
              <a:rPr lang="en-US" altLang="zh-TW" dirty="0">
                <a:latin typeface="Times New Roman" panose="02020603050405020304" pitchFamily="18" charset="0"/>
                <a:cs typeface="Times New Roman" panose="02020603050405020304" pitchFamily="18" charset="0"/>
                <a:sym typeface="Symbol" panose="05050102010706020507" pitchFamily="18" charset="2"/>
              </a:rPr>
              <a:t>=&gt; </a:t>
            </a:r>
            <a:br>
              <a:rPr lang="en-US" altLang="zh-TW" dirty="0">
                <a:latin typeface="Times New Roman" panose="02020603050405020304" pitchFamily="18" charset="0"/>
                <a:cs typeface="Times New Roman" panose="02020603050405020304" pitchFamily="18" charset="0"/>
                <a:sym typeface="Symbol" panose="05050102010706020507" pitchFamily="18" charset="2"/>
              </a:rPr>
            </a:b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suppose there is a Hamiltonian cycle in G</a:t>
            </a:r>
            <a:r>
              <a:rPr lang="en-US" altLang="zh-TW" sz="2400" dirty="0">
                <a:latin typeface="+mj-lt"/>
                <a:cs typeface="Times New Roman" panose="02020603050405020304" pitchFamily="18" charset="0"/>
                <a:sym typeface="Symbol" panose="05050102010706020507" pitchFamily="18" charset="2"/>
              </a:rPr>
              <a:t>’</a:t>
            </a: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a:t>
            </a:r>
            <a:r>
              <a:rPr lang="en-US" altLang="zh-TW" sz="2400" i="1" dirty="0">
                <a:latin typeface="Times New Roman" panose="02020603050405020304" pitchFamily="18" charset="0"/>
                <a:cs typeface="Times New Roman" panose="02020603050405020304" pitchFamily="18" charset="0"/>
                <a:sym typeface="Symbol" panose="05050102010706020507" pitchFamily="18" charset="2"/>
              </a:rPr>
              <a:t>V</a:t>
            </a: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a:t>
            </a:r>
            <a:r>
              <a:rPr lang="en-US" altLang="zh-TW" sz="2400" i="1" dirty="0">
                <a:latin typeface="Times New Roman" panose="02020603050405020304" pitchFamily="18" charset="0"/>
                <a:cs typeface="Times New Roman" panose="02020603050405020304" pitchFamily="18" charset="0"/>
                <a:sym typeface="Symbol" panose="05050102010706020507" pitchFamily="18" charset="2"/>
              </a:rPr>
              <a:t>E</a:t>
            </a: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a:t>
            </a:r>
          </a:p>
        </p:txBody>
      </p:sp>
      <p:grpSp>
        <p:nvGrpSpPr>
          <p:cNvPr id="4" name="群組 3">
            <a:extLst>
              <a:ext uri="{FF2B5EF4-FFF2-40B4-BE49-F238E27FC236}">
                <a16:creationId xmlns:a16="http://schemas.microsoft.com/office/drawing/2014/main" id="{A6718ABB-4083-49CA-A3E1-E490039D0030}"/>
              </a:ext>
            </a:extLst>
          </p:cNvPr>
          <p:cNvGrpSpPr/>
          <p:nvPr/>
        </p:nvGrpSpPr>
        <p:grpSpPr>
          <a:xfrm>
            <a:off x="1000897" y="3727280"/>
            <a:ext cx="3529538" cy="2396894"/>
            <a:chOff x="7020234" y="3995134"/>
            <a:chExt cx="3529538" cy="2396894"/>
          </a:xfrm>
        </p:grpSpPr>
        <p:grpSp>
          <p:nvGrpSpPr>
            <p:cNvPr id="42" name="群組 41">
              <a:extLst>
                <a:ext uri="{FF2B5EF4-FFF2-40B4-BE49-F238E27FC236}">
                  <a16:creationId xmlns:a16="http://schemas.microsoft.com/office/drawing/2014/main" id="{6A4BBC55-57D3-44B4-9659-2EF6B03419E9}"/>
                </a:ext>
              </a:extLst>
            </p:cNvPr>
            <p:cNvGrpSpPr/>
            <p:nvPr/>
          </p:nvGrpSpPr>
          <p:grpSpPr>
            <a:xfrm>
              <a:off x="7020234" y="4531132"/>
              <a:ext cx="3529538" cy="1860896"/>
              <a:chOff x="1219200" y="3202204"/>
              <a:chExt cx="1712351" cy="1563579"/>
            </a:xfrm>
          </p:grpSpPr>
          <p:sp>
            <p:nvSpPr>
              <p:cNvPr id="43" name="橢圓 42">
                <a:extLst>
                  <a:ext uri="{FF2B5EF4-FFF2-40B4-BE49-F238E27FC236}">
                    <a16:creationId xmlns:a16="http://schemas.microsoft.com/office/drawing/2014/main" id="{98CE7BB5-C571-44D6-AC65-9012F67BCD8C}"/>
                  </a:ext>
                </a:extLst>
              </p:cNvPr>
              <p:cNvSpPr/>
              <p:nvPr/>
            </p:nvSpPr>
            <p:spPr>
              <a:xfrm>
                <a:off x="1219200" y="3202204"/>
                <a:ext cx="540000" cy="540000"/>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lang="zh-TW" altLang="en-US" i="1" dirty="0">
                    <a:latin typeface="Times New Roman" panose="02020603050405020304" pitchFamily="18" charset="0"/>
                    <a:cs typeface="Times New Roman" panose="02020603050405020304" pitchFamily="18" charset="0"/>
                    <a:sym typeface="Symbol" panose="05050102010706020507" pitchFamily="18" charset="2"/>
                  </a:rPr>
                  <a:t></a:t>
                </a:r>
                <a:endParaRPr lang="zh-TW" altLang="en-US" i="1" dirty="0">
                  <a:latin typeface="Times New Roman" panose="02020603050405020304" pitchFamily="18" charset="0"/>
                  <a:cs typeface="Times New Roman" panose="02020603050405020304" pitchFamily="18" charset="0"/>
                </a:endParaRPr>
              </a:p>
            </p:txBody>
          </p:sp>
          <p:sp>
            <p:nvSpPr>
              <p:cNvPr id="44" name="橢圓 43">
                <a:extLst>
                  <a:ext uri="{FF2B5EF4-FFF2-40B4-BE49-F238E27FC236}">
                    <a16:creationId xmlns:a16="http://schemas.microsoft.com/office/drawing/2014/main" id="{D7D9CC14-B7C4-47B4-8F21-D7A4975E0104}"/>
                  </a:ext>
                </a:extLst>
              </p:cNvPr>
              <p:cNvSpPr/>
              <p:nvPr/>
            </p:nvSpPr>
            <p:spPr>
              <a:xfrm>
                <a:off x="1219200" y="4225783"/>
                <a:ext cx="540000" cy="540000"/>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lang="zh-TW" altLang="en-US" i="1" dirty="0">
                    <a:latin typeface="Times New Roman" panose="02020603050405020304" pitchFamily="18" charset="0"/>
                    <a:cs typeface="Times New Roman" panose="02020603050405020304" pitchFamily="18" charset="0"/>
                    <a:sym typeface="Symbol" panose="05050102010706020507" pitchFamily="18" charset="2"/>
                  </a:rPr>
                  <a:t></a:t>
                </a:r>
                <a:endParaRPr lang="zh-TW" altLang="en-US" i="1" dirty="0">
                  <a:latin typeface="Times New Roman" panose="02020603050405020304" pitchFamily="18" charset="0"/>
                  <a:cs typeface="Times New Roman" panose="02020603050405020304" pitchFamily="18" charset="0"/>
                </a:endParaRPr>
              </a:p>
            </p:txBody>
          </p:sp>
          <p:sp>
            <p:nvSpPr>
              <p:cNvPr id="45" name="橢圓 44">
                <a:extLst>
                  <a:ext uri="{FF2B5EF4-FFF2-40B4-BE49-F238E27FC236}">
                    <a16:creationId xmlns:a16="http://schemas.microsoft.com/office/drawing/2014/main" id="{462C9D20-783A-4629-821E-A243A90E5F05}"/>
                  </a:ext>
                </a:extLst>
              </p:cNvPr>
              <p:cNvSpPr/>
              <p:nvPr/>
            </p:nvSpPr>
            <p:spPr>
              <a:xfrm>
                <a:off x="2391551" y="3202204"/>
                <a:ext cx="540000" cy="540000"/>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lang="zh-TW" altLang="en-US" i="1" dirty="0">
                    <a:latin typeface="Times New Roman" panose="02020603050405020304" pitchFamily="18" charset="0"/>
                    <a:cs typeface="Times New Roman" panose="02020603050405020304" pitchFamily="18" charset="0"/>
                    <a:sym typeface="Symbol" panose="05050102010706020507" pitchFamily="18" charset="2"/>
                  </a:rPr>
                  <a:t></a:t>
                </a:r>
                <a:endParaRPr lang="zh-TW" altLang="en-US" i="1" dirty="0">
                  <a:latin typeface="Times New Roman" panose="02020603050405020304" pitchFamily="18" charset="0"/>
                  <a:cs typeface="Times New Roman" panose="02020603050405020304" pitchFamily="18" charset="0"/>
                </a:endParaRPr>
              </a:p>
            </p:txBody>
          </p:sp>
          <p:sp>
            <p:nvSpPr>
              <p:cNvPr id="46" name="橢圓 45">
                <a:extLst>
                  <a:ext uri="{FF2B5EF4-FFF2-40B4-BE49-F238E27FC236}">
                    <a16:creationId xmlns:a16="http://schemas.microsoft.com/office/drawing/2014/main" id="{1814CCB5-D226-45DA-95F1-8955FFAE0E9B}"/>
                  </a:ext>
                </a:extLst>
              </p:cNvPr>
              <p:cNvSpPr/>
              <p:nvPr/>
            </p:nvSpPr>
            <p:spPr>
              <a:xfrm>
                <a:off x="2391551" y="4225783"/>
                <a:ext cx="540000" cy="540000"/>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lang="zh-TW" altLang="en-US" i="1" dirty="0">
                    <a:latin typeface="Times New Roman" panose="02020603050405020304" pitchFamily="18" charset="0"/>
                    <a:cs typeface="Times New Roman" panose="02020603050405020304" pitchFamily="18" charset="0"/>
                    <a:sym typeface="Symbol" panose="05050102010706020507" pitchFamily="18" charset="2"/>
                  </a:rPr>
                  <a:t></a:t>
                </a:r>
                <a:endParaRPr lang="zh-TW" altLang="en-US" i="1" dirty="0">
                  <a:latin typeface="Times New Roman" panose="02020603050405020304" pitchFamily="18" charset="0"/>
                  <a:cs typeface="Times New Roman" panose="02020603050405020304" pitchFamily="18" charset="0"/>
                </a:endParaRPr>
              </a:p>
            </p:txBody>
          </p:sp>
          <p:cxnSp>
            <p:nvCxnSpPr>
              <p:cNvPr id="47" name="直線單箭頭接點 46">
                <a:extLst>
                  <a:ext uri="{FF2B5EF4-FFF2-40B4-BE49-F238E27FC236}">
                    <a16:creationId xmlns:a16="http://schemas.microsoft.com/office/drawing/2014/main" id="{D86D6132-2B5A-4921-AF83-4368221C3BE6}"/>
                  </a:ext>
                </a:extLst>
              </p:cNvPr>
              <p:cNvCxnSpPr>
                <a:stCxn id="43" idx="6"/>
                <a:endCxn id="45" idx="2"/>
              </p:cNvCxnSpPr>
              <p:nvPr/>
            </p:nvCxnSpPr>
            <p:spPr>
              <a:xfrm>
                <a:off x="1759200" y="3472204"/>
                <a:ext cx="632351"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線單箭頭接點 47">
                <a:extLst>
                  <a:ext uri="{FF2B5EF4-FFF2-40B4-BE49-F238E27FC236}">
                    <a16:creationId xmlns:a16="http://schemas.microsoft.com/office/drawing/2014/main" id="{EE100049-5ED6-4055-A226-369F509CA5F5}"/>
                  </a:ext>
                </a:extLst>
              </p:cNvPr>
              <p:cNvCxnSpPr>
                <a:cxnSpLocks/>
                <a:stCxn id="45" idx="4"/>
                <a:endCxn id="46" idx="0"/>
              </p:cNvCxnSpPr>
              <p:nvPr/>
            </p:nvCxnSpPr>
            <p:spPr>
              <a:xfrm>
                <a:off x="2661551" y="3742204"/>
                <a:ext cx="0" cy="48357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線單箭頭接點 48">
                <a:extLst>
                  <a:ext uri="{FF2B5EF4-FFF2-40B4-BE49-F238E27FC236}">
                    <a16:creationId xmlns:a16="http://schemas.microsoft.com/office/drawing/2014/main" id="{CE019408-EEEE-4A12-83C8-D5F29535A91D}"/>
                  </a:ext>
                </a:extLst>
              </p:cNvPr>
              <p:cNvCxnSpPr>
                <a:cxnSpLocks/>
                <a:stCxn id="46" idx="2"/>
                <a:endCxn id="44" idx="6"/>
              </p:cNvCxnSpPr>
              <p:nvPr/>
            </p:nvCxnSpPr>
            <p:spPr>
              <a:xfrm flipH="1">
                <a:off x="1759200" y="4495783"/>
                <a:ext cx="632351"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56" name="內容版面配置區 2">
              <a:extLst>
                <a:ext uri="{FF2B5EF4-FFF2-40B4-BE49-F238E27FC236}">
                  <a16:creationId xmlns:a16="http://schemas.microsoft.com/office/drawing/2014/main" id="{1B5BF6DB-4EC5-4C74-81B0-85C279DE1BFF}"/>
                </a:ext>
              </a:extLst>
            </p:cNvPr>
            <p:cNvSpPr txBox="1">
              <a:spLocks/>
            </p:cNvSpPr>
            <p:nvPr/>
          </p:nvSpPr>
          <p:spPr>
            <a:xfrm>
              <a:off x="8129686" y="3995134"/>
              <a:ext cx="1614677" cy="53599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dirty="0">
                  <a:latin typeface="Times New Roman" panose="02020603050405020304" pitchFamily="18" charset="0"/>
                  <a:cs typeface="Times New Roman" panose="02020603050405020304" pitchFamily="18" charset="0"/>
                </a:rPr>
                <a:t>G(</a:t>
              </a:r>
              <a:r>
                <a:rPr lang="en-US" altLang="zh-TW" i="1" dirty="0">
                  <a:latin typeface="Times New Roman" panose="02020603050405020304" pitchFamily="18" charset="0"/>
                  <a:cs typeface="Times New Roman" panose="02020603050405020304" pitchFamily="18" charset="0"/>
                </a:rPr>
                <a:t>V</a:t>
              </a:r>
              <a:r>
                <a:rPr lang="en-US" altLang="zh-TW" dirty="0">
                  <a:latin typeface="Times New Roman" panose="02020603050405020304" pitchFamily="18" charset="0"/>
                  <a:cs typeface="Times New Roman" panose="02020603050405020304" pitchFamily="18" charset="0"/>
                </a:rPr>
                <a:t>,</a:t>
              </a:r>
              <a:r>
                <a:rPr lang="en-US" altLang="zh-TW" i="1" dirty="0">
                  <a:latin typeface="Times New Roman" panose="02020603050405020304" pitchFamily="18" charset="0"/>
                  <a:cs typeface="Times New Roman" panose="02020603050405020304" pitchFamily="18" charset="0"/>
                </a:rPr>
                <a:t>E</a:t>
              </a:r>
              <a:r>
                <a:rPr lang="en-US" altLang="zh-TW" dirty="0">
                  <a:latin typeface="Times New Roman" panose="02020603050405020304" pitchFamily="18" charset="0"/>
                  <a:cs typeface="Times New Roman" panose="02020603050405020304" pitchFamily="18" charset="0"/>
                </a:rPr>
                <a:t>,</a:t>
              </a:r>
              <a:r>
                <a:rPr lang="en-US" altLang="zh-TW" i="1" dirty="0">
                  <a:latin typeface="Times New Roman" panose="02020603050405020304" pitchFamily="18" charset="0"/>
                  <a:cs typeface="Times New Roman" panose="02020603050405020304" pitchFamily="18" charset="0"/>
                  <a:sym typeface="Symbol" panose="05050102010706020507" pitchFamily="18" charset="2"/>
                </a:rPr>
                <a:t></a:t>
              </a:r>
              <a:r>
                <a:rPr lang="en-US" altLang="zh-TW" dirty="0">
                  <a:latin typeface="Times New Roman" panose="02020603050405020304" pitchFamily="18" charset="0"/>
                  <a:cs typeface="Times New Roman" panose="02020603050405020304" pitchFamily="18" charset="0"/>
                </a:rPr>
                <a:t>)</a:t>
              </a:r>
              <a:endParaRPr lang="en-US" altLang="zh-TW" baseline="30000" dirty="0">
                <a:latin typeface="Times New Roman" panose="02020603050405020304" pitchFamily="18" charset="0"/>
                <a:cs typeface="Times New Roman" panose="02020603050405020304" pitchFamily="18" charset="0"/>
              </a:endParaRPr>
            </a:p>
          </p:txBody>
        </p:sp>
      </p:grpSp>
      <p:grpSp>
        <p:nvGrpSpPr>
          <p:cNvPr id="59" name="群組 58">
            <a:extLst>
              <a:ext uri="{FF2B5EF4-FFF2-40B4-BE49-F238E27FC236}">
                <a16:creationId xmlns:a16="http://schemas.microsoft.com/office/drawing/2014/main" id="{0BB7AC95-A691-4B90-8B4D-11410C7BDC37}"/>
              </a:ext>
            </a:extLst>
          </p:cNvPr>
          <p:cNvGrpSpPr/>
          <p:nvPr/>
        </p:nvGrpSpPr>
        <p:grpSpPr>
          <a:xfrm>
            <a:off x="6915076" y="3727280"/>
            <a:ext cx="3529538" cy="2396894"/>
            <a:chOff x="7020234" y="3995134"/>
            <a:chExt cx="3529538" cy="2396894"/>
          </a:xfrm>
        </p:grpSpPr>
        <p:grpSp>
          <p:nvGrpSpPr>
            <p:cNvPr id="60" name="群組 59">
              <a:extLst>
                <a:ext uri="{FF2B5EF4-FFF2-40B4-BE49-F238E27FC236}">
                  <a16:creationId xmlns:a16="http://schemas.microsoft.com/office/drawing/2014/main" id="{9D5905D9-8048-444A-879D-A46CAD95612D}"/>
                </a:ext>
              </a:extLst>
            </p:cNvPr>
            <p:cNvGrpSpPr/>
            <p:nvPr/>
          </p:nvGrpSpPr>
          <p:grpSpPr>
            <a:xfrm>
              <a:off x="7020234" y="4531132"/>
              <a:ext cx="3529538" cy="1860896"/>
              <a:chOff x="1219200" y="3202204"/>
              <a:chExt cx="1712351" cy="1563579"/>
            </a:xfrm>
          </p:grpSpPr>
          <p:sp>
            <p:nvSpPr>
              <p:cNvPr id="63" name="橢圓 62">
                <a:extLst>
                  <a:ext uri="{FF2B5EF4-FFF2-40B4-BE49-F238E27FC236}">
                    <a16:creationId xmlns:a16="http://schemas.microsoft.com/office/drawing/2014/main" id="{EBBEB0E3-53A5-4426-A5E9-2906C57D7518}"/>
                  </a:ext>
                </a:extLst>
              </p:cNvPr>
              <p:cNvSpPr/>
              <p:nvPr/>
            </p:nvSpPr>
            <p:spPr>
              <a:xfrm>
                <a:off x="1219200" y="3202204"/>
                <a:ext cx="540000" cy="540000"/>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lang="zh-TW" altLang="en-US" i="1" dirty="0">
                    <a:latin typeface="Times New Roman" panose="02020603050405020304" pitchFamily="18" charset="0"/>
                    <a:cs typeface="Times New Roman" panose="02020603050405020304" pitchFamily="18" charset="0"/>
                    <a:sym typeface="Symbol" panose="05050102010706020507" pitchFamily="18" charset="2"/>
                  </a:rPr>
                  <a:t></a:t>
                </a:r>
                <a:r>
                  <a:rPr lang="zh-TW" altLang="en-US" sz="1800" i="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endParaRPr lang="zh-TW" altLang="en-US" i="1" dirty="0">
                  <a:solidFill>
                    <a:srgbClr val="FF0000"/>
                  </a:solidFill>
                  <a:latin typeface="Times New Roman" panose="02020603050405020304" pitchFamily="18" charset="0"/>
                  <a:cs typeface="Times New Roman" panose="02020603050405020304" pitchFamily="18" charset="0"/>
                </a:endParaRPr>
              </a:p>
            </p:txBody>
          </p:sp>
          <p:sp>
            <p:nvSpPr>
              <p:cNvPr id="64" name="橢圓 63">
                <a:extLst>
                  <a:ext uri="{FF2B5EF4-FFF2-40B4-BE49-F238E27FC236}">
                    <a16:creationId xmlns:a16="http://schemas.microsoft.com/office/drawing/2014/main" id="{322A5DE8-1EEE-41A1-AB02-73E8102BC9A1}"/>
                  </a:ext>
                </a:extLst>
              </p:cNvPr>
              <p:cNvSpPr/>
              <p:nvPr/>
            </p:nvSpPr>
            <p:spPr>
              <a:xfrm>
                <a:off x="1219200" y="4225783"/>
                <a:ext cx="540000" cy="540000"/>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lang="zh-TW" altLang="en-US" sz="1800" i="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zh-TW" altLang="en-US" i="1" dirty="0">
                    <a:latin typeface="Times New Roman" panose="02020603050405020304" pitchFamily="18" charset="0"/>
                    <a:cs typeface="Times New Roman" panose="02020603050405020304" pitchFamily="18" charset="0"/>
                    <a:sym typeface="Symbol" panose="05050102010706020507" pitchFamily="18" charset="2"/>
                  </a:rPr>
                  <a:t></a:t>
                </a:r>
                <a:endParaRPr lang="zh-TW" altLang="en-US" i="1" dirty="0">
                  <a:latin typeface="Times New Roman" panose="02020603050405020304" pitchFamily="18" charset="0"/>
                  <a:cs typeface="Times New Roman" panose="02020603050405020304" pitchFamily="18" charset="0"/>
                </a:endParaRPr>
              </a:p>
            </p:txBody>
          </p:sp>
          <p:sp>
            <p:nvSpPr>
              <p:cNvPr id="65" name="橢圓 64">
                <a:extLst>
                  <a:ext uri="{FF2B5EF4-FFF2-40B4-BE49-F238E27FC236}">
                    <a16:creationId xmlns:a16="http://schemas.microsoft.com/office/drawing/2014/main" id="{E6C54CF0-A68D-4E66-8ACB-8238B9FE4EA7}"/>
                  </a:ext>
                </a:extLst>
              </p:cNvPr>
              <p:cNvSpPr/>
              <p:nvPr/>
            </p:nvSpPr>
            <p:spPr>
              <a:xfrm>
                <a:off x="2391551" y="3202204"/>
                <a:ext cx="540000" cy="540000"/>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lang="zh-TW" altLang="en-US" i="1" dirty="0">
                    <a:latin typeface="Times New Roman" panose="02020603050405020304" pitchFamily="18" charset="0"/>
                    <a:cs typeface="Times New Roman" panose="02020603050405020304" pitchFamily="18" charset="0"/>
                    <a:sym typeface="Symbol" panose="05050102010706020507" pitchFamily="18" charset="2"/>
                  </a:rPr>
                  <a:t></a:t>
                </a:r>
                <a:r>
                  <a:rPr lang="zh-TW" altLang="en-US" sz="1800" i="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zh-TW" altLang="en-US" i="1" dirty="0">
                    <a:latin typeface="Times New Roman" panose="02020603050405020304" pitchFamily="18" charset="0"/>
                    <a:cs typeface="Times New Roman" panose="02020603050405020304" pitchFamily="18" charset="0"/>
                    <a:sym typeface="Symbol" panose="05050102010706020507" pitchFamily="18" charset="2"/>
                  </a:rPr>
                  <a:t></a:t>
                </a:r>
                <a:endParaRPr lang="zh-TW" altLang="en-US" i="1" dirty="0">
                  <a:latin typeface="Times New Roman" panose="02020603050405020304" pitchFamily="18" charset="0"/>
                  <a:cs typeface="Times New Roman" panose="02020603050405020304" pitchFamily="18" charset="0"/>
                </a:endParaRPr>
              </a:p>
            </p:txBody>
          </p:sp>
          <p:sp>
            <p:nvSpPr>
              <p:cNvPr id="66" name="橢圓 65">
                <a:extLst>
                  <a:ext uri="{FF2B5EF4-FFF2-40B4-BE49-F238E27FC236}">
                    <a16:creationId xmlns:a16="http://schemas.microsoft.com/office/drawing/2014/main" id="{79662FDE-16A6-4F0F-9521-17CDCFA13FA5}"/>
                  </a:ext>
                </a:extLst>
              </p:cNvPr>
              <p:cNvSpPr/>
              <p:nvPr/>
            </p:nvSpPr>
            <p:spPr>
              <a:xfrm>
                <a:off x="2391551" y="4225783"/>
                <a:ext cx="540000" cy="540000"/>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lang="zh-TW" altLang="en-US" i="1" dirty="0">
                    <a:latin typeface="Times New Roman" panose="02020603050405020304" pitchFamily="18" charset="0"/>
                    <a:cs typeface="Times New Roman" panose="02020603050405020304" pitchFamily="18" charset="0"/>
                    <a:sym typeface="Symbol" panose="05050102010706020507" pitchFamily="18" charset="2"/>
                  </a:rPr>
                  <a:t></a:t>
                </a:r>
                <a:r>
                  <a:rPr lang="zh-TW" altLang="en-US" sz="1800" i="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zh-TW" altLang="en-US" i="1" dirty="0">
                    <a:latin typeface="Times New Roman" panose="02020603050405020304" pitchFamily="18" charset="0"/>
                    <a:cs typeface="Times New Roman" panose="02020603050405020304" pitchFamily="18" charset="0"/>
                    <a:sym typeface="Symbol" panose="05050102010706020507" pitchFamily="18" charset="2"/>
                  </a:rPr>
                  <a:t></a:t>
                </a:r>
                <a:endParaRPr lang="zh-TW" altLang="en-US" i="1" dirty="0">
                  <a:latin typeface="Times New Roman" panose="02020603050405020304" pitchFamily="18" charset="0"/>
                  <a:cs typeface="Times New Roman" panose="02020603050405020304" pitchFamily="18" charset="0"/>
                </a:endParaRPr>
              </a:p>
            </p:txBody>
          </p:sp>
          <p:cxnSp>
            <p:nvCxnSpPr>
              <p:cNvPr id="67" name="直線單箭頭接點 66">
                <a:extLst>
                  <a:ext uri="{FF2B5EF4-FFF2-40B4-BE49-F238E27FC236}">
                    <a16:creationId xmlns:a16="http://schemas.microsoft.com/office/drawing/2014/main" id="{550BEF73-3F03-4607-BD79-84A63E66C039}"/>
                  </a:ext>
                </a:extLst>
              </p:cNvPr>
              <p:cNvCxnSpPr>
                <a:stCxn id="63" idx="6"/>
                <a:endCxn id="65" idx="2"/>
              </p:cNvCxnSpPr>
              <p:nvPr/>
            </p:nvCxnSpPr>
            <p:spPr>
              <a:xfrm>
                <a:off x="1759200" y="3472204"/>
                <a:ext cx="632351"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直線單箭頭接點 67">
                <a:extLst>
                  <a:ext uri="{FF2B5EF4-FFF2-40B4-BE49-F238E27FC236}">
                    <a16:creationId xmlns:a16="http://schemas.microsoft.com/office/drawing/2014/main" id="{E3F99ADC-DB25-4AF9-908C-0EA81DF12DC4}"/>
                  </a:ext>
                </a:extLst>
              </p:cNvPr>
              <p:cNvCxnSpPr>
                <a:cxnSpLocks/>
                <a:stCxn id="65" idx="4"/>
                <a:endCxn id="66" idx="0"/>
              </p:cNvCxnSpPr>
              <p:nvPr/>
            </p:nvCxnSpPr>
            <p:spPr>
              <a:xfrm>
                <a:off x="2661551" y="3742204"/>
                <a:ext cx="0" cy="48357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直線單箭頭接點 68">
                <a:extLst>
                  <a:ext uri="{FF2B5EF4-FFF2-40B4-BE49-F238E27FC236}">
                    <a16:creationId xmlns:a16="http://schemas.microsoft.com/office/drawing/2014/main" id="{DDC7AF48-CBA4-42E6-BE6C-F9FE93454508}"/>
                  </a:ext>
                </a:extLst>
              </p:cNvPr>
              <p:cNvCxnSpPr>
                <a:cxnSpLocks/>
                <a:stCxn id="66" idx="2"/>
                <a:endCxn id="64" idx="6"/>
              </p:cNvCxnSpPr>
              <p:nvPr/>
            </p:nvCxnSpPr>
            <p:spPr>
              <a:xfrm flipH="1">
                <a:off x="1759200" y="4495783"/>
                <a:ext cx="632351"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62" name="內容版面配置區 2">
              <a:extLst>
                <a:ext uri="{FF2B5EF4-FFF2-40B4-BE49-F238E27FC236}">
                  <a16:creationId xmlns:a16="http://schemas.microsoft.com/office/drawing/2014/main" id="{01CECE02-5D91-451B-85B3-0C2BC7561DB5}"/>
                </a:ext>
              </a:extLst>
            </p:cNvPr>
            <p:cNvSpPr txBox="1">
              <a:spLocks/>
            </p:cNvSpPr>
            <p:nvPr/>
          </p:nvSpPr>
          <p:spPr>
            <a:xfrm>
              <a:off x="8129686" y="3995134"/>
              <a:ext cx="1614677" cy="53599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dirty="0">
                  <a:latin typeface="Times New Roman" panose="02020603050405020304" pitchFamily="18" charset="0"/>
                  <a:cs typeface="Times New Roman" panose="02020603050405020304" pitchFamily="18" charset="0"/>
                </a:rPr>
                <a:t>G(</a:t>
              </a:r>
              <a:r>
                <a:rPr lang="en-US" altLang="zh-TW" i="1" dirty="0">
                  <a:latin typeface="Times New Roman" panose="02020603050405020304" pitchFamily="18" charset="0"/>
                  <a:cs typeface="Times New Roman" panose="02020603050405020304" pitchFamily="18" charset="0"/>
                </a:rPr>
                <a:t>V</a:t>
              </a:r>
              <a:r>
                <a:rPr lang="en-US" altLang="zh-TW" dirty="0">
                  <a:latin typeface="Times New Roman" panose="02020603050405020304" pitchFamily="18" charset="0"/>
                  <a:cs typeface="Times New Roman" panose="02020603050405020304" pitchFamily="18" charset="0"/>
                </a:rPr>
                <a:t>,</a:t>
              </a:r>
              <a:r>
                <a:rPr lang="en-US" altLang="zh-TW" i="1" dirty="0">
                  <a:latin typeface="Times New Roman" panose="02020603050405020304" pitchFamily="18" charset="0"/>
                  <a:cs typeface="Times New Roman" panose="02020603050405020304" pitchFamily="18" charset="0"/>
                </a:rPr>
                <a:t>E</a:t>
              </a:r>
              <a:r>
                <a:rPr lang="en-US" altLang="zh-TW" dirty="0">
                  <a:latin typeface="Times New Roman" panose="02020603050405020304" pitchFamily="18" charset="0"/>
                  <a:cs typeface="Times New Roman" panose="02020603050405020304" pitchFamily="18" charset="0"/>
                </a:rPr>
                <a:t>,</a:t>
              </a:r>
              <a:r>
                <a:rPr lang="en-US" altLang="zh-TW" i="1" dirty="0">
                  <a:latin typeface="Times New Roman" panose="02020603050405020304" pitchFamily="18" charset="0"/>
                  <a:cs typeface="Times New Roman" panose="02020603050405020304" pitchFamily="18" charset="0"/>
                  <a:sym typeface="Symbol" panose="05050102010706020507" pitchFamily="18" charset="2"/>
                </a:rPr>
                <a:t></a:t>
              </a:r>
              <a:r>
                <a:rPr lang="en-US" altLang="zh-TW" dirty="0">
                  <a:latin typeface="Times New Roman" panose="02020603050405020304" pitchFamily="18" charset="0"/>
                  <a:cs typeface="Times New Roman" panose="02020603050405020304" pitchFamily="18" charset="0"/>
                </a:rPr>
                <a:t>)</a:t>
              </a:r>
              <a:endParaRPr lang="en-US" altLang="zh-TW" baseline="30000" dirty="0">
                <a:latin typeface="Times New Roman" panose="02020603050405020304" pitchFamily="18" charset="0"/>
                <a:cs typeface="Times New Roman" panose="02020603050405020304" pitchFamily="18" charset="0"/>
              </a:endParaRPr>
            </a:p>
          </p:txBody>
        </p:sp>
      </p:grpSp>
      <p:cxnSp>
        <p:nvCxnSpPr>
          <p:cNvPr id="72" name="直線單箭頭接點 71">
            <a:extLst>
              <a:ext uri="{FF2B5EF4-FFF2-40B4-BE49-F238E27FC236}">
                <a16:creationId xmlns:a16="http://schemas.microsoft.com/office/drawing/2014/main" id="{5DE077C3-9120-4D84-BC59-3D4DF36CBBDD}"/>
              </a:ext>
            </a:extLst>
          </p:cNvPr>
          <p:cNvCxnSpPr/>
          <p:nvPr/>
        </p:nvCxnSpPr>
        <p:spPr>
          <a:xfrm>
            <a:off x="4803506" y="5250930"/>
            <a:ext cx="1948873"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73" name="內容版面配置區 2">
            <a:extLst>
              <a:ext uri="{FF2B5EF4-FFF2-40B4-BE49-F238E27FC236}">
                <a16:creationId xmlns:a16="http://schemas.microsoft.com/office/drawing/2014/main" id="{0CCF610F-317B-437B-B880-FADB92AE932C}"/>
              </a:ext>
            </a:extLst>
          </p:cNvPr>
          <p:cNvSpPr txBox="1">
            <a:spLocks/>
          </p:cNvSpPr>
          <p:nvPr/>
        </p:nvSpPr>
        <p:spPr>
          <a:xfrm>
            <a:off x="4764442" y="4445000"/>
            <a:ext cx="1809210" cy="67561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4 substitutions</a:t>
            </a:r>
          </a:p>
        </p:txBody>
      </p:sp>
      <p:sp>
        <p:nvSpPr>
          <p:cNvPr id="75" name="內容版面配置區 2">
            <a:extLst>
              <a:ext uri="{FF2B5EF4-FFF2-40B4-BE49-F238E27FC236}">
                <a16:creationId xmlns:a16="http://schemas.microsoft.com/office/drawing/2014/main" id="{79021D9A-87AB-420B-BFE2-163DF3BB3F89}"/>
              </a:ext>
            </a:extLst>
          </p:cNvPr>
          <p:cNvSpPr txBox="1">
            <a:spLocks/>
          </p:cNvSpPr>
          <p:nvPr/>
        </p:nvSpPr>
        <p:spPr>
          <a:xfrm>
            <a:off x="3648701" y="6212144"/>
            <a:ext cx="4764118" cy="46674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i="1" dirty="0">
                <a:latin typeface="Times New Roman" panose="02020603050405020304" pitchFamily="18" charset="0"/>
                <a:cs typeface="Times New Roman" panose="02020603050405020304" pitchFamily="18" charset="0"/>
              </a:rPr>
              <a:t>q</a:t>
            </a:r>
            <a:r>
              <a:rPr lang="en-US" altLang="zh-TW" sz="2400" dirty="0">
                <a:latin typeface="Times New Roman" panose="02020603050405020304" pitchFamily="18" charset="0"/>
                <a:cs typeface="Times New Roman" panose="02020603050405020304" pitchFamily="18" charset="0"/>
              </a:rPr>
              <a:t>: (</a:t>
            </a:r>
            <a:r>
              <a:rPr lang="zh-TW" altLang="en-US" sz="2400" i="1"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a:t>
            </a:r>
            <a:r>
              <a:rPr lang="zh-TW" altLang="en-US" sz="2400" i="1" dirty="0">
                <a:latin typeface="Times New Roman" panose="02020603050405020304" pitchFamily="18" charset="0"/>
                <a:cs typeface="Times New Roman" panose="02020603050405020304" pitchFamily="18" charset="0"/>
                <a:sym typeface="Symbol" panose="05050102010706020507" pitchFamily="18" charset="2"/>
              </a:rPr>
              <a:t> </a:t>
            </a:r>
            <a:r>
              <a:rPr lang="zh-TW" altLang="en-US" sz="2400" i="1"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a:t>
            </a:r>
            <a:r>
              <a:rPr lang="zh-TW" altLang="en-US" sz="2400" i="1" dirty="0">
                <a:latin typeface="Times New Roman" panose="02020603050405020304" pitchFamily="18" charset="0"/>
                <a:cs typeface="Times New Roman" panose="02020603050405020304" pitchFamily="18" charset="0"/>
                <a:sym typeface="Symbol" panose="05050102010706020507" pitchFamily="18" charset="2"/>
              </a:rPr>
              <a:t> </a:t>
            </a:r>
            <a:r>
              <a:rPr lang="zh-TW" altLang="en-US" sz="2400" i="1"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a:t>
            </a:r>
            <a:r>
              <a:rPr lang="zh-TW" altLang="en-US" sz="2400" i="1" dirty="0">
                <a:latin typeface="Times New Roman" panose="02020603050405020304" pitchFamily="18" charset="0"/>
                <a:cs typeface="Times New Roman" panose="02020603050405020304" pitchFamily="18" charset="0"/>
                <a:sym typeface="Symbol" panose="05050102010706020507" pitchFamily="18" charset="2"/>
              </a:rPr>
              <a:t> </a:t>
            </a:r>
            <a:r>
              <a:rPr lang="zh-TW" altLang="en-US" sz="2400" i="1"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a:t>
            </a:r>
            <a:r>
              <a:rPr lang="zh-TW" altLang="en-US" sz="2400" i="1" dirty="0">
                <a:latin typeface="Times New Roman" panose="02020603050405020304" pitchFamily="18" charset="0"/>
                <a:cs typeface="Times New Roman" panose="02020603050405020304" pitchFamily="18" charset="0"/>
                <a:sym typeface="Symbol" panose="05050102010706020507" pitchFamily="18" charset="2"/>
              </a:rPr>
              <a:t> </a:t>
            </a: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a:t>
            </a:r>
            <a:r>
              <a:rPr lang="en-US" altLang="zh-TW" sz="2400" baseline="30000" dirty="0">
                <a:latin typeface="Times New Roman" panose="02020603050405020304" pitchFamily="18" charset="0"/>
                <a:cs typeface="Times New Roman" panose="02020603050405020304" pitchFamily="18" charset="0"/>
                <a:sym typeface="Symbol" panose="05050102010706020507" pitchFamily="18" charset="2"/>
              </a:rPr>
              <a:t>10</a:t>
            </a:r>
            <a:endParaRPr lang="en-US" altLang="zh-TW" sz="2400" baseline="30000" dirty="0">
              <a:latin typeface="Times New Roman" panose="02020603050405020304" pitchFamily="18" charset="0"/>
              <a:cs typeface="Times New Roman" panose="02020603050405020304" pitchFamily="18" charset="0"/>
            </a:endParaRPr>
          </a:p>
        </p:txBody>
      </p:sp>
      <p:cxnSp>
        <p:nvCxnSpPr>
          <p:cNvPr id="31" name="直線單箭頭接點 30">
            <a:extLst>
              <a:ext uri="{FF2B5EF4-FFF2-40B4-BE49-F238E27FC236}">
                <a16:creationId xmlns:a16="http://schemas.microsoft.com/office/drawing/2014/main" id="{72065E97-D076-4801-ACC3-823EE2FB730A}"/>
              </a:ext>
            </a:extLst>
          </p:cNvPr>
          <p:cNvCxnSpPr>
            <a:cxnSpLocks/>
          </p:cNvCxnSpPr>
          <p:nvPr/>
        </p:nvCxnSpPr>
        <p:spPr>
          <a:xfrm>
            <a:off x="1384198" y="4910668"/>
            <a:ext cx="0" cy="57553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線單箭頭接點 31">
            <a:extLst>
              <a:ext uri="{FF2B5EF4-FFF2-40B4-BE49-F238E27FC236}">
                <a16:creationId xmlns:a16="http://schemas.microsoft.com/office/drawing/2014/main" id="{970D25D0-563E-4475-B457-6AE0BC868CE5}"/>
              </a:ext>
            </a:extLst>
          </p:cNvPr>
          <p:cNvCxnSpPr>
            <a:cxnSpLocks/>
          </p:cNvCxnSpPr>
          <p:nvPr/>
        </p:nvCxnSpPr>
        <p:spPr>
          <a:xfrm flipV="1">
            <a:off x="1704549" y="4910668"/>
            <a:ext cx="0" cy="57553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線單箭頭接點 32">
            <a:extLst>
              <a:ext uri="{FF2B5EF4-FFF2-40B4-BE49-F238E27FC236}">
                <a16:creationId xmlns:a16="http://schemas.microsoft.com/office/drawing/2014/main" id="{3C8A5EC8-F5E4-4D4F-B0FA-9B05C656A4C4}"/>
              </a:ext>
            </a:extLst>
          </p:cNvPr>
          <p:cNvCxnSpPr>
            <a:cxnSpLocks/>
          </p:cNvCxnSpPr>
          <p:nvPr/>
        </p:nvCxnSpPr>
        <p:spPr>
          <a:xfrm>
            <a:off x="7309136" y="4905960"/>
            <a:ext cx="0" cy="57553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線單箭頭接點 33">
            <a:extLst>
              <a:ext uri="{FF2B5EF4-FFF2-40B4-BE49-F238E27FC236}">
                <a16:creationId xmlns:a16="http://schemas.microsoft.com/office/drawing/2014/main" id="{70234A22-0824-4033-82AA-0F27A9181B19}"/>
              </a:ext>
            </a:extLst>
          </p:cNvPr>
          <p:cNvCxnSpPr>
            <a:cxnSpLocks/>
          </p:cNvCxnSpPr>
          <p:nvPr/>
        </p:nvCxnSpPr>
        <p:spPr>
          <a:xfrm flipV="1">
            <a:off x="7629487" y="4905960"/>
            <a:ext cx="0" cy="57553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4964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B66326-0258-4924-B0B5-05633F8B6DD4}"/>
              </a:ext>
            </a:extLst>
          </p:cNvPr>
          <p:cNvSpPr>
            <a:spLocks noGrp="1"/>
          </p:cNvSpPr>
          <p:nvPr>
            <p:ph type="title"/>
          </p:nvPr>
        </p:nvSpPr>
        <p:spPr/>
        <p:txBody>
          <a:bodyPr>
            <a:normAutofit/>
          </a:bodyPr>
          <a:lstStyle/>
          <a:p>
            <a:r>
              <a:rPr lang="en-US" altLang="zh-TW" sz="4000" dirty="0">
                <a:latin typeface="Times New Roman" panose="02020603050405020304" pitchFamily="18" charset="0"/>
                <a:cs typeface="Times New Roman" panose="02020603050405020304" pitchFamily="18" charset="0"/>
              </a:rPr>
              <a:t>Hamming distance model</a:t>
            </a:r>
            <a:endParaRPr lang="zh-TW" altLang="en-US" sz="4000"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D62D5C57-92EA-4061-8DBC-ABC04F3533CB}"/>
              </a:ext>
            </a:extLst>
          </p:cNvPr>
          <p:cNvSpPr>
            <a:spLocks noGrp="1"/>
          </p:cNvSpPr>
          <p:nvPr>
            <p:ph idx="1"/>
          </p:nvPr>
        </p:nvSpPr>
        <p:spPr>
          <a:xfrm>
            <a:off x="703278" y="1594716"/>
            <a:ext cx="10848020" cy="4351338"/>
          </a:xfrm>
        </p:spPr>
        <p:txBody>
          <a:bodyPr>
            <a:normAutofit/>
          </a:bodyPr>
          <a:lstStyle/>
          <a:p>
            <a:pPr marL="0" indent="0">
              <a:buNone/>
            </a:pPr>
            <a:r>
              <a:rPr lang="en-US" altLang="zh-TW" dirty="0">
                <a:latin typeface="Times New Roman" panose="02020603050405020304" pitchFamily="18" charset="0"/>
                <a:cs typeface="Times New Roman" panose="02020603050405020304" pitchFamily="18" charset="0"/>
              </a:rPr>
              <a:t>directed Hamiltonian cycle </a:t>
            </a:r>
            <a:r>
              <a:rPr lang="en-US" altLang="zh-TW" dirty="0">
                <a:latin typeface="Times New Roman" panose="02020603050405020304" pitchFamily="18" charset="0"/>
                <a:cs typeface="Times New Roman" panose="02020603050405020304" pitchFamily="18" charset="0"/>
                <a:sym typeface="Symbol" panose="05050102010706020507" pitchFamily="18" charset="2"/>
              </a:rPr>
              <a:t> sequence-to-graph alignment</a:t>
            </a:r>
            <a:br>
              <a:rPr lang="en-US" altLang="zh-TW" dirty="0">
                <a:latin typeface="Times New Roman" panose="02020603050405020304" pitchFamily="18" charset="0"/>
                <a:cs typeface="Times New Roman" panose="02020603050405020304" pitchFamily="18" charset="0"/>
                <a:sym typeface="Symbol" panose="05050102010706020507" pitchFamily="18" charset="2"/>
              </a:rPr>
            </a:br>
            <a:r>
              <a:rPr lang="en-US" altLang="zh-TW" dirty="0">
                <a:latin typeface="Times New Roman" panose="02020603050405020304" pitchFamily="18" charset="0"/>
                <a:cs typeface="Times New Roman" panose="02020603050405020304" pitchFamily="18" charset="0"/>
                <a:sym typeface="Symbol" panose="05050102010706020507" pitchFamily="18" charset="2"/>
              </a:rPr>
              <a:t>&lt;=</a:t>
            </a:r>
            <a:br>
              <a:rPr lang="en-US" altLang="zh-TW" dirty="0">
                <a:latin typeface="Times New Roman" panose="02020603050405020304" pitchFamily="18" charset="0"/>
                <a:cs typeface="Times New Roman" panose="02020603050405020304" pitchFamily="18" charset="0"/>
                <a:sym typeface="Symbol" panose="05050102010706020507" pitchFamily="18" charset="2"/>
              </a:rPr>
            </a:br>
            <a:r>
              <a:rPr lang="en-US" altLang="zh-TW" sz="2400" i="1" dirty="0" err="1">
                <a:latin typeface="Times New Roman" panose="02020603050405020304" pitchFamily="18" charset="0"/>
                <a:cs typeface="Times New Roman" panose="02020603050405020304" pitchFamily="18" charset="0"/>
                <a:sym typeface="Symbol" panose="05050102010706020507" pitchFamily="18" charset="2"/>
              </a:rPr>
              <a:t>q</a:t>
            </a:r>
            <a:r>
              <a:rPr lang="en-US" altLang="zh-TW" sz="2400" i="1" baseline="-25000" dirty="0" err="1">
                <a:latin typeface="Times New Roman" panose="02020603050405020304" pitchFamily="18" charset="0"/>
                <a:cs typeface="Times New Roman" panose="02020603050405020304" pitchFamily="18" charset="0"/>
                <a:sym typeface="Symbol" panose="05050102010706020507" pitchFamily="18" charset="2"/>
              </a:rPr>
              <a:t>sub</a:t>
            </a:r>
            <a:r>
              <a:rPr lang="zh-TW" altLang="en-US" sz="2400" dirty="0">
                <a:latin typeface="Times New Roman" panose="02020603050405020304" pitchFamily="18" charset="0"/>
                <a:cs typeface="Times New Roman" panose="02020603050405020304" pitchFamily="18" charset="0"/>
                <a:sym typeface="Symbol" panose="05050102010706020507" pitchFamily="18" charset="2"/>
              </a:rPr>
              <a:t>：</a:t>
            </a:r>
            <a:r>
              <a:rPr lang="en-US" altLang="zh-TW" sz="2400" i="1" dirty="0">
                <a:latin typeface="Times New Roman" panose="02020603050405020304" pitchFamily="18" charset="0"/>
                <a:cs typeface="Times New Roman" panose="02020603050405020304" pitchFamily="18" charset="0"/>
                <a:sym typeface="Symbol" panose="05050102010706020507" pitchFamily="18" charset="2"/>
              </a:rPr>
              <a:t>t</a:t>
            </a:r>
            <a:r>
              <a:rPr lang="en-US" altLang="zh-TW" sz="2400" baseline="-25000" dirty="0">
                <a:latin typeface="Times New Roman" panose="02020603050405020304" pitchFamily="18" charset="0"/>
                <a:cs typeface="Times New Roman" panose="02020603050405020304" pitchFamily="18" charset="0"/>
                <a:sym typeface="Symbol" panose="05050102010706020507" pitchFamily="18" charset="2"/>
              </a:rPr>
              <a:t>0</a:t>
            </a:r>
            <a:r>
              <a:rPr lang="en-US" altLang="zh-TW" sz="2400" i="1" dirty="0">
                <a:latin typeface="Times New Roman" panose="02020603050405020304" pitchFamily="18" charset="0"/>
                <a:cs typeface="Times New Roman" panose="02020603050405020304" pitchFamily="18" charset="0"/>
                <a:sym typeface="Symbol" panose="05050102010706020507" pitchFamily="18" charset="2"/>
              </a:rPr>
              <a:t>t</a:t>
            </a:r>
            <a:r>
              <a:rPr lang="en-US" altLang="zh-TW" sz="2400"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TW" sz="2400" i="1" dirty="0">
                <a:latin typeface="Times New Roman" panose="02020603050405020304" pitchFamily="18" charset="0"/>
                <a:cs typeface="Times New Roman" panose="02020603050405020304" pitchFamily="18" charset="0"/>
                <a:sym typeface="Symbol" panose="05050102010706020507" pitchFamily="18" charset="2"/>
              </a:rPr>
              <a:t>t</a:t>
            </a:r>
            <a:r>
              <a:rPr lang="en-US" altLang="zh-TW" sz="2400" baseline="-25000" dirty="0">
                <a:latin typeface="Times New Roman" panose="02020603050405020304" pitchFamily="18" charset="0"/>
                <a:cs typeface="Times New Roman" panose="02020603050405020304" pitchFamily="18" charset="0"/>
                <a:sym typeface="Symbol" panose="05050102010706020507" pitchFamily="18" charset="2"/>
              </a:rPr>
              <a:t>2</a:t>
            </a: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a:t>
            </a:r>
            <a:r>
              <a:rPr lang="en-US" altLang="zh-TW" sz="2400" i="1" dirty="0">
                <a:latin typeface="Times New Roman" panose="02020603050405020304" pitchFamily="18" charset="0"/>
                <a:cs typeface="Times New Roman" panose="02020603050405020304" pitchFamily="18" charset="0"/>
                <a:sym typeface="Symbol" panose="05050102010706020507" pitchFamily="18" charset="2"/>
              </a:rPr>
              <a:t>t</a:t>
            </a:r>
            <a:r>
              <a:rPr lang="en-US" altLang="zh-TW" sz="2400" i="1" baseline="-25000" dirty="0">
                <a:latin typeface="Times New Roman" panose="02020603050405020304" pitchFamily="18" charset="0"/>
                <a:cs typeface="Times New Roman" panose="02020603050405020304" pitchFamily="18" charset="0"/>
                <a:sym typeface="Symbol" panose="05050102010706020507" pitchFamily="18" charset="2"/>
              </a:rPr>
              <a:t>n</a:t>
            </a:r>
            <a:r>
              <a:rPr lang="en-US" altLang="zh-TW" sz="2400"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TW" sz="2400" i="1" dirty="0">
                <a:latin typeface="Times New Roman" panose="02020603050405020304" pitchFamily="18" charset="0"/>
                <a:cs typeface="Times New Roman" panose="02020603050405020304" pitchFamily="18" charset="0"/>
                <a:sym typeface="Symbol" panose="05050102010706020507" pitchFamily="18" charset="2"/>
              </a:rPr>
              <a:t>t</a:t>
            </a:r>
            <a:r>
              <a:rPr lang="en-US" altLang="zh-TW" sz="2400" baseline="-25000" dirty="0">
                <a:latin typeface="Times New Roman" panose="02020603050405020304" pitchFamily="18" charset="0"/>
                <a:cs typeface="Times New Roman" panose="02020603050405020304" pitchFamily="18" charset="0"/>
                <a:sym typeface="Symbol" panose="05050102010706020507" pitchFamily="18" charset="2"/>
              </a:rPr>
              <a:t>0</a:t>
            </a:r>
            <a:r>
              <a:rPr lang="en-US" altLang="zh-TW" sz="2400" i="1" dirty="0">
                <a:latin typeface="Times New Roman" panose="02020603050405020304" pitchFamily="18" charset="0"/>
                <a:cs typeface="Times New Roman" panose="02020603050405020304" pitchFamily="18" charset="0"/>
                <a:sym typeface="Symbol" panose="05050102010706020507" pitchFamily="18" charset="2"/>
              </a:rPr>
              <a:t>t</a:t>
            </a:r>
            <a:r>
              <a:rPr lang="en-US" altLang="zh-TW" sz="2400"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 (</a:t>
            </a:r>
            <a:r>
              <a:rPr lang="zh-TW" altLang="en-US" sz="2400" dirty="0">
                <a:latin typeface="Times New Roman" panose="02020603050405020304" pitchFamily="18" charset="0"/>
                <a:cs typeface="Times New Roman" panose="02020603050405020304" pitchFamily="18" charset="0"/>
                <a:sym typeface="Symbol" panose="05050102010706020507" pitchFamily="18" charset="2"/>
              </a:rPr>
              <a:t> </a:t>
            </a: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a directed Hamiltonian cycle problem if </a:t>
            </a:r>
            <a:r>
              <a:rPr lang="en-US" altLang="zh-TW" sz="2400" i="1" dirty="0" err="1">
                <a:latin typeface="Times New Roman" panose="02020603050405020304" pitchFamily="18" charset="0"/>
                <a:cs typeface="Times New Roman" panose="02020603050405020304" pitchFamily="18" charset="0"/>
                <a:sym typeface="Symbol" panose="05050102010706020507" pitchFamily="18" charset="2"/>
              </a:rPr>
              <a:t>t</a:t>
            </a:r>
            <a:r>
              <a:rPr lang="en-US" altLang="zh-TW" sz="2400" i="1" baseline="-25000" dirty="0" err="1">
                <a:latin typeface="Times New Roman" panose="02020603050405020304" pitchFamily="18" charset="0"/>
                <a:cs typeface="Times New Roman" panose="02020603050405020304" pitchFamily="18" charset="0"/>
                <a:sym typeface="Symbol" panose="05050102010706020507" pitchFamily="18" charset="2"/>
              </a:rPr>
              <a:t>i</a:t>
            </a: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(0  </a:t>
            </a:r>
            <a:r>
              <a:rPr lang="en-US" altLang="zh-TW" sz="2400" i="1" dirty="0" err="1">
                <a:latin typeface="Times New Roman" panose="02020603050405020304" pitchFamily="18" charset="0"/>
                <a:cs typeface="Times New Roman" panose="02020603050405020304" pitchFamily="18" charset="0"/>
                <a:sym typeface="Symbol" panose="05050102010706020507" pitchFamily="18" charset="2"/>
              </a:rPr>
              <a:t>i</a:t>
            </a:r>
            <a:r>
              <a:rPr lang="zh-TW" altLang="en-US" sz="2400" i="1" dirty="0">
                <a:latin typeface="Times New Roman" panose="02020603050405020304" pitchFamily="18" charset="0"/>
                <a:cs typeface="Times New Roman" panose="02020603050405020304" pitchFamily="18" charset="0"/>
                <a:sym typeface="Symbol" panose="05050102010706020507" pitchFamily="18" charset="2"/>
              </a:rPr>
              <a:t> </a:t>
            </a: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a:t>
            </a:r>
            <a:r>
              <a:rPr lang="en-US" altLang="zh-TW" sz="2400" i="1" dirty="0">
                <a:latin typeface="Times New Roman" panose="02020603050405020304" pitchFamily="18" charset="0"/>
                <a:cs typeface="Times New Roman" panose="02020603050405020304" pitchFamily="18" charset="0"/>
                <a:sym typeface="Symbol" panose="05050102010706020507" pitchFamily="18" charset="2"/>
              </a:rPr>
              <a:t> n</a:t>
            </a: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-1)</a:t>
            </a:r>
            <a:r>
              <a:rPr lang="en-US" altLang="zh-TW" sz="2400" i="1" dirty="0">
                <a:latin typeface="Times New Roman" panose="02020603050405020304" pitchFamily="18" charset="0"/>
                <a:cs typeface="Times New Roman" panose="02020603050405020304" pitchFamily="18" charset="0"/>
                <a:sym typeface="Symbol" panose="05050102010706020507" pitchFamily="18" charset="2"/>
              </a:rPr>
              <a:t> </a:t>
            </a: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are unique</a:t>
            </a:r>
            <a:r>
              <a:rPr lang="zh-TW" altLang="en-US" sz="2400" dirty="0">
                <a:latin typeface="Times New Roman" panose="02020603050405020304" pitchFamily="18" charset="0"/>
                <a:cs typeface="Times New Roman" panose="02020603050405020304" pitchFamily="18" charset="0"/>
                <a:sym typeface="Symbol" panose="05050102010706020507" pitchFamily="18" charset="2"/>
              </a:rPr>
              <a:t> </a:t>
            </a: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a:t>
            </a:r>
          </a:p>
          <a:p>
            <a:pPr marL="514350" indent="-514350">
              <a:buFont typeface="+mj-lt"/>
              <a:buAutoNum type="arabicPeriod"/>
            </a:pP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there are </a:t>
            </a:r>
            <a:r>
              <a:rPr lang="en-US" altLang="zh-TW" sz="2400"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+1 nonoverlapping instances of </a:t>
            </a:r>
            <a:r>
              <a:rPr lang="en-US" altLang="zh-TW" sz="2400" i="1" dirty="0" err="1">
                <a:latin typeface="Times New Roman" panose="02020603050405020304" pitchFamily="18" charset="0"/>
                <a:cs typeface="Times New Roman" panose="02020603050405020304" pitchFamily="18" charset="0"/>
                <a:sym typeface="Symbol" panose="05050102010706020507" pitchFamily="18" charset="2"/>
              </a:rPr>
              <a:t>q</a:t>
            </a:r>
            <a:r>
              <a:rPr lang="en-US" altLang="zh-TW" sz="2400" i="1" baseline="-25000" dirty="0" err="1">
                <a:latin typeface="Times New Roman" panose="02020603050405020304" pitchFamily="18" charset="0"/>
                <a:cs typeface="Times New Roman" panose="02020603050405020304" pitchFamily="18" charset="0"/>
                <a:sym typeface="Symbol" panose="05050102010706020507" pitchFamily="18" charset="2"/>
              </a:rPr>
              <a:t>sub</a:t>
            </a:r>
            <a:r>
              <a:rPr lang="en-US" altLang="zh-TW" sz="2400" i="1" baseline="-25000" dirty="0">
                <a:latin typeface="Times New Roman" panose="02020603050405020304" pitchFamily="18" charset="0"/>
                <a:cs typeface="Times New Roman" panose="02020603050405020304" pitchFamily="18" charset="0"/>
                <a:sym typeface="Symbol" panose="05050102010706020507" pitchFamily="18" charset="2"/>
              </a:rPr>
              <a:t> </a:t>
            </a: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in</a:t>
            </a:r>
            <a:r>
              <a:rPr lang="en-US" altLang="zh-TW" sz="2400" i="1" dirty="0">
                <a:latin typeface="Times New Roman" panose="02020603050405020304" pitchFamily="18" charset="0"/>
                <a:cs typeface="Times New Roman" panose="02020603050405020304" pitchFamily="18" charset="0"/>
                <a:sym typeface="Symbol" panose="05050102010706020507" pitchFamily="18" charset="2"/>
              </a:rPr>
              <a:t> q</a:t>
            </a:r>
          </a:p>
          <a:p>
            <a:pPr marL="514350" indent="-514350">
              <a:buFont typeface="+mj-lt"/>
              <a:buAutoNum type="arabicPeriod"/>
            </a:pP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at most </a:t>
            </a:r>
            <a:r>
              <a:rPr lang="en-US" altLang="zh-TW" sz="2400"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 substitutions. Even if all occur in the query, at least one instance of </a:t>
            </a:r>
            <a:r>
              <a:rPr lang="en-US" altLang="zh-TW" sz="2400" i="1" dirty="0" err="1">
                <a:latin typeface="Times New Roman" panose="02020603050405020304" pitchFamily="18" charset="0"/>
                <a:cs typeface="Times New Roman" panose="02020603050405020304" pitchFamily="18" charset="0"/>
                <a:sym typeface="Symbol" panose="05050102010706020507" pitchFamily="18" charset="2"/>
              </a:rPr>
              <a:t>q</a:t>
            </a:r>
            <a:r>
              <a:rPr lang="en-US" altLang="zh-TW" sz="2400" i="1" baseline="-25000" dirty="0" err="1">
                <a:latin typeface="Times New Roman" panose="02020603050405020304" pitchFamily="18" charset="0"/>
                <a:cs typeface="Times New Roman" panose="02020603050405020304" pitchFamily="18" charset="0"/>
                <a:sym typeface="Symbol" panose="05050102010706020507" pitchFamily="18" charset="2"/>
              </a:rPr>
              <a:t>sub</a:t>
            </a: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 must remain unchanged.</a:t>
            </a:r>
          </a:p>
          <a:p>
            <a:pPr marL="0" indent="0">
              <a:buNone/>
            </a:pP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Accordingly, </a:t>
            </a:r>
            <a:r>
              <a:rPr lang="en-US" altLang="zh-TW" sz="2400" i="1" dirty="0" err="1">
                <a:latin typeface="Times New Roman" panose="02020603050405020304" pitchFamily="18" charset="0"/>
                <a:cs typeface="Times New Roman" panose="02020603050405020304" pitchFamily="18" charset="0"/>
                <a:sym typeface="Symbol" panose="05050102010706020507" pitchFamily="18" charset="2"/>
              </a:rPr>
              <a:t>q</a:t>
            </a:r>
            <a:r>
              <a:rPr lang="en-US" altLang="zh-TW" sz="2400" i="1" baseline="-25000" dirty="0" err="1">
                <a:latin typeface="Times New Roman" panose="02020603050405020304" pitchFamily="18" charset="0"/>
                <a:cs typeface="Times New Roman" panose="02020603050405020304" pitchFamily="18" charset="0"/>
                <a:sym typeface="Symbol" panose="05050102010706020507" pitchFamily="18" charset="2"/>
              </a:rPr>
              <a:t>sub</a:t>
            </a:r>
            <a:r>
              <a:rPr lang="en-US" altLang="zh-TW" sz="2400" i="1" dirty="0">
                <a:latin typeface="Times New Roman" panose="02020603050405020304" pitchFamily="18" charset="0"/>
                <a:cs typeface="Times New Roman" panose="02020603050405020304" pitchFamily="18" charset="0"/>
                <a:sym typeface="Symbol" panose="05050102010706020507" pitchFamily="18" charset="2"/>
              </a:rPr>
              <a:t> </a:t>
            </a: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must match corrected </a:t>
            </a:r>
            <a:r>
              <a:rPr lang="en-US" altLang="zh-TW" sz="2400" dirty="0">
                <a:latin typeface="Times New Roman" panose="02020603050405020304" pitchFamily="18" charset="0"/>
                <a:cs typeface="Times New Roman" panose="02020603050405020304" pitchFamily="18" charset="0"/>
              </a:rPr>
              <a:t>G(</a:t>
            </a:r>
            <a:r>
              <a:rPr lang="en-US" altLang="zh-TW" sz="2400" i="1" dirty="0">
                <a:latin typeface="Times New Roman" panose="02020603050405020304" pitchFamily="18" charset="0"/>
                <a:cs typeface="Times New Roman" panose="02020603050405020304" pitchFamily="18" charset="0"/>
              </a:rPr>
              <a:t>V</a:t>
            </a:r>
            <a:r>
              <a:rPr lang="en-US" altLang="zh-TW" sz="2400" dirty="0">
                <a:latin typeface="Times New Roman" panose="02020603050405020304" pitchFamily="18" charset="0"/>
                <a:cs typeface="Times New Roman" panose="02020603050405020304" pitchFamily="18" charset="0"/>
              </a:rPr>
              <a:t>,</a:t>
            </a:r>
            <a:r>
              <a:rPr lang="en-US" altLang="zh-TW" sz="2400" i="1" dirty="0">
                <a:latin typeface="Times New Roman" panose="02020603050405020304" pitchFamily="18" charset="0"/>
                <a:cs typeface="Times New Roman" panose="02020603050405020304" pitchFamily="18" charset="0"/>
              </a:rPr>
              <a:t>E</a:t>
            </a:r>
            <a:r>
              <a:rPr lang="en-US" altLang="zh-TW" sz="2400" dirty="0">
                <a:latin typeface="Times New Roman" panose="02020603050405020304" pitchFamily="18" charset="0"/>
                <a:cs typeface="Times New Roman" panose="02020603050405020304" pitchFamily="18" charset="0"/>
              </a:rPr>
              <a:t>,</a:t>
            </a:r>
            <a:r>
              <a:rPr lang="en-US" altLang="zh-TW" sz="2400" i="1" dirty="0">
                <a:latin typeface="Times New Roman" panose="02020603050405020304" pitchFamily="18" charset="0"/>
                <a:cs typeface="Times New Roman" panose="02020603050405020304" pitchFamily="18" charset="0"/>
                <a:sym typeface="Symbol" panose="05050102010706020507" pitchFamily="18" charset="2"/>
              </a:rPr>
              <a:t></a:t>
            </a:r>
            <a:r>
              <a:rPr lang="en-US" altLang="zh-TW" sz="2400" dirty="0">
                <a:latin typeface="Times New Roman" panose="02020603050405020304" pitchFamily="18" charset="0"/>
                <a:cs typeface="Times New Roman" panose="02020603050405020304" pitchFamily="18" charset="0"/>
              </a:rPr>
              <a:t>)</a:t>
            </a: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a:t>
            </a:r>
            <a:endParaRPr lang="en-US" altLang="zh-TW" sz="2400" dirty="0">
              <a:latin typeface="Times New Roman" panose="02020603050405020304" pitchFamily="18" charset="0"/>
              <a:cs typeface="Times New Roman" panose="02020603050405020304" pitchFamily="18" charset="0"/>
            </a:endParaRPr>
          </a:p>
        </p:txBody>
      </p:sp>
      <p:graphicFrame>
        <p:nvGraphicFramePr>
          <p:cNvPr id="5" name="表格 5">
            <a:extLst>
              <a:ext uri="{FF2B5EF4-FFF2-40B4-BE49-F238E27FC236}">
                <a16:creationId xmlns:a16="http://schemas.microsoft.com/office/drawing/2014/main" id="{EA188D75-6EB6-4E71-82B1-E2C7D3A079B9}"/>
              </a:ext>
            </a:extLst>
          </p:cNvPr>
          <p:cNvGraphicFramePr>
            <a:graphicFrameLocks noGrp="1"/>
          </p:cNvGraphicFramePr>
          <p:nvPr>
            <p:extLst>
              <p:ext uri="{D42A27DB-BD31-4B8C-83A1-F6EECF244321}">
                <p14:modId xmlns:p14="http://schemas.microsoft.com/office/powerpoint/2010/main" val="2532339392"/>
              </p:ext>
            </p:extLst>
          </p:nvPr>
        </p:nvGraphicFramePr>
        <p:xfrm>
          <a:off x="0" y="4571999"/>
          <a:ext cx="12192004" cy="2286000"/>
        </p:xfrm>
        <a:graphic>
          <a:graphicData uri="http://schemas.openxmlformats.org/drawingml/2006/table">
            <a:tbl>
              <a:tblPr firstRow="1" bandRow="1">
                <a:tableStyleId>{5940675A-B579-460E-94D1-54222C63F5DA}</a:tableStyleId>
              </a:tblPr>
              <a:tblGrid>
                <a:gridCol w="554182">
                  <a:extLst>
                    <a:ext uri="{9D8B030D-6E8A-4147-A177-3AD203B41FA5}">
                      <a16:colId xmlns:a16="http://schemas.microsoft.com/office/drawing/2014/main" val="2823806975"/>
                    </a:ext>
                  </a:extLst>
                </a:gridCol>
                <a:gridCol w="554182">
                  <a:extLst>
                    <a:ext uri="{9D8B030D-6E8A-4147-A177-3AD203B41FA5}">
                      <a16:colId xmlns:a16="http://schemas.microsoft.com/office/drawing/2014/main" val="4156479624"/>
                    </a:ext>
                  </a:extLst>
                </a:gridCol>
                <a:gridCol w="554182">
                  <a:extLst>
                    <a:ext uri="{9D8B030D-6E8A-4147-A177-3AD203B41FA5}">
                      <a16:colId xmlns:a16="http://schemas.microsoft.com/office/drawing/2014/main" val="2635470791"/>
                    </a:ext>
                  </a:extLst>
                </a:gridCol>
                <a:gridCol w="554182">
                  <a:extLst>
                    <a:ext uri="{9D8B030D-6E8A-4147-A177-3AD203B41FA5}">
                      <a16:colId xmlns:a16="http://schemas.microsoft.com/office/drawing/2014/main" val="2994878177"/>
                    </a:ext>
                  </a:extLst>
                </a:gridCol>
                <a:gridCol w="554182">
                  <a:extLst>
                    <a:ext uri="{9D8B030D-6E8A-4147-A177-3AD203B41FA5}">
                      <a16:colId xmlns:a16="http://schemas.microsoft.com/office/drawing/2014/main" val="44298815"/>
                    </a:ext>
                  </a:extLst>
                </a:gridCol>
                <a:gridCol w="554182">
                  <a:extLst>
                    <a:ext uri="{9D8B030D-6E8A-4147-A177-3AD203B41FA5}">
                      <a16:colId xmlns:a16="http://schemas.microsoft.com/office/drawing/2014/main" val="3965858551"/>
                    </a:ext>
                  </a:extLst>
                </a:gridCol>
                <a:gridCol w="554182">
                  <a:extLst>
                    <a:ext uri="{9D8B030D-6E8A-4147-A177-3AD203B41FA5}">
                      <a16:colId xmlns:a16="http://schemas.microsoft.com/office/drawing/2014/main" val="306069139"/>
                    </a:ext>
                  </a:extLst>
                </a:gridCol>
                <a:gridCol w="554182">
                  <a:extLst>
                    <a:ext uri="{9D8B030D-6E8A-4147-A177-3AD203B41FA5}">
                      <a16:colId xmlns:a16="http://schemas.microsoft.com/office/drawing/2014/main" val="3671580988"/>
                    </a:ext>
                  </a:extLst>
                </a:gridCol>
                <a:gridCol w="554182">
                  <a:extLst>
                    <a:ext uri="{9D8B030D-6E8A-4147-A177-3AD203B41FA5}">
                      <a16:colId xmlns:a16="http://schemas.microsoft.com/office/drawing/2014/main" val="661629241"/>
                    </a:ext>
                  </a:extLst>
                </a:gridCol>
                <a:gridCol w="554182">
                  <a:extLst>
                    <a:ext uri="{9D8B030D-6E8A-4147-A177-3AD203B41FA5}">
                      <a16:colId xmlns:a16="http://schemas.microsoft.com/office/drawing/2014/main" val="2907200158"/>
                    </a:ext>
                  </a:extLst>
                </a:gridCol>
                <a:gridCol w="554182">
                  <a:extLst>
                    <a:ext uri="{9D8B030D-6E8A-4147-A177-3AD203B41FA5}">
                      <a16:colId xmlns:a16="http://schemas.microsoft.com/office/drawing/2014/main" val="3849358613"/>
                    </a:ext>
                  </a:extLst>
                </a:gridCol>
                <a:gridCol w="554182">
                  <a:extLst>
                    <a:ext uri="{9D8B030D-6E8A-4147-A177-3AD203B41FA5}">
                      <a16:colId xmlns:a16="http://schemas.microsoft.com/office/drawing/2014/main" val="822510853"/>
                    </a:ext>
                  </a:extLst>
                </a:gridCol>
                <a:gridCol w="554182">
                  <a:extLst>
                    <a:ext uri="{9D8B030D-6E8A-4147-A177-3AD203B41FA5}">
                      <a16:colId xmlns:a16="http://schemas.microsoft.com/office/drawing/2014/main" val="950807609"/>
                    </a:ext>
                  </a:extLst>
                </a:gridCol>
                <a:gridCol w="554182">
                  <a:extLst>
                    <a:ext uri="{9D8B030D-6E8A-4147-A177-3AD203B41FA5}">
                      <a16:colId xmlns:a16="http://schemas.microsoft.com/office/drawing/2014/main" val="1554602303"/>
                    </a:ext>
                  </a:extLst>
                </a:gridCol>
                <a:gridCol w="554182">
                  <a:extLst>
                    <a:ext uri="{9D8B030D-6E8A-4147-A177-3AD203B41FA5}">
                      <a16:colId xmlns:a16="http://schemas.microsoft.com/office/drawing/2014/main" val="3264077450"/>
                    </a:ext>
                  </a:extLst>
                </a:gridCol>
                <a:gridCol w="554182">
                  <a:extLst>
                    <a:ext uri="{9D8B030D-6E8A-4147-A177-3AD203B41FA5}">
                      <a16:colId xmlns:a16="http://schemas.microsoft.com/office/drawing/2014/main" val="2937844370"/>
                    </a:ext>
                  </a:extLst>
                </a:gridCol>
                <a:gridCol w="554182">
                  <a:extLst>
                    <a:ext uri="{9D8B030D-6E8A-4147-A177-3AD203B41FA5}">
                      <a16:colId xmlns:a16="http://schemas.microsoft.com/office/drawing/2014/main" val="3171652160"/>
                    </a:ext>
                  </a:extLst>
                </a:gridCol>
                <a:gridCol w="554182">
                  <a:extLst>
                    <a:ext uri="{9D8B030D-6E8A-4147-A177-3AD203B41FA5}">
                      <a16:colId xmlns:a16="http://schemas.microsoft.com/office/drawing/2014/main" val="4260343272"/>
                    </a:ext>
                  </a:extLst>
                </a:gridCol>
                <a:gridCol w="554182">
                  <a:extLst>
                    <a:ext uri="{9D8B030D-6E8A-4147-A177-3AD203B41FA5}">
                      <a16:colId xmlns:a16="http://schemas.microsoft.com/office/drawing/2014/main" val="3703087670"/>
                    </a:ext>
                  </a:extLst>
                </a:gridCol>
                <a:gridCol w="554182">
                  <a:extLst>
                    <a:ext uri="{9D8B030D-6E8A-4147-A177-3AD203B41FA5}">
                      <a16:colId xmlns:a16="http://schemas.microsoft.com/office/drawing/2014/main" val="4104924237"/>
                    </a:ext>
                  </a:extLst>
                </a:gridCol>
                <a:gridCol w="554182">
                  <a:extLst>
                    <a:ext uri="{9D8B030D-6E8A-4147-A177-3AD203B41FA5}">
                      <a16:colId xmlns:a16="http://schemas.microsoft.com/office/drawing/2014/main" val="527441245"/>
                    </a:ext>
                  </a:extLst>
                </a:gridCol>
                <a:gridCol w="554182">
                  <a:extLst>
                    <a:ext uri="{9D8B030D-6E8A-4147-A177-3AD203B41FA5}">
                      <a16:colId xmlns:a16="http://schemas.microsoft.com/office/drawing/2014/main" val="853327038"/>
                    </a:ext>
                  </a:extLst>
                </a:gridCol>
              </a:tblGrid>
              <a:tr h="265113">
                <a:tc gridSpan="22">
                  <a:txBody>
                    <a:bodyPr/>
                    <a:lstStyle/>
                    <a:p>
                      <a:pPr algn="ctr"/>
                      <a:r>
                        <a:rPr lang="en-US" altLang="zh-TW" sz="2400" i="1" dirty="0">
                          <a:latin typeface="Times New Roman" panose="02020603050405020304" pitchFamily="18" charset="0"/>
                          <a:cs typeface="Times New Roman" panose="02020603050405020304" pitchFamily="18" charset="0"/>
                        </a:rPr>
                        <a:t>q</a:t>
                      </a:r>
                      <a:r>
                        <a:rPr lang="zh-TW" altLang="en-US" sz="2400" i="0" dirty="0">
                          <a:latin typeface="Times New Roman" panose="02020603050405020304" pitchFamily="18" charset="0"/>
                          <a:cs typeface="Times New Roman" panose="02020603050405020304" pitchFamily="18" charset="0"/>
                        </a:rPr>
                        <a:t>：</a:t>
                      </a: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 </a:t>
                      </a:r>
                      <a:r>
                        <a:rPr lang="en-US" altLang="zh-TW" sz="2400" i="1" dirty="0">
                          <a:latin typeface="Times New Roman" panose="02020603050405020304" pitchFamily="18" charset="0"/>
                          <a:cs typeface="Times New Roman" panose="02020603050405020304" pitchFamily="18" charset="0"/>
                          <a:sym typeface="Symbol" panose="05050102010706020507" pitchFamily="18" charset="2"/>
                        </a:rPr>
                        <a:t>t</a:t>
                      </a:r>
                      <a:r>
                        <a:rPr lang="en-US" altLang="zh-TW" sz="2400" baseline="-25000" dirty="0">
                          <a:latin typeface="Times New Roman" panose="02020603050405020304" pitchFamily="18" charset="0"/>
                          <a:cs typeface="Times New Roman" panose="02020603050405020304" pitchFamily="18" charset="0"/>
                          <a:sym typeface="Symbol" panose="05050102010706020507" pitchFamily="18" charset="2"/>
                        </a:rPr>
                        <a:t>0</a:t>
                      </a:r>
                      <a:r>
                        <a:rPr lang="en-US" altLang="zh-TW" sz="2400" i="1" dirty="0">
                          <a:latin typeface="Times New Roman" panose="02020603050405020304" pitchFamily="18" charset="0"/>
                          <a:cs typeface="Times New Roman" panose="02020603050405020304" pitchFamily="18" charset="0"/>
                          <a:sym typeface="Symbol" panose="05050102010706020507" pitchFamily="18" charset="2"/>
                        </a:rPr>
                        <a:t>t</a:t>
                      </a:r>
                      <a:r>
                        <a:rPr lang="en-US" altLang="zh-TW" sz="2400"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TW" sz="2400" i="1" dirty="0">
                          <a:latin typeface="Times New Roman" panose="02020603050405020304" pitchFamily="18" charset="0"/>
                          <a:cs typeface="Times New Roman" panose="02020603050405020304" pitchFamily="18" charset="0"/>
                          <a:sym typeface="Symbol" panose="05050102010706020507" pitchFamily="18" charset="2"/>
                        </a:rPr>
                        <a:t>t</a:t>
                      </a:r>
                      <a:r>
                        <a:rPr lang="en-US" altLang="zh-TW" sz="2400" baseline="-25000" dirty="0">
                          <a:latin typeface="Times New Roman" panose="02020603050405020304" pitchFamily="18" charset="0"/>
                          <a:cs typeface="Times New Roman" panose="02020603050405020304" pitchFamily="18" charset="0"/>
                          <a:sym typeface="Symbol" panose="05050102010706020507" pitchFamily="18" charset="2"/>
                        </a:rPr>
                        <a:t>2</a:t>
                      </a: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a:t>
                      </a:r>
                      <a:r>
                        <a:rPr lang="en-US" altLang="zh-TW" sz="2400" i="1" dirty="0">
                          <a:latin typeface="Times New Roman" panose="02020603050405020304" pitchFamily="18" charset="0"/>
                          <a:cs typeface="Times New Roman" panose="02020603050405020304" pitchFamily="18" charset="0"/>
                          <a:sym typeface="Symbol" panose="05050102010706020507" pitchFamily="18" charset="2"/>
                        </a:rPr>
                        <a:t>t</a:t>
                      </a:r>
                      <a:r>
                        <a:rPr lang="en-US" altLang="zh-TW" sz="2400" i="1" baseline="-25000" dirty="0">
                          <a:latin typeface="Times New Roman" panose="02020603050405020304" pitchFamily="18" charset="0"/>
                          <a:cs typeface="Times New Roman" panose="02020603050405020304" pitchFamily="18" charset="0"/>
                          <a:sym typeface="Symbol" panose="05050102010706020507" pitchFamily="18" charset="2"/>
                        </a:rPr>
                        <a:t>n</a:t>
                      </a:r>
                      <a:r>
                        <a:rPr lang="en-US" altLang="zh-TW" sz="2400"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 )</a:t>
                      </a:r>
                      <a:r>
                        <a:rPr lang="en-US" altLang="zh-TW" sz="2400" baseline="30000" dirty="0">
                          <a:latin typeface="Times New Roman" panose="02020603050405020304" pitchFamily="18" charset="0"/>
                          <a:cs typeface="Times New Roman" panose="02020603050405020304" pitchFamily="18" charset="0"/>
                          <a:sym typeface="Symbol" panose="05050102010706020507" pitchFamily="18" charset="2"/>
                        </a:rPr>
                        <a:t>2</a:t>
                      </a:r>
                      <a:r>
                        <a:rPr lang="en-US" altLang="zh-TW" sz="2400" i="1" baseline="30000" dirty="0">
                          <a:latin typeface="Times New Roman" panose="02020603050405020304" pitchFamily="18" charset="0"/>
                          <a:cs typeface="Times New Roman" panose="02020603050405020304" pitchFamily="18" charset="0"/>
                          <a:sym typeface="Symbol" panose="05050102010706020507" pitchFamily="18" charset="2"/>
                        </a:rPr>
                        <a:t>n</a:t>
                      </a:r>
                      <a:r>
                        <a:rPr lang="en-US" altLang="zh-TW" sz="2400" baseline="30000" dirty="0">
                          <a:latin typeface="Times New Roman" panose="02020603050405020304" pitchFamily="18" charset="0"/>
                          <a:cs typeface="Times New Roman" panose="02020603050405020304" pitchFamily="18" charset="0"/>
                          <a:sym typeface="Symbol" panose="05050102010706020507" pitchFamily="18" charset="2"/>
                        </a:rPr>
                        <a:t>+2</a:t>
                      </a:r>
                      <a:endParaRPr lang="zh-TW" altLang="en-US" sz="2400" i="1" dirty="0">
                        <a:latin typeface="Times New Roman" panose="02020603050405020304" pitchFamily="18" charset="0"/>
                        <a:cs typeface="Times New Roman" panose="02020603050405020304" pitchFamily="18" charset="0"/>
                      </a:endParaRPr>
                    </a:p>
                  </a:txBody>
                  <a:tcPr/>
                </a:tc>
                <a:tc hMerge="1">
                  <a:txBody>
                    <a:bodyPr/>
                    <a:lstStyle/>
                    <a:p>
                      <a:endParaRPr lang="zh-TW" altLang="en-US" dirty="0"/>
                    </a:p>
                  </a:txBody>
                  <a:tcPr/>
                </a:tc>
                <a:tc hMerge="1">
                  <a:txBody>
                    <a:bodyPr/>
                    <a:lstStyle/>
                    <a:p>
                      <a:endParaRPr lang="zh-TW" altLang="en-US" dirty="0"/>
                    </a:p>
                  </a:txBody>
                  <a:tcPr/>
                </a:tc>
                <a:tc hMerge="1">
                  <a:txBody>
                    <a:bodyPr/>
                    <a:lstStyle/>
                    <a:p>
                      <a:endParaRPr lang="zh-TW" altLang="en-US" dirty="0"/>
                    </a:p>
                  </a:txBody>
                  <a:tcPr/>
                </a:tc>
                <a:tc hMerge="1">
                  <a:txBody>
                    <a:bodyPr/>
                    <a:lstStyle/>
                    <a:p>
                      <a:endParaRPr lang="zh-TW" altLang="en-US" dirty="0"/>
                    </a:p>
                  </a:txBody>
                  <a:tcPr/>
                </a:tc>
                <a:tc hMerge="1">
                  <a:txBody>
                    <a:bodyPr/>
                    <a:lstStyle/>
                    <a:p>
                      <a:endParaRPr lang="zh-TW" altLang="en-US" dirty="0"/>
                    </a:p>
                  </a:txBody>
                  <a:tcPr/>
                </a:tc>
                <a:tc hMerge="1">
                  <a:txBody>
                    <a:bodyPr/>
                    <a:lstStyle/>
                    <a:p>
                      <a:endParaRPr lang="zh-TW" altLang="en-US" dirty="0"/>
                    </a:p>
                  </a:txBody>
                  <a:tcPr/>
                </a:tc>
                <a:tc hMerge="1">
                  <a:txBody>
                    <a:bodyPr/>
                    <a:lstStyle/>
                    <a:p>
                      <a:endParaRPr lang="zh-TW" altLang="en-US" dirty="0"/>
                    </a:p>
                  </a:txBody>
                  <a:tcPr/>
                </a:tc>
                <a:tc hMerge="1">
                  <a:txBody>
                    <a:bodyPr/>
                    <a:lstStyle/>
                    <a:p>
                      <a:endParaRPr lang="zh-TW" altLang="en-US" dirty="0"/>
                    </a:p>
                  </a:txBody>
                  <a:tcPr/>
                </a:tc>
                <a:tc hMerge="1">
                  <a:txBody>
                    <a:bodyPr/>
                    <a:lstStyle/>
                    <a:p>
                      <a:endParaRPr lang="zh-TW" altLang="en-US" dirty="0"/>
                    </a:p>
                  </a:txBody>
                  <a:tcPr/>
                </a:tc>
                <a:tc hMerge="1">
                  <a:txBody>
                    <a:bodyPr/>
                    <a:lstStyle/>
                    <a:p>
                      <a:endParaRPr lang="zh-TW" altLang="en-US" dirty="0"/>
                    </a:p>
                  </a:txBody>
                  <a:tcPr/>
                </a:tc>
                <a:tc hMerge="1">
                  <a:txBody>
                    <a:bodyPr/>
                    <a:lstStyle/>
                    <a:p>
                      <a:pPr algn="ctr"/>
                      <a:endParaRPr lang="zh-TW" altLang="en-US" sz="2400" i="1" dirty="0">
                        <a:latin typeface="Times New Roman" panose="02020603050405020304" pitchFamily="18" charset="0"/>
                        <a:cs typeface="Times New Roman" panose="02020603050405020304" pitchFamily="18" charset="0"/>
                      </a:endParaRPr>
                    </a:p>
                  </a:txBody>
                  <a:tcPr/>
                </a:tc>
                <a:tc hMerge="1">
                  <a:txBody>
                    <a:bodyPr/>
                    <a:lstStyle/>
                    <a:p>
                      <a:pPr algn="ctr"/>
                      <a:endParaRPr lang="zh-TW" altLang="en-US" sz="2400" i="1" dirty="0">
                        <a:latin typeface="Times New Roman" panose="02020603050405020304" pitchFamily="18" charset="0"/>
                        <a:cs typeface="Times New Roman" panose="02020603050405020304" pitchFamily="18" charset="0"/>
                      </a:endParaRPr>
                    </a:p>
                  </a:txBody>
                  <a:tcPr/>
                </a:tc>
                <a:tc hMerge="1">
                  <a:txBody>
                    <a:bodyPr/>
                    <a:lstStyle/>
                    <a:p>
                      <a:pPr algn="ctr"/>
                      <a:endParaRPr lang="zh-TW" altLang="en-US" sz="2400" i="1" dirty="0">
                        <a:latin typeface="Times New Roman" panose="02020603050405020304" pitchFamily="18" charset="0"/>
                        <a:cs typeface="Times New Roman" panose="02020603050405020304" pitchFamily="18" charset="0"/>
                      </a:endParaRPr>
                    </a:p>
                  </a:txBody>
                  <a:tcPr/>
                </a:tc>
                <a:tc hMerge="1">
                  <a:txBody>
                    <a:bodyPr/>
                    <a:lstStyle/>
                    <a:p>
                      <a:pPr algn="ctr"/>
                      <a:endParaRPr lang="zh-TW" altLang="en-US" sz="2400" i="1" dirty="0">
                        <a:latin typeface="Times New Roman" panose="02020603050405020304" pitchFamily="18" charset="0"/>
                        <a:cs typeface="Times New Roman" panose="02020603050405020304" pitchFamily="18" charset="0"/>
                      </a:endParaRPr>
                    </a:p>
                  </a:txBody>
                  <a:tcPr/>
                </a:tc>
                <a:tc hMerge="1">
                  <a:txBody>
                    <a:bodyPr/>
                    <a:lstStyle/>
                    <a:p>
                      <a:pPr algn="ctr"/>
                      <a:endParaRPr lang="zh-TW" altLang="en-US" sz="2400" i="1" dirty="0">
                        <a:latin typeface="Times New Roman" panose="02020603050405020304" pitchFamily="18" charset="0"/>
                        <a:cs typeface="Times New Roman" panose="02020603050405020304" pitchFamily="18" charset="0"/>
                      </a:endParaRPr>
                    </a:p>
                  </a:txBody>
                  <a:tcPr/>
                </a:tc>
                <a:tc hMerge="1">
                  <a:txBody>
                    <a:bodyPr/>
                    <a:lstStyle/>
                    <a:p>
                      <a:pPr algn="ctr"/>
                      <a:endParaRPr lang="zh-TW" altLang="en-US" sz="2400" i="1" dirty="0">
                        <a:latin typeface="Times New Roman" panose="02020603050405020304" pitchFamily="18" charset="0"/>
                        <a:cs typeface="Times New Roman" panose="02020603050405020304" pitchFamily="18" charset="0"/>
                      </a:endParaRPr>
                    </a:p>
                  </a:txBody>
                  <a:tcPr/>
                </a:tc>
                <a:tc hMerge="1">
                  <a:txBody>
                    <a:bodyPr/>
                    <a:lstStyle/>
                    <a:p>
                      <a:pPr algn="ctr"/>
                      <a:endParaRPr lang="zh-TW" altLang="en-US" sz="2400" i="1" dirty="0">
                        <a:latin typeface="Times New Roman" panose="02020603050405020304" pitchFamily="18" charset="0"/>
                        <a:cs typeface="Times New Roman" panose="02020603050405020304" pitchFamily="18" charset="0"/>
                      </a:endParaRPr>
                    </a:p>
                  </a:txBody>
                  <a:tcPr/>
                </a:tc>
                <a:tc hMerge="1">
                  <a:txBody>
                    <a:bodyPr/>
                    <a:lstStyle/>
                    <a:p>
                      <a:pPr algn="ctr"/>
                      <a:endParaRPr lang="zh-TW" altLang="en-US" sz="2400" i="1" dirty="0">
                        <a:latin typeface="Times New Roman" panose="02020603050405020304" pitchFamily="18" charset="0"/>
                        <a:cs typeface="Times New Roman" panose="02020603050405020304" pitchFamily="18" charset="0"/>
                      </a:endParaRPr>
                    </a:p>
                  </a:txBody>
                  <a:tcPr/>
                </a:tc>
                <a:tc hMerge="1">
                  <a:txBody>
                    <a:bodyPr/>
                    <a:lstStyle/>
                    <a:p>
                      <a:pPr algn="ctr"/>
                      <a:endParaRPr lang="zh-TW" altLang="en-US" sz="2400" i="1" dirty="0">
                        <a:latin typeface="Times New Roman" panose="02020603050405020304" pitchFamily="18" charset="0"/>
                        <a:cs typeface="Times New Roman" panose="02020603050405020304" pitchFamily="18" charset="0"/>
                      </a:endParaRPr>
                    </a:p>
                  </a:txBody>
                  <a:tcPr/>
                </a:tc>
                <a:tc hMerge="1">
                  <a:txBody>
                    <a:bodyPr/>
                    <a:lstStyle/>
                    <a:p>
                      <a:pPr algn="ctr"/>
                      <a:endParaRPr lang="zh-TW" altLang="en-US" sz="2400" i="1" dirty="0">
                        <a:latin typeface="Times New Roman" panose="02020603050405020304" pitchFamily="18" charset="0"/>
                        <a:cs typeface="Times New Roman" panose="02020603050405020304" pitchFamily="18" charset="0"/>
                      </a:endParaRPr>
                    </a:p>
                  </a:txBody>
                  <a:tcPr/>
                </a:tc>
                <a:tc hMerge="1">
                  <a:txBody>
                    <a:bodyPr/>
                    <a:lstStyle/>
                    <a:p>
                      <a:pPr algn="ctr"/>
                      <a:endParaRPr lang="zh-TW" altLang="en-US" sz="2400" i="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60456898"/>
                  </a:ext>
                </a:extLst>
              </a:tr>
              <a:tr h="265113">
                <a:tc gridSpan="7">
                  <a:txBody>
                    <a:bodyPr/>
                    <a:lstStyle/>
                    <a:p>
                      <a:pPr algn="ctr"/>
                      <a:r>
                        <a:rPr lang="en-US" altLang="zh-TW" sz="2400" i="1" dirty="0" err="1">
                          <a:latin typeface="Times New Roman" panose="02020603050405020304" pitchFamily="18" charset="0"/>
                          <a:cs typeface="Times New Roman" panose="02020603050405020304" pitchFamily="18" charset="0"/>
                        </a:rPr>
                        <a:t>q</a:t>
                      </a:r>
                      <a:r>
                        <a:rPr lang="en-US" altLang="zh-TW" sz="2400" i="1" baseline="-25000" dirty="0" err="1">
                          <a:latin typeface="Times New Roman" panose="02020603050405020304" pitchFamily="18" charset="0"/>
                          <a:cs typeface="Times New Roman" panose="02020603050405020304" pitchFamily="18" charset="0"/>
                        </a:rPr>
                        <a:t>sub</a:t>
                      </a:r>
                      <a:endParaRPr lang="zh-TW" altLang="en-US" sz="2400" i="1" baseline="-25000" dirty="0">
                        <a:latin typeface="Times New Roman" panose="02020603050405020304" pitchFamily="18" charset="0"/>
                        <a:cs typeface="Times New Roman" panose="02020603050405020304" pitchFamily="18" charset="0"/>
                      </a:endParaRPr>
                    </a:p>
                  </a:txBody>
                  <a:tcPr>
                    <a:solidFill>
                      <a:schemeClr val="accent6">
                        <a:lumMod val="20000"/>
                        <a:lumOff val="80000"/>
                      </a:schemeClr>
                    </a:solidFill>
                  </a:tcPr>
                </a:tc>
                <a:tc hMerge="1">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hMerge="1">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hMerge="1">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hMerge="1">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hMerge="1">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hMerge="1">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solidFill>
                      <a:schemeClr val="bg1">
                        <a:lumMod val="75000"/>
                      </a:schemeClr>
                    </a:solidFill>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solidFill>
                      <a:schemeClr val="bg1">
                        <a:lumMod val="75000"/>
                      </a:schemeClr>
                    </a:solidFill>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solidFill>
                      <a:schemeClr val="bg1">
                        <a:lumMod val="75000"/>
                      </a:schemeClr>
                    </a:solidFill>
                  </a:tcPr>
                </a:tc>
                <a:tc gridSpan="7">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400" i="1" dirty="0" err="1">
                          <a:latin typeface="Times New Roman" panose="02020603050405020304" pitchFamily="18" charset="0"/>
                          <a:cs typeface="Times New Roman" panose="02020603050405020304" pitchFamily="18" charset="0"/>
                        </a:rPr>
                        <a:t>q</a:t>
                      </a:r>
                      <a:r>
                        <a:rPr lang="en-US" altLang="zh-TW" sz="2400" i="1" baseline="-25000" dirty="0" err="1">
                          <a:latin typeface="Times New Roman" panose="02020603050405020304" pitchFamily="18" charset="0"/>
                          <a:cs typeface="Times New Roman" panose="02020603050405020304" pitchFamily="18" charset="0"/>
                        </a:rPr>
                        <a:t>sub</a:t>
                      </a:r>
                      <a:endParaRPr lang="zh-TW" altLang="en-US" sz="2400" i="1" baseline="-25000" dirty="0">
                        <a:latin typeface="Times New Roman" panose="02020603050405020304" pitchFamily="18" charset="0"/>
                        <a:cs typeface="Times New Roman" panose="02020603050405020304" pitchFamily="18" charset="0"/>
                      </a:endParaRPr>
                    </a:p>
                  </a:txBody>
                  <a:tcPr>
                    <a:solidFill>
                      <a:schemeClr val="accent6">
                        <a:lumMod val="20000"/>
                        <a:lumOff val="80000"/>
                      </a:schemeClr>
                    </a:solidFill>
                  </a:tcPr>
                </a:tc>
                <a:tc hMerge="1">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hMerge="1">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hMerge="1">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hMerge="1">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hMerge="1">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hMerge="1">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solidFill>
                      <a:schemeClr val="bg1">
                        <a:lumMod val="75000"/>
                      </a:schemeClr>
                    </a:solidFill>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solidFill>
                      <a:schemeClr val="bg1">
                        <a:lumMod val="75000"/>
                      </a:schemeClr>
                    </a:solidFill>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solidFill>
                      <a:schemeClr val="bg1">
                        <a:lumMod val="75000"/>
                      </a:schemeClr>
                    </a:solidFill>
                  </a:tcPr>
                </a:tc>
                <a:tc rowSpan="2" gridSpan="2">
                  <a:txBody>
                    <a:bodyPr/>
                    <a:lstStyle/>
                    <a:p>
                      <a:pPr algn="ctr"/>
                      <a:r>
                        <a:rPr lang="en-US" altLang="zh-TW" sz="2400" dirty="0">
                          <a:latin typeface="Times New Roman" panose="02020603050405020304" pitchFamily="18" charset="0"/>
                          <a:cs typeface="Times New Roman" panose="02020603050405020304" pitchFamily="18" charset="0"/>
                        </a:rPr>
                        <a:t>…</a:t>
                      </a:r>
                      <a:endParaRPr lang="zh-TW" altLang="en-US" sz="2400" baseline="-25000" dirty="0">
                        <a:latin typeface="Times New Roman" panose="02020603050405020304" pitchFamily="18" charset="0"/>
                        <a:cs typeface="Times New Roman" panose="02020603050405020304" pitchFamily="18" charset="0"/>
                      </a:endParaRPr>
                    </a:p>
                  </a:txBody>
                  <a:tcPr anchor="ctr"/>
                </a:tc>
                <a:tc rowSpan="2" hMerge="1">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34887334"/>
                  </a:ext>
                </a:extLst>
              </a:tr>
              <a:tr h="265113">
                <a:tc>
                  <a:txBody>
                    <a:bodyPr/>
                    <a:lstStyle/>
                    <a:p>
                      <a:pPr algn="ctr"/>
                      <a:r>
                        <a:rPr lang="en-US" altLang="zh-TW" sz="2400" i="1" dirty="0">
                          <a:latin typeface="Times New Roman" panose="02020603050405020304" pitchFamily="18" charset="0"/>
                          <a:cs typeface="Times New Roman" panose="02020603050405020304" pitchFamily="18" charset="0"/>
                        </a:rPr>
                        <a:t>t</a:t>
                      </a:r>
                      <a:r>
                        <a:rPr lang="en-US" altLang="zh-TW" sz="2400" baseline="-25000" dirty="0">
                          <a:latin typeface="Times New Roman" panose="02020603050405020304" pitchFamily="18" charset="0"/>
                          <a:cs typeface="Times New Roman" panose="02020603050405020304" pitchFamily="18" charset="0"/>
                        </a:rPr>
                        <a:t>0</a:t>
                      </a:r>
                      <a:endParaRPr lang="zh-TW" altLang="en-US" sz="2400" baseline="-25000" dirty="0">
                        <a:latin typeface="Times New Roman" panose="02020603050405020304" pitchFamily="18" charset="0"/>
                        <a:cs typeface="Times New Roman" panose="02020603050405020304" pitchFamily="18" charset="0"/>
                      </a:endParaRPr>
                    </a:p>
                  </a:txBody>
                  <a:tcPr>
                    <a:solidFill>
                      <a:srgbClr val="FFFF00"/>
                    </a:solidFill>
                  </a:tcPr>
                </a:tc>
                <a:tc>
                  <a:txBody>
                    <a:bodyPr/>
                    <a:lstStyle/>
                    <a:p>
                      <a:pPr algn="ctr"/>
                      <a:r>
                        <a:rPr lang="en-US" altLang="zh-TW" sz="2400" i="1" dirty="0">
                          <a:latin typeface="Times New Roman" panose="02020603050405020304" pitchFamily="18" charset="0"/>
                          <a:cs typeface="Times New Roman" panose="02020603050405020304" pitchFamily="18" charset="0"/>
                        </a:rPr>
                        <a:t>t</a:t>
                      </a:r>
                      <a:r>
                        <a:rPr lang="en-US" altLang="zh-TW" sz="2400" baseline="-25000" dirty="0">
                          <a:latin typeface="Times New Roman" panose="02020603050405020304" pitchFamily="18" charset="0"/>
                          <a:cs typeface="Times New Roman" panose="02020603050405020304" pitchFamily="18" charset="0"/>
                        </a:rPr>
                        <a:t>1</a:t>
                      </a:r>
                      <a:endParaRPr lang="zh-TW" altLang="en-US" sz="2400" baseline="-25000" dirty="0">
                        <a:latin typeface="Times New Roman" panose="02020603050405020304" pitchFamily="18" charset="0"/>
                        <a:cs typeface="Times New Roman" panose="02020603050405020304" pitchFamily="18" charset="0"/>
                      </a:endParaRPr>
                    </a:p>
                  </a:txBody>
                  <a:tcPr>
                    <a:solidFill>
                      <a:srgbClr val="FFFF00"/>
                    </a:solidFill>
                  </a:tcPr>
                </a:tc>
                <a:tc>
                  <a:txBody>
                    <a:bodyPr/>
                    <a:lstStyle/>
                    <a:p>
                      <a:pPr algn="ctr"/>
                      <a:r>
                        <a:rPr lang="en-US" altLang="zh-TW" sz="2400" i="1" dirty="0">
                          <a:latin typeface="Times New Roman" panose="02020603050405020304" pitchFamily="18" charset="0"/>
                          <a:cs typeface="Times New Roman" panose="02020603050405020304" pitchFamily="18" charset="0"/>
                        </a:rPr>
                        <a:t>t</a:t>
                      </a:r>
                      <a:r>
                        <a:rPr lang="en-US" altLang="zh-TW" sz="2400" baseline="-25000" dirty="0">
                          <a:latin typeface="Times New Roman" panose="02020603050405020304" pitchFamily="18" charset="0"/>
                          <a:cs typeface="Times New Roman" panose="02020603050405020304" pitchFamily="18" charset="0"/>
                        </a:rPr>
                        <a:t>2</a:t>
                      </a:r>
                      <a:endParaRPr lang="zh-TW" altLang="en-US" sz="2400" baseline="-25000" dirty="0">
                        <a:latin typeface="Times New Roman" panose="02020603050405020304" pitchFamily="18" charset="0"/>
                        <a:cs typeface="Times New Roman" panose="02020603050405020304" pitchFamily="18" charset="0"/>
                      </a:endParaRPr>
                    </a:p>
                  </a:txBody>
                  <a:tcPr>
                    <a:solidFill>
                      <a:srgbClr val="FFFF00"/>
                    </a:solidFill>
                  </a:tcPr>
                </a:tc>
                <a:tc>
                  <a:txBody>
                    <a:bodyPr/>
                    <a:lstStyle/>
                    <a:p>
                      <a:pPr algn="ctr"/>
                      <a:r>
                        <a:rPr lang="en-US" altLang="zh-TW" sz="2400" dirty="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a:txBody>
                  <a:tcPr>
                    <a:solidFill>
                      <a:srgbClr val="FFFF00"/>
                    </a:solidFill>
                  </a:tcPr>
                </a:tc>
                <a:tc>
                  <a:txBody>
                    <a:bodyPr/>
                    <a:lstStyle/>
                    <a:p>
                      <a:pPr algn="ctr"/>
                      <a:r>
                        <a:rPr lang="en-US" altLang="zh-TW" sz="2400" i="1" dirty="0">
                          <a:latin typeface="Times New Roman" panose="02020603050405020304" pitchFamily="18" charset="0"/>
                          <a:cs typeface="Times New Roman" panose="02020603050405020304" pitchFamily="18" charset="0"/>
                        </a:rPr>
                        <a:t>t</a:t>
                      </a:r>
                      <a:r>
                        <a:rPr lang="en-US" altLang="zh-TW" sz="2400" i="1" baseline="-25000" dirty="0">
                          <a:latin typeface="Times New Roman" panose="02020603050405020304" pitchFamily="18" charset="0"/>
                          <a:cs typeface="Times New Roman" panose="02020603050405020304" pitchFamily="18" charset="0"/>
                        </a:rPr>
                        <a:t>n</a:t>
                      </a:r>
                      <a:r>
                        <a:rPr lang="en-US" altLang="zh-TW" sz="2400" baseline="-25000" dirty="0">
                          <a:latin typeface="Times New Roman" panose="02020603050405020304" pitchFamily="18" charset="0"/>
                          <a:cs typeface="Times New Roman" panose="02020603050405020304" pitchFamily="18" charset="0"/>
                        </a:rPr>
                        <a:t>-1</a:t>
                      </a:r>
                      <a:endParaRPr lang="zh-TW" altLang="en-US" sz="2400" baseline="-25000" dirty="0">
                        <a:latin typeface="Times New Roman" panose="02020603050405020304" pitchFamily="18" charset="0"/>
                        <a:cs typeface="Times New Roman" panose="02020603050405020304" pitchFamily="18" charset="0"/>
                      </a:endParaRPr>
                    </a:p>
                  </a:txBody>
                  <a:tcPr>
                    <a:solidFill>
                      <a:srgbClr val="FFFF00"/>
                    </a:solidFill>
                  </a:tcPr>
                </a:tc>
                <a:tc>
                  <a:txBody>
                    <a:bodyPr/>
                    <a:lstStyle/>
                    <a:p>
                      <a:pPr algn="ctr"/>
                      <a:r>
                        <a:rPr lang="en-US" altLang="zh-TW" sz="2400" i="1" dirty="0">
                          <a:latin typeface="Times New Roman" panose="02020603050405020304" pitchFamily="18" charset="0"/>
                          <a:cs typeface="Times New Roman" panose="02020603050405020304" pitchFamily="18" charset="0"/>
                        </a:rPr>
                        <a:t>t</a:t>
                      </a:r>
                      <a:r>
                        <a:rPr lang="en-US" altLang="zh-TW" sz="2400" baseline="-25000" dirty="0">
                          <a:latin typeface="Times New Roman" panose="02020603050405020304" pitchFamily="18" charset="0"/>
                          <a:cs typeface="Times New Roman" panose="02020603050405020304" pitchFamily="18" charset="0"/>
                        </a:rPr>
                        <a:t>0</a:t>
                      </a:r>
                      <a:endParaRPr lang="zh-TW" altLang="en-US" sz="2400" baseline="-25000" dirty="0">
                        <a:latin typeface="Times New Roman" panose="02020603050405020304" pitchFamily="18" charset="0"/>
                        <a:cs typeface="Times New Roman" panose="02020603050405020304" pitchFamily="18" charset="0"/>
                      </a:endParaRPr>
                    </a:p>
                  </a:txBody>
                  <a:tcPr>
                    <a:solidFill>
                      <a:srgbClr val="FFFF00"/>
                    </a:solidFill>
                  </a:tcPr>
                </a:tc>
                <a:tc>
                  <a:txBody>
                    <a:bodyPr/>
                    <a:lstStyle/>
                    <a:p>
                      <a:pPr algn="ctr"/>
                      <a:r>
                        <a:rPr lang="en-US" altLang="zh-TW" sz="2400" i="1" dirty="0">
                          <a:latin typeface="Times New Roman" panose="02020603050405020304" pitchFamily="18" charset="0"/>
                          <a:cs typeface="Times New Roman" panose="02020603050405020304" pitchFamily="18" charset="0"/>
                        </a:rPr>
                        <a:t>t</a:t>
                      </a:r>
                      <a:r>
                        <a:rPr lang="en-US" altLang="zh-TW" sz="2400" baseline="-25000" dirty="0">
                          <a:latin typeface="Times New Roman" panose="02020603050405020304" pitchFamily="18" charset="0"/>
                          <a:cs typeface="Times New Roman" panose="02020603050405020304" pitchFamily="18" charset="0"/>
                        </a:rPr>
                        <a:t>1</a:t>
                      </a:r>
                      <a:endParaRPr lang="zh-TW" altLang="en-US" sz="2400" baseline="-25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i="1" dirty="0">
                          <a:latin typeface="Times New Roman" panose="02020603050405020304" pitchFamily="18" charset="0"/>
                          <a:cs typeface="Times New Roman" panose="02020603050405020304" pitchFamily="18" charset="0"/>
                        </a:rPr>
                        <a:t>t</a:t>
                      </a:r>
                      <a:r>
                        <a:rPr lang="en-US" altLang="zh-TW" sz="2400" baseline="-25000" dirty="0">
                          <a:latin typeface="Times New Roman" panose="02020603050405020304" pitchFamily="18" charset="0"/>
                          <a:cs typeface="Times New Roman" panose="02020603050405020304" pitchFamily="18" charset="0"/>
                        </a:rPr>
                        <a:t>2</a:t>
                      </a:r>
                      <a:endParaRPr lang="zh-TW" altLang="en-US" sz="2400" baseline="-25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i="1" dirty="0">
                          <a:latin typeface="Times New Roman" panose="02020603050405020304" pitchFamily="18" charset="0"/>
                          <a:cs typeface="Times New Roman" panose="02020603050405020304" pitchFamily="18" charset="0"/>
                        </a:rPr>
                        <a:t>t</a:t>
                      </a:r>
                      <a:r>
                        <a:rPr lang="en-US" altLang="zh-TW" sz="2400" baseline="-25000" dirty="0">
                          <a:latin typeface="Times New Roman" panose="02020603050405020304" pitchFamily="18" charset="0"/>
                          <a:cs typeface="Times New Roman" panose="02020603050405020304" pitchFamily="18" charset="0"/>
                        </a:rPr>
                        <a:t>n-1</a:t>
                      </a:r>
                      <a:endParaRPr lang="zh-TW" altLang="en-US" sz="2400" baseline="-25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i="1" dirty="0">
                          <a:latin typeface="Times New Roman" panose="02020603050405020304" pitchFamily="18" charset="0"/>
                          <a:cs typeface="Times New Roman" panose="02020603050405020304" pitchFamily="18" charset="0"/>
                        </a:rPr>
                        <a:t>t</a:t>
                      </a:r>
                      <a:r>
                        <a:rPr lang="en-US" altLang="zh-TW" sz="2400" baseline="-25000" dirty="0">
                          <a:latin typeface="Times New Roman" panose="02020603050405020304" pitchFamily="18" charset="0"/>
                          <a:cs typeface="Times New Roman" panose="02020603050405020304" pitchFamily="18" charset="0"/>
                        </a:rPr>
                        <a:t>0</a:t>
                      </a:r>
                      <a:endParaRPr lang="zh-TW" altLang="en-US" sz="2400" baseline="-25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i="1" dirty="0">
                          <a:latin typeface="Times New Roman" panose="02020603050405020304" pitchFamily="18" charset="0"/>
                          <a:cs typeface="Times New Roman" panose="02020603050405020304" pitchFamily="18" charset="0"/>
                        </a:rPr>
                        <a:t>t</a:t>
                      </a:r>
                      <a:r>
                        <a:rPr lang="en-US" altLang="zh-TW" sz="2400" baseline="-25000" dirty="0">
                          <a:latin typeface="Times New Roman" panose="02020603050405020304" pitchFamily="18" charset="0"/>
                          <a:cs typeface="Times New Roman" panose="02020603050405020304" pitchFamily="18" charset="0"/>
                        </a:rPr>
                        <a:t>1</a:t>
                      </a:r>
                      <a:endParaRPr lang="zh-TW" altLang="en-US" sz="2400" baseline="-25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i="1" dirty="0">
                          <a:latin typeface="Times New Roman" panose="02020603050405020304" pitchFamily="18" charset="0"/>
                          <a:cs typeface="Times New Roman" panose="02020603050405020304" pitchFamily="18" charset="0"/>
                        </a:rPr>
                        <a:t>t</a:t>
                      </a:r>
                      <a:r>
                        <a:rPr lang="en-US" altLang="zh-TW" sz="2400" baseline="-25000" dirty="0">
                          <a:latin typeface="Times New Roman" panose="02020603050405020304" pitchFamily="18" charset="0"/>
                          <a:cs typeface="Times New Roman" panose="02020603050405020304" pitchFamily="18" charset="0"/>
                        </a:rPr>
                        <a:t>2</a:t>
                      </a:r>
                      <a:endParaRPr lang="zh-TW" altLang="en-US" sz="2400" baseline="-25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i="1" dirty="0">
                          <a:latin typeface="Times New Roman" panose="02020603050405020304" pitchFamily="18" charset="0"/>
                          <a:cs typeface="Times New Roman" panose="02020603050405020304" pitchFamily="18" charset="0"/>
                        </a:rPr>
                        <a:t>t</a:t>
                      </a:r>
                      <a:r>
                        <a:rPr lang="en-US" altLang="zh-TW" sz="2400" i="1" baseline="-25000" dirty="0">
                          <a:latin typeface="Times New Roman" panose="02020603050405020304" pitchFamily="18" charset="0"/>
                          <a:cs typeface="Times New Roman" panose="02020603050405020304" pitchFamily="18" charset="0"/>
                        </a:rPr>
                        <a:t>n</a:t>
                      </a:r>
                      <a:r>
                        <a:rPr lang="en-US" altLang="zh-TW" sz="2400" baseline="-25000" dirty="0">
                          <a:latin typeface="Times New Roman" panose="02020603050405020304" pitchFamily="18" charset="0"/>
                          <a:cs typeface="Times New Roman" panose="02020603050405020304" pitchFamily="18" charset="0"/>
                        </a:rPr>
                        <a:t>-1</a:t>
                      </a:r>
                      <a:endParaRPr lang="zh-TW" altLang="en-US" sz="2400" baseline="-25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i="1" dirty="0">
                          <a:latin typeface="Times New Roman" panose="02020603050405020304" pitchFamily="18" charset="0"/>
                          <a:cs typeface="Times New Roman" panose="02020603050405020304" pitchFamily="18" charset="0"/>
                        </a:rPr>
                        <a:t>t</a:t>
                      </a:r>
                      <a:r>
                        <a:rPr lang="en-US" altLang="zh-TW" sz="2400" baseline="-25000" dirty="0">
                          <a:latin typeface="Times New Roman" panose="02020603050405020304" pitchFamily="18" charset="0"/>
                          <a:cs typeface="Times New Roman" panose="02020603050405020304" pitchFamily="18" charset="0"/>
                        </a:rPr>
                        <a:t>0</a:t>
                      </a:r>
                      <a:endParaRPr lang="zh-TW" altLang="en-US" sz="2400" baseline="-25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i="1" dirty="0">
                          <a:latin typeface="Times New Roman" panose="02020603050405020304" pitchFamily="18" charset="0"/>
                          <a:cs typeface="Times New Roman" panose="02020603050405020304" pitchFamily="18" charset="0"/>
                        </a:rPr>
                        <a:t>t</a:t>
                      </a:r>
                      <a:r>
                        <a:rPr lang="en-US" altLang="zh-TW" sz="2400" baseline="-25000" dirty="0">
                          <a:latin typeface="Times New Roman" panose="02020603050405020304" pitchFamily="18" charset="0"/>
                          <a:cs typeface="Times New Roman" panose="02020603050405020304" pitchFamily="18" charset="0"/>
                        </a:rPr>
                        <a:t>1</a:t>
                      </a:r>
                      <a:endParaRPr lang="zh-TW" altLang="en-US" sz="2400" baseline="-25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i="1" dirty="0">
                          <a:latin typeface="Times New Roman" panose="02020603050405020304" pitchFamily="18" charset="0"/>
                          <a:cs typeface="Times New Roman" panose="02020603050405020304" pitchFamily="18" charset="0"/>
                        </a:rPr>
                        <a:t>t</a:t>
                      </a:r>
                      <a:r>
                        <a:rPr lang="en-US" altLang="zh-TW" sz="2400" baseline="-25000" dirty="0">
                          <a:latin typeface="Times New Roman" panose="02020603050405020304" pitchFamily="18" charset="0"/>
                          <a:cs typeface="Times New Roman" panose="02020603050405020304" pitchFamily="18" charset="0"/>
                        </a:rPr>
                        <a:t>2</a:t>
                      </a:r>
                      <a:endParaRPr lang="zh-TW" altLang="en-US" sz="2400" baseline="-25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i="1" dirty="0">
                          <a:latin typeface="Times New Roman" panose="02020603050405020304" pitchFamily="18" charset="0"/>
                          <a:cs typeface="Times New Roman" panose="02020603050405020304" pitchFamily="18" charset="0"/>
                        </a:rPr>
                        <a:t>t</a:t>
                      </a:r>
                      <a:r>
                        <a:rPr lang="en-US" altLang="zh-TW" sz="2400" i="1" baseline="-25000" dirty="0">
                          <a:latin typeface="Times New Roman" panose="02020603050405020304" pitchFamily="18" charset="0"/>
                          <a:cs typeface="Times New Roman" panose="02020603050405020304" pitchFamily="18" charset="0"/>
                        </a:rPr>
                        <a:t>n</a:t>
                      </a:r>
                      <a:r>
                        <a:rPr lang="en-US" altLang="zh-TW" sz="2400" baseline="-25000" dirty="0">
                          <a:latin typeface="Times New Roman" panose="02020603050405020304" pitchFamily="18" charset="0"/>
                          <a:cs typeface="Times New Roman" panose="02020603050405020304" pitchFamily="18" charset="0"/>
                        </a:rPr>
                        <a:t>-1</a:t>
                      </a:r>
                      <a:endParaRPr lang="zh-TW" altLang="en-US" sz="2400" baseline="-25000" dirty="0">
                        <a:latin typeface="Times New Roman" panose="02020603050405020304" pitchFamily="18" charset="0"/>
                        <a:cs typeface="Times New Roman" panose="02020603050405020304" pitchFamily="18" charset="0"/>
                      </a:endParaRPr>
                    </a:p>
                  </a:txBody>
                  <a:tcPr/>
                </a:tc>
                <a:tc gridSpan="2" vMerge="1">
                  <a:txBody>
                    <a:bodyPr/>
                    <a:lstStyle/>
                    <a:p>
                      <a:pPr algn="ctr"/>
                      <a:r>
                        <a:rPr lang="en-US" altLang="zh-TW" sz="2400" i="1" dirty="0">
                          <a:latin typeface="Times New Roman" panose="02020603050405020304" pitchFamily="18" charset="0"/>
                          <a:cs typeface="Times New Roman" panose="02020603050405020304" pitchFamily="18" charset="0"/>
                        </a:rPr>
                        <a:t>t</a:t>
                      </a:r>
                      <a:r>
                        <a:rPr lang="en-US" altLang="zh-TW" sz="2400" baseline="-25000" dirty="0">
                          <a:latin typeface="Times New Roman" panose="02020603050405020304" pitchFamily="18" charset="0"/>
                          <a:cs typeface="Times New Roman" panose="02020603050405020304" pitchFamily="18" charset="0"/>
                        </a:rPr>
                        <a:t>0</a:t>
                      </a:r>
                      <a:endParaRPr lang="zh-TW" altLang="en-US" sz="2400" baseline="-25000" dirty="0">
                        <a:latin typeface="Times New Roman" panose="02020603050405020304" pitchFamily="18" charset="0"/>
                        <a:cs typeface="Times New Roman" panose="02020603050405020304" pitchFamily="18" charset="0"/>
                      </a:endParaRPr>
                    </a:p>
                  </a:txBody>
                  <a:tcPr/>
                </a:tc>
                <a:tc hMerge="1" vMerge="1">
                  <a:txBody>
                    <a:bodyPr/>
                    <a:lstStyle/>
                    <a:p>
                      <a:pPr algn="ctr"/>
                      <a:r>
                        <a:rPr lang="en-US" altLang="zh-TW" sz="2400" i="1" baseline="0" dirty="0">
                          <a:latin typeface="Times New Roman" panose="02020603050405020304" pitchFamily="18" charset="0"/>
                          <a:cs typeface="Times New Roman" panose="02020603050405020304" pitchFamily="18" charset="0"/>
                        </a:rPr>
                        <a:t>t</a:t>
                      </a:r>
                      <a:r>
                        <a:rPr lang="en-US" altLang="zh-TW" sz="2400" baseline="-25000" dirty="0">
                          <a:latin typeface="Times New Roman" panose="02020603050405020304" pitchFamily="18" charset="0"/>
                          <a:cs typeface="Times New Roman" panose="02020603050405020304" pitchFamily="18" charset="0"/>
                        </a:rPr>
                        <a:t>1</a:t>
                      </a:r>
                      <a:endParaRPr lang="zh-TW" altLang="en-US" sz="2400" baseline="-25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85892418"/>
                  </a:ext>
                </a:extLst>
              </a:tr>
              <a:tr h="265113">
                <a:tc rowSpan="2" gridSpan="3">
                  <a:txBody>
                    <a:bodyPr/>
                    <a:lstStyle/>
                    <a:p>
                      <a:pPr algn="ctr"/>
                      <a:r>
                        <a:rPr lang="en-US" altLang="zh-TW" sz="2400" dirty="0">
                          <a:latin typeface="Times New Roman" panose="02020603050405020304" pitchFamily="18" charset="0"/>
                          <a:cs typeface="Times New Roman" panose="02020603050405020304" pitchFamily="18" charset="0"/>
                        </a:rPr>
                        <a:t>…</a:t>
                      </a:r>
                      <a:endParaRPr lang="zh-TW" altLang="en-US" sz="2400" baseline="-25000" dirty="0">
                        <a:latin typeface="Times New Roman" panose="02020603050405020304" pitchFamily="18" charset="0"/>
                        <a:cs typeface="Times New Roman" panose="02020603050405020304" pitchFamily="18" charset="0"/>
                      </a:endParaRPr>
                    </a:p>
                  </a:txBody>
                  <a:tcPr anchor="ctr"/>
                </a:tc>
                <a:tc rowSpan="2" hMerge="1">
                  <a:txBody>
                    <a:bodyPr/>
                    <a:lstStyle/>
                    <a:p>
                      <a:pPr algn="ctr"/>
                      <a:endParaRPr lang="zh-TW" altLang="en-US" sz="2400" baseline="-25000" dirty="0">
                        <a:latin typeface="Times New Roman" panose="02020603050405020304" pitchFamily="18" charset="0"/>
                        <a:cs typeface="Times New Roman" panose="02020603050405020304" pitchFamily="18" charset="0"/>
                      </a:endParaRPr>
                    </a:p>
                  </a:txBody>
                  <a:tcPr/>
                </a:tc>
                <a:tc rowSpan="2" hMerge="1">
                  <a:txBody>
                    <a:bodyPr/>
                    <a:lstStyle/>
                    <a:p>
                      <a:pPr algn="ctr"/>
                      <a:endParaRPr lang="zh-TW" altLang="en-US" sz="2400" baseline="-25000" dirty="0">
                        <a:latin typeface="Times New Roman" panose="02020603050405020304" pitchFamily="18" charset="0"/>
                        <a:cs typeface="Times New Roman" panose="02020603050405020304" pitchFamily="18" charset="0"/>
                      </a:endParaRPr>
                    </a:p>
                  </a:txBody>
                  <a:tcPr/>
                </a:tc>
                <a:tc gridSpan="7">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400" i="1" dirty="0" err="1">
                          <a:latin typeface="Times New Roman" panose="02020603050405020304" pitchFamily="18" charset="0"/>
                          <a:cs typeface="Times New Roman" panose="02020603050405020304" pitchFamily="18" charset="0"/>
                        </a:rPr>
                        <a:t>q</a:t>
                      </a:r>
                      <a:r>
                        <a:rPr lang="en-US" altLang="zh-TW" sz="2400" i="1" baseline="-25000" dirty="0" err="1">
                          <a:latin typeface="Times New Roman" panose="02020603050405020304" pitchFamily="18" charset="0"/>
                          <a:cs typeface="Times New Roman" panose="02020603050405020304" pitchFamily="18" charset="0"/>
                        </a:rPr>
                        <a:t>sub</a:t>
                      </a:r>
                      <a:endParaRPr lang="zh-TW" altLang="en-US" sz="2400" i="1" baseline="-25000" dirty="0">
                        <a:latin typeface="Times New Roman" panose="02020603050405020304" pitchFamily="18" charset="0"/>
                        <a:cs typeface="Times New Roman" panose="02020603050405020304" pitchFamily="18" charset="0"/>
                      </a:endParaRPr>
                    </a:p>
                  </a:txBody>
                  <a:tcPr>
                    <a:solidFill>
                      <a:schemeClr val="accent6">
                        <a:lumMod val="20000"/>
                        <a:lumOff val="80000"/>
                      </a:schemeClr>
                    </a:solidFill>
                  </a:tcPr>
                </a:tc>
                <a:tc hMerge="1">
                  <a:txBody>
                    <a:bodyPr/>
                    <a:lstStyle/>
                    <a:p>
                      <a:pPr algn="ctr"/>
                      <a:endParaRPr lang="zh-TW" altLang="en-US" sz="2400" baseline="-25000" dirty="0">
                        <a:latin typeface="Times New Roman" panose="02020603050405020304" pitchFamily="18" charset="0"/>
                        <a:cs typeface="Times New Roman" panose="02020603050405020304" pitchFamily="18" charset="0"/>
                      </a:endParaRPr>
                    </a:p>
                  </a:txBody>
                  <a:tcPr/>
                </a:tc>
                <a:tc hMerge="1">
                  <a:txBody>
                    <a:bodyPr/>
                    <a:lstStyle/>
                    <a:p>
                      <a:pPr algn="ctr"/>
                      <a:endParaRPr lang="zh-TW" altLang="en-US" sz="2400" baseline="-25000" dirty="0">
                        <a:latin typeface="Times New Roman" panose="02020603050405020304" pitchFamily="18" charset="0"/>
                        <a:cs typeface="Times New Roman" panose="02020603050405020304" pitchFamily="18" charset="0"/>
                      </a:endParaRPr>
                    </a:p>
                  </a:txBody>
                  <a:tcPr/>
                </a:tc>
                <a:tc hMerge="1">
                  <a:txBody>
                    <a:bodyPr/>
                    <a:lstStyle/>
                    <a:p>
                      <a:pPr algn="ctr"/>
                      <a:endParaRPr lang="zh-TW" altLang="en-US" sz="2400" baseline="-25000" dirty="0">
                        <a:latin typeface="Times New Roman" panose="02020603050405020304" pitchFamily="18" charset="0"/>
                        <a:cs typeface="Times New Roman" panose="02020603050405020304" pitchFamily="18" charset="0"/>
                      </a:endParaRPr>
                    </a:p>
                  </a:txBody>
                  <a:tcPr/>
                </a:tc>
                <a:tc hMerge="1">
                  <a:txBody>
                    <a:bodyPr/>
                    <a:lstStyle/>
                    <a:p>
                      <a:pPr algn="ctr"/>
                      <a:endParaRPr lang="zh-TW" altLang="en-US" sz="2400" baseline="-25000" dirty="0">
                        <a:latin typeface="Times New Roman" panose="02020603050405020304" pitchFamily="18" charset="0"/>
                        <a:cs typeface="Times New Roman" panose="02020603050405020304" pitchFamily="18" charset="0"/>
                      </a:endParaRPr>
                    </a:p>
                  </a:txBody>
                  <a:tcPr/>
                </a:tc>
                <a:tc hMerge="1">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hMerge="1">
                  <a:txBody>
                    <a:bodyPr/>
                    <a:lstStyle/>
                    <a:p>
                      <a:pPr algn="ctr"/>
                      <a:endParaRPr lang="zh-TW" altLang="en-US" sz="2400" baseline="-250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baseline="-25000" dirty="0">
                        <a:latin typeface="Times New Roman" panose="02020603050405020304" pitchFamily="18" charset="0"/>
                        <a:cs typeface="Times New Roman" panose="02020603050405020304" pitchFamily="18" charset="0"/>
                      </a:endParaRPr>
                    </a:p>
                  </a:txBody>
                  <a:tcPr>
                    <a:solidFill>
                      <a:schemeClr val="bg1">
                        <a:lumMod val="75000"/>
                      </a:schemeClr>
                    </a:solidFill>
                  </a:tcPr>
                </a:tc>
                <a:tc>
                  <a:txBody>
                    <a:bodyPr/>
                    <a:lstStyle/>
                    <a:p>
                      <a:pPr algn="ctr"/>
                      <a:endParaRPr lang="zh-TW" altLang="en-US" sz="2400" baseline="-25000" dirty="0">
                        <a:latin typeface="Times New Roman" panose="02020603050405020304" pitchFamily="18" charset="0"/>
                        <a:cs typeface="Times New Roman" panose="02020603050405020304" pitchFamily="18" charset="0"/>
                      </a:endParaRPr>
                    </a:p>
                  </a:txBody>
                  <a:tcPr>
                    <a:solidFill>
                      <a:schemeClr val="bg1">
                        <a:lumMod val="75000"/>
                      </a:schemeClr>
                    </a:solidFill>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solidFill>
                      <a:schemeClr val="bg1">
                        <a:lumMod val="75000"/>
                      </a:schemeClr>
                    </a:solidFill>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400" i="1" dirty="0" err="1">
                          <a:latin typeface="Times New Roman" panose="02020603050405020304" pitchFamily="18" charset="0"/>
                          <a:cs typeface="Times New Roman" panose="02020603050405020304" pitchFamily="18" charset="0"/>
                        </a:rPr>
                        <a:t>q</a:t>
                      </a:r>
                      <a:r>
                        <a:rPr lang="en-US" altLang="zh-TW" sz="2400" i="1" baseline="-25000" dirty="0" err="1">
                          <a:latin typeface="Times New Roman" panose="02020603050405020304" pitchFamily="18" charset="0"/>
                          <a:cs typeface="Times New Roman" panose="02020603050405020304" pitchFamily="18" charset="0"/>
                        </a:rPr>
                        <a:t>s</a:t>
                      </a:r>
                      <a:r>
                        <a:rPr lang="en-US" altLang="zh-TW" sz="2400" i="1" baseline="-25000" dirty="0">
                          <a:latin typeface="Times New Roman" panose="02020603050405020304" pitchFamily="18" charset="0"/>
                          <a:cs typeface="Times New Roman" panose="02020603050405020304" pitchFamily="18" charset="0"/>
                        </a:rPr>
                        <a:t>..</a:t>
                      </a:r>
                      <a:endParaRPr lang="zh-TW" altLang="en-US" sz="2400" i="1" baseline="-25000" dirty="0">
                        <a:latin typeface="Times New Roman" panose="02020603050405020304" pitchFamily="18" charset="0"/>
                        <a:cs typeface="Times New Roman" panose="02020603050405020304" pitchFamily="18" charset="0"/>
                      </a:endParaRPr>
                    </a:p>
                  </a:txBody>
                  <a:tcPr>
                    <a:solidFill>
                      <a:schemeClr val="accent6">
                        <a:lumMod val="20000"/>
                        <a:lumOff val="80000"/>
                      </a:schemeClr>
                    </a:solidFill>
                  </a:tcPr>
                </a:tc>
                <a:tc hMerge="1">
                  <a:txBody>
                    <a:bodyPr/>
                    <a:lstStyle/>
                    <a:p>
                      <a:pPr algn="ctr"/>
                      <a:endParaRPr lang="zh-TW" altLang="en-US" sz="2400" baseline="-25000" dirty="0">
                        <a:latin typeface="Times New Roman" panose="02020603050405020304" pitchFamily="18" charset="0"/>
                        <a:cs typeface="Times New Roman" panose="02020603050405020304" pitchFamily="18" charset="0"/>
                      </a:endParaRPr>
                    </a:p>
                  </a:txBody>
                  <a:tcPr/>
                </a:tc>
                <a:tc rowSpan="2" gridSpan="2">
                  <a:txBody>
                    <a:bodyPr/>
                    <a:lstStyle/>
                    <a:p>
                      <a:pPr algn="ctr"/>
                      <a:endParaRPr lang="en-US" altLang="zh-TW" sz="2400" baseline="-25000" dirty="0">
                        <a:latin typeface="Times New Roman" panose="02020603050405020304" pitchFamily="18" charset="0"/>
                        <a:cs typeface="Times New Roman" panose="02020603050405020304" pitchFamily="18" charset="0"/>
                      </a:endParaRPr>
                    </a:p>
                    <a:p>
                      <a:pPr algn="ctr"/>
                      <a:r>
                        <a:rPr lang="en-US" altLang="zh-TW" sz="2400" dirty="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a:txBody>
                  <a:tcPr/>
                </a:tc>
                <a:tc rowSpan="2" hMerge="1">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400" i="1" dirty="0" err="1">
                          <a:latin typeface="Times New Roman" panose="02020603050405020304" pitchFamily="18" charset="0"/>
                          <a:cs typeface="Times New Roman" panose="02020603050405020304" pitchFamily="18" charset="0"/>
                        </a:rPr>
                        <a:t>q</a:t>
                      </a:r>
                      <a:r>
                        <a:rPr lang="en-US" altLang="zh-TW" sz="2400" i="1" baseline="-25000" dirty="0" err="1">
                          <a:latin typeface="Times New Roman" panose="02020603050405020304" pitchFamily="18" charset="0"/>
                          <a:cs typeface="Times New Roman" panose="02020603050405020304" pitchFamily="18" charset="0"/>
                        </a:rPr>
                        <a:t>sub</a:t>
                      </a:r>
                      <a:endParaRPr lang="zh-TW" altLang="en-US" sz="2400" i="1" baseline="-25000" dirty="0">
                        <a:latin typeface="Times New Roman" panose="02020603050405020304" pitchFamily="18" charset="0"/>
                        <a:cs typeface="Times New Roman" panose="02020603050405020304" pitchFamily="18" charset="0"/>
                      </a:endParaRPr>
                    </a:p>
                  </a:txBody>
                  <a:tcPr>
                    <a:solidFill>
                      <a:schemeClr val="accent6">
                        <a:lumMod val="20000"/>
                        <a:lumOff val="80000"/>
                      </a:schemeClr>
                    </a:solidFill>
                  </a:tcPr>
                </a:tc>
                <a:tc hMerge="1">
                  <a:txBody>
                    <a:bodyPr/>
                    <a:lstStyle/>
                    <a:p>
                      <a:pPr algn="ctr"/>
                      <a:endParaRPr lang="zh-TW" altLang="en-US" sz="2400" baseline="-250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baseline="-25000" dirty="0">
                        <a:latin typeface="Times New Roman" panose="02020603050405020304" pitchFamily="18" charset="0"/>
                        <a:cs typeface="Times New Roman" panose="02020603050405020304" pitchFamily="18" charset="0"/>
                      </a:endParaRPr>
                    </a:p>
                  </a:txBody>
                  <a:tcPr>
                    <a:solidFill>
                      <a:schemeClr val="bg1">
                        <a:lumMod val="75000"/>
                      </a:schemeClr>
                    </a:solidFill>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solidFill>
                      <a:schemeClr val="bg1">
                        <a:lumMod val="75000"/>
                      </a:schemeClr>
                    </a:solidFill>
                  </a:tcPr>
                </a:tc>
                <a:tc>
                  <a:txBody>
                    <a:bodyPr/>
                    <a:lstStyle/>
                    <a:p>
                      <a:pPr algn="ctr"/>
                      <a:endParaRPr lang="zh-TW" altLang="en-US" sz="2400" baseline="-25000" dirty="0">
                        <a:latin typeface="Times New Roman" panose="02020603050405020304" pitchFamily="18" charset="0"/>
                        <a:cs typeface="Times New Roman" panose="02020603050405020304" pitchFamily="18" charset="0"/>
                      </a:endParaRPr>
                    </a:p>
                  </a:txBody>
                  <a:tcPr>
                    <a:solidFill>
                      <a:schemeClr val="bg1">
                        <a:lumMod val="75000"/>
                      </a:schemeClr>
                    </a:solidFill>
                  </a:tcPr>
                </a:tc>
                <a:extLst>
                  <a:ext uri="{0D108BD9-81ED-4DB2-BD59-A6C34878D82A}">
                    <a16:rowId xmlns:a16="http://schemas.microsoft.com/office/drawing/2014/main" val="1623126732"/>
                  </a:ext>
                </a:extLst>
              </a:tr>
              <a:tr h="265113">
                <a:tc gridSpan="3" vMerge="1">
                  <a:txBody>
                    <a:bodyPr/>
                    <a:lstStyle/>
                    <a:p>
                      <a:pPr algn="ctr"/>
                      <a:endParaRPr lang="zh-TW" altLang="en-US" sz="2400" baseline="-25000" dirty="0">
                        <a:latin typeface="Times New Roman" panose="02020603050405020304" pitchFamily="18" charset="0"/>
                        <a:cs typeface="Times New Roman" panose="02020603050405020304" pitchFamily="18" charset="0"/>
                      </a:endParaRPr>
                    </a:p>
                  </a:txBody>
                  <a:tcPr/>
                </a:tc>
                <a:tc hMerge="1" vMerge="1">
                  <a:txBody>
                    <a:bodyPr/>
                    <a:lstStyle/>
                    <a:p>
                      <a:pPr algn="ctr"/>
                      <a:endParaRPr lang="zh-TW" altLang="en-US" sz="2400" baseline="0" dirty="0">
                        <a:latin typeface="Times New Roman" panose="02020603050405020304" pitchFamily="18" charset="0"/>
                        <a:cs typeface="Times New Roman" panose="02020603050405020304" pitchFamily="18" charset="0"/>
                      </a:endParaRPr>
                    </a:p>
                  </a:txBody>
                  <a:tcPr/>
                </a:tc>
                <a:tc hMerge="1" vMerge="1">
                  <a:txBody>
                    <a:bodyPr/>
                    <a:lstStyle/>
                    <a:p>
                      <a:pPr algn="ctr"/>
                      <a:endParaRPr lang="zh-TW" altLang="en-US" sz="2400" baseline="-25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i="1" dirty="0">
                          <a:latin typeface="Times New Roman" panose="02020603050405020304" pitchFamily="18" charset="0"/>
                          <a:cs typeface="Times New Roman" panose="02020603050405020304" pitchFamily="18" charset="0"/>
                        </a:rPr>
                        <a:t>t</a:t>
                      </a:r>
                      <a:r>
                        <a:rPr lang="en-US" altLang="zh-TW" sz="2400" baseline="-25000" dirty="0">
                          <a:latin typeface="Times New Roman" panose="02020603050405020304" pitchFamily="18" charset="0"/>
                          <a:cs typeface="Times New Roman" panose="02020603050405020304" pitchFamily="18" charset="0"/>
                        </a:rPr>
                        <a:t>0</a:t>
                      </a:r>
                      <a:endParaRPr lang="zh-TW" altLang="en-US" sz="2400" baseline="-25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i="1" dirty="0">
                          <a:latin typeface="Times New Roman" panose="02020603050405020304" pitchFamily="18" charset="0"/>
                          <a:cs typeface="Times New Roman" panose="02020603050405020304" pitchFamily="18" charset="0"/>
                        </a:rPr>
                        <a:t>t</a:t>
                      </a:r>
                      <a:r>
                        <a:rPr lang="en-US" altLang="zh-TW" sz="2400" baseline="-25000" dirty="0">
                          <a:latin typeface="Times New Roman" panose="02020603050405020304" pitchFamily="18" charset="0"/>
                          <a:cs typeface="Times New Roman" panose="02020603050405020304" pitchFamily="18" charset="0"/>
                        </a:rPr>
                        <a:t>1</a:t>
                      </a:r>
                      <a:endParaRPr lang="zh-TW" altLang="en-US" sz="2400" baseline="-25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i="1" dirty="0">
                          <a:latin typeface="Times New Roman" panose="02020603050405020304" pitchFamily="18" charset="0"/>
                          <a:cs typeface="Times New Roman" panose="02020603050405020304" pitchFamily="18" charset="0"/>
                        </a:rPr>
                        <a:t>t</a:t>
                      </a:r>
                      <a:r>
                        <a:rPr lang="en-US" altLang="zh-TW" sz="2400" baseline="-25000" dirty="0">
                          <a:latin typeface="Times New Roman" panose="02020603050405020304" pitchFamily="18" charset="0"/>
                          <a:cs typeface="Times New Roman" panose="02020603050405020304" pitchFamily="18" charset="0"/>
                        </a:rPr>
                        <a:t>2</a:t>
                      </a:r>
                      <a:endParaRPr lang="zh-TW" altLang="en-US" sz="2400" baseline="-25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i="1" dirty="0">
                          <a:latin typeface="Times New Roman" panose="02020603050405020304" pitchFamily="18" charset="0"/>
                          <a:cs typeface="Times New Roman" panose="02020603050405020304" pitchFamily="18" charset="0"/>
                        </a:rPr>
                        <a:t>t</a:t>
                      </a:r>
                      <a:r>
                        <a:rPr lang="en-US" altLang="zh-TW" sz="2400" i="1" baseline="-25000" dirty="0">
                          <a:latin typeface="Times New Roman" panose="02020603050405020304" pitchFamily="18" charset="0"/>
                          <a:cs typeface="Times New Roman" panose="02020603050405020304" pitchFamily="18" charset="0"/>
                        </a:rPr>
                        <a:t>n</a:t>
                      </a:r>
                      <a:r>
                        <a:rPr lang="en-US" altLang="zh-TW" sz="2400" baseline="-25000" dirty="0">
                          <a:latin typeface="Times New Roman" panose="02020603050405020304" pitchFamily="18" charset="0"/>
                          <a:cs typeface="Times New Roman" panose="02020603050405020304" pitchFamily="18" charset="0"/>
                        </a:rPr>
                        <a:t>-1</a:t>
                      </a:r>
                      <a:endParaRPr lang="zh-TW" altLang="en-US" sz="2400" baseline="-25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i="1" dirty="0">
                          <a:latin typeface="Times New Roman" panose="02020603050405020304" pitchFamily="18" charset="0"/>
                          <a:cs typeface="Times New Roman" panose="02020603050405020304" pitchFamily="18" charset="0"/>
                        </a:rPr>
                        <a:t>t</a:t>
                      </a:r>
                      <a:r>
                        <a:rPr lang="en-US" altLang="zh-TW" sz="2400" baseline="-25000" dirty="0">
                          <a:latin typeface="Times New Roman" panose="02020603050405020304" pitchFamily="18" charset="0"/>
                          <a:cs typeface="Times New Roman" panose="02020603050405020304" pitchFamily="18" charset="0"/>
                        </a:rPr>
                        <a:t>0</a:t>
                      </a:r>
                      <a:endParaRPr lang="zh-TW" altLang="en-US" sz="2400" baseline="-25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i="1" dirty="0">
                          <a:latin typeface="Times New Roman" panose="02020603050405020304" pitchFamily="18" charset="0"/>
                          <a:cs typeface="Times New Roman" panose="02020603050405020304" pitchFamily="18" charset="0"/>
                        </a:rPr>
                        <a:t>t</a:t>
                      </a:r>
                      <a:r>
                        <a:rPr lang="en-US" altLang="zh-TW" sz="2400" baseline="-25000" dirty="0">
                          <a:latin typeface="Times New Roman" panose="02020603050405020304" pitchFamily="18" charset="0"/>
                          <a:cs typeface="Times New Roman" panose="02020603050405020304" pitchFamily="18" charset="0"/>
                        </a:rPr>
                        <a:t>1</a:t>
                      </a:r>
                      <a:endParaRPr lang="zh-TW" altLang="en-US" sz="2400" baseline="-25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i="1" dirty="0">
                          <a:latin typeface="Times New Roman" panose="02020603050405020304" pitchFamily="18" charset="0"/>
                          <a:cs typeface="Times New Roman" panose="02020603050405020304" pitchFamily="18" charset="0"/>
                        </a:rPr>
                        <a:t>t</a:t>
                      </a:r>
                      <a:r>
                        <a:rPr lang="en-US" altLang="zh-TW" sz="2400" baseline="-25000" dirty="0">
                          <a:latin typeface="Times New Roman" panose="02020603050405020304" pitchFamily="18" charset="0"/>
                          <a:cs typeface="Times New Roman" panose="02020603050405020304" pitchFamily="18" charset="0"/>
                        </a:rPr>
                        <a:t>2</a:t>
                      </a:r>
                      <a:endParaRPr lang="zh-TW" altLang="en-US" sz="2400" baseline="-25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i="1" dirty="0">
                          <a:latin typeface="Times New Roman" panose="02020603050405020304" pitchFamily="18" charset="0"/>
                          <a:cs typeface="Times New Roman" panose="02020603050405020304" pitchFamily="18" charset="0"/>
                        </a:rPr>
                        <a:t>t</a:t>
                      </a:r>
                      <a:r>
                        <a:rPr lang="en-US" altLang="zh-TW" sz="2400" i="1" baseline="-25000" dirty="0">
                          <a:latin typeface="Times New Roman" panose="02020603050405020304" pitchFamily="18" charset="0"/>
                          <a:cs typeface="Times New Roman" panose="02020603050405020304" pitchFamily="18" charset="0"/>
                        </a:rPr>
                        <a:t>n</a:t>
                      </a:r>
                      <a:r>
                        <a:rPr lang="en-US" altLang="zh-TW" sz="2400" baseline="-25000" dirty="0">
                          <a:latin typeface="Times New Roman" panose="02020603050405020304" pitchFamily="18" charset="0"/>
                          <a:cs typeface="Times New Roman" panose="02020603050405020304" pitchFamily="18" charset="0"/>
                        </a:rPr>
                        <a:t>-1</a:t>
                      </a:r>
                      <a:endParaRPr lang="zh-TW" altLang="en-US" sz="2400" baseline="-25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i="1" dirty="0">
                          <a:latin typeface="Times New Roman" panose="02020603050405020304" pitchFamily="18" charset="0"/>
                          <a:cs typeface="Times New Roman" panose="02020603050405020304" pitchFamily="18" charset="0"/>
                        </a:rPr>
                        <a:t>t</a:t>
                      </a:r>
                      <a:r>
                        <a:rPr lang="en-US" altLang="zh-TW" sz="2400" baseline="-25000" dirty="0">
                          <a:latin typeface="Times New Roman" panose="02020603050405020304" pitchFamily="18" charset="0"/>
                          <a:cs typeface="Times New Roman" panose="02020603050405020304" pitchFamily="18" charset="0"/>
                        </a:rPr>
                        <a:t>0</a:t>
                      </a:r>
                      <a:endParaRPr lang="zh-TW" altLang="en-US" sz="2400" baseline="-25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i="1" dirty="0">
                          <a:latin typeface="Times New Roman" panose="02020603050405020304" pitchFamily="18" charset="0"/>
                          <a:cs typeface="Times New Roman" panose="02020603050405020304" pitchFamily="18" charset="0"/>
                        </a:rPr>
                        <a:t>t</a:t>
                      </a:r>
                      <a:r>
                        <a:rPr lang="en-US" altLang="zh-TW" sz="2400" baseline="-25000" dirty="0">
                          <a:latin typeface="Times New Roman" panose="02020603050405020304" pitchFamily="18" charset="0"/>
                          <a:cs typeface="Times New Roman" panose="02020603050405020304" pitchFamily="18" charset="0"/>
                        </a:rPr>
                        <a:t>1</a:t>
                      </a:r>
                      <a:endParaRPr lang="zh-TW" altLang="en-US" sz="2400" baseline="-25000" dirty="0">
                        <a:latin typeface="Times New Roman" panose="02020603050405020304" pitchFamily="18" charset="0"/>
                        <a:cs typeface="Times New Roman" panose="02020603050405020304" pitchFamily="18" charset="0"/>
                      </a:endParaRPr>
                    </a:p>
                  </a:txBody>
                  <a:tcPr/>
                </a:tc>
                <a:tc gridSpan="2" vMerge="1">
                  <a:txBody>
                    <a:bodyPr/>
                    <a:lstStyle/>
                    <a:p>
                      <a:pPr algn="ctr"/>
                      <a:r>
                        <a:rPr lang="en-US" altLang="zh-TW" sz="2400" i="1" dirty="0">
                          <a:latin typeface="Times New Roman" panose="02020603050405020304" pitchFamily="18" charset="0"/>
                          <a:cs typeface="Times New Roman" panose="02020603050405020304" pitchFamily="18" charset="0"/>
                        </a:rPr>
                        <a:t>t</a:t>
                      </a:r>
                      <a:r>
                        <a:rPr lang="en-US" altLang="zh-TW" sz="2400" baseline="-25000" dirty="0">
                          <a:latin typeface="Times New Roman" panose="02020603050405020304" pitchFamily="18" charset="0"/>
                          <a:cs typeface="Times New Roman" panose="02020603050405020304" pitchFamily="18" charset="0"/>
                        </a:rPr>
                        <a:t>2</a:t>
                      </a:r>
                      <a:endParaRPr lang="zh-TW" altLang="en-US" sz="2400" baseline="-25000" dirty="0">
                        <a:latin typeface="Times New Roman" panose="02020603050405020304" pitchFamily="18" charset="0"/>
                        <a:cs typeface="Times New Roman" panose="02020603050405020304" pitchFamily="18" charset="0"/>
                      </a:endParaRPr>
                    </a:p>
                  </a:txBody>
                  <a:tcPr/>
                </a:tc>
                <a:tc hMerge="1" vMerge="1">
                  <a:txBody>
                    <a:bodyPr/>
                    <a:lstStyle/>
                    <a:p>
                      <a:pPr algn="ctr"/>
                      <a:r>
                        <a:rPr lang="en-US" altLang="zh-TW" sz="2400" dirty="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i="1" dirty="0">
                          <a:latin typeface="Times New Roman" panose="02020603050405020304" pitchFamily="18" charset="0"/>
                          <a:cs typeface="Times New Roman" panose="02020603050405020304" pitchFamily="18" charset="0"/>
                        </a:rPr>
                        <a:t>t</a:t>
                      </a:r>
                      <a:r>
                        <a:rPr lang="en-US" altLang="zh-TW" sz="2400" baseline="-25000" dirty="0">
                          <a:latin typeface="Times New Roman" panose="02020603050405020304" pitchFamily="18" charset="0"/>
                          <a:cs typeface="Times New Roman" panose="02020603050405020304" pitchFamily="18" charset="0"/>
                        </a:rPr>
                        <a:t>0</a:t>
                      </a:r>
                      <a:endParaRPr lang="zh-TW" altLang="en-US" sz="2400" baseline="-25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i="1" dirty="0">
                          <a:latin typeface="Times New Roman" panose="02020603050405020304" pitchFamily="18" charset="0"/>
                          <a:cs typeface="Times New Roman" panose="02020603050405020304" pitchFamily="18" charset="0"/>
                        </a:rPr>
                        <a:t>t</a:t>
                      </a:r>
                      <a:r>
                        <a:rPr lang="en-US" altLang="zh-TW" sz="2400" baseline="-25000" dirty="0">
                          <a:latin typeface="Times New Roman" panose="02020603050405020304" pitchFamily="18" charset="0"/>
                          <a:cs typeface="Times New Roman" panose="02020603050405020304" pitchFamily="18" charset="0"/>
                        </a:rPr>
                        <a:t>1</a:t>
                      </a:r>
                      <a:endParaRPr lang="zh-TW" altLang="en-US" sz="2400" baseline="-25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i="1" dirty="0">
                          <a:latin typeface="Times New Roman" panose="02020603050405020304" pitchFamily="18" charset="0"/>
                          <a:cs typeface="Times New Roman" panose="02020603050405020304" pitchFamily="18" charset="0"/>
                        </a:rPr>
                        <a:t>t</a:t>
                      </a:r>
                      <a:r>
                        <a:rPr lang="en-US" altLang="zh-TW" sz="2400" baseline="-25000" dirty="0">
                          <a:latin typeface="Times New Roman" panose="02020603050405020304" pitchFamily="18" charset="0"/>
                          <a:cs typeface="Times New Roman" panose="02020603050405020304" pitchFamily="18" charset="0"/>
                        </a:rPr>
                        <a:t>2</a:t>
                      </a:r>
                      <a:endParaRPr lang="zh-TW" altLang="en-US" sz="2400" baseline="-25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i="1" dirty="0">
                          <a:latin typeface="Times New Roman" panose="02020603050405020304" pitchFamily="18" charset="0"/>
                          <a:cs typeface="Times New Roman" panose="02020603050405020304" pitchFamily="18" charset="0"/>
                        </a:rPr>
                        <a:t>t</a:t>
                      </a:r>
                      <a:r>
                        <a:rPr lang="en-US" altLang="zh-TW" sz="2400" i="1" baseline="-25000" dirty="0">
                          <a:latin typeface="Times New Roman" panose="02020603050405020304" pitchFamily="18" charset="0"/>
                          <a:cs typeface="Times New Roman" panose="02020603050405020304" pitchFamily="18" charset="0"/>
                        </a:rPr>
                        <a:t>n</a:t>
                      </a:r>
                      <a:r>
                        <a:rPr lang="en-US" altLang="zh-TW" sz="2400" baseline="-25000" dirty="0">
                          <a:latin typeface="Times New Roman" panose="02020603050405020304" pitchFamily="18" charset="0"/>
                          <a:cs typeface="Times New Roman" panose="02020603050405020304" pitchFamily="18" charset="0"/>
                        </a:rPr>
                        <a:t>-1</a:t>
                      </a:r>
                      <a:endParaRPr lang="zh-TW" altLang="en-US" sz="2400" baseline="-25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39427175"/>
                  </a:ext>
                </a:extLst>
              </a:tr>
            </a:tbl>
          </a:graphicData>
        </a:graphic>
      </p:graphicFrame>
    </p:spTree>
    <p:extLst>
      <p:ext uri="{BB962C8B-B14F-4D97-AF65-F5344CB8AC3E}">
        <p14:creationId xmlns:p14="http://schemas.microsoft.com/office/powerpoint/2010/main" val="10575124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B66326-0258-4924-B0B5-05633F8B6DD4}"/>
              </a:ext>
            </a:extLst>
          </p:cNvPr>
          <p:cNvSpPr>
            <a:spLocks noGrp="1"/>
          </p:cNvSpPr>
          <p:nvPr>
            <p:ph type="title"/>
          </p:nvPr>
        </p:nvSpPr>
        <p:spPr/>
        <p:txBody>
          <a:bodyPr>
            <a:normAutofit/>
          </a:bodyPr>
          <a:lstStyle/>
          <a:p>
            <a:r>
              <a:rPr lang="en-US" altLang="zh-TW" sz="4000" dirty="0">
                <a:latin typeface="Times New Roman" panose="02020603050405020304" pitchFamily="18" charset="0"/>
                <a:cs typeface="Times New Roman" panose="02020603050405020304" pitchFamily="18" charset="0"/>
              </a:rPr>
              <a:t>Edit distance model</a:t>
            </a:r>
            <a:endParaRPr lang="zh-TW" altLang="en-US" sz="4000"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D62D5C57-92EA-4061-8DBC-ABC04F3533CB}"/>
              </a:ext>
            </a:extLst>
          </p:cNvPr>
          <p:cNvSpPr>
            <a:spLocks noGrp="1"/>
          </p:cNvSpPr>
          <p:nvPr>
            <p:ph idx="1"/>
          </p:nvPr>
        </p:nvSpPr>
        <p:spPr>
          <a:xfrm>
            <a:off x="703277" y="1825625"/>
            <a:ext cx="10740577" cy="4351338"/>
          </a:xfrm>
        </p:spPr>
        <p:txBody>
          <a:bodyPr>
            <a:normAutofit/>
          </a:bodyPr>
          <a:lstStyle/>
          <a:p>
            <a:pPr marL="0" indent="0">
              <a:buNone/>
            </a:pPr>
            <a:r>
              <a:rPr lang="en-US" altLang="zh-TW" dirty="0">
                <a:latin typeface="Times New Roman" panose="02020603050405020304" pitchFamily="18" charset="0"/>
                <a:cs typeface="Times New Roman" panose="02020603050405020304" pitchFamily="18" charset="0"/>
                <a:sym typeface="Symbol" panose="05050102010706020507" pitchFamily="18" charset="2"/>
              </a:rPr>
              <a:t>Theorem 3.2</a:t>
            </a:r>
            <a:r>
              <a:rPr lang="zh-TW" altLang="en-US" dirty="0">
                <a:latin typeface="Times New Roman" panose="02020603050405020304" pitchFamily="18" charset="0"/>
                <a:cs typeface="Times New Roman" panose="02020603050405020304" pitchFamily="18" charset="0"/>
                <a:sym typeface="Symbol" panose="05050102010706020507" pitchFamily="18" charset="2"/>
              </a:rPr>
              <a:t>：</a:t>
            </a:r>
            <a:endParaRPr lang="en-US" altLang="zh-TW" dirty="0">
              <a:latin typeface="Times New Roman" panose="02020603050405020304" pitchFamily="18" charset="0"/>
              <a:cs typeface="Times New Roman" panose="02020603050405020304" pitchFamily="18" charset="0"/>
              <a:sym typeface="Symbol" panose="05050102010706020507" pitchFamily="18" charset="2"/>
            </a:endParaRPr>
          </a:p>
          <a:p>
            <a:pPr marL="0" indent="0">
              <a:buNone/>
            </a:pPr>
            <a:r>
              <a:rPr lang="en-US" altLang="zh-TW" dirty="0">
                <a:latin typeface="Times New Roman" panose="02020603050405020304" pitchFamily="18" charset="0"/>
                <a:cs typeface="Times New Roman" panose="02020603050405020304" pitchFamily="18" charset="0"/>
                <a:sym typeface="Symbol" panose="05050102010706020507" pitchFamily="18" charset="2"/>
              </a:rPr>
              <a:t>The problem “Can we perform a total of  </a:t>
            </a:r>
            <a:r>
              <a:rPr lang="en-US" altLang="zh-TW" i="1" dirty="0">
                <a:latin typeface="Times New Roman" panose="02020603050405020304" pitchFamily="18" charset="0"/>
                <a:cs typeface="Times New Roman" panose="02020603050405020304" pitchFamily="18" charset="0"/>
                <a:sym typeface="Symbol" panose="05050102010706020507" pitchFamily="18" charset="2"/>
              </a:rPr>
              <a:t>d</a:t>
            </a:r>
            <a:r>
              <a:rPr lang="en-US" altLang="zh-TW" dirty="0">
                <a:latin typeface="Times New Roman" panose="02020603050405020304" pitchFamily="18" charset="0"/>
                <a:cs typeface="Times New Roman" panose="02020603050405020304" pitchFamily="18" charset="0"/>
                <a:sym typeface="Symbol" panose="05050102010706020507" pitchFamily="18" charset="2"/>
              </a:rPr>
              <a:t> edits</a:t>
            </a:r>
            <a:r>
              <a:rPr lang="en-US" altLang="zh-TW"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 in graph </a:t>
            </a:r>
            <a:r>
              <a:rPr lang="en-US" altLang="zh-TW" i="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G</a:t>
            </a:r>
            <a:r>
              <a:rPr lang="en-US" altLang="zh-TW"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 and query </a:t>
            </a:r>
            <a:r>
              <a:rPr lang="en-US" altLang="zh-TW" i="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q</a:t>
            </a:r>
            <a:r>
              <a:rPr lang="en-US" altLang="zh-TW" dirty="0">
                <a:latin typeface="Times New Roman" panose="02020603050405020304" pitchFamily="18" charset="0"/>
                <a:cs typeface="Times New Roman" panose="02020603050405020304" pitchFamily="18" charset="0"/>
                <a:sym typeface="Symbol" panose="05050102010706020507" pitchFamily="18" charset="2"/>
              </a:rPr>
              <a:t> such that </a:t>
            </a:r>
            <a:r>
              <a:rPr lang="en-US" altLang="zh-TW" i="1" dirty="0">
                <a:latin typeface="Times New Roman" panose="02020603050405020304" pitchFamily="18" charset="0"/>
                <a:cs typeface="Times New Roman" panose="02020603050405020304" pitchFamily="18" charset="0"/>
                <a:sym typeface="Symbol" panose="05050102010706020507" pitchFamily="18" charset="2"/>
              </a:rPr>
              <a:t>q</a:t>
            </a:r>
            <a:r>
              <a:rPr lang="en-US" altLang="zh-TW" dirty="0">
                <a:latin typeface="Times New Roman" panose="02020603050405020304" pitchFamily="18" charset="0"/>
                <a:cs typeface="Times New Roman" panose="02020603050405020304" pitchFamily="18" charset="0"/>
                <a:sym typeface="Symbol" panose="05050102010706020507" pitchFamily="18" charset="2"/>
              </a:rPr>
              <a:t> will match in </a:t>
            </a:r>
            <a:r>
              <a:rPr lang="en-US" altLang="zh-TW" i="1" dirty="0">
                <a:latin typeface="Times New Roman" panose="02020603050405020304" pitchFamily="18" charset="0"/>
                <a:cs typeface="Times New Roman" panose="02020603050405020304" pitchFamily="18" charset="0"/>
                <a:sym typeface="Symbol" panose="05050102010706020507" pitchFamily="18" charset="2"/>
              </a:rPr>
              <a:t>G</a:t>
            </a:r>
            <a:r>
              <a:rPr lang="en-US" altLang="zh-TW" dirty="0">
                <a:latin typeface="Times New Roman" panose="02020603050405020304" pitchFamily="18" charset="0"/>
                <a:cs typeface="Times New Roman" panose="02020603050405020304" pitchFamily="18" charset="0"/>
                <a:sym typeface="Symbol" panose="05050102010706020507" pitchFamily="18" charset="2"/>
              </a:rPr>
              <a:t>?” is NP-complete for ||  2</a:t>
            </a:r>
          </a:p>
          <a:p>
            <a:pPr marL="0" indent="0">
              <a:buNone/>
            </a:pPr>
            <a:endParaRPr lang="en-US" altLang="zh-TW" i="1" dirty="0">
              <a:latin typeface="Times New Roman" panose="02020603050405020304" pitchFamily="18" charset="0"/>
              <a:cs typeface="Times New Roman" panose="02020603050405020304" pitchFamily="18" charset="0"/>
              <a:sym typeface="Symbol" panose="05050102010706020507" pitchFamily="18" charset="2"/>
            </a:endParaRPr>
          </a:p>
          <a:p>
            <a:pPr marL="0" indent="0">
              <a:buNone/>
            </a:pPr>
            <a:r>
              <a:rPr lang="en-US" altLang="zh-TW" dirty="0">
                <a:latin typeface="Times New Roman" panose="02020603050405020304" pitchFamily="18" charset="0"/>
                <a:cs typeface="Times New Roman" panose="02020603050405020304" pitchFamily="18" charset="0"/>
                <a:sym typeface="Symbol" panose="05050102010706020507" pitchFamily="18" charset="2"/>
              </a:rPr>
              <a:t>Corollary 3.2.1</a:t>
            </a:r>
            <a:r>
              <a:rPr lang="zh-TW" altLang="en-US" dirty="0">
                <a:latin typeface="Times New Roman" panose="02020603050405020304" pitchFamily="18" charset="0"/>
                <a:cs typeface="Times New Roman" panose="02020603050405020304" pitchFamily="18" charset="0"/>
                <a:sym typeface="Symbol" panose="05050102010706020507" pitchFamily="18" charset="2"/>
              </a:rPr>
              <a:t>：</a:t>
            </a:r>
            <a:endParaRPr lang="en-US" altLang="zh-TW" dirty="0">
              <a:latin typeface="Times New Roman" panose="02020603050405020304" pitchFamily="18" charset="0"/>
              <a:cs typeface="Times New Roman" panose="02020603050405020304" pitchFamily="18" charset="0"/>
              <a:sym typeface="Symbol" panose="05050102010706020507" pitchFamily="18" charset="2"/>
            </a:endParaRPr>
          </a:p>
          <a:p>
            <a:pPr marL="0" indent="0">
              <a:buNone/>
            </a:pPr>
            <a:r>
              <a:rPr lang="en-US" altLang="zh-TW" dirty="0">
                <a:latin typeface="Times New Roman" panose="02020603050405020304" pitchFamily="18" charset="0"/>
                <a:cs typeface="Times New Roman" panose="02020603050405020304" pitchFamily="18" charset="0"/>
                <a:sym typeface="Symbol" panose="05050102010706020507" pitchFamily="18" charset="2"/>
              </a:rPr>
              <a:t>The problem “Can we perform a total of  </a:t>
            </a:r>
            <a:r>
              <a:rPr lang="en-US" altLang="zh-TW" i="1" dirty="0">
                <a:latin typeface="Times New Roman" panose="02020603050405020304" pitchFamily="18" charset="0"/>
                <a:cs typeface="Times New Roman" panose="02020603050405020304" pitchFamily="18" charset="0"/>
                <a:sym typeface="Symbol" panose="05050102010706020507" pitchFamily="18" charset="2"/>
              </a:rPr>
              <a:t>d</a:t>
            </a:r>
            <a:r>
              <a:rPr lang="en-US" altLang="zh-TW" dirty="0">
                <a:latin typeface="Times New Roman" panose="02020603050405020304" pitchFamily="18" charset="0"/>
                <a:cs typeface="Times New Roman" panose="02020603050405020304" pitchFamily="18" charset="0"/>
                <a:sym typeface="Symbol" panose="05050102010706020507" pitchFamily="18" charset="2"/>
              </a:rPr>
              <a:t> edits </a:t>
            </a:r>
            <a:r>
              <a:rPr lang="en-US" altLang="zh-TW"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in graph </a:t>
            </a:r>
            <a:r>
              <a:rPr lang="en-US" altLang="zh-TW" i="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G</a:t>
            </a:r>
            <a:r>
              <a:rPr lang="en-US" altLang="zh-TW" dirty="0">
                <a:latin typeface="Times New Roman" panose="02020603050405020304" pitchFamily="18" charset="0"/>
                <a:cs typeface="Times New Roman" panose="02020603050405020304" pitchFamily="18" charset="0"/>
                <a:sym typeface="Symbol" panose="05050102010706020507" pitchFamily="18" charset="2"/>
              </a:rPr>
              <a:t> such that </a:t>
            </a:r>
            <a:r>
              <a:rPr lang="en-US" altLang="zh-TW" i="1" dirty="0">
                <a:latin typeface="Times New Roman" panose="02020603050405020304" pitchFamily="18" charset="0"/>
                <a:cs typeface="Times New Roman" panose="02020603050405020304" pitchFamily="18" charset="0"/>
                <a:sym typeface="Symbol" panose="05050102010706020507" pitchFamily="18" charset="2"/>
              </a:rPr>
              <a:t>q</a:t>
            </a:r>
            <a:r>
              <a:rPr lang="en-US" altLang="zh-TW" dirty="0">
                <a:latin typeface="Times New Roman" panose="02020603050405020304" pitchFamily="18" charset="0"/>
                <a:cs typeface="Times New Roman" panose="02020603050405020304" pitchFamily="18" charset="0"/>
                <a:sym typeface="Symbol" panose="05050102010706020507" pitchFamily="18" charset="2"/>
              </a:rPr>
              <a:t> will match in </a:t>
            </a:r>
            <a:r>
              <a:rPr lang="en-US" altLang="zh-TW" i="1" dirty="0">
                <a:latin typeface="Times New Roman" panose="02020603050405020304" pitchFamily="18" charset="0"/>
                <a:cs typeface="Times New Roman" panose="02020603050405020304" pitchFamily="18" charset="0"/>
                <a:sym typeface="Symbol" panose="05050102010706020507" pitchFamily="18" charset="2"/>
              </a:rPr>
              <a:t>G</a:t>
            </a:r>
            <a:r>
              <a:rPr lang="en-US" altLang="zh-TW" dirty="0">
                <a:latin typeface="Times New Roman" panose="02020603050405020304" pitchFamily="18" charset="0"/>
                <a:cs typeface="Times New Roman" panose="02020603050405020304" pitchFamily="18" charset="0"/>
                <a:sym typeface="Symbol" panose="05050102010706020507" pitchFamily="18" charset="2"/>
              </a:rPr>
              <a:t>?” is NP-complete for ||  2</a:t>
            </a:r>
          </a:p>
          <a:p>
            <a:pPr marL="0" indent="0">
              <a:buNone/>
            </a:pPr>
            <a:endParaRPr lang="en-US" altLang="zh-TW" dirty="0">
              <a:latin typeface="Times New Roman" panose="02020603050405020304" pitchFamily="18" charset="0"/>
              <a:cs typeface="Times New Roman" panose="02020603050405020304" pitchFamily="18" charset="0"/>
              <a:sym typeface="Symbol" panose="05050102010706020507" pitchFamily="18" charset="2"/>
            </a:endParaRPr>
          </a:p>
        </p:txBody>
      </p:sp>
    </p:spTree>
    <p:extLst>
      <p:ext uri="{BB962C8B-B14F-4D97-AF65-F5344CB8AC3E}">
        <p14:creationId xmlns:p14="http://schemas.microsoft.com/office/powerpoint/2010/main" val="27569515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B66326-0258-4924-B0B5-05633F8B6DD4}"/>
              </a:ext>
            </a:extLst>
          </p:cNvPr>
          <p:cNvSpPr>
            <a:spLocks noGrp="1"/>
          </p:cNvSpPr>
          <p:nvPr>
            <p:ph type="title"/>
          </p:nvPr>
        </p:nvSpPr>
        <p:spPr/>
        <p:txBody>
          <a:bodyPr>
            <a:normAutofit/>
          </a:bodyPr>
          <a:lstStyle/>
          <a:p>
            <a:r>
              <a:rPr lang="en-US" altLang="zh-TW" sz="4000" dirty="0">
                <a:latin typeface="Times New Roman" panose="02020603050405020304" pitchFamily="18" charset="0"/>
                <a:cs typeface="Times New Roman" panose="02020603050405020304" pitchFamily="18" charset="0"/>
              </a:rPr>
              <a:t>Edit distance model</a:t>
            </a:r>
            <a:endParaRPr lang="zh-TW" altLang="en-US" sz="4000"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D62D5C57-92EA-4061-8DBC-ABC04F3533CB}"/>
              </a:ext>
            </a:extLst>
          </p:cNvPr>
          <p:cNvSpPr>
            <a:spLocks noGrp="1"/>
          </p:cNvSpPr>
          <p:nvPr>
            <p:ph idx="1"/>
          </p:nvPr>
        </p:nvSpPr>
        <p:spPr>
          <a:xfrm>
            <a:off x="703278" y="1825625"/>
            <a:ext cx="10515600" cy="4351338"/>
          </a:xfrm>
        </p:spPr>
        <p:txBody>
          <a:bodyPr>
            <a:normAutofit/>
          </a:bodyPr>
          <a:lstStyle/>
          <a:p>
            <a:pPr marL="0" indent="0">
              <a:buNone/>
            </a:pPr>
            <a:r>
              <a:rPr lang="en-US" altLang="zh-TW" dirty="0">
                <a:latin typeface="Times New Roman" panose="02020603050405020304" pitchFamily="18" charset="0"/>
                <a:cs typeface="Times New Roman" panose="02020603050405020304" pitchFamily="18" charset="0"/>
              </a:rPr>
              <a:t>directed Hamiltonian cycle </a:t>
            </a:r>
            <a:r>
              <a:rPr lang="en-US" altLang="zh-TW" dirty="0">
                <a:latin typeface="Times New Roman" panose="02020603050405020304" pitchFamily="18" charset="0"/>
                <a:cs typeface="Times New Roman" panose="02020603050405020304" pitchFamily="18" charset="0"/>
                <a:sym typeface="Symbol" panose="05050102010706020507" pitchFamily="18" charset="2"/>
              </a:rPr>
              <a:t> sequence-to-graph alignment</a:t>
            </a:r>
          </a:p>
          <a:p>
            <a:pPr marL="0" indent="0">
              <a:buNone/>
            </a:pPr>
            <a:r>
              <a:rPr lang="en-US" altLang="zh-TW" dirty="0">
                <a:latin typeface="Times New Roman" panose="02020603050405020304" pitchFamily="18" charset="0"/>
                <a:cs typeface="Times New Roman" panose="02020603050405020304" pitchFamily="18" charset="0"/>
                <a:sym typeface="Symbol" panose="05050102010706020507" pitchFamily="18" charset="2"/>
              </a:rPr>
              <a:t>label</a:t>
            </a:r>
            <a:r>
              <a:rPr lang="zh-TW" altLang="en-US" dirty="0">
                <a:latin typeface="Times New Roman" panose="02020603050405020304" pitchFamily="18" charset="0"/>
                <a:cs typeface="Times New Roman" panose="02020603050405020304" pitchFamily="18" charset="0"/>
                <a:sym typeface="Symbol" panose="05050102010706020507" pitchFamily="18" charset="2"/>
              </a:rPr>
              <a:t>：</a:t>
            </a:r>
            <a:r>
              <a:rPr lang="zh-TW" altLang="en-US" i="1" dirty="0">
                <a:latin typeface="Times New Roman" panose="02020603050405020304" pitchFamily="18" charset="0"/>
                <a:cs typeface="Times New Roman" panose="02020603050405020304" pitchFamily="18" charset="0"/>
                <a:sym typeface="Symbol" panose="05050102010706020507" pitchFamily="18" charset="2"/>
              </a:rPr>
              <a:t></a:t>
            </a:r>
            <a:r>
              <a:rPr lang="en-US" altLang="zh-TW" baseline="30000" dirty="0">
                <a:latin typeface="Times New Roman" panose="02020603050405020304" pitchFamily="18" charset="0"/>
                <a:cs typeface="Times New Roman" panose="02020603050405020304" pitchFamily="18" charset="0"/>
                <a:sym typeface="Symbol" panose="05050102010706020507" pitchFamily="18" charset="2"/>
              </a:rPr>
              <a:t>2</a:t>
            </a:r>
            <a:r>
              <a:rPr lang="en-US" altLang="zh-TW" i="1" baseline="30000" dirty="0">
                <a:latin typeface="Times New Roman" panose="02020603050405020304" pitchFamily="18" charset="0"/>
                <a:cs typeface="Times New Roman" panose="02020603050405020304" pitchFamily="18" charset="0"/>
                <a:sym typeface="Symbol" panose="05050102010706020507" pitchFamily="18" charset="2"/>
              </a:rPr>
              <a:t>n</a:t>
            </a:r>
            <a:r>
              <a:rPr lang="zh-TW" altLang="en-US" sz="2800" i="1" dirty="0">
                <a:latin typeface="Times New Roman" panose="02020603050405020304" pitchFamily="18" charset="0"/>
                <a:cs typeface="Times New Roman" panose="02020603050405020304" pitchFamily="18" charset="0"/>
                <a:sym typeface="Symbol" panose="05050102010706020507" pitchFamily="18" charset="2"/>
              </a:rPr>
              <a:t> </a:t>
            </a:r>
            <a:r>
              <a:rPr lang="en-US" altLang="zh-TW" sz="2800" baseline="30000" dirty="0">
                <a:latin typeface="Times New Roman" panose="02020603050405020304" pitchFamily="18" charset="0"/>
                <a:cs typeface="Times New Roman" panose="02020603050405020304" pitchFamily="18" charset="0"/>
                <a:sym typeface="Symbol" panose="05050102010706020507" pitchFamily="18" charset="2"/>
              </a:rPr>
              <a:t>2</a:t>
            </a:r>
            <a:r>
              <a:rPr lang="en-US" altLang="zh-TW" sz="2800" i="1" baseline="30000" dirty="0">
                <a:latin typeface="Times New Roman" panose="02020603050405020304" pitchFamily="18" charset="0"/>
                <a:cs typeface="Times New Roman" panose="02020603050405020304" pitchFamily="18" charset="0"/>
                <a:sym typeface="Symbol" panose="05050102010706020507" pitchFamily="18" charset="2"/>
              </a:rPr>
              <a:t>n</a:t>
            </a:r>
            <a:r>
              <a:rPr lang="zh-TW" altLang="en-US" i="1" dirty="0">
                <a:latin typeface="Times New Roman" panose="02020603050405020304" pitchFamily="18" charset="0"/>
                <a:cs typeface="Times New Roman" panose="02020603050405020304" pitchFamily="18" charset="0"/>
                <a:sym typeface="Symbol" panose="05050102010706020507" pitchFamily="18" charset="2"/>
              </a:rPr>
              <a:t></a:t>
            </a:r>
            <a:r>
              <a:rPr lang="en-US" altLang="zh-TW" baseline="30000" dirty="0">
                <a:latin typeface="Times New Roman" panose="02020603050405020304" pitchFamily="18" charset="0"/>
                <a:cs typeface="Times New Roman" panose="02020603050405020304" pitchFamily="18" charset="0"/>
                <a:sym typeface="Symbol" panose="05050102010706020507" pitchFamily="18" charset="2"/>
              </a:rPr>
              <a:t>2</a:t>
            </a:r>
            <a:r>
              <a:rPr lang="en-US" altLang="zh-TW" i="1" baseline="30000" dirty="0">
                <a:latin typeface="Times New Roman" panose="02020603050405020304" pitchFamily="18" charset="0"/>
                <a:cs typeface="Times New Roman" panose="02020603050405020304" pitchFamily="18" charset="0"/>
                <a:sym typeface="Symbol" panose="05050102010706020507" pitchFamily="18" charset="2"/>
              </a:rPr>
              <a:t>n</a:t>
            </a:r>
            <a:br>
              <a:rPr lang="en-US" altLang="zh-TW" i="1" baseline="30000" dirty="0">
                <a:latin typeface="Times New Roman" panose="02020603050405020304" pitchFamily="18" charset="0"/>
                <a:cs typeface="Times New Roman" panose="02020603050405020304" pitchFamily="18" charset="0"/>
                <a:sym typeface="Symbol" panose="05050102010706020507" pitchFamily="18" charset="2"/>
              </a:rPr>
            </a:br>
            <a:r>
              <a:rPr lang="en-US" altLang="zh-TW" i="1" dirty="0" err="1">
                <a:latin typeface="Times New Roman" panose="02020603050405020304" pitchFamily="18" charset="0"/>
                <a:cs typeface="Times New Roman" panose="02020603050405020304" pitchFamily="18" charset="0"/>
                <a:sym typeface="Symbol" panose="05050102010706020507" pitchFamily="18" charset="2"/>
              </a:rPr>
              <a:t>t</a:t>
            </a:r>
            <a:r>
              <a:rPr lang="en-US" altLang="zh-TW" i="1" baseline="-25000" dirty="0" err="1">
                <a:latin typeface="Times New Roman" panose="02020603050405020304" pitchFamily="18" charset="0"/>
                <a:cs typeface="Times New Roman" panose="02020603050405020304" pitchFamily="18" charset="0"/>
                <a:sym typeface="Symbol" panose="05050102010706020507" pitchFamily="18" charset="2"/>
              </a:rPr>
              <a:t>i</a:t>
            </a:r>
            <a:r>
              <a:rPr lang="zh-TW" altLang="en-US" dirty="0">
                <a:latin typeface="Times New Roman" panose="02020603050405020304" pitchFamily="18" charset="0"/>
                <a:cs typeface="Times New Roman" panose="02020603050405020304" pitchFamily="18" charset="0"/>
                <a:sym typeface="Symbol" panose="05050102010706020507" pitchFamily="18" charset="2"/>
              </a:rPr>
              <a:t>：</a:t>
            </a:r>
            <a:r>
              <a:rPr lang="zh-TW" altLang="en-US" i="1" dirty="0">
                <a:latin typeface="Times New Roman" panose="02020603050405020304" pitchFamily="18" charset="0"/>
                <a:cs typeface="Times New Roman" panose="02020603050405020304" pitchFamily="18" charset="0"/>
                <a:sym typeface="Symbol" panose="05050102010706020507" pitchFamily="18" charset="2"/>
              </a:rPr>
              <a:t> </a:t>
            </a:r>
            <a:r>
              <a:rPr lang="en-US" altLang="zh-TW" baseline="30000" dirty="0">
                <a:latin typeface="Times New Roman" panose="02020603050405020304" pitchFamily="18" charset="0"/>
                <a:cs typeface="Times New Roman" panose="02020603050405020304" pitchFamily="18" charset="0"/>
                <a:sym typeface="Symbol" panose="05050102010706020507" pitchFamily="18" charset="2"/>
              </a:rPr>
              <a:t>2</a:t>
            </a:r>
            <a:r>
              <a:rPr lang="en-US" altLang="zh-TW" i="1" baseline="30000" dirty="0">
                <a:latin typeface="Times New Roman" panose="02020603050405020304" pitchFamily="18" charset="0"/>
                <a:cs typeface="Times New Roman" panose="02020603050405020304" pitchFamily="18" charset="0"/>
                <a:sym typeface="Symbol" panose="05050102010706020507" pitchFamily="18" charset="2"/>
              </a:rPr>
              <a:t>n</a:t>
            </a:r>
            <a:r>
              <a:rPr lang="zh-TW" altLang="en-US" sz="2800" i="1" dirty="0">
                <a:latin typeface="Times New Roman" panose="02020603050405020304" pitchFamily="18" charset="0"/>
                <a:cs typeface="Times New Roman" panose="02020603050405020304" pitchFamily="18" charset="0"/>
                <a:sym typeface="Symbol" panose="05050102010706020507" pitchFamily="18" charset="2"/>
              </a:rPr>
              <a:t> </a:t>
            </a:r>
            <a:r>
              <a:rPr lang="en-US" altLang="zh-TW" sz="2800" i="1" baseline="30000" dirty="0" err="1">
                <a:latin typeface="Times New Roman" panose="02020603050405020304" pitchFamily="18" charset="0"/>
                <a:cs typeface="Times New Roman" panose="02020603050405020304" pitchFamily="18" charset="0"/>
                <a:sym typeface="Symbol" panose="05050102010706020507" pitchFamily="18" charset="2"/>
              </a:rPr>
              <a:t>i</a:t>
            </a:r>
            <a:r>
              <a:rPr lang="zh-TW" altLang="en-US" i="1" dirty="0">
                <a:latin typeface="Times New Roman" panose="02020603050405020304" pitchFamily="18" charset="0"/>
                <a:cs typeface="Times New Roman" panose="02020603050405020304" pitchFamily="18" charset="0"/>
                <a:sym typeface="Symbol" panose="05050102010706020507" pitchFamily="18" charset="2"/>
              </a:rPr>
              <a:t></a:t>
            </a:r>
            <a:r>
              <a:rPr lang="zh-TW" altLang="en-US" sz="2800" i="1" dirty="0">
                <a:latin typeface="Times New Roman" panose="02020603050405020304" pitchFamily="18" charset="0"/>
                <a:cs typeface="Times New Roman" panose="02020603050405020304" pitchFamily="18" charset="0"/>
                <a:sym typeface="Symbol" panose="05050102010706020507" pitchFamily="18" charset="2"/>
              </a:rPr>
              <a:t> </a:t>
            </a:r>
            <a:r>
              <a:rPr lang="en-US" altLang="zh-TW" sz="2800" baseline="30000" dirty="0">
                <a:latin typeface="Times New Roman" panose="02020603050405020304" pitchFamily="18" charset="0"/>
                <a:cs typeface="Times New Roman" panose="02020603050405020304" pitchFamily="18" charset="0"/>
                <a:sym typeface="Symbol" panose="05050102010706020507" pitchFamily="18" charset="2"/>
              </a:rPr>
              <a:t>2</a:t>
            </a:r>
            <a:r>
              <a:rPr lang="en-US" altLang="zh-TW" sz="2800" i="1" baseline="30000" dirty="0">
                <a:latin typeface="Times New Roman" panose="02020603050405020304" pitchFamily="18" charset="0"/>
                <a:cs typeface="Times New Roman" panose="02020603050405020304" pitchFamily="18" charset="0"/>
                <a:sym typeface="Symbol" panose="05050102010706020507" pitchFamily="18" charset="2"/>
              </a:rPr>
              <a:t>n</a:t>
            </a:r>
            <a:r>
              <a:rPr lang="en-US" altLang="zh-TW" sz="2800" baseline="30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TW" sz="2800" i="1" baseline="30000" dirty="0">
                <a:latin typeface="Times New Roman" panose="02020603050405020304" pitchFamily="18" charset="0"/>
                <a:cs typeface="Times New Roman" panose="02020603050405020304" pitchFamily="18" charset="0"/>
                <a:sym typeface="Symbol" panose="05050102010706020507" pitchFamily="18" charset="2"/>
              </a:rPr>
              <a:t>i</a:t>
            </a:r>
            <a:r>
              <a:rPr lang="zh-TW" altLang="en-US" i="1" dirty="0">
                <a:latin typeface="Times New Roman" panose="02020603050405020304" pitchFamily="18" charset="0"/>
                <a:cs typeface="Times New Roman" panose="02020603050405020304" pitchFamily="18" charset="0"/>
                <a:sym typeface="Symbol" panose="05050102010706020507" pitchFamily="18" charset="2"/>
              </a:rPr>
              <a:t></a:t>
            </a:r>
            <a:r>
              <a:rPr lang="en-US" altLang="zh-TW" baseline="30000" dirty="0">
                <a:latin typeface="Times New Roman" panose="02020603050405020304" pitchFamily="18" charset="0"/>
                <a:cs typeface="Times New Roman" panose="02020603050405020304" pitchFamily="18" charset="0"/>
                <a:sym typeface="Symbol" panose="05050102010706020507" pitchFamily="18" charset="2"/>
              </a:rPr>
              <a:t>2</a:t>
            </a:r>
            <a:r>
              <a:rPr lang="en-US" altLang="zh-TW" i="1" baseline="30000" dirty="0">
                <a:latin typeface="Times New Roman" panose="02020603050405020304" pitchFamily="18" charset="0"/>
                <a:cs typeface="Times New Roman" panose="02020603050405020304" pitchFamily="18" charset="0"/>
                <a:sym typeface="Symbol" panose="05050102010706020507" pitchFamily="18" charset="2"/>
              </a:rPr>
              <a:t>n</a:t>
            </a:r>
            <a:br>
              <a:rPr lang="en-US" altLang="zh-TW" i="1" baseline="30000" dirty="0">
                <a:latin typeface="Times New Roman" panose="02020603050405020304" pitchFamily="18" charset="0"/>
                <a:cs typeface="Times New Roman" panose="02020603050405020304" pitchFamily="18" charset="0"/>
                <a:sym typeface="Symbol" panose="05050102010706020507" pitchFamily="18" charset="2"/>
              </a:rPr>
            </a:br>
            <a:r>
              <a:rPr lang="en-US" altLang="zh-TW" i="1" dirty="0">
                <a:latin typeface="Times New Roman" panose="02020603050405020304" pitchFamily="18" charset="0"/>
                <a:cs typeface="Times New Roman" panose="02020603050405020304" pitchFamily="18" charset="0"/>
                <a:sym typeface="Symbol" panose="05050102010706020507" pitchFamily="18" charset="2"/>
              </a:rPr>
              <a:t>q</a:t>
            </a:r>
            <a:r>
              <a:rPr lang="zh-TW" altLang="en-US" dirty="0">
                <a:latin typeface="Times New Roman" panose="02020603050405020304" pitchFamily="18" charset="0"/>
                <a:cs typeface="Times New Roman" panose="02020603050405020304" pitchFamily="18" charset="0"/>
                <a:sym typeface="Symbol" panose="05050102010706020507" pitchFamily="18" charset="2"/>
              </a:rPr>
              <a:t>：</a:t>
            </a:r>
            <a:r>
              <a:rPr lang="en-US" altLang="zh-TW" dirty="0">
                <a:latin typeface="Times New Roman" panose="02020603050405020304" pitchFamily="18" charset="0"/>
                <a:cs typeface="Times New Roman" panose="02020603050405020304" pitchFamily="18" charset="0"/>
                <a:sym typeface="Symbol" panose="05050102010706020507" pitchFamily="18" charset="2"/>
              </a:rPr>
              <a:t> ( </a:t>
            </a:r>
            <a:r>
              <a:rPr lang="en-US" altLang="zh-TW" i="1" dirty="0">
                <a:latin typeface="Times New Roman" panose="02020603050405020304" pitchFamily="18" charset="0"/>
                <a:cs typeface="Times New Roman" panose="02020603050405020304" pitchFamily="18" charset="0"/>
                <a:sym typeface="Symbol" panose="05050102010706020507" pitchFamily="18" charset="2"/>
              </a:rPr>
              <a:t>t</a:t>
            </a:r>
            <a:r>
              <a:rPr lang="en-US" altLang="zh-TW" baseline="-25000" dirty="0">
                <a:latin typeface="Times New Roman" panose="02020603050405020304" pitchFamily="18" charset="0"/>
                <a:cs typeface="Times New Roman" panose="02020603050405020304" pitchFamily="18" charset="0"/>
                <a:sym typeface="Symbol" panose="05050102010706020507" pitchFamily="18" charset="2"/>
              </a:rPr>
              <a:t>0</a:t>
            </a:r>
            <a:r>
              <a:rPr lang="en-US" altLang="zh-TW" i="1" dirty="0">
                <a:latin typeface="Times New Roman" panose="02020603050405020304" pitchFamily="18" charset="0"/>
                <a:cs typeface="Times New Roman" panose="02020603050405020304" pitchFamily="18" charset="0"/>
                <a:sym typeface="Symbol" panose="05050102010706020507" pitchFamily="18" charset="2"/>
              </a:rPr>
              <a:t>t</a:t>
            </a:r>
            <a:r>
              <a:rPr lang="en-US" altLang="zh-TW"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TW" i="1" dirty="0">
                <a:latin typeface="Times New Roman" panose="02020603050405020304" pitchFamily="18" charset="0"/>
                <a:cs typeface="Times New Roman" panose="02020603050405020304" pitchFamily="18" charset="0"/>
                <a:sym typeface="Symbol" panose="05050102010706020507" pitchFamily="18" charset="2"/>
              </a:rPr>
              <a:t>t</a:t>
            </a:r>
            <a:r>
              <a:rPr lang="en-US" altLang="zh-TW" baseline="-25000" dirty="0">
                <a:latin typeface="Times New Roman" panose="02020603050405020304" pitchFamily="18" charset="0"/>
                <a:cs typeface="Times New Roman" panose="02020603050405020304" pitchFamily="18" charset="0"/>
                <a:sym typeface="Symbol" panose="05050102010706020507" pitchFamily="18" charset="2"/>
              </a:rPr>
              <a:t>2</a:t>
            </a:r>
            <a:r>
              <a:rPr lang="en-US" altLang="zh-TW" dirty="0">
                <a:latin typeface="Times New Roman" panose="02020603050405020304" pitchFamily="18" charset="0"/>
                <a:cs typeface="Times New Roman" panose="02020603050405020304" pitchFamily="18" charset="0"/>
                <a:sym typeface="Symbol" panose="05050102010706020507" pitchFamily="18" charset="2"/>
              </a:rPr>
              <a:t>…</a:t>
            </a:r>
            <a:r>
              <a:rPr lang="en-US" altLang="zh-TW" i="1" dirty="0">
                <a:latin typeface="Times New Roman" panose="02020603050405020304" pitchFamily="18" charset="0"/>
                <a:cs typeface="Times New Roman" panose="02020603050405020304" pitchFamily="18" charset="0"/>
                <a:sym typeface="Symbol" panose="05050102010706020507" pitchFamily="18" charset="2"/>
              </a:rPr>
              <a:t>t</a:t>
            </a:r>
            <a:r>
              <a:rPr lang="en-US" altLang="zh-TW" i="1" baseline="-25000" dirty="0">
                <a:latin typeface="Times New Roman" panose="02020603050405020304" pitchFamily="18" charset="0"/>
                <a:cs typeface="Times New Roman" panose="02020603050405020304" pitchFamily="18" charset="0"/>
                <a:sym typeface="Symbol" panose="05050102010706020507" pitchFamily="18" charset="2"/>
              </a:rPr>
              <a:t>n</a:t>
            </a:r>
            <a:r>
              <a:rPr lang="en-US" altLang="zh-TW"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TW" dirty="0">
                <a:latin typeface="Times New Roman" panose="02020603050405020304" pitchFamily="18" charset="0"/>
                <a:cs typeface="Times New Roman" panose="02020603050405020304" pitchFamily="18" charset="0"/>
                <a:sym typeface="Symbol" panose="05050102010706020507" pitchFamily="18" charset="2"/>
              </a:rPr>
              <a:t> )</a:t>
            </a:r>
            <a:r>
              <a:rPr lang="en-US" altLang="zh-TW" baseline="30000" dirty="0">
                <a:latin typeface="Times New Roman" panose="02020603050405020304" pitchFamily="18" charset="0"/>
                <a:cs typeface="Times New Roman" panose="02020603050405020304" pitchFamily="18" charset="0"/>
                <a:sym typeface="Symbol" panose="05050102010706020507" pitchFamily="18" charset="2"/>
              </a:rPr>
              <a:t>2</a:t>
            </a:r>
            <a:r>
              <a:rPr lang="en-US" altLang="zh-TW" i="1" baseline="30000" dirty="0">
                <a:latin typeface="Times New Roman" panose="02020603050405020304" pitchFamily="18" charset="0"/>
                <a:cs typeface="Times New Roman" panose="02020603050405020304" pitchFamily="18" charset="0"/>
                <a:sym typeface="Symbol" panose="05050102010706020507" pitchFamily="18" charset="2"/>
              </a:rPr>
              <a:t>n</a:t>
            </a:r>
            <a:r>
              <a:rPr lang="en-US" altLang="zh-TW" baseline="30000" dirty="0">
                <a:latin typeface="Times New Roman" panose="02020603050405020304" pitchFamily="18" charset="0"/>
                <a:cs typeface="Times New Roman" panose="02020603050405020304" pitchFamily="18" charset="0"/>
                <a:sym typeface="Symbol" panose="05050102010706020507" pitchFamily="18" charset="2"/>
              </a:rPr>
              <a:t>+2</a:t>
            </a:r>
            <a:endParaRPr lang="en-US" altLang="zh-TW" baseline="30000" dirty="0">
              <a:latin typeface="Times New Roman" panose="02020603050405020304" pitchFamily="18" charset="0"/>
              <a:cs typeface="Times New Roman" panose="02020603050405020304" pitchFamily="18" charset="0"/>
            </a:endParaRPr>
          </a:p>
        </p:txBody>
      </p:sp>
      <p:grpSp>
        <p:nvGrpSpPr>
          <p:cNvPr id="42" name="群組 41">
            <a:extLst>
              <a:ext uri="{FF2B5EF4-FFF2-40B4-BE49-F238E27FC236}">
                <a16:creationId xmlns:a16="http://schemas.microsoft.com/office/drawing/2014/main" id="{6A4BBC55-57D3-44B4-9659-2EF6B03419E9}"/>
              </a:ext>
            </a:extLst>
          </p:cNvPr>
          <p:cNvGrpSpPr/>
          <p:nvPr/>
        </p:nvGrpSpPr>
        <p:grpSpPr>
          <a:xfrm>
            <a:off x="7020233" y="4405761"/>
            <a:ext cx="3999215" cy="1986267"/>
            <a:chOff x="1219200" y="3202204"/>
            <a:chExt cx="1712351" cy="1563579"/>
          </a:xfrm>
        </p:grpSpPr>
        <p:sp>
          <p:nvSpPr>
            <p:cNvPr id="43" name="橢圓 42">
              <a:extLst>
                <a:ext uri="{FF2B5EF4-FFF2-40B4-BE49-F238E27FC236}">
                  <a16:creationId xmlns:a16="http://schemas.microsoft.com/office/drawing/2014/main" id="{98CE7BB5-C571-44D6-AC65-9012F67BCD8C}"/>
                </a:ext>
              </a:extLst>
            </p:cNvPr>
            <p:cNvSpPr/>
            <p:nvPr/>
          </p:nvSpPr>
          <p:spPr>
            <a:xfrm>
              <a:off x="1219200" y="3202204"/>
              <a:ext cx="540000" cy="540000"/>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lang="zh-TW" altLang="en-US" i="1" dirty="0">
                  <a:latin typeface="Times New Roman" panose="02020603050405020304" pitchFamily="18" charset="0"/>
                  <a:cs typeface="Times New Roman" panose="02020603050405020304" pitchFamily="18" charset="0"/>
                  <a:sym typeface="Symbol" panose="05050102010706020507" pitchFamily="18" charset="2"/>
                </a:rPr>
                <a:t></a:t>
              </a:r>
              <a:r>
                <a:rPr lang="en-US" altLang="zh-TW" i="1" baseline="30000" dirty="0">
                  <a:latin typeface="Times New Roman" panose="02020603050405020304" pitchFamily="18" charset="0"/>
                  <a:cs typeface="Times New Roman" panose="02020603050405020304" pitchFamily="18" charset="0"/>
                  <a:sym typeface="Symbol" panose="05050102010706020507" pitchFamily="18" charset="2"/>
                </a:rPr>
                <a:t>8</a:t>
              </a:r>
              <a:r>
                <a:rPr lang="zh-TW" altLang="en-US" sz="1800" i="1" dirty="0">
                  <a:latin typeface="Times New Roman" panose="02020603050405020304" pitchFamily="18" charset="0"/>
                  <a:cs typeface="Times New Roman" panose="02020603050405020304" pitchFamily="18" charset="0"/>
                  <a:sym typeface="Symbol" panose="05050102010706020507" pitchFamily="18" charset="2"/>
                </a:rPr>
                <a:t> </a:t>
              </a:r>
              <a:r>
                <a:rPr lang="en-US" altLang="zh-TW" sz="1800" i="1" baseline="30000" dirty="0">
                  <a:latin typeface="Times New Roman" panose="02020603050405020304" pitchFamily="18" charset="0"/>
                  <a:cs typeface="Times New Roman" panose="02020603050405020304" pitchFamily="18" charset="0"/>
                  <a:sym typeface="Symbol" panose="05050102010706020507" pitchFamily="18" charset="2"/>
                </a:rPr>
                <a:t>8</a:t>
              </a:r>
              <a:r>
                <a:rPr lang="zh-TW" altLang="en-US" i="1" dirty="0">
                  <a:latin typeface="Times New Roman" panose="02020603050405020304" pitchFamily="18" charset="0"/>
                  <a:cs typeface="Times New Roman" panose="02020603050405020304" pitchFamily="18" charset="0"/>
                  <a:sym typeface="Symbol" panose="05050102010706020507" pitchFamily="18" charset="2"/>
                </a:rPr>
                <a:t></a:t>
              </a:r>
              <a:r>
                <a:rPr lang="en-US" altLang="zh-TW" i="1" baseline="30000" dirty="0">
                  <a:latin typeface="Times New Roman" panose="02020603050405020304" pitchFamily="18" charset="0"/>
                  <a:cs typeface="Times New Roman" panose="02020603050405020304" pitchFamily="18" charset="0"/>
                  <a:sym typeface="Symbol" panose="05050102010706020507" pitchFamily="18" charset="2"/>
                </a:rPr>
                <a:t>8</a:t>
              </a:r>
              <a:endParaRPr lang="zh-TW" altLang="en-US" i="1" baseline="30000" dirty="0">
                <a:latin typeface="Times New Roman" panose="02020603050405020304" pitchFamily="18" charset="0"/>
                <a:cs typeface="Times New Roman" panose="02020603050405020304" pitchFamily="18" charset="0"/>
              </a:endParaRPr>
            </a:p>
          </p:txBody>
        </p:sp>
        <p:sp>
          <p:nvSpPr>
            <p:cNvPr id="44" name="橢圓 43">
              <a:extLst>
                <a:ext uri="{FF2B5EF4-FFF2-40B4-BE49-F238E27FC236}">
                  <a16:creationId xmlns:a16="http://schemas.microsoft.com/office/drawing/2014/main" id="{D7D9CC14-B7C4-47B4-8F21-D7A4975E0104}"/>
                </a:ext>
              </a:extLst>
            </p:cNvPr>
            <p:cNvSpPr/>
            <p:nvPr/>
          </p:nvSpPr>
          <p:spPr>
            <a:xfrm>
              <a:off x="1219200" y="4225783"/>
              <a:ext cx="540000" cy="540000"/>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lang="zh-TW" altLang="en-US" i="1" dirty="0">
                  <a:latin typeface="Times New Roman" panose="02020603050405020304" pitchFamily="18" charset="0"/>
                  <a:cs typeface="Times New Roman" panose="02020603050405020304" pitchFamily="18" charset="0"/>
                  <a:sym typeface="Symbol" panose="05050102010706020507" pitchFamily="18" charset="2"/>
                </a:rPr>
                <a:t></a:t>
              </a:r>
              <a:r>
                <a:rPr lang="en-US" altLang="zh-TW" i="1" baseline="30000" dirty="0">
                  <a:latin typeface="Times New Roman" panose="02020603050405020304" pitchFamily="18" charset="0"/>
                  <a:cs typeface="Times New Roman" panose="02020603050405020304" pitchFamily="18" charset="0"/>
                  <a:sym typeface="Symbol" panose="05050102010706020507" pitchFamily="18" charset="2"/>
                </a:rPr>
                <a:t>8</a:t>
              </a:r>
              <a:r>
                <a:rPr lang="zh-TW" altLang="en-US" sz="1800" i="1" dirty="0">
                  <a:latin typeface="Times New Roman" panose="02020603050405020304" pitchFamily="18" charset="0"/>
                  <a:cs typeface="Times New Roman" panose="02020603050405020304" pitchFamily="18" charset="0"/>
                  <a:sym typeface="Symbol" panose="05050102010706020507" pitchFamily="18" charset="2"/>
                </a:rPr>
                <a:t> </a:t>
              </a:r>
              <a:r>
                <a:rPr lang="en-US" altLang="zh-TW" sz="1800" i="1" baseline="30000" dirty="0">
                  <a:latin typeface="Times New Roman" panose="02020603050405020304" pitchFamily="18" charset="0"/>
                  <a:cs typeface="Times New Roman" panose="02020603050405020304" pitchFamily="18" charset="0"/>
                  <a:sym typeface="Symbol" panose="05050102010706020507" pitchFamily="18" charset="2"/>
                </a:rPr>
                <a:t>8</a:t>
              </a:r>
              <a:r>
                <a:rPr lang="zh-TW" altLang="en-US" i="1" dirty="0">
                  <a:latin typeface="Times New Roman" panose="02020603050405020304" pitchFamily="18" charset="0"/>
                  <a:cs typeface="Times New Roman" panose="02020603050405020304" pitchFamily="18" charset="0"/>
                  <a:sym typeface="Symbol" panose="05050102010706020507" pitchFamily="18" charset="2"/>
                </a:rPr>
                <a:t></a:t>
              </a:r>
              <a:r>
                <a:rPr lang="en-US" altLang="zh-TW" i="1" baseline="30000" dirty="0">
                  <a:latin typeface="Times New Roman" panose="02020603050405020304" pitchFamily="18" charset="0"/>
                  <a:cs typeface="Times New Roman" panose="02020603050405020304" pitchFamily="18" charset="0"/>
                  <a:sym typeface="Symbol" panose="05050102010706020507" pitchFamily="18" charset="2"/>
                </a:rPr>
                <a:t>8</a:t>
              </a:r>
              <a:endParaRPr lang="zh-TW" altLang="en-US" i="1" baseline="30000" dirty="0">
                <a:latin typeface="Times New Roman" panose="02020603050405020304" pitchFamily="18" charset="0"/>
                <a:cs typeface="Times New Roman" panose="02020603050405020304" pitchFamily="18" charset="0"/>
              </a:endParaRPr>
            </a:p>
          </p:txBody>
        </p:sp>
        <p:sp>
          <p:nvSpPr>
            <p:cNvPr id="45" name="橢圓 44">
              <a:extLst>
                <a:ext uri="{FF2B5EF4-FFF2-40B4-BE49-F238E27FC236}">
                  <a16:creationId xmlns:a16="http://schemas.microsoft.com/office/drawing/2014/main" id="{462C9D20-783A-4629-821E-A243A90E5F05}"/>
                </a:ext>
              </a:extLst>
            </p:cNvPr>
            <p:cNvSpPr/>
            <p:nvPr/>
          </p:nvSpPr>
          <p:spPr>
            <a:xfrm>
              <a:off x="2391551" y="3202204"/>
              <a:ext cx="540000" cy="540000"/>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lang="zh-TW" altLang="en-US" i="1" dirty="0">
                  <a:latin typeface="Times New Roman" panose="02020603050405020304" pitchFamily="18" charset="0"/>
                  <a:cs typeface="Times New Roman" panose="02020603050405020304" pitchFamily="18" charset="0"/>
                  <a:sym typeface="Symbol" panose="05050102010706020507" pitchFamily="18" charset="2"/>
                </a:rPr>
                <a:t></a:t>
              </a:r>
              <a:r>
                <a:rPr lang="en-US" altLang="zh-TW" i="1" baseline="30000" dirty="0">
                  <a:latin typeface="Times New Roman" panose="02020603050405020304" pitchFamily="18" charset="0"/>
                  <a:cs typeface="Times New Roman" panose="02020603050405020304" pitchFamily="18" charset="0"/>
                  <a:sym typeface="Symbol" panose="05050102010706020507" pitchFamily="18" charset="2"/>
                </a:rPr>
                <a:t>8</a:t>
              </a:r>
              <a:r>
                <a:rPr lang="zh-TW" altLang="en-US" sz="1800" i="1" dirty="0">
                  <a:latin typeface="Times New Roman" panose="02020603050405020304" pitchFamily="18" charset="0"/>
                  <a:cs typeface="Times New Roman" panose="02020603050405020304" pitchFamily="18" charset="0"/>
                  <a:sym typeface="Symbol" panose="05050102010706020507" pitchFamily="18" charset="2"/>
                </a:rPr>
                <a:t> </a:t>
              </a:r>
              <a:r>
                <a:rPr lang="en-US" altLang="zh-TW" sz="1800" i="1" baseline="30000" dirty="0">
                  <a:latin typeface="Times New Roman" panose="02020603050405020304" pitchFamily="18" charset="0"/>
                  <a:cs typeface="Times New Roman" panose="02020603050405020304" pitchFamily="18" charset="0"/>
                  <a:sym typeface="Symbol" panose="05050102010706020507" pitchFamily="18" charset="2"/>
                </a:rPr>
                <a:t>8</a:t>
              </a:r>
              <a:r>
                <a:rPr lang="zh-TW" altLang="en-US" i="1" dirty="0">
                  <a:latin typeface="Times New Roman" panose="02020603050405020304" pitchFamily="18" charset="0"/>
                  <a:cs typeface="Times New Roman" panose="02020603050405020304" pitchFamily="18" charset="0"/>
                  <a:sym typeface="Symbol" panose="05050102010706020507" pitchFamily="18" charset="2"/>
                </a:rPr>
                <a:t></a:t>
              </a:r>
              <a:r>
                <a:rPr lang="en-US" altLang="zh-TW" i="1" baseline="30000" dirty="0">
                  <a:latin typeface="Times New Roman" panose="02020603050405020304" pitchFamily="18" charset="0"/>
                  <a:cs typeface="Times New Roman" panose="02020603050405020304" pitchFamily="18" charset="0"/>
                  <a:sym typeface="Symbol" panose="05050102010706020507" pitchFamily="18" charset="2"/>
                </a:rPr>
                <a:t>8</a:t>
              </a:r>
              <a:endParaRPr lang="zh-TW" altLang="en-US" i="1" baseline="30000" dirty="0">
                <a:latin typeface="Times New Roman" panose="02020603050405020304" pitchFamily="18" charset="0"/>
                <a:cs typeface="Times New Roman" panose="02020603050405020304" pitchFamily="18" charset="0"/>
              </a:endParaRPr>
            </a:p>
          </p:txBody>
        </p:sp>
        <p:sp>
          <p:nvSpPr>
            <p:cNvPr id="46" name="橢圓 45">
              <a:extLst>
                <a:ext uri="{FF2B5EF4-FFF2-40B4-BE49-F238E27FC236}">
                  <a16:creationId xmlns:a16="http://schemas.microsoft.com/office/drawing/2014/main" id="{1814CCB5-D226-45DA-95F1-8955FFAE0E9B}"/>
                </a:ext>
              </a:extLst>
            </p:cNvPr>
            <p:cNvSpPr/>
            <p:nvPr/>
          </p:nvSpPr>
          <p:spPr>
            <a:xfrm>
              <a:off x="2391551" y="4225783"/>
              <a:ext cx="540000" cy="540000"/>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lang="zh-TW" altLang="en-US" i="1" dirty="0">
                  <a:latin typeface="Times New Roman" panose="02020603050405020304" pitchFamily="18" charset="0"/>
                  <a:cs typeface="Times New Roman" panose="02020603050405020304" pitchFamily="18" charset="0"/>
                  <a:sym typeface="Symbol" panose="05050102010706020507" pitchFamily="18" charset="2"/>
                </a:rPr>
                <a:t></a:t>
              </a:r>
              <a:r>
                <a:rPr lang="en-US" altLang="zh-TW" i="1" baseline="30000" dirty="0">
                  <a:latin typeface="Times New Roman" panose="02020603050405020304" pitchFamily="18" charset="0"/>
                  <a:cs typeface="Times New Roman" panose="02020603050405020304" pitchFamily="18" charset="0"/>
                  <a:sym typeface="Symbol" panose="05050102010706020507" pitchFamily="18" charset="2"/>
                </a:rPr>
                <a:t>8</a:t>
              </a:r>
              <a:r>
                <a:rPr lang="zh-TW" altLang="en-US" sz="1800" i="1" dirty="0">
                  <a:latin typeface="Times New Roman" panose="02020603050405020304" pitchFamily="18" charset="0"/>
                  <a:cs typeface="Times New Roman" panose="02020603050405020304" pitchFamily="18" charset="0"/>
                  <a:sym typeface="Symbol" panose="05050102010706020507" pitchFamily="18" charset="2"/>
                </a:rPr>
                <a:t> </a:t>
              </a:r>
              <a:r>
                <a:rPr lang="en-US" altLang="zh-TW" sz="1800" i="1" baseline="30000" dirty="0">
                  <a:latin typeface="Times New Roman" panose="02020603050405020304" pitchFamily="18" charset="0"/>
                  <a:cs typeface="Times New Roman" panose="02020603050405020304" pitchFamily="18" charset="0"/>
                  <a:sym typeface="Symbol" panose="05050102010706020507" pitchFamily="18" charset="2"/>
                </a:rPr>
                <a:t>8</a:t>
              </a:r>
              <a:r>
                <a:rPr lang="zh-TW" altLang="en-US" i="1" dirty="0">
                  <a:latin typeface="Times New Roman" panose="02020603050405020304" pitchFamily="18" charset="0"/>
                  <a:cs typeface="Times New Roman" panose="02020603050405020304" pitchFamily="18" charset="0"/>
                  <a:sym typeface="Symbol" panose="05050102010706020507" pitchFamily="18" charset="2"/>
                </a:rPr>
                <a:t></a:t>
              </a:r>
              <a:r>
                <a:rPr lang="en-US" altLang="zh-TW" i="1" baseline="30000" dirty="0">
                  <a:latin typeface="Times New Roman" panose="02020603050405020304" pitchFamily="18" charset="0"/>
                  <a:cs typeface="Times New Roman" panose="02020603050405020304" pitchFamily="18" charset="0"/>
                  <a:sym typeface="Symbol" panose="05050102010706020507" pitchFamily="18" charset="2"/>
                </a:rPr>
                <a:t>8</a:t>
              </a:r>
              <a:endParaRPr lang="zh-TW" altLang="en-US" i="1" baseline="30000" dirty="0">
                <a:latin typeface="Times New Roman" panose="02020603050405020304" pitchFamily="18" charset="0"/>
                <a:cs typeface="Times New Roman" panose="02020603050405020304" pitchFamily="18" charset="0"/>
              </a:endParaRPr>
            </a:p>
          </p:txBody>
        </p:sp>
        <p:cxnSp>
          <p:nvCxnSpPr>
            <p:cNvPr id="47" name="直線單箭頭接點 46">
              <a:extLst>
                <a:ext uri="{FF2B5EF4-FFF2-40B4-BE49-F238E27FC236}">
                  <a16:creationId xmlns:a16="http://schemas.microsoft.com/office/drawing/2014/main" id="{D86D6132-2B5A-4921-AF83-4368221C3BE6}"/>
                </a:ext>
              </a:extLst>
            </p:cNvPr>
            <p:cNvCxnSpPr>
              <a:stCxn id="43" idx="6"/>
              <a:endCxn id="45" idx="2"/>
            </p:cNvCxnSpPr>
            <p:nvPr/>
          </p:nvCxnSpPr>
          <p:spPr>
            <a:xfrm>
              <a:off x="1759200" y="3472204"/>
              <a:ext cx="632351"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線單箭頭接點 47">
              <a:extLst>
                <a:ext uri="{FF2B5EF4-FFF2-40B4-BE49-F238E27FC236}">
                  <a16:creationId xmlns:a16="http://schemas.microsoft.com/office/drawing/2014/main" id="{EE100049-5ED6-4055-A226-369F509CA5F5}"/>
                </a:ext>
              </a:extLst>
            </p:cNvPr>
            <p:cNvCxnSpPr>
              <a:cxnSpLocks/>
              <a:stCxn id="45" idx="4"/>
              <a:endCxn id="46" idx="0"/>
            </p:cNvCxnSpPr>
            <p:nvPr/>
          </p:nvCxnSpPr>
          <p:spPr>
            <a:xfrm>
              <a:off x="2661551" y="3742204"/>
              <a:ext cx="0" cy="48357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線單箭頭接點 48">
              <a:extLst>
                <a:ext uri="{FF2B5EF4-FFF2-40B4-BE49-F238E27FC236}">
                  <a16:creationId xmlns:a16="http://schemas.microsoft.com/office/drawing/2014/main" id="{CE019408-EEEE-4A12-83C8-D5F29535A91D}"/>
                </a:ext>
              </a:extLst>
            </p:cNvPr>
            <p:cNvCxnSpPr>
              <a:cxnSpLocks/>
              <a:stCxn id="46" idx="2"/>
              <a:endCxn id="44" idx="6"/>
            </p:cNvCxnSpPr>
            <p:nvPr/>
          </p:nvCxnSpPr>
          <p:spPr>
            <a:xfrm flipH="1">
              <a:off x="1759200" y="4495783"/>
              <a:ext cx="632351"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53" name="內容版面配置區 2">
            <a:extLst>
              <a:ext uri="{FF2B5EF4-FFF2-40B4-BE49-F238E27FC236}">
                <a16:creationId xmlns:a16="http://schemas.microsoft.com/office/drawing/2014/main" id="{45EE7712-52F8-4E55-B572-779D6DCCDECA}"/>
              </a:ext>
            </a:extLst>
          </p:cNvPr>
          <p:cNvSpPr txBox="1">
            <a:spLocks/>
          </p:cNvSpPr>
          <p:nvPr/>
        </p:nvSpPr>
        <p:spPr>
          <a:xfrm>
            <a:off x="5961078" y="6447158"/>
            <a:ext cx="6110849" cy="46674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TW" sz="2400" i="1" dirty="0">
                <a:latin typeface="Times New Roman" panose="02020603050405020304" pitchFamily="18" charset="0"/>
                <a:cs typeface="Times New Roman" panose="02020603050405020304" pitchFamily="18" charset="0"/>
              </a:rPr>
              <a:t>q</a:t>
            </a:r>
            <a:r>
              <a:rPr lang="en-US" altLang="zh-TW" sz="2400" dirty="0">
                <a:latin typeface="Times New Roman" panose="02020603050405020304" pitchFamily="18" charset="0"/>
                <a:cs typeface="Times New Roman" panose="02020603050405020304" pitchFamily="18" charset="0"/>
              </a:rPr>
              <a:t>: (</a:t>
            </a:r>
            <a:r>
              <a:rPr lang="zh-TW" altLang="en-US" sz="2400" i="1"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a:t>
            </a:r>
            <a:r>
              <a:rPr lang="en-US" altLang="zh-TW" sz="2400" i="1" baseline="30000"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8</a:t>
            </a:r>
            <a:r>
              <a:rPr lang="zh-TW" altLang="en-US" sz="2400" i="1"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a:t>
            </a:r>
            <a:r>
              <a:rPr lang="en-US" altLang="zh-TW" sz="2400" i="1" baseline="30000"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7</a:t>
            </a:r>
            <a:r>
              <a:rPr lang="zh-TW" altLang="en-US" sz="2400" i="1"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a:t>
            </a:r>
            <a:r>
              <a:rPr lang="en-US" altLang="zh-TW" sz="2400" i="1" baseline="30000"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8</a:t>
            </a:r>
            <a:r>
              <a:rPr lang="en-US" altLang="zh-TW" sz="2400" i="1" dirty="0">
                <a:latin typeface="Times New Roman" panose="02020603050405020304" pitchFamily="18" charset="0"/>
                <a:cs typeface="Times New Roman" panose="02020603050405020304" pitchFamily="18" charset="0"/>
                <a:sym typeface="Symbol" panose="05050102010706020507" pitchFamily="18" charset="2"/>
              </a:rPr>
              <a:t> </a:t>
            </a:r>
            <a:r>
              <a:rPr lang="zh-TW" altLang="en-US" sz="2400" i="1"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a:t>
            </a:r>
            <a:r>
              <a:rPr lang="en-US" altLang="zh-TW" sz="2400" i="1" baseline="30000"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8</a:t>
            </a:r>
            <a:r>
              <a:rPr lang="zh-TW" altLang="en-US" sz="2400" i="1"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a:t>
            </a:r>
            <a:r>
              <a:rPr lang="en-US" altLang="zh-TW" sz="2400" i="1" baseline="30000"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6</a:t>
            </a:r>
            <a:r>
              <a:rPr lang="zh-TW" altLang="en-US" sz="2400" i="1"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a:t>
            </a:r>
            <a:r>
              <a:rPr lang="en-US" altLang="zh-TW" sz="2400" i="1" baseline="30000"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8</a:t>
            </a:r>
            <a:r>
              <a:rPr lang="zh-TW" altLang="en-US" sz="2400" i="1" dirty="0">
                <a:latin typeface="Times New Roman" panose="02020603050405020304" pitchFamily="18" charset="0"/>
                <a:cs typeface="Times New Roman" panose="02020603050405020304" pitchFamily="18" charset="0"/>
                <a:sym typeface="Symbol" panose="05050102010706020507" pitchFamily="18" charset="2"/>
              </a:rPr>
              <a:t> </a:t>
            </a:r>
            <a:r>
              <a:rPr lang="zh-TW" altLang="en-US" sz="2400" i="1"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a:t>
            </a:r>
            <a:r>
              <a:rPr lang="en-US" altLang="zh-TW" sz="2400" i="1" baseline="30000"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8</a:t>
            </a:r>
            <a:r>
              <a:rPr lang="zh-TW" altLang="en-US" sz="2400" i="1"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a:t>
            </a:r>
            <a:r>
              <a:rPr lang="en-US" altLang="zh-TW" sz="2400" i="1" baseline="30000"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2</a:t>
            </a:r>
            <a:r>
              <a:rPr lang="zh-TW" altLang="en-US" sz="2400" i="1"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a:t>
            </a:r>
            <a:r>
              <a:rPr lang="en-US" altLang="zh-TW" sz="2400" i="1" baseline="30000"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5</a:t>
            </a:r>
            <a:r>
              <a:rPr lang="zh-TW" altLang="en-US" sz="2400" i="1">
                <a:highlight>
                  <a:srgbClr val="FCEBE0"/>
                </a:highlight>
                <a:latin typeface="Times New Roman" panose="02020603050405020304" pitchFamily="18" charset="0"/>
                <a:cs typeface="Times New Roman" panose="02020603050405020304" pitchFamily="18" charset="0"/>
                <a:sym typeface="Symbol" panose="05050102010706020507" pitchFamily="18" charset="2"/>
              </a:rPr>
              <a:t></a:t>
            </a:r>
            <a:r>
              <a:rPr lang="en-US" altLang="zh-TW" sz="2400" i="1" baseline="30000"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8</a:t>
            </a:r>
            <a:r>
              <a:rPr lang="en-US" altLang="zh-TW" sz="2400" i="1" dirty="0">
                <a:latin typeface="Times New Roman" panose="02020603050405020304" pitchFamily="18" charset="0"/>
                <a:cs typeface="Times New Roman" panose="02020603050405020304" pitchFamily="18" charset="0"/>
                <a:sym typeface="Symbol" panose="05050102010706020507" pitchFamily="18" charset="2"/>
              </a:rPr>
              <a:t> </a:t>
            </a:r>
            <a:r>
              <a:rPr lang="zh-TW" altLang="en-US" sz="2400" i="1"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a:t>
            </a:r>
            <a:r>
              <a:rPr lang="en-US" altLang="zh-TW" sz="2400" i="1" baseline="30000"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8</a:t>
            </a:r>
            <a:r>
              <a:rPr lang="zh-TW" altLang="en-US" sz="2400" i="1"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a:t>
            </a:r>
            <a:r>
              <a:rPr lang="en-US" altLang="zh-TW" sz="2400" i="1" baseline="30000"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3</a:t>
            </a:r>
            <a:r>
              <a:rPr lang="zh-TW" altLang="en-US" sz="2400" i="1"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a:t>
            </a:r>
            <a:r>
              <a:rPr lang="en-US" altLang="zh-TW" sz="2400" i="1" baseline="30000"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4</a:t>
            </a:r>
            <a:r>
              <a:rPr lang="zh-TW" altLang="en-US" sz="2400" i="1"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a:t>
            </a:r>
            <a:r>
              <a:rPr lang="en-US" altLang="zh-TW" sz="2400" i="1" baseline="30000"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8</a:t>
            </a:r>
            <a:r>
              <a:rPr lang="zh-TW" altLang="en-US" sz="2400" i="1" dirty="0">
                <a:latin typeface="Times New Roman" panose="02020603050405020304" pitchFamily="18" charset="0"/>
                <a:cs typeface="Times New Roman" panose="02020603050405020304" pitchFamily="18" charset="0"/>
                <a:sym typeface="Symbol" panose="05050102010706020507" pitchFamily="18" charset="2"/>
              </a:rPr>
              <a:t> </a:t>
            </a: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a:t>
            </a:r>
            <a:r>
              <a:rPr lang="en-US" altLang="zh-TW" sz="2400" baseline="30000" dirty="0">
                <a:latin typeface="Times New Roman" panose="02020603050405020304" pitchFamily="18" charset="0"/>
                <a:cs typeface="Times New Roman" panose="02020603050405020304" pitchFamily="18" charset="0"/>
                <a:sym typeface="Symbol" panose="05050102010706020507" pitchFamily="18" charset="2"/>
              </a:rPr>
              <a:t>10</a:t>
            </a:r>
            <a:endParaRPr lang="en-US" altLang="zh-TW" sz="2400" baseline="30000" dirty="0">
              <a:latin typeface="Times New Roman" panose="02020603050405020304" pitchFamily="18" charset="0"/>
              <a:cs typeface="Times New Roman" panose="02020603050405020304" pitchFamily="18" charset="0"/>
            </a:endParaRPr>
          </a:p>
        </p:txBody>
      </p:sp>
      <p:sp>
        <p:nvSpPr>
          <p:cNvPr id="54" name="內容版面配置區 2">
            <a:extLst>
              <a:ext uri="{FF2B5EF4-FFF2-40B4-BE49-F238E27FC236}">
                <a16:creationId xmlns:a16="http://schemas.microsoft.com/office/drawing/2014/main" id="{B63E4647-DDF0-4C9A-807A-3EA754380867}"/>
              </a:ext>
            </a:extLst>
          </p:cNvPr>
          <p:cNvSpPr txBox="1">
            <a:spLocks/>
          </p:cNvSpPr>
          <p:nvPr/>
        </p:nvSpPr>
        <p:spPr>
          <a:xfrm>
            <a:off x="1926179" y="3995134"/>
            <a:ext cx="1275836" cy="53599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dirty="0">
                <a:latin typeface="Times New Roman" panose="02020603050405020304" pitchFamily="18" charset="0"/>
                <a:cs typeface="Times New Roman" panose="02020603050405020304" pitchFamily="18" charset="0"/>
              </a:rPr>
              <a:t>G</a:t>
            </a:r>
            <a:r>
              <a:rPr lang="en-US" altLang="zh-TW" dirty="0">
                <a:latin typeface="+mj-lt"/>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a:t>
            </a:r>
            <a:r>
              <a:rPr lang="en-US" altLang="zh-TW" i="1" dirty="0">
                <a:latin typeface="Times New Roman" panose="02020603050405020304" pitchFamily="18" charset="0"/>
                <a:cs typeface="Times New Roman" panose="02020603050405020304" pitchFamily="18" charset="0"/>
              </a:rPr>
              <a:t>V</a:t>
            </a:r>
            <a:r>
              <a:rPr lang="en-US" altLang="zh-TW" dirty="0">
                <a:latin typeface="Times New Roman" panose="02020603050405020304" pitchFamily="18" charset="0"/>
                <a:cs typeface="Times New Roman" panose="02020603050405020304" pitchFamily="18" charset="0"/>
              </a:rPr>
              <a:t>,</a:t>
            </a:r>
            <a:r>
              <a:rPr lang="en-US" altLang="zh-TW" i="1" dirty="0">
                <a:latin typeface="Times New Roman" panose="02020603050405020304" pitchFamily="18" charset="0"/>
                <a:cs typeface="Times New Roman" panose="02020603050405020304" pitchFamily="18" charset="0"/>
              </a:rPr>
              <a:t>E</a:t>
            </a:r>
            <a:r>
              <a:rPr lang="en-US" altLang="zh-TW" dirty="0">
                <a:latin typeface="Times New Roman" panose="02020603050405020304" pitchFamily="18" charset="0"/>
                <a:cs typeface="Times New Roman" panose="02020603050405020304" pitchFamily="18" charset="0"/>
              </a:rPr>
              <a:t>)</a:t>
            </a:r>
            <a:endParaRPr lang="en-US" altLang="zh-TW" baseline="30000" dirty="0">
              <a:latin typeface="Times New Roman" panose="02020603050405020304" pitchFamily="18" charset="0"/>
              <a:cs typeface="Times New Roman" panose="02020603050405020304" pitchFamily="18" charset="0"/>
            </a:endParaRPr>
          </a:p>
        </p:txBody>
      </p:sp>
      <p:sp>
        <p:nvSpPr>
          <p:cNvPr id="56" name="內容版面配置區 2">
            <a:extLst>
              <a:ext uri="{FF2B5EF4-FFF2-40B4-BE49-F238E27FC236}">
                <a16:creationId xmlns:a16="http://schemas.microsoft.com/office/drawing/2014/main" id="{1B5BF6DB-4EC5-4C74-81B0-85C279DE1BFF}"/>
              </a:ext>
            </a:extLst>
          </p:cNvPr>
          <p:cNvSpPr txBox="1">
            <a:spLocks/>
          </p:cNvSpPr>
          <p:nvPr/>
        </p:nvSpPr>
        <p:spPr>
          <a:xfrm>
            <a:off x="8082961" y="3995134"/>
            <a:ext cx="1614677" cy="53599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dirty="0">
                <a:latin typeface="Times New Roman" panose="02020603050405020304" pitchFamily="18" charset="0"/>
                <a:cs typeface="Times New Roman" panose="02020603050405020304" pitchFamily="18" charset="0"/>
              </a:rPr>
              <a:t>G(</a:t>
            </a:r>
            <a:r>
              <a:rPr lang="en-US" altLang="zh-TW" i="1" dirty="0">
                <a:latin typeface="Times New Roman" panose="02020603050405020304" pitchFamily="18" charset="0"/>
                <a:cs typeface="Times New Roman" panose="02020603050405020304" pitchFamily="18" charset="0"/>
              </a:rPr>
              <a:t>V</a:t>
            </a:r>
            <a:r>
              <a:rPr lang="en-US" altLang="zh-TW" dirty="0">
                <a:latin typeface="Times New Roman" panose="02020603050405020304" pitchFamily="18" charset="0"/>
                <a:cs typeface="Times New Roman" panose="02020603050405020304" pitchFamily="18" charset="0"/>
              </a:rPr>
              <a:t>,</a:t>
            </a:r>
            <a:r>
              <a:rPr lang="en-US" altLang="zh-TW" i="1" dirty="0">
                <a:latin typeface="Times New Roman" panose="02020603050405020304" pitchFamily="18" charset="0"/>
                <a:cs typeface="Times New Roman" panose="02020603050405020304" pitchFamily="18" charset="0"/>
              </a:rPr>
              <a:t>E</a:t>
            </a:r>
            <a:r>
              <a:rPr lang="en-US" altLang="zh-TW" dirty="0">
                <a:latin typeface="Times New Roman" panose="02020603050405020304" pitchFamily="18" charset="0"/>
                <a:cs typeface="Times New Roman" panose="02020603050405020304" pitchFamily="18" charset="0"/>
              </a:rPr>
              <a:t>,</a:t>
            </a:r>
            <a:r>
              <a:rPr lang="en-US" altLang="zh-TW" i="1" dirty="0">
                <a:latin typeface="Times New Roman" panose="02020603050405020304" pitchFamily="18" charset="0"/>
                <a:cs typeface="Times New Roman" panose="02020603050405020304" pitchFamily="18" charset="0"/>
                <a:sym typeface="Symbol" panose="05050102010706020507" pitchFamily="18" charset="2"/>
              </a:rPr>
              <a:t></a:t>
            </a:r>
            <a:r>
              <a:rPr lang="en-US" altLang="zh-TW" dirty="0">
                <a:latin typeface="Times New Roman" panose="02020603050405020304" pitchFamily="18" charset="0"/>
                <a:cs typeface="Times New Roman" panose="02020603050405020304" pitchFamily="18" charset="0"/>
              </a:rPr>
              <a:t>)</a:t>
            </a:r>
            <a:endParaRPr lang="en-US" altLang="zh-TW" baseline="30000" dirty="0">
              <a:latin typeface="Times New Roman" panose="02020603050405020304" pitchFamily="18" charset="0"/>
              <a:cs typeface="Times New Roman" panose="02020603050405020304" pitchFamily="18" charset="0"/>
            </a:endParaRPr>
          </a:p>
        </p:txBody>
      </p:sp>
      <p:cxnSp>
        <p:nvCxnSpPr>
          <p:cNvPr id="58" name="直線單箭頭接點 57">
            <a:extLst>
              <a:ext uri="{FF2B5EF4-FFF2-40B4-BE49-F238E27FC236}">
                <a16:creationId xmlns:a16="http://schemas.microsoft.com/office/drawing/2014/main" id="{1398CFED-BB13-4D5D-A7C8-FE044C61A84B}"/>
              </a:ext>
            </a:extLst>
          </p:cNvPr>
          <p:cNvCxnSpPr/>
          <p:nvPr/>
        </p:nvCxnSpPr>
        <p:spPr>
          <a:xfrm>
            <a:off x="4304145" y="5426421"/>
            <a:ext cx="1948873"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8" name="直線單箭頭接點 27">
            <a:extLst>
              <a:ext uri="{FF2B5EF4-FFF2-40B4-BE49-F238E27FC236}">
                <a16:creationId xmlns:a16="http://schemas.microsoft.com/office/drawing/2014/main" id="{AE542E73-8C7D-4B69-BF63-74841BFDB54C}"/>
              </a:ext>
            </a:extLst>
          </p:cNvPr>
          <p:cNvCxnSpPr>
            <a:cxnSpLocks/>
          </p:cNvCxnSpPr>
          <p:nvPr/>
        </p:nvCxnSpPr>
        <p:spPr>
          <a:xfrm>
            <a:off x="7439765" y="5138655"/>
            <a:ext cx="0" cy="57553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線單箭頭接點 29">
            <a:extLst>
              <a:ext uri="{FF2B5EF4-FFF2-40B4-BE49-F238E27FC236}">
                <a16:creationId xmlns:a16="http://schemas.microsoft.com/office/drawing/2014/main" id="{7DE554EA-D791-4081-BD1A-384052B196E8}"/>
              </a:ext>
            </a:extLst>
          </p:cNvPr>
          <p:cNvCxnSpPr>
            <a:cxnSpLocks/>
          </p:cNvCxnSpPr>
          <p:nvPr/>
        </p:nvCxnSpPr>
        <p:spPr>
          <a:xfrm flipV="1">
            <a:off x="7760116" y="5138655"/>
            <a:ext cx="0" cy="57553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2" name="群組 31">
            <a:extLst>
              <a:ext uri="{FF2B5EF4-FFF2-40B4-BE49-F238E27FC236}">
                <a16:creationId xmlns:a16="http://schemas.microsoft.com/office/drawing/2014/main" id="{1D16B1F0-6011-480E-BF73-AF2416E900EA}"/>
              </a:ext>
            </a:extLst>
          </p:cNvPr>
          <p:cNvGrpSpPr/>
          <p:nvPr/>
        </p:nvGrpSpPr>
        <p:grpSpPr>
          <a:xfrm>
            <a:off x="1626300" y="4510703"/>
            <a:ext cx="1859757" cy="1758214"/>
            <a:chOff x="3754266" y="2695574"/>
            <a:chExt cx="1859757" cy="1758214"/>
          </a:xfrm>
        </p:grpSpPr>
        <p:grpSp>
          <p:nvGrpSpPr>
            <p:cNvPr id="33" name="群組 32">
              <a:extLst>
                <a:ext uri="{FF2B5EF4-FFF2-40B4-BE49-F238E27FC236}">
                  <a16:creationId xmlns:a16="http://schemas.microsoft.com/office/drawing/2014/main" id="{D562EA7A-E6BC-4870-B14C-98566CA0AA24}"/>
                </a:ext>
              </a:extLst>
            </p:cNvPr>
            <p:cNvGrpSpPr/>
            <p:nvPr/>
          </p:nvGrpSpPr>
          <p:grpSpPr>
            <a:xfrm>
              <a:off x="3754266" y="2695574"/>
              <a:ext cx="1859757" cy="1758214"/>
              <a:chOff x="1219200" y="3202204"/>
              <a:chExt cx="1652038" cy="1477303"/>
            </a:xfrm>
          </p:grpSpPr>
          <p:sp>
            <p:nvSpPr>
              <p:cNvPr id="36" name="橢圓 35">
                <a:extLst>
                  <a:ext uri="{FF2B5EF4-FFF2-40B4-BE49-F238E27FC236}">
                    <a16:creationId xmlns:a16="http://schemas.microsoft.com/office/drawing/2014/main" id="{3CA88261-43CB-47F4-B68D-CA610774DBCD}"/>
                  </a:ext>
                </a:extLst>
              </p:cNvPr>
              <p:cNvSpPr/>
              <p:nvPr/>
            </p:nvSpPr>
            <p:spPr>
              <a:xfrm>
                <a:off x="1219200" y="3202204"/>
                <a:ext cx="479686" cy="453724"/>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i="1" dirty="0">
                  <a:latin typeface="Times New Roman" panose="02020603050405020304" pitchFamily="18" charset="0"/>
                  <a:cs typeface="Times New Roman" panose="02020603050405020304" pitchFamily="18" charset="0"/>
                </a:endParaRPr>
              </a:p>
            </p:txBody>
          </p:sp>
          <p:sp>
            <p:nvSpPr>
              <p:cNvPr id="37" name="橢圓 36">
                <a:extLst>
                  <a:ext uri="{FF2B5EF4-FFF2-40B4-BE49-F238E27FC236}">
                    <a16:creationId xmlns:a16="http://schemas.microsoft.com/office/drawing/2014/main" id="{60D33E21-8BE3-4715-870C-E15699AC3B57}"/>
                  </a:ext>
                </a:extLst>
              </p:cNvPr>
              <p:cNvSpPr/>
              <p:nvPr/>
            </p:nvSpPr>
            <p:spPr>
              <a:xfrm>
                <a:off x="1219200" y="4225783"/>
                <a:ext cx="479687" cy="453724"/>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i="1" dirty="0">
                  <a:latin typeface="Times New Roman" panose="02020603050405020304" pitchFamily="18" charset="0"/>
                  <a:cs typeface="Times New Roman" panose="02020603050405020304" pitchFamily="18" charset="0"/>
                </a:endParaRPr>
              </a:p>
            </p:txBody>
          </p:sp>
          <p:sp>
            <p:nvSpPr>
              <p:cNvPr id="38" name="橢圓 37">
                <a:extLst>
                  <a:ext uri="{FF2B5EF4-FFF2-40B4-BE49-F238E27FC236}">
                    <a16:creationId xmlns:a16="http://schemas.microsoft.com/office/drawing/2014/main" id="{9C0D23EC-1A88-4C20-864D-C9017372D77B}"/>
                  </a:ext>
                </a:extLst>
              </p:cNvPr>
              <p:cNvSpPr/>
              <p:nvPr/>
            </p:nvSpPr>
            <p:spPr>
              <a:xfrm>
                <a:off x="2391551" y="3202204"/>
                <a:ext cx="479686" cy="453724"/>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i="1" dirty="0">
                  <a:latin typeface="Times New Roman" panose="02020603050405020304" pitchFamily="18" charset="0"/>
                  <a:cs typeface="Times New Roman" panose="02020603050405020304" pitchFamily="18" charset="0"/>
                </a:endParaRPr>
              </a:p>
            </p:txBody>
          </p:sp>
          <p:sp>
            <p:nvSpPr>
              <p:cNvPr id="39" name="橢圓 38">
                <a:extLst>
                  <a:ext uri="{FF2B5EF4-FFF2-40B4-BE49-F238E27FC236}">
                    <a16:creationId xmlns:a16="http://schemas.microsoft.com/office/drawing/2014/main" id="{A348B24E-ABF6-4A00-8350-DCB6C9016E11}"/>
                  </a:ext>
                </a:extLst>
              </p:cNvPr>
              <p:cNvSpPr/>
              <p:nvPr/>
            </p:nvSpPr>
            <p:spPr>
              <a:xfrm>
                <a:off x="2391551" y="4225783"/>
                <a:ext cx="479687" cy="453724"/>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i="1" dirty="0">
                  <a:latin typeface="Times New Roman" panose="02020603050405020304" pitchFamily="18" charset="0"/>
                  <a:cs typeface="Times New Roman" panose="02020603050405020304" pitchFamily="18" charset="0"/>
                </a:endParaRPr>
              </a:p>
            </p:txBody>
          </p:sp>
          <p:cxnSp>
            <p:nvCxnSpPr>
              <p:cNvPr id="40" name="直線單箭頭接點 39">
                <a:extLst>
                  <a:ext uri="{FF2B5EF4-FFF2-40B4-BE49-F238E27FC236}">
                    <a16:creationId xmlns:a16="http://schemas.microsoft.com/office/drawing/2014/main" id="{3ACC6CB6-7750-417F-A28E-0BFD3D89E5A4}"/>
                  </a:ext>
                </a:extLst>
              </p:cNvPr>
              <p:cNvCxnSpPr>
                <a:stCxn id="36" idx="6"/>
                <a:endCxn id="38" idx="2"/>
              </p:cNvCxnSpPr>
              <p:nvPr/>
            </p:nvCxnSpPr>
            <p:spPr>
              <a:xfrm>
                <a:off x="1698886" y="3429066"/>
                <a:ext cx="692666"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直線單箭頭接點 51">
                <a:extLst>
                  <a:ext uri="{FF2B5EF4-FFF2-40B4-BE49-F238E27FC236}">
                    <a16:creationId xmlns:a16="http://schemas.microsoft.com/office/drawing/2014/main" id="{86EB7600-19D0-434D-889E-0AA4007B7669}"/>
                  </a:ext>
                </a:extLst>
              </p:cNvPr>
              <p:cNvCxnSpPr>
                <a:cxnSpLocks/>
                <a:stCxn id="38" idx="4"/>
                <a:endCxn id="39" idx="0"/>
              </p:cNvCxnSpPr>
              <p:nvPr/>
            </p:nvCxnSpPr>
            <p:spPr>
              <a:xfrm>
                <a:off x="2631395" y="3655928"/>
                <a:ext cx="0" cy="5698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線單箭頭接點 54">
                <a:extLst>
                  <a:ext uri="{FF2B5EF4-FFF2-40B4-BE49-F238E27FC236}">
                    <a16:creationId xmlns:a16="http://schemas.microsoft.com/office/drawing/2014/main" id="{F4BCFCA4-FA76-4345-9676-CF37DF62CEBC}"/>
                  </a:ext>
                </a:extLst>
              </p:cNvPr>
              <p:cNvCxnSpPr>
                <a:cxnSpLocks/>
                <a:stCxn id="39" idx="2"/>
                <a:endCxn id="37" idx="6"/>
              </p:cNvCxnSpPr>
              <p:nvPr/>
            </p:nvCxnSpPr>
            <p:spPr>
              <a:xfrm flipH="1">
                <a:off x="1698887" y="4452645"/>
                <a:ext cx="692665"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34" name="直線單箭頭接點 33">
              <a:extLst>
                <a:ext uri="{FF2B5EF4-FFF2-40B4-BE49-F238E27FC236}">
                  <a16:creationId xmlns:a16="http://schemas.microsoft.com/office/drawing/2014/main" id="{01335BA1-F4A2-40D5-A41A-62D380C36726}"/>
                </a:ext>
              </a:extLst>
            </p:cNvPr>
            <p:cNvCxnSpPr>
              <a:cxnSpLocks/>
            </p:cNvCxnSpPr>
            <p:nvPr/>
          </p:nvCxnSpPr>
          <p:spPr>
            <a:xfrm flipV="1">
              <a:off x="4133618" y="3235574"/>
              <a:ext cx="0" cy="67821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線單箭頭接點 34">
              <a:extLst>
                <a:ext uri="{FF2B5EF4-FFF2-40B4-BE49-F238E27FC236}">
                  <a16:creationId xmlns:a16="http://schemas.microsoft.com/office/drawing/2014/main" id="{0C53F24B-1786-4970-8BC3-33278D048FBB}"/>
                </a:ext>
              </a:extLst>
            </p:cNvPr>
            <p:cNvCxnSpPr>
              <a:cxnSpLocks/>
            </p:cNvCxnSpPr>
            <p:nvPr/>
          </p:nvCxnSpPr>
          <p:spPr>
            <a:xfrm>
              <a:off x="3931455" y="3235574"/>
              <a:ext cx="0" cy="67821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2428166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B66326-0258-4924-B0B5-05633F8B6DD4}"/>
              </a:ext>
            </a:extLst>
          </p:cNvPr>
          <p:cNvSpPr>
            <a:spLocks noGrp="1"/>
          </p:cNvSpPr>
          <p:nvPr>
            <p:ph type="title"/>
          </p:nvPr>
        </p:nvSpPr>
        <p:spPr/>
        <p:txBody>
          <a:bodyPr>
            <a:normAutofit/>
          </a:bodyPr>
          <a:lstStyle/>
          <a:p>
            <a:r>
              <a:rPr lang="en-US" altLang="zh-TW" sz="4000" dirty="0">
                <a:latin typeface="Times New Roman" panose="02020603050405020304" pitchFamily="18" charset="0"/>
                <a:cs typeface="Times New Roman" panose="02020603050405020304" pitchFamily="18" charset="0"/>
              </a:rPr>
              <a:t>Edit distance model</a:t>
            </a:r>
            <a:endParaRPr lang="zh-TW" altLang="en-US" sz="4000"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D62D5C57-92EA-4061-8DBC-ABC04F3533CB}"/>
              </a:ext>
            </a:extLst>
          </p:cNvPr>
          <p:cNvSpPr>
            <a:spLocks noGrp="1"/>
          </p:cNvSpPr>
          <p:nvPr>
            <p:ph idx="1"/>
          </p:nvPr>
        </p:nvSpPr>
        <p:spPr>
          <a:xfrm>
            <a:off x="703278" y="1825625"/>
            <a:ext cx="10515600" cy="4351338"/>
          </a:xfrm>
        </p:spPr>
        <p:txBody>
          <a:bodyPr>
            <a:normAutofit/>
          </a:bodyPr>
          <a:lstStyle/>
          <a:p>
            <a:pPr marL="0" indent="0">
              <a:buNone/>
            </a:pPr>
            <a:r>
              <a:rPr lang="en-US" altLang="zh-TW" dirty="0">
                <a:latin typeface="Times New Roman" panose="02020603050405020304" pitchFamily="18" charset="0"/>
                <a:cs typeface="Times New Roman" panose="02020603050405020304" pitchFamily="18" charset="0"/>
              </a:rPr>
              <a:t>directed Hamiltonian cycle </a:t>
            </a:r>
            <a:r>
              <a:rPr lang="en-US" altLang="zh-TW" dirty="0">
                <a:latin typeface="Times New Roman" panose="02020603050405020304" pitchFamily="18" charset="0"/>
                <a:cs typeface="Times New Roman" panose="02020603050405020304" pitchFamily="18" charset="0"/>
                <a:sym typeface="Symbol" panose="05050102010706020507" pitchFamily="18" charset="2"/>
              </a:rPr>
              <a:t> sequence-to-graph alignment</a:t>
            </a:r>
            <a:br>
              <a:rPr lang="en-US" altLang="zh-TW" dirty="0">
                <a:latin typeface="Times New Roman" panose="02020603050405020304" pitchFamily="18" charset="0"/>
                <a:cs typeface="Times New Roman" panose="02020603050405020304" pitchFamily="18" charset="0"/>
                <a:sym typeface="Symbol" panose="05050102010706020507" pitchFamily="18" charset="2"/>
              </a:rPr>
            </a:br>
            <a:r>
              <a:rPr lang="en-US" altLang="zh-TW" dirty="0">
                <a:latin typeface="Times New Roman" panose="02020603050405020304" pitchFamily="18" charset="0"/>
                <a:cs typeface="Times New Roman" panose="02020603050405020304" pitchFamily="18" charset="0"/>
                <a:sym typeface="Symbol" panose="05050102010706020507" pitchFamily="18" charset="2"/>
              </a:rPr>
              <a:t>=&gt;</a:t>
            </a:r>
            <a:br>
              <a:rPr lang="en-US" altLang="zh-TW" dirty="0">
                <a:latin typeface="Times New Roman" panose="02020603050405020304" pitchFamily="18" charset="0"/>
                <a:cs typeface="Times New Roman" panose="02020603050405020304" pitchFamily="18" charset="0"/>
                <a:sym typeface="Symbol" panose="05050102010706020507" pitchFamily="18" charset="2"/>
              </a:rPr>
            </a:b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if there is a Hamiltonian cycle</a:t>
            </a:r>
          </a:p>
        </p:txBody>
      </p:sp>
      <p:cxnSp>
        <p:nvCxnSpPr>
          <p:cNvPr id="72" name="直線單箭頭接點 71">
            <a:extLst>
              <a:ext uri="{FF2B5EF4-FFF2-40B4-BE49-F238E27FC236}">
                <a16:creationId xmlns:a16="http://schemas.microsoft.com/office/drawing/2014/main" id="{5DE077C3-9120-4D84-BC59-3D4DF36CBBDD}"/>
              </a:ext>
            </a:extLst>
          </p:cNvPr>
          <p:cNvCxnSpPr>
            <a:cxnSpLocks/>
          </p:cNvCxnSpPr>
          <p:nvPr/>
        </p:nvCxnSpPr>
        <p:spPr>
          <a:xfrm>
            <a:off x="4482472" y="4533717"/>
            <a:ext cx="1948873"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73" name="內容版面配置區 2">
            <a:extLst>
              <a:ext uri="{FF2B5EF4-FFF2-40B4-BE49-F238E27FC236}">
                <a16:creationId xmlns:a16="http://schemas.microsoft.com/office/drawing/2014/main" id="{0CCF610F-317B-437B-B880-FADB92AE932C}"/>
              </a:ext>
            </a:extLst>
          </p:cNvPr>
          <p:cNvSpPr txBox="1">
            <a:spLocks/>
          </p:cNvSpPr>
          <p:nvPr/>
        </p:nvSpPr>
        <p:spPr>
          <a:xfrm>
            <a:off x="4443408" y="3727787"/>
            <a:ext cx="1809210" cy="67561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4 substitutions</a:t>
            </a:r>
          </a:p>
        </p:txBody>
      </p:sp>
      <p:grpSp>
        <p:nvGrpSpPr>
          <p:cNvPr id="32" name="群組 31">
            <a:extLst>
              <a:ext uri="{FF2B5EF4-FFF2-40B4-BE49-F238E27FC236}">
                <a16:creationId xmlns:a16="http://schemas.microsoft.com/office/drawing/2014/main" id="{E04B4535-0B5B-4FCE-9C0F-ECA67FFA3686}"/>
              </a:ext>
            </a:extLst>
          </p:cNvPr>
          <p:cNvGrpSpPr/>
          <p:nvPr/>
        </p:nvGrpSpPr>
        <p:grpSpPr>
          <a:xfrm>
            <a:off x="6610509" y="3789485"/>
            <a:ext cx="5439721" cy="2882891"/>
            <a:chOff x="1219200" y="3202204"/>
            <a:chExt cx="1586129" cy="1563579"/>
          </a:xfrm>
        </p:grpSpPr>
        <p:sp>
          <p:nvSpPr>
            <p:cNvPr id="33" name="橢圓 32">
              <a:extLst>
                <a:ext uri="{FF2B5EF4-FFF2-40B4-BE49-F238E27FC236}">
                  <a16:creationId xmlns:a16="http://schemas.microsoft.com/office/drawing/2014/main" id="{A1FBE03A-3B7C-4473-A90A-006ED1F07637}"/>
                </a:ext>
              </a:extLst>
            </p:cNvPr>
            <p:cNvSpPr/>
            <p:nvPr/>
          </p:nvSpPr>
          <p:spPr>
            <a:xfrm>
              <a:off x="1219200" y="3202204"/>
              <a:ext cx="540000" cy="540000"/>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lang="zh-TW" altLang="en-US" i="1" dirty="0">
                  <a:latin typeface="Times New Roman" panose="02020603050405020304" pitchFamily="18" charset="0"/>
                  <a:cs typeface="Times New Roman" panose="02020603050405020304" pitchFamily="18" charset="0"/>
                  <a:sym typeface="Symbol" panose="05050102010706020507" pitchFamily="18" charset="2"/>
                </a:rPr>
                <a:t></a:t>
              </a:r>
              <a:r>
                <a:rPr lang="en-US" altLang="zh-TW" i="1" baseline="30000" dirty="0">
                  <a:latin typeface="Times New Roman" panose="02020603050405020304" pitchFamily="18" charset="0"/>
                  <a:cs typeface="Times New Roman" panose="02020603050405020304" pitchFamily="18" charset="0"/>
                  <a:sym typeface="Symbol" panose="05050102010706020507" pitchFamily="18" charset="2"/>
                </a:rPr>
                <a:t>8</a:t>
              </a:r>
              <a:r>
                <a:rPr lang="zh-TW" altLang="en-US" i="1" dirty="0">
                  <a:latin typeface="Times New Roman" panose="02020603050405020304" pitchFamily="18" charset="0"/>
                  <a:cs typeface="Times New Roman" panose="02020603050405020304" pitchFamily="18" charset="0"/>
                  <a:sym typeface="Symbol" panose="05050102010706020507" pitchFamily="18" charset="2"/>
                </a:rPr>
                <a:t></a:t>
              </a:r>
              <a:r>
                <a:rPr lang="zh-TW" altLang="en-US" sz="1800" i="1" dirty="0">
                  <a:latin typeface="Times New Roman" panose="02020603050405020304" pitchFamily="18" charset="0"/>
                  <a:cs typeface="Times New Roman" panose="02020603050405020304" pitchFamily="18" charset="0"/>
                  <a:sym typeface="Symbol" panose="05050102010706020507" pitchFamily="18" charset="2"/>
                </a:rPr>
                <a:t> </a:t>
              </a:r>
              <a:r>
                <a:rPr lang="en-US" altLang="zh-TW" i="1" baseline="30000" dirty="0">
                  <a:latin typeface="Times New Roman" panose="02020603050405020304" pitchFamily="18" charset="0"/>
                  <a:cs typeface="Times New Roman" panose="02020603050405020304" pitchFamily="18" charset="0"/>
                  <a:sym typeface="Symbol" panose="05050102010706020507" pitchFamily="18" charset="2"/>
                </a:rPr>
                <a:t>7</a:t>
              </a:r>
              <a:r>
                <a:rPr lang="zh-TW" altLang="en-US" i="1" dirty="0">
                  <a:latin typeface="Times New Roman" panose="02020603050405020304" pitchFamily="18" charset="0"/>
                  <a:cs typeface="Times New Roman" panose="02020603050405020304" pitchFamily="18" charset="0"/>
                  <a:sym typeface="Symbol" panose="05050102010706020507" pitchFamily="18" charset="2"/>
                </a:rPr>
                <a:t></a:t>
              </a:r>
              <a:r>
                <a:rPr lang="en-US" altLang="zh-TW" i="1" baseline="30000" dirty="0">
                  <a:latin typeface="Times New Roman" panose="02020603050405020304" pitchFamily="18" charset="0"/>
                  <a:cs typeface="Times New Roman" panose="02020603050405020304" pitchFamily="18" charset="0"/>
                  <a:sym typeface="Symbol" panose="05050102010706020507" pitchFamily="18" charset="2"/>
                </a:rPr>
                <a:t>8</a:t>
              </a:r>
              <a:endParaRPr lang="zh-TW" altLang="en-US" i="1" baseline="30000" dirty="0">
                <a:latin typeface="Times New Roman" panose="02020603050405020304" pitchFamily="18" charset="0"/>
                <a:cs typeface="Times New Roman" panose="02020603050405020304" pitchFamily="18" charset="0"/>
              </a:endParaRPr>
            </a:p>
          </p:txBody>
        </p:sp>
        <p:sp>
          <p:nvSpPr>
            <p:cNvPr id="34" name="橢圓 33">
              <a:extLst>
                <a:ext uri="{FF2B5EF4-FFF2-40B4-BE49-F238E27FC236}">
                  <a16:creationId xmlns:a16="http://schemas.microsoft.com/office/drawing/2014/main" id="{BBF2DA0E-3720-4E44-9E71-7F171F14E482}"/>
                </a:ext>
              </a:extLst>
            </p:cNvPr>
            <p:cNvSpPr/>
            <p:nvPr/>
          </p:nvSpPr>
          <p:spPr>
            <a:xfrm>
              <a:off x="1219200" y="4225783"/>
              <a:ext cx="540000" cy="540000"/>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lang="zh-TW" altLang="en-US" sz="1800" i="1" dirty="0">
                  <a:latin typeface="Times New Roman" panose="02020603050405020304" pitchFamily="18" charset="0"/>
                  <a:cs typeface="Times New Roman" panose="02020603050405020304" pitchFamily="18" charset="0"/>
                  <a:sym typeface="Symbol" panose="05050102010706020507" pitchFamily="18" charset="2"/>
                </a:rPr>
                <a:t></a:t>
              </a:r>
              <a:r>
                <a:rPr lang="en-US" altLang="zh-TW" sz="1800" i="1" baseline="30000" dirty="0">
                  <a:latin typeface="Times New Roman" panose="02020603050405020304" pitchFamily="18" charset="0"/>
                  <a:cs typeface="Times New Roman" panose="02020603050405020304" pitchFamily="18" charset="0"/>
                  <a:sym typeface="Symbol" panose="05050102010706020507" pitchFamily="18" charset="2"/>
                </a:rPr>
                <a:t>8</a:t>
              </a:r>
              <a:r>
                <a:rPr lang="zh-TW" altLang="en-US" sz="1800" i="1" dirty="0">
                  <a:latin typeface="Times New Roman" panose="02020603050405020304" pitchFamily="18" charset="0"/>
                  <a:cs typeface="Times New Roman" panose="02020603050405020304" pitchFamily="18" charset="0"/>
                  <a:sym typeface="Symbol" panose="05050102010706020507" pitchFamily="18" charset="2"/>
                </a:rPr>
                <a:t> </a:t>
              </a:r>
              <a:r>
                <a:rPr lang="en-US" altLang="zh-TW" sz="1800" baseline="30000" dirty="0">
                  <a:latin typeface="Times New Roman" panose="02020603050405020304" pitchFamily="18" charset="0"/>
                  <a:cs typeface="Times New Roman" panose="02020603050405020304" pitchFamily="18" charset="0"/>
                  <a:sym typeface="Symbol" panose="05050102010706020507" pitchFamily="18" charset="2"/>
                </a:rPr>
                <a:t>3</a:t>
              </a:r>
              <a:r>
                <a:rPr lang="zh-TW" altLang="en-US" sz="1800" i="1" dirty="0">
                  <a:latin typeface="Times New Roman" panose="02020603050405020304" pitchFamily="18" charset="0"/>
                  <a:cs typeface="Times New Roman" panose="02020603050405020304" pitchFamily="18" charset="0"/>
                  <a:sym typeface="Symbol" panose="05050102010706020507" pitchFamily="18" charset="2"/>
                </a:rPr>
                <a:t> </a:t>
              </a:r>
              <a:r>
                <a:rPr lang="en-US" altLang="zh-TW" i="1" baseline="30000" dirty="0">
                  <a:latin typeface="Times New Roman" panose="02020603050405020304" pitchFamily="18" charset="0"/>
                  <a:cs typeface="Times New Roman" panose="02020603050405020304" pitchFamily="18" charset="0"/>
                  <a:sym typeface="Symbol" panose="05050102010706020507" pitchFamily="18" charset="2"/>
                </a:rPr>
                <a:t>4</a:t>
              </a:r>
              <a:r>
                <a:rPr lang="zh-TW" altLang="en-US" sz="1800" i="1" dirty="0">
                  <a:latin typeface="Times New Roman" panose="02020603050405020304" pitchFamily="18" charset="0"/>
                  <a:cs typeface="Times New Roman" panose="02020603050405020304" pitchFamily="18" charset="0"/>
                  <a:sym typeface="Symbol" panose="05050102010706020507" pitchFamily="18" charset="2"/>
                </a:rPr>
                <a:t></a:t>
              </a:r>
              <a:r>
                <a:rPr lang="en-US" altLang="zh-TW" sz="1800" i="1" baseline="30000" dirty="0">
                  <a:latin typeface="Times New Roman" panose="02020603050405020304" pitchFamily="18" charset="0"/>
                  <a:cs typeface="Times New Roman" panose="02020603050405020304" pitchFamily="18" charset="0"/>
                  <a:sym typeface="Symbol" panose="05050102010706020507" pitchFamily="18" charset="2"/>
                </a:rPr>
                <a:t>8</a:t>
              </a:r>
              <a:endParaRPr lang="zh-TW" altLang="en-US" i="1" baseline="30000" dirty="0">
                <a:latin typeface="Times New Roman" panose="02020603050405020304" pitchFamily="18" charset="0"/>
                <a:cs typeface="Times New Roman" panose="02020603050405020304" pitchFamily="18" charset="0"/>
              </a:endParaRPr>
            </a:p>
          </p:txBody>
        </p:sp>
        <p:sp>
          <p:nvSpPr>
            <p:cNvPr id="35" name="橢圓 34">
              <a:extLst>
                <a:ext uri="{FF2B5EF4-FFF2-40B4-BE49-F238E27FC236}">
                  <a16:creationId xmlns:a16="http://schemas.microsoft.com/office/drawing/2014/main" id="{2574BF61-CB05-4162-BC15-F7D0E7A35B2D}"/>
                </a:ext>
              </a:extLst>
            </p:cNvPr>
            <p:cNvSpPr/>
            <p:nvPr/>
          </p:nvSpPr>
          <p:spPr>
            <a:xfrm>
              <a:off x="2265329" y="3202204"/>
              <a:ext cx="540000" cy="540000"/>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lang="zh-TW" altLang="en-US" sz="1800" i="1" dirty="0">
                  <a:latin typeface="Times New Roman" panose="02020603050405020304" pitchFamily="18" charset="0"/>
                  <a:cs typeface="Times New Roman" panose="02020603050405020304" pitchFamily="18" charset="0"/>
                  <a:sym typeface="Symbol" panose="05050102010706020507" pitchFamily="18" charset="2"/>
                </a:rPr>
                <a:t></a:t>
              </a:r>
              <a:r>
                <a:rPr lang="en-US" altLang="zh-TW" sz="1800" i="1" baseline="30000" dirty="0">
                  <a:latin typeface="Times New Roman" panose="02020603050405020304" pitchFamily="18" charset="0"/>
                  <a:cs typeface="Times New Roman" panose="02020603050405020304" pitchFamily="18" charset="0"/>
                  <a:sym typeface="Symbol" panose="05050102010706020507" pitchFamily="18" charset="2"/>
                </a:rPr>
                <a:t>8</a:t>
              </a:r>
              <a:r>
                <a:rPr lang="zh-TW" altLang="en-US" sz="1800" i="1" dirty="0">
                  <a:latin typeface="Times New Roman" panose="02020603050405020304" pitchFamily="18" charset="0"/>
                  <a:cs typeface="Times New Roman" panose="02020603050405020304" pitchFamily="18" charset="0"/>
                  <a:sym typeface="Symbol" panose="05050102010706020507" pitchFamily="18" charset="2"/>
                </a:rPr>
                <a:t> </a:t>
              </a:r>
              <a:r>
                <a:rPr lang="en-US" altLang="zh-TW" sz="1800" i="1" baseline="30000" dirty="0">
                  <a:latin typeface="Times New Roman" panose="02020603050405020304" pitchFamily="18" charset="0"/>
                  <a:cs typeface="Times New Roman" panose="02020603050405020304" pitchFamily="18" charset="0"/>
                  <a:sym typeface="Symbol" panose="05050102010706020507" pitchFamily="18" charset="2"/>
                </a:rPr>
                <a:t>6</a:t>
              </a:r>
              <a:r>
                <a:rPr lang="zh-TW" altLang="en-US" sz="1800" i="1" dirty="0">
                  <a:latin typeface="Times New Roman" panose="02020603050405020304" pitchFamily="18" charset="0"/>
                  <a:cs typeface="Times New Roman" panose="02020603050405020304" pitchFamily="18" charset="0"/>
                  <a:sym typeface="Symbol" panose="05050102010706020507" pitchFamily="18" charset="2"/>
                </a:rPr>
                <a:t></a:t>
              </a:r>
              <a:r>
                <a:rPr lang="en-US" altLang="zh-TW" sz="1800" i="1" baseline="30000" dirty="0">
                  <a:latin typeface="Times New Roman" panose="02020603050405020304" pitchFamily="18" charset="0"/>
                  <a:cs typeface="Times New Roman" panose="02020603050405020304" pitchFamily="18" charset="0"/>
                  <a:sym typeface="Symbol" panose="05050102010706020507" pitchFamily="18" charset="2"/>
                </a:rPr>
                <a:t>8</a:t>
              </a:r>
              <a:endParaRPr lang="zh-TW" altLang="en-US" i="1" baseline="30000" dirty="0">
                <a:latin typeface="Times New Roman" panose="02020603050405020304" pitchFamily="18" charset="0"/>
                <a:cs typeface="Times New Roman" panose="02020603050405020304" pitchFamily="18" charset="0"/>
              </a:endParaRPr>
            </a:p>
          </p:txBody>
        </p:sp>
        <p:sp>
          <p:nvSpPr>
            <p:cNvPr id="36" name="橢圓 35">
              <a:extLst>
                <a:ext uri="{FF2B5EF4-FFF2-40B4-BE49-F238E27FC236}">
                  <a16:creationId xmlns:a16="http://schemas.microsoft.com/office/drawing/2014/main" id="{47178187-0EBF-438A-A082-CFEA4FC0FDD1}"/>
                </a:ext>
              </a:extLst>
            </p:cNvPr>
            <p:cNvSpPr/>
            <p:nvPr/>
          </p:nvSpPr>
          <p:spPr>
            <a:xfrm>
              <a:off x="2265329" y="4225783"/>
              <a:ext cx="540000" cy="540000"/>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lang="zh-TW" altLang="en-US" sz="1800" i="1" dirty="0">
                  <a:latin typeface="Times New Roman" panose="02020603050405020304" pitchFamily="18" charset="0"/>
                  <a:cs typeface="Times New Roman" panose="02020603050405020304" pitchFamily="18" charset="0"/>
                  <a:sym typeface="Symbol" panose="05050102010706020507" pitchFamily="18" charset="2"/>
                </a:rPr>
                <a:t></a:t>
              </a:r>
              <a:r>
                <a:rPr lang="en-US" altLang="zh-TW" sz="1800" i="1" baseline="30000" dirty="0">
                  <a:latin typeface="Times New Roman" panose="02020603050405020304" pitchFamily="18" charset="0"/>
                  <a:cs typeface="Times New Roman" panose="02020603050405020304" pitchFamily="18" charset="0"/>
                  <a:sym typeface="Symbol" panose="05050102010706020507" pitchFamily="18" charset="2"/>
                </a:rPr>
                <a:t>8</a:t>
              </a:r>
              <a:r>
                <a:rPr lang="zh-TW" altLang="en-US" sz="1800" i="1" dirty="0">
                  <a:latin typeface="Times New Roman" panose="02020603050405020304" pitchFamily="18" charset="0"/>
                  <a:cs typeface="Times New Roman" panose="02020603050405020304" pitchFamily="18" charset="0"/>
                  <a:sym typeface="Symbol" panose="05050102010706020507" pitchFamily="18" charset="2"/>
                </a:rPr>
                <a:t> </a:t>
              </a:r>
              <a:r>
                <a:rPr lang="en-US" altLang="zh-TW" sz="1800" baseline="30000" dirty="0">
                  <a:latin typeface="Times New Roman" panose="02020603050405020304" pitchFamily="18" charset="0"/>
                  <a:cs typeface="Times New Roman" panose="02020603050405020304" pitchFamily="18" charset="0"/>
                  <a:sym typeface="Symbol" panose="05050102010706020507" pitchFamily="18" charset="2"/>
                </a:rPr>
                <a:t>2</a:t>
              </a:r>
              <a:r>
                <a:rPr lang="zh-TW" altLang="en-US" sz="1800" i="1" dirty="0">
                  <a:latin typeface="Times New Roman" panose="02020603050405020304" pitchFamily="18" charset="0"/>
                  <a:cs typeface="Times New Roman" panose="02020603050405020304" pitchFamily="18" charset="0"/>
                  <a:sym typeface="Symbol" panose="05050102010706020507" pitchFamily="18" charset="2"/>
                </a:rPr>
                <a:t> </a:t>
              </a:r>
              <a:r>
                <a:rPr lang="en-US" altLang="zh-TW" i="1" baseline="30000" dirty="0">
                  <a:latin typeface="Times New Roman" panose="02020603050405020304" pitchFamily="18" charset="0"/>
                  <a:cs typeface="Times New Roman" panose="02020603050405020304" pitchFamily="18" charset="0"/>
                  <a:sym typeface="Symbol" panose="05050102010706020507" pitchFamily="18" charset="2"/>
                </a:rPr>
                <a:t>5</a:t>
              </a:r>
              <a:r>
                <a:rPr lang="zh-TW" altLang="en-US" sz="1800" i="1" dirty="0">
                  <a:latin typeface="Times New Roman" panose="02020603050405020304" pitchFamily="18" charset="0"/>
                  <a:cs typeface="Times New Roman" panose="02020603050405020304" pitchFamily="18" charset="0"/>
                  <a:sym typeface="Symbol" panose="05050102010706020507" pitchFamily="18" charset="2"/>
                </a:rPr>
                <a:t></a:t>
              </a:r>
              <a:r>
                <a:rPr lang="en-US" altLang="zh-TW" sz="1800" i="1" baseline="30000" dirty="0">
                  <a:latin typeface="Times New Roman" panose="02020603050405020304" pitchFamily="18" charset="0"/>
                  <a:cs typeface="Times New Roman" panose="02020603050405020304" pitchFamily="18" charset="0"/>
                  <a:sym typeface="Symbol" panose="05050102010706020507" pitchFamily="18" charset="2"/>
                </a:rPr>
                <a:t>8</a:t>
              </a:r>
              <a:endParaRPr lang="zh-TW" altLang="en-US" i="1" baseline="30000" dirty="0">
                <a:latin typeface="Times New Roman" panose="02020603050405020304" pitchFamily="18" charset="0"/>
                <a:cs typeface="Times New Roman" panose="02020603050405020304" pitchFamily="18" charset="0"/>
              </a:endParaRPr>
            </a:p>
          </p:txBody>
        </p:sp>
        <p:cxnSp>
          <p:nvCxnSpPr>
            <p:cNvPr id="37" name="直線單箭頭接點 36">
              <a:extLst>
                <a:ext uri="{FF2B5EF4-FFF2-40B4-BE49-F238E27FC236}">
                  <a16:creationId xmlns:a16="http://schemas.microsoft.com/office/drawing/2014/main" id="{6F80DD91-CFE4-4C62-8D87-A4DD366CB554}"/>
                </a:ext>
              </a:extLst>
            </p:cNvPr>
            <p:cNvCxnSpPr>
              <a:stCxn id="33" idx="6"/>
              <a:endCxn id="35" idx="2"/>
            </p:cNvCxnSpPr>
            <p:nvPr/>
          </p:nvCxnSpPr>
          <p:spPr>
            <a:xfrm>
              <a:off x="1759200" y="3472204"/>
              <a:ext cx="506129"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線單箭頭接點 37">
              <a:extLst>
                <a:ext uri="{FF2B5EF4-FFF2-40B4-BE49-F238E27FC236}">
                  <a16:creationId xmlns:a16="http://schemas.microsoft.com/office/drawing/2014/main" id="{0D96E8A4-DA63-462B-8E0D-5D9C5F8C8AD4}"/>
                </a:ext>
              </a:extLst>
            </p:cNvPr>
            <p:cNvCxnSpPr>
              <a:cxnSpLocks/>
              <a:stCxn id="35" idx="4"/>
              <a:endCxn id="36" idx="0"/>
            </p:cNvCxnSpPr>
            <p:nvPr/>
          </p:nvCxnSpPr>
          <p:spPr>
            <a:xfrm>
              <a:off x="2535329" y="3742204"/>
              <a:ext cx="0" cy="48357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線單箭頭接點 38">
              <a:extLst>
                <a:ext uri="{FF2B5EF4-FFF2-40B4-BE49-F238E27FC236}">
                  <a16:creationId xmlns:a16="http://schemas.microsoft.com/office/drawing/2014/main" id="{8AAA5062-0F96-4E44-B65C-2A5578E9F465}"/>
                </a:ext>
              </a:extLst>
            </p:cNvPr>
            <p:cNvCxnSpPr>
              <a:cxnSpLocks/>
              <a:stCxn id="36" idx="2"/>
              <a:endCxn id="34" idx="6"/>
            </p:cNvCxnSpPr>
            <p:nvPr/>
          </p:nvCxnSpPr>
          <p:spPr>
            <a:xfrm flipH="1">
              <a:off x="1759200" y="4495783"/>
              <a:ext cx="506129"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52" name="內容版面配置區 2">
            <a:extLst>
              <a:ext uri="{FF2B5EF4-FFF2-40B4-BE49-F238E27FC236}">
                <a16:creationId xmlns:a16="http://schemas.microsoft.com/office/drawing/2014/main" id="{974BBEA1-A97F-4FC6-920B-3B2E9D9EB2CC}"/>
              </a:ext>
            </a:extLst>
          </p:cNvPr>
          <p:cNvSpPr txBox="1">
            <a:spLocks/>
          </p:cNvSpPr>
          <p:nvPr/>
        </p:nvSpPr>
        <p:spPr>
          <a:xfrm>
            <a:off x="141769" y="6245364"/>
            <a:ext cx="6594933" cy="46674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TW" sz="2400" i="1" dirty="0">
                <a:latin typeface="Times New Roman" panose="02020603050405020304" pitchFamily="18" charset="0"/>
                <a:cs typeface="Times New Roman" panose="02020603050405020304" pitchFamily="18" charset="0"/>
              </a:rPr>
              <a:t>q</a:t>
            </a:r>
            <a:r>
              <a:rPr lang="en-US" altLang="zh-TW" sz="2400" dirty="0">
                <a:latin typeface="Times New Roman" panose="02020603050405020304" pitchFamily="18" charset="0"/>
                <a:cs typeface="Times New Roman" panose="02020603050405020304" pitchFamily="18" charset="0"/>
              </a:rPr>
              <a:t>: (</a:t>
            </a:r>
            <a:r>
              <a:rPr lang="zh-TW" altLang="en-US" sz="2400" i="1"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a:t>
            </a:r>
            <a:r>
              <a:rPr lang="en-US" altLang="zh-TW" sz="2400" i="1" baseline="30000"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8</a:t>
            </a:r>
            <a:r>
              <a:rPr lang="zh-TW" altLang="en-US" sz="2400" i="1"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a:t>
            </a:r>
            <a:r>
              <a:rPr lang="zh-TW" altLang="en-US" sz="2400" i="1" baseline="30000"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 </a:t>
            </a:r>
            <a:r>
              <a:rPr lang="en-US" altLang="zh-TW" sz="2400" i="1" baseline="30000"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7</a:t>
            </a:r>
            <a:r>
              <a:rPr lang="zh-TW" altLang="en-US" sz="2400" i="1"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a:t>
            </a:r>
            <a:r>
              <a:rPr lang="en-US" altLang="zh-TW" sz="2400" i="1" baseline="30000"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8</a:t>
            </a:r>
            <a:r>
              <a:rPr lang="en-US" altLang="zh-TW" sz="2400" i="1" dirty="0">
                <a:latin typeface="Times New Roman" panose="02020603050405020304" pitchFamily="18" charset="0"/>
                <a:cs typeface="Times New Roman" panose="02020603050405020304" pitchFamily="18" charset="0"/>
                <a:sym typeface="Symbol" panose="05050102010706020507" pitchFamily="18" charset="2"/>
              </a:rPr>
              <a:t> </a:t>
            </a:r>
            <a:r>
              <a:rPr lang="zh-TW" altLang="en-US" sz="2400" i="1"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a:t>
            </a:r>
            <a:r>
              <a:rPr lang="en-US" altLang="zh-TW" sz="2400" i="1" baseline="30000"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8</a:t>
            </a:r>
            <a:r>
              <a:rPr lang="zh-TW" altLang="en-US" sz="2400" i="1"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a:t>
            </a:r>
            <a:r>
              <a:rPr lang="zh-TW" altLang="en-US" sz="2400" i="1" baseline="30000"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 </a:t>
            </a:r>
            <a:r>
              <a:rPr lang="en-US" altLang="zh-TW" sz="2400" i="1" baseline="30000"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6</a:t>
            </a:r>
            <a:r>
              <a:rPr lang="zh-TW" altLang="en-US" sz="2400" i="1"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a:t>
            </a:r>
            <a:r>
              <a:rPr lang="en-US" altLang="zh-TW" sz="2400" i="1" baseline="30000"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8</a:t>
            </a:r>
            <a:r>
              <a:rPr lang="zh-TW" altLang="en-US" sz="2400" i="1" dirty="0">
                <a:latin typeface="Times New Roman" panose="02020603050405020304" pitchFamily="18" charset="0"/>
                <a:cs typeface="Times New Roman" panose="02020603050405020304" pitchFamily="18" charset="0"/>
                <a:sym typeface="Symbol" panose="05050102010706020507" pitchFamily="18" charset="2"/>
              </a:rPr>
              <a:t> </a:t>
            </a:r>
            <a:r>
              <a:rPr lang="zh-TW" altLang="en-US" sz="2400" i="1"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a:t>
            </a:r>
            <a:r>
              <a:rPr lang="en-US" altLang="zh-TW" sz="2400" i="1" baseline="30000"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8</a:t>
            </a:r>
            <a:r>
              <a:rPr lang="zh-TW" altLang="en-US" sz="2400" i="1"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a:t>
            </a:r>
            <a:r>
              <a:rPr lang="zh-TW" altLang="en-US" sz="2400" i="1" baseline="30000"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 </a:t>
            </a:r>
            <a:r>
              <a:rPr lang="en-US" altLang="zh-TW" sz="2400" i="1" baseline="30000"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2</a:t>
            </a:r>
            <a:r>
              <a:rPr lang="zh-TW" altLang="en-US" sz="2400" i="1"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a:t>
            </a:r>
            <a:r>
              <a:rPr lang="zh-TW" altLang="en-US" sz="2400" i="1" baseline="30000"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 </a:t>
            </a:r>
            <a:r>
              <a:rPr lang="en-US" altLang="zh-TW" sz="2400" i="1" baseline="30000"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5</a:t>
            </a:r>
            <a:r>
              <a:rPr lang="zh-TW" altLang="en-US" sz="2400" i="1"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a:t>
            </a:r>
            <a:r>
              <a:rPr lang="en-US" altLang="zh-TW" sz="2400" i="1" baseline="30000"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8</a:t>
            </a:r>
            <a:r>
              <a:rPr lang="en-US" altLang="zh-TW" sz="2400" i="1" dirty="0">
                <a:latin typeface="Times New Roman" panose="02020603050405020304" pitchFamily="18" charset="0"/>
                <a:cs typeface="Times New Roman" panose="02020603050405020304" pitchFamily="18" charset="0"/>
                <a:sym typeface="Symbol" panose="05050102010706020507" pitchFamily="18" charset="2"/>
              </a:rPr>
              <a:t> </a:t>
            </a:r>
            <a:r>
              <a:rPr lang="zh-TW" altLang="en-US" sz="2400" i="1"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a:t>
            </a:r>
            <a:r>
              <a:rPr lang="en-US" altLang="zh-TW" sz="2400" i="1" baseline="30000"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8</a:t>
            </a:r>
            <a:r>
              <a:rPr lang="zh-TW" altLang="en-US" sz="2400" i="1"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a:t>
            </a:r>
            <a:r>
              <a:rPr lang="zh-TW" altLang="en-US" sz="2400" i="1" baseline="30000"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 </a:t>
            </a:r>
            <a:r>
              <a:rPr lang="en-US" altLang="zh-TW" sz="2400" i="1" baseline="30000"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3</a:t>
            </a:r>
            <a:r>
              <a:rPr lang="zh-TW" altLang="en-US" sz="2400" i="1"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a:t>
            </a:r>
            <a:r>
              <a:rPr lang="zh-TW" altLang="en-US" sz="2400" i="1" baseline="30000"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 </a:t>
            </a:r>
            <a:r>
              <a:rPr lang="en-US" altLang="zh-TW" sz="2400" i="1" baseline="30000"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4</a:t>
            </a:r>
            <a:r>
              <a:rPr lang="zh-TW" altLang="en-US" sz="2400" i="1"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a:t>
            </a:r>
            <a:r>
              <a:rPr lang="en-US" altLang="zh-TW" sz="2400" i="1" baseline="30000"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8</a:t>
            </a:r>
            <a:r>
              <a:rPr lang="zh-TW" altLang="en-US" sz="2400" i="1" dirty="0">
                <a:latin typeface="Times New Roman" panose="02020603050405020304" pitchFamily="18" charset="0"/>
                <a:cs typeface="Times New Roman" panose="02020603050405020304" pitchFamily="18" charset="0"/>
                <a:sym typeface="Symbol" panose="05050102010706020507" pitchFamily="18" charset="2"/>
              </a:rPr>
              <a:t> </a:t>
            </a: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a:t>
            </a:r>
            <a:r>
              <a:rPr lang="en-US" altLang="zh-TW" sz="2400" baseline="30000" dirty="0">
                <a:latin typeface="Times New Roman" panose="02020603050405020304" pitchFamily="18" charset="0"/>
                <a:cs typeface="Times New Roman" panose="02020603050405020304" pitchFamily="18" charset="0"/>
                <a:sym typeface="Symbol" panose="05050102010706020507" pitchFamily="18" charset="2"/>
              </a:rPr>
              <a:t>10</a:t>
            </a:r>
            <a:endParaRPr lang="en-US" altLang="zh-TW" sz="2400" baseline="30000" dirty="0">
              <a:latin typeface="Times New Roman" panose="02020603050405020304" pitchFamily="18" charset="0"/>
              <a:cs typeface="Times New Roman" panose="02020603050405020304" pitchFamily="18" charset="0"/>
            </a:endParaRPr>
          </a:p>
        </p:txBody>
      </p:sp>
      <p:sp>
        <p:nvSpPr>
          <p:cNvPr id="54" name="內容版面配置區 2">
            <a:extLst>
              <a:ext uri="{FF2B5EF4-FFF2-40B4-BE49-F238E27FC236}">
                <a16:creationId xmlns:a16="http://schemas.microsoft.com/office/drawing/2014/main" id="{6068B3B7-B6A1-471B-97A5-91FB6E8DA381}"/>
              </a:ext>
            </a:extLst>
          </p:cNvPr>
          <p:cNvSpPr txBox="1">
            <a:spLocks/>
          </p:cNvSpPr>
          <p:nvPr/>
        </p:nvSpPr>
        <p:spPr>
          <a:xfrm>
            <a:off x="8583592" y="3364370"/>
            <a:ext cx="1614677" cy="53599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dirty="0">
                <a:latin typeface="Times New Roman" panose="02020603050405020304" pitchFamily="18" charset="0"/>
                <a:cs typeface="Times New Roman" panose="02020603050405020304" pitchFamily="18" charset="0"/>
              </a:rPr>
              <a:t>G(</a:t>
            </a:r>
            <a:r>
              <a:rPr lang="en-US" altLang="zh-TW" i="1" dirty="0">
                <a:latin typeface="Times New Roman" panose="02020603050405020304" pitchFamily="18" charset="0"/>
                <a:cs typeface="Times New Roman" panose="02020603050405020304" pitchFamily="18" charset="0"/>
              </a:rPr>
              <a:t>V</a:t>
            </a:r>
            <a:r>
              <a:rPr lang="en-US" altLang="zh-TW" dirty="0">
                <a:latin typeface="Times New Roman" panose="02020603050405020304" pitchFamily="18" charset="0"/>
                <a:cs typeface="Times New Roman" panose="02020603050405020304" pitchFamily="18" charset="0"/>
              </a:rPr>
              <a:t>,</a:t>
            </a:r>
            <a:r>
              <a:rPr lang="en-US" altLang="zh-TW" i="1" dirty="0">
                <a:latin typeface="Times New Roman" panose="02020603050405020304" pitchFamily="18" charset="0"/>
                <a:cs typeface="Times New Roman" panose="02020603050405020304" pitchFamily="18" charset="0"/>
              </a:rPr>
              <a:t>E</a:t>
            </a:r>
            <a:r>
              <a:rPr lang="en-US" altLang="zh-TW" dirty="0">
                <a:latin typeface="Times New Roman" panose="02020603050405020304" pitchFamily="18" charset="0"/>
                <a:cs typeface="Times New Roman" panose="02020603050405020304" pitchFamily="18" charset="0"/>
              </a:rPr>
              <a:t>,</a:t>
            </a:r>
            <a:r>
              <a:rPr lang="en-US" altLang="zh-TW" i="1" dirty="0">
                <a:latin typeface="Times New Roman" panose="02020603050405020304" pitchFamily="18" charset="0"/>
                <a:cs typeface="Times New Roman" panose="02020603050405020304" pitchFamily="18" charset="0"/>
                <a:sym typeface="Symbol" panose="05050102010706020507" pitchFamily="18" charset="2"/>
              </a:rPr>
              <a:t></a:t>
            </a:r>
            <a:r>
              <a:rPr lang="en-US" altLang="zh-TW" dirty="0">
                <a:latin typeface="Times New Roman" panose="02020603050405020304" pitchFamily="18" charset="0"/>
                <a:cs typeface="Times New Roman" panose="02020603050405020304" pitchFamily="18" charset="0"/>
              </a:rPr>
              <a:t>)</a:t>
            </a:r>
            <a:endParaRPr lang="en-US" altLang="zh-TW" baseline="30000" dirty="0">
              <a:latin typeface="Times New Roman" panose="02020603050405020304" pitchFamily="18" charset="0"/>
              <a:cs typeface="Times New Roman" panose="02020603050405020304" pitchFamily="18" charset="0"/>
            </a:endParaRPr>
          </a:p>
        </p:txBody>
      </p:sp>
      <p:grpSp>
        <p:nvGrpSpPr>
          <p:cNvPr id="55" name="群組 54">
            <a:extLst>
              <a:ext uri="{FF2B5EF4-FFF2-40B4-BE49-F238E27FC236}">
                <a16:creationId xmlns:a16="http://schemas.microsoft.com/office/drawing/2014/main" id="{14C1A142-50D9-4E61-A588-941F8BD74C14}"/>
              </a:ext>
            </a:extLst>
          </p:cNvPr>
          <p:cNvGrpSpPr/>
          <p:nvPr/>
        </p:nvGrpSpPr>
        <p:grpSpPr>
          <a:xfrm>
            <a:off x="345387" y="3361759"/>
            <a:ext cx="3999600" cy="2396894"/>
            <a:chOff x="7020234" y="3995134"/>
            <a:chExt cx="3740130" cy="2396894"/>
          </a:xfrm>
        </p:grpSpPr>
        <p:grpSp>
          <p:nvGrpSpPr>
            <p:cNvPr id="57" name="群組 56">
              <a:extLst>
                <a:ext uri="{FF2B5EF4-FFF2-40B4-BE49-F238E27FC236}">
                  <a16:creationId xmlns:a16="http://schemas.microsoft.com/office/drawing/2014/main" id="{BE60F516-4D4B-4243-B6DD-AE18132FC753}"/>
                </a:ext>
              </a:extLst>
            </p:cNvPr>
            <p:cNvGrpSpPr/>
            <p:nvPr/>
          </p:nvGrpSpPr>
          <p:grpSpPr>
            <a:xfrm>
              <a:off x="7020234" y="4405761"/>
              <a:ext cx="3740130" cy="1986267"/>
              <a:chOff x="1219200" y="3202204"/>
              <a:chExt cx="1712351" cy="1563579"/>
            </a:xfrm>
          </p:grpSpPr>
          <p:sp>
            <p:nvSpPr>
              <p:cNvPr id="75" name="橢圓 74">
                <a:extLst>
                  <a:ext uri="{FF2B5EF4-FFF2-40B4-BE49-F238E27FC236}">
                    <a16:creationId xmlns:a16="http://schemas.microsoft.com/office/drawing/2014/main" id="{186762F1-B582-464A-904A-9F6924148861}"/>
                  </a:ext>
                </a:extLst>
              </p:cNvPr>
              <p:cNvSpPr/>
              <p:nvPr/>
            </p:nvSpPr>
            <p:spPr>
              <a:xfrm>
                <a:off x="1219200" y="3202204"/>
                <a:ext cx="540000" cy="540000"/>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lang="zh-TW" altLang="en-US" i="1" dirty="0">
                    <a:latin typeface="Times New Roman" panose="02020603050405020304" pitchFamily="18" charset="0"/>
                    <a:cs typeface="Times New Roman" panose="02020603050405020304" pitchFamily="18" charset="0"/>
                    <a:sym typeface="Symbol" panose="05050102010706020507" pitchFamily="18" charset="2"/>
                  </a:rPr>
                  <a:t></a:t>
                </a:r>
                <a:r>
                  <a:rPr lang="en-US" altLang="zh-TW" i="1" baseline="30000" dirty="0">
                    <a:latin typeface="Times New Roman" panose="02020603050405020304" pitchFamily="18" charset="0"/>
                    <a:cs typeface="Times New Roman" panose="02020603050405020304" pitchFamily="18" charset="0"/>
                    <a:sym typeface="Symbol" panose="05050102010706020507" pitchFamily="18" charset="2"/>
                  </a:rPr>
                  <a:t>8</a:t>
                </a:r>
                <a:r>
                  <a:rPr lang="zh-TW" altLang="en-US" sz="1800" i="1" dirty="0">
                    <a:latin typeface="Times New Roman" panose="02020603050405020304" pitchFamily="18" charset="0"/>
                    <a:cs typeface="Times New Roman" panose="02020603050405020304" pitchFamily="18" charset="0"/>
                    <a:sym typeface="Symbol" panose="05050102010706020507" pitchFamily="18" charset="2"/>
                  </a:rPr>
                  <a:t> </a:t>
                </a:r>
                <a:r>
                  <a:rPr lang="en-US" altLang="zh-TW" sz="1800" i="1" baseline="30000" dirty="0">
                    <a:latin typeface="Times New Roman" panose="02020603050405020304" pitchFamily="18" charset="0"/>
                    <a:cs typeface="Times New Roman" panose="02020603050405020304" pitchFamily="18" charset="0"/>
                    <a:sym typeface="Symbol" panose="05050102010706020507" pitchFamily="18" charset="2"/>
                  </a:rPr>
                  <a:t>8</a:t>
                </a:r>
                <a:r>
                  <a:rPr lang="zh-TW" altLang="en-US" i="1" dirty="0">
                    <a:latin typeface="Times New Roman" panose="02020603050405020304" pitchFamily="18" charset="0"/>
                    <a:cs typeface="Times New Roman" panose="02020603050405020304" pitchFamily="18" charset="0"/>
                    <a:sym typeface="Symbol" panose="05050102010706020507" pitchFamily="18" charset="2"/>
                  </a:rPr>
                  <a:t></a:t>
                </a:r>
                <a:r>
                  <a:rPr lang="en-US" altLang="zh-TW" i="1" baseline="30000" dirty="0">
                    <a:latin typeface="Times New Roman" panose="02020603050405020304" pitchFamily="18" charset="0"/>
                    <a:cs typeface="Times New Roman" panose="02020603050405020304" pitchFamily="18" charset="0"/>
                    <a:sym typeface="Symbol" panose="05050102010706020507" pitchFamily="18" charset="2"/>
                  </a:rPr>
                  <a:t>8</a:t>
                </a:r>
                <a:endParaRPr lang="zh-TW" altLang="en-US" i="1" baseline="30000" dirty="0">
                  <a:latin typeface="Times New Roman" panose="02020603050405020304" pitchFamily="18" charset="0"/>
                  <a:cs typeface="Times New Roman" panose="02020603050405020304" pitchFamily="18" charset="0"/>
                </a:endParaRPr>
              </a:p>
            </p:txBody>
          </p:sp>
          <p:sp>
            <p:nvSpPr>
              <p:cNvPr id="76" name="橢圓 75">
                <a:extLst>
                  <a:ext uri="{FF2B5EF4-FFF2-40B4-BE49-F238E27FC236}">
                    <a16:creationId xmlns:a16="http://schemas.microsoft.com/office/drawing/2014/main" id="{38CC28A4-C0CC-4E0A-9118-DCFBAC707999}"/>
                  </a:ext>
                </a:extLst>
              </p:cNvPr>
              <p:cNvSpPr/>
              <p:nvPr/>
            </p:nvSpPr>
            <p:spPr>
              <a:xfrm>
                <a:off x="1219200" y="4225783"/>
                <a:ext cx="540000" cy="540000"/>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lang="zh-TW" altLang="en-US" i="1" dirty="0">
                    <a:latin typeface="Times New Roman" panose="02020603050405020304" pitchFamily="18" charset="0"/>
                    <a:cs typeface="Times New Roman" panose="02020603050405020304" pitchFamily="18" charset="0"/>
                    <a:sym typeface="Symbol" panose="05050102010706020507" pitchFamily="18" charset="2"/>
                  </a:rPr>
                  <a:t></a:t>
                </a:r>
                <a:r>
                  <a:rPr lang="en-US" altLang="zh-TW" i="1" baseline="30000" dirty="0">
                    <a:latin typeface="Times New Roman" panose="02020603050405020304" pitchFamily="18" charset="0"/>
                    <a:cs typeface="Times New Roman" panose="02020603050405020304" pitchFamily="18" charset="0"/>
                    <a:sym typeface="Symbol" panose="05050102010706020507" pitchFamily="18" charset="2"/>
                  </a:rPr>
                  <a:t>8</a:t>
                </a:r>
                <a:r>
                  <a:rPr lang="zh-TW" altLang="en-US" sz="1800" i="1" dirty="0">
                    <a:latin typeface="Times New Roman" panose="02020603050405020304" pitchFamily="18" charset="0"/>
                    <a:cs typeface="Times New Roman" panose="02020603050405020304" pitchFamily="18" charset="0"/>
                    <a:sym typeface="Symbol" panose="05050102010706020507" pitchFamily="18" charset="2"/>
                  </a:rPr>
                  <a:t> </a:t>
                </a:r>
                <a:r>
                  <a:rPr lang="en-US" altLang="zh-TW" sz="1800" i="1" baseline="30000" dirty="0">
                    <a:latin typeface="Times New Roman" panose="02020603050405020304" pitchFamily="18" charset="0"/>
                    <a:cs typeface="Times New Roman" panose="02020603050405020304" pitchFamily="18" charset="0"/>
                    <a:sym typeface="Symbol" panose="05050102010706020507" pitchFamily="18" charset="2"/>
                  </a:rPr>
                  <a:t>8</a:t>
                </a:r>
                <a:r>
                  <a:rPr lang="zh-TW" altLang="en-US" i="1" dirty="0">
                    <a:latin typeface="Times New Roman" panose="02020603050405020304" pitchFamily="18" charset="0"/>
                    <a:cs typeface="Times New Roman" panose="02020603050405020304" pitchFamily="18" charset="0"/>
                    <a:sym typeface="Symbol" panose="05050102010706020507" pitchFamily="18" charset="2"/>
                  </a:rPr>
                  <a:t></a:t>
                </a:r>
                <a:r>
                  <a:rPr lang="en-US" altLang="zh-TW" i="1" baseline="30000" dirty="0">
                    <a:latin typeface="Times New Roman" panose="02020603050405020304" pitchFamily="18" charset="0"/>
                    <a:cs typeface="Times New Roman" panose="02020603050405020304" pitchFamily="18" charset="0"/>
                    <a:sym typeface="Symbol" panose="05050102010706020507" pitchFamily="18" charset="2"/>
                  </a:rPr>
                  <a:t>8</a:t>
                </a:r>
                <a:endParaRPr lang="zh-TW" altLang="en-US" i="1" baseline="30000" dirty="0">
                  <a:latin typeface="Times New Roman" panose="02020603050405020304" pitchFamily="18" charset="0"/>
                  <a:cs typeface="Times New Roman" panose="02020603050405020304" pitchFamily="18" charset="0"/>
                </a:endParaRPr>
              </a:p>
            </p:txBody>
          </p:sp>
          <p:sp>
            <p:nvSpPr>
              <p:cNvPr id="77" name="橢圓 76">
                <a:extLst>
                  <a:ext uri="{FF2B5EF4-FFF2-40B4-BE49-F238E27FC236}">
                    <a16:creationId xmlns:a16="http://schemas.microsoft.com/office/drawing/2014/main" id="{D5955786-1D7E-4E60-8989-8645131AE4D4}"/>
                  </a:ext>
                </a:extLst>
              </p:cNvPr>
              <p:cNvSpPr/>
              <p:nvPr/>
            </p:nvSpPr>
            <p:spPr>
              <a:xfrm>
                <a:off x="2391551" y="3202204"/>
                <a:ext cx="540000" cy="540000"/>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lang="zh-TW" altLang="en-US" i="1" dirty="0">
                    <a:latin typeface="Times New Roman" panose="02020603050405020304" pitchFamily="18" charset="0"/>
                    <a:cs typeface="Times New Roman" panose="02020603050405020304" pitchFamily="18" charset="0"/>
                    <a:sym typeface="Symbol" panose="05050102010706020507" pitchFamily="18" charset="2"/>
                  </a:rPr>
                  <a:t></a:t>
                </a:r>
                <a:r>
                  <a:rPr lang="en-US" altLang="zh-TW" i="1" baseline="30000" dirty="0">
                    <a:latin typeface="Times New Roman" panose="02020603050405020304" pitchFamily="18" charset="0"/>
                    <a:cs typeface="Times New Roman" panose="02020603050405020304" pitchFamily="18" charset="0"/>
                    <a:sym typeface="Symbol" panose="05050102010706020507" pitchFamily="18" charset="2"/>
                  </a:rPr>
                  <a:t>8</a:t>
                </a:r>
                <a:r>
                  <a:rPr lang="zh-TW" altLang="en-US" sz="1800" i="1" dirty="0">
                    <a:latin typeface="Times New Roman" panose="02020603050405020304" pitchFamily="18" charset="0"/>
                    <a:cs typeface="Times New Roman" panose="02020603050405020304" pitchFamily="18" charset="0"/>
                    <a:sym typeface="Symbol" panose="05050102010706020507" pitchFamily="18" charset="2"/>
                  </a:rPr>
                  <a:t> </a:t>
                </a:r>
                <a:r>
                  <a:rPr lang="en-US" altLang="zh-TW" sz="1800" i="1" baseline="30000" dirty="0">
                    <a:latin typeface="Times New Roman" panose="02020603050405020304" pitchFamily="18" charset="0"/>
                    <a:cs typeface="Times New Roman" panose="02020603050405020304" pitchFamily="18" charset="0"/>
                    <a:sym typeface="Symbol" panose="05050102010706020507" pitchFamily="18" charset="2"/>
                  </a:rPr>
                  <a:t>8</a:t>
                </a:r>
                <a:r>
                  <a:rPr lang="zh-TW" altLang="en-US" i="1" dirty="0">
                    <a:latin typeface="Times New Roman" panose="02020603050405020304" pitchFamily="18" charset="0"/>
                    <a:cs typeface="Times New Roman" panose="02020603050405020304" pitchFamily="18" charset="0"/>
                    <a:sym typeface="Symbol" panose="05050102010706020507" pitchFamily="18" charset="2"/>
                  </a:rPr>
                  <a:t></a:t>
                </a:r>
                <a:r>
                  <a:rPr lang="en-US" altLang="zh-TW" i="1" baseline="30000" dirty="0">
                    <a:latin typeface="Times New Roman" panose="02020603050405020304" pitchFamily="18" charset="0"/>
                    <a:cs typeface="Times New Roman" panose="02020603050405020304" pitchFamily="18" charset="0"/>
                    <a:sym typeface="Symbol" panose="05050102010706020507" pitchFamily="18" charset="2"/>
                  </a:rPr>
                  <a:t>8</a:t>
                </a:r>
                <a:endParaRPr lang="zh-TW" altLang="en-US" i="1" baseline="30000" dirty="0">
                  <a:latin typeface="Times New Roman" panose="02020603050405020304" pitchFamily="18" charset="0"/>
                  <a:cs typeface="Times New Roman" panose="02020603050405020304" pitchFamily="18" charset="0"/>
                </a:endParaRPr>
              </a:p>
            </p:txBody>
          </p:sp>
          <p:sp>
            <p:nvSpPr>
              <p:cNvPr id="78" name="橢圓 77">
                <a:extLst>
                  <a:ext uri="{FF2B5EF4-FFF2-40B4-BE49-F238E27FC236}">
                    <a16:creationId xmlns:a16="http://schemas.microsoft.com/office/drawing/2014/main" id="{BEDF6962-EC51-43A8-A72E-665A8F595109}"/>
                  </a:ext>
                </a:extLst>
              </p:cNvPr>
              <p:cNvSpPr/>
              <p:nvPr/>
            </p:nvSpPr>
            <p:spPr>
              <a:xfrm>
                <a:off x="2391551" y="4225783"/>
                <a:ext cx="540000" cy="540000"/>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lang="zh-TW" altLang="en-US" i="1" dirty="0">
                    <a:latin typeface="Times New Roman" panose="02020603050405020304" pitchFamily="18" charset="0"/>
                    <a:cs typeface="Times New Roman" panose="02020603050405020304" pitchFamily="18" charset="0"/>
                    <a:sym typeface="Symbol" panose="05050102010706020507" pitchFamily="18" charset="2"/>
                  </a:rPr>
                  <a:t></a:t>
                </a:r>
                <a:r>
                  <a:rPr lang="en-US" altLang="zh-TW" i="1" baseline="30000" dirty="0">
                    <a:latin typeface="Times New Roman" panose="02020603050405020304" pitchFamily="18" charset="0"/>
                    <a:cs typeface="Times New Roman" panose="02020603050405020304" pitchFamily="18" charset="0"/>
                    <a:sym typeface="Symbol" panose="05050102010706020507" pitchFamily="18" charset="2"/>
                  </a:rPr>
                  <a:t>8</a:t>
                </a:r>
                <a:r>
                  <a:rPr lang="zh-TW" altLang="en-US" sz="1800" i="1" dirty="0">
                    <a:latin typeface="Times New Roman" panose="02020603050405020304" pitchFamily="18" charset="0"/>
                    <a:cs typeface="Times New Roman" panose="02020603050405020304" pitchFamily="18" charset="0"/>
                    <a:sym typeface="Symbol" panose="05050102010706020507" pitchFamily="18" charset="2"/>
                  </a:rPr>
                  <a:t> </a:t>
                </a:r>
                <a:r>
                  <a:rPr lang="en-US" altLang="zh-TW" sz="1800" i="1" baseline="30000" dirty="0">
                    <a:latin typeface="Times New Roman" panose="02020603050405020304" pitchFamily="18" charset="0"/>
                    <a:cs typeface="Times New Roman" panose="02020603050405020304" pitchFamily="18" charset="0"/>
                    <a:sym typeface="Symbol" panose="05050102010706020507" pitchFamily="18" charset="2"/>
                  </a:rPr>
                  <a:t>8</a:t>
                </a:r>
                <a:r>
                  <a:rPr lang="zh-TW" altLang="en-US" i="1" dirty="0">
                    <a:latin typeface="Times New Roman" panose="02020603050405020304" pitchFamily="18" charset="0"/>
                    <a:cs typeface="Times New Roman" panose="02020603050405020304" pitchFamily="18" charset="0"/>
                    <a:sym typeface="Symbol" panose="05050102010706020507" pitchFamily="18" charset="2"/>
                  </a:rPr>
                  <a:t></a:t>
                </a:r>
                <a:r>
                  <a:rPr lang="en-US" altLang="zh-TW" i="1" baseline="30000" dirty="0">
                    <a:latin typeface="Times New Roman" panose="02020603050405020304" pitchFamily="18" charset="0"/>
                    <a:cs typeface="Times New Roman" panose="02020603050405020304" pitchFamily="18" charset="0"/>
                    <a:sym typeface="Symbol" panose="05050102010706020507" pitchFamily="18" charset="2"/>
                  </a:rPr>
                  <a:t>8</a:t>
                </a:r>
                <a:endParaRPr lang="zh-TW" altLang="en-US" i="1" baseline="30000" dirty="0">
                  <a:latin typeface="Times New Roman" panose="02020603050405020304" pitchFamily="18" charset="0"/>
                  <a:cs typeface="Times New Roman" panose="02020603050405020304" pitchFamily="18" charset="0"/>
                </a:endParaRPr>
              </a:p>
            </p:txBody>
          </p:sp>
          <p:cxnSp>
            <p:nvCxnSpPr>
              <p:cNvPr id="79" name="直線單箭頭接點 78">
                <a:extLst>
                  <a:ext uri="{FF2B5EF4-FFF2-40B4-BE49-F238E27FC236}">
                    <a16:creationId xmlns:a16="http://schemas.microsoft.com/office/drawing/2014/main" id="{412F3985-533C-44D3-BE52-BE59C9A98E25}"/>
                  </a:ext>
                </a:extLst>
              </p:cNvPr>
              <p:cNvCxnSpPr>
                <a:cxnSpLocks/>
                <a:stCxn id="75" idx="6"/>
                <a:endCxn id="77" idx="2"/>
              </p:cNvCxnSpPr>
              <p:nvPr/>
            </p:nvCxnSpPr>
            <p:spPr>
              <a:xfrm>
                <a:off x="1759200" y="3472204"/>
                <a:ext cx="632351"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直線單箭頭接點 79">
                <a:extLst>
                  <a:ext uri="{FF2B5EF4-FFF2-40B4-BE49-F238E27FC236}">
                    <a16:creationId xmlns:a16="http://schemas.microsoft.com/office/drawing/2014/main" id="{589E340C-1092-48D0-A351-336893529BDE}"/>
                  </a:ext>
                </a:extLst>
              </p:cNvPr>
              <p:cNvCxnSpPr>
                <a:cxnSpLocks/>
                <a:stCxn id="77" idx="4"/>
                <a:endCxn id="78" idx="0"/>
              </p:cNvCxnSpPr>
              <p:nvPr/>
            </p:nvCxnSpPr>
            <p:spPr>
              <a:xfrm>
                <a:off x="2661551" y="3742204"/>
                <a:ext cx="0" cy="48357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直線單箭頭接點 80">
                <a:extLst>
                  <a:ext uri="{FF2B5EF4-FFF2-40B4-BE49-F238E27FC236}">
                    <a16:creationId xmlns:a16="http://schemas.microsoft.com/office/drawing/2014/main" id="{38CBEFB3-C4D8-4D42-ACC5-4622C2C9C0BE}"/>
                  </a:ext>
                </a:extLst>
              </p:cNvPr>
              <p:cNvCxnSpPr>
                <a:cxnSpLocks/>
                <a:stCxn id="78" idx="2"/>
                <a:endCxn id="76" idx="6"/>
              </p:cNvCxnSpPr>
              <p:nvPr/>
            </p:nvCxnSpPr>
            <p:spPr>
              <a:xfrm flipH="1">
                <a:off x="1759200" y="4495783"/>
                <a:ext cx="632351"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74" name="內容版面配置區 2">
              <a:extLst>
                <a:ext uri="{FF2B5EF4-FFF2-40B4-BE49-F238E27FC236}">
                  <a16:creationId xmlns:a16="http://schemas.microsoft.com/office/drawing/2014/main" id="{6ACBB58B-C7A6-4F51-B62D-0E7361A34708}"/>
                </a:ext>
              </a:extLst>
            </p:cNvPr>
            <p:cNvSpPr txBox="1">
              <a:spLocks/>
            </p:cNvSpPr>
            <p:nvPr/>
          </p:nvSpPr>
          <p:spPr>
            <a:xfrm>
              <a:off x="8082961" y="3995134"/>
              <a:ext cx="1614677" cy="53599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dirty="0">
                  <a:latin typeface="Times New Roman" panose="02020603050405020304" pitchFamily="18" charset="0"/>
                  <a:cs typeface="Times New Roman" panose="02020603050405020304" pitchFamily="18" charset="0"/>
                </a:rPr>
                <a:t>G(</a:t>
              </a:r>
              <a:r>
                <a:rPr lang="en-US" altLang="zh-TW" i="1" dirty="0">
                  <a:latin typeface="Times New Roman" panose="02020603050405020304" pitchFamily="18" charset="0"/>
                  <a:cs typeface="Times New Roman" panose="02020603050405020304" pitchFamily="18" charset="0"/>
                </a:rPr>
                <a:t>V</a:t>
              </a:r>
              <a:r>
                <a:rPr lang="en-US" altLang="zh-TW" dirty="0">
                  <a:latin typeface="Times New Roman" panose="02020603050405020304" pitchFamily="18" charset="0"/>
                  <a:cs typeface="Times New Roman" panose="02020603050405020304" pitchFamily="18" charset="0"/>
                </a:rPr>
                <a:t>,</a:t>
              </a:r>
              <a:r>
                <a:rPr lang="en-US" altLang="zh-TW" i="1" dirty="0">
                  <a:latin typeface="Times New Roman" panose="02020603050405020304" pitchFamily="18" charset="0"/>
                  <a:cs typeface="Times New Roman" panose="02020603050405020304" pitchFamily="18" charset="0"/>
                </a:rPr>
                <a:t>E</a:t>
              </a:r>
              <a:r>
                <a:rPr lang="en-US" altLang="zh-TW" dirty="0">
                  <a:latin typeface="Times New Roman" panose="02020603050405020304" pitchFamily="18" charset="0"/>
                  <a:cs typeface="Times New Roman" panose="02020603050405020304" pitchFamily="18" charset="0"/>
                </a:rPr>
                <a:t>,</a:t>
              </a:r>
              <a:r>
                <a:rPr lang="en-US" altLang="zh-TW" i="1" dirty="0">
                  <a:latin typeface="Times New Roman" panose="02020603050405020304" pitchFamily="18" charset="0"/>
                  <a:cs typeface="Times New Roman" panose="02020603050405020304" pitchFamily="18" charset="0"/>
                  <a:sym typeface="Symbol" panose="05050102010706020507" pitchFamily="18" charset="2"/>
                </a:rPr>
                <a:t></a:t>
              </a:r>
              <a:r>
                <a:rPr lang="en-US" altLang="zh-TW" dirty="0">
                  <a:latin typeface="Times New Roman" panose="02020603050405020304" pitchFamily="18" charset="0"/>
                  <a:cs typeface="Times New Roman" panose="02020603050405020304" pitchFamily="18" charset="0"/>
                </a:rPr>
                <a:t>)</a:t>
              </a:r>
              <a:endParaRPr lang="en-US" altLang="zh-TW" baseline="30000" dirty="0">
                <a:latin typeface="Times New Roman" panose="02020603050405020304" pitchFamily="18" charset="0"/>
                <a:cs typeface="Times New Roman" panose="02020603050405020304" pitchFamily="18" charset="0"/>
              </a:endParaRPr>
            </a:p>
          </p:txBody>
        </p:sp>
      </p:grpSp>
      <p:cxnSp>
        <p:nvCxnSpPr>
          <p:cNvPr id="30" name="直線單箭頭接點 29">
            <a:extLst>
              <a:ext uri="{FF2B5EF4-FFF2-40B4-BE49-F238E27FC236}">
                <a16:creationId xmlns:a16="http://schemas.microsoft.com/office/drawing/2014/main" id="{112BBBDF-A8E9-4F3B-9F34-0F2A295A3C54}"/>
              </a:ext>
            </a:extLst>
          </p:cNvPr>
          <p:cNvCxnSpPr>
            <a:cxnSpLocks/>
          </p:cNvCxnSpPr>
          <p:nvPr/>
        </p:nvCxnSpPr>
        <p:spPr>
          <a:xfrm>
            <a:off x="743867" y="4497141"/>
            <a:ext cx="0" cy="57553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線單箭頭接點 30">
            <a:extLst>
              <a:ext uri="{FF2B5EF4-FFF2-40B4-BE49-F238E27FC236}">
                <a16:creationId xmlns:a16="http://schemas.microsoft.com/office/drawing/2014/main" id="{A4DF5FF0-5E92-45D9-9881-034E818B9C47}"/>
              </a:ext>
            </a:extLst>
          </p:cNvPr>
          <p:cNvCxnSpPr>
            <a:cxnSpLocks/>
          </p:cNvCxnSpPr>
          <p:nvPr/>
        </p:nvCxnSpPr>
        <p:spPr>
          <a:xfrm flipV="1">
            <a:off x="1064218" y="4497141"/>
            <a:ext cx="0" cy="57553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線單箭頭接點 41">
            <a:extLst>
              <a:ext uri="{FF2B5EF4-FFF2-40B4-BE49-F238E27FC236}">
                <a16:creationId xmlns:a16="http://schemas.microsoft.com/office/drawing/2014/main" id="{CB3FB956-AD10-4FBF-9CB2-342C61129E15}"/>
              </a:ext>
            </a:extLst>
          </p:cNvPr>
          <p:cNvCxnSpPr>
            <a:cxnSpLocks/>
          </p:cNvCxnSpPr>
          <p:nvPr/>
        </p:nvCxnSpPr>
        <p:spPr>
          <a:xfrm>
            <a:off x="7393112" y="4785125"/>
            <a:ext cx="0" cy="89161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線單箭頭接點 42">
            <a:extLst>
              <a:ext uri="{FF2B5EF4-FFF2-40B4-BE49-F238E27FC236}">
                <a16:creationId xmlns:a16="http://schemas.microsoft.com/office/drawing/2014/main" id="{FC452AD5-58B8-4C8E-8836-5EC98BE821A0}"/>
              </a:ext>
            </a:extLst>
          </p:cNvPr>
          <p:cNvCxnSpPr>
            <a:cxnSpLocks/>
          </p:cNvCxnSpPr>
          <p:nvPr/>
        </p:nvCxnSpPr>
        <p:spPr>
          <a:xfrm flipV="1">
            <a:off x="7713463" y="4785126"/>
            <a:ext cx="0" cy="89161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94569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B66326-0258-4924-B0B5-05633F8B6DD4}"/>
              </a:ext>
            </a:extLst>
          </p:cNvPr>
          <p:cNvSpPr>
            <a:spLocks noGrp="1"/>
          </p:cNvSpPr>
          <p:nvPr>
            <p:ph type="title"/>
          </p:nvPr>
        </p:nvSpPr>
        <p:spPr/>
        <p:txBody>
          <a:bodyPr>
            <a:normAutofit/>
          </a:bodyPr>
          <a:lstStyle/>
          <a:p>
            <a:r>
              <a:rPr lang="en-US" altLang="zh-TW" sz="4000" dirty="0">
                <a:latin typeface="Times New Roman" panose="02020603050405020304" pitchFamily="18" charset="0"/>
                <a:cs typeface="Times New Roman" panose="02020603050405020304" pitchFamily="18" charset="0"/>
              </a:rPr>
              <a:t>Edit distance model</a:t>
            </a:r>
            <a:endParaRPr lang="zh-TW" altLang="en-US" sz="4000"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D62D5C57-92EA-4061-8DBC-ABC04F3533CB}"/>
              </a:ext>
            </a:extLst>
          </p:cNvPr>
          <p:cNvSpPr>
            <a:spLocks noGrp="1"/>
          </p:cNvSpPr>
          <p:nvPr>
            <p:ph idx="1"/>
          </p:nvPr>
        </p:nvSpPr>
        <p:spPr>
          <a:xfrm>
            <a:off x="703278" y="1594716"/>
            <a:ext cx="10515600" cy="4351338"/>
          </a:xfrm>
        </p:spPr>
        <p:txBody>
          <a:bodyPr>
            <a:normAutofit/>
          </a:bodyPr>
          <a:lstStyle/>
          <a:p>
            <a:pPr marL="0" indent="0">
              <a:buNone/>
            </a:pPr>
            <a:r>
              <a:rPr lang="en-US" altLang="zh-TW" dirty="0">
                <a:latin typeface="Times New Roman" panose="02020603050405020304" pitchFamily="18" charset="0"/>
                <a:cs typeface="Times New Roman" panose="02020603050405020304" pitchFamily="18" charset="0"/>
              </a:rPr>
              <a:t>directed Hamiltonian cycle </a:t>
            </a:r>
            <a:r>
              <a:rPr lang="en-US" altLang="zh-TW" dirty="0">
                <a:latin typeface="Times New Roman" panose="02020603050405020304" pitchFamily="18" charset="0"/>
                <a:cs typeface="Times New Roman" panose="02020603050405020304" pitchFamily="18" charset="0"/>
                <a:sym typeface="Symbol" panose="05050102010706020507" pitchFamily="18" charset="2"/>
              </a:rPr>
              <a:t> sequence-to-graph alignment</a:t>
            </a:r>
            <a:br>
              <a:rPr lang="en-US" altLang="zh-TW" dirty="0">
                <a:latin typeface="Times New Roman" panose="02020603050405020304" pitchFamily="18" charset="0"/>
                <a:cs typeface="Times New Roman" panose="02020603050405020304" pitchFamily="18" charset="0"/>
                <a:sym typeface="Symbol" panose="05050102010706020507" pitchFamily="18" charset="2"/>
              </a:rPr>
            </a:br>
            <a:r>
              <a:rPr lang="en-US" altLang="zh-TW" dirty="0">
                <a:latin typeface="Times New Roman" panose="02020603050405020304" pitchFamily="18" charset="0"/>
                <a:cs typeface="Times New Roman" panose="02020603050405020304" pitchFamily="18" charset="0"/>
                <a:sym typeface="Symbol" panose="05050102010706020507" pitchFamily="18" charset="2"/>
              </a:rPr>
              <a:t>&lt;=</a:t>
            </a:r>
            <a:br>
              <a:rPr lang="en-US" altLang="zh-TW" dirty="0">
                <a:latin typeface="Times New Roman" panose="02020603050405020304" pitchFamily="18" charset="0"/>
                <a:cs typeface="Times New Roman" panose="02020603050405020304" pitchFamily="18" charset="0"/>
                <a:sym typeface="Symbol" panose="05050102010706020507" pitchFamily="18" charset="2"/>
              </a:rPr>
            </a:br>
            <a:r>
              <a:rPr lang="en-US" altLang="zh-TW" i="1" dirty="0" err="1">
                <a:latin typeface="Times New Roman" panose="02020603050405020304" pitchFamily="18" charset="0"/>
                <a:cs typeface="Times New Roman" panose="02020603050405020304" pitchFamily="18" charset="0"/>
                <a:sym typeface="Symbol" panose="05050102010706020507" pitchFamily="18" charset="2"/>
              </a:rPr>
              <a:t>q</a:t>
            </a:r>
            <a:r>
              <a:rPr lang="en-US" altLang="zh-TW" i="1" baseline="-25000" dirty="0" err="1">
                <a:latin typeface="Times New Roman" panose="02020603050405020304" pitchFamily="18" charset="0"/>
                <a:cs typeface="Times New Roman" panose="02020603050405020304" pitchFamily="18" charset="0"/>
                <a:sym typeface="Symbol" panose="05050102010706020507" pitchFamily="18" charset="2"/>
              </a:rPr>
              <a:t>sub</a:t>
            </a:r>
            <a:r>
              <a:rPr lang="zh-TW" altLang="en-US" dirty="0">
                <a:latin typeface="Times New Roman" panose="02020603050405020304" pitchFamily="18" charset="0"/>
                <a:cs typeface="Times New Roman" panose="02020603050405020304" pitchFamily="18" charset="0"/>
                <a:sym typeface="Symbol" panose="05050102010706020507" pitchFamily="18" charset="2"/>
              </a:rPr>
              <a:t>：</a:t>
            </a:r>
            <a:r>
              <a:rPr lang="en-US" altLang="zh-TW" i="1" dirty="0">
                <a:latin typeface="Times New Roman" panose="02020603050405020304" pitchFamily="18" charset="0"/>
                <a:cs typeface="Times New Roman" panose="02020603050405020304" pitchFamily="18" charset="0"/>
                <a:sym typeface="Symbol" panose="05050102010706020507" pitchFamily="18" charset="2"/>
              </a:rPr>
              <a:t>t</a:t>
            </a:r>
            <a:r>
              <a:rPr lang="en-US" altLang="zh-TW" baseline="-25000" dirty="0">
                <a:latin typeface="Times New Roman" panose="02020603050405020304" pitchFamily="18" charset="0"/>
                <a:cs typeface="Times New Roman" panose="02020603050405020304" pitchFamily="18" charset="0"/>
                <a:sym typeface="Symbol" panose="05050102010706020507" pitchFamily="18" charset="2"/>
              </a:rPr>
              <a:t>0</a:t>
            </a:r>
            <a:r>
              <a:rPr lang="en-US" altLang="zh-TW" i="1" dirty="0">
                <a:latin typeface="Times New Roman" panose="02020603050405020304" pitchFamily="18" charset="0"/>
                <a:cs typeface="Times New Roman" panose="02020603050405020304" pitchFamily="18" charset="0"/>
                <a:sym typeface="Symbol" panose="05050102010706020507" pitchFamily="18" charset="2"/>
              </a:rPr>
              <a:t>t</a:t>
            </a:r>
            <a:r>
              <a:rPr lang="en-US" altLang="zh-TW"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TW" i="1" dirty="0">
                <a:latin typeface="Times New Roman" panose="02020603050405020304" pitchFamily="18" charset="0"/>
                <a:cs typeface="Times New Roman" panose="02020603050405020304" pitchFamily="18" charset="0"/>
                <a:sym typeface="Symbol" panose="05050102010706020507" pitchFamily="18" charset="2"/>
              </a:rPr>
              <a:t>t</a:t>
            </a:r>
            <a:r>
              <a:rPr lang="en-US" altLang="zh-TW" baseline="-25000" dirty="0">
                <a:latin typeface="Times New Roman" panose="02020603050405020304" pitchFamily="18" charset="0"/>
                <a:cs typeface="Times New Roman" panose="02020603050405020304" pitchFamily="18" charset="0"/>
                <a:sym typeface="Symbol" panose="05050102010706020507" pitchFamily="18" charset="2"/>
              </a:rPr>
              <a:t>2</a:t>
            </a:r>
            <a:r>
              <a:rPr lang="en-US" altLang="zh-TW" dirty="0">
                <a:latin typeface="Times New Roman" panose="02020603050405020304" pitchFamily="18" charset="0"/>
                <a:cs typeface="Times New Roman" panose="02020603050405020304" pitchFamily="18" charset="0"/>
                <a:sym typeface="Symbol" panose="05050102010706020507" pitchFamily="18" charset="2"/>
              </a:rPr>
              <a:t>…</a:t>
            </a:r>
            <a:r>
              <a:rPr lang="en-US" altLang="zh-TW" i="1" dirty="0">
                <a:latin typeface="Times New Roman" panose="02020603050405020304" pitchFamily="18" charset="0"/>
                <a:cs typeface="Times New Roman" panose="02020603050405020304" pitchFamily="18" charset="0"/>
                <a:sym typeface="Symbol" panose="05050102010706020507" pitchFamily="18" charset="2"/>
              </a:rPr>
              <a:t>t</a:t>
            </a:r>
            <a:r>
              <a:rPr lang="en-US" altLang="zh-TW" i="1" baseline="-25000" dirty="0">
                <a:latin typeface="Times New Roman" panose="02020603050405020304" pitchFamily="18" charset="0"/>
                <a:cs typeface="Times New Roman" panose="02020603050405020304" pitchFamily="18" charset="0"/>
                <a:sym typeface="Symbol" panose="05050102010706020507" pitchFamily="18" charset="2"/>
              </a:rPr>
              <a:t>n</a:t>
            </a:r>
            <a:r>
              <a:rPr lang="en-US" altLang="zh-TW"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TW" i="1" dirty="0">
                <a:latin typeface="Times New Roman" panose="02020603050405020304" pitchFamily="18" charset="0"/>
                <a:cs typeface="Times New Roman" panose="02020603050405020304" pitchFamily="18" charset="0"/>
                <a:sym typeface="Symbol" panose="05050102010706020507" pitchFamily="18" charset="2"/>
              </a:rPr>
              <a:t>t</a:t>
            </a:r>
            <a:r>
              <a:rPr lang="en-US" altLang="zh-TW" baseline="-25000" dirty="0">
                <a:latin typeface="Times New Roman" panose="02020603050405020304" pitchFamily="18" charset="0"/>
                <a:cs typeface="Times New Roman" panose="02020603050405020304" pitchFamily="18" charset="0"/>
                <a:sym typeface="Symbol" panose="05050102010706020507" pitchFamily="18" charset="2"/>
              </a:rPr>
              <a:t>0</a:t>
            </a:r>
          </a:p>
          <a:p>
            <a:pPr marL="514350" indent="-514350">
              <a:buFont typeface="+mj-lt"/>
              <a:buAutoNum type="arabicPeriod"/>
            </a:pPr>
            <a:r>
              <a:rPr lang="en-US" altLang="zh-TW" dirty="0">
                <a:latin typeface="Times New Roman" panose="02020603050405020304" pitchFamily="18" charset="0"/>
                <a:cs typeface="Times New Roman" panose="02020603050405020304" pitchFamily="18" charset="0"/>
                <a:sym typeface="Symbol" panose="05050102010706020507" pitchFamily="18" charset="2"/>
              </a:rPr>
              <a:t>there are </a:t>
            </a:r>
            <a:r>
              <a:rPr lang="en-US" altLang="zh-TW"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TW" dirty="0">
                <a:latin typeface="Times New Roman" panose="02020603050405020304" pitchFamily="18" charset="0"/>
                <a:cs typeface="Times New Roman" panose="02020603050405020304" pitchFamily="18" charset="0"/>
                <a:sym typeface="Symbol" panose="05050102010706020507" pitchFamily="18" charset="2"/>
              </a:rPr>
              <a:t>+1 nonoverlapping instances of </a:t>
            </a:r>
            <a:r>
              <a:rPr lang="en-US" altLang="zh-TW" i="1" dirty="0" err="1">
                <a:latin typeface="Times New Roman" panose="02020603050405020304" pitchFamily="18" charset="0"/>
                <a:cs typeface="Times New Roman" panose="02020603050405020304" pitchFamily="18" charset="0"/>
                <a:sym typeface="Symbol" panose="05050102010706020507" pitchFamily="18" charset="2"/>
              </a:rPr>
              <a:t>q</a:t>
            </a:r>
            <a:r>
              <a:rPr lang="en-US" altLang="zh-TW" i="1" baseline="-25000" dirty="0" err="1">
                <a:latin typeface="Times New Roman" panose="02020603050405020304" pitchFamily="18" charset="0"/>
                <a:cs typeface="Times New Roman" panose="02020603050405020304" pitchFamily="18" charset="0"/>
                <a:sym typeface="Symbol" panose="05050102010706020507" pitchFamily="18" charset="2"/>
              </a:rPr>
              <a:t>sub</a:t>
            </a:r>
            <a:r>
              <a:rPr lang="en-US" altLang="zh-TW" i="1" baseline="-25000" dirty="0">
                <a:latin typeface="Times New Roman" panose="02020603050405020304" pitchFamily="18" charset="0"/>
                <a:cs typeface="Times New Roman" panose="02020603050405020304" pitchFamily="18" charset="0"/>
                <a:sym typeface="Symbol" panose="05050102010706020507" pitchFamily="18" charset="2"/>
              </a:rPr>
              <a:t> </a:t>
            </a:r>
            <a:r>
              <a:rPr lang="en-US" altLang="zh-TW" dirty="0">
                <a:latin typeface="Times New Roman" panose="02020603050405020304" pitchFamily="18" charset="0"/>
                <a:cs typeface="Times New Roman" panose="02020603050405020304" pitchFamily="18" charset="0"/>
                <a:sym typeface="Symbol" panose="05050102010706020507" pitchFamily="18" charset="2"/>
              </a:rPr>
              <a:t>in</a:t>
            </a:r>
            <a:r>
              <a:rPr lang="en-US" altLang="zh-TW" i="1" dirty="0">
                <a:latin typeface="Times New Roman" panose="02020603050405020304" pitchFamily="18" charset="0"/>
                <a:cs typeface="Times New Roman" panose="02020603050405020304" pitchFamily="18" charset="0"/>
                <a:sym typeface="Symbol" panose="05050102010706020507" pitchFamily="18" charset="2"/>
              </a:rPr>
              <a:t> q</a:t>
            </a:r>
          </a:p>
          <a:p>
            <a:pPr marL="514350" indent="-514350">
              <a:buFont typeface="+mj-lt"/>
              <a:buAutoNum type="arabicPeriod"/>
            </a:pPr>
            <a:r>
              <a:rPr lang="en-US" altLang="zh-TW" dirty="0">
                <a:latin typeface="Times New Roman" panose="02020603050405020304" pitchFamily="18" charset="0"/>
                <a:cs typeface="Times New Roman" panose="02020603050405020304" pitchFamily="18" charset="0"/>
                <a:sym typeface="Symbol" panose="05050102010706020507" pitchFamily="18" charset="2"/>
              </a:rPr>
              <a:t>at most </a:t>
            </a:r>
            <a:r>
              <a:rPr lang="en-US" altLang="zh-TW"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TW" dirty="0">
                <a:latin typeface="Times New Roman" panose="02020603050405020304" pitchFamily="18" charset="0"/>
                <a:cs typeface="Times New Roman" panose="02020603050405020304" pitchFamily="18" charset="0"/>
                <a:sym typeface="Symbol" panose="05050102010706020507" pitchFamily="18" charset="2"/>
              </a:rPr>
              <a:t> substitutions. Even if all occur in the query, at least one instance of </a:t>
            </a:r>
            <a:r>
              <a:rPr lang="en-US" altLang="zh-TW" i="1" dirty="0" err="1">
                <a:latin typeface="Times New Roman" panose="02020603050405020304" pitchFamily="18" charset="0"/>
                <a:cs typeface="Times New Roman" panose="02020603050405020304" pitchFamily="18" charset="0"/>
                <a:sym typeface="Symbol" panose="05050102010706020507" pitchFamily="18" charset="2"/>
              </a:rPr>
              <a:t>q</a:t>
            </a:r>
            <a:r>
              <a:rPr lang="en-US" altLang="zh-TW" i="1" baseline="-25000" dirty="0" err="1">
                <a:latin typeface="Times New Roman" panose="02020603050405020304" pitchFamily="18" charset="0"/>
                <a:cs typeface="Times New Roman" panose="02020603050405020304" pitchFamily="18" charset="0"/>
                <a:sym typeface="Symbol" panose="05050102010706020507" pitchFamily="18" charset="2"/>
              </a:rPr>
              <a:t>sub</a:t>
            </a:r>
            <a:r>
              <a:rPr lang="en-US" altLang="zh-TW" dirty="0">
                <a:latin typeface="Times New Roman" panose="02020603050405020304" pitchFamily="18" charset="0"/>
                <a:cs typeface="Times New Roman" panose="02020603050405020304" pitchFamily="18" charset="0"/>
                <a:sym typeface="Symbol" panose="05050102010706020507" pitchFamily="18" charset="2"/>
              </a:rPr>
              <a:t> must remain unchanged.</a:t>
            </a:r>
          </a:p>
          <a:p>
            <a:pPr marL="0" indent="0">
              <a:buNone/>
            </a:pPr>
            <a:r>
              <a:rPr lang="en-US" altLang="zh-TW" dirty="0">
                <a:latin typeface="Times New Roman" panose="02020603050405020304" pitchFamily="18" charset="0"/>
                <a:cs typeface="Times New Roman" panose="02020603050405020304" pitchFamily="18" charset="0"/>
                <a:sym typeface="Symbol" panose="05050102010706020507" pitchFamily="18" charset="2"/>
              </a:rPr>
              <a:t>Accordingly, </a:t>
            </a:r>
            <a:r>
              <a:rPr lang="en-US" altLang="zh-TW" i="1" dirty="0" err="1">
                <a:latin typeface="Times New Roman" panose="02020603050405020304" pitchFamily="18" charset="0"/>
                <a:cs typeface="Times New Roman" panose="02020603050405020304" pitchFamily="18" charset="0"/>
                <a:sym typeface="Symbol" panose="05050102010706020507" pitchFamily="18" charset="2"/>
              </a:rPr>
              <a:t>q</a:t>
            </a:r>
            <a:r>
              <a:rPr lang="en-US" altLang="zh-TW" i="1" baseline="-25000" dirty="0" err="1">
                <a:latin typeface="Times New Roman" panose="02020603050405020304" pitchFamily="18" charset="0"/>
                <a:cs typeface="Times New Roman" panose="02020603050405020304" pitchFamily="18" charset="0"/>
                <a:sym typeface="Symbol" panose="05050102010706020507" pitchFamily="18" charset="2"/>
              </a:rPr>
              <a:t>sub</a:t>
            </a:r>
            <a:r>
              <a:rPr lang="en-US" altLang="zh-TW" i="1" dirty="0">
                <a:latin typeface="Times New Roman" panose="02020603050405020304" pitchFamily="18" charset="0"/>
                <a:cs typeface="Times New Roman" panose="02020603050405020304" pitchFamily="18" charset="0"/>
                <a:sym typeface="Symbol" panose="05050102010706020507" pitchFamily="18" charset="2"/>
              </a:rPr>
              <a:t> </a:t>
            </a:r>
            <a:r>
              <a:rPr lang="en-US" altLang="zh-TW" dirty="0">
                <a:latin typeface="Times New Roman" panose="02020603050405020304" pitchFamily="18" charset="0"/>
                <a:cs typeface="Times New Roman" panose="02020603050405020304" pitchFamily="18" charset="0"/>
                <a:sym typeface="Symbol" panose="05050102010706020507" pitchFamily="18" charset="2"/>
              </a:rPr>
              <a:t>must match corrected </a:t>
            </a:r>
            <a:r>
              <a:rPr lang="en-US" altLang="zh-TW" dirty="0">
                <a:latin typeface="Times New Roman" panose="02020603050405020304" pitchFamily="18" charset="0"/>
                <a:cs typeface="Times New Roman" panose="02020603050405020304" pitchFamily="18" charset="0"/>
              </a:rPr>
              <a:t>G(</a:t>
            </a:r>
            <a:r>
              <a:rPr lang="en-US" altLang="zh-TW" i="1" dirty="0">
                <a:latin typeface="Times New Roman" panose="02020603050405020304" pitchFamily="18" charset="0"/>
                <a:cs typeface="Times New Roman" panose="02020603050405020304" pitchFamily="18" charset="0"/>
              </a:rPr>
              <a:t>V</a:t>
            </a:r>
            <a:r>
              <a:rPr lang="en-US" altLang="zh-TW" dirty="0">
                <a:latin typeface="Times New Roman" panose="02020603050405020304" pitchFamily="18" charset="0"/>
                <a:cs typeface="Times New Roman" panose="02020603050405020304" pitchFamily="18" charset="0"/>
              </a:rPr>
              <a:t>,</a:t>
            </a:r>
            <a:r>
              <a:rPr lang="en-US" altLang="zh-TW" i="1" dirty="0">
                <a:latin typeface="Times New Roman" panose="02020603050405020304" pitchFamily="18" charset="0"/>
                <a:cs typeface="Times New Roman" panose="02020603050405020304" pitchFamily="18" charset="0"/>
              </a:rPr>
              <a:t>E</a:t>
            </a:r>
            <a:r>
              <a:rPr lang="en-US" altLang="zh-TW" dirty="0">
                <a:latin typeface="Times New Roman" panose="02020603050405020304" pitchFamily="18" charset="0"/>
                <a:cs typeface="Times New Roman" panose="02020603050405020304" pitchFamily="18" charset="0"/>
              </a:rPr>
              <a:t>,</a:t>
            </a:r>
            <a:r>
              <a:rPr lang="en-US" altLang="zh-TW" i="1" dirty="0">
                <a:latin typeface="Times New Roman" panose="02020603050405020304" pitchFamily="18" charset="0"/>
                <a:cs typeface="Times New Roman" panose="02020603050405020304" pitchFamily="18" charset="0"/>
                <a:sym typeface="Symbol" panose="05050102010706020507" pitchFamily="18" charset="2"/>
              </a:rPr>
              <a:t></a:t>
            </a:r>
            <a:r>
              <a:rPr lang="en-US" altLang="zh-TW" dirty="0">
                <a:latin typeface="Times New Roman" panose="02020603050405020304" pitchFamily="18" charset="0"/>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sym typeface="Symbol" panose="05050102010706020507" pitchFamily="18" charset="2"/>
              </a:rPr>
              <a:t>.</a:t>
            </a:r>
            <a:endParaRPr lang="en-US" altLang="zh-TW"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90029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B66326-0258-4924-B0B5-05633F8B6DD4}"/>
              </a:ext>
            </a:extLst>
          </p:cNvPr>
          <p:cNvSpPr>
            <a:spLocks noGrp="1"/>
          </p:cNvSpPr>
          <p:nvPr>
            <p:ph type="title"/>
          </p:nvPr>
        </p:nvSpPr>
        <p:spPr/>
        <p:txBody>
          <a:bodyPr>
            <a:normAutofit/>
          </a:bodyPr>
          <a:lstStyle/>
          <a:p>
            <a:r>
              <a:rPr lang="en-US" altLang="zh-TW" sz="4000" dirty="0">
                <a:latin typeface="Times New Roman" panose="02020603050405020304" pitchFamily="18" charset="0"/>
                <a:cs typeface="Times New Roman" panose="02020603050405020304" pitchFamily="18" charset="0"/>
              </a:rPr>
              <a:t>Edit distance model</a:t>
            </a:r>
            <a:endParaRPr lang="zh-TW" altLang="en-US" sz="4000"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D62D5C57-92EA-4061-8DBC-ABC04F3533CB}"/>
              </a:ext>
            </a:extLst>
          </p:cNvPr>
          <p:cNvSpPr>
            <a:spLocks noGrp="1"/>
          </p:cNvSpPr>
          <p:nvPr>
            <p:ph idx="1"/>
          </p:nvPr>
        </p:nvSpPr>
        <p:spPr>
          <a:xfrm>
            <a:off x="703277" y="1594716"/>
            <a:ext cx="10650523" cy="4351338"/>
          </a:xfrm>
        </p:spPr>
        <p:txBody>
          <a:bodyPr>
            <a:normAutofit/>
          </a:bodyPr>
          <a:lstStyle/>
          <a:p>
            <a:pPr marL="0" indent="0">
              <a:buNone/>
            </a:pPr>
            <a:r>
              <a:rPr lang="en-US" altLang="zh-TW" dirty="0">
                <a:latin typeface="Times New Roman" panose="02020603050405020304" pitchFamily="18" charset="0"/>
                <a:cs typeface="Times New Roman" panose="02020603050405020304" pitchFamily="18" charset="0"/>
              </a:rPr>
              <a:t>directed Hamiltonian cycle </a:t>
            </a:r>
            <a:r>
              <a:rPr lang="en-US" altLang="zh-TW" dirty="0">
                <a:latin typeface="Times New Roman" panose="02020603050405020304" pitchFamily="18" charset="0"/>
                <a:cs typeface="Times New Roman" panose="02020603050405020304" pitchFamily="18" charset="0"/>
                <a:sym typeface="Symbol" panose="05050102010706020507" pitchFamily="18" charset="2"/>
              </a:rPr>
              <a:t> sequence-to-graph alignment</a:t>
            </a:r>
            <a:br>
              <a:rPr lang="en-US" altLang="zh-TW" dirty="0">
                <a:latin typeface="Times New Roman" panose="02020603050405020304" pitchFamily="18" charset="0"/>
                <a:cs typeface="Times New Roman" panose="02020603050405020304" pitchFamily="18" charset="0"/>
                <a:sym typeface="Symbol" panose="05050102010706020507" pitchFamily="18" charset="2"/>
              </a:rPr>
            </a:br>
            <a:r>
              <a:rPr lang="en-US" altLang="zh-TW" dirty="0">
                <a:latin typeface="Times New Roman" panose="02020603050405020304" pitchFamily="18" charset="0"/>
                <a:cs typeface="Times New Roman" panose="02020603050405020304" pitchFamily="18" charset="0"/>
                <a:sym typeface="Symbol" panose="05050102010706020507" pitchFamily="18" charset="2"/>
              </a:rPr>
              <a:t>&lt;=</a:t>
            </a:r>
            <a:br>
              <a:rPr lang="en-US" altLang="zh-TW" dirty="0">
                <a:latin typeface="Times New Roman" panose="02020603050405020304" pitchFamily="18" charset="0"/>
                <a:cs typeface="Times New Roman" panose="02020603050405020304" pitchFamily="18" charset="0"/>
                <a:sym typeface="Symbol" panose="05050102010706020507" pitchFamily="18" charset="2"/>
              </a:rPr>
            </a:br>
            <a:r>
              <a:rPr lang="en-US" altLang="zh-TW" sz="2400" i="1" dirty="0" err="1">
                <a:latin typeface="Times New Roman" panose="02020603050405020304" pitchFamily="18" charset="0"/>
                <a:cs typeface="Times New Roman" panose="02020603050405020304" pitchFamily="18" charset="0"/>
                <a:sym typeface="Symbol" panose="05050102010706020507" pitchFamily="18" charset="2"/>
              </a:rPr>
              <a:t>t</a:t>
            </a:r>
            <a:r>
              <a:rPr lang="en-US" altLang="zh-TW" sz="2400" i="1" baseline="-25000" dirty="0" err="1">
                <a:latin typeface="Times New Roman" panose="02020603050405020304" pitchFamily="18" charset="0"/>
                <a:cs typeface="Times New Roman" panose="02020603050405020304" pitchFamily="18" charset="0"/>
                <a:sym typeface="Symbol" panose="05050102010706020507" pitchFamily="18" charset="2"/>
              </a:rPr>
              <a:t>i</a:t>
            </a:r>
            <a:r>
              <a:rPr lang="zh-TW" altLang="en-US" sz="2400" dirty="0">
                <a:latin typeface="Times New Roman" panose="02020603050405020304" pitchFamily="18" charset="0"/>
                <a:cs typeface="Times New Roman" panose="02020603050405020304" pitchFamily="18" charset="0"/>
                <a:sym typeface="Symbol" panose="05050102010706020507" pitchFamily="18" charset="2"/>
              </a:rPr>
              <a:t>：</a:t>
            </a:r>
            <a:r>
              <a:rPr lang="zh-TW" altLang="en-US" sz="2400" i="1" dirty="0">
                <a:latin typeface="Times New Roman" panose="02020603050405020304" pitchFamily="18" charset="0"/>
                <a:cs typeface="Times New Roman" panose="02020603050405020304" pitchFamily="18" charset="0"/>
                <a:sym typeface="Symbol" panose="05050102010706020507" pitchFamily="18" charset="2"/>
              </a:rPr>
              <a:t> </a:t>
            </a:r>
            <a:r>
              <a:rPr lang="en-US" altLang="zh-TW" sz="2400" baseline="30000" dirty="0">
                <a:latin typeface="Times New Roman" panose="02020603050405020304" pitchFamily="18" charset="0"/>
                <a:cs typeface="Times New Roman" panose="02020603050405020304" pitchFamily="18" charset="0"/>
                <a:sym typeface="Symbol" panose="05050102010706020507" pitchFamily="18" charset="2"/>
              </a:rPr>
              <a:t>2</a:t>
            </a:r>
            <a:r>
              <a:rPr lang="en-US" altLang="zh-TW" sz="2400" i="1" baseline="30000" dirty="0">
                <a:latin typeface="Times New Roman" panose="02020603050405020304" pitchFamily="18" charset="0"/>
                <a:cs typeface="Times New Roman" panose="02020603050405020304" pitchFamily="18" charset="0"/>
                <a:sym typeface="Symbol" panose="05050102010706020507" pitchFamily="18" charset="2"/>
              </a:rPr>
              <a:t>n</a:t>
            </a:r>
            <a:r>
              <a:rPr lang="zh-TW" altLang="en-US" sz="2400" i="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TW" sz="2400" i="1" baseline="30000" dirty="0" err="1">
                <a:solidFill>
                  <a:srgbClr val="FF0000"/>
                </a:solidFill>
                <a:latin typeface="Times New Roman" panose="02020603050405020304" pitchFamily="18" charset="0"/>
                <a:cs typeface="Times New Roman" panose="02020603050405020304" pitchFamily="18" charset="0"/>
                <a:sym typeface="Symbol" panose="05050102010706020507" pitchFamily="18" charset="2"/>
              </a:rPr>
              <a:t>i</a:t>
            </a:r>
            <a:r>
              <a:rPr lang="zh-TW" altLang="en-US" sz="2400" i="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TW" sz="2400" baseline="30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2</a:t>
            </a:r>
            <a:r>
              <a:rPr lang="en-US" altLang="zh-TW" sz="2400" i="1" baseline="30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n</a:t>
            </a:r>
            <a:r>
              <a:rPr lang="en-US" altLang="zh-TW" sz="2400" baseline="30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-1-</a:t>
            </a:r>
            <a:r>
              <a:rPr lang="en-US" altLang="zh-TW" sz="2400" i="1" baseline="30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i</a:t>
            </a:r>
            <a:r>
              <a:rPr lang="zh-TW" altLang="en-US" sz="2400" i="1" dirty="0">
                <a:latin typeface="Times New Roman" panose="02020603050405020304" pitchFamily="18" charset="0"/>
                <a:cs typeface="Times New Roman" panose="02020603050405020304" pitchFamily="18" charset="0"/>
                <a:sym typeface="Symbol" panose="05050102010706020507" pitchFamily="18" charset="2"/>
              </a:rPr>
              <a:t></a:t>
            </a:r>
            <a:r>
              <a:rPr lang="en-US" altLang="zh-TW" sz="2400" baseline="30000" dirty="0">
                <a:latin typeface="Times New Roman" panose="02020603050405020304" pitchFamily="18" charset="0"/>
                <a:cs typeface="Times New Roman" panose="02020603050405020304" pitchFamily="18" charset="0"/>
                <a:sym typeface="Symbol" panose="05050102010706020507" pitchFamily="18" charset="2"/>
              </a:rPr>
              <a:t>2</a:t>
            </a:r>
            <a:r>
              <a:rPr lang="en-US" altLang="zh-TW" sz="2400" i="1" baseline="30000" dirty="0">
                <a:latin typeface="Times New Roman" panose="02020603050405020304" pitchFamily="18" charset="0"/>
                <a:cs typeface="Times New Roman" panose="02020603050405020304" pitchFamily="18" charset="0"/>
                <a:sym typeface="Symbol" panose="05050102010706020507" pitchFamily="18" charset="2"/>
              </a:rPr>
              <a:t>n</a:t>
            </a:r>
            <a:r>
              <a:rPr lang="zh-TW" altLang="en-US" sz="2400" dirty="0">
                <a:latin typeface="Times New Roman" panose="02020603050405020304" pitchFamily="18" charset="0"/>
                <a:cs typeface="Times New Roman" panose="02020603050405020304" pitchFamily="18" charset="0"/>
                <a:sym typeface="Symbol" panose="05050102010706020507" pitchFamily="18" charset="2"/>
              </a:rPr>
              <a:t>，</a:t>
            </a: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length of </a:t>
            </a:r>
            <a:r>
              <a:rPr lang="en-US" altLang="zh-TW" sz="24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kernel(</a:t>
            </a:r>
            <a:r>
              <a:rPr lang="zh-TW" altLang="en-US" sz="2400" i="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TW" sz="2400" i="1" baseline="30000" dirty="0" err="1">
                <a:solidFill>
                  <a:srgbClr val="FF0000"/>
                </a:solidFill>
                <a:latin typeface="Times New Roman" panose="02020603050405020304" pitchFamily="18" charset="0"/>
                <a:cs typeface="Times New Roman" panose="02020603050405020304" pitchFamily="18" charset="0"/>
                <a:sym typeface="Symbol" panose="05050102010706020507" pitchFamily="18" charset="2"/>
              </a:rPr>
              <a:t>i</a:t>
            </a:r>
            <a:r>
              <a:rPr lang="zh-TW" altLang="en-US" sz="2400" i="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TW" sz="2400" baseline="30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2</a:t>
            </a:r>
            <a:r>
              <a:rPr lang="en-US" altLang="zh-TW" sz="2400" i="1" baseline="30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n</a:t>
            </a:r>
            <a:r>
              <a:rPr lang="en-US" altLang="zh-TW" sz="2400" baseline="30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-1-</a:t>
            </a:r>
            <a:r>
              <a:rPr lang="en-US" altLang="zh-TW" sz="2400" i="1" baseline="30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i</a:t>
            </a:r>
            <a:r>
              <a:rPr lang="en-US" altLang="zh-TW" sz="24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 is 2</a:t>
            </a:r>
            <a:r>
              <a:rPr lang="en-US" altLang="zh-TW" sz="2400" i="1" dirty="0">
                <a:latin typeface="Times New Roman" panose="02020603050405020304" pitchFamily="18" charset="0"/>
                <a:cs typeface="Times New Roman" panose="02020603050405020304" pitchFamily="18" charset="0"/>
                <a:sym typeface="Symbol" panose="05050102010706020507" pitchFamily="18" charset="2"/>
              </a:rPr>
              <a:t>n</a:t>
            </a:r>
          </a:p>
          <a:p>
            <a:pPr marL="0" indent="0">
              <a:buNone/>
            </a:pP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a kernel must be matched entirely within a vertex</a:t>
            </a:r>
            <a:br>
              <a:rPr lang="en-US" altLang="zh-TW" sz="2400" dirty="0">
                <a:latin typeface="Times New Roman" panose="02020603050405020304" pitchFamily="18" charset="0"/>
                <a:cs typeface="Times New Roman" panose="02020603050405020304" pitchFamily="18" charset="0"/>
                <a:sym typeface="Symbol" panose="05050102010706020507" pitchFamily="18" charset="2"/>
              </a:rPr>
            </a:br>
            <a:endParaRPr lang="en-US" altLang="zh-TW" sz="2400" i="1" dirty="0">
              <a:latin typeface="Times New Roman" panose="02020603050405020304" pitchFamily="18" charset="0"/>
              <a:cs typeface="Times New Roman" panose="02020603050405020304" pitchFamily="18" charset="0"/>
              <a:sym typeface="Symbol" panose="05050102010706020507" pitchFamily="18" charset="2"/>
            </a:endParaRPr>
          </a:p>
          <a:p>
            <a:pPr marL="514350" indent="-514350">
              <a:buFont typeface="+mj-lt"/>
              <a:buAutoNum type="arabicPeriod"/>
            </a:pP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Since any vertex label cannot shrink from length 6</a:t>
            </a:r>
            <a:r>
              <a:rPr lang="en-US" altLang="zh-TW" sz="2400"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 to &lt; 5</a:t>
            </a:r>
            <a:r>
              <a:rPr lang="en-US" altLang="zh-TW" sz="2400" i="1" dirty="0">
                <a:latin typeface="Times New Roman" panose="02020603050405020304" pitchFamily="18" charset="0"/>
                <a:cs typeface="Times New Roman" panose="02020603050405020304" pitchFamily="18" charset="0"/>
                <a:sym typeface="Symbol" panose="05050102010706020507" pitchFamily="18" charset="2"/>
              </a:rPr>
              <a:t>n</a:t>
            </a:r>
            <a:r>
              <a:rPr lang="zh-TW" altLang="en-US" sz="2400" dirty="0">
                <a:latin typeface="Times New Roman" panose="02020603050405020304" pitchFamily="18" charset="0"/>
                <a:cs typeface="Times New Roman" panose="02020603050405020304" pitchFamily="18" charset="0"/>
                <a:sym typeface="Symbol" panose="05050102010706020507" pitchFamily="18" charset="2"/>
              </a:rPr>
              <a:t>，</a:t>
            </a: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a kernel cannot be matched to an entire vertex after the edits. It implies that a kernel must match to  2 vertices.</a:t>
            </a:r>
          </a:p>
          <a:p>
            <a:pPr marL="0" indent="0">
              <a:buNone/>
            </a:pPr>
            <a:endParaRPr lang="en-US" altLang="zh-TW" sz="2400" dirty="0">
              <a:latin typeface="Times New Roman" panose="02020603050405020304" pitchFamily="18" charset="0"/>
              <a:cs typeface="Times New Roman" panose="02020603050405020304" pitchFamily="18" charset="0"/>
            </a:endParaRPr>
          </a:p>
        </p:txBody>
      </p:sp>
      <p:graphicFrame>
        <p:nvGraphicFramePr>
          <p:cNvPr id="4" name="表格 4">
            <a:extLst>
              <a:ext uri="{FF2B5EF4-FFF2-40B4-BE49-F238E27FC236}">
                <a16:creationId xmlns:a16="http://schemas.microsoft.com/office/drawing/2014/main" id="{E41A125D-1EC1-4B35-9ECA-EBF94343BEAC}"/>
              </a:ext>
            </a:extLst>
          </p:cNvPr>
          <p:cNvGraphicFramePr>
            <a:graphicFrameLocks noGrp="1"/>
          </p:cNvGraphicFramePr>
          <p:nvPr>
            <p:extLst>
              <p:ext uri="{D42A27DB-BD31-4B8C-83A1-F6EECF244321}">
                <p14:modId xmlns:p14="http://schemas.microsoft.com/office/powerpoint/2010/main" val="1171391428"/>
              </p:ext>
            </p:extLst>
          </p:nvPr>
        </p:nvGraphicFramePr>
        <p:xfrm>
          <a:off x="2031999" y="5010312"/>
          <a:ext cx="8128002" cy="1371600"/>
        </p:xfrm>
        <a:graphic>
          <a:graphicData uri="http://schemas.openxmlformats.org/drawingml/2006/table">
            <a:tbl>
              <a:tblPr firstRow="1" bandRow="1">
                <a:tableStyleId>{5940675A-B579-460E-94D1-54222C63F5DA}</a:tableStyleId>
              </a:tblPr>
              <a:tblGrid>
                <a:gridCol w="2709334">
                  <a:extLst>
                    <a:ext uri="{9D8B030D-6E8A-4147-A177-3AD203B41FA5}">
                      <a16:colId xmlns:a16="http://schemas.microsoft.com/office/drawing/2014/main" val="2634405390"/>
                    </a:ext>
                  </a:extLst>
                </a:gridCol>
                <a:gridCol w="1354667">
                  <a:extLst>
                    <a:ext uri="{9D8B030D-6E8A-4147-A177-3AD203B41FA5}">
                      <a16:colId xmlns:a16="http://schemas.microsoft.com/office/drawing/2014/main" val="1404343748"/>
                    </a:ext>
                  </a:extLst>
                </a:gridCol>
                <a:gridCol w="1354667">
                  <a:extLst>
                    <a:ext uri="{9D8B030D-6E8A-4147-A177-3AD203B41FA5}">
                      <a16:colId xmlns:a16="http://schemas.microsoft.com/office/drawing/2014/main" val="1249511304"/>
                    </a:ext>
                  </a:extLst>
                </a:gridCol>
                <a:gridCol w="1354667">
                  <a:extLst>
                    <a:ext uri="{9D8B030D-6E8A-4147-A177-3AD203B41FA5}">
                      <a16:colId xmlns:a16="http://schemas.microsoft.com/office/drawing/2014/main" val="3251033006"/>
                    </a:ext>
                  </a:extLst>
                </a:gridCol>
                <a:gridCol w="1354667">
                  <a:extLst>
                    <a:ext uri="{9D8B030D-6E8A-4147-A177-3AD203B41FA5}">
                      <a16:colId xmlns:a16="http://schemas.microsoft.com/office/drawing/2014/main" val="1489239710"/>
                    </a:ext>
                  </a:extLst>
                </a:gridCol>
              </a:tblGrid>
              <a:tr h="370840">
                <a:tc gridSpan="5">
                  <a:txBody>
                    <a:bodyPr/>
                    <a:lstStyle/>
                    <a:p>
                      <a:pPr algn="l"/>
                      <a:r>
                        <a:rPr lang="en-US" altLang="zh-TW" sz="2400" dirty="0">
                          <a:latin typeface="Times New Roman" panose="02020603050405020304" pitchFamily="18" charset="0"/>
                          <a:cs typeface="Times New Roman" panose="02020603050405020304" pitchFamily="18" charset="0"/>
                        </a:rPr>
                        <a:t>6n</a:t>
                      </a:r>
                      <a:r>
                        <a:rPr lang="zh-TW" altLang="en-US" sz="2400" dirty="0">
                          <a:latin typeface="Times New Roman" panose="02020603050405020304" pitchFamily="18" charset="0"/>
                          <a:cs typeface="Times New Roman" panose="02020603050405020304" pitchFamily="18" charset="0"/>
                        </a:rPr>
                        <a:t>：</a:t>
                      </a:r>
                      <a:r>
                        <a:rPr lang="en-US" altLang="zh-TW" sz="2400" dirty="0">
                          <a:latin typeface="Times New Roman" panose="02020603050405020304" pitchFamily="18" charset="0"/>
                          <a:cs typeface="Times New Roman" panose="02020603050405020304" pitchFamily="18" charset="0"/>
                        </a:rPr>
                        <a:t>origin vertex label</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TW" altLang="en-US" dirty="0"/>
                    </a:p>
                  </a:txBody>
                  <a:tcPr>
                    <a:lnL w="12700" cap="flat" cmpd="sng" algn="ctr">
                      <a:solidFill>
                        <a:schemeClr val="tx1"/>
                      </a:solidFill>
                      <a:prstDash val="solid"/>
                      <a:round/>
                      <a:headEnd type="none" w="med" len="med"/>
                      <a:tailEnd type="none" w="med" len="med"/>
                    </a:lnL>
                  </a:tcPr>
                </a:tc>
                <a:tc hMerge="1">
                  <a:txBody>
                    <a:bodyPr/>
                    <a:lstStyle/>
                    <a:p>
                      <a:endParaRPr lang="zh-TW" altLang="en-US" dirty="0"/>
                    </a:p>
                  </a:txBody>
                  <a:tcPr/>
                </a:tc>
                <a:tc hMerge="1">
                  <a:txBody>
                    <a:bodyPr/>
                    <a:lstStyle/>
                    <a:p>
                      <a:endParaRPr lang="zh-TW" altLang="en-US" dirty="0"/>
                    </a:p>
                  </a:txBody>
                  <a:tcPr/>
                </a:tc>
                <a:tc hMerge="1">
                  <a:txBody>
                    <a:bodyPr/>
                    <a:lstStyle/>
                    <a:p>
                      <a:endParaRPr lang="zh-TW" altLang="en-US" dirty="0"/>
                    </a:p>
                  </a:txBody>
                  <a:tcPr/>
                </a:tc>
                <a:extLst>
                  <a:ext uri="{0D108BD9-81ED-4DB2-BD59-A6C34878D82A}">
                    <a16:rowId xmlns:a16="http://schemas.microsoft.com/office/drawing/2014/main" val="2323842220"/>
                  </a:ext>
                </a:extLst>
              </a:tr>
              <a:tr h="370840">
                <a:tc gridSpan="4">
                  <a:txBody>
                    <a:bodyPr/>
                    <a:lstStyle/>
                    <a:p>
                      <a:pPr algn="l"/>
                      <a:r>
                        <a:rPr lang="en-US" altLang="zh-TW" sz="2400" dirty="0">
                          <a:latin typeface="Times New Roman" panose="02020603050405020304" pitchFamily="18" charset="0"/>
                          <a:cs typeface="Times New Roman" panose="02020603050405020304" pitchFamily="18" charset="0"/>
                        </a:rPr>
                        <a:t>5n</a:t>
                      </a:r>
                      <a:r>
                        <a:rPr lang="zh-TW" altLang="en-US" sz="2400" dirty="0">
                          <a:latin typeface="Times New Roman" panose="02020603050405020304" pitchFamily="18" charset="0"/>
                          <a:cs typeface="Times New Roman" panose="02020603050405020304" pitchFamily="18" charset="0"/>
                        </a:rPr>
                        <a:t>：</a:t>
                      </a:r>
                      <a:r>
                        <a:rPr lang="en-US" altLang="zh-TW" sz="2400" dirty="0">
                          <a:latin typeface="Times New Roman" panose="02020603050405020304" pitchFamily="18" charset="0"/>
                          <a:cs typeface="Times New Roman" panose="02020603050405020304" pitchFamily="18" charset="0"/>
                        </a:rPr>
                        <a:t>shrank vertex label</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TW" altLang="en-US"/>
                    </a:p>
                  </a:txBody>
                  <a:tcPr>
                    <a:lnL w="12700" cap="flat" cmpd="sng" algn="ctr">
                      <a:solidFill>
                        <a:schemeClr val="tx1"/>
                      </a:solidFill>
                      <a:prstDash val="solid"/>
                      <a:round/>
                      <a:headEnd type="none" w="med" len="med"/>
                      <a:tailEnd type="none" w="med" len="med"/>
                    </a:lnL>
                  </a:tcPr>
                </a:tc>
                <a:tc hMerge="1">
                  <a:txBody>
                    <a:bodyPr/>
                    <a:lstStyle/>
                    <a:p>
                      <a:endParaRPr lang="zh-TW" altLang="en-US" dirty="0"/>
                    </a:p>
                  </a:txBody>
                  <a:tcPr/>
                </a:tc>
                <a:tc hMerge="1">
                  <a:txBody>
                    <a:bodyPr/>
                    <a:lstStyle/>
                    <a:p>
                      <a:endParaRPr lang="zh-TW" altLang="en-US" dirty="0"/>
                    </a:p>
                  </a:txBody>
                  <a:tcPr/>
                </a:tc>
                <a:tc>
                  <a:txBody>
                    <a:bodyPr/>
                    <a:lstStyle/>
                    <a:p>
                      <a:pPr algn="l"/>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832391719"/>
                  </a:ext>
                </a:extLst>
              </a:tr>
              <a:tr h="370840">
                <a:tc>
                  <a:txBody>
                    <a:bodyPr/>
                    <a:lstStyle/>
                    <a:p>
                      <a:pPr algn="l"/>
                      <a:r>
                        <a:rPr lang="en-US" altLang="zh-TW" sz="2400" dirty="0">
                          <a:latin typeface="Times New Roman" panose="02020603050405020304" pitchFamily="18" charset="0"/>
                          <a:cs typeface="Times New Roman" panose="02020603050405020304" pitchFamily="18" charset="0"/>
                        </a:rPr>
                        <a:t>2n</a:t>
                      </a:r>
                      <a:r>
                        <a:rPr lang="zh-TW" altLang="en-US" sz="2400" dirty="0">
                          <a:latin typeface="Times New Roman" panose="02020603050405020304" pitchFamily="18" charset="0"/>
                          <a:cs typeface="Times New Roman" panose="02020603050405020304" pitchFamily="18" charset="0"/>
                        </a:rPr>
                        <a:t>：</a:t>
                      </a:r>
                      <a:r>
                        <a:rPr lang="en-US" altLang="zh-TW" sz="2400" dirty="0">
                          <a:latin typeface="Times New Roman" panose="02020603050405020304" pitchFamily="18" charset="0"/>
                          <a:cs typeface="Times New Roman" panose="02020603050405020304" pitchFamily="18" charset="0"/>
                        </a:rPr>
                        <a:t>kernel</a:t>
                      </a:r>
                      <a:endParaRPr lang="zh-TW" altLang="en-US" sz="2400" dirty="0">
                        <a:latin typeface="Times New Roman" panose="02020603050405020304" pitchFamily="18" charset="0"/>
                        <a:cs typeface="Times New Roman" panose="02020603050405020304" pitchFamily="18" charset="0"/>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l"/>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tcPr>
                </a:tc>
                <a:tc>
                  <a:txBody>
                    <a:bodyPr/>
                    <a:lstStyle/>
                    <a:p>
                      <a:pPr algn="l"/>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l"/>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l"/>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349870724"/>
                  </a:ext>
                </a:extLst>
              </a:tr>
            </a:tbl>
          </a:graphicData>
        </a:graphic>
      </p:graphicFrame>
    </p:spTree>
    <p:extLst>
      <p:ext uri="{BB962C8B-B14F-4D97-AF65-F5344CB8AC3E}">
        <p14:creationId xmlns:p14="http://schemas.microsoft.com/office/powerpoint/2010/main" val="7885873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B66326-0258-4924-B0B5-05633F8B6DD4}"/>
              </a:ext>
            </a:extLst>
          </p:cNvPr>
          <p:cNvSpPr>
            <a:spLocks noGrp="1"/>
          </p:cNvSpPr>
          <p:nvPr>
            <p:ph type="title"/>
          </p:nvPr>
        </p:nvSpPr>
        <p:spPr/>
        <p:txBody>
          <a:bodyPr>
            <a:normAutofit/>
          </a:bodyPr>
          <a:lstStyle/>
          <a:p>
            <a:r>
              <a:rPr lang="en-US" altLang="zh-TW" sz="4000" dirty="0">
                <a:latin typeface="Times New Roman" panose="02020603050405020304" pitchFamily="18" charset="0"/>
                <a:cs typeface="Times New Roman" panose="02020603050405020304" pitchFamily="18" charset="0"/>
              </a:rPr>
              <a:t>Edit distance model</a:t>
            </a:r>
            <a:endParaRPr lang="zh-TW" altLang="en-US" sz="4000"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D62D5C57-92EA-4061-8DBC-ABC04F3533CB}"/>
              </a:ext>
            </a:extLst>
          </p:cNvPr>
          <p:cNvSpPr>
            <a:spLocks noGrp="1"/>
          </p:cNvSpPr>
          <p:nvPr>
            <p:ph idx="1"/>
          </p:nvPr>
        </p:nvSpPr>
        <p:spPr>
          <a:xfrm>
            <a:off x="703277" y="1594715"/>
            <a:ext cx="10650523" cy="5104665"/>
          </a:xfrm>
        </p:spPr>
        <p:txBody>
          <a:bodyPr>
            <a:normAutofit/>
          </a:bodyPr>
          <a:lstStyle/>
          <a:p>
            <a:pPr marL="0" indent="0">
              <a:buNone/>
            </a:pPr>
            <a:r>
              <a:rPr lang="en-US" altLang="zh-TW" dirty="0">
                <a:latin typeface="Times New Roman" panose="02020603050405020304" pitchFamily="18" charset="0"/>
                <a:cs typeface="Times New Roman" panose="02020603050405020304" pitchFamily="18" charset="0"/>
              </a:rPr>
              <a:t>directed Hamiltonian cycle </a:t>
            </a:r>
            <a:r>
              <a:rPr lang="en-US" altLang="zh-TW" dirty="0">
                <a:latin typeface="Times New Roman" panose="02020603050405020304" pitchFamily="18" charset="0"/>
                <a:cs typeface="Times New Roman" panose="02020603050405020304" pitchFamily="18" charset="0"/>
                <a:sym typeface="Symbol" panose="05050102010706020507" pitchFamily="18" charset="2"/>
              </a:rPr>
              <a:t> sequence-to-graph alignment</a:t>
            </a:r>
            <a:br>
              <a:rPr lang="en-US" altLang="zh-TW" dirty="0">
                <a:latin typeface="Times New Roman" panose="02020603050405020304" pitchFamily="18" charset="0"/>
                <a:cs typeface="Times New Roman" panose="02020603050405020304" pitchFamily="18" charset="0"/>
                <a:sym typeface="Symbol" panose="05050102010706020507" pitchFamily="18" charset="2"/>
              </a:rPr>
            </a:br>
            <a:r>
              <a:rPr lang="en-US" altLang="zh-TW" dirty="0">
                <a:latin typeface="Times New Roman" panose="02020603050405020304" pitchFamily="18" charset="0"/>
                <a:cs typeface="Times New Roman" panose="02020603050405020304" pitchFamily="18" charset="0"/>
                <a:sym typeface="Symbol" panose="05050102010706020507" pitchFamily="18" charset="2"/>
              </a:rPr>
              <a:t>&lt;=</a:t>
            </a:r>
            <a:br>
              <a:rPr lang="en-US" altLang="zh-TW" dirty="0">
                <a:latin typeface="Times New Roman" panose="02020603050405020304" pitchFamily="18" charset="0"/>
                <a:cs typeface="Times New Roman" panose="02020603050405020304" pitchFamily="18" charset="0"/>
                <a:sym typeface="Symbol" panose="05050102010706020507" pitchFamily="18" charset="2"/>
              </a:rPr>
            </a:br>
            <a:r>
              <a:rPr lang="en-US" altLang="zh-TW" sz="2400" i="1" dirty="0" err="1">
                <a:latin typeface="Times New Roman" panose="02020603050405020304" pitchFamily="18" charset="0"/>
                <a:cs typeface="Times New Roman" panose="02020603050405020304" pitchFamily="18" charset="0"/>
                <a:sym typeface="Symbol" panose="05050102010706020507" pitchFamily="18" charset="2"/>
              </a:rPr>
              <a:t>t</a:t>
            </a:r>
            <a:r>
              <a:rPr lang="en-US" altLang="zh-TW" sz="2400" i="1" baseline="-25000" dirty="0" err="1">
                <a:latin typeface="Times New Roman" panose="02020603050405020304" pitchFamily="18" charset="0"/>
                <a:cs typeface="Times New Roman" panose="02020603050405020304" pitchFamily="18" charset="0"/>
                <a:sym typeface="Symbol" panose="05050102010706020507" pitchFamily="18" charset="2"/>
              </a:rPr>
              <a:t>i</a:t>
            </a:r>
            <a:r>
              <a:rPr lang="zh-TW" altLang="en-US" sz="2400" dirty="0">
                <a:latin typeface="Times New Roman" panose="02020603050405020304" pitchFamily="18" charset="0"/>
                <a:cs typeface="Times New Roman" panose="02020603050405020304" pitchFamily="18" charset="0"/>
                <a:sym typeface="Symbol" panose="05050102010706020507" pitchFamily="18" charset="2"/>
              </a:rPr>
              <a:t>：</a:t>
            </a:r>
            <a:r>
              <a:rPr lang="zh-TW" altLang="en-US" sz="2400" i="1" dirty="0">
                <a:latin typeface="Times New Roman" panose="02020603050405020304" pitchFamily="18" charset="0"/>
                <a:cs typeface="Times New Roman" panose="02020603050405020304" pitchFamily="18" charset="0"/>
                <a:sym typeface="Symbol" panose="05050102010706020507" pitchFamily="18" charset="2"/>
              </a:rPr>
              <a:t> </a:t>
            </a:r>
            <a:r>
              <a:rPr lang="en-US" altLang="zh-TW" sz="2400" baseline="30000" dirty="0">
                <a:latin typeface="Times New Roman" panose="02020603050405020304" pitchFamily="18" charset="0"/>
                <a:cs typeface="Times New Roman" panose="02020603050405020304" pitchFamily="18" charset="0"/>
                <a:sym typeface="Symbol" panose="05050102010706020507" pitchFamily="18" charset="2"/>
              </a:rPr>
              <a:t>2</a:t>
            </a:r>
            <a:r>
              <a:rPr lang="en-US" altLang="zh-TW" sz="2400" i="1" baseline="30000" dirty="0">
                <a:latin typeface="Times New Roman" panose="02020603050405020304" pitchFamily="18" charset="0"/>
                <a:cs typeface="Times New Roman" panose="02020603050405020304" pitchFamily="18" charset="0"/>
                <a:sym typeface="Symbol" panose="05050102010706020507" pitchFamily="18" charset="2"/>
              </a:rPr>
              <a:t>n</a:t>
            </a:r>
            <a:r>
              <a:rPr lang="zh-TW" altLang="en-US" sz="2400" i="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TW" sz="2400" i="1" baseline="30000" dirty="0" err="1">
                <a:solidFill>
                  <a:srgbClr val="FF0000"/>
                </a:solidFill>
                <a:latin typeface="Times New Roman" panose="02020603050405020304" pitchFamily="18" charset="0"/>
                <a:cs typeface="Times New Roman" panose="02020603050405020304" pitchFamily="18" charset="0"/>
                <a:sym typeface="Symbol" panose="05050102010706020507" pitchFamily="18" charset="2"/>
              </a:rPr>
              <a:t>i</a:t>
            </a:r>
            <a:r>
              <a:rPr lang="zh-TW" altLang="en-US" sz="2400" i="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TW" sz="2400" baseline="30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2</a:t>
            </a:r>
            <a:r>
              <a:rPr lang="en-US" altLang="zh-TW" sz="2400" i="1" baseline="30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n</a:t>
            </a:r>
            <a:r>
              <a:rPr lang="en-US" altLang="zh-TW" sz="2400" baseline="30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-1-</a:t>
            </a:r>
            <a:r>
              <a:rPr lang="en-US" altLang="zh-TW" sz="2400" i="1" baseline="30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i</a:t>
            </a:r>
            <a:r>
              <a:rPr lang="zh-TW" altLang="en-US" sz="2400" i="1" dirty="0">
                <a:latin typeface="Times New Roman" panose="02020603050405020304" pitchFamily="18" charset="0"/>
                <a:cs typeface="Times New Roman" panose="02020603050405020304" pitchFamily="18" charset="0"/>
                <a:sym typeface="Symbol" panose="05050102010706020507" pitchFamily="18" charset="2"/>
              </a:rPr>
              <a:t></a:t>
            </a:r>
            <a:r>
              <a:rPr lang="en-US" altLang="zh-TW" sz="2400" baseline="30000" dirty="0">
                <a:latin typeface="Times New Roman" panose="02020603050405020304" pitchFamily="18" charset="0"/>
                <a:cs typeface="Times New Roman" panose="02020603050405020304" pitchFamily="18" charset="0"/>
                <a:sym typeface="Symbol" panose="05050102010706020507" pitchFamily="18" charset="2"/>
              </a:rPr>
              <a:t>2</a:t>
            </a:r>
            <a:r>
              <a:rPr lang="en-US" altLang="zh-TW" sz="2400" i="1" baseline="30000" dirty="0">
                <a:latin typeface="Times New Roman" panose="02020603050405020304" pitchFamily="18" charset="0"/>
                <a:cs typeface="Times New Roman" panose="02020603050405020304" pitchFamily="18" charset="0"/>
                <a:sym typeface="Symbol" panose="05050102010706020507" pitchFamily="18" charset="2"/>
              </a:rPr>
              <a:t>n</a:t>
            </a:r>
            <a:r>
              <a:rPr lang="zh-TW" altLang="en-US" sz="2400" dirty="0">
                <a:latin typeface="Times New Roman" panose="02020603050405020304" pitchFamily="18" charset="0"/>
                <a:cs typeface="Times New Roman" panose="02020603050405020304" pitchFamily="18" charset="0"/>
                <a:sym typeface="Symbol" panose="05050102010706020507" pitchFamily="18" charset="2"/>
              </a:rPr>
              <a:t>，</a:t>
            </a: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length of </a:t>
            </a:r>
            <a:r>
              <a:rPr lang="en-US" altLang="zh-TW" sz="24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kernel(</a:t>
            </a:r>
            <a:r>
              <a:rPr lang="zh-TW" altLang="en-US" sz="2400" i="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TW" sz="2400" i="1" baseline="30000" dirty="0" err="1">
                <a:solidFill>
                  <a:srgbClr val="FF0000"/>
                </a:solidFill>
                <a:latin typeface="Times New Roman" panose="02020603050405020304" pitchFamily="18" charset="0"/>
                <a:cs typeface="Times New Roman" panose="02020603050405020304" pitchFamily="18" charset="0"/>
                <a:sym typeface="Symbol" panose="05050102010706020507" pitchFamily="18" charset="2"/>
              </a:rPr>
              <a:t>i</a:t>
            </a:r>
            <a:r>
              <a:rPr lang="zh-TW" altLang="en-US" sz="2400" i="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TW" sz="2400" baseline="30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2</a:t>
            </a:r>
            <a:r>
              <a:rPr lang="en-US" altLang="zh-TW" sz="2400" i="1" baseline="30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n</a:t>
            </a:r>
            <a:r>
              <a:rPr lang="en-US" altLang="zh-TW" sz="2400" baseline="30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-1-</a:t>
            </a:r>
            <a:r>
              <a:rPr lang="en-US" altLang="zh-TW" sz="2400" i="1" baseline="30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i</a:t>
            </a:r>
            <a:r>
              <a:rPr lang="en-US" altLang="zh-TW" sz="24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 is 2</a:t>
            </a:r>
            <a:r>
              <a:rPr lang="en-US" altLang="zh-TW" sz="2400" i="1" dirty="0">
                <a:latin typeface="Times New Roman" panose="02020603050405020304" pitchFamily="18" charset="0"/>
                <a:cs typeface="Times New Roman" panose="02020603050405020304" pitchFamily="18" charset="0"/>
                <a:sym typeface="Symbol" panose="05050102010706020507" pitchFamily="18" charset="2"/>
              </a:rPr>
              <a:t>n</a:t>
            </a:r>
          </a:p>
          <a:p>
            <a:pPr marL="0" indent="0">
              <a:buNone/>
            </a:pP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a kernel must be matched entirely within a vertex</a:t>
            </a:r>
            <a:br>
              <a:rPr lang="en-US" altLang="zh-TW" sz="2400" dirty="0">
                <a:latin typeface="Times New Roman" panose="02020603050405020304" pitchFamily="18" charset="0"/>
                <a:cs typeface="Times New Roman" panose="02020603050405020304" pitchFamily="18" charset="0"/>
                <a:sym typeface="Symbol" panose="05050102010706020507" pitchFamily="18" charset="2"/>
              </a:rPr>
            </a:br>
            <a:endParaRPr lang="en-US" altLang="zh-TW" sz="2400" i="1" dirty="0">
              <a:latin typeface="Times New Roman" panose="02020603050405020304" pitchFamily="18" charset="0"/>
              <a:cs typeface="Times New Roman" panose="02020603050405020304" pitchFamily="18" charset="0"/>
              <a:sym typeface="Symbol" panose="05050102010706020507" pitchFamily="18" charset="2"/>
            </a:endParaRPr>
          </a:p>
          <a:p>
            <a:pPr marL="514350" indent="-514350">
              <a:buFont typeface="+mj-lt"/>
              <a:buAutoNum type="arabicPeriod" startAt="2"/>
            </a:pP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if a kernel aligns across two vertices, (2</a:t>
            </a:r>
            <a:r>
              <a:rPr lang="en-US" altLang="zh-TW" sz="2400"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-1) </a:t>
            </a:r>
            <a:r>
              <a:rPr lang="zh-TW" altLang="en-US" sz="2400" i="1" dirty="0">
                <a:latin typeface="Times New Roman" panose="02020603050405020304" pitchFamily="18" charset="0"/>
                <a:cs typeface="Times New Roman" panose="02020603050405020304" pitchFamily="18" charset="0"/>
                <a:sym typeface="Symbol" panose="05050102010706020507" pitchFamily="18" charset="2"/>
              </a:rPr>
              <a:t> </a:t>
            </a: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will be replaced with </a:t>
            </a:r>
            <a:r>
              <a:rPr lang="zh-TW" altLang="en-US" sz="2400" i="1" dirty="0">
                <a:latin typeface="Times New Roman" panose="02020603050405020304" pitchFamily="18" charset="0"/>
                <a:cs typeface="Times New Roman" panose="02020603050405020304" pitchFamily="18" charset="0"/>
                <a:sym typeface="Symbol" panose="05050102010706020507" pitchFamily="18" charset="2"/>
              </a:rPr>
              <a:t></a:t>
            </a: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 &gt; </a:t>
            </a:r>
            <a:r>
              <a:rPr lang="en-US" altLang="zh-TW" sz="2400"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 edits</a:t>
            </a:r>
            <a:br>
              <a:rPr lang="en-US" altLang="zh-TW" sz="2400" dirty="0">
                <a:latin typeface="Times New Roman" panose="02020603050405020304" pitchFamily="18" charset="0"/>
                <a:cs typeface="Times New Roman" panose="02020603050405020304" pitchFamily="18" charset="0"/>
                <a:sym typeface="Symbol" panose="05050102010706020507" pitchFamily="18" charset="2"/>
              </a:rPr>
            </a:br>
            <a:endParaRPr lang="en-US" altLang="zh-TW" sz="2400" dirty="0">
              <a:latin typeface="Times New Roman" panose="02020603050405020304" pitchFamily="18" charset="0"/>
              <a:cs typeface="Times New Roman" panose="02020603050405020304" pitchFamily="18" charset="0"/>
              <a:sym typeface="Symbol" panose="05050102010706020507" pitchFamily="18" charset="2"/>
            </a:endParaRPr>
          </a:p>
          <a:p>
            <a:pPr marL="0" indent="0">
              <a:buNone/>
            </a:pPr>
            <a:r>
              <a:rPr lang="en-US" altLang="zh-TW" sz="2400" dirty="0">
                <a:latin typeface="Courier New" panose="02070309020205020404" pitchFamily="49" charset="0"/>
                <a:cs typeface="Courier New" panose="02070309020205020404" pitchFamily="49" charset="0"/>
                <a:sym typeface="Symbol" panose="05050102010706020507" pitchFamily="18" charset="2"/>
              </a:rPr>
              <a:t>Origin</a:t>
            </a:r>
            <a:r>
              <a:rPr lang="en-US" altLang="zh-TW" sz="2400" baseline="-25000" dirty="0">
                <a:latin typeface="Courier New" panose="02070309020205020404" pitchFamily="49" charset="0"/>
                <a:cs typeface="Courier New" panose="02070309020205020404" pitchFamily="49" charset="0"/>
                <a:sym typeface="Symbol" panose="05050102010706020507" pitchFamily="18" charset="2"/>
              </a:rPr>
              <a:t> </a:t>
            </a:r>
            <a:r>
              <a:rPr lang="en-US" altLang="zh-TW" sz="2400" dirty="0">
                <a:latin typeface="Courier New" panose="02070309020205020404" pitchFamily="49" charset="0"/>
                <a:cs typeface="Courier New" panose="02070309020205020404" pitchFamily="49" charset="0"/>
                <a:sym typeface="Symbol" panose="05050102010706020507" pitchFamily="18" charset="2"/>
              </a:rPr>
              <a:t>: </a:t>
            </a:r>
            <a:r>
              <a:rPr lang="zh-TW" altLang="en-US" sz="2400" i="1" dirty="0">
                <a:latin typeface="Courier New" panose="02070309020205020404" pitchFamily="49" charset="0"/>
                <a:cs typeface="Courier New" panose="02070309020205020404" pitchFamily="49" charset="0"/>
                <a:sym typeface="Symbol" panose="05050102010706020507" pitchFamily="18" charset="2"/>
              </a:rPr>
              <a:t></a:t>
            </a:r>
            <a:r>
              <a:rPr lang="en-US" altLang="zh-TW" sz="2400" i="1" baseline="30000" dirty="0">
                <a:latin typeface="Courier New" panose="02070309020205020404" pitchFamily="49" charset="0"/>
                <a:cs typeface="Courier New" panose="02070309020205020404" pitchFamily="49" charset="0"/>
                <a:sym typeface="Symbol" panose="05050102010706020507" pitchFamily="18" charset="2"/>
              </a:rPr>
              <a:t>8</a:t>
            </a:r>
            <a:r>
              <a:rPr lang="zh-TW" altLang="en-US" sz="2400" i="1" dirty="0">
                <a:latin typeface="Courier New" panose="02070309020205020404" pitchFamily="49" charset="0"/>
                <a:cs typeface="Courier New" panose="02070309020205020404" pitchFamily="49" charset="0"/>
                <a:sym typeface="Symbol" panose="05050102010706020507" pitchFamily="18" charset="2"/>
              </a:rPr>
              <a:t></a:t>
            </a:r>
            <a:r>
              <a:rPr lang="en-US" altLang="zh-TW" sz="2400" i="1" baseline="30000" dirty="0">
                <a:latin typeface="Courier New" panose="02070309020205020404" pitchFamily="49" charset="0"/>
                <a:cs typeface="Courier New" panose="02070309020205020404" pitchFamily="49" charset="0"/>
                <a:sym typeface="Symbol" panose="05050102010706020507" pitchFamily="18" charset="2"/>
              </a:rPr>
              <a:t>8</a:t>
            </a:r>
            <a:r>
              <a:rPr lang="zh-TW" altLang="en-US" sz="2400" i="1" dirty="0">
                <a:latin typeface="Courier New" panose="02070309020205020404" pitchFamily="49" charset="0"/>
                <a:cs typeface="Courier New" panose="02070309020205020404" pitchFamily="49" charset="0"/>
                <a:sym typeface="Symbol" panose="05050102010706020507" pitchFamily="18" charset="2"/>
              </a:rPr>
              <a:t> </a:t>
            </a:r>
            <a:r>
              <a:rPr lang="en-US" altLang="zh-TW" sz="2400" i="1" baseline="30000" dirty="0">
                <a:latin typeface="Courier New" panose="02070309020205020404" pitchFamily="49" charset="0"/>
                <a:cs typeface="Courier New" panose="02070309020205020404" pitchFamily="49" charset="0"/>
                <a:sym typeface="Symbol" panose="05050102010706020507" pitchFamily="18" charset="2"/>
              </a:rPr>
              <a:t>8</a:t>
            </a:r>
            <a:r>
              <a:rPr lang="zh-TW" altLang="en-US" sz="2400" i="1" dirty="0">
                <a:latin typeface="Courier New" panose="02070309020205020404" pitchFamily="49" charset="0"/>
                <a:cs typeface="Courier New" panose="02070309020205020404" pitchFamily="49" charset="0"/>
                <a:sym typeface="Symbol" panose="05050102010706020507" pitchFamily="18" charset="2"/>
              </a:rPr>
              <a:t></a:t>
            </a:r>
            <a:r>
              <a:rPr lang="en-US" altLang="zh-TW" sz="2400" i="1" baseline="30000" dirty="0">
                <a:latin typeface="Courier New" panose="02070309020205020404" pitchFamily="49" charset="0"/>
                <a:cs typeface="Courier New" panose="02070309020205020404" pitchFamily="49" charset="0"/>
                <a:sym typeface="Symbol" panose="05050102010706020507" pitchFamily="18" charset="2"/>
              </a:rPr>
              <a:t>8</a:t>
            </a:r>
          </a:p>
          <a:p>
            <a:pPr marL="0" indent="0">
              <a:buNone/>
            </a:pPr>
            <a:r>
              <a:rPr lang="en-US" altLang="zh-TW" sz="2400" dirty="0">
                <a:latin typeface="Courier New" panose="02070309020205020404" pitchFamily="49" charset="0"/>
                <a:cs typeface="Courier New" panose="02070309020205020404" pitchFamily="49" charset="0"/>
                <a:sym typeface="Symbol" panose="05050102010706020507" pitchFamily="18" charset="2"/>
              </a:rPr>
              <a:t>Kernel</a:t>
            </a:r>
            <a:r>
              <a:rPr lang="en-US" altLang="zh-TW" sz="2400" baseline="-25000" dirty="0">
                <a:latin typeface="Courier New" panose="02070309020205020404" pitchFamily="49" charset="0"/>
                <a:cs typeface="Courier New" panose="02070309020205020404" pitchFamily="49" charset="0"/>
                <a:sym typeface="Symbol" panose="05050102010706020507" pitchFamily="18" charset="2"/>
              </a:rPr>
              <a:t>1</a:t>
            </a:r>
            <a:r>
              <a:rPr lang="en-US" altLang="zh-TW" sz="2400" dirty="0">
                <a:latin typeface="Courier New" panose="02070309020205020404" pitchFamily="49" charset="0"/>
                <a:cs typeface="Courier New" panose="02070309020205020404" pitchFamily="49" charset="0"/>
                <a:sym typeface="Symbol" panose="05050102010706020507" pitchFamily="18" charset="2"/>
              </a:rPr>
              <a:t>: </a:t>
            </a:r>
            <a:r>
              <a:rPr lang="zh-TW" altLang="en-US" sz="2400" i="1" dirty="0">
                <a:latin typeface="Courier New" panose="02070309020205020404" pitchFamily="49" charset="0"/>
                <a:cs typeface="Courier New" panose="02070309020205020404" pitchFamily="49" charset="0"/>
                <a:sym typeface="Symbol" panose="05050102010706020507" pitchFamily="18" charset="2"/>
              </a:rPr>
              <a:t></a:t>
            </a:r>
            <a:r>
              <a:rPr lang="en-US" altLang="zh-TW" sz="2400" i="1" baseline="30000" dirty="0">
                <a:latin typeface="Courier New" panose="02070309020205020404" pitchFamily="49" charset="0"/>
                <a:cs typeface="Courier New" panose="02070309020205020404" pitchFamily="49" charset="0"/>
                <a:sym typeface="Symbol" panose="05050102010706020507" pitchFamily="18" charset="2"/>
              </a:rPr>
              <a:t>8</a:t>
            </a:r>
            <a:r>
              <a:rPr lang="zh-TW" altLang="en-US" sz="2400" i="1" dirty="0">
                <a:latin typeface="Courier New" panose="02070309020205020404" pitchFamily="49" charset="0"/>
                <a:cs typeface="Courier New" panose="02070309020205020404" pitchFamily="49" charset="0"/>
                <a:sym typeface="Symbol" panose="05050102010706020507" pitchFamily="18" charset="2"/>
              </a:rPr>
              <a:t></a:t>
            </a:r>
            <a:r>
              <a:rPr lang="en-US" altLang="zh-TW" sz="2400" i="1" baseline="30000" dirty="0">
                <a:latin typeface="Courier New" panose="02070309020205020404" pitchFamily="49" charset="0"/>
                <a:cs typeface="Courier New" panose="02070309020205020404" pitchFamily="49" charset="0"/>
                <a:sym typeface="Symbol" panose="05050102010706020507" pitchFamily="18" charset="2"/>
              </a:rPr>
              <a:t>8</a:t>
            </a:r>
            <a:r>
              <a:rPr lang="zh-TW" altLang="en-US" sz="2400" i="1" dirty="0">
                <a:latin typeface="Courier New" panose="02070309020205020404" pitchFamily="49" charset="0"/>
                <a:cs typeface="Courier New" panose="02070309020205020404" pitchFamily="49" charset="0"/>
                <a:sym typeface="Symbol" panose="05050102010706020507" pitchFamily="18" charset="2"/>
              </a:rPr>
              <a:t></a:t>
            </a:r>
            <a:r>
              <a:rPr lang="zh-TW" altLang="en-US" sz="2400" i="1" dirty="0">
                <a:highlight>
                  <a:srgbClr val="FCEBE0"/>
                </a:highlight>
                <a:latin typeface="Courier New" panose="02070309020205020404" pitchFamily="49" charset="0"/>
                <a:cs typeface="Courier New" panose="02070309020205020404" pitchFamily="49" charset="0"/>
                <a:sym typeface="Symbol" panose="05050102010706020507" pitchFamily="18" charset="2"/>
              </a:rPr>
              <a:t> </a:t>
            </a:r>
            <a:r>
              <a:rPr lang="zh-TW" altLang="en-US" sz="2400" i="1" dirty="0">
                <a:solidFill>
                  <a:srgbClr val="00B0F0"/>
                </a:solidFill>
                <a:highlight>
                  <a:srgbClr val="FCEBE0"/>
                </a:highlight>
                <a:latin typeface="Courier New" panose="02070309020205020404" pitchFamily="49" charset="0"/>
                <a:cs typeface="Courier New" panose="02070309020205020404" pitchFamily="49" charset="0"/>
                <a:sym typeface="Symbol" panose="05050102010706020507" pitchFamily="18" charset="2"/>
              </a:rPr>
              <a:t></a:t>
            </a:r>
            <a:r>
              <a:rPr lang="zh-TW" altLang="en-US" sz="2400" i="1" dirty="0">
                <a:latin typeface="Courier New" panose="02070309020205020404" pitchFamily="49" charset="0"/>
                <a:cs typeface="Courier New" panose="02070309020205020404" pitchFamily="49" charset="0"/>
                <a:sym typeface="Symbol" panose="05050102010706020507" pitchFamily="18" charset="2"/>
              </a:rPr>
              <a:t></a:t>
            </a:r>
            <a:r>
              <a:rPr lang="en-US" altLang="zh-TW" sz="2400" i="1" baseline="30000" dirty="0">
                <a:latin typeface="Courier New" panose="02070309020205020404" pitchFamily="49" charset="0"/>
                <a:cs typeface="Courier New" panose="02070309020205020404" pitchFamily="49" charset="0"/>
                <a:sym typeface="Symbol" panose="05050102010706020507" pitchFamily="18" charset="2"/>
              </a:rPr>
              <a:t>8</a:t>
            </a:r>
            <a:r>
              <a:rPr lang="zh-TW" altLang="en-US" sz="2400" i="1" dirty="0">
                <a:latin typeface="Courier New" panose="02070309020205020404" pitchFamily="49" charset="0"/>
                <a:cs typeface="Courier New" panose="02070309020205020404" pitchFamily="49" charset="0"/>
                <a:sym typeface="Symbol" panose="05050102010706020507" pitchFamily="18" charset="2"/>
              </a:rPr>
              <a:t></a:t>
            </a:r>
            <a:r>
              <a:rPr lang="en-US" altLang="zh-TW" sz="2400" i="1" baseline="30000" dirty="0">
                <a:latin typeface="Courier New" panose="02070309020205020404" pitchFamily="49" charset="0"/>
                <a:cs typeface="Courier New" panose="02070309020205020404" pitchFamily="49" charset="0"/>
                <a:sym typeface="Symbol" panose="05050102010706020507" pitchFamily="18" charset="2"/>
              </a:rPr>
              <a:t>8</a:t>
            </a:r>
          </a:p>
          <a:p>
            <a:pPr marL="0" indent="0">
              <a:buNone/>
            </a:pPr>
            <a:r>
              <a:rPr lang="en-US" altLang="zh-TW" sz="2400" dirty="0">
                <a:latin typeface="Courier New" panose="02070309020205020404" pitchFamily="49" charset="0"/>
                <a:cs typeface="Courier New" panose="02070309020205020404" pitchFamily="49" charset="0"/>
                <a:sym typeface="Symbol" panose="05050102010706020507" pitchFamily="18" charset="2"/>
              </a:rPr>
              <a:t>Kernel</a:t>
            </a:r>
            <a:r>
              <a:rPr lang="en-US" altLang="zh-TW" sz="2400" baseline="-25000" dirty="0">
                <a:latin typeface="Courier New" panose="02070309020205020404" pitchFamily="49" charset="0"/>
                <a:cs typeface="Courier New" panose="02070309020205020404" pitchFamily="49" charset="0"/>
                <a:sym typeface="Symbol" panose="05050102010706020507" pitchFamily="18" charset="2"/>
              </a:rPr>
              <a:t>2</a:t>
            </a:r>
            <a:r>
              <a:rPr lang="en-US" altLang="zh-TW" sz="2400" dirty="0">
                <a:latin typeface="Courier New" panose="02070309020205020404" pitchFamily="49" charset="0"/>
                <a:cs typeface="Courier New" panose="02070309020205020404" pitchFamily="49" charset="0"/>
                <a:sym typeface="Symbol" panose="05050102010706020507" pitchFamily="18" charset="2"/>
              </a:rPr>
              <a:t>: </a:t>
            </a:r>
            <a:r>
              <a:rPr lang="zh-TW" altLang="en-US" sz="2400" i="1" dirty="0">
                <a:latin typeface="Courier New" panose="02070309020205020404" pitchFamily="49" charset="0"/>
                <a:cs typeface="Courier New" panose="02070309020205020404" pitchFamily="49" charset="0"/>
                <a:sym typeface="Symbol" panose="05050102010706020507" pitchFamily="18" charset="2"/>
              </a:rPr>
              <a:t></a:t>
            </a:r>
            <a:r>
              <a:rPr lang="en-US" altLang="zh-TW" sz="2400" i="1" baseline="30000" dirty="0">
                <a:latin typeface="Courier New" panose="02070309020205020404" pitchFamily="49" charset="0"/>
                <a:cs typeface="Courier New" panose="02070309020205020404" pitchFamily="49" charset="0"/>
                <a:sym typeface="Symbol" panose="05050102010706020507" pitchFamily="18" charset="2"/>
              </a:rPr>
              <a:t>8</a:t>
            </a:r>
            <a:r>
              <a:rPr lang="zh-TW" altLang="en-US" sz="2400" i="1" dirty="0">
                <a:latin typeface="Courier New" panose="02070309020205020404" pitchFamily="49" charset="0"/>
                <a:cs typeface="Courier New" panose="02070309020205020404" pitchFamily="49" charset="0"/>
                <a:sym typeface="Symbol" panose="05050102010706020507" pitchFamily="18" charset="2"/>
              </a:rPr>
              <a:t></a:t>
            </a:r>
            <a:r>
              <a:rPr lang="en-US" altLang="zh-TW" sz="2400" i="1" baseline="30000" dirty="0">
                <a:latin typeface="Courier New" panose="02070309020205020404" pitchFamily="49" charset="0"/>
                <a:cs typeface="Courier New" panose="02070309020205020404" pitchFamily="49" charset="0"/>
                <a:sym typeface="Symbol" panose="05050102010706020507" pitchFamily="18" charset="2"/>
              </a:rPr>
              <a:t>8</a:t>
            </a:r>
            <a:r>
              <a:rPr lang="zh-TW" altLang="en-US" sz="2400" i="1" dirty="0">
                <a:latin typeface="Courier New" panose="02070309020205020404" pitchFamily="49" charset="0"/>
                <a:cs typeface="Courier New" panose="02070309020205020404" pitchFamily="49" charset="0"/>
                <a:sym typeface="Symbol" panose="05050102010706020507" pitchFamily="18" charset="2"/>
              </a:rPr>
              <a:t></a:t>
            </a:r>
            <a:r>
              <a:rPr lang="zh-TW" altLang="en-US" sz="2400" i="1" dirty="0">
                <a:solidFill>
                  <a:srgbClr val="00B0F0"/>
                </a:solidFill>
                <a:highlight>
                  <a:srgbClr val="FCEBE0"/>
                </a:highlight>
                <a:latin typeface="Courier New" panose="02070309020205020404" pitchFamily="49" charset="0"/>
                <a:cs typeface="Courier New" panose="02070309020205020404" pitchFamily="49" charset="0"/>
                <a:sym typeface="Symbol" panose="05050102010706020507" pitchFamily="18" charset="2"/>
              </a:rPr>
              <a:t></a:t>
            </a:r>
            <a:r>
              <a:rPr lang="zh-TW" altLang="en-US" sz="2400" i="1" dirty="0">
                <a:highlight>
                  <a:srgbClr val="FCEBE0"/>
                </a:highlight>
                <a:latin typeface="Courier New" panose="02070309020205020404" pitchFamily="49" charset="0"/>
                <a:cs typeface="Courier New" panose="02070309020205020404" pitchFamily="49" charset="0"/>
                <a:sym typeface="Symbol" panose="05050102010706020507" pitchFamily="18" charset="2"/>
              </a:rPr>
              <a:t> </a:t>
            </a:r>
            <a:r>
              <a:rPr lang="zh-TW" altLang="en-US" sz="2400" i="1" dirty="0">
                <a:solidFill>
                  <a:srgbClr val="00B0F0"/>
                </a:solidFill>
                <a:highlight>
                  <a:srgbClr val="FCEBE0"/>
                </a:highlight>
                <a:latin typeface="Courier New" panose="02070309020205020404" pitchFamily="49" charset="0"/>
                <a:cs typeface="Courier New" panose="02070309020205020404" pitchFamily="49" charset="0"/>
                <a:sym typeface="Symbol" panose="05050102010706020507" pitchFamily="18" charset="2"/>
              </a:rPr>
              <a:t></a:t>
            </a:r>
            <a:r>
              <a:rPr lang="zh-TW" altLang="en-US" sz="2400" i="1" dirty="0">
                <a:latin typeface="Courier New" panose="02070309020205020404" pitchFamily="49" charset="0"/>
                <a:cs typeface="Courier New" panose="02070309020205020404" pitchFamily="49" charset="0"/>
                <a:sym typeface="Symbol" panose="05050102010706020507" pitchFamily="18" charset="2"/>
              </a:rPr>
              <a:t></a:t>
            </a:r>
            <a:r>
              <a:rPr lang="en-US" altLang="zh-TW" sz="2400" i="1" baseline="30000" dirty="0">
                <a:latin typeface="Courier New" panose="02070309020205020404" pitchFamily="49" charset="0"/>
                <a:cs typeface="Courier New" panose="02070309020205020404" pitchFamily="49" charset="0"/>
                <a:sym typeface="Symbol" panose="05050102010706020507" pitchFamily="18" charset="2"/>
              </a:rPr>
              <a:t>2</a:t>
            </a:r>
            <a:r>
              <a:rPr lang="zh-TW" altLang="en-US" sz="2400" i="1" dirty="0">
                <a:latin typeface="Courier New" panose="02070309020205020404" pitchFamily="49" charset="0"/>
                <a:cs typeface="Courier New" panose="02070309020205020404" pitchFamily="49" charset="0"/>
                <a:sym typeface="Symbol" panose="05050102010706020507" pitchFamily="18" charset="2"/>
              </a:rPr>
              <a:t></a:t>
            </a:r>
            <a:r>
              <a:rPr lang="en-US" altLang="zh-TW" sz="2400" i="1" baseline="30000" dirty="0">
                <a:latin typeface="Courier New" panose="02070309020205020404" pitchFamily="49" charset="0"/>
                <a:cs typeface="Courier New" panose="02070309020205020404" pitchFamily="49" charset="0"/>
                <a:sym typeface="Symbol" panose="05050102010706020507" pitchFamily="18" charset="2"/>
              </a:rPr>
              <a:t>8</a:t>
            </a:r>
            <a:r>
              <a:rPr lang="zh-TW" altLang="en-US" sz="2400" i="1" dirty="0">
                <a:latin typeface="Courier New" panose="02070309020205020404" pitchFamily="49" charset="0"/>
                <a:cs typeface="Courier New" panose="02070309020205020404" pitchFamily="49" charset="0"/>
                <a:sym typeface="Symbol" panose="05050102010706020507" pitchFamily="18" charset="2"/>
              </a:rPr>
              <a:t></a:t>
            </a:r>
            <a:r>
              <a:rPr lang="en-US" altLang="zh-TW" sz="2400" i="1" baseline="30000" dirty="0">
                <a:latin typeface="Courier New" panose="02070309020205020404" pitchFamily="49" charset="0"/>
                <a:cs typeface="Courier New" panose="02070309020205020404" pitchFamily="49" charset="0"/>
                <a:sym typeface="Symbol" panose="05050102010706020507" pitchFamily="18" charset="2"/>
              </a:rPr>
              <a:t>8</a:t>
            </a:r>
          </a:p>
          <a:p>
            <a:pPr marL="0" indent="0">
              <a:buNone/>
            </a:pPr>
            <a:r>
              <a:rPr lang="en-US" altLang="zh-TW" sz="2400" dirty="0">
                <a:latin typeface="Courier New" panose="02070309020205020404" pitchFamily="49" charset="0"/>
                <a:cs typeface="Courier New" panose="02070309020205020404" pitchFamily="49" charset="0"/>
                <a:sym typeface="Symbol" panose="05050102010706020507" pitchFamily="18" charset="2"/>
              </a:rPr>
              <a:t>Kernel</a:t>
            </a:r>
            <a:r>
              <a:rPr lang="en-US" altLang="zh-TW" sz="2400" baseline="-25000" dirty="0">
                <a:latin typeface="Courier New" panose="02070309020205020404" pitchFamily="49" charset="0"/>
                <a:cs typeface="Courier New" panose="02070309020205020404" pitchFamily="49" charset="0"/>
                <a:sym typeface="Symbol" panose="05050102010706020507" pitchFamily="18" charset="2"/>
              </a:rPr>
              <a:t>3</a:t>
            </a:r>
            <a:r>
              <a:rPr lang="en-US" altLang="zh-TW" sz="2400" dirty="0">
                <a:latin typeface="Courier New" panose="02070309020205020404" pitchFamily="49" charset="0"/>
                <a:cs typeface="Courier New" panose="02070309020205020404" pitchFamily="49" charset="0"/>
                <a:sym typeface="Symbol" panose="05050102010706020507" pitchFamily="18" charset="2"/>
              </a:rPr>
              <a:t>: </a:t>
            </a:r>
            <a:r>
              <a:rPr lang="zh-TW" altLang="en-US" sz="2400" i="1" dirty="0">
                <a:latin typeface="Courier New" panose="02070309020205020404" pitchFamily="49" charset="0"/>
                <a:cs typeface="Courier New" panose="02070309020205020404" pitchFamily="49" charset="0"/>
                <a:sym typeface="Symbol" panose="05050102010706020507" pitchFamily="18" charset="2"/>
              </a:rPr>
              <a:t></a:t>
            </a:r>
            <a:r>
              <a:rPr lang="en-US" altLang="zh-TW" sz="2400" i="1" baseline="30000" dirty="0">
                <a:latin typeface="Courier New" panose="02070309020205020404" pitchFamily="49" charset="0"/>
                <a:cs typeface="Courier New" panose="02070309020205020404" pitchFamily="49" charset="0"/>
                <a:sym typeface="Symbol" panose="05050102010706020507" pitchFamily="18" charset="2"/>
              </a:rPr>
              <a:t>8</a:t>
            </a:r>
            <a:r>
              <a:rPr lang="zh-TW" altLang="en-US" sz="2400" i="1" dirty="0">
                <a:latin typeface="Courier New" panose="02070309020205020404" pitchFamily="49" charset="0"/>
                <a:cs typeface="Courier New" panose="02070309020205020404" pitchFamily="49" charset="0"/>
                <a:sym typeface="Symbol" panose="05050102010706020507" pitchFamily="18" charset="2"/>
              </a:rPr>
              <a:t></a:t>
            </a:r>
            <a:r>
              <a:rPr lang="en-US" altLang="zh-TW" sz="2400" i="1" baseline="30000" dirty="0">
                <a:latin typeface="Courier New" panose="02070309020205020404" pitchFamily="49" charset="0"/>
                <a:cs typeface="Courier New" panose="02070309020205020404" pitchFamily="49" charset="0"/>
                <a:sym typeface="Symbol" panose="05050102010706020507" pitchFamily="18" charset="2"/>
              </a:rPr>
              <a:t>8</a:t>
            </a:r>
            <a:r>
              <a:rPr lang="zh-TW" altLang="en-US" sz="2400" i="1" dirty="0">
                <a:latin typeface="Courier New" panose="02070309020205020404" pitchFamily="49" charset="0"/>
                <a:cs typeface="Courier New" panose="02070309020205020404" pitchFamily="49" charset="0"/>
                <a:sym typeface="Symbol" panose="05050102010706020507" pitchFamily="18" charset="2"/>
              </a:rPr>
              <a:t></a:t>
            </a:r>
            <a:r>
              <a:rPr lang="zh-TW" altLang="en-US" sz="2400" i="1" dirty="0">
                <a:solidFill>
                  <a:srgbClr val="00B0F0"/>
                </a:solidFill>
                <a:highlight>
                  <a:srgbClr val="FCEBE0"/>
                </a:highlight>
                <a:latin typeface="Courier New" panose="02070309020205020404" pitchFamily="49" charset="0"/>
                <a:cs typeface="Courier New" panose="02070309020205020404" pitchFamily="49" charset="0"/>
                <a:sym typeface="Symbol" panose="05050102010706020507" pitchFamily="18" charset="2"/>
              </a:rPr>
              <a:t></a:t>
            </a:r>
            <a:r>
              <a:rPr lang="zh-TW" altLang="en-US" sz="2400" i="1" dirty="0">
                <a:highlight>
                  <a:srgbClr val="FCEBE0"/>
                </a:highlight>
                <a:latin typeface="Courier New" panose="02070309020205020404" pitchFamily="49" charset="0"/>
                <a:cs typeface="Courier New" panose="02070309020205020404" pitchFamily="49" charset="0"/>
                <a:sym typeface="Symbol" panose="05050102010706020507" pitchFamily="18" charset="2"/>
              </a:rPr>
              <a:t> </a:t>
            </a:r>
            <a:r>
              <a:rPr lang="zh-TW" altLang="en-US" sz="2400" i="1" dirty="0">
                <a:solidFill>
                  <a:srgbClr val="00B0F0"/>
                </a:solidFill>
                <a:highlight>
                  <a:srgbClr val="FCEBE0"/>
                </a:highlight>
                <a:latin typeface="Courier New" panose="02070309020205020404" pitchFamily="49" charset="0"/>
                <a:cs typeface="Courier New" panose="02070309020205020404" pitchFamily="49" charset="0"/>
                <a:sym typeface="Symbol" panose="05050102010706020507" pitchFamily="18" charset="2"/>
              </a:rPr>
              <a:t></a:t>
            </a:r>
            <a:r>
              <a:rPr lang="zh-TW" altLang="en-US" sz="2400" i="1" dirty="0">
                <a:latin typeface="Courier New" panose="02070309020205020404" pitchFamily="49" charset="0"/>
                <a:cs typeface="Courier New" panose="02070309020205020404" pitchFamily="49" charset="0"/>
                <a:sym typeface="Symbol" panose="05050102010706020507" pitchFamily="18" charset="2"/>
              </a:rPr>
              <a:t></a:t>
            </a:r>
            <a:r>
              <a:rPr lang="en-US" altLang="zh-TW" sz="2400" i="1" baseline="30000" dirty="0">
                <a:latin typeface="Courier New" panose="02070309020205020404" pitchFamily="49" charset="0"/>
                <a:cs typeface="Courier New" panose="02070309020205020404" pitchFamily="49" charset="0"/>
                <a:sym typeface="Symbol" panose="05050102010706020507" pitchFamily="18" charset="2"/>
              </a:rPr>
              <a:t>3</a:t>
            </a:r>
            <a:r>
              <a:rPr lang="zh-TW" altLang="en-US" sz="2400" i="1" dirty="0">
                <a:latin typeface="Courier New" panose="02070309020205020404" pitchFamily="49" charset="0"/>
                <a:cs typeface="Courier New" panose="02070309020205020404" pitchFamily="49" charset="0"/>
                <a:sym typeface="Symbol" panose="05050102010706020507" pitchFamily="18" charset="2"/>
              </a:rPr>
              <a:t></a:t>
            </a:r>
            <a:r>
              <a:rPr lang="en-US" altLang="zh-TW" sz="2400" i="1" baseline="30000" dirty="0">
                <a:latin typeface="Courier New" panose="02070309020205020404" pitchFamily="49" charset="0"/>
                <a:cs typeface="Courier New" panose="02070309020205020404" pitchFamily="49" charset="0"/>
                <a:sym typeface="Symbol" panose="05050102010706020507" pitchFamily="18" charset="2"/>
              </a:rPr>
              <a:t>8</a:t>
            </a:r>
            <a:r>
              <a:rPr lang="zh-TW" altLang="en-US" sz="2400" i="1" dirty="0">
                <a:latin typeface="Courier New" panose="02070309020205020404" pitchFamily="49" charset="0"/>
                <a:cs typeface="Courier New" panose="02070309020205020404" pitchFamily="49" charset="0"/>
                <a:sym typeface="Symbol" panose="05050102010706020507" pitchFamily="18" charset="2"/>
              </a:rPr>
              <a:t></a:t>
            </a:r>
            <a:r>
              <a:rPr lang="en-US" altLang="zh-TW" sz="2400" i="1" baseline="30000" dirty="0">
                <a:latin typeface="Courier New" panose="02070309020205020404" pitchFamily="49" charset="0"/>
                <a:cs typeface="Courier New" panose="02070309020205020404" pitchFamily="49" charset="0"/>
                <a:sym typeface="Symbol" panose="05050102010706020507" pitchFamily="18" charset="2"/>
              </a:rPr>
              <a:t>8</a:t>
            </a:r>
          </a:p>
          <a:p>
            <a:pPr marL="0" indent="0">
              <a:buNone/>
            </a:pPr>
            <a:r>
              <a:rPr lang="en-US" altLang="zh-TW" sz="2400" dirty="0">
                <a:latin typeface="Courier New" panose="02070309020205020404" pitchFamily="49" charset="0"/>
                <a:cs typeface="Courier New" panose="02070309020205020404" pitchFamily="49" charset="0"/>
                <a:sym typeface="Symbol" panose="05050102010706020507" pitchFamily="18" charset="2"/>
              </a:rPr>
              <a:t>Kernel</a:t>
            </a:r>
            <a:r>
              <a:rPr lang="en-US" altLang="zh-TW" sz="2400" baseline="-25000" dirty="0">
                <a:latin typeface="Courier New" panose="02070309020205020404" pitchFamily="49" charset="0"/>
                <a:cs typeface="Courier New" panose="02070309020205020404" pitchFamily="49" charset="0"/>
                <a:sym typeface="Symbol" panose="05050102010706020507" pitchFamily="18" charset="2"/>
              </a:rPr>
              <a:t>4</a:t>
            </a:r>
            <a:r>
              <a:rPr lang="en-US" altLang="zh-TW" sz="2400" dirty="0">
                <a:latin typeface="Courier New" panose="02070309020205020404" pitchFamily="49" charset="0"/>
                <a:cs typeface="Courier New" panose="02070309020205020404" pitchFamily="49" charset="0"/>
                <a:sym typeface="Symbol" panose="05050102010706020507" pitchFamily="18" charset="2"/>
              </a:rPr>
              <a:t>: </a:t>
            </a:r>
            <a:r>
              <a:rPr lang="zh-TW" altLang="en-US" sz="2400" i="1" dirty="0">
                <a:latin typeface="Courier New" panose="02070309020205020404" pitchFamily="49" charset="0"/>
                <a:cs typeface="Courier New" panose="02070309020205020404" pitchFamily="49" charset="0"/>
                <a:sym typeface="Symbol" panose="05050102010706020507" pitchFamily="18" charset="2"/>
              </a:rPr>
              <a:t></a:t>
            </a:r>
            <a:r>
              <a:rPr lang="en-US" altLang="zh-TW" sz="2400" i="1" baseline="30000" dirty="0">
                <a:latin typeface="Courier New" panose="02070309020205020404" pitchFamily="49" charset="0"/>
                <a:cs typeface="Courier New" panose="02070309020205020404" pitchFamily="49" charset="0"/>
                <a:sym typeface="Symbol" panose="05050102010706020507" pitchFamily="18" charset="2"/>
              </a:rPr>
              <a:t>8</a:t>
            </a:r>
            <a:r>
              <a:rPr lang="zh-TW" altLang="en-US" sz="2400" i="1" dirty="0">
                <a:latin typeface="Courier New" panose="02070309020205020404" pitchFamily="49" charset="0"/>
                <a:cs typeface="Courier New" panose="02070309020205020404" pitchFamily="49" charset="0"/>
                <a:sym typeface="Symbol" panose="05050102010706020507" pitchFamily="18" charset="2"/>
              </a:rPr>
              <a:t></a:t>
            </a:r>
            <a:r>
              <a:rPr lang="en-US" altLang="zh-TW" sz="2400" i="1" baseline="30000" dirty="0">
                <a:latin typeface="Courier New" panose="02070309020205020404" pitchFamily="49" charset="0"/>
                <a:cs typeface="Courier New" panose="02070309020205020404" pitchFamily="49" charset="0"/>
                <a:sym typeface="Symbol" panose="05050102010706020507" pitchFamily="18" charset="2"/>
              </a:rPr>
              <a:t>8</a:t>
            </a:r>
            <a:r>
              <a:rPr lang="zh-TW" altLang="en-US" sz="2400" i="1" dirty="0">
                <a:latin typeface="Courier New" panose="02070309020205020404" pitchFamily="49" charset="0"/>
                <a:cs typeface="Courier New" panose="02070309020205020404" pitchFamily="49" charset="0"/>
                <a:sym typeface="Symbol" panose="05050102010706020507" pitchFamily="18" charset="2"/>
              </a:rPr>
              <a:t></a:t>
            </a:r>
            <a:r>
              <a:rPr lang="zh-TW" altLang="en-US" sz="2400" i="1" dirty="0">
                <a:solidFill>
                  <a:srgbClr val="00B0F0"/>
                </a:solidFill>
                <a:highlight>
                  <a:srgbClr val="FCEBE0"/>
                </a:highlight>
                <a:latin typeface="Courier New" panose="02070309020205020404" pitchFamily="49" charset="0"/>
                <a:cs typeface="Courier New" panose="02070309020205020404" pitchFamily="49" charset="0"/>
                <a:sym typeface="Symbol" panose="05050102010706020507" pitchFamily="18" charset="2"/>
              </a:rPr>
              <a:t></a:t>
            </a:r>
            <a:r>
              <a:rPr lang="zh-TW" altLang="en-US" sz="2400" i="1" dirty="0">
                <a:highlight>
                  <a:srgbClr val="FCEBE0"/>
                </a:highlight>
                <a:latin typeface="Courier New" panose="02070309020205020404" pitchFamily="49" charset="0"/>
                <a:cs typeface="Courier New" panose="02070309020205020404" pitchFamily="49" charset="0"/>
                <a:sym typeface="Symbol" panose="05050102010706020507" pitchFamily="18" charset="2"/>
              </a:rPr>
              <a:t> </a:t>
            </a:r>
            <a:r>
              <a:rPr lang="zh-TW" altLang="en-US" sz="2400" i="1" dirty="0">
                <a:solidFill>
                  <a:srgbClr val="00B0F0"/>
                </a:solidFill>
                <a:highlight>
                  <a:srgbClr val="FCEBE0"/>
                </a:highlight>
                <a:latin typeface="Courier New" panose="02070309020205020404" pitchFamily="49" charset="0"/>
                <a:cs typeface="Courier New" panose="02070309020205020404" pitchFamily="49" charset="0"/>
                <a:sym typeface="Symbol" panose="05050102010706020507" pitchFamily="18" charset="2"/>
              </a:rPr>
              <a:t></a:t>
            </a:r>
            <a:r>
              <a:rPr lang="zh-TW" altLang="en-US" sz="2400" i="1" dirty="0">
                <a:latin typeface="Courier New" panose="02070309020205020404" pitchFamily="49" charset="0"/>
                <a:cs typeface="Courier New" panose="02070309020205020404" pitchFamily="49" charset="0"/>
                <a:sym typeface="Symbol" panose="05050102010706020507" pitchFamily="18" charset="2"/>
              </a:rPr>
              <a:t></a:t>
            </a:r>
            <a:r>
              <a:rPr lang="en-US" altLang="zh-TW" sz="2400" i="1" baseline="30000" dirty="0">
                <a:latin typeface="Courier New" panose="02070309020205020404" pitchFamily="49" charset="0"/>
                <a:cs typeface="Courier New" panose="02070309020205020404" pitchFamily="49" charset="0"/>
                <a:sym typeface="Symbol" panose="05050102010706020507" pitchFamily="18" charset="2"/>
              </a:rPr>
              <a:t>4</a:t>
            </a:r>
            <a:r>
              <a:rPr lang="zh-TW" altLang="en-US" sz="2400" i="1" dirty="0">
                <a:latin typeface="Courier New" panose="02070309020205020404" pitchFamily="49" charset="0"/>
                <a:cs typeface="Courier New" panose="02070309020205020404" pitchFamily="49" charset="0"/>
                <a:sym typeface="Symbol" panose="05050102010706020507" pitchFamily="18" charset="2"/>
              </a:rPr>
              <a:t></a:t>
            </a:r>
            <a:r>
              <a:rPr lang="en-US" altLang="zh-TW" sz="2400" i="1" baseline="30000" dirty="0">
                <a:latin typeface="Courier New" panose="02070309020205020404" pitchFamily="49" charset="0"/>
                <a:cs typeface="Courier New" panose="02070309020205020404" pitchFamily="49" charset="0"/>
                <a:sym typeface="Symbol" panose="05050102010706020507" pitchFamily="18" charset="2"/>
              </a:rPr>
              <a:t>8</a:t>
            </a:r>
            <a:r>
              <a:rPr lang="zh-TW" altLang="en-US" sz="2400" i="1" dirty="0">
                <a:latin typeface="Courier New" panose="02070309020205020404" pitchFamily="49" charset="0"/>
                <a:cs typeface="Courier New" panose="02070309020205020404" pitchFamily="49" charset="0"/>
                <a:sym typeface="Symbol" panose="05050102010706020507" pitchFamily="18" charset="2"/>
              </a:rPr>
              <a:t></a:t>
            </a:r>
            <a:r>
              <a:rPr lang="en-US" altLang="zh-TW" sz="2400" i="1" baseline="30000" dirty="0">
                <a:latin typeface="Courier New" panose="02070309020205020404" pitchFamily="49" charset="0"/>
                <a:cs typeface="Courier New" panose="02070309020205020404" pitchFamily="49" charset="0"/>
                <a:sym typeface="Symbol" panose="05050102010706020507" pitchFamily="18" charset="2"/>
              </a:rPr>
              <a:t>8</a:t>
            </a:r>
            <a:endParaRPr lang="en-US" altLang="zh-TW" sz="2400" dirty="0">
              <a:latin typeface="Times New Roman" panose="02020603050405020304" pitchFamily="18" charset="0"/>
              <a:cs typeface="Times New Roman" panose="02020603050405020304" pitchFamily="18" charset="0"/>
            </a:endParaRPr>
          </a:p>
        </p:txBody>
      </p:sp>
      <p:sp>
        <p:nvSpPr>
          <p:cNvPr id="4" name="內容版面配置區 2">
            <a:extLst>
              <a:ext uri="{FF2B5EF4-FFF2-40B4-BE49-F238E27FC236}">
                <a16:creationId xmlns:a16="http://schemas.microsoft.com/office/drawing/2014/main" id="{37E21924-C331-4958-8F28-B98859738A45}"/>
              </a:ext>
            </a:extLst>
          </p:cNvPr>
          <p:cNvSpPr txBox="1">
            <a:spLocks/>
          </p:cNvSpPr>
          <p:nvPr/>
        </p:nvSpPr>
        <p:spPr>
          <a:xfrm>
            <a:off x="5527204" y="1027906"/>
            <a:ext cx="6594933" cy="46674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TW" sz="2400" i="1" dirty="0">
                <a:latin typeface="Times New Roman" panose="02020603050405020304" pitchFamily="18" charset="0"/>
                <a:cs typeface="Times New Roman" panose="02020603050405020304" pitchFamily="18" charset="0"/>
              </a:rPr>
              <a:t>q</a:t>
            </a:r>
            <a:r>
              <a:rPr lang="en-US" altLang="zh-TW" sz="2400" dirty="0">
                <a:latin typeface="Times New Roman" panose="02020603050405020304" pitchFamily="18" charset="0"/>
                <a:cs typeface="Times New Roman" panose="02020603050405020304" pitchFamily="18" charset="0"/>
              </a:rPr>
              <a:t>: (</a:t>
            </a:r>
            <a:r>
              <a:rPr lang="zh-TW" altLang="en-US" sz="2400" i="1"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a:t>
            </a:r>
            <a:r>
              <a:rPr lang="en-US" altLang="zh-TW" sz="2400" i="1" baseline="30000"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8</a:t>
            </a:r>
            <a:r>
              <a:rPr lang="zh-TW" altLang="en-US" sz="2400" i="1"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a:t>
            </a:r>
            <a:r>
              <a:rPr lang="zh-TW" altLang="en-US" sz="2400" i="1" baseline="30000"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 </a:t>
            </a:r>
            <a:r>
              <a:rPr lang="en-US" altLang="zh-TW" sz="2400" i="1" baseline="30000"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7</a:t>
            </a:r>
            <a:r>
              <a:rPr lang="zh-TW" altLang="en-US" sz="2400" i="1"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a:t>
            </a:r>
            <a:r>
              <a:rPr lang="en-US" altLang="zh-TW" sz="2400" i="1" baseline="30000"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8</a:t>
            </a:r>
            <a:r>
              <a:rPr lang="en-US" altLang="zh-TW" sz="2400" i="1" dirty="0">
                <a:latin typeface="Times New Roman" panose="02020603050405020304" pitchFamily="18" charset="0"/>
                <a:cs typeface="Times New Roman" panose="02020603050405020304" pitchFamily="18" charset="0"/>
                <a:sym typeface="Symbol" panose="05050102010706020507" pitchFamily="18" charset="2"/>
              </a:rPr>
              <a:t> </a:t>
            </a:r>
            <a:r>
              <a:rPr lang="zh-TW" altLang="en-US" sz="2400" i="1"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a:t>
            </a:r>
            <a:r>
              <a:rPr lang="en-US" altLang="zh-TW" sz="2400" i="1" baseline="30000"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8</a:t>
            </a:r>
            <a:r>
              <a:rPr lang="zh-TW" altLang="en-US" sz="2400" i="1"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a:t>
            </a:r>
            <a:r>
              <a:rPr lang="zh-TW" altLang="en-US" sz="2400" i="1" baseline="30000"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 </a:t>
            </a:r>
            <a:r>
              <a:rPr lang="en-US" altLang="zh-TW" sz="2400" i="1" baseline="30000"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6</a:t>
            </a:r>
            <a:r>
              <a:rPr lang="zh-TW" altLang="en-US" sz="2400" i="1"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a:t>
            </a:r>
            <a:r>
              <a:rPr lang="en-US" altLang="zh-TW" sz="2400" i="1" baseline="30000"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8</a:t>
            </a:r>
            <a:r>
              <a:rPr lang="zh-TW" altLang="en-US" sz="2400" i="1" dirty="0">
                <a:latin typeface="Times New Roman" panose="02020603050405020304" pitchFamily="18" charset="0"/>
                <a:cs typeface="Times New Roman" panose="02020603050405020304" pitchFamily="18" charset="0"/>
                <a:sym typeface="Symbol" panose="05050102010706020507" pitchFamily="18" charset="2"/>
              </a:rPr>
              <a:t> </a:t>
            </a:r>
            <a:r>
              <a:rPr lang="zh-TW" altLang="en-US" sz="2400" i="1"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a:t>
            </a:r>
            <a:r>
              <a:rPr lang="en-US" altLang="zh-TW" sz="2400" i="1" baseline="30000"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8</a:t>
            </a:r>
            <a:r>
              <a:rPr lang="zh-TW" altLang="en-US" sz="2400" i="1"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a:t>
            </a:r>
            <a:r>
              <a:rPr lang="zh-TW" altLang="en-US" sz="2400" i="1" baseline="30000"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 </a:t>
            </a:r>
            <a:r>
              <a:rPr lang="en-US" altLang="zh-TW" sz="2400" i="1" baseline="30000"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2</a:t>
            </a:r>
            <a:r>
              <a:rPr lang="zh-TW" altLang="en-US" sz="2400" i="1"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a:t>
            </a:r>
            <a:r>
              <a:rPr lang="zh-TW" altLang="en-US" sz="2400" i="1" baseline="30000"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 </a:t>
            </a:r>
            <a:r>
              <a:rPr lang="en-US" altLang="zh-TW" sz="2400" i="1" baseline="30000"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5</a:t>
            </a:r>
            <a:r>
              <a:rPr lang="zh-TW" altLang="en-US" sz="2400" i="1"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a:t>
            </a:r>
            <a:r>
              <a:rPr lang="en-US" altLang="zh-TW" sz="2400" i="1" baseline="30000"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8</a:t>
            </a:r>
            <a:r>
              <a:rPr lang="en-US" altLang="zh-TW" sz="2400" i="1" dirty="0">
                <a:latin typeface="Times New Roman" panose="02020603050405020304" pitchFamily="18" charset="0"/>
                <a:cs typeface="Times New Roman" panose="02020603050405020304" pitchFamily="18" charset="0"/>
                <a:sym typeface="Symbol" panose="05050102010706020507" pitchFamily="18" charset="2"/>
              </a:rPr>
              <a:t> </a:t>
            </a:r>
            <a:r>
              <a:rPr lang="zh-TW" altLang="en-US" sz="2400" i="1"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a:t>
            </a:r>
            <a:r>
              <a:rPr lang="en-US" altLang="zh-TW" sz="2400" i="1" baseline="30000"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8</a:t>
            </a:r>
            <a:r>
              <a:rPr lang="zh-TW" altLang="en-US" sz="2400" i="1"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a:t>
            </a:r>
            <a:r>
              <a:rPr lang="zh-TW" altLang="en-US" sz="2400" i="1" baseline="30000"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 </a:t>
            </a:r>
            <a:r>
              <a:rPr lang="en-US" altLang="zh-TW" sz="2400" i="1" baseline="30000"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3</a:t>
            </a:r>
            <a:r>
              <a:rPr lang="zh-TW" altLang="en-US" sz="2400" i="1"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a:t>
            </a:r>
            <a:r>
              <a:rPr lang="zh-TW" altLang="en-US" sz="2400" i="1" baseline="30000"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 </a:t>
            </a:r>
            <a:r>
              <a:rPr lang="en-US" altLang="zh-TW" sz="2400" i="1" baseline="30000"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4</a:t>
            </a:r>
            <a:r>
              <a:rPr lang="zh-TW" altLang="en-US" sz="2400" i="1"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a:t>
            </a:r>
            <a:r>
              <a:rPr lang="en-US" altLang="zh-TW" sz="2400" i="1" baseline="30000" dirty="0">
                <a:highlight>
                  <a:srgbClr val="FCEBE0"/>
                </a:highlight>
                <a:latin typeface="Times New Roman" panose="02020603050405020304" pitchFamily="18" charset="0"/>
                <a:cs typeface="Times New Roman" panose="02020603050405020304" pitchFamily="18" charset="0"/>
                <a:sym typeface="Symbol" panose="05050102010706020507" pitchFamily="18" charset="2"/>
              </a:rPr>
              <a:t>8</a:t>
            </a:r>
            <a:r>
              <a:rPr lang="zh-TW" altLang="en-US" sz="2400" i="1" dirty="0">
                <a:latin typeface="Times New Roman" panose="02020603050405020304" pitchFamily="18" charset="0"/>
                <a:cs typeface="Times New Roman" panose="02020603050405020304" pitchFamily="18" charset="0"/>
                <a:sym typeface="Symbol" panose="05050102010706020507" pitchFamily="18" charset="2"/>
              </a:rPr>
              <a:t> </a:t>
            </a: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a:t>
            </a:r>
            <a:r>
              <a:rPr lang="en-US" altLang="zh-TW" sz="2400" baseline="30000" dirty="0">
                <a:latin typeface="Times New Roman" panose="02020603050405020304" pitchFamily="18" charset="0"/>
                <a:cs typeface="Times New Roman" panose="02020603050405020304" pitchFamily="18" charset="0"/>
                <a:sym typeface="Symbol" panose="05050102010706020507" pitchFamily="18" charset="2"/>
              </a:rPr>
              <a:t>10</a:t>
            </a:r>
            <a:endParaRPr lang="en-US" altLang="zh-TW" sz="2400" baseline="30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78855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7FB02E0-60BC-44B9-A110-72EB57003820}"/>
              </a:ext>
            </a:extLst>
          </p:cNvPr>
          <p:cNvSpPr>
            <a:spLocks noGrp="1"/>
          </p:cNvSpPr>
          <p:nvPr>
            <p:ph type="title"/>
          </p:nvPr>
        </p:nvSpPr>
        <p:spPr/>
        <p:txBody>
          <a:bodyPr>
            <a:normAutofit/>
          </a:bodyPr>
          <a:lstStyle/>
          <a:p>
            <a:r>
              <a:rPr lang="en-US" altLang="zh-TW" sz="4000" dirty="0">
                <a:latin typeface="Times New Roman" panose="02020603050405020304" pitchFamily="18" charset="0"/>
                <a:cs typeface="Times New Roman" panose="02020603050405020304" pitchFamily="18" charset="0"/>
              </a:rPr>
              <a:t>Summary of hardness</a:t>
            </a:r>
            <a:endParaRPr lang="zh-TW" altLang="en-US" sz="4000"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28F4F8D3-530A-4C51-A688-C9BABFEFCE08}"/>
              </a:ext>
            </a:extLst>
          </p:cNvPr>
          <p:cNvSpPr>
            <a:spLocks noGrp="1"/>
          </p:cNvSpPr>
          <p:nvPr>
            <p:ph idx="1"/>
          </p:nvPr>
        </p:nvSpPr>
        <p:spPr/>
        <p:txBody>
          <a:bodyPr>
            <a:normAutofit/>
          </a:bodyPr>
          <a:lstStyle/>
          <a:p>
            <a:pPr marL="0" indent="0" algn="dist">
              <a:buNone/>
            </a:pPr>
            <a:r>
              <a:rPr lang="en-US" altLang="zh-TW" dirty="0">
                <a:latin typeface="Times New Roman" panose="02020603050405020304" pitchFamily="18" charset="0"/>
                <a:cs typeface="Times New Roman" panose="02020603050405020304" pitchFamily="18" charset="0"/>
              </a:rPr>
              <a:t>It is straightforward to prove that other problem variants, for example, with </a:t>
            </a:r>
            <a:r>
              <a:rPr lang="en-US" altLang="zh-TW" dirty="0">
                <a:solidFill>
                  <a:srgbClr val="FF0000"/>
                </a:solidFill>
                <a:latin typeface="Times New Roman" panose="02020603050405020304" pitchFamily="18" charset="0"/>
                <a:cs typeface="Times New Roman" panose="02020603050405020304" pitchFamily="18" charset="0"/>
              </a:rPr>
              <a:t>linear gap penalty</a:t>
            </a:r>
            <a:r>
              <a:rPr lang="en-US" altLang="zh-TW" dirty="0">
                <a:latin typeface="Times New Roman" panose="02020603050405020304" pitchFamily="18" charset="0"/>
                <a:cs typeface="Times New Roman" panose="02020603050405020304" pitchFamily="18" charset="0"/>
              </a:rPr>
              <a:t> or </a:t>
            </a:r>
            <a:r>
              <a:rPr lang="en-US" altLang="zh-TW" dirty="0">
                <a:solidFill>
                  <a:srgbClr val="FF0000"/>
                </a:solidFill>
                <a:latin typeface="Times New Roman" panose="02020603050405020304" pitchFamily="18" charset="0"/>
                <a:cs typeface="Times New Roman" panose="02020603050405020304" pitchFamily="18" charset="0"/>
              </a:rPr>
              <a:t>affine gap penalty</a:t>
            </a:r>
            <a:r>
              <a:rPr lang="en-US" altLang="zh-TW" dirty="0">
                <a:latin typeface="Times New Roman" panose="02020603050405020304" pitchFamily="18" charset="0"/>
                <a:cs typeface="Times New Roman" panose="02020603050405020304" pitchFamily="18" charset="0"/>
              </a:rPr>
              <a:t> scoring functions are at least </a:t>
            </a:r>
            <a:r>
              <a:rPr lang="en-US" altLang="zh-TW" dirty="0">
                <a:solidFill>
                  <a:srgbClr val="FF0000"/>
                </a:solidFill>
                <a:latin typeface="Times New Roman" panose="02020603050405020304" pitchFamily="18" charset="0"/>
                <a:cs typeface="Times New Roman" panose="02020603050405020304" pitchFamily="18" charset="0"/>
              </a:rPr>
              <a:t>as hard as the edit distance-based</a:t>
            </a:r>
            <a:r>
              <a:rPr lang="en-US" altLang="zh-TW" dirty="0">
                <a:latin typeface="Times New Roman" panose="02020603050405020304" pitchFamily="18" charset="0"/>
                <a:cs typeface="Times New Roman" panose="02020603050405020304" pitchFamily="18" charset="0"/>
              </a:rPr>
              <a:t> formulations. Therefore, the sequence-to-graph alignment problem remains NP-complete even on constant sized alphabets for these classes of scoring functions, and also if </a:t>
            </a:r>
            <a:r>
              <a:rPr lang="en-US" altLang="zh-TW" dirty="0">
                <a:solidFill>
                  <a:srgbClr val="FF0000"/>
                </a:solidFill>
                <a:latin typeface="Times New Roman" panose="02020603050405020304" pitchFamily="18" charset="0"/>
                <a:cs typeface="Times New Roman" panose="02020603050405020304" pitchFamily="18" charset="0"/>
              </a:rPr>
              <a:t>changes are permitted in the graph</a:t>
            </a:r>
            <a:r>
              <a:rPr lang="en-US" altLang="zh-TW" dirty="0">
                <a:latin typeface="Times New Roman" panose="02020603050405020304" pitchFamily="18" charset="0"/>
                <a:cs typeface="Times New Roman" panose="02020603050405020304" pitchFamily="18" charset="0"/>
              </a:rPr>
              <a:t>. Finally, we note that all the above problems remain equally hard even for planar sequence graphs of max-degree 3, as is true for the Hamiltonian cycle problem.</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29281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a:extLst>
              <a:ext uri="{FF2B5EF4-FFF2-40B4-BE49-F238E27FC236}">
                <a16:creationId xmlns:a16="http://schemas.microsoft.com/office/drawing/2014/main" id="{05DEEFDB-D203-4C76-A3CA-88436C11D160}"/>
              </a:ext>
            </a:extLst>
          </p:cNvPr>
          <p:cNvPicPr>
            <a:picLocks noChangeAspect="1"/>
          </p:cNvPicPr>
          <p:nvPr/>
        </p:nvPicPr>
        <p:blipFill rotWithShape="1">
          <a:blip r:embed="rId2"/>
          <a:srcRect r="55133"/>
          <a:stretch/>
        </p:blipFill>
        <p:spPr>
          <a:xfrm>
            <a:off x="8090871" y="3360109"/>
            <a:ext cx="3800886" cy="3307607"/>
          </a:xfrm>
          <a:prstGeom prst="rect">
            <a:avLst/>
          </a:prstGeom>
        </p:spPr>
      </p:pic>
      <p:sp>
        <p:nvSpPr>
          <p:cNvPr id="2" name="標題 1">
            <a:extLst>
              <a:ext uri="{FF2B5EF4-FFF2-40B4-BE49-F238E27FC236}">
                <a16:creationId xmlns:a16="http://schemas.microsoft.com/office/drawing/2014/main" id="{E5622D65-5B30-45E7-A075-0FE7BC3F1A04}"/>
              </a:ext>
            </a:extLst>
          </p:cNvPr>
          <p:cNvSpPr>
            <a:spLocks noGrp="1"/>
          </p:cNvSpPr>
          <p:nvPr>
            <p:ph type="title"/>
          </p:nvPr>
        </p:nvSpPr>
        <p:spPr/>
        <p:txBody>
          <a:bodyPr/>
          <a:lstStyle/>
          <a:p>
            <a:r>
              <a:rPr lang="en-US" altLang="zh-TW" dirty="0"/>
              <a:t>Sequence-to-graph alignment</a:t>
            </a:r>
            <a:endParaRPr lang="zh-TW" altLang="en-US" dirty="0"/>
          </a:p>
        </p:txBody>
      </p:sp>
      <p:sp>
        <p:nvSpPr>
          <p:cNvPr id="3" name="內容版面配置區 2">
            <a:extLst>
              <a:ext uri="{FF2B5EF4-FFF2-40B4-BE49-F238E27FC236}">
                <a16:creationId xmlns:a16="http://schemas.microsoft.com/office/drawing/2014/main" id="{807E3038-6BD1-4BFD-9107-ACDD73C5CC8F}"/>
              </a:ext>
            </a:extLst>
          </p:cNvPr>
          <p:cNvSpPr>
            <a:spLocks noGrp="1"/>
          </p:cNvSpPr>
          <p:nvPr>
            <p:ph idx="1"/>
          </p:nvPr>
        </p:nvSpPr>
        <p:spPr/>
        <p:txBody>
          <a:bodyPr>
            <a:normAutofit/>
          </a:bodyPr>
          <a:lstStyle/>
          <a:p>
            <a:pPr marL="514350" indent="-514350">
              <a:buFont typeface="+mj-lt"/>
              <a:buAutoNum type="arabicPeriod"/>
            </a:pPr>
            <a:r>
              <a:rPr lang="en-US" altLang="zh-TW" dirty="0"/>
              <a:t>sequence-to-sequence alignment</a:t>
            </a:r>
            <a:r>
              <a:rPr lang="zh-TW" altLang="en-US" dirty="0"/>
              <a:t>：</a:t>
            </a:r>
            <a:br>
              <a:rPr lang="en-US" altLang="zh-TW" dirty="0"/>
            </a:br>
            <a:r>
              <a:rPr lang="en-US" altLang="zh-TW" dirty="0"/>
              <a:t>DP</a:t>
            </a:r>
            <a:br>
              <a:rPr lang="en-US" altLang="zh-TW" dirty="0"/>
            </a:br>
            <a:r>
              <a:rPr lang="en-US" altLang="zh-TW" dirty="0"/>
              <a:t>shortest-path problem</a:t>
            </a:r>
            <a:br>
              <a:rPr lang="en-US" altLang="zh-TW" dirty="0"/>
            </a:br>
            <a:br>
              <a:rPr lang="en-US" altLang="zh-TW" dirty="0"/>
            </a:br>
            <a:endParaRPr lang="en-US" altLang="zh-TW" dirty="0"/>
          </a:p>
          <a:p>
            <a:pPr marL="514350" indent="-514350">
              <a:buFont typeface="+mj-lt"/>
              <a:buAutoNum type="arabicPeriod"/>
            </a:pPr>
            <a:r>
              <a:rPr lang="en-US" altLang="zh-TW" dirty="0"/>
              <a:t>sequence-to-graph alignment</a:t>
            </a:r>
            <a:r>
              <a:rPr lang="zh-TW" altLang="en-US" dirty="0"/>
              <a:t>：</a:t>
            </a:r>
            <a:br>
              <a:rPr lang="en-US" altLang="zh-TW" dirty="0"/>
            </a:br>
            <a:r>
              <a:rPr lang="en-US" altLang="zh-TW" dirty="0"/>
              <a:t>DP</a:t>
            </a:r>
            <a:r>
              <a:rPr lang="zh-TW" altLang="en-US" dirty="0"/>
              <a:t>：</a:t>
            </a:r>
            <a:r>
              <a:rPr lang="en-US" altLang="zh-TW" dirty="0"/>
              <a:t>only for DAG</a:t>
            </a:r>
            <a:r>
              <a:rPr lang="zh-TW" altLang="en-US" dirty="0"/>
              <a:t> </a:t>
            </a:r>
            <a:r>
              <a:rPr lang="en-US" altLang="zh-TW" dirty="0"/>
              <a:t>(Directed Acyclic Graph)</a:t>
            </a:r>
            <a:br>
              <a:rPr lang="en-US" altLang="zh-TW" dirty="0"/>
            </a:br>
            <a:r>
              <a:rPr lang="en-US" altLang="zh-TW" dirty="0"/>
              <a:t>shortest-path problem</a:t>
            </a:r>
          </a:p>
          <a:p>
            <a:pPr marL="0" indent="0">
              <a:buNone/>
            </a:pPr>
            <a:r>
              <a:rPr lang="en-US" altLang="zh-TW" dirty="0" err="1"/>
              <a:t>polynomially</a:t>
            </a:r>
            <a:r>
              <a:rPr lang="en-US" altLang="zh-TW" dirty="0"/>
              <a:t> solvable when changes are allowed </a:t>
            </a:r>
            <a:br>
              <a:rPr lang="en-US" altLang="zh-TW" dirty="0"/>
            </a:br>
            <a:r>
              <a:rPr lang="en-US" altLang="zh-TW" dirty="0"/>
              <a:t>in the query sequence alone</a:t>
            </a:r>
          </a:p>
        </p:txBody>
      </p:sp>
      <p:graphicFrame>
        <p:nvGraphicFramePr>
          <p:cNvPr id="9" name="表格 9">
            <a:extLst>
              <a:ext uri="{FF2B5EF4-FFF2-40B4-BE49-F238E27FC236}">
                <a16:creationId xmlns:a16="http://schemas.microsoft.com/office/drawing/2014/main" id="{55257B23-454A-4B7D-931F-186D75B1D7C4}"/>
              </a:ext>
            </a:extLst>
          </p:cNvPr>
          <p:cNvGraphicFramePr>
            <a:graphicFrameLocks noGrp="1"/>
          </p:cNvGraphicFramePr>
          <p:nvPr>
            <p:extLst>
              <p:ext uri="{D42A27DB-BD31-4B8C-83A1-F6EECF244321}">
                <p14:modId xmlns:p14="http://schemas.microsoft.com/office/powerpoint/2010/main" val="4006623797"/>
              </p:ext>
            </p:extLst>
          </p:nvPr>
        </p:nvGraphicFramePr>
        <p:xfrm>
          <a:off x="8090871" y="939172"/>
          <a:ext cx="3800886" cy="2286000"/>
        </p:xfrm>
        <a:graphic>
          <a:graphicData uri="http://schemas.openxmlformats.org/drawingml/2006/table">
            <a:tbl>
              <a:tblPr firstRow="1" bandRow="1">
                <a:tableStyleId>{5940675A-B579-460E-94D1-54222C63F5DA}</a:tableStyleId>
              </a:tblPr>
              <a:tblGrid>
                <a:gridCol w="633481">
                  <a:extLst>
                    <a:ext uri="{9D8B030D-6E8A-4147-A177-3AD203B41FA5}">
                      <a16:colId xmlns:a16="http://schemas.microsoft.com/office/drawing/2014/main" val="3316649951"/>
                    </a:ext>
                  </a:extLst>
                </a:gridCol>
                <a:gridCol w="633481">
                  <a:extLst>
                    <a:ext uri="{9D8B030D-6E8A-4147-A177-3AD203B41FA5}">
                      <a16:colId xmlns:a16="http://schemas.microsoft.com/office/drawing/2014/main" val="2489038805"/>
                    </a:ext>
                  </a:extLst>
                </a:gridCol>
                <a:gridCol w="633481">
                  <a:extLst>
                    <a:ext uri="{9D8B030D-6E8A-4147-A177-3AD203B41FA5}">
                      <a16:colId xmlns:a16="http://schemas.microsoft.com/office/drawing/2014/main" val="3987578327"/>
                    </a:ext>
                  </a:extLst>
                </a:gridCol>
                <a:gridCol w="633481">
                  <a:extLst>
                    <a:ext uri="{9D8B030D-6E8A-4147-A177-3AD203B41FA5}">
                      <a16:colId xmlns:a16="http://schemas.microsoft.com/office/drawing/2014/main" val="903801031"/>
                    </a:ext>
                  </a:extLst>
                </a:gridCol>
                <a:gridCol w="633481">
                  <a:extLst>
                    <a:ext uri="{9D8B030D-6E8A-4147-A177-3AD203B41FA5}">
                      <a16:colId xmlns:a16="http://schemas.microsoft.com/office/drawing/2014/main" val="2260311686"/>
                    </a:ext>
                  </a:extLst>
                </a:gridCol>
                <a:gridCol w="633481">
                  <a:extLst>
                    <a:ext uri="{9D8B030D-6E8A-4147-A177-3AD203B41FA5}">
                      <a16:colId xmlns:a16="http://schemas.microsoft.com/office/drawing/2014/main" val="2308096166"/>
                    </a:ext>
                  </a:extLst>
                </a:gridCol>
              </a:tblGrid>
              <a:tr h="370840">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solidFill>
                      <a:schemeClr val="bg1">
                        <a:lumMod val="85000"/>
                      </a:schemeClr>
                    </a:solidFill>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solidFill>
                      <a:schemeClr val="bg1">
                        <a:lumMod val="85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A</a:t>
                      </a:r>
                      <a:endParaRPr lang="zh-TW" altLang="en-US" sz="2400" dirty="0">
                        <a:latin typeface="Times New Roman" panose="02020603050405020304" pitchFamily="18" charset="0"/>
                        <a:cs typeface="Times New Roman" panose="02020603050405020304" pitchFamily="18" charset="0"/>
                      </a:endParaRPr>
                    </a:p>
                  </a:txBody>
                  <a:tcPr anchor="ctr">
                    <a:solidFill>
                      <a:schemeClr val="bg1">
                        <a:lumMod val="85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C</a:t>
                      </a:r>
                      <a:endParaRPr lang="zh-TW" altLang="en-US" sz="2400" dirty="0">
                        <a:latin typeface="Times New Roman" panose="02020603050405020304" pitchFamily="18" charset="0"/>
                        <a:cs typeface="Times New Roman" panose="02020603050405020304" pitchFamily="18" charset="0"/>
                      </a:endParaRPr>
                    </a:p>
                  </a:txBody>
                  <a:tcPr anchor="ctr">
                    <a:solidFill>
                      <a:schemeClr val="bg1">
                        <a:lumMod val="85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G</a:t>
                      </a:r>
                      <a:endParaRPr lang="zh-TW" altLang="en-US" sz="2400" dirty="0">
                        <a:latin typeface="Times New Roman" panose="02020603050405020304" pitchFamily="18" charset="0"/>
                        <a:cs typeface="Times New Roman" panose="02020603050405020304" pitchFamily="18" charset="0"/>
                      </a:endParaRPr>
                    </a:p>
                  </a:txBody>
                  <a:tcPr anchor="ctr">
                    <a:solidFill>
                      <a:schemeClr val="bg1">
                        <a:lumMod val="85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T</a:t>
                      </a:r>
                      <a:endParaRPr lang="zh-TW" altLang="en-US" sz="2400" dirty="0">
                        <a:latin typeface="Times New Roman" panose="02020603050405020304" pitchFamily="18" charset="0"/>
                        <a:cs typeface="Times New Roman" panose="02020603050405020304" pitchFamily="18" charset="0"/>
                      </a:endParaRPr>
                    </a:p>
                  </a:txBody>
                  <a:tcPr anchor="ctr">
                    <a:solidFill>
                      <a:schemeClr val="bg1">
                        <a:lumMod val="85000"/>
                      </a:schemeClr>
                    </a:solidFill>
                  </a:tcPr>
                </a:tc>
                <a:extLst>
                  <a:ext uri="{0D108BD9-81ED-4DB2-BD59-A6C34878D82A}">
                    <a16:rowId xmlns:a16="http://schemas.microsoft.com/office/drawing/2014/main" val="2155492796"/>
                  </a:ext>
                </a:extLst>
              </a:tr>
              <a:tr h="370840">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solidFill>
                      <a:schemeClr val="bg1">
                        <a:lumMod val="85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157179906"/>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A</a:t>
                      </a:r>
                      <a:endParaRPr lang="zh-TW" altLang="en-US" sz="2400" dirty="0">
                        <a:latin typeface="Times New Roman" panose="02020603050405020304" pitchFamily="18" charset="0"/>
                        <a:cs typeface="Times New Roman" panose="02020603050405020304" pitchFamily="18" charset="0"/>
                      </a:endParaRPr>
                    </a:p>
                  </a:txBody>
                  <a:tcPr anchor="ctr">
                    <a:solidFill>
                      <a:schemeClr val="bg1">
                        <a:lumMod val="85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204561174"/>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C</a:t>
                      </a:r>
                      <a:endParaRPr lang="zh-TW" altLang="en-US" sz="2400" dirty="0">
                        <a:latin typeface="Times New Roman" panose="02020603050405020304" pitchFamily="18" charset="0"/>
                        <a:cs typeface="Times New Roman" panose="02020603050405020304" pitchFamily="18" charset="0"/>
                      </a:endParaRPr>
                    </a:p>
                  </a:txBody>
                  <a:tcPr anchor="ctr">
                    <a:solidFill>
                      <a:schemeClr val="bg1">
                        <a:lumMod val="85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904625232"/>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T</a:t>
                      </a:r>
                      <a:endParaRPr lang="zh-TW" altLang="en-US" sz="2400" dirty="0">
                        <a:latin typeface="Times New Roman" panose="02020603050405020304" pitchFamily="18" charset="0"/>
                        <a:cs typeface="Times New Roman" panose="02020603050405020304" pitchFamily="18" charset="0"/>
                      </a:endParaRPr>
                    </a:p>
                  </a:txBody>
                  <a:tcPr anchor="ctr">
                    <a:solidFill>
                      <a:schemeClr val="bg1">
                        <a:lumMod val="85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nchor="ctr">
                    <a:solidFill>
                      <a:srgbClr val="FFFF00"/>
                    </a:solidFill>
                  </a:tcPr>
                </a:tc>
                <a:extLst>
                  <a:ext uri="{0D108BD9-81ED-4DB2-BD59-A6C34878D82A}">
                    <a16:rowId xmlns:a16="http://schemas.microsoft.com/office/drawing/2014/main" val="145009388"/>
                  </a:ext>
                </a:extLst>
              </a:tr>
            </a:tbl>
          </a:graphicData>
        </a:graphic>
      </p:graphicFrame>
      <p:cxnSp>
        <p:nvCxnSpPr>
          <p:cNvPr id="11" name="直線單箭頭接點 10">
            <a:extLst>
              <a:ext uri="{FF2B5EF4-FFF2-40B4-BE49-F238E27FC236}">
                <a16:creationId xmlns:a16="http://schemas.microsoft.com/office/drawing/2014/main" id="{198A5385-EE8E-4BBC-9069-465A5B735B1A}"/>
              </a:ext>
            </a:extLst>
          </p:cNvPr>
          <p:cNvCxnSpPr/>
          <p:nvPr/>
        </p:nvCxnSpPr>
        <p:spPr>
          <a:xfrm>
            <a:off x="9196754" y="1690688"/>
            <a:ext cx="334108" cy="313958"/>
          </a:xfrm>
          <a:prstGeom prst="straightConnector1">
            <a:avLst/>
          </a:prstGeom>
          <a:ln w="28575">
            <a:solidFill>
              <a:srgbClr val="44FD19"/>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單箭頭接點 11">
            <a:extLst>
              <a:ext uri="{FF2B5EF4-FFF2-40B4-BE49-F238E27FC236}">
                <a16:creationId xmlns:a16="http://schemas.microsoft.com/office/drawing/2014/main" id="{5E2A75FE-4B2E-4FF7-8101-B07C99F778E8}"/>
              </a:ext>
            </a:extLst>
          </p:cNvPr>
          <p:cNvCxnSpPr/>
          <p:nvPr/>
        </p:nvCxnSpPr>
        <p:spPr>
          <a:xfrm>
            <a:off x="9824260" y="2134132"/>
            <a:ext cx="334108" cy="313958"/>
          </a:xfrm>
          <a:prstGeom prst="straightConnector1">
            <a:avLst/>
          </a:prstGeom>
          <a:ln w="28575">
            <a:solidFill>
              <a:srgbClr val="44FD19"/>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線單箭頭接點 12">
            <a:extLst>
              <a:ext uri="{FF2B5EF4-FFF2-40B4-BE49-F238E27FC236}">
                <a16:creationId xmlns:a16="http://schemas.microsoft.com/office/drawing/2014/main" id="{7A42AAEC-3B07-4C7F-B4F7-FE9681BDD578}"/>
              </a:ext>
            </a:extLst>
          </p:cNvPr>
          <p:cNvCxnSpPr/>
          <p:nvPr/>
        </p:nvCxnSpPr>
        <p:spPr>
          <a:xfrm>
            <a:off x="11112824" y="2603187"/>
            <a:ext cx="334108" cy="313958"/>
          </a:xfrm>
          <a:prstGeom prst="straightConnector1">
            <a:avLst/>
          </a:prstGeom>
          <a:ln w="28575">
            <a:solidFill>
              <a:srgbClr val="44FD19"/>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線單箭頭接點 13">
            <a:extLst>
              <a:ext uri="{FF2B5EF4-FFF2-40B4-BE49-F238E27FC236}">
                <a16:creationId xmlns:a16="http://schemas.microsoft.com/office/drawing/2014/main" id="{8F6E6F41-EE3C-48B4-AF5E-F450C6716E53}"/>
              </a:ext>
            </a:extLst>
          </p:cNvPr>
          <p:cNvCxnSpPr>
            <a:cxnSpLocks/>
          </p:cNvCxnSpPr>
          <p:nvPr/>
        </p:nvCxnSpPr>
        <p:spPr>
          <a:xfrm>
            <a:off x="10500945" y="2555398"/>
            <a:ext cx="339970"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68757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5622D65-5B30-45E7-A075-0FE7BC3F1A04}"/>
              </a:ext>
            </a:extLst>
          </p:cNvPr>
          <p:cNvSpPr>
            <a:spLocks noGrp="1"/>
          </p:cNvSpPr>
          <p:nvPr>
            <p:ph type="title"/>
          </p:nvPr>
        </p:nvSpPr>
        <p:spPr/>
        <p:txBody>
          <a:bodyPr/>
          <a:lstStyle/>
          <a:p>
            <a:r>
              <a:rPr lang="en-US" altLang="zh-TW" dirty="0"/>
              <a:t>Sequence-to-graph alignment</a:t>
            </a:r>
            <a:endParaRPr lang="zh-TW" altLang="en-US" dirty="0"/>
          </a:p>
        </p:txBody>
      </p:sp>
      <p:pic>
        <p:nvPicPr>
          <p:cNvPr id="7" name="圖片 6">
            <a:extLst>
              <a:ext uri="{FF2B5EF4-FFF2-40B4-BE49-F238E27FC236}">
                <a16:creationId xmlns:a16="http://schemas.microsoft.com/office/drawing/2014/main" id="{05DEEFDB-D203-4C76-A3CA-88436C11D160}"/>
              </a:ext>
            </a:extLst>
          </p:cNvPr>
          <p:cNvPicPr>
            <a:picLocks noChangeAspect="1"/>
          </p:cNvPicPr>
          <p:nvPr/>
        </p:nvPicPr>
        <p:blipFill rotWithShape="1">
          <a:blip r:embed="rId2"/>
          <a:srcRect r="-132"/>
          <a:stretch/>
        </p:blipFill>
        <p:spPr>
          <a:xfrm>
            <a:off x="1229458" y="3933610"/>
            <a:ext cx="7499838" cy="2924390"/>
          </a:xfrm>
          <a:prstGeom prst="rect">
            <a:avLst/>
          </a:prstGeom>
        </p:spPr>
      </p:pic>
      <p:pic>
        <p:nvPicPr>
          <p:cNvPr id="5" name="圖片 4">
            <a:extLst>
              <a:ext uri="{FF2B5EF4-FFF2-40B4-BE49-F238E27FC236}">
                <a16:creationId xmlns:a16="http://schemas.microsoft.com/office/drawing/2014/main" id="{163CF82B-64A8-49EF-A9E1-32127BE42474}"/>
              </a:ext>
            </a:extLst>
          </p:cNvPr>
          <p:cNvPicPr>
            <a:picLocks noChangeAspect="1"/>
          </p:cNvPicPr>
          <p:nvPr/>
        </p:nvPicPr>
        <p:blipFill>
          <a:blip r:embed="rId3"/>
          <a:stretch>
            <a:fillRect/>
          </a:stretch>
        </p:blipFill>
        <p:spPr>
          <a:xfrm>
            <a:off x="1229458" y="1487324"/>
            <a:ext cx="6601732" cy="2446286"/>
          </a:xfrm>
          <a:prstGeom prst="rect">
            <a:avLst/>
          </a:prstGeom>
        </p:spPr>
      </p:pic>
      <p:cxnSp>
        <p:nvCxnSpPr>
          <p:cNvPr id="8" name="直線單箭頭接點 7">
            <a:extLst>
              <a:ext uri="{FF2B5EF4-FFF2-40B4-BE49-F238E27FC236}">
                <a16:creationId xmlns:a16="http://schemas.microsoft.com/office/drawing/2014/main" id="{240E724E-C3FE-4D6B-B7CA-3ED9F773C493}"/>
              </a:ext>
            </a:extLst>
          </p:cNvPr>
          <p:cNvCxnSpPr>
            <a:cxnSpLocks/>
          </p:cNvCxnSpPr>
          <p:nvPr/>
        </p:nvCxnSpPr>
        <p:spPr>
          <a:xfrm>
            <a:off x="9020908" y="4642338"/>
            <a:ext cx="413238" cy="0"/>
          </a:xfrm>
          <a:prstGeom prst="straightConnector1">
            <a:avLst/>
          </a:prstGeom>
          <a:ln w="57150">
            <a:solidFill>
              <a:srgbClr val="323EFE"/>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線單箭頭接點 14">
            <a:extLst>
              <a:ext uri="{FF2B5EF4-FFF2-40B4-BE49-F238E27FC236}">
                <a16:creationId xmlns:a16="http://schemas.microsoft.com/office/drawing/2014/main" id="{219519A2-BF31-4988-9912-63786738D101}"/>
              </a:ext>
            </a:extLst>
          </p:cNvPr>
          <p:cNvCxnSpPr>
            <a:cxnSpLocks/>
          </p:cNvCxnSpPr>
          <p:nvPr/>
        </p:nvCxnSpPr>
        <p:spPr>
          <a:xfrm>
            <a:off x="9020908" y="5395805"/>
            <a:ext cx="413238" cy="0"/>
          </a:xfrm>
          <a:prstGeom prst="straightConnector1">
            <a:avLst/>
          </a:prstGeom>
          <a:ln w="57150">
            <a:solidFill>
              <a:srgbClr val="44FD19"/>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單箭頭接點 16">
            <a:extLst>
              <a:ext uri="{FF2B5EF4-FFF2-40B4-BE49-F238E27FC236}">
                <a16:creationId xmlns:a16="http://schemas.microsoft.com/office/drawing/2014/main" id="{68C5CDE6-5F97-4675-855E-AC39824F9BBF}"/>
              </a:ext>
            </a:extLst>
          </p:cNvPr>
          <p:cNvCxnSpPr>
            <a:cxnSpLocks/>
          </p:cNvCxnSpPr>
          <p:nvPr/>
        </p:nvCxnSpPr>
        <p:spPr>
          <a:xfrm>
            <a:off x="9020908" y="6169528"/>
            <a:ext cx="413238"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文字方塊 17">
            <a:extLst>
              <a:ext uri="{FF2B5EF4-FFF2-40B4-BE49-F238E27FC236}">
                <a16:creationId xmlns:a16="http://schemas.microsoft.com/office/drawing/2014/main" id="{6749E4AD-5FC5-4462-8201-35A2A16E9988}"/>
              </a:ext>
            </a:extLst>
          </p:cNvPr>
          <p:cNvSpPr txBox="1"/>
          <p:nvPr/>
        </p:nvSpPr>
        <p:spPr>
          <a:xfrm>
            <a:off x="9583615" y="4411505"/>
            <a:ext cx="1378927"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deletion</a:t>
            </a:r>
            <a:endParaRPr lang="zh-TW" altLang="en-US" sz="2400" dirty="0">
              <a:latin typeface="Times New Roman" panose="02020603050405020304" pitchFamily="18" charset="0"/>
              <a:cs typeface="Times New Roman" panose="02020603050405020304" pitchFamily="18" charset="0"/>
            </a:endParaRPr>
          </a:p>
        </p:txBody>
      </p:sp>
      <p:sp>
        <p:nvSpPr>
          <p:cNvPr id="20" name="文字方塊 19">
            <a:extLst>
              <a:ext uri="{FF2B5EF4-FFF2-40B4-BE49-F238E27FC236}">
                <a16:creationId xmlns:a16="http://schemas.microsoft.com/office/drawing/2014/main" id="{3D26B9AE-01BD-47D4-B03C-47527E08F23D}"/>
              </a:ext>
            </a:extLst>
          </p:cNvPr>
          <p:cNvSpPr txBox="1"/>
          <p:nvPr/>
        </p:nvSpPr>
        <p:spPr>
          <a:xfrm>
            <a:off x="9583615" y="5938695"/>
            <a:ext cx="1378927"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insertion</a:t>
            </a:r>
            <a:endParaRPr lang="zh-TW" altLang="en-US" sz="2400" dirty="0">
              <a:latin typeface="Times New Roman" panose="02020603050405020304" pitchFamily="18" charset="0"/>
              <a:cs typeface="Times New Roman" panose="02020603050405020304" pitchFamily="18" charset="0"/>
            </a:endParaRPr>
          </a:p>
        </p:txBody>
      </p:sp>
      <p:sp>
        <p:nvSpPr>
          <p:cNvPr id="21" name="文字方塊 20">
            <a:extLst>
              <a:ext uri="{FF2B5EF4-FFF2-40B4-BE49-F238E27FC236}">
                <a16:creationId xmlns:a16="http://schemas.microsoft.com/office/drawing/2014/main" id="{FD462FFF-C99D-47D6-AA51-21C5A70BA456}"/>
              </a:ext>
            </a:extLst>
          </p:cNvPr>
          <p:cNvSpPr txBox="1"/>
          <p:nvPr/>
        </p:nvSpPr>
        <p:spPr>
          <a:xfrm>
            <a:off x="9583615" y="5187780"/>
            <a:ext cx="1770185"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substitution</a:t>
            </a:r>
            <a:endParaRPr lang="zh-TW" altLang="en-US" sz="2400" dirty="0">
              <a:latin typeface="Times New Roman" panose="02020603050405020304" pitchFamily="18" charset="0"/>
              <a:cs typeface="Times New Roman" panose="02020603050405020304" pitchFamily="18" charset="0"/>
            </a:endParaRPr>
          </a:p>
        </p:txBody>
      </p:sp>
      <p:pic>
        <p:nvPicPr>
          <p:cNvPr id="23" name="圖片 22">
            <a:extLst>
              <a:ext uri="{FF2B5EF4-FFF2-40B4-BE49-F238E27FC236}">
                <a16:creationId xmlns:a16="http://schemas.microsoft.com/office/drawing/2014/main" id="{46914247-51E6-4F5D-910D-C3945C30EE45}"/>
              </a:ext>
            </a:extLst>
          </p:cNvPr>
          <p:cNvPicPr>
            <a:picLocks noChangeAspect="1"/>
          </p:cNvPicPr>
          <p:nvPr/>
        </p:nvPicPr>
        <p:blipFill>
          <a:blip r:embed="rId4"/>
          <a:stretch>
            <a:fillRect/>
          </a:stretch>
        </p:blipFill>
        <p:spPr>
          <a:xfrm>
            <a:off x="4650721" y="4642338"/>
            <a:ext cx="507470" cy="1758022"/>
          </a:xfrm>
          <a:prstGeom prst="rect">
            <a:avLst/>
          </a:prstGeom>
        </p:spPr>
      </p:pic>
    </p:spTree>
    <p:extLst>
      <p:ext uri="{BB962C8B-B14F-4D97-AF65-F5344CB8AC3E}">
        <p14:creationId xmlns:p14="http://schemas.microsoft.com/office/powerpoint/2010/main" val="17267097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5622D65-5B30-45E7-A075-0FE7BC3F1A04}"/>
              </a:ext>
            </a:extLst>
          </p:cNvPr>
          <p:cNvSpPr>
            <a:spLocks noGrp="1"/>
          </p:cNvSpPr>
          <p:nvPr>
            <p:ph type="title"/>
          </p:nvPr>
        </p:nvSpPr>
        <p:spPr/>
        <p:txBody>
          <a:bodyPr/>
          <a:lstStyle/>
          <a:p>
            <a:r>
              <a:rPr lang="en-US" altLang="zh-TW" dirty="0"/>
              <a:t>Sequence-to-graph alignment</a:t>
            </a:r>
            <a:endParaRPr lang="zh-TW" altLang="en-US" dirty="0"/>
          </a:p>
        </p:txBody>
      </p:sp>
      <p:pic>
        <p:nvPicPr>
          <p:cNvPr id="7" name="圖片 6">
            <a:extLst>
              <a:ext uri="{FF2B5EF4-FFF2-40B4-BE49-F238E27FC236}">
                <a16:creationId xmlns:a16="http://schemas.microsoft.com/office/drawing/2014/main" id="{05DEEFDB-D203-4C76-A3CA-88436C11D160}"/>
              </a:ext>
            </a:extLst>
          </p:cNvPr>
          <p:cNvPicPr>
            <a:picLocks noChangeAspect="1"/>
          </p:cNvPicPr>
          <p:nvPr/>
        </p:nvPicPr>
        <p:blipFill rotWithShape="1">
          <a:blip r:embed="rId2"/>
          <a:srcRect l="45097" r="-132"/>
          <a:stretch/>
        </p:blipFill>
        <p:spPr>
          <a:xfrm>
            <a:off x="6755851" y="3156438"/>
            <a:ext cx="5031704" cy="3569678"/>
          </a:xfrm>
          <a:prstGeom prst="rect">
            <a:avLst/>
          </a:prstGeom>
        </p:spPr>
      </p:pic>
      <p:sp>
        <p:nvSpPr>
          <p:cNvPr id="11" name="內容版面配置區 2">
            <a:extLst>
              <a:ext uri="{FF2B5EF4-FFF2-40B4-BE49-F238E27FC236}">
                <a16:creationId xmlns:a16="http://schemas.microsoft.com/office/drawing/2014/main" id="{18DBD333-6BB0-4182-84B2-50248C82420D}"/>
              </a:ext>
            </a:extLst>
          </p:cNvPr>
          <p:cNvSpPr>
            <a:spLocks noGrp="1"/>
          </p:cNvSpPr>
          <p:nvPr>
            <p:ph idx="1"/>
          </p:nvPr>
        </p:nvSpPr>
        <p:spPr>
          <a:xfrm>
            <a:off x="838200" y="1825625"/>
            <a:ext cx="10515600" cy="4351338"/>
          </a:xfrm>
        </p:spPr>
        <p:txBody>
          <a:bodyPr>
            <a:normAutofit/>
          </a:bodyPr>
          <a:lstStyle/>
          <a:p>
            <a:pPr marL="0" indent="0">
              <a:buNone/>
            </a:pPr>
            <a:r>
              <a:rPr lang="en-US" altLang="zh-TW" dirty="0"/>
              <a:t>Use Dijkstra’s algorithm to solve shortest path</a:t>
            </a:r>
            <a:r>
              <a:rPr lang="zh-TW" altLang="en-US" dirty="0"/>
              <a:t>：</a:t>
            </a:r>
            <a:br>
              <a:rPr lang="en-US" altLang="zh-TW" dirty="0"/>
            </a:br>
            <a:r>
              <a:rPr lang="en-US" altLang="zh-TW" dirty="0"/>
              <a:t>O(|</a:t>
            </a:r>
            <a:r>
              <a:rPr lang="en-US" altLang="zh-TW" i="1" dirty="0"/>
              <a:t>V</a:t>
            </a:r>
            <a:r>
              <a:rPr lang="en-US" altLang="zh-TW" dirty="0"/>
              <a:t>|</a:t>
            </a:r>
            <a:r>
              <a:rPr lang="en-US" altLang="zh-TW" baseline="30000" dirty="0"/>
              <a:t>2</a:t>
            </a:r>
            <a:r>
              <a:rPr lang="en-US" altLang="zh-TW" dirty="0"/>
              <a:t>)  or  O(|</a:t>
            </a:r>
            <a:r>
              <a:rPr lang="en-US" altLang="zh-TW" i="1" dirty="0" err="1"/>
              <a:t>V</a:t>
            </a:r>
            <a:r>
              <a:rPr lang="en-US" altLang="zh-TW" dirty="0" err="1"/>
              <a:t>|log|</a:t>
            </a:r>
            <a:r>
              <a:rPr lang="en-US" altLang="zh-TW" i="1" dirty="0" err="1"/>
              <a:t>V</a:t>
            </a:r>
            <a:r>
              <a:rPr lang="en-US" altLang="zh-TW" dirty="0"/>
              <a:t>| + |</a:t>
            </a:r>
            <a:r>
              <a:rPr lang="en-US" altLang="zh-TW" i="1" dirty="0"/>
              <a:t>E</a:t>
            </a:r>
            <a:r>
              <a:rPr lang="en-US" altLang="zh-TW" dirty="0"/>
              <a:t>|) with Fibonacci heap</a:t>
            </a:r>
          </a:p>
          <a:p>
            <a:pPr marL="0" indent="0">
              <a:buNone/>
            </a:pPr>
            <a:r>
              <a:rPr lang="en-US" altLang="zh-TW" dirty="0"/>
              <a:t>=&gt; O(</a:t>
            </a:r>
            <a:r>
              <a:rPr lang="en-US" altLang="zh-TW" i="1" dirty="0" err="1"/>
              <a:t>m</a:t>
            </a:r>
            <a:r>
              <a:rPr lang="en-US" altLang="zh-TW" dirty="0" err="1"/>
              <a:t>|</a:t>
            </a:r>
            <a:r>
              <a:rPr lang="en-US" altLang="zh-TW" i="1" dirty="0" err="1"/>
              <a:t>V</a:t>
            </a:r>
            <a:r>
              <a:rPr lang="en-US" altLang="zh-TW" dirty="0" err="1"/>
              <a:t>|log</a:t>
            </a:r>
            <a:r>
              <a:rPr lang="en-US" altLang="zh-TW" dirty="0"/>
              <a:t>(</a:t>
            </a:r>
            <a:r>
              <a:rPr lang="en-US" altLang="zh-TW" i="1" dirty="0" err="1"/>
              <a:t>m</a:t>
            </a:r>
            <a:r>
              <a:rPr lang="en-US" altLang="zh-TW" dirty="0" err="1"/>
              <a:t>|</a:t>
            </a:r>
            <a:r>
              <a:rPr lang="en-US" altLang="zh-TW" i="1" dirty="0" err="1"/>
              <a:t>V</a:t>
            </a:r>
            <a:r>
              <a:rPr lang="en-US" altLang="zh-TW" dirty="0"/>
              <a:t>|) + </a:t>
            </a:r>
            <a:r>
              <a:rPr lang="en-US" altLang="zh-TW" i="1" dirty="0" err="1"/>
              <a:t>m</a:t>
            </a:r>
            <a:r>
              <a:rPr lang="en-US" altLang="zh-TW" dirty="0" err="1"/>
              <a:t>|</a:t>
            </a:r>
            <a:r>
              <a:rPr lang="en-US" altLang="zh-TW" i="1" dirty="0" err="1"/>
              <a:t>E</a:t>
            </a:r>
            <a:r>
              <a:rPr lang="en-US" altLang="zh-TW" dirty="0"/>
              <a:t>|)</a:t>
            </a:r>
          </a:p>
          <a:p>
            <a:pPr>
              <a:buFont typeface="Symbol" panose="05050102010706020507" pitchFamily="18" charset="2"/>
              <a:buChar char="Þ"/>
            </a:pPr>
            <a:endParaRPr lang="en-US" altLang="zh-TW" dirty="0"/>
          </a:p>
          <a:p>
            <a:pPr marL="0" indent="0">
              <a:buNone/>
            </a:pPr>
            <a:r>
              <a:rPr lang="en-US" altLang="zh-TW" dirty="0"/>
              <a:t>Proposed algorithm</a:t>
            </a:r>
            <a:r>
              <a:rPr lang="zh-TW" altLang="en-US" dirty="0"/>
              <a:t>：</a:t>
            </a:r>
            <a:br>
              <a:rPr lang="en-US" altLang="zh-TW" dirty="0"/>
            </a:br>
            <a:r>
              <a:rPr lang="en-US" altLang="zh-TW" dirty="0"/>
              <a:t>=&gt; O(|</a:t>
            </a:r>
            <a:r>
              <a:rPr lang="en-US" altLang="zh-TW" i="1" dirty="0"/>
              <a:t>V</a:t>
            </a:r>
            <a:r>
              <a:rPr lang="en-US" altLang="zh-TW" dirty="0"/>
              <a:t>| + </a:t>
            </a:r>
            <a:r>
              <a:rPr lang="en-US" altLang="zh-TW" i="1" dirty="0" err="1"/>
              <a:t>m</a:t>
            </a:r>
            <a:r>
              <a:rPr lang="en-US" altLang="zh-TW" dirty="0" err="1"/>
              <a:t>|</a:t>
            </a:r>
            <a:r>
              <a:rPr lang="en-US" altLang="zh-TW" i="1" dirty="0" err="1"/>
              <a:t>E</a:t>
            </a:r>
            <a:r>
              <a:rPr lang="en-US" altLang="zh-TW" dirty="0"/>
              <a:t>|)</a:t>
            </a:r>
          </a:p>
        </p:txBody>
      </p:sp>
      <p:sp>
        <p:nvSpPr>
          <p:cNvPr id="12" name="矩形 11">
            <a:extLst>
              <a:ext uri="{FF2B5EF4-FFF2-40B4-BE49-F238E27FC236}">
                <a16:creationId xmlns:a16="http://schemas.microsoft.com/office/drawing/2014/main" id="{B89E9702-54FC-4242-A545-6C13D8A32E47}"/>
              </a:ext>
            </a:extLst>
          </p:cNvPr>
          <p:cNvSpPr/>
          <p:nvPr/>
        </p:nvSpPr>
        <p:spPr>
          <a:xfrm>
            <a:off x="7306407" y="3938953"/>
            <a:ext cx="4369778" cy="720969"/>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6645943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5622D65-5B30-45E7-A075-0FE7BC3F1A04}"/>
              </a:ext>
            </a:extLst>
          </p:cNvPr>
          <p:cNvSpPr>
            <a:spLocks noGrp="1"/>
          </p:cNvSpPr>
          <p:nvPr>
            <p:ph type="title"/>
          </p:nvPr>
        </p:nvSpPr>
        <p:spPr/>
        <p:txBody>
          <a:bodyPr/>
          <a:lstStyle/>
          <a:p>
            <a:r>
              <a:rPr lang="en-US" altLang="zh-TW" dirty="0"/>
              <a:t>Sequence-to-graph alignment</a:t>
            </a:r>
            <a:endParaRPr lang="zh-TW" altLang="en-US" dirty="0"/>
          </a:p>
        </p:txBody>
      </p:sp>
      <p:pic>
        <p:nvPicPr>
          <p:cNvPr id="6" name="圖片 5">
            <a:extLst>
              <a:ext uri="{FF2B5EF4-FFF2-40B4-BE49-F238E27FC236}">
                <a16:creationId xmlns:a16="http://schemas.microsoft.com/office/drawing/2014/main" id="{D20BCCC0-796A-4BD9-A6F8-8025F732D95B}"/>
              </a:ext>
            </a:extLst>
          </p:cNvPr>
          <p:cNvPicPr>
            <a:picLocks noChangeAspect="1"/>
          </p:cNvPicPr>
          <p:nvPr/>
        </p:nvPicPr>
        <p:blipFill>
          <a:blip r:embed="rId2"/>
          <a:stretch>
            <a:fillRect/>
          </a:stretch>
        </p:blipFill>
        <p:spPr>
          <a:xfrm>
            <a:off x="556439" y="1471339"/>
            <a:ext cx="11079121" cy="3915321"/>
          </a:xfrm>
          <a:prstGeom prst="rect">
            <a:avLst/>
          </a:prstGeom>
        </p:spPr>
      </p:pic>
      <p:sp>
        <p:nvSpPr>
          <p:cNvPr id="8" name="矩形 7">
            <a:extLst>
              <a:ext uri="{FF2B5EF4-FFF2-40B4-BE49-F238E27FC236}">
                <a16:creationId xmlns:a16="http://schemas.microsoft.com/office/drawing/2014/main" id="{72C62807-3494-4A94-87AD-D9A20E8C8C7F}"/>
              </a:ext>
            </a:extLst>
          </p:cNvPr>
          <p:cNvSpPr/>
          <p:nvPr/>
        </p:nvSpPr>
        <p:spPr>
          <a:xfrm>
            <a:off x="1248508" y="3807069"/>
            <a:ext cx="5591907" cy="29014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文字方塊 8">
            <a:extLst>
              <a:ext uri="{FF2B5EF4-FFF2-40B4-BE49-F238E27FC236}">
                <a16:creationId xmlns:a16="http://schemas.microsoft.com/office/drawing/2014/main" id="{BD2330F9-64E6-4C66-9C5A-8C6FAC3C5947}"/>
              </a:ext>
            </a:extLst>
          </p:cNvPr>
          <p:cNvSpPr txBox="1"/>
          <p:nvPr/>
        </p:nvSpPr>
        <p:spPr>
          <a:xfrm>
            <a:off x="7297616" y="3631225"/>
            <a:ext cx="3033346"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O(|</a:t>
            </a:r>
            <a:r>
              <a:rPr lang="en-US" altLang="zh-TW" sz="2400" i="1" dirty="0">
                <a:latin typeface="Times New Roman" panose="02020603050405020304" pitchFamily="18" charset="0"/>
                <a:cs typeface="Times New Roman" panose="02020603050405020304" pitchFamily="18" charset="0"/>
              </a:rPr>
              <a:t>V</a:t>
            </a:r>
            <a:r>
              <a:rPr lang="en-US" altLang="zh-TW" sz="2400" dirty="0">
                <a:latin typeface="Times New Roman" panose="02020603050405020304" pitchFamily="18" charset="0"/>
                <a:cs typeface="Times New Roman" panose="02020603050405020304" pitchFamily="18" charset="0"/>
              </a:rPr>
              <a:t>| + |</a:t>
            </a:r>
            <a:r>
              <a:rPr lang="en-US" altLang="zh-TW" sz="2400" i="1" dirty="0">
                <a:latin typeface="Times New Roman" panose="02020603050405020304" pitchFamily="18" charset="0"/>
                <a:cs typeface="Times New Roman" panose="02020603050405020304" pitchFamily="18" charset="0"/>
              </a:rPr>
              <a:t>E</a:t>
            </a:r>
            <a:r>
              <a:rPr lang="en-US" altLang="zh-TW" sz="2400" dirty="0">
                <a:latin typeface="Times New Roman" panose="02020603050405020304" pitchFamily="18" charset="0"/>
                <a:cs typeface="Times New Roman" panose="02020603050405020304" pitchFamily="18" charset="0"/>
              </a:rPr>
              <a:t>|) + O(|</a:t>
            </a:r>
            <a:r>
              <a:rPr lang="en-US" altLang="zh-TW" sz="2400" i="1" dirty="0">
                <a:latin typeface="Times New Roman" panose="02020603050405020304" pitchFamily="18" charset="0"/>
                <a:cs typeface="Times New Roman" panose="02020603050405020304" pitchFamily="18" charset="0"/>
              </a:rPr>
              <a:t>V</a:t>
            </a:r>
            <a:r>
              <a:rPr lang="en-US" altLang="zh-TW" sz="2400" dirty="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p:txBody>
      </p:sp>
      <p:sp>
        <p:nvSpPr>
          <p:cNvPr id="12" name="矩形 11">
            <a:extLst>
              <a:ext uri="{FF2B5EF4-FFF2-40B4-BE49-F238E27FC236}">
                <a16:creationId xmlns:a16="http://schemas.microsoft.com/office/drawing/2014/main" id="{756CA303-0837-4E18-80FB-597CB5103E23}"/>
              </a:ext>
            </a:extLst>
          </p:cNvPr>
          <p:cNvSpPr/>
          <p:nvPr/>
        </p:nvSpPr>
        <p:spPr>
          <a:xfrm>
            <a:off x="1248508" y="4092890"/>
            <a:ext cx="5591907" cy="29014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文字方塊 12">
            <a:extLst>
              <a:ext uri="{FF2B5EF4-FFF2-40B4-BE49-F238E27FC236}">
                <a16:creationId xmlns:a16="http://schemas.microsoft.com/office/drawing/2014/main" id="{0D2421B9-AD31-47FF-A3A9-CADCABBE184F}"/>
              </a:ext>
            </a:extLst>
          </p:cNvPr>
          <p:cNvSpPr txBox="1"/>
          <p:nvPr/>
        </p:nvSpPr>
        <p:spPr>
          <a:xfrm>
            <a:off x="7297616" y="4007130"/>
            <a:ext cx="1811215"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O(|</a:t>
            </a:r>
            <a:r>
              <a:rPr lang="en-US" altLang="zh-TW" sz="2400" i="1" dirty="0">
                <a:latin typeface="Times New Roman" panose="02020603050405020304" pitchFamily="18" charset="0"/>
                <a:cs typeface="Times New Roman" panose="02020603050405020304" pitchFamily="18" charset="0"/>
              </a:rPr>
              <a:t>V</a:t>
            </a:r>
            <a:r>
              <a:rPr lang="en-US" altLang="zh-TW" sz="2400" dirty="0">
                <a:latin typeface="Times New Roman" panose="02020603050405020304" pitchFamily="18" charset="0"/>
                <a:cs typeface="Times New Roman" panose="02020603050405020304" pitchFamily="18" charset="0"/>
              </a:rPr>
              <a:t>| + |</a:t>
            </a:r>
            <a:r>
              <a:rPr lang="en-US" altLang="zh-TW" sz="2400" i="1" dirty="0">
                <a:latin typeface="Times New Roman" panose="02020603050405020304" pitchFamily="18" charset="0"/>
                <a:cs typeface="Times New Roman" panose="02020603050405020304" pitchFamily="18" charset="0"/>
              </a:rPr>
              <a:t>E</a:t>
            </a:r>
            <a:r>
              <a:rPr lang="en-US" altLang="zh-TW" sz="2400" dirty="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301342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5622D65-5B30-45E7-A075-0FE7BC3F1A04}"/>
              </a:ext>
            </a:extLst>
          </p:cNvPr>
          <p:cNvSpPr>
            <a:spLocks noGrp="1"/>
          </p:cNvSpPr>
          <p:nvPr>
            <p:ph type="title"/>
          </p:nvPr>
        </p:nvSpPr>
        <p:spPr/>
        <p:txBody>
          <a:bodyPr/>
          <a:lstStyle/>
          <a:p>
            <a:r>
              <a:rPr lang="en-US" altLang="zh-TW" dirty="0" err="1"/>
              <a:t>InitializeDistance</a:t>
            </a:r>
            <a:r>
              <a:rPr lang="en-US" altLang="zh-TW" dirty="0"/>
              <a:t>()</a:t>
            </a:r>
            <a:endParaRPr lang="zh-TW" altLang="en-US" dirty="0"/>
          </a:p>
        </p:txBody>
      </p:sp>
      <p:pic>
        <p:nvPicPr>
          <p:cNvPr id="4" name="圖片 3">
            <a:extLst>
              <a:ext uri="{FF2B5EF4-FFF2-40B4-BE49-F238E27FC236}">
                <a16:creationId xmlns:a16="http://schemas.microsoft.com/office/drawing/2014/main" id="{9C52EC5C-301E-4574-AD9F-36606E0C5869}"/>
              </a:ext>
            </a:extLst>
          </p:cNvPr>
          <p:cNvPicPr>
            <a:picLocks noChangeAspect="1"/>
          </p:cNvPicPr>
          <p:nvPr/>
        </p:nvPicPr>
        <p:blipFill>
          <a:blip r:embed="rId2"/>
          <a:stretch>
            <a:fillRect/>
          </a:stretch>
        </p:blipFill>
        <p:spPr>
          <a:xfrm>
            <a:off x="484992" y="1311266"/>
            <a:ext cx="11222016" cy="3620005"/>
          </a:xfrm>
          <a:prstGeom prst="rect">
            <a:avLst/>
          </a:prstGeom>
        </p:spPr>
      </p:pic>
      <p:sp>
        <p:nvSpPr>
          <p:cNvPr id="10" name="矩形 9">
            <a:extLst>
              <a:ext uri="{FF2B5EF4-FFF2-40B4-BE49-F238E27FC236}">
                <a16:creationId xmlns:a16="http://schemas.microsoft.com/office/drawing/2014/main" id="{BC724D4F-F0CA-4DDD-9F27-3275AF68E07F}"/>
              </a:ext>
            </a:extLst>
          </p:cNvPr>
          <p:cNvSpPr/>
          <p:nvPr/>
        </p:nvSpPr>
        <p:spPr>
          <a:xfrm>
            <a:off x="484993" y="4435790"/>
            <a:ext cx="2785746" cy="29014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文字方塊 10">
            <a:extLst>
              <a:ext uri="{FF2B5EF4-FFF2-40B4-BE49-F238E27FC236}">
                <a16:creationId xmlns:a16="http://schemas.microsoft.com/office/drawing/2014/main" id="{40E59083-39FE-43ED-B98A-5FDF6CF67153}"/>
              </a:ext>
            </a:extLst>
          </p:cNvPr>
          <p:cNvSpPr txBox="1"/>
          <p:nvPr/>
        </p:nvSpPr>
        <p:spPr>
          <a:xfrm>
            <a:off x="3341077" y="4350030"/>
            <a:ext cx="3033346"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O(|</a:t>
            </a:r>
            <a:r>
              <a:rPr lang="en-US" altLang="zh-TW" sz="2400" i="1" dirty="0">
                <a:latin typeface="Times New Roman" panose="02020603050405020304" pitchFamily="18" charset="0"/>
                <a:cs typeface="Times New Roman" panose="02020603050405020304" pitchFamily="18" charset="0"/>
              </a:rPr>
              <a:t>V</a:t>
            </a:r>
            <a:r>
              <a:rPr lang="en-US" altLang="zh-TW" sz="2400" dirty="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p:txBody>
      </p:sp>
      <p:pic>
        <p:nvPicPr>
          <p:cNvPr id="15" name="圖片 14">
            <a:extLst>
              <a:ext uri="{FF2B5EF4-FFF2-40B4-BE49-F238E27FC236}">
                <a16:creationId xmlns:a16="http://schemas.microsoft.com/office/drawing/2014/main" id="{8257F2A3-FF87-4FBB-96EA-A6A30130F1CC}"/>
              </a:ext>
            </a:extLst>
          </p:cNvPr>
          <p:cNvPicPr>
            <a:picLocks noChangeAspect="1"/>
          </p:cNvPicPr>
          <p:nvPr/>
        </p:nvPicPr>
        <p:blipFill rotWithShape="1">
          <a:blip r:embed="rId3"/>
          <a:srcRect l="45097" r="-132"/>
          <a:stretch/>
        </p:blipFill>
        <p:spPr>
          <a:xfrm>
            <a:off x="6755851" y="3156438"/>
            <a:ext cx="5031704" cy="3569678"/>
          </a:xfrm>
          <a:prstGeom prst="rect">
            <a:avLst/>
          </a:prstGeom>
        </p:spPr>
      </p:pic>
      <p:cxnSp>
        <p:nvCxnSpPr>
          <p:cNvPr id="16" name="直線單箭頭接點 15">
            <a:extLst>
              <a:ext uri="{FF2B5EF4-FFF2-40B4-BE49-F238E27FC236}">
                <a16:creationId xmlns:a16="http://schemas.microsoft.com/office/drawing/2014/main" id="{2C511152-CFB3-44C2-ABC3-EE3F1FC6C83B}"/>
              </a:ext>
            </a:extLst>
          </p:cNvPr>
          <p:cNvCxnSpPr>
            <a:cxnSpLocks/>
          </p:cNvCxnSpPr>
          <p:nvPr/>
        </p:nvCxnSpPr>
        <p:spPr>
          <a:xfrm>
            <a:off x="2555632" y="5494180"/>
            <a:ext cx="413238" cy="0"/>
          </a:xfrm>
          <a:prstGeom prst="straightConnector1">
            <a:avLst/>
          </a:prstGeom>
          <a:ln w="57150">
            <a:solidFill>
              <a:srgbClr val="323EFE"/>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單箭頭接點 16">
            <a:extLst>
              <a:ext uri="{FF2B5EF4-FFF2-40B4-BE49-F238E27FC236}">
                <a16:creationId xmlns:a16="http://schemas.microsoft.com/office/drawing/2014/main" id="{AB473EBE-F83F-4B71-90B5-00E17D019FF3}"/>
              </a:ext>
            </a:extLst>
          </p:cNvPr>
          <p:cNvCxnSpPr>
            <a:cxnSpLocks/>
          </p:cNvCxnSpPr>
          <p:nvPr/>
        </p:nvCxnSpPr>
        <p:spPr>
          <a:xfrm>
            <a:off x="2555632" y="6247647"/>
            <a:ext cx="413238" cy="0"/>
          </a:xfrm>
          <a:prstGeom prst="straightConnector1">
            <a:avLst/>
          </a:prstGeom>
          <a:ln w="57150">
            <a:solidFill>
              <a:srgbClr val="44FD19"/>
            </a:solidFill>
            <a:tailEnd type="triangle"/>
          </a:ln>
        </p:spPr>
        <p:style>
          <a:lnRef idx="1">
            <a:schemeClr val="accent1"/>
          </a:lnRef>
          <a:fillRef idx="0">
            <a:schemeClr val="accent1"/>
          </a:fillRef>
          <a:effectRef idx="0">
            <a:schemeClr val="accent1"/>
          </a:effectRef>
          <a:fontRef idx="minor">
            <a:schemeClr val="tx1"/>
          </a:fontRef>
        </p:style>
      </p:cxnSp>
      <p:sp>
        <p:nvSpPr>
          <p:cNvPr id="18" name="文字方塊 17">
            <a:extLst>
              <a:ext uri="{FF2B5EF4-FFF2-40B4-BE49-F238E27FC236}">
                <a16:creationId xmlns:a16="http://schemas.microsoft.com/office/drawing/2014/main" id="{9DDB6C52-4DD1-4681-8A92-C0ED4B02123F}"/>
              </a:ext>
            </a:extLst>
          </p:cNvPr>
          <p:cNvSpPr txBox="1"/>
          <p:nvPr/>
        </p:nvSpPr>
        <p:spPr>
          <a:xfrm>
            <a:off x="931745" y="5646579"/>
            <a:ext cx="1378927"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compute</a:t>
            </a:r>
            <a:endParaRPr lang="zh-TW" altLang="en-US" sz="2400" dirty="0">
              <a:latin typeface="Times New Roman" panose="02020603050405020304" pitchFamily="18" charset="0"/>
              <a:cs typeface="Times New Roman" panose="02020603050405020304" pitchFamily="18" charset="0"/>
            </a:endParaRPr>
          </a:p>
        </p:txBody>
      </p:sp>
      <p:sp>
        <p:nvSpPr>
          <p:cNvPr id="19" name="文字方塊 18">
            <a:extLst>
              <a:ext uri="{FF2B5EF4-FFF2-40B4-BE49-F238E27FC236}">
                <a16:creationId xmlns:a16="http://schemas.microsoft.com/office/drawing/2014/main" id="{2C5AE67E-3197-463C-A149-D6E90BBF0611}"/>
              </a:ext>
            </a:extLst>
          </p:cNvPr>
          <p:cNvSpPr txBox="1"/>
          <p:nvPr/>
        </p:nvSpPr>
        <p:spPr>
          <a:xfrm>
            <a:off x="3118339" y="6039622"/>
            <a:ext cx="1770185"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substitution</a:t>
            </a:r>
            <a:endParaRPr lang="zh-TW" altLang="en-US" sz="2400" dirty="0">
              <a:latin typeface="Times New Roman" panose="02020603050405020304" pitchFamily="18" charset="0"/>
              <a:cs typeface="Times New Roman" panose="02020603050405020304" pitchFamily="18" charset="0"/>
            </a:endParaRPr>
          </a:p>
        </p:txBody>
      </p:sp>
      <p:sp>
        <p:nvSpPr>
          <p:cNvPr id="21" name="文字方塊 20">
            <a:extLst>
              <a:ext uri="{FF2B5EF4-FFF2-40B4-BE49-F238E27FC236}">
                <a16:creationId xmlns:a16="http://schemas.microsoft.com/office/drawing/2014/main" id="{50D719A9-F3A6-450A-9191-603B28BFAE42}"/>
              </a:ext>
            </a:extLst>
          </p:cNvPr>
          <p:cNvSpPr txBox="1"/>
          <p:nvPr/>
        </p:nvSpPr>
        <p:spPr>
          <a:xfrm>
            <a:off x="5190393" y="5646578"/>
            <a:ext cx="1378927"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first</a:t>
            </a:r>
            <a:endParaRPr lang="zh-TW" altLang="en-US" sz="2400" dirty="0">
              <a:latin typeface="Times New Roman" panose="02020603050405020304" pitchFamily="18" charset="0"/>
              <a:cs typeface="Times New Roman" panose="02020603050405020304" pitchFamily="18" charset="0"/>
            </a:endParaRPr>
          </a:p>
        </p:txBody>
      </p:sp>
      <p:sp>
        <p:nvSpPr>
          <p:cNvPr id="22" name="文字方塊 21">
            <a:extLst>
              <a:ext uri="{FF2B5EF4-FFF2-40B4-BE49-F238E27FC236}">
                <a16:creationId xmlns:a16="http://schemas.microsoft.com/office/drawing/2014/main" id="{D30D47C7-29E2-4B14-8666-D9EF34E0F087}"/>
              </a:ext>
            </a:extLst>
          </p:cNvPr>
          <p:cNvSpPr txBox="1"/>
          <p:nvPr/>
        </p:nvSpPr>
        <p:spPr>
          <a:xfrm>
            <a:off x="3118339" y="5263347"/>
            <a:ext cx="1770185"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deletion</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9006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5622D65-5B30-45E7-A075-0FE7BC3F1A04}"/>
              </a:ext>
            </a:extLst>
          </p:cNvPr>
          <p:cNvSpPr>
            <a:spLocks noGrp="1"/>
          </p:cNvSpPr>
          <p:nvPr>
            <p:ph type="title"/>
          </p:nvPr>
        </p:nvSpPr>
        <p:spPr/>
        <p:txBody>
          <a:bodyPr/>
          <a:lstStyle/>
          <a:p>
            <a:r>
              <a:rPr lang="en-US" altLang="zh-TW" dirty="0"/>
              <a:t>Sort()</a:t>
            </a:r>
            <a:endParaRPr lang="zh-TW" altLang="en-US" dirty="0"/>
          </a:p>
        </p:txBody>
      </p:sp>
      <p:pic>
        <p:nvPicPr>
          <p:cNvPr id="15" name="圖片 14">
            <a:extLst>
              <a:ext uri="{FF2B5EF4-FFF2-40B4-BE49-F238E27FC236}">
                <a16:creationId xmlns:a16="http://schemas.microsoft.com/office/drawing/2014/main" id="{8257F2A3-FF87-4FBB-96EA-A6A30130F1CC}"/>
              </a:ext>
            </a:extLst>
          </p:cNvPr>
          <p:cNvPicPr>
            <a:picLocks noChangeAspect="1"/>
          </p:cNvPicPr>
          <p:nvPr/>
        </p:nvPicPr>
        <p:blipFill rotWithShape="1">
          <a:blip r:embed="rId3"/>
          <a:srcRect l="45097" r="-132"/>
          <a:stretch/>
        </p:blipFill>
        <p:spPr>
          <a:xfrm>
            <a:off x="6755851" y="3156438"/>
            <a:ext cx="5031704" cy="3569678"/>
          </a:xfrm>
          <a:prstGeom prst="rect">
            <a:avLst/>
          </a:prstGeom>
        </p:spPr>
      </p:pic>
      <p:graphicFrame>
        <p:nvGraphicFramePr>
          <p:cNvPr id="5" name="表格 5">
            <a:extLst>
              <a:ext uri="{FF2B5EF4-FFF2-40B4-BE49-F238E27FC236}">
                <a16:creationId xmlns:a16="http://schemas.microsoft.com/office/drawing/2014/main" id="{4B3D26AB-ECEE-4124-BDCA-843EF0FFDAB1}"/>
              </a:ext>
            </a:extLst>
          </p:cNvPr>
          <p:cNvGraphicFramePr>
            <a:graphicFrameLocks noGrp="1"/>
          </p:cNvGraphicFramePr>
          <p:nvPr>
            <p:extLst>
              <p:ext uri="{D42A27DB-BD31-4B8C-83A1-F6EECF244321}">
                <p14:modId xmlns:p14="http://schemas.microsoft.com/office/powerpoint/2010/main" val="3766107238"/>
              </p:ext>
            </p:extLst>
          </p:nvPr>
        </p:nvGraphicFramePr>
        <p:xfrm>
          <a:off x="838200" y="1563728"/>
          <a:ext cx="10802816" cy="1371600"/>
        </p:xfrm>
        <a:graphic>
          <a:graphicData uri="http://schemas.openxmlformats.org/drawingml/2006/table">
            <a:tbl>
              <a:tblPr firstRow="1" bandRow="1">
                <a:tableStyleId>{5940675A-B579-460E-94D1-54222C63F5DA}</a:tableStyleId>
              </a:tblPr>
              <a:tblGrid>
                <a:gridCol w="2230316">
                  <a:extLst>
                    <a:ext uri="{9D8B030D-6E8A-4147-A177-3AD203B41FA5}">
                      <a16:colId xmlns:a16="http://schemas.microsoft.com/office/drawing/2014/main" val="4293006973"/>
                    </a:ext>
                  </a:extLst>
                </a:gridCol>
                <a:gridCol w="1714500">
                  <a:extLst>
                    <a:ext uri="{9D8B030D-6E8A-4147-A177-3AD203B41FA5}">
                      <a16:colId xmlns:a16="http://schemas.microsoft.com/office/drawing/2014/main" val="2117486738"/>
                    </a:ext>
                  </a:extLst>
                </a:gridCol>
                <a:gridCol w="1714500">
                  <a:extLst>
                    <a:ext uri="{9D8B030D-6E8A-4147-A177-3AD203B41FA5}">
                      <a16:colId xmlns:a16="http://schemas.microsoft.com/office/drawing/2014/main" val="3831409467"/>
                    </a:ext>
                  </a:extLst>
                </a:gridCol>
                <a:gridCol w="1714500">
                  <a:extLst>
                    <a:ext uri="{9D8B030D-6E8A-4147-A177-3AD203B41FA5}">
                      <a16:colId xmlns:a16="http://schemas.microsoft.com/office/drawing/2014/main" val="2054268487"/>
                    </a:ext>
                  </a:extLst>
                </a:gridCol>
                <a:gridCol w="1714500">
                  <a:extLst>
                    <a:ext uri="{9D8B030D-6E8A-4147-A177-3AD203B41FA5}">
                      <a16:colId xmlns:a16="http://schemas.microsoft.com/office/drawing/2014/main" val="2075278898"/>
                    </a:ext>
                  </a:extLst>
                </a:gridCol>
                <a:gridCol w="1714500">
                  <a:extLst>
                    <a:ext uri="{9D8B030D-6E8A-4147-A177-3AD203B41FA5}">
                      <a16:colId xmlns:a16="http://schemas.microsoft.com/office/drawing/2014/main" val="2997075216"/>
                    </a:ext>
                  </a:extLst>
                </a:gridCol>
              </a:tblGrid>
              <a:tr h="370840">
                <a:tc>
                  <a:txBody>
                    <a:bodyPr/>
                    <a:lstStyle/>
                    <a:p>
                      <a:pPr algn="l"/>
                      <a:r>
                        <a:rPr lang="en-US" altLang="zh-TW" sz="2400" dirty="0" err="1">
                          <a:latin typeface="Times New Roman" panose="02020603050405020304" pitchFamily="18" charset="0"/>
                          <a:cs typeface="Times New Roman" panose="02020603050405020304" pitchFamily="18" charset="0"/>
                        </a:rPr>
                        <a:t>v.distance</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l"/>
                      <a:r>
                        <a:rPr lang="en-US" altLang="zh-TW" sz="2400" dirty="0">
                          <a:latin typeface="Times New Roman" panose="02020603050405020304" pitchFamily="18" charset="0"/>
                          <a:cs typeface="Times New Roman" panose="02020603050405020304" pitchFamily="18" charset="0"/>
                        </a:rPr>
                        <a:t>0   (A)</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l"/>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l"/>
                      <a:endParaRPr lang="zh-TW" altLang="en-US" sz="2400">
                        <a:latin typeface="Times New Roman" panose="02020603050405020304" pitchFamily="18" charset="0"/>
                        <a:cs typeface="Times New Roman" panose="02020603050405020304" pitchFamily="18" charset="0"/>
                      </a:endParaRPr>
                    </a:p>
                  </a:txBody>
                  <a:tcPr/>
                </a:tc>
                <a:tc>
                  <a:txBody>
                    <a:bodyPr/>
                    <a:lstStyle/>
                    <a:p>
                      <a:pPr algn="l"/>
                      <a:endParaRPr lang="zh-TW" altLang="en-US" sz="2400">
                        <a:latin typeface="Times New Roman" panose="02020603050405020304" pitchFamily="18" charset="0"/>
                        <a:cs typeface="Times New Roman" panose="02020603050405020304" pitchFamily="18" charset="0"/>
                      </a:endParaRPr>
                    </a:p>
                  </a:txBody>
                  <a:tcPr/>
                </a:tc>
                <a:tc>
                  <a:txBody>
                    <a:bodyPr/>
                    <a:lstStyle/>
                    <a:p>
                      <a:pPr algn="l"/>
                      <a:endParaRPr lang="zh-TW" altLang="en-US" sz="240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13037223"/>
                  </a:ext>
                </a:extLst>
              </a:tr>
              <a:tr h="370840">
                <a:tc>
                  <a:txBody>
                    <a:bodyPr/>
                    <a:lstStyle/>
                    <a:p>
                      <a:pPr algn="l"/>
                      <a:r>
                        <a:rPr lang="en-US" altLang="zh-TW" sz="2400" dirty="0" err="1">
                          <a:latin typeface="Times New Roman" panose="02020603050405020304" pitchFamily="18" charset="0"/>
                          <a:cs typeface="Times New Roman" panose="02020603050405020304" pitchFamily="18" charset="0"/>
                        </a:rPr>
                        <a:t>v.distance</a:t>
                      </a:r>
                      <a:r>
                        <a:rPr lang="en-US" altLang="zh-TW" sz="2400" dirty="0">
                          <a:latin typeface="Times New Roman" panose="02020603050405020304" pitchFamily="18" charset="0"/>
                          <a:cs typeface="Times New Roman" panose="02020603050405020304" pitchFamily="18" charset="0"/>
                        </a:rPr>
                        <a:t> + </a:t>
                      </a: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a:t>
                      </a:r>
                      <a:r>
                        <a:rPr lang="en-US" altLang="zh-TW" sz="2400" baseline="-25000" dirty="0">
                          <a:latin typeface="Times New Roman" panose="02020603050405020304" pitchFamily="18" charset="0"/>
                          <a:cs typeface="Times New Roman" panose="02020603050405020304" pitchFamily="18" charset="0"/>
                          <a:sym typeface="Symbol" panose="05050102010706020507" pitchFamily="18" charset="2"/>
                        </a:rPr>
                        <a:t>sub</a:t>
                      </a:r>
                      <a:endParaRPr lang="zh-TW" altLang="en-US" sz="2400" baseline="-25000" dirty="0">
                        <a:latin typeface="Times New Roman" panose="02020603050405020304" pitchFamily="18" charset="0"/>
                        <a:cs typeface="Times New Roman" panose="02020603050405020304" pitchFamily="18" charset="0"/>
                      </a:endParaRPr>
                    </a:p>
                  </a:txBody>
                  <a:tcPr/>
                </a:tc>
                <a:tc>
                  <a:txBody>
                    <a:bodyPr/>
                    <a:lstStyle/>
                    <a:p>
                      <a:pPr algn="l"/>
                      <a:r>
                        <a:rPr lang="en-US" altLang="zh-TW" sz="2400" dirty="0">
                          <a:latin typeface="Times New Roman" panose="02020603050405020304" pitchFamily="18" charset="0"/>
                          <a:cs typeface="Times New Roman" panose="02020603050405020304" pitchFamily="18" charset="0"/>
                        </a:rPr>
                        <a:t>1   (C)</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l"/>
                      <a:r>
                        <a:rPr lang="en-US" altLang="zh-TW" sz="2400" dirty="0">
                          <a:latin typeface="Times New Roman" panose="02020603050405020304" pitchFamily="18" charset="0"/>
                          <a:cs typeface="Times New Roman" panose="02020603050405020304" pitchFamily="18" charset="0"/>
                        </a:rPr>
                        <a:t>1   (G)</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l"/>
                      <a:r>
                        <a:rPr lang="en-US" altLang="zh-TW" sz="2400" dirty="0">
                          <a:latin typeface="Times New Roman" panose="02020603050405020304" pitchFamily="18" charset="0"/>
                          <a:cs typeface="Times New Roman" panose="02020603050405020304" pitchFamily="18" charset="0"/>
                        </a:rPr>
                        <a:t>1   (T)</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l"/>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l"/>
                      <a:endParaRPr lang="zh-TW" altLang="en-US" sz="240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922417792"/>
                  </a:ext>
                </a:extLst>
              </a:tr>
              <a:tr h="370840">
                <a:tc>
                  <a:txBody>
                    <a:bodyPr/>
                    <a:lstStyle/>
                    <a:p>
                      <a:pPr algn="l"/>
                      <a:r>
                        <a:rPr lang="en-US" altLang="zh-TW" sz="2400" dirty="0" err="1">
                          <a:latin typeface="Times New Roman" panose="02020603050405020304" pitchFamily="18" charset="0"/>
                          <a:cs typeface="Times New Roman" panose="02020603050405020304" pitchFamily="18" charset="0"/>
                        </a:rPr>
                        <a:t>v.distance</a:t>
                      </a:r>
                      <a:r>
                        <a:rPr lang="en-US" altLang="zh-TW" sz="2400" dirty="0">
                          <a:latin typeface="Times New Roman" panose="02020603050405020304" pitchFamily="18" charset="0"/>
                          <a:cs typeface="Times New Roman" panose="02020603050405020304" pitchFamily="18" charset="0"/>
                        </a:rPr>
                        <a:t> + </a:t>
                      </a: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a:t>
                      </a:r>
                      <a:r>
                        <a:rPr lang="en-US" altLang="zh-TW" sz="2400" baseline="-25000" dirty="0">
                          <a:latin typeface="Times New Roman" panose="02020603050405020304" pitchFamily="18" charset="0"/>
                          <a:cs typeface="Times New Roman" panose="02020603050405020304" pitchFamily="18" charset="0"/>
                          <a:sym typeface="Symbol" panose="05050102010706020507" pitchFamily="18" charset="2"/>
                        </a:rPr>
                        <a:t>del</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l"/>
                      <a:r>
                        <a:rPr lang="en-US" altLang="zh-TW" sz="2400" dirty="0">
                          <a:latin typeface="Times New Roman" panose="02020603050405020304" pitchFamily="18" charset="0"/>
                          <a:cs typeface="Times New Roman" panose="02020603050405020304" pitchFamily="18" charset="0"/>
                        </a:rPr>
                        <a:t>1   (dummy)</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l"/>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l"/>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l"/>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l"/>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12426827"/>
                  </a:ext>
                </a:extLst>
              </a:tr>
            </a:tbl>
          </a:graphicData>
        </a:graphic>
      </p:graphicFrame>
      <p:sp>
        <p:nvSpPr>
          <p:cNvPr id="20" name="文字方塊 19">
            <a:extLst>
              <a:ext uri="{FF2B5EF4-FFF2-40B4-BE49-F238E27FC236}">
                <a16:creationId xmlns:a16="http://schemas.microsoft.com/office/drawing/2014/main" id="{8F086672-2BC4-4F54-A542-9E54D58E86EE}"/>
              </a:ext>
            </a:extLst>
          </p:cNvPr>
          <p:cNvSpPr txBox="1"/>
          <p:nvPr/>
        </p:nvSpPr>
        <p:spPr>
          <a:xfrm>
            <a:off x="5650525" y="3903098"/>
            <a:ext cx="445476" cy="461665"/>
          </a:xfrm>
          <a:prstGeom prst="rect">
            <a:avLst/>
          </a:prstGeom>
          <a:noFill/>
        </p:spPr>
        <p:txBody>
          <a:bodyPr wrap="square" rtlCol="0">
            <a:spAutoFit/>
          </a:bodyPr>
          <a:lstStyle/>
          <a:p>
            <a:pPr algn="ctr"/>
            <a:r>
              <a:rPr lang="en-US" altLang="zh-TW" sz="2400" dirty="0">
                <a:latin typeface="Times New Roman" panose="02020603050405020304" pitchFamily="18" charset="0"/>
                <a:cs typeface="Times New Roman" panose="02020603050405020304" pitchFamily="18" charset="0"/>
              </a:rPr>
              <a:t>v</a:t>
            </a:r>
            <a:endParaRPr lang="zh-TW" altLang="en-US" sz="2400" dirty="0">
              <a:latin typeface="Times New Roman" panose="02020603050405020304" pitchFamily="18" charset="0"/>
              <a:cs typeface="Times New Roman" panose="02020603050405020304" pitchFamily="18" charset="0"/>
            </a:endParaRPr>
          </a:p>
        </p:txBody>
      </p:sp>
      <p:cxnSp>
        <p:nvCxnSpPr>
          <p:cNvPr id="7" name="直線單箭頭接點 6">
            <a:extLst>
              <a:ext uri="{FF2B5EF4-FFF2-40B4-BE49-F238E27FC236}">
                <a16:creationId xmlns:a16="http://schemas.microsoft.com/office/drawing/2014/main" id="{A453E787-F92A-4317-879C-62474C2C7277}"/>
              </a:ext>
            </a:extLst>
          </p:cNvPr>
          <p:cNvCxnSpPr>
            <a:stCxn id="20" idx="3"/>
          </p:cNvCxnSpPr>
          <p:nvPr/>
        </p:nvCxnSpPr>
        <p:spPr>
          <a:xfrm flipV="1">
            <a:off x="6096001" y="3640015"/>
            <a:ext cx="3083168" cy="49391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文字方塊 7">
            <a:extLst>
              <a:ext uri="{FF2B5EF4-FFF2-40B4-BE49-F238E27FC236}">
                <a16:creationId xmlns:a16="http://schemas.microsoft.com/office/drawing/2014/main" id="{B3428645-9A67-4B92-AE87-FB06FA0A4E15}"/>
              </a:ext>
            </a:extLst>
          </p:cNvPr>
          <p:cNvSpPr txBox="1"/>
          <p:nvPr/>
        </p:nvSpPr>
        <p:spPr>
          <a:xfrm>
            <a:off x="838200" y="4732368"/>
            <a:ext cx="5826369" cy="1200329"/>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merge them in O(|</a:t>
            </a:r>
            <a:r>
              <a:rPr lang="en-US" altLang="zh-TW" sz="2400" i="1" dirty="0">
                <a:latin typeface="Times New Roman" panose="02020603050405020304" pitchFamily="18" charset="0"/>
                <a:cs typeface="Times New Roman" panose="02020603050405020304" pitchFamily="18" charset="0"/>
              </a:rPr>
              <a:t>V</a:t>
            </a:r>
            <a:r>
              <a:rPr lang="en-US" altLang="zh-TW" sz="2400" dirty="0">
                <a:latin typeface="Times New Roman" panose="02020603050405020304" pitchFamily="18" charset="0"/>
                <a:cs typeface="Times New Roman" panose="02020603050405020304" pitchFamily="18" charset="0"/>
              </a:rPr>
              <a:t>|)</a:t>
            </a:r>
          </a:p>
          <a:p>
            <a:r>
              <a:rPr lang="en-US" altLang="zh-TW" sz="2400" dirty="0">
                <a:latin typeface="Times New Roman" panose="02020603050405020304" pitchFamily="18" charset="0"/>
                <a:cs typeface="Times New Roman" panose="02020603050405020304" pitchFamily="18" charset="0"/>
              </a:rPr>
              <a:t>so, time complexity of </a:t>
            </a:r>
            <a:r>
              <a:rPr lang="en-US" altLang="zh-TW" sz="2400" dirty="0" err="1">
                <a:latin typeface="Times New Roman" panose="02020603050405020304" pitchFamily="18" charset="0"/>
                <a:cs typeface="Times New Roman" panose="02020603050405020304" pitchFamily="18" charset="0"/>
              </a:rPr>
              <a:t>InitializeDistance</a:t>
            </a:r>
            <a:r>
              <a:rPr lang="en-US" altLang="zh-TW" sz="2400" dirty="0">
                <a:latin typeface="Times New Roman" panose="02020603050405020304" pitchFamily="18" charset="0"/>
                <a:cs typeface="Times New Roman" panose="02020603050405020304" pitchFamily="18" charset="0"/>
              </a:rPr>
              <a:t>() is O(|</a:t>
            </a:r>
            <a:r>
              <a:rPr lang="en-US" altLang="zh-TW" sz="2400" i="1" dirty="0">
                <a:latin typeface="Times New Roman" panose="02020603050405020304" pitchFamily="18" charset="0"/>
                <a:cs typeface="Times New Roman" panose="02020603050405020304" pitchFamily="18" charset="0"/>
              </a:rPr>
              <a:t>V</a:t>
            </a:r>
            <a:r>
              <a:rPr lang="en-US" altLang="zh-TW" sz="2400" dirty="0">
                <a:latin typeface="Times New Roman" panose="02020603050405020304" pitchFamily="18" charset="0"/>
                <a:cs typeface="Times New Roman" panose="02020603050405020304" pitchFamily="18" charset="0"/>
              </a:rPr>
              <a:t>| + |</a:t>
            </a:r>
            <a:r>
              <a:rPr lang="en-US" altLang="zh-TW" sz="2400" i="1" dirty="0">
                <a:latin typeface="Times New Roman" panose="02020603050405020304" pitchFamily="18" charset="0"/>
                <a:cs typeface="Times New Roman" panose="02020603050405020304" pitchFamily="18" charset="0"/>
              </a:rPr>
              <a:t>E</a:t>
            </a:r>
            <a:r>
              <a:rPr lang="en-US" altLang="zh-TW" sz="2400" dirty="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p:txBody>
      </p:sp>
      <p:pic>
        <p:nvPicPr>
          <p:cNvPr id="12" name="圖片 11">
            <a:extLst>
              <a:ext uri="{FF2B5EF4-FFF2-40B4-BE49-F238E27FC236}">
                <a16:creationId xmlns:a16="http://schemas.microsoft.com/office/drawing/2014/main" id="{683C3E98-1C0D-4A15-8DCD-FB6FA1CBE776}"/>
              </a:ext>
            </a:extLst>
          </p:cNvPr>
          <p:cNvPicPr>
            <a:picLocks noChangeAspect="1"/>
          </p:cNvPicPr>
          <p:nvPr/>
        </p:nvPicPr>
        <p:blipFill>
          <a:blip r:embed="rId4"/>
          <a:stretch>
            <a:fillRect/>
          </a:stretch>
        </p:blipFill>
        <p:spPr>
          <a:xfrm>
            <a:off x="11456340" y="4151513"/>
            <a:ext cx="557910" cy="1932763"/>
          </a:xfrm>
          <a:prstGeom prst="rect">
            <a:avLst/>
          </a:prstGeom>
        </p:spPr>
      </p:pic>
    </p:spTree>
    <p:extLst>
      <p:ext uri="{BB962C8B-B14F-4D97-AF65-F5344CB8AC3E}">
        <p14:creationId xmlns:p14="http://schemas.microsoft.com/office/powerpoint/2010/main" val="5403901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5622D65-5B30-45E7-A075-0FE7BC3F1A04}"/>
              </a:ext>
            </a:extLst>
          </p:cNvPr>
          <p:cNvSpPr>
            <a:spLocks noGrp="1"/>
          </p:cNvSpPr>
          <p:nvPr>
            <p:ph type="title"/>
          </p:nvPr>
        </p:nvSpPr>
        <p:spPr/>
        <p:txBody>
          <a:bodyPr/>
          <a:lstStyle/>
          <a:p>
            <a:r>
              <a:rPr lang="en-US" altLang="zh-TW" dirty="0" err="1"/>
              <a:t>PropagateInsertion</a:t>
            </a:r>
            <a:r>
              <a:rPr lang="en-US" altLang="zh-TW" dirty="0"/>
              <a:t>()</a:t>
            </a:r>
            <a:endParaRPr lang="zh-TW" altLang="en-US" dirty="0"/>
          </a:p>
        </p:txBody>
      </p:sp>
      <p:pic>
        <p:nvPicPr>
          <p:cNvPr id="15" name="圖片 14">
            <a:extLst>
              <a:ext uri="{FF2B5EF4-FFF2-40B4-BE49-F238E27FC236}">
                <a16:creationId xmlns:a16="http://schemas.microsoft.com/office/drawing/2014/main" id="{8257F2A3-FF87-4FBB-96EA-A6A30130F1CC}"/>
              </a:ext>
            </a:extLst>
          </p:cNvPr>
          <p:cNvPicPr>
            <a:picLocks noChangeAspect="1"/>
          </p:cNvPicPr>
          <p:nvPr/>
        </p:nvPicPr>
        <p:blipFill rotWithShape="1">
          <a:blip r:embed="rId3"/>
          <a:srcRect l="45097" r="-132"/>
          <a:stretch/>
        </p:blipFill>
        <p:spPr>
          <a:xfrm>
            <a:off x="7338430" y="3429000"/>
            <a:ext cx="4144342" cy="2940150"/>
          </a:xfrm>
          <a:prstGeom prst="rect">
            <a:avLst/>
          </a:prstGeom>
        </p:spPr>
      </p:pic>
      <p:sp>
        <p:nvSpPr>
          <p:cNvPr id="18" name="文字方塊 17">
            <a:extLst>
              <a:ext uri="{FF2B5EF4-FFF2-40B4-BE49-F238E27FC236}">
                <a16:creationId xmlns:a16="http://schemas.microsoft.com/office/drawing/2014/main" id="{9DDB6C52-4DD1-4681-8A92-C0ED4B02123F}"/>
              </a:ext>
            </a:extLst>
          </p:cNvPr>
          <p:cNvSpPr txBox="1"/>
          <p:nvPr/>
        </p:nvSpPr>
        <p:spPr>
          <a:xfrm>
            <a:off x="7770695" y="6396335"/>
            <a:ext cx="1378927"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compute</a:t>
            </a:r>
            <a:endParaRPr lang="zh-TW" altLang="en-US" sz="2400" dirty="0">
              <a:latin typeface="Times New Roman" panose="02020603050405020304" pitchFamily="18" charset="0"/>
              <a:cs typeface="Times New Roman" panose="02020603050405020304" pitchFamily="18" charset="0"/>
            </a:endParaRPr>
          </a:p>
        </p:txBody>
      </p:sp>
      <p:pic>
        <p:nvPicPr>
          <p:cNvPr id="5" name="圖片 4">
            <a:extLst>
              <a:ext uri="{FF2B5EF4-FFF2-40B4-BE49-F238E27FC236}">
                <a16:creationId xmlns:a16="http://schemas.microsoft.com/office/drawing/2014/main" id="{BA6AACE3-38D4-4A88-8F6F-92ACA1A35C65}"/>
              </a:ext>
            </a:extLst>
          </p:cNvPr>
          <p:cNvPicPr>
            <a:picLocks noChangeAspect="1"/>
          </p:cNvPicPr>
          <p:nvPr/>
        </p:nvPicPr>
        <p:blipFill>
          <a:blip r:embed="rId4"/>
          <a:stretch>
            <a:fillRect/>
          </a:stretch>
        </p:blipFill>
        <p:spPr>
          <a:xfrm>
            <a:off x="467932" y="1295400"/>
            <a:ext cx="5628068" cy="5418426"/>
          </a:xfrm>
          <a:prstGeom prst="rect">
            <a:avLst/>
          </a:prstGeom>
        </p:spPr>
      </p:pic>
      <p:cxnSp>
        <p:nvCxnSpPr>
          <p:cNvPr id="20" name="直線單箭頭接點 19">
            <a:extLst>
              <a:ext uri="{FF2B5EF4-FFF2-40B4-BE49-F238E27FC236}">
                <a16:creationId xmlns:a16="http://schemas.microsoft.com/office/drawing/2014/main" id="{5F3AE328-12C7-42FB-9E25-C79D23A23F62}"/>
              </a:ext>
            </a:extLst>
          </p:cNvPr>
          <p:cNvCxnSpPr>
            <a:cxnSpLocks/>
          </p:cNvCxnSpPr>
          <p:nvPr/>
        </p:nvCxnSpPr>
        <p:spPr>
          <a:xfrm>
            <a:off x="9303013" y="6627168"/>
            <a:ext cx="413238"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3" name="文字方塊 22">
            <a:extLst>
              <a:ext uri="{FF2B5EF4-FFF2-40B4-BE49-F238E27FC236}">
                <a16:creationId xmlns:a16="http://schemas.microsoft.com/office/drawing/2014/main" id="{5AE3C2C3-E7F9-4BE4-96F7-AB8D6247869B}"/>
              </a:ext>
            </a:extLst>
          </p:cNvPr>
          <p:cNvSpPr txBox="1"/>
          <p:nvPr/>
        </p:nvSpPr>
        <p:spPr>
          <a:xfrm>
            <a:off x="9865720" y="6396335"/>
            <a:ext cx="1378927"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insertion</a:t>
            </a:r>
            <a:endParaRPr lang="zh-TW" altLang="en-US" sz="2400" dirty="0">
              <a:latin typeface="Times New Roman" panose="02020603050405020304" pitchFamily="18" charset="0"/>
              <a:cs typeface="Times New Roman" panose="02020603050405020304" pitchFamily="18" charset="0"/>
            </a:endParaRPr>
          </a:p>
        </p:txBody>
      </p:sp>
      <p:sp>
        <p:nvSpPr>
          <p:cNvPr id="7" name="文字方塊 6">
            <a:extLst>
              <a:ext uri="{FF2B5EF4-FFF2-40B4-BE49-F238E27FC236}">
                <a16:creationId xmlns:a16="http://schemas.microsoft.com/office/drawing/2014/main" id="{11D72CC0-4656-4970-A1B7-6CA98D00EB40}"/>
              </a:ext>
            </a:extLst>
          </p:cNvPr>
          <p:cNvSpPr txBox="1"/>
          <p:nvPr/>
        </p:nvSpPr>
        <p:spPr>
          <a:xfrm>
            <a:off x="6177822" y="1970653"/>
            <a:ext cx="5943600" cy="1200329"/>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the distance of a vertex can be updated at most once =&gt; max number of enqueue operations  is O(|</a:t>
            </a:r>
            <a:r>
              <a:rPr lang="en-US" altLang="zh-TW" sz="2400" i="1" dirty="0">
                <a:latin typeface="Times New Roman" panose="02020603050405020304" pitchFamily="18" charset="0"/>
                <a:cs typeface="Times New Roman" panose="02020603050405020304" pitchFamily="18" charset="0"/>
              </a:rPr>
              <a:t>V</a:t>
            </a:r>
            <a:r>
              <a:rPr lang="en-US" altLang="zh-TW" sz="2400" dirty="0">
                <a:latin typeface="Times New Roman" panose="02020603050405020304" pitchFamily="18" charset="0"/>
                <a:cs typeface="Times New Roman" panose="02020603050405020304" pitchFamily="18" charset="0"/>
              </a:rPr>
              <a:t>|)</a:t>
            </a:r>
          </a:p>
        </p:txBody>
      </p:sp>
      <p:sp>
        <p:nvSpPr>
          <p:cNvPr id="24" name="矩形 23">
            <a:extLst>
              <a:ext uri="{FF2B5EF4-FFF2-40B4-BE49-F238E27FC236}">
                <a16:creationId xmlns:a16="http://schemas.microsoft.com/office/drawing/2014/main" id="{5D5FB247-CFC8-4C46-A899-6E382554C7D4}"/>
              </a:ext>
            </a:extLst>
          </p:cNvPr>
          <p:cNvSpPr/>
          <p:nvPr/>
        </p:nvSpPr>
        <p:spPr>
          <a:xfrm>
            <a:off x="467932" y="3299313"/>
            <a:ext cx="3237766" cy="24032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文字方塊 24">
            <a:extLst>
              <a:ext uri="{FF2B5EF4-FFF2-40B4-BE49-F238E27FC236}">
                <a16:creationId xmlns:a16="http://schemas.microsoft.com/office/drawing/2014/main" id="{7CE10344-7279-41C2-A30C-B42C21017C48}"/>
              </a:ext>
            </a:extLst>
          </p:cNvPr>
          <p:cNvSpPr txBox="1"/>
          <p:nvPr/>
        </p:nvSpPr>
        <p:spPr>
          <a:xfrm>
            <a:off x="3702887" y="3077971"/>
            <a:ext cx="945313" cy="461665"/>
          </a:xfrm>
          <a:prstGeom prst="rect">
            <a:avLst/>
          </a:prstGeom>
          <a:noFill/>
          <a:ln w="28575">
            <a:solidFill>
              <a:srgbClr val="FF0000"/>
            </a:solidFill>
          </a:ln>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O(|</a:t>
            </a:r>
            <a:r>
              <a:rPr lang="en-US" altLang="zh-TW" sz="2400" i="1" dirty="0">
                <a:latin typeface="Times New Roman" panose="02020603050405020304" pitchFamily="18" charset="0"/>
                <a:cs typeface="Times New Roman" panose="02020603050405020304" pitchFamily="18" charset="0"/>
              </a:rPr>
              <a:t>V</a:t>
            </a:r>
            <a:r>
              <a:rPr lang="en-US" altLang="zh-TW" sz="2400" dirty="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p:txBody>
      </p:sp>
      <p:sp>
        <p:nvSpPr>
          <p:cNvPr id="26" name="矩形 25">
            <a:extLst>
              <a:ext uri="{FF2B5EF4-FFF2-40B4-BE49-F238E27FC236}">
                <a16:creationId xmlns:a16="http://schemas.microsoft.com/office/drawing/2014/main" id="{C3DABC17-1614-46A3-B304-BFF19ED9FBE0}"/>
              </a:ext>
            </a:extLst>
          </p:cNvPr>
          <p:cNvSpPr/>
          <p:nvPr/>
        </p:nvSpPr>
        <p:spPr>
          <a:xfrm>
            <a:off x="1410433" y="4686596"/>
            <a:ext cx="4064103" cy="24032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文字方塊 26">
            <a:extLst>
              <a:ext uri="{FF2B5EF4-FFF2-40B4-BE49-F238E27FC236}">
                <a16:creationId xmlns:a16="http://schemas.microsoft.com/office/drawing/2014/main" id="{5A1C2837-FFD0-4AAF-938E-FA0E7C1B1F1E}"/>
              </a:ext>
            </a:extLst>
          </p:cNvPr>
          <p:cNvSpPr txBox="1"/>
          <p:nvPr/>
        </p:nvSpPr>
        <p:spPr>
          <a:xfrm>
            <a:off x="5474536" y="4095922"/>
            <a:ext cx="1707313" cy="830997"/>
          </a:xfrm>
          <a:prstGeom prst="rect">
            <a:avLst/>
          </a:prstGeom>
          <a:noFill/>
          <a:ln w="28575">
            <a:solidFill>
              <a:srgbClr val="FF0000"/>
            </a:solidFill>
          </a:ln>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amortized</a:t>
            </a:r>
            <a:br>
              <a:rPr lang="en-US" altLang="zh-TW" sz="2400" dirty="0">
                <a:latin typeface="Times New Roman" panose="02020603050405020304" pitchFamily="18" charset="0"/>
                <a:cs typeface="Times New Roman" panose="02020603050405020304" pitchFamily="18" charset="0"/>
              </a:rPr>
            </a:br>
            <a:r>
              <a:rPr lang="en-US" altLang="zh-TW" sz="2400" dirty="0">
                <a:latin typeface="Times New Roman" panose="02020603050405020304" pitchFamily="18" charset="0"/>
                <a:cs typeface="Times New Roman" panose="02020603050405020304" pitchFamily="18" charset="0"/>
              </a:rPr>
              <a:t>O(|</a:t>
            </a:r>
            <a:r>
              <a:rPr lang="en-US" altLang="zh-TW" sz="2400" i="1" dirty="0">
                <a:latin typeface="Times New Roman" panose="02020603050405020304" pitchFamily="18" charset="0"/>
                <a:cs typeface="Times New Roman" panose="02020603050405020304" pitchFamily="18" charset="0"/>
              </a:rPr>
              <a:t>V</a:t>
            </a:r>
            <a:r>
              <a:rPr lang="en-US" altLang="zh-TW" sz="2400" dirty="0">
                <a:latin typeface="Times New Roman" panose="02020603050405020304" pitchFamily="18" charset="0"/>
                <a:cs typeface="Times New Roman" panose="02020603050405020304" pitchFamily="18" charset="0"/>
              </a:rPr>
              <a:t>| + |</a:t>
            </a:r>
            <a:r>
              <a:rPr lang="en-US" altLang="zh-TW" sz="2400" i="1" dirty="0">
                <a:latin typeface="Times New Roman" panose="02020603050405020304" pitchFamily="18" charset="0"/>
                <a:cs typeface="Times New Roman" panose="02020603050405020304" pitchFamily="18" charset="0"/>
              </a:rPr>
              <a:t>E</a:t>
            </a:r>
            <a:r>
              <a:rPr lang="en-US" altLang="zh-TW" sz="2400" dirty="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226565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5622D65-5B30-45E7-A075-0FE7BC3F1A04}"/>
              </a:ext>
            </a:extLst>
          </p:cNvPr>
          <p:cNvSpPr>
            <a:spLocks noGrp="1"/>
          </p:cNvSpPr>
          <p:nvPr>
            <p:ph type="title"/>
          </p:nvPr>
        </p:nvSpPr>
        <p:spPr/>
        <p:txBody>
          <a:bodyPr/>
          <a:lstStyle/>
          <a:p>
            <a:r>
              <a:rPr lang="en-US" altLang="zh-TW" dirty="0"/>
              <a:t>Sequence-to-graph alignment</a:t>
            </a:r>
            <a:endParaRPr lang="zh-TW" altLang="en-US" dirty="0"/>
          </a:p>
        </p:txBody>
      </p:sp>
      <p:pic>
        <p:nvPicPr>
          <p:cNvPr id="6" name="圖片 5">
            <a:extLst>
              <a:ext uri="{FF2B5EF4-FFF2-40B4-BE49-F238E27FC236}">
                <a16:creationId xmlns:a16="http://schemas.microsoft.com/office/drawing/2014/main" id="{D20BCCC0-796A-4BD9-A6F8-8025F732D95B}"/>
              </a:ext>
            </a:extLst>
          </p:cNvPr>
          <p:cNvPicPr>
            <a:picLocks noChangeAspect="1"/>
          </p:cNvPicPr>
          <p:nvPr/>
        </p:nvPicPr>
        <p:blipFill>
          <a:blip r:embed="rId2"/>
          <a:stretch>
            <a:fillRect/>
          </a:stretch>
        </p:blipFill>
        <p:spPr>
          <a:xfrm>
            <a:off x="556439" y="1471339"/>
            <a:ext cx="11079121" cy="3915321"/>
          </a:xfrm>
          <a:prstGeom prst="rect">
            <a:avLst/>
          </a:prstGeom>
        </p:spPr>
      </p:pic>
      <p:sp>
        <p:nvSpPr>
          <p:cNvPr id="8" name="矩形 7">
            <a:extLst>
              <a:ext uri="{FF2B5EF4-FFF2-40B4-BE49-F238E27FC236}">
                <a16:creationId xmlns:a16="http://schemas.microsoft.com/office/drawing/2014/main" id="{72C62807-3494-4A94-87AD-D9A20E8C8C7F}"/>
              </a:ext>
            </a:extLst>
          </p:cNvPr>
          <p:cNvSpPr/>
          <p:nvPr/>
        </p:nvSpPr>
        <p:spPr>
          <a:xfrm>
            <a:off x="1248508" y="3807069"/>
            <a:ext cx="5591907" cy="29014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文字方塊 8">
            <a:extLst>
              <a:ext uri="{FF2B5EF4-FFF2-40B4-BE49-F238E27FC236}">
                <a16:creationId xmlns:a16="http://schemas.microsoft.com/office/drawing/2014/main" id="{BD2330F9-64E6-4C66-9C5A-8C6FAC3C5947}"/>
              </a:ext>
            </a:extLst>
          </p:cNvPr>
          <p:cNvSpPr txBox="1"/>
          <p:nvPr/>
        </p:nvSpPr>
        <p:spPr>
          <a:xfrm>
            <a:off x="7297616" y="3631225"/>
            <a:ext cx="3033346"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O(|</a:t>
            </a:r>
            <a:r>
              <a:rPr lang="en-US" altLang="zh-TW" sz="2400" i="1" dirty="0">
                <a:latin typeface="Times New Roman" panose="02020603050405020304" pitchFamily="18" charset="0"/>
                <a:cs typeface="Times New Roman" panose="02020603050405020304" pitchFamily="18" charset="0"/>
              </a:rPr>
              <a:t>V</a:t>
            </a:r>
            <a:r>
              <a:rPr lang="en-US" altLang="zh-TW" sz="2400" dirty="0">
                <a:latin typeface="Times New Roman" panose="02020603050405020304" pitchFamily="18" charset="0"/>
                <a:cs typeface="Times New Roman" panose="02020603050405020304" pitchFamily="18" charset="0"/>
              </a:rPr>
              <a:t>| + |</a:t>
            </a:r>
            <a:r>
              <a:rPr lang="en-US" altLang="zh-TW" sz="2400" i="1" dirty="0">
                <a:latin typeface="Times New Roman" panose="02020603050405020304" pitchFamily="18" charset="0"/>
                <a:cs typeface="Times New Roman" panose="02020603050405020304" pitchFamily="18" charset="0"/>
              </a:rPr>
              <a:t>E</a:t>
            </a:r>
            <a:r>
              <a:rPr lang="en-US" altLang="zh-TW" sz="2400" dirty="0">
                <a:latin typeface="Times New Roman" panose="02020603050405020304" pitchFamily="18" charset="0"/>
                <a:cs typeface="Times New Roman" panose="02020603050405020304" pitchFamily="18" charset="0"/>
              </a:rPr>
              <a:t>|) + O(|</a:t>
            </a:r>
            <a:r>
              <a:rPr lang="en-US" altLang="zh-TW" sz="2400" i="1" dirty="0">
                <a:latin typeface="Times New Roman" panose="02020603050405020304" pitchFamily="18" charset="0"/>
                <a:cs typeface="Times New Roman" panose="02020603050405020304" pitchFamily="18" charset="0"/>
              </a:rPr>
              <a:t>V</a:t>
            </a:r>
            <a:r>
              <a:rPr lang="en-US" altLang="zh-TW" sz="2400" dirty="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p:txBody>
      </p:sp>
      <p:sp>
        <p:nvSpPr>
          <p:cNvPr id="12" name="矩形 11">
            <a:extLst>
              <a:ext uri="{FF2B5EF4-FFF2-40B4-BE49-F238E27FC236}">
                <a16:creationId xmlns:a16="http://schemas.microsoft.com/office/drawing/2014/main" id="{756CA303-0837-4E18-80FB-597CB5103E23}"/>
              </a:ext>
            </a:extLst>
          </p:cNvPr>
          <p:cNvSpPr/>
          <p:nvPr/>
        </p:nvSpPr>
        <p:spPr>
          <a:xfrm>
            <a:off x="1248508" y="4092890"/>
            <a:ext cx="5591907" cy="29014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文字方塊 12">
            <a:extLst>
              <a:ext uri="{FF2B5EF4-FFF2-40B4-BE49-F238E27FC236}">
                <a16:creationId xmlns:a16="http://schemas.microsoft.com/office/drawing/2014/main" id="{0D2421B9-AD31-47FF-A3A9-CADCABBE184F}"/>
              </a:ext>
            </a:extLst>
          </p:cNvPr>
          <p:cNvSpPr txBox="1"/>
          <p:nvPr/>
        </p:nvSpPr>
        <p:spPr>
          <a:xfrm>
            <a:off x="7297616" y="4007130"/>
            <a:ext cx="1811215"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O(|</a:t>
            </a:r>
            <a:r>
              <a:rPr lang="en-US" altLang="zh-TW" sz="2400" i="1" dirty="0">
                <a:latin typeface="Times New Roman" panose="02020603050405020304" pitchFamily="18" charset="0"/>
                <a:cs typeface="Times New Roman" panose="02020603050405020304" pitchFamily="18" charset="0"/>
              </a:rPr>
              <a:t>V</a:t>
            </a:r>
            <a:r>
              <a:rPr lang="en-US" altLang="zh-TW" sz="2400" dirty="0">
                <a:latin typeface="Times New Roman" panose="02020603050405020304" pitchFamily="18" charset="0"/>
                <a:cs typeface="Times New Roman" panose="02020603050405020304" pitchFamily="18" charset="0"/>
              </a:rPr>
              <a:t>| + |</a:t>
            </a:r>
            <a:r>
              <a:rPr lang="en-US" altLang="zh-TW" sz="2400" i="1" dirty="0">
                <a:latin typeface="Times New Roman" panose="02020603050405020304" pitchFamily="18" charset="0"/>
                <a:cs typeface="Times New Roman" panose="02020603050405020304" pitchFamily="18" charset="0"/>
              </a:rPr>
              <a:t>E</a:t>
            </a:r>
            <a:r>
              <a:rPr lang="en-US" altLang="zh-TW" sz="2400" dirty="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ADBF6529-8E60-4BB0-A169-4047F5B83FA4}"/>
              </a:ext>
            </a:extLst>
          </p:cNvPr>
          <p:cNvSpPr txBox="1"/>
          <p:nvPr/>
        </p:nvSpPr>
        <p:spPr>
          <a:xfrm>
            <a:off x="963490" y="5802712"/>
            <a:ext cx="2008310"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O(</a:t>
            </a:r>
            <a:r>
              <a:rPr lang="en-US" altLang="zh-TW" sz="2400" i="1" dirty="0">
                <a:latin typeface="Times New Roman" panose="02020603050405020304" pitchFamily="18" charset="0"/>
                <a:cs typeface="Times New Roman" panose="02020603050405020304" pitchFamily="18" charset="0"/>
              </a:rPr>
              <a:t>m</a:t>
            </a:r>
            <a:r>
              <a:rPr lang="en-US" altLang="zh-TW" sz="2400" dirty="0">
                <a:latin typeface="Times New Roman" panose="02020603050405020304" pitchFamily="18" charset="0"/>
                <a:cs typeface="Times New Roman" panose="02020603050405020304" pitchFamily="18" charset="0"/>
              </a:rPr>
              <a:t>(|</a:t>
            </a:r>
            <a:r>
              <a:rPr lang="en-US" altLang="zh-TW" sz="2400" i="1" dirty="0">
                <a:latin typeface="Times New Roman" panose="02020603050405020304" pitchFamily="18" charset="0"/>
                <a:cs typeface="Times New Roman" panose="02020603050405020304" pitchFamily="18" charset="0"/>
              </a:rPr>
              <a:t>V</a:t>
            </a:r>
            <a:r>
              <a:rPr lang="en-US" altLang="zh-TW" sz="2400" dirty="0">
                <a:latin typeface="Times New Roman" panose="02020603050405020304" pitchFamily="18" charset="0"/>
                <a:cs typeface="Times New Roman" panose="02020603050405020304" pitchFamily="18" charset="0"/>
              </a:rPr>
              <a:t>| + |</a:t>
            </a:r>
            <a:r>
              <a:rPr lang="en-US" altLang="zh-TW" sz="2400" i="1" dirty="0">
                <a:latin typeface="Times New Roman" panose="02020603050405020304" pitchFamily="18" charset="0"/>
                <a:cs typeface="Times New Roman" panose="02020603050405020304" pitchFamily="18" charset="0"/>
              </a:rPr>
              <a:t>E</a:t>
            </a:r>
            <a:r>
              <a:rPr lang="en-US" altLang="zh-TW" sz="2400" dirty="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p:txBody>
      </p:sp>
      <p:sp>
        <p:nvSpPr>
          <p:cNvPr id="15" name="文字方塊 14">
            <a:extLst>
              <a:ext uri="{FF2B5EF4-FFF2-40B4-BE49-F238E27FC236}">
                <a16:creationId xmlns:a16="http://schemas.microsoft.com/office/drawing/2014/main" id="{190C1935-38FB-43C7-AC6F-15B9B5F77130}"/>
              </a:ext>
            </a:extLst>
          </p:cNvPr>
          <p:cNvSpPr txBox="1"/>
          <p:nvPr/>
        </p:nvSpPr>
        <p:spPr>
          <a:xfrm>
            <a:off x="9220200" y="5802712"/>
            <a:ext cx="2008310"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O(|</a:t>
            </a:r>
            <a:r>
              <a:rPr lang="en-US" altLang="zh-TW" sz="2400" i="1" dirty="0">
                <a:latin typeface="Times New Roman" panose="02020603050405020304" pitchFamily="18" charset="0"/>
                <a:cs typeface="Times New Roman" panose="02020603050405020304" pitchFamily="18" charset="0"/>
              </a:rPr>
              <a:t>V</a:t>
            </a:r>
            <a:r>
              <a:rPr lang="en-US" altLang="zh-TW" sz="2400" dirty="0">
                <a:latin typeface="Times New Roman" panose="02020603050405020304" pitchFamily="18" charset="0"/>
                <a:cs typeface="Times New Roman" panose="02020603050405020304" pitchFamily="18" charset="0"/>
              </a:rPr>
              <a:t>| + </a:t>
            </a:r>
            <a:r>
              <a:rPr lang="en-US" altLang="zh-TW" sz="2400" i="1" dirty="0" err="1">
                <a:latin typeface="Times New Roman" panose="02020603050405020304" pitchFamily="18" charset="0"/>
                <a:cs typeface="Times New Roman" panose="02020603050405020304" pitchFamily="18" charset="0"/>
              </a:rPr>
              <a:t>m</a:t>
            </a:r>
            <a:r>
              <a:rPr lang="en-US" altLang="zh-TW" sz="2400" dirty="0" err="1">
                <a:latin typeface="Times New Roman" panose="02020603050405020304" pitchFamily="18" charset="0"/>
                <a:cs typeface="Times New Roman" panose="02020603050405020304" pitchFamily="18" charset="0"/>
              </a:rPr>
              <a:t>|</a:t>
            </a:r>
            <a:r>
              <a:rPr lang="en-US" altLang="zh-TW" sz="2400" i="1" dirty="0" err="1">
                <a:latin typeface="Times New Roman" panose="02020603050405020304" pitchFamily="18" charset="0"/>
                <a:cs typeface="Times New Roman" panose="02020603050405020304" pitchFamily="18" charset="0"/>
              </a:rPr>
              <a:t>E</a:t>
            </a:r>
            <a:r>
              <a:rPr lang="en-US" altLang="zh-TW" sz="2400" dirty="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p:txBody>
      </p:sp>
      <p:cxnSp>
        <p:nvCxnSpPr>
          <p:cNvPr id="4" name="直線單箭頭接點 3">
            <a:extLst>
              <a:ext uri="{FF2B5EF4-FFF2-40B4-BE49-F238E27FC236}">
                <a16:creationId xmlns:a16="http://schemas.microsoft.com/office/drawing/2014/main" id="{FF0281CE-FFC6-4E2F-B4DA-280BDDF101E2}"/>
              </a:ext>
            </a:extLst>
          </p:cNvPr>
          <p:cNvCxnSpPr>
            <a:stCxn id="10" idx="3"/>
            <a:endCxn id="15" idx="1"/>
          </p:cNvCxnSpPr>
          <p:nvPr/>
        </p:nvCxnSpPr>
        <p:spPr>
          <a:xfrm>
            <a:off x="2971800" y="6033545"/>
            <a:ext cx="6248400"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文字方塊 15">
            <a:extLst>
              <a:ext uri="{FF2B5EF4-FFF2-40B4-BE49-F238E27FC236}">
                <a16:creationId xmlns:a16="http://schemas.microsoft.com/office/drawing/2014/main" id="{55AC1ADE-AA7A-4399-8A2A-479F4A555EA8}"/>
              </a:ext>
            </a:extLst>
          </p:cNvPr>
          <p:cNvSpPr txBox="1"/>
          <p:nvPr/>
        </p:nvSpPr>
        <p:spPr>
          <a:xfrm>
            <a:off x="4181475" y="5479270"/>
            <a:ext cx="3343275"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O(|</a:t>
            </a:r>
            <a:r>
              <a:rPr lang="en-US" altLang="zh-TW" sz="2400" i="1" dirty="0">
                <a:latin typeface="Times New Roman" panose="02020603050405020304" pitchFamily="18" charset="0"/>
                <a:cs typeface="Times New Roman" panose="02020603050405020304" pitchFamily="18" charset="0"/>
              </a:rPr>
              <a:t>V</a:t>
            </a:r>
            <a:r>
              <a:rPr lang="en-US" altLang="zh-TW" sz="2400" dirty="0">
                <a:latin typeface="Times New Roman" panose="02020603050405020304" pitchFamily="18" charset="0"/>
                <a:cs typeface="Times New Roman" panose="02020603050405020304" pitchFamily="18" charset="0"/>
              </a:rPr>
              <a:t>| + |</a:t>
            </a:r>
            <a:r>
              <a:rPr lang="en-US" altLang="zh-TW" sz="2400" i="1" dirty="0">
                <a:latin typeface="Times New Roman" panose="02020603050405020304" pitchFamily="18" charset="0"/>
                <a:cs typeface="Times New Roman" panose="02020603050405020304" pitchFamily="18" charset="0"/>
              </a:rPr>
              <a:t>E</a:t>
            </a:r>
            <a:r>
              <a:rPr lang="en-US" altLang="zh-TW" sz="2400" dirty="0">
                <a:latin typeface="Times New Roman" panose="02020603050405020304" pitchFamily="18" charset="0"/>
                <a:cs typeface="Times New Roman" panose="02020603050405020304" pitchFamily="18" charset="0"/>
              </a:rPr>
              <a:t>|) preprocessing</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556087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5622D65-5B30-45E7-A075-0FE7BC3F1A04}"/>
              </a:ext>
            </a:extLst>
          </p:cNvPr>
          <p:cNvSpPr>
            <a:spLocks noGrp="1"/>
          </p:cNvSpPr>
          <p:nvPr>
            <p:ph type="title"/>
          </p:nvPr>
        </p:nvSpPr>
        <p:spPr/>
        <p:txBody>
          <a:bodyPr/>
          <a:lstStyle/>
          <a:p>
            <a:r>
              <a:rPr lang="en-US" altLang="zh-TW" dirty="0"/>
              <a:t>Preprocessing</a:t>
            </a:r>
            <a:endParaRPr lang="zh-TW" altLang="en-US" dirty="0"/>
          </a:p>
        </p:txBody>
      </p:sp>
      <p:sp>
        <p:nvSpPr>
          <p:cNvPr id="19" name="內容版面配置區 2">
            <a:extLst>
              <a:ext uri="{FF2B5EF4-FFF2-40B4-BE49-F238E27FC236}">
                <a16:creationId xmlns:a16="http://schemas.microsoft.com/office/drawing/2014/main" id="{F3AF66EE-D7EE-4EE1-8B70-E6502D8C84F6}"/>
              </a:ext>
            </a:extLst>
          </p:cNvPr>
          <p:cNvSpPr>
            <a:spLocks noGrp="1"/>
          </p:cNvSpPr>
          <p:nvPr>
            <p:ph idx="1"/>
          </p:nvPr>
        </p:nvSpPr>
        <p:spPr>
          <a:xfrm>
            <a:off x="838200" y="1825625"/>
            <a:ext cx="10515600" cy="4351338"/>
          </a:xfrm>
        </p:spPr>
        <p:txBody>
          <a:bodyPr>
            <a:normAutofit/>
          </a:bodyPr>
          <a:lstStyle/>
          <a:p>
            <a:pPr marL="0" indent="0">
              <a:buNone/>
            </a:pPr>
            <a:r>
              <a:rPr lang="en-US" altLang="zh-TW" sz="2400" dirty="0" err="1"/>
              <a:t>Mikko</a:t>
            </a:r>
            <a:r>
              <a:rPr lang="en-US" altLang="zh-TW" sz="2400" dirty="0"/>
              <a:t> </a:t>
            </a:r>
            <a:r>
              <a:rPr lang="en-US" altLang="zh-TW" sz="2400" dirty="0" err="1"/>
              <a:t>Rautiainen</a:t>
            </a:r>
            <a:r>
              <a:rPr lang="en-US" altLang="zh-TW" sz="2400" dirty="0"/>
              <a:t> and Tobias </a:t>
            </a:r>
            <a:r>
              <a:rPr lang="en-US" altLang="zh-TW" sz="2400" dirty="0" err="1"/>
              <a:t>Marschall</a:t>
            </a:r>
            <a:r>
              <a:rPr lang="en-US" altLang="zh-TW" sz="2400" dirty="0"/>
              <a:t> </a:t>
            </a:r>
            <a:r>
              <a:rPr lang="zh-TW" altLang="en-US" sz="2400" dirty="0"/>
              <a:t>－ </a:t>
            </a:r>
            <a:r>
              <a:rPr lang="en-US" altLang="zh-TW" sz="2400" dirty="0"/>
              <a:t>Aligning sequences to general graphs in O(|</a:t>
            </a:r>
            <a:r>
              <a:rPr lang="en-US" altLang="zh-TW" sz="2400" i="1" dirty="0"/>
              <a:t>V</a:t>
            </a:r>
            <a:r>
              <a:rPr lang="en-US" altLang="zh-TW" sz="2400" dirty="0"/>
              <a:t>| + </a:t>
            </a:r>
            <a:r>
              <a:rPr lang="en-US" altLang="zh-TW" sz="2400" i="1" dirty="0" err="1"/>
              <a:t>m</a:t>
            </a:r>
            <a:r>
              <a:rPr lang="en-US" altLang="zh-TW" sz="2400" dirty="0" err="1"/>
              <a:t>|</a:t>
            </a:r>
            <a:r>
              <a:rPr lang="en-US" altLang="zh-TW" sz="2400" i="1" dirty="0" err="1"/>
              <a:t>E</a:t>
            </a:r>
            <a:r>
              <a:rPr lang="en-US" altLang="zh-TW" sz="2400" dirty="0"/>
              <a:t>|) time </a:t>
            </a:r>
            <a:r>
              <a:rPr lang="zh-TW" altLang="en-US" sz="2400" dirty="0"/>
              <a:t>－ </a:t>
            </a:r>
            <a:r>
              <a:rPr lang="en-US" altLang="zh-TW" sz="2400" dirty="0" err="1"/>
              <a:t>bioRxiv</a:t>
            </a:r>
            <a:r>
              <a:rPr lang="en-US" altLang="zh-TW" sz="2400" dirty="0"/>
              <a:t>. DOI: 10.1101/216127.</a:t>
            </a:r>
            <a:br>
              <a:rPr lang="en-US" altLang="zh-TW" sz="2400" dirty="0"/>
            </a:br>
            <a:br>
              <a:rPr lang="en-US" altLang="zh-TW" sz="2400" dirty="0"/>
            </a:br>
            <a:r>
              <a:rPr lang="en-US" altLang="zh-TW" sz="2400" dirty="0"/>
              <a:t>This step transforms the sequence graph by merging all vertices with 0 in-degree </a:t>
            </a:r>
            <a:r>
              <a:rPr lang="en-US" altLang="zh-TW" sz="2400" dirty="0">
                <a:solidFill>
                  <a:schemeClr val="accent3">
                    <a:lumMod val="60000"/>
                    <a:lumOff val="40000"/>
                  </a:schemeClr>
                </a:solidFill>
              </a:rPr>
              <a:t>(and the same node label)</a:t>
            </a:r>
            <a:r>
              <a:rPr lang="en-US" altLang="zh-TW" sz="2400" dirty="0"/>
              <a:t> into </a:t>
            </a: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a:t>
            </a:r>
            <a:r>
              <a:rPr lang="en-US" altLang="zh-TW" sz="2400" dirty="0">
                <a:latin typeface="Times New Roman" panose="02020603050405020304" pitchFamily="18" charset="0"/>
                <a:cs typeface="Times New Roman" panose="02020603050405020304" pitchFamily="18" charset="0"/>
              </a:rPr>
              <a:t> |</a:t>
            </a:r>
            <a:r>
              <a:rPr lang="en-US" altLang="zh-TW" sz="2400" i="1" dirty="0">
                <a:latin typeface="Times New Roman" panose="02020603050405020304" pitchFamily="18" charset="0"/>
                <a:cs typeface="Times New Roman" panose="02020603050405020304" pitchFamily="18" charset="0"/>
                <a:sym typeface="Symbol" panose="05050102010706020507" pitchFamily="18" charset="2"/>
              </a:rPr>
              <a:t></a:t>
            </a:r>
            <a:r>
              <a:rPr lang="en-US" altLang="zh-TW" sz="2400" dirty="0">
                <a:latin typeface="Times New Roman" panose="02020603050405020304" pitchFamily="18" charset="0"/>
                <a:cs typeface="Times New Roman" panose="02020603050405020304" pitchFamily="18" charset="0"/>
              </a:rPr>
              <a:t>|</a:t>
            </a:r>
            <a:r>
              <a:rPr lang="en-US" altLang="zh-TW" sz="2400" dirty="0"/>
              <a:t> vertices. As a result, the preprocessing ensures that the </a:t>
            </a:r>
            <a:r>
              <a:rPr lang="en-US" altLang="zh-TW" sz="2400" dirty="0">
                <a:solidFill>
                  <a:srgbClr val="FF0000"/>
                </a:solidFill>
              </a:rPr>
              <a:t>count of vertices in the new graph is no more than |</a:t>
            </a:r>
            <a:r>
              <a:rPr lang="en-US" altLang="zh-TW" sz="2400" i="1" dirty="0">
                <a:solidFill>
                  <a:srgbClr val="FF0000"/>
                </a:solidFill>
              </a:rPr>
              <a:t>E</a:t>
            </a:r>
            <a:r>
              <a:rPr lang="en-US" altLang="zh-TW" sz="2400" dirty="0">
                <a:solidFill>
                  <a:srgbClr val="FF0000"/>
                </a:solidFill>
              </a:rPr>
              <a:t>| + |</a:t>
            </a:r>
            <a:r>
              <a:rPr lang="en-US" altLang="zh-TW" sz="2400" i="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TW" sz="2400" dirty="0">
                <a:solidFill>
                  <a:srgbClr val="FF0000"/>
                </a:solidFill>
              </a:rPr>
              <a:t>| </a:t>
            </a:r>
            <a:r>
              <a:rPr lang="en-US" altLang="zh-TW" sz="2400" dirty="0"/>
              <a:t>without affecting the correctness</a:t>
            </a:r>
          </a:p>
          <a:p>
            <a:pPr marL="0" indent="0">
              <a:buNone/>
            </a:pPr>
            <a:endParaRPr lang="en-US" altLang="zh-TW" sz="2400" dirty="0"/>
          </a:p>
          <a:p>
            <a:pPr marL="0" indent="0">
              <a:buNone/>
            </a:pPr>
            <a:r>
              <a:rPr lang="en-US" altLang="zh-TW" sz="2400" dirty="0" err="1"/>
              <a:t>InitializeDistance</a:t>
            </a:r>
            <a:r>
              <a:rPr lang="en-US" altLang="zh-TW" sz="2400" dirty="0"/>
              <a:t>() takes O(|</a:t>
            </a:r>
            <a:r>
              <a:rPr lang="en-US" altLang="zh-TW" sz="2400" i="1" dirty="0"/>
              <a:t>E</a:t>
            </a:r>
            <a:r>
              <a:rPr lang="en-US" altLang="zh-TW" sz="2400" dirty="0"/>
              <a:t>|)</a:t>
            </a:r>
          </a:p>
          <a:p>
            <a:pPr marL="0" indent="0">
              <a:buNone/>
            </a:pPr>
            <a:r>
              <a:rPr lang="en-US" altLang="zh-TW" sz="2400" dirty="0" err="1"/>
              <a:t>PropagateInsertion</a:t>
            </a:r>
            <a:r>
              <a:rPr lang="en-US" altLang="zh-TW" sz="2400" dirty="0"/>
              <a:t>() takes O(|</a:t>
            </a:r>
            <a:r>
              <a:rPr lang="en-US" altLang="zh-TW" sz="2400" i="1" dirty="0"/>
              <a:t>E</a:t>
            </a:r>
            <a:r>
              <a:rPr lang="en-US" altLang="zh-TW" sz="2400" dirty="0"/>
              <a:t>|)</a:t>
            </a:r>
          </a:p>
          <a:p>
            <a:pPr marL="0" indent="0">
              <a:buNone/>
            </a:pPr>
            <a:r>
              <a:rPr lang="en-US" altLang="zh-TW" sz="2400" dirty="0"/>
              <a:t>total</a:t>
            </a:r>
            <a:r>
              <a:rPr lang="zh-TW" altLang="en-US" sz="2400" dirty="0"/>
              <a:t>： </a:t>
            </a:r>
            <a:r>
              <a:rPr lang="en-US" altLang="zh-TW" sz="2400" dirty="0"/>
              <a:t>O(|</a:t>
            </a:r>
            <a:r>
              <a:rPr lang="en-US" altLang="zh-TW" sz="2400" i="1" dirty="0"/>
              <a:t>V</a:t>
            </a:r>
            <a:r>
              <a:rPr lang="en-US" altLang="zh-TW" sz="2400" dirty="0"/>
              <a:t>| + |</a:t>
            </a:r>
            <a:r>
              <a:rPr lang="en-US" altLang="zh-TW" sz="2400" i="1" dirty="0"/>
              <a:t>E</a:t>
            </a:r>
            <a:r>
              <a:rPr lang="en-US" altLang="zh-TW" sz="2400" dirty="0"/>
              <a:t>|) + O(</a:t>
            </a:r>
            <a:r>
              <a:rPr lang="en-US" altLang="zh-TW" sz="2400" i="1" dirty="0" err="1"/>
              <a:t>m</a:t>
            </a:r>
            <a:r>
              <a:rPr lang="en-US" altLang="zh-TW" sz="2400" dirty="0" err="1"/>
              <a:t>|</a:t>
            </a:r>
            <a:r>
              <a:rPr lang="en-US" altLang="zh-TW" sz="2400" i="1" dirty="0" err="1"/>
              <a:t>E</a:t>
            </a:r>
            <a:r>
              <a:rPr lang="en-US" altLang="zh-TW" sz="2400" dirty="0"/>
              <a:t>|)   =  O(|</a:t>
            </a:r>
            <a:r>
              <a:rPr lang="en-US" altLang="zh-TW" sz="2400" i="1" dirty="0"/>
              <a:t>V</a:t>
            </a:r>
            <a:r>
              <a:rPr lang="en-US" altLang="zh-TW" sz="2400" dirty="0"/>
              <a:t>| + </a:t>
            </a:r>
            <a:r>
              <a:rPr lang="en-US" altLang="zh-TW" sz="2400" i="1" dirty="0" err="1"/>
              <a:t>m</a:t>
            </a:r>
            <a:r>
              <a:rPr lang="en-US" altLang="zh-TW" sz="2400" dirty="0" err="1"/>
              <a:t>|</a:t>
            </a:r>
            <a:r>
              <a:rPr lang="en-US" altLang="zh-TW" sz="2400" i="1" dirty="0" err="1"/>
              <a:t>E</a:t>
            </a:r>
            <a:r>
              <a:rPr lang="en-US" altLang="zh-TW" sz="2400" dirty="0"/>
              <a:t>|)</a:t>
            </a:r>
          </a:p>
          <a:p>
            <a:pPr marL="0" indent="0">
              <a:buNone/>
            </a:pPr>
            <a:endParaRPr lang="en-US" altLang="zh-TW" sz="2400" dirty="0"/>
          </a:p>
          <a:p>
            <a:pPr marL="0" indent="0">
              <a:buNone/>
            </a:pPr>
            <a:endParaRPr lang="en-US" altLang="zh-TW" sz="2400" dirty="0"/>
          </a:p>
        </p:txBody>
      </p:sp>
      <p:pic>
        <p:nvPicPr>
          <p:cNvPr id="4" name="圖片 3">
            <a:extLst>
              <a:ext uri="{FF2B5EF4-FFF2-40B4-BE49-F238E27FC236}">
                <a16:creationId xmlns:a16="http://schemas.microsoft.com/office/drawing/2014/main" id="{8CCEA4DC-2EAA-4016-8435-CF96037CADDA}"/>
              </a:ext>
            </a:extLst>
          </p:cNvPr>
          <p:cNvPicPr>
            <a:picLocks noChangeAspect="1"/>
          </p:cNvPicPr>
          <p:nvPr/>
        </p:nvPicPr>
        <p:blipFill>
          <a:blip r:embed="rId2"/>
          <a:stretch>
            <a:fillRect/>
          </a:stretch>
        </p:blipFill>
        <p:spPr>
          <a:xfrm>
            <a:off x="7877043" y="4633760"/>
            <a:ext cx="4115068" cy="1001930"/>
          </a:xfrm>
          <a:prstGeom prst="rect">
            <a:avLst/>
          </a:prstGeom>
        </p:spPr>
      </p:pic>
      <p:cxnSp>
        <p:nvCxnSpPr>
          <p:cNvPr id="6" name="直線單箭頭接點 5">
            <a:extLst>
              <a:ext uri="{FF2B5EF4-FFF2-40B4-BE49-F238E27FC236}">
                <a16:creationId xmlns:a16="http://schemas.microsoft.com/office/drawing/2014/main" id="{75FA8EF2-296B-439C-963F-C0F8223E2CAC}"/>
              </a:ext>
            </a:extLst>
          </p:cNvPr>
          <p:cNvCxnSpPr>
            <a:cxnSpLocks/>
          </p:cNvCxnSpPr>
          <p:nvPr/>
        </p:nvCxnSpPr>
        <p:spPr>
          <a:xfrm flipV="1">
            <a:off x="9209315" y="5365102"/>
            <a:ext cx="457199" cy="66929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文字方塊 8">
            <a:extLst>
              <a:ext uri="{FF2B5EF4-FFF2-40B4-BE49-F238E27FC236}">
                <a16:creationId xmlns:a16="http://schemas.microsoft.com/office/drawing/2014/main" id="{65285AB7-3FFE-4E8D-9D36-F9147AF31A3E}"/>
              </a:ext>
            </a:extLst>
          </p:cNvPr>
          <p:cNvSpPr txBox="1"/>
          <p:nvPr/>
        </p:nvSpPr>
        <p:spPr>
          <a:xfrm>
            <a:off x="8174393" y="6031210"/>
            <a:ext cx="2527041"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0 in-degree vertex</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64398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5622D65-5B30-45E7-A075-0FE7BC3F1A04}"/>
              </a:ext>
            </a:extLst>
          </p:cNvPr>
          <p:cNvSpPr>
            <a:spLocks noGrp="1"/>
          </p:cNvSpPr>
          <p:nvPr>
            <p:ph type="title"/>
          </p:nvPr>
        </p:nvSpPr>
        <p:spPr/>
        <p:txBody>
          <a:bodyPr/>
          <a:lstStyle/>
          <a:p>
            <a:r>
              <a:rPr lang="en-US" altLang="zh-TW" dirty="0"/>
              <a:t>Traceback</a:t>
            </a:r>
            <a:endParaRPr lang="zh-TW" altLang="en-US" dirty="0"/>
          </a:p>
        </p:txBody>
      </p:sp>
      <mc:AlternateContent xmlns:mc="http://schemas.openxmlformats.org/markup-compatibility/2006" xmlns:a14="http://schemas.microsoft.com/office/drawing/2010/main">
        <mc:Choice Requires="a14">
          <p:graphicFrame>
            <p:nvGraphicFramePr>
              <p:cNvPr id="5" name="表格 5">
                <a:extLst>
                  <a:ext uri="{FF2B5EF4-FFF2-40B4-BE49-F238E27FC236}">
                    <a16:creationId xmlns:a16="http://schemas.microsoft.com/office/drawing/2014/main" id="{C39F2A07-FEE1-43BC-BA12-6E49FD1B945F}"/>
                  </a:ext>
                </a:extLst>
              </p:cNvPr>
              <p:cNvGraphicFramePr>
                <a:graphicFrameLocks noGrp="1"/>
              </p:cNvGraphicFramePr>
              <p:nvPr>
                <p:extLst>
                  <p:ext uri="{D42A27DB-BD31-4B8C-83A1-F6EECF244321}">
                    <p14:modId xmlns:p14="http://schemas.microsoft.com/office/powerpoint/2010/main" val="3686224644"/>
                  </p:ext>
                </p:extLst>
              </p:nvPr>
            </p:nvGraphicFramePr>
            <p:xfrm>
              <a:off x="838200" y="1924050"/>
              <a:ext cx="8655050" cy="1832864"/>
            </p:xfrm>
            <a:graphic>
              <a:graphicData uri="http://schemas.openxmlformats.org/drawingml/2006/table">
                <a:tbl>
                  <a:tblPr firstRow="1" bandRow="1">
                    <a:tableStyleId>{5940675A-B579-460E-94D1-54222C63F5DA}</a:tableStyleId>
                  </a:tblPr>
                  <a:tblGrid>
                    <a:gridCol w="2461280">
                      <a:extLst>
                        <a:ext uri="{9D8B030D-6E8A-4147-A177-3AD203B41FA5}">
                          <a16:colId xmlns:a16="http://schemas.microsoft.com/office/drawing/2014/main" val="2943975571"/>
                        </a:ext>
                      </a:extLst>
                    </a:gridCol>
                    <a:gridCol w="6193770">
                      <a:extLst>
                        <a:ext uri="{9D8B030D-6E8A-4147-A177-3AD203B41FA5}">
                          <a16:colId xmlns:a16="http://schemas.microsoft.com/office/drawing/2014/main" val="1639512558"/>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2400" b="0" dirty="0">
                              <a:solidFill>
                                <a:schemeClr val="tx1"/>
                              </a:solidFill>
                              <a:latin typeface="Times New Roman" panose="02020603050405020304" pitchFamily="18" charset="0"/>
                              <a:cs typeface="Times New Roman" panose="02020603050405020304" pitchFamily="18" charset="0"/>
                            </a:rPr>
                            <a:t>Space complexity</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96587508"/>
                      </a:ext>
                    </a:extLst>
                  </a:tr>
                  <a:tr h="408940">
                    <a:tc>
                      <a:txBody>
                        <a:bodyPr/>
                        <a:lstStyle/>
                        <a:p>
                          <a:r>
                            <a:rPr lang="en-US" altLang="zh-TW" sz="2400" b="0" kern="1200" dirty="0">
                              <a:solidFill>
                                <a:schemeClr val="tx1"/>
                              </a:solidFill>
                              <a:latin typeface="Times New Roman" panose="02020603050405020304" pitchFamily="18" charset="0"/>
                              <a:ea typeface="+mn-ea"/>
                              <a:cs typeface="Times New Roman" panose="02020603050405020304" pitchFamily="18" charset="0"/>
                            </a:rPr>
                            <a:t>O(|</a:t>
                          </a:r>
                          <a:r>
                            <a:rPr lang="en-US" altLang="zh-TW" sz="2400" b="0" i="1" kern="1200" dirty="0">
                              <a:solidFill>
                                <a:schemeClr val="tx1"/>
                              </a:solidFill>
                              <a:latin typeface="Times New Roman" panose="02020603050405020304" pitchFamily="18" charset="0"/>
                              <a:ea typeface="+mn-ea"/>
                              <a:cs typeface="Times New Roman" panose="02020603050405020304" pitchFamily="18" charset="0"/>
                            </a:rPr>
                            <a:t>V</a:t>
                          </a:r>
                          <a:r>
                            <a:rPr lang="en-US" altLang="zh-TW" sz="2400" b="0" kern="1200" dirty="0">
                              <a:solidFill>
                                <a:schemeClr val="tx1"/>
                              </a:solidFill>
                              <a:latin typeface="Times New Roman" panose="02020603050405020304" pitchFamily="18" charset="0"/>
                              <a:ea typeface="+mn-ea"/>
                              <a:cs typeface="Times New Roman" panose="02020603050405020304" pitchFamily="18" charset="0"/>
                            </a:rPr>
                            <a:t>|)</a:t>
                          </a:r>
                          <a:endParaRPr lang="zh-TW" altLang="en-US" sz="2400" b="0" kern="1200" dirty="0">
                            <a:solidFill>
                              <a:schemeClr val="tx1"/>
                            </a:solidFill>
                            <a:latin typeface="Times New Roman" panose="02020603050405020304" pitchFamily="18" charset="0"/>
                            <a:ea typeface="+mn-ea"/>
                            <a:cs typeface="Times New Roman" panose="02020603050405020304" pitchFamily="18" charset="0"/>
                          </a:endParaRPr>
                        </a:p>
                      </a:txBody>
                      <a:tcPr/>
                    </a:tc>
                    <a:tc>
                      <a:txBody>
                        <a:bodyPr/>
                        <a:lstStyle/>
                        <a:p>
                          <a:r>
                            <a:rPr lang="en-US" altLang="zh-TW" sz="2400" b="0" kern="1200" dirty="0">
                              <a:solidFill>
                                <a:schemeClr val="tx1"/>
                              </a:solidFill>
                              <a:latin typeface="Times New Roman" panose="02020603050405020304" pitchFamily="18" charset="0"/>
                              <a:ea typeface="+mn-ea"/>
                              <a:cs typeface="Times New Roman" panose="02020603050405020304" pitchFamily="18" charset="0"/>
                            </a:rPr>
                            <a:t>only optimal alignment score is desired</a:t>
                          </a:r>
                          <a:endParaRPr lang="zh-TW" altLang="en-US" sz="2400" b="0" kern="1200" dirty="0">
                            <a:solidFill>
                              <a:schemeClr val="tx1"/>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2034911966"/>
                      </a:ext>
                    </a:extLst>
                  </a:tr>
                  <a:tr h="370840">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O(</a:t>
                          </a:r>
                          <a:r>
                            <a:rPr lang="en-US" altLang="zh-TW" sz="2400" b="0" i="1" dirty="0" err="1">
                              <a:solidFill>
                                <a:schemeClr val="tx1"/>
                              </a:solidFill>
                              <a:latin typeface="Times New Roman" panose="02020603050405020304" pitchFamily="18" charset="0"/>
                              <a:cs typeface="Times New Roman" panose="02020603050405020304" pitchFamily="18" charset="0"/>
                            </a:rPr>
                            <a:t>m</a:t>
                          </a:r>
                          <a:r>
                            <a:rPr lang="en-US" altLang="zh-TW" sz="2400" b="0" dirty="0" err="1">
                              <a:solidFill>
                                <a:schemeClr val="tx1"/>
                              </a:solidFill>
                              <a:latin typeface="Times New Roman" panose="02020603050405020304" pitchFamily="18" charset="0"/>
                              <a:cs typeface="Times New Roman" panose="02020603050405020304" pitchFamily="18" charset="0"/>
                            </a:rPr>
                            <a:t>|</a:t>
                          </a:r>
                          <a:r>
                            <a:rPr lang="en-US" altLang="zh-TW" sz="2400" b="0" i="1" dirty="0" err="1">
                              <a:solidFill>
                                <a:schemeClr val="tx1"/>
                              </a:solidFill>
                              <a:latin typeface="Times New Roman" panose="02020603050405020304" pitchFamily="18" charset="0"/>
                              <a:cs typeface="Times New Roman" panose="02020603050405020304" pitchFamily="18" charset="0"/>
                            </a:rPr>
                            <a:t>V</a:t>
                          </a:r>
                          <a:r>
                            <a:rPr lang="en-US" altLang="zh-TW" sz="2400" b="0" dirty="0">
                              <a:solidFill>
                                <a:schemeClr val="tx1"/>
                              </a:solidFill>
                              <a:latin typeface="Times New Roman" panose="02020603050405020304" pitchFamily="18" charset="0"/>
                              <a:cs typeface="Times New Roman" panose="02020603050405020304" pitchFamily="18" charset="0"/>
                            </a:rPr>
                            <a:t>|)</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naïve solution to save </a:t>
                          </a:r>
                          <a:r>
                            <a:rPr lang="en-US" altLang="zh-TW" sz="2400" b="0" i="1" dirty="0">
                              <a:solidFill>
                                <a:schemeClr val="tx1"/>
                              </a:solidFill>
                              <a:latin typeface="Times New Roman" panose="02020603050405020304" pitchFamily="18" charset="0"/>
                              <a:cs typeface="Times New Roman" panose="02020603050405020304" pitchFamily="18" charset="0"/>
                            </a:rPr>
                            <a:t>m</a:t>
                          </a:r>
                          <a:r>
                            <a:rPr lang="en-US" altLang="zh-TW" sz="2400" b="0" i="0" dirty="0">
                              <a:solidFill>
                                <a:schemeClr val="tx1"/>
                              </a:solidFill>
                              <a:latin typeface="Times New Roman" panose="02020603050405020304" pitchFamily="18" charset="0"/>
                              <a:cs typeface="Times New Roman" panose="02020603050405020304" pitchFamily="18" charset="0"/>
                            </a:rPr>
                            <a:t> results of layers</a:t>
                          </a:r>
                          <a:endParaRPr lang="zh-TW" altLang="en-US" sz="2400" b="0" i="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781840567"/>
                      </a:ext>
                    </a:extLst>
                  </a:tr>
                  <a:tr h="370840">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O(</a:t>
                          </a:r>
                          <a14:m>
                            <m:oMath xmlns:m="http://schemas.openxmlformats.org/officeDocument/2006/math">
                              <m:rad>
                                <m:radPr>
                                  <m:degHide m:val="on"/>
                                  <m:ctrlPr>
                                    <a:rPr lang="en-US" altLang="zh-TW" sz="2400" b="0" i="1" smtClean="0">
                                      <a:solidFill>
                                        <a:schemeClr val="tx1"/>
                                      </a:solidFill>
                                      <a:latin typeface="Cambria Math" panose="02040503050406030204" pitchFamily="18" charset="0"/>
                                      <a:cs typeface="Times New Roman" panose="02020603050405020304" pitchFamily="18" charset="0"/>
                                    </a:rPr>
                                  </m:ctrlPr>
                                </m:radPr>
                                <m:deg/>
                                <m:e>
                                  <m:r>
                                    <a:rPr lang="en-US" altLang="zh-TW" sz="2400" b="0" i="1" smtClean="0">
                                      <a:solidFill>
                                        <a:schemeClr val="tx1"/>
                                      </a:solidFill>
                                      <a:latin typeface="Cambria Math" panose="02040503050406030204" pitchFamily="18" charset="0"/>
                                      <a:cs typeface="Times New Roman" panose="02020603050405020304" pitchFamily="18" charset="0"/>
                                    </a:rPr>
                                    <m:t>𝑚</m:t>
                                  </m:r>
                                </m:e>
                              </m:rad>
                            </m:oMath>
                          </a14:m>
                          <a:r>
                            <a:rPr lang="en-US" altLang="zh-TW" sz="2400" b="0" dirty="0">
                              <a:solidFill>
                                <a:schemeClr val="tx1"/>
                              </a:solidFill>
                              <a:latin typeface="Times New Roman" panose="02020603050405020304" pitchFamily="18" charset="0"/>
                              <a:cs typeface="Times New Roman" panose="02020603050405020304" pitchFamily="18" charset="0"/>
                            </a:rPr>
                            <a:t>|</a:t>
                          </a:r>
                          <a:r>
                            <a:rPr lang="en-US" altLang="zh-TW" sz="2400" b="0" i="1" dirty="0">
                              <a:solidFill>
                                <a:schemeClr val="tx1"/>
                              </a:solidFill>
                              <a:latin typeface="Times New Roman" panose="02020603050405020304" pitchFamily="18" charset="0"/>
                              <a:cs typeface="Times New Roman" panose="02020603050405020304" pitchFamily="18" charset="0"/>
                            </a:rPr>
                            <a:t>V</a:t>
                          </a:r>
                          <a:r>
                            <a:rPr lang="en-US" altLang="zh-TW" sz="2400" b="0" dirty="0">
                              <a:solidFill>
                                <a:schemeClr val="tx1"/>
                              </a:solidFill>
                              <a:latin typeface="Times New Roman" panose="02020603050405020304" pitchFamily="18" charset="0"/>
                              <a:cs typeface="Times New Roman" panose="02020603050405020304" pitchFamily="18" charset="0"/>
                            </a:rPr>
                            <a:t>|)</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checkpoint-and-recalculate strategy [1]</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67133719"/>
                      </a:ext>
                    </a:extLst>
                  </a:tr>
                </a:tbl>
              </a:graphicData>
            </a:graphic>
          </p:graphicFrame>
        </mc:Choice>
        <mc:Fallback xmlns="">
          <p:graphicFrame>
            <p:nvGraphicFramePr>
              <p:cNvPr id="5" name="表格 5">
                <a:extLst>
                  <a:ext uri="{FF2B5EF4-FFF2-40B4-BE49-F238E27FC236}">
                    <a16:creationId xmlns:a16="http://schemas.microsoft.com/office/drawing/2014/main" id="{C39F2A07-FEE1-43BC-BA12-6E49FD1B945F}"/>
                  </a:ext>
                </a:extLst>
              </p:cNvPr>
              <p:cNvGraphicFramePr>
                <a:graphicFrameLocks noGrp="1"/>
              </p:cNvGraphicFramePr>
              <p:nvPr>
                <p:extLst>
                  <p:ext uri="{D42A27DB-BD31-4B8C-83A1-F6EECF244321}">
                    <p14:modId xmlns:p14="http://schemas.microsoft.com/office/powerpoint/2010/main" val="3686224644"/>
                  </p:ext>
                </p:extLst>
              </p:nvPr>
            </p:nvGraphicFramePr>
            <p:xfrm>
              <a:off x="838200" y="1924050"/>
              <a:ext cx="8655050" cy="1832864"/>
            </p:xfrm>
            <a:graphic>
              <a:graphicData uri="http://schemas.openxmlformats.org/drawingml/2006/table">
                <a:tbl>
                  <a:tblPr firstRow="1" bandRow="1">
                    <a:tableStyleId>{5940675A-B579-460E-94D1-54222C63F5DA}</a:tableStyleId>
                  </a:tblPr>
                  <a:tblGrid>
                    <a:gridCol w="2461280">
                      <a:extLst>
                        <a:ext uri="{9D8B030D-6E8A-4147-A177-3AD203B41FA5}">
                          <a16:colId xmlns:a16="http://schemas.microsoft.com/office/drawing/2014/main" val="2943975571"/>
                        </a:ext>
                      </a:extLst>
                    </a:gridCol>
                    <a:gridCol w="6193770">
                      <a:extLst>
                        <a:ext uri="{9D8B030D-6E8A-4147-A177-3AD203B41FA5}">
                          <a16:colId xmlns:a16="http://schemas.microsoft.com/office/drawing/2014/main" val="1639512558"/>
                        </a:ext>
                      </a:extLst>
                    </a:gridCol>
                  </a:tblGrid>
                  <a:tr h="4572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2400" b="0" dirty="0">
                              <a:solidFill>
                                <a:schemeClr val="tx1"/>
                              </a:solidFill>
                              <a:latin typeface="Times New Roman" panose="02020603050405020304" pitchFamily="18" charset="0"/>
                              <a:cs typeface="Times New Roman" panose="02020603050405020304" pitchFamily="18" charset="0"/>
                            </a:rPr>
                            <a:t>Space complexity</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96587508"/>
                      </a:ext>
                    </a:extLst>
                  </a:tr>
                  <a:tr h="457200">
                    <a:tc>
                      <a:txBody>
                        <a:bodyPr/>
                        <a:lstStyle/>
                        <a:p>
                          <a:r>
                            <a:rPr lang="en-US" altLang="zh-TW" sz="2400" b="0" kern="1200" dirty="0">
                              <a:solidFill>
                                <a:schemeClr val="tx1"/>
                              </a:solidFill>
                              <a:latin typeface="Times New Roman" panose="02020603050405020304" pitchFamily="18" charset="0"/>
                              <a:ea typeface="+mn-ea"/>
                              <a:cs typeface="Times New Roman" panose="02020603050405020304" pitchFamily="18" charset="0"/>
                            </a:rPr>
                            <a:t>O(|</a:t>
                          </a:r>
                          <a:r>
                            <a:rPr lang="en-US" altLang="zh-TW" sz="2400" b="0" i="1" kern="1200" dirty="0">
                              <a:solidFill>
                                <a:schemeClr val="tx1"/>
                              </a:solidFill>
                              <a:latin typeface="Times New Roman" panose="02020603050405020304" pitchFamily="18" charset="0"/>
                              <a:ea typeface="+mn-ea"/>
                              <a:cs typeface="Times New Roman" panose="02020603050405020304" pitchFamily="18" charset="0"/>
                            </a:rPr>
                            <a:t>V</a:t>
                          </a:r>
                          <a:r>
                            <a:rPr lang="en-US" altLang="zh-TW" sz="2400" b="0" kern="1200" dirty="0">
                              <a:solidFill>
                                <a:schemeClr val="tx1"/>
                              </a:solidFill>
                              <a:latin typeface="Times New Roman" panose="02020603050405020304" pitchFamily="18" charset="0"/>
                              <a:ea typeface="+mn-ea"/>
                              <a:cs typeface="Times New Roman" panose="02020603050405020304" pitchFamily="18" charset="0"/>
                            </a:rPr>
                            <a:t>|)</a:t>
                          </a:r>
                          <a:endParaRPr lang="zh-TW" altLang="en-US" sz="2400" b="0" kern="1200" dirty="0">
                            <a:solidFill>
                              <a:schemeClr val="tx1"/>
                            </a:solidFill>
                            <a:latin typeface="Times New Roman" panose="02020603050405020304" pitchFamily="18" charset="0"/>
                            <a:ea typeface="+mn-ea"/>
                            <a:cs typeface="Times New Roman" panose="02020603050405020304" pitchFamily="18" charset="0"/>
                          </a:endParaRPr>
                        </a:p>
                      </a:txBody>
                      <a:tcPr/>
                    </a:tc>
                    <a:tc>
                      <a:txBody>
                        <a:bodyPr/>
                        <a:lstStyle/>
                        <a:p>
                          <a:r>
                            <a:rPr lang="en-US" altLang="zh-TW" sz="2400" b="0" kern="1200" dirty="0">
                              <a:solidFill>
                                <a:schemeClr val="tx1"/>
                              </a:solidFill>
                              <a:latin typeface="Times New Roman" panose="02020603050405020304" pitchFamily="18" charset="0"/>
                              <a:ea typeface="+mn-ea"/>
                              <a:cs typeface="Times New Roman" panose="02020603050405020304" pitchFamily="18" charset="0"/>
                            </a:rPr>
                            <a:t>only optimal alignment score is desired</a:t>
                          </a:r>
                          <a:endParaRPr lang="zh-TW" altLang="en-US" sz="2400" b="0" kern="1200" dirty="0">
                            <a:solidFill>
                              <a:schemeClr val="tx1"/>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2034911966"/>
                      </a:ext>
                    </a:extLst>
                  </a:tr>
                  <a:tr h="457200">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O(</a:t>
                          </a:r>
                          <a:r>
                            <a:rPr lang="en-US" altLang="zh-TW" sz="2400" b="0" i="1" dirty="0" err="1">
                              <a:solidFill>
                                <a:schemeClr val="tx1"/>
                              </a:solidFill>
                              <a:latin typeface="Times New Roman" panose="02020603050405020304" pitchFamily="18" charset="0"/>
                              <a:cs typeface="Times New Roman" panose="02020603050405020304" pitchFamily="18" charset="0"/>
                            </a:rPr>
                            <a:t>m</a:t>
                          </a:r>
                          <a:r>
                            <a:rPr lang="en-US" altLang="zh-TW" sz="2400" b="0" dirty="0" err="1">
                              <a:solidFill>
                                <a:schemeClr val="tx1"/>
                              </a:solidFill>
                              <a:latin typeface="Times New Roman" panose="02020603050405020304" pitchFamily="18" charset="0"/>
                              <a:cs typeface="Times New Roman" panose="02020603050405020304" pitchFamily="18" charset="0"/>
                            </a:rPr>
                            <a:t>|</a:t>
                          </a:r>
                          <a:r>
                            <a:rPr lang="en-US" altLang="zh-TW" sz="2400" b="0" i="1" dirty="0" err="1">
                              <a:solidFill>
                                <a:schemeClr val="tx1"/>
                              </a:solidFill>
                              <a:latin typeface="Times New Roman" panose="02020603050405020304" pitchFamily="18" charset="0"/>
                              <a:cs typeface="Times New Roman" panose="02020603050405020304" pitchFamily="18" charset="0"/>
                            </a:rPr>
                            <a:t>V</a:t>
                          </a:r>
                          <a:r>
                            <a:rPr lang="en-US" altLang="zh-TW" sz="2400" b="0" dirty="0">
                              <a:solidFill>
                                <a:schemeClr val="tx1"/>
                              </a:solidFill>
                              <a:latin typeface="Times New Roman" panose="02020603050405020304" pitchFamily="18" charset="0"/>
                              <a:cs typeface="Times New Roman" panose="02020603050405020304" pitchFamily="18" charset="0"/>
                            </a:rPr>
                            <a:t>|)</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naïve solution to save </a:t>
                          </a:r>
                          <a:r>
                            <a:rPr lang="en-US" altLang="zh-TW" sz="2400" b="0" i="1" dirty="0">
                              <a:solidFill>
                                <a:schemeClr val="tx1"/>
                              </a:solidFill>
                              <a:latin typeface="Times New Roman" panose="02020603050405020304" pitchFamily="18" charset="0"/>
                              <a:cs typeface="Times New Roman" panose="02020603050405020304" pitchFamily="18" charset="0"/>
                            </a:rPr>
                            <a:t>m</a:t>
                          </a:r>
                          <a:r>
                            <a:rPr lang="en-US" altLang="zh-TW" sz="2400" b="0" i="0" dirty="0">
                              <a:solidFill>
                                <a:schemeClr val="tx1"/>
                              </a:solidFill>
                              <a:latin typeface="Times New Roman" panose="02020603050405020304" pitchFamily="18" charset="0"/>
                              <a:cs typeface="Times New Roman" panose="02020603050405020304" pitchFamily="18" charset="0"/>
                            </a:rPr>
                            <a:t> results of layers</a:t>
                          </a:r>
                          <a:endParaRPr lang="zh-TW" altLang="en-US" sz="2400" b="0" i="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781840567"/>
                      </a:ext>
                    </a:extLst>
                  </a:tr>
                  <a:tr h="461264">
                    <a:tc>
                      <a:txBody>
                        <a:bodyPr/>
                        <a:lstStyle/>
                        <a:p>
                          <a:endParaRPr lang="zh-TW"/>
                        </a:p>
                      </a:txBody>
                      <a:tcPr>
                        <a:blipFill>
                          <a:blip r:embed="rId2"/>
                          <a:stretch>
                            <a:fillRect l="-248" t="-306579" r="-252228" b="-30263"/>
                          </a:stretch>
                        </a:blip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checkpoint-and-recalculate strategy [1]</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67133719"/>
                      </a:ext>
                    </a:extLst>
                  </a:tr>
                </a:tbl>
              </a:graphicData>
            </a:graphic>
          </p:graphicFrame>
        </mc:Fallback>
      </mc:AlternateContent>
      <p:sp>
        <p:nvSpPr>
          <p:cNvPr id="8" name="內容版面配置區 2">
            <a:extLst>
              <a:ext uri="{FF2B5EF4-FFF2-40B4-BE49-F238E27FC236}">
                <a16:creationId xmlns:a16="http://schemas.microsoft.com/office/drawing/2014/main" id="{6A4DD534-E04F-4ED0-99BE-B1E31AD232CB}"/>
              </a:ext>
            </a:extLst>
          </p:cNvPr>
          <p:cNvSpPr>
            <a:spLocks noGrp="1"/>
          </p:cNvSpPr>
          <p:nvPr>
            <p:ph idx="1"/>
          </p:nvPr>
        </p:nvSpPr>
        <p:spPr>
          <a:xfrm>
            <a:off x="838200" y="4636537"/>
            <a:ext cx="11106150" cy="485776"/>
          </a:xfrm>
        </p:spPr>
        <p:txBody>
          <a:bodyPr>
            <a:normAutofit/>
          </a:bodyPr>
          <a:lstStyle/>
          <a:p>
            <a:pPr marL="0" indent="0">
              <a:buNone/>
            </a:pPr>
            <a:r>
              <a:rPr lang="en-US" altLang="zh-TW" sz="2400" dirty="0"/>
              <a:t>Space requirement can be further reduced, but at the cost of increased time complexity [1]</a:t>
            </a:r>
          </a:p>
        </p:txBody>
      </p:sp>
      <p:sp>
        <p:nvSpPr>
          <p:cNvPr id="9" name="內容版面配置區 2">
            <a:extLst>
              <a:ext uri="{FF2B5EF4-FFF2-40B4-BE49-F238E27FC236}">
                <a16:creationId xmlns:a16="http://schemas.microsoft.com/office/drawing/2014/main" id="{23E025B4-D2AC-45A5-9813-1E01E6F2F62F}"/>
              </a:ext>
            </a:extLst>
          </p:cNvPr>
          <p:cNvSpPr txBox="1">
            <a:spLocks/>
          </p:cNvSpPr>
          <p:nvPr/>
        </p:nvSpPr>
        <p:spPr>
          <a:xfrm>
            <a:off x="0" y="6142926"/>
            <a:ext cx="12192000" cy="71507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t>[1] </a:t>
            </a:r>
            <a:r>
              <a:rPr lang="en-US" altLang="zh-TW" sz="2400" dirty="0" err="1"/>
              <a:t>J.Alicia</a:t>
            </a:r>
            <a:r>
              <a:rPr lang="en-US" altLang="zh-TW" sz="2400" dirty="0"/>
              <a:t> Grice, Richard Hughey, Don Speck </a:t>
            </a:r>
            <a:r>
              <a:rPr lang="zh-TW" altLang="en-US" sz="2400" dirty="0"/>
              <a:t>－ </a:t>
            </a:r>
            <a:r>
              <a:rPr lang="en-US" altLang="zh-TW" sz="2400" dirty="0"/>
              <a:t>Reduced space sequence alignment </a:t>
            </a:r>
            <a:r>
              <a:rPr lang="zh-TW" altLang="en-US" sz="2400" dirty="0"/>
              <a:t>－</a:t>
            </a:r>
            <a:br>
              <a:rPr lang="en-US" altLang="zh-TW" sz="2400" dirty="0"/>
            </a:br>
            <a:r>
              <a:rPr lang="en-US" altLang="zh-TW" sz="2400" dirty="0"/>
              <a:t>     Bioinformatics, Volume 13, Issue 1, February 1997, Pages 45–53</a:t>
            </a:r>
          </a:p>
        </p:txBody>
      </p:sp>
    </p:spTree>
    <p:extLst>
      <p:ext uri="{BB962C8B-B14F-4D97-AF65-F5344CB8AC3E}">
        <p14:creationId xmlns:p14="http://schemas.microsoft.com/office/powerpoint/2010/main" val="42302072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5622D65-5B30-45E7-A075-0FE7BC3F1A04}"/>
              </a:ext>
            </a:extLst>
          </p:cNvPr>
          <p:cNvSpPr>
            <a:spLocks noGrp="1"/>
          </p:cNvSpPr>
          <p:nvPr>
            <p:ph type="title"/>
          </p:nvPr>
        </p:nvSpPr>
        <p:spPr/>
        <p:txBody>
          <a:bodyPr/>
          <a:lstStyle/>
          <a:p>
            <a:r>
              <a:rPr lang="en-US" altLang="zh-TW" dirty="0"/>
              <a:t>General to affine gap penalty</a:t>
            </a:r>
            <a:endParaRPr lang="zh-TW" altLang="en-US" dirty="0"/>
          </a:p>
        </p:txBody>
      </p:sp>
      <p:sp>
        <p:nvSpPr>
          <p:cNvPr id="6" name="內容版面配置區 2">
            <a:extLst>
              <a:ext uri="{FF2B5EF4-FFF2-40B4-BE49-F238E27FC236}">
                <a16:creationId xmlns:a16="http://schemas.microsoft.com/office/drawing/2014/main" id="{3AD2F95A-FA6D-406D-9BF5-14C5A37F295A}"/>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altLang="zh-TW" sz="2400" dirty="0"/>
              <a:t>2 stages ( </a:t>
            </a:r>
            <a:r>
              <a:rPr lang="en-US" altLang="zh-TW" sz="2400" dirty="0" err="1"/>
              <a:t>InitializeDistance</a:t>
            </a:r>
            <a:r>
              <a:rPr lang="en-US" altLang="zh-TW" sz="2400" dirty="0"/>
              <a:t> &amp; </a:t>
            </a:r>
            <a:r>
              <a:rPr lang="en-US" altLang="zh-TW" sz="2400" dirty="0" err="1"/>
              <a:t>PropagateInsertion</a:t>
            </a:r>
            <a:r>
              <a:rPr lang="en-US" altLang="zh-TW" sz="2400" dirty="0"/>
              <a:t> ) </a:t>
            </a:r>
            <a:br>
              <a:rPr lang="en-US" altLang="zh-TW" sz="2400" dirty="0"/>
            </a:br>
            <a:r>
              <a:rPr lang="zh-TW" altLang="en-US" sz="2400" dirty="0"/>
              <a:t>→ </a:t>
            </a:r>
            <a:r>
              <a:rPr lang="en-US" altLang="zh-TW" sz="2400" dirty="0"/>
              <a:t>5 stages ( 4 * </a:t>
            </a:r>
            <a:r>
              <a:rPr lang="en-US" altLang="zh-TW" sz="2400" dirty="0" err="1"/>
              <a:t>InitializeDistance</a:t>
            </a:r>
            <a:r>
              <a:rPr lang="en-US" altLang="zh-TW" sz="2400" dirty="0"/>
              <a:t> &amp; </a:t>
            </a:r>
            <a:r>
              <a:rPr lang="en-US" altLang="zh-TW" sz="2400" dirty="0" err="1"/>
              <a:t>PropagateInsertion</a:t>
            </a:r>
            <a:r>
              <a:rPr lang="en-US" altLang="zh-TW" sz="2400" dirty="0"/>
              <a:t> )</a:t>
            </a:r>
          </a:p>
        </p:txBody>
      </p:sp>
      <p:pic>
        <p:nvPicPr>
          <p:cNvPr id="7" name="內容版面配置區 4">
            <a:extLst>
              <a:ext uri="{FF2B5EF4-FFF2-40B4-BE49-F238E27FC236}">
                <a16:creationId xmlns:a16="http://schemas.microsoft.com/office/drawing/2014/main" id="{E4B56CA7-AE86-4B77-90A0-54F5DB3741B9}"/>
              </a:ext>
            </a:extLst>
          </p:cNvPr>
          <p:cNvPicPr>
            <a:picLocks noChangeAspect="1"/>
          </p:cNvPicPr>
          <p:nvPr/>
        </p:nvPicPr>
        <p:blipFill>
          <a:blip r:embed="rId3"/>
          <a:stretch>
            <a:fillRect/>
          </a:stretch>
        </p:blipFill>
        <p:spPr>
          <a:xfrm>
            <a:off x="2099705" y="2891393"/>
            <a:ext cx="7992590" cy="3686689"/>
          </a:xfrm>
          <a:prstGeom prst="rect">
            <a:avLst/>
          </a:prstGeom>
        </p:spPr>
      </p:pic>
    </p:spTree>
    <p:extLst>
      <p:ext uri="{BB962C8B-B14F-4D97-AF65-F5344CB8AC3E}">
        <p14:creationId xmlns:p14="http://schemas.microsoft.com/office/powerpoint/2010/main" val="22864776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5622D65-5B30-45E7-A075-0FE7BC3F1A04}"/>
              </a:ext>
            </a:extLst>
          </p:cNvPr>
          <p:cNvSpPr>
            <a:spLocks noGrp="1"/>
          </p:cNvSpPr>
          <p:nvPr>
            <p:ph type="title"/>
          </p:nvPr>
        </p:nvSpPr>
        <p:spPr/>
        <p:txBody>
          <a:bodyPr/>
          <a:lstStyle/>
          <a:p>
            <a:r>
              <a:rPr lang="en-US" altLang="zh-TW" dirty="0"/>
              <a:t>General to affine gap penalty</a:t>
            </a:r>
            <a:endParaRPr lang="zh-TW" altLang="en-US" dirty="0"/>
          </a:p>
        </p:txBody>
      </p:sp>
      <p:pic>
        <p:nvPicPr>
          <p:cNvPr id="5" name="內容版面配置區 4">
            <a:extLst>
              <a:ext uri="{FF2B5EF4-FFF2-40B4-BE49-F238E27FC236}">
                <a16:creationId xmlns:a16="http://schemas.microsoft.com/office/drawing/2014/main" id="{AB7D43A8-A62F-43A0-A2A7-DDF8F96C7DDC}"/>
              </a:ext>
            </a:extLst>
          </p:cNvPr>
          <p:cNvPicPr>
            <a:picLocks noGrp="1" noChangeAspect="1"/>
          </p:cNvPicPr>
          <p:nvPr>
            <p:ph idx="1"/>
          </p:nvPr>
        </p:nvPicPr>
        <p:blipFill>
          <a:blip r:embed="rId3"/>
          <a:stretch>
            <a:fillRect/>
          </a:stretch>
        </p:blipFill>
        <p:spPr>
          <a:xfrm>
            <a:off x="2099705" y="2891393"/>
            <a:ext cx="7992590" cy="3686689"/>
          </a:xfrm>
        </p:spPr>
      </p:pic>
      <p:sp>
        <p:nvSpPr>
          <p:cNvPr id="6" name="內容版面配置區 2">
            <a:extLst>
              <a:ext uri="{FF2B5EF4-FFF2-40B4-BE49-F238E27FC236}">
                <a16:creationId xmlns:a16="http://schemas.microsoft.com/office/drawing/2014/main" id="{3AD2F95A-FA6D-406D-9BF5-14C5A37F295A}"/>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mj-lt"/>
              <a:buAutoNum type="arabicPeriod"/>
            </a:pPr>
            <a:r>
              <a:rPr lang="en-US" altLang="zh-TW" sz="2400" dirty="0"/>
              <a:t>initializing optimal distances of vertices in the </a:t>
            </a:r>
            <a:r>
              <a:rPr lang="en-US" altLang="zh-TW" sz="2400" dirty="0">
                <a:solidFill>
                  <a:srgbClr val="FF0000"/>
                </a:solidFill>
              </a:rPr>
              <a:t>deletion layer</a:t>
            </a:r>
            <a:r>
              <a:rPr lang="en-US" altLang="zh-TW" sz="2400" dirty="0"/>
              <a:t> using distances of vertices in the </a:t>
            </a:r>
            <a:r>
              <a:rPr lang="en-US" altLang="zh-TW" sz="2400" dirty="0">
                <a:solidFill>
                  <a:srgbClr val="FF0000"/>
                </a:solidFill>
              </a:rPr>
              <a:t>above match and deletion layers</a:t>
            </a:r>
          </a:p>
        </p:txBody>
      </p:sp>
      <p:cxnSp>
        <p:nvCxnSpPr>
          <p:cNvPr id="7" name="直線單箭頭接點 6">
            <a:extLst>
              <a:ext uri="{FF2B5EF4-FFF2-40B4-BE49-F238E27FC236}">
                <a16:creationId xmlns:a16="http://schemas.microsoft.com/office/drawing/2014/main" id="{DE538E24-4974-4566-A8BA-0972F06216D7}"/>
              </a:ext>
            </a:extLst>
          </p:cNvPr>
          <p:cNvCxnSpPr/>
          <p:nvPr/>
        </p:nvCxnSpPr>
        <p:spPr>
          <a:xfrm>
            <a:off x="1222310" y="4338734"/>
            <a:ext cx="1614196"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線單箭頭接點 8">
            <a:extLst>
              <a:ext uri="{FF2B5EF4-FFF2-40B4-BE49-F238E27FC236}">
                <a16:creationId xmlns:a16="http://schemas.microsoft.com/office/drawing/2014/main" id="{1D8C899E-9B04-4833-AABD-7CDD06E5BB09}"/>
              </a:ext>
            </a:extLst>
          </p:cNvPr>
          <p:cNvCxnSpPr>
            <a:cxnSpLocks/>
          </p:cNvCxnSpPr>
          <p:nvPr/>
        </p:nvCxnSpPr>
        <p:spPr>
          <a:xfrm>
            <a:off x="1222310" y="4338734"/>
            <a:ext cx="2071396" cy="12129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19723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5622D65-5B30-45E7-A075-0FE7BC3F1A04}"/>
              </a:ext>
            </a:extLst>
          </p:cNvPr>
          <p:cNvSpPr>
            <a:spLocks noGrp="1"/>
          </p:cNvSpPr>
          <p:nvPr>
            <p:ph type="title"/>
          </p:nvPr>
        </p:nvSpPr>
        <p:spPr/>
        <p:txBody>
          <a:bodyPr/>
          <a:lstStyle/>
          <a:p>
            <a:r>
              <a:rPr lang="en-US" altLang="zh-TW" dirty="0"/>
              <a:t>General to affine gap penalty</a:t>
            </a:r>
            <a:endParaRPr lang="zh-TW" altLang="en-US" dirty="0"/>
          </a:p>
        </p:txBody>
      </p:sp>
      <p:pic>
        <p:nvPicPr>
          <p:cNvPr id="5" name="內容版面配置區 4">
            <a:extLst>
              <a:ext uri="{FF2B5EF4-FFF2-40B4-BE49-F238E27FC236}">
                <a16:creationId xmlns:a16="http://schemas.microsoft.com/office/drawing/2014/main" id="{AB7D43A8-A62F-43A0-A2A7-DDF8F96C7DDC}"/>
              </a:ext>
            </a:extLst>
          </p:cNvPr>
          <p:cNvPicPr>
            <a:picLocks noGrp="1" noChangeAspect="1"/>
          </p:cNvPicPr>
          <p:nvPr>
            <p:ph idx="1"/>
          </p:nvPr>
        </p:nvPicPr>
        <p:blipFill>
          <a:blip r:embed="rId3"/>
          <a:stretch>
            <a:fillRect/>
          </a:stretch>
        </p:blipFill>
        <p:spPr>
          <a:xfrm>
            <a:off x="2099705" y="2891393"/>
            <a:ext cx="7992590" cy="3686689"/>
          </a:xfrm>
        </p:spPr>
      </p:pic>
      <p:sp>
        <p:nvSpPr>
          <p:cNvPr id="6" name="內容版面配置區 2">
            <a:extLst>
              <a:ext uri="{FF2B5EF4-FFF2-40B4-BE49-F238E27FC236}">
                <a16:creationId xmlns:a16="http://schemas.microsoft.com/office/drawing/2014/main" id="{3AD2F95A-FA6D-406D-9BF5-14C5A37F295A}"/>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mj-lt"/>
              <a:buAutoNum type="arabicPeriod" startAt="2"/>
            </a:pPr>
            <a:r>
              <a:rPr lang="en-US" altLang="zh-TW" sz="2400" dirty="0"/>
              <a:t>initialize distances of vertices in the </a:t>
            </a:r>
            <a:r>
              <a:rPr lang="en-US" altLang="zh-TW" sz="2400" dirty="0">
                <a:solidFill>
                  <a:srgbClr val="FF0000"/>
                </a:solidFill>
              </a:rPr>
              <a:t>current match layer</a:t>
            </a:r>
            <a:r>
              <a:rPr lang="en-US" altLang="zh-TW" sz="2400" dirty="0"/>
              <a:t> using distances of vertices in the </a:t>
            </a:r>
            <a:r>
              <a:rPr lang="en-US" altLang="zh-TW" sz="2400" dirty="0">
                <a:solidFill>
                  <a:srgbClr val="FF0000"/>
                </a:solidFill>
              </a:rPr>
              <a:t>current deletion layer and the above match layer</a:t>
            </a:r>
          </a:p>
        </p:txBody>
      </p:sp>
      <p:cxnSp>
        <p:nvCxnSpPr>
          <p:cNvPr id="7" name="直線單箭頭接點 6">
            <a:extLst>
              <a:ext uri="{FF2B5EF4-FFF2-40B4-BE49-F238E27FC236}">
                <a16:creationId xmlns:a16="http://schemas.microsoft.com/office/drawing/2014/main" id="{2A70AA84-2BBF-492D-86BF-BBE331476218}"/>
              </a:ext>
            </a:extLst>
          </p:cNvPr>
          <p:cNvCxnSpPr/>
          <p:nvPr/>
        </p:nvCxnSpPr>
        <p:spPr>
          <a:xfrm>
            <a:off x="1502228" y="4991877"/>
            <a:ext cx="1614196"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線單箭頭接點 7">
            <a:extLst>
              <a:ext uri="{FF2B5EF4-FFF2-40B4-BE49-F238E27FC236}">
                <a16:creationId xmlns:a16="http://schemas.microsoft.com/office/drawing/2014/main" id="{A900E7FC-65A8-4F69-938B-F4EBA63FC6AF}"/>
              </a:ext>
            </a:extLst>
          </p:cNvPr>
          <p:cNvCxnSpPr>
            <a:cxnSpLocks/>
          </p:cNvCxnSpPr>
          <p:nvPr/>
        </p:nvCxnSpPr>
        <p:spPr>
          <a:xfrm flipV="1">
            <a:off x="1502228" y="4441371"/>
            <a:ext cx="3806890" cy="55050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814286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5622D65-5B30-45E7-A075-0FE7BC3F1A04}"/>
              </a:ext>
            </a:extLst>
          </p:cNvPr>
          <p:cNvSpPr>
            <a:spLocks noGrp="1"/>
          </p:cNvSpPr>
          <p:nvPr>
            <p:ph type="title"/>
          </p:nvPr>
        </p:nvSpPr>
        <p:spPr/>
        <p:txBody>
          <a:bodyPr/>
          <a:lstStyle/>
          <a:p>
            <a:r>
              <a:rPr lang="en-US" altLang="zh-TW" dirty="0"/>
              <a:t>General to affine gap penalty</a:t>
            </a:r>
            <a:endParaRPr lang="zh-TW" altLang="en-US" dirty="0"/>
          </a:p>
        </p:txBody>
      </p:sp>
      <p:pic>
        <p:nvPicPr>
          <p:cNvPr id="5" name="內容版面配置區 4">
            <a:extLst>
              <a:ext uri="{FF2B5EF4-FFF2-40B4-BE49-F238E27FC236}">
                <a16:creationId xmlns:a16="http://schemas.microsoft.com/office/drawing/2014/main" id="{AB7D43A8-A62F-43A0-A2A7-DDF8F96C7DDC}"/>
              </a:ext>
            </a:extLst>
          </p:cNvPr>
          <p:cNvPicPr>
            <a:picLocks noGrp="1" noChangeAspect="1"/>
          </p:cNvPicPr>
          <p:nvPr>
            <p:ph idx="1"/>
          </p:nvPr>
        </p:nvPicPr>
        <p:blipFill>
          <a:blip r:embed="rId3"/>
          <a:stretch>
            <a:fillRect/>
          </a:stretch>
        </p:blipFill>
        <p:spPr>
          <a:xfrm>
            <a:off x="2099705" y="2891393"/>
            <a:ext cx="7992590" cy="3686689"/>
          </a:xfrm>
        </p:spPr>
      </p:pic>
      <p:sp>
        <p:nvSpPr>
          <p:cNvPr id="6" name="內容版面配置區 2">
            <a:extLst>
              <a:ext uri="{FF2B5EF4-FFF2-40B4-BE49-F238E27FC236}">
                <a16:creationId xmlns:a16="http://schemas.microsoft.com/office/drawing/2014/main" id="{3AD2F95A-FA6D-406D-9BF5-14C5A37F295A}"/>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mj-lt"/>
              <a:buAutoNum type="arabicPeriod" startAt="3"/>
            </a:pPr>
            <a:r>
              <a:rPr lang="en-US" altLang="zh-TW" sz="2400" dirty="0"/>
              <a:t>the distances of vertices in the </a:t>
            </a:r>
            <a:r>
              <a:rPr lang="en-US" altLang="zh-TW" sz="2400" dirty="0">
                <a:solidFill>
                  <a:srgbClr val="FF0000"/>
                </a:solidFill>
              </a:rPr>
              <a:t>current match layer</a:t>
            </a:r>
            <a:r>
              <a:rPr lang="en-US" altLang="zh-TW" sz="2400" dirty="0"/>
              <a:t> are then </a:t>
            </a:r>
            <a:r>
              <a:rPr lang="en-US" altLang="zh-TW" sz="2400" dirty="0">
                <a:solidFill>
                  <a:srgbClr val="FF0000"/>
                </a:solidFill>
              </a:rPr>
              <a:t>utilized to initialize the current insertion layer</a:t>
            </a:r>
          </a:p>
        </p:txBody>
      </p:sp>
      <p:cxnSp>
        <p:nvCxnSpPr>
          <p:cNvPr id="8" name="直線單箭頭接點 7">
            <a:extLst>
              <a:ext uri="{FF2B5EF4-FFF2-40B4-BE49-F238E27FC236}">
                <a16:creationId xmlns:a16="http://schemas.microsoft.com/office/drawing/2014/main" id="{A900E7FC-65A8-4F69-938B-F4EBA63FC6AF}"/>
              </a:ext>
            </a:extLst>
          </p:cNvPr>
          <p:cNvCxnSpPr>
            <a:cxnSpLocks/>
          </p:cNvCxnSpPr>
          <p:nvPr/>
        </p:nvCxnSpPr>
        <p:spPr>
          <a:xfrm flipH="1">
            <a:off x="7035283" y="2472612"/>
            <a:ext cx="326570" cy="187545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05611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5622D65-5B30-45E7-A075-0FE7BC3F1A04}"/>
              </a:ext>
            </a:extLst>
          </p:cNvPr>
          <p:cNvSpPr>
            <a:spLocks noGrp="1"/>
          </p:cNvSpPr>
          <p:nvPr>
            <p:ph type="title"/>
          </p:nvPr>
        </p:nvSpPr>
        <p:spPr/>
        <p:txBody>
          <a:bodyPr/>
          <a:lstStyle/>
          <a:p>
            <a:r>
              <a:rPr lang="en-US" altLang="zh-TW" dirty="0"/>
              <a:t>General to affine gap penalty</a:t>
            </a:r>
            <a:endParaRPr lang="zh-TW" altLang="en-US" dirty="0"/>
          </a:p>
        </p:txBody>
      </p:sp>
      <p:pic>
        <p:nvPicPr>
          <p:cNvPr id="5" name="內容版面配置區 4">
            <a:extLst>
              <a:ext uri="{FF2B5EF4-FFF2-40B4-BE49-F238E27FC236}">
                <a16:creationId xmlns:a16="http://schemas.microsoft.com/office/drawing/2014/main" id="{AB7D43A8-A62F-43A0-A2A7-DDF8F96C7DDC}"/>
              </a:ext>
            </a:extLst>
          </p:cNvPr>
          <p:cNvPicPr>
            <a:picLocks noGrp="1" noChangeAspect="1"/>
          </p:cNvPicPr>
          <p:nvPr>
            <p:ph idx="1"/>
          </p:nvPr>
        </p:nvPicPr>
        <p:blipFill>
          <a:blip r:embed="rId3"/>
          <a:stretch>
            <a:fillRect/>
          </a:stretch>
        </p:blipFill>
        <p:spPr>
          <a:xfrm>
            <a:off x="2099705" y="2891393"/>
            <a:ext cx="7992590" cy="3686689"/>
          </a:xfrm>
        </p:spPr>
      </p:pic>
      <p:sp>
        <p:nvSpPr>
          <p:cNvPr id="6" name="內容版面配置區 2">
            <a:extLst>
              <a:ext uri="{FF2B5EF4-FFF2-40B4-BE49-F238E27FC236}">
                <a16:creationId xmlns:a16="http://schemas.microsoft.com/office/drawing/2014/main" id="{3AD2F95A-FA6D-406D-9BF5-14C5A37F295A}"/>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mj-lt"/>
              <a:buAutoNum type="arabicPeriod" startAt="4"/>
            </a:pPr>
            <a:r>
              <a:rPr lang="en-US" altLang="zh-TW" sz="2400" dirty="0"/>
              <a:t>resolve distances in the </a:t>
            </a:r>
            <a:r>
              <a:rPr lang="en-US" altLang="zh-TW" sz="2400" dirty="0">
                <a:solidFill>
                  <a:srgbClr val="FF0000"/>
                </a:solidFill>
              </a:rPr>
              <a:t>current insertion layer</a:t>
            </a:r>
            <a:r>
              <a:rPr lang="en-US" altLang="zh-TW" sz="2400" dirty="0"/>
              <a:t> using the insertion propagation algorithm (algorithm 3)</a:t>
            </a:r>
            <a:endParaRPr lang="en-US" altLang="zh-TW" sz="2400" dirty="0">
              <a:solidFill>
                <a:srgbClr val="FF0000"/>
              </a:solidFill>
            </a:endParaRPr>
          </a:p>
        </p:txBody>
      </p:sp>
      <p:cxnSp>
        <p:nvCxnSpPr>
          <p:cNvPr id="8" name="直線單箭頭接點 7">
            <a:extLst>
              <a:ext uri="{FF2B5EF4-FFF2-40B4-BE49-F238E27FC236}">
                <a16:creationId xmlns:a16="http://schemas.microsoft.com/office/drawing/2014/main" id="{A900E7FC-65A8-4F69-938B-F4EBA63FC6AF}"/>
              </a:ext>
            </a:extLst>
          </p:cNvPr>
          <p:cNvCxnSpPr>
            <a:cxnSpLocks/>
          </p:cNvCxnSpPr>
          <p:nvPr/>
        </p:nvCxnSpPr>
        <p:spPr>
          <a:xfrm>
            <a:off x="7361853" y="2472612"/>
            <a:ext cx="410547" cy="191277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93100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5622D65-5B30-45E7-A075-0FE7BC3F1A04}"/>
              </a:ext>
            </a:extLst>
          </p:cNvPr>
          <p:cNvSpPr>
            <a:spLocks noGrp="1"/>
          </p:cNvSpPr>
          <p:nvPr>
            <p:ph type="title"/>
          </p:nvPr>
        </p:nvSpPr>
        <p:spPr/>
        <p:txBody>
          <a:bodyPr/>
          <a:lstStyle/>
          <a:p>
            <a:r>
              <a:rPr lang="en-US" altLang="zh-TW" dirty="0"/>
              <a:t>General to affine gap penalty</a:t>
            </a:r>
            <a:endParaRPr lang="zh-TW" altLang="en-US" dirty="0"/>
          </a:p>
        </p:txBody>
      </p:sp>
      <p:pic>
        <p:nvPicPr>
          <p:cNvPr id="5" name="內容版面配置區 4">
            <a:extLst>
              <a:ext uri="{FF2B5EF4-FFF2-40B4-BE49-F238E27FC236}">
                <a16:creationId xmlns:a16="http://schemas.microsoft.com/office/drawing/2014/main" id="{AB7D43A8-A62F-43A0-A2A7-DDF8F96C7DDC}"/>
              </a:ext>
            </a:extLst>
          </p:cNvPr>
          <p:cNvPicPr>
            <a:picLocks noGrp="1" noChangeAspect="1"/>
          </p:cNvPicPr>
          <p:nvPr>
            <p:ph idx="1"/>
          </p:nvPr>
        </p:nvPicPr>
        <p:blipFill>
          <a:blip r:embed="rId3"/>
          <a:stretch>
            <a:fillRect/>
          </a:stretch>
        </p:blipFill>
        <p:spPr>
          <a:xfrm>
            <a:off x="2099705" y="2891393"/>
            <a:ext cx="7992590" cy="3686689"/>
          </a:xfrm>
        </p:spPr>
      </p:pic>
      <p:sp>
        <p:nvSpPr>
          <p:cNvPr id="6" name="內容版面配置區 2">
            <a:extLst>
              <a:ext uri="{FF2B5EF4-FFF2-40B4-BE49-F238E27FC236}">
                <a16:creationId xmlns:a16="http://schemas.microsoft.com/office/drawing/2014/main" id="{3AD2F95A-FA6D-406D-9BF5-14C5A37F295A}"/>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mj-lt"/>
              <a:buAutoNum type="arabicPeriod" startAt="5"/>
            </a:pPr>
            <a:r>
              <a:rPr lang="en-US" altLang="zh-TW" sz="2400" dirty="0"/>
              <a:t>the distances of vertices in the </a:t>
            </a:r>
            <a:r>
              <a:rPr lang="en-US" altLang="zh-TW" sz="2400" dirty="0">
                <a:solidFill>
                  <a:srgbClr val="FF0000"/>
                </a:solidFill>
              </a:rPr>
              <a:t>current insertion layer</a:t>
            </a:r>
            <a:r>
              <a:rPr lang="en-US" altLang="zh-TW" sz="2400" dirty="0"/>
              <a:t> are used to make a final update to the </a:t>
            </a:r>
            <a:r>
              <a:rPr lang="en-US" altLang="zh-TW" sz="2400" dirty="0">
                <a:solidFill>
                  <a:srgbClr val="FF0000"/>
                </a:solidFill>
              </a:rPr>
              <a:t>current match layer</a:t>
            </a:r>
          </a:p>
        </p:txBody>
      </p:sp>
      <p:cxnSp>
        <p:nvCxnSpPr>
          <p:cNvPr id="8" name="直線單箭頭接點 7">
            <a:extLst>
              <a:ext uri="{FF2B5EF4-FFF2-40B4-BE49-F238E27FC236}">
                <a16:creationId xmlns:a16="http://schemas.microsoft.com/office/drawing/2014/main" id="{A900E7FC-65A8-4F69-938B-F4EBA63FC6AF}"/>
              </a:ext>
            </a:extLst>
          </p:cNvPr>
          <p:cNvCxnSpPr>
            <a:cxnSpLocks/>
          </p:cNvCxnSpPr>
          <p:nvPr/>
        </p:nvCxnSpPr>
        <p:spPr>
          <a:xfrm flipH="1">
            <a:off x="6997959" y="2463282"/>
            <a:ext cx="223935" cy="257524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29214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5622D65-5B30-45E7-A075-0FE7BC3F1A04}"/>
              </a:ext>
            </a:extLst>
          </p:cNvPr>
          <p:cNvSpPr>
            <a:spLocks noGrp="1"/>
          </p:cNvSpPr>
          <p:nvPr>
            <p:ph type="title"/>
          </p:nvPr>
        </p:nvSpPr>
        <p:spPr/>
        <p:txBody>
          <a:bodyPr/>
          <a:lstStyle/>
          <a:p>
            <a:r>
              <a:rPr lang="en-US" altLang="zh-TW" dirty="0"/>
              <a:t>Lower bounds</a:t>
            </a:r>
            <a:endParaRPr lang="zh-TW" altLang="en-US" dirty="0"/>
          </a:p>
        </p:txBody>
      </p:sp>
      <p:sp>
        <p:nvSpPr>
          <p:cNvPr id="6" name="內容版面配置區 2">
            <a:extLst>
              <a:ext uri="{FF2B5EF4-FFF2-40B4-BE49-F238E27FC236}">
                <a16:creationId xmlns:a16="http://schemas.microsoft.com/office/drawing/2014/main" id="{3AD2F95A-FA6D-406D-9BF5-14C5A37F295A}"/>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r>
              <a:rPr lang="en-US" altLang="zh-TW" sz="2400" dirty="0"/>
              <a:t>the sequence-to-sequence alignment problem is a special case of the sequence-to-graph alignment problem because a sequence can be represented as a directed chain graph with character labels. As a result, existence of either </a:t>
            </a:r>
            <a:r>
              <a:rPr lang="en-US" altLang="zh-TW" sz="2400" dirty="0">
                <a:solidFill>
                  <a:srgbClr val="FF0000"/>
                </a:solidFill>
              </a:rPr>
              <a:t>O(</a:t>
            </a:r>
            <a:r>
              <a:rPr lang="en-US" altLang="zh-TW" sz="2400" i="1" dirty="0">
                <a:solidFill>
                  <a:srgbClr val="FF0000"/>
                </a:solidFill>
              </a:rPr>
              <a:t>m</a:t>
            </a:r>
            <a:r>
              <a:rPr lang="en-US" altLang="zh-TW" sz="2400" baseline="30000" dirty="0">
                <a:solidFill>
                  <a:srgbClr val="FF0000"/>
                </a:solidFill>
              </a:rPr>
              <a:t>1-</a:t>
            </a:r>
            <a:r>
              <a:rPr lang="en-US" altLang="zh-TW" sz="2400" baseline="30000" dirty="0">
                <a:solidFill>
                  <a:srgbClr val="FF0000"/>
                </a:solidFill>
                <a:sym typeface="Symbol" panose="05050102010706020507" pitchFamily="18" charset="2"/>
              </a:rPr>
              <a:t></a:t>
            </a:r>
            <a:r>
              <a:rPr lang="en-US" altLang="zh-TW" sz="2400" dirty="0">
                <a:solidFill>
                  <a:srgbClr val="FF0000"/>
                </a:solidFill>
                <a:sym typeface="Symbol" panose="05050102010706020507" pitchFamily="18" charset="2"/>
              </a:rPr>
              <a:t>|</a:t>
            </a:r>
            <a:r>
              <a:rPr lang="en-US" altLang="zh-TW" sz="2400" i="1" dirty="0">
                <a:solidFill>
                  <a:srgbClr val="FF0000"/>
                </a:solidFill>
              </a:rPr>
              <a:t>E</a:t>
            </a:r>
            <a:r>
              <a:rPr lang="en-US" altLang="zh-TW" sz="2400" dirty="0">
                <a:solidFill>
                  <a:srgbClr val="FF0000"/>
                </a:solidFill>
              </a:rPr>
              <a:t>|) or O(</a:t>
            </a:r>
            <a:r>
              <a:rPr lang="en-US" altLang="zh-TW" sz="2400" i="1" dirty="0">
                <a:solidFill>
                  <a:srgbClr val="FF0000"/>
                </a:solidFill>
              </a:rPr>
              <a:t>m</a:t>
            </a:r>
            <a:r>
              <a:rPr lang="en-US" altLang="zh-TW" sz="2400" dirty="0">
                <a:solidFill>
                  <a:srgbClr val="FF0000"/>
                </a:solidFill>
              </a:rPr>
              <a:t>|</a:t>
            </a:r>
            <a:r>
              <a:rPr lang="en-US" altLang="zh-TW" sz="2400" i="1" dirty="0">
                <a:solidFill>
                  <a:srgbClr val="FF0000"/>
                </a:solidFill>
              </a:rPr>
              <a:t>E</a:t>
            </a:r>
            <a:r>
              <a:rPr lang="en-US" altLang="zh-TW" sz="2400" dirty="0">
                <a:solidFill>
                  <a:srgbClr val="FF0000"/>
                </a:solidFill>
              </a:rPr>
              <a:t>|</a:t>
            </a:r>
            <a:r>
              <a:rPr lang="en-US" altLang="zh-TW" sz="2400" baseline="30000" dirty="0">
                <a:solidFill>
                  <a:srgbClr val="FF0000"/>
                </a:solidFill>
              </a:rPr>
              <a:t>1-</a:t>
            </a:r>
            <a:r>
              <a:rPr lang="en-US" altLang="zh-TW" sz="2400" baseline="30000" dirty="0">
                <a:solidFill>
                  <a:srgbClr val="FF0000"/>
                </a:solidFill>
                <a:sym typeface="Symbol" panose="05050102010706020507" pitchFamily="18" charset="2"/>
              </a:rPr>
              <a:t> </a:t>
            </a:r>
            <a:r>
              <a:rPr lang="en-US" altLang="zh-TW" sz="2400" dirty="0">
                <a:solidFill>
                  <a:srgbClr val="FF0000"/>
                </a:solidFill>
              </a:rPr>
              <a:t>)‚ </a:t>
            </a:r>
            <a:r>
              <a:rPr lang="en-US" altLang="zh-TW" sz="2400" dirty="0">
                <a:solidFill>
                  <a:srgbClr val="FF0000"/>
                </a:solidFill>
                <a:sym typeface="Symbol" panose="05050102010706020507" pitchFamily="18" charset="2"/>
              </a:rPr>
              <a:t></a:t>
            </a:r>
            <a:r>
              <a:rPr lang="en-US" altLang="zh-TW" sz="2400" dirty="0">
                <a:solidFill>
                  <a:srgbClr val="FF0000"/>
                </a:solidFill>
              </a:rPr>
              <a:t> &gt; 0 time algorithm for solving the sequence-to-graph alignment problem</a:t>
            </a:r>
            <a:r>
              <a:rPr lang="en-US" altLang="zh-TW" sz="2400" dirty="0"/>
              <a:t> (for both acyclic or cyclic graphs) is </a:t>
            </a:r>
            <a:r>
              <a:rPr lang="en-US" altLang="zh-TW" sz="2400" dirty="0">
                <a:solidFill>
                  <a:srgbClr val="FF0000"/>
                </a:solidFill>
              </a:rPr>
              <a:t>unlikely</a:t>
            </a:r>
            <a:r>
              <a:rPr lang="en-US" altLang="zh-TW" sz="2400" dirty="0"/>
              <a:t> because it would also yield a strongly </a:t>
            </a:r>
            <a:r>
              <a:rPr lang="en-US" altLang="zh-TW" sz="2400" dirty="0" err="1"/>
              <a:t>subquadratic</a:t>
            </a:r>
            <a:r>
              <a:rPr lang="en-US" altLang="zh-TW" sz="2400" dirty="0"/>
              <a:t> algorithm for solving the sequence-to-sequence alignment problem</a:t>
            </a:r>
            <a:endParaRPr lang="en-US" altLang="zh-TW" sz="2400" dirty="0">
              <a:solidFill>
                <a:srgbClr val="FF0000"/>
              </a:solidFill>
            </a:endParaRPr>
          </a:p>
        </p:txBody>
      </p:sp>
    </p:spTree>
    <p:extLst>
      <p:ext uri="{BB962C8B-B14F-4D97-AF65-F5344CB8AC3E}">
        <p14:creationId xmlns:p14="http://schemas.microsoft.com/office/powerpoint/2010/main" val="25354203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id="{4C7B0904-F736-4CBC-8D89-F7804C5E725E}"/>
              </a:ext>
            </a:extLst>
          </p:cNvPr>
          <p:cNvPicPr>
            <a:picLocks noChangeAspect="1"/>
          </p:cNvPicPr>
          <p:nvPr/>
        </p:nvPicPr>
        <p:blipFill>
          <a:blip r:embed="rId3"/>
          <a:stretch>
            <a:fillRect/>
          </a:stretch>
        </p:blipFill>
        <p:spPr>
          <a:xfrm>
            <a:off x="2090178" y="4043282"/>
            <a:ext cx="8011643" cy="2543530"/>
          </a:xfrm>
          <a:prstGeom prst="rect">
            <a:avLst/>
          </a:prstGeom>
        </p:spPr>
      </p:pic>
      <p:sp>
        <p:nvSpPr>
          <p:cNvPr id="2" name="標題 1">
            <a:extLst>
              <a:ext uri="{FF2B5EF4-FFF2-40B4-BE49-F238E27FC236}">
                <a16:creationId xmlns:a16="http://schemas.microsoft.com/office/drawing/2014/main" id="{E5622D65-5B30-45E7-A075-0FE7BC3F1A04}"/>
              </a:ext>
            </a:extLst>
          </p:cNvPr>
          <p:cNvSpPr>
            <a:spLocks noGrp="1"/>
          </p:cNvSpPr>
          <p:nvPr>
            <p:ph type="title"/>
          </p:nvPr>
        </p:nvSpPr>
        <p:spPr/>
        <p:txBody>
          <a:bodyPr/>
          <a:lstStyle/>
          <a:p>
            <a:r>
              <a:rPr lang="en-US" altLang="zh-TW" dirty="0"/>
              <a:t>Generalization to commonly used graphs</a:t>
            </a:r>
            <a:endParaRPr lang="zh-TW" altLang="en-US" dirty="0"/>
          </a:p>
        </p:txBody>
      </p:sp>
      <p:sp>
        <p:nvSpPr>
          <p:cNvPr id="6" name="內容版面配置區 2">
            <a:extLst>
              <a:ext uri="{FF2B5EF4-FFF2-40B4-BE49-F238E27FC236}">
                <a16:creationId xmlns:a16="http://schemas.microsoft.com/office/drawing/2014/main" id="{3AD2F95A-FA6D-406D-9BF5-14C5A37F295A}"/>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r>
              <a:rPr lang="en-US" altLang="zh-TW" sz="2400" dirty="0"/>
              <a:t>Directed graphs with labeled edges</a:t>
            </a:r>
            <a:r>
              <a:rPr lang="zh-TW" altLang="en-US" sz="2400" dirty="0"/>
              <a:t>：</a:t>
            </a:r>
            <a:endParaRPr lang="en-US" altLang="zh-TW" sz="2400" dirty="0"/>
          </a:p>
          <a:p>
            <a:pPr marL="0" indent="0" algn="just">
              <a:lnSpc>
                <a:spcPct val="150000"/>
              </a:lnSpc>
              <a:buNone/>
            </a:pPr>
            <a:r>
              <a:rPr lang="en-US" altLang="zh-TW" sz="2400" dirty="0"/>
              <a:t>|</a:t>
            </a:r>
            <a:r>
              <a:rPr lang="en-US" altLang="zh-TW" sz="2400" i="1" dirty="0"/>
              <a:t>V</a:t>
            </a:r>
            <a:r>
              <a:rPr lang="zh-TW" altLang="en-US" sz="2400" i="1" dirty="0"/>
              <a:t> </a:t>
            </a:r>
            <a:r>
              <a:rPr lang="en-US" altLang="zh-TW" sz="2400" dirty="0">
                <a:latin typeface="+mj-lt"/>
              </a:rPr>
              <a:t>’</a:t>
            </a:r>
            <a:r>
              <a:rPr lang="en-US" altLang="zh-TW" sz="2400" dirty="0"/>
              <a:t>|</a:t>
            </a:r>
            <a:r>
              <a:rPr lang="zh-TW" altLang="en-US" sz="2400" dirty="0"/>
              <a:t> </a:t>
            </a:r>
            <a:r>
              <a:rPr lang="en-US" altLang="zh-TW" sz="2400" dirty="0"/>
              <a:t>=</a:t>
            </a:r>
            <a:r>
              <a:rPr lang="zh-TW" altLang="en-US" sz="2400" dirty="0"/>
              <a:t> </a:t>
            </a:r>
            <a:r>
              <a:rPr lang="en-US" altLang="zh-TW" sz="2400" dirty="0"/>
              <a:t>|</a:t>
            </a:r>
            <a:r>
              <a:rPr lang="en-US" altLang="zh-TW" sz="2400" i="1" dirty="0"/>
              <a:t>E</a:t>
            </a:r>
            <a:r>
              <a:rPr lang="en-US" altLang="zh-TW" sz="2400" dirty="0"/>
              <a:t>|</a:t>
            </a:r>
            <a:r>
              <a:rPr lang="zh-TW" altLang="en-US" sz="2400" dirty="0"/>
              <a:t> </a:t>
            </a:r>
            <a:r>
              <a:rPr lang="en-US" altLang="zh-TW" sz="2400" dirty="0"/>
              <a:t>+</a:t>
            </a:r>
            <a:r>
              <a:rPr lang="zh-TW" altLang="en-US" sz="2400" dirty="0"/>
              <a:t> </a:t>
            </a:r>
            <a:r>
              <a:rPr lang="en-US" altLang="zh-TW" sz="2400" dirty="0"/>
              <a:t>|</a:t>
            </a:r>
            <a:r>
              <a:rPr lang="en-US" altLang="zh-TW" sz="2400" i="1" dirty="0"/>
              <a:t>V</a:t>
            </a:r>
            <a:r>
              <a:rPr lang="en-US" altLang="zh-TW" sz="2400" dirty="0"/>
              <a:t>|</a:t>
            </a:r>
          </a:p>
          <a:p>
            <a:pPr marL="0" indent="0" algn="just">
              <a:lnSpc>
                <a:spcPct val="150000"/>
              </a:lnSpc>
              <a:buNone/>
            </a:pPr>
            <a:r>
              <a:rPr lang="en-US" altLang="zh-TW" sz="2400" dirty="0"/>
              <a:t>|</a:t>
            </a:r>
            <a:r>
              <a:rPr lang="en-US" altLang="zh-TW" sz="2400" i="1" dirty="0"/>
              <a:t>E</a:t>
            </a:r>
            <a:r>
              <a:rPr lang="en-US" altLang="zh-TW" sz="2400" dirty="0">
                <a:latin typeface="+mj-lt"/>
              </a:rPr>
              <a:t>’</a:t>
            </a:r>
            <a:r>
              <a:rPr lang="en-US" altLang="zh-TW" sz="2400" dirty="0"/>
              <a:t>|</a:t>
            </a:r>
            <a:r>
              <a:rPr lang="zh-TW" altLang="en-US" sz="2400" dirty="0"/>
              <a:t> </a:t>
            </a:r>
            <a:r>
              <a:rPr lang="en-US" altLang="zh-TW" sz="2400" dirty="0"/>
              <a:t>=</a:t>
            </a:r>
            <a:r>
              <a:rPr lang="zh-TW" altLang="en-US" sz="2400" dirty="0"/>
              <a:t> </a:t>
            </a:r>
            <a:r>
              <a:rPr lang="en-US" altLang="zh-TW" sz="2400" dirty="0"/>
              <a:t>2|</a:t>
            </a:r>
            <a:r>
              <a:rPr lang="en-US" altLang="zh-TW" sz="2400" i="1" dirty="0"/>
              <a:t>E</a:t>
            </a:r>
            <a:r>
              <a:rPr lang="en-US" altLang="zh-TW" sz="2400" dirty="0"/>
              <a:t>|</a:t>
            </a:r>
          </a:p>
        </p:txBody>
      </p:sp>
      <p:sp>
        <p:nvSpPr>
          <p:cNvPr id="7" name="內容版面配置區 2">
            <a:extLst>
              <a:ext uri="{FF2B5EF4-FFF2-40B4-BE49-F238E27FC236}">
                <a16:creationId xmlns:a16="http://schemas.microsoft.com/office/drawing/2014/main" id="{87E54F19-B9A2-409C-984E-CA75F856684B}"/>
              </a:ext>
            </a:extLst>
          </p:cNvPr>
          <p:cNvSpPr txBox="1">
            <a:spLocks/>
          </p:cNvSpPr>
          <p:nvPr/>
        </p:nvSpPr>
        <p:spPr>
          <a:xfrm>
            <a:off x="7655174" y="3908345"/>
            <a:ext cx="1918033" cy="53599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dirty="0">
                <a:latin typeface="Times New Roman" panose="02020603050405020304" pitchFamily="18" charset="0"/>
                <a:cs typeface="Times New Roman" panose="02020603050405020304" pitchFamily="18" charset="0"/>
              </a:rPr>
              <a:t>G</a:t>
            </a:r>
            <a:r>
              <a:rPr lang="en-US" altLang="zh-TW" dirty="0">
                <a:latin typeface="+mj-lt"/>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a:t>
            </a:r>
            <a:r>
              <a:rPr lang="en-US" altLang="zh-TW" i="1" dirty="0">
                <a:latin typeface="Times New Roman" panose="02020603050405020304" pitchFamily="18" charset="0"/>
                <a:cs typeface="Times New Roman" panose="02020603050405020304" pitchFamily="18" charset="0"/>
              </a:rPr>
              <a:t>V</a:t>
            </a:r>
            <a:r>
              <a:rPr lang="en-US" altLang="zh-TW" i="1" dirty="0">
                <a:latin typeface="+mj-lt"/>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a:t>
            </a:r>
            <a:r>
              <a:rPr lang="en-US" altLang="zh-TW" i="1" dirty="0">
                <a:latin typeface="Times New Roman" panose="02020603050405020304" pitchFamily="18" charset="0"/>
                <a:cs typeface="Times New Roman" panose="02020603050405020304" pitchFamily="18" charset="0"/>
              </a:rPr>
              <a:t>E</a:t>
            </a:r>
            <a:r>
              <a:rPr lang="en-US" altLang="zh-TW" i="1" dirty="0">
                <a:latin typeface="+mj-lt"/>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a:t>
            </a:r>
            <a:endParaRPr lang="en-US" altLang="zh-TW" baseline="30000" dirty="0">
              <a:latin typeface="Times New Roman" panose="02020603050405020304" pitchFamily="18" charset="0"/>
              <a:cs typeface="Times New Roman" panose="02020603050405020304" pitchFamily="18" charset="0"/>
            </a:endParaRPr>
          </a:p>
        </p:txBody>
      </p:sp>
      <p:sp>
        <p:nvSpPr>
          <p:cNvPr id="8" name="內容版面配置區 2">
            <a:extLst>
              <a:ext uri="{FF2B5EF4-FFF2-40B4-BE49-F238E27FC236}">
                <a16:creationId xmlns:a16="http://schemas.microsoft.com/office/drawing/2014/main" id="{BC6B913E-6D4F-4897-A9F1-7A3844E3EC4C}"/>
              </a:ext>
            </a:extLst>
          </p:cNvPr>
          <p:cNvSpPr txBox="1">
            <a:spLocks/>
          </p:cNvSpPr>
          <p:nvPr/>
        </p:nvSpPr>
        <p:spPr>
          <a:xfrm>
            <a:off x="2700618" y="3908345"/>
            <a:ext cx="1918033" cy="53599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dirty="0">
                <a:latin typeface="Times New Roman" panose="02020603050405020304" pitchFamily="18" charset="0"/>
                <a:cs typeface="Times New Roman" panose="02020603050405020304" pitchFamily="18" charset="0"/>
              </a:rPr>
              <a:t>G(</a:t>
            </a:r>
            <a:r>
              <a:rPr lang="en-US" altLang="zh-TW" i="1" dirty="0">
                <a:latin typeface="Times New Roman" panose="02020603050405020304" pitchFamily="18" charset="0"/>
                <a:cs typeface="Times New Roman" panose="02020603050405020304" pitchFamily="18" charset="0"/>
              </a:rPr>
              <a:t>V</a:t>
            </a:r>
            <a:r>
              <a:rPr lang="en-US" altLang="zh-TW" dirty="0">
                <a:latin typeface="Times New Roman" panose="02020603050405020304" pitchFamily="18" charset="0"/>
                <a:cs typeface="Times New Roman" panose="02020603050405020304" pitchFamily="18" charset="0"/>
              </a:rPr>
              <a:t>,</a:t>
            </a:r>
            <a:r>
              <a:rPr lang="en-US" altLang="zh-TW" i="1" dirty="0">
                <a:latin typeface="Times New Roman" panose="02020603050405020304" pitchFamily="18" charset="0"/>
                <a:cs typeface="Times New Roman" panose="02020603050405020304" pitchFamily="18" charset="0"/>
              </a:rPr>
              <a:t>E</a:t>
            </a:r>
            <a:r>
              <a:rPr lang="en-US" altLang="zh-TW" dirty="0">
                <a:latin typeface="Times New Roman" panose="02020603050405020304" pitchFamily="18" charset="0"/>
                <a:cs typeface="Times New Roman" panose="02020603050405020304" pitchFamily="18" charset="0"/>
              </a:rPr>
              <a:t>)</a:t>
            </a:r>
            <a:endParaRPr lang="en-US" altLang="zh-TW" baseline="30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44500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5622D65-5B30-45E7-A075-0FE7BC3F1A04}"/>
              </a:ext>
            </a:extLst>
          </p:cNvPr>
          <p:cNvSpPr>
            <a:spLocks noGrp="1"/>
          </p:cNvSpPr>
          <p:nvPr>
            <p:ph type="title"/>
          </p:nvPr>
        </p:nvSpPr>
        <p:spPr/>
        <p:txBody>
          <a:bodyPr/>
          <a:lstStyle/>
          <a:p>
            <a:r>
              <a:rPr lang="en-US" altLang="zh-TW" dirty="0"/>
              <a:t>Generalization</a:t>
            </a:r>
            <a:endParaRPr lang="zh-TW" altLang="en-US" dirty="0"/>
          </a:p>
        </p:txBody>
      </p:sp>
      <p:sp>
        <p:nvSpPr>
          <p:cNvPr id="6" name="內容版面配置區 2">
            <a:extLst>
              <a:ext uri="{FF2B5EF4-FFF2-40B4-BE49-F238E27FC236}">
                <a16:creationId xmlns:a16="http://schemas.microsoft.com/office/drawing/2014/main" id="{3AD2F95A-FA6D-406D-9BF5-14C5A37F295A}"/>
              </a:ext>
            </a:extLst>
          </p:cNvPr>
          <p:cNvSpPr txBox="1">
            <a:spLocks/>
          </p:cNvSpPr>
          <p:nvPr/>
        </p:nvSpPr>
        <p:spPr>
          <a:xfrm>
            <a:off x="838200" y="1416988"/>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r>
              <a:rPr lang="en-US" altLang="zh-TW" sz="2400" dirty="0"/>
              <a:t>Regular expression</a:t>
            </a:r>
            <a:r>
              <a:rPr lang="zh-TW" altLang="en-US" sz="2400" dirty="0"/>
              <a:t>：</a:t>
            </a:r>
            <a:endParaRPr lang="en-US" altLang="zh-TW" sz="2400" dirty="0"/>
          </a:p>
          <a:p>
            <a:pPr algn="just">
              <a:lnSpc>
                <a:spcPct val="150000"/>
              </a:lnSpc>
            </a:pPr>
            <a:r>
              <a:rPr lang="en-US" altLang="zh-TW" sz="2400" dirty="0"/>
              <a:t>Seek a minimum-cost set of edits that converts a sequence to match a regular</a:t>
            </a:r>
            <a:br>
              <a:rPr lang="en-US" altLang="zh-TW" sz="2400" dirty="0"/>
            </a:br>
            <a:r>
              <a:rPr lang="en-US" altLang="zh-TW" sz="2400" dirty="0"/>
              <a:t>expression.</a:t>
            </a:r>
          </a:p>
          <a:p>
            <a:pPr algn="just">
              <a:lnSpc>
                <a:spcPct val="150000"/>
              </a:lnSpc>
            </a:pPr>
            <a:r>
              <a:rPr lang="en-US" altLang="zh-TW" sz="2400" dirty="0"/>
              <a:t>Convert </a:t>
            </a:r>
            <a:r>
              <a:rPr lang="en-US" altLang="zh-TW" sz="2400" i="1" dirty="0"/>
              <a:t>R</a:t>
            </a:r>
            <a:r>
              <a:rPr lang="en-US" altLang="zh-TW" sz="2400" dirty="0"/>
              <a:t> into an </a:t>
            </a:r>
            <a:r>
              <a:rPr lang="en-US" altLang="zh-TW" sz="2400" dirty="0">
                <a:sym typeface="Symbol" panose="05050102010706020507" pitchFamily="18" charset="2"/>
              </a:rPr>
              <a:t>-labeled nondeterministic automaton is linear in |</a:t>
            </a:r>
            <a:r>
              <a:rPr lang="en-US" altLang="zh-TW" sz="2400" i="1" dirty="0">
                <a:sym typeface="Symbol" panose="05050102010706020507" pitchFamily="18" charset="2"/>
              </a:rPr>
              <a:t>R</a:t>
            </a:r>
            <a:r>
              <a:rPr lang="en-US" altLang="zh-TW" sz="2400" dirty="0">
                <a:sym typeface="Symbol" panose="05050102010706020507" pitchFamily="18" charset="2"/>
              </a:rPr>
              <a:t>|</a:t>
            </a:r>
            <a:r>
              <a:rPr lang="en-US" altLang="zh-TW" sz="2400" dirty="0"/>
              <a:t>    [2]</a:t>
            </a:r>
          </a:p>
          <a:p>
            <a:pPr algn="just">
              <a:lnSpc>
                <a:spcPct val="150000"/>
              </a:lnSpc>
            </a:pPr>
            <a:r>
              <a:rPr lang="en-US" altLang="zh-TW" sz="2400" dirty="0"/>
              <a:t>Solve sequence to regular expression alignment in O(</a:t>
            </a:r>
            <a:r>
              <a:rPr lang="en-US" altLang="zh-TW" sz="2400" i="1" dirty="0" err="1"/>
              <a:t>m</a:t>
            </a:r>
            <a:r>
              <a:rPr lang="en-US" altLang="zh-TW" sz="2400" dirty="0" err="1"/>
              <a:t>|</a:t>
            </a:r>
            <a:r>
              <a:rPr lang="en-US" altLang="zh-TW" sz="2400" i="1" dirty="0" err="1"/>
              <a:t>R</a:t>
            </a:r>
            <a:r>
              <a:rPr lang="en-US" altLang="zh-TW" sz="2400" dirty="0"/>
              <a:t>|)</a:t>
            </a:r>
          </a:p>
        </p:txBody>
      </p:sp>
      <p:pic>
        <p:nvPicPr>
          <p:cNvPr id="5" name="圖片 4">
            <a:extLst>
              <a:ext uri="{FF2B5EF4-FFF2-40B4-BE49-F238E27FC236}">
                <a16:creationId xmlns:a16="http://schemas.microsoft.com/office/drawing/2014/main" id="{38B6A764-CAC4-415D-B7A8-D50EE4B13063}"/>
              </a:ext>
            </a:extLst>
          </p:cNvPr>
          <p:cNvPicPr>
            <a:picLocks noChangeAspect="1"/>
          </p:cNvPicPr>
          <p:nvPr/>
        </p:nvPicPr>
        <p:blipFill>
          <a:blip r:embed="rId3"/>
          <a:stretch>
            <a:fillRect/>
          </a:stretch>
        </p:blipFill>
        <p:spPr>
          <a:xfrm>
            <a:off x="1551941" y="4612221"/>
            <a:ext cx="9088118" cy="1657581"/>
          </a:xfrm>
          <a:prstGeom prst="rect">
            <a:avLst/>
          </a:prstGeom>
        </p:spPr>
      </p:pic>
      <p:sp>
        <p:nvSpPr>
          <p:cNvPr id="12" name="文字方塊 11">
            <a:extLst>
              <a:ext uri="{FF2B5EF4-FFF2-40B4-BE49-F238E27FC236}">
                <a16:creationId xmlns:a16="http://schemas.microsoft.com/office/drawing/2014/main" id="{757D5AB2-F583-4248-9804-567742839E57}"/>
              </a:ext>
            </a:extLst>
          </p:cNvPr>
          <p:cNvSpPr txBox="1"/>
          <p:nvPr/>
        </p:nvSpPr>
        <p:spPr>
          <a:xfrm>
            <a:off x="0" y="6211669"/>
            <a:ext cx="12192000" cy="646331"/>
          </a:xfrm>
          <a:prstGeom prst="rect">
            <a:avLst/>
          </a:prstGeom>
          <a:noFill/>
        </p:spPr>
        <p:txBody>
          <a:bodyPr wrap="square">
            <a:spAutoFit/>
          </a:bodyPr>
          <a:lstStyle/>
          <a:p>
            <a:r>
              <a:rPr lang="en-US" altLang="zh-TW" dirty="0">
                <a:latin typeface="Times New Roman" panose="02020603050405020304" pitchFamily="18" charset="0"/>
                <a:cs typeface="Times New Roman" panose="02020603050405020304" pitchFamily="18" charset="0"/>
              </a:rPr>
              <a:t>[2] Eugene </a:t>
            </a:r>
            <a:r>
              <a:rPr lang="en-US" altLang="zh-TW" dirty="0" err="1">
                <a:latin typeface="Times New Roman" panose="02020603050405020304" pitchFamily="18" charset="0"/>
                <a:cs typeface="Times New Roman" panose="02020603050405020304" pitchFamily="18" charset="0"/>
              </a:rPr>
              <a:t>W.Myers</a:t>
            </a:r>
            <a:r>
              <a:rPr lang="en-US" altLang="zh-TW" dirty="0">
                <a:latin typeface="Times New Roman" panose="02020603050405020304" pitchFamily="18" charset="0"/>
                <a:cs typeface="Times New Roman" panose="02020603050405020304" pitchFamily="18" charset="0"/>
              </a:rPr>
              <a:t> and Webb Miller </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Approximate matching of regular expressions </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Bulletin of Mathematical Biology</a:t>
            </a:r>
          </a:p>
          <a:p>
            <a:r>
              <a:rPr lang="en-US" altLang="zh-TW" dirty="0">
                <a:latin typeface="Times New Roman" panose="02020603050405020304" pitchFamily="18" charset="0"/>
                <a:cs typeface="Times New Roman" panose="02020603050405020304" pitchFamily="18" charset="0"/>
              </a:rPr>
              <a:t>      Volume 51, Issue 1, 1989, Pages 5-37</a:t>
            </a:r>
            <a:endParaRPr lang="zh-TW" altLang="en-US" dirty="0">
              <a:latin typeface="Times New Roman" panose="02020603050405020304" pitchFamily="18" charset="0"/>
              <a:cs typeface="Times New Roman" panose="02020603050405020304" pitchFamily="18" charset="0"/>
            </a:endParaRPr>
          </a:p>
        </p:txBody>
      </p:sp>
      <p:sp>
        <p:nvSpPr>
          <p:cNvPr id="13" name="矩形 12">
            <a:extLst>
              <a:ext uri="{FF2B5EF4-FFF2-40B4-BE49-F238E27FC236}">
                <a16:creationId xmlns:a16="http://schemas.microsoft.com/office/drawing/2014/main" id="{2CC87929-0293-4510-BD3D-F19F4D32E48F}"/>
              </a:ext>
            </a:extLst>
          </p:cNvPr>
          <p:cNvSpPr/>
          <p:nvPr/>
        </p:nvSpPr>
        <p:spPr>
          <a:xfrm>
            <a:off x="1551941" y="5234473"/>
            <a:ext cx="1508500" cy="53385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文字方塊 14">
            <a:extLst>
              <a:ext uri="{FF2B5EF4-FFF2-40B4-BE49-F238E27FC236}">
                <a16:creationId xmlns:a16="http://schemas.microsoft.com/office/drawing/2014/main" id="{223ACFB2-7026-43B8-8B00-3A277EFE632C}"/>
              </a:ext>
            </a:extLst>
          </p:cNvPr>
          <p:cNvSpPr txBox="1"/>
          <p:nvPr/>
        </p:nvSpPr>
        <p:spPr>
          <a:xfrm>
            <a:off x="1169386" y="4979346"/>
            <a:ext cx="382555" cy="461665"/>
          </a:xfrm>
          <a:prstGeom prst="rect">
            <a:avLst/>
          </a:prstGeom>
          <a:noFill/>
        </p:spPr>
        <p:txBody>
          <a:bodyPr wrap="square">
            <a:spAutoFit/>
          </a:bodyPr>
          <a:lstStyle/>
          <a:p>
            <a:r>
              <a:rPr lang="en-US" altLang="zh-TW" sz="2400" i="1" dirty="0">
                <a:latin typeface="Times New Roman" panose="02020603050405020304" pitchFamily="18" charset="0"/>
                <a:cs typeface="Times New Roman" panose="02020603050405020304" pitchFamily="18" charset="0"/>
              </a:rPr>
              <a:t>R</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879240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5622D65-5B30-45E7-A075-0FE7BC3F1A04}"/>
              </a:ext>
            </a:extLst>
          </p:cNvPr>
          <p:cNvSpPr>
            <a:spLocks noGrp="1"/>
          </p:cNvSpPr>
          <p:nvPr>
            <p:ph type="title"/>
          </p:nvPr>
        </p:nvSpPr>
        <p:spPr/>
        <p:txBody>
          <a:bodyPr/>
          <a:lstStyle/>
          <a:p>
            <a:r>
              <a:rPr lang="en-US" altLang="zh-TW" dirty="0"/>
              <a:t>Generalization</a:t>
            </a:r>
            <a:endParaRPr lang="zh-TW" altLang="en-US" dirty="0"/>
          </a:p>
        </p:txBody>
      </p:sp>
      <p:sp>
        <p:nvSpPr>
          <p:cNvPr id="6" name="內容版面配置區 2">
            <a:extLst>
              <a:ext uri="{FF2B5EF4-FFF2-40B4-BE49-F238E27FC236}">
                <a16:creationId xmlns:a16="http://schemas.microsoft.com/office/drawing/2014/main" id="{3AD2F95A-FA6D-406D-9BF5-14C5A37F295A}"/>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r>
              <a:rPr lang="en-US" altLang="zh-TW" sz="2400" dirty="0"/>
              <a:t>Directed assembly graphs</a:t>
            </a:r>
            <a:r>
              <a:rPr lang="zh-TW" altLang="en-US" sz="2400" dirty="0"/>
              <a:t>：</a:t>
            </a:r>
            <a:endParaRPr lang="en-US" altLang="zh-TW" sz="2400" dirty="0"/>
          </a:p>
          <a:p>
            <a:pPr marL="0" indent="0" algn="just">
              <a:lnSpc>
                <a:spcPct val="150000"/>
              </a:lnSpc>
              <a:buNone/>
            </a:pPr>
            <a:r>
              <a:rPr lang="en-US" altLang="zh-TW" sz="2400" dirty="0"/>
              <a:t>De Bruijn graphs ( used for sequence assembly )</a:t>
            </a:r>
          </a:p>
        </p:txBody>
      </p:sp>
      <p:pic>
        <p:nvPicPr>
          <p:cNvPr id="5" name="圖片 4">
            <a:extLst>
              <a:ext uri="{FF2B5EF4-FFF2-40B4-BE49-F238E27FC236}">
                <a16:creationId xmlns:a16="http://schemas.microsoft.com/office/drawing/2014/main" id="{ADE3728F-6E22-4B04-B258-D89FE6A7F541}"/>
              </a:ext>
            </a:extLst>
          </p:cNvPr>
          <p:cNvPicPr>
            <a:picLocks noChangeAspect="1"/>
          </p:cNvPicPr>
          <p:nvPr/>
        </p:nvPicPr>
        <p:blipFill rotWithShape="1">
          <a:blip r:embed="rId3"/>
          <a:srcRect r="69416"/>
          <a:stretch/>
        </p:blipFill>
        <p:spPr>
          <a:xfrm>
            <a:off x="887963" y="3191556"/>
            <a:ext cx="2712487" cy="1619476"/>
          </a:xfrm>
          <a:prstGeom prst="rect">
            <a:avLst/>
          </a:prstGeom>
        </p:spPr>
      </p:pic>
      <p:pic>
        <p:nvPicPr>
          <p:cNvPr id="11" name="圖片 10">
            <a:extLst>
              <a:ext uri="{FF2B5EF4-FFF2-40B4-BE49-F238E27FC236}">
                <a16:creationId xmlns:a16="http://schemas.microsoft.com/office/drawing/2014/main" id="{9B5F11F5-DAC4-41AB-916C-A5FB0B3D4792}"/>
              </a:ext>
            </a:extLst>
          </p:cNvPr>
          <p:cNvPicPr>
            <a:picLocks noChangeAspect="1"/>
          </p:cNvPicPr>
          <p:nvPr/>
        </p:nvPicPr>
        <p:blipFill rotWithShape="1">
          <a:blip r:embed="rId3"/>
          <a:srcRect l="43327"/>
          <a:stretch/>
        </p:blipFill>
        <p:spPr>
          <a:xfrm>
            <a:off x="838200" y="5065414"/>
            <a:ext cx="5026356" cy="1619476"/>
          </a:xfrm>
          <a:prstGeom prst="rect">
            <a:avLst/>
          </a:prstGeom>
        </p:spPr>
      </p:pic>
      <p:pic>
        <p:nvPicPr>
          <p:cNvPr id="1026" name="Picture 2">
            <a:extLst>
              <a:ext uri="{FF2B5EF4-FFF2-40B4-BE49-F238E27FC236}">
                <a16:creationId xmlns:a16="http://schemas.microsoft.com/office/drawing/2014/main" id="{E0111FC1-AAE1-49A2-95D7-4BAD59ED8C4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47905" y="0"/>
            <a:ext cx="5144095" cy="6858794"/>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直線單箭頭接點 13">
            <a:extLst>
              <a:ext uri="{FF2B5EF4-FFF2-40B4-BE49-F238E27FC236}">
                <a16:creationId xmlns:a16="http://schemas.microsoft.com/office/drawing/2014/main" id="{23FBF3F0-499B-4FA4-8818-05DBFBEEF47A}"/>
              </a:ext>
            </a:extLst>
          </p:cNvPr>
          <p:cNvCxnSpPr/>
          <p:nvPr/>
        </p:nvCxnSpPr>
        <p:spPr>
          <a:xfrm>
            <a:off x="2127380" y="4830978"/>
            <a:ext cx="0" cy="451433"/>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5011519"/>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5153</TotalTime>
  <Words>2442</Words>
  <Application>Microsoft Office PowerPoint</Application>
  <PresentationFormat>寬螢幕</PresentationFormat>
  <Paragraphs>318</Paragraphs>
  <Slides>37</Slides>
  <Notes>26</Notes>
  <HiddenSlides>0</HiddenSlides>
  <MMClips>0</MMClips>
  <ScaleCrop>false</ScaleCrop>
  <HeadingPairs>
    <vt:vector size="6" baseType="variant">
      <vt:variant>
        <vt:lpstr>使用字型</vt:lpstr>
      </vt:variant>
      <vt:variant>
        <vt:i4>8</vt:i4>
      </vt:variant>
      <vt:variant>
        <vt:lpstr>佈景主題</vt:lpstr>
      </vt:variant>
      <vt:variant>
        <vt:i4>1</vt:i4>
      </vt:variant>
      <vt:variant>
        <vt:lpstr>投影片標題</vt:lpstr>
      </vt:variant>
      <vt:variant>
        <vt:i4>37</vt:i4>
      </vt:variant>
    </vt:vector>
  </HeadingPairs>
  <TitlesOfParts>
    <vt:vector size="46" baseType="lpstr">
      <vt:lpstr>Arial</vt:lpstr>
      <vt:lpstr>Arial</vt:lpstr>
      <vt:lpstr>Calibri</vt:lpstr>
      <vt:lpstr>Calibri Light</vt:lpstr>
      <vt:lpstr>Cambria Math</vt:lpstr>
      <vt:lpstr>Courier New</vt:lpstr>
      <vt:lpstr>Symbol</vt:lpstr>
      <vt:lpstr>Times New Roman</vt:lpstr>
      <vt:lpstr>Office 佈景主題</vt:lpstr>
      <vt:lpstr>On the Complexity of Sequence-to-graph Alignment</vt:lpstr>
      <vt:lpstr>Abstract (1/2)</vt:lpstr>
      <vt:lpstr>Abstract (2/2)</vt:lpstr>
      <vt:lpstr>Sequence-to-graph alignment</vt:lpstr>
      <vt:lpstr>Complexity of related algorithms</vt:lpstr>
      <vt:lpstr>Hardness</vt:lpstr>
      <vt:lpstr>Hamming distance model</vt:lpstr>
      <vt:lpstr>Hamming distance model</vt:lpstr>
      <vt:lpstr>Hamming distance model</vt:lpstr>
      <vt:lpstr>Hamming distance model</vt:lpstr>
      <vt:lpstr>Edit distance model</vt:lpstr>
      <vt:lpstr>Edit distance model</vt:lpstr>
      <vt:lpstr>Edit distance model</vt:lpstr>
      <vt:lpstr>Edit distance model</vt:lpstr>
      <vt:lpstr>Edit distance model</vt:lpstr>
      <vt:lpstr>Edit distance model</vt:lpstr>
      <vt:lpstr>Summary of hardness</vt:lpstr>
      <vt:lpstr>Sequence-to-graph alignment</vt:lpstr>
      <vt:lpstr>Sequence-to-graph alignment</vt:lpstr>
      <vt:lpstr>Sequence-to-graph alignment</vt:lpstr>
      <vt:lpstr>Sequence-to-graph alignment</vt:lpstr>
      <vt:lpstr>InitializeDistance()</vt:lpstr>
      <vt:lpstr>Sort()</vt:lpstr>
      <vt:lpstr>PropagateInsertion()</vt:lpstr>
      <vt:lpstr>Sequence-to-graph alignment</vt:lpstr>
      <vt:lpstr>Preprocessing</vt:lpstr>
      <vt:lpstr>Traceback</vt:lpstr>
      <vt:lpstr>General to affine gap penalty</vt:lpstr>
      <vt:lpstr>General to affine gap penalty</vt:lpstr>
      <vt:lpstr>General to affine gap penalty</vt:lpstr>
      <vt:lpstr>General to affine gap penalty</vt:lpstr>
      <vt:lpstr>General to affine gap penalty</vt:lpstr>
      <vt:lpstr>General to affine gap penalty</vt:lpstr>
      <vt:lpstr>Lower bounds</vt:lpstr>
      <vt:lpstr>Generalization to commonly used graphs</vt:lpstr>
      <vt:lpstr>Generalization</vt:lpstr>
      <vt:lpstr>Generalization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New String Matching Algorithm Based on Logical Indexing</dc:title>
  <dc:creator>育誠 張</dc:creator>
  <cp:lastModifiedBy>pplab</cp:lastModifiedBy>
  <cp:revision>1812</cp:revision>
  <dcterms:created xsi:type="dcterms:W3CDTF">2020-01-13T05:19:55Z</dcterms:created>
  <dcterms:modified xsi:type="dcterms:W3CDTF">2021-01-26T07:34:49Z</dcterms:modified>
</cp:coreProperties>
</file>