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0"/>
  </p:notesMasterIdLst>
  <p:sldIdLst>
    <p:sldId id="256"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58" r:id="rId17"/>
    <p:sldId id="271" r:id="rId18"/>
    <p:sldId id="272"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zh-TW" sz="1800" b="0" strike="noStrike" spc="-1">
                <a:solidFill>
                  <a:srgbClr val="000000"/>
                </a:solidFill>
                <a:latin typeface="Calibri"/>
              </a:rPr>
              <a:t>請按這裡移動投影片</a:t>
            </a:r>
            <a:endParaRPr lang="en-US" sz="1800" b="0" strike="noStrike" spc="-1">
              <a:solidFill>
                <a:srgbClr val="000000"/>
              </a:solidFill>
              <a:latin typeface="Calibri"/>
            </a:endParaRPr>
          </a:p>
        </p:txBody>
      </p:sp>
      <p:sp>
        <p:nvSpPr>
          <p:cNvPr id="83" name="PlaceHolder 2"/>
          <p:cNvSpPr>
            <a:spLocks noGrp="1"/>
          </p:cNvSpPr>
          <p:nvPr>
            <p:ph type="body"/>
          </p:nvPr>
        </p:nvSpPr>
        <p:spPr>
          <a:xfrm>
            <a:off x="756000" y="5078520"/>
            <a:ext cx="6047640" cy="4811040"/>
          </a:xfrm>
          <a:prstGeom prst="rect">
            <a:avLst/>
          </a:prstGeom>
        </p:spPr>
        <p:txBody>
          <a:bodyPr lIns="0" tIns="0" rIns="0" bIns="0">
            <a:noAutofit/>
          </a:bodyPr>
          <a:lstStyle/>
          <a:p>
            <a:r>
              <a:rPr lang="zh-TW" sz="2000" b="0" strike="noStrike" spc="-1">
                <a:latin typeface="Arial"/>
              </a:rPr>
              <a:t>請按這裡編輯備註格式</a:t>
            </a:r>
            <a:endParaRPr lang="en-US" sz="2000" b="0" strike="noStrike" spc="-1">
              <a:latin typeface="Arial"/>
            </a:endParaRPr>
          </a:p>
        </p:txBody>
      </p:sp>
      <p:sp>
        <p:nvSpPr>
          <p:cNvPr id="84"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&lt;頁首&gt;</a:t>
            </a:r>
          </a:p>
        </p:txBody>
      </p:sp>
      <p:sp>
        <p:nvSpPr>
          <p:cNvPr id="85"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&lt;日期/時間&gt;</a:t>
            </a:r>
          </a:p>
        </p:txBody>
      </p:sp>
      <p:sp>
        <p:nvSpPr>
          <p:cNvPr id="86"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&lt;頁尾&gt;</a:t>
            </a:r>
          </a:p>
        </p:txBody>
      </p:sp>
      <p:sp>
        <p:nvSpPr>
          <p:cNvPr id="87"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331962A5-A15B-4472-A253-73015B2EE908}" type="slidenum">
              <a:rPr lang="en-US" sz="1400" b="0" strike="noStrike" spc="-1">
                <a:latin typeface="Times New Roman"/>
              </a:rPr>
              <a:pPr algn="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6"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7"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0"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1"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4"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5"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8"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3"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7"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8"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0200"/>
            <a:ext cx="822924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0200"/>
            <a:ext cx="4015800" cy="4525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020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964320"/>
            <a:ext cx="822924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020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964320"/>
            <a:ext cx="40158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9240" cy="11426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020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964320"/>
            <a:ext cx="2649600" cy="215856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6" name="PlaceHolder 2"/>
          <p:cNvSpPr>
            <a:spLocks noGrp="1"/>
          </p:cNvSpPr>
          <p:nvPr>
            <p:ph type="dt"/>
          </p:nvPr>
        </p:nvSpPr>
        <p:spPr>
          <a:xfrm>
            <a:off x="457200" y="6356520"/>
            <a:ext cx="2133360" cy="364680"/>
          </a:xfrm>
          <a:prstGeom prst="rect">
            <a:avLst/>
          </a:prstGeom>
        </p:spPr>
        <p:txBody>
          <a:bodyPr anchor="ctr">
            <a:noAutofit/>
          </a:bodyPr>
          <a:lstStyle/>
          <a:p>
            <a:pPr>
              <a:lnSpc>
                <a:spcPct val="100000"/>
              </a:lnSpc>
            </a:pPr>
            <a:fld id="{BFEC21A0-76F1-4091-8A4E-3D3682A4EBBE}" type="datetime">
              <a:rPr lang="en-US" sz="1200" b="0" strike="noStrike" spc="-1">
                <a:solidFill>
                  <a:srgbClr val="8B8B8B"/>
                </a:solidFill>
                <a:latin typeface="Calibri"/>
              </a:rPr>
              <a:pPr>
                <a:lnSpc>
                  <a:spcPct val="100000"/>
                </a:lnSpc>
              </a:pPr>
              <a:t>1/26/2021</a:t>
            </a:fld>
            <a:endParaRPr lang="en-US" sz="1200" b="0" strike="noStrike" spc="-1">
              <a:latin typeface="Times New Roman"/>
            </a:endParaRPr>
          </a:p>
        </p:txBody>
      </p:sp>
      <p:sp>
        <p:nvSpPr>
          <p:cNvPr id="2" name="PlaceHolder 3"/>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29C6C588-69D4-483A-BFC4-1F3BDC423AB1}"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400" b="0" strike="noStrike" spc="-1">
                <a:solidFill>
                  <a:srgbClr val="000000"/>
                </a:solidFill>
                <a:latin typeface="Calibri"/>
              </a:rPr>
              <a:t>第二個大綱層次</a:t>
            </a:r>
            <a:endParaRPr lang="en-US" sz="24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000" b="0" strike="noStrike" spc="-1">
                <a:solidFill>
                  <a:srgbClr val="000000"/>
                </a:solidFill>
                <a:latin typeface="Calibri"/>
              </a:rPr>
              <a:t>第三個大綱層次</a:t>
            </a:r>
            <a:endParaRPr lang="en-US" sz="20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p:spPr>
        <p:txBody>
          <a:bodyPr anchor="ctr">
            <a:noAutofit/>
          </a:bodyPr>
          <a:lstStyle/>
          <a:p>
            <a:pPr algn="ctr">
              <a:lnSpc>
                <a:spcPct val="100000"/>
              </a:lnSpc>
            </a:pPr>
            <a:r>
              <a:rPr lang="zh-TW" sz="4400" b="0" strike="noStrike" spc="-1">
                <a:solidFill>
                  <a:srgbClr val="000000"/>
                </a:solidFill>
                <a:latin typeface="Calibri"/>
              </a:rPr>
              <a:t>按一下以編輯母片標題樣式</a:t>
            </a:r>
            <a:endParaRPr lang="en-US" sz="4400" b="0" strike="noStrike" spc="-1">
              <a:solidFill>
                <a:srgbClr val="000000"/>
              </a:solidFill>
              <a:latin typeface="Calibri"/>
            </a:endParaRPr>
          </a:p>
        </p:txBody>
      </p:sp>
      <p:sp>
        <p:nvSpPr>
          <p:cNvPr id="42" name="PlaceHolder 2"/>
          <p:cNvSpPr>
            <a:spLocks noGrp="1"/>
          </p:cNvSpPr>
          <p:nvPr>
            <p:ph type="body"/>
          </p:nvPr>
        </p:nvSpPr>
        <p:spPr>
          <a:xfrm>
            <a:off x="457200" y="16002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zh-TW" sz="3200" b="0" strike="noStrike" spc="-1">
                <a:solidFill>
                  <a:srgbClr val="000000"/>
                </a:solidFill>
                <a:latin typeface="Calibri"/>
              </a:rPr>
              <a:t>按一下以編輯母片文字樣式</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zh-TW" sz="2800" b="0" strike="noStrike" spc="-1">
                <a:solidFill>
                  <a:srgbClr val="000000"/>
                </a:solidFill>
                <a:latin typeface="Calibri"/>
              </a:rPr>
              <a:t>第二層</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zh-TW" sz="2400" b="0" strike="noStrike" spc="-1">
                <a:solidFill>
                  <a:srgbClr val="000000"/>
                </a:solidFill>
                <a:latin typeface="Calibri"/>
              </a:rPr>
              <a:t>第三層</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zh-TW" sz="2000" b="0" strike="noStrike" spc="-1">
                <a:solidFill>
                  <a:srgbClr val="000000"/>
                </a:solidFill>
                <a:latin typeface="Calibri"/>
              </a:rPr>
              <a:t>第四層</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zh-TW" sz="2000" b="0" strike="noStrike" spc="-1">
                <a:solidFill>
                  <a:srgbClr val="000000"/>
                </a:solidFill>
                <a:latin typeface="Calibri"/>
              </a:rPr>
              <a:t>第五層</a:t>
            </a:r>
            <a:endParaRPr lang="en-US" sz="2000" b="0" strike="noStrike" spc="-1">
              <a:solidFill>
                <a:srgbClr val="000000"/>
              </a:solidFill>
              <a:latin typeface="Calibri"/>
            </a:endParaRPr>
          </a:p>
        </p:txBody>
      </p:sp>
      <p:sp>
        <p:nvSpPr>
          <p:cNvPr id="43" name="PlaceHolder 3"/>
          <p:cNvSpPr>
            <a:spLocks noGrp="1"/>
          </p:cNvSpPr>
          <p:nvPr>
            <p:ph type="dt"/>
          </p:nvPr>
        </p:nvSpPr>
        <p:spPr>
          <a:xfrm>
            <a:off x="457200" y="6356520"/>
            <a:ext cx="2133360" cy="364680"/>
          </a:xfrm>
          <a:prstGeom prst="rect">
            <a:avLst/>
          </a:prstGeom>
        </p:spPr>
        <p:txBody>
          <a:bodyPr anchor="ctr">
            <a:noAutofit/>
          </a:bodyPr>
          <a:lstStyle/>
          <a:p>
            <a:pPr>
              <a:lnSpc>
                <a:spcPct val="100000"/>
              </a:lnSpc>
            </a:pPr>
            <a:fld id="{893CB700-50AD-45C2-BC70-355D01B635CF}" type="datetime">
              <a:rPr lang="en-US" sz="1200" b="0" strike="noStrike" spc="-1">
                <a:solidFill>
                  <a:srgbClr val="8B8B8B"/>
                </a:solidFill>
                <a:latin typeface="Calibri"/>
              </a:rPr>
              <a:pPr>
                <a:lnSpc>
                  <a:spcPct val="100000"/>
                </a:lnSpc>
              </a:pPr>
              <a:t>1/26/2021</a:t>
            </a:fld>
            <a:endParaRPr lang="en-US" sz="1200" b="0" strike="noStrike" spc="-1">
              <a:latin typeface="Times New Roman"/>
            </a:endParaRPr>
          </a:p>
        </p:txBody>
      </p:sp>
      <p:sp>
        <p:nvSpPr>
          <p:cNvPr id="44" name="PlaceHolder 4"/>
          <p:cNvSpPr>
            <a:spLocks noGrp="1"/>
          </p:cNvSpPr>
          <p:nvPr>
            <p:ph type="ftr"/>
          </p:nvPr>
        </p:nvSpPr>
        <p:spPr>
          <a:xfrm>
            <a:off x="3124080" y="6356520"/>
            <a:ext cx="289512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57483DBB-7CD5-4C5C-8456-C41942324498}" type="slidenum">
              <a:rPr lang="en-US" sz="1200" b="0" strike="noStrike" spc="-1">
                <a:solidFill>
                  <a:srgbClr val="8B8B8B"/>
                </a:solidFill>
                <a:latin typeface="Calibri"/>
              </a:rPr>
              <a:pPr algn="r">
                <a:lnSpc>
                  <a:spcPct val="100000"/>
                </a:lnSpc>
              </a:p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714240" y="1285920"/>
            <a:ext cx="7772040" cy="1469520"/>
          </a:xfrm>
          <a:prstGeom prst="rect">
            <a:avLst/>
          </a:prstGeom>
          <a:noFill/>
          <a:ln>
            <a:noFill/>
          </a:ln>
        </p:spPr>
        <p:txBody>
          <a:bodyPr anchor="ctr">
            <a:noAutofit/>
          </a:bodyPr>
          <a:lstStyle/>
          <a:p>
            <a:pPr algn="ctr">
              <a:lnSpc>
                <a:spcPct val="100000"/>
              </a:lnSpc>
            </a:pPr>
            <a:r>
              <a:rPr lang="en-US" sz="3200" spc="-1" dirty="0">
                <a:solidFill>
                  <a:srgbClr val="000000"/>
                </a:solidFill>
                <a:latin typeface="Times New Roman"/>
              </a:rPr>
              <a:t>Beam search for the longest common subsequence problem</a:t>
            </a:r>
            <a:endParaRPr lang="en-US" sz="3200" b="0" strike="noStrike" spc="-1" dirty="0">
              <a:solidFill>
                <a:srgbClr val="000000"/>
              </a:solidFill>
              <a:latin typeface="Calibri"/>
            </a:endParaRPr>
          </a:p>
        </p:txBody>
      </p:sp>
      <p:sp>
        <p:nvSpPr>
          <p:cNvPr id="89" name="TextShape 2"/>
          <p:cNvSpPr txBox="1"/>
          <p:nvPr/>
        </p:nvSpPr>
        <p:spPr>
          <a:xfrm>
            <a:off x="1214280" y="3357720"/>
            <a:ext cx="6786360" cy="2071440"/>
          </a:xfrm>
          <a:prstGeom prst="rect">
            <a:avLst/>
          </a:prstGeom>
          <a:noFill/>
          <a:ln>
            <a:noFill/>
          </a:ln>
        </p:spPr>
        <p:txBody>
          <a:bodyPr>
            <a:normAutofit/>
          </a:bodyPr>
          <a:lstStyle/>
          <a:p>
            <a:pPr algn="ctr">
              <a:lnSpc>
                <a:spcPct val="100000"/>
              </a:lnSpc>
              <a:spcBef>
                <a:spcPts val="479"/>
              </a:spcBef>
              <a:tabLst>
                <a:tab pos="0" algn="l"/>
              </a:tabLst>
            </a:pPr>
            <a:r>
              <a:rPr lang="en-US" sz="2400" spc="-1" dirty="0">
                <a:solidFill>
                  <a:srgbClr val="000000"/>
                </a:solidFill>
                <a:latin typeface="Times New Roman"/>
              </a:rPr>
              <a:t>Christian Blum, Maria J. </a:t>
            </a:r>
            <a:r>
              <a:rPr lang="en-US" sz="2400" spc="-1" dirty="0" err="1">
                <a:solidFill>
                  <a:srgbClr val="000000"/>
                </a:solidFill>
                <a:latin typeface="Times New Roman"/>
              </a:rPr>
              <a:t>Blesa</a:t>
            </a:r>
            <a:r>
              <a:rPr lang="en-US" sz="2400" spc="-1" dirty="0">
                <a:solidFill>
                  <a:srgbClr val="000000"/>
                </a:solidFill>
                <a:latin typeface="Times New Roman"/>
              </a:rPr>
              <a:t> and </a:t>
            </a:r>
          </a:p>
          <a:p>
            <a:pPr algn="ctr">
              <a:lnSpc>
                <a:spcPct val="100000"/>
              </a:lnSpc>
              <a:spcBef>
                <a:spcPts val="479"/>
              </a:spcBef>
              <a:tabLst>
                <a:tab pos="0" algn="l"/>
              </a:tabLst>
            </a:pPr>
            <a:r>
              <a:rPr lang="en-US" sz="2400" spc="-1" dirty="0">
                <a:solidFill>
                  <a:srgbClr val="000000"/>
                </a:solidFill>
                <a:latin typeface="Times New Roman"/>
              </a:rPr>
              <a:t>Manuel </a:t>
            </a:r>
            <a:r>
              <a:rPr lang="en-US" sz="2400" spc="-1" dirty="0" err="1">
                <a:solidFill>
                  <a:srgbClr val="000000"/>
                </a:solidFill>
                <a:latin typeface="Times New Roman"/>
              </a:rPr>
              <a:t>López</a:t>
            </a:r>
            <a:r>
              <a:rPr lang="en-US" sz="2400" spc="-1" dirty="0">
                <a:solidFill>
                  <a:srgbClr val="000000"/>
                </a:solidFill>
                <a:latin typeface="Times New Roman"/>
              </a:rPr>
              <a:t>-Ibáñez</a:t>
            </a:r>
          </a:p>
          <a:p>
            <a:pPr algn="ctr">
              <a:lnSpc>
                <a:spcPct val="100000"/>
              </a:lnSpc>
              <a:spcBef>
                <a:spcPts val="479"/>
              </a:spcBef>
              <a:tabLst>
                <a:tab pos="0" algn="l"/>
              </a:tabLst>
            </a:pPr>
            <a:endParaRPr lang="en-US" sz="2400" b="0" strike="noStrike" spc="-1" dirty="0">
              <a:latin typeface="Arial"/>
            </a:endParaRPr>
          </a:p>
          <a:p>
            <a:pPr algn="ctr">
              <a:lnSpc>
                <a:spcPct val="100000"/>
              </a:lnSpc>
              <a:spcBef>
                <a:spcPts val="400"/>
              </a:spcBef>
              <a:tabLst>
                <a:tab pos="0" algn="l"/>
              </a:tabLst>
            </a:pPr>
            <a:r>
              <a:rPr lang="en-US" sz="2000" b="0" strike="noStrike" spc="-1" dirty="0">
                <a:solidFill>
                  <a:srgbClr val="000000"/>
                </a:solidFill>
                <a:latin typeface="Times New Roman"/>
              </a:rPr>
              <a:t>Computers &amp; Operations Research, Volume 36, </a:t>
            </a:r>
            <a:r>
              <a:rPr lang="en-US" sz="2000" dirty="0">
                <a:latin typeface="Times New Roman" pitchFamily="18" charset="0"/>
                <a:cs typeface="Times New Roman" pitchFamily="18" charset="0"/>
              </a:rPr>
              <a:t>Issue</a:t>
            </a:r>
            <a:r>
              <a:rPr lang="en-US" sz="2000" b="0" strike="noStrike" spc="-1" dirty="0">
                <a:solidFill>
                  <a:srgbClr val="000000"/>
                </a:solidFill>
                <a:latin typeface="Times New Roman"/>
              </a:rPr>
              <a:t> 12,</a:t>
            </a:r>
          </a:p>
          <a:p>
            <a:pPr algn="ctr">
              <a:lnSpc>
                <a:spcPct val="100000"/>
              </a:lnSpc>
              <a:spcBef>
                <a:spcPts val="400"/>
              </a:spcBef>
              <a:tabLst>
                <a:tab pos="0" algn="l"/>
              </a:tabLst>
            </a:pPr>
            <a:r>
              <a:rPr lang="en-US" sz="2000" b="0" strike="noStrike" spc="-1" dirty="0">
                <a:solidFill>
                  <a:srgbClr val="000000"/>
                </a:solidFill>
                <a:latin typeface="Times New Roman"/>
              </a:rPr>
              <a:t> </a:t>
            </a:r>
            <a:r>
              <a:rPr lang="en-US" sz="2000" spc="-1" dirty="0">
                <a:solidFill>
                  <a:srgbClr val="000000"/>
                </a:solidFill>
                <a:latin typeface="Times New Roman"/>
              </a:rPr>
              <a:t>December</a:t>
            </a:r>
            <a:r>
              <a:rPr lang="en-US" sz="2000" b="0" strike="noStrike" spc="-1" dirty="0">
                <a:solidFill>
                  <a:srgbClr val="000000"/>
                </a:solidFill>
                <a:latin typeface="Times New Roman"/>
              </a:rPr>
              <a:t> 2009, Pages </a:t>
            </a:r>
            <a:r>
              <a:rPr lang="en-US" sz="2000" spc="-1" dirty="0">
                <a:solidFill>
                  <a:srgbClr val="000000"/>
                </a:solidFill>
                <a:latin typeface="Times New Roman"/>
              </a:rPr>
              <a:t>3178</a:t>
            </a:r>
            <a:r>
              <a:rPr lang="en-US" sz="2000" b="0" strike="noStrike" spc="-1" dirty="0">
                <a:solidFill>
                  <a:srgbClr val="000000"/>
                </a:solidFill>
                <a:latin typeface="Times New Roman"/>
              </a:rPr>
              <a:t>-3186.</a:t>
            </a:r>
            <a:endParaRPr lang="en-US" sz="2000" b="0" strike="noStrike" spc="-1" dirty="0">
              <a:latin typeface="Arial"/>
            </a:endParaRPr>
          </a:p>
        </p:txBody>
      </p:sp>
      <p:sp>
        <p:nvSpPr>
          <p:cNvPr id="90" name="CustomShape 3"/>
          <p:cNvSpPr/>
          <p:nvPr/>
        </p:nvSpPr>
        <p:spPr>
          <a:xfrm>
            <a:off x="5786280" y="5643720"/>
            <a:ext cx="3114360" cy="103788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a:lnSpc>
                <a:spcPct val="100000"/>
              </a:lnSpc>
              <a:spcBef>
                <a:spcPts val="400"/>
              </a:spcBef>
              <a:tabLst>
                <a:tab pos="0" algn="l"/>
              </a:tabLst>
            </a:pPr>
            <a:r>
              <a:rPr lang="en-US" sz="2000" b="0" strike="noStrike" spc="-1" dirty="0">
                <a:solidFill>
                  <a:srgbClr val="000000"/>
                </a:solidFill>
                <a:latin typeface="Times New Roman"/>
              </a:rPr>
              <a:t>Presenter: Shin-Cheng Lin</a:t>
            </a:r>
            <a:endParaRPr lang="en-US" sz="2000" b="0" strike="noStrike" spc="-1" dirty="0">
              <a:latin typeface="Arial"/>
            </a:endParaRPr>
          </a:p>
          <a:p>
            <a:pPr>
              <a:lnSpc>
                <a:spcPct val="100000"/>
              </a:lnSpc>
              <a:spcBef>
                <a:spcPts val="400"/>
              </a:spcBef>
              <a:tabLst>
                <a:tab pos="0" algn="l"/>
              </a:tabLst>
            </a:pPr>
            <a:r>
              <a:rPr lang="en-US" sz="2000" b="0" strike="noStrike" spc="-1" dirty="0">
                <a:solidFill>
                  <a:srgbClr val="000000"/>
                </a:solidFill>
                <a:latin typeface="Times New Roman"/>
              </a:rPr>
              <a:t>Date: </a:t>
            </a:r>
            <a:r>
              <a:rPr lang="en-US" sz="2000" spc="-1" dirty="0">
                <a:solidFill>
                  <a:srgbClr val="000000"/>
                </a:solidFill>
                <a:latin typeface="Times New Roman"/>
              </a:rPr>
              <a:t>Jan</a:t>
            </a:r>
            <a:r>
              <a:rPr lang="en-US" sz="2000" b="0" strike="noStrike" spc="-1" dirty="0">
                <a:solidFill>
                  <a:srgbClr val="000000"/>
                </a:solidFill>
                <a:latin typeface="Times New Roman"/>
              </a:rPr>
              <a:t>. 26, 2021</a:t>
            </a:r>
            <a:endParaRPr lang="en-US" sz="2000"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a:solidFill>
                  <a:srgbClr val="000000"/>
                </a:solidFill>
                <a:latin typeface="Times New Roman"/>
              </a:rPr>
              <a:t>Abstract</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spc="-1" dirty="0">
                <a:solidFill>
                  <a:srgbClr val="000000"/>
                </a:solidFill>
                <a:latin typeface="Times New Roman"/>
              </a:rPr>
              <a:t>The longest common subsequence problem is a classical string problem that concerns finding the common part of a set of strings. It has several important applications, for example, pattern recognition or computational biology. Most research efforts up to now have focused on solving this problem optimally. In comparison, only few works exist dealing with heuristic approaches. In this work we present a deterministic beam search algorithm. The results show that our algorithm outperforms the current state-of-the-art approaches not only in solution quality but often also in computation time.</a:t>
            </a:r>
            <a:endParaRPr lang="en-US" sz="28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srcRect/>
          <a:stretch>
            <a:fillRect/>
          </a:stretch>
        </p:blipFill>
        <p:spPr bwMode="auto">
          <a:xfrm>
            <a:off x="142844" y="609594"/>
            <a:ext cx="8810625" cy="1962150"/>
          </a:xfrm>
          <a:prstGeom prst="rect">
            <a:avLst/>
          </a:prstGeom>
          <a:noFill/>
          <a:ln w="9525">
            <a:noFill/>
            <a:miter lim="800000"/>
            <a:headEnd/>
            <a:tailEnd/>
          </a:ln>
          <a:effectLst/>
        </p:spPr>
      </p:pic>
      <p:sp>
        <p:nvSpPr>
          <p:cNvPr id="6" name="TextShape 2"/>
          <p:cNvSpPr txBox="1"/>
          <p:nvPr/>
        </p:nvSpPr>
        <p:spPr>
          <a:xfrm>
            <a:off x="457200" y="3357562"/>
            <a:ext cx="8229240" cy="3357158"/>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spc="-1" dirty="0" err="1">
                <a:solidFill>
                  <a:srgbClr val="000000"/>
                </a:solidFill>
                <a:latin typeface="Times New Roman"/>
              </a:rPr>
              <a:t>k</a:t>
            </a:r>
            <a:r>
              <a:rPr lang="en-US" sz="2800" spc="-1" baseline="-25000" dirty="0" err="1">
                <a:solidFill>
                  <a:srgbClr val="000000"/>
                </a:solidFill>
                <a:latin typeface="Times New Roman"/>
              </a:rPr>
              <a:t>bw</a:t>
            </a:r>
            <a:r>
              <a:rPr lang="en-US" sz="2800" spc="-1" dirty="0">
                <a:solidFill>
                  <a:srgbClr val="000000"/>
                </a:solidFill>
                <a:latin typeface="Times New Roman"/>
              </a:rPr>
              <a:t>=2, </a:t>
            </a:r>
            <a:r>
              <a:rPr lang="el-GR" sz="2800" spc="-1" dirty="0">
                <a:solidFill>
                  <a:srgbClr val="000000"/>
                </a:solidFill>
                <a:latin typeface="Times New Roman"/>
              </a:rPr>
              <a:t>μ</a:t>
            </a:r>
            <a:r>
              <a:rPr lang="en-US" sz="2800" spc="-1" dirty="0">
                <a:solidFill>
                  <a:srgbClr val="000000"/>
                </a:solidFill>
                <a:latin typeface="Times New Roman"/>
              </a:rPr>
              <a:t>=1.5</a:t>
            </a: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a:rPr>
              <a:t>Each step choose maximally 2*1.5=3 extensions of the subsequences that are in the beam B.</a:t>
            </a:r>
            <a:endParaRPr lang="en-US" sz="2800" spc="-1" dirty="0">
              <a:solidFill>
                <a:srgbClr val="0000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a:solidFill>
                  <a:srgbClr val="000000"/>
                </a:solidFill>
                <a:latin typeface="Times New Roman"/>
              </a:rPr>
              <a:t>Step 1</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Choose the three extensions of the empty string with minimal rank-sum.</a:t>
            </a:r>
          </a:p>
          <a:p>
            <a:pPr marL="343080" indent="-342720">
              <a:lnSpc>
                <a:spcPct val="100000"/>
              </a:lnSpc>
              <a:spcBef>
                <a:spcPts val="561"/>
              </a:spcBef>
              <a:buClr>
                <a:srgbClr val="000000"/>
              </a:buClr>
            </a:pPr>
            <a:endParaRPr lang="en-US" sz="2800" spc="-1" dirty="0">
              <a:solidFill>
                <a:srgbClr val="00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endParaRPr lang="en-US" sz="2800" b="0" strike="noStrike" spc="-1" dirty="0">
              <a:solidFill>
                <a:srgbClr val="000000"/>
              </a:solidFill>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spc="-1" dirty="0">
                <a:solidFill>
                  <a:srgbClr val="000000"/>
                </a:solidFill>
                <a:latin typeface="Times New Roman"/>
              </a:rPr>
              <a:t>Greedy function</a:t>
            </a:r>
            <a:endParaRPr lang="en-US" sz="4400" b="0" strike="noStrike" spc="-1" dirty="0">
              <a:solidFill>
                <a:srgbClr val="000000"/>
              </a:solidFill>
              <a:latin typeface="Calibri"/>
            </a:endParaRPr>
          </a:p>
        </p:txBody>
      </p:sp>
      <p:sp>
        <p:nvSpPr>
          <p:cNvPr id="92" name="TextShape 2"/>
          <p:cNvSpPr txBox="1"/>
          <p:nvPr/>
        </p:nvSpPr>
        <p:spPr>
          <a:xfrm>
            <a:off x="457200" y="3071810"/>
            <a:ext cx="8229240" cy="3642910"/>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(1):The minimum number of remaining characters</a:t>
            </a: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(2):The reciprocal of the sum of usage rates</a:t>
            </a: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Larger is better</a:t>
            </a:r>
          </a:p>
          <a:p>
            <a:pPr marL="343080" indent="-342720">
              <a:lnSpc>
                <a:spcPct val="100000"/>
              </a:lnSpc>
              <a:spcBef>
                <a:spcPts val="561"/>
              </a:spcBef>
              <a:buClr>
                <a:srgbClr val="000000"/>
              </a:buClr>
              <a:buFont typeface="Arial"/>
              <a:buChar char="•"/>
            </a:pPr>
            <a:endParaRPr lang="en-US" sz="2800" spc="-1" dirty="0">
              <a:solidFill>
                <a:srgbClr val="00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endParaRPr lang="en-US" sz="2800" b="0" strike="noStrike" spc="-1" dirty="0">
              <a:solidFill>
                <a:srgbClr val="000000"/>
              </a:solidFill>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642910" y="1500174"/>
            <a:ext cx="6477000" cy="140017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spc="-1" dirty="0">
                <a:solidFill>
                  <a:srgbClr val="000000"/>
                </a:solidFill>
                <a:latin typeface="Times New Roman"/>
              </a:rPr>
              <a:t>Rank</a:t>
            </a:r>
            <a:endParaRPr lang="en-US" sz="4400" b="0" strike="noStrike" spc="-1" dirty="0">
              <a:solidFill>
                <a:srgbClr val="000000"/>
              </a:solidFill>
              <a:latin typeface="Calibri"/>
            </a:endParaRPr>
          </a:p>
        </p:txBody>
      </p:sp>
      <p:sp>
        <p:nvSpPr>
          <p:cNvPr id="92" name="TextShape 2"/>
          <p:cNvSpPr txBox="1"/>
          <p:nvPr/>
        </p:nvSpPr>
        <p:spPr>
          <a:xfrm>
            <a:off x="457200" y="1357298"/>
            <a:ext cx="8229240" cy="5286412"/>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The order of Greedy function values</a:t>
            </a: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s1 = </a:t>
            </a:r>
            <a:r>
              <a:rPr lang="en-US" sz="2800" spc="-1" dirty="0" err="1">
                <a:solidFill>
                  <a:srgbClr val="000000"/>
                </a:solidFill>
                <a:latin typeface="Calibri" pitchFamily="34" charset="0"/>
                <a:cs typeface="Times New Roman" pitchFamily="18" charset="0"/>
              </a:rPr>
              <a:t>bcadcdc</a:t>
            </a:r>
            <a:endParaRPr lang="en-US" sz="2800" spc="-1" dirty="0">
              <a:solidFill>
                <a:srgbClr val="000000"/>
              </a:solidFill>
              <a:latin typeface="Calibri" pitchFamily="34"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s2 = </a:t>
            </a:r>
            <a:r>
              <a:rPr lang="en-US" sz="2800" spc="-1" dirty="0" err="1">
                <a:solidFill>
                  <a:srgbClr val="000000"/>
                </a:solidFill>
                <a:latin typeface="Calibri" pitchFamily="34" charset="0"/>
                <a:cs typeface="Times New Roman" pitchFamily="18" charset="0"/>
              </a:rPr>
              <a:t>caabadd</a:t>
            </a:r>
            <a:endParaRPr lang="en-US" sz="2800" spc="-1" dirty="0">
              <a:solidFill>
                <a:srgbClr val="000000"/>
              </a:solidFill>
              <a:latin typeface="Calibri" pitchFamily="34"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s3 = </a:t>
            </a:r>
            <a:r>
              <a:rPr lang="en-US" sz="2800" spc="-1" dirty="0" err="1">
                <a:solidFill>
                  <a:srgbClr val="000000"/>
                </a:solidFill>
                <a:latin typeface="Calibri" pitchFamily="34" charset="0"/>
                <a:cs typeface="Times New Roman" pitchFamily="18" charset="0"/>
              </a:rPr>
              <a:t>bacddcd</a:t>
            </a:r>
            <a:endParaRPr lang="en-US" sz="2800" spc="-1" dirty="0">
              <a:solidFill>
                <a:srgbClr val="000000"/>
              </a:solidFill>
              <a:latin typeface="Calibri" pitchFamily="34" charset="0"/>
              <a:cs typeface="Times New Roman" pitchFamily="18" charset="0"/>
            </a:endParaRPr>
          </a:p>
          <a:p>
            <a:pPr marL="343080" indent="-342720">
              <a:lnSpc>
                <a:spcPct val="100000"/>
              </a:lnSpc>
              <a:spcBef>
                <a:spcPts val="561"/>
              </a:spcBef>
              <a:buClr>
                <a:srgbClr val="000000"/>
              </a:buClr>
              <a:buFont typeface="Arial"/>
              <a:buChar char="•"/>
            </a:pPr>
            <a:r>
              <a:rPr lang="en-US" altLang="zh-TW" sz="2800" spc="-1" dirty="0">
                <a:solidFill>
                  <a:srgbClr val="000000"/>
                </a:solidFill>
                <a:latin typeface="Times New Roman" pitchFamily="18" charset="0"/>
                <a:cs typeface="Times New Roman" pitchFamily="18" charset="0"/>
              </a:rPr>
              <a:t>T=∅</a:t>
            </a:r>
          </a:p>
          <a:p>
            <a:pPr marL="343080" indent="-342720">
              <a:lnSpc>
                <a:spcPct val="100000"/>
              </a:lnSpc>
              <a:spcBef>
                <a:spcPts val="561"/>
              </a:spcBef>
              <a:buClr>
                <a:srgbClr val="000000"/>
              </a:buClr>
              <a:buFont typeface="Arial"/>
              <a:buChar char="•"/>
            </a:pPr>
            <a:r>
              <a:rPr lang="el-GR" sz="2800" spc="-1" dirty="0">
                <a:solidFill>
                  <a:srgbClr val="000000"/>
                </a:solidFill>
                <a:latin typeface="Times New Roman" pitchFamily="18" charset="0"/>
                <a:cs typeface="Times New Roman" pitchFamily="18" charset="0"/>
              </a:rPr>
              <a:t>η</a:t>
            </a:r>
            <a:r>
              <a:rPr lang="en-US" sz="2800" spc="-1" dirty="0">
                <a:solidFill>
                  <a:srgbClr val="000000"/>
                </a:solidFill>
                <a:latin typeface="Times New Roman" pitchFamily="18" charset="0"/>
                <a:cs typeface="Times New Roman" pitchFamily="18" charset="0"/>
              </a:rPr>
              <a:t>(</a:t>
            </a:r>
            <a:r>
              <a:rPr lang="en-US" sz="2800" spc="-1" dirty="0" err="1">
                <a:solidFill>
                  <a:srgbClr val="000000"/>
                </a:solidFill>
                <a:latin typeface="Times New Roman" pitchFamily="18" charset="0"/>
                <a:cs typeface="Times New Roman" pitchFamily="18" charset="0"/>
              </a:rPr>
              <a:t>T+a</a:t>
            </a:r>
            <a:r>
              <a:rPr lang="en-US" sz="2800" spc="-1" dirty="0">
                <a:solidFill>
                  <a:srgbClr val="000000"/>
                </a:solidFill>
                <a:latin typeface="Times New Roman" pitchFamily="18" charset="0"/>
                <a:cs typeface="Times New Roman" pitchFamily="18" charset="0"/>
              </a:rPr>
              <a:t>)=4, rank(ta)=1</a:t>
            </a:r>
          </a:p>
          <a:p>
            <a:pPr marL="343080" indent="-342720">
              <a:spcBef>
                <a:spcPts val="561"/>
              </a:spcBef>
              <a:buClr>
                <a:srgbClr val="000000"/>
              </a:buClr>
              <a:buFont typeface="Arial"/>
              <a:buChar char="•"/>
            </a:pPr>
            <a:r>
              <a:rPr lang="el-GR" sz="2800" spc="-1" dirty="0">
                <a:solidFill>
                  <a:srgbClr val="000000"/>
                </a:solidFill>
                <a:latin typeface="Times New Roman" pitchFamily="18" charset="0"/>
                <a:cs typeface="Times New Roman" pitchFamily="18" charset="0"/>
              </a:rPr>
              <a:t>η</a:t>
            </a:r>
            <a:r>
              <a:rPr lang="en-US" sz="2800" spc="-1" dirty="0">
                <a:solidFill>
                  <a:srgbClr val="000000"/>
                </a:solidFill>
                <a:latin typeface="Times New Roman" pitchFamily="18" charset="0"/>
                <a:cs typeface="Times New Roman" pitchFamily="18" charset="0"/>
              </a:rPr>
              <a:t>(</a:t>
            </a:r>
            <a:r>
              <a:rPr lang="en-US" sz="2800" spc="-1" dirty="0" err="1">
                <a:solidFill>
                  <a:srgbClr val="000000"/>
                </a:solidFill>
                <a:latin typeface="Times New Roman" pitchFamily="18" charset="0"/>
                <a:cs typeface="Times New Roman" pitchFamily="18" charset="0"/>
              </a:rPr>
              <a:t>T+b</a:t>
            </a:r>
            <a:r>
              <a:rPr lang="en-US" sz="2800" spc="-1" dirty="0">
                <a:solidFill>
                  <a:srgbClr val="000000"/>
                </a:solidFill>
                <a:latin typeface="Times New Roman" pitchFamily="18" charset="0"/>
                <a:cs typeface="Times New Roman" pitchFamily="18" charset="0"/>
              </a:rPr>
              <a:t>)=3, rank(tb)=3</a:t>
            </a:r>
          </a:p>
          <a:p>
            <a:pPr marL="343080" indent="-342720">
              <a:lnSpc>
                <a:spcPct val="100000"/>
              </a:lnSpc>
              <a:spcBef>
                <a:spcPts val="561"/>
              </a:spcBef>
              <a:buClr>
                <a:srgbClr val="000000"/>
              </a:buClr>
              <a:buFont typeface="Arial"/>
              <a:buChar char="•"/>
            </a:pPr>
            <a:r>
              <a:rPr lang="el-GR" sz="2800" spc="-1" dirty="0">
                <a:solidFill>
                  <a:srgbClr val="000000"/>
                </a:solidFill>
                <a:latin typeface="Times New Roman" pitchFamily="18" charset="0"/>
                <a:cs typeface="Times New Roman" pitchFamily="18" charset="0"/>
              </a:rPr>
              <a:t>η(</a:t>
            </a:r>
            <a:r>
              <a:rPr lang="en-US" sz="2800" spc="-1" dirty="0" err="1">
                <a:solidFill>
                  <a:srgbClr val="000000"/>
                </a:solidFill>
                <a:latin typeface="Times New Roman" pitchFamily="18" charset="0"/>
                <a:cs typeface="Times New Roman" pitchFamily="18" charset="0"/>
              </a:rPr>
              <a:t>T+c</a:t>
            </a:r>
            <a:r>
              <a:rPr lang="en-US" sz="2800" spc="-1" dirty="0">
                <a:solidFill>
                  <a:srgbClr val="000000"/>
                </a:solidFill>
                <a:latin typeface="Times New Roman" pitchFamily="18" charset="0"/>
                <a:cs typeface="Times New Roman" pitchFamily="18" charset="0"/>
              </a:rPr>
              <a:t>)=4, rank(</a:t>
            </a:r>
            <a:r>
              <a:rPr lang="en-US" sz="2800" spc="-1" dirty="0" err="1">
                <a:solidFill>
                  <a:srgbClr val="000000"/>
                </a:solidFill>
                <a:latin typeface="Times New Roman" pitchFamily="18" charset="0"/>
                <a:cs typeface="Times New Roman" pitchFamily="18" charset="0"/>
              </a:rPr>
              <a:t>tc</a:t>
            </a:r>
            <a:r>
              <a:rPr lang="en-US" sz="2800" spc="-1" dirty="0">
                <a:solidFill>
                  <a:srgbClr val="000000"/>
                </a:solidFill>
                <a:latin typeface="Times New Roman" pitchFamily="18" charset="0"/>
                <a:cs typeface="Times New Roman" pitchFamily="18" charset="0"/>
              </a:rPr>
              <a:t>)=2</a:t>
            </a:r>
          </a:p>
          <a:p>
            <a:pPr marL="343080" indent="-342720">
              <a:lnSpc>
                <a:spcPct val="100000"/>
              </a:lnSpc>
              <a:spcBef>
                <a:spcPts val="561"/>
              </a:spcBef>
              <a:buClr>
                <a:srgbClr val="000000"/>
              </a:buClr>
              <a:buFont typeface="Arial"/>
              <a:buChar char="•"/>
            </a:pPr>
            <a:r>
              <a:rPr lang="el-GR" sz="2800" spc="-1" dirty="0">
                <a:solidFill>
                  <a:srgbClr val="000000"/>
                </a:solidFill>
                <a:latin typeface="Times New Roman" pitchFamily="18" charset="0"/>
                <a:cs typeface="Times New Roman" pitchFamily="18" charset="0"/>
              </a:rPr>
              <a:t>η(</a:t>
            </a:r>
            <a:r>
              <a:rPr lang="en-US" sz="2800" spc="-1" dirty="0" err="1">
                <a:solidFill>
                  <a:srgbClr val="000000"/>
                </a:solidFill>
                <a:latin typeface="Times New Roman" pitchFamily="18" charset="0"/>
                <a:cs typeface="Times New Roman" pitchFamily="18" charset="0"/>
              </a:rPr>
              <a:t>T+d</a:t>
            </a:r>
            <a:r>
              <a:rPr lang="en-US" sz="2800" spc="-1" dirty="0">
                <a:solidFill>
                  <a:srgbClr val="000000"/>
                </a:solidFill>
                <a:latin typeface="Times New Roman" pitchFamily="18" charset="0"/>
                <a:cs typeface="Times New Roman" pitchFamily="18" charset="0"/>
              </a:rPr>
              <a:t>)=1, rank(td)=4  </a:t>
            </a:r>
          </a:p>
          <a:p>
            <a:pPr marL="343080" indent="-342720">
              <a:lnSpc>
                <a:spcPct val="100000"/>
              </a:lnSpc>
              <a:spcBef>
                <a:spcPts val="561"/>
              </a:spcBef>
              <a:buClr>
                <a:srgbClr val="000000"/>
              </a:buClr>
              <a:buFont typeface="Arial"/>
              <a:buChar char="•"/>
            </a:pPr>
            <a:endParaRPr lang="en-US" sz="2800" spc="-1" dirty="0">
              <a:solidFill>
                <a:srgbClr val="00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endParaRPr lang="en-US" sz="2800" b="0" strike="noStrike" spc="-1" dirty="0">
              <a:solidFill>
                <a:srgbClr val="000000"/>
              </a:solidFill>
              <a:latin typeface="Times New Roman" pitchFamily="18" charset="0"/>
              <a:cs typeface="Times New Roman" pitchFamily="18" charset="0"/>
            </a:endParaRPr>
          </a:p>
        </p:txBody>
      </p:sp>
      <p:pic>
        <p:nvPicPr>
          <p:cNvPr id="5123" name="Picture 3"/>
          <p:cNvPicPr>
            <a:picLocks noChangeAspect="1" noChangeArrowheads="1"/>
          </p:cNvPicPr>
          <p:nvPr/>
        </p:nvPicPr>
        <p:blipFill>
          <a:blip r:embed="rId2"/>
          <a:srcRect/>
          <a:stretch>
            <a:fillRect/>
          </a:stretch>
        </p:blipFill>
        <p:spPr bwMode="auto">
          <a:xfrm>
            <a:off x="3299104" y="2428868"/>
            <a:ext cx="5702052" cy="571504"/>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642910" y="1500174"/>
            <a:ext cx="5455265" cy="1000132"/>
          </a:xfrm>
          <a:prstGeom prst="rect">
            <a:avLst/>
          </a:prstGeom>
          <a:noFill/>
          <a:ln w="9525">
            <a:noFill/>
            <a:miter lim="800000"/>
            <a:headEnd/>
            <a:tailEnd/>
          </a:ln>
          <a:effectLst/>
        </p:spPr>
      </p:pic>
      <p:sp>
        <p:nvSpPr>
          <p:cNvPr id="6" name="TextShape 1"/>
          <p:cNvSpPr txBox="1"/>
          <p:nvPr/>
        </p:nvSpPr>
        <p:spPr>
          <a:xfrm>
            <a:off x="357158" y="214290"/>
            <a:ext cx="8229240" cy="1142640"/>
          </a:xfrm>
          <a:prstGeom prst="rect">
            <a:avLst/>
          </a:prstGeom>
          <a:noFill/>
          <a:ln>
            <a:noFill/>
          </a:ln>
        </p:spPr>
        <p:txBody>
          <a:bodyPr anchor="ctr">
            <a:noAutofit/>
          </a:bodyPr>
          <a:lstStyle/>
          <a:p>
            <a:pPr>
              <a:lnSpc>
                <a:spcPct val="100000"/>
              </a:lnSpc>
            </a:pPr>
            <a:r>
              <a:rPr lang="en-US" sz="4400" spc="-1" dirty="0">
                <a:solidFill>
                  <a:srgbClr val="000000"/>
                </a:solidFill>
                <a:latin typeface="Times New Roman"/>
              </a:rPr>
              <a:t>Rank-sum</a:t>
            </a:r>
            <a:endParaRPr lang="en-US" sz="4400" b="0" strike="noStrike" spc="-1" dirty="0">
              <a:solidFill>
                <a:srgbClr val="000000"/>
              </a:solidFill>
              <a:latin typeface="Calibri"/>
            </a:endParaRPr>
          </a:p>
        </p:txBody>
      </p:sp>
      <p:sp>
        <p:nvSpPr>
          <p:cNvPr id="7" name="TextShape 2"/>
          <p:cNvSpPr txBox="1"/>
          <p:nvPr/>
        </p:nvSpPr>
        <p:spPr>
          <a:xfrm>
            <a:off x="357158" y="2643182"/>
            <a:ext cx="8358246" cy="3929090"/>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Used to compare the extensions of different subsequences</a:t>
            </a: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Smaller is better</a:t>
            </a:r>
          </a:p>
          <a:p>
            <a:pPr marL="343080" indent="-342720">
              <a:lnSpc>
                <a:spcPct val="100000"/>
              </a:lnSpc>
              <a:spcBef>
                <a:spcPts val="561"/>
              </a:spcBef>
              <a:buClr>
                <a:srgbClr val="000000"/>
              </a:buClr>
              <a:buFont typeface="Arial"/>
              <a:buChar char="•"/>
            </a:pPr>
            <a:r>
              <a:rPr lang="pl-PL" sz="2800" spc="-1" dirty="0">
                <a:solidFill>
                  <a:srgbClr val="000000"/>
                </a:solidFill>
                <a:latin typeface="Times New Roman" pitchFamily="18" charset="0"/>
                <a:cs typeface="Times New Roman" pitchFamily="18" charset="0"/>
              </a:rPr>
              <a:t>t=∅</a:t>
            </a:r>
            <a:endParaRPr lang="en-US" sz="2800" spc="-1" dirty="0">
              <a:solidFill>
                <a:srgbClr val="00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v</a:t>
            </a:r>
            <a:r>
              <a:rPr lang="pl-PL" sz="2800" spc="-1" dirty="0">
                <a:solidFill>
                  <a:srgbClr val="000000"/>
                </a:solidFill>
                <a:latin typeface="Times New Roman" pitchFamily="18" charset="0"/>
                <a:cs typeface="Times New Roman" pitchFamily="18" charset="0"/>
              </a:rPr>
              <a:t>(</a:t>
            </a:r>
            <a:r>
              <a:rPr lang="en-US" sz="2800" spc="-1" dirty="0">
                <a:solidFill>
                  <a:srgbClr val="000000"/>
                </a:solidFill>
                <a:latin typeface="Times New Roman" pitchFamily="18" charset="0"/>
                <a:cs typeface="Times New Roman" pitchFamily="18" charset="0"/>
              </a:rPr>
              <a:t>t</a:t>
            </a:r>
            <a:r>
              <a:rPr lang="pl-PL" sz="2800" spc="-1" dirty="0">
                <a:solidFill>
                  <a:srgbClr val="000000"/>
                </a:solidFill>
                <a:latin typeface="Times New Roman" pitchFamily="18" charset="0"/>
                <a:cs typeface="Times New Roman" pitchFamily="18" charset="0"/>
              </a:rPr>
              <a:t>a)=</a:t>
            </a:r>
            <a:r>
              <a:rPr lang="en-US" sz="2800" spc="-1" dirty="0">
                <a:solidFill>
                  <a:srgbClr val="000000"/>
                </a:solidFill>
                <a:latin typeface="Times New Roman" pitchFamily="18" charset="0"/>
                <a:cs typeface="Times New Roman" pitchFamily="18" charset="0"/>
              </a:rPr>
              <a:t>r(t</a:t>
            </a:r>
            <a:r>
              <a:rPr lang="en-US" sz="2800" spc="-1" baseline="-25000" dirty="0">
                <a:solidFill>
                  <a:srgbClr val="000000"/>
                </a:solidFill>
                <a:latin typeface="Times New Roman" pitchFamily="18" charset="0"/>
                <a:cs typeface="Times New Roman" pitchFamily="18" charset="0"/>
              </a:rPr>
              <a:t>0</a:t>
            </a:r>
            <a:r>
              <a:rPr lang="en-US" sz="2800" spc="-1" dirty="0">
                <a:solidFill>
                  <a:srgbClr val="000000"/>
                </a:solidFill>
                <a:latin typeface="Times New Roman" pitchFamily="18" charset="0"/>
                <a:cs typeface="Times New Roman" pitchFamily="18" charset="0"/>
              </a:rPr>
              <a:t>)+r(</a:t>
            </a:r>
            <a:r>
              <a:rPr lang="en-US" sz="2800" spc="-1" dirty="0" err="1">
                <a:solidFill>
                  <a:srgbClr val="000000"/>
                </a:solidFill>
                <a:latin typeface="Times New Roman" pitchFamily="18" charset="0"/>
                <a:cs typeface="Times New Roman" pitchFamily="18" charset="0"/>
              </a:rPr>
              <a:t>ta</a:t>
            </a:r>
            <a:r>
              <a:rPr lang="en-US" sz="2800" spc="-1" dirty="0">
                <a:solidFill>
                  <a:srgbClr val="000000"/>
                </a:solidFill>
                <a:latin typeface="Times New Roman" pitchFamily="18" charset="0"/>
                <a:cs typeface="Times New Roman" pitchFamily="18" charset="0"/>
              </a:rPr>
              <a:t>)=0+1=1</a:t>
            </a: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v</a:t>
            </a:r>
            <a:r>
              <a:rPr lang="pl-PL" sz="2800" spc="-1" dirty="0">
                <a:solidFill>
                  <a:srgbClr val="000000"/>
                </a:solidFill>
                <a:latin typeface="Times New Roman" pitchFamily="18" charset="0"/>
                <a:cs typeface="Times New Roman" pitchFamily="18" charset="0"/>
              </a:rPr>
              <a:t>(</a:t>
            </a:r>
            <a:r>
              <a:rPr lang="en-US" sz="2800" spc="-1" dirty="0">
                <a:solidFill>
                  <a:srgbClr val="000000"/>
                </a:solidFill>
                <a:latin typeface="Times New Roman" pitchFamily="18" charset="0"/>
                <a:cs typeface="Times New Roman" pitchFamily="18" charset="0"/>
              </a:rPr>
              <a:t>t</a:t>
            </a:r>
            <a:r>
              <a:rPr lang="pl-PL" sz="2800" spc="-1" dirty="0">
                <a:solidFill>
                  <a:srgbClr val="000000"/>
                </a:solidFill>
                <a:latin typeface="Times New Roman" pitchFamily="18" charset="0"/>
                <a:cs typeface="Times New Roman" pitchFamily="18" charset="0"/>
              </a:rPr>
              <a:t>b)=r(t</a:t>
            </a:r>
            <a:r>
              <a:rPr lang="pl-PL" sz="2800" spc="-1" baseline="-25000" dirty="0">
                <a:solidFill>
                  <a:srgbClr val="000000"/>
                </a:solidFill>
                <a:latin typeface="Times New Roman" pitchFamily="18" charset="0"/>
                <a:cs typeface="Times New Roman" pitchFamily="18" charset="0"/>
              </a:rPr>
              <a:t>0</a:t>
            </a:r>
            <a:r>
              <a:rPr lang="pl-PL" sz="2800" spc="-1" dirty="0">
                <a:solidFill>
                  <a:srgbClr val="000000"/>
                </a:solidFill>
                <a:latin typeface="Times New Roman" pitchFamily="18" charset="0"/>
                <a:cs typeface="Times New Roman" pitchFamily="18" charset="0"/>
              </a:rPr>
              <a:t>)+r(t</a:t>
            </a:r>
            <a:r>
              <a:rPr lang="en-US" sz="2800" spc="-1" dirty="0">
                <a:solidFill>
                  <a:srgbClr val="000000"/>
                </a:solidFill>
                <a:latin typeface="Times New Roman" pitchFamily="18" charset="0"/>
                <a:cs typeface="Times New Roman" pitchFamily="18" charset="0"/>
              </a:rPr>
              <a:t>b</a:t>
            </a:r>
            <a:r>
              <a:rPr lang="pl-PL" sz="2800" spc="-1" dirty="0">
                <a:solidFill>
                  <a:srgbClr val="000000"/>
                </a:solidFill>
                <a:latin typeface="Times New Roman" pitchFamily="18" charset="0"/>
                <a:cs typeface="Times New Roman" pitchFamily="18" charset="0"/>
              </a:rPr>
              <a:t>)= </a:t>
            </a:r>
            <a:r>
              <a:rPr lang="en-US" sz="2800" spc="-1" dirty="0">
                <a:solidFill>
                  <a:srgbClr val="000000"/>
                </a:solidFill>
                <a:latin typeface="Times New Roman" pitchFamily="18" charset="0"/>
                <a:cs typeface="Times New Roman" pitchFamily="18" charset="0"/>
              </a:rPr>
              <a:t>0+3=3</a:t>
            </a: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v</a:t>
            </a:r>
            <a:r>
              <a:rPr lang="pl-PL" sz="2800" spc="-1" dirty="0">
                <a:solidFill>
                  <a:srgbClr val="000000"/>
                </a:solidFill>
                <a:latin typeface="Times New Roman" pitchFamily="18" charset="0"/>
                <a:cs typeface="Times New Roman" pitchFamily="18" charset="0"/>
              </a:rPr>
              <a:t>(</a:t>
            </a:r>
            <a:r>
              <a:rPr lang="en-US" sz="2800" spc="-1" dirty="0">
                <a:solidFill>
                  <a:srgbClr val="000000"/>
                </a:solidFill>
                <a:latin typeface="Times New Roman" pitchFamily="18" charset="0"/>
                <a:cs typeface="Times New Roman" pitchFamily="18" charset="0"/>
              </a:rPr>
              <a:t>t</a:t>
            </a:r>
            <a:r>
              <a:rPr lang="pl-PL" sz="2800" spc="-1" dirty="0">
                <a:solidFill>
                  <a:srgbClr val="000000"/>
                </a:solidFill>
                <a:latin typeface="Times New Roman" pitchFamily="18" charset="0"/>
                <a:cs typeface="Times New Roman" pitchFamily="18" charset="0"/>
              </a:rPr>
              <a:t>c)=r(t</a:t>
            </a:r>
            <a:r>
              <a:rPr lang="pl-PL" sz="2800" spc="-1" baseline="-25000" dirty="0">
                <a:solidFill>
                  <a:srgbClr val="000000"/>
                </a:solidFill>
                <a:latin typeface="Times New Roman" pitchFamily="18" charset="0"/>
                <a:cs typeface="Times New Roman" pitchFamily="18" charset="0"/>
              </a:rPr>
              <a:t>0</a:t>
            </a:r>
            <a:r>
              <a:rPr lang="pl-PL" sz="2800" spc="-1" dirty="0">
                <a:solidFill>
                  <a:srgbClr val="000000"/>
                </a:solidFill>
                <a:latin typeface="Times New Roman" pitchFamily="18" charset="0"/>
                <a:cs typeface="Times New Roman" pitchFamily="18" charset="0"/>
              </a:rPr>
              <a:t>)+r(t</a:t>
            </a:r>
            <a:r>
              <a:rPr lang="en-US" sz="2800" spc="-1" dirty="0">
                <a:solidFill>
                  <a:srgbClr val="000000"/>
                </a:solidFill>
                <a:latin typeface="Times New Roman" pitchFamily="18" charset="0"/>
                <a:cs typeface="Times New Roman" pitchFamily="18" charset="0"/>
              </a:rPr>
              <a:t>c</a:t>
            </a:r>
            <a:r>
              <a:rPr lang="pl-PL" sz="2800" spc="-1" dirty="0">
                <a:solidFill>
                  <a:srgbClr val="000000"/>
                </a:solidFill>
                <a:latin typeface="Times New Roman" pitchFamily="18" charset="0"/>
                <a:cs typeface="Times New Roman" pitchFamily="18" charset="0"/>
              </a:rPr>
              <a:t>)= </a:t>
            </a:r>
            <a:r>
              <a:rPr lang="en-US" sz="2800" spc="-1" dirty="0">
                <a:solidFill>
                  <a:srgbClr val="000000"/>
                </a:solidFill>
                <a:latin typeface="Times New Roman" pitchFamily="18" charset="0"/>
                <a:cs typeface="Times New Roman" pitchFamily="18" charset="0"/>
              </a:rPr>
              <a:t>0+2=2</a:t>
            </a: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v</a:t>
            </a:r>
            <a:r>
              <a:rPr lang="pl-PL" sz="2800" spc="-1" dirty="0">
                <a:solidFill>
                  <a:srgbClr val="000000"/>
                </a:solidFill>
                <a:latin typeface="Times New Roman" pitchFamily="18" charset="0"/>
                <a:cs typeface="Times New Roman" pitchFamily="18" charset="0"/>
              </a:rPr>
              <a:t>(</a:t>
            </a:r>
            <a:r>
              <a:rPr lang="en-US" sz="2800" spc="-1" dirty="0">
                <a:solidFill>
                  <a:srgbClr val="000000"/>
                </a:solidFill>
                <a:latin typeface="Times New Roman" pitchFamily="18" charset="0"/>
                <a:cs typeface="Times New Roman" pitchFamily="18" charset="0"/>
              </a:rPr>
              <a:t>t</a:t>
            </a:r>
            <a:r>
              <a:rPr lang="pl-PL" sz="2800" spc="-1" dirty="0">
                <a:solidFill>
                  <a:srgbClr val="000000"/>
                </a:solidFill>
                <a:latin typeface="Times New Roman" pitchFamily="18" charset="0"/>
                <a:cs typeface="Times New Roman" pitchFamily="18" charset="0"/>
              </a:rPr>
              <a:t>d)=r(t</a:t>
            </a:r>
            <a:r>
              <a:rPr lang="pl-PL" sz="2800" spc="-1" baseline="-25000" dirty="0">
                <a:solidFill>
                  <a:srgbClr val="000000"/>
                </a:solidFill>
                <a:latin typeface="Times New Roman" pitchFamily="18" charset="0"/>
                <a:cs typeface="Times New Roman" pitchFamily="18" charset="0"/>
              </a:rPr>
              <a:t>0</a:t>
            </a:r>
            <a:r>
              <a:rPr lang="pl-PL" sz="2800" spc="-1" dirty="0">
                <a:solidFill>
                  <a:srgbClr val="000000"/>
                </a:solidFill>
                <a:latin typeface="Times New Roman" pitchFamily="18" charset="0"/>
                <a:cs typeface="Times New Roman" pitchFamily="18" charset="0"/>
              </a:rPr>
              <a:t>)+r(t</a:t>
            </a:r>
            <a:r>
              <a:rPr lang="en-US" sz="2800" spc="-1" dirty="0">
                <a:solidFill>
                  <a:srgbClr val="000000"/>
                </a:solidFill>
                <a:latin typeface="Times New Roman" pitchFamily="18" charset="0"/>
                <a:cs typeface="Times New Roman" pitchFamily="18" charset="0"/>
              </a:rPr>
              <a:t>d</a:t>
            </a:r>
            <a:r>
              <a:rPr lang="pl-PL" sz="2800" spc="-1" dirty="0">
                <a:solidFill>
                  <a:srgbClr val="000000"/>
                </a:solidFill>
                <a:latin typeface="Times New Roman" pitchFamily="18" charset="0"/>
                <a:cs typeface="Times New Roman" pitchFamily="18" charset="0"/>
              </a:rPr>
              <a:t>)= </a:t>
            </a:r>
            <a:r>
              <a:rPr lang="en-US" sz="2800" spc="-1" dirty="0">
                <a:solidFill>
                  <a:srgbClr val="000000"/>
                </a:solidFill>
                <a:latin typeface="Times New Roman" pitchFamily="18" charset="0"/>
                <a:cs typeface="Times New Roman" pitchFamily="18" charset="0"/>
              </a:rPr>
              <a:t>0+4=4</a:t>
            </a:r>
          </a:p>
          <a:p>
            <a:pPr marL="343080" indent="-342720">
              <a:lnSpc>
                <a:spcPct val="100000"/>
              </a:lnSpc>
              <a:spcBef>
                <a:spcPts val="561"/>
              </a:spcBef>
              <a:buClr>
                <a:srgbClr val="000000"/>
              </a:buClr>
              <a:buFont typeface="Arial"/>
              <a:buChar char="•"/>
            </a:pPr>
            <a:endParaRPr lang="en-US" sz="2800" b="0" strike="noStrike" spc="-1" dirty="0">
              <a:solidFill>
                <a:srgbClr val="000000"/>
              </a:solidFill>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a:solidFill>
                  <a:srgbClr val="000000"/>
                </a:solidFill>
                <a:latin typeface="Times New Roman"/>
              </a:rPr>
              <a:t>Step 1</a:t>
            </a:r>
            <a:endParaRPr lang="en-US" sz="4400" b="0" strike="noStrike" spc="-1" dirty="0">
              <a:solidFill>
                <a:srgbClr val="000000"/>
              </a:solidFill>
              <a:latin typeface="Calibri"/>
            </a:endParaRPr>
          </a:p>
        </p:txBody>
      </p:sp>
      <p:sp>
        <p:nvSpPr>
          <p:cNvPr id="92" name="TextShape 2"/>
          <p:cNvSpPr txBox="1"/>
          <p:nvPr/>
        </p:nvSpPr>
        <p:spPr>
          <a:xfrm>
            <a:off x="457200" y="1600200"/>
            <a:ext cx="8229240" cy="5114520"/>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pt-BR" sz="2800" spc="-1" dirty="0">
                <a:solidFill>
                  <a:srgbClr val="000000"/>
                </a:solidFill>
                <a:latin typeface="Times New Roman" pitchFamily="18" charset="0"/>
                <a:cs typeface="Times New Roman" pitchFamily="18" charset="0"/>
              </a:rPr>
              <a:t>v(ta)=r(t0)+r(ta)=0+1=1</a:t>
            </a:r>
          </a:p>
          <a:p>
            <a:pPr marL="343080" indent="-342720">
              <a:lnSpc>
                <a:spcPct val="100000"/>
              </a:lnSpc>
              <a:spcBef>
                <a:spcPts val="561"/>
              </a:spcBef>
              <a:buClr>
                <a:srgbClr val="000000"/>
              </a:buClr>
              <a:buFont typeface="Arial"/>
              <a:buChar char="•"/>
            </a:pPr>
            <a:r>
              <a:rPr lang="pt-BR" sz="2800" spc="-1" dirty="0">
                <a:solidFill>
                  <a:srgbClr val="000000"/>
                </a:solidFill>
                <a:latin typeface="Times New Roman" pitchFamily="18" charset="0"/>
                <a:cs typeface="Times New Roman" pitchFamily="18" charset="0"/>
              </a:rPr>
              <a:t>v(tb)=r(t0)+r(tb)= 0+3=3</a:t>
            </a:r>
          </a:p>
          <a:p>
            <a:pPr marL="343080" indent="-342720">
              <a:lnSpc>
                <a:spcPct val="100000"/>
              </a:lnSpc>
              <a:spcBef>
                <a:spcPts val="561"/>
              </a:spcBef>
              <a:buClr>
                <a:srgbClr val="000000"/>
              </a:buClr>
              <a:buFont typeface="Arial"/>
              <a:buChar char="•"/>
            </a:pPr>
            <a:r>
              <a:rPr lang="pt-BR" sz="2800" spc="-1" dirty="0">
                <a:solidFill>
                  <a:srgbClr val="000000"/>
                </a:solidFill>
                <a:latin typeface="Times New Roman" pitchFamily="18" charset="0"/>
                <a:cs typeface="Times New Roman" pitchFamily="18" charset="0"/>
              </a:rPr>
              <a:t>v(tc)=r(t0)+r(tc)= 0+2=2</a:t>
            </a:r>
          </a:p>
          <a:p>
            <a:pPr marL="343080" indent="-342720">
              <a:lnSpc>
                <a:spcPct val="100000"/>
              </a:lnSpc>
              <a:spcBef>
                <a:spcPts val="561"/>
              </a:spcBef>
              <a:buClr>
                <a:srgbClr val="000000"/>
              </a:buClr>
              <a:buFont typeface="Arial"/>
              <a:buChar char="•"/>
            </a:pPr>
            <a:r>
              <a:rPr lang="pt-BR" sz="2800" spc="-1" dirty="0">
                <a:solidFill>
                  <a:srgbClr val="000000"/>
                </a:solidFill>
                <a:latin typeface="Times New Roman" pitchFamily="18" charset="0"/>
                <a:cs typeface="Times New Roman" pitchFamily="18" charset="0"/>
              </a:rPr>
              <a:t>v(td)=r(t0)+r(td)= 0+4=4</a:t>
            </a: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C={</a:t>
            </a:r>
            <a:r>
              <a:rPr lang="en-US" sz="2800" spc="-1" dirty="0" err="1">
                <a:solidFill>
                  <a:srgbClr val="000000"/>
                </a:solidFill>
                <a:latin typeface="Times New Roman" pitchFamily="18" charset="0"/>
                <a:cs typeface="Times New Roman" pitchFamily="18" charset="0"/>
              </a:rPr>
              <a:t>a,b,c</a:t>
            </a:r>
            <a:r>
              <a:rPr lang="en-US" sz="2800" spc="-1" dirty="0">
                <a:solidFill>
                  <a:srgbClr val="000000"/>
                </a:solidFill>
                <a:latin typeface="Times New Roman" pitchFamily="18" charset="0"/>
                <a:cs typeface="Times New Roman" pitchFamily="18"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a:solidFill>
                  <a:srgbClr val="000000"/>
                </a:solidFill>
                <a:latin typeface="Times New Roman"/>
              </a:rPr>
              <a:t>Step 2 </a:t>
            </a:r>
            <a:endParaRPr lang="en-US" sz="4400" b="0" strike="noStrike" spc="-1" dirty="0">
              <a:solidFill>
                <a:srgbClr val="000000"/>
              </a:solidFill>
              <a:latin typeface="Calibri"/>
            </a:endParaRPr>
          </a:p>
        </p:txBody>
      </p:sp>
      <p:sp>
        <p:nvSpPr>
          <p:cNvPr id="92" name="TextShape 2"/>
          <p:cNvSpPr txBox="1"/>
          <p:nvPr/>
        </p:nvSpPr>
        <p:spPr>
          <a:xfrm>
            <a:off x="457200" y="1600200"/>
            <a:ext cx="8229240" cy="1971676"/>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C={</a:t>
            </a:r>
            <a:r>
              <a:rPr lang="en-US" sz="2800" spc="-1" dirty="0" err="1">
                <a:solidFill>
                  <a:srgbClr val="000000"/>
                </a:solidFill>
                <a:latin typeface="Times New Roman" pitchFamily="18" charset="0"/>
                <a:cs typeface="Times New Roman" pitchFamily="18" charset="0"/>
              </a:rPr>
              <a:t>a,b,c</a:t>
            </a:r>
            <a:r>
              <a:rPr lang="en-US" sz="2800" spc="-1" dirty="0">
                <a:solidFill>
                  <a:srgbClr val="000000"/>
                </a:solidFill>
                <a:latin typeface="Times New Roman" pitchFamily="18" charset="0"/>
                <a:cs typeface="Times New Roman" pitchFamily="18" charset="0"/>
              </a:rPr>
              <a:t>}</a:t>
            </a:r>
          </a:p>
          <a:p>
            <a:pPr marL="343080" indent="-342720">
              <a:lnSpc>
                <a:spcPct val="100000"/>
              </a:lnSpc>
              <a:spcBef>
                <a:spcPts val="561"/>
              </a:spcBef>
              <a:buClr>
                <a:srgbClr val="000000"/>
              </a:buClr>
              <a:buFont typeface="Arial"/>
              <a:buChar char="•"/>
            </a:pPr>
            <a:r>
              <a:rPr lang="en-US" sz="2800" spc="-1" dirty="0" err="1">
                <a:solidFill>
                  <a:srgbClr val="000000"/>
                </a:solidFill>
                <a:latin typeface="Times New Roman" pitchFamily="18" charset="0"/>
                <a:cs typeface="Times New Roman" pitchFamily="18" charset="0"/>
              </a:rPr>
              <a:t>k</a:t>
            </a:r>
            <a:r>
              <a:rPr lang="en-US" sz="2800" spc="-1" baseline="-25000" dirty="0" err="1">
                <a:solidFill>
                  <a:srgbClr val="000000"/>
                </a:solidFill>
                <a:latin typeface="Times New Roman" pitchFamily="18" charset="0"/>
                <a:cs typeface="Times New Roman" pitchFamily="18" charset="0"/>
              </a:rPr>
              <a:t>bw</a:t>
            </a:r>
            <a:r>
              <a:rPr lang="en-US" sz="2800" spc="-1" dirty="0">
                <a:solidFill>
                  <a:srgbClr val="000000"/>
                </a:solidFill>
                <a:latin typeface="Times New Roman" pitchFamily="18" charset="0"/>
                <a:cs typeface="Times New Roman" pitchFamily="18" charset="0"/>
              </a:rPr>
              <a:t>=2, the beam width is two, so we have to discard one of the chosen extensions with the minimum upper bound.</a:t>
            </a:r>
          </a:p>
          <a:p>
            <a:pPr marL="343080" indent="-342720">
              <a:lnSpc>
                <a:spcPct val="100000"/>
              </a:lnSpc>
              <a:spcBef>
                <a:spcPts val="561"/>
              </a:spcBef>
              <a:buClr>
                <a:srgbClr val="000000"/>
              </a:buClr>
              <a:buFont typeface="Arial"/>
              <a:buChar char="•"/>
            </a:pPr>
            <a:endParaRPr lang="en-US" sz="2800" spc="-1" dirty="0">
              <a:solidFill>
                <a:srgbClr val="000000"/>
              </a:solidFill>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spc="-1" dirty="0">
                <a:solidFill>
                  <a:srgbClr val="000000"/>
                </a:solidFill>
                <a:latin typeface="Times New Roman" pitchFamily="18" charset="0"/>
                <a:cs typeface="Times New Roman" pitchFamily="18" charset="0"/>
              </a:rPr>
              <a:t>Upper bound</a:t>
            </a:r>
            <a:r>
              <a:rPr lang="en-US" sz="4400" b="0" strike="noStrike" spc="-1" dirty="0">
                <a:solidFill>
                  <a:srgbClr val="000000"/>
                </a:solidFill>
                <a:latin typeface="Times New Roman"/>
              </a:rPr>
              <a:t> </a:t>
            </a:r>
            <a:endParaRPr lang="en-US" sz="4400" b="0" strike="noStrike" spc="-1" dirty="0">
              <a:solidFill>
                <a:srgbClr val="000000"/>
              </a:solidFill>
              <a:latin typeface="Calibri"/>
            </a:endParaRPr>
          </a:p>
        </p:txBody>
      </p:sp>
      <p:sp>
        <p:nvSpPr>
          <p:cNvPr id="92" name="TextShape 2"/>
          <p:cNvSpPr txBox="1"/>
          <p:nvPr/>
        </p:nvSpPr>
        <p:spPr>
          <a:xfrm>
            <a:off x="457200" y="1600200"/>
            <a:ext cx="8229240" cy="1971676"/>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s1 = </a:t>
            </a:r>
            <a:r>
              <a:rPr lang="en-US" sz="2800" spc="-1" dirty="0" err="1">
                <a:solidFill>
                  <a:srgbClr val="000000"/>
                </a:solidFill>
                <a:latin typeface="Times New Roman" pitchFamily="18" charset="0"/>
                <a:cs typeface="Times New Roman" pitchFamily="18" charset="0"/>
              </a:rPr>
              <a:t>bca</a:t>
            </a:r>
            <a:r>
              <a:rPr lang="en-US" sz="2800" spc="-1" dirty="0" err="1">
                <a:solidFill>
                  <a:srgbClr val="FF0000"/>
                </a:solidFill>
                <a:latin typeface="Times New Roman" pitchFamily="18" charset="0"/>
                <a:cs typeface="Times New Roman" pitchFamily="18" charset="0"/>
              </a:rPr>
              <a:t>dcdc</a:t>
            </a:r>
            <a:endParaRPr lang="en-US" sz="2800" spc="-1" dirty="0">
              <a:solidFill>
                <a:srgbClr val="FF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s2 = </a:t>
            </a:r>
            <a:r>
              <a:rPr lang="en-US" sz="2800" spc="-1" dirty="0" err="1">
                <a:solidFill>
                  <a:srgbClr val="000000"/>
                </a:solidFill>
                <a:latin typeface="Times New Roman" pitchFamily="18" charset="0"/>
                <a:cs typeface="Times New Roman" pitchFamily="18" charset="0"/>
              </a:rPr>
              <a:t>ca</a:t>
            </a:r>
            <a:r>
              <a:rPr lang="en-US" sz="2800" spc="-1" dirty="0" err="1">
                <a:solidFill>
                  <a:srgbClr val="FF0000"/>
                </a:solidFill>
                <a:latin typeface="Times New Roman" pitchFamily="18" charset="0"/>
                <a:cs typeface="Times New Roman" pitchFamily="18" charset="0"/>
              </a:rPr>
              <a:t>abadd</a:t>
            </a:r>
            <a:endParaRPr lang="en-US" sz="2800" spc="-1" dirty="0">
              <a:solidFill>
                <a:srgbClr val="FF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s3 = </a:t>
            </a:r>
            <a:r>
              <a:rPr lang="en-US" sz="2800" spc="-1" dirty="0" err="1">
                <a:solidFill>
                  <a:srgbClr val="000000"/>
                </a:solidFill>
                <a:latin typeface="Times New Roman" pitchFamily="18" charset="0"/>
                <a:cs typeface="Times New Roman" pitchFamily="18" charset="0"/>
              </a:rPr>
              <a:t>ba</a:t>
            </a:r>
            <a:r>
              <a:rPr lang="en-US" sz="2800" spc="-1" dirty="0" err="1">
                <a:solidFill>
                  <a:srgbClr val="FF0000"/>
                </a:solidFill>
                <a:latin typeface="Times New Roman" pitchFamily="18" charset="0"/>
                <a:cs typeface="Times New Roman" pitchFamily="18" charset="0"/>
              </a:rPr>
              <a:t>cddcd</a:t>
            </a:r>
            <a:endParaRPr lang="en-US" sz="2800" spc="-1" dirty="0">
              <a:solidFill>
                <a:srgbClr val="FF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t={∅}</a:t>
            </a:r>
          </a:p>
          <a:p>
            <a:pPr marL="343080" indent="-342720">
              <a:lnSpc>
                <a:spcPct val="100000"/>
              </a:lnSpc>
              <a:spcBef>
                <a:spcPts val="561"/>
              </a:spcBef>
              <a:buClr>
                <a:srgbClr val="000000"/>
              </a:buClr>
              <a:buFont typeface="Arial"/>
              <a:buChar char="•"/>
            </a:pPr>
            <a:endParaRPr lang="en-US" sz="2800" spc="-1" dirty="0">
              <a:solidFill>
                <a:srgbClr val="00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UB(a)=|a|+0+0+0+2=3</a:t>
            </a:r>
          </a:p>
        </p:txBody>
      </p:sp>
      <p:pic>
        <p:nvPicPr>
          <p:cNvPr id="6146" name="Picture 2"/>
          <p:cNvPicPr>
            <a:picLocks noChangeAspect="1" noChangeArrowheads="1"/>
          </p:cNvPicPr>
          <p:nvPr/>
        </p:nvPicPr>
        <p:blipFill>
          <a:blip r:embed="rId2"/>
          <a:srcRect/>
          <a:stretch>
            <a:fillRect/>
          </a:stretch>
        </p:blipFill>
        <p:spPr bwMode="auto">
          <a:xfrm>
            <a:off x="4000496" y="2428868"/>
            <a:ext cx="4753754" cy="862014"/>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spc="-1" dirty="0">
                <a:solidFill>
                  <a:srgbClr val="000000"/>
                </a:solidFill>
                <a:latin typeface="Times New Roman" pitchFamily="18" charset="0"/>
                <a:cs typeface="Times New Roman" pitchFamily="18" charset="0"/>
              </a:rPr>
              <a:t>Upper bound</a:t>
            </a:r>
            <a:r>
              <a:rPr lang="en-US" sz="4400" b="0" strike="noStrike" spc="-1" dirty="0">
                <a:solidFill>
                  <a:srgbClr val="000000"/>
                </a:solidFill>
                <a:latin typeface="Times New Roman"/>
              </a:rPr>
              <a:t> </a:t>
            </a:r>
            <a:endParaRPr lang="en-US" sz="4400" b="0" strike="noStrike" spc="-1" dirty="0">
              <a:solidFill>
                <a:srgbClr val="000000"/>
              </a:solidFill>
              <a:latin typeface="Calibri"/>
            </a:endParaRPr>
          </a:p>
        </p:txBody>
      </p:sp>
      <p:sp>
        <p:nvSpPr>
          <p:cNvPr id="92" name="TextShape 2"/>
          <p:cNvSpPr txBox="1"/>
          <p:nvPr/>
        </p:nvSpPr>
        <p:spPr>
          <a:xfrm>
            <a:off x="457200" y="1600200"/>
            <a:ext cx="8229240" cy="1971676"/>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s1 = </a:t>
            </a:r>
            <a:r>
              <a:rPr lang="en-US" sz="2800" spc="-1" dirty="0" err="1">
                <a:solidFill>
                  <a:srgbClr val="000000"/>
                </a:solidFill>
                <a:latin typeface="Times New Roman" pitchFamily="18" charset="0"/>
                <a:cs typeface="Times New Roman" pitchFamily="18" charset="0"/>
              </a:rPr>
              <a:t>b</a:t>
            </a:r>
            <a:r>
              <a:rPr lang="en-US" sz="2800" spc="-1" dirty="0" err="1">
                <a:solidFill>
                  <a:srgbClr val="FF0000"/>
                </a:solidFill>
                <a:latin typeface="Times New Roman" pitchFamily="18" charset="0"/>
                <a:cs typeface="Times New Roman" pitchFamily="18" charset="0"/>
              </a:rPr>
              <a:t>cadcdc</a:t>
            </a:r>
            <a:endParaRPr lang="en-US" sz="2800" spc="-1" dirty="0">
              <a:solidFill>
                <a:srgbClr val="FF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s2 = </a:t>
            </a:r>
            <a:r>
              <a:rPr lang="en-US" sz="2800" spc="-1" dirty="0" err="1">
                <a:solidFill>
                  <a:srgbClr val="000000"/>
                </a:solidFill>
                <a:latin typeface="Times New Roman" pitchFamily="18" charset="0"/>
                <a:cs typeface="Times New Roman" pitchFamily="18" charset="0"/>
              </a:rPr>
              <a:t>caab</a:t>
            </a:r>
            <a:r>
              <a:rPr lang="en-US" sz="2800" spc="-1" dirty="0" err="1">
                <a:solidFill>
                  <a:srgbClr val="FF0000"/>
                </a:solidFill>
                <a:latin typeface="Times New Roman" pitchFamily="18" charset="0"/>
                <a:cs typeface="Times New Roman" pitchFamily="18" charset="0"/>
              </a:rPr>
              <a:t>add</a:t>
            </a:r>
            <a:endParaRPr lang="en-US" sz="2800" spc="-1" dirty="0">
              <a:solidFill>
                <a:srgbClr val="FF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s3 = </a:t>
            </a:r>
            <a:r>
              <a:rPr lang="en-US" sz="2800" spc="-1" dirty="0" err="1">
                <a:solidFill>
                  <a:srgbClr val="000000"/>
                </a:solidFill>
                <a:latin typeface="Times New Roman" pitchFamily="18" charset="0"/>
                <a:cs typeface="Times New Roman" pitchFamily="18" charset="0"/>
              </a:rPr>
              <a:t>b</a:t>
            </a:r>
            <a:r>
              <a:rPr lang="en-US" sz="2800" spc="-1" dirty="0" err="1">
                <a:solidFill>
                  <a:srgbClr val="FF0000"/>
                </a:solidFill>
                <a:latin typeface="Times New Roman" pitchFamily="18" charset="0"/>
                <a:cs typeface="Times New Roman" pitchFamily="18" charset="0"/>
              </a:rPr>
              <a:t>acddcd</a:t>
            </a:r>
            <a:endParaRPr lang="en-US" sz="2800" spc="-1" dirty="0">
              <a:solidFill>
                <a:srgbClr val="FF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t={∅}</a:t>
            </a:r>
          </a:p>
          <a:p>
            <a:pPr marL="343080" indent="-342720">
              <a:lnSpc>
                <a:spcPct val="100000"/>
              </a:lnSpc>
              <a:spcBef>
                <a:spcPts val="561"/>
              </a:spcBef>
              <a:buClr>
                <a:srgbClr val="000000"/>
              </a:buClr>
              <a:buFont typeface="Arial"/>
              <a:buChar char="•"/>
            </a:pPr>
            <a:endParaRPr lang="en-US" sz="2800" spc="-1" dirty="0">
              <a:solidFill>
                <a:srgbClr val="00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UB(b)=|b|+1+0+0+2=4</a:t>
            </a:r>
          </a:p>
        </p:txBody>
      </p:sp>
      <p:pic>
        <p:nvPicPr>
          <p:cNvPr id="6146" name="Picture 2"/>
          <p:cNvPicPr>
            <a:picLocks noChangeAspect="1" noChangeArrowheads="1"/>
          </p:cNvPicPr>
          <p:nvPr/>
        </p:nvPicPr>
        <p:blipFill>
          <a:blip r:embed="rId2"/>
          <a:srcRect/>
          <a:stretch>
            <a:fillRect/>
          </a:stretch>
        </p:blipFill>
        <p:spPr bwMode="auto">
          <a:xfrm>
            <a:off x="4000496" y="2428868"/>
            <a:ext cx="4753754" cy="862014"/>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spc="-1" dirty="0">
                <a:solidFill>
                  <a:srgbClr val="000000"/>
                </a:solidFill>
                <a:latin typeface="Times New Roman" pitchFamily="18" charset="0"/>
                <a:cs typeface="Times New Roman" pitchFamily="18" charset="0"/>
              </a:rPr>
              <a:t>Upper bound</a:t>
            </a:r>
            <a:r>
              <a:rPr lang="en-US" sz="4400" b="0" strike="noStrike" spc="-1" dirty="0">
                <a:solidFill>
                  <a:srgbClr val="000000"/>
                </a:solidFill>
                <a:latin typeface="Times New Roman"/>
              </a:rPr>
              <a:t> </a:t>
            </a:r>
            <a:endParaRPr lang="en-US" sz="4400" b="0" strike="noStrike" spc="-1" dirty="0">
              <a:solidFill>
                <a:srgbClr val="000000"/>
              </a:solidFill>
              <a:latin typeface="Calibri"/>
            </a:endParaRPr>
          </a:p>
        </p:txBody>
      </p:sp>
      <p:sp>
        <p:nvSpPr>
          <p:cNvPr id="92" name="TextShape 2"/>
          <p:cNvSpPr txBox="1"/>
          <p:nvPr/>
        </p:nvSpPr>
        <p:spPr>
          <a:xfrm>
            <a:off x="457200" y="1600200"/>
            <a:ext cx="8229240" cy="1971676"/>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s1 = </a:t>
            </a:r>
            <a:r>
              <a:rPr lang="en-US" sz="2800" spc="-1" dirty="0" err="1">
                <a:solidFill>
                  <a:srgbClr val="000000"/>
                </a:solidFill>
                <a:latin typeface="Times New Roman" pitchFamily="18" charset="0"/>
                <a:cs typeface="Times New Roman" pitchFamily="18" charset="0"/>
              </a:rPr>
              <a:t>bc</a:t>
            </a:r>
            <a:r>
              <a:rPr lang="en-US" sz="2800" spc="-1" dirty="0" err="1">
                <a:solidFill>
                  <a:srgbClr val="FF0000"/>
                </a:solidFill>
                <a:latin typeface="Times New Roman" pitchFamily="18" charset="0"/>
                <a:cs typeface="Times New Roman" pitchFamily="18" charset="0"/>
              </a:rPr>
              <a:t>adcdc</a:t>
            </a:r>
            <a:endParaRPr lang="en-US" sz="2800" spc="-1" dirty="0">
              <a:solidFill>
                <a:srgbClr val="FF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s2 = </a:t>
            </a:r>
            <a:r>
              <a:rPr lang="en-US" sz="2800" spc="-1" dirty="0" err="1">
                <a:solidFill>
                  <a:srgbClr val="000000"/>
                </a:solidFill>
                <a:latin typeface="Times New Roman" pitchFamily="18" charset="0"/>
                <a:cs typeface="Times New Roman" pitchFamily="18" charset="0"/>
              </a:rPr>
              <a:t>c</a:t>
            </a:r>
            <a:r>
              <a:rPr lang="en-US" sz="2800" spc="-1" dirty="0" err="1">
                <a:solidFill>
                  <a:srgbClr val="FF0000"/>
                </a:solidFill>
                <a:latin typeface="Times New Roman" pitchFamily="18" charset="0"/>
                <a:cs typeface="Times New Roman" pitchFamily="18" charset="0"/>
              </a:rPr>
              <a:t>aabadd</a:t>
            </a:r>
            <a:endParaRPr lang="en-US" sz="2800" spc="-1" dirty="0">
              <a:solidFill>
                <a:srgbClr val="FF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s3 = </a:t>
            </a:r>
            <a:r>
              <a:rPr lang="en-US" sz="2800" spc="-1" dirty="0" err="1">
                <a:solidFill>
                  <a:srgbClr val="000000"/>
                </a:solidFill>
                <a:latin typeface="Times New Roman" pitchFamily="18" charset="0"/>
                <a:cs typeface="Times New Roman" pitchFamily="18" charset="0"/>
              </a:rPr>
              <a:t>bac</a:t>
            </a:r>
            <a:r>
              <a:rPr lang="en-US" sz="2800" spc="-1" dirty="0" err="1">
                <a:solidFill>
                  <a:srgbClr val="FF0000"/>
                </a:solidFill>
                <a:latin typeface="Times New Roman" pitchFamily="18" charset="0"/>
                <a:cs typeface="Times New Roman" pitchFamily="18" charset="0"/>
              </a:rPr>
              <a:t>ddcd</a:t>
            </a:r>
            <a:endParaRPr lang="en-US" sz="2800" spc="-1" dirty="0">
              <a:solidFill>
                <a:srgbClr val="FF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t={∅}</a:t>
            </a:r>
          </a:p>
          <a:p>
            <a:pPr marL="343080" indent="-342720">
              <a:lnSpc>
                <a:spcPct val="100000"/>
              </a:lnSpc>
              <a:spcBef>
                <a:spcPts val="561"/>
              </a:spcBef>
              <a:buClr>
                <a:srgbClr val="000000"/>
              </a:buClr>
              <a:buFont typeface="Arial"/>
              <a:buChar char="•"/>
            </a:pPr>
            <a:endParaRPr lang="en-US" sz="2800" spc="-1" dirty="0">
              <a:solidFill>
                <a:srgbClr val="00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UB(c)=|c|+0+0+0+2=3</a:t>
            </a:r>
          </a:p>
        </p:txBody>
      </p:sp>
      <p:pic>
        <p:nvPicPr>
          <p:cNvPr id="6146" name="Picture 2"/>
          <p:cNvPicPr>
            <a:picLocks noChangeAspect="1" noChangeArrowheads="1"/>
          </p:cNvPicPr>
          <p:nvPr/>
        </p:nvPicPr>
        <p:blipFill>
          <a:blip r:embed="rId2"/>
          <a:srcRect/>
          <a:stretch>
            <a:fillRect/>
          </a:stretch>
        </p:blipFill>
        <p:spPr bwMode="auto">
          <a:xfrm>
            <a:off x="4000496" y="2428868"/>
            <a:ext cx="4753754" cy="862014"/>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a:solidFill>
                  <a:srgbClr val="000000"/>
                </a:solidFill>
                <a:latin typeface="Times New Roman"/>
              </a:rPr>
              <a:t>Step 2 </a:t>
            </a:r>
            <a:endParaRPr lang="en-US" sz="4400" b="0" strike="noStrike" spc="-1" dirty="0">
              <a:solidFill>
                <a:srgbClr val="000000"/>
              </a:solidFill>
              <a:latin typeface="Calibri"/>
            </a:endParaRPr>
          </a:p>
        </p:txBody>
      </p:sp>
      <p:sp>
        <p:nvSpPr>
          <p:cNvPr id="92" name="TextShape 2"/>
          <p:cNvSpPr txBox="1"/>
          <p:nvPr/>
        </p:nvSpPr>
        <p:spPr>
          <a:xfrm>
            <a:off x="457200" y="1600200"/>
            <a:ext cx="8229240" cy="4472006"/>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C={</a:t>
            </a:r>
            <a:r>
              <a:rPr lang="en-US" sz="2800" spc="-1" dirty="0" err="1">
                <a:solidFill>
                  <a:srgbClr val="000000"/>
                </a:solidFill>
                <a:latin typeface="Times New Roman" pitchFamily="18" charset="0"/>
                <a:cs typeface="Times New Roman" pitchFamily="18" charset="0"/>
              </a:rPr>
              <a:t>a,b,c</a:t>
            </a:r>
            <a:r>
              <a:rPr lang="en-US" sz="2800" spc="-1" dirty="0">
                <a:solidFill>
                  <a:srgbClr val="000000"/>
                </a:solidFill>
                <a:latin typeface="Times New Roman" pitchFamily="18" charset="0"/>
                <a:cs typeface="Times New Roman" pitchFamily="18" charset="0"/>
              </a:rPr>
              <a:t>}</a:t>
            </a:r>
          </a:p>
          <a:p>
            <a:pPr marL="343080" indent="-342720">
              <a:lnSpc>
                <a:spcPct val="100000"/>
              </a:lnSpc>
              <a:spcBef>
                <a:spcPts val="561"/>
              </a:spcBef>
              <a:buClr>
                <a:srgbClr val="000000"/>
              </a:buClr>
              <a:buFont typeface="Arial"/>
              <a:buChar char="•"/>
            </a:pPr>
            <a:r>
              <a:rPr lang="en-US" sz="2800" spc="-1" dirty="0" err="1">
                <a:solidFill>
                  <a:srgbClr val="000000"/>
                </a:solidFill>
                <a:latin typeface="Times New Roman" pitchFamily="18" charset="0"/>
                <a:cs typeface="Times New Roman" pitchFamily="18" charset="0"/>
              </a:rPr>
              <a:t>k</a:t>
            </a:r>
            <a:r>
              <a:rPr lang="en-US" sz="2800" spc="-1" baseline="-25000" dirty="0" err="1">
                <a:solidFill>
                  <a:srgbClr val="000000"/>
                </a:solidFill>
                <a:latin typeface="Times New Roman" pitchFamily="18" charset="0"/>
                <a:cs typeface="Times New Roman" pitchFamily="18" charset="0"/>
              </a:rPr>
              <a:t>bw</a:t>
            </a:r>
            <a:r>
              <a:rPr lang="en-US" sz="2800" spc="-1" dirty="0">
                <a:solidFill>
                  <a:srgbClr val="000000"/>
                </a:solidFill>
                <a:latin typeface="Times New Roman" pitchFamily="18" charset="0"/>
                <a:cs typeface="Times New Roman" pitchFamily="18" charset="0"/>
              </a:rPr>
              <a:t>=2, the beam width is two, so we have to discard one of the chosen extensions with the minimum upper bound.</a:t>
            </a:r>
          </a:p>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UB(a)=3</a:t>
            </a:r>
          </a:p>
          <a:p>
            <a:pPr marL="343080" indent="-342720">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UB(b)=4</a:t>
            </a:r>
          </a:p>
          <a:p>
            <a:pPr marL="343080" indent="-342720">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UB(c)=3</a:t>
            </a:r>
          </a:p>
          <a:p>
            <a:pPr marL="343080" indent="-342720">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T</a:t>
            </a:r>
            <a:r>
              <a:rPr lang="en-US" sz="2800" spc="-1">
                <a:solidFill>
                  <a:srgbClr val="000000"/>
                </a:solidFill>
                <a:latin typeface="Times New Roman" pitchFamily="18" charset="0"/>
                <a:cs typeface="Times New Roman" pitchFamily="18" charset="0"/>
              </a:rPr>
              <a:t>={</a:t>
            </a:r>
            <a:r>
              <a:rPr lang="en-US" sz="2800" spc="-1" dirty="0" err="1">
                <a:solidFill>
                  <a:srgbClr val="000000"/>
                </a:solidFill>
                <a:latin typeface="Times New Roman" pitchFamily="18" charset="0"/>
                <a:cs typeface="Times New Roman" pitchFamily="18" charset="0"/>
              </a:rPr>
              <a:t>a,b</a:t>
            </a:r>
            <a:r>
              <a:rPr lang="en-US" sz="2800" spc="-1" dirty="0">
                <a:solidFill>
                  <a:srgbClr val="000000"/>
                </a:solidFill>
                <a:latin typeface="Times New Roman" pitchFamily="18" charset="0"/>
                <a:cs typeface="Times New Roman" pitchFamily="18" charset="0"/>
              </a:rPr>
              <a:t>}</a:t>
            </a:r>
          </a:p>
          <a:p>
            <a:pPr marL="343080" indent="-342720">
              <a:lnSpc>
                <a:spcPct val="100000"/>
              </a:lnSpc>
              <a:spcBef>
                <a:spcPts val="561"/>
              </a:spcBef>
              <a:buClr>
                <a:srgbClr val="000000"/>
              </a:buClr>
              <a:buFont typeface="Arial"/>
              <a:buChar char="•"/>
            </a:pPr>
            <a:endParaRPr lang="en-US" sz="2800" spc="-1" dirty="0">
              <a:solidFill>
                <a:srgbClr val="000000"/>
              </a:solidFill>
              <a:latin typeface="Times New Roman" pitchFamily="18" charset="0"/>
              <a:cs typeface="Times New Roman" pitchFamily="18" charset="0"/>
            </a:endParaRPr>
          </a:p>
          <a:p>
            <a:pPr marL="343080" indent="-342720">
              <a:lnSpc>
                <a:spcPct val="100000"/>
              </a:lnSpc>
              <a:spcBef>
                <a:spcPts val="561"/>
              </a:spcBef>
              <a:buClr>
                <a:srgbClr val="000000"/>
              </a:buClr>
              <a:buFont typeface="Arial"/>
              <a:buChar char="•"/>
            </a:pPr>
            <a:endParaRPr lang="en-US" sz="2800" spc="-1" dirty="0">
              <a:solidFill>
                <a:srgbClr val="000000"/>
              </a:solidFill>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457200" y="274680"/>
            <a:ext cx="8229240" cy="1142640"/>
          </a:xfrm>
          <a:prstGeom prst="rect">
            <a:avLst/>
          </a:prstGeom>
          <a:noFill/>
          <a:ln>
            <a:noFill/>
          </a:ln>
        </p:spPr>
        <p:txBody>
          <a:bodyPr anchor="ctr">
            <a:noAutofit/>
          </a:bodyPr>
          <a:lstStyle/>
          <a:p>
            <a:pPr>
              <a:lnSpc>
                <a:spcPct val="100000"/>
              </a:lnSpc>
            </a:pPr>
            <a:r>
              <a:rPr lang="en-US" sz="4400" b="0" strike="noStrike" spc="-1" dirty="0">
                <a:solidFill>
                  <a:srgbClr val="000000"/>
                </a:solidFill>
                <a:latin typeface="Times New Roman"/>
              </a:rPr>
              <a:t>Step 3 </a:t>
            </a:r>
            <a:endParaRPr lang="en-US" sz="4400" b="0" strike="noStrike" spc="-1" dirty="0">
              <a:solidFill>
                <a:srgbClr val="000000"/>
              </a:solidFill>
              <a:latin typeface="Calibri"/>
            </a:endParaRPr>
          </a:p>
        </p:txBody>
      </p:sp>
      <p:sp>
        <p:nvSpPr>
          <p:cNvPr id="92" name="TextShape 2"/>
          <p:cNvSpPr txBox="1"/>
          <p:nvPr/>
        </p:nvSpPr>
        <p:spPr>
          <a:xfrm>
            <a:off x="457200" y="1600200"/>
            <a:ext cx="8229240" cy="4472006"/>
          </a:xfrm>
          <a:prstGeom prst="rect">
            <a:avLst/>
          </a:prstGeom>
          <a:noFill/>
          <a:ln>
            <a:noFill/>
          </a:ln>
        </p:spPr>
        <p:txBody>
          <a:bodyPr>
            <a:noAutofit/>
          </a:bodyPr>
          <a:lstStyle/>
          <a:p>
            <a:pPr marL="343080" indent="-342720">
              <a:lnSpc>
                <a:spcPct val="100000"/>
              </a:lnSpc>
              <a:spcBef>
                <a:spcPts val="561"/>
              </a:spcBef>
              <a:buClr>
                <a:srgbClr val="000000"/>
              </a:buClr>
              <a:buFont typeface="Arial"/>
              <a:buChar char="•"/>
            </a:pPr>
            <a:r>
              <a:rPr lang="en-US" sz="2800" spc="-1" dirty="0">
                <a:solidFill>
                  <a:srgbClr val="000000"/>
                </a:solidFill>
                <a:latin typeface="Times New Roman" pitchFamily="18" charset="0"/>
                <a:cs typeface="Times New Roman" pitchFamily="18" charset="0"/>
              </a:rPr>
              <a:t>Repeat step 1 and step 2 until B={∅}</a:t>
            </a:r>
          </a:p>
          <a:p>
            <a:pPr marL="343080" indent="-342720">
              <a:lnSpc>
                <a:spcPct val="100000"/>
              </a:lnSpc>
              <a:spcBef>
                <a:spcPts val="561"/>
              </a:spcBef>
              <a:buClr>
                <a:srgbClr val="000000"/>
              </a:buClr>
              <a:buFont typeface="Arial"/>
              <a:buChar char="•"/>
            </a:pPr>
            <a:endParaRPr lang="en-US" sz="2800" spc="-1" dirty="0">
              <a:solidFill>
                <a:srgbClr val="000000"/>
              </a:solidFill>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副標題 2"/>
          <p:cNvSpPr>
            <a:spLocks noGrp="1"/>
          </p:cNvSpPr>
          <p:nvPr>
            <p:ph type="subTitle"/>
          </p:nvPr>
        </p:nvSpPr>
        <p:spPr/>
        <p:txBody>
          <a:bodyPr/>
          <a:lstStyle/>
          <a:p>
            <a:endParaRPr lang="zh-TW" altLang="en-US" dirty="0"/>
          </a:p>
        </p:txBody>
      </p:sp>
      <p:pic>
        <p:nvPicPr>
          <p:cNvPr id="1026" name="Picture 2"/>
          <p:cNvPicPr>
            <a:picLocks noChangeAspect="1" noChangeArrowheads="1"/>
          </p:cNvPicPr>
          <p:nvPr/>
        </p:nvPicPr>
        <p:blipFill>
          <a:blip r:embed="rId2"/>
          <a:srcRect/>
          <a:stretch>
            <a:fillRect/>
          </a:stretch>
        </p:blipFill>
        <p:spPr bwMode="auto">
          <a:xfrm>
            <a:off x="571472" y="500042"/>
            <a:ext cx="5657850" cy="326707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576270" y="3714752"/>
            <a:ext cx="5067300" cy="2752725"/>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副標題 2"/>
          <p:cNvSpPr>
            <a:spLocks noGrp="1"/>
          </p:cNvSpPr>
          <p:nvPr>
            <p:ph type="subTitle"/>
          </p:nvPr>
        </p:nvSpPr>
        <p:spPr/>
        <p:txBody>
          <a:bodyPr/>
          <a:lstStyle/>
          <a:p>
            <a:endParaRPr lang="zh-TW" altLang="en-US" dirty="0"/>
          </a:p>
        </p:txBody>
      </p:sp>
      <p:pic>
        <p:nvPicPr>
          <p:cNvPr id="7170" name="Picture 2"/>
          <p:cNvPicPr>
            <a:picLocks noChangeAspect="1" noChangeArrowheads="1"/>
          </p:cNvPicPr>
          <p:nvPr/>
        </p:nvPicPr>
        <p:blipFill>
          <a:blip r:embed="rId2"/>
          <a:srcRect/>
          <a:stretch>
            <a:fillRect/>
          </a:stretch>
        </p:blipFill>
        <p:spPr bwMode="auto">
          <a:xfrm>
            <a:off x="-1" y="1428736"/>
            <a:ext cx="9149073" cy="2886081"/>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副標題 2"/>
          <p:cNvSpPr>
            <a:spLocks noGrp="1"/>
          </p:cNvSpPr>
          <p:nvPr>
            <p:ph type="subTitle"/>
          </p:nvPr>
        </p:nvSpPr>
        <p:spPr/>
        <p:txBody>
          <a:bodyPr/>
          <a:lstStyle/>
          <a:p>
            <a:endParaRPr lang="zh-TW" altLang="en-US"/>
          </a:p>
        </p:txBody>
      </p:sp>
      <p:pic>
        <p:nvPicPr>
          <p:cNvPr id="8194" name="Picture 2"/>
          <p:cNvPicPr>
            <a:picLocks noChangeAspect="1" noChangeArrowheads="1"/>
          </p:cNvPicPr>
          <p:nvPr/>
        </p:nvPicPr>
        <p:blipFill>
          <a:blip r:embed="rId2"/>
          <a:srcRect/>
          <a:stretch>
            <a:fillRect/>
          </a:stretch>
        </p:blipFill>
        <p:spPr bwMode="auto">
          <a:xfrm>
            <a:off x="44787" y="1576393"/>
            <a:ext cx="9027807" cy="3495681"/>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4617</TotalTime>
  <Words>586</Words>
  <Application>Microsoft Office PowerPoint</Application>
  <PresentationFormat>如螢幕大小 (4:3)</PresentationFormat>
  <Paragraphs>75</Paragraphs>
  <Slides>17</Slides>
  <Notes>0</Notes>
  <HiddenSlides>0</HiddenSlides>
  <MMClips>0</MMClips>
  <ScaleCrop>false</ScaleCrop>
  <HeadingPairs>
    <vt:vector size="6" baseType="variant">
      <vt:variant>
        <vt:lpstr>使用字型</vt:lpstr>
      </vt:variant>
      <vt:variant>
        <vt:i4>5</vt:i4>
      </vt:variant>
      <vt:variant>
        <vt:lpstr>佈景主題</vt:lpstr>
      </vt:variant>
      <vt:variant>
        <vt:i4>2</vt:i4>
      </vt:variant>
      <vt:variant>
        <vt:lpstr>投影片標題</vt:lpstr>
      </vt:variant>
      <vt:variant>
        <vt:i4>17</vt:i4>
      </vt:variant>
    </vt:vector>
  </HeadingPairs>
  <TitlesOfParts>
    <vt:vector size="24" baseType="lpstr">
      <vt:lpstr>Arial</vt:lpstr>
      <vt:lpstr>Calibri</vt:lpstr>
      <vt:lpstr>Symbol</vt:lpstr>
      <vt:lpstr>Times New Roman</vt:lpstr>
      <vt:lpstr>Wingdings</vt:lpstr>
      <vt:lpstr>Office Theme</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Parallel Pairwise Local Sequence Alignment Algorithm</dc:title>
  <dc:subject/>
  <dc:creator>super</dc:creator>
  <dc:description/>
  <cp:lastModifiedBy>pplab</cp:lastModifiedBy>
  <cp:revision>869</cp:revision>
  <dcterms:created xsi:type="dcterms:W3CDTF">2020-09-11T11:13:53Z</dcterms:created>
  <dcterms:modified xsi:type="dcterms:W3CDTF">2021-01-26T08:41:26Z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如螢幕大小 (4:3)</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