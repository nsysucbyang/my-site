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66" r:id="rId5"/>
    <p:sldId id="285" r:id="rId6"/>
    <p:sldId id="284" r:id="rId7"/>
    <p:sldId id="282" r:id="rId8"/>
    <p:sldId id="310" r:id="rId9"/>
    <p:sldId id="287" r:id="rId10"/>
    <p:sldId id="278" r:id="rId11"/>
    <p:sldId id="288" r:id="rId12"/>
    <p:sldId id="300" r:id="rId13"/>
    <p:sldId id="301" r:id="rId14"/>
    <p:sldId id="303" r:id="rId15"/>
    <p:sldId id="305" r:id="rId16"/>
    <p:sldId id="306" r:id="rId17"/>
    <p:sldId id="267" r:id="rId18"/>
    <p:sldId id="268" r:id="rId19"/>
    <p:sldId id="311" r:id="rId20"/>
    <p:sldId id="271" r:id="rId21"/>
    <p:sldId id="312" r:id="rId22"/>
    <p:sldId id="313" r:id="rId23"/>
    <p:sldId id="273" r:id="rId24"/>
    <p:sldId id="308" r:id="rId25"/>
    <p:sldId id="275" r:id="rId26"/>
    <p:sldId id="296" r:id="rId27"/>
    <p:sldId id="299" r:id="rId28"/>
    <p:sldId id="280" r:id="rId29"/>
    <p:sldId id="292" r:id="rId30"/>
    <p:sldId id="289"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69647" autoAdjust="0"/>
  </p:normalViewPr>
  <p:slideViewPr>
    <p:cSldViewPr snapToGrid="0">
      <p:cViewPr varScale="1">
        <p:scale>
          <a:sx n="79" d="100"/>
          <a:sy n="79" d="100"/>
        </p:scale>
        <p:origin x="1602" y="90"/>
      </p:cViewPr>
      <p:guideLst/>
    </p:cSldViewPr>
  </p:slideViewPr>
  <p:notesTextViewPr>
    <p:cViewPr>
      <p:scale>
        <a:sx n="1" d="1"/>
        <a:sy n="1" d="1"/>
      </p:scale>
      <p:origin x="0" y="0"/>
    </p:cViewPr>
  </p:notesTextViewPr>
  <p:sorterViewPr>
    <p:cViewPr>
      <p:scale>
        <a:sx n="100" d="100"/>
        <a:sy n="100" d="100"/>
      </p:scale>
      <p:origin x="0" y="-20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284476-936B-4663-B546-8DD9F0939358}" type="datetimeFigureOut">
              <a:rPr lang="zh-TW" altLang="en-US" smtClean="0"/>
              <a:t>2021/1/26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CEC77-1AB1-4CD6-A7AA-75B058F7B464}" type="slidenum">
              <a:rPr lang="zh-TW" altLang="en-US" smtClean="0"/>
              <a:t>‹#›</a:t>
            </a:fld>
            <a:endParaRPr lang="zh-TW" altLang="en-US"/>
          </a:p>
        </p:txBody>
      </p:sp>
    </p:spTree>
    <p:extLst>
      <p:ext uri="{BB962C8B-B14F-4D97-AF65-F5344CB8AC3E}">
        <p14:creationId xmlns:p14="http://schemas.microsoft.com/office/powerpoint/2010/main" val="666729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文獻</a:t>
            </a:r>
            <a:r>
              <a:rPr lang="en-US" altLang="zh-TW" dirty="0"/>
              <a:t>[1]</a:t>
            </a:r>
            <a:r>
              <a:rPr lang="zh-TW" altLang="en-US" dirty="0"/>
              <a:t>發現兩個序列的</a:t>
            </a:r>
            <a:r>
              <a:rPr lang="en-US" altLang="zh-TW" dirty="0" err="1"/>
              <a:t>LCaIS</a:t>
            </a:r>
            <a:r>
              <a:rPr lang="zh-TW" altLang="en-US" dirty="0"/>
              <a:t>沒有重複的元素在某些情況下給出了錯誤的結果。</a:t>
            </a:r>
            <a:endParaRPr lang="en-US" altLang="zh-TW" dirty="0"/>
          </a:p>
          <a:p>
            <a:r>
              <a:rPr lang="zh-TW" altLang="en-US" dirty="0"/>
              <a:t>這項工作中，我們提出了一種動態規划算法，該算法可以正確計算任意兩個具有</a:t>
            </a:r>
            <a:r>
              <a:rPr lang="en-US" altLang="zh-TW" dirty="0"/>
              <a:t>O</a:t>
            </a:r>
            <a:r>
              <a:rPr lang="zh-TW" altLang="en-US" dirty="0"/>
              <a:t>（</a:t>
            </a:r>
            <a:r>
              <a:rPr lang="en-US" altLang="zh-TW" dirty="0" err="1"/>
              <a:t>nml</a:t>
            </a:r>
            <a:r>
              <a:rPr lang="zh-TW" altLang="en-US" dirty="0"/>
              <a:t>）時間和</a:t>
            </a:r>
            <a:r>
              <a:rPr lang="en-US" altLang="zh-TW" dirty="0"/>
              <a:t>O</a:t>
            </a:r>
            <a:r>
              <a:rPr lang="zh-TW" altLang="en-US" dirty="0"/>
              <a:t>（</a:t>
            </a:r>
            <a:r>
              <a:rPr lang="en-US" altLang="zh-TW" dirty="0"/>
              <a:t>nm</a:t>
            </a:r>
            <a:r>
              <a:rPr lang="zh-TW" altLang="en-US" dirty="0"/>
              <a:t>）空間中重複元素的序列之間的</a:t>
            </a:r>
            <a:r>
              <a:rPr lang="en-US" altLang="zh-TW" dirty="0" err="1"/>
              <a:t>LCaIS</a:t>
            </a:r>
            <a:r>
              <a:rPr lang="zh-TW" altLang="en-US" dirty="0"/>
              <a:t>，其中</a:t>
            </a:r>
            <a:r>
              <a:rPr lang="en-US" altLang="zh-TW" dirty="0"/>
              <a:t>n</a:t>
            </a:r>
            <a:r>
              <a:rPr lang="zh-TW" altLang="en-US" dirty="0"/>
              <a:t>和</a:t>
            </a:r>
            <a:r>
              <a:rPr lang="en-US" altLang="zh-TW" dirty="0"/>
              <a:t>m</a:t>
            </a:r>
            <a:r>
              <a:rPr lang="zh-TW" altLang="en-US" dirty="0"/>
              <a:t>是兩個輸入序列的長度，而</a:t>
            </a:r>
            <a:r>
              <a:rPr lang="en-US" altLang="zh-TW" dirty="0"/>
              <a:t>l</a:t>
            </a:r>
            <a:r>
              <a:rPr lang="zh-TW" altLang="en-US" dirty="0"/>
              <a:t>是 輸出</a:t>
            </a:r>
            <a:r>
              <a:rPr lang="en-US" altLang="zh-TW" dirty="0" err="1"/>
              <a:t>LCaIS</a:t>
            </a:r>
            <a:r>
              <a:rPr lang="zh-TW" altLang="en-US" dirty="0"/>
              <a:t>的長度。</a:t>
            </a:r>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a:t>
            </a:fld>
            <a:endParaRPr lang="zh-TW" altLang="en-US"/>
          </a:p>
        </p:txBody>
      </p:sp>
    </p:spTree>
    <p:extLst>
      <p:ext uri="{BB962C8B-B14F-4D97-AF65-F5344CB8AC3E}">
        <p14:creationId xmlns:p14="http://schemas.microsoft.com/office/powerpoint/2010/main" val="1920389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這驅使我們用一個正確的演算法來解答</a:t>
            </a:r>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3</a:t>
            </a:fld>
            <a:endParaRPr lang="zh-TW" altLang="en-US"/>
          </a:p>
        </p:txBody>
      </p:sp>
    </p:spTree>
    <p:extLst>
      <p:ext uri="{BB962C8B-B14F-4D97-AF65-F5344CB8AC3E}">
        <p14:creationId xmlns:p14="http://schemas.microsoft.com/office/powerpoint/2010/main" val="3983011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zh-TW" altLang="en-US" dirty="0"/>
              <a:t>當</a:t>
            </a:r>
            <a:r>
              <a:rPr lang="en-US" altLang="zh-TW" dirty="0" err="1"/>
              <a:t>Moosa</a:t>
            </a:r>
            <a:r>
              <a:rPr lang="zh-TW" altLang="en-US" dirty="0"/>
              <a:t>中沒有嚴格證明存在多個相同長度的序列時，刪除較大終止值的序列。</a:t>
            </a:r>
          </a:p>
          <a:p>
            <a:pPr marL="0" indent="0">
              <a:buNone/>
            </a:pPr>
            <a:endParaRPr lang="zh-TW" altLang="en-US" dirty="0"/>
          </a:p>
          <a:p>
            <a:pPr marL="0" indent="0">
              <a:buNone/>
            </a:pPr>
            <a:r>
              <a:rPr lang="zh-TW" altLang="en-US" dirty="0"/>
              <a:t>這促使我們設計出正確的算法來解決這項工作中的</a:t>
            </a:r>
            <a:r>
              <a:rPr lang="en-US" altLang="zh-TW" dirty="0" err="1"/>
              <a:t>LCaIS</a:t>
            </a:r>
            <a:r>
              <a:rPr lang="zh-TW" altLang="en-US" dirty="0"/>
              <a:t>問題。</a:t>
            </a:r>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10</a:t>
            </a:fld>
            <a:endParaRPr lang="zh-TW" altLang="en-US"/>
          </a:p>
        </p:txBody>
      </p:sp>
    </p:spTree>
    <p:extLst>
      <p:ext uri="{BB962C8B-B14F-4D97-AF65-F5344CB8AC3E}">
        <p14:creationId xmlns:p14="http://schemas.microsoft.com/office/powerpoint/2010/main" val="3440972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我們的問題是等價的做一個二維的</a:t>
            </a:r>
            <a:r>
              <a:rPr lang="en-US" altLang="zh-TW" dirty="0">
                <a:solidFill>
                  <a:srgbClr val="FF0000"/>
                </a:solidFill>
              </a:rPr>
              <a:t>matching table T </a:t>
            </a:r>
            <a:r>
              <a:rPr lang="zh-TW" altLang="en-US" dirty="0">
                <a:solidFill>
                  <a:srgbClr val="FF0000"/>
                </a:solidFill>
              </a:rPr>
              <a:t>來找到 </a:t>
            </a:r>
            <a:r>
              <a:rPr lang="en-US" altLang="zh-TW" dirty="0"/>
              <a:t>longest almost increasing path</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11</a:t>
            </a:fld>
            <a:endParaRPr lang="zh-TW" altLang="en-US"/>
          </a:p>
        </p:txBody>
      </p:sp>
    </p:spTree>
    <p:extLst>
      <p:ext uri="{BB962C8B-B14F-4D97-AF65-F5344CB8AC3E}">
        <p14:creationId xmlns:p14="http://schemas.microsoft.com/office/powerpoint/2010/main" val="802281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我們的問題是等價的作揖一個二維的</a:t>
            </a:r>
            <a:r>
              <a:rPr lang="en-US" altLang="zh-TW" dirty="0">
                <a:solidFill>
                  <a:srgbClr val="FF0000"/>
                </a:solidFill>
              </a:rPr>
              <a:t>matching table T </a:t>
            </a:r>
            <a:r>
              <a:rPr lang="zh-TW" altLang="en-US" dirty="0">
                <a:solidFill>
                  <a:srgbClr val="FF0000"/>
                </a:solidFill>
              </a:rPr>
              <a:t>來找到 </a:t>
            </a:r>
            <a:r>
              <a:rPr lang="en-US" altLang="zh-TW" dirty="0"/>
              <a:t>longest almost increasing path</a:t>
            </a:r>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17</a:t>
            </a:fld>
            <a:endParaRPr lang="zh-TW" altLang="en-US"/>
          </a:p>
        </p:txBody>
      </p:sp>
    </p:spTree>
    <p:extLst>
      <p:ext uri="{BB962C8B-B14F-4D97-AF65-F5344CB8AC3E}">
        <p14:creationId xmlns:p14="http://schemas.microsoft.com/office/powerpoint/2010/main" val="2717110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l-GR" altLang="zh-TW" b="0" i="0" dirty="0">
                <a:solidFill>
                  <a:srgbClr val="202122"/>
                </a:solidFill>
                <a:effectLst/>
                <a:latin typeface="Arial" panose="020B0604020202020204" pitchFamily="34" charset="0"/>
              </a:rPr>
              <a:t>β</a:t>
            </a:r>
            <a:r>
              <a:rPr lang="en-US" altLang="zh-TW" b="0" i="0" dirty="0">
                <a:solidFill>
                  <a:srgbClr val="202122"/>
                </a:solidFill>
                <a:effectLst/>
                <a:latin typeface="Arial" panose="020B0604020202020204" pitchFamily="34" charset="0"/>
              </a:rPr>
              <a:t>(P)</a:t>
            </a:r>
            <a:r>
              <a:rPr lang="zh-TW" altLang="en-US" b="0" i="0" dirty="0">
                <a:solidFill>
                  <a:srgbClr val="202122"/>
                </a:solidFill>
                <a:effectLst/>
                <a:latin typeface="Arial" panose="020B0604020202020204" pitchFamily="34" charset="0"/>
              </a:rPr>
              <a:t> </a:t>
            </a:r>
            <a:r>
              <a:rPr lang="en-US" altLang="zh-TW" b="0" i="0" dirty="0">
                <a:solidFill>
                  <a:srgbClr val="202122"/>
                </a:solidFill>
                <a:effectLst/>
                <a:latin typeface="Arial" panose="020B0604020202020204" pitchFamily="34" charset="0"/>
              </a:rPr>
              <a:t>=</a:t>
            </a:r>
            <a:r>
              <a:rPr lang="zh-TW" altLang="en-US" b="0" i="0" dirty="0">
                <a:solidFill>
                  <a:srgbClr val="202122"/>
                </a:solidFill>
                <a:effectLst/>
                <a:latin typeface="Arial" panose="020B0604020202020204" pitchFamily="34" charset="0"/>
              </a:rPr>
              <a:t> 路徑上所有連結的點值</a:t>
            </a:r>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18</a:t>
            </a:fld>
            <a:endParaRPr lang="zh-TW" altLang="en-US"/>
          </a:p>
        </p:txBody>
      </p:sp>
    </p:spTree>
    <p:extLst>
      <p:ext uri="{BB962C8B-B14F-4D97-AF65-F5344CB8AC3E}">
        <p14:creationId xmlns:p14="http://schemas.microsoft.com/office/powerpoint/2010/main" val="3587858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α(</a:t>
            </a:r>
            <a:r>
              <a:rPr lang="en-US" altLang="zh-TW" dirty="0" err="1"/>
              <a:t>i</a:t>
            </a:r>
            <a:r>
              <a:rPr lang="en-US" altLang="zh-TW" dirty="0"/>
              <a:t>, j) =</a:t>
            </a:r>
            <a:r>
              <a:rPr lang="zh-TW" altLang="en-US" dirty="0"/>
              <a:t>目前那一格的值  </a:t>
            </a:r>
            <a:r>
              <a:rPr lang="en-US" altLang="zh-TW" dirty="0"/>
              <a:t>ω(P)=</a:t>
            </a:r>
            <a:r>
              <a:rPr lang="zh-TW" altLang="en-US" dirty="0"/>
              <a:t>路徑上某點的最大值</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搜尋</a:t>
            </a:r>
            <a:r>
              <a:rPr lang="en-US" altLang="zh-TW" dirty="0"/>
              <a:t> </a:t>
            </a:r>
            <a:r>
              <a:rPr lang="zh-TW" altLang="en-US" dirty="0"/>
              <a:t>路進最長的</a:t>
            </a:r>
            <a:r>
              <a:rPr lang="en-US" altLang="zh-TW" dirty="0"/>
              <a:t>L(</a:t>
            </a:r>
            <a:r>
              <a:rPr lang="en-US" altLang="zh-TW" dirty="0" err="1"/>
              <a:t>i</a:t>
            </a:r>
            <a:r>
              <a:rPr lang="en-US" altLang="zh-TW" dirty="0"/>
              <a:t> − 1, j − 1) </a:t>
            </a:r>
            <a:r>
              <a:rPr lang="zh-TW" altLang="en-US" dirty="0"/>
              <a:t> 條件</a:t>
            </a:r>
            <a:r>
              <a:rPr lang="en-US" altLang="zh-TW" dirty="0"/>
              <a:t> ω(P) ≤ α(</a:t>
            </a:r>
            <a:r>
              <a:rPr lang="en-US" altLang="zh-TW" dirty="0" err="1"/>
              <a:t>i</a:t>
            </a:r>
            <a:r>
              <a:rPr lang="en-US" altLang="zh-TW" dirty="0"/>
              <a:t>, j) </a:t>
            </a:r>
            <a:r>
              <a:rPr lang="zh-TW" altLang="en-US" dirty="0"/>
              <a:t>成立接上去</a:t>
            </a:r>
            <a:r>
              <a:rPr lang="en-US" altLang="zh-TW" dirty="0"/>
              <a:t>T (</a:t>
            </a:r>
            <a:r>
              <a:rPr lang="en-US" altLang="zh-TW" dirty="0" err="1"/>
              <a:t>i</a:t>
            </a:r>
            <a:r>
              <a:rPr lang="en-US" altLang="zh-TW" dirty="0"/>
              <a:t>, j) to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 </a:t>
            </a:r>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19</a:t>
            </a:fld>
            <a:endParaRPr lang="zh-TW" altLang="en-US"/>
          </a:p>
        </p:txBody>
      </p:sp>
    </p:spTree>
    <p:extLst>
      <p:ext uri="{BB962C8B-B14F-4D97-AF65-F5344CB8AC3E}">
        <p14:creationId xmlns:p14="http://schemas.microsoft.com/office/powerpoint/2010/main" val="3457735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u="sng" dirty="0"/>
              <a:t>α(</a:t>
            </a:r>
            <a:r>
              <a:rPr lang="en-US" altLang="zh-TW" u="sng" dirty="0" err="1"/>
              <a:t>i</a:t>
            </a:r>
            <a:r>
              <a:rPr lang="en-US" altLang="zh-TW" u="sng" dirty="0"/>
              <a:t>, j) =</a:t>
            </a:r>
            <a:r>
              <a:rPr lang="zh-TW" altLang="en-US" u="sng" dirty="0"/>
              <a:t>目前那一格的值 </a:t>
            </a:r>
            <a:r>
              <a:rPr lang="en-US" altLang="zh-TW" u="sng" dirty="0"/>
              <a:t>,,,</a:t>
            </a:r>
            <a:r>
              <a:rPr lang="zh-TW" altLang="en-US" u="sng" dirty="0"/>
              <a:t> </a:t>
            </a:r>
            <a:r>
              <a:rPr lang="en-US" altLang="zh-TW" u="sng" dirty="0"/>
              <a:t>ω(P)=</a:t>
            </a:r>
            <a:r>
              <a:rPr lang="zh-TW" altLang="en-US" u="sng" dirty="0"/>
              <a:t>路徑上某點的最大值</a:t>
            </a:r>
            <a:endParaRPr lang="zh-TW" altLang="en-US" dirty="0"/>
          </a:p>
          <a:p>
            <a:pPr rtl="0"/>
            <a:r>
              <a:rPr lang="zh-TW" altLang="en-US" dirty="0">
                <a:solidFill>
                  <a:srgbClr val="000000"/>
                </a:solidFill>
                <a:effectLst/>
              </a:rPr>
              <a:t>接下來，我們討論如何有效地實現上述基本思想來解決</a:t>
            </a:r>
            <a:r>
              <a:rPr lang="en-US" altLang="zh-TW" dirty="0" err="1">
                <a:solidFill>
                  <a:srgbClr val="000000"/>
                </a:solidFill>
                <a:effectLst/>
              </a:rPr>
              <a:t>LCaIS</a:t>
            </a:r>
            <a:r>
              <a:rPr lang="zh-TW" altLang="en-US" dirty="0">
                <a:solidFill>
                  <a:srgbClr val="000000"/>
                </a:solidFill>
                <a:effectLst/>
              </a:rPr>
              <a:t>問題。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20</a:t>
            </a:fld>
            <a:endParaRPr lang="zh-TW" altLang="en-US"/>
          </a:p>
        </p:txBody>
      </p:sp>
    </p:spTree>
    <p:extLst>
      <p:ext uri="{BB962C8B-B14F-4D97-AF65-F5344CB8AC3E}">
        <p14:creationId xmlns:p14="http://schemas.microsoft.com/office/powerpoint/2010/main" val="1841997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21</a:t>
            </a:fld>
            <a:endParaRPr lang="zh-TW" altLang="en-US"/>
          </a:p>
        </p:txBody>
      </p:sp>
    </p:spTree>
    <p:extLst>
      <p:ext uri="{BB962C8B-B14F-4D97-AF65-F5344CB8AC3E}">
        <p14:creationId xmlns:p14="http://schemas.microsoft.com/office/powerpoint/2010/main" val="788447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zh-TW" altLang="en-US" dirty="0">
                <a:solidFill>
                  <a:srgbClr val="000000"/>
                </a:solidFill>
                <a:effectLst/>
              </a:rPr>
              <a:t>接下來，我們討論如何</a:t>
            </a:r>
            <a:r>
              <a:rPr lang="zh-TW" altLang="en-US" u="sng" dirty="0">
                <a:solidFill>
                  <a:srgbClr val="000000"/>
                </a:solidFill>
                <a:effectLst/>
              </a:rPr>
              <a:t>有效地實現上述基本思想來解決</a:t>
            </a:r>
            <a:r>
              <a:rPr lang="en-US" altLang="zh-TW" u="sng" dirty="0" err="1">
                <a:solidFill>
                  <a:srgbClr val="000000"/>
                </a:solidFill>
                <a:effectLst/>
              </a:rPr>
              <a:t>LCaIS</a:t>
            </a:r>
            <a:r>
              <a:rPr lang="zh-TW" altLang="en-US" u="sng" dirty="0">
                <a:solidFill>
                  <a:srgbClr val="000000"/>
                </a:solidFill>
                <a:effectLst/>
              </a:rPr>
              <a:t>問題。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22</a:t>
            </a:fld>
            <a:endParaRPr lang="zh-TW" altLang="en-US"/>
          </a:p>
        </p:txBody>
      </p:sp>
    </p:spTree>
    <p:extLst>
      <p:ext uri="{BB962C8B-B14F-4D97-AF65-F5344CB8AC3E}">
        <p14:creationId xmlns:p14="http://schemas.microsoft.com/office/powerpoint/2010/main" val="2993896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ω(P):</a:t>
            </a:r>
            <a:r>
              <a:rPr lang="zh-TW" altLang="en-US" sz="1200" dirty="0"/>
              <a:t>路徑的最大值</a:t>
            </a:r>
            <a:endParaRPr lang="en-US" altLang="zh-TW" dirty="0"/>
          </a:p>
          <a:p>
            <a:r>
              <a:rPr lang="zh-TW" altLang="en-US" dirty="0"/>
              <a:t>長度相同，且長度為</a:t>
            </a:r>
            <a:r>
              <a:rPr lang="en-US" altLang="zh-TW" dirty="0"/>
              <a:t>α</a:t>
            </a:r>
            <a:r>
              <a:rPr lang="zh-TW" altLang="en-US" dirty="0"/>
              <a:t>（</a:t>
            </a:r>
            <a:r>
              <a:rPr lang="en-US" altLang="zh-TW" dirty="0"/>
              <a:t>u1</a:t>
            </a:r>
            <a:r>
              <a:rPr lang="zh-TW" altLang="en-US" dirty="0"/>
              <a:t>，</a:t>
            </a:r>
            <a:r>
              <a:rPr lang="en-US" altLang="zh-TW" dirty="0"/>
              <a:t>v1</a:t>
            </a:r>
            <a:r>
              <a:rPr lang="zh-TW" altLang="en-US" dirty="0"/>
              <a:t>） ）≤</a:t>
            </a:r>
            <a:r>
              <a:rPr lang="en-US" altLang="zh-TW" dirty="0"/>
              <a:t>α</a:t>
            </a:r>
            <a:r>
              <a:rPr lang="zh-TW" altLang="en-US" dirty="0"/>
              <a:t>（</a:t>
            </a:r>
            <a:r>
              <a:rPr lang="en-US" altLang="zh-TW" dirty="0"/>
              <a:t>u2</a:t>
            </a:r>
            <a:r>
              <a:rPr lang="zh-TW" altLang="en-US" dirty="0"/>
              <a:t>，</a:t>
            </a:r>
            <a:r>
              <a:rPr lang="en-US" altLang="zh-TW" dirty="0"/>
              <a:t>v2</a:t>
            </a:r>
            <a:r>
              <a:rPr lang="zh-TW" altLang="en-US" dirty="0"/>
              <a:t>）≤</a:t>
            </a:r>
            <a:r>
              <a:rPr lang="en-US" altLang="zh-TW" dirty="0"/>
              <a:t>...≤α</a:t>
            </a:r>
            <a:r>
              <a:rPr lang="zh-TW" altLang="en-US" dirty="0"/>
              <a:t>（</a:t>
            </a:r>
            <a:r>
              <a:rPr lang="en-US" altLang="zh-TW" dirty="0" err="1"/>
              <a:t>uk</a:t>
            </a:r>
            <a:r>
              <a:rPr lang="zh-TW" altLang="en-US" dirty="0"/>
              <a:t>，</a:t>
            </a:r>
            <a:r>
              <a:rPr lang="en-US" altLang="zh-TW" dirty="0" err="1"/>
              <a:t>vk</a:t>
            </a:r>
            <a:r>
              <a:rPr lang="zh-TW" altLang="en-US" dirty="0"/>
              <a:t>），則</a:t>
            </a:r>
            <a:endParaRPr lang="en-US" altLang="zh-TW" dirty="0"/>
          </a:p>
          <a:p>
            <a:endParaRPr lang="en-US" altLang="zh-TW" dirty="0"/>
          </a:p>
          <a:p>
            <a:r>
              <a:rPr lang="zh-TW" altLang="en-US" u="sng" dirty="0"/>
              <a:t>我們保留地一個 </a:t>
            </a:r>
            <a:r>
              <a:rPr lang="en-US" altLang="zh-TW" u="sng" dirty="0"/>
              <a:t>L</a:t>
            </a:r>
            <a:r>
              <a:rPr lang="zh-TW" altLang="en-US" u="sng" dirty="0"/>
              <a:t>（</a:t>
            </a:r>
            <a:r>
              <a:rPr lang="en-US" altLang="zh-TW" u="sng" dirty="0"/>
              <a:t>u1</a:t>
            </a:r>
            <a:r>
              <a:rPr lang="zh-TW" altLang="en-US" u="sng" dirty="0"/>
              <a:t>，</a:t>
            </a:r>
            <a:r>
              <a:rPr lang="en-US" altLang="zh-TW" u="sng" dirty="0"/>
              <a:t>v1</a:t>
            </a:r>
            <a:r>
              <a:rPr lang="zh-TW" altLang="en-US" u="sng" dirty="0"/>
              <a:t>）並從</a:t>
            </a:r>
            <a:r>
              <a:rPr lang="en-US" altLang="zh-TW" u="sng" dirty="0"/>
              <a:t>L</a:t>
            </a:r>
            <a:r>
              <a:rPr lang="zh-TW" altLang="en-US" u="sng" dirty="0"/>
              <a:t>（</a:t>
            </a:r>
            <a:r>
              <a:rPr lang="en-US" altLang="zh-TW" u="sng" dirty="0" err="1"/>
              <a:t>i</a:t>
            </a:r>
            <a:r>
              <a:rPr lang="zh-TW" altLang="en-US" u="sng" dirty="0"/>
              <a:t>，</a:t>
            </a:r>
            <a:r>
              <a:rPr lang="en-US" altLang="zh-TW" u="sng" dirty="0"/>
              <a:t>j</a:t>
            </a:r>
            <a:r>
              <a:rPr lang="zh-TW" altLang="en-US" u="sng" dirty="0"/>
              <a:t>）中除去</a:t>
            </a:r>
            <a:r>
              <a:rPr lang="en-US" altLang="zh-TW" u="sng" dirty="0"/>
              <a:t>k − 1</a:t>
            </a:r>
            <a:r>
              <a:rPr lang="zh-TW" altLang="en-US" u="sng" dirty="0"/>
              <a:t>條剩餘路徑。</a:t>
            </a:r>
            <a:endParaRPr lang="en-US" altLang="zh-TW" u="sng" dirty="0"/>
          </a:p>
          <a:p>
            <a:r>
              <a:rPr lang="zh-TW" altLang="en-US" u="sng" dirty="0"/>
              <a:t>最大長度的</a:t>
            </a:r>
            <a:r>
              <a:rPr lang="en-US" altLang="zh-TW" u="sng" dirty="0"/>
              <a:t>3</a:t>
            </a:r>
            <a:r>
              <a:rPr lang="zh-TW" altLang="en-US" u="sng" dirty="0"/>
              <a:t>元組對應於匹配表</a:t>
            </a:r>
            <a:r>
              <a:rPr lang="en-US" altLang="zh-TW" u="sng" dirty="0"/>
              <a:t>T</a:t>
            </a:r>
            <a:r>
              <a:rPr lang="zh-TW" altLang="en-US" u="sng" dirty="0"/>
              <a:t>中</a:t>
            </a:r>
            <a:r>
              <a:rPr lang="en-US" altLang="zh-TW" u="sng" dirty="0" err="1"/>
              <a:t>LCaIS</a:t>
            </a:r>
            <a:r>
              <a:rPr lang="zh-TW" altLang="en-US" u="sng" dirty="0"/>
              <a:t>。</a:t>
            </a:r>
          </a:p>
          <a:p>
            <a:r>
              <a:rPr lang="zh-TW" altLang="en-US" dirty="0"/>
              <a:t>還可以觀察到 長度</a:t>
            </a:r>
            <a:r>
              <a:rPr lang="en-US" altLang="zh-TW" dirty="0"/>
              <a:t>| L</a:t>
            </a:r>
            <a:r>
              <a:rPr lang="zh-TW" altLang="en-US" dirty="0"/>
              <a:t>（</a:t>
            </a:r>
            <a:r>
              <a:rPr lang="en-US" altLang="zh-TW" dirty="0"/>
              <a:t>u</a:t>
            </a:r>
            <a:r>
              <a:rPr lang="zh-TW" altLang="en-US" dirty="0"/>
              <a:t>，</a:t>
            </a:r>
            <a:r>
              <a:rPr lang="en-US" altLang="zh-TW" dirty="0"/>
              <a:t>v</a:t>
            </a:r>
            <a:r>
              <a:rPr lang="zh-TW" altLang="en-US" dirty="0"/>
              <a:t>）</a:t>
            </a:r>
            <a:r>
              <a:rPr lang="en-US" altLang="zh-TW" dirty="0"/>
              <a:t>|</a:t>
            </a:r>
            <a:r>
              <a:rPr lang="zh-TW" altLang="en-US" dirty="0"/>
              <a:t>不同  ，</a:t>
            </a:r>
            <a:r>
              <a:rPr lang="zh-TW" altLang="en-US" u="sng" dirty="0"/>
              <a:t>這意味著簡化的</a:t>
            </a:r>
            <a:r>
              <a:rPr lang="en-US" altLang="zh-TW" u="sng" dirty="0"/>
              <a:t>L</a:t>
            </a:r>
            <a:r>
              <a:rPr lang="zh-TW" altLang="en-US" u="sng" dirty="0"/>
              <a:t>（</a:t>
            </a:r>
            <a:r>
              <a:rPr lang="en-US" altLang="zh-TW" u="sng" dirty="0" err="1"/>
              <a:t>i</a:t>
            </a:r>
            <a:r>
              <a:rPr lang="zh-TW" altLang="en-US" u="sng" dirty="0"/>
              <a:t>，</a:t>
            </a:r>
            <a:r>
              <a:rPr lang="en-US" altLang="zh-TW" u="sng" dirty="0"/>
              <a:t>j</a:t>
            </a:r>
            <a:r>
              <a:rPr lang="zh-TW" altLang="en-US" u="sng" dirty="0"/>
              <a:t>）的基數最多為</a:t>
            </a:r>
            <a:r>
              <a:rPr lang="en-US" altLang="zh-TW" u="sng" dirty="0"/>
              <a:t>l</a:t>
            </a:r>
            <a:r>
              <a:rPr lang="zh-TW" altLang="en-US" dirty="0"/>
              <a:t>，其中</a:t>
            </a:r>
            <a:r>
              <a:rPr lang="en-US" altLang="zh-TW" dirty="0"/>
              <a:t>l</a:t>
            </a:r>
            <a:r>
              <a:rPr lang="zh-TW" altLang="en-US" dirty="0"/>
              <a:t>表示</a:t>
            </a:r>
            <a:r>
              <a:rPr lang="en-US" altLang="zh-TW" dirty="0" err="1"/>
              <a:t>LCaIS</a:t>
            </a:r>
            <a:r>
              <a:rPr lang="zh-TW" altLang="en-US" dirty="0"/>
              <a:t>問題的輸出長度。</a:t>
            </a:r>
            <a:endParaRPr lang="en-US" altLang="zh-TW" dirty="0"/>
          </a:p>
          <a:p>
            <a:r>
              <a:rPr lang="zh-TW" altLang="en-US" dirty="0"/>
              <a:t>在過程</a:t>
            </a:r>
            <a:r>
              <a:rPr lang="en-US" altLang="zh-TW" dirty="0"/>
              <a:t>1</a:t>
            </a:r>
            <a:r>
              <a:rPr lang="zh-TW" altLang="en-US" dirty="0"/>
              <a:t>中，我們描述了一種簡化</a:t>
            </a:r>
            <a:r>
              <a:rPr lang="en-US" altLang="zh-TW" dirty="0"/>
              <a:t>L</a:t>
            </a:r>
            <a:r>
              <a:rPr lang="zh-TW" altLang="en-US" dirty="0"/>
              <a:t>（</a:t>
            </a:r>
            <a:r>
              <a:rPr lang="en-US" altLang="zh-TW" dirty="0" err="1"/>
              <a:t>i</a:t>
            </a:r>
            <a:r>
              <a:rPr lang="zh-TW" altLang="en-US" dirty="0"/>
              <a:t>，</a:t>
            </a:r>
            <a:r>
              <a:rPr lang="en-US" altLang="zh-TW" dirty="0"/>
              <a:t>j</a:t>
            </a:r>
            <a:r>
              <a:rPr lang="zh-TW" altLang="en-US" dirty="0"/>
              <a:t>）直接來自簡化的</a:t>
            </a:r>
            <a:r>
              <a:rPr lang="en-US" altLang="zh-TW" dirty="0"/>
              <a:t>L</a:t>
            </a:r>
            <a:r>
              <a:rPr lang="zh-TW" altLang="en-US" dirty="0"/>
              <a:t>（</a:t>
            </a:r>
            <a:r>
              <a:rPr lang="en-US" altLang="zh-TW" dirty="0"/>
              <a:t>i-1</a:t>
            </a:r>
            <a:r>
              <a:rPr lang="zh-TW" altLang="en-US" dirty="0"/>
              <a:t>，</a:t>
            </a:r>
            <a:r>
              <a:rPr lang="en-US" altLang="zh-TW" dirty="0"/>
              <a:t>j-1</a:t>
            </a:r>
            <a:r>
              <a:rPr lang="zh-TW" altLang="en-US" dirty="0"/>
              <a:t>）。</a:t>
            </a:r>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23</a:t>
            </a:fld>
            <a:endParaRPr lang="zh-TW" altLang="en-US"/>
          </a:p>
        </p:txBody>
      </p:sp>
    </p:spTree>
    <p:extLst>
      <p:ext uri="{BB962C8B-B14F-4D97-AF65-F5344CB8AC3E}">
        <p14:creationId xmlns:p14="http://schemas.microsoft.com/office/powerpoint/2010/main" val="2547866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merging operation :⊕</a:t>
            </a:r>
          </a:p>
          <a:p>
            <a:r>
              <a:rPr lang="zh-TW" altLang="en-US" dirty="0"/>
              <a:t>等於通過首先將</a:t>
            </a:r>
            <a:r>
              <a:rPr lang="en-US" altLang="zh-TW" dirty="0"/>
              <a:t>L</a:t>
            </a:r>
            <a:r>
              <a:rPr lang="zh-TW" altLang="en-US" dirty="0"/>
              <a:t>（</a:t>
            </a:r>
            <a:r>
              <a:rPr lang="en-US" altLang="zh-TW" dirty="0"/>
              <a:t>i1</a:t>
            </a:r>
            <a:r>
              <a:rPr lang="zh-TW" altLang="en-US" dirty="0"/>
              <a:t>，</a:t>
            </a:r>
            <a:r>
              <a:rPr lang="en-US" altLang="zh-TW" dirty="0"/>
              <a:t>j1</a:t>
            </a:r>
            <a:r>
              <a:rPr lang="zh-TW" altLang="en-US" dirty="0"/>
              <a:t>）和</a:t>
            </a:r>
            <a:r>
              <a:rPr lang="en-US" altLang="zh-TW" dirty="0"/>
              <a:t>L</a:t>
            </a:r>
            <a:r>
              <a:rPr lang="zh-TW" altLang="en-US" dirty="0"/>
              <a:t>（</a:t>
            </a:r>
            <a:r>
              <a:rPr lang="en-US" altLang="zh-TW" dirty="0"/>
              <a:t>i2</a:t>
            </a:r>
            <a:r>
              <a:rPr lang="zh-TW" altLang="en-US" dirty="0"/>
              <a:t>，</a:t>
            </a:r>
            <a:r>
              <a:rPr lang="en-US" altLang="zh-TW" dirty="0"/>
              <a:t>j2</a:t>
            </a:r>
            <a:r>
              <a:rPr lang="zh-TW" altLang="en-US" dirty="0"/>
              <a:t>）   任兩個合併然後刪除所有主導和冗餘的三元組而獲得的集合。</a:t>
            </a:r>
            <a:endParaRPr lang="en-US" altLang="zh-TW" dirty="0"/>
          </a:p>
          <a:p>
            <a:r>
              <a:rPr lang="en-US" altLang="zh-TW" dirty="0"/>
              <a:t>(3,1,1)</a:t>
            </a:r>
          </a:p>
          <a:p>
            <a:r>
              <a:rPr lang="en-US" altLang="zh-TW" dirty="0"/>
              <a:t>(5,4,2)</a:t>
            </a:r>
          </a:p>
          <a:p>
            <a:r>
              <a:rPr lang="en-US" altLang="zh-TW" dirty="0"/>
              <a:t>(4,2,3)</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25</a:t>
            </a:fld>
            <a:endParaRPr lang="zh-TW" altLang="en-US"/>
          </a:p>
        </p:txBody>
      </p:sp>
    </p:spTree>
    <p:extLst>
      <p:ext uri="{BB962C8B-B14F-4D97-AF65-F5344CB8AC3E}">
        <p14:creationId xmlns:p14="http://schemas.microsoft.com/office/powerpoint/2010/main" val="1563740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i="1" u="sng" dirty="0" err="1"/>
                  <a:t>Prev</a:t>
                </a:r>
                <a:r>
                  <a:rPr lang="zh-TW" altLang="en-US" i="1" u="sng" dirty="0"/>
                  <a:t>表只能構建兩個輸入序列的</a:t>
                </a:r>
                <a:r>
                  <a:rPr lang="en-US" altLang="zh-TW" i="1" u="sng" dirty="0" err="1"/>
                  <a:t>LCaIS</a:t>
                </a:r>
                <a:r>
                  <a:rPr lang="zh-TW" altLang="en-US" i="1" u="sng" dirty="0"/>
                  <a:t>的部分結果</a:t>
                </a:r>
                <a:endParaRPr lang="en-US" altLang="zh-TW" i="1" u="sng" dirty="0"/>
              </a:p>
              <a:p>
                <a:r>
                  <a:rPr lang="zh-TW" altLang="en-US" b="1" i="1" u="sng" dirty="0"/>
                  <a:t>通過</a:t>
                </a:r>
                <a:r>
                  <a:rPr lang="en-US" altLang="zh-TW" b="1" i="1" u="sng" dirty="0" err="1"/>
                  <a:t>Prev</a:t>
                </a:r>
                <a:r>
                  <a:rPr lang="zh-TW" altLang="en-US" b="1" i="1" u="sng" dirty="0"/>
                  <a:t>表獲得的</a:t>
                </a:r>
                <a:r>
                  <a:rPr lang="en-US" altLang="zh-TW" b="1" i="1" u="sng" dirty="0"/>
                  <a:t>T(</a:t>
                </a:r>
                <a:r>
                  <a:rPr lang="en-US" altLang="zh-TW" b="1" i="1" u="sng" dirty="0" err="1"/>
                  <a:t>xk</a:t>
                </a:r>
                <a:r>
                  <a:rPr lang="zh-TW" altLang="en-US" b="1" i="1" u="sng" dirty="0"/>
                  <a:t>，</a:t>
                </a:r>
                <a:r>
                  <a:rPr lang="en-US" altLang="zh-TW" b="1" i="1" u="sng" dirty="0" err="1"/>
                  <a:t>yk</a:t>
                </a:r>
                <a:r>
                  <a:rPr lang="zh-TW" altLang="en-US" b="1" i="1" u="sng" dirty="0"/>
                  <a:t>），</a:t>
                </a:r>
                <a:r>
                  <a:rPr lang="en-US" altLang="zh-TW" b="1" i="1" u="sng" dirty="0"/>
                  <a:t>T</a:t>
                </a:r>
                <a:r>
                  <a:rPr lang="zh-TW" altLang="en-US" b="1" i="1" u="sng" dirty="0"/>
                  <a:t>（</a:t>
                </a:r>
                <a:r>
                  <a:rPr lang="en-US" altLang="zh-TW" b="1" i="1" u="sng" dirty="0"/>
                  <a:t>xk-1</a:t>
                </a:r>
                <a:r>
                  <a:rPr lang="zh-TW" altLang="en-US" b="1" i="1" u="sng" dirty="0"/>
                  <a:t>，</a:t>
                </a:r>
                <a:r>
                  <a:rPr lang="en-US" altLang="zh-TW" b="1" i="1" u="sng" dirty="0"/>
                  <a:t>yk-1</a:t>
                </a:r>
                <a:r>
                  <a:rPr lang="zh-TW" altLang="en-US" b="1" i="1" u="sng" dirty="0"/>
                  <a:t>），</a:t>
                </a:r>
                <a:r>
                  <a:rPr lang="en-US" altLang="zh-TW" b="1" i="1" u="sng" dirty="0"/>
                  <a:t>...</a:t>
                </a:r>
                <a:r>
                  <a:rPr lang="zh-TW" altLang="en-US" b="1" i="1" u="sng" dirty="0"/>
                  <a:t>，</a:t>
                </a:r>
                <a:r>
                  <a:rPr lang="en-US" altLang="zh-TW" b="1" i="1" u="sng" dirty="0"/>
                  <a:t>T</a:t>
                </a:r>
                <a:r>
                  <a:rPr lang="zh-TW" altLang="en-US" b="1" i="1" u="sng" dirty="0"/>
                  <a:t>（</a:t>
                </a:r>
                <a:r>
                  <a:rPr lang="en-US" altLang="zh-TW" b="1" i="1" u="sng" dirty="0"/>
                  <a:t>x1</a:t>
                </a:r>
                <a:r>
                  <a:rPr lang="zh-TW" altLang="en-US" b="1" i="1" u="sng" dirty="0"/>
                  <a:t>，</a:t>
                </a:r>
                <a:r>
                  <a:rPr lang="en-US" altLang="zh-TW" b="1" i="1" u="sng" dirty="0"/>
                  <a:t>y1</a:t>
                </a:r>
                <a:r>
                  <a:rPr lang="zh-TW" altLang="en-US" b="1" i="1" u="sng" dirty="0"/>
                  <a:t>）構成</a:t>
                </a:r>
                <a:r>
                  <a:rPr lang="en-US" altLang="zh-TW" b="1" i="1" u="sng" dirty="0"/>
                  <a:t>P1</a:t>
                </a:r>
                <a:r>
                  <a:rPr lang="zh-TW" altLang="en-US" b="1" i="1" u="sng" dirty="0"/>
                  <a:t>的部分結果（即</a:t>
                </a:r>
                <a:r>
                  <a:rPr lang="en-US" altLang="zh-TW" b="1" i="1" u="sng" dirty="0"/>
                  <a:t>β</a:t>
                </a:r>
                <a:r>
                  <a:rPr lang="zh-TW" altLang="en-US" b="1" i="1" u="sng" dirty="0"/>
                  <a:t>（</a:t>
                </a:r>
                <a:r>
                  <a:rPr lang="en-US" altLang="zh-TW" b="1" i="1" u="sng" dirty="0"/>
                  <a:t>P1</a:t>
                </a:r>
                <a:r>
                  <a:rPr lang="zh-TW" altLang="en-US" b="1" i="1" u="sng" dirty="0"/>
                  <a:t>）的子序列）</a:t>
                </a:r>
                <a:r>
                  <a:rPr lang="zh-TW" altLang="en-US" dirty="0"/>
                  <a:t>。</a:t>
                </a:r>
                <a:endParaRPr lang="en-US" altLang="zh-TW" dirty="0"/>
              </a:p>
              <a:p>
                <a:r>
                  <a:rPr lang="zh-TW" altLang="en-US" u="sng" dirty="0"/>
                  <a:t>恢復完整結果，我們需要解決另一個問題，即專用</a:t>
                </a:r>
                <a:r>
                  <a:rPr lang="en-US" altLang="zh-TW" u="sng" dirty="0" err="1"/>
                  <a:t>LCaIS</a:t>
                </a:r>
                <a:r>
                  <a:rPr lang="zh-TW" altLang="en-US" u="sng" dirty="0"/>
                  <a:t>問題</a:t>
                </a:r>
                <a:endParaRPr lang="zh-TW" altLang="en-US" dirty="0"/>
              </a:p>
              <a:p>
                <a:endParaRPr lang="zh-TW" altLang="en-US" dirty="0"/>
              </a:p>
              <a:p>
                <a:endParaRPr lang="en-US" altLang="zh-TW" i="1" u="sng" dirty="0"/>
              </a:p>
              <a:p>
                <a:r>
                  <a:rPr lang="zh-TW" altLang="en-US" b="0" i="1" u="none" dirty="0"/>
                  <a:t>假設</a:t>
                </a:r>
                <a:r>
                  <a:rPr lang="en-US" altLang="zh-TW" b="0" i="1" u="none" dirty="0" err="1"/>
                  <a:t>Prev</a:t>
                </a:r>
                <a:r>
                  <a:rPr lang="zh-TW" altLang="en-US" b="0" i="1" u="none" dirty="0"/>
                  <a:t>（</a:t>
                </a:r>
                <a:r>
                  <a:rPr lang="en-US" altLang="zh-TW" b="0" i="1" u="none" dirty="0"/>
                  <a:t>x1</a:t>
                </a:r>
                <a:r>
                  <a:rPr lang="zh-TW" altLang="en-US" b="0" i="1" u="none" dirty="0"/>
                  <a:t>，</a:t>
                </a:r>
                <a:r>
                  <a:rPr lang="en-US" altLang="zh-TW" b="0" i="1" u="none" dirty="0"/>
                  <a:t>y1</a:t>
                </a:r>
                <a:r>
                  <a:rPr lang="zh-TW" altLang="en-US" b="0" i="1" u="none" dirty="0"/>
                  <a:t>）</a:t>
                </a:r>
                <a:r>
                  <a:rPr lang="en-US" altLang="zh-TW" b="0" i="1" u="none" dirty="0"/>
                  <a:t>=</a:t>
                </a:r>
                <a:r>
                  <a:rPr lang="zh-TW" altLang="en-US" b="0" i="1" u="none" dirty="0"/>
                  <a:t>（</a:t>
                </a:r>
                <a:r>
                  <a:rPr lang="en-US" altLang="zh-TW" b="0" i="1" u="none" dirty="0"/>
                  <a:t>x2</a:t>
                </a:r>
                <a:r>
                  <a:rPr lang="zh-TW" altLang="en-US" b="0" i="1" u="none" dirty="0"/>
                  <a:t>，</a:t>
                </a:r>
                <a:r>
                  <a:rPr lang="en-US" altLang="zh-TW" b="0" i="1" u="none" dirty="0"/>
                  <a:t>y2</a:t>
                </a:r>
                <a:r>
                  <a:rPr lang="zh-TW" altLang="en-US" b="0" i="1" u="none" dirty="0"/>
                  <a:t>）。</a:t>
                </a:r>
                <a:r>
                  <a:rPr lang="en-US" altLang="zh-TW" i="1" u="sng" dirty="0"/>
                  <a:t>T(x1</a:t>
                </a:r>
                <a:r>
                  <a:rPr lang="zh-TW" altLang="en-US" i="1" u="sng" dirty="0"/>
                  <a:t>，</a:t>
                </a:r>
                <a:r>
                  <a:rPr lang="en-US" altLang="zh-TW" i="1" u="sng" dirty="0"/>
                  <a:t>y1)</a:t>
                </a:r>
                <a:r>
                  <a:rPr lang="zh-TW" altLang="en-US" i="1" u="sng" dirty="0"/>
                  <a:t>是</a:t>
                </a:r>
                <a:r>
                  <a:rPr lang="en-US" altLang="zh-TW" i="1" u="sng" dirty="0"/>
                  <a:t>P1</a:t>
                </a:r>
                <a:r>
                  <a:rPr lang="zh-TW" altLang="en-US" i="1" u="sng" dirty="0"/>
                  <a:t>中的代表項</a:t>
                </a:r>
                <a:r>
                  <a:rPr lang="zh-TW" altLang="en-US" dirty="0"/>
                  <a:t>。</a:t>
                </a:r>
                <a:endParaRPr lang="zh-TW" altLang="en-US" b="0" i="1" u="none" dirty="0"/>
              </a:p>
              <a:p>
                <a:r>
                  <a:rPr lang="zh-TW" altLang="en-US" i="1" dirty="0"/>
                  <a:t>我們利用</a:t>
                </a:r>
                <a:r>
                  <a:rPr lang="en-US" altLang="zh-TW" i="1" u="sng" dirty="0" err="1"/>
                  <a:t>Prev</a:t>
                </a:r>
                <a:r>
                  <a:rPr lang="zh-TW" altLang="en-US" i="1" u="sng" dirty="0"/>
                  <a:t>（</a:t>
                </a:r>
                <a:r>
                  <a:rPr lang="en-US" altLang="zh-TW" i="1" u="sng" dirty="0"/>
                  <a:t>x1</a:t>
                </a:r>
                <a:r>
                  <a:rPr lang="zh-TW" altLang="en-US" i="1" u="sng" dirty="0"/>
                  <a:t>，</a:t>
                </a:r>
                <a:r>
                  <a:rPr lang="en-US" altLang="zh-TW" i="1" u="sng" dirty="0"/>
                  <a:t>y1</a:t>
                </a:r>
                <a:r>
                  <a:rPr lang="zh-TW" altLang="en-US" i="1" u="sng" dirty="0"/>
                  <a:t>）的值在</a:t>
                </a:r>
                <a:r>
                  <a:rPr lang="en-US" altLang="zh-TW" i="1" u="sng" dirty="0"/>
                  <a:t>P1</a:t>
                </a:r>
                <a:r>
                  <a:rPr lang="zh-TW" altLang="en-US" i="1" u="sng" dirty="0"/>
                  <a:t>中找到另一個</a:t>
                </a:r>
                <a:r>
                  <a:rPr lang="en-US" altLang="zh-TW" i="1" u="sng" dirty="0"/>
                  <a:t>T</a:t>
                </a:r>
                <a:r>
                  <a:rPr lang="zh-TW" altLang="en-US" i="1" u="sng" dirty="0"/>
                  <a:t>（</a:t>
                </a:r>
                <a:r>
                  <a:rPr lang="en-US" altLang="zh-TW" i="1" u="sng" dirty="0"/>
                  <a:t>x2</a:t>
                </a:r>
                <a:r>
                  <a:rPr lang="zh-TW" altLang="en-US" i="1" u="sng" dirty="0"/>
                  <a:t>，</a:t>
                </a:r>
                <a:r>
                  <a:rPr lang="en-US" altLang="zh-TW" i="1" u="sng" dirty="0"/>
                  <a:t>y2</a:t>
                </a:r>
                <a:r>
                  <a:rPr lang="zh-TW" altLang="en-US" i="1" u="sng" dirty="0"/>
                  <a:t>）</a:t>
                </a:r>
                <a:r>
                  <a:rPr lang="zh-TW" altLang="en-US" u="sng" dirty="0"/>
                  <a:t>，</a:t>
                </a:r>
                <a:endParaRPr lang="en-US" altLang="zh-TW" u="sng" dirty="0"/>
              </a:p>
              <a:p>
                <a:r>
                  <a:rPr lang="zh-TW" altLang="en-US" u="sng" dirty="0"/>
                  <a:t>令</a:t>
                </a:r>
                <a:r>
                  <a:rPr lang="en-US" altLang="zh-TW" u="sng" dirty="0"/>
                  <a:t>P’1</a:t>
                </a:r>
                <a:r>
                  <a:rPr lang="zh-TW" altLang="en-US" u="sng" dirty="0"/>
                  <a:t>是從</a:t>
                </a:r>
                <a:r>
                  <a:rPr lang="en-US" altLang="zh-TW" u="sng" dirty="0"/>
                  <a:t>T</a:t>
                </a:r>
                <a:r>
                  <a:rPr lang="zh-TW" altLang="en-US" u="sng" dirty="0"/>
                  <a:t>的位置（</a:t>
                </a:r>
                <a:r>
                  <a:rPr lang="en-US" altLang="zh-TW" u="sng" dirty="0"/>
                  <a:t>x1</a:t>
                </a:r>
                <a:r>
                  <a:rPr lang="zh-TW" altLang="en-US" u="sng" dirty="0"/>
                  <a:t>，</a:t>
                </a:r>
                <a:r>
                  <a:rPr lang="en-US" altLang="zh-TW" u="sng" dirty="0"/>
                  <a:t>y1</a:t>
                </a:r>
                <a:r>
                  <a:rPr lang="zh-TW" altLang="en-US" u="sng" dirty="0"/>
                  <a:t>）到</a:t>
                </a:r>
                <a:r>
                  <a:rPr lang="en-US" altLang="zh-TW" u="sng" dirty="0"/>
                  <a:t>P1</a:t>
                </a:r>
                <a:r>
                  <a:rPr lang="zh-TW" altLang="en-US" u="sng" dirty="0"/>
                  <a:t>的末尾的</a:t>
                </a:r>
                <a:r>
                  <a:rPr lang="en-US" altLang="zh-TW" u="sng" dirty="0"/>
                  <a:t>P1</a:t>
                </a:r>
                <a:r>
                  <a:rPr lang="zh-TW" altLang="en-US" u="sng" dirty="0"/>
                  <a:t>的子路徑</a:t>
                </a:r>
                <a:r>
                  <a:rPr lang="zh-TW" altLang="en-US" dirty="0"/>
                  <a:t>，並且</a:t>
                </a:r>
                <a:r>
                  <a:rPr lang="en-US" altLang="zh-TW" dirty="0"/>
                  <a:t>P2 = P1- P’1</a:t>
                </a:r>
                <a:endParaRPr lang="zh-TW" altLang="en-US" dirty="0"/>
              </a:p>
              <a:p>
                <a:endParaRPr lang="zh-TW" altLang="en-US" dirty="0"/>
              </a:p>
              <a:p>
                <a:r>
                  <a:rPr lang="en-US" altLang="zh-TW" dirty="0"/>
                  <a:t>T</a:t>
                </a:r>
                <a:r>
                  <a:rPr lang="zh-TW" altLang="en-US" dirty="0"/>
                  <a:t>（</a:t>
                </a:r>
                <a:r>
                  <a:rPr lang="en-US" altLang="zh-TW" dirty="0"/>
                  <a:t>x2</a:t>
                </a:r>
                <a:r>
                  <a:rPr lang="zh-TW" altLang="en-US" dirty="0"/>
                  <a:t>，</a:t>
                </a:r>
                <a:r>
                  <a:rPr lang="en-US" altLang="zh-TW" dirty="0"/>
                  <a:t>y2</a:t>
                </a:r>
                <a:r>
                  <a:rPr lang="zh-TW" altLang="en-US" dirty="0"/>
                  <a:t>）成為</a:t>
                </a:r>
                <a:r>
                  <a:rPr lang="en-US" altLang="zh-TW" dirty="0"/>
                  <a:t>P2</a:t>
                </a:r>
                <a:r>
                  <a:rPr lang="zh-TW" altLang="en-US" dirty="0"/>
                  <a:t>的代表項，</a:t>
                </a:r>
                <a:r>
                  <a:rPr lang="en-US" altLang="zh-TW" i="1" dirty="0"/>
                  <a:t>P’1</a:t>
                </a:r>
                <a:r>
                  <a:rPr lang="zh-TW" altLang="en-US" i="1" dirty="0"/>
                  <a:t>是一種特殊的幾乎增加的子路徑</a:t>
                </a:r>
                <a:r>
                  <a:rPr lang="zh-TW" altLang="en-US" dirty="0"/>
                  <a:t>，其代表是</a:t>
                </a:r>
                <a:r>
                  <a:rPr lang="en-US" altLang="zh-TW" dirty="0"/>
                  <a:t>P’1</a:t>
                </a:r>
                <a:r>
                  <a:rPr lang="zh-TW" altLang="en-US" dirty="0"/>
                  <a:t>的第一項。</a:t>
                </a:r>
                <a:endParaRPr lang="en-US" altLang="zh-TW" dirty="0"/>
              </a:p>
              <a:p>
                <a:r>
                  <a:rPr lang="en-US" altLang="zh-TW" u="sng" dirty="0" err="1"/>
                  <a:t>Recrsive</a:t>
                </a:r>
                <a:r>
                  <a:rPr lang="en-US" altLang="zh-TW" u="sng" dirty="0"/>
                  <a:t> </a:t>
                </a:r>
                <a:r>
                  <a:rPr lang="zh-TW" altLang="en-US" u="sng" dirty="0"/>
                  <a:t>我們實際上可以將</a:t>
                </a:r>
                <a:r>
                  <a:rPr lang="en-US" altLang="zh-TW" u="sng" dirty="0"/>
                  <a:t>P1</a:t>
                </a:r>
                <a:r>
                  <a:rPr lang="zh-TW" altLang="en-US" u="sng" dirty="0"/>
                  <a:t>劃分為幾個子路徑</a:t>
                </a:r>
                <a:r>
                  <a:rPr lang="zh-TW" altLang="en-US" dirty="0"/>
                  <a:t>，這樣每個</a:t>
                </a:r>
                <a:r>
                  <a:rPr lang="en-US" altLang="zh-TW" dirty="0" err="1"/>
                  <a:t>P’i</a:t>
                </a:r>
                <a:r>
                  <a:rPr lang="zh-TW" altLang="en-US" dirty="0"/>
                  <a:t>都是一個特殊的幾乎增加的子路徑，</a:t>
                </a:r>
                <a:r>
                  <a:rPr lang="zh-TW" altLang="en-US" b="1" i="1" u="sng" dirty="0"/>
                  <a:t>而且通過</a:t>
                </a:r>
                <a:r>
                  <a:rPr lang="en-US" altLang="zh-TW" b="1" i="1" u="sng" dirty="0" err="1"/>
                  <a:t>Prev</a:t>
                </a:r>
                <a:r>
                  <a:rPr lang="zh-TW" altLang="en-US" b="1" i="1" u="sng" dirty="0"/>
                  <a:t>表獲得的</a:t>
                </a:r>
                <a:r>
                  <a:rPr lang="en-US" altLang="zh-TW" b="1" i="1" u="sng" dirty="0"/>
                  <a:t>T(</a:t>
                </a:r>
                <a:r>
                  <a:rPr lang="en-US" altLang="zh-TW" b="1" i="1" u="sng" dirty="0" err="1"/>
                  <a:t>xk</a:t>
                </a:r>
                <a:r>
                  <a:rPr lang="zh-TW" altLang="en-US" b="1" i="1" u="sng" dirty="0"/>
                  <a:t>，</a:t>
                </a:r>
                <a:r>
                  <a:rPr lang="en-US" altLang="zh-TW" b="1" i="1" u="sng" dirty="0" err="1"/>
                  <a:t>yk</a:t>
                </a:r>
                <a:r>
                  <a:rPr lang="zh-TW" altLang="en-US" b="1" i="1" u="sng" dirty="0"/>
                  <a:t>），</a:t>
                </a:r>
                <a:r>
                  <a:rPr lang="en-US" altLang="zh-TW" b="1" i="1" u="sng" dirty="0"/>
                  <a:t>T</a:t>
                </a:r>
                <a:r>
                  <a:rPr lang="zh-TW" altLang="en-US" b="1" i="1" u="sng" dirty="0"/>
                  <a:t>（</a:t>
                </a:r>
                <a:r>
                  <a:rPr lang="en-US" altLang="zh-TW" b="1" i="1" u="sng" dirty="0"/>
                  <a:t>xk-1</a:t>
                </a:r>
                <a:r>
                  <a:rPr lang="zh-TW" altLang="en-US" b="1" i="1" u="sng" dirty="0"/>
                  <a:t>，</a:t>
                </a:r>
                <a:r>
                  <a:rPr lang="en-US" altLang="zh-TW" b="1" i="1" u="sng" dirty="0"/>
                  <a:t>yk-1</a:t>
                </a:r>
                <a:r>
                  <a:rPr lang="zh-TW" altLang="en-US" b="1" i="1" u="sng" dirty="0"/>
                  <a:t>），</a:t>
                </a:r>
                <a:r>
                  <a:rPr lang="en-US" altLang="zh-TW" b="1" i="1" u="sng" dirty="0"/>
                  <a:t>...</a:t>
                </a:r>
                <a:r>
                  <a:rPr lang="zh-TW" altLang="en-US" b="1" i="1" u="sng" dirty="0"/>
                  <a:t>，</a:t>
                </a:r>
                <a:r>
                  <a:rPr lang="en-US" altLang="zh-TW" b="1" i="1" u="sng" dirty="0"/>
                  <a:t>T</a:t>
                </a:r>
                <a:r>
                  <a:rPr lang="zh-TW" altLang="en-US" b="1" i="1" u="sng" dirty="0"/>
                  <a:t>（</a:t>
                </a:r>
                <a:r>
                  <a:rPr lang="en-US" altLang="zh-TW" b="1" i="1" u="sng" dirty="0"/>
                  <a:t>x1</a:t>
                </a:r>
                <a:r>
                  <a:rPr lang="zh-TW" altLang="en-US" b="1" i="1" u="sng" dirty="0"/>
                  <a:t>，</a:t>
                </a:r>
                <a:r>
                  <a:rPr lang="en-US" altLang="zh-TW" b="1" i="1" u="sng" dirty="0"/>
                  <a:t>y1</a:t>
                </a:r>
                <a:r>
                  <a:rPr lang="zh-TW" altLang="en-US" b="1" i="1" u="sng" dirty="0"/>
                  <a:t>）構成</a:t>
                </a:r>
                <a:r>
                  <a:rPr lang="en-US" altLang="zh-TW" b="1" i="1" u="sng" dirty="0"/>
                  <a:t>P1</a:t>
                </a:r>
                <a:r>
                  <a:rPr lang="zh-TW" altLang="en-US" b="1" i="1" u="sng" dirty="0"/>
                  <a:t>的部分結果（即</a:t>
                </a:r>
                <a:r>
                  <a:rPr lang="en-US" altLang="zh-TW" b="1" i="1" u="sng" dirty="0"/>
                  <a:t>β</a:t>
                </a:r>
                <a:r>
                  <a:rPr lang="zh-TW" altLang="en-US" b="1" i="1" u="sng" dirty="0"/>
                  <a:t>（</a:t>
                </a:r>
                <a:r>
                  <a:rPr lang="en-US" altLang="zh-TW" b="1" i="1" u="sng" dirty="0"/>
                  <a:t>P1</a:t>
                </a:r>
                <a:r>
                  <a:rPr lang="zh-TW" altLang="en-US" b="1" i="1" u="sng" dirty="0"/>
                  <a:t>）的子序列）</a:t>
                </a:r>
                <a:r>
                  <a:rPr lang="zh-TW" altLang="en-US" dirty="0"/>
                  <a:t>。</a:t>
                </a:r>
              </a:p>
              <a:p>
                <a:endParaRPr lang="zh-TW" altLang="en-US" dirty="0"/>
              </a:p>
              <a:p>
                <a:r>
                  <a:rPr lang="zh-TW" altLang="en-US" dirty="0"/>
                  <a:t> 因此，</a:t>
                </a:r>
                <a:r>
                  <a:rPr lang="zh-TW" altLang="en-US" u="sng" dirty="0"/>
                  <a:t>如步驟</a:t>
                </a:r>
                <a:r>
                  <a:rPr lang="en-US" altLang="zh-TW" u="sng" dirty="0"/>
                  <a:t>3</a:t>
                </a:r>
                <a:r>
                  <a:rPr lang="zh-TW" altLang="en-US" u="sng" dirty="0"/>
                  <a:t>所述，要恢復</a:t>
                </a:r>
                <a:r>
                  <a:rPr lang="en-US" altLang="zh-TW" u="sng" dirty="0"/>
                  <a:t>P1</a:t>
                </a:r>
                <a:r>
                  <a:rPr lang="zh-TW" altLang="en-US" u="sng" dirty="0"/>
                  <a:t>的完整結果，我們需要解決另一個問題，即專用</a:t>
                </a:r>
                <a:r>
                  <a:rPr lang="en-US" altLang="zh-TW" u="sng" dirty="0" err="1"/>
                  <a:t>LCaIS</a:t>
                </a:r>
                <a:r>
                  <a:rPr lang="zh-TW" altLang="en-US" u="sng" dirty="0"/>
                  <a:t>問題。</a:t>
                </a:r>
              </a:p>
              <a:p>
                <a:r>
                  <a:rPr lang="en-US" altLang="zh-TW" sz="1200" dirty="0"/>
                  <a:t>Specialized </a:t>
                </a:r>
                <a:r>
                  <a:rPr lang="en-US" altLang="zh-TW" sz="1200" dirty="0" err="1"/>
                  <a:t>LCaIS</a:t>
                </a:r>
                <a:r>
                  <a:rPr lang="en-US" altLang="zh-TW" sz="1200" dirty="0"/>
                  <a:t> problem Input: </a:t>
                </a:r>
              </a:p>
              <a:p>
                <a:r>
                  <a:rPr lang="en-US" altLang="zh-TW" sz="1200" dirty="0"/>
                  <a:t>Two sequences A = </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𝑎</m:t>
                        </m:r>
                      </m:e>
                      <m:sub>
                        <m:r>
                          <a:rPr lang="en-US" altLang="zh-TW" sz="1200" i="1">
                            <a:latin typeface="Cambria Math" panose="02040503050406030204" pitchFamily="18" charset="0"/>
                          </a:rPr>
                          <m:t>1</m:t>
                        </m:r>
                      </m:sub>
                    </m:sSub>
                    <m:sSub>
                      <m:sSubPr>
                        <m:ctrlPr>
                          <a:rPr lang="en-US" altLang="zh-TW" sz="1200" i="1" dirty="0" smtClean="0">
                            <a:latin typeface="Cambria Math" panose="02040503050406030204" pitchFamily="18" charset="0"/>
                          </a:rPr>
                        </m:ctrlPr>
                      </m:sSubPr>
                      <m:e>
                        <m:r>
                          <a:rPr lang="en-US" altLang="zh-TW" sz="1200" b="0" i="1" dirty="0" smtClean="0">
                            <a:latin typeface="Cambria Math" panose="02040503050406030204" pitchFamily="18" charset="0"/>
                          </a:rPr>
                          <m:t>,</m:t>
                        </m:r>
                        <m:r>
                          <a:rPr lang="en-US" altLang="zh-TW" sz="1200" b="0" i="1" dirty="0" smtClean="0">
                            <a:latin typeface="Cambria Math" panose="02040503050406030204" pitchFamily="18" charset="0"/>
                          </a:rPr>
                          <m:t>𝑎</m:t>
                        </m:r>
                      </m:e>
                      <m:sub>
                        <m:r>
                          <a:rPr lang="en-US" altLang="zh-TW" sz="1200" b="0" i="1" dirty="0" smtClean="0">
                            <a:latin typeface="Cambria Math" panose="02040503050406030204" pitchFamily="18" charset="0"/>
                          </a:rPr>
                          <m:t>2</m:t>
                        </m:r>
                      </m:sub>
                    </m:sSub>
                  </m:oMath>
                </a14:m>
                <a:r>
                  <a:rPr lang="en-US" altLang="zh-TW" sz="1200" dirty="0"/>
                  <a:t>, </a:t>
                </a:r>
                <a14:m>
                  <m:oMath xmlns:m="http://schemas.openxmlformats.org/officeDocument/2006/math">
                    <m:sSub>
                      <m:sSubPr>
                        <m:ctrlPr>
                          <a:rPr lang="en-US" altLang="zh-TW" sz="1200" i="1" dirty="0">
                            <a:latin typeface="Cambria Math" panose="02040503050406030204" pitchFamily="18" charset="0"/>
                          </a:rPr>
                        </m:ctrlPr>
                      </m:sSubPr>
                      <m:e>
                        <m:r>
                          <a:rPr lang="en-US" altLang="zh-TW" sz="1200" b="0" i="1" dirty="0" smtClean="0">
                            <a:latin typeface="Cambria Math" panose="02040503050406030204" pitchFamily="18" charset="0"/>
                          </a:rPr>
                          <m:t>𝑎</m:t>
                        </m:r>
                      </m:e>
                      <m:sub>
                        <m:r>
                          <a:rPr lang="en-US" altLang="zh-TW" sz="1200" b="0" i="1" dirty="0" smtClean="0">
                            <a:latin typeface="Cambria Math" panose="02040503050406030204" pitchFamily="18" charset="0"/>
                          </a:rPr>
                          <m:t>3</m:t>
                        </m:r>
                      </m:sub>
                    </m:sSub>
                    <m:r>
                      <a:rPr lang="en-US" altLang="zh-TW" sz="1200" i="1" dirty="0">
                        <a:latin typeface="Cambria Math" panose="02040503050406030204" pitchFamily="18" charset="0"/>
                      </a:rPr>
                      <m:t> </m:t>
                    </m:r>
                    <m:r>
                      <a:rPr lang="en-US" altLang="zh-TW" sz="1200" b="0" i="1" dirty="0" smtClean="0">
                        <a:latin typeface="Cambria Math" panose="02040503050406030204" pitchFamily="18" charset="0"/>
                      </a:rPr>
                      <m:t>…</m:t>
                    </m:r>
                    <m:sSub>
                      <m:sSubPr>
                        <m:ctrlPr>
                          <a:rPr lang="en-US" altLang="zh-TW" sz="1200" i="1" dirty="0">
                            <a:latin typeface="Cambria Math" panose="02040503050406030204" pitchFamily="18" charset="0"/>
                          </a:rPr>
                        </m:ctrlPr>
                      </m:sSubPr>
                      <m:e>
                        <m:r>
                          <a:rPr lang="en-US" altLang="zh-TW" sz="1200" b="0" i="1" dirty="0" smtClean="0">
                            <a:latin typeface="Cambria Math" panose="02040503050406030204" pitchFamily="18" charset="0"/>
                          </a:rPr>
                          <m:t>𝑎</m:t>
                        </m:r>
                      </m:e>
                      <m:sub>
                        <m:r>
                          <a:rPr lang="en-US" altLang="zh-TW" sz="1200" b="0" i="1" dirty="0" smtClean="0">
                            <a:latin typeface="Cambria Math" panose="02040503050406030204" pitchFamily="18" charset="0"/>
                          </a:rPr>
                          <m:t>𝑛</m:t>
                        </m:r>
                      </m:sub>
                    </m:sSub>
                    <m:r>
                      <a:rPr lang="en-US" altLang="zh-TW" sz="1200" i="1" dirty="0">
                        <a:latin typeface="Cambria Math" panose="02040503050406030204" pitchFamily="18" charset="0"/>
                      </a:rPr>
                      <m:t> </m:t>
                    </m:r>
                  </m:oMath>
                </a14:m>
                <a:r>
                  <a:rPr lang="en-US" altLang="zh-TW" sz="1200" dirty="0"/>
                  <a:t>and B = </a:t>
                </a:r>
                <a14:m>
                  <m:oMath xmlns:m="http://schemas.openxmlformats.org/officeDocument/2006/math">
                    <m:sSub>
                      <m:sSubPr>
                        <m:ctrlPr>
                          <a:rPr lang="en-US" altLang="zh-TW" sz="1200" i="1" dirty="0">
                            <a:latin typeface="Cambria Math" panose="02040503050406030204" pitchFamily="18" charset="0"/>
                          </a:rPr>
                        </m:ctrlPr>
                      </m:sSubPr>
                      <m:e>
                        <m:r>
                          <a:rPr lang="en-US" altLang="zh-TW" sz="1200" b="0" i="1" dirty="0" smtClean="0">
                            <a:latin typeface="Cambria Math" panose="02040503050406030204" pitchFamily="18" charset="0"/>
                          </a:rPr>
                          <m:t>𝑏</m:t>
                        </m:r>
                      </m:e>
                      <m:sub>
                        <m:r>
                          <a:rPr lang="en-US" altLang="zh-TW" sz="1200" b="0" i="1" dirty="0" smtClean="0">
                            <a:latin typeface="Cambria Math" panose="02040503050406030204" pitchFamily="18" charset="0"/>
                          </a:rPr>
                          <m:t>1</m:t>
                        </m:r>
                      </m:sub>
                    </m:sSub>
                    <m:r>
                      <a:rPr lang="en-US" altLang="zh-TW" sz="1200" b="0" i="1" dirty="0" smtClean="0">
                        <a:latin typeface="Cambria Math" panose="02040503050406030204" pitchFamily="18" charset="0"/>
                      </a:rPr>
                      <m:t>,</m:t>
                    </m:r>
                    <m:r>
                      <a:rPr lang="en-US" altLang="zh-TW" sz="1200" i="1" dirty="0">
                        <a:latin typeface="Cambria Math" panose="02040503050406030204" pitchFamily="18" charset="0"/>
                      </a:rPr>
                      <m:t> </m:t>
                    </m:r>
                    <m:sSub>
                      <m:sSubPr>
                        <m:ctrlPr>
                          <a:rPr lang="en-US" altLang="zh-TW" sz="1200" i="1" dirty="0">
                            <a:latin typeface="Cambria Math" panose="02040503050406030204" pitchFamily="18" charset="0"/>
                          </a:rPr>
                        </m:ctrlPr>
                      </m:sSubPr>
                      <m:e>
                        <m:r>
                          <a:rPr lang="en-US" altLang="zh-TW" sz="1200" b="0" i="1" dirty="0" smtClean="0">
                            <a:latin typeface="Cambria Math" panose="02040503050406030204" pitchFamily="18" charset="0"/>
                          </a:rPr>
                          <m:t>𝑏</m:t>
                        </m:r>
                      </m:e>
                      <m:sub>
                        <m:r>
                          <a:rPr lang="en-US" altLang="zh-TW" sz="1200" b="0" i="1" dirty="0" smtClean="0">
                            <a:latin typeface="Cambria Math" panose="02040503050406030204" pitchFamily="18" charset="0"/>
                          </a:rPr>
                          <m:t>2</m:t>
                        </m:r>
                      </m:sub>
                    </m:sSub>
                    <m:r>
                      <a:rPr lang="en-US" altLang="zh-TW" sz="1200" b="0" i="1" dirty="0" smtClean="0">
                        <a:latin typeface="Cambria Math" panose="02040503050406030204" pitchFamily="18" charset="0"/>
                      </a:rPr>
                      <m:t>…</m:t>
                    </m:r>
                    <m:r>
                      <a:rPr lang="en-US" altLang="zh-TW" sz="1200" i="1" dirty="0">
                        <a:latin typeface="Cambria Math" panose="02040503050406030204" pitchFamily="18" charset="0"/>
                      </a:rPr>
                      <m:t> </m:t>
                    </m:r>
                    <m:sSub>
                      <m:sSubPr>
                        <m:ctrlPr>
                          <a:rPr lang="en-US" altLang="zh-TW" sz="1200" i="1" dirty="0">
                            <a:latin typeface="Cambria Math" panose="02040503050406030204" pitchFamily="18" charset="0"/>
                          </a:rPr>
                        </m:ctrlPr>
                      </m:sSubPr>
                      <m:e>
                        <m:r>
                          <a:rPr lang="en-US" altLang="zh-TW" sz="1200" b="0" i="1" dirty="0" smtClean="0">
                            <a:latin typeface="Cambria Math" panose="02040503050406030204" pitchFamily="18" charset="0"/>
                          </a:rPr>
                          <m:t>𝑏</m:t>
                        </m:r>
                      </m:e>
                      <m:sub>
                        <m:r>
                          <a:rPr lang="en-US" altLang="zh-TW" sz="1200" b="0" i="1" dirty="0" smtClean="0">
                            <a:latin typeface="Cambria Math" panose="02040503050406030204" pitchFamily="18" charset="0"/>
                          </a:rPr>
                          <m:t>𝑚</m:t>
                        </m:r>
                      </m:sub>
                    </m:sSub>
                  </m:oMath>
                </a14:m>
                <a:r>
                  <a:rPr lang="en-US" altLang="zh-TW" sz="1200" dirty="0"/>
                  <a:t> with </a:t>
                </a:r>
                <a14:m>
                  <m:oMath xmlns:m="http://schemas.openxmlformats.org/officeDocument/2006/math">
                    <m:sSub>
                      <m:sSubPr>
                        <m:ctrlPr>
                          <a:rPr lang="en-US" altLang="zh-TW" sz="1200" i="1" u="sng" dirty="0">
                            <a:latin typeface="Cambria Math" panose="02040503050406030204" pitchFamily="18" charset="0"/>
                          </a:rPr>
                        </m:ctrlPr>
                      </m:sSubPr>
                      <m:e>
                        <m:r>
                          <a:rPr lang="en-US" altLang="zh-TW" sz="1200" b="0" i="1" u="sng" dirty="0" smtClean="0">
                            <a:latin typeface="Cambria Math" panose="02040503050406030204" pitchFamily="18" charset="0"/>
                          </a:rPr>
                          <m:t>𝑎</m:t>
                        </m:r>
                      </m:e>
                      <m:sub>
                        <m:r>
                          <a:rPr lang="en-US" altLang="zh-TW" sz="1200" b="0" i="1" u="sng" dirty="0" smtClean="0">
                            <a:latin typeface="Cambria Math" panose="02040503050406030204" pitchFamily="18" charset="0"/>
                          </a:rPr>
                          <m:t>1</m:t>
                        </m:r>
                      </m:sub>
                    </m:sSub>
                    <m:r>
                      <a:rPr lang="en-US" altLang="zh-TW" sz="1200" b="0" i="1" u="sng" dirty="0" smtClean="0">
                        <a:latin typeface="Cambria Math" panose="02040503050406030204" pitchFamily="18" charset="0"/>
                      </a:rPr>
                      <m:t>=</m:t>
                    </m:r>
                    <m:r>
                      <a:rPr lang="en-US" altLang="zh-TW" sz="1200" i="1" u="sng" dirty="0">
                        <a:latin typeface="Cambria Math" panose="02040503050406030204" pitchFamily="18" charset="0"/>
                      </a:rPr>
                      <m:t> </m:t>
                    </m:r>
                    <m:sSub>
                      <m:sSubPr>
                        <m:ctrlPr>
                          <a:rPr lang="en-US" altLang="zh-TW" sz="1200" i="1" u="sng" dirty="0">
                            <a:latin typeface="Cambria Math" panose="02040503050406030204" pitchFamily="18" charset="0"/>
                          </a:rPr>
                        </m:ctrlPr>
                      </m:sSubPr>
                      <m:e>
                        <m:r>
                          <a:rPr lang="en-US" altLang="zh-TW" sz="1200" b="0" i="1" u="sng" dirty="0" smtClean="0">
                            <a:latin typeface="Cambria Math" panose="02040503050406030204" pitchFamily="18" charset="0"/>
                          </a:rPr>
                          <m:t>𝑏</m:t>
                        </m:r>
                      </m:e>
                      <m:sub>
                        <m:r>
                          <a:rPr lang="en-US" altLang="zh-TW" sz="1200" b="0" i="1" u="sng" dirty="0" smtClean="0">
                            <a:latin typeface="Cambria Math" panose="02040503050406030204" pitchFamily="18" charset="0"/>
                          </a:rPr>
                          <m:t>1</m:t>
                        </m:r>
                      </m:sub>
                    </m:sSub>
                    <m:r>
                      <a:rPr lang="en-US" altLang="zh-TW" sz="1200" i="1" u="sng" dirty="0">
                        <a:latin typeface="Cambria Math" panose="02040503050406030204" pitchFamily="18" charset="0"/>
                      </a:rPr>
                      <m:t> </m:t>
                    </m:r>
                  </m:oMath>
                </a14:m>
                <a:r>
                  <a:rPr lang="en-US" altLang="zh-TW" sz="1200" u="sng" dirty="0"/>
                  <a:t> </a:t>
                </a:r>
                <a:r>
                  <a:rPr lang="en-US" altLang="zh-TW" sz="1200" dirty="0"/>
                  <a:t>and a constant c &gt; 0.</a:t>
                </a:r>
              </a:p>
              <a:p>
                <a:r>
                  <a:rPr lang="en-US" altLang="zh-TW" sz="1200" dirty="0"/>
                  <a:t> </a:t>
                </a:r>
              </a:p>
              <a:p>
                <a:r>
                  <a:rPr lang="en-US" altLang="zh-TW" sz="1200" dirty="0"/>
                  <a:t>Output: T (1, 1) is its representative point. </a:t>
                </a:r>
              </a:p>
              <a:p>
                <a:r>
                  <a:rPr lang="en-US" altLang="zh-TW" sz="1200" dirty="0"/>
                  <a:t>Let δ(</a:t>
                </a:r>
                <a:r>
                  <a:rPr lang="en-US" altLang="zh-TW" sz="1200" dirty="0" err="1"/>
                  <a:t>i</a:t>
                </a:r>
                <a:r>
                  <a:rPr lang="en-US" altLang="zh-TW" sz="1200" dirty="0"/>
                  <a:t>, j) be the length of </a:t>
                </a:r>
                <a:r>
                  <a:rPr lang="en-US" altLang="zh-TW" sz="1200" dirty="0">
                    <a:solidFill>
                      <a:srgbClr val="202122"/>
                    </a:solidFill>
                    <a:latin typeface="Arial" panose="020B0604020202020204" pitchFamily="34" charset="0"/>
                  </a:rPr>
                  <a:t>(</a:t>
                </a:r>
                <a14:m>
                  <m:oMath xmlns:m="http://schemas.openxmlformats.org/officeDocument/2006/math">
                    <m:r>
                      <a:rPr lang="zh-TW" altLang="en-US" sz="1200" i="1" dirty="0">
                        <a:solidFill>
                          <a:srgbClr val="202122"/>
                        </a:solidFill>
                        <a:latin typeface="Cambria Math" panose="02040503050406030204" pitchFamily="18" charset="0"/>
                      </a:rPr>
                      <m:t> </m:t>
                    </m:r>
                    <m:sSubSup>
                      <m:sSubSupPr>
                        <m:ctrlPr>
                          <a:rPr lang="en-US" altLang="zh-TW" sz="1200" b="0" i="1" smtClean="0">
                            <a:solidFill>
                              <a:srgbClr val="202122"/>
                            </a:solidFill>
                            <a:effectLst/>
                            <a:latin typeface="Cambria Math" panose="02040503050406030204" pitchFamily="18" charset="0"/>
                          </a:rPr>
                        </m:ctrlPr>
                      </m:sSubSupPr>
                      <m:e>
                        <m:r>
                          <m:rPr>
                            <m:sty m:val="p"/>
                          </m:rPr>
                          <a:rPr lang="en-US" altLang="zh-TW" sz="1200" i="1">
                            <a:solidFill>
                              <a:srgbClr val="202122"/>
                            </a:solidFill>
                            <a:latin typeface="Cambria Math" panose="02040503050406030204" pitchFamily="18" charset="0"/>
                          </a:rPr>
                          <m:t>L</m:t>
                        </m:r>
                        <m:r>
                          <m:rPr>
                            <m:sty m:val="p"/>
                          </m:rPr>
                          <a:rPr lang="en-US" altLang="zh-TW" sz="1200" i="1" smtClean="0">
                            <a:solidFill>
                              <a:srgbClr val="202122"/>
                            </a:solidFill>
                            <a:latin typeface="Cambria Math" panose="02040503050406030204" pitchFamily="18" charset="0"/>
                          </a:rPr>
                          <m:t>P</m:t>
                        </m:r>
                      </m:e>
                      <m:sub>
                        <m:r>
                          <a:rPr lang="en-US" altLang="zh-TW" sz="1200" b="0" i="1" smtClean="0">
                            <a:solidFill>
                              <a:srgbClr val="202122"/>
                            </a:solidFill>
                            <a:latin typeface="Cambria Math" panose="02040503050406030204" pitchFamily="18" charset="0"/>
                          </a:rPr>
                          <m:t>𝑗</m:t>
                        </m:r>
                      </m:sub>
                      <m:sup>
                        <m:r>
                          <a:rPr lang="en-US" altLang="zh-TW" sz="1200" b="0" i="1" smtClean="0">
                            <a:solidFill>
                              <a:srgbClr val="202122"/>
                            </a:solidFill>
                            <a:latin typeface="Cambria Math" panose="02040503050406030204" pitchFamily="18" charset="0"/>
                          </a:rPr>
                          <m:t>𝑖</m:t>
                        </m:r>
                      </m:sup>
                    </m:sSubSup>
                  </m:oMath>
                </a14:m>
                <a:r>
                  <a:rPr lang="en-US" altLang="zh-TW" sz="1200" dirty="0"/>
                  <a:t>(1,1)</a:t>
                </a:r>
                <a:r>
                  <a:rPr lang="zh-TW" altLang="en-US" sz="1200" dirty="0"/>
                  <a:t> </a:t>
                </a:r>
                <a:r>
                  <a:rPr lang="en-US" altLang="zh-TW" sz="1200" dirty="0"/>
                  <a:t>in sub-table </a:t>
                </a:r>
                <a:r>
                  <a:rPr lang="en-US" altLang="zh-TW" sz="1200" dirty="0" err="1"/>
                  <a:t>Ti,j</a:t>
                </a:r>
                <a:r>
                  <a:rPr lang="en-US" altLang="zh-TW" sz="1200" dirty="0"/>
                  <a:t> . According to Lemma 1, we can solve the specialized </a:t>
                </a:r>
                <a:r>
                  <a:rPr lang="en-US" altLang="zh-TW" sz="1200" dirty="0" err="1"/>
                  <a:t>LCaIS</a:t>
                </a:r>
                <a:r>
                  <a:rPr lang="en-US" altLang="zh-TW" sz="1200" dirty="0"/>
                  <a:t> problem by the following recursive formula. For all 2 ≤ </a:t>
                </a:r>
                <a:r>
                  <a:rPr lang="en-US" altLang="zh-TW" sz="1200" dirty="0" err="1"/>
                  <a:t>i</a:t>
                </a:r>
                <a:r>
                  <a:rPr lang="en-US" altLang="zh-TW" sz="1200" dirty="0"/>
                  <a:t> ≤ n and 2 ≤ j ≤ m,</a:t>
                </a:r>
                <a:endParaRPr lang="zh-TW" altLang="en-US" sz="1200" dirty="0"/>
              </a:p>
              <a:p>
                <a:endParaRPr lang="zh-TW" altLang="en-US" dirty="0"/>
              </a:p>
            </p:txBody>
          </p:sp>
        </mc:Choice>
        <mc:Fallback xmlns="">
          <p:sp>
            <p:nvSpPr>
              <p:cNvPr id="3" name="備忘稿版面配置區 2"/>
              <p:cNvSpPr>
                <a:spLocks noGrp="1"/>
              </p:cNvSpPr>
              <p:nvPr>
                <p:ph type="body" idx="1"/>
              </p:nvPr>
            </p:nvSpPr>
            <p:spPr/>
            <p:txBody>
              <a:bodyPr/>
              <a:lstStyle/>
              <a:p>
                <a:r>
                  <a:rPr lang="en-US" altLang="zh-TW" i="1" u="sng" dirty="0" err="1"/>
                  <a:t>Prev</a:t>
                </a:r>
                <a:r>
                  <a:rPr lang="zh-TW" altLang="en-US" i="1" u="sng" dirty="0"/>
                  <a:t>表只能構建兩個輸入序列的</a:t>
                </a:r>
                <a:r>
                  <a:rPr lang="en-US" altLang="zh-TW" i="1" u="sng" dirty="0" err="1"/>
                  <a:t>LCaIS</a:t>
                </a:r>
                <a:r>
                  <a:rPr lang="zh-TW" altLang="en-US" i="1" u="sng" dirty="0"/>
                  <a:t>的部分結果</a:t>
                </a:r>
                <a:endParaRPr lang="en-US" altLang="zh-TW" i="1" u="sng" dirty="0"/>
              </a:p>
              <a:p>
                <a:r>
                  <a:rPr lang="zh-TW" altLang="en-US" b="1" i="1" u="sng" dirty="0"/>
                  <a:t>通過</a:t>
                </a:r>
                <a:r>
                  <a:rPr lang="en-US" altLang="zh-TW" b="1" i="1" u="sng" dirty="0" err="1"/>
                  <a:t>Prev</a:t>
                </a:r>
                <a:r>
                  <a:rPr lang="zh-TW" altLang="en-US" b="1" i="1" u="sng" dirty="0"/>
                  <a:t>表獲得的</a:t>
                </a:r>
                <a:r>
                  <a:rPr lang="en-US" altLang="zh-TW" b="1" i="1" u="sng" dirty="0"/>
                  <a:t>T(</a:t>
                </a:r>
                <a:r>
                  <a:rPr lang="en-US" altLang="zh-TW" b="1" i="1" u="sng" dirty="0" err="1"/>
                  <a:t>xk</a:t>
                </a:r>
                <a:r>
                  <a:rPr lang="zh-TW" altLang="en-US" b="1" i="1" u="sng" dirty="0"/>
                  <a:t>，</a:t>
                </a:r>
                <a:r>
                  <a:rPr lang="en-US" altLang="zh-TW" b="1" i="1" u="sng" dirty="0" err="1"/>
                  <a:t>yk</a:t>
                </a:r>
                <a:r>
                  <a:rPr lang="zh-TW" altLang="en-US" b="1" i="1" u="sng" dirty="0"/>
                  <a:t>），</a:t>
                </a:r>
                <a:r>
                  <a:rPr lang="en-US" altLang="zh-TW" b="1" i="1" u="sng" dirty="0"/>
                  <a:t>T</a:t>
                </a:r>
                <a:r>
                  <a:rPr lang="zh-TW" altLang="en-US" b="1" i="1" u="sng" dirty="0"/>
                  <a:t>（</a:t>
                </a:r>
                <a:r>
                  <a:rPr lang="en-US" altLang="zh-TW" b="1" i="1" u="sng" dirty="0"/>
                  <a:t>xk-1</a:t>
                </a:r>
                <a:r>
                  <a:rPr lang="zh-TW" altLang="en-US" b="1" i="1" u="sng" dirty="0"/>
                  <a:t>，</a:t>
                </a:r>
                <a:r>
                  <a:rPr lang="en-US" altLang="zh-TW" b="1" i="1" u="sng" dirty="0"/>
                  <a:t>yk-1</a:t>
                </a:r>
                <a:r>
                  <a:rPr lang="zh-TW" altLang="en-US" b="1" i="1" u="sng" dirty="0"/>
                  <a:t>），</a:t>
                </a:r>
                <a:r>
                  <a:rPr lang="en-US" altLang="zh-TW" b="1" i="1" u="sng" dirty="0"/>
                  <a:t>...</a:t>
                </a:r>
                <a:r>
                  <a:rPr lang="zh-TW" altLang="en-US" b="1" i="1" u="sng" dirty="0"/>
                  <a:t>，</a:t>
                </a:r>
                <a:r>
                  <a:rPr lang="en-US" altLang="zh-TW" b="1" i="1" u="sng" dirty="0"/>
                  <a:t>T</a:t>
                </a:r>
                <a:r>
                  <a:rPr lang="zh-TW" altLang="en-US" b="1" i="1" u="sng" dirty="0"/>
                  <a:t>（</a:t>
                </a:r>
                <a:r>
                  <a:rPr lang="en-US" altLang="zh-TW" b="1" i="1" u="sng" dirty="0"/>
                  <a:t>x1</a:t>
                </a:r>
                <a:r>
                  <a:rPr lang="zh-TW" altLang="en-US" b="1" i="1" u="sng" dirty="0"/>
                  <a:t>，</a:t>
                </a:r>
                <a:r>
                  <a:rPr lang="en-US" altLang="zh-TW" b="1" i="1" u="sng" dirty="0"/>
                  <a:t>y1</a:t>
                </a:r>
                <a:r>
                  <a:rPr lang="zh-TW" altLang="en-US" b="1" i="1" u="sng" dirty="0"/>
                  <a:t>）構成</a:t>
                </a:r>
                <a:r>
                  <a:rPr lang="en-US" altLang="zh-TW" b="1" i="1" u="sng" dirty="0"/>
                  <a:t>P1</a:t>
                </a:r>
                <a:r>
                  <a:rPr lang="zh-TW" altLang="en-US" b="1" i="1" u="sng" dirty="0"/>
                  <a:t>的部分結果（即</a:t>
                </a:r>
                <a:r>
                  <a:rPr lang="en-US" altLang="zh-TW" b="1" i="1" u="sng" dirty="0"/>
                  <a:t>β</a:t>
                </a:r>
                <a:r>
                  <a:rPr lang="zh-TW" altLang="en-US" b="1" i="1" u="sng" dirty="0"/>
                  <a:t>（</a:t>
                </a:r>
                <a:r>
                  <a:rPr lang="en-US" altLang="zh-TW" b="1" i="1" u="sng" dirty="0"/>
                  <a:t>P1</a:t>
                </a:r>
                <a:r>
                  <a:rPr lang="zh-TW" altLang="en-US" b="1" i="1" u="sng" dirty="0"/>
                  <a:t>）的子序列）</a:t>
                </a:r>
                <a:r>
                  <a:rPr lang="zh-TW" altLang="en-US" dirty="0"/>
                  <a:t>。</a:t>
                </a:r>
                <a:endParaRPr lang="en-US" altLang="zh-TW" dirty="0"/>
              </a:p>
              <a:p>
                <a:r>
                  <a:rPr lang="zh-TW" altLang="en-US" u="sng" dirty="0"/>
                  <a:t>恢復完整結果，我們需要解決另一個問題，即專用</a:t>
                </a:r>
                <a:r>
                  <a:rPr lang="en-US" altLang="zh-TW" u="sng" dirty="0" err="1"/>
                  <a:t>LCaIS</a:t>
                </a:r>
                <a:r>
                  <a:rPr lang="zh-TW" altLang="en-US" u="sng" dirty="0"/>
                  <a:t>問題</a:t>
                </a:r>
                <a:endParaRPr lang="zh-TW" altLang="en-US" dirty="0"/>
              </a:p>
              <a:p>
                <a:endParaRPr lang="zh-TW" altLang="en-US" dirty="0"/>
              </a:p>
              <a:p>
                <a:endParaRPr lang="en-US" altLang="zh-TW" i="1" u="sng" dirty="0"/>
              </a:p>
              <a:p>
                <a:r>
                  <a:rPr lang="zh-TW" altLang="en-US" b="0" i="1" u="none" dirty="0"/>
                  <a:t>假設</a:t>
                </a:r>
                <a:r>
                  <a:rPr lang="en-US" altLang="zh-TW" b="0" i="1" u="none" dirty="0" err="1"/>
                  <a:t>Prev</a:t>
                </a:r>
                <a:r>
                  <a:rPr lang="zh-TW" altLang="en-US" b="0" i="1" u="none" dirty="0"/>
                  <a:t>（</a:t>
                </a:r>
                <a:r>
                  <a:rPr lang="en-US" altLang="zh-TW" b="0" i="1" u="none" dirty="0"/>
                  <a:t>x1</a:t>
                </a:r>
                <a:r>
                  <a:rPr lang="zh-TW" altLang="en-US" b="0" i="1" u="none" dirty="0"/>
                  <a:t>，</a:t>
                </a:r>
                <a:r>
                  <a:rPr lang="en-US" altLang="zh-TW" b="0" i="1" u="none" dirty="0"/>
                  <a:t>y1</a:t>
                </a:r>
                <a:r>
                  <a:rPr lang="zh-TW" altLang="en-US" b="0" i="1" u="none" dirty="0"/>
                  <a:t>）</a:t>
                </a:r>
                <a:r>
                  <a:rPr lang="en-US" altLang="zh-TW" b="0" i="1" u="none" dirty="0"/>
                  <a:t>=</a:t>
                </a:r>
                <a:r>
                  <a:rPr lang="zh-TW" altLang="en-US" b="0" i="1" u="none" dirty="0"/>
                  <a:t>（</a:t>
                </a:r>
                <a:r>
                  <a:rPr lang="en-US" altLang="zh-TW" b="0" i="1" u="none" dirty="0"/>
                  <a:t>x2</a:t>
                </a:r>
                <a:r>
                  <a:rPr lang="zh-TW" altLang="en-US" b="0" i="1" u="none" dirty="0"/>
                  <a:t>，</a:t>
                </a:r>
                <a:r>
                  <a:rPr lang="en-US" altLang="zh-TW" b="0" i="1" u="none" dirty="0"/>
                  <a:t>y2</a:t>
                </a:r>
                <a:r>
                  <a:rPr lang="zh-TW" altLang="en-US" b="0" i="1" u="none" dirty="0"/>
                  <a:t>）。</a:t>
                </a:r>
                <a:r>
                  <a:rPr lang="en-US" altLang="zh-TW" i="1" u="sng" dirty="0"/>
                  <a:t>T(x1</a:t>
                </a:r>
                <a:r>
                  <a:rPr lang="zh-TW" altLang="en-US" i="1" u="sng" dirty="0"/>
                  <a:t>，</a:t>
                </a:r>
                <a:r>
                  <a:rPr lang="en-US" altLang="zh-TW" i="1" u="sng" dirty="0"/>
                  <a:t>y1)</a:t>
                </a:r>
                <a:r>
                  <a:rPr lang="zh-TW" altLang="en-US" i="1" u="sng" dirty="0"/>
                  <a:t>是</a:t>
                </a:r>
                <a:r>
                  <a:rPr lang="en-US" altLang="zh-TW" i="1" u="sng" dirty="0"/>
                  <a:t>P1</a:t>
                </a:r>
                <a:r>
                  <a:rPr lang="zh-TW" altLang="en-US" i="1" u="sng" dirty="0"/>
                  <a:t>中的代表項</a:t>
                </a:r>
                <a:r>
                  <a:rPr lang="zh-TW" altLang="en-US" dirty="0"/>
                  <a:t>。</a:t>
                </a:r>
                <a:endParaRPr lang="zh-TW" altLang="en-US" b="0" i="1" u="none" dirty="0"/>
              </a:p>
              <a:p>
                <a:r>
                  <a:rPr lang="zh-TW" altLang="en-US" i="1" dirty="0"/>
                  <a:t>我們利用</a:t>
                </a:r>
                <a:r>
                  <a:rPr lang="en-US" altLang="zh-TW" i="1" u="sng" dirty="0" err="1"/>
                  <a:t>Prev</a:t>
                </a:r>
                <a:r>
                  <a:rPr lang="zh-TW" altLang="en-US" i="1" u="sng" dirty="0"/>
                  <a:t>（</a:t>
                </a:r>
                <a:r>
                  <a:rPr lang="en-US" altLang="zh-TW" i="1" u="sng" dirty="0"/>
                  <a:t>x1</a:t>
                </a:r>
                <a:r>
                  <a:rPr lang="zh-TW" altLang="en-US" i="1" u="sng" dirty="0"/>
                  <a:t>，</a:t>
                </a:r>
                <a:r>
                  <a:rPr lang="en-US" altLang="zh-TW" i="1" u="sng" dirty="0"/>
                  <a:t>y1</a:t>
                </a:r>
                <a:r>
                  <a:rPr lang="zh-TW" altLang="en-US" i="1" u="sng" dirty="0"/>
                  <a:t>）的值在</a:t>
                </a:r>
                <a:r>
                  <a:rPr lang="en-US" altLang="zh-TW" i="1" u="sng" dirty="0"/>
                  <a:t>P1</a:t>
                </a:r>
                <a:r>
                  <a:rPr lang="zh-TW" altLang="en-US" i="1" u="sng" dirty="0"/>
                  <a:t>中找到另一個</a:t>
                </a:r>
                <a:r>
                  <a:rPr lang="en-US" altLang="zh-TW" i="1" u="sng" dirty="0"/>
                  <a:t>T</a:t>
                </a:r>
                <a:r>
                  <a:rPr lang="zh-TW" altLang="en-US" i="1" u="sng" dirty="0"/>
                  <a:t>（</a:t>
                </a:r>
                <a:r>
                  <a:rPr lang="en-US" altLang="zh-TW" i="1" u="sng" dirty="0"/>
                  <a:t>x2</a:t>
                </a:r>
                <a:r>
                  <a:rPr lang="zh-TW" altLang="en-US" i="1" u="sng" dirty="0"/>
                  <a:t>，</a:t>
                </a:r>
                <a:r>
                  <a:rPr lang="en-US" altLang="zh-TW" i="1" u="sng" dirty="0"/>
                  <a:t>y2</a:t>
                </a:r>
                <a:r>
                  <a:rPr lang="zh-TW" altLang="en-US" i="1" u="sng" dirty="0"/>
                  <a:t>）</a:t>
                </a:r>
                <a:r>
                  <a:rPr lang="zh-TW" altLang="en-US" u="sng" dirty="0"/>
                  <a:t>，</a:t>
                </a:r>
                <a:endParaRPr lang="en-US" altLang="zh-TW" u="sng" dirty="0"/>
              </a:p>
              <a:p>
                <a:r>
                  <a:rPr lang="zh-TW" altLang="en-US" u="sng" dirty="0"/>
                  <a:t>令</a:t>
                </a:r>
                <a:r>
                  <a:rPr lang="en-US" altLang="zh-TW" u="sng" dirty="0"/>
                  <a:t>P’1</a:t>
                </a:r>
                <a:r>
                  <a:rPr lang="zh-TW" altLang="en-US" u="sng" dirty="0"/>
                  <a:t>是從</a:t>
                </a:r>
                <a:r>
                  <a:rPr lang="en-US" altLang="zh-TW" u="sng" dirty="0"/>
                  <a:t>T</a:t>
                </a:r>
                <a:r>
                  <a:rPr lang="zh-TW" altLang="en-US" u="sng" dirty="0"/>
                  <a:t>的位置（</a:t>
                </a:r>
                <a:r>
                  <a:rPr lang="en-US" altLang="zh-TW" u="sng" dirty="0"/>
                  <a:t>x1</a:t>
                </a:r>
                <a:r>
                  <a:rPr lang="zh-TW" altLang="en-US" u="sng" dirty="0"/>
                  <a:t>，</a:t>
                </a:r>
                <a:r>
                  <a:rPr lang="en-US" altLang="zh-TW" u="sng" dirty="0"/>
                  <a:t>y1</a:t>
                </a:r>
                <a:r>
                  <a:rPr lang="zh-TW" altLang="en-US" u="sng" dirty="0"/>
                  <a:t>）到</a:t>
                </a:r>
                <a:r>
                  <a:rPr lang="en-US" altLang="zh-TW" u="sng" dirty="0"/>
                  <a:t>P1</a:t>
                </a:r>
                <a:r>
                  <a:rPr lang="zh-TW" altLang="en-US" u="sng" dirty="0"/>
                  <a:t>的末尾的</a:t>
                </a:r>
                <a:r>
                  <a:rPr lang="en-US" altLang="zh-TW" u="sng" dirty="0"/>
                  <a:t>P1</a:t>
                </a:r>
                <a:r>
                  <a:rPr lang="zh-TW" altLang="en-US" u="sng" dirty="0"/>
                  <a:t>的子路徑</a:t>
                </a:r>
                <a:r>
                  <a:rPr lang="zh-TW" altLang="en-US" dirty="0"/>
                  <a:t>，並且</a:t>
                </a:r>
                <a:r>
                  <a:rPr lang="en-US" altLang="zh-TW" dirty="0"/>
                  <a:t>P2 = P1- P’1</a:t>
                </a:r>
                <a:endParaRPr lang="zh-TW" altLang="en-US" dirty="0"/>
              </a:p>
              <a:p>
                <a:endParaRPr lang="zh-TW" altLang="en-US" dirty="0"/>
              </a:p>
              <a:p>
                <a:r>
                  <a:rPr lang="en-US" altLang="zh-TW" dirty="0"/>
                  <a:t>T</a:t>
                </a:r>
                <a:r>
                  <a:rPr lang="zh-TW" altLang="en-US" dirty="0"/>
                  <a:t>（</a:t>
                </a:r>
                <a:r>
                  <a:rPr lang="en-US" altLang="zh-TW" dirty="0"/>
                  <a:t>x2</a:t>
                </a:r>
                <a:r>
                  <a:rPr lang="zh-TW" altLang="en-US" dirty="0"/>
                  <a:t>，</a:t>
                </a:r>
                <a:r>
                  <a:rPr lang="en-US" altLang="zh-TW" dirty="0"/>
                  <a:t>y2</a:t>
                </a:r>
                <a:r>
                  <a:rPr lang="zh-TW" altLang="en-US" dirty="0"/>
                  <a:t>）成為</a:t>
                </a:r>
                <a:r>
                  <a:rPr lang="en-US" altLang="zh-TW" dirty="0"/>
                  <a:t>P2</a:t>
                </a:r>
                <a:r>
                  <a:rPr lang="zh-TW" altLang="en-US" dirty="0"/>
                  <a:t>的代表項，</a:t>
                </a:r>
                <a:r>
                  <a:rPr lang="en-US" altLang="zh-TW" i="1" dirty="0"/>
                  <a:t>P’1</a:t>
                </a:r>
                <a:r>
                  <a:rPr lang="zh-TW" altLang="en-US" i="1" dirty="0"/>
                  <a:t>是一種特殊的幾乎增加的子路徑</a:t>
                </a:r>
                <a:r>
                  <a:rPr lang="zh-TW" altLang="en-US" dirty="0"/>
                  <a:t>，其代表是</a:t>
                </a:r>
                <a:r>
                  <a:rPr lang="en-US" altLang="zh-TW" dirty="0"/>
                  <a:t>P’1</a:t>
                </a:r>
                <a:r>
                  <a:rPr lang="zh-TW" altLang="en-US" dirty="0"/>
                  <a:t>的第一項。</a:t>
                </a:r>
                <a:endParaRPr lang="en-US" altLang="zh-TW" dirty="0"/>
              </a:p>
              <a:p>
                <a:r>
                  <a:rPr lang="en-US" altLang="zh-TW" u="sng" dirty="0" err="1"/>
                  <a:t>Recrsive</a:t>
                </a:r>
                <a:r>
                  <a:rPr lang="en-US" altLang="zh-TW" u="sng" dirty="0"/>
                  <a:t> </a:t>
                </a:r>
                <a:r>
                  <a:rPr lang="zh-TW" altLang="en-US" u="sng" dirty="0"/>
                  <a:t>我們實際上可以將</a:t>
                </a:r>
                <a:r>
                  <a:rPr lang="en-US" altLang="zh-TW" u="sng" dirty="0"/>
                  <a:t>P1</a:t>
                </a:r>
                <a:r>
                  <a:rPr lang="zh-TW" altLang="en-US" u="sng" dirty="0"/>
                  <a:t>劃分為幾個子路徑</a:t>
                </a:r>
                <a:r>
                  <a:rPr lang="zh-TW" altLang="en-US" dirty="0"/>
                  <a:t>，這樣每個</a:t>
                </a:r>
                <a:r>
                  <a:rPr lang="en-US" altLang="zh-TW" dirty="0" err="1"/>
                  <a:t>P’i</a:t>
                </a:r>
                <a:r>
                  <a:rPr lang="zh-TW" altLang="en-US" dirty="0"/>
                  <a:t>都是一個特殊的幾乎增加的子路徑，</a:t>
                </a:r>
                <a:r>
                  <a:rPr lang="zh-TW" altLang="en-US" b="1" i="1" u="sng" dirty="0"/>
                  <a:t>而且通過</a:t>
                </a:r>
                <a:r>
                  <a:rPr lang="en-US" altLang="zh-TW" b="1" i="1" u="sng" dirty="0" err="1"/>
                  <a:t>Prev</a:t>
                </a:r>
                <a:r>
                  <a:rPr lang="zh-TW" altLang="en-US" b="1" i="1" u="sng" dirty="0"/>
                  <a:t>表獲得的</a:t>
                </a:r>
                <a:r>
                  <a:rPr lang="en-US" altLang="zh-TW" b="1" i="1" u="sng" dirty="0"/>
                  <a:t>T(</a:t>
                </a:r>
                <a:r>
                  <a:rPr lang="en-US" altLang="zh-TW" b="1" i="1" u="sng" dirty="0" err="1"/>
                  <a:t>xk</a:t>
                </a:r>
                <a:r>
                  <a:rPr lang="zh-TW" altLang="en-US" b="1" i="1" u="sng" dirty="0"/>
                  <a:t>，</a:t>
                </a:r>
                <a:r>
                  <a:rPr lang="en-US" altLang="zh-TW" b="1" i="1" u="sng" dirty="0" err="1"/>
                  <a:t>yk</a:t>
                </a:r>
                <a:r>
                  <a:rPr lang="zh-TW" altLang="en-US" b="1" i="1" u="sng" dirty="0"/>
                  <a:t>），</a:t>
                </a:r>
                <a:r>
                  <a:rPr lang="en-US" altLang="zh-TW" b="1" i="1" u="sng" dirty="0"/>
                  <a:t>T</a:t>
                </a:r>
                <a:r>
                  <a:rPr lang="zh-TW" altLang="en-US" b="1" i="1" u="sng" dirty="0"/>
                  <a:t>（</a:t>
                </a:r>
                <a:r>
                  <a:rPr lang="en-US" altLang="zh-TW" b="1" i="1" u="sng" dirty="0"/>
                  <a:t>xk-1</a:t>
                </a:r>
                <a:r>
                  <a:rPr lang="zh-TW" altLang="en-US" b="1" i="1" u="sng" dirty="0"/>
                  <a:t>，</a:t>
                </a:r>
                <a:r>
                  <a:rPr lang="en-US" altLang="zh-TW" b="1" i="1" u="sng" dirty="0"/>
                  <a:t>yk-1</a:t>
                </a:r>
                <a:r>
                  <a:rPr lang="zh-TW" altLang="en-US" b="1" i="1" u="sng" dirty="0"/>
                  <a:t>），</a:t>
                </a:r>
                <a:r>
                  <a:rPr lang="en-US" altLang="zh-TW" b="1" i="1" u="sng" dirty="0"/>
                  <a:t>...</a:t>
                </a:r>
                <a:r>
                  <a:rPr lang="zh-TW" altLang="en-US" b="1" i="1" u="sng" dirty="0"/>
                  <a:t>，</a:t>
                </a:r>
                <a:r>
                  <a:rPr lang="en-US" altLang="zh-TW" b="1" i="1" u="sng" dirty="0"/>
                  <a:t>T</a:t>
                </a:r>
                <a:r>
                  <a:rPr lang="zh-TW" altLang="en-US" b="1" i="1" u="sng" dirty="0"/>
                  <a:t>（</a:t>
                </a:r>
                <a:r>
                  <a:rPr lang="en-US" altLang="zh-TW" b="1" i="1" u="sng" dirty="0"/>
                  <a:t>x1</a:t>
                </a:r>
                <a:r>
                  <a:rPr lang="zh-TW" altLang="en-US" b="1" i="1" u="sng" dirty="0"/>
                  <a:t>，</a:t>
                </a:r>
                <a:r>
                  <a:rPr lang="en-US" altLang="zh-TW" b="1" i="1" u="sng" dirty="0"/>
                  <a:t>y1</a:t>
                </a:r>
                <a:r>
                  <a:rPr lang="zh-TW" altLang="en-US" b="1" i="1" u="sng" dirty="0"/>
                  <a:t>）構成</a:t>
                </a:r>
                <a:r>
                  <a:rPr lang="en-US" altLang="zh-TW" b="1" i="1" u="sng" dirty="0"/>
                  <a:t>P1</a:t>
                </a:r>
                <a:r>
                  <a:rPr lang="zh-TW" altLang="en-US" b="1" i="1" u="sng" dirty="0"/>
                  <a:t>的部分結果（即</a:t>
                </a:r>
                <a:r>
                  <a:rPr lang="en-US" altLang="zh-TW" b="1" i="1" u="sng" dirty="0"/>
                  <a:t>β</a:t>
                </a:r>
                <a:r>
                  <a:rPr lang="zh-TW" altLang="en-US" b="1" i="1" u="sng" dirty="0"/>
                  <a:t>（</a:t>
                </a:r>
                <a:r>
                  <a:rPr lang="en-US" altLang="zh-TW" b="1" i="1" u="sng" dirty="0"/>
                  <a:t>P1</a:t>
                </a:r>
                <a:r>
                  <a:rPr lang="zh-TW" altLang="en-US" b="1" i="1" u="sng" dirty="0"/>
                  <a:t>）的子序列）</a:t>
                </a:r>
                <a:r>
                  <a:rPr lang="zh-TW" altLang="en-US" dirty="0"/>
                  <a:t>。</a:t>
                </a:r>
              </a:p>
              <a:p>
                <a:endParaRPr lang="zh-TW" altLang="en-US" dirty="0"/>
              </a:p>
              <a:p>
                <a:r>
                  <a:rPr lang="zh-TW" altLang="en-US" dirty="0"/>
                  <a:t> 因此，</a:t>
                </a:r>
                <a:r>
                  <a:rPr lang="zh-TW" altLang="en-US" u="sng" dirty="0"/>
                  <a:t>如步驟</a:t>
                </a:r>
                <a:r>
                  <a:rPr lang="en-US" altLang="zh-TW" u="sng" dirty="0"/>
                  <a:t>3</a:t>
                </a:r>
                <a:r>
                  <a:rPr lang="zh-TW" altLang="en-US" u="sng" dirty="0"/>
                  <a:t>所述，要恢復</a:t>
                </a:r>
                <a:r>
                  <a:rPr lang="en-US" altLang="zh-TW" u="sng" dirty="0"/>
                  <a:t>P1</a:t>
                </a:r>
                <a:r>
                  <a:rPr lang="zh-TW" altLang="en-US" u="sng" dirty="0"/>
                  <a:t>的完整結果，我們需要解決另一個問題，即專用</a:t>
                </a:r>
                <a:r>
                  <a:rPr lang="en-US" altLang="zh-TW" u="sng" dirty="0" err="1"/>
                  <a:t>LCaIS</a:t>
                </a:r>
                <a:r>
                  <a:rPr lang="zh-TW" altLang="en-US" u="sng" dirty="0"/>
                  <a:t>問題。</a:t>
                </a:r>
              </a:p>
              <a:p>
                <a:r>
                  <a:rPr lang="en-US" altLang="zh-TW" sz="1200" dirty="0"/>
                  <a:t>Specialized </a:t>
                </a:r>
                <a:r>
                  <a:rPr lang="en-US" altLang="zh-TW" sz="1200" dirty="0" err="1"/>
                  <a:t>LCaIS</a:t>
                </a:r>
                <a:r>
                  <a:rPr lang="en-US" altLang="zh-TW" sz="1200" dirty="0"/>
                  <a:t> problem Input: </a:t>
                </a:r>
              </a:p>
              <a:p>
                <a:r>
                  <a:rPr lang="en-US" altLang="zh-TW" sz="1200" dirty="0"/>
                  <a:t>Two sequences A = </a:t>
                </a:r>
                <a:r>
                  <a:rPr lang="en-US" altLang="zh-TW" sz="1200" b="0" i="0">
                    <a:latin typeface="Cambria Math" panose="02040503050406030204" pitchFamily="18" charset="0"/>
                  </a:rPr>
                  <a:t>𝑎_</a:t>
                </a:r>
                <a:r>
                  <a:rPr lang="en-US" altLang="zh-TW" sz="1200" i="0">
                    <a:latin typeface="Cambria Math" panose="02040503050406030204" pitchFamily="18" charset="0"/>
                  </a:rPr>
                  <a:t>1</a:t>
                </a:r>
                <a:r>
                  <a:rPr lang="en-US" altLang="zh-TW" sz="1200" i="0" dirty="0">
                    <a:latin typeface="Cambria Math" panose="02040503050406030204" pitchFamily="18" charset="0"/>
                  </a:rPr>
                  <a:t> 〖</a:t>
                </a:r>
                <a:r>
                  <a:rPr lang="en-US" altLang="zh-TW" sz="1200" b="0" i="0" dirty="0">
                    <a:latin typeface="Cambria Math" panose="02040503050406030204" pitchFamily="18" charset="0"/>
                  </a:rPr>
                  <a:t>,𝑎〗_2</a:t>
                </a:r>
                <a:r>
                  <a:rPr lang="en-US" altLang="zh-TW" sz="1200" dirty="0"/>
                  <a:t>, </a:t>
                </a:r>
                <a:r>
                  <a:rPr lang="en-US" altLang="zh-TW" sz="1200" b="0" i="0" dirty="0">
                    <a:latin typeface="Cambria Math" panose="02040503050406030204" pitchFamily="18" charset="0"/>
                  </a:rPr>
                  <a:t>𝑎_3 </a:t>
                </a:r>
                <a:r>
                  <a:rPr lang="en-US" altLang="zh-TW" sz="1200" i="0" dirty="0">
                    <a:latin typeface="Cambria Math" panose="02040503050406030204" pitchFamily="18" charset="0"/>
                  </a:rPr>
                  <a:t> </a:t>
                </a:r>
                <a:r>
                  <a:rPr lang="en-US" altLang="zh-TW" sz="1200" b="0" i="0" dirty="0">
                    <a:latin typeface="Cambria Math" panose="02040503050406030204" pitchFamily="18" charset="0"/>
                  </a:rPr>
                  <a:t>…𝑎_𝑛 </a:t>
                </a:r>
                <a:r>
                  <a:rPr lang="en-US" altLang="zh-TW" sz="1200" i="0" dirty="0">
                    <a:latin typeface="Cambria Math" panose="02040503050406030204" pitchFamily="18" charset="0"/>
                  </a:rPr>
                  <a:t> </a:t>
                </a:r>
                <a:r>
                  <a:rPr lang="en-US" altLang="zh-TW" sz="1200" dirty="0"/>
                  <a:t>and B = </a:t>
                </a:r>
                <a:r>
                  <a:rPr lang="en-US" altLang="zh-TW" sz="1200" b="0" i="0" dirty="0">
                    <a:latin typeface="Cambria Math" panose="02040503050406030204" pitchFamily="18" charset="0"/>
                  </a:rPr>
                  <a:t>𝑏_1,</a:t>
                </a:r>
                <a:r>
                  <a:rPr lang="en-US" altLang="zh-TW" sz="1200" i="0" dirty="0">
                    <a:latin typeface="Cambria Math" panose="02040503050406030204" pitchFamily="18" charset="0"/>
                  </a:rPr>
                  <a:t> </a:t>
                </a:r>
                <a:r>
                  <a:rPr lang="en-US" altLang="zh-TW" sz="1200" b="0" i="0" dirty="0">
                    <a:latin typeface="Cambria Math" panose="02040503050406030204" pitchFamily="18" charset="0"/>
                  </a:rPr>
                  <a:t>𝑏_2…</a:t>
                </a:r>
                <a:r>
                  <a:rPr lang="en-US" altLang="zh-TW" sz="1200" i="0" dirty="0">
                    <a:latin typeface="Cambria Math" panose="02040503050406030204" pitchFamily="18" charset="0"/>
                  </a:rPr>
                  <a:t> </a:t>
                </a:r>
                <a:r>
                  <a:rPr lang="en-US" altLang="zh-TW" sz="1200" b="0" i="0" dirty="0">
                    <a:latin typeface="Cambria Math" panose="02040503050406030204" pitchFamily="18" charset="0"/>
                  </a:rPr>
                  <a:t>𝑏_𝑚</a:t>
                </a:r>
                <a:r>
                  <a:rPr lang="en-US" altLang="zh-TW" sz="1200" dirty="0"/>
                  <a:t> with </a:t>
                </a:r>
                <a:r>
                  <a:rPr lang="en-US" altLang="zh-TW" sz="1200" b="0" i="0" u="sng" dirty="0">
                    <a:latin typeface="Cambria Math" panose="02040503050406030204" pitchFamily="18" charset="0"/>
                  </a:rPr>
                  <a:t>𝑎_1=</a:t>
                </a:r>
                <a:r>
                  <a:rPr lang="en-US" altLang="zh-TW" sz="1200" i="0" u="sng" dirty="0">
                    <a:latin typeface="Cambria Math" panose="02040503050406030204" pitchFamily="18" charset="0"/>
                  </a:rPr>
                  <a:t> </a:t>
                </a:r>
                <a:r>
                  <a:rPr lang="en-US" altLang="zh-TW" sz="1200" b="0" i="0" u="sng" dirty="0">
                    <a:latin typeface="Cambria Math" panose="02040503050406030204" pitchFamily="18" charset="0"/>
                  </a:rPr>
                  <a:t>𝑏_1 </a:t>
                </a:r>
                <a:r>
                  <a:rPr lang="en-US" altLang="zh-TW" sz="1200" i="0" u="sng" dirty="0">
                    <a:latin typeface="Cambria Math" panose="02040503050406030204" pitchFamily="18" charset="0"/>
                  </a:rPr>
                  <a:t> </a:t>
                </a:r>
                <a:r>
                  <a:rPr lang="en-US" altLang="zh-TW" sz="1200" u="sng" dirty="0"/>
                  <a:t> </a:t>
                </a:r>
                <a:r>
                  <a:rPr lang="en-US" altLang="zh-TW" sz="1200" dirty="0"/>
                  <a:t>and a constant c &gt; 0.</a:t>
                </a:r>
              </a:p>
              <a:p>
                <a:r>
                  <a:rPr lang="en-US" altLang="zh-TW" sz="1200" dirty="0"/>
                  <a:t> </a:t>
                </a:r>
              </a:p>
              <a:p>
                <a:r>
                  <a:rPr lang="en-US" altLang="zh-TW" sz="1200" dirty="0"/>
                  <a:t>Output: T (1, 1) is its representative point. </a:t>
                </a:r>
              </a:p>
              <a:p>
                <a:r>
                  <a:rPr lang="en-US" altLang="zh-TW" sz="1200" dirty="0"/>
                  <a:t>Let δ(</a:t>
                </a:r>
                <a:r>
                  <a:rPr lang="en-US" altLang="zh-TW" sz="1200" dirty="0" err="1"/>
                  <a:t>i</a:t>
                </a:r>
                <a:r>
                  <a:rPr lang="en-US" altLang="zh-TW" sz="1200" dirty="0"/>
                  <a:t>, j) be the length of </a:t>
                </a:r>
                <a:r>
                  <a:rPr lang="en-US" altLang="zh-TW" sz="1200" dirty="0">
                    <a:solidFill>
                      <a:srgbClr val="202122"/>
                    </a:solidFill>
                    <a:latin typeface="Arial" panose="020B0604020202020204" pitchFamily="34" charset="0"/>
                  </a:rPr>
                  <a:t>(</a:t>
                </a:r>
                <a:r>
                  <a:rPr lang="zh-TW" altLang="en-US" sz="1200" i="0" dirty="0">
                    <a:solidFill>
                      <a:srgbClr val="202122"/>
                    </a:solidFill>
                    <a:latin typeface="Cambria Math" panose="02040503050406030204" pitchFamily="18" charset="0"/>
                  </a:rPr>
                  <a:t> </a:t>
                </a:r>
                <a:r>
                  <a:rPr lang="en-US" altLang="zh-TW" sz="1200" i="0">
                    <a:solidFill>
                      <a:srgbClr val="202122"/>
                    </a:solidFill>
                    <a:latin typeface="Cambria Math" panose="02040503050406030204" pitchFamily="18" charset="0"/>
                  </a:rPr>
                  <a:t>LP</a:t>
                </a:r>
                <a:r>
                  <a:rPr lang="en-US" altLang="zh-TW" sz="1200" b="0" i="0">
                    <a:solidFill>
                      <a:srgbClr val="202122"/>
                    </a:solidFill>
                    <a:effectLst/>
                    <a:latin typeface="Cambria Math" panose="02040503050406030204" pitchFamily="18" charset="0"/>
                  </a:rPr>
                  <a:t>_</a:t>
                </a:r>
                <a:r>
                  <a:rPr lang="en-US" altLang="zh-TW" sz="1200" b="0" i="0">
                    <a:solidFill>
                      <a:srgbClr val="202122"/>
                    </a:solidFill>
                    <a:latin typeface="Cambria Math" panose="02040503050406030204" pitchFamily="18" charset="0"/>
                  </a:rPr>
                  <a:t>𝑗^𝑖</a:t>
                </a:r>
                <a:r>
                  <a:rPr lang="en-US" altLang="zh-TW" sz="1200" dirty="0"/>
                  <a:t>(1,1)</a:t>
                </a:r>
                <a:r>
                  <a:rPr lang="zh-TW" altLang="en-US" sz="1200" dirty="0"/>
                  <a:t> </a:t>
                </a:r>
                <a:r>
                  <a:rPr lang="en-US" altLang="zh-TW" sz="1200" dirty="0"/>
                  <a:t>in sub-table </a:t>
                </a:r>
                <a:r>
                  <a:rPr lang="en-US" altLang="zh-TW" sz="1200" dirty="0" err="1"/>
                  <a:t>Ti,j</a:t>
                </a:r>
                <a:r>
                  <a:rPr lang="en-US" altLang="zh-TW" sz="1200" dirty="0"/>
                  <a:t> . According to Lemma 1, we can solve the specialized </a:t>
                </a:r>
                <a:r>
                  <a:rPr lang="en-US" altLang="zh-TW" sz="1200" dirty="0" err="1"/>
                  <a:t>LCaIS</a:t>
                </a:r>
                <a:r>
                  <a:rPr lang="en-US" altLang="zh-TW" sz="1200" dirty="0"/>
                  <a:t> problem by the following recursive formula. For all 2 ≤ </a:t>
                </a:r>
                <a:r>
                  <a:rPr lang="en-US" altLang="zh-TW" sz="1200" dirty="0" err="1"/>
                  <a:t>i</a:t>
                </a:r>
                <a:r>
                  <a:rPr lang="en-US" altLang="zh-TW" sz="1200" dirty="0"/>
                  <a:t> ≤ n and 2 ≤ j ≤ m,</a:t>
                </a:r>
                <a:endParaRPr lang="zh-TW" altLang="en-US" sz="1200" dirty="0"/>
              </a:p>
              <a:p>
                <a:endParaRPr lang="zh-TW" altLang="en-US" dirty="0"/>
              </a:p>
            </p:txBody>
          </p:sp>
        </mc:Fallback>
      </mc:AlternateContent>
      <p:sp>
        <p:nvSpPr>
          <p:cNvPr id="4" name="投影片編號版面配置區 3"/>
          <p:cNvSpPr>
            <a:spLocks noGrp="1"/>
          </p:cNvSpPr>
          <p:nvPr>
            <p:ph type="sldNum" sz="quarter" idx="5"/>
          </p:nvPr>
        </p:nvSpPr>
        <p:spPr/>
        <p:txBody>
          <a:bodyPr/>
          <a:lstStyle/>
          <a:p>
            <a:fld id="{E9BCEC77-1AB1-4CD6-A7AA-75B058F7B464}" type="slidenum">
              <a:rPr lang="zh-TW" altLang="en-US" smtClean="0"/>
              <a:t>26</a:t>
            </a:fld>
            <a:endParaRPr lang="zh-TW" altLang="en-US"/>
          </a:p>
        </p:txBody>
      </p:sp>
    </p:spTree>
    <p:extLst>
      <p:ext uri="{BB962C8B-B14F-4D97-AF65-F5344CB8AC3E}">
        <p14:creationId xmlns:p14="http://schemas.microsoft.com/office/powerpoint/2010/main" val="1438282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zh-TW" altLang="en-US" u="sng" dirty="0"/>
              <a:t>每個</a:t>
            </a:r>
            <a:r>
              <a:rPr lang="en-US" altLang="zh-TW" u="sng" dirty="0"/>
              <a:t>L</a:t>
            </a:r>
            <a:r>
              <a:rPr lang="zh-TW" altLang="en-US" u="sng" dirty="0"/>
              <a:t>（</a:t>
            </a:r>
            <a:r>
              <a:rPr lang="en-US" altLang="zh-TW" u="sng" dirty="0" err="1"/>
              <a:t>i</a:t>
            </a:r>
            <a:r>
              <a:rPr lang="zh-TW" altLang="en-US" u="sng" dirty="0"/>
              <a:t>，</a:t>
            </a:r>
            <a:r>
              <a:rPr lang="en-US" altLang="zh-TW" u="sng" dirty="0"/>
              <a:t>j</a:t>
            </a:r>
            <a:r>
              <a:rPr lang="zh-TW" altLang="en-US" u="sng" dirty="0"/>
              <a:t>）的空間為</a:t>
            </a:r>
            <a:r>
              <a:rPr lang="en-US" altLang="zh-TW" u="sng" dirty="0"/>
              <a:t>O</a:t>
            </a:r>
            <a:r>
              <a:rPr lang="zh-TW" altLang="en-US" u="sng" dirty="0"/>
              <a:t>（</a:t>
            </a:r>
            <a:r>
              <a:rPr lang="en-US" altLang="zh-TW" u="sng" dirty="0"/>
              <a:t>l</a:t>
            </a:r>
            <a:r>
              <a:rPr lang="zh-TW" altLang="en-US" u="sng" dirty="0"/>
              <a:t>），</a:t>
            </a:r>
            <a:r>
              <a:rPr lang="zh-TW" altLang="en-US" dirty="0"/>
              <a:t>其中</a:t>
            </a:r>
            <a:r>
              <a:rPr lang="en-US" altLang="zh-TW" dirty="0"/>
              <a:t>l</a:t>
            </a:r>
            <a:r>
              <a:rPr lang="zh-TW" altLang="en-US" dirty="0"/>
              <a:t>表示兩個輸入序列的</a:t>
            </a:r>
            <a:r>
              <a:rPr lang="en-US" altLang="zh-TW" dirty="0" err="1"/>
              <a:t>LCaIS</a:t>
            </a:r>
            <a:r>
              <a:rPr lang="zh-TW" altLang="en-US" dirty="0"/>
              <a:t>的長度。</a:t>
            </a:r>
          </a:p>
          <a:p>
            <a:pPr marL="0" indent="0">
              <a:buNone/>
            </a:pPr>
            <a:r>
              <a:rPr lang="zh-TW" altLang="en-US" u="sng" dirty="0"/>
              <a:t>由於我們可以使用兩個替代行來填充整個表</a:t>
            </a:r>
            <a:r>
              <a:rPr lang="en-US" altLang="zh-TW" u="sng" dirty="0"/>
              <a:t>L</a:t>
            </a:r>
            <a:r>
              <a:rPr lang="zh-TW" altLang="en-US" u="sng" dirty="0"/>
              <a:t>，</a:t>
            </a:r>
            <a:endParaRPr lang="en-US" altLang="zh-TW" u="sng" dirty="0"/>
          </a:p>
          <a:p>
            <a:pPr marL="0" indent="0">
              <a:buNone/>
            </a:pPr>
            <a:r>
              <a:rPr lang="zh-TW" altLang="en-US" dirty="0"/>
              <a:t>並且表</a:t>
            </a:r>
            <a:r>
              <a:rPr lang="en-US" altLang="zh-TW" dirty="0" err="1"/>
              <a:t>Prev</a:t>
            </a:r>
            <a:r>
              <a:rPr lang="zh-TW" altLang="en-US" dirty="0"/>
              <a:t>的大小為</a:t>
            </a:r>
            <a:r>
              <a:rPr lang="en-US" altLang="zh-TW" dirty="0"/>
              <a:t>O</a:t>
            </a:r>
            <a:r>
              <a:rPr lang="zh-TW" altLang="en-US" dirty="0"/>
              <a:t>（</a:t>
            </a:r>
            <a:r>
              <a:rPr lang="en-US" altLang="zh-TW" dirty="0"/>
              <a:t>nm</a:t>
            </a:r>
            <a:r>
              <a:rPr lang="zh-TW" altLang="en-US" dirty="0"/>
              <a:t>）</a:t>
            </a:r>
            <a:endParaRPr lang="en-US" altLang="zh-TW" dirty="0"/>
          </a:p>
          <a:p>
            <a:pPr marL="0" indent="0">
              <a:buNone/>
            </a:pPr>
            <a:endParaRPr lang="en-US" altLang="zh-TW" dirty="0"/>
          </a:p>
          <a:p>
            <a:pPr marL="0" indent="0">
              <a:buNone/>
            </a:pPr>
            <a:r>
              <a:rPr lang="zh-TW" altLang="en-US" dirty="0"/>
              <a:t>無論（</a:t>
            </a:r>
            <a:r>
              <a:rPr lang="en-US" altLang="zh-TW" dirty="0" err="1"/>
              <a:t>i</a:t>
            </a:r>
            <a:r>
              <a:rPr lang="zh-TW" altLang="en-US" dirty="0"/>
              <a:t>，</a:t>
            </a:r>
            <a:r>
              <a:rPr lang="en-US" altLang="zh-TW" dirty="0"/>
              <a:t>j</a:t>
            </a:r>
            <a:r>
              <a:rPr lang="zh-TW" altLang="en-US" dirty="0"/>
              <a:t>）是否為匹配對，用於構造</a:t>
            </a:r>
            <a:r>
              <a:rPr lang="en-US" altLang="zh-TW" dirty="0"/>
              <a:t>L</a:t>
            </a:r>
            <a:r>
              <a:rPr lang="zh-TW" altLang="en-US" dirty="0"/>
              <a:t>（</a:t>
            </a:r>
            <a:r>
              <a:rPr lang="en-US" altLang="zh-TW" dirty="0" err="1"/>
              <a:t>i</a:t>
            </a:r>
            <a:r>
              <a:rPr lang="zh-TW" altLang="en-US" dirty="0"/>
              <a:t>，</a:t>
            </a:r>
            <a:r>
              <a:rPr lang="en-US" altLang="zh-TW" dirty="0"/>
              <a:t>j</a:t>
            </a:r>
            <a:r>
              <a:rPr lang="zh-TW" altLang="en-US" dirty="0"/>
              <a:t>）的時間均為</a:t>
            </a:r>
            <a:r>
              <a:rPr lang="en-US" altLang="zh-TW" dirty="0"/>
              <a:t>O</a:t>
            </a:r>
            <a:r>
              <a:rPr lang="zh-TW" altLang="en-US" dirty="0"/>
              <a:t>（</a:t>
            </a:r>
            <a:r>
              <a:rPr lang="en-US" altLang="zh-TW" dirty="0"/>
              <a:t>l</a:t>
            </a:r>
            <a:r>
              <a:rPr lang="zh-TW" altLang="en-US" dirty="0"/>
              <a:t>）。此外，用於獲取專用</a:t>
            </a:r>
            <a:r>
              <a:rPr lang="en-US" altLang="zh-TW" dirty="0" err="1"/>
              <a:t>LCaIS</a:t>
            </a:r>
            <a:r>
              <a:rPr lang="zh-TW" altLang="en-US" dirty="0"/>
              <a:t>的回溯過程需要</a:t>
            </a:r>
            <a:r>
              <a:rPr lang="en-US" altLang="zh-TW" dirty="0"/>
              <a:t>O</a:t>
            </a:r>
            <a:r>
              <a:rPr lang="zh-TW" altLang="en-US" dirty="0"/>
              <a:t>（</a:t>
            </a:r>
            <a:r>
              <a:rPr lang="en-US" altLang="zh-TW" dirty="0"/>
              <a:t>nm</a:t>
            </a:r>
            <a:r>
              <a:rPr lang="zh-TW" altLang="en-US" dirty="0"/>
              <a:t>）時間。</a:t>
            </a:r>
            <a:endParaRPr lang="en-US" altLang="zh-TW" dirty="0"/>
          </a:p>
          <a:p>
            <a:pPr marL="0" indent="0">
              <a:buNone/>
            </a:pPr>
            <a:endParaRPr lang="en-US" altLang="zh-TW" dirty="0"/>
          </a:p>
          <a:p>
            <a:pPr marL="0" indent="0">
              <a:buNone/>
            </a:pPr>
            <a:r>
              <a:rPr lang="zh-TW" altLang="en-US" dirty="0"/>
              <a:t>請注意，如果僅計算兩個輸入序列之間的</a:t>
            </a:r>
            <a:r>
              <a:rPr lang="en-US" altLang="zh-TW" dirty="0" err="1"/>
              <a:t>LCaIS</a:t>
            </a:r>
            <a:r>
              <a:rPr lang="zh-TW" altLang="en-US" dirty="0"/>
              <a:t>長度，那麼不難看出</a:t>
            </a:r>
          </a:p>
          <a:p>
            <a:pPr marL="0" indent="0">
              <a:buNone/>
            </a:pPr>
            <a:r>
              <a:rPr lang="zh-TW" altLang="en-US" dirty="0"/>
              <a:t>算法僅使用</a:t>
            </a:r>
            <a:r>
              <a:rPr lang="en-US" altLang="zh-TW" dirty="0"/>
              <a:t>O</a:t>
            </a:r>
            <a:r>
              <a:rPr lang="zh-TW" altLang="en-US" dirty="0"/>
              <a:t>（</a:t>
            </a:r>
            <a:r>
              <a:rPr lang="en-US" altLang="zh-TW" dirty="0"/>
              <a:t>l min</a:t>
            </a:r>
            <a:r>
              <a:rPr lang="zh-TW" altLang="en-US" dirty="0"/>
              <a:t>（</a:t>
            </a:r>
            <a:r>
              <a:rPr lang="en-US" altLang="zh-TW" dirty="0"/>
              <a:t>m</a:t>
            </a:r>
            <a:r>
              <a:rPr lang="zh-TW" altLang="en-US" dirty="0"/>
              <a:t>，</a:t>
            </a:r>
            <a:r>
              <a:rPr lang="en-US" altLang="zh-TW" dirty="0"/>
              <a:t>n</a:t>
            </a:r>
            <a:r>
              <a:rPr lang="zh-TW" altLang="en-US" dirty="0"/>
              <a:t>））空間即可完成這項工作。</a:t>
            </a:r>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27</a:t>
            </a:fld>
            <a:endParaRPr lang="zh-TW" altLang="en-US"/>
          </a:p>
        </p:txBody>
      </p:sp>
    </p:spTree>
    <p:extLst>
      <p:ext uri="{BB962C8B-B14F-4D97-AF65-F5344CB8AC3E}">
        <p14:creationId xmlns:p14="http://schemas.microsoft.com/office/powerpoint/2010/main" val="2190760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從這個角度來看，</a:t>
            </a:r>
            <a:r>
              <a:rPr lang="en-US" altLang="zh-TW" dirty="0"/>
              <a:t>LCIS</a:t>
            </a:r>
            <a:r>
              <a:rPr lang="zh-TW" altLang="en-US" dirty="0"/>
              <a:t>問題可以視為</a:t>
            </a:r>
            <a:r>
              <a:rPr lang="en-US" altLang="zh-TW" dirty="0" err="1"/>
              <a:t>LCaIS</a:t>
            </a:r>
            <a:r>
              <a:rPr lang="zh-TW" altLang="en-US" dirty="0"/>
              <a:t>問題的特例。 此外，在匹配表中，用於</a:t>
            </a:r>
            <a:r>
              <a:rPr lang="en-US" altLang="zh-TW" dirty="0"/>
              <a:t>LCIS</a:t>
            </a:r>
            <a:r>
              <a:rPr lang="zh-TW" altLang="en-US" dirty="0"/>
              <a:t>問題的增加路徑的點都會在路徑的最後位置，而</a:t>
            </a:r>
            <a:r>
              <a:rPr lang="en-US" altLang="zh-TW" dirty="0" err="1"/>
              <a:t>LCaIS</a:t>
            </a:r>
            <a:r>
              <a:rPr lang="zh-TW" altLang="en-US" dirty="0"/>
              <a:t>問題的幾乎增加路徑的可以位於任何位置。 當前，已經知道</a:t>
            </a:r>
            <a:r>
              <a:rPr lang="en-US" altLang="zh-TW" dirty="0"/>
              <a:t>LCIS</a:t>
            </a:r>
            <a:r>
              <a:rPr lang="zh-TW" altLang="en-US" dirty="0"/>
              <a:t>問題可以在</a:t>
            </a:r>
            <a:r>
              <a:rPr lang="en-US" altLang="zh-TW" dirty="0"/>
              <a:t>O</a:t>
            </a:r>
            <a:r>
              <a:rPr lang="zh-TW" altLang="en-US" dirty="0"/>
              <a:t>（</a:t>
            </a:r>
            <a:r>
              <a:rPr lang="en-US" altLang="zh-TW" dirty="0"/>
              <a:t>nm</a:t>
            </a:r>
            <a:r>
              <a:rPr lang="zh-TW" altLang="en-US" dirty="0"/>
              <a:t>）時間內解決</a:t>
            </a:r>
            <a:r>
              <a:rPr lang="en-US" altLang="zh-TW" dirty="0"/>
              <a:t>[6]</a:t>
            </a:r>
            <a:r>
              <a:rPr lang="zh-TW" altLang="en-US" dirty="0"/>
              <a:t>。 因此，將來研究如何設計更省時的算法來解決</a:t>
            </a:r>
            <a:r>
              <a:rPr lang="en-US" altLang="zh-TW" dirty="0" err="1"/>
              <a:t>LCaIS</a:t>
            </a:r>
            <a:r>
              <a:rPr lang="zh-TW" altLang="en-US" dirty="0"/>
              <a:t>問題將是有趣的。</a:t>
            </a:r>
          </a:p>
        </p:txBody>
      </p:sp>
      <p:sp>
        <p:nvSpPr>
          <p:cNvPr id="4" name="投影片編號版面配置區 3"/>
          <p:cNvSpPr>
            <a:spLocks noGrp="1"/>
          </p:cNvSpPr>
          <p:nvPr>
            <p:ph type="sldNum" sz="quarter" idx="5"/>
          </p:nvPr>
        </p:nvSpPr>
        <p:spPr/>
        <p:txBody>
          <a:bodyPr/>
          <a:lstStyle/>
          <a:p>
            <a:fld id="{E9BCEC77-1AB1-4CD6-A7AA-75B058F7B464}" type="slidenum">
              <a:rPr lang="zh-TW" altLang="en-US" smtClean="0"/>
              <a:t>29</a:t>
            </a:fld>
            <a:endParaRPr lang="zh-TW" altLang="en-US"/>
          </a:p>
        </p:txBody>
      </p:sp>
    </p:spTree>
    <p:extLst>
      <p:ext uri="{BB962C8B-B14F-4D97-AF65-F5344CB8AC3E}">
        <p14:creationId xmlns:p14="http://schemas.microsoft.com/office/powerpoint/2010/main" val="97843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542F47-EF2A-4D42-9E08-2D11F8B0A3A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F9FCBE6-6C7D-4B53-B39C-D7B8779F07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47CA122-F168-46F0-88BE-73503E9CA4EC}"/>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240E762B-8421-437A-8DDC-3E072F1CB30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CA03E8-287C-4DF0-A58C-98704FDE0FD7}"/>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929207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EB6B21-7D34-432C-A435-DDBBA262AEA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3335B99-060E-4DB6-B865-55FCDBEAD01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D31F7AD-DEE2-4D9B-AF3C-E853256C78F4}"/>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71E2CF42-1606-4072-AE57-F35A3CDBFF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3828215-8ACD-4A4D-A5C3-219D4F58C224}"/>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601645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FF2C3E-F401-4C67-AD6A-96801F9FDE8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7F18474-8F33-406A-9914-C647893A42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FA12CC1-7C8D-45CC-8373-ABA3560DDF29}"/>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7433A759-58A8-49AD-9A7C-F66E24F87A8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6AAEE85-E7E0-467C-B723-CB98F387B18E}"/>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124118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DF4533-9C0F-4D58-936D-27DB15004F1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72A7BBC-6667-44B1-ACF6-21780375FCB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6F90B59-0676-441B-9C86-4FF8C776A04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BBEBF0D-6A0C-4034-B35C-2FD401827B9D}"/>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6" name="頁尾版面配置區 5">
            <a:extLst>
              <a:ext uri="{FF2B5EF4-FFF2-40B4-BE49-F238E27FC236}">
                <a16:creationId xmlns:a16="http://schemas.microsoft.com/office/drawing/2014/main" id="{EBE48F0A-475F-438E-A2C2-C19F52CD7B6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6A1E16F-70F9-494D-96BA-B8C294415768}"/>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3909220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26A80C-5C60-498F-B24F-5B250FE6DA0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938320C-2645-441C-BDB1-FAAFAF97A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C893B20-DEAA-43A2-A6EA-A393F099D32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0460984-F9A8-4DB9-8BC0-97743EBC14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5E46020-1CA7-4AA9-BFA8-4930C620318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5D8C707-473E-4299-BC5B-FB9C40CF35B2}"/>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8" name="頁尾版面配置區 7">
            <a:extLst>
              <a:ext uri="{FF2B5EF4-FFF2-40B4-BE49-F238E27FC236}">
                <a16:creationId xmlns:a16="http://schemas.microsoft.com/office/drawing/2014/main" id="{90232E19-FDB3-4679-AE06-A42199A3E78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703F9C3-8843-45A2-B2EF-96637FA3F7A0}"/>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1711037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3FBD3D-2121-44F1-8F1A-D18686577BAB}"/>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BE34597-0AA5-414B-9575-650E3714D9AC}"/>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4" name="頁尾版面配置區 3">
            <a:extLst>
              <a:ext uri="{FF2B5EF4-FFF2-40B4-BE49-F238E27FC236}">
                <a16:creationId xmlns:a16="http://schemas.microsoft.com/office/drawing/2014/main" id="{C2610E5A-23CB-4CCB-A5D4-111813A51B5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9A50FD3-5D95-40F3-82C8-A4D185D44CE2}"/>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2162068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8C54573-F15E-45FF-ACFF-4B456AB2D084}"/>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3" name="頁尾版面配置區 2">
            <a:extLst>
              <a:ext uri="{FF2B5EF4-FFF2-40B4-BE49-F238E27FC236}">
                <a16:creationId xmlns:a16="http://schemas.microsoft.com/office/drawing/2014/main" id="{221E6700-38FC-4388-AB04-41C1A1C765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F6262600-90FA-41C6-9C9B-A23705492E9B}"/>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1015108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B722A2-7AA4-4D3B-9502-D982D793BCA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E67CD10-0E05-4DAB-A814-44FCA9300F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35994BB0-DA52-4EAB-97CB-943A1E035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77DA8BB-875C-4DCA-9C9E-00D375AF741D}"/>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6" name="頁尾版面配置區 5">
            <a:extLst>
              <a:ext uri="{FF2B5EF4-FFF2-40B4-BE49-F238E27FC236}">
                <a16:creationId xmlns:a16="http://schemas.microsoft.com/office/drawing/2014/main" id="{657CC17C-D6AC-425F-A1F2-95F933D343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64D3D3D-8A63-495D-AC82-2BF35DE1320F}"/>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2811789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7B7337-2998-4F77-ADC0-09625624370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63C387E6-CC48-489D-9932-4D2962EEFA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5F60237B-6453-4149-8BDD-1189905E7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6F063C5-7ED5-43F8-9890-8593212FD4D9}"/>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6" name="頁尾版面配置區 5">
            <a:extLst>
              <a:ext uri="{FF2B5EF4-FFF2-40B4-BE49-F238E27FC236}">
                <a16:creationId xmlns:a16="http://schemas.microsoft.com/office/drawing/2014/main" id="{746EB3ED-42A5-4743-B6B8-2829C9F6AEB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0FDE944-2F2A-4EFC-B0B2-AE12C8CC3090}"/>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171169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8F2380-8752-4150-BEB9-081BE9FB0AC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2806ABC-84FD-4661-A2F3-5EBDBCAF004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F209782-ECF2-4DC4-BF21-00A9A692A9B4}"/>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F4C69481-16E4-42D0-89BC-C274D4C665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EEC6FF-47C3-4031-91C0-6E9E3FA68142}"/>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608023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5D80895-7F87-4A97-9858-C5DFDA71454B}"/>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80E23C4-3F79-49CB-89D4-B2214F86A8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68A45AB-22B6-46A1-BE8B-743AB4DEF3EC}"/>
              </a:ext>
            </a:extLst>
          </p:cNvPr>
          <p:cNvSpPr>
            <a:spLocks noGrp="1"/>
          </p:cNvSpPr>
          <p:nvPr>
            <p:ph type="dt" sz="half" idx="10"/>
          </p:nvPr>
        </p:nvSpPr>
        <p:spPr/>
        <p:txBody>
          <a:bodyPr/>
          <a:lstStyle/>
          <a:p>
            <a:fld id="{3B8120D3-F24D-4F19-9D43-02684545FC3D}"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3D34EED6-42A3-49D2-A251-F09C239AA1B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E42B67-84AD-40CD-BF75-B8EC11CF5F67}"/>
              </a:ext>
            </a:extLst>
          </p:cNvPr>
          <p:cNvSpPr>
            <a:spLocks noGrp="1"/>
          </p:cNvSpPr>
          <p:nvPr>
            <p:ph type="sldNum" sz="quarter" idx="12"/>
          </p:nvPr>
        </p:nvSpPr>
        <p:spPr/>
        <p:txBody>
          <a:body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2583605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4518546-EDA3-4EF3-BF35-CEF0921E92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8A9FFA7-A5A6-4180-A5CC-E0BB8388E8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4126C96-C528-421B-B237-B9273A03C5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120D3-F24D-4F19-9D43-02684545FC3D}"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E6C58739-4F62-4ED9-A050-2F355AA98A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B365CE6-8F8A-4469-89A2-255427DE7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22ACF5-428F-430E-BFFA-D881786EFA45}" type="slidenum">
              <a:rPr lang="zh-TW" altLang="en-US" smtClean="0"/>
              <a:t>‹#›</a:t>
            </a:fld>
            <a:endParaRPr lang="zh-TW" altLang="en-US"/>
          </a:p>
        </p:txBody>
      </p:sp>
    </p:spTree>
    <p:extLst>
      <p:ext uri="{BB962C8B-B14F-4D97-AF65-F5344CB8AC3E}">
        <p14:creationId xmlns:p14="http://schemas.microsoft.com/office/powerpoint/2010/main" val="3725078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611CD0-BEA6-41CD-9649-2977E10332C2}"/>
              </a:ext>
            </a:extLst>
          </p:cNvPr>
          <p:cNvSpPr>
            <a:spLocks noGrp="1"/>
          </p:cNvSpPr>
          <p:nvPr>
            <p:ph type="ctrTitle"/>
          </p:nvPr>
        </p:nvSpPr>
        <p:spPr/>
        <p:txBody>
          <a:bodyPr>
            <a:normAutofit fontScale="90000"/>
          </a:bodyPr>
          <a:lstStyle/>
          <a:p>
            <a:r>
              <a:rPr lang="en-US" altLang="zh-TW" b="0" i="0" dirty="0">
                <a:solidFill>
                  <a:srgbClr val="505050"/>
                </a:solidFill>
                <a:effectLst/>
              </a:rPr>
              <a:t>Computing a longest common almost-increasing subsequence (</a:t>
            </a:r>
            <a:r>
              <a:rPr lang="en-US" altLang="zh-TW" b="0" i="0" dirty="0" err="1">
                <a:solidFill>
                  <a:srgbClr val="505050"/>
                </a:solidFill>
                <a:effectLst/>
              </a:rPr>
              <a:t>LCaIS</a:t>
            </a:r>
            <a:r>
              <a:rPr lang="en-US" altLang="zh-TW" b="0" i="0" dirty="0">
                <a:solidFill>
                  <a:srgbClr val="505050"/>
                </a:solidFill>
                <a:effectLst/>
              </a:rPr>
              <a:t>)of two sequences</a:t>
            </a:r>
            <a:br>
              <a:rPr lang="en-US" altLang="zh-TW" b="0" i="0" dirty="0">
                <a:solidFill>
                  <a:srgbClr val="505050"/>
                </a:solidFill>
                <a:effectLst/>
              </a:rPr>
            </a:br>
            <a:endParaRPr lang="zh-TW" altLang="en-US" dirty="0"/>
          </a:p>
        </p:txBody>
      </p:sp>
      <p:sp>
        <p:nvSpPr>
          <p:cNvPr id="3" name="副標題 2">
            <a:extLst>
              <a:ext uri="{FF2B5EF4-FFF2-40B4-BE49-F238E27FC236}">
                <a16:creationId xmlns:a16="http://schemas.microsoft.com/office/drawing/2014/main" id="{9D22648A-65A8-4E9A-9ED2-42B34A3CEF1E}"/>
              </a:ext>
            </a:extLst>
          </p:cNvPr>
          <p:cNvSpPr>
            <a:spLocks noGrp="1"/>
          </p:cNvSpPr>
          <p:nvPr>
            <p:ph type="subTitle" idx="1"/>
          </p:nvPr>
        </p:nvSpPr>
        <p:spPr>
          <a:xfrm>
            <a:off x="550844" y="3095262"/>
            <a:ext cx="10216308" cy="1655762"/>
          </a:xfrm>
        </p:spPr>
        <p:txBody>
          <a:bodyPr/>
          <a:lstStyle/>
          <a:p>
            <a:pPr algn="ctr"/>
            <a:r>
              <a:rPr lang="en-US" altLang="zh-TW" b="0" i="0" u="none" strike="noStrike" dirty="0">
                <a:solidFill>
                  <a:schemeClr val="bg2">
                    <a:lumMod val="10000"/>
                  </a:schemeClr>
                </a:solidFill>
                <a:effectLst/>
                <a:latin typeface="+mj-lt"/>
              </a:rPr>
              <a:t>Theoretical Computer Science Volume 854</a:t>
            </a:r>
            <a:r>
              <a:rPr lang="en-US" altLang="zh-TW" b="0" i="0" dirty="0">
                <a:solidFill>
                  <a:schemeClr val="bg2">
                    <a:lumMod val="10000"/>
                  </a:schemeClr>
                </a:solidFill>
                <a:effectLst/>
                <a:latin typeface="+mj-lt"/>
              </a:rPr>
              <a:t>, 16 January 2021, Pages 44-51</a:t>
            </a:r>
          </a:p>
          <a:p>
            <a:r>
              <a:rPr lang="en-US" altLang="zh-TW" b="0" i="0" u="none" strike="noStrike" dirty="0" err="1">
                <a:solidFill>
                  <a:schemeClr val="bg2">
                    <a:lumMod val="10000"/>
                  </a:schemeClr>
                </a:solidFill>
                <a:effectLst/>
                <a:latin typeface="+mj-lt"/>
              </a:rPr>
              <a:t>Toan</a:t>
            </a:r>
            <a:r>
              <a:rPr lang="en-US" altLang="zh-TW" b="0" i="0" u="none" strike="noStrike" dirty="0">
                <a:solidFill>
                  <a:schemeClr val="bg2">
                    <a:lumMod val="10000"/>
                  </a:schemeClr>
                </a:solidFill>
                <a:effectLst/>
                <a:latin typeface="+mj-lt"/>
              </a:rPr>
              <a:t>-Thang Ta, Yi-Kung Shieh, Chin-Lung Lu</a:t>
            </a:r>
            <a:endParaRPr lang="zh-TW" altLang="en-US" dirty="0">
              <a:solidFill>
                <a:schemeClr val="bg2">
                  <a:lumMod val="10000"/>
                </a:schemeClr>
              </a:solidFill>
              <a:latin typeface="+mj-lt"/>
            </a:endParaRPr>
          </a:p>
        </p:txBody>
      </p:sp>
      <p:sp>
        <p:nvSpPr>
          <p:cNvPr id="4" name="文字方塊 3">
            <a:extLst>
              <a:ext uri="{FF2B5EF4-FFF2-40B4-BE49-F238E27FC236}">
                <a16:creationId xmlns:a16="http://schemas.microsoft.com/office/drawing/2014/main" id="{AA1D06BD-10DB-4A63-B096-868862177579}"/>
              </a:ext>
            </a:extLst>
          </p:cNvPr>
          <p:cNvSpPr txBox="1"/>
          <p:nvPr/>
        </p:nvSpPr>
        <p:spPr>
          <a:xfrm>
            <a:off x="8992966" y="5273972"/>
            <a:ext cx="3062177" cy="923330"/>
          </a:xfrm>
          <a:prstGeom prst="rect">
            <a:avLst/>
          </a:prstGeom>
          <a:noFill/>
        </p:spPr>
        <p:txBody>
          <a:bodyPr wrap="square" rtlCol="0">
            <a:spAutoFit/>
          </a:bodyPr>
          <a:lstStyle/>
          <a:p>
            <a:r>
              <a:rPr lang="en-US" altLang="zh-TW" dirty="0" err="1">
                <a:latin typeface="Times New Roman" panose="02020603050405020304" pitchFamily="18" charset="0"/>
                <a:cs typeface="Times New Roman" panose="02020603050405020304" pitchFamily="18" charset="0"/>
              </a:rPr>
              <a:t>Persenter</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Jue</a:t>
            </a:r>
            <a:r>
              <a:rPr lang="en-US" altLang="zh-TW" dirty="0">
                <a:latin typeface="Times New Roman" panose="02020603050405020304" pitchFamily="18" charset="0"/>
                <a:cs typeface="Times New Roman" panose="02020603050405020304" pitchFamily="18" charset="0"/>
              </a:rPr>
              <a:t>-Jun Wu</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Date :  Jan. 26</a:t>
            </a:r>
            <a:r>
              <a:rPr lang="en-US" altLang="zh-TW" baseline="30000" dirty="0">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 2021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742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51D8FB-8294-4BBA-AA3B-E3A2115D663D}"/>
              </a:ext>
            </a:extLst>
          </p:cNvPr>
          <p:cNvSpPr>
            <a:spLocks noGrp="1"/>
          </p:cNvSpPr>
          <p:nvPr>
            <p:ph type="title"/>
          </p:nvPr>
        </p:nvSpPr>
        <p:spPr>
          <a:xfrm>
            <a:off x="1014470" y="143219"/>
            <a:ext cx="3535496" cy="897474"/>
          </a:xfrm>
        </p:spPr>
        <p:txBody>
          <a:bodyPr/>
          <a:lstStyle/>
          <a:p>
            <a:r>
              <a:rPr lang="en-US" altLang="zh-TW" dirty="0"/>
              <a:t>Abstract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D74F9D8-956C-4DFB-9C2A-40D56D38495B}"/>
                  </a:ext>
                </a:extLst>
              </p:cNvPr>
              <p:cNvSpPr>
                <a:spLocks noGrp="1"/>
              </p:cNvSpPr>
              <p:nvPr>
                <p:ph idx="1"/>
              </p:nvPr>
            </p:nvSpPr>
            <p:spPr>
              <a:xfrm>
                <a:off x="672947" y="1040693"/>
                <a:ext cx="11214253" cy="5674088"/>
              </a:xfrm>
            </p:spPr>
            <p:txBody>
              <a:bodyPr>
                <a:noAutofit/>
              </a:bodyPr>
              <a:lstStyle/>
              <a:p>
                <a:pPr marL="0" indent="0">
                  <a:buNone/>
                </a:pPr>
                <a:r>
                  <a:rPr lang="en-US" altLang="zh-TW" dirty="0">
                    <a:latin typeface="+mj-lt"/>
                  </a:rPr>
                  <a:t>	Given a positive constant c, a sequence S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1</m:t>
                        </m:r>
                      </m:sub>
                    </m:sSub>
                  </m:oMath>
                </a14:m>
                <a:r>
                  <a:rPr lang="en-US" altLang="zh-TW" dirty="0">
                    <a:latin typeface="+mj-lt"/>
                  </a:rPr>
                  <a:t>,</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𝑠</m:t>
                        </m:r>
                      </m:e>
                      <m:sub>
                        <m:r>
                          <a:rPr lang="en-US" altLang="zh-TW" b="0" i="1" dirty="0" smtClean="0">
                            <a:latin typeface="Cambria Math" panose="02040503050406030204" pitchFamily="18" charset="0"/>
                          </a:rPr>
                          <m:t>2</m:t>
                        </m:r>
                      </m:sub>
                    </m:sSub>
                  </m:oMath>
                </a14:m>
                <a:r>
                  <a:rPr lang="en-US" altLang="zh-TW" dirty="0">
                    <a:latin typeface="+mj-lt"/>
                  </a:rPr>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𝑘</m:t>
                        </m:r>
                      </m:sub>
                    </m:sSub>
                  </m:oMath>
                </a14:m>
                <a:r>
                  <a:rPr lang="en-US" altLang="zh-TW" dirty="0">
                    <a:latin typeface="+mj-lt"/>
                  </a:rPr>
                  <a:t>) of k numbers is said to be almost increasing if and only if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𝑠</m:t>
                        </m:r>
                      </m:e>
                      <m:sub>
                        <m:r>
                          <a:rPr lang="en-US" altLang="zh-TW" b="0" i="1" smtClean="0">
                            <a:latin typeface="Cambria Math" panose="02040503050406030204" pitchFamily="18" charset="0"/>
                          </a:rPr>
                          <m:t>𝑖</m:t>
                        </m:r>
                      </m:sub>
                    </m:sSub>
                    <m:r>
                      <a:rPr lang="en-US" altLang="zh-TW" i="1">
                        <a:latin typeface="Cambria Math" panose="02040503050406030204" pitchFamily="18" charset="0"/>
                      </a:rPr>
                      <m:t> </m:t>
                    </m:r>
                  </m:oMath>
                </a14:m>
                <a:r>
                  <a:rPr lang="en-US" altLang="zh-TW" dirty="0">
                    <a:latin typeface="+mj-lt"/>
                  </a:rPr>
                  <a:t>&gt; max</a:t>
                </a:r>
                <a:r>
                  <a:rPr lang="pt-BR" altLang="zh-TW" dirty="0">
                    <a:latin typeface="+mj-lt"/>
                  </a:rPr>
                  <a:t> </a:t>
                </a:r>
                <a14:m>
                  <m:oMath xmlns:m="http://schemas.openxmlformats.org/officeDocument/2006/math">
                    <m:sSub>
                      <m:sSubPr>
                        <m:ctrlPr>
                          <a:rPr lang="pt-BR" altLang="zh-TW" i="1" smtClean="0">
                            <a:latin typeface="Cambria Math" panose="02040503050406030204" pitchFamily="18" charset="0"/>
                          </a:rPr>
                        </m:ctrlPr>
                      </m:sSubPr>
                      <m:e>
                        <m:r>
                          <m:rPr>
                            <m:sty m:val="p"/>
                          </m:rPr>
                          <a:rPr lang="en-US" altLang="zh-TW" b="0" i="0" smtClean="0">
                            <a:latin typeface="Cambria Math" panose="02040503050406030204" pitchFamily="18" charset="0"/>
                          </a:rPr>
                          <m:t>s</m:t>
                        </m:r>
                      </m:e>
                      <m:sub>
                        <m:r>
                          <m:rPr>
                            <m:sty m:val="p"/>
                          </m:rPr>
                          <a:rPr lang="en-US" altLang="zh-TW" b="0" i="0" smtClean="0">
                            <a:latin typeface="Cambria Math" panose="02040503050406030204" pitchFamily="18" charset="0"/>
                          </a:rPr>
                          <m:t>j</m:t>
                        </m:r>
                      </m:sub>
                    </m:sSub>
                  </m:oMath>
                </a14:m>
                <a:r>
                  <a:rPr lang="en-US" altLang="zh-TW" dirty="0">
                    <a:latin typeface="+mj-lt"/>
                  </a:rPr>
                  <a:t> -c (1 ≤ j &lt; </a:t>
                </a:r>
                <a:r>
                  <a:rPr lang="en-US" altLang="zh-TW" dirty="0" err="1">
                    <a:latin typeface="+mj-lt"/>
                  </a:rPr>
                  <a:t>i</a:t>
                </a:r>
                <a:r>
                  <a:rPr lang="en-US" altLang="zh-TW" dirty="0">
                    <a:latin typeface="+mj-lt"/>
                  </a:rPr>
                  <a:t>) for all 1 &lt; i ≤ k. A longest common almost-increasing subsequence (</a:t>
                </a:r>
                <a:r>
                  <a:rPr lang="en-US" altLang="zh-TW" dirty="0" err="1">
                    <a:latin typeface="+mj-lt"/>
                  </a:rPr>
                  <a:t>LCaIS</a:t>
                </a:r>
                <a:r>
                  <a:rPr lang="en-US" altLang="zh-TW" dirty="0">
                    <a:latin typeface="+mj-lt"/>
                  </a:rPr>
                  <a:t>) between two input sequences is a longest common subsequence that is also an almost increasing sequence. </a:t>
                </a:r>
              </a:p>
              <a:p>
                <a:pPr marL="0" indent="0">
                  <a:buNone/>
                </a:pPr>
                <a:r>
                  <a:rPr lang="en-US" altLang="zh-TW" dirty="0">
                    <a:latin typeface="+mj-lt"/>
                  </a:rPr>
                  <a:t>	We found out that the existing algorithm proposed by </a:t>
                </a:r>
                <a:r>
                  <a:rPr lang="en-US" altLang="zh-TW" dirty="0" err="1">
                    <a:latin typeface="+mj-lt"/>
                  </a:rPr>
                  <a:t>Moosa</a:t>
                </a:r>
                <a:r>
                  <a:rPr lang="en-US" altLang="zh-TW" dirty="0">
                    <a:latin typeface="+mj-lt"/>
                  </a:rPr>
                  <a:t> et al. to find an </a:t>
                </a:r>
                <a:r>
                  <a:rPr lang="en-US" altLang="zh-TW" dirty="0" err="1">
                    <a:latin typeface="+mj-lt"/>
                  </a:rPr>
                  <a:t>LCaIS</a:t>
                </a:r>
                <a:r>
                  <a:rPr lang="en-US" altLang="zh-TW" dirty="0">
                    <a:latin typeface="+mj-lt"/>
                  </a:rPr>
                  <a:t> of two sequences without repeated elements gives an incorrect result for some instances. In this work, we present a dynamic programming algorithm that can correctly compute an </a:t>
                </a:r>
                <a:r>
                  <a:rPr lang="en-US" altLang="zh-TW" dirty="0" err="1">
                    <a:latin typeface="+mj-lt"/>
                  </a:rPr>
                  <a:t>LCaIS</a:t>
                </a:r>
                <a:r>
                  <a:rPr lang="en-US" altLang="zh-TW" dirty="0">
                    <a:latin typeface="+mj-lt"/>
                  </a:rPr>
                  <a:t> between any two sequences with repeated elements in O(</a:t>
                </a:r>
                <a:r>
                  <a:rPr lang="en-US" altLang="zh-TW" dirty="0" err="1">
                    <a:latin typeface="+mj-lt"/>
                  </a:rPr>
                  <a:t>nml</a:t>
                </a:r>
                <a:r>
                  <a:rPr lang="en-US" altLang="zh-TW" dirty="0">
                    <a:latin typeface="+mj-lt"/>
                  </a:rPr>
                  <a:t>) time and O(nm) space, where n and m are the lengths of two input sequences and l is the length of the output </a:t>
                </a:r>
                <a:r>
                  <a:rPr lang="en-US" altLang="zh-TW" dirty="0" err="1">
                    <a:latin typeface="+mj-lt"/>
                  </a:rPr>
                  <a:t>LCaIS</a:t>
                </a:r>
                <a:r>
                  <a:rPr lang="en-US" altLang="zh-TW" dirty="0">
                    <a:latin typeface="+mj-lt"/>
                  </a:rPr>
                  <a:t>. </a:t>
                </a:r>
                <a:endParaRPr lang="zh-TW" altLang="en-US" dirty="0">
                  <a:latin typeface="+mj-lt"/>
                </a:endParaRPr>
              </a:p>
            </p:txBody>
          </p:sp>
        </mc:Choice>
        <mc:Fallback xmlns="">
          <p:sp>
            <p:nvSpPr>
              <p:cNvPr id="3" name="內容版面配置區 2">
                <a:extLst>
                  <a:ext uri="{FF2B5EF4-FFF2-40B4-BE49-F238E27FC236}">
                    <a16:creationId xmlns:a16="http://schemas.microsoft.com/office/drawing/2014/main" id="{AD74F9D8-956C-4DFB-9C2A-40D56D38495B}"/>
                  </a:ext>
                </a:extLst>
              </p:cNvPr>
              <p:cNvSpPr>
                <a:spLocks noGrp="1" noRot="1" noChangeAspect="1" noMove="1" noResize="1" noEditPoints="1" noAdjustHandles="1" noChangeArrowheads="1" noChangeShapeType="1" noTextEdit="1"/>
              </p:cNvSpPr>
              <p:nvPr>
                <p:ph idx="1"/>
              </p:nvPr>
            </p:nvSpPr>
            <p:spPr>
              <a:xfrm>
                <a:off x="672947" y="1040693"/>
                <a:ext cx="11214253" cy="5674088"/>
              </a:xfrm>
              <a:blipFill>
                <a:blip r:embed="rId3"/>
                <a:stretch>
                  <a:fillRect l="-1087" t="-1933" r="-141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23913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85FEF2-31B7-4B1F-80B3-95E7B11FF6A6}"/>
              </a:ext>
            </a:extLst>
          </p:cNvPr>
          <p:cNvSpPr>
            <a:spLocks noGrp="1"/>
          </p:cNvSpPr>
          <p:nvPr>
            <p:ph type="title"/>
          </p:nvPr>
        </p:nvSpPr>
        <p:spPr/>
        <p:txBody>
          <a:bodyPr/>
          <a:lstStyle/>
          <a:p>
            <a:r>
              <a:rPr lang="en-US" altLang="zh-TW" dirty="0"/>
              <a:t>Motivates</a:t>
            </a:r>
            <a:endParaRPr lang="zh-TW" altLang="en-US" dirty="0"/>
          </a:p>
        </p:txBody>
      </p:sp>
      <p:sp>
        <p:nvSpPr>
          <p:cNvPr id="3" name="內容版面配置區 2">
            <a:extLst>
              <a:ext uri="{FF2B5EF4-FFF2-40B4-BE49-F238E27FC236}">
                <a16:creationId xmlns:a16="http://schemas.microsoft.com/office/drawing/2014/main" id="{6D7D972E-BADD-4BD2-8D91-A2AA2812AE2C}"/>
              </a:ext>
            </a:extLst>
          </p:cNvPr>
          <p:cNvSpPr>
            <a:spLocks noGrp="1"/>
          </p:cNvSpPr>
          <p:nvPr>
            <p:ph idx="1"/>
          </p:nvPr>
        </p:nvSpPr>
        <p:spPr/>
        <p:txBody>
          <a:bodyPr/>
          <a:lstStyle/>
          <a:p>
            <a:r>
              <a:rPr lang="en-US" altLang="zh-TW" dirty="0"/>
              <a:t>Note that the </a:t>
            </a:r>
            <a:r>
              <a:rPr lang="en-US" altLang="zh-TW" dirty="0" err="1"/>
              <a:t>LCaIS</a:t>
            </a:r>
            <a:r>
              <a:rPr lang="en-US" altLang="zh-TW" dirty="0"/>
              <a:t> problem considered by </a:t>
            </a:r>
            <a:r>
              <a:rPr lang="en-US" altLang="zh-TW" dirty="0" err="1"/>
              <a:t>Moosa</a:t>
            </a:r>
            <a:r>
              <a:rPr lang="en-US" altLang="zh-TW" dirty="0"/>
              <a:t> et al. requires no repeated elements in each input sequence.</a:t>
            </a:r>
          </a:p>
          <a:p>
            <a:r>
              <a:rPr lang="en-US" altLang="zh-TW" dirty="0"/>
              <a:t>Length of two input sequence be same size.</a:t>
            </a:r>
          </a:p>
          <a:p>
            <a:r>
              <a:rPr lang="en-US" altLang="zh-TW" dirty="0"/>
              <a:t> </a:t>
            </a:r>
            <a:r>
              <a:rPr lang="en-US" altLang="zh-TW" dirty="0" err="1"/>
              <a:t>Moosa</a:t>
            </a:r>
            <a:r>
              <a:rPr lang="en-US" altLang="zh-TW" dirty="0"/>
              <a:t> et al. removing the sequence of larger ending value when there exist more than one sequence of equal length was not strictly proved in </a:t>
            </a:r>
            <a:r>
              <a:rPr lang="en-US" altLang="zh-TW" dirty="0" err="1"/>
              <a:t>Moosa</a:t>
            </a:r>
            <a:r>
              <a:rPr lang="en-US" altLang="zh-TW" dirty="0"/>
              <a:t>. </a:t>
            </a:r>
          </a:p>
          <a:p>
            <a:pPr marL="0" indent="0">
              <a:buNone/>
            </a:pPr>
            <a:endParaRPr lang="en-US" altLang="zh-TW" dirty="0"/>
          </a:p>
          <a:p>
            <a:endParaRPr lang="zh-TW" altLang="en-US" dirty="0"/>
          </a:p>
        </p:txBody>
      </p:sp>
    </p:spTree>
    <p:extLst>
      <p:ext uri="{BB962C8B-B14F-4D97-AF65-F5344CB8AC3E}">
        <p14:creationId xmlns:p14="http://schemas.microsoft.com/office/powerpoint/2010/main" val="291941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5DB48F-7F4F-45A3-83D8-9652A29EF3DE}"/>
              </a:ext>
            </a:extLst>
          </p:cNvPr>
          <p:cNvSpPr>
            <a:spLocks noGrp="1"/>
          </p:cNvSpPr>
          <p:nvPr>
            <p:ph type="title"/>
          </p:nvPr>
        </p:nvSpPr>
        <p:spPr/>
        <p:txBody>
          <a:bodyPr/>
          <a:lstStyle/>
          <a:p>
            <a:endParaRPr lang="zh-TW" altLang="en-US" dirty="0"/>
          </a:p>
        </p:txBody>
      </p:sp>
      <p:graphicFrame>
        <p:nvGraphicFramePr>
          <p:cNvPr id="4" name="表格 4">
            <a:extLst>
              <a:ext uri="{FF2B5EF4-FFF2-40B4-BE49-F238E27FC236}">
                <a16:creationId xmlns:a16="http://schemas.microsoft.com/office/drawing/2014/main" id="{3159DC09-0F0C-4731-8AB3-55E9D73E9685}"/>
              </a:ext>
            </a:extLst>
          </p:cNvPr>
          <p:cNvGraphicFramePr>
            <a:graphicFrameLocks noGrp="1"/>
          </p:cNvGraphicFramePr>
          <p:nvPr>
            <p:ph idx="1"/>
            <p:extLst>
              <p:ext uri="{D42A27DB-BD31-4B8C-83A1-F6EECF244321}">
                <p14:modId xmlns:p14="http://schemas.microsoft.com/office/powerpoint/2010/main" val="2883993267"/>
              </p:ext>
            </p:extLst>
          </p:nvPr>
        </p:nvGraphicFramePr>
        <p:xfrm>
          <a:off x="2622504" y="1290918"/>
          <a:ext cx="7287978" cy="4719919"/>
        </p:xfrm>
        <a:graphic>
          <a:graphicData uri="http://schemas.openxmlformats.org/drawingml/2006/table">
            <a:tbl>
              <a:tblPr firstRow="1" bandRow="1">
                <a:tableStyleId>{2D5ABB26-0587-4C30-8999-92F81FD0307C}</a:tableStyleId>
              </a:tblPr>
              <a:tblGrid>
                <a:gridCol w="1214663">
                  <a:extLst>
                    <a:ext uri="{9D8B030D-6E8A-4147-A177-3AD203B41FA5}">
                      <a16:colId xmlns:a16="http://schemas.microsoft.com/office/drawing/2014/main" val="1739552173"/>
                    </a:ext>
                  </a:extLst>
                </a:gridCol>
                <a:gridCol w="1214663">
                  <a:extLst>
                    <a:ext uri="{9D8B030D-6E8A-4147-A177-3AD203B41FA5}">
                      <a16:colId xmlns:a16="http://schemas.microsoft.com/office/drawing/2014/main" val="2986185045"/>
                    </a:ext>
                  </a:extLst>
                </a:gridCol>
                <a:gridCol w="1214663">
                  <a:extLst>
                    <a:ext uri="{9D8B030D-6E8A-4147-A177-3AD203B41FA5}">
                      <a16:colId xmlns:a16="http://schemas.microsoft.com/office/drawing/2014/main" val="2593090402"/>
                    </a:ext>
                  </a:extLst>
                </a:gridCol>
                <a:gridCol w="1214663">
                  <a:extLst>
                    <a:ext uri="{9D8B030D-6E8A-4147-A177-3AD203B41FA5}">
                      <a16:colId xmlns:a16="http://schemas.microsoft.com/office/drawing/2014/main" val="2053663612"/>
                    </a:ext>
                  </a:extLst>
                </a:gridCol>
                <a:gridCol w="1214663">
                  <a:extLst>
                    <a:ext uri="{9D8B030D-6E8A-4147-A177-3AD203B41FA5}">
                      <a16:colId xmlns:a16="http://schemas.microsoft.com/office/drawing/2014/main" val="2801684964"/>
                    </a:ext>
                  </a:extLst>
                </a:gridCol>
                <a:gridCol w="1214663">
                  <a:extLst>
                    <a:ext uri="{9D8B030D-6E8A-4147-A177-3AD203B41FA5}">
                      <a16:colId xmlns:a16="http://schemas.microsoft.com/office/drawing/2014/main" val="3166375054"/>
                    </a:ext>
                  </a:extLst>
                </a:gridCol>
              </a:tblGrid>
              <a:tr h="724504">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80973"/>
                  </a:ext>
                </a:extLst>
              </a:tr>
              <a:tr h="799083">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500779"/>
                  </a:ext>
                </a:extLst>
              </a:tr>
              <a:tr h="799083">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396817"/>
                  </a:ext>
                </a:extLst>
              </a:tr>
              <a:tr h="799083">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8800513"/>
                  </a:ext>
                </a:extLst>
              </a:tr>
              <a:tr h="799083">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466937"/>
                  </a:ext>
                </a:extLst>
              </a:tr>
              <a:tr h="799083">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850061"/>
                  </a:ext>
                </a:extLst>
              </a:tr>
            </a:tbl>
          </a:graphicData>
        </a:graphic>
      </p:graphicFrame>
      <p:sp>
        <p:nvSpPr>
          <p:cNvPr id="8" name="標題 6">
            <a:extLst>
              <a:ext uri="{FF2B5EF4-FFF2-40B4-BE49-F238E27FC236}">
                <a16:creationId xmlns:a16="http://schemas.microsoft.com/office/drawing/2014/main" id="{7D05D5F1-FC51-4DFF-AF41-8EAF986C77A1}"/>
              </a:ext>
            </a:extLst>
          </p:cNvPr>
          <p:cNvSpPr txBox="1">
            <a:spLocks/>
          </p:cNvSpPr>
          <p:nvPr/>
        </p:nvSpPr>
        <p:spPr>
          <a:xfrm>
            <a:off x="838200" y="365124"/>
            <a:ext cx="10515600" cy="1325563"/>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err="1"/>
              <a:t>Moosa</a:t>
            </a:r>
            <a:r>
              <a:rPr lang="en-US" altLang="zh-TW" dirty="0"/>
              <a:t>  </a:t>
            </a:r>
          </a:p>
          <a:p>
            <a:endParaRPr lang="en-US" altLang="zh-TW" dirty="0"/>
          </a:p>
        </p:txBody>
      </p:sp>
    </p:spTree>
    <p:extLst>
      <p:ext uri="{BB962C8B-B14F-4D97-AF65-F5344CB8AC3E}">
        <p14:creationId xmlns:p14="http://schemas.microsoft.com/office/powerpoint/2010/main" val="3146276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7D264B-10CB-427A-9A30-55F15492D808}"/>
              </a:ext>
            </a:extLst>
          </p:cNvPr>
          <p:cNvSpPr>
            <a:spLocks noGrp="1"/>
          </p:cNvSpPr>
          <p:nvPr>
            <p:ph type="title"/>
          </p:nvPr>
        </p:nvSpPr>
        <p:spPr/>
        <p:txBody>
          <a:bodyPr/>
          <a:lstStyle/>
          <a:p>
            <a:endParaRPr lang="zh-TW" altLang="en-US" dirty="0"/>
          </a:p>
        </p:txBody>
      </p:sp>
      <p:graphicFrame>
        <p:nvGraphicFramePr>
          <p:cNvPr id="4" name="內容版面配置區 3">
            <a:extLst>
              <a:ext uri="{FF2B5EF4-FFF2-40B4-BE49-F238E27FC236}">
                <a16:creationId xmlns:a16="http://schemas.microsoft.com/office/drawing/2014/main" id="{E7C88055-F902-4BE2-8C7C-7C5CAEE0775C}"/>
              </a:ext>
            </a:extLst>
          </p:cNvPr>
          <p:cNvGraphicFramePr>
            <a:graphicFrameLocks noGrp="1"/>
          </p:cNvGraphicFramePr>
          <p:nvPr>
            <p:ph idx="1"/>
            <p:extLst>
              <p:ext uri="{D42A27DB-BD31-4B8C-83A1-F6EECF244321}">
                <p14:modId xmlns:p14="http://schemas.microsoft.com/office/powerpoint/2010/main" val="3782879528"/>
              </p:ext>
            </p:extLst>
          </p:nvPr>
        </p:nvGraphicFramePr>
        <p:xfrm>
          <a:off x="2329416" y="1075729"/>
          <a:ext cx="8119950" cy="5006897"/>
        </p:xfrm>
        <a:graphic>
          <a:graphicData uri="http://schemas.openxmlformats.org/drawingml/2006/table">
            <a:tbl>
              <a:tblPr firstRow="1" bandRow="1">
                <a:tableStyleId>{2D5ABB26-0587-4C30-8999-92F81FD0307C}</a:tableStyleId>
              </a:tblPr>
              <a:tblGrid>
                <a:gridCol w="1353325">
                  <a:extLst>
                    <a:ext uri="{9D8B030D-6E8A-4147-A177-3AD203B41FA5}">
                      <a16:colId xmlns:a16="http://schemas.microsoft.com/office/drawing/2014/main" val="2314865300"/>
                    </a:ext>
                  </a:extLst>
                </a:gridCol>
                <a:gridCol w="1353325">
                  <a:extLst>
                    <a:ext uri="{9D8B030D-6E8A-4147-A177-3AD203B41FA5}">
                      <a16:colId xmlns:a16="http://schemas.microsoft.com/office/drawing/2014/main" val="3667738549"/>
                    </a:ext>
                  </a:extLst>
                </a:gridCol>
                <a:gridCol w="1353325">
                  <a:extLst>
                    <a:ext uri="{9D8B030D-6E8A-4147-A177-3AD203B41FA5}">
                      <a16:colId xmlns:a16="http://schemas.microsoft.com/office/drawing/2014/main" val="2813637894"/>
                    </a:ext>
                  </a:extLst>
                </a:gridCol>
                <a:gridCol w="1353325">
                  <a:extLst>
                    <a:ext uri="{9D8B030D-6E8A-4147-A177-3AD203B41FA5}">
                      <a16:colId xmlns:a16="http://schemas.microsoft.com/office/drawing/2014/main" val="2356756760"/>
                    </a:ext>
                  </a:extLst>
                </a:gridCol>
                <a:gridCol w="1353325">
                  <a:extLst>
                    <a:ext uri="{9D8B030D-6E8A-4147-A177-3AD203B41FA5}">
                      <a16:colId xmlns:a16="http://schemas.microsoft.com/office/drawing/2014/main" val="2639756558"/>
                    </a:ext>
                  </a:extLst>
                </a:gridCol>
                <a:gridCol w="1353325">
                  <a:extLst>
                    <a:ext uri="{9D8B030D-6E8A-4147-A177-3AD203B41FA5}">
                      <a16:colId xmlns:a16="http://schemas.microsoft.com/office/drawing/2014/main" val="522558518"/>
                    </a:ext>
                  </a:extLst>
                </a:gridCol>
              </a:tblGrid>
              <a:tr h="850422">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148989"/>
                  </a:ext>
                </a:extLst>
              </a:tr>
              <a:tr h="831295">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305642"/>
                  </a:ext>
                </a:extLst>
              </a:tr>
              <a:tr h="831295">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6559971"/>
                  </a:ext>
                </a:extLst>
              </a:tr>
              <a:tr h="831295">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077392"/>
                  </a:ext>
                </a:extLst>
              </a:tr>
              <a:tr h="831295">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0904984"/>
                  </a:ext>
                </a:extLst>
              </a:tr>
              <a:tr h="831295">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058937"/>
                  </a:ext>
                </a:extLst>
              </a:tr>
            </a:tbl>
          </a:graphicData>
        </a:graphic>
      </p:graphicFrame>
      <p:sp>
        <p:nvSpPr>
          <p:cNvPr id="5" name="文字方塊 4">
            <a:extLst>
              <a:ext uri="{FF2B5EF4-FFF2-40B4-BE49-F238E27FC236}">
                <a16:creationId xmlns:a16="http://schemas.microsoft.com/office/drawing/2014/main" id="{0851B10F-6357-459C-9CB9-ABEA9596392D}"/>
              </a:ext>
            </a:extLst>
          </p:cNvPr>
          <p:cNvSpPr txBox="1"/>
          <p:nvPr/>
        </p:nvSpPr>
        <p:spPr>
          <a:xfrm>
            <a:off x="3244856" y="6305047"/>
            <a:ext cx="4081346" cy="461665"/>
          </a:xfrm>
          <a:prstGeom prst="rect">
            <a:avLst/>
          </a:prstGeom>
          <a:noFill/>
        </p:spPr>
        <p:txBody>
          <a:bodyPr wrap="square" rtlCol="0">
            <a:spAutoFit/>
          </a:bodyPr>
          <a:lstStyle/>
          <a:p>
            <a:r>
              <a:rPr lang="en-US" altLang="zh-TW" sz="2400" dirty="0"/>
              <a:t>length 1: &lt;11&gt; &lt;9&gt;</a:t>
            </a:r>
            <a:endParaRPr lang="zh-TW" altLang="en-US" sz="2400" dirty="0"/>
          </a:p>
        </p:txBody>
      </p:sp>
      <p:sp>
        <p:nvSpPr>
          <p:cNvPr id="6" name="標題 6">
            <a:extLst>
              <a:ext uri="{FF2B5EF4-FFF2-40B4-BE49-F238E27FC236}">
                <a16:creationId xmlns:a16="http://schemas.microsoft.com/office/drawing/2014/main" id="{DD39B99D-3C0B-4A37-80F0-339BAE4971FE}"/>
              </a:ext>
            </a:extLst>
          </p:cNvPr>
          <p:cNvSpPr txBox="1">
            <a:spLocks/>
          </p:cNvSpPr>
          <p:nvPr/>
        </p:nvSpPr>
        <p:spPr>
          <a:xfrm>
            <a:off x="838200" y="322120"/>
            <a:ext cx="10515600" cy="1325563"/>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err="1"/>
              <a:t>Moosa</a:t>
            </a:r>
            <a:r>
              <a:rPr lang="en-US" altLang="zh-TW" dirty="0"/>
              <a:t>  </a:t>
            </a:r>
          </a:p>
          <a:p>
            <a:endParaRPr lang="en-US" altLang="zh-TW" dirty="0"/>
          </a:p>
        </p:txBody>
      </p:sp>
    </p:spTree>
    <p:extLst>
      <p:ext uri="{BB962C8B-B14F-4D97-AF65-F5344CB8AC3E}">
        <p14:creationId xmlns:p14="http://schemas.microsoft.com/office/powerpoint/2010/main" val="698646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728807-0520-41A1-892C-97BEC14FF777}"/>
              </a:ext>
            </a:extLst>
          </p:cNvPr>
          <p:cNvSpPr>
            <a:spLocks noGrp="1"/>
          </p:cNvSpPr>
          <p:nvPr>
            <p:ph type="title"/>
          </p:nvPr>
        </p:nvSpPr>
        <p:spPr/>
        <p:txBody>
          <a:bodyPr/>
          <a:lstStyle/>
          <a:p>
            <a:endParaRPr lang="zh-TW" altLang="en-US"/>
          </a:p>
        </p:txBody>
      </p:sp>
      <p:graphicFrame>
        <p:nvGraphicFramePr>
          <p:cNvPr id="4" name="表格 3">
            <a:extLst>
              <a:ext uri="{FF2B5EF4-FFF2-40B4-BE49-F238E27FC236}">
                <a16:creationId xmlns:a16="http://schemas.microsoft.com/office/drawing/2014/main" id="{FF74BCA3-4915-4B4A-BF30-AF659416B89E}"/>
              </a:ext>
            </a:extLst>
          </p:cNvPr>
          <p:cNvGraphicFramePr>
            <a:graphicFrameLocks/>
          </p:cNvGraphicFramePr>
          <p:nvPr>
            <p:extLst>
              <p:ext uri="{D42A27DB-BD31-4B8C-83A1-F6EECF244321}">
                <p14:modId xmlns:p14="http://schemas.microsoft.com/office/powerpoint/2010/main" val="761611979"/>
              </p:ext>
            </p:extLst>
          </p:nvPr>
        </p:nvGraphicFramePr>
        <p:xfrm>
          <a:off x="1550019" y="642408"/>
          <a:ext cx="8285364" cy="4788234"/>
        </p:xfrm>
        <a:graphic>
          <a:graphicData uri="http://schemas.openxmlformats.org/drawingml/2006/table">
            <a:tbl>
              <a:tblPr firstRow="1" bandRow="1">
                <a:tableStyleId>{2D5ABB26-0587-4C30-8999-92F81FD0307C}</a:tableStyleId>
              </a:tblPr>
              <a:tblGrid>
                <a:gridCol w="1380894">
                  <a:extLst>
                    <a:ext uri="{9D8B030D-6E8A-4147-A177-3AD203B41FA5}">
                      <a16:colId xmlns:a16="http://schemas.microsoft.com/office/drawing/2014/main" val="1739552173"/>
                    </a:ext>
                  </a:extLst>
                </a:gridCol>
                <a:gridCol w="1380894">
                  <a:extLst>
                    <a:ext uri="{9D8B030D-6E8A-4147-A177-3AD203B41FA5}">
                      <a16:colId xmlns:a16="http://schemas.microsoft.com/office/drawing/2014/main" val="2986185045"/>
                    </a:ext>
                  </a:extLst>
                </a:gridCol>
                <a:gridCol w="1380894">
                  <a:extLst>
                    <a:ext uri="{9D8B030D-6E8A-4147-A177-3AD203B41FA5}">
                      <a16:colId xmlns:a16="http://schemas.microsoft.com/office/drawing/2014/main" val="2593090402"/>
                    </a:ext>
                  </a:extLst>
                </a:gridCol>
                <a:gridCol w="1380894">
                  <a:extLst>
                    <a:ext uri="{9D8B030D-6E8A-4147-A177-3AD203B41FA5}">
                      <a16:colId xmlns:a16="http://schemas.microsoft.com/office/drawing/2014/main" val="2053663612"/>
                    </a:ext>
                  </a:extLst>
                </a:gridCol>
                <a:gridCol w="1380894">
                  <a:extLst>
                    <a:ext uri="{9D8B030D-6E8A-4147-A177-3AD203B41FA5}">
                      <a16:colId xmlns:a16="http://schemas.microsoft.com/office/drawing/2014/main" val="2801684964"/>
                    </a:ext>
                  </a:extLst>
                </a:gridCol>
                <a:gridCol w="1380894">
                  <a:extLst>
                    <a:ext uri="{9D8B030D-6E8A-4147-A177-3AD203B41FA5}">
                      <a16:colId xmlns:a16="http://schemas.microsoft.com/office/drawing/2014/main" val="3166375054"/>
                    </a:ext>
                  </a:extLst>
                </a:gridCol>
              </a:tblGrid>
              <a:tr h="798039">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80973"/>
                  </a:ext>
                </a:extLst>
              </a:tr>
              <a:tr h="798039">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500779"/>
                  </a:ext>
                </a:extLst>
              </a:tr>
              <a:tr h="798039">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396817"/>
                  </a:ext>
                </a:extLst>
              </a:tr>
              <a:tr h="798039">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8800513"/>
                  </a:ext>
                </a:extLst>
              </a:tr>
              <a:tr h="798039">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466937"/>
                  </a:ext>
                </a:extLst>
              </a:tr>
              <a:tr h="798039">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850061"/>
                  </a:ext>
                </a:extLst>
              </a:tr>
            </a:tbl>
          </a:graphicData>
        </a:graphic>
      </p:graphicFrame>
      <p:cxnSp>
        <p:nvCxnSpPr>
          <p:cNvPr id="5" name="直線接點 4">
            <a:extLst>
              <a:ext uri="{FF2B5EF4-FFF2-40B4-BE49-F238E27FC236}">
                <a16:creationId xmlns:a16="http://schemas.microsoft.com/office/drawing/2014/main" id="{75C164C1-4668-4008-B952-6CBC835EA856}"/>
              </a:ext>
            </a:extLst>
          </p:cNvPr>
          <p:cNvCxnSpPr>
            <a:cxnSpLocks/>
          </p:cNvCxnSpPr>
          <p:nvPr/>
        </p:nvCxnSpPr>
        <p:spPr>
          <a:xfrm>
            <a:off x="3959612" y="3512634"/>
            <a:ext cx="768505" cy="680225"/>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7" name="直線接點 6">
            <a:extLst>
              <a:ext uri="{FF2B5EF4-FFF2-40B4-BE49-F238E27FC236}">
                <a16:creationId xmlns:a16="http://schemas.microsoft.com/office/drawing/2014/main" id="{50BCFB22-4219-4209-AD5A-3A314C85ED7B}"/>
              </a:ext>
            </a:extLst>
          </p:cNvPr>
          <p:cNvCxnSpPr>
            <a:cxnSpLocks/>
          </p:cNvCxnSpPr>
          <p:nvPr/>
        </p:nvCxnSpPr>
        <p:spPr>
          <a:xfrm>
            <a:off x="6699094" y="1882406"/>
            <a:ext cx="768505" cy="680225"/>
          </a:xfrm>
          <a:prstGeom prst="line">
            <a:avLst/>
          </a:prstGeom>
          <a:ln w="76200"/>
        </p:spPr>
        <p:style>
          <a:lnRef idx="3">
            <a:schemeClr val="accent1"/>
          </a:lnRef>
          <a:fillRef idx="0">
            <a:schemeClr val="accent1"/>
          </a:fillRef>
          <a:effectRef idx="2">
            <a:schemeClr val="accent1"/>
          </a:effectRef>
          <a:fontRef idx="minor">
            <a:schemeClr val="tx1"/>
          </a:fontRef>
        </p:style>
      </p:cxnSp>
      <p:sp>
        <p:nvSpPr>
          <p:cNvPr id="8" name="文字方塊 7">
            <a:extLst>
              <a:ext uri="{FF2B5EF4-FFF2-40B4-BE49-F238E27FC236}">
                <a16:creationId xmlns:a16="http://schemas.microsoft.com/office/drawing/2014/main" id="{6C49E00A-E49E-478F-9CAE-24ECD1A964E3}"/>
              </a:ext>
            </a:extLst>
          </p:cNvPr>
          <p:cNvSpPr txBox="1"/>
          <p:nvPr/>
        </p:nvSpPr>
        <p:spPr>
          <a:xfrm>
            <a:off x="2352907" y="5921298"/>
            <a:ext cx="4259766" cy="461665"/>
          </a:xfrm>
          <a:prstGeom prst="rect">
            <a:avLst/>
          </a:prstGeom>
          <a:noFill/>
        </p:spPr>
        <p:txBody>
          <a:bodyPr wrap="square" rtlCol="0">
            <a:spAutoFit/>
          </a:bodyPr>
          <a:lstStyle/>
          <a:p>
            <a:r>
              <a:rPr lang="en-US" altLang="zh-TW" sz="2400" dirty="0"/>
              <a:t>length 2: &lt;11, 7&gt; </a:t>
            </a:r>
            <a:r>
              <a:rPr lang="zh-TW" altLang="en-US" sz="2400" dirty="0"/>
              <a:t> </a:t>
            </a:r>
            <a:r>
              <a:rPr lang="en-US" altLang="zh-TW" sz="2400" dirty="0"/>
              <a:t>&lt;9, 8&gt;</a:t>
            </a:r>
            <a:endParaRPr lang="zh-TW" altLang="en-US" sz="2400" dirty="0"/>
          </a:p>
        </p:txBody>
      </p:sp>
    </p:spTree>
    <p:extLst>
      <p:ext uri="{BB962C8B-B14F-4D97-AF65-F5344CB8AC3E}">
        <p14:creationId xmlns:p14="http://schemas.microsoft.com/office/powerpoint/2010/main" val="376237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72C70C-BF50-49FD-B015-EC437CABB13E}"/>
              </a:ext>
            </a:extLst>
          </p:cNvPr>
          <p:cNvSpPr>
            <a:spLocks noGrp="1"/>
          </p:cNvSpPr>
          <p:nvPr>
            <p:ph type="title"/>
          </p:nvPr>
        </p:nvSpPr>
        <p:spPr/>
        <p:txBody>
          <a:bodyPr/>
          <a:lstStyle/>
          <a:p>
            <a:endParaRPr lang="zh-TW" altLang="en-US"/>
          </a:p>
        </p:txBody>
      </p:sp>
      <p:graphicFrame>
        <p:nvGraphicFramePr>
          <p:cNvPr id="5" name="表格 4">
            <a:extLst>
              <a:ext uri="{FF2B5EF4-FFF2-40B4-BE49-F238E27FC236}">
                <a16:creationId xmlns:a16="http://schemas.microsoft.com/office/drawing/2014/main" id="{CA2614AD-83A1-402F-ACA2-CEC0E1DA31A9}"/>
              </a:ext>
            </a:extLst>
          </p:cNvPr>
          <p:cNvGraphicFramePr>
            <a:graphicFrameLocks/>
          </p:cNvGraphicFramePr>
          <p:nvPr>
            <p:extLst>
              <p:ext uri="{D42A27DB-BD31-4B8C-83A1-F6EECF244321}">
                <p14:modId xmlns:p14="http://schemas.microsoft.com/office/powerpoint/2010/main" val="3262959615"/>
              </p:ext>
            </p:extLst>
          </p:nvPr>
        </p:nvGraphicFramePr>
        <p:xfrm>
          <a:off x="2472946" y="465180"/>
          <a:ext cx="7738950" cy="3861186"/>
        </p:xfrm>
        <a:graphic>
          <a:graphicData uri="http://schemas.openxmlformats.org/drawingml/2006/table">
            <a:tbl>
              <a:tblPr firstRow="1" bandRow="1">
                <a:tableStyleId>{2D5ABB26-0587-4C30-8999-92F81FD0307C}</a:tableStyleId>
              </a:tblPr>
              <a:tblGrid>
                <a:gridCol w="1289825">
                  <a:extLst>
                    <a:ext uri="{9D8B030D-6E8A-4147-A177-3AD203B41FA5}">
                      <a16:colId xmlns:a16="http://schemas.microsoft.com/office/drawing/2014/main" val="1739552173"/>
                    </a:ext>
                  </a:extLst>
                </a:gridCol>
                <a:gridCol w="1289825">
                  <a:extLst>
                    <a:ext uri="{9D8B030D-6E8A-4147-A177-3AD203B41FA5}">
                      <a16:colId xmlns:a16="http://schemas.microsoft.com/office/drawing/2014/main" val="2986185045"/>
                    </a:ext>
                  </a:extLst>
                </a:gridCol>
                <a:gridCol w="1289825">
                  <a:extLst>
                    <a:ext uri="{9D8B030D-6E8A-4147-A177-3AD203B41FA5}">
                      <a16:colId xmlns:a16="http://schemas.microsoft.com/office/drawing/2014/main" val="2593090402"/>
                    </a:ext>
                  </a:extLst>
                </a:gridCol>
                <a:gridCol w="1289825">
                  <a:extLst>
                    <a:ext uri="{9D8B030D-6E8A-4147-A177-3AD203B41FA5}">
                      <a16:colId xmlns:a16="http://schemas.microsoft.com/office/drawing/2014/main" val="2053663612"/>
                    </a:ext>
                  </a:extLst>
                </a:gridCol>
                <a:gridCol w="1289825">
                  <a:extLst>
                    <a:ext uri="{9D8B030D-6E8A-4147-A177-3AD203B41FA5}">
                      <a16:colId xmlns:a16="http://schemas.microsoft.com/office/drawing/2014/main" val="2801684964"/>
                    </a:ext>
                  </a:extLst>
                </a:gridCol>
                <a:gridCol w="1289825">
                  <a:extLst>
                    <a:ext uri="{9D8B030D-6E8A-4147-A177-3AD203B41FA5}">
                      <a16:colId xmlns:a16="http://schemas.microsoft.com/office/drawing/2014/main" val="3166375054"/>
                    </a:ext>
                  </a:extLst>
                </a:gridCol>
              </a:tblGrid>
              <a:tr h="643531">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80973"/>
                  </a:ext>
                </a:extLst>
              </a:tr>
              <a:tr h="643531">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500779"/>
                  </a:ext>
                </a:extLst>
              </a:tr>
              <a:tr h="643531">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396817"/>
                  </a:ext>
                </a:extLst>
              </a:tr>
              <a:tr h="643531">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8800513"/>
                  </a:ext>
                </a:extLst>
              </a:tr>
              <a:tr h="643531">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466937"/>
                  </a:ext>
                </a:extLst>
              </a:tr>
              <a:tr h="643531">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850061"/>
                  </a:ext>
                </a:extLst>
              </a:tr>
            </a:tbl>
          </a:graphicData>
        </a:graphic>
      </p:graphicFrame>
      <p:sp>
        <p:nvSpPr>
          <p:cNvPr id="7" name="文字方塊 6">
            <a:extLst>
              <a:ext uri="{FF2B5EF4-FFF2-40B4-BE49-F238E27FC236}">
                <a16:creationId xmlns:a16="http://schemas.microsoft.com/office/drawing/2014/main" id="{F06F5486-7493-40B8-B89D-C00E19236655}"/>
              </a:ext>
            </a:extLst>
          </p:cNvPr>
          <p:cNvSpPr txBox="1"/>
          <p:nvPr/>
        </p:nvSpPr>
        <p:spPr>
          <a:xfrm>
            <a:off x="838200" y="4426421"/>
            <a:ext cx="10325100" cy="1200329"/>
          </a:xfrm>
          <a:prstGeom prst="rect">
            <a:avLst/>
          </a:prstGeom>
          <a:noFill/>
        </p:spPr>
        <p:txBody>
          <a:bodyPr wrap="square">
            <a:spAutoFit/>
          </a:bodyPr>
          <a:lstStyle/>
          <a:p>
            <a:r>
              <a:rPr lang="en-US" altLang="zh-TW" sz="2400" dirty="0"/>
              <a:t>length 1: &lt;11&gt; &lt;9&gt; 				</a:t>
            </a:r>
          </a:p>
          <a:p>
            <a:r>
              <a:rPr lang="en-US" altLang="zh-TW" sz="2400" dirty="0"/>
              <a:t>length 2: &lt;11, 7&gt; &lt;9, 8&gt;			</a:t>
            </a:r>
            <a:endParaRPr lang="zh-TW" altLang="en-US" sz="2400" dirty="0"/>
          </a:p>
          <a:p>
            <a:endParaRPr lang="zh-TW" altLang="en-US" sz="2400" dirty="0"/>
          </a:p>
        </p:txBody>
      </p:sp>
      <p:sp>
        <p:nvSpPr>
          <p:cNvPr id="8" name="文字方塊 7">
            <a:extLst>
              <a:ext uri="{FF2B5EF4-FFF2-40B4-BE49-F238E27FC236}">
                <a16:creationId xmlns:a16="http://schemas.microsoft.com/office/drawing/2014/main" id="{90B3416A-0AAF-4B65-B26F-7EA556FF8EE2}"/>
              </a:ext>
            </a:extLst>
          </p:cNvPr>
          <p:cNvSpPr txBox="1"/>
          <p:nvPr/>
        </p:nvSpPr>
        <p:spPr>
          <a:xfrm>
            <a:off x="591834" y="5626750"/>
            <a:ext cx="9476678" cy="1200329"/>
          </a:xfrm>
          <a:prstGeom prst="rect">
            <a:avLst/>
          </a:prstGeom>
          <a:noFill/>
        </p:spPr>
        <p:txBody>
          <a:bodyPr wrap="square" rtlCol="0">
            <a:spAutoFit/>
          </a:bodyPr>
          <a:lstStyle/>
          <a:p>
            <a:r>
              <a:rPr lang="en-US" altLang="zh-TW" sz="2400" u="sng" dirty="0"/>
              <a:t>Keeps the sequence of the smallest ending value among sequences having the same length for later computation.</a:t>
            </a:r>
          </a:p>
          <a:p>
            <a:endParaRPr lang="zh-TW" altLang="en-US" sz="2400" dirty="0"/>
          </a:p>
        </p:txBody>
      </p:sp>
      <p:cxnSp>
        <p:nvCxnSpPr>
          <p:cNvPr id="9" name="直線接點 8">
            <a:extLst>
              <a:ext uri="{FF2B5EF4-FFF2-40B4-BE49-F238E27FC236}">
                <a16:creationId xmlns:a16="http://schemas.microsoft.com/office/drawing/2014/main" id="{4CC60875-FE1B-46C9-9817-A6FCD24E8773}"/>
              </a:ext>
            </a:extLst>
          </p:cNvPr>
          <p:cNvCxnSpPr>
            <a:cxnSpLocks/>
          </p:cNvCxnSpPr>
          <p:nvPr/>
        </p:nvCxnSpPr>
        <p:spPr>
          <a:xfrm>
            <a:off x="7236976" y="1400603"/>
            <a:ext cx="768505" cy="680225"/>
          </a:xfrm>
          <a:prstGeom prst="line">
            <a:avLst/>
          </a:prstGeom>
          <a:ln w="762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179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72C70C-BF50-49FD-B015-EC437CABB13E}"/>
              </a:ext>
            </a:extLst>
          </p:cNvPr>
          <p:cNvSpPr>
            <a:spLocks noGrp="1"/>
          </p:cNvSpPr>
          <p:nvPr>
            <p:ph type="title"/>
          </p:nvPr>
        </p:nvSpPr>
        <p:spPr/>
        <p:txBody>
          <a:bodyPr/>
          <a:lstStyle/>
          <a:p>
            <a:endParaRPr lang="zh-TW" altLang="en-US"/>
          </a:p>
        </p:txBody>
      </p:sp>
      <p:graphicFrame>
        <p:nvGraphicFramePr>
          <p:cNvPr id="5" name="表格 4">
            <a:extLst>
              <a:ext uri="{FF2B5EF4-FFF2-40B4-BE49-F238E27FC236}">
                <a16:creationId xmlns:a16="http://schemas.microsoft.com/office/drawing/2014/main" id="{CA2614AD-83A1-402F-ACA2-CEC0E1DA31A9}"/>
              </a:ext>
            </a:extLst>
          </p:cNvPr>
          <p:cNvGraphicFramePr>
            <a:graphicFrameLocks/>
          </p:cNvGraphicFramePr>
          <p:nvPr/>
        </p:nvGraphicFramePr>
        <p:xfrm>
          <a:off x="2472946" y="465180"/>
          <a:ext cx="7738950" cy="3861186"/>
        </p:xfrm>
        <a:graphic>
          <a:graphicData uri="http://schemas.openxmlformats.org/drawingml/2006/table">
            <a:tbl>
              <a:tblPr firstRow="1" bandRow="1">
                <a:tableStyleId>{2D5ABB26-0587-4C30-8999-92F81FD0307C}</a:tableStyleId>
              </a:tblPr>
              <a:tblGrid>
                <a:gridCol w="1289825">
                  <a:extLst>
                    <a:ext uri="{9D8B030D-6E8A-4147-A177-3AD203B41FA5}">
                      <a16:colId xmlns:a16="http://schemas.microsoft.com/office/drawing/2014/main" val="1739552173"/>
                    </a:ext>
                  </a:extLst>
                </a:gridCol>
                <a:gridCol w="1289825">
                  <a:extLst>
                    <a:ext uri="{9D8B030D-6E8A-4147-A177-3AD203B41FA5}">
                      <a16:colId xmlns:a16="http://schemas.microsoft.com/office/drawing/2014/main" val="2986185045"/>
                    </a:ext>
                  </a:extLst>
                </a:gridCol>
                <a:gridCol w="1289825">
                  <a:extLst>
                    <a:ext uri="{9D8B030D-6E8A-4147-A177-3AD203B41FA5}">
                      <a16:colId xmlns:a16="http://schemas.microsoft.com/office/drawing/2014/main" val="2593090402"/>
                    </a:ext>
                  </a:extLst>
                </a:gridCol>
                <a:gridCol w="1289825">
                  <a:extLst>
                    <a:ext uri="{9D8B030D-6E8A-4147-A177-3AD203B41FA5}">
                      <a16:colId xmlns:a16="http://schemas.microsoft.com/office/drawing/2014/main" val="2053663612"/>
                    </a:ext>
                  </a:extLst>
                </a:gridCol>
                <a:gridCol w="1289825">
                  <a:extLst>
                    <a:ext uri="{9D8B030D-6E8A-4147-A177-3AD203B41FA5}">
                      <a16:colId xmlns:a16="http://schemas.microsoft.com/office/drawing/2014/main" val="2801684964"/>
                    </a:ext>
                  </a:extLst>
                </a:gridCol>
                <a:gridCol w="1289825">
                  <a:extLst>
                    <a:ext uri="{9D8B030D-6E8A-4147-A177-3AD203B41FA5}">
                      <a16:colId xmlns:a16="http://schemas.microsoft.com/office/drawing/2014/main" val="3166375054"/>
                    </a:ext>
                  </a:extLst>
                </a:gridCol>
              </a:tblGrid>
              <a:tr h="643531">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80973"/>
                  </a:ext>
                </a:extLst>
              </a:tr>
              <a:tr h="643531">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500779"/>
                  </a:ext>
                </a:extLst>
              </a:tr>
              <a:tr h="643531">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396817"/>
                  </a:ext>
                </a:extLst>
              </a:tr>
              <a:tr h="643531">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8800513"/>
                  </a:ext>
                </a:extLst>
              </a:tr>
              <a:tr h="643531">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466937"/>
                  </a:ext>
                </a:extLst>
              </a:tr>
              <a:tr h="643531">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850061"/>
                  </a:ext>
                </a:extLst>
              </a:tr>
            </a:tbl>
          </a:graphicData>
        </a:graphic>
      </p:graphicFrame>
      <p:sp>
        <p:nvSpPr>
          <p:cNvPr id="7" name="文字方塊 6">
            <a:extLst>
              <a:ext uri="{FF2B5EF4-FFF2-40B4-BE49-F238E27FC236}">
                <a16:creationId xmlns:a16="http://schemas.microsoft.com/office/drawing/2014/main" id="{F06F5486-7493-40B8-B89D-C00E19236655}"/>
              </a:ext>
            </a:extLst>
          </p:cNvPr>
          <p:cNvSpPr txBox="1"/>
          <p:nvPr/>
        </p:nvSpPr>
        <p:spPr>
          <a:xfrm>
            <a:off x="838200" y="4426421"/>
            <a:ext cx="10325100" cy="1200329"/>
          </a:xfrm>
          <a:prstGeom prst="rect">
            <a:avLst/>
          </a:prstGeom>
          <a:noFill/>
        </p:spPr>
        <p:txBody>
          <a:bodyPr wrap="square">
            <a:spAutoFit/>
          </a:bodyPr>
          <a:lstStyle/>
          <a:p>
            <a:r>
              <a:rPr lang="en-US" altLang="zh-TW" sz="2400" dirty="0"/>
              <a:t>length 1: &lt;11&gt; &lt;9&gt; 				</a:t>
            </a:r>
            <a:r>
              <a:rPr lang="en-US" altLang="zh-TW" sz="2400" dirty="0">
                <a:solidFill>
                  <a:schemeClr val="accent1">
                    <a:lumMod val="75000"/>
                  </a:schemeClr>
                </a:solidFill>
              </a:rPr>
              <a:t>&lt;9&gt;   </a:t>
            </a:r>
          </a:p>
          <a:p>
            <a:r>
              <a:rPr lang="en-US" altLang="zh-TW" sz="2400" dirty="0"/>
              <a:t>length 2: &lt;11, 7&gt; &lt;9, 8&gt;			 </a:t>
            </a:r>
            <a:r>
              <a:rPr lang="en-US" altLang="zh-TW" sz="2400" dirty="0">
                <a:solidFill>
                  <a:schemeClr val="accent1">
                    <a:lumMod val="75000"/>
                  </a:schemeClr>
                </a:solidFill>
              </a:rPr>
              <a:t>&lt;11, 7&gt; </a:t>
            </a:r>
            <a:endParaRPr lang="zh-TW" altLang="en-US" sz="2400" dirty="0">
              <a:solidFill>
                <a:schemeClr val="accent1">
                  <a:lumMod val="75000"/>
                </a:schemeClr>
              </a:solidFill>
            </a:endParaRPr>
          </a:p>
          <a:p>
            <a:endParaRPr lang="zh-TW" altLang="en-US" sz="2400" dirty="0"/>
          </a:p>
        </p:txBody>
      </p:sp>
      <p:sp>
        <p:nvSpPr>
          <p:cNvPr id="8" name="文字方塊 7">
            <a:extLst>
              <a:ext uri="{FF2B5EF4-FFF2-40B4-BE49-F238E27FC236}">
                <a16:creationId xmlns:a16="http://schemas.microsoft.com/office/drawing/2014/main" id="{90B3416A-0AAF-4B65-B26F-7EA556FF8EE2}"/>
              </a:ext>
            </a:extLst>
          </p:cNvPr>
          <p:cNvSpPr txBox="1"/>
          <p:nvPr/>
        </p:nvSpPr>
        <p:spPr>
          <a:xfrm>
            <a:off x="591834" y="5626750"/>
            <a:ext cx="9476678" cy="1200329"/>
          </a:xfrm>
          <a:prstGeom prst="rect">
            <a:avLst/>
          </a:prstGeom>
          <a:noFill/>
        </p:spPr>
        <p:txBody>
          <a:bodyPr wrap="square" rtlCol="0">
            <a:spAutoFit/>
          </a:bodyPr>
          <a:lstStyle/>
          <a:p>
            <a:r>
              <a:rPr lang="en-US" altLang="zh-TW" sz="2400" u="sng" dirty="0"/>
              <a:t>Keeps the sequence of the smallest ending value among sequences having the same length for later computation.</a:t>
            </a:r>
          </a:p>
          <a:p>
            <a:endParaRPr lang="zh-TW" altLang="en-US" sz="2400" dirty="0"/>
          </a:p>
        </p:txBody>
      </p:sp>
      <p:cxnSp>
        <p:nvCxnSpPr>
          <p:cNvPr id="9" name="直線接點 8">
            <a:extLst>
              <a:ext uri="{FF2B5EF4-FFF2-40B4-BE49-F238E27FC236}">
                <a16:creationId xmlns:a16="http://schemas.microsoft.com/office/drawing/2014/main" id="{4CC60875-FE1B-46C9-9817-A6FCD24E8773}"/>
              </a:ext>
            </a:extLst>
          </p:cNvPr>
          <p:cNvCxnSpPr>
            <a:cxnSpLocks/>
          </p:cNvCxnSpPr>
          <p:nvPr/>
        </p:nvCxnSpPr>
        <p:spPr>
          <a:xfrm>
            <a:off x="7236976" y="1400603"/>
            <a:ext cx="768505" cy="680225"/>
          </a:xfrm>
          <a:prstGeom prst="line">
            <a:avLst/>
          </a:prstGeom>
          <a:ln w="762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302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A22F31-0FFC-45C7-BA74-0C5F0290FE2E}"/>
              </a:ext>
            </a:extLst>
          </p:cNvPr>
          <p:cNvSpPr>
            <a:spLocks noGrp="1"/>
          </p:cNvSpPr>
          <p:nvPr>
            <p:ph type="title"/>
          </p:nvPr>
        </p:nvSpPr>
        <p:spPr/>
        <p:txBody>
          <a:bodyPr/>
          <a:lstStyle/>
          <a:p>
            <a:endParaRPr lang="zh-TW" altLang="en-US"/>
          </a:p>
        </p:txBody>
      </p:sp>
      <p:graphicFrame>
        <p:nvGraphicFramePr>
          <p:cNvPr id="4" name="表格 3">
            <a:extLst>
              <a:ext uri="{FF2B5EF4-FFF2-40B4-BE49-F238E27FC236}">
                <a16:creationId xmlns:a16="http://schemas.microsoft.com/office/drawing/2014/main" id="{FF52FC6F-13B1-4AB3-990F-D810B13F9D7B}"/>
              </a:ext>
            </a:extLst>
          </p:cNvPr>
          <p:cNvGraphicFramePr>
            <a:graphicFrameLocks/>
          </p:cNvGraphicFramePr>
          <p:nvPr>
            <p:extLst>
              <p:ext uri="{D42A27DB-BD31-4B8C-83A1-F6EECF244321}">
                <p14:modId xmlns:p14="http://schemas.microsoft.com/office/powerpoint/2010/main" val="4224603425"/>
              </p:ext>
            </p:extLst>
          </p:nvPr>
        </p:nvGraphicFramePr>
        <p:xfrm>
          <a:off x="1494263" y="1058494"/>
          <a:ext cx="7738950" cy="3861186"/>
        </p:xfrm>
        <a:graphic>
          <a:graphicData uri="http://schemas.openxmlformats.org/drawingml/2006/table">
            <a:tbl>
              <a:tblPr firstRow="1" bandRow="1">
                <a:tableStyleId>{2D5ABB26-0587-4C30-8999-92F81FD0307C}</a:tableStyleId>
              </a:tblPr>
              <a:tblGrid>
                <a:gridCol w="1289825">
                  <a:extLst>
                    <a:ext uri="{9D8B030D-6E8A-4147-A177-3AD203B41FA5}">
                      <a16:colId xmlns:a16="http://schemas.microsoft.com/office/drawing/2014/main" val="1739552173"/>
                    </a:ext>
                  </a:extLst>
                </a:gridCol>
                <a:gridCol w="1289825">
                  <a:extLst>
                    <a:ext uri="{9D8B030D-6E8A-4147-A177-3AD203B41FA5}">
                      <a16:colId xmlns:a16="http://schemas.microsoft.com/office/drawing/2014/main" val="2986185045"/>
                    </a:ext>
                  </a:extLst>
                </a:gridCol>
                <a:gridCol w="1289825">
                  <a:extLst>
                    <a:ext uri="{9D8B030D-6E8A-4147-A177-3AD203B41FA5}">
                      <a16:colId xmlns:a16="http://schemas.microsoft.com/office/drawing/2014/main" val="2593090402"/>
                    </a:ext>
                  </a:extLst>
                </a:gridCol>
                <a:gridCol w="1289825">
                  <a:extLst>
                    <a:ext uri="{9D8B030D-6E8A-4147-A177-3AD203B41FA5}">
                      <a16:colId xmlns:a16="http://schemas.microsoft.com/office/drawing/2014/main" val="2053663612"/>
                    </a:ext>
                  </a:extLst>
                </a:gridCol>
                <a:gridCol w="1289825">
                  <a:extLst>
                    <a:ext uri="{9D8B030D-6E8A-4147-A177-3AD203B41FA5}">
                      <a16:colId xmlns:a16="http://schemas.microsoft.com/office/drawing/2014/main" val="2801684964"/>
                    </a:ext>
                  </a:extLst>
                </a:gridCol>
                <a:gridCol w="1289825">
                  <a:extLst>
                    <a:ext uri="{9D8B030D-6E8A-4147-A177-3AD203B41FA5}">
                      <a16:colId xmlns:a16="http://schemas.microsoft.com/office/drawing/2014/main" val="3166375054"/>
                    </a:ext>
                  </a:extLst>
                </a:gridCol>
              </a:tblGrid>
              <a:tr h="643531">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80973"/>
                  </a:ext>
                </a:extLst>
              </a:tr>
              <a:tr h="643531">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590500779"/>
                  </a:ext>
                </a:extLst>
              </a:tr>
              <a:tr h="643531">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2190396817"/>
                  </a:ext>
                </a:extLst>
              </a:tr>
              <a:tr h="643531">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968800513"/>
                  </a:ext>
                </a:extLst>
              </a:tr>
              <a:tr h="643531">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458466937"/>
                  </a:ext>
                </a:extLst>
              </a:tr>
              <a:tr h="643531">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782850061"/>
                  </a:ext>
                </a:extLst>
              </a:tr>
            </a:tbl>
          </a:graphicData>
        </a:graphic>
      </p:graphicFrame>
      <p:sp>
        <p:nvSpPr>
          <p:cNvPr id="6" name="文字方塊 5">
            <a:extLst>
              <a:ext uri="{FF2B5EF4-FFF2-40B4-BE49-F238E27FC236}">
                <a16:creationId xmlns:a16="http://schemas.microsoft.com/office/drawing/2014/main" id="{F71D4F15-1D6B-4F3B-97DB-9FAD9811E2DD}"/>
              </a:ext>
            </a:extLst>
          </p:cNvPr>
          <p:cNvSpPr txBox="1"/>
          <p:nvPr/>
        </p:nvSpPr>
        <p:spPr>
          <a:xfrm>
            <a:off x="2962507" y="5382216"/>
            <a:ext cx="4059043" cy="461665"/>
          </a:xfrm>
          <a:prstGeom prst="rect">
            <a:avLst/>
          </a:prstGeom>
          <a:noFill/>
        </p:spPr>
        <p:txBody>
          <a:bodyPr wrap="square" rtlCol="0">
            <a:spAutoFit/>
          </a:bodyPr>
          <a:lstStyle/>
          <a:p>
            <a:r>
              <a:rPr lang="en-US" altLang="zh-TW" sz="2400" dirty="0"/>
              <a:t>length 3: &lt;11, 7, 6&gt;</a:t>
            </a:r>
            <a:endParaRPr lang="zh-TW" altLang="en-US" sz="2400" dirty="0"/>
          </a:p>
        </p:txBody>
      </p:sp>
      <p:cxnSp>
        <p:nvCxnSpPr>
          <p:cNvPr id="7" name="直線接點 6">
            <a:extLst>
              <a:ext uri="{FF2B5EF4-FFF2-40B4-BE49-F238E27FC236}">
                <a16:creationId xmlns:a16="http://schemas.microsoft.com/office/drawing/2014/main" id="{0F833BC7-2C03-450A-AF90-572F12510F35}"/>
              </a:ext>
            </a:extLst>
          </p:cNvPr>
          <p:cNvCxnSpPr>
            <a:cxnSpLocks/>
          </p:cNvCxnSpPr>
          <p:nvPr/>
        </p:nvCxnSpPr>
        <p:spPr>
          <a:xfrm>
            <a:off x="6253045" y="2043944"/>
            <a:ext cx="768505" cy="680225"/>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8" name="直線接點 7">
            <a:extLst>
              <a:ext uri="{FF2B5EF4-FFF2-40B4-BE49-F238E27FC236}">
                <a16:creationId xmlns:a16="http://schemas.microsoft.com/office/drawing/2014/main" id="{EF6FC52D-EB91-4509-BE63-CBEC295DDE1B}"/>
              </a:ext>
            </a:extLst>
          </p:cNvPr>
          <p:cNvCxnSpPr>
            <a:cxnSpLocks/>
          </p:cNvCxnSpPr>
          <p:nvPr/>
        </p:nvCxnSpPr>
        <p:spPr>
          <a:xfrm>
            <a:off x="7513133" y="2824529"/>
            <a:ext cx="671862" cy="1680564"/>
          </a:xfrm>
          <a:prstGeom prst="line">
            <a:avLst/>
          </a:prstGeom>
          <a:ln w="762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5871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3A696-2255-4520-8D8B-4AD07A9E4F4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75EBE1C-D222-4DAB-A79C-B73F9EC353F8}"/>
              </a:ext>
            </a:extLst>
          </p:cNvPr>
          <p:cNvSpPr>
            <a:spLocks noGrp="1"/>
          </p:cNvSpPr>
          <p:nvPr>
            <p:ph idx="1"/>
          </p:nvPr>
        </p:nvSpPr>
        <p:spPr>
          <a:xfrm>
            <a:off x="960120" y="4683289"/>
            <a:ext cx="10904034" cy="2909656"/>
          </a:xfrm>
        </p:spPr>
        <p:txBody>
          <a:bodyPr>
            <a:normAutofit/>
          </a:bodyPr>
          <a:lstStyle/>
          <a:p>
            <a:pPr marL="0" indent="0">
              <a:buNone/>
            </a:pPr>
            <a:endParaRPr lang="en-US" altLang="zh-TW" dirty="0"/>
          </a:p>
          <a:p>
            <a:pPr marL="0" indent="0">
              <a:buNone/>
            </a:pPr>
            <a:r>
              <a:rPr lang="en-US" altLang="zh-TW" dirty="0"/>
              <a:t>		length 3: &lt;11, 7, 6&gt;  &lt;9, 8, 6&gt;</a:t>
            </a:r>
            <a:endParaRPr lang="zh-TW" altLang="en-US" dirty="0"/>
          </a:p>
          <a:p>
            <a:pPr marL="0" indent="0">
              <a:buNone/>
            </a:pPr>
            <a:endParaRPr lang="en-US" altLang="zh-TW" dirty="0"/>
          </a:p>
          <a:p>
            <a:pPr marL="0" indent="0">
              <a:buNone/>
            </a:pPr>
            <a:r>
              <a:rPr lang="en-US" altLang="zh-TW" dirty="0"/>
              <a:t> </a:t>
            </a:r>
            <a:endParaRPr lang="zh-TW" altLang="en-US" dirty="0"/>
          </a:p>
          <a:p>
            <a:endParaRPr lang="zh-TW" altLang="en-US" dirty="0"/>
          </a:p>
        </p:txBody>
      </p:sp>
      <p:graphicFrame>
        <p:nvGraphicFramePr>
          <p:cNvPr id="6" name="表格 5">
            <a:extLst>
              <a:ext uri="{FF2B5EF4-FFF2-40B4-BE49-F238E27FC236}">
                <a16:creationId xmlns:a16="http://schemas.microsoft.com/office/drawing/2014/main" id="{A4DED6C8-0686-4F8E-BC4C-27682D27D8A0}"/>
              </a:ext>
            </a:extLst>
          </p:cNvPr>
          <p:cNvGraphicFramePr>
            <a:graphicFrameLocks/>
          </p:cNvGraphicFramePr>
          <p:nvPr>
            <p:extLst>
              <p:ext uri="{D42A27DB-BD31-4B8C-83A1-F6EECF244321}">
                <p14:modId xmlns:p14="http://schemas.microsoft.com/office/powerpoint/2010/main" val="3286579741"/>
              </p:ext>
            </p:extLst>
          </p:nvPr>
        </p:nvGraphicFramePr>
        <p:xfrm>
          <a:off x="1854112" y="1027906"/>
          <a:ext cx="7738950" cy="3861186"/>
        </p:xfrm>
        <a:graphic>
          <a:graphicData uri="http://schemas.openxmlformats.org/drawingml/2006/table">
            <a:tbl>
              <a:tblPr firstRow="1" bandRow="1">
                <a:tableStyleId>{2D5ABB26-0587-4C30-8999-92F81FD0307C}</a:tableStyleId>
              </a:tblPr>
              <a:tblGrid>
                <a:gridCol w="1289825">
                  <a:extLst>
                    <a:ext uri="{9D8B030D-6E8A-4147-A177-3AD203B41FA5}">
                      <a16:colId xmlns:a16="http://schemas.microsoft.com/office/drawing/2014/main" val="1739552173"/>
                    </a:ext>
                  </a:extLst>
                </a:gridCol>
                <a:gridCol w="1289825">
                  <a:extLst>
                    <a:ext uri="{9D8B030D-6E8A-4147-A177-3AD203B41FA5}">
                      <a16:colId xmlns:a16="http://schemas.microsoft.com/office/drawing/2014/main" val="2986185045"/>
                    </a:ext>
                  </a:extLst>
                </a:gridCol>
                <a:gridCol w="1289825">
                  <a:extLst>
                    <a:ext uri="{9D8B030D-6E8A-4147-A177-3AD203B41FA5}">
                      <a16:colId xmlns:a16="http://schemas.microsoft.com/office/drawing/2014/main" val="2593090402"/>
                    </a:ext>
                  </a:extLst>
                </a:gridCol>
                <a:gridCol w="1289825">
                  <a:extLst>
                    <a:ext uri="{9D8B030D-6E8A-4147-A177-3AD203B41FA5}">
                      <a16:colId xmlns:a16="http://schemas.microsoft.com/office/drawing/2014/main" val="2053663612"/>
                    </a:ext>
                  </a:extLst>
                </a:gridCol>
                <a:gridCol w="1289825">
                  <a:extLst>
                    <a:ext uri="{9D8B030D-6E8A-4147-A177-3AD203B41FA5}">
                      <a16:colId xmlns:a16="http://schemas.microsoft.com/office/drawing/2014/main" val="2801684964"/>
                    </a:ext>
                  </a:extLst>
                </a:gridCol>
                <a:gridCol w="1289825">
                  <a:extLst>
                    <a:ext uri="{9D8B030D-6E8A-4147-A177-3AD203B41FA5}">
                      <a16:colId xmlns:a16="http://schemas.microsoft.com/office/drawing/2014/main" val="3166375054"/>
                    </a:ext>
                  </a:extLst>
                </a:gridCol>
              </a:tblGrid>
              <a:tr h="643531">
                <a:tc>
                  <a:txBody>
                    <a:bodyPr/>
                    <a:lstStyle/>
                    <a:p>
                      <a:pPr algn="ctr"/>
                      <a:r>
                        <a:rPr lang="en-US" altLang="zh-TW" sz="2400" dirty="0"/>
                        <a:t>A,B</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80973"/>
                  </a:ext>
                </a:extLst>
              </a:tr>
              <a:tr h="643531">
                <a:tc>
                  <a:txBody>
                    <a:bodyPr/>
                    <a:lstStyle/>
                    <a:p>
                      <a:pPr algn="ctr"/>
                      <a:r>
                        <a:rPr lang="en-US" altLang="zh-TW" sz="2400" dirty="0"/>
                        <a:t>11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590500779"/>
                  </a:ext>
                </a:extLst>
              </a:tr>
              <a:tr h="643531">
                <a:tc>
                  <a:txBody>
                    <a:bodyPr/>
                    <a:lstStyle/>
                    <a:p>
                      <a:pPr algn="ctr"/>
                      <a:r>
                        <a:rPr lang="en-US" altLang="zh-TW" sz="2400" dirty="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2190396817"/>
                  </a:ext>
                </a:extLst>
              </a:tr>
              <a:tr h="643531">
                <a:tc>
                  <a:txBody>
                    <a:bodyPr/>
                    <a:lstStyle/>
                    <a:p>
                      <a:pPr algn="ctr"/>
                      <a:r>
                        <a:rPr lang="en-US" altLang="zh-TW" sz="2400" dirty="0"/>
                        <a:t>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968800513"/>
                  </a:ext>
                </a:extLst>
              </a:tr>
              <a:tr h="643531">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TW" alt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458466937"/>
                  </a:ext>
                </a:extLst>
              </a:tr>
              <a:tr h="643531">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782850061"/>
                  </a:ext>
                </a:extLst>
              </a:tr>
            </a:tbl>
          </a:graphicData>
        </a:graphic>
      </p:graphicFrame>
    </p:spTree>
    <p:extLst>
      <p:ext uri="{BB962C8B-B14F-4D97-AF65-F5344CB8AC3E}">
        <p14:creationId xmlns:p14="http://schemas.microsoft.com/office/powerpoint/2010/main" val="3791079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B8A80-A05B-457B-B462-1DDEF011E288}"/>
              </a:ext>
            </a:extLst>
          </p:cNvPr>
          <p:cNvSpPr>
            <a:spLocks noGrp="1"/>
          </p:cNvSpPr>
          <p:nvPr>
            <p:ph type="title"/>
          </p:nvPr>
        </p:nvSpPr>
        <p:spPr/>
        <p:txBody>
          <a:bodyPr/>
          <a:lstStyle/>
          <a:p>
            <a:r>
              <a:rPr lang="en-US" altLang="zh-TW" dirty="0"/>
              <a:t>Algorithm of author</a:t>
            </a:r>
            <a:endParaRPr lang="zh-TW" altLang="en-US" dirty="0"/>
          </a:p>
        </p:txBody>
      </p:sp>
      <p:sp>
        <p:nvSpPr>
          <p:cNvPr id="3" name="內容版面配置區 2">
            <a:extLst>
              <a:ext uri="{FF2B5EF4-FFF2-40B4-BE49-F238E27FC236}">
                <a16:creationId xmlns:a16="http://schemas.microsoft.com/office/drawing/2014/main" id="{E2596085-DC1C-4326-AC37-EBD3F880B58C}"/>
              </a:ext>
            </a:extLst>
          </p:cNvPr>
          <p:cNvSpPr>
            <a:spLocks noGrp="1"/>
          </p:cNvSpPr>
          <p:nvPr>
            <p:ph idx="1"/>
          </p:nvPr>
        </p:nvSpPr>
        <p:spPr/>
        <p:txBody>
          <a:bodyPr/>
          <a:lstStyle/>
          <a:p>
            <a:endParaRPr lang="zh-TW" altLang="en-US" dirty="0"/>
          </a:p>
        </p:txBody>
      </p:sp>
      <mc:AlternateContent xmlns:mc="http://schemas.openxmlformats.org/markup-compatibility/2006" xmlns:a14="http://schemas.microsoft.com/office/drawing/2010/main">
        <mc:Choice Requires="a14">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237266280"/>
                  </p:ext>
                </p:extLst>
              </p:nvPr>
            </p:nvGraphicFramePr>
            <p:xfrm>
              <a:off x="2097741" y="1690688"/>
              <a:ext cx="6925236" cy="3974607"/>
            </p:xfrm>
            <a:graphic>
              <a:graphicData uri="http://schemas.openxmlformats.org/drawingml/2006/table">
                <a:tbl>
                  <a:tblPr firstRow="1" bandRow="1">
                    <a:tableStyleId>{2D5ABB26-0587-4C30-8999-92F81FD0307C}</a:tableStyleId>
                  </a:tblPr>
                  <a:tblGrid>
                    <a:gridCol w="1154206">
                      <a:extLst>
                        <a:ext uri="{9D8B030D-6E8A-4147-A177-3AD203B41FA5}">
                          <a16:colId xmlns:a16="http://schemas.microsoft.com/office/drawing/2014/main" val="1986738472"/>
                        </a:ext>
                      </a:extLst>
                    </a:gridCol>
                    <a:gridCol w="1154206">
                      <a:extLst>
                        <a:ext uri="{9D8B030D-6E8A-4147-A177-3AD203B41FA5}">
                          <a16:colId xmlns:a16="http://schemas.microsoft.com/office/drawing/2014/main" val="1390511690"/>
                        </a:ext>
                      </a:extLst>
                    </a:gridCol>
                    <a:gridCol w="1154206">
                      <a:extLst>
                        <a:ext uri="{9D8B030D-6E8A-4147-A177-3AD203B41FA5}">
                          <a16:colId xmlns:a16="http://schemas.microsoft.com/office/drawing/2014/main" val="1215191033"/>
                        </a:ext>
                      </a:extLst>
                    </a:gridCol>
                    <a:gridCol w="1154206">
                      <a:extLst>
                        <a:ext uri="{9D8B030D-6E8A-4147-A177-3AD203B41FA5}">
                          <a16:colId xmlns:a16="http://schemas.microsoft.com/office/drawing/2014/main" val="730542971"/>
                        </a:ext>
                      </a:extLst>
                    </a:gridCol>
                    <a:gridCol w="1154206">
                      <a:extLst>
                        <a:ext uri="{9D8B030D-6E8A-4147-A177-3AD203B41FA5}">
                          <a16:colId xmlns:a16="http://schemas.microsoft.com/office/drawing/2014/main" val="423213117"/>
                        </a:ext>
                      </a:extLst>
                    </a:gridCol>
                    <a:gridCol w="1154206">
                      <a:extLst>
                        <a:ext uri="{9D8B030D-6E8A-4147-A177-3AD203B41FA5}">
                          <a16:colId xmlns:a16="http://schemas.microsoft.com/office/drawing/2014/main" val="2145638634"/>
                        </a:ext>
                      </a:extLst>
                    </a:gridCol>
                  </a:tblGrid>
                  <a:tr h="56780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56780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6780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6780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6780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6780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6780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237266280"/>
                  </p:ext>
                </p:extLst>
              </p:nvPr>
            </p:nvGraphicFramePr>
            <p:xfrm>
              <a:off x="2097741" y="1690688"/>
              <a:ext cx="6925236" cy="3974607"/>
            </p:xfrm>
            <a:graphic>
              <a:graphicData uri="http://schemas.openxmlformats.org/drawingml/2006/table">
                <a:tbl>
                  <a:tblPr firstRow="1" bandRow="1">
                    <a:tableStyleId>{2D5ABB26-0587-4C30-8999-92F81FD0307C}</a:tableStyleId>
                  </a:tblPr>
                  <a:tblGrid>
                    <a:gridCol w="1154206">
                      <a:extLst>
                        <a:ext uri="{9D8B030D-6E8A-4147-A177-3AD203B41FA5}">
                          <a16:colId xmlns:a16="http://schemas.microsoft.com/office/drawing/2014/main" val="1986738472"/>
                        </a:ext>
                      </a:extLst>
                    </a:gridCol>
                    <a:gridCol w="1154206">
                      <a:extLst>
                        <a:ext uri="{9D8B030D-6E8A-4147-A177-3AD203B41FA5}">
                          <a16:colId xmlns:a16="http://schemas.microsoft.com/office/drawing/2014/main" val="1390511690"/>
                        </a:ext>
                      </a:extLst>
                    </a:gridCol>
                    <a:gridCol w="1154206">
                      <a:extLst>
                        <a:ext uri="{9D8B030D-6E8A-4147-A177-3AD203B41FA5}">
                          <a16:colId xmlns:a16="http://schemas.microsoft.com/office/drawing/2014/main" val="1215191033"/>
                        </a:ext>
                      </a:extLst>
                    </a:gridCol>
                    <a:gridCol w="1154206">
                      <a:extLst>
                        <a:ext uri="{9D8B030D-6E8A-4147-A177-3AD203B41FA5}">
                          <a16:colId xmlns:a16="http://schemas.microsoft.com/office/drawing/2014/main" val="730542971"/>
                        </a:ext>
                      </a:extLst>
                    </a:gridCol>
                    <a:gridCol w="1154206">
                      <a:extLst>
                        <a:ext uri="{9D8B030D-6E8A-4147-A177-3AD203B41FA5}">
                          <a16:colId xmlns:a16="http://schemas.microsoft.com/office/drawing/2014/main" val="423213117"/>
                        </a:ext>
                      </a:extLst>
                    </a:gridCol>
                    <a:gridCol w="1154206">
                      <a:extLst>
                        <a:ext uri="{9D8B030D-6E8A-4147-A177-3AD203B41FA5}">
                          <a16:colId xmlns:a16="http://schemas.microsoft.com/office/drawing/2014/main" val="2145638634"/>
                        </a:ext>
                      </a:extLst>
                    </a:gridCol>
                  </a:tblGrid>
                  <a:tr h="56780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99474" r="-300000" b="-606452"/>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1058" r="-201587" b="-606452"/>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98947" r="-100526" b="-606452"/>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01587" r="-1058" b="-606452"/>
                          </a:stretch>
                        </a:blipFill>
                      </a:tcPr>
                    </a:tc>
                    <a:extLst>
                      <a:ext uri="{0D108BD9-81ED-4DB2-BD59-A6C34878D82A}">
                        <a16:rowId xmlns:a16="http://schemas.microsoft.com/office/drawing/2014/main" val="3217171942"/>
                      </a:ext>
                    </a:extLst>
                  </a:tr>
                  <a:tr h="56780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6780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1075" r="-499474" b="-405376"/>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6780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01075" r="-499474" b="-305376"/>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6780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01075" r="-499474" b="-205376"/>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6780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95745" r="-499474" b="-103191"/>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6780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602151" r="-499474" b="-4301"/>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Tree>
    <p:extLst>
      <p:ext uri="{BB962C8B-B14F-4D97-AF65-F5344CB8AC3E}">
        <p14:creationId xmlns:p14="http://schemas.microsoft.com/office/powerpoint/2010/main" val="3978682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B8A80-A05B-457B-B462-1DDEF011E28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2596085-DC1C-4326-AC37-EBD3F880B58C}"/>
              </a:ext>
            </a:extLst>
          </p:cNvPr>
          <p:cNvSpPr>
            <a:spLocks noGrp="1"/>
          </p:cNvSpPr>
          <p:nvPr>
            <p:ph idx="1"/>
          </p:nvPr>
        </p:nvSpPr>
        <p:spPr/>
        <p:txBody>
          <a:bodyPr/>
          <a:lstStyle/>
          <a:p>
            <a:endParaRPr lang="zh-TW" altLang="en-US" dirty="0"/>
          </a:p>
        </p:txBody>
      </p:sp>
      <mc:AlternateContent xmlns:mc="http://schemas.openxmlformats.org/markup-compatibility/2006" xmlns:a14="http://schemas.microsoft.com/office/drawing/2010/main">
        <mc:Choice Requires="a14">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406997264"/>
                  </p:ext>
                </p:extLst>
              </p:nvPr>
            </p:nvGraphicFramePr>
            <p:xfrm>
              <a:off x="2134474" y="1690688"/>
              <a:ext cx="6690738" cy="4204011"/>
            </p:xfrm>
            <a:graphic>
              <a:graphicData uri="http://schemas.openxmlformats.org/drawingml/2006/table">
                <a:tbl>
                  <a:tblPr firstRow="1" bandRow="1">
                    <a:tableStyleId>{2D5ABB26-0587-4C30-8999-92F81FD0307C}</a:tableStyleId>
                  </a:tblPr>
                  <a:tblGrid>
                    <a:gridCol w="1115123">
                      <a:extLst>
                        <a:ext uri="{9D8B030D-6E8A-4147-A177-3AD203B41FA5}">
                          <a16:colId xmlns:a16="http://schemas.microsoft.com/office/drawing/2014/main" val="1986738472"/>
                        </a:ext>
                      </a:extLst>
                    </a:gridCol>
                    <a:gridCol w="1115123">
                      <a:extLst>
                        <a:ext uri="{9D8B030D-6E8A-4147-A177-3AD203B41FA5}">
                          <a16:colId xmlns:a16="http://schemas.microsoft.com/office/drawing/2014/main" val="1390511690"/>
                        </a:ext>
                      </a:extLst>
                    </a:gridCol>
                    <a:gridCol w="1115123">
                      <a:extLst>
                        <a:ext uri="{9D8B030D-6E8A-4147-A177-3AD203B41FA5}">
                          <a16:colId xmlns:a16="http://schemas.microsoft.com/office/drawing/2014/main" val="1215191033"/>
                        </a:ext>
                      </a:extLst>
                    </a:gridCol>
                    <a:gridCol w="1115123">
                      <a:extLst>
                        <a:ext uri="{9D8B030D-6E8A-4147-A177-3AD203B41FA5}">
                          <a16:colId xmlns:a16="http://schemas.microsoft.com/office/drawing/2014/main" val="730542971"/>
                        </a:ext>
                      </a:extLst>
                    </a:gridCol>
                    <a:gridCol w="1115123">
                      <a:extLst>
                        <a:ext uri="{9D8B030D-6E8A-4147-A177-3AD203B41FA5}">
                          <a16:colId xmlns:a16="http://schemas.microsoft.com/office/drawing/2014/main" val="423213117"/>
                        </a:ext>
                      </a:extLst>
                    </a:gridCol>
                    <a:gridCol w="1115123">
                      <a:extLst>
                        <a:ext uri="{9D8B030D-6E8A-4147-A177-3AD203B41FA5}">
                          <a16:colId xmlns:a16="http://schemas.microsoft.com/office/drawing/2014/main" val="2145638634"/>
                        </a:ext>
                      </a:extLst>
                    </a:gridCol>
                  </a:tblGrid>
                  <a:tr h="60057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60057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60057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60057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60057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60057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60057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406997264"/>
                  </p:ext>
                </p:extLst>
              </p:nvPr>
            </p:nvGraphicFramePr>
            <p:xfrm>
              <a:off x="2134474" y="1690688"/>
              <a:ext cx="6690738" cy="4204011"/>
            </p:xfrm>
            <a:graphic>
              <a:graphicData uri="http://schemas.openxmlformats.org/drawingml/2006/table">
                <a:tbl>
                  <a:tblPr firstRow="1" bandRow="1">
                    <a:tableStyleId>{2D5ABB26-0587-4C30-8999-92F81FD0307C}</a:tableStyleId>
                  </a:tblPr>
                  <a:tblGrid>
                    <a:gridCol w="1115123">
                      <a:extLst>
                        <a:ext uri="{9D8B030D-6E8A-4147-A177-3AD203B41FA5}">
                          <a16:colId xmlns:a16="http://schemas.microsoft.com/office/drawing/2014/main" val="1986738472"/>
                        </a:ext>
                      </a:extLst>
                    </a:gridCol>
                    <a:gridCol w="1115123">
                      <a:extLst>
                        <a:ext uri="{9D8B030D-6E8A-4147-A177-3AD203B41FA5}">
                          <a16:colId xmlns:a16="http://schemas.microsoft.com/office/drawing/2014/main" val="1390511690"/>
                        </a:ext>
                      </a:extLst>
                    </a:gridCol>
                    <a:gridCol w="1115123">
                      <a:extLst>
                        <a:ext uri="{9D8B030D-6E8A-4147-A177-3AD203B41FA5}">
                          <a16:colId xmlns:a16="http://schemas.microsoft.com/office/drawing/2014/main" val="1215191033"/>
                        </a:ext>
                      </a:extLst>
                    </a:gridCol>
                    <a:gridCol w="1115123">
                      <a:extLst>
                        <a:ext uri="{9D8B030D-6E8A-4147-A177-3AD203B41FA5}">
                          <a16:colId xmlns:a16="http://schemas.microsoft.com/office/drawing/2014/main" val="730542971"/>
                        </a:ext>
                      </a:extLst>
                    </a:gridCol>
                    <a:gridCol w="1115123">
                      <a:extLst>
                        <a:ext uri="{9D8B030D-6E8A-4147-A177-3AD203B41FA5}">
                          <a16:colId xmlns:a16="http://schemas.microsoft.com/office/drawing/2014/main" val="423213117"/>
                        </a:ext>
                      </a:extLst>
                    </a:gridCol>
                    <a:gridCol w="1115123">
                      <a:extLst>
                        <a:ext uri="{9D8B030D-6E8A-4147-A177-3AD203B41FA5}">
                          <a16:colId xmlns:a16="http://schemas.microsoft.com/office/drawing/2014/main" val="2145638634"/>
                        </a:ext>
                      </a:extLst>
                    </a:gridCol>
                  </a:tblGrid>
                  <a:tr h="60057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000" r="-301093" b="-600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000" r="-201093" b="-600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0000" r="-101093" b="-600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0000" r="-1093" b="-600000"/>
                          </a:stretch>
                        </a:blipFill>
                      </a:tcPr>
                    </a:tc>
                    <a:extLst>
                      <a:ext uri="{0D108BD9-81ED-4DB2-BD59-A6C34878D82A}">
                        <a16:rowId xmlns:a16="http://schemas.microsoft.com/office/drawing/2014/main" val="3217171942"/>
                      </a:ext>
                    </a:extLst>
                  </a:tr>
                  <a:tr h="60057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60057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198990" r="-501093" b="-401010"/>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60057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02041" r="-501093" b="-305102"/>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60057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97980" r="-501093" b="-202020"/>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60057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503061" r="-501093" b="-104082"/>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60057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596970" r="-501093" b="-3030"/>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Tree>
    <p:extLst>
      <p:ext uri="{BB962C8B-B14F-4D97-AF65-F5344CB8AC3E}">
        <p14:creationId xmlns:p14="http://schemas.microsoft.com/office/powerpoint/2010/main" val="590517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B8A80-A05B-457B-B462-1DDEF011E28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2596085-DC1C-4326-AC37-EBD3F880B58C}"/>
              </a:ext>
            </a:extLst>
          </p:cNvPr>
          <p:cNvSpPr>
            <a:spLocks noGrp="1"/>
          </p:cNvSpPr>
          <p:nvPr>
            <p:ph idx="1"/>
          </p:nvPr>
        </p:nvSpPr>
        <p:spPr/>
        <p:txBody>
          <a:bodyPr/>
          <a:lstStyle/>
          <a:p>
            <a:endParaRPr lang="zh-TW" altLang="en-US" dirty="0"/>
          </a:p>
        </p:txBody>
      </p:sp>
      <mc:AlternateContent xmlns:mc="http://schemas.openxmlformats.org/markup-compatibility/2006" xmlns:a14="http://schemas.microsoft.com/office/drawing/2010/main">
        <mc:Choice Requires="a14">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1209758753"/>
                  </p:ext>
                </p:extLst>
              </p:nvPr>
            </p:nvGraphicFramePr>
            <p:xfrm>
              <a:off x="1817649" y="1690689"/>
              <a:ext cx="6523464" cy="3695349"/>
            </p:xfrm>
            <a:graphic>
              <a:graphicData uri="http://schemas.openxmlformats.org/drawingml/2006/table">
                <a:tbl>
                  <a:tblPr firstRow="1" bandRow="1">
                    <a:tableStyleId>{2D5ABB26-0587-4C30-8999-92F81FD0307C}</a:tableStyleId>
                  </a:tblPr>
                  <a:tblGrid>
                    <a:gridCol w="1087244">
                      <a:extLst>
                        <a:ext uri="{9D8B030D-6E8A-4147-A177-3AD203B41FA5}">
                          <a16:colId xmlns:a16="http://schemas.microsoft.com/office/drawing/2014/main" val="1986738472"/>
                        </a:ext>
                      </a:extLst>
                    </a:gridCol>
                    <a:gridCol w="1087244">
                      <a:extLst>
                        <a:ext uri="{9D8B030D-6E8A-4147-A177-3AD203B41FA5}">
                          <a16:colId xmlns:a16="http://schemas.microsoft.com/office/drawing/2014/main" val="1390511690"/>
                        </a:ext>
                      </a:extLst>
                    </a:gridCol>
                    <a:gridCol w="1087244">
                      <a:extLst>
                        <a:ext uri="{9D8B030D-6E8A-4147-A177-3AD203B41FA5}">
                          <a16:colId xmlns:a16="http://schemas.microsoft.com/office/drawing/2014/main" val="1215191033"/>
                        </a:ext>
                      </a:extLst>
                    </a:gridCol>
                    <a:gridCol w="1087244">
                      <a:extLst>
                        <a:ext uri="{9D8B030D-6E8A-4147-A177-3AD203B41FA5}">
                          <a16:colId xmlns:a16="http://schemas.microsoft.com/office/drawing/2014/main" val="730542971"/>
                        </a:ext>
                      </a:extLst>
                    </a:gridCol>
                    <a:gridCol w="1087244">
                      <a:extLst>
                        <a:ext uri="{9D8B030D-6E8A-4147-A177-3AD203B41FA5}">
                          <a16:colId xmlns:a16="http://schemas.microsoft.com/office/drawing/2014/main" val="423213117"/>
                        </a:ext>
                      </a:extLst>
                    </a:gridCol>
                    <a:gridCol w="1087244">
                      <a:extLst>
                        <a:ext uri="{9D8B030D-6E8A-4147-A177-3AD203B41FA5}">
                          <a16:colId xmlns:a16="http://schemas.microsoft.com/office/drawing/2014/main" val="2145638634"/>
                        </a:ext>
                      </a:extLst>
                    </a:gridCol>
                  </a:tblGrid>
                  <a:tr h="527907">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527907">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27907">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27907">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27907">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27907">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27907">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1209758753"/>
                  </p:ext>
                </p:extLst>
              </p:nvPr>
            </p:nvGraphicFramePr>
            <p:xfrm>
              <a:off x="1817649" y="1690689"/>
              <a:ext cx="6523464" cy="3695349"/>
            </p:xfrm>
            <a:graphic>
              <a:graphicData uri="http://schemas.openxmlformats.org/drawingml/2006/table">
                <a:tbl>
                  <a:tblPr firstRow="1" bandRow="1">
                    <a:tableStyleId>{2D5ABB26-0587-4C30-8999-92F81FD0307C}</a:tableStyleId>
                  </a:tblPr>
                  <a:tblGrid>
                    <a:gridCol w="1087244">
                      <a:extLst>
                        <a:ext uri="{9D8B030D-6E8A-4147-A177-3AD203B41FA5}">
                          <a16:colId xmlns:a16="http://schemas.microsoft.com/office/drawing/2014/main" val="1986738472"/>
                        </a:ext>
                      </a:extLst>
                    </a:gridCol>
                    <a:gridCol w="1087244">
                      <a:extLst>
                        <a:ext uri="{9D8B030D-6E8A-4147-A177-3AD203B41FA5}">
                          <a16:colId xmlns:a16="http://schemas.microsoft.com/office/drawing/2014/main" val="1390511690"/>
                        </a:ext>
                      </a:extLst>
                    </a:gridCol>
                    <a:gridCol w="1087244">
                      <a:extLst>
                        <a:ext uri="{9D8B030D-6E8A-4147-A177-3AD203B41FA5}">
                          <a16:colId xmlns:a16="http://schemas.microsoft.com/office/drawing/2014/main" val="1215191033"/>
                        </a:ext>
                      </a:extLst>
                    </a:gridCol>
                    <a:gridCol w="1087244">
                      <a:extLst>
                        <a:ext uri="{9D8B030D-6E8A-4147-A177-3AD203B41FA5}">
                          <a16:colId xmlns:a16="http://schemas.microsoft.com/office/drawing/2014/main" val="730542971"/>
                        </a:ext>
                      </a:extLst>
                    </a:gridCol>
                    <a:gridCol w="1087244">
                      <a:extLst>
                        <a:ext uri="{9D8B030D-6E8A-4147-A177-3AD203B41FA5}">
                          <a16:colId xmlns:a16="http://schemas.microsoft.com/office/drawing/2014/main" val="423213117"/>
                        </a:ext>
                      </a:extLst>
                    </a:gridCol>
                    <a:gridCol w="1087244">
                      <a:extLst>
                        <a:ext uri="{9D8B030D-6E8A-4147-A177-3AD203B41FA5}">
                          <a16:colId xmlns:a16="http://schemas.microsoft.com/office/drawing/2014/main" val="2145638634"/>
                        </a:ext>
                      </a:extLst>
                    </a:gridCol>
                  </a:tblGrid>
                  <a:tr h="527907">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99441" r="-300000" b="-610345"/>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1124" r="-201685" b="-610345"/>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98883" r="-100559" b="-610345"/>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1685" r="-1124" b="-610345"/>
                          </a:stretch>
                        </a:blipFill>
                      </a:tcPr>
                    </a:tc>
                    <a:extLst>
                      <a:ext uri="{0D108BD9-81ED-4DB2-BD59-A6C34878D82A}">
                        <a16:rowId xmlns:a16="http://schemas.microsoft.com/office/drawing/2014/main" val="3217171942"/>
                      </a:ext>
                    </a:extLst>
                  </a:tr>
                  <a:tr h="527907">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27907">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198851" r="-499441" b="-411494"/>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27907">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298851" r="-499441" b="-311494"/>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27907">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98851" r="-499441" b="-211494"/>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27907">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504651" r="-499441" b="-113953"/>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27907">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597701" r="-499441" b="-12644"/>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Tree>
    <p:extLst>
      <p:ext uri="{BB962C8B-B14F-4D97-AF65-F5344CB8AC3E}">
        <p14:creationId xmlns:p14="http://schemas.microsoft.com/office/powerpoint/2010/main" val="2363666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B8A80-A05B-457B-B462-1DDEF011E28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2596085-DC1C-4326-AC37-EBD3F880B58C}"/>
              </a:ext>
            </a:extLst>
          </p:cNvPr>
          <p:cNvSpPr>
            <a:spLocks noGrp="1"/>
          </p:cNvSpPr>
          <p:nvPr>
            <p:ph idx="1"/>
          </p:nvPr>
        </p:nvSpPr>
        <p:spPr/>
        <p:txBody>
          <a:bodyPr/>
          <a:lstStyle/>
          <a:p>
            <a:endParaRPr lang="zh-TW" altLang="en-US" dirty="0"/>
          </a:p>
        </p:txBody>
      </p:sp>
      <mc:AlternateContent xmlns:mc="http://schemas.openxmlformats.org/markup-compatibility/2006" xmlns:a14="http://schemas.microsoft.com/office/drawing/2010/main">
        <mc:Choice Requires="a14">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3544025233"/>
                  </p:ext>
                </p:extLst>
              </p:nvPr>
            </p:nvGraphicFramePr>
            <p:xfrm>
              <a:off x="2030506" y="1591676"/>
              <a:ext cx="6618582" cy="3914603"/>
            </p:xfrm>
            <a:graphic>
              <a:graphicData uri="http://schemas.openxmlformats.org/drawingml/2006/table">
                <a:tbl>
                  <a:tblPr firstRow="1" bandRow="1">
                    <a:tableStyleId>{2D5ABB26-0587-4C30-8999-92F81FD0307C}</a:tableStyleId>
                  </a:tblPr>
                  <a:tblGrid>
                    <a:gridCol w="1103097">
                      <a:extLst>
                        <a:ext uri="{9D8B030D-6E8A-4147-A177-3AD203B41FA5}">
                          <a16:colId xmlns:a16="http://schemas.microsoft.com/office/drawing/2014/main" val="1986738472"/>
                        </a:ext>
                      </a:extLst>
                    </a:gridCol>
                    <a:gridCol w="1103097">
                      <a:extLst>
                        <a:ext uri="{9D8B030D-6E8A-4147-A177-3AD203B41FA5}">
                          <a16:colId xmlns:a16="http://schemas.microsoft.com/office/drawing/2014/main" val="1390511690"/>
                        </a:ext>
                      </a:extLst>
                    </a:gridCol>
                    <a:gridCol w="1103097">
                      <a:extLst>
                        <a:ext uri="{9D8B030D-6E8A-4147-A177-3AD203B41FA5}">
                          <a16:colId xmlns:a16="http://schemas.microsoft.com/office/drawing/2014/main" val="1215191033"/>
                        </a:ext>
                      </a:extLst>
                    </a:gridCol>
                    <a:gridCol w="1103097">
                      <a:extLst>
                        <a:ext uri="{9D8B030D-6E8A-4147-A177-3AD203B41FA5}">
                          <a16:colId xmlns:a16="http://schemas.microsoft.com/office/drawing/2014/main" val="730542971"/>
                        </a:ext>
                      </a:extLst>
                    </a:gridCol>
                    <a:gridCol w="1103097">
                      <a:extLst>
                        <a:ext uri="{9D8B030D-6E8A-4147-A177-3AD203B41FA5}">
                          <a16:colId xmlns:a16="http://schemas.microsoft.com/office/drawing/2014/main" val="423213117"/>
                        </a:ext>
                      </a:extLst>
                    </a:gridCol>
                    <a:gridCol w="1103097">
                      <a:extLst>
                        <a:ext uri="{9D8B030D-6E8A-4147-A177-3AD203B41FA5}">
                          <a16:colId xmlns:a16="http://schemas.microsoft.com/office/drawing/2014/main" val="2145638634"/>
                        </a:ext>
                      </a:extLst>
                    </a:gridCol>
                  </a:tblGrid>
                  <a:tr h="559229">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559229">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5922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5922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5922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5922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5922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3544025233"/>
                  </p:ext>
                </p:extLst>
              </p:nvPr>
            </p:nvGraphicFramePr>
            <p:xfrm>
              <a:off x="2030506" y="1591676"/>
              <a:ext cx="6618582" cy="3914603"/>
            </p:xfrm>
            <a:graphic>
              <a:graphicData uri="http://schemas.openxmlformats.org/drawingml/2006/table">
                <a:tbl>
                  <a:tblPr firstRow="1" bandRow="1">
                    <a:tableStyleId>{2D5ABB26-0587-4C30-8999-92F81FD0307C}</a:tableStyleId>
                  </a:tblPr>
                  <a:tblGrid>
                    <a:gridCol w="1103097">
                      <a:extLst>
                        <a:ext uri="{9D8B030D-6E8A-4147-A177-3AD203B41FA5}">
                          <a16:colId xmlns:a16="http://schemas.microsoft.com/office/drawing/2014/main" val="1986738472"/>
                        </a:ext>
                      </a:extLst>
                    </a:gridCol>
                    <a:gridCol w="1103097">
                      <a:extLst>
                        <a:ext uri="{9D8B030D-6E8A-4147-A177-3AD203B41FA5}">
                          <a16:colId xmlns:a16="http://schemas.microsoft.com/office/drawing/2014/main" val="1390511690"/>
                        </a:ext>
                      </a:extLst>
                    </a:gridCol>
                    <a:gridCol w="1103097">
                      <a:extLst>
                        <a:ext uri="{9D8B030D-6E8A-4147-A177-3AD203B41FA5}">
                          <a16:colId xmlns:a16="http://schemas.microsoft.com/office/drawing/2014/main" val="1215191033"/>
                        </a:ext>
                      </a:extLst>
                    </a:gridCol>
                    <a:gridCol w="1103097">
                      <a:extLst>
                        <a:ext uri="{9D8B030D-6E8A-4147-A177-3AD203B41FA5}">
                          <a16:colId xmlns:a16="http://schemas.microsoft.com/office/drawing/2014/main" val="730542971"/>
                        </a:ext>
                      </a:extLst>
                    </a:gridCol>
                    <a:gridCol w="1103097">
                      <a:extLst>
                        <a:ext uri="{9D8B030D-6E8A-4147-A177-3AD203B41FA5}">
                          <a16:colId xmlns:a16="http://schemas.microsoft.com/office/drawing/2014/main" val="423213117"/>
                        </a:ext>
                      </a:extLst>
                    </a:gridCol>
                    <a:gridCol w="1103097">
                      <a:extLst>
                        <a:ext uri="{9D8B030D-6E8A-4147-A177-3AD203B41FA5}">
                          <a16:colId xmlns:a16="http://schemas.microsoft.com/office/drawing/2014/main" val="2145638634"/>
                        </a:ext>
                      </a:extLst>
                    </a:gridCol>
                  </a:tblGrid>
                  <a:tr h="559229">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000" r="-301105" b="-605435"/>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000" r="-201105" b="-605435"/>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0000" r="-101105" b="-605435"/>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0000" r="-1105" b="-605435"/>
                          </a:stretch>
                        </a:blipFill>
                      </a:tcPr>
                    </a:tc>
                    <a:extLst>
                      <a:ext uri="{0D108BD9-81ED-4DB2-BD59-A6C34878D82A}">
                        <a16:rowId xmlns:a16="http://schemas.microsoft.com/office/drawing/2014/main" val="3217171942"/>
                      </a:ext>
                    </a:extLst>
                  </a:tr>
                  <a:tr h="559229">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59229">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200000" r="-501105" b="-405435"/>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59229">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03297" r="-501105" b="-309890"/>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59229">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98913" r="-501105" b="-206522"/>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59229">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498913" r="-501105" b="-106522"/>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59229">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598913" r="-501105" b="-6522"/>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Tree>
    <p:extLst>
      <p:ext uri="{BB962C8B-B14F-4D97-AF65-F5344CB8AC3E}">
        <p14:creationId xmlns:p14="http://schemas.microsoft.com/office/powerpoint/2010/main" val="150177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B8A80-A05B-457B-B462-1DDEF011E28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2596085-DC1C-4326-AC37-EBD3F880B58C}"/>
              </a:ext>
            </a:extLst>
          </p:cNvPr>
          <p:cNvSpPr>
            <a:spLocks noGrp="1"/>
          </p:cNvSpPr>
          <p:nvPr>
            <p:ph idx="1"/>
          </p:nvPr>
        </p:nvSpPr>
        <p:spPr/>
        <p:txBody>
          <a:bodyPr/>
          <a:lstStyle/>
          <a:p>
            <a:endParaRPr lang="zh-TW" altLang="en-US" dirty="0"/>
          </a:p>
        </p:txBody>
      </p:sp>
      <mc:AlternateContent xmlns:mc="http://schemas.openxmlformats.org/markup-compatibility/2006" xmlns:a14="http://schemas.microsoft.com/office/drawing/2010/main">
        <mc:Choice Requires="a14">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4191318454"/>
                  </p:ext>
                </p:extLst>
              </p:nvPr>
            </p:nvGraphicFramePr>
            <p:xfrm>
              <a:off x="1922929" y="1572554"/>
              <a:ext cx="6726156" cy="3712891"/>
            </p:xfrm>
            <a:graphic>
              <a:graphicData uri="http://schemas.openxmlformats.org/drawingml/2006/table">
                <a:tbl>
                  <a:tblPr firstRow="1" bandRow="1">
                    <a:tableStyleId>{2D5ABB26-0587-4C30-8999-92F81FD0307C}</a:tableStyleId>
                  </a:tblPr>
                  <a:tblGrid>
                    <a:gridCol w="1121026">
                      <a:extLst>
                        <a:ext uri="{9D8B030D-6E8A-4147-A177-3AD203B41FA5}">
                          <a16:colId xmlns:a16="http://schemas.microsoft.com/office/drawing/2014/main" val="1986738472"/>
                        </a:ext>
                      </a:extLst>
                    </a:gridCol>
                    <a:gridCol w="1121026">
                      <a:extLst>
                        <a:ext uri="{9D8B030D-6E8A-4147-A177-3AD203B41FA5}">
                          <a16:colId xmlns:a16="http://schemas.microsoft.com/office/drawing/2014/main" val="1390511690"/>
                        </a:ext>
                      </a:extLst>
                    </a:gridCol>
                    <a:gridCol w="1121026">
                      <a:extLst>
                        <a:ext uri="{9D8B030D-6E8A-4147-A177-3AD203B41FA5}">
                          <a16:colId xmlns:a16="http://schemas.microsoft.com/office/drawing/2014/main" val="1215191033"/>
                        </a:ext>
                      </a:extLst>
                    </a:gridCol>
                    <a:gridCol w="1121026">
                      <a:extLst>
                        <a:ext uri="{9D8B030D-6E8A-4147-A177-3AD203B41FA5}">
                          <a16:colId xmlns:a16="http://schemas.microsoft.com/office/drawing/2014/main" val="730542971"/>
                        </a:ext>
                      </a:extLst>
                    </a:gridCol>
                    <a:gridCol w="1121026">
                      <a:extLst>
                        <a:ext uri="{9D8B030D-6E8A-4147-A177-3AD203B41FA5}">
                          <a16:colId xmlns:a16="http://schemas.microsoft.com/office/drawing/2014/main" val="423213117"/>
                        </a:ext>
                      </a:extLst>
                    </a:gridCol>
                    <a:gridCol w="1121026">
                      <a:extLst>
                        <a:ext uri="{9D8B030D-6E8A-4147-A177-3AD203B41FA5}">
                          <a16:colId xmlns:a16="http://schemas.microsoft.com/office/drawing/2014/main" val="2145638634"/>
                        </a:ext>
                      </a:extLst>
                    </a:gridCol>
                  </a:tblGrid>
                  <a:tr h="53041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53041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3041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3041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3041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3041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30413">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4191318454"/>
                  </p:ext>
                </p:extLst>
              </p:nvPr>
            </p:nvGraphicFramePr>
            <p:xfrm>
              <a:off x="1922929" y="1572554"/>
              <a:ext cx="6726156" cy="3712891"/>
            </p:xfrm>
            <a:graphic>
              <a:graphicData uri="http://schemas.openxmlformats.org/drawingml/2006/table">
                <a:tbl>
                  <a:tblPr firstRow="1" bandRow="1">
                    <a:tableStyleId>{2D5ABB26-0587-4C30-8999-92F81FD0307C}</a:tableStyleId>
                  </a:tblPr>
                  <a:tblGrid>
                    <a:gridCol w="1121026">
                      <a:extLst>
                        <a:ext uri="{9D8B030D-6E8A-4147-A177-3AD203B41FA5}">
                          <a16:colId xmlns:a16="http://schemas.microsoft.com/office/drawing/2014/main" val="1986738472"/>
                        </a:ext>
                      </a:extLst>
                    </a:gridCol>
                    <a:gridCol w="1121026">
                      <a:extLst>
                        <a:ext uri="{9D8B030D-6E8A-4147-A177-3AD203B41FA5}">
                          <a16:colId xmlns:a16="http://schemas.microsoft.com/office/drawing/2014/main" val="1390511690"/>
                        </a:ext>
                      </a:extLst>
                    </a:gridCol>
                    <a:gridCol w="1121026">
                      <a:extLst>
                        <a:ext uri="{9D8B030D-6E8A-4147-A177-3AD203B41FA5}">
                          <a16:colId xmlns:a16="http://schemas.microsoft.com/office/drawing/2014/main" val="1215191033"/>
                        </a:ext>
                      </a:extLst>
                    </a:gridCol>
                    <a:gridCol w="1121026">
                      <a:extLst>
                        <a:ext uri="{9D8B030D-6E8A-4147-A177-3AD203B41FA5}">
                          <a16:colId xmlns:a16="http://schemas.microsoft.com/office/drawing/2014/main" val="730542971"/>
                        </a:ext>
                      </a:extLst>
                    </a:gridCol>
                    <a:gridCol w="1121026">
                      <a:extLst>
                        <a:ext uri="{9D8B030D-6E8A-4147-A177-3AD203B41FA5}">
                          <a16:colId xmlns:a16="http://schemas.microsoft.com/office/drawing/2014/main" val="423213117"/>
                        </a:ext>
                      </a:extLst>
                    </a:gridCol>
                    <a:gridCol w="1121026">
                      <a:extLst>
                        <a:ext uri="{9D8B030D-6E8A-4147-A177-3AD203B41FA5}">
                          <a16:colId xmlns:a16="http://schemas.microsoft.com/office/drawing/2014/main" val="2145638634"/>
                        </a:ext>
                      </a:extLst>
                    </a:gridCol>
                  </a:tblGrid>
                  <a:tr h="53041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000" r="-301087" b="-613793"/>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000" r="-201087" b="-613793"/>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0000" r="-101087" b="-613793"/>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0000" r="-1087" b="-613793"/>
                          </a:stretch>
                        </a:blipFill>
                      </a:tcPr>
                    </a:tc>
                    <a:extLst>
                      <a:ext uri="{0D108BD9-81ED-4DB2-BD59-A6C34878D82A}">
                        <a16:rowId xmlns:a16="http://schemas.microsoft.com/office/drawing/2014/main" val="3217171942"/>
                      </a:ext>
                    </a:extLst>
                  </a:tr>
                  <a:tr h="530413">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3041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201149" r="-501087" b="-412644"/>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3041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01149" r="-501087" b="-312644"/>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3041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401149" r="-501087" b="-212644"/>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3041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495455" r="-501087" b="-11022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30413">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602299" r="-501087" b="-11494"/>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Tree>
    <p:extLst>
      <p:ext uri="{BB962C8B-B14F-4D97-AF65-F5344CB8AC3E}">
        <p14:creationId xmlns:p14="http://schemas.microsoft.com/office/powerpoint/2010/main" val="1609179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EB8A80-A05B-457B-B462-1DDEF011E28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2596085-DC1C-4326-AC37-EBD3F880B58C}"/>
              </a:ext>
            </a:extLst>
          </p:cNvPr>
          <p:cNvSpPr>
            <a:spLocks noGrp="1"/>
          </p:cNvSpPr>
          <p:nvPr>
            <p:ph idx="1"/>
          </p:nvPr>
        </p:nvSpPr>
        <p:spPr/>
        <p:txBody>
          <a:bodyPr/>
          <a:lstStyle/>
          <a:p>
            <a:endParaRPr lang="zh-TW" altLang="en-US" dirty="0"/>
          </a:p>
        </p:txBody>
      </p:sp>
      <mc:AlternateContent xmlns:mc="http://schemas.openxmlformats.org/markup-compatibility/2006" xmlns:a14="http://schemas.microsoft.com/office/drawing/2010/main">
        <mc:Choice Requires="a14">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636019332"/>
                  </p:ext>
                </p:extLst>
              </p:nvPr>
            </p:nvGraphicFramePr>
            <p:xfrm>
              <a:off x="1976718" y="1504564"/>
              <a:ext cx="6618582" cy="3807027"/>
            </p:xfrm>
            <a:graphic>
              <a:graphicData uri="http://schemas.openxmlformats.org/drawingml/2006/table">
                <a:tbl>
                  <a:tblPr firstRow="1" bandRow="1">
                    <a:tableStyleId>{2D5ABB26-0587-4C30-8999-92F81FD0307C}</a:tableStyleId>
                  </a:tblPr>
                  <a:tblGrid>
                    <a:gridCol w="1103097">
                      <a:extLst>
                        <a:ext uri="{9D8B030D-6E8A-4147-A177-3AD203B41FA5}">
                          <a16:colId xmlns:a16="http://schemas.microsoft.com/office/drawing/2014/main" val="1986738472"/>
                        </a:ext>
                      </a:extLst>
                    </a:gridCol>
                    <a:gridCol w="1103097">
                      <a:extLst>
                        <a:ext uri="{9D8B030D-6E8A-4147-A177-3AD203B41FA5}">
                          <a16:colId xmlns:a16="http://schemas.microsoft.com/office/drawing/2014/main" val="1390511690"/>
                        </a:ext>
                      </a:extLst>
                    </a:gridCol>
                    <a:gridCol w="1103097">
                      <a:extLst>
                        <a:ext uri="{9D8B030D-6E8A-4147-A177-3AD203B41FA5}">
                          <a16:colId xmlns:a16="http://schemas.microsoft.com/office/drawing/2014/main" val="1215191033"/>
                        </a:ext>
                      </a:extLst>
                    </a:gridCol>
                    <a:gridCol w="1103097">
                      <a:extLst>
                        <a:ext uri="{9D8B030D-6E8A-4147-A177-3AD203B41FA5}">
                          <a16:colId xmlns:a16="http://schemas.microsoft.com/office/drawing/2014/main" val="730542971"/>
                        </a:ext>
                      </a:extLst>
                    </a:gridCol>
                    <a:gridCol w="1103097">
                      <a:extLst>
                        <a:ext uri="{9D8B030D-6E8A-4147-A177-3AD203B41FA5}">
                          <a16:colId xmlns:a16="http://schemas.microsoft.com/office/drawing/2014/main" val="423213117"/>
                        </a:ext>
                      </a:extLst>
                    </a:gridCol>
                    <a:gridCol w="1103097">
                      <a:extLst>
                        <a:ext uri="{9D8B030D-6E8A-4147-A177-3AD203B41FA5}">
                          <a16:colId xmlns:a16="http://schemas.microsoft.com/office/drawing/2014/main" val="2145638634"/>
                        </a:ext>
                      </a:extLst>
                    </a:gridCol>
                  </a:tblGrid>
                  <a:tr h="54386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54386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438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438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438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438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4386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4" name="表格 5">
                <a:extLst>
                  <a:ext uri="{FF2B5EF4-FFF2-40B4-BE49-F238E27FC236}">
                    <a16:creationId xmlns:a16="http://schemas.microsoft.com/office/drawing/2014/main" id="{24B216EF-1A0E-465B-9EBE-ED20E795AE2E}"/>
                  </a:ext>
                </a:extLst>
              </p:cNvPr>
              <p:cNvGraphicFramePr>
                <a:graphicFrameLocks/>
              </p:cNvGraphicFramePr>
              <p:nvPr>
                <p:extLst>
                  <p:ext uri="{D42A27DB-BD31-4B8C-83A1-F6EECF244321}">
                    <p14:modId xmlns:p14="http://schemas.microsoft.com/office/powerpoint/2010/main" val="636019332"/>
                  </p:ext>
                </p:extLst>
              </p:nvPr>
            </p:nvGraphicFramePr>
            <p:xfrm>
              <a:off x="1976718" y="1504564"/>
              <a:ext cx="6618582" cy="3807027"/>
            </p:xfrm>
            <a:graphic>
              <a:graphicData uri="http://schemas.openxmlformats.org/drawingml/2006/table">
                <a:tbl>
                  <a:tblPr firstRow="1" bandRow="1">
                    <a:tableStyleId>{2D5ABB26-0587-4C30-8999-92F81FD0307C}</a:tableStyleId>
                  </a:tblPr>
                  <a:tblGrid>
                    <a:gridCol w="1103097">
                      <a:extLst>
                        <a:ext uri="{9D8B030D-6E8A-4147-A177-3AD203B41FA5}">
                          <a16:colId xmlns:a16="http://schemas.microsoft.com/office/drawing/2014/main" val="1986738472"/>
                        </a:ext>
                      </a:extLst>
                    </a:gridCol>
                    <a:gridCol w="1103097">
                      <a:extLst>
                        <a:ext uri="{9D8B030D-6E8A-4147-A177-3AD203B41FA5}">
                          <a16:colId xmlns:a16="http://schemas.microsoft.com/office/drawing/2014/main" val="1390511690"/>
                        </a:ext>
                      </a:extLst>
                    </a:gridCol>
                    <a:gridCol w="1103097">
                      <a:extLst>
                        <a:ext uri="{9D8B030D-6E8A-4147-A177-3AD203B41FA5}">
                          <a16:colId xmlns:a16="http://schemas.microsoft.com/office/drawing/2014/main" val="1215191033"/>
                        </a:ext>
                      </a:extLst>
                    </a:gridCol>
                    <a:gridCol w="1103097">
                      <a:extLst>
                        <a:ext uri="{9D8B030D-6E8A-4147-A177-3AD203B41FA5}">
                          <a16:colId xmlns:a16="http://schemas.microsoft.com/office/drawing/2014/main" val="730542971"/>
                        </a:ext>
                      </a:extLst>
                    </a:gridCol>
                    <a:gridCol w="1103097">
                      <a:extLst>
                        <a:ext uri="{9D8B030D-6E8A-4147-A177-3AD203B41FA5}">
                          <a16:colId xmlns:a16="http://schemas.microsoft.com/office/drawing/2014/main" val="423213117"/>
                        </a:ext>
                      </a:extLst>
                    </a:gridCol>
                    <a:gridCol w="1103097">
                      <a:extLst>
                        <a:ext uri="{9D8B030D-6E8A-4147-A177-3AD203B41FA5}">
                          <a16:colId xmlns:a16="http://schemas.microsoft.com/office/drawing/2014/main" val="2145638634"/>
                        </a:ext>
                      </a:extLst>
                    </a:gridCol>
                  </a:tblGrid>
                  <a:tr h="54386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000" r="-301657" b="-61236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00000" r="-201657" b="-61236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00000" r="-101657" b="-61236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00000" r="-1657" b="-612360"/>
                          </a:stretch>
                        </a:blipFill>
                      </a:tcPr>
                    </a:tc>
                    <a:extLst>
                      <a:ext uri="{0D108BD9-81ED-4DB2-BD59-A6C34878D82A}">
                        <a16:rowId xmlns:a16="http://schemas.microsoft.com/office/drawing/2014/main" val="3217171942"/>
                      </a:ext>
                    </a:extLst>
                  </a:tr>
                  <a:tr h="54386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4386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201124" r="-501657" b="-411236"/>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4386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297778" r="-501657" b="-306667"/>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4386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402247" r="-501657" b="-210112"/>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4386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496667" r="-501657" b="-107778"/>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43861">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603371" r="-501657" b="-8989"/>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Tree>
    <p:extLst>
      <p:ext uri="{BB962C8B-B14F-4D97-AF65-F5344CB8AC3E}">
        <p14:creationId xmlns:p14="http://schemas.microsoft.com/office/powerpoint/2010/main" val="66096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1AB6E65C-22C4-4ABB-ADC0-D9BAF83376B3}"/>
                  </a:ext>
                </a:extLst>
              </p:cNvPr>
              <p:cNvGraphicFramePr>
                <a:graphicFrameLocks noGrp="1"/>
              </p:cNvGraphicFramePr>
              <p:nvPr>
                <p:ph idx="1"/>
                <p:extLst>
                  <p:ext uri="{D42A27DB-BD31-4B8C-83A1-F6EECF244321}">
                    <p14:modId xmlns:p14="http://schemas.microsoft.com/office/powerpoint/2010/main" val="739655410"/>
                  </p:ext>
                </p:extLst>
              </p:nvPr>
            </p:nvGraphicFramePr>
            <p:xfrm>
              <a:off x="1048215" y="1583473"/>
              <a:ext cx="8954430" cy="3980984"/>
            </p:xfrm>
            <a:graphic>
              <a:graphicData uri="http://schemas.openxmlformats.org/drawingml/2006/table">
                <a:tbl>
                  <a:tblPr firstRow="1" bandRow="1">
                    <a:tableStyleId>{2D5ABB26-0587-4C30-8999-92F81FD0307C}</a:tableStyleId>
                  </a:tblPr>
                  <a:tblGrid>
                    <a:gridCol w="1492405">
                      <a:extLst>
                        <a:ext uri="{9D8B030D-6E8A-4147-A177-3AD203B41FA5}">
                          <a16:colId xmlns:a16="http://schemas.microsoft.com/office/drawing/2014/main" val="1986738472"/>
                        </a:ext>
                      </a:extLst>
                    </a:gridCol>
                    <a:gridCol w="1492405">
                      <a:extLst>
                        <a:ext uri="{9D8B030D-6E8A-4147-A177-3AD203B41FA5}">
                          <a16:colId xmlns:a16="http://schemas.microsoft.com/office/drawing/2014/main" val="1390511690"/>
                        </a:ext>
                      </a:extLst>
                    </a:gridCol>
                    <a:gridCol w="1492405">
                      <a:extLst>
                        <a:ext uri="{9D8B030D-6E8A-4147-A177-3AD203B41FA5}">
                          <a16:colId xmlns:a16="http://schemas.microsoft.com/office/drawing/2014/main" val="1215191033"/>
                        </a:ext>
                      </a:extLst>
                    </a:gridCol>
                    <a:gridCol w="1492405">
                      <a:extLst>
                        <a:ext uri="{9D8B030D-6E8A-4147-A177-3AD203B41FA5}">
                          <a16:colId xmlns:a16="http://schemas.microsoft.com/office/drawing/2014/main" val="730542971"/>
                        </a:ext>
                      </a:extLst>
                    </a:gridCol>
                    <a:gridCol w="1492405">
                      <a:extLst>
                        <a:ext uri="{9D8B030D-6E8A-4147-A177-3AD203B41FA5}">
                          <a16:colId xmlns:a16="http://schemas.microsoft.com/office/drawing/2014/main" val="423213117"/>
                        </a:ext>
                      </a:extLst>
                    </a:gridCol>
                    <a:gridCol w="1492405">
                      <a:extLst>
                        <a:ext uri="{9D8B030D-6E8A-4147-A177-3AD203B41FA5}">
                          <a16:colId xmlns:a16="http://schemas.microsoft.com/office/drawing/2014/main" val="2145638634"/>
                        </a:ext>
                      </a:extLst>
                    </a:gridCol>
                  </a:tblGrid>
                  <a:tr h="568712">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7171942"/>
                      </a:ext>
                    </a:extLst>
                  </a:tr>
                  <a:tr h="568712">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68712">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68712">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68712">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68712">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68712">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Choice>
        <mc:Fallback xmlns="">
          <p:graphicFrame>
            <p:nvGraphicFramePr>
              <p:cNvPr id="5" name="表格 5">
                <a:extLst>
                  <a:ext uri="{FF2B5EF4-FFF2-40B4-BE49-F238E27FC236}">
                    <a16:creationId xmlns:a16="http://schemas.microsoft.com/office/drawing/2014/main" id="{1AB6E65C-22C4-4ABB-ADC0-D9BAF83376B3}"/>
                  </a:ext>
                </a:extLst>
              </p:cNvPr>
              <p:cNvGraphicFramePr>
                <a:graphicFrameLocks noGrp="1"/>
              </p:cNvGraphicFramePr>
              <p:nvPr>
                <p:ph idx="1"/>
                <p:extLst>
                  <p:ext uri="{D42A27DB-BD31-4B8C-83A1-F6EECF244321}">
                    <p14:modId xmlns:p14="http://schemas.microsoft.com/office/powerpoint/2010/main" val="739655410"/>
                  </p:ext>
                </p:extLst>
              </p:nvPr>
            </p:nvGraphicFramePr>
            <p:xfrm>
              <a:off x="1048215" y="1583473"/>
              <a:ext cx="8954430" cy="3980984"/>
            </p:xfrm>
            <a:graphic>
              <a:graphicData uri="http://schemas.openxmlformats.org/drawingml/2006/table">
                <a:tbl>
                  <a:tblPr firstRow="1" bandRow="1">
                    <a:tableStyleId>{2D5ABB26-0587-4C30-8999-92F81FD0307C}</a:tableStyleId>
                  </a:tblPr>
                  <a:tblGrid>
                    <a:gridCol w="1492405">
                      <a:extLst>
                        <a:ext uri="{9D8B030D-6E8A-4147-A177-3AD203B41FA5}">
                          <a16:colId xmlns:a16="http://schemas.microsoft.com/office/drawing/2014/main" val="1986738472"/>
                        </a:ext>
                      </a:extLst>
                    </a:gridCol>
                    <a:gridCol w="1492405">
                      <a:extLst>
                        <a:ext uri="{9D8B030D-6E8A-4147-A177-3AD203B41FA5}">
                          <a16:colId xmlns:a16="http://schemas.microsoft.com/office/drawing/2014/main" val="1390511690"/>
                        </a:ext>
                      </a:extLst>
                    </a:gridCol>
                    <a:gridCol w="1492405">
                      <a:extLst>
                        <a:ext uri="{9D8B030D-6E8A-4147-A177-3AD203B41FA5}">
                          <a16:colId xmlns:a16="http://schemas.microsoft.com/office/drawing/2014/main" val="1215191033"/>
                        </a:ext>
                      </a:extLst>
                    </a:gridCol>
                    <a:gridCol w="1492405">
                      <a:extLst>
                        <a:ext uri="{9D8B030D-6E8A-4147-A177-3AD203B41FA5}">
                          <a16:colId xmlns:a16="http://schemas.microsoft.com/office/drawing/2014/main" val="730542971"/>
                        </a:ext>
                      </a:extLst>
                    </a:gridCol>
                    <a:gridCol w="1492405">
                      <a:extLst>
                        <a:ext uri="{9D8B030D-6E8A-4147-A177-3AD203B41FA5}">
                          <a16:colId xmlns:a16="http://schemas.microsoft.com/office/drawing/2014/main" val="423213117"/>
                        </a:ext>
                      </a:extLst>
                    </a:gridCol>
                    <a:gridCol w="1492405">
                      <a:extLst>
                        <a:ext uri="{9D8B030D-6E8A-4147-A177-3AD203B41FA5}">
                          <a16:colId xmlns:a16="http://schemas.microsoft.com/office/drawing/2014/main" val="2145638634"/>
                        </a:ext>
                      </a:extLst>
                    </a:gridCol>
                  </a:tblGrid>
                  <a:tr h="568712">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r="-300816" b="-608602"/>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0000" r="-200816" b="-608602"/>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00000" r="-100816" b="-608602"/>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00000" r="-816" b="-608602"/>
                          </a:stretch>
                        </a:blipFill>
                      </a:tcPr>
                    </a:tc>
                    <a:extLst>
                      <a:ext uri="{0D108BD9-81ED-4DB2-BD59-A6C34878D82A}">
                        <a16:rowId xmlns:a16="http://schemas.microsoft.com/office/drawing/2014/main" val="3217171942"/>
                      </a:ext>
                    </a:extLst>
                  </a:tr>
                  <a:tr h="568712">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083836"/>
                      </a:ext>
                    </a:extLst>
                  </a:tr>
                  <a:tr h="568712">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1075" r="-500816" b="-40752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06333"/>
                      </a:ext>
                    </a:extLst>
                  </a:tr>
                  <a:tr h="568712">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97872" r="-500816" b="-303191"/>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645056"/>
                      </a:ext>
                    </a:extLst>
                  </a:tr>
                  <a:tr h="568712">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02151" r="-500816" b="-206452"/>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2596438"/>
                      </a:ext>
                    </a:extLst>
                  </a:tr>
                  <a:tr h="568712">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96809" r="-500816" b="-104255"/>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095506"/>
                      </a:ext>
                    </a:extLst>
                  </a:tr>
                  <a:tr h="568712">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603226" r="-500816" b="-5376"/>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2238765"/>
                      </a:ext>
                    </a:extLst>
                  </a:tr>
                </a:tbl>
              </a:graphicData>
            </a:graphic>
          </p:graphicFrame>
        </mc:Fallback>
      </mc:AlternateContent>
      <p:sp>
        <p:nvSpPr>
          <p:cNvPr id="7" name="標題 6">
            <a:extLst>
              <a:ext uri="{FF2B5EF4-FFF2-40B4-BE49-F238E27FC236}">
                <a16:creationId xmlns:a16="http://schemas.microsoft.com/office/drawing/2014/main" id="{A133B890-4CA8-4EAC-B336-635DB64AA749}"/>
              </a:ext>
            </a:extLst>
          </p:cNvPr>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3727603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20F243-F5EB-4A81-BE15-57334D1033E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EED28CB-93A0-46DC-8087-EC64949E2367}"/>
              </a:ext>
            </a:extLst>
          </p:cNvPr>
          <p:cNvSpPr>
            <a:spLocks noGrp="1"/>
          </p:cNvSpPr>
          <p:nvPr>
            <p:ph idx="1"/>
          </p:nvPr>
        </p:nvSpPr>
        <p:spPr/>
        <p:txBody>
          <a:bodyPr/>
          <a:lstStyle/>
          <a:p>
            <a:r>
              <a:rPr lang="en-US" altLang="zh-TW" dirty="0"/>
              <a:t>Case 1: T (</a:t>
            </a:r>
            <a:r>
              <a:rPr lang="en-US" altLang="zh-TW" dirty="0" err="1"/>
              <a:t>i</a:t>
            </a:r>
            <a:r>
              <a:rPr lang="en-US" altLang="zh-TW" dirty="0"/>
              <a:t>, j) is an empty entry.</a:t>
            </a:r>
            <a:endParaRPr lang="zh-TW" altLang="en-US" dirty="0"/>
          </a:p>
        </p:txBody>
      </p:sp>
      <p:pic>
        <p:nvPicPr>
          <p:cNvPr id="4" name="圖片 3" descr="一張含有 桌 的圖片&#10;&#10;自動產生的描述">
            <a:extLst>
              <a:ext uri="{FF2B5EF4-FFF2-40B4-BE49-F238E27FC236}">
                <a16:creationId xmlns:a16="http://schemas.microsoft.com/office/drawing/2014/main" id="{FC2CB975-5F0F-4873-9839-1FE27F6F3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0548" y="1048214"/>
            <a:ext cx="5940368" cy="5219173"/>
          </a:xfrm>
          <a:prstGeom prst="rect">
            <a:avLst/>
          </a:prstGeom>
        </p:spPr>
      </p:pic>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62B49D7B-3162-440A-BA3F-ADB4A210AC41}"/>
                  </a:ext>
                </a:extLst>
              </p:cNvPr>
              <p:cNvGraphicFramePr>
                <a:graphicFrameLocks noGrp="1"/>
              </p:cNvGraphicFramePr>
              <p:nvPr>
                <p:extLst>
                  <p:ext uri="{D42A27DB-BD31-4B8C-83A1-F6EECF244321}">
                    <p14:modId xmlns:p14="http://schemas.microsoft.com/office/powerpoint/2010/main" val="3989943832"/>
                  </p:ext>
                </p:extLst>
              </p:nvPr>
            </p:nvGraphicFramePr>
            <p:xfrm>
              <a:off x="985650" y="2686746"/>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5" name="表格 4">
                <a:extLst>
                  <a:ext uri="{FF2B5EF4-FFF2-40B4-BE49-F238E27FC236}">
                    <a16:creationId xmlns:a16="http://schemas.microsoft.com/office/drawing/2014/main" id="{62B49D7B-3162-440A-BA3F-ADB4A210AC41}"/>
                  </a:ext>
                </a:extLst>
              </p:cNvPr>
              <p:cNvGraphicFramePr>
                <a:graphicFrameLocks noGrp="1"/>
              </p:cNvGraphicFramePr>
              <p:nvPr>
                <p:extLst>
                  <p:ext uri="{D42A27DB-BD31-4B8C-83A1-F6EECF244321}">
                    <p14:modId xmlns:p14="http://schemas.microsoft.com/office/powerpoint/2010/main" val="3989943832"/>
                  </p:ext>
                </p:extLst>
              </p:nvPr>
            </p:nvGraphicFramePr>
            <p:xfrm>
              <a:off x="985650" y="2686746"/>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9029" r="-300000"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961" r="-202941"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98058" r="-100971"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02941" r="-1961" b="-632000"/>
                          </a:stretch>
                        </a:blipFill>
                      </a:tcPr>
                    </a:tc>
                    <a:extLst>
                      <a:ext uri="{0D108BD9-81ED-4DB2-BD59-A6C34878D82A}">
                        <a16:rowId xmlns:a16="http://schemas.microsoft.com/office/drawing/2014/main" val="1194138422"/>
                      </a:ext>
                    </a:extLst>
                  </a:tr>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0000" r="-499029" b="-432000"/>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6053" r="-499029" b="-326316"/>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01333" r="-499029" b="-230667"/>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01333" r="-499029" b="-13066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01333" r="-499029" b="-30667"/>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Tree>
    <p:extLst>
      <p:ext uri="{BB962C8B-B14F-4D97-AF65-F5344CB8AC3E}">
        <p14:creationId xmlns:p14="http://schemas.microsoft.com/office/powerpoint/2010/main" val="4080695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C572FFF-9913-4A3A-9FF6-405ED5AB2799}"/>
                  </a:ext>
                </a:extLst>
              </p:cNvPr>
              <p:cNvSpPr>
                <a:spLocks noGrp="1"/>
              </p:cNvSpPr>
              <p:nvPr>
                <p:ph idx="1"/>
              </p:nvPr>
            </p:nvSpPr>
            <p:spPr>
              <a:xfrm>
                <a:off x="355821" y="365125"/>
                <a:ext cx="10515600" cy="4351338"/>
              </a:xfrm>
            </p:spPr>
            <p:txBody>
              <a:bodyPr>
                <a:normAutofit fontScale="92500" lnSpcReduction="10000"/>
              </a:bodyPr>
              <a:lstStyle/>
              <a:p>
                <a:r>
                  <a:rPr lang="en-US" altLang="zh-TW" dirty="0"/>
                  <a:t>Case 2: T (5, 4) is a star entry. </a:t>
                </a:r>
              </a:p>
              <a:p>
                <a:pPr marL="0" indent="0">
                  <a:buNone/>
                </a:pPr>
                <a:r>
                  <a:rPr lang="en-US" altLang="zh-TW" dirty="0"/>
                  <a:t>Step 1: Searching for the longest path P in L(4, 3) such that ω(P) ≤ α(</a:t>
                </a:r>
                <a:r>
                  <a:rPr lang="en-US" altLang="zh-TW" dirty="0" err="1"/>
                  <a:t>i</a:t>
                </a:r>
                <a:r>
                  <a:rPr lang="en-US" altLang="zh-TW" dirty="0"/>
                  <a:t>, j) and then appending T (</a:t>
                </a:r>
                <a:r>
                  <a:rPr lang="en-US" altLang="zh-TW" dirty="0" err="1"/>
                  <a:t>i</a:t>
                </a:r>
                <a:r>
                  <a:rPr lang="en-US" altLang="zh-TW" dirty="0"/>
                  <a:t>, j) to P .</a:t>
                </a:r>
              </a:p>
              <a:p>
                <a:pPr marL="0" indent="0">
                  <a:buNone/>
                </a:pPr>
                <a:r>
                  <a:rPr lang="en-US" altLang="zh-TW" dirty="0"/>
                  <a:t>ω(P)=3  &lt;= 2   </a:t>
                </a:r>
                <a:r>
                  <a:rPr lang="en-US" altLang="zh-TW" dirty="0">
                    <a:solidFill>
                      <a:srgbClr val="FF0000"/>
                    </a:solidFill>
                  </a:rPr>
                  <a:t>x</a:t>
                </a:r>
                <a:endParaRPr lang="en-US" altLang="zh-TW" dirty="0"/>
              </a:p>
              <a:p>
                <a:pPr marL="0" indent="0">
                  <a:buNone/>
                </a:pPr>
                <a:r>
                  <a:rPr lang="en-US" altLang="zh-TW" dirty="0"/>
                  <a:t>ω(P)=3  &lt;= 2</a:t>
                </a:r>
                <a:r>
                  <a:rPr lang="en-US" altLang="zh-TW" dirty="0">
                    <a:solidFill>
                      <a:srgbClr val="FF0000"/>
                    </a:solidFill>
                  </a:rPr>
                  <a:t>   x</a:t>
                </a:r>
                <a:endParaRPr lang="en-US" altLang="zh-TW" dirty="0"/>
              </a:p>
              <a:p>
                <a:pPr marL="0" indent="0">
                  <a:buNone/>
                </a:pPr>
                <a:r>
                  <a:rPr lang="en-US" altLang="zh-TW" dirty="0"/>
                  <a:t>ω(P)=1  &lt;= 2   </a:t>
                </a:r>
                <a:r>
                  <a:rPr lang="en-US" altLang="zh-TW" dirty="0">
                    <a:solidFill>
                      <a:srgbClr val="FF0000"/>
                    </a:solidFill>
                  </a:rPr>
                  <a:t>o</a:t>
                </a:r>
                <a:endParaRPr lang="en-US" altLang="zh-TW" dirty="0"/>
              </a:p>
              <a:p>
                <a:pPr marL="0" indent="0">
                  <a:buNone/>
                </a:pPr>
                <a:r>
                  <a:rPr lang="en-US" altLang="zh-TW" dirty="0"/>
                  <a:t>ω(P)=3  &lt;= 2</a:t>
                </a:r>
                <a:r>
                  <a:rPr lang="en-US" altLang="zh-TW" dirty="0">
                    <a:solidFill>
                      <a:srgbClr val="FF0000"/>
                    </a:solidFill>
                  </a:rPr>
                  <a:t>   x</a:t>
                </a:r>
                <a:endParaRPr lang="en-US" altLang="zh-TW" dirty="0"/>
              </a:p>
              <a:p>
                <a:pPr marL="0" indent="0">
                  <a:buNone/>
                </a:pPr>
                <a:r>
                  <a:rPr lang="en-US" altLang="zh-TW" dirty="0"/>
                  <a:t>ω(P)=3  &lt;= 2</a:t>
                </a:r>
                <a:r>
                  <a:rPr lang="en-US" altLang="zh-TW" dirty="0">
                    <a:solidFill>
                      <a:srgbClr val="FF0000"/>
                    </a:solidFill>
                  </a:rPr>
                  <a:t>   x</a:t>
                </a:r>
                <a:endParaRPr lang="en-US" altLang="zh-TW" dirty="0"/>
              </a:p>
              <a:p>
                <a:pPr marL="0" indent="0">
                  <a:buNone/>
                </a:pPr>
                <a:r>
                  <a:rPr lang="en-US" altLang="zh-TW" dirty="0"/>
                  <a:t> </a:t>
                </a:r>
              </a:p>
              <a:p>
                <a:pPr marL="0" indent="0">
                  <a:buNone/>
                </a:pPr>
                <a:r>
                  <a:rPr lang="el-GR" altLang="zh-TW" b="0" i="0" dirty="0">
                    <a:solidFill>
                      <a:srgbClr val="202122"/>
                    </a:solidFill>
                    <a:effectLst/>
                    <a:latin typeface="Arial" panose="020B0604020202020204" pitchFamily="34" charset="0"/>
                  </a:rPr>
                  <a:t>β</a:t>
                </a:r>
                <a:r>
                  <a:rPr lang="zh-TW" altLang="en-US" dirty="0">
                    <a:solidFill>
                      <a:srgbClr val="202122"/>
                    </a:solidFill>
                    <a:latin typeface="Arial" panose="020B0604020202020204" pitchFamily="34" charset="0"/>
                  </a:rPr>
                  <a:t>  </a:t>
                </a:r>
                <a:r>
                  <a:rPr lang="en-US" altLang="zh-TW" dirty="0">
                    <a:solidFill>
                      <a:srgbClr val="202122"/>
                    </a:solidFill>
                    <a:latin typeface="Arial" panose="020B0604020202020204" pitchFamily="34" charset="0"/>
                  </a:rPr>
                  <a:t>(</a:t>
                </a:r>
                <a14:m>
                  <m:oMath xmlns:m="http://schemas.openxmlformats.org/officeDocument/2006/math">
                    <m:r>
                      <a:rPr lang="zh-TW" altLang="en-US" i="1" dirty="0">
                        <a:solidFill>
                          <a:srgbClr val="202122"/>
                        </a:solidFill>
                        <a:latin typeface="Cambria Math" panose="02040503050406030204" pitchFamily="18" charset="0"/>
                      </a:rPr>
                      <m:t> </m:t>
                    </m:r>
                    <m:sSubSup>
                      <m:sSubSupPr>
                        <m:ctrlPr>
                          <a:rPr lang="en-US" altLang="zh-TW" b="0" i="1" smtClean="0">
                            <a:solidFill>
                              <a:srgbClr val="202122"/>
                            </a:solidFill>
                            <a:effectLst/>
                            <a:latin typeface="Cambria Math" panose="02040503050406030204" pitchFamily="18" charset="0"/>
                          </a:rPr>
                        </m:ctrlPr>
                      </m:sSubSupPr>
                      <m:e>
                        <m:r>
                          <m:rPr>
                            <m:sty m:val="p"/>
                          </m:rPr>
                          <a:rPr lang="en-US" altLang="zh-TW" i="1">
                            <a:solidFill>
                              <a:srgbClr val="202122"/>
                            </a:solidFill>
                            <a:latin typeface="Cambria Math" panose="02040503050406030204" pitchFamily="18" charset="0"/>
                          </a:rPr>
                          <m:t>L</m:t>
                        </m:r>
                        <m:r>
                          <m:rPr>
                            <m:sty m:val="p"/>
                          </m:rPr>
                          <a:rPr lang="en-US" altLang="zh-TW" i="1" smtClean="0">
                            <a:solidFill>
                              <a:srgbClr val="202122"/>
                            </a:solidFill>
                            <a:latin typeface="Cambria Math" panose="02040503050406030204" pitchFamily="18" charset="0"/>
                          </a:rPr>
                          <m:t>P</m:t>
                        </m:r>
                      </m:e>
                      <m:sub>
                        <m:r>
                          <a:rPr lang="en-US" altLang="zh-TW" b="0" i="1" smtClean="0">
                            <a:solidFill>
                              <a:srgbClr val="202122"/>
                            </a:solidFill>
                            <a:latin typeface="Cambria Math" panose="02040503050406030204" pitchFamily="18" charset="0"/>
                          </a:rPr>
                          <m:t>4</m:t>
                        </m:r>
                      </m:sub>
                      <m:sup>
                        <m:r>
                          <a:rPr lang="en-US" altLang="zh-TW" b="0" i="1" smtClean="0">
                            <a:solidFill>
                              <a:srgbClr val="202122"/>
                            </a:solidFill>
                            <a:latin typeface="Cambria Math" panose="02040503050406030204" pitchFamily="18" charset="0"/>
                          </a:rPr>
                          <m:t>5</m:t>
                        </m:r>
                      </m:sup>
                    </m:sSubSup>
                  </m:oMath>
                </a14:m>
                <a:r>
                  <a:rPr lang="en-US" altLang="zh-TW" dirty="0"/>
                  <a:t>(5,4)</a:t>
                </a:r>
                <a:r>
                  <a:rPr lang="zh-TW" altLang="en-US" dirty="0"/>
                  <a:t> </a:t>
                </a:r>
                <a:r>
                  <a:rPr lang="en-US" altLang="zh-TW" dirty="0"/>
                  <a:t>) = &lt;1,2&gt; </a:t>
                </a:r>
              </a:p>
              <a:p>
                <a:pPr marL="0" indent="0">
                  <a:buNone/>
                </a:pPr>
                <a:endParaRPr lang="en-US" altLang="zh-TW" dirty="0"/>
              </a:p>
              <a:p>
                <a:endParaRPr lang="en-US" altLang="zh-TW" dirty="0"/>
              </a:p>
              <a:p>
                <a:endParaRPr lang="en-US" altLang="zh-TW" dirty="0"/>
              </a:p>
            </p:txBody>
          </p:sp>
        </mc:Choice>
        <mc:Fallback xmlns="">
          <p:sp>
            <p:nvSpPr>
              <p:cNvPr id="3" name="內容版面配置區 2">
                <a:extLst>
                  <a:ext uri="{FF2B5EF4-FFF2-40B4-BE49-F238E27FC236}">
                    <a16:creationId xmlns:a16="http://schemas.microsoft.com/office/drawing/2014/main" id="{7C572FFF-9913-4A3A-9FF6-405ED5AB2799}"/>
                  </a:ext>
                </a:extLst>
              </p:cNvPr>
              <p:cNvSpPr>
                <a:spLocks noGrp="1" noRot="1" noChangeAspect="1" noMove="1" noResize="1" noEditPoints="1" noAdjustHandles="1" noChangeArrowheads="1" noChangeShapeType="1" noTextEdit="1"/>
              </p:cNvSpPr>
              <p:nvPr>
                <p:ph idx="1"/>
              </p:nvPr>
            </p:nvSpPr>
            <p:spPr>
              <a:xfrm>
                <a:off x="355821" y="365125"/>
                <a:ext cx="10515600" cy="4351338"/>
              </a:xfrm>
              <a:blipFill>
                <a:blip r:embed="rId3"/>
                <a:stretch>
                  <a:fillRect l="-1043" t="-3081" r="-348" b="-2101"/>
                </a:stretch>
              </a:blipFill>
            </p:spPr>
            <p:txBody>
              <a:bodyPr/>
              <a:lstStyle/>
              <a:p>
                <a:r>
                  <a:rPr lang="zh-TW" altLang="en-US">
                    <a:noFill/>
                  </a:rPr>
                  <a:t> </a:t>
                </a:r>
              </a:p>
            </p:txBody>
          </p:sp>
        </mc:Fallback>
      </mc:AlternateContent>
      <p:pic>
        <p:nvPicPr>
          <p:cNvPr id="4" name="圖片 3" descr="一張含有 桌 的圖片&#10;&#10;自動產生的描述">
            <a:extLst>
              <a:ext uri="{FF2B5EF4-FFF2-40B4-BE49-F238E27FC236}">
                <a16:creationId xmlns:a16="http://schemas.microsoft.com/office/drawing/2014/main" id="{4D15E8F3-55FF-47A5-B9FB-29CAE76457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7936" y="1338923"/>
            <a:ext cx="4273395" cy="6755079"/>
          </a:xfrm>
          <a:prstGeom prst="rect">
            <a:avLst/>
          </a:prstGeom>
        </p:spPr>
      </p:pic>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17414233"/>
                  </p:ext>
                </p:extLst>
              </p:nvPr>
            </p:nvGraphicFramePr>
            <p:xfrm>
              <a:off x="3743622" y="3468821"/>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17414233"/>
                  </p:ext>
                </p:extLst>
              </p:nvPr>
            </p:nvGraphicFramePr>
            <p:xfrm>
              <a:off x="3743622" y="3468821"/>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00980" r="-30294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00980" r="-20294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97087" r="-10097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501961" r="-1961" b="-630667"/>
                          </a:stretch>
                        </a:blipFill>
                      </a:tcPr>
                    </a:tc>
                    <a:extLst>
                      <a:ext uri="{0D108BD9-81ED-4DB2-BD59-A6C34878D82A}">
                        <a16:rowId xmlns:a16="http://schemas.microsoft.com/office/drawing/2014/main" val="1194138422"/>
                      </a:ext>
                    </a:extLst>
                  </a:tr>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200000" r="-503922" b="-43066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296053" r="-503922" b="-325000"/>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401333" r="-503922" b="-229333"/>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501333" r="-503922" b="-129333"/>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601333" r="-503922" b="-29333"/>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
        <p:nvSpPr>
          <p:cNvPr id="6" name="箭號: 向右 5">
            <a:extLst>
              <a:ext uri="{FF2B5EF4-FFF2-40B4-BE49-F238E27FC236}">
                <a16:creationId xmlns:a16="http://schemas.microsoft.com/office/drawing/2014/main" id="{FDFCBA79-15AA-4290-A51F-F748800F12A4}"/>
              </a:ext>
            </a:extLst>
          </p:cNvPr>
          <p:cNvSpPr/>
          <p:nvPr/>
        </p:nvSpPr>
        <p:spPr>
          <a:xfrm rot="2781505">
            <a:off x="9305031" y="3085404"/>
            <a:ext cx="1219203" cy="3149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54435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C572FFF-9913-4A3A-9FF6-405ED5AB2799}"/>
              </a:ext>
            </a:extLst>
          </p:cNvPr>
          <p:cNvSpPr>
            <a:spLocks noGrp="1"/>
          </p:cNvSpPr>
          <p:nvPr>
            <p:ph idx="1"/>
          </p:nvPr>
        </p:nvSpPr>
        <p:spPr>
          <a:xfrm>
            <a:off x="277906" y="374276"/>
            <a:ext cx="11385176" cy="4351338"/>
          </a:xfrm>
        </p:spPr>
        <p:txBody>
          <a:bodyPr>
            <a:normAutofit lnSpcReduction="10000"/>
          </a:bodyPr>
          <a:lstStyle/>
          <a:p>
            <a:pPr marL="0" indent="0">
              <a:buNone/>
            </a:pPr>
            <a:r>
              <a:rPr lang="en-US" altLang="zh-TW" dirty="0"/>
              <a:t>Step 2: Appending T (5, 4)=2 to every path P in L(4, 3) satisfying </a:t>
            </a:r>
          </a:p>
          <a:p>
            <a:pPr marL="0" indent="0">
              <a:buNone/>
            </a:pPr>
            <a:r>
              <a:rPr lang="en-US" altLang="zh-TW" dirty="0"/>
              <a:t>α(</a:t>
            </a:r>
            <a:r>
              <a:rPr lang="en-US" altLang="zh-TW" dirty="0" err="1"/>
              <a:t>i</a:t>
            </a:r>
            <a:r>
              <a:rPr lang="en-US" altLang="zh-TW" dirty="0"/>
              <a:t>, j) &lt; ω(P) &lt; α(</a:t>
            </a:r>
            <a:r>
              <a:rPr lang="en-US" altLang="zh-TW" dirty="0" err="1"/>
              <a:t>i</a:t>
            </a:r>
            <a:r>
              <a:rPr lang="en-US" altLang="zh-TW" dirty="0"/>
              <a:t>, j) + c   </a:t>
            </a:r>
          </a:p>
          <a:p>
            <a:pPr marL="0" indent="0">
              <a:buNone/>
            </a:pPr>
            <a:r>
              <a:rPr lang="en-US" altLang="zh-TW" dirty="0"/>
              <a:t>   2     &lt;    3    &lt; 2+2   </a:t>
            </a:r>
            <a:r>
              <a:rPr lang="en-US" altLang="zh-TW" dirty="0">
                <a:solidFill>
                  <a:srgbClr val="FF0000"/>
                </a:solidFill>
              </a:rPr>
              <a:t>o</a:t>
            </a:r>
            <a:endParaRPr lang="en-US" altLang="zh-TW" dirty="0"/>
          </a:p>
          <a:p>
            <a:pPr marL="0" indent="0">
              <a:buNone/>
            </a:pPr>
            <a:r>
              <a:rPr lang="en-US" altLang="zh-TW" dirty="0"/>
              <a:t>   2     &lt;    3    &lt; 2+2   </a:t>
            </a:r>
            <a:r>
              <a:rPr lang="en-US" altLang="zh-TW" dirty="0">
                <a:solidFill>
                  <a:srgbClr val="FF0000"/>
                </a:solidFill>
              </a:rPr>
              <a:t>o</a:t>
            </a:r>
          </a:p>
          <a:p>
            <a:pPr marL="0" indent="0">
              <a:buNone/>
            </a:pPr>
            <a:r>
              <a:rPr lang="en-US" altLang="zh-TW" dirty="0"/>
              <a:t>   2     &lt;    1    &lt; 2+2   </a:t>
            </a:r>
            <a:r>
              <a:rPr lang="en-US" altLang="zh-TW" dirty="0">
                <a:solidFill>
                  <a:srgbClr val="FF0000"/>
                </a:solidFill>
              </a:rPr>
              <a:t>x</a:t>
            </a:r>
          </a:p>
          <a:p>
            <a:pPr marL="0" indent="0">
              <a:buNone/>
            </a:pPr>
            <a:r>
              <a:rPr lang="en-US" altLang="zh-TW" dirty="0"/>
              <a:t>   2     &lt;    3    &lt; 2+2</a:t>
            </a:r>
            <a:r>
              <a:rPr lang="en-US" altLang="zh-TW" dirty="0">
                <a:solidFill>
                  <a:srgbClr val="FF0000"/>
                </a:solidFill>
              </a:rPr>
              <a:t>   o</a:t>
            </a:r>
            <a:endParaRPr lang="en-US" altLang="zh-TW" dirty="0"/>
          </a:p>
          <a:p>
            <a:pPr marL="0" indent="0">
              <a:buNone/>
            </a:pPr>
            <a:r>
              <a:rPr lang="en-US" altLang="zh-TW" dirty="0"/>
              <a:t>   2     &lt;    3    &lt; 2+2</a:t>
            </a:r>
            <a:r>
              <a:rPr lang="en-US" altLang="zh-TW" dirty="0">
                <a:solidFill>
                  <a:srgbClr val="FF0000"/>
                </a:solidFill>
              </a:rPr>
              <a:t>   o</a:t>
            </a:r>
            <a:endParaRPr lang="en-US" altLang="zh-TW" dirty="0"/>
          </a:p>
          <a:p>
            <a:pPr marL="0" indent="0">
              <a:buNone/>
            </a:pPr>
            <a:endParaRPr lang="en-US" altLang="zh-TW" dirty="0"/>
          </a:p>
          <a:p>
            <a:pPr marL="0" indent="0">
              <a:buNone/>
            </a:pPr>
            <a:r>
              <a:rPr lang="el-GR" altLang="zh-TW" b="0" i="0" dirty="0">
                <a:solidFill>
                  <a:srgbClr val="202122"/>
                </a:solidFill>
                <a:effectLst/>
                <a:latin typeface="Arial" panose="020B0604020202020204" pitchFamily="34" charset="0"/>
              </a:rPr>
              <a:t> </a:t>
            </a:r>
            <a:endParaRPr lang="en-US" altLang="zh-TW" b="0" i="0" dirty="0">
              <a:solidFill>
                <a:srgbClr val="202122"/>
              </a:solidFill>
              <a:effectLst/>
              <a:latin typeface="Arial" panose="020B0604020202020204" pitchFamily="34" charset="0"/>
            </a:endParaRPr>
          </a:p>
        </p:txBody>
      </p:sp>
      <p:pic>
        <p:nvPicPr>
          <p:cNvPr id="4" name="圖片 3" descr="一張含有 桌 的圖片&#10;&#10;自動產生的描述">
            <a:extLst>
              <a:ext uri="{FF2B5EF4-FFF2-40B4-BE49-F238E27FC236}">
                <a16:creationId xmlns:a16="http://schemas.microsoft.com/office/drawing/2014/main" id="{4D15E8F3-55FF-47A5-B9FB-29CAE7645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0699" y="941296"/>
            <a:ext cx="4273395" cy="6755079"/>
          </a:xfrm>
          <a:prstGeom prst="rect">
            <a:avLst/>
          </a:prstGeom>
        </p:spPr>
      </p:pic>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915446431"/>
                  </p:ext>
                </p:extLst>
              </p:nvPr>
            </p:nvGraphicFramePr>
            <p:xfrm>
              <a:off x="3649689" y="3429000"/>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915446431"/>
                  </p:ext>
                </p:extLst>
              </p:nvPr>
            </p:nvGraphicFramePr>
            <p:xfrm>
              <a:off x="3649689" y="3429000"/>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9029" r="-300000"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961" r="-20294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98058" r="-10097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02941" r="-1961" b="-630667"/>
                          </a:stretch>
                        </a:blipFill>
                      </a:tcPr>
                    </a:tc>
                    <a:extLst>
                      <a:ext uri="{0D108BD9-81ED-4DB2-BD59-A6C34878D82A}">
                        <a16:rowId xmlns:a16="http://schemas.microsoft.com/office/drawing/2014/main" val="1194138422"/>
                      </a:ext>
                    </a:extLst>
                  </a:tr>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0000" r="-499029" b="-43066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6053" r="-499029" b="-325000"/>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01333" r="-499029" b="-229333"/>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01333" r="-499029" b="-129333"/>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01333" r="-499029" b="-29333"/>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
        <p:nvSpPr>
          <p:cNvPr id="8" name="箭號: 向右 7">
            <a:extLst>
              <a:ext uri="{FF2B5EF4-FFF2-40B4-BE49-F238E27FC236}">
                <a16:creationId xmlns:a16="http://schemas.microsoft.com/office/drawing/2014/main" id="{E53B217A-8A8C-4C5A-8FCF-B3D6A4073158}"/>
              </a:ext>
            </a:extLst>
          </p:cNvPr>
          <p:cNvSpPr/>
          <p:nvPr/>
        </p:nvSpPr>
        <p:spPr>
          <a:xfrm rot="3744998">
            <a:off x="9478203" y="3063240"/>
            <a:ext cx="1011936" cy="7315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76757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C572FFF-9913-4A3A-9FF6-405ED5AB2799}"/>
              </a:ext>
            </a:extLst>
          </p:cNvPr>
          <p:cNvSpPr>
            <a:spLocks noGrp="1"/>
          </p:cNvSpPr>
          <p:nvPr>
            <p:ph idx="1"/>
          </p:nvPr>
        </p:nvSpPr>
        <p:spPr>
          <a:xfrm>
            <a:off x="233083" y="198304"/>
            <a:ext cx="10515600" cy="4351338"/>
          </a:xfrm>
        </p:spPr>
        <p:txBody>
          <a:bodyPr>
            <a:normAutofit/>
          </a:bodyPr>
          <a:lstStyle/>
          <a:p>
            <a:pPr marL="0" indent="0">
              <a:buNone/>
            </a:pPr>
            <a:r>
              <a:rPr lang="en-US" altLang="zh-TW" dirty="0"/>
              <a:t>Let L’(</a:t>
            </a:r>
            <a:r>
              <a:rPr lang="en-US" altLang="zh-TW" dirty="0" err="1"/>
              <a:t>i</a:t>
            </a:r>
            <a:r>
              <a:rPr lang="en-US" altLang="zh-TW" dirty="0"/>
              <a:t>, j) denote the set of all paths obtained in the above two steps.</a:t>
            </a:r>
          </a:p>
          <a:p>
            <a:pPr marL="0" indent="0">
              <a:buNone/>
            </a:pPr>
            <a:endParaRPr lang="en-US" altLang="zh-TW" dirty="0"/>
          </a:p>
          <a:p>
            <a:pPr marL="0" indent="0">
              <a:buNone/>
            </a:pPr>
            <a:r>
              <a:rPr lang="en-US" altLang="zh-TW" dirty="0"/>
              <a:t>Step 3: Adding the longest path among all paths in </a:t>
            </a:r>
          </a:p>
          <a:p>
            <a:pPr marL="0" indent="0">
              <a:buNone/>
            </a:pPr>
            <a:r>
              <a:rPr lang="en-US" altLang="zh-TW" dirty="0"/>
              <a:t>L(4, 4) ∪ L(5, 3) ∪ L’ (5, 4)</a:t>
            </a:r>
          </a:p>
          <a:p>
            <a:pPr marL="0" indent="0">
              <a:buNone/>
            </a:pPr>
            <a:endParaRPr lang="en-US" altLang="zh-TW" dirty="0"/>
          </a:p>
          <a:p>
            <a:pPr marL="0" indent="0">
              <a:buNone/>
            </a:pPr>
            <a:endParaRPr lang="en-US" altLang="zh-TW" dirty="0"/>
          </a:p>
        </p:txBody>
      </p:sp>
      <p:pic>
        <p:nvPicPr>
          <p:cNvPr id="4" name="圖片 3" descr="一張含有 桌 的圖片&#10;&#10;自動產生的描述">
            <a:extLst>
              <a:ext uri="{FF2B5EF4-FFF2-40B4-BE49-F238E27FC236}">
                <a16:creationId xmlns:a16="http://schemas.microsoft.com/office/drawing/2014/main" id="{4D15E8F3-55FF-47A5-B9FB-29CAE7645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2350" y="707135"/>
            <a:ext cx="3826047" cy="6047943"/>
          </a:xfrm>
          <a:prstGeom prst="rect">
            <a:avLst/>
          </a:prstGeom>
        </p:spPr>
      </p:pic>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3357318804"/>
                  </p:ext>
                </p:extLst>
              </p:nvPr>
            </p:nvGraphicFramePr>
            <p:xfrm>
              <a:off x="797001" y="3263315"/>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3357318804"/>
                  </p:ext>
                </p:extLst>
              </p:nvPr>
            </p:nvGraphicFramePr>
            <p:xfrm>
              <a:off x="797001" y="3263315"/>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9029" r="-300000"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961" r="-20294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98058" r="-100971" b="-630667"/>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02941" r="-1961" b="-630667"/>
                          </a:stretch>
                        </a:blipFill>
                      </a:tcPr>
                    </a:tc>
                    <a:extLst>
                      <a:ext uri="{0D108BD9-81ED-4DB2-BD59-A6C34878D82A}">
                        <a16:rowId xmlns:a16="http://schemas.microsoft.com/office/drawing/2014/main" val="1194138422"/>
                      </a:ext>
                    </a:extLst>
                  </a:tr>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0000" r="-499029" b="-43066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6053" r="-499029" b="-325000"/>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01333" r="-499029" b="-229333"/>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01333" r="-499029" b="-129333"/>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01333" r="-499029" b="-29333"/>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
        <p:nvSpPr>
          <p:cNvPr id="6" name="橢圓 5">
            <a:extLst>
              <a:ext uri="{FF2B5EF4-FFF2-40B4-BE49-F238E27FC236}">
                <a16:creationId xmlns:a16="http://schemas.microsoft.com/office/drawing/2014/main" id="{297D6246-5DC1-4ACF-8F5C-2FE7DB9C764F}"/>
              </a:ext>
            </a:extLst>
          </p:cNvPr>
          <p:cNvSpPr/>
          <p:nvPr/>
        </p:nvSpPr>
        <p:spPr>
          <a:xfrm>
            <a:off x="10335031" y="1049525"/>
            <a:ext cx="1548384" cy="1780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65101649-CED8-4B19-B64F-9B53154E8DDE}"/>
              </a:ext>
            </a:extLst>
          </p:cNvPr>
          <p:cNvSpPr/>
          <p:nvPr/>
        </p:nvSpPr>
        <p:spPr>
          <a:xfrm>
            <a:off x="8609863" y="2538984"/>
            <a:ext cx="1548384" cy="1780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577CE1D4-CA25-4FF4-8AC1-A6982A4796DB}"/>
              </a:ext>
            </a:extLst>
          </p:cNvPr>
          <p:cNvSpPr/>
          <p:nvPr/>
        </p:nvSpPr>
        <p:spPr>
          <a:xfrm>
            <a:off x="10208782" y="2841090"/>
            <a:ext cx="1548384" cy="1780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04590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C572FFF-9913-4A3A-9FF6-405ED5AB2799}"/>
              </a:ext>
            </a:extLst>
          </p:cNvPr>
          <p:cNvSpPr>
            <a:spLocks noGrp="1"/>
          </p:cNvSpPr>
          <p:nvPr>
            <p:ph idx="1"/>
          </p:nvPr>
        </p:nvSpPr>
        <p:spPr>
          <a:xfrm>
            <a:off x="528918" y="551236"/>
            <a:ext cx="10515600" cy="4351338"/>
          </a:xfrm>
        </p:spPr>
        <p:txBody>
          <a:bodyPr>
            <a:normAutofit/>
          </a:bodyPr>
          <a:lstStyle/>
          <a:p>
            <a:r>
              <a:rPr lang="en-US" altLang="zh-TW" dirty="0"/>
              <a:t>Searching for the longest path P in L(</a:t>
            </a:r>
            <a:r>
              <a:rPr lang="en-US" altLang="zh-TW" dirty="0" err="1"/>
              <a:t>i</a:t>
            </a:r>
            <a:r>
              <a:rPr lang="en-US" altLang="zh-TW" dirty="0"/>
              <a:t> − 1, j − 1) such that ω(P) ≤ α(</a:t>
            </a:r>
            <a:r>
              <a:rPr lang="en-US" altLang="zh-TW" dirty="0" err="1"/>
              <a:t>i</a:t>
            </a:r>
            <a:r>
              <a:rPr lang="en-US" altLang="zh-TW" dirty="0"/>
              <a:t>, j) and then appending T (</a:t>
            </a:r>
            <a:r>
              <a:rPr lang="en-US" altLang="zh-TW" dirty="0" err="1"/>
              <a:t>i</a:t>
            </a:r>
            <a:r>
              <a:rPr lang="en-US" altLang="zh-TW" dirty="0"/>
              <a:t>, j) to P .</a:t>
            </a:r>
          </a:p>
          <a:p>
            <a:r>
              <a:rPr lang="en-US" altLang="zh-TW" dirty="0"/>
              <a:t>Appending T (</a:t>
            </a:r>
            <a:r>
              <a:rPr lang="en-US" altLang="zh-TW" dirty="0" err="1"/>
              <a:t>i</a:t>
            </a:r>
            <a:r>
              <a:rPr lang="en-US" altLang="zh-TW" dirty="0"/>
              <a:t>, j) to every path P in L(</a:t>
            </a:r>
            <a:r>
              <a:rPr lang="en-US" altLang="zh-TW" dirty="0" err="1"/>
              <a:t>i</a:t>
            </a:r>
            <a:r>
              <a:rPr lang="en-US" altLang="zh-TW" dirty="0"/>
              <a:t> − 1, j − 1) satisfying α(</a:t>
            </a:r>
            <a:r>
              <a:rPr lang="en-US" altLang="zh-TW" dirty="0" err="1"/>
              <a:t>i</a:t>
            </a:r>
            <a:r>
              <a:rPr lang="en-US" altLang="zh-TW" dirty="0"/>
              <a:t>, j) &lt; ω(P) &lt; α(</a:t>
            </a:r>
            <a:r>
              <a:rPr lang="en-US" altLang="zh-TW" dirty="0" err="1"/>
              <a:t>i</a:t>
            </a:r>
            <a:r>
              <a:rPr lang="en-US" altLang="zh-TW" dirty="0"/>
              <a:t>, j) + c.</a:t>
            </a:r>
          </a:p>
          <a:p>
            <a:r>
              <a:rPr lang="en-US" altLang="zh-TW" dirty="0"/>
              <a:t> Adding the longest path among all paths in L(</a:t>
            </a:r>
            <a:r>
              <a:rPr lang="en-US" altLang="zh-TW" dirty="0" err="1"/>
              <a:t>i</a:t>
            </a:r>
            <a:r>
              <a:rPr lang="en-US" altLang="zh-TW" dirty="0"/>
              <a:t> − 1, j) ∪ L(</a:t>
            </a:r>
            <a:r>
              <a:rPr lang="en-US" altLang="zh-TW" dirty="0" err="1"/>
              <a:t>i</a:t>
            </a:r>
            <a:r>
              <a:rPr lang="en-US" altLang="zh-TW" dirty="0"/>
              <a:t>, j − 1) ∪ L (</a:t>
            </a:r>
            <a:r>
              <a:rPr lang="en-US" altLang="zh-TW" dirty="0" err="1"/>
              <a:t>i</a:t>
            </a:r>
            <a:r>
              <a:rPr lang="en-US" altLang="zh-TW" dirty="0"/>
              <a:t>, j)</a:t>
            </a:r>
          </a:p>
        </p:txBody>
      </p:sp>
      <p:pic>
        <p:nvPicPr>
          <p:cNvPr id="4" name="圖片 3" descr="一張含有 桌 的圖片&#10;&#10;自動產生的描述">
            <a:extLst>
              <a:ext uri="{FF2B5EF4-FFF2-40B4-BE49-F238E27FC236}">
                <a16:creationId xmlns:a16="http://schemas.microsoft.com/office/drawing/2014/main" id="{4D15E8F3-55FF-47A5-B9FB-29CAE7645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7869" y="2840736"/>
            <a:ext cx="3635213" cy="5746287"/>
          </a:xfrm>
          <a:prstGeom prst="rect">
            <a:avLst/>
          </a:prstGeom>
        </p:spPr>
      </p:pic>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592525189"/>
                  </p:ext>
                </p:extLst>
              </p:nvPr>
            </p:nvGraphicFramePr>
            <p:xfrm>
              <a:off x="3138362" y="3606139"/>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399751">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39975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5" name="表格 4">
                <a:extLst>
                  <a:ext uri="{FF2B5EF4-FFF2-40B4-BE49-F238E27FC236}">
                    <a16:creationId xmlns:a16="http://schemas.microsoft.com/office/drawing/2014/main" id="{B60E14A2-25B4-4783-B1E4-392B45C51FB6}"/>
                  </a:ext>
                </a:extLst>
              </p:cNvPr>
              <p:cNvGraphicFramePr>
                <a:graphicFrameLocks noGrp="1"/>
              </p:cNvGraphicFramePr>
              <p:nvPr>
                <p:extLst>
                  <p:ext uri="{D42A27DB-BD31-4B8C-83A1-F6EECF244321}">
                    <p14:modId xmlns:p14="http://schemas.microsoft.com/office/powerpoint/2010/main" val="592525189"/>
                  </p:ext>
                </p:extLst>
              </p:nvPr>
            </p:nvGraphicFramePr>
            <p:xfrm>
              <a:off x="3138362" y="3606139"/>
              <a:ext cx="3739998" cy="3200400"/>
            </p:xfrm>
            <a:graphic>
              <a:graphicData uri="http://schemas.openxmlformats.org/drawingml/2006/table">
                <a:tbl>
                  <a:tblPr firstRow="1" bandRow="1">
                    <a:tableStyleId>{2D5ABB26-0587-4C30-8999-92F81FD0307C}</a:tableStyleId>
                  </a:tblPr>
                  <a:tblGrid>
                    <a:gridCol w="623333">
                      <a:extLst>
                        <a:ext uri="{9D8B030D-6E8A-4147-A177-3AD203B41FA5}">
                          <a16:colId xmlns:a16="http://schemas.microsoft.com/office/drawing/2014/main" val="10963335"/>
                        </a:ext>
                      </a:extLst>
                    </a:gridCol>
                    <a:gridCol w="623333">
                      <a:extLst>
                        <a:ext uri="{9D8B030D-6E8A-4147-A177-3AD203B41FA5}">
                          <a16:colId xmlns:a16="http://schemas.microsoft.com/office/drawing/2014/main" val="3659367767"/>
                        </a:ext>
                      </a:extLst>
                    </a:gridCol>
                    <a:gridCol w="623333">
                      <a:extLst>
                        <a:ext uri="{9D8B030D-6E8A-4147-A177-3AD203B41FA5}">
                          <a16:colId xmlns:a16="http://schemas.microsoft.com/office/drawing/2014/main" val="2932173976"/>
                        </a:ext>
                      </a:extLst>
                    </a:gridCol>
                    <a:gridCol w="623333">
                      <a:extLst>
                        <a:ext uri="{9D8B030D-6E8A-4147-A177-3AD203B41FA5}">
                          <a16:colId xmlns:a16="http://schemas.microsoft.com/office/drawing/2014/main" val="3941137107"/>
                        </a:ext>
                      </a:extLst>
                    </a:gridCol>
                    <a:gridCol w="623333">
                      <a:extLst>
                        <a:ext uri="{9D8B030D-6E8A-4147-A177-3AD203B41FA5}">
                          <a16:colId xmlns:a16="http://schemas.microsoft.com/office/drawing/2014/main" val="101448731"/>
                        </a:ext>
                      </a:extLst>
                    </a:gridCol>
                    <a:gridCol w="623333">
                      <a:extLst>
                        <a:ext uri="{9D8B030D-6E8A-4147-A177-3AD203B41FA5}">
                          <a16:colId xmlns:a16="http://schemas.microsoft.com/office/drawing/2014/main" val="3367883009"/>
                        </a:ext>
                      </a:extLst>
                    </a:gridCol>
                  </a:tblGrid>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9029" r="-300000"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961" r="-202941"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98058" r="-100971"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02941" r="-1961" b="-632000"/>
                          </a:stretch>
                        </a:blipFill>
                      </a:tcPr>
                    </a:tc>
                    <a:extLst>
                      <a:ext uri="{0D108BD9-81ED-4DB2-BD59-A6C34878D82A}">
                        <a16:rowId xmlns:a16="http://schemas.microsoft.com/office/drawing/2014/main" val="1194138422"/>
                      </a:ext>
                    </a:extLst>
                  </a:tr>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0000" r="-499029" b="-432000"/>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6053" r="-499029" b="-326316"/>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01333" r="-499029" b="-230667"/>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01333" r="-499029" b="-13066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01333" r="-499029" b="-30667"/>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Tree>
    <p:extLst>
      <p:ext uri="{BB962C8B-B14F-4D97-AF65-F5344CB8AC3E}">
        <p14:creationId xmlns:p14="http://schemas.microsoft.com/office/powerpoint/2010/main" val="2927539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1538B0A4-4815-4C85-A846-5F39384CB22E}"/>
              </a:ext>
            </a:extLst>
          </p:cNvPr>
          <p:cNvSpPr>
            <a:spLocks noGrp="1"/>
          </p:cNvSpPr>
          <p:nvPr>
            <p:ph idx="1"/>
          </p:nvPr>
        </p:nvSpPr>
        <p:spPr>
          <a:xfrm>
            <a:off x="302941" y="197547"/>
            <a:ext cx="10515600" cy="4351338"/>
          </a:xfrm>
        </p:spPr>
        <p:txBody>
          <a:bodyPr>
            <a:normAutofit/>
          </a:bodyPr>
          <a:lstStyle/>
          <a:p>
            <a:pPr marL="0" indent="0">
              <a:buNone/>
            </a:pPr>
            <a:r>
              <a:rPr lang="en-US" altLang="zh-TW" sz="2400" dirty="0"/>
              <a:t>Definition 1. </a:t>
            </a:r>
          </a:p>
          <a:p>
            <a:pPr marL="0" indent="0">
              <a:buNone/>
            </a:pPr>
            <a:r>
              <a:rPr lang="en-US" altLang="zh-TW" sz="2400" dirty="0"/>
              <a:t>Let P and Q be two almost increasing paths in a sub-table </a:t>
            </a:r>
            <a:r>
              <a:rPr lang="en-US" altLang="zh-TW" sz="2400" dirty="0" err="1"/>
              <a:t>Ti,j</a:t>
            </a:r>
            <a:r>
              <a:rPr lang="en-US" altLang="zh-TW" sz="2400" dirty="0"/>
              <a:t> . </a:t>
            </a:r>
          </a:p>
          <a:p>
            <a:pPr marL="0" indent="0">
              <a:buNone/>
            </a:pPr>
            <a:r>
              <a:rPr lang="en-US" altLang="zh-TW" sz="2400" dirty="0"/>
              <a:t>We say that P dominates Q if and only if ω(P) ≤ ω(Q ) and |P| &gt; |Q |</a:t>
            </a:r>
          </a:p>
          <a:p>
            <a:pPr marL="0" indent="0">
              <a:buNone/>
            </a:pPr>
            <a:r>
              <a:rPr lang="en-US" altLang="zh-TW" sz="2400" dirty="0"/>
              <a:t> </a:t>
            </a:r>
          </a:p>
          <a:p>
            <a:pPr marL="0" indent="0">
              <a:buNone/>
            </a:pPr>
            <a:r>
              <a:rPr lang="en-US" altLang="zh-TW" sz="2400" dirty="0"/>
              <a:t>e.g., </a:t>
            </a:r>
          </a:p>
          <a:p>
            <a:pPr marL="0" indent="0">
              <a:buNone/>
            </a:pPr>
            <a:r>
              <a:rPr lang="en-US" altLang="zh-TW" sz="2400" dirty="0"/>
              <a:t>Simplifying L(4, 3) =</a:t>
            </a:r>
            <a:r>
              <a:rPr lang="zh-TW" altLang="en-US" sz="2400" dirty="0"/>
              <a:t>（</a:t>
            </a:r>
            <a:r>
              <a:rPr lang="en-US" altLang="zh-TW" sz="2400" dirty="0"/>
              <a:t>u</a:t>
            </a:r>
            <a:r>
              <a:rPr lang="zh-TW" altLang="en-US" sz="2400" dirty="0"/>
              <a:t>，</a:t>
            </a:r>
            <a:r>
              <a:rPr lang="en-US" altLang="zh-TW" sz="2400" dirty="0"/>
              <a:t>v</a:t>
            </a:r>
            <a:r>
              <a:rPr lang="zh-TW" altLang="en-US" sz="2400" dirty="0"/>
              <a:t>，</a:t>
            </a:r>
            <a:r>
              <a:rPr lang="en-US" altLang="zh-TW" sz="2400" dirty="0"/>
              <a:t>| L</a:t>
            </a:r>
            <a:r>
              <a:rPr lang="zh-TW" altLang="en-US" sz="2400" dirty="0"/>
              <a:t>（</a:t>
            </a:r>
            <a:r>
              <a:rPr lang="en-US" altLang="zh-TW" sz="2400" dirty="0"/>
              <a:t>u</a:t>
            </a:r>
            <a:r>
              <a:rPr lang="zh-TW" altLang="en-US" sz="2400" dirty="0"/>
              <a:t>，</a:t>
            </a:r>
            <a:r>
              <a:rPr lang="en-US" altLang="zh-TW" sz="2400" dirty="0"/>
              <a:t>v</a:t>
            </a:r>
            <a:r>
              <a:rPr lang="zh-TW" altLang="en-US" sz="2400" dirty="0"/>
              <a:t>）</a:t>
            </a:r>
            <a:r>
              <a:rPr lang="en-US" altLang="zh-TW" sz="2400" dirty="0"/>
              <a:t>|</a:t>
            </a:r>
            <a:r>
              <a:rPr lang="zh-TW" altLang="en-US" sz="2400" dirty="0"/>
              <a:t>）</a:t>
            </a:r>
            <a:endParaRPr lang="en-US" altLang="zh-TW" sz="2400" dirty="0"/>
          </a:p>
          <a:p>
            <a:pPr marL="0" indent="0">
              <a:buNone/>
            </a:pPr>
            <a:r>
              <a:rPr lang="en-US" altLang="zh-TW" sz="2400" dirty="0"/>
              <a:t>Satisfied: α(u, v) &lt; α(u’, v’) if and only if k &lt; k’ </a:t>
            </a:r>
          </a:p>
          <a:p>
            <a:pPr marL="0" indent="0">
              <a:buNone/>
            </a:pPr>
            <a:endParaRPr lang="zh-TW" altLang="en-US" sz="2400" dirty="0"/>
          </a:p>
          <a:p>
            <a:endParaRPr lang="zh-TW" altLang="en-US" sz="2400" dirty="0"/>
          </a:p>
        </p:txBody>
      </p:sp>
      <p:pic>
        <p:nvPicPr>
          <p:cNvPr id="7" name="圖片 6" descr="一張含有 桌 的圖片&#10;&#10;自動產生的描述">
            <a:extLst>
              <a:ext uri="{FF2B5EF4-FFF2-40B4-BE49-F238E27FC236}">
                <a16:creationId xmlns:a16="http://schemas.microsoft.com/office/drawing/2014/main" id="{E9D0E10A-0400-438F-A47F-14A58FF99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2187" y="87188"/>
            <a:ext cx="3078342" cy="4866024"/>
          </a:xfrm>
          <a:prstGeom prst="rect">
            <a:avLst/>
          </a:prstGeom>
        </p:spPr>
      </p:pic>
      <p:pic>
        <p:nvPicPr>
          <p:cNvPr id="9" name="圖片 8" descr="一張含有 桌 的圖片&#10;&#10;自動產生的描述">
            <a:extLst>
              <a:ext uri="{FF2B5EF4-FFF2-40B4-BE49-F238E27FC236}">
                <a16:creationId xmlns:a16="http://schemas.microsoft.com/office/drawing/2014/main" id="{62BDE299-09D8-41F8-BE0B-4FB9C1E674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4146" y="3473716"/>
            <a:ext cx="6483021" cy="3186738"/>
          </a:xfrm>
          <a:prstGeom prst="rect">
            <a:avLst/>
          </a:prstGeom>
        </p:spPr>
      </p:pic>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B7FEABA1-2E5F-4969-ADA9-F5EC9175B2B6}"/>
                  </a:ext>
                </a:extLst>
              </p:cNvPr>
              <p:cNvGraphicFramePr>
                <a:graphicFrameLocks noGrp="1"/>
              </p:cNvGraphicFramePr>
              <p:nvPr>
                <p:extLst>
                  <p:ext uri="{D42A27DB-BD31-4B8C-83A1-F6EECF244321}">
                    <p14:modId xmlns:p14="http://schemas.microsoft.com/office/powerpoint/2010/main" val="1767389495"/>
                  </p:ext>
                </p:extLst>
              </p:nvPr>
            </p:nvGraphicFramePr>
            <p:xfrm>
              <a:off x="464634" y="3541674"/>
              <a:ext cx="2635404" cy="3200400"/>
            </p:xfrm>
            <a:graphic>
              <a:graphicData uri="http://schemas.openxmlformats.org/drawingml/2006/table">
                <a:tbl>
                  <a:tblPr firstRow="1" bandRow="1">
                    <a:tableStyleId>{2D5ABB26-0587-4C30-8999-92F81FD0307C}</a:tableStyleId>
                  </a:tblPr>
                  <a:tblGrid>
                    <a:gridCol w="439234">
                      <a:extLst>
                        <a:ext uri="{9D8B030D-6E8A-4147-A177-3AD203B41FA5}">
                          <a16:colId xmlns:a16="http://schemas.microsoft.com/office/drawing/2014/main" val="10963335"/>
                        </a:ext>
                      </a:extLst>
                    </a:gridCol>
                    <a:gridCol w="439234">
                      <a:extLst>
                        <a:ext uri="{9D8B030D-6E8A-4147-A177-3AD203B41FA5}">
                          <a16:colId xmlns:a16="http://schemas.microsoft.com/office/drawing/2014/main" val="3659367767"/>
                        </a:ext>
                      </a:extLst>
                    </a:gridCol>
                    <a:gridCol w="439234">
                      <a:extLst>
                        <a:ext uri="{9D8B030D-6E8A-4147-A177-3AD203B41FA5}">
                          <a16:colId xmlns:a16="http://schemas.microsoft.com/office/drawing/2014/main" val="2932173976"/>
                        </a:ext>
                      </a:extLst>
                    </a:gridCol>
                    <a:gridCol w="439234">
                      <a:extLst>
                        <a:ext uri="{9D8B030D-6E8A-4147-A177-3AD203B41FA5}">
                          <a16:colId xmlns:a16="http://schemas.microsoft.com/office/drawing/2014/main" val="3941137107"/>
                        </a:ext>
                      </a:extLst>
                    </a:gridCol>
                    <a:gridCol w="439234">
                      <a:extLst>
                        <a:ext uri="{9D8B030D-6E8A-4147-A177-3AD203B41FA5}">
                          <a16:colId xmlns:a16="http://schemas.microsoft.com/office/drawing/2014/main" val="101448731"/>
                        </a:ext>
                      </a:extLst>
                    </a:gridCol>
                    <a:gridCol w="439234">
                      <a:extLst>
                        <a:ext uri="{9D8B030D-6E8A-4147-A177-3AD203B41FA5}">
                          <a16:colId xmlns:a16="http://schemas.microsoft.com/office/drawing/2014/main" val="3367883009"/>
                        </a:ext>
                      </a:extLst>
                    </a:gridCol>
                  </a:tblGrid>
                  <a:tr h="435489">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435489">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3548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3548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3548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3548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3548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14" name="表格 13">
                <a:extLst>
                  <a:ext uri="{FF2B5EF4-FFF2-40B4-BE49-F238E27FC236}">
                    <a16:creationId xmlns:a16="http://schemas.microsoft.com/office/drawing/2014/main" id="{B7FEABA1-2E5F-4969-ADA9-F5EC9175B2B6}"/>
                  </a:ext>
                </a:extLst>
              </p:cNvPr>
              <p:cNvGraphicFramePr>
                <a:graphicFrameLocks noGrp="1"/>
              </p:cNvGraphicFramePr>
              <p:nvPr>
                <p:extLst>
                  <p:ext uri="{D42A27DB-BD31-4B8C-83A1-F6EECF244321}">
                    <p14:modId xmlns:p14="http://schemas.microsoft.com/office/powerpoint/2010/main" val="1767389495"/>
                  </p:ext>
                </p:extLst>
              </p:nvPr>
            </p:nvGraphicFramePr>
            <p:xfrm>
              <a:off x="464634" y="3541674"/>
              <a:ext cx="2635404" cy="3200400"/>
            </p:xfrm>
            <a:graphic>
              <a:graphicData uri="http://schemas.openxmlformats.org/drawingml/2006/table">
                <a:tbl>
                  <a:tblPr firstRow="1" bandRow="1">
                    <a:tableStyleId>{2D5ABB26-0587-4C30-8999-92F81FD0307C}</a:tableStyleId>
                  </a:tblPr>
                  <a:tblGrid>
                    <a:gridCol w="439234">
                      <a:extLst>
                        <a:ext uri="{9D8B030D-6E8A-4147-A177-3AD203B41FA5}">
                          <a16:colId xmlns:a16="http://schemas.microsoft.com/office/drawing/2014/main" val="10963335"/>
                        </a:ext>
                      </a:extLst>
                    </a:gridCol>
                    <a:gridCol w="439234">
                      <a:extLst>
                        <a:ext uri="{9D8B030D-6E8A-4147-A177-3AD203B41FA5}">
                          <a16:colId xmlns:a16="http://schemas.microsoft.com/office/drawing/2014/main" val="3659367767"/>
                        </a:ext>
                      </a:extLst>
                    </a:gridCol>
                    <a:gridCol w="439234">
                      <a:extLst>
                        <a:ext uri="{9D8B030D-6E8A-4147-A177-3AD203B41FA5}">
                          <a16:colId xmlns:a16="http://schemas.microsoft.com/office/drawing/2014/main" val="2932173976"/>
                        </a:ext>
                      </a:extLst>
                    </a:gridCol>
                    <a:gridCol w="439234">
                      <a:extLst>
                        <a:ext uri="{9D8B030D-6E8A-4147-A177-3AD203B41FA5}">
                          <a16:colId xmlns:a16="http://schemas.microsoft.com/office/drawing/2014/main" val="3941137107"/>
                        </a:ext>
                      </a:extLst>
                    </a:gridCol>
                    <a:gridCol w="439234">
                      <a:extLst>
                        <a:ext uri="{9D8B030D-6E8A-4147-A177-3AD203B41FA5}">
                          <a16:colId xmlns:a16="http://schemas.microsoft.com/office/drawing/2014/main" val="101448731"/>
                        </a:ext>
                      </a:extLst>
                    </a:gridCol>
                    <a:gridCol w="439234">
                      <a:extLst>
                        <a:ext uri="{9D8B030D-6E8A-4147-A177-3AD203B41FA5}">
                          <a16:colId xmlns:a16="http://schemas.microsoft.com/office/drawing/2014/main" val="3367883009"/>
                        </a:ext>
                      </a:extLst>
                    </a:gridCol>
                  </a:tblGrid>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97260" r="-298630"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01389" r="-202778"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401389" r="-102778" b="-632000"/>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501389" r="-2778" b="-632000"/>
                          </a:stretch>
                        </a:blipFill>
                      </a:tcPr>
                    </a:tc>
                    <a:extLst>
                      <a:ext uri="{0D108BD9-81ED-4DB2-BD59-A6C34878D82A}">
                        <a16:rowId xmlns:a16="http://schemas.microsoft.com/office/drawing/2014/main" val="1194138422"/>
                      </a:ext>
                    </a:extLst>
                  </a:tr>
                  <a:tr h="457200">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200000" r="-504167" b="-432000"/>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296053" r="-504167" b="-326316"/>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401333" r="-504167" b="-230667"/>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501333" r="-504167" b="-130667"/>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57200">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601333" r="-504167" b="-30667"/>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Tree>
    <p:extLst>
      <p:ext uri="{BB962C8B-B14F-4D97-AF65-F5344CB8AC3E}">
        <p14:creationId xmlns:p14="http://schemas.microsoft.com/office/powerpoint/2010/main" val="285085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9F526-AEFE-4F6B-820D-1605F456D32E}"/>
              </a:ext>
            </a:extLst>
          </p:cNvPr>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10" name="內容版面配置區 9">
                <a:extLst>
                  <a:ext uri="{FF2B5EF4-FFF2-40B4-BE49-F238E27FC236}">
                    <a16:creationId xmlns:a16="http://schemas.microsoft.com/office/drawing/2014/main" id="{621C4820-5438-41FE-98ED-FE204FAB1253}"/>
                  </a:ext>
                </a:extLst>
              </p:cNvPr>
              <p:cNvSpPr>
                <a:spLocks noGrp="1"/>
              </p:cNvSpPr>
              <p:nvPr>
                <p:ph idx="1"/>
              </p:nvPr>
            </p:nvSpPr>
            <p:spPr/>
            <p:txBody>
              <a:bodyPr/>
              <a:lstStyle/>
              <a:p>
                <a:r>
                  <a:rPr lang="el-GR" altLang="zh-TW" sz="2400" b="0" i="0" dirty="0">
                    <a:solidFill>
                      <a:srgbClr val="202122"/>
                    </a:solidFill>
                    <a:effectLst/>
                    <a:latin typeface="Arial" panose="020B0604020202020204" pitchFamily="34" charset="0"/>
                  </a:rPr>
                  <a:t>β</a:t>
                </a:r>
                <a:r>
                  <a:rPr lang="zh-TW" altLang="en-US" sz="2400" dirty="0">
                    <a:solidFill>
                      <a:srgbClr val="202122"/>
                    </a:solidFill>
                    <a:latin typeface="Arial" panose="020B0604020202020204" pitchFamily="34" charset="0"/>
                  </a:rPr>
                  <a:t>  </a:t>
                </a:r>
                <a:r>
                  <a:rPr lang="en-US" altLang="zh-TW" sz="2400" dirty="0">
                    <a:solidFill>
                      <a:srgbClr val="202122"/>
                    </a:solidFill>
                    <a:latin typeface="Arial" panose="020B0604020202020204" pitchFamily="34" charset="0"/>
                  </a:rPr>
                  <a:t>(</a:t>
                </a:r>
                <a14:m>
                  <m:oMath xmlns:m="http://schemas.openxmlformats.org/officeDocument/2006/math">
                    <m:r>
                      <a:rPr lang="zh-TW" altLang="en-US" sz="2400" i="1" dirty="0">
                        <a:solidFill>
                          <a:srgbClr val="202122"/>
                        </a:solidFill>
                        <a:latin typeface="Cambria Math" panose="02040503050406030204" pitchFamily="18" charset="0"/>
                      </a:rPr>
                      <m:t> </m:t>
                    </m:r>
                    <m:sSubSup>
                      <m:sSubSupPr>
                        <m:ctrlPr>
                          <a:rPr lang="en-US" altLang="zh-TW" sz="2400" b="0" i="1" smtClean="0">
                            <a:solidFill>
                              <a:srgbClr val="202122"/>
                            </a:solidFill>
                            <a:effectLst/>
                            <a:latin typeface="Cambria Math" panose="02040503050406030204" pitchFamily="18" charset="0"/>
                          </a:rPr>
                        </m:ctrlPr>
                      </m:sSubSupPr>
                      <m:e>
                        <m:r>
                          <m:rPr>
                            <m:sty m:val="p"/>
                          </m:rPr>
                          <a:rPr lang="en-US" altLang="zh-TW" sz="2400" i="1">
                            <a:solidFill>
                              <a:srgbClr val="202122"/>
                            </a:solidFill>
                            <a:latin typeface="Cambria Math" panose="02040503050406030204" pitchFamily="18" charset="0"/>
                          </a:rPr>
                          <m:t>L</m:t>
                        </m:r>
                        <m:r>
                          <m:rPr>
                            <m:sty m:val="p"/>
                          </m:rPr>
                          <a:rPr lang="en-US" altLang="zh-TW" sz="2400" i="1" smtClean="0">
                            <a:solidFill>
                              <a:srgbClr val="202122"/>
                            </a:solidFill>
                            <a:latin typeface="Cambria Math" panose="02040503050406030204" pitchFamily="18" charset="0"/>
                          </a:rPr>
                          <m:t>P</m:t>
                        </m:r>
                      </m:e>
                      <m:sub>
                        <m:r>
                          <a:rPr lang="en-US" altLang="zh-TW" sz="2400" i="1">
                            <a:solidFill>
                              <a:srgbClr val="202122"/>
                            </a:solidFill>
                            <a:latin typeface="Cambria Math" panose="02040503050406030204" pitchFamily="18" charset="0"/>
                          </a:rPr>
                          <m:t>4</m:t>
                        </m:r>
                      </m:sub>
                      <m:sup>
                        <m:r>
                          <a:rPr lang="en-US" altLang="zh-TW" sz="2400" i="1">
                            <a:solidFill>
                              <a:srgbClr val="202122"/>
                            </a:solidFill>
                            <a:latin typeface="Cambria Math" panose="02040503050406030204" pitchFamily="18" charset="0"/>
                          </a:rPr>
                          <m:t>5</m:t>
                        </m:r>
                      </m:sup>
                    </m:sSubSup>
                  </m:oMath>
                </a14:m>
                <a:r>
                  <a:rPr lang="en-US" altLang="zh-TW" sz="2400" dirty="0"/>
                  <a:t>(3,1)</a:t>
                </a:r>
                <a:r>
                  <a:rPr lang="zh-TW" altLang="en-US" sz="2400" dirty="0"/>
                  <a:t> </a:t>
                </a:r>
                <a:r>
                  <a:rPr lang="en-US" altLang="zh-TW" sz="2400" dirty="0"/>
                  <a:t>) = &lt;1&gt;  </a:t>
                </a:r>
                <a:r>
                  <a:rPr lang="zh-TW" altLang="en-US" sz="2400" dirty="0"/>
                  <a:t>        </a:t>
                </a:r>
                <a:r>
                  <a:rPr lang="en-US" altLang="zh-TW" sz="2400" dirty="0"/>
                  <a:t>		</a:t>
                </a:r>
                <a:r>
                  <a:rPr lang="zh-TW" altLang="en-US" sz="2400" dirty="0"/>
                  <a:t> </a:t>
                </a:r>
                <a:r>
                  <a:rPr lang="en-US" altLang="zh-TW" sz="2400" dirty="0"/>
                  <a:t>(3,1,1)</a:t>
                </a:r>
              </a:p>
              <a:p>
                <a:r>
                  <a:rPr lang="el-GR" altLang="zh-TW" sz="2400" dirty="0">
                    <a:solidFill>
                      <a:srgbClr val="202122"/>
                    </a:solidFill>
                    <a:latin typeface="Arial" panose="020B0604020202020204" pitchFamily="34" charset="0"/>
                  </a:rPr>
                  <a:t>β</a:t>
                </a:r>
                <a:r>
                  <a:rPr lang="zh-TW" altLang="en-US" sz="2400" dirty="0">
                    <a:solidFill>
                      <a:srgbClr val="202122"/>
                    </a:solidFill>
                    <a:latin typeface="Arial" panose="020B0604020202020204" pitchFamily="34" charset="0"/>
                  </a:rPr>
                  <a:t>  </a:t>
                </a:r>
                <a:r>
                  <a:rPr lang="en-US" altLang="zh-TW" sz="2400" dirty="0">
                    <a:solidFill>
                      <a:srgbClr val="202122"/>
                    </a:solidFill>
                    <a:latin typeface="Arial" panose="020B0604020202020204" pitchFamily="34" charset="0"/>
                  </a:rPr>
                  <a:t>(</a:t>
                </a:r>
                <a14:m>
                  <m:oMath xmlns:m="http://schemas.openxmlformats.org/officeDocument/2006/math">
                    <m:r>
                      <a:rPr lang="zh-TW" altLang="en-US" sz="2400" i="1" dirty="0">
                        <a:solidFill>
                          <a:srgbClr val="202122"/>
                        </a:solidFill>
                        <a:latin typeface="Cambria Math" panose="02040503050406030204" pitchFamily="18" charset="0"/>
                      </a:rPr>
                      <m:t> </m:t>
                    </m:r>
                    <m:sSubSup>
                      <m:sSubSupPr>
                        <m:ctrlPr>
                          <a:rPr lang="en-US" altLang="zh-TW" sz="2400" i="1">
                            <a:solidFill>
                              <a:srgbClr val="202122"/>
                            </a:solidFill>
                            <a:latin typeface="Cambria Math" panose="02040503050406030204" pitchFamily="18" charset="0"/>
                          </a:rPr>
                        </m:ctrlPr>
                      </m:sSubSupPr>
                      <m:e>
                        <m:r>
                          <m:rPr>
                            <m:sty m:val="p"/>
                          </m:rPr>
                          <a:rPr lang="en-US" altLang="zh-TW" sz="2400" i="1">
                            <a:solidFill>
                              <a:srgbClr val="202122"/>
                            </a:solidFill>
                            <a:latin typeface="Cambria Math" panose="02040503050406030204" pitchFamily="18" charset="0"/>
                          </a:rPr>
                          <m:t>LP</m:t>
                        </m:r>
                      </m:e>
                      <m:sub>
                        <m:r>
                          <a:rPr lang="en-US" altLang="zh-TW" sz="2400" i="1">
                            <a:solidFill>
                              <a:srgbClr val="202122"/>
                            </a:solidFill>
                            <a:latin typeface="Cambria Math" panose="02040503050406030204" pitchFamily="18" charset="0"/>
                          </a:rPr>
                          <m:t>4</m:t>
                        </m:r>
                      </m:sub>
                      <m:sup>
                        <m:r>
                          <a:rPr lang="en-US" altLang="zh-TW" sz="2400" i="1">
                            <a:solidFill>
                              <a:srgbClr val="202122"/>
                            </a:solidFill>
                            <a:latin typeface="Cambria Math" panose="02040503050406030204" pitchFamily="18" charset="0"/>
                          </a:rPr>
                          <m:t>5</m:t>
                        </m:r>
                      </m:sup>
                    </m:sSubSup>
                  </m:oMath>
                </a14:m>
                <a:r>
                  <a:rPr lang="en-US" altLang="zh-TW" sz="2400" dirty="0"/>
                  <a:t>(5,4)</a:t>
                </a:r>
                <a:r>
                  <a:rPr lang="zh-TW" altLang="en-US" sz="2400" dirty="0"/>
                  <a:t> </a:t>
                </a:r>
                <a:r>
                  <a:rPr lang="en-US" altLang="zh-TW" sz="2400" dirty="0"/>
                  <a:t>) = &lt;1,2&gt;   		</a:t>
                </a:r>
                <a:r>
                  <a:rPr lang="zh-TW" altLang="en-US" sz="2400" dirty="0"/>
                  <a:t> </a:t>
                </a:r>
                <a:r>
                  <a:rPr lang="en-US" altLang="zh-TW" sz="2400" dirty="0"/>
                  <a:t>(5,4,2)</a:t>
                </a:r>
              </a:p>
              <a:p>
                <a:r>
                  <a:rPr lang="el-GR" altLang="zh-TW" sz="2400" dirty="0">
                    <a:solidFill>
                      <a:srgbClr val="202122"/>
                    </a:solidFill>
                    <a:latin typeface="Arial" panose="020B0604020202020204" pitchFamily="34" charset="0"/>
                  </a:rPr>
                  <a:t>β</a:t>
                </a:r>
                <a:r>
                  <a:rPr lang="zh-TW" altLang="en-US" sz="2400" dirty="0">
                    <a:solidFill>
                      <a:srgbClr val="202122"/>
                    </a:solidFill>
                    <a:latin typeface="Arial" panose="020B0604020202020204" pitchFamily="34" charset="0"/>
                  </a:rPr>
                  <a:t>  </a:t>
                </a:r>
                <a:r>
                  <a:rPr lang="en-US" altLang="zh-TW" sz="2400" dirty="0">
                    <a:solidFill>
                      <a:srgbClr val="202122"/>
                    </a:solidFill>
                    <a:latin typeface="Arial" panose="020B0604020202020204" pitchFamily="34" charset="0"/>
                  </a:rPr>
                  <a:t>(</a:t>
                </a:r>
                <a14:m>
                  <m:oMath xmlns:m="http://schemas.openxmlformats.org/officeDocument/2006/math">
                    <m:r>
                      <a:rPr lang="zh-TW" altLang="en-US" sz="2400" i="1" dirty="0">
                        <a:solidFill>
                          <a:srgbClr val="202122"/>
                        </a:solidFill>
                        <a:latin typeface="Cambria Math" panose="02040503050406030204" pitchFamily="18" charset="0"/>
                      </a:rPr>
                      <m:t> </m:t>
                    </m:r>
                    <m:sSubSup>
                      <m:sSubSupPr>
                        <m:ctrlPr>
                          <a:rPr lang="en-US" altLang="zh-TW" sz="2400" i="1">
                            <a:solidFill>
                              <a:srgbClr val="202122"/>
                            </a:solidFill>
                            <a:latin typeface="Cambria Math" panose="02040503050406030204" pitchFamily="18" charset="0"/>
                          </a:rPr>
                        </m:ctrlPr>
                      </m:sSubSupPr>
                      <m:e>
                        <m:r>
                          <m:rPr>
                            <m:sty m:val="p"/>
                          </m:rPr>
                          <a:rPr lang="en-US" altLang="zh-TW" sz="2400" i="1">
                            <a:solidFill>
                              <a:srgbClr val="202122"/>
                            </a:solidFill>
                            <a:latin typeface="Cambria Math" panose="02040503050406030204" pitchFamily="18" charset="0"/>
                          </a:rPr>
                          <m:t>LP</m:t>
                        </m:r>
                      </m:e>
                      <m:sub>
                        <m:r>
                          <a:rPr lang="en-US" altLang="zh-TW" sz="2400" i="1">
                            <a:solidFill>
                              <a:srgbClr val="202122"/>
                            </a:solidFill>
                            <a:latin typeface="Cambria Math" panose="02040503050406030204" pitchFamily="18" charset="0"/>
                          </a:rPr>
                          <m:t>4</m:t>
                        </m:r>
                      </m:sub>
                      <m:sup>
                        <m:r>
                          <a:rPr lang="en-US" altLang="zh-TW" sz="2400" i="1">
                            <a:solidFill>
                              <a:srgbClr val="202122"/>
                            </a:solidFill>
                            <a:latin typeface="Cambria Math" panose="02040503050406030204" pitchFamily="18" charset="0"/>
                          </a:rPr>
                          <m:t>5</m:t>
                        </m:r>
                      </m:sup>
                    </m:sSubSup>
                  </m:oMath>
                </a14:m>
                <a:r>
                  <a:rPr lang="en-US" altLang="zh-TW" sz="2400" dirty="0"/>
                  <a:t>(4,2)</a:t>
                </a:r>
                <a:r>
                  <a:rPr lang="zh-TW" altLang="en-US" sz="2400" dirty="0"/>
                  <a:t> </a:t>
                </a:r>
                <a:r>
                  <a:rPr lang="en-US" altLang="zh-TW" sz="2400" dirty="0"/>
                  <a:t>) = &lt;1,3,2&gt;  		</a:t>
                </a:r>
                <a:r>
                  <a:rPr lang="zh-TW" altLang="en-US" sz="2400" dirty="0"/>
                  <a:t> </a:t>
                </a:r>
                <a:r>
                  <a:rPr lang="en-US" altLang="zh-TW" sz="2400" dirty="0"/>
                  <a:t>(4,2,3)</a:t>
                </a:r>
                <a:endParaRPr lang="zh-TW" altLang="en-US" sz="2400" dirty="0"/>
              </a:p>
              <a:p>
                <a:endParaRPr lang="zh-TW" altLang="en-US" dirty="0"/>
              </a:p>
              <a:p>
                <a:endParaRPr lang="zh-TW" altLang="en-US" dirty="0"/>
              </a:p>
            </p:txBody>
          </p:sp>
        </mc:Choice>
        <mc:Fallback xmlns="">
          <p:sp>
            <p:nvSpPr>
              <p:cNvPr id="10" name="內容版面配置區 9">
                <a:extLst>
                  <a:ext uri="{FF2B5EF4-FFF2-40B4-BE49-F238E27FC236}">
                    <a16:creationId xmlns:a16="http://schemas.microsoft.com/office/drawing/2014/main" id="{621C4820-5438-41FE-98ED-FE204FAB1253}"/>
                  </a:ext>
                </a:extLst>
              </p:cNvPr>
              <p:cNvSpPr>
                <a:spLocks noGrp="1" noRot="1" noChangeAspect="1" noMove="1" noResize="1" noEditPoints="1" noAdjustHandles="1" noChangeArrowheads="1" noChangeShapeType="1" noTextEdit="1"/>
              </p:cNvSpPr>
              <p:nvPr>
                <p:ph idx="1"/>
              </p:nvPr>
            </p:nvSpPr>
            <p:spPr>
              <a:blipFill>
                <a:blip r:embed="rId2"/>
                <a:stretch>
                  <a:fillRect l="-812" t="-1681"/>
                </a:stretch>
              </a:blipFill>
            </p:spPr>
            <p:txBody>
              <a:bodyPr/>
              <a:lstStyle/>
              <a:p>
                <a:r>
                  <a:rPr lang="zh-TW" altLang="en-US">
                    <a:noFill/>
                  </a:rPr>
                  <a:t> </a:t>
                </a:r>
              </a:p>
            </p:txBody>
          </p:sp>
        </mc:Fallback>
      </mc:AlternateContent>
      <p:pic>
        <p:nvPicPr>
          <p:cNvPr id="11" name="圖片 10" descr="一張含有 桌 的圖片&#10;&#10;自動產生的描述">
            <a:extLst>
              <a:ext uri="{FF2B5EF4-FFF2-40B4-BE49-F238E27FC236}">
                <a16:creationId xmlns:a16="http://schemas.microsoft.com/office/drawing/2014/main" id="{4EABF8A7-5291-4738-91BB-539910EA5C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0043" y="0"/>
            <a:ext cx="4431957" cy="7005723"/>
          </a:xfrm>
          <a:prstGeom prst="rect">
            <a:avLst/>
          </a:prstGeom>
        </p:spPr>
      </p:pic>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5D646099-1BDB-4EF5-B9A7-0D7261B55367}"/>
                  </a:ext>
                </a:extLst>
              </p:cNvPr>
              <p:cNvGraphicFramePr>
                <a:graphicFrameLocks noGrp="1"/>
              </p:cNvGraphicFramePr>
              <p:nvPr>
                <p:extLst>
                  <p:ext uri="{D42A27DB-BD31-4B8C-83A1-F6EECF244321}">
                    <p14:modId xmlns:p14="http://schemas.microsoft.com/office/powerpoint/2010/main" val="1571660956"/>
                  </p:ext>
                </p:extLst>
              </p:nvPr>
            </p:nvGraphicFramePr>
            <p:xfrm>
              <a:off x="4133088" y="3429000"/>
              <a:ext cx="3480444" cy="3252928"/>
            </p:xfrm>
            <a:graphic>
              <a:graphicData uri="http://schemas.openxmlformats.org/drawingml/2006/table">
                <a:tbl>
                  <a:tblPr firstRow="1" bandRow="1">
                    <a:tableStyleId>{2D5ABB26-0587-4C30-8999-92F81FD0307C}</a:tableStyleId>
                  </a:tblPr>
                  <a:tblGrid>
                    <a:gridCol w="580074">
                      <a:extLst>
                        <a:ext uri="{9D8B030D-6E8A-4147-A177-3AD203B41FA5}">
                          <a16:colId xmlns:a16="http://schemas.microsoft.com/office/drawing/2014/main" val="10963335"/>
                        </a:ext>
                      </a:extLst>
                    </a:gridCol>
                    <a:gridCol w="580074">
                      <a:extLst>
                        <a:ext uri="{9D8B030D-6E8A-4147-A177-3AD203B41FA5}">
                          <a16:colId xmlns:a16="http://schemas.microsoft.com/office/drawing/2014/main" val="3659367767"/>
                        </a:ext>
                      </a:extLst>
                    </a:gridCol>
                    <a:gridCol w="580074">
                      <a:extLst>
                        <a:ext uri="{9D8B030D-6E8A-4147-A177-3AD203B41FA5}">
                          <a16:colId xmlns:a16="http://schemas.microsoft.com/office/drawing/2014/main" val="2932173976"/>
                        </a:ext>
                      </a:extLst>
                    </a:gridCol>
                    <a:gridCol w="580074">
                      <a:extLst>
                        <a:ext uri="{9D8B030D-6E8A-4147-A177-3AD203B41FA5}">
                          <a16:colId xmlns:a16="http://schemas.microsoft.com/office/drawing/2014/main" val="3941137107"/>
                        </a:ext>
                      </a:extLst>
                    </a:gridCol>
                    <a:gridCol w="580074">
                      <a:extLst>
                        <a:ext uri="{9D8B030D-6E8A-4147-A177-3AD203B41FA5}">
                          <a16:colId xmlns:a16="http://schemas.microsoft.com/office/drawing/2014/main" val="101448731"/>
                        </a:ext>
                      </a:extLst>
                    </a:gridCol>
                    <a:gridCol w="580074">
                      <a:extLst>
                        <a:ext uri="{9D8B030D-6E8A-4147-A177-3AD203B41FA5}">
                          <a16:colId xmlns:a16="http://schemas.microsoft.com/office/drawing/2014/main" val="3367883009"/>
                        </a:ext>
                      </a:extLst>
                    </a:gridCol>
                  </a:tblGrid>
                  <a:tr h="464704">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4138422"/>
                      </a:ext>
                    </a:extLst>
                  </a:tr>
                  <a:tr h="464704">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64704">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1</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64704">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2</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64704">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3</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64704">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4</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64704">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5</m:t>
                                    </m:r>
                                  </m:sub>
                                </m:sSub>
                              </m:oMath>
                            </m:oMathPara>
                          </a14:m>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Choice>
        <mc:Fallback xmlns="">
          <p:graphicFrame>
            <p:nvGraphicFramePr>
              <p:cNvPr id="12" name="表格 11">
                <a:extLst>
                  <a:ext uri="{FF2B5EF4-FFF2-40B4-BE49-F238E27FC236}">
                    <a16:creationId xmlns:a16="http://schemas.microsoft.com/office/drawing/2014/main" id="{5D646099-1BDB-4EF5-B9A7-0D7261B55367}"/>
                  </a:ext>
                </a:extLst>
              </p:cNvPr>
              <p:cNvGraphicFramePr>
                <a:graphicFrameLocks noGrp="1"/>
              </p:cNvGraphicFramePr>
              <p:nvPr>
                <p:extLst>
                  <p:ext uri="{D42A27DB-BD31-4B8C-83A1-F6EECF244321}">
                    <p14:modId xmlns:p14="http://schemas.microsoft.com/office/powerpoint/2010/main" val="1571660956"/>
                  </p:ext>
                </p:extLst>
              </p:nvPr>
            </p:nvGraphicFramePr>
            <p:xfrm>
              <a:off x="4133088" y="3429000"/>
              <a:ext cx="3480444" cy="3252928"/>
            </p:xfrm>
            <a:graphic>
              <a:graphicData uri="http://schemas.openxmlformats.org/drawingml/2006/table">
                <a:tbl>
                  <a:tblPr firstRow="1" bandRow="1">
                    <a:tableStyleId>{2D5ABB26-0587-4C30-8999-92F81FD0307C}</a:tableStyleId>
                  </a:tblPr>
                  <a:tblGrid>
                    <a:gridCol w="580074">
                      <a:extLst>
                        <a:ext uri="{9D8B030D-6E8A-4147-A177-3AD203B41FA5}">
                          <a16:colId xmlns:a16="http://schemas.microsoft.com/office/drawing/2014/main" val="10963335"/>
                        </a:ext>
                      </a:extLst>
                    </a:gridCol>
                    <a:gridCol w="580074">
                      <a:extLst>
                        <a:ext uri="{9D8B030D-6E8A-4147-A177-3AD203B41FA5}">
                          <a16:colId xmlns:a16="http://schemas.microsoft.com/office/drawing/2014/main" val="3659367767"/>
                        </a:ext>
                      </a:extLst>
                    </a:gridCol>
                    <a:gridCol w="580074">
                      <a:extLst>
                        <a:ext uri="{9D8B030D-6E8A-4147-A177-3AD203B41FA5}">
                          <a16:colId xmlns:a16="http://schemas.microsoft.com/office/drawing/2014/main" val="2932173976"/>
                        </a:ext>
                      </a:extLst>
                    </a:gridCol>
                    <a:gridCol w="580074">
                      <a:extLst>
                        <a:ext uri="{9D8B030D-6E8A-4147-A177-3AD203B41FA5}">
                          <a16:colId xmlns:a16="http://schemas.microsoft.com/office/drawing/2014/main" val="3941137107"/>
                        </a:ext>
                      </a:extLst>
                    </a:gridCol>
                    <a:gridCol w="580074">
                      <a:extLst>
                        <a:ext uri="{9D8B030D-6E8A-4147-A177-3AD203B41FA5}">
                          <a16:colId xmlns:a16="http://schemas.microsoft.com/office/drawing/2014/main" val="101448731"/>
                        </a:ext>
                      </a:extLst>
                    </a:gridCol>
                    <a:gridCol w="580074">
                      <a:extLst>
                        <a:ext uri="{9D8B030D-6E8A-4147-A177-3AD203B41FA5}">
                          <a16:colId xmlns:a16="http://schemas.microsoft.com/office/drawing/2014/main" val="3367883009"/>
                        </a:ext>
                      </a:extLst>
                    </a:gridCol>
                  </a:tblGrid>
                  <a:tr h="464704">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7917" r="-300000" b="-631579"/>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053" r="-203158" b="-631579"/>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401053" r="-103158" b="-631579"/>
                          </a:stretch>
                        </a:blipFill>
                      </a:tcPr>
                    </a:tc>
                    <a:tc>
                      <a:txBody>
                        <a:bodyPr/>
                        <a:lstStyle/>
                        <a:p>
                          <a:endParaRPr lang="zh-TW"/>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01053" r="-3158" b="-631579"/>
                          </a:stretch>
                        </a:blipFill>
                      </a:tcPr>
                    </a:tc>
                    <a:extLst>
                      <a:ext uri="{0D108BD9-81ED-4DB2-BD59-A6C34878D82A}">
                        <a16:rowId xmlns:a16="http://schemas.microsoft.com/office/drawing/2014/main" val="1194138422"/>
                      </a:ext>
                    </a:extLst>
                  </a:tr>
                  <a:tr h="464704">
                    <a:tc>
                      <a:txBody>
                        <a:bodyPr/>
                        <a:lstStyle/>
                        <a:p>
                          <a:pPr algn="ctr"/>
                          <a:endParaRPr lang="zh-TW" altLang="en-US" sz="24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22336050"/>
                      </a:ext>
                    </a:extLst>
                  </a:tr>
                  <a:tr h="464704">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1316" r="-504211" b="-430263"/>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5881531"/>
                      </a:ext>
                    </a:extLst>
                  </a:tr>
                  <a:tr h="464704">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7403" r="-504211" b="-324675"/>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361214"/>
                      </a:ext>
                    </a:extLst>
                  </a:tr>
                  <a:tr h="464704">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02632" r="-504211" b="-228947"/>
                          </a:stretch>
                        </a:blipFill>
                      </a:tcPr>
                    </a:tc>
                    <a:tc>
                      <a:txBody>
                        <a:bodyPr/>
                        <a:lstStyle/>
                        <a:p>
                          <a:pPr algn="ctr"/>
                          <a:r>
                            <a:rPr lang="en-US" altLang="zh-TW" sz="2400" dirty="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008722"/>
                      </a:ext>
                    </a:extLst>
                  </a:tr>
                  <a:tr h="464704">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96104" r="-504211" b="-125974"/>
                          </a:stretch>
                        </a:blipFill>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217599"/>
                      </a:ext>
                    </a:extLst>
                  </a:tr>
                  <a:tr h="464704">
                    <a:tc>
                      <a:txBody>
                        <a:bodyPr/>
                        <a:lstStyle/>
                        <a:p>
                          <a:endParaRPr lang="zh-TW"/>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03947" r="-504211" b="-27632"/>
                          </a:stretch>
                        </a:blipFill>
                      </a:tcPr>
                    </a:tc>
                    <a:tc>
                      <a:txBody>
                        <a:bodyPr/>
                        <a:lstStyle/>
                        <a:p>
                          <a:pPr algn="ctr"/>
                          <a:r>
                            <a:rPr lang="en-US" altLang="zh-TW" sz="2400" dirty="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15530"/>
                      </a:ext>
                    </a:extLst>
                  </a:tr>
                </a:tbl>
              </a:graphicData>
            </a:graphic>
          </p:graphicFrame>
        </mc:Fallback>
      </mc:AlternateContent>
    </p:spTree>
    <p:extLst>
      <p:ext uri="{BB962C8B-B14F-4D97-AF65-F5344CB8AC3E}">
        <p14:creationId xmlns:p14="http://schemas.microsoft.com/office/powerpoint/2010/main" val="1571041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D0001D6-4A6B-4A38-9DFC-37F3826F5BCD}"/>
                  </a:ext>
                </a:extLst>
              </p:cNvPr>
              <p:cNvSpPr>
                <a:spLocks noGrp="1"/>
              </p:cNvSpPr>
              <p:nvPr>
                <p:ph idx="1"/>
              </p:nvPr>
            </p:nvSpPr>
            <p:spPr>
              <a:xfrm>
                <a:off x="369849" y="439292"/>
                <a:ext cx="10515600" cy="4351338"/>
              </a:xfrm>
            </p:spPr>
            <p:txBody>
              <a:bodyPr>
                <a:normAutofit/>
              </a:bodyPr>
              <a:lstStyle/>
              <a:p>
                <a:pPr marL="0" indent="0">
                  <a:buNone/>
                </a:pPr>
                <a:r>
                  <a:rPr lang="en-US" altLang="zh-TW" dirty="0"/>
                  <a:t>Definition 2. </a:t>
                </a:r>
              </a:p>
              <a:p>
                <a:pPr marL="0" indent="0">
                  <a:buNone/>
                </a:pPr>
                <a:r>
                  <a:rPr lang="en-US" altLang="zh-TW" dirty="0"/>
                  <a:t>L(</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𝑖</m:t>
                        </m:r>
                      </m:e>
                      <m:sub>
                        <m:r>
                          <a:rPr lang="en-US" altLang="zh-TW" b="0" i="1" smtClean="0">
                            <a:latin typeface="Cambria Math" panose="02040503050406030204" pitchFamily="18" charset="0"/>
                          </a:rPr>
                          <m:t>1</m:t>
                        </m:r>
                      </m:sub>
                    </m:sSub>
                  </m:oMath>
                </a14:m>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𝑗</m:t>
                        </m:r>
                      </m:e>
                      <m:sub>
                        <m:r>
                          <a:rPr lang="en-US" altLang="zh-TW" i="1">
                            <a:latin typeface="Cambria Math" panose="02040503050406030204" pitchFamily="18" charset="0"/>
                          </a:rPr>
                          <m:t>1</m:t>
                        </m:r>
                      </m:sub>
                    </m:sSub>
                  </m:oMath>
                </a14:m>
                <a:r>
                  <a:rPr lang="en-US" altLang="zh-TW" dirty="0"/>
                  <a:t>) ⊕L(</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b="0" i="1" smtClean="0">
                            <a:latin typeface="Cambria Math" panose="02040503050406030204" pitchFamily="18" charset="0"/>
                          </a:rPr>
                          <m:t>2</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𝑗</m:t>
                        </m:r>
                      </m:e>
                      <m:sub>
                        <m:r>
                          <a:rPr lang="en-US" altLang="zh-TW" b="0" i="1" smtClean="0">
                            <a:latin typeface="Cambria Math" panose="02040503050406030204" pitchFamily="18" charset="0"/>
                          </a:rPr>
                          <m:t>2</m:t>
                        </m:r>
                      </m:sub>
                    </m:sSub>
                  </m:oMath>
                </a14:m>
                <a:r>
                  <a:rPr lang="en-US" altLang="zh-TW" dirty="0"/>
                  <a:t>) obtained by first uniting L(</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i="1">
                            <a:latin typeface="Cambria Math" panose="02040503050406030204" pitchFamily="18" charset="0"/>
                          </a:rPr>
                          <m:t>1</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𝑗</m:t>
                        </m:r>
                      </m:e>
                      <m:sub>
                        <m:r>
                          <a:rPr lang="en-US" altLang="zh-TW" i="1">
                            <a:latin typeface="Cambria Math" panose="02040503050406030204" pitchFamily="18" charset="0"/>
                          </a:rPr>
                          <m:t>1</m:t>
                        </m:r>
                      </m:sub>
                    </m:sSub>
                  </m:oMath>
                </a14:m>
                <a:r>
                  <a:rPr lang="en-US" altLang="zh-TW" dirty="0"/>
                  <a:t>) and L(</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i="1">
                            <a:latin typeface="Cambria Math" panose="02040503050406030204" pitchFamily="18" charset="0"/>
                          </a:rPr>
                          <m:t>2</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𝑗</m:t>
                        </m:r>
                      </m:e>
                      <m:sub>
                        <m:r>
                          <a:rPr lang="en-US" altLang="zh-TW" i="1">
                            <a:latin typeface="Cambria Math" panose="02040503050406030204" pitchFamily="18" charset="0"/>
                          </a:rPr>
                          <m:t>2</m:t>
                        </m:r>
                      </m:sub>
                    </m:sSub>
                  </m:oMath>
                </a14:m>
                <a:r>
                  <a:rPr lang="en-US" altLang="zh-TW" dirty="0"/>
                  <a:t>) and then removing all the dominated and redundant 3-tuples.</a:t>
                </a:r>
              </a:p>
              <a:p>
                <a:endParaRPr lang="en-US" altLang="zh-TW" dirty="0"/>
              </a:p>
              <a:p>
                <a:r>
                  <a:rPr lang="en-US" altLang="zh-TW" dirty="0"/>
                  <a:t>Lemma 1.</a:t>
                </a:r>
              </a:p>
              <a:p>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CD0001D6-4A6B-4A38-9DFC-37F3826F5BCD}"/>
                  </a:ext>
                </a:extLst>
              </p:cNvPr>
              <p:cNvSpPr>
                <a:spLocks noGrp="1" noRot="1" noChangeAspect="1" noMove="1" noResize="1" noEditPoints="1" noAdjustHandles="1" noChangeArrowheads="1" noChangeShapeType="1" noTextEdit="1"/>
              </p:cNvSpPr>
              <p:nvPr>
                <p:ph idx="1"/>
              </p:nvPr>
            </p:nvSpPr>
            <p:spPr>
              <a:xfrm>
                <a:off x="369849" y="439292"/>
                <a:ext cx="10515600" cy="4351338"/>
              </a:xfrm>
              <a:blipFill>
                <a:blip r:embed="rId3"/>
                <a:stretch>
                  <a:fillRect l="-1217" t="-2381"/>
                </a:stretch>
              </a:blipFill>
            </p:spPr>
            <p:txBody>
              <a:bodyPr/>
              <a:lstStyle/>
              <a:p>
                <a:r>
                  <a:rPr lang="zh-TW" altLang="en-US">
                    <a:noFill/>
                  </a:rPr>
                  <a:t> </a:t>
                </a:r>
              </a:p>
            </p:txBody>
          </p:sp>
        </mc:Fallback>
      </mc:AlternateContent>
      <p:pic>
        <p:nvPicPr>
          <p:cNvPr id="6" name="圖片 5" descr="一張含有 物件, 橙色, 時鐘 的圖片&#10;&#10;自動產生的描述">
            <a:extLst>
              <a:ext uri="{FF2B5EF4-FFF2-40B4-BE49-F238E27FC236}">
                <a16:creationId xmlns:a16="http://schemas.microsoft.com/office/drawing/2014/main" id="{E9EEB4D9-31F8-4110-83A1-FEC0C5A273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8077" y="3059503"/>
            <a:ext cx="6813035" cy="1321219"/>
          </a:xfrm>
          <a:prstGeom prst="rect">
            <a:avLst/>
          </a:prstGeom>
        </p:spPr>
      </p:pic>
    </p:spTree>
    <p:extLst>
      <p:ext uri="{BB962C8B-B14F-4D97-AF65-F5344CB8AC3E}">
        <p14:creationId xmlns:p14="http://schemas.microsoft.com/office/powerpoint/2010/main" val="1754590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文字 的圖片&#10;&#10;自動產生的描述">
            <a:extLst>
              <a:ext uri="{FF2B5EF4-FFF2-40B4-BE49-F238E27FC236}">
                <a16:creationId xmlns:a16="http://schemas.microsoft.com/office/drawing/2014/main" id="{792E6D11-E636-4806-ACF6-0DAB91EE47A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6356" y="110031"/>
            <a:ext cx="4982956" cy="4230321"/>
          </a:xfrm>
        </p:spPr>
      </p:pic>
      <p:sp>
        <p:nvSpPr>
          <p:cNvPr id="6" name="文字方塊 5">
            <a:extLst>
              <a:ext uri="{FF2B5EF4-FFF2-40B4-BE49-F238E27FC236}">
                <a16:creationId xmlns:a16="http://schemas.microsoft.com/office/drawing/2014/main" id="{5EC2BFBC-D7BD-47AB-8730-2DE45A27E179}"/>
              </a:ext>
            </a:extLst>
          </p:cNvPr>
          <p:cNvSpPr txBox="1"/>
          <p:nvPr/>
        </p:nvSpPr>
        <p:spPr>
          <a:xfrm>
            <a:off x="618691" y="4488154"/>
            <a:ext cx="4943707" cy="923330"/>
          </a:xfrm>
          <a:prstGeom prst="rect">
            <a:avLst/>
          </a:prstGeom>
          <a:noFill/>
        </p:spPr>
        <p:txBody>
          <a:bodyPr wrap="square" rtlCol="0">
            <a:spAutoFit/>
          </a:bodyPr>
          <a:lstStyle/>
          <a:p>
            <a:r>
              <a:rPr lang="en-US" altLang="zh-TW" dirty="0" err="1"/>
              <a:t>Prev</a:t>
            </a:r>
            <a:r>
              <a:rPr lang="en-US" altLang="zh-TW" dirty="0"/>
              <a:t>(x1, y1) = (x2, y2). </a:t>
            </a:r>
          </a:p>
          <a:p>
            <a:endParaRPr lang="en-US" altLang="zh-TW" dirty="0"/>
          </a:p>
          <a:p>
            <a:endParaRPr lang="zh-TW" altLang="en-US" dirty="0"/>
          </a:p>
        </p:txBody>
      </p:sp>
      <p:pic>
        <p:nvPicPr>
          <p:cNvPr id="7" name="內容版面配置區 4">
            <a:extLst>
              <a:ext uri="{FF2B5EF4-FFF2-40B4-BE49-F238E27FC236}">
                <a16:creationId xmlns:a16="http://schemas.microsoft.com/office/drawing/2014/main" id="{99A2C327-8AAD-452C-9BA7-F251DB3368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691" y="5231866"/>
            <a:ext cx="8232529" cy="955881"/>
          </a:xfrm>
          <a:prstGeom prst="rect">
            <a:avLst/>
          </a:prstGeom>
        </p:spPr>
      </p:pic>
      <p:pic>
        <p:nvPicPr>
          <p:cNvPr id="11" name="圖片 10" descr="一張含有 文字 的圖片&#10;&#10;自動產生的描述">
            <a:extLst>
              <a:ext uri="{FF2B5EF4-FFF2-40B4-BE49-F238E27FC236}">
                <a16:creationId xmlns:a16="http://schemas.microsoft.com/office/drawing/2014/main" id="{CEEF14FA-E6E1-4FA8-9B68-B4C07ACFC5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9311" y="110031"/>
            <a:ext cx="6731289" cy="3486609"/>
          </a:xfrm>
          <a:prstGeom prst="rect">
            <a:avLst/>
          </a:prstGeom>
        </p:spPr>
      </p:pic>
    </p:spTree>
    <p:extLst>
      <p:ext uri="{BB962C8B-B14F-4D97-AF65-F5344CB8AC3E}">
        <p14:creationId xmlns:p14="http://schemas.microsoft.com/office/powerpoint/2010/main" val="1825633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07AF63-F316-4803-B5BF-DF7C7FFBFAC2}"/>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C908EA3D-E38D-4075-BD72-750A8E30D23A}"/>
              </a:ext>
            </a:extLst>
          </p:cNvPr>
          <p:cNvSpPr>
            <a:spLocks noGrp="1"/>
          </p:cNvSpPr>
          <p:nvPr>
            <p:ph idx="1"/>
          </p:nvPr>
        </p:nvSpPr>
        <p:spPr>
          <a:xfrm>
            <a:off x="192741" y="1946648"/>
            <a:ext cx="10515600" cy="4351338"/>
          </a:xfrm>
        </p:spPr>
        <p:txBody>
          <a:bodyPr/>
          <a:lstStyle/>
          <a:p>
            <a:r>
              <a:rPr lang="en-US" altLang="zh-TW" dirty="0"/>
              <a:t>Space</a:t>
            </a:r>
          </a:p>
          <a:p>
            <a:pPr marL="0" indent="0">
              <a:buNone/>
            </a:pPr>
            <a:r>
              <a:rPr lang="pt-BR" altLang="zh-TW" dirty="0"/>
              <a:t> O(m) × O(l) + O(nm) = O(nm)</a:t>
            </a:r>
          </a:p>
          <a:p>
            <a:endParaRPr lang="en-US" altLang="zh-TW" dirty="0"/>
          </a:p>
          <a:p>
            <a:r>
              <a:rPr lang="en-US" altLang="zh-TW" dirty="0"/>
              <a:t>Time</a:t>
            </a:r>
          </a:p>
          <a:p>
            <a:pPr marL="0" indent="0">
              <a:buNone/>
            </a:pPr>
            <a:r>
              <a:rPr lang="pt-BR" altLang="zh-TW" dirty="0"/>
              <a:t>O(nm) × O(l) + O(nm) = O(nml)</a:t>
            </a:r>
            <a:endParaRPr lang="en-US" altLang="zh-TW" dirty="0"/>
          </a:p>
          <a:p>
            <a:pPr marL="0" indent="0">
              <a:buNone/>
            </a:pPr>
            <a:endParaRPr lang="pt-BR" altLang="zh-TW" dirty="0"/>
          </a:p>
          <a:p>
            <a:pPr marL="0" indent="0">
              <a:buNone/>
            </a:pPr>
            <a:endParaRPr lang="en-US" altLang="zh-TW" dirty="0"/>
          </a:p>
          <a:p>
            <a:pPr marL="0" indent="0">
              <a:buNone/>
            </a:pPr>
            <a:endParaRPr lang="zh-TW" altLang="en-US" dirty="0"/>
          </a:p>
        </p:txBody>
      </p:sp>
      <p:pic>
        <p:nvPicPr>
          <p:cNvPr id="4" name="內容版面配置區 4" descr="一張含有 文字 的圖片&#10;&#10;自動產生的描述">
            <a:extLst>
              <a:ext uri="{FF2B5EF4-FFF2-40B4-BE49-F238E27FC236}">
                <a16:creationId xmlns:a16="http://schemas.microsoft.com/office/drawing/2014/main" id="{5FE4D0A9-CC2D-4C96-9B51-D6AD385F4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9207" y="940215"/>
            <a:ext cx="6760052" cy="4240585"/>
          </a:xfrm>
          <a:prstGeom prst="rect">
            <a:avLst/>
          </a:prstGeom>
        </p:spPr>
      </p:pic>
    </p:spTree>
    <p:extLst>
      <p:ext uri="{BB962C8B-B14F-4D97-AF65-F5344CB8AC3E}">
        <p14:creationId xmlns:p14="http://schemas.microsoft.com/office/powerpoint/2010/main" val="346942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C6C8F3E-E2D4-405B-9DB0-4CD34A819684}"/>
                  </a:ext>
                </a:extLst>
              </p:cNvPr>
              <p:cNvGraphicFramePr>
                <a:graphicFrameLocks noGrp="1"/>
              </p:cNvGraphicFramePr>
              <p:nvPr>
                <p:ph idx="1"/>
                <p:extLst>
                  <p:ext uri="{D42A27DB-BD31-4B8C-83A1-F6EECF244321}">
                    <p14:modId xmlns:p14="http://schemas.microsoft.com/office/powerpoint/2010/main" val="1682882365"/>
                  </p:ext>
                </p:extLst>
              </p:nvPr>
            </p:nvGraphicFramePr>
            <p:xfrm>
              <a:off x="414453" y="240652"/>
              <a:ext cx="11617713" cy="6376695"/>
            </p:xfrm>
            <a:graphic>
              <a:graphicData uri="http://schemas.openxmlformats.org/drawingml/2006/table">
                <a:tbl>
                  <a:tblPr firstRow="1" bandRow="1">
                    <a:tableStyleId>{2D5ABB26-0587-4C30-8999-92F81FD0307C}</a:tableStyleId>
                  </a:tblPr>
                  <a:tblGrid>
                    <a:gridCol w="3499625">
                      <a:extLst>
                        <a:ext uri="{9D8B030D-6E8A-4147-A177-3AD203B41FA5}">
                          <a16:colId xmlns:a16="http://schemas.microsoft.com/office/drawing/2014/main" val="4196061904"/>
                        </a:ext>
                      </a:extLst>
                    </a:gridCol>
                    <a:gridCol w="1483112">
                      <a:extLst>
                        <a:ext uri="{9D8B030D-6E8A-4147-A177-3AD203B41FA5}">
                          <a16:colId xmlns:a16="http://schemas.microsoft.com/office/drawing/2014/main" val="2935773751"/>
                        </a:ext>
                      </a:extLst>
                    </a:gridCol>
                    <a:gridCol w="1419179">
                      <a:extLst>
                        <a:ext uri="{9D8B030D-6E8A-4147-A177-3AD203B41FA5}">
                          <a16:colId xmlns:a16="http://schemas.microsoft.com/office/drawing/2014/main" val="822872630"/>
                        </a:ext>
                      </a:extLst>
                    </a:gridCol>
                    <a:gridCol w="2132559">
                      <a:extLst>
                        <a:ext uri="{9D8B030D-6E8A-4147-A177-3AD203B41FA5}">
                          <a16:colId xmlns:a16="http://schemas.microsoft.com/office/drawing/2014/main" val="2307653971"/>
                        </a:ext>
                      </a:extLst>
                    </a:gridCol>
                    <a:gridCol w="3083238">
                      <a:extLst>
                        <a:ext uri="{9D8B030D-6E8A-4147-A177-3AD203B41FA5}">
                          <a16:colId xmlns:a16="http://schemas.microsoft.com/office/drawing/2014/main" val="2237394423"/>
                        </a:ext>
                      </a:extLst>
                    </a:gridCol>
                  </a:tblGrid>
                  <a:tr h="468352">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Time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Space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5905544"/>
                      </a:ext>
                    </a:extLst>
                  </a:tr>
                  <a:tr h="864908">
                    <a:tc>
                      <a:txBody>
                        <a:bodyPr/>
                        <a:lstStyle/>
                        <a:p>
                          <a:r>
                            <a:rPr lang="en-US" altLang="zh-TW" dirty="0"/>
                            <a:t>dynamic programming </a:t>
                          </a:r>
                        </a:p>
                        <a:p>
                          <a:r>
                            <a:rPr lang="en-US" altLang="zh-TW" dirty="0"/>
                            <a:t>( n and m are the lengths of two input sequences)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O(nm)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O(nm)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Yang et al</a:t>
                          </a:r>
                        </a:p>
                        <a:p>
                          <a:r>
                            <a:rPr lang="en-US" altLang="zh-TW" dirty="0"/>
                            <a:t>(suppose: S is an increasing 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5522720"/>
                      </a:ext>
                    </a:extLst>
                  </a:tr>
                  <a:tr h="1065630">
                    <a:tc>
                      <a:txBody>
                        <a:bodyPr/>
                        <a:lstStyle/>
                        <a:p>
                          <a:r>
                            <a:rPr lang="en-US" altLang="zh-TW" dirty="0"/>
                            <a:t>extension of  longest increasing subsequence(LIS)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 log n)</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Donald E. Knuth</a:t>
                          </a:r>
                        </a:p>
                        <a:p>
                          <a:r>
                            <a:rPr lang="en-US" altLang="zh-TW" dirty="0"/>
                            <a:t>(n is the length of the original 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2682000"/>
                      </a:ext>
                    </a:extLst>
                  </a:tr>
                  <a:tr h="930438">
                    <a:tc>
                      <a:txBody>
                        <a:bodyPr/>
                        <a:lstStyle/>
                        <a:p>
                          <a:r>
                            <a:rPr lang="en-US" altLang="zh-TW" dirty="0"/>
                            <a:t>Longest almost-increasing subsequence(</a:t>
                          </a:r>
                          <a:r>
                            <a:rPr lang="en-US" altLang="zh-TW" dirty="0" err="1"/>
                            <a:t>LaIS</a:t>
                          </a:r>
                          <a:r>
                            <a:rPr lang="en-US" altLang="zh-TW" dirty="0"/>
                            <a:t>) </a:t>
                          </a:r>
                        </a:p>
                        <a:p>
                          <a:r>
                            <a:rPr lang="en-US" altLang="zh-TW" dirty="0"/>
                            <a:t>a  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altLang="zh-TW" dirty="0"/>
                            <a:t>n O(n log l)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err="1"/>
                            <a:t>Elmasry</a:t>
                          </a:r>
                          <a:endParaRPr lang="en-US" altLang="zh-TW" dirty="0"/>
                        </a:p>
                        <a:p>
                          <a:r>
                            <a:rPr lang="en-US" altLang="zh-TW" dirty="0"/>
                            <a:t>(l is the length of the output subsequence)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1417591"/>
                      </a:ext>
                    </a:extLst>
                  </a:tr>
                  <a:tr h="986195">
                    <a:tc>
                      <a:txBody>
                        <a:bodyPr/>
                        <a:lstStyle/>
                        <a:p>
                          <a:r>
                            <a:rPr lang="en-US" altLang="zh-TW" dirty="0"/>
                            <a:t>longest common </a:t>
                          </a:r>
                          <a:r>
                            <a:rPr lang="en-US" altLang="zh-TW" dirty="0" err="1"/>
                            <a:t>almostincreasing</a:t>
                          </a:r>
                          <a:r>
                            <a:rPr lang="en-US" altLang="zh-TW" dirty="0"/>
                            <a:t> subsequence (</a:t>
                          </a:r>
                          <a:r>
                            <a:rPr lang="en-US" altLang="zh-TW" dirty="0" err="1"/>
                            <a:t>LCaIS</a:t>
                          </a:r>
                          <a:r>
                            <a:rPr lang="en-US" altLang="zh-TW" dirty="0"/>
                            <a:t>)</a:t>
                          </a:r>
                        </a:p>
                        <a:p>
                          <a:r>
                            <a:rPr lang="en-US" altLang="zh-TW" dirty="0"/>
                            <a:t>two sequences of equal length n</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O(n(n +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𝑐</m:t>
                                  </m:r>
                                </m:e>
                                <m:sup>
                                  <m:r>
                                    <a:rPr lang="en-US" altLang="zh-TW" b="0" i="1" smtClean="0">
                                      <a:latin typeface="Cambria Math" panose="02040503050406030204" pitchFamily="18" charset="0"/>
                                    </a:rPr>
                                    <m:t>2</m:t>
                                  </m:r>
                                </m:sup>
                              </m:sSup>
                            </m:oMath>
                          </a14:m>
                          <a:r>
                            <a:rPr lang="en-US" altLang="zh-TW" dirty="0"/>
                            <a: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2</m:t>
                                  </m:r>
                                </m:sup>
                              </m:sSup>
                            </m:oMath>
                          </a14:m>
                          <a:r>
                            <a:rPr lang="en-US" altLang="zh-TW" dirty="0"/>
                            <a:t>)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err="1"/>
                            <a:t>Moosa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u="none" dirty="0"/>
                            <a:t>Does not allows repeated elements in the input sequences</a:t>
                          </a:r>
                          <a:endParaRPr lang="zh-TW" altLang="en-US" u="non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57052"/>
                      </a:ext>
                    </a:extLst>
                  </a:tr>
                  <a:tr h="986195">
                    <a:tc>
                      <a:txBody>
                        <a:bodyPr/>
                        <a:lstStyle/>
                        <a:p>
                          <a:r>
                            <a:rPr lang="en-US" altLang="zh-TW" dirty="0"/>
                            <a:t>dynamic programming</a:t>
                          </a:r>
                        </a:p>
                        <a:p>
                          <a:r>
                            <a:rPr lang="en-US" altLang="zh-TW" dirty="0"/>
                            <a:t> two input sequences of lengths n and m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a:t>
                          </a:r>
                          <a:r>
                            <a:rPr lang="en-US" altLang="zh-TW" dirty="0" err="1"/>
                            <a:t>nml</a:t>
                          </a:r>
                          <a:r>
                            <a:rPr lang="en-US" altLang="zh-TW" dirty="0"/>
                            <a:t>)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O(nm)</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l is the length of the </a:t>
                          </a:r>
                          <a:r>
                            <a:rPr lang="en-US" altLang="zh-TW" u="sng" dirty="0"/>
                            <a:t>output</a:t>
                          </a:r>
                          <a:r>
                            <a:rPr lang="en-US" altLang="zh-TW" dirty="0"/>
                            <a:t> </a:t>
                          </a:r>
                          <a:r>
                            <a:rPr lang="en-US" altLang="zh-TW" dirty="0" err="1"/>
                            <a:t>LCaIS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Computing just the length of the </a:t>
                          </a:r>
                          <a:r>
                            <a:rPr lang="en-US" altLang="zh-TW" dirty="0" err="1"/>
                            <a:t>LCaIS</a:t>
                          </a:r>
                          <a:r>
                            <a:rPr lang="en-US" altLang="zh-TW" dirty="0"/>
                            <a:t> can be done using less space (i.e., O(l min(</a:t>
                          </a:r>
                          <a:r>
                            <a:rPr lang="en-US" altLang="zh-TW" dirty="0" err="1"/>
                            <a:t>m,n</a:t>
                          </a:r>
                          <a:r>
                            <a:rPr lang="en-US" altLang="zh-TW" dirty="0"/>
                            <a:t>))) by our algorithm.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u="sng" dirty="0"/>
                            <a:t>Allows repeated elements in the input sequences.</a:t>
                          </a:r>
                          <a:endParaRPr lang="en-US" altLang="zh-TW" dirty="0"/>
                        </a:p>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2628975"/>
                      </a:ext>
                    </a:extLst>
                  </a:tr>
                </a:tbl>
              </a:graphicData>
            </a:graphic>
          </p:graphicFrame>
        </mc:Choice>
        <mc:Fallback xmlns="">
          <p:graphicFrame>
            <p:nvGraphicFramePr>
              <p:cNvPr id="4" name="表格 4">
                <a:extLst>
                  <a:ext uri="{FF2B5EF4-FFF2-40B4-BE49-F238E27FC236}">
                    <a16:creationId xmlns:a16="http://schemas.microsoft.com/office/drawing/2014/main" id="{BC6C8F3E-E2D4-405B-9DB0-4CD34A819684}"/>
                  </a:ext>
                </a:extLst>
              </p:cNvPr>
              <p:cNvGraphicFramePr>
                <a:graphicFrameLocks noGrp="1"/>
              </p:cNvGraphicFramePr>
              <p:nvPr>
                <p:ph idx="1"/>
                <p:extLst>
                  <p:ext uri="{D42A27DB-BD31-4B8C-83A1-F6EECF244321}">
                    <p14:modId xmlns:p14="http://schemas.microsoft.com/office/powerpoint/2010/main" val="1682882365"/>
                  </p:ext>
                </p:extLst>
              </p:nvPr>
            </p:nvGraphicFramePr>
            <p:xfrm>
              <a:off x="414453" y="240652"/>
              <a:ext cx="11617713" cy="6376695"/>
            </p:xfrm>
            <a:graphic>
              <a:graphicData uri="http://schemas.openxmlformats.org/drawingml/2006/table">
                <a:tbl>
                  <a:tblPr firstRow="1" bandRow="1">
                    <a:tableStyleId>{2D5ABB26-0587-4C30-8999-92F81FD0307C}</a:tableStyleId>
                  </a:tblPr>
                  <a:tblGrid>
                    <a:gridCol w="3499625">
                      <a:extLst>
                        <a:ext uri="{9D8B030D-6E8A-4147-A177-3AD203B41FA5}">
                          <a16:colId xmlns:a16="http://schemas.microsoft.com/office/drawing/2014/main" val="4196061904"/>
                        </a:ext>
                      </a:extLst>
                    </a:gridCol>
                    <a:gridCol w="1483112">
                      <a:extLst>
                        <a:ext uri="{9D8B030D-6E8A-4147-A177-3AD203B41FA5}">
                          <a16:colId xmlns:a16="http://schemas.microsoft.com/office/drawing/2014/main" val="2935773751"/>
                        </a:ext>
                      </a:extLst>
                    </a:gridCol>
                    <a:gridCol w="1419179">
                      <a:extLst>
                        <a:ext uri="{9D8B030D-6E8A-4147-A177-3AD203B41FA5}">
                          <a16:colId xmlns:a16="http://schemas.microsoft.com/office/drawing/2014/main" val="822872630"/>
                        </a:ext>
                      </a:extLst>
                    </a:gridCol>
                    <a:gridCol w="2132559">
                      <a:extLst>
                        <a:ext uri="{9D8B030D-6E8A-4147-A177-3AD203B41FA5}">
                          <a16:colId xmlns:a16="http://schemas.microsoft.com/office/drawing/2014/main" val="2307653971"/>
                        </a:ext>
                      </a:extLst>
                    </a:gridCol>
                    <a:gridCol w="3083238">
                      <a:extLst>
                        <a:ext uri="{9D8B030D-6E8A-4147-A177-3AD203B41FA5}">
                          <a16:colId xmlns:a16="http://schemas.microsoft.com/office/drawing/2014/main" val="2237394423"/>
                        </a:ext>
                      </a:extLst>
                    </a:gridCol>
                  </a:tblGrid>
                  <a:tr h="468352">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Time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Space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5905544"/>
                      </a:ext>
                    </a:extLst>
                  </a:tr>
                  <a:tr h="914400">
                    <a:tc>
                      <a:txBody>
                        <a:bodyPr/>
                        <a:lstStyle/>
                        <a:p>
                          <a:r>
                            <a:rPr lang="en-US" altLang="zh-TW" dirty="0"/>
                            <a:t>dynamic programming </a:t>
                          </a:r>
                        </a:p>
                        <a:p>
                          <a:r>
                            <a:rPr lang="en-US" altLang="zh-TW" dirty="0"/>
                            <a:t>( n and m are the lengths of two input sequences)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O(nm)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O(nm)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Yang et al</a:t>
                          </a:r>
                        </a:p>
                        <a:p>
                          <a:r>
                            <a:rPr lang="en-US" altLang="zh-TW" dirty="0"/>
                            <a:t>(suppose: S is an increasing 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5522720"/>
                      </a:ext>
                    </a:extLst>
                  </a:tr>
                  <a:tr h="1065630">
                    <a:tc>
                      <a:txBody>
                        <a:bodyPr/>
                        <a:lstStyle/>
                        <a:p>
                          <a:r>
                            <a:rPr lang="en-US" altLang="zh-TW" dirty="0"/>
                            <a:t>extension of  longest increasing subsequence(LIS)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 log n)</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Donald E. Knuth</a:t>
                          </a:r>
                        </a:p>
                        <a:p>
                          <a:r>
                            <a:rPr lang="en-US" altLang="zh-TW" dirty="0"/>
                            <a:t>(n is the length of the original 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2682000"/>
                      </a:ext>
                    </a:extLst>
                  </a:tr>
                  <a:tr h="930438">
                    <a:tc>
                      <a:txBody>
                        <a:bodyPr/>
                        <a:lstStyle/>
                        <a:p>
                          <a:r>
                            <a:rPr lang="en-US" altLang="zh-TW" dirty="0"/>
                            <a:t>Longest almost-increasing subsequence(</a:t>
                          </a:r>
                          <a:r>
                            <a:rPr lang="en-US" altLang="zh-TW" dirty="0" err="1"/>
                            <a:t>LaIS</a:t>
                          </a:r>
                          <a:r>
                            <a:rPr lang="en-US" altLang="zh-TW" dirty="0"/>
                            <a:t>) </a:t>
                          </a:r>
                        </a:p>
                        <a:p>
                          <a:r>
                            <a:rPr lang="en-US" altLang="zh-TW" dirty="0"/>
                            <a:t>a  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altLang="zh-TW" dirty="0"/>
                            <a:t>n O(n log l)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err="1"/>
                            <a:t>Elmasry</a:t>
                          </a:r>
                          <a:endParaRPr lang="en-US" altLang="zh-TW" dirty="0"/>
                        </a:p>
                        <a:p>
                          <a:r>
                            <a:rPr lang="en-US" altLang="zh-TW" dirty="0"/>
                            <a:t>(l is the length of the output subsequence)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1417591"/>
                      </a:ext>
                    </a:extLst>
                  </a:tr>
                  <a:tr h="986195">
                    <a:tc>
                      <a:txBody>
                        <a:bodyPr/>
                        <a:lstStyle/>
                        <a:p>
                          <a:r>
                            <a:rPr lang="en-US" altLang="zh-TW" dirty="0"/>
                            <a:t>longest common </a:t>
                          </a:r>
                          <a:r>
                            <a:rPr lang="en-US" altLang="zh-TW" dirty="0" err="1"/>
                            <a:t>almostincreasing</a:t>
                          </a:r>
                          <a:r>
                            <a:rPr lang="en-US" altLang="zh-TW" dirty="0"/>
                            <a:t> subsequence (</a:t>
                          </a:r>
                          <a:r>
                            <a:rPr lang="en-US" altLang="zh-TW" dirty="0" err="1"/>
                            <a:t>LCaIS</a:t>
                          </a:r>
                          <a:r>
                            <a:rPr lang="en-US" altLang="zh-TW" dirty="0"/>
                            <a:t>)</a:t>
                          </a:r>
                        </a:p>
                        <a:p>
                          <a:r>
                            <a:rPr lang="en-US" altLang="zh-TW" dirty="0"/>
                            <a:t>two sequences of equal length n</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35656" t="-345679" r="-447131" b="-204938"/>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51502" t="-345679" r="-368240" b="-204938"/>
                          </a:stretch>
                        </a:blipFill>
                      </a:tcPr>
                    </a:tc>
                    <a:tc>
                      <a:txBody>
                        <a:bodyPr/>
                        <a:lstStyle/>
                        <a:p>
                          <a:r>
                            <a:rPr lang="en-US" altLang="zh-TW" dirty="0" err="1"/>
                            <a:t>Moosa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u="none" dirty="0"/>
                            <a:t>Does not allows repeated elements in the input sequences</a:t>
                          </a:r>
                          <a:endParaRPr lang="zh-TW" altLang="en-US" u="non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57052"/>
                      </a:ext>
                    </a:extLst>
                  </a:tr>
                  <a:tr h="2011680">
                    <a:tc>
                      <a:txBody>
                        <a:bodyPr/>
                        <a:lstStyle/>
                        <a:p>
                          <a:r>
                            <a:rPr lang="en-US" altLang="zh-TW" dirty="0"/>
                            <a:t>dynamic programming</a:t>
                          </a:r>
                        </a:p>
                        <a:p>
                          <a:r>
                            <a:rPr lang="en-US" altLang="zh-TW" dirty="0"/>
                            <a:t> two input sequences of lengths n and m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a:t>
                          </a:r>
                          <a:r>
                            <a:rPr lang="en-US" altLang="zh-TW" dirty="0" err="1"/>
                            <a:t>nml</a:t>
                          </a:r>
                          <a:r>
                            <a:rPr lang="en-US" altLang="zh-TW" dirty="0"/>
                            <a:t>)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O(nm)</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l is the length of the </a:t>
                          </a:r>
                          <a:r>
                            <a:rPr lang="en-US" altLang="zh-TW" u="sng" dirty="0"/>
                            <a:t>output</a:t>
                          </a:r>
                          <a:r>
                            <a:rPr lang="en-US" altLang="zh-TW" dirty="0"/>
                            <a:t> </a:t>
                          </a:r>
                          <a:r>
                            <a:rPr lang="en-US" altLang="zh-TW" dirty="0" err="1"/>
                            <a:t>LCaIS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Computing just the length of the </a:t>
                          </a:r>
                          <a:r>
                            <a:rPr lang="en-US" altLang="zh-TW" dirty="0" err="1"/>
                            <a:t>LCaIS</a:t>
                          </a:r>
                          <a:r>
                            <a:rPr lang="en-US" altLang="zh-TW" dirty="0"/>
                            <a:t> can be done using less space (i.e., O(l min(</a:t>
                          </a:r>
                          <a:r>
                            <a:rPr lang="en-US" altLang="zh-TW" dirty="0" err="1"/>
                            <a:t>m,n</a:t>
                          </a:r>
                          <a:r>
                            <a:rPr lang="en-US" altLang="zh-TW" dirty="0"/>
                            <a:t>))) by our algorithm.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u="sng" dirty="0"/>
                            <a:t>Allows repeated elements in the input sequences.</a:t>
                          </a:r>
                          <a:endParaRPr lang="en-US" altLang="zh-TW" dirty="0"/>
                        </a:p>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2628975"/>
                      </a:ext>
                    </a:extLst>
                  </a:tr>
                </a:tbl>
              </a:graphicData>
            </a:graphic>
          </p:graphicFrame>
        </mc:Fallback>
      </mc:AlternateContent>
    </p:spTree>
    <p:extLst>
      <p:ext uri="{BB962C8B-B14F-4D97-AF65-F5344CB8AC3E}">
        <p14:creationId xmlns:p14="http://schemas.microsoft.com/office/powerpoint/2010/main" val="3593445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C742AF-23B6-448E-9580-DE77982C0269}"/>
              </a:ext>
            </a:extLst>
          </p:cNvPr>
          <p:cNvSpPr>
            <a:spLocks noGrp="1"/>
          </p:cNvSpPr>
          <p:nvPr>
            <p:ph type="title"/>
          </p:nvPr>
        </p:nvSpPr>
        <p:spPr>
          <a:xfrm>
            <a:off x="838200" y="365125"/>
            <a:ext cx="10515600" cy="727695"/>
          </a:xfrm>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FA48DC74-BC55-428D-B0A3-8A25AB1C511A}"/>
              </a:ext>
            </a:extLst>
          </p:cNvPr>
          <p:cNvSpPr>
            <a:spLocks noGrp="1"/>
          </p:cNvSpPr>
          <p:nvPr>
            <p:ph idx="1"/>
          </p:nvPr>
        </p:nvSpPr>
        <p:spPr>
          <a:xfrm>
            <a:off x="838200" y="1092820"/>
            <a:ext cx="10413380" cy="5084143"/>
          </a:xfrm>
        </p:spPr>
        <p:txBody>
          <a:bodyPr>
            <a:normAutofit/>
          </a:bodyPr>
          <a:lstStyle/>
          <a:p>
            <a:r>
              <a:rPr lang="en-US" altLang="zh-TW" dirty="0"/>
              <a:t>Recall that according to the definition of the </a:t>
            </a:r>
            <a:r>
              <a:rPr lang="en-US" altLang="zh-TW" dirty="0" err="1"/>
              <a:t>LCaIS</a:t>
            </a:r>
            <a:r>
              <a:rPr lang="en-US" altLang="zh-TW" dirty="0"/>
              <a:t> problem, the input parameter c is required to be positive (i.e., c &gt; 0). However, if it is allowed to be zero (i.e., c = 0), then the </a:t>
            </a:r>
            <a:r>
              <a:rPr lang="en-US" altLang="zh-TW" dirty="0" err="1"/>
              <a:t>LCaIS</a:t>
            </a:r>
            <a:r>
              <a:rPr lang="en-US" altLang="zh-TW" dirty="0"/>
              <a:t> problem becomes the LCIS problem. </a:t>
            </a:r>
          </a:p>
          <a:p>
            <a:r>
              <a:rPr lang="en-US" altLang="zh-TW" dirty="0"/>
              <a:t>In the matching table, moreover, the representative entry of an increasing path for the LCIS problem is always at the last position of the path, while the representative entry of an almost increasing path for the </a:t>
            </a:r>
            <a:r>
              <a:rPr lang="en-US" altLang="zh-TW" dirty="0" err="1"/>
              <a:t>LCaIS</a:t>
            </a:r>
            <a:r>
              <a:rPr lang="en-US" altLang="zh-TW" dirty="0"/>
              <a:t> problem can be at any position.</a:t>
            </a:r>
          </a:p>
          <a:p>
            <a:r>
              <a:rPr lang="en-US" altLang="zh-TW" dirty="0"/>
              <a:t>LCIS problem is already known to be solvable in O(nm) time. Therefore, it will be interesting in future to study how to design more time efficient algorithms to solve the </a:t>
            </a:r>
            <a:r>
              <a:rPr lang="en-US" altLang="zh-TW" dirty="0" err="1"/>
              <a:t>LCaIS</a:t>
            </a:r>
            <a:r>
              <a:rPr lang="en-US" altLang="zh-TW" dirty="0"/>
              <a:t> problem.</a:t>
            </a:r>
            <a:endParaRPr lang="zh-TW" altLang="en-US" dirty="0"/>
          </a:p>
        </p:txBody>
      </p:sp>
    </p:spTree>
    <p:extLst>
      <p:ext uri="{BB962C8B-B14F-4D97-AF65-F5344CB8AC3E}">
        <p14:creationId xmlns:p14="http://schemas.microsoft.com/office/powerpoint/2010/main" val="678644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C8D9B3-6B2B-475C-975B-72BF4336594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26B85834-11E8-4C24-9482-69DA55A897B8}"/>
              </a:ext>
            </a:extLst>
          </p:cNvPr>
          <p:cNvSpPr>
            <a:spLocks noGrp="1"/>
          </p:cNvSpPr>
          <p:nvPr>
            <p:ph idx="1"/>
          </p:nvPr>
        </p:nvSpPr>
        <p:spPr/>
        <p:txBody>
          <a:bodyPr/>
          <a:lstStyle/>
          <a:p>
            <a:pPr marL="0" indent="0">
              <a:buNone/>
            </a:pPr>
            <a:r>
              <a:rPr lang="en-US" altLang="zh-TW" dirty="0"/>
              <a:t>Thanks for listening.</a:t>
            </a:r>
            <a:endParaRPr lang="zh-TW" altLang="en-US" dirty="0"/>
          </a:p>
        </p:txBody>
      </p:sp>
    </p:spTree>
    <p:extLst>
      <p:ext uri="{BB962C8B-B14F-4D97-AF65-F5344CB8AC3E}">
        <p14:creationId xmlns:p14="http://schemas.microsoft.com/office/powerpoint/2010/main" val="95790728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訂 1">
      <a:majorFont>
        <a:latin typeface="Times New Roman"/>
        <a:ea typeface="標楷體"/>
        <a:cs typeface=""/>
      </a:majorFont>
      <a:minorFont>
        <a:latin typeface="Times New Roman"/>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自訂字型times" id="{E1D4A977-75EA-443A-90D2-97A9D1BD4F23}" vid="{E047477F-16BD-4206-A534-1D27F4612E4F}"/>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簡報.自訂字型times</Template>
  <TotalTime>5499</TotalTime>
  <Words>2933</Words>
  <Application>Microsoft Office PowerPoint</Application>
  <PresentationFormat>寬螢幕</PresentationFormat>
  <Paragraphs>617</Paragraphs>
  <Slides>30</Slides>
  <Notes>15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30</vt:i4>
      </vt:variant>
    </vt:vector>
  </HeadingPairs>
  <TitlesOfParts>
    <vt:vector size="35" baseType="lpstr">
      <vt:lpstr>Arial</vt:lpstr>
      <vt:lpstr>Calibri</vt:lpstr>
      <vt:lpstr>Cambria Math</vt:lpstr>
      <vt:lpstr>Times New Roman</vt:lpstr>
      <vt:lpstr>Office 佈景主題</vt:lpstr>
      <vt:lpstr>Computing a longest common almost-increasing subsequence (LCaIS)of two sequences </vt:lpstr>
      <vt:lpstr>Abstract</vt:lpstr>
      <vt:lpstr>Motivates</vt:lpstr>
      <vt:lpstr>PowerPoint 簡報</vt:lpstr>
      <vt:lpstr>PowerPoint 簡報</vt:lpstr>
      <vt:lpstr>PowerPoint 簡報</vt:lpstr>
      <vt:lpstr>PowerPoint 簡報</vt:lpstr>
      <vt:lpstr>PowerPoint 簡報</vt:lpstr>
      <vt:lpstr>PowerPoint 簡報</vt:lpstr>
      <vt:lpstr>PowerPoint 簡報</vt:lpstr>
      <vt:lpstr>Algorithm of author</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Conclusion</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a longest common almost-increasing subsequence of two sequences</dc:title>
  <dc:creator>wujj</dc:creator>
  <cp:lastModifiedBy>wujj</cp:lastModifiedBy>
  <cp:revision>64</cp:revision>
  <dcterms:created xsi:type="dcterms:W3CDTF">2021-01-22T11:29:55Z</dcterms:created>
  <dcterms:modified xsi:type="dcterms:W3CDTF">2021-01-26T07:10:39Z</dcterms:modified>
</cp:coreProperties>
</file>