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79" r:id="rId4"/>
    <p:sldId id="286" r:id="rId5"/>
    <p:sldId id="288" r:id="rId6"/>
    <p:sldId id="287" r:id="rId7"/>
    <p:sldId id="284" r:id="rId8"/>
    <p:sldId id="316" r:id="rId9"/>
    <p:sldId id="315" r:id="rId10"/>
    <p:sldId id="313" r:id="rId11"/>
    <p:sldId id="321" r:id="rId12"/>
    <p:sldId id="317" r:id="rId13"/>
    <p:sldId id="302" r:id="rId14"/>
    <p:sldId id="322" r:id="rId15"/>
    <p:sldId id="318" r:id="rId16"/>
    <p:sldId id="264" r:id="rId17"/>
    <p:sldId id="336" r:id="rId18"/>
    <p:sldId id="337" r:id="rId19"/>
    <p:sldId id="341" r:id="rId20"/>
    <p:sldId id="343" r:id="rId21"/>
    <p:sldId id="348" r:id="rId22"/>
    <p:sldId id="325" r:id="rId23"/>
    <p:sldId id="328" r:id="rId24"/>
    <p:sldId id="340" r:id="rId25"/>
    <p:sldId id="331" r:id="rId26"/>
    <p:sldId id="332" r:id="rId27"/>
    <p:sldId id="349" r:id="rId28"/>
    <p:sldId id="333" r:id="rId29"/>
    <p:sldId id="345" r:id="rId30"/>
    <p:sldId id="346" r:id="rId31"/>
    <p:sldId id="344" r:id="rId3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6" autoAdjust="0"/>
    <p:restoredTop sz="88595" autoAdjust="0"/>
  </p:normalViewPr>
  <p:slideViewPr>
    <p:cSldViewPr snapToGrid="0">
      <p:cViewPr varScale="1">
        <p:scale>
          <a:sx n="95" d="100"/>
          <a:sy n="95" d="100"/>
        </p:scale>
        <p:origin x="119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2DDB9-9B99-47D5-A662-A9120641BD03}" type="datetimeFigureOut">
              <a:rPr lang="zh-TW" altLang="en-US" smtClean="0"/>
              <a:t>2021/11/30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52C0FA-E03D-41FD-A19D-CBB1CD73B781}" type="slidenum">
              <a:rPr lang="zh-TW" altLang="en-US" smtClean="0"/>
              <a:t>‹#›</a:t>
            </a:fld>
            <a:endParaRPr lang="zh-TW" altLang="en-US"/>
          </a:p>
        </p:txBody>
      </p:sp>
    </p:spTree>
    <p:extLst>
      <p:ext uri="{BB962C8B-B14F-4D97-AF65-F5344CB8AC3E}">
        <p14:creationId xmlns:p14="http://schemas.microsoft.com/office/powerpoint/2010/main" val="4135095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Critical-Path-on-a-Processor (CPOP) algorithm</a:t>
            </a:r>
            <a:endParaRPr lang="zh-TW" altLang="en-US" dirty="0"/>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5</a:t>
            </a:fld>
            <a:endParaRPr lang="zh-TW" altLang="en-US"/>
          </a:p>
        </p:txBody>
      </p:sp>
    </p:spTree>
    <p:extLst>
      <p:ext uri="{BB962C8B-B14F-4D97-AF65-F5344CB8AC3E}">
        <p14:creationId xmlns:p14="http://schemas.microsoft.com/office/powerpoint/2010/main" val="2304091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5D52C0FA-E03D-41FD-A19D-CBB1CD73B781}" type="slidenum">
              <a:rPr lang="zh-TW" altLang="en-US" smtClean="0"/>
              <a:t>16</a:t>
            </a:fld>
            <a:endParaRPr lang="zh-TW" altLang="en-US"/>
          </a:p>
        </p:txBody>
      </p:sp>
    </p:spTree>
    <p:extLst>
      <p:ext uri="{BB962C8B-B14F-4D97-AF65-F5344CB8AC3E}">
        <p14:creationId xmlns:p14="http://schemas.microsoft.com/office/powerpoint/2010/main" val="2382686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什麼型態 要幾個在預算之內</a:t>
            </a:r>
          </a:p>
          <a:p>
            <a:endParaRPr lang="zh-TW" altLang="en-US" dirty="0"/>
          </a:p>
        </p:txBody>
      </p:sp>
      <p:sp>
        <p:nvSpPr>
          <p:cNvPr id="4" name="投影片編號版面配置區 3"/>
          <p:cNvSpPr>
            <a:spLocks noGrp="1"/>
          </p:cNvSpPr>
          <p:nvPr>
            <p:ph type="sldNum" sz="quarter" idx="5"/>
          </p:nvPr>
        </p:nvSpPr>
        <p:spPr/>
        <p:txBody>
          <a:bodyPr/>
          <a:lstStyle/>
          <a:p>
            <a:fld id="{5D52C0FA-E03D-41FD-A19D-CBB1CD73B781}" type="slidenum">
              <a:rPr lang="zh-TW" altLang="en-US" smtClean="0"/>
              <a:t>19</a:t>
            </a:fld>
            <a:endParaRPr lang="zh-TW" altLang="en-US"/>
          </a:p>
        </p:txBody>
      </p:sp>
    </p:spTree>
    <p:extLst>
      <p:ext uri="{BB962C8B-B14F-4D97-AF65-F5344CB8AC3E}">
        <p14:creationId xmlns:p14="http://schemas.microsoft.com/office/powerpoint/2010/main" val="3384743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由於資源提供方法沒有考慮提供實例的運行時間超過一小時的情況，因此在調度階段可能會違反預算約束。</a:t>
            </a:r>
          </a:p>
        </p:txBody>
      </p:sp>
      <p:sp>
        <p:nvSpPr>
          <p:cNvPr id="4" name="投影片編號版面配置區 3"/>
          <p:cNvSpPr>
            <a:spLocks noGrp="1"/>
          </p:cNvSpPr>
          <p:nvPr>
            <p:ph type="sldNum" sz="quarter" idx="5"/>
          </p:nvPr>
        </p:nvSpPr>
        <p:spPr/>
        <p:txBody>
          <a:bodyPr/>
          <a:lstStyle/>
          <a:p>
            <a:fld id="{5D52C0FA-E03D-41FD-A19D-CBB1CD73B781}" type="slidenum">
              <a:rPr lang="zh-TW" altLang="en-US" smtClean="0"/>
              <a:t>25</a:t>
            </a:fld>
            <a:endParaRPr lang="zh-TW" altLang="en-US"/>
          </a:p>
        </p:txBody>
      </p:sp>
    </p:spTree>
    <p:extLst>
      <p:ext uri="{BB962C8B-B14F-4D97-AF65-F5344CB8AC3E}">
        <p14:creationId xmlns:p14="http://schemas.microsoft.com/office/powerpoint/2010/main" val="4167434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添加任務不會使實例的運行時間增加超過一小時，則運行實例的成本保持不變。</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Heft</a:t>
            </a:r>
            <a:r>
              <a:rPr lang="zh-TW" altLang="en-US" dirty="0"/>
              <a:t>不關心預算</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如果存在大於 </a:t>
            </a:r>
            <a:r>
              <a:rPr lang="en-US" altLang="zh-TW" dirty="0" err="1"/>
              <a:t>ti</a:t>
            </a:r>
            <a:r>
              <a:rPr lang="en-US" altLang="zh-TW" dirty="0"/>
              <a:t> </a:t>
            </a:r>
            <a:r>
              <a:rPr lang="zh-TW" altLang="en-US" dirty="0"/>
              <a:t>執行的任何間隙，則將 </a:t>
            </a:r>
            <a:r>
              <a:rPr lang="en-US" altLang="zh-TW" dirty="0" err="1"/>
              <a:t>ti</a:t>
            </a:r>
            <a:r>
              <a:rPr lang="en-US" altLang="zh-TW" dirty="0"/>
              <a:t> </a:t>
            </a:r>
            <a:r>
              <a:rPr lang="zh-TW" altLang="en-US" dirty="0"/>
              <a:t>放置在第一個可行間隙內</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5D52C0FA-E03D-41FD-A19D-CBB1CD73B781}" type="slidenum">
              <a:rPr lang="zh-TW" altLang="en-US" smtClean="0"/>
              <a:t>26</a:t>
            </a:fld>
            <a:endParaRPr lang="zh-TW" altLang="en-US"/>
          </a:p>
        </p:txBody>
      </p:sp>
    </p:spTree>
    <p:extLst>
      <p:ext uri="{BB962C8B-B14F-4D97-AF65-F5344CB8AC3E}">
        <p14:creationId xmlns:p14="http://schemas.microsoft.com/office/powerpoint/2010/main" val="1660818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8DA2FE-38A9-43C3-AE3E-3D7DC028C2C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TW" altLang="en-US" dirty="0"/>
          </a:p>
        </p:txBody>
      </p:sp>
      <p:sp>
        <p:nvSpPr>
          <p:cNvPr id="3" name="副標題 2">
            <a:extLst>
              <a:ext uri="{FF2B5EF4-FFF2-40B4-BE49-F238E27FC236}">
                <a16:creationId xmlns:a16="http://schemas.microsoft.com/office/drawing/2014/main" id="{C28DA793-1ED9-4AC5-ADE6-717C6E4412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496CD283-2E6E-45B0-AE40-0E03201963B9}"/>
              </a:ext>
            </a:extLst>
          </p:cNvPr>
          <p:cNvSpPr>
            <a:spLocks noGrp="1"/>
          </p:cNvSpPr>
          <p:nvPr>
            <p:ph type="dt" sz="half" idx="10"/>
          </p:nvPr>
        </p:nvSpPr>
        <p:spPr/>
        <p:txBody>
          <a:bodyPr/>
          <a:lstStyle/>
          <a:p>
            <a:fld id="{F4A2503F-1177-4A4E-8015-3B0661847685}" type="datetimeFigureOut">
              <a:rPr lang="zh-TW" altLang="en-US" smtClean="0"/>
              <a:t>2021/11/30</a:t>
            </a:fld>
            <a:endParaRPr lang="zh-TW" altLang="en-US"/>
          </a:p>
        </p:txBody>
      </p:sp>
      <p:sp>
        <p:nvSpPr>
          <p:cNvPr id="5" name="頁尾版面配置區 4">
            <a:extLst>
              <a:ext uri="{FF2B5EF4-FFF2-40B4-BE49-F238E27FC236}">
                <a16:creationId xmlns:a16="http://schemas.microsoft.com/office/drawing/2014/main" id="{1CBFBBAF-E448-48D6-9C98-4F7ED65D41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D44C46B-486A-4EEB-AE91-FC848E313F0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51876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56184D-7BA3-45BD-B790-90F61BE6AA6A}"/>
              </a:ext>
            </a:extLst>
          </p:cNvPr>
          <p:cNvSpPr>
            <a:spLocks noGrp="1"/>
          </p:cNvSpPr>
          <p:nvPr>
            <p:ph type="title" hasCustomPrompt="1"/>
          </p:nvPr>
        </p:nvSpPr>
        <p:spPr/>
        <p:txBody>
          <a:bodyPr/>
          <a:lstStyle>
            <a:lvl1pPr>
              <a:defRPr>
                <a:latin typeface="Times New Roman" panose="02020603050405020304" pitchFamily="18" charset="0"/>
                <a:cs typeface="Times New Roman" panose="02020603050405020304" pitchFamily="18" charset="0"/>
              </a:defRPr>
            </a:lvl1pPr>
          </a:lstStyle>
          <a:p>
            <a:r>
              <a:rPr lang="en-US" altLang="zh-TW" dirty="0" err="1"/>
              <a:t>ti</a:t>
            </a:r>
            <a:endParaRPr lang="zh-TW" altLang="en-US" dirty="0"/>
          </a:p>
        </p:txBody>
      </p:sp>
      <p:sp>
        <p:nvSpPr>
          <p:cNvPr id="3" name="內容版面配置區 2">
            <a:extLst>
              <a:ext uri="{FF2B5EF4-FFF2-40B4-BE49-F238E27FC236}">
                <a16:creationId xmlns:a16="http://schemas.microsoft.com/office/drawing/2014/main" id="{32E43BFC-2DD2-4C4E-A3DC-B1498A5C7BFE}"/>
              </a:ext>
            </a:extLst>
          </p:cNvPr>
          <p:cNvSpPr>
            <a:spLocks noGrp="1"/>
          </p:cNvSpPr>
          <p:nvPr>
            <p:ph idx="1" hasCustomPrompt="1"/>
          </p:nvPr>
        </p:nvSpPr>
        <p:spPr/>
        <p:txBody>
          <a:bodyPr/>
          <a:lstStyle>
            <a:lvl1pPr>
              <a:defRPr/>
            </a:lvl1pPr>
          </a:lstStyle>
          <a:p>
            <a:pPr lvl="0"/>
            <a:r>
              <a:rPr lang="en-US" altLang="zh-TW" dirty="0" err="1"/>
              <a:t>ti</a:t>
            </a:r>
            <a:endParaRPr lang="zh-TW" altLang="en-US" dirty="0"/>
          </a:p>
        </p:txBody>
      </p:sp>
      <p:sp>
        <p:nvSpPr>
          <p:cNvPr id="4" name="日期版面配置區 3">
            <a:extLst>
              <a:ext uri="{FF2B5EF4-FFF2-40B4-BE49-F238E27FC236}">
                <a16:creationId xmlns:a16="http://schemas.microsoft.com/office/drawing/2014/main" id="{FE2AF72A-38B9-4AAF-8A61-A362036F1EAA}"/>
              </a:ext>
            </a:extLst>
          </p:cNvPr>
          <p:cNvSpPr>
            <a:spLocks noGrp="1"/>
          </p:cNvSpPr>
          <p:nvPr>
            <p:ph type="dt" sz="half" idx="10"/>
          </p:nvPr>
        </p:nvSpPr>
        <p:spPr/>
        <p:txBody>
          <a:bodyPr/>
          <a:lstStyle/>
          <a:p>
            <a:fld id="{F4A2503F-1177-4A4E-8015-3B0661847685}" type="datetimeFigureOut">
              <a:rPr lang="zh-TW" altLang="en-US" smtClean="0"/>
              <a:t>2021/11/30</a:t>
            </a:fld>
            <a:endParaRPr lang="zh-TW" altLang="en-US"/>
          </a:p>
        </p:txBody>
      </p:sp>
      <p:sp>
        <p:nvSpPr>
          <p:cNvPr id="5" name="頁尾版面配置區 4">
            <a:extLst>
              <a:ext uri="{FF2B5EF4-FFF2-40B4-BE49-F238E27FC236}">
                <a16:creationId xmlns:a16="http://schemas.microsoft.com/office/drawing/2014/main" id="{259927B3-B328-427A-B723-042ACF31DE9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4E6C5C-F026-4D4A-9396-A8E02D240B3A}"/>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888124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94A83-2AAB-4A5C-A410-587CB4BA1C7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9E32E77-4D2E-4E74-A383-EA8A4FB5FB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AA91082-4FBD-4622-B1DF-8A9487D073B0}"/>
              </a:ext>
            </a:extLst>
          </p:cNvPr>
          <p:cNvSpPr>
            <a:spLocks noGrp="1"/>
          </p:cNvSpPr>
          <p:nvPr>
            <p:ph type="dt" sz="half" idx="10"/>
          </p:nvPr>
        </p:nvSpPr>
        <p:spPr/>
        <p:txBody>
          <a:bodyPr/>
          <a:lstStyle/>
          <a:p>
            <a:fld id="{F4A2503F-1177-4A4E-8015-3B0661847685}" type="datetimeFigureOut">
              <a:rPr lang="zh-TW" altLang="en-US" smtClean="0"/>
              <a:t>2021/11/30</a:t>
            </a:fld>
            <a:endParaRPr lang="zh-TW" altLang="en-US"/>
          </a:p>
        </p:txBody>
      </p:sp>
      <p:sp>
        <p:nvSpPr>
          <p:cNvPr id="5" name="頁尾版面配置區 4">
            <a:extLst>
              <a:ext uri="{FF2B5EF4-FFF2-40B4-BE49-F238E27FC236}">
                <a16:creationId xmlns:a16="http://schemas.microsoft.com/office/drawing/2014/main" id="{0F5F8BDE-A8F0-4DAC-99B2-50D2C0076B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8DC32A-8949-44F7-81E2-B83CF99B6149}"/>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919968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106E30-2946-483D-B775-554A96368A8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E3A773B-9F35-4E3D-A849-8D0145B8D16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05B11846-CABE-4EAB-BE62-420CD5D066C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BEC952-B9F4-416C-BB41-8EE327AE64DA}"/>
              </a:ext>
            </a:extLst>
          </p:cNvPr>
          <p:cNvSpPr>
            <a:spLocks noGrp="1"/>
          </p:cNvSpPr>
          <p:nvPr>
            <p:ph type="dt" sz="half" idx="10"/>
          </p:nvPr>
        </p:nvSpPr>
        <p:spPr/>
        <p:txBody>
          <a:bodyPr/>
          <a:lstStyle/>
          <a:p>
            <a:fld id="{F4A2503F-1177-4A4E-8015-3B0661847685}" type="datetimeFigureOut">
              <a:rPr lang="zh-TW" altLang="en-US" smtClean="0"/>
              <a:t>2021/11/30</a:t>
            </a:fld>
            <a:endParaRPr lang="zh-TW" altLang="en-US"/>
          </a:p>
        </p:txBody>
      </p:sp>
      <p:sp>
        <p:nvSpPr>
          <p:cNvPr id="6" name="頁尾版面配置區 5">
            <a:extLst>
              <a:ext uri="{FF2B5EF4-FFF2-40B4-BE49-F238E27FC236}">
                <a16:creationId xmlns:a16="http://schemas.microsoft.com/office/drawing/2014/main" id="{2FE91547-DAC4-4194-9975-1908B4FB91D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8D607A5-83F1-4527-B1B7-BDF1CAEE3F0C}"/>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958607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54347C-74DC-4CB0-AED7-83CE1D00D21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A4958F8-A4BE-4B24-8356-FDD0A3445D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0894F9C-30F3-4BB9-B5A6-A3AE0063796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35A7371-F775-49D1-9F58-FCB95D2C16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B1B7DB5-49B1-46D6-BF9E-30B3944E8931}"/>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A296A5A-46FE-4924-80F3-7CA1E9542C98}"/>
              </a:ext>
            </a:extLst>
          </p:cNvPr>
          <p:cNvSpPr>
            <a:spLocks noGrp="1"/>
          </p:cNvSpPr>
          <p:nvPr>
            <p:ph type="dt" sz="half" idx="10"/>
          </p:nvPr>
        </p:nvSpPr>
        <p:spPr/>
        <p:txBody>
          <a:bodyPr/>
          <a:lstStyle/>
          <a:p>
            <a:fld id="{F4A2503F-1177-4A4E-8015-3B0661847685}" type="datetimeFigureOut">
              <a:rPr lang="zh-TW" altLang="en-US" smtClean="0"/>
              <a:t>2021/11/30</a:t>
            </a:fld>
            <a:endParaRPr lang="zh-TW" altLang="en-US"/>
          </a:p>
        </p:txBody>
      </p:sp>
      <p:sp>
        <p:nvSpPr>
          <p:cNvPr id="8" name="頁尾版面配置區 7">
            <a:extLst>
              <a:ext uri="{FF2B5EF4-FFF2-40B4-BE49-F238E27FC236}">
                <a16:creationId xmlns:a16="http://schemas.microsoft.com/office/drawing/2014/main" id="{F7C630AC-DFE1-4D71-9917-19247C1F85C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4B8C931-DB59-4526-8001-0E5FDF164AF8}"/>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998037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F63E41-CEC2-4F37-AAEA-7C0C0248FA3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B31E847-1C3E-4C63-AF56-AFC9B011C5D8}"/>
              </a:ext>
            </a:extLst>
          </p:cNvPr>
          <p:cNvSpPr>
            <a:spLocks noGrp="1"/>
          </p:cNvSpPr>
          <p:nvPr>
            <p:ph type="dt" sz="half" idx="10"/>
          </p:nvPr>
        </p:nvSpPr>
        <p:spPr/>
        <p:txBody>
          <a:bodyPr/>
          <a:lstStyle/>
          <a:p>
            <a:fld id="{F4A2503F-1177-4A4E-8015-3B0661847685}" type="datetimeFigureOut">
              <a:rPr lang="zh-TW" altLang="en-US" smtClean="0"/>
              <a:t>2021/11/30</a:t>
            </a:fld>
            <a:endParaRPr lang="zh-TW" altLang="en-US"/>
          </a:p>
        </p:txBody>
      </p:sp>
      <p:sp>
        <p:nvSpPr>
          <p:cNvPr id="4" name="頁尾版面配置區 3">
            <a:extLst>
              <a:ext uri="{FF2B5EF4-FFF2-40B4-BE49-F238E27FC236}">
                <a16:creationId xmlns:a16="http://schemas.microsoft.com/office/drawing/2014/main" id="{75085913-2E3E-4049-A848-946D845AACB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2C93600-AC47-4BCE-9D50-108C888DE3F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253514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E8C1A37-E1DB-4353-B8C2-449B11A093EA}"/>
              </a:ext>
            </a:extLst>
          </p:cNvPr>
          <p:cNvSpPr>
            <a:spLocks noGrp="1"/>
          </p:cNvSpPr>
          <p:nvPr>
            <p:ph type="dt" sz="half" idx="10"/>
          </p:nvPr>
        </p:nvSpPr>
        <p:spPr/>
        <p:txBody>
          <a:bodyPr/>
          <a:lstStyle/>
          <a:p>
            <a:fld id="{F4A2503F-1177-4A4E-8015-3B0661847685}" type="datetimeFigureOut">
              <a:rPr lang="zh-TW" altLang="en-US" smtClean="0"/>
              <a:t>2021/11/30</a:t>
            </a:fld>
            <a:endParaRPr lang="zh-TW" altLang="en-US"/>
          </a:p>
        </p:txBody>
      </p:sp>
      <p:sp>
        <p:nvSpPr>
          <p:cNvPr id="3" name="頁尾版面配置區 2">
            <a:extLst>
              <a:ext uri="{FF2B5EF4-FFF2-40B4-BE49-F238E27FC236}">
                <a16:creationId xmlns:a16="http://schemas.microsoft.com/office/drawing/2014/main" id="{FF3463C6-00AC-42CC-B63E-8629A2782FE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65053A4-6DC4-437D-8D38-E158378EE3C2}"/>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729107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70F7FC-8574-4AD7-9C06-68F6FAE49E6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D36714A-AF50-4099-93D9-86186ED92B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6DBC3B7-42ED-430E-B62F-657278DD7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EE20C7E-F4DA-42C0-992D-559213079D7E}"/>
              </a:ext>
            </a:extLst>
          </p:cNvPr>
          <p:cNvSpPr>
            <a:spLocks noGrp="1"/>
          </p:cNvSpPr>
          <p:nvPr>
            <p:ph type="dt" sz="half" idx="10"/>
          </p:nvPr>
        </p:nvSpPr>
        <p:spPr/>
        <p:txBody>
          <a:bodyPr/>
          <a:lstStyle/>
          <a:p>
            <a:fld id="{F4A2503F-1177-4A4E-8015-3B0661847685}" type="datetimeFigureOut">
              <a:rPr lang="zh-TW" altLang="en-US" smtClean="0"/>
              <a:t>2021/11/30</a:t>
            </a:fld>
            <a:endParaRPr lang="zh-TW" altLang="en-US"/>
          </a:p>
        </p:txBody>
      </p:sp>
      <p:sp>
        <p:nvSpPr>
          <p:cNvPr id="6" name="頁尾版面配置區 5">
            <a:extLst>
              <a:ext uri="{FF2B5EF4-FFF2-40B4-BE49-F238E27FC236}">
                <a16:creationId xmlns:a16="http://schemas.microsoft.com/office/drawing/2014/main" id="{8143E935-5D8F-4668-9377-D6659857E2C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B7D27C-5EF8-4572-89F2-8DBEEA27503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732207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A067B3-FF39-49E4-9074-9B95C4A0943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6DD7DA6-20A5-4C3D-8DFC-2DB5745622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a:extLst>
              <a:ext uri="{FF2B5EF4-FFF2-40B4-BE49-F238E27FC236}">
                <a16:creationId xmlns:a16="http://schemas.microsoft.com/office/drawing/2014/main" id="{2986B126-0E5E-4052-A79B-6F1CCAFA1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DEA2E1D-5A5F-40CA-A36D-A312BE08442B}"/>
              </a:ext>
            </a:extLst>
          </p:cNvPr>
          <p:cNvSpPr>
            <a:spLocks noGrp="1"/>
          </p:cNvSpPr>
          <p:nvPr>
            <p:ph type="dt" sz="half" idx="10"/>
          </p:nvPr>
        </p:nvSpPr>
        <p:spPr/>
        <p:txBody>
          <a:bodyPr/>
          <a:lstStyle/>
          <a:p>
            <a:fld id="{F4A2503F-1177-4A4E-8015-3B0661847685}" type="datetimeFigureOut">
              <a:rPr lang="zh-TW" altLang="en-US" smtClean="0"/>
              <a:t>2021/11/30</a:t>
            </a:fld>
            <a:endParaRPr lang="zh-TW" altLang="en-US"/>
          </a:p>
        </p:txBody>
      </p:sp>
      <p:sp>
        <p:nvSpPr>
          <p:cNvPr id="6" name="頁尾版面配置區 5">
            <a:extLst>
              <a:ext uri="{FF2B5EF4-FFF2-40B4-BE49-F238E27FC236}">
                <a16:creationId xmlns:a16="http://schemas.microsoft.com/office/drawing/2014/main" id="{EF647EB2-1087-4D45-AAC7-C04A5AEEA5F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BB460F0-2254-479E-BFB4-4D507B459DF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882825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E3F87C-0C73-4569-942C-CF6451875A8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25398C3-786C-4DCC-95AE-F79AB1877A28}"/>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EB9FB1-20EF-4708-BBDB-3E1BCF2CE040}"/>
              </a:ext>
            </a:extLst>
          </p:cNvPr>
          <p:cNvSpPr>
            <a:spLocks noGrp="1"/>
          </p:cNvSpPr>
          <p:nvPr>
            <p:ph type="dt" sz="half" idx="10"/>
          </p:nvPr>
        </p:nvSpPr>
        <p:spPr/>
        <p:txBody>
          <a:bodyPr/>
          <a:lstStyle/>
          <a:p>
            <a:fld id="{F4A2503F-1177-4A4E-8015-3B0661847685}" type="datetimeFigureOut">
              <a:rPr lang="zh-TW" altLang="en-US" smtClean="0"/>
              <a:t>2021/11/30</a:t>
            </a:fld>
            <a:endParaRPr lang="zh-TW" altLang="en-US"/>
          </a:p>
        </p:txBody>
      </p:sp>
      <p:sp>
        <p:nvSpPr>
          <p:cNvPr id="5" name="頁尾版面配置區 4">
            <a:extLst>
              <a:ext uri="{FF2B5EF4-FFF2-40B4-BE49-F238E27FC236}">
                <a16:creationId xmlns:a16="http://schemas.microsoft.com/office/drawing/2014/main" id="{01F7FD53-A757-40F6-9969-6E0434DA469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DE0B9B2-5181-4FAA-87DA-6AD571741D36}"/>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350597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302A61-0C02-46CD-8DC8-BF935321287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dirty="0"/>
          </a:p>
        </p:txBody>
      </p:sp>
      <p:sp>
        <p:nvSpPr>
          <p:cNvPr id="3" name="直排文字版面配置區 2">
            <a:extLst>
              <a:ext uri="{FF2B5EF4-FFF2-40B4-BE49-F238E27FC236}">
                <a16:creationId xmlns:a16="http://schemas.microsoft.com/office/drawing/2014/main" id="{806A379B-846E-46F8-BF6E-611A4DA0A94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BB5C4E5-BA35-4FF8-99C5-98F1A8682EA8}"/>
              </a:ext>
            </a:extLst>
          </p:cNvPr>
          <p:cNvSpPr>
            <a:spLocks noGrp="1"/>
          </p:cNvSpPr>
          <p:nvPr>
            <p:ph type="dt" sz="half" idx="10"/>
          </p:nvPr>
        </p:nvSpPr>
        <p:spPr/>
        <p:txBody>
          <a:bodyPr/>
          <a:lstStyle/>
          <a:p>
            <a:fld id="{F4A2503F-1177-4A4E-8015-3B0661847685}" type="datetimeFigureOut">
              <a:rPr lang="zh-TW" altLang="en-US" smtClean="0"/>
              <a:t>2021/11/30</a:t>
            </a:fld>
            <a:endParaRPr lang="zh-TW" altLang="en-US"/>
          </a:p>
        </p:txBody>
      </p:sp>
      <p:sp>
        <p:nvSpPr>
          <p:cNvPr id="5" name="頁尾版面配置區 4">
            <a:extLst>
              <a:ext uri="{FF2B5EF4-FFF2-40B4-BE49-F238E27FC236}">
                <a16:creationId xmlns:a16="http://schemas.microsoft.com/office/drawing/2014/main" id="{AB141E24-01B9-40CC-8B56-3E2DDCCD7E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7F96409-420B-4CDB-9974-E92F79D38DA4}"/>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442696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B0A74E0-49D5-4C60-9101-23AECDB08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FDEB5E8B-37F4-436E-B651-875A938BC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A1E7728-55AD-4793-A9C1-1F9019CC35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2503F-1177-4A4E-8015-3B0661847685}" type="datetimeFigureOut">
              <a:rPr lang="zh-TW" altLang="en-US" smtClean="0"/>
              <a:t>2021/11/30</a:t>
            </a:fld>
            <a:endParaRPr lang="zh-TW" altLang="en-US"/>
          </a:p>
        </p:txBody>
      </p:sp>
      <p:sp>
        <p:nvSpPr>
          <p:cNvPr id="5" name="頁尾版面配置區 4">
            <a:extLst>
              <a:ext uri="{FF2B5EF4-FFF2-40B4-BE49-F238E27FC236}">
                <a16:creationId xmlns:a16="http://schemas.microsoft.com/office/drawing/2014/main" id="{05280DE3-C4AF-4CC8-91A4-8EB5E22A51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20FD4E5-BD8C-43C9-959E-6AA435F715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069491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標楷體" panose="03000509000000000000" pitchFamily="65" charset="-120"/>
          <a:ea typeface="標楷體" panose="03000509000000000000" pitchFamily="65" charset="-12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83053A-CC8D-454D-B92C-944C12D93638}"/>
              </a:ext>
            </a:extLst>
          </p:cNvPr>
          <p:cNvSpPr>
            <a:spLocks noGrp="1"/>
          </p:cNvSpPr>
          <p:nvPr>
            <p:ph type="ctrTitle"/>
          </p:nvPr>
        </p:nvSpPr>
        <p:spPr>
          <a:xfrm>
            <a:off x="254833" y="504018"/>
            <a:ext cx="11682333" cy="2924982"/>
          </a:xfrm>
        </p:spPr>
        <p:txBody>
          <a:bodyPr>
            <a:noAutofit/>
          </a:bodyPr>
          <a:lstStyle/>
          <a:p>
            <a:r>
              <a:rPr lang="en-US" altLang="zh-TW" sz="4400" b="0" i="0" dirty="0">
                <a:effectLst/>
                <a:latin typeface="Times New Roman" panose="02020603050405020304" pitchFamily="18" charset="0"/>
                <a:cs typeface="Times New Roman" panose="02020603050405020304" pitchFamily="18" charset="0"/>
              </a:rPr>
              <a:t>Modified HEFT Algorithm for Task Scheduling in Cloud Environment</a:t>
            </a:r>
          </a:p>
        </p:txBody>
      </p:sp>
      <p:sp>
        <p:nvSpPr>
          <p:cNvPr id="3" name="副標題 2">
            <a:extLst>
              <a:ext uri="{FF2B5EF4-FFF2-40B4-BE49-F238E27FC236}">
                <a16:creationId xmlns:a16="http://schemas.microsoft.com/office/drawing/2014/main" id="{5F758A5A-5857-4E7C-930D-EA56FC5A3499}"/>
              </a:ext>
            </a:extLst>
          </p:cNvPr>
          <p:cNvSpPr>
            <a:spLocks noGrp="1"/>
          </p:cNvSpPr>
          <p:nvPr>
            <p:ph type="subTitle" idx="1"/>
          </p:nvPr>
        </p:nvSpPr>
        <p:spPr>
          <a:xfrm>
            <a:off x="254833" y="3602037"/>
            <a:ext cx="11812249" cy="2154185"/>
          </a:xfrm>
        </p:spPr>
        <p:txBody>
          <a:bodyPr>
            <a:normAutofit fontScale="92500" lnSpcReduction="10000"/>
          </a:bodyPr>
          <a:lstStyle/>
          <a:p>
            <a:endParaRPr lang="en-US" altLang="zh-TW" dirty="0"/>
          </a:p>
          <a:p>
            <a:r>
              <a:rPr lang="en-US" altLang="zh-TW" sz="2600" b="0" i="0" u="none" strike="noStrike" dirty="0">
                <a:effectLst/>
              </a:rPr>
              <a:t>Kalka Dubey,  Mohit Kumar,  </a:t>
            </a:r>
            <a:r>
              <a:rPr lang="en-US" altLang="zh-TW" sz="2600" b="0" i="0" u="none" strike="noStrike" dirty="0" err="1">
                <a:effectLst/>
              </a:rPr>
              <a:t>S.C.Sharma</a:t>
            </a:r>
            <a:endParaRPr lang="en-US" altLang="zh-TW" sz="2600" b="0" i="0" u="none" strike="noStrike" dirty="0">
              <a:effectLst/>
            </a:endParaRPr>
          </a:p>
          <a:p>
            <a:endParaRPr lang="en-US" altLang="zh-TW" sz="2600" b="0" i="0" u="none" strike="noStrike" dirty="0">
              <a:effectLst/>
            </a:endParaRPr>
          </a:p>
          <a:p>
            <a:r>
              <a:rPr lang="en-US" altLang="zh-TW" sz="2600" b="0" i="0" dirty="0">
                <a:effectLst/>
                <a:latin typeface="NexusSans"/>
              </a:rPr>
              <a:t>The 6th International Conference on Smart Computing and </a:t>
            </a:r>
            <a:r>
              <a:rPr lang="en-US" altLang="zh-TW" sz="2600" b="0" i="0" dirty="0" err="1">
                <a:effectLst/>
                <a:latin typeface="NexusSans"/>
              </a:rPr>
              <a:t>Communications,India</a:t>
            </a:r>
            <a:endParaRPr lang="en-US" altLang="zh-TW" sz="2600" b="0" i="0" dirty="0">
              <a:effectLst/>
              <a:latin typeface="NexusSans"/>
            </a:endParaRPr>
          </a:p>
          <a:p>
            <a:r>
              <a:rPr lang="en-US" altLang="zh-TW" sz="2600" b="0" i="0" u="none" strike="noStrike" dirty="0">
                <a:effectLst/>
              </a:rPr>
              <a:t>Procedia Computer Science Volume 125</a:t>
            </a:r>
            <a:r>
              <a:rPr lang="en-US" altLang="zh-TW" sz="2600" b="0" i="0" dirty="0">
                <a:effectLst/>
              </a:rPr>
              <a:t>, 2018, Pages 725-732</a:t>
            </a:r>
          </a:p>
          <a:p>
            <a:endParaRPr lang="en-US" altLang="zh-TW" b="0" i="0" dirty="0">
              <a:solidFill>
                <a:srgbClr val="505050"/>
              </a:solidFill>
              <a:effectLst/>
              <a:latin typeface="NexusSans"/>
            </a:endParaRPr>
          </a:p>
          <a:p>
            <a:pPr algn="ctr"/>
            <a:endParaRPr lang="en-US" altLang="zh-TW" b="0" i="0" dirty="0">
              <a:effectLst/>
            </a:endParaRPr>
          </a:p>
          <a:p>
            <a:endParaRPr lang="zh-TW" altLang="en-US" dirty="0"/>
          </a:p>
        </p:txBody>
      </p:sp>
      <p:sp>
        <p:nvSpPr>
          <p:cNvPr id="4" name="文字方塊 3">
            <a:extLst>
              <a:ext uri="{FF2B5EF4-FFF2-40B4-BE49-F238E27FC236}">
                <a16:creationId xmlns:a16="http://schemas.microsoft.com/office/drawing/2014/main" id="{8098C1D1-1C3E-4A91-B792-ABF5E5BB1C5D}"/>
              </a:ext>
            </a:extLst>
          </p:cNvPr>
          <p:cNvSpPr txBox="1"/>
          <p:nvPr/>
        </p:nvSpPr>
        <p:spPr>
          <a:xfrm>
            <a:off x="9039069" y="5756223"/>
            <a:ext cx="2898097" cy="646331"/>
          </a:xfrm>
          <a:prstGeom prst="rect">
            <a:avLst/>
          </a:prstGeom>
          <a:noFill/>
        </p:spPr>
        <p:txBody>
          <a:bodyPr wrap="square" rtlCol="0">
            <a:spAutoFit/>
          </a:bodyPr>
          <a:lstStyle/>
          <a:p>
            <a:r>
              <a:rPr lang="en-US" altLang="zh-TW" dirty="0"/>
              <a:t>Presenter: </a:t>
            </a:r>
            <a:r>
              <a:rPr lang="en-US" altLang="zh-TW" dirty="0" err="1"/>
              <a:t>Jue</a:t>
            </a:r>
            <a:r>
              <a:rPr lang="en-US" altLang="zh-TW" dirty="0"/>
              <a:t>-Jun Wu</a:t>
            </a:r>
          </a:p>
          <a:p>
            <a:r>
              <a:rPr lang="en-US" altLang="zh-TW" dirty="0"/>
              <a:t>Date: Nov. 30, 2021</a:t>
            </a:r>
            <a:endParaRPr lang="zh-TW" altLang="en-US" dirty="0"/>
          </a:p>
        </p:txBody>
      </p:sp>
    </p:spTree>
    <p:extLst>
      <p:ext uri="{BB962C8B-B14F-4D97-AF65-F5344CB8AC3E}">
        <p14:creationId xmlns:p14="http://schemas.microsoft.com/office/powerpoint/2010/main" val="55839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CC9F7A-B9FE-4382-9C2B-238794EEBECA}"/>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2CFE4B4A-8D1F-4268-A175-8022D34327C2}"/>
              </a:ext>
            </a:extLst>
          </p:cNvPr>
          <p:cNvSpPr>
            <a:spLocks noGrp="1"/>
          </p:cNvSpPr>
          <p:nvPr>
            <p:ph idx="1"/>
          </p:nvPr>
        </p:nvSpPr>
        <p:spPr>
          <a:xfrm>
            <a:off x="838200" y="1690688"/>
            <a:ext cx="10199558" cy="4512041"/>
          </a:xfrm>
        </p:spPr>
        <p:txBody>
          <a:bodyPr>
            <a:normAutofit/>
          </a:bodyPr>
          <a:lstStyle/>
          <a:p>
            <a:pPr marL="0" indent="0">
              <a:buNone/>
            </a:pPr>
            <a:r>
              <a:rPr lang="en-US" altLang="zh-TW" b="0" i="0" dirty="0">
                <a:effectLst/>
              </a:rPr>
              <a:t>	Cloud computing is now dominated in the area of high performance distributing computing and it provides resource polling and on demand services through internet. Therefore task scheduling becomes an important research area in the field of cloud environment because user’s services demand change dynamically. Heterogeneous Earliest Finish Time (HEFT) unable to distribute the task efficiently. We modify HEFT algorithm that distribute the workload among the processor in effective way and reduce the </a:t>
            </a:r>
            <a:r>
              <a:rPr lang="en-US" altLang="zh-TW" b="0" i="0" dirty="0" err="1">
                <a:effectLst/>
              </a:rPr>
              <a:t>makespan</a:t>
            </a:r>
            <a:r>
              <a:rPr lang="en-US" altLang="zh-TW" b="0" i="0" dirty="0">
                <a:effectLst/>
              </a:rPr>
              <a:t> time of applications. Computational results (Fig. 4-5) shows that modify HEFT algorithm perform better than existing HEFT and </a:t>
            </a:r>
            <a:r>
              <a:rPr lang="en-US" altLang="zh-TW" dirty="0"/>
              <a:t>Critical-Path-on-a-Processor (CPOP) algorithm</a:t>
            </a:r>
            <a:r>
              <a:rPr lang="zh-TW" altLang="en-US" dirty="0"/>
              <a:t> </a:t>
            </a:r>
            <a:r>
              <a:rPr lang="en-US" altLang="zh-TW" dirty="0"/>
              <a:t>.</a:t>
            </a:r>
          </a:p>
        </p:txBody>
      </p:sp>
    </p:spTree>
    <p:extLst>
      <p:ext uri="{BB962C8B-B14F-4D97-AF65-F5344CB8AC3E}">
        <p14:creationId xmlns:p14="http://schemas.microsoft.com/office/powerpoint/2010/main" val="1793234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圖片 17" descr="一張含有 文字, 裝置, 收據 的圖片&#10;&#10;自動產生的描述">
            <a:extLst>
              <a:ext uri="{FF2B5EF4-FFF2-40B4-BE49-F238E27FC236}">
                <a16:creationId xmlns:a16="http://schemas.microsoft.com/office/drawing/2014/main" id="{7D101182-6E4E-4D08-BD6A-1A916E3CEB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4048" y="3444558"/>
            <a:ext cx="3057952" cy="3515216"/>
          </a:xfrm>
          <a:prstGeom prst="rect">
            <a:avLst/>
          </a:prstGeom>
        </p:spPr>
      </p:pic>
      <mc:AlternateContent xmlns:mc="http://schemas.openxmlformats.org/markup-compatibility/2006" xmlns:a14="http://schemas.microsoft.com/office/drawing/2010/main">
        <mc:Choice Requires="a14">
          <p:graphicFrame>
            <p:nvGraphicFramePr>
              <p:cNvPr id="20" name="表格 20">
                <a:extLst>
                  <a:ext uri="{FF2B5EF4-FFF2-40B4-BE49-F238E27FC236}">
                    <a16:creationId xmlns:a16="http://schemas.microsoft.com/office/drawing/2014/main" id="{78466628-B1A8-4EA8-A3B9-AC271F048177}"/>
                  </a:ext>
                </a:extLst>
              </p:cNvPr>
              <p:cNvGraphicFramePr>
                <a:graphicFrameLocks noGrp="1"/>
              </p:cNvGraphicFramePr>
              <p:nvPr>
                <p:extLst>
                  <p:ext uri="{D42A27DB-BD31-4B8C-83A1-F6EECF244321}">
                    <p14:modId xmlns:p14="http://schemas.microsoft.com/office/powerpoint/2010/main" val="2031605276"/>
                  </p:ext>
                </p:extLst>
              </p:nvPr>
            </p:nvGraphicFramePr>
            <p:xfrm>
              <a:off x="1069381" y="74170"/>
              <a:ext cx="6568917" cy="6740775"/>
            </p:xfrm>
            <a:graphic>
              <a:graphicData uri="http://schemas.openxmlformats.org/drawingml/2006/table">
                <a:tbl>
                  <a:tblPr firstRow="1" bandRow="1">
                    <a:tableStyleId>{5C22544A-7EE6-4342-B048-85BDC9FD1C3A}</a:tableStyleId>
                  </a:tblPr>
                  <a:tblGrid>
                    <a:gridCol w="467102">
                      <a:extLst>
                        <a:ext uri="{9D8B030D-6E8A-4147-A177-3AD203B41FA5}">
                          <a16:colId xmlns:a16="http://schemas.microsoft.com/office/drawing/2014/main" val="1708107604"/>
                        </a:ext>
                      </a:extLst>
                    </a:gridCol>
                    <a:gridCol w="547978">
                      <a:extLst>
                        <a:ext uri="{9D8B030D-6E8A-4147-A177-3AD203B41FA5}">
                          <a16:colId xmlns:a16="http://schemas.microsoft.com/office/drawing/2014/main" val="1517008782"/>
                        </a:ext>
                      </a:extLst>
                    </a:gridCol>
                    <a:gridCol w="486491">
                      <a:extLst>
                        <a:ext uri="{9D8B030D-6E8A-4147-A177-3AD203B41FA5}">
                          <a16:colId xmlns:a16="http://schemas.microsoft.com/office/drawing/2014/main" val="2644656095"/>
                        </a:ext>
                      </a:extLst>
                    </a:gridCol>
                    <a:gridCol w="494505">
                      <a:extLst>
                        <a:ext uri="{9D8B030D-6E8A-4147-A177-3AD203B41FA5}">
                          <a16:colId xmlns:a16="http://schemas.microsoft.com/office/drawing/2014/main" val="2597153541"/>
                        </a:ext>
                      </a:extLst>
                    </a:gridCol>
                    <a:gridCol w="929523">
                      <a:extLst>
                        <a:ext uri="{9D8B030D-6E8A-4147-A177-3AD203B41FA5}">
                          <a16:colId xmlns:a16="http://schemas.microsoft.com/office/drawing/2014/main" val="4051893694"/>
                        </a:ext>
                      </a:extLst>
                    </a:gridCol>
                    <a:gridCol w="2828754">
                      <a:extLst>
                        <a:ext uri="{9D8B030D-6E8A-4147-A177-3AD203B41FA5}">
                          <a16:colId xmlns:a16="http://schemas.microsoft.com/office/drawing/2014/main" val="96082981"/>
                        </a:ext>
                      </a:extLst>
                    </a:gridCol>
                    <a:gridCol w="814564">
                      <a:extLst>
                        <a:ext uri="{9D8B030D-6E8A-4147-A177-3AD203B41FA5}">
                          <a16:colId xmlns:a16="http://schemas.microsoft.com/office/drawing/2014/main" val="3468498251"/>
                        </a:ext>
                      </a:extLst>
                    </a:gridCol>
                  </a:tblGrid>
                  <a:tr h="422928">
                    <a:tc>
                      <a:txBody>
                        <a:bodyPr/>
                        <a:lstStyle/>
                        <a:p>
                          <a:pPr algn="ctr"/>
                          <a:r>
                            <a:rPr lang="en-US" altLang="zh-TW" b="0" dirty="0">
                              <a:solidFill>
                                <a:schemeClr val="tx1"/>
                              </a:solidFill>
                            </a:rPr>
                            <a:t>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P1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P2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zh-TW" altLang="en-US" b="0"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𝑃</m:t>
                                    </m:r>
                                  </m:e>
                                </m:acc>
                              </m:oMath>
                            </m:oMathPara>
                          </a14:m>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b="0" dirty="0">
                              <a:solidFill>
                                <a:srgbClr val="002060"/>
                              </a:solidFill>
                            </a:rPr>
                            <a:t>order</a:t>
                          </a:r>
                          <a:endParaRPr lang="zh-TW" altLang="en-US" b="0"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2261248"/>
                      </a:ext>
                    </a:extLst>
                  </a:tr>
                  <a:tr h="1272587">
                    <a:tc>
                      <a:txBody>
                        <a:bodyPr/>
                        <a:lstStyle/>
                        <a:p>
                          <a:pPr algn="ctr"/>
                          <a:r>
                            <a:rPr lang="en-US" altLang="zh-TW" sz="1600" b="0" dirty="0">
                              <a:solidFill>
                                <a:schemeClr val="tx1"/>
                              </a:solidFill>
                            </a:rPr>
                            <a:t>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14</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16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9</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13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sz="1600" b="0" dirty="0">
                              <a:solidFill>
                                <a:schemeClr val="tx1"/>
                              </a:solidFill>
                            </a:rPr>
                            <a:t>18+13+76.8=</a:t>
                          </a:r>
                          <a:r>
                            <a:rPr lang="en-US" altLang="zh-TW" sz="1600" b="0" dirty="0">
                              <a:solidFill>
                                <a:srgbClr val="0070C0"/>
                              </a:solidFill>
                            </a:rPr>
                            <a:t>107.8</a:t>
                          </a:r>
                        </a:p>
                        <a:p>
                          <a:pPr algn="l"/>
                          <a:r>
                            <a:rPr lang="en-US" altLang="zh-TW" sz="1600" b="0" dirty="0">
                              <a:solidFill>
                                <a:schemeClr val="tx1"/>
                              </a:solidFill>
                            </a:rPr>
                            <a:t>12+13+79.9=104.9</a:t>
                          </a:r>
                        </a:p>
                        <a:p>
                          <a:pPr algn="l"/>
                          <a:r>
                            <a:rPr lang="en-US" altLang="zh-TW" sz="1600" b="0" dirty="0">
                              <a:solidFill>
                                <a:schemeClr val="tx1"/>
                              </a:solidFill>
                            </a:rPr>
                            <a:t>9+13+79.8=101.8</a:t>
                          </a:r>
                        </a:p>
                        <a:p>
                          <a:pPr algn="l"/>
                          <a:r>
                            <a:rPr lang="en-US" altLang="zh-TW" sz="1600" b="0" dirty="0">
                              <a:solidFill>
                                <a:schemeClr val="tx1"/>
                              </a:solidFill>
                            </a:rPr>
                            <a:t>11+13+68.8=92.8</a:t>
                          </a:r>
                        </a:p>
                        <a:p>
                          <a:pPr algn="l"/>
                          <a:r>
                            <a:rPr lang="en-US" altLang="zh-TW" sz="1600" b="0" dirty="0">
                              <a:solidFill>
                                <a:schemeClr val="tx1"/>
                              </a:solidFill>
                            </a:rPr>
                            <a:t>14+13+63.2=90.2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sz="1600" b="0" dirty="0">
                              <a:solidFill>
                                <a:srgbClr val="002060"/>
                              </a:solidFill>
                            </a:rPr>
                            <a:t>1</a:t>
                          </a:r>
                          <a:endParaRPr lang="zh-TW" altLang="en-US" sz="1600" b="0"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621496">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19+16.6+35.6=71.2</a:t>
                          </a:r>
                        </a:p>
                        <a:p>
                          <a:pPr algn="l"/>
                          <a:r>
                            <a:rPr lang="en-US" altLang="zh-TW" dirty="0"/>
                            <a:t>16+16.6+44.2=</a:t>
                          </a:r>
                          <a:r>
                            <a:rPr lang="en-US" altLang="zh-TW" dirty="0">
                              <a:solidFill>
                                <a:srgbClr val="0070C0"/>
                              </a:solidFill>
                            </a:rPr>
                            <a:t>76.8</a:t>
                          </a:r>
                          <a:endParaRPr lang="zh-TW" alt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4</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46522">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23+14.3+42.6=79.9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621496">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27+12.6+35.6=75.2</a:t>
                          </a:r>
                        </a:p>
                        <a:p>
                          <a:pPr algn="l"/>
                          <a:r>
                            <a:rPr lang="en-US" altLang="zh-TW" dirty="0"/>
                            <a:t>23+12.6+44.2=</a:t>
                          </a:r>
                          <a:r>
                            <a:rPr lang="en-US" altLang="zh-TW" dirty="0">
                              <a:solidFill>
                                <a:srgbClr val="0070C0"/>
                              </a:solidFill>
                            </a:rPr>
                            <a:t>79.8</a:t>
                          </a:r>
                          <a:endParaRPr lang="zh-TW" alt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3</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46522">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13+11.6+44.2=68.8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5</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46522">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15+12.6+35.6=63.2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6</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422928">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17+11+14.6=42.6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8</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422928">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11+10+14.6=35.6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9</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695103">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13+16.6+14.6=44.2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7</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546522">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0+14.6+0=14.6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10</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mc:Choice>
        <mc:Fallback xmlns="">
          <p:graphicFrame>
            <p:nvGraphicFramePr>
              <p:cNvPr id="20" name="表格 20">
                <a:extLst>
                  <a:ext uri="{FF2B5EF4-FFF2-40B4-BE49-F238E27FC236}">
                    <a16:creationId xmlns:a16="http://schemas.microsoft.com/office/drawing/2014/main" id="{78466628-B1A8-4EA8-A3B9-AC271F048177}"/>
                  </a:ext>
                </a:extLst>
              </p:cNvPr>
              <p:cNvGraphicFramePr>
                <a:graphicFrameLocks noGrp="1"/>
              </p:cNvGraphicFramePr>
              <p:nvPr>
                <p:extLst>
                  <p:ext uri="{D42A27DB-BD31-4B8C-83A1-F6EECF244321}">
                    <p14:modId xmlns:p14="http://schemas.microsoft.com/office/powerpoint/2010/main" val="2031605276"/>
                  </p:ext>
                </p:extLst>
              </p:nvPr>
            </p:nvGraphicFramePr>
            <p:xfrm>
              <a:off x="1069381" y="74170"/>
              <a:ext cx="6568917" cy="6740775"/>
            </p:xfrm>
            <a:graphic>
              <a:graphicData uri="http://schemas.openxmlformats.org/drawingml/2006/table">
                <a:tbl>
                  <a:tblPr firstRow="1" bandRow="1">
                    <a:tableStyleId>{5C22544A-7EE6-4342-B048-85BDC9FD1C3A}</a:tableStyleId>
                  </a:tblPr>
                  <a:tblGrid>
                    <a:gridCol w="467102">
                      <a:extLst>
                        <a:ext uri="{9D8B030D-6E8A-4147-A177-3AD203B41FA5}">
                          <a16:colId xmlns:a16="http://schemas.microsoft.com/office/drawing/2014/main" val="1708107604"/>
                        </a:ext>
                      </a:extLst>
                    </a:gridCol>
                    <a:gridCol w="547978">
                      <a:extLst>
                        <a:ext uri="{9D8B030D-6E8A-4147-A177-3AD203B41FA5}">
                          <a16:colId xmlns:a16="http://schemas.microsoft.com/office/drawing/2014/main" val="1517008782"/>
                        </a:ext>
                      </a:extLst>
                    </a:gridCol>
                    <a:gridCol w="486491">
                      <a:extLst>
                        <a:ext uri="{9D8B030D-6E8A-4147-A177-3AD203B41FA5}">
                          <a16:colId xmlns:a16="http://schemas.microsoft.com/office/drawing/2014/main" val="2644656095"/>
                        </a:ext>
                      </a:extLst>
                    </a:gridCol>
                    <a:gridCol w="494505">
                      <a:extLst>
                        <a:ext uri="{9D8B030D-6E8A-4147-A177-3AD203B41FA5}">
                          <a16:colId xmlns:a16="http://schemas.microsoft.com/office/drawing/2014/main" val="2597153541"/>
                        </a:ext>
                      </a:extLst>
                    </a:gridCol>
                    <a:gridCol w="929523">
                      <a:extLst>
                        <a:ext uri="{9D8B030D-6E8A-4147-A177-3AD203B41FA5}">
                          <a16:colId xmlns:a16="http://schemas.microsoft.com/office/drawing/2014/main" val="4051893694"/>
                        </a:ext>
                      </a:extLst>
                    </a:gridCol>
                    <a:gridCol w="2828754">
                      <a:extLst>
                        <a:ext uri="{9D8B030D-6E8A-4147-A177-3AD203B41FA5}">
                          <a16:colId xmlns:a16="http://schemas.microsoft.com/office/drawing/2014/main" val="96082981"/>
                        </a:ext>
                      </a:extLst>
                    </a:gridCol>
                    <a:gridCol w="814564">
                      <a:extLst>
                        <a:ext uri="{9D8B030D-6E8A-4147-A177-3AD203B41FA5}">
                          <a16:colId xmlns:a16="http://schemas.microsoft.com/office/drawing/2014/main" val="3468498251"/>
                        </a:ext>
                      </a:extLst>
                    </a:gridCol>
                  </a:tblGrid>
                  <a:tr h="422928">
                    <a:tc>
                      <a:txBody>
                        <a:bodyPr/>
                        <a:lstStyle/>
                        <a:p>
                          <a:pPr algn="ctr"/>
                          <a:r>
                            <a:rPr lang="en-US" altLang="zh-TW" b="0" dirty="0">
                              <a:solidFill>
                                <a:schemeClr val="tx1"/>
                              </a:solidFill>
                            </a:rPr>
                            <a:t>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P1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P2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15033" t="-7246" r="-392157" b="-1507246"/>
                          </a:stretch>
                        </a:blipFill>
                      </a:tcPr>
                    </a:tc>
                    <a:tc>
                      <a:txBody>
                        <a:bodyPr/>
                        <a:lstStyle/>
                        <a:p>
                          <a:pPr algn="l"/>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b="0" dirty="0">
                              <a:solidFill>
                                <a:srgbClr val="002060"/>
                              </a:solidFill>
                            </a:rPr>
                            <a:t>order</a:t>
                          </a:r>
                          <a:endParaRPr lang="zh-TW" altLang="en-US" b="0"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2261248"/>
                      </a:ext>
                    </a:extLst>
                  </a:tr>
                  <a:tr h="1310640">
                    <a:tc>
                      <a:txBody>
                        <a:bodyPr/>
                        <a:lstStyle/>
                        <a:p>
                          <a:pPr algn="ctr"/>
                          <a:r>
                            <a:rPr lang="en-US" altLang="zh-TW" sz="1600" b="0" dirty="0">
                              <a:solidFill>
                                <a:schemeClr val="tx1"/>
                              </a:solidFill>
                            </a:rPr>
                            <a:t>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14</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16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9</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13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sz="1600" b="0" dirty="0">
                              <a:solidFill>
                                <a:schemeClr val="tx1"/>
                              </a:solidFill>
                            </a:rPr>
                            <a:t>18+13+76.8=</a:t>
                          </a:r>
                          <a:r>
                            <a:rPr lang="en-US" altLang="zh-TW" sz="1600" b="0" dirty="0">
                              <a:solidFill>
                                <a:srgbClr val="0070C0"/>
                              </a:solidFill>
                            </a:rPr>
                            <a:t>107.8</a:t>
                          </a:r>
                        </a:p>
                        <a:p>
                          <a:pPr algn="l"/>
                          <a:r>
                            <a:rPr lang="en-US" altLang="zh-TW" sz="1600" b="0" dirty="0">
                              <a:solidFill>
                                <a:schemeClr val="tx1"/>
                              </a:solidFill>
                            </a:rPr>
                            <a:t>12+13+79.9=104.9</a:t>
                          </a:r>
                        </a:p>
                        <a:p>
                          <a:pPr algn="l"/>
                          <a:r>
                            <a:rPr lang="en-US" altLang="zh-TW" sz="1600" b="0" dirty="0">
                              <a:solidFill>
                                <a:schemeClr val="tx1"/>
                              </a:solidFill>
                            </a:rPr>
                            <a:t>9+13+79.8=101.8</a:t>
                          </a:r>
                        </a:p>
                        <a:p>
                          <a:pPr algn="l"/>
                          <a:r>
                            <a:rPr lang="en-US" altLang="zh-TW" sz="1600" b="0" dirty="0">
                              <a:solidFill>
                                <a:schemeClr val="tx1"/>
                              </a:solidFill>
                            </a:rPr>
                            <a:t>11+13+68.8=92.8</a:t>
                          </a:r>
                        </a:p>
                        <a:p>
                          <a:pPr algn="l"/>
                          <a:r>
                            <a:rPr lang="en-US" altLang="zh-TW" sz="1600" b="0" dirty="0">
                              <a:solidFill>
                                <a:schemeClr val="tx1"/>
                              </a:solidFill>
                            </a:rPr>
                            <a:t>14+13+63.2=90.2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sz="1600" b="0" dirty="0">
                              <a:solidFill>
                                <a:srgbClr val="002060"/>
                              </a:solidFill>
                            </a:rPr>
                            <a:t>1</a:t>
                          </a:r>
                          <a:endParaRPr lang="zh-TW" altLang="en-US" sz="1600" b="0"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640080">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19+16.6+35.6=71.2</a:t>
                          </a:r>
                        </a:p>
                        <a:p>
                          <a:pPr algn="l"/>
                          <a:r>
                            <a:rPr lang="en-US" altLang="zh-TW" dirty="0"/>
                            <a:t>16+16.6+44.2=</a:t>
                          </a:r>
                          <a:r>
                            <a:rPr lang="en-US" altLang="zh-TW" dirty="0">
                              <a:solidFill>
                                <a:srgbClr val="0070C0"/>
                              </a:solidFill>
                            </a:rPr>
                            <a:t>76.8</a:t>
                          </a:r>
                          <a:endParaRPr lang="zh-TW" alt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4</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46522">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23+14.3+42.6=79.9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640080">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27+12.6+35.6=75.2</a:t>
                          </a:r>
                        </a:p>
                        <a:p>
                          <a:pPr algn="l"/>
                          <a:r>
                            <a:rPr lang="en-US" altLang="zh-TW" dirty="0"/>
                            <a:t>23+12.6+44.2=</a:t>
                          </a:r>
                          <a:r>
                            <a:rPr lang="en-US" altLang="zh-TW" dirty="0">
                              <a:solidFill>
                                <a:srgbClr val="0070C0"/>
                              </a:solidFill>
                            </a:rPr>
                            <a:t>79.8</a:t>
                          </a:r>
                          <a:endParaRPr lang="zh-TW" alt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3</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46522">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13+11.6+44.2=68.8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5</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46522">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15+12.6+35.6=63.2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6</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422928">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17+11+14.6=42.6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8</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422928">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11+10+14.6=35.6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9</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695103">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13+16.6+14.6=44.2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7</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546522">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0+14.6+0=14.6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10</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mc:Fallback>
      </mc:AlternateContent>
      <p:pic>
        <p:nvPicPr>
          <p:cNvPr id="5" name="內容版面配置區 4">
            <a:extLst>
              <a:ext uri="{FF2B5EF4-FFF2-40B4-BE49-F238E27FC236}">
                <a16:creationId xmlns:a16="http://schemas.microsoft.com/office/drawing/2014/main" id="{28476934-5581-4332-8E86-BD456F563F42}"/>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7798256" y="0"/>
            <a:ext cx="4553702" cy="4031673"/>
          </a:xfrm>
        </p:spPr>
      </p:pic>
      <p:pic>
        <p:nvPicPr>
          <p:cNvPr id="6" name="圖片 5">
            <a:extLst>
              <a:ext uri="{FF2B5EF4-FFF2-40B4-BE49-F238E27FC236}">
                <a16:creationId xmlns:a16="http://schemas.microsoft.com/office/drawing/2014/main" id="{064F001A-7030-44F5-AD7B-8EC727DEDDDD}"/>
              </a:ext>
            </a:extLst>
          </p:cNvPr>
          <p:cNvPicPr>
            <a:picLocks noChangeAspect="1"/>
          </p:cNvPicPr>
          <p:nvPr/>
        </p:nvPicPr>
        <p:blipFill>
          <a:blip r:embed="rId5"/>
          <a:stretch>
            <a:fillRect/>
          </a:stretch>
        </p:blipFill>
        <p:spPr>
          <a:xfrm>
            <a:off x="3833830" y="16434"/>
            <a:ext cx="3028984" cy="485507"/>
          </a:xfrm>
          <a:prstGeom prst="rect">
            <a:avLst/>
          </a:prstGeom>
        </p:spPr>
      </p:pic>
      <p:sp>
        <p:nvSpPr>
          <p:cNvPr id="2" name="文字方塊 1">
            <a:extLst>
              <a:ext uri="{FF2B5EF4-FFF2-40B4-BE49-F238E27FC236}">
                <a16:creationId xmlns:a16="http://schemas.microsoft.com/office/drawing/2014/main" id="{B6F167C3-6757-49F1-B4F9-1EE19C9DC748}"/>
              </a:ext>
            </a:extLst>
          </p:cNvPr>
          <p:cNvSpPr txBox="1"/>
          <p:nvPr/>
        </p:nvSpPr>
        <p:spPr>
          <a:xfrm>
            <a:off x="145545" y="202471"/>
            <a:ext cx="912231"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HEFT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0559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A480CC-01D2-4611-86B0-FD4613785F7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21656C3-F66A-4B5D-B93B-3DFE0181339D}"/>
              </a:ext>
            </a:extLst>
          </p:cNvPr>
          <p:cNvSpPr>
            <a:spLocks noGrp="1"/>
          </p:cNvSpPr>
          <p:nvPr>
            <p:ph idx="1"/>
          </p:nvPr>
        </p:nvSpPr>
        <p:spPr/>
        <p:txBody>
          <a:bodyPr/>
          <a:lstStyle/>
          <a:p>
            <a:endParaRPr lang="zh-TW" altLang="en-US" dirty="0"/>
          </a:p>
        </p:txBody>
      </p:sp>
      <p:graphicFrame>
        <p:nvGraphicFramePr>
          <p:cNvPr id="4" name="表格 20">
            <a:extLst>
              <a:ext uri="{FF2B5EF4-FFF2-40B4-BE49-F238E27FC236}">
                <a16:creationId xmlns:a16="http://schemas.microsoft.com/office/drawing/2014/main" id="{072D3139-33E7-416F-89DC-806F848CB33A}"/>
              </a:ext>
            </a:extLst>
          </p:cNvPr>
          <p:cNvGraphicFramePr>
            <a:graphicFrameLocks noGrp="1"/>
          </p:cNvGraphicFramePr>
          <p:nvPr>
            <p:extLst>
              <p:ext uri="{D42A27DB-BD31-4B8C-83A1-F6EECF244321}">
                <p14:modId xmlns:p14="http://schemas.microsoft.com/office/powerpoint/2010/main" val="610647604"/>
              </p:ext>
            </p:extLst>
          </p:nvPr>
        </p:nvGraphicFramePr>
        <p:xfrm>
          <a:off x="190713" y="-20381"/>
          <a:ext cx="8946586" cy="7004394"/>
        </p:xfrm>
        <a:graphic>
          <a:graphicData uri="http://schemas.openxmlformats.org/drawingml/2006/table">
            <a:tbl>
              <a:tblPr firstRow="1" bandRow="1">
                <a:tableStyleId>{5C22544A-7EE6-4342-B048-85BDC9FD1C3A}</a:tableStyleId>
              </a:tblPr>
              <a:tblGrid>
                <a:gridCol w="653866">
                  <a:extLst>
                    <a:ext uri="{9D8B030D-6E8A-4147-A177-3AD203B41FA5}">
                      <a16:colId xmlns:a16="http://schemas.microsoft.com/office/drawing/2014/main" val="1708107604"/>
                    </a:ext>
                  </a:extLst>
                </a:gridCol>
                <a:gridCol w="831608">
                  <a:extLst>
                    <a:ext uri="{9D8B030D-6E8A-4147-A177-3AD203B41FA5}">
                      <a16:colId xmlns:a16="http://schemas.microsoft.com/office/drawing/2014/main" val="702232932"/>
                    </a:ext>
                  </a:extLst>
                </a:gridCol>
                <a:gridCol w="550718">
                  <a:extLst>
                    <a:ext uri="{9D8B030D-6E8A-4147-A177-3AD203B41FA5}">
                      <a16:colId xmlns:a16="http://schemas.microsoft.com/office/drawing/2014/main" val="3607116572"/>
                    </a:ext>
                  </a:extLst>
                </a:gridCol>
                <a:gridCol w="690854">
                  <a:extLst>
                    <a:ext uri="{9D8B030D-6E8A-4147-A177-3AD203B41FA5}">
                      <a16:colId xmlns:a16="http://schemas.microsoft.com/office/drawing/2014/main" val="305408827"/>
                    </a:ext>
                  </a:extLst>
                </a:gridCol>
                <a:gridCol w="812577">
                  <a:extLst>
                    <a:ext uri="{9D8B030D-6E8A-4147-A177-3AD203B41FA5}">
                      <a16:colId xmlns:a16="http://schemas.microsoft.com/office/drawing/2014/main" val="3729757115"/>
                    </a:ext>
                  </a:extLst>
                </a:gridCol>
                <a:gridCol w="569543">
                  <a:extLst>
                    <a:ext uri="{9D8B030D-6E8A-4147-A177-3AD203B41FA5}">
                      <a16:colId xmlns:a16="http://schemas.microsoft.com/office/drawing/2014/main" val="3450162339"/>
                    </a:ext>
                  </a:extLst>
                </a:gridCol>
                <a:gridCol w="691060">
                  <a:extLst>
                    <a:ext uri="{9D8B030D-6E8A-4147-A177-3AD203B41FA5}">
                      <a16:colId xmlns:a16="http://schemas.microsoft.com/office/drawing/2014/main" val="3531016683"/>
                    </a:ext>
                  </a:extLst>
                </a:gridCol>
                <a:gridCol w="838361">
                  <a:extLst>
                    <a:ext uri="{9D8B030D-6E8A-4147-A177-3AD203B41FA5}">
                      <a16:colId xmlns:a16="http://schemas.microsoft.com/office/drawing/2014/main" val="4060969492"/>
                    </a:ext>
                  </a:extLst>
                </a:gridCol>
                <a:gridCol w="543759">
                  <a:extLst>
                    <a:ext uri="{9D8B030D-6E8A-4147-A177-3AD203B41FA5}">
                      <a16:colId xmlns:a16="http://schemas.microsoft.com/office/drawing/2014/main" val="4249052222"/>
                    </a:ext>
                  </a:extLst>
                </a:gridCol>
                <a:gridCol w="691060">
                  <a:extLst>
                    <a:ext uri="{9D8B030D-6E8A-4147-A177-3AD203B41FA5}">
                      <a16:colId xmlns:a16="http://schemas.microsoft.com/office/drawing/2014/main" val="687650053"/>
                    </a:ext>
                  </a:extLst>
                </a:gridCol>
                <a:gridCol w="846613">
                  <a:extLst>
                    <a:ext uri="{9D8B030D-6E8A-4147-A177-3AD203B41FA5}">
                      <a16:colId xmlns:a16="http://schemas.microsoft.com/office/drawing/2014/main" val="3978933958"/>
                    </a:ext>
                  </a:extLst>
                </a:gridCol>
                <a:gridCol w="535507">
                  <a:extLst>
                    <a:ext uri="{9D8B030D-6E8A-4147-A177-3AD203B41FA5}">
                      <a16:colId xmlns:a16="http://schemas.microsoft.com/office/drawing/2014/main" val="2126929990"/>
                    </a:ext>
                  </a:extLst>
                </a:gridCol>
                <a:gridCol w="691060">
                  <a:extLst>
                    <a:ext uri="{9D8B030D-6E8A-4147-A177-3AD203B41FA5}">
                      <a16:colId xmlns:a16="http://schemas.microsoft.com/office/drawing/2014/main" val="56450038"/>
                    </a:ext>
                  </a:extLst>
                </a:gridCol>
              </a:tblGrid>
              <a:tr h="0">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400" b="0" dirty="0">
                          <a:solidFill>
                            <a:schemeClr val="tx1"/>
                          </a:solidFill>
                        </a:rPr>
                        <a:t>P1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400" b="0" dirty="0">
                          <a:solidFill>
                            <a:schemeClr val="tx1"/>
                          </a:solidFill>
                        </a:rPr>
                        <a:t>P2</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400" b="0" dirty="0">
                          <a:solidFill>
                            <a:schemeClr val="tx1"/>
                          </a:solidFill>
                        </a:rPr>
                        <a:t>P3</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0" dirty="0">
                          <a:solidFill>
                            <a:schemeClr val="tx1"/>
                          </a:solidFill>
                        </a:rPr>
                        <a:t>choice</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4761348"/>
                  </a:ext>
                </a:extLst>
              </a:tr>
              <a:tr h="208067">
                <a:tc>
                  <a:txBody>
                    <a:bodyPr/>
                    <a:lstStyle/>
                    <a:p>
                      <a:pPr algn="ctr"/>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7711569"/>
                  </a:ext>
                </a:extLst>
              </a:tr>
              <a:tr h="387284">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00462">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32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9+12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28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00462">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31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9+9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45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00462">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9+18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00462">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38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00462">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47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387284">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a:t>
                      </a:r>
                    </a:p>
                    <a:p>
                      <a:pPr algn="ctr"/>
                      <a:r>
                        <a:rPr lang="en-US" altLang="zh-TW" dirty="0"/>
                        <a:t>38+13</a:t>
                      </a:r>
                    </a:p>
                    <a:p>
                      <a:pPr algn="ctr"/>
                      <a:r>
                        <a:rPr lang="en-US" altLang="zh-TW" dirty="0"/>
                        <a:t>25+26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58</a:t>
                      </a:r>
                    </a:p>
                    <a:p>
                      <a:pPr algn="ctr"/>
                      <a:r>
                        <a:rPr lang="en-US" altLang="zh-TW" dirty="0">
                          <a:solidFill>
                            <a:schemeClr val="accent1"/>
                          </a:solidFill>
                        </a:rPr>
                        <a:t>72</a:t>
                      </a:r>
                    </a:p>
                    <a:p>
                      <a:pPr algn="ctr"/>
                      <a:r>
                        <a:rPr lang="en-US" altLang="zh-TW" dirty="0"/>
                        <a:t>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40+16</a:t>
                      </a:r>
                    </a:p>
                    <a:p>
                      <a:pPr algn="ctr"/>
                      <a:r>
                        <a:rPr lang="en-US" altLang="zh-TW" dirty="0"/>
                        <a:t>38+13</a:t>
                      </a:r>
                    </a:p>
                    <a:p>
                      <a:pPr algn="ctr"/>
                      <a:r>
                        <a:rPr lang="en-US" altLang="zh-TW" dirty="0"/>
                        <a:t>42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solidFill>
                            <a:schemeClr val="accent1"/>
                          </a:solidFill>
                        </a:rPr>
                        <a:t>68</a:t>
                      </a:r>
                    </a:p>
                    <a:p>
                      <a:pPr algn="ctr"/>
                      <a:r>
                        <a:rPr lang="en-US" altLang="zh-TW" dirty="0"/>
                        <a:t>63</a:t>
                      </a:r>
                    </a:p>
                    <a:p>
                      <a:pPr algn="ctr"/>
                      <a:r>
                        <a:rPr lang="en-US" altLang="zh-TW" dirty="0"/>
                        <a:t>54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40+16</a:t>
                      </a:r>
                    </a:p>
                    <a:p>
                      <a:pPr algn="ctr"/>
                      <a:r>
                        <a:rPr lang="en-US" altLang="zh-TW" dirty="0"/>
                        <a:t>38+13</a:t>
                      </a:r>
                    </a:p>
                    <a:p>
                      <a:pPr algn="ctr"/>
                      <a:r>
                        <a:rPr lang="en-US" altLang="zh-TW" dirty="0"/>
                        <a:t>25+23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20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solidFill>
                            <a:schemeClr val="accent1"/>
                          </a:solidFill>
                        </a:rPr>
                        <a:t>76</a:t>
                      </a:r>
                    </a:p>
                    <a:p>
                      <a:pPr algn="ctr"/>
                      <a:r>
                        <a:rPr lang="en-US" altLang="zh-TW" dirty="0"/>
                        <a:t>71</a:t>
                      </a:r>
                    </a:p>
                    <a:p>
                      <a:pPr algn="ctr"/>
                      <a:r>
                        <a:rPr lang="en-US" altLang="zh-TW" dirty="0"/>
                        <a:t>68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387284">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28+23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28+23</a:t>
                      </a:r>
                    </a:p>
                    <a:p>
                      <a:pPr algn="ctr"/>
                      <a:r>
                        <a:rPr lang="en-US" altLang="zh-TW" dirty="0"/>
                        <a:t>68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83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49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500462">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a:t>
                      </a:r>
                    </a:p>
                    <a:p>
                      <a:pPr algn="ctr"/>
                      <a:r>
                        <a:rPr lang="en-US" altLang="zh-TW" dirty="0"/>
                        <a:t>25+27</a:t>
                      </a:r>
                    </a:p>
                    <a:p>
                      <a:pPr algn="ctr"/>
                      <a:r>
                        <a:rPr lang="en-US" altLang="zh-TW" dirty="0"/>
                        <a:t>42+15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45</a:t>
                      </a:r>
                    </a:p>
                    <a:p>
                      <a:pPr algn="ctr"/>
                      <a:r>
                        <a:rPr lang="en-US" altLang="zh-TW" dirty="0"/>
                        <a:t>57</a:t>
                      </a:r>
                    </a:p>
                    <a:p>
                      <a:pPr algn="ctr"/>
                      <a:r>
                        <a:rPr lang="en-US" altLang="zh-TW" dirty="0">
                          <a:solidFill>
                            <a:schemeClr val="accent1"/>
                          </a:solidFill>
                        </a:rPr>
                        <a:t>62</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40+16</a:t>
                      </a:r>
                    </a:p>
                    <a:p>
                      <a:pPr algn="ctr"/>
                      <a:r>
                        <a:rPr lang="en-US" altLang="zh-TW" dirty="0"/>
                        <a:t>68</a:t>
                      </a:r>
                    </a:p>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67</a:t>
                      </a:r>
                    </a:p>
                    <a:p>
                      <a:pPr algn="ctr"/>
                      <a:r>
                        <a:rPr lang="en-US" altLang="zh-TW" dirty="0">
                          <a:solidFill>
                            <a:schemeClr val="accent1"/>
                          </a:solidFill>
                        </a:rPr>
                        <a:t>79</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40+16</a:t>
                      </a:r>
                    </a:p>
                    <a:p>
                      <a:pPr algn="ctr"/>
                      <a:r>
                        <a:rPr lang="en-US" altLang="zh-TW" dirty="0"/>
                        <a:t>25+27</a:t>
                      </a:r>
                    </a:p>
                    <a:p>
                      <a:pPr algn="ctr"/>
                      <a:r>
                        <a:rPr lang="en-US" altLang="zh-TW" dirty="0"/>
                        <a:t>42+15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70</a:t>
                      </a:r>
                    </a:p>
                    <a:p>
                      <a:pPr algn="ctr"/>
                      <a:r>
                        <a:rPr lang="en-US" altLang="zh-TW" dirty="0"/>
                        <a:t>66</a:t>
                      </a:r>
                    </a:p>
                    <a:p>
                      <a:pPr algn="ctr"/>
                      <a:r>
                        <a:rPr lang="en-US" altLang="zh-TW" dirty="0">
                          <a:solidFill>
                            <a:schemeClr val="accent1"/>
                          </a:solidFill>
                        </a:rPr>
                        <a:t>71</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638698">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49+17</a:t>
                      </a:r>
                    </a:p>
                    <a:p>
                      <a:pPr algn="ctr"/>
                      <a:r>
                        <a:rPr lang="en-US" altLang="zh-TW" dirty="0"/>
                        <a:t>62</a:t>
                      </a:r>
                    </a:p>
                    <a:p>
                      <a:pPr algn="ctr"/>
                      <a:r>
                        <a:rPr lang="en-US" altLang="zh-TW" dirty="0"/>
                        <a:t>68+13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21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87</a:t>
                      </a:r>
                    </a:p>
                    <a:p>
                      <a:pPr algn="ctr"/>
                      <a:r>
                        <a:rPr lang="en-US" altLang="zh-TW" dirty="0"/>
                        <a:t>83</a:t>
                      </a:r>
                    </a:p>
                    <a:p>
                      <a:pPr algn="ctr"/>
                      <a:r>
                        <a:rPr lang="en-US" altLang="zh-TW" dirty="0">
                          <a:solidFill>
                            <a:schemeClr val="accent1"/>
                          </a:solidFill>
                        </a:rPr>
                        <a:t>102</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49+17</a:t>
                      </a:r>
                    </a:p>
                    <a:p>
                      <a:pPr algn="ctr"/>
                      <a:r>
                        <a:rPr lang="en-US" altLang="zh-TW" dirty="0"/>
                        <a:t>62+11</a:t>
                      </a:r>
                    </a:p>
                    <a:p>
                      <a:pPr algn="ctr"/>
                      <a:r>
                        <a:rPr lang="en-US" altLang="zh-TW" dirty="0"/>
                        <a:t>68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73</a:t>
                      </a:r>
                    </a:p>
                    <a:p>
                      <a:pPr algn="ctr"/>
                      <a:r>
                        <a:rPr lang="en-US" altLang="zh-TW" dirty="0">
                          <a:solidFill>
                            <a:srgbClr val="FF0000"/>
                          </a:solidFill>
                        </a:rPr>
                        <a:t>80</a:t>
                      </a:r>
                    </a:p>
                    <a:p>
                      <a:pPr algn="ctr"/>
                      <a:r>
                        <a:rPr lang="en-US" altLang="zh-TW" dirty="0"/>
                        <a:t>75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49</a:t>
                      </a:r>
                    </a:p>
                    <a:p>
                      <a:pPr algn="ctr"/>
                      <a:r>
                        <a:rPr lang="en-US" altLang="zh-TW" dirty="0"/>
                        <a:t>62+11</a:t>
                      </a:r>
                    </a:p>
                    <a:p>
                      <a:pPr algn="ctr"/>
                      <a:r>
                        <a:rPr lang="en-US" altLang="zh-TW" dirty="0"/>
                        <a:t>68+13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65</a:t>
                      </a:r>
                    </a:p>
                    <a:p>
                      <a:pPr algn="ctr"/>
                      <a:r>
                        <a:rPr lang="en-US" altLang="zh-TW" dirty="0"/>
                        <a:t>89</a:t>
                      </a:r>
                    </a:p>
                    <a:p>
                      <a:pPr algn="ctr"/>
                      <a:r>
                        <a:rPr lang="en-US" altLang="zh-TW" dirty="0">
                          <a:solidFill>
                            <a:schemeClr val="accent1"/>
                          </a:solidFill>
                        </a:rPr>
                        <a:t>97</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圖片 4" descr="一張含有 文字, 裝置, 收據 的圖片&#10;&#10;自動產生的描述">
            <a:extLst>
              <a:ext uri="{FF2B5EF4-FFF2-40B4-BE49-F238E27FC236}">
                <a16:creationId xmlns:a16="http://schemas.microsoft.com/office/drawing/2014/main" id="{91D3BD90-789F-4BEF-B906-96BBB01AE1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9322" y="3481816"/>
            <a:ext cx="3057952" cy="3515216"/>
          </a:xfrm>
          <a:prstGeom prst="rect">
            <a:avLst/>
          </a:prstGeom>
        </p:spPr>
      </p:pic>
      <p:pic>
        <p:nvPicPr>
          <p:cNvPr id="6" name="內容版面配置區 4">
            <a:extLst>
              <a:ext uri="{FF2B5EF4-FFF2-40B4-BE49-F238E27FC236}">
                <a16:creationId xmlns:a16="http://schemas.microsoft.com/office/drawing/2014/main" id="{3A7F1301-DCF0-4F95-B80E-0E1E55F747B2}"/>
              </a:ext>
            </a:extLst>
          </p:cNvPr>
          <p:cNvPicPr>
            <a:picLocks noChangeAspect="1"/>
          </p:cNvPicPr>
          <p:nvPr/>
        </p:nvPicPr>
        <p:blipFill rotWithShape="1">
          <a:blip r:embed="rId3">
            <a:extLst>
              <a:ext uri="{28A0092B-C50C-407E-A947-70E740481C1C}">
                <a14:useLocalDpi xmlns:a14="http://schemas.microsoft.com/office/drawing/2010/main" val="0"/>
              </a:ext>
            </a:extLst>
          </a:blip>
          <a:srcRect l="11069" r="8671" b="773"/>
          <a:stretch/>
        </p:blipFill>
        <p:spPr>
          <a:xfrm>
            <a:off x="8489811" y="81964"/>
            <a:ext cx="3654767" cy="4000500"/>
          </a:xfrm>
          <a:prstGeom prst="rect">
            <a:avLst/>
          </a:prstGeom>
        </p:spPr>
      </p:pic>
    </p:spTree>
    <p:extLst>
      <p:ext uri="{BB962C8B-B14F-4D97-AF65-F5344CB8AC3E}">
        <p14:creationId xmlns:p14="http://schemas.microsoft.com/office/powerpoint/2010/main" val="847312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9967A52A-999A-4E58-B002-427F30DBCF06}"/>
                  </a:ext>
                </a:extLst>
              </p:cNvPr>
              <p:cNvGraphicFramePr>
                <a:graphicFrameLocks noGrp="1"/>
              </p:cNvGraphicFramePr>
              <p:nvPr>
                <p:ph idx="1"/>
                <p:extLst>
                  <p:ext uri="{D42A27DB-BD31-4B8C-83A1-F6EECF244321}">
                    <p14:modId xmlns:p14="http://schemas.microsoft.com/office/powerpoint/2010/main" val="627471700"/>
                  </p:ext>
                </p:extLst>
              </p:nvPr>
            </p:nvGraphicFramePr>
            <p:xfrm>
              <a:off x="1286675" y="0"/>
              <a:ext cx="7121235" cy="6791960"/>
            </p:xfrm>
            <a:graphic>
              <a:graphicData uri="http://schemas.openxmlformats.org/drawingml/2006/table">
                <a:tbl>
                  <a:tblPr firstRow="1" bandRow="1">
                    <a:tableStyleId>{5C22544A-7EE6-4342-B048-85BDC9FD1C3A}</a:tableStyleId>
                  </a:tblPr>
                  <a:tblGrid>
                    <a:gridCol w="632131">
                      <a:extLst>
                        <a:ext uri="{9D8B030D-6E8A-4147-A177-3AD203B41FA5}">
                          <a16:colId xmlns:a16="http://schemas.microsoft.com/office/drawing/2014/main" val="282190175"/>
                        </a:ext>
                      </a:extLst>
                    </a:gridCol>
                    <a:gridCol w="632131">
                      <a:extLst>
                        <a:ext uri="{9D8B030D-6E8A-4147-A177-3AD203B41FA5}">
                          <a16:colId xmlns:a16="http://schemas.microsoft.com/office/drawing/2014/main" val="860759584"/>
                        </a:ext>
                      </a:extLst>
                    </a:gridCol>
                    <a:gridCol w="2031684">
                      <a:extLst>
                        <a:ext uri="{9D8B030D-6E8A-4147-A177-3AD203B41FA5}">
                          <a16:colId xmlns:a16="http://schemas.microsoft.com/office/drawing/2014/main" val="127387840"/>
                        </a:ext>
                      </a:extLst>
                    </a:gridCol>
                    <a:gridCol w="2203013">
                      <a:extLst>
                        <a:ext uri="{9D8B030D-6E8A-4147-A177-3AD203B41FA5}">
                          <a16:colId xmlns:a16="http://schemas.microsoft.com/office/drawing/2014/main" val="2590283341"/>
                        </a:ext>
                      </a:extLst>
                    </a:gridCol>
                    <a:gridCol w="1622276">
                      <a:extLst>
                        <a:ext uri="{9D8B030D-6E8A-4147-A177-3AD203B41FA5}">
                          <a16:colId xmlns:a16="http://schemas.microsoft.com/office/drawing/2014/main" val="3517178521"/>
                        </a:ext>
                      </a:extLst>
                    </a:gridCol>
                  </a:tblGrid>
                  <a:tr h="370840">
                    <a:tc>
                      <a:txBody>
                        <a:bodyPr/>
                        <a:lstStyle/>
                        <a:p>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acc>
                                  <m:accPr>
                                    <m:chr m:val="̅"/>
                                    <m:ctrlPr>
                                      <a:rPr lang="zh-TW" altLang="en-US" sz="1600" b="0" i="1" smtClean="0">
                                        <a:solidFill>
                                          <a:schemeClr val="tx1"/>
                                        </a:solidFill>
                                        <a:latin typeface="Cambria Math" panose="02040503050406030204" pitchFamily="18" charset="0"/>
                                      </a:rPr>
                                    </m:ctrlPr>
                                  </m:accPr>
                                  <m:e>
                                    <m:r>
                                      <a:rPr lang="en-US" altLang="zh-TW" sz="1600" b="0" i="1" smtClean="0">
                                        <a:solidFill>
                                          <a:schemeClr val="tx1"/>
                                        </a:solidFill>
                                        <a:latin typeface="Cambria Math" panose="02040503050406030204" pitchFamily="18" charset="0"/>
                                      </a:rPr>
                                      <m:t>𝑃</m:t>
                                    </m:r>
                                  </m:e>
                                </m:acc>
                              </m:oMath>
                            </m:oMathPara>
                          </a14:m>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rank(up)</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rank(down)</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order(</a:t>
                          </a:r>
                          <a:r>
                            <a:rPr lang="en-US" altLang="zh-TW" sz="1600" b="0" dirty="0" err="1">
                              <a:solidFill>
                                <a:schemeClr val="tx1"/>
                              </a:solidFill>
                            </a:rPr>
                            <a:t>up+down</a:t>
                          </a:r>
                          <a:r>
                            <a:rPr lang="en-US" altLang="zh-TW" sz="1600" b="0" dirty="0">
                              <a:solidFill>
                                <a:schemeClr val="tx1"/>
                              </a:solidFill>
                            </a:rPr>
                            <a: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4337942"/>
                      </a:ext>
                    </a:extLst>
                  </a:tr>
                  <a:tr h="370840">
                    <a:tc>
                      <a:txBody>
                        <a:bodyPr/>
                        <a:lstStyle/>
                        <a:p>
                          <a:r>
                            <a:rPr lang="en-US" altLang="zh-TW" sz="1600" b="0" dirty="0">
                              <a:solidFill>
                                <a:schemeClr val="tx1"/>
                              </a:solidFill>
                            </a:rPr>
                            <a:t>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18+13+76.8=107.8</a:t>
                          </a:r>
                        </a:p>
                        <a:p>
                          <a:pPr algn="l"/>
                          <a:r>
                            <a:rPr lang="en-US" altLang="zh-TW" sz="1600" b="0" dirty="0">
                              <a:solidFill>
                                <a:schemeClr val="tx1"/>
                              </a:solidFill>
                            </a:rPr>
                            <a:t>12+13+79.9=104.9</a:t>
                          </a:r>
                        </a:p>
                        <a:p>
                          <a:pPr algn="l"/>
                          <a:r>
                            <a:rPr lang="en-US" altLang="zh-TW" sz="1600" b="0" dirty="0">
                              <a:solidFill>
                                <a:schemeClr val="tx1"/>
                              </a:solidFill>
                            </a:rPr>
                            <a:t>9+13+79.8=101.8</a:t>
                          </a:r>
                        </a:p>
                        <a:p>
                          <a:pPr algn="l"/>
                          <a:r>
                            <a:rPr lang="en-US" altLang="zh-TW" sz="1600" b="0" dirty="0">
                              <a:solidFill>
                                <a:schemeClr val="tx1"/>
                              </a:solidFill>
                            </a:rPr>
                            <a:t>11+13+68.8=92.8</a:t>
                          </a:r>
                        </a:p>
                        <a:p>
                          <a:pPr algn="l"/>
                          <a:r>
                            <a:rPr lang="en-US" altLang="zh-TW" sz="1600" b="0" dirty="0">
                              <a:solidFill>
                                <a:schemeClr val="tx1"/>
                              </a:solidFill>
                            </a:rPr>
                            <a:t>14+13+63.2=90.2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108+0=108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8964082"/>
                      </a:ext>
                    </a:extLst>
                  </a:tr>
                  <a:tr h="370840">
                    <a:tc>
                      <a:txBody>
                        <a:bodyPr/>
                        <a:lstStyle/>
                        <a:p>
                          <a:r>
                            <a:rPr lang="en-US" altLang="zh-TW" sz="1600" b="0" dirty="0">
                              <a:solidFill>
                                <a:schemeClr val="tx1"/>
                              </a:solidFill>
                            </a:rPr>
                            <a:t>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16.6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19+16.6+35.6=71.2</a:t>
                          </a:r>
                        </a:p>
                        <a:p>
                          <a:pPr algn="l"/>
                          <a:r>
                            <a:rPr lang="en-US" altLang="zh-TW" sz="1600" b="0" dirty="0">
                              <a:solidFill>
                                <a:schemeClr val="tx1"/>
                              </a:solidFill>
                            </a:rPr>
                            <a:t>16+16.6+44.2=76.8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13+18=31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77+31=108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5747870"/>
                      </a:ext>
                    </a:extLst>
                  </a:tr>
                  <a:tr h="370840">
                    <a:tc>
                      <a:txBody>
                        <a:bodyPr/>
                        <a:lstStyle/>
                        <a:p>
                          <a:r>
                            <a:rPr lang="en-US" altLang="zh-TW" sz="1600" b="0" dirty="0">
                              <a:solidFill>
                                <a:schemeClr val="tx1"/>
                              </a:solidFill>
                            </a:rPr>
                            <a:t>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14.3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23+14.3+42.6=79.9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13+12=25</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80+25=105</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2398150"/>
                      </a:ext>
                    </a:extLst>
                  </a:tr>
                  <a:tr h="370840">
                    <a:tc>
                      <a:txBody>
                        <a:bodyPr/>
                        <a:lstStyle/>
                        <a:p>
                          <a:r>
                            <a:rPr lang="en-US" altLang="zh-TW" sz="1600" b="0" dirty="0">
                              <a:solidFill>
                                <a:schemeClr val="tx1"/>
                              </a:solidFill>
                            </a:rPr>
                            <a:t>4</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12.6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27+12.6+35.6=75.2</a:t>
                          </a:r>
                        </a:p>
                        <a:p>
                          <a:pPr algn="l"/>
                          <a:r>
                            <a:rPr lang="en-US" altLang="zh-TW" sz="1600" b="0" dirty="0">
                              <a:solidFill>
                                <a:schemeClr val="tx1"/>
                              </a:solidFill>
                            </a:rPr>
                            <a:t>23+12.6+44.2=79.8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13+9=22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80+22=102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5222966"/>
                      </a:ext>
                    </a:extLst>
                  </a:tr>
                  <a:tr h="370840">
                    <a:tc>
                      <a:txBody>
                        <a:bodyPr/>
                        <a:lstStyle/>
                        <a:p>
                          <a:r>
                            <a:rPr lang="en-US" altLang="zh-TW" sz="1600" b="0" dirty="0">
                              <a:solidFill>
                                <a:schemeClr val="tx1"/>
                              </a:solidFill>
                            </a:rPr>
                            <a:t>5</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11.6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13+11.6+44.2=68.8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13+11=24</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69+24=93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067245"/>
                      </a:ext>
                    </a:extLst>
                  </a:tr>
                  <a:tr h="370840">
                    <a:tc>
                      <a:txBody>
                        <a:bodyPr/>
                        <a:lstStyle/>
                        <a:p>
                          <a:r>
                            <a:rPr lang="en-US" altLang="zh-TW" sz="1600" b="0" dirty="0">
                              <a:solidFill>
                                <a:schemeClr val="tx1"/>
                              </a:solidFill>
                            </a:rPr>
                            <a:t>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12.6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15+12.6+35.6=63.2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13+14=27</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63.3+2=90.3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209506"/>
                      </a:ext>
                    </a:extLst>
                  </a:tr>
                  <a:tr h="370840">
                    <a:tc>
                      <a:txBody>
                        <a:bodyPr/>
                        <a:lstStyle/>
                        <a:p>
                          <a:r>
                            <a:rPr lang="en-US" altLang="zh-TW" sz="1600" b="0" dirty="0">
                              <a:solidFill>
                                <a:schemeClr val="tx1"/>
                              </a:solidFill>
                            </a:rPr>
                            <a:t>7</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17+11+14.6=42.6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25+23+14.3=62.3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42.6+62.3=105</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8274574"/>
                      </a:ext>
                    </a:extLst>
                  </a:tr>
                  <a:tr h="370840">
                    <a:tc>
                      <a:txBody>
                        <a:bodyPr/>
                        <a:lstStyle/>
                        <a:p>
                          <a:r>
                            <a:rPr lang="en-US" altLang="zh-TW" sz="1600" b="0" dirty="0">
                              <a:solidFill>
                                <a:schemeClr val="tx1"/>
                              </a:solidFill>
                            </a:rPr>
                            <a:t>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11+10+14.6=35.6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31+19+16.6=66.6</a:t>
                          </a:r>
                        </a:p>
                        <a:p>
                          <a:r>
                            <a:rPr lang="en-US" altLang="zh-TW" sz="1600" b="0" dirty="0">
                              <a:solidFill>
                                <a:schemeClr val="tx1"/>
                              </a:solidFill>
                            </a:rPr>
                            <a:t>22+27+12.6=61.6</a:t>
                          </a:r>
                        </a:p>
                        <a:p>
                          <a:r>
                            <a:rPr lang="en-US" altLang="zh-TW" sz="1600" b="0" dirty="0">
                              <a:solidFill>
                                <a:schemeClr val="tx1"/>
                              </a:solidFill>
                            </a:rPr>
                            <a:t>27+15+12.6=54.6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35.6+66.6=102.3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3582051"/>
                      </a:ext>
                    </a:extLst>
                  </a:tr>
                  <a:tr h="370840">
                    <a:tc>
                      <a:txBody>
                        <a:bodyPr/>
                        <a:lstStyle/>
                        <a:p>
                          <a:r>
                            <a:rPr lang="en-US" altLang="zh-TW" sz="1600" b="0" dirty="0">
                              <a:solidFill>
                                <a:schemeClr val="tx1"/>
                              </a:solidFill>
                            </a:rPr>
                            <a:t>9</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16.6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13+16.6+14.6=44.2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21+16+16.6=63.6</a:t>
                          </a:r>
                        </a:p>
                        <a:p>
                          <a:r>
                            <a:rPr lang="en-US" altLang="zh-TW" sz="1600" b="0" dirty="0">
                              <a:solidFill>
                                <a:schemeClr val="tx1"/>
                              </a:solidFill>
                            </a:rPr>
                            <a:t>22+23+12.6=57.6</a:t>
                          </a:r>
                        </a:p>
                        <a:p>
                          <a:r>
                            <a:rPr lang="en-US" altLang="zh-TW" sz="1600" b="0" dirty="0">
                              <a:solidFill>
                                <a:schemeClr val="tx1"/>
                              </a:solidFill>
                            </a:rPr>
                            <a:t>24+13+11.6=48.6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44.3+63.6=108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1107250"/>
                      </a:ext>
                    </a:extLst>
                  </a:tr>
                  <a:tr h="370840">
                    <a:tc>
                      <a:txBody>
                        <a:bodyPr/>
                        <a:lstStyle/>
                        <a:p>
                          <a:r>
                            <a:rPr lang="en-US" altLang="zh-TW" sz="1600" b="0" dirty="0">
                              <a:solidFill>
                                <a:schemeClr val="tx1"/>
                              </a:solidFill>
                            </a:rPr>
                            <a:t>10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14.6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0+14.6+0=14.6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62.3+17+11=90.3</a:t>
                          </a:r>
                        </a:p>
                        <a:p>
                          <a:r>
                            <a:rPr lang="en-US" altLang="zh-TW" sz="1600" b="0" dirty="0">
                              <a:solidFill>
                                <a:schemeClr val="tx1"/>
                              </a:solidFill>
                            </a:rPr>
                            <a:t>66.6+11+10=87.6</a:t>
                          </a:r>
                        </a:p>
                        <a:p>
                          <a:r>
                            <a:rPr lang="en-US" altLang="zh-TW" sz="1600" b="0" dirty="0">
                              <a:solidFill>
                                <a:schemeClr val="tx1"/>
                              </a:solidFill>
                            </a:rPr>
                            <a:t>63.6+13+16.6=93.3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14.6+93.3=108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52733"/>
                      </a:ext>
                    </a:extLst>
                  </a:tr>
                </a:tbl>
              </a:graphicData>
            </a:graphic>
          </p:graphicFrame>
        </mc:Choice>
        <mc:Fallback xmlns="">
          <p:graphicFrame>
            <p:nvGraphicFramePr>
              <p:cNvPr id="4" name="表格 4">
                <a:extLst>
                  <a:ext uri="{FF2B5EF4-FFF2-40B4-BE49-F238E27FC236}">
                    <a16:creationId xmlns:a16="http://schemas.microsoft.com/office/drawing/2014/main" id="{9967A52A-999A-4E58-B002-427F30DBCF06}"/>
                  </a:ext>
                </a:extLst>
              </p:cNvPr>
              <p:cNvGraphicFramePr>
                <a:graphicFrameLocks noGrp="1"/>
              </p:cNvGraphicFramePr>
              <p:nvPr>
                <p:ph idx="1"/>
                <p:extLst>
                  <p:ext uri="{D42A27DB-BD31-4B8C-83A1-F6EECF244321}">
                    <p14:modId xmlns:p14="http://schemas.microsoft.com/office/powerpoint/2010/main" val="627471700"/>
                  </p:ext>
                </p:extLst>
              </p:nvPr>
            </p:nvGraphicFramePr>
            <p:xfrm>
              <a:off x="1286675" y="0"/>
              <a:ext cx="7121235" cy="6791960"/>
            </p:xfrm>
            <a:graphic>
              <a:graphicData uri="http://schemas.openxmlformats.org/drawingml/2006/table">
                <a:tbl>
                  <a:tblPr firstRow="1" bandRow="1">
                    <a:tableStyleId>{5C22544A-7EE6-4342-B048-85BDC9FD1C3A}</a:tableStyleId>
                  </a:tblPr>
                  <a:tblGrid>
                    <a:gridCol w="632131">
                      <a:extLst>
                        <a:ext uri="{9D8B030D-6E8A-4147-A177-3AD203B41FA5}">
                          <a16:colId xmlns:a16="http://schemas.microsoft.com/office/drawing/2014/main" val="282190175"/>
                        </a:ext>
                      </a:extLst>
                    </a:gridCol>
                    <a:gridCol w="632131">
                      <a:extLst>
                        <a:ext uri="{9D8B030D-6E8A-4147-A177-3AD203B41FA5}">
                          <a16:colId xmlns:a16="http://schemas.microsoft.com/office/drawing/2014/main" val="860759584"/>
                        </a:ext>
                      </a:extLst>
                    </a:gridCol>
                    <a:gridCol w="2031684">
                      <a:extLst>
                        <a:ext uri="{9D8B030D-6E8A-4147-A177-3AD203B41FA5}">
                          <a16:colId xmlns:a16="http://schemas.microsoft.com/office/drawing/2014/main" val="127387840"/>
                        </a:ext>
                      </a:extLst>
                    </a:gridCol>
                    <a:gridCol w="2203013">
                      <a:extLst>
                        <a:ext uri="{9D8B030D-6E8A-4147-A177-3AD203B41FA5}">
                          <a16:colId xmlns:a16="http://schemas.microsoft.com/office/drawing/2014/main" val="2590283341"/>
                        </a:ext>
                      </a:extLst>
                    </a:gridCol>
                    <a:gridCol w="1622276">
                      <a:extLst>
                        <a:ext uri="{9D8B030D-6E8A-4147-A177-3AD203B41FA5}">
                          <a16:colId xmlns:a16="http://schemas.microsoft.com/office/drawing/2014/main" val="3517178521"/>
                        </a:ext>
                      </a:extLst>
                    </a:gridCol>
                  </a:tblGrid>
                  <a:tr h="370840">
                    <a:tc>
                      <a:txBody>
                        <a:bodyPr/>
                        <a:lstStyle/>
                        <a:p>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962" t="-4918" r="-925962" b="-1747541"/>
                          </a:stretch>
                        </a:blipFill>
                      </a:tcPr>
                    </a:tc>
                    <a:tc>
                      <a:txBody>
                        <a:bodyPr/>
                        <a:lstStyle/>
                        <a:p>
                          <a:r>
                            <a:rPr lang="en-US" altLang="zh-TW" sz="1600" b="0" dirty="0">
                              <a:solidFill>
                                <a:schemeClr val="tx1"/>
                              </a:solidFill>
                            </a:rPr>
                            <a:t>rank(up)</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rank(down)</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order(</a:t>
                          </a:r>
                          <a:r>
                            <a:rPr lang="en-US" altLang="zh-TW" sz="1600" b="0" dirty="0" err="1">
                              <a:solidFill>
                                <a:schemeClr val="tx1"/>
                              </a:solidFill>
                            </a:rPr>
                            <a:t>up+down</a:t>
                          </a:r>
                          <a:r>
                            <a:rPr lang="en-US" altLang="zh-TW" sz="1600" b="0" dirty="0">
                              <a:solidFill>
                                <a:schemeClr val="tx1"/>
                              </a:solidFill>
                            </a:rPr>
                            <a: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4337942"/>
                      </a:ext>
                    </a:extLst>
                  </a:tr>
                  <a:tr h="1310640">
                    <a:tc>
                      <a:txBody>
                        <a:bodyPr/>
                        <a:lstStyle/>
                        <a:p>
                          <a:r>
                            <a:rPr lang="en-US" altLang="zh-TW" sz="1600" b="0" dirty="0">
                              <a:solidFill>
                                <a:schemeClr val="tx1"/>
                              </a:solidFill>
                            </a:rPr>
                            <a:t>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18+13+76.8=107.8</a:t>
                          </a:r>
                        </a:p>
                        <a:p>
                          <a:pPr algn="l"/>
                          <a:r>
                            <a:rPr lang="en-US" altLang="zh-TW" sz="1600" b="0" dirty="0">
                              <a:solidFill>
                                <a:schemeClr val="tx1"/>
                              </a:solidFill>
                            </a:rPr>
                            <a:t>12+13+79.9=104.9</a:t>
                          </a:r>
                        </a:p>
                        <a:p>
                          <a:pPr algn="l"/>
                          <a:r>
                            <a:rPr lang="en-US" altLang="zh-TW" sz="1600" b="0" dirty="0">
                              <a:solidFill>
                                <a:schemeClr val="tx1"/>
                              </a:solidFill>
                            </a:rPr>
                            <a:t>9+13+79.8=101.8</a:t>
                          </a:r>
                        </a:p>
                        <a:p>
                          <a:pPr algn="l"/>
                          <a:r>
                            <a:rPr lang="en-US" altLang="zh-TW" sz="1600" b="0" dirty="0">
                              <a:solidFill>
                                <a:schemeClr val="tx1"/>
                              </a:solidFill>
                            </a:rPr>
                            <a:t>11+13+68.8=92.8</a:t>
                          </a:r>
                        </a:p>
                        <a:p>
                          <a:pPr algn="l"/>
                          <a:r>
                            <a:rPr lang="en-US" altLang="zh-TW" sz="1600" b="0" dirty="0">
                              <a:solidFill>
                                <a:schemeClr val="tx1"/>
                              </a:solidFill>
                            </a:rPr>
                            <a:t>14+13+63.2=90.2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108+0=108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8964082"/>
                      </a:ext>
                    </a:extLst>
                  </a:tr>
                  <a:tr h="579120">
                    <a:tc>
                      <a:txBody>
                        <a:bodyPr/>
                        <a:lstStyle/>
                        <a:p>
                          <a:r>
                            <a:rPr lang="en-US" altLang="zh-TW" sz="1600" b="0" dirty="0">
                              <a:solidFill>
                                <a:schemeClr val="tx1"/>
                              </a:solidFill>
                            </a:rPr>
                            <a:t>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16.6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19+16.6+35.6=71.2</a:t>
                          </a:r>
                        </a:p>
                        <a:p>
                          <a:pPr algn="l"/>
                          <a:r>
                            <a:rPr lang="en-US" altLang="zh-TW" sz="1600" b="0" dirty="0">
                              <a:solidFill>
                                <a:schemeClr val="tx1"/>
                              </a:solidFill>
                            </a:rPr>
                            <a:t>16+16.6+44.2=76.8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13+18=31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77+31=108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5747870"/>
                      </a:ext>
                    </a:extLst>
                  </a:tr>
                  <a:tr h="370840">
                    <a:tc>
                      <a:txBody>
                        <a:bodyPr/>
                        <a:lstStyle/>
                        <a:p>
                          <a:r>
                            <a:rPr lang="en-US" altLang="zh-TW" sz="1600" b="0" dirty="0">
                              <a:solidFill>
                                <a:schemeClr val="tx1"/>
                              </a:solidFill>
                            </a:rPr>
                            <a:t>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14.3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23+14.3+42.6=79.9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13+12=25</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80+25=105</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2398150"/>
                      </a:ext>
                    </a:extLst>
                  </a:tr>
                  <a:tr h="579120">
                    <a:tc>
                      <a:txBody>
                        <a:bodyPr/>
                        <a:lstStyle/>
                        <a:p>
                          <a:r>
                            <a:rPr lang="en-US" altLang="zh-TW" sz="1600" b="0" dirty="0">
                              <a:solidFill>
                                <a:schemeClr val="tx1"/>
                              </a:solidFill>
                            </a:rPr>
                            <a:t>4</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12.6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27+12.6+35.6=75.2</a:t>
                          </a:r>
                        </a:p>
                        <a:p>
                          <a:pPr algn="l"/>
                          <a:r>
                            <a:rPr lang="en-US" altLang="zh-TW" sz="1600" b="0" dirty="0">
                              <a:solidFill>
                                <a:schemeClr val="tx1"/>
                              </a:solidFill>
                            </a:rPr>
                            <a:t>23+12.6+44.2=79.8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13+9=22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80+22=102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5222966"/>
                      </a:ext>
                    </a:extLst>
                  </a:tr>
                  <a:tr h="370840">
                    <a:tc>
                      <a:txBody>
                        <a:bodyPr/>
                        <a:lstStyle/>
                        <a:p>
                          <a:r>
                            <a:rPr lang="en-US" altLang="zh-TW" sz="1600" b="0" dirty="0">
                              <a:solidFill>
                                <a:schemeClr val="tx1"/>
                              </a:solidFill>
                            </a:rPr>
                            <a:t>5</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11.6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13+11.6+44.2=68.8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13+11=24</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69+24=93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067245"/>
                      </a:ext>
                    </a:extLst>
                  </a:tr>
                  <a:tr h="370840">
                    <a:tc>
                      <a:txBody>
                        <a:bodyPr/>
                        <a:lstStyle/>
                        <a:p>
                          <a:r>
                            <a:rPr lang="en-US" altLang="zh-TW" sz="1600" b="0" dirty="0">
                              <a:solidFill>
                                <a:schemeClr val="tx1"/>
                              </a:solidFill>
                            </a:rPr>
                            <a:t>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12.6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15+12.6+35.6=63.2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13+14=27</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63.3+2=90.3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209506"/>
                      </a:ext>
                    </a:extLst>
                  </a:tr>
                  <a:tr h="370840">
                    <a:tc>
                      <a:txBody>
                        <a:bodyPr/>
                        <a:lstStyle/>
                        <a:p>
                          <a:r>
                            <a:rPr lang="en-US" altLang="zh-TW" sz="1600" b="0" dirty="0">
                              <a:solidFill>
                                <a:schemeClr val="tx1"/>
                              </a:solidFill>
                            </a:rPr>
                            <a:t>7</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17+11+14.6=42.6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25+23+14.3=62.3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42.6+62.3=105</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8274574"/>
                      </a:ext>
                    </a:extLst>
                  </a:tr>
                  <a:tr h="822960">
                    <a:tc>
                      <a:txBody>
                        <a:bodyPr/>
                        <a:lstStyle/>
                        <a:p>
                          <a:r>
                            <a:rPr lang="en-US" altLang="zh-TW" sz="1600" b="0" dirty="0">
                              <a:solidFill>
                                <a:schemeClr val="tx1"/>
                              </a:solidFill>
                            </a:rPr>
                            <a:t>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11+10+14.6=35.6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31+19+16.6=66.6</a:t>
                          </a:r>
                        </a:p>
                        <a:p>
                          <a:r>
                            <a:rPr lang="en-US" altLang="zh-TW" sz="1600" b="0" dirty="0">
                              <a:solidFill>
                                <a:schemeClr val="tx1"/>
                              </a:solidFill>
                            </a:rPr>
                            <a:t>22+27+12.6=61.6</a:t>
                          </a:r>
                        </a:p>
                        <a:p>
                          <a:r>
                            <a:rPr lang="en-US" altLang="zh-TW" sz="1600" b="0" dirty="0">
                              <a:solidFill>
                                <a:schemeClr val="tx1"/>
                              </a:solidFill>
                            </a:rPr>
                            <a:t>27+15+12.6=54.6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35.6+66.6=102.3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3582051"/>
                      </a:ext>
                    </a:extLst>
                  </a:tr>
                  <a:tr h="822960">
                    <a:tc>
                      <a:txBody>
                        <a:bodyPr/>
                        <a:lstStyle/>
                        <a:p>
                          <a:r>
                            <a:rPr lang="en-US" altLang="zh-TW" sz="1600" b="0" dirty="0">
                              <a:solidFill>
                                <a:schemeClr val="tx1"/>
                              </a:solidFill>
                            </a:rPr>
                            <a:t>9</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16.6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13+16.6+14.6=44.2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21+16+16.6=63.6</a:t>
                          </a:r>
                        </a:p>
                        <a:p>
                          <a:r>
                            <a:rPr lang="en-US" altLang="zh-TW" sz="1600" b="0" dirty="0">
                              <a:solidFill>
                                <a:schemeClr val="tx1"/>
                              </a:solidFill>
                            </a:rPr>
                            <a:t>22+23+12.6=57.6</a:t>
                          </a:r>
                        </a:p>
                        <a:p>
                          <a:r>
                            <a:rPr lang="en-US" altLang="zh-TW" sz="1600" b="0" dirty="0">
                              <a:solidFill>
                                <a:schemeClr val="tx1"/>
                              </a:solidFill>
                            </a:rPr>
                            <a:t>24+13+11.6=48.6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44.3+63.6=108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1107250"/>
                      </a:ext>
                    </a:extLst>
                  </a:tr>
                  <a:tr h="822960">
                    <a:tc>
                      <a:txBody>
                        <a:bodyPr/>
                        <a:lstStyle/>
                        <a:p>
                          <a:r>
                            <a:rPr lang="en-US" altLang="zh-TW" sz="1600" b="0" dirty="0">
                              <a:solidFill>
                                <a:schemeClr val="tx1"/>
                              </a:solidFill>
                            </a:rPr>
                            <a:t>10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14.6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1600" b="0" dirty="0">
                              <a:solidFill>
                                <a:schemeClr val="tx1"/>
                              </a:solidFill>
                            </a:rPr>
                            <a:t>0+14.6+0=14.6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62.3+17+11=90.3</a:t>
                          </a:r>
                        </a:p>
                        <a:p>
                          <a:r>
                            <a:rPr lang="en-US" altLang="zh-TW" sz="1600" b="0" dirty="0">
                              <a:solidFill>
                                <a:schemeClr val="tx1"/>
                              </a:solidFill>
                            </a:rPr>
                            <a:t>66.6+11+10=87.6</a:t>
                          </a:r>
                        </a:p>
                        <a:p>
                          <a:r>
                            <a:rPr lang="en-US" altLang="zh-TW" sz="1600" b="0" dirty="0">
                              <a:solidFill>
                                <a:schemeClr val="tx1"/>
                              </a:solidFill>
                            </a:rPr>
                            <a:t>63.6+13+16.6=93.3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rPr>
                            <a:t>14.6+93.3=108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52733"/>
                      </a:ext>
                    </a:extLst>
                  </a:tr>
                </a:tbl>
              </a:graphicData>
            </a:graphic>
          </p:graphicFrame>
        </mc:Fallback>
      </mc:AlternateContent>
      <p:pic>
        <p:nvPicPr>
          <p:cNvPr id="5" name="圖片 4" descr="一張含有 文字, 裝置, 收據 的圖片&#10;&#10;自動產生的描述">
            <a:extLst>
              <a:ext uri="{FF2B5EF4-FFF2-40B4-BE49-F238E27FC236}">
                <a16:creationId xmlns:a16="http://schemas.microsoft.com/office/drawing/2014/main" id="{76625A29-1DE8-4779-888A-107AA4DA5F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34048" y="3429000"/>
            <a:ext cx="3057952" cy="3515216"/>
          </a:xfrm>
          <a:prstGeom prst="rect">
            <a:avLst/>
          </a:prstGeom>
        </p:spPr>
      </p:pic>
      <p:pic>
        <p:nvPicPr>
          <p:cNvPr id="6" name="內容版面配置區 4">
            <a:extLst>
              <a:ext uri="{FF2B5EF4-FFF2-40B4-BE49-F238E27FC236}">
                <a16:creationId xmlns:a16="http://schemas.microsoft.com/office/drawing/2014/main" id="{9685B0C6-F2BF-430A-8B27-AB0B12839DAE}"/>
              </a:ext>
            </a:extLst>
          </p:cNvPr>
          <p:cNvPicPr>
            <a:picLocks noChangeAspect="1"/>
          </p:cNvPicPr>
          <p:nvPr/>
        </p:nvPicPr>
        <p:blipFill rotWithShape="1">
          <a:blip r:embed="rId5">
            <a:extLst>
              <a:ext uri="{28A0092B-C50C-407E-A947-70E740481C1C}">
                <a14:useLocalDpi xmlns:a14="http://schemas.microsoft.com/office/drawing/2010/main" val="0"/>
              </a:ext>
            </a:extLst>
          </a:blip>
          <a:srcRect l="11069" r="8671" b="773"/>
          <a:stretch/>
        </p:blipFill>
        <p:spPr>
          <a:xfrm>
            <a:off x="9152772" y="501114"/>
            <a:ext cx="3039228" cy="3326732"/>
          </a:xfrm>
          <a:prstGeom prst="rect">
            <a:avLst/>
          </a:prstGeom>
        </p:spPr>
      </p:pic>
      <p:sp>
        <p:nvSpPr>
          <p:cNvPr id="7" name="文字方塊 6">
            <a:extLst>
              <a:ext uri="{FF2B5EF4-FFF2-40B4-BE49-F238E27FC236}">
                <a16:creationId xmlns:a16="http://schemas.microsoft.com/office/drawing/2014/main" id="{BFBF8897-CAF6-4349-8CFF-34DD0DE75DD3}"/>
              </a:ext>
            </a:extLst>
          </p:cNvPr>
          <p:cNvSpPr txBox="1"/>
          <p:nvPr/>
        </p:nvSpPr>
        <p:spPr>
          <a:xfrm>
            <a:off x="173254" y="604248"/>
            <a:ext cx="5082139" cy="369332"/>
          </a:xfrm>
          <a:prstGeom prst="rect">
            <a:avLst/>
          </a:prstGeom>
          <a:noFill/>
        </p:spPr>
        <p:txBody>
          <a:bodyPr wrap="square" rtlCol="0">
            <a:spAutoFit/>
          </a:bodyPr>
          <a:lstStyle/>
          <a:p>
            <a:r>
              <a:rPr lang="en-US" altLang="zh-TW" dirty="0"/>
              <a:t>CPOP</a:t>
            </a:r>
            <a:endParaRPr lang="zh-TW" altLang="en-US" dirty="0"/>
          </a:p>
        </p:txBody>
      </p:sp>
      <p:sp>
        <p:nvSpPr>
          <p:cNvPr id="8" name="文字方塊 7">
            <a:extLst>
              <a:ext uri="{FF2B5EF4-FFF2-40B4-BE49-F238E27FC236}">
                <a16:creationId xmlns:a16="http://schemas.microsoft.com/office/drawing/2014/main" id="{D5B42B06-FB00-4D37-B8CC-37FE585CB27F}"/>
              </a:ext>
            </a:extLst>
          </p:cNvPr>
          <p:cNvSpPr txBox="1"/>
          <p:nvPr/>
        </p:nvSpPr>
        <p:spPr>
          <a:xfrm>
            <a:off x="0" y="6092791"/>
            <a:ext cx="5082139" cy="923330"/>
          </a:xfrm>
          <a:prstGeom prst="rect">
            <a:avLst/>
          </a:prstGeom>
          <a:noFill/>
        </p:spPr>
        <p:txBody>
          <a:bodyPr wrap="square" rtlCol="0">
            <a:spAutoFit/>
          </a:bodyPr>
          <a:lstStyle/>
          <a:p>
            <a:endParaRPr lang="en-US" altLang="zh-TW" dirty="0"/>
          </a:p>
          <a:p>
            <a:r>
              <a:rPr lang="en-US" altLang="zh-TW" dirty="0"/>
              <a:t>Critical-Path-on-a-Processor (CPOP) algorithm</a:t>
            </a:r>
            <a:endParaRPr lang="zh-TW" altLang="en-US" dirty="0"/>
          </a:p>
          <a:p>
            <a:endParaRPr lang="zh-TW" altLang="en-US" dirty="0"/>
          </a:p>
        </p:txBody>
      </p:sp>
      <p:pic>
        <p:nvPicPr>
          <p:cNvPr id="10" name="圖片 9">
            <a:extLst>
              <a:ext uri="{FF2B5EF4-FFF2-40B4-BE49-F238E27FC236}">
                <a16:creationId xmlns:a16="http://schemas.microsoft.com/office/drawing/2014/main" id="{CC576238-D72C-4CC1-88FB-CFFED7A0F200}"/>
              </a:ext>
            </a:extLst>
          </p:cNvPr>
          <p:cNvPicPr>
            <a:picLocks noChangeAspect="1"/>
          </p:cNvPicPr>
          <p:nvPr/>
        </p:nvPicPr>
        <p:blipFill>
          <a:blip r:embed="rId6"/>
          <a:stretch>
            <a:fillRect/>
          </a:stretch>
        </p:blipFill>
        <p:spPr>
          <a:xfrm>
            <a:off x="8977120" y="103134"/>
            <a:ext cx="3077016" cy="501114"/>
          </a:xfrm>
          <a:prstGeom prst="rect">
            <a:avLst/>
          </a:prstGeom>
        </p:spPr>
      </p:pic>
    </p:spTree>
    <p:extLst>
      <p:ext uri="{BB962C8B-B14F-4D97-AF65-F5344CB8AC3E}">
        <p14:creationId xmlns:p14="http://schemas.microsoft.com/office/powerpoint/2010/main" val="2220686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77F66DE-5111-4C9A-9918-74FE6F8BF6EE}"/>
              </a:ext>
            </a:extLst>
          </p:cNvPr>
          <p:cNvSpPr>
            <a:spLocks noGrp="1"/>
          </p:cNvSpPr>
          <p:nvPr>
            <p:ph idx="1"/>
          </p:nvPr>
        </p:nvSpPr>
        <p:spPr>
          <a:xfrm>
            <a:off x="147424" y="158190"/>
            <a:ext cx="10515600" cy="4351338"/>
          </a:xfrm>
        </p:spPr>
        <p:txBody>
          <a:bodyPr>
            <a:normAutofit/>
          </a:bodyPr>
          <a:lstStyle/>
          <a:p>
            <a:pPr marL="0" indent="0">
              <a:buNone/>
            </a:pPr>
            <a:r>
              <a:rPr lang="en-US" altLang="zh-TW" sz="2000" dirty="0"/>
              <a:t>Critical path{1,2,9,10}</a:t>
            </a:r>
          </a:p>
          <a:p>
            <a:pPr marL="0" indent="0">
              <a:buNone/>
            </a:pPr>
            <a:r>
              <a:rPr lang="en-US" altLang="zh-TW" sz="2000" dirty="0"/>
              <a:t>P1: 14+13+18+21=60</a:t>
            </a:r>
          </a:p>
          <a:p>
            <a:pPr marL="0" indent="0">
              <a:buNone/>
            </a:pPr>
            <a:r>
              <a:rPr lang="en-US" altLang="zh-TW" sz="2000" dirty="0"/>
              <a:t>P2: 16+19+12+7=54</a:t>
            </a:r>
          </a:p>
          <a:p>
            <a:pPr marL="0" indent="0">
              <a:buNone/>
            </a:pPr>
            <a:r>
              <a:rPr lang="en-US" altLang="zh-TW" sz="2000" dirty="0"/>
              <a:t>P3: 9+18+20+16= 63</a:t>
            </a:r>
            <a:endParaRPr lang="zh-TW" altLang="en-US" sz="2000" dirty="0"/>
          </a:p>
        </p:txBody>
      </p:sp>
      <p:pic>
        <p:nvPicPr>
          <p:cNvPr id="4" name="圖片 3" descr="一張含有 文字, 裝置, 收據 的圖片&#10;&#10;自動產生的描述">
            <a:extLst>
              <a:ext uri="{FF2B5EF4-FFF2-40B4-BE49-F238E27FC236}">
                <a16:creationId xmlns:a16="http://schemas.microsoft.com/office/drawing/2014/main" id="{E6D52CDB-3EA1-46FA-97A8-5C00F2E55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4048" y="3429000"/>
            <a:ext cx="3057952" cy="3515216"/>
          </a:xfrm>
          <a:prstGeom prst="rect">
            <a:avLst/>
          </a:prstGeom>
        </p:spPr>
      </p:pic>
      <p:pic>
        <p:nvPicPr>
          <p:cNvPr id="5" name="內容版面配置區 4">
            <a:extLst>
              <a:ext uri="{FF2B5EF4-FFF2-40B4-BE49-F238E27FC236}">
                <a16:creationId xmlns:a16="http://schemas.microsoft.com/office/drawing/2014/main" id="{D85A39B9-AD71-4178-9CF9-7A6B13946D7F}"/>
              </a:ext>
            </a:extLst>
          </p:cNvPr>
          <p:cNvPicPr>
            <a:picLocks noChangeAspect="1"/>
          </p:cNvPicPr>
          <p:nvPr/>
        </p:nvPicPr>
        <p:blipFill rotWithShape="1">
          <a:blip r:embed="rId3">
            <a:extLst>
              <a:ext uri="{28A0092B-C50C-407E-A947-70E740481C1C}">
                <a14:useLocalDpi xmlns:a14="http://schemas.microsoft.com/office/drawing/2010/main" val="0"/>
              </a:ext>
            </a:extLst>
          </a:blip>
          <a:srcRect l="11069" r="8671" b="773"/>
          <a:stretch/>
        </p:blipFill>
        <p:spPr>
          <a:xfrm>
            <a:off x="8537233" y="0"/>
            <a:ext cx="3654767" cy="4000500"/>
          </a:xfrm>
          <a:prstGeom prst="rect">
            <a:avLst/>
          </a:prstGeom>
        </p:spPr>
      </p:pic>
      <p:graphicFrame>
        <p:nvGraphicFramePr>
          <p:cNvPr id="6" name="表格 20">
            <a:extLst>
              <a:ext uri="{FF2B5EF4-FFF2-40B4-BE49-F238E27FC236}">
                <a16:creationId xmlns:a16="http://schemas.microsoft.com/office/drawing/2014/main" id="{88E46BD4-A7E0-4EC0-8BE9-DDA38ECF68F0}"/>
              </a:ext>
            </a:extLst>
          </p:cNvPr>
          <p:cNvGraphicFramePr>
            <a:graphicFrameLocks noGrp="1"/>
          </p:cNvGraphicFramePr>
          <p:nvPr>
            <p:extLst>
              <p:ext uri="{D42A27DB-BD31-4B8C-83A1-F6EECF244321}">
                <p14:modId xmlns:p14="http://schemas.microsoft.com/office/powerpoint/2010/main" val="1683404461"/>
              </p:ext>
            </p:extLst>
          </p:nvPr>
        </p:nvGraphicFramePr>
        <p:xfrm>
          <a:off x="2591851" y="1397861"/>
          <a:ext cx="5890441" cy="5205278"/>
        </p:xfrm>
        <a:graphic>
          <a:graphicData uri="http://schemas.openxmlformats.org/drawingml/2006/table">
            <a:tbl>
              <a:tblPr firstRow="1" bandRow="1">
                <a:tableStyleId>{5C22544A-7EE6-4342-B048-85BDC9FD1C3A}</a:tableStyleId>
              </a:tblPr>
              <a:tblGrid>
                <a:gridCol w="544057">
                  <a:extLst>
                    <a:ext uri="{9D8B030D-6E8A-4147-A177-3AD203B41FA5}">
                      <a16:colId xmlns:a16="http://schemas.microsoft.com/office/drawing/2014/main" val="1708107604"/>
                    </a:ext>
                  </a:extLst>
                </a:gridCol>
                <a:gridCol w="1782128">
                  <a:extLst>
                    <a:ext uri="{9D8B030D-6E8A-4147-A177-3AD203B41FA5}">
                      <a16:colId xmlns:a16="http://schemas.microsoft.com/office/drawing/2014/main" val="4060969492"/>
                    </a:ext>
                  </a:extLst>
                </a:gridCol>
                <a:gridCol w="1782128">
                  <a:extLst>
                    <a:ext uri="{9D8B030D-6E8A-4147-A177-3AD203B41FA5}">
                      <a16:colId xmlns:a16="http://schemas.microsoft.com/office/drawing/2014/main" val="542076653"/>
                    </a:ext>
                  </a:extLst>
                </a:gridCol>
                <a:gridCol w="1782128">
                  <a:extLst>
                    <a:ext uri="{9D8B030D-6E8A-4147-A177-3AD203B41FA5}">
                      <a16:colId xmlns:a16="http://schemas.microsoft.com/office/drawing/2014/main" val="183083533"/>
                    </a:ext>
                  </a:extLst>
                </a:gridCol>
              </a:tblGrid>
              <a:tr h="424737">
                <a:tc>
                  <a:txBody>
                    <a:bodyPr/>
                    <a:lstStyle/>
                    <a:p>
                      <a:pPr algn="ctr">
                        <a:lnSpc>
                          <a:spcPct val="100000"/>
                        </a:lnSpc>
                      </a:pP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rank(</a:t>
                      </a:r>
                      <a:r>
                        <a:rPr lang="en-US" altLang="zh-TW" sz="1800" b="0" dirty="0" err="1">
                          <a:solidFill>
                            <a:schemeClr val="tx1">
                              <a:lumMod val="85000"/>
                              <a:lumOff val="15000"/>
                            </a:schemeClr>
                          </a:solidFill>
                          <a:latin typeface="Times New Roman" panose="02020603050405020304" pitchFamily="18" charset="0"/>
                          <a:cs typeface="Times New Roman" panose="02020603050405020304" pitchFamily="18" charset="0"/>
                        </a:rPr>
                        <a:t>up+down</a:t>
                      </a: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entry node</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priority Q</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0155"/>
                  </a:ext>
                </a:extLst>
              </a:tr>
              <a:tr h="412376">
                <a:tc>
                  <a:txBody>
                    <a:bodyPr/>
                    <a:lstStyle/>
                    <a:p>
                      <a:pPr algn="ctr">
                        <a:lnSpc>
                          <a:spcPct val="100000"/>
                        </a:lnSpc>
                      </a:pPr>
                      <a:r>
                        <a:rPr lang="en-US" altLang="zh-TW" sz="2000" b="0" dirty="0">
                          <a:solidFill>
                            <a:schemeClr val="tx1"/>
                          </a:solidFill>
                          <a:latin typeface="Times New Roman" panose="02020603050405020304" pitchFamily="18" charset="0"/>
                          <a:cs typeface="Times New Roman" panose="02020603050405020304" pitchFamily="18" charset="0"/>
                        </a:rPr>
                        <a:t>1</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108+0=108</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483234">
                <a:tc>
                  <a:txBody>
                    <a:bodyPr/>
                    <a:lstStyle/>
                    <a:p>
                      <a:pPr algn="ctr">
                        <a:lnSpc>
                          <a:spcPct val="100000"/>
                        </a:lnSpc>
                      </a:pP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77+31=108</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23456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483234">
                <a:tc>
                  <a:txBody>
                    <a:bodyPr/>
                    <a:lstStyle/>
                    <a:p>
                      <a:pPr algn="ctr">
                        <a:lnSpc>
                          <a:spcPct val="100000"/>
                        </a:lnSpc>
                      </a:pPr>
                      <a:r>
                        <a:rPr lang="en-US" altLang="zh-TW" sz="2000" dirty="0">
                          <a:latin typeface="Times New Roman" panose="02020603050405020304" pitchFamily="18" charset="0"/>
                          <a:cs typeface="Times New Roman" panose="02020603050405020304" pitchFamily="18" charset="0"/>
                        </a:rPr>
                        <a:t>3</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80+25=105</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3456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483234">
                <a:tc>
                  <a:txBody>
                    <a:bodyPr/>
                    <a:lstStyle/>
                    <a:p>
                      <a:pPr algn="ctr">
                        <a:lnSpc>
                          <a:spcPct val="100000"/>
                        </a:lnSpc>
                      </a:pPr>
                      <a:r>
                        <a:rPr lang="en-US" altLang="zh-TW" sz="2000" dirty="0">
                          <a:latin typeface="Times New Roman" panose="02020603050405020304" pitchFamily="18" charset="0"/>
                          <a:cs typeface="Times New Roman" panose="02020603050405020304" pitchFamily="18" charset="0"/>
                        </a:rPr>
                        <a:t>4</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80+22=102</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4567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483234">
                <a:tc>
                  <a:txBody>
                    <a:bodyPr/>
                    <a:lstStyle/>
                    <a:p>
                      <a:pPr algn="ctr">
                        <a:lnSpc>
                          <a:spcPct val="100000"/>
                        </a:lnSpc>
                      </a:pPr>
                      <a:r>
                        <a:rPr lang="en-US" altLang="zh-TW" sz="2000" dirty="0">
                          <a:latin typeface="Times New Roman" panose="02020603050405020304" pitchFamily="18" charset="0"/>
                          <a:cs typeface="Times New Roman" panose="02020603050405020304" pitchFamily="18" charset="0"/>
                        </a:rPr>
                        <a:t>5</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69+24=93</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456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483234">
                <a:tc>
                  <a:txBody>
                    <a:bodyPr/>
                    <a:lstStyle/>
                    <a:p>
                      <a:pPr algn="ctr">
                        <a:lnSpc>
                          <a:spcPct val="100000"/>
                        </a:lnSpc>
                      </a:pPr>
                      <a:r>
                        <a:rPr lang="en-US" altLang="zh-TW" sz="2000" dirty="0">
                          <a:latin typeface="Times New Roman" panose="02020603050405020304" pitchFamily="18" charset="0"/>
                          <a:cs typeface="Times New Roman" panose="02020603050405020304" pitchFamily="18" charset="0"/>
                        </a:rPr>
                        <a:t>6</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63.3+2=90.3</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56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123745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502293">
                <a:tc>
                  <a:txBody>
                    <a:bodyPr/>
                    <a:lstStyle/>
                    <a:p>
                      <a:pPr algn="ctr">
                        <a:lnSpc>
                          <a:spcPct val="100000"/>
                        </a:lnSpc>
                      </a:pPr>
                      <a:r>
                        <a:rPr lang="en-US" altLang="zh-TW" sz="2000" dirty="0">
                          <a:latin typeface="Times New Roman" panose="02020603050405020304" pitchFamily="18" charset="0"/>
                          <a:cs typeface="Times New Roman" panose="02020603050405020304" pitchFamily="18" charset="0"/>
                        </a:rPr>
                        <a:t>7</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42.6+62.3=105</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69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1237459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483234">
                <a:tc>
                  <a:txBody>
                    <a:bodyPr/>
                    <a:lstStyle/>
                    <a:p>
                      <a:pPr algn="ctr">
                        <a:lnSpc>
                          <a:spcPct val="100000"/>
                        </a:lnSpc>
                      </a:pPr>
                      <a:r>
                        <a:rPr lang="en-US" altLang="zh-TW" sz="2000" dirty="0">
                          <a:latin typeface="Times New Roman" panose="02020603050405020304" pitchFamily="18" charset="0"/>
                          <a:cs typeface="Times New Roman" panose="02020603050405020304" pitchFamily="18" charset="0"/>
                        </a:rPr>
                        <a:t>8</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35.6+66.6=102.3</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12374596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483234">
                <a:tc>
                  <a:txBody>
                    <a:bodyPr/>
                    <a:lstStyle/>
                    <a:p>
                      <a:pPr algn="ctr">
                        <a:lnSpc>
                          <a:spcPct val="100000"/>
                        </a:lnSpc>
                      </a:pPr>
                      <a:r>
                        <a:rPr lang="en-US" altLang="zh-TW" sz="2000" dirty="0">
                          <a:latin typeface="Times New Roman" panose="02020603050405020304" pitchFamily="18" charset="0"/>
                          <a:cs typeface="Times New Roman" panose="02020603050405020304" pitchFamily="18" charset="0"/>
                        </a:rPr>
                        <a:t>9</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r>
                        <a:rPr lang="en-US" altLang="zh-TW" sz="2000" b="0" dirty="0">
                          <a:solidFill>
                            <a:schemeClr val="tx1">
                              <a:lumMod val="85000"/>
                              <a:lumOff val="15000"/>
                            </a:schemeClr>
                          </a:solidFill>
                          <a:latin typeface="Times New Roman" panose="02020603050405020304" pitchFamily="18" charset="0"/>
                          <a:cs typeface="Times New Roman" panose="02020603050405020304" pitchFamily="18" charset="0"/>
                        </a:rPr>
                        <a:t>44.3+63.6=108</a:t>
                      </a:r>
                      <a:endParaRPr lang="zh-TW" altLang="en-US" sz="20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123745968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483234">
                <a:tc>
                  <a:txBody>
                    <a:bodyPr/>
                    <a:lstStyle/>
                    <a:p>
                      <a:pPr algn="ctr">
                        <a:lnSpc>
                          <a:spcPct val="100000"/>
                        </a:lnSpc>
                      </a:pPr>
                      <a:r>
                        <a:rPr lang="en-US" altLang="zh-TW" sz="2000" dirty="0">
                          <a:latin typeface="Times New Roman" panose="02020603050405020304" pitchFamily="18" charset="0"/>
                          <a:cs typeface="Times New Roman" panose="02020603050405020304" pitchFamily="18" charset="0"/>
                        </a:rPr>
                        <a:t>10</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r>
                        <a:rPr lang="en-US" altLang="zh-TW" sz="2000" b="0" dirty="0">
                          <a:solidFill>
                            <a:schemeClr val="tx1">
                              <a:lumMod val="85000"/>
                              <a:lumOff val="15000"/>
                            </a:schemeClr>
                          </a:solidFill>
                          <a:latin typeface="Times New Roman" panose="02020603050405020304" pitchFamily="18" charset="0"/>
                          <a:cs typeface="Times New Roman" panose="02020603050405020304" pitchFamily="18" charset="0"/>
                        </a:rPr>
                        <a:t>14.6+93.3=108</a:t>
                      </a:r>
                      <a:endParaRPr lang="zh-TW" altLang="en-US" sz="20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123745968 10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spTree>
    <p:extLst>
      <p:ext uri="{BB962C8B-B14F-4D97-AF65-F5344CB8AC3E}">
        <p14:creationId xmlns:p14="http://schemas.microsoft.com/office/powerpoint/2010/main" val="2384369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A480CC-01D2-4611-86B0-FD4613785F7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21656C3-F66A-4B5D-B93B-3DFE0181339D}"/>
              </a:ext>
            </a:extLst>
          </p:cNvPr>
          <p:cNvSpPr>
            <a:spLocks noGrp="1"/>
          </p:cNvSpPr>
          <p:nvPr>
            <p:ph idx="1"/>
          </p:nvPr>
        </p:nvSpPr>
        <p:spPr/>
        <p:txBody>
          <a:bodyPr/>
          <a:lstStyle/>
          <a:p>
            <a:endParaRPr lang="zh-TW" altLang="en-US" dirty="0"/>
          </a:p>
        </p:txBody>
      </p:sp>
      <p:graphicFrame>
        <p:nvGraphicFramePr>
          <p:cNvPr id="4" name="表格 20">
            <a:extLst>
              <a:ext uri="{FF2B5EF4-FFF2-40B4-BE49-F238E27FC236}">
                <a16:creationId xmlns:a16="http://schemas.microsoft.com/office/drawing/2014/main" id="{072D3139-33E7-416F-89DC-806F848CB33A}"/>
              </a:ext>
            </a:extLst>
          </p:cNvPr>
          <p:cNvGraphicFramePr>
            <a:graphicFrameLocks noGrp="1"/>
          </p:cNvGraphicFramePr>
          <p:nvPr>
            <p:extLst>
              <p:ext uri="{D42A27DB-BD31-4B8C-83A1-F6EECF244321}">
                <p14:modId xmlns:p14="http://schemas.microsoft.com/office/powerpoint/2010/main" val="2123452875"/>
              </p:ext>
            </p:extLst>
          </p:nvPr>
        </p:nvGraphicFramePr>
        <p:xfrm>
          <a:off x="180774" y="81964"/>
          <a:ext cx="8946586" cy="6956002"/>
        </p:xfrm>
        <a:graphic>
          <a:graphicData uri="http://schemas.openxmlformats.org/drawingml/2006/table">
            <a:tbl>
              <a:tblPr firstRow="1" bandRow="1">
                <a:tableStyleId>{5C22544A-7EE6-4342-B048-85BDC9FD1C3A}</a:tableStyleId>
              </a:tblPr>
              <a:tblGrid>
                <a:gridCol w="653866">
                  <a:extLst>
                    <a:ext uri="{9D8B030D-6E8A-4147-A177-3AD203B41FA5}">
                      <a16:colId xmlns:a16="http://schemas.microsoft.com/office/drawing/2014/main" val="1708107604"/>
                    </a:ext>
                  </a:extLst>
                </a:gridCol>
                <a:gridCol w="808630">
                  <a:extLst>
                    <a:ext uri="{9D8B030D-6E8A-4147-A177-3AD203B41FA5}">
                      <a16:colId xmlns:a16="http://schemas.microsoft.com/office/drawing/2014/main" val="702232932"/>
                    </a:ext>
                  </a:extLst>
                </a:gridCol>
                <a:gridCol w="573490">
                  <a:extLst>
                    <a:ext uri="{9D8B030D-6E8A-4147-A177-3AD203B41FA5}">
                      <a16:colId xmlns:a16="http://schemas.microsoft.com/office/drawing/2014/main" val="3607116572"/>
                    </a:ext>
                  </a:extLst>
                </a:gridCol>
                <a:gridCol w="691060">
                  <a:extLst>
                    <a:ext uri="{9D8B030D-6E8A-4147-A177-3AD203B41FA5}">
                      <a16:colId xmlns:a16="http://schemas.microsoft.com/office/drawing/2014/main" val="305408827"/>
                    </a:ext>
                  </a:extLst>
                </a:gridCol>
                <a:gridCol w="842545">
                  <a:extLst>
                    <a:ext uri="{9D8B030D-6E8A-4147-A177-3AD203B41FA5}">
                      <a16:colId xmlns:a16="http://schemas.microsoft.com/office/drawing/2014/main" val="3729757115"/>
                    </a:ext>
                  </a:extLst>
                </a:gridCol>
                <a:gridCol w="539575">
                  <a:extLst>
                    <a:ext uri="{9D8B030D-6E8A-4147-A177-3AD203B41FA5}">
                      <a16:colId xmlns:a16="http://schemas.microsoft.com/office/drawing/2014/main" val="3450162339"/>
                    </a:ext>
                  </a:extLst>
                </a:gridCol>
                <a:gridCol w="691060">
                  <a:extLst>
                    <a:ext uri="{9D8B030D-6E8A-4147-A177-3AD203B41FA5}">
                      <a16:colId xmlns:a16="http://schemas.microsoft.com/office/drawing/2014/main" val="3531016683"/>
                    </a:ext>
                  </a:extLst>
                </a:gridCol>
                <a:gridCol w="796948">
                  <a:extLst>
                    <a:ext uri="{9D8B030D-6E8A-4147-A177-3AD203B41FA5}">
                      <a16:colId xmlns:a16="http://schemas.microsoft.com/office/drawing/2014/main" val="4060969492"/>
                    </a:ext>
                  </a:extLst>
                </a:gridCol>
                <a:gridCol w="585172">
                  <a:extLst>
                    <a:ext uri="{9D8B030D-6E8A-4147-A177-3AD203B41FA5}">
                      <a16:colId xmlns:a16="http://schemas.microsoft.com/office/drawing/2014/main" val="4249052222"/>
                    </a:ext>
                  </a:extLst>
                </a:gridCol>
                <a:gridCol w="691060">
                  <a:extLst>
                    <a:ext uri="{9D8B030D-6E8A-4147-A177-3AD203B41FA5}">
                      <a16:colId xmlns:a16="http://schemas.microsoft.com/office/drawing/2014/main" val="687650053"/>
                    </a:ext>
                  </a:extLst>
                </a:gridCol>
                <a:gridCol w="846613">
                  <a:extLst>
                    <a:ext uri="{9D8B030D-6E8A-4147-A177-3AD203B41FA5}">
                      <a16:colId xmlns:a16="http://schemas.microsoft.com/office/drawing/2014/main" val="3978933958"/>
                    </a:ext>
                  </a:extLst>
                </a:gridCol>
                <a:gridCol w="535507">
                  <a:extLst>
                    <a:ext uri="{9D8B030D-6E8A-4147-A177-3AD203B41FA5}">
                      <a16:colId xmlns:a16="http://schemas.microsoft.com/office/drawing/2014/main" val="2126929990"/>
                    </a:ext>
                  </a:extLst>
                </a:gridCol>
                <a:gridCol w="691060">
                  <a:extLst>
                    <a:ext uri="{9D8B030D-6E8A-4147-A177-3AD203B41FA5}">
                      <a16:colId xmlns:a16="http://schemas.microsoft.com/office/drawing/2014/main" val="56450038"/>
                    </a:ext>
                  </a:extLst>
                </a:gridCol>
              </a:tblGrid>
              <a:tr h="387284">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600" b="0" dirty="0">
                          <a:solidFill>
                            <a:schemeClr val="tx1"/>
                          </a:solidFill>
                        </a:rPr>
                        <a:t>P1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600" b="0" dirty="0">
                          <a:solidFill>
                            <a:schemeClr val="tx1"/>
                          </a:solidFill>
                        </a:rPr>
                        <a:t>P2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600" b="0" dirty="0">
                          <a:solidFill>
                            <a:schemeClr val="tx1"/>
                          </a:solidFill>
                        </a:rPr>
                        <a:t>P3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choice</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4761348"/>
                  </a:ext>
                </a:extLst>
              </a:tr>
              <a:tr h="387284">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7711569"/>
                  </a:ext>
                </a:extLst>
              </a:tr>
              <a:tr h="387284">
                <a:tc>
                  <a:txBody>
                    <a:bodyPr/>
                    <a:lstStyle/>
                    <a:p>
                      <a:pPr algn="ctr"/>
                      <a:r>
                        <a:rPr lang="en-US" altLang="zh-TW" sz="1600" b="0" dirty="0">
                          <a:solidFill>
                            <a:schemeClr val="tx1"/>
                          </a:solidFill>
                        </a:rPr>
                        <a:t>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14</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14</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16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16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9</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9</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P2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00462">
                <a:tc>
                  <a:txBody>
                    <a:bodyPr/>
                    <a:lstStyle/>
                    <a:p>
                      <a:pPr algn="ctr"/>
                      <a:r>
                        <a:rPr lang="en-US" altLang="zh-TW" sz="1600" dirty="0"/>
                        <a:t>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16+18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52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00462">
                <a:tc>
                  <a:txBody>
                    <a:bodyPr/>
                    <a:lstStyle/>
                    <a:p>
                      <a:pPr algn="ctr"/>
                      <a:r>
                        <a:rPr lang="en-US" altLang="zh-TW" sz="16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16+12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16+12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47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00462">
                <a:tc>
                  <a:txBody>
                    <a:bodyPr/>
                    <a:lstStyle/>
                    <a:p>
                      <a:pPr algn="ctr"/>
                      <a:r>
                        <a:rPr lang="en-US" altLang="zh-TW" sz="1600" dirty="0"/>
                        <a:t>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39+23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77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29+23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73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00462">
                <a:tc>
                  <a:txBody>
                    <a:bodyPr/>
                    <a:lstStyle/>
                    <a:p>
                      <a:pPr algn="ctr"/>
                      <a:r>
                        <a:rPr lang="en-US" altLang="zh-TW" sz="1600" dirty="0"/>
                        <a:t>4</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42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00462">
                <a:tc>
                  <a:txBody>
                    <a:bodyPr/>
                    <a:lstStyle/>
                    <a:p>
                      <a:pPr algn="ctr"/>
                      <a:r>
                        <a:rPr lang="en-US" altLang="zh-TW" sz="1600" dirty="0"/>
                        <a:t>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51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387284">
                <a:tc>
                  <a:txBody>
                    <a:bodyPr/>
                    <a:lstStyle/>
                    <a:p>
                      <a:pPr algn="ctr"/>
                      <a:r>
                        <a:rPr lang="en-US" altLang="zh-TW" sz="1600" dirty="0"/>
                        <a:t>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35+16</a:t>
                      </a:r>
                    </a:p>
                    <a:p>
                      <a:pPr algn="ctr"/>
                      <a:r>
                        <a:rPr lang="en-US" altLang="zh-TW" sz="1600" dirty="0"/>
                        <a:t>41+23</a:t>
                      </a:r>
                    </a:p>
                    <a:p>
                      <a:pPr algn="ctr"/>
                      <a:r>
                        <a:rPr lang="en-US" altLang="zh-TW" sz="1600" dirty="0"/>
                        <a:t>48+13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69</a:t>
                      </a:r>
                    </a:p>
                    <a:p>
                      <a:pPr algn="ctr"/>
                      <a:r>
                        <a:rPr lang="en-US" altLang="zh-TW" sz="1600" dirty="0">
                          <a:solidFill>
                            <a:schemeClr val="accent1"/>
                          </a:solidFill>
                        </a:rPr>
                        <a:t>82</a:t>
                      </a:r>
                    </a:p>
                    <a:p>
                      <a:pPr algn="ctr"/>
                      <a:r>
                        <a:rPr lang="en-US" altLang="zh-TW" sz="1600" dirty="0"/>
                        <a:t>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48</a:t>
                      </a:r>
                    </a:p>
                    <a:p>
                      <a:pPr algn="ctr"/>
                      <a:r>
                        <a:rPr lang="en-US" altLang="zh-TW" sz="1600" dirty="0"/>
                        <a:t>41+23</a:t>
                      </a:r>
                    </a:p>
                    <a:p>
                      <a:pPr algn="ctr"/>
                      <a:r>
                        <a:rPr lang="en-US" altLang="zh-TW" sz="1600" dirty="0"/>
                        <a:t>48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60</a:t>
                      </a:r>
                    </a:p>
                    <a:p>
                      <a:pPr algn="ctr"/>
                      <a:r>
                        <a:rPr lang="en-US" altLang="zh-TW" sz="1600" dirty="0">
                          <a:solidFill>
                            <a:schemeClr val="accent1"/>
                          </a:solidFill>
                        </a:rPr>
                        <a:t>76</a:t>
                      </a:r>
                    </a:p>
                    <a:p>
                      <a:pPr algn="ctr"/>
                      <a:r>
                        <a:rPr lang="en-US" altLang="zh-TW" sz="1600" dirty="0"/>
                        <a:t>60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35+16</a:t>
                      </a:r>
                    </a:p>
                    <a:p>
                      <a:pPr algn="ctr"/>
                      <a:r>
                        <a:rPr lang="en-US" altLang="zh-TW" sz="1600" dirty="0"/>
                        <a:t>41</a:t>
                      </a:r>
                    </a:p>
                    <a:p>
                      <a:pPr algn="ctr"/>
                      <a:r>
                        <a:rPr lang="en-US" altLang="zh-TW" sz="1600" dirty="0"/>
                        <a:t>48+13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20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71</a:t>
                      </a:r>
                    </a:p>
                    <a:p>
                      <a:pPr algn="ctr"/>
                      <a:r>
                        <a:rPr lang="en-US" altLang="zh-TW" sz="1600" dirty="0"/>
                        <a:t>61</a:t>
                      </a:r>
                    </a:p>
                    <a:p>
                      <a:pPr algn="ctr"/>
                      <a:r>
                        <a:rPr lang="en-US" altLang="zh-TW" sz="1600" dirty="0">
                          <a:solidFill>
                            <a:schemeClr val="accent1"/>
                          </a:solidFill>
                        </a:rPr>
                        <a:t>81</a:t>
                      </a:r>
                      <a:endParaRPr lang="zh-TW" altLang="en-US" sz="16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387284">
                <a:tc>
                  <a:txBody>
                    <a:bodyPr/>
                    <a:lstStyle/>
                    <a:p>
                      <a:pPr algn="ctr"/>
                      <a:r>
                        <a:rPr lang="en-US" altLang="zh-TW" sz="1600" dirty="0"/>
                        <a:t>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48</a:t>
                      </a:r>
                    </a:p>
                    <a:p>
                      <a:pPr algn="ctr"/>
                      <a:r>
                        <a:rPr lang="en-US" altLang="zh-TW" sz="1600" dirty="0"/>
                        <a:t>76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64</a:t>
                      </a:r>
                    </a:p>
                    <a:p>
                      <a:pPr algn="ctr"/>
                      <a:r>
                        <a:rPr lang="en-US" altLang="zh-TW" sz="1600" dirty="0">
                          <a:solidFill>
                            <a:schemeClr val="accent1"/>
                          </a:solidFill>
                        </a:rPr>
                        <a:t>82</a:t>
                      </a:r>
                      <a:endParaRPr lang="zh-TW" altLang="en-US" sz="16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51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500462">
                <a:tc>
                  <a:txBody>
                    <a:bodyPr/>
                    <a:lstStyle/>
                    <a:p>
                      <a:pPr algn="ctr"/>
                      <a:r>
                        <a:rPr lang="en-US" altLang="zh-TW" sz="1600" dirty="0"/>
                        <a:t>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35+19</a:t>
                      </a:r>
                    </a:p>
                    <a:p>
                      <a:pPr algn="ctr"/>
                      <a:r>
                        <a:rPr lang="en-US" altLang="zh-TW" sz="1600" dirty="0"/>
                        <a:t>42+27</a:t>
                      </a:r>
                    </a:p>
                    <a:p>
                      <a:pPr algn="ctr"/>
                      <a:r>
                        <a:rPr lang="en-US" altLang="zh-TW" sz="1600" dirty="0"/>
                        <a:t>51+15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59</a:t>
                      </a:r>
                    </a:p>
                    <a:p>
                      <a:pPr algn="ctr"/>
                      <a:r>
                        <a:rPr lang="en-US" altLang="zh-TW" sz="1600" dirty="0">
                          <a:solidFill>
                            <a:schemeClr val="accent1"/>
                          </a:solidFill>
                        </a:rPr>
                        <a:t>74</a:t>
                      </a:r>
                    </a:p>
                    <a:p>
                      <a:pPr algn="ctr"/>
                      <a:r>
                        <a:rPr lang="en-US" altLang="zh-TW" sz="1600" dirty="0"/>
                        <a:t>71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35</a:t>
                      </a:r>
                    </a:p>
                    <a:p>
                      <a:pPr algn="ctr"/>
                      <a:r>
                        <a:rPr lang="en-US" altLang="zh-TW" sz="1600" dirty="0"/>
                        <a:t>42+27</a:t>
                      </a:r>
                    </a:p>
                    <a:p>
                      <a:pPr algn="ctr"/>
                      <a:r>
                        <a:rPr lang="en-US" altLang="zh-TW" sz="1600" dirty="0"/>
                        <a:t>51+15</a:t>
                      </a:r>
                    </a:p>
                    <a:p>
                      <a:pPr algn="ctr"/>
                      <a:r>
                        <a:rPr lang="en-US" altLang="zh-TW" sz="1600" dirty="0"/>
                        <a:t>76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46</a:t>
                      </a:r>
                    </a:p>
                    <a:p>
                      <a:pPr algn="ctr"/>
                      <a:r>
                        <a:rPr lang="en-US" altLang="zh-TW" sz="1600" dirty="0"/>
                        <a:t>80</a:t>
                      </a:r>
                    </a:p>
                    <a:p>
                      <a:pPr algn="ctr"/>
                      <a:r>
                        <a:rPr lang="en-US" altLang="zh-TW" sz="1600" dirty="0"/>
                        <a:t>77</a:t>
                      </a:r>
                    </a:p>
                    <a:p>
                      <a:pPr algn="ctr"/>
                      <a:r>
                        <a:rPr lang="en-US" altLang="zh-TW" sz="1600" dirty="0">
                          <a:solidFill>
                            <a:srgbClr val="00B0F0"/>
                          </a:solidFill>
                        </a:rPr>
                        <a:t>87</a:t>
                      </a:r>
                      <a:endParaRPr lang="zh-TW" altLang="en-US" sz="1600"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38+19</a:t>
                      </a:r>
                    </a:p>
                    <a:p>
                      <a:pPr algn="ctr"/>
                      <a:r>
                        <a:rPr lang="en-US" altLang="zh-TW" sz="1600" dirty="0"/>
                        <a:t>42</a:t>
                      </a:r>
                    </a:p>
                    <a:p>
                      <a:pPr algn="ctr"/>
                      <a:r>
                        <a:rPr lang="en-US" altLang="zh-TW" sz="1600" dirty="0"/>
                        <a:t>51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14</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solidFill>
                            <a:schemeClr val="accent1"/>
                          </a:solidFill>
                        </a:rPr>
                        <a:t>68</a:t>
                      </a:r>
                    </a:p>
                    <a:p>
                      <a:pPr algn="ctr"/>
                      <a:r>
                        <a:rPr lang="en-US" altLang="zh-TW" sz="1600" dirty="0"/>
                        <a:t>56</a:t>
                      </a:r>
                    </a:p>
                    <a:p>
                      <a:pPr algn="ctr"/>
                      <a:r>
                        <a:rPr lang="en-US" altLang="zh-TW" sz="1600" dirty="0"/>
                        <a:t>65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638698">
                <a:tc>
                  <a:txBody>
                    <a:bodyPr/>
                    <a:lstStyle/>
                    <a:p>
                      <a:pPr algn="ctr"/>
                      <a:r>
                        <a:rPr lang="en-US" altLang="zh-TW" sz="1600" dirty="0"/>
                        <a:t>10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47</a:t>
                      </a:r>
                    </a:p>
                    <a:p>
                      <a:pPr algn="ctr"/>
                      <a:r>
                        <a:rPr lang="en-US" altLang="zh-TW" sz="1600" dirty="0"/>
                        <a:t>68+11</a:t>
                      </a:r>
                    </a:p>
                    <a:p>
                      <a:pPr algn="ctr"/>
                      <a:r>
                        <a:rPr lang="en-US" altLang="zh-TW" sz="1600" dirty="0"/>
                        <a:t>76+13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21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68</a:t>
                      </a:r>
                    </a:p>
                    <a:p>
                      <a:pPr algn="ctr"/>
                      <a:r>
                        <a:rPr lang="en-US" altLang="zh-TW" sz="1600" dirty="0"/>
                        <a:t>100</a:t>
                      </a:r>
                    </a:p>
                    <a:p>
                      <a:pPr algn="ctr"/>
                      <a:r>
                        <a:rPr lang="en-US" altLang="zh-TW" sz="1600" dirty="0">
                          <a:solidFill>
                            <a:schemeClr val="accent1"/>
                          </a:solidFill>
                        </a:rPr>
                        <a:t>110</a:t>
                      </a:r>
                      <a:endParaRPr lang="zh-TW" altLang="en-US" sz="16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47+17</a:t>
                      </a:r>
                    </a:p>
                    <a:p>
                      <a:pPr algn="ctr"/>
                      <a:r>
                        <a:rPr lang="en-US" altLang="zh-TW" sz="1600" dirty="0"/>
                        <a:t>68+11</a:t>
                      </a:r>
                    </a:p>
                    <a:p>
                      <a:pPr algn="ctr"/>
                      <a:r>
                        <a:rPr lang="en-US" altLang="zh-TW" sz="1600" dirty="0"/>
                        <a:t>76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71</a:t>
                      </a:r>
                    </a:p>
                    <a:p>
                      <a:pPr algn="ctr"/>
                      <a:r>
                        <a:rPr lang="en-US" altLang="zh-TW" sz="1600" dirty="0">
                          <a:solidFill>
                            <a:srgbClr val="FF0000"/>
                          </a:solidFill>
                        </a:rPr>
                        <a:t>86</a:t>
                      </a:r>
                    </a:p>
                    <a:p>
                      <a:pPr algn="ctr"/>
                      <a:r>
                        <a:rPr lang="en-US" altLang="zh-TW" sz="1600" dirty="0"/>
                        <a:t>83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47+17</a:t>
                      </a:r>
                    </a:p>
                    <a:p>
                      <a:pPr algn="ctr"/>
                      <a:r>
                        <a:rPr lang="en-US" altLang="zh-TW" sz="1600" dirty="0"/>
                        <a:t>68</a:t>
                      </a:r>
                    </a:p>
                    <a:p>
                      <a:pPr algn="ctr"/>
                      <a:r>
                        <a:rPr lang="en-US" altLang="zh-TW" sz="1600" dirty="0"/>
                        <a:t>76+13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80</a:t>
                      </a:r>
                    </a:p>
                    <a:p>
                      <a:pPr algn="ctr"/>
                      <a:r>
                        <a:rPr lang="en-US" altLang="zh-TW" sz="1600" dirty="0"/>
                        <a:t>84</a:t>
                      </a:r>
                    </a:p>
                    <a:p>
                      <a:pPr algn="ctr"/>
                      <a:r>
                        <a:rPr lang="en-US" altLang="zh-TW" sz="1600" dirty="0">
                          <a:solidFill>
                            <a:schemeClr val="accent1"/>
                          </a:solidFill>
                        </a:rPr>
                        <a:t>95</a:t>
                      </a:r>
                      <a:endParaRPr lang="zh-TW" altLang="en-US" sz="16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圖片 4" descr="一張含有 文字, 裝置, 收據 的圖片&#10;&#10;自動產生的描述">
            <a:extLst>
              <a:ext uri="{FF2B5EF4-FFF2-40B4-BE49-F238E27FC236}">
                <a16:creationId xmlns:a16="http://schemas.microsoft.com/office/drawing/2014/main" id="{91D3BD90-789F-4BEF-B906-96BBB01AE1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9322" y="3481816"/>
            <a:ext cx="3057952" cy="3515216"/>
          </a:xfrm>
          <a:prstGeom prst="rect">
            <a:avLst/>
          </a:prstGeom>
        </p:spPr>
      </p:pic>
      <p:pic>
        <p:nvPicPr>
          <p:cNvPr id="6" name="內容版面配置區 4">
            <a:extLst>
              <a:ext uri="{FF2B5EF4-FFF2-40B4-BE49-F238E27FC236}">
                <a16:creationId xmlns:a16="http://schemas.microsoft.com/office/drawing/2014/main" id="{3A7F1301-DCF0-4F95-B80E-0E1E55F747B2}"/>
              </a:ext>
            </a:extLst>
          </p:cNvPr>
          <p:cNvPicPr>
            <a:picLocks noChangeAspect="1"/>
          </p:cNvPicPr>
          <p:nvPr/>
        </p:nvPicPr>
        <p:blipFill rotWithShape="1">
          <a:blip r:embed="rId3">
            <a:extLst>
              <a:ext uri="{28A0092B-C50C-407E-A947-70E740481C1C}">
                <a14:useLocalDpi xmlns:a14="http://schemas.microsoft.com/office/drawing/2010/main" val="0"/>
              </a:ext>
            </a:extLst>
          </a:blip>
          <a:srcRect l="11069" r="8671" b="773"/>
          <a:stretch/>
        </p:blipFill>
        <p:spPr>
          <a:xfrm>
            <a:off x="8489811" y="81964"/>
            <a:ext cx="3654767" cy="4000500"/>
          </a:xfrm>
          <a:prstGeom prst="rect">
            <a:avLst/>
          </a:prstGeom>
        </p:spPr>
      </p:pic>
    </p:spTree>
    <p:extLst>
      <p:ext uri="{BB962C8B-B14F-4D97-AF65-F5344CB8AC3E}">
        <p14:creationId xmlns:p14="http://schemas.microsoft.com/office/powerpoint/2010/main" val="1157249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6124A6-8754-46D3-9A42-93DC8F90E7C4}"/>
              </a:ext>
            </a:extLst>
          </p:cNvPr>
          <p:cNvSpPr>
            <a:spLocks noGrp="1"/>
          </p:cNvSpPr>
          <p:nvPr>
            <p:ph type="title"/>
          </p:nvPr>
        </p:nvSpPr>
        <p:spPr/>
        <p:txBody>
          <a:bodyPr/>
          <a:lstStyle/>
          <a:p>
            <a:r>
              <a:rPr lang="en-US" altLang="zh-TW" dirty="0"/>
              <a:t>Modify HEFT</a:t>
            </a:r>
            <a:endParaRPr lang="zh-TW" altLang="en-US" dirty="0"/>
          </a:p>
        </p:txBody>
      </p:sp>
      <p:sp>
        <p:nvSpPr>
          <p:cNvPr id="3" name="內容版面配置區 2">
            <a:extLst>
              <a:ext uri="{FF2B5EF4-FFF2-40B4-BE49-F238E27FC236}">
                <a16:creationId xmlns:a16="http://schemas.microsoft.com/office/drawing/2014/main" id="{AAB0AF2B-B6EF-4768-8DD8-3B87B9F7B4D0}"/>
              </a:ext>
            </a:extLst>
          </p:cNvPr>
          <p:cNvSpPr>
            <a:spLocks noGrp="1"/>
          </p:cNvSpPr>
          <p:nvPr>
            <p:ph idx="1"/>
          </p:nvPr>
        </p:nvSpPr>
        <p:spPr/>
        <p:txBody>
          <a:bodyPr/>
          <a:lstStyle/>
          <a:p>
            <a:endParaRPr lang="zh-TW" altLang="en-US" dirty="0"/>
          </a:p>
        </p:txBody>
      </p:sp>
      <p:pic>
        <p:nvPicPr>
          <p:cNvPr id="5" name="圖片 4">
            <a:extLst>
              <a:ext uri="{FF2B5EF4-FFF2-40B4-BE49-F238E27FC236}">
                <a16:creationId xmlns:a16="http://schemas.microsoft.com/office/drawing/2014/main" id="{A20DDDF8-0C50-4F89-A9BF-F3ACA7ED3FE3}"/>
              </a:ext>
            </a:extLst>
          </p:cNvPr>
          <p:cNvPicPr>
            <a:picLocks noChangeAspect="1"/>
          </p:cNvPicPr>
          <p:nvPr/>
        </p:nvPicPr>
        <p:blipFill>
          <a:blip r:embed="rId2"/>
          <a:stretch>
            <a:fillRect/>
          </a:stretch>
        </p:blipFill>
        <p:spPr>
          <a:xfrm>
            <a:off x="-48226" y="2563119"/>
            <a:ext cx="10677525" cy="4657725"/>
          </a:xfrm>
          <a:prstGeom prst="rect">
            <a:avLst/>
          </a:prstGeom>
        </p:spPr>
      </p:pic>
      <p:pic>
        <p:nvPicPr>
          <p:cNvPr id="6" name="內容版面配置區 4">
            <a:extLst>
              <a:ext uri="{FF2B5EF4-FFF2-40B4-BE49-F238E27FC236}">
                <a16:creationId xmlns:a16="http://schemas.microsoft.com/office/drawing/2014/main" id="{67255134-C6AC-49E0-9CAC-C43FE85DA84E}"/>
              </a:ext>
            </a:extLst>
          </p:cNvPr>
          <p:cNvPicPr>
            <a:picLocks noChangeAspect="1"/>
          </p:cNvPicPr>
          <p:nvPr/>
        </p:nvPicPr>
        <p:blipFill rotWithShape="1">
          <a:blip r:embed="rId3">
            <a:extLst>
              <a:ext uri="{28A0092B-C50C-407E-A947-70E740481C1C}">
                <a14:useLocalDpi xmlns:a14="http://schemas.microsoft.com/office/drawing/2010/main" val="0"/>
              </a:ext>
            </a:extLst>
          </a:blip>
          <a:srcRect l="11069" r="8671" b="773"/>
          <a:stretch/>
        </p:blipFill>
        <p:spPr>
          <a:xfrm>
            <a:off x="9233941" y="-137947"/>
            <a:ext cx="2790716" cy="3054712"/>
          </a:xfrm>
          <a:prstGeom prst="rect">
            <a:avLst/>
          </a:prstGeom>
        </p:spPr>
      </p:pic>
      <p:sp>
        <p:nvSpPr>
          <p:cNvPr id="4" name="矩形 3">
            <a:extLst>
              <a:ext uri="{FF2B5EF4-FFF2-40B4-BE49-F238E27FC236}">
                <a16:creationId xmlns:a16="http://schemas.microsoft.com/office/drawing/2014/main" id="{D928438A-EC25-44B3-8ECF-326275605C85}"/>
              </a:ext>
            </a:extLst>
          </p:cNvPr>
          <p:cNvSpPr/>
          <p:nvPr/>
        </p:nvSpPr>
        <p:spPr>
          <a:xfrm>
            <a:off x="6096001" y="4160018"/>
            <a:ext cx="4364334" cy="386845"/>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6595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6" name="表格 6">
                <a:extLst>
                  <a:ext uri="{FF2B5EF4-FFF2-40B4-BE49-F238E27FC236}">
                    <a16:creationId xmlns:a16="http://schemas.microsoft.com/office/drawing/2014/main" id="{345D5798-A2FA-4B74-80D0-0035B63201A8}"/>
                  </a:ext>
                </a:extLst>
              </p:cNvPr>
              <p:cNvGraphicFramePr>
                <a:graphicFrameLocks noGrp="1"/>
              </p:cNvGraphicFramePr>
              <p:nvPr>
                <p:ph idx="1"/>
                <p:extLst>
                  <p:ext uri="{D42A27DB-BD31-4B8C-83A1-F6EECF244321}">
                    <p14:modId xmlns:p14="http://schemas.microsoft.com/office/powerpoint/2010/main" val="1310860400"/>
                  </p:ext>
                </p:extLst>
              </p:nvPr>
            </p:nvGraphicFramePr>
            <p:xfrm>
              <a:off x="377205" y="536471"/>
              <a:ext cx="8152197" cy="5234746"/>
            </p:xfrm>
            <a:graphic>
              <a:graphicData uri="http://schemas.openxmlformats.org/drawingml/2006/table">
                <a:tbl>
                  <a:tblPr firstRow="1" bandRow="1">
                    <a:tableStyleId>{5C22544A-7EE6-4342-B048-85BDC9FD1C3A}</a:tableStyleId>
                  </a:tblPr>
                  <a:tblGrid>
                    <a:gridCol w="1405083">
                      <a:extLst>
                        <a:ext uri="{9D8B030D-6E8A-4147-A177-3AD203B41FA5}">
                          <a16:colId xmlns:a16="http://schemas.microsoft.com/office/drawing/2014/main" val="2781298394"/>
                        </a:ext>
                      </a:extLst>
                    </a:gridCol>
                    <a:gridCol w="1405083">
                      <a:extLst>
                        <a:ext uri="{9D8B030D-6E8A-4147-A177-3AD203B41FA5}">
                          <a16:colId xmlns:a16="http://schemas.microsoft.com/office/drawing/2014/main" val="3361310555"/>
                        </a:ext>
                      </a:extLst>
                    </a:gridCol>
                    <a:gridCol w="1405083">
                      <a:extLst>
                        <a:ext uri="{9D8B030D-6E8A-4147-A177-3AD203B41FA5}">
                          <a16:colId xmlns:a16="http://schemas.microsoft.com/office/drawing/2014/main" val="2872042074"/>
                        </a:ext>
                      </a:extLst>
                    </a:gridCol>
                    <a:gridCol w="2416250">
                      <a:extLst>
                        <a:ext uri="{9D8B030D-6E8A-4147-A177-3AD203B41FA5}">
                          <a16:colId xmlns:a16="http://schemas.microsoft.com/office/drawing/2014/main" val="1733289383"/>
                        </a:ext>
                      </a:extLst>
                    </a:gridCol>
                    <a:gridCol w="1520698">
                      <a:extLst>
                        <a:ext uri="{9D8B030D-6E8A-4147-A177-3AD203B41FA5}">
                          <a16:colId xmlns:a16="http://schemas.microsoft.com/office/drawing/2014/main" val="1695491983"/>
                        </a:ext>
                      </a:extLst>
                    </a:gridCol>
                  </a:tblGrid>
                  <a:tr h="475886">
                    <a:tc>
                      <a:txBody>
                        <a:bodyPr/>
                        <a:lstStyle/>
                        <a:p>
                          <a:pPr algn="ct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zh-TW" altLang="en-US" sz="1600" b="0" i="1" smtClean="0">
                                        <a:solidFill>
                                          <a:schemeClr val="tx1"/>
                                        </a:solidFill>
                                        <a:latin typeface="Cambria Math" panose="02040503050406030204" pitchFamily="18" charset="0"/>
                                      </a:rPr>
                                    </m:ctrlPr>
                                  </m:accPr>
                                  <m:e>
                                    <m:r>
                                      <a:rPr lang="en-US" altLang="zh-TW" sz="1600" b="0" i="1" smtClean="0">
                                        <a:solidFill>
                                          <a:schemeClr val="tx1"/>
                                        </a:solidFill>
                                        <a:latin typeface="Cambria Math" panose="02040503050406030204" pitchFamily="18" charset="0"/>
                                      </a:rPr>
                                      <m:t>𝑃</m:t>
                                    </m:r>
                                  </m:e>
                                </m:acc>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Max{ }</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communication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order</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5823908"/>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79.9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104.9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1558604"/>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76.8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8953783"/>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14.3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42.6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79.9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9485969"/>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12.6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79.8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593618"/>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11.6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68.8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909172"/>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12.6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35.6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63.2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0667481"/>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42.6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2741677"/>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8</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35.6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422491"/>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9</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738335"/>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14.6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1840814"/>
                      </a:ext>
                    </a:extLst>
                  </a:tr>
                </a:tbl>
              </a:graphicData>
            </a:graphic>
          </p:graphicFrame>
        </mc:Choice>
        <mc:Fallback xmlns="">
          <p:graphicFrame>
            <p:nvGraphicFramePr>
              <p:cNvPr id="6" name="表格 6">
                <a:extLst>
                  <a:ext uri="{FF2B5EF4-FFF2-40B4-BE49-F238E27FC236}">
                    <a16:creationId xmlns:a16="http://schemas.microsoft.com/office/drawing/2014/main" id="{345D5798-A2FA-4B74-80D0-0035B63201A8}"/>
                  </a:ext>
                </a:extLst>
              </p:cNvPr>
              <p:cNvGraphicFramePr>
                <a:graphicFrameLocks noGrp="1"/>
              </p:cNvGraphicFramePr>
              <p:nvPr>
                <p:ph idx="1"/>
                <p:extLst>
                  <p:ext uri="{D42A27DB-BD31-4B8C-83A1-F6EECF244321}">
                    <p14:modId xmlns:p14="http://schemas.microsoft.com/office/powerpoint/2010/main" val="1310860400"/>
                  </p:ext>
                </p:extLst>
              </p:nvPr>
            </p:nvGraphicFramePr>
            <p:xfrm>
              <a:off x="377205" y="536471"/>
              <a:ext cx="8152197" cy="5234746"/>
            </p:xfrm>
            <a:graphic>
              <a:graphicData uri="http://schemas.openxmlformats.org/drawingml/2006/table">
                <a:tbl>
                  <a:tblPr firstRow="1" bandRow="1">
                    <a:tableStyleId>{5C22544A-7EE6-4342-B048-85BDC9FD1C3A}</a:tableStyleId>
                  </a:tblPr>
                  <a:tblGrid>
                    <a:gridCol w="1405083">
                      <a:extLst>
                        <a:ext uri="{9D8B030D-6E8A-4147-A177-3AD203B41FA5}">
                          <a16:colId xmlns:a16="http://schemas.microsoft.com/office/drawing/2014/main" val="2781298394"/>
                        </a:ext>
                      </a:extLst>
                    </a:gridCol>
                    <a:gridCol w="1405083">
                      <a:extLst>
                        <a:ext uri="{9D8B030D-6E8A-4147-A177-3AD203B41FA5}">
                          <a16:colId xmlns:a16="http://schemas.microsoft.com/office/drawing/2014/main" val="3361310555"/>
                        </a:ext>
                      </a:extLst>
                    </a:gridCol>
                    <a:gridCol w="1405083">
                      <a:extLst>
                        <a:ext uri="{9D8B030D-6E8A-4147-A177-3AD203B41FA5}">
                          <a16:colId xmlns:a16="http://schemas.microsoft.com/office/drawing/2014/main" val="2872042074"/>
                        </a:ext>
                      </a:extLst>
                    </a:gridCol>
                    <a:gridCol w="2416250">
                      <a:extLst>
                        <a:ext uri="{9D8B030D-6E8A-4147-A177-3AD203B41FA5}">
                          <a16:colId xmlns:a16="http://schemas.microsoft.com/office/drawing/2014/main" val="1733289383"/>
                        </a:ext>
                      </a:extLst>
                    </a:gridCol>
                    <a:gridCol w="1520698">
                      <a:extLst>
                        <a:ext uri="{9D8B030D-6E8A-4147-A177-3AD203B41FA5}">
                          <a16:colId xmlns:a16="http://schemas.microsoft.com/office/drawing/2014/main" val="1695491983"/>
                        </a:ext>
                      </a:extLst>
                    </a:gridCol>
                  </a:tblGrid>
                  <a:tr h="475886">
                    <a:tc>
                      <a:txBody>
                        <a:bodyPr/>
                        <a:lstStyle/>
                        <a:p>
                          <a:pPr algn="ct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433" t="-6410" r="-380519" b="-1003846"/>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Max{ }</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communication</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order</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5823908"/>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79.9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104.9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1558604"/>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76.8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8953783"/>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14.3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42.6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79.9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9485969"/>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12.6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79.8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593618"/>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11.6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68.8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909172"/>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12.6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35.6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63.2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0667481"/>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42.6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2741677"/>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8</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35.6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422491"/>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9</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738335"/>
                      </a:ext>
                    </a:extLst>
                  </a:tr>
                  <a:tr h="475886">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14.6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1840814"/>
                      </a:ext>
                    </a:extLst>
                  </a:tr>
                </a:tbl>
              </a:graphicData>
            </a:graphic>
          </p:graphicFrame>
        </mc:Fallback>
      </mc:AlternateContent>
      <p:pic>
        <p:nvPicPr>
          <p:cNvPr id="9" name="內容版面配置區 4">
            <a:extLst>
              <a:ext uri="{FF2B5EF4-FFF2-40B4-BE49-F238E27FC236}">
                <a16:creationId xmlns:a16="http://schemas.microsoft.com/office/drawing/2014/main" id="{FDA32884-1DC9-4B71-A66F-FAEA558F6A79}"/>
              </a:ext>
            </a:extLst>
          </p:cNvPr>
          <p:cNvPicPr>
            <a:picLocks noChangeAspect="1"/>
          </p:cNvPicPr>
          <p:nvPr/>
        </p:nvPicPr>
        <p:blipFill rotWithShape="1">
          <a:blip r:embed="rId3">
            <a:extLst>
              <a:ext uri="{28A0092B-C50C-407E-A947-70E740481C1C}">
                <a14:useLocalDpi xmlns:a14="http://schemas.microsoft.com/office/drawing/2010/main" val="0"/>
              </a:ext>
            </a:extLst>
          </a:blip>
          <a:srcRect l="11069" r="8671" b="773"/>
          <a:stretch/>
        </p:blipFill>
        <p:spPr>
          <a:xfrm>
            <a:off x="9233941" y="0"/>
            <a:ext cx="2790716" cy="3054712"/>
          </a:xfrm>
          <a:prstGeom prst="rect">
            <a:avLst/>
          </a:prstGeom>
        </p:spPr>
      </p:pic>
      <p:pic>
        <p:nvPicPr>
          <p:cNvPr id="10" name="圖片 9" descr="一張含有 文字, 裝置, 收據 的圖片&#10;&#10;自動產生的描述">
            <a:extLst>
              <a:ext uri="{FF2B5EF4-FFF2-40B4-BE49-F238E27FC236}">
                <a16:creationId xmlns:a16="http://schemas.microsoft.com/office/drawing/2014/main" id="{7608B9D6-2607-4816-A6EA-C51FC56CDC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00323" y="3153844"/>
            <a:ext cx="3057952" cy="3515216"/>
          </a:xfrm>
          <a:prstGeom prst="rect">
            <a:avLst/>
          </a:prstGeom>
        </p:spPr>
      </p:pic>
    </p:spTree>
    <p:extLst>
      <p:ext uri="{BB962C8B-B14F-4D97-AF65-F5344CB8AC3E}">
        <p14:creationId xmlns:p14="http://schemas.microsoft.com/office/powerpoint/2010/main" val="58871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EBF4B8-E528-4568-B9EA-36E4CEE0A50C}"/>
              </a:ext>
            </a:extLst>
          </p:cNvPr>
          <p:cNvSpPr>
            <a:spLocks noGrp="1"/>
          </p:cNvSpPr>
          <p:nvPr>
            <p:ph type="title"/>
          </p:nvPr>
        </p:nvSpPr>
        <p:spPr/>
        <p:txBody>
          <a:bodyPr/>
          <a:lstStyle/>
          <a:p>
            <a:endParaRPr lang="zh-TW" altLang="en-US"/>
          </a:p>
        </p:txBody>
      </p:sp>
      <p:graphicFrame>
        <p:nvGraphicFramePr>
          <p:cNvPr id="6" name="表格 6">
            <a:extLst>
              <a:ext uri="{FF2B5EF4-FFF2-40B4-BE49-F238E27FC236}">
                <a16:creationId xmlns:a16="http://schemas.microsoft.com/office/drawing/2014/main" id="{AE0D940B-6F61-4D6E-90F0-A9744C7AF8A1}"/>
              </a:ext>
            </a:extLst>
          </p:cNvPr>
          <p:cNvGraphicFramePr>
            <a:graphicFrameLocks noGrp="1"/>
          </p:cNvGraphicFramePr>
          <p:nvPr>
            <p:ph idx="1"/>
            <p:extLst>
              <p:ext uri="{D42A27DB-BD31-4B8C-83A1-F6EECF244321}">
                <p14:modId xmlns:p14="http://schemas.microsoft.com/office/powerpoint/2010/main" val="991738105"/>
              </p:ext>
            </p:extLst>
          </p:nvPr>
        </p:nvGraphicFramePr>
        <p:xfrm>
          <a:off x="838200" y="1690688"/>
          <a:ext cx="7170016" cy="4471150"/>
        </p:xfrm>
        <a:graphic>
          <a:graphicData uri="http://schemas.openxmlformats.org/drawingml/2006/table">
            <a:tbl>
              <a:tblPr firstRow="1" bandRow="1">
                <a:tableStyleId>{5C22544A-7EE6-4342-B048-85BDC9FD1C3A}</a:tableStyleId>
              </a:tblPr>
              <a:tblGrid>
                <a:gridCol w="1024288">
                  <a:extLst>
                    <a:ext uri="{9D8B030D-6E8A-4147-A177-3AD203B41FA5}">
                      <a16:colId xmlns:a16="http://schemas.microsoft.com/office/drawing/2014/main" val="3433356302"/>
                    </a:ext>
                  </a:extLst>
                </a:gridCol>
                <a:gridCol w="1024288">
                  <a:extLst>
                    <a:ext uri="{9D8B030D-6E8A-4147-A177-3AD203B41FA5}">
                      <a16:colId xmlns:a16="http://schemas.microsoft.com/office/drawing/2014/main" val="1887977104"/>
                    </a:ext>
                  </a:extLst>
                </a:gridCol>
                <a:gridCol w="1024288">
                  <a:extLst>
                    <a:ext uri="{9D8B030D-6E8A-4147-A177-3AD203B41FA5}">
                      <a16:colId xmlns:a16="http://schemas.microsoft.com/office/drawing/2014/main" val="2307156669"/>
                    </a:ext>
                  </a:extLst>
                </a:gridCol>
                <a:gridCol w="1024288">
                  <a:extLst>
                    <a:ext uri="{9D8B030D-6E8A-4147-A177-3AD203B41FA5}">
                      <a16:colId xmlns:a16="http://schemas.microsoft.com/office/drawing/2014/main" val="4134461592"/>
                    </a:ext>
                  </a:extLst>
                </a:gridCol>
                <a:gridCol w="1024288">
                  <a:extLst>
                    <a:ext uri="{9D8B030D-6E8A-4147-A177-3AD203B41FA5}">
                      <a16:colId xmlns:a16="http://schemas.microsoft.com/office/drawing/2014/main" val="3236790687"/>
                    </a:ext>
                  </a:extLst>
                </a:gridCol>
                <a:gridCol w="1024288">
                  <a:extLst>
                    <a:ext uri="{9D8B030D-6E8A-4147-A177-3AD203B41FA5}">
                      <a16:colId xmlns:a16="http://schemas.microsoft.com/office/drawing/2014/main" val="2960979163"/>
                    </a:ext>
                  </a:extLst>
                </a:gridCol>
                <a:gridCol w="1024288">
                  <a:extLst>
                    <a:ext uri="{9D8B030D-6E8A-4147-A177-3AD203B41FA5}">
                      <a16:colId xmlns:a16="http://schemas.microsoft.com/office/drawing/2014/main" val="1110972763"/>
                    </a:ext>
                  </a:extLst>
                </a:gridCol>
              </a:tblGrid>
              <a:tr h="383107">
                <a:tc>
                  <a:txBody>
                    <a:bodyPr/>
                    <a:lstStyle/>
                    <a:p>
                      <a:pPr algn="ctr"/>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altLang="zh-TW" b="0" dirty="0">
                          <a:solidFill>
                            <a:schemeClr val="tx1"/>
                          </a:solidFill>
                        </a:rPr>
                        <a:t>P1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altLang="zh-TW" b="0" dirty="0">
                          <a:solidFill>
                            <a:schemeClr val="tx1"/>
                          </a:solidFill>
                        </a:rPr>
                        <a:t>P2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2827913"/>
                  </a:ext>
                </a:extLst>
              </a:tr>
              <a:tr h="383107">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8902465"/>
                  </a:ext>
                </a:extLst>
              </a:tr>
              <a:tr h="383107">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9+12(T1)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32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2199985"/>
                  </a:ext>
                </a:extLst>
              </a:tr>
              <a:tr h="383107">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9+9(T1)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0843581"/>
                  </a:ext>
                </a:extLst>
              </a:tr>
              <a:tr h="383107">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32(T2)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26964"/>
                  </a:ext>
                </a:extLst>
              </a:tr>
              <a:tr h="383107">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9(T1)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2453560"/>
                  </a:ext>
                </a:extLst>
              </a:tr>
              <a:tr h="383107">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19(T1)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28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692545"/>
                  </a:ext>
                </a:extLst>
              </a:tr>
              <a:tr h="383107">
                <a:tc>
                  <a:txBody>
                    <a:bodyPr/>
                    <a:lstStyle/>
                    <a:p>
                      <a:pPr algn="ctr"/>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45+16(T2)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73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2796534"/>
                  </a:ext>
                </a:extLst>
              </a:tr>
              <a:tr h="383107">
                <a:tc>
                  <a:txBody>
                    <a:bodyPr/>
                    <a:lstStyle/>
                    <a:p>
                      <a:pPr algn="ctr"/>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45(T2)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52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8262506"/>
                  </a:ext>
                </a:extLst>
              </a:tr>
              <a:tr h="383107">
                <a:tc>
                  <a:txBody>
                    <a:bodyPr/>
                    <a:lstStyle/>
                    <a:p>
                      <a:pPr algn="ctr"/>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52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58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079065"/>
                  </a:ext>
                </a:extLst>
              </a:tr>
              <a:tr h="383107">
                <a:tc>
                  <a:txBody>
                    <a:bodyPr/>
                    <a:lstStyle/>
                    <a:p>
                      <a:pPr algn="ctr"/>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73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80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916308"/>
                  </a:ext>
                </a:extLst>
              </a:tr>
            </a:tbl>
          </a:graphicData>
        </a:graphic>
      </p:graphicFrame>
      <p:pic>
        <p:nvPicPr>
          <p:cNvPr id="4" name="內容版面配置區 4">
            <a:extLst>
              <a:ext uri="{FF2B5EF4-FFF2-40B4-BE49-F238E27FC236}">
                <a16:creationId xmlns:a16="http://schemas.microsoft.com/office/drawing/2014/main" id="{317748B0-A7D6-4D93-BBC5-1C13AF929542}"/>
              </a:ext>
            </a:extLst>
          </p:cNvPr>
          <p:cNvPicPr>
            <a:picLocks noChangeAspect="1"/>
          </p:cNvPicPr>
          <p:nvPr/>
        </p:nvPicPr>
        <p:blipFill rotWithShape="1">
          <a:blip r:embed="rId2">
            <a:extLst>
              <a:ext uri="{28A0092B-C50C-407E-A947-70E740481C1C}">
                <a14:useLocalDpi xmlns:a14="http://schemas.microsoft.com/office/drawing/2010/main" val="0"/>
              </a:ext>
            </a:extLst>
          </a:blip>
          <a:srcRect l="11069" r="8671" b="773"/>
          <a:stretch/>
        </p:blipFill>
        <p:spPr>
          <a:xfrm>
            <a:off x="9233941" y="0"/>
            <a:ext cx="2790716" cy="3054712"/>
          </a:xfrm>
          <a:prstGeom prst="rect">
            <a:avLst/>
          </a:prstGeom>
        </p:spPr>
      </p:pic>
      <p:pic>
        <p:nvPicPr>
          <p:cNvPr id="5" name="圖片 4" descr="一張含有 文字, 裝置, 收據 的圖片&#10;&#10;自動產生的描述">
            <a:extLst>
              <a:ext uri="{FF2B5EF4-FFF2-40B4-BE49-F238E27FC236}">
                <a16:creationId xmlns:a16="http://schemas.microsoft.com/office/drawing/2014/main" id="{6EE82CBE-ED89-4BED-82B6-D3F98FB70E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6705" y="3054712"/>
            <a:ext cx="3057952" cy="3515216"/>
          </a:xfrm>
          <a:prstGeom prst="rect">
            <a:avLst/>
          </a:prstGeom>
        </p:spPr>
      </p:pic>
    </p:spTree>
    <p:extLst>
      <p:ext uri="{BB962C8B-B14F-4D97-AF65-F5344CB8AC3E}">
        <p14:creationId xmlns:p14="http://schemas.microsoft.com/office/powerpoint/2010/main" val="952835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D4713F9C-0919-495B-9E3A-837A126F4A09}"/>
              </a:ext>
            </a:extLst>
          </p:cNvPr>
          <p:cNvPicPr>
            <a:picLocks noChangeAspect="1"/>
          </p:cNvPicPr>
          <p:nvPr/>
        </p:nvPicPr>
        <p:blipFill>
          <a:blip r:embed="rId2"/>
          <a:stretch>
            <a:fillRect/>
          </a:stretch>
        </p:blipFill>
        <p:spPr>
          <a:xfrm>
            <a:off x="7429749" y="3867702"/>
            <a:ext cx="3315064" cy="2990298"/>
          </a:xfrm>
          <a:prstGeom prst="rect">
            <a:avLst/>
          </a:prstGeom>
        </p:spPr>
      </p:pic>
      <p:graphicFrame>
        <p:nvGraphicFramePr>
          <p:cNvPr id="4" name="表格 6">
            <a:extLst>
              <a:ext uri="{FF2B5EF4-FFF2-40B4-BE49-F238E27FC236}">
                <a16:creationId xmlns:a16="http://schemas.microsoft.com/office/drawing/2014/main" id="{47F05723-7A0B-4190-8A3B-F2CE8D212676}"/>
              </a:ext>
            </a:extLst>
          </p:cNvPr>
          <p:cNvGraphicFramePr>
            <a:graphicFrameLocks/>
          </p:cNvGraphicFramePr>
          <p:nvPr>
            <p:extLst>
              <p:ext uri="{D42A27DB-BD31-4B8C-83A1-F6EECF244321}">
                <p14:modId xmlns:p14="http://schemas.microsoft.com/office/powerpoint/2010/main" val="2019669990"/>
              </p:ext>
            </p:extLst>
          </p:nvPr>
        </p:nvGraphicFramePr>
        <p:xfrm>
          <a:off x="178254" y="2858008"/>
          <a:ext cx="4652575" cy="3999992"/>
        </p:xfrm>
        <a:graphic>
          <a:graphicData uri="http://schemas.openxmlformats.org/drawingml/2006/table">
            <a:tbl>
              <a:tblPr firstRow="1" bandRow="1">
                <a:tableStyleId>{5C22544A-7EE6-4342-B048-85BDC9FD1C3A}</a:tableStyleId>
              </a:tblPr>
              <a:tblGrid>
                <a:gridCol w="523337">
                  <a:extLst>
                    <a:ext uri="{9D8B030D-6E8A-4147-A177-3AD203B41FA5}">
                      <a16:colId xmlns:a16="http://schemas.microsoft.com/office/drawing/2014/main" val="3433356302"/>
                    </a:ext>
                  </a:extLst>
                </a:gridCol>
                <a:gridCol w="885524">
                  <a:extLst>
                    <a:ext uri="{9D8B030D-6E8A-4147-A177-3AD203B41FA5}">
                      <a16:colId xmlns:a16="http://schemas.microsoft.com/office/drawing/2014/main" val="1887977104"/>
                    </a:ext>
                  </a:extLst>
                </a:gridCol>
                <a:gridCol w="510139">
                  <a:extLst>
                    <a:ext uri="{9D8B030D-6E8A-4147-A177-3AD203B41FA5}">
                      <a16:colId xmlns:a16="http://schemas.microsoft.com/office/drawing/2014/main" val="2307156669"/>
                    </a:ext>
                  </a:extLst>
                </a:gridCol>
                <a:gridCol w="904775">
                  <a:extLst>
                    <a:ext uri="{9D8B030D-6E8A-4147-A177-3AD203B41FA5}">
                      <a16:colId xmlns:a16="http://schemas.microsoft.com/office/drawing/2014/main" val="4134461592"/>
                    </a:ext>
                  </a:extLst>
                </a:gridCol>
                <a:gridCol w="398896">
                  <a:extLst>
                    <a:ext uri="{9D8B030D-6E8A-4147-A177-3AD203B41FA5}">
                      <a16:colId xmlns:a16="http://schemas.microsoft.com/office/drawing/2014/main" val="3236790687"/>
                    </a:ext>
                  </a:extLst>
                </a:gridCol>
                <a:gridCol w="937112">
                  <a:extLst>
                    <a:ext uri="{9D8B030D-6E8A-4147-A177-3AD203B41FA5}">
                      <a16:colId xmlns:a16="http://schemas.microsoft.com/office/drawing/2014/main" val="2960979163"/>
                    </a:ext>
                  </a:extLst>
                </a:gridCol>
                <a:gridCol w="492792">
                  <a:extLst>
                    <a:ext uri="{9D8B030D-6E8A-4147-A177-3AD203B41FA5}">
                      <a16:colId xmlns:a16="http://schemas.microsoft.com/office/drawing/2014/main" val="1110972763"/>
                    </a:ext>
                  </a:extLst>
                </a:gridCol>
              </a:tblGrid>
              <a:tr h="277299">
                <a:tc>
                  <a:txBody>
                    <a:bodyPr/>
                    <a:lstStyle/>
                    <a:p>
                      <a:pPr algn="ctr"/>
                      <a:r>
                        <a:rPr lang="en-US" altLang="zh-TW" sz="1400" b="0" dirty="0">
                          <a:solidFill>
                            <a:schemeClr val="tx1"/>
                          </a:solidFill>
                        </a:rPr>
                        <a:t>Task</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altLang="zh-TW" sz="1400" b="0" dirty="0">
                          <a:solidFill>
                            <a:schemeClr val="tx1"/>
                          </a:solidFill>
                        </a:rPr>
                        <a:t>P1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altLang="zh-TW" sz="1400" b="0" dirty="0">
                          <a:solidFill>
                            <a:schemeClr val="tx1"/>
                          </a:solidFill>
                        </a:rPr>
                        <a:t>P2</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altLang="zh-TW" sz="1400" b="0" dirty="0">
                          <a:solidFill>
                            <a:schemeClr val="tx1"/>
                          </a:solidFill>
                        </a:rPr>
                        <a:t>P3</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2827913"/>
                  </a:ext>
                </a:extLst>
              </a:tr>
              <a:tr h="277299">
                <a:tc>
                  <a:txBody>
                    <a:bodyPr/>
                    <a:lstStyle/>
                    <a:p>
                      <a:pPr algn="ctr"/>
                      <a:r>
                        <a:rPr lang="en-US" altLang="zh-TW" sz="1400" b="0" dirty="0">
                          <a:solidFill>
                            <a:schemeClr val="tx1"/>
                          </a:solidFill>
                        </a:rPr>
                        <a:t>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16</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8902465"/>
                  </a:ext>
                </a:extLst>
              </a:tr>
              <a:tr h="277299">
                <a:tc>
                  <a:txBody>
                    <a:bodyPr/>
                    <a:lstStyle/>
                    <a:p>
                      <a:pPr algn="ctr"/>
                      <a:r>
                        <a:rPr lang="en-US" altLang="zh-TW" sz="1400" b="0" dirty="0">
                          <a:solidFill>
                            <a:schemeClr val="tx1"/>
                          </a:solidFill>
                        </a:rPr>
                        <a:t>2</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16+17</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46</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2199985"/>
                  </a:ext>
                </a:extLst>
              </a:tr>
              <a:tr h="277299">
                <a:tc>
                  <a:txBody>
                    <a:bodyPr/>
                    <a:lstStyle/>
                    <a:p>
                      <a:pPr algn="ctr"/>
                      <a:r>
                        <a:rPr lang="en-US" altLang="zh-TW" sz="1400" b="0" dirty="0">
                          <a:solidFill>
                            <a:schemeClr val="tx1"/>
                          </a:solidFill>
                        </a:rPr>
                        <a:t>5</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16+22</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57</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0843581"/>
                  </a:ext>
                </a:extLst>
              </a:tr>
              <a:tr h="277299">
                <a:tc>
                  <a:txBody>
                    <a:bodyPr/>
                    <a:lstStyle/>
                    <a:p>
                      <a:pPr algn="ctr"/>
                      <a:r>
                        <a:rPr lang="en-US" altLang="zh-TW" sz="1400" b="0" dirty="0">
                          <a:solidFill>
                            <a:schemeClr val="tx1"/>
                          </a:solidFill>
                        </a:rPr>
                        <a:t>3</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57</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69</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26964"/>
                  </a:ext>
                </a:extLst>
              </a:tr>
              <a:tr h="277299">
                <a:tc>
                  <a:txBody>
                    <a:bodyPr/>
                    <a:lstStyle/>
                    <a:p>
                      <a:pPr algn="ctr"/>
                      <a:r>
                        <a:rPr lang="en-US" altLang="zh-TW" sz="1400" b="0" dirty="0">
                          <a:solidFill>
                            <a:schemeClr val="tx1"/>
                          </a:solidFill>
                        </a:rPr>
                        <a:t>4</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46</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57</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2453560"/>
                  </a:ext>
                </a:extLst>
              </a:tr>
              <a:tr h="475996">
                <a:tc>
                  <a:txBody>
                    <a:bodyPr/>
                    <a:lstStyle/>
                    <a:p>
                      <a:pPr algn="ctr"/>
                      <a:r>
                        <a:rPr lang="en-US" altLang="zh-TW" sz="1400" b="0" dirty="0">
                          <a:solidFill>
                            <a:schemeClr val="tx1"/>
                          </a:solidFill>
                        </a:rPr>
                        <a:t>6</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42+26(T2)</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692545"/>
                  </a:ext>
                </a:extLst>
              </a:tr>
              <a:tr h="475996">
                <a:tc>
                  <a:txBody>
                    <a:bodyPr/>
                    <a:lstStyle/>
                    <a:p>
                      <a:pPr algn="ctr"/>
                      <a:r>
                        <a:rPr lang="en-US" altLang="zh-TW" sz="1400" b="0" dirty="0">
                          <a:solidFill>
                            <a:schemeClr val="tx1"/>
                          </a:solidFill>
                        </a:rPr>
                        <a:t>7</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57+19(T5)</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84</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2796534"/>
                  </a:ext>
                </a:extLst>
              </a:tr>
              <a:tr h="277299">
                <a:tc>
                  <a:txBody>
                    <a:bodyPr/>
                    <a:lstStyle/>
                    <a:p>
                      <a:pPr algn="ctr"/>
                      <a:r>
                        <a:rPr lang="en-US" altLang="zh-TW" sz="1400" b="0" dirty="0">
                          <a:solidFill>
                            <a:schemeClr val="tx1"/>
                          </a:solidFill>
                        </a:rPr>
                        <a:t>8</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69+18(T3)</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97</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8262506"/>
                  </a:ext>
                </a:extLst>
              </a:tr>
              <a:tr h="277299">
                <a:tc>
                  <a:txBody>
                    <a:bodyPr/>
                    <a:lstStyle/>
                    <a:p>
                      <a:pPr algn="ctr"/>
                      <a:r>
                        <a:rPr lang="en-US" altLang="zh-TW" sz="1400" b="0" dirty="0">
                          <a:solidFill>
                            <a:schemeClr val="tx1"/>
                          </a:solidFill>
                        </a:rPr>
                        <a:t>10</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81+25(T6)</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118</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079065"/>
                  </a:ext>
                </a:extLst>
              </a:tr>
              <a:tr h="277299">
                <a:tc>
                  <a:txBody>
                    <a:bodyPr/>
                    <a:lstStyle/>
                    <a:p>
                      <a:pPr algn="ctr"/>
                      <a:r>
                        <a:rPr lang="en-US" altLang="zh-TW" sz="1400" b="0" dirty="0">
                          <a:solidFill>
                            <a:schemeClr val="tx1"/>
                          </a:solidFill>
                        </a:rPr>
                        <a:t>9</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118</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127</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916308"/>
                  </a:ext>
                </a:extLst>
              </a:tr>
              <a:tr h="277299">
                <a:tc>
                  <a:txBody>
                    <a:bodyPr/>
                    <a:lstStyle/>
                    <a:p>
                      <a:pPr algn="ctr"/>
                      <a:r>
                        <a:rPr lang="en-US" altLang="zh-TW" sz="1400" b="0" dirty="0">
                          <a:solidFill>
                            <a:schemeClr val="tx1"/>
                          </a:solidFill>
                        </a:rPr>
                        <a:t>11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127+11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152</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3516709"/>
                  </a:ext>
                </a:extLst>
              </a:tr>
            </a:tbl>
          </a:graphicData>
        </a:graphic>
      </p:graphicFrame>
      <p:pic>
        <p:nvPicPr>
          <p:cNvPr id="6" name="圖片 5">
            <a:extLst>
              <a:ext uri="{FF2B5EF4-FFF2-40B4-BE49-F238E27FC236}">
                <a16:creationId xmlns:a16="http://schemas.microsoft.com/office/drawing/2014/main" id="{F43FC5B4-3BE6-4E0F-AA95-48EA3EDAEE5A}"/>
              </a:ext>
            </a:extLst>
          </p:cNvPr>
          <p:cNvPicPr>
            <a:picLocks noChangeAspect="1"/>
          </p:cNvPicPr>
          <p:nvPr/>
        </p:nvPicPr>
        <p:blipFill>
          <a:blip r:embed="rId3"/>
          <a:stretch>
            <a:fillRect/>
          </a:stretch>
        </p:blipFill>
        <p:spPr>
          <a:xfrm>
            <a:off x="8266980" y="0"/>
            <a:ext cx="3465194" cy="3242509"/>
          </a:xfrm>
          <a:prstGeom prst="rect">
            <a:avLst/>
          </a:prstGeom>
        </p:spPr>
      </p:pic>
      <p:graphicFrame>
        <p:nvGraphicFramePr>
          <p:cNvPr id="10" name="表格 11">
            <a:extLst>
              <a:ext uri="{FF2B5EF4-FFF2-40B4-BE49-F238E27FC236}">
                <a16:creationId xmlns:a16="http://schemas.microsoft.com/office/drawing/2014/main" id="{CE7D9B51-A19D-4153-8DDD-38B35BD44155}"/>
              </a:ext>
            </a:extLst>
          </p:cNvPr>
          <p:cNvGraphicFramePr>
            <a:graphicFrameLocks noGrp="1"/>
          </p:cNvGraphicFramePr>
          <p:nvPr>
            <p:extLst>
              <p:ext uri="{D42A27DB-BD31-4B8C-83A1-F6EECF244321}">
                <p14:modId xmlns:p14="http://schemas.microsoft.com/office/powerpoint/2010/main" val="3760060282"/>
              </p:ext>
            </p:extLst>
          </p:nvPr>
        </p:nvGraphicFramePr>
        <p:xfrm>
          <a:off x="10676236" y="3368236"/>
          <a:ext cx="1515764" cy="3291840"/>
        </p:xfrm>
        <a:graphic>
          <a:graphicData uri="http://schemas.openxmlformats.org/drawingml/2006/table">
            <a:tbl>
              <a:tblPr firstRow="1" bandRow="1">
                <a:tableStyleId>{5C22544A-7EE6-4342-B048-85BDC9FD1C3A}</a:tableStyleId>
              </a:tblPr>
              <a:tblGrid>
                <a:gridCol w="378941">
                  <a:extLst>
                    <a:ext uri="{9D8B030D-6E8A-4147-A177-3AD203B41FA5}">
                      <a16:colId xmlns:a16="http://schemas.microsoft.com/office/drawing/2014/main" val="403432103"/>
                    </a:ext>
                  </a:extLst>
                </a:gridCol>
                <a:gridCol w="378941">
                  <a:extLst>
                    <a:ext uri="{9D8B030D-6E8A-4147-A177-3AD203B41FA5}">
                      <a16:colId xmlns:a16="http://schemas.microsoft.com/office/drawing/2014/main" val="477198606"/>
                    </a:ext>
                  </a:extLst>
                </a:gridCol>
                <a:gridCol w="378941">
                  <a:extLst>
                    <a:ext uri="{9D8B030D-6E8A-4147-A177-3AD203B41FA5}">
                      <a16:colId xmlns:a16="http://schemas.microsoft.com/office/drawing/2014/main" val="2683036011"/>
                    </a:ext>
                  </a:extLst>
                </a:gridCol>
                <a:gridCol w="378941">
                  <a:extLst>
                    <a:ext uri="{9D8B030D-6E8A-4147-A177-3AD203B41FA5}">
                      <a16:colId xmlns:a16="http://schemas.microsoft.com/office/drawing/2014/main" val="1123160166"/>
                    </a:ext>
                  </a:extLst>
                </a:gridCol>
              </a:tblGrid>
              <a:tr h="270005">
                <a:tc>
                  <a:txBody>
                    <a:bodyPr/>
                    <a:lstStyle/>
                    <a:p>
                      <a:r>
                        <a:rPr lang="en-US" altLang="zh-TW" sz="1200" b="0" dirty="0">
                          <a:solidFill>
                            <a:schemeClr val="tx1"/>
                          </a:solidFill>
                        </a:rPr>
                        <a:t>T</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P1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P2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P2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5850621"/>
                  </a:ext>
                </a:extLst>
              </a:tr>
              <a:tr h="270005">
                <a:tc>
                  <a:txBody>
                    <a:bodyPr/>
                    <a:lstStyle/>
                    <a:p>
                      <a:r>
                        <a:rPr lang="en-US" altLang="zh-TW" sz="1200" b="0" dirty="0">
                          <a:solidFill>
                            <a:schemeClr val="tx1"/>
                          </a:solidFill>
                        </a:rPr>
                        <a:t>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16</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19</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27</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9015604"/>
                  </a:ext>
                </a:extLst>
              </a:tr>
              <a:tr h="270005">
                <a:tc>
                  <a:txBody>
                    <a:bodyPr/>
                    <a:lstStyle/>
                    <a:p>
                      <a:r>
                        <a:rPr lang="en-US" altLang="zh-TW" sz="1200" b="0" dirty="0">
                          <a:solidFill>
                            <a:schemeClr val="tx1"/>
                          </a:solidFill>
                        </a:rPr>
                        <a:t>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18</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15</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13</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0719334"/>
                  </a:ext>
                </a:extLst>
              </a:tr>
              <a:tr h="270005">
                <a:tc>
                  <a:txBody>
                    <a:bodyPr/>
                    <a:lstStyle/>
                    <a:p>
                      <a:r>
                        <a:rPr lang="en-US" altLang="zh-TW" sz="1200" b="0" dirty="0">
                          <a:solidFill>
                            <a:schemeClr val="tx1"/>
                          </a:solidFill>
                        </a:rPr>
                        <a:t>3</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7075176"/>
                  </a:ext>
                </a:extLst>
              </a:tr>
              <a:tr h="270005">
                <a:tc>
                  <a:txBody>
                    <a:bodyPr/>
                    <a:lstStyle/>
                    <a:p>
                      <a:r>
                        <a:rPr lang="en-US" altLang="zh-TW" sz="1200" b="0" dirty="0">
                          <a:solidFill>
                            <a:schemeClr val="tx1"/>
                          </a:solidFill>
                        </a:rPr>
                        <a:t>4</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15</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13</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8005212"/>
                  </a:ext>
                </a:extLst>
              </a:tr>
              <a:tr h="270005">
                <a:tc>
                  <a:txBody>
                    <a:bodyPr/>
                    <a:lstStyle/>
                    <a:p>
                      <a:r>
                        <a:rPr lang="en-US" altLang="zh-TW" sz="1200" b="0" dirty="0">
                          <a:solidFill>
                            <a:schemeClr val="tx1"/>
                          </a:solidFill>
                        </a:rPr>
                        <a:t>5</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19</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20</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04954"/>
                  </a:ext>
                </a:extLst>
              </a:tr>
              <a:tr h="270005">
                <a:tc>
                  <a:txBody>
                    <a:bodyPr/>
                    <a:lstStyle/>
                    <a:p>
                      <a:r>
                        <a:rPr lang="en-US" altLang="zh-TW" sz="1200" b="0" dirty="0">
                          <a:solidFill>
                            <a:schemeClr val="tx1"/>
                          </a:solidFill>
                        </a:rPr>
                        <a:t>6</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13</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9</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6677788"/>
                  </a:ext>
                </a:extLst>
              </a:tr>
              <a:tr h="270005">
                <a:tc>
                  <a:txBody>
                    <a:bodyPr/>
                    <a:lstStyle/>
                    <a:p>
                      <a:r>
                        <a:rPr lang="en-US" altLang="zh-TW" sz="1200" b="0" dirty="0">
                          <a:solidFill>
                            <a:schemeClr val="tx1"/>
                          </a:solidFill>
                        </a:rPr>
                        <a:t>7</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8</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16</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173698"/>
                  </a:ext>
                </a:extLst>
              </a:tr>
              <a:tr h="270005">
                <a:tc>
                  <a:txBody>
                    <a:bodyPr/>
                    <a:lstStyle/>
                    <a:p>
                      <a:r>
                        <a:rPr lang="en-US" altLang="zh-TW" sz="1200" b="0" dirty="0">
                          <a:solidFill>
                            <a:schemeClr val="tx1"/>
                          </a:solidFill>
                        </a:rPr>
                        <a:t>8</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14</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23</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10</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469357"/>
                  </a:ext>
                </a:extLst>
              </a:tr>
              <a:tr h="270005">
                <a:tc>
                  <a:txBody>
                    <a:bodyPr/>
                    <a:lstStyle/>
                    <a:p>
                      <a:r>
                        <a:rPr lang="en-US" altLang="zh-TW" sz="1200" b="0" dirty="0">
                          <a:solidFill>
                            <a:schemeClr val="tx1"/>
                          </a:solidFill>
                        </a:rPr>
                        <a:t>9</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15</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13</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09</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4995181"/>
                  </a:ext>
                </a:extLst>
              </a:tr>
              <a:tr h="270005">
                <a:tc>
                  <a:txBody>
                    <a:bodyPr/>
                    <a:lstStyle/>
                    <a:p>
                      <a:r>
                        <a:rPr lang="en-US" altLang="zh-TW" sz="1200" b="0" dirty="0">
                          <a:solidFill>
                            <a:schemeClr val="tx1"/>
                          </a:solidFill>
                        </a:rPr>
                        <a:t>10</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28</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32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4346982"/>
                  </a:ext>
                </a:extLst>
              </a:tr>
              <a:tr h="270005">
                <a:tc>
                  <a:txBody>
                    <a:bodyPr/>
                    <a:lstStyle/>
                    <a:p>
                      <a:r>
                        <a:rPr lang="en-US" altLang="zh-TW" sz="1200" b="0" dirty="0">
                          <a:solidFill>
                            <a:schemeClr val="tx1"/>
                          </a:solidFill>
                        </a:rPr>
                        <a:t>11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14</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16</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6046716"/>
                  </a:ext>
                </a:extLst>
              </a:tr>
            </a:tbl>
          </a:graphicData>
        </a:graphic>
      </p:graphicFrame>
      <p:pic>
        <p:nvPicPr>
          <p:cNvPr id="11" name="圖片 10">
            <a:extLst>
              <a:ext uri="{FF2B5EF4-FFF2-40B4-BE49-F238E27FC236}">
                <a16:creationId xmlns:a16="http://schemas.microsoft.com/office/drawing/2014/main" id="{AEDF9F70-F3A5-4394-ACA4-7C144CB0867D}"/>
              </a:ext>
            </a:extLst>
          </p:cNvPr>
          <p:cNvPicPr>
            <a:picLocks noChangeAspect="1"/>
          </p:cNvPicPr>
          <p:nvPr/>
        </p:nvPicPr>
        <p:blipFill>
          <a:blip r:embed="rId4"/>
          <a:stretch>
            <a:fillRect/>
          </a:stretch>
        </p:blipFill>
        <p:spPr>
          <a:xfrm>
            <a:off x="221381" y="96253"/>
            <a:ext cx="7064943" cy="2567315"/>
          </a:xfrm>
          <a:prstGeom prst="rect">
            <a:avLst/>
          </a:prstGeom>
        </p:spPr>
      </p:pic>
    </p:spTree>
    <p:extLst>
      <p:ext uri="{BB962C8B-B14F-4D97-AF65-F5344CB8AC3E}">
        <p14:creationId xmlns:p14="http://schemas.microsoft.com/office/powerpoint/2010/main" val="2832073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BB98C1B7-8E93-4713-BCBA-A963070240E6}"/>
              </a:ext>
            </a:extLst>
          </p:cNvPr>
          <p:cNvSpPr>
            <a:spLocks noGrp="1"/>
          </p:cNvSpPr>
          <p:nvPr>
            <p:ph idx="1"/>
          </p:nvPr>
        </p:nvSpPr>
        <p:spPr/>
        <p:txBody>
          <a:bodyPr/>
          <a:lstStyle/>
          <a:p>
            <a:endParaRPr lang="zh-TW" altLang="en-US"/>
          </a:p>
        </p:txBody>
      </p:sp>
      <p:pic>
        <p:nvPicPr>
          <p:cNvPr id="7" name="圖片 6">
            <a:extLst>
              <a:ext uri="{FF2B5EF4-FFF2-40B4-BE49-F238E27FC236}">
                <a16:creationId xmlns:a16="http://schemas.microsoft.com/office/drawing/2014/main" id="{15A3DEC2-4CB7-4636-8252-92315DE4B74B}"/>
              </a:ext>
            </a:extLst>
          </p:cNvPr>
          <p:cNvPicPr>
            <a:picLocks noChangeAspect="1"/>
          </p:cNvPicPr>
          <p:nvPr/>
        </p:nvPicPr>
        <p:blipFill>
          <a:blip r:embed="rId2"/>
          <a:stretch>
            <a:fillRect/>
          </a:stretch>
        </p:blipFill>
        <p:spPr>
          <a:xfrm>
            <a:off x="8560480" y="-29804"/>
            <a:ext cx="3333752" cy="3119514"/>
          </a:xfrm>
          <a:prstGeom prst="rect">
            <a:avLst/>
          </a:prstGeom>
        </p:spPr>
      </p:pic>
      <p:pic>
        <p:nvPicPr>
          <p:cNvPr id="11" name="圖片 10">
            <a:extLst>
              <a:ext uri="{FF2B5EF4-FFF2-40B4-BE49-F238E27FC236}">
                <a16:creationId xmlns:a16="http://schemas.microsoft.com/office/drawing/2014/main" id="{AEDBD9D0-DC3D-41A2-8558-D55954FC72DB}"/>
              </a:ext>
            </a:extLst>
          </p:cNvPr>
          <p:cNvPicPr>
            <a:picLocks noChangeAspect="1"/>
          </p:cNvPicPr>
          <p:nvPr/>
        </p:nvPicPr>
        <p:blipFill>
          <a:blip r:embed="rId3"/>
          <a:stretch>
            <a:fillRect/>
          </a:stretch>
        </p:blipFill>
        <p:spPr>
          <a:xfrm>
            <a:off x="3511195" y="227997"/>
            <a:ext cx="4411729" cy="3979526"/>
          </a:xfrm>
          <a:prstGeom prst="rect">
            <a:avLst/>
          </a:prstGeom>
        </p:spPr>
      </p:pic>
      <p:pic>
        <p:nvPicPr>
          <p:cNvPr id="13" name="圖片 12">
            <a:extLst>
              <a:ext uri="{FF2B5EF4-FFF2-40B4-BE49-F238E27FC236}">
                <a16:creationId xmlns:a16="http://schemas.microsoft.com/office/drawing/2014/main" id="{6B4EC4ED-2F56-4276-A58A-2DCB9D9BFB7C}"/>
              </a:ext>
            </a:extLst>
          </p:cNvPr>
          <p:cNvPicPr>
            <a:picLocks noChangeAspect="1"/>
          </p:cNvPicPr>
          <p:nvPr/>
        </p:nvPicPr>
        <p:blipFill>
          <a:blip r:embed="rId4"/>
          <a:stretch>
            <a:fillRect/>
          </a:stretch>
        </p:blipFill>
        <p:spPr>
          <a:xfrm>
            <a:off x="6754599" y="4945139"/>
            <a:ext cx="3841319" cy="1905885"/>
          </a:xfrm>
          <a:prstGeom prst="rect">
            <a:avLst/>
          </a:prstGeom>
        </p:spPr>
      </p:pic>
      <p:graphicFrame>
        <p:nvGraphicFramePr>
          <p:cNvPr id="14" name="表格 11">
            <a:extLst>
              <a:ext uri="{FF2B5EF4-FFF2-40B4-BE49-F238E27FC236}">
                <a16:creationId xmlns:a16="http://schemas.microsoft.com/office/drawing/2014/main" id="{D11F808B-BBF6-4B4C-BF75-F179C506E0A1}"/>
              </a:ext>
            </a:extLst>
          </p:cNvPr>
          <p:cNvGraphicFramePr>
            <a:graphicFrameLocks noGrp="1"/>
          </p:cNvGraphicFramePr>
          <p:nvPr>
            <p:extLst>
              <p:ext uri="{D42A27DB-BD31-4B8C-83A1-F6EECF244321}">
                <p14:modId xmlns:p14="http://schemas.microsoft.com/office/powerpoint/2010/main" val="1325162009"/>
              </p:ext>
            </p:extLst>
          </p:nvPr>
        </p:nvGraphicFramePr>
        <p:xfrm>
          <a:off x="10595918" y="3469907"/>
          <a:ext cx="1515764" cy="3291840"/>
        </p:xfrm>
        <a:graphic>
          <a:graphicData uri="http://schemas.openxmlformats.org/drawingml/2006/table">
            <a:tbl>
              <a:tblPr firstRow="1" bandRow="1">
                <a:tableStyleId>{5C22544A-7EE6-4342-B048-85BDC9FD1C3A}</a:tableStyleId>
              </a:tblPr>
              <a:tblGrid>
                <a:gridCol w="378941">
                  <a:extLst>
                    <a:ext uri="{9D8B030D-6E8A-4147-A177-3AD203B41FA5}">
                      <a16:colId xmlns:a16="http://schemas.microsoft.com/office/drawing/2014/main" val="403432103"/>
                    </a:ext>
                  </a:extLst>
                </a:gridCol>
                <a:gridCol w="378941">
                  <a:extLst>
                    <a:ext uri="{9D8B030D-6E8A-4147-A177-3AD203B41FA5}">
                      <a16:colId xmlns:a16="http://schemas.microsoft.com/office/drawing/2014/main" val="477198606"/>
                    </a:ext>
                  </a:extLst>
                </a:gridCol>
                <a:gridCol w="378941">
                  <a:extLst>
                    <a:ext uri="{9D8B030D-6E8A-4147-A177-3AD203B41FA5}">
                      <a16:colId xmlns:a16="http://schemas.microsoft.com/office/drawing/2014/main" val="2683036011"/>
                    </a:ext>
                  </a:extLst>
                </a:gridCol>
                <a:gridCol w="378941">
                  <a:extLst>
                    <a:ext uri="{9D8B030D-6E8A-4147-A177-3AD203B41FA5}">
                      <a16:colId xmlns:a16="http://schemas.microsoft.com/office/drawing/2014/main" val="1123160166"/>
                    </a:ext>
                  </a:extLst>
                </a:gridCol>
              </a:tblGrid>
              <a:tr h="270005">
                <a:tc>
                  <a:txBody>
                    <a:bodyPr/>
                    <a:lstStyle/>
                    <a:p>
                      <a:r>
                        <a:rPr lang="en-US" altLang="zh-TW" sz="1200" b="0" dirty="0">
                          <a:solidFill>
                            <a:schemeClr val="tx1"/>
                          </a:solidFill>
                        </a:rPr>
                        <a:t>T</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P1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P2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P2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5850621"/>
                  </a:ext>
                </a:extLst>
              </a:tr>
              <a:tr h="270005">
                <a:tc>
                  <a:txBody>
                    <a:bodyPr/>
                    <a:lstStyle/>
                    <a:p>
                      <a:r>
                        <a:rPr lang="en-US" altLang="zh-TW" sz="1200" b="0" dirty="0">
                          <a:solidFill>
                            <a:schemeClr val="tx1"/>
                          </a:solidFill>
                        </a:rPr>
                        <a:t>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16</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19</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27</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9015604"/>
                  </a:ext>
                </a:extLst>
              </a:tr>
              <a:tr h="270005">
                <a:tc>
                  <a:txBody>
                    <a:bodyPr/>
                    <a:lstStyle/>
                    <a:p>
                      <a:r>
                        <a:rPr lang="en-US" altLang="zh-TW" sz="1200" b="0" dirty="0">
                          <a:solidFill>
                            <a:schemeClr val="tx1"/>
                          </a:solidFill>
                        </a:rPr>
                        <a:t>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18</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15</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13</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0719334"/>
                  </a:ext>
                </a:extLst>
              </a:tr>
              <a:tr h="270005">
                <a:tc>
                  <a:txBody>
                    <a:bodyPr/>
                    <a:lstStyle/>
                    <a:p>
                      <a:r>
                        <a:rPr lang="en-US" altLang="zh-TW" sz="1200" b="0" dirty="0">
                          <a:solidFill>
                            <a:schemeClr val="tx1"/>
                          </a:solidFill>
                        </a:rPr>
                        <a:t>3</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7075176"/>
                  </a:ext>
                </a:extLst>
              </a:tr>
              <a:tr h="270005">
                <a:tc>
                  <a:txBody>
                    <a:bodyPr/>
                    <a:lstStyle/>
                    <a:p>
                      <a:r>
                        <a:rPr lang="en-US" altLang="zh-TW" sz="1200" b="0" dirty="0">
                          <a:solidFill>
                            <a:schemeClr val="tx1"/>
                          </a:solidFill>
                        </a:rPr>
                        <a:t>4</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15</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13</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8005212"/>
                  </a:ext>
                </a:extLst>
              </a:tr>
              <a:tr h="270005">
                <a:tc>
                  <a:txBody>
                    <a:bodyPr/>
                    <a:lstStyle/>
                    <a:p>
                      <a:r>
                        <a:rPr lang="en-US" altLang="zh-TW" sz="1200" b="0" dirty="0">
                          <a:solidFill>
                            <a:schemeClr val="tx1"/>
                          </a:solidFill>
                        </a:rPr>
                        <a:t>5</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19</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20</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04954"/>
                  </a:ext>
                </a:extLst>
              </a:tr>
              <a:tr h="270005">
                <a:tc>
                  <a:txBody>
                    <a:bodyPr/>
                    <a:lstStyle/>
                    <a:p>
                      <a:r>
                        <a:rPr lang="en-US" altLang="zh-TW" sz="1200" b="0" dirty="0">
                          <a:solidFill>
                            <a:schemeClr val="tx1"/>
                          </a:solidFill>
                        </a:rPr>
                        <a:t>6</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13</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9</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6677788"/>
                  </a:ext>
                </a:extLst>
              </a:tr>
              <a:tr h="270005">
                <a:tc>
                  <a:txBody>
                    <a:bodyPr/>
                    <a:lstStyle/>
                    <a:p>
                      <a:r>
                        <a:rPr lang="en-US" altLang="zh-TW" sz="1200" b="0" dirty="0">
                          <a:solidFill>
                            <a:schemeClr val="tx1"/>
                          </a:solidFill>
                        </a:rPr>
                        <a:t>7</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8</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16</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173698"/>
                  </a:ext>
                </a:extLst>
              </a:tr>
              <a:tr h="270005">
                <a:tc>
                  <a:txBody>
                    <a:bodyPr/>
                    <a:lstStyle/>
                    <a:p>
                      <a:r>
                        <a:rPr lang="en-US" altLang="zh-TW" sz="1200" b="0" dirty="0">
                          <a:solidFill>
                            <a:schemeClr val="tx1"/>
                          </a:solidFill>
                        </a:rPr>
                        <a:t>8</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14</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23</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10</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469357"/>
                  </a:ext>
                </a:extLst>
              </a:tr>
              <a:tr h="270005">
                <a:tc>
                  <a:txBody>
                    <a:bodyPr/>
                    <a:lstStyle/>
                    <a:p>
                      <a:r>
                        <a:rPr lang="en-US" altLang="zh-TW" sz="1200" b="0" dirty="0">
                          <a:solidFill>
                            <a:schemeClr val="tx1"/>
                          </a:solidFill>
                        </a:rPr>
                        <a:t>9</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15</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13</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09</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4995181"/>
                  </a:ext>
                </a:extLst>
              </a:tr>
              <a:tr h="270005">
                <a:tc>
                  <a:txBody>
                    <a:bodyPr/>
                    <a:lstStyle/>
                    <a:p>
                      <a:r>
                        <a:rPr lang="en-US" altLang="zh-TW" sz="1200" b="0" dirty="0">
                          <a:solidFill>
                            <a:schemeClr val="tx1"/>
                          </a:solidFill>
                        </a:rPr>
                        <a:t>10</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28</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32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4346982"/>
                  </a:ext>
                </a:extLst>
              </a:tr>
              <a:tr h="270005">
                <a:tc>
                  <a:txBody>
                    <a:bodyPr/>
                    <a:lstStyle/>
                    <a:p>
                      <a:r>
                        <a:rPr lang="en-US" altLang="zh-TW" sz="1200" b="0" dirty="0">
                          <a:solidFill>
                            <a:schemeClr val="tx1"/>
                          </a:solidFill>
                        </a:rPr>
                        <a:t>11</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14</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16</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200" b="0" dirty="0">
                          <a:solidFill>
                            <a:schemeClr val="tx1"/>
                          </a:solidFill>
                        </a:rPr>
                        <a:t>22</a:t>
                      </a:r>
                      <a:endParaRPr lang="zh-TW" alt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6046716"/>
                  </a:ext>
                </a:extLst>
              </a:tr>
            </a:tbl>
          </a:graphicData>
        </a:graphic>
      </p:graphicFrame>
      <p:pic>
        <p:nvPicPr>
          <p:cNvPr id="15" name="圖片 14">
            <a:extLst>
              <a:ext uri="{FF2B5EF4-FFF2-40B4-BE49-F238E27FC236}">
                <a16:creationId xmlns:a16="http://schemas.microsoft.com/office/drawing/2014/main" id="{CC7E9C7F-1A36-4E25-A72C-F063FF9694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028" y="0"/>
            <a:ext cx="3369579" cy="4494800"/>
          </a:xfrm>
          <a:prstGeom prst="rect">
            <a:avLst/>
          </a:prstGeom>
        </p:spPr>
      </p:pic>
    </p:spTree>
    <p:extLst>
      <p:ext uri="{BB962C8B-B14F-4D97-AF65-F5344CB8AC3E}">
        <p14:creationId xmlns:p14="http://schemas.microsoft.com/office/powerpoint/2010/main" val="1497712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CA5898-77CB-4A5D-9018-5A8EFD5B3B05}"/>
              </a:ext>
            </a:extLst>
          </p:cNvPr>
          <p:cNvSpPr>
            <a:spLocks noGrp="1"/>
          </p:cNvSpPr>
          <p:nvPr>
            <p:ph type="title"/>
          </p:nvPr>
        </p:nvSpPr>
        <p:spPr>
          <a:xfrm>
            <a:off x="395438" y="221382"/>
            <a:ext cx="8546432" cy="1093921"/>
          </a:xfrm>
        </p:spPr>
        <p:txBody>
          <a:bodyPr/>
          <a:lstStyle/>
          <a:p>
            <a:r>
              <a:rPr lang="en-US" altLang="zh-TW" dirty="0"/>
              <a:t>HEFT</a:t>
            </a:r>
            <a:endParaRPr lang="zh-TW" altLang="en-US" dirty="0"/>
          </a:p>
        </p:txBody>
      </p:sp>
      <p:pic>
        <p:nvPicPr>
          <p:cNvPr id="5" name="內容版面配置區 4" descr="一張含有 文字 的圖片&#10;&#10;自動產生的描述">
            <a:extLst>
              <a:ext uri="{FF2B5EF4-FFF2-40B4-BE49-F238E27FC236}">
                <a16:creationId xmlns:a16="http://schemas.microsoft.com/office/drawing/2014/main" id="{337DC2A4-2648-4DC0-B158-5203EDCC4CF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498" r="6737"/>
          <a:stretch/>
        </p:blipFill>
        <p:spPr>
          <a:xfrm rot="5400000">
            <a:off x="3760168" y="-765108"/>
            <a:ext cx="6140920" cy="8739537"/>
          </a:xfrm>
        </p:spPr>
      </p:pic>
    </p:spTree>
    <p:extLst>
      <p:ext uri="{BB962C8B-B14F-4D97-AF65-F5344CB8AC3E}">
        <p14:creationId xmlns:p14="http://schemas.microsoft.com/office/powerpoint/2010/main" val="2412743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4D1828-76B0-47BC-8434-CD5E977358B9}"/>
              </a:ext>
            </a:extLst>
          </p:cNvPr>
          <p:cNvSpPr>
            <a:spLocks noGrp="1"/>
          </p:cNvSpPr>
          <p:nvPr>
            <p:ph type="title"/>
          </p:nvPr>
        </p:nvSpPr>
        <p:spPr>
          <a:xfrm>
            <a:off x="636070" y="485398"/>
            <a:ext cx="9162448" cy="391277"/>
          </a:xfrm>
        </p:spPr>
        <p:txBody>
          <a:bodyPr>
            <a:normAutofit fontScale="90000"/>
          </a:bodyPr>
          <a:lstStyle/>
          <a:p>
            <a:r>
              <a:rPr lang="en-US" altLang="zh-TW" dirty="0"/>
              <a:t>CPOP</a:t>
            </a:r>
            <a:endParaRPr lang="zh-TW" altLang="en-US" dirty="0"/>
          </a:p>
        </p:txBody>
      </p:sp>
      <p:sp>
        <p:nvSpPr>
          <p:cNvPr id="3" name="內容版面配置區 2">
            <a:extLst>
              <a:ext uri="{FF2B5EF4-FFF2-40B4-BE49-F238E27FC236}">
                <a16:creationId xmlns:a16="http://schemas.microsoft.com/office/drawing/2014/main" id="{4EB132B4-708E-48F3-AC63-567D51D8BAC7}"/>
              </a:ext>
            </a:extLst>
          </p:cNvPr>
          <p:cNvSpPr>
            <a:spLocks noGrp="1"/>
          </p:cNvSpPr>
          <p:nvPr>
            <p:ph idx="1"/>
          </p:nvPr>
        </p:nvSpPr>
        <p:spPr/>
        <p:txBody>
          <a:bodyPr/>
          <a:lstStyle/>
          <a:p>
            <a:endParaRPr lang="zh-TW" altLang="en-US" dirty="0"/>
          </a:p>
        </p:txBody>
      </p:sp>
      <p:pic>
        <p:nvPicPr>
          <p:cNvPr id="6" name="圖片 5" descr="一張含有 文字, 白板 的圖片&#10;&#10;自動產生的描述">
            <a:extLst>
              <a:ext uri="{FF2B5EF4-FFF2-40B4-BE49-F238E27FC236}">
                <a16:creationId xmlns:a16="http://schemas.microsoft.com/office/drawing/2014/main" id="{0E252DCC-D731-4BC6-8C81-45646BCA13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95905" y="572294"/>
            <a:ext cx="5141180" cy="6858000"/>
          </a:xfrm>
          <a:prstGeom prst="rect">
            <a:avLst/>
          </a:prstGeom>
        </p:spPr>
      </p:pic>
      <p:pic>
        <p:nvPicPr>
          <p:cNvPr id="7" name="圖片 6" descr="一張含有 文字, 白板 的圖片&#10;&#10;自動產生的描述">
            <a:extLst>
              <a:ext uri="{FF2B5EF4-FFF2-40B4-BE49-F238E27FC236}">
                <a16:creationId xmlns:a16="http://schemas.microsoft.com/office/drawing/2014/main" id="{3F767B4D-DA9E-4542-8060-B8CC1B5629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7047" y="1430704"/>
            <a:ext cx="3715200" cy="4955835"/>
          </a:xfrm>
          <a:prstGeom prst="rect">
            <a:avLst/>
          </a:prstGeom>
        </p:spPr>
      </p:pic>
    </p:spTree>
    <p:extLst>
      <p:ext uri="{BB962C8B-B14F-4D97-AF65-F5344CB8AC3E}">
        <p14:creationId xmlns:p14="http://schemas.microsoft.com/office/powerpoint/2010/main" val="1078093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7D0C3C-78B1-4E1C-B59B-CDCC5385FFB8}"/>
              </a:ext>
            </a:extLst>
          </p:cNvPr>
          <p:cNvSpPr>
            <a:spLocks noGrp="1"/>
          </p:cNvSpPr>
          <p:nvPr>
            <p:ph type="title"/>
          </p:nvPr>
        </p:nvSpPr>
        <p:spPr/>
        <p:txBody>
          <a:bodyPr/>
          <a:lstStyle/>
          <a:p>
            <a:r>
              <a:rPr lang="en-US" altLang="zh-TW" dirty="0"/>
              <a:t>Conclusion</a:t>
            </a:r>
            <a:endParaRPr lang="zh-TW" altLang="en-US" dirty="0"/>
          </a:p>
        </p:txBody>
      </p:sp>
      <p:sp>
        <p:nvSpPr>
          <p:cNvPr id="3" name="內容版面配置區 2">
            <a:extLst>
              <a:ext uri="{FF2B5EF4-FFF2-40B4-BE49-F238E27FC236}">
                <a16:creationId xmlns:a16="http://schemas.microsoft.com/office/drawing/2014/main" id="{D8F025B3-0542-4ECD-BCEC-ECCAFEEE8EAE}"/>
              </a:ext>
            </a:extLst>
          </p:cNvPr>
          <p:cNvSpPr>
            <a:spLocks noGrp="1"/>
          </p:cNvSpPr>
          <p:nvPr>
            <p:ph idx="1"/>
          </p:nvPr>
        </p:nvSpPr>
        <p:spPr/>
        <p:txBody>
          <a:bodyPr/>
          <a:lstStyle/>
          <a:p>
            <a:r>
              <a:rPr lang="en-US" altLang="zh-TW" dirty="0"/>
              <a:t>In HEFT and CPOP algorithm load is </a:t>
            </a:r>
            <a:r>
              <a:rPr lang="en-US" altLang="zh-TW" u="sng" dirty="0"/>
              <a:t>not uniformly distributed </a:t>
            </a:r>
            <a:r>
              <a:rPr lang="en-US" altLang="zh-TW" dirty="0"/>
              <a:t>some of its resources are overloaded while other in idle condition or have a very few load and this will increased the execution cost of task.</a:t>
            </a:r>
          </a:p>
          <a:p>
            <a:endParaRPr lang="en-US" altLang="zh-TW" dirty="0"/>
          </a:p>
          <a:p>
            <a:r>
              <a:rPr lang="en-US" altLang="zh-TW" dirty="0"/>
              <a:t>Proposed algorithm reduce the </a:t>
            </a:r>
            <a:r>
              <a:rPr lang="en-US" altLang="zh-TW" dirty="0" err="1"/>
              <a:t>makespan</a:t>
            </a:r>
            <a:r>
              <a:rPr lang="en-US" altLang="zh-TW" dirty="0"/>
              <a:t> time of tasks and load balancing issues.</a:t>
            </a:r>
          </a:p>
          <a:p>
            <a:endParaRPr lang="zh-TW" altLang="en-US" dirty="0"/>
          </a:p>
        </p:txBody>
      </p:sp>
    </p:spTree>
    <p:extLst>
      <p:ext uri="{BB962C8B-B14F-4D97-AF65-F5344CB8AC3E}">
        <p14:creationId xmlns:p14="http://schemas.microsoft.com/office/powerpoint/2010/main" val="2636632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51C14A-5902-43BA-AFE7-53C09A0CBFE4}"/>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C68B72E7-020B-41A8-BF8D-DEC16C805281}"/>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3F3311B1-CF09-45C2-A777-FDF1814F5876}"/>
              </a:ext>
            </a:extLst>
          </p:cNvPr>
          <p:cNvPicPr>
            <a:picLocks noChangeAspect="1"/>
          </p:cNvPicPr>
          <p:nvPr/>
        </p:nvPicPr>
        <p:blipFill>
          <a:blip r:embed="rId3"/>
          <a:stretch>
            <a:fillRect/>
          </a:stretch>
        </p:blipFill>
        <p:spPr>
          <a:xfrm>
            <a:off x="67377" y="950544"/>
            <a:ext cx="12192000" cy="5398265"/>
          </a:xfrm>
          <a:prstGeom prst="rect">
            <a:avLst/>
          </a:prstGeom>
        </p:spPr>
      </p:pic>
    </p:spTree>
    <p:extLst>
      <p:ext uri="{BB962C8B-B14F-4D97-AF65-F5344CB8AC3E}">
        <p14:creationId xmlns:p14="http://schemas.microsoft.com/office/powerpoint/2010/main" val="2425682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3D72D4-A3BC-49DA-B97B-D870EF3FD5A1}"/>
              </a:ext>
            </a:extLst>
          </p:cNvPr>
          <p:cNvSpPr>
            <a:spLocks noGrp="1"/>
          </p:cNvSpPr>
          <p:nvPr>
            <p:ph type="ctrTitle"/>
          </p:nvPr>
        </p:nvSpPr>
        <p:spPr/>
        <p:txBody>
          <a:bodyPr>
            <a:noAutofit/>
          </a:bodyPr>
          <a:lstStyle/>
          <a:p>
            <a:r>
              <a:rPr lang="en-US" altLang="zh-TW" sz="3600" dirty="0">
                <a:latin typeface="Times New Roman" panose="02020603050405020304" pitchFamily="18" charset="0"/>
                <a:cs typeface="Times New Roman" panose="02020603050405020304" pitchFamily="18" charset="0"/>
              </a:rPr>
              <a:t>GRP-HEFT: A Budget-Constrained Resource Provisioning Scheme for Workflow Scheduling in IaaS Clouds</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0637FEE1-9B20-4F26-8771-D791CD3182BB}"/>
              </a:ext>
            </a:extLst>
          </p:cNvPr>
          <p:cNvSpPr>
            <a:spLocks noGrp="1"/>
          </p:cNvSpPr>
          <p:nvPr>
            <p:ph type="subTitle" idx="1"/>
          </p:nvPr>
        </p:nvSpPr>
        <p:spPr/>
        <p:txBody>
          <a:bodyPr/>
          <a:lstStyle/>
          <a:p>
            <a:r>
              <a:rPr lang="en-US" altLang="zh-TW" dirty="0"/>
              <a:t>Hamid Reza </a:t>
            </a:r>
            <a:r>
              <a:rPr lang="en-US" altLang="zh-TW" dirty="0" err="1"/>
              <a:t>Faragardi</a:t>
            </a:r>
            <a:r>
              <a:rPr lang="en-US" altLang="zh-TW" dirty="0"/>
              <a:t> , Mohammad Reza Saleh </a:t>
            </a:r>
            <a:r>
              <a:rPr lang="en-US" altLang="zh-TW" dirty="0" err="1"/>
              <a:t>Sedghpour</a:t>
            </a:r>
            <a:r>
              <a:rPr lang="en-US" altLang="zh-TW" dirty="0"/>
              <a:t> , Saber </a:t>
            </a:r>
            <a:r>
              <a:rPr lang="en-US" altLang="zh-TW" dirty="0" err="1"/>
              <a:t>Fazliahmadi</a:t>
            </a:r>
            <a:r>
              <a:rPr lang="en-US" altLang="zh-TW" dirty="0"/>
              <a:t>, Thomas </a:t>
            </a:r>
            <a:r>
              <a:rPr lang="en-US" altLang="zh-TW" dirty="0" err="1"/>
              <a:t>Fahringer</a:t>
            </a:r>
            <a:r>
              <a:rPr lang="en-US" altLang="zh-TW" dirty="0"/>
              <a:t> , Member, IEEE, and </a:t>
            </a:r>
            <a:r>
              <a:rPr lang="en-US" altLang="zh-TW" dirty="0" err="1"/>
              <a:t>Nayereh</a:t>
            </a:r>
            <a:r>
              <a:rPr lang="en-US" altLang="zh-TW" dirty="0"/>
              <a:t> </a:t>
            </a:r>
            <a:r>
              <a:rPr lang="en-US" altLang="zh-TW" dirty="0" err="1"/>
              <a:t>Rasouli</a:t>
            </a:r>
            <a:endParaRPr lang="zh-TW" altLang="en-US" dirty="0"/>
          </a:p>
        </p:txBody>
      </p:sp>
      <p:sp>
        <p:nvSpPr>
          <p:cNvPr id="4" name="文字方塊 3">
            <a:extLst>
              <a:ext uri="{FF2B5EF4-FFF2-40B4-BE49-F238E27FC236}">
                <a16:creationId xmlns:a16="http://schemas.microsoft.com/office/drawing/2014/main" id="{F7556A3B-30DF-48E3-987E-9B4E81AA24E3}"/>
              </a:ext>
            </a:extLst>
          </p:cNvPr>
          <p:cNvSpPr txBox="1"/>
          <p:nvPr/>
        </p:nvSpPr>
        <p:spPr>
          <a:xfrm>
            <a:off x="1198485" y="4785064"/>
            <a:ext cx="10191565"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IEEE TRANSACTIONS ON PARALLEL AND DISTRIBUTED SYSTEMS, VOL. 31, NO. 6, JUNE 2020</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7294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35605A-E10B-448A-8630-65E491009FF8}"/>
              </a:ext>
            </a:extLst>
          </p:cNvPr>
          <p:cNvSpPr>
            <a:spLocks noGrp="1"/>
          </p:cNvSpPr>
          <p:nvPr>
            <p:ph type="title"/>
          </p:nvPr>
        </p:nvSpPr>
        <p:spPr>
          <a:xfrm>
            <a:off x="838200" y="14504"/>
            <a:ext cx="10515600" cy="1325563"/>
          </a:xfrm>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6FB17CF1-B653-4158-ABD2-773FD59A9031}"/>
              </a:ext>
            </a:extLst>
          </p:cNvPr>
          <p:cNvSpPr>
            <a:spLocks noGrp="1"/>
          </p:cNvSpPr>
          <p:nvPr>
            <p:ph idx="1"/>
          </p:nvPr>
        </p:nvSpPr>
        <p:spPr>
          <a:xfrm>
            <a:off x="149772" y="1104847"/>
            <a:ext cx="11892456" cy="5738649"/>
          </a:xfrm>
        </p:spPr>
        <p:txBody>
          <a:bodyPr>
            <a:normAutofit fontScale="85000" lnSpcReduction="10000"/>
          </a:bodyPr>
          <a:lstStyle/>
          <a:p>
            <a:pPr marL="0" indent="0">
              <a:buNone/>
            </a:pPr>
            <a:r>
              <a:rPr lang="en-US" altLang="zh-TW" dirty="0"/>
              <a:t>	In Infrastructure as a Service (IaaS) Clouds, users are charged to utilize cloud services according to a pay-per-use model. If users intend to run their workflow applications on cloud resources within a specific budget, they have to adjust their demands for cloud resources with respect to this budget. Although several scheduling approaches have introduced solutions to optimize the </a:t>
            </a:r>
            <a:r>
              <a:rPr lang="en-US" altLang="zh-TW" dirty="0" err="1"/>
              <a:t>makespan</a:t>
            </a:r>
            <a:r>
              <a:rPr lang="en-US" altLang="zh-TW" dirty="0"/>
              <a:t> of workflows on a set of heterogeneous IaaS cloud resources within a certain budget, the hourly-based cost model of some well-known cloud providers (e.g., Amazon EC2 Cloud) can easily lead to a higher </a:t>
            </a:r>
            <a:r>
              <a:rPr lang="en-US" altLang="zh-TW" dirty="0" err="1"/>
              <a:t>makespan</a:t>
            </a:r>
            <a:r>
              <a:rPr lang="en-US" altLang="zh-TW" dirty="0"/>
              <a:t> and some schedulers may not find any feasible solution. In this article, we propose a novel resource provisioning mechanism and a workflow scheduling algorithm, named Greedy Resource Provisioning and modified HEFT (GRP-HEFT), for minimizing the </a:t>
            </a:r>
            <a:r>
              <a:rPr lang="en-US" altLang="zh-TW" dirty="0" err="1"/>
              <a:t>makespan</a:t>
            </a:r>
            <a:r>
              <a:rPr lang="en-US" altLang="zh-TW" dirty="0"/>
              <a:t> of a given workflow subject to a budget constraint for the hourly-based cost model of modern IaaS clouds. As a resource provisioning mechanism, we propose a greedy algorithm which lists the instance types according to their efficiency rate. For our scheduler, we modified the HEFT algorithm to consider a budget limit. GRP-HEFT is compared against state-of-the-art workflow scheduling techniques, including MOACS (</a:t>
            </a:r>
            <a:r>
              <a:rPr lang="en-US" altLang="zh-TW" dirty="0" err="1"/>
              <a:t>MultiObjective</a:t>
            </a:r>
            <a:r>
              <a:rPr lang="en-US" altLang="zh-TW" dirty="0"/>
              <a:t> Ant Colony System), PSO (Particle Swarm Optimization), and GA (Genetic Algorithm). The experimental results demonstrate that GRP-HEFT outperforms GA, PSO, and MOACS for several well-known scientific workflow applications for different problem sizes on average by 13.64, 19.77, and 11.69 percent, respectively. Also in terms of time complexity, GRP-HEFT outperforms GA, PSO and MOACS.</a:t>
            </a:r>
            <a:endParaRPr lang="zh-TW" altLang="en-US" dirty="0"/>
          </a:p>
        </p:txBody>
      </p:sp>
    </p:spTree>
    <p:extLst>
      <p:ext uri="{BB962C8B-B14F-4D97-AF65-F5344CB8AC3E}">
        <p14:creationId xmlns:p14="http://schemas.microsoft.com/office/powerpoint/2010/main" val="3402354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ED747A-D09A-434B-A8C0-001B56A8D722}"/>
              </a:ext>
            </a:extLst>
          </p:cNvPr>
          <p:cNvSpPr>
            <a:spLocks noGrp="1"/>
          </p:cNvSpPr>
          <p:nvPr>
            <p:ph type="title"/>
          </p:nvPr>
        </p:nvSpPr>
        <p:spPr>
          <a:xfrm>
            <a:off x="838200" y="0"/>
            <a:ext cx="10515600" cy="1325563"/>
          </a:xfrm>
        </p:spPr>
        <p:txBody>
          <a:bodyPr>
            <a:normAutofit/>
          </a:bodyPr>
          <a:lstStyle/>
          <a:p>
            <a:r>
              <a:rPr lang="en-US" altLang="zh-TW" sz="3600" dirty="0"/>
              <a:t>https://aws.amazon.com/tw/ec2/instance-types/</a:t>
            </a:r>
            <a:br>
              <a:rPr lang="en-US" altLang="zh-TW" sz="3600" dirty="0"/>
            </a:br>
            <a:endParaRPr lang="zh-TW" altLang="en-US" sz="3600" dirty="0"/>
          </a:p>
        </p:txBody>
      </p:sp>
      <p:sp>
        <p:nvSpPr>
          <p:cNvPr id="3" name="內容版面配置區 2">
            <a:extLst>
              <a:ext uri="{FF2B5EF4-FFF2-40B4-BE49-F238E27FC236}">
                <a16:creationId xmlns:a16="http://schemas.microsoft.com/office/drawing/2014/main" id="{425EE3B3-FA19-4852-8D81-0DE065BCEE8A}"/>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B7C6FAF0-2383-4AC4-AC6C-8702D9DDC44F}"/>
              </a:ext>
            </a:extLst>
          </p:cNvPr>
          <p:cNvPicPr>
            <a:picLocks noChangeAspect="1"/>
          </p:cNvPicPr>
          <p:nvPr/>
        </p:nvPicPr>
        <p:blipFill>
          <a:blip r:embed="rId3"/>
          <a:stretch>
            <a:fillRect/>
          </a:stretch>
        </p:blipFill>
        <p:spPr>
          <a:xfrm>
            <a:off x="142426" y="751375"/>
            <a:ext cx="11211374" cy="6003600"/>
          </a:xfrm>
          <a:prstGeom prst="rect">
            <a:avLst/>
          </a:prstGeom>
        </p:spPr>
      </p:pic>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8752E7EA-ABE8-4177-B6D9-493EDF69AE7C}"/>
                  </a:ext>
                </a:extLst>
              </p:cNvPr>
              <p:cNvSpPr txBox="1"/>
              <p:nvPr/>
            </p:nvSpPr>
            <p:spPr>
              <a:xfrm>
                <a:off x="9002412" y="862469"/>
                <a:ext cx="6094324" cy="391646"/>
              </a:xfrm>
              <a:prstGeom prst="rect">
                <a:avLst/>
              </a:prstGeom>
              <a:noFill/>
            </p:spPr>
            <p:txBody>
              <a:bodyPr wrap="square">
                <a:spAutoFit/>
              </a:bodyPr>
              <a:lstStyle/>
              <a:p>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𝑃𝑟𝑖𝑐𝑒</m:t>
                        </m:r>
                      </m:e>
                      <m:sub>
                        <m:r>
                          <a:rPr lang="en-US" altLang="zh-TW" b="0" i="1" smtClean="0">
                            <a:latin typeface="Cambria Math" panose="02040503050406030204" pitchFamily="18" charset="0"/>
                          </a:rPr>
                          <m:t>𝑖</m:t>
                        </m:r>
                      </m:sub>
                    </m:sSub>
                    <m:r>
                      <a:rPr lang="en-US" altLang="zh-TW"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𝑃𝑟𝑖𝑐𝑒</m:t>
                        </m:r>
                      </m:e>
                      <m:sub>
                        <m:r>
                          <a:rPr lang="en-US" altLang="zh-TW" b="0" i="1" smtClean="0">
                            <a:latin typeface="Cambria Math" panose="02040503050406030204" pitchFamily="18" charset="0"/>
                            <a:ea typeface="Cambria Math" panose="02040503050406030204" pitchFamily="18" charset="0"/>
                          </a:rPr>
                          <m:t>𝑗</m:t>
                        </m:r>
                      </m:sub>
                    </m:sSub>
                  </m:oMath>
                </a14:m>
                <a:r>
                  <a:rPr lang="en-US" altLang="zh-TW" dirty="0"/>
                  <a:t> &amp;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𝐶𝑈</m:t>
                        </m:r>
                      </m:e>
                      <m:sub>
                        <m:r>
                          <a:rPr lang="en-US" altLang="zh-TW" i="1">
                            <a:latin typeface="Cambria Math" panose="02040503050406030204" pitchFamily="18" charset="0"/>
                          </a:rPr>
                          <m:t>𝑖</m:t>
                        </m:r>
                      </m:sub>
                    </m:sSub>
                    <m:r>
                      <a:rPr lang="en-US" altLang="zh-TW" i="1">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𝐶𝑈</m:t>
                        </m:r>
                      </m:e>
                      <m:sub>
                        <m:r>
                          <a:rPr lang="en-US" altLang="zh-TW" i="1">
                            <a:latin typeface="Cambria Math" panose="02040503050406030204" pitchFamily="18" charset="0"/>
                            <a:ea typeface="Cambria Math" panose="02040503050406030204" pitchFamily="18" charset="0"/>
                          </a:rPr>
                          <m:t>𝑗</m:t>
                        </m:r>
                      </m:sub>
                    </m:sSub>
                  </m:oMath>
                </a14:m>
                <a:r>
                  <a:rPr lang="en-US" altLang="zh-TW" dirty="0"/>
                  <a:t> </a:t>
                </a:r>
                <a:endParaRPr lang="zh-TW" altLang="en-US" dirty="0"/>
              </a:p>
            </p:txBody>
          </p:sp>
        </mc:Choice>
        <mc:Fallback xmlns="">
          <p:sp>
            <p:nvSpPr>
              <p:cNvPr id="6" name="文字方塊 5">
                <a:extLst>
                  <a:ext uri="{FF2B5EF4-FFF2-40B4-BE49-F238E27FC236}">
                    <a16:creationId xmlns:a16="http://schemas.microsoft.com/office/drawing/2014/main" id="{8752E7EA-ABE8-4177-B6D9-493EDF69AE7C}"/>
                  </a:ext>
                </a:extLst>
              </p:cNvPr>
              <p:cNvSpPr txBox="1">
                <a:spLocks noRot="1" noChangeAspect="1" noMove="1" noResize="1" noEditPoints="1" noAdjustHandles="1" noChangeArrowheads="1" noChangeShapeType="1" noTextEdit="1"/>
              </p:cNvSpPr>
              <p:nvPr/>
            </p:nvSpPr>
            <p:spPr>
              <a:xfrm>
                <a:off x="9002412" y="862469"/>
                <a:ext cx="6094324" cy="391646"/>
              </a:xfrm>
              <a:prstGeom prst="rect">
                <a:avLst/>
              </a:prstGeom>
              <a:blipFill>
                <a:blip r:embed="rId4"/>
                <a:stretch>
                  <a:fillRect t="-6154" b="-1846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56279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41E5E3-A8CA-471C-AF60-7282BBD7B767}"/>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306D678D-F44F-405D-ADD1-9619B0DA1336}"/>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32A47772-77AA-474D-A5A1-C74C13AE49F2}"/>
              </a:ext>
            </a:extLst>
          </p:cNvPr>
          <p:cNvPicPr>
            <a:picLocks noChangeAspect="1"/>
          </p:cNvPicPr>
          <p:nvPr/>
        </p:nvPicPr>
        <p:blipFill>
          <a:blip r:embed="rId2"/>
          <a:stretch>
            <a:fillRect/>
          </a:stretch>
        </p:blipFill>
        <p:spPr>
          <a:xfrm>
            <a:off x="1162678" y="242887"/>
            <a:ext cx="7696200" cy="6372225"/>
          </a:xfrm>
          <a:prstGeom prst="rect">
            <a:avLst/>
          </a:prstGeom>
        </p:spPr>
      </p:pic>
    </p:spTree>
    <p:extLst>
      <p:ext uri="{BB962C8B-B14F-4D97-AF65-F5344CB8AC3E}">
        <p14:creationId xmlns:p14="http://schemas.microsoft.com/office/powerpoint/2010/main" val="1597483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A81EB1-3128-4C2B-8F0B-BC9BF4D8C7D0}"/>
              </a:ext>
            </a:extLst>
          </p:cNvPr>
          <p:cNvSpPr>
            <a:spLocks noGrp="1"/>
          </p:cNvSpPr>
          <p:nvPr>
            <p:ph type="title"/>
          </p:nvPr>
        </p:nvSpPr>
        <p:spPr/>
        <p:txBody>
          <a:bodyPr/>
          <a:lstStyle/>
          <a:p>
            <a:r>
              <a:rPr lang="en-US" altLang="zh-TW" dirty="0"/>
              <a:t>Parameter</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F245920D-E6DE-4FB2-BCE8-22E99E9E6622}"/>
                  </a:ext>
                </a:extLst>
              </p:cNvPr>
              <p:cNvSpPr>
                <a:spLocks noGrp="1"/>
              </p:cNvSpPr>
              <p:nvPr>
                <p:ph idx="1"/>
              </p:nvPr>
            </p:nvSpPr>
            <p:spPr>
              <a:xfrm>
                <a:off x="341644" y="1825625"/>
                <a:ext cx="11850356" cy="4351338"/>
              </a:xfrm>
            </p:spPr>
            <p:txBody>
              <a:bodyPr/>
              <a:lstStyle/>
              <a:p>
                <a:r>
                  <a:rPr lang="en-US" altLang="zh-TW" dirty="0"/>
                  <a:t>Task =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𝑛</m:t>
                        </m:r>
                      </m:sub>
                    </m:sSub>
                  </m:oMath>
                </a14:m>
                <a:r>
                  <a:rPr lang="en-US" altLang="zh-TW" dirty="0"/>
                  <a:t>}</a:t>
                </a:r>
              </a:p>
              <a:p>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𝐶𝑅</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r>
                      <m:rPr>
                        <m:nor/>
                      </m:rPr>
                      <a:rPr lang="en-US" altLang="zh-TW"/>
                      <m:t>The</m:t>
                    </m:r>
                    <m:r>
                      <m:rPr>
                        <m:nor/>
                      </m:rPr>
                      <a:rPr lang="en-US" altLang="zh-TW"/>
                      <m:t> </m:t>
                    </m:r>
                    <m:r>
                      <m:rPr>
                        <m:nor/>
                      </m:rPr>
                      <a:rPr lang="en-US" altLang="zh-TW"/>
                      <m:t>size</m:t>
                    </m:r>
                    <m:r>
                      <m:rPr>
                        <m:nor/>
                      </m:rPr>
                      <a:rPr lang="en-US" altLang="zh-TW"/>
                      <m:t> </m:t>
                    </m:r>
                    <m:r>
                      <m:rPr>
                        <m:nor/>
                      </m:rPr>
                      <a:rPr lang="en-US" altLang="zh-TW"/>
                      <m:t>of</m:t>
                    </m:r>
                    <m:r>
                      <m:rPr>
                        <m:nor/>
                      </m:rPr>
                      <a:rPr lang="en-US" altLang="zh-TW"/>
                      <m:t> </m:t>
                    </m:r>
                    <m:r>
                      <m:rPr>
                        <m:nor/>
                      </m:rPr>
                      <a:rPr lang="en-US" altLang="zh-TW"/>
                      <m:t>data</m:t>
                    </m:r>
                    <m:r>
                      <m:rPr>
                        <m:nor/>
                      </m:rPr>
                      <a:rPr lang="en-US" altLang="zh-TW"/>
                      <m:t> </m:t>
                    </m:r>
                    <m:r>
                      <m:rPr>
                        <m:nor/>
                      </m:rPr>
                      <a:rPr lang="en-US" altLang="zh-TW"/>
                      <m:t>transferred</m:t>
                    </m:r>
                    <m:r>
                      <m:rPr>
                        <m:nor/>
                      </m:rPr>
                      <a:rPr lang="en-US" altLang="zh-TW"/>
                      <m:t> </m:t>
                    </m:r>
                    <m:r>
                      <m:rPr>
                        <m:nor/>
                      </m:rPr>
                      <a:rPr lang="en-US" altLang="zh-TW"/>
                      <m:t>between</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 </m:t>
                        </m:r>
                        <m:r>
                          <a:rPr lang="en-US" altLang="zh-TW" i="1">
                            <a:latin typeface="Cambria Math" panose="02040503050406030204" pitchFamily="18" charset="0"/>
                          </a:rPr>
                          <m:t>𝑡</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m:t>
                    </m:r>
                    <m:r>
                      <m:rPr>
                        <m:nor/>
                      </m:rPr>
                      <a:rPr lang="en-US" altLang="zh-TW"/>
                      <m:t>and</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  </m:t>
                        </m:r>
                        <m:r>
                          <a:rPr lang="en-US" altLang="zh-TW" i="1">
                            <a:latin typeface="Cambria Math" panose="02040503050406030204" pitchFamily="18" charset="0"/>
                          </a:rPr>
                          <m:t>𝑡</m:t>
                        </m:r>
                      </m:e>
                      <m:sub>
                        <m:r>
                          <a:rPr lang="en-US" altLang="zh-TW" b="0" i="1" smtClean="0">
                            <a:latin typeface="Cambria Math" panose="02040503050406030204" pitchFamily="18" charset="0"/>
                          </a:rPr>
                          <m:t>𝑗</m:t>
                        </m:r>
                      </m:sub>
                    </m:sSub>
                  </m:oMath>
                </a14:m>
                <a:endParaRPr lang="en-US" altLang="zh-TW" dirty="0"/>
              </a:p>
              <a:p>
                <a:r>
                  <a:rPr lang="en-US" altLang="zh-TW" dirty="0"/>
                  <a:t>Resource pool =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𝑚</m:t>
                        </m:r>
                      </m:sub>
                    </m:sSub>
                  </m:oMath>
                </a14:m>
                <a:r>
                  <a:rPr lang="en-US" altLang="zh-TW" dirty="0"/>
                  <a:t>}</a:t>
                </a:r>
              </a:p>
              <a:p>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𝑒</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 </m:t>
                    </m:r>
                  </m:oMath>
                </a14:m>
                <a:r>
                  <a:rPr lang="en-US" altLang="zh-TW" dirty="0"/>
                  <a:t> = execution time of the </a:t>
                </a:r>
                <a14:m>
                  <m:oMath xmlns:m="http://schemas.openxmlformats.org/officeDocument/2006/math">
                    <m:sPre>
                      <m:sPrePr>
                        <m:ctrlPr>
                          <a:rPr lang="en-US" altLang="zh-TW" b="0" i="1" smtClean="0">
                            <a:latin typeface="Cambria Math" panose="02040503050406030204" pitchFamily="18" charset="0"/>
                          </a:rPr>
                        </m:ctrlPr>
                      </m:sPrePr>
                      <m:sub/>
                      <m:sup/>
                      <m:e>
                        <m:r>
                          <a:rPr lang="en-US" altLang="zh-TW" b="0" i="1" smtClean="0">
                            <a:latin typeface="Cambria Math" panose="02040503050406030204" pitchFamily="18" charset="0"/>
                          </a:rPr>
                          <m:t>𝑖</m:t>
                        </m:r>
                      </m:e>
                    </m:sPre>
                    <m:r>
                      <a:rPr lang="en-US" altLang="zh-TW" b="0" i="1" smtClean="0">
                        <a:latin typeface="Cambria Math" panose="02040503050406030204" pitchFamily="18" charset="0"/>
                      </a:rPr>
                      <m:t>𝑡h</m:t>
                    </m:r>
                  </m:oMath>
                </a14:m>
                <a:r>
                  <a:rPr lang="en-US" altLang="zh-TW" dirty="0"/>
                  <a:t> task on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𝑝</m:t>
                        </m:r>
                      </m:e>
                      <m:sub>
                        <m:r>
                          <a:rPr lang="en-US" altLang="zh-TW" b="0" i="1" smtClean="0">
                            <a:latin typeface="Cambria Math" panose="02040503050406030204" pitchFamily="18" charset="0"/>
                          </a:rPr>
                          <m:t>𝑗</m:t>
                        </m:r>
                      </m:sub>
                    </m:sSub>
                  </m:oMath>
                </a14:m>
                <a:endParaRPr lang="en-US" altLang="zh-TW" dirty="0"/>
              </a:p>
              <a:p>
                <a:r>
                  <a:rPr lang="en-US" altLang="zh-TW" dirty="0"/>
                  <a:t>Compute Unit (CU)=performance of different types of the provided instances. </a:t>
                </a:r>
              </a:p>
              <a:p>
                <a:r>
                  <a:rPr lang="en-US" altLang="zh-TW" dirty="0"/>
                  <a:t>Standard execution time of tasks on Xeon@2.33 GHz CPUs (CU=8)</a:t>
                </a:r>
              </a:p>
              <a:p>
                <a:endParaRPr lang="zh-TW" altLang="en-US" dirty="0"/>
              </a:p>
            </p:txBody>
          </p:sp>
        </mc:Choice>
        <mc:Fallback xmlns="">
          <p:sp>
            <p:nvSpPr>
              <p:cNvPr id="3" name="內容版面配置區 2">
                <a:extLst>
                  <a:ext uri="{FF2B5EF4-FFF2-40B4-BE49-F238E27FC236}">
                    <a16:creationId xmlns:a16="http://schemas.microsoft.com/office/drawing/2014/main" id="{F245920D-E6DE-4FB2-BCE8-22E99E9E6622}"/>
                  </a:ext>
                </a:extLst>
              </p:cNvPr>
              <p:cNvSpPr>
                <a:spLocks noGrp="1" noRot="1" noChangeAspect="1" noMove="1" noResize="1" noEditPoints="1" noAdjustHandles="1" noChangeArrowheads="1" noChangeShapeType="1" noTextEdit="1"/>
              </p:cNvSpPr>
              <p:nvPr>
                <p:ph idx="1"/>
              </p:nvPr>
            </p:nvSpPr>
            <p:spPr>
              <a:xfrm>
                <a:off x="341644" y="1825625"/>
                <a:ext cx="11850356" cy="4351338"/>
              </a:xfrm>
              <a:blipFill>
                <a:blip r:embed="rId2"/>
                <a:stretch>
                  <a:fillRect l="-926"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22239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90ECFBE-41A7-4C81-9413-47C1C4C69DC1}"/>
              </a:ext>
            </a:extLst>
          </p:cNvPr>
          <p:cNvSpPr>
            <a:spLocks noGrp="1"/>
          </p:cNvSpPr>
          <p:nvPr>
            <p:ph idx="1"/>
          </p:nvPr>
        </p:nvSpPr>
        <p:spPr>
          <a:xfrm>
            <a:off x="189040" y="308133"/>
            <a:ext cx="10515600" cy="4351338"/>
          </a:xfrm>
        </p:spPr>
        <p:txBody>
          <a:bodyPr>
            <a:normAutofit/>
          </a:bodyPr>
          <a:lstStyle/>
          <a:p>
            <a:endParaRPr lang="en-US" altLang="zh-TW" dirty="0"/>
          </a:p>
        </p:txBody>
      </p:sp>
      <p:pic>
        <p:nvPicPr>
          <p:cNvPr id="5" name="圖片 4">
            <a:extLst>
              <a:ext uri="{FF2B5EF4-FFF2-40B4-BE49-F238E27FC236}">
                <a16:creationId xmlns:a16="http://schemas.microsoft.com/office/drawing/2014/main" id="{F6E07DD1-4C1D-4E82-8A50-FC20E12F7CBF}"/>
              </a:ext>
            </a:extLst>
          </p:cNvPr>
          <p:cNvPicPr>
            <a:picLocks noChangeAspect="1"/>
          </p:cNvPicPr>
          <p:nvPr/>
        </p:nvPicPr>
        <p:blipFill>
          <a:blip r:embed="rId2"/>
          <a:stretch>
            <a:fillRect/>
          </a:stretch>
        </p:blipFill>
        <p:spPr>
          <a:xfrm>
            <a:off x="372862" y="266053"/>
            <a:ext cx="4879759" cy="3280898"/>
          </a:xfrm>
          <a:prstGeom prst="rect">
            <a:avLst/>
          </a:prstGeom>
        </p:spPr>
      </p:pic>
      <p:pic>
        <p:nvPicPr>
          <p:cNvPr id="7" name="圖片 6">
            <a:extLst>
              <a:ext uri="{FF2B5EF4-FFF2-40B4-BE49-F238E27FC236}">
                <a16:creationId xmlns:a16="http://schemas.microsoft.com/office/drawing/2014/main" id="{1ED0C624-3F39-4419-B4D2-B1F45D05E485}"/>
              </a:ext>
            </a:extLst>
          </p:cNvPr>
          <p:cNvPicPr>
            <a:picLocks noChangeAspect="1"/>
          </p:cNvPicPr>
          <p:nvPr/>
        </p:nvPicPr>
        <p:blipFill>
          <a:blip r:embed="rId3"/>
          <a:stretch>
            <a:fillRect/>
          </a:stretch>
        </p:blipFill>
        <p:spPr>
          <a:xfrm>
            <a:off x="6535590" y="497886"/>
            <a:ext cx="4879759" cy="2452721"/>
          </a:xfrm>
          <a:prstGeom prst="rect">
            <a:avLst/>
          </a:prstGeom>
        </p:spPr>
      </p:pic>
      <p:graphicFrame>
        <p:nvGraphicFramePr>
          <p:cNvPr id="9" name="表格 4">
            <a:extLst>
              <a:ext uri="{FF2B5EF4-FFF2-40B4-BE49-F238E27FC236}">
                <a16:creationId xmlns:a16="http://schemas.microsoft.com/office/drawing/2014/main" id="{CD16F973-037E-45B4-836F-B23F85624618}"/>
              </a:ext>
            </a:extLst>
          </p:cNvPr>
          <p:cNvGraphicFramePr>
            <a:graphicFrameLocks noGrp="1"/>
          </p:cNvGraphicFramePr>
          <p:nvPr>
            <p:extLst>
              <p:ext uri="{D42A27DB-BD31-4B8C-83A1-F6EECF244321}">
                <p14:modId xmlns:p14="http://schemas.microsoft.com/office/powerpoint/2010/main" val="2262018378"/>
              </p:ext>
            </p:extLst>
          </p:nvPr>
        </p:nvGraphicFramePr>
        <p:xfrm>
          <a:off x="269620" y="3907393"/>
          <a:ext cx="8128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937307872"/>
                    </a:ext>
                  </a:extLst>
                </a:gridCol>
                <a:gridCol w="2032000">
                  <a:extLst>
                    <a:ext uri="{9D8B030D-6E8A-4147-A177-3AD203B41FA5}">
                      <a16:colId xmlns:a16="http://schemas.microsoft.com/office/drawing/2014/main" val="1314258235"/>
                    </a:ext>
                  </a:extLst>
                </a:gridCol>
                <a:gridCol w="2032000">
                  <a:extLst>
                    <a:ext uri="{9D8B030D-6E8A-4147-A177-3AD203B41FA5}">
                      <a16:colId xmlns:a16="http://schemas.microsoft.com/office/drawing/2014/main" val="1121706200"/>
                    </a:ext>
                  </a:extLst>
                </a:gridCol>
                <a:gridCol w="2032000">
                  <a:extLst>
                    <a:ext uri="{9D8B030D-6E8A-4147-A177-3AD203B41FA5}">
                      <a16:colId xmlns:a16="http://schemas.microsoft.com/office/drawing/2014/main" val="487864099"/>
                    </a:ext>
                  </a:extLst>
                </a:gridCol>
              </a:tblGrid>
              <a:tr h="370840">
                <a:tc>
                  <a:txBody>
                    <a:bodyPr/>
                    <a:lstStyle/>
                    <a:p>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rPr>
                        <a:t>CPU</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rPr>
                        <a:t>memory</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rPr>
                        <a:t>CU</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6647563"/>
                  </a:ext>
                </a:extLst>
              </a:tr>
              <a:tr h="370840">
                <a:tc>
                  <a:txBody>
                    <a:bodyPr/>
                    <a:lstStyle/>
                    <a:p>
                      <a:r>
                        <a:rPr lang="en-US" altLang="zh-TW" dirty="0"/>
                        <a:t>m1.medium</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t>a single virtual CPU </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rPr>
                        <a:t>Large</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rPr>
                        <a:t>3.75</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109415"/>
                  </a:ext>
                </a:extLst>
              </a:tr>
              <a:tr h="370840">
                <a:tc>
                  <a:txBody>
                    <a:bodyPr/>
                    <a:lstStyle/>
                    <a:p>
                      <a:r>
                        <a:rPr lang="en-US" altLang="zh-TW" dirty="0"/>
                        <a:t>m1.small</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t>a single virtual CPU </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rPr>
                        <a:t>small</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rPr>
                        <a:t>1.7</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569485"/>
                  </a:ext>
                </a:extLst>
              </a:tr>
            </a:tbl>
          </a:graphicData>
        </a:graphic>
      </p:graphicFrame>
      <p:sp>
        <p:nvSpPr>
          <p:cNvPr id="10" name="內容版面配置區 2">
            <a:extLst>
              <a:ext uri="{FF2B5EF4-FFF2-40B4-BE49-F238E27FC236}">
                <a16:creationId xmlns:a16="http://schemas.microsoft.com/office/drawing/2014/main" id="{DD7CD206-92CA-45EE-8283-F4E7FEBDCCAF}"/>
              </a:ext>
            </a:extLst>
          </p:cNvPr>
          <p:cNvSpPr txBox="1">
            <a:spLocks/>
          </p:cNvSpPr>
          <p:nvPr/>
        </p:nvSpPr>
        <p:spPr>
          <a:xfrm>
            <a:off x="269620" y="5202619"/>
            <a:ext cx="8705850" cy="40267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a:t>Array x: represent the assignment of tasks to instances</a:t>
            </a:r>
          </a:p>
          <a:p>
            <a:r>
              <a:rPr lang="en-US" altLang="zh-TW"/>
              <a:t>Array y: represent the type of each instance</a:t>
            </a:r>
          </a:p>
          <a:p>
            <a:r>
              <a:rPr lang="en-US" altLang="zh-TW"/>
              <a:t>Array z: represent the execution order of tasks</a:t>
            </a:r>
            <a:endParaRPr lang="zh-TW" altLang="en-US" dirty="0"/>
          </a:p>
        </p:txBody>
      </p:sp>
    </p:spTree>
    <p:extLst>
      <p:ext uri="{BB962C8B-B14F-4D97-AF65-F5344CB8AC3E}">
        <p14:creationId xmlns:p14="http://schemas.microsoft.com/office/powerpoint/2010/main" val="922627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EA4F7B-7DEE-4788-935C-DE784875F9D0}"/>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FA768035-E8A0-4B09-A618-77DC2BB51E0A}"/>
              </a:ext>
            </a:extLst>
          </p:cNvPr>
          <p:cNvSpPr>
            <a:spLocks noGrp="1"/>
          </p:cNvSpPr>
          <p:nvPr>
            <p:ph idx="1"/>
          </p:nvPr>
        </p:nvSpPr>
        <p:spPr/>
        <p:txBody>
          <a:bodyPr>
            <a:normAutofit/>
          </a:bodyPr>
          <a:lstStyle/>
          <a:p>
            <a:r>
              <a:rPr lang="en-US" altLang="zh-TW" dirty="0"/>
              <a:t>The generated set of instances Y , is given as an input to a modified version of the well-known HEFT algorithm.</a:t>
            </a:r>
          </a:p>
          <a:p>
            <a:r>
              <a:rPr lang="en-US" altLang="zh-TW" dirty="0"/>
              <a:t>The modified-HEFT completes the assignment x by filling the values of X and Z arrays. </a:t>
            </a:r>
          </a:p>
          <a:p>
            <a:r>
              <a:rPr lang="en-US" altLang="zh-TW" dirty="0"/>
              <a:t>Eventually, the best assignment found across all iterations returns the final solution.</a:t>
            </a:r>
            <a:endParaRPr lang="zh-TW" altLang="en-US" dirty="0"/>
          </a:p>
        </p:txBody>
      </p:sp>
      <p:pic>
        <p:nvPicPr>
          <p:cNvPr id="5" name="圖片 4">
            <a:extLst>
              <a:ext uri="{FF2B5EF4-FFF2-40B4-BE49-F238E27FC236}">
                <a16:creationId xmlns:a16="http://schemas.microsoft.com/office/drawing/2014/main" id="{615AC2AA-4BBB-41AF-A1C9-18145F638EE0}"/>
              </a:ext>
            </a:extLst>
          </p:cNvPr>
          <p:cNvPicPr>
            <a:picLocks noChangeAspect="1"/>
          </p:cNvPicPr>
          <p:nvPr/>
        </p:nvPicPr>
        <p:blipFill>
          <a:blip r:embed="rId2"/>
          <a:stretch>
            <a:fillRect/>
          </a:stretch>
        </p:blipFill>
        <p:spPr>
          <a:xfrm>
            <a:off x="7299546" y="5127224"/>
            <a:ext cx="4169214" cy="5024437"/>
          </a:xfrm>
          <a:prstGeom prst="rect">
            <a:avLst/>
          </a:prstGeom>
        </p:spPr>
      </p:pic>
      <p:pic>
        <p:nvPicPr>
          <p:cNvPr id="6" name="圖片 5">
            <a:extLst>
              <a:ext uri="{FF2B5EF4-FFF2-40B4-BE49-F238E27FC236}">
                <a16:creationId xmlns:a16="http://schemas.microsoft.com/office/drawing/2014/main" id="{C227741F-990E-4A0F-B73E-1A803BB6C230}"/>
              </a:ext>
            </a:extLst>
          </p:cNvPr>
          <p:cNvPicPr>
            <a:picLocks noChangeAspect="1"/>
          </p:cNvPicPr>
          <p:nvPr/>
        </p:nvPicPr>
        <p:blipFill>
          <a:blip r:embed="rId3"/>
          <a:stretch>
            <a:fillRect/>
          </a:stretch>
        </p:blipFill>
        <p:spPr>
          <a:xfrm>
            <a:off x="138465" y="83829"/>
            <a:ext cx="5215244" cy="1606859"/>
          </a:xfrm>
          <a:prstGeom prst="rect">
            <a:avLst/>
          </a:prstGeom>
        </p:spPr>
      </p:pic>
    </p:spTree>
    <p:extLst>
      <p:ext uri="{BB962C8B-B14F-4D97-AF65-F5344CB8AC3E}">
        <p14:creationId xmlns:p14="http://schemas.microsoft.com/office/powerpoint/2010/main" val="174145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25BC5C-6C83-4FF8-8304-AE6C5C859B0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1EC5FBB8-F2DB-4A3D-893A-A3D599857234}"/>
              </a:ext>
            </a:extLst>
          </p:cNvPr>
          <p:cNvSpPr>
            <a:spLocks noGrp="1"/>
          </p:cNvSpPr>
          <p:nvPr>
            <p:ph idx="1"/>
          </p:nvPr>
        </p:nvSpPr>
        <p:spPr/>
        <p:txBody>
          <a:bodyPr/>
          <a:lstStyle/>
          <a:p>
            <a:endParaRPr lang="zh-TW" altLang="en-US"/>
          </a:p>
        </p:txBody>
      </p:sp>
      <p:pic>
        <p:nvPicPr>
          <p:cNvPr id="4" name="圖片 3">
            <a:extLst>
              <a:ext uri="{FF2B5EF4-FFF2-40B4-BE49-F238E27FC236}">
                <a16:creationId xmlns:a16="http://schemas.microsoft.com/office/drawing/2014/main" id="{68A40031-86DE-4E11-85C0-C5E7683FD4A0}"/>
              </a:ext>
            </a:extLst>
          </p:cNvPr>
          <p:cNvPicPr>
            <a:picLocks noChangeAspect="1"/>
          </p:cNvPicPr>
          <p:nvPr/>
        </p:nvPicPr>
        <p:blipFill>
          <a:blip r:embed="rId2"/>
          <a:stretch>
            <a:fillRect/>
          </a:stretch>
        </p:blipFill>
        <p:spPr>
          <a:xfrm>
            <a:off x="6740697" y="0"/>
            <a:ext cx="5572125" cy="6715125"/>
          </a:xfrm>
          <a:prstGeom prst="rect">
            <a:avLst/>
          </a:prstGeom>
        </p:spPr>
      </p:pic>
      <p:pic>
        <p:nvPicPr>
          <p:cNvPr id="5" name="圖片 4">
            <a:extLst>
              <a:ext uri="{FF2B5EF4-FFF2-40B4-BE49-F238E27FC236}">
                <a16:creationId xmlns:a16="http://schemas.microsoft.com/office/drawing/2014/main" id="{AED151DA-21F6-4416-BC21-65CF51FEAC68}"/>
              </a:ext>
            </a:extLst>
          </p:cNvPr>
          <p:cNvPicPr>
            <a:picLocks noChangeAspect="1"/>
          </p:cNvPicPr>
          <p:nvPr/>
        </p:nvPicPr>
        <p:blipFill>
          <a:blip r:embed="rId3"/>
          <a:stretch>
            <a:fillRect/>
          </a:stretch>
        </p:blipFill>
        <p:spPr>
          <a:xfrm>
            <a:off x="409771" y="681037"/>
            <a:ext cx="5215244" cy="1606859"/>
          </a:xfrm>
          <a:prstGeom prst="rect">
            <a:avLst/>
          </a:prstGeom>
        </p:spPr>
      </p:pic>
      <p:pic>
        <p:nvPicPr>
          <p:cNvPr id="6" name="圖片 5">
            <a:extLst>
              <a:ext uri="{FF2B5EF4-FFF2-40B4-BE49-F238E27FC236}">
                <a16:creationId xmlns:a16="http://schemas.microsoft.com/office/drawing/2014/main" id="{AADD26C1-E9BE-4D64-8A82-17E5BCC389D3}"/>
              </a:ext>
            </a:extLst>
          </p:cNvPr>
          <p:cNvPicPr>
            <a:picLocks noChangeAspect="1"/>
          </p:cNvPicPr>
          <p:nvPr/>
        </p:nvPicPr>
        <p:blipFill>
          <a:blip r:embed="rId4"/>
          <a:stretch>
            <a:fillRect/>
          </a:stretch>
        </p:blipFill>
        <p:spPr>
          <a:xfrm>
            <a:off x="586991" y="3689764"/>
            <a:ext cx="4069987" cy="542665"/>
          </a:xfrm>
          <a:prstGeom prst="rect">
            <a:avLst/>
          </a:prstGeom>
        </p:spPr>
      </p:pic>
      <p:pic>
        <p:nvPicPr>
          <p:cNvPr id="7" name="圖片 6">
            <a:extLst>
              <a:ext uri="{FF2B5EF4-FFF2-40B4-BE49-F238E27FC236}">
                <a16:creationId xmlns:a16="http://schemas.microsoft.com/office/drawing/2014/main" id="{DA782BAF-CE25-4C3F-82E9-8FAC02B50A8D}"/>
              </a:ext>
            </a:extLst>
          </p:cNvPr>
          <p:cNvPicPr>
            <a:picLocks noChangeAspect="1"/>
          </p:cNvPicPr>
          <p:nvPr/>
        </p:nvPicPr>
        <p:blipFill>
          <a:blip r:embed="rId5"/>
          <a:stretch>
            <a:fillRect/>
          </a:stretch>
        </p:blipFill>
        <p:spPr>
          <a:xfrm>
            <a:off x="973327" y="4427227"/>
            <a:ext cx="2486025" cy="2038350"/>
          </a:xfrm>
          <a:prstGeom prst="rect">
            <a:avLst/>
          </a:prstGeom>
        </p:spPr>
      </p:pic>
    </p:spTree>
    <p:extLst>
      <p:ext uri="{BB962C8B-B14F-4D97-AF65-F5344CB8AC3E}">
        <p14:creationId xmlns:p14="http://schemas.microsoft.com/office/powerpoint/2010/main" val="321533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156C43-921F-4124-87D0-D60FCD127E03}"/>
              </a:ext>
            </a:extLst>
          </p:cNvPr>
          <p:cNvSpPr>
            <a:spLocks noGrp="1"/>
          </p:cNvSpPr>
          <p:nvPr>
            <p:ph type="title"/>
          </p:nvPr>
        </p:nvSpPr>
        <p:spPr/>
        <p:txBody>
          <a:bodyPr/>
          <a:lstStyle/>
          <a:p>
            <a:r>
              <a:rPr lang="en-US" altLang="zh-TW" dirty="0"/>
              <a:t>difference</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FAA6BAFD-7BA4-430C-BF30-5D3700E1BD33}"/>
                  </a:ext>
                </a:extLst>
              </p:cNvPr>
              <p:cNvSpPr>
                <a:spLocks noGrp="1"/>
              </p:cNvSpPr>
              <p:nvPr>
                <p:ph idx="1"/>
              </p:nvPr>
            </p:nvSpPr>
            <p:spPr/>
            <p:txBody>
              <a:bodyPr>
                <a:normAutofit fontScale="85000" lnSpcReduction="20000"/>
              </a:bodyPr>
              <a:lstStyle/>
              <a:p>
                <a:r>
                  <a:rPr lang="en-US" altLang="zh-TW" dirty="0"/>
                  <a:t>once the execution time of an instance goes beyond full-hours, our </a:t>
                </a:r>
                <a:r>
                  <a:rPr lang="en-US" altLang="zh-TW" dirty="0" err="1"/>
                  <a:t>modifiedHEFT</a:t>
                </a:r>
                <a:r>
                  <a:rPr lang="en-US" altLang="zh-TW" dirty="0"/>
                  <a:t> tries to avoid budget violations.</a:t>
                </a:r>
              </a:p>
              <a:p>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𝐹𝑜𝑟</m:t>
                        </m:r>
                        <m:r>
                          <a:rPr lang="en-US" altLang="zh-TW" i="1">
                            <a:latin typeface="Cambria Math" panose="02040503050406030204" pitchFamily="18" charset="0"/>
                          </a:rPr>
                          <m:t> </m:t>
                        </m:r>
                        <m:r>
                          <a:rPr lang="en-US" altLang="zh-TW" i="1">
                            <a:latin typeface="Cambria Math" panose="02040503050406030204" pitchFamily="18" charset="0"/>
                          </a:rPr>
                          <m:t>𝑒𝑎𝑐h</m:t>
                        </m:r>
                        <m:r>
                          <a:rPr lang="en-US" altLang="zh-TW" i="1">
                            <a:latin typeface="Cambria Math" panose="02040503050406030204" pitchFamily="18" charset="0"/>
                          </a:rPr>
                          <m:t> </m:t>
                        </m:r>
                        <m:r>
                          <a:rPr lang="en-US" altLang="zh-TW" i="1">
                            <a:latin typeface="Cambria Math" panose="02040503050406030204" pitchFamily="18" charset="0"/>
                          </a:rPr>
                          <m:t>𝑡𝑎𝑠𝑘</m:t>
                        </m:r>
                        <m:r>
                          <a:rPr lang="en-US" altLang="zh-TW" b="0" i="1" smtClean="0">
                            <a:latin typeface="Cambria Math" panose="02040503050406030204" pitchFamily="18" charset="0"/>
                          </a:rPr>
                          <m:t> </m:t>
                        </m:r>
                        <m:r>
                          <a:rPr lang="en-US" altLang="zh-TW" b="0" i="1" smtClean="0">
                            <a:latin typeface="Cambria Math" panose="02040503050406030204" pitchFamily="18" charset="0"/>
                          </a:rPr>
                          <m:t>𝑡</m:t>
                        </m:r>
                      </m:e>
                      <m:sub>
                        <m:r>
                          <a:rPr lang="en-US" altLang="zh-TW" b="0" i="1" smtClean="0">
                            <a:latin typeface="Cambria Math" panose="02040503050406030204" pitchFamily="18" charset="0"/>
                          </a:rPr>
                          <m:t>𝑖</m:t>
                        </m:r>
                      </m:sub>
                    </m:sSub>
                  </m:oMath>
                </a14:m>
                <a:r>
                  <a:rPr lang="zh-TW" altLang="en-US" dirty="0"/>
                  <a:t> </a:t>
                </a:r>
                <a:endParaRPr lang="en-US" altLang="zh-TW" dirty="0"/>
              </a:p>
              <a:p>
                <a:pPr marL="0" indent="0">
                  <a:buNone/>
                </a:pPr>
                <a:r>
                  <a:rPr lang="en-US" altLang="zh-TW" dirty="0"/>
                  <a:t>1.the minimum finish time of the task on all instances</a:t>
                </a:r>
              </a:p>
              <a:p>
                <a:pPr marL="0" indent="0">
                  <a:buNone/>
                </a:pPr>
                <a:r>
                  <a:rPr lang="en-US" altLang="zh-TW" dirty="0"/>
                  <a:t>2. the minimum finish time of the tasks on those instances that assigning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𝑖</m:t>
                        </m:r>
                      </m:sub>
                    </m:sSub>
                  </m:oMath>
                </a14:m>
                <a:r>
                  <a:rPr lang="en-US" altLang="zh-TW" dirty="0"/>
                  <a:t> to them does not change the execution cost of those instances.</a:t>
                </a:r>
              </a:p>
              <a:p>
                <a:pPr marL="0" indent="0">
                  <a:buNone/>
                </a:pPr>
                <a:r>
                  <a:rPr lang="zh-TW" altLang="en-US" dirty="0"/>
                  <a:t>添加任務不會使實例的運行時間增加超過一小時，則運行實例的成本保持不變。</a:t>
                </a:r>
                <a:endParaRPr lang="en-US" altLang="zh-TW" dirty="0"/>
              </a:p>
              <a:p>
                <a:pPr marL="0" indent="0">
                  <a:buNone/>
                </a:pP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𝑚𝑖𝑛</m:t>
                        </m:r>
                      </m:sub>
                      <m:sup>
                        <m:r>
                          <a:rPr lang="en-US" altLang="zh-TW" b="0" i="1" smtClean="0">
                            <a:latin typeface="Cambria Math" panose="02040503050406030204" pitchFamily="18" charset="0"/>
                          </a:rPr>
                          <m:t>∗</m:t>
                        </m:r>
                      </m:sup>
                    </m:sSubSup>
                  </m:oMath>
                </a14:m>
                <a:r>
                  <a:rPr lang="en-US" altLang="zh-TW" dirty="0"/>
                  <a:t> keeps the best instance for which adding the task does not change the instance cost.</a:t>
                </a:r>
              </a:p>
              <a:p>
                <a:r>
                  <a:rPr lang="en-US" altLang="zh-TW" dirty="0"/>
                  <a:t>12-15</a:t>
                </a:r>
              </a:p>
              <a:p>
                <a:pPr marL="0" indent="0">
                  <a:buNone/>
                </a:pPr>
                <a:r>
                  <a:rPr lang="zh-TW" altLang="en-US" dirty="0"/>
                  <a:t>如果存在大於 </a:t>
                </a:r>
                <a:r>
                  <a:rPr lang="en-US" altLang="zh-TW" dirty="0" err="1"/>
                  <a:t>ti</a:t>
                </a:r>
                <a:r>
                  <a:rPr lang="en-US" altLang="zh-TW" dirty="0"/>
                  <a:t> </a:t>
                </a:r>
                <a:r>
                  <a:rPr lang="zh-TW" altLang="en-US" dirty="0"/>
                  <a:t>執行的任何間隙，則將 </a:t>
                </a:r>
                <a:r>
                  <a:rPr lang="en-US" altLang="zh-TW" dirty="0" err="1"/>
                  <a:t>ti</a:t>
                </a:r>
                <a:r>
                  <a:rPr lang="en-US" altLang="zh-TW" dirty="0"/>
                  <a:t> </a:t>
                </a:r>
                <a:r>
                  <a:rPr lang="zh-TW" altLang="en-US" dirty="0"/>
                  <a:t>放置在第一個可行間隙內。如果有足夠的空間來執行任務，則在 </a:t>
                </a:r>
                <a:r>
                  <a:rPr lang="en-US" altLang="zh-TW" dirty="0" err="1"/>
                  <a:t>Ij</a:t>
                </a:r>
                <a:r>
                  <a:rPr lang="en-US" altLang="zh-TW" dirty="0"/>
                  <a:t> </a:t>
                </a:r>
                <a:r>
                  <a:rPr lang="zh-TW" altLang="en-US" dirty="0"/>
                  <a:t>的任務列表的末尾分配 </a:t>
                </a:r>
                <a:r>
                  <a:rPr lang="en-US" altLang="zh-TW" dirty="0" err="1"/>
                  <a:t>ti</a:t>
                </a:r>
                <a:r>
                  <a:rPr lang="zh-TW" altLang="en-US" dirty="0"/>
                  <a:t>。</a:t>
                </a:r>
                <a:endParaRPr lang="en-US" altLang="zh-TW" dirty="0"/>
              </a:p>
              <a:p>
                <a:pPr marL="0" indent="0">
                  <a:buNone/>
                </a:pPr>
                <a:endParaRPr lang="zh-TW" altLang="en-US" dirty="0"/>
              </a:p>
            </p:txBody>
          </p:sp>
        </mc:Choice>
        <mc:Fallback xmlns="">
          <p:sp>
            <p:nvSpPr>
              <p:cNvPr id="3" name="內容版面配置區 2">
                <a:extLst>
                  <a:ext uri="{FF2B5EF4-FFF2-40B4-BE49-F238E27FC236}">
                    <a16:creationId xmlns:a16="http://schemas.microsoft.com/office/drawing/2014/main" id="{FAA6BAFD-7BA4-430C-BF30-5D3700E1BD33}"/>
                  </a:ext>
                </a:extLst>
              </p:cNvPr>
              <p:cNvSpPr>
                <a:spLocks noGrp="1" noRot="1" noChangeAspect="1" noMove="1" noResize="1" noEditPoints="1" noAdjustHandles="1" noChangeArrowheads="1" noChangeShapeType="1" noTextEdit="1"/>
              </p:cNvSpPr>
              <p:nvPr>
                <p:ph idx="1"/>
              </p:nvPr>
            </p:nvSpPr>
            <p:spPr>
              <a:blipFill>
                <a:blip r:embed="rId3"/>
                <a:stretch>
                  <a:fillRect l="-928" t="-3361" b="-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89677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501CC0-5BE0-4D0F-A62C-EFF30FB4673C}"/>
              </a:ext>
            </a:extLst>
          </p:cNvPr>
          <p:cNvSpPr>
            <a:spLocks noGrp="1"/>
          </p:cNvSpPr>
          <p:nvPr>
            <p:ph type="title"/>
          </p:nvPr>
        </p:nvSpPr>
        <p:spPr/>
        <p:txBody>
          <a:bodyPr/>
          <a:lstStyle/>
          <a:p>
            <a:r>
              <a:rPr lang="en-US" altLang="zh-TW" dirty="0"/>
              <a:t>difference</a:t>
            </a:r>
            <a:endParaRPr lang="zh-TW" altLang="en-US" dirty="0"/>
          </a:p>
        </p:txBody>
      </p:sp>
      <p:sp>
        <p:nvSpPr>
          <p:cNvPr id="3" name="內容版面配置區 2">
            <a:extLst>
              <a:ext uri="{FF2B5EF4-FFF2-40B4-BE49-F238E27FC236}">
                <a16:creationId xmlns:a16="http://schemas.microsoft.com/office/drawing/2014/main" id="{E569876C-ACA2-4520-8CD7-95FC7C03EC2F}"/>
              </a:ext>
            </a:extLst>
          </p:cNvPr>
          <p:cNvSpPr>
            <a:spLocks noGrp="1"/>
          </p:cNvSpPr>
          <p:nvPr>
            <p:ph idx="1"/>
          </p:nvPr>
        </p:nvSpPr>
        <p:spPr/>
        <p:txBody>
          <a:bodyPr/>
          <a:lstStyle/>
          <a:p>
            <a:r>
              <a:rPr lang="en-US" altLang="zh-TW" dirty="0"/>
              <a:t>Modified-HEFT employs a Budget-Violation Avoidance(BVA) mechanism for dealing with such situations.</a:t>
            </a:r>
          </a:p>
          <a:p>
            <a:r>
              <a:rPr lang="en-US" altLang="zh-TW" dirty="0"/>
              <a:t>Once the execution time of an instance goes beyond full-hours, our modified HEFT tries to avoid budget violations.</a:t>
            </a:r>
          </a:p>
          <a:p>
            <a:pPr marL="0" indent="0">
              <a:buNone/>
            </a:pPr>
            <a:endParaRPr lang="en-US" altLang="zh-TW" dirty="0"/>
          </a:p>
          <a:p>
            <a:pPr marL="0" indent="0">
              <a:buNone/>
            </a:pPr>
            <a:endParaRPr lang="en-US" altLang="zh-TW" dirty="0"/>
          </a:p>
          <a:p>
            <a:endParaRPr lang="zh-TW" altLang="en-US" dirty="0"/>
          </a:p>
        </p:txBody>
      </p:sp>
      <p:pic>
        <p:nvPicPr>
          <p:cNvPr id="5" name="圖片 4">
            <a:extLst>
              <a:ext uri="{FF2B5EF4-FFF2-40B4-BE49-F238E27FC236}">
                <a16:creationId xmlns:a16="http://schemas.microsoft.com/office/drawing/2014/main" id="{1675EF9C-834B-4412-BCE0-416F052EC5C4}"/>
              </a:ext>
            </a:extLst>
          </p:cNvPr>
          <p:cNvPicPr>
            <a:picLocks noChangeAspect="1"/>
          </p:cNvPicPr>
          <p:nvPr/>
        </p:nvPicPr>
        <p:blipFill>
          <a:blip r:embed="rId3"/>
          <a:stretch>
            <a:fillRect/>
          </a:stretch>
        </p:blipFill>
        <p:spPr>
          <a:xfrm>
            <a:off x="7730694" y="3837103"/>
            <a:ext cx="3829050" cy="2762250"/>
          </a:xfrm>
          <a:prstGeom prst="rect">
            <a:avLst/>
          </a:prstGeom>
        </p:spPr>
      </p:pic>
    </p:spTree>
    <p:extLst>
      <p:ext uri="{BB962C8B-B14F-4D97-AF65-F5344CB8AC3E}">
        <p14:creationId xmlns:p14="http://schemas.microsoft.com/office/powerpoint/2010/main" val="2318943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501CC0-5BE0-4D0F-A62C-EFF30FB4673C}"/>
              </a:ext>
            </a:extLst>
          </p:cNvPr>
          <p:cNvSpPr>
            <a:spLocks noGrp="1"/>
          </p:cNvSpPr>
          <p:nvPr>
            <p:ph type="title"/>
          </p:nvPr>
        </p:nvSpPr>
        <p:spPr/>
        <p:txBody>
          <a:bodyPr/>
          <a:lstStyle/>
          <a:p>
            <a:r>
              <a:rPr lang="en-US" altLang="zh-TW" dirty="0"/>
              <a:t>difference</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569876C-ACA2-4520-8CD7-95FC7C03EC2F}"/>
                  </a:ext>
                </a:extLst>
              </p:cNvPr>
              <p:cNvSpPr>
                <a:spLocks noGrp="1"/>
              </p:cNvSpPr>
              <p:nvPr>
                <p:ph idx="1"/>
              </p:nvPr>
            </p:nvSpPr>
            <p:spPr/>
            <p:txBody>
              <a:bodyPr/>
              <a:lstStyle/>
              <a:p>
                <a:r>
                  <a:rPr lang="en-US" altLang="zh-TW" dirty="0"/>
                  <a:t>Modified-HEFT employs a Budget-Violation Avoidance(BVA) mechanism for dealing with such situations.</a:t>
                </a:r>
              </a:p>
              <a:p>
                <a:pPr marL="0" indent="0">
                  <a:buNone/>
                </a:pPr>
                <a:r>
                  <a:rPr lang="en-US" altLang="zh-TW" dirty="0"/>
                  <a:t>once the execution time of an instance goes beyond full-hours, our </a:t>
                </a:r>
                <a:r>
                  <a:rPr lang="en-US" altLang="zh-TW" dirty="0" err="1"/>
                  <a:t>modifiedHEFT</a:t>
                </a:r>
                <a:r>
                  <a:rPr lang="en-US" altLang="zh-TW" dirty="0"/>
                  <a:t> tries to avoid budget violations.</a:t>
                </a:r>
              </a:p>
              <a:p>
                <a:pPr marL="0" indent="0">
                  <a:buNone/>
                </a:pPr>
                <a:endParaRPr lang="en-US" altLang="zh-TW" dirty="0"/>
              </a:p>
              <a:p>
                <a:pPr marL="0" indent="0">
                  <a:buNone/>
                </a:pP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𝐼</m:t>
                        </m:r>
                      </m:e>
                      <m:sub>
                        <m:r>
                          <a:rPr lang="en-US" altLang="zh-TW" i="1">
                            <a:latin typeface="Cambria Math" panose="02040503050406030204" pitchFamily="18" charset="0"/>
                          </a:rPr>
                          <m:t>𝑚𝑖𝑛</m:t>
                        </m:r>
                      </m:sub>
                      <m:sup>
                        <m:r>
                          <a:rPr lang="en-US" altLang="zh-TW" i="1">
                            <a:latin typeface="Cambria Math" panose="02040503050406030204" pitchFamily="18" charset="0"/>
                          </a:rPr>
                          <m:t>∗</m:t>
                        </m:r>
                      </m:sup>
                    </m:sSubSup>
                  </m:oMath>
                </a14:m>
                <a:r>
                  <a:rPr lang="en-US" altLang="zh-TW" dirty="0"/>
                  <a:t> keeps the best instance for which adding the task does not change the instance cost.</a:t>
                </a:r>
              </a:p>
              <a:p>
                <a:pPr marL="0" indent="0">
                  <a:buNone/>
                </a:pPr>
                <a:endParaRPr lang="en-US" altLang="zh-TW" dirty="0"/>
              </a:p>
              <a:p>
                <a:endParaRPr lang="zh-TW" altLang="en-US" dirty="0"/>
              </a:p>
            </p:txBody>
          </p:sp>
        </mc:Choice>
        <mc:Fallback xmlns="">
          <p:sp>
            <p:nvSpPr>
              <p:cNvPr id="3" name="內容版面配置區 2">
                <a:extLst>
                  <a:ext uri="{FF2B5EF4-FFF2-40B4-BE49-F238E27FC236}">
                    <a16:creationId xmlns:a16="http://schemas.microsoft.com/office/drawing/2014/main" id="{E569876C-ACA2-4520-8CD7-95FC7C03EC2F}"/>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4ED1F708-438B-49D3-9A5B-02CFC16B335B}"/>
              </a:ext>
            </a:extLst>
          </p:cNvPr>
          <p:cNvPicPr>
            <a:picLocks noChangeAspect="1"/>
          </p:cNvPicPr>
          <p:nvPr/>
        </p:nvPicPr>
        <p:blipFill>
          <a:blip r:embed="rId3"/>
          <a:stretch>
            <a:fillRect/>
          </a:stretch>
        </p:blipFill>
        <p:spPr>
          <a:xfrm>
            <a:off x="3398156" y="71911"/>
            <a:ext cx="4807998" cy="7087261"/>
          </a:xfrm>
          <a:prstGeom prst="rect">
            <a:avLst/>
          </a:prstGeom>
        </p:spPr>
      </p:pic>
    </p:spTree>
    <p:extLst>
      <p:ext uri="{BB962C8B-B14F-4D97-AF65-F5344CB8AC3E}">
        <p14:creationId xmlns:p14="http://schemas.microsoft.com/office/powerpoint/2010/main" val="3867315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E004BD-41A0-4A99-BC21-19DC82EBEC8D}"/>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FAC96360-9B45-4B0F-AE0A-D7812399B242}"/>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21DCB878-876D-4DAD-BA69-FAF17DEC7E5F}"/>
              </a:ext>
            </a:extLst>
          </p:cNvPr>
          <p:cNvPicPr>
            <a:picLocks noChangeAspect="1"/>
          </p:cNvPicPr>
          <p:nvPr/>
        </p:nvPicPr>
        <p:blipFill>
          <a:blip r:embed="rId2"/>
          <a:stretch>
            <a:fillRect/>
          </a:stretch>
        </p:blipFill>
        <p:spPr>
          <a:xfrm>
            <a:off x="207580" y="185738"/>
            <a:ext cx="6256282" cy="3744290"/>
          </a:xfrm>
          <a:prstGeom prst="rect">
            <a:avLst/>
          </a:prstGeom>
        </p:spPr>
      </p:pic>
      <p:pic>
        <p:nvPicPr>
          <p:cNvPr id="7" name="圖片 6">
            <a:extLst>
              <a:ext uri="{FF2B5EF4-FFF2-40B4-BE49-F238E27FC236}">
                <a16:creationId xmlns:a16="http://schemas.microsoft.com/office/drawing/2014/main" id="{F8A30C21-8F76-41E5-8C3F-F1427207C4B1}"/>
              </a:ext>
            </a:extLst>
          </p:cNvPr>
          <p:cNvPicPr>
            <a:picLocks noChangeAspect="1"/>
          </p:cNvPicPr>
          <p:nvPr/>
        </p:nvPicPr>
        <p:blipFill>
          <a:blip r:embed="rId3"/>
          <a:stretch>
            <a:fillRect/>
          </a:stretch>
        </p:blipFill>
        <p:spPr>
          <a:xfrm>
            <a:off x="7164770" y="491020"/>
            <a:ext cx="4819650" cy="3133725"/>
          </a:xfrm>
          <a:prstGeom prst="rect">
            <a:avLst/>
          </a:prstGeom>
        </p:spPr>
      </p:pic>
      <p:pic>
        <p:nvPicPr>
          <p:cNvPr id="9" name="圖片 8">
            <a:extLst>
              <a:ext uri="{FF2B5EF4-FFF2-40B4-BE49-F238E27FC236}">
                <a16:creationId xmlns:a16="http://schemas.microsoft.com/office/drawing/2014/main" id="{419B925C-9129-43A2-B564-FBE3B8E311E4}"/>
              </a:ext>
            </a:extLst>
          </p:cNvPr>
          <p:cNvPicPr>
            <a:picLocks noChangeAspect="1"/>
          </p:cNvPicPr>
          <p:nvPr/>
        </p:nvPicPr>
        <p:blipFill>
          <a:blip r:embed="rId4"/>
          <a:stretch>
            <a:fillRect/>
          </a:stretch>
        </p:blipFill>
        <p:spPr>
          <a:xfrm>
            <a:off x="10487025" y="4591050"/>
            <a:ext cx="1704975" cy="2266950"/>
          </a:xfrm>
          <a:prstGeom prst="rect">
            <a:avLst/>
          </a:prstGeom>
        </p:spPr>
      </p:pic>
      <p:pic>
        <p:nvPicPr>
          <p:cNvPr id="11" name="圖片 10">
            <a:extLst>
              <a:ext uri="{FF2B5EF4-FFF2-40B4-BE49-F238E27FC236}">
                <a16:creationId xmlns:a16="http://schemas.microsoft.com/office/drawing/2014/main" id="{AA5FD278-55E1-4A63-A744-378D0061FD9C}"/>
              </a:ext>
            </a:extLst>
          </p:cNvPr>
          <p:cNvPicPr>
            <a:picLocks noChangeAspect="1"/>
          </p:cNvPicPr>
          <p:nvPr/>
        </p:nvPicPr>
        <p:blipFill>
          <a:blip r:embed="rId5"/>
          <a:stretch>
            <a:fillRect/>
          </a:stretch>
        </p:blipFill>
        <p:spPr>
          <a:xfrm>
            <a:off x="3199427" y="5312568"/>
            <a:ext cx="3458547" cy="1204913"/>
          </a:xfrm>
          <a:prstGeom prst="rect">
            <a:avLst/>
          </a:prstGeom>
        </p:spPr>
      </p:pic>
      <p:pic>
        <p:nvPicPr>
          <p:cNvPr id="13" name="圖片 12">
            <a:extLst>
              <a:ext uri="{FF2B5EF4-FFF2-40B4-BE49-F238E27FC236}">
                <a16:creationId xmlns:a16="http://schemas.microsoft.com/office/drawing/2014/main" id="{4BC021D1-B826-4A5B-87DD-4E028B9E3023}"/>
              </a:ext>
            </a:extLst>
          </p:cNvPr>
          <p:cNvPicPr>
            <a:picLocks noChangeAspect="1"/>
          </p:cNvPicPr>
          <p:nvPr/>
        </p:nvPicPr>
        <p:blipFill>
          <a:blip r:embed="rId6"/>
          <a:stretch>
            <a:fillRect/>
          </a:stretch>
        </p:blipFill>
        <p:spPr>
          <a:xfrm>
            <a:off x="838200" y="4233862"/>
            <a:ext cx="1990725" cy="2438400"/>
          </a:xfrm>
          <a:prstGeom prst="rect">
            <a:avLst/>
          </a:prstGeom>
        </p:spPr>
      </p:pic>
      <p:pic>
        <p:nvPicPr>
          <p:cNvPr id="15" name="圖片 14">
            <a:extLst>
              <a:ext uri="{FF2B5EF4-FFF2-40B4-BE49-F238E27FC236}">
                <a16:creationId xmlns:a16="http://schemas.microsoft.com/office/drawing/2014/main" id="{33B89DB0-1364-4C96-BB12-1AFF12EEC5AC}"/>
              </a:ext>
            </a:extLst>
          </p:cNvPr>
          <p:cNvPicPr>
            <a:picLocks noChangeAspect="1"/>
          </p:cNvPicPr>
          <p:nvPr/>
        </p:nvPicPr>
        <p:blipFill>
          <a:blip r:embed="rId7"/>
          <a:stretch>
            <a:fillRect/>
          </a:stretch>
        </p:blipFill>
        <p:spPr>
          <a:xfrm>
            <a:off x="7043068" y="5700713"/>
            <a:ext cx="3381375" cy="952500"/>
          </a:xfrm>
          <a:prstGeom prst="rect">
            <a:avLst/>
          </a:prstGeom>
        </p:spPr>
      </p:pic>
    </p:spTree>
    <p:extLst>
      <p:ext uri="{BB962C8B-B14F-4D97-AF65-F5344CB8AC3E}">
        <p14:creationId xmlns:p14="http://schemas.microsoft.com/office/powerpoint/2010/main" val="2945248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D09C3D-F30E-4391-83A7-382ADEDC662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B257438-0803-46BD-9E67-6B52084B2103}"/>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297C07B1-8AF1-4324-8D38-5B15515A478D}"/>
              </a:ext>
            </a:extLst>
          </p:cNvPr>
          <p:cNvPicPr>
            <a:picLocks noChangeAspect="1"/>
          </p:cNvPicPr>
          <p:nvPr/>
        </p:nvPicPr>
        <p:blipFill>
          <a:blip r:embed="rId2"/>
          <a:stretch>
            <a:fillRect/>
          </a:stretch>
        </p:blipFill>
        <p:spPr>
          <a:xfrm>
            <a:off x="361949" y="0"/>
            <a:ext cx="10187283" cy="6003594"/>
          </a:xfrm>
          <a:prstGeom prst="rect">
            <a:avLst/>
          </a:prstGeom>
        </p:spPr>
      </p:pic>
      <p:pic>
        <p:nvPicPr>
          <p:cNvPr id="7" name="圖片 6">
            <a:extLst>
              <a:ext uri="{FF2B5EF4-FFF2-40B4-BE49-F238E27FC236}">
                <a16:creationId xmlns:a16="http://schemas.microsoft.com/office/drawing/2014/main" id="{B0963151-8A8F-4E9E-AEDE-974305D66830}"/>
              </a:ext>
            </a:extLst>
          </p:cNvPr>
          <p:cNvPicPr>
            <a:picLocks noChangeAspect="1"/>
          </p:cNvPicPr>
          <p:nvPr/>
        </p:nvPicPr>
        <p:blipFill>
          <a:blip r:embed="rId3"/>
          <a:stretch>
            <a:fillRect/>
          </a:stretch>
        </p:blipFill>
        <p:spPr>
          <a:xfrm>
            <a:off x="386814" y="6311900"/>
            <a:ext cx="2324903" cy="347000"/>
          </a:xfrm>
          <a:prstGeom prst="rect">
            <a:avLst/>
          </a:prstGeom>
        </p:spPr>
      </p:pic>
    </p:spTree>
    <p:extLst>
      <p:ext uri="{BB962C8B-B14F-4D97-AF65-F5344CB8AC3E}">
        <p14:creationId xmlns:p14="http://schemas.microsoft.com/office/powerpoint/2010/main" val="3377904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AD5495-221F-47B1-B657-5B73A2BBD9E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BDF0D255-B20E-499D-AC89-647F31C61CC2}"/>
              </a:ext>
            </a:extLst>
          </p:cNvPr>
          <p:cNvSpPr>
            <a:spLocks noGrp="1"/>
          </p:cNvSpPr>
          <p:nvPr>
            <p:ph idx="1"/>
          </p:nvPr>
        </p:nvSpPr>
        <p:spPr/>
        <p:txBody>
          <a:bodyPr/>
          <a:lstStyle/>
          <a:p>
            <a:pPr marL="0" indent="0">
              <a:buNone/>
            </a:pPr>
            <a:r>
              <a:rPr lang="en-US" altLang="zh-TW" dirty="0"/>
              <a:t>Thanks for listening.</a:t>
            </a:r>
            <a:endParaRPr lang="zh-TW" altLang="en-US" dirty="0"/>
          </a:p>
        </p:txBody>
      </p:sp>
    </p:spTree>
    <p:extLst>
      <p:ext uri="{BB962C8B-B14F-4D97-AF65-F5344CB8AC3E}">
        <p14:creationId xmlns:p14="http://schemas.microsoft.com/office/powerpoint/2010/main" val="1019501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2A7CAB-498F-4AC0-A163-F335DD067BD6}"/>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E04C304-63C1-4EAE-A6B5-D65468DB61E3}"/>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C17CB663-C04F-47E1-9C37-B5ED17A6AC1D}"/>
              </a:ext>
            </a:extLst>
          </p:cNvPr>
          <p:cNvPicPr>
            <a:picLocks noChangeAspect="1"/>
          </p:cNvPicPr>
          <p:nvPr/>
        </p:nvPicPr>
        <p:blipFill>
          <a:blip r:embed="rId2"/>
          <a:stretch>
            <a:fillRect/>
          </a:stretch>
        </p:blipFill>
        <p:spPr>
          <a:xfrm rot="16200000">
            <a:off x="2484853" y="-1442403"/>
            <a:ext cx="5688440" cy="8981747"/>
          </a:xfrm>
          <a:prstGeom prst="rect">
            <a:avLst/>
          </a:prstGeom>
        </p:spPr>
      </p:pic>
    </p:spTree>
    <p:extLst>
      <p:ext uri="{BB962C8B-B14F-4D97-AF65-F5344CB8AC3E}">
        <p14:creationId xmlns:p14="http://schemas.microsoft.com/office/powerpoint/2010/main" val="365184601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報paper範本" id="{69A26A74-F2D4-4C4E-8979-71B91039FD65}" vid="{BF5BF2FF-57E1-4805-99F6-A663F732E57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報paper範本</Template>
  <TotalTime>4166</TotalTime>
  <Words>1874</Words>
  <Application>Microsoft Office PowerPoint</Application>
  <PresentationFormat>寬螢幕</PresentationFormat>
  <Paragraphs>822</Paragraphs>
  <Slides>31</Slides>
  <Notes>5</Notes>
  <HiddenSlides>4</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31</vt:i4>
      </vt:variant>
    </vt:vector>
  </HeadingPairs>
  <TitlesOfParts>
    <vt:vector size="38" baseType="lpstr">
      <vt:lpstr>NexusSans</vt:lpstr>
      <vt:lpstr>標楷體</vt:lpstr>
      <vt:lpstr>Arial</vt:lpstr>
      <vt:lpstr>Calibri</vt:lpstr>
      <vt:lpstr>Cambria Math</vt:lpstr>
      <vt:lpstr>Times New Roman</vt:lpstr>
      <vt:lpstr>Office 佈景主題</vt:lpstr>
      <vt:lpstr>Modified HEFT Algorithm for Task Scheduling in Cloud Environment</vt:lpstr>
      <vt:lpstr>Abstract</vt:lpstr>
      <vt:lpstr>PowerPoint 簡報</vt:lpstr>
      <vt:lpstr>PowerPoint 簡報</vt:lpstr>
      <vt:lpstr>PowerPoint 簡報</vt:lpstr>
      <vt:lpstr>PowerPoint 簡報</vt:lpstr>
      <vt:lpstr>PowerPoint 簡報</vt:lpstr>
      <vt:lpstr>Modify HEFT</vt:lpstr>
      <vt:lpstr>PowerPoint 簡報</vt:lpstr>
      <vt:lpstr>PowerPoint 簡報</vt:lpstr>
      <vt:lpstr>PowerPoint 簡報</vt:lpstr>
      <vt:lpstr>PowerPoint 簡報</vt:lpstr>
      <vt:lpstr>HEFT</vt:lpstr>
      <vt:lpstr>CPOP</vt:lpstr>
      <vt:lpstr>Conclusion</vt:lpstr>
      <vt:lpstr>PowerPoint 簡報</vt:lpstr>
      <vt:lpstr>GRP-HEFT: A Budget-Constrained Resource Provisioning Scheme for Workflow Scheduling in IaaS Clouds</vt:lpstr>
      <vt:lpstr>Abstract</vt:lpstr>
      <vt:lpstr>https://aws.amazon.com/tw/ec2/instance-types/ </vt:lpstr>
      <vt:lpstr>PowerPoint 簡報</vt:lpstr>
      <vt:lpstr>Parameter</vt:lpstr>
      <vt:lpstr>PowerPoint 簡報</vt:lpstr>
      <vt:lpstr>PowerPoint 簡報</vt:lpstr>
      <vt:lpstr>PowerPoint 簡報</vt:lpstr>
      <vt:lpstr>difference</vt:lpstr>
      <vt:lpstr>difference</vt:lpstr>
      <vt:lpstr>difference</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jj wu</dc:creator>
  <cp:lastModifiedBy>jj wu</cp:lastModifiedBy>
  <cp:revision>17</cp:revision>
  <dcterms:created xsi:type="dcterms:W3CDTF">2021-11-17T06:05:21Z</dcterms:created>
  <dcterms:modified xsi:type="dcterms:W3CDTF">2021-11-30T11:45:50Z</dcterms:modified>
</cp:coreProperties>
</file>