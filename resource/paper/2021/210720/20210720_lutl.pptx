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  <p:sldId id="265" r:id="rId11"/>
    <p:sldId id="278" r:id="rId12"/>
    <p:sldId id="266" r:id="rId13"/>
    <p:sldId id="279" r:id="rId14"/>
    <p:sldId id="270" r:id="rId15"/>
    <p:sldId id="267" r:id="rId16"/>
    <p:sldId id="268" r:id="rId17"/>
    <p:sldId id="269" r:id="rId18"/>
    <p:sldId id="271" r:id="rId19"/>
    <p:sldId id="272" r:id="rId20"/>
    <p:sldId id="280" r:id="rId21"/>
    <p:sldId id="277" r:id="rId22"/>
    <p:sldId id="274" r:id="rId2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50"/>
  </p:normalViewPr>
  <p:slideViewPr>
    <p:cSldViewPr snapToGrid="0" snapToObjects="1">
      <p:cViewPr varScale="1">
        <p:scale>
          <a:sx n="120" d="100"/>
          <a:sy n="120" d="100"/>
        </p:scale>
        <p:origin x="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45559-0BFE-4344-9B65-AF2AA4340070}" type="datetimeFigureOut">
              <a:rPr kumimoji="1" lang="zh-TW" altLang="en-US" smtClean="0"/>
              <a:t>2021/7/20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43E2FF-3FFC-0943-9A0D-A0B13F46FEC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21076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43E2FF-3FFC-0943-9A0D-A0B13F46FECA}" type="slidenum">
              <a:rPr kumimoji="1" lang="zh-TW" altLang="en-US" smtClean="0"/>
              <a:t>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60047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9CACA6-C67C-E541-892B-44D0091E4B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1CC1734-2905-E64F-A631-54B4414165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 dirty="0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52928DA-44E4-074F-8536-26603EBDA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94305-8CA1-9449-A556-67D5085A7FA1}" type="datetime1">
              <a:rPr kumimoji="1" lang="zh-TW" altLang="en-US" smtClean="0"/>
              <a:t>2021/7/20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CB0FA4-ABBE-BA4C-8404-566B691D0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36B4FD5-66AB-9441-90B5-4BBD60219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81404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70AF28-EC81-FE4B-89D9-F2E8D07FC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8F01FE-63E4-B148-8F63-BA8CC19DF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CDDCB10-D67B-2F49-9257-3F53E655A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A69C4-18F5-3B4F-9726-B61210AF53BB}" type="datetime1">
              <a:rPr kumimoji="1" lang="zh-TW" altLang="en-US" smtClean="0"/>
              <a:t>2021/7/20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E383F78-9598-D74D-9292-89EFE69D1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BD1EF3F-2214-5B47-9FDA-094F6F6F1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45AB94F7-1CE9-3B41-8002-0A2CB67662D8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39286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0EA4F2-2540-1244-B139-F15C25B79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2C54D3C-13C8-6242-8D0C-509D67681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9742759-9CB6-6844-818C-D784DC9DD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1A6B9-6F66-C749-9323-08ACCB0475DF}" type="datetime1">
              <a:rPr kumimoji="1" lang="zh-TW" altLang="en-US" smtClean="0"/>
              <a:t>2021/7/20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AF6B2C8-E956-014A-989F-C4986EEC9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4FE7166-F2BC-6E41-A489-D4F1F176A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98025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D5B0B7-A085-074E-8B77-3B759476B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DE2419-98D0-C748-9D81-FD99D10E89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E7429AE-8C31-D64A-9CAF-84EF9D9F81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54F1935-3D64-C547-BE1F-E5DF5E3EA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A61A4-81BF-334B-8D80-CA36701FDA35}" type="datetime1">
              <a:rPr kumimoji="1" lang="zh-TW" altLang="en-US" smtClean="0"/>
              <a:t>2021/7/20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12AB15C-9B5B-D44D-B16C-11EF813D9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5CFBA30-686E-724D-9244-E9E644067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1584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12BDD6-FE7A-F545-960D-362C66F47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7F6F60D-37BA-C242-9A1E-32FEB8CCC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9BCDA43-0B87-A645-8BE0-2EA0C0A6B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5D48957-078C-7444-A985-ACC5552F25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FEF868D-291B-394E-9BE2-D02FA1CD3C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EA16361-4974-3C4E-9136-7688A755D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A022A-5F93-5C4C-B16C-BEC73CEE6E54}" type="datetime1">
              <a:rPr kumimoji="1" lang="zh-TW" altLang="en-US" smtClean="0"/>
              <a:t>2021/7/20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56ED032-8661-E941-88E1-00C969420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B13C977-9E60-0840-8F60-2746A6806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79835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B53D1F-CD49-4A47-8161-81E7049E7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7BAD2FC-9DAA-7243-A022-A4F61BF19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925CB-9510-9341-9576-9B12ECEC775E}" type="datetime1">
              <a:rPr kumimoji="1" lang="zh-TW" altLang="en-US" smtClean="0"/>
              <a:t>2021/7/20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B08567B-6FC5-FE42-99C1-56DE3E0EA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DF5BEE7-69BC-3243-92F7-9D56CF1E4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94566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472B68F-CE5E-8E42-845E-216799E93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0CE8D-F82D-A84C-87DC-2C4A6AB68E2E}" type="datetime1">
              <a:rPr kumimoji="1" lang="zh-TW" altLang="en-US" smtClean="0"/>
              <a:t>2021/7/20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AE25D5B-72BF-8541-BB27-109E74F63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4D9627B-7493-DE49-BED1-D957B96B6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5284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D33F3F-E533-ED46-B706-B8230FBE3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923F0ED-E028-4D48-ACE1-92415A0E0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9259B9D-B493-EE4A-8F83-9E517D43A3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647DBB5-D8D1-9C4B-958E-74CA3C356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C0FAD-89C5-7F43-A773-FAE777B2C9F1}" type="datetime1">
              <a:rPr kumimoji="1" lang="zh-TW" altLang="en-US" smtClean="0"/>
              <a:t>2021/7/20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DD9DD0B-97B7-7C48-9FAF-367CEFEAD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F04DAF6-0748-E746-B095-EDD0BFA0C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34485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B7AA03-AD9D-9B4F-BF9A-0D182E130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0629E92-D1EC-7541-B377-00C9F825B7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9365C22-4E8D-5446-A436-EA77B69D7F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B89063B-A0C5-524B-897E-9D14FAA16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FB9B9-8EF2-A94F-98A1-225287ED6E40}" type="datetime1">
              <a:rPr kumimoji="1" lang="zh-TW" altLang="en-US" smtClean="0"/>
              <a:t>2021/7/20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FCC9C8F-50DB-0448-BAE3-DCD747D6E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E76F315-F817-7046-B413-386F67177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16739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AAEEB8-BF61-0D4B-91E0-B11EF6EA0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92FAE11-B217-A441-BF40-6E86BC4895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718463-BF67-834B-B2DE-31F68E452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B0978-9282-A443-81EE-087251DCE16D}" type="datetime1">
              <a:rPr kumimoji="1" lang="zh-TW" altLang="en-US" smtClean="0"/>
              <a:t>2021/7/20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594982C-896E-4149-99DD-209F8E8C0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6603828-B8BB-9B4D-B2DF-DD10F4CAE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64934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35947D6-AA8E-8847-82ED-F06115AA28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F700A80-132C-4840-9A7C-C78D2A2400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617639-2B7B-124E-964F-8866AB883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08DF5-4A34-8D4B-8D26-525AA81604B2}" type="datetime1">
              <a:rPr kumimoji="1" lang="zh-TW" altLang="en-US" smtClean="0"/>
              <a:t>2021/7/20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438D0C4-A114-014D-8492-65B3EEDD1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18114EB-9F4C-BE4F-9F99-D7A2DEEC2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08371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3116FCC-9057-794F-A6BD-9239D6867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F71D68C-1C2E-1C49-B4D5-25F62E8AE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ECE1990-52AC-F546-8798-90353A0395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A140CC-F999-A946-9373-08EAE304F3C9}" type="datetime1">
              <a:rPr kumimoji="1" lang="zh-TW" altLang="en-US" smtClean="0"/>
              <a:t>2021/7/20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EB22EAC-653F-C544-A1B0-BE186C1781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26F20A4-E6B9-D241-B29C-161E27408E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97430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A1336C-440D-2E43-904F-AABB45E64E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9591" y="385027"/>
            <a:ext cx="10412819" cy="3124936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Multiple Sequence Alignment with Hidden Markov Models Learned by Random Drift Particle Swarm Optimization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D611AA7-209A-4449-AB65-A25622930A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4651" y="3602038"/>
            <a:ext cx="10242698" cy="2224604"/>
          </a:xfrm>
        </p:spPr>
        <p:txBody>
          <a:bodyPr>
            <a:norm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 Sun,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Vasile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Palade,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Xiaojun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Wu, and Wei Fang</a:t>
            </a:r>
          </a:p>
          <a:p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IEEE/ACM Transactions on Computational Biology and Bioinformatics</a:t>
            </a:r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2014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vol. 11, no. 1, pp. 243-257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F1141FC-B145-834E-9139-2A899AB73EAA}"/>
              </a:ext>
            </a:extLst>
          </p:cNvPr>
          <p:cNvSpPr txBox="1"/>
          <p:nvPr/>
        </p:nvSpPr>
        <p:spPr>
          <a:xfrm>
            <a:off x="9165265" y="5826642"/>
            <a:ext cx="24919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 Tsung-Lin Lu</a:t>
            </a:r>
          </a:p>
          <a:p>
            <a:pPr algn="r"/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July 20, 2021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233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Abstract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 Markov Models (HMMs) are powerful tools for multiple sequence alignment (MSA), which is known to be an NP-complete and important problem in bioinformatics. </a:t>
            </a:r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HMMs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difficult task, and many meta-heuristic methods, including particle swarm optimization (PSO), have been used for that. In this paper, a new variant of PSO, called the </a:t>
            </a:r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drift particle swarm optimization (RDPSO)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algorithm, is proposed to be used for HMM learning tasks in MSA problems. The proposed RDPSO algorithm, inspired by the </a:t>
            </a:r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electron model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metal conductors in an external electric field, employs a novel set of evolution equations that can enhance the global search ability of the algorithm. 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36690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Abstract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Moreover, in order to further enhance the algorithmic performance of the RDPSO, we incorporate a diversity control method into the algorithm and, thus, propose an RDPSO with </a:t>
            </a:r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diversity-guided search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(RDPSO-DGS). The performances of the RDPSO, RDPSO-DGS and other algorithms are tested and compared by learning HMMs for MSA on two well-known benchmark data sets. The experimental results show that the HMMs learned by the RDPSO and RDPSO-DGS are able to generate better alignments for the benchmark data sets than other most commonly used HMM learning methods, such as the Baum-Welch and other PSO algorithms. The performance comparison with well-known MSA programs, such as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ClustalW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MAFFT, also shows that the proposed methods have advantages in multiple sequence alignment.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54944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Outline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665"/>
            <a:ext cx="10515600" cy="4895850"/>
          </a:xfrm>
        </p:spPr>
        <p:txBody>
          <a:bodyPr>
            <a:norm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 Markov Models (HMMs)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Forwarding algorithm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Viterbi algorithm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function</a:t>
            </a:r>
          </a:p>
          <a:p>
            <a:pPr lvl="1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Log-odds score (LO)</a:t>
            </a:r>
          </a:p>
          <a:p>
            <a:pPr lvl="1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Sum-of-pairs score (SOP)</a:t>
            </a:r>
          </a:p>
          <a:p>
            <a:pPr lvl="1"/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Particle Swarm Optimization (PSO)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Drift Particle Swarm Optimization (RDPSO)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Diversity-guided search (DGS)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22472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Hidden Markov Models (HMMs)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4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4C7979A-B50D-4844-BB18-E68F53EC69D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2978"/>
          <a:stretch/>
        </p:blipFill>
        <p:spPr>
          <a:xfrm>
            <a:off x="2464469" y="2157931"/>
            <a:ext cx="8575450" cy="4165053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A48E7378-FBDF-404D-93E0-31DC62668A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096" r="33008" b="64651"/>
          <a:stretch/>
        </p:blipFill>
        <p:spPr>
          <a:xfrm>
            <a:off x="5646150" y="1316173"/>
            <a:ext cx="5393769" cy="908845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BA4EB8A0-27E6-3949-9FB9-0BD0072006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568" t="6068" r="55185" b="78515"/>
          <a:stretch/>
        </p:blipFill>
        <p:spPr>
          <a:xfrm>
            <a:off x="1081822" y="1640010"/>
            <a:ext cx="2765294" cy="156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282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The three basic problems for HMMs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59079"/>
          </a:xfrm>
        </p:spPr>
        <p:txBody>
          <a:bodyPr>
            <a:normAutofit/>
          </a:bodyPr>
          <a:lstStyle/>
          <a:p>
            <a:pPr algn="just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the observation sequence 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Ο =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…O</a:t>
            </a:r>
            <a:r>
              <a:rPr kumimoji="1"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 model 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 = (Α,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Β,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π)</a:t>
            </a: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state </a:t>
            </a:r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probability distribution </a:t>
            </a:r>
          </a:p>
          <a:p>
            <a:pPr lvl="1" algn="just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symbol probability distribution</a:t>
            </a:r>
          </a:p>
          <a:p>
            <a:pPr lvl="1" algn="just"/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state distribution</a:t>
            </a:r>
          </a:p>
          <a:p>
            <a:pPr algn="just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#1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we </a:t>
            </a:r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efficiently compute </a:t>
            </a:r>
            <a:r>
              <a:rPr kumimoji="1" lang="el-GR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Ρ(</a:t>
            </a:r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el-GR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|λ),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probability of the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 sequence, given the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model?</a:t>
            </a:r>
          </a:p>
          <a:p>
            <a:pPr algn="just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#2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we choose </a:t>
            </a:r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corresponding state sequence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= q</a:t>
            </a:r>
            <a:r>
              <a:rPr kumimoji="1"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kumimoji="1"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kumimoji="1"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which is optimal in some meaningful sense?</a:t>
            </a:r>
          </a:p>
          <a:p>
            <a:pPr algn="just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#3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we </a:t>
            </a:r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 the model parameters 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 = (Α,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Β,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π)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maximize 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Ρ(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|λ)?</a:t>
            </a: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5</a:t>
            </a:fld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1410961-D842-8F4C-99CF-798B84C46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712" y="2390850"/>
            <a:ext cx="3245088" cy="1250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17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#1 Forwarding algorithm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6</a:t>
            </a:fld>
            <a:endParaRPr kumimoji="1" lang="zh-TW" altLang="en-US"/>
          </a:p>
        </p:txBody>
      </p:sp>
      <p:pic>
        <p:nvPicPr>
          <p:cNvPr id="12" name="內容版面配置區 4" descr="一張含有 文字 的圖片&#10;&#10;自動產生的描述">
            <a:extLst>
              <a:ext uri="{FF2B5EF4-FFF2-40B4-BE49-F238E27FC236}">
                <a16:creationId xmlns:a16="http://schemas.microsoft.com/office/drawing/2014/main" id="{A2C3A86A-58C7-8747-B10B-791624EBD1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23" b="32109"/>
          <a:stretch/>
        </p:blipFill>
        <p:spPr>
          <a:xfrm>
            <a:off x="5917035" y="1417194"/>
            <a:ext cx="4782837" cy="1945758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DFC9FF2D-CB3B-394F-8FC5-AB21D245BA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744" y="1483243"/>
            <a:ext cx="4212272" cy="4748520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85650D92-38D9-3145-A750-F8509E4EA2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6763" y="3383723"/>
            <a:ext cx="4986670" cy="2853535"/>
          </a:xfrm>
          <a:prstGeom prst="rect">
            <a:avLst/>
          </a:prstGeom>
        </p:spPr>
      </p:pic>
      <p:sp>
        <p:nvSpPr>
          <p:cNvPr id="22" name="文字方塊 21">
            <a:extLst>
              <a:ext uri="{FF2B5EF4-FFF2-40B4-BE49-F238E27FC236}">
                <a16:creationId xmlns:a16="http://schemas.microsoft.com/office/drawing/2014/main" id="{1AAEF515-04D3-EB4A-AAA8-47B44FB11436}"/>
              </a:ext>
            </a:extLst>
          </p:cNvPr>
          <p:cNvSpPr txBox="1"/>
          <p:nvPr/>
        </p:nvSpPr>
        <p:spPr>
          <a:xfrm>
            <a:off x="958743" y="6347635"/>
            <a:ext cx="3145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Enumeration O(N</a:t>
            </a:r>
            <a:r>
              <a:rPr kumimoji="1"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T)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A2E65294-6A0D-4549-9B40-C1A141E85A9A}"/>
              </a:ext>
            </a:extLst>
          </p:cNvPr>
          <p:cNvSpPr txBox="1"/>
          <p:nvPr/>
        </p:nvSpPr>
        <p:spPr>
          <a:xfrm>
            <a:off x="5917034" y="6347635"/>
            <a:ext cx="3386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Forwarding O(N</a:t>
            </a:r>
            <a:r>
              <a:rPr kumimoji="1"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T)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6295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#2 Viterbi algorithm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7</a:t>
            </a:fld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4B3AB9E-8BBC-4E42-9BD4-D16741E98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556" y="2135497"/>
            <a:ext cx="6165113" cy="3607733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6205ECE5-F839-254F-91D8-05BBC4B01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560022"/>
            <a:ext cx="4568989" cy="4691922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2529641-A858-A44A-A3FA-DEFA61AE27ED}"/>
              </a:ext>
            </a:extLst>
          </p:cNvPr>
          <p:cNvSpPr/>
          <p:nvPr/>
        </p:nvSpPr>
        <p:spPr>
          <a:xfrm>
            <a:off x="5700556" y="5882612"/>
            <a:ext cx="18716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TW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c. Viterbi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</a:t>
            </a:r>
            <a:r>
              <a:rPr kumimoji="1"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T)</a:t>
            </a:r>
            <a:endParaRPr lang="zh-TW" altLang="en-US" dirty="0"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841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Objective function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Log-odds score (LO)</a:t>
            </a:r>
          </a:p>
          <a:p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Sum-of-pairs score (SOP)</a:t>
            </a:r>
          </a:p>
          <a:p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8</a:t>
            </a:fld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13F5180-4E2E-034D-A3A5-30351FC41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008" y="2405174"/>
            <a:ext cx="5472076" cy="930169"/>
          </a:xfrm>
          <a:prstGeom prst="rect">
            <a:avLst/>
          </a:prstGeom>
        </p:spPr>
      </p:pic>
      <p:pic>
        <p:nvPicPr>
          <p:cNvPr id="7" name="圖片 6" descr="一張含有 文字 的圖片&#10;&#10;自動產生的描述">
            <a:extLst>
              <a:ext uri="{FF2B5EF4-FFF2-40B4-BE49-F238E27FC236}">
                <a16:creationId xmlns:a16="http://schemas.microsoft.com/office/drawing/2014/main" id="{999559F1-4622-C048-80BF-B3EDE8CD6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4663" y="3945749"/>
            <a:ext cx="4181166" cy="174300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ED0A47D5-8B22-C349-896E-96D0F05AA3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008" y="3945749"/>
            <a:ext cx="5448847" cy="924483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84D85FB8-405C-824F-976B-009FB1564E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008" y="5068865"/>
            <a:ext cx="1524438" cy="41177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16CF423-122F-9245-9BDB-3B48911E0211}"/>
              </a:ext>
            </a:extLst>
          </p:cNvPr>
          <p:cNvSpPr/>
          <p:nvPr/>
        </p:nvSpPr>
        <p:spPr>
          <a:xfrm>
            <a:off x="6828611" y="2811802"/>
            <a:ext cx="37144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141413"/>
                </a:solidFill>
                <a:latin typeface="Times" pitchFamily="2" charset="0"/>
              </a:rPr>
              <a:t>a random model is chosen as the 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kumimoji="1"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endParaRPr lang="en-US" altLang="zh-TW" baseline="-25000" dirty="0">
              <a:solidFill>
                <a:srgbClr val="141413"/>
              </a:solidFill>
              <a:effectLst/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2658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內容版面配置區 2">
            <a:extLst>
              <a:ext uri="{FF2B5EF4-FFF2-40B4-BE49-F238E27FC236}">
                <a16:creationId xmlns:a16="http://schemas.microsoft.com/office/drawing/2014/main" id="{A1F7EBB4-D071-3B4F-A98E-30304CCB2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velocity </a:t>
            </a:r>
          </a:p>
          <a:p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solidFill>
                  <a:srgbClr val="141413"/>
                </a:solidFill>
                <a:latin typeface="Times" pitchFamily="2" charset="0"/>
              </a:rPr>
              <a:t>Update position</a:t>
            </a: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51288" cy="1325563"/>
          </a:xfrm>
        </p:spPr>
        <p:txBody>
          <a:bodyPr/>
          <a:lstStyle/>
          <a:p>
            <a:r>
              <a:rPr kumimoji="1" lang="en-US" altLang="zh-TW" dirty="0"/>
              <a:t>Particle swarm optimization (PSO)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9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493D08C-CE3A-0040-ACFF-6CB434B08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458" y="2578276"/>
            <a:ext cx="9258300" cy="74930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DB7F3624-99E0-564E-8112-DD47CE27B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353" y="4001294"/>
            <a:ext cx="3657600" cy="723900"/>
          </a:xfrm>
          <a:prstGeom prst="rect">
            <a:avLst/>
          </a:prstGeom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075A3021-44EE-494B-A2EA-E8FBB9DA20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4502" y="3221247"/>
            <a:ext cx="4527698" cy="3572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2622690A-6E2F-1547-8AD0-6ADFD3218648}"/>
              </a:ext>
            </a:extLst>
          </p:cNvPr>
          <p:cNvSpPr txBox="1"/>
          <p:nvPr/>
        </p:nvSpPr>
        <p:spPr>
          <a:xfrm>
            <a:off x="5011566" y="2209126"/>
            <a:ext cx="9621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8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Pbest</a:t>
            </a:r>
            <a:endParaRPr kumimoji="1" lang="zh-TW" altLang="en-US" sz="28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314F9DE4-EA42-194C-9E17-7F4208A04B6A}"/>
              </a:ext>
            </a:extLst>
          </p:cNvPr>
          <p:cNvSpPr txBox="1"/>
          <p:nvPr/>
        </p:nvSpPr>
        <p:spPr>
          <a:xfrm>
            <a:off x="8172980" y="2209126"/>
            <a:ext cx="10214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Gbest</a:t>
            </a:r>
            <a:endParaRPr kumimoji="1" lang="zh-TW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BA2A18F0-8BC1-CA45-9CEB-6D65A377F98E}"/>
              </a:ext>
            </a:extLst>
          </p:cNvPr>
          <p:cNvSpPr txBox="1"/>
          <p:nvPr/>
        </p:nvSpPr>
        <p:spPr>
          <a:xfrm>
            <a:off x="2408125" y="2209126"/>
            <a:ext cx="12811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8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</a:t>
            </a:r>
            <a:endParaRPr kumimoji="1" lang="zh-TW" altLang="en-US" sz="28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6219326A-F90B-3043-B48F-2EFE2C2A5011}"/>
              </a:ext>
            </a:extLst>
          </p:cNvPr>
          <p:cNvCxnSpPr>
            <a:cxnSpLocks/>
          </p:cNvCxnSpPr>
          <p:nvPr/>
        </p:nvCxnSpPr>
        <p:spPr>
          <a:xfrm>
            <a:off x="2458578" y="3285044"/>
            <a:ext cx="1180214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25AE315B-067E-F04E-A0FD-9FBF6FD32E12}"/>
              </a:ext>
            </a:extLst>
          </p:cNvPr>
          <p:cNvCxnSpPr>
            <a:cxnSpLocks/>
          </p:cNvCxnSpPr>
          <p:nvPr/>
        </p:nvCxnSpPr>
        <p:spPr>
          <a:xfrm>
            <a:off x="4177595" y="3285044"/>
            <a:ext cx="2595345" cy="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FA1EE7E9-D94B-B942-A9CA-9A49890ACA41}"/>
              </a:ext>
            </a:extLst>
          </p:cNvPr>
          <p:cNvCxnSpPr>
            <a:cxnSpLocks/>
          </p:cNvCxnSpPr>
          <p:nvPr/>
        </p:nvCxnSpPr>
        <p:spPr>
          <a:xfrm>
            <a:off x="7384992" y="3285044"/>
            <a:ext cx="25974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橢圓 25">
            <a:extLst>
              <a:ext uri="{FF2B5EF4-FFF2-40B4-BE49-F238E27FC236}">
                <a16:creationId xmlns:a16="http://schemas.microsoft.com/office/drawing/2014/main" id="{87958BE3-C4AF-7A49-805C-AE9598C77674}"/>
              </a:ext>
            </a:extLst>
          </p:cNvPr>
          <p:cNvSpPr/>
          <p:nvPr/>
        </p:nvSpPr>
        <p:spPr>
          <a:xfrm>
            <a:off x="6772940" y="4069594"/>
            <a:ext cx="148855" cy="148855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3D73529B-784F-1D49-8BEE-2E4181FA4BA9}"/>
              </a:ext>
            </a:extLst>
          </p:cNvPr>
          <p:cNvSpPr/>
          <p:nvPr/>
        </p:nvSpPr>
        <p:spPr>
          <a:xfrm>
            <a:off x="8662429" y="4895447"/>
            <a:ext cx="148855" cy="14885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B668B652-26B6-754B-8598-8186A1B78441}"/>
              </a:ext>
            </a:extLst>
          </p:cNvPr>
          <p:cNvSpPr/>
          <p:nvPr/>
        </p:nvSpPr>
        <p:spPr>
          <a:xfrm>
            <a:off x="8172980" y="5451884"/>
            <a:ext cx="148855" cy="14885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CD82486-6C29-9E47-8F23-D8E11E06E3D7}"/>
              </a:ext>
            </a:extLst>
          </p:cNvPr>
          <p:cNvSpPr/>
          <p:nvPr/>
        </p:nvSpPr>
        <p:spPr>
          <a:xfrm>
            <a:off x="991915" y="4895447"/>
            <a:ext cx="3185680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141413"/>
                </a:solidFill>
                <a:latin typeface="Times" pitchFamily="2" charset="0"/>
              </a:rPr>
              <a:t>V</a:t>
            </a:r>
            <a:r>
              <a:rPr lang="zh-TW" altLang="en-US" dirty="0">
                <a:solidFill>
                  <a:srgbClr val="141413"/>
                </a:solidFill>
                <a:latin typeface="Times" pitchFamily="2" charset="0"/>
              </a:rPr>
              <a:t>：</a:t>
            </a:r>
            <a:r>
              <a:rPr kumimoji="1" lang="en-US" altLang="zh-TW" dirty="0">
                <a:solidFill>
                  <a:srgbClr val="1414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elocity</a:t>
            </a:r>
          </a:p>
          <a:p>
            <a:r>
              <a:rPr kumimoji="1" lang="en-US" altLang="zh-TW" dirty="0">
                <a:solidFill>
                  <a:srgbClr val="1414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zh-TW" altLang="en-US" dirty="0">
                <a:solidFill>
                  <a:srgbClr val="1414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kumimoji="1" lang="en-US" altLang="zh-TW" dirty="0">
                <a:solidFill>
                  <a:srgbClr val="1414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position</a:t>
            </a:r>
            <a:endParaRPr lang="en-US" altLang="zh-TW" dirty="0">
              <a:solidFill>
                <a:srgbClr val="141413"/>
              </a:solidFill>
              <a:latin typeface="Times" pitchFamily="2" charset="0"/>
            </a:endParaRPr>
          </a:p>
          <a:p>
            <a:r>
              <a:rPr lang="en-US" altLang="zh-TW" dirty="0">
                <a:solidFill>
                  <a:srgbClr val="141413"/>
                </a:solidFill>
                <a:latin typeface="Times" pitchFamily="2" charset="0"/>
              </a:rPr>
              <a:t>P</a:t>
            </a:r>
            <a:r>
              <a:rPr lang="zh-TW" altLang="en-US" dirty="0">
                <a:solidFill>
                  <a:srgbClr val="141413"/>
                </a:solidFill>
                <a:latin typeface="Times" pitchFamily="2" charset="0"/>
              </a:rPr>
              <a:t>：</a:t>
            </a:r>
            <a:r>
              <a:rPr lang="en-US" altLang="zh-TW" dirty="0">
                <a:solidFill>
                  <a:srgbClr val="141413"/>
                </a:solidFill>
                <a:latin typeface="Times" pitchFamily="2" charset="0"/>
              </a:rPr>
              <a:t>Personal best position</a:t>
            </a:r>
          </a:p>
          <a:p>
            <a:r>
              <a:rPr lang="en-US" altLang="zh-TW" dirty="0">
                <a:solidFill>
                  <a:srgbClr val="141413"/>
                </a:solidFill>
                <a:latin typeface="Times" pitchFamily="2" charset="0"/>
              </a:rPr>
              <a:t>G</a:t>
            </a:r>
            <a:r>
              <a:rPr lang="zh-TW" altLang="en-US" dirty="0">
                <a:solidFill>
                  <a:srgbClr val="141413"/>
                </a:solidFill>
                <a:latin typeface="Times" pitchFamily="2" charset="0"/>
              </a:rPr>
              <a:t>：</a:t>
            </a:r>
            <a:r>
              <a:rPr lang="en-US" altLang="zh-TW" dirty="0">
                <a:solidFill>
                  <a:srgbClr val="141413"/>
                </a:solidFill>
                <a:latin typeface="Times" pitchFamily="2" charset="0"/>
              </a:rPr>
              <a:t>Global best position</a:t>
            </a:r>
          </a:p>
          <a:p>
            <a:r>
              <a:rPr lang="en-US" altLang="zh-TW" dirty="0">
                <a:solidFill>
                  <a:srgbClr val="141413"/>
                </a:solidFill>
                <a:effectLst/>
                <a:latin typeface="Times" pitchFamily="2" charset="0"/>
              </a:rPr>
              <a:t>r, R</a:t>
            </a:r>
            <a:r>
              <a:rPr lang="zh-TW" altLang="en-US" dirty="0">
                <a:solidFill>
                  <a:srgbClr val="141413"/>
                </a:solidFill>
                <a:effectLst/>
                <a:latin typeface="Times" pitchFamily="2" charset="0"/>
              </a:rPr>
              <a:t>：</a:t>
            </a:r>
            <a:r>
              <a:rPr lang="en-US" altLang="zh-TW" dirty="0">
                <a:solidFill>
                  <a:srgbClr val="141413"/>
                </a:solidFill>
                <a:effectLst/>
                <a:latin typeface="Times" pitchFamily="2" charset="0"/>
              </a:rPr>
              <a:t>Random number</a:t>
            </a:r>
          </a:p>
          <a:p>
            <a:r>
              <a:rPr lang="en-US" altLang="zh-TW" dirty="0">
                <a:solidFill>
                  <a:srgbClr val="141413"/>
                </a:solidFill>
                <a:latin typeface="Times" pitchFamily="2" charset="0"/>
              </a:rPr>
              <a:t>w, c1, c2</a:t>
            </a:r>
            <a:r>
              <a:rPr lang="zh-TW" altLang="en-US" dirty="0">
                <a:solidFill>
                  <a:srgbClr val="141413"/>
                </a:solidFill>
                <a:latin typeface="Times" pitchFamily="2" charset="0"/>
              </a:rPr>
              <a:t>：</a:t>
            </a:r>
            <a:r>
              <a:rPr lang="en-US" altLang="zh-TW" dirty="0">
                <a:solidFill>
                  <a:srgbClr val="141413"/>
                </a:solidFill>
                <a:latin typeface="Times" pitchFamily="2" charset="0"/>
              </a:rPr>
              <a:t>Constant coefficients</a:t>
            </a:r>
            <a:endParaRPr lang="en-US" altLang="zh-TW" dirty="0">
              <a:solidFill>
                <a:srgbClr val="141413"/>
              </a:solidFill>
              <a:effectLst/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8486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直線箭頭接點 40">
            <a:extLst>
              <a:ext uri="{FF2B5EF4-FFF2-40B4-BE49-F238E27FC236}">
                <a16:creationId xmlns:a16="http://schemas.microsoft.com/office/drawing/2014/main" id="{A982DC4F-FED8-2443-9444-25E73F881471}"/>
              </a:ext>
            </a:extLst>
          </p:cNvPr>
          <p:cNvCxnSpPr>
            <a:cxnSpLocks/>
          </p:cNvCxnSpPr>
          <p:nvPr/>
        </p:nvCxnSpPr>
        <p:spPr>
          <a:xfrm>
            <a:off x="6653007" y="1910689"/>
            <a:ext cx="4310067" cy="0"/>
          </a:xfrm>
          <a:prstGeom prst="straightConnector1">
            <a:avLst/>
          </a:prstGeom>
          <a:ln w="19050">
            <a:solidFill>
              <a:schemeClr val="bg1">
                <a:lumMod val="85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箭頭接點 41">
            <a:extLst>
              <a:ext uri="{FF2B5EF4-FFF2-40B4-BE49-F238E27FC236}">
                <a16:creationId xmlns:a16="http://schemas.microsoft.com/office/drawing/2014/main" id="{B5935F34-6B3A-1B45-AF03-49C39AB3300B}"/>
              </a:ext>
            </a:extLst>
          </p:cNvPr>
          <p:cNvCxnSpPr>
            <a:cxnSpLocks/>
          </p:cNvCxnSpPr>
          <p:nvPr/>
        </p:nvCxnSpPr>
        <p:spPr>
          <a:xfrm>
            <a:off x="6653007" y="2241716"/>
            <a:ext cx="4310067" cy="0"/>
          </a:xfrm>
          <a:prstGeom prst="straightConnector1">
            <a:avLst/>
          </a:prstGeom>
          <a:ln w="19050">
            <a:solidFill>
              <a:schemeClr val="bg1">
                <a:lumMod val="85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箭頭接點 42">
            <a:extLst>
              <a:ext uri="{FF2B5EF4-FFF2-40B4-BE49-F238E27FC236}">
                <a16:creationId xmlns:a16="http://schemas.microsoft.com/office/drawing/2014/main" id="{1D3EE529-143B-D144-8804-CDEDA6CA2283}"/>
              </a:ext>
            </a:extLst>
          </p:cNvPr>
          <p:cNvCxnSpPr>
            <a:cxnSpLocks/>
          </p:cNvCxnSpPr>
          <p:nvPr/>
        </p:nvCxnSpPr>
        <p:spPr>
          <a:xfrm>
            <a:off x="6653007" y="2572743"/>
            <a:ext cx="4310067" cy="0"/>
          </a:xfrm>
          <a:prstGeom prst="straightConnector1">
            <a:avLst/>
          </a:prstGeom>
          <a:ln w="19050">
            <a:solidFill>
              <a:schemeClr val="bg1">
                <a:lumMod val="85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箭頭接點 43">
            <a:extLst>
              <a:ext uri="{FF2B5EF4-FFF2-40B4-BE49-F238E27FC236}">
                <a16:creationId xmlns:a16="http://schemas.microsoft.com/office/drawing/2014/main" id="{3736C1C6-2A3D-D24F-9137-1BCEB0796F83}"/>
              </a:ext>
            </a:extLst>
          </p:cNvPr>
          <p:cNvCxnSpPr>
            <a:cxnSpLocks/>
          </p:cNvCxnSpPr>
          <p:nvPr/>
        </p:nvCxnSpPr>
        <p:spPr>
          <a:xfrm>
            <a:off x="6653007" y="2903770"/>
            <a:ext cx="4310067" cy="0"/>
          </a:xfrm>
          <a:prstGeom prst="straightConnector1">
            <a:avLst/>
          </a:prstGeom>
          <a:ln w="19050">
            <a:solidFill>
              <a:schemeClr val="bg1">
                <a:lumMod val="85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箭頭接點 44">
            <a:extLst>
              <a:ext uri="{FF2B5EF4-FFF2-40B4-BE49-F238E27FC236}">
                <a16:creationId xmlns:a16="http://schemas.microsoft.com/office/drawing/2014/main" id="{9EACAF5A-69B3-1748-8C95-C089D1F0E876}"/>
              </a:ext>
            </a:extLst>
          </p:cNvPr>
          <p:cNvCxnSpPr>
            <a:cxnSpLocks/>
          </p:cNvCxnSpPr>
          <p:nvPr/>
        </p:nvCxnSpPr>
        <p:spPr>
          <a:xfrm>
            <a:off x="6653007" y="3234797"/>
            <a:ext cx="4310067" cy="0"/>
          </a:xfrm>
          <a:prstGeom prst="straightConnector1">
            <a:avLst/>
          </a:prstGeom>
          <a:ln w="19050">
            <a:solidFill>
              <a:schemeClr val="bg1">
                <a:lumMod val="85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箭頭接點 45">
            <a:extLst>
              <a:ext uri="{FF2B5EF4-FFF2-40B4-BE49-F238E27FC236}">
                <a16:creationId xmlns:a16="http://schemas.microsoft.com/office/drawing/2014/main" id="{93E4ADA3-FA7D-6049-8405-D89A1780CA8D}"/>
              </a:ext>
            </a:extLst>
          </p:cNvPr>
          <p:cNvCxnSpPr>
            <a:cxnSpLocks/>
          </p:cNvCxnSpPr>
          <p:nvPr/>
        </p:nvCxnSpPr>
        <p:spPr>
          <a:xfrm>
            <a:off x="6653007" y="3565825"/>
            <a:ext cx="4310067" cy="0"/>
          </a:xfrm>
          <a:prstGeom prst="straightConnector1">
            <a:avLst/>
          </a:prstGeom>
          <a:ln w="19050">
            <a:solidFill>
              <a:schemeClr val="bg1">
                <a:lumMod val="85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B544420C-B3F5-3045-B286-CCB90BC5B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focus</a:t>
            </a:r>
          </a:p>
          <a:p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velocity </a:t>
            </a:r>
          </a:p>
          <a:p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solidFill>
                  <a:srgbClr val="141413"/>
                </a:solidFill>
                <a:latin typeface="Times" pitchFamily="2" charset="0"/>
              </a:rPr>
              <a:t>Update position</a:t>
            </a: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51288" cy="1325563"/>
          </a:xfrm>
        </p:spPr>
        <p:txBody>
          <a:bodyPr/>
          <a:lstStyle/>
          <a:p>
            <a:r>
              <a:rPr kumimoji="1" lang="en-US" altLang="zh-TW" dirty="0"/>
              <a:t>#3 Random drift particle swarm optimization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10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A8D9397-69EE-C944-AEEE-D8E1B6316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326" y="2647578"/>
            <a:ext cx="4813300" cy="66040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25A4CF9F-5A03-7144-B32B-B83C81CE7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241" y="4242313"/>
            <a:ext cx="7797800" cy="69850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1BC07412-0107-5D45-9970-5A90CD4463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608" y="5402263"/>
            <a:ext cx="3784600" cy="774700"/>
          </a:xfrm>
          <a:prstGeom prst="rect">
            <a:avLst/>
          </a:prstGeom>
        </p:spPr>
      </p:pic>
      <p:sp>
        <p:nvSpPr>
          <p:cNvPr id="12" name="橢圓 11">
            <a:extLst>
              <a:ext uri="{FF2B5EF4-FFF2-40B4-BE49-F238E27FC236}">
                <a16:creationId xmlns:a16="http://schemas.microsoft.com/office/drawing/2014/main" id="{AA1E42D9-5808-A94A-9722-47197C5469E6}"/>
              </a:ext>
            </a:extLst>
          </p:cNvPr>
          <p:cNvSpPr/>
          <p:nvPr/>
        </p:nvSpPr>
        <p:spPr>
          <a:xfrm>
            <a:off x="9710265" y="3280145"/>
            <a:ext cx="148855" cy="14885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2E6BFB76-D6A7-C746-B677-28F07494DAEB}"/>
              </a:ext>
            </a:extLst>
          </p:cNvPr>
          <p:cNvCxnSpPr>
            <a:cxnSpLocks/>
          </p:cNvCxnSpPr>
          <p:nvPr/>
        </p:nvCxnSpPr>
        <p:spPr>
          <a:xfrm>
            <a:off x="2384150" y="4858663"/>
            <a:ext cx="3516920" cy="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E8F64D56-EC7F-F745-BF37-AAD88EEEFC60}"/>
              </a:ext>
            </a:extLst>
          </p:cNvPr>
          <p:cNvCxnSpPr>
            <a:cxnSpLocks/>
          </p:cNvCxnSpPr>
          <p:nvPr/>
        </p:nvCxnSpPr>
        <p:spPr>
          <a:xfrm>
            <a:off x="6279210" y="4872424"/>
            <a:ext cx="225164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734C011-CB6B-E745-B6AB-37E6B240DFF6}"/>
              </a:ext>
            </a:extLst>
          </p:cNvPr>
          <p:cNvSpPr txBox="1"/>
          <p:nvPr/>
        </p:nvSpPr>
        <p:spPr>
          <a:xfrm>
            <a:off x="2810944" y="3801316"/>
            <a:ext cx="28264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Thermal (random)</a:t>
            </a:r>
            <a:endParaRPr kumimoji="1" lang="zh-TW" altLang="en-US" sz="28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A12C206B-D9C1-B249-A7F4-AA95728E2574}"/>
              </a:ext>
            </a:extLst>
          </p:cNvPr>
          <p:cNvSpPr txBox="1"/>
          <p:nvPr/>
        </p:nvSpPr>
        <p:spPr>
          <a:xfrm>
            <a:off x="6726528" y="3801316"/>
            <a:ext cx="8835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Drift</a:t>
            </a:r>
            <a:endParaRPr kumimoji="1" lang="zh-TW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972EDC3A-9CBC-C646-BB4A-70CED74A0E5D}"/>
              </a:ext>
            </a:extLst>
          </p:cNvPr>
          <p:cNvSpPr/>
          <p:nvPr/>
        </p:nvSpPr>
        <p:spPr>
          <a:xfrm>
            <a:off x="7535675" y="3280145"/>
            <a:ext cx="148855" cy="14885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EF292032-2017-E74A-9EDF-0A6A33974706}"/>
              </a:ext>
            </a:extLst>
          </p:cNvPr>
          <p:cNvSpPr/>
          <p:nvPr/>
        </p:nvSpPr>
        <p:spPr>
          <a:xfrm>
            <a:off x="8185317" y="1901282"/>
            <a:ext cx="148855" cy="14885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1E00800-F909-CA46-8D75-940E0544EA08}"/>
              </a:ext>
            </a:extLst>
          </p:cNvPr>
          <p:cNvSpPr/>
          <p:nvPr/>
        </p:nvSpPr>
        <p:spPr>
          <a:xfrm>
            <a:off x="6304363" y="1549123"/>
            <a:ext cx="185385" cy="220722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-</a:t>
            </a:r>
          </a:p>
          <a:p>
            <a:pPr algn="ctr"/>
            <a:r>
              <a:rPr kumimoji="1" lang="en-US" altLang="zh-TW" dirty="0"/>
              <a:t>-</a:t>
            </a:r>
          </a:p>
          <a:p>
            <a:pPr algn="ctr"/>
            <a:r>
              <a:rPr kumimoji="1" lang="en-US" altLang="zh-TW" dirty="0"/>
              <a:t>-</a:t>
            </a:r>
          </a:p>
          <a:p>
            <a:pPr algn="ctr"/>
            <a:r>
              <a:rPr kumimoji="1" lang="en-US" altLang="zh-TW" dirty="0"/>
              <a:t>-</a:t>
            </a:r>
          </a:p>
          <a:p>
            <a:pPr algn="ctr"/>
            <a:r>
              <a:rPr kumimoji="1" lang="en-US" altLang="zh-TW" dirty="0"/>
              <a:t>-</a:t>
            </a:r>
          </a:p>
          <a:p>
            <a:pPr algn="ctr"/>
            <a:r>
              <a:rPr kumimoji="1" lang="en-US" altLang="zh-TW" dirty="0"/>
              <a:t>-</a:t>
            </a:r>
          </a:p>
          <a:p>
            <a:pPr algn="ctr"/>
            <a:r>
              <a:rPr kumimoji="1" lang="en-US" altLang="zh-TW" dirty="0"/>
              <a:t>-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54DC0DC-D1E3-C844-A8FC-5E2ED876CEC7}"/>
              </a:ext>
            </a:extLst>
          </p:cNvPr>
          <p:cNvSpPr/>
          <p:nvPr/>
        </p:nvSpPr>
        <p:spPr>
          <a:xfrm>
            <a:off x="11179839" y="1658746"/>
            <a:ext cx="185385" cy="220722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+</a:t>
            </a:r>
          </a:p>
          <a:p>
            <a:pPr algn="ctr"/>
            <a:r>
              <a:rPr kumimoji="1" lang="en-US" altLang="zh-TW" dirty="0"/>
              <a:t>+</a:t>
            </a:r>
          </a:p>
          <a:p>
            <a:pPr algn="ctr"/>
            <a:r>
              <a:rPr kumimoji="1" lang="en-US" altLang="zh-TW" dirty="0"/>
              <a:t>+</a:t>
            </a:r>
          </a:p>
          <a:p>
            <a:pPr algn="ctr"/>
            <a:r>
              <a:rPr kumimoji="1" lang="en-US" altLang="zh-TW" dirty="0"/>
              <a:t>+</a:t>
            </a:r>
          </a:p>
          <a:p>
            <a:pPr algn="ctr"/>
            <a:r>
              <a:rPr kumimoji="1" lang="en-US" altLang="zh-TW" dirty="0"/>
              <a:t>+</a:t>
            </a:r>
          </a:p>
          <a:p>
            <a:pPr algn="ctr"/>
            <a:r>
              <a:rPr kumimoji="1" lang="en-US" altLang="zh-TW" dirty="0"/>
              <a:t>+</a:t>
            </a:r>
          </a:p>
          <a:p>
            <a:pPr algn="ctr"/>
            <a:r>
              <a:rPr kumimoji="1" lang="en-US" altLang="zh-TW" dirty="0"/>
              <a:t>+</a:t>
            </a:r>
            <a:endParaRPr kumimoji="1" lang="zh-TW" altLang="en-US" dirty="0"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C5DBDAD7-ED31-7147-AF36-6D1C6F5CEDE0}"/>
              </a:ext>
            </a:extLst>
          </p:cNvPr>
          <p:cNvSpPr/>
          <p:nvPr/>
        </p:nvSpPr>
        <p:spPr>
          <a:xfrm>
            <a:off x="10434448" y="2210941"/>
            <a:ext cx="148855" cy="14885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23" name="直線箭頭接點 22">
            <a:extLst>
              <a:ext uri="{FF2B5EF4-FFF2-40B4-BE49-F238E27FC236}">
                <a16:creationId xmlns:a16="http://schemas.microsoft.com/office/drawing/2014/main" id="{9CDF9E19-9720-AC4B-A2DF-FFD2A8695786}"/>
              </a:ext>
            </a:extLst>
          </p:cNvPr>
          <p:cNvCxnSpPr>
            <a:cxnSpLocks/>
            <a:stCxn id="17" idx="6"/>
            <a:endCxn id="18" idx="3"/>
          </p:cNvCxnSpPr>
          <p:nvPr/>
        </p:nvCxnSpPr>
        <p:spPr>
          <a:xfrm flipV="1">
            <a:off x="7684530" y="2028338"/>
            <a:ext cx="522586" cy="1326235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66C74044-9DD4-B043-B414-5D9A0722D13D}"/>
              </a:ext>
            </a:extLst>
          </p:cNvPr>
          <p:cNvCxnSpPr>
            <a:cxnSpLocks/>
            <a:stCxn id="17" idx="6"/>
            <a:endCxn id="12" idx="2"/>
          </p:cNvCxnSpPr>
          <p:nvPr/>
        </p:nvCxnSpPr>
        <p:spPr>
          <a:xfrm>
            <a:off x="7684530" y="3354573"/>
            <a:ext cx="2025735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箭頭接點 28">
            <a:extLst>
              <a:ext uri="{FF2B5EF4-FFF2-40B4-BE49-F238E27FC236}">
                <a16:creationId xmlns:a16="http://schemas.microsoft.com/office/drawing/2014/main" id="{70C2677C-5876-0B4F-9F60-4CAB4B41AB91}"/>
              </a:ext>
            </a:extLst>
          </p:cNvPr>
          <p:cNvCxnSpPr>
            <a:cxnSpLocks/>
            <a:stCxn id="17" idx="6"/>
            <a:endCxn id="21" idx="2"/>
          </p:cNvCxnSpPr>
          <p:nvPr/>
        </p:nvCxnSpPr>
        <p:spPr>
          <a:xfrm flipV="1">
            <a:off x="7684530" y="2285369"/>
            <a:ext cx="2749918" cy="10692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9F2F3AE9-D9E4-4C4A-9EEA-D33C271DD81A}"/>
              </a:ext>
            </a:extLst>
          </p:cNvPr>
          <p:cNvSpPr txBox="1"/>
          <p:nvPr/>
        </p:nvSpPr>
        <p:spPr>
          <a:xfrm>
            <a:off x="7778568" y="1540216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Thermal</a:t>
            </a:r>
            <a:endParaRPr kumimoji="1" lang="zh-TW" altLang="en-US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C9C2355B-846B-E24C-ADA5-CBFE6691BF1B}"/>
              </a:ext>
            </a:extLst>
          </p:cNvPr>
          <p:cNvSpPr txBox="1"/>
          <p:nvPr/>
        </p:nvSpPr>
        <p:spPr>
          <a:xfrm>
            <a:off x="9927030" y="3170681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Drift</a:t>
            </a:r>
            <a:endParaRPr kumimoji="1"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D11B57F9-BC0B-4F4E-A067-0E4271EC9E04}"/>
              </a:ext>
            </a:extLst>
          </p:cNvPr>
          <p:cNvSpPr txBox="1"/>
          <p:nvPr/>
        </p:nvSpPr>
        <p:spPr>
          <a:xfrm>
            <a:off x="7039531" y="3241512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2C7EB1B3-4F6C-8340-A42A-6D1FE2F09FC0}"/>
              </a:ext>
            </a:extLst>
          </p:cNvPr>
          <p:cNvSpPr txBox="1"/>
          <p:nvPr/>
        </p:nvSpPr>
        <p:spPr>
          <a:xfrm>
            <a:off x="10416818" y="1925708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160639AF-EF95-8A49-9AE0-0AF1C4AEBACA}"/>
              </a:ext>
            </a:extLst>
          </p:cNvPr>
          <p:cNvSpPr txBox="1"/>
          <p:nvPr/>
        </p:nvSpPr>
        <p:spPr>
          <a:xfrm>
            <a:off x="2255451" y="2251031"/>
            <a:ext cx="9621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8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Pbest</a:t>
            </a:r>
            <a:endParaRPr kumimoji="1" lang="zh-TW" altLang="en-US" sz="28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508FCB5E-7CF4-7949-B95F-48ED00A55DDF}"/>
              </a:ext>
            </a:extLst>
          </p:cNvPr>
          <p:cNvSpPr txBox="1"/>
          <p:nvPr/>
        </p:nvSpPr>
        <p:spPr>
          <a:xfrm>
            <a:off x="4109676" y="2251031"/>
            <a:ext cx="10214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Gbest</a:t>
            </a:r>
            <a:endParaRPr kumimoji="1" lang="zh-TW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" name="直線接點 52">
            <a:extLst>
              <a:ext uri="{FF2B5EF4-FFF2-40B4-BE49-F238E27FC236}">
                <a16:creationId xmlns:a16="http://schemas.microsoft.com/office/drawing/2014/main" id="{BC1254C8-733F-1D42-BBDE-0E8FC4881529}"/>
              </a:ext>
            </a:extLst>
          </p:cNvPr>
          <p:cNvCxnSpPr>
            <a:cxnSpLocks/>
          </p:cNvCxnSpPr>
          <p:nvPr/>
        </p:nvCxnSpPr>
        <p:spPr>
          <a:xfrm>
            <a:off x="3689500" y="3290775"/>
            <a:ext cx="200102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>
            <a:extLst>
              <a:ext uri="{FF2B5EF4-FFF2-40B4-BE49-F238E27FC236}">
                <a16:creationId xmlns:a16="http://schemas.microsoft.com/office/drawing/2014/main" id="{EF9BB123-5FA7-514B-8D53-0BF0D5C67B43}"/>
              </a:ext>
            </a:extLst>
          </p:cNvPr>
          <p:cNvCxnSpPr>
            <a:cxnSpLocks/>
          </p:cNvCxnSpPr>
          <p:nvPr/>
        </p:nvCxnSpPr>
        <p:spPr>
          <a:xfrm>
            <a:off x="2066551" y="3290775"/>
            <a:ext cx="1187014" cy="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B3AB7FA1-01B8-1044-AC77-C397752F395D}"/>
              </a:ext>
            </a:extLst>
          </p:cNvPr>
          <p:cNvSpPr/>
          <p:nvPr/>
        </p:nvSpPr>
        <p:spPr>
          <a:xfrm>
            <a:off x="6096000" y="5135008"/>
            <a:ext cx="2569934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141413"/>
                </a:solidFill>
                <a:latin typeface="Times" pitchFamily="2" charset="0"/>
              </a:rPr>
              <a:t>p</a:t>
            </a:r>
            <a:r>
              <a:rPr lang="zh-TW" altLang="en-US" dirty="0">
                <a:solidFill>
                  <a:srgbClr val="141413"/>
                </a:solidFill>
                <a:latin typeface="Times" pitchFamily="2" charset="0"/>
              </a:rPr>
              <a:t>：</a:t>
            </a:r>
            <a:r>
              <a:rPr lang="en-US" altLang="zh-TW" dirty="0">
                <a:solidFill>
                  <a:srgbClr val="141413"/>
                </a:solidFill>
                <a:latin typeface="Times" pitchFamily="2" charset="0"/>
              </a:rPr>
              <a:t>Personal local focus</a:t>
            </a:r>
          </a:p>
          <a:p>
            <a:r>
              <a:rPr lang="en-US" altLang="zh-TW" dirty="0">
                <a:solidFill>
                  <a:srgbClr val="141413"/>
                </a:solidFill>
                <a:latin typeface="Times" pitchFamily="2" charset="0"/>
              </a:rPr>
              <a:t>P</a:t>
            </a:r>
            <a:r>
              <a:rPr lang="zh-TW" altLang="en-US" dirty="0">
                <a:solidFill>
                  <a:srgbClr val="141413"/>
                </a:solidFill>
                <a:latin typeface="Times" pitchFamily="2" charset="0"/>
              </a:rPr>
              <a:t>：</a:t>
            </a:r>
            <a:r>
              <a:rPr lang="en-US" altLang="zh-TW" dirty="0">
                <a:solidFill>
                  <a:srgbClr val="141413"/>
                </a:solidFill>
                <a:latin typeface="Times" pitchFamily="2" charset="0"/>
              </a:rPr>
              <a:t>Personal best position</a:t>
            </a:r>
          </a:p>
          <a:p>
            <a:r>
              <a:rPr lang="en-US" altLang="zh-TW" dirty="0">
                <a:solidFill>
                  <a:srgbClr val="141413"/>
                </a:solidFill>
                <a:latin typeface="Times" pitchFamily="2" charset="0"/>
              </a:rPr>
              <a:t>G</a:t>
            </a:r>
            <a:r>
              <a:rPr lang="zh-TW" altLang="en-US" dirty="0">
                <a:solidFill>
                  <a:srgbClr val="141413"/>
                </a:solidFill>
                <a:latin typeface="Times" pitchFamily="2" charset="0"/>
              </a:rPr>
              <a:t>：</a:t>
            </a:r>
            <a:r>
              <a:rPr lang="en-US" altLang="zh-TW" dirty="0">
                <a:solidFill>
                  <a:srgbClr val="141413"/>
                </a:solidFill>
                <a:latin typeface="Times" pitchFamily="2" charset="0"/>
              </a:rPr>
              <a:t>Global best position</a:t>
            </a:r>
          </a:p>
          <a:p>
            <a:r>
              <a:rPr lang="en-US" altLang="zh-TW" dirty="0">
                <a:solidFill>
                  <a:srgbClr val="141413"/>
                </a:solidFill>
                <a:latin typeface="Times" pitchFamily="2" charset="0"/>
              </a:rPr>
              <a:t>V</a:t>
            </a:r>
            <a:r>
              <a:rPr lang="zh-TW" altLang="en-US" dirty="0">
                <a:solidFill>
                  <a:srgbClr val="141413"/>
                </a:solidFill>
                <a:latin typeface="Times" pitchFamily="2" charset="0"/>
              </a:rPr>
              <a:t>：</a:t>
            </a:r>
            <a:r>
              <a:rPr kumimoji="1" lang="en-US" altLang="zh-TW" dirty="0">
                <a:solidFill>
                  <a:srgbClr val="1414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elocity</a:t>
            </a:r>
          </a:p>
          <a:p>
            <a:r>
              <a:rPr kumimoji="1" lang="en-US" altLang="zh-TW" dirty="0">
                <a:solidFill>
                  <a:srgbClr val="1414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zh-TW" altLang="en-US" dirty="0">
                <a:solidFill>
                  <a:srgbClr val="1414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kumimoji="1" lang="en-US" altLang="zh-TW" dirty="0">
                <a:solidFill>
                  <a:srgbClr val="1414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position</a:t>
            </a:r>
            <a:endParaRPr lang="en-US" altLang="zh-TW" dirty="0">
              <a:solidFill>
                <a:srgbClr val="141413"/>
              </a:solidFill>
              <a:latin typeface="Times" pitchFamily="2" charset="0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29625F00-1F59-CF4D-835C-66355C5338FB}"/>
              </a:ext>
            </a:extLst>
          </p:cNvPr>
          <p:cNvSpPr/>
          <p:nvPr/>
        </p:nvSpPr>
        <p:spPr>
          <a:xfrm>
            <a:off x="8829630" y="5236848"/>
            <a:ext cx="275985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141413"/>
                </a:solidFill>
                <a:latin typeface="Times" pitchFamily="2" charset="0"/>
              </a:rPr>
              <a:t>C</a:t>
            </a:r>
            <a:r>
              <a:rPr lang="zh-TW" altLang="en-US" dirty="0">
                <a:solidFill>
                  <a:srgbClr val="141413"/>
                </a:solidFill>
                <a:latin typeface="Times" pitchFamily="2" charset="0"/>
              </a:rPr>
              <a:t>：</a:t>
            </a:r>
            <a:r>
              <a:rPr lang="en-US" altLang="zh-TW" dirty="0">
                <a:solidFill>
                  <a:srgbClr val="141413"/>
                </a:solidFill>
                <a:latin typeface="Times" pitchFamily="2" charset="0"/>
              </a:rPr>
              <a:t>The mean best position</a:t>
            </a:r>
          </a:p>
          <a:p>
            <a:r>
              <a:rPr lang="en-US" altLang="zh-TW" dirty="0">
                <a:solidFill>
                  <a:srgbClr val="141413"/>
                </a:solidFill>
                <a:latin typeface="Times" pitchFamily="2" charset="0"/>
              </a:rPr>
              <a:t>𝝓</a:t>
            </a:r>
            <a:r>
              <a:rPr lang="zh-TW" altLang="en-US" dirty="0">
                <a:solidFill>
                  <a:srgbClr val="141413"/>
                </a:solidFill>
                <a:effectLst/>
                <a:latin typeface="Times" pitchFamily="2" charset="0"/>
              </a:rPr>
              <a:t>：</a:t>
            </a:r>
            <a:r>
              <a:rPr lang="en-US" altLang="zh-TW" dirty="0">
                <a:solidFill>
                  <a:srgbClr val="141413"/>
                </a:solidFill>
                <a:effectLst/>
                <a:latin typeface="Times" pitchFamily="2" charset="0"/>
              </a:rPr>
              <a:t>Random number</a:t>
            </a:r>
          </a:p>
          <a:p>
            <a:r>
              <a:rPr lang="en-US" altLang="zh-TW" dirty="0">
                <a:solidFill>
                  <a:srgbClr val="141413"/>
                </a:solidFill>
                <a:latin typeface="Times" pitchFamily="2" charset="0"/>
              </a:rPr>
              <a:t>𝛼, 𝛽</a:t>
            </a:r>
            <a:r>
              <a:rPr lang="zh-TW" altLang="en-US" dirty="0">
                <a:solidFill>
                  <a:srgbClr val="141413"/>
                </a:solidFill>
                <a:latin typeface="Times" pitchFamily="2" charset="0"/>
              </a:rPr>
              <a:t>：</a:t>
            </a:r>
            <a:r>
              <a:rPr lang="en-US" altLang="zh-TW" dirty="0">
                <a:solidFill>
                  <a:srgbClr val="141413"/>
                </a:solidFill>
                <a:latin typeface="Times" pitchFamily="2" charset="0"/>
              </a:rPr>
              <a:t>Constant coefficients</a:t>
            </a:r>
            <a:endParaRPr lang="en-US" altLang="zh-TW" dirty="0">
              <a:solidFill>
                <a:srgbClr val="141413"/>
              </a:solidFill>
              <a:effectLst/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40591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Diversity-guided search (DGS)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Euclidean distance</a:t>
            </a:r>
          </a:p>
          <a:p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1"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1"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Mutation of global position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11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D82CAEA-93CB-5B4A-AA05-2657F75B1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136" y="2394744"/>
            <a:ext cx="4470400" cy="128270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95FD8950-D9CC-F54F-960D-9368918E7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136" y="4603353"/>
            <a:ext cx="2349500" cy="64770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A57492C2-F9CE-BB4C-B213-2E3025D968DF}"/>
              </a:ext>
            </a:extLst>
          </p:cNvPr>
          <p:cNvSpPr txBox="1"/>
          <p:nvPr/>
        </p:nvSpPr>
        <p:spPr>
          <a:xfrm>
            <a:off x="7514775" y="2107665"/>
            <a:ext cx="374333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length of the longest diagonal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population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position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dimension</a:t>
            </a:r>
          </a:p>
          <a:p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position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𝛿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dirty="0">
                <a:solidFill>
                  <a:srgbClr val="141413"/>
                </a:solidFill>
                <a:latin typeface="Times" pitchFamily="2" charset="0"/>
              </a:rPr>
              <a:t>Constant coefficients</a:t>
            </a: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𝜀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number (0~1)</a:t>
            </a:r>
          </a:p>
        </p:txBody>
      </p:sp>
    </p:spTree>
    <p:extLst>
      <p:ext uri="{BB962C8B-B14F-4D97-AF65-F5344CB8AC3E}">
        <p14:creationId xmlns:p14="http://schemas.microsoft.com/office/powerpoint/2010/main" val="2552379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RDPSO-DGS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12</a:t>
            </a:fld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D211AD0-3B9D-684F-93CB-22BE7EF98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4675" y="418860"/>
            <a:ext cx="6407371" cy="602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2393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Results (1/7)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simulated nucleotide data Set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 sequences with each having approximately 300 characters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‘low’ or ‘high’ mean divergences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insertion/deletion length distribution was set to ‘short’ or ‘long’ 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‘low-short’ ‘low-long’, ‘high-short’, and ‘high-long’.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0740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Results (2/7)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14</a:t>
            </a:fld>
            <a:endParaRPr kumimoji="1"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B6828A52-B101-0443-8343-AF412D309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051" y="2156047"/>
            <a:ext cx="11461898" cy="318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6899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Results (3/7)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15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9C99521-A87B-8C4F-9835-5C465598DE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45"/>
          <a:stretch/>
        </p:blipFill>
        <p:spPr>
          <a:xfrm>
            <a:off x="2146300" y="1414130"/>
            <a:ext cx="7899400" cy="5033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1784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16</a:t>
            </a:fld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9415683-5D90-4F49-AD66-4B13787B6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337" y="0"/>
            <a:ext cx="98833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1904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Results (5/7)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17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44D8E01-D3D2-C74C-816E-D9CF99CCE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504" y="1343266"/>
            <a:ext cx="5755011" cy="453796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E1909B01-ADA8-2142-8B85-410625FA5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880" y="1440867"/>
            <a:ext cx="5911120" cy="4440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1053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Results (6/7)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18</a:t>
            </a:fld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895434F-54AE-7044-9DE4-C4B00291B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803" y="1402590"/>
            <a:ext cx="11780395" cy="495376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30EE57F1-B0A9-6E4B-94A8-6F42320A7123}"/>
              </a:ext>
            </a:extLst>
          </p:cNvPr>
          <p:cNvSpPr/>
          <p:nvPr/>
        </p:nvSpPr>
        <p:spPr>
          <a:xfrm>
            <a:off x="3198455" y="2316289"/>
            <a:ext cx="11592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141413"/>
                </a:solidFill>
                <a:latin typeface="Helvetica" pitchFamily="2" charset="0"/>
              </a:rPr>
              <a:t>reference</a:t>
            </a:r>
            <a:endParaRPr lang="en-US" altLang="zh-TW" dirty="0">
              <a:solidFill>
                <a:srgbClr val="141413"/>
              </a:solidFill>
              <a:effectLst/>
              <a:latin typeface="Helvetica" pitchFamily="2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417C7FD-FCFC-DC4E-9F69-FD503A268C64}"/>
              </a:ext>
            </a:extLst>
          </p:cNvPr>
          <p:cNvSpPr/>
          <p:nvPr/>
        </p:nvSpPr>
        <p:spPr>
          <a:xfrm>
            <a:off x="9135807" y="2316289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>
                <a:solidFill>
                  <a:srgbClr val="141413"/>
                </a:solidFill>
                <a:latin typeface="Helvetica" pitchFamily="2" charset="0"/>
              </a:rPr>
              <a:t>ClustalW</a:t>
            </a:r>
            <a:endParaRPr lang="en-US" altLang="zh-TW" dirty="0">
              <a:solidFill>
                <a:srgbClr val="141413"/>
              </a:solidFill>
              <a:effectLst/>
              <a:latin typeface="Helvetica" pitchFamily="2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C1DEE80-E369-4A4B-ADCB-F3EEC4F7593C}"/>
              </a:ext>
            </a:extLst>
          </p:cNvPr>
          <p:cNvSpPr/>
          <p:nvPr/>
        </p:nvSpPr>
        <p:spPr>
          <a:xfrm>
            <a:off x="3198455" y="3744352"/>
            <a:ext cx="9541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141413"/>
                </a:solidFill>
                <a:latin typeface="Helvetica" pitchFamily="2" charset="0"/>
              </a:rPr>
              <a:t>MAFFT</a:t>
            </a:r>
            <a:endParaRPr lang="en-US" altLang="zh-TW" dirty="0">
              <a:solidFill>
                <a:srgbClr val="141413"/>
              </a:solidFill>
              <a:effectLst/>
              <a:latin typeface="Helvetica" pitchFamily="2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66C1F1B-C032-B741-9C3C-F0BFFCB68380}"/>
              </a:ext>
            </a:extLst>
          </p:cNvPr>
          <p:cNvSpPr/>
          <p:nvPr/>
        </p:nvSpPr>
        <p:spPr>
          <a:xfrm>
            <a:off x="9135807" y="3744352"/>
            <a:ext cx="1184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141413"/>
                </a:solidFill>
                <a:latin typeface="Helvetica" pitchFamily="2" charset="0"/>
              </a:rPr>
              <a:t>HMM-BW</a:t>
            </a:r>
            <a:endParaRPr lang="en-US" altLang="zh-TW" dirty="0">
              <a:solidFill>
                <a:srgbClr val="141413"/>
              </a:solidFill>
              <a:effectLst/>
              <a:latin typeface="Helvetica" pitchFamily="2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0D9195C-00A9-BC41-999E-E2F7FA53D69A}"/>
              </a:ext>
            </a:extLst>
          </p:cNvPr>
          <p:cNvSpPr/>
          <p:nvPr/>
        </p:nvSpPr>
        <p:spPr>
          <a:xfrm>
            <a:off x="3198455" y="4866881"/>
            <a:ext cx="1454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141413"/>
                </a:solidFill>
                <a:latin typeface="Helvetica" pitchFamily="2" charset="0"/>
              </a:rPr>
              <a:t>HMM-SPSO</a:t>
            </a:r>
            <a:endParaRPr lang="en-US" altLang="zh-TW" dirty="0">
              <a:solidFill>
                <a:srgbClr val="141413"/>
              </a:solidFill>
              <a:effectLst/>
              <a:latin typeface="Helvetica" pitchFamily="2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914CD0F-2566-4243-95E2-FA51CDD682CD}"/>
              </a:ext>
            </a:extLst>
          </p:cNvPr>
          <p:cNvSpPr/>
          <p:nvPr/>
        </p:nvSpPr>
        <p:spPr>
          <a:xfrm>
            <a:off x="9135807" y="4866881"/>
            <a:ext cx="16337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141413"/>
                </a:solidFill>
                <a:latin typeface="Helvetica" pitchFamily="2" charset="0"/>
              </a:rPr>
              <a:t>HMM-RDPSO</a:t>
            </a:r>
            <a:endParaRPr lang="en-US" altLang="zh-TW" dirty="0">
              <a:solidFill>
                <a:srgbClr val="141413"/>
              </a:solidFill>
              <a:effectLst/>
              <a:latin typeface="Helvetica" pitchFamily="2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19243A4-89CC-9449-AC88-F709ABA395E2}"/>
              </a:ext>
            </a:extLst>
          </p:cNvPr>
          <p:cNvSpPr/>
          <p:nvPr/>
        </p:nvSpPr>
        <p:spPr>
          <a:xfrm>
            <a:off x="6245210" y="6044813"/>
            <a:ext cx="22108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141413"/>
                </a:solidFill>
                <a:latin typeface="Helvetica" pitchFamily="2" charset="0"/>
              </a:rPr>
              <a:t>HMM-RDSPO-DGS</a:t>
            </a:r>
            <a:endParaRPr lang="en-US" altLang="zh-TW" dirty="0">
              <a:solidFill>
                <a:srgbClr val="141413"/>
              </a:solidFill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73332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Results (7/7)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19</a:t>
            </a:fld>
            <a:endParaRPr kumimoji="1" lang="zh-TW" altLang="en-US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3DB5D4D6-5398-824F-AEA6-4CAF8DEA3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099" y="1565714"/>
            <a:ext cx="10243803" cy="4662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8040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4781" y="2766219"/>
            <a:ext cx="6002438" cy="1325563"/>
          </a:xfrm>
        </p:spPr>
        <p:txBody>
          <a:bodyPr/>
          <a:lstStyle/>
          <a:p>
            <a:pPr algn="ctr"/>
            <a:r>
              <a:rPr kumimoji="1" lang="en-US" altLang="zh-TW" dirty="0"/>
              <a:t>Thank you for listening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20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246465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Results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21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50280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w Cen MT-Rockwell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818</TotalTime>
  <Words>825</Words>
  <Application>Microsoft Macintosh PowerPoint</Application>
  <PresentationFormat>寬螢幕</PresentationFormat>
  <Paragraphs>157</Paragraphs>
  <Slides>22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30" baseType="lpstr">
      <vt:lpstr>Arial</vt:lpstr>
      <vt:lpstr>Calibri</vt:lpstr>
      <vt:lpstr>Helvetica</vt:lpstr>
      <vt:lpstr>Helvetica Neue</vt:lpstr>
      <vt:lpstr>Rockwell</vt:lpstr>
      <vt:lpstr>Times</vt:lpstr>
      <vt:lpstr>Times New Roman</vt:lpstr>
      <vt:lpstr>Office 佈景主題</vt:lpstr>
      <vt:lpstr>Multiple Sequence Alignment with Hidden Markov Models Learned by Random Drift Particle Swarm Optimization</vt:lpstr>
      <vt:lpstr>Abstract</vt:lpstr>
      <vt:lpstr>Abstract</vt:lpstr>
      <vt:lpstr>Outline</vt:lpstr>
      <vt:lpstr>Hidden Markov Models (HMMs)</vt:lpstr>
      <vt:lpstr>The three basic problems for HMMs</vt:lpstr>
      <vt:lpstr>#1 Forwarding algorithm</vt:lpstr>
      <vt:lpstr>#2 Viterbi algorithm</vt:lpstr>
      <vt:lpstr>Objective function</vt:lpstr>
      <vt:lpstr>Particle swarm optimization (PSO)</vt:lpstr>
      <vt:lpstr>#3 Random drift particle swarm optimization</vt:lpstr>
      <vt:lpstr>Diversity-guided search (DGS)</vt:lpstr>
      <vt:lpstr>RDPSO-DGS</vt:lpstr>
      <vt:lpstr>Results (1/7)</vt:lpstr>
      <vt:lpstr>Results (2/7)</vt:lpstr>
      <vt:lpstr>Results (3/7)</vt:lpstr>
      <vt:lpstr>PowerPoint 簡報</vt:lpstr>
      <vt:lpstr>Results (5/7)</vt:lpstr>
      <vt:lpstr>Results (6/7)</vt:lpstr>
      <vt:lpstr>Results (7/7)</vt:lpstr>
      <vt:lpstr>Thank you for listening</vt:lpstr>
      <vt:lpstr>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Improved Algorithm for The Longest Common Subsequence Problem</dc:title>
  <dc:creator>宗霖 呂</dc:creator>
  <cp:lastModifiedBy>宗霖 呂</cp:lastModifiedBy>
  <cp:revision>22</cp:revision>
  <dcterms:created xsi:type="dcterms:W3CDTF">2021-03-28T03:57:23Z</dcterms:created>
  <dcterms:modified xsi:type="dcterms:W3CDTF">2021-07-20T08:13:56Z</dcterms:modified>
</cp:coreProperties>
</file>