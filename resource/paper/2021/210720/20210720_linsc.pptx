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99" r:id="rId3"/>
    <p:sldMasterId id="2147483738" r:id="rId4"/>
    <p:sldMasterId id="2147483712" r:id="rId5"/>
    <p:sldMasterId id="2147483674" r:id="rId6"/>
    <p:sldMasterId id="2147483725" r:id="rId7"/>
  </p:sldMasterIdLst>
  <p:notesMasterIdLst>
    <p:notesMasterId r:id="rId25"/>
  </p:notesMasterIdLst>
  <p:sldIdLst>
    <p:sldId id="299" r:id="rId8"/>
    <p:sldId id="300" r:id="rId9"/>
    <p:sldId id="302" r:id="rId10"/>
    <p:sldId id="303" r:id="rId11"/>
    <p:sldId id="304" r:id="rId12"/>
    <p:sldId id="256" r:id="rId13"/>
    <p:sldId id="257" r:id="rId14"/>
    <p:sldId id="279" r:id="rId15"/>
    <p:sldId id="306" r:id="rId16"/>
    <p:sldId id="305" r:id="rId17"/>
    <p:sldId id="307" r:id="rId18"/>
    <p:sldId id="309" r:id="rId19"/>
    <p:sldId id="310" r:id="rId20"/>
    <p:sldId id="311" r:id="rId21"/>
    <p:sldId id="312" r:id="rId22"/>
    <p:sldId id="313" r:id="rId23"/>
    <p:sldId id="314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632" autoAdjust="0"/>
  </p:normalViewPr>
  <p:slideViewPr>
    <p:cSldViewPr>
      <p:cViewPr varScale="1">
        <p:scale>
          <a:sx n="108" d="100"/>
          <a:sy n="108" d="100"/>
        </p:scale>
        <p:origin x="-16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7/20/2021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 dirty="0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 dirty="0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7/20/2021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7/20/2021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F5B75-ECF6-4BE6-A3DE-C8259B535844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5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7/20/2021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1E863-67F1-4DED-9226-013F8637FBA5}" type="datetimeFigureOut">
              <a:rPr lang="zh-TW" altLang="en-US" smtClean="0"/>
              <a:pPr/>
              <a:t>2021/7/20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51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400" spc="-1" dirty="0" smtClean="0">
                <a:solidFill>
                  <a:srgbClr val="000000"/>
                </a:solidFill>
                <a:latin typeface="Times New Roman"/>
              </a:rPr>
              <a:t>Hacker popcount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int hacker_popcnt(unsigned int n) {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	n -= (n&gt;&gt;1) &amp; 0x55555555;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	n = (n &amp; 0x33333333) + ((n&gt;&gt;2) &amp; 0x33333333);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	n = ((n&gt;&gt;4) + n) &amp; 0x0F0F0F0F;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	n += n&gt;&gt;8;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	n += n&gt;&gt;16;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	return n&amp;0x0000003F;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dirty="0" smtClean="0">
                <a:solidFill>
                  <a:srgbClr val="000000"/>
                </a:solidFill>
                <a:latin typeface="Times New Roman"/>
              </a:rPr>
              <a:t>}</a:t>
            </a:r>
          </a:p>
          <a:p>
            <a:pPr marL="800280" lvl="1" indent="-342720">
              <a:spcBef>
                <a:spcPts val="561"/>
              </a:spcBef>
              <a:buClr>
                <a:srgbClr val="000000"/>
              </a:buClr>
            </a:pPr>
            <a:r>
              <a:rPr lang="pt-BR" sz="2800" spc="-1" smtClean="0">
                <a:solidFill>
                  <a:srgbClr val="000000"/>
                </a:solidFill>
                <a:latin typeface="Times New Roman"/>
              </a:rPr>
              <a:t>32bit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/>
          <a:lstStyle/>
          <a:p>
            <a:r>
              <a:rPr lang="pt-BR" spc="-1" dirty="0" smtClean="0">
                <a:solidFill>
                  <a:srgbClr val="000000"/>
                </a:solidFill>
              </a:rPr>
              <a:t>n -= (n&gt;&gt;1) &amp; 0x55555555;</a:t>
            </a:r>
            <a:endParaRPr lang="en-US" altLang="zh-TW" dirty="0" smtClean="0"/>
          </a:p>
          <a:p>
            <a:r>
              <a:rPr lang="en-US" altLang="zh-TW" dirty="0" err="1" smtClean="0"/>
              <a:t>ab</a:t>
            </a:r>
            <a:r>
              <a:rPr lang="en-US" altLang="zh-TW" dirty="0" smtClean="0"/>
              <a:t> : 2a+b</a:t>
            </a:r>
          </a:p>
          <a:p>
            <a:r>
              <a:rPr lang="pt-BR" altLang="zh-TW" spc="-1" dirty="0" smtClean="0">
                <a:solidFill>
                  <a:srgbClr val="000000"/>
                </a:solidFill>
              </a:rPr>
              <a:t>0x5=0101</a:t>
            </a:r>
          </a:p>
          <a:p>
            <a:r>
              <a:rPr lang="pt-BR" spc="-1" dirty="0" smtClean="0">
                <a:solidFill>
                  <a:srgbClr val="000000"/>
                </a:solidFill>
              </a:rPr>
              <a:t>(ab&gt;&gt;1) &amp; 0x01 = a</a:t>
            </a:r>
            <a:endParaRPr lang="pt-BR" altLang="zh-TW" strike="sngStrike" spc="-1" dirty="0" smtClean="0">
              <a:solidFill>
                <a:srgbClr val="000000"/>
              </a:solidFill>
            </a:endParaRPr>
          </a:p>
          <a:p>
            <a:r>
              <a:rPr lang="pt-BR" altLang="zh-TW" spc="-1" dirty="0" smtClean="0">
                <a:solidFill>
                  <a:srgbClr val="000000"/>
                </a:solidFill>
              </a:rPr>
              <a:t>ab-a =</a:t>
            </a:r>
            <a:r>
              <a:rPr lang="en-US" altLang="zh-TW" dirty="0" smtClean="0"/>
              <a:t> 2a+b-(a)</a:t>
            </a:r>
            <a:r>
              <a:rPr lang="zh-TW" altLang="en-US" dirty="0" smtClean="0"/>
              <a:t> </a:t>
            </a:r>
            <a:r>
              <a:rPr lang="en-US" altLang="zh-TW" dirty="0" smtClean="0"/>
              <a:t>= </a:t>
            </a:r>
            <a:r>
              <a:rPr lang="en-US" altLang="zh-TW" dirty="0" err="1" smtClean="0"/>
              <a:t>a+b</a:t>
            </a:r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/>
          <a:lstStyle/>
          <a:p>
            <a:r>
              <a:rPr lang="pt-BR" spc="-1" dirty="0" smtClean="0">
                <a:solidFill>
                  <a:srgbClr val="000000"/>
                </a:solidFill>
              </a:rPr>
              <a:t>n = (n &amp; 0x33333333) + ((n&gt;&gt;2) &amp; 0x33333333); </a:t>
            </a:r>
          </a:p>
          <a:p>
            <a:r>
              <a:rPr lang="en-US" altLang="zh-TW" dirty="0" smtClean="0"/>
              <a:t>0x3=0011</a:t>
            </a:r>
          </a:p>
          <a:p>
            <a:r>
              <a:rPr lang="en-US" altLang="zh-TW" dirty="0" err="1" smtClean="0"/>
              <a:t>abcd</a:t>
            </a:r>
            <a:r>
              <a:rPr lang="en-US" altLang="zh-TW" dirty="0" smtClean="0"/>
              <a:t> </a:t>
            </a:r>
            <a:r>
              <a:rPr lang="pt-BR" spc="-1" dirty="0" smtClean="0">
                <a:solidFill>
                  <a:srgbClr val="000000"/>
                </a:solidFill>
              </a:rPr>
              <a:t>&amp; 0011 </a:t>
            </a:r>
            <a:r>
              <a:rPr lang="en-US" altLang="zh-TW" dirty="0" smtClean="0"/>
              <a:t>= </a:t>
            </a:r>
            <a:r>
              <a:rPr lang="en-US" altLang="zh-TW" dirty="0" err="1" smtClean="0"/>
              <a:t>cd</a:t>
            </a:r>
            <a:endParaRPr lang="en-US" altLang="zh-TW" dirty="0" smtClean="0"/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abcd</a:t>
            </a:r>
            <a:r>
              <a:rPr lang="en-US" altLang="zh-TW" dirty="0" smtClean="0"/>
              <a:t> </a:t>
            </a:r>
            <a:r>
              <a:rPr lang="pt-BR" spc="-1" dirty="0" smtClean="0">
                <a:solidFill>
                  <a:srgbClr val="000000"/>
                </a:solidFill>
              </a:rPr>
              <a:t>&gt;&gt; 2) &amp; 0x0011 = ab</a:t>
            </a:r>
          </a:p>
          <a:p>
            <a:r>
              <a:rPr lang="pt-BR" altLang="zh-TW" spc="-1" dirty="0" smtClean="0">
                <a:solidFill>
                  <a:srgbClr val="000000"/>
                </a:solidFill>
              </a:rPr>
              <a:t>ab+cd</a:t>
            </a:r>
            <a:endParaRPr lang="en-US" altLang="zh-TW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/>
          <a:lstStyle/>
          <a:p>
            <a:r>
              <a:rPr lang="pt-BR" spc="-1" dirty="0" smtClean="0">
                <a:solidFill>
                  <a:srgbClr val="000000"/>
                </a:solidFill>
              </a:rPr>
              <a:t>n = ((n&gt;&gt;4) + n) &amp; 0x0F0F0F0F;</a:t>
            </a:r>
          </a:p>
          <a:p>
            <a:r>
              <a:rPr lang="en-US" altLang="zh-TW" dirty="0" smtClean="0"/>
              <a:t>0x0F=00001111</a:t>
            </a: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abcdefgh</a:t>
            </a:r>
            <a:r>
              <a:rPr lang="en-US" altLang="zh-TW" dirty="0" smtClean="0"/>
              <a:t> &gt;&gt; 4) + </a:t>
            </a:r>
            <a:r>
              <a:rPr lang="en-US" altLang="zh-TW" dirty="0" err="1" smtClean="0"/>
              <a:t>abcdefgh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abcd+efgh</a:t>
            </a:r>
            <a:endParaRPr lang="en-US" altLang="zh-TW" dirty="0" smtClean="0"/>
          </a:p>
          <a:p>
            <a:r>
              <a:rPr lang="en-US" altLang="zh-TW" dirty="0" err="1" smtClean="0"/>
              <a:t>a,e</a:t>
            </a:r>
            <a:r>
              <a:rPr lang="en-US" altLang="zh-TW" dirty="0" smtClean="0"/>
              <a:t> = 0</a:t>
            </a:r>
          </a:p>
          <a:p>
            <a:r>
              <a:rPr lang="en-US" altLang="zh-TW" dirty="0" smtClean="0"/>
              <a:t>abcd0(</a:t>
            </a:r>
            <a:r>
              <a:rPr lang="en-US" altLang="zh-TW" dirty="0" err="1" smtClean="0"/>
              <a:t>bcd+fgh</a:t>
            </a:r>
            <a:r>
              <a:rPr lang="en-US" altLang="zh-TW" dirty="0" smtClean="0"/>
              <a:t>) </a:t>
            </a:r>
            <a:r>
              <a:rPr lang="pt-BR" spc="-1" dirty="0" smtClean="0">
                <a:solidFill>
                  <a:srgbClr val="000000"/>
                </a:solidFill>
              </a:rPr>
              <a:t>&amp; 00001111 = </a:t>
            </a:r>
            <a:r>
              <a:rPr lang="en-US" altLang="zh-TW" dirty="0" err="1" smtClean="0"/>
              <a:t>bcd+fgh</a:t>
            </a:r>
            <a:endParaRPr lang="en-US" altLang="zh-TW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/>
          <a:lstStyle/>
          <a:p>
            <a:r>
              <a:rPr lang="pt-BR" spc="-1" dirty="0" smtClean="0">
                <a:solidFill>
                  <a:srgbClr val="000000"/>
                </a:solidFill>
              </a:rPr>
              <a:t>n += n&gt;&gt;8; </a:t>
            </a:r>
          </a:p>
          <a:p>
            <a:r>
              <a:rPr lang="en-US" altLang="zh-TW" dirty="0" smtClean="0"/>
              <a:t>0000abcd0000efgh</a:t>
            </a:r>
            <a:endParaRPr lang="en-US" altLang="zh-TW" baseline="30000" dirty="0" smtClean="0"/>
          </a:p>
          <a:p>
            <a:r>
              <a:rPr lang="en-US" altLang="zh-TW" dirty="0" smtClean="0"/>
              <a:t>0000abcd0000(</a:t>
            </a:r>
            <a:r>
              <a:rPr lang="en-US" altLang="zh-TW" dirty="0" err="1" smtClean="0"/>
              <a:t>abcd+efgh</a:t>
            </a:r>
            <a:r>
              <a:rPr lang="en-US" altLang="zh-TW" dirty="0" smtClean="0"/>
              <a:t>)</a:t>
            </a:r>
          </a:p>
          <a:p>
            <a:r>
              <a:rPr lang="pt-BR" spc="-1" dirty="0" smtClean="0">
                <a:solidFill>
                  <a:srgbClr val="000000"/>
                </a:solidFill>
              </a:rPr>
              <a:t>n += n&gt;&gt;16;</a:t>
            </a:r>
          </a:p>
          <a:p>
            <a:r>
              <a:rPr lang="pt-BR" altLang="zh-TW" spc="-1" dirty="0" smtClean="0">
                <a:solidFill>
                  <a:srgbClr val="000000"/>
                </a:solidFill>
              </a:rPr>
              <a:t>...</a:t>
            </a:r>
          </a:p>
          <a:p>
            <a:endParaRPr lang="pt-BR" altLang="zh-TW" spc="-1" dirty="0" smtClean="0">
              <a:solidFill>
                <a:srgbClr val="000000"/>
              </a:solidFill>
            </a:endParaRPr>
          </a:p>
          <a:p>
            <a:r>
              <a:rPr lang="pt-BR" spc="-1" dirty="0" smtClean="0">
                <a:solidFill>
                  <a:srgbClr val="000000"/>
                </a:solidFill>
              </a:rPr>
              <a:t>return n&amp;0x0000003F;</a:t>
            </a:r>
          </a:p>
          <a:p>
            <a:r>
              <a:rPr lang="pt-BR" altLang="zh-TW" spc="-1" dirty="0" smtClean="0">
                <a:solidFill>
                  <a:srgbClr val="000000"/>
                </a:solidFill>
              </a:rPr>
              <a:t>0x3F=00111111    , 2</a:t>
            </a:r>
            <a:r>
              <a:rPr lang="pt-BR" altLang="zh-TW" spc="-1" baseline="30000" dirty="0" smtClean="0">
                <a:solidFill>
                  <a:srgbClr val="000000"/>
                </a:solidFill>
              </a:rPr>
              <a:t>6</a:t>
            </a:r>
            <a:r>
              <a:rPr lang="pt-BR" altLang="zh-TW" spc="-1" dirty="0" smtClean="0">
                <a:solidFill>
                  <a:srgbClr val="000000"/>
                </a:solidFill>
              </a:rPr>
              <a:t>=64 (0-63), max 32</a:t>
            </a:r>
            <a:endParaRPr lang="en-US" altLang="zh-TW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Compressed Suffix Trees with Full Functionality</a:t>
            </a:r>
            <a:endParaRPr lang="en-US" sz="32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Kunihiko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Sadakane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Theory of Computing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Systems, Volume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41, </a:t>
            </a:r>
            <a:endParaRPr lang="en-US" sz="24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issue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4, December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2007,</a:t>
            </a:r>
            <a:r>
              <a:rPr lang="en-US" altLang="zh-TW" sz="2400" spc="-1" dirty="0" smtClean="0">
                <a:solidFill>
                  <a:srgbClr val="000000"/>
                </a:solidFill>
                <a:latin typeface="Times New Roman"/>
              </a:rPr>
              <a:t> Pages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589-607</a:t>
            </a:r>
            <a:endParaRPr lang="en-US" sz="2400" spc="-1" dirty="0" smtClean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July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20,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2021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Abstract(1/2)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We introduce new data structures for compressed suffix trees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whose size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are linear in the text size. The size is measured in bits; thus they occupy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only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	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O(n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log|A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|) bits for a text of length n on an alphabet A. This is a remarkable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improvement on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current suffix trees which require O(n log n) bits. Though some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components of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suffix trees have been compressed, there is no linear-size data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structure for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suffix trees with full functionality such as computing suffix links,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string-depths and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lowest common ancestors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Abstract(2/2)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data structure proposed in this paper is the first one that has linear size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and supports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all operations efficiently. Any algorithm running on a suffix tree can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also be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executed on our compressed suffix trees with a slight slowdown of a factor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of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polylog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spc="-1" dirty="0" smtClean="0">
                <a:solidFill>
                  <a:srgbClr val="000000"/>
                </a:solidFill>
                <a:latin typeface="Times New Roman"/>
              </a:rPr>
              <a:t>Suffix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=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ababac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Suffix of T :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5" y="514350"/>
            <a:ext cx="9048750" cy="582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Shape 2"/>
          <p:cNvSpPr txBox="1"/>
          <p:nvPr/>
        </p:nvSpPr>
        <p:spPr>
          <a:xfrm>
            <a:off x="5643570" y="285728"/>
            <a:ext cx="3214710" cy="471490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=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ababac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Suffix of T :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   1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   2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   3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   4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ac$   5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c$   6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   7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4400" spc="-1" dirty="0" smtClean="0">
                <a:solidFill>
                  <a:srgbClr val="000000"/>
                </a:solidFill>
                <a:latin typeface="Times New Roman"/>
              </a:rPr>
              <a:t>Suffix links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suffix link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sl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(v) of an internal node v with path-label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xα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points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to the node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with path-label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α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not only necessary to construct a suffix tree in linear time but also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solve problems efficiently.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altLang="zh-TW" sz="4400" spc="-1" dirty="0" smtClean="0">
                <a:solidFill>
                  <a:srgbClr val="000000"/>
                </a:solidFill>
                <a:latin typeface="Times New Roman"/>
              </a:rPr>
              <a:t>Balanced </a:t>
            </a:r>
            <a:r>
              <a:rPr lang="en-US" altLang="zh-TW" sz="4400" spc="-1" dirty="0" smtClean="0">
                <a:solidFill>
                  <a:srgbClr val="000000"/>
                </a:solidFill>
                <a:latin typeface="Times New Roman"/>
              </a:rPr>
              <a:t>Parentheses Representations </a:t>
            </a:r>
            <a:r>
              <a:rPr lang="en-US" altLang="zh-TW" sz="4400" spc="-1" dirty="0" smtClean="0">
                <a:solidFill>
                  <a:srgbClr val="000000"/>
                </a:solidFill>
                <a:latin typeface="Times New Roman"/>
              </a:rPr>
              <a:t>of Trees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During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 preorder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traversal of the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tree: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write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an open parenthesis when a node is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visited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traverse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all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subtrees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of the node, and write a close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parenthesis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Any node in the tree is represented by a pair of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()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there are 2n −1 nodes in a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	suffix tree, can be encoded in at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	most 4n + o(n) bits.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5643578"/>
            <a:ext cx="44481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4071942"/>
            <a:ext cx="3214710" cy="2651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428604"/>
            <a:ext cx="555307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485804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Lcp</a:t>
            </a:r>
            <a:r>
              <a:rPr lang="en-US" altLang="zh-TW" dirty="0" smtClean="0"/>
              <a:t> between </a:t>
            </a:r>
            <a:r>
              <a:rPr lang="en-US" altLang="zh-TW" dirty="0" smtClean="0"/>
              <a:t>two suffixes T</a:t>
            </a:r>
            <a:r>
              <a:rPr lang="en-US" altLang="zh-TW" baseline="-25000" dirty="0" smtClean="0"/>
              <a:t>SA[l]</a:t>
            </a:r>
            <a:r>
              <a:rPr lang="en-US" altLang="zh-TW" dirty="0" smtClean="0"/>
              <a:t> and </a:t>
            </a:r>
            <a:r>
              <a:rPr lang="en-US" altLang="zh-TW" dirty="0" smtClean="0"/>
              <a:t>T</a:t>
            </a:r>
            <a:r>
              <a:rPr lang="en-US" altLang="zh-TW" baseline="-25000" dirty="0" smtClean="0"/>
              <a:t>SA[r]</a:t>
            </a:r>
            <a:r>
              <a:rPr lang="en-US" altLang="zh-TW" dirty="0" smtClean="0"/>
              <a:t> </a:t>
            </a:r>
          </a:p>
          <a:p>
            <a:pPr>
              <a:buNone/>
            </a:pPr>
            <a:r>
              <a:rPr lang="en-US" altLang="zh-TW" dirty="0" smtClean="0"/>
              <a:t>	(</a:t>
            </a:r>
            <a:r>
              <a:rPr lang="en-US" altLang="zh-TW" dirty="0" smtClean="0"/>
              <a:t>l &lt; </a:t>
            </a:r>
            <a:r>
              <a:rPr lang="en-US" altLang="zh-TW" dirty="0" smtClean="0"/>
              <a:t>r) </a:t>
            </a:r>
            <a:r>
              <a:rPr lang="en-US" altLang="zh-TW" dirty="0" smtClean="0"/>
              <a:t>is </a:t>
            </a:r>
            <a:r>
              <a:rPr lang="en-US" altLang="zh-TW" dirty="0" smtClean="0"/>
              <a:t> </a:t>
            </a:r>
            <a:r>
              <a:rPr lang="en-US" altLang="zh-TW" dirty="0" smtClean="0"/>
              <a:t>the </a:t>
            </a:r>
            <a:r>
              <a:rPr lang="en-US" altLang="zh-TW" dirty="0" smtClean="0"/>
              <a:t>minimum of </a:t>
            </a:r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/>
              <a:t>Hgt</a:t>
            </a:r>
            <a:r>
              <a:rPr lang="en-US" altLang="zh-TW" dirty="0" smtClean="0"/>
              <a:t>[l], </a:t>
            </a:r>
            <a:r>
              <a:rPr lang="en-US" altLang="zh-TW" dirty="0" err="1" smtClean="0"/>
              <a:t>Hgt</a:t>
            </a:r>
            <a:r>
              <a:rPr lang="en-US" altLang="zh-TW" dirty="0" smtClean="0"/>
              <a:t>[l + 1], . . . , </a:t>
            </a:r>
            <a:r>
              <a:rPr lang="en-US" altLang="zh-TW" dirty="0" err="1" smtClean="0"/>
              <a:t>Hgt</a:t>
            </a:r>
            <a:r>
              <a:rPr lang="en-US" altLang="zh-TW" dirty="0" smtClean="0"/>
              <a:t>[r − 1]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endParaRPr lang="zh-TW" altLang="en-US" dirty="0"/>
          </a:p>
        </p:txBody>
      </p:sp>
      <p:sp>
        <p:nvSpPr>
          <p:cNvPr id="9" name="TextShape 2"/>
          <p:cNvSpPr txBox="1"/>
          <p:nvPr/>
        </p:nvSpPr>
        <p:spPr>
          <a:xfrm>
            <a:off x="6215042" y="3357562"/>
            <a:ext cx="2857552" cy="350043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</a:rPr>
              <a:t>$                  1</a:t>
            </a:r>
            <a:endParaRPr lang="en-US" sz="2800" spc="-1" dirty="0" smtClean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ababac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       2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abac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$           3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</a:rPr>
              <a:t>ac$               4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</a:rPr>
              <a:t>babac</a:t>
            </a:r>
            <a:r>
              <a:rPr lang="en-US" sz="2800" spc="-1" dirty="0" smtClean="0">
                <a:solidFill>
                  <a:srgbClr val="000000"/>
                </a:solidFill>
              </a:rPr>
              <a:t>$         5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 smtClean="0">
                <a:solidFill>
                  <a:srgbClr val="000000"/>
                </a:solidFill>
              </a:rPr>
              <a:t>bac</a:t>
            </a:r>
            <a:r>
              <a:rPr lang="en-US" sz="2800" spc="-1" dirty="0" smtClean="0">
                <a:solidFill>
                  <a:srgbClr val="000000"/>
                </a:solidFill>
              </a:rPr>
              <a:t>$             6</a:t>
            </a:r>
            <a:endParaRPr lang="en-US" sz="2800" spc="-1" dirty="0" smtClean="0">
              <a:solidFill>
                <a:srgbClr val="000000"/>
              </a:solidFill>
              <a:latin typeface="Calibri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c$                 7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614366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reduces the problem of </a:t>
            </a:r>
            <a:r>
              <a:rPr lang="en-US" altLang="zh-TW" dirty="0" smtClean="0"/>
              <a:t>computing </a:t>
            </a:r>
            <a:r>
              <a:rPr lang="en-US" altLang="zh-TW" dirty="0" err="1" smtClean="0"/>
              <a:t>lca</a:t>
            </a:r>
            <a:r>
              <a:rPr lang="en-US" altLang="zh-TW" dirty="0" smtClean="0"/>
              <a:t> </a:t>
            </a:r>
            <a:r>
              <a:rPr lang="en-US" altLang="zh-TW" dirty="0" smtClean="0"/>
              <a:t>to the RMQ </a:t>
            </a:r>
            <a:r>
              <a:rPr lang="en-US" altLang="zh-TW" dirty="0" smtClean="0"/>
              <a:t>problem :</a:t>
            </a:r>
          </a:p>
          <a:p>
            <a:r>
              <a:rPr lang="en-US" altLang="zh-TW" dirty="0" smtClean="0"/>
              <a:t>traverse the nodes of the tree </a:t>
            </a:r>
            <a:r>
              <a:rPr lang="en-US" altLang="zh-TW" dirty="0" smtClean="0"/>
              <a:t>in </a:t>
            </a:r>
            <a:r>
              <a:rPr lang="en-US" altLang="zh-TW" dirty="0" smtClean="0"/>
              <a:t>depth-first manner and store their node-depths in an array </a:t>
            </a:r>
            <a:r>
              <a:rPr lang="en-US" altLang="zh-TW" i="1" dirty="0" smtClean="0"/>
              <a:t>L</a:t>
            </a:r>
          </a:p>
          <a:p>
            <a:r>
              <a:rPr lang="en-US" altLang="zh-TW" dirty="0" smtClean="0"/>
              <a:t>n</a:t>
            </a:r>
            <a:r>
              <a:rPr lang="en-US" altLang="zh-TW" dirty="0" smtClean="0"/>
              <a:t>ode depth of </a:t>
            </a:r>
            <a:r>
              <a:rPr lang="en-US" altLang="zh-TW" dirty="0" smtClean="0"/>
              <a:t>a node is the number of nodes on the path from the root to the node</a:t>
            </a:r>
            <a:endParaRPr lang="en-US" altLang="zh-TW" i="1" dirty="0" smtClean="0"/>
          </a:p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lca</a:t>
            </a:r>
            <a:r>
              <a:rPr lang="en-US" altLang="zh-TW" dirty="0" smtClean="0"/>
              <a:t> </a:t>
            </a:r>
            <a:r>
              <a:rPr lang="en-US" altLang="zh-TW" dirty="0" smtClean="0"/>
              <a:t>between two nodes can be represented as the minimum value in the </a:t>
            </a:r>
            <a:r>
              <a:rPr lang="en-US" altLang="zh-TW" dirty="0" err="1" smtClean="0"/>
              <a:t>subarray</a:t>
            </a:r>
            <a:r>
              <a:rPr lang="en-US" altLang="zh-TW" dirty="0" smtClean="0"/>
              <a:t> of </a:t>
            </a:r>
            <a:r>
              <a:rPr lang="en-US" altLang="zh-TW" dirty="0" smtClean="0"/>
              <a:t>L.</a:t>
            </a:r>
          </a:p>
          <a:p>
            <a:r>
              <a:rPr lang="en-US" altLang="zh-TW" dirty="0" smtClean="0"/>
              <a:t>store L as an integer array of size 2n − 1 for </a:t>
            </a:r>
            <a:r>
              <a:rPr lang="en-US" altLang="zh-TW" dirty="0" smtClean="0"/>
              <a:t>an n-node </a:t>
            </a:r>
            <a:r>
              <a:rPr lang="en-US" altLang="zh-TW" dirty="0" smtClean="0"/>
              <a:t>tree.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5929330"/>
            <a:ext cx="3786214" cy="869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r>
              <a:rPr lang="en-US" altLang="zh-TW" dirty="0" smtClean="0"/>
              <a:t>A compressed suffix tree for a text of length n, </a:t>
            </a:r>
            <a:r>
              <a:rPr lang="en-US" altLang="zh-TW" dirty="0" smtClean="0"/>
              <a:t>can </a:t>
            </a:r>
            <a:r>
              <a:rPr lang="en-US" altLang="zh-TW" dirty="0" smtClean="0"/>
              <a:t>be represented in |CSA| + 6n + o(n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4n+o(n) for encoded suffix tree and 2n for </a:t>
            </a:r>
            <a:r>
              <a:rPr lang="en-US" altLang="zh-TW" dirty="0" err="1" smtClean="0"/>
              <a:t>lca</a:t>
            </a:r>
            <a:endParaRPr lang="en-US" altLang="zh-TW" dirty="0" smtClean="0"/>
          </a:p>
          <a:p>
            <a:r>
              <a:rPr lang="en-US" altLang="zh-TW" dirty="0" smtClean="0"/>
              <a:t>|CSA| denotes the size of the compressed suffix array. (n </a:t>
            </a:r>
            <a:r>
              <a:rPr lang="en-US" altLang="zh-TW" dirty="0" err="1" smtClean="0"/>
              <a:t>log|A</a:t>
            </a:r>
            <a:r>
              <a:rPr lang="en-US" altLang="zh-TW" dirty="0" smtClean="0"/>
              <a:t>|)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 smtClean="0"/>
              <a:t>in order </a:t>
            </a:r>
            <a:r>
              <a:rPr lang="en-US" altLang="zh-TW" dirty="0" smtClean="0"/>
              <a:t>rank of an internal node v is defined as the number of </a:t>
            </a:r>
            <a:r>
              <a:rPr lang="en-US" altLang="zh-TW" dirty="0" smtClean="0"/>
              <a:t>visited internal </a:t>
            </a:r>
            <a:r>
              <a:rPr lang="en-US" altLang="zh-TW" dirty="0" smtClean="0"/>
              <a:t>nodes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1414" y="2085986"/>
            <a:ext cx="6409544" cy="4129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2428860" y="2714620"/>
            <a:ext cx="21431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071670" y="3500438"/>
            <a:ext cx="21431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28992" y="3143248"/>
            <a:ext cx="21431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786050" y="2071678"/>
            <a:ext cx="50006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/>
          <a:lstStyle/>
          <a:p>
            <a:r>
              <a:rPr lang="en-US" altLang="zh-TW" dirty="0" smtClean="0"/>
              <a:t>Finding a Child Node and a </a:t>
            </a:r>
            <a:r>
              <a:rPr lang="en-US" altLang="zh-TW" dirty="0" smtClean="0"/>
              <a:t>Sibling :</a:t>
            </a:r>
          </a:p>
          <a:p>
            <a:r>
              <a:rPr lang="en-US" altLang="zh-TW" dirty="0" smtClean="0"/>
              <a:t>In the parentheses sequence all children of an</a:t>
            </a:r>
          </a:p>
          <a:p>
            <a:r>
              <a:rPr lang="en-US" altLang="zh-TW" dirty="0" smtClean="0"/>
              <a:t>internal node v are sequentially encoded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We </a:t>
            </a:r>
            <a:r>
              <a:rPr lang="en-US" altLang="zh-TW" dirty="0" smtClean="0"/>
              <a:t>can therefore compute the first child of v </a:t>
            </a:r>
            <a:r>
              <a:rPr lang="en-US" altLang="zh-TW" dirty="0" smtClean="0"/>
              <a:t>by </a:t>
            </a:r>
            <a:r>
              <a:rPr lang="en-US" altLang="zh-TW" dirty="0" err="1" smtClean="0"/>
              <a:t>firstchild</a:t>
            </a:r>
            <a:r>
              <a:rPr lang="en-US" altLang="zh-TW" dirty="0" smtClean="0"/>
              <a:t>(v</a:t>
            </a:r>
            <a:r>
              <a:rPr lang="en-US" altLang="zh-TW" dirty="0" smtClean="0"/>
              <a:t>) = v+1, and the next sibling of a </a:t>
            </a:r>
            <a:r>
              <a:rPr lang="en-US" altLang="zh-TW" dirty="0" smtClean="0"/>
              <a:t>node w </a:t>
            </a:r>
            <a:r>
              <a:rPr lang="en-US" altLang="zh-TW" dirty="0" smtClean="0"/>
              <a:t>by sibling(w) = </a:t>
            </a:r>
            <a:r>
              <a:rPr lang="en-US" altLang="zh-TW" dirty="0" err="1" smtClean="0"/>
              <a:t>findclose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P,w</a:t>
            </a:r>
            <a:r>
              <a:rPr lang="en-US" altLang="zh-TW" dirty="0" smtClean="0"/>
              <a:t>)+1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536" y="4633929"/>
            <a:ext cx="6929612" cy="179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8713</TotalTime>
  <Words>620</Words>
  <Application>LibreOffice/6.4.6.2$Windows_X86_64 LibreOffice_project/0ce51a4fd21bff07a5c061082cc82c5ed232f115</Application>
  <PresentationFormat>如螢幕大小 (4:3)</PresentationFormat>
  <Paragraphs>100</Paragraphs>
  <Slides>17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7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Office Theme</vt:lpstr>
      <vt:lpstr>Office Theme</vt:lpstr>
      <vt:lpstr>2_Office Theme</vt:lpstr>
      <vt:lpstr>1_自訂設計</vt:lpstr>
      <vt:lpstr>3_Office Theme</vt:lpstr>
      <vt:lpstr>自訂設計</vt:lpstr>
      <vt:lpstr>4_Office Theme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super</cp:lastModifiedBy>
  <cp:revision>1996</cp:revision>
  <dcterms:created xsi:type="dcterms:W3CDTF">2020-09-11T11:13:53Z</dcterms:created>
  <dcterms:modified xsi:type="dcterms:W3CDTF">2021-07-20T06:33:33Z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