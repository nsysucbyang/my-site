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99" r:id="rId3"/>
    <p:sldMasterId id="2147483738" r:id="rId4"/>
    <p:sldMasterId id="2147483712" r:id="rId5"/>
    <p:sldMasterId id="2147483674" r:id="rId6"/>
    <p:sldMasterId id="2147483725" r:id="rId7"/>
  </p:sldMasterIdLst>
  <p:notesMasterIdLst>
    <p:notesMasterId r:id="rId26"/>
  </p:notesMasterIdLst>
  <p:sldIdLst>
    <p:sldId id="256" r:id="rId8"/>
    <p:sldId id="257" r:id="rId9"/>
    <p:sldId id="326" r:id="rId10"/>
    <p:sldId id="327" r:id="rId11"/>
    <p:sldId id="330" r:id="rId12"/>
    <p:sldId id="328" r:id="rId13"/>
    <p:sldId id="329" r:id="rId14"/>
    <p:sldId id="331" r:id="rId15"/>
    <p:sldId id="332" r:id="rId16"/>
    <p:sldId id="333" r:id="rId17"/>
    <p:sldId id="335" r:id="rId18"/>
    <p:sldId id="336" r:id="rId19"/>
    <p:sldId id="337" r:id="rId20"/>
    <p:sldId id="334" r:id="rId21"/>
    <p:sldId id="338" r:id="rId22"/>
    <p:sldId id="341" r:id="rId23"/>
    <p:sldId id="339" r:id="rId24"/>
    <p:sldId id="340" r:id="rId2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87" autoAdjust="0"/>
    <p:restoredTop sz="94632" autoAdjust="0"/>
  </p:normalViewPr>
  <p:slideViewPr>
    <p:cSldViewPr>
      <p:cViewPr varScale="1">
        <p:scale>
          <a:sx n="109" d="100"/>
          <a:sy n="109" d="100"/>
        </p:scale>
        <p:origin x="129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TW" sz="1800" b="0" strike="noStrike" spc="-1">
                <a:solidFill>
                  <a:srgbClr val="000000"/>
                </a:solidFill>
                <a:latin typeface="Calibri"/>
              </a:rPr>
              <a:t>請按這裡移動投影片</a:t>
            </a:r>
            <a:endParaRPr lang="en-US" sz="1800" b="0" strike="noStrike" spc="-1">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p:spPr>
        <p:txBody>
          <a:bodyPr lIns="0" tIns="0" rIns="0" bIns="0">
            <a:noAutofit/>
          </a:bodyPr>
          <a:lstStyle/>
          <a:p>
            <a:r>
              <a:rPr lang="zh-TW" sz="2000" b="0" strike="noStrike" spc="-1">
                <a:latin typeface="Arial"/>
              </a:rPr>
              <a:t>請按這裡編輯備註格式</a:t>
            </a:r>
            <a:endParaRPr lang="en-US" sz="2000" b="0" strike="noStrike" spc="-1">
              <a:latin typeface="Arial"/>
            </a:endParaRPr>
          </a:p>
        </p:txBody>
      </p:sp>
      <p:sp>
        <p:nvSpPr>
          <p:cNvPr id="84"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&lt;頁首&gt;</a:t>
            </a:r>
          </a:p>
        </p:txBody>
      </p:sp>
      <p:sp>
        <p:nvSpPr>
          <p:cNvPr id="8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&lt;日期/時間&gt;</a:t>
            </a:r>
          </a:p>
        </p:txBody>
      </p:sp>
      <p:sp>
        <p:nvSpPr>
          <p:cNvPr id="8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&lt;頁尾&gt;</a:t>
            </a:r>
          </a:p>
        </p:txBody>
      </p:sp>
      <p:sp>
        <p:nvSpPr>
          <p:cNvPr id="8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31962A5-A15B-4472-A253-73015B2EE908}" type="slidenum">
              <a:rPr lang="en-US" sz="1400" b="0" strike="noStrike" spc="-1">
                <a:latin typeface="Times New Roman"/>
              </a:rPr>
              <a:pPr algn="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atin typeface="Times New Roman" pitchFamily="18" charset="0"/>
                <a:cs typeface="Times New Roman" pitchFamily="18" charset="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lvl1pPr>
              <a:defRPr>
                <a:latin typeface="Times New Roman" pitchFamily="18" charset="0"/>
                <a:cs typeface="Times New Roman" pitchFamily="18" charset="0"/>
              </a:defRPr>
            </a:lvl1pPr>
            <a:lvl2pPr>
              <a:defRPr>
                <a:latin typeface="Times New Roman" pitchFamily="18" charset="0"/>
                <a:cs typeface="Times New Roman" pitchFamily="18" charset="0"/>
              </a:defRPr>
            </a:lvl2pPr>
            <a:lvl3pPr>
              <a:defRPr>
                <a:latin typeface="Times New Roman" pitchFamily="18" charset="0"/>
                <a:cs typeface="Times New Roman" pitchFamily="18" charset="0"/>
              </a:defRPr>
            </a:lvl3pPr>
            <a:lvl4pPr>
              <a:defRPr>
                <a:latin typeface="Times New Roman" pitchFamily="18" charset="0"/>
                <a:cs typeface="Times New Roman" pitchFamily="18" charset="0"/>
              </a:defRPr>
            </a:lvl4pPr>
            <a:lvl5pPr>
              <a:defRPr>
                <a:latin typeface="Times New Roman" pitchFamily="18" charset="0"/>
                <a:cs typeface="Times New Roman" pitchFamily="18" charset="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1_標題及物件T">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2021/9/7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6" name="PlaceHolder 2"/>
          <p:cNvSpPr>
            <a:spLocks noGrp="1"/>
          </p:cNvSpPr>
          <p:nvPr>
            <p:ph type="dt"/>
          </p:nvPr>
        </p:nvSpPr>
        <p:spPr>
          <a:xfrm>
            <a:off x="457200" y="6356520"/>
            <a:ext cx="2133360" cy="364680"/>
          </a:xfrm>
          <a:prstGeom prst="rect">
            <a:avLst/>
          </a:prstGeom>
        </p:spPr>
        <p:txBody>
          <a:bodyPr anchor="ctr">
            <a:noAutofit/>
          </a:bodyPr>
          <a:lstStyle/>
          <a:p>
            <a:pPr>
              <a:lnSpc>
                <a:spcPct val="100000"/>
              </a:lnSpc>
            </a:pPr>
            <a:fld id="{BFEC21A0-76F1-4091-8A4E-3D3682A4EBBE}" type="datetime">
              <a:rPr lang="en-US" sz="1200" b="0" strike="noStrike" spc="-1">
                <a:solidFill>
                  <a:srgbClr val="8B8B8B"/>
                </a:solidFill>
                <a:latin typeface="Calibri"/>
              </a:rPr>
              <a:pPr>
                <a:lnSpc>
                  <a:spcPct val="100000"/>
                </a:lnSpc>
              </a:pPr>
              <a:t>9/7/2021</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29C6C588-69D4-483A-BFC4-1F3BDC423AB1}"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3200" b="0" strike="noStrike" spc="-1" dirty="0">
                <a:solidFill>
                  <a:srgbClr val="000000"/>
                </a:solidFill>
                <a:latin typeface="Calibri"/>
              </a:rPr>
              <a:t>請按這裡編輯大綱文字格式</a:t>
            </a:r>
            <a:endParaRPr lang="en-US" sz="3200" b="0" strike="noStrike" spc="-1" dirty="0">
              <a:solidFill>
                <a:srgbClr val="000000"/>
              </a:solidFill>
              <a:latin typeface="Calibri"/>
            </a:endParaRPr>
          </a:p>
          <a:p>
            <a:pPr marL="864000" lvl="1" indent="-324000">
              <a:spcBef>
                <a:spcPts val="1134"/>
              </a:spcBef>
              <a:buClr>
                <a:srgbClr val="000000"/>
              </a:buClr>
              <a:buSzPct val="75000"/>
              <a:buFont typeface="Symbol" charset="2"/>
              <a:buChar char=""/>
            </a:pPr>
            <a:r>
              <a:rPr lang="zh-TW" sz="2400" b="0" strike="noStrike" spc="-1" dirty="0">
                <a:solidFill>
                  <a:srgbClr val="000000"/>
                </a:solidFill>
                <a:latin typeface="Calibri"/>
              </a:rPr>
              <a:t>第二個大綱層次</a:t>
            </a:r>
            <a:endParaRPr lang="en-US" sz="2400" b="0" strike="noStrike" spc="-1" dirty="0">
              <a:solidFill>
                <a:srgbClr val="000000"/>
              </a:solidFill>
              <a:latin typeface="Calibri"/>
            </a:endParaRPr>
          </a:p>
          <a:p>
            <a:pPr marL="1296000" lvl="2" indent="-288000">
              <a:spcBef>
                <a:spcPts val="850"/>
              </a:spcBef>
              <a:buClr>
                <a:srgbClr val="000000"/>
              </a:buClr>
              <a:buSzPct val="45000"/>
              <a:buFont typeface="Wingdings" charset="2"/>
              <a:buChar char=""/>
            </a:pPr>
            <a:r>
              <a:rPr lang="zh-TW" sz="2000" b="0" strike="noStrike" spc="-1" dirty="0">
                <a:solidFill>
                  <a:srgbClr val="000000"/>
                </a:solidFill>
                <a:latin typeface="Calibri"/>
              </a:rPr>
              <a:t>第三個大綱層次</a:t>
            </a:r>
            <a:endParaRPr lang="en-US" sz="2000" b="0" strike="noStrike" spc="-1" dirty="0">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dirty="0">
                <a:solidFill>
                  <a:srgbClr val="000000"/>
                </a:solidFill>
                <a:latin typeface="Calibri"/>
              </a:rPr>
              <a:t>第四個大綱層次</a:t>
            </a:r>
            <a:endParaRPr lang="en-US" sz="2000" b="0" strike="noStrike" spc="-1" dirty="0">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dirty="0">
                <a:solidFill>
                  <a:srgbClr val="000000"/>
                </a:solidFill>
                <a:latin typeface="Calibri"/>
              </a:rPr>
              <a:t>第五個大綱層次</a:t>
            </a:r>
            <a:endParaRPr lang="en-US" sz="2000" b="0" strike="noStrike" spc="-1" dirty="0">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dirty="0">
                <a:solidFill>
                  <a:srgbClr val="000000"/>
                </a:solidFill>
                <a:latin typeface="Calibri"/>
              </a:rPr>
              <a:t>第六個大綱層次</a:t>
            </a:r>
            <a:endParaRPr lang="en-US" sz="2000" b="0" strike="noStrike" spc="-1" dirty="0">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dirty="0">
                <a:solidFill>
                  <a:srgbClr val="000000"/>
                </a:solidFill>
                <a:latin typeface="Calibri"/>
              </a:rPr>
              <a:t>第七個大綱層次</a:t>
            </a:r>
            <a:endParaRPr lang="en-US" sz="2000" b="0" strike="noStrike" spc="-1" dirty="0">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9/7/2021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9/7/2021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F5B75-ECF6-4BE6-A3DE-C8259B535844}" type="datetimeFigureOut">
              <a:rPr lang="zh-TW" altLang="en-US" smtClean="0"/>
              <a:pPr/>
              <a:t>2021/9/7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404C3-9969-4EFA-96B9-1AADC38D565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5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9/7/2021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1E863-67F1-4DED-9226-013F8637FBA5}" type="datetimeFigureOut">
              <a:rPr lang="zh-TW" altLang="en-US" smtClean="0"/>
              <a:pPr/>
              <a:t>2021/9/7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AB90B-7E45-4DA0-85F8-FA0EBB18F3F7}"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751"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63.xml"/><Relationship Id="rId5" Type="http://schemas.openxmlformats.org/officeDocument/2006/relationships/image" Target="../media/image16.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3.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714240" y="1285920"/>
            <a:ext cx="7772040" cy="1469520"/>
          </a:xfrm>
          <a:prstGeom prst="rect">
            <a:avLst/>
          </a:prstGeom>
          <a:noFill/>
          <a:ln>
            <a:noFill/>
          </a:ln>
        </p:spPr>
        <p:txBody>
          <a:bodyPr anchor="ctr">
            <a:noAutofit/>
          </a:bodyPr>
          <a:lstStyle/>
          <a:p>
            <a:pPr algn="ctr"/>
            <a:r>
              <a:rPr lang="en-US" altLang="zh-TW" sz="3200" dirty="0" smtClean="0">
                <a:latin typeface="Times New Roman" pitchFamily="18" charset="0"/>
                <a:cs typeface="Times New Roman" pitchFamily="18" charset="0"/>
              </a:rPr>
              <a:t>TC-DTW: Accelerating Multivariate Dynamic Time Warping Through Triangle Inequality and Point Clustering</a:t>
            </a:r>
            <a:endParaRPr lang="en-US" sz="3200" b="0" strike="noStrike" spc="-1" dirty="0">
              <a:solidFill>
                <a:srgbClr val="000000"/>
              </a:solidFill>
              <a:latin typeface="Times New Roman" pitchFamily="18" charset="0"/>
              <a:cs typeface="Times New Roman" pitchFamily="18" charset="0"/>
            </a:endParaRPr>
          </a:p>
        </p:txBody>
      </p:sp>
      <p:sp>
        <p:nvSpPr>
          <p:cNvPr id="89" name="TextShape 2"/>
          <p:cNvSpPr txBox="1"/>
          <p:nvPr/>
        </p:nvSpPr>
        <p:spPr>
          <a:xfrm>
            <a:off x="1214280" y="3357720"/>
            <a:ext cx="6786360" cy="2071440"/>
          </a:xfrm>
          <a:prstGeom prst="rect">
            <a:avLst/>
          </a:prstGeom>
          <a:noFill/>
          <a:ln>
            <a:noFill/>
          </a:ln>
        </p:spPr>
        <p:txBody>
          <a:bodyPr>
            <a:normAutofit/>
          </a:bodyPr>
          <a:lstStyle/>
          <a:p>
            <a:pPr algn="ctr">
              <a:spcBef>
                <a:spcPts val="479"/>
              </a:spcBef>
              <a:tabLst>
                <a:tab pos="0" algn="l"/>
              </a:tabLst>
            </a:pPr>
            <a:r>
              <a:rPr lang="it-IT" sz="2400" spc="-1" dirty="0" smtClean="0">
                <a:solidFill>
                  <a:srgbClr val="000000"/>
                </a:solidFill>
                <a:latin typeface="Times New Roman" pitchFamily="18" charset="0"/>
                <a:cs typeface="Times New Roman" pitchFamily="18" charset="0"/>
              </a:rPr>
              <a:t>Daniel S. Shen, Min Chi</a:t>
            </a:r>
          </a:p>
          <a:p>
            <a:pPr algn="ctr">
              <a:spcBef>
                <a:spcPts val="479"/>
              </a:spcBef>
              <a:tabLst>
                <a:tab pos="0" algn="l"/>
              </a:tabLst>
            </a:pPr>
            <a:endParaRPr lang="en-US" sz="2000" spc="-1" dirty="0" smtClean="0">
              <a:solidFill>
                <a:srgbClr val="000000"/>
              </a:solidFill>
              <a:latin typeface="Times New Roman"/>
            </a:endParaRPr>
          </a:p>
        </p:txBody>
      </p:sp>
      <p:sp>
        <p:nvSpPr>
          <p:cNvPr id="90" name="CustomShape 3"/>
          <p:cNvSpPr/>
          <p:nvPr/>
        </p:nvSpPr>
        <p:spPr>
          <a:xfrm>
            <a:off x="5786280" y="5643720"/>
            <a:ext cx="3114360" cy="10378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100000"/>
              </a:lnSpc>
              <a:spcBef>
                <a:spcPts val="400"/>
              </a:spcBef>
              <a:tabLst>
                <a:tab pos="0" algn="l"/>
              </a:tabLst>
            </a:pPr>
            <a:r>
              <a:rPr lang="en-US" sz="2000" b="0" strike="noStrike" spc="-1" dirty="0">
                <a:solidFill>
                  <a:srgbClr val="000000"/>
                </a:solidFill>
                <a:latin typeface="Times New Roman"/>
              </a:rPr>
              <a:t>Presenter: Shin-Cheng Lin</a:t>
            </a:r>
            <a:endParaRPr lang="en-US" sz="2000" b="0" strike="noStrike" spc="-1" dirty="0">
              <a:latin typeface="Arial"/>
            </a:endParaRPr>
          </a:p>
          <a:p>
            <a:pPr>
              <a:lnSpc>
                <a:spcPct val="100000"/>
              </a:lnSpc>
              <a:spcBef>
                <a:spcPts val="400"/>
              </a:spcBef>
              <a:tabLst>
                <a:tab pos="0" algn="l"/>
              </a:tabLst>
            </a:pPr>
            <a:r>
              <a:rPr lang="en-US" sz="2000" b="0" strike="noStrike" spc="-1" dirty="0">
                <a:solidFill>
                  <a:srgbClr val="000000"/>
                </a:solidFill>
                <a:latin typeface="Times New Roman"/>
              </a:rPr>
              <a:t>Date: </a:t>
            </a:r>
            <a:r>
              <a:rPr lang="en-US" sz="2000" b="0" strike="noStrike" spc="-1" dirty="0" smtClean="0">
                <a:solidFill>
                  <a:srgbClr val="000000"/>
                </a:solidFill>
                <a:latin typeface="Times New Roman"/>
              </a:rPr>
              <a:t>Sept</a:t>
            </a:r>
            <a:r>
              <a:rPr lang="en-US" sz="2000" spc="-1" dirty="0" smtClean="0">
                <a:solidFill>
                  <a:srgbClr val="000000"/>
                </a:solidFill>
                <a:latin typeface="Times New Roman"/>
              </a:rPr>
              <a:t>.</a:t>
            </a:r>
            <a:r>
              <a:rPr lang="en-US" sz="2000" b="0" strike="noStrike" spc="-1" dirty="0" smtClean="0">
                <a:solidFill>
                  <a:srgbClr val="000000"/>
                </a:solidFill>
                <a:latin typeface="Times New Roman"/>
              </a:rPr>
              <a:t> 7, 2021</a:t>
            </a:r>
            <a:endParaRPr lang="en-US" sz="20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smtClean="0">
                <a:solidFill>
                  <a:srgbClr val="000000"/>
                </a:solidFill>
                <a:latin typeface="Times New Roman"/>
              </a:rPr>
              <a:t>Abstract(1/2)</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smtClean="0">
                <a:solidFill>
                  <a:srgbClr val="000000"/>
                </a:solidFill>
                <a:latin typeface="Times New Roman"/>
              </a:rPr>
              <a:t>Dynamic time warping (DTW) plays an important role in analytics on time series. Despite the large body of research on speeding up </a:t>
            </a:r>
            <a:r>
              <a:rPr lang="en-US" sz="2800" spc="-1" dirty="0" err="1" smtClean="0">
                <a:solidFill>
                  <a:srgbClr val="000000"/>
                </a:solidFill>
                <a:latin typeface="Times New Roman"/>
              </a:rPr>
              <a:t>univariate</a:t>
            </a:r>
            <a:r>
              <a:rPr lang="en-US" sz="2800" spc="-1" dirty="0" smtClean="0">
                <a:solidFill>
                  <a:srgbClr val="000000"/>
                </a:solidFill>
                <a:latin typeface="Times New Roman"/>
              </a:rPr>
              <a:t> DTW, the method for multivariate DTW has not been improved much in the last two decades. The most popular algorithm used today is still the one developed seventeen years ago. This paper presents a solution that, as far as we know, for the first time consistently outperforms the classic multivariate DTW algorithm across dataset sizes, series lengths, data dimensions, temporal window sizes, and machines.</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smtClean="0">
                <a:solidFill>
                  <a:srgbClr val="000000"/>
                </a:solidFill>
                <a:latin typeface="Times New Roman"/>
              </a:rPr>
              <a:t>Abstract(2/2)</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smtClean="0">
                <a:solidFill>
                  <a:srgbClr val="000000"/>
                </a:solidFill>
                <a:latin typeface="Times New Roman"/>
              </a:rPr>
              <a:t>The new solution, named TC-DTW, introduces Triangle Inequality and Point Clustering into the algorithm design on lower bound calculations for multivariate DTW. In experiments on DTW-based nearest neighbor </a:t>
            </a:r>
            <a:r>
              <a:rPr lang="en-US" sz="2800" spc="-1" dirty="0" err="1" smtClean="0">
                <a:solidFill>
                  <a:srgbClr val="000000"/>
                </a:solidFill>
                <a:latin typeface="Times New Roman"/>
              </a:rPr>
              <a:t>nding</a:t>
            </a:r>
            <a:r>
              <a:rPr lang="en-US" sz="2800" spc="-1" dirty="0" smtClean="0">
                <a:solidFill>
                  <a:srgbClr val="000000"/>
                </a:solidFill>
                <a:latin typeface="Times New Roman"/>
              </a:rPr>
              <a:t>, the new solution avoids as much as 98% (60% average) DTW distance calculations and yields as much as 25×  (7.5× average) speedups.</a:t>
            </a:r>
            <a:endParaRPr lang="en-US" sz="2800" b="0" strike="noStrike" spc="-1" dirty="0">
              <a:solidFill>
                <a:srgbClr val="000000"/>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en-US" altLang="zh-TW" smtClean="0"/>
              <a:t>DTW : Dynamic Time Warping</a:t>
            </a:r>
            <a:endParaRPr lang="zh-TW" altLang="en-US" dirty="0"/>
          </a:p>
        </p:txBody>
      </p:sp>
      <p:sp>
        <p:nvSpPr>
          <p:cNvPr id="5" name="內容版面配置區 4"/>
          <p:cNvSpPr>
            <a:spLocks noGrp="1"/>
          </p:cNvSpPr>
          <p:nvPr>
            <p:ph idx="1"/>
          </p:nvPr>
        </p:nvSpPr>
        <p:spPr>
          <a:xfrm>
            <a:off x="457200" y="5143512"/>
            <a:ext cx="8229600" cy="1268403"/>
          </a:xfrm>
        </p:spPr>
        <p:txBody>
          <a:bodyPr/>
          <a:lstStyle/>
          <a:p>
            <a:r>
              <a:rPr lang="en-US" altLang="zh-TW" dirty="0" smtClean="0"/>
              <a:t>O(</a:t>
            </a:r>
            <a:r>
              <a:rPr lang="en-US" altLang="zh-TW" dirty="0" err="1" smtClean="0"/>
              <a:t>mn</a:t>
            </a:r>
            <a:r>
              <a:rPr lang="en-US" altLang="zh-TW" dirty="0" smtClean="0"/>
              <a:t>)</a:t>
            </a:r>
            <a:endParaRPr lang="zh-TW" altLang="en-US" dirty="0"/>
          </a:p>
        </p:txBody>
      </p:sp>
      <p:pic>
        <p:nvPicPr>
          <p:cNvPr id="1026" name="Picture 2"/>
          <p:cNvPicPr>
            <a:picLocks noChangeAspect="1" noChangeArrowheads="1"/>
          </p:cNvPicPr>
          <p:nvPr/>
        </p:nvPicPr>
        <p:blipFill>
          <a:blip r:embed="rId2"/>
          <a:srcRect/>
          <a:stretch>
            <a:fillRect/>
          </a:stretch>
        </p:blipFill>
        <p:spPr bwMode="auto">
          <a:xfrm>
            <a:off x="240943" y="1571612"/>
            <a:ext cx="8662114" cy="1576392"/>
          </a:xfrm>
          <a:prstGeom prst="rect">
            <a:avLst/>
          </a:prstGeom>
          <a:noFill/>
          <a:ln w="9525">
            <a:noFill/>
            <a:miter lim="800000"/>
            <a:headEnd/>
            <a:tailEnd/>
          </a:ln>
          <a:effectLst/>
        </p:spPr>
      </p:pic>
      <p:pic>
        <p:nvPicPr>
          <p:cNvPr id="2" name="Picture 2"/>
          <p:cNvPicPr>
            <a:picLocks noChangeAspect="1" noChangeArrowheads="1"/>
          </p:cNvPicPr>
          <p:nvPr/>
        </p:nvPicPr>
        <p:blipFill>
          <a:blip r:embed="rId3"/>
          <a:srcRect/>
          <a:stretch>
            <a:fillRect/>
          </a:stretch>
        </p:blipFill>
        <p:spPr bwMode="auto">
          <a:xfrm>
            <a:off x="1909763" y="3714752"/>
            <a:ext cx="5324475" cy="1200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Window DTW</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3074" name="Picture 2"/>
          <p:cNvPicPr>
            <a:picLocks noChangeAspect="1" noChangeArrowheads="1"/>
          </p:cNvPicPr>
          <p:nvPr/>
        </p:nvPicPr>
        <p:blipFill>
          <a:blip r:embed="rId2"/>
          <a:srcRect/>
          <a:stretch>
            <a:fillRect/>
          </a:stretch>
        </p:blipFill>
        <p:spPr bwMode="auto">
          <a:xfrm>
            <a:off x="2690813" y="1771667"/>
            <a:ext cx="3762375" cy="40862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Search for the candidate series in a collection that is the most similar to a query series.</a:t>
            </a:r>
          </a:p>
          <a:p>
            <a:r>
              <a:rPr lang="en-US" altLang="zh-TW" dirty="0" smtClean="0"/>
              <a:t>Avoid computing the DTW distance if the lower bound of current DTW distance exceeds the best-so-far.</a:t>
            </a:r>
          </a:p>
          <a:p>
            <a:endParaRPr lang="zh-TW"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050" name="Picture 2"/>
          <p:cNvPicPr>
            <a:picLocks noChangeAspect="1" noChangeArrowheads="1"/>
          </p:cNvPicPr>
          <p:nvPr/>
        </p:nvPicPr>
        <p:blipFill>
          <a:blip r:embed="rId2"/>
          <a:srcRect/>
          <a:stretch>
            <a:fillRect/>
          </a:stretch>
        </p:blipFill>
        <p:spPr bwMode="auto">
          <a:xfrm>
            <a:off x="481013" y="1471613"/>
            <a:ext cx="8181975" cy="3914775"/>
          </a:xfrm>
          <a:prstGeom prst="rect">
            <a:avLst/>
          </a:prstGeom>
          <a:noFill/>
          <a:ln w="9525">
            <a:noFill/>
            <a:miter lim="800000"/>
            <a:headEnd/>
            <a:tailEnd/>
          </a:ln>
          <a:effectLst/>
        </p:spPr>
      </p:pic>
      <p:sp>
        <p:nvSpPr>
          <p:cNvPr id="5" name="矩形 4"/>
          <p:cNvSpPr/>
          <p:nvPr/>
        </p:nvSpPr>
        <p:spPr>
          <a:xfrm>
            <a:off x="2071670" y="3000372"/>
            <a:ext cx="2928958" cy="21431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LB_Keogh</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101" name="Picture 5"/>
          <p:cNvPicPr>
            <a:picLocks noChangeAspect="1" noChangeArrowheads="1"/>
          </p:cNvPicPr>
          <p:nvPr/>
        </p:nvPicPr>
        <p:blipFill>
          <a:blip r:embed="rId2"/>
          <a:srcRect/>
          <a:stretch>
            <a:fillRect/>
          </a:stretch>
        </p:blipFill>
        <p:spPr bwMode="auto">
          <a:xfrm>
            <a:off x="1543050" y="1714488"/>
            <a:ext cx="6057900" cy="2486025"/>
          </a:xfrm>
          <a:prstGeom prst="rect">
            <a:avLst/>
          </a:prstGeom>
          <a:noFill/>
          <a:ln w="9525">
            <a:noFill/>
            <a:miter lim="800000"/>
            <a:headEnd/>
            <a:tailEnd/>
          </a:ln>
          <a:effectLst/>
        </p:spPr>
      </p:pic>
      <p:pic>
        <p:nvPicPr>
          <p:cNvPr id="4104" name="Picture 8"/>
          <p:cNvPicPr>
            <a:picLocks noChangeAspect="1" noChangeArrowheads="1"/>
          </p:cNvPicPr>
          <p:nvPr/>
        </p:nvPicPr>
        <p:blipFill>
          <a:blip r:embed="rId3"/>
          <a:srcRect/>
          <a:stretch>
            <a:fillRect/>
          </a:stretch>
        </p:blipFill>
        <p:spPr bwMode="auto">
          <a:xfrm>
            <a:off x="1714500" y="4357694"/>
            <a:ext cx="5715000" cy="19526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LB_Keogh</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 name="Picture 2"/>
          <p:cNvPicPr>
            <a:picLocks noChangeAspect="1" noChangeArrowheads="1"/>
          </p:cNvPicPr>
          <p:nvPr/>
        </p:nvPicPr>
        <p:blipFill>
          <a:blip r:embed="rId2"/>
          <a:srcRect/>
          <a:stretch>
            <a:fillRect/>
          </a:stretch>
        </p:blipFill>
        <p:spPr bwMode="auto">
          <a:xfrm>
            <a:off x="1285852" y="4643446"/>
            <a:ext cx="6362700" cy="1714500"/>
          </a:xfrm>
          <a:prstGeom prst="rect">
            <a:avLst/>
          </a:prstGeom>
          <a:noFill/>
          <a:ln w="9525">
            <a:noFill/>
            <a:miter lim="800000"/>
            <a:headEnd/>
            <a:tailEnd/>
          </a:ln>
          <a:effectLst/>
        </p:spPr>
      </p:pic>
      <p:pic>
        <p:nvPicPr>
          <p:cNvPr id="6" name="Picture 3"/>
          <p:cNvPicPr>
            <a:picLocks noChangeAspect="1" noChangeArrowheads="1"/>
          </p:cNvPicPr>
          <p:nvPr/>
        </p:nvPicPr>
        <p:blipFill>
          <a:blip r:embed="rId3"/>
          <a:srcRect/>
          <a:stretch>
            <a:fillRect/>
          </a:stretch>
        </p:blipFill>
        <p:spPr bwMode="auto">
          <a:xfrm>
            <a:off x="1788277" y="1707819"/>
            <a:ext cx="5357850" cy="27213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LB_MV</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5122" name="Picture 2"/>
          <p:cNvPicPr>
            <a:picLocks noChangeAspect="1" noChangeArrowheads="1"/>
          </p:cNvPicPr>
          <p:nvPr/>
        </p:nvPicPr>
        <p:blipFill>
          <a:blip r:embed="rId2"/>
          <a:srcRect/>
          <a:stretch>
            <a:fillRect/>
          </a:stretch>
        </p:blipFill>
        <p:spPr bwMode="auto">
          <a:xfrm>
            <a:off x="938213" y="3571876"/>
            <a:ext cx="7267575" cy="542925"/>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221442" y="4357694"/>
            <a:ext cx="8701117" cy="1801187"/>
          </a:xfrm>
          <a:prstGeom prst="rect">
            <a:avLst/>
          </a:prstGeom>
          <a:noFill/>
          <a:ln w="9525">
            <a:noFill/>
            <a:miter lim="800000"/>
            <a:headEnd/>
            <a:tailEnd/>
          </a:ln>
          <a:effectLst/>
        </p:spPr>
      </p:pic>
      <p:pic>
        <p:nvPicPr>
          <p:cNvPr id="6" name="Picture 2"/>
          <p:cNvPicPr>
            <a:picLocks noChangeAspect="1" noChangeArrowheads="1"/>
          </p:cNvPicPr>
          <p:nvPr/>
        </p:nvPicPr>
        <p:blipFill>
          <a:blip r:embed="rId4"/>
          <a:srcRect/>
          <a:stretch>
            <a:fillRect/>
          </a:stretch>
        </p:blipFill>
        <p:spPr bwMode="auto">
          <a:xfrm>
            <a:off x="1714480" y="1571612"/>
            <a:ext cx="5715040" cy="15399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Triangle DTW (LB_TI)</a:t>
            </a:r>
            <a:endParaRPr lang="zh-TW" altLang="en-US" dirty="0"/>
          </a:p>
        </p:txBody>
      </p:sp>
      <p:sp>
        <p:nvSpPr>
          <p:cNvPr id="3" name="內容版面配置區 2"/>
          <p:cNvSpPr>
            <a:spLocks noGrp="1"/>
          </p:cNvSpPr>
          <p:nvPr>
            <p:ph idx="1"/>
          </p:nvPr>
        </p:nvSpPr>
        <p:spPr>
          <a:xfrm>
            <a:off x="7572396" y="3286124"/>
            <a:ext cx="571504" cy="500066"/>
          </a:xfrm>
        </p:spPr>
        <p:txBody>
          <a:bodyPr>
            <a:normAutofit/>
          </a:bodyPr>
          <a:lstStyle/>
          <a:p>
            <a:pPr algn="ctr">
              <a:buNone/>
            </a:pPr>
            <a:r>
              <a:rPr lang="en-US" altLang="zh-TW" sz="2400" dirty="0" err="1" smtClean="0"/>
              <a:t>q</a:t>
            </a:r>
            <a:r>
              <a:rPr lang="en-US" altLang="zh-TW" sz="2400" baseline="-25000" dirty="0" err="1" smtClean="0"/>
              <a:t>i</a:t>
            </a:r>
            <a:endParaRPr lang="zh-TW" altLang="en-US" sz="2400" baseline="-25000" dirty="0"/>
          </a:p>
        </p:txBody>
      </p:sp>
      <p:sp>
        <p:nvSpPr>
          <p:cNvPr id="47" name="內容版面配置區 2"/>
          <p:cNvSpPr txBox="1">
            <a:spLocks/>
          </p:cNvSpPr>
          <p:nvPr/>
        </p:nvSpPr>
        <p:spPr>
          <a:xfrm>
            <a:off x="6357950" y="1428736"/>
            <a:ext cx="642942" cy="571504"/>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c</a:t>
            </a:r>
            <a:r>
              <a:rPr kumimoji="0" lang="en-US" altLang="zh-TW" sz="2400" b="0" i="0" u="none" strike="noStrike" kern="1200" cap="none" spc="0" normalizeH="0" baseline="-25000" noProof="0" dirty="0" smtClean="0">
                <a:ln>
                  <a:noFill/>
                </a:ln>
                <a:solidFill>
                  <a:schemeClr val="tx1"/>
                </a:solidFill>
                <a:effectLst/>
                <a:uLnTx/>
                <a:uFillTx/>
                <a:latin typeface="+mn-lt"/>
                <a:ea typeface="+mn-ea"/>
                <a:cs typeface="+mn-cs"/>
              </a:rPr>
              <a:t>i-1</a:t>
            </a:r>
            <a:endParaRPr kumimoji="0" lang="zh-TW" altLang="en-US" sz="2400" b="0" i="0" u="none" strike="noStrike" kern="1200" cap="none" spc="0" normalizeH="0" baseline="-25000" noProof="0" dirty="0">
              <a:ln>
                <a:noFill/>
              </a:ln>
              <a:solidFill>
                <a:schemeClr val="tx1"/>
              </a:solidFill>
              <a:effectLst/>
              <a:uLnTx/>
              <a:uFillTx/>
              <a:latin typeface="+mn-lt"/>
              <a:ea typeface="+mn-ea"/>
              <a:cs typeface="+mn-cs"/>
            </a:endParaRPr>
          </a:p>
        </p:txBody>
      </p:sp>
      <p:sp>
        <p:nvSpPr>
          <p:cNvPr id="49" name="內容版面配置區 2"/>
          <p:cNvSpPr txBox="1">
            <a:spLocks/>
          </p:cNvSpPr>
          <p:nvPr/>
        </p:nvSpPr>
        <p:spPr>
          <a:xfrm>
            <a:off x="6357950" y="3286124"/>
            <a:ext cx="714380" cy="500066"/>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q</a:t>
            </a:r>
            <a:r>
              <a:rPr kumimoji="0" lang="en-US" altLang="zh-TW" sz="2400" b="0" i="0" u="none" strike="noStrike" kern="1200" cap="none" spc="0" normalizeH="0" baseline="-25000" noProof="0" dirty="0" smtClean="0">
                <a:ln>
                  <a:noFill/>
                </a:ln>
                <a:solidFill>
                  <a:schemeClr val="tx1"/>
                </a:solidFill>
                <a:effectLst/>
                <a:uLnTx/>
                <a:uFillTx/>
                <a:latin typeface="+mn-lt"/>
                <a:ea typeface="+mn-ea"/>
                <a:cs typeface="+mn-cs"/>
              </a:rPr>
              <a:t>i-1</a:t>
            </a:r>
            <a:endParaRPr kumimoji="0" lang="zh-TW" altLang="en-US" sz="2400" b="0" i="0" u="none" strike="noStrike" kern="1200" cap="none" spc="0" normalizeH="0" baseline="-25000" noProof="0" dirty="0">
              <a:ln>
                <a:noFill/>
              </a:ln>
              <a:solidFill>
                <a:schemeClr val="tx1"/>
              </a:solidFill>
              <a:effectLst/>
              <a:uLnTx/>
              <a:uFillTx/>
              <a:latin typeface="+mn-lt"/>
              <a:ea typeface="+mn-ea"/>
              <a:cs typeface="+mn-cs"/>
            </a:endParaRPr>
          </a:p>
        </p:txBody>
      </p:sp>
      <p:cxnSp>
        <p:nvCxnSpPr>
          <p:cNvPr id="51" name="直線接點 50"/>
          <p:cNvCxnSpPr>
            <a:stCxn id="47" idx="2"/>
            <a:endCxn id="3" idx="0"/>
          </p:cNvCxnSpPr>
          <p:nvPr/>
        </p:nvCxnSpPr>
        <p:spPr>
          <a:xfrm rot="16200000" flipH="1">
            <a:off x="6625842" y="2053818"/>
            <a:ext cx="1285884" cy="117872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直線接點 54"/>
          <p:cNvCxnSpPr>
            <a:stCxn id="47" idx="2"/>
            <a:endCxn id="49" idx="0"/>
          </p:cNvCxnSpPr>
          <p:nvPr/>
        </p:nvCxnSpPr>
        <p:spPr>
          <a:xfrm rot="16200000" flipH="1">
            <a:off x="6054338" y="2625322"/>
            <a:ext cx="1285884" cy="357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線接點 57"/>
          <p:cNvCxnSpPr>
            <a:stCxn id="49" idx="0"/>
            <a:endCxn id="3" idx="0"/>
          </p:cNvCxnSpPr>
          <p:nvPr/>
        </p:nvCxnSpPr>
        <p:spPr>
          <a:xfrm rot="5400000" flipH="1" flipV="1">
            <a:off x="7286644" y="2714620"/>
            <a:ext cx="1588" cy="114300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內容版面配置區 2"/>
          <p:cNvSpPr txBox="1">
            <a:spLocks/>
          </p:cNvSpPr>
          <p:nvPr/>
        </p:nvSpPr>
        <p:spPr>
          <a:xfrm>
            <a:off x="500034" y="1928802"/>
            <a:ext cx="3643338" cy="1357322"/>
          </a:xfrm>
          <a:prstGeom prst="rect">
            <a:avLst/>
          </a:prstGeom>
        </p:spPr>
        <p:txBody>
          <a:bodyPr vert="horz" lIns="91440" tIns="45720" rIns="91440" bIns="45720" rtlCol="0">
            <a:normAutofit/>
          </a:bodyPr>
          <a:lstStyle/>
          <a:p>
            <a:pPr marL="342900" lvl="0" indent="-342900">
              <a:spcBef>
                <a:spcPct val="20000"/>
              </a:spcBef>
            </a:pP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d(q</a:t>
            </a:r>
            <a:r>
              <a:rPr kumimoji="0" lang="en-US" altLang="zh-TW" sz="2400" b="0" i="0" u="none" strike="noStrike" kern="1200" cap="none" spc="0" normalizeH="0" baseline="-25000" noProof="0" dirty="0" smtClean="0">
                <a:ln>
                  <a:noFill/>
                </a:ln>
                <a:solidFill>
                  <a:schemeClr val="tx1"/>
                </a:solidFill>
                <a:effectLst/>
                <a:uLnTx/>
                <a:uFillTx/>
                <a:latin typeface="+mn-lt"/>
                <a:ea typeface="+mn-ea"/>
                <a:cs typeface="+mn-cs"/>
              </a:rPr>
              <a:t>i-1</a:t>
            </a:r>
            <a:r>
              <a:rPr lang="en-US" altLang="zh-TW" sz="2400" dirty="0" smtClean="0"/>
              <a:t>, c</a:t>
            </a:r>
            <a:r>
              <a:rPr lang="en-US" altLang="zh-TW" sz="2400" baseline="-25000" dirty="0" smtClean="0"/>
              <a:t>i-1</a:t>
            </a:r>
            <a:r>
              <a:rPr lang="en-US" altLang="zh-TW" sz="2400" dirty="0" smtClean="0"/>
              <a:t>) </a:t>
            </a:r>
            <a:r>
              <a:rPr lang="zh-TW" altLang="en-US" sz="2400" dirty="0" smtClean="0"/>
              <a:t>＞ </a:t>
            </a:r>
            <a:r>
              <a:rPr lang="en-US" altLang="zh-TW" sz="2400" dirty="0" smtClean="0"/>
              <a:t>L(q</a:t>
            </a:r>
            <a:r>
              <a:rPr lang="en-US" altLang="zh-TW" sz="2400" baseline="-25000" dirty="0" smtClean="0"/>
              <a:t>i-1</a:t>
            </a:r>
            <a:r>
              <a:rPr lang="en-US" altLang="zh-TW" sz="2400" dirty="0" smtClean="0"/>
              <a:t>, c</a:t>
            </a:r>
            <a:r>
              <a:rPr lang="en-US" altLang="zh-TW" sz="2400" baseline="-25000" dirty="0" smtClean="0"/>
              <a:t>i-1</a:t>
            </a:r>
            <a:r>
              <a:rPr lang="en-US" altLang="zh-TW" sz="2400" dirty="0" smtClean="0"/>
              <a:t>) </a:t>
            </a:r>
          </a:p>
          <a:p>
            <a:pPr marL="342900" indent="-342900">
              <a:spcBef>
                <a:spcPct val="20000"/>
              </a:spcBef>
            </a:pPr>
            <a:r>
              <a:rPr lang="en-US" altLang="zh-TW" sz="2400" dirty="0" smtClean="0"/>
              <a:t>U(q</a:t>
            </a:r>
            <a:r>
              <a:rPr lang="en-US" altLang="zh-TW" sz="2400" baseline="-25000" dirty="0" smtClean="0"/>
              <a:t>i-1</a:t>
            </a:r>
            <a:r>
              <a:rPr lang="en-US" altLang="zh-TW" sz="2400" dirty="0" smtClean="0"/>
              <a:t>, c</a:t>
            </a:r>
            <a:r>
              <a:rPr lang="en-US" altLang="zh-TW" sz="2400" baseline="-25000" dirty="0" smtClean="0"/>
              <a:t>i-1</a:t>
            </a:r>
            <a:r>
              <a:rPr lang="en-US" altLang="zh-TW" sz="2400" dirty="0" smtClean="0"/>
              <a:t>) </a:t>
            </a:r>
            <a:r>
              <a:rPr lang="zh-TW" altLang="en-US" sz="2400" dirty="0" smtClean="0"/>
              <a:t>＞ </a:t>
            </a:r>
            <a:r>
              <a:rPr lang="en-US" altLang="zh-TW" sz="2400" dirty="0" smtClean="0"/>
              <a:t>d(q</a:t>
            </a:r>
            <a:r>
              <a:rPr lang="en-US" altLang="zh-TW" sz="2400" baseline="-25000" dirty="0" smtClean="0"/>
              <a:t>i-1</a:t>
            </a:r>
            <a:r>
              <a:rPr lang="en-US" altLang="zh-TW" sz="2400" dirty="0" smtClean="0"/>
              <a:t>, c</a:t>
            </a:r>
            <a:r>
              <a:rPr lang="en-US" altLang="zh-TW" sz="2400" baseline="-25000" dirty="0" smtClean="0"/>
              <a:t>i-1</a:t>
            </a:r>
            <a:r>
              <a:rPr lang="en-US" altLang="zh-TW" sz="2400" dirty="0" smtClean="0"/>
              <a:t>) </a:t>
            </a:r>
            <a:endParaRPr lang="zh-TW" altLang="en-US" sz="2400" baseline="-25000" dirty="0" smtClean="0"/>
          </a:p>
          <a:p>
            <a:pPr marL="342900" lvl="0" indent="-342900">
              <a:spcBef>
                <a:spcPct val="20000"/>
              </a:spcBef>
            </a:pPr>
            <a:endParaRPr kumimoji="0" lang="zh-TW" altLang="en-US" sz="2400" b="0" i="0" u="none" strike="noStrike" kern="1200" cap="none" spc="0" normalizeH="0" baseline="-25000" noProof="0" dirty="0">
              <a:ln>
                <a:noFill/>
              </a:ln>
              <a:solidFill>
                <a:schemeClr val="tx1"/>
              </a:solidFill>
              <a:effectLst/>
              <a:uLnTx/>
              <a:uFillTx/>
              <a:latin typeface="+mn-lt"/>
              <a:ea typeface="+mn-ea"/>
              <a:cs typeface="+mn-cs"/>
            </a:endParaRPr>
          </a:p>
        </p:txBody>
      </p:sp>
      <p:pic>
        <p:nvPicPr>
          <p:cNvPr id="62" name="Picture 2"/>
          <p:cNvPicPr>
            <a:picLocks noChangeAspect="1" noChangeArrowheads="1"/>
          </p:cNvPicPr>
          <p:nvPr/>
        </p:nvPicPr>
        <p:blipFill>
          <a:blip r:embed="rId2"/>
          <a:srcRect/>
          <a:stretch>
            <a:fillRect/>
          </a:stretch>
        </p:blipFill>
        <p:spPr bwMode="auto">
          <a:xfrm>
            <a:off x="80963" y="4000504"/>
            <a:ext cx="8982075" cy="1276350"/>
          </a:xfrm>
          <a:prstGeom prst="rect">
            <a:avLst/>
          </a:prstGeom>
          <a:noFill/>
          <a:ln w="9525">
            <a:noFill/>
            <a:miter lim="800000"/>
            <a:headEnd/>
            <a:tailEnd/>
          </a:ln>
          <a:effectLst/>
        </p:spPr>
      </p:pic>
      <p:pic>
        <p:nvPicPr>
          <p:cNvPr id="63" name="Picture 4"/>
          <p:cNvPicPr>
            <a:picLocks noChangeAspect="1" noChangeArrowheads="1"/>
          </p:cNvPicPr>
          <p:nvPr/>
        </p:nvPicPr>
        <p:blipFill>
          <a:blip r:embed="rId3"/>
          <a:srcRect/>
          <a:stretch>
            <a:fillRect/>
          </a:stretch>
        </p:blipFill>
        <p:spPr bwMode="auto">
          <a:xfrm>
            <a:off x="228586" y="5643578"/>
            <a:ext cx="8686828" cy="110433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Triangle DTW (LB_TI)</a:t>
            </a:r>
            <a:endParaRPr lang="zh-TW" altLang="en-US" dirty="0"/>
          </a:p>
        </p:txBody>
      </p:sp>
      <p:sp>
        <p:nvSpPr>
          <p:cNvPr id="12" name="內容版面配置區 11"/>
          <p:cNvSpPr>
            <a:spLocks noGrp="1"/>
          </p:cNvSpPr>
          <p:nvPr>
            <p:ph idx="1"/>
          </p:nvPr>
        </p:nvSpPr>
        <p:spPr>
          <a:xfrm>
            <a:off x="628680" y="5929330"/>
            <a:ext cx="8229600" cy="785818"/>
          </a:xfrm>
        </p:spPr>
        <p:txBody>
          <a:bodyPr>
            <a:normAutofit/>
          </a:bodyPr>
          <a:lstStyle/>
          <a:p>
            <a:r>
              <a:rPr lang="en-US" altLang="zh-TW" dirty="0" smtClean="0"/>
              <a:t>w=5</a:t>
            </a:r>
            <a:endParaRPr lang="zh-TW" altLang="en-US" dirty="0"/>
          </a:p>
        </p:txBody>
      </p:sp>
      <p:pic>
        <p:nvPicPr>
          <p:cNvPr id="7171" name="Picture 3"/>
          <p:cNvPicPr>
            <a:picLocks noChangeAspect="1" noChangeArrowheads="1"/>
          </p:cNvPicPr>
          <p:nvPr/>
        </p:nvPicPr>
        <p:blipFill>
          <a:blip r:embed="rId2"/>
          <a:srcRect/>
          <a:stretch>
            <a:fillRect/>
          </a:stretch>
        </p:blipFill>
        <p:spPr bwMode="auto">
          <a:xfrm>
            <a:off x="554821" y="1571612"/>
            <a:ext cx="8034359" cy="431789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8194" name="Picture 2"/>
          <p:cNvPicPr>
            <a:picLocks noChangeAspect="1" noChangeArrowheads="1"/>
          </p:cNvPicPr>
          <p:nvPr/>
        </p:nvPicPr>
        <p:blipFill>
          <a:blip r:embed="rId2"/>
          <a:srcRect/>
          <a:stretch>
            <a:fillRect/>
          </a:stretch>
        </p:blipFill>
        <p:spPr bwMode="auto">
          <a:xfrm>
            <a:off x="1293010" y="189186"/>
            <a:ext cx="6557980" cy="647962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Triangle DTW (LB_TI)</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6146" name="Picture 2"/>
          <p:cNvPicPr>
            <a:picLocks noChangeAspect="1" noChangeArrowheads="1"/>
          </p:cNvPicPr>
          <p:nvPr/>
        </p:nvPicPr>
        <p:blipFill>
          <a:blip r:embed="rId2"/>
          <a:srcRect/>
          <a:stretch>
            <a:fillRect/>
          </a:stretch>
        </p:blipFill>
        <p:spPr bwMode="auto">
          <a:xfrm>
            <a:off x="80963" y="1643050"/>
            <a:ext cx="8982075" cy="1276350"/>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2124075" y="3109916"/>
            <a:ext cx="4895850" cy="819150"/>
          </a:xfrm>
          <a:prstGeom prst="rect">
            <a:avLst/>
          </a:prstGeom>
          <a:noFill/>
          <a:ln w="9525">
            <a:noFill/>
            <a:miter lim="800000"/>
            <a:headEnd/>
            <a:tailEnd/>
          </a:ln>
          <a:effectLst/>
        </p:spPr>
      </p:pic>
      <p:pic>
        <p:nvPicPr>
          <p:cNvPr id="6148" name="Picture 4"/>
          <p:cNvPicPr>
            <a:picLocks noChangeAspect="1" noChangeArrowheads="1"/>
          </p:cNvPicPr>
          <p:nvPr/>
        </p:nvPicPr>
        <p:blipFill>
          <a:blip r:embed="rId4"/>
          <a:srcRect/>
          <a:stretch>
            <a:fillRect/>
          </a:stretch>
        </p:blipFill>
        <p:spPr bwMode="auto">
          <a:xfrm>
            <a:off x="228586" y="4000504"/>
            <a:ext cx="8686828" cy="1104331"/>
          </a:xfrm>
          <a:prstGeom prst="rect">
            <a:avLst/>
          </a:prstGeom>
          <a:noFill/>
          <a:ln w="9525">
            <a:noFill/>
            <a:miter lim="800000"/>
            <a:headEnd/>
            <a:tailEnd/>
          </a:ln>
          <a:effectLst/>
        </p:spPr>
      </p:pic>
      <p:pic>
        <p:nvPicPr>
          <p:cNvPr id="6149" name="Picture 5"/>
          <p:cNvPicPr>
            <a:picLocks noChangeAspect="1" noChangeArrowheads="1"/>
          </p:cNvPicPr>
          <p:nvPr/>
        </p:nvPicPr>
        <p:blipFill>
          <a:blip r:embed="rId5"/>
          <a:srcRect/>
          <a:stretch>
            <a:fillRect/>
          </a:stretch>
        </p:blipFill>
        <p:spPr bwMode="auto">
          <a:xfrm>
            <a:off x="376238" y="5314972"/>
            <a:ext cx="8391525" cy="1257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Clustering DTW (LB_PC)</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1266" name="Picture 2"/>
          <p:cNvPicPr>
            <a:picLocks noChangeAspect="1" noChangeArrowheads="1"/>
          </p:cNvPicPr>
          <p:nvPr/>
        </p:nvPicPr>
        <p:blipFill>
          <a:blip r:embed="rId2"/>
          <a:srcRect/>
          <a:stretch>
            <a:fillRect/>
          </a:stretch>
        </p:blipFill>
        <p:spPr bwMode="auto">
          <a:xfrm>
            <a:off x="2128507" y="1571612"/>
            <a:ext cx="4886986" cy="5000637"/>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Selective Deployment, TC-DTW</a:t>
            </a:r>
            <a:endParaRPr lang="zh-TW" altLang="en-US" dirty="0"/>
          </a:p>
        </p:txBody>
      </p:sp>
      <p:sp>
        <p:nvSpPr>
          <p:cNvPr id="3" name="內容版面配置區 2"/>
          <p:cNvSpPr>
            <a:spLocks noGrp="1"/>
          </p:cNvSpPr>
          <p:nvPr>
            <p:ph idx="1"/>
          </p:nvPr>
        </p:nvSpPr>
        <p:spPr/>
        <p:txBody>
          <a:bodyPr/>
          <a:lstStyle/>
          <a:p>
            <a:r>
              <a:rPr lang="en-US" altLang="zh-TW" dirty="0" smtClean="0"/>
              <a:t>first apply LB </a:t>
            </a:r>
            <a:r>
              <a:rPr lang="en-US" altLang="zh-TW" dirty="0" smtClean="0"/>
              <a:t>MV</a:t>
            </a:r>
          </a:p>
          <a:p>
            <a:r>
              <a:rPr lang="en-US" altLang="zh-TW"/>
              <a:t>a</a:t>
            </a:r>
            <a:r>
              <a:rPr lang="en-US" altLang="zh-TW" smtClean="0"/>
              <a:t> threshold e</a:t>
            </a:r>
            <a:endParaRPr lang="en-US" altLang="zh-TW" dirty="0" smtClean="0"/>
          </a:p>
          <a:p>
            <a:r>
              <a:rPr lang="en-US" altLang="zh-TW" dirty="0" smtClean="0"/>
              <a:t>if e &lt; LB_MV/</a:t>
            </a:r>
            <a:r>
              <a:rPr lang="en-US" altLang="zh-TW" dirty="0" err="1" smtClean="0"/>
              <a:t>d</a:t>
            </a:r>
            <a:r>
              <a:rPr lang="en-US" altLang="zh-TW" baseline="-25000" dirty="0" err="1" smtClean="0"/>
              <a:t>best</a:t>
            </a:r>
            <a:r>
              <a:rPr lang="en-US" altLang="zh-TW" dirty="0" smtClean="0"/>
              <a:t> &lt; 1, apply the advanced algorithms</a:t>
            </a:r>
          </a:p>
          <a:p>
            <a:endParaRPr lang="zh-TW"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9218" name="Picture 2"/>
          <p:cNvPicPr>
            <a:picLocks noChangeAspect="1" noChangeArrowheads="1"/>
          </p:cNvPicPr>
          <p:nvPr/>
        </p:nvPicPr>
        <p:blipFill>
          <a:blip r:embed="rId2"/>
          <a:srcRect/>
          <a:stretch>
            <a:fillRect/>
          </a:stretch>
        </p:blipFill>
        <p:spPr bwMode="auto">
          <a:xfrm>
            <a:off x="323880" y="1609740"/>
            <a:ext cx="8534400" cy="39624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0242" name="Picture 2"/>
          <p:cNvPicPr>
            <a:picLocks noChangeAspect="1" noChangeArrowheads="1"/>
          </p:cNvPicPr>
          <p:nvPr/>
        </p:nvPicPr>
        <p:blipFill>
          <a:blip r:embed="rId2"/>
          <a:srcRect/>
          <a:stretch>
            <a:fillRect/>
          </a:stretch>
        </p:blipFill>
        <p:spPr bwMode="auto">
          <a:xfrm>
            <a:off x="342900" y="1657365"/>
            <a:ext cx="8458200" cy="3914775"/>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2">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9383</TotalTime>
  <Words>310</Words>
  <Application>Microsoft Office PowerPoint</Application>
  <PresentationFormat>如螢幕大小 (4:3)</PresentationFormat>
  <Paragraphs>30</Paragraphs>
  <Slides>18</Slides>
  <Notes>0</Notes>
  <HiddenSlides>0</HiddenSlides>
  <MMClips>0</MMClips>
  <ScaleCrop>false</ScaleCrop>
  <HeadingPairs>
    <vt:vector size="6" baseType="variant">
      <vt:variant>
        <vt:lpstr>使用字型</vt:lpstr>
      </vt:variant>
      <vt:variant>
        <vt:i4>7</vt:i4>
      </vt:variant>
      <vt:variant>
        <vt:lpstr>佈景主題</vt:lpstr>
      </vt:variant>
      <vt:variant>
        <vt:i4>7</vt:i4>
      </vt:variant>
      <vt:variant>
        <vt:lpstr>投影片標題</vt:lpstr>
      </vt:variant>
      <vt:variant>
        <vt:i4>18</vt:i4>
      </vt:variant>
    </vt:vector>
  </HeadingPairs>
  <TitlesOfParts>
    <vt:vector size="32" baseType="lpstr">
      <vt:lpstr>新細明體</vt:lpstr>
      <vt:lpstr>Arial</vt:lpstr>
      <vt:lpstr>Calibri</vt:lpstr>
      <vt:lpstr>DejaVu Sans</vt:lpstr>
      <vt:lpstr>Symbol</vt:lpstr>
      <vt:lpstr>Times New Roman</vt:lpstr>
      <vt:lpstr>Wingdings</vt:lpstr>
      <vt:lpstr>Office Theme</vt:lpstr>
      <vt:lpstr>Office Theme</vt:lpstr>
      <vt:lpstr>2_Office Theme</vt:lpstr>
      <vt:lpstr>1_自訂設計</vt:lpstr>
      <vt:lpstr>3_Office Theme</vt:lpstr>
      <vt:lpstr>自訂設計</vt:lpstr>
      <vt:lpstr>4_Office Theme</vt:lpstr>
      <vt:lpstr>PowerPoint 簡報</vt:lpstr>
      <vt:lpstr>PowerPoint 簡報</vt:lpstr>
      <vt:lpstr>PowerPoint 簡報</vt:lpstr>
      <vt:lpstr>DTW : Dynamic Time Warping</vt:lpstr>
      <vt:lpstr>Window DTW</vt:lpstr>
      <vt:lpstr>PowerPoint 簡報</vt:lpstr>
      <vt:lpstr>PowerPoint 簡報</vt:lpstr>
      <vt:lpstr>LB_Keogh</vt:lpstr>
      <vt:lpstr>LB_Keogh</vt:lpstr>
      <vt:lpstr>LB_MV</vt:lpstr>
      <vt:lpstr>Triangle DTW (LB_TI)</vt:lpstr>
      <vt:lpstr>Triangle DTW (LB_TI)</vt:lpstr>
      <vt:lpstr>PowerPoint 簡報</vt:lpstr>
      <vt:lpstr>Triangle DTW (LB_TI)</vt:lpstr>
      <vt:lpstr>Clustering DTW (LB_PC)</vt:lpstr>
      <vt:lpstr>Selective Deployment, TC-DTW</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subject/>
  <dc:creator>super</dc:creator>
  <dc:description/>
  <cp:lastModifiedBy>S</cp:lastModifiedBy>
  <cp:revision>2255</cp:revision>
  <dcterms:created xsi:type="dcterms:W3CDTF">2020-09-11T11:13:53Z</dcterms:created>
  <dcterms:modified xsi:type="dcterms:W3CDTF">2021-09-07T06:56:04Z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如螢幕大小 (4:3)</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