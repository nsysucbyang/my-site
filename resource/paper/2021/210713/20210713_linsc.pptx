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99" r:id="rId3"/>
    <p:sldMasterId id="2147483738" r:id="rId4"/>
    <p:sldMasterId id="2147483712" r:id="rId5"/>
    <p:sldMasterId id="2147483674" r:id="rId6"/>
    <p:sldMasterId id="2147483725" r:id="rId7"/>
  </p:sldMasterIdLst>
  <p:notesMasterIdLst>
    <p:notesMasterId r:id="rId28"/>
  </p:notesMasterIdLst>
  <p:sldIdLst>
    <p:sldId id="256" r:id="rId8"/>
    <p:sldId id="257" r:id="rId9"/>
    <p:sldId id="279" r:id="rId10"/>
    <p:sldId id="280" r:id="rId11"/>
    <p:sldId id="281" r:id="rId12"/>
    <p:sldId id="297" r:id="rId13"/>
    <p:sldId id="283" r:id="rId14"/>
    <p:sldId id="284" r:id="rId15"/>
    <p:sldId id="285" r:id="rId16"/>
    <p:sldId id="286" r:id="rId17"/>
    <p:sldId id="287" r:id="rId18"/>
    <p:sldId id="289" r:id="rId19"/>
    <p:sldId id="290" r:id="rId20"/>
    <p:sldId id="288" r:id="rId21"/>
    <p:sldId id="291" r:id="rId22"/>
    <p:sldId id="293" r:id="rId23"/>
    <p:sldId id="292" r:id="rId24"/>
    <p:sldId id="294" r:id="rId25"/>
    <p:sldId id="295" r:id="rId26"/>
    <p:sldId id="296" r:id="rId2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632" autoAdjust="0"/>
  </p:normalViewPr>
  <p:slideViewPr>
    <p:cSldViewPr>
      <p:cViewPr varScale="1">
        <p:scale>
          <a:sx n="109" d="100"/>
          <a:sy n="109" d="100"/>
        </p:scale>
        <p:origin x="129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7/13/2021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7/13/2021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7/13/2021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2021/7/13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7/13/2021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2021/7/13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smtClean="0">
                <a:latin typeface="Times New Roman" pitchFamily="18" charset="0"/>
                <a:cs typeface="Times New Roman" pitchFamily="18" charset="0"/>
              </a:rPr>
              <a:t>The exact multiple pattern matching problem solved by a reference tree approach</a:t>
            </a:r>
            <a:endParaRPr lang="en-US" sz="3200" b="0" strike="noStrike" spc="-1" dirty="0">
              <a:solidFill>
                <a:srgbClr val="000000"/>
              </a:solidFill>
              <a:latin typeface="Times New Roman" pitchFamily="18" charset="0"/>
              <a:cs typeface="Times New Roman" pitchFamily="18" charset="0"/>
            </a:endParaRPr>
          </a:p>
        </p:txBody>
      </p:sp>
      <p:sp>
        <p:nvSpPr>
          <p:cNvPr id="89" name="TextShape 2"/>
          <p:cNvSpPr txBox="1"/>
          <p:nvPr/>
        </p:nvSpPr>
        <p:spPr>
          <a:xfrm>
            <a:off x="1214280" y="3357720"/>
            <a:ext cx="6786360" cy="2071440"/>
          </a:xfrm>
          <a:prstGeom prst="rect">
            <a:avLst/>
          </a:prstGeom>
          <a:noFill/>
          <a:ln>
            <a:noFill/>
          </a:ln>
        </p:spPr>
        <p:txBody>
          <a:bodyPr>
            <a:normAutofit lnSpcReduction="10000"/>
          </a:bodyPr>
          <a:lstStyle/>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 Yi-Kung Shieh, Shyong Jian Shyu, </a:t>
            </a:r>
          </a:p>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Chin Lung Lu, Richard Chia-Tung Lee</a:t>
            </a:r>
          </a:p>
          <a:p>
            <a:pPr algn="ctr">
              <a:spcBef>
                <a:spcPts val="479"/>
              </a:spcBef>
              <a:tabLst>
                <a:tab pos="0" algn="l"/>
              </a:tabLst>
            </a:pPr>
            <a:endParaRPr lang="en-US" sz="2000" spc="-1" dirty="0" smtClean="0">
              <a:solidFill>
                <a:srgbClr val="000000"/>
              </a:solidFill>
              <a:latin typeface="Times New Roman"/>
            </a:endParaRPr>
          </a:p>
          <a:p>
            <a:pPr algn="ctr">
              <a:lnSpc>
                <a:spcPct val="100000"/>
              </a:lnSpc>
              <a:spcBef>
                <a:spcPts val="479"/>
              </a:spcBef>
              <a:tabLst>
                <a:tab pos="0" algn="l"/>
              </a:tabLst>
            </a:pPr>
            <a:r>
              <a:rPr lang="en-US" sz="2400" spc="-1" dirty="0" smtClean="0">
                <a:solidFill>
                  <a:srgbClr val="000000"/>
                </a:solidFill>
                <a:latin typeface="Times New Roman"/>
              </a:rPr>
              <a:t>Theoretical Computer Science</a:t>
            </a:r>
          </a:p>
          <a:p>
            <a:pPr algn="ctr">
              <a:lnSpc>
                <a:spcPct val="100000"/>
              </a:lnSpc>
              <a:spcBef>
                <a:spcPts val="479"/>
              </a:spcBef>
              <a:tabLst>
                <a:tab pos="0" algn="l"/>
              </a:tabLst>
            </a:pPr>
            <a:r>
              <a:rPr lang="en-US" sz="2400" spc="-1" dirty="0" smtClean="0">
                <a:solidFill>
                  <a:srgbClr val="000000"/>
                </a:solidFill>
                <a:latin typeface="Times New Roman"/>
              </a:rPr>
              <a:t>Available online 17 June 2021</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a:t>
            </a:r>
            <a:r>
              <a:rPr lang="en-US" sz="2000" b="0" strike="noStrike" spc="-1">
                <a:solidFill>
                  <a:srgbClr val="000000"/>
                </a:solidFill>
                <a:latin typeface="Times New Roman"/>
              </a:rPr>
              <a:t>: </a:t>
            </a:r>
            <a:r>
              <a:rPr lang="en-US" sz="2000" b="0" strike="noStrike" spc="-1" smtClean="0">
                <a:solidFill>
                  <a:srgbClr val="000000"/>
                </a:solidFill>
                <a:latin typeface="Times New Roman"/>
              </a:rPr>
              <a:t>July 13, </a:t>
            </a:r>
            <a:r>
              <a:rPr lang="en-US" sz="2000" b="0" strike="noStrike" spc="-1" dirty="0" smtClean="0">
                <a:solidFill>
                  <a:srgbClr val="000000"/>
                </a:solidFill>
                <a:latin typeface="Times New Roman"/>
              </a:rPr>
              <a:t>2021</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Abstract(1/2)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 Given a text </a:t>
            </a:r>
            <a:r>
              <a:rPr lang="en-US" sz="2800" i="1" spc="-1" dirty="0" smtClean="0">
                <a:solidFill>
                  <a:srgbClr val="000000"/>
                </a:solidFill>
                <a:latin typeface="Times New Roman"/>
              </a:rPr>
              <a:t>T</a:t>
            </a:r>
            <a:r>
              <a:rPr lang="en-US" sz="2800" spc="-1" dirty="0" smtClean="0">
                <a:solidFill>
                  <a:srgbClr val="000000"/>
                </a:solidFill>
                <a:latin typeface="Times New Roman"/>
              </a:rPr>
              <a:t> and a set of </a:t>
            </a:r>
            <a:r>
              <a:rPr lang="en-US" sz="2800" i="1" spc="-1" dirty="0" smtClean="0">
                <a:solidFill>
                  <a:srgbClr val="000000"/>
                </a:solidFill>
                <a:latin typeface="Times New Roman"/>
              </a:rPr>
              <a:t>r</a:t>
            </a:r>
            <a:r>
              <a:rPr lang="en-US" sz="2800" spc="-1" dirty="0" smtClean="0">
                <a:solidFill>
                  <a:srgbClr val="000000"/>
                </a:solidFill>
                <a:latin typeface="Times New Roman"/>
              </a:rPr>
              <a:t> patterns P</a:t>
            </a:r>
            <a:r>
              <a:rPr lang="en-US" sz="2800" spc="-1" baseline="-25000" dirty="0" smtClean="0">
                <a:solidFill>
                  <a:srgbClr val="000000"/>
                </a:solidFill>
                <a:latin typeface="Times New Roman"/>
              </a:rPr>
              <a:t>1</a:t>
            </a:r>
            <a:r>
              <a:rPr lang="en-US" sz="2800" spc="-1" dirty="0" smtClean="0">
                <a:solidFill>
                  <a:srgbClr val="000000"/>
                </a:solidFill>
                <a:latin typeface="Times New Roman"/>
              </a:rPr>
              <a:t>, P</a:t>
            </a:r>
            <a:r>
              <a:rPr lang="en-US" sz="2800" spc="-1" baseline="-25000" dirty="0" smtClean="0">
                <a:solidFill>
                  <a:srgbClr val="000000"/>
                </a:solidFill>
                <a:latin typeface="Times New Roman"/>
              </a:rPr>
              <a:t>2</a:t>
            </a:r>
            <a:r>
              <a:rPr lang="en-US" sz="2800" spc="-1" dirty="0" smtClean="0">
                <a:solidFill>
                  <a:srgbClr val="000000"/>
                </a:solidFill>
                <a:latin typeface="Times New Roman"/>
              </a:rPr>
              <a:t>, ..., P</a:t>
            </a:r>
            <a:r>
              <a:rPr lang="en-US" sz="2800" spc="-1" baseline="-25000" dirty="0" smtClean="0">
                <a:solidFill>
                  <a:srgbClr val="000000"/>
                </a:solidFill>
                <a:latin typeface="Times New Roman"/>
              </a:rPr>
              <a:t>r </a:t>
            </a:r>
            <a:r>
              <a:rPr lang="en-US" sz="2800" spc="-1" dirty="0" smtClean="0">
                <a:solidFill>
                  <a:srgbClr val="000000"/>
                </a:solidFill>
                <a:latin typeface="Times New Roman"/>
              </a:rPr>
              <a:t>, the exact multiple pattern matching problem reports the ending positions of all occurrences of P</a:t>
            </a:r>
            <a:r>
              <a:rPr lang="en-US" sz="2800" spc="-1" baseline="-25000" dirty="0" smtClean="0">
                <a:solidFill>
                  <a:srgbClr val="000000"/>
                </a:solidFill>
                <a:latin typeface="Times New Roman"/>
              </a:rPr>
              <a:t>i</a:t>
            </a:r>
            <a:r>
              <a:rPr lang="en-US" sz="2800" spc="-1" dirty="0" smtClean="0">
                <a:solidFill>
                  <a:srgbClr val="000000"/>
                </a:solidFill>
                <a:latin typeface="Times New Roman"/>
              </a:rPr>
              <a:t> in </a:t>
            </a:r>
            <a:r>
              <a:rPr lang="en-US" sz="2800" i="1" spc="-1" dirty="0" smtClean="0">
                <a:solidFill>
                  <a:srgbClr val="000000"/>
                </a:solidFill>
                <a:latin typeface="Times New Roman"/>
              </a:rPr>
              <a:t>T</a:t>
            </a:r>
            <a:r>
              <a:rPr lang="en-US" sz="2800" spc="-1" dirty="0" smtClean="0">
                <a:solidFill>
                  <a:srgbClr val="000000"/>
                </a:solidFill>
                <a:latin typeface="Times New Roman"/>
              </a:rPr>
              <a:t> for 1 ≤ </a:t>
            </a:r>
            <a:r>
              <a:rPr lang="en-US" sz="2800" spc="-1" dirty="0" err="1" smtClean="0">
                <a:solidFill>
                  <a:srgbClr val="000000"/>
                </a:solidFill>
                <a:latin typeface="Times New Roman"/>
              </a:rPr>
              <a:t>i</a:t>
            </a:r>
            <a:r>
              <a:rPr lang="en-US" sz="2800" spc="-1" dirty="0" smtClean="0">
                <a:solidFill>
                  <a:srgbClr val="000000"/>
                </a:solidFill>
                <a:latin typeface="Times New Roman"/>
              </a:rPr>
              <a:t> ≤ r. By transforming all substrings with a fixed length of </a:t>
            </a:r>
            <a:r>
              <a:rPr lang="en-US" sz="2800" spc="-1" dirty="0" smtClean="0">
                <a:solidFill>
                  <a:srgbClr val="000000"/>
                </a:solidFill>
                <a:latin typeface="Times New Roman"/>
              </a:rPr>
              <a:t>T</a:t>
            </a:r>
            <a:r>
              <a:rPr lang="zh-TW" altLang="en-US" sz="2800" spc="-1" dirty="0" smtClean="0">
                <a:solidFill>
                  <a:srgbClr val="000000"/>
                </a:solidFill>
                <a:latin typeface="Times New Roman"/>
              </a:rPr>
              <a:t> </a:t>
            </a:r>
            <a:r>
              <a:rPr lang="en-US" sz="2800" spc="-1" dirty="0" smtClean="0">
                <a:solidFill>
                  <a:srgbClr val="000000"/>
                </a:solidFill>
                <a:latin typeface="Times New Roman"/>
              </a:rPr>
              <a:t>into </a:t>
            </a:r>
            <a:r>
              <a:rPr lang="en-US" sz="2800" spc="-1" dirty="0" smtClean="0">
                <a:solidFill>
                  <a:srgbClr val="000000"/>
                </a:solidFill>
                <a:latin typeface="Times New Roman"/>
              </a:rPr>
              <a:t>a reference tree such that each internal node stores a reference string, the exact multiple pattern matching problem can be efficiently solved by searching patterns in the tree via the guidance of the reference strings</a:t>
            </a:r>
            <a:r>
              <a:rPr lang="en-US" sz="2800" spc="-1" dirty="0" smtClean="0">
                <a:solidFill>
                  <a:srgbClr val="000000"/>
                </a:solidFill>
                <a:latin typeface="Times New Roman"/>
              </a:rPr>
              <a:t>.</a:t>
            </a:r>
            <a:r>
              <a:rPr lang="zh-TW" altLang="en-US" sz="2800" spc="-1" dirty="0" smtClean="0">
                <a:solidFill>
                  <a:srgbClr val="000000"/>
                </a:solidFill>
                <a:latin typeface="Times New Roman"/>
              </a:rPr>
              <a:t> </a:t>
            </a:r>
            <a:r>
              <a:rPr lang="en-US" sz="2800" spc="-1" dirty="0" smtClean="0">
                <a:solidFill>
                  <a:srgbClr val="000000"/>
                </a:solidFill>
                <a:latin typeface="Times New Roman"/>
              </a:rPr>
              <a:t>We </a:t>
            </a:r>
            <a:r>
              <a:rPr lang="en-US" sz="2800" spc="-1" dirty="0" smtClean="0">
                <a:solidFill>
                  <a:srgbClr val="000000"/>
                </a:solidFill>
                <a:latin typeface="Times New Roman"/>
              </a:rPr>
              <a:t>design elegant algorithms to construct the reference tree (the preprocessing phase) and to search patterns in the tree (the searching phase) using bitwise operations.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Abstract(2/2)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The experiments involving problem instances from the DNA sequence and the English language are conducted to compare the performance of our approach against those of the suffix tree and suffix array algorithms. The computational results demonstrate the advantage of our approach over these algorithms. In spite of the simplicity, our approach is quite efficient, flexible and robust.</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8"/>
          <p:cNvSpPr>
            <a:spLocks noGrp="1"/>
          </p:cNvSpPr>
          <p:nvPr>
            <p:ph type="title"/>
          </p:nvPr>
        </p:nvSpPr>
        <p:spPr/>
        <p:txBody>
          <a:bodyPr/>
          <a:lstStyle/>
          <a:p>
            <a:endParaRPr lang="zh-TW" altLang="en-US" dirty="0"/>
          </a:p>
        </p:txBody>
      </p:sp>
      <p:sp>
        <p:nvSpPr>
          <p:cNvPr id="7" name="內容版面配置區 6"/>
          <p:cNvSpPr>
            <a:spLocks noGrp="1"/>
          </p:cNvSpPr>
          <p:nvPr>
            <p:ph idx="1"/>
          </p:nvPr>
        </p:nvSpPr>
        <p:spPr/>
        <p:txBody>
          <a:bodyPr/>
          <a:lstStyle/>
          <a:p>
            <a:r>
              <a:rPr lang="en-US" altLang="zh-TW" dirty="0" smtClean="0"/>
              <a:t>T=t</a:t>
            </a:r>
            <a:r>
              <a:rPr lang="en-US" altLang="zh-TW" baseline="-25000" dirty="0" smtClean="0"/>
              <a:t>1</a:t>
            </a:r>
            <a:r>
              <a:rPr lang="en-US" altLang="zh-TW" dirty="0" smtClean="0"/>
              <a:t>t</a:t>
            </a:r>
            <a:r>
              <a:rPr lang="en-US" altLang="zh-TW" baseline="-25000" dirty="0" smtClean="0"/>
              <a:t>2</a:t>
            </a:r>
            <a:r>
              <a:rPr lang="en-US" altLang="zh-TW" dirty="0" smtClean="0"/>
              <a:t>...</a:t>
            </a:r>
            <a:r>
              <a:rPr lang="en-US" altLang="zh-TW" dirty="0" err="1" smtClean="0"/>
              <a:t>t</a:t>
            </a:r>
            <a:r>
              <a:rPr lang="en-US" altLang="zh-TW" baseline="-25000" dirty="0" err="1" smtClean="0"/>
              <a:t>n</a:t>
            </a:r>
            <a:r>
              <a:rPr lang="zh-TW" altLang="en-US" dirty="0" smtClean="0"/>
              <a:t> </a:t>
            </a:r>
            <a:endParaRPr lang="en-US" altLang="zh-TW" dirty="0" smtClean="0"/>
          </a:p>
          <a:p>
            <a:r>
              <a:rPr lang="en-US" altLang="zh-TW" dirty="0" smtClean="0"/>
              <a:t>r</a:t>
            </a:r>
            <a:r>
              <a:rPr lang="zh-TW" altLang="en-US" dirty="0" smtClean="0"/>
              <a:t> </a:t>
            </a:r>
            <a:r>
              <a:rPr lang="en-US" altLang="zh-TW" dirty="0" smtClean="0"/>
              <a:t>patterns P</a:t>
            </a:r>
            <a:r>
              <a:rPr lang="en-US" altLang="zh-TW" baseline="-25000" dirty="0" smtClean="0"/>
              <a:t>1</a:t>
            </a:r>
            <a:r>
              <a:rPr lang="en-US" altLang="zh-TW" dirty="0" smtClean="0"/>
              <a:t>, P</a:t>
            </a:r>
            <a:r>
              <a:rPr lang="en-US" altLang="zh-TW" baseline="-25000" dirty="0" smtClean="0"/>
              <a:t>2</a:t>
            </a:r>
            <a:r>
              <a:rPr lang="en-US" altLang="zh-TW" dirty="0" smtClean="0"/>
              <a:t>, ..., P</a:t>
            </a:r>
            <a:r>
              <a:rPr lang="en-US" altLang="zh-TW" baseline="-25000" dirty="0" smtClean="0"/>
              <a:t>r</a:t>
            </a:r>
          </a:p>
          <a:p>
            <a:r>
              <a:rPr lang="en-US" altLang="zh-TW" dirty="0" smtClean="0"/>
              <a:t>r lengths m</a:t>
            </a:r>
            <a:r>
              <a:rPr lang="en-US" altLang="zh-TW" baseline="-25000" dirty="0" smtClean="0"/>
              <a:t>1</a:t>
            </a:r>
            <a:r>
              <a:rPr lang="en-US" altLang="zh-TW" dirty="0" smtClean="0"/>
              <a:t>, m</a:t>
            </a:r>
            <a:r>
              <a:rPr lang="en-US" altLang="zh-TW" baseline="-25000" dirty="0" smtClean="0"/>
              <a:t>2</a:t>
            </a:r>
            <a:r>
              <a:rPr lang="en-US" altLang="zh-TW" dirty="0" smtClean="0"/>
              <a:t>, ..., </a:t>
            </a:r>
            <a:r>
              <a:rPr lang="en-US" altLang="zh-TW" dirty="0" err="1" smtClean="0"/>
              <a:t>m</a:t>
            </a:r>
            <a:r>
              <a:rPr lang="en-US" altLang="zh-TW" baseline="-25000" dirty="0" err="1" smtClean="0"/>
              <a:t>r</a:t>
            </a:r>
            <a:endParaRPr lang="en-US" altLang="zh-TW" baseline="-25000" dirty="0" smtClean="0"/>
          </a:p>
          <a:p>
            <a:r>
              <a:rPr lang="en-US" altLang="zh-TW" dirty="0" smtClean="0"/>
              <a:t>alphabet </a:t>
            </a:r>
            <a:r>
              <a:rPr lang="el-GR" altLang="zh-TW" dirty="0" smtClean="0"/>
              <a:t>Σ</a:t>
            </a:r>
            <a:endParaRPr lang="en-US" altLang="zh-TW" baseline="-25000" dirty="0" smtClean="0"/>
          </a:p>
          <a:p>
            <a:r>
              <a:rPr lang="el-GR" altLang="zh-TW" dirty="0" smtClean="0"/>
              <a:t>σ</a:t>
            </a:r>
            <a:r>
              <a:rPr lang="en-US" altLang="zh-TW" dirty="0" smtClean="0"/>
              <a:t> be the size of </a:t>
            </a:r>
            <a:r>
              <a:rPr lang="el-GR" altLang="zh-TW" dirty="0" smtClean="0"/>
              <a:t>Σ</a:t>
            </a:r>
            <a:endParaRPr lang="zh-TW" altLang="en-US" baseline="-25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EMPM problem</a:t>
            </a:r>
            <a:endParaRPr lang="zh-TW" altLang="en-US" dirty="0"/>
          </a:p>
        </p:txBody>
      </p:sp>
      <p:sp>
        <p:nvSpPr>
          <p:cNvPr id="3" name="內容版面配置區 2"/>
          <p:cNvSpPr>
            <a:spLocks noGrp="1"/>
          </p:cNvSpPr>
          <p:nvPr>
            <p:ph idx="1"/>
          </p:nvPr>
        </p:nvSpPr>
        <p:spPr/>
        <p:txBody>
          <a:bodyPr/>
          <a:lstStyle/>
          <a:p>
            <a:r>
              <a:rPr lang="en-US" altLang="zh-TW" dirty="0" smtClean="0"/>
              <a:t>find the ending positions of all occurrences of P</a:t>
            </a:r>
            <a:r>
              <a:rPr lang="en-US" altLang="zh-TW" baseline="-25000" dirty="0" smtClean="0"/>
              <a:t>i</a:t>
            </a:r>
            <a:r>
              <a:rPr lang="en-US" altLang="zh-TW" dirty="0" smtClean="0"/>
              <a:t> in T </a:t>
            </a:r>
            <a:r>
              <a:rPr lang="en-US" spc="-1" dirty="0" smtClean="0">
                <a:solidFill>
                  <a:srgbClr val="000000"/>
                </a:solidFill>
              </a:rPr>
              <a:t>for</a:t>
            </a:r>
            <a:r>
              <a:rPr lang="en-US" altLang="zh-TW" dirty="0" smtClean="0"/>
              <a:t> </a:t>
            </a:r>
            <a:r>
              <a:rPr lang="en-US" spc="-1" dirty="0" smtClean="0">
                <a:solidFill>
                  <a:srgbClr val="000000"/>
                </a:solidFill>
              </a:rPr>
              <a:t>1 ≤ </a:t>
            </a:r>
            <a:r>
              <a:rPr lang="en-US" spc="-1" dirty="0" err="1" smtClean="0">
                <a:solidFill>
                  <a:srgbClr val="000000"/>
                </a:solidFill>
              </a:rPr>
              <a:t>i</a:t>
            </a:r>
            <a:r>
              <a:rPr lang="en-US" spc="-1" dirty="0" smtClean="0">
                <a:solidFill>
                  <a:srgbClr val="000000"/>
                </a:solidFill>
              </a:rPr>
              <a:t> ≤ r</a:t>
            </a:r>
          </a:p>
          <a:p>
            <a:endParaRPr lang="en-US" altLang="zh-TW" spc="-1" dirty="0" smtClean="0">
              <a:solidFill>
                <a:srgbClr val="000000"/>
              </a:solidFill>
            </a:endParaRPr>
          </a:p>
          <a:p>
            <a:r>
              <a:rPr lang="en-US" altLang="zh-TW" dirty="0" smtClean="0"/>
              <a:t>(1) resolving whether or not the </a:t>
            </a:r>
            <a:r>
              <a:rPr lang="en-US" altLang="zh-TW" i="1" dirty="0" smtClean="0"/>
              <a:t>l</a:t>
            </a:r>
            <a:r>
              <a:rPr lang="en-US" altLang="zh-TW" dirty="0" smtClean="0"/>
              <a:t>-prefix of P</a:t>
            </a:r>
            <a:r>
              <a:rPr lang="en-US" altLang="zh-TW" baseline="-25000" dirty="0" smtClean="0"/>
              <a:t>i</a:t>
            </a:r>
            <a:r>
              <a:rPr lang="en-US" altLang="zh-TW" dirty="0" smtClean="0"/>
              <a:t> appears in T</a:t>
            </a:r>
          </a:p>
          <a:p>
            <a:r>
              <a:rPr lang="en-US" altLang="zh-TW" dirty="0" smtClean="0"/>
              <a:t>(2) verifying whether the rest part of P</a:t>
            </a:r>
            <a:r>
              <a:rPr lang="en-US" altLang="zh-TW" baseline="-25000" dirty="0" smtClean="0"/>
              <a:t>i</a:t>
            </a:r>
            <a:r>
              <a:rPr lang="en-US" altLang="zh-TW" dirty="0" smtClean="0"/>
              <a:t> also occurs in T</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Reference tree</a:t>
            </a:r>
            <a:endParaRPr lang="zh-TW" altLang="en-US" dirty="0"/>
          </a:p>
        </p:txBody>
      </p:sp>
      <p:sp>
        <p:nvSpPr>
          <p:cNvPr id="3" name="內容版面配置區 2"/>
          <p:cNvSpPr>
            <a:spLocks noGrp="1"/>
          </p:cNvSpPr>
          <p:nvPr>
            <p:ph idx="1"/>
          </p:nvPr>
        </p:nvSpPr>
        <p:spPr/>
        <p:txBody>
          <a:bodyPr/>
          <a:lstStyle/>
          <a:p>
            <a:r>
              <a:rPr lang="en-US" altLang="zh-TW" dirty="0" smtClean="0"/>
              <a:t>substring </a:t>
            </a:r>
            <a:r>
              <a:rPr lang="en-US" altLang="zh-TW" dirty="0" err="1" smtClean="0"/>
              <a:t>s</a:t>
            </a:r>
            <a:r>
              <a:rPr lang="en-US" altLang="zh-TW" baseline="-25000" dirty="0" err="1" smtClean="0"/>
              <a:t>i</a:t>
            </a:r>
            <a:r>
              <a:rPr lang="en-US" altLang="zh-TW" dirty="0" smtClean="0"/>
              <a:t> in T of length </a:t>
            </a:r>
            <a:r>
              <a:rPr lang="en-US" altLang="zh-TW" i="1" dirty="0" smtClean="0"/>
              <a:t>l</a:t>
            </a:r>
          </a:p>
          <a:p>
            <a:r>
              <a:rPr lang="en-US" altLang="zh-TW" dirty="0" smtClean="0"/>
              <a:t>T=GAGTCA</a:t>
            </a:r>
          </a:p>
          <a:p>
            <a:r>
              <a:rPr lang="en-US" altLang="zh-TW" i="1" dirty="0" smtClean="0"/>
              <a:t>l</a:t>
            </a:r>
            <a:r>
              <a:rPr lang="en-US" altLang="zh-TW" dirty="0" smtClean="0"/>
              <a:t>=4</a:t>
            </a:r>
          </a:p>
          <a:p>
            <a:r>
              <a:rPr lang="en-US" altLang="zh-TW" dirty="0" smtClean="0"/>
              <a:t>S={GAGT , AGTC , GTCA}</a:t>
            </a:r>
            <a:endParaRPr lang="zh-TW" altLang="en-US" dirty="0" smtClean="0"/>
          </a:p>
          <a:p>
            <a:endParaRPr lang="zh-TW"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67373" y="642918"/>
            <a:ext cx="8809254" cy="4238415"/>
          </a:xfrm>
          <a:prstGeom prst="rect">
            <a:avLst/>
          </a:prstGeom>
          <a:noFill/>
          <a:ln w="9525">
            <a:noFill/>
            <a:miter lim="800000"/>
            <a:headEnd/>
            <a:tailEnd/>
          </a:ln>
          <a:effectLst/>
        </p:spPr>
      </p:pic>
      <p:sp>
        <p:nvSpPr>
          <p:cNvPr id="5" name="內容版面配置區 2"/>
          <p:cNvSpPr>
            <a:spLocks noGrp="1"/>
          </p:cNvSpPr>
          <p:nvPr>
            <p:ph idx="1"/>
          </p:nvPr>
        </p:nvSpPr>
        <p:spPr>
          <a:xfrm>
            <a:off x="457200" y="4857760"/>
            <a:ext cx="8229600" cy="1643074"/>
          </a:xfrm>
        </p:spPr>
        <p:txBody>
          <a:bodyPr>
            <a:normAutofit lnSpcReduction="10000"/>
          </a:bodyPr>
          <a:lstStyle/>
          <a:p>
            <a:r>
              <a:rPr lang="en-US" altLang="zh-TW" dirty="0" err="1" smtClean="0"/>
              <a:t>R</a:t>
            </a:r>
            <a:r>
              <a:rPr lang="en-US" altLang="zh-TW" baseline="-25000" dirty="0" err="1" smtClean="0"/>
              <a:t>l,k</a:t>
            </a:r>
            <a:endParaRPr lang="en-US" altLang="zh-TW" dirty="0" smtClean="0"/>
          </a:p>
          <a:p>
            <a:r>
              <a:rPr lang="en-US" altLang="zh-TW" dirty="0" smtClean="0"/>
              <a:t>l=4</a:t>
            </a:r>
          </a:p>
          <a:p>
            <a:r>
              <a:rPr lang="en-US" altLang="zh-TW" dirty="0" smtClean="0"/>
              <a:t>k=3</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642918"/>
            <a:ext cx="8229600" cy="5857916"/>
          </a:xfrm>
        </p:spPr>
        <p:txBody>
          <a:bodyPr>
            <a:normAutofit/>
          </a:bodyPr>
          <a:lstStyle/>
          <a:p>
            <a:r>
              <a:rPr lang="en-US" altLang="zh-TW" dirty="0" err="1" smtClean="0"/>
              <a:t>R</a:t>
            </a:r>
            <a:r>
              <a:rPr lang="en-US" altLang="zh-TW" baseline="-25000" dirty="0" err="1" smtClean="0"/>
              <a:t>l,k</a:t>
            </a:r>
            <a:r>
              <a:rPr lang="en-US" altLang="zh-TW" dirty="0" smtClean="0"/>
              <a:t> is an (l+1)-nary tree rooted at node N.</a:t>
            </a:r>
          </a:p>
          <a:p>
            <a:r>
              <a:rPr lang="en-US" altLang="zh-TW" dirty="0" smtClean="0"/>
              <a:t>Each node X in </a:t>
            </a:r>
            <a:r>
              <a:rPr lang="en-US" altLang="zh-TW" dirty="0" err="1" smtClean="0"/>
              <a:t>R</a:t>
            </a:r>
            <a:r>
              <a:rPr lang="en-US" altLang="zh-TW" baseline="-25000" dirty="0" err="1" smtClean="0"/>
              <a:t>l,k</a:t>
            </a:r>
            <a:r>
              <a:rPr lang="en-US" altLang="zh-TW" dirty="0" smtClean="0"/>
              <a:t> is associated with a constructing data set I(X). </a:t>
            </a:r>
          </a:p>
          <a:p>
            <a:r>
              <a:rPr lang="en-US" altLang="zh-TW" dirty="0" smtClean="0"/>
              <a:t>For root node N, I(N) =S.</a:t>
            </a:r>
          </a:p>
          <a:p>
            <a:r>
              <a:rPr lang="en-US" altLang="zh-TW" dirty="0" smtClean="0"/>
              <a:t>If </a:t>
            </a:r>
            <a:r>
              <a:rPr lang="en-US" altLang="zh-TW" b="1" dirty="0" smtClean="0">
                <a:solidFill>
                  <a:srgbClr val="FF0000"/>
                </a:solidFill>
              </a:rPr>
              <a:t>|I(X)| ≤ k </a:t>
            </a:r>
            <a:r>
              <a:rPr lang="en-US" altLang="zh-TW" dirty="0" smtClean="0"/>
              <a:t>or all elements in I(X) are </a:t>
            </a:r>
            <a:r>
              <a:rPr lang="en-US" altLang="zh-TW" b="1" dirty="0" smtClean="0">
                <a:solidFill>
                  <a:srgbClr val="FF0000"/>
                </a:solidFill>
              </a:rPr>
              <a:t>identical</a:t>
            </a:r>
            <a:r>
              <a:rPr lang="en-US" altLang="zh-TW" dirty="0" smtClean="0"/>
              <a:t>, X becomes a </a:t>
            </a:r>
            <a:r>
              <a:rPr lang="en-US" altLang="zh-TW" b="1" dirty="0" smtClean="0">
                <a:solidFill>
                  <a:srgbClr val="FF0000"/>
                </a:solidFill>
              </a:rPr>
              <a:t>leaf node </a:t>
            </a:r>
            <a:r>
              <a:rPr lang="en-US" altLang="zh-TW" dirty="0" smtClean="0"/>
              <a:t>where all strings in I(X) are stored. </a:t>
            </a:r>
          </a:p>
          <a:p>
            <a:r>
              <a:rPr lang="en-US" altLang="zh-TW" dirty="0" smtClean="0"/>
              <a:t>The strings in I(X) whose distances from </a:t>
            </a:r>
            <a:r>
              <a:rPr lang="en-US" altLang="zh-TW" dirty="0" err="1" smtClean="0"/>
              <a:t>ρ</a:t>
            </a:r>
            <a:r>
              <a:rPr lang="en-US" altLang="zh-TW" baseline="-25000" dirty="0" err="1" smtClean="0"/>
              <a:t>X</a:t>
            </a:r>
            <a:r>
              <a:rPr lang="en-US" altLang="zh-TW" dirty="0" smtClean="0"/>
              <a:t> are </a:t>
            </a:r>
            <a:r>
              <a:rPr lang="en-US" altLang="zh-TW" b="1" dirty="0" smtClean="0">
                <a:solidFill>
                  <a:srgbClr val="FF0000"/>
                </a:solidFill>
              </a:rPr>
              <a:t>d</a:t>
            </a:r>
            <a:r>
              <a:rPr lang="en-US" altLang="zh-TW" dirty="0" smtClean="0"/>
              <a:t> would be dispatched to the </a:t>
            </a:r>
            <a:r>
              <a:rPr lang="en-US" altLang="zh-TW" dirty="0" err="1" smtClean="0"/>
              <a:t>subtree</a:t>
            </a:r>
            <a:r>
              <a:rPr lang="en-US" altLang="zh-TW" dirty="0" smtClean="0"/>
              <a:t> rooted at </a:t>
            </a:r>
            <a:r>
              <a:rPr lang="en-US" altLang="zh-TW" b="1" dirty="0" err="1" smtClean="0">
                <a:solidFill>
                  <a:srgbClr val="FF0000"/>
                </a:solidFill>
              </a:rPr>
              <a:t>X</a:t>
            </a:r>
            <a:r>
              <a:rPr lang="en-US" altLang="zh-TW" b="1" baseline="-25000" dirty="0" err="1" smtClean="0">
                <a:solidFill>
                  <a:srgbClr val="FF0000"/>
                </a:solidFill>
              </a:rPr>
              <a:t>d</a:t>
            </a:r>
            <a:r>
              <a:rPr lang="en-US" altLang="zh-TW" dirty="0" smtClean="0"/>
              <a:t>.</a:t>
            </a:r>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642918"/>
            <a:ext cx="8229600" cy="5929354"/>
          </a:xfrm>
        </p:spPr>
        <p:txBody>
          <a:bodyPr>
            <a:normAutofit/>
          </a:bodyPr>
          <a:lstStyle/>
          <a:p>
            <a:r>
              <a:rPr lang="en-US" altLang="zh-TW" dirty="0" smtClean="0"/>
              <a:t>δ(a, b)denote the Hamming distance between a and b </a:t>
            </a:r>
          </a:p>
          <a:p>
            <a:r>
              <a:rPr lang="en-US" altLang="zh-TW" dirty="0" smtClean="0"/>
              <a:t>a ≠ c if δ(a, b) ≠ δ(c, b)</a:t>
            </a:r>
          </a:p>
          <a:p>
            <a:r>
              <a:rPr lang="en-US" altLang="zh-TW" dirty="0" smtClean="0"/>
              <a:t>a may be equal to c if δ(a, b) = δ(c, b)</a:t>
            </a:r>
          </a:p>
          <a:p>
            <a:endParaRPr lang="en-US" altLang="zh-TW" dirty="0" smtClean="0"/>
          </a:p>
          <a:p>
            <a:r>
              <a:rPr lang="en-US" altLang="zh-TW" dirty="0" smtClean="0"/>
              <a:t>if </a:t>
            </a:r>
            <a:r>
              <a:rPr lang="el-GR" altLang="zh-TW" dirty="0" smtClean="0"/>
              <a:t>δ(</a:t>
            </a:r>
            <a:r>
              <a:rPr lang="en-US" altLang="zh-TW" dirty="0" smtClean="0"/>
              <a:t>p, </a:t>
            </a:r>
            <a:r>
              <a:rPr lang="el-GR" altLang="zh-TW" dirty="0" smtClean="0"/>
              <a:t>ρ</a:t>
            </a:r>
            <a:r>
              <a:rPr lang="en-US" altLang="zh-TW" baseline="-25000" dirty="0" smtClean="0"/>
              <a:t>X</a:t>
            </a:r>
            <a:r>
              <a:rPr lang="en-US" altLang="zh-TW" dirty="0" smtClean="0"/>
              <a:t>) = d , find </a:t>
            </a:r>
            <a:r>
              <a:rPr lang="en-US" altLang="zh-TW" i="1" dirty="0" smtClean="0"/>
              <a:t>l</a:t>
            </a:r>
            <a:r>
              <a:rPr lang="en-US" altLang="zh-TW" dirty="0" smtClean="0"/>
              <a:t>-prefix p in </a:t>
            </a:r>
            <a:r>
              <a:rPr lang="en-US" altLang="zh-TW" dirty="0" err="1" smtClean="0"/>
              <a:t>X</a:t>
            </a:r>
            <a:r>
              <a:rPr lang="en-US" altLang="zh-TW" baseline="-25000" dirty="0" err="1" smtClean="0"/>
              <a:t>d</a:t>
            </a:r>
            <a:endParaRPr lang="en-US" altLang="zh-TW" baseline="-25000" dirty="0" smtClean="0"/>
          </a:p>
          <a:p>
            <a:r>
              <a:rPr lang="en-US" altLang="zh-TW" dirty="0" err="1" smtClean="0"/>
              <a:t>X</a:t>
            </a:r>
            <a:r>
              <a:rPr lang="en-US" altLang="zh-TW" baseline="-25000" dirty="0" err="1" smtClean="0"/>
              <a:t>d</a:t>
            </a:r>
            <a:r>
              <a:rPr lang="en-US" altLang="zh-TW" baseline="-25000" dirty="0" smtClean="0"/>
              <a:t> </a:t>
            </a:r>
            <a:r>
              <a:rPr lang="en-US" altLang="zh-TW" dirty="0" smtClean="0"/>
              <a:t>does not exist, stop searching for P</a:t>
            </a:r>
          </a:p>
          <a:p>
            <a:r>
              <a:rPr lang="en-US" altLang="zh-TW" dirty="0" smtClean="0"/>
              <a:t>If </a:t>
            </a:r>
            <a:r>
              <a:rPr lang="en-US" altLang="zh-TW" dirty="0" err="1" smtClean="0"/>
              <a:t>X</a:t>
            </a:r>
            <a:r>
              <a:rPr lang="en-US" altLang="zh-TW" baseline="-25000" dirty="0" err="1" smtClean="0"/>
              <a:t>d</a:t>
            </a:r>
            <a:r>
              <a:rPr lang="en-US" altLang="zh-TW" dirty="0" smtClean="0"/>
              <a:t> is not empty and d = 0, examine all strings in I(X</a:t>
            </a:r>
            <a:r>
              <a:rPr lang="en-US" altLang="zh-TW" baseline="-25000" dirty="0" smtClean="0"/>
              <a:t>0</a:t>
            </a:r>
            <a:r>
              <a:rPr lang="en-US" altLang="zh-TW" dirty="0" smtClean="0"/>
              <a:t>) whether T[</a:t>
            </a:r>
            <a:r>
              <a:rPr lang="en-US" altLang="zh-TW" dirty="0" err="1" smtClean="0"/>
              <a:t>i+l</a:t>
            </a:r>
            <a:r>
              <a:rPr lang="en-US" altLang="zh-TW" dirty="0" smtClean="0"/>
              <a:t>, i+m−1] =P[l+1, m] by linear comparison</a:t>
            </a:r>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t>Hamming distance</a:t>
            </a:r>
            <a:endParaRPr lang="zh-TW" altLang="en-US" dirty="0"/>
          </a:p>
        </p:txBody>
      </p:sp>
      <p:sp>
        <p:nvSpPr>
          <p:cNvPr id="3" name="內容版面配置區 2"/>
          <p:cNvSpPr>
            <a:spLocks noGrp="1"/>
          </p:cNvSpPr>
          <p:nvPr>
            <p:ph idx="1"/>
          </p:nvPr>
        </p:nvSpPr>
        <p:spPr/>
        <p:txBody>
          <a:bodyPr/>
          <a:lstStyle/>
          <a:p>
            <a:r>
              <a:rPr lang="en-US" altLang="zh-TW" dirty="0" err="1" smtClean="0"/>
              <a:t>a</a:t>
            </a:r>
            <a:r>
              <a:rPr lang="en-US" altLang="zh-TW" baseline="-25000" dirty="0" err="1" smtClean="0"/>
              <a:t>i</a:t>
            </a:r>
            <a:r>
              <a:rPr lang="en-US" altLang="zh-TW" dirty="0" smtClean="0"/>
              <a:t> by bit string </a:t>
            </a:r>
            <a:r>
              <a:rPr lang="en-US" altLang="zh-TW" dirty="0" err="1" smtClean="0"/>
              <a:t>α</a:t>
            </a:r>
            <a:r>
              <a:rPr lang="en-US" altLang="zh-TW" baseline="-25000" dirty="0" err="1" smtClean="0"/>
              <a:t>i</a:t>
            </a:r>
            <a:r>
              <a:rPr lang="en-US" altLang="zh-TW" dirty="0" smtClean="0"/>
              <a:t> of 1+log</a:t>
            </a:r>
            <a:r>
              <a:rPr lang="en-US" altLang="zh-TW" baseline="-25000" dirty="0" smtClean="0"/>
              <a:t>2</a:t>
            </a:r>
            <a:r>
              <a:rPr lang="en-US" altLang="zh-TW" dirty="0" smtClean="0"/>
              <a:t>σbits</a:t>
            </a:r>
          </a:p>
          <a:p>
            <a:r>
              <a:rPr lang="pt-BR" altLang="zh-TW" dirty="0" smtClean="0"/>
              <a:t>{a</a:t>
            </a:r>
            <a:r>
              <a:rPr lang="pt-BR" altLang="zh-TW" baseline="-25000" dirty="0" smtClean="0"/>
              <a:t>1</a:t>
            </a:r>
            <a:r>
              <a:rPr lang="pt-BR" altLang="zh-TW" dirty="0" smtClean="0"/>
              <a:t>, a</a:t>
            </a:r>
            <a:r>
              <a:rPr lang="pt-BR" altLang="zh-TW" baseline="-25000" dirty="0" smtClean="0"/>
              <a:t>2</a:t>
            </a:r>
            <a:r>
              <a:rPr lang="pt-BR" altLang="zh-TW" dirty="0" smtClean="0"/>
              <a:t>, a</a:t>
            </a:r>
            <a:r>
              <a:rPr lang="pt-BR" altLang="zh-TW" baseline="-25000" dirty="0" smtClean="0"/>
              <a:t>3</a:t>
            </a:r>
            <a:r>
              <a:rPr lang="pt-BR" altLang="zh-TW" dirty="0" smtClean="0"/>
              <a:t>, a</a:t>
            </a:r>
            <a:r>
              <a:rPr lang="pt-BR" altLang="zh-TW" baseline="-25000" dirty="0" smtClean="0"/>
              <a:t>4</a:t>
            </a:r>
            <a:r>
              <a:rPr lang="pt-BR" altLang="zh-TW" dirty="0" smtClean="0"/>
              <a:t>}={A,C,G,T}</a:t>
            </a:r>
          </a:p>
          <a:p>
            <a:r>
              <a:rPr lang="pt-BR" altLang="zh-TW" dirty="0" smtClean="0"/>
              <a:t>a</a:t>
            </a:r>
            <a:r>
              <a:rPr lang="pt-BR" altLang="zh-TW" baseline="-25000" dirty="0" smtClean="0"/>
              <a:t>1</a:t>
            </a:r>
            <a:r>
              <a:rPr lang="pt-BR" altLang="zh-TW" dirty="0" smtClean="0"/>
              <a:t>=000</a:t>
            </a:r>
          </a:p>
          <a:p>
            <a:r>
              <a:rPr lang="pt-BR" altLang="zh-TW" dirty="0" smtClean="0"/>
              <a:t>a</a:t>
            </a:r>
            <a:r>
              <a:rPr lang="pt-BR" altLang="zh-TW" baseline="-25000" dirty="0" smtClean="0"/>
              <a:t>2</a:t>
            </a:r>
            <a:r>
              <a:rPr lang="pt-BR" altLang="zh-TW" dirty="0" smtClean="0"/>
              <a:t>=001</a:t>
            </a:r>
          </a:p>
          <a:p>
            <a:r>
              <a:rPr lang="pt-BR" altLang="zh-TW" dirty="0" smtClean="0"/>
              <a:t>a</a:t>
            </a:r>
            <a:r>
              <a:rPr lang="pt-BR" altLang="zh-TW" baseline="-25000" dirty="0" smtClean="0"/>
              <a:t>3</a:t>
            </a:r>
            <a:r>
              <a:rPr lang="pt-BR" altLang="zh-TW" dirty="0" smtClean="0"/>
              <a:t>=010</a:t>
            </a:r>
          </a:p>
          <a:p>
            <a:r>
              <a:rPr lang="pt-BR" altLang="zh-TW" dirty="0" smtClean="0"/>
              <a:t>a</a:t>
            </a:r>
            <a:r>
              <a:rPr lang="pt-BR" altLang="zh-TW" baseline="-25000" dirty="0" smtClean="0"/>
              <a:t>4</a:t>
            </a:r>
            <a:r>
              <a:rPr lang="pt-BR" altLang="zh-TW" dirty="0" smtClean="0"/>
              <a:t>=011</a:t>
            </a:r>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500042"/>
            <a:ext cx="8229600" cy="5929354"/>
          </a:xfrm>
        </p:spPr>
        <p:txBody>
          <a:bodyPr>
            <a:normAutofit/>
          </a:bodyPr>
          <a:lstStyle/>
          <a:p>
            <a:r>
              <a:rPr lang="en-US" altLang="zh-TW" dirty="0" smtClean="0"/>
              <a:t>| bi |=</a:t>
            </a:r>
            <a:r>
              <a:rPr lang="en-US" altLang="zh-TW" i="1" dirty="0" smtClean="0"/>
              <a:t>l</a:t>
            </a:r>
            <a:r>
              <a:rPr lang="en-US" altLang="zh-TW" dirty="0" smtClean="0"/>
              <a:t>(1+log2σ)</a:t>
            </a:r>
          </a:p>
          <a:p>
            <a:r>
              <a:rPr lang="en-US" altLang="zh-TW" dirty="0" err="1" smtClean="0"/>
              <a:t>β</a:t>
            </a:r>
            <a:r>
              <a:rPr lang="en-US" altLang="zh-TW" baseline="-25000" dirty="0" err="1" smtClean="0"/>
              <a:t>X</a:t>
            </a:r>
            <a:r>
              <a:rPr lang="en-US" altLang="zh-TW" dirty="0" smtClean="0"/>
              <a:t> be the bit string of </a:t>
            </a:r>
            <a:r>
              <a:rPr lang="en-US" altLang="zh-TW" dirty="0" err="1" smtClean="0"/>
              <a:t>ρX</a:t>
            </a:r>
            <a:endParaRPr lang="en-US" altLang="zh-TW" dirty="0" smtClean="0"/>
          </a:p>
          <a:p>
            <a:r>
              <a:rPr lang="en-US" altLang="zh-TW" dirty="0" err="1" smtClean="0"/>
              <a:t>b</a:t>
            </a:r>
            <a:r>
              <a:rPr lang="en-US" altLang="zh-TW" baseline="-25000" dirty="0" err="1" smtClean="0"/>
              <a:t>witness</a:t>
            </a:r>
            <a:r>
              <a:rPr lang="en-US" altLang="zh-TW" dirty="0" smtClean="0"/>
              <a:t>=(1(0)</a:t>
            </a:r>
            <a:r>
              <a:rPr lang="en-US" altLang="zh-TW" baseline="30000" dirty="0" smtClean="0"/>
              <a:t>log2σ</a:t>
            </a:r>
            <a:r>
              <a:rPr lang="en-US" altLang="zh-TW" dirty="0" smtClean="0"/>
              <a:t>)</a:t>
            </a:r>
            <a:r>
              <a:rPr lang="en-US" altLang="zh-TW" i="1" baseline="30000" dirty="0" smtClean="0"/>
              <a:t>l</a:t>
            </a:r>
            <a:endParaRPr lang="en-US" altLang="zh-TW" dirty="0" smtClean="0"/>
          </a:p>
          <a:p>
            <a:r>
              <a:rPr lang="en-US" altLang="zh-TW" dirty="0" err="1" smtClean="0"/>
              <a:t>b</a:t>
            </a:r>
            <a:r>
              <a:rPr lang="en-US" altLang="zh-TW" baseline="-25000" dirty="0" err="1" smtClean="0"/>
              <a:t>inv_witness</a:t>
            </a:r>
            <a:r>
              <a:rPr lang="en-US" altLang="zh-TW" dirty="0" smtClean="0"/>
              <a:t>=(0(1)</a:t>
            </a:r>
            <a:r>
              <a:rPr lang="en-US" altLang="zh-TW" baseline="30000" dirty="0" smtClean="0"/>
              <a:t>log2σ</a:t>
            </a:r>
            <a:r>
              <a:rPr lang="en-US" altLang="zh-TW" dirty="0" smtClean="0"/>
              <a:t>)</a:t>
            </a:r>
            <a:r>
              <a:rPr lang="en-US" altLang="zh-TW" i="1" baseline="30000" dirty="0" smtClean="0"/>
              <a:t>l</a:t>
            </a:r>
            <a:endParaRPr lang="en-US" altLang="zh-TW" dirty="0" smtClean="0"/>
          </a:p>
          <a:p>
            <a:endParaRPr lang="en-US" altLang="zh-TW" dirty="0" smtClean="0"/>
          </a:p>
          <a:p>
            <a:r>
              <a:rPr lang="en-US" altLang="zh-TW" dirty="0" smtClean="0"/>
              <a:t>⊕ “exclusive or” (XOR)</a:t>
            </a:r>
          </a:p>
          <a:p>
            <a:r>
              <a:rPr lang="en-US" altLang="zh-TW" dirty="0" smtClean="0"/>
              <a:t>+ “ADD” </a:t>
            </a:r>
          </a:p>
          <a:p>
            <a:r>
              <a:rPr lang="en-US" altLang="zh-TW" dirty="0" smtClean="0"/>
              <a:t>∧ “AND” </a:t>
            </a:r>
          </a:p>
          <a:p>
            <a:r>
              <a:rPr lang="en-US" altLang="zh-TW" dirty="0" err="1" smtClean="0"/>
              <a:t>popcount</a:t>
            </a:r>
            <a:r>
              <a:rPr lang="en-US" altLang="zh-TW" dirty="0" smtClean="0"/>
              <a:t>(b) count the number of 1’s </a:t>
            </a:r>
          </a:p>
        </p:txBody>
      </p:sp>
      <p:pic>
        <p:nvPicPr>
          <p:cNvPr id="2050" name="Picture 2"/>
          <p:cNvPicPr>
            <a:picLocks noChangeAspect="1" noChangeArrowheads="1"/>
          </p:cNvPicPr>
          <p:nvPr/>
        </p:nvPicPr>
        <p:blipFill>
          <a:blip r:embed="rId2"/>
          <a:srcRect/>
          <a:stretch>
            <a:fillRect/>
          </a:stretch>
        </p:blipFill>
        <p:spPr bwMode="auto">
          <a:xfrm>
            <a:off x="5357818" y="857232"/>
            <a:ext cx="1943100" cy="981075"/>
          </a:xfrm>
          <a:prstGeom prst="rect">
            <a:avLst/>
          </a:prstGeom>
          <a:noFill/>
          <a:ln w="9525">
            <a:noFill/>
            <a:miter lim="800000"/>
            <a:headEnd/>
            <a:tailEnd/>
          </a:ln>
          <a:effectLst/>
        </p:spPr>
      </p:pic>
      <p:sp>
        <p:nvSpPr>
          <p:cNvPr id="6" name="矩形 5"/>
          <p:cNvSpPr/>
          <p:nvPr/>
        </p:nvSpPr>
        <p:spPr>
          <a:xfrm>
            <a:off x="6357950" y="1142984"/>
            <a:ext cx="500066" cy="3571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pic>
        <p:nvPicPr>
          <p:cNvPr id="2052" name="Picture 4"/>
          <p:cNvPicPr>
            <a:picLocks noChangeAspect="1" noChangeArrowheads="1"/>
          </p:cNvPicPr>
          <p:nvPr/>
        </p:nvPicPr>
        <p:blipFill>
          <a:blip r:embed="rId3"/>
          <a:srcRect/>
          <a:stretch>
            <a:fillRect/>
          </a:stretch>
        </p:blipFill>
        <p:spPr bwMode="auto">
          <a:xfrm>
            <a:off x="785786" y="2900360"/>
            <a:ext cx="7617657" cy="600078"/>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214422"/>
            <a:ext cx="8229600" cy="5429288"/>
          </a:xfrm>
        </p:spPr>
        <p:txBody>
          <a:bodyPr>
            <a:normAutofit/>
          </a:bodyPr>
          <a:lstStyle/>
          <a:p>
            <a:r>
              <a:rPr lang="en-US" altLang="zh-TW" dirty="0" smtClean="0"/>
              <a:t>b</a:t>
            </a:r>
            <a:r>
              <a:rPr lang="en-US" altLang="zh-TW" baseline="-25000" dirty="0" smtClean="0"/>
              <a:t>i</a:t>
            </a:r>
            <a:r>
              <a:rPr lang="en-US" altLang="zh-TW" dirty="0" smtClean="0"/>
              <a:t>⊕</a:t>
            </a:r>
            <a:r>
              <a:rPr lang="el-GR" altLang="zh-TW" dirty="0" smtClean="0"/>
              <a:t>β</a:t>
            </a:r>
            <a:r>
              <a:rPr lang="en-US" altLang="zh-TW" baseline="-25000" dirty="0" smtClean="0"/>
              <a:t>X</a:t>
            </a:r>
            <a:r>
              <a:rPr lang="en-US" altLang="zh-TW" dirty="0" smtClean="0"/>
              <a:t> =&gt; not zero if not same</a:t>
            </a:r>
          </a:p>
          <a:p>
            <a:r>
              <a:rPr lang="en-US" altLang="zh-TW" dirty="0" smtClean="0"/>
              <a:t>((b</a:t>
            </a:r>
            <a:r>
              <a:rPr lang="en-US" altLang="zh-TW" baseline="-25000" dirty="0" smtClean="0"/>
              <a:t>i</a:t>
            </a:r>
            <a:r>
              <a:rPr lang="en-US" altLang="zh-TW" dirty="0" smtClean="0"/>
              <a:t>⊕</a:t>
            </a:r>
            <a:r>
              <a:rPr lang="el-GR" altLang="zh-TW" dirty="0" smtClean="0"/>
              <a:t>β</a:t>
            </a:r>
            <a:r>
              <a:rPr lang="en-US" altLang="zh-TW" baseline="-25000" dirty="0" smtClean="0"/>
              <a:t>X</a:t>
            </a:r>
            <a:r>
              <a:rPr lang="en-US" altLang="zh-TW" dirty="0" smtClean="0"/>
              <a:t>)+</a:t>
            </a:r>
            <a:r>
              <a:rPr lang="en-US" altLang="zh-TW" dirty="0" err="1" smtClean="0"/>
              <a:t>b</a:t>
            </a:r>
            <a:r>
              <a:rPr lang="en-US" altLang="zh-TW" baseline="-25000" dirty="0" err="1" smtClean="0"/>
              <a:t>inv_witness</a:t>
            </a:r>
            <a:r>
              <a:rPr lang="en-US" altLang="zh-TW" dirty="0" smtClean="0"/>
              <a:t>) =&gt; corresponding carries if not same</a:t>
            </a:r>
          </a:p>
          <a:p>
            <a:r>
              <a:rPr lang="en-US" altLang="zh-TW" dirty="0" smtClean="0"/>
              <a:t>(((b</a:t>
            </a:r>
            <a:r>
              <a:rPr lang="en-US" altLang="zh-TW" baseline="-25000" dirty="0" smtClean="0"/>
              <a:t>i</a:t>
            </a:r>
            <a:r>
              <a:rPr lang="en-US" altLang="zh-TW" dirty="0" smtClean="0"/>
              <a:t>⊕</a:t>
            </a:r>
            <a:r>
              <a:rPr lang="el-GR" altLang="zh-TW" dirty="0" smtClean="0"/>
              <a:t>β</a:t>
            </a:r>
            <a:r>
              <a:rPr lang="en-US" altLang="zh-TW" baseline="-25000" dirty="0" smtClean="0"/>
              <a:t>X</a:t>
            </a:r>
            <a:r>
              <a:rPr lang="en-US" altLang="zh-TW" dirty="0" smtClean="0"/>
              <a:t>)+</a:t>
            </a:r>
            <a:r>
              <a:rPr lang="en-US" altLang="zh-TW" dirty="0" err="1" smtClean="0"/>
              <a:t>b</a:t>
            </a:r>
            <a:r>
              <a:rPr lang="en-US" altLang="zh-TW" baseline="-25000" dirty="0" err="1" smtClean="0"/>
              <a:t>inv_witness</a:t>
            </a:r>
            <a:r>
              <a:rPr lang="en-US" altLang="zh-TW" dirty="0" smtClean="0"/>
              <a:t>) ∧ </a:t>
            </a:r>
            <a:r>
              <a:rPr lang="en-US" altLang="zh-TW" dirty="0" err="1" smtClean="0"/>
              <a:t>b</a:t>
            </a:r>
            <a:r>
              <a:rPr lang="en-US" altLang="zh-TW" baseline="-25000" dirty="0" err="1" smtClean="0"/>
              <a:t>witness</a:t>
            </a:r>
            <a:r>
              <a:rPr lang="en-US" altLang="zh-TW" dirty="0" smtClean="0"/>
              <a:t>)</a:t>
            </a:r>
            <a:r>
              <a:rPr lang="en-US" altLang="zh-TW" baseline="-25000" dirty="0" smtClean="0"/>
              <a:t>  </a:t>
            </a:r>
            <a:r>
              <a:rPr lang="en-US" altLang="zh-TW" dirty="0" smtClean="0"/>
              <a:t>count distance</a:t>
            </a:r>
          </a:p>
          <a:p>
            <a:endParaRPr lang="en-US" altLang="zh-TW" dirty="0" smtClean="0"/>
          </a:p>
          <a:p>
            <a:endParaRPr lang="en-US" altLang="zh-TW" dirty="0" smtClean="0"/>
          </a:p>
          <a:p>
            <a:endParaRPr lang="en-US" altLang="zh-TW" baseline="-25000" dirty="0" smtClean="0"/>
          </a:p>
          <a:p>
            <a:endParaRPr lang="en-US" altLang="zh-TW" dirty="0" smtClean="0"/>
          </a:p>
          <a:p>
            <a:endParaRPr lang="en-US" altLang="zh-TW" dirty="0" smtClean="0"/>
          </a:p>
        </p:txBody>
      </p:sp>
      <p:pic>
        <p:nvPicPr>
          <p:cNvPr id="5" name="Picture 4"/>
          <p:cNvPicPr>
            <a:picLocks noChangeAspect="1" noChangeArrowheads="1"/>
          </p:cNvPicPr>
          <p:nvPr/>
        </p:nvPicPr>
        <p:blipFill>
          <a:blip r:embed="rId2"/>
          <a:srcRect/>
          <a:stretch>
            <a:fillRect/>
          </a:stretch>
        </p:blipFill>
        <p:spPr bwMode="auto">
          <a:xfrm>
            <a:off x="785786" y="357166"/>
            <a:ext cx="7617657" cy="60007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600200"/>
            <a:ext cx="8229600" cy="4972072"/>
          </a:xfrm>
        </p:spPr>
        <p:txBody>
          <a:bodyPr>
            <a:normAutofit lnSpcReduction="10000"/>
          </a:bodyPr>
          <a:lstStyle/>
          <a:p>
            <a:r>
              <a:rPr lang="el-GR" altLang="zh-TW" dirty="0" smtClean="0"/>
              <a:t>σ=4</a:t>
            </a:r>
            <a:r>
              <a:rPr lang="en-US" altLang="zh-TW" dirty="0" smtClean="0"/>
              <a:t> and </a:t>
            </a:r>
            <a:r>
              <a:rPr lang="en-US" altLang="zh-TW" i="1" dirty="0" smtClean="0"/>
              <a:t>l</a:t>
            </a:r>
            <a:r>
              <a:rPr lang="en-US" altLang="zh-TW" dirty="0" smtClean="0"/>
              <a:t>=3</a:t>
            </a:r>
          </a:p>
          <a:p>
            <a:r>
              <a:rPr lang="en-US" altLang="zh-TW" dirty="0" err="1" smtClean="0"/>
              <a:t>b</a:t>
            </a:r>
            <a:r>
              <a:rPr lang="en-US" altLang="zh-TW" baseline="-25000" dirty="0" err="1" smtClean="0"/>
              <a:t>witness</a:t>
            </a:r>
            <a:r>
              <a:rPr lang="en-US" altLang="zh-TW" dirty="0" smtClean="0"/>
              <a:t>=(1(0)</a:t>
            </a:r>
            <a:r>
              <a:rPr lang="en-US" altLang="zh-TW" baseline="30000" dirty="0" smtClean="0"/>
              <a:t>log2σ</a:t>
            </a:r>
            <a:r>
              <a:rPr lang="en-US" altLang="zh-TW" dirty="0" smtClean="0"/>
              <a:t>)</a:t>
            </a:r>
            <a:r>
              <a:rPr lang="en-US" altLang="zh-TW" i="1" baseline="30000" dirty="0" smtClean="0"/>
              <a:t>l</a:t>
            </a:r>
            <a:r>
              <a:rPr lang="en-US" altLang="zh-TW" dirty="0" smtClean="0"/>
              <a:t>=100100100</a:t>
            </a:r>
          </a:p>
          <a:p>
            <a:r>
              <a:rPr lang="en-US" altLang="zh-TW" dirty="0" err="1" smtClean="0"/>
              <a:t>b</a:t>
            </a:r>
            <a:r>
              <a:rPr lang="en-US" altLang="zh-TW" baseline="-25000" dirty="0" err="1" smtClean="0"/>
              <a:t>inv_witness</a:t>
            </a:r>
            <a:r>
              <a:rPr lang="en-US" altLang="zh-TW" dirty="0" smtClean="0"/>
              <a:t>=(0(1)</a:t>
            </a:r>
            <a:r>
              <a:rPr lang="en-US" altLang="zh-TW" baseline="30000" dirty="0" smtClean="0"/>
              <a:t>log2σ</a:t>
            </a:r>
            <a:r>
              <a:rPr lang="en-US" altLang="zh-TW" dirty="0" smtClean="0"/>
              <a:t>)</a:t>
            </a:r>
            <a:r>
              <a:rPr lang="en-US" altLang="zh-TW" i="1" baseline="30000" dirty="0" smtClean="0"/>
              <a:t>l</a:t>
            </a:r>
            <a:r>
              <a:rPr lang="en-US" altLang="zh-TW" i="1" dirty="0" smtClean="0"/>
              <a:t>=</a:t>
            </a:r>
            <a:r>
              <a:rPr lang="en-US" altLang="zh-TW" dirty="0" smtClean="0"/>
              <a:t>011011011</a:t>
            </a:r>
          </a:p>
          <a:p>
            <a:r>
              <a:rPr lang="en-US" altLang="zh-TW" dirty="0" smtClean="0"/>
              <a:t>s</a:t>
            </a:r>
            <a:r>
              <a:rPr lang="en-US" altLang="zh-TW" baseline="-25000" dirty="0" smtClean="0"/>
              <a:t>2</a:t>
            </a:r>
            <a:r>
              <a:rPr lang="en-US" altLang="zh-TW" dirty="0" smtClean="0"/>
              <a:t>=AGT, b</a:t>
            </a:r>
            <a:r>
              <a:rPr lang="en-US" altLang="zh-TW" baseline="-25000" dirty="0" smtClean="0"/>
              <a:t>i</a:t>
            </a:r>
            <a:r>
              <a:rPr lang="en-US" altLang="zh-TW" dirty="0" smtClean="0"/>
              <a:t>=000010011</a:t>
            </a:r>
          </a:p>
          <a:p>
            <a:r>
              <a:rPr lang="en-US" altLang="zh-TW" dirty="0" err="1" smtClean="0"/>
              <a:t>ρ</a:t>
            </a:r>
            <a:r>
              <a:rPr lang="en-US" altLang="zh-TW" baseline="-25000" dirty="0" err="1" smtClean="0"/>
              <a:t>X</a:t>
            </a:r>
            <a:r>
              <a:rPr lang="en-US" altLang="zh-TW" dirty="0" smtClean="0"/>
              <a:t>=ACT, </a:t>
            </a:r>
            <a:r>
              <a:rPr lang="en-US" altLang="zh-TW" dirty="0" err="1" smtClean="0"/>
              <a:t>β</a:t>
            </a:r>
            <a:r>
              <a:rPr lang="en-US" altLang="zh-TW" baseline="-25000" dirty="0" err="1" smtClean="0"/>
              <a:t>X</a:t>
            </a:r>
            <a:r>
              <a:rPr lang="en-US" altLang="zh-TW" dirty="0" smtClean="0"/>
              <a:t>=000001011</a:t>
            </a:r>
          </a:p>
          <a:p>
            <a:r>
              <a:rPr lang="en-US" altLang="zh-TW" dirty="0" smtClean="0"/>
              <a:t>(((b</a:t>
            </a:r>
            <a:r>
              <a:rPr lang="en-US" altLang="zh-TW" baseline="-25000" dirty="0" smtClean="0"/>
              <a:t>i</a:t>
            </a:r>
            <a:r>
              <a:rPr lang="en-US" altLang="zh-TW" dirty="0" smtClean="0"/>
              <a:t>⊕</a:t>
            </a:r>
            <a:r>
              <a:rPr lang="el-GR" altLang="zh-TW" dirty="0" smtClean="0"/>
              <a:t>β</a:t>
            </a:r>
            <a:r>
              <a:rPr lang="en-US" altLang="zh-TW" baseline="-25000" dirty="0" smtClean="0"/>
              <a:t>X</a:t>
            </a:r>
            <a:r>
              <a:rPr lang="en-US" altLang="zh-TW" dirty="0" smtClean="0"/>
              <a:t>)+</a:t>
            </a:r>
            <a:r>
              <a:rPr lang="en-US" altLang="zh-TW" dirty="0" err="1" smtClean="0"/>
              <a:t>b</a:t>
            </a:r>
            <a:r>
              <a:rPr lang="en-US" altLang="zh-TW" baseline="-25000" dirty="0" err="1" smtClean="0"/>
              <a:t>inv_witness</a:t>
            </a:r>
            <a:r>
              <a:rPr lang="en-US" altLang="zh-TW" dirty="0" smtClean="0"/>
              <a:t>) ∧ </a:t>
            </a:r>
            <a:r>
              <a:rPr lang="en-US" altLang="zh-TW" dirty="0" err="1" smtClean="0"/>
              <a:t>b</a:t>
            </a:r>
            <a:r>
              <a:rPr lang="en-US" altLang="zh-TW" baseline="-25000" dirty="0" err="1" smtClean="0"/>
              <a:t>witness</a:t>
            </a:r>
            <a:r>
              <a:rPr lang="en-US" altLang="zh-TW" dirty="0" smtClean="0"/>
              <a:t>)</a:t>
            </a:r>
            <a:endParaRPr lang="en-US" altLang="zh-TW" baseline="-25000" dirty="0" smtClean="0"/>
          </a:p>
          <a:p>
            <a:r>
              <a:rPr lang="en-US" altLang="zh-TW" dirty="0" smtClean="0"/>
              <a:t>=(000011000+011011011)^100100100</a:t>
            </a:r>
          </a:p>
          <a:p>
            <a:r>
              <a:rPr lang="en-US" altLang="zh-TW" dirty="0" smtClean="0"/>
              <a:t>=011110011^100100100</a:t>
            </a:r>
          </a:p>
          <a:p>
            <a:r>
              <a:rPr lang="en-US" altLang="zh-TW" dirty="0" smtClean="0"/>
              <a:t>=000100000</a:t>
            </a:r>
          </a:p>
          <a:p>
            <a:endParaRPr lang="zh-TW" altLang="en-US" dirty="0"/>
          </a:p>
        </p:txBody>
      </p:sp>
      <p:pic>
        <p:nvPicPr>
          <p:cNvPr id="4" name="Picture 4"/>
          <p:cNvPicPr>
            <a:picLocks noChangeAspect="1" noChangeArrowheads="1"/>
          </p:cNvPicPr>
          <p:nvPr/>
        </p:nvPicPr>
        <p:blipFill>
          <a:blip r:embed="rId2"/>
          <a:srcRect/>
          <a:stretch>
            <a:fillRect/>
          </a:stretch>
        </p:blipFill>
        <p:spPr bwMode="auto">
          <a:xfrm>
            <a:off x="642910" y="714356"/>
            <a:ext cx="7617657" cy="60007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5500702"/>
            <a:ext cx="8229600" cy="1214446"/>
          </a:xfrm>
        </p:spPr>
        <p:txBody>
          <a:bodyPr>
            <a:normAutofit fontScale="92500" lnSpcReduction="20000"/>
          </a:bodyPr>
          <a:lstStyle/>
          <a:p>
            <a:r>
              <a:rPr lang="en-US" altLang="zh-TW" dirty="0" smtClean="0"/>
              <a:t>When the size of each b</a:t>
            </a:r>
            <a:r>
              <a:rPr lang="en-US" altLang="zh-TW" baseline="-25000" dirty="0" smtClean="0"/>
              <a:t>i</a:t>
            </a:r>
            <a:r>
              <a:rPr lang="en-US" altLang="zh-TW" dirty="0" smtClean="0"/>
              <a:t>(and </a:t>
            </a:r>
            <a:r>
              <a:rPr lang="en-US" altLang="zh-TW" dirty="0" err="1" smtClean="0"/>
              <a:t>β</a:t>
            </a:r>
            <a:r>
              <a:rPr lang="en-US" altLang="zh-TW" baseline="-25000" dirty="0" err="1" smtClean="0"/>
              <a:t>X</a:t>
            </a:r>
            <a:r>
              <a:rPr lang="en-US" altLang="zh-TW" dirty="0" smtClean="0"/>
              <a:t>) is smaller than or equal to a computer word, Equation (1) counts the number of 1’s in O(1).</a:t>
            </a:r>
            <a:endParaRPr lang="zh-TW" altLang="en-US" dirty="0"/>
          </a:p>
        </p:txBody>
      </p:sp>
      <p:pic>
        <p:nvPicPr>
          <p:cNvPr id="3074" name="Picture 2"/>
          <p:cNvPicPr>
            <a:picLocks noChangeAspect="1" noChangeArrowheads="1"/>
          </p:cNvPicPr>
          <p:nvPr/>
        </p:nvPicPr>
        <p:blipFill>
          <a:blip r:embed="rId2"/>
          <a:srcRect/>
          <a:stretch>
            <a:fillRect/>
          </a:stretch>
        </p:blipFill>
        <p:spPr bwMode="auto">
          <a:xfrm>
            <a:off x="219075" y="500042"/>
            <a:ext cx="8705850" cy="50482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94830" y="785794"/>
            <a:ext cx="8643966" cy="258816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25058" y="3643314"/>
            <a:ext cx="7983510" cy="2143140"/>
          </a:xfrm>
          <a:prstGeom prst="rect">
            <a:avLst/>
          </a:prstGeom>
          <a:noFill/>
          <a:ln w="9525">
            <a:noFill/>
            <a:miter lim="800000"/>
            <a:headEnd/>
            <a:tailEnd/>
          </a:ln>
          <a:effectLst/>
        </p:spPr>
      </p:pic>
      <p:cxnSp>
        <p:nvCxnSpPr>
          <p:cNvPr id="7" name="直線接點 6"/>
          <p:cNvCxnSpPr/>
          <p:nvPr/>
        </p:nvCxnSpPr>
        <p:spPr>
          <a:xfrm>
            <a:off x="6858016" y="3357562"/>
            <a:ext cx="285752"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內容版面配置區 2"/>
          <p:cNvSpPr>
            <a:spLocks noGrp="1"/>
          </p:cNvSpPr>
          <p:nvPr>
            <p:ph idx="1"/>
          </p:nvPr>
        </p:nvSpPr>
        <p:spPr>
          <a:xfrm>
            <a:off x="457200" y="5857892"/>
            <a:ext cx="8229600" cy="857256"/>
          </a:xfrm>
        </p:spPr>
        <p:txBody>
          <a:bodyPr>
            <a:normAutofit/>
          </a:bodyPr>
          <a:lstStyle/>
          <a:p>
            <a:r>
              <a:rPr lang="en-US" altLang="zh-TW" dirty="0" smtClean="0"/>
              <a:t>|T| = 10</a:t>
            </a:r>
            <a:r>
              <a:rPr lang="en-US" altLang="zh-TW" baseline="30000" dirty="0" smtClean="0"/>
              <a:t>6</a:t>
            </a:r>
            <a:r>
              <a:rPr lang="en-US" altLang="zh-TW" dirty="0" smtClean="0"/>
              <a:t> , r = 10</a:t>
            </a:r>
            <a:r>
              <a:rPr lang="en-US" altLang="zh-TW" baseline="30000" dirty="0" smtClean="0"/>
              <a:t>3</a:t>
            </a:r>
            <a:r>
              <a:rPr lang="en-US" altLang="zh-TW" dirty="0" smtClean="0"/>
              <a:t> ,|</a:t>
            </a:r>
            <a:r>
              <a:rPr lang="el-GR" altLang="zh-TW" dirty="0" smtClean="0"/>
              <a:t> Σ </a:t>
            </a:r>
            <a:r>
              <a:rPr lang="en-US" altLang="zh-TW" dirty="0" smtClean="0"/>
              <a:t>| = 4</a:t>
            </a:r>
            <a:endParaRPr lang="zh-TW" altLang="en-US" baseline="30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678629" y="142852"/>
            <a:ext cx="7786742" cy="5243703"/>
          </a:xfrm>
          <a:prstGeom prst="rect">
            <a:avLst/>
          </a:prstGeom>
          <a:noFill/>
          <a:ln w="9525">
            <a:noFill/>
            <a:miter lim="800000"/>
            <a:headEnd/>
            <a:tailEnd/>
          </a:ln>
          <a:effectLst/>
        </p:spPr>
      </p:pic>
      <p:cxnSp>
        <p:nvCxnSpPr>
          <p:cNvPr id="6" name="直線接點 5"/>
          <p:cNvCxnSpPr/>
          <p:nvPr/>
        </p:nvCxnSpPr>
        <p:spPr>
          <a:xfrm>
            <a:off x="5857884" y="5357826"/>
            <a:ext cx="42862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內容版面配置區 2"/>
          <p:cNvSpPr txBox="1">
            <a:spLocks/>
          </p:cNvSpPr>
          <p:nvPr/>
        </p:nvSpPr>
        <p:spPr>
          <a:xfrm>
            <a:off x="457200" y="5857892"/>
            <a:ext cx="8229600" cy="8572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|T|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6</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r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3</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a:t>
            </a:r>
            <a:r>
              <a:rPr kumimoji="0" lang="el-GR" altLang="zh-TW" sz="3200" b="0" i="0" u="none" strike="noStrike" kern="1200" cap="none" spc="0" normalizeH="0" baseline="0" noProof="0" smtClean="0">
                <a:ln>
                  <a:noFill/>
                </a:ln>
                <a:solidFill>
                  <a:schemeClr val="tx1"/>
                </a:solidFill>
                <a:effectLst/>
                <a:uLnTx/>
                <a:uFillTx/>
                <a:latin typeface="+mn-lt"/>
                <a:ea typeface="+mn-ea"/>
                <a:cs typeface="+mn-cs"/>
              </a:rPr>
              <a:t> Σ </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4</a:t>
            </a:r>
            <a:endParaRPr kumimoji="0" lang="zh-TW" altLang="en-US" sz="3200" b="0" i="0" u="none" strike="noStrike" kern="1200" cap="none" spc="0" normalizeH="0" baseline="30000" noProof="0" dirty="0">
              <a:ln>
                <a:noFill/>
              </a:ln>
              <a:solidFill>
                <a:schemeClr val="tx1"/>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90488" y="438162"/>
            <a:ext cx="8963025" cy="4705350"/>
          </a:xfrm>
          <a:prstGeom prst="rect">
            <a:avLst/>
          </a:prstGeom>
          <a:noFill/>
          <a:ln w="9525">
            <a:noFill/>
            <a:miter lim="800000"/>
            <a:headEnd/>
            <a:tailEnd/>
          </a:ln>
          <a:effectLst/>
        </p:spPr>
      </p:pic>
      <p:cxnSp>
        <p:nvCxnSpPr>
          <p:cNvPr id="7" name="直線接點 6"/>
          <p:cNvCxnSpPr/>
          <p:nvPr/>
        </p:nvCxnSpPr>
        <p:spPr>
          <a:xfrm>
            <a:off x="6715140" y="5143512"/>
            <a:ext cx="35719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內容版面配置區 2"/>
          <p:cNvSpPr txBox="1">
            <a:spLocks/>
          </p:cNvSpPr>
          <p:nvPr/>
        </p:nvSpPr>
        <p:spPr>
          <a:xfrm>
            <a:off x="457200" y="5857892"/>
            <a:ext cx="8229600" cy="8572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dirty="0" smtClean="0">
                <a:ln>
                  <a:noFill/>
                </a:ln>
                <a:solidFill>
                  <a:schemeClr val="tx1"/>
                </a:solidFill>
                <a:effectLst/>
                <a:uLnTx/>
                <a:uFillTx/>
                <a:latin typeface="+mn-lt"/>
                <a:ea typeface="+mn-ea"/>
                <a:cs typeface="+mn-cs"/>
              </a:rPr>
              <a:t>|T| = 10</a:t>
            </a:r>
            <a:r>
              <a:rPr kumimoji="0" lang="en-US" altLang="zh-TW" sz="3200" b="0" i="0" u="none" strike="noStrike" kern="1200" cap="none" spc="0" normalizeH="0" baseline="30000" noProof="0" dirty="0" smtClean="0">
                <a:ln>
                  <a:noFill/>
                </a:ln>
                <a:solidFill>
                  <a:schemeClr val="tx1"/>
                </a:solidFill>
                <a:effectLst/>
                <a:uLnTx/>
                <a:uFillTx/>
                <a:latin typeface="+mn-lt"/>
                <a:ea typeface="+mn-ea"/>
                <a:cs typeface="+mn-cs"/>
              </a:rPr>
              <a:t>6</a:t>
            </a:r>
            <a:r>
              <a:rPr kumimoji="0" lang="en-US" altLang="zh-TW" sz="3200" b="0" i="0" u="none" strike="noStrike" kern="1200" cap="none" spc="0" normalizeH="0" baseline="0" noProof="0" dirty="0" smtClean="0">
                <a:ln>
                  <a:noFill/>
                </a:ln>
                <a:solidFill>
                  <a:schemeClr val="tx1"/>
                </a:solidFill>
                <a:effectLst/>
                <a:uLnTx/>
                <a:uFillTx/>
                <a:latin typeface="+mn-lt"/>
                <a:ea typeface="+mn-ea"/>
                <a:cs typeface="+mn-cs"/>
              </a:rPr>
              <a:t> , r = 10</a:t>
            </a:r>
            <a:r>
              <a:rPr kumimoji="0" lang="en-US" altLang="zh-TW" sz="3200" b="0" i="0" u="none" strike="noStrike" kern="1200" cap="none" spc="0" normalizeH="0" baseline="30000" noProof="0" dirty="0" smtClean="0">
                <a:ln>
                  <a:noFill/>
                </a:ln>
                <a:solidFill>
                  <a:schemeClr val="tx1"/>
                </a:solidFill>
                <a:effectLst/>
                <a:uLnTx/>
                <a:uFillTx/>
                <a:latin typeface="+mn-lt"/>
                <a:ea typeface="+mn-ea"/>
                <a:cs typeface="+mn-cs"/>
              </a:rPr>
              <a:t>3</a:t>
            </a:r>
            <a:r>
              <a:rPr kumimoji="0" lang="en-US" altLang="zh-TW" sz="3200" b="0" i="0" u="none" strike="noStrike" kern="1200" cap="none" spc="0" normalizeH="0" baseline="0" noProof="0" dirty="0" smtClean="0">
                <a:ln>
                  <a:noFill/>
                </a:ln>
                <a:solidFill>
                  <a:schemeClr val="tx1"/>
                </a:solidFill>
                <a:effectLst/>
                <a:uLnTx/>
                <a:uFillTx/>
                <a:latin typeface="+mn-lt"/>
                <a:ea typeface="+mn-ea"/>
                <a:cs typeface="+mn-cs"/>
              </a:rPr>
              <a:t> ,|</a:t>
            </a:r>
            <a:r>
              <a:rPr kumimoji="0" lang="el-GR" altLang="zh-TW" sz="3200" b="0" i="0" u="none" strike="noStrike" kern="1200" cap="none" spc="0" normalizeH="0" baseline="0" noProof="0" dirty="0" smtClean="0">
                <a:ln>
                  <a:noFill/>
                </a:ln>
                <a:solidFill>
                  <a:schemeClr val="tx1"/>
                </a:solidFill>
                <a:effectLst/>
                <a:uLnTx/>
                <a:uFillTx/>
                <a:latin typeface="+mn-lt"/>
                <a:ea typeface="+mn-ea"/>
                <a:cs typeface="+mn-cs"/>
              </a:rPr>
              <a:t> Σ </a:t>
            </a:r>
            <a:r>
              <a:rPr kumimoji="0" lang="en-US" altLang="zh-TW" sz="3200" b="0" i="0" u="none" strike="noStrike" kern="1200" cap="none" spc="0" normalizeH="0" baseline="0" noProof="0" dirty="0" smtClean="0">
                <a:ln>
                  <a:noFill/>
                </a:ln>
                <a:solidFill>
                  <a:schemeClr val="tx1"/>
                </a:solidFill>
                <a:effectLst/>
                <a:uLnTx/>
                <a:uFillTx/>
                <a:latin typeface="+mn-lt"/>
                <a:ea typeface="+mn-ea"/>
                <a:cs typeface="+mn-cs"/>
              </a:rPr>
              <a:t>| = 4</a:t>
            </a:r>
            <a:endParaRPr kumimoji="0" lang="zh-TW" altLang="en-US" sz="3200" b="0" i="0" u="none" strike="noStrike" kern="1200" cap="none" spc="0" normalizeH="0" baseline="3000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srcRect/>
          <a:stretch>
            <a:fillRect/>
          </a:stretch>
        </p:blipFill>
        <p:spPr bwMode="auto">
          <a:xfrm>
            <a:off x="625058" y="3857628"/>
            <a:ext cx="7983510" cy="2143140"/>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a:srcRect/>
          <a:stretch>
            <a:fillRect/>
          </a:stretch>
        </p:blipFill>
        <p:spPr bwMode="auto">
          <a:xfrm>
            <a:off x="1152070" y="233734"/>
            <a:ext cx="6929486" cy="3500046"/>
          </a:xfrm>
          <a:prstGeom prst="rect">
            <a:avLst/>
          </a:prstGeom>
          <a:noFill/>
          <a:ln w="9525">
            <a:noFill/>
            <a:miter lim="800000"/>
            <a:headEnd/>
            <a:tailEnd/>
          </a:ln>
          <a:effectLst/>
        </p:spPr>
      </p:pic>
      <p:cxnSp>
        <p:nvCxnSpPr>
          <p:cNvPr id="5" name="直線接點 4"/>
          <p:cNvCxnSpPr/>
          <p:nvPr/>
        </p:nvCxnSpPr>
        <p:spPr>
          <a:xfrm>
            <a:off x="4714876" y="3623870"/>
            <a:ext cx="42862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內容版面配置區 2"/>
          <p:cNvSpPr>
            <a:spLocks noGrp="1"/>
          </p:cNvSpPr>
          <p:nvPr>
            <p:ph idx="1"/>
          </p:nvPr>
        </p:nvSpPr>
        <p:spPr>
          <a:xfrm>
            <a:off x="457200" y="5857892"/>
            <a:ext cx="8229600" cy="857256"/>
          </a:xfrm>
        </p:spPr>
        <p:txBody>
          <a:bodyPr>
            <a:normAutofit/>
          </a:bodyPr>
          <a:lstStyle/>
          <a:p>
            <a:r>
              <a:rPr lang="en-US" altLang="zh-TW" dirty="0" smtClean="0"/>
              <a:t>|T| = 10</a:t>
            </a:r>
            <a:r>
              <a:rPr lang="en-US" altLang="zh-TW" baseline="30000" dirty="0" smtClean="0"/>
              <a:t>6</a:t>
            </a:r>
            <a:r>
              <a:rPr lang="en-US" altLang="zh-TW" dirty="0" smtClean="0"/>
              <a:t> , r = 10</a:t>
            </a:r>
            <a:r>
              <a:rPr lang="en-US" altLang="zh-TW" baseline="30000" dirty="0" smtClean="0"/>
              <a:t>3</a:t>
            </a:r>
            <a:r>
              <a:rPr lang="en-US" altLang="zh-TW" dirty="0" smtClean="0"/>
              <a:t> ,|</a:t>
            </a:r>
            <a:r>
              <a:rPr lang="el-GR" altLang="zh-TW" dirty="0" smtClean="0"/>
              <a:t> Σ </a:t>
            </a:r>
            <a:r>
              <a:rPr lang="en-US" altLang="zh-TW" dirty="0" smtClean="0"/>
              <a:t>| = 63</a:t>
            </a:r>
            <a:endParaRPr lang="zh-TW" altLang="en-US" baseline="30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857224" y="285728"/>
            <a:ext cx="7541865" cy="5024457"/>
          </a:xfrm>
          <a:prstGeom prst="rect">
            <a:avLst/>
          </a:prstGeom>
          <a:noFill/>
          <a:ln w="9525">
            <a:noFill/>
            <a:miter lim="800000"/>
            <a:headEnd/>
            <a:tailEnd/>
          </a:ln>
          <a:effectLst/>
        </p:spPr>
      </p:pic>
      <p:cxnSp>
        <p:nvCxnSpPr>
          <p:cNvPr id="6" name="直線接點 5"/>
          <p:cNvCxnSpPr/>
          <p:nvPr/>
        </p:nvCxnSpPr>
        <p:spPr>
          <a:xfrm>
            <a:off x="5572132" y="5286388"/>
            <a:ext cx="42862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內容版面配置區 2"/>
          <p:cNvSpPr txBox="1">
            <a:spLocks/>
          </p:cNvSpPr>
          <p:nvPr/>
        </p:nvSpPr>
        <p:spPr>
          <a:xfrm>
            <a:off x="457200" y="5857892"/>
            <a:ext cx="8229600" cy="8572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|T|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6</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r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3</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a:t>
            </a:r>
            <a:r>
              <a:rPr kumimoji="0" lang="el-GR" altLang="zh-TW" sz="3200" b="0" i="0" u="none" strike="noStrike" kern="1200" cap="none" spc="0" normalizeH="0" baseline="0" noProof="0" smtClean="0">
                <a:ln>
                  <a:noFill/>
                </a:ln>
                <a:solidFill>
                  <a:schemeClr val="tx1"/>
                </a:solidFill>
                <a:effectLst/>
                <a:uLnTx/>
                <a:uFillTx/>
                <a:latin typeface="+mn-lt"/>
                <a:ea typeface="+mn-ea"/>
                <a:cs typeface="+mn-cs"/>
              </a:rPr>
              <a:t> Σ </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63</a:t>
            </a:r>
            <a:endParaRPr kumimoji="0" lang="zh-TW" altLang="en-US" sz="3200" b="0" i="0" u="none" strike="noStrike" kern="1200" cap="none" spc="0" normalizeH="0" baseline="30000" noProof="0" dirty="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964381" y="260042"/>
            <a:ext cx="7215238" cy="5026346"/>
          </a:xfrm>
          <a:prstGeom prst="rect">
            <a:avLst/>
          </a:prstGeom>
          <a:noFill/>
          <a:ln w="9525">
            <a:noFill/>
            <a:miter lim="800000"/>
            <a:headEnd/>
            <a:tailEnd/>
          </a:ln>
          <a:effectLst/>
        </p:spPr>
      </p:pic>
      <p:cxnSp>
        <p:nvCxnSpPr>
          <p:cNvPr id="6" name="直線接點 5"/>
          <p:cNvCxnSpPr/>
          <p:nvPr/>
        </p:nvCxnSpPr>
        <p:spPr>
          <a:xfrm>
            <a:off x="5572132" y="5286388"/>
            <a:ext cx="428628"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內容版面配置區 2"/>
          <p:cNvSpPr txBox="1">
            <a:spLocks/>
          </p:cNvSpPr>
          <p:nvPr/>
        </p:nvSpPr>
        <p:spPr>
          <a:xfrm>
            <a:off x="457200" y="5857892"/>
            <a:ext cx="8229600" cy="8572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|T|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6</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r = 10</a:t>
            </a:r>
            <a:r>
              <a:rPr kumimoji="0" lang="en-US" altLang="zh-TW" sz="3200" b="0" i="0" u="none" strike="noStrike" kern="1200" cap="none" spc="0" normalizeH="0" baseline="30000" noProof="0" smtClean="0">
                <a:ln>
                  <a:noFill/>
                </a:ln>
                <a:solidFill>
                  <a:schemeClr val="tx1"/>
                </a:solidFill>
                <a:effectLst/>
                <a:uLnTx/>
                <a:uFillTx/>
                <a:latin typeface="+mn-lt"/>
                <a:ea typeface="+mn-ea"/>
                <a:cs typeface="+mn-cs"/>
              </a:rPr>
              <a:t>3</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a:t>
            </a:r>
            <a:r>
              <a:rPr kumimoji="0" lang="el-GR" altLang="zh-TW" sz="3200" b="0" i="0" u="none" strike="noStrike" kern="1200" cap="none" spc="0" normalizeH="0" baseline="0" noProof="0" smtClean="0">
                <a:ln>
                  <a:noFill/>
                </a:ln>
                <a:solidFill>
                  <a:schemeClr val="tx1"/>
                </a:solidFill>
                <a:effectLst/>
                <a:uLnTx/>
                <a:uFillTx/>
                <a:latin typeface="+mn-lt"/>
                <a:ea typeface="+mn-ea"/>
                <a:cs typeface="+mn-cs"/>
              </a:rPr>
              <a:t> Σ </a:t>
            </a: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 = 63</a:t>
            </a:r>
            <a:endParaRPr kumimoji="0" lang="zh-TW" altLang="en-US" sz="3200" b="0" i="0" u="none" strike="noStrike" kern="1200" cap="none" spc="0" normalizeH="0" baseline="30000" noProof="0" dirty="0">
              <a:ln>
                <a:noFill/>
              </a:ln>
              <a:solidFill>
                <a:schemeClr val="tx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8383</TotalTime>
  <Words>758</Words>
  <Application>Microsoft Office PowerPoint</Application>
  <PresentationFormat>如螢幕大小 (4:3)</PresentationFormat>
  <Paragraphs>80</Paragraphs>
  <Slides>20</Slides>
  <Notes>0</Notes>
  <HiddenSlides>0</HiddenSlides>
  <MMClips>0</MMClips>
  <ScaleCrop>false</ScaleCrop>
  <HeadingPairs>
    <vt:vector size="6" baseType="variant">
      <vt:variant>
        <vt:lpstr>使用字型</vt:lpstr>
      </vt:variant>
      <vt:variant>
        <vt:i4>7</vt:i4>
      </vt:variant>
      <vt:variant>
        <vt:lpstr>佈景主題</vt:lpstr>
      </vt:variant>
      <vt:variant>
        <vt:i4>7</vt:i4>
      </vt:variant>
      <vt:variant>
        <vt:lpstr>投影片標題</vt:lpstr>
      </vt:variant>
      <vt:variant>
        <vt:i4>20</vt:i4>
      </vt:variant>
    </vt:vector>
  </HeadingPairs>
  <TitlesOfParts>
    <vt:vector size="34" baseType="lpstr">
      <vt:lpstr>新細明體</vt:lpstr>
      <vt:lpstr>Arial</vt:lpstr>
      <vt:lpstr>Calibri</vt:lpstr>
      <vt:lpstr>DejaVu Sans</vt:lpstr>
      <vt:lpstr>Symbol</vt:lpstr>
      <vt:lpstr>Times New Roman</vt:lpstr>
      <vt:lpstr>Wingdings</vt:lpstr>
      <vt:lpstr>Office Theme</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PowerPoint 簡報</vt:lpstr>
      <vt:lpstr>EMPM problem</vt:lpstr>
      <vt:lpstr>Reference tree</vt:lpstr>
      <vt:lpstr>PowerPoint 簡報</vt:lpstr>
      <vt:lpstr>PowerPoint 簡報</vt:lpstr>
      <vt:lpstr>PowerPoint 簡報</vt:lpstr>
      <vt:lpstr>Hamming distance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cp:lastModifiedBy>
  <cp:revision>1845</cp:revision>
  <dcterms:created xsi:type="dcterms:W3CDTF">2020-09-11T11:13:53Z</dcterms:created>
  <dcterms:modified xsi:type="dcterms:W3CDTF">2021-07-13T07:07:28Z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