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99" r:id="rId3"/>
    <p:sldMasterId id="2147483738" r:id="rId4"/>
    <p:sldMasterId id="2147483712" r:id="rId5"/>
    <p:sldMasterId id="2147483674" r:id="rId6"/>
    <p:sldMasterId id="2147483725" r:id="rId7"/>
  </p:sldMasterIdLst>
  <p:notesMasterIdLst>
    <p:notesMasterId r:id="rId20"/>
  </p:notesMasterIdLst>
  <p:sldIdLst>
    <p:sldId id="256" r:id="rId8"/>
    <p:sldId id="257" r:id="rId9"/>
    <p:sldId id="279" r:id="rId10"/>
    <p:sldId id="315" r:id="rId11"/>
    <p:sldId id="316" r:id="rId12"/>
    <p:sldId id="317" r:id="rId13"/>
    <p:sldId id="318" r:id="rId14"/>
    <p:sldId id="319" r:id="rId15"/>
    <p:sldId id="320" r:id="rId16"/>
    <p:sldId id="321" r:id="rId17"/>
    <p:sldId id="322" r:id="rId18"/>
    <p:sldId id="323"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632" autoAdjust="0"/>
  </p:normalViewPr>
  <p:slideViewPr>
    <p:cSldViewPr>
      <p:cViewPr varScale="1">
        <p:scale>
          <a:sx n="109" d="100"/>
          <a:sy n="109" d="100"/>
        </p:scale>
        <p:origin x="129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8/3/2021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8/3/2021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8/3/2021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2021/8/3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8/3/2021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2021/8/3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smtClean="0">
                <a:latin typeface="Times New Roman" pitchFamily="18" charset="0"/>
                <a:cs typeface="Times New Roman" pitchFamily="18" charset="0"/>
              </a:rPr>
              <a:t>Efficient Storage and Retrieval by Content and Address of Static Files</a:t>
            </a:r>
            <a:endParaRPr lang="en-US" sz="3200" b="0" strike="noStrike" spc="-1" dirty="0">
              <a:solidFill>
                <a:srgbClr val="000000"/>
              </a:solidFill>
              <a:latin typeface="Times New Roman" pitchFamily="18" charset="0"/>
              <a:cs typeface="Times New Roman" pitchFamily="18" charset="0"/>
            </a:endParaRP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Peter Elias</a:t>
            </a:r>
          </a:p>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 </a:t>
            </a:r>
            <a:endParaRPr lang="en-US" sz="2000" spc="-1" dirty="0" smtClean="0">
              <a:solidFill>
                <a:srgbClr val="000000"/>
              </a:solidFill>
              <a:latin typeface="Times New Roman"/>
            </a:endParaRPr>
          </a:p>
          <a:p>
            <a:pPr algn="ctr">
              <a:spcBef>
                <a:spcPts val="479"/>
              </a:spcBef>
              <a:tabLst>
                <a:tab pos="0" algn="l"/>
              </a:tabLst>
            </a:pPr>
            <a:r>
              <a:rPr lang="en-US" sz="2400" spc="-1" dirty="0" smtClean="0">
                <a:solidFill>
                  <a:srgbClr val="000000"/>
                </a:solidFill>
                <a:latin typeface="Times New Roman"/>
              </a:rPr>
              <a:t>Journal of the ACM, Volume 21, Issue 2,</a:t>
            </a:r>
          </a:p>
          <a:p>
            <a:pPr algn="ctr">
              <a:spcBef>
                <a:spcPts val="479"/>
              </a:spcBef>
              <a:tabLst>
                <a:tab pos="0" algn="l"/>
              </a:tabLst>
            </a:pPr>
            <a:r>
              <a:rPr lang="en-US" sz="2400" spc="-1" dirty="0" smtClean="0">
                <a:solidFill>
                  <a:srgbClr val="000000"/>
                </a:solidFill>
                <a:latin typeface="Times New Roman"/>
              </a:rPr>
              <a:t>April 1974, Pages 246–260</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sz="2000" spc="-1" dirty="0" smtClean="0">
                <a:solidFill>
                  <a:srgbClr val="000000"/>
                </a:solidFill>
                <a:latin typeface="Times New Roman"/>
              </a:rPr>
              <a:t>Aug.</a:t>
            </a:r>
            <a:r>
              <a:rPr lang="en-US" sz="2000" b="0" strike="noStrike" spc="-1" dirty="0" smtClean="0">
                <a:solidFill>
                  <a:srgbClr val="000000"/>
                </a:solidFill>
                <a:latin typeface="Times New Roman"/>
              </a:rPr>
              <a:t> 3, 2021</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Abstract(1/3)</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We consider a set of static files or inventories, each consisting of the same number of entries, each entry a binary word of the same fixed length selected (with replacement) from the set of all binary sequences of that length, and the entries in each file sorted into lexical order. We also consider several retrieval questions of interest for each such file. One is to find the value of the </a:t>
            </a:r>
            <a:r>
              <a:rPr lang="en-US" sz="2800" spc="-1" dirty="0" err="1" smtClean="0">
                <a:solidFill>
                  <a:srgbClr val="000000"/>
                </a:solidFill>
                <a:latin typeface="Times New Roman"/>
              </a:rPr>
              <a:t>jth</a:t>
            </a:r>
            <a:r>
              <a:rPr lang="en-US" sz="2800" spc="-1" dirty="0" smtClean="0">
                <a:solidFill>
                  <a:srgbClr val="000000"/>
                </a:solidFill>
                <a:latin typeface="Times New Roman"/>
              </a:rPr>
              <a:t> entry, another to find the number of entries of value less than k.</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Abstract(2/3)</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When a binary representation of such a file is stored in computer memory and an algorithm or machine which knows only the file parameters (i.e. number of entries, number of possible values per entry) accesses some of the stored bits to answer a retrieval question, the number of bits stored and the number of bits accessed per retrieval question are two cost measures for the storage and retrieval task which have been used by </a:t>
            </a:r>
            <a:r>
              <a:rPr lang="en-US" sz="2800" spc="-1" dirty="0" err="1" smtClean="0">
                <a:solidFill>
                  <a:srgbClr val="000000"/>
                </a:solidFill>
                <a:latin typeface="Times New Roman"/>
              </a:rPr>
              <a:t>Minsky</a:t>
            </a:r>
            <a:r>
              <a:rPr lang="en-US" sz="2800" spc="-1" dirty="0" smtClean="0">
                <a:solidFill>
                  <a:srgbClr val="000000"/>
                </a:solidFill>
                <a:latin typeface="Times New Roman"/>
              </a:rPr>
              <a:t> and </a:t>
            </a:r>
            <a:r>
              <a:rPr lang="en-US" sz="2800" spc="-1" dirty="0" err="1" smtClean="0">
                <a:solidFill>
                  <a:srgbClr val="000000"/>
                </a:solidFill>
                <a:latin typeface="Times New Roman"/>
              </a:rPr>
              <a:t>Papert</a:t>
            </a:r>
            <a:r>
              <a:rPr lang="en-US" sz="2800" spc="-1" dirty="0" smtClean="0">
                <a:solidFill>
                  <a:srgbClr val="000000"/>
                </a:solidFill>
                <a:latin typeface="Times New Roman"/>
              </a:rPr>
              <a:t>. Bits stored depends on the representation chosen: bits accessed also depends on the retrieval question asked and on the algorithm used.</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Abstract(3/3)</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We give firm lower bounds to </a:t>
            </a:r>
            <a:r>
              <a:rPr lang="en-US" sz="2800" spc="-1" dirty="0" err="1" smtClean="0">
                <a:solidFill>
                  <a:srgbClr val="000000"/>
                </a:solidFill>
                <a:latin typeface="Times New Roman"/>
              </a:rPr>
              <a:t>minimax</a:t>
            </a:r>
            <a:r>
              <a:rPr lang="en-US" sz="2800" spc="-1" dirty="0" smtClean="0">
                <a:solidFill>
                  <a:srgbClr val="000000"/>
                </a:solidFill>
                <a:latin typeface="Times New Roman"/>
              </a:rPr>
              <a:t> measures of bits stored and bits accessed for each of four retrieval questions, and construct representations and algorithms for a bit-addressable machine which come within factors of two or three of attaining all four bounds at once for files of any size. All four factors approach one for large enough files.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dirty="0"/>
          </a:p>
        </p:txBody>
      </p:sp>
      <p:sp>
        <p:nvSpPr>
          <p:cNvPr id="5" name="內容版面配置區 4"/>
          <p:cNvSpPr>
            <a:spLocks noGrp="1"/>
          </p:cNvSpPr>
          <p:nvPr>
            <p:ph idx="1"/>
          </p:nvPr>
        </p:nvSpPr>
        <p:spPr/>
        <p:txBody>
          <a:bodyPr/>
          <a:lstStyle/>
          <a:p>
            <a:r>
              <a:rPr lang="en-US" altLang="zh-TW" dirty="0" smtClean="0"/>
              <a:t>A collection of </a:t>
            </a:r>
            <a:r>
              <a:rPr lang="en-US" altLang="zh-TW" dirty="0" smtClean="0"/>
              <a:t>N </a:t>
            </a:r>
            <a:r>
              <a:rPr lang="en-US" altLang="zh-TW" dirty="0" smtClean="0"/>
              <a:t>words, each of length w binary digits.</a:t>
            </a:r>
          </a:p>
          <a:p>
            <a:r>
              <a:rPr lang="en-US" altLang="zh-TW" dirty="0" smtClean="0"/>
              <a:t>W = 2</a:t>
            </a:r>
            <a:r>
              <a:rPr lang="en-US" altLang="zh-TW" baseline="30000" dirty="0" smtClean="0"/>
              <a:t>w</a:t>
            </a:r>
            <a:r>
              <a:rPr lang="en-US" altLang="zh-TW" dirty="0" smtClean="0"/>
              <a:t> – 1</a:t>
            </a:r>
          </a:p>
          <a:p>
            <a:r>
              <a:rPr lang="en-US" altLang="zh-TW" dirty="0" smtClean="0"/>
              <a:t>N = 2</a:t>
            </a:r>
            <a:r>
              <a:rPr lang="en-US" altLang="zh-TW" baseline="30000" dirty="0" smtClean="0"/>
              <a:t>n</a:t>
            </a:r>
            <a:r>
              <a:rPr lang="en-US" altLang="zh-TW" dirty="0" smtClean="0"/>
              <a:t> – 1</a:t>
            </a:r>
          </a:p>
          <a:p>
            <a:r>
              <a:rPr lang="en-US" altLang="zh-TW" dirty="0" smtClean="0"/>
              <a:t>X</a:t>
            </a:r>
            <a:r>
              <a:rPr lang="pl-PL" altLang="zh-TW" dirty="0" smtClean="0"/>
              <a:t> = ( </a:t>
            </a:r>
            <a:r>
              <a:rPr lang="en-US" altLang="zh-TW" dirty="0" smtClean="0"/>
              <a:t>x</a:t>
            </a:r>
            <a:r>
              <a:rPr lang="pl-PL" altLang="zh-TW" baseline="-25000" dirty="0" smtClean="0"/>
              <a:t>l</a:t>
            </a:r>
            <a:r>
              <a:rPr lang="pl-PL" altLang="zh-TW" dirty="0" smtClean="0"/>
              <a:t>, </a:t>
            </a:r>
            <a:r>
              <a:rPr lang="en-US" altLang="zh-TW" dirty="0" smtClean="0"/>
              <a:t>x</a:t>
            </a:r>
            <a:r>
              <a:rPr lang="pl-PL" altLang="zh-TW" baseline="-25000" dirty="0" smtClean="0"/>
              <a:t>2</a:t>
            </a:r>
            <a:r>
              <a:rPr lang="pl-PL" altLang="zh-TW" dirty="0" smtClean="0"/>
              <a:t>, . . . ,</a:t>
            </a:r>
            <a:r>
              <a:rPr lang="pl-PL" altLang="zh-TW" dirty="0" smtClean="0"/>
              <a:t>x</a:t>
            </a:r>
            <a:r>
              <a:rPr lang="en-US" altLang="zh-TW" baseline="-25000" dirty="0" smtClean="0"/>
              <a:t>N</a:t>
            </a:r>
            <a:r>
              <a:rPr lang="pl-PL" altLang="zh-TW" dirty="0" smtClean="0"/>
              <a:t> </a:t>
            </a:r>
            <a:r>
              <a:rPr lang="pl-PL" altLang="zh-TW" dirty="0" smtClean="0"/>
              <a:t>) </a:t>
            </a:r>
            <a:r>
              <a:rPr lang="zh-TW" altLang="en-US" dirty="0" smtClean="0"/>
              <a:t>∈</a:t>
            </a:r>
            <a:r>
              <a:rPr lang="pl-PL" altLang="zh-TW" dirty="0" smtClean="0"/>
              <a:t> T(N,W)</a:t>
            </a:r>
            <a:r>
              <a:rPr lang="en-US" altLang="zh-TW" dirty="0" smtClean="0"/>
              <a:t> ,</a:t>
            </a:r>
          </a:p>
          <a:p>
            <a:pPr>
              <a:buNone/>
            </a:pPr>
            <a:r>
              <a:rPr lang="en-US" altLang="zh-TW" dirty="0" smtClean="0"/>
              <a:t>	</a:t>
            </a:r>
            <a:r>
              <a:rPr lang="pl-PL" altLang="zh-TW" dirty="0" smtClean="0"/>
              <a:t>iff x</a:t>
            </a:r>
            <a:r>
              <a:rPr lang="pl-PL" altLang="zh-TW" baseline="-25000" dirty="0" smtClean="0"/>
              <a:t>j</a:t>
            </a:r>
            <a:r>
              <a:rPr lang="en-US" altLang="zh-TW" dirty="0" smtClean="0"/>
              <a:t> </a:t>
            </a:r>
            <a:r>
              <a:rPr lang="zh-TW" altLang="en-US" dirty="0" smtClean="0"/>
              <a:t>∈</a:t>
            </a:r>
            <a:r>
              <a:rPr lang="pl-PL" altLang="zh-TW" dirty="0" smtClean="0"/>
              <a:t> [0, W], j</a:t>
            </a:r>
            <a:r>
              <a:rPr lang="en-US" altLang="zh-TW" dirty="0" smtClean="0"/>
              <a:t> </a:t>
            </a:r>
            <a:r>
              <a:rPr lang="zh-TW" altLang="en-US" dirty="0" smtClean="0"/>
              <a:t>∈</a:t>
            </a:r>
            <a:r>
              <a:rPr lang="pl-PL" altLang="zh-TW" dirty="0" smtClean="0"/>
              <a:t> [1, N].</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If  n words is not ordered =&gt; sort</a:t>
            </a:r>
          </a:p>
          <a:p>
            <a:endParaRPr lang="en-US" altLang="zh-TW" dirty="0" smtClean="0"/>
          </a:p>
          <a:p>
            <a:r>
              <a:rPr lang="en-US" altLang="zh-TW" dirty="0" smtClean="0"/>
              <a:t>x </a:t>
            </a:r>
            <a:r>
              <a:rPr lang="zh-TW" altLang="en-US" dirty="0" smtClean="0"/>
              <a:t>∈</a:t>
            </a:r>
            <a:r>
              <a:rPr lang="en-US" altLang="zh-TW" dirty="0" smtClean="0"/>
              <a:t> I(N,W) </a:t>
            </a:r>
            <a:r>
              <a:rPr lang="en-US" altLang="zh-TW" dirty="0" err="1" smtClean="0"/>
              <a:t>iff</a:t>
            </a:r>
            <a:r>
              <a:rPr lang="en-US" altLang="zh-TW" dirty="0" smtClean="0"/>
              <a:t> x </a:t>
            </a:r>
            <a:r>
              <a:rPr lang="zh-TW" altLang="en-US" dirty="0" smtClean="0"/>
              <a:t>∈</a:t>
            </a:r>
            <a:r>
              <a:rPr lang="en-US" altLang="zh-TW" dirty="0" smtClean="0"/>
              <a:t> T(N,W) and </a:t>
            </a:r>
          </a:p>
          <a:p>
            <a:pPr>
              <a:buNone/>
            </a:pPr>
            <a:r>
              <a:rPr lang="en-US" altLang="zh-TW" dirty="0" smtClean="0"/>
              <a:t>	1 </a:t>
            </a:r>
            <a:r>
              <a:rPr lang="zh-TW" altLang="en-US" dirty="0" smtClean="0"/>
              <a:t>≤</a:t>
            </a:r>
            <a:r>
              <a:rPr lang="en-US" altLang="zh-TW" dirty="0" smtClean="0"/>
              <a:t> </a:t>
            </a:r>
            <a:r>
              <a:rPr lang="en-US" altLang="zh-TW" dirty="0" err="1" smtClean="0"/>
              <a:t>i</a:t>
            </a:r>
            <a:r>
              <a:rPr lang="en-US" altLang="zh-TW" dirty="0" smtClean="0"/>
              <a:t> &lt; j </a:t>
            </a:r>
            <a:r>
              <a:rPr lang="zh-TW" altLang="en-US" dirty="0" smtClean="0"/>
              <a:t>≤ </a:t>
            </a:r>
            <a:r>
              <a:rPr lang="en-US" altLang="zh-TW" dirty="0" smtClean="0"/>
              <a:t>N =&gt; x</a:t>
            </a:r>
            <a:r>
              <a:rPr lang="en-US" altLang="zh-TW" baseline="-25000" dirty="0" smtClean="0"/>
              <a:t>i</a:t>
            </a:r>
            <a:r>
              <a:rPr lang="en-US" altLang="zh-TW" dirty="0" smtClean="0"/>
              <a:t> </a:t>
            </a:r>
            <a:r>
              <a:rPr lang="zh-TW" altLang="en-US" dirty="0" smtClean="0"/>
              <a:t>≤</a:t>
            </a:r>
            <a:r>
              <a:rPr lang="en-US" altLang="zh-TW" dirty="0" smtClean="0"/>
              <a:t> </a:t>
            </a:r>
            <a:r>
              <a:rPr lang="en-US" altLang="zh-TW" dirty="0" err="1" smtClean="0"/>
              <a:t>x</a:t>
            </a:r>
            <a:r>
              <a:rPr lang="en-US" altLang="zh-TW" baseline="-25000" dirty="0" err="1" smtClean="0"/>
              <a:t>j</a:t>
            </a:r>
            <a:endParaRPr lang="en-US" altLang="zh-TW" baseline="-25000" dirty="0" smtClean="0"/>
          </a:p>
          <a:p>
            <a:pPr>
              <a:buNone/>
            </a:pPr>
            <a:endParaRPr lang="en-US" altLang="zh-TW" baseline="-25000" dirty="0" smtClean="0"/>
          </a:p>
          <a:p>
            <a:r>
              <a:rPr lang="en-US" altLang="zh-TW" dirty="0" smtClean="0"/>
              <a:t>X</a:t>
            </a:r>
            <a:r>
              <a:rPr lang="pl-PL" altLang="zh-TW" dirty="0" smtClean="0"/>
              <a:t> = ( </a:t>
            </a:r>
            <a:r>
              <a:rPr lang="en-US" altLang="zh-TW" dirty="0" smtClean="0"/>
              <a:t>x</a:t>
            </a:r>
            <a:r>
              <a:rPr lang="pl-PL" altLang="zh-TW" baseline="-25000" dirty="0" smtClean="0"/>
              <a:t>l</a:t>
            </a:r>
            <a:r>
              <a:rPr lang="pl-PL" altLang="zh-TW" dirty="0" smtClean="0"/>
              <a:t>, </a:t>
            </a:r>
            <a:r>
              <a:rPr lang="en-US" altLang="zh-TW" dirty="0" smtClean="0"/>
              <a:t>x</a:t>
            </a:r>
            <a:r>
              <a:rPr lang="pl-PL" altLang="zh-TW" baseline="-25000" dirty="0" smtClean="0"/>
              <a:t>2</a:t>
            </a:r>
            <a:r>
              <a:rPr lang="pl-PL" altLang="zh-TW" dirty="0" smtClean="0"/>
              <a:t>, . . . ,</a:t>
            </a:r>
            <a:r>
              <a:rPr lang="pl-PL" altLang="zh-TW" dirty="0" smtClean="0"/>
              <a:t>x</a:t>
            </a:r>
            <a:r>
              <a:rPr lang="en-US" altLang="zh-TW" baseline="-25000" dirty="0" smtClean="0"/>
              <a:t>N</a:t>
            </a:r>
            <a:r>
              <a:rPr lang="pl-PL" altLang="zh-TW" dirty="0" smtClean="0"/>
              <a:t> </a:t>
            </a:r>
            <a:r>
              <a:rPr lang="pl-PL" altLang="zh-TW" dirty="0" smtClean="0"/>
              <a:t>) </a:t>
            </a:r>
            <a:r>
              <a:rPr lang="zh-TW" altLang="en-US" dirty="0" smtClean="0"/>
              <a:t>∈</a:t>
            </a:r>
            <a:r>
              <a:rPr lang="pl-PL" altLang="zh-TW" dirty="0" smtClean="0"/>
              <a:t> T(N,W)</a:t>
            </a:r>
            <a:r>
              <a:rPr lang="en-US" altLang="zh-TW" dirty="0" smtClean="0"/>
              <a:t> ,</a:t>
            </a:r>
          </a:p>
          <a:p>
            <a:pPr>
              <a:buNone/>
            </a:pPr>
            <a:r>
              <a:rPr lang="en-US" altLang="zh-TW" dirty="0" smtClean="0"/>
              <a:t>	</a:t>
            </a:r>
            <a:r>
              <a:rPr lang="pl-PL" altLang="zh-TW" dirty="0" smtClean="0"/>
              <a:t>iff x</a:t>
            </a:r>
            <a:r>
              <a:rPr lang="pl-PL" altLang="zh-TW" baseline="-25000" dirty="0" smtClean="0"/>
              <a:t>j</a:t>
            </a:r>
            <a:r>
              <a:rPr lang="en-US" altLang="zh-TW" dirty="0" smtClean="0"/>
              <a:t> </a:t>
            </a:r>
            <a:r>
              <a:rPr lang="zh-TW" altLang="en-US" dirty="0" smtClean="0"/>
              <a:t>∈</a:t>
            </a:r>
            <a:r>
              <a:rPr lang="pl-PL" altLang="zh-TW" dirty="0" smtClean="0"/>
              <a:t> [0, W], j</a:t>
            </a:r>
            <a:r>
              <a:rPr lang="en-US" altLang="zh-TW" dirty="0" smtClean="0"/>
              <a:t> </a:t>
            </a:r>
            <a:r>
              <a:rPr lang="zh-TW" altLang="en-US" dirty="0" smtClean="0"/>
              <a:t>∈</a:t>
            </a:r>
            <a:r>
              <a:rPr lang="pl-PL" altLang="zh-TW" dirty="0" smtClean="0"/>
              <a:t> [1, N].</a:t>
            </a:r>
            <a:endParaRPr lang="zh-TW" altLang="en-US" dirty="0" smtClean="0"/>
          </a:p>
          <a:p>
            <a:pPr>
              <a:buNone/>
            </a:pPr>
            <a:endParaRPr lang="zh-TW"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 be a finite binary string in {0, 1}*</a:t>
            </a:r>
          </a:p>
          <a:p>
            <a:r>
              <a:rPr lang="en-US" altLang="zh-TW" dirty="0" smtClean="0"/>
              <a:t>| f | : the length of f</a:t>
            </a:r>
          </a:p>
          <a:p>
            <a:r>
              <a:rPr lang="en-US" altLang="zh-TW" dirty="0" smtClean="0"/>
              <a:t>f(</a:t>
            </a:r>
            <a:r>
              <a:rPr lang="en-US" altLang="zh-TW" i="1" dirty="0" err="1" smtClean="0"/>
              <a:t>i</a:t>
            </a:r>
            <a:r>
              <a:rPr lang="en-US" altLang="zh-TW" dirty="0" smtClean="0"/>
              <a:t>) : the value of its </a:t>
            </a:r>
            <a:r>
              <a:rPr lang="en-US" altLang="zh-TW" i="1" dirty="0" err="1" smtClean="0"/>
              <a:t>i</a:t>
            </a:r>
            <a:r>
              <a:rPr lang="en-US" altLang="zh-TW" dirty="0" err="1" smtClean="0"/>
              <a:t>th</a:t>
            </a:r>
            <a:r>
              <a:rPr lang="en-US" altLang="zh-TW" dirty="0" smtClean="0"/>
              <a:t> bit</a:t>
            </a:r>
          </a:p>
          <a:p>
            <a:r>
              <a:rPr lang="en-US" altLang="zh-TW" dirty="0" smtClean="0"/>
              <a:t>|| f || :  the integer of which f is the | f |-bit binary representation</a:t>
            </a:r>
          </a:p>
          <a:p>
            <a:r>
              <a:rPr lang="en-US" altLang="zh-TW" dirty="0" smtClean="0"/>
              <a:t>f=1010</a:t>
            </a:r>
            <a:r>
              <a:rPr lang="en-US" altLang="zh-TW" baseline="-25000" dirty="0" smtClean="0"/>
              <a:t>2</a:t>
            </a:r>
            <a:r>
              <a:rPr lang="en-US" altLang="zh-TW" dirty="0" smtClean="0"/>
              <a:t>, | f |=4, || f ||=10</a:t>
            </a:r>
          </a:p>
          <a:p>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N = 2</a:t>
            </a:r>
            <a:r>
              <a:rPr lang="en-US" altLang="zh-TW" baseline="30000" dirty="0" smtClean="0"/>
              <a:t>n</a:t>
            </a:r>
            <a:r>
              <a:rPr lang="en-US" altLang="zh-TW" dirty="0" smtClean="0"/>
              <a:t> – 1, W = 2</a:t>
            </a:r>
            <a:r>
              <a:rPr lang="en-US" altLang="zh-TW" baseline="30000" dirty="0" smtClean="0"/>
              <a:t>w</a:t>
            </a:r>
            <a:r>
              <a:rPr lang="en-US" altLang="zh-TW" dirty="0" smtClean="0"/>
              <a:t> – 1, w &gt; n</a:t>
            </a:r>
          </a:p>
          <a:p>
            <a:r>
              <a:rPr lang="en-US" altLang="zh-TW" dirty="0" smtClean="0"/>
              <a:t>| </a:t>
            </a:r>
            <a:r>
              <a:rPr lang="en-US" altLang="zh-TW" dirty="0" err="1" smtClean="0"/>
              <a:t>f</a:t>
            </a:r>
            <a:r>
              <a:rPr lang="en-US" altLang="zh-TW" baseline="-25000" dirty="0" err="1" smtClean="0"/>
              <a:t>j</a:t>
            </a:r>
            <a:r>
              <a:rPr lang="en-US" altLang="zh-TW" baseline="-25000" dirty="0" smtClean="0"/>
              <a:t> </a:t>
            </a:r>
            <a:r>
              <a:rPr lang="en-US" altLang="zh-TW" dirty="0" smtClean="0"/>
              <a:t>| = w, || </a:t>
            </a:r>
            <a:r>
              <a:rPr lang="en-US" altLang="zh-TW" dirty="0" err="1" smtClean="0"/>
              <a:t>f</a:t>
            </a:r>
            <a:r>
              <a:rPr lang="en-US" altLang="zh-TW" baseline="-25000" dirty="0" err="1" smtClean="0"/>
              <a:t>j</a:t>
            </a:r>
            <a:r>
              <a:rPr lang="en-US" altLang="zh-TW" dirty="0" smtClean="0"/>
              <a:t> || </a:t>
            </a:r>
            <a:r>
              <a:rPr lang="zh-TW" altLang="en-US" dirty="0" smtClean="0"/>
              <a:t>∈</a:t>
            </a:r>
            <a:r>
              <a:rPr lang="en-US" altLang="zh-TW" dirty="0" smtClean="0"/>
              <a:t> [0, W] for all j </a:t>
            </a:r>
            <a:r>
              <a:rPr lang="zh-TW" altLang="en-US" dirty="0" smtClean="0"/>
              <a:t>∈</a:t>
            </a:r>
            <a:r>
              <a:rPr lang="en-US" altLang="zh-TW" dirty="0" smtClean="0"/>
              <a:t> [1, N]</a:t>
            </a:r>
          </a:p>
          <a:p>
            <a:r>
              <a:rPr lang="en-US" altLang="zh-TW" dirty="0" smtClean="0"/>
              <a:t>| f | = </a:t>
            </a:r>
            <a:r>
              <a:rPr lang="en-US" altLang="zh-TW" dirty="0" err="1" smtClean="0"/>
              <a:t>Nw</a:t>
            </a:r>
            <a:endParaRPr lang="en-US" altLang="zh-TW" dirty="0" smtClean="0"/>
          </a:p>
          <a:p>
            <a:endParaRPr lang="en-US" altLang="zh-TW" dirty="0" smtClean="0"/>
          </a:p>
          <a:p>
            <a:r>
              <a:rPr lang="pl-PL" altLang="zh-TW" dirty="0" smtClean="0"/>
              <a:t>1 &lt;</a:t>
            </a:r>
            <a:r>
              <a:rPr lang="en-US" altLang="zh-TW" dirty="0" smtClean="0"/>
              <a:t> </a:t>
            </a:r>
            <a:r>
              <a:rPr lang="pl-PL" altLang="zh-TW" dirty="0" smtClean="0"/>
              <a:t>j &lt; k &lt;N,</a:t>
            </a:r>
            <a:r>
              <a:rPr lang="en-US" altLang="zh-TW" dirty="0" smtClean="0"/>
              <a:t> </a:t>
            </a:r>
            <a:r>
              <a:rPr lang="pl-PL" altLang="zh-TW" dirty="0" smtClean="0"/>
              <a:t>0 &lt; </a:t>
            </a:r>
            <a:r>
              <a:rPr lang="en-US" altLang="zh-TW" dirty="0" smtClean="0"/>
              <a:t>|| </a:t>
            </a:r>
            <a:r>
              <a:rPr lang="en-US" altLang="zh-TW" dirty="0" err="1" smtClean="0"/>
              <a:t>f</a:t>
            </a:r>
            <a:r>
              <a:rPr lang="en-US" altLang="zh-TW" baseline="-25000" dirty="0" err="1" smtClean="0"/>
              <a:t>j</a:t>
            </a:r>
            <a:r>
              <a:rPr lang="en-US" altLang="zh-TW" dirty="0" smtClean="0"/>
              <a:t> ||</a:t>
            </a:r>
            <a:r>
              <a:rPr lang="pl-PL" altLang="zh-TW" dirty="0" smtClean="0"/>
              <a:t> &lt; </a:t>
            </a:r>
            <a:r>
              <a:rPr lang="en-US" altLang="zh-TW" dirty="0" smtClean="0"/>
              <a:t>|| </a:t>
            </a:r>
            <a:r>
              <a:rPr lang="en-US" altLang="zh-TW" dirty="0" err="1" smtClean="0"/>
              <a:t>f</a:t>
            </a:r>
            <a:r>
              <a:rPr lang="en-US" altLang="zh-TW" baseline="-25000" dirty="0" err="1" smtClean="0"/>
              <a:t>k</a:t>
            </a:r>
            <a:r>
              <a:rPr lang="en-US" altLang="zh-TW" dirty="0" smtClean="0"/>
              <a:t> || </a:t>
            </a:r>
            <a:r>
              <a:rPr lang="pl-PL" altLang="zh-TW" dirty="0" smtClean="0"/>
              <a:t>&lt; </a:t>
            </a:r>
            <a:r>
              <a:rPr lang="en-US" altLang="zh-TW" dirty="0" smtClean="0"/>
              <a:t>W</a:t>
            </a:r>
            <a:r>
              <a:rPr lang="pl-PL" altLang="zh-TW" dirty="0" smtClean="0"/>
              <a:t> = </a:t>
            </a:r>
            <a:r>
              <a:rPr lang="en-US" altLang="zh-TW" dirty="0" smtClean="0"/>
              <a:t>2</a:t>
            </a:r>
            <a:r>
              <a:rPr lang="en-US" altLang="zh-TW" baseline="30000" dirty="0" smtClean="0"/>
              <a:t>w</a:t>
            </a:r>
            <a:r>
              <a:rPr lang="en-US" altLang="zh-TW" dirty="0" smtClean="0"/>
              <a:t> – 1</a:t>
            </a:r>
          </a:p>
          <a:p>
            <a:r>
              <a:rPr lang="en-US" altLang="zh-TW" dirty="0" smtClean="0"/>
              <a:t>X = f</a:t>
            </a:r>
            <a:r>
              <a:rPr lang="en-US" altLang="zh-TW" baseline="-25000" dirty="0" smtClean="0"/>
              <a:t>1</a:t>
            </a:r>
            <a:r>
              <a:rPr lang="en-US" altLang="zh-TW" dirty="0" smtClean="0"/>
              <a:t>, f</a:t>
            </a:r>
            <a:r>
              <a:rPr lang="en-US" altLang="zh-TW" baseline="-25000" dirty="0" smtClean="0"/>
              <a:t>2</a:t>
            </a:r>
            <a:r>
              <a:rPr lang="en-US" altLang="zh-TW" dirty="0" smtClean="0"/>
              <a:t>, f</a:t>
            </a:r>
            <a:r>
              <a:rPr lang="en-US" altLang="zh-TW" baseline="-25000" dirty="0" smtClean="0"/>
              <a:t>3</a:t>
            </a:r>
            <a:r>
              <a:rPr lang="en-US" altLang="zh-TW" dirty="0" smtClean="0"/>
              <a:t>,…, f</a:t>
            </a:r>
            <a:r>
              <a:rPr lang="en-US" altLang="zh-TW" baseline="-25000" dirty="0" smtClean="0"/>
              <a:t>n</a:t>
            </a:r>
            <a:r>
              <a:rPr lang="en-US" altLang="zh-TW" dirty="0" smtClean="0"/>
              <a:t> , | </a:t>
            </a:r>
            <a:r>
              <a:rPr lang="en-US" altLang="zh-TW" dirty="0" err="1" smtClean="0"/>
              <a:t>f</a:t>
            </a:r>
            <a:r>
              <a:rPr lang="en-US" altLang="zh-TW" baseline="-25000" dirty="0" err="1" smtClean="0"/>
              <a:t>j</a:t>
            </a:r>
            <a:r>
              <a:rPr lang="en-US" altLang="zh-TW" dirty="0" smtClean="0"/>
              <a:t> | = w</a:t>
            </a:r>
          </a:p>
          <a:p>
            <a:endParaRPr lang="en-US" altLang="zh-TW" baseline="-25000" dirty="0" smtClean="0"/>
          </a:p>
          <a:p>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457200" y="1600200"/>
            <a:ext cx="8229600" cy="4900634"/>
          </a:xfrm>
        </p:spPr>
        <p:txBody>
          <a:bodyPr>
            <a:normAutofit/>
          </a:bodyPr>
          <a:lstStyle/>
          <a:p>
            <a:r>
              <a:rPr lang="en-US" altLang="zh-TW" dirty="0" smtClean="0"/>
              <a:t>w &gt; n &gt; 0 and let b be an integer, w &gt; b &gt; 0.</a:t>
            </a:r>
          </a:p>
          <a:p>
            <a:r>
              <a:rPr lang="en-US" altLang="zh-TW" dirty="0" err="1" smtClean="0"/>
              <a:t>q</a:t>
            </a:r>
            <a:r>
              <a:rPr lang="en-US" altLang="zh-TW" baseline="-25000" dirty="0" err="1" smtClean="0"/>
              <a:t>j</a:t>
            </a:r>
            <a:r>
              <a:rPr lang="en-US" altLang="zh-TW" dirty="0" smtClean="0"/>
              <a:t> to be the first b bits of </a:t>
            </a:r>
            <a:r>
              <a:rPr lang="en-US" altLang="zh-TW" dirty="0" err="1" smtClean="0"/>
              <a:t>f</a:t>
            </a:r>
            <a:r>
              <a:rPr lang="en-US" altLang="zh-TW" baseline="-25000" dirty="0" err="1" smtClean="0"/>
              <a:t>j</a:t>
            </a:r>
            <a:endParaRPr lang="en-US" altLang="zh-TW" baseline="-25000" dirty="0" smtClean="0"/>
          </a:p>
          <a:p>
            <a:r>
              <a:rPr lang="en-US" altLang="zh-TW" dirty="0" err="1" smtClean="0"/>
              <a:t>r</a:t>
            </a:r>
            <a:r>
              <a:rPr lang="en-US" altLang="zh-TW" baseline="-25000" dirty="0" err="1" smtClean="0"/>
              <a:t>j</a:t>
            </a:r>
            <a:r>
              <a:rPr lang="en-US" altLang="zh-TW" dirty="0" smtClean="0"/>
              <a:t> to be the last w – b bits of f</a:t>
            </a:r>
            <a:r>
              <a:rPr lang="en-US" altLang="zh-TW" baseline="-25000" dirty="0" smtClean="0"/>
              <a:t>j </a:t>
            </a:r>
            <a:endParaRPr lang="en-US" altLang="zh-TW" dirty="0" smtClean="0"/>
          </a:p>
          <a:p>
            <a:r>
              <a:rPr lang="pt-BR" altLang="zh-TW" dirty="0" smtClean="0"/>
              <a:t>q = q</a:t>
            </a:r>
            <a:r>
              <a:rPr lang="pt-BR" altLang="zh-TW" baseline="-25000" dirty="0" smtClean="0"/>
              <a:t>1</a:t>
            </a:r>
            <a:r>
              <a:rPr lang="pt-BR" altLang="zh-TW" dirty="0" smtClean="0"/>
              <a:t>, q</a:t>
            </a:r>
            <a:r>
              <a:rPr lang="pt-BR" altLang="zh-TW" baseline="-25000" dirty="0" smtClean="0"/>
              <a:t>2</a:t>
            </a:r>
            <a:r>
              <a:rPr lang="pt-BR" altLang="zh-TW" dirty="0" smtClean="0"/>
              <a:t>,...,q</a:t>
            </a:r>
            <a:r>
              <a:rPr lang="pt-BR" altLang="zh-TW" baseline="-25000" dirty="0" smtClean="0"/>
              <a:t>N </a:t>
            </a:r>
            <a:r>
              <a:rPr lang="zh-TW" altLang="en-US" dirty="0" smtClean="0"/>
              <a:t>∈</a:t>
            </a:r>
            <a:r>
              <a:rPr lang="pt-BR" altLang="zh-TW" dirty="0" smtClean="0"/>
              <a:t> I( </a:t>
            </a:r>
            <a:r>
              <a:rPr lang="en-US" altLang="zh-TW" dirty="0" smtClean="0"/>
              <a:t>N</a:t>
            </a:r>
            <a:r>
              <a:rPr lang="pt-BR" altLang="zh-TW" dirty="0" smtClean="0"/>
              <a:t>, </a:t>
            </a:r>
            <a:r>
              <a:rPr lang="pt-BR" altLang="zh-TW" dirty="0" smtClean="0"/>
              <a:t>b )</a:t>
            </a:r>
          </a:p>
          <a:p>
            <a:r>
              <a:rPr lang="pt-BR" altLang="zh-TW" dirty="0" smtClean="0"/>
              <a:t>r = r</a:t>
            </a:r>
            <a:r>
              <a:rPr lang="pt-BR" altLang="zh-TW" baseline="-25000" dirty="0" smtClean="0"/>
              <a:t>l</a:t>
            </a:r>
            <a:r>
              <a:rPr lang="pt-BR" altLang="zh-TW" dirty="0" smtClean="0"/>
              <a:t>, r</a:t>
            </a:r>
            <a:r>
              <a:rPr lang="pt-BR" altLang="zh-TW" baseline="-25000" dirty="0" smtClean="0"/>
              <a:t>2</a:t>
            </a:r>
            <a:r>
              <a:rPr lang="pt-BR" altLang="zh-TW" dirty="0" smtClean="0"/>
              <a:t>,...,r</a:t>
            </a:r>
            <a:r>
              <a:rPr lang="pt-BR" altLang="zh-TW" baseline="-25000" dirty="0" smtClean="0"/>
              <a:t>N</a:t>
            </a:r>
            <a:r>
              <a:rPr lang="pt-BR" altLang="zh-TW" dirty="0" smtClean="0"/>
              <a:t> </a:t>
            </a:r>
            <a:r>
              <a:rPr lang="zh-TW" altLang="en-US" dirty="0" smtClean="0"/>
              <a:t>∈</a:t>
            </a:r>
            <a:r>
              <a:rPr lang="pt-BR" altLang="zh-TW" dirty="0" smtClean="0"/>
              <a:t> </a:t>
            </a:r>
            <a:r>
              <a:rPr lang="en-US" altLang="zh-TW" dirty="0" smtClean="0"/>
              <a:t>T</a:t>
            </a:r>
            <a:r>
              <a:rPr lang="pt-BR" altLang="zh-TW" dirty="0" smtClean="0"/>
              <a:t>( </a:t>
            </a:r>
            <a:r>
              <a:rPr lang="en-US" altLang="zh-TW" dirty="0" smtClean="0"/>
              <a:t>N</a:t>
            </a:r>
            <a:r>
              <a:rPr lang="pt-BR" altLang="zh-TW" dirty="0" smtClean="0"/>
              <a:t>, </a:t>
            </a:r>
            <a:r>
              <a:rPr lang="pt-BR" altLang="zh-TW" dirty="0" smtClean="0"/>
              <a:t>w</a:t>
            </a:r>
            <a:r>
              <a:rPr lang="en-US" altLang="zh-TW" dirty="0" smtClean="0"/>
              <a:t>–</a:t>
            </a:r>
            <a:r>
              <a:rPr lang="pt-BR" altLang="zh-TW" dirty="0" smtClean="0"/>
              <a:t>b )</a:t>
            </a:r>
          </a:p>
          <a:p>
            <a:pPr>
              <a:buNone/>
            </a:pPr>
            <a:r>
              <a:rPr lang="en-US" altLang="zh-TW" baseline="-25000" dirty="0" smtClean="0"/>
              <a:t> </a:t>
            </a:r>
            <a:r>
              <a:rPr lang="en-US" altLang="zh-TW" dirty="0" smtClean="0"/>
              <a:t>   </a:t>
            </a:r>
            <a:endParaRPr lang="en-US" altLang="zh-TW" baseline="-25000" dirty="0" smtClean="0"/>
          </a:p>
          <a:p>
            <a:r>
              <a:rPr lang="en-US" altLang="zh-TW" dirty="0" err="1" smtClean="0"/>
              <a:t>f</a:t>
            </a:r>
            <a:r>
              <a:rPr lang="en-US" altLang="zh-TW" baseline="-25000" dirty="0" err="1" smtClean="0"/>
              <a:t>j</a:t>
            </a:r>
            <a:r>
              <a:rPr lang="zh-TW" altLang="en-US" dirty="0" smtClean="0"/>
              <a:t> </a:t>
            </a:r>
            <a:r>
              <a:rPr lang="en-US" altLang="zh-TW" dirty="0" smtClean="0"/>
              <a:t>= 11011</a:t>
            </a:r>
            <a:r>
              <a:rPr lang="en-US" altLang="zh-TW" baseline="-25000" dirty="0" smtClean="0"/>
              <a:t>2</a:t>
            </a:r>
            <a:r>
              <a:rPr lang="en-US" altLang="zh-TW" dirty="0" smtClean="0"/>
              <a:t>, b=3</a:t>
            </a:r>
            <a:endParaRPr lang="en-US" altLang="zh-TW" baseline="-25000" dirty="0" smtClean="0"/>
          </a:p>
          <a:p>
            <a:r>
              <a:rPr lang="en-US" altLang="zh-TW" dirty="0" err="1" smtClean="0"/>
              <a:t>q</a:t>
            </a:r>
            <a:r>
              <a:rPr lang="en-US" altLang="zh-TW" baseline="-25000" dirty="0" err="1" smtClean="0"/>
              <a:t>j</a:t>
            </a:r>
            <a:r>
              <a:rPr lang="en-US" altLang="zh-TW" dirty="0" smtClean="0"/>
              <a:t>=110</a:t>
            </a:r>
            <a:r>
              <a:rPr lang="en-US" altLang="zh-TW" baseline="-25000" dirty="0" smtClean="0"/>
              <a:t>2</a:t>
            </a:r>
            <a:r>
              <a:rPr lang="en-US" altLang="zh-TW" dirty="0" smtClean="0"/>
              <a:t>, </a:t>
            </a:r>
            <a:r>
              <a:rPr lang="en-US" altLang="zh-TW" dirty="0" err="1" smtClean="0"/>
              <a:t>r</a:t>
            </a:r>
            <a:r>
              <a:rPr lang="en-US" altLang="zh-TW" baseline="-25000" dirty="0" err="1" smtClean="0"/>
              <a:t>j</a:t>
            </a:r>
            <a:r>
              <a:rPr lang="en-US" altLang="zh-TW" dirty="0" smtClean="0"/>
              <a:t>=11</a:t>
            </a:r>
            <a:r>
              <a:rPr lang="en-US" altLang="zh-TW" baseline="-25000" dirty="0" smtClean="0"/>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1600200"/>
            <a:ext cx="8229600" cy="4829196"/>
          </a:xfrm>
        </p:spPr>
        <p:txBody>
          <a:bodyPr>
            <a:normAutofit/>
          </a:bodyPr>
          <a:lstStyle/>
          <a:p>
            <a:r>
              <a:rPr lang="en-US" altLang="zh-TW" dirty="0" err="1" smtClean="0"/>
              <a:t>u</a:t>
            </a:r>
            <a:r>
              <a:rPr lang="en-US" altLang="zh-TW" baseline="-25000" dirty="0" err="1" smtClean="0"/>
              <a:t>l</a:t>
            </a:r>
            <a:r>
              <a:rPr lang="en-US" altLang="zh-TW" dirty="0" smtClean="0"/>
              <a:t> = 0</a:t>
            </a:r>
            <a:r>
              <a:rPr lang="en-US" altLang="zh-TW" baseline="30000" dirty="0" smtClean="0"/>
              <a:t>||q1||</a:t>
            </a:r>
            <a:r>
              <a:rPr lang="en-US" altLang="zh-TW" dirty="0" smtClean="0"/>
              <a:t>l</a:t>
            </a:r>
          </a:p>
          <a:p>
            <a:r>
              <a:rPr lang="en-US" altLang="zh-TW" dirty="0" err="1" smtClean="0"/>
              <a:t>u</a:t>
            </a:r>
            <a:r>
              <a:rPr lang="en-US" altLang="zh-TW" baseline="-25000" dirty="0" err="1" smtClean="0"/>
              <a:t>i</a:t>
            </a:r>
            <a:r>
              <a:rPr lang="en-US" altLang="zh-TW" dirty="0" smtClean="0"/>
              <a:t> = 0</a:t>
            </a:r>
            <a:r>
              <a:rPr lang="en-US" altLang="zh-TW" baseline="30000" dirty="0" smtClean="0"/>
              <a:t>||</a:t>
            </a:r>
            <a:r>
              <a:rPr lang="en-US" altLang="zh-TW" baseline="30000" dirty="0" err="1" smtClean="0"/>
              <a:t>qj</a:t>
            </a:r>
            <a:r>
              <a:rPr lang="en-US" altLang="zh-TW" baseline="30000" dirty="0" smtClean="0"/>
              <a:t>|| – ||</a:t>
            </a:r>
            <a:r>
              <a:rPr lang="en-US" altLang="zh-TW" baseline="30000" dirty="0" err="1" smtClean="0"/>
              <a:t>qj</a:t>
            </a:r>
            <a:r>
              <a:rPr lang="en-US" altLang="zh-TW" baseline="30000" dirty="0" smtClean="0"/>
              <a:t>-l||</a:t>
            </a:r>
            <a:r>
              <a:rPr lang="en-US" altLang="zh-TW" dirty="0" smtClean="0"/>
              <a:t>1, j </a:t>
            </a:r>
            <a:r>
              <a:rPr lang="zh-TW" altLang="en-US" dirty="0" smtClean="0"/>
              <a:t>∈</a:t>
            </a:r>
            <a:r>
              <a:rPr lang="en-US" altLang="zh-TW" dirty="0" smtClean="0"/>
              <a:t> [2, N]</a:t>
            </a:r>
          </a:p>
          <a:p>
            <a:r>
              <a:rPr lang="en-US" altLang="zh-TW" dirty="0" err="1" smtClean="0"/>
              <a:t>u</a:t>
            </a:r>
            <a:r>
              <a:rPr lang="en-US" altLang="zh-TW" baseline="-25000" dirty="0" err="1" smtClean="0"/>
              <a:t>N+l</a:t>
            </a:r>
            <a:r>
              <a:rPr lang="en-US" altLang="zh-TW" dirty="0" smtClean="0"/>
              <a:t> = 0</a:t>
            </a:r>
            <a:r>
              <a:rPr lang="en-US" altLang="zh-TW" baseline="30000" dirty="0" smtClean="0"/>
              <a:t>B – ||</a:t>
            </a:r>
            <a:r>
              <a:rPr lang="en-US" altLang="zh-TW" baseline="30000" dirty="0" err="1" smtClean="0"/>
              <a:t>qN</a:t>
            </a:r>
            <a:r>
              <a:rPr lang="en-US" altLang="zh-TW" baseline="30000" dirty="0" smtClean="0"/>
              <a:t>||</a:t>
            </a:r>
            <a:r>
              <a:rPr lang="en-US" altLang="zh-TW" dirty="0" smtClean="0"/>
              <a:t>, B = 2</a:t>
            </a:r>
            <a:r>
              <a:rPr lang="en-US" altLang="zh-TW" baseline="30000" dirty="0" smtClean="0"/>
              <a:t>b</a:t>
            </a:r>
            <a:r>
              <a:rPr lang="en-US" altLang="zh-TW" dirty="0" smtClean="0"/>
              <a:t> – 1</a:t>
            </a:r>
          </a:p>
          <a:p>
            <a:r>
              <a:rPr lang="en-US" altLang="zh-TW" dirty="0" smtClean="0"/>
              <a:t>u = u</a:t>
            </a:r>
            <a:r>
              <a:rPr lang="en-US" altLang="zh-TW" baseline="-25000" dirty="0" smtClean="0"/>
              <a:t>1</a:t>
            </a:r>
            <a:r>
              <a:rPr lang="en-US" altLang="zh-TW" dirty="0" smtClean="0"/>
              <a:t>,u</a:t>
            </a:r>
            <a:r>
              <a:rPr lang="en-US" altLang="zh-TW" baseline="-25000" dirty="0" smtClean="0"/>
              <a:t>2</a:t>
            </a:r>
            <a:r>
              <a:rPr lang="en-US" altLang="zh-TW" dirty="0" smtClean="0"/>
              <a:t>,…,u</a:t>
            </a:r>
            <a:r>
              <a:rPr lang="en-US" altLang="zh-TW" baseline="-25000" dirty="0" smtClean="0"/>
              <a:t>N+1</a:t>
            </a:r>
            <a:r>
              <a:rPr lang="en-US" altLang="zh-TW" dirty="0" smtClean="0"/>
              <a:t> = u(1)u(2) . . . u(N + B)</a:t>
            </a:r>
          </a:p>
          <a:p>
            <a:r>
              <a:rPr lang="en-US" altLang="zh-TW" dirty="0" smtClean="0"/>
              <a:t>u contains just B 0's and N </a:t>
            </a:r>
            <a:r>
              <a:rPr lang="en-US" altLang="zh-TW" dirty="0" smtClean="0"/>
              <a:t>l's</a:t>
            </a:r>
          </a:p>
          <a:p>
            <a:endParaRPr lang="en-US" altLang="zh-TW" dirty="0" smtClean="0"/>
          </a:p>
          <a:p>
            <a:r>
              <a:rPr lang="en-US" altLang="zh-TW" dirty="0" smtClean="0"/>
              <a:t>|| </a:t>
            </a:r>
            <a:r>
              <a:rPr lang="en-US" altLang="zh-TW" dirty="0" err="1" smtClean="0"/>
              <a:t>q</a:t>
            </a:r>
            <a:r>
              <a:rPr lang="en-US" altLang="zh-TW" baseline="-25000" dirty="0" err="1" smtClean="0"/>
              <a:t>j</a:t>
            </a:r>
            <a:r>
              <a:rPr lang="en-US" altLang="zh-TW" dirty="0" smtClean="0"/>
              <a:t> || = number of 0's lying to left of </a:t>
            </a:r>
            <a:r>
              <a:rPr lang="en-US" altLang="zh-TW" dirty="0" err="1" smtClean="0"/>
              <a:t>jth</a:t>
            </a:r>
            <a:r>
              <a:rPr lang="en-US" altLang="zh-TW" dirty="0" smtClean="0"/>
              <a:t> 1 in u</a:t>
            </a:r>
          </a:p>
          <a:p>
            <a:r>
              <a:rPr lang="en-US" altLang="zh-TW" dirty="0" smtClean="0"/>
              <a:t>|| </a:t>
            </a:r>
            <a:r>
              <a:rPr lang="en-US" altLang="zh-TW" dirty="0" err="1" smtClean="0"/>
              <a:t>q</a:t>
            </a:r>
            <a:r>
              <a:rPr lang="en-US" altLang="zh-TW" baseline="-25000" dirty="0" err="1" smtClean="0"/>
              <a:t>k</a:t>
            </a:r>
            <a:r>
              <a:rPr lang="en-US" altLang="zh-TW" dirty="0" smtClean="0"/>
              <a:t> || = number of l's lying to left of kth 0 in u</a:t>
            </a:r>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The storage required is minimized when b = n, so B = N.</a:t>
            </a:r>
          </a:p>
          <a:p>
            <a:r>
              <a:rPr lang="en-US" altLang="zh-TW" dirty="0" smtClean="0"/>
              <a:t>b=n, |q| = b = n, |r| = w – b = w – n</a:t>
            </a:r>
          </a:p>
          <a:p>
            <a:r>
              <a:rPr lang="en-US" altLang="zh-TW" dirty="0" smtClean="0"/>
              <a:t>|u| = N+B = 2N</a:t>
            </a:r>
          </a:p>
          <a:p>
            <a:r>
              <a:rPr lang="en-US" altLang="zh-TW" dirty="0" smtClean="0"/>
              <a:t>|u| + |r| = 2N </a:t>
            </a:r>
            <a:r>
              <a:rPr lang="pt-BR" altLang="zh-TW" dirty="0" smtClean="0"/>
              <a:t>+ N(w - n) = N(w - n + 2)</a:t>
            </a:r>
          </a:p>
          <a:p>
            <a:r>
              <a:rPr lang="en-US" altLang="zh-TW" dirty="0" smtClean="0"/>
              <a:t>N = 2</a:t>
            </a:r>
            <a:r>
              <a:rPr lang="en-US" altLang="zh-TW" baseline="30000" dirty="0" smtClean="0"/>
              <a:t>n</a:t>
            </a:r>
            <a:r>
              <a:rPr lang="en-US" altLang="zh-TW" dirty="0" smtClean="0"/>
              <a:t> – 1, W = 2</a:t>
            </a:r>
            <a:r>
              <a:rPr lang="en-US" altLang="zh-TW" baseline="30000" dirty="0" smtClean="0"/>
              <a:t>w</a:t>
            </a:r>
            <a:r>
              <a:rPr lang="en-US" altLang="zh-TW" dirty="0" smtClean="0"/>
              <a:t> – 1, w &gt; 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pt-BR" altLang="zh-TW" dirty="0" smtClean="0"/>
              <a:t>find q</a:t>
            </a:r>
            <a:r>
              <a:rPr lang="pt-BR" altLang="zh-TW" baseline="-25000" dirty="0" smtClean="0"/>
              <a:t>j</a:t>
            </a:r>
            <a:r>
              <a:rPr lang="pt-BR" altLang="zh-TW" dirty="0" smtClean="0"/>
              <a:t> given j </a:t>
            </a:r>
            <a:r>
              <a:rPr lang="zh-TW" altLang="en-US" dirty="0" smtClean="0"/>
              <a:t>∈</a:t>
            </a:r>
            <a:r>
              <a:rPr lang="pt-BR" altLang="zh-TW" dirty="0" smtClean="0"/>
              <a:t> [1, N]</a:t>
            </a:r>
          </a:p>
          <a:p>
            <a:r>
              <a:rPr lang="en-US" altLang="zh-TW" dirty="0" smtClean="0"/>
              <a:t>|| </a:t>
            </a:r>
            <a:r>
              <a:rPr lang="en-US" altLang="zh-TW" dirty="0" err="1" smtClean="0"/>
              <a:t>q</a:t>
            </a:r>
            <a:r>
              <a:rPr lang="en-US" altLang="zh-TW" baseline="-25000" dirty="0" err="1" smtClean="0"/>
              <a:t>j</a:t>
            </a:r>
            <a:r>
              <a:rPr lang="en-US" altLang="zh-TW" dirty="0" smtClean="0"/>
              <a:t> || = number of 0's lying to the left of </a:t>
            </a:r>
            <a:r>
              <a:rPr lang="en-US" altLang="zh-TW" dirty="0" err="1" smtClean="0"/>
              <a:t>jth</a:t>
            </a:r>
            <a:r>
              <a:rPr lang="en-US" altLang="zh-TW" dirty="0" smtClean="0"/>
              <a:t> 1 in u</a:t>
            </a:r>
          </a:p>
          <a:p>
            <a:r>
              <a:rPr lang="pt-BR" altLang="zh-TW" dirty="0" smtClean="0"/>
              <a:t>find jth 1</a:t>
            </a:r>
            <a:endParaRPr lang="en-US" altLang="zh-TW" dirty="0" smtClean="0"/>
          </a:p>
          <a:p>
            <a:r>
              <a:rPr lang="en-US" altLang="zh-TW" dirty="0" smtClean="0"/>
              <a:t>0's counter is </a:t>
            </a:r>
          </a:p>
          <a:p>
            <a:pPr>
              <a:buNone/>
            </a:pPr>
            <a:r>
              <a:rPr lang="en-US" altLang="zh-TW" dirty="0" smtClean="0"/>
              <a:t>	|| q</a:t>
            </a:r>
            <a:r>
              <a:rPr lang="en-US" altLang="zh-TW" baseline="-25000" dirty="0" smtClean="0"/>
              <a:t>1 </a:t>
            </a:r>
            <a:r>
              <a:rPr lang="en-US" altLang="zh-TW" dirty="0" smtClean="0"/>
              <a:t>|| + </a:t>
            </a:r>
            <a:r>
              <a:rPr lang="el-GR" altLang="zh-TW" dirty="0" smtClean="0"/>
              <a:t>Σ</a:t>
            </a:r>
            <a:r>
              <a:rPr lang="en-US" altLang="zh-TW" dirty="0" smtClean="0"/>
              <a:t> </a:t>
            </a:r>
            <a:r>
              <a:rPr lang="en-US" altLang="zh-TW" baseline="30000" dirty="0" err="1" smtClean="0"/>
              <a:t>j</a:t>
            </a:r>
            <a:r>
              <a:rPr lang="en-US" altLang="zh-TW" baseline="-25000" dirty="0" err="1" smtClean="0"/>
              <a:t>i</a:t>
            </a:r>
            <a:r>
              <a:rPr lang="en-US" altLang="zh-TW" baseline="-25000" dirty="0" smtClean="0"/>
              <a:t>=2</a:t>
            </a:r>
            <a:r>
              <a:rPr lang="en-US" altLang="zh-TW" dirty="0" smtClean="0"/>
              <a:t> (|| </a:t>
            </a:r>
            <a:r>
              <a:rPr lang="en-US" altLang="zh-TW" dirty="0" err="1" smtClean="0"/>
              <a:t>qi</a:t>
            </a:r>
            <a:r>
              <a:rPr lang="en-US" altLang="zh-TW" dirty="0" smtClean="0"/>
              <a:t> || – || </a:t>
            </a:r>
            <a:r>
              <a:rPr lang="en-US" altLang="zh-TW" dirty="0" err="1" smtClean="0"/>
              <a:t>q</a:t>
            </a:r>
            <a:r>
              <a:rPr lang="en-US" altLang="zh-TW" baseline="-25000" dirty="0" err="1" smtClean="0"/>
              <a:t>i</a:t>
            </a:r>
            <a:r>
              <a:rPr lang="en-US" altLang="zh-TW" baseline="-25000" dirty="0" smtClean="0"/>
              <a:t>–l </a:t>
            </a:r>
            <a:r>
              <a:rPr lang="en-US" altLang="zh-TW" dirty="0" smtClean="0"/>
              <a:t>||) = || </a:t>
            </a:r>
            <a:r>
              <a:rPr lang="en-US" altLang="zh-TW" dirty="0" err="1" smtClean="0"/>
              <a:t>q</a:t>
            </a:r>
            <a:r>
              <a:rPr lang="en-US" altLang="zh-TW" baseline="-25000" dirty="0" err="1" smtClean="0"/>
              <a:t>j</a:t>
            </a:r>
            <a:r>
              <a:rPr lang="en-US" altLang="zh-TW" baseline="-25000" dirty="0" smtClean="0"/>
              <a:t> </a:t>
            </a:r>
            <a:r>
              <a:rPr lang="en-US" altLang="zh-TW" dirty="0" smtClean="0"/>
              <a:t>||</a:t>
            </a:r>
            <a:endParaRPr lang="zh-TW" altLang="en-US" dirty="0" smtClean="0"/>
          </a:p>
          <a:p>
            <a:endParaRPr lang="zh-TW"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8917</TotalTime>
  <Words>697</Words>
  <Application>Microsoft Office PowerPoint</Application>
  <PresentationFormat>如螢幕大小 (4:3)</PresentationFormat>
  <Paragraphs>62</Paragraphs>
  <Slides>12</Slides>
  <Notes>0</Notes>
  <HiddenSlides>0</HiddenSlides>
  <MMClips>0</MMClips>
  <ScaleCrop>false</ScaleCrop>
  <HeadingPairs>
    <vt:vector size="6" baseType="variant">
      <vt:variant>
        <vt:lpstr>使用字型</vt:lpstr>
      </vt:variant>
      <vt:variant>
        <vt:i4>7</vt:i4>
      </vt:variant>
      <vt:variant>
        <vt:lpstr>佈景主題</vt:lpstr>
      </vt:variant>
      <vt:variant>
        <vt:i4>7</vt:i4>
      </vt:variant>
      <vt:variant>
        <vt:lpstr>投影片標題</vt:lpstr>
      </vt:variant>
      <vt:variant>
        <vt:i4>12</vt:i4>
      </vt:variant>
    </vt:vector>
  </HeadingPairs>
  <TitlesOfParts>
    <vt:vector size="26" baseType="lpstr">
      <vt:lpstr>新細明體</vt:lpstr>
      <vt:lpstr>Arial</vt:lpstr>
      <vt:lpstr>Calibri</vt:lpstr>
      <vt:lpstr>DejaVu Sans</vt:lpstr>
      <vt:lpstr>Symbol</vt:lpstr>
      <vt:lpstr>Times New Roman</vt:lpstr>
      <vt:lpstr>Wingdings</vt:lpstr>
      <vt:lpstr>Office Theme</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cp:lastModifiedBy>
  <cp:revision>2102</cp:revision>
  <dcterms:created xsi:type="dcterms:W3CDTF">2020-09-11T11:13:53Z</dcterms:created>
  <dcterms:modified xsi:type="dcterms:W3CDTF">2021-08-03T06:56:14Z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