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520" r:id="rId4"/>
    <p:sldId id="521" r:id="rId5"/>
    <p:sldId id="260" r:id="rId6"/>
    <p:sldId id="403" r:id="rId7"/>
    <p:sldId id="516" r:id="rId8"/>
    <p:sldId id="522" r:id="rId9"/>
    <p:sldId id="526" r:id="rId10"/>
    <p:sldId id="527" r:id="rId11"/>
    <p:sldId id="524" r:id="rId12"/>
    <p:sldId id="534" r:id="rId13"/>
    <p:sldId id="523" r:id="rId14"/>
    <p:sldId id="517" r:id="rId15"/>
    <p:sldId id="513" r:id="rId16"/>
    <p:sldId id="518" r:id="rId17"/>
    <p:sldId id="528" r:id="rId18"/>
    <p:sldId id="529" r:id="rId19"/>
    <p:sldId id="532" r:id="rId20"/>
    <p:sldId id="531" r:id="rId21"/>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73300" autoAdjust="0"/>
  </p:normalViewPr>
  <p:slideViewPr>
    <p:cSldViewPr>
      <p:cViewPr varScale="1">
        <p:scale>
          <a:sx n="85" d="100"/>
          <a:sy n="85" d="100"/>
        </p:scale>
        <p:origin x="1267" y="72"/>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2021/8/3</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2234500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4</a:t>
            </a:fld>
            <a:endParaRPr lang="zh-TW" altLang="en-US"/>
          </a:p>
        </p:txBody>
      </p:sp>
    </p:spTree>
    <p:extLst>
      <p:ext uri="{BB962C8B-B14F-4D97-AF65-F5344CB8AC3E}">
        <p14:creationId xmlns:p14="http://schemas.microsoft.com/office/powerpoint/2010/main" val="488975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5</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2021/8/3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a:ea typeface="新細明體"/>
                <a:cs typeface="Times New Roman"/>
              </a:rPr>
              <a:t>Learning Without Human Expertise: A Case Study of</a:t>
            </a:r>
            <a:r>
              <a:rPr lang="zh-TW" altLang="en-US" sz="3200" dirty="0">
                <a:latin typeface="Times New Roman"/>
                <a:ea typeface="新細明體"/>
                <a:cs typeface="Times New Roman"/>
              </a:rPr>
              <a:t> </a:t>
            </a:r>
            <a:r>
              <a:rPr lang="en-US" altLang="zh-TW" sz="3200" dirty="0">
                <a:latin typeface="Times New Roman"/>
                <a:ea typeface="新細明體"/>
                <a:cs typeface="Times New Roman"/>
              </a:rPr>
              <a:t>the Double Dummy Bridge Problem</a:t>
            </a:r>
            <a:br>
              <a:rPr lang="en-US" altLang="zh-TW" sz="3200" dirty="0">
                <a:latin typeface="Times New Roman"/>
                <a:ea typeface="新細明體"/>
                <a:cs typeface="Times New Roman"/>
              </a:rPr>
            </a:br>
            <a:endParaRPr lang="en-US" altLang="zh-TW" sz="3200" dirty="0">
              <a:latin typeface="Times New Roman"/>
              <a:ea typeface="新細明體"/>
              <a:cs typeface="Times New Roman"/>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Krzysztof </a:t>
            </a:r>
            <a:r>
              <a:rPr lang="en-US" altLang="zh-TW" sz="2000" dirty="0" err="1">
                <a:solidFill>
                  <a:schemeClr val="tx1"/>
                </a:solidFill>
                <a:latin typeface="Times New Roman"/>
                <a:ea typeface="新細明體"/>
                <a:cs typeface="Times New Roman"/>
              </a:rPr>
              <a:t>Mossakowski</a:t>
            </a:r>
            <a:r>
              <a:rPr lang="en-US" altLang="zh-TW" sz="2000" dirty="0">
                <a:solidFill>
                  <a:schemeClr val="tx1"/>
                </a:solidFill>
                <a:latin typeface="Times New Roman"/>
                <a:ea typeface="新細明體"/>
                <a:cs typeface="Times New Roman"/>
              </a:rPr>
              <a:t> and Jacek </a:t>
            </a:r>
            <a:r>
              <a:rPr lang="en-US" altLang="zh-TW" sz="2000" dirty="0" err="1">
                <a:solidFill>
                  <a:schemeClr val="tx1"/>
                </a:solidFill>
                <a:latin typeface="Times New Roman"/>
                <a:ea typeface="新細明體"/>
                <a:cs typeface="Times New Roman"/>
              </a:rPr>
              <a:t>Man´dziuk</a:t>
            </a:r>
            <a:endParaRPr lang="en-US" altLang="zh-TW" sz="2000" dirty="0">
              <a:solidFill>
                <a:schemeClr val="tx1"/>
              </a:solidFill>
              <a:latin typeface="Times New Roman"/>
              <a:ea typeface="新細明體"/>
              <a:cs typeface="Times New Roman"/>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IEEE TRANSACTIONS ON NEURAL NETWORKS, VOL. 20, NO. 2, FEBRUARY 2009</a:t>
            </a:r>
          </a:p>
          <a:p>
            <a:pPr algn="ctr"/>
            <a:endParaRPr lang="en-US" altLang="zh-TW" sz="2200" dirty="0">
              <a:latin typeface="Times New Roman"/>
              <a:ea typeface="+mn-lt"/>
              <a:cs typeface="+mn-lt"/>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517677"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Aug. 3,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Artificial neural networks, trained only on sample deals, without presentation of any human knowledge or even rules of the game, are used to estimate the number of tricks to be taken by one pair of bridge players in the so-called double dummy bridge problem (DDBP). Four representations of a deal in the input layer were tested leading to significant differences in achieved results. In order to test networks’ abilities to extract knowledge from sample deals, experiments with additional inputs representing estimators of hand’s strength used by humans were also performed. The superior network trained solely on sample deals outperformed all other architectures, including those using explicit human knowledge of the game of bridge. Considering the suit contracts, this network, in a sample of 100 000 testing deals, output a perfect answer in 53.11% of the cases and only in 3.52% of them was mistaken by more than one trick. The respective figures for notrump contracts were equal to 37.80% and 16.36%.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The above results were compared with the ones obtained by 24 professional human bridge players—members of The Polish Bridge Union—on test sets of sizes between 27 and 864 deals per player (depending on player’s time availability). In case of suit contracts, the perfect answer was obtained in 53.06% of the testing deals for ten upper-classified players and in 48.66% of them, for the remaining 14 participants of the experiment. For the notrump contracts, the respective figures were equal to 73.68% and 60.78%. Except for checking the ability of neural networks in solving the DDBP, the other goal of this research was to analyze connection weights in trained networks in a quest for weights’ patterns that are explainable by experienced</a:t>
            </a:r>
            <a:r>
              <a:rPr lang="zh-TW" altLang="en-US" sz="2200" dirty="0">
                <a:latin typeface="Times New Roman"/>
                <a:ea typeface="+mn-lt"/>
                <a:cs typeface="+mn-lt"/>
              </a:rPr>
              <a:t> </a:t>
            </a:r>
            <a:r>
              <a:rPr lang="en-US" sz="2200" dirty="0">
                <a:latin typeface="Times New Roman"/>
                <a:ea typeface="+mn-lt"/>
                <a:cs typeface="+mn-lt"/>
              </a:rPr>
              <a:t>human</a:t>
            </a:r>
            <a:r>
              <a:rPr lang="zh-TW" altLang="en-US" sz="2200" dirty="0">
                <a:latin typeface="Times New Roman"/>
                <a:ea typeface="+mn-lt"/>
                <a:cs typeface="+mn-lt"/>
              </a:rPr>
              <a:t> </a:t>
            </a:r>
            <a:r>
              <a:rPr lang="en-US" sz="2200" dirty="0">
                <a:latin typeface="Times New Roman"/>
                <a:ea typeface="+mn-lt"/>
                <a:cs typeface="+mn-lt"/>
              </a:rPr>
              <a:t>bridge players. Quite surprisingly, several such patterns were discovered (e.g., preference for groups of honors, drawing special attention to Aces, favoring cards from a trump suit, gradual importance of cards in one suit—from two to the Ace, etc.). </a:t>
            </a:r>
          </a:p>
        </p:txBody>
      </p:sp>
    </p:spTree>
    <p:extLst>
      <p:ext uri="{BB962C8B-B14F-4D97-AF65-F5344CB8AC3E}">
        <p14:creationId xmlns:p14="http://schemas.microsoft.com/office/powerpoint/2010/main" val="10657981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Both the numerical figures and weight patterns are stable and repeatable in a sample of neural architectures (differing only by randomly chosen initial weights). In summary, the piece of research described in this paper provides a detailed comparison between various data representations of the DDBP solved by neural networks. On a more general note, this approach can be extended to a certain class of binary classification problems.</a:t>
            </a:r>
          </a:p>
        </p:txBody>
      </p:sp>
    </p:spTree>
    <p:extLst>
      <p:ext uri="{BB962C8B-B14F-4D97-AF65-F5344CB8AC3E}">
        <p14:creationId xmlns:p14="http://schemas.microsoft.com/office/powerpoint/2010/main" val="31817482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dirty="0">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a:bodyPr>
          <a:lstStyle/>
          <a:p>
            <a:pPr algn="l"/>
            <a:r>
              <a:rPr lang="en-US" sz="3600" dirty="0">
                <a:latin typeface="Times New Roman" panose="02020603050405020304" pitchFamily="18" charset="0"/>
                <a:cs typeface="Times New Roman" panose="02020603050405020304" pitchFamily="18" charset="0"/>
              </a:rPr>
              <a:t>Double Dummy Bridge Problem(DDBP)</a:t>
            </a:r>
          </a:p>
        </p:txBody>
      </p:sp>
      <p:pic>
        <p:nvPicPr>
          <p:cNvPr id="5" name="內容版面配置區 4">
            <a:extLst>
              <a:ext uri="{FF2B5EF4-FFF2-40B4-BE49-F238E27FC236}">
                <a16:creationId xmlns:a16="http://schemas.microsoft.com/office/drawing/2014/main" id="{CA5D26AE-2421-46D9-99A2-978A0A9C4E30}"/>
              </a:ext>
            </a:extLst>
          </p:cNvPr>
          <p:cNvPicPr>
            <a:picLocks noGrp="1" noChangeAspect="1"/>
          </p:cNvPicPr>
          <p:nvPr>
            <p:ph sz="half" idx="1"/>
          </p:nvPr>
        </p:nvPicPr>
        <p:blipFill>
          <a:blip r:embed="rId2"/>
          <a:stretch>
            <a:fillRect/>
          </a:stretch>
        </p:blipFill>
        <p:spPr>
          <a:xfrm>
            <a:off x="2182019" y="2229644"/>
            <a:ext cx="4781550" cy="3267075"/>
          </a:xfrm>
        </p:spPr>
      </p:pic>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Representation of a deal</a:t>
            </a:r>
            <a:endParaRPr lang="zh-TW" altLang="en-US" dirty="0"/>
          </a:p>
        </p:txBody>
      </p:sp>
      <p:sp>
        <p:nvSpPr>
          <p:cNvPr id="4" name="內容版面配置區 3">
            <a:extLst>
              <a:ext uri="{FF2B5EF4-FFF2-40B4-BE49-F238E27FC236}">
                <a16:creationId xmlns:a16="http://schemas.microsoft.com/office/drawing/2014/main" id="{C9D98CEA-482B-4D17-9476-262A267569FF}"/>
              </a:ext>
            </a:extLst>
          </p:cNvPr>
          <p:cNvSpPr>
            <a:spLocks noGrp="1"/>
          </p:cNvSpPr>
          <p:nvPr>
            <p:ph sz="half" idx="2"/>
          </p:nvPr>
        </p:nvSpPr>
        <p:spPr/>
        <p:txBody>
          <a:bodyPr/>
          <a:lstStyle/>
          <a:p>
            <a:endParaRPr lang="zh-TW" altLang="en-US"/>
          </a:p>
        </p:txBody>
      </p:sp>
      <p:sp>
        <p:nvSpPr>
          <p:cNvPr id="7" name="內容版面配置區 6">
            <a:extLst>
              <a:ext uri="{FF2B5EF4-FFF2-40B4-BE49-F238E27FC236}">
                <a16:creationId xmlns:a16="http://schemas.microsoft.com/office/drawing/2014/main" id="{AFCC1D11-4909-4995-B38E-990271B778CE}"/>
              </a:ext>
            </a:extLst>
          </p:cNvPr>
          <p:cNvSpPr>
            <a:spLocks noGrp="1"/>
          </p:cNvSpPr>
          <p:nvPr>
            <p:ph sz="half" idx="1"/>
          </p:nvPr>
        </p:nvSpPr>
        <p:spPr/>
        <p:txBody>
          <a:bodyPr/>
          <a:lstStyle/>
          <a:p>
            <a:endParaRPr lang="zh-TW" altLang="en-US" dirty="0"/>
          </a:p>
        </p:txBody>
      </p:sp>
      <p:pic>
        <p:nvPicPr>
          <p:cNvPr id="10" name="圖片 9">
            <a:extLst>
              <a:ext uri="{FF2B5EF4-FFF2-40B4-BE49-F238E27FC236}">
                <a16:creationId xmlns:a16="http://schemas.microsoft.com/office/drawing/2014/main" id="{433DBBC3-BACF-46C1-9381-503BD9E8FD5A}"/>
              </a:ext>
            </a:extLst>
          </p:cNvPr>
          <p:cNvPicPr>
            <a:picLocks noChangeAspect="1"/>
          </p:cNvPicPr>
          <p:nvPr/>
        </p:nvPicPr>
        <p:blipFill>
          <a:blip r:embed="rId2"/>
          <a:stretch>
            <a:fillRect/>
          </a:stretch>
        </p:blipFill>
        <p:spPr>
          <a:xfrm>
            <a:off x="0" y="1417638"/>
            <a:ext cx="9144000" cy="4799305"/>
          </a:xfrm>
          <a:prstGeom prst="rect">
            <a:avLst/>
          </a:prstGeom>
        </p:spPr>
      </p:pic>
    </p:spTree>
    <p:extLst>
      <p:ext uri="{BB962C8B-B14F-4D97-AF65-F5344CB8AC3E}">
        <p14:creationId xmlns:p14="http://schemas.microsoft.com/office/powerpoint/2010/main" val="36776784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Different representation</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2"/>
          <a:stretch>
            <a:fillRect/>
          </a:stretch>
        </p:blipFill>
        <p:spPr>
          <a:xfrm>
            <a:off x="5263" y="1600200"/>
            <a:ext cx="9144000" cy="3947686"/>
          </a:xfrm>
          <a:prstGeom prst="rect">
            <a:avLst/>
          </a:prstGeom>
        </p:spPr>
      </p:pic>
    </p:spTree>
    <p:extLst>
      <p:ext uri="{BB962C8B-B14F-4D97-AF65-F5344CB8AC3E}">
        <p14:creationId xmlns:p14="http://schemas.microsoft.com/office/powerpoint/2010/main" val="12300281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Different output neurons </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75204" y="1700808"/>
            <a:ext cx="6793592" cy="4421088"/>
          </a:xfrm>
          <a:prstGeom prst="rect">
            <a:avLst/>
          </a:prstGeom>
        </p:spPr>
      </p:pic>
    </p:spTree>
    <p:extLst>
      <p:ext uri="{BB962C8B-B14F-4D97-AF65-F5344CB8AC3E}">
        <p14:creationId xmlns:p14="http://schemas.microsoft.com/office/powerpoint/2010/main" val="20876345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Different hidden layers</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12752" y="1700808"/>
            <a:ext cx="6518495" cy="4421088"/>
          </a:xfrm>
          <a:prstGeom prst="rect">
            <a:avLst/>
          </a:prstGeom>
        </p:spPr>
      </p:pic>
    </p:spTree>
    <p:extLst>
      <p:ext uri="{BB962C8B-B14F-4D97-AF65-F5344CB8AC3E}">
        <p14:creationId xmlns:p14="http://schemas.microsoft.com/office/powerpoint/2010/main" val="18066780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9CCD71A-56B4-4216-AE6A-14B57EBEB30D}"/>
              </a:ext>
            </a:extLst>
          </p:cNvPr>
          <p:cNvSpPr>
            <a:spLocks noGrp="1"/>
          </p:cNvSpPr>
          <p:nvPr>
            <p:ph type="title"/>
          </p:nvPr>
        </p:nvSpPr>
        <p:spPr>
          <a:xfrm>
            <a:off x="457200" y="274638"/>
            <a:ext cx="8229600" cy="1143000"/>
          </a:xfrm>
        </p:spPr>
        <p:txBody>
          <a:bodyPr>
            <a:normAutofit/>
          </a:bodyPr>
          <a:lstStyle/>
          <a:p>
            <a:pPr algn="l"/>
            <a:r>
              <a:rPr lang="en-US" dirty="0">
                <a:latin typeface="Times New Roman" panose="02020603050405020304" pitchFamily="18" charset="0"/>
                <a:cs typeface="Times New Roman" panose="02020603050405020304" pitchFamily="18" charset="0"/>
              </a:rPr>
              <a:t>Weight analysis</a:t>
            </a:r>
          </a:p>
        </p:txBody>
      </p:sp>
      <p:pic>
        <p:nvPicPr>
          <p:cNvPr id="6" name="內容版面配置區 5">
            <a:extLst>
              <a:ext uri="{FF2B5EF4-FFF2-40B4-BE49-F238E27FC236}">
                <a16:creationId xmlns:a16="http://schemas.microsoft.com/office/drawing/2014/main" id="{ABFD9BC3-395F-462E-A90C-D983DEECDB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325" y="1340768"/>
            <a:ext cx="7899349" cy="5175026"/>
          </a:xfrm>
        </p:spPr>
      </p:pic>
    </p:spTree>
    <p:extLst>
      <p:ext uri="{BB962C8B-B14F-4D97-AF65-F5344CB8AC3E}">
        <p14:creationId xmlns:p14="http://schemas.microsoft.com/office/powerpoint/2010/main" val="32605582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9CCD71A-56B4-4216-AE6A-14B57EBEB30D}"/>
              </a:ext>
            </a:extLst>
          </p:cNvPr>
          <p:cNvSpPr>
            <a:spLocks noGrp="1"/>
          </p:cNvSpPr>
          <p:nvPr>
            <p:ph type="title"/>
          </p:nvPr>
        </p:nvSpPr>
        <p:spPr>
          <a:xfrm>
            <a:off x="457200" y="274638"/>
            <a:ext cx="8229600" cy="1143000"/>
          </a:xfrm>
        </p:spPr>
        <p:txBody>
          <a:bodyPr>
            <a:normAutofit/>
          </a:bodyPr>
          <a:lstStyle/>
          <a:p>
            <a:pPr algn="l"/>
            <a:r>
              <a:rPr lang="en-US" dirty="0">
                <a:latin typeface="Times New Roman" panose="02020603050405020304" pitchFamily="18" charset="0"/>
                <a:cs typeface="Times New Roman" panose="02020603050405020304" pitchFamily="18" charset="0"/>
              </a:rPr>
              <a:t>Weight analysis</a:t>
            </a:r>
          </a:p>
        </p:txBody>
      </p:sp>
      <p:pic>
        <p:nvPicPr>
          <p:cNvPr id="6" name="內容版面配置區 5">
            <a:extLst>
              <a:ext uri="{FF2B5EF4-FFF2-40B4-BE49-F238E27FC236}">
                <a16:creationId xmlns:a16="http://schemas.microsoft.com/office/drawing/2014/main" id="{ABFD9BC3-395F-462E-A90C-D983DEECDB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325" y="1340768"/>
            <a:ext cx="7899349" cy="5175026"/>
          </a:xfrm>
        </p:spPr>
      </p:pic>
      <p:sp>
        <p:nvSpPr>
          <p:cNvPr id="4" name="矩形 3">
            <a:extLst>
              <a:ext uri="{FF2B5EF4-FFF2-40B4-BE49-F238E27FC236}">
                <a16:creationId xmlns:a16="http://schemas.microsoft.com/office/drawing/2014/main" id="{1B8123D7-93BC-49F5-B53C-B1B97CBE98CA}"/>
              </a:ext>
            </a:extLst>
          </p:cNvPr>
          <p:cNvSpPr/>
          <p:nvPr/>
        </p:nvSpPr>
        <p:spPr>
          <a:xfrm>
            <a:off x="1403648" y="4725144"/>
            <a:ext cx="1728192"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529EC20-58A8-4068-872D-2DEEB6772173}"/>
              </a:ext>
            </a:extLst>
          </p:cNvPr>
          <p:cNvSpPr/>
          <p:nvPr/>
        </p:nvSpPr>
        <p:spPr>
          <a:xfrm>
            <a:off x="3131840" y="5517232"/>
            <a:ext cx="1728192"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4F19C6D2-D465-4F17-909F-AD7D123C8AAB}"/>
              </a:ext>
            </a:extLst>
          </p:cNvPr>
          <p:cNvSpPr/>
          <p:nvPr/>
        </p:nvSpPr>
        <p:spPr>
          <a:xfrm>
            <a:off x="4932040" y="4437112"/>
            <a:ext cx="1728192"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1190B706-D14C-4B75-AEF9-3DDB5A027DD0}"/>
              </a:ext>
            </a:extLst>
          </p:cNvPr>
          <p:cNvSpPr/>
          <p:nvPr/>
        </p:nvSpPr>
        <p:spPr>
          <a:xfrm>
            <a:off x="6660232" y="5373216"/>
            <a:ext cx="1800200"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700082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Point count methods</a:t>
            </a:r>
            <a:endParaRPr lang="zh-TW" altLang="en-US" dirty="0"/>
          </a:p>
        </p:txBody>
      </p:sp>
      <p:pic>
        <p:nvPicPr>
          <p:cNvPr id="6" name="內容版面配置區 5" descr="一張含有 桌 的圖片&#10;&#10;自動產生的描述">
            <a:extLst>
              <a:ext uri="{FF2B5EF4-FFF2-40B4-BE49-F238E27FC236}">
                <a16:creationId xmlns:a16="http://schemas.microsoft.com/office/drawing/2014/main" id="{D5E3A09F-5580-40E3-A84C-291C4B0B7FB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2794339"/>
            <a:ext cx="4038600" cy="2137684"/>
          </a:xfrm>
        </p:spPr>
      </p:pic>
      <p:pic>
        <p:nvPicPr>
          <p:cNvPr id="8" name="內容版面配置區 7" descr="一張含有 文字 的圖片&#10;&#10;自動產生的描述">
            <a:extLst>
              <a:ext uri="{FF2B5EF4-FFF2-40B4-BE49-F238E27FC236}">
                <a16:creationId xmlns:a16="http://schemas.microsoft.com/office/drawing/2014/main" id="{5755B9A4-211E-48F5-B59F-FCBDC58E5CB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947839"/>
            <a:ext cx="4038600" cy="1830684"/>
          </a:xfrm>
        </p:spPr>
      </p:pic>
    </p:spTree>
    <p:extLst>
      <p:ext uri="{BB962C8B-B14F-4D97-AF65-F5344CB8AC3E}">
        <p14:creationId xmlns:p14="http://schemas.microsoft.com/office/powerpoint/2010/main" val="6578920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descr="Distribution Point methods&#10;">
            <a:extLst>
              <a:ext uri="{FF2B5EF4-FFF2-40B4-BE49-F238E27FC236}">
                <a16:creationId xmlns:a16="http://schemas.microsoft.com/office/drawing/2014/main" id="{5E67FF01-B4C6-47FE-AA74-80A9B3DB2721}"/>
              </a:ext>
            </a:extLst>
          </p:cNvPr>
          <p:cNvSpPr>
            <a:spLocks noGrp="1"/>
          </p:cNvSpPr>
          <p:nvPr>
            <p:ph type="title"/>
          </p:nvPr>
        </p:nvSpPr>
        <p:spPr>
          <a:xfrm>
            <a:off x="457200" y="274638"/>
            <a:ext cx="8229600" cy="1143000"/>
          </a:xfrm>
        </p:spPr>
        <p:txBody>
          <a:bodyPr anchor="ctr">
            <a:normAutofit/>
          </a:bodyPr>
          <a:lstStyle/>
          <a:p>
            <a:pPr algn="l"/>
            <a:r>
              <a:rPr lang="en-US" altLang="zh-TW" dirty="0">
                <a:latin typeface="Times New Roman" panose="02020603050405020304" pitchFamily="18" charset="0"/>
                <a:cs typeface="Times New Roman" panose="02020603050405020304" pitchFamily="18" charset="0"/>
              </a:rPr>
              <a:t>Distribution Point methods</a:t>
            </a:r>
            <a:endParaRPr lang="zh-TW" altLang="en-US" dirty="0">
              <a:latin typeface="Times New Roman" panose="02020603050405020304" pitchFamily="18" charset="0"/>
              <a:cs typeface="Times New Roman" panose="02020603050405020304" pitchFamily="18" charset="0"/>
            </a:endParaRPr>
          </a:p>
        </p:txBody>
      </p:sp>
      <p:pic>
        <p:nvPicPr>
          <p:cNvPr id="10" name="內容版面配置區 9" descr="一張含有 桌 的圖片&#10;&#10;自動產生的描述">
            <a:extLst>
              <a:ext uri="{FF2B5EF4-FFF2-40B4-BE49-F238E27FC236}">
                <a16:creationId xmlns:a16="http://schemas.microsoft.com/office/drawing/2014/main" id="{29E24150-939E-4DD3-8B9E-38295EF4D3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3768" y="1201385"/>
            <a:ext cx="4569319" cy="5641135"/>
          </a:xfrm>
          <a:noFill/>
        </p:spPr>
      </p:pic>
    </p:spTree>
    <p:extLst>
      <p:ext uri="{BB962C8B-B14F-4D97-AF65-F5344CB8AC3E}">
        <p14:creationId xmlns:p14="http://schemas.microsoft.com/office/powerpoint/2010/main" val="11876074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fontScale="90000"/>
          </a:bodyPr>
          <a:lstStyle/>
          <a:p>
            <a:pPr algn="l"/>
            <a:r>
              <a:rPr lang="en-US" altLang="zh-TW" dirty="0">
                <a:latin typeface="Times New Roman" panose="02020603050405020304" pitchFamily="18" charset="0"/>
                <a:cs typeface="Times New Roman" panose="02020603050405020304" pitchFamily="18" charset="0"/>
              </a:rPr>
              <a:t>With and without human knowledge </a:t>
            </a:r>
            <a:endParaRPr lang="en-US" dirty="0">
              <a:latin typeface="Times New Roman" panose="02020603050405020304" pitchFamily="18" charset="0"/>
              <a:cs typeface="Times New Roman" panose="02020603050405020304" pitchFamily="18" charset="0"/>
            </a:endParaRPr>
          </a:p>
        </p:txBody>
      </p:sp>
      <p:pic>
        <p:nvPicPr>
          <p:cNvPr id="4" name="內容版面配置區 3" descr="一張含有 桌 的圖片&#10;&#10;自動產生的描述">
            <a:extLst>
              <a:ext uri="{FF2B5EF4-FFF2-40B4-BE49-F238E27FC236}">
                <a16:creationId xmlns:a16="http://schemas.microsoft.com/office/drawing/2014/main" id="{797385FB-90AB-4EA8-B4DE-D2F32BA6B5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3696" y="1600200"/>
            <a:ext cx="7616608" cy="4525963"/>
          </a:xfrm>
        </p:spPr>
      </p:pic>
    </p:spTree>
    <p:extLst>
      <p:ext uri="{BB962C8B-B14F-4D97-AF65-F5344CB8AC3E}">
        <p14:creationId xmlns:p14="http://schemas.microsoft.com/office/powerpoint/2010/main" val="38899730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fontScale="90000"/>
          </a:bodyPr>
          <a:lstStyle/>
          <a:p>
            <a:pPr algn="l"/>
            <a:r>
              <a:rPr lang="en-US" dirty="0">
                <a:latin typeface="Times New Roman" panose="02020603050405020304" pitchFamily="18" charset="0"/>
                <a:cs typeface="Times New Roman" panose="02020603050405020304" pitchFamily="18" charset="0"/>
              </a:rPr>
              <a:t>Comparison with human bridge players</a:t>
            </a:r>
          </a:p>
        </p:txBody>
      </p:sp>
      <p:pic>
        <p:nvPicPr>
          <p:cNvPr id="4" name="內容版面配置區 3">
            <a:extLst>
              <a:ext uri="{FF2B5EF4-FFF2-40B4-BE49-F238E27FC236}">
                <a16:creationId xmlns:a16="http://schemas.microsoft.com/office/drawing/2014/main" id="{797385FB-90AB-4EA8-B4DE-D2F32BA6B5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0" y="5157192"/>
            <a:ext cx="9145016" cy="1265547"/>
          </a:xfrm>
        </p:spPr>
      </p:pic>
      <p:sp>
        <p:nvSpPr>
          <p:cNvPr id="3" name="文字方塊 2">
            <a:extLst>
              <a:ext uri="{FF2B5EF4-FFF2-40B4-BE49-F238E27FC236}">
                <a16:creationId xmlns:a16="http://schemas.microsoft.com/office/drawing/2014/main" id="{BD500FF9-069D-4ADF-92D7-B9C5C7A1D8BE}"/>
              </a:ext>
            </a:extLst>
          </p:cNvPr>
          <p:cNvSpPr txBox="1"/>
          <p:nvPr/>
        </p:nvSpPr>
        <p:spPr>
          <a:xfrm>
            <a:off x="611560" y="1653227"/>
            <a:ext cx="7560840" cy="3539430"/>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Roman"/>
              </a:rPr>
              <a:t>DDBP-4:</a:t>
            </a:r>
            <a:r>
              <a:rPr lang="zh-TW" altLang="en-US" sz="2800" dirty="0">
                <a:latin typeface="Times-Roman"/>
              </a:rPr>
              <a:t> </a:t>
            </a:r>
            <a:r>
              <a:rPr lang="en-US" altLang="zh-TW" sz="2800" dirty="0">
                <a:latin typeface="Times-Roman"/>
              </a:rPr>
              <a:t>fully uncovered version</a:t>
            </a:r>
            <a:r>
              <a:rPr lang="zh-TW" altLang="en-US" sz="2800" dirty="0">
                <a:latin typeface="Times-Roman"/>
              </a:rPr>
              <a:t> </a:t>
            </a:r>
            <a:r>
              <a:rPr lang="en-US" altLang="zh-TW" sz="2800" dirty="0">
                <a:latin typeface="Times-Roman"/>
              </a:rPr>
              <a:t>of the problem</a:t>
            </a:r>
          </a:p>
          <a:p>
            <a:pPr marL="285750" indent="-285750">
              <a:buFont typeface="Arial" panose="020B0604020202020204" pitchFamily="34" charset="0"/>
              <a:buChar char="•"/>
            </a:pPr>
            <a:r>
              <a:rPr lang="en-US" altLang="zh-TW" sz="2800" dirty="0">
                <a:latin typeface="Times-Roman"/>
              </a:rPr>
              <a:t>DDBP-2:opponents’ hands being hidden</a:t>
            </a:r>
          </a:p>
          <a:p>
            <a:pPr marL="285750" indent="-285750">
              <a:buFont typeface="Arial" panose="020B0604020202020204" pitchFamily="34" charset="0"/>
              <a:buChar char="•"/>
            </a:pPr>
            <a:r>
              <a:rPr lang="en-US" altLang="zh-TW" sz="2800" dirty="0">
                <a:latin typeface="Times-Roman"/>
              </a:rPr>
              <a:t>Group1:four Grand Masters, three International Masters, and three Masters, playing in the First or the Second Polish Bridge League</a:t>
            </a:r>
          </a:p>
          <a:p>
            <a:pPr marL="285750" indent="-285750">
              <a:buFont typeface="Arial" panose="020B0604020202020204" pitchFamily="34" charset="0"/>
              <a:buChar char="•"/>
            </a:pPr>
            <a:r>
              <a:rPr lang="en-US" altLang="zh-TW" sz="2800" dirty="0">
                <a:latin typeface="Times-Roman"/>
              </a:rPr>
              <a:t>Group2:the lower ranked bridge teams, each having a professional bridge title</a:t>
            </a:r>
          </a:p>
          <a:p>
            <a:pPr marL="285750" indent="-285750">
              <a:buFont typeface="Arial" panose="020B0604020202020204" pitchFamily="34" charset="0"/>
              <a:buChar char="•"/>
            </a:pPr>
            <a:r>
              <a:rPr lang="en-US" altLang="zh-TW" sz="2800" dirty="0">
                <a:latin typeface="Times-Roman"/>
              </a:rPr>
              <a:t>27~864 instances / player</a:t>
            </a:r>
            <a:endParaRPr lang="zh-TW" altLang="en-US" sz="2800" dirty="0">
              <a:latin typeface="Times-Roman"/>
            </a:endParaRPr>
          </a:p>
        </p:txBody>
      </p:sp>
    </p:spTree>
    <p:extLst>
      <p:ext uri="{BB962C8B-B14F-4D97-AF65-F5344CB8AC3E}">
        <p14:creationId xmlns:p14="http://schemas.microsoft.com/office/powerpoint/2010/main" val="35602475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AC6FC66-1E24-48BE-9272-137029900B3C}"/>
              </a:ext>
            </a:extLst>
          </p:cNvPr>
          <p:cNvSpPr>
            <a:spLocks noGrp="1"/>
          </p:cNvSpPr>
          <p:nvPr>
            <p:ph type="title"/>
          </p:nvPr>
        </p:nvSpPr>
        <p:spPr>
          <a:xfrm>
            <a:off x="457200" y="274638"/>
            <a:ext cx="8229600" cy="1143000"/>
          </a:xfrm>
        </p:spPr>
        <p:txBody>
          <a:bodyPr/>
          <a:lstStyle/>
          <a:p>
            <a:pPr algn="l"/>
            <a:r>
              <a:rPr lang="en-US" dirty="0">
                <a:latin typeface="Times New Roman" panose="02020603050405020304" pitchFamily="18" charset="0"/>
                <a:cs typeface="Times New Roman" panose="02020603050405020304" pitchFamily="18" charset="0"/>
              </a:rPr>
              <a:t>Neural network vs Players</a:t>
            </a:r>
          </a:p>
        </p:txBody>
      </p:sp>
      <p:pic>
        <p:nvPicPr>
          <p:cNvPr id="6" name="內容版面配置區 5" descr="一張含有 文字, 收據, 螢幕擷取畫面 的圖片&#10;&#10;自動產生的描述">
            <a:extLst>
              <a:ext uri="{FF2B5EF4-FFF2-40B4-BE49-F238E27FC236}">
                <a16:creationId xmlns:a16="http://schemas.microsoft.com/office/drawing/2014/main" id="{2626F1DA-B3F5-46D9-8F50-92EAD1FBB7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59129" y="1885620"/>
            <a:ext cx="4625741" cy="3955123"/>
          </a:xfrm>
        </p:spPr>
      </p:pic>
    </p:spTree>
    <p:extLst>
      <p:ext uri="{BB962C8B-B14F-4D97-AF65-F5344CB8AC3E}">
        <p14:creationId xmlns:p14="http://schemas.microsoft.com/office/powerpoint/2010/main" val="31436155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AC6FC66-1E24-48BE-9272-137029900B3C}"/>
              </a:ext>
            </a:extLst>
          </p:cNvPr>
          <p:cNvSpPr>
            <a:spLocks noGrp="1"/>
          </p:cNvSpPr>
          <p:nvPr>
            <p:ph type="title"/>
          </p:nvPr>
        </p:nvSpPr>
        <p:spPr>
          <a:xfrm>
            <a:off x="457200" y="274638"/>
            <a:ext cx="8229600" cy="1143000"/>
          </a:xfrm>
        </p:spPr>
        <p:txBody>
          <a:bodyPr/>
          <a:lstStyle/>
          <a:p>
            <a:pPr algn="l"/>
            <a:r>
              <a:rPr lang="en-US" dirty="0">
                <a:latin typeface="Times New Roman" panose="02020603050405020304" pitchFamily="18" charset="0"/>
                <a:cs typeface="Times New Roman" panose="02020603050405020304" pitchFamily="18" charset="0"/>
              </a:rPr>
              <a:t>Neural network vs Players</a:t>
            </a:r>
          </a:p>
        </p:txBody>
      </p:sp>
      <p:pic>
        <p:nvPicPr>
          <p:cNvPr id="6" name="內容版面配置區 5">
            <a:extLst>
              <a:ext uri="{FF2B5EF4-FFF2-40B4-BE49-F238E27FC236}">
                <a16:creationId xmlns:a16="http://schemas.microsoft.com/office/drawing/2014/main" id="{2626F1DA-B3F5-46D9-8F50-92EAD1FBB7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259129" y="1910759"/>
            <a:ext cx="4625741" cy="3904845"/>
          </a:xfrm>
        </p:spPr>
      </p:pic>
    </p:spTree>
    <p:extLst>
      <p:ext uri="{BB962C8B-B14F-4D97-AF65-F5344CB8AC3E}">
        <p14:creationId xmlns:p14="http://schemas.microsoft.com/office/powerpoint/2010/main" val="26861551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AC6FC66-1E24-48BE-9272-137029900B3C}"/>
              </a:ext>
            </a:extLst>
          </p:cNvPr>
          <p:cNvSpPr>
            <a:spLocks noGrp="1"/>
          </p:cNvSpPr>
          <p:nvPr>
            <p:ph type="title"/>
          </p:nvPr>
        </p:nvSpPr>
        <p:spPr>
          <a:xfrm>
            <a:off x="457200" y="274638"/>
            <a:ext cx="8229600" cy="1143000"/>
          </a:xfrm>
        </p:spPr>
        <p:txBody>
          <a:bodyPr/>
          <a:lstStyle/>
          <a:p>
            <a:pPr algn="l"/>
            <a:r>
              <a:rPr lang="en-US" dirty="0">
                <a:latin typeface="Times New Roman" panose="02020603050405020304" pitchFamily="18" charset="0"/>
                <a:cs typeface="Times New Roman" panose="02020603050405020304" pitchFamily="18" charset="0"/>
              </a:rPr>
              <a:t>Neural network vs Players</a:t>
            </a:r>
          </a:p>
        </p:txBody>
      </p:sp>
      <p:pic>
        <p:nvPicPr>
          <p:cNvPr id="6" name="內容版面配置區 5">
            <a:extLst>
              <a:ext uri="{FF2B5EF4-FFF2-40B4-BE49-F238E27FC236}">
                <a16:creationId xmlns:a16="http://schemas.microsoft.com/office/drawing/2014/main" id="{2626F1DA-B3F5-46D9-8F50-92EAD1FBB7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283473" y="1910759"/>
            <a:ext cx="4577052" cy="3904845"/>
          </a:xfrm>
        </p:spPr>
      </p:pic>
    </p:spTree>
    <p:extLst>
      <p:ext uri="{BB962C8B-B14F-4D97-AF65-F5344CB8AC3E}">
        <p14:creationId xmlns:p14="http://schemas.microsoft.com/office/powerpoint/2010/main" val="25812838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AC6FC66-1E24-48BE-9272-137029900B3C}"/>
              </a:ext>
            </a:extLst>
          </p:cNvPr>
          <p:cNvSpPr>
            <a:spLocks noGrp="1"/>
          </p:cNvSpPr>
          <p:nvPr>
            <p:ph type="title"/>
          </p:nvPr>
        </p:nvSpPr>
        <p:spPr>
          <a:xfrm>
            <a:off x="457200" y="274638"/>
            <a:ext cx="8229600" cy="1143000"/>
          </a:xfrm>
        </p:spPr>
        <p:txBody>
          <a:bodyPr/>
          <a:lstStyle/>
          <a:p>
            <a:pPr algn="l"/>
            <a:r>
              <a:rPr lang="en-US" dirty="0">
                <a:latin typeface="Times New Roman" panose="02020603050405020304" pitchFamily="18" charset="0"/>
                <a:cs typeface="Times New Roman" panose="02020603050405020304" pitchFamily="18" charset="0"/>
              </a:rPr>
              <a:t>Neural network vs Players</a:t>
            </a:r>
          </a:p>
        </p:txBody>
      </p:sp>
      <p:pic>
        <p:nvPicPr>
          <p:cNvPr id="6" name="內容版面配置區 5">
            <a:extLst>
              <a:ext uri="{FF2B5EF4-FFF2-40B4-BE49-F238E27FC236}">
                <a16:creationId xmlns:a16="http://schemas.microsoft.com/office/drawing/2014/main" id="{2626F1DA-B3F5-46D9-8F50-92EAD1FBB7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475077" y="1910759"/>
            <a:ext cx="4193843" cy="3904845"/>
          </a:xfrm>
        </p:spPr>
      </p:pic>
    </p:spTree>
    <p:extLst>
      <p:ext uri="{BB962C8B-B14F-4D97-AF65-F5344CB8AC3E}">
        <p14:creationId xmlns:p14="http://schemas.microsoft.com/office/powerpoint/2010/main" val="1835603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9239</TotalTime>
  <Words>631</Words>
  <Application>Microsoft Office PowerPoint</Application>
  <PresentationFormat>如螢幕大小 (4:3)</PresentationFormat>
  <Paragraphs>39</Paragraphs>
  <Slides>20</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20</vt:i4>
      </vt:variant>
    </vt:vector>
  </HeadingPairs>
  <TitlesOfParts>
    <vt:vector size="25" baseType="lpstr">
      <vt:lpstr>Times-Roman</vt:lpstr>
      <vt:lpstr>Arial</vt:lpstr>
      <vt:lpstr>Calibri</vt:lpstr>
      <vt:lpstr>Times New Roman</vt:lpstr>
      <vt:lpstr>Office 佈景主題</vt:lpstr>
      <vt:lpstr>Learning Without Human Expertise: A Case Study of the Double Dummy Bridge Problem </vt:lpstr>
      <vt:lpstr>Abstract</vt:lpstr>
      <vt:lpstr>Abstract</vt:lpstr>
      <vt:lpstr>Abstract</vt:lpstr>
      <vt:lpstr>Introduction</vt:lpstr>
      <vt:lpstr>Double Dummy Bridge Problem(DDBP)</vt:lpstr>
      <vt:lpstr>Representation of a deal</vt:lpstr>
      <vt:lpstr>Different representation</vt:lpstr>
      <vt:lpstr>Different output neurons </vt:lpstr>
      <vt:lpstr>Different hidden layers</vt:lpstr>
      <vt:lpstr>Weight analysis</vt:lpstr>
      <vt:lpstr>Weight analysis</vt:lpstr>
      <vt:lpstr>Point count methods</vt:lpstr>
      <vt:lpstr>Distribution Point methods</vt:lpstr>
      <vt:lpstr>With and without human knowledge </vt:lpstr>
      <vt:lpstr>Comparison with human bridge players</vt:lpstr>
      <vt:lpstr>Neural network vs Players</vt:lpstr>
      <vt:lpstr>Neural network vs Players</vt:lpstr>
      <vt:lpstr>Neural network vs Players</vt:lpstr>
      <vt:lpstr>Neural network vs Players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361</cp:revision>
  <dcterms:created xsi:type="dcterms:W3CDTF">2020-10-30T08:30:28Z</dcterms:created>
  <dcterms:modified xsi:type="dcterms:W3CDTF">2021-08-03T07:08:01Z</dcterms:modified>
</cp:coreProperties>
</file>