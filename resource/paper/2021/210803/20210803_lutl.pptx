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4"/>
  </p:notesMasterIdLst>
  <p:sldIdLst>
    <p:sldId id="256" r:id="rId2"/>
    <p:sldId id="257" r:id="rId3"/>
    <p:sldId id="258" r:id="rId4"/>
    <p:sldId id="261" r:id="rId5"/>
    <p:sldId id="262" r:id="rId6"/>
    <p:sldId id="280" r:id="rId7"/>
    <p:sldId id="263" r:id="rId8"/>
    <p:sldId id="265" r:id="rId9"/>
    <p:sldId id="266" r:id="rId10"/>
    <p:sldId id="267" r:id="rId11"/>
    <p:sldId id="271" r:id="rId12"/>
    <p:sldId id="268" r:id="rId13"/>
    <p:sldId id="272" r:id="rId14"/>
    <p:sldId id="269" r:id="rId15"/>
    <p:sldId id="273" r:id="rId16"/>
    <p:sldId id="259" r:id="rId17"/>
    <p:sldId id="279" r:id="rId18"/>
    <p:sldId id="278" r:id="rId19"/>
    <p:sldId id="260" r:id="rId20"/>
    <p:sldId id="264" r:id="rId21"/>
    <p:sldId id="277" r:id="rId22"/>
    <p:sldId id="274"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856"/>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2021/8/2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李仁宗（華梵資管）、蘇順豐（台科電機）、莊鎮嘉（宜大電機）、劉冠宏（台科電機）</a:t>
            </a:r>
          </a:p>
        </p:txBody>
      </p:sp>
      <p:sp>
        <p:nvSpPr>
          <p:cNvPr id="4" name="投影片編號版面配置區 3"/>
          <p:cNvSpPr>
            <a:spLocks noGrp="1"/>
          </p:cNvSpPr>
          <p:nvPr>
            <p:ph type="sldNum" sz="quarter" idx="5"/>
          </p:nvPr>
        </p:nvSpPr>
        <p:spPr/>
        <p:txBody>
          <a:bodyPr/>
          <a:lstStyle/>
          <a:p>
            <a:fld id="{7343E2FF-3FFC-0943-9A0D-A0B13F46FECA}" type="slidenum">
              <a:rPr kumimoji="1" lang="zh-TW" altLang="en-US" smtClean="0"/>
              <a:t>0</a:t>
            </a:fld>
            <a:endParaRPr kumimoji="1" lang="zh-TW" altLang="en-US"/>
          </a:p>
        </p:txBody>
      </p:sp>
    </p:spTree>
    <p:extLst>
      <p:ext uri="{BB962C8B-B14F-4D97-AF65-F5344CB8AC3E}">
        <p14:creationId xmlns:p14="http://schemas.microsoft.com/office/powerpoint/2010/main" val="410053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2021/8/2</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2021/8/2</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2021/8/2</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2021/8/2</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2021/8/2</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2021/8/2</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2021/8/2</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1150089" y="1122363"/>
            <a:ext cx="9891823" cy="2387600"/>
          </a:xfrm>
        </p:spPr>
        <p:txBody>
          <a:bodyPr>
            <a:normAutofit fontScale="90000"/>
          </a:bodyPr>
          <a:lstStyle/>
          <a:p>
            <a:r>
              <a:rPr kumimoji="1" lang="en-US" altLang="zh-TW" dirty="0"/>
              <a:t>Genetic Algorithm with Ant Colony Optimization (GA-ACO) for Multiple Sequence Alignment</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err="1">
                <a:latin typeface="Times New Roman" panose="02020603050405020304" pitchFamily="18" charset="0"/>
                <a:cs typeface="Times New Roman" panose="02020603050405020304" pitchFamily="18" charset="0"/>
              </a:rPr>
              <a:t>Zne</a:t>
            </a:r>
            <a:r>
              <a:rPr kumimoji="1" lang="en-US" altLang="zh-TW" dirty="0">
                <a:latin typeface="Times New Roman" panose="02020603050405020304" pitchFamily="18" charset="0"/>
                <a:cs typeface="Times New Roman" panose="02020603050405020304" pitchFamily="18" charset="0"/>
              </a:rPr>
              <a:t>-Jung Lee, Shun-Feng </a:t>
            </a:r>
            <a:r>
              <a:rPr kumimoji="1" lang="en-US" altLang="zh-TW" dirty="0" err="1">
                <a:latin typeface="Times New Roman" panose="02020603050405020304" pitchFamily="18" charset="0"/>
                <a:cs typeface="Times New Roman" panose="02020603050405020304" pitchFamily="18" charset="0"/>
              </a:rPr>
              <a:t>Su</a:t>
            </a:r>
            <a:r>
              <a:rPr kumimoji="1" lang="en-US" altLang="zh-TW" dirty="0">
                <a:latin typeface="Times New Roman" panose="02020603050405020304" pitchFamily="18" charset="0"/>
                <a:cs typeface="Times New Roman" panose="02020603050405020304" pitchFamily="18" charset="0"/>
              </a:rPr>
              <a:t>, Chen-Chia Chuang, </a:t>
            </a:r>
            <a:r>
              <a:rPr kumimoji="1" lang="en-US" altLang="zh-TW" dirty="0" err="1">
                <a:latin typeface="Times New Roman" panose="02020603050405020304" pitchFamily="18" charset="0"/>
                <a:cs typeface="Times New Roman" panose="02020603050405020304" pitchFamily="18" charset="0"/>
              </a:rPr>
              <a:t>Kuan</a:t>
            </a:r>
            <a:r>
              <a:rPr kumimoji="1" lang="en-US" altLang="zh-TW" dirty="0">
                <a:latin typeface="Times New Roman" panose="02020603050405020304" pitchFamily="18" charset="0"/>
                <a:cs typeface="Times New Roman" panose="02020603050405020304" pitchFamily="18" charset="0"/>
              </a:rPr>
              <a:t>-Hung Liu</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Applied Soft Computing,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2008</a:t>
            </a:r>
          </a:p>
          <a:p>
            <a:r>
              <a:rPr kumimoji="1" lang="en" altLang="zh-TW" dirty="0">
                <a:latin typeface="Times New Roman" panose="02020603050405020304" pitchFamily="18" charset="0"/>
                <a:cs typeface="Times New Roman" panose="02020603050405020304" pitchFamily="18" charset="0"/>
              </a:rPr>
              <a:t>Volume 8, Issue 1, pp. 55-78</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Aug. 3,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fontScale="92500" lnSpcReduction="10000"/>
          </a:bodyPr>
          <a:lstStyle/>
          <a:p>
            <a:pPr marL="0" indent="0" algn="just">
              <a:buNone/>
            </a:pPr>
            <a:r>
              <a:rPr kumimoji="1" lang="en-US" altLang="zh-TW" dirty="0">
                <a:latin typeface="Times New Roman" panose="02020603050405020304" pitchFamily="18" charset="0"/>
                <a:cs typeface="Times New Roman" panose="02020603050405020304" pitchFamily="18" charset="0"/>
              </a:rPr>
              <a:t>Multiple sequence alignment, known as NP-complete problem, is among the most important and challenging tasks in computational biology. For multiple sequence alignment, it is difficult to solve this type of problems directly and always results in exponential complexity. In this paper, we present a novel algorithm of </a:t>
            </a:r>
            <a:r>
              <a:rPr kumimoji="1" lang="en-US" altLang="zh-TW" b="1" dirty="0">
                <a:latin typeface="Times New Roman" panose="02020603050405020304" pitchFamily="18" charset="0"/>
                <a:cs typeface="Times New Roman" panose="02020603050405020304" pitchFamily="18" charset="0"/>
              </a:rPr>
              <a:t>genetic algorithm with ant colony optimization </a:t>
            </a:r>
            <a:r>
              <a:rPr kumimoji="1" lang="en-US" altLang="zh-TW" dirty="0">
                <a:latin typeface="Times New Roman" panose="02020603050405020304" pitchFamily="18" charset="0"/>
                <a:cs typeface="Times New Roman" panose="02020603050405020304" pitchFamily="18" charset="0"/>
              </a:rPr>
              <a:t>for multiple sequence alignment. The proposed </a:t>
            </a:r>
            <a:r>
              <a:rPr kumimoji="1" lang="en-US" altLang="zh-TW" b="1" dirty="0">
                <a:latin typeface="Times New Roman" panose="02020603050405020304" pitchFamily="18" charset="0"/>
                <a:cs typeface="Times New Roman" panose="02020603050405020304" pitchFamily="18" charset="0"/>
              </a:rPr>
              <a:t>GA-ACO</a:t>
            </a:r>
            <a:r>
              <a:rPr kumimoji="1" lang="en-US" altLang="zh-TW" dirty="0">
                <a:latin typeface="Times New Roman" panose="02020603050405020304" pitchFamily="18" charset="0"/>
                <a:cs typeface="Times New Roman" panose="02020603050405020304" pitchFamily="18" charset="0"/>
              </a:rPr>
              <a:t> algorithm is to enhance the performance of genetic algorithm (GA) by incorporating local search, ant colony optimization (ACO), for multiple sequence alignment. In the proposed GA-ACO algorithm, genetic algorithm is conducted to provide the diversity of alignments. Thereafter, ant colony optimization is performed to move out of local optima. From simulation results, it is shown that the proposed GA-ACO algorithm has superior performance when compared to other existing algorithms.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GA-ACO algorithm</a:t>
            </a:r>
          </a:p>
          <a:p>
            <a:pPr lvl="1"/>
            <a:r>
              <a:rPr kumimoji="1" lang="en-US" altLang="zh-TW" dirty="0">
                <a:latin typeface="Times New Roman" panose="02020603050405020304" pitchFamily="18" charset="0"/>
                <a:cs typeface="Times New Roman" panose="02020603050405020304" pitchFamily="18" charset="0"/>
              </a:rPr>
              <a:t>Initialization</a:t>
            </a:r>
          </a:p>
          <a:p>
            <a:pPr lvl="1"/>
            <a:r>
              <a:rPr kumimoji="1" lang="en-US" altLang="zh-TW" dirty="0">
                <a:latin typeface="Times New Roman" panose="02020603050405020304" pitchFamily="18" charset="0"/>
                <a:cs typeface="Times New Roman" panose="02020603050405020304" pitchFamily="18" charset="0"/>
              </a:rPr>
              <a:t>Sexual reproduction</a:t>
            </a:r>
          </a:p>
          <a:p>
            <a:pPr lvl="1"/>
            <a:r>
              <a:rPr kumimoji="1" lang="en-US" altLang="zh-TW" dirty="0">
                <a:latin typeface="Times New Roman" panose="02020603050405020304" pitchFamily="18" charset="0"/>
                <a:cs typeface="Times New Roman" panose="02020603050405020304" pitchFamily="18" charset="0"/>
              </a:rPr>
              <a:t>Mutation</a:t>
            </a:r>
          </a:p>
          <a:p>
            <a:pPr lvl="1"/>
            <a:r>
              <a:rPr kumimoji="1" lang="en-US" altLang="zh-TW" dirty="0">
                <a:latin typeface="Times New Roman" panose="02020603050405020304" pitchFamily="18" charset="0"/>
                <a:cs typeface="Times New Roman" panose="02020603050405020304" pitchFamily="18" charset="0"/>
              </a:rPr>
              <a:t>Selection</a:t>
            </a:r>
          </a:p>
          <a:p>
            <a:pPr lvl="1"/>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Ant colony optimization (ACO)</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1885591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GA-ACO</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Initialization</a:t>
            </a:r>
          </a:p>
          <a:p>
            <a:r>
              <a:rPr kumimoji="1" lang="en-US" altLang="zh-TW" dirty="0">
                <a:latin typeface="Times New Roman" panose="02020603050405020304" pitchFamily="18" charset="0"/>
                <a:cs typeface="Times New Roman" panose="02020603050405020304" pitchFamily="18" charset="0"/>
              </a:rPr>
              <a:t>Sexual reproduction</a:t>
            </a:r>
          </a:p>
          <a:p>
            <a:r>
              <a:rPr kumimoji="1" lang="en-US" altLang="zh-TW" dirty="0">
                <a:latin typeface="Times New Roman" panose="02020603050405020304" pitchFamily="18" charset="0"/>
                <a:cs typeface="Times New Roman" panose="02020603050405020304" pitchFamily="18" charset="0"/>
              </a:rPr>
              <a:t>Mutation</a:t>
            </a:r>
          </a:p>
          <a:p>
            <a:r>
              <a:rPr kumimoji="1" lang="en-US" altLang="zh-TW" dirty="0">
                <a:latin typeface="Times New Roman" panose="02020603050405020304" pitchFamily="18" charset="0"/>
                <a:cs typeface="Times New Roman" panose="02020603050405020304" pitchFamily="18" charset="0"/>
              </a:rPr>
              <a:t>Selection</a:t>
            </a:r>
            <a:endParaRPr kumimoji="1" lang="zh-TW" altLang="en-US"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pic>
        <p:nvPicPr>
          <p:cNvPr id="4" name="圖片 3">
            <a:extLst>
              <a:ext uri="{FF2B5EF4-FFF2-40B4-BE49-F238E27FC236}">
                <a16:creationId xmlns:a16="http://schemas.microsoft.com/office/drawing/2014/main" id="{75AB0BB2-7870-6B4F-A6AF-5A59BD02AB18}"/>
              </a:ext>
            </a:extLst>
          </p:cNvPr>
          <p:cNvPicPr>
            <a:picLocks noChangeAspect="1"/>
          </p:cNvPicPr>
          <p:nvPr/>
        </p:nvPicPr>
        <p:blipFill>
          <a:blip r:embed="rId2"/>
          <a:stretch>
            <a:fillRect/>
          </a:stretch>
        </p:blipFill>
        <p:spPr>
          <a:xfrm>
            <a:off x="3581401" y="365125"/>
            <a:ext cx="7716491" cy="5991225"/>
          </a:xfrm>
          <a:prstGeom prst="rect">
            <a:avLst/>
          </a:prstGeom>
        </p:spPr>
      </p:pic>
    </p:spTree>
    <p:extLst>
      <p:ext uri="{BB962C8B-B14F-4D97-AF65-F5344CB8AC3E}">
        <p14:creationId xmlns:p14="http://schemas.microsoft.com/office/powerpoint/2010/main" val="2644232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Initialization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9DA09AF1-F9F6-4A4B-B685-70CFAB9D91B8}"/>
              </a:ext>
            </a:extLst>
          </p:cNvPr>
          <p:cNvPicPr>
            <a:picLocks noChangeAspect="1"/>
          </p:cNvPicPr>
          <p:nvPr/>
        </p:nvPicPr>
        <p:blipFill rotWithShape="1">
          <a:blip r:embed="rId2"/>
          <a:srcRect t="1353"/>
          <a:stretch/>
        </p:blipFill>
        <p:spPr>
          <a:xfrm>
            <a:off x="1430338" y="1422626"/>
            <a:ext cx="9331325" cy="4969686"/>
          </a:xfrm>
          <a:prstGeom prst="rect">
            <a:avLst/>
          </a:prstGeom>
        </p:spPr>
      </p:pic>
    </p:spTree>
    <p:extLst>
      <p:ext uri="{BB962C8B-B14F-4D97-AF65-F5344CB8AC3E}">
        <p14:creationId xmlns:p14="http://schemas.microsoft.com/office/powerpoint/2010/main" val="259189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Fitness calculation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dirty="0"/>
          </a:p>
        </p:txBody>
      </p:sp>
      <p:sp>
        <p:nvSpPr>
          <p:cNvPr id="9" name="內容版面配置區 2">
            <a:extLst>
              <a:ext uri="{FF2B5EF4-FFF2-40B4-BE49-F238E27FC236}">
                <a16:creationId xmlns:a16="http://schemas.microsoft.com/office/drawing/2014/main" id="{17F34FE2-3482-6B41-A12C-51568F562827}"/>
              </a:ext>
            </a:extLst>
          </p:cNvPr>
          <p:cNvSpPr>
            <a:spLocks noGrp="1"/>
          </p:cNvSpPr>
          <p:nvPr>
            <p:ph idx="1"/>
          </p:nvPr>
        </p:nvSpPr>
        <p:spPr>
          <a:xfrm>
            <a:off x="838200" y="1825625"/>
            <a:ext cx="10515599" cy="4351338"/>
          </a:xfrm>
        </p:spPr>
        <p:txBody>
          <a:bodyPr/>
          <a:lstStyle/>
          <a:p>
            <a:r>
              <a:rPr kumimoji="1" lang="en" altLang="zh-TW" dirty="0">
                <a:latin typeface="Times New Roman" panose="02020603050405020304" pitchFamily="18" charset="0"/>
                <a:cs typeface="Times New Roman" panose="02020603050405020304" pitchFamily="18" charset="0"/>
              </a:rPr>
              <a:t>Sum of pair method</a:t>
            </a: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p:txBody>
      </p:sp>
      <p:pic>
        <p:nvPicPr>
          <p:cNvPr id="11" name="圖片 10" descr="一張含有 文字 的圖片&#10;&#10;自動產生的描述">
            <a:extLst>
              <a:ext uri="{FF2B5EF4-FFF2-40B4-BE49-F238E27FC236}">
                <a16:creationId xmlns:a16="http://schemas.microsoft.com/office/drawing/2014/main" id="{217951A1-8E63-6B4C-9F4D-5C37535F952B}"/>
              </a:ext>
            </a:extLst>
          </p:cNvPr>
          <p:cNvPicPr>
            <a:picLocks noChangeAspect="1"/>
          </p:cNvPicPr>
          <p:nvPr/>
        </p:nvPicPr>
        <p:blipFill>
          <a:blip r:embed="rId2"/>
          <a:stretch>
            <a:fillRect/>
          </a:stretch>
        </p:blipFill>
        <p:spPr>
          <a:xfrm>
            <a:off x="7110855" y="3046059"/>
            <a:ext cx="4181166" cy="1743005"/>
          </a:xfrm>
          <a:prstGeom prst="rect">
            <a:avLst/>
          </a:prstGeom>
        </p:spPr>
      </p:pic>
      <p:pic>
        <p:nvPicPr>
          <p:cNvPr id="12" name="圖片 11">
            <a:extLst>
              <a:ext uri="{FF2B5EF4-FFF2-40B4-BE49-F238E27FC236}">
                <a16:creationId xmlns:a16="http://schemas.microsoft.com/office/drawing/2014/main" id="{BD701C7D-342A-3843-9E62-B8E75E78F6FE}"/>
              </a:ext>
            </a:extLst>
          </p:cNvPr>
          <p:cNvPicPr>
            <a:picLocks noChangeAspect="1"/>
          </p:cNvPicPr>
          <p:nvPr/>
        </p:nvPicPr>
        <p:blipFill>
          <a:blip r:embed="rId3"/>
          <a:stretch>
            <a:fillRect/>
          </a:stretch>
        </p:blipFill>
        <p:spPr>
          <a:xfrm>
            <a:off x="1129155" y="2605422"/>
            <a:ext cx="5676900" cy="1054100"/>
          </a:xfrm>
          <a:prstGeom prst="rect">
            <a:avLst/>
          </a:prstGeom>
        </p:spPr>
      </p:pic>
      <p:pic>
        <p:nvPicPr>
          <p:cNvPr id="13" name="圖片 12">
            <a:extLst>
              <a:ext uri="{FF2B5EF4-FFF2-40B4-BE49-F238E27FC236}">
                <a16:creationId xmlns:a16="http://schemas.microsoft.com/office/drawing/2014/main" id="{40A39DA0-5748-1442-A882-5B0D5F87EB05}"/>
              </a:ext>
            </a:extLst>
          </p:cNvPr>
          <p:cNvPicPr>
            <a:picLocks noChangeAspect="1"/>
          </p:cNvPicPr>
          <p:nvPr/>
        </p:nvPicPr>
        <p:blipFill>
          <a:blip r:embed="rId4"/>
          <a:stretch>
            <a:fillRect/>
          </a:stretch>
        </p:blipFill>
        <p:spPr>
          <a:xfrm>
            <a:off x="1129155" y="3734469"/>
            <a:ext cx="5981700" cy="1409700"/>
          </a:xfrm>
          <a:prstGeom prst="rect">
            <a:avLst/>
          </a:prstGeom>
        </p:spPr>
      </p:pic>
    </p:spTree>
    <p:extLst>
      <p:ext uri="{BB962C8B-B14F-4D97-AF65-F5344CB8AC3E}">
        <p14:creationId xmlns:p14="http://schemas.microsoft.com/office/powerpoint/2010/main" val="372014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Sexual reproduction (1/3) </a:t>
            </a:r>
            <a:r>
              <a:rPr kumimoji="1" lang="en-US" altLang="zh-TW" sz="2800" i="1" dirty="0" err="1"/>
              <a:t>singlepoint</a:t>
            </a:r>
            <a:endParaRPr kumimoji="1" lang="zh-TW" altLang="en-US" sz="2800"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4" name="圖片 3">
            <a:extLst>
              <a:ext uri="{FF2B5EF4-FFF2-40B4-BE49-F238E27FC236}">
                <a16:creationId xmlns:a16="http://schemas.microsoft.com/office/drawing/2014/main" id="{384665BF-ED11-8F49-8428-7B221F5B76A8}"/>
              </a:ext>
            </a:extLst>
          </p:cNvPr>
          <p:cNvPicPr>
            <a:picLocks noChangeAspect="1"/>
          </p:cNvPicPr>
          <p:nvPr/>
        </p:nvPicPr>
        <p:blipFill>
          <a:blip r:embed="rId2"/>
          <a:stretch>
            <a:fillRect/>
          </a:stretch>
        </p:blipFill>
        <p:spPr>
          <a:xfrm>
            <a:off x="1098550" y="1678025"/>
            <a:ext cx="9994900" cy="4203700"/>
          </a:xfrm>
          <a:prstGeom prst="rect">
            <a:avLst/>
          </a:prstGeom>
        </p:spPr>
      </p:pic>
    </p:spTree>
    <p:extLst>
      <p:ext uri="{BB962C8B-B14F-4D97-AF65-F5344CB8AC3E}">
        <p14:creationId xmlns:p14="http://schemas.microsoft.com/office/powerpoint/2010/main" val="2268889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Sexual reproduction (2/3) </a:t>
            </a:r>
            <a:r>
              <a:rPr kumimoji="1" lang="en-US" altLang="zh-TW" sz="2800" i="1" dirty="0" err="1"/>
              <a:t>recombinematchcolumn</a:t>
            </a:r>
            <a:endParaRPr kumimoji="1" lang="zh-TW" altLang="en-US"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4" name="圖片 3">
            <a:extLst>
              <a:ext uri="{FF2B5EF4-FFF2-40B4-BE49-F238E27FC236}">
                <a16:creationId xmlns:a16="http://schemas.microsoft.com/office/drawing/2014/main" id="{854E7C87-D37A-404B-B28B-76AF3FEE1A97}"/>
              </a:ext>
            </a:extLst>
          </p:cNvPr>
          <p:cNvPicPr>
            <a:picLocks noChangeAspect="1"/>
          </p:cNvPicPr>
          <p:nvPr/>
        </p:nvPicPr>
        <p:blipFill>
          <a:blip r:embed="rId2"/>
          <a:stretch>
            <a:fillRect/>
          </a:stretch>
        </p:blipFill>
        <p:spPr>
          <a:xfrm>
            <a:off x="1079500" y="1678176"/>
            <a:ext cx="10033000" cy="4267200"/>
          </a:xfrm>
          <a:prstGeom prst="rect">
            <a:avLst/>
          </a:prstGeom>
        </p:spPr>
      </p:pic>
    </p:spTree>
    <p:extLst>
      <p:ext uri="{BB962C8B-B14F-4D97-AF65-F5344CB8AC3E}">
        <p14:creationId xmlns:p14="http://schemas.microsoft.com/office/powerpoint/2010/main" val="292768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Sexual reproduction (2/3) </a:t>
            </a:r>
            <a:r>
              <a:rPr kumimoji="1" lang="en-US" altLang="zh-TW" sz="2800" i="1" dirty="0" err="1"/>
              <a:t>uniformexchangeblock</a:t>
            </a:r>
            <a:endParaRPr kumimoji="1" lang="zh-TW" altLang="en-US"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4" name="圖片 3">
            <a:extLst>
              <a:ext uri="{FF2B5EF4-FFF2-40B4-BE49-F238E27FC236}">
                <a16:creationId xmlns:a16="http://schemas.microsoft.com/office/drawing/2014/main" id="{A6436A15-BE59-F041-8665-70AFFCB51513}"/>
              </a:ext>
            </a:extLst>
          </p:cNvPr>
          <p:cNvPicPr>
            <a:picLocks noChangeAspect="1"/>
          </p:cNvPicPr>
          <p:nvPr/>
        </p:nvPicPr>
        <p:blipFill>
          <a:blip r:embed="rId2"/>
          <a:stretch>
            <a:fillRect/>
          </a:stretch>
        </p:blipFill>
        <p:spPr>
          <a:xfrm>
            <a:off x="1722696" y="1546810"/>
            <a:ext cx="8746608" cy="4713258"/>
          </a:xfrm>
          <a:prstGeom prst="rect">
            <a:avLst/>
          </a:prstGeom>
        </p:spPr>
      </p:pic>
    </p:spTree>
    <p:extLst>
      <p:ext uri="{BB962C8B-B14F-4D97-AF65-F5344CB8AC3E}">
        <p14:creationId xmlns:p14="http://schemas.microsoft.com/office/powerpoint/2010/main" val="3012866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Mutation (1/4) </a:t>
            </a:r>
            <a:r>
              <a:rPr kumimoji="1" lang="en-US" altLang="zh-TW" sz="2800" i="1" dirty="0" err="1"/>
              <a:t>changespace</a:t>
            </a:r>
            <a:endParaRPr kumimoji="1" lang="zh-TW" altLang="en-US" sz="2800"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3375041D-D5CF-9C44-9B7E-792FABAA364B}"/>
              </a:ext>
            </a:extLst>
          </p:cNvPr>
          <p:cNvPicPr>
            <a:picLocks noChangeAspect="1"/>
          </p:cNvPicPr>
          <p:nvPr/>
        </p:nvPicPr>
        <p:blipFill rotWithShape="1">
          <a:blip r:embed="rId2"/>
          <a:srcRect b="57139"/>
          <a:stretch/>
        </p:blipFill>
        <p:spPr>
          <a:xfrm>
            <a:off x="1370900" y="2175491"/>
            <a:ext cx="9450201" cy="3378893"/>
          </a:xfrm>
          <a:prstGeom prst="rect">
            <a:avLst/>
          </a:prstGeom>
        </p:spPr>
      </p:pic>
    </p:spTree>
    <p:extLst>
      <p:ext uri="{BB962C8B-B14F-4D97-AF65-F5344CB8AC3E}">
        <p14:creationId xmlns:p14="http://schemas.microsoft.com/office/powerpoint/2010/main" val="196256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Mutation (2/4) </a:t>
            </a:r>
            <a:r>
              <a:rPr kumimoji="1" lang="en-US" altLang="zh-TW" sz="2800" i="1" dirty="0" err="1"/>
              <a:t>mergespace</a:t>
            </a:r>
            <a:endParaRPr kumimoji="1" lang="zh-TW" altLang="en-US" sz="2800"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4" name="圖片 3">
            <a:extLst>
              <a:ext uri="{FF2B5EF4-FFF2-40B4-BE49-F238E27FC236}">
                <a16:creationId xmlns:a16="http://schemas.microsoft.com/office/drawing/2014/main" id="{3375041D-D5CF-9C44-9B7E-792FABAA364B}"/>
              </a:ext>
            </a:extLst>
          </p:cNvPr>
          <p:cNvPicPr>
            <a:picLocks noChangeAspect="1"/>
          </p:cNvPicPr>
          <p:nvPr/>
        </p:nvPicPr>
        <p:blipFill rotWithShape="1">
          <a:blip r:embed="rId2"/>
          <a:srcRect t="56150" b="989"/>
          <a:stretch/>
        </p:blipFill>
        <p:spPr>
          <a:xfrm>
            <a:off x="1370900" y="2175491"/>
            <a:ext cx="9450201" cy="3378893"/>
          </a:xfrm>
          <a:prstGeom prst="rect">
            <a:avLst/>
          </a:prstGeom>
        </p:spPr>
      </p:pic>
    </p:spTree>
    <p:extLst>
      <p:ext uri="{BB962C8B-B14F-4D97-AF65-F5344CB8AC3E}">
        <p14:creationId xmlns:p14="http://schemas.microsoft.com/office/powerpoint/2010/main" val="292460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Mutation (3/4) </a:t>
            </a:r>
            <a:r>
              <a:rPr kumimoji="1" lang="en-US" altLang="zh-TW" sz="2800" i="1" dirty="0" err="1"/>
              <a:t>decreasesearchspace</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4" name="圖片 3">
            <a:extLst>
              <a:ext uri="{FF2B5EF4-FFF2-40B4-BE49-F238E27FC236}">
                <a16:creationId xmlns:a16="http://schemas.microsoft.com/office/drawing/2014/main" id="{14752851-9011-7944-BF1D-B7782A95033E}"/>
              </a:ext>
            </a:extLst>
          </p:cNvPr>
          <p:cNvPicPr>
            <a:picLocks noChangeAspect="1"/>
          </p:cNvPicPr>
          <p:nvPr/>
        </p:nvPicPr>
        <p:blipFill rotWithShape="1">
          <a:blip r:embed="rId2"/>
          <a:srcRect b="55659"/>
          <a:stretch/>
        </p:blipFill>
        <p:spPr>
          <a:xfrm>
            <a:off x="1331239" y="2424225"/>
            <a:ext cx="9529522" cy="3264194"/>
          </a:xfrm>
          <a:prstGeom prst="rect">
            <a:avLst/>
          </a:prstGeom>
        </p:spPr>
      </p:pic>
    </p:spTree>
    <p:extLst>
      <p:ext uri="{BB962C8B-B14F-4D97-AF65-F5344CB8AC3E}">
        <p14:creationId xmlns:p14="http://schemas.microsoft.com/office/powerpoint/2010/main" val="155632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Mutation (4/4) </a:t>
            </a:r>
            <a:r>
              <a:rPr kumimoji="1" lang="en-US" altLang="zh-TW" sz="2800" i="1" dirty="0" err="1"/>
              <a:t>collectspace</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4" name="圖片 3">
            <a:extLst>
              <a:ext uri="{FF2B5EF4-FFF2-40B4-BE49-F238E27FC236}">
                <a16:creationId xmlns:a16="http://schemas.microsoft.com/office/drawing/2014/main" id="{14752851-9011-7944-BF1D-B7782A95033E}"/>
              </a:ext>
            </a:extLst>
          </p:cNvPr>
          <p:cNvPicPr>
            <a:picLocks noChangeAspect="1"/>
          </p:cNvPicPr>
          <p:nvPr/>
        </p:nvPicPr>
        <p:blipFill rotWithShape="1">
          <a:blip r:embed="rId2"/>
          <a:srcRect t="59070"/>
          <a:stretch/>
        </p:blipFill>
        <p:spPr>
          <a:xfrm>
            <a:off x="1152753" y="2158412"/>
            <a:ext cx="9886494" cy="3125971"/>
          </a:xfrm>
          <a:prstGeom prst="rect">
            <a:avLst/>
          </a:prstGeom>
        </p:spPr>
      </p:pic>
    </p:spTree>
    <p:extLst>
      <p:ext uri="{BB962C8B-B14F-4D97-AF65-F5344CB8AC3E}">
        <p14:creationId xmlns:p14="http://schemas.microsoft.com/office/powerpoint/2010/main" val="12117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Heuristic (1/2) </a:t>
            </a:r>
            <a:r>
              <a:rPr kumimoji="1" lang="en-US" altLang="zh-TW" sz="2800" i="1" dirty="0" err="1"/>
              <a:t>catchmatchcolumn</a:t>
            </a:r>
            <a:endParaRPr kumimoji="1" lang="zh-TW" altLang="en-US" sz="2800"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4" name="圖片 3">
            <a:extLst>
              <a:ext uri="{FF2B5EF4-FFF2-40B4-BE49-F238E27FC236}">
                <a16:creationId xmlns:a16="http://schemas.microsoft.com/office/drawing/2014/main" id="{8FDBB25A-F9BC-B04D-8761-BD95E6A144EB}"/>
              </a:ext>
            </a:extLst>
          </p:cNvPr>
          <p:cNvPicPr>
            <a:picLocks noChangeAspect="1"/>
          </p:cNvPicPr>
          <p:nvPr/>
        </p:nvPicPr>
        <p:blipFill rotWithShape="1">
          <a:blip r:embed="rId2"/>
          <a:srcRect b="55659"/>
          <a:stretch/>
        </p:blipFill>
        <p:spPr>
          <a:xfrm>
            <a:off x="1324536" y="2307265"/>
            <a:ext cx="9309011" cy="3040912"/>
          </a:xfrm>
          <a:prstGeom prst="rect">
            <a:avLst/>
          </a:prstGeom>
        </p:spPr>
      </p:pic>
    </p:spTree>
    <p:extLst>
      <p:ext uri="{BB962C8B-B14F-4D97-AF65-F5344CB8AC3E}">
        <p14:creationId xmlns:p14="http://schemas.microsoft.com/office/powerpoint/2010/main" val="1219874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Heuristic (2/2) </a:t>
            </a:r>
            <a:r>
              <a:rPr kumimoji="1" lang="en-US" altLang="zh-TW" sz="2800" i="1" dirty="0" err="1"/>
              <a:t>movetohigherscoreposition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4" name="圖片 3">
            <a:extLst>
              <a:ext uri="{FF2B5EF4-FFF2-40B4-BE49-F238E27FC236}">
                <a16:creationId xmlns:a16="http://schemas.microsoft.com/office/drawing/2014/main" id="{8FDBB25A-F9BC-B04D-8761-BD95E6A144EB}"/>
              </a:ext>
            </a:extLst>
          </p:cNvPr>
          <p:cNvPicPr>
            <a:picLocks noChangeAspect="1"/>
          </p:cNvPicPr>
          <p:nvPr/>
        </p:nvPicPr>
        <p:blipFill rotWithShape="1">
          <a:blip r:embed="rId2"/>
          <a:srcRect t="55969"/>
          <a:stretch/>
        </p:blipFill>
        <p:spPr>
          <a:xfrm>
            <a:off x="1154682" y="2286003"/>
            <a:ext cx="9882636" cy="3205719"/>
          </a:xfrm>
          <a:prstGeom prst="rect">
            <a:avLst/>
          </a:prstGeom>
        </p:spPr>
      </p:pic>
    </p:spTree>
    <p:extLst>
      <p:ext uri="{BB962C8B-B14F-4D97-AF65-F5344CB8AC3E}">
        <p14:creationId xmlns:p14="http://schemas.microsoft.com/office/powerpoint/2010/main" val="3278135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CF3644EB-FE93-B24A-91E9-504F75B19782}"/>
              </a:ext>
            </a:extLst>
          </p:cNvPr>
          <p:cNvPicPr>
            <a:picLocks noChangeAspect="1"/>
          </p:cNvPicPr>
          <p:nvPr/>
        </p:nvPicPr>
        <p:blipFill>
          <a:blip r:embed="rId2"/>
          <a:stretch>
            <a:fillRect/>
          </a:stretch>
        </p:blipFill>
        <p:spPr>
          <a:xfrm>
            <a:off x="580653" y="2069175"/>
            <a:ext cx="2610885" cy="3549172"/>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Ant colony optimization (ACO) (1/4)</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8" name="圖片 7">
            <a:extLst>
              <a:ext uri="{FF2B5EF4-FFF2-40B4-BE49-F238E27FC236}">
                <a16:creationId xmlns:a16="http://schemas.microsoft.com/office/drawing/2014/main" id="{751ADA53-6196-A34E-A44B-E5BF45F6B670}"/>
              </a:ext>
            </a:extLst>
          </p:cNvPr>
          <p:cNvPicPr>
            <a:picLocks noChangeAspect="1"/>
          </p:cNvPicPr>
          <p:nvPr/>
        </p:nvPicPr>
        <p:blipFill>
          <a:blip r:embed="rId3"/>
          <a:stretch>
            <a:fillRect/>
          </a:stretch>
        </p:blipFill>
        <p:spPr>
          <a:xfrm>
            <a:off x="3621862" y="1799061"/>
            <a:ext cx="7797800" cy="4089400"/>
          </a:xfrm>
          <a:prstGeom prst="rect">
            <a:avLst/>
          </a:prstGeom>
        </p:spPr>
      </p:pic>
    </p:spTree>
    <p:extLst>
      <p:ext uri="{BB962C8B-B14F-4D97-AF65-F5344CB8AC3E}">
        <p14:creationId xmlns:p14="http://schemas.microsoft.com/office/powerpoint/2010/main" val="2370945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ACO (2/4)</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4"/>
                <a:ext cx="10515600" cy="3159503"/>
              </a:xfrm>
            </p:spPr>
            <p:txBody>
              <a:bodyPr>
                <a:normAutofit/>
              </a:bodyPr>
              <a:lstStyle/>
              <a:p>
                <a:pPr algn="just"/>
                <a:r>
                  <a:rPr kumimoji="1" lang="en-US" altLang="zh-TW" dirty="0">
                    <a:latin typeface="Times New Roman" panose="02020603050405020304" pitchFamily="18" charset="0"/>
                    <a:cs typeface="Times New Roman" panose="02020603050405020304" pitchFamily="18" charset="0"/>
                  </a:rPr>
                  <a:t>A sliding-window (N) is used to detect mismatch blocks.</a:t>
                </a:r>
              </a:p>
              <a:p>
                <a:pPr algn="just"/>
                <a:r>
                  <a:rPr kumimoji="1" lang="en-US" altLang="zh-TW" dirty="0">
                    <a:latin typeface="Times New Roman" panose="02020603050405020304" pitchFamily="18" charset="0"/>
                    <a:cs typeface="Times New Roman" panose="02020603050405020304" pitchFamily="18" charset="0"/>
                  </a:rPr>
                  <a:t>When the best alignment has been found in each generation, the </a:t>
                </a:r>
                <a:r>
                  <a:rPr kumimoji="1" lang="en-US" altLang="zh-TW" b="1" dirty="0">
                    <a:latin typeface="Times New Roman" panose="02020603050405020304" pitchFamily="18" charset="0"/>
                    <a:cs typeface="Times New Roman" panose="02020603050405020304" pitchFamily="18" charset="0"/>
                  </a:rPr>
                  <a:t>pheromone trail update rule </a:t>
                </a:r>
                <a:r>
                  <a:rPr kumimoji="1" lang="en-US" altLang="zh-TW" dirty="0">
                    <a:latin typeface="Times New Roman" panose="02020603050405020304" pitchFamily="18" charset="0"/>
                    <a:cs typeface="Times New Roman" panose="02020603050405020304" pitchFamily="18" charset="0"/>
                  </a:rPr>
                  <a:t>for sequence m</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and </a:t>
                </a:r>
                <a:r>
                  <a:rPr kumimoji="1" lang="en-US" altLang="zh-TW" dirty="0" err="1">
                    <a:latin typeface="Times New Roman" panose="02020603050405020304" pitchFamily="18" charset="0"/>
                    <a:cs typeface="Times New Roman" panose="02020603050405020304" pitchFamily="18" charset="0"/>
                  </a:rPr>
                  <a:t>m</a:t>
                </a:r>
                <a:r>
                  <a:rPr kumimoji="1" lang="en-US" altLang="zh-TW" baseline="-25000" dirty="0" err="1">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a:t>
                </a:r>
              </a:p>
              <a:p>
                <a:pPr algn="just"/>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b="0" i="1" smtClean="0">
                            <a:latin typeface="Cambria Math" panose="02040503050406030204" pitchFamily="18" charset="0"/>
                            <a:cs typeface="Times New Roman" panose="02020603050405020304" pitchFamily="18" charset="0"/>
                          </a:rPr>
                          <m:t>𝑖𝑗𝑙</m:t>
                        </m:r>
                      </m:sub>
                    </m:sSub>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𝑡</m:t>
                        </m:r>
                        <m:r>
                          <a:rPr kumimoji="1" lang="en-US" altLang="zh-TW" b="0" i="1" smtClean="0">
                            <a:latin typeface="Cambria Math" panose="02040503050406030204" pitchFamily="18" charset="0"/>
                            <a:cs typeface="Times New Roman" panose="02020603050405020304" pitchFamily="18" charset="0"/>
                          </a:rPr>
                          <m:t>+1</m:t>
                        </m:r>
                      </m:e>
                    </m:d>
                    <m:r>
                      <a:rPr kumimoji="1" lang="en-US" altLang="zh-TW" b="0" i="1" smtClean="0">
                        <a:latin typeface="Cambria Math" panose="02040503050406030204" pitchFamily="18" charset="0"/>
                        <a:cs typeface="Times New Roman" panose="02020603050405020304" pitchFamily="18" charset="0"/>
                      </a:rPr>
                      <m:t>=</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1−</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𝜌</m:t>
                        </m:r>
                      </m:e>
                    </m:d>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𝑖𝑗𝑙</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𝜌</m:t>
                    </m:r>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oMath>
                </a14:m>
                <a:r>
                  <a:rPr kumimoji="1" lang="en-US" altLang="zh-TW" dirty="0">
                    <a:latin typeface="Times New Roman" panose="02020603050405020304" pitchFamily="18" charset="0"/>
                    <a:cs typeface="Times New Roman" panose="02020603050405020304" pitchFamily="18" charset="0"/>
                  </a:rPr>
                  <a:t>  1 ≤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 N</a:t>
                </a:r>
              </a:p>
              <a:p>
                <a:pPr algn="just"/>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r>
                      <a:rPr kumimoji="1" lang="en-US" altLang="zh-TW" b="0" i="1" smtClean="0">
                        <a:latin typeface="Cambria Math" panose="02040503050406030204" pitchFamily="18" charset="0"/>
                        <a:cs typeface="Times New Roman" panose="02020603050405020304" pitchFamily="18" charset="0"/>
                      </a:rPr>
                      <m:t>=</m:t>
                    </m:r>
                    <m:f>
                      <m:fPr>
                        <m:ctrlPr>
                          <a:rPr kumimoji="1" lang="en-US" altLang="zh-TW" b="0" i="1" smtClean="0">
                            <a:latin typeface="Cambria Math" panose="02040503050406030204" pitchFamily="18" charset="0"/>
                            <a:cs typeface="Times New Roman" panose="02020603050405020304" pitchFamily="18" charset="0"/>
                          </a:rPr>
                        </m:ctrlPr>
                      </m:fPr>
                      <m:num>
                        <m:nary>
                          <m:naryPr>
                            <m:chr m:val="∑"/>
                            <m:ctrlPr>
                              <a:rPr kumimoji="1" lang="en-US" altLang="zh-TW" b="0" i="1" smtClean="0">
                                <a:latin typeface="Cambria Math" panose="02040503050406030204" pitchFamily="18" charset="0"/>
                                <a:cs typeface="Times New Roman" panose="02020603050405020304" pitchFamily="18" charset="0"/>
                              </a:rPr>
                            </m:ctrlPr>
                          </m:naryPr>
                          <m:sub>
                            <m:r>
                              <m:rPr>
                                <m:brk m:alnAt="23"/>
                              </m:rP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=1</m:t>
                            </m:r>
                          </m:sub>
                          <m:sup>
                            <m:r>
                              <a:rPr kumimoji="1" lang="en-US" altLang="zh-TW" b="0" i="1" smtClean="0">
                                <a:latin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cs typeface="Times New Roman" panose="02020603050405020304" pitchFamily="18" charset="0"/>
                              </a:rPr>
                              <m:t>−1</m:t>
                            </m:r>
                          </m:sup>
                          <m:e>
                            <m:nary>
                              <m:naryPr>
                                <m:chr m:val="∑"/>
                                <m:ctrlPr>
                                  <a:rPr kumimoji="1" lang="en-US" altLang="zh-TW" b="0" i="1" smtClean="0">
                                    <a:latin typeface="Cambria Math" panose="02040503050406030204" pitchFamily="18" charset="0"/>
                                    <a:cs typeface="Times New Roman" panose="02020603050405020304" pitchFamily="18" charset="0"/>
                                  </a:rPr>
                                </m:ctrlPr>
                              </m:naryPr>
                              <m:sub>
                                <m:r>
                                  <m:rPr>
                                    <m:brk m:alnAt="23"/>
                                  </m:rPr>
                                  <a:rPr kumimoji="1" lang="en-US" altLang="zh-TW" b="0" i="1" smtClean="0">
                                    <a:latin typeface="Cambria Math" panose="02040503050406030204" pitchFamily="18" charset="0"/>
                                    <a:cs typeface="Times New Roman" panose="02020603050405020304" pitchFamily="18" charset="0"/>
                                  </a:rPr>
                                  <m:t>𝑗</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+1</m:t>
                                </m:r>
                              </m:sub>
                              <m:sup>
                                <m:r>
                                  <a:rPr kumimoji="1" lang="en-US" altLang="zh-TW" b="0" i="1" smtClean="0">
                                    <a:latin typeface="Cambria Math" panose="02040503050406030204" pitchFamily="18" charset="0"/>
                                    <a:cs typeface="Times New Roman" panose="02020603050405020304" pitchFamily="18" charset="0"/>
                                  </a:rPr>
                                  <m:t>𝑘</m:t>
                                </m:r>
                              </m:sup>
                              <m:e>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𝑊</m:t>
                                    </m:r>
                                  </m:e>
                                  <m:sub>
                                    <m:r>
                                      <a:rPr kumimoji="1" lang="en-US" altLang="zh-TW" b="0" i="1" smtClean="0">
                                        <a:latin typeface="Cambria Math" panose="02040503050406030204" pitchFamily="18" charset="0"/>
                                        <a:cs typeface="Times New Roman" panose="02020603050405020304" pitchFamily="18" charset="0"/>
                                      </a:rPr>
                                      <m:t>𝑖𝑗</m:t>
                                    </m:r>
                                  </m:sub>
                                </m:s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𝑆𝑐𝑜𝑟𝑒</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𝑖𝑗</m:t>
                                    </m:r>
                                  </m:sub>
                                </m:s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nary>
                          </m:e>
                        </m:nary>
                      </m:num>
                      <m:den>
                        <m:nary>
                          <m:naryPr>
                            <m:chr m:val="∑"/>
                            <m:ctrlPr>
                              <a:rPr kumimoji="1" lang="en-US" altLang="zh-TW" i="1">
                                <a:latin typeface="Cambria Math" panose="02040503050406030204" pitchFamily="18" charset="0"/>
                                <a:cs typeface="Times New Roman" panose="02020603050405020304" pitchFamily="18" charset="0"/>
                              </a:rPr>
                            </m:ctrlPr>
                          </m:naryPr>
                          <m:sub>
                            <m:r>
                              <m:rPr>
                                <m:brk m:alnAt="23"/>
                              </m:rP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=1</m:t>
                            </m:r>
                          </m:sub>
                          <m:sup>
                            <m:r>
                              <a:rPr kumimoji="1" lang="en-US" altLang="zh-TW" i="1">
                                <a:latin typeface="Cambria Math" panose="02040503050406030204" pitchFamily="18" charset="0"/>
                                <a:cs typeface="Times New Roman" panose="02020603050405020304" pitchFamily="18" charset="0"/>
                              </a:rPr>
                              <m:t>𝑘</m:t>
                            </m:r>
                            <m:r>
                              <a:rPr kumimoji="1" lang="en-US" altLang="zh-TW" i="1">
                                <a:latin typeface="Cambria Math" panose="02040503050406030204" pitchFamily="18" charset="0"/>
                                <a:cs typeface="Times New Roman" panose="02020603050405020304" pitchFamily="18" charset="0"/>
                              </a:rPr>
                              <m:t>−1</m:t>
                            </m:r>
                          </m:sup>
                          <m:e>
                            <m:nary>
                              <m:naryPr>
                                <m:chr m:val="∑"/>
                                <m:ctrlPr>
                                  <a:rPr kumimoji="1" lang="en-US" altLang="zh-TW" i="1">
                                    <a:latin typeface="Cambria Math" panose="02040503050406030204" pitchFamily="18" charset="0"/>
                                    <a:cs typeface="Times New Roman" panose="02020603050405020304" pitchFamily="18" charset="0"/>
                                  </a:rPr>
                                </m:ctrlPr>
                              </m:naryPr>
                              <m:sub>
                                <m:r>
                                  <m:rPr>
                                    <m:brk m:alnAt="23"/>
                                  </m:rPr>
                                  <a:rPr kumimoji="1" lang="en-US" altLang="zh-TW" i="1" smtClean="0">
                                    <a:latin typeface="Cambria Math" panose="02040503050406030204" pitchFamily="18" charset="0"/>
                                    <a:cs typeface="Times New Roman" panose="02020603050405020304" pitchFamily="18" charset="0"/>
                                  </a:rPr>
                                  <m:t>𝑗</m:t>
                                </m:r>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+1</m:t>
                                </m:r>
                              </m:sub>
                              <m:sup>
                                <m:r>
                                  <a:rPr kumimoji="1" lang="en-US" altLang="zh-TW" i="1">
                                    <a:latin typeface="Cambria Math" panose="02040503050406030204" pitchFamily="18" charset="0"/>
                                    <a:cs typeface="Times New Roman" panose="02020603050405020304" pitchFamily="18" charset="0"/>
                                  </a:rPr>
                                  <m:t>𝑘</m:t>
                                </m:r>
                              </m:sup>
                              <m:e>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cs typeface="Times New Roman" panose="02020603050405020304" pitchFamily="18" charset="0"/>
                                      </a:rPr>
                                      <m:t>𝑊</m:t>
                                    </m:r>
                                  </m:e>
                                  <m:sub>
                                    <m:r>
                                      <a:rPr kumimoji="1" lang="en-US" altLang="zh-TW" i="1">
                                        <a:latin typeface="Cambria Math" panose="02040503050406030204" pitchFamily="18" charset="0"/>
                                        <a:cs typeface="Times New Roman" panose="02020603050405020304" pitchFamily="18" charset="0"/>
                                      </a:rPr>
                                      <m:t>𝑖𝑗</m:t>
                                    </m:r>
                                  </m:sub>
                                </m:s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𝐿𝑒𝑛</m:t>
                                </m:r>
                              </m:e>
                            </m:nary>
                          </m:e>
                        </m:nary>
                      </m:den>
                    </m:f>
                  </m:oMath>
                </a14:m>
                <a:endParaRPr kumimoji="1" lang="en-US" altLang="zh-TW" dirty="0">
                  <a:latin typeface="Times New Roman" panose="02020603050405020304" pitchFamily="18" charset="0"/>
                  <a:cs typeface="Times New Roman" panose="02020603050405020304" pitchFamily="18" charset="0"/>
                </a:endParaRPr>
              </a:p>
              <a:p>
                <a:pPr algn="just"/>
                <a:endParaRPr kumimoji="1"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838200" y="1825624"/>
                <a:ext cx="10515600" cy="3159503"/>
              </a:xfrm>
              <a:blipFill>
                <a:blip r:embed="rId2"/>
                <a:stretch>
                  <a:fillRect l="-1086" t="-3200" r="-1086" b="-11600"/>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sp>
        <p:nvSpPr>
          <p:cNvPr id="4" name="文字方塊 3">
            <a:extLst>
              <a:ext uri="{FF2B5EF4-FFF2-40B4-BE49-F238E27FC236}">
                <a16:creationId xmlns:a16="http://schemas.microsoft.com/office/drawing/2014/main" id="{4504C5F8-9B5A-4C4F-950B-E1CD946258BC}"/>
              </a:ext>
            </a:extLst>
          </p:cNvPr>
          <p:cNvSpPr txBox="1"/>
          <p:nvPr/>
        </p:nvSpPr>
        <p:spPr>
          <a:xfrm>
            <a:off x="838200" y="4901609"/>
            <a:ext cx="3733800" cy="1754326"/>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𝜏 is the pheromone trail</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0 &lt; 𝜌 ≤ 1 is a parameter governing the pheromone decay process</a:t>
            </a:r>
          </a:p>
          <a:p>
            <a:pPr marL="285750" indent="-285750">
              <a:buFont typeface="Arial" panose="020B0604020202020204" pitchFamily="34" charset="0"/>
              <a:buChar char="•"/>
            </a:pP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 is the position of residue</a:t>
            </a:r>
          </a:p>
          <a:p>
            <a:pPr marL="285750" indent="-285750">
              <a:buFont typeface="Arial" panose="020B0604020202020204" pitchFamily="34" charset="0"/>
              <a:buChar char="•"/>
            </a:pP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 is time</a:t>
            </a:r>
          </a:p>
          <a:p>
            <a:pPr marL="285750" indent="-285750">
              <a:buFont typeface="Arial" panose="020B0604020202020204" pitchFamily="34" charset="0"/>
              <a:buChar char="•"/>
            </a:pPr>
            <a:endParaRPr kumimoji="1" lang="zh-TW" altLang="en-US"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1267AE82-C582-0C4A-8DB5-A0885F96D27A}"/>
              </a:ext>
            </a:extLst>
          </p:cNvPr>
          <p:cNvSpPr txBox="1"/>
          <p:nvPr/>
        </p:nvSpPr>
        <p:spPr>
          <a:xfrm>
            <a:off x="4572000" y="4901609"/>
            <a:ext cx="7253176" cy="2031325"/>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latin typeface="Times New Roman" panose="02020603050405020304" pitchFamily="18" charset="0"/>
                <a:cs typeface="Times New Roman" panose="02020603050405020304" pitchFamily="18" charset="0"/>
              </a:rPr>
              <a:t>W</a:t>
            </a:r>
            <a:r>
              <a:rPr lang="en-US" altLang="zh-TW" baseline="-25000"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the percent identity between two aligned sequences m</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and </a:t>
            </a:r>
            <a:r>
              <a:rPr lang="en-US" altLang="zh-TW" dirty="0" err="1">
                <a:latin typeface="Times New Roman" panose="02020603050405020304" pitchFamily="18" charset="0"/>
                <a:cs typeface="Times New Roman" panose="02020603050405020304" pitchFamily="18" charset="0"/>
              </a:rPr>
              <a:t>m</a:t>
            </a:r>
            <a:r>
              <a:rPr lang="en-US" altLang="zh-TW" baseline="-25000" dirty="0" err="1">
                <a:latin typeface="Times New Roman" panose="02020603050405020304" pitchFamily="18" charset="0"/>
                <a:cs typeface="Times New Roman" panose="02020603050405020304" pitchFamily="18" charset="0"/>
              </a:rPr>
              <a:t>j</a:t>
            </a:r>
            <a:endParaRPr lang="en-US" altLang="zh-TW" baseline="-25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the pairwise projection of sequence m</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and </a:t>
            </a:r>
            <a:r>
              <a:rPr lang="en-US" altLang="zh-TW" dirty="0" err="1">
                <a:latin typeface="Times New Roman" panose="02020603050405020304" pitchFamily="18" charset="0"/>
                <a:cs typeface="Times New Roman" panose="02020603050405020304" pitchFamily="18" charset="0"/>
              </a:rPr>
              <a:t>m</a:t>
            </a:r>
            <a:r>
              <a:rPr lang="en-US" altLang="zh-TW" baseline="-25000"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from the multiple sequence alignment</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Score(</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the number of aligned pairs of residues that are shared between </a:t>
            </a:r>
            <a:r>
              <a:rPr lang="en-US" altLang="zh-TW" dirty="0" err="1">
                <a:latin typeface="Times New Roman" panose="02020603050405020304" pitchFamily="18" charset="0"/>
                <a:cs typeface="Times New Roman" panose="02020603050405020304" pitchFamily="18" charset="0"/>
              </a:rPr>
              <a:t>A</a:t>
            </a:r>
            <a:r>
              <a:rPr lang="en-US" altLang="zh-TW" baseline="-25000"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and the library</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Len is the length of this alignment </a:t>
            </a:r>
          </a:p>
          <a:p>
            <a:pPr marL="285750" indent="-285750">
              <a:buFont typeface="Arial" panose="020B0604020202020204" pitchFamily="34" charset="0"/>
              <a:buChar char="•"/>
            </a:pP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1408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ACO (3/4)</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r>
                  <a:rPr kumimoji="1" lang="en-US" altLang="zh-TW" dirty="0">
                    <a:latin typeface="Times New Roman" panose="02020603050405020304" pitchFamily="18" charset="0"/>
                    <a:cs typeface="Times New Roman" panose="02020603050405020304" pitchFamily="18" charset="0"/>
                  </a:rPr>
                  <a:t>The ant-decision table for the ant s selecting the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th</a:t>
                </a:r>
                <a:r>
                  <a:rPr kumimoji="1" lang="en-US" altLang="zh-TW" dirty="0">
                    <a:latin typeface="Times New Roman" panose="02020603050405020304" pitchFamily="18" charset="0"/>
                    <a:cs typeface="Times New Roman" panose="02020603050405020304" pitchFamily="18" charset="0"/>
                  </a:rPr>
                  <a:t> residue in the mismatch blocks is governed by:</a:t>
                </a:r>
              </a:p>
              <a:p>
                <a14:m>
                  <m:oMath xmlns:m="http://schemas.openxmlformats.org/officeDocument/2006/math">
                    <m:r>
                      <a:rPr kumimoji="1" lang="zh-TW" altLang="en-US" i="1" smtClean="0">
                        <a:latin typeface="Cambria Math" panose="02040503050406030204" pitchFamily="18" charset="0"/>
                        <a:cs typeface="Times New Roman" panose="02020603050405020304" pitchFamily="18" charset="0"/>
                      </a:rPr>
                      <m:t>𝜋</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𝑙</m:t>
                        </m:r>
                      </m:e>
                    </m:d>
                    <m:r>
                      <a:rPr kumimoji="1" lang="en-US" altLang="zh-TW" b="0" i="1" smtClean="0">
                        <a:latin typeface="Cambria Math" panose="02040503050406030204" pitchFamily="18" charset="0"/>
                        <a:cs typeface="Times New Roman" panose="02020603050405020304" pitchFamily="18" charset="0"/>
                      </a:rPr>
                      <m:t>=</m:t>
                    </m:r>
                    <m:d>
                      <m:dPr>
                        <m:begChr m:val="{"/>
                        <m:endChr m:val=""/>
                        <m:ctrlPr>
                          <a:rPr kumimoji="1" lang="en-US" altLang="zh-TW" b="0" i="1" smtClean="0">
                            <a:latin typeface="Cambria Math" panose="02040503050406030204" pitchFamily="18" charset="0"/>
                            <a:cs typeface="Times New Roman" panose="02020603050405020304" pitchFamily="18" charset="0"/>
                          </a:rPr>
                        </m:ctrlPr>
                      </m:dPr>
                      <m:e>
                        <m:eqArr>
                          <m:eqArrPr>
                            <m:ctrlPr>
                              <a:rPr kumimoji="1" lang="en-US" altLang="zh-TW" b="0" i="1" smtClean="0">
                                <a:latin typeface="Cambria Math" panose="02040503050406030204" pitchFamily="18" charset="0"/>
                                <a:cs typeface="Times New Roman" panose="02020603050405020304" pitchFamily="18" charset="0"/>
                              </a:rPr>
                            </m:ctrlPr>
                          </m:eqArrPr>
                          <m:e>
                            <m:r>
                              <a:rPr kumimoji="1" lang="en-US" altLang="zh-TW" b="0" i="1" smtClean="0">
                                <a:latin typeface="Cambria Math" panose="02040503050406030204" pitchFamily="18" charset="0"/>
                                <a:cs typeface="Times New Roman" panose="02020603050405020304" pitchFamily="18" charset="0"/>
                              </a:rPr>
                              <m:t>𝑎𝑟𝑔</m:t>
                            </m:r>
                            <m:d>
                              <m:dPr>
                                <m:begChr m:val="{"/>
                                <m:endChr m:val="}"/>
                                <m:ctrlPr>
                                  <a:rPr kumimoji="1" lang="en-US" altLang="zh-TW" b="0" i="1" smtClean="0">
                                    <a:latin typeface="Cambria Math" panose="02040503050406030204" pitchFamily="18" charset="0"/>
                                    <a:cs typeface="Times New Roman" panose="02020603050405020304" pitchFamily="18" charset="0"/>
                                  </a:rPr>
                                </m:ctrlPr>
                              </m:dPr>
                              <m:e>
                                <m:func>
                                  <m:funcPr>
                                    <m:ctrlPr>
                                      <a:rPr kumimoji="1" lang="en-US" altLang="zh-TW" b="0" i="1" smtClean="0">
                                        <a:latin typeface="Cambria Math" panose="02040503050406030204" pitchFamily="18" charset="0"/>
                                        <a:cs typeface="Times New Roman" panose="02020603050405020304" pitchFamily="18" charset="0"/>
                                      </a:rPr>
                                    </m:ctrlPr>
                                  </m:funcPr>
                                  <m:fName>
                                    <m:limLow>
                                      <m:limLowPr>
                                        <m:ctrlPr>
                                          <a:rPr kumimoji="1" lang="en-US" altLang="zh-TW" b="0" i="1" smtClean="0">
                                            <a:latin typeface="Cambria Math" panose="02040503050406030204" pitchFamily="18" charset="0"/>
                                            <a:cs typeface="Times New Roman" panose="02020603050405020304" pitchFamily="18" charset="0"/>
                                          </a:rPr>
                                        </m:ctrlPr>
                                      </m:limLowPr>
                                      <m:e>
                                        <m:r>
                                          <m:rPr>
                                            <m:sty m:val="p"/>
                                          </m:rPr>
                                          <a:rPr kumimoji="1" lang="en-US" altLang="zh-TW" b="0" i="0" smtClean="0">
                                            <a:latin typeface="Cambria Math" panose="02040503050406030204" pitchFamily="18" charset="0"/>
                                            <a:cs typeface="Times New Roman" panose="02020603050405020304" pitchFamily="18" charset="0"/>
                                          </a:rPr>
                                          <m:t>max</m:t>
                                        </m:r>
                                      </m:e>
                                      <m:lim>
                                        <m:r>
                                          <a:rPr kumimoji="1" lang="en-US" altLang="zh-TW" b="0" i="1" smtClean="0">
                                            <a:latin typeface="Cambria Math" panose="02040503050406030204" pitchFamily="18" charset="0"/>
                                            <a:cs typeface="Times New Roman" panose="02020603050405020304" pitchFamily="18" charset="0"/>
                                          </a:rPr>
                                          <m:t>𝑙</m:t>
                                        </m:r>
                                        <m:r>
                                          <a:rPr kumimoji="1" lang="en-US" altLang="zh-TW" b="0" i="1" smtClean="0">
                                            <a:latin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𝑎𝑙𝑙𝑙𝑜𝑤𝑒𝑑</m:t>
                                            </m:r>
                                          </m:e>
                                          <m:sub>
                                            <m:r>
                                              <a:rPr kumimoji="1" lang="en-US" altLang="zh-TW" b="0" i="1" smtClean="0">
                                                <a:latin typeface="Cambria Math" panose="02040503050406030204" pitchFamily="18" charset="0"/>
                                                <a:cs typeface="Times New Roman" panose="02020603050405020304" pitchFamily="18" charset="0"/>
                                              </a:rPr>
                                              <m:t>𝑠</m:t>
                                            </m:r>
                                          </m:sub>
                                        </m:sSub>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𝑡</m:t>
                                        </m:r>
                                        <m:r>
                                          <a:rPr kumimoji="1" lang="en-US" altLang="zh-TW" b="0" i="1" smtClean="0">
                                            <a:latin typeface="Cambria Math" panose="02040503050406030204" pitchFamily="18" charset="0"/>
                                            <a:cs typeface="Times New Roman" panose="02020603050405020304" pitchFamily="18" charset="0"/>
                                          </a:rPr>
                                          <m:t>)</m:t>
                                        </m:r>
                                      </m:lim>
                                    </m:limLow>
                                  </m:fName>
                                  <m:e>
                                    <m:d>
                                      <m:dPr>
                                        <m:begChr m:val="["/>
                                        <m:endChr m:val="]"/>
                                        <m:ctrlPr>
                                          <a:rPr kumimoji="1" lang="en-US" altLang="zh-TW" b="0" i="1" smtClean="0">
                                            <a:latin typeface="Cambria Math" panose="02040503050406030204" pitchFamily="18" charset="0"/>
                                            <a:cs typeface="Times New Roman" panose="02020603050405020304" pitchFamily="18" charset="0"/>
                                          </a:rPr>
                                        </m:ctrlPr>
                                      </m:dPr>
                                      <m:e>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𝑖𝑗𝑙</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sSubSup>
                                          <m:sSubSupPr>
                                            <m:ctrlPr>
                                              <a:rPr kumimoji="1" lang="en-US" altLang="zh-TW" i="1" smtClean="0">
                                                <a:latin typeface="Cambria Math" panose="02040503050406030204" pitchFamily="18" charset="0"/>
                                                <a:cs typeface="Times New Roman" panose="02020603050405020304" pitchFamily="18" charset="0"/>
                                              </a:rPr>
                                            </m:ctrlPr>
                                          </m:sSubSup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𝜂</m:t>
                                            </m:r>
                                          </m:e>
                                          <m:sub>
                                            <m:r>
                                              <a:rPr kumimoji="1" lang="en-US" altLang="zh-TW" b="0" i="1" smtClean="0">
                                                <a:latin typeface="Cambria Math" panose="02040503050406030204" pitchFamily="18" charset="0"/>
                                                <a:cs typeface="Times New Roman" panose="02020603050405020304" pitchFamily="18" charset="0"/>
                                              </a:rPr>
                                              <m:t>𝑖𝑗𝑙</m:t>
                                            </m:r>
                                          </m:sub>
                                          <m:sup>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𝛽</m:t>
                                            </m:r>
                                          </m:sup>
                                        </m:sSubSup>
                                      </m:e>
                                    </m:d>
                                  </m:e>
                                </m:func>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𝑤h𝑒𝑛</m:t>
                            </m:r>
                            <m:r>
                              <a:rPr kumimoji="1" lang="en-US" altLang="zh-TW" b="0" i="1" smtClean="0">
                                <a:latin typeface="Cambria Math" panose="02040503050406030204" pitchFamily="18" charset="0"/>
                                <a:cs typeface="Times New Roman" panose="02020603050405020304" pitchFamily="18" charset="0"/>
                              </a:rPr>
                              <m:t> </m:t>
                            </m:r>
                            <m:r>
                              <a:rPr kumimoji="1" lang="en-US" altLang="zh-TW" b="0" i="1" smtClean="0">
                                <a:latin typeface="Cambria Math" panose="02040503050406030204" pitchFamily="18" charset="0"/>
                                <a:cs typeface="Times New Roman" panose="02020603050405020304" pitchFamily="18" charset="0"/>
                              </a:rPr>
                              <m:t>𝑞</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𝑞</m:t>
                                </m:r>
                              </m:e>
                              <m:sub>
                                <m:r>
                                  <a:rPr kumimoji="1" lang="en-US" altLang="zh-TW" b="0" i="1" smtClean="0">
                                    <a:latin typeface="Cambria Math" panose="02040503050406030204" pitchFamily="18" charset="0"/>
                                    <a:cs typeface="Times New Roman" panose="02020603050405020304" pitchFamily="18" charset="0"/>
                                  </a:rPr>
                                  <m:t>0</m:t>
                                </m:r>
                              </m:sub>
                            </m:sSub>
                          </m:e>
                          <m:e>
                            <m:r>
                              <a:rPr kumimoji="1" lang="en-US" altLang="zh-TW" b="0" i="1" smtClean="0">
                                <a:latin typeface="Cambria Math" panose="02040503050406030204" pitchFamily="18" charset="0"/>
                                <a:cs typeface="Times New Roman" panose="02020603050405020304" pitchFamily="18" charset="0"/>
                              </a:rPr>
                              <m:t>𝐿</m:t>
                            </m:r>
                            <m:r>
                              <a:rPr kumimoji="1" lang="en-US" altLang="zh-TW" b="0" i="1" smtClean="0">
                                <a:latin typeface="Cambria Math" panose="02040503050406030204" pitchFamily="18" charset="0"/>
                                <a:cs typeface="Times New Roman" panose="02020603050405020304" pitchFamily="18" charset="0"/>
                              </a:rPr>
                              <m:t> , </m:t>
                            </m:r>
                            <m:r>
                              <a:rPr kumimoji="1" lang="en-US" altLang="zh-TW" b="0" i="1" smtClean="0">
                                <a:latin typeface="Cambria Math" panose="02040503050406030204" pitchFamily="18" charset="0"/>
                                <a:cs typeface="Times New Roman" panose="02020603050405020304" pitchFamily="18" charset="0"/>
                              </a:rPr>
                              <m:t>𝑜𝑡h𝑒𝑟𝑤𝑖𝑠𝑒</m:t>
                            </m:r>
                          </m:e>
                        </m:eqArr>
                      </m:e>
                    </m:d>
                  </m:oMath>
                </a14:m>
                <a:endParaRPr kumimoji="1" lang="en-US" altLang="zh-TW"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𝜂</m:t>
                        </m:r>
                      </m:e>
                      <m:sub>
                        <m:r>
                          <a:rPr kumimoji="1" lang="en-US" altLang="zh-TW" b="0" i="1" smtClean="0">
                            <a:latin typeface="Cambria Math" panose="02040503050406030204" pitchFamily="18" charset="0"/>
                            <a:cs typeface="Times New Roman" panose="02020603050405020304" pitchFamily="18" charset="0"/>
                          </a:rPr>
                          <m:t>𝑖𝑗𝑙</m:t>
                        </m:r>
                      </m:sub>
                    </m:sSub>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𝑚𝑎𝑥</m:t>
                    </m:r>
                    <m:d>
                      <m:dPr>
                        <m:begChr m:val="["/>
                        <m:endChr m:val="]"/>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𝐶</m:t>
                        </m:r>
                        <m:d>
                          <m:dPr>
                            <m:ctrlPr>
                              <a:rPr kumimoji="1" lang="en-US" altLang="zh-TW" b="0" i="1" smtClean="0">
                                <a:latin typeface="Cambria Math" panose="02040503050406030204" pitchFamily="18" charset="0"/>
                                <a:cs typeface="Times New Roman" panose="02020603050405020304" pitchFamily="18" charset="0"/>
                              </a:rPr>
                            </m:ctrlPr>
                          </m:dPr>
                          <m:e>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𝑚</m:t>
                                </m:r>
                              </m:e>
                              <m:sub>
                                <m:r>
                                  <a:rPr kumimoji="1" lang="en-US" altLang="zh-TW" b="0" i="1" smtClean="0">
                                    <a:latin typeface="Cambria Math" panose="02040503050406030204" pitchFamily="18" charset="0"/>
                                    <a:cs typeface="Times New Roman" panose="02020603050405020304" pitchFamily="18" charset="0"/>
                                  </a:rPr>
                                  <m:t>𝑖𝑙</m:t>
                                </m:r>
                              </m:sub>
                            </m:sSub>
                            <m:r>
                              <a:rPr kumimoji="1" lang="en-US" altLang="zh-TW" b="0" i="1" smtClean="0">
                                <a:latin typeface="Cambria Math" panose="02040503050406030204" pitchFamily="18" charset="0"/>
                                <a:cs typeface="Times New Roman" panose="02020603050405020304" pitchFamily="18" charset="0"/>
                              </a:rPr>
                              <m:t>,</m:t>
                            </m:r>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cs typeface="Times New Roman" panose="02020603050405020304" pitchFamily="18" charset="0"/>
                                  </a:rPr>
                                  <m:t>𝑚</m:t>
                                </m:r>
                              </m:e>
                              <m:sub>
                                <m:r>
                                  <a:rPr kumimoji="1" lang="en-US" altLang="zh-TW" b="0" i="1" smtClean="0">
                                    <a:latin typeface="Cambria Math" panose="02040503050406030204" pitchFamily="18" charset="0"/>
                                    <a:cs typeface="Times New Roman" panose="02020603050405020304" pitchFamily="18" charset="0"/>
                                  </a:rPr>
                                  <m:t>𝑗𝑙</m:t>
                                </m:r>
                              </m:sub>
                            </m:sSub>
                          </m:e>
                        </m:d>
                        <m:r>
                          <a:rPr kumimoji="1" lang="en-US" altLang="zh-TW" b="0" i="1" smtClean="0">
                            <a:latin typeface="Cambria Math" panose="02040503050406030204" pitchFamily="18" charset="0"/>
                            <a:cs typeface="Times New Roman" panose="02020603050405020304" pitchFamily="18" charset="0"/>
                          </a:rPr>
                          <m:t>1</m:t>
                        </m:r>
                      </m:e>
                    </m:d>
                  </m:oMath>
                </a14:m>
                <a:endParaRPr kumimoji="1"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kumimoji="1" lang="en-US" altLang="zh-TW" i="1">
                        <a:latin typeface="Cambria Math" panose="02040503050406030204" pitchFamily="18" charset="0"/>
                        <a:cs typeface="Times New Roman" panose="02020603050405020304" pitchFamily="18" charset="0"/>
                      </a:rPr>
                      <m:t>𝑝</m:t>
                    </m:r>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r>
                      <a:rPr kumimoji="1" lang="en-US" altLang="zh-TW" i="1">
                        <a:latin typeface="Cambria Math" panose="02040503050406030204" pitchFamily="18" charset="0"/>
                        <a:cs typeface="Times New Roman" panose="02020603050405020304" pitchFamily="18" charset="0"/>
                      </a:rPr>
                      <m:t>=</m:t>
                    </m:r>
                    <m:d>
                      <m:dPr>
                        <m:begChr m:val="{"/>
                        <m:endChr m:val=""/>
                        <m:ctrlPr>
                          <a:rPr kumimoji="1" lang="en-US" altLang="zh-TW" i="1">
                            <a:latin typeface="Cambria Math" panose="02040503050406030204" pitchFamily="18" charset="0"/>
                            <a:cs typeface="Times New Roman" panose="02020603050405020304" pitchFamily="18" charset="0"/>
                          </a:rPr>
                        </m:ctrlPr>
                      </m:dPr>
                      <m:e>
                        <m:eqArr>
                          <m:eqArrPr>
                            <m:ctrlPr>
                              <a:rPr kumimoji="1" lang="en-US" altLang="zh-TW" i="1">
                                <a:latin typeface="Cambria Math" panose="02040503050406030204" pitchFamily="18" charset="0"/>
                                <a:cs typeface="Times New Roman" panose="02020603050405020304" pitchFamily="18" charset="0"/>
                              </a:rPr>
                            </m:ctrlPr>
                          </m:eqArrPr>
                          <m:e>
                            <m:f>
                              <m:fPr>
                                <m:ctrlPr>
                                  <a:rPr kumimoji="1" lang="en-US" altLang="zh-TW" i="1">
                                    <a:latin typeface="Cambria Math" panose="02040503050406030204" pitchFamily="18" charset="0"/>
                                    <a:cs typeface="Times New Roman" panose="02020603050405020304" pitchFamily="18" charset="0"/>
                                  </a:rPr>
                                </m:ctrlPr>
                              </m:fPr>
                              <m:num>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𝑖𝑗𝑙</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sSubSup>
                                  <m:sSubSupPr>
                                    <m:ctrlPr>
                                      <a:rPr kumimoji="1" lang="en-US" altLang="zh-TW" i="1">
                                        <a:latin typeface="Cambria Math" panose="02040503050406030204" pitchFamily="18" charset="0"/>
                                        <a:cs typeface="Times New Roman" panose="02020603050405020304" pitchFamily="18" charset="0"/>
                                      </a:rPr>
                                    </m:ctrlPr>
                                  </m:sSub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𝜂</m:t>
                                    </m:r>
                                  </m:e>
                                  <m:sub>
                                    <m:r>
                                      <a:rPr kumimoji="1" lang="en-US" altLang="zh-TW" i="1">
                                        <a:latin typeface="Cambria Math" panose="02040503050406030204" pitchFamily="18" charset="0"/>
                                        <a:cs typeface="Times New Roman" panose="02020603050405020304" pitchFamily="18" charset="0"/>
                                      </a:rPr>
                                      <m:t>𝑖𝑗𝑙</m:t>
                                    </m:r>
                                  </m:sub>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𝛽</m:t>
                                    </m:r>
                                  </m:sup>
                                </m:sSubSup>
                              </m:num>
                              <m:den>
                                <m:nary>
                                  <m:naryPr>
                                    <m:chr m:val="∑"/>
                                    <m:supHide m:val="on"/>
                                    <m:ctrlPr>
                                      <a:rPr kumimoji="1" lang="en-US" altLang="zh-TW" i="1">
                                        <a:latin typeface="Cambria Math" panose="02040503050406030204" pitchFamily="18" charset="0"/>
                                        <a:cs typeface="Times New Roman" panose="02020603050405020304" pitchFamily="18" charset="0"/>
                                      </a:rPr>
                                    </m:ctrlPr>
                                  </m:naryPr>
                                  <m:sub>
                                    <m:r>
                                      <m:rPr>
                                        <m:brk m:alnAt="7"/>
                                      </m:rPr>
                                      <a:rPr kumimoji="1" lang="en-US" altLang="zh-TW" i="1">
                                        <a:latin typeface="Cambria Math" panose="02040503050406030204" pitchFamily="18" charset="0"/>
                                        <a:cs typeface="Times New Roman" panose="02020603050405020304" pitchFamily="18" charset="0"/>
                                      </a:rPr>
                                      <m:t>𝑢</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𝑎𝑙𝑙𝑜𝑤𝑒𝑑</m:t>
                                        </m:r>
                                      </m:e>
                                      <m: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𝑠</m:t>
                                        </m:r>
                                      </m:sub>
                                    </m:sSub>
                                    <m:r>
                                      <m:rPr>
                                        <m:brk m:alnAt="7"/>
                                      </m:rP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𝑡</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sub>
                                  <m:sup/>
                                  <m:e>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m:t>
                                        </m:r>
                                        <m:r>
                                          <a:rPr kumimoji="1" lang="en-US" altLang="zh-TW" i="1">
                                            <a:latin typeface="Cambria Math" panose="02040503050406030204" pitchFamily="18" charset="0"/>
                                            <a:cs typeface="Times New Roman" panose="02020603050405020304" pitchFamily="18" charset="0"/>
                                          </a:rPr>
                                          <m:t>𝑢</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sSubSup>
                                      <m:sSubSupPr>
                                        <m:ctrlPr>
                                          <a:rPr kumimoji="1" lang="en-US" altLang="zh-TW" i="1">
                                            <a:latin typeface="Cambria Math" panose="02040503050406030204" pitchFamily="18" charset="0"/>
                                            <a:cs typeface="Times New Roman" panose="02020603050405020304" pitchFamily="18" charset="0"/>
                                          </a:rPr>
                                        </m:ctrlPr>
                                      </m:sSubSup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𝜂</m:t>
                                        </m:r>
                                      </m:e>
                                      <m:sub>
                                        <m:r>
                                          <a:rPr kumimoji="1" lang="en-US" altLang="zh-TW" i="1">
                                            <a:latin typeface="Cambria Math" panose="02040503050406030204" pitchFamily="18" charset="0"/>
                                            <a:cs typeface="Times New Roman" panose="02020603050405020304" pitchFamily="18" charset="0"/>
                                          </a:rPr>
                                          <m:t>𝑖𝑗</m:t>
                                        </m:r>
                                        <m:r>
                                          <a:rPr kumimoji="1" lang="en-US" altLang="zh-TW" i="1">
                                            <a:latin typeface="Cambria Math" panose="02040503050406030204" pitchFamily="18" charset="0"/>
                                            <a:cs typeface="Times New Roman" panose="02020603050405020304" pitchFamily="18" charset="0"/>
                                          </a:rPr>
                                          <m:t>𝑢</m:t>
                                        </m:r>
                                      </m:sub>
                                      <m:sup>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𝛽</m:t>
                                        </m:r>
                                      </m:sup>
                                    </m:sSubSup>
                                  </m:e>
                                </m:nary>
                              </m:den>
                            </m:f>
                            <m:r>
                              <a:rPr kumimoji="1" lang="en-US" altLang="zh-TW" i="1">
                                <a:latin typeface="Cambria Math" panose="02040503050406030204" pitchFamily="18" charset="0"/>
                                <a:cs typeface="Times New Roman" panose="02020603050405020304" pitchFamily="18" charset="0"/>
                              </a:rPr>
                              <m:t>, </m:t>
                            </m:r>
                            <m:r>
                              <a:rPr kumimoji="1" lang="en-US" altLang="zh-TW" i="1">
                                <a:latin typeface="Cambria Math" panose="02040503050406030204" pitchFamily="18" charset="0"/>
                                <a:cs typeface="Times New Roman" panose="02020603050405020304" pitchFamily="18" charset="0"/>
                              </a:rPr>
                              <m:t>𝑖𝑓</m:t>
                            </m:r>
                            <m:r>
                              <a:rPr kumimoji="1" lang="en-US" altLang="zh-TW" i="1">
                                <a:latin typeface="Cambria Math" panose="02040503050406030204" pitchFamily="18" charset="0"/>
                                <a:cs typeface="Times New Roman" panose="02020603050405020304" pitchFamily="18" charset="0"/>
                              </a:rPr>
                              <m:t> </m:t>
                            </m:r>
                            <m:r>
                              <a:rPr kumimoji="1" lang="en-US" altLang="zh-TW" i="1">
                                <a:latin typeface="Cambria Math" panose="02040503050406030204" pitchFamily="18" charset="0"/>
                                <a:cs typeface="Times New Roman" panose="02020603050405020304" pitchFamily="18" charset="0"/>
                              </a:rPr>
                              <m:t>𝑙</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𝑎𝑙𝑙𝑜𝑤𝑒𝑑</m:t>
                                </m:r>
                              </m:e>
                              <m: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𝑠</m:t>
                                </m:r>
                              </m:sub>
                            </m:s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𝑡</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e>
                          <m:e>
                            <m:r>
                              <a:rPr kumimoji="1" lang="en-US" altLang="zh-TW" i="1">
                                <a:latin typeface="Cambria Math" panose="02040503050406030204" pitchFamily="18" charset="0"/>
                                <a:cs typeface="Times New Roman" panose="02020603050405020304" pitchFamily="18" charset="0"/>
                              </a:rPr>
                              <m:t>0, </m:t>
                            </m:r>
                            <m:r>
                              <a:rPr kumimoji="1" lang="en-US" altLang="zh-TW" i="1">
                                <a:latin typeface="Cambria Math" panose="02040503050406030204" pitchFamily="18" charset="0"/>
                                <a:cs typeface="Times New Roman" panose="02020603050405020304" pitchFamily="18" charset="0"/>
                              </a:rPr>
                              <m:t>𝑜𝑡h𝑒𝑟𝑤𝑖𝑠𝑒</m:t>
                            </m:r>
                          </m:e>
                        </m:eqArr>
                      </m:e>
                    </m:d>
                  </m:oMath>
                </a14:m>
                <a:endParaRPr kumimoji="1" lang="en-US" altLang="zh-TW"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blipFill>
                <a:blip r:embed="rId2"/>
                <a:stretch>
                  <a:fillRect l="-15440" t="-54360" b="-121512"/>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17</a:t>
            </a:fld>
            <a:endParaRPr kumimoji="1" lang="zh-TW" altLang="en-US"/>
          </a:p>
        </p:txBody>
      </p:sp>
      <p:sp>
        <p:nvSpPr>
          <p:cNvPr id="4" name="矩形 3">
            <a:extLst>
              <a:ext uri="{FF2B5EF4-FFF2-40B4-BE49-F238E27FC236}">
                <a16:creationId xmlns:a16="http://schemas.microsoft.com/office/drawing/2014/main" id="{28177783-C56A-CF42-ABE7-537E450F38B6}"/>
              </a:ext>
            </a:extLst>
          </p:cNvPr>
          <p:cNvSpPr/>
          <p:nvPr/>
        </p:nvSpPr>
        <p:spPr>
          <a:xfrm>
            <a:off x="7272668" y="3762759"/>
            <a:ext cx="3657600" cy="923330"/>
          </a:xfrm>
          <a:prstGeom prst="rect">
            <a:avLst/>
          </a:prstGeom>
        </p:spPr>
        <p:txBody>
          <a:bodyPr wrap="square">
            <a:spAutoFit/>
          </a:bodyPr>
          <a:lstStyle/>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𝜂</a:t>
            </a:r>
            <a:r>
              <a:rPr lang="en-US" altLang="zh-TW" baseline="-25000" dirty="0" err="1">
                <a:solidFill>
                  <a:srgbClr val="000000"/>
                </a:solidFill>
                <a:latin typeface="Times New Roman" panose="02020603050405020304" pitchFamily="18" charset="0"/>
                <a:cs typeface="Times New Roman" panose="02020603050405020304" pitchFamily="18" charset="0"/>
              </a:rPr>
              <a:t>ijl</a:t>
            </a:r>
            <a:r>
              <a:rPr lang="en-US" altLang="zh-TW" dirty="0">
                <a:solidFill>
                  <a:srgbClr val="000000"/>
                </a:solidFill>
                <a:latin typeface="Times New Roman" panose="02020603050405020304" pitchFamily="18" charset="0"/>
                <a:cs typeface="Times New Roman" panose="02020603050405020304" pitchFamily="18" charset="0"/>
              </a:rPr>
              <a:t> is the heuristic information</a:t>
            </a:r>
          </a:p>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𝛽 is a parameter of importance </a:t>
            </a:r>
          </a:p>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q is a random number</a:t>
            </a:r>
          </a:p>
        </p:txBody>
      </p:sp>
      <p:sp>
        <p:nvSpPr>
          <p:cNvPr id="7" name="矩形 6">
            <a:extLst>
              <a:ext uri="{FF2B5EF4-FFF2-40B4-BE49-F238E27FC236}">
                <a16:creationId xmlns:a16="http://schemas.microsoft.com/office/drawing/2014/main" id="{0281836B-9973-6A4E-8DCD-534EE0FDA52D}"/>
              </a:ext>
            </a:extLst>
          </p:cNvPr>
          <p:cNvSpPr/>
          <p:nvPr/>
        </p:nvSpPr>
        <p:spPr>
          <a:xfrm>
            <a:off x="7272668" y="5465823"/>
            <a:ext cx="4600352" cy="923330"/>
          </a:xfrm>
          <a:prstGeom prst="rect">
            <a:avLst/>
          </a:prstGeom>
        </p:spPr>
        <p:txBody>
          <a:bodyPr wrap="square">
            <a:spAutoFit/>
          </a:bodyPr>
          <a:lstStyle/>
          <a:p>
            <a:pPr marL="285750" indent="-285750">
              <a:buFont typeface="Arial" panose="020B0604020202020204" pitchFamily="34" charset="0"/>
              <a:buChar char="•"/>
            </a:pPr>
            <a:r>
              <a:rPr lang="en-US" altLang="zh-TW" dirty="0" err="1">
                <a:solidFill>
                  <a:srgbClr val="000000"/>
                </a:solidFill>
                <a:latin typeface="Times New Roman" panose="02020603050405020304" pitchFamily="18" charset="0"/>
                <a:cs typeface="Times New Roman" panose="02020603050405020304" pitchFamily="18" charset="0"/>
              </a:rPr>
              <a:t>allowed</a:t>
            </a:r>
            <a:r>
              <a:rPr lang="en-US" altLang="zh-TW" baseline="-25000" dirty="0" err="1">
                <a:solidFill>
                  <a:srgbClr val="000000"/>
                </a:solidFill>
                <a:latin typeface="Times New Roman" panose="02020603050405020304" pitchFamily="18" charset="0"/>
                <a:cs typeface="Times New Roman" panose="02020603050405020304" pitchFamily="18" charset="0"/>
              </a:rPr>
              <a:t>s</a:t>
            </a:r>
            <a:r>
              <a:rPr lang="en-US" altLang="zh-TW" dirty="0">
                <a:solidFill>
                  <a:srgbClr val="000000"/>
                </a:solidFill>
                <a:latin typeface="Times New Roman" panose="02020603050405020304" pitchFamily="18" charset="0"/>
                <a:cs typeface="Times New Roman" panose="02020603050405020304" pitchFamily="18" charset="0"/>
              </a:rPr>
              <a:t>(t) is the set of ordered and feasible residues for the ant s at time t</a:t>
            </a:r>
          </a:p>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p is probability</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61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ACO (4/4)</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2278542"/>
              </a:xfrm>
            </p:spPr>
            <p:txBody>
              <a:bodyPr/>
              <a:lstStyle/>
              <a:p>
                <a:r>
                  <a:rPr kumimoji="1" lang="en-US" altLang="zh-TW" dirty="0">
                    <a:latin typeface="Times New Roman" panose="02020603050405020304" pitchFamily="18" charset="0"/>
                    <a:cs typeface="Times New Roman" panose="02020603050405020304" pitchFamily="18" charset="0"/>
                  </a:rPr>
                  <a:t>In finding feasible solutions, ants perform </a:t>
                </a:r>
                <a:r>
                  <a:rPr kumimoji="1" lang="en-US" altLang="zh-TW" b="1" dirty="0">
                    <a:latin typeface="Times New Roman" panose="02020603050405020304" pitchFamily="18" charset="0"/>
                    <a:cs typeface="Times New Roman" panose="02020603050405020304" pitchFamily="18" charset="0"/>
                  </a:rPr>
                  <a:t>online step-by-step pheromone update</a:t>
                </a:r>
                <a:r>
                  <a:rPr kumimoji="1" lang="en-US" altLang="zh-TW" dirty="0">
                    <a:latin typeface="Times New Roman" panose="02020603050405020304" pitchFamily="18" charset="0"/>
                    <a:cs typeface="Times New Roman" panose="02020603050405020304" pitchFamily="18" charset="0"/>
                  </a:rPr>
                  <a:t> rule as:</a:t>
                </a:r>
              </a:p>
              <a:p>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𝑖𝑗𝑙</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r>
                          <a:rPr kumimoji="1" lang="en-US" altLang="zh-TW" i="1">
                            <a:latin typeface="Cambria Math" panose="02040503050406030204" pitchFamily="18" charset="0"/>
                            <a:cs typeface="Times New Roman" panose="02020603050405020304" pitchFamily="18" charset="0"/>
                          </a:rPr>
                          <m:t>+1</m:t>
                        </m:r>
                      </m:e>
                    </m:d>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1−</m:t>
                        </m:r>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𝜑</m:t>
                        </m:r>
                      </m:e>
                    </m:d>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cs typeface="Times New Roman" panose="02020603050405020304" pitchFamily="18" charset="0"/>
                          </a:rPr>
                          <m:t>𝑖𝑗𝑙</m:t>
                        </m:r>
                      </m:sub>
                    </m:sSub>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𝑡</m:t>
                        </m:r>
                      </m:e>
                    </m:d>
                    <m:r>
                      <a:rPr kumimoji="1" lang="en-US" altLang="zh-TW" i="1">
                        <a:latin typeface="Cambria Math" panose="02040503050406030204" pitchFamily="18" charset="0"/>
                        <a:cs typeface="Times New Roman" panose="02020603050405020304" pitchFamily="18" charset="0"/>
                      </a:rPr>
                      <m:t>+</m:t>
                    </m:r>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𝜑</m:t>
                    </m:r>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m:t>
                        </m:r>
                      </m:sub>
                    </m:sSub>
                  </m:oMath>
                </a14:m>
                <a:endParaRPr kumimoji="1" lang="en-US" altLang="zh-TW"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𝑠</m:t>
                        </m:r>
                      </m:sub>
                    </m:s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𝐶</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e>
                          <m: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𝑖𝑙</m:t>
                            </m:r>
                          </m:sub>
                        </m:s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e>
                          <m: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𝑗𝑙</m:t>
                            </m:r>
                          </m:sub>
                        </m:sSub>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den>
                    </m:f>
                  </m:oMath>
                </a14:m>
                <a:endParaRPr kumimoji="1"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838200" y="1825625"/>
                <a:ext cx="10515600" cy="2278542"/>
              </a:xfrm>
              <a:blipFill>
                <a:blip r:embed="rId2"/>
                <a:stretch>
                  <a:fillRect l="-1086" t="-4420"/>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18</a:t>
            </a:fld>
            <a:endParaRPr kumimoji="1" lang="zh-TW" altLang="en-US"/>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49FA8D32-1215-D24D-A3D9-121A3CB28B08}"/>
                  </a:ext>
                </a:extLst>
              </p:cNvPr>
              <p:cNvSpPr/>
              <p:nvPr/>
            </p:nvSpPr>
            <p:spPr>
              <a:xfrm>
                <a:off x="838200" y="4239104"/>
                <a:ext cx="3813865" cy="1200329"/>
              </a:xfrm>
              <a:prstGeom prst="rect">
                <a:avLst/>
              </a:prstGeom>
            </p:spPr>
            <p:txBody>
              <a:bodyPr wrap="none">
                <a:spAutoFit/>
              </a:bodyPr>
              <a:lstStyle/>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0 &lt; </a:t>
                </a:r>
                <a:r>
                  <a:rPr lang="zh-TW" altLang="en-US" i="1" dirty="0">
                    <a:solidFill>
                      <a:srgbClr val="000000"/>
                    </a:solidFill>
                    <a:latin typeface="Times New Roman" panose="02020603050405020304" pitchFamily="18" charset="0"/>
                    <a:cs typeface="Times New Roman" panose="02020603050405020304" pitchFamily="18" charset="0"/>
                  </a:rPr>
                  <a:t>𝞅</a:t>
                </a:r>
                <a:r>
                  <a:rPr lang="en-US" altLang="zh-TW" dirty="0">
                    <a:solidFill>
                      <a:srgbClr val="000000"/>
                    </a:solidFill>
                    <a:latin typeface="Times New Roman" panose="02020603050405020304" pitchFamily="18" charset="0"/>
                    <a:cs typeface="Times New Roman" panose="02020603050405020304" pitchFamily="18" charset="0"/>
                  </a:rPr>
                  <a:t> ≤</a:t>
                </a:r>
                <a:r>
                  <a:rPr lang="zh-TW" altLang="en-US" dirty="0">
                    <a:solidFill>
                      <a:srgbClr val="000000"/>
                    </a:solidFill>
                    <a:latin typeface="Times New Roman" panose="02020603050405020304" pitchFamily="18" charset="0"/>
                    <a:cs typeface="Times New Roman" panose="02020603050405020304" pitchFamily="18" charset="0"/>
                  </a:rPr>
                  <a:t> </a:t>
                </a:r>
                <a:r>
                  <a:rPr lang="en-US" altLang="zh-TW" dirty="0">
                    <a:solidFill>
                      <a:srgbClr val="000000"/>
                    </a:solidFill>
                    <a:latin typeface="Times New Roman" panose="02020603050405020304" pitchFamily="18" charset="0"/>
                    <a:cs typeface="Times New Roman" panose="02020603050405020304" pitchFamily="18" charset="0"/>
                  </a:rPr>
                  <a:t>1 is a constant</a:t>
                </a:r>
              </a:p>
              <a:p>
                <a:pPr marL="285750" indent="-285750">
                  <a:buFont typeface="Arial" panose="020B0604020202020204" pitchFamily="34" charset="0"/>
                  <a:buChar char="•"/>
                </a:pPr>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𝜏</m:t>
                        </m:r>
                      </m:e>
                      <m:sub>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𝑠</m:t>
                        </m:r>
                      </m:sub>
                    </m:sSub>
                  </m:oMath>
                </a14:m>
                <a:r>
                  <a:rPr lang="en-US" altLang="zh-TW" dirty="0">
                    <a:solidFill>
                      <a:srgbClr val="000000"/>
                    </a:solidFill>
                    <a:latin typeface="Times New Roman" panose="02020603050405020304" pitchFamily="18" charset="0"/>
                    <a:cs typeface="Times New Roman" panose="02020603050405020304" pitchFamily="18" charset="0"/>
                  </a:rPr>
                  <a:t> is found by the ant s</a:t>
                </a:r>
              </a:p>
              <a:p>
                <a:pPr marL="285750" indent="-285750">
                  <a:buFont typeface="Arial" panose="020B0604020202020204" pitchFamily="34" charset="0"/>
                  <a:buChar char="•"/>
                </a:pPr>
                <a:r>
                  <a:rPr lang="en-US" altLang="zh-TW" dirty="0">
                    <a:solidFill>
                      <a:srgbClr val="000000"/>
                    </a:solidFill>
                    <a:latin typeface="Times New Roman" panose="02020603050405020304" pitchFamily="18" charset="0"/>
                    <a:cs typeface="Times New Roman" panose="02020603050405020304" pitchFamily="18" charset="0"/>
                  </a:rPr>
                  <a:t>C is a scoring matrix</a:t>
                </a:r>
              </a:p>
              <a:p>
                <a:pPr marL="285750" indent="-285750">
                  <a:buFont typeface="Arial" panose="020B0604020202020204" pitchFamily="34" charset="0"/>
                  <a:buChar char="•"/>
                </a:pPr>
                <a:r>
                  <a:rPr lang="en-US" altLang="zh-TW" dirty="0">
                    <a:solidFill>
                      <a:srgbClr val="000000"/>
                    </a:solidFill>
                    <a:effectLst/>
                    <a:latin typeface="Times New Roman" panose="02020603050405020304" pitchFamily="18" charset="0"/>
                    <a:cs typeface="Times New Roman" panose="02020603050405020304" pitchFamily="18" charset="0"/>
                  </a:rPr>
                  <a:t>k is the length of </a:t>
                </a:r>
                <a:r>
                  <a:rPr lang="en-US" altLang="zh-TW" dirty="0">
                    <a:latin typeface="Times New Roman" panose="02020603050405020304" pitchFamily="18" charset="0"/>
                    <a:cs typeface="Times New Roman" panose="02020603050405020304" pitchFamily="18" charset="0"/>
                  </a:rPr>
                  <a:t>aligned sequences </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mc:Choice>
        <mc:Fallback>
          <p:sp>
            <p:nvSpPr>
              <p:cNvPr id="4" name="矩形 3">
                <a:extLst>
                  <a:ext uri="{FF2B5EF4-FFF2-40B4-BE49-F238E27FC236}">
                    <a16:creationId xmlns:a16="http://schemas.microsoft.com/office/drawing/2014/main" id="{49FA8D32-1215-D24D-A3D9-121A3CB28B08}"/>
                  </a:ext>
                </a:extLst>
              </p:cNvPr>
              <p:cNvSpPr>
                <a:spLocks noRot="1" noChangeAspect="1" noMove="1" noResize="1" noEditPoints="1" noAdjustHandles="1" noChangeArrowheads="1" noChangeShapeType="1" noTextEdit="1"/>
              </p:cNvSpPr>
              <p:nvPr/>
            </p:nvSpPr>
            <p:spPr>
              <a:xfrm>
                <a:off x="838200" y="4239104"/>
                <a:ext cx="3813865" cy="1200329"/>
              </a:xfrm>
              <a:prstGeom prst="rect">
                <a:avLst/>
              </a:prstGeom>
              <a:blipFill>
                <a:blip r:embed="rId3"/>
                <a:stretch>
                  <a:fillRect l="-1329" t="-2083" r="-332" b="-625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78392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19</a:t>
            </a:fld>
            <a:endParaRPr kumimoji="1" lang="zh-TW" altLang="en-US"/>
          </a:p>
        </p:txBody>
      </p:sp>
      <p:pic>
        <p:nvPicPr>
          <p:cNvPr id="4" name="圖片 3">
            <a:extLst>
              <a:ext uri="{FF2B5EF4-FFF2-40B4-BE49-F238E27FC236}">
                <a16:creationId xmlns:a16="http://schemas.microsoft.com/office/drawing/2014/main" id="{32BB92F7-CDE6-4849-A796-04047EDD15F3}"/>
              </a:ext>
            </a:extLst>
          </p:cNvPr>
          <p:cNvPicPr>
            <a:picLocks noChangeAspect="1"/>
          </p:cNvPicPr>
          <p:nvPr/>
        </p:nvPicPr>
        <p:blipFill>
          <a:blip r:embed="rId2"/>
          <a:stretch>
            <a:fillRect/>
          </a:stretch>
        </p:blipFill>
        <p:spPr>
          <a:xfrm>
            <a:off x="728330" y="1505049"/>
            <a:ext cx="10735340" cy="2512344"/>
          </a:xfrm>
          <a:prstGeom prst="rect">
            <a:avLst/>
          </a:prstGeom>
        </p:spPr>
      </p:pic>
      <p:pic>
        <p:nvPicPr>
          <p:cNvPr id="5" name="圖片 4">
            <a:extLst>
              <a:ext uri="{FF2B5EF4-FFF2-40B4-BE49-F238E27FC236}">
                <a16:creationId xmlns:a16="http://schemas.microsoft.com/office/drawing/2014/main" id="{8373A31C-491D-C94F-85DD-AC0409E2F5CC}"/>
              </a:ext>
            </a:extLst>
          </p:cNvPr>
          <p:cNvPicPr>
            <a:picLocks noChangeAspect="1"/>
          </p:cNvPicPr>
          <p:nvPr/>
        </p:nvPicPr>
        <p:blipFill>
          <a:blip r:embed="rId3"/>
          <a:stretch>
            <a:fillRect/>
          </a:stretch>
        </p:blipFill>
        <p:spPr>
          <a:xfrm>
            <a:off x="728330" y="4132929"/>
            <a:ext cx="10735340" cy="2379924"/>
          </a:xfrm>
          <a:prstGeom prst="rect">
            <a:avLst/>
          </a:prstGeom>
        </p:spPr>
      </p:pic>
      <p:sp>
        <p:nvSpPr>
          <p:cNvPr id="3" name="矩形 2">
            <a:extLst>
              <a:ext uri="{FF2B5EF4-FFF2-40B4-BE49-F238E27FC236}">
                <a16:creationId xmlns:a16="http://schemas.microsoft.com/office/drawing/2014/main" id="{FC63A485-2610-704D-9E54-AFD82EDE9FA1}"/>
              </a:ext>
            </a:extLst>
          </p:cNvPr>
          <p:cNvSpPr/>
          <p:nvPr/>
        </p:nvSpPr>
        <p:spPr>
          <a:xfrm>
            <a:off x="8642499" y="1389757"/>
            <a:ext cx="2668359"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SWISS- PROT benchmark</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cxnSp>
        <p:nvCxnSpPr>
          <p:cNvPr id="8" name="直線接點 7">
            <a:extLst>
              <a:ext uri="{FF2B5EF4-FFF2-40B4-BE49-F238E27FC236}">
                <a16:creationId xmlns:a16="http://schemas.microsoft.com/office/drawing/2014/main" id="{6780BBFF-981E-794E-AA43-B382B62BF769}"/>
              </a:ext>
            </a:extLst>
          </p:cNvPr>
          <p:cNvCxnSpPr>
            <a:cxnSpLocks/>
          </p:cNvCxnSpPr>
          <p:nvPr/>
        </p:nvCxnSpPr>
        <p:spPr>
          <a:xfrm>
            <a:off x="715927" y="2147777"/>
            <a:ext cx="0" cy="754911"/>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9" name="直線接點 8">
            <a:extLst>
              <a:ext uri="{FF2B5EF4-FFF2-40B4-BE49-F238E27FC236}">
                <a16:creationId xmlns:a16="http://schemas.microsoft.com/office/drawing/2014/main" id="{2523B38D-34D5-9C43-AB89-D88F876BA267}"/>
              </a:ext>
            </a:extLst>
          </p:cNvPr>
          <p:cNvCxnSpPr>
            <a:cxnSpLocks/>
          </p:cNvCxnSpPr>
          <p:nvPr/>
        </p:nvCxnSpPr>
        <p:spPr>
          <a:xfrm>
            <a:off x="715927" y="2987746"/>
            <a:ext cx="0" cy="754911"/>
          </a:xfrm>
          <a:prstGeom prst="line">
            <a:avLst/>
          </a:prstGeom>
          <a:ln w="38100">
            <a:solidFill>
              <a:schemeClr val="accent6"/>
            </a:solidFill>
          </a:ln>
        </p:spPr>
        <p:style>
          <a:lnRef idx="3">
            <a:schemeClr val="accent1"/>
          </a:lnRef>
          <a:fillRef idx="0">
            <a:schemeClr val="accent1"/>
          </a:fillRef>
          <a:effectRef idx="2">
            <a:schemeClr val="accent1"/>
          </a:effectRef>
          <a:fontRef idx="minor">
            <a:schemeClr val="tx1"/>
          </a:fontRef>
        </p:style>
      </p:cxnSp>
      <p:cxnSp>
        <p:nvCxnSpPr>
          <p:cNvPr id="10" name="直線接點 9">
            <a:extLst>
              <a:ext uri="{FF2B5EF4-FFF2-40B4-BE49-F238E27FC236}">
                <a16:creationId xmlns:a16="http://schemas.microsoft.com/office/drawing/2014/main" id="{3E21752A-C861-C94B-98DD-70ED85D1174F}"/>
              </a:ext>
            </a:extLst>
          </p:cNvPr>
          <p:cNvCxnSpPr>
            <a:cxnSpLocks/>
          </p:cNvCxnSpPr>
          <p:nvPr/>
        </p:nvCxnSpPr>
        <p:spPr>
          <a:xfrm>
            <a:off x="715927" y="4772103"/>
            <a:ext cx="0" cy="754911"/>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1" name="直線接點 10">
            <a:extLst>
              <a:ext uri="{FF2B5EF4-FFF2-40B4-BE49-F238E27FC236}">
                <a16:creationId xmlns:a16="http://schemas.microsoft.com/office/drawing/2014/main" id="{0BED795B-DB78-914F-B3E5-79592462A5EB}"/>
              </a:ext>
            </a:extLst>
          </p:cNvPr>
          <p:cNvCxnSpPr>
            <a:cxnSpLocks/>
          </p:cNvCxnSpPr>
          <p:nvPr/>
        </p:nvCxnSpPr>
        <p:spPr>
          <a:xfrm>
            <a:off x="715927" y="5590806"/>
            <a:ext cx="0" cy="754911"/>
          </a:xfrm>
          <a:prstGeom prst="line">
            <a:avLst/>
          </a:prstGeom>
          <a:ln w="38100">
            <a:solidFill>
              <a:schemeClr val="accent6"/>
            </a:solidFill>
          </a:ln>
        </p:spPr>
        <p:style>
          <a:lnRef idx="3">
            <a:schemeClr val="accent1"/>
          </a:lnRef>
          <a:fillRef idx="0">
            <a:schemeClr val="accent1"/>
          </a:fillRef>
          <a:effectRef idx="2">
            <a:schemeClr val="accent1"/>
          </a:effectRef>
          <a:fontRef idx="minor">
            <a:schemeClr val="tx1"/>
          </a:fontRef>
        </p:style>
      </p:cxnSp>
      <p:sp>
        <p:nvSpPr>
          <p:cNvPr id="12" name="矩形 11">
            <a:extLst>
              <a:ext uri="{FF2B5EF4-FFF2-40B4-BE49-F238E27FC236}">
                <a16:creationId xmlns:a16="http://schemas.microsoft.com/office/drawing/2014/main" id="{9CB09B9B-E236-4F49-9DCF-5A2AC085FBAB}"/>
              </a:ext>
            </a:extLst>
          </p:cNvPr>
          <p:cNvSpPr/>
          <p:nvPr/>
        </p:nvSpPr>
        <p:spPr>
          <a:xfrm>
            <a:off x="1892595" y="5322891"/>
            <a:ext cx="712382" cy="103345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文字方塊 12">
            <a:extLst>
              <a:ext uri="{FF2B5EF4-FFF2-40B4-BE49-F238E27FC236}">
                <a16:creationId xmlns:a16="http://schemas.microsoft.com/office/drawing/2014/main" id="{526AF271-C7FB-8D46-8F33-840B286ED23C}"/>
              </a:ext>
            </a:extLst>
          </p:cNvPr>
          <p:cNvSpPr txBox="1"/>
          <p:nvPr/>
        </p:nvSpPr>
        <p:spPr>
          <a:xfrm>
            <a:off x="31128" y="2401852"/>
            <a:ext cx="68480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DNA</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44AC1BD7-AC47-9D4F-AE10-FBFE1DF190D7}"/>
              </a:ext>
            </a:extLst>
          </p:cNvPr>
          <p:cNvSpPr txBox="1"/>
          <p:nvPr/>
        </p:nvSpPr>
        <p:spPr>
          <a:xfrm>
            <a:off x="-73495" y="3156763"/>
            <a:ext cx="851515"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Protein</a:t>
            </a:r>
            <a:endParaRPr kumimoji="1" lang="zh-TW" altLang="en-US"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FA660360-EC92-694C-B724-DA6C0CEDC7B6}"/>
              </a:ext>
            </a:extLst>
          </p:cNvPr>
          <p:cNvSpPr/>
          <p:nvPr/>
        </p:nvSpPr>
        <p:spPr>
          <a:xfrm>
            <a:off x="715927" y="3832727"/>
            <a:ext cx="1345240"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fitness value</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486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3094781" y="2766219"/>
            <a:ext cx="6002438" cy="1325563"/>
          </a:xfrm>
        </p:spPr>
        <p:txBody>
          <a:bodyPr/>
          <a:lstStyle/>
          <a:p>
            <a:pPr algn="ctr"/>
            <a:r>
              <a:rPr kumimoji="1" lang="en-US" altLang="zh-TW" dirty="0"/>
              <a:t>Thank you for listening</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20</a:t>
            </a:fld>
            <a:endParaRPr kumimoji="1" lang="zh-TW" altLang="en-US"/>
          </a:p>
        </p:txBody>
      </p:sp>
    </p:spTree>
    <p:extLst>
      <p:ext uri="{BB962C8B-B14F-4D97-AF65-F5344CB8AC3E}">
        <p14:creationId xmlns:p14="http://schemas.microsoft.com/office/powerpoint/2010/main" val="724646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21</a:t>
            </a:fld>
            <a:endParaRPr kumimoji="1" lang="zh-TW" altLang="en-US"/>
          </a:p>
        </p:txBody>
      </p:sp>
    </p:spTree>
    <p:extLst>
      <p:ext uri="{BB962C8B-B14F-4D97-AF65-F5344CB8AC3E}">
        <p14:creationId xmlns:p14="http://schemas.microsoft.com/office/powerpoint/2010/main" val="288549840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4186</TotalTime>
  <Words>620</Words>
  <Application>Microsoft Macintosh PowerPoint</Application>
  <PresentationFormat>寬螢幕</PresentationFormat>
  <Paragraphs>101</Paragraphs>
  <Slides>22</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22</vt:i4>
      </vt:variant>
    </vt:vector>
  </HeadingPairs>
  <TitlesOfParts>
    <vt:vector size="28" baseType="lpstr">
      <vt:lpstr>Arial</vt:lpstr>
      <vt:lpstr>Calibri</vt:lpstr>
      <vt:lpstr>Cambria Math</vt:lpstr>
      <vt:lpstr>Rockwell</vt:lpstr>
      <vt:lpstr>Times New Roman</vt:lpstr>
      <vt:lpstr>Office 佈景主題</vt:lpstr>
      <vt:lpstr>Genetic Algorithm with Ant Colony Optimization (GA-ACO) for Multiple Sequence Alignment</vt:lpstr>
      <vt:lpstr>Abstract</vt:lpstr>
      <vt:lpstr>Outline</vt:lpstr>
      <vt:lpstr>GA-ACO</vt:lpstr>
      <vt:lpstr>Initialization</vt:lpstr>
      <vt:lpstr>Fitness calculation</vt:lpstr>
      <vt:lpstr>Sexual reproduction (1/3) singlepoint</vt:lpstr>
      <vt:lpstr>Sexual reproduction (2/3) recombinematchcolumn</vt:lpstr>
      <vt:lpstr>Sexual reproduction (2/3) uniformexchangeblock</vt:lpstr>
      <vt:lpstr>Mutation (1/4) changespace</vt:lpstr>
      <vt:lpstr>Mutation (2/4) mergespace</vt:lpstr>
      <vt:lpstr>Mutation (3/4) decreasesearchspace</vt:lpstr>
      <vt:lpstr>Mutation (4/4) collectspace</vt:lpstr>
      <vt:lpstr>Heuristic (1/2) catchmatchcolumn</vt:lpstr>
      <vt:lpstr>Heuristic (2/2) movetohigherscoreposition</vt:lpstr>
      <vt:lpstr>Ant colony optimization (ACO) (1/4)</vt:lpstr>
      <vt:lpstr>ACO (2/4)</vt:lpstr>
      <vt:lpstr>ACO (3/4)</vt:lpstr>
      <vt:lpstr>ACO (4/4)</vt:lpstr>
      <vt:lpstr>Results</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26</cp:revision>
  <dcterms:created xsi:type="dcterms:W3CDTF">2021-03-28T03:57:23Z</dcterms:created>
  <dcterms:modified xsi:type="dcterms:W3CDTF">2021-08-03T07:07:48Z</dcterms:modified>
</cp:coreProperties>
</file>