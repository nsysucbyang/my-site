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24"/>
  </p:notesMasterIdLst>
  <p:sldIdLst>
    <p:sldId id="256" r:id="rId2"/>
    <p:sldId id="257" r:id="rId3"/>
    <p:sldId id="259" r:id="rId4"/>
    <p:sldId id="260" r:id="rId5"/>
    <p:sldId id="261" r:id="rId6"/>
    <p:sldId id="263" r:id="rId7"/>
    <p:sldId id="268" r:id="rId8"/>
    <p:sldId id="269" r:id="rId9"/>
    <p:sldId id="262" r:id="rId10"/>
    <p:sldId id="270" r:id="rId11"/>
    <p:sldId id="264" r:id="rId12"/>
    <p:sldId id="271" r:id="rId13"/>
    <p:sldId id="272" r:id="rId14"/>
    <p:sldId id="273" r:id="rId15"/>
    <p:sldId id="275" r:id="rId16"/>
    <p:sldId id="274" r:id="rId17"/>
    <p:sldId id="276" r:id="rId18"/>
    <p:sldId id="266" r:id="rId19"/>
    <p:sldId id="278" r:id="rId20"/>
    <p:sldId id="279" r:id="rId21"/>
    <p:sldId id="280" r:id="rId22"/>
    <p:sldId id="277"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0"/>
  </p:normalViewPr>
  <p:slideViewPr>
    <p:cSldViewPr snapToGrid="0" snapToObjects="1">
      <p:cViewPr>
        <p:scale>
          <a:sx n="119" d="100"/>
          <a:sy n="119" d="100"/>
        </p:scale>
        <p:origin x="312"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2021/7/5</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343E2FF-3FFC-0943-9A0D-A0B13F46FECA}" type="slidenum">
              <a:rPr kumimoji="1" lang="zh-TW" altLang="en-US" smtClean="0"/>
              <a:t>3</a:t>
            </a:fld>
            <a:endParaRPr kumimoji="1" lang="zh-TW" altLang="en-US"/>
          </a:p>
        </p:txBody>
      </p:sp>
    </p:spTree>
    <p:extLst>
      <p:ext uri="{BB962C8B-B14F-4D97-AF65-F5344CB8AC3E}">
        <p14:creationId xmlns:p14="http://schemas.microsoft.com/office/powerpoint/2010/main" val="1599816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2021/7/5</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2021/7/5</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2021/7/5</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2021/7/5</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2021/7/5</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2021/7/5</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2021/7/5</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2021/7/5</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2021/7/5</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2021/7/5</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2021/7/5</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2021/7/5</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p:txBody>
          <a:bodyPr>
            <a:normAutofit fontScale="90000"/>
          </a:bodyPr>
          <a:lstStyle/>
          <a:p>
            <a:r>
              <a:rPr kumimoji="1" lang="en-US" altLang="zh-TW" dirty="0"/>
              <a:t>Progressive Alignment Method Using Genetic Algorithm for Multiple Sequence Alignment</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602038"/>
            <a:ext cx="9144000" cy="2224604"/>
          </a:xfrm>
        </p:spPr>
        <p:txBody>
          <a:bodyPr>
            <a:normAutofit/>
          </a:bodyPr>
          <a:lstStyle/>
          <a:p>
            <a:r>
              <a:rPr kumimoji="1" lang="en" altLang="zh-TW" dirty="0">
                <a:latin typeface="Times New Roman" panose="02020603050405020304" pitchFamily="18" charset="0"/>
                <a:cs typeface="Times New Roman" panose="02020603050405020304" pitchFamily="18" charset="0"/>
              </a:rPr>
              <a:t>Farhana </a:t>
            </a:r>
            <a:r>
              <a:rPr kumimoji="1" lang="en" altLang="zh-TW" dirty="0" err="1">
                <a:latin typeface="Times New Roman" panose="02020603050405020304" pitchFamily="18" charset="0"/>
                <a:cs typeface="Times New Roman" panose="02020603050405020304" pitchFamily="18" charset="0"/>
              </a:rPr>
              <a:t>Naznin</a:t>
            </a:r>
            <a:r>
              <a:rPr kumimoji="1" lang="en" altLang="zh-TW" dirty="0">
                <a:latin typeface="Times New Roman" panose="02020603050405020304" pitchFamily="18" charset="0"/>
                <a:cs typeface="Times New Roman" panose="02020603050405020304" pitchFamily="18" charset="0"/>
              </a:rPr>
              <a:t>, </a:t>
            </a:r>
            <a:r>
              <a:rPr kumimoji="1" lang="en" altLang="zh-TW" dirty="0" err="1">
                <a:latin typeface="Times New Roman" panose="02020603050405020304" pitchFamily="18" charset="0"/>
                <a:cs typeface="Times New Roman" panose="02020603050405020304" pitchFamily="18" charset="0"/>
              </a:rPr>
              <a:t>Ruhul</a:t>
            </a:r>
            <a:r>
              <a:rPr kumimoji="1" lang="en" altLang="zh-TW" dirty="0">
                <a:latin typeface="Times New Roman" panose="02020603050405020304" pitchFamily="18" charset="0"/>
                <a:cs typeface="Times New Roman" panose="02020603050405020304" pitchFamily="18" charset="0"/>
              </a:rPr>
              <a:t> </a:t>
            </a:r>
            <a:r>
              <a:rPr kumimoji="1" lang="en" altLang="zh-TW" dirty="0" err="1">
                <a:latin typeface="Times New Roman" panose="02020603050405020304" pitchFamily="18" charset="0"/>
                <a:cs typeface="Times New Roman" panose="02020603050405020304" pitchFamily="18" charset="0"/>
              </a:rPr>
              <a:t>Sarker</a:t>
            </a:r>
            <a:r>
              <a:rPr kumimoji="1" lang="en" altLang="zh-TW" dirty="0">
                <a:latin typeface="Times New Roman" panose="02020603050405020304" pitchFamily="18" charset="0"/>
                <a:cs typeface="Times New Roman" panose="02020603050405020304" pitchFamily="18" charset="0"/>
              </a:rPr>
              <a:t>, Daryl </a:t>
            </a:r>
            <a:r>
              <a:rPr kumimoji="1" lang="en" altLang="zh-TW" dirty="0" err="1">
                <a:latin typeface="Times New Roman" panose="02020603050405020304" pitchFamily="18" charset="0"/>
                <a:cs typeface="Times New Roman" panose="02020603050405020304" pitchFamily="18" charset="0"/>
              </a:rPr>
              <a:t>Essam</a:t>
            </a:r>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IEEE Transactions on Evolutionary Computation, 2012</a:t>
            </a:r>
          </a:p>
          <a:p>
            <a:r>
              <a:rPr kumimoji="1" lang="en" altLang="zh-TW" dirty="0">
                <a:latin typeface="Times New Roman" panose="02020603050405020304" pitchFamily="18" charset="0"/>
                <a:cs typeface="Times New Roman" panose="02020603050405020304" pitchFamily="18" charset="0"/>
              </a:rPr>
              <a:t>Volume 16, Issue 5, pp. 615-631</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July 6, 2021</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(1/2)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10515600" cy="4895850"/>
          </a:xfrm>
        </p:spPr>
        <p:txBody>
          <a:bodyPr>
            <a:normAutofit/>
          </a:bodyPr>
          <a:lstStyle/>
          <a:p>
            <a:pPr marL="0" indent="0" algn="just">
              <a:buNone/>
            </a:pPr>
            <a:r>
              <a:rPr kumimoji="1" lang="en" altLang="zh-TW" dirty="0">
                <a:latin typeface="Times New Roman" panose="02020603050405020304" pitchFamily="18" charset="0"/>
                <a:cs typeface="Times New Roman" panose="02020603050405020304" pitchFamily="18" charset="0"/>
              </a:rPr>
              <a:t>In this paper, we have proposed a</a:t>
            </a:r>
            <a:r>
              <a:rPr kumimoji="1" lang="en" altLang="zh-TW" b="1" dirty="0">
                <a:latin typeface="Times New Roman" panose="02020603050405020304" pitchFamily="18" charset="0"/>
                <a:cs typeface="Times New Roman" panose="02020603050405020304" pitchFamily="18" charset="0"/>
              </a:rPr>
              <a:t> progressive alignment method </a:t>
            </a:r>
            <a:r>
              <a:rPr kumimoji="1" lang="en" altLang="zh-TW" dirty="0">
                <a:latin typeface="Times New Roman" panose="02020603050405020304" pitchFamily="18" charset="0"/>
                <a:cs typeface="Times New Roman" panose="02020603050405020304" pitchFamily="18" charset="0"/>
              </a:rPr>
              <a:t>using a </a:t>
            </a:r>
            <a:r>
              <a:rPr kumimoji="1" lang="en" altLang="zh-TW" b="1" dirty="0">
                <a:latin typeface="Times New Roman" panose="02020603050405020304" pitchFamily="18" charset="0"/>
                <a:cs typeface="Times New Roman" panose="02020603050405020304" pitchFamily="18" charset="0"/>
              </a:rPr>
              <a:t>genetic algorithm </a:t>
            </a:r>
            <a:r>
              <a:rPr kumimoji="1" lang="en" altLang="zh-TW" dirty="0">
                <a:latin typeface="Times New Roman" panose="02020603050405020304" pitchFamily="18" charset="0"/>
                <a:cs typeface="Times New Roman" panose="02020603050405020304" pitchFamily="18" charset="0"/>
              </a:rPr>
              <a:t>for multiple sequence alignment, named </a:t>
            </a:r>
            <a:r>
              <a:rPr kumimoji="1" lang="en" altLang="zh-TW" b="1" dirty="0">
                <a:latin typeface="Times New Roman" panose="02020603050405020304" pitchFamily="18" charset="0"/>
                <a:cs typeface="Times New Roman" panose="02020603050405020304" pitchFamily="18" charset="0"/>
              </a:rPr>
              <a:t>GAPAM</a:t>
            </a:r>
            <a:r>
              <a:rPr kumimoji="1" lang="en" altLang="zh-TW" dirty="0">
                <a:latin typeface="Times New Roman" panose="02020603050405020304" pitchFamily="18" charset="0"/>
                <a:cs typeface="Times New Roman" panose="02020603050405020304" pitchFamily="18" charset="0"/>
              </a:rPr>
              <a:t>. We have introduced two new mechanisms to generate an initial population: the first mechanism is to generate guide trees with </a:t>
            </a:r>
            <a:r>
              <a:rPr kumimoji="1" lang="en" altLang="zh-TW" b="1" dirty="0">
                <a:latin typeface="Times New Roman" panose="02020603050405020304" pitchFamily="18" charset="0"/>
                <a:cs typeface="Times New Roman" panose="02020603050405020304" pitchFamily="18" charset="0"/>
              </a:rPr>
              <a:t>randomly</a:t>
            </a:r>
            <a:r>
              <a:rPr kumimoji="1" lang="en" altLang="zh-TW" dirty="0">
                <a:latin typeface="Times New Roman" panose="02020603050405020304" pitchFamily="18" charset="0"/>
                <a:cs typeface="Times New Roman" panose="02020603050405020304" pitchFamily="18" charset="0"/>
              </a:rPr>
              <a:t> selected sequences and the second is </a:t>
            </a:r>
            <a:r>
              <a:rPr kumimoji="1" lang="en" altLang="zh-TW" b="1" dirty="0">
                <a:latin typeface="Times New Roman" panose="02020603050405020304" pitchFamily="18" charset="0"/>
                <a:cs typeface="Times New Roman" panose="02020603050405020304" pitchFamily="18" charset="0"/>
              </a:rPr>
              <a:t>shuffling</a:t>
            </a:r>
            <a:r>
              <a:rPr kumimoji="1" lang="en" altLang="zh-TW" dirty="0">
                <a:latin typeface="Times New Roman" panose="02020603050405020304" pitchFamily="18" charset="0"/>
                <a:cs typeface="Times New Roman" panose="02020603050405020304" pitchFamily="18" charset="0"/>
              </a:rPr>
              <a:t> the sequences inside such trees. Two different genetic operators have been implemented with GAPAM. To test the performance of our algorithm, we have compared it with existing well-known methods, such as PRRP, CLUSTALX, DIALIGN, HMMT, SB_PIMA, ML_PIMA, MULTALIGN, and PILEUP8, and also other methods, based on genetic algorithms (GA), such as SAGA, MSA-GA, and RBT-GA, by solving a number of benchmark datasets from </a:t>
            </a:r>
            <a:r>
              <a:rPr kumimoji="1" lang="en" altLang="zh-TW" dirty="0" err="1">
                <a:latin typeface="Times New Roman" panose="02020603050405020304" pitchFamily="18" charset="0"/>
                <a:cs typeface="Times New Roman" panose="02020603050405020304" pitchFamily="18" charset="0"/>
              </a:rPr>
              <a:t>BAliBase</a:t>
            </a:r>
            <a:r>
              <a:rPr kumimoji="1" lang="en" altLang="zh-TW" dirty="0">
                <a:latin typeface="Times New Roman" panose="02020603050405020304" pitchFamily="18" charset="0"/>
                <a:cs typeface="Times New Roman" panose="02020603050405020304" pitchFamily="18" charset="0"/>
              </a:rPr>
              <a:t> 2.0.</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736690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(2/2)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pPr marL="0" indent="0" algn="just">
              <a:buNone/>
            </a:pPr>
            <a:r>
              <a:rPr kumimoji="1" lang="en" altLang="zh-TW" dirty="0">
                <a:latin typeface="Times New Roman" panose="02020603050405020304" pitchFamily="18" charset="0"/>
                <a:cs typeface="Times New Roman" panose="02020603050405020304" pitchFamily="18" charset="0"/>
              </a:rPr>
              <a:t>To make a fairer comparison with the GA based algorithms such as MSA-GA and RBT-GA, we have performed further experiments covering all the datasets reported by those two algorithms. The experimental results showed that GAPAM achieved better solutions than the others for most of the cases, and also revealed that the overall performance of the proposed method outperformed the other methods mentioned above.</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913948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10515600" cy="4785382"/>
          </a:xfrm>
        </p:spPr>
        <p:txBody>
          <a:bodyPr numCol="1">
            <a:normAutofit/>
          </a:bodyPr>
          <a:lstStyle/>
          <a:p>
            <a:r>
              <a:rPr kumimoji="1" lang="en" altLang="zh-TW" dirty="0">
                <a:latin typeface="Times New Roman" panose="02020603050405020304" pitchFamily="18" charset="0"/>
                <a:cs typeface="Times New Roman" panose="02020603050405020304" pitchFamily="18" charset="0"/>
              </a:rPr>
              <a:t>Multiple sequence alignment (MSA)</a:t>
            </a:r>
          </a:p>
          <a:p>
            <a:r>
              <a:rPr kumimoji="1" lang="en" altLang="zh-TW" dirty="0">
                <a:latin typeface="Times New Roman" panose="02020603050405020304" pitchFamily="18" charset="0"/>
                <a:cs typeface="Times New Roman" panose="02020603050405020304" pitchFamily="18" charset="0"/>
              </a:rPr>
              <a:t>Distance</a:t>
            </a:r>
          </a:p>
          <a:p>
            <a:r>
              <a:rPr kumimoji="1" lang="en" altLang="zh-TW" dirty="0">
                <a:latin typeface="Times New Roman" panose="02020603050405020304" pitchFamily="18" charset="0"/>
                <a:cs typeface="Times New Roman" panose="02020603050405020304" pitchFamily="18" charset="0"/>
              </a:rPr>
              <a:t>Guide tree and MSA</a:t>
            </a:r>
          </a:p>
          <a:p>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GAPAM</a:t>
            </a:r>
          </a:p>
          <a:p>
            <a:r>
              <a:rPr kumimoji="1" lang="en" altLang="zh-TW" dirty="0">
                <a:latin typeface="Times New Roman" panose="02020603050405020304" pitchFamily="18" charset="0"/>
                <a:cs typeface="Times New Roman" panose="02020603050405020304" pitchFamily="18" charset="0"/>
              </a:rPr>
              <a:t>Initialization</a:t>
            </a:r>
            <a:r>
              <a:rPr kumimoji="1" lang="zh-TW" altLang="en-US" dirty="0">
                <a:latin typeface="Times New Roman" panose="02020603050405020304" pitchFamily="18" charset="0"/>
                <a:cs typeface="Times New Roman" panose="02020603050405020304" pitchFamily="18" charset="0"/>
              </a:rPr>
              <a:t>：</a:t>
            </a:r>
            <a:r>
              <a:rPr kumimoji="1" lang="en-US" altLang="zh-TW" dirty="0">
                <a:latin typeface="Times New Roman" panose="02020603050405020304" pitchFamily="18" charset="0"/>
                <a:cs typeface="Times New Roman" panose="02020603050405020304" pitchFamily="18" charset="0"/>
              </a:rPr>
              <a:t>Random and shuffle</a:t>
            </a:r>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Child Generation</a:t>
            </a:r>
            <a:r>
              <a:rPr kumimoji="1" lang="zh-TW" altLang="en-US" dirty="0">
                <a:latin typeface="Times New Roman" panose="02020603050405020304" pitchFamily="18" charset="0"/>
                <a:cs typeface="Times New Roman" panose="02020603050405020304" pitchFamily="18" charset="0"/>
              </a:rPr>
              <a:t>：</a:t>
            </a:r>
            <a:r>
              <a:rPr kumimoji="1" lang="en" altLang="zh-TW" dirty="0">
                <a:latin typeface="Times New Roman" panose="02020603050405020304" pitchFamily="18" charset="0"/>
                <a:cs typeface="Times New Roman" panose="02020603050405020304" pitchFamily="18" charset="0"/>
              </a:rPr>
              <a:t>Crossover or mutation</a:t>
            </a:r>
          </a:p>
          <a:p>
            <a:r>
              <a:rPr kumimoji="1" lang="en" altLang="zh-TW" dirty="0">
                <a:latin typeface="Times New Roman" panose="02020603050405020304" pitchFamily="18" charset="0"/>
                <a:cs typeface="Times New Roman" panose="02020603050405020304" pitchFamily="18" charset="0"/>
              </a:rPr>
              <a:t>Selection</a:t>
            </a:r>
            <a:r>
              <a:rPr kumimoji="1" lang="zh-TW" altLang="en-US" dirty="0">
                <a:latin typeface="Times New Roman" panose="02020603050405020304" pitchFamily="18" charset="0"/>
                <a:cs typeface="Times New Roman" panose="02020603050405020304" pitchFamily="18" charset="0"/>
              </a:rPr>
              <a:t>：</a:t>
            </a:r>
            <a:r>
              <a:rPr kumimoji="1" lang="en" altLang="zh-TW" dirty="0">
                <a:latin typeface="Times New Roman" panose="02020603050405020304" pitchFamily="18" charset="0"/>
                <a:cs typeface="Times New Roman" panose="02020603050405020304" pitchFamily="18" charset="0"/>
              </a:rPr>
              <a:t>Fitness calculation</a:t>
            </a:r>
          </a:p>
          <a:p>
            <a:r>
              <a:rPr kumimoji="1" lang="en" altLang="zh-TW" dirty="0">
                <a:latin typeface="Times New Roman" panose="02020603050405020304" pitchFamily="18" charset="0"/>
                <a:cs typeface="Times New Roman" panose="02020603050405020304" pitchFamily="18" charset="0"/>
              </a:rPr>
              <a:t>Termination</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spTree>
    <p:extLst>
      <p:ext uri="{BB962C8B-B14F-4D97-AF65-F5344CB8AC3E}">
        <p14:creationId xmlns:p14="http://schemas.microsoft.com/office/powerpoint/2010/main" val="464672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Multiple sequence alignment (MSA)</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4"/>
            <a:ext cx="10515600" cy="5032375"/>
          </a:xfrm>
        </p:spPr>
        <p:txBody>
          <a:bodyPr>
            <a:normAutofit/>
          </a:bodyPr>
          <a:lstStyle/>
          <a:p>
            <a:r>
              <a:rPr kumimoji="1" lang="en-US" altLang="zh-TW" dirty="0">
                <a:latin typeface="Times New Roman" panose="02020603050405020304" pitchFamily="18" charset="0"/>
                <a:cs typeface="Times New Roman" panose="02020603050405020304" pitchFamily="18" charset="0"/>
              </a:rPr>
              <a:t>Match, mismatch, gap</a:t>
            </a:r>
          </a:p>
          <a:p>
            <a:r>
              <a:rPr kumimoji="1" lang="en" altLang="zh-TW" dirty="0">
                <a:latin typeface="Times New Roman" panose="02020603050405020304" pitchFamily="18" charset="0"/>
                <a:cs typeface="Times New Roman" panose="02020603050405020304" pitchFamily="18" charset="0"/>
              </a:rPr>
              <a:t>Maximal matching</a:t>
            </a: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Progressive alignment method</a:t>
            </a:r>
          </a:p>
          <a:p>
            <a:r>
              <a:rPr kumimoji="1" lang="en" altLang="zh-TW" dirty="0">
                <a:latin typeface="Times New Roman" panose="02020603050405020304" pitchFamily="18" charset="0"/>
                <a:cs typeface="Times New Roman" panose="02020603050405020304" pitchFamily="18" charset="0"/>
              </a:rPr>
              <a:t>It builds up a final MSA by combining pairwise alignments beginning with the most similar pair and progressing to the most distantly related pair.</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1026" name="Picture 2">
            <a:extLst>
              <a:ext uri="{FF2B5EF4-FFF2-40B4-BE49-F238E27FC236}">
                <a16:creationId xmlns:a16="http://schemas.microsoft.com/office/drawing/2014/main" id="{EDDE82FF-07BA-694F-B689-5FA4BCF3EA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729" y="2886337"/>
            <a:ext cx="5181600" cy="203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5523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Distance </a:t>
            </a:r>
            <a:r>
              <a:rPr kumimoji="1" lang="en-US" altLang="zh-TW" sz="2400" dirty="0"/>
              <a:t>The divergence of sequences (1/3)</a:t>
            </a: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10515600" cy="4895850"/>
              </a:xfrm>
            </p:spPr>
            <p:txBody>
              <a:bodyPr>
                <a:normAutofit/>
              </a:bodyPr>
              <a:lstStyle/>
              <a:p>
                <a:r>
                  <a:rPr kumimoji="1" lang="en" altLang="zh-TW" b="1" i="1" dirty="0">
                    <a:latin typeface="Times New Roman" panose="02020603050405020304" pitchFamily="18" charset="0"/>
                    <a:cs typeface="Times New Roman" panose="02020603050405020304" pitchFamily="18" charset="0"/>
                  </a:rPr>
                  <a:t>k-Mer</a:t>
                </a:r>
              </a:p>
              <a:p>
                <a:r>
                  <a:rPr kumimoji="1" lang="en" altLang="zh-TW" dirty="0">
                    <a:latin typeface="Times New Roman" panose="02020603050405020304" pitchFamily="18" charset="0"/>
                    <a:cs typeface="Times New Roman" panose="02020603050405020304" pitchFamily="18" charset="0"/>
                  </a:rPr>
                  <a:t>An unaligned pair of sequences</a:t>
                </a: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r>
                  <a:rPr kumimoji="1" lang="en" altLang="zh-TW" dirty="0" err="1">
                    <a:latin typeface="Times New Roman" panose="02020603050405020304" pitchFamily="18" charset="0"/>
                    <a:cs typeface="Times New Roman" panose="02020603050405020304" pitchFamily="18" charset="0"/>
                  </a:rPr>
                  <a:t>kmerdist</a:t>
                </a:r>
                <a:r>
                  <a:rPr kumimoji="1" lang="en" altLang="zh-TW" dirty="0">
                    <a:latin typeface="Times New Roman" panose="02020603050405020304" pitchFamily="18" charset="0"/>
                    <a:cs typeface="Times New Roman" panose="02020603050405020304" pitchFamily="18" charset="0"/>
                  </a:rPr>
                  <a:t> = </a:t>
                </a:r>
                <a14:m>
                  <m:oMath xmlns:m="http://schemas.openxmlformats.org/officeDocument/2006/math">
                    <m:nary>
                      <m:naryPr>
                        <m:chr m:val="∑"/>
                        <m:ctrlPr>
                          <a:rPr kumimoji="1" lang="en" altLang="zh-TW" i="1" smtClean="0">
                            <a:latin typeface="Cambria Math" panose="02040503050406030204" pitchFamily="18" charset="0"/>
                            <a:cs typeface="Times New Roman" panose="02020603050405020304" pitchFamily="18" charset="0"/>
                          </a:rPr>
                        </m:ctrlPr>
                      </m:naryPr>
                      <m:sub>
                        <m:r>
                          <m:rPr>
                            <m:brk m:alnAt="23"/>
                          </m:rP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cs typeface="Times New Roman" panose="02020603050405020304" pitchFamily="18" charset="0"/>
                          </a:rPr>
                          <m:t>=1</m:t>
                        </m:r>
                      </m:sub>
                      <m:sup>
                        <m:r>
                          <a:rPr kumimoji="1" lang="en-US" altLang="zh-TW" b="0" i="1" smtClean="0">
                            <a:latin typeface="Cambria Math" panose="02040503050406030204" pitchFamily="18" charset="0"/>
                            <a:cs typeface="Times New Roman" panose="02020603050405020304" pitchFamily="18" charset="0"/>
                          </a:rPr>
                          <m:t>𝑚</m:t>
                        </m:r>
                      </m:sup>
                      <m:e>
                        <m:sSup>
                          <m:sSupPr>
                            <m:ctrlPr>
                              <a:rPr kumimoji="1" lang="en" altLang="zh-TW" i="1" smtClean="0">
                                <a:latin typeface="Cambria Math" panose="02040503050406030204" pitchFamily="18" charset="0"/>
                                <a:cs typeface="Times New Roman" panose="02020603050405020304" pitchFamily="18" charset="0"/>
                              </a:rPr>
                            </m:ctrlPr>
                          </m:sSupPr>
                          <m:e>
                            <m:d>
                              <m:dPr>
                                <m:ctrlPr>
                                  <a:rPr kumimoji="1" lang="en" altLang="zh-TW" i="1" smtClean="0">
                                    <a:latin typeface="Cambria Math" panose="02040503050406030204" pitchFamily="18" charset="0"/>
                                    <a:cs typeface="Times New Roman" panose="02020603050405020304" pitchFamily="18" charset="0"/>
                                  </a:rPr>
                                </m:ctrlPr>
                              </m:dPr>
                              <m:e>
                                <m:sSubSup>
                                  <m:sSubSupPr>
                                    <m:ctrlPr>
                                      <a:rPr kumimoji="1" lang="en" altLang="zh-TW" i="1" smtClean="0">
                                        <a:latin typeface="Cambria Math" panose="02040503050406030204" pitchFamily="18" charset="0"/>
                                        <a:cs typeface="Times New Roman" panose="02020603050405020304" pitchFamily="18" charset="0"/>
                                      </a:rPr>
                                    </m:ctrlPr>
                                  </m:sSubSupPr>
                                  <m:e>
                                    <m:r>
                                      <a:rPr kumimoji="1" lang="en-US" altLang="zh-TW" b="0" i="1" smtClean="0">
                                        <a:latin typeface="Cambria Math" panose="02040503050406030204" pitchFamily="18" charset="0"/>
                                        <a:cs typeface="Times New Roman" panose="02020603050405020304" pitchFamily="18" charset="0"/>
                                      </a:rPr>
                                      <m:t>𝐶</m:t>
                                    </m:r>
                                  </m:e>
                                  <m:sub>
                                    <m:r>
                                      <a:rPr kumimoji="1" lang="en-US" altLang="zh-TW" b="0" i="1" smtClean="0">
                                        <a:latin typeface="Cambria Math" panose="02040503050406030204" pitchFamily="18" charset="0"/>
                                        <a:cs typeface="Times New Roman" panose="02020603050405020304" pitchFamily="18" charset="0"/>
                                      </a:rPr>
                                      <m:t>𝑖</m:t>
                                    </m:r>
                                  </m:sub>
                                  <m:sup>
                                    <m:r>
                                      <a:rPr kumimoji="1" lang="en-US" altLang="zh-TW" b="0" i="1" smtClean="0">
                                        <a:latin typeface="Cambria Math" panose="02040503050406030204" pitchFamily="18" charset="0"/>
                                        <a:cs typeface="Times New Roman" panose="02020603050405020304" pitchFamily="18" charset="0"/>
                                      </a:rPr>
                                      <m:t>𝑋</m:t>
                                    </m:r>
                                  </m:sup>
                                </m:sSubSup>
                                <m:r>
                                  <a:rPr kumimoji="1" lang="en-US" altLang="zh-TW" b="0" i="1" smtClean="0">
                                    <a:latin typeface="Cambria Math" panose="02040503050406030204" pitchFamily="18" charset="0"/>
                                    <a:cs typeface="Times New Roman" panose="02020603050405020304" pitchFamily="18" charset="0"/>
                                  </a:rPr>
                                  <m:t>−</m:t>
                                </m:r>
                                <m:sSubSup>
                                  <m:sSubSupPr>
                                    <m:ctrlPr>
                                      <a:rPr kumimoji="1" lang="en-US" altLang="zh-TW" b="0" i="1" smtClean="0">
                                        <a:latin typeface="Cambria Math" panose="02040503050406030204" pitchFamily="18" charset="0"/>
                                        <a:cs typeface="Times New Roman" panose="02020603050405020304" pitchFamily="18" charset="0"/>
                                      </a:rPr>
                                    </m:ctrlPr>
                                  </m:sSubSupPr>
                                  <m:e>
                                    <m:r>
                                      <a:rPr kumimoji="1" lang="en-US" altLang="zh-TW" b="0" i="1" smtClean="0">
                                        <a:latin typeface="Cambria Math" panose="02040503050406030204" pitchFamily="18" charset="0"/>
                                        <a:cs typeface="Times New Roman" panose="02020603050405020304" pitchFamily="18" charset="0"/>
                                      </a:rPr>
                                      <m:t>𝐶</m:t>
                                    </m:r>
                                  </m:e>
                                  <m:sub>
                                    <m:r>
                                      <a:rPr kumimoji="1" lang="en-US" altLang="zh-TW" b="0" i="1" smtClean="0">
                                        <a:latin typeface="Cambria Math" panose="02040503050406030204" pitchFamily="18" charset="0"/>
                                        <a:cs typeface="Times New Roman" panose="02020603050405020304" pitchFamily="18" charset="0"/>
                                      </a:rPr>
                                      <m:t>𝑖</m:t>
                                    </m:r>
                                  </m:sub>
                                  <m:sup>
                                    <m:r>
                                      <a:rPr kumimoji="1" lang="en-US" altLang="zh-TW" b="0" i="1" smtClean="0">
                                        <a:latin typeface="Cambria Math" panose="02040503050406030204" pitchFamily="18" charset="0"/>
                                        <a:cs typeface="Times New Roman" panose="02020603050405020304" pitchFamily="18" charset="0"/>
                                      </a:rPr>
                                      <m:t>𝑌</m:t>
                                    </m:r>
                                  </m:sup>
                                </m:sSubSup>
                              </m:e>
                            </m:d>
                          </m:e>
                          <m:sup>
                            <m:r>
                              <a:rPr kumimoji="1" lang="en-US" altLang="zh-TW" b="0" i="1" smtClean="0">
                                <a:latin typeface="Cambria Math" panose="02040503050406030204" pitchFamily="18" charset="0"/>
                                <a:cs typeface="Times New Roman" panose="02020603050405020304" pitchFamily="18" charset="0"/>
                              </a:rPr>
                              <m:t>2</m:t>
                            </m:r>
                          </m:sup>
                        </m:sSup>
                      </m:e>
                    </m:nary>
                  </m:oMath>
                </a14:m>
                <a:endParaRPr kumimoji="1" lang="en" altLang="zh-TW"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98C395C6-3EBC-4D47-9C22-52A1E36DD1C0}"/>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2"/>
                <a:stretch>
                  <a:fillRect l="-1086" t="-2067" b="-16279"/>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graphicFrame>
        <p:nvGraphicFramePr>
          <p:cNvPr id="5" name="表格 6">
            <a:extLst>
              <a:ext uri="{FF2B5EF4-FFF2-40B4-BE49-F238E27FC236}">
                <a16:creationId xmlns:a16="http://schemas.microsoft.com/office/drawing/2014/main" id="{06535ADE-19AF-684E-AEED-DE3B7B37FC86}"/>
              </a:ext>
            </a:extLst>
          </p:cNvPr>
          <p:cNvGraphicFramePr>
            <a:graphicFrameLocks noGrp="1"/>
          </p:cNvGraphicFramePr>
          <p:nvPr>
            <p:extLst>
              <p:ext uri="{D42A27DB-BD31-4B8C-83A1-F6EECF244321}">
                <p14:modId xmlns:p14="http://schemas.microsoft.com/office/powerpoint/2010/main" val="3100093826"/>
              </p:ext>
            </p:extLst>
          </p:nvPr>
        </p:nvGraphicFramePr>
        <p:xfrm>
          <a:off x="1064436" y="2955117"/>
          <a:ext cx="10289364" cy="2828260"/>
        </p:xfrm>
        <a:graphic>
          <a:graphicData uri="http://schemas.openxmlformats.org/drawingml/2006/table">
            <a:tbl>
              <a:tblPr firstRow="1" bandRow="1">
                <a:tableStyleId>{2D5ABB26-0587-4C30-8999-92F81FD0307C}</a:tableStyleId>
              </a:tblPr>
              <a:tblGrid>
                <a:gridCol w="5144682">
                  <a:extLst>
                    <a:ext uri="{9D8B030D-6E8A-4147-A177-3AD203B41FA5}">
                      <a16:colId xmlns:a16="http://schemas.microsoft.com/office/drawing/2014/main" val="805095465"/>
                    </a:ext>
                  </a:extLst>
                </a:gridCol>
                <a:gridCol w="5144682">
                  <a:extLst>
                    <a:ext uri="{9D8B030D-6E8A-4147-A177-3AD203B41FA5}">
                      <a16:colId xmlns:a16="http://schemas.microsoft.com/office/drawing/2014/main" val="3820775436"/>
                    </a:ext>
                  </a:extLst>
                </a:gridCol>
              </a:tblGrid>
              <a:tr h="707065">
                <a:tc>
                  <a:txBody>
                    <a:bodyPr/>
                    <a:lstStyle/>
                    <a:p>
                      <a:pPr algn="l"/>
                      <a:r>
                        <a:rPr kumimoji="1" lang="en" altLang="zh-TW" sz="2800" dirty="0">
                          <a:latin typeface="Times New Roman" panose="02020603050405020304" pitchFamily="18" charset="0"/>
                          <a:cs typeface="Times New Roman" panose="02020603050405020304" pitchFamily="18" charset="0"/>
                        </a:rPr>
                        <a:t>X = ABCDEF</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en" altLang="zh-TW" sz="2800" dirty="0">
                          <a:latin typeface="Times New Roman" panose="02020603050405020304" pitchFamily="18" charset="0"/>
                          <a:cs typeface="Times New Roman" panose="02020603050405020304" pitchFamily="18" charset="0"/>
                        </a:rPr>
                        <a:t>Y = CDBCDA</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8109141"/>
                  </a:ext>
                </a:extLst>
              </a:tr>
              <a:tr h="707065">
                <a:tc>
                  <a:txBody>
                    <a:bodyPr/>
                    <a:lstStyle/>
                    <a:p>
                      <a:pPr algn="l"/>
                      <a:r>
                        <a:rPr kumimoji="1" lang="en" altLang="zh-TW" sz="2800" dirty="0">
                          <a:latin typeface="Times New Roman" panose="02020603050405020304" pitchFamily="18" charset="0"/>
                          <a:cs typeface="Times New Roman" panose="02020603050405020304" pitchFamily="18" charset="0"/>
                        </a:rPr>
                        <a:t>W</a:t>
                      </a:r>
                      <a:r>
                        <a:rPr kumimoji="1" lang="en" altLang="zh-TW" sz="2800" baseline="-25000" dirty="0">
                          <a:latin typeface="Times New Roman" panose="02020603050405020304" pitchFamily="18" charset="0"/>
                          <a:cs typeface="Times New Roman" panose="02020603050405020304" pitchFamily="18" charset="0"/>
                        </a:rPr>
                        <a:t>X</a:t>
                      </a:r>
                      <a:r>
                        <a:rPr kumimoji="1" lang="en" altLang="zh-TW" sz="2800" dirty="0">
                          <a:latin typeface="Times New Roman" panose="02020603050405020304" pitchFamily="18" charset="0"/>
                          <a:cs typeface="Times New Roman" panose="02020603050405020304" pitchFamily="18" charset="0"/>
                        </a:rPr>
                        <a:t> ={ABC, BCD, CDE, DEF} </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2800" dirty="0">
                          <a:latin typeface="Times New Roman" panose="02020603050405020304" pitchFamily="18" charset="0"/>
                          <a:cs typeface="Times New Roman" panose="02020603050405020304" pitchFamily="18" charset="0"/>
                        </a:rPr>
                        <a:t>W</a:t>
                      </a:r>
                      <a:r>
                        <a:rPr kumimoji="1" lang="en" altLang="zh-TW" sz="2800" baseline="-25000" dirty="0">
                          <a:latin typeface="Times New Roman" panose="02020603050405020304" pitchFamily="18" charset="0"/>
                          <a:cs typeface="Times New Roman" panose="02020603050405020304" pitchFamily="18" charset="0"/>
                        </a:rPr>
                        <a:t>Y</a:t>
                      </a:r>
                      <a:r>
                        <a:rPr kumimoji="1" lang="en" altLang="zh-TW" sz="2800" dirty="0">
                          <a:latin typeface="Times New Roman" panose="02020603050405020304" pitchFamily="18" charset="0"/>
                          <a:cs typeface="Times New Roman" panose="02020603050405020304" pitchFamily="18" charset="0"/>
                        </a:rPr>
                        <a:t> = {CDB, DBC, BCD, CDA}</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2961753"/>
                  </a:ext>
                </a:extLst>
              </a:tr>
              <a:tr h="707065">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2800" dirty="0">
                          <a:latin typeface="Times New Roman" panose="02020603050405020304" pitchFamily="18" charset="0"/>
                          <a:cs typeface="Times New Roman" panose="02020603050405020304" pitchFamily="18" charset="0"/>
                        </a:rPr>
                        <a:t>W</a:t>
                      </a:r>
                      <a:r>
                        <a:rPr kumimoji="1" lang="en" altLang="zh-TW" sz="2800" baseline="-25000" dirty="0">
                          <a:latin typeface="Times New Roman" panose="02020603050405020304" pitchFamily="18" charset="0"/>
                          <a:cs typeface="Times New Roman" panose="02020603050405020304" pitchFamily="18" charset="0"/>
                        </a:rPr>
                        <a:t>XY</a:t>
                      </a:r>
                      <a:r>
                        <a:rPr kumimoji="1" lang="en" altLang="zh-TW" sz="2800" dirty="0">
                          <a:latin typeface="Times New Roman" panose="02020603050405020304" pitchFamily="18" charset="0"/>
                          <a:cs typeface="Times New Roman" panose="02020603050405020304" pitchFamily="18" charset="0"/>
                        </a:rPr>
                        <a:t> ={ABC,BCD,CDE,DEF,CDB,DBC,CDA}</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l"/>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2292158"/>
                  </a:ext>
                </a:extLst>
              </a:tr>
              <a:tr h="707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TW" sz="2800" dirty="0">
                          <a:latin typeface="Times New Roman" panose="02020603050405020304" pitchFamily="18" charset="0"/>
                          <a:cs typeface="Times New Roman" panose="02020603050405020304" pitchFamily="18" charset="0"/>
                        </a:rPr>
                        <a:t>C</a:t>
                      </a:r>
                      <a:r>
                        <a:rPr kumimoji="1" lang="en" altLang="zh-TW" sz="2800" baseline="30000" dirty="0">
                          <a:latin typeface="Times New Roman" panose="02020603050405020304" pitchFamily="18" charset="0"/>
                          <a:cs typeface="Times New Roman" panose="02020603050405020304" pitchFamily="18" charset="0"/>
                        </a:rPr>
                        <a:t>X</a:t>
                      </a:r>
                      <a:r>
                        <a:rPr kumimoji="1" lang="en" altLang="zh-TW" sz="2800" dirty="0">
                          <a:latin typeface="Times New Roman" panose="02020603050405020304" pitchFamily="18" charset="0"/>
                          <a:cs typeface="Times New Roman" panose="02020603050405020304" pitchFamily="18" charset="0"/>
                        </a:rPr>
                        <a:t> = {1,1,1,1,0,0,0} </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en" altLang="zh-TW" sz="2800" dirty="0">
                          <a:latin typeface="Times New Roman" panose="02020603050405020304" pitchFamily="18" charset="0"/>
                          <a:cs typeface="Times New Roman" panose="02020603050405020304" pitchFamily="18" charset="0"/>
                        </a:rPr>
                        <a:t>C</a:t>
                      </a:r>
                      <a:r>
                        <a:rPr kumimoji="1" lang="en" altLang="zh-TW" sz="2800" baseline="30000" dirty="0">
                          <a:latin typeface="Times New Roman" panose="02020603050405020304" pitchFamily="18" charset="0"/>
                          <a:cs typeface="Times New Roman" panose="02020603050405020304" pitchFamily="18" charset="0"/>
                        </a:rPr>
                        <a:t>Y</a:t>
                      </a:r>
                      <a:r>
                        <a:rPr kumimoji="1" lang="en" altLang="zh-TW" sz="2800" dirty="0">
                          <a:latin typeface="Times New Roman" panose="02020603050405020304" pitchFamily="18" charset="0"/>
                          <a:cs typeface="Times New Roman" panose="02020603050405020304" pitchFamily="18" charset="0"/>
                        </a:rPr>
                        <a:t> = {0,1,0,0,1,1,1}</a:t>
                      </a: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5271453"/>
                  </a:ext>
                </a:extLst>
              </a:tr>
            </a:tbl>
          </a:graphicData>
        </a:graphic>
      </p:graphicFrame>
    </p:spTree>
    <p:extLst>
      <p:ext uri="{BB962C8B-B14F-4D97-AF65-F5344CB8AC3E}">
        <p14:creationId xmlns:p14="http://schemas.microsoft.com/office/powerpoint/2010/main" val="940748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Distance </a:t>
            </a:r>
            <a:r>
              <a:rPr kumimoji="1" lang="en-US" altLang="zh-TW" sz="2400" dirty="0"/>
              <a:t>The divergence of sequences (2/3)</a:t>
            </a: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a:bodyPr>
              <a:lstStyle/>
              <a:p>
                <a:r>
                  <a:rPr kumimoji="1" lang="en" altLang="zh-TW" b="1" i="1" dirty="0">
                    <a:latin typeface="Times New Roman" panose="02020603050405020304" pitchFamily="18" charset="0"/>
                    <a:cs typeface="Times New Roman" panose="02020603050405020304" pitchFamily="18" charset="0"/>
                  </a:rPr>
                  <a:t>Dynamic</a:t>
                </a:r>
              </a:p>
              <a:p>
                <a:r>
                  <a:rPr kumimoji="1" lang="en" altLang="zh-TW" dirty="0">
                    <a:latin typeface="Times New Roman" panose="02020603050405020304" pitchFamily="18" charset="0"/>
                    <a:cs typeface="Times New Roman" panose="02020603050405020304" pitchFamily="18" charset="0"/>
                  </a:rPr>
                  <a:t>The distance of each pair is calculated from a pairwise alignment.</a:t>
                </a:r>
              </a:p>
              <a:p>
                <a:r>
                  <a:rPr kumimoji="1" lang="en" altLang="zh-TW" dirty="0">
                    <a:latin typeface="Times New Roman" panose="02020603050405020304" pitchFamily="18" charset="0"/>
                    <a:cs typeface="Times New Roman" panose="02020603050405020304" pitchFamily="18" charset="0"/>
                  </a:rPr>
                  <a:t>Dynamic programming</a:t>
                </a:r>
              </a:p>
              <a:p>
                <a14:m>
                  <m:oMath xmlns:m="http://schemas.openxmlformats.org/officeDocument/2006/math">
                    <m:r>
                      <a:rPr kumimoji="1" lang="en-US" altLang="zh-TW" b="0" i="1" smtClean="0">
                        <a:latin typeface="Cambria Math" panose="02040503050406030204" pitchFamily="18" charset="0"/>
                        <a:cs typeface="Times New Roman" panose="02020603050405020304" pitchFamily="18" charset="0"/>
                      </a:rPr>
                      <m:t>𝐹</m:t>
                    </m:r>
                    <m:d>
                      <m:dPr>
                        <m:ctrlPr>
                          <a:rPr kumimoji="1" lang="en-US" altLang="zh-TW" b="0" i="1" smtClean="0">
                            <a:latin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𝑗</m:t>
                        </m:r>
                      </m:e>
                    </m:d>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𝑚𝑎𝑥</m:t>
                    </m:r>
                    <m:d>
                      <m:dPr>
                        <m:begChr m:val="{"/>
                        <m:endChr m:val=""/>
                        <m:ctrlPr>
                          <a:rPr kumimoji="1" lang="en-US" altLang="zh-TW" b="0" i="1" smtClean="0">
                            <a:latin typeface="Cambria Math" panose="02040503050406030204" pitchFamily="18" charset="0"/>
                            <a:cs typeface="Times New Roman" panose="02020603050405020304" pitchFamily="18" charset="0"/>
                          </a:rPr>
                        </m:ctrlPr>
                      </m:dPr>
                      <m:e>
                        <m:eqArr>
                          <m:eqArrPr>
                            <m:ctrlPr>
                              <a:rPr kumimoji="1" lang="en-US" altLang="zh-TW" b="0" i="1" smtClean="0">
                                <a:latin typeface="Cambria Math" panose="02040503050406030204" pitchFamily="18" charset="0"/>
                                <a:cs typeface="Times New Roman" panose="02020603050405020304" pitchFamily="18" charset="0"/>
                              </a:rPr>
                            </m:ctrlPr>
                          </m:eqArrPr>
                          <m:e>
                            <m:f>
                              <m:fPr>
                                <m:type m:val="noBar"/>
                                <m:ctrlPr>
                                  <a:rPr kumimoji="1" lang="en-US" altLang="zh-TW" b="0" i="1" smtClean="0">
                                    <a:latin typeface="Cambria Math" panose="02040503050406030204" pitchFamily="18" charset="0"/>
                                    <a:cs typeface="Times New Roman" panose="02020603050405020304" pitchFamily="18" charset="0"/>
                                  </a:rPr>
                                </m:ctrlPr>
                              </m:fPr>
                              <m:num>
                                <m:r>
                                  <a:rPr kumimoji="1" lang="en-US" altLang="zh-TW" b="0" i="1" smtClean="0">
                                    <a:latin typeface="Cambria Math" panose="02040503050406030204" pitchFamily="18" charset="0"/>
                                    <a:cs typeface="Times New Roman" panose="02020603050405020304" pitchFamily="18" charset="0"/>
                                  </a:rPr>
                                  <m:t>𝐹</m:t>
                                </m:r>
                                <m:d>
                                  <m:dPr>
                                    <m:ctrlPr>
                                      <a:rPr kumimoji="1" lang="en-US" altLang="zh-TW" b="0" i="1" smtClean="0">
                                        <a:latin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cs typeface="Times New Roman" panose="02020603050405020304" pitchFamily="18" charset="0"/>
                                      </a:rPr>
                                      <m:t>−1, </m:t>
                                    </m:r>
                                    <m:r>
                                      <a:rPr kumimoji="1" lang="en-US" altLang="zh-TW" b="0" i="1" smtClean="0">
                                        <a:latin typeface="Cambria Math" panose="02040503050406030204" pitchFamily="18" charset="0"/>
                                        <a:cs typeface="Times New Roman" panose="02020603050405020304" pitchFamily="18" charset="0"/>
                                      </a:rPr>
                                      <m:t>𝑗</m:t>
                                    </m:r>
                                    <m:r>
                                      <a:rPr kumimoji="1" lang="en-US" altLang="zh-TW" b="0" i="1" smtClean="0">
                                        <a:latin typeface="Cambria Math" panose="02040503050406030204" pitchFamily="18" charset="0"/>
                                        <a:cs typeface="Times New Roman" panose="02020603050405020304" pitchFamily="18" charset="0"/>
                                      </a:rPr>
                                      <m:t>−1</m:t>
                                    </m:r>
                                  </m:e>
                                </m:d>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𝑆</m:t>
                                </m:r>
                                <m:r>
                                  <a:rPr kumimoji="1" lang="en-US" altLang="zh-TW" b="0" i="1" smtClean="0">
                                    <a:latin typeface="Cambria Math" panose="02040503050406030204" pitchFamily="18" charset="0"/>
                                    <a:cs typeface="Times New Roman" panose="02020603050405020304" pitchFamily="18" charset="0"/>
                                  </a:rPr>
                                  <m:t>(</m:t>
                                </m:r>
                                <m:sSub>
                                  <m:sSubPr>
                                    <m:ctrlPr>
                                      <a:rPr kumimoji="1" lang="en-US" altLang="zh-TW" b="0" i="1" smtClean="0">
                                        <a:latin typeface="Cambria Math" panose="02040503050406030204" pitchFamily="18" charset="0"/>
                                        <a:cs typeface="Times New Roman" panose="02020603050405020304" pitchFamily="18" charset="0"/>
                                      </a:rPr>
                                    </m:ctrlPr>
                                  </m:sSubPr>
                                  <m:e>
                                    <m:r>
                                      <a:rPr kumimoji="1" lang="en-US" altLang="zh-TW" b="0" i="1" smtClean="0">
                                        <a:latin typeface="Cambria Math" panose="02040503050406030204" pitchFamily="18" charset="0"/>
                                        <a:cs typeface="Times New Roman" panose="02020603050405020304" pitchFamily="18" charset="0"/>
                                      </a:rPr>
                                      <m:t>𝑥</m:t>
                                    </m:r>
                                  </m:e>
                                  <m:sub>
                                    <m:r>
                                      <a:rPr kumimoji="1" lang="en-US" altLang="zh-TW" b="0" i="1" smtClean="0">
                                        <a:latin typeface="Cambria Math" panose="02040503050406030204" pitchFamily="18" charset="0"/>
                                        <a:cs typeface="Times New Roman" panose="02020603050405020304" pitchFamily="18" charset="0"/>
                                      </a:rPr>
                                      <m:t>𝑖</m:t>
                                    </m:r>
                                  </m:sub>
                                </m:sSub>
                                <m:r>
                                  <a:rPr kumimoji="1" lang="en-US" altLang="zh-TW" b="0" i="1" smtClean="0">
                                    <a:latin typeface="Cambria Math" panose="02040503050406030204" pitchFamily="18" charset="0"/>
                                    <a:cs typeface="Times New Roman" panose="02020603050405020304" pitchFamily="18" charset="0"/>
                                  </a:rPr>
                                  <m:t>,</m:t>
                                </m:r>
                                <m:sSub>
                                  <m:sSubPr>
                                    <m:ctrlPr>
                                      <a:rPr kumimoji="1" lang="en-US" altLang="zh-TW" b="0" i="1" smtClean="0">
                                        <a:latin typeface="Cambria Math" panose="02040503050406030204" pitchFamily="18" charset="0"/>
                                        <a:cs typeface="Times New Roman" panose="02020603050405020304" pitchFamily="18" charset="0"/>
                                      </a:rPr>
                                    </m:ctrlPr>
                                  </m:sSubPr>
                                  <m:e>
                                    <m:r>
                                      <a:rPr kumimoji="1" lang="en-US" altLang="zh-TW" b="0" i="1" smtClean="0">
                                        <a:latin typeface="Cambria Math" panose="02040503050406030204" pitchFamily="18" charset="0"/>
                                        <a:cs typeface="Times New Roman" panose="02020603050405020304" pitchFamily="18" charset="0"/>
                                      </a:rPr>
                                      <m:t>𝑦</m:t>
                                    </m:r>
                                  </m:e>
                                  <m:sub>
                                    <m:r>
                                      <a:rPr kumimoji="1" lang="en-US" altLang="zh-TW" b="0" i="1" smtClean="0">
                                        <a:latin typeface="Cambria Math" panose="02040503050406030204" pitchFamily="18" charset="0"/>
                                        <a:cs typeface="Times New Roman" panose="02020603050405020304" pitchFamily="18" charset="0"/>
                                      </a:rPr>
                                      <m:t>𝑖</m:t>
                                    </m:r>
                                  </m:sub>
                                </m:sSub>
                                <m:r>
                                  <a:rPr kumimoji="1" lang="en-US" altLang="zh-TW" b="0" i="1" smtClean="0">
                                    <a:latin typeface="Cambria Math" panose="02040503050406030204" pitchFamily="18" charset="0"/>
                                    <a:cs typeface="Times New Roman" panose="02020603050405020304" pitchFamily="18" charset="0"/>
                                  </a:rPr>
                                  <m:t>)</m:t>
                                </m:r>
                              </m:num>
                              <m:den>
                                <m:r>
                                  <a:rPr kumimoji="1" lang="en-US" altLang="zh-TW" i="1">
                                    <a:latin typeface="Cambria Math" panose="02040503050406030204" pitchFamily="18" charset="0"/>
                                    <a:cs typeface="Times New Roman" panose="02020603050405020304" pitchFamily="18" charset="0"/>
                                  </a:rPr>
                                  <m:t>𝐹</m:t>
                                </m:r>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𝑖</m:t>
                                    </m:r>
                                    <m:r>
                                      <a:rPr kumimoji="1" lang="en-US" altLang="zh-TW" i="1">
                                        <a:latin typeface="Cambria Math" panose="02040503050406030204" pitchFamily="18" charset="0"/>
                                        <a:cs typeface="Times New Roman" panose="02020603050405020304" pitchFamily="18" charset="0"/>
                                      </a:rPr>
                                      <m:t>−1, </m:t>
                                    </m:r>
                                    <m:r>
                                      <a:rPr kumimoji="1" lang="en-US" altLang="zh-TW" i="1">
                                        <a:latin typeface="Cambria Math" panose="02040503050406030204" pitchFamily="18" charset="0"/>
                                        <a:cs typeface="Times New Roman" panose="02020603050405020304" pitchFamily="18" charset="0"/>
                                      </a:rPr>
                                      <m:t>𝑗</m:t>
                                    </m:r>
                                  </m:e>
                                </m:d>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𝑑</m:t>
                                </m:r>
                              </m:den>
                            </m:f>
                          </m:e>
                          <m:e>
                            <m:f>
                              <m:fPr>
                                <m:type m:val="noBar"/>
                                <m:ctrlPr>
                                  <a:rPr kumimoji="1" lang="en-US" altLang="zh-TW" b="0" i="1" smtClean="0">
                                    <a:latin typeface="Cambria Math" panose="02040503050406030204" pitchFamily="18" charset="0"/>
                                    <a:cs typeface="Times New Roman" panose="02020603050405020304" pitchFamily="18" charset="0"/>
                                  </a:rPr>
                                </m:ctrlPr>
                              </m:fPr>
                              <m:num>
                                <m:r>
                                  <a:rPr kumimoji="1" lang="en-US" altLang="zh-TW" i="1">
                                    <a:latin typeface="Cambria Math" panose="02040503050406030204" pitchFamily="18" charset="0"/>
                                    <a:cs typeface="Times New Roman" panose="02020603050405020304" pitchFamily="18" charset="0"/>
                                  </a:rPr>
                                  <m:t>𝐹</m:t>
                                </m:r>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𝑖</m:t>
                                    </m:r>
                                    <m:r>
                                      <a:rPr kumimoji="1" lang="en-US" altLang="zh-TW" i="1">
                                        <a:latin typeface="Cambria Math" panose="02040503050406030204" pitchFamily="18" charset="0"/>
                                        <a:cs typeface="Times New Roman" panose="02020603050405020304" pitchFamily="18" charset="0"/>
                                      </a:rPr>
                                      <m:t> </m:t>
                                    </m:r>
                                    <m:r>
                                      <a:rPr kumimoji="1" lang="en-US" altLang="zh-TW" i="1">
                                        <a:latin typeface="Cambria Math" panose="02040503050406030204" pitchFamily="18" charset="0"/>
                                        <a:cs typeface="Times New Roman" panose="02020603050405020304" pitchFamily="18" charset="0"/>
                                      </a:rPr>
                                      <m:t>𝑗</m:t>
                                    </m:r>
                                    <m:r>
                                      <a:rPr kumimoji="1" lang="en-US" altLang="zh-TW" i="1">
                                        <a:latin typeface="Cambria Math" panose="02040503050406030204" pitchFamily="18" charset="0"/>
                                        <a:cs typeface="Times New Roman" panose="02020603050405020304" pitchFamily="18" charset="0"/>
                                      </a:rPr>
                                      <m:t>−1</m:t>
                                    </m:r>
                                  </m:e>
                                </m:d>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𝑑</m:t>
                                </m:r>
                              </m:num>
                              <m:den>
                                <m:r>
                                  <a:rPr kumimoji="1" lang="en-US" altLang="zh-TW" b="0" i="1" smtClean="0">
                                    <a:latin typeface="Cambria Math" panose="02040503050406030204" pitchFamily="18" charset="0"/>
                                    <a:cs typeface="Times New Roman" panose="02020603050405020304" pitchFamily="18" charset="0"/>
                                  </a:rPr>
                                  <m:t>0</m:t>
                                </m:r>
                              </m:den>
                            </m:f>
                          </m:e>
                        </m:eqArr>
                      </m:e>
                    </m:d>
                  </m:oMath>
                </a14:m>
                <a:endParaRPr kumimoji="1" lang="en" altLang="zh-TW" dirty="0">
                  <a:latin typeface="Times New Roman" panose="02020603050405020304" pitchFamily="18" charset="0"/>
                  <a:cs typeface="Times New Roman" panose="02020603050405020304" pitchFamily="18" charset="0"/>
                </a:endParaRPr>
              </a:p>
              <a:p>
                <a14:m>
                  <m:oMath xmlns:m="http://schemas.openxmlformats.org/officeDocument/2006/math">
                    <m:r>
                      <a:rPr kumimoji="1" lang="en-US" altLang="zh-TW" i="1">
                        <a:latin typeface="Cambria Math" panose="02040503050406030204" pitchFamily="18" charset="0"/>
                        <a:cs typeface="Times New Roman" panose="02020603050405020304" pitchFamily="18" charset="0"/>
                      </a:rPr>
                      <m:t>𝑆</m:t>
                    </m:r>
                    <m:r>
                      <a:rPr kumimoji="1" lang="en-US" altLang="zh-TW" i="1">
                        <a:latin typeface="Cambria Math" panose="02040503050406030204" pitchFamily="18" charset="0"/>
                        <a:cs typeface="Times New Roman" panose="02020603050405020304" pitchFamily="18" charset="0"/>
                      </a:rPr>
                      <m:t>(</m:t>
                    </m:r>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cs typeface="Times New Roman" panose="02020603050405020304" pitchFamily="18" charset="0"/>
                          </a:rPr>
                          <m:t>𝑥</m:t>
                        </m:r>
                      </m:e>
                      <m:sub>
                        <m:r>
                          <a:rPr kumimoji="1" lang="en-US" altLang="zh-TW" i="1">
                            <a:latin typeface="Cambria Math" panose="02040503050406030204" pitchFamily="18" charset="0"/>
                            <a:cs typeface="Times New Roman" panose="02020603050405020304" pitchFamily="18" charset="0"/>
                          </a:rPr>
                          <m:t>𝑖</m:t>
                        </m:r>
                      </m:sub>
                    </m:sSub>
                    <m:r>
                      <a:rPr kumimoji="1" lang="en-US" altLang="zh-TW" i="1">
                        <a:latin typeface="Cambria Math" panose="02040503050406030204" pitchFamily="18" charset="0"/>
                        <a:cs typeface="Times New Roman" panose="02020603050405020304" pitchFamily="18" charset="0"/>
                      </a:rPr>
                      <m:t>,</m:t>
                    </m:r>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cs typeface="Times New Roman" panose="02020603050405020304" pitchFamily="18" charset="0"/>
                          </a:rPr>
                          <m:t>𝑦</m:t>
                        </m:r>
                      </m:e>
                      <m:sub>
                        <m:r>
                          <a:rPr kumimoji="1" lang="en-US" altLang="zh-TW" i="1">
                            <a:latin typeface="Cambria Math" panose="02040503050406030204" pitchFamily="18" charset="0"/>
                            <a:cs typeface="Times New Roman" panose="02020603050405020304" pitchFamily="18" charset="0"/>
                          </a:rPr>
                          <m:t>𝑖</m:t>
                        </m:r>
                      </m:sub>
                    </m:sSub>
                    <m:r>
                      <a:rPr kumimoji="1" lang="en-US" altLang="zh-TW" i="1">
                        <a:latin typeface="Cambria Math" panose="02040503050406030204" pitchFamily="18" charset="0"/>
                        <a:cs typeface="Times New Roman" panose="02020603050405020304" pitchFamily="18" charset="0"/>
                      </a:rPr>
                      <m:t>)</m:t>
                    </m:r>
                  </m:oMath>
                </a14:m>
                <a:r>
                  <a:rPr kumimoji="1" lang="en" altLang="zh-TW" dirty="0">
                    <a:latin typeface="Times New Roman" panose="02020603050405020304" pitchFamily="18" charset="0"/>
                    <a:cs typeface="Times New Roman" panose="02020603050405020304" pitchFamily="18" charset="0"/>
                  </a:rPr>
                  <a:t> is a substitution matrix. d is gap penalty.</a:t>
                </a:r>
              </a:p>
              <a:p>
                <a:r>
                  <a:rPr kumimoji="1" lang="en" altLang="zh-TW" dirty="0">
                    <a:latin typeface="Times New Roman" panose="02020603050405020304" pitchFamily="18" charset="0"/>
                    <a:cs typeface="Times New Roman" panose="02020603050405020304" pitchFamily="18" charset="0"/>
                  </a:rPr>
                  <a:t>Dynamic distance = (mismatch)/(align length)</a:t>
                </a:r>
              </a:p>
            </p:txBody>
          </p:sp>
        </mc:Choice>
        <mc:Fallback>
          <p:sp>
            <p:nvSpPr>
              <p:cNvPr id="3" name="內容版面配置區 2">
                <a:extLst>
                  <a:ext uri="{FF2B5EF4-FFF2-40B4-BE49-F238E27FC236}">
                    <a16:creationId xmlns:a16="http://schemas.microsoft.com/office/drawing/2014/main" id="{98C395C6-3EBC-4D47-9C22-52A1E36DD1C0}"/>
                  </a:ext>
                </a:extLst>
              </p:cNvPr>
              <p:cNvSpPr>
                <a:spLocks noGrp="1" noRot="1" noChangeAspect="1" noMove="1" noResize="1" noEditPoints="1" noAdjustHandles="1" noChangeArrowheads="1" noChangeShapeType="1" noTextEdit="1"/>
              </p:cNvSpPr>
              <p:nvPr>
                <p:ph idx="1"/>
              </p:nvPr>
            </p:nvSpPr>
            <p:spPr>
              <a:blipFill>
                <a:blip r:embed="rId2"/>
                <a:stretch>
                  <a:fillRect l="-1568" t="-39826" b="-70058"/>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spTree>
    <p:extLst>
      <p:ext uri="{BB962C8B-B14F-4D97-AF65-F5344CB8AC3E}">
        <p14:creationId xmlns:p14="http://schemas.microsoft.com/office/powerpoint/2010/main" val="216867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Distance </a:t>
            </a:r>
            <a:r>
              <a:rPr kumimoji="1" lang="en-US" altLang="zh-TW" sz="2400" dirty="0"/>
              <a:t>The divergence of sequences (3/3)</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a:bodyPr>
          <a:lstStyle/>
          <a:p>
            <a:r>
              <a:rPr kumimoji="1" lang="en" altLang="zh-TW" b="1" i="1" dirty="0">
                <a:latin typeface="Times New Roman" panose="02020603050405020304" pitchFamily="18" charset="0"/>
                <a:cs typeface="Times New Roman" panose="02020603050405020304" pitchFamily="18" charset="0"/>
              </a:rPr>
              <a:t>Kimura</a:t>
            </a:r>
          </a:p>
          <a:p>
            <a:r>
              <a:rPr kumimoji="1" lang="en" altLang="zh-TW" dirty="0">
                <a:latin typeface="Times New Roman" panose="02020603050405020304" pitchFamily="18" charset="0"/>
                <a:cs typeface="Times New Roman" panose="02020603050405020304" pitchFamily="18" charset="0"/>
              </a:rPr>
              <a:t>The relationship between the observed amino acid substitutions and the actual (corrected) substitutions </a:t>
            </a:r>
          </a:p>
          <a:p>
            <a:r>
              <a:rPr kumimoji="1" lang="en" altLang="zh-TW" dirty="0">
                <a:latin typeface="Times New Roman" panose="02020603050405020304" pitchFamily="18" charset="0"/>
                <a:cs typeface="Times New Roman" panose="02020603050405020304" pitchFamily="18" charset="0"/>
              </a:rPr>
              <a:t>Gap positions are ignored, and only exact matches contribute to the match score.</a:t>
            </a:r>
          </a:p>
          <a:p>
            <a:r>
              <a:rPr kumimoji="1" lang="en" altLang="zh-TW" dirty="0">
                <a:latin typeface="Times New Roman" panose="02020603050405020304" pitchFamily="18" charset="0"/>
                <a:cs typeface="Times New Roman" panose="02020603050405020304" pitchFamily="18" charset="0"/>
              </a:rPr>
              <a:t>S = (</a:t>
            </a:r>
            <a:r>
              <a:rPr kumimoji="1" lang="en" altLang="zh-TW" dirty="0" err="1">
                <a:latin typeface="Times New Roman" panose="02020603050405020304" pitchFamily="18" charset="0"/>
                <a:cs typeface="Times New Roman" panose="02020603050405020304" pitchFamily="18" charset="0"/>
              </a:rPr>
              <a:t>exact_matches</a:t>
            </a:r>
            <a:r>
              <a:rPr kumimoji="1" lang="en" altLang="zh-TW" dirty="0">
                <a:latin typeface="Times New Roman" panose="02020603050405020304" pitchFamily="18" charset="0"/>
                <a:cs typeface="Times New Roman" panose="02020603050405020304" pitchFamily="18" charset="0"/>
              </a:rPr>
              <a:t>)/(</a:t>
            </a:r>
            <a:r>
              <a:rPr kumimoji="1" lang="en" altLang="zh-TW" dirty="0" err="1">
                <a:latin typeface="Times New Roman" panose="02020603050405020304" pitchFamily="18" charset="0"/>
                <a:cs typeface="Times New Roman" panose="02020603050405020304" pitchFamily="18" charset="0"/>
              </a:rPr>
              <a:t>positions_scored</a:t>
            </a:r>
            <a:r>
              <a:rPr kumimoji="1" lang="en" altLang="zh-TW" dirty="0">
                <a:latin typeface="Times New Roman" panose="02020603050405020304" pitchFamily="18" charset="0"/>
                <a:cs typeface="Times New Roman" panose="02020603050405020304" pitchFamily="18" charset="0"/>
              </a:rPr>
              <a:t>)</a:t>
            </a:r>
          </a:p>
          <a:p>
            <a:r>
              <a:rPr kumimoji="1" lang="en" altLang="zh-TW" dirty="0">
                <a:latin typeface="Times New Roman" panose="02020603050405020304" pitchFamily="18" charset="0"/>
                <a:cs typeface="Times New Roman" panose="02020603050405020304" pitchFamily="18" charset="0"/>
              </a:rPr>
              <a:t>D=1−S</a:t>
            </a:r>
          </a:p>
          <a:p>
            <a:r>
              <a:rPr kumimoji="1" lang="en" altLang="zh-TW" dirty="0">
                <a:latin typeface="Times New Roman" panose="02020603050405020304" pitchFamily="18" charset="0"/>
                <a:cs typeface="Times New Roman" panose="02020603050405020304" pitchFamily="18" charset="0"/>
              </a:rPr>
              <a:t>Distance = − ln(1 − D − 0.2 D</a:t>
            </a:r>
            <a:r>
              <a:rPr kumimoji="1" lang="en" altLang="zh-TW" baseline="30000" dirty="0">
                <a:latin typeface="Times New Roman" panose="02020603050405020304" pitchFamily="18" charset="0"/>
                <a:cs typeface="Times New Roman" panose="02020603050405020304" pitchFamily="18" charset="0"/>
              </a:rPr>
              <a:t>2</a:t>
            </a:r>
            <a:r>
              <a:rPr kumimoji="1" lang="en" altLang="zh-TW" dirty="0">
                <a:latin typeface="Times New Roman" panose="02020603050405020304" pitchFamily="18" charset="0"/>
                <a:cs typeface="Times New Roman" panose="02020603050405020304" pitchFamily="18" charset="0"/>
              </a:rPr>
              <a:t>)</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spTree>
    <p:extLst>
      <p:ext uri="{BB962C8B-B14F-4D97-AF65-F5344CB8AC3E}">
        <p14:creationId xmlns:p14="http://schemas.microsoft.com/office/powerpoint/2010/main" val="3725089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 altLang="zh-TW" dirty="0"/>
              <a:t>Guide tree and MSA (1/2)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lnSpcReduction="10000"/>
          </a:bodyPr>
          <a:lstStyle/>
          <a:p>
            <a:r>
              <a:rPr kumimoji="1" lang="en" altLang="zh-TW" b="1" i="1" dirty="0">
                <a:latin typeface="Times New Roman" panose="02020603050405020304" pitchFamily="18" charset="0"/>
                <a:cs typeface="Times New Roman" panose="02020603050405020304" pitchFamily="18" charset="0"/>
              </a:rPr>
              <a:t>UPGMA</a:t>
            </a:r>
          </a:p>
          <a:p>
            <a:r>
              <a:rPr kumimoji="1" lang="en" altLang="zh-TW" dirty="0">
                <a:latin typeface="Times New Roman" panose="02020603050405020304" pitchFamily="18" charset="0"/>
                <a:cs typeface="Times New Roman" panose="02020603050405020304" pitchFamily="18" charset="0"/>
              </a:rPr>
              <a:t>Construct the guide tree from the distance table</a:t>
            </a:r>
          </a:p>
          <a:p>
            <a:r>
              <a:rPr kumimoji="1" lang="en" altLang="zh-TW" dirty="0">
                <a:latin typeface="Times New Roman" panose="02020603050405020304" pitchFamily="18" charset="0"/>
                <a:cs typeface="Times New Roman" panose="02020603050405020304" pitchFamily="18" charset="0"/>
              </a:rPr>
              <a:t>Stage (</a:t>
            </a:r>
            <a:r>
              <a:rPr kumimoji="1" lang="en" altLang="zh-TW" dirty="0" err="1">
                <a:latin typeface="Times New Roman" panose="02020603050405020304" pitchFamily="18" charset="0"/>
                <a:cs typeface="Times New Roman" panose="02020603050405020304" pitchFamily="18" charset="0"/>
              </a:rPr>
              <a:t>i</a:t>
            </a:r>
            <a:r>
              <a:rPr kumimoji="1" lang="en" altLang="zh-TW" dirty="0">
                <a:latin typeface="Times New Roman" panose="02020603050405020304" pitchFamily="18" charset="0"/>
                <a:cs typeface="Times New Roman" panose="02020603050405020304" pitchFamily="18" charset="0"/>
              </a:rPr>
              <a:t>) Calculate the distances among all pairs.</a:t>
            </a:r>
          </a:p>
          <a:p>
            <a:r>
              <a:rPr kumimoji="1" lang="en" altLang="zh-TW" dirty="0">
                <a:latin typeface="Times New Roman" panose="02020603050405020304" pitchFamily="18" charset="0"/>
                <a:cs typeface="Times New Roman" panose="02020603050405020304" pitchFamily="18" charset="0"/>
              </a:rPr>
              <a:t>Stage (ii) Prepare a distance matrix from Stage (</a:t>
            </a:r>
            <a:r>
              <a:rPr kumimoji="1" lang="en" altLang="zh-TW" dirty="0" err="1">
                <a:latin typeface="Times New Roman" panose="02020603050405020304" pitchFamily="18" charset="0"/>
                <a:cs typeface="Times New Roman" panose="02020603050405020304" pitchFamily="18" charset="0"/>
              </a:rPr>
              <a:t>i</a:t>
            </a:r>
            <a:r>
              <a:rPr kumimoji="1" lang="en" altLang="zh-TW" dirty="0">
                <a:latin typeface="Times New Roman" panose="02020603050405020304" pitchFamily="18" charset="0"/>
                <a:cs typeface="Times New Roman" panose="02020603050405020304" pitchFamily="18" charset="0"/>
              </a:rPr>
              <a:t>).</a:t>
            </a: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Stage(iii) Find a part of a guide tree by selecting the smallest distance pair from the distance matrix.</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pic>
        <p:nvPicPr>
          <p:cNvPr id="5" name="圖片 4">
            <a:extLst>
              <a:ext uri="{FF2B5EF4-FFF2-40B4-BE49-F238E27FC236}">
                <a16:creationId xmlns:a16="http://schemas.microsoft.com/office/drawing/2014/main" id="{625077B7-8458-3B4F-A7AE-7FEC0FB4B9FF}"/>
              </a:ext>
            </a:extLst>
          </p:cNvPr>
          <p:cNvPicPr>
            <a:picLocks noChangeAspect="1"/>
          </p:cNvPicPr>
          <p:nvPr/>
        </p:nvPicPr>
        <p:blipFill>
          <a:blip r:embed="rId2"/>
          <a:stretch>
            <a:fillRect/>
          </a:stretch>
        </p:blipFill>
        <p:spPr>
          <a:xfrm>
            <a:off x="1206573" y="3649300"/>
            <a:ext cx="8039100" cy="1371600"/>
          </a:xfrm>
          <a:prstGeom prst="rect">
            <a:avLst/>
          </a:prstGeom>
        </p:spPr>
      </p:pic>
      <p:pic>
        <p:nvPicPr>
          <p:cNvPr id="7" name="圖片 6">
            <a:extLst>
              <a:ext uri="{FF2B5EF4-FFF2-40B4-BE49-F238E27FC236}">
                <a16:creationId xmlns:a16="http://schemas.microsoft.com/office/drawing/2014/main" id="{87177474-7645-5342-9B95-A1A307C65BF2}"/>
              </a:ext>
            </a:extLst>
          </p:cNvPr>
          <p:cNvPicPr>
            <a:picLocks noChangeAspect="1"/>
          </p:cNvPicPr>
          <p:nvPr/>
        </p:nvPicPr>
        <p:blipFill>
          <a:blip r:embed="rId3"/>
          <a:stretch>
            <a:fillRect/>
          </a:stretch>
        </p:blipFill>
        <p:spPr>
          <a:xfrm>
            <a:off x="8610600" y="1674942"/>
            <a:ext cx="2793114" cy="1927479"/>
          </a:xfrm>
          <a:prstGeom prst="rect">
            <a:avLst/>
          </a:prstGeom>
        </p:spPr>
      </p:pic>
    </p:spTree>
    <p:extLst>
      <p:ext uri="{BB962C8B-B14F-4D97-AF65-F5344CB8AC3E}">
        <p14:creationId xmlns:p14="http://schemas.microsoft.com/office/powerpoint/2010/main" val="1736223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 altLang="zh-TW" dirty="0"/>
              <a:t>Guide tree and MSA (2/2)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3189768" cy="4351338"/>
          </a:xfrm>
        </p:spPr>
        <p:txBody>
          <a:bodyPr/>
          <a:lstStyle/>
          <a:p>
            <a:r>
              <a:rPr kumimoji="1" lang="en" altLang="zh-TW" dirty="0">
                <a:latin typeface="Times New Roman" panose="02020603050405020304" pitchFamily="18" charset="0"/>
                <a:cs typeface="Times New Roman" panose="02020603050405020304" pitchFamily="18" charset="0"/>
              </a:rPr>
              <a:t>Seq1: NFS</a:t>
            </a:r>
          </a:p>
          <a:p>
            <a:r>
              <a:rPr kumimoji="1" lang="en" altLang="zh-TW" dirty="0">
                <a:latin typeface="Times New Roman" panose="02020603050405020304" pitchFamily="18" charset="0"/>
                <a:cs typeface="Times New Roman" panose="02020603050405020304" pitchFamily="18" charset="0"/>
              </a:rPr>
              <a:t>Seq2: NYLS</a:t>
            </a:r>
          </a:p>
          <a:p>
            <a:r>
              <a:rPr kumimoji="1" lang="en" altLang="zh-TW" dirty="0">
                <a:latin typeface="Times New Roman" panose="02020603050405020304" pitchFamily="18" charset="0"/>
                <a:cs typeface="Times New Roman" panose="02020603050405020304" pitchFamily="18" charset="0"/>
              </a:rPr>
              <a:t>Seq3: NKYLS</a:t>
            </a:r>
          </a:p>
          <a:p>
            <a:r>
              <a:rPr kumimoji="1" lang="en" altLang="zh-TW" dirty="0">
                <a:latin typeface="Times New Roman" panose="02020603050405020304" pitchFamily="18" charset="0"/>
                <a:cs typeface="Times New Roman" panose="02020603050405020304" pitchFamily="18" charset="0"/>
              </a:rPr>
              <a:t>Seq 4 : NFLS</a:t>
            </a:r>
          </a:p>
          <a:p>
            <a:r>
              <a:rPr kumimoji="1" lang="en" altLang="zh-TW" dirty="0">
                <a:latin typeface="Times New Roman" panose="02020603050405020304" pitchFamily="18" charset="0"/>
                <a:cs typeface="Times New Roman" panose="02020603050405020304" pitchFamily="18" charset="0"/>
              </a:rPr>
              <a:t>Seq 5 : NKLS</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pic>
        <p:nvPicPr>
          <p:cNvPr id="4" name="圖片 3">
            <a:extLst>
              <a:ext uri="{FF2B5EF4-FFF2-40B4-BE49-F238E27FC236}">
                <a16:creationId xmlns:a16="http://schemas.microsoft.com/office/drawing/2014/main" id="{3365889F-13A7-9041-AD0C-5879C60751DD}"/>
              </a:ext>
            </a:extLst>
          </p:cNvPr>
          <p:cNvPicPr>
            <a:picLocks noChangeAspect="1"/>
          </p:cNvPicPr>
          <p:nvPr/>
        </p:nvPicPr>
        <p:blipFill>
          <a:blip r:embed="rId2"/>
          <a:stretch>
            <a:fillRect/>
          </a:stretch>
        </p:blipFill>
        <p:spPr>
          <a:xfrm>
            <a:off x="4344434" y="1255712"/>
            <a:ext cx="6692900" cy="5283200"/>
          </a:xfrm>
          <a:prstGeom prst="rect">
            <a:avLst/>
          </a:prstGeom>
        </p:spPr>
      </p:pic>
      <p:pic>
        <p:nvPicPr>
          <p:cNvPr id="8" name="圖片 7">
            <a:extLst>
              <a:ext uri="{FF2B5EF4-FFF2-40B4-BE49-F238E27FC236}">
                <a16:creationId xmlns:a16="http://schemas.microsoft.com/office/drawing/2014/main" id="{E71C6A62-7DF0-4B43-8CAB-6C0F911FF1B0}"/>
              </a:ext>
            </a:extLst>
          </p:cNvPr>
          <p:cNvPicPr>
            <a:picLocks noChangeAspect="1"/>
          </p:cNvPicPr>
          <p:nvPr/>
        </p:nvPicPr>
        <p:blipFill>
          <a:blip r:embed="rId3"/>
          <a:stretch>
            <a:fillRect/>
          </a:stretch>
        </p:blipFill>
        <p:spPr>
          <a:xfrm>
            <a:off x="838200" y="4249484"/>
            <a:ext cx="2793114" cy="1927479"/>
          </a:xfrm>
          <a:prstGeom prst="rect">
            <a:avLst/>
          </a:prstGeom>
        </p:spPr>
      </p:pic>
    </p:spTree>
    <p:extLst>
      <p:ext uri="{BB962C8B-B14F-4D97-AF65-F5344CB8AC3E}">
        <p14:creationId xmlns:p14="http://schemas.microsoft.com/office/powerpoint/2010/main" val="3061523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圓角矩形 11">
            <a:extLst>
              <a:ext uri="{FF2B5EF4-FFF2-40B4-BE49-F238E27FC236}">
                <a16:creationId xmlns:a16="http://schemas.microsoft.com/office/drawing/2014/main" id="{5E9791C1-FF31-DB40-B4C3-9D972F8EB1DB}"/>
              </a:ext>
            </a:extLst>
          </p:cNvPr>
          <p:cNvSpPr/>
          <p:nvPr/>
        </p:nvSpPr>
        <p:spPr>
          <a:xfrm>
            <a:off x="1348866" y="1450142"/>
            <a:ext cx="1467961" cy="382772"/>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GAPAM </a:t>
            </a:r>
            <a:r>
              <a:rPr kumimoji="1" lang="en-US" altLang="zh-TW" sz="2400" dirty="0"/>
              <a:t>Initialization</a:t>
            </a:r>
            <a:endParaRPr kumimoji="1" lang="zh-TW" altLang="en-US" sz="2400"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pic>
        <p:nvPicPr>
          <p:cNvPr id="8" name="圖片 7">
            <a:extLst>
              <a:ext uri="{FF2B5EF4-FFF2-40B4-BE49-F238E27FC236}">
                <a16:creationId xmlns:a16="http://schemas.microsoft.com/office/drawing/2014/main" id="{E24E556D-0BB7-5543-9C79-04C3382F9EC5}"/>
              </a:ext>
            </a:extLst>
          </p:cNvPr>
          <p:cNvPicPr>
            <a:picLocks noChangeAspect="1"/>
          </p:cNvPicPr>
          <p:nvPr/>
        </p:nvPicPr>
        <p:blipFill>
          <a:blip r:embed="rId2"/>
          <a:stretch>
            <a:fillRect/>
          </a:stretch>
        </p:blipFill>
        <p:spPr>
          <a:xfrm>
            <a:off x="3478373" y="1280415"/>
            <a:ext cx="3786631" cy="4941874"/>
          </a:xfrm>
          <a:prstGeom prst="rect">
            <a:avLst/>
          </a:prstGeom>
        </p:spPr>
      </p:pic>
      <p:pic>
        <p:nvPicPr>
          <p:cNvPr id="9" name="圖片 8">
            <a:extLst>
              <a:ext uri="{FF2B5EF4-FFF2-40B4-BE49-F238E27FC236}">
                <a16:creationId xmlns:a16="http://schemas.microsoft.com/office/drawing/2014/main" id="{C1BD23FD-103D-EC46-B873-9719329905D9}"/>
              </a:ext>
            </a:extLst>
          </p:cNvPr>
          <p:cNvPicPr>
            <a:picLocks noChangeAspect="1"/>
          </p:cNvPicPr>
          <p:nvPr/>
        </p:nvPicPr>
        <p:blipFill>
          <a:blip r:embed="rId3"/>
          <a:stretch>
            <a:fillRect/>
          </a:stretch>
        </p:blipFill>
        <p:spPr>
          <a:xfrm>
            <a:off x="7600693" y="2664953"/>
            <a:ext cx="4141935" cy="3486714"/>
          </a:xfrm>
          <a:prstGeom prst="rect">
            <a:avLst/>
          </a:prstGeom>
        </p:spPr>
      </p:pic>
      <p:pic>
        <p:nvPicPr>
          <p:cNvPr id="11" name="圖片 10">
            <a:extLst>
              <a:ext uri="{FF2B5EF4-FFF2-40B4-BE49-F238E27FC236}">
                <a16:creationId xmlns:a16="http://schemas.microsoft.com/office/drawing/2014/main" id="{CE0C07A8-9DE0-574F-9B2F-3E928D290F92}"/>
              </a:ext>
            </a:extLst>
          </p:cNvPr>
          <p:cNvPicPr>
            <a:picLocks noChangeAspect="1"/>
          </p:cNvPicPr>
          <p:nvPr/>
        </p:nvPicPr>
        <p:blipFill>
          <a:blip r:embed="rId4"/>
          <a:srcRect/>
          <a:stretch/>
        </p:blipFill>
        <p:spPr>
          <a:xfrm>
            <a:off x="670222" y="1280415"/>
            <a:ext cx="2472462" cy="5032375"/>
          </a:xfrm>
          <a:prstGeom prst="rect">
            <a:avLst/>
          </a:prstGeom>
        </p:spPr>
      </p:pic>
    </p:spTree>
    <p:extLst>
      <p:ext uri="{BB962C8B-B14F-4D97-AF65-F5344CB8AC3E}">
        <p14:creationId xmlns:p14="http://schemas.microsoft.com/office/powerpoint/2010/main" val="1752506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圓角矩形 9">
            <a:extLst>
              <a:ext uri="{FF2B5EF4-FFF2-40B4-BE49-F238E27FC236}">
                <a16:creationId xmlns:a16="http://schemas.microsoft.com/office/drawing/2014/main" id="{B6386D36-19A7-A745-A9B1-8B3A637E494C}"/>
              </a:ext>
            </a:extLst>
          </p:cNvPr>
          <p:cNvSpPr/>
          <p:nvPr/>
        </p:nvSpPr>
        <p:spPr>
          <a:xfrm>
            <a:off x="1348866" y="1450142"/>
            <a:ext cx="1467961" cy="382772"/>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4" name="圖片 3">
            <a:extLst>
              <a:ext uri="{FF2B5EF4-FFF2-40B4-BE49-F238E27FC236}">
                <a16:creationId xmlns:a16="http://schemas.microsoft.com/office/drawing/2014/main" id="{DD2A0D67-B947-B049-B280-7EB919245824}"/>
              </a:ext>
            </a:extLst>
          </p:cNvPr>
          <p:cNvPicPr>
            <a:picLocks noChangeAspect="1"/>
          </p:cNvPicPr>
          <p:nvPr/>
        </p:nvPicPr>
        <p:blipFill>
          <a:blip r:embed="rId2"/>
          <a:srcRect/>
          <a:stretch/>
        </p:blipFill>
        <p:spPr>
          <a:xfrm>
            <a:off x="670222" y="1280415"/>
            <a:ext cx="2472462" cy="5032375"/>
          </a:xfrm>
          <a:prstGeom prst="rect">
            <a:avLst/>
          </a:prstGeom>
        </p:spPr>
      </p:pic>
      <p:sp>
        <p:nvSpPr>
          <p:cNvPr id="20" name="矩形 19">
            <a:extLst>
              <a:ext uri="{FF2B5EF4-FFF2-40B4-BE49-F238E27FC236}">
                <a16:creationId xmlns:a16="http://schemas.microsoft.com/office/drawing/2014/main" id="{9E8755DB-FE28-0E4D-98DA-77A46F458739}"/>
              </a:ext>
            </a:extLst>
          </p:cNvPr>
          <p:cNvSpPr/>
          <p:nvPr/>
        </p:nvSpPr>
        <p:spPr>
          <a:xfrm>
            <a:off x="3646935" y="3422020"/>
            <a:ext cx="1595159" cy="954157"/>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GAPAM </a:t>
            </a:r>
            <a:r>
              <a:rPr kumimoji="1" lang="en-US" altLang="zh-TW" sz="2400" dirty="0"/>
              <a:t>Initialization</a:t>
            </a:r>
            <a:r>
              <a:rPr kumimoji="1" lang="zh-TW" altLang="en-US" sz="2400" dirty="0"/>
              <a:t>：</a:t>
            </a:r>
            <a:r>
              <a:rPr kumimoji="1" lang="en" altLang="zh-TW" sz="2400" dirty="0"/>
              <a:t>Mechanism 1 (random)</a:t>
            </a:r>
            <a:endParaRPr kumimoji="1" lang="zh-TW" altLang="en-US" sz="2400"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dirty="0"/>
          </a:p>
        </p:txBody>
      </p:sp>
      <p:pic>
        <p:nvPicPr>
          <p:cNvPr id="3" name="圖片 2">
            <a:extLst>
              <a:ext uri="{FF2B5EF4-FFF2-40B4-BE49-F238E27FC236}">
                <a16:creationId xmlns:a16="http://schemas.microsoft.com/office/drawing/2014/main" id="{04602467-2CB8-0C4A-BB2E-3E4F9980AF7F}"/>
              </a:ext>
            </a:extLst>
          </p:cNvPr>
          <p:cNvPicPr>
            <a:picLocks noChangeAspect="1"/>
          </p:cNvPicPr>
          <p:nvPr/>
        </p:nvPicPr>
        <p:blipFill>
          <a:blip r:embed="rId3"/>
          <a:stretch>
            <a:fillRect/>
          </a:stretch>
        </p:blipFill>
        <p:spPr>
          <a:xfrm>
            <a:off x="7475029" y="1450142"/>
            <a:ext cx="4041699" cy="4769402"/>
          </a:xfrm>
          <a:prstGeom prst="rect">
            <a:avLst/>
          </a:prstGeom>
        </p:spPr>
      </p:pic>
      <p:pic>
        <p:nvPicPr>
          <p:cNvPr id="19" name="圖片 18">
            <a:extLst>
              <a:ext uri="{FF2B5EF4-FFF2-40B4-BE49-F238E27FC236}">
                <a16:creationId xmlns:a16="http://schemas.microsoft.com/office/drawing/2014/main" id="{453CA017-B829-F041-979F-DD19ED4B6083}"/>
              </a:ext>
            </a:extLst>
          </p:cNvPr>
          <p:cNvPicPr>
            <a:picLocks noChangeAspect="1"/>
          </p:cNvPicPr>
          <p:nvPr/>
        </p:nvPicPr>
        <p:blipFill>
          <a:blip r:embed="rId4"/>
          <a:srcRect/>
          <a:stretch/>
        </p:blipFill>
        <p:spPr>
          <a:xfrm>
            <a:off x="3096301" y="2808184"/>
            <a:ext cx="4141935" cy="3411360"/>
          </a:xfrm>
          <a:prstGeom prst="rect">
            <a:avLst/>
          </a:prstGeom>
        </p:spPr>
      </p:pic>
    </p:spTree>
    <p:extLst>
      <p:ext uri="{BB962C8B-B14F-4D97-AF65-F5344CB8AC3E}">
        <p14:creationId xmlns:p14="http://schemas.microsoft.com/office/powerpoint/2010/main" val="184248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圓角矩形 9">
            <a:extLst>
              <a:ext uri="{FF2B5EF4-FFF2-40B4-BE49-F238E27FC236}">
                <a16:creationId xmlns:a16="http://schemas.microsoft.com/office/drawing/2014/main" id="{B6386D36-19A7-A745-A9B1-8B3A637E494C}"/>
              </a:ext>
            </a:extLst>
          </p:cNvPr>
          <p:cNvSpPr/>
          <p:nvPr/>
        </p:nvSpPr>
        <p:spPr>
          <a:xfrm>
            <a:off x="1348866" y="1450142"/>
            <a:ext cx="1467961" cy="382772"/>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4" name="圖片 3">
            <a:extLst>
              <a:ext uri="{FF2B5EF4-FFF2-40B4-BE49-F238E27FC236}">
                <a16:creationId xmlns:a16="http://schemas.microsoft.com/office/drawing/2014/main" id="{DD2A0D67-B947-B049-B280-7EB919245824}"/>
              </a:ext>
            </a:extLst>
          </p:cNvPr>
          <p:cNvPicPr>
            <a:picLocks noChangeAspect="1"/>
          </p:cNvPicPr>
          <p:nvPr/>
        </p:nvPicPr>
        <p:blipFill>
          <a:blip r:embed="rId2"/>
          <a:srcRect/>
          <a:stretch/>
        </p:blipFill>
        <p:spPr>
          <a:xfrm>
            <a:off x="670222" y="1280415"/>
            <a:ext cx="2472462" cy="5032375"/>
          </a:xfrm>
          <a:prstGeom prst="rect">
            <a:avLst/>
          </a:prstGeom>
        </p:spPr>
      </p:pic>
      <p:sp>
        <p:nvSpPr>
          <p:cNvPr id="20" name="矩形 19">
            <a:extLst>
              <a:ext uri="{FF2B5EF4-FFF2-40B4-BE49-F238E27FC236}">
                <a16:creationId xmlns:a16="http://schemas.microsoft.com/office/drawing/2014/main" id="{9E8755DB-FE28-0E4D-98DA-77A46F458739}"/>
              </a:ext>
            </a:extLst>
          </p:cNvPr>
          <p:cNvSpPr/>
          <p:nvPr/>
        </p:nvSpPr>
        <p:spPr>
          <a:xfrm>
            <a:off x="5452875" y="3456311"/>
            <a:ext cx="1496565" cy="864229"/>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GAPAM </a:t>
            </a:r>
            <a:r>
              <a:rPr kumimoji="1" lang="en-US" altLang="zh-TW" sz="2400" dirty="0"/>
              <a:t>Initialization</a:t>
            </a:r>
            <a:r>
              <a:rPr kumimoji="1" lang="zh-TW" altLang="en-US" sz="2400" dirty="0"/>
              <a:t>：</a:t>
            </a:r>
            <a:r>
              <a:rPr kumimoji="1" lang="en" altLang="zh-TW" sz="2400" dirty="0"/>
              <a:t>Mechanism 2 (shuffle)</a:t>
            </a:r>
            <a:endParaRPr kumimoji="1" lang="zh-TW" altLang="en-US" sz="2400"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dirty="0"/>
          </a:p>
        </p:txBody>
      </p:sp>
      <p:pic>
        <p:nvPicPr>
          <p:cNvPr id="5" name="圖片 4">
            <a:extLst>
              <a:ext uri="{FF2B5EF4-FFF2-40B4-BE49-F238E27FC236}">
                <a16:creationId xmlns:a16="http://schemas.microsoft.com/office/drawing/2014/main" id="{387895A8-4A13-004D-91E7-B599896B6F2D}"/>
              </a:ext>
            </a:extLst>
          </p:cNvPr>
          <p:cNvPicPr>
            <a:picLocks noChangeAspect="1"/>
          </p:cNvPicPr>
          <p:nvPr/>
        </p:nvPicPr>
        <p:blipFill>
          <a:blip r:embed="rId3"/>
          <a:stretch>
            <a:fillRect/>
          </a:stretch>
        </p:blipFill>
        <p:spPr>
          <a:xfrm>
            <a:off x="7352536" y="3422020"/>
            <a:ext cx="4416934" cy="2492123"/>
          </a:xfrm>
          <a:prstGeom prst="rect">
            <a:avLst/>
          </a:prstGeom>
        </p:spPr>
      </p:pic>
      <p:pic>
        <p:nvPicPr>
          <p:cNvPr id="19" name="圖片 18">
            <a:extLst>
              <a:ext uri="{FF2B5EF4-FFF2-40B4-BE49-F238E27FC236}">
                <a16:creationId xmlns:a16="http://schemas.microsoft.com/office/drawing/2014/main" id="{453CA017-B829-F041-979F-DD19ED4B6083}"/>
              </a:ext>
            </a:extLst>
          </p:cNvPr>
          <p:cNvPicPr>
            <a:picLocks noChangeAspect="1"/>
          </p:cNvPicPr>
          <p:nvPr/>
        </p:nvPicPr>
        <p:blipFill>
          <a:blip r:embed="rId4"/>
          <a:srcRect/>
          <a:stretch/>
        </p:blipFill>
        <p:spPr>
          <a:xfrm>
            <a:off x="3096301" y="2808184"/>
            <a:ext cx="4141935" cy="3411360"/>
          </a:xfrm>
          <a:prstGeom prst="rect">
            <a:avLst/>
          </a:prstGeom>
        </p:spPr>
      </p:pic>
    </p:spTree>
    <p:extLst>
      <p:ext uri="{BB962C8B-B14F-4D97-AF65-F5344CB8AC3E}">
        <p14:creationId xmlns:p14="http://schemas.microsoft.com/office/powerpoint/2010/main" val="1690878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圓角矩形 9">
            <a:extLst>
              <a:ext uri="{FF2B5EF4-FFF2-40B4-BE49-F238E27FC236}">
                <a16:creationId xmlns:a16="http://schemas.microsoft.com/office/drawing/2014/main" id="{B6386D36-19A7-A745-A9B1-8B3A637E494C}"/>
              </a:ext>
            </a:extLst>
          </p:cNvPr>
          <p:cNvSpPr/>
          <p:nvPr/>
        </p:nvSpPr>
        <p:spPr>
          <a:xfrm>
            <a:off x="1360296" y="2180186"/>
            <a:ext cx="1467961" cy="725246"/>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GAPAM </a:t>
            </a:r>
            <a:r>
              <a:rPr kumimoji="1" lang="en-US" altLang="zh-TW" sz="2400" dirty="0"/>
              <a:t>Child Generation</a:t>
            </a:r>
            <a:r>
              <a:rPr kumimoji="1" lang="zh-TW" altLang="en-US" sz="2400" dirty="0"/>
              <a:t>：</a:t>
            </a:r>
            <a:r>
              <a:rPr kumimoji="1" lang="en-US" altLang="zh-TW" sz="2400" dirty="0"/>
              <a:t>Crossover</a:t>
            </a:r>
            <a:endParaRPr kumimoji="1" lang="zh-TW" altLang="en-US" sz="2400"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dirty="0"/>
          </a:p>
        </p:txBody>
      </p:sp>
      <p:sp>
        <p:nvSpPr>
          <p:cNvPr id="9" name="內容版面配置區 2">
            <a:extLst>
              <a:ext uri="{FF2B5EF4-FFF2-40B4-BE49-F238E27FC236}">
                <a16:creationId xmlns:a16="http://schemas.microsoft.com/office/drawing/2014/main" id="{17F34FE2-3482-6B41-A12C-51568F562827}"/>
              </a:ext>
            </a:extLst>
          </p:cNvPr>
          <p:cNvSpPr>
            <a:spLocks noGrp="1"/>
          </p:cNvSpPr>
          <p:nvPr>
            <p:ph idx="1"/>
          </p:nvPr>
        </p:nvSpPr>
        <p:spPr>
          <a:xfrm>
            <a:off x="3453616" y="6066987"/>
            <a:ext cx="3472700" cy="532908"/>
          </a:xfrm>
        </p:spPr>
        <p:txBody>
          <a:bodyPr>
            <a:normAutofit/>
          </a:bodyPr>
          <a:lstStyle/>
          <a:p>
            <a:pPr marL="0" indent="0">
              <a:buNone/>
            </a:pPr>
            <a:r>
              <a:rPr kumimoji="1" lang="en-US" altLang="zh-TW" sz="2400" dirty="0">
                <a:latin typeface="Times New Roman" panose="02020603050405020304" pitchFamily="18" charset="0"/>
                <a:cs typeface="Times New Roman" panose="02020603050405020304" pitchFamily="18" charset="0"/>
              </a:rPr>
              <a:t>(1) Single point crossover</a:t>
            </a:r>
            <a:endParaRPr kumimoji="1" lang="zh-TW" altLang="en-US"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DD2A0D67-B947-B049-B280-7EB919245824}"/>
              </a:ext>
            </a:extLst>
          </p:cNvPr>
          <p:cNvPicPr>
            <a:picLocks noChangeAspect="1"/>
          </p:cNvPicPr>
          <p:nvPr/>
        </p:nvPicPr>
        <p:blipFill>
          <a:blip r:embed="rId2"/>
          <a:srcRect/>
          <a:stretch/>
        </p:blipFill>
        <p:spPr>
          <a:xfrm>
            <a:off x="670222" y="1280415"/>
            <a:ext cx="2472462" cy="5032375"/>
          </a:xfrm>
          <a:prstGeom prst="rect">
            <a:avLst/>
          </a:prstGeom>
        </p:spPr>
      </p:pic>
      <p:pic>
        <p:nvPicPr>
          <p:cNvPr id="3" name="圖片 2">
            <a:extLst>
              <a:ext uri="{FF2B5EF4-FFF2-40B4-BE49-F238E27FC236}">
                <a16:creationId xmlns:a16="http://schemas.microsoft.com/office/drawing/2014/main" id="{DF18D133-8875-7649-B67B-4BCAFEAC0580}"/>
              </a:ext>
            </a:extLst>
          </p:cNvPr>
          <p:cNvPicPr>
            <a:picLocks noChangeAspect="1"/>
          </p:cNvPicPr>
          <p:nvPr/>
        </p:nvPicPr>
        <p:blipFill>
          <a:blip r:embed="rId3"/>
          <a:stretch>
            <a:fillRect/>
          </a:stretch>
        </p:blipFill>
        <p:spPr>
          <a:xfrm>
            <a:off x="3249961" y="1526217"/>
            <a:ext cx="3902742" cy="4540770"/>
          </a:xfrm>
          <a:prstGeom prst="rect">
            <a:avLst/>
          </a:prstGeom>
        </p:spPr>
      </p:pic>
      <p:pic>
        <p:nvPicPr>
          <p:cNvPr id="7" name="圖片 6">
            <a:extLst>
              <a:ext uri="{FF2B5EF4-FFF2-40B4-BE49-F238E27FC236}">
                <a16:creationId xmlns:a16="http://schemas.microsoft.com/office/drawing/2014/main" id="{A79BBD46-DE55-2246-B056-457CC8044950}"/>
              </a:ext>
            </a:extLst>
          </p:cNvPr>
          <p:cNvPicPr>
            <a:picLocks noChangeAspect="1"/>
          </p:cNvPicPr>
          <p:nvPr/>
        </p:nvPicPr>
        <p:blipFill>
          <a:blip r:embed="rId4"/>
          <a:stretch>
            <a:fillRect/>
          </a:stretch>
        </p:blipFill>
        <p:spPr>
          <a:xfrm>
            <a:off x="7467130" y="365125"/>
            <a:ext cx="4181890" cy="5701862"/>
          </a:xfrm>
          <a:prstGeom prst="rect">
            <a:avLst/>
          </a:prstGeom>
        </p:spPr>
      </p:pic>
      <p:sp>
        <p:nvSpPr>
          <p:cNvPr id="12" name="內容版面配置區 2">
            <a:extLst>
              <a:ext uri="{FF2B5EF4-FFF2-40B4-BE49-F238E27FC236}">
                <a16:creationId xmlns:a16="http://schemas.microsoft.com/office/drawing/2014/main" id="{E2EF2235-82CB-C24F-8AD1-54B3E242F178}"/>
              </a:ext>
            </a:extLst>
          </p:cNvPr>
          <p:cNvSpPr txBox="1">
            <a:spLocks/>
          </p:cNvSpPr>
          <p:nvPr/>
        </p:nvSpPr>
        <p:spPr>
          <a:xfrm>
            <a:off x="7752645" y="6066987"/>
            <a:ext cx="3769133" cy="5329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en-US" altLang="zh-TW" sz="2400" dirty="0">
                <a:latin typeface="Times New Roman" panose="02020603050405020304" pitchFamily="18" charset="0"/>
                <a:cs typeface="Times New Roman" panose="02020603050405020304" pitchFamily="18" charset="0"/>
              </a:rPr>
              <a:t>(2) Multiple point crossover</a:t>
            </a:r>
            <a:endParaRPr kumimoji="1"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41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圓角矩形 9">
            <a:extLst>
              <a:ext uri="{FF2B5EF4-FFF2-40B4-BE49-F238E27FC236}">
                <a16:creationId xmlns:a16="http://schemas.microsoft.com/office/drawing/2014/main" id="{B6386D36-19A7-A745-A9B1-8B3A637E494C}"/>
              </a:ext>
            </a:extLst>
          </p:cNvPr>
          <p:cNvSpPr/>
          <p:nvPr/>
        </p:nvSpPr>
        <p:spPr>
          <a:xfrm>
            <a:off x="1360296" y="2180186"/>
            <a:ext cx="1467961" cy="725246"/>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GAPAM </a:t>
            </a:r>
            <a:r>
              <a:rPr kumimoji="1" lang="en-US" altLang="zh-TW" sz="2400" dirty="0"/>
              <a:t>Child Generation</a:t>
            </a:r>
            <a:r>
              <a:rPr kumimoji="1" lang="zh-TW" altLang="en-US" sz="2400" dirty="0"/>
              <a:t>：</a:t>
            </a:r>
            <a:r>
              <a:rPr kumimoji="1" lang="en-US" altLang="zh-TW" sz="2400" dirty="0"/>
              <a:t>Mutation</a:t>
            </a:r>
            <a:endParaRPr kumimoji="1" lang="zh-TW" altLang="en-US" sz="2400"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14</a:t>
            </a:fld>
            <a:endParaRPr kumimoji="1" lang="zh-TW" altLang="en-US" dirty="0"/>
          </a:p>
        </p:txBody>
      </p:sp>
      <p:sp>
        <p:nvSpPr>
          <p:cNvPr id="9" name="內容版面配置區 2">
            <a:extLst>
              <a:ext uri="{FF2B5EF4-FFF2-40B4-BE49-F238E27FC236}">
                <a16:creationId xmlns:a16="http://schemas.microsoft.com/office/drawing/2014/main" id="{17F34FE2-3482-6B41-A12C-51568F562827}"/>
              </a:ext>
            </a:extLst>
          </p:cNvPr>
          <p:cNvSpPr>
            <a:spLocks noGrp="1"/>
          </p:cNvSpPr>
          <p:nvPr>
            <p:ph idx="1"/>
          </p:nvPr>
        </p:nvSpPr>
        <p:spPr>
          <a:xfrm>
            <a:off x="5678656" y="6006004"/>
            <a:ext cx="1854108" cy="532908"/>
          </a:xfrm>
        </p:spPr>
        <p:txBody>
          <a:bodyPr>
            <a:normAutofit/>
          </a:bodyPr>
          <a:lstStyle/>
          <a:p>
            <a:pPr marL="0" indent="0">
              <a:buNone/>
            </a:pPr>
            <a:r>
              <a:rPr kumimoji="1" lang="en-US" altLang="zh-TW" sz="2400" dirty="0">
                <a:latin typeface="Times New Roman" panose="02020603050405020304" pitchFamily="18" charset="0"/>
                <a:cs typeface="Times New Roman" panose="02020603050405020304" pitchFamily="18" charset="0"/>
              </a:rPr>
              <a:t>(3) Mutation</a:t>
            </a:r>
            <a:endParaRPr kumimoji="1" lang="zh-TW" altLang="en-US"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DD2A0D67-B947-B049-B280-7EB919245824}"/>
              </a:ext>
            </a:extLst>
          </p:cNvPr>
          <p:cNvPicPr>
            <a:picLocks noChangeAspect="1"/>
          </p:cNvPicPr>
          <p:nvPr/>
        </p:nvPicPr>
        <p:blipFill>
          <a:blip r:embed="rId2"/>
          <a:srcRect/>
          <a:stretch/>
        </p:blipFill>
        <p:spPr>
          <a:xfrm>
            <a:off x="670222" y="1280415"/>
            <a:ext cx="2472462" cy="5032375"/>
          </a:xfrm>
          <a:prstGeom prst="rect">
            <a:avLst/>
          </a:prstGeom>
        </p:spPr>
      </p:pic>
      <p:pic>
        <p:nvPicPr>
          <p:cNvPr id="5" name="圖片 4">
            <a:extLst>
              <a:ext uri="{FF2B5EF4-FFF2-40B4-BE49-F238E27FC236}">
                <a16:creationId xmlns:a16="http://schemas.microsoft.com/office/drawing/2014/main" id="{6CD287C2-6D7F-784C-B0AE-1815E830C40B}"/>
              </a:ext>
            </a:extLst>
          </p:cNvPr>
          <p:cNvPicPr>
            <a:picLocks noChangeAspect="1"/>
          </p:cNvPicPr>
          <p:nvPr/>
        </p:nvPicPr>
        <p:blipFill>
          <a:blip r:embed="rId3"/>
          <a:stretch>
            <a:fillRect/>
          </a:stretch>
        </p:blipFill>
        <p:spPr>
          <a:xfrm>
            <a:off x="3991127" y="1691196"/>
            <a:ext cx="5759231" cy="4210811"/>
          </a:xfrm>
          <a:prstGeom prst="rect">
            <a:avLst/>
          </a:prstGeom>
        </p:spPr>
      </p:pic>
    </p:spTree>
    <p:extLst>
      <p:ext uri="{BB962C8B-B14F-4D97-AF65-F5344CB8AC3E}">
        <p14:creationId xmlns:p14="http://schemas.microsoft.com/office/powerpoint/2010/main" val="4063071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圓角矩形 9">
            <a:extLst>
              <a:ext uri="{FF2B5EF4-FFF2-40B4-BE49-F238E27FC236}">
                <a16:creationId xmlns:a16="http://schemas.microsoft.com/office/drawing/2014/main" id="{B6386D36-19A7-A745-A9B1-8B3A637E494C}"/>
              </a:ext>
            </a:extLst>
          </p:cNvPr>
          <p:cNvSpPr/>
          <p:nvPr/>
        </p:nvSpPr>
        <p:spPr>
          <a:xfrm>
            <a:off x="1229710" y="3237613"/>
            <a:ext cx="1723697" cy="924483"/>
          </a:xfrm>
          <a:prstGeom prst="roundRect">
            <a:avLst>
              <a:gd name="adj" fmla="val 8709"/>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GAPAM </a:t>
            </a:r>
            <a:r>
              <a:rPr kumimoji="1" lang="en-US" altLang="zh-TW" sz="2400" dirty="0"/>
              <a:t>Selection</a:t>
            </a:r>
            <a:r>
              <a:rPr kumimoji="1" lang="zh-TW" altLang="en-US" sz="2400" dirty="0"/>
              <a:t>：</a:t>
            </a:r>
            <a:r>
              <a:rPr kumimoji="1" lang="en-US" altLang="zh-TW" sz="2400" dirty="0"/>
              <a:t>Fitness calculation</a:t>
            </a:r>
            <a:endParaRPr kumimoji="1" lang="zh-TW" altLang="en-US" sz="2400"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15</a:t>
            </a:fld>
            <a:endParaRPr kumimoji="1" lang="zh-TW" altLang="en-US" dirty="0"/>
          </a:p>
        </p:txBody>
      </p:sp>
      <p:sp>
        <p:nvSpPr>
          <p:cNvPr id="9" name="內容版面配置區 2">
            <a:extLst>
              <a:ext uri="{FF2B5EF4-FFF2-40B4-BE49-F238E27FC236}">
                <a16:creationId xmlns:a16="http://schemas.microsoft.com/office/drawing/2014/main" id="{17F34FE2-3482-6B41-A12C-51568F562827}"/>
              </a:ext>
            </a:extLst>
          </p:cNvPr>
          <p:cNvSpPr>
            <a:spLocks noGrp="1"/>
          </p:cNvSpPr>
          <p:nvPr>
            <p:ph idx="1"/>
          </p:nvPr>
        </p:nvSpPr>
        <p:spPr>
          <a:xfrm>
            <a:off x="3327492" y="1825625"/>
            <a:ext cx="8026307" cy="4351338"/>
          </a:xfrm>
        </p:spPr>
        <p:txBody>
          <a:bodyPr/>
          <a:lstStyle/>
          <a:p>
            <a:r>
              <a:rPr kumimoji="1" lang="en" altLang="zh-TW" dirty="0">
                <a:latin typeface="Times New Roman" panose="02020603050405020304" pitchFamily="18" charset="0"/>
                <a:cs typeface="Times New Roman" panose="02020603050405020304" pitchFamily="18" charset="0"/>
              </a:rPr>
              <a:t>Weighted sum of pair method (WSPM)</a:t>
            </a: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Select the best 50% of the parents and children</a:t>
            </a:r>
          </a:p>
        </p:txBody>
      </p:sp>
      <p:pic>
        <p:nvPicPr>
          <p:cNvPr id="4" name="圖片 3">
            <a:extLst>
              <a:ext uri="{FF2B5EF4-FFF2-40B4-BE49-F238E27FC236}">
                <a16:creationId xmlns:a16="http://schemas.microsoft.com/office/drawing/2014/main" id="{DD2A0D67-B947-B049-B280-7EB919245824}"/>
              </a:ext>
            </a:extLst>
          </p:cNvPr>
          <p:cNvPicPr>
            <a:picLocks noChangeAspect="1"/>
          </p:cNvPicPr>
          <p:nvPr/>
        </p:nvPicPr>
        <p:blipFill>
          <a:blip r:embed="rId2"/>
          <a:srcRect/>
          <a:stretch/>
        </p:blipFill>
        <p:spPr>
          <a:xfrm>
            <a:off x="670222" y="1280415"/>
            <a:ext cx="2472462" cy="5032375"/>
          </a:xfrm>
          <a:prstGeom prst="rect">
            <a:avLst/>
          </a:prstGeom>
        </p:spPr>
      </p:pic>
      <p:pic>
        <p:nvPicPr>
          <p:cNvPr id="3" name="圖片 2">
            <a:extLst>
              <a:ext uri="{FF2B5EF4-FFF2-40B4-BE49-F238E27FC236}">
                <a16:creationId xmlns:a16="http://schemas.microsoft.com/office/drawing/2014/main" id="{2241C835-13FA-804B-B889-405823B77789}"/>
              </a:ext>
            </a:extLst>
          </p:cNvPr>
          <p:cNvPicPr>
            <a:picLocks noChangeAspect="1"/>
          </p:cNvPicPr>
          <p:nvPr/>
        </p:nvPicPr>
        <p:blipFill>
          <a:blip r:embed="rId3"/>
          <a:stretch>
            <a:fillRect/>
          </a:stretch>
        </p:blipFill>
        <p:spPr>
          <a:xfrm>
            <a:off x="3702172" y="2504517"/>
            <a:ext cx="5448847" cy="924483"/>
          </a:xfrm>
          <a:prstGeom prst="rect">
            <a:avLst/>
          </a:prstGeom>
        </p:spPr>
      </p:pic>
      <p:pic>
        <p:nvPicPr>
          <p:cNvPr id="5" name="圖片 4">
            <a:extLst>
              <a:ext uri="{FF2B5EF4-FFF2-40B4-BE49-F238E27FC236}">
                <a16:creationId xmlns:a16="http://schemas.microsoft.com/office/drawing/2014/main" id="{03A5A800-E476-C741-8F87-AB6B25A1D32E}"/>
              </a:ext>
            </a:extLst>
          </p:cNvPr>
          <p:cNvPicPr>
            <a:picLocks noChangeAspect="1"/>
          </p:cNvPicPr>
          <p:nvPr/>
        </p:nvPicPr>
        <p:blipFill>
          <a:blip r:embed="rId4"/>
          <a:stretch>
            <a:fillRect/>
          </a:stretch>
        </p:blipFill>
        <p:spPr>
          <a:xfrm>
            <a:off x="3617282" y="3699854"/>
            <a:ext cx="1524438" cy="411773"/>
          </a:xfrm>
          <a:prstGeom prst="rect">
            <a:avLst/>
          </a:prstGeom>
        </p:spPr>
      </p:pic>
      <p:pic>
        <p:nvPicPr>
          <p:cNvPr id="11" name="圖片 10" descr="一張含有 文字 的圖片&#10;&#10;自動產生的描述">
            <a:extLst>
              <a:ext uri="{FF2B5EF4-FFF2-40B4-BE49-F238E27FC236}">
                <a16:creationId xmlns:a16="http://schemas.microsoft.com/office/drawing/2014/main" id="{217951A1-8E63-6B4C-9F4D-5C37535F952B}"/>
              </a:ext>
            </a:extLst>
          </p:cNvPr>
          <p:cNvPicPr>
            <a:picLocks noChangeAspect="1"/>
          </p:cNvPicPr>
          <p:nvPr/>
        </p:nvPicPr>
        <p:blipFill>
          <a:blip r:embed="rId5"/>
          <a:stretch>
            <a:fillRect/>
          </a:stretch>
        </p:blipFill>
        <p:spPr>
          <a:xfrm>
            <a:off x="6943684" y="3537654"/>
            <a:ext cx="4181166" cy="1743005"/>
          </a:xfrm>
          <a:prstGeom prst="rect">
            <a:avLst/>
          </a:prstGeom>
        </p:spPr>
      </p:pic>
      <p:sp>
        <p:nvSpPr>
          <p:cNvPr id="7" name="矩形 6">
            <a:extLst>
              <a:ext uri="{FF2B5EF4-FFF2-40B4-BE49-F238E27FC236}">
                <a16:creationId xmlns:a16="http://schemas.microsoft.com/office/drawing/2014/main" id="{54DE0A82-A6E0-F34C-B2DF-0565FEB1371D}"/>
              </a:ext>
            </a:extLst>
          </p:cNvPr>
          <p:cNvSpPr/>
          <p:nvPr/>
        </p:nvSpPr>
        <p:spPr>
          <a:xfrm>
            <a:off x="9151019" y="2337325"/>
            <a:ext cx="2896947" cy="1200329"/>
          </a:xfrm>
          <a:prstGeom prst="rect">
            <a:avLst/>
          </a:prstGeom>
        </p:spPr>
        <p:txBody>
          <a:bodyPr wrap="none">
            <a:spAutoFit/>
          </a:bodyPr>
          <a:lstStyle/>
          <a:p>
            <a:r>
              <a:rPr lang="en" altLang="zh-TW" i="1" dirty="0">
                <a:solidFill>
                  <a:srgbClr val="000000"/>
                </a:solidFill>
                <a:latin typeface="Times" pitchFamily="2" charset="0"/>
              </a:rPr>
              <a:t>S </a:t>
            </a:r>
            <a:r>
              <a:rPr lang="en" altLang="zh-TW" dirty="0">
                <a:solidFill>
                  <a:srgbClr val="000000"/>
                </a:solidFill>
                <a:latin typeface="Times" pitchFamily="2" charset="0"/>
              </a:rPr>
              <a:t>is the cost of the MSA.</a:t>
            </a:r>
          </a:p>
          <a:p>
            <a:r>
              <a:rPr lang="en" altLang="zh-TW" i="1" dirty="0">
                <a:solidFill>
                  <a:srgbClr val="000000"/>
                </a:solidFill>
                <a:latin typeface="Times" pitchFamily="2" charset="0"/>
              </a:rPr>
              <a:t>L </a:t>
            </a:r>
            <a:r>
              <a:rPr lang="en" altLang="zh-TW" dirty="0">
                <a:solidFill>
                  <a:srgbClr val="000000"/>
                </a:solidFill>
                <a:latin typeface="Times" pitchFamily="2" charset="0"/>
              </a:rPr>
              <a:t>is the length (columns)</a:t>
            </a:r>
          </a:p>
          <a:p>
            <a:r>
              <a:rPr lang="en" altLang="zh-TW" i="1" dirty="0">
                <a:solidFill>
                  <a:srgbClr val="000000"/>
                </a:solidFill>
                <a:latin typeface="Times" pitchFamily="2" charset="0"/>
              </a:rPr>
              <a:t>N</a:t>
            </a:r>
            <a:r>
              <a:rPr lang="en" altLang="zh-TW" dirty="0">
                <a:solidFill>
                  <a:srgbClr val="000000"/>
                </a:solidFill>
                <a:latin typeface="Times" pitchFamily="2" charset="0"/>
              </a:rPr>
              <a:t> is the number of sequences</a:t>
            </a:r>
          </a:p>
          <a:p>
            <a:r>
              <a:rPr lang="en" altLang="zh-TW" i="1" dirty="0">
                <a:solidFill>
                  <a:srgbClr val="000000"/>
                </a:solidFill>
                <a:latin typeface="Times" pitchFamily="2" charset="0"/>
              </a:rPr>
              <a:t>W</a:t>
            </a:r>
            <a:r>
              <a:rPr lang="en" altLang="zh-TW" dirty="0">
                <a:solidFill>
                  <a:srgbClr val="000000"/>
                </a:solidFill>
                <a:latin typeface="Times" pitchFamily="2" charset="0"/>
              </a:rPr>
              <a:t> is the weight</a:t>
            </a:r>
          </a:p>
        </p:txBody>
      </p:sp>
      <p:sp>
        <p:nvSpPr>
          <p:cNvPr id="8" name="矩形 7">
            <a:extLst>
              <a:ext uri="{FF2B5EF4-FFF2-40B4-BE49-F238E27FC236}">
                <a16:creationId xmlns:a16="http://schemas.microsoft.com/office/drawing/2014/main" id="{92B9BB91-8DA6-C94B-A5CC-C0A03235ED65}"/>
              </a:ext>
            </a:extLst>
          </p:cNvPr>
          <p:cNvSpPr/>
          <p:nvPr/>
        </p:nvSpPr>
        <p:spPr>
          <a:xfrm>
            <a:off x="3524563" y="4246564"/>
            <a:ext cx="3234313" cy="923330"/>
          </a:xfrm>
          <a:prstGeom prst="rect">
            <a:avLst/>
          </a:prstGeom>
        </p:spPr>
        <p:txBody>
          <a:bodyPr wrap="square">
            <a:spAutoFit/>
          </a:bodyPr>
          <a:lstStyle/>
          <a:p>
            <a:r>
              <a:rPr lang="en" altLang="zh-TW" dirty="0">
                <a:solidFill>
                  <a:srgbClr val="000000"/>
                </a:solidFill>
                <a:latin typeface="Times" pitchFamily="2" charset="0"/>
              </a:rPr>
              <a:t>g is the cost of opening a gap</a:t>
            </a:r>
          </a:p>
          <a:p>
            <a:r>
              <a:rPr lang="en" altLang="zh-TW" dirty="0">
                <a:solidFill>
                  <a:srgbClr val="000000"/>
                </a:solidFill>
                <a:latin typeface="Times" pitchFamily="2" charset="0"/>
              </a:rPr>
              <a:t>x is the cost of extending the gap</a:t>
            </a:r>
          </a:p>
          <a:p>
            <a:r>
              <a:rPr lang="en" altLang="zh-TW" dirty="0">
                <a:solidFill>
                  <a:srgbClr val="000000"/>
                </a:solidFill>
                <a:latin typeface="Times" pitchFamily="2" charset="0"/>
              </a:rPr>
              <a:t>n is the length of the gap.</a:t>
            </a:r>
          </a:p>
        </p:txBody>
      </p:sp>
    </p:spTree>
    <p:extLst>
      <p:ext uri="{BB962C8B-B14F-4D97-AF65-F5344CB8AC3E}">
        <p14:creationId xmlns:p14="http://schemas.microsoft.com/office/powerpoint/2010/main" val="372014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GAPAM </a:t>
            </a:r>
            <a:r>
              <a:rPr kumimoji="1" lang="en-US" altLang="zh-TW" sz="2400" dirty="0"/>
              <a:t>Termination</a:t>
            </a:r>
            <a:endParaRPr kumimoji="1" lang="zh-TW" altLang="en-US" sz="2400"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16</a:t>
            </a:fld>
            <a:endParaRPr kumimoji="1" lang="zh-TW" altLang="en-US" dirty="0"/>
          </a:p>
        </p:txBody>
      </p:sp>
      <p:sp>
        <p:nvSpPr>
          <p:cNvPr id="3" name="菱形 2">
            <a:extLst>
              <a:ext uri="{FF2B5EF4-FFF2-40B4-BE49-F238E27FC236}">
                <a16:creationId xmlns:a16="http://schemas.microsoft.com/office/drawing/2014/main" id="{70FEECC2-AF3A-064D-92A9-0D7874CF05AB}"/>
              </a:ext>
            </a:extLst>
          </p:cNvPr>
          <p:cNvSpPr/>
          <p:nvPr/>
        </p:nvSpPr>
        <p:spPr>
          <a:xfrm>
            <a:off x="1179261" y="4495019"/>
            <a:ext cx="1860331" cy="1114096"/>
          </a:xfrm>
          <a:prstGeom prst="diamond">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4" name="圖片 3">
            <a:extLst>
              <a:ext uri="{FF2B5EF4-FFF2-40B4-BE49-F238E27FC236}">
                <a16:creationId xmlns:a16="http://schemas.microsoft.com/office/drawing/2014/main" id="{DD2A0D67-B947-B049-B280-7EB919245824}"/>
              </a:ext>
            </a:extLst>
          </p:cNvPr>
          <p:cNvPicPr>
            <a:picLocks noChangeAspect="1"/>
          </p:cNvPicPr>
          <p:nvPr/>
        </p:nvPicPr>
        <p:blipFill>
          <a:blip r:embed="rId2"/>
          <a:srcRect/>
          <a:stretch/>
        </p:blipFill>
        <p:spPr>
          <a:xfrm>
            <a:off x="670222" y="1280415"/>
            <a:ext cx="2472462" cy="5032375"/>
          </a:xfrm>
          <a:prstGeom prst="rect">
            <a:avLst/>
          </a:prstGeom>
        </p:spPr>
      </p:pic>
      <p:sp>
        <p:nvSpPr>
          <p:cNvPr id="11" name="內容版面配置區 2">
            <a:extLst>
              <a:ext uri="{FF2B5EF4-FFF2-40B4-BE49-F238E27FC236}">
                <a16:creationId xmlns:a16="http://schemas.microsoft.com/office/drawing/2014/main" id="{86FC3038-02D4-4A47-B195-5419CEB948B3}"/>
              </a:ext>
            </a:extLst>
          </p:cNvPr>
          <p:cNvSpPr>
            <a:spLocks noGrp="1"/>
          </p:cNvSpPr>
          <p:nvPr>
            <p:ph idx="1"/>
          </p:nvPr>
        </p:nvSpPr>
        <p:spPr>
          <a:xfrm>
            <a:off x="3651722" y="1825625"/>
            <a:ext cx="7702077" cy="4895850"/>
          </a:xfrm>
        </p:spPr>
        <p:txBody>
          <a:bodyPr>
            <a:normAutofit/>
          </a:bodyPr>
          <a:lstStyle/>
          <a:p>
            <a:r>
              <a:rPr kumimoji="1" lang="en" altLang="zh-TW" dirty="0">
                <a:latin typeface="Times New Roman" panose="02020603050405020304" pitchFamily="18" charset="0"/>
                <a:cs typeface="Times New Roman" panose="02020603050405020304" pitchFamily="18" charset="0"/>
              </a:rPr>
              <a:t>Termination condition</a:t>
            </a:r>
            <a:r>
              <a:rPr kumimoji="1" lang="zh-TW" altLang="en-US" dirty="0">
                <a:latin typeface="Times New Roman" panose="02020603050405020304" pitchFamily="18" charset="0"/>
                <a:cs typeface="Times New Roman" panose="02020603050405020304" pitchFamily="18" charset="0"/>
              </a:rPr>
              <a:t>：</a:t>
            </a:r>
            <a:r>
              <a:rPr kumimoji="1" lang="en" altLang="zh-TW" dirty="0">
                <a:latin typeface="Times New Roman" panose="02020603050405020304" pitchFamily="18" charset="0"/>
                <a:cs typeface="Times New Roman" panose="02020603050405020304" pitchFamily="18" charset="0"/>
              </a:rPr>
              <a:t>The best solution remains the same in 100 consecutive generations.</a:t>
            </a:r>
          </a:p>
          <a:p>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The computational complexity of the GAPAM </a:t>
            </a:r>
          </a:p>
          <a:p>
            <a:r>
              <a:rPr kumimoji="1" lang="en" altLang="zh-TW" dirty="0">
                <a:latin typeface="Times New Roman" panose="02020603050405020304" pitchFamily="18" charset="0"/>
                <a:cs typeface="Times New Roman" panose="02020603050405020304" pitchFamily="18" charset="0"/>
              </a:rPr>
              <a:t>O(N</a:t>
            </a:r>
            <a:r>
              <a:rPr kumimoji="1" lang="en" altLang="zh-TW" baseline="30000" dirty="0">
                <a:latin typeface="Times New Roman" panose="02020603050405020304" pitchFamily="18" charset="0"/>
                <a:cs typeface="Times New Roman" panose="02020603050405020304" pitchFamily="18" charset="0"/>
              </a:rPr>
              <a:t>3</a:t>
            </a:r>
            <a:r>
              <a:rPr kumimoji="1" lang="en" altLang="zh-TW" dirty="0">
                <a:latin typeface="Times New Roman" panose="02020603050405020304" pitchFamily="18" charset="0"/>
                <a:cs typeface="Times New Roman" panose="02020603050405020304" pitchFamily="18" charset="0"/>
              </a:rPr>
              <a:t> + L</a:t>
            </a:r>
            <a:r>
              <a:rPr kumimoji="1" lang="en" altLang="zh-TW" baseline="30000" dirty="0">
                <a:latin typeface="Times New Roman" panose="02020603050405020304" pitchFamily="18" charset="0"/>
                <a:cs typeface="Times New Roman" panose="02020603050405020304" pitchFamily="18" charset="0"/>
              </a:rPr>
              <a:t>2</a:t>
            </a:r>
            <a:r>
              <a:rPr kumimoji="1" lang="en" altLang="zh-TW" dirty="0">
                <a:latin typeface="Times New Roman" panose="02020603050405020304" pitchFamily="18" charset="0"/>
                <a:cs typeface="Times New Roman" panose="02020603050405020304" pitchFamily="18" charset="0"/>
              </a:rPr>
              <a:t>)</a:t>
            </a:r>
          </a:p>
          <a:p>
            <a:r>
              <a:rPr kumimoji="1" lang="en" altLang="zh-TW" dirty="0">
                <a:latin typeface="Times New Roman" panose="02020603050405020304" pitchFamily="18" charset="0"/>
                <a:cs typeface="Times New Roman" panose="02020603050405020304" pitchFamily="18" charset="0"/>
              </a:rPr>
              <a:t>O(N</a:t>
            </a:r>
            <a:r>
              <a:rPr kumimoji="1" lang="en" altLang="zh-TW" baseline="30000" dirty="0">
                <a:latin typeface="Times New Roman" panose="02020603050405020304" pitchFamily="18" charset="0"/>
                <a:cs typeface="Times New Roman" panose="02020603050405020304" pitchFamily="18" charset="0"/>
              </a:rPr>
              <a:t>3</a:t>
            </a:r>
            <a:r>
              <a:rPr kumimoji="1" lang="en" altLang="zh-TW" dirty="0">
                <a:latin typeface="Times New Roman" panose="02020603050405020304" pitchFamily="18" charset="0"/>
                <a:cs typeface="Times New Roman" panose="02020603050405020304" pitchFamily="18" charset="0"/>
              </a:rPr>
              <a:t>)</a:t>
            </a:r>
            <a:r>
              <a:rPr kumimoji="1" lang="zh-TW" altLang="en-US" dirty="0">
                <a:latin typeface="Times New Roman" panose="02020603050405020304" pitchFamily="18" charset="0"/>
                <a:cs typeface="Times New Roman" panose="02020603050405020304" pitchFamily="18" charset="0"/>
              </a:rPr>
              <a:t>：</a:t>
            </a:r>
            <a:r>
              <a:rPr kumimoji="1" lang="en" altLang="zh-TW" dirty="0">
                <a:latin typeface="Times New Roman" panose="02020603050405020304" pitchFamily="18" charset="0"/>
                <a:cs typeface="Times New Roman" panose="02020603050405020304" pitchFamily="18" charset="0"/>
              </a:rPr>
              <a:t>Guide tree construction</a:t>
            </a:r>
          </a:p>
          <a:p>
            <a:r>
              <a:rPr kumimoji="1" lang="en" altLang="zh-TW" dirty="0">
                <a:latin typeface="Times New Roman" panose="02020603050405020304" pitchFamily="18" charset="0"/>
                <a:cs typeface="Times New Roman" panose="02020603050405020304" pitchFamily="18" charset="0"/>
              </a:rPr>
              <a:t>O(L</a:t>
            </a:r>
            <a:r>
              <a:rPr kumimoji="1" lang="en" altLang="zh-TW" baseline="30000" dirty="0">
                <a:latin typeface="Times New Roman" panose="02020603050405020304" pitchFamily="18" charset="0"/>
                <a:cs typeface="Times New Roman" panose="02020603050405020304" pitchFamily="18" charset="0"/>
              </a:rPr>
              <a:t>2</a:t>
            </a:r>
            <a:r>
              <a:rPr kumimoji="1" lang="en" altLang="zh-TW" dirty="0">
                <a:latin typeface="Times New Roman" panose="02020603050405020304" pitchFamily="18" charset="0"/>
                <a:cs typeface="Times New Roman" panose="02020603050405020304" pitchFamily="18" charset="0"/>
              </a:rPr>
              <a:t>)</a:t>
            </a:r>
            <a:r>
              <a:rPr kumimoji="1" lang="zh-TW" altLang="en-US" dirty="0">
                <a:latin typeface="Times New Roman" panose="02020603050405020304" pitchFamily="18" charset="0"/>
                <a:cs typeface="Times New Roman" panose="02020603050405020304" pitchFamily="18" charset="0"/>
              </a:rPr>
              <a:t>：</a:t>
            </a:r>
            <a:r>
              <a:rPr kumimoji="1" lang="en-US" altLang="zh-TW" dirty="0">
                <a:latin typeface="Times New Roman" panose="02020603050405020304" pitchFamily="18" charset="0"/>
                <a:cs typeface="Times New Roman" panose="02020603050405020304" pitchFamily="18" charset="0"/>
              </a:rPr>
              <a:t>Distance calculation</a:t>
            </a:r>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L is the length of the sequence</a:t>
            </a:r>
          </a:p>
          <a:p>
            <a:r>
              <a:rPr kumimoji="1" lang="en" altLang="zh-TW" dirty="0">
                <a:latin typeface="Times New Roman" panose="02020603050405020304" pitchFamily="18" charset="0"/>
                <a:cs typeface="Times New Roman" panose="02020603050405020304" pitchFamily="18" charset="0"/>
              </a:rPr>
              <a:t>N is the number of sequences</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7617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a:t>
            </a:r>
            <a:r>
              <a:rPr kumimoji="1" lang="zh-TW" altLang="en-US" dirty="0"/>
              <a:t> </a:t>
            </a:r>
            <a:r>
              <a:rPr kumimoji="1" lang="en-US" altLang="zh-TW" dirty="0"/>
              <a:t>(1/4)</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10515600" cy="5145330"/>
          </a:xfrm>
        </p:spPr>
        <p:txBody>
          <a:bodyPr>
            <a:normAutofit lnSpcReduction="10000"/>
          </a:bodyPr>
          <a:lstStyle/>
          <a:p>
            <a:r>
              <a:rPr kumimoji="1" lang="en" altLang="zh-TW" dirty="0">
                <a:latin typeface="Times New Roman" panose="02020603050405020304" pitchFamily="18" charset="0"/>
                <a:cs typeface="Times New Roman" panose="02020603050405020304" pitchFamily="18" charset="0"/>
              </a:rPr>
              <a:t>Benchmark</a:t>
            </a:r>
            <a:r>
              <a:rPr kumimoji="1" lang="zh-TW" altLang="en-US" dirty="0">
                <a:latin typeface="Times New Roman" panose="02020603050405020304" pitchFamily="18" charset="0"/>
                <a:cs typeface="Times New Roman" panose="02020603050405020304" pitchFamily="18" charset="0"/>
              </a:rPr>
              <a:t>：</a:t>
            </a:r>
            <a:r>
              <a:rPr kumimoji="1" lang="en" altLang="zh-TW" dirty="0" err="1">
                <a:latin typeface="Times New Roman" panose="02020603050405020304" pitchFamily="18" charset="0"/>
                <a:cs typeface="Times New Roman" panose="02020603050405020304" pitchFamily="18" charset="0"/>
              </a:rPr>
              <a:t>BAliBase</a:t>
            </a:r>
            <a:r>
              <a:rPr kumimoji="1" lang="en" altLang="zh-TW" dirty="0">
                <a:latin typeface="Times New Roman" panose="02020603050405020304" pitchFamily="18" charset="0"/>
                <a:cs typeface="Times New Roman" panose="02020603050405020304" pitchFamily="18" charset="0"/>
              </a:rPr>
              <a:t> 2.0</a:t>
            </a:r>
          </a:p>
          <a:p>
            <a:pPr lvl="1"/>
            <a:r>
              <a:rPr kumimoji="1" lang="en" altLang="zh-TW" dirty="0">
                <a:latin typeface="Times New Roman" panose="02020603050405020304" pitchFamily="18" charset="0"/>
                <a:cs typeface="Times New Roman" panose="02020603050405020304" pitchFamily="18" charset="0"/>
              </a:rPr>
              <a:t>Ref 1</a:t>
            </a:r>
            <a:r>
              <a:rPr kumimoji="1" lang="zh-TW" altLang="en-US" dirty="0">
                <a:latin typeface="Times New Roman" panose="02020603050405020304" pitchFamily="18" charset="0"/>
                <a:cs typeface="Times New Roman" panose="02020603050405020304" pitchFamily="18" charset="0"/>
              </a:rPr>
              <a:t>：</a:t>
            </a:r>
            <a:r>
              <a:rPr kumimoji="1" lang="en" altLang="zh-TW" dirty="0">
                <a:latin typeface="Times New Roman" panose="02020603050405020304" pitchFamily="18" charset="0"/>
                <a:cs typeface="Times New Roman" panose="02020603050405020304" pitchFamily="18" charset="0"/>
              </a:rPr>
              <a:t>small numbers of equidistant sequences</a:t>
            </a:r>
          </a:p>
          <a:p>
            <a:pPr lvl="1"/>
            <a:r>
              <a:rPr kumimoji="1" lang="en" altLang="zh-TW" dirty="0">
                <a:latin typeface="Times New Roman" panose="02020603050405020304" pitchFamily="18" charset="0"/>
                <a:cs typeface="Times New Roman" panose="02020603050405020304" pitchFamily="18" charset="0"/>
              </a:rPr>
              <a:t>Ref 2</a:t>
            </a:r>
            <a:r>
              <a:rPr kumimoji="1" lang="zh-TW" altLang="en-US" dirty="0">
                <a:latin typeface="Times New Roman" panose="02020603050405020304" pitchFamily="18" charset="0"/>
                <a:cs typeface="Times New Roman" panose="02020603050405020304" pitchFamily="18" charset="0"/>
              </a:rPr>
              <a:t>：</a:t>
            </a:r>
            <a:r>
              <a:rPr kumimoji="1" lang="en" altLang="zh-TW" dirty="0">
                <a:latin typeface="Times New Roman" panose="02020603050405020304" pitchFamily="18" charset="0"/>
                <a:cs typeface="Times New Roman" panose="02020603050405020304" pitchFamily="18" charset="0"/>
              </a:rPr>
              <a:t>orphan or unrelated sequences</a:t>
            </a:r>
          </a:p>
          <a:p>
            <a:pPr lvl="1"/>
            <a:r>
              <a:rPr kumimoji="1" lang="en" altLang="zh-TW" dirty="0">
                <a:latin typeface="Times New Roman" panose="02020603050405020304" pitchFamily="18" charset="0"/>
                <a:cs typeface="Times New Roman" panose="02020603050405020304" pitchFamily="18" charset="0"/>
              </a:rPr>
              <a:t>Ref 3</a:t>
            </a:r>
            <a:r>
              <a:rPr kumimoji="1" lang="zh-TW" altLang="en-US" dirty="0">
                <a:latin typeface="Times New Roman" panose="02020603050405020304" pitchFamily="18" charset="0"/>
                <a:cs typeface="Times New Roman" panose="02020603050405020304" pitchFamily="18" charset="0"/>
              </a:rPr>
              <a:t>：</a:t>
            </a:r>
            <a:r>
              <a:rPr kumimoji="1" lang="en" altLang="zh-TW" dirty="0">
                <a:latin typeface="Times New Roman" panose="02020603050405020304" pitchFamily="18" charset="0"/>
                <a:cs typeface="Times New Roman" panose="02020603050405020304" pitchFamily="18" charset="0"/>
              </a:rPr>
              <a:t>a pair of divergent subfamilies where the two groups are less than 25% identical</a:t>
            </a:r>
          </a:p>
          <a:p>
            <a:pPr lvl="1"/>
            <a:r>
              <a:rPr kumimoji="1" lang="en" altLang="zh-TW" dirty="0">
                <a:latin typeface="Times New Roman" panose="02020603050405020304" pitchFamily="18" charset="0"/>
                <a:cs typeface="Times New Roman" panose="02020603050405020304" pitchFamily="18" charset="0"/>
              </a:rPr>
              <a:t>Ref 4</a:t>
            </a:r>
            <a:r>
              <a:rPr kumimoji="1" lang="zh-TW" altLang="en-US" dirty="0">
                <a:latin typeface="Times New Roman" panose="02020603050405020304" pitchFamily="18" charset="0"/>
                <a:cs typeface="Times New Roman" panose="02020603050405020304" pitchFamily="18" charset="0"/>
              </a:rPr>
              <a:t>：</a:t>
            </a:r>
            <a:r>
              <a:rPr kumimoji="1" lang="en" altLang="zh-TW" dirty="0">
                <a:latin typeface="Times New Roman" panose="02020603050405020304" pitchFamily="18" charset="0"/>
                <a:cs typeface="Times New Roman" panose="02020603050405020304" pitchFamily="18" charset="0"/>
              </a:rPr>
              <a:t>long terminal extensions</a:t>
            </a:r>
          </a:p>
          <a:p>
            <a:pPr lvl="1"/>
            <a:r>
              <a:rPr kumimoji="1" lang="en" altLang="zh-TW" dirty="0" err="1">
                <a:latin typeface="Times New Roman" panose="02020603050405020304" pitchFamily="18" charset="0"/>
                <a:cs typeface="Times New Roman" panose="02020603050405020304" pitchFamily="18" charset="0"/>
              </a:rPr>
              <a:t>Rfe</a:t>
            </a:r>
            <a:r>
              <a:rPr kumimoji="1" lang="en" altLang="zh-TW" dirty="0">
                <a:latin typeface="Times New Roman" panose="02020603050405020304" pitchFamily="18" charset="0"/>
                <a:cs typeface="Times New Roman" panose="02020603050405020304" pitchFamily="18" charset="0"/>
              </a:rPr>
              <a:t> 5</a:t>
            </a:r>
            <a:r>
              <a:rPr kumimoji="1" lang="zh-TW" altLang="en-US" dirty="0">
                <a:latin typeface="Times New Roman" panose="02020603050405020304" pitchFamily="18" charset="0"/>
                <a:cs typeface="Times New Roman" panose="02020603050405020304" pitchFamily="18" charset="0"/>
              </a:rPr>
              <a:t>：</a:t>
            </a:r>
            <a:r>
              <a:rPr kumimoji="1" lang="en" altLang="zh-TW" dirty="0">
                <a:latin typeface="Times New Roman" panose="02020603050405020304" pitchFamily="18" charset="0"/>
                <a:cs typeface="Times New Roman" panose="02020603050405020304" pitchFamily="18" charset="0"/>
              </a:rPr>
              <a:t>large internal insertions and deletions</a:t>
            </a:r>
          </a:p>
          <a:p>
            <a:r>
              <a:rPr kumimoji="1" lang="en" altLang="zh-TW" dirty="0" err="1">
                <a:latin typeface="Times New Roman" panose="02020603050405020304" pitchFamily="18" charset="0"/>
                <a:cs typeface="Times New Roman" panose="02020603050405020304" pitchFamily="18" charset="0"/>
              </a:rPr>
              <a:t>Baliscore</a:t>
            </a:r>
            <a:r>
              <a:rPr kumimoji="1" lang="zh-TW" altLang="en-US" dirty="0">
                <a:latin typeface="Times New Roman" panose="02020603050405020304" pitchFamily="18" charset="0"/>
                <a:cs typeface="Times New Roman" panose="02020603050405020304" pitchFamily="18" charset="0"/>
              </a:rPr>
              <a:t>：</a:t>
            </a:r>
            <a:r>
              <a:rPr kumimoji="1" lang="en-US" altLang="zh-TW" dirty="0">
                <a:latin typeface="Times New Roman" panose="02020603050405020304" pitchFamily="18" charset="0"/>
                <a:cs typeface="Times New Roman" panose="02020603050405020304" pitchFamily="18" charset="0"/>
              </a:rPr>
              <a:t>0.0 ~ 1.0</a:t>
            </a:r>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If the solution is identical with the corresponding manually created reference alignment then the score is 1.0.</a:t>
            </a:r>
          </a:p>
          <a:p>
            <a:r>
              <a:rPr kumimoji="1" lang="en-US" altLang="zh-TW" dirty="0">
                <a:latin typeface="Times New Roman" panose="02020603050405020304" pitchFamily="18" charset="0"/>
                <a:cs typeface="Times New Roman" panose="02020603050405020304" pitchFamily="18" charset="0"/>
              </a:rPr>
              <a:t>Score </a:t>
            </a:r>
            <a:r>
              <a:rPr kumimoji="1" lang="en-US" altLang="zh-TW" dirty="0" err="1">
                <a:latin typeface="Times New Roman" panose="02020603050405020304" pitchFamily="18" charset="0"/>
                <a:cs typeface="Times New Roman" panose="02020603050405020304" pitchFamily="18" charset="0"/>
              </a:rPr>
              <a:t>matix</a:t>
            </a:r>
            <a:r>
              <a:rPr kumimoji="1" lang="zh-TW" altLang="en-US" dirty="0">
                <a:latin typeface="Times New Roman" panose="02020603050405020304" pitchFamily="18" charset="0"/>
                <a:cs typeface="Times New Roman" panose="02020603050405020304" pitchFamily="18" charset="0"/>
              </a:rPr>
              <a:t>：</a:t>
            </a:r>
            <a:r>
              <a:rPr kumimoji="1" lang="en-US" altLang="zh-TW" dirty="0">
                <a:latin typeface="Times New Roman" panose="02020603050405020304" pitchFamily="18" charset="0"/>
                <a:cs typeface="Times New Roman" panose="02020603050405020304" pitchFamily="18" charset="0"/>
              </a:rPr>
              <a:t>P</a:t>
            </a:r>
            <a:r>
              <a:rPr kumimoji="1" lang="en" altLang="zh-TW" dirty="0">
                <a:latin typeface="Times New Roman" panose="02020603050405020304" pitchFamily="18" charset="0"/>
                <a:cs typeface="Times New Roman" panose="02020603050405020304" pitchFamily="18" charset="0"/>
              </a:rPr>
              <a:t>AM or BLOSUM</a:t>
            </a:r>
          </a:p>
          <a:p>
            <a:r>
              <a:rPr kumimoji="1" lang="en-US" altLang="zh-TW" dirty="0">
                <a:latin typeface="Times New Roman" panose="02020603050405020304" pitchFamily="18" charset="0"/>
                <a:cs typeface="Times New Roman" panose="02020603050405020304" pitchFamily="18" charset="0"/>
              </a:rPr>
              <a:t>Penalty and </a:t>
            </a:r>
            <a:r>
              <a:rPr kumimoji="1" lang="en-US" altLang="zh-TW" dirty="0" err="1">
                <a:latin typeface="Times New Roman" panose="02020603050405020304" pitchFamily="18" charset="0"/>
                <a:cs typeface="Times New Roman" panose="02020603050405020304" pitchFamily="18" charset="0"/>
              </a:rPr>
              <a:t>wieght</a:t>
            </a:r>
            <a:r>
              <a:rPr kumimoji="1" lang="zh-TW" altLang="en-US" dirty="0">
                <a:latin typeface="Times New Roman" panose="02020603050405020304" pitchFamily="18" charset="0"/>
                <a:cs typeface="Times New Roman" panose="02020603050405020304" pitchFamily="18" charset="0"/>
              </a:rPr>
              <a:t>：</a:t>
            </a:r>
            <a:r>
              <a:rPr kumimoji="1" lang="en-US" altLang="zh-TW" dirty="0">
                <a:latin typeface="Times New Roman" panose="02020603050405020304" pitchFamily="18" charset="0"/>
                <a:cs typeface="Times New Roman" panose="02020603050405020304" pitchFamily="18" charset="0"/>
              </a:rPr>
              <a:t>CLUSTAL W</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17</a:t>
            </a:fld>
            <a:endParaRPr kumimoji="1" lang="zh-TW" altLang="en-US"/>
          </a:p>
        </p:txBody>
      </p:sp>
    </p:spTree>
    <p:extLst>
      <p:ext uri="{BB962C8B-B14F-4D97-AF65-F5344CB8AC3E}">
        <p14:creationId xmlns:p14="http://schemas.microsoft.com/office/powerpoint/2010/main" val="1234299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18</a:t>
            </a:fld>
            <a:endParaRPr kumimoji="1" lang="zh-TW" altLang="en-US"/>
          </a:p>
        </p:txBody>
      </p:sp>
      <p:pic>
        <p:nvPicPr>
          <p:cNvPr id="4" name="圖片 3">
            <a:extLst>
              <a:ext uri="{FF2B5EF4-FFF2-40B4-BE49-F238E27FC236}">
                <a16:creationId xmlns:a16="http://schemas.microsoft.com/office/drawing/2014/main" id="{9E190C3A-67C4-2B43-AD8D-4563514118ED}"/>
              </a:ext>
            </a:extLst>
          </p:cNvPr>
          <p:cNvPicPr>
            <a:picLocks noChangeAspect="1"/>
          </p:cNvPicPr>
          <p:nvPr/>
        </p:nvPicPr>
        <p:blipFill>
          <a:blip r:embed="rId2"/>
          <a:stretch>
            <a:fillRect/>
          </a:stretch>
        </p:blipFill>
        <p:spPr>
          <a:xfrm>
            <a:off x="1598753" y="216681"/>
            <a:ext cx="8994494" cy="6424639"/>
          </a:xfrm>
          <a:prstGeom prst="rect">
            <a:avLst/>
          </a:prstGeom>
        </p:spPr>
      </p:pic>
    </p:spTree>
    <p:extLst>
      <p:ext uri="{BB962C8B-B14F-4D97-AF65-F5344CB8AC3E}">
        <p14:creationId xmlns:p14="http://schemas.microsoft.com/office/powerpoint/2010/main" val="3026351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19</a:t>
            </a:fld>
            <a:endParaRPr kumimoji="1" lang="zh-TW" altLang="en-US"/>
          </a:p>
        </p:txBody>
      </p:sp>
      <p:pic>
        <p:nvPicPr>
          <p:cNvPr id="2" name="圖片 1">
            <a:extLst>
              <a:ext uri="{FF2B5EF4-FFF2-40B4-BE49-F238E27FC236}">
                <a16:creationId xmlns:a16="http://schemas.microsoft.com/office/drawing/2014/main" id="{BF80EA54-353F-4F49-A79D-86CB962AA4F4}"/>
              </a:ext>
            </a:extLst>
          </p:cNvPr>
          <p:cNvPicPr>
            <a:picLocks noChangeAspect="1"/>
          </p:cNvPicPr>
          <p:nvPr/>
        </p:nvPicPr>
        <p:blipFill>
          <a:blip r:embed="rId2"/>
          <a:stretch>
            <a:fillRect/>
          </a:stretch>
        </p:blipFill>
        <p:spPr>
          <a:xfrm>
            <a:off x="883575" y="433030"/>
            <a:ext cx="10424850" cy="5991941"/>
          </a:xfrm>
          <a:prstGeom prst="rect">
            <a:avLst/>
          </a:prstGeom>
        </p:spPr>
      </p:pic>
    </p:spTree>
    <p:extLst>
      <p:ext uri="{BB962C8B-B14F-4D97-AF65-F5344CB8AC3E}">
        <p14:creationId xmlns:p14="http://schemas.microsoft.com/office/powerpoint/2010/main" val="752707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20</a:t>
            </a:fld>
            <a:endParaRPr kumimoji="1" lang="zh-TW" altLang="en-US" dirty="0"/>
          </a:p>
        </p:txBody>
      </p:sp>
      <p:pic>
        <p:nvPicPr>
          <p:cNvPr id="3" name="圖片 2">
            <a:extLst>
              <a:ext uri="{FF2B5EF4-FFF2-40B4-BE49-F238E27FC236}">
                <a16:creationId xmlns:a16="http://schemas.microsoft.com/office/drawing/2014/main" id="{90095E28-D5D4-C443-8979-78C3F6F0DECB}"/>
              </a:ext>
            </a:extLst>
          </p:cNvPr>
          <p:cNvPicPr>
            <a:picLocks noChangeAspect="1"/>
          </p:cNvPicPr>
          <p:nvPr/>
        </p:nvPicPr>
        <p:blipFill>
          <a:blip r:embed="rId2"/>
          <a:stretch>
            <a:fillRect/>
          </a:stretch>
        </p:blipFill>
        <p:spPr>
          <a:xfrm>
            <a:off x="508613" y="1672532"/>
            <a:ext cx="11174775" cy="3512937"/>
          </a:xfrm>
          <a:prstGeom prst="rect">
            <a:avLst/>
          </a:prstGeom>
        </p:spPr>
      </p:pic>
      <p:sp>
        <p:nvSpPr>
          <p:cNvPr id="5" name="標題 1">
            <a:extLst>
              <a:ext uri="{FF2B5EF4-FFF2-40B4-BE49-F238E27FC236}">
                <a16:creationId xmlns:a16="http://schemas.microsoft.com/office/drawing/2014/main" id="{54AF6A7B-1F37-F64D-BBE7-518002130ACC}"/>
              </a:ext>
            </a:extLst>
          </p:cNvPr>
          <p:cNvSpPr>
            <a:spLocks noGrp="1"/>
          </p:cNvSpPr>
          <p:nvPr>
            <p:ph type="title"/>
          </p:nvPr>
        </p:nvSpPr>
        <p:spPr>
          <a:xfrm>
            <a:off x="838200" y="365125"/>
            <a:ext cx="10515600" cy="1325563"/>
          </a:xfrm>
        </p:spPr>
        <p:txBody>
          <a:bodyPr/>
          <a:lstStyle/>
          <a:p>
            <a:r>
              <a:rPr kumimoji="1" lang="en-US" altLang="zh-TW" dirty="0"/>
              <a:t>Result (4/4)</a:t>
            </a:r>
            <a:endParaRPr kumimoji="1" lang="zh-TW" altLang="en-US" dirty="0"/>
          </a:p>
        </p:txBody>
      </p:sp>
    </p:spTree>
    <p:extLst>
      <p:ext uri="{BB962C8B-B14F-4D97-AF65-F5344CB8AC3E}">
        <p14:creationId xmlns:p14="http://schemas.microsoft.com/office/powerpoint/2010/main" val="3376586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a:xfrm>
            <a:off x="3094781" y="2766219"/>
            <a:ext cx="6002438" cy="1325563"/>
          </a:xfrm>
        </p:spPr>
        <p:txBody>
          <a:bodyPr/>
          <a:lstStyle/>
          <a:p>
            <a:pPr algn="ctr"/>
            <a:r>
              <a:rPr kumimoji="1" lang="en-US" altLang="zh-TW" dirty="0"/>
              <a:t>Thank you for listening</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21</a:t>
            </a:fld>
            <a:endParaRPr kumimoji="1" lang="zh-TW" altLang="en-US"/>
          </a:p>
        </p:txBody>
      </p:sp>
    </p:spTree>
    <p:extLst>
      <p:ext uri="{BB962C8B-B14F-4D97-AF65-F5344CB8AC3E}">
        <p14:creationId xmlns:p14="http://schemas.microsoft.com/office/powerpoint/2010/main" val="72464655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2308</TotalTime>
  <Words>890</Words>
  <Application>Microsoft Macintosh PowerPoint</Application>
  <PresentationFormat>寬螢幕</PresentationFormat>
  <Paragraphs>143</Paragraphs>
  <Slides>22</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22</vt:i4>
      </vt:variant>
    </vt:vector>
  </HeadingPairs>
  <TitlesOfParts>
    <vt:vector size="29" baseType="lpstr">
      <vt:lpstr>Arial</vt:lpstr>
      <vt:lpstr>Calibri</vt:lpstr>
      <vt:lpstr>Cambria Math</vt:lpstr>
      <vt:lpstr>Rockwell</vt:lpstr>
      <vt:lpstr>Times</vt:lpstr>
      <vt:lpstr>Times New Roman</vt:lpstr>
      <vt:lpstr>Office 佈景主題</vt:lpstr>
      <vt:lpstr>Progressive Alignment Method Using Genetic Algorithm for Multiple Sequence Alignment</vt:lpstr>
      <vt:lpstr>Abstract (1/2)</vt:lpstr>
      <vt:lpstr>Abstract (2/2)</vt:lpstr>
      <vt:lpstr>Outline</vt:lpstr>
      <vt:lpstr>Multiple sequence alignment (MSA)</vt:lpstr>
      <vt:lpstr>Distance The divergence of sequences (1/3)</vt:lpstr>
      <vt:lpstr>Distance The divergence of sequences (2/3)</vt:lpstr>
      <vt:lpstr>Distance The divergence of sequences (3/3)</vt:lpstr>
      <vt:lpstr>Guide tree and MSA (1/2)</vt:lpstr>
      <vt:lpstr>Guide tree and MSA (2/2)</vt:lpstr>
      <vt:lpstr>GAPAM Initialization</vt:lpstr>
      <vt:lpstr>GAPAM Initialization：Mechanism 1 (random)</vt:lpstr>
      <vt:lpstr>GAPAM Initialization：Mechanism 2 (shuffle)</vt:lpstr>
      <vt:lpstr>GAPAM Child Generation：Crossover</vt:lpstr>
      <vt:lpstr>GAPAM Child Generation：Mutation</vt:lpstr>
      <vt:lpstr>GAPAM Selection：Fitness calculation</vt:lpstr>
      <vt:lpstr>GAPAM Termination</vt:lpstr>
      <vt:lpstr>Result (1/4)</vt:lpstr>
      <vt:lpstr>PowerPoint 簡報</vt:lpstr>
      <vt:lpstr>PowerPoint 簡報</vt:lpstr>
      <vt:lpstr>Result (4/4)</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宗霖 呂</cp:lastModifiedBy>
  <cp:revision>26</cp:revision>
  <dcterms:created xsi:type="dcterms:W3CDTF">2021-03-28T03:57:23Z</dcterms:created>
  <dcterms:modified xsi:type="dcterms:W3CDTF">2021-07-06T07:00:28Z</dcterms:modified>
</cp:coreProperties>
</file>