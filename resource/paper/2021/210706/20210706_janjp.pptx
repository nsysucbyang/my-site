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475" r:id="rId4"/>
    <p:sldId id="260" r:id="rId5"/>
    <p:sldId id="403" r:id="rId6"/>
    <p:sldId id="503" r:id="rId7"/>
    <p:sldId id="504" r:id="rId8"/>
    <p:sldId id="508" r:id="rId9"/>
    <p:sldId id="506" r:id="rId10"/>
    <p:sldId id="507" r:id="rId11"/>
    <p:sldId id="511" r:id="rId12"/>
    <p:sldId id="510" r:id="rId13"/>
    <p:sldId id="509" r:id="rId14"/>
    <p:sldId id="512" r:id="rId1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CC"/>
    <a:srgbClr val="FF16FF"/>
    <a:srgbClr val="FAEBD7"/>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73300" autoAdjust="0"/>
  </p:normalViewPr>
  <p:slideViewPr>
    <p:cSldViewPr>
      <p:cViewPr varScale="1">
        <p:scale>
          <a:sx n="114" d="100"/>
          <a:sy n="114" d="100"/>
        </p:scale>
        <p:origin x="1386" y="96"/>
      </p:cViewPr>
      <p:guideLst>
        <p:guide orient="horz" pos="2160"/>
        <p:guide pos="2880"/>
      </p:guideLst>
    </p:cSldViewPr>
  </p:slideViewPr>
  <p:notesTextViewPr>
    <p:cViewPr>
      <p:scale>
        <a:sx n="115" d="100"/>
        <a:sy n="11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2021/7/4</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val="99672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4</a:t>
            </a:fld>
            <a:endParaRPr lang="zh-TW" altLang="en-US"/>
          </a:p>
        </p:txBody>
      </p:sp>
    </p:spTree>
    <p:extLst>
      <p:ext uri="{BB962C8B-B14F-4D97-AF65-F5344CB8AC3E}">
        <p14:creationId xmlns:p14="http://schemas.microsoft.com/office/powerpoint/2010/main" val="2991817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2021/7/4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2021/7/4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2021/7/4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2021/7/4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2021/7/4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2021/7/4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2021/7/4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2021/7/4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2021/7/4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2021/7/4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2021/7/4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2021/7/4</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a:latin typeface="Times New Roman"/>
                <a:ea typeface="新細明體"/>
                <a:cs typeface="Times New Roman"/>
              </a:rPr>
              <a:t>Neural Networks and the Estimation of Hands’ Strength in Contract Bridge</a:t>
            </a:r>
            <a:br>
              <a:rPr lang="en-US" altLang="zh-TW" sz="3200" dirty="0">
                <a:latin typeface="Times New Roman"/>
                <a:ea typeface="新細明體"/>
                <a:cs typeface="Times New Roman"/>
              </a:rPr>
            </a:br>
            <a:endParaRPr lang="en-US" altLang="zh-TW" sz="3200" dirty="0">
              <a:latin typeface="Times New Roman"/>
              <a:ea typeface="新細明體"/>
              <a:cs typeface="Times New Roman"/>
            </a:endParaRP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vert="horz" lIns="91440" tIns="45720" rIns="91440" bIns="45720" rtlCol="0" anchor="t">
            <a:noAutofit/>
          </a:bodyPr>
          <a:lstStyle/>
          <a:p>
            <a:pPr fontAlgn="ctr"/>
            <a:r>
              <a:rPr lang="pl-PL" altLang="zh-TW" sz="2000" dirty="0">
                <a:solidFill>
                  <a:schemeClr val="tx1"/>
                </a:solidFill>
                <a:latin typeface="Times New Roman"/>
                <a:ea typeface="新細明體"/>
                <a:cs typeface="Times New Roman"/>
              </a:rPr>
              <a:t>Krzysztof Mossakowski and Jacek Ma´ndziuk</a:t>
            </a:r>
            <a:endParaRPr lang="en-US" altLang="zh-TW" sz="2000" dirty="0">
              <a:solidFill>
                <a:schemeClr val="tx1"/>
              </a:solidFill>
              <a:latin typeface="Times New Roman"/>
              <a:ea typeface="新細明體"/>
              <a:cs typeface="Times New Roman"/>
            </a:endParaRPr>
          </a:p>
        </p:txBody>
      </p:sp>
      <p:sp>
        <p:nvSpPr>
          <p:cNvPr id="8" name="文字方塊 7">
            <a:extLst>
              <a:ext uri="{FF2B5EF4-FFF2-40B4-BE49-F238E27FC236}">
                <a16:creationId xmlns:a16="http://schemas.microsoft.com/office/drawing/2014/main" id="{8F2527E8-BB8F-41FB-8AF1-03DCC96BC069}"/>
              </a:ext>
            </a:extLst>
          </p:cNvPr>
          <p:cNvSpPr txBox="1"/>
          <p:nvPr/>
        </p:nvSpPr>
        <p:spPr>
          <a:xfrm>
            <a:off x="750472" y="3847691"/>
            <a:ext cx="7643054" cy="769441"/>
          </a:xfrm>
          <a:prstGeom prst="rect">
            <a:avLst/>
          </a:prstGeom>
          <a:noFill/>
        </p:spPr>
        <p:txBody>
          <a:bodyPr wrap="square" lIns="91440" tIns="45720" rIns="91440" bIns="45720" rtlCol="0" anchor="t">
            <a:spAutoFit/>
          </a:bodyPr>
          <a:lstStyle/>
          <a:p>
            <a:pPr algn="ctr"/>
            <a:r>
              <a:rPr lang="en-US" altLang="zh-TW" sz="2200" dirty="0">
                <a:latin typeface="Times New Roman"/>
                <a:ea typeface="+mn-lt"/>
                <a:cs typeface="+mn-lt"/>
              </a:rPr>
              <a:t>Intelligence and Soft Computing - ICAISC 2006, 8th International Conference, Zakopane, Poland, June 25-29, 2006</a:t>
            </a:r>
          </a:p>
        </p:txBody>
      </p:sp>
      <p:sp>
        <p:nvSpPr>
          <p:cNvPr id="9" name="文字方塊 8">
            <a:extLst>
              <a:ext uri="{FF2B5EF4-FFF2-40B4-BE49-F238E27FC236}">
                <a16:creationId xmlns:a16="http://schemas.microsoft.com/office/drawing/2014/main" id="{6BC92671-3184-4146-A361-F82079153C2E}"/>
              </a:ext>
            </a:extLst>
          </p:cNvPr>
          <p:cNvSpPr txBox="1"/>
          <p:nvPr/>
        </p:nvSpPr>
        <p:spPr>
          <a:xfrm>
            <a:off x="5652120" y="5377328"/>
            <a:ext cx="315823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Jing-Ping Jan</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05264"/>
            <a:ext cx="2440092" cy="461665"/>
          </a:xfrm>
          <a:prstGeom prst="rect">
            <a:avLst/>
          </a:prstGeom>
          <a:noFill/>
        </p:spPr>
        <p:txBody>
          <a:bodyPr wrap="none" lIns="91440" tIns="45720" rIns="91440" bIns="45720" rtlCol="0" anchor="t">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latin typeface="Times New Roman"/>
                <a:ea typeface="新細明體"/>
                <a:cs typeface="Times New Roman"/>
              </a:rPr>
              <a:t>Date: July 6, 2021</a:t>
            </a:r>
            <a:endParaRPr lang="zh-TW" altLang="en-US" dirty="0">
              <a:latin typeface="Times New Roman"/>
              <a:ea typeface="新細明體"/>
              <a:cs typeface="Times New Roman"/>
            </a:endParaRPr>
          </a:p>
        </p:txBody>
      </p:sp>
    </p:spTree>
    <p:extLst>
      <p:ext uri="{BB962C8B-B14F-4D97-AF65-F5344CB8AC3E}">
        <p14:creationId xmlns:p14="http://schemas.microsoft.com/office/powerpoint/2010/main" val="35570499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altLang="zh-TW" sz="2800" dirty="0">
                <a:latin typeface="Times New Roman"/>
                <a:ea typeface="+mn-lt"/>
                <a:cs typeface="+mn-lt"/>
              </a:rPr>
              <a:t>This paper is focused on a Double Dummy Bridge Problem (DDBP) which consists in answering the question of how many tricks are to be taken by a pair of players assuming perfect play of all four sides with all cards being revealed. Several experiments are also presented in a variant of DDBP in which the information about to whom of the two players in a given pair a particular card belongs to is hidden. In contrast to our previous works, which were devoted to no trump contracts, here we concentrate on suit contracts. Several interesting conclusions are drawn from comparison of weight patterns of networks trained on no trump contracts only vs. those trained exclusively on suit contracts. </a:t>
            </a:r>
            <a:endParaRPr lang="en-US" sz="2800" dirty="0">
              <a:latin typeface="Times New Roman"/>
              <a:ea typeface="+mn-lt"/>
              <a:cs typeface="+mn-lt"/>
            </a:endParaRPr>
          </a:p>
          <a:p>
            <a:pPr marL="0" indent="0" algn="just">
              <a:lnSpc>
                <a:spcPts val="3200"/>
              </a:lnSpc>
              <a:buNone/>
            </a:pPr>
            <a:endParaRPr lang="en-US" sz="2800" dirty="0">
              <a:latin typeface="Times New Roman"/>
              <a:ea typeface="+mn-lt"/>
              <a:cs typeface="+mn-lt"/>
            </a:endParaRP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altLang="zh-TW" sz="2800" dirty="0">
                <a:latin typeface="Times New Roman"/>
                <a:ea typeface="+mn-lt"/>
                <a:cs typeface="+mn-lt"/>
              </a:rPr>
              <a:t>The ultimate goal of this research is to construct a computer program playing the game of contract bridge using neural networks and other CI techniques with the basic assumption of using zero-human-knowledge approach and to learn purely on examples.</a:t>
            </a:r>
            <a:endParaRPr lang="en-US" sz="2800" dirty="0">
              <a:latin typeface="Times New Roman"/>
              <a:ea typeface="+mn-lt"/>
              <a:cs typeface="+mn-lt"/>
            </a:endParaRPr>
          </a:p>
          <a:p>
            <a:pPr marL="0" indent="0" algn="just">
              <a:lnSpc>
                <a:spcPts val="3200"/>
              </a:lnSpc>
              <a:buNone/>
            </a:pPr>
            <a:endParaRPr lang="en-US" sz="2800" dirty="0">
              <a:latin typeface="Times New Roman"/>
              <a:ea typeface="+mn-lt"/>
              <a:cs typeface="+mn-lt"/>
            </a:endParaRPr>
          </a:p>
        </p:txBody>
      </p:sp>
    </p:spTree>
    <p:extLst>
      <p:ext uri="{BB962C8B-B14F-4D97-AF65-F5344CB8AC3E}">
        <p14:creationId xmlns:p14="http://schemas.microsoft.com/office/powerpoint/2010/main" val="20802499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nchor="ctr">
            <a:normAutofit/>
          </a:bodyPr>
          <a:lstStyle/>
          <a:p>
            <a:pPr algn="l"/>
            <a:r>
              <a:rPr lang="en-US" dirty="0">
                <a:latin typeface="Times New Roman"/>
                <a:cs typeface="Times New Roman"/>
              </a:rPr>
              <a:t>Introduction</a:t>
            </a:r>
            <a:endParaRPr lang="zh-TW" altLang="en-US">
              <a:latin typeface="Times New Roman"/>
              <a:cs typeface="Times New Roman"/>
            </a:endParaRPr>
          </a:p>
        </p:txBody>
      </p:sp>
      <p:sp>
        <p:nvSpPr>
          <p:cNvPr id="3" name="內容版面配置區 2"/>
          <p:cNvSpPr>
            <a:spLocks noGrp="1"/>
          </p:cNvSpPr>
          <p:nvPr>
            <p:ph sz="half" idx="1"/>
          </p:nvPr>
        </p:nvSpPr>
        <p:spPr>
          <a:xfrm>
            <a:off x="457200" y="1600200"/>
            <a:ext cx="4038600" cy="4525963"/>
          </a:xfrm>
        </p:spPr>
        <p:txBody>
          <a:bodyPr vert="horz" lIns="91440" tIns="45720" rIns="91440" bIns="45720" rtlCol="0" anchor="t">
            <a:normAutofit/>
          </a:bodyPr>
          <a:lstStyle/>
          <a:p>
            <a:r>
              <a:rPr lang="en-US" altLang="zh-TW" dirty="0">
                <a:latin typeface="Times New Roman"/>
                <a:ea typeface="新細明體"/>
                <a:cs typeface="Times New Roman"/>
              </a:rPr>
              <a:t>Bidding stage</a:t>
            </a:r>
            <a:br>
              <a:rPr lang="en-US" altLang="zh-TW" dirty="0">
                <a:latin typeface="Times New Roman"/>
              </a:rPr>
            </a:br>
            <a:r>
              <a:rPr lang="en-US" altLang="zh-TW" dirty="0">
                <a:latin typeface="Times New Roman"/>
                <a:ea typeface="新細明體"/>
                <a:cs typeface="Times New Roman"/>
              </a:rPr>
              <a:t>Find the most profitable contract for the playing stage</a:t>
            </a:r>
          </a:p>
          <a:p>
            <a:r>
              <a:rPr lang="en-US" altLang="zh-TW" dirty="0">
                <a:latin typeface="Times New Roman"/>
                <a:ea typeface="新細明體"/>
                <a:cs typeface="Times New Roman"/>
              </a:rPr>
              <a:t>Playing stage</a:t>
            </a:r>
            <a:br>
              <a:rPr lang="en-US" altLang="zh-TW" dirty="0">
                <a:latin typeface="Times New Roman"/>
              </a:rPr>
            </a:br>
            <a:r>
              <a:rPr lang="en-US" altLang="zh-TW" dirty="0">
                <a:latin typeface="Times New Roman"/>
                <a:ea typeface="新細明體"/>
                <a:cs typeface="Times New Roman"/>
              </a:rPr>
              <a:t>13 rounds of a card-strength competition</a:t>
            </a:r>
          </a:p>
        </p:txBody>
      </p:sp>
      <p:pic>
        <p:nvPicPr>
          <p:cNvPr id="4" name="Picture 4">
            <a:extLst>
              <a:ext uri="{FF2B5EF4-FFF2-40B4-BE49-F238E27FC236}">
                <a16:creationId xmlns:a16="http://schemas.microsoft.com/office/drawing/2014/main" id="{10CA24D7-37B0-4AD3-AD31-66F21D408E09}"/>
              </a:ext>
            </a:extLst>
          </p:cNvPr>
          <p:cNvPicPr>
            <a:picLocks noChangeAspect="1"/>
          </p:cNvPicPr>
          <p:nvPr/>
        </p:nvPicPr>
        <p:blipFill>
          <a:blip r:embed="rId3"/>
          <a:stretch>
            <a:fillRect/>
          </a:stretch>
        </p:blipFill>
        <p:spPr>
          <a:xfrm>
            <a:off x="4612895" y="1571995"/>
            <a:ext cx="4947704" cy="370857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Double Dummy Bridge problem</a:t>
            </a:r>
          </a:p>
        </p:txBody>
      </p:sp>
      <p:pic>
        <p:nvPicPr>
          <p:cNvPr id="5" name="內容版面配置區 4">
            <a:extLst>
              <a:ext uri="{FF2B5EF4-FFF2-40B4-BE49-F238E27FC236}">
                <a16:creationId xmlns:a16="http://schemas.microsoft.com/office/drawing/2014/main" id="{CA5D26AE-2421-46D9-99A2-978A0A9C4E30}"/>
              </a:ext>
            </a:extLst>
          </p:cNvPr>
          <p:cNvPicPr>
            <a:picLocks noGrp="1" noChangeAspect="1"/>
          </p:cNvPicPr>
          <p:nvPr>
            <p:ph sz="half" idx="1"/>
          </p:nvPr>
        </p:nvPicPr>
        <p:blipFill>
          <a:blip r:embed="rId2"/>
          <a:stretch>
            <a:fillRect/>
          </a:stretch>
        </p:blipFill>
        <p:spPr>
          <a:xfrm>
            <a:off x="2182019" y="2229644"/>
            <a:ext cx="4781550" cy="3267075"/>
          </a:xfrm>
        </p:spPr>
      </p:pic>
    </p:spTree>
    <p:extLst>
      <p:ext uri="{BB962C8B-B14F-4D97-AF65-F5344CB8AC3E}">
        <p14:creationId xmlns:p14="http://schemas.microsoft.com/office/powerpoint/2010/main" val="41811585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Neural Network</a:t>
            </a:r>
          </a:p>
        </p:txBody>
      </p:sp>
      <p:sp>
        <p:nvSpPr>
          <p:cNvPr id="7" name="內容版面配置區 6">
            <a:extLst>
              <a:ext uri="{FF2B5EF4-FFF2-40B4-BE49-F238E27FC236}">
                <a16:creationId xmlns:a16="http://schemas.microsoft.com/office/drawing/2014/main" id="{61A33D97-CD7F-46D9-9D0A-5613EB585199}"/>
              </a:ext>
            </a:extLst>
          </p:cNvPr>
          <p:cNvSpPr>
            <a:spLocks noGrp="1"/>
          </p:cNvSpPr>
          <p:nvPr>
            <p:ph sz="half" idx="1"/>
          </p:nvPr>
        </p:nvSpPr>
        <p:spPr>
          <a:xfrm>
            <a:off x="457200" y="1600200"/>
            <a:ext cx="8229600" cy="4525963"/>
          </a:xfrm>
        </p:spPr>
        <p:txBody>
          <a:bodyPr/>
          <a:lstStyle/>
          <a:p>
            <a:r>
              <a:rPr lang="en-US" altLang="zh-TW" dirty="0">
                <a:latin typeface="Times New Roman" panose="02020603050405020304" pitchFamily="18" charset="0"/>
                <a:cs typeface="Times New Roman" panose="02020603050405020304" pitchFamily="18" charset="0"/>
              </a:rPr>
              <a:t>52-1</a:t>
            </a:r>
          </a:p>
          <a:p>
            <a:r>
              <a:rPr lang="en-US" altLang="zh-TW" dirty="0">
                <a:latin typeface="Times New Roman" panose="02020603050405020304" pitchFamily="18" charset="0"/>
                <a:cs typeface="Times New Roman" panose="02020603050405020304" pitchFamily="18" charset="0"/>
              </a:rPr>
              <a:t>52-25-1</a:t>
            </a:r>
            <a:endParaRPr lang="zh-TW" altLang="en-US" dirty="0">
              <a:latin typeface="Times New Roman" panose="02020603050405020304" pitchFamily="18" charset="0"/>
              <a:cs typeface="Times New Roman" panose="02020603050405020304" pitchFamily="18" charset="0"/>
            </a:endParaRPr>
          </a:p>
        </p:txBody>
      </p:sp>
      <p:sp>
        <p:nvSpPr>
          <p:cNvPr id="8" name="橢圓 7">
            <a:extLst>
              <a:ext uri="{FF2B5EF4-FFF2-40B4-BE49-F238E27FC236}">
                <a16:creationId xmlns:a16="http://schemas.microsoft.com/office/drawing/2014/main" id="{64F540E1-6EEB-4A5F-A916-5CE7617BC1D8}"/>
              </a:ext>
            </a:extLst>
          </p:cNvPr>
          <p:cNvSpPr/>
          <p:nvPr/>
        </p:nvSpPr>
        <p:spPr>
          <a:xfrm>
            <a:off x="2987824" y="155679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a:extLst>
              <a:ext uri="{FF2B5EF4-FFF2-40B4-BE49-F238E27FC236}">
                <a16:creationId xmlns:a16="http://schemas.microsoft.com/office/drawing/2014/main" id="{AC603396-F5C1-493E-8055-DD58B0E3616D}"/>
              </a:ext>
            </a:extLst>
          </p:cNvPr>
          <p:cNvSpPr/>
          <p:nvPr/>
        </p:nvSpPr>
        <p:spPr>
          <a:xfrm>
            <a:off x="2987824" y="195175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a:extLst>
              <a:ext uri="{FF2B5EF4-FFF2-40B4-BE49-F238E27FC236}">
                <a16:creationId xmlns:a16="http://schemas.microsoft.com/office/drawing/2014/main" id="{B83C5FFD-6383-4945-99C8-45C6B3F0CDC0}"/>
              </a:ext>
            </a:extLst>
          </p:cNvPr>
          <p:cNvSpPr/>
          <p:nvPr/>
        </p:nvSpPr>
        <p:spPr>
          <a:xfrm>
            <a:off x="2987824" y="234044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a:extLst>
              <a:ext uri="{FF2B5EF4-FFF2-40B4-BE49-F238E27FC236}">
                <a16:creationId xmlns:a16="http://schemas.microsoft.com/office/drawing/2014/main" id="{3D6ABDCD-EEA3-4AD3-B7DA-1E4D99B05E4A}"/>
              </a:ext>
            </a:extLst>
          </p:cNvPr>
          <p:cNvSpPr/>
          <p:nvPr/>
        </p:nvSpPr>
        <p:spPr>
          <a:xfrm>
            <a:off x="2987824" y="273541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a:extLst>
              <a:ext uri="{FF2B5EF4-FFF2-40B4-BE49-F238E27FC236}">
                <a16:creationId xmlns:a16="http://schemas.microsoft.com/office/drawing/2014/main" id="{0547BB8C-A252-4F1D-A122-B18AB4A64D97}"/>
              </a:ext>
            </a:extLst>
          </p:cNvPr>
          <p:cNvSpPr/>
          <p:nvPr/>
        </p:nvSpPr>
        <p:spPr>
          <a:xfrm>
            <a:off x="2987824" y="316461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a:extLst>
              <a:ext uri="{FF2B5EF4-FFF2-40B4-BE49-F238E27FC236}">
                <a16:creationId xmlns:a16="http://schemas.microsoft.com/office/drawing/2014/main" id="{7D7A6921-41C6-4655-956C-BB0AAB9ABA58}"/>
              </a:ext>
            </a:extLst>
          </p:cNvPr>
          <p:cNvSpPr/>
          <p:nvPr/>
        </p:nvSpPr>
        <p:spPr>
          <a:xfrm>
            <a:off x="2987824" y="355958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a:extLst>
              <a:ext uri="{FF2B5EF4-FFF2-40B4-BE49-F238E27FC236}">
                <a16:creationId xmlns:a16="http://schemas.microsoft.com/office/drawing/2014/main" id="{85B7B58C-85D2-4C9B-A496-96657488DBA4}"/>
              </a:ext>
            </a:extLst>
          </p:cNvPr>
          <p:cNvSpPr/>
          <p:nvPr/>
        </p:nvSpPr>
        <p:spPr>
          <a:xfrm>
            <a:off x="2987824" y="394826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a:extLst>
              <a:ext uri="{FF2B5EF4-FFF2-40B4-BE49-F238E27FC236}">
                <a16:creationId xmlns:a16="http://schemas.microsoft.com/office/drawing/2014/main" id="{80C81DAD-4F31-4160-9BAD-154C62318FD4}"/>
              </a:ext>
            </a:extLst>
          </p:cNvPr>
          <p:cNvSpPr/>
          <p:nvPr/>
        </p:nvSpPr>
        <p:spPr>
          <a:xfrm>
            <a:off x="2987824" y="434323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a:extLst>
              <a:ext uri="{FF2B5EF4-FFF2-40B4-BE49-F238E27FC236}">
                <a16:creationId xmlns:a16="http://schemas.microsoft.com/office/drawing/2014/main" id="{4AF0303C-28D0-4EFE-97C6-629CD4878F47}"/>
              </a:ext>
            </a:extLst>
          </p:cNvPr>
          <p:cNvSpPr/>
          <p:nvPr/>
        </p:nvSpPr>
        <p:spPr>
          <a:xfrm>
            <a:off x="3098786" y="483852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橢圓 18">
            <a:extLst>
              <a:ext uri="{FF2B5EF4-FFF2-40B4-BE49-F238E27FC236}">
                <a16:creationId xmlns:a16="http://schemas.microsoft.com/office/drawing/2014/main" id="{FF9007EF-FB20-43B4-82A9-818C9AF20003}"/>
              </a:ext>
            </a:extLst>
          </p:cNvPr>
          <p:cNvSpPr/>
          <p:nvPr/>
        </p:nvSpPr>
        <p:spPr>
          <a:xfrm>
            <a:off x="3102034" y="501637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a:extLst>
              <a:ext uri="{FF2B5EF4-FFF2-40B4-BE49-F238E27FC236}">
                <a16:creationId xmlns:a16="http://schemas.microsoft.com/office/drawing/2014/main" id="{87550E8C-E9A4-4FFF-9FB7-4383D3E94AD7}"/>
              </a:ext>
            </a:extLst>
          </p:cNvPr>
          <p:cNvSpPr/>
          <p:nvPr/>
        </p:nvSpPr>
        <p:spPr>
          <a:xfrm>
            <a:off x="3098786" y="520044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a:extLst>
              <a:ext uri="{FF2B5EF4-FFF2-40B4-BE49-F238E27FC236}">
                <a16:creationId xmlns:a16="http://schemas.microsoft.com/office/drawing/2014/main" id="{FA272884-9E0C-44D9-9B9D-BED77D5230C8}"/>
              </a:ext>
            </a:extLst>
          </p:cNvPr>
          <p:cNvSpPr/>
          <p:nvPr/>
        </p:nvSpPr>
        <p:spPr>
          <a:xfrm>
            <a:off x="5554377" y="198011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a:extLst>
              <a:ext uri="{FF2B5EF4-FFF2-40B4-BE49-F238E27FC236}">
                <a16:creationId xmlns:a16="http://schemas.microsoft.com/office/drawing/2014/main" id="{0429F848-2F91-4932-9597-DA81663BB0E0}"/>
              </a:ext>
            </a:extLst>
          </p:cNvPr>
          <p:cNvSpPr/>
          <p:nvPr/>
        </p:nvSpPr>
        <p:spPr>
          <a:xfrm>
            <a:off x="5554377" y="240931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a:extLst>
              <a:ext uri="{FF2B5EF4-FFF2-40B4-BE49-F238E27FC236}">
                <a16:creationId xmlns:a16="http://schemas.microsoft.com/office/drawing/2014/main" id="{F5F51266-A03C-445F-95DB-E4F36C390DBE}"/>
              </a:ext>
            </a:extLst>
          </p:cNvPr>
          <p:cNvSpPr/>
          <p:nvPr/>
        </p:nvSpPr>
        <p:spPr>
          <a:xfrm>
            <a:off x="5554377" y="280428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a:extLst>
              <a:ext uri="{FF2B5EF4-FFF2-40B4-BE49-F238E27FC236}">
                <a16:creationId xmlns:a16="http://schemas.microsoft.com/office/drawing/2014/main" id="{76B324DA-1163-4C9D-9215-A8AA47D46F5E}"/>
              </a:ext>
            </a:extLst>
          </p:cNvPr>
          <p:cNvSpPr/>
          <p:nvPr/>
        </p:nvSpPr>
        <p:spPr>
          <a:xfrm>
            <a:off x="5554377" y="319297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a:extLst>
              <a:ext uri="{FF2B5EF4-FFF2-40B4-BE49-F238E27FC236}">
                <a16:creationId xmlns:a16="http://schemas.microsoft.com/office/drawing/2014/main" id="{A2C71828-1A02-4749-913D-B9D47D23711D}"/>
              </a:ext>
            </a:extLst>
          </p:cNvPr>
          <p:cNvSpPr/>
          <p:nvPr/>
        </p:nvSpPr>
        <p:spPr>
          <a:xfrm>
            <a:off x="5554377" y="358793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29">
            <a:extLst>
              <a:ext uri="{FF2B5EF4-FFF2-40B4-BE49-F238E27FC236}">
                <a16:creationId xmlns:a16="http://schemas.microsoft.com/office/drawing/2014/main" id="{FFC66488-6D46-4054-A294-D53F3FDDC462}"/>
              </a:ext>
            </a:extLst>
          </p:cNvPr>
          <p:cNvSpPr/>
          <p:nvPr/>
        </p:nvSpPr>
        <p:spPr>
          <a:xfrm>
            <a:off x="5665339" y="4083227"/>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a:extLst>
              <a:ext uri="{FF2B5EF4-FFF2-40B4-BE49-F238E27FC236}">
                <a16:creationId xmlns:a16="http://schemas.microsoft.com/office/drawing/2014/main" id="{430D3A84-E7C1-41C0-A28C-42D0349BE402}"/>
              </a:ext>
            </a:extLst>
          </p:cNvPr>
          <p:cNvSpPr/>
          <p:nvPr/>
        </p:nvSpPr>
        <p:spPr>
          <a:xfrm>
            <a:off x="5668587" y="426107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a:extLst>
              <a:ext uri="{FF2B5EF4-FFF2-40B4-BE49-F238E27FC236}">
                <a16:creationId xmlns:a16="http://schemas.microsoft.com/office/drawing/2014/main" id="{9BB15B6E-0F51-4D54-8343-C19C4ACE9971}"/>
              </a:ext>
            </a:extLst>
          </p:cNvPr>
          <p:cNvSpPr/>
          <p:nvPr/>
        </p:nvSpPr>
        <p:spPr>
          <a:xfrm>
            <a:off x="5665339" y="444514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a:extLst>
              <a:ext uri="{FF2B5EF4-FFF2-40B4-BE49-F238E27FC236}">
                <a16:creationId xmlns:a16="http://schemas.microsoft.com/office/drawing/2014/main" id="{F36BD509-3657-401C-A506-603386039841}"/>
              </a:ext>
            </a:extLst>
          </p:cNvPr>
          <p:cNvSpPr/>
          <p:nvPr/>
        </p:nvSpPr>
        <p:spPr>
          <a:xfrm>
            <a:off x="5544182" y="469450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a:extLst>
              <a:ext uri="{FF2B5EF4-FFF2-40B4-BE49-F238E27FC236}">
                <a16:creationId xmlns:a16="http://schemas.microsoft.com/office/drawing/2014/main" id="{3299B737-D264-4A2C-861A-ED0AE822B59D}"/>
              </a:ext>
            </a:extLst>
          </p:cNvPr>
          <p:cNvSpPr/>
          <p:nvPr/>
        </p:nvSpPr>
        <p:spPr>
          <a:xfrm>
            <a:off x="7668344" y="319297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2" name="直線接點 41">
            <a:extLst>
              <a:ext uri="{FF2B5EF4-FFF2-40B4-BE49-F238E27FC236}">
                <a16:creationId xmlns:a16="http://schemas.microsoft.com/office/drawing/2014/main" id="{FE789A3C-D999-4698-8701-8229557F13DC}"/>
              </a:ext>
            </a:extLst>
          </p:cNvPr>
          <p:cNvCxnSpPr>
            <a:stCxn id="8" idx="6"/>
            <a:endCxn id="25" idx="2"/>
          </p:cNvCxnSpPr>
          <p:nvPr/>
        </p:nvCxnSpPr>
        <p:spPr>
          <a:xfrm>
            <a:off x="3275856" y="1700808"/>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974034FE-8EAE-483F-8B9F-E87BBF4F3E88}"/>
              </a:ext>
            </a:extLst>
          </p:cNvPr>
          <p:cNvCxnSpPr>
            <a:stCxn id="8" idx="6"/>
            <a:endCxn id="26" idx="2"/>
          </p:cNvCxnSpPr>
          <p:nvPr/>
        </p:nvCxnSpPr>
        <p:spPr>
          <a:xfrm>
            <a:off x="3275856" y="1700808"/>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86CF3AF9-5532-4418-9975-3260E27DC557}"/>
              </a:ext>
            </a:extLst>
          </p:cNvPr>
          <p:cNvCxnSpPr>
            <a:cxnSpLocks/>
            <a:stCxn id="8" idx="6"/>
            <a:endCxn id="27" idx="2"/>
          </p:cNvCxnSpPr>
          <p:nvPr/>
        </p:nvCxnSpPr>
        <p:spPr>
          <a:xfrm>
            <a:off x="3275856" y="1700808"/>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7E62B562-9FF6-4BDD-B5F3-7E09514D952B}"/>
              </a:ext>
            </a:extLst>
          </p:cNvPr>
          <p:cNvCxnSpPr>
            <a:cxnSpLocks/>
            <a:stCxn id="8" idx="6"/>
            <a:endCxn id="28" idx="2"/>
          </p:cNvCxnSpPr>
          <p:nvPr/>
        </p:nvCxnSpPr>
        <p:spPr>
          <a:xfrm>
            <a:off x="3275856" y="1700808"/>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線接點 50">
            <a:extLst>
              <a:ext uri="{FF2B5EF4-FFF2-40B4-BE49-F238E27FC236}">
                <a16:creationId xmlns:a16="http://schemas.microsoft.com/office/drawing/2014/main" id="{59946C9C-B426-482E-89F7-2ACD53F7C2C9}"/>
              </a:ext>
            </a:extLst>
          </p:cNvPr>
          <p:cNvCxnSpPr>
            <a:cxnSpLocks/>
            <a:stCxn id="8" idx="6"/>
            <a:endCxn id="29" idx="2"/>
          </p:cNvCxnSpPr>
          <p:nvPr/>
        </p:nvCxnSpPr>
        <p:spPr>
          <a:xfrm>
            <a:off x="3275856" y="1700808"/>
            <a:ext cx="2278521" cy="2031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直線接點 53">
            <a:extLst>
              <a:ext uri="{FF2B5EF4-FFF2-40B4-BE49-F238E27FC236}">
                <a16:creationId xmlns:a16="http://schemas.microsoft.com/office/drawing/2014/main" id="{673D5CA0-154C-4AEB-B573-404DCE3F84ED}"/>
              </a:ext>
            </a:extLst>
          </p:cNvPr>
          <p:cNvCxnSpPr>
            <a:cxnSpLocks/>
            <a:stCxn id="8" idx="6"/>
            <a:endCxn id="33" idx="2"/>
          </p:cNvCxnSpPr>
          <p:nvPr/>
        </p:nvCxnSpPr>
        <p:spPr>
          <a:xfrm>
            <a:off x="3275856" y="1700808"/>
            <a:ext cx="2268326" cy="3137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直線接點 56">
            <a:extLst>
              <a:ext uri="{FF2B5EF4-FFF2-40B4-BE49-F238E27FC236}">
                <a16:creationId xmlns:a16="http://schemas.microsoft.com/office/drawing/2014/main" id="{348CE3C6-95B4-4E17-93C1-5824664E0059}"/>
              </a:ext>
            </a:extLst>
          </p:cNvPr>
          <p:cNvCxnSpPr>
            <a:cxnSpLocks/>
            <a:stCxn id="9" idx="6"/>
            <a:endCxn id="25" idx="2"/>
          </p:cNvCxnSpPr>
          <p:nvPr/>
        </p:nvCxnSpPr>
        <p:spPr>
          <a:xfrm>
            <a:off x="3275856" y="2095774"/>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線接點 59">
            <a:extLst>
              <a:ext uri="{FF2B5EF4-FFF2-40B4-BE49-F238E27FC236}">
                <a16:creationId xmlns:a16="http://schemas.microsoft.com/office/drawing/2014/main" id="{A3A6CDCD-1036-465A-96F3-71DD346B4785}"/>
              </a:ext>
            </a:extLst>
          </p:cNvPr>
          <p:cNvCxnSpPr>
            <a:cxnSpLocks/>
            <a:stCxn id="9" idx="6"/>
            <a:endCxn id="26" idx="2"/>
          </p:cNvCxnSpPr>
          <p:nvPr/>
        </p:nvCxnSpPr>
        <p:spPr>
          <a:xfrm>
            <a:off x="3275856" y="2095774"/>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D0951891-CD38-46D7-92A7-87EB6E6C5183}"/>
              </a:ext>
            </a:extLst>
          </p:cNvPr>
          <p:cNvCxnSpPr>
            <a:cxnSpLocks/>
            <a:stCxn id="9" idx="6"/>
            <a:endCxn id="27" idx="2"/>
          </p:cNvCxnSpPr>
          <p:nvPr/>
        </p:nvCxnSpPr>
        <p:spPr>
          <a:xfrm>
            <a:off x="3275856" y="2095774"/>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線接點 62">
            <a:extLst>
              <a:ext uri="{FF2B5EF4-FFF2-40B4-BE49-F238E27FC236}">
                <a16:creationId xmlns:a16="http://schemas.microsoft.com/office/drawing/2014/main" id="{5F17558B-FD7E-4AD2-AD01-B1543B808315}"/>
              </a:ext>
            </a:extLst>
          </p:cNvPr>
          <p:cNvCxnSpPr>
            <a:cxnSpLocks/>
            <a:stCxn id="9" idx="6"/>
            <a:endCxn id="28" idx="2"/>
          </p:cNvCxnSpPr>
          <p:nvPr/>
        </p:nvCxnSpPr>
        <p:spPr>
          <a:xfrm>
            <a:off x="3275856" y="2095774"/>
            <a:ext cx="2278521" cy="1241215"/>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線接點 63">
            <a:extLst>
              <a:ext uri="{FF2B5EF4-FFF2-40B4-BE49-F238E27FC236}">
                <a16:creationId xmlns:a16="http://schemas.microsoft.com/office/drawing/2014/main" id="{F39C09B2-B5D2-4E56-9796-022976EB8764}"/>
              </a:ext>
            </a:extLst>
          </p:cNvPr>
          <p:cNvCxnSpPr>
            <a:cxnSpLocks/>
            <a:stCxn id="9" idx="6"/>
            <a:endCxn id="29" idx="2"/>
          </p:cNvCxnSpPr>
          <p:nvPr/>
        </p:nvCxnSpPr>
        <p:spPr>
          <a:xfrm>
            <a:off x="3275856" y="2095774"/>
            <a:ext cx="2278521" cy="1636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線接點 66">
            <a:extLst>
              <a:ext uri="{FF2B5EF4-FFF2-40B4-BE49-F238E27FC236}">
                <a16:creationId xmlns:a16="http://schemas.microsoft.com/office/drawing/2014/main" id="{CE1EA1F0-8B5F-4FDC-B074-E7743846E9A8}"/>
              </a:ext>
            </a:extLst>
          </p:cNvPr>
          <p:cNvCxnSpPr>
            <a:cxnSpLocks/>
            <a:stCxn id="9" idx="6"/>
            <a:endCxn id="33" idx="2"/>
          </p:cNvCxnSpPr>
          <p:nvPr/>
        </p:nvCxnSpPr>
        <p:spPr>
          <a:xfrm>
            <a:off x="3275856" y="2095774"/>
            <a:ext cx="2268326" cy="2742749"/>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D3120642-92B9-40D2-94A9-E5B586B65BB0}"/>
              </a:ext>
            </a:extLst>
          </p:cNvPr>
          <p:cNvCxnSpPr>
            <a:cxnSpLocks/>
            <a:stCxn id="10" idx="6"/>
            <a:endCxn id="25" idx="2"/>
          </p:cNvCxnSpPr>
          <p:nvPr/>
        </p:nvCxnSpPr>
        <p:spPr>
          <a:xfrm flipV="1">
            <a:off x="3275856" y="2124133"/>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直線接點 73">
            <a:extLst>
              <a:ext uri="{FF2B5EF4-FFF2-40B4-BE49-F238E27FC236}">
                <a16:creationId xmlns:a16="http://schemas.microsoft.com/office/drawing/2014/main" id="{D6AED879-F048-4ADB-AEE4-90EB4DD710F4}"/>
              </a:ext>
            </a:extLst>
          </p:cNvPr>
          <p:cNvCxnSpPr>
            <a:cxnSpLocks/>
            <a:stCxn id="10" idx="6"/>
            <a:endCxn id="26" idx="2"/>
          </p:cNvCxnSpPr>
          <p:nvPr/>
        </p:nvCxnSpPr>
        <p:spPr>
          <a:xfrm>
            <a:off x="3275856" y="2484463"/>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直線接點 76">
            <a:extLst>
              <a:ext uri="{FF2B5EF4-FFF2-40B4-BE49-F238E27FC236}">
                <a16:creationId xmlns:a16="http://schemas.microsoft.com/office/drawing/2014/main" id="{9A9D1D3A-B57A-4711-AAAB-14AE9BF222D2}"/>
              </a:ext>
            </a:extLst>
          </p:cNvPr>
          <p:cNvCxnSpPr>
            <a:cxnSpLocks/>
            <a:stCxn id="10" idx="6"/>
            <a:endCxn id="27" idx="2"/>
          </p:cNvCxnSpPr>
          <p:nvPr/>
        </p:nvCxnSpPr>
        <p:spPr>
          <a:xfrm>
            <a:off x="3275856" y="2484463"/>
            <a:ext cx="2278521" cy="463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直線接點 79">
            <a:extLst>
              <a:ext uri="{FF2B5EF4-FFF2-40B4-BE49-F238E27FC236}">
                <a16:creationId xmlns:a16="http://schemas.microsoft.com/office/drawing/2014/main" id="{DBC7B9C5-6052-443C-9E90-109B50E72F1D}"/>
              </a:ext>
            </a:extLst>
          </p:cNvPr>
          <p:cNvCxnSpPr>
            <a:cxnSpLocks/>
            <a:stCxn id="10" idx="6"/>
            <a:endCxn id="28" idx="2"/>
          </p:cNvCxnSpPr>
          <p:nvPr/>
        </p:nvCxnSpPr>
        <p:spPr>
          <a:xfrm>
            <a:off x="3275856" y="2484463"/>
            <a:ext cx="2278521" cy="852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接點 82">
            <a:extLst>
              <a:ext uri="{FF2B5EF4-FFF2-40B4-BE49-F238E27FC236}">
                <a16:creationId xmlns:a16="http://schemas.microsoft.com/office/drawing/2014/main" id="{7236711F-32CB-463D-9C56-46CAE864B51E}"/>
              </a:ext>
            </a:extLst>
          </p:cNvPr>
          <p:cNvCxnSpPr>
            <a:cxnSpLocks/>
            <a:stCxn id="10" idx="6"/>
            <a:endCxn id="29" idx="2"/>
          </p:cNvCxnSpPr>
          <p:nvPr/>
        </p:nvCxnSpPr>
        <p:spPr>
          <a:xfrm>
            <a:off x="3275856" y="2484463"/>
            <a:ext cx="2278521" cy="1247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接點 85">
            <a:extLst>
              <a:ext uri="{FF2B5EF4-FFF2-40B4-BE49-F238E27FC236}">
                <a16:creationId xmlns:a16="http://schemas.microsoft.com/office/drawing/2014/main" id="{AB7B9FE8-CC3F-406F-9C18-4C85577EE6C8}"/>
              </a:ext>
            </a:extLst>
          </p:cNvPr>
          <p:cNvCxnSpPr>
            <a:cxnSpLocks/>
            <a:stCxn id="10" idx="6"/>
            <a:endCxn id="33" idx="2"/>
          </p:cNvCxnSpPr>
          <p:nvPr/>
        </p:nvCxnSpPr>
        <p:spPr>
          <a:xfrm>
            <a:off x="3275856" y="2484463"/>
            <a:ext cx="2268326" cy="2354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接點 88">
            <a:extLst>
              <a:ext uri="{FF2B5EF4-FFF2-40B4-BE49-F238E27FC236}">
                <a16:creationId xmlns:a16="http://schemas.microsoft.com/office/drawing/2014/main" id="{7CE3677E-65C2-4004-8E30-75C07C413FF9}"/>
              </a:ext>
            </a:extLst>
          </p:cNvPr>
          <p:cNvCxnSpPr>
            <a:cxnSpLocks/>
            <a:stCxn id="11" idx="6"/>
            <a:endCxn id="25" idx="2"/>
          </p:cNvCxnSpPr>
          <p:nvPr/>
        </p:nvCxnSpPr>
        <p:spPr>
          <a:xfrm flipV="1">
            <a:off x="3275856" y="2124133"/>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直線接點 91">
            <a:extLst>
              <a:ext uri="{FF2B5EF4-FFF2-40B4-BE49-F238E27FC236}">
                <a16:creationId xmlns:a16="http://schemas.microsoft.com/office/drawing/2014/main" id="{9A27ACDC-05CE-47CA-80F9-5F1424B7D231}"/>
              </a:ext>
            </a:extLst>
          </p:cNvPr>
          <p:cNvCxnSpPr>
            <a:cxnSpLocks/>
            <a:stCxn id="11" idx="6"/>
            <a:endCxn id="26" idx="2"/>
          </p:cNvCxnSpPr>
          <p:nvPr/>
        </p:nvCxnSpPr>
        <p:spPr>
          <a:xfrm flipV="1">
            <a:off x="3275856" y="2553334"/>
            <a:ext cx="2278521" cy="326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直線接點 94">
            <a:extLst>
              <a:ext uri="{FF2B5EF4-FFF2-40B4-BE49-F238E27FC236}">
                <a16:creationId xmlns:a16="http://schemas.microsoft.com/office/drawing/2014/main" id="{8449E251-47C3-4995-9666-474E2C193219}"/>
              </a:ext>
            </a:extLst>
          </p:cNvPr>
          <p:cNvCxnSpPr>
            <a:cxnSpLocks/>
            <a:stCxn id="11" idx="6"/>
            <a:endCxn id="27" idx="2"/>
          </p:cNvCxnSpPr>
          <p:nvPr/>
        </p:nvCxnSpPr>
        <p:spPr>
          <a:xfrm>
            <a:off x="3275856" y="2879429"/>
            <a:ext cx="2278521" cy="68871"/>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直線接點 98">
            <a:extLst>
              <a:ext uri="{FF2B5EF4-FFF2-40B4-BE49-F238E27FC236}">
                <a16:creationId xmlns:a16="http://schemas.microsoft.com/office/drawing/2014/main" id="{96C74384-5360-4D79-9B71-F64235D80EFE}"/>
              </a:ext>
            </a:extLst>
          </p:cNvPr>
          <p:cNvCxnSpPr>
            <a:cxnSpLocks/>
            <a:stCxn id="11" idx="6"/>
            <a:endCxn id="28" idx="2"/>
          </p:cNvCxnSpPr>
          <p:nvPr/>
        </p:nvCxnSpPr>
        <p:spPr>
          <a:xfrm>
            <a:off x="3275856" y="2879429"/>
            <a:ext cx="2278521" cy="457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線接點 101">
            <a:extLst>
              <a:ext uri="{FF2B5EF4-FFF2-40B4-BE49-F238E27FC236}">
                <a16:creationId xmlns:a16="http://schemas.microsoft.com/office/drawing/2014/main" id="{2E8D0410-A3EE-4F41-9380-769AB6473370}"/>
              </a:ext>
            </a:extLst>
          </p:cNvPr>
          <p:cNvCxnSpPr>
            <a:cxnSpLocks/>
            <a:stCxn id="11" idx="6"/>
            <a:endCxn id="33" idx="2"/>
          </p:cNvCxnSpPr>
          <p:nvPr/>
        </p:nvCxnSpPr>
        <p:spPr>
          <a:xfrm>
            <a:off x="3275856" y="2879429"/>
            <a:ext cx="2268326" cy="1959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線接點 104">
            <a:extLst>
              <a:ext uri="{FF2B5EF4-FFF2-40B4-BE49-F238E27FC236}">
                <a16:creationId xmlns:a16="http://schemas.microsoft.com/office/drawing/2014/main" id="{FFC32CDC-FB2E-472E-A8F2-F7E1A3A62E9F}"/>
              </a:ext>
            </a:extLst>
          </p:cNvPr>
          <p:cNvCxnSpPr>
            <a:cxnSpLocks/>
            <a:stCxn id="12" idx="6"/>
            <a:endCxn id="25" idx="2"/>
          </p:cNvCxnSpPr>
          <p:nvPr/>
        </p:nvCxnSpPr>
        <p:spPr>
          <a:xfrm flipV="1">
            <a:off x="3275856" y="2124133"/>
            <a:ext cx="2278521" cy="1184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直線接點 107">
            <a:extLst>
              <a:ext uri="{FF2B5EF4-FFF2-40B4-BE49-F238E27FC236}">
                <a16:creationId xmlns:a16="http://schemas.microsoft.com/office/drawing/2014/main" id="{5910EB31-CC79-4DD6-9536-60C94120FD22}"/>
              </a:ext>
            </a:extLst>
          </p:cNvPr>
          <p:cNvCxnSpPr>
            <a:cxnSpLocks/>
            <a:stCxn id="12" idx="6"/>
            <a:endCxn id="26" idx="2"/>
          </p:cNvCxnSpPr>
          <p:nvPr/>
        </p:nvCxnSpPr>
        <p:spPr>
          <a:xfrm flipV="1">
            <a:off x="3275856" y="2553334"/>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線接點 110">
            <a:extLst>
              <a:ext uri="{FF2B5EF4-FFF2-40B4-BE49-F238E27FC236}">
                <a16:creationId xmlns:a16="http://schemas.microsoft.com/office/drawing/2014/main" id="{65193D0D-C6E5-457A-A037-BC2443DDF643}"/>
              </a:ext>
            </a:extLst>
          </p:cNvPr>
          <p:cNvCxnSpPr>
            <a:cxnSpLocks/>
            <a:stCxn id="12" idx="6"/>
            <a:endCxn id="27" idx="2"/>
          </p:cNvCxnSpPr>
          <p:nvPr/>
        </p:nvCxnSpPr>
        <p:spPr>
          <a:xfrm flipV="1">
            <a:off x="3275856" y="2948300"/>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線接點 113">
            <a:extLst>
              <a:ext uri="{FF2B5EF4-FFF2-40B4-BE49-F238E27FC236}">
                <a16:creationId xmlns:a16="http://schemas.microsoft.com/office/drawing/2014/main" id="{1E82D0EB-F339-48D4-A7A4-6907D9DEC59F}"/>
              </a:ext>
            </a:extLst>
          </p:cNvPr>
          <p:cNvCxnSpPr>
            <a:cxnSpLocks/>
            <a:stCxn id="12" idx="6"/>
            <a:endCxn id="28" idx="2"/>
          </p:cNvCxnSpPr>
          <p:nvPr/>
        </p:nvCxnSpPr>
        <p:spPr>
          <a:xfrm>
            <a:off x="3275856" y="3308630"/>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直線接點 116">
            <a:extLst>
              <a:ext uri="{FF2B5EF4-FFF2-40B4-BE49-F238E27FC236}">
                <a16:creationId xmlns:a16="http://schemas.microsoft.com/office/drawing/2014/main" id="{2E57A37E-8CC9-4E66-8D5A-2D7BF2E40A7E}"/>
              </a:ext>
            </a:extLst>
          </p:cNvPr>
          <p:cNvCxnSpPr>
            <a:cxnSpLocks/>
            <a:stCxn id="12" idx="6"/>
            <a:endCxn id="29" idx="2"/>
          </p:cNvCxnSpPr>
          <p:nvPr/>
        </p:nvCxnSpPr>
        <p:spPr>
          <a:xfrm>
            <a:off x="3275856" y="3308630"/>
            <a:ext cx="2278521" cy="4233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直線接點 119">
            <a:extLst>
              <a:ext uri="{FF2B5EF4-FFF2-40B4-BE49-F238E27FC236}">
                <a16:creationId xmlns:a16="http://schemas.microsoft.com/office/drawing/2014/main" id="{43284B0F-2B80-4838-BB71-552D8BBE34A0}"/>
              </a:ext>
            </a:extLst>
          </p:cNvPr>
          <p:cNvCxnSpPr>
            <a:cxnSpLocks/>
            <a:stCxn id="12" idx="6"/>
            <a:endCxn id="33" idx="2"/>
          </p:cNvCxnSpPr>
          <p:nvPr/>
        </p:nvCxnSpPr>
        <p:spPr>
          <a:xfrm>
            <a:off x="3275856" y="3308630"/>
            <a:ext cx="2268326" cy="15298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直線接點 122">
            <a:extLst>
              <a:ext uri="{FF2B5EF4-FFF2-40B4-BE49-F238E27FC236}">
                <a16:creationId xmlns:a16="http://schemas.microsoft.com/office/drawing/2014/main" id="{FD55DEFE-B13F-43E0-8626-C242EC00E2C2}"/>
              </a:ext>
            </a:extLst>
          </p:cNvPr>
          <p:cNvCxnSpPr>
            <a:cxnSpLocks/>
            <a:stCxn id="13" idx="6"/>
            <a:endCxn id="25" idx="2"/>
          </p:cNvCxnSpPr>
          <p:nvPr/>
        </p:nvCxnSpPr>
        <p:spPr>
          <a:xfrm flipV="1">
            <a:off x="3275856" y="2124133"/>
            <a:ext cx="2278521" cy="15794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直線接點 125">
            <a:extLst>
              <a:ext uri="{FF2B5EF4-FFF2-40B4-BE49-F238E27FC236}">
                <a16:creationId xmlns:a16="http://schemas.microsoft.com/office/drawing/2014/main" id="{3A2CD7AC-1663-4A9E-A4A7-78D9E548E813}"/>
              </a:ext>
            </a:extLst>
          </p:cNvPr>
          <p:cNvCxnSpPr>
            <a:cxnSpLocks/>
            <a:stCxn id="13" idx="6"/>
            <a:endCxn id="26" idx="2"/>
          </p:cNvCxnSpPr>
          <p:nvPr/>
        </p:nvCxnSpPr>
        <p:spPr>
          <a:xfrm flipV="1">
            <a:off x="3275856" y="2553334"/>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直線接點 128">
            <a:extLst>
              <a:ext uri="{FF2B5EF4-FFF2-40B4-BE49-F238E27FC236}">
                <a16:creationId xmlns:a16="http://schemas.microsoft.com/office/drawing/2014/main" id="{B833D631-34A7-4A8E-9D4A-B04F4F27C1CE}"/>
              </a:ext>
            </a:extLst>
          </p:cNvPr>
          <p:cNvCxnSpPr>
            <a:cxnSpLocks/>
            <a:stCxn id="13" idx="6"/>
            <a:endCxn id="27" idx="2"/>
          </p:cNvCxnSpPr>
          <p:nvPr/>
        </p:nvCxnSpPr>
        <p:spPr>
          <a:xfrm flipV="1">
            <a:off x="3275856" y="2948300"/>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直線接點 131">
            <a:extLst>
              <a:ext uri="{FF2B5EF4-FFF2-40B4-BE49-F238E27FC236}">
                <a16:creationId xmlns:a16="http://schemas.microsoft.com/office/drawing/2014/main" id="{D2BD59FA-91B5-4AF8-BAA6-A394ACAE5B81}"/>
              </a:ext>
            </a:extLst>
          </p:cNvPr>
          <p:cNvCxnSpPr>
            <a:cxnSpLocks/>
            <a:stCxn id="13" idx="6"/>
            <a:endCxn id="28" idx="2"/>
          </p:cNvCxnSpPr>
          <p:nvPr/>
        </p:nvCxnSpPr>
        <p:spPr>
          <a:xfrm flipV="1">
            <a:off x="3275856" y="3336989"/>
            <a:ext cx="2278521" cy="366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直線接點 134">
            <a:extLst>
              <a:ext uri="{FF2B5EF4-FFF2-40B4-BE49-F238E27FC236}">
                <a16:creationId xmlns:a16="http://schemas.microsoft.com/office/drawing/2014/main" id="{68070B8D-760C-4197-B601-C59EC79E563B}"/>
              </a:ext>
            </a:extLst>
          </p:cNvPr>
          <p:cNvCxnSpPr>
            <a:cxnSpLocks/>
            <a:stCxn id="13" idx="6"/>
            <a:endCxn id="29" idx="2"/>
          </p:cNvCxnSpPr>
          <p:nvPr/>
        </p:nvCxnSpPr>
        <p:spPr>
          <a:xfrm>
            <a:off x="3275856" y="3703596"/>
            <a:ext cx="2278521" cy="28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直線接點 137">
            <a:extLst>
              <a:ext uri="{FF2B5EF4-FFF2-40B4-BE49-F238E27FC236}">
                <a16:creationId xmlns:a16="http://schemas.microsoft.com/office/drawing/2014/main" id="{0DCCC5EE-3C68-43D8-84A8-17038E9FC29E}"/>
              </a:ext>
            </a:extLst>
          </p:cNvPr>
          <p:cNvCxnSpPr>
            <a:cxnSpLocks/>
            <a:stCxn id="13" idx="6"/>
            <a:endCxn id="33" idx="2"/>
          </p:cNvCxnSpPr>
          <p:nvPr/>
        </p:nvCxnSpPr>
        <p:spPr>
          <a:xfrm>
            <a:off x="3275856" y="3703596"/>
            <a:ext cx="2268326" cy="1134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直線接點 140">
            <a:extLst>
              <a:ext uri="{FF2B5EF4-FFF2-40B4-BE49-F238E27FC236}">
                <a16:creationId xmlns:a16="http://schemas.microsoft.com/office/drawing/2014/main" id="{2C1015AF-7874-4354-AC1D-8B5C72C6EC99}"/>
              </a:ext>
            </a:extLst>
          </p:cNvPr>
          <p:cNvCxnSpPr>
            <a:cxnSpLocks/>
            <a:stCxn id="14" idx="6"/>
            <a:endCxn id="25" idx="2"/>
          </p:cNvCxnSpPr>
          <p:nvPr/>
        </p:nvCxnSpPr>
        <p:spPr>
          <a:xfrm flipV="1">
            <a:off x="3275856" y="2124133"/>
            <a:ext cx="2278521" cy="19681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直線接點 143">
            <a:extLst>
              <a:ext uri="{FF2B5EF4-FFF2-40B4-BE49-F238E27FC236}">
                <a16:creationId xmlns:a16="http://schemas.microsoft.com/office/drawing/2014/main" id="{1297D231-04E5-4E32-A758-A77ECC6DC8D0}"/>
              </a:ext>
            </a:extLst>
          </p:cNvPr>
          <p:cNvCxnSpPr>
            <a:cxnSpLocks/>
            <a:stCxn id="14" idx="6"/>
            <a:endCxn id="26" idx="2"/>
          </p:cNvCxnSpPr>
          <p:nvPr/>
        </p:nvCxnSpPr>
        <p:spPr>
          <a:xfrm flipV="1">
            <a:off x="3275856" y="2553334"/>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直線接點 146">
            <a:extLst>
              <a:ext uri="{FF2B5EF4-FFF2-40B4-BE49-F238E27FC236}">
                <a16:creationId xmlns:a16="http://schemas.microsoft.com/office/drawing/2014/main" id="{5E16495D-C16C-4FC1-A855-FAB96C31E220}"/>
              </a:ext>
            </a:extLst>
          </p:cNvPr>
          <p:cNvCxnSpPr>
            <a:cxnSpLocks/>
            <a:stCxn id="14" idx="6"/>
            <a:endCxn id="27" idx="2"/>
          </p:cNvCxnSpPr>
          <p:nvPr/>
        </p:nvCxnSpPr>
        <p:spPr>
          <a:xfrm flipV="1">
            <a:off x="3275856" y="2948300"/>
            <a:ext cx="2278521" cy="11439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0" name="直線接點 149">
            <a:extLst>
              <a:ext uri="{FF2B5EF4-FFF2-40B4-BE49-F238E27FC236}">
                <a16:creationId xmlns:a16="http://schemas.microsoft.com/office/drawing/2014/main" id="{A1594486-D0BF-4A4D-8BD0-14B5FBEB14B8}"/>
              </a:ext>
            </a:extLst>
          </p:cNvPr>
          <p:cNvCxnSpPr>
            <a:cxnSpLocks/>
            <a:stCxn id="14" idx="6"/>
            <a:endCxn id="28" idx="2"/>
          </p:cNvCxnSpPr>
          <p:nvPr/>
        </p:nvCxnSpPr>
        <p:spPr>
          <a:xfrm flipV="1">
            <a:off x="3275856" y="3336989"/>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直線接點 152">
            <a:extLst>
              <a:ext uri="{FF2B5EF4-FFF2-40B4-BE49-F238E27FC236}">
                <a16:creationId xmlns:a16="http://schemas.microsoft.com/office/drawing/2014/main" id="{5312247D-77C9-45D1-8ECE-CEF22D848340}"/>
              </a:ext>
            </a:extLst>
          </p:cNvPr>
          <p:cNvCxnSpPr>
            <a:cxnSpLocks/>
            <a:stCxn id="14" idx="6"/>
            <a:endCxn id="29" idx="2"/>
          </p:cNvCxnSpPr>
          <p:nvPr/>
        </p:nvCxnSpPr>
        <p:spPr>
          <a:xfrm flipV="1">
            <a:off x="3275856" y="3731955"/>
            <a:ext cx="2278521" cy="360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6" name="直線接點 155">
            <a:extLst>
              <a:ext uri="{FF2B5EF4-FFF2-40B4-BE49-F238E27FC236}">
                <a16:creationId xmlns:a16="http://schemas.microsoft.com/office/drawing/2014/main" id="{805FACD3-FE4D-4E8A-8F03-AB891BA5E980}"/>
              </a:ext>
            </a:extLst>
          </p:cNvPr>
          <p:cNvCxnSpPr>
            <a:cxnSpLocks/>
            <a:stCxn id="14" idx="6"/>
            <a:endCxn id="33" idx="2"/>
          </p:cNvCxnSpPr>
          <p:nvPr/>
        </p:nvCxnSpPr>
        <p:spPr>
          <a:xfrm>
            <a:off x="3275856" y="4092285"/>
            <a:ext cx="2268326" cy="746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9" name="直線接點 158">
            <a:extLst>
              <a:ext uri="{FF2B5EF4-FFF2-40B4-BE49-F238E27FC236}">
                <a16:creationId xmlns:a16="http://schemas.microsoft.com/office/drawing/2014/main" id="{EBC92B02-7BB6-4EC7-8324-3352DDE413D9}"/>
              </a:ext>
            </a:extLst>
          </p:cNvPr>
          <p:cNvCxnSpPr>
            <a:cxnSpLocks/>
            <a:stCxn id="15" idx="6"/>
            <a:endCxn id="25" idx="2"/>
          </p:cNvCxnSpPr>
          <p:nvPr/>
        </p:nvCxnSpPr>
        <p:spPr>
          <a:xfrm flipV="1">
            <a:off x="3275856" y="2124133"/>
            <a:ext cx="2278521" cy="23631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直線接點 161">
            <a:extLst>
              <a:ext uri="{FF2B5EF4-FFF2-40B4-BE49-F238E27FC236}">
                <a16:creationId xmlns:a16="http://schemas.microsoft.com/office/drawing/2014/main" id="{27100B99-9F4F-4722-BEA4-EC8ABF40BB5B}"/>
              </a:ext>
            </a:extLst>
          </p:cNvPr>
          <p:cNvCxnSpPr>
            <a:cxnSpLocks/>
            <a:stCxn id="15" idx="6"/>
            <a:endCxn id="26" idx="2"/>
          </p:cNvCxnSpPr>
          <p:nvPr/>
        </p:nvCxnSpPr>
        <p:spPr>
          <a:xfrm flipV="1">
            <a:off x="3275856" y="2553334"/>
            <a:ext cx="2278521" cy="1933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5" name="直線接點 164">
            <a:extLst>
              <a:ext uri="{FF2B5EF4-FFF2-40B4-BE49-F238E27FC236}">
                <a16:creationId xmlns:a16="http://schemas.microsoft.com/office/drawing/2014/main" id="{D025D6AC-B42D-431C-9237-2B9E1E865D32}"/>
              </a:ext>
            </a:extLst>
          </p:cNvPr>
          <p:cNvCxnSpPr>
            <a:cxnSpLocks/>
            <a:stCxn id="15" idx="6"/>
            <a:endCxn id="27" idx="2"/>
          </p:cNvCxnSpPr>
          <p:nvPr/>
        </p:nvCxnSpPr>
        <p:spPr>
          <a:xfrm flipV="1">
            <a:off x="3275856" y="2948300"/>
            <a:ext cx="2278521" cy="1538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8" name="直線接點 167">
            <a:extLst>
              <a:ext uri="{FF2B5EF4-FFF2-40B4-BE49-F238E27FC236}">
                <a16:creationId xmlns:a16="http://schemas.microsoft.com/office/drawing/2014/main" id="{C969EAB8-5E67-481A-B428-08138B4D878D}"/>
              </a:ext>
            </a:extLst>
          </p:cNvPr>
          <p:cNvCxnSpPr>
            <a:cxnSpLocks/>
            <a:stCxn id="15" idx="6"/>
            <a:endCxn id="28" idx="2"/>
          </p:cNvCxnSpPr>
          <p:nvPr/>
        </p:nvCxnSpPr>
        <p:spPr>
          <a:xfrm flipV="1">
            <a:off x="3275856" y="3336989"/>
            <a:ext cx="2278521" cy="115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1" name="直線接點 170">
            <a:extLst>
              <a:ext uri="{FF2B5EF4-FFF2-40B4-BE49-F238E27FC236}">
                <a16:creationId xmlns:a16="http://schemas.microsoft.com/office/drawing/2014/main" id="{C58F3420-9243-4330-9F69-1D0C03B15FF6}"/>
              </a:ext>
            </a:extLst>
          </p:cNvPr>
          <p:cNvCxnSpPr>
            <a:cxnSpLocks/>
            <a:stCxn id="15" idx="6"/>
            <a:endCxn id="29" idx="2"/>
          </p:cNvCxnSpPr>
          <p:nvPr/>
        </p:nvCxnSpPr>
        <p:spPr>
          <a:xfrm flipV="1">
            <a:off x="3275856" y="3731955"/>
            <a:ext cx="2278521" cy="75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4" name="直線接點 173">
            <a:extLst>
              <a:ext uri="{FF2B5EF4-FFF2-40B4-BE49-F238E27FC236}">
                <a16:creationId xmlns:a16="http://schemas.microsoft.com/office/drawing/2014/main" id="{7D265477-1845-403F-9D8C-B2BF78D2E2D6}"/>
              </a:ext>
            </a:extLst>
          </p:cNvPr>
          <p:cNvCxnSpPr>
            <a:cxnSpLocks/>
            <a:stCxn id="15" idx="6"/>
            <a:endCxn id="33" idx="2"/>
          </p:cNvCxnSpPr>
          <p:nvPr/>
        </p:nvCxnSpPr>
        <p:spPr>
          <a:xfrm>
            <a:off x="3275856" y="4487251"/>
            <a:ext cx="2268326" cy="351272"/>
          </a:xfrm>
          <a:prstGeom prst="line">
            <a:avLst/>
          </a:prstGeom>
        </p:spPr>
        <p:style>
          <a:lnRef idx="1">
            <a:schemeClr val="accent1"/>
          </a:lnRef>
          <a:fillRef idx="0">
            <a:schemeClr val="accent1"/>
          </a:fillRef>
          <a:effectRef idx="0">
            <a:schemeClr val="accent1"/>
          </a:effectRef>
          <a:fontRef idx="minor">
            <a:schemeClr val="tx1"/>
          </a:fontRef>
        </p:style>
      </p:cxnSp>
      <p:sp>
        <p:nvSpPr>
          <p:cNvPr id="183" name="橢圓 182">
            <a:extLst>
              <a:ext uri="{FF2B5EF4-FFF2-40B4-BE49-F238E27FC236}">
                <a16:creationId xmlns:a16="http://schemas.microsoft.com/office/drawing/2014/main" id="{3E2CEC85-B144-49B9-8F4D-B4442D0BE383}"/>
              </a:ext>
            </a:extLst>
          </p:cNvPr>
          <p:cNvSpPr/>
          <p:nvPr/>
        </p:nvSpPr>
        <p:spPr>
          <a:xfrm>
            <a:off x="2987824" y="544966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4" name="直線接點 183">
            <a:extLst>
              <a:ext uri="{FF2B5EF4-FFF2-40B4-BE49-F238E27FC236}">
                <a16:creationId xmlns:a16="http://schemas.microsoft.com/office/drawing/2014/main" id="{0A5EF771-E473-4F16-B966-A18B60EF60A8}"/>
              </a:ext>
            </a:extLst>
          </p:cNvPr>
          <p:cNvCxnSpPr>
            <a:cxnSpLocks/>
            <a:stCxn id="183" idx="6"/>
            <a:endCxn id="25" idx="2"/>
          </p:cNvCxnSpPr>
          <p:nvPr/>
        </p:nvCxnSpPr>
        <p:spPr>
          <a:xfrm flipV="1">
            <a:off x="3275856" y="2124133"/>
            <a:ext cx="2278521" cy="3469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7" name="直線接點 186">
            <a:extLst>
              <a:ext uri="{FF2B5EF4-FFF2-40B4-BE49-F238E27FC236}">
                <a16:creationId xmlns:a16="http://schemas.microsoft.com/office/drawing/2014/main" id="{E6D29940-3E4F-4CEC-A548-97F5B1C09AA1}"/>
              </a:ext>
            </a:extLst>
          </p:cNvPr>
          <p:cNvCxnSpPr>
            <a:cxnSpLocks/>
            <a:stCxn id="183" idx="6"/>
            <a:endCxn id="26" idx="2"/>
          </p:cNvCxnSpPr>
          <p:nvPr/>
        </p:nvCxnSpPr>
        <p:spPr>
          <a:xfrm flipV="1">
            <a:off x="3275856" y="2553334"/>
            <a:ext cx="2278521" cy="3040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0" name="直線接點 189">
            <a:extLst>
              <a:ext uri="{FF2B5EF4-FFF2-40B4-BE49-F238E27FC236}">
                <a16:creationId xmlns:a16="http://schemas.microsoft.com/office/drawing/2014/main" id="{3737546B-D2AC-455E-997B-3328150BA88A}"/>
              </a:ext>
            </a:extLst>
          </p:cNvPr>
          <p:cNvCxnSpPr>
            <a:cxnSpLocks/>
            <a:stCxn id="183" idx="6"/>
            <a:endCxn id="27" idx="2"/>
          </p:cNvCxnSpPr>
          <p:nvPr/>
        </p:nvCxnSpPr>
        <p:spPr>
          <a:xfrm flipV="1">
            <a:off x="3275856" y="2948300"/>
            <a:ext cx="2278521" cy="26453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3" name="直線接點 192">
            <a:extLst>
              <a:ext uri="{FF2B5EF4-FFF2-40B4-BE49-F238E27FC236}">
                <a16:creationId xmlns:a16="http://schemas.microsoft.com/office/drawing/2014/main" id="{FFB75A1E-5021-4B9F-92A8-B04600040594}"/>
              </a:ext>
            </a:extLst>
          </p:cNvPr>
          <p:cNvCxnSpPr>
            <a:cxnSpLocks/>
            <a:stCxn id="183" idx="6"/>
            <a:endCxn id="28" idx="2"/>
          </p:cNvCxnSpPr>
          <p:nvPr/>
        </p:nvCxnSpPr>
        <p:spPr>
          <a:xfrm flipV="1">
            <a:off x="3275856" y="3336989"/>
            <a:ext cx="2278521" cy="2256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6" name="直線接點 195">
            <a:extLst>
              <a:ext uri="{FF2B5EF4-FFF2-40B4-BE49-F238E27FC236}">
                <a16:creationId xmlns:a16="http://schemas.microsoft.com/office/drawing/2014/main" id="{C1DBDD4A-544D-4A36-B9CE-E48710B3EFCC}"/>
              </a:ext>
            </a:extLst>
          </p:cNvPr>
          <p:cNvCxnSpPr>
            <a:cxnSpLocks/>
            <a:stCxn id="183" idx="6"/>
            <a:endCxn id="29" idx="2"/>
          </p:cNvCxnSpPr>
          <p:nvPr/>
        </p:nvCxnSpPr>
        <p:spPr>
          <a:xfrm flipV="1">
            <a:off x="3275856" y="3731955"/>
            <a:ext cx="2278521" cy="18617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9" name="直線接點 198">
            <a:extLst>
              <a:ext uri="{FF2B5EF4-FFF2-40B4-BE49-F238E27FC236}">
                <a16:creationId xmlns:a16="http://schemas.microsoft.com/office/drawing/2014/main" id="{59B674B8-5529-418B-9A29-C6F4C911E0A2}"/>
              </a:ext>
            </a:extLst>
          </p:cNvPr>
          <p:cNvCxnSpPr>
            <a:cxnSpLocks/>
            <a:stCxn id="183" idx="6"/>
            <a:endCxn id="33" idx="2"/>
          </p:cNvCxnSpPr>
          <p:nvPr/>
        </p:nvCxnSpPr>
        <p:spPr>
          <a:xfrm flipV="1">
            <a:off x="3275856" y="4838523"/>
            <a:ext cx="2268326" cy="7551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2" name="直線接點 201">
            <a:extLst>
              <a:ext uri="{FF2B5EF4-FFF2-40B4-BE49-F238E27FC236}">
                <a16:creationId xmlns:a16="http://schemas.microsoft.com/office/drawing/2014/main" id="{8B777799-4F2C-4E46-A6A8-77F53F2C7555}"/>
              </a:ext>
            </a:extLst>
          </p:cNvPr>
          <p:cNvCxnSpPr>
            <a:cxnSpLocks/>
            <a:stCxn id="25" idx="6"/>
            <a:endCxn id="34" idx="2"/>
          </p:cNvCxnSpPr>
          <p:nvPr/>
        </p:nvCxnSpPr>
        <p:spPr>
          <a:xfrm>
            <a:off x="5842409" y="2124133"/>
            <a:ext cx="1825935" cy="12128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5" name="直線接點 204">
            <a:extLst>
              <a:ext uri="{FF2B5EF4-FFF2-40B4-BE49-F238E27FC236}">
                <a16:creationId xmlns:a16="http://schemas.microsoft.com/office/drawing/2014/main" id="{38952206-E7EB-40EC-9E17-481D105394DB}"/>
              </a:ext>
            </a:extLst>
          </p:cNvPr>
          <p:cNvCxnSpPr>
            <a:cxnSpLocks/>
            <a:stCxn id="26" idx="6"/>
            <a:endCxn id="34" idx="2"/>
          </p:cNvCxnSpPr>
          <p:nvPr/>
        </p:nvCxnSpPr>
        <p:spPr>
          <a:xfrm>
            <a:off x="5842409" y="2553334"/>
            <a:ext cx="1825935" cy="783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8" name="直線接點 207">
            <a:extLst>
              <a:ext uri="{FF2B5EF4-FFF2-40B4-BE49-F238E27FC236}">
                <a16:creationId xmlns:a16="http://schemas.microsoft.com/office/drawing/2014/main" id="{F7E8BE42-85CD-4187-83A4-14D67CBCB1F3}"/>
              </a:ext>
            </a:extLst>
          </p:cNvPr>
          <p:cNvCxnSpPr>
            <a:cxnSpLocks/>
            <a:stCxn id="27" idx="6"/>
            <a:endCxn id="34" idx="2"/>
          </p:cNvCxnSpPr>
          <p:nvPr/>
        </p:nvCxnSpPr>
        <p:spPr>
          <a:xfrm>
            <a:off x="5842409" y="2948300"/>
            <a:ext cx="1825935" cy="3886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直線接點 210">
            <a:extLst>
              <a:ext uri="{FF2B5EF4-FFF2-40B4-BE49-F238E27FC236}">
                <a16:creationId xmlns:a16="http://schemas.microsoft.com/office/drawing/2014/main" id="{579125B5-4B7C-4A34-A775-CA073921AAB7}"/>
              </a:ext>
            </a:extLst>
          </p:cNvPr>
          <p:cNvCxnSpPr>
            <a:cxnSpLocks/>
            <a:stCxn id="28" idx="6"/>
            <a:endCxn id="34" idx="2"/>
          </p:cNvCxnSpPr>
          <p:nvPr/>
        </p:nvCxnSpPr>
        <p:spPr>
          <a:xfrm>
            <a:off x="5842409" y="3336989"/>
            <a:ext cx="18259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4" name="直線接點 213">
            <a:extLst>
              <a:ext uri="{FF2B5EF4-FFF2-40B4-BE49-F238E27FC236}">
                <a16:creationId xmlns:a16="http://schemas.microsoft.com/office/drawing/2014/main" id="{EEF6F8DB-D658-4332-8B46-0D97852D6E70}"/>
              </a:ext>
            </a:extLst>
          </p:cNvPr>
          <p:cNvCxnSpPr>
            <a:cxnSpLocks/>
            <a:stCxn id="29" idx="6"/>
            <a:endCxn id="34" idx="2"/>
          </p:cNvCxnSpPr>
          <p:nvPr/>
        </p:nvCxnSpPr>
        <p:spPr>
          <a:xfrm flipV="1">
            <a:off x="5842409" y="3336989"/>
            <a:ext cx="1825935" cy="394966"/>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直線接點 216">
            <a:extLst>
              <a:ext uri="{FF2B5EF4-FFF2-40B4-BE49-F238E27FC236}">
                <a16:creationId xmlns:a16="http://schemas.microsoft.com/office/drawing/2014/main" id="{BE5B450E-A8EF-4477-AAB2-D1AA99730D5B}"/>
              </a:ext>
            </a:extLst>
          </p:cNvPr>
          <p:cNvCxnSpPr>
            <a:cxnSpLocks/>
            <a:stCxn id="33" idx="6"/>
            <a:endCxn id="34" idx="2"/>
          </p:cNvCxnSpPr>
          <p:nvPr/>
        </p:nvCxnSpPr>
        <p:spPr>
          <a:xfrm flipV="1">
            <a:off x="5832214" y="3336989"/>
            <a:ext cx="1836130" cy="150153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557093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No Trump Contracts</a:t>
            </a:r>
          </a:p>
        </p:txBody>
      </p:sp>
      <p:sp>
        <p:nvSpPr>
          <p:cNvPr id="90" name="內容版面配置區 6">
            <a:extLst>
              <a:ext uri="{FF2B5EF4-FFF2-40B4-BE49-F238E27FC236}">
                <a16:creationId xmlns:a16="http://schemas.microsoft.com/office/drawing/2014/main" id="{077B6063-09E6-4D02-99A7-A77EBB81D899}"/>
              </a:ext>
            </a:extLst>
          </p:cNvPr>
          <p:cNvSpPr>
            <a:spLocks noGrp="1"/>
          </p:cNvSpPr>
          <p:nvPr>
            <p:ph sz="half" idx="1"/>
          </p:nvPr>
        </p:nvSpPr>
        <p:spPr>
          <a:xfrm>
            <a:off x="457200" y="1600200"/>
            <a:ext cx="8229600" cy="4525963"/>
          </a:xfrm>
        </p:spPr>
        <p:txBody>
          <a:bodyPr/>
          <a:lstStyle/>
          <a:p>
            <a:r>
              <a:rPr lang="en-US" altLang="zh-TW" dirty="0">
                <a:latin typeface="Times New Roman" panose="02020603050405020304" pitchFamily="18" charset="0"/>
                <a:cs typeface="Times New Roman" panose="02020603050405020304" pitchFamily="18" charset="0"/>
              </a:rPr>
              <a:t>Data: 100,000 deals with revealed all hands from GIB Library</a:t>
            </a:r>
          </a:p>
          <a:p>
            <a:r>
              <a:rPr lang="en-US" altLang="zh-TW" dirty="0">
                <a:latin typeface="Times New Roman" panose="02020603050405020304" pitchFamily="18" charset="0"/>
                <a:cs typeface="Times New Roman" panose="02020603050405020304" pitchFamily="18" charset="0"/>
              </a:rPr>
              <a:t>Network Input: (1)N1, S0.8, E-0.8, W-1 and (2)NS1, WE-1</a:t>
            </a:r>
            <a:endParaRPr lang="zh-TW" altLang="en-US" dirty="0">
              <a:latin typeface="Times New Roman" panose="02020603050405020304" pitchFamily="18" charset="0"/>
              <a:cs typeface="Times New Roman" panose="02020603050405020304" pitchFamily="18" charset="0"/>
            </a:endParaRPr>
          </a:p>
        </p:txBody>
      </p:sp>
      <p:graphicFrame>
        <p:nvGraphicFramePr>
          <p:cNvPr id="16" name="表格 16">
            <a:extLst>
              <a:ext uri="{FF2B5EF4-FFF2-40B4-BE49-F238E27FC236}">
                <a16:creationId xmlns:a16="http://schemas.microsoft.com/office/drawing/2014/main" id="{7A734AA0-4A3F-46EE-A6C8-E4CC67E1E025}"/>
              </a:ext>
            </a:extLst>
          </p:cNvPr>
          <p:cNvGraphicFramePr>
            <a:graphicFrameLocks noGrp="1"/>
          </p:cNvGraphicFramePr>
          <p:nvPr>
            <p:extLst>
              <p:ext uri="{D42A27DB-BD31-4B8C-83A1-F6EECF244321}">
                <p14:modId xmlns:p14="http://schemas.microsoft.com/office/powerpoint/2010/main" val="1444347136"/>
              </p:ext>
            </p:extLst>
          </p:nvPr>
        </p:nvGraphicFramePr>
        <p:xfrm>
          <a:off x="1707502" y="3573016"/>
          <a:ext cx="6248874" cy="2590800"/>
        </p:xfrm>
        <a:graphic>
          <a:graphicData uri="http://schemas.openxmlformats.org/drawingml/2006/table">
            <a:tbl>
              <a:tblPr firstRow="1" bandRow="1">
                <a:tableStyleId>{5C22544A-7EE6-4342-B048-85BDC9FD1C3A}</a:tableStyleId>
              </a:tblPr>
              <a:tblGrid>
                <a:gridCol w="1439271">
                  <a:extLst>
                    <a:ext uri="{9D8B030D-6E8A-4147-A177-3AD203B41FA5}">
                      <a16:colId xmlns:a16="http://schemas.microsoft.com/office/drawing/2014/main" val="625013172"/>
                    </a:ext>
                  </a:extLst>
                </a:gridCol>
                <a:gridCol w="1510823">
                  <a:extLst>
                    <a:ext uri="{9D8B030D-6E8A-4147-A177-3AD203B41FA5}">
                      <a16:colId xmlns:a16="http://schemas.microsoft.com/office/drawing/2014/main" val="4064238389"/>
                    </a:ext>
                  </a:extLst>
                </a:gridCol>
                <a:gridCol w="1510823">
                  <a:extLst>
                    <a:ext uri="{9D8B030D-6E8A-4147-A177-3AD203B41FA5}">
                      <a16:colId xmlns:a16="http://schemas.microsoft.com/office/drawing/2014/main" val="1806947052"/>
                    </a:ext>
                  </a:extLst>
                </a:gridCol>
                <a:gridCol w="1787957">
                  <a:extLst>
                    <a:ext uri="{9D8B030D-6E8A-4147-A177-3AD203B41FA5}">
                      <a16:colId xmlns:a16="http://schemas.microsoft.com/office/drawing/2014/main" val="2177086289"/>
                    </a:ext>
                  </a:extLst>
                </a:gridCol>
              </a:tblGrid>
              <a:tr h="139040">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&lt;= 2 tricks</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latin typeface="Times New Roman" panose="02020603050405020304" pitchFamily="18" charset="0"/>
                          <a:cs typeface="Times New Roman" panose="02020603050405020304" pitchFamily="18" charset="0"/>
                        </a:rPr>
                        <a:t>&lt;= 1 tricks</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latin typeface="Times New Roman" panose="02020603050405020304" pitchFamily="18" charset="0"/>
                          <a:cs typeface="Times New Roman" panose="02020603050405020304" pitchFamily="18" charset="0"/>
                        </a:rPr>
                        <a:t>Perfectly right</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1911689"/>
                  </a:ext>
                </a:extLst>
              </a:tr>
              <a:tr h="370840">
                <a:tc>
                  <a:txBody>
                    <a:bodyPr/>
                    <a:lstStyle/>
                    <a:p>
                      <a:r>
                        <a:rPr lang="en-US" altLang="zh-TW" dirty="0">
                          <a:latin typeface="Times New Roman" panose="02020603050405020304" pitchFamily="18" charset="0"/>
                          <a:cs typeface="Times New Roman" panose="02020603050405020304" pitchFamily="18" charset="0"/>
                        </a:rPr>
                        <a:t>52-1(1)</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94.15</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76.15</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31.29</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35846550"/>
                  </a:ext>
                </a:extLst>
              </a:tr>
              <a:tr h="370840">
                <a:tc>
                  <a:txBody>
                    <a:bodyPr/>
                    <a:lstStyle/>
                    <a:p>
                      <a:r>
                        <a:rPr lang="en-US" altLang="zh-TW" dirty="0">
                          <a:latin typeface="Times New Roman" panose="02020603050405020304" pitchFamily="18" charset="0"/>
                          <a:cs typeface="Times New Roman" panose="02020603050405020304" pitchFamily="18" charset="0"/>
                        </a:rPr>
                        <a:t>52-25-1(1)</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solidFill>
                            <a:schemeClr val="tx1"/>
                          </a:solidFill>
                          <a:latin typeface="Times New Roman" panose="02020603050405020304" pitchFamily="18" charset="0"/>
                          <a:cs typeface="Times New Roman" panose="02020603050405020304" pitchFamily="18" charset="0"/>
                        </a:rPr>
                        <a:t>95.81</a:t>
                      </a:r>
                      <a:endParaRPr lang="zh-TW" alt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zh-TW" dirty="0">
                          <a:solidFill>
                            <a:schemeClr val="tx1"/>
                          </a:solidFill>
                          <a:latin typeface="Times New Roman" panose="02020603050405020304" pitchFamily="18" charset="0"/>
                          <a:cs typeface="Times New Roman" panose="02020603050405020304" pitchFamily="18" charset="0"/>
                        </a:rPr>
                        <a:t>79.95</a:t>
                      </a:r>
                      <a:endParaRPr lang="zh-TW" alt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altLang="zh-TW" dirty="0">
                          <a:solidFill>
                            <a:schemeClr val="tx1"/>
                          </a:solidFill>
                          <a:latin typeface="Times New Roman" panose="02020603050405020304" pitchFamily="18" charset="0"/>
                          <a:cs typeface="Times New Roman" panose="02020603050405020304" pitchFamily="18" charset="0"/>
                        </a:rPr>
                        <a:t>34.02</a:t>
                      </a:r>
                      <a:endParaRPr lang="zh-TW" altLang="en-US"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5408237"/>
                  </a:ext>
                </a:extLst>
              </a:tr>
              <a:tr h="370840">
                <a:tc>
                  <a:txBody>
                    <a:bodyPr/>
                    <a:lstStyle/>
                    <a:p>
                      <a:r>
                        <a:rPr lang="en-US" altLang="zh-TW" dirty="0">
                          <a:latin typeface="Times New Roman" panose="02020603050405020304" pitchFamily="18" charset="0"/>
                          <a:cs typeface="Times New Roman" panose="02020603050405020304" pitchFamily="18" charset="0"/>
                        </a:rPr>
                        <a:t>52-25-1(2)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solidFill>
                            <a:srgbClr val="FF0000"/>
                          </a:solidFill>
                          <a:latin typeface="Times New Roman" panose="02020603050405020304" pitchFamily="18" charset="0"/>
                          <a:cs typeface="Times New Roman" panose="02020603050405020304" pitchFamily="18" charset="0"/>
                        </a:rPr>
                        <a:t>96.07</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TW" dirty="0">
                          <a:solidFill>
                            <a:srgbClr val="FF0000"/>
                          </a:solidFill>
                          <a:latin typeface="Times New Roman" panose="02020603050405020304" pitchFamily="18" charset="0"/>
                          <a:cs typeface="Times New Roman" panose="02020603050405020304" pitchFamily="18" charset="0"/>
                        </a:rPr>
                        <a:t>80.88</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altLang="zh-TW" dirty="0">
                          <a:solidFill>
                            <a:srgbClr val="FF0000"/>
                          </a:solidFill>
                          <a:latin typeface="Times New Roman" panose="02020603050405020304" pitchFamily="18" charset="0"/>
                          <a:cs typeface="Times New Roman" panose="02020603050405020304" pitchFamily="18" charset="0"/>
                        </a:rPr>
                        <a:t>34.66</a:t>
                      </a:r>
                      <a:endParaRPr lang="zh-TW" altLang="en-US"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57506207"/>
                  </a:ext>
                </a:extLst>
              </a:tr>
              <a:tr h="370840">
                <a:tc>
                  <a:txBody>
                    <a:bodyPr/>
                    <a:lstStyle/>
                    <a:p>
                      <a:r>
                        <a:rPr lang="en-US" altLang="zh-TW" dirty="0">
                          <a:latin typeface="Times New Roman" panose="02020603050405020304" pitchFamily="18" charset="0"/>
                          <a:cs typeface="Times New Roman" panose="02020603050405020304" pitchFamily="18" charset="0"/>
                        </a:rPr>
                        <a:t>104-1(2)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94.76</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77.52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32.19</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99953128"/>
                  </a:ext>
                </a:extLst>
              </a:tr>
              <a:tr h="370840">
                <a:tc>
                  <a:txBody>
                    <a:bodyPr/>
                    <a:lstStyle/>
                    <a:p>
                      <a:r>
                        <a:rPr lang="en-US" altLang="zh-TW" dirty="0">
                          <a:latin typeface="Times New Roman" panose="02020603050405020304" pitchFamily="18" charset="0"/>
                          <a:cs typeface="Times New Roman" panose="02020603050405020304" pitchFamily="18" charset="0"/>
                        </a:rPr>
                        <a:t>104-30-4-1(2)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95.64</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79.63</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33.74</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67271385"/>
                  </a:ext>
                </a:extLst>
              </a:tr>
              <a:tr h="370840">
                <a:tc>
                  <a:txBody>
                    <a:bodyPr/>
                    <a:lstStyle/>
                    <a:p>
                      <a:r>
                        <a:rPr lang="en-US" altLang="zh-TW" dirty="0">
                          <a:latin typeface="Times New Roman" panose="02020603050405020304" pitchFamily="18" charset="0"/>
                          <a:cs typeface="Times New Roman" panose="02020603050405020304" pitchFamily="18" charset="0"/>
                        </a:rPr>
                        <a:t>HCP*13/40</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86.19</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61.32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a:latin typeface="Times New Roman" panose="02020603050405020304" pitchFamily="18" charset="0"/>
                          <a:cs typeface="Times New Roman" panose="02020603050405020304" pitchFamily="18" charset="0"/>
                        </a:rPr>
                        <a:t>22.52</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5532223"/>
                  </a:ext>
                </a:extLst>
              </a:tr>
            </a:tbl>
          </a:graphicData>
        </a:graphic>
      </p:graphicFrame>
    </p:spTree>
    <p:extLst>
      <p:ext uri="{BB962C8B-B14F-4D97-AF65-F5344CB8AC3E}">
        <p14:creationId xmlns:p14="http://schemas.microsoft.com/office/powerpoint/2010/main" val="8305759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No Trump Contracts</a:t>
            </a:r>
          </a:p>
        </p:txBody>
      </p:sp>
      <p:pic>
        <p:nvPicPr>
          <p:cNvPr id="4" name="內容版面配置區 3">
            <a:extLst>
              <a:ext uri="{FF2B5EF4-FFF2-40B4-BE49-F238E27FC236}">
                <a16:creationId xmlns:a16="http://schemas.microsoft.com/office/drawing/2014/main" id="{4654BD69-2DAF-42AE-876E-68935CFBB62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082101" y="1600200"/>
            <a:ext cx="6979798" cy="4525963"/>
          </a:xfrm>
        </p:spPr>
      </p:pic>
    </p:spTree>
    <p:extLst>
      <p:ext uri="{BB962C8B-B14F-4D97-AF65-F5344CB8AC3E}">
        <p14:creationId xmlns:p14="http://schemas.microsoft.com/office/powerpoint/2010/main" val="99854183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No Trump Contracts</a:t>
            </a:r>
          </a:p>
        </p:txBody>
      </p:sp>
      <p:pic>
        <p:nvPicPr>
          <p:cNvPr id="4" name="內容版面配置區 3">
            <a:extLst>
              <a:ext uri="{FF2B5EF4-FFF2-40B4-BE49-F238E27FC236}">
                <a16:creationId xmlns:a16="http://schemas.microsoft.com/office/drawing/2014/main" id="{4654BD69-2DAF-42AE-876E-68935CFBB62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1082101" y="1600200"/>
            <a:ext cx="6979798" cy="4525962"/>
          </a:xfrm>
        </p:spPr>
      </p:pic>
    </p:spTree>
    <p:extLst>
      <p:ext uri="{BB962C8B-B14F-4D97-AF65-F5344CB8AC3E}">
        <p14:creationId xmlns:p14="http://schemas.microsoft.com/office/powerpoint/2010/main" val="108698967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No Trump Contracts</a:t>
            </a:r>
          </a:p>
        </p:txBody>
      </p:sp>
      <p:pic>
        <p:nvPicPr>
          <p:cNvPr id="4" name="內容版面配置區 3">
            <a:extLst>
              <a:ext uri="{FF2B5EF4-FFF2-40B4-BE49-F238E27FC236}">
                <a16:creationId xmlns:a16="http://schemas.microsoft.com/office/drawing/2014/main" id="{4654BD69-2DAF-42AE-876E-68935CFBB62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1082101" y="1600200"/>
            <a:ext cx="6979798" cy="4525962"/>
          </a:xfrm>
        </p:spPr>
      </p:pic>
    </p:spTree>
    <p:extLst>
      <p:ext uri="{BB962C8B-B14F-4D97-AF65-F5344CB8AC3E}">
        <p14:creationId xmlns:p14="http://schemas.microsoft.com/office/powerpoint/2010/main" val="245872063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Suit Contracts</a:t>
            </a:r>
          </a:p>
        </p:txBody>
      </p:sp>
      <p:sp>
        <p:nvSpPr>
          <p:cNvPr id="90" name="內容版面配置區 6">
            <a:extLst>
              <a:ext uri="{FF2B5EF4-FFF2-40B4-BE49-F238E27FC236}">
                <a16:creationId xmlns:a16="http://schemas.microsoft.com/office/drawing/2014/main" id="{077B6063-09E6-4D02-99A7-A77EBB81D899}"/>
              </a:ext>
            </a:extLst>
          </p:cNvPr>
          <p:cNvSpPr>
            <a:spLocks noGrp="1"/>
          </p:cNvSpPr>
          <p:nvPr>
            <p:ph sz="half" idx="1"/>
          </p:nvPr>
        </p:nvSpPr>
        <p:spPr>
          <a:xfrm>
            <a:off x="457200" y="1600200"/>
            <a:ext cx="8229600" cy="4525963"/>
          </a:xfrm>
        </p:spPr>
        <p:txBody>
          <a:bodyPr/>
          <a:lstStyle/>
          <a:p>
            <a:r>
              <a:rPr lang="en-US" altLang="zh-TW" dirty="0">
                <a:latin typeface="Times New Roman" panose="02020603050405020304" pitchFamily="18" charset="0"/>
                <a:cs typeface="Times New Roman" panose="02020603050405020304" pitchFamily="18" charset="0"/>
              </a:rPr>
              <a:t>Data: 100,000 deals with revealed all hands from GIB Library</a:t>
            </a:r>
          </a:p>
          <a:p>
            <a:r>
              <a:rPr lang="en-US" altLang="zh-TW" dirty="0">
                <a:latin typeface="Times New Roman" panose="02020603050405020304" pitchFamily="18" charset="0"/>
                <a:cs typeface="Times New Roman" panose="02020603050405020304" pitchFamily="18" charset="0"/>
              </a:rPr>
              <a:t>Network Input: Cards of the trump suit had input values equal to 1.0 for players N, S or −1.0 for players W, E. Cards of other suits: 0.5 for N, S and −0.5 for W, 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186410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Suit Contracts</a:t>
            </a:r>
          </a:p>
        </p:txBody>
      </p:sp>
      <p:pic>
        <p:nvPicPr>
          <p:cNvPr id="4" name="內容版面配置區 3">
            <a:extLst>
              <a:ext uri="{FF2B5EF4-FFF2-40B4-BE49-F238E27FC236}">
                <a16:creationId xmlns:a16="http://schemas.microsoft.com/office/drawing/2014/main" id="{4654BD69-2DAF-42AE-876E-68935CFBB62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1082101" y="1630134"/>
            <a:ext cx="6979798" cy="4466094"/>
          </a:xfrm>
        </p:spPr>
      </p:pic>
      <p:sp>
        <p:nvSpPr>
          <p:cNvPr id="3" name="矩形 2">
            <a:extLst>
              <a:ext uri="{FF2B5EF4-FFF2-40B4-BE49-F238E27FC236}">
                <a16:creationId xmlns:a16="http://schemas.microsoft.com/office/drawing/2014/main" id="{A904675F-5439-4C09-BC89-153185C126FF}"/>
              </a:ext>
            </a:extLst>
          </p:cNvPr>
          <p:cNvSpPr/>
          <p:nvPr/>
        </p:nvSpPr>
        <p:spPr>
          <a:xfrm>
            <a:off x="1619672" y="3717032"/>
            <a:ext cx="1584176"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DD7EEDBE-4F7A-4681-837B-83F198DB8418}"/>
              </a:ext>
            </a:extLst>
          </p:cNvPr>
          <p:cNvSpPr/>
          <p:nvPr/>
        </p:nvSpPr>
        <p:spPr>
          <a:xfrm>
            <a:off x="3203848" y="4437112"/>
            <a:ext cx="1584176"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471F1208-EAA7-4BF0-9992-9B24B9B36C74}"/>
              </a:ext>
            </a:extLst>
          </p:cNvPr>
          <p:cNvSpPr/>
          <p:nvPr/>
        </p:nvSpPr>
        <p:spPr>
          <a:xfrm>
            <a:off x="4788024" y="4077072"/>
            <a:ext cx="1584176"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AC1AFEA4-6DC0-410B-A711-DB960D2BBF68}"/>
              </a:ext>
            </a:extLst>
          </p:cNvPr>
          <p:cNvSpPr/>
          <p:nvPr/>
        </p:nvSpPr>
        <p:spPr>
          <a:xfrm>
            <a:off x="6444208" y="3933056"/>
            <a:ext cx="1584176"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0189417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Results</a:t>
            </a:r>
          </a:p>
        </p:txBody>
      </p:sp>
      <p:pic>
        <p:nvPicPr>
          <p:cNvPr id="4" name="內容版面配置區 3">
            <a:extLst>
              <a:ext uri="{FF2B5EF4-FFF2-40B4-BE49-F238E27FC236}">
                <a16:creationId xmlns:a16="http://schemas.microsoft.com/office/drawing/2014/main" id="{4654BD69-2DAF-42AE-876E-68935CFBB62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1082101" y="1950478"/>
            <a:ext cx="6979798" cy="3825405"/>
          </a:xfrm>
        </p:spPr>
      </p:pic>
    </p:spTree>
    <p:extLst>
      <p:ext uri="{BB962C8B-B14F-4D97-AF65-F5344CB8AC3E}">
        <p14:creationId xmlns:p14="http://schemas.microsoft.com/office/powerpoint/2010/main" val="22204960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Results</a:t>
            </a:r>
          </a:p>
        </p:txBody>
      </p:sp>
      <p:pic>
        <p:nvPicPr>
          <p:cNvPr id="4" name="內容版面配置區 3">
            <a:extLst>
              <a:ext uri="{FF2B5EF4-FFF2-40B4-BE49-F238E27FC236}">
                <a16:creationId xmlns:a16="http://schemas.microsoft.com/office/drawing/2014/main" id="{4654BD69-2DAF-42AE-876E-68935CFBB62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1878278" y="1950478"/>
            <a:ext cx="5387444" cy="3825405"/>
          </a:xfrm>
        </p:spPr>
      </p:pic>
      <p:sp>
        <p:nvSpPr>
          <p:cNvPr id="3" name="矩形 2">
            <a:extLst>
              <a:ext uri="{FF2B5EF4-FFF2-40B4-BE49-F238E27FC236}">
                <a16:creationId xmlns:a16="http://schemas.microsoft.com/office/drawing/2014/main" id="{2BF2F212-B12E-4C55-AB87-63329FC03811}"/>
              </a:ext>
            </a:extLst>
          </p:cNvPr>
          <p:cNvSpPr/>
          <p:nvPr/>
        </p:nvSpPr>
        <p:spPr>
          <a:xfrm>
            <a:off x="1878278" y="2204864"/>
            <a:ext cx="5358018"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B7554500-DB1C-4948-8F46-400A86088CAC}"/>
              </a:ext>
            </a:extLst>
          </p:cNvPr>
          <p:cNvSpPr/>
          <p:nvPr/>
        </p:nvSpPr>
        <p:spPr>
          <a:xfrm>
            <a:off x="1878278" y="5229200"/>
            <a:ext cx="5358018"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6081539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8474</TotalTime>
  <Words>398</Words>
  <Application>Microsoft Office PowerPoint</Application>
  <PresentationFormat>如螢幕大小 (4:3)</PresentationFormat>
  <Paragraphs>59</Paragraphs>
  <Slides>14</Slides>
  <Notes>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Arial</vt:lpstr>
      <vt:lpstr>Calibri</vt:lpstr>
      <vt:lpstr>Times New Roman</vt:lpstr>
      <vt:lpstr>Office 佈景主題</vt:lpstr>
      <vt:lpstr>Neural Networks and the Estimation of Hands’ Strength in Contract Bridge </vt:lpstr>
      <vt:lpstr>Abstract</vt:lpstr>
      <vt:lpstr>Abstract</vt:lpstr>
      <vt:lpstr>Introduction</vt:lpstr>
      <vt:lpstr>Double Dummy Bridge problem</vt:lpstr>
      <vt:lpstr>Neural Network</vt:lpstr>
      <vt:lpstr>No Trump Contracts</vt:lpstr>
      <vt:lpstr>No Trump Contracts</vt:lpstr>
      <vt:lpstr>No Trump Contracts</vt:lpstr>
      <vt:lpstr>No Trump Contracts</vt:lpstr>
      <vt:lpstr>Suit Contracts</vt:lpstr>
      <vt:lpstr>Suit Contracts</vt:lpstr>
      <vt:lpstr>Results</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faster algorithm for finding shortest substring matches of a regular expression</dc:title>
  <dc:creator>M093040098</dc:creator>
  <cp:lastModifiedBy>M093040098</cp:lastModifiedBy>
  <cp:revision>341</cp:revision>
  <dcterms:created xsi:type="dcterms:W3CDTF">2020-10-30T08:30:28Z</dcterms:created>
  <dcterms:modified xsi:type="dcterms:W3CDTF">2021-07-04T12:20:53Z</dcterms:modified>
</cp:coreProperties>
</file>