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8" r:id="rId4"/>
    <p:sldId id="257" r:id="rId5"/>
    <p:sldId id="260" r:id="rId6"/>
    <p:sldId id="261" r:id="rId7"/>
    <p:sldId id="269" r:id="rId8"/>
    <p:sldId id="271" r:id="rId9"/>
    <p:sldId id="272" r:id="rId10"/>
    <p:sldId id="273" r:id="rId11"/>
    <p:sldId id="274" r:id="rId12"/>
    <p:sldId id="275" r:id="rId13"/>
    <p:sldId id="276" r:id="rId14"/>
    <p:sldId id="278" r:id="rId15"/>
    <p:sldId id="277"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18CF69-B94F-41EF-B44B-5A23E69EE08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694E246-5B84-40A5-9198-A6478B53D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1EC9A6A-81D9-4024-8732-81AD65077381}"/>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5" name="頁尾版面配置區 4">
            <a:extLst>
              <a:ext uri="{FF2B5EF4-FFF2-40B4-BE49-F238E27FC236}">
                <a16:creationId xmlns:a16="http://schemas.microsoft.com/office/drawing/2014/main" id="{8130DAD2-5F2F-477A-933C-533FC70E2DF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6A92E9-2EC9-4E85-A2F5-22556455289B}"/>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4117833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22540F-DED7-457A-80AB-31055F78768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0592121-7306-4FF5-BC1E-2E3C5CBE0E0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2981BAE-3011-41AB-8F71-019D69C97619}"/>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5" name="頁尾版面配置區 4">
            <a:extLst>
              <a:ext uri="{FF2B5EF4-FFF2-40B4-BE49-F238E27FC236}">
                <a16:creationId xmlns:a16="http://schemas.microsoft.com/office/drawing/2014/main" id="{061EB8D7-5BB0-4DA4-91DC-94A162F617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6AC93A1-955E-43AC-888B-B961ABB26D4A}"/>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52436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BE3D72-F1B6-454B-95E8-658A7A02920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528AABC-6381-4A08-A34B-9775E7CAF2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CAAA9C-33BB-4FB2-BED3-BC7D9323EC1A}"/>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5" name="頁尾版面配置區 4">
            <a:extLst>
              <a:ext uri="{FF2B5EF4-FFF2-40B4-BE49-F238E27FC236}">
                <a16:creationId xmlns:a16="http://schemas.microsoft.com/office/drawing/2014/main" id="{8927D4F8-53BF-4473-9B99-4C8E6F8CF6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76C0F19-61B3-4F06-B453-872D9D5E8C3A}"/>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16282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DBA689-797E-40E7-9EDB-5EDB08C781A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52653EE-84F0-4CB2-A6D1-70ECB696DFEB}"/>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7FA3A2B-693F-4492-99C6-0C8FC6BA27B1}"/>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FD31AE8-99C0-43FB-B941-AD2B9251909A}"/>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6" name="頁尾版面配置區 5">
            <a:extLst>
              <a:ext uri="{FF2B5EF4-FFF2-40B4-BE49-F238E27FC236}">
                <a16:creationId xmlns:a16="http://schemas.microsoft.com/office/drawing/2014/main" id="{936224B4-684C-46B7-BBF1-931F646DD61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5CC215-AE48-442C-B3C7-A05DA3D209F2}"/>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3672477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8377E4-D784-4175-A078-E0BE59E8F5E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515F7BB-FF4C-4A58-B308-031D2BD238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40221E4-3D33-46C5-9454-CFE7BCF65D9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025487A-E8A1-4109-B68A-4BC8FE8185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4B2B406-6511-443F-B0E6-C33BAEC718C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84ACC6-C42F-45F3-BE11-E53C8E2A8114}"/>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8" name="頁尾版面配置區 7">
            <a:extLst>
              <a:ext uri="{FF2B5EF4-FFF2-40B4-BE49-F238E27FC236}">
                <a16:creationId xmlns:a16="http://schemas.microsoft.com/office/drawing/2014/main" id="{219A6C5F-EF9B-49B4-8955-2443396EE26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6F790E7-CBD5-4484-A32F-FEF48BB3AB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485530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2A7656-D8C4-4701-89D9-F6B0EB1C6EF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C85F66E-3E02-445B-B1D6-9F7F2B97E065}"/>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4" name="頁尾版面配置區 3">
            <a:extLst>
              <a:ext uri="{FF2B5EF4-FFF2-40B4-BE49-F238E27FC236}">
                <a16:creationId xmlns:a16="http://schemas.microsoft.com/office/drawing/2014/main" id="{CDC0B5C4-F60F-472B-877C-D558F28D58B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5AF58D9-56FD-47B2-AFA4-E191E86CDB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50914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3D15556-2C7C-43E9-BEE7-2F931FDAD8E9}"/>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3" name="頁尾版面配置區 2">
            <a:extLst>
              <a:ext uri="{FF2B5EF4-FFF2-40B4-BE49-F238E27FC236}">
                <a16:creationId xmlns:a16="http://schemas.microsoft.com/office/drawing/2014/main" id="{BC3A5585-BC54-43DC-AF3A-A0CD372DFBC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7BF090F-6470-4F86-9004-6B7FDBD204E3}"/>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443160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F103F5-9E97-4826-B0D2-95F4564CD4A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746CFE7-EA93-4D37-81E5-AA67D27F63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3FDF5F1-BC00-46C5-8A6D-53247EAAB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0FA9920-036B-4577-A0AA-EA9558A0A321}"/>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6" name="頁尾版面配置區 5">
            <a:extLst>
              <a:ext uri="{FF2B5EF4-FFF2-40B4-BE49-F238E27FC236}">
                <a16:creationId xmlns:a16="http://schemas.microsoft.com/office/drawing/2014/main" id="{647DF8B8-6B05-4919-B114-D5663C227DE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3666E5C-95E4-4050-9140-1FCCC0B954CB}"/>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3318232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97E922-EA1A-435F-870D-682421C5CC8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18B7BE4-C689-4096-AD49-68F6034EA9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AD295FF-4A20-40FD-AC66-98CEC5850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E219DCA-585C-43B6-9552-4EE13F760C74}"/>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6" name="頁尾版面配置區 5">
            <a:extLst>
              <a:ext uri="{FF2B5EF4-FFF2-40B4-BE49-F238E27FC236}">
                <a16:creationId xmlns:a16="http://schemas.microsoft.com/office/drawing/2014/main" id="{77D0F041-3794-4C18-8470-1E81B0B8F04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0689843-4105-446B-A08B-BA8F5DD6481F}"/>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44225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2EB34D-E993-49B7-A454-C7F5A388554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9D361F5-F0E1-4F67-B5F9-593DA8F073A4}"/>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E843757-966E-48DA-9D3F-7BCB94269088}"/>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5" name="頁尾版面配置區 4">
            <a:extLst>
              <a:ext uri="{FF2B5EF4-FFF2-40B4-BE49-F238E27FC236}">
                <a16:creationId xmlns:a16="http://schemas.microsoft.com/office/drawing/2014/main" id="{A8A665A4-0D51-44C3-83A1-6B3FEA681DC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AAF5088-2FDA-45E4-A2C5-6563CE3360C5}"/>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652771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B180085-65E4-4ED8-943A-8E4E7DCD727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A358ABA-23C5-47E8-9CA9-2449B434229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6EEC609-328B-4C6E-97B9-64C473DA5B8C}"/>
              </a:ext>
            </a:extLst>
          </p:cNvPr>
          <p:cNvSpPr>
            <a:spLocks noGrp="1"/>
          </p:cNvSpPr>
          <p:nvPr>
            <p:ph type="dt" sz="half" idx="10"/>
          </p:nvPr>
        </p:nvSpPr>
        <p:spPr/>
        <p:txBody>
          <a:bodyPr/>
          <a:lstStyle/>
          <a:p>
            <a:fld id="{CB42E98C-ACD1-4F21-B7D7-C715BE9B2230}" type="datetimeFigureOut">
              <a:rPr lang="zh-TW" altLang="en-US" smtClean="0"/>
              <a:t>2021/12/22</a:t>
            </a:fld>
            <a:endParaRPr lang="zh-TW" altLang="en-US"/>
          </a:p>
        </p:txBody>
      </p:sp>
      <p:sp>
        <p:nvSpPr>
          <p:cNvPr id="5" name="頁尾版面配置區 4">
            <a:extLst>
              <a:ext uri="{FF2B5EF4-FFF2-40B4-BE49-F238E27FC236}">
                <a16:creationId xmlns:a16="http://schemas.microsoft.com/office/drawing/2014/main" id="{1FA8800A-57CD-4691-8E11-40185134009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871209D-6627-4CFC-8CFF-DE25AA4FCC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458970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F173FCB-AF51-413B-9EA7-940E652F84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57623B9-D996-4B18-863A-AF24B34F5C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6610FA5-96C9-43C2-9118-EF308B50C3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42E98C-ACD1-4F21-B7D7-C715BE9B2230}" type="datetimeFigureOut">
              <a:rPr lang="zh-TW" altLang="en-US" smtClean="0"/>
              <a:t>2021/12/22</a:t>
            </a:fld>
            <a:endParaRPr lang="zh-TW" altLang="en-US"/>
          </a:p>
        </p:txBody>
      </p:sp>
      <p:sp>
        <p:nvSpPr>
          <p:cNvPr id="5" name="頁尾版面配置區 4">
            <a:extLst>
              <a:ext uri="{FF2B5EF4-FFF2-40B4-BE49-F238E27FC236}">
                <a16:creationId xmlns:a16="http://schemas.microsoft.com/office/drawing/2014/main" id="{E1A6CC33-55D8-4EFE-8365-9373248900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E3263F0-2185-4819-9FD7-AB6DE2AA71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765916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CA1336C-440D-2E43-904F-AABB45E64E1E}"/>
              </a:ext>
            </a:extLst>
          </p:cNvPr>
          <p:cNvSpPr>
            <a:spLocks noGrp="1"/>
          </p:cNvSpPr>
          <p:nvPr/>
        </p:nvSpPr>
        <p:spPr>
          <a:xfrm>
            <a:off x="1029385" y="1720670"/>
            <a:ext cx="10257739" cy="1344073"/>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a:lnSpc>
                <a:spcPct val="120000"/>
              </a:lnSpc>
            </a:pPr>
            <a:r>
              <a:rPr kumimoji="1" lang="en-US" altLang="zh-TW" dirty="0" err="1"/>
              <a:t>DouZero</a:t>
            </a:r>
            <a:r>
              <a:rPr kumimoji="1" lang="en-US" altLang="zh-TW" dirty="0"/>
              <a:t>: Mastering </a:t>
            </a:r>
            <a:r>
              <a:rPr kumimoji="1" lang="en-US" altLang="zh-TW" dirty="0" err="1"/>
              <a:t>DouDizhu</a:t>
            </a:r>
            <a:r>
              <a:rPr kumimoji="1" lang="en-US" altLang="zh-TW" dirty="0"/>
              <a:t> with Self-Play Deep Reinforcement Learning</a:t>
            </a:r>
            <a:endParaRPr kumimoji="1" lang="zh-TW" altLang="en-US" dirty="0">
              <a:latin typeface="Times New Roman" panose="02020603050405020304" pitchFamily="18" charset="0"/>
              <a:cs typeface="Times New Roman" panose="02020603050405020304" pitchFamily="18" charset="0"/>
            </a:endParaRPr>
          </a:p>
        </p:txBody>
      </p:sp>
      <p:sp>
        <p:nvSpPr>
          <p:cNvPr id="5" name="副標題 2">
            <a:extLst>
              <a:ext uri="{FF2B5EF4-FFF2-40B4-BE49-F238E27FC236}">
                <a16:creationId xmlns:a16="http://schemas.microsoft.com/office/drawing/2014/main" id="{FD611AA7-209A-4449-AB65-A25622930A66}"/>
              </a:ext>
            </a:extLst>
          </p:cNvPr>
          <p:cNvSpPr>
            <a:spLocks noGrp="1"/>
          </p:cNvSpPr>
          <p:nvPr/>
        </p:nvSpPr>
        <p:spPr>
          <a:xfrm>
            <a:off x="666107" y="3866102"/>
            <a:ext cx="9870558" cy="1344073"/>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US" altLang="zh-TW" dirty="0" err="1">
                <a:latin typeface="Times New Roman" panose="02020603050405020304" pitchFamily="18" charset="0"/>
                <a:cs typeface="Times New Roman" panose="02020603050405020304" pitchFamily="18" charset="0"/>
              </a:rPr>
              <a:t>Daochen</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Zha</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Jingru</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Xie</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Wenye</a:t>
            </a:r>
            <a:r>
              <a:rPr kumimoji="1" lang="en-US" altLang="zh-TW" dirty="0">
                <a:latin typeface="Times New Roman" panose="02020603050405020304" pitchFamily="18" charset="0"/>
                <a:cs typeface="Times New Roman" panose="02020603050405020304" pitchFamily="18" charset="0"/>
              </a:rPr>
              <a:t> Ma, Sheng Zhang, </a:t>
            </a:r>
            <a:r>
              <a:rPr kumimoji="1" lang="en-US" altLang="zh-TW" dirty="0" err="1">
                <a:latin typeface="Times New Roman" panose="02020603050405020304" pitchFamily="18" charset="0"/>
                <a:cs typeface="Times New Roman" panose="02020603050405020304" pitchFamily="18" charset="0"/>
              </a:rPr>
              <a:t>Xiangru</a:t>
            </a:r>
            <a:r>
              <a:rPr kumimoji="1" lang="en-US" altLang="zh-TW" dirty="0">
                <a:latin typeface="Times New Roman" panose="02020603050405020304" pitchFamily="18" charset="0"/>
                <a:cs typeface="Times New Roman" panose="02020603050405020304" pitchFamily="18" charset="0"/>
              </a:rPr>
              <a:t> Lian, Xia Hu, Ji Liu </a:t>
            </a:r>
          </a:p>
          <a:p>
            <a:r>
              <a:rPr kumimoji="1" lang="en-US" altLang="zh-TW" dirty="0">
                <a:latin typeface="Times New Roman" panose="02020603050405020304" pitchFamily="18" charset="0"/>
                <a:cs typeface="Times New Roman" panose="02020603050405020304" pitchFamily="18" charset="0"/>
              </a:rPr>
              <a:t> 38th International Conference on Machine Learning, PMLR 139:12333-12344, 2021</a:t>
            </a:r>
          </a:p>
        </p:txBody>
      </p:sp>
      <p:sp>
        <p:nvSpPr>
          <p:cNvPr id="6" name="文字方塊 3">
            <a:extLst>
              <a:ext uri="{FF2B5EF4-FFF2-40B4-BE49-F238E27FC236}">
                <a16:creationId xmlns:a16="http://schemas.microsoft.com/office/drawing/2014/main" id="{BF1141FC-B145-834E-9139-2A899AB73EAA}"/>
              </a:ext>
            </a:extLst>
          </p:cNvPr>
          <p:cNvSpPr txBox="1"/>
          <p:nvPr/>
        </p:nvSpPr>
        <p:spPr>
          <a:xfrm>
            <a:off x="9150372" y="5471581"/>
            <a:ext cx="2375522" cy="646331"/>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 altLang="zh-TW" dirty="0">
                <a:latin typeface="Times New Roman" panose="02020603050405020304" pitchFamily="18" charset="0"/>
                <a:cs typeface="Times New Roman" panose="02020603050405020304" pitchFamily="18" charset="0"/>
              </a:rPr>
              <a:t>Presenter:  Ying-Yu Lin</a:t>
            </a:r>
          </a:p>
          <a:p>
            <a:pPr algn="r"/>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Dec</a:t>
            </a:r>
            <a:r>
              <a:rPr kumimoji="1" lang="en" altLang="zh-TW" dirty="0">
                <a:latin typeface="Times New Roman" panose="02020603050405020304" pitchFamily="18" charset="0"/>
                <a:cs typeface="Times New Roman" panose="02020603050405020304" pitchFamily="18" charset="0"/>
              </a:rPr>
              <a:t>.22, 2021</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1751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5083443"/>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Abstract:</a:t>
            </a:r>
          </a:p>
          <a:p>
            <a:pPr>
              <a:spcBef>
                <a:spcPts val="1000"/>
              </a:spcBef>
            </a:pPr>
            <a:r>
              <a:rPr lang="en-US" altLang="zh-TW" sz="2800" b="0" i="0" dirty="0">
                <a:solidFill>
                  <a:srgbClr val="303030"/>
                </a:solidFill>
                <a:effectLst/>
                <a:latin typeface="-apple-system"/>
              </a:rPr>
              <a:t>Games are abstractions of the real world, where artificial agents learn to compete and cooperate with other agents. While significant achievements have been made in various perfect- and imperfect-information games, </a:t>
            </a:r>
            <a:r>
              <a:rPr lang="en-US" altLang="zh-TW" sz="2800" b="0" i="0" dirty="0" err="1">
                <a:solidFill>
                  <a:srgbClr val="303030"/>
                </a:solidFill>
                <a:effectLst/>
                <a:latin typeface="-apple-system"/>
              </a:rPr>
              <a:t>DouDizhu</a:t>
            </a:r>
            <a:r>
              <a:rPr lang="en-US" altLang="zh-TW" sz="2800" b="0" i="0" dirty="0">
                <a:solidFill>
                  <a:srgbClr val="303030"/>
                </a:solidFill>
                <a:effectLst/>
                <a:latin typeface="-apple-system"/>
              </a:rPr>
              <a:t> (a.k.a. Fighting the Landlord), a three-player card game, is still unsolved. </a:t>
            </a:r>
            <a:r>
              <a:rPr lang="en-US" altLang="zh-TW" sz="2800" b="0" i="0" dirty="0" err="1">
                <a:solidFill>
                  <a:srgbClr val="303030"/>
                </a:solidFill>
                <a:effectLst/>
                <a:latin typeface="-apple-system"/>
              </a:rPr>
              <a:t>DouDizhu</a:t>
            </a:r>
            <a:r>
              <a:rPr lang="en-US" altLang="zh-TW" sz="2800" b="0" i="0" dirty="0">
                <a:solidFill>
                  <a:srgbClr val="303030"/>
                </a:solidFill>
                <a:effectLst/>
                <a:latin typeface="-apple-system"/>
              </a:rPr>
              <a:t> is a very challenging domain with competition, collaboration, imperfect information, large state space, and particularly a massive set of possible actions where the legal actions vary significantly from turn to turn. Unfortunately, modern reinforcement learning algorithms mainly focus on simple and small action spaces, and not surprisingly, are shown not to make satisfactory progress in </a:t>
            </a:r>
            <a:r>
              <a:rPr lang="en-US" altLang="zh-TW" sz="2800" b="0" i="0" dirty="0" err="1">
                <a:solidFill>
                  <a:srgbClr val="303030"/>
                </a:solidFill>
                <a:effectLst/>
                <a:latin typeface="-apple-system"/>
              </a:rPr>
              <a:t>DouDizhu</a:t>
            </a:r>
            <a:r>
              <a:rPr lang="en-US" altLang="zh-TW" sz="2800" b="0" i="0" dirty="0">
                <a:solidFill>
                  <a:srgbClr val="303030"/>
                </a:solidFill>
                <a:effectLst/>
                <a:latin typeface="-apple-system"/>
              </a:rPr>
              <a:t>.</a:t>
            </a:r>
            <a:endParaRPr kumimoji="1"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932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4221669"/>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Abstract:</a:t>
            </a:r>
          </a:p>
          <a:p>
            <a:pPr>
              <a:spcBef>
                <a:spcPts val="1000"/>
              </a:spcBef>
            </a:pPr>
            <a:r>
              <a:rPr lang="en-US" altLang="zh-TW" sz="2800" b="0" i="0" dirty="0">
                <a:solidFill>
                  <a:srgbClr val="303030"/>
                </a:solidFill>
                <a:effectLst/>
                <a:latin typeface="-apple-system"/>
              </a:rPr>
              <a:t>In this work, we propose a conceptually simple yet effective </a:t>
            </a:r>
            <a:r>
              <a:rPr lang="en-US" altLang="zh-TW" sz="2800" b="0" i="0" dirty="0" err="1">
                <a:solidFill>
                  <a:srgbClr val="303030"/>
                </a:solidFill>
                <a:effectLst/>
                <a:latin typeface="-apple-system"/>
              </a:rPr>
              <a:t>DouDizhu</a:t>
            </a:r>
            <a:r>
              <a:rPr lang="en-US" altLang="zh-TW" sz="2800" b="0" i="0" dirty="0">
                <a:solidFill>
                  <a:srgbClr val="303030"/>
                </a:solidFill>
                <a:effectLst/>
                <a:latin typeface="-apple-system"/>
              </a:rPr>
              <a:t> AI system, namely </a:t>
            </a:r>
            <a:r>
              <a:rPr lang="en-US" altLang="zh-TW" sz="2800" b="0" i="0" dirty="0" err="1">
                <a:solidFill>
                  <a:srgbClr val="303030"/>
                </a:solidFill>
                <a:effectLst/>
                <a:latin typeface="-apple-system"/>
              </a:rPr>
              <a:t>DouZero</a:t>
            </a:r>
            <a:r>
              <a:rPr lang="en-US" altLang="zh-TW" sz="2800" b="0" i="0" dirty="0">
                <a:solidFill>
                  <a:srgbClr val="303030"/>
                </a:solidFill>
                <a:effectLst/>
                <a:latin typeface="-apple-system"/>
              </a:rPr>
              <a:t>, which enhances traditional Monte-Carlo methods with deep neural networks, action encoding, and parallel actors. Starting from scratch in a single server with four GPUs, </a:t>
            </a:r>
            <a:r>
              <a:rPr lang="en-US" altLang="zh-TW" sz="2800" b="0" i="0" dirty="0" err="1">
                <a:solidFill>
                  <a:srgbClr val="303030"/>
                </a:solidFill>
                <a:effectLst/>
                <a:latin typeface="-apple-system"/>
              </a:rPr>
              <a:t>DouZero</a:t>
            </a:r>
            <a:r>
              <a:rPr lang="en-US" altLang="zh-TW" sz="2800" b="0" i="0" dirty="0">
                <a:solidFill>
                  <a:srgbClr val="303030"/>
                </a:solidFill>
                <a:effectLst/>
                <a:latin typeface="-apple-system"/>
              </a:rPr>
              <a:t> outperformed all the existing </a:t>
            </a:r>
            <a:r>
              <a:rPr lang="en-US" altLang="zh-TW" sz="2800" b="0" i="0" dirty="0" err="1">
                <a:solidFill>
                  <a:srgbClr val="303030"/>
                </a:solidFill>
                <a:effectLst/>
                <a:latin typeface="-apple-system"/>
              </a:rPr>
              <a:t>DouDizhu</a:t>
            </a:r>
            <a:r>
              <a:rPr lang="en-US" altLang="zh-TW" sz="2800" b="0" i="0" dirty="0">
                <a:solidFill>
                  <a:srgbClr val="303030"/>
                </a:solidFill>
                <a:effectLst/>
                <a:latin typeface="-apple-system"/>
              </a:rPr>
              <a:t> AI programs in days of training and was ranked the first in the </a:t>
            </a:r>
            <a:r>
              <a:rPr lang="en-US" altLang="zh-TW" sz="2800" b="0" i="0" dirty="0" err="1">
                <a:solidFill>
                  <a:srgbClr val="303030"/>
                </a:solidFill>
                <a:effectLst/>
                <a:latin typeface="-apple-system"/>
              </a:rPr>
              <a:t>Botzone</a:t>
            </a:r>
            <a:r>
              <a:rPr lang="en-US" altLang="zh-TW" sz="2800" b="0" i="0" dirty="0">
                <a:solidFill>
                  <a:srgbClr val="303030"/>
                </a:solidFill>
                <a:effectLst/>
                <a:latin typeface="-apple-system"/>
              </a:rPr>
              <a:t> leaderboard among 344 AI agents. Through building </a:t>
            </a:r>
            <a:r>
              <a:rPr lang="en-US" altLang="zh-TW" sz="2800" b="0" i="0" dirty="0" err="1">
                <a:solidFill>
                  <a:srgbClr val="303030"/>
                </a:solidFill>
                <a:effectLst/>
                <a:latin typeface="-apple-system"/>
              </a:rPr>
              <a:t>DouZero</a:t>
            </a:r>
            <a:r>
              <a:rPr lang="en-US" altLang="zh-TW" sz="2800" b="0" i="0" dirty="0">
                <a:solidFill>
                  <a:srgbClr val="303030"/>
                </a:solidFill>
                <a:effectLst/>
                <a:latin typeface="-apple-system"/>
              </a:rPr>
              <a:t>, we show that classic Monte-Carlo methods can be made to deliver strong results in a hard domain with a complex action space.</a:t>
            </a:r>
            <a:endParaRPr kumimoji="1"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185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56EBA0-026E-4827-892A-99C7FCE00CFC}"/>
              </a:ext>
            </a:extLst>
          </p:cNvPr>
          <p:cNvSpPr>
            <a:spLocks noGrp="1"/>
          </p:cNvSpPr>
          <p:nvPr/>
        </p:nvSpPr>
        <p:spPr>
          <a:xfrm>
            <a:off x="187960" y="16382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dirty="0">
                <a:latin typeface="標楷體" panose="03000509000000000000" pitchFamily="65" charset="-120"/>
                <a:ea typeface="標楷體" panose="03000509000000000000" pitchFamily="65" charset="-120"/>
              </a:rPr>
              <a:t>鬥地主規則介紹</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叫地主</a:t>
            </a:r>
          </a:p>
        </p:txBody>
      </p:sp>
      <p:sp>
        <p:nvSpPr>
          <p:cNvPr id="3" name="文字方塊 7">
            <a:extLst>
              <a:ext uri="{FF2B5EF4-FFF2-40B4-BE49-F238E27FC236}">
                <a16:creationId xmlns:a16="http://schemas.microsoft.com/office/drawing/2014/main" id="{441B3F51-4F3E-465D-85B5-360319A24029}"/>
              </a:ext>
            </a:extLst>
          </p:cNvPr>
          <p:cNvSpPr txBox="1"/>
          <p:nvPr/>
        </p:nvSpPr>
        <p:spPr>
          <a:xfrm>
            <a:off x="7002779" y="2231380"/>
            <a:ext cx="4893945" cy="3046988"/>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400" dirty="0"/>
              <a:t>兩位農民合攻一位地主</a:t>
            </a:r>
            <a:endParaRPr lang="en-US" altLang="zh-TW" sz="2400" dirty="0"/>
          </a:p>
          <a:p>
            <a:r>
              <a:rPr lang="zh-TW" altLang="en-US" sz="2400" dirty="0"/>
              <a:t>只要一位農民出完牌就算農民獲勝</a:t>
            </a:r>
            <a:endParaRPr lang="en-US" altLang="zh-TW" sz="2400" dirty="0"/>
          </a:p>
          <a:p>
            <a:r>
              <a:rPr lang="zh-TW" altLang="en-US" sz="2400" dirty="0"/>
              <a:t>地主不是通賠就是通殺</a:t>
            </a:r>
            <a:endParaRPr lang="en-US" altLang="zh-TW" sz="2400" dirty="0"/>
          </a:p>
          <a:p>
            <a:r>
              <a:rPr lang="zh-TW" altLang="en-US" sz="2400" dirty="0"/>
              <a:t>輪流當莊家</a:t>
            </a:r>
            <a:endParaRPr lang="en-US" altLang="zh-TW" sz="2400" dirty="0"/>
          </a:p>
          <a:p>
            <a:r>
              <a:rPr lang="zh-TW" altLang="en-US" sz="2400" dirty="0"/>
              <a:t>從莊家開始逆時針叫地主</a:t>
            </a:r>
            <a:endParaRPr lang="en-US" altLang="zh-TW" sz="2400" dirty="0"/>
          </a:p>
          <a:p>
            <a:r>
              <a:rPr lang="zh-TW" altLang="en-US" sz="2400" dirty="0"/>
              <a:t>叫地主分數</a:t>
            </a:r>
            <a:r>
              <a:rPr lang="en-US" altLang="zh-TW" sz="2400" dirty="0"/>
              <a:t>:0,1,2,3,6,12,24</a:t>
            </a:r>
          </a:p>
          <a:p>
            <a:r>
              <a:rPr lang="zh-TW" altLang="en-US" sz="2400" dirty="0"/>
              <a:t>地主可多擁有三張牌</a:t>
            </a:r>
            <a:endParaRPr lang="en-US" altLang="zh-TW" sz="2400" dirty="0"/>
          </a:p>
          <a:p>
            <a:endParaRPr lang="en-US" altLang="zh-TW" sz="2400" dirty="0"/>
          </a:p>
        </p:txBody>
      </p:sp>
      <p:pic>
        <p:nvPicPr>
          <p:cNvPr id="1026" name="Picture 2" descr="烂牌叫地主，叫完直接变成无敌天牌_哔哩哔哩(゜-゜)つロ干杯~-bilibili">
            <a:extLst>
              <a:ext uri="{FF2B5EF4-FFF2-40B4-BE49-F238E27FC236}">
                <a16:creationId xmlns:a16="http://schemas.microsoft.com/office/drawing/2014/main" id="{4E204577-A751-409F-885E-AC560938CF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409" y="1806785"/>
            <a:ext cx="6157912" cy="3840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311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56EBA0-026E-4827-892A-99C7FCE00CFC}"/>
              </a:ext>
            </a:extLst>
          </p:cNvPr>
          <p:cNvSpPr>
            <a:spLocks noGrp="1"/>
          </p:cNvSpPr>
          <p:nvPr/>
        </p:nvSpPr>
        <p:spPr>
          <a:xfrm>
            <a:off x="187960" y="16382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dirty="0">
                <a:latin typeface="標楷體" panose="03000509000000000000" pitchFamily="65" charset="-120"/>
                <a:ea typeface="標楷體" panose="03000509000000000000" pitchFamily="65" charset="-120"/>
              </a:rPr>
              <a:t>鬥地主規則介紹</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玩牌</a:t>
            </a:r>
          </a:p>
        </p:txBody>
      </p:sp>
      <p:sp>
        <p:nvSpPr>
          <p:cNvPr id="3" name="文字方塊 7">
            <a:extLst>
              <a:ext uri="{FF2B5EF4-FFF2-40B4-BE49-F238E27FC236}">
                <a16:creationId xmlns:a16="http://schemas.microsoft.com/office/drawing/2014/main" id="{441B3F51-4F3E-465D-85B5-360319A24029}"/>
              </a:ext>
            </a:extLst>
          </p:cNvPr>
          <p:cNvSpPr txBox="1"/>
          <p:nvPr/>
        </p:nvSpPr>
        <p:spPr>
          <a:xfrm>
            <a:off x="415607" y="1397333"/>
            <a:ext cx="8231505" cy="1569660"/>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400" dirty="0"/>
              <a:t>所有的牌只比點數大小不比花色</a:t>
            </a:r>
            <a:endParaRPr lang="en-US" altLang="zh-TW" sz="2400" dirty="0"/>
          </a:p>
          <a:p>
            <a:r>
              <a:rPr lang="zh-TW" altLang="en-US" sz="2400" dirty="0"/>
              <a:t>鬼牌在鬥地主中是王牌，彩色鬼牌比黑白鬼牌大</a:t>
            </a:r>
            <a:endParaRPr lang="en-US" altLang="zh-TW" sz="2400" dirty="0"/>
          </a:p>
          <a:p>
            <a:r>
              <a:rPr lang="zh-TW" altLang="en-US" sz="2400" dirty="0"/>
              <a:t>火箭</a:t>
            </a:r>
            <a:r>
              <a:rPr lang="en-US" altLang="zh-TW" sz="2400" dirty="0"/>
              <a:t>:</a:t>
            </a:r>
            <a:r>
              <a:rPr lang="zh-TW" altLang="en-US" sz="2400" dirty="0"/>
              <a:t>同時拿到兩張鬼牌，可壓倒所有牌型，積分也翻倍</a:t>
            </a:r>
            <a:endParaRPr lang="en-US" altLang="zh-TW" sz="2400" dirty="0"/>
          </a:p>
          <a:p>
            <a:r>
              <a:rPr lang="zh-TW" altLang="en-US" sz="2400" dirty="0"/>
              <a:t>炸彈</a:t>
            </a:r>
            <a:r>
              <a:rPr lang="en-US" altLang="zh-TW" sz="2400" dirty="0"/>
              <a:t>(</a:t>
            </a:r>
            <a:r>
              <a:rPr lang="zh-TW" altLang="en-US" sz="2400" dirty="0"/>
              <a:t>鐵支</a:t>
            </a:r>
            <a:r>
              <a:rPr lang="en-US" altLang="zh-TW" sz="2400" dirty="0"/>
              <a:t>):</a:t>
            </a:r>
            <a:r>
              <a:rPr lang="zh-TW" altLang="en-US" sz="2400" dirty="0"/>
              <a:t>四張一樣的牌，積分翻倍</a:t>
            </a:r>
            <a:endParaRPr lang="en-US" altLang="zh-TW" sz="2400" dirty="0"/>
          </a:p>
        </p:txBody>
      </p:sp>
      <p:pic>
        <p:nvPicPr>
          <p:cNvPr id="6" name="圖片 5">
            <a:extLst>
              <a:ext uri="{FF2B5EF4-FFF2-40B4-BE49-F238E27FC236}">
                <a16:creationId xmlns:a16="http://schemas.microsoft.com/office/drawing/2014/main" id="{D0ABE66F-CBBD-48DE-9BC4-290C57A4C76A}"/>
              </a:ext>
            </a:extLst>
          </p:cNvPr>
          <p:cNvPicPr>
            <a:picLocks noChangeAspect="1"/>
          </p:cNvPicPr>
          <p:nvPr/>
        </p:nvPicPr>
        <p:blipFill>
          <a:blip r:embed="rId2"/>
          <a:stretch>
            <a:fillRect/>
          </a:stretch>
        </p:blipFill>
        <p:spPr>
          <a:xfrm>
            <a:off x="1959973" y="3231116"/>
            <a:ext cx="2571386" cy="1507136"/>
          </a:xfrm>
          <a:prstGeom prst="rect">
            <a:avLst/>
          </a:prstGeom>
        </p:spPr>
      </p:pic>
      <p:pic>
        <p:nvPicPr>
          <p:cNvPr id="12" name="圖片 11">
            <a:extLst>
              <a:ext uri="{FF2B5EF4-FFF2-40B4-BE49-F238E27FC236}">
                <a16:creationId xmlns:a16="http://schemas.microsoft.com/office/drawing/2014/main" id="{67485CC8-241B-4F9D-AF36-10BE92784426}"/>
              </a:ext>
            </a:extLst>
          </p:cNvPr>
          <p:cNvPicPr>
            <a:picLocks noChangeAspect="1"/>
          </p:cNvPicPr>
          <p:nvPr/>
        </p:nvPicPr>
        <p:blipFill rotWithShape="1">
          <a:blip r:embed="rId3"/>
          <a:srcRect l="9500" r="8333"/>
          <a:stretch/>
        </p:blipFill>
        <p:spPr>
          <a:xfrm>
            <a:off x="7189663" y="3192997"/>
            <a:ext cx="2098921" cy="1507136"/>
          </a:xfrm>
          <a:prstGeom prst="rect">
            <a:avLst/>
          </a:prstGeom>
        </p:spPr>
      </p:pic>
      <p:pic>
        <p:nvPicPr>
          <p:cNvPr id="13" name="圖片 12">
            <a:extLst>
              <a:ext uri="{FF2B5EF4-FFF2-40B4-BE49-F238E27FC236}">
                <a16:creationId xmlns:a16="http://schemas.microsoft.com/office/drawing/2014/main" id="{0FB7187F-31BC-4E88-B15C-A1B1039CBDBD}"/>
              </a:ext>
            </a:extLst>
          </p:cNvPr>
          <p:cNvPicPr>
            <a:picLocks noChangeAspect="1"/>
          </p:cNvPicPr>
          <p:nvPr/>
        </p:nvPicPr>
        <p:blipFill>
          <a:blip r:embed="rId4"/>
          <a:stretch>
            <a:fillRect/>
          </a:stretch>
        </p:blipFill>
        <p:spPr>
          <a:xfrm>
            <a:off x="1959973" y="4990284"/>
            <a:ext cx="2647671" cy="1507136"/>
          </a:xfrm>
          <a:prstGeom prst="rect">
            <a:avLst/>
          </a:prstGeom>
        </p:spPr>
      </p:pic>
      <p:pic>
        <p:nvPicPr>
          <p:cNvPr id="15" name="圖片 14">
            <a:extLst>
              <a:ext uri="{FF2B5EF4-FFF2-40B4-BE49-F238E27FC236}">
                <a16:creationId xmlns:a16="http://schemas.microsoft.com/office/drawing/2014/main" id="{C0270090-18A0-4A1E-AD84-B09CB001F7F9}"/>
              </a:ext>
            </a:extLst>
          </p:cNvPr>
          <p:cNvPicPr>
            <a:picLocks noChangeAspect="1"/>
          </p:cNvPicPr>
          <p:nvPr/>
        </p:nvPicPr>
        <p:blipFill>
          <a:blip r:embed="rId5"/>
          <a:stretch>
            <a:fillRect/>
          </a:stretch>
        </p:blipFill>
        <p:spPr>
          <a:xfrm>
            <a:off x="6676293" y="5029068"/>
            <a:ext cx="3941637" cy="1522287"/>
          </a:xfrm>
          <a:prstGeom prst="rect">
            <a:avLst/>
          </a:prstGeom>
        </p:spPr>
      </p:pic>
    </p:spTree>
    <p:extLst>
      <p:ext uri="{BB962C8B-B14F-4D97-AF65-F5344CB8AC3E}">
        <p14:creationId xmlns:p14="http://schemas.microsoft.com/office/powerpoint/2010/main" val="1816410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56EBA0-026E-4827-892A-99C7FCE00CFC}"/>
              </a:ext>
            </a:extLst>
          </p:cNvPr>
          <p:cNvSpPr>
            <a:spLocks noGrp="1"/>
          </p:cNvSpPr>
          <p:nvPr/>
        </p:nvSpPr>
        <p:spPr>
          <a:xfrm>
            <a:off x="187960" y="16382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dirty="0">
                <a:latin typeface="標楷體" panose="03000509000000000000" pitchFamily="65" charset="-120"/>
                <a:ea typeface="標楷體" panose="03000509000000000000" pitchFamily="65" charset="-120"/>
              </a:rPr>
              <a:t>鬥地主規則介紹</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玩牌</a:t>
            </a:r>
          </a:p>
        </p:txBody>
      </p:sp>
      <p:sp>
        <p:nvSpPr>
          <p:cNvPr id="3" name="文字方塊 7">
            <a:extLst>
              <a:ext uri="{FF2B5EF4-FFF2-40B4-BE49-F238E27FC236}">
                <a16:creationId xmlns:a16="http://schemas.microsoft.com/office/drawing/2014/main" id="{441B3F51-4F3E-465D-85B5-360319A24029}"/>
              </a:ext>
            </a:extLst>
          </p:cNvPr>
          <p:cNvSpPr txBox="1"/>
          <p:nvPr/>
        </p:nvSpPr>
        <p:spPr>
          <a:xfrm>
            <a:off x="529907" y="1248472"/>
            <a:ext cx="8231505" cy="1938992"/>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400" dirty="0"/>
              <a:t>三帶一</a:t>
            </a:r>
            <a:r>
              <a:rPr lang="en-US" altLang="zh-TW" sz="2400" dirty="0"/>
              <a:t>:</a:t>
            </a:r>
            <a:r>
              <a:rPr lang="zh-TW" altLang="en-US" sz="2400" dirty="0"/>
              <a:t>三張一樣的牌加上一張廢牌</a:t>
            </a:r>
            <a:endParaRPr lang="en-US" altLang="zh-TW" sz="2400" dirty="0"/>
          </a:p>
          <a:p>
            <a:r>
              <a:rPr lang="zh-TW" altLang="en-US" sz="2400" dirty="0"/>
              <a:t>三帶二</a:t>
            </a:r>
            <a:r>
              <a:rPr lang="en-US" altLang="zh-TW" sz="2400" dirty="0"/>
              <a:t>:</a:t>
            </a:r>
            <a:r>
              <a:rPr lang="zh-TW" altLang="en-US" sz="2400" dirty="0"/>
              <a:t>三張一樣的牌加上一對</a:t>
            </a:r>
            <a:endParaRPr lang="en-US" altLang="zh-TW" sz="2400" dirty="0"/>
          </a:p>
          <a:p>
            <a:r>
              <a:rPr lang="zh-TW" altLang="en-US" sz="2400" dirty="0"/>
              <a:t>飛機</a:t>
            </a:r>
            <a:r>
              <a:rPr lang="en-US" altLang="zh-TW" sz="2400" dirty="0"/>
              <a:t>:</a:t>
            </a:r>
            <a:r>
              <a:rPr lang="zh-TW" altLang="en-US" sz="2400" dirty="0"/>
              <a:t>連號的三帶一或三帶二，</a:t>
            </a:r>
            <a:r>
              <a:rPr lang="en-US" altLang="zh-TW" sz="2400" dirty="0"/>
              <a:t>2</a:t>
            </a:r>
            <a:r>
              <a:rPr lang="zh-TW" altLang="en-US" sz="2400" dirty="0"/>
              <a:t>除外</a:t>
            </a:r>
            <a:endParaRPr lang="en-US" altLang="zh-TW" sz="2400" dirty="0"/>
          </a:p>
          <a:p>
            <a:r>
              <a:rPr lang="zh-TW" altLang="en-US" sz="2400" dirty="0"/>
              <a:t>連對</a:t>
            </a:r>
            <a:r>
              <a:rPr lang="en-US" altLang="zh-TW" sz="2400" dirty="0"/>
              <a:t>:</a:t>
            </a:r>
            <a:r>
              <a:rPr lang="zh-TW" altLang="en-US" sz="2400" dirty="0"/>
              <a:t>只要三組以上連號的對子可以一起出，</a:t>
            </a:r>
            <a:r>
              <a:rPr lang="en-US" altLang="zh-TW" sz="2400" dirty="0"/>
              <a:t>2</a:t>
            </a:r>
            <a:r>
              <a:rPr lang="zh-TW" altLang="en-US" sz="2400" dirty="0"/>
              <a:t>除外</a:t>
            </a:r>
            <a:endParaRPr lang="en-US" altLang="zh-TW" sz="2400" dirty="0"/>
          </a:p>
          <a:p>
            <a:r>
              <a:rPr lang="zh-TW" altLang="en-US" sz="2400" dirty="0"/>
              <a:t>順子</a:t>
            </a:r>
            <a:r>
              <a:rPr lang="en-US" altLang="zh-TW" sz="2400" dirty="0"/>
              <a:t>:</a:t>
            </a:r>
            <a:r>
              <a:rPr lang="zh-TW" altLang="en-US" sz="2400" dirty="0"/>
              <a:t>至少五張最多</a:t>
            </a:r>
            <a:r>
              <a:rPr lang="en-US" altLang="zh-TW" sz="2400" dirty="0"/>
              <a:t>12</a:t>
            </a:r>
            <a:r>
              <a:rPr lang="zh-TW" altLang="en-US" sz="2400" dirty="0"/>
              <a:t>張，從</a:t>
            </a:r>
            <a:r>
              <a:rPr lang="en-US" altLang="zh-TW" sz="2400" dirty="0"/>
              <a:t>3~A</a:t>
            </a:r>
            <a:r>
              <a:rPr lang="zh-TW" altLang="en-US" sz="2400" dirty="0"/>
              <a:t>都可以一起出</a:t>
            </a:r>
            <a:endParaRPr lang="en-US" altLang="zh-TW" sz="2400" dirty="0"/>
          </a:p>
        </p:txBody>
      </p:sp>
      <p:pic>
        <p:nvPicPr>
          <p:cNvPr id="10" name="圖片 9">
            <a:extLst>
              <a:ext uri="{FF2B5EF4-FFF2-40B4-BE49-F238E27FC236}">
                <a16:creationId xmlns:a16="http://schemas.microsoft.com/office/drawing/2014/main" id="{8AC7E9C7-3C6F-4E32-A1AB-198C94DC2249}"/>
              </a:ext>
            </a:extLst>
          </p:cNvPr>
          <p:cNvPicPr>
            <a:picLocks noChangeAspect="1"/>
          </p:cNvPicPr>
          <p:nvPr/>
        </p:nvPicPr>
        <p:blipFill>
          <a:blip r:embed="rId2"/>
          <a:stretch>
            <a:fillRect/>
          </a:stretch>
        </p:blipFill>
        <p:spPr>
          <a:xfrm>
            <a:off x="728960" y="5178153"/>
            <a:ext cx="2217300" cy="1290167"/>
          </a:xfrm>
          <a:prstGeom prst="rect">
            <a:avLst/>
          </a:prstGeom>
        </p:spPr>
      </p:pic>
      <p:pic>
        <p:nvPicPr>
          <p:cNvPr id="16" name="圖片 15">
            <a:extLst>
              <a:ext uri="{FF2B5EF4-FFF2-40B4-BE49-F238E27FC236}">
                <a16:creationId xmlns:a16="http://schemas.microsoft.com/office/drawing/2014/main" id="{9569D8D9-46C0-4FF4-8446-7099A6DC424B}"/>
              </a:ext>
            </a:extLst>
          </p:cNvPr>
          <p:cNvPicPr>
            <a:picLocks noChangeAspect="1"/>
          </p:cNvPicPr>
          <p:nvPr/>
        </p:nvPicPr>
        <p:blipFill>
          <a:blip r:embed="rId3"/>
          <a:stretch>
            <a:fillRect/>
          </a:stretch>
        </p:blipFill>
        <p:spPr>
          <a:xfrm>
            <a:off x="728960" y="3429000"/>
            <a:ext cx="2166963" cy="1474829"/>
          </a:xfrm>
          <a:prstGeom prst="rect">
            <a:avLst/>
          </a:prstGeom>
        </p:spPr>
      </p:pic>
      <p:pic>
        <p:nvPicPr>
          <p:cNvPr id="20" name="圖片 19">
            <a:extLst>
              <a:ext uri="{FF2B5EF4-FFF2-40B4-BE49-F238E27FC236}">
                <a16:creationId xmlns:a16="http://schemas.microsoft.com/office/drawing/2014/main" id="{437537A4-179F-4D0B-A05C-59776B0E0243}"/>
              </a:ext>
            </a:extLst>
          </p:cNvPr>
          <p:cNvPicPr>
            <a:picLocks noChangeAspect="1"/>
          </p:cNvPicPr>
          <p:nvPr/>
        </p:nvPicPr>
        <p:blipFill>
          <a:blip r:embed="rId4"/>
          <a:stretch>
            <a:fillRect/>
          </a:stretch>
        </p:blipFill>
        <p:spPr>
          <a:xfrm>
            <a:off x="3799747" y="3466176"/>
            <a:ext cx="3292025" cy="1390650"/>
          </a:xfrm>
          <a:prstGeom prst="rect">
            <a:avLst/>
          </a:prstGeom>
        </p:spPr>
      </p:pic>
      <p:pic>
        <p:nvPicPr>
          <p:cNvPr id="23" name="圖片 22">
            <a:extLst>
              <a:ext uri="{FF2B5EF4-FFF2-40B4-BE49-F238E27FC236}">
                <a16:creationId xmlns:a16="http://schemas.microsoft.com/office/drawing/2014/main" id="{473508F0-FDF2-4103-8013-562B43B6A814}"/>
              </a:ext>
            </a:extLst>
          </p:cNvPr>
          <p:cNvPicPr>
            <a:picLocks noChangeAspect="1"/>
          </p:cNvPicPr>
          <p:nvPr/>
        </p:nvPicPr>
        <p:blipFill>
          <a:blip r:embed="rId5"/>
          <a:stretch>
            <a:fillRect/>
          </a:stretch>
        </p:blipFill>
        <p:spPr>
          <a:xfrm>
            <a:off x="3605369" y="5201655"/>
            <a:ext cx="3694100" cy="1358550"/>
          </a:xfrm>
          <a:prstGeom prst="rect">
            <a:avLst/>
          </a:prstGeom>
        </p:spPr>
      </p:pic>
      <p:pic>
        <p:nvPicPr>
          <p:cNvPr id="25" name="圖片 24">
            <a:extLst>
              <a:ext uri="{FF2B5EF4-FFF2-40B4-BE49-F238E27FC236}">
                <a16:creationId xmlns:a16="http://schemas.microsoft.com/office/drawing/2014/main" id="{92F2A3DF-3A73-48EA-9C2D-6B72A6904031}"/>
              </a:ext>
            </a:extLst>
          </p:cNvPr>
          <p:cNvPicPr>
            <a:picLocks noChangeAspect="1"/>
          </p:cNvPicPr>
          <p:nvPr/>
        </p:nvPicPr>
        <p:blipFill>
          <a:blip r:embed="rId6"/>
          <a:stretch>
            <a:fillRect/>
          </a:stretch>
        </p:blipFill>
        <p:spPr>
          <a:xfrm>
            <a:off x="8634248" y="3434736"/>
            <a:ext cx="2579987" cy="1244731"/>
          </a:xfrm>
          <a:prstGeom prst="rect">
            <a:avLst/>
          </a:prstGeom>
        </p:spPr>
      </p:pic>
      <p:pic>
        <p:nvPicPr>
          <p:cNvPr id="27" name="圖片 26">
            <a:extLst>
              <a:ext uri="{FF2B5EF4-FFF2-40B4-BE49-F238E27FC236}">
                <a16:creationId xmlns:a16="http://schemas.microsoft.com/office/drawing/2014/main" id="{5729AD33-4128-49D5-A4A6-C72C873CAC8F}"/>
              </a:ext>
            </a:extLst>
          </p:cNvPr>
          <p:cNvPicPr>
            <a:picLocks noChangeAspect="1"/>
          </p:cNvPicPr>
          <p:nvPr/>
        </p:nvPicPr>
        <p:blipFill>
          <a:blip r:embed="rId7"/>
          <a:stretch>
            <a:fillRect/>
          </a:stretch>
        </p:blipFill>
        <p:spPr>
          <a:xfrm>
            <a:off x="8902379" y="5250291"/>
            <a:ext cx="2070421" cy="1187602"/>
          </a:xfrm>
          <a:prstGeom prst="rect">
            <a:avLst/>
          </a:prstGeom>
        </p:spPr>
      </p:pic>
    </p:spTree>
    <p:extLst>
      <p:ext uri="{BB962C8B-B14F-4D97-AF65-F5344CB8AC3E}">
        <p14:creationId xmlns:p14="http://schemas.microsoft.com/office/powerpoint/2010/main" val="2034521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36A63F7-1F53-4448-921B-C37D22DCBF91}"/>
              </a:ext>
            </a:extLst>
          </p:cNvPr>
          <p:cNvPicPr>
            <a:picLocks noChangeAspect="1"/>
          </p:cNvPicPr>
          <p:nvPr/>
        </p:nvPicPr>
        <p:blipFill rotWithShape="1">
          <a:blip r:embed="rId2"/>
          <a:srcRect b="2471"/>
          <a:stretch/>
        </p:blipFill>
        <p:spPr>
          <a:xfrm>
            <a:off x="1094560" y="1622769"/>
            <a:ext cx="10002879" cy="4032596"/>
          </a:xfrm>
          <a:prstGeom prst="rect">
            <a:avLst/>
          </a:prstGeom>
        </p:spPr>
      </p:pic>
      <p:sp>
        <p:nvSpPr>
          <p:cNvPr id="4" name="標題 1">
            <a:extLst>
              <a:ext uri="{FF2B5EF4-FFF2-40B4-BE49-F238E27FC236}">
                <a16:creationId xmlns:a16="http://schemas.microsoft.com/office/drawing/2014/main" id="{79827B03-A072-40D5-ABE8-C54AFB5521F8}"/>
              </a:ext>
            </a:extLst>
          </p:cNvPr>
          <p:cNvSpPr>
            <a:spLocks noGrp="1"/>
          </p:cNvSpPr>
          <p:nvPr/>
        </p:nvSpPr>
        <p:spPr>
          <a:xfrm>
            <a:off x="187960" y="16382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TW" sz="4800" dirty="0">
                <a:latin typeface="Times New Roman" panose="02020603050405020304" pitchFamily="18" charset="0"/>
                <a:cs typeface="Times New Roman" panose="02020603050405020304" pitchFamily="18" charset="0"/>
              </a:rPr>
              <a:t>reinforcement learning</a:t>
            </a:r>
            <a:endParaRPr kumimoji="1" lang="zh-TW" alt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8950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79827B03-A072-40D5-ABE8-C54AFB5521F8}"/>
              </a:ext>
            </a:extLst>
          </p:cNvPr>
          <p:cNvSpPr>
            <a:spLocks noGrp="1"/>
          </p:cNvSpPr>
          <p:nvPr/>
        </p:nvSpPr>
        <p:spPr>
          <a:xfrm>
            <a:off x="98509" y="163820"/>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effectLst/>
                <a:latin typeface="Calibri" panose="020F0502020204030204" pitchFamily="34" charset="0"/>
                <a:ea typeface="新細明體" panose="02020500000000000000" pitchFamily="18" charset="-120"/>
                <a:cs typeface="Times New Roman" panose="02020603050405020304" pitchFamily="18" charset="0"/>
              </a:rPr>
              <a:t>Properties</a:t>
            </a:r>
            <a:r>
              <a:rPr lang="zh-TW" altLang="en-US" sz="3600" dirty="0">
                <a:effectLst/>
                <a:latin typeface="Calibri" panose="020F0502020204030204" pitchFamily="34" charset="0"/>
                <a:ea typeface="新細明體" panose="02020500000000000000" pitchFamily="18" charset="-120"/>
                <a:cs typeface="Times New Roman" panose="02020603050405020304" pitchFamily="18" charset="0"/>
              </a:rPr>
              <a:t> </a:t>
            </a:r>
            <a:r>
              <a:rPr lang="en-US" altLang="zh-TW" sz="3600" dirty="0">
                <a:effectLst/>
                <a:latin typeface="Calibri" panose="020F0502020204030204" pitchFamily="34" charset="0"/>
                <a:ea typeface="新細明體" panose="02020500000000000000" pitchFamily="18" charset="-120"/>
                <a:cs typeface="Times New Roman" panose="02020603050405020304" pitchFamily="18" charset="0"/>
              </a:rPr>
              <a:t>that make </a:t>
            </a:r>
            <a:r>
              <a:rPr lang="en-US" altLang="zh-TW" sz="3600" dirty="0" err="1">
                <a:effectLst/>
                <a:latin typeface="Calibri" panose="020F0502020204030204" pitchFamily="34" charset="0"/>
                <a:ea typeface="新細明體" panose="02020500000000000000" pitchFamily="18" charset="-120"/>
                <a:cs typeface="Times New Roman" panose="02020603050405020304" pitchFamily="18" charset="0"/>
              </a:rPr>
              <a:t>DouDizhu</a:t>
            </a:r>
            <a:r>
              <a:rPr lang="en-US" altLang="zh-TW" sz="3600" dirty="0">
                <a:effectLst/>
                <a:latin typeface="Calibri" panose="020F0502020204030204" pitchFamily="34" charset="0"/>
                <a:ea typeface="新細明體" panose="02020500000000000000" pitchFamily="18" charset="-120"/>
                <a:cs typeface="Times New Roman" panose="02020603050405020304" pitchFamily="18" charset="0"/>
              </a:rPr>
              <a:t> particularly challenging to solve</a:t>
            </a:r>
            <a:endParaRPr kumimoji="1" lang="zh-TW" altLang="en-US" sz="8000"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0AEF6689-5241-4308-B2A5-C30F0E735EDA}"/>
              </a:ext>
            </a:extLst>
          </p:cNvPr>
          <p:cNvSpPr txBox="1"/>
          <p:nvPr/>
        </p:nvSpPr>
        <p:spPr>
          <a:xfrm>
            <a:off x="921855" y="1417840"/>
            <a:ext cx="10160276" cy="1384995"/>
          </a:xfrm>
          <a:prstGeom prst="rect">
            <a:avLst/>
          </a:prstGeom>
          <a:noFill/>
        </p:spPr>
        <p:txBody>
          <a:bodyPr wrap="square">
            <a:spAutoFit/>
          </a:bodyPr>
          <a:lstStyle/>
          <a:p>
            <a:r>
              <a:rPr lang="en-US" altLang="zh-TW" sz="2800" dirty="0">
                <a:latin typeface="Calibri" panose="020F0502020204030204" pitchFamily="34" charset="0"/>
                <a:ea typeface="新細明體" panose="02020500000000000000" pitchFamily="18" charset="-120"/>
                <a:cs typeface="Times New Roman" panose="02020603050405020304" pitchFamily="18" charset="0"/>
              </a:rPr>
              <a:t>1.</a:t>
            </a:r>
            <a:r>
              <a:rPr lang="en-US" altLang="zh-TW" sz="2800" dirty="0">
                <a:effectLst/>
                <a:latin typeface="Calibri" panose="020F0502020204030204" pitchFamily="34" charset="0"/>
                <a:ea typeface="新細明體" panose="02020500000000000000" pitchFamily="18" charset="-120"/>
                <a:cs typeface="Times New Roman" panose="02020603050405020304" pitchFamily="18" charset="0"/>
              </a:rPr>
              <a:t>Peasants need to cooperate in fighting against the Landlord.</a:t>
            </a:r>
          </a:p>
          <a:p>
            <a:r>
              <a:rPr lang="en-US" altLang="zh-TW" sz="2800" dirty="0">
                <a:latin typeface="Calibri" panose="020F0502020204030204" pitchFamily="34" charset="0"/>
                <a:ea typeface="新細明體" panose="02020500000000000000" pitchFamily="18" charset="-120"/>
                <a:cs typeface="Times New Roman" panose="02020603050405020304" pitchFamily="18" charset="0"/>
              </a:rPr>
              <a:t>2.</a:t>
            </a:r>
            <a:r>
              <a:rPr lang="en-US" altLang="zh-TW" sz="2800" dirty="0">
                <a:effectLst/>
                <a:latin typeface="Calibri" panose="020F0502020204030204" pitchFamily="34" charset="0"/>
                <a:ea typeface="新細明體" panose="02020500000000000000" pitchFamily="18" charset="-120"/>
                <a:cs typeface="Times New Roman" panose="02020603050405020304" pitchFamily="18" charset="0"/>
              </a:rPr>
              <a:t>DouDizhu has a complex and large action space due to the combination of cards.</a:t>
            </a:r>
            <a:endParaRPr lang="zh-TW" altLang="en-US" sz="2800" dirty="0"/>
          </a:p>
        </p:txBody>
      </p:sp>
      <p:pic>
        <p:nvPicPr>
          <p:cNvPr id="7" name="圖片 6">
            <a:extLst>
              <a:ext uri="{FF2B5EF4-FFF2-40B4-BE49-F238E27FC236}">
                <a16:creationId xmlns:a16="http://schemas.microsoft.com/office/drawing/2014/main" id="{6061491F-53C9-402A-AC2E-01375B63CBF6}"/>
              </a:ext>
            </a:extLst>
          </p:cNvPr>
          <p:cNvPicPr>
            <a:picLocks noChangeAspect="1"/>
          </p:cNvPicPr>
          <p:nvPr/>
        </p:nvPicPr>
        <p:blipFill rotWithShape="1">
          <a:blip r:embed="rId2"/>
          <a:srcRect b="2983"/>
          <a:stretch/>
        </p:blipFill>
        <p:spPr>
          <a:xfrm>
            <a:off x="219075" y="3043030"/>
            <a:ext cx="6029762" cy="3536674"/>
          </a:xfrm>
          <a:prstGeom prst="rect">
            <a:avLst/>
          </a:prstGeom>
        </p:spPr>
      </p:pic>
      <p:pic>
        <p:nvPicPr>
          <p:cNvPr id="8" name="圖片 7">
            <a:extLst>
              <a:ext uri="{FF2B5EF4-FFF2-40B4-BE49-F238E27FC236}">
                <a16:creationId xmlns:a16="http://schemas.microsoft.com/office/drawing/2014/main" id="{58B8E729-35C0-4972-88A2-2ECFF31D2C6F}"/>
              </a:ext>
            </a:extLst>
          </p:cNvPr>
          <p:cNvPicPr>
            <a:picLocks noChangeAspect="1"/>
          </p:cNvPicPr>
          <p:nvPr/>
        </p:nvPicPr>
        <p:blipFill rotWithShape="1">
          <a:blip r:embed="rId3"/>
          <a:srcRect b="2471"/>
          <a:stretch/>
        </p:blipFill>
        <p:spPr>
          <a:xfrm>
            <a:off x="6171081" y="3641879"/>
            <a:ext cx="5801844" cy="2338976"/>
          </a:xfrm>
          <a:prstGeom prst="rect">
            <a:avLst/>
          </a:prstGeom>
        </p:spPr>
      </p:pic>
    </p:spTree>
    <p:extLst>
      <p:ext uri="{BB962C8B-B14F-4D97-AF65-F5344CB8AC3E}">
        <p14:creationId xmlns:p14="http://schemas.microsoft.com/office/powerpoint/2010/main" val="563692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79827B03-A072-40D5-ABE8-C54AFB5521F8}"/>
              </a:ext>
            </a:extLst>
          </p:cNvPr>
          <p:cNvSpPr>
            <a:spLocks noGrp="1"/>
          </p:cNvSpPr>
          <p:nvPr/>
        </p:nvSpPr>
        <p:spPr>
          <a:xfrm>
            <a:off x="98509" y="163820"/>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b="1" dirty="0">
                <a:effectLst/>
                <a:latin typeface="Calibri" panose="020F0502020204030204" pitchFamily="34" charset="0"/>
                <a:ea typeface="新細明體" panose="02020500000000000000" pitchFamily="18" charset="-120"/>
                <a:cs typeface="Times New Roman" panose="02020603050405020304" pitchFamily="18" charset="0"/>
              </a:rPr>
              <a:t>Monte-Carlo method</a:t>
            </a:r>
            <a:endParaRPr kumimoji="1" lang="zh-TW" altLang="en-US" sz="8800" b="1"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BD91729C-D97F-439A-AF4D-8EC4F4732568}"/>
              </a:ext>
            </a:extLst>
          </p:cNvPr>
          <p:cNvPicPr>
            <a:picLocks noChangeAspect="1"/>
          </p:cNvPicPr>
          <p:nvPr/>
        </p:nvPicPr>
        <p:blipFill>
          <a:blip r:embed="rId2"/>
          <a:stretch>
            <a:fillRect/>
          </a:stretch>
        </p:blipFill>
        <p:spPr>
          <a:xfrm>
            <a:off x="1210138" y="1339505"/>
            <a:ext cx="9771724" cy="2966416"/>
          </a:xfrm>
          <a:prstGeom prst="rect">
            <a:avLst/>
          </a:prstGeom>
        </p:spPr>
      </p:pic>
      <p:sp>
        <p:nvSpPr>
          <p:cNvPr id="9" name="標題 1">
            <a:extLst>
              <a:ext uri="{FF2B5EF4-FFF2-40B4-BE49-F238E27FC236}">
                <a16:creationId xmlns:a16="http://schemas.microsoft.com/office/drawing/2014/main" id="{EE5EC41A-0DB0-4956-87E0-1AB46A6F22B6}"/>
              </a:ext>
            </a:extLst>
          </p:cNvPr>
          <p:cNvSpPr>
            <a:spLocks noGrp="1"/>
          </p:cNvSpPr>
          <p:nvPr/>
        </p:nvSpPr>
        <p:spPr>
          <a:xfrm>
            <a:off x="98509" y="4079836"/>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b="1" dirty="0">
                <a:effectLst/>
                <a:latin typeface="Calibri" panose="020F0502020204030204" pitchFamily="34" charset="0"/>
                <a:ea typeface="新細明體" panose="02020500000000000000" pitchFamily="18" charset="-120"/>
                <a:cs typeface="Times New Roman" panose="02020603050405020304" pitchFamily="18" charset="0"/>
              </a:rPr>
              <a:t>Deep Monte-Carlo method</a:t>
            </a:r>
            <a:endParaRPr kumimoji="1" lang="zh-TW" altLang="en-US" sz="8800" b="1"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3E1D6E3A-608A-44CF-BEB5-BE4DF650BC8E}"/>
              </a:ext>
            </a:extLst>
          </p:cNvPr>
          <p:cNvSpPr txBox="1"/>
          <p:nvPr/>
        </p:nvSpPr>
        <p:spPr>
          <a:xfrm>
            <a:off x="842390" y="5186683"/>
            <a:ext cx="11058939" cy="1200329"/>
          </a:xfrm>
          <a:prstGeom prst="rect">
            <a:avLst/>
          </a:prstGeom>
          <a:noFill/>
        </p:spPr>
        <p:txBody>
          <a:bodyPr wrap="square" rtlCol="0">
            <a:spAutoFit/>
          </a:bodyPr>
          <a:lstStyle/>
          <a:p>
            <a:r>
              <a:rPr lang="en-US" altLang="zh-TW" sz="3600" dirty="0">
                <a:effectLst/>
                <a:latin typeface="Calibri" panose="020F0502020204030204" pitchFamily="34" charset="0"/>
                <a:ea typeface="新細明體" panose="02020500000000000000" pitchFamily="18" charset="-120"/>
                <a:cs typeface="Times New Roman" panose="02020603050405020304" pitchFamily="18" charset="0"/>
              </a:rPr>
              <a:t>1.replace the Q-table with a neural network </a:t>
            </a:r>
          </a:p>
          <a:p>
            <a:r>
              <a:rPr lang="en-US" altLang="zh-TW" sz="3600" dirty="0">
                <a:effectLst/>
                <a:latin typeface="Calibri" panose="020F0502020204030204" pitchFamily="34" charset="0"/>
                <a:ea typeface="新細明體" panose="02020500000000000000" pitchFamily="18" charset="-120"/>
                <a:cs typeface="Times New Roman" panose="02020603050405020304" pitchFamily="18" charset="0"/>
              </a:rPr>
              <a:t>2.use mean-square-error (MSE) to update the Q-network</a:t>
            </a:r>
            <a:endParaRPr lang="zh-TW" altLang="en-US" sz="3600" dirty="0"/>
          </a:p>
        </p:txBody>
      </p:sp>
    </p:spTree>
    <p:extLst>
      <p:ext uri="{BB962C8B-B14F-4D97-AF65-F5344CB8AC3E}">
        <p14:creationId xmlns:p14="http://schemas.microsoft.com/office/powerpoint/2010/main" val="2464297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79827B03-A072-40D5-ABE8-C54AFB5521F8}"/>
              </a:ext>
            </a:extLst>
          </p:cNvPr>
          <p:cNvSpPr>
            <a:spLocks noGrp="1"/>
          </p:cNvSpPr>
          <p:nvPr/>
        </p:nvSpPr>
        <p:spPr>
          <a:xfrm>
            <a:off x="98509" y="163820"/>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dirty="0" err="1">
                <a:effectLst/>
                <a:latin typeface="Calibri" panose="020F0502020204030204" pitchFamily="34" charset="0"/>
                <a:ea typeface="新細明體" panose="02020500000000000000" pitchFamily="18" charset="-120"/>
                <a:cs typeface="Times New Roman" panose="02020603050405020304" pitchFamily="18" charset="0"/>
              </a:rPr>
              <a:t>DouZero</a:t>
            </a:r>
            <a:r>
              <a:rPr lang="en-US" altLang="zh-TW" sz="4000" dirty="0">
                <a:effectLst/>
                <a:latin typeface="Calibri" panose="020F0502020204030204" pitchFamily="34" charset="0"/>
                <a:ea typeface="新細明體" panose="02020500000000000000" pitchFamily="18" charset="-120"/>
                <a:cs typeface="Times New Roman" panose="02020603050405020304" pitchFamily="18" charset="0"/>
              </a:rPr>
              <a:t> System</a:t>
            </a:r>
            <a:endParaRPr kumimoji="1" lang="zh-TW" altLang="en-US" sz="88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9E09E3C5-4BC4-461F-8F8E-2E016EACE315}"/>
              </a:ext>
            </a:extLst>
          </p:cNvPr>
          <p:cNvPicPr>
            <a:picLocks noChangeAspect="1"/>
          </p:cNvPicPr>
          <p:nvPr/>
        </p:nvPicPr>
        <p:blipFill>
          <a:blip r:embed="rId2"/>
          <a:stretch>
            <a:fillRect/>
          </a:stretch>
        </p:blipFill>
        <p:spPr>
          <a:xfrm>
            <a:off x="2424940" y="1628530"/>
            <a:ext cx="6637998" cy="4503913"/>
          </a:xfrm>
          <a:prstGeom prst="rect">
            <a:avLst/>
          </a:prstGeom>
        </p:spPr>
      </p:pic>
    </p:spTree>
    <p:extLst>
      <p:ext uri="{BB962C8B-B14F-4D97-AF65-F5344CB8AC3E}">
        <p14:creationId xmlns:p14="http://schemas.microsoft.com/office/powerpoint/2010/main" val="3044935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79827B03-A072-40D5-ABE8-C54AFB5521F8}"/>
              </a:ext>
            </a:extLst>
          </p:cNvPr>
          <p:cNvSpPr>
            <a:spLocks noGrp="1"/>
          </p:cNvSpPr>
          <p:nvPr/>
        </p:nvSpPr>
        <p:spPr>
          <a:xfrm>
            <a:off x="98509" y="163820"/>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dirty="0" err="1">
                <a:effectLst/>
                <a:latin typeface="Calibri" panose="020F0502020204030204" pitchFamily="34" charset="0"/>
                <a:ea typeface="新細明體" panose="02020500000000000000" pitchFamily="18" charset="-120"/>
                <a:cs typeface="Times New Roman" panose="02020603050405020304" pitchFamily="18" charset="0"/>
              </a:rPr>
              <a:t>DouZero</a:t>
            </a:r>
            <a:r>
              <a:rPr lang="en-US" altLang="zh-TW" sz="4000" dirty="0">
                <a:effectLst/>
                <a:latin typeface="Calibri" panose="020F0502020204030204" pitchFamily="34" charset="0"/>
                <a:ea typeface="新細明體" panose="02020500000000000000" pitchFamily="18" charset="-120"/>
                <a:cs typeface="Times New Roman" panose="02020603050405020304" pitchFamily="18" charset="0"/>
              </a:rPr>
              <a:t> System</a:t>
            </a:r>
            <a:endParaRPr kumimoji="1" lang="zh-TW" altLang="en-US" sz="88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EDD4EA6C-48B8-40E4-9116-56C44B5E6C1D}"/>
              </a:ext>
            </a:extLst>
          </p:cNvPr>
          <p:cNvPicPr>
            <a:picLocks noChangeAspect="1"/>
          </p:cNvPicPr>
          <p:nvPr/>
        </p:nvPicPr>
        <p:blipFill>
          <a:blip r:embed="rId2"/>
          <a:stretch>
            <a:fillRect/>
          </a:stretch>
        </p:blipFill>
        <p:spPr>
          <a:xfrm>
            <a:off x="4265959" y="1149833"/>
            <a:ext cx="7836590" cy="5349208"/>
          </a:xfrm>
          <a:prstGeom prst="rect">
            <a:avLst/>
          </a:prstGeom>
        </p:spPr>
      </p:pic>
      <p:pic>
        <p:nvPicPr>
          <p:cNvPr id="3" name="圖片 2">
            <a:extLst>
              <a:ext uri="{FF2B5EF4-FFF2-40B4-BE49-F238E27FC236}">
                <a16:creationId xmlns:a16="http://schemas.microsoft.com/office/drawing/2014/main" id="{839D6C8F-AA03-434D-ABCC-57E8AA7FD3D5}"/>
              </a:ext>
            </a:extLst>
          </p:cNvPr>
          <p:cNvPicPr>
            <a:picLocks noChangeAspect="1"/>
          </p:cNvPicPr>
          <p:nvPr/>
        </p:nvPicPr>
        <p:blipFill rotWithShape="1">
          <a:blip r:embed="rId3"/>
          <a:srcRect r="15482"/>
          <a:stretch/>
        </p:blipFill>
        <p:spPr>
          <a:xfrm>
            <a:off x="-223996" y="2219960"/>
            <a:ext cx="4632960" cy="2239410"/>
          </a:xfrm>
          <a:prstGeom prst="rect">
            <a:avLst/>
          </a:prstGeom>
        </p:spPr>
      </p:pic>
    </p:spTree>
    <p:extLst>
      <p:ext uri="{BB962C8B-B14F-4D97-AF65-F5344CB8AC3E}">
        <p14:creationId xmlns:p14="http://schemas.microsoft.com/office/powerpoint/2010/main" val="2680780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933A859-1559-4C35-AA01-050E1261DB7B}"/>
              </a:ext>
            </a:extLst>
          </p:cNvPr>
          <p:cNvPicPr>
            <a:picLocks noChangeAspect="1"/>
          </p:cNvPicPr>
          <p:nvPr/>
        </p:nvPicPr>
        <p:blipFill>
          <a:blip r:embed="rId2"/>
          <a:stretch>
            <a:fillRect/>
          </a:stretch>
        </p:blipFill>
        <p:spPr>
          <a:xfrm>
            <a:off x="1271587" y="1230795"/>
            <a:ext cx="4162425" cy="5410200"/>
          </a:xfrm>
          <a:prstGeom prst="rect">
            <a:avLst/>
          </a:prstGeom>
        </p:spPr>
      </p:pic>
      <p:pic>
        <p:nvPicPr>
          <p:cNvPr id="5" name="圖片 4">
            <a:extLst>
              <a:ext uri="{FF2B5EF4-FFF2-40B4-BE49-F238E27FC236}">
                <a16:creationId xmlns:a16="http://schemas.microsoft.com/office/drawing/2014/main" id="{C9FE75D3-EDBF-492C-B619-15D3B67B192D}"/>
              </a:ext>
            </a:extLst>
          </p:cNvPr>
          <p:cNvPicPr>
            <a:picLocks noChangeAspect="1"/>
          </p:cNvPicPr>
          <p:nvPr/>
        </p:nvPicPr>
        <p:blipFill>
          <a:blip r:embed="rId3"/>
          <a:stretch>
            <a:fillRect/>
          </a:stretch>
        </p:blipFill>
        <p:spPr>
          <a:xfrm>
            <a:off x="6096000" y="1680224"/>
            <a:ext cx="5205695" cy="3657090"/>
          </a:xfrm>
          <a:prstGeom prst="rect">
            <a:avLst/>
          </a:prstGeom>
        </p:spPr>
      </p:pic>
      <p:sp>
        <p:nvSpPr>
          <p:cNvPr id="6" name="標題 1">
            <a:extLst>
              <a:ext uri="{FF2B5EF4-FFF2-40B4-BE49-F238E27FC236}">
                <a16:creationId xmlns:a16="http://schemas.microsoft.com/office/drawing/2014/main" id="{269FB8BC-1280-43F9-A120-2F2893AB7839}"/>
              </a:ext>
            </a:extLst>
          </p:cNvPr>
          <p:cNvSpPr>
            <a:spLocks noGrp="1"/>
          </p:cNvSpPr>
          <p:nvPr/>
        </p:nvSpPr>
        <p:spPr>
          <a:xfrm>
            <a:off x="98509" y="163820"/>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dirty="0" err="1">
                <a:effectLst/>
                <a:latin typeface="Calibri" panose="020F0502020204030204" pitchFamily="34" charset="0"/>
                <a:ea typeface="新細明體" panose="02020500000000000000" pitchFamily="18" charset="-120"/>
                <a:cs typeface="Times New Roman" panose="02020603050405020304" pitchFamily="18" charset="0"/>
              </a:rPr>
              <a:t>DouZero</a:t>
            </a:r>
            <a:r>
              <a:rPr lang="en-US" altLang="zh-TW" sz="4000" dirty="0">
                <a:effectLst/>
                <a:latin typeface="Calibri" panose="020F0502020204030204" pitchFamily="34" charset="0"/>
                <a:ea typeface="新細明體" panose="02020500000000000000" pitchFamily="18" charset="-120"/>
                <a:cs typeface="Times New Roman" panose="02020603050405020304" pitchFamily="18" charset="0"/>
              </a:rPr>
              <a:t> System</a:t>
            </a:r>
            <a:endParaRPr kumimoji="1" lang="zh-TW" altLang="en-US" sz="8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90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id="{269FB8BC-1280-43F9-A120-2F2893AB7839}"/>
              </a:ext>
            </a:extLst>
          </p:cNvPr>
          <p:cNvSpPr>
            <a:spLocks noGrp="1"/>
          </p:cNvSpPr>
          <p:nvPr/>
        </p:nvSpPr>
        <p:spPr>
          <a:xfrm>
            <a:off x="98509" y="163820"/>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dirty="0">
                <a:effectLst/>
                <a:latin typeface="Calibri" panose="020F0502020204030204" pitchFamily="34" charset="0"/>
                <a:ea typeface="新細明體" panose="02020500000000000000" pitchFamily="18" charset="-120"/>
                <a:cs typeface="Times New Roman" panose="02020603050405020304" pitchFamily="18" charset="0"/>
              </a:rPr>
              <a:t>Experiments</a:t>
            </a:r>
            <a:endParaRPr kumimoji="1" lang="zh-TW" altLang="en-US" sz="88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D4B12443-9638-4159-97CB-7ED8F332B3AA}"/>
              </a:ext>
            </a:extLst>
          </p:cNvPr>
          <p:cNvPicPr>
            <a:picLocks noChangeAspect="1"/>
          </p:cNvPicPr>
          <p:nvPr/>
        </p:nvPicPr>
        <p:blipFill rotWithShape="1">
          <a:blip r:embed="rId2"/>
          <a:srcRect t="943"/>
          <a:stretch/>
        </p:blipFill>
        <p:spPr>
          <a:xfrm>
            <a:off x="321911" y="2027583"/>
            <a:ext cx="11694977" cy="2829760"/>
          </a:xfrm>
          <a:prstGeom prst="rect">
            <a:avLst/>
          </a:prstGeom>
        </p:spPr>
      </p:pic>
      <p:sp>
        <p:nvSpPr>
          <p:cNvPr id="7" name="文字方塊 6">
            <a:extLst>
              <a:ext uri="{FF2B5EF4-FFF2-40B4-BE49-F238E27FC236}">
                <a16:creationId xmlns:a16="http://schemas.microsoft.com/office/drawing/2014/main" id="{CF7199E9-C743-4D85-AD58-2C2759C9FFC6}"/>
              </a:ext>
            </a:extLst>
          </p:cNvPr>
          <p:cNvSpPr txBox="1"/>
          <p:nvPr/>
        </p:nvSpPr>
        <p:spPr>
          <a:xfrm>
            <a:off x="842390" y="5186683"/>
            <a:ext cx="11058939" cy="1200329"/>
          </a:xfrm>
          <a:prstGeom prst="rect">
            <a:avLst/>
          </a:prstGeom>
          <a:noFill/>
        </p:spPr>
        <p:txBody>
          <a:bodyPr wrap="square" rtlCol="0">
            <a:spAutoFit/>
          </a:bodyPr>
          <a:lstStyle/>
          <a:p>
            <a:r>
              <a:rPr lang="en-US" altLang="zh-TW" sz="3600" dirty="0">
                <a:effectLst/>
                <a:latin typeface="Calibri" panose="020F0502020204030204" pitchFamily="34" charset="0"/>
                <a:ea typeface="新細明體" panose="02020500000000000000" pitchFamily="18" charset="-120"/>
                <a:cs typeface="Times New Roman" panose="02020603050405020304" pitchFamily="18" charset="0"/>
              </a:rPr>
              <a:t>WP : Winning </a:t>
            </a:r>
            <a:r>
              <a:rPr lang="en-US" altLang="zh-TW" sz="3600" dirty="0">
                <a:latin typeface="Calibri" panose="020F0502020204030204" pitchFamily="34" charset="0"/>
                <a:ea typeface="新細明體" panose="02020500000000000000" pitchFamily="18" charset="-120"/>
                <a:cs typeface="Times New Roman" panose="02020603050405020304" pitchFamily="18" charset="0"/>
              </a:rPr>
              <a:t>P</a:t>
            </a:r>
            <a:r>
              <a:rPr lang="en-US" altLang="zh-TW" sz="3600" dirty="0">
                <a:effectLst/>
                <a:latin typeface="Calibri" panose="020F0502020204030204" pitchFamily="34" charset="0"/>
                <a:ea typeface="新細明體" panose="02020500000000000000" pitchFamily="18" charset="-120"/>
                <a:cs typeface="Times New Roman" panose="02020603050405020304" pitchFamily="18" charset="0"/>
              </a:rPr>
              <a:t>ercentage</a:t>
            </a:r>
          </a:p>
          <a:p>
            <a:r>
              <a:rPr lang="en-US" altLang="zh-TW" sz="3600" dirty="0">
                <a:latin typeface="Calibri" panose="020F0502020204030204" pitchFamily="34" charset="0"/>
                <a:ea typeface="新細明體" panose="02020500000000000000" pitchFamily="18" charset="-120"/>
                <a:cs typeface="Times New Roman" panose="02020603050405020304" pitchFamily="18" charset="0"/>
              </a:rPr>
              <a:t>ADP : Average Difference in Points</a:t>
            </a:r>
            <a:endParaRPr lang="zh-TW" altLang="en-US" sz="3600" dirty="0"/>
          </a:p>
        </p:txBody>
      </p:sp>
    </p:spTree>
    <p:extLst>
      <p:ext uri="{BB962C8B-B14F-4D97-AF65-F5344CB8AC3E}">
        <p14:creationId xmlns:p14="http://schemas.microsoft.com/office/powerpoint/2010/main" val="3630642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id="{269FB8BC-1280-43F9-A120-2F2893AB7839}"/>
              </a:ext>
            </a:extLst>
          </p:cNvPr>
          <p:cNvSpPr>
            <a:spLocks noGrp="1"/>
          </p:cNvSpPr>
          <p:nvPr/>
        </p:nvSpPr>
        <p:spPr>
          <a:xfrm>
            <a:off x="98509" y="163820"/>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dirty="0">
                <a:effectLst/>
                <a:latin typeface="Calibri" panose="020F0502020204030204" pitchFamily="34" charset="0"/>
                <a:ea typeface="新細明體" panose="02020500000000000000" pitchFamily="18" charset="-120"/>
                <a:cs typeface="Times New Roman" panose="02020603050405020304" pitchFamily="18" charset="0"/>
              </a:rPr>
              <a:t>Experiments</a:t>
            </a:r>
            <a:endParaRPr kumimoji="1" lang="zh-TW" altLang="en-US" sz="88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B33AC9AA-8713-4FE4-B0FA-370F21359989}"/>
              </a:ext>
            </a:extLst>
          </p:cNvPr>
          <p:cNvPicPr>
            <a:picLocks noChangeAspect="1"/>
          </p:cNvPicPr>
          <p:nvPr/>
        </p:nvPicPr>
        <p:blipFill>
          <a:blip r:embed="rId2"/>
          <a:stretch>
            <a:fillRect/>
          </a:stretch>
        </p:blipFill>
        <p:spPr>
          <a:xfrm>
            <a:off x="653891" y="1715950"/>
            <a:ext cx="10884218" cy="2699385"/>
          </a:xfrm>
          <a:prstGeom prst="rect">
            <a:avLst/>
          </a:prstGeom>
        </p:spPr>
      </p:pic>
      <p:pic>
        <p:nvPicPr>
          <p:cNvPr id="7" name="圖片 6">
            <a:extLst>
              <a:ext uri="{FF2B5EF4-FFF2-40B4-BE49-F238E27FC236}">
                <a16:creationId xmlns:a16="http://schemas.microsoft.com/office/drawing/2014/main" id="{7F871F27-2591-4D3C-B29E-A87FFD495B4C}"/>
              </a:ext>
            </a:extLst>
          </p:cNvPr>
          <p:cNvPicPr>
            <a:picLocks noChangeAspect="1"/>
          </p:cNvPicPr>
          <p:nvPr/>
        </p:nvPicPr>
        <p:blipFill>
          <a:blip r:embed="rId3"/>
          <a:stretch>
            <a:fillRect/>
          </a:stretch>
        </p:blipFill>
        <p:spPr>
          <a:xfrm>
            <a:off x="3313253" y="4766129"/>
            <a:ext cx="5565493" cy="1740805"/>
          </a:xfrm>
          <a:prstGeom prst="rect">
            <a:avLst/>
          </a:prstGeom>
        </p:spPr>
      </p:pic>
    </p:spTree>
    <p:extLst>
      <p:ext uri="{BB962C8B-B14F-4D97-AF65-F5344CB8AC3E}">
        <p14:creationId xmlns:p14="http://schemas.microsoft.com/office/powerpoint/2010/main" val="3270604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id="{269FB8BC-1280-43F9-A120-2F2893AB7839}"/>
              </a:ext>
            </a:extLst>
          </p:cNvPr>
          <p:cNvSpPr>
            <a:spLocks noGrp="1"/>
          </p:cNvSpPr>
          <p:nvPr/>
        </p:nvSpPr>
        <p:spPr>
          <a:xfrm>
            <a:off x="98509" y="163820"/>
            <a:ext cx="120040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4000" dirty="0">
                <a:effectLst/>
                <a:latin typeface="Calibri" panose="020F0502020204030204" pitchFamily="34" charset="0"/>
                <a:ea typeface="新細明體" panose="02020500000000000000" pitchFamily="18" charset="-120"/>
                <a:cs typeface="Times New Roman" panose="02020603050405020304" pitchFamily="18" charset="0"/>
              </a:rPr>
              <a:t>Experiments</a:t>
            </a:r>
            <a:endParaRPr kumimoji="1" lang="zh-TW" altLang="en-US" sz="88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8B8E5670-344A-4823-AAC1-AEEF55A2CE41}"/>
              </a:ext>
            </a:extLst>
          </p:cNvPr>
          <p:cNvPicPr>
            <a:picLocks noChangeAspect="1"/>
          </p:cNvPicPr>
          <p:nvPr/>
        </p:nvPicPr>
        <p:blipFill>
          <a:blip r:embed="rId2"/>
          <a:stretch>
            <a:fillRect/>
          </a:stretch>
        </p:blipFill>
        <p:spPr>
          <a:xfrm>
            <a:off x="1399176" y="1750321"/>
            <a:ext cx="9393647" cy="3744472"/>
          </a:xfrm>
          <a:prstGeom prst="rect">
            <a:avLst/>
          </a:prstGeom>
        </p:spPr>
      </p:pic>
    </p:spTree>
    <p:extLst>
      <p:ext uri="{BB962C8B-B14F-4D97-AF65-F5344CB8AC3E}">
        <p14:creationId xmlns:p14="http://schemas.microsoft.com/office/powerpoint/2010/main" val="54331745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1604</TotalTime>
  <Words>559</Words>
  <Application>Microsoft Office PowerPoint</Application>
  <PresentationFormat>寬螢幕</PresentationFormat>
  <Paragraphs>44</Paragraphs>
  <Slides>15</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15</vt:i4>
      </vt:variant>
    </vt:vector>
  </HeadingPairs>
  <TitlesOfParts>
    <vt:vector size="22" baseType="lpstr">
      <vt:lpstr>-apple-system</vt:lpstr>
      <vt:lpstr>標楷體</vt:lpstr>
      <vt:lpstr>Arial</vt:lpstr>
      <vt:lpstr>Calibri</vt:lpstr>
      <vt:lpstr>Calibri Light</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映妤 林</dc:creator>
  <cp:lastModifiedBy>映妤 林</cp:lastModifiedBy>
  <cp:revision>19</cp:revision>
  <dcterms:created xsi:type="dcterms:W3CDTF">2021-10-27T06:22:59Z</dcterms:created>
  <dcterms:modified xsi:type="dcterms:W3CDTF">2021-12-22T06:52:21Z</dcterms:modified>
</cp:coreProperties>
</file>