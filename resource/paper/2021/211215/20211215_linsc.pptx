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  <p:sldMasterId id="2147483738" r:id="rId3"/>
    <p:sldMasterId id="2147483712" r:id="rId4"/>
    <p:sldMasterId id="2147483674" r:id="rId5"/>
    <p:sldMasterId id="2147483725" r:id="rId6"/>
  </p:sldMasterIdLst>
  <p:notesMasterIdLst>
    <p:notesMasterId r:id="rId17"/>
  </p:notesMasterIdLst>
  <p:sldIdLst>
    <p:sldId id="256" r:id="rId7"/>
    <p:sldId id="258" r:id="rId8"/>
    <p:sldId id="259" r:id="rId9"/>
    <p:sldId id="261" r:id="rId10"/>
    <p:sldId id="263" r:id="rId11"/>
    <p:sldId id="262" r:id="rId12"/>
    <p:sldId id="266" r:id="rId13"/>
    <p:sldId id="264" r:id="rId14"/>
    <p:sldId id="265" r:id="rId15"/>
    <p:sldId id="260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32" autoAdjust="0"/>
  </p:normalViewPr>
  <p:slideViewPr>
    <p:cSldViewPr>
      <p:cViewPr varScale="1">
        <p:scale>
          <a:sx n="110" d="100"/>
          <a:sy n="110" d="100"/>
        </p:scale>
        <p:origin x="126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12/15/2021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 dirty="0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 dirty="0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12/15/2021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F5B75-ECF6-4BE6-A3DE-C8259B535844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5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12/15/2021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1E863-67F1-4DED-9226-013F8637FBA5}" type="datetimeFigureOut">
              <a:rPr lang="zh-TW" altLang="en-US" smtClean="0"/>
              <a:pPr/>
              <a:t>2021/12/15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51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Computing Longest Previous Factor in linear time and applications</a:t>
            </a: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Maxime Crochemore and Lucian Ilie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Information Processing Letters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Volume 106, Issue 2, 15 April 2008, Pages 75-80</a:t>
            </a: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Dec</a:t>
            </a:r>
            <a:r>
              <a:rPr lang="en-US" sz="2000" spc="-1" dirty="0" smtClean="0">
                <a:solidFill>
                  <a:srgbClr val="000000"/>
                </a:solidFill>
                <a:latin typeface="Times New Roman"/>
              </a:rPr>
              <a:t>.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 15, 2021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We give two optimal linear-time algorithms for computing the Longest Previous Factor (LPF) array corresponding to a string w. For any position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in w, LPF[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] gives the length of the longest factor of w starting at position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that occurs previously in w. Several properties and applications of LPF are investigated. They include computing the Lempel–Ziv factorization of a string and detecting all repetitions (runs) in a string in linear time independently of the integer </a:t>
            </a:r>
            <a:r>
              <a:rPr lang="en-US" sz="2800" spc="-1" smtClean="0">
                <a:solidFill>
                  <a:srgbClr val="000000"/>
                </a:solidFill>
                <a:latin typeface="Times New Roman"/>
              </a:rPr>
              <a:t>alphabet size.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LPF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Longest Previous Factor(substring)</a:t>
            </a:r>
          </a:p>
          <a:p>
            <a:pPr lvl="1"/>
            <a:r>
              <a:rPr lang="en-US" altLang="zh-TW" dirty="0" smtClean="0"/>
              <a:t>string </a:t>
            </a:r>
            <a:r>
              <a:rPr lang="en-US" altLang="zh-TW" dirty="0" err="1" smtClean="0"/>
              <a:t>abbaabbbaaabab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          </a:t>
            </a:r>
            <a:r>
              <a:rPr lang="en-US" altLang="zh-TW" dirty="0" err="1" smtClean="0"/>
              <a:t>abb</a:t>
            </a:r>
            <a:r>
              <a:rPr lang="en-US" altLang="zh-TW" dirty="0" err="1" smtClean="0">
                <a:solidFill>
                  <a:srgbClr val="FF0000"/>
                </a:solidFill>
              </a:rPr>
              <a:t>aab</a:t>
            </a:r>
            <a:r>
              <a:rPr lang="en-US" altLang="zh-TW" dirty="0" err="1" smtClean="0"/>
              <a:t>bba</a:t>
            </a:r>
            <a:r>
              <a:rPr lang="en-US" altLang="zh-TW" dirty="0" smtClean="0"/>
              <a:t> </a:t>
            </a:r>
            <a:r>
              <a:rPr lang="en-US" altLang="zh-TW" dirty="0" err="1" smtClean="0">
                <a:solidFill>
                  <a:srgbClr val="FF0000"/>
                </a:solidFill>
              </a:rPr>
              <a:t>aab</a:t>
            </a:r>
            <a:r>
              <a:rPr lang="en-US" altLang="zh-TW" dirty="0" err="1" smtClean="0"/>
              <a:t>ab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          </a:t>
            </a:r>
            <a:r>
              <a:rPr lang="en-US" altLang="zh-TW" dirty="0" err="1" smtClean="0"/>
              <a:t>ab</a:t>
            </a:r>
            <a:r>
              <a:rPr lang="en-US" altLang="zh-TW" dirty="0" err="1" smtClean="0">
                <a:solidFill>
                  <a:srgbClr val="FF0000"/>
                </a:solidFill>
              </a:rPr>
              <a:t>baa</a:t>
            </a:r>
            <a:r>
              <a:rPr lang="en-US" altLang="zh-TW" dirty="0" err="1" smtClean="0"/>
              <a:t>bb</a:t>
            </a:r>
            <a:r>
              <a:rPr lang="en-US" altLang="zh-TW" dirty="0" smtClean="0"/>
              <a:t> </a:t>
            </a:r>
            <a:r>
              <a:rPr lang="en-US" altLang="zh-TW" dirty="0" err="1" smtClean="0">
                <a:solidFill>
                  <a:srgbClr val="FF0000"/>
                </a:solidFill>
              </a:rPr>
              <a:t>baa</a:t>
            </a:r>
            <a:r>
              <a:rPr lang="en-US" altLang="zh-TW" dirty="0" err="1" smtClean="0"/>
              <a:t>abab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SA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Suffix array</a:t>
            </a:r>
          </a:p>
          <a:p>
            <a:pPr lvl="1"/>
            <a:r>
              <a:rPr lang="en-US" dirty="0" smtClean="0"/>
              <a:t>S = banana$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2000240"/>
            <a:ext cx="162877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702" y="2071678"/>
            <a:ext cx="164782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For any position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the longest factor starting at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that occurs also to the left of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in w is the longest common prefix between the suffix </a:t>
            </a:r>
            <a:r>
              <a:rPr lang="en-US" altLang="zh-TW" dirty="0" err="1" smtClean="0"/>
              <a:t>suf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 and the suffixes starting to the left of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in w.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2" y="2610416"/>
            <a:ext cx="8643966" cy="3747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4071934" y="3143248"/>
            <a:ext cx="28575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320800" y="3143248"/>
            <a:ext cx="28575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000100" y="2928934"/>
            <a:ext cx="28575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000100" y="3357562"/>
            <a:ext cx="28575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00100" y="4214818"/>
            <a:ext cx="285752" cy="21431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000100" y="4820400"/>
            <a:ext cx="285752" cy="21431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071934" y="4608000"/>
            <a:ext cx="285752" cy="21431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5320800" y="4626000"/>
            <a:ext cx="285752" cy="21431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direct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Compute the closest positions in SA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2" y="2324664"/>
            <a:ext cx="8643966" cy="3747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5214942" y="2643182"/>
            <a:ext cx="500066" cy="2071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500958" y="2643182"/>
            <a:ext cx="642942" cy="2928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214942" y="5000636"/>
            <a:ext cx="500066" cy="581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000496" y="4752000"/>
            <a:ext cx="500066" cy="223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abba</a:t>
            </a:r>
            <a:r>
              <a:rPr lang="en-US" altLang="zh-TW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ab</a:t>
            </a:r>
            <a:r>
              <a:rPr lang="en-US" altLang="zh-TW" dirty="0" err="1" smtClean="0"/>
              <a:t>bb</a:t>
            </a:r>
            <a:r>
              <a:rPr lang="en-US" altLang="zh-TW" dirty="0" err="1" smtClean="0">
                <a:solidFill>
                  <a:srgbClr val="FF0000"/>
                </a:solidFill>
              </a:rPr>
              <a:t>aaabab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SA[8]=</a:t>
            </a:r>
            <a:r>
              <a:rPr lang="en-US" altLang="zh-TW" dirty="0" err="1" smtClean="0"/>
              <a:t>aaabab</a:t>
            </a:r>
            <a:r>
              <a:rPr lang="en-US" altLang="zh-TW" dirty="0" smtClean="0"/>
              <a:t>, LPF[8]=2, </a:t>
            </a:r>
            <a:r>
              <a:rPr lang="en-US" altLang="zh-TW" dirty="0" err="1" smtClean="0"/>
              <a:t>PrevOcc</a:t>
            </a:r>
            <a:r>
              <a:rPr lang="en-US" altLang="zh-TW" dirty="0" smtClean="0"/>
              <a:t>[8]=3</a:t>
            </a:r>
          </a:p>
          <a:p>
            <a:r>
              <a:rPr lang="en-US" altLang="zh-TW" dirty="0" smtClean="0"/>
              <a:t>SA[9]=</a:t>
            </a:r>
            <a:r>
              <a:rPr lang="en-US" altLang="zh-TW" dirty="0" err="1" smtClean="0"/>
              <a:t>a</a:t>
            </a:r>
            <a:r>
              <a:rPr lang="en-US" altLang="zh-TW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ab</a:t>
            </a:r>
            <a:r>
              <a:rPr lang="en-US" altLang="zh-TW" dirty="0" err="1" smtClean="0"/>
              <a:t>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5188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LPF[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≧ LPF[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− 1] − 1</a:t>
            </a:r>
          </a:p>
          <a:p>
            <a:r>
              <a:rPr lang="en-US" altLang="zh-TW" dirty="0" smtClean="0"/>
              <a:t>O(n)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2357430"/>
            <a:ext cx="5062549" cy="4292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algorithm using LCP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97" y="2148958"/>
            <a:ext cx="9129703" cy="463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2" y="2143116"/>
            <a:ext cx="8643966" cy="3747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12465</TotalTime>
  <Words>222</Words>
  <Application>Microsoft Office PowerPoint</Application>
  <PresentationFormat>如螢幕大小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10</vt:i4>
      </vt:variant>
    </vt:vector>
  </HeadingPairs>
  <TitlesOfParts>
    <vt:vector size="23" baseType="lpstr">
      <vt:lpstr>新細明體</vt:lpstr>
      <vt:lpstr>Arial</vt:lpstr>
      <vt:lpstr>Calibri</vt:lpstr>
      <vt:lpstr>DejaVu Sans</vt:lpstr>
      <vt:lpstr>Symbol</vt:lpstr>
      <vt:lpstr>Times New Roman</vt:lpstr>
      <vt:lpstr>Wingdings</vt:lpstr>
      <vt:lpstr>Office Theme</vt:lpstr>
      <vt:lpstr>2_Office Theme</vt:lpstr>
      <vt:lpstr>1_自訂設計</vt:lpstr>
      <vt:lpstr>3_Office Theme</vt:lpstr>
      <vt:lpstr>自訂設計</vt:lpstr>
      <vt:lpstr>4_Office Theme</vt:lpstr>
      <vt:lpstr>PowerPoint 簡報</vt:lpstr>
      <vt:lpstr>PowerPoint 簡報</vt:lpstr>
      <vt:lpstr>LPF</vt:lpstr>
      <vt:lpstr>SA</vt:lpstr>
      <vt:lpstr>PowerPoint 簡報</vt:lpstr>
      <vt:lpstr>direct algorithm</vt:lpstr>
      <vt:lpstr>PowerPoint 簡報</vt:lpstr>
      <vt:lpstr>PowerPoint 簡報</vt:lpstr>
      <vt:lpstr>algorithm using LCP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</cp:lastModifiedBy>
  <cp:revision>2507</cp:revision>
  <dcterms:created xsi:type="dcterms:W3CDTF">2020-09-11T11:13:53Z</dcterms:created>
  <dcterms:modified xsi:type="dcterms:W3CDTF">2021-12-15T10:22:19Z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