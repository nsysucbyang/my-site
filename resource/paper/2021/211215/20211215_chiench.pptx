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62" r:id="rId5"/>
    <p:sldId id="263" r:id="rId6"/>
    <p:sldId id="264" r:id="rId7"/>
    <p:sldId id="265" r:id="rId8"/>
    <p:sldId id="261" r:id="rId9"/>
    <p:sldId id="266" r:id="rId10"/>
    <p:sldId id="267" r:id="rId11"/>
    <p:sldId id="268" r:id="rId12"/>
    <p:sldId id="269"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8B410B-4C50-4EF8-8280-02DF7BDE5F5D}"/>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altLang="zh-TW" dirty="0" err="1"/>
              <a:t>abc</a:t>
            </a:r>
            <a:endParaRPr lang="zh-TW" altLang="en-US" dirty="0"/>
          </a:p>
        </p:txBody>
      </p:sp>
      <p:sp>
        <p:nvSpPr>
          <p:cNvPr id="3" name="副標題 2">
            <a:extLst>
              <a:ext uri="{FF2B5EF4-FFF2-40B4-BE49-F238E27FC236}">
                <a16:creationId xmlns:a16="http://schemas.microsoft.com/office/drawing/2014/main" id="{38967476-587A-49AA-B5DA-20463F22D04A}"/>
              </a:ext>
            </a:extLst>
          </p:cNvPr>
          <p:cNvSpPr>
            <a:spLocks noGrp="1"/>
          </p:cNvSpPr>
          <p:nvPr>
            <p:ph type="subTitle" idx="1" hasCustomPrompt="1"/>
          </p:nvPr>
        </p:nvSpPr>
        <p:spPr>
          <a:xfrm>
            <a:off x="1524000" y="3602038"/>
            <a:ext cx="9144000"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dirty="0" err="1"/>
              <a:t>abc</a:t>
            </a:r>
            <a:endParaRPr lang="zh-TW" altLang="en-US" dirty="0"/>
          </a:p>
        </p:txBody>
      </p:sp>
      <p:sp>
        <p:nvSpPr>
          <p:cNvPr id="4" name="日期版面配置區 3">
            <a:extLst>
              <a:ext uri="{FF2B5EF4-FFF2-40B4-BE49-F238E27FC236}">
                <a16:creationId xmlns:a16="http://schemas.microsoft.com/office/drawing/2014/main" id="{50575EC0-3957-4F61-B88C-49F7BBA71136}"/>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0C2F82C8-EAAE-48AC-A816-120ADC20488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25B9998-EB52-411A-8B6B-C87C026D554E}"/>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159638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89B062-9733-4512-A3DB-B082AAB7FB68}"/>
              </a:ext>
            </a:extLst>
          </p:cNvPr>
          <p:cNvSpPr>
            <a:spLocks noGrp="1"/>
          </p:cNvSpPr>
          <p:nvPr>
            <p:ph type="title" hasCustomPrompt="1"/>
          </p:nvPr>
        </p:nvSpPr>
        <p:spPr/>
        <p:txBody>
          <a:bodyPr/>
          <a:lstStyle>
            <a:lvl1pPr>
              <a:defRPr>
                <a:latin typeface="Times New Roman" panose="02020603050405020304" pitchFamily="18" charset="0"/>
                <a:cs typeface="Times New Roman" panose="02020603050405020304" pitchFamily="18" charset="0"/>
              </a:defRPr>
            </a:lvl1pPr>
          </a:lstStyle>
          <a:p>
            <a:r>
              <a:rPr lang="en-US" altLang="zh-TW" dirty="0" err="1"/>
              <a:t>abc</a:t>
            </a:r>
            <a:endParaRPr lang="zh-TW" altLang="en-US" dirty="0"/>
          </a:p>
        </p:txBody>
      </p:sp>
      <p:sp>
        <p:nvSpPr>
          <p:cNvPr id="3" name="內容版面配置區 2">
            <a:extLst>
              <a:ext uri="{FF2B5EF4-FFF2-40B4-BE49-F238E27FC236}">
                <a16:creationId xmlns:a16="http://schemas.microsoft.com/office/drawing/2014/main" id="{ADE56D8F-73BE-487A-A827-93F5406368E9}"/>
              </a:ext>
            </a:extLst>
          </p:cNvPr>
          <p:cNvSpPr>
            <a:spLocks noGrp="1"/>
          </p:cNvSpPr>
          <p:nvPr>
            <p:ph idx="1" hasCustomPrompt="1"/>
          </p:nvPr>
        </p:nvSpPr>
        <p:spPr/>
        <p:txBody>
          <a:bodyPr/>
          <a:lstStyle>
            <a:lvl1pPr>
              <a:defRPr>
                <a:latin typeface="Times New Roman" panose="02020603050405020304" pitchFamily="18" charset="0"/>
                <a:cs typeface="Times New Roman" panose="02020603050405020304" pitchFamily="18" charset="0"/>
              </a:defRPr>
            </a:lvl1pPr>
          </a:lstStyle>
          <a:p>
            <a:pPr lvl="0"/>
            <a:r>
              <a:rPr lang="en-US" altLang="zh-TW" dirty="0" err="1"/>
              <a:t>abc</a:t>
            </a:r>
            <a:endParaRPr lang="zh-TW" altLang="en-US" dirty="0"/>
          </a:p>
        </p:txBody>
      </p:sp>
      <p:sp>
        <p:nvSpPr>
          <p:cNvPr id="4" name="日期版面配置區 3">
            <a:extLst>
              <a:ext uri="{FF2B5EF4-FFF2-40B4-BE49-F238E27FC236}">
                <a16:creationId xmlns:a16="http://schemas.microsoft.com/office/drawing/2014/main" id="{3E8EDED1-E76A-4515-934C-4363AB4EDF06}"/>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CCDC7CB7-5335-4BE3-B056-57BD1595761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56BEF4-0CC6-4F0A-B177-657C3BFC631D}"/>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8538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8687DE-D29E-4255-973B-CD639842CC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29881D5-AFDF-4D94-988F-A265E06F5C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BF1318E-FD8D-4E8D-845A-65C148CEE500}"/>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625DB5D8-9816-4A35-B08B-1AFA25ACCA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B0E0823-6E8E-4CFD-8067-203C21AD7505}"/>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206918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69CD3B-3C26-44F5-AE0F-6DAB009D7DC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9FA60C7-5A81-43E0-948F-A34CBB390644}"/>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95D25C24-9E02-41B6-97FC-25017CAEAD8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AEC34AA-4024-44DD-85CF-6FCF9F368A29}"/>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6" name="頁尾版面配置區 5">
            <a:extLst>
              <a:ext uri="{FF2B5EF4-FFF2-40B4-BE49-F238E27FC236}">
                <a16:creationId xmlns:a16="http://schemas.microsoft.com/office/drawing/2014/main" id="{714F3E38-8B30-461F-A698-E08E6CC34A7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1FE807B-D7A2-4A98-BB31-78D5C92AC73E}"/>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2393917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9BD92C-3E1F-4985-BD0A-7D0845928726}"/>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0ECAB7D-8DC4-47AC-905A-D163C654EC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850D23E-D5FF-469B-AC74-1678FD1B83C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C5108FB-E3C5-4B1F-B09E-7ADDCDB135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C05249A-487A-4CD8-8718-24B62D10962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E9C64B5-B6A2-4FE3-A3FB-10A327969F07}"/>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8" name="頁尾版面配置區 7">
            <a:extLst>
              <a:ext uri="{FF2B5EF4-FFF2-40B4-BE49-F238E27FC236}">
                <a16:creationId xmlns:a16="http://schemas.microsoft.com/office/drawing/2014/main" id="{C82FB67B-EB35-4F33-A7B8-A59F3545014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6F046FA-6C20-44AC-A21B-876D6DA912BC}"/>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183642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97997F-BBDD-4562-811F-D414766465A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8C5C30F-198C-4074-A879-D59C07B32C74}"/>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4" name="頁尾版面配置區 3">
            <a:extLst>
              <a:ext uri="{FF2B5EF4-FFF2-40B4-BE49-F238E27FC236}">
                <a16:creationId xmlns:a16="http://schemas.microsoft.com/office/drawing/2014/main" id="{46B99179-B7C4-40F6-9694-912B30B4DAD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5659D54-E364-4F85-BCB1-959F12FBB764}"/>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97631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A1FBFB7-CACA-49E8-A2E0-3843D62E8959}"/>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3" name="頁尾版面配置區 2">
            <a:extLst>
              <a:ext uri="{FF2B5EF4-FFF2-40B4-BE49-F238E27FC236}">
                <a16:creationId xmlns:a16="http://schemas.microsoft.com/office/drawing/2014/main" id="{3AE18A3C-4246-4CDB-82DF-7832BFAB1829}"/>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E20EF71-43C2-4E8A-A4C2-8BC5A5E246C1}"/>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543147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C49F34-EF8D-4E03-9C03-CD1BDE69FE8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89FE9363-610C-4C3E-95E1-185B7B00B8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CA6F42E-0C2B-4CD3-8A7F-2A4F967FE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CC1DE91-E474-453E-AD9E-B802064D6DB4}"/>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6" name="頁尾版面配置區 5">
            <a:extLst>
              <a:ext uri="{FF2B5EF4-FFF2-40B4-BE49-F238E27FC236}">
                <a16:creationId xmlns:a16="http://schemas.microsoft.com/office/drawing/2014/main" id="{383CBAC1-67D4-4F20-A271-06912AC0F8C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2DEAFD7-825E-40C4-80D2-4DD94AEB5E8A}"/>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28171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6F942E-47CA-4E0E-9D4A-4D8591F932C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29D7568-0222-4300-9033-B5E4EB52B3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E09A352-7DC5-408E-8547-483E84725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4BB4B8F-89FC-43A7-BA8A-F53EF5A4FC32}"/>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6" name="頁尾版面配置區 5">
            <a:extLst>
              <a:ext uri="{FF2B5EF4-FFF2-40B4-BE49-F238E27FC236}">
                <a16:creationId xmlns:a16="http://schemas.microsoft.com/office/drawing/2014/main" id="{BCE71494-C6AD-4885-A1B9-7080F67347F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59B4B62-4A60-4B3D-99C3-DD07396AD795}"/>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94859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6318DE-9DD4-4B1D-A773-E7B524D77D2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0B5D6CB-2567-43F2-B662-0FA1EE3E44D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CD77D00-FE41-4A97-A6D3-0A13D0503052}"/>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AE2CE754-AE67-4893-8366-0615E8F5CF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AC70F4B-CCA6-4C17-AE80-223FAA01107A}"/>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53988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79B0B99-87FF-4E19-B764-1480BA1354F9}"/>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3DDB4BE-A91F-410D-B343-3129D0AD2B7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4D9DCA-251D-460E-908A-7E01E1E6C907}"/>
              </a:ext>
            </a:extLst>
          </p:cNvPr>
          <p:cNvSpPr>
            <a:spLocks noGrp="1"/>
          </p:cNvSpPr>
          <p:nvPr>
            <p:ph type="dt" sz="half" idx="10"/>
          </p:nvPr>
        </p:nvSpPr>
        <p:spPr/>
        <p:txBody>
          <a:bodyPr/>
          <a:lstStyle/>
          <a:p>
            <a:fld id="{F6C23B8C-04F0-40DD-AAFD-C799C3A75D33}"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B4ECFD4B-35D4-4A5E-93B5-385ADDE19FC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8EE310-7AEC-4980-883F-CE19C0DACCD6}"/>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92917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7CE74B4-E067-4B52-AAB0-28671B0D1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BA4B5DA-4D6D-41A0-9DA0-B5249FCAC6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BF7988-D185-4269-B875-9B0C6B3184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23B8C-04F0-40DD-AAFD-C799C3A75D33}"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B17BF83F-4DDA-4E5A-846B-2BE620207F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3EB1B69-3FA4-4081-B76B-8F17C7D378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8313179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486561" y="672353"/>
            <a:ext cx="11249637" cy="2837610"/>
          </a:xfrm>
        </p:spPr>
        <p:txBody>
          <a:bodyPr anchor="t">
            <a:noAutofit/>
          </a:bodyPr>
          <a:lstStyle/>
          <a:p>
            <a:br>
              <a:rPr lang="en-US" altLang="zh-TW" sz="4400" b="1" i="0" dirty="0">
                <a:solidFill>
                  <a:srgbClr val="000000"/>
                </a:solidFill>
                <a:effectLst/>
                <a:latin typeface="Times New Roman" panose="02020603050405020304" pitchFamily="18" charset="0"/>
              </a:rPr>
            </a:br>
            <a:r>
              <a:rPr lang="en-US" altLang="zh-TW" sz="4400" i="0" dirty="0">
                <a:solidFill>
                  <a:srgbClr val="000000"/>
                </a:solidFill>
                <a:effectLst/>
                <a:latin typeface="Times New Roman" panose="02020603050405020304" pitchFamily="18" charset="0"/>
              </a:rPr>
              <a:t>Developed Algorithm for Making Up Convex Hull</a:t>
            </a:r>
            <a:r>
              <a:rPr lang="zh-TW" altLang="en-US" sz="4400" i="0" dirty="0">
                <a:solidFill>
                  <a:srgbClr val="000000"/>
                </a:solidFill>
                <a:effectLst/>
                <a:latin typeface="Times New Roman" panose="02020603050405020304" pitchFamily="18" charset="0"/>
              </a:rPr>
              <a:t> </a:t>
            </a:r>
            <a:r>
              <a:rPr lang="en-US" altLang="zh-TW" sz="4400" i="0" dirty="0">
                <a:solidFill>
                  <a:srgbClr val="000000"/>
                </a:solidFill>
                <a:effectLst/>
                <a:latin typeface="Times New Roman" panose="02020603050405020304" pitchFamily="18" charset="0"/>
              </a:rPr>
              <a:t>Based on Binary Tree</a:t>
            </a:r>
            <a:br>
              <a:rPr lang="af-ZA" altLang="zh-TW" sz="4400" b="0" i="0" dirty="0">
                <a:solidFill>
                  <a:srgbClr val="000000"/>
                </a:solidFill>
                <a:effectLst/>
                <a:latin typeface="Times New Roman" panose="02020603050405020304" pitchFamily="18" charset="0"/>
              </a:rPr>
            </a:br>
            <a:r>
              <a:rPr lang="af-ZA" altLang="zh-TW" sz="4400" b="0" i="0" dirty="0">
                <a:solidFill>
                  <a:srgbClr val="000000"/>
                </a:solidFill>
                <a:effectLst/>
                <a:latin typeface="Times New Roman" panose="02020603050405020304" pitchFamily="18" charset="0"/>
              </a:rPr>
              <a:t>​</a:t>
            </a:r>
            <a:br>
              <a:rPr lang="af-ZA" altLang="zh-TW" sz="4400" b="0" i="0" dirty="0">
                <a:solidFill>
                  <a:srgbClr val="000000"/>
                </a:solidFill>
                <a:effectLst/>
                <a:latin typeface="Times New Roman" panose="02020603050405020304" pitchFamily="18" charset="0"/>
              </a:rPr>
            </a:br>
            <a:r>
              <a:rPr lang="af-ZA" altLang="zh-TW" sz="2800" i="0" dirty="0">
                <a:solidFill>
                  <a:srgbClr val="000000"/>
                </a:solidFill>
                <a:effectLst/>
                <a:latin typeface="Times New Roman" panose="02020603050405020304" pitchFamily="18" charset="0"/>
                <a:cs typeface="Times New Roman" panose="02020603050405020304" pitchFamily="18" charset="0"/>
              </a:rPr>
              <a:t>Naing Linn Aung</a:t>
            </a:r>
            <a:r>
              <a:rPr lang="en-US" altLang="zh-TW" sz="2800" dirty="0">
                <a:latin typeface="Times New Roman" panose="02020603050405020304" pitchFamily="18" charset="0"/>
                <a:cs typeface="Times New Roman" panose="02020603050405020304" pitchFamily="18" charset="0"/>
              </a:rPr>
              <a:t>, Evgeni M. </a:t>
            </a:r>
            <a:r>
              <a:rPr lang="en-US" altLang="zh-TW" sz="2800" dirty="0" err="1">
                <a:latin typeface="Times New Roman" panose="02020603050405020304" pitchFamily="18" charset="0"/>
                <a:cs typeface="Times New Roman" panose="02020603050405020304" pitchFamily="18" charset="0"/>
              </a:rPr>
              <a:t>Portnov</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and</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Kirill O. </a:t>
            </a:r>
            <a:r>
              <a:rPr lang="en-US" altLang="zh-TW" sz="2800" dirty="0" err="1">
                <a:latin typeface="Times New Roman" panose="02020603050405020304" pitchFamily="18" charset="0"/>
                <a:cs typeface="Times New Roman" panose="02020603050405020304" pitchFamily="18" charset="0"/>
              </a:rPr>
              <a:t>Epishin</a:t>
            </a:r>
            <a:br>
              <a:rPr lang="en-US" altLang="zh-TW" sz="4400" b="0" i="0" dirty="0">
                <a:solidFill>
                  <a:srgbClr val="505050"/>
                </a:solidFill>
                <a:effectLst/>
                <a:latin typeface="Times New Roman" panose="02020603050405020304" pitchFamily="18" charset="0"/>
                <a:cs typeface="Times New Roman" panose="02020603050405020304" pitchFamily="18" charset="0"/>
              </a:rPr>
            </a:br>
            <a:br>
              <a:rPr lang="en-US" altLang="zh-TW" sz="3200" b="0" i="0" dirty="0">
                <a:solidFill>
                  <a:srgbClr val="505050"/>
                </a:solidFill>
                <a:effectLst/>
                <a:latin typeface="Times New Roman" panose="02020603050405020304" pitchFamily="18" charset="0"/>
                <a:cs typeface="Times New Roman" panose="02020603050405020304" pitchFamily="18" charset="0"/>
              </a:rPr>
            </a:br>
            <a:endParaRPr lang="zh-TW" altLang="en-US" sz="32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0A29652B-FADC-4E71-AC46-521DE2EFB657}"/>
              </a:ext>
            </a:extLst>
          </p:cNvPr>
          <p:cNvSpPr>
            <a:spLocks noGrp="1"/>
          </p:cNvSpPr>
          <p:nvPr>
            <p:ph type="subTitle" idx="1"/>
          </p:nvPr>
        </p:nvSpPr>
        <p:spPr>
          <a:xfrm>
            <a:off x="1539379" y="3775787"/>
            <a:ext cx="9144000" cy="1655762"/>
          </a:xfrm>
        </p:spPr>
        <p:txBody>
          <a:bodyPr>
            <a:normAutofit/>
          </a:bodyPr>
          <a:lstStyle/>
          <a:p>
            <a:pPr algn="ctr"/>
            <a:r>
              <a:rPr lang="zh-TW" altLang="zh-TW" sz="2800" i="0" dirty="0">
                <a:effectLst/>
                <a:ea typeface="Times New Roman" panose="02020603050405020304" pitchFamily="18" charset="0"/>
              </a:rPr>
              <a:t> </a:t>
            </a:r>
            <a:r>
              <a:rPr lang="en-US" altLang="zh-TW" sz="2800" i="0" dirty="0">
                <a:effectLst/>
                <a:ea typeface="Times New Roman" panose="02020603050405020304" pitchFamily="18" charset="0"/>
              </a:rPr>
              <a:t>2020 International Conference on Industrial Engineering, Applications and Manufacturing (ICIEAM) </a:t>
            </a:r>
            <a:endParaRPr lang="zh-TW" altLang="en-US" sz="2800" dirty="0"/>
          </a:p>
        </p:txBody>
      </p:sp>
      <p:sp>
        <p:nvSpPr>
          <p:cNvPr id="9" name="文字方塊 8">
            <a:extLst>
              <a:ext uri="{FF2B5EF4-FFF2-40B4-BE49-F238E27FC236}">
                <a16:creationId xmlns:a16="http://schemas.microsoft.com/office/drawing/2014/main" id="{B9014221-E47C-4C31-898A-DB1330B1B844}"/>
              </a:ext>
            </a:extLst>
          </p:cNvPr>
          <p:cNvSpPr txBox="1"/>
          <p:nvPr/>
        </p:nvSpPr>
        <p:spPr>
          <a:xfrm>
            <a:off x="8635079" y="5875096"/>
            <a:ext cx="335257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P</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resenter:</a:t>
            </a: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Chih-Hsuan Chien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Date:</a:t>
            </a:r>
            <a:r>
              <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lang="en-US" altLang="zh-TW" dirty="0">
                <a:solidFill>
                  <a:prstClr val="black"/>
                </a:solidFill>
                <a:latin typeface="Times New Roman" panose="02020603050405020304" pitchFamily="18" charset="0"/>
                <a:cs typeface="Times New Roman" panose="02020603050405020304" pitchFamily="18" charset="0"/>
              </a:rPr>
              <a:t>Dec</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8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15</a:t>
            </a:r>
            <a:r>
              <a:rPr kumimoji="0" lang="LID4096" altLang="zh-TW" sz="18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2021</a:t>
            </a:r>
          </a:p>
        </p:txBody>
      </p:sp>
    </p:spTree>
    <p:extLst>
      <p:ext uri="{BB962C8B-B14F-4D97-AF65-F5344CB8AC3E}">
        <p14:creationId xmlns:p14="http://schemas.microsoft.com/office/powerpoint/2010/main" val="1494363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228878-498C-4828-B267-6DEE6A68BE3D}"/>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D2D5EB6D-E8E8-434B-AAEB-CBEE228AD481}"/>
              </a:ext>
            </a:extLst>
          </p:cNvPr>
          <p:cNvSpPr>
            <a:spLocks noGrp="1"/>
          </p:cNvSpPr>
          <p:nvPr>
            <p:ph idx="1"/>
          </p:nvPr>
        </p:nvSpPr>
        <p:spPr/>
        <p:txBody>
          <a:bodyPr>
            <a:noAutofit/>
          </a:bodyPr>
          <a:lstStyle/>
          <a:p>
            <a:pPr marL="0" indent="0">
              <a:buNone/>
            </a:pPr>
            <a:r>
              <a:rPr lang="en-US" altLang="zh-TW" dirty="0"/>
              <a:t>In computer vision, convex hulls are used for pattern recognition and other image analysis using special points. This paper suggests the developed algorithm for making up a convex hull based on a binary tree. The main idea of the algorithm, proposed in this paper, is very similar to the underlying principle incremental algorithm. The new algorithm quite quickly exceeds the running time of the Graham algorithm with a large number of points in the convex hull. This is due to the best complexity of the algorithm. The Graham's algorithm has O(</a:t>
            </a:r>
            <a:r>
              <a:rPr lang="en-US" altLang="zh-TW" dirty="0" err="1"/>
              <a:t>nlogn</a:t>
            </a:r>
            <a:r>
              <a:rPr lang="en-US" altLang="zh-TW" dirty="0"/>
              <a:t>) complexity when the new algorithm has O(</a:t>
            </a:r>
            <a:r>
              <a:rPr lang="en-US" altLang="zh-TW" dirty="0" err="1"/>
              <a:t>nlogh</a:t>
            </a:r>
            <a:r>
              <a:rPr lang="en-US" altLang="zh-TW" dirty="0"/>
              <a:t>) average complexity. </a:t>
            </a:r>
            <a:endParaRPr lang="zh-TW" altLang="en-US" dirty="0"/>
          </a:p>
        </p:txBody>
      </p:sp>
    </p:spTree>
    <p:extLst>
      <p:ext uri="{BB962C8B-B14F-4D97-AF65-F5344CB8AC3E}">
        <p14:creationId xmlns:p14="http://schemas.microsoft.com/office/powerpoint/2010/main" val="498962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B3B7A6-68E4-4E8B-BA9C-941CBE17371B}"/>
              </a:ext>
            </a:extLst>
          </p:cNvPr>
          <p:cNvSpPr>
            <a:spLocks noGrp="1"/>
          </p:cNvSpPr>
          <p:nvPr>
            <p:ph type="title"/>
          </p:nvPr>
        </p:nvSpPr>
        <p:spPr/>
        <p:txBody>
          <a:bodyPr/>
          <a:lstStyle/>
          <a:p>
            <a:r>
              <a:rPr lang="en-US" altLang="zh-TW" dirty="0"/>
              <a:t>Function</a:t>
            </a:r>
            <a:endParaRPr lang="zh-TW" altLang="en-US" dirty="0"/>
          </a:p>
        </p:txBody>
      </p:sp>
      <p:sp>
        <p:nvSpPr>
          <p:cNvPr id="11" name="內容版面配置區 10">
            <a:extLst>
              <a:ext uri="{FF2B5EF4-FFF2-40B4-BE49-F238E27FC236}">
                <a16:creationId xmlns:a16="http://schemas.microsoft.com/office/drawing/2014/main" id="{833D795B-1747-466A-8199-DFDA43334419}"/>
              </a:ext>
            </a:extLst>
          </p:cNvPr>
          <p:cNvSpPr txBox="1">
            <a:spLocks noGrp="1"/>
          </p:cNvSpPr>
          <p:nvPr>
            <p:ph idx="1"/>
          </p:nvPr>
        </p:nvSpPr>
        <p:spPr>
          <a:xfrm>
            <a:off x="838200" y="1825625"/>
            <a:ext cx="10515600" cy="2544286"/>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err="1"/>
              <a:t>ccw</a:t>
            </a:r>
            <a:r>
              <a:rPr lang="en-US" altLang="zh-TW" sz="2800" dirty="0"/>
              <a:t>(A,B,C) = det(A,B,C) &gt; 0</a:t>
            </a:r>
          </a:p>
          <a:p>
            <a:pPr marL="285750" indent="-285750">
              <a:buFont typeface="Arial" panose="020B0604020202020204" pitchFamily="34" charset="0"/>
              <a:buChar char="•"/>
            </a:pPr>
            <a:endParaRPr lang="en-US" altLang="zh-TW" sz="2800" dirty="0"/>
          </a:p>
          <a:p>
            <a:pPr marL="285750" indent="-285750">
              <a:buFont typeface="Arial" panose="020B0604020202020204" pitchFamily="34" charset="0"/>
              <a:buChar char="•"/>
            </a:pPr>
            <a:r>
              <a:rPr lang="en-US" altLang="zh-TW" dirty="0"/>
              <a:t>Det(A,B,C) = </a:t>
            </a:r>
            <a:endParaRPr lang="en-US" altLang="zh-TW" sz="2800" dirty="0"/>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endParaRPr lang="en-US" altLang="zh-TW" dirty="0"/>
          </a:p>
        </p:txBody>
      </p:sp>
      <p:pic>
        <p:nvPicPr>
          <p:cNvPr id="13" name="圖片 12" descr="一張含有 文字 的圖片&#10;&#10;自動產生的描述">
            <a:extLst>
              <a:ext uri="{FF2B5EF4-FFF2-40B4-BE49-F238E27FC236}">
                <a16:creationId xmlns:a16="http://schemas.microsoft.com/office/drawing/2014/main" id="{A2162906-FE9A-41A1-AC54-FB39BA92CB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2325" y="2418693"/>
            <a:ext cx="2173672" cy="1627577"/>
          </a:xfrm>
          <a:prstGeom prst="rect">
            <a:avLst/>
          </a:prstGeom>
        </p:spPr>
      </p:pic>
    </p:spTree>
    <p:extLst>
      <p:ext uri="{BB962C8B-B14F-4D97-AF65-F5344CB8AC3E}">
        <p14:creationId xmlns:p14="http://schemas.microsoft.com/office/powerpoint/2010/main" val="2226306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標題 15">
            <a:extLst>
              <a:ext uri="{FF2B5EF4-FFF2-40B4-BE49-F238E27FC236}">
                <a16:creationId xmlns:a16="http://schemas.microsoft.com/office/drawing/2014/main" id="{05C7BBA6-DED3-41BE-9232-D6B61E917CA2}"/>
              </a:ext>
            </a:extLst>
          </p:cNvPr>
          <p:cNvSpPr>
            <a:spLocks noGrp="1"/>
          </p:cNvSpPr>
          <p:nvPr>
            <p:ph type="title"/>
          </p:nvPr>
        </p:nvSpPr>
        <p:spPr/>
        <p:txBody>
          <a:bodyPr/>
          <a:lstStyle/>
          <a:p>
            <a:r>
              <a:rPr lang="en-US" altLang="zh-TW" dirty="0"/>
              <a:t>Steps </a:t>
            </a:r>
            <a:endParaRPr lang="zh-TW" altLang="en-US" dirty="0"/>
          </a:p>
        </p:txBody>
      </p:sp>
      <p:pic>
        <p:nvPicPr>
          <p:cNvPr id="13" name="內容版面配置區 12">
            <a:extLst>
              <a:ext uri="{FF2B5EF4-FFF2-40B4-BE49-F238E27FC236}">
                <a16:creationId xmlns:a16="http://schemas.microsoft.com/office/drawing/2014/main" id="{D8FD1E05-E670-48D9-BEB8-F3DBA921D3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47057" y="2677211"/>
            <a:ext cx="5822185" cy="2476715"/>
          </a:xfrm>
          <a:prstGeom prst="rect">
            <a:avLst/>
          </a:prstGeom>
        </p:spPr>
      </p:pic>
      <p:sp>
        <p:nvSpPr>
          <p:cNvPr id="17" name="文字方塊 16">
            <a:extLst>
              <a:ext uri="{FF2B5EF4-FFF2-40B4-BE49-F238E27FC236}">
                <a16:creationId xmlns:a16="http://schemas.microsoft.com/office/drawing/2014/main" id="{D53B061B-D4E7-48A3-AD9F-ED3A708D3E50}"/>
              </a:ext>
            </a:extLst>
          </p:cNvPr>
          <p:cNvSpPr txBox="1"/>
          <p:nvPr/>
        </p:nvSpPr>
        <p:spPr>
          <a:xfrm>
            <a:off x="861367" y="1892673"/>
            <a:ext cx="4285690" cy="2677656"/>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a:t>A:the left extreme point.</a:t>
            </a:r>
          </a:p>
          <a:p>
            <a:pPr marL="285750" indent="-285750">
              <a:buFont typeface="Arial" panose="020B0604020202020204" pitchFamily="34" charset="0"/>
              <a:buChar char="•"/>
            </a:pPr>
            <a:r>
              <a:rPr lang="en-US" altLang="zh-TW" sz="2800" dirty="0"/>
              <a:t>B:right extreme point.</a:t>
            </a:r>
          </a:p>
          <a:p>
            <a:pPr marL="285750" indent="-285750">
              <a:buFont typeface="Arial" panose="020B0604020202020204" pitchFamily="34" charset="0"/>
              <a:buChar char="•"/>
            </a:pPr>
            <a:r>
              <a:rPr lang="en-US" altLang="zh-TW" sz="2800" dirty="0"/>
              <a:t>C:which is farthest from line A, B.</a:t>
            </a:r>
          </a:p>
          <a:p>
            <a:pPr marL="285750" indent="-285750">
              <a:buFont typeface="Arial" panose="020B0604020202020204" pitchFamily="34" charset="0"/>
              <a:buChar char="•"/>
            </a:pPr>
            <a:r>
              <a:rPr lang="en-US" altLang="zh-TW" sz="2800" dirty="0"/>
              <a:t>D:(A+B+C)/3</a:t>
            </a:r>
          </a:p>
          <a:p>
            <a:pPr marL="285750" indent="-285750">
              <a:buFont typeface="Arial" panose="020B0604020202020204" pitchFamily="34" charset="0"/>
              <a:buChar char="•"/>
            </a:pPr>
            <a:endParaRPr lang="zh-TW" altLang="en-US" sz="2800" dirty="0"/>
          </a:p>
        </p:txBody>
      </p:sp>
    </p:spTree>
    <p:extLst>
      <p:ext uri="{BB962C8B-B14F-4D97-AF65-F5344CB8AC3E}">
        <p14:creationId xmlns:p14="http://schemas.microsoft.com/office/powerpoint/2010/main" val="4066351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C42701-A6E8-446E-8B30-1595A121C5F0}"/>
              </a:ext>
            </a:extLst>
          </p:cNvPr>
          <p:cNvSpPr>
            <a:spLocks noGrp="1"/>
          </p:cNvSpPr>
          <p:nvPr>
            <p:ph type="title"/>
          </p:nvPr>
        </p:nvSpPr>
        <p:spPr/>
        <p:txBody>
          <a:bodyPr/>
          <a:lstStyle/>
          <a:p>
            <a:r>
              <a:rPr lang="en-US" altLang="zh-TW" dirty="0"/>
              <a:t>Steps</a:t>
            </a:r>
            <a:endParaRPr lang="zh-TW" altLang="en-US" dirty="0"/>
          </a:p>
        </p:txBody>
      </p:sp>
      <p:sp>
        <p:nvSpPr>
          <p:cNvPr id="3" name="內容版面配置區 2">
            <a:extLst>
              <a:ext uri="{FF2B5EF4-FFF2-40B4-BE49-F238E27FC236}">
                <a16:creationId xmlns:a16="http://schemas.microsoft.com/office/drawing/2014/main" id="{64C1E97C-D912-417E-95D9-7D8ED78B797E}"/>
              </a:ext>
            </a:extLst>
          </p:cNvPr>
          <p:cNvSpPr>
            <a:spLocks noGrp="1"/>
          </p:cNvSpPr>
          <p:nvPr>
            <p:ph idx="1"/>
          </p:nvPr>
        </p:nvSpPr>
        <p:spPr>
          <a:xfrm>
            <a:off x="838200" y="1825625"/>
            <a:ext cx="4567518" cy="4351338"/>
          </a:xfrm>
        </p:spPr>
        <p:txBody>
          <a:bodyPr/>
          <a:lstStyle/>
          <a:p>
            <a:r>
              <a:rPr lang="en-US" altLang="zh-TW" dirty="0"/>
              <a:t>built a search tree that contains our convex hull sorted by an angle relative to the center D.</a:t>
            </a:r>
          </a:p>
          <a:p>
            <a:endParaRPr lang="en-US" altLang="zh-TW" dirty="0"/>
          </a:p>
          <a:p>
            <a:r>
              <a:rPr lang="en-US" altLang="zh-TW" dirty="0"/>
              <a:t>L:is the left of A.</a:t>
            </a:r>
          </a:p>
          <a:p>
            <a:r>
              <a:rPr lang="en-US" altLang="zh-TW" dirty="0"/>
              <a:t>R:is the right of A.</a:t>
            </a:r>
          </a:p>
        </p:txBody>
      </p:sp>
      <p:pic>
        <p:nvPicPr>
          <p:cNvPr id="5" name="圖片 4">
            <a:extLst>
              <a:ext uri="{FF2B5EF4-FFF2-40B4-BE49-F238E27FC236}">
                <a16:creationId xmlns:a16="http://schemas.microsoft.com/office/drawing/2014/main" id="{873DCE3B-2925-4920-B627-E85E3BD17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8025" y="1747838"/>
            <a:ext cx="3843416" cy="3447209"/>
          </a:xfrm>
          <a:prstGeom prst="rect">
            <a:avLst/>
          </a:prstGeom>
        </p:spPr>
      </p:pic>
    </p:spTree>
    <p:extLst>
      <p:ext uri="{BB962C8B-B14F-4D97-AF65-F5344CB8AC3E}">
        <p14:creationId xmlns:p14="http://schemas.microsoft.com/office/powerpoint/2010/main" val="1317515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EBD88F-9586-4BC7-A2C2-14E84D432008}"/>
              </a:ext>
            </a:extLst>
          </p:cNvPr>
          <p:cNvSpPr>
            <a:spLocks noGrp="1"/>
          </p:cNvSpPr>
          <p:nvPr>
            <p:ph type="title"/>
          </p:nvPr>
        </p:nvSpPr>
        <p:spPr/>
        <p:txBody>
          <a:bodyPr/>
          <a:lstStyle/>
          <a:p>
            <a:r>
              <a:rPr lang="en-US" altLang="zh-TW" dirty="0"/>
              <a:t>Steps</a:t>
            </a:r>
            <a:endParaRPr lang="zh-TW" altLang="en-US" dirty="0"/>
          </a:p>
        </p:txBody>
      </p:sp>
      <p:sp>
        <p:nvSpPr>
          <p:cNvPr id="3" name="內容版面配置區 2">
            <a:extLst>
              <a:ext uri="{FF2B5EF4-FFF2-40B4-BE49-F238E27FC236}">
                <a16:creationId xmlns:a16="http://schemas.microsoft.com/office/drawing/2014/main" id="{F57FEFE1-EC9C-429E-BE70-EEAD61AE2109}"/>
              </a:ext>
            </a:extLst>
          </p:cNvPr>
          <p:cNvSpPr>
            <a:spLocks noGrp="1"/>
          </p:cNvSpPr>
          <p:nvPr>
            <p:ph idx="1"/>
          </p:nvPr>
        </p:nvSpPr>
        <p:spPr>
          <a:xfrm>
            <a:off x="838200" y="1825625"/>
            <a:ext cx="4388224" cy="4243481"/>
          </a:xfrm>
        </p:spPr>
        <p:txBody>
          <a:bodyPr/>
          <a:lstStyle/>
          <a:p>
            <a:r>
              <a:rPr lang="en-US" altLang="zh-TW" dirty="0"/>
              <a:t>If </a:t>
            </a:r>
            <a:r>
              <a:rPr lang="en-US" altLang="zh-TW" dirty="0" err="1"/>
              <a:t>ccw</a:t>
            </a:r>
            <a:r>
              <a:rPr lang="en-US" altLang="zh-TW" dirty="0"/>
              <a:t> (L, R, A),then add A to convex hull. </a:t>
            </a:r>
            <a:endParaRPr lang="zh-TW" altLang="en-US" dirty="0"/>
          </a:p>
        </p:txBody>
      </p:sp>
      <p:pic>
        <p:nvPicPr>
          <p:cNvPr id="6" name="圖片 5" descr="一張含有 時鐘, 空氣 的圖片&#10;&#10;自動產生的描述">
            <a:extLst>
              <a:ext uri="{FF2B5EF4-FFF2-40B4-BE49-F238E27FC236}">
                <a16:creationId xmlns:a16="http://schemas.microsoft.com/office/drawing/2014/main" id="{365EB271-5A19-4C1D-9527-1CA1C3295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8300" y="2770680"/>
            <a:ext cx="6814142" cy="2461228"/>
          </a:xfrm>
          <a:prstGeom prst="rect">
            <a:avLst/>
          </a:prstGeom>
        </p:spPr>
      </p:pic>
    </p:spTree>
    <p:extLst>
      <p:ext uri="{BB962C8B-B14F-4D97-AF65-F5344CB8AC3E}">
        <p14:creationId xmlns:p14="http://schemas.microsoft.com/office/powerpoint/2010/main" val="2367470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1D9CC1-8F1B-4AE6-B045-0630DB4179F2}"/>
              </a:ext>
            </a:extLst>
          </p:cNvPr>
          <p:cNvSpPr>
            <a:spLocks noGrp="1"/>
          </p:cNvSpPr>
          <p:nvPr>
            <p:ph type="title"/>
          </p:nvPr>
        </p:nvSpPr>
        <p:spPr/>
        <p:txBody>
          <a:bodyPr/>
          <a:lstStyle/>
          <a:p>
            <a:r>
              <a:rPr lang="en-US" altLang="zh-TW" dirty="0"/>
              <a:t>Steps</a:t>
            </a:r>
            <a:endParaRPr lang="zh-TW" altLang="en-US" dirty="0"/>
          </a:p>
        </p:txBody>
      </p:sp>
      <p:pic>
        <p:nvPicPr>
          <p:cNvPr id="5" name="內容版面配置區 4">
            <a:extLst>
              <a:ext uri="{FF2B5EF4-FFF2-40B4-BE49-F238E27FC236}">
                <a16:creationId xmlns:a16="http://schemas.microsoft.com/office/drawing/2014/main" id="{3C813765-DC57-4063-B4AE-952C07788B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21442" y="2081784"/>
            <a:ext cx="5408608" cy="2286560"/>
          </a:xfrm>
        </p:spPr>
      </p:pic>
      <p:sp>
        <p:nvSpPr>
          <p:cNvPr id="6" name="文字方塊 5">
            <a:extLst>
              <a:ext uri="{FF2B5EF4-FFF2-40B4-BE49-F238E27FC236}">
                <a16:creationId xmlns:a16="http://schemas.microsoft.com/office/drawing/2014/main" id="{CCD34DF8-E332-4B08-9345-853F9505B87A}"/>
              </a:ext>
            </a:extLst>
          </p:cNvPr>
          <p:cNvSpPr txBox="1"/>
          <p:nvPr/>
        </p:nvSpPr>
        <p:spPr>
          <a:xfrm>
            <a:off x="419100" y="1690688"/>
            <a:ext cx="6002342" cy="2677656"/>
          </a:xfrm>
          <a:prstGeom prst="rect">
            <a:avLst/>
          </a:prstGeom>
          <a:noFill/>
        </p:spPr>
        <p:txBody>
          <a:bodyPr wrap="square" rtlCol="0">
            <a:spAutoFit/>
          </a:bodyPr>
          <a:lstStyle/>
          <a:p>
            <a:r>
              <a:rPr lang="en-US" altLang="zh-TW" sz="2400" dirty="0"/>
              <a:t>1. If </a:t>
            </a:r>
            <a:r>
              <a:rPr lang="en-US" altLang="zh-TW" sz="2400" dirty="0" err="1"/>
              <a:t>ccw</a:t>
            </a:r>
            <a:r>
              <a:rPr lang="en-US" altLang="zh-TW" sz="2400" dirty="0"/>
              <a:t> (</a:t>
            </a:r>
            <a:r>
              <a:rPr lang="en-US" altLang="zh-TW" sz="2400" dirty="0" err="1"/>
              <a:t>afternext,next</a:t>
            </a:r>
            <a:r>
              <a:rPr lang="en-US" altLang="zh-TW" sz="2400" dirty="0"/>
              <a:t>, point) then B should not be deleted and we must stop deleting points in this direction .</a:t>
            </a:r>
          </a:p>
          <a:p>
            <a:r>
              <a:rPr lang="en-US" altLang="zh-TW" sz="2400" dirty="0"/>
              <a:t>2. Otherwise, point B must be removed, since it is inside the new convex hull.</a:t>
            </a:r>
          </a:p>
          <a:p>
            <a:r>
              <a:rPr lang="en-US" altLang="zh-TW" sz="2400" dirty="0"/>
              <a:t>3. Then we need to consider point C as the next candidate for removal and go to step 1. </a:t>
            </a:r>
            <a:endParaRPr lang="zh-TW" altLang="en-US" sz="2400" dirty="0"/>
          </a:p>
        </p:txBody>
      </p:sp>
    </p:spTree>
    <p:extLst>
      <p:ext uri="{BB962C8B-B14F-4D97-AF65-F5344CB8AC3E}">
        <p14:creationId xmlns:p14="http://schemas.microsoft.com/office/powerpoint/2010/main" val="1443352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52C49B-114D-4D4E-AB60-91D706353658}"/>
              </a:ext>
            </a:extLst>
          </p:cNvPr>
          <p:cNvSpPr>
            <a:spLocks noGrp="1"/>
          </p:cNvSpPr>
          <p:nvPr>
            <p:ph type="title"/>
          </p:nvPr>
        </p:nvSpPr>
        <p:spPr/>
        <p:txBody>
          <a:bodyPr/>
          <a:lstStyle/>
          <a:p>
            <a:endParaRPr lang="zh-TW" altLang="en-US" dirty="0"/>
          </a:p>
        </p:txBody>
      </p:sp>
      <p:pic>
        <p:nvPicPr>
          <p:cNvPr id="5" name="內容版面配置區 4">
            <a:extLst>
              <a:ext uri="{FF2B5EF4-FFF2-40B4-BE49-F238E27FC236}">
                <a16:creationId xmlns:a16="http://schemas.microsoft.com/office/drawing/2014/main" id="{7DCD6849-8D70-4541-A51C-1C8D0C67D8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0535" y="258908"/>
            <a:ext cx="5464547" cy="6340183"/>
          </a:xfrm>
        </p:spPr>
      </p:pic>
    </p:spTree>
    <p:extLst>
      <p:ext uri="{BB962C8B-B14F-4D97-AF65-F5344CB8AC3E}">
        <p14:creationId xmlns:p14="http://schemas.microsoft.com/office/powerpoint/2010/main" val="1999972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65AEFE-5A04-42D1-B816-07F98DEB7445}"/>
              </a:ext>
            </a:extLst>
          </p:cNvPr>
          <p:cNvSpPr>
            <a:spLocks noGrp="1"/>
          </p:cNvSpPr>
          <p:nvPr>
            <p:ph type="title"/>
          </p:nvPr>
        </p:nvSpPr>
        <p:spPr/>
        <p:txBody>
          <a:bodyPr/>
          <a:lstStyle/>
          <a:p>
            <a:r>
              <a:rPr lang="en-US" altLang="zh-TW" dirty="0" err="1"/>
              <a:t>BSTPredicate</a:t>
            </a:r>
            <a:endParaRPr lang="zh-TW" altLang="en-US" dirty="0"/>
          </a:p>
        </p:txBody>
      </p:sp>
      <p:pic>
        <p:nvPicPr>
          <p:cNvPr id="9" name="內容版面配置區 8" descr="一張含有 文字 的圖片&#10;&#10;自動產生的描述">
            <a:extLst>
              <a:ext uri="{FF2B5EF4-FFF2-40B4-BE49-F238E27FC236}">
                <a16:creationId xmlns:a16="http://schemas.microsoft.com/office/drawing/2014/main" id="{3991C645-956F-49F2-99CF-1EF3B6318E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97113"/>
            <a:ext cx="6938264" cy="3779599"/>
          </a:xfrm>
        </p:spPr>
      </p:pic>
    </p:spTree>
    <p:extLst>
      <p:ext uri="{BB962C8B-B14F-4D97-AF65-F5344CB8AC3E}">
        <p14:creationId xmlns:p14="http://schemas.microsoft.com/office/powerpoint/2010/main" val="1043174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1D9C88-9F57-4245-8958-7C806E41D65A}"/>
              </a:ext>
            </a:extLst>
          </p:cNvPr>
          <p:cNvSpPr>
            <a:spLocks noGrp="1"/>
          </p:cNvSpPr>
          <p:nvPr>
            <p:ph type="title"/>
          </p:nvPr>
        </p:nvSpPr>
        <p:spPr/>
        <p:txBody>
          <a:bodyPr/>
          <a:lstStyle/>
          <a:p>
            <a:r>
              <a:rPr lang="en-US" altLang="zh-TW" dirty="0" err="1"/>
              <a:t>BSTPredicate</a:t>
            </a:r>
            <a:endParaRPr lang="zh-TW" altLang="en-US" dirty="0"/>
          </a:p>
        </p:txBody>
      </p:sp>
      <p:sp>
        <p:nvSpPr>
          <p:cNvPr id="3" name="內容版面配置區 2">
            <a:extLst>
              <a:ext uri="{FF2B5EF4-FFF2-40B4-BE49-F238E27FC236}">
                <a16:creationId xmlns:a16="http://schemas.microsoft.com/office/drawing/2014/main" id="{5D203541-1598-423C-98DE-D197CDB3F855}"/>
              </a:ext>
            </a:extLst>
          </p:cNvPr>
          <p:cNvSpPr>
            <a:spLocks noGrp="1"/>
          </p:cNvSpPr>
          <p:nvPr>
            <p:ph idx="1"/>
          </p:nvPr>
        </p:nvSpPr>
        <p:spPr/>
        <p:txBody>
          <a:bodyPr/>
          <a:lstStyle/>
          <a:p>
            <a:r>
              <a:rPr lang="zh-TW" altLang="en-US" dirty="0"/>
              <a:t>將中心點座標轉換至</a:t>
            </a:r>
            <a:r>
              <a:rPr lang="en-US" altLang="zh-TW" dirty="0"/>
              <a:t>(0,0)</a:t>
            </a:r>
          </a:p>
          <a:p>
            <a:endParaRPr lang="en-US" altLang="zh-TW" dirty="0"/>
          </a:p>
          <a:p>
            <a:pPr marL="0" indent="0">
              <a:buNone/>
            </a:pPr>
            <a:r>
              <a:rPr lang="zh-TW" altLang="en-US" dirty="0"/>
              <a:t>比較</a:t>
            </a:r>
            <a:r>
              <a:rPr lang="en-US" altLang="zh-TW" dirty="0"/>
              <a:t>:</a:t>
            </a:r>
          </a:p>
          <a:p>
            <a:r>
              <a:rPr lang="en-US" altLang="zh-TW" dirty="0"/>
              <a:t>1.</a:t>
            </a:r>
            <a:r>
              <a:rPr lang="zh-TW" altLang="en-US" dirty="0"/>
              <a:t>比較兩個點各在</a:t>
            </a:r>
            <a:r>
              <a:rPr lang="en-US" altLang="zh-TW" dirty="0"/>
              <a:t>x</a:t>
            </a:r>
            <a:r>
              <a:rPr lang="zh-TW" altLang="en-US" dirty="0"/>
              <a:t>軸的上半部</a:t>
            </a:r>
            <a:r>
              <a:rPr lang="en-US" altLang="zh-TW" dirty="0"/>
              <a:t>or</a:t>
            </a:r>
            <a:r>
              <a:rPr lang="zh-TW" altLang="en-US" dirty="0"/>
              <a:t>下半部，如果在不同部分，上半部的點</a:t>
            </a:r>
            <a:r>
              <a:rPr lang="en-US" altLang="zh-TW" dirty="0"/>
              <a:t>&gt;</a:t>
            </a:r>
            <a:r>
              <a:rPr lang="zh-TW" altLang="en-US" dirty="0"/>
              <a:t>下半部的點</a:t>
            </a:r>
            <a:endParaRPr lang="en-US" altLang="zh-TW" dirty="0"/>
          </a:p>
          <a:p>
            <a:r>
              <a:rPr lang="en-US" altLang="zh-TW" dirty="0"/>
              <a:t>2.</a:t>
            </a:r>
            <a:r>
              <a:rPr lang="zh-TW" altLang="en-US" dirty="0"/>
              <a:t>如果兩點都在</a:t>
            </a:r>
            <a:r>
              <a:rPr lang="en-US" altLang="zh-TW" dirty="0"/>
              <a:t>x</a:t>
            </a:r>
            <a:r>
              <a:rPr lang="zh-TW" altLang="en-US" dirty="0"/>
              <a:t>軸上比較</a:t>
            </a:r>
            <a:r>
              <a:rPr lang="en-US" altLang="zh-TW" dirty="0"/>
              <a:t>x</a:t>
            </a:r>
            <a:r>
              <a:rPr lang="zh-TW" altLang="en-US" dirty="0"/>
              <a:t>座標大小</a:t>
            </a:r>
            <a:endParaRPr lang="en-US" altLang="zh-TW" dirty="0"/>
          </a:p>
          <a:p>
            <a:r>
              <a:rPr lang="en-US" altLang="zh-TW" dirty="0"/>
              <a:t>3.</a:t>
            </a:r>
            <a:r>
              <a:rPr lang="zh-TW" altLang="en-US" dirty="0"/>
              <a:t>兩點在同一邊的話，</a:t>
            </a:r>
            <a:r>
              <a:rPr lang="en-US" altLang="zh-TW" dirty="0" err="1"/>
              <a:t>ccw</a:t>
            </a:r>
            <a:r>
              <a:rPr lang="en-US" altLang="zh-TW" dirty="0"/>
              <a:t>(A,B,(0,0))</a:t>
            </a:r>
            <a:endParaRPr lang="zh-TW" altLang="en-US" dirty="0"/>
          </a:p>
        </p:txBody>
      </p:sp>
    </p:spTree>
    <p:extLst>
      <p:ext uri="{BB962C8B-B14F-4D97-AF65-F5344CB8AC3E}">
        <p14:creationId xmlns:p14="http://schemas.microsoft.com/office/powerpoint/2010/main" val="290906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29E24A-E417-467E-9AE5-10963A8EF617}"/>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EA9330C0-45CB-4491-9F12-3737F93C87D1}"/>
              </a:ext>
            </a:extLst>
          </p:cNvPr>
          <p:cNvSpPr>
            <a:spLocks noGrp="1"/>
          </p:cNvSpPr>
          <p:nvPr>
            <p:ph idx="1"/>
          </p:nvPr>
        </p:nvSpPr>
        <p:spPr/>
        <p:txBody>
          <a:bodyPr/>
          <a:lstStyle/>
          <a:p>
            <a:r>
              <a:rPr lang="en-US" altLang="zh-TW" dirty="0"/>
              <a:t>O( 2N + N + </a:t>
            </a:r>
            <a:r>
              <a:rPr lang="en-US" altLang="zh-TW" dirty="0" err="1"/>
              <a:t>NlogM</a:t>
            </a:r>
            <a:r>
              <a:rPr lang="en-US" altLang="zh-TW" dirty="0"/>
              <a:t> ) = O( </a:t>
            </a:r>
            <a:r>
              <a:rPr lang="en-US" altLang="zh-TW" dirty="0" err="1"/>
              <a:t>NlogM</a:t>
            </a:r>
            <a:r>
              <a:rPr lang="en-US" altLang="zh-TW" dirty="0"/>
              <a:t> )</a:t>
            </a:r>
            <a:endParaRPr lang="zh-TW" altLang="en-US" dirty="0"/>
          </a:p>
        </p:txBody>
      </p:sp>
    </p:spTree>
    <p:extLst>
      <p:ext uri="{BB962C8B-B14F-4D97-AF65-F5344CB8AC3E}">
        <p14:creationId xmlns:p14="http://schemas.microsoft.com/office/powerpoint/2010/main" val="355234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0624FE-3B76-4D8D-9F1D-C0FBC4C7D1D5}"/>
              </a:ext>
            </a:extLst>
          </p:cNvPr>
          <p:cNvSpPr>
            <a:spLocks noGrp="1"/>
          </p:cNvSpPr>
          <p:nvPr>
            <p:ph type="title"/>
          </p:nvPr>
        </p:nvSpPr>
        <p:spPr/>
        <p:txBody>
          <a:bodyPr/>
          <a:lstStyle/>
          <a:p>
            <a:r>
              <a:rPr lang="en-US" altLang="zh-TW"/>
              <a:t>Experiment</a:t>
            </a:r>
            <a:endParaRPr lang="zh-TW" altLang="en-US" dirty="0"/>
          </a:p>
        </p:txBody>
      </p:sp>
      <p:pic>
        <p:nvPicPr>
          <p:cNvPr id="5" name="內容版面配置區 4">
            <a:extLst>
              <a:ext uri="{FF2B5EF4-FFF2-40B4-BE49-F238E27FC236}">
                <a16:creationId xmlns:a16="http://schemas.microsoft.com/office/drawing/2014/main" id="{0569EC09-318C-4DEA-861F-915431A3DB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82871" y="1690687"/>
            <a:ext cx="5809130" cy="4425137"/>
          </a:xfrm>
        </p:spPr>
      </p:pic>
      <p:pic>
        <p:nvPicPr>
          <p:cNvPr id="7" name="圖片 6">
            <a:extLst>
              <a:ext uri="{FF2B5EF4-FFF2-40B4-BE49-F238E27FC236}">
                <a16:creationId xmlns:a16="http://schemas.microsoft.com/office/drawing/2014/main" id="{940E24EF-8A15-43A3-91A9-0B05865B7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284" y="1860922"/>
            <a:ext cx="5667375" cy="4325568"/>
          </a:xfrm>
          <a:prstGeom prst="rect">
            <a:avLst/>
          </a:prstGeom>
        </p:spPr>
      </p:pic>
    </p:spTree>
    <p:extLst>
      <p:ext uri="{BB962C8B-B14F-4D97-AF65-F5344CB8AC3E}">
        <p14:creationId xmlns:p14="http://schemas.microsoft.com/office/powerpoint/2010/main" val="1315556680"/>
      </p:ext>
    </p:extLst>
  </p:cSld>
  <p:clrMapOvr>
    <a:masterClrMapping/>
  </p:clrMapOvr>
</p:sld>
</file>

<file path=ppt/theme/theme1.xml><?xml version="1.0" encoding="utf-8"?>
<a:theme xmlns:a="http://schemas.openxmlformats.org/drawingml/2006/main" name="1_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1011</TotalTime>
  <Words>444</Words>
  <Application>Microsoft Office PowerPoint</Application>
  <PresentationFormat>寬螢幕</PresentationFormat>
  <Paragraphs>37</Paragraphs>
  <Slides>12</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Arial</vt:lpstr>
      <vt:lpstr>Calibri</vt:lpstr>
      <vt:lpstr>Calibri Light</vt:lpstr>
      <vt:lpstr>Times New Roman</vt:lpstr>
      <vt:lpstr>1_Office 佈景主題</vt:lpstr>
      <vt:lpstr> Developed Algorithm for Making Up Convex Hull Based on Binary Tree ​ Naing Linn Aung, Evgeni M. Portnov and Kirill O. Epishin  </vt:lpstr>
      <vt:lpstr>Abstract</vt:lpstr>
      <vt:lpstr>Function</vt:lpstr>
      <vt:lpstr>Steps </vt:lpstr>
      <vt:lpstr>Steps</vt:lpstr>
      <vt:lpstr>Steps</vt:lpstr>
      <vt:lpstr>Steps</vt:lpstr>
      <vt:lpstr>PowerPoint 簡報</vt:lpstr>
      <vt:lpstr>BSTPredicate</vt:lpstr>
      <vt:lpstr>BSTPredicate</vt:lpstr>
      <vt:lpstr>Time Complexity</vt:lpstr>
      <vt:lpstr>Experiment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Branch Elimination-based Efficient Algorithm for Large-scale Multiple Longest Common Subsequence Problem  ​ Shiwei Wei, Yuping Wang and Yiu-ming Cheung</dc:title>
  <dc:creator>M103040069</dc:creator>
  <cp:lastModifiedBy>M103040069</cp:lastModifiedBy>
  <cp:revision>14</cp:revision>
  <dcterms:created xsi:type="dcterms:W3CDTF">2021-10-27T12:11:11Z</dcterms:created>
  <dcterms:modified xsi:type="dcterms:W3CDTF">2021-12-15T08:39:55Z</dcterms:modified>
</cp:coreProperties>
</file>