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99" r:id="rId3"/>
    <p:sldMasterId id="2147483738" r:id="rId4"/>
    <p:sldMasterId id="2147483712" r:id="rId5"/>
    <p:sldMasterId id="2147483674" r:id="rId6"/>
    <p:sldMasterId id="2147483725" r:id="rId7"/>
  </p:sldMasterIdLst>
  <p:notesMasterIdLst>
    <p:notesMasterId r:id="rId21"/>
  </p:notesMasterIdLst>
  <p:sldIdLst>
    <p:sldId id="256" r:id="rId8"/>
    <p:sldId id="257" r:id="rId9"/>
    <p:sldId id="326" r:id="rId10"/>
    <p:sldId id="327" r:id="rId11"/>
    <p:sldId id="328" r:id="rId12"/>
    <p:sldId id="331" r:id="rId13"/>
    <p:sldId id="329" r:id="rId14"/>
    <p:sldId id="330" r:id="rId15"/>
    <p:sldId id="332" r:id="rId16"/>
    <p:sldId id="333" r:id="rId17"/>
    <p:sldId id="334" r:id="rId18"/>
    <p:sldId id="335" r:id="rId19"/>
    <p:sldId id="336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32" autoAdjust="0"/>
  </p:normalViewPr>
  <p:slideViewPr>
    <p:cSldViewPr>
      <p:cViewPr varScale="1">
        <p:scale>
          <a:sx n="108" d="100"/>
          <a:sy n="108" d="100"/>
        </p:scale>
        <p:origin x="-16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9/27/2021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9/27/2021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9/27/2021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9/27/2021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A Reduction of the Dynamic Time Warping Distance to the Longest Increasing Subsequence Length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Yoshifumi Sakai and  Shunsuke Inenaga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31st International Symposium on Algorithms and Computation (ISAAC 2020), Online</a:t>
            </a: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Sept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.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 28, 2021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Abstract(1/3)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similarity between a pair of time series, i.e., sequences of indexed values in time order, is often estimated by the dynamic time warping (DTW) distance, instead of any in the well-studied family of measures including the longest common subsequence (LCS) length and the edit distance. Although it may seem as if the DTW and the LCS(-like) measures are essentially different, we reveal that the DTW distance can be represented by the longest increasing subsequence (LIS) length of a sequence of integers, which is the LCS length between the integer sequence and itself sorted.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Abstract(2/3)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For a given pair of time series of n integers between zero and c, we propose an integer sequence that represents any substring-substring DTW distance as its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band-substring LIS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length. The length of the produced integer sequence is O(c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or O(c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depending on the variant of the DTW distance used, both of which can be translated to O(n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for constant cost functions.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Abstract(3/3)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To demonstrate that techniques developed under the LCS(-like) measures are directly applicable to analysis of time series via our reduction of DTW to LIS, we present time-efficient algorithms for DTW-related problems utilizing the semi-local sequence comparison technique developed for LCS-related problems.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intermediate grid </a:t>
            </a:r>
            <a:r>
              <a:rPr lang="en-US" altLang="zh-TW" dirty="0" smtClean="0"/>
              <a:t>graphs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/>
          <a:lstStyle/>
          <a:p>
            <a:r>
              <a:rPr lang="en-US" altLang="zh-TW" dirty="0" smtClean="0"/>
              <a:t>Obtained from </a:t>
            </a:r>
            <a:r>
              <a:rPr lang="en-US" altLang="zh-TW" dirty="0" smtClean="0"/>
              <a:t>the DTW distance graph by transforming into a binary DTW distance </a:t>
            </a:r>
            <a:r>
              <a:rPr lang="en-US" altLang="zh-TW" dirty="0" smtClean="0"/>
              <a:t>graph(</a:t>
            </a:r>
            <a:r>
              <a:rPr lang="en-US" altLang="zh-TW" dirty="0" err="1" smtClean="0"/>
              <a:t>vhd</a:t>
            </a:r>
            <a:r>
              <a:rPr lang="en-US" altLang="zh-TW" dirty="0" smtClean="0"/>
              <a:t>-path grid graph</a:t>
            </a:r>
            <a:r>
              <a:rPr lang="en-US" altLang="zh-TW" dirty="0" smtClean="0"/>
              <a:t>).</a:t>
            </a:r>
          </a:p>
          <a:p>
            <a:r>
              <a:rPr lang="en-US" altLang="zh-TW" dirty="0" smtClean="0"/>
              <a:t>O</a:t>
            </a:r>
            <a:r>
              <a:rPr lang="en-US" altLang="zh-TW" dirty="0" smtClean="0"/>
              <a:t>btained </a:t>
            </a:r>
            <a:r>
              <a:rPr lang="en-US" altLang="zh-TW" dirty="0" smtClean="0"/>
              <a:t>from the binary DTW distance graph by </a:t>
            </a:r>
            <a:r>
              <a:rPr lang="en-US" altLang="zh-TW" dirty="0" smtClean="0"/>
              <a:t>transforming into </a:t>
            </a:r>
            <a:r>
              <a:rPr lang="en-US" altLang="zh-TW" dirty="0" smtClean="0"/>
              <a:t>a </a:t>
            </a:r>
            <a:r>
              <a:rPr lang="en-US" altLang="zh-TW" dirty="0" smtClean="0"/>
              <a:t>binary </a:t>
            </a:r>
            <a:r>
              <a:rPr lang="en-US" altLang="zh-TW" dirty="0" err="1" smtClean="0"/>
              <a:t>vh</a:t>
            </a:r>
            <a:r>
              <a:rPr lang="en-US" altLang="zh-TW" dirty="0" smtClean="0"/>
              <a:t>-path DTW distance </a:t>
            </a:r>
            <a:r>
              <a:rPr lang="en-US" altLang="zh-TW" dirty="0" smtClean="0"/>
              <a:t>graph.</a:t>
            </a:r>
          </a:p>
          <a:p>
            <a:r>
              <a:rPr lang="en-US" altLang="zh-TW" dirty="0" smtClean="0"/>
              <a:t>The DTW distance sequence is obtained from this second intermediate </a:t>
            </a:r>
            <a:r>
              <a:rPr lang="en-US" altLang="zh-TW" dirty="0" smtClean="0"/>
              <a:t>graph.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Let A and B be arbitrary two time series both over a fixed integer interval {0, 1, . . . , c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O(|A||B|)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 smtClean="0"/>
              <a:t>vhd</a:t>
            </a:r>
            <a:r>
              <a:rPr lang="en-US" altLang="zh-TW" dirty="0" smtClean="0"/>
              <a:t>-path </a:t>
            </a:r>
            <a:r>
              <a:rPr lang="en-US" altLang="zh-TW" dirty="0" smtClean="0"/>
              <a:t>grid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63935"/>
            <a:ext cx="8572528" cy="470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 smtClean="0"/>
              <a:t>vhd</a:t>
            </a:r>
            <a:r>
              <a:rPr lang="en-US" altLang="zh-TW" dirty="0" smtClean="0"/>
              <a:t>-path </a:t>
            </a:r>
            <a:r>
              <a:rPr lang="en-US" altLang="zh-TW" dirty="0" smtClean="0"/>
              <a:t>grid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 × n (d + 1)-valued </a:t>
            </a:r>
            <a:r>
              <a:rPr lang="en-US" altLang="zh-TW" dirty="0" err="1" smtClean="0"/>
              <a:t>vhd</a:t>
            </a:r>
            <a:r>
              <a:rPr lang="en-US" altLang="zh-TW" dirty="0" smtClean="0"/>
              <a:t>-path grid </a:t>
            </a:r>
            <a:r>
              <a:rPr lang="en-US" altLang="zh-TW" dirty="0" smtClean="0"/>
              <a:t>graph </a:t>
            </a:r>
            <a:r>
              <a:rPr lang="zh-TW" altLang="en-US" dirty="0" smtClean="0"/>
              <a:t>→</a:t>
            </a:r>
            <a:r>
              <a:rPr lang="en-US" altLang="zh-TW" dirty="0" smtClean="0"/>
              <a:t> dm × </a:t>
            </a:r>
            <a:r>
              <a:rPr lang="en-US" altLang="zh-TW" dirty="0" err="1" smtClean="0"/>
              <a:t>dn</a:t>
            </a:r>
            <a:r>
              <a:rPr lang="en-US" altLang="zh-TW" dirty="0" smtClean="0"/>
              <a:t> binary </a:t>
            </a:r>
            <a:r>
              <a:rPr lang="en-US" altLang="zh-TW" dirty="0" err="1" smtClean="0"/>
              <a:t>vhd</a:t>
            </a:r>
            <a:r>
              <a:rPr lang="en-US" altLang="zh-TW" dirty="0" smtClean="0"/>
              <a:t>-path grid </a:t>
            </a:r>
            <a:r>
              <a:rPr lang="en-US" altLang="zh-TW" dirty="0" smtClean="0"/>
              <a:t>graph</a:t>
            </a:r>
          </a:p>
          <a:p>
            <a:r>
              <a:rPr lang="en-US" altLang="zh-TW" dirty="0" smtClean="0"/>
              <a:t>O(c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|A||B|)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 smtClean="0"/>
              <a:t>vh</a:t>
            </a:r>
            <a:r>
              <a:rPr lang="en-US" altLang="zh-TW" dirty="0" smtClean="0"/>
              <a:t>-path </a:t>
            </a:r>
            <a:r>
              <a:rPr lang="en-US" altLang="zh-TW" dirty="0" smtClean="0"/>
              <a:t>grid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4384" y="1357298"/>
            <a:ext cx="7415233" cy="5133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 smtClean="0"/>
              <a:t>vh</a:t>
            </a:r>
            <a:r>
              <a:rPr lang="en-US" altLang="zh-TW" dirty="0" smtClean="0"/>
              <a:t>-path </a:t>
            </a:r>
            <a:r>
              <a:rPr lang="en-US" altLang="zh-TW" dirty="0" smtClean="0"/>
              <a:t>grid graph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dm × </a:t>
            </a:r>
            <a:r>
              <a:rPr lang="en-US" altLang="zh-TW" dirty="0" err="1" smtClean="0"/>
              <a:t>dn</a:t>
            </a:r>
            <a:r>
              <a:rPr lang="en-US" altLang="zh-TW" dirty="0" smtClean="0"/>
              <a:t> binary </a:t>
            </a:r>
            <a:r>
              <a:rPr lang="en-US" altLang="zh-TW" dirty="0" err="1" smtClean="0"/>
              <a:t>vhd</a:t>
            </a:r>
            <a:r>
              <a:rPr lang="en-US" altLang="zh-TW" dirty="0" smtClean="0"/>
              <a:t>-path grid graph </a:t>
            </a:r>
            <a:r>
              <a:rPr lang="zh-TW" altLang="en-US" dirty="0" smtClean="0"/>
              <a:t>→</a:t>
            </a:r>
            <a:r>
              <a:rPr lang="en-US" altLang="zh-TW" dirty="0" smtClean="0"/>
              <a:t>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smtClean="0"/>
              <a:t>(</a:t>
            </a:r>
            <a:r>
              <a:rPr lang="en-US" altLang="zh-TW" dirty="0" smtClean="0"/>
              <a:t>m + (m − 1)(n − 1)) × (n + (m − 1)(n − 1)) binary </a:t>
            </a:r>
            <a:r>
              <a:rPr lang="en-US" altLang="zh-TW" dirty="0" err="1" smtClean="0"/>
              <a:t>vh</a:t>
            </a:r>
            <a:r>
              <a:rPr lang="en-US" altLang="zh-TW" dirty="0" smtClean="0"/>
              <a:t>-path grid graph,</a:t>
            </a:r>
            <a:endParaRPr lang="en-US" altLang="zh-TW" dirty="0" smtClean="0"/>
          </a:p>
          <a:p>
            <a:r>
              <a:rPr lang="en-US" altLang="zh-TW" dirty="0" smtClean="0"/>
              <a:t>(c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|A| + (c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|A| − 1)(c2|B| </a:t>
            </a:r>
            <a:r>
              <a:rPr lang="en-US" altLang="zh-TW" dirty="0" smtClean="0"/>
              <a:t>−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  <a:r>
              <a:rPr lang="en-US" altLang="zh-TW" dirty="0" smtClean="0"/>
              <a:t>)) ×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smtClean="0"/>
              <a:t>(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|B| + (c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|A| − 1)(c2|B| − 1))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smtClean="0"/>
              <a:t>= O(c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|A||B|)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an </a:t>
            </a:r>
            <a:r>
              <a:rPr lang="en-US" altLang="zh-TW" dirty="0" smtClean="0"/>
              <a:t>integer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5016"/>
            <a:ext cx="8229600" cy="107157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[(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− 1)n + j] =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+ (j − </a:t>
            </a:r>
            <a:r>
              <a:rPr lang="en-US" altLang="zh-TW" dirty="0" smtClean="0"/>
              <a:t>1)m, </a:t>
            </a:r>
            <a:r>
              <a:rPr lang="en-US" altLang="zh-TW" dirty="0" smtClean="0"/>
              <a:t>if vertex 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j) </a:t>
            </a:r>
            <a:r>
              <a:rPr lang="en-US" altLang="zh-TW" dirty="0" smtClean="0"/>
              <a:t>is </a:t>
            </a:r>
            <a:r>
              <a:rPr lang="en-US" altLang="zh-TW" dirty="0" smtClean="0"/>
              <a:t>zero-weighted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124" y="1314453"/>
            <a:ext cx="8525752" cy="418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an integer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Let </a:t>
            </a:r>
            <a:r>
              <a:rPr lang="en-US" altLang="zh-TW" dirty="0" smtClean="0"/>
              <a:t>G be an arbitrary </a:t>
            </a:r>
            <a:r>
              <a:rPr lang="en-US" altLang="zh-TW" dirty="0" err="1" smtClean="0"/>
              <a:t>m×n</a:t>
            </a:r>
            <a:r>
              <a:rPr lang="en-US" altLang="zh-TW" dirty="0" smtClean="0"/>
              <a:t> binary </a:t>
            </a:r>
            <a:r>
              <a:rPr lang="en-US" altLang="zh-TW" dirty="0" err="1" smtClean="0"/>
              <a:t>vh</a:t>
            </a:r>
            <a:r>
              <a:rPr lang="en-US" altLang="zh-TW" dirty="0" smtClean="0"/>
              <a:t>-path grid </a:t>
            </a:r>
            <a:r>
              <a:rPr lang="en-US" altLang="zh-TW" dirty="0" smtClean="0"/>
              <a:t>graph.</a:t>
            </a:r>
          </a:p>
          <a:p>
            <a:r>
              <a:rPr lang="en-US" altLang="zh-TW" dirty="0" smtClean="0"/>
              <a:t>The </a:t>
            </a:r>
            <a:r>
              <a:rPr lang="en-US" altLang="zh-TW" dirty="0" smtClean="0"/>
              <a:t>minimum path weight on G is hence calculated by subtracting the banded LIS length </a:t>
            </a:r>
            <a:r>
              <a:rPr lang="en-US" altLang="zh-TW" dirty="0" smtClean="0"/>
              <a:t>of a </a:t>
            </a:r>
            <a:r>
              <a:rPr lang="en-US" altLang="zh-TW" dirty="0" smtClean="0"/>
              <a:t>contiguous subsequence of S</a:t>
            </a:r>
            <a:r>
              <a:rPr lang="en-US" altLang="zh-TW" baseline="-25000" dirty="0" smtClean="0"/>
              <a:t>G</a:t>
            </a:r>
            <a:r>
              <a:rPr lang="en-US" altLang="zh-TW" dirty="0" smtClean="0"/>
              <a:t> from the path </a:t>
            </a:r>
            <a:r>
              <a:rPr lang="en-US" altLang="zh-TW" dirty="0" smtClean="0"/>
              <a:t>length.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O(c</a:t>
            </a:r>
            <a:r>
              <a:rPr lang="en-US" altLang="zh-TW" baseline="30000" dirty="0" smtClean="0"/>
              <a:t>8</a:t>
            </a:r>
            <a:r>
              <a:rPr lang="en-US" altLang="zh-TW" dirty="0" smtClean="0"/>
              <a:t>|A||B|)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O(c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|A||B|)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14488"/>
            <a:ext cx="2709870" cy="1095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429000"/>
            <a:ext cx="25336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9884</TotalTime>
  <Words>461</Words>
  <Application>LibreOffice/6.4.6.2$Windows_X86_64 LibreOffice_project/0ce51a4fd21bff07a5c061082cc82c5ed232f115</Application>
  <PresentationFormat>如螢幕大小 (4:3)</PresentationFormat>
  <Paragraphs>42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7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Office Theme</vt:lpstr>
      <vt:lpstr>Office Theme</vt:lpstr>
      <vt:lpstr>2_Office Theme</vt:lpstr>
      <vt:lpstr>1_自訂設計</vt:lpstr>
      <vt:lpstr>3_Office Theme</vt:lpstr>
      <vt:lpstr>自訂設計</vt:lpstr>
      <vt:lpstr>4_Office Theme</vt:lpstr>
      <vt:lpstr>投影片 1</vt:lpstr>
      <vt:lpstr>投影片 2</vt:lpstr>
      <vt:lpstr>投影片 3</vt:lpstr>
      <vt:lpstr>投影片 4</vt:lpstr>
      <vt:lpstr>intermediate grid graphs</vt:lpstr>
      <vt:lpstr>投影片 6</vt:lpstr>
      <vt:lpstr>vhd-path grid graph</vt:lpstr>
      <vt:lpstr>vhd-path grid graph</vt:lpstr>
      <vt:lpstr>vh-path grid graph</vt:lpstr>
      <vt:lpstr>vh-path grid graph</vt:lpstr>
      <vt:lpstr>an integer sequence</vt:lpstr>
      <vt:lpstr>an integer sequence</vt:lpstr>
      <vt:lpstr>投影片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super</cp:lastModifiedBy>
  <cp:revision>2298</cp:revision>
  <dcterms:created xsi:type="dcterms:W3CDTF">2020-09-11T11:13:53Z</dcterms:created>
  <dcterms:modified xsi:type="dcterms:W3CDTF">2021-09-28T00:07:12Z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