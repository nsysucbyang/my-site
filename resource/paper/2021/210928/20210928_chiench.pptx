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8"/>
  </p:notesMasterIdLst>
  <p:sldIdLst>
    <p:sldId id="256" r:id="rId3"/>
    <p:sldId id="257" r:id="rId4"/>
    <p:sldId id="279" r:id="rId5"/>
    <p:sldId id="281" r:id="rId6"/>
    <p:sldId id="282" r:id="rId7"/>
    <p:sldId id="283" r:id="rId8"/>
    <p:sldId id="284" r:id="rId9"/>
    <p:sldId id="285" r:id="rId10"/>
    <p:sldId id="260" r:id="rId11"/>
    <p:sldId id="259" r:id="rId12"/>
    <p:sldId id="286" r:id="rId13"/>
    <p:sldId id="287" r:id="rId14"/>
    <p:sldId id="288" r:id="rId15"/>
    <p:sldId id="289" r:id="rId16"/>
    <p:sldId id="290"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6902" autoAdjust="0"/>
  </p:normalViewPr>
  <p:slideViewPr>
    <p:cSldViewPr snapToGrid="0">
      <p:cViewPr varScale="1">
        <p:scale>
          <a:sx n="74" d="100"/>
          <a:sy n="74" d="100"/>
        </p:scale>
        <p:origin x="99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 /><Relationship Id="rId13" Type="http://schemas.openxmlformats.org/officeDocument/2006/relationships/slide" Target="slides/slide11.xml" /><Relationship Id="rId18" Type="http://schemas.openxmlformats.org/officeDocument/2006/relationships/notesMaster" Target="notesMasters/notesMaster1.xml" /><Relationship Id="rId3" Type="http://schemas.openxmlformats.org/officeDocument/2006/relationships/slide" Target="slides/slide1.xml" /><Relationship Id="rId21" Type="http://schemas.openxmlformats.org/officeDocument/2006/relationships/theme" Target="theme/theme1.xml" /><Relationship Id="rId7" Type="http://schemas.openxmlformats.org/officeDocument/2006/relationships/slide" Target="slides/slide5.xml" /><Relationship Id="rId12" Type="http://schemas.openxmlformats.org/officeDocument/2006/relationships/slide" Target="slides/slide10.xml" /><Relationship Id="rId17" Type="http://schemas.openxmlformats.org/officeDocument/2006/relationships/slide" Target="slides/slide15.xml" /><Relationship Id="rId2" Type="http://schemas.openxmlformats.org/officeDocument/2006/relationships/slideMaster" Target="slideMasters/slideMaster2.xml" /><Relationship Id="rId16" Type="http://schemas.openxmlformats.org/officeDocument/2006/relationships/slide" Target="slides/slide14.xml" /><Relationship Id="rId20"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4.xml" /><Relationship Id="rId11" Type="http://schemas.openxmlformats.org/officeDocument/2006/relationships/slide" Target="slides/slide9.xml" /><Relationship Id="rId5" Type="http://schemas.openxmlformats.org/officeDocument/2006/relationships/slide" Target="slides/slide3.xml" /><Relationship Id="rId15" Type="http://schemas.openxmlformats.org/officeDocument/2006/relationships/slide" Target="slides/slide13.xml" /><Relationship Id="rId10" Type="http://schemas.openxmlformats.org/officeDocument/2006/relationships/slide" Target="slides/slide8.xml" /><Relationship Id="rId19" Type="http://schemas.openxmlformats.org/officeDocument/2006/relationships/presProps" Target="presProps.xml" /><Relationship Id="rId4" Type="http://schemas.openxmlformats.org/officeDocument/2006/relationships/slide" Target="slides/slide2.xml" /><Relationship Id="rId9" Type="http://schemas.openxmlformats.org/officeDocument/2006/relationships/slide" Target="slides/slide7.xml" /><Relationship Id="rId14" Type="http://schemas.openxmlformats.org/officeDocument/2006/relationships/slide" Target="slides/slide12.xml" /><Relationship Id="rId22"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5E9C06-7AA4-4653-B88E-93F17FA55426}" type="datetimeFigureOut">
              <a:rPr lang="zh-TW" altLang="en-US" smtClean="0"/>
              <a:t>2021/10/28</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EE5D13-B0AB-4794-9835-7527DA6BA421}" type="slidenum">
              <a:rPr lang="zh-TW" altLang="en-US" smtClean="0"/>
              <a:t>‹#›</a:t>
            </a:fld>
            <a:endParaRPr lang="zh-TW" altLang="en-US"/>
          </a:p>
        </p:txBody>
      </p:sp>
    </p:spTree>
    <p:extLst>
      <p:ext uri="{BB962C8B-B14F-4D97-AF65-F5344CB8AC3E}">
        <p14:creationId xmlns:p14="http://schemas.microsoft.com/office/powerpoint/2010/main" val="3392793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8B410B-4C50-4EF8-8280-02DF7BDE5F5D}"/>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altLang="zh-TW" dirty="0" err="1"/>
              <a:t>abc</a:t>
            </a:r>
            <a:endParaRPr lang="zh-TW" altLang="en-US" dirty="0"/>
          </a:p>
        </p:txBody>
      </p:sp>
      <p:sp>
        <p:nvSpPr>
          <p:cNvPr id="3" name="副標題 2">
            <a:extLst>
              <a:ext uri="{FF2B5EF4-FFF2-40B4-BE49-F238E27FC236}">
                <a16:creationId xmlns:a16="http://schemas.microsoft.com/office/drawing/2014/main" id="{38967476-587A-49AA-B5DA-20463F22D04A}"/>
              </a:ext>
            </a:extLst>
          </p:cNvPr>
          <p:cNvSpPr>
            <a:spLocks noGrp="1"/>
          </p:cNvSpPr>
          <p:nvPr>
            <p:ph type="subTitle" idx="1" hasCustomPrompt="1"/>
          </p:nvPr>
        </p:nvSpPr>
        <p:spPr>
          <a:xfrm>
            <a:off x="1524000" y="3602038"/>
            <a:ext cx="9144000" cy="1655762"/>
          </a:xfrm>
        </p:spPr>
        <p:txBody>
          <a:bodyPr/>
          <a:lstStyle>
            <a:lvl1pPr marL="0" indent="0" algn="ctr">
              <a:buNone/>
              <a:defRPr sz="24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dirty="0" err="1"/>
              <a:t>abc</a:t>
            </a:r>
            <a:endParaRPr lang="zh-TW" altLang="en-US" dirty="0"/>
          </a:p>
        </p:txBody>
      </p:sp>
      <p:sp>
        <p:nvSpPr>
          <p:cNvPr id="4" name="日期版面配置區 3">
            <a:extLst>
              <a:ext uri="{FF2B5EF4-FFF2-40B4-BE49-F238E27FC236}">
                <a16:creationId xmlns:a16="http://schemas.microsoft.com/office/drawing/2014/main" id="{50575EC0-3957-4F61-B88C-49F7BBA71136}"/>
              </a:ext>
            </a:extLst>
          </p:cNvPr>
          <p:cNvSpPr>
            <a:spLocks noGrp="1"/>
          </p:cNvSpPr>
          <p:nvPr>
            <p:ph type="dt" sz="half" idx="10"/>
          </p:nvPr>
        </p:nvSpPr>
        <p:spPr/>
        <p:txBody>
          <a:bodyPr/>
          <a:lstStyle/>
          <a:p>
            <a:fld id="{F6C23B8C-04F0-40DD-AAFD-C799C3A75D33}" type="datetimeFigureOut">
              <a:rPr lang="zh-TW" altLang="en-US" smtClean="0"/>
              <a:t>2021/10/28</a:t>
            </a:fld>
            <a:endParaRPr lang="zh-TW" altLang="en-US"/>
          </a:p>
        </p:txBody>
      </p:sp>
      <p:sp>
        <p:nvSpPr>
          <p:cNvPr id="5" name="頁尾版面配置區 4">
            <a:extLst>
              <a:ext uri="{FF2B5EF4-FFF2-40B4-BE49-F238E27FC236}">
                <a16:creationId xmlns:a16="http://schemas.microsoft.com/office/drawing/2014/main" id="{0C2F82C8-EAAE-48AC-A816-120ADC20488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25B9998-EB52-411A-8B6B-C87C026D554E}"/>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4011734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89B062-9733-4512-A3DB-B082AAB7FB68}"/>
              </a:ext>
            </a:extLst>
          </p:cNvPr>
          <p:cNvSpPr>
            <a:spLocks noGrp="1"/>
          </p:cNvSpPr>
          <p:nvPr>
            <p:ph type="title" hasCustomPrompt="1"/>
          </p:nvPr>
        </p:nvSpPr>
        <p:spPr/>
        <p:txBody>
          <a:bodyPr/>
          <a:lstStyle>
            <a:lvl1pPr>
              <a:defRPr>
                <a:latin typeface="Times New Roman" panose="02020603050405020304" pitchFamily="18" charset="0"/>
                <a:cs typeface="Times New Roman" panose="02020603050405020304" pitchFamily="18" charset="0"/>
              </a:defRPr>
            </a:lvl1pPr>
          </a:lstStyle>
          <a:p>
            <a:r>
              <a:rPr lang="en-US" altLang="zh-TW" dirty="0" err="1"/>
              <a:t>abc</a:t>
            </a:r>
            <a:endParaRPr lang="zh-TW" altLang="en-US" dirty="0"/>
          </a:p>
        </p:txBody>
      </p:sp>
      <p:sp>
        <p:nvSpPr>
          <p:cNvPr id="3" name="內容版面配置區 2">
            <a:extLst>
              <a:ext uri="{FF2B5EF4-FFF2-40B4-BE49-F238E27FC236}">
                <a16:creationId xmlns:a16="http://schemas.microsoft.com/office/drawing/2014/main" id="{ADE56D8F-73BE-487A-A827-93F5406368E9}"/>
              </a:ext>
            </a:extLst>
          </p:cNvPr>
          <p:cNvSpPr>
            <a:spLocks noGrp="1"/>
          </p:cNvSpPr>
          <p:nvPr>
            <p:ph idx="1" hasCustomPrompt="1"/>
          </p:nvPr>
        </p:nvSpPr>
        <p:spPr/>
        <p:txBody>
          <a:bodyPr/>
          <a:lstStyle>
            <a:lvl1pPr>
              <a:defRPr>
                <a:latin typeface="Times New Roman" panose="02020603050405020304" pitchFamily="18" charset="0"/>
                <a:cs typeface="Times New Roman" panose="02020603050405020304" pitchFamily="18" charset="0"/>
              </a:defRPr>
            </a:lvl1pPr>
          </a:lstStyle>
          <a:p>
            <a:pPr lvl="0"/>
            <a:r>
              <a:rPr lang="en-US" altLang="zh-TW" dirty="0" err="1"/>
              <a:t>abc</a:t>
            </a:r>
            <a:endParaRPr lang="zh-TW" altLang="en-US" dirty="0"/>
          </a:p>
        </p:txBody>
      </p:sp>
      <p:sp>
        <p:nvSpPr>
          <p:cNvPr id="4" name="日期版面配置區 3">
            <a:extLst>
              <a:ext uri="{FF2B5EF4-FFF2-40B4-BE49-F238E27FC236}">
                <a16:creationId xmlns:a16="http://schemas.microsoft.com/office/drawing/2014/main" id="{3E8EDED1-E76A-4515-934C-4363AB4EDF06}"/>
              </a:ext>
            </a:extLst>
          </p:cNvPr>
          <p:cNvSpPr>
            <a:spLocks noGrp="1"/>
          </p:cNvSpPr>
          <p:nvPr>
            <p:ph type="dt" sz="half" idx="10"/>
          </p:nvPr>
        </p:nvSpPr>
        <p:spPr/>
        <p:txBody>
          <a:bodyPr/>
          <a:lstStyle/>
          <a:p>
            <a:fld id="{F6C23B8C-04F0-40DD-AAFD-C799C3A75D33}" type="datetimeFigureOut">
              <a:rPr lang="zh-TW" altLang="en-US" smtClean="0"/>
              <a:t>2021/10/28</a:t>
            </a:fld>
            <a:endParaRPr lang="zh-TW" altLang="en-US"/>
          </a:p>
        </p:txBody>
      </p:sp>
      <p:sp>
        <p:nvSpPr>
          <p:cNvPr id="5" name="頁尾版面配置區 4">
            <a:extLst>
              <a:ext uri="{FF2B5EF4-FFF2-40B4-BE49-F238E27FC236}">
                <a16:creationId xmlns:a16="http://schemas.microsoft.com/office/drawing/2014/main" id="{CCDC7CB7-5335-4BE3-B056-57BD1595761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456BEF4-0CC6-4F0A-B177-657C3BFC631D}"/>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3144071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C8687DE-D29E-4255-973B-CD639842CC65}"/>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29881D5-AFDF-4D94-988F-A265E06F5C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2BF1318E-FD8D-4E8D-845A-65C148CEE500}"/>
              </a:ext>
            </a:extLst>
          </p:cNvPr>
          <p:cNvSpPr>
            <a:spLocks noGrp="1"/>
          </p:cNvSpPr>
          <p:nvPr>
            <p:ph type="dt" sz="half" idx="10"/>
          </p:nvPr>
        </p:nvSpPr>
        <p:spPr/>
        <p:txBody>
          <a:bodyPr/>
          <a:lstStyle/>
          <a:p>
            <a:fld id="{F6C23B8C-04F0-40DD-AAFD-C799C3A75D33}" type="datetimeFigureOut">
              <a:rPr lang="zh-TW" altLang="en-US" smtClean="0"/>
              <a:t>2021/10/28</a:t>
            </a:fld>
            <a:endParaRPr lang="zh-TW" altLang="en-US"/>
          </a:p>
        </p:txBody>
      </p:sp>
      <p:sp>
        <p:nvSpPr>
          <p:cNvPr id="5" name="頁尾版面配置區 4">
            <a:extLst>
              <a:ext uri="{FF2B5EF4-FFF2-40B4-BE49-F238E27FC236}">
                <a16:creationId xmlns:a16="http://schemas.microsoft.com/office/drawing/2014/main" id="{625DB5D8-9816-4A35-B08B-1AFA25ACCA4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B0E0823-6E8E-4CFD-8067-203C21AD7505}"/>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3894244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69CD3B-3C26-44F5-AE0F-6DAB009D7DC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C9FA60C7-5A81-43E0-948F-A34CBB390644}"/>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95D25C24-9E02-41B6-97FC-25017CAEAD8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AEC34AA-4024-44DD-85CF-6FCF9F368A29}"/>
              </a:ext>
            </a:extLst>
          </p:cNvPr>
          <p:cNvSpPr>
            <a:spLocks noGrp="1"/>
          </p:cNvSpPr>
          <p:nvPr>
            <p:ph type="dt" sz="half" idx="10"/>
          </p:nvPr>
        </p:nvSpPr>
        <p:spPr/>
        <p:txBody>
          <a:bodyPr/>
          <a:lstStyle/>
          <a:p>
            <a:fld id="{F6C23B8C-04F0-40DD-AAFD-C799C3A75D33}" type="datetimeFigureOut">
              <a:rPr lang="zh-TW" altLang="en-US" smtClean="0"/>
              <a:t>2021/10/28</a:t>
            </a:fld>
            <a:endParaRPr lang="zh-TW" altLang="en-US"/>
          </a:p>
        </p:txBody>
      </p:sp>
      <p:sp>
        <p:nvSpPr>
          <p:cNvPr id="6" name="頁尾版面配置區 5">
            <a:extLst>
              <a:ext uri="{FF2B5EF4-FFF2-40B4-BE49-F238E27FC236}">
                <a16:creationId xmlns:a16="http://schemas.microsoft.com/office/drawing/2014/main" id="{714F3E38-8B30-461F-A698-E08E6CC34A7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1FE807B-D7A2-4A98-BB31-78D5C92AC73E}"/>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1421401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9BD92C-3E1F-4985-BD0A-7D0845928726}"/>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0ECAB7D-8DC4-47AC-905A-D163C654EC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B850D23E-D5FF-469B-AC74-1678FD1B83CC}"/>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CC5108FB-E3C5-4B1F-B09E-7ADDCDB135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FC05249A-487A-4CD8-8718-24B62D109625}"/>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1E9C64B5-B6A2-4FE3-A3FB-10A327969F07}"/>
              </a:ext>
            </a:extLst>
          </p:cNvPr>
          <p:cNvSpPr>
            <a:spLocks noGrp="1"/>
          </p:cNvSpPr>
          <p:nvPr>
            <p:ph type="dt" sz="half" idx="10"/>
          </p:nvPr>
        </p:nvSpPr>
        <p:spPr/>
        <p:txBody>
          <a:bodyPr/>
          <a:lstStyle/>
          <a:p>
            <a:fld id="{F6C23B8C-04F0-40DD-AAFD-C799C3A75D33}" type="datetimeFigureOut">
              <a:rPr lang="zh-TW" altLang="en-US" smtClean="0"/>
              <a:t>2021/10/28</a:t>
            </a:fld>
            <a:endParaRPr lang="zh-TW" altLang="en-US"/>
          </a:p>
        </p:txBody>
      </p:sp>
      <p:sp>
        <p:nvSpPr>
          <p:cNvPr id="8" name="頁尾版面配置區 7">
            <a:extLst>
              <a:ext uri="{FF2B5EF4-FFF2-40B4-BE49-F238E27FC236}">
                <a16:creationId xmlns:a16="http://schemas.microsoft.com/office/drawing/2014/main" id="{C82FB67B-EB35-4F33-A7B8-A59F3545014E}"/>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56F046FA-6C20-44AC-A21B-876D6DA912BC}"/>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3670753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97997F-BBDD-4562-811F-D414766465A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8C5C30F-198C-4074-A879-D59C07B32C74}"/>
              </a:ext>
            </a:extLst>
          </p:cNvPr>
          <p:cNvSpPr>
            <a:spLocks noGrp="1"/>
          </p:cNvSpPr>
          <p:nvPr>
            <p:ph type="dt" sz="half" idx="10"/>
          </p:nvPr>
        </p:nvSpPr>
        <p:spPr/>
        <p:txBody>
          <a:bodyPr/>
          <a:lstStyle/>
          <a:p>
            <a:fld id="{F6C23B8C-04F0-40DD-AAFD-C799C3A75D33}" type="datetimeFigureOut">
              <a:rPr lang="zh-TW" altLang="en-US" smtClean="0"/>
              <a:t>2021/10/28</a:t>
            </a:fld>
            <a:endParaRPr lang="zh-TW" altLang="en-US"/>
          </a:p>
        </p:txBody>
      </p:sp>
      <p:sp>
        <p:nvSpPr>
          <p:cNvPr id="4" name="頁尾版面配置區 3">
            <a:extLst>
              <a:ext uri="{FF2B5EF4-FFF2-40B4-BE49-F238E27FC236}">
                <a16:creationId xmlns:a16="http://schemas.microsoft.com/office/drawing/2014/main" id="{46B99179-B7C4-40F6-9694-912B30B4DADA}"/>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D5659D54-E364-4F85-BCB1-959F12FBB764}"/>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2328584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4A1FBFB7-CACA-49E8-A2E0-3843D62E8959}"/>
              </a:ext>
            </a:extLst>
          </p:cNvPr>
          <p:cNvSpPr>
            <a:spLocks noGrp="1"/>
          </p:cNvSpPr>
          <p:nvPr>
            <p:ph type="dt" sz="half" idx="10"/>
          </p:nvPr>
        </p:nvSpPr>
        <p:spPr/>
        <p:txBody>
          <a:bodyPr/>
          <a:lstStyle/>
          <a:p>
            <a:fld id="{F6C23B8C-04F0-40DD-AAFD-C799C3A75D33}" type="datetimeFigureOut">
              <a:rPr lang="zh-TW" altLang="en-US" smtClean="0"/>
              <a:t>2021/10/28</a:t>
            </a:fld>
            <a:endParaRPr lang="zh-TW" altLang="en-US"/>
          </a:p>
        </p:txBody>
      </p:sp>
      <p:sp>
        <p:nvSpPr>
          <p:cNvPr id="3" name="頁尾版面配置區 2">
            <a:extLst>
              <a:ext uri="{FF2B5EF4-FFF2-40B4-BE49-F238E27FC236}">
                <a16:creationId xmlns:a16="http://schemas.microsoft.com/office/drawing/2014/main" id="{3AE18A3C-4246-4CDB-82DF-7832BFAB1829}"/>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E20EF71-43C2-4E8A-A4C2-8BC5A5E246C1}"/>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3102056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C49F34-EF8D-4E03-9C03-CD1BDE69FE8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89FE9363-610C-4C3E-95E1-185B7B00B8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6CA6F42E-0C2B-4CD3-8A7F-2A4F967FE2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CC1DE91-E474-453E-AD9E-B802064D6DB4}"/>
              </a:ext>
            </a:extLst>
          </p:cNvPr>
          <p:cNvSpPr>
            <a:spLocks noGrp="1"/>
          </p:cNvSpPr>
          <p:nvPr>
            <p:ph type="dt" sz="half" idx="10"/>
          </p:nvPr>
        </p:nvSpPr>
        <p:spPr/>
        <p:txBody>
          <a:bodyPr/>
          <a:lstStyle/>
          <a:p>
            <a:fld id="{F6C23B8C-04F0-40DD-AAFD-C799C3A75D33}" type="datetimeFigureOut">
              <a:rPr lang="zh-TW" altLang="en-US" smtClean="0"/>
              <a:t>2021/10/28</a:t>
            </a:fld>
            <a:endParaRPr lang="zh-TW" altLang="en-US"/>
          </a:p>
        </p:txBody>
      </p:sp>
      <p:sp>
        <p:nvSpPr>
          <p:cNvPr id="6" name="頁尾版面配置區 5">
            <a:extLst>
              <a:ext uri="{FF2B5EF4-FFF2-40B4-BE49-F238E27FC236}">
                <a16:creationId xmlns:a16="http://schemas.microsoft.com/office/drawing/2014/main" id="{383CBAC1-67D4-4F20-A271-06912AC0F8C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2DEAFD7-825E-40C4-80D2-4DD94AEB5E8A}"/>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1698296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6F942E-47CA-4E0E-9D4A-4D8591F932C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29D7568-0222-4300-9033-B5E4EB52B3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BE09A352-7DC5-408E-8547-483E847254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44BB4B8F-89FC-43A7-BA8A-F53EF5A4FC32}"/>
              </a:ext>
            </a:extLst>
          </p:cNvPr>
          <p:cNvSpPr>
            <a:spLocks noGrp="1"/>
          </p:cNvSpPr>
          <p:nvPr>
            <p:ph type="dt" sz="half" idx="10"/>
          </p:nvPr>
        </p:nvSpPr>
        <p:spPr/>
        <p:txBody>
          <a:bodyPr/>
          <a:lstStyle/>
          <a:p>
            <a:fld id="{F6C23B8C-04F0-40DD-AAFD-C799C3A75D33}" type="datetimeFigureOut">
              <a:rPr lang="zh-TW" altLang="en-US" smtClean="0"/>
              <a:t>2021/10/28</a:t>
            </a:fld>
            <a:endParaRPr lang="zh-TW" altLang="en-US"/>
          </a:p>
        </p:txBody>
      </p:sp>
      <p:sp>
        <p:nvSpPr>
          <p:cNvPr id="6" name="頁尾版面配置區 5">
            <a:extLst>
              <a:ext uri="{FF2B5EF4-FFF2-40B4-BE49-F238E27FC236}">
                <a16:creationId xmlns:a16="http://schemas.microsoft.com/office/drawing/2014/main" id="{BCE71494-C6AD-4885-A1B9-7080F67347F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59B4B62-4A60-4B3D-99C3-DD07396AD795}"/>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1118928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6318DE-9DD4-4B1D-A773-E7B524D77D2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30B5D6CB-2567-43F2-B662-0FA1EE3E44D3}"/>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CD77D00-FE41-4A97-A6D3-0A13D0503052}"/>
              </a:ext>
            </a:extLst>
          </p:cNvPr>
          <p:cNvSpPr>
            <a:spLocks noGrp="1"/>
          </p:cNvSpPr>
          <p:nvPr>
            <p:ph type="dt" sz="half" idx="10"/>
          </p:nvPr>
        </p:nvSpPr>
        <p:spPr/>
        <p:txBody>
          <a:bodyPr/>
          <a:lstStyle/>
          <a:p>
            <a:fld id="{F6C23B8C-04F0-40DD-AAFD-C799C3A75D33}" type="datetimeFigureOut">
              <a:rPr lang="zh-TW" altLang="en-US" smtClean="0"/>
              <a:t>2021/10/28</a:t>
            </a:fld>
            <a:endParaRPr lang="zh-TW" altLang="en-US"/>
          </a:p>
        </p:txBody>
      </p:sp>
      <p:sp>
        <p:nvSpPr>
          <p:cNvPr id="5" name="頁尾版面配置區 4">
            <a:extLst>
              <a:ext uri="{FF2B5EF4-FFF2-40B4-BE49-F238E27FC236}">
                <a16:creationId xmlns:a16="http://schemas.microsoft.com/office/drawing/2014/main" id="{AE2CE754-AE67-4893-8366-0615E8F5CF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AC70F4B-CCA6-4C17-AE80-223FAA01107A}"/>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3845386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979B0B99-87FF-4E19-B764-1480BA1354F9}"/>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3DDB4BE-A91F-410D-B343-3129D0AD2B79}"/>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B4D9DCA-251D-460E-908A-7E01E1E6C907}"/>
              </a:ext>
            </a:extLst>
          </p:cNvPr>
          <p:cNvSpPr>
            <a:spLocks noGrp="1"/>
          </p:cNvSpPr>
          <p:nvPr>
            <p:ph type="dt" sz="half" idx="10"/>
          </p:nvPr>
        </p:nvSpPr>
        <p:spPr/>
        <p:txBody>
          <a:bodyPr/>
          <a:lstStyle/>
          <a:p>
            <a:fld id="{F6C23B8C-04F0-40DD-AAFD-C799C3A75D33}" type="datetimeFigureOut">
              <a:rPr lang="zh-TW" altLang="en-US" smtClean="0"/>
              <a:t>2021/10/28</a:t>
            </a:fld>
            <a:endParaRPr lang="zh-TW" altLang="en-US"/>
          </a:p>
        </p:txBody>
      </p:sp>
      <p:sp>
        <p:nvSpPr>
          <p:cNvPr id="5" name="頁尾版面配置區 4">
            <a:extLst>
              <a:ext uri="{FF2B5EF4-FFF2-40B4-BE49-F238E27FC236}">
                <a16:creationId xmlns:a16="http://schemas.microsoft.com/office/drawing/2014/main" id="{B4ECFD4B-35D4-4A5E-93B5-385ADDE19FC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88EE310-7AEC-4980-883F-CE19C0DACCD6}"/>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40507510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265E24-9E4A-415A-93D4-F362FE34B27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618AD114-A8B3-4E11-B4F0-F070ED7971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21830790-7321-4E6B-91E9-561B8E3D41F0}"/>
              </a:ext>
            </a:extLst>
          </p:cNvPr>
          <p:cNvSpPr>
            <a:spLocks noGrp="1"/>
          </p:cNvSpPr>
          <p:nvPr>
            <p:ph type="dt" sz="half" idx="10"/>
          </p:nvPr>
        </p:nvSpPr>
        <p:spPr/>
        <p:txBody>
          <a:bodyPr/>
          <a:lstStyle/>
          <a:p>
            <a:fld id="{80FFF28F-3CD1-41A4-B883-104A984D965D}" type="datetimeFigureOut">
              <a:rPr lang="en-US" altLang="zh-TW"/>
              <a:t>10/28/2021</a:t>
            </a:fld>
            <a:endParaRPr lang="zh-TW" altLang="en-US"/>
          </a:p>
        </p:txBody>
      </p:sp>
      <p:sp>
        <p:nvSpPr>
          <p:cNvPr id="5" name="頁尾版面配置區 4">
            <a:extLst>
              <a:ext uri="{FF2B5EF4-FFF2-40B4-BE49-F238E27FC236}">
                <a16:creationId xmlns:a16="http://schemas.microsoft.com/office/drawing/2014/main" id="{24CFEA27-190C-4D18-99EE-0CF5D898388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EAD8A91-B093-4DC3-A7E9-A1BD8CF3005A}"/>
              </a:ext>
            </a:extLst>
          </p:cNvPr>
          <p:cNvSpPr>
            <a:spLocks noGrp="1"/>
          </p:cNvSpPr>
          <p:nvPr>
            <p:ph type="sldNum" sz="quarter" idx="12"/>
          </p:nvPr>
        </p:nvSpPr>
        <p:spPr/>
        <p:txBody>
          <a:bodyPr/>
          <a:lstStyle/>
          <a:p>
            <a:fld id="{4166FC43-FCC5-49BD-A2E9-86F29E386E6E}" type="slidenum">
              <a:rPr lang="en-US" altLang="zh-TW"/>
              <a:t>‹#›</a:t>
            </a:fld>
            <a:endParaRPr lang="zh-TW" altLang="en-US"/>
          </a:p>
        </p:txBody>
      </p:sp>
    </p:spTree>
    <p:extLst>
      <p:ext uri="{BB962C8B-B14F-4D97-AF65-F5344CB8AC3E}">
        <p14:creationId xmlns:p14="http://schemas.microsoft.com/office/powerpoint/2010/main" val="3051427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24A408-DD2D-48B1-9D3F-57C801AA358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840A14D-B441-48C1-9DA6-41B3A6002816}"/>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CA206B3-A794-4958-8002-D28F19DE7FCF}"/>
              </a:ext>
            </a:extLst>
          </p:cNvPr>
          <p:cNvSpPr>
            <a:spLocks noGrp="1"/>
          </p:cNvSpPr>
          <p:nvPr>
            <p:ph type="dt" sz="half" idx="10"/>
          </p:nvPr>
        </p:nvSpPr>
        <p:spPr/>
        <p:txBody>
          <a:bodyPr/>
          <a:lstStyle/>
          <a:p>
            <a:fld id="{80FFF28F-3CD1-41A4-B883-104A984D965D}" type="datetimeFigureOut">
              <a:rPr lang="en-US" altLang="zh-TW"/>
              <a:t>10/28/2021</a:t>
            </a:fld>
            <a:endParaRPr lang="zh-TW" altLang="en-US"/>
          </a:p>
        </p:txBody>
      </p:sp>
      <p:sp>
        <p:nvSpPr>
          <p:cNvPr id="5" name="頁尾版面配置區 4">
            <a:extLst>
              <a:ext uri="{FF2B5EF4-FFF2-40B4-BE49-F238E27FC236}">
                <a16:creationId xmlns:a16="http://schemas.microsoft.com/office/drawing/2014/main" id="{C61284AE-6EDA-4E5E-A583-DFBE756A975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03C6B29-33C0-47CA-9273-43FD3D0F70C7}"/>
              </a:ext>
            </a:extLst>
          </p:cNvPr>
          <p:cNvSpPr>
            <a:spLocks noGrp="1"/>
          </p:cNvSpPr>
          <p:nvPr>
            <p:ph type="sldNum" sz="quarter" idx="12"/>
          </p:nvPr>
        </p:nvSpPr>
        <p:spPr/>
        <p:txBody>
          <a:bodyPr/>
          <a:lstStyle/>
          <a:p>
            <a:fld id="{4166FC43-FCC5-49BD-A2E9-86F29E386E6E}" type="slidenum">
              <a:rPr lang="en-US" altLang="zh-TW"/>
              <a:t>‹#›</a:t>
            </a:fld>
            <a:endParaRPr lang="zh-TW" altLang="en-US"/>
          </a:p>
        </p:txBody>
      </p:sp>
    </p:spTree>
    <p:extLst>
      <p:ext uri="{BB962C8B-B14F-4D97-AF65-F5344CB8AC3E}">
        <p14:creationId xmlns:p14="http://schemas.microsoft.com/office/powerpoint/2010/main" val="41179767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6027A5-8C1B-4360-A6E6-9C4FDDDAEFEA}"/>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137695DA-3EEB-4E2C-8982-2F52AADE13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E34BECB2-816D-4CD5-828A-8ACF8115F4CE}"/>
              </a:ext>
            </a:extLst>
          </p:cNvPr>
          <p:cNvSpPr>
            <a:spLocks noGrp="1"/>
          </p:cNvSpPr>
          <p:nvPr>
            <p:ph type="dt" sz="half" idx="10"/>
          </p:nvPr>
        </p:nvSpPr>
        <p:spPr/>
        <p:txBody>
          <a:bodyPr/>
          <a:lstStyle/>
          <a:p>
            <a:fld id="{80FFF28F-3CD1-41A4-B883-104A984D965D}" type="datetimeFigureOut">
              <a:rPr lang="en-US" altLang="zh-TW"/>
              <a:t>10/28/2021</a:t>
            </a:fld>
            <a:endParaRPr lang="zh-TW" altLang="en-US"/>
          </a:p>
        </p:txBody>
      </p:sp>
      <p:sp>
        <p:nvSpPr>
          <p:cNvPr id="5" name="頁尾版面配置區 4">
            <a:extLst>
              <a:ext uri="{FF2B5EF4-FFF2-40B4-BE49-F238E27FC236}">
                <a16:creationId xmlns:a16="http://schemas.microsoft.com/office/drawing/2014/main" id="{C90024BA-0919-4B73-AFEC-AA7318769ED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1015E5D-A5D3-40DA-BA7D-C48061936BE1}"/>
              </a:ext>
            </a:extLst>
          </p:cNvPr>
          <p:cNvSpPr>
            <a:spLocks noGrp="1"/>
          </p:cNvSpPr>
          <p:nvPr>
            <p:ph type="sldNum" sz="quarter" idx="12"/>
          </p:nvPr>
        </p:nvSpPr>
        <p:spPr/>
        <p:txBody>
          <a:bodyPr/>
          <a:lstStyle/>
          <a:p>
            <a:fld id="{4166FC43-FCC5-49BD-A2E9-86F29E386E6E}" type="slidenum">
              <a:rPr lang="en-US" altLang="zh-TW"/>
              <a:t>‹#›</a:t>
            </a:fld>
            <a:endParaRPr lang="zh-TW" altLang="en-US"/>
          </a:p>
        </p:txBody>
      </p:sp>
    </p:spTree>
    <p:extLst>
      <p:ext uri="{BB962C8B-B14F-4D97-AF65-F5344CB8AC3E}">
        <p14:creationId xmlns:p14="http://schemas.microsoft.com/office/powerpoint/2010/main" val="11931281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2B80BF-53D6-4C42-B1A3-42EDAFF01A5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130190B4-8313-4933-A4D6-0D7D54406114}"/>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A56EDE59-BF86-469C-93E2-B699BB354DE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C5DC5293-4A3A-4ABA-B4BE-28F35ADC7C2D}"/>
              </a:ext>
            </a:extLst>
          </p:cNvPr>
          <p:cNvSpPr>
            <a:spLocks noGrp="1"/>
          </p:cNvSpPr>
          <p:nvPr>
            <p:ph type="dt" sz="half" idx="10"/>
          </p:nvPr>
        </p:nvSpPr>
        <p:spPr/>
        <p:txBody>
          <a:bodyPr/>
          <a:lstStyle/>
          <a:p>
            <a:fld id="{80FFF28F-3CD1-41A4-B883-104A984D965D}" type="datetimeFigureOut">
              <a:rPr lang="en-US" altLang="zh-TW"/>
              <a:t>10/28/2021</a:t>
            </a:fld>
            <a:endParaRPr lang="zh-TW" altLang="en-US"/>
          </a:p>
        </p:txBody>
      </p:sp>
      <p:sp>
        <p:nvSpPr>
          <p:cNvPr id="6" name="頁尾版面配置區 5">
            <a:extLst>
              <a:ext uri="{FF2B5EF4-FFF2-40B4-BE49-F238E27FC236}">
                <a16:creationId xmlns:a16="http://schemas.microsoft.com/office/drawing/2014/main" id="{FFFA3201-0E6B-4099-9A66-9B8AD04D0ED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56A34F5-2242-42EF-9D59-F18A5630A4DF}"/>
              </a:ext>
            </a:extLst>
          </p:cNvPr>
          <p:cNvSpPr>
            <a:spLocks noGrp="1"/>
          </p:cNvSpPr>
          <p:nvPr>
            <p:ph type="sldNum" sz="quarter" idx="12"/>
          </p:nvPr>
        </p:nvSpPr>
        <p:spPr/>
        <p:txBody>
          <a:bodyPr/>
          <a:lstStyle/>
          <a:p>
            <a:fld id="{4166FC43-FCC5-49BD-A2E9-86F29E386E6E}" type="slidenum">
              <a:rPr lang="en-US" altLang="zh-TW"/>
              <a:t>‹#›</a:t>
            </a:fld>
            <a:endParaRPr lang="zh-TW" altLang="en-US"/>
          </a:p>
        </p:txBody>
      </p:sp>
    </p:spTree>
    <p:extLst>
      <p:ext uri="{BB962C8B-B14F-4D97-AF65-F5344CB8AC3E}">
        <p14:creationId xmlns:p14="http://schemas.microsoft.com/office/powerpoint/2010/main" val="8323926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51C18F-0A8B-4E46-BC23-532086DB41F7}"/>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47579047-8040-4297-98F3-2840615189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12AC8B08-28C6-42D1-B555-9FDDF99ABC34}"/>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A24D0317-84ED-4C07-B8C0-E054746637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F8E9301D-0965-4A0E-9D8B-D8E6E8AEA58D}"/>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FD15FF33-B7CE-4952-9F9C-7648C7B7ECA5}"/>
              </a:ext>
            </a:extLst>
          </p:cNvPr>
          <p:cNvSpPr>
            <a:spLocks noGrp="1"/>
          </p:cNvSpPr>
          <p:nvPr>
            <p:ph type="dt" sz="half" idx="10"/>
          </p:nvPr>
        </p:nvSpPr>
        <p:spPr/>
        <p:txBody>
          <a:bodyPr/>
          <a:lstStyle/>
          <a:p>
            <a:fld id="{80FFF28F-3CD1-41A4-B883-104A984D965D}" type="datetimeFigureOut">
              <a:rPr lang="en-US" altLang="zh-TW"/>
              <a:t>10/28/2021</a:t>
            </a:fld>
            <a:endParaRPr lang="zh-TW" altLang="en-US"/>
          </a:p>
        </p:txBody>
      </p:sp>
      <p:sp>
        <p:nvSpPr>
          <p:cNvPr id="8" name="頁尾版面配置區 7">
            <a:extLst>
              <a:ext uri="{FF2B5EF4-FFF2-40B4-BE49-F238E27FC236}">
                <a16:creationId xmlns:a16="http://schemas.microsoft.com/office/drawing/2014/main" id="{1A00579D-0082-460F-8EE0-EED4881AC4B9}"/>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EA28FDDC-34C7-46D2-BB33-C953AEE52899}"/>
              </a:ext>
            </a:extLst>
          </p:cNvPr>
          <p:cNvSpPr>
            <a:spLocks noGrp="1"/>
          </p:cNvSpPr>
          <p:nvPr>
            <p:ph type="sldNum" sz="quarter" idx="12"/>
          </p:nvPr>
        </p:nvSpPr>
        <p:spPr/>
        <p:txBody>
          <a:bodyPr/>
          <a:lstStyle/>
          <a:p>
            <a:fld id="{4166FC43-FCC5-49BD-A2E9-86F29E386E6E}" type="slidenum">
              <a:rPr lang="en-US" altLang="zh-TW"/>
              <a:t>‹#›</a:t>
            </a:fld>
            <a:endParaRPr lang="zh-TW" altLang="en-US"/>
          </a:p>
        </p:txBody>
      </p:sp>
    </p:spTree>
    <p:extLst>
      <p:ext uri="{BB962C8B-B14F-4D97-AF65-F5344CB8AC3E}">
        <p14:creationId xmlns:p14="http://schemas.microsoft.com/office/powerpoint/2010/main" val="3800101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DB58C8-9B93-45BB-AA23-12B16693012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12E6DA0B-D427-4739-9DFA-9BE826B36546}"/>
              </a:ext>
            </a:extLst>
          </p:cNvPr>
          <p:cNvSpPr>
            <a:spLocks noGrp="1"/>
          </p:cNvSpPr>
          <p:nvPr>
            <p:ph type="dt" sz="half" idx="10"/>
          </p:nvPr>
        </p:nvSpPr>
        <p:spPr/>
        <p:txBody>
          <a:bodyPr/>
          <a:lstStyle/>
          <a:p>
            <a:fld id="{80FFF28F-3CD1-41A4-B883-104A984D965D}" type="datetimeFigureOut">
              <a:rPr lang="en-US" altLang="zh-TW"/>
              <a:t>10/28/2021</a:t>
            </a:fld>
            <a:endParaRPr lang="zh-TW" altLang="en-US"/>
          </a:p>
        </p:txBody>
      </p:sp>
      <p:sp>
        <p:nvSpPr>
          <p:cNvPr id="4" name="頁尾版面配置區 3">
            <a:extLst>
              <a:ext uri="{FF2B5EF4-FFF2-40B4-BE49-F238E27FC236}">
                <a16:creationId xmlns:a16="http://schemas.microsoft.com/office/drawing/2014/main" id="{1D3C3E1F-D80B-49D2-AABF-0F73C192654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C010BA16-021C-4F04-BD64-848495787508}"/>
              </a:ext>
            </a:extLst>
          </p:cNvPr>
          <p:cNvSpPr>
            <a:spLocks noGrp="1"/>
          </p:cNvSpPr>
          <p:nvPr>
            <p:ph type="sldNum" sz="quarter" idx="12"/>
          </p:nvPr>
        </p:nvSpPr>
        <p:spPr/>
        <p:txBody>
          <a:bodyPr/>
          <a:lstStyle/>
          <a:p>
            <a:fld id="{4166FC43-FCC5-49BD-A2E9-86F29E386E6E}" type="slidenum">
              <a:rPr lang="en-US" altLang="zh-TW"/>
              <a:t>‹#›</a:t>
            </a:fld>
            <a:endParaRPr lang="zh-TW" altLang="en-US"/>
          </a:p>
        </p:txBody>
      </p:sp>
    </p:spTree>
    <p:extLst>
      <p:ext uri="{BB962C8B-B14F-4D97-AF65-F5344CB8AC3E}">
        <p14:creationId xmlns:p14="http://schemas.microsoft.com/office/powerpoint/2010/main" val="33795050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ECD0CDC6-415C-4959-9A3D-5D9C3D4DDC63}"/>
              </a:ext>
            </a:extLst>
          </p:cNvPr>
          <p:cNvSpPr>
            <a:spLocks noGrp="1"/>
          </p:cNvSpPr>
          <p:nvPr>
            <p:ph type="dt" sz="half" idx="10"/>
          </p:nvPr>
        </p:nvSpPr>
        <p:spPr/>
        <p:txBody>
          <a:bodyPr/>
          <a:lstStyle/>
          <a:p>
            <a:fld id="{80FFF28F-3CD1-41A4-B883-104A984D965D}" type="datetimeFigureOut">
              <a:rPr lang="en-US" altLang="zh-TW"/>
              <a:t>10/28/2021</a:t>
            </a:fld>
            <a:endParaRPr lang="zh-TW" altLang="en-US"/>
          </a:p>
        </p:txBody>
      </p:sp>
      <p:sp>
        <p:nvSpPr>
          <p:cNvPr id="3" name="頁尾版面配置區 2">
            <a:extLst>
              <a:ext uri="{FF2B5EF4-FFF2-40B4-BE49-F238E27FC236}">
                <a16:creationId xmlns:a16="http://schemas.microsoft.com/office/drawing/2014/main" id="{D8923831-337E-4395-9E16-559018F3493B}"/>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E6385672-59C7-426D-A2AA-D41AD071395D}"/>
              </a:ext>
            </a:extLst>
          </p:cNvPr>
          <p:cNvSpPr>
            <a:spLocks noGrp="1"/>
          </p:cNvSpPr>
          <p:nvPr>
            <p:ph type="sldNum" sz="quarter" idx="12"/>
          </p:nvPr>
        </p:nvSpPr>
        <p:spPr/>
        <p:txBody>
          <a:bodyPr/>
          <a:lstStyle/>
          <a:p>
            <a:fld id="{4166FC43-FCC5-49BD-A2E9-86F29E386E6E}" type="slidenum">
              <a:rPr lang="en-US" altLang="zh-TW"/>
              <a:t>‹#›</a:t>
            </a:fld>
            <a:endParaRPr lang="zh-TW" altLang="en-US"/>
          </a:p>
        </p:txBody>
      </p:sp>
    </p:spTree>
    <p:extLst>
      <p:ext uri="{BB962C8B-B14F-4D97-AF65-F5344CB8AC3E}">
        <p14:creationId xmlns:p14="http://schemas.microsoft.com/office/powerpoint/2010/main" val="35263737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D6047C-FC7B-4C16-BF80-8D0F8DC60D4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5318BAEC-BD3A-4488-B1CC-839B24D8F7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4D2851B3-2808-4D79-B819-B411EC187B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F7307602-4ED8-4F03-B8E7-65EE05424701}"/>
              </a:ext>
            </a:extLst>
          </p:cNvPr>
          <p:cNvSpPr>
            <a:spLocks noGrp="1"/>
          </p:cNvSpPr>
          <p:nvPr>
            <p:ph type="dt" sz="half" idx="10"/>
          </p:nvPr>
        </p:nvSpPr>
        <p:spPr/>
        <p:txBody>
          <a:bodyPr/>
          <a:lstStyle/>
          <a:p>
            <a:fld id="{80FFF28F-3CD1-41A4-B883-104A984D965D}" type="datetimeFigureOut">
              <a:rPr lang="en-US" altLang="zh-TW"/>
              <a:t>10/28/2021</a:t>
            </a:fld>
            <a:endParaRPr lang="zh-TW" altLang="en-US"/>
          </a:p>
        </p:txBody>
      </p:sp>
      <p:sp>
        <p:nvSpPr>
          <p:cNvPr id="6" name="頁尾版面配置區 5">
            <a:extLst>
              <a:ext uri="{FF2B5EF4-FFF2-40B4-BE49-F238E27FC236}">
                <a16:creationId xmlns:a16="http://schemas.microsoft.com/office/drawing/2014/main" id="{97F00F31-7BA9-4048-BA2C-9349C514359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D4F3F22-21DF-44EF-8D31-D9716F80CFFA}"/>
              </a:ext>
            </a:extLst>
          </p:cNvPr>
          <p:cNvSpPr>
            <a:spLocks noGrp="1"/>
          </p:cNvSpPr>
          <p:nvPr>
            <p:ph type="sldNum" sz="quarter" idx="12"/>
          </p:nvPr>
        </p:nvSpPr>
        <p:spPr/>
        <p:txBody>
          <a:bodyPr/>
          <a:lstStyle/>
          <a:p>
            <a:fld id="{4166FC43-FCC5-49BD-A2E9-86F29E386E6E}" type="slidenum">
              <a:rPr lang="en-US" altLang="zh-TW"/>
              <a:t>‹#›</a:t>
            </a:fld>
            <a:endParaRPr lang="zh-TW" altLang="en-US"/>
          </a:p>
        </p:txBody>
      </p:sp>
    </p:spTree>
    <p:extLst>
      <p:ext uri="{BB962C8B-B14F-4D97-AF65-F5344CB8AC3E}">
        <p14:creationId xmlns:p14="http://schemas.microsoft.com/office/powerpoint/2010/main" val="25695311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7A9581B-8E27-4ACC-818F-E927B83026C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F150D132-E08C-488F-8951-EE1B370D09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7D142269-315D-4458-9C55-A9E00E69EA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23F9103A-8AEF-43D8-A4F7-5E3E5828A6A0}"/>
              </a:ext>
            </a:extLst>
          </p:cNvPr>
          <p:cNvSpPr>
            <a:spLocks noGrp="1"/>
          </p:cNvSpPr>
          <p:nvPr>
            <p:ph type="dt" sz="half" idx="10"/>
          </p:nvPr>
        </p:nvSpPr>
        <p:spPr/>
        <p:txBody>
          <a:bodyPr/>
          <a:lstStyle/>
          <a:p>
            <a:fld id="{80FFF28F-3CD1-41A4-B883-104A984D965D}" type="datetimeFigureOut">
              <a:rPr lang="en-US" altLang="zh-TW"/>
              <a:t>10/28/2021</a:t>
            </a:fld>
            <a:endParaRPr lang="zh-TW" altLang="en-US"/>
          </a:p>
        </p:txBody>
      </p:sp>
      <p:sp>
        <p:nvSpPr>
          <p:cNvPr id="6" name="頁尾版面配置區 5">
            <a:extLst>
              <a:ext uri="{FF2B5EF4-FFF2-40B4-BE49-F238E27FC236}">
                <a16:creationId xmlns:a16="http://schemas.microsoft.com/office/drawing/2014/main" id="{71D07E82-7F8E-472C-ADDC-94ED9AAB070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FD03EFC-6C5C-47E1-8499-71FA34CDBBDC}"/>
              </a:ext>
            </a:extLst>
          </p:cNvPr>
          <p:cNvSpPr>
            <a:spLocks noGrp="1"/>
          </p:cNvSpPr>
          <p:nvPr>
            <p:ph type="sldNum" sz="quarter" idx="12"/>
          </p:nvPr>
        </p:nvSpPr>
        <p:spPr/>
        <p:txBody>
          <a:bodyPr/>
          <a:lstStyle/>
          <a:p>
            <a:fld id="{4166FC43-FCC5-49BD-A2E9-86F29E386E6E}" type="slidenum">
              <a:rPr lang="en-US" altLang="zh-TW"/>
              <a:t>‹#›</a:t>
            </a:fld>
            <a:endParaRPr lang="zh-TW" altLang="en-US"/>
          </a:p>
        </p:txBody>
      </p:sp>
    </p:spTree>
    <p:extLst>
      <p:ext uri="{BB962C8B-B14F-4D97-AF65-F5344CB8AC3E}">
        <p14:creationId xmlns:p14="http://schemas.microsoft.com/office/powerpoint/2010/main" val="15525314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3DA99E-848B-495E-BB8F-1BE3BF649A45}"/>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69BE7457-C0CD-4575-93E3-887FBA06D720}"/>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3777DE5-CFB8-493F-9B28-8302E34BDA02}"/>
              </a:ext>
            </a:extLst>
          </p:cNvPr>
          <p:cNvSpPr>
            <a:spLocks noGrp="1"/>
          </p:cNvSpPr>
          <p:nvPr>
            <p:ph type="dt" sz="half" idx="10"/>
          </p:nvPr>
        </p:nvSpPr>
        <p:spPr/>
        <p:txBody>
          <a:bodyPr/>
          <a:lstStyle/>
          <a:p>
            <a:fld id="{80FFF28F-3CD1-41A4-B883-104A984D965D}" type="datetimeFigureOut">
              <a:rPr lang="en-US" altLang="zh-TW"/>
              <a:t>10/28/2021</a:t>
            </a:fld>
            <a:endParaRPr lang="zh-TW" altLang="en-US"/>
          </a:p>
        </p:txBody>
      </p:sp>
      <p:sp>
        <p:nvSpPr>
          <p:cNvPr id="5" name="頁尾版面配置區 4">
            <a:extLst>
              <a:ext uri="{FF2B5EF4-FFF2-40B4-BE49-F238E27FC236}">
                <a16:creationId xmlns:a16="http://schemas.microsoft.com/office/drawing/2014/main" id="{96217A2C-CF1B-4060-ABF6-F49A0F5F17B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534CDDF-F6B4-45B8-A2DF-879220E67ECA}"/>
              </a:ext>
            </a:extLst>
          </p:cNvPr>
          <p:cNvSpPr>
            <a:spLocks noGrp="1"/>
          </p:cNvSpPr>
          <p:nvPr>
            <p:ph type="sldNum" sz="quarter" idx="12"/>
          </p:nvPr>
        </p:nvSpPr>
        <p:spPr/>
        <p:txBody>
          <a:bodyPr/>
          <a:lstStyle/>
          <a:p>
            <a:fld id="{4166FC43-FCC5-49BD-A2E9-86F29E386E6E}" type="slidenum">
              <a:rPr lang="en-US" altLang="zh-TW"/>
              <a:t>‹#›</a:t>
            </a:fld>
            <a:endParaRPr lang="zh-TW" altLang="en-US"/>
          </a:p>
        </p:txBody>
      </p:sp>
    </p:spTree>
    <p:extLst>
      <p:ext uri="{BB962C8B-B14F-4D97-AF65-F5344CB8AC3E}">
        <p14:creationId xmlns:p14="http://schemas.microsoft.com/office/powerpoint/2010/main" val="24186361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B513BE68-B4B9-4345-84DB-661A7188E7F5}"/>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58818121-FBAC-48CD-B871-20C09514DA5C}"/>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E0D01EF-D835-472A-B52F-257C21AF0327}"/>
              </a:ext>
            </a:extLst>
          </p:cNvPr>
          <p:cNvSpPr>
            <a:spLocks noGrp="1"/>
          </p:cNvSpPr>
          <p:nvPr>
            <p:ph type="dt" sz="half" idx="10"/>
          </p:nvPr>
        </p:nvSpPr>
        <p:spPr/>
        <p:txBody>
          <a:bodyPr/>
          <a:lstStyle/>
          <a:p>
            <a:fld id="{80FFF28F-3CD1-41A4-B883-104A984D965D}" type="datetimeFigureOut">
              <a:rPr lang="en-US" altLang="zh-TW"/>
              <a:t>10/28/2021</a:t>
            </a:fld>
            <a:endParaRPr lang="zh-TW" altLang="en-US"/>
          </a:p>
        </p:txBody>
      </p:sp>
      <p:sp>
        <p:nvSpPr>
          <p:cNvPr id="5" name="頁尾版面配置區 4">
            <a:extLst>
              <a:ext uri="{FF2B5EF4-FFF2-40B4-BE49-F238E27FC236}">
                <a16:creationId xmlns:a16="http://schemas.microsoft.com/office/drawing/2014/main" id="{DB9DDDB1-D4EA-40DD-B9E0-11E5889807B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8BC5435-64DB-4023-8700-B0CB4B2798AD}"/>
              </a:ext>
            </a:extLst>
          </p:cNvPr>
          <p:cNvSpPr>
            <a:spLocks noGrp="1"/>
          </p:cNvSpPr>
          <p:nvPr>
            <p:ph type="sldNum" sz="quarter" idx="12"/>
          </p:nvPr>
        </p:nvSpPr>
        <p:spPr/>
        <p:txBody>
          <a:bodyPr/>
          <a:lstStyle/>
          <a:p>
            <a:fld id="{4166FC43-FCC5-49BD-A2E9-86F29E386E6E}" type="slidenum">
              <a:rPr lang="en-US" altLang="zh-TW"/>
              <a:t>‹#›</a:t>
            </a:fld>
            <a:endParaRPr lang="zh-TW" altLang="en-US"/>
          </a:p>
        </p:txBody>
      </p:sp>
    </p:spTree>
    <p:extLst>
      <p:ext uri="{BB962C8B-B14F-4D97-AF65-F5344CB8AC3E}">
        <p14:creationId xmlns:p14="http://schemas.microsoft.com/office/powerpoint/2010/main" val="3326371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 /><Relationship Id="rId3" Type="http://schemas.openxmlformats.org/officeDocument/2006/relationships/slideLayout" Target="../slideLayouts/slideLayout14.xml" /><Relationship Id="rId7" Type="http://schemas.openxmlformats.org/officeDocument/2006/relationships/slideLayout" Target="../slideLayouts/slideLayout18.xml" /><Relationship Id="rId12" Type="http://schemas.openxmlformats.org/officeDocument/2006/relationships/theme" Target="../theme/theme2.xml" /><Relationship Id="rId2" Type="http://schemas.openxmlformats.org/officeDocument/2006/relationships/slideLayout" Target="../slideLayouts/slideLayout13.xml" /><Relationship Id="rId1" Type="http://schemas.openxmlformats.org/officeDocument/2006/relationships/slideLayout" Target="../slideLayouts/slideLayout12.xml" /><Relationship Id="rId6" Type="http://schemas.openxmlformats.org/officeDocument/2006/relationships/slideLayout" Target="../slideLayouts/slideLayout17.xml" /><Relationship Id="rId11" Type="http://schemas.openxmlformats.org/officeDocument/2006/relationships/slideLayout" Target="../slideLayouts/slideLayout22.xml" /><Relationship Id="rId5" Type="http://schemas.openxmlformats.org/officeDocument/2006/relationships/slideLayout" Target="../slideLayouts/slideLayout16.xml" /><Relationship Id="rId10" Type="http://schemas.openxmlformats.org/officeDocument/2006/relationships/slideLayout" Target="../slideLayouts/slideLayout21.xml" /><Relationship Id="rId4" Type="http://schemas.openxmlformats.org/officeDocument/2006/relationships/slideLayout" Target="../slideLayouts/slideLayout15.xml" /><Relationship Id="rId9" Type="http://schemas.openxmlformats.org/officeDocument/2006/relationships/slideLayout" Target="../slideLayouts/slideLayout20.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37CE74B4-E067-4B52-AAB0-28671B0D1C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BA4B5DA-4D6D-41A0-9DA0-B5249FCAC6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BBF7988-D185-4269-B875-9B0C6B3184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23B8C-04F0-40DD-AAFD-C799C3A75D33}" type="datetimeFigureOut">
              <a:rPr lang="zh-TW" altLang="en-US" smtClean="0"/>
              <a:t>2021/10/28</a:t>
            </a:fld>
            <a:endParaRPr lang="zh-TW" altLang="en-US"/>
          </a:p>
        </p:txBody>
      </p:sp>
      <p:sp>
        <p:nvSpPr>
          <p:cNvPr id="5" name="頁尾版面配置區 4">
            <a:extLst>
              <a:ext uri="{FF2B5EF4-FFF2-40B4-BE49-F238E27FC236}">
                <a16:creationId xmlns:a16="http://schemas.microsoft.com/office/drawing/2014/main" id="{B17BF83F-4DDA-4E5A-846B-2BE620207F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3EB1B69-3FA4-4081-B76B-8F17C7D378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15274301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2339634-9F79-46D9-8059-B1807A1D6D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D6B3E4D-9326-44BD-AA52-F0928947AD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D534425-6131-4123-A817-4037BFC6ED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FFF28F-3CD1-41A4-B883-104A984D965D}" type="datetimeFigureOut">
              <a:rPr lang="en-US" altLang="zh-TW"/>
              <a:t>10/28/2021</a:t>
            </a:fld>
            <a:endParaRPr lang="zh-TW" altLang="en-US"/>
          </a:p>
        </p:txBody>
      </p:sp>
      <p:sp>
        <p:nvSpPr>
          <p:cNvPr id="5" name="頁尾版面配置區 4">
            <a:extLst>
              <a:ext uri="{FF2B5EF4-FFF2-40B4-BE49-F238E27FC236}">
                <a16:creationId xmlns:a16="http://schemas.microsoft.com/office/drawing/2014/main" id="{F0C8E4B5-B3C7-40F3-B225-990EB08872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F82062CA-1BA0-4EC8-B524-8F76CB1BF0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66FC43-FCC5-49BD-A2E9-86F29E386E6E}" type="slidenum">
              <a:rPr lang="en-US" altLang="zh-TW"/>
              <a:t>‹#›</a:t>
            </a:fld>
            <a:endParaRPr lang="zh-TW" altLang="en-US"/>
          </a:p>
        </p:txBody>
      </p:sp>
    </p:spTree>
    <p:extLst>
      <p:ext uri="{BB962C8B-B14F-4D97-AF65-F5344CB8AC3E}">
        <p14:creationId xmlns:p14="http://schemas.microsoft.com/office/powerpoint/2010/main" val="19687775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13.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C020BB-2F3A-40BC-8D8D-94312CEA4980}"/>
              </a:ext>
            </a:extLst>
          </p:cNvPr>
          <p:cNvSpPr>
            <a:spLocks noGrp="1"/>
          </p:cNvSpPr>
          <p:nvPr>
            <p:ph type="ctrTitle"/>
          </p:nvPr>
        </p:nvSpPr>
        <p:spPr>
          <a:xfrm>
            <a:off x="486561" y="1122363"/>
            <a:ext cx="11249637" cy="2387600"/>
          </a:xfrm>
        </p:spPr>
        <p:txBody>
          <a:bodyPr anchor="t">
            <a:noAutofit/>
          </a:bodyPr>
          <a:lstStyle/>
          <a:p>
            <a:r>
              <a:rPr lang="af-ZA" altLang="zh-TW" sz="3200" b="1">
                <a:latin typeface="Times New Roman" panose="02020603050405020304" pitchFamily="18" charset="0"/>
                <a:cs typeface="Times New Roman" panose="02020603050405020304" pitchFamily="18" charset="0"/>
              </a:rPr>
              <a:t>Simulation-based Optimization on Quay Crane Scheduling of Container Terminals</a:t>
            </a:r>
            <a:br>
              <a:rPr lang="af-ZA" altLang="zh-TW" sz="3200" b="0" i="0">
                <a:solidFill>
                  <a:srgbClr val="000000"/>
                </a:solidFill>
                <a:effectLst/>
                <a:latin typeface="Times New Roman" panose="02020603050405020304" pitchFamily="18" charset="0"/>
              </a:rPr>
            </a:br>
            <a:r>
              <a:rPr lang="af-ZA" altLang="zh-TW" sz="3200" b="0" i="0">
                <a:solidFill>
                  <a:srgbClr val="000000"/>
                </a:solidFill>
                <a:effectLst/>
                <a:latin typeface="Times New Roman" panose="02020603050405020304" pitchFamily="18" charset="0"/>
              </a:rPr>
              <a:t>​</a:t>
            </a:r>
            <a:br>
              <a:rPr lang="af-ZA" altLang="zh-TW" sz="3200" b="0" i="0">
                <a:solidFill>
                  <a:srgbClr val="000000"/>
                </a:solidFill>
                <a:effectLst/>
                <a:latin typeface="Times New Roman" panose="02020603050405020304" pitchFamily="18" charset="0"/>
              </a:rPr>
            </a:br>
            <a:r>
              <a:rPr lang="af-ZA" altLang="zh-TW" sz="3200" b="1" i="0" u="none" strike="noStrike">
                <a:solidFill>
                  <a:srgbClr val="000000"/>
                </a:solidFill>
                <a:effectLst/>
                <a:latin typeface="Times New Roman" panose="02020603050405020304" pitchFamily="18" charset="0"/>
              </a:rPr>
              <a:t>Li Haoyuan, Sun Qi</a:t>
            </a:r>
            <a:br>
              <a:rPr lang="en-US" altLang="zh-TW" sz="3200" b="0" i="0" dirty="0">
                <a:solidFill>
                  <a:srgbClr val="505050"/>
                </a:solidFill>
                <a:effectLst/>
                <a:latin typeface="Times New Roman" panose="02020603050405020304" pitchFamily="18" charset="0"/>
                <a:cs typeface="Times New Roman" panose="02020603050405020304" pitchFamily="18" charset="0"/>
              </a:rPr>
            </a:br>
            <a:br>
              <a:rPr lang="en-US" altLang="zh-TW" sz="3200" b="0" i="0" dirty="0">
                <a:solidFill>
                  <a:srgbClr val="505050"/>
                </a:solidFill>
                <a:effectLst/>
                <a:latin typeface="Times New Roman" panose="02020603050405020304" pitchFamily="18" charset="0"/>
                <a:cs typeface="Times New Roman" panose="02020603050405020304" pitchFamily="18" charset="0"/>
              </a:rPr>
            </a:br>
            <a:endParaRPr lang="zh-TW" altLang="en-US" sz="32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0A29652B-FADC-4E71-AC46-521DE2EFB657}"/>
              </a:ext>
            </a:extLst>
          </p:cNvPr>
          <p:cNvSpPr>
            <a:spLocks noGrp="1"/>
          </p:cNvSpPr>
          <p:nvPr>
            <p:ph type="subTitle" idx="1"/>
          </p:nvPr>
        </p:nvSpPr>
        <p:spPr>
          <a:xfrm>
            <a:off x="1539379" y="3775787"/>
            <a:ext cx="9144000" cy="1655762"/>
          </a:xfrm>
        </p:spPr>
        <p:txBody>
          <a:bodyPr/>
          <a:lstStyle/>
          <a:p>
            <a:pPr algn="ctr"/>
            <a:r>
              <a:rPr lang="zh-TW" altLang="zh-TW" b="0" i="0">
                <a:effectLst/>
                <a:ea typeface="Times New Roman" panose="02020603050405020304" pitchFamily="18" charset="0"/>
              </a:rPr>
              <a:t> 29th Chinese Control And Decision Conference </a:t>
            </a:r>
            <a:r>
              <a:rPr lang="LID4096" altLang="zh-TW">
                <a:ea typeface="Times New Roman" panose="02020603050405020304" pitchFamily="18" charset="0"/>
              </a:rPr>
              <a:t>, </a:t>
            </a:r>
            <a:r>
              <a:rPr lang="af-ZA" altLang="zh-TW" b="0" i="0">
                <a:effectLst/>
              </a:rPr>
              <a:t>Chongqing, </a:t>
            </a:r>
            <a:r>
              <a:rPr lang="LID4096" altLang="zh-TW" b="0" i="0">
                <a:effectLst/>
              </a:rPr>
              <a:t> </a:t>
            </a:r>
            <a:r>
              <a:rPr lang="af-ZA" altLang="zh-TW" b="0" i="0">
                <a:effectLst/>
              </a:rPr>
              <a:t>China</a:t>
            </a:r>
            <a:r>
              <a:rPr lang="LID4096" altLang="zh-TW" b="0" i="0">
                <a:effectLst/>
              </a:rPr>
              <a:t>, 2017</a:t>
            </a:r>
            <a:endParaRPr lang="zh-TW" altLang="en-US" dirty="0"/>
          </a:p>
        </p:txBody>
      </p:sp>
      <p:sp>
        <p:nvSpPr>
          <p:cNvPr id="9" name="文字方塊 8">
            <a:extLst>
              <a:ext uri="{FF2B5EF4-FFF2-40B4-BE49-F238E27FC236}">
                <a16:creationId xmlns:a16="http://schemas.microsoft.com/office/drawing/2014/main" id="{B9014221-E47C-4C31-898A-DB1330B1B844}"/>
              </a:ext>
            </a:extLst>
          </p:cNvPr>
          <p:cNvSpPr txBox="1"/>
          <p:nvPr/>
        </p:nvSpPr>
        <p:spPr>
          <a:xfrm>
            <a:off x="9012620" y="5806966"/>
            <a:ext cx="2855309" cy="646331"/>
          </a:xfrm>
          <a:prstGeom prst="rect">
            <a:avLst/>
          </a:prstGeom>
          <a:noFill/>
        </p:spPr>
        <p:txBody>
          <a:bodyPr wrap="square">
            <a:spAutoFit/>
          </a:bodyPr>
          <a:lstStyle/>
          <a:p>
            <a:r>
              <a:rPr lang="en-US" altLang="zh-TW">
                <a:latin typeface="Times New Roman" panose="02020603050405020304" pitchFamily="18" charset="0"/>
                <a:cs typeface="Times New Roman" panose="02020603050405020304" pitchFamily="18" charset="0"/>
              </a:rPr>
              <a:t>P</a:t>
            </a:r>
            <a:r>
              <a:rPr lang="LID4096" altLang="zh-TW">
                <a:latin typeface="Times New Roman" panose="02020603050405020304" pitchFamily="18" charset="0"/>
                <a:cs typeface="Times New Roman" panose="02020603050405020304" pitchFamily="18" charset="0"/>
              </a:rPr>
              <a:t>resenter:Chih-Hsuan Chien</a:t>
            </a:r>
          </a:p>
          <a:p>
            <a:r>
              <a:rPr lang="LID4096" altLang="zh-TW">
                <a:latin typeface="Times New Roman" panose="02020603050405020304" pitchFamily="18" charset="0"/>
                <a:cs typeface="Times New Roman" panose="02020603050405020304" pitchFamily="18" charset="0"/>
              </a:rPr>
              <a:t>Date:Sept. 28, 2021</a:t>
            </a:r>
          </a:p>
        </p:txBody>
      </p:sp>
    </p:spTree>
    <p:extLst>
      <p:ext uri="{BB962C8B-B14F-4D97-AF65-F5344CB8AC3E}">
        <p14:creationId xmlns:p14="http://schemas.microsoft.com/office/powerpoint/2010/main" val="1494363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870A68-88BB-4FB5-BE44-0D35C223A1A5}"/>
              </a:ext>
            </a:extLst>
          </p:cNvPr>
          <p:cNvSpPr>
            <a:spLocks noGrp="1"/>
          </p:cNvSpPr>
          <p:nvPr>
            <p:ph type="title"/>
          </p:nvPr>
        </p:nvSpPr>
        <p:spPr/>
        <p:txBody>
          <a:bodyPr/>
          <a:lstStyle/>
          <a:p>
            <a:r>
              <a:rPr lang="en-US" altLang="zh-TW" dirty="0"/>
              <a:t>Abstract</a:t>
            </a:r>
            <a:br>
              <a:rPr lang="en-US" altLang="zh-TW" dirty="0"/>
            </a:br>
            <a:endParaRPr lang="zh-TW" altLang="en-US" dirty="0"/>
          </a:p>
        </p:txBody>
      </p:sp>
      <p:sp>
        <p:nvSpPr>
          <p:cNvPr id="3" name="內容版面配置區 2">
            <a:extLst>
              <a:ext uri="{FF2B5EF4-FFF2-40B4-BE49-F238E27FC236}">
                <a16:creationId xmlns:a16="http://schemas.microsoft.com/office/drawing/2014/main" id="{DAF13090-5757-4BE6-B49D-E4229783D809}"/>
              </a:ext>
            </a:extLst>
          </p:cNvPr>
          <p:cNvSpPr>
            <a:spLocks noGrp="1"/>
          </p:cNvSpPr>
          <p:nvPr>
            <p:ph idx="1"/>
          </p:nvPr>
        </p:nvSpPr>
        <p:spPr>
          <a:xfrm>
            <a:off x="563526" y="1382233"/>
            <a:ext cx="10790274" cy="4794730"/>
          </a:xfrm>
        </p:spPr>
        <p:txBody>
          <a:bodyPr>
            <a:normAutofit/>
          </a:bodyPr>
          <a:lstStyle/>
          <a:p>
            <a:pPr marL="0" indent="0">
              <a:buNone/>
            </a:pPr>
            <a:r>
              <a:rPr lang="en-US" altLang="zh-TW" b="0" i="0" dirty="0">
                <a:effectLst/>
              </a:rPr>
              <a:t>	</a:t>
            </a:r>
            <a:r>
              <a:rPr lang="af-ZA" altLang="zh-TW"/>
              <a:t>By applying the object-oriented simulation modeling method of discrete event system, this paper establishes an simulating model of container terminal operating system, including vessels, anchorages, berths, gantry cranes, internal and external container trucks and gate system. In order to solve the quay crane scheduling problem of container terminal, a lot of stochastic factors in the problem are taken into account. Simulation-based optimization (SBO) method is proposed to solve the problem. Genetic algorithm, particle swarm algorithm and simulated annealing algorithm are used respectively as the superior optimizer, and their application performance is compared and analyzed.</a:t>
            </a:r>
            <a:endParaRPr lang="zh-TW" altLang="en-US" dirty="0"/>
          </a:p>
        </p:txBody>
      </p:sp>
    </p:spTree>
    <p:extLst>
      <p:ext uri="{BB962C8B-B14F-4D97-AF65-F5344CB8AC3E}">
        <p14:creationId xmlns:p14="http://schemas.microsoft.com/office/powerpoint/2010/main" val="3086601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7F7D57-970C-4229-A408-4FA80BEA8B7F}"/>
              </a:ext>
            </a:extLst>
          </p:cNvPr>
          <p:cNvSpPr>
            <a:spLocks noGrp="1"/>
          </p:cNvSpPr>
          <p:nvPr>
            <p:ph type="title"/>
          </p:nvPr>
        </p:nvSpPr>
        <p:spPr/>
        <p:txBody>
          <a:bodyPr/>
          <a:lstStyle/>
          <a:p>
            <a:r>
              <a:rPr lang="zh-TW" altLang="zh-TW" b="1" i="0">
                <a:solidFill>
                  <a:srgbClr val="000000"/>
                </a:solidFill>
                <a:effectLst/>
                <a:ea typeface="Times New Roman" panose="02020603050405020304" pitchFamily="18" charset="0"/>
              </a:rPr>
              <a:t>Distribution</a:t>
            </a:r>
            <a:endParaRPr lang="zh-TW" altLang="en-US"/>
          </a:p>
        </p:txBody>
      </p:sp>
      <p:sp>
        <p:nvSpPr>
          <p:cNvPr id="3" name="內容版面配置區 2">
            <a:extLst>
              <a:ext uri="{FF2B5EF4-FFF2-40B4-BE49-F238E27FC236}">
                <a16:creationId xmlns:a16="http://schemas.microsoft.com/office/drawing/2014/main" id="{C064FE35-93FF-4FC7-86C8-0B9EB16C12EE}"/>
              </a:ext>
            </a:extLst>
          </p:cNvPr>
          <p:cNvSpPr>
            <a:spLocks noGrp="1"/>
          </p:cNvSpPr>
          <p:nvPr>
            <p:ph idx="1"/>
          </p:nvPr>
        </p:nvSpPr>
        <p:spPr>
          <a:xfrm>
            <a:off x="838199" y="1825625"/>
            <a:ext cx="5126421" cy="4351338"/>
          </a:xfrm>
        </p:spPr>
        <p:txBody>
          <a:bodyPr/>
          <a:lstStyle/>
          <a:p>
            <a:pPr rtl="0" fontAlgn="base"/>
            <a:r>
              <a:rPr lang="zh-TW" altLang="zh-TW" b="0" i="0" u="none" strike="noStrike">
                <a:solidFill>
                  <a:srgbClr val="000000"/>
                </a:solidFill>
                <a:effectLst/>
                <a:latin typeface="Arial" panose="020B0604020202020204" pitchFamily="34" charset="0"/>
                <a:ea typeface="Times New Roman" panose="02020603050405020304" pitchFamily="18" charset="0"/>
              </a:rPr>
              <a:t>berths</a:t>
            </a:r>
            <a:r>
              <a:rPr lang="en-US" altLang="zh-TW" b="0" i="0">
                <a:solidFill>
                  <a:srgbClr val="000000"/>
                </a:solidFill>
                <a:effectLst/>
                <a:latin typeface="Times New Roman" panose="02020603050405020304" pitchFamily="18" charset="0"/>
              </a:rPr>
              <a:t>​</a:t>
            </a:r>
            <a:endParaRPr lang="en-US" altLang="zh-TW" b="0" i="0">
              <a:solidFill>
                <a:srgbClr val="000000"/>
              </a:solidFill>
              <a:effectLst/>
              <a:latin typeface="Arial" panose="020B0604020202020204" pitchFamily="34" charset="0"/>
            </a:endParaRPr>
          </a:p>
          <a:p>
            <a:pPr rtl="0" fontAlgn="base"/>
            <a:r>
              <a:rPr lang="zh-TW" altLang="zh-TW" b="0" i="0" u="none" strike="noStrike">
                <a:solidFill>
                  <a:srgbClr val="000000"/>
                </a:solidFill>
                <a:effectLst/>
                <a:latin typeface="Arial" panose="020B0604020202020204" pitchFamily="34" charset="0"/>
                <a:ea typeface="Times New Roman" panose="02020603050405020304" pitchFamily="18" charset="0"/>
              </a:rPr>
              <a:t>quay cranes</a:t>
            </a:r>
            <a:r>
              <a:rPr lang="en-US" altLang="zh-TW" b="0" i="0">
                <a:solidFill>
                  <a:srgbClr val="000000"/>
                </a:solidFill>
                <a:effectLst/>
                <a:latin typeface="Times New Roman" panose="02020603050405020304" pitchFamily="18" charset="0"/>
              </a:rPr>
              <a:t>​</a:t>
            </a:r>
            <a:endParaRPr lang="en-US" altLang="zh-TW" b="0" i="0">
              <a:solidFill>
                <a:srgbClr val="000000"/>
              </a:solidFill>
              <a:effectLst/>
              <a:latin typeface="Arial" panose="020B0604020202020204" pitchFamily="34" charset="0"/>
            </a:endParaRPr>
          </a:p>
          <a:p>
            <a:pPr rtl="0" fontAlgn="base"/>
            <a:r>
              <a:rPr lang="zh-TW" altLang="zh-TW" b="0" i="0" u="none" strike="noStrike">
                <a:solidFill>
                  <a:srgbClr val="000000"/>
                </a:solidFill>
                <a:effectLst/>
                <a:latin typeface="Arial" panose="020B0604020202020204" pitchFamily="34" charset="0"/>
                <a:ea typeface="Times New Roman" panose="02020603050405020304" pitchFamily="18" charset="0"/>
              </a:rPr>
              <a:t>operating areas</a:t>
            </a:r>
            <a:r>
              <a:rPr lang="en-US" altLang="zh-TW" b="0" i="0">
                <a:solidFill>
                  <a:srgbClr val="000000"/>
                </a:solidFill>
                <a:effectLst/>
                <a:latin typeface="Times New Roman" panose="02020603050405020304" pitchFamily="18" charset="0"/>
              </a:rPr>
              <a:t>​</a:t>
            </a:r>
            <a:endParaRPr lang="en-US" altLang="zh-TW" b="0" i="0">
              <a:solidFill>
                <a:srgbClr val="000000"/>
              </a:solidFill>
              <a:effectLst/>
              <a:latin typeface="Arial" panose="020B0604020202020204" pitchFamily="34" charset="0"/>
            </a:endParaRPr>
          </a:p>
          <a:p>
            <a:pPr rtl="0" fontAlgn="base"/>
            <a:r>
              <a:rPr lang="en-US" altLang="zh-TW" b="0" i="0" u="none" strike="noStrike">
                <a:solidFill>
                  <a:srgbClr val="000000"/>
                </a:solidFill>
                <a:effectLst/>
                <a:latin typeface="Times New Roman" panose="02020603050405020304" pitchFamily="18" charset="0"/>
              </a:rPr>
              <a:t>internal</a:t>
            </a:r>
            <a:r>
              <a:rPr lang="zh-TW" altLang="zh-TW" b="0" i="0" u="none" strike="noStrike">
                <a:solidFill>
                  <a:srgbClr val="000000"/>
                </a:solidFill>
                <a:effectLst/>
                <a:latin typeface="Arial" panose="020B0604020202020204" pitchFamily="34" charset="0"/>
                <a:ea typeface="Times New Roman" panose="02020603050405020304" pitchFamily="18" charset="0"/>
              </a:rPr>
              <a:t> </a:t>
            </a:r>
            <a:r>
              <a:rPr lang="en-US" altLang="zh-TW" b="0" i="0" u="none" strike="noStrike">
                <a:solidFill>
                  <a:srgbClr val="000000"/>
                </a:solidFill>
                <a:effectLst/>
                <a:latin typeface="Times New Roman" panose="02020603050405020304" pitchFamily="18" charset="0"/>
              </a:rPr>
              <a:t>and</a:t>
            </a:r>
            <a:r>
              <a:rPr lang="zh-TW" altLang="zh-TW" b="0" i="0" u="none" strike="noStrike">
                <a:solidFill>
                  <a:srgbClr val="000000"/>
                </a:solidFill>
                <a:effectLst/>
                <a:latin typeface="Arial" panose="020B0604020202020204" pitchFamily="34" charset="0"/>
                <a:ea typeface="Times New Roman" panose="02020603050405020304" pitchFamily="18" charset="0"/>
              </a:rPr>
              <a:t> external container truck</a:t>
            </a:r>
            <a:r>
              <a:rPr lang="zh-TW" altLang="zh-TW" b="0" i="0">
                <a:solidFill>
                  <a:srgbClr val="000000"/>
                </a:solidFill>
                <a:effectLst/>
                <a:latin typeface="Arial" panose="020B0604020202020204" pitchFamily="34" charset="0"/>
                <a:ea typeface="Times New Roman" panose="02020603050405020304" pitchFamily="18" charset="0"/>
              </a:rPr>
              <a:t>​</a:t>
            </a:r>
            <a:endParaRPr lang="zh-TW" altLang="zh-TW" b="0" i="0">
              <a:solidFill>
                <a:srgbClr val="000000"/>
              </a:solidFill>
              <a:effectLst/>
              <a:latin typeface="Arial" panose="020B0604020202020204" pitchFamily="34" charset="0"/>
            </a:endParaRPr>
          </a:p>
          <a:p>
            <a:endParaRPr lang="zh-TW" altLang="en-US"/>
          </a:p>
        </p:txBody>
      </p:sp>
      <p:sp>
        <p:nvSpPr>
          <p:cNvPr id="9" name="文字方塊 8">
            <a:extLst>
              <a:ext uri="{FF2B5EF4-FFF2-40B4-BE49-F238E27FC236}">
                <a16:creationId xmlns:a16="http://schemas.microsoft.com/office/drawing/2014/main" id="{7CFC425F-4324-4E1C-96ED-AFED8BE77D95}"/>
              </a:ext>
            </a:extLst>
          </p:cNvPr>
          <p:cNvSpPr txBox="1"/>
          <p:nvPr/>
        </p:nvSpPr>
        <p:spPr>
          <a:xfrm>
            <a:off x="4484414" y="2237092"/>
            <a:ext cx="6096000" cy="369332"/>
          </a:xfrm>
          <a:prstGeom prst="rect">
            <a:avLst/>
          </a:prstGeom>
          <a:noFill/>
        </p:spPr>
        <p:txBody>
          <a:bodyPr wrap="square">
            <a:spAutoFit/>
          </a:bodyPr>
          <a:lstStyle/>
          <a:p>
            <a:r>
              <a:rPr lang="zh-TW" altLang="en-US" b="0" i="0">
                <a:solidFill>
                  <a:srgbClr val="000000"/>
                </a:solidFill>
                <a:effectLst/>
                <a:latin typeface="Times New Roman" panose="02020603050405020304" pitchFamily="18" charset="0"/>
              </a:rPr>
              <a:t>  </a:t>
            </a:r>
            <a:endParaRPr lang="zh-TW" altLang="en-US"/>
          </a:p>
        </p:txBody>
      </p:sp>
      <p:pic>
        <p:nvPicPr>
          <p:cNvPr id="4" name="圖片 4">
            <a:extLst>
              <a:ext uri="{FF2B5EF4-FFF2-40B4-BE49-F238E27FC236}">
                <a16:creationId xmlns:a16="http://schemas.microsoft.com/office/drawing/2014/main" id="{F4A5E466-8D48-4C59-B1AA-95A84BDBA5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7170" y="1279198"/>
            <a:ext cx="4913798" cy="2463030"/>
          </a:xfrm>
          <a:prstGeom prst="rect">
            <a:avLst/>
          </a:prstGeom>
        </p:spPr>
      </p:pic>
      <p:pic>
        <p:nvPicPr>
          <p:cNvPr id="5" name="圖片 5">
            <a:extLst>
              <a:ext uri="{FF2B5EF4-FFF2-40B4-BE49-F238E27FC236}">
                <a16:creationId xmlns:a16="http://schemas.microsoft.com/office/drawing/2014/main" id="{81C9A792-0694-459B-A05C-4468B2DAC9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8453" y="3896189"/>
            <a:ext cx="4559075" cy="2077190"/>
          </a:xfrm>
          <a:prstGeom prst="rect">
            <a:avLst/>
          </a:prstGeom>
        </p:spPr>
      </p:pic>
    </p:spTree>
    <p:extLst>
      <p:ext uri="{BB962C8B-B14F-4D97-AF65-F5344CB8AC3E}">
        <p14:creationId xmlns:p14="http://schemas.microsoft.com/office/powerpoint/2010/main" val="537792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870A68-88BB-4FB5-BE44-0D35C223A1A5}"/>
              </a:ext>
            </a:extLst>
          </p:cNvPr>
          <p:cNvSpPr>
            <a:spLocks noGrp="1"/>
          </p:cNvSpPr>
          <p:nvPr>
            <p:ph type="title"/>
          </p:nvPr>
        </p:nvSpPr>
        <p:spPr/>
        <p:txBody>
          <a:bodyPr/>
          <a:lstStyle/>
          <a:p>
            <a:r>
              <a:rPr lang="zh-TW" altLang="zh-TW" b="1" i="0">
                <a:solidFill>
                  <a:srgbClr val="000000"/>
                </a:solidFill>
                <a:effectLst/>
                <a:ea typeface="Times New Roman" panose="02020603050405020304" pitchFamily="18" charset="0"/>
              </a:rPr>
              <a:t>Constraints</a:t>
            </a:r>
            <a:br>
              <a:rPr lang="en-US" altLang="zh-TW" dirty="0"/>
            </a:br>
            <a:endParaRPr lang="zh-TW" altLang="en-US" dirty="0"/>
          </a:p>
        </p:txBody>
      </p:sp>
      <p:sp>
        <p:nvSpPr>
          <p:cNvPr id="3" name="內容版面配置區 2">
            <a:extLst>
              <a:ext uri="{FF2B5EF4-FFF2-40B4-BE49-F238E27FC236}">
                <a16:creationId xmlns:a16="http://schemas.microsoft.com/office/drawing/2014/main" id="{DAF13090-5757-4BE6-B49D-E4229783D809}"/>
              </a:ext>
            </a:extLst>
          </p:cNvPr>
          <p:cNvSpPr>
            <a:spLocks noGrp="1"/>
          </p:cNvSpPr>
          <p:nvPr>
            <p:ph idx="1"/>
          </p:nvPr>
        </p:nvSpPr>
        <p:spPr>
          <a:xfrm>
            <a:off x="563526" y="1690688"/>
            <a:ext cx="10790274" cy="4258825"/>
          </a:xfrm>
        </p:spPr>
        <p:txBody>
          <a:bodyPr anchor="t">
            <a:normAutofit/>
          </a:bodyPr>
          <a:lstStyle/>
          <a:p>
            <a:pPr rtl="0" fontAlgn="base"/>
            <a:r>
              <a:rPr lang="zh-TW" altLang="zh-TW" b="0" i="0" u="none" strike="noStrike">
                <a:solidFill>
                  <a:srgbClr val="000000"/>
                </a:solidFill>
                <a:effectLst/>
                <a:ea typeface="Times New Roman" panose="02020603050405020304" pitchFamily="18" charset="0"/>
              </a:rPr>
              <a:t>at any time during the operation, one ship area can be assigned to only one quay crane until it completes all operations in the area</a:t>
            </a:r>
            <a:r>
              <a:rPr lang="LID4096" altLang="zh-TW" b="0" i="0" u="none" strike="noStrike">
                <a:solidFill>
                  <a:srgbClr val="000000"/>
                </a:solidFill>
                <a:effectLst/>
                <a:ea typeface="Times New Roman" panose="02020603050405020304" pitchFamily="18" charset="0"/>
              </a:rPr>
              <a:t>.</a:t>
            </a:r>
            <a:r>
              <a:rPr lang="en-US" altLang="zh-TW" b="0" i="0">
                <a:solidFill>
                  <a:srgbClr val="000000"/>
                </a:solidFill>
                <a:effectLst/>
              </a:rPr>
              <a:t>​</a:t>
            </a:r>
          </a:p>
          <a:p>
            <a:pPr rtl="0" fontAlgn="base"/>
            <a:r>
              <a:rPr lang="en-US" altLang="zh-TW" b="0" i="0" u="none" strike="noStrike">
                <a:solidFill>
                  <a:srgbClr val="000000"/>
                </a:solidFill>
                <a:effectLst/>
              </a:rPr>
              <a:t>quay</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cranes</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run</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on</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the</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same</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rail,</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so</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the</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quay</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cranes</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can</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not</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cross</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each</a:t>
            </a:r>
            <a:r>
              <a:rPr lang="zh-TW" altLang="zh-TW" b="0" i="0" u="none" strike="noStrike">
                <a:solidFill>
                  <a:srgbClr val="000000"/>
                </a:solidFill>
                <a:effectLst/>
                <a:ea typeface="Times New Roman" panose="02020603050405020304" pitchFamily="18" charset="0"/>
              </a:rPr>
              <a:t> </a:t>
            </a:r>
            <a:r>
              <a:rPr lang="LID4096"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other.</a:t>
            </a:r>
            <a:r>
              <a:rPr lang="en-US" altLang="zh-TW" b="0" i="0">
                <a:solidFill>
                  <a:srgbClr val="000000"/>
                </a:solidFill>
                <a:effectLst/>
              </a:rPr>
              <a:t>​</a:t>
            </a:r>
          </a:p>
          <a:p>
            <a:pPr rtl="0" fontAlgn="base"/>
            <a:r>
              <a:rPr lang="en-US" altLang="zh-TW" b="0" i="0" u="none" strike="noStrike">
                <a:solidFill>
                  <a:srgbClr val="000000"/>
                </a:solidFill>
                <a:effectLst/>
              </a:rPr>
              <a:t>for safety reasons, any two quay cranes must maintain a certain distance to ensure the safety of the operation. </a:t>
            </a:r>
            <a:endParaRPr lang="en-US" altLang="zh-TW" b="0" i="0">
              <a:solidFill>
                <a:srgbClr val="000000"/>
              </a:solidFill>
              <a:effectLst/>
            </a:endParaRPr>
          </a:p>
          <a:p>
            <a:pPr marL="0" indent="0">
              <a:buNone/>
            </a:pPr>
            <a:endParaRPr lang="zh-TW" altLang="en-US" dirty="0"/>
          </a:p>
        </p:txBody>
      </p:sp>
    </p:spTree>
    <p:extLst>
      <p:ext uri="{BB962C8B-B14F-4D97-AF65-F5344CB8AC3E}">
        <p14:creationId xmlns:p14="http://schemas.microsoft.com/office/powerpoint/2010/main" val="961794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870A68-88BB-4FB5-BE44-0D35C223A1A5}"/>
              </a:ext>
            </a:extLst>
          </p:cNvPr>
          <p:cNvSpPr>
            <a:spLocks noGrp="1"/>
          </p:cNvSpPr>
          <p:nvPr>
            <p:ph type="title"/>
          </p:nvPr>
        </p:nvSpPr>
        <p:spPr/>
        <p:txBody>
          <a:bodyPr/>
          <a:lstStyle/>
          <a:p>
            <a:r>
              <a:rPr lang="en-US" altLang="zh-TW" b="1" i="0" u="none" strike="noStrike">
                <a:solidFill>
                  <a:srgbClr val="000000"/>
                </a:solidFill>
                <a:effectLst/>
                <a:latin typeface="Times New Roman" panose="02020603050405020304" pitchFamily="18" charset="0"/>
              </a:rPr>
              <a:t>O</a:t>
            </a:r>
            <a:r>
              <a:rPr lang="zh-TW" altLang="zh-TW" b="1" i="0" u="none" strike="noStrike">
                <a:solidFill>
                  <a:srgbClr val="000000"/>
                </a:solidFill>
                <a:effectLst/>
                <a:ea typeface="Times New Roman" panose="02020603050405020304" pitchFamily="18" charset="0"/>
              </a:rPr>
              <a:t>ptimization </a:t>
            </a:r>
            <a:r>
              <a:rPr lang="en-US" altLang="zh-TW" b="1" i="0" u="none" strike="noStrike">
                <a:solidFill>
                  <a:srgbClr val="000000"/>
                </a:solidFill>
                <a:effectLst/>
                <a:latin typeface="Times New Roman" panose="02020603050405020304" pitchFamily="18" charset="0"/>
              </a:rPr>
              <a:t>A</a:t>
            </a:r>
            <a:r>
              <a:rPr lang="zh-TW" altLang="zh-TW" b="1" i="0" u="none" strike="noStrike">
                <a:solidFill>
                  <a:srgbClr val="000000"/>
                </a:solidFill>
                <a:effectLst/>
                <a:ea typeface="Times New Roman" panose="02020603050405020304" pitchFamily="18" charset="0"/>
              </a:rPr>
              <a:t>lgorithm</a:t>
            </a:r>
            <a:br>
              <a:rPr lang="en-US" altLang="zh-TW" dirty="0"/>
            </a:br>
            <a:endParaRPr lang="zh-TW" altLang="en-US" dirty="0"/>
          </a:p>
        </p:txBody>
      </p:sp>
      <p:sp>
        <p:nvSpPr>
          <p:cNvPr id="3" name="內容版面配置區 2">
            <a:extLst>
              <a:ext uri="{FF2B5EF4-FFF2-40B4-BE49-F238E27FC236}">
                <a16:creationId xmlns:a16="http://schemas.microsoft.com/office/drawing/2014/main" id="{DAF13090-5757-4BE6-B49D-E4229783D809}"/>
              </a:ext>
            </a:extLst>
          </p:cNvPr>
          <p:cNvSpPr>
            <a:spLocks noGrp="1"/>
          </p:cNvSpPr>
          <p:nvPr>
            <p:ph idx="1"/>
          </p:nvPr>
        </p:nvSpPr>
        <p:spPr>
          <a:xfrm>
            <a:off x="502216" y="1996966"/>
            <a:ext cx="10790274" cy="4039859"/>
          </a:xfrm>
        </p:spPr>
        <p:txBody>
          <a:bodyPr anchor="t">
            <a:normAutofit/>
          </a:bodyPr>
          <a:lstStyle/>
          <a:p>
            <a:pPr rtl="0" fontAlgn="base"/>
            <a:r>
              <a:rPr lang="zh-TW" altLang="zh-TW" b="0" i="0" u="none" strike="noStrike">
                <a:solidFill>
                  <a:srgbClr val="000000"/>
                </a:solidFill>
                <a:effectLst/>
                <a:ea typeface="Times New Roman" panose="02020603050405020304" pitchFamily="18" charset="0"/>
              </a:rPr>
              <a:t>Genetic Algorithm</a:t>
            </a:r>
            <a:r>
              <a:rPr lang="en-US" altLang="zh-TW" b="0" i="0">
                <a:solidFill>
                  <a:srgbClr val="000000"/>
                </a:solidFill>
                <a:effectLst/>
              </a:rPr>
              <a:t>​</a:t>
            </a:r>
          </a:p>
          <a:p>
            <a:pPr rtl="0" fontAlgn="base"/>
            <a:r>
              <a:rPr lang="en-US" altLang="zh-TW" b="0" i="0" u="none" strike="noStrike">
                <a:solidFill>
                  <a:srgbClr val="000000"/>
                </a:solidFill>
                <a:effectLst/>
              </a:rPr>
              <a:t>Particle</a:t>
            </a:r>
            <a:r>
              <a:rPr lang="zh-TW" altLang="zh-TW" b="0" i="0" u="none" strike="noStrike">
                <a:solidFill>
                  <a:srgbClr val="000000"/>
                </a:solidFill>
                <a:effectLst/>
                <a:ea typeface="Times New Roman" panose="02020603050405020304" pitchFamily="18" charset="0"/>
              </a:rPr>
              <a:t> S</a:t>
            </a:r>
            <a:r>
              <a:rPr lang="en-US" altLang="zh-TW" b="0" i="0" u="none" strike="noStrike">
                <a:solidFill>
                  <a:srgbClr val="000000"/>
                </a:solidFill>
                <a:effectLst/>
              </a:rPr>
              <a:t>warm</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Algorithm</a:t>
            </a:r>
            <a:r>
              <a:rPr lang="en-US" altLang="zh-TW" b="0" i="0">
                <a:solidFill>
                  <a:srgbClr val="000000"/>
                </a:solidFill>
                <a:effectLst/>
              </a:rPr>
              <a:t>​</a:t>
            </a:r>
          </a:p>
          <a:p>
            <a:pPr rtl="0" fontAlgn="base"/>
            <a:r>
              <a:rPr lang="en-US" altLang="zh-TW" b="0" i="0" u="none" strike="noStrike">
                <a:solidFill>
                  <a:srgbClr val="000000"/>
                </a:solidFill>
                <a:effectLst/>
              </a:rPr>
              <a:t>Simulated Annealing Algorithm</a:t>
            </a:r>
            <a:endParaRPr lang="en-US" altLang="zh-TW" b="0" i="0">
              <a:solidFill>
                <a:srgbClr val="000000"/>
              </a:solidFill>
              <a:effectLst/>
            </a:endParaRPr>
          </a:p>
          <a:p>
            <a:pPr marL="0" indent="0">
              <a:buNone/>
            </a:pPr>
            <a:endParaRPr lang="zh-TW" altLang="en-US" dirty="0"/>
          </a:p>
        </p:txBody>
      </p:sp>
    </p:spTree>
    <p:extLst>
      <p:ext uri="{BB962C8B-B14F-4D97-AF65-F5344CB8AC3E}">
        <p14:creationId xmlns:p14="http://schemas.microsoft.com/office/powerpoint/2010/main" val="3946885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870A68-88BB-4FB5-BE44-0D35C223A1A5}"/>
              </a:ext>
            </a:extLst>
          </p:cNvPr>
          <p:cNvSpPr>
            <a:spLocks noGrp="1"/>
          </p:cNvSpPr>
          <p:nvPr>
            <p:ph type="title"/>
          </p:nvPr>
        </p:nvSpPr>
        <p:spPr/>
        <p:txBody>
          <a:bodyPr/>
          <a:lstStyle/>
          <a:p>
            <a:r>
              <a:rPr lang="en-US" altLang="zh-TW" b="1" i="0" u="none" strike="noStrike">
                <a:solidFill>
                  <a:srgbClr val="000000"/>
                </a:solidFill>
                <a:effectLst/>
                <a:latin typeface="Times New Roman" panose="02020603050405020304" pitchFamily="18" charset="0"/>
              </a:rPr>
              <a:t>Coding</a:t>
            </a:r>
            <a:r>
              <a:rPr lang="zh-TW" altLang="zh-TW" b="1" i="0" u="none" strike="noStrike">
                <a:solidFill>
                  <a:srgbClr val="000000"/>
                </a:solidFill>
                <a:effectLst/>
                <a:ea typeface="Times New Roman" panose="02020603050405020304" pitchFamily="18" charset="0"/>
              </a:rPr>
              <a:t> </a:t>
            </a:r>
            <a:r>
              <a:rPr lang="en-US" altLang="zh-TW" b="1" i="0" u="none" strike="noStrike">
                <a:solidFill>
                  <a:srgbClr val="000000"/>
                </a:solidFill>
                <a:effectLst/>
                <a:latin typeface="Times New Roman" panose="02020603050405020304" pitchFamily="18" charset="0"/>
              </a:rPr>
              <a:t>scheme</a:t>
            </a:r>
            <a:br>
              <a:rPr lang="en-US" altLang="zh-TW" dirty="0"/>
            </a:br>
            <a:endParaRPr lang="zh-TW" altLang="en-US" dirty="0"/>
          </a:p>
        </p:txBody>
      </p:sp>
      <p:sp>
        <p:nvSpPr>
          <p:cNvPr id="3" name="內容版面配置區 2">
            <a:extLst>
              <a:ext uri="{FF2B5EF4-FFF2-40B4-BE49-F238E27FC236}">
                <a16:creationId xmlns:a16="http://schemas.microsoft.com/office/drawing/2014/main" id="{DAF13090-5757-4BE6-B49D-E4229783D809}"/>
              </a:ext>
            </a:extLst>
          </p:cNvPr>
          <p:cNvSpPr>
            <a:spLocks noGrp="1"/>
          </p:cNvSpPr>
          <p:nvPr>
            <p:ph idx="1"/>
          </p:nvPr>
        </p:nvSpPr>
        <p:spPr>
          <a:xfrm>
            <a:off x="502217" y="1883104"/>
            <a:ext cx="4297507" cy="4039859"/>
          </a:xfrm>
        </p:spPr>
        <p:txBody>
          <a:bodyPr anchor="t">
            <a:normAutofit/>
          </a:bodyPr>
          <a:lstStyle/>
          <a:p>
            <a:pPr marL="0" indent="0" rtl="0" fontAlgn="base">
              <a:buNone/>
            </a:pPr>
            <a:r>
              <a:rPr lang="LID4096" altLang="zh-TW"/>
              <a:t>        T</a:t>
            </a:r>
            <a:r>
              <a:rPr lang="af-ZA" altLang="zh-TW"/>
              <a:t>he sequence of ship areas operation is used as the coding method. </a:t>
            </a:r>
            <a:r>
              <a:rPr lang="LID4096" altLang="zh-TW"/>
              <a:t>T</a:t>
            </a:r>
            <a:r>
              <a:rPr lang="af-ZA" altLang="zh-TW"/>
              <a:t>he gene in the</a:t>
            </a:r>
            <a:r>
              <a:rPr lang="LID4096" altLang="zh-TW"/>
              <a:t> </a:t>
            </a:r>
            <a:r>
              <a:rPr lang="af-ZA" altLang="zh-TW"/>
              <a:t>chromosome represents the ship area number</a:t>
            </a:r>
            <a:r>
              <a:rPr lang="LID4096" altLang="zh-TW"/>
              <a:t>.</a:t>
            </a:r>
            <a:endParaRPr lang="zh-TW" altLang="en-US" dirty="0"/>
          </a:p>
        </p:txBody>
      </p:sp>
      <p:pic>
        <p:nvPicPr>
          <p:cNvPr id="6" name="圖片 6">
            <a:extLst>
              <a:ext uri="{FF2B5EF4-FFF2-40B4-BE49-F238E27FC236}">
                <a16:creationId xmlns:a16="http://schemas.microsoft.com/office/drawing/2014/main" id="{AD4D946E-3F7B-4013-954D-0D1BFF448D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2483" y="1945218"/>
            <a:ext cx="5500420" cy="1199128"/>
          </a:xfrm>
          <a:prstGeom prst="rect">
            <a:avLst/>
          </a:prstGeom>
        </p:spPr>
      </p:pic>
    </p:spTree>
    <p:extLst>
      <p:ext uri="{BB962C8B-B14F-4D97-AF65-F5344CB8AC3E}">
        <p14:creationId xmlns:p14="http://schemas.microsoft.com/office/powerpoint/2010/main" val="1401350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870A68-88BB-4FB5-BE44-0D35C223A1A5}"/>
              </a:ext>
            </a:extLst>
          </p:cNvPr>
          <p:cNvSpPr>
            <a:spLocks noGrp="1"/>
          </p:cNvSpPr>
          <p:nvPr>
            <p:ph type="title"/>
          </p:nvPr>
        </p:nvSpPr>
        <p:spPr/>
        <p:txBody>
          <a:bodyPr/>
          <a:lstStyle/>
          <a:p>
            <a:r>
              <a:rPr lang="af-ZA" altLang="zh-TW" b="1" i="0" u="none" strike="noStrike">
                <a:solidFill>
                  <a:srgbClr val="000000"/>
                </a:solidFill>
                <a:effectLst/>
                <a:ea typeface="Times New Roman" panose="02020603050405020304" pitchFamily="18" charset="0"/>
              </a:rPr>
              <a:t>The objective function</a:t>
            </a:r>
            <a:r>
              <a:rPr lang="af-ZA" altLang="zh-TW" b="0" i="0">
                <a:solidFill>
                  <a:srgbClr val="000000"/>
                </a:solidFill>
                <a:effectLst/>
                <a:latin typeface="Times New Roman" panose="02020603050405020304" pitchFamily="18" charset="0"/>
              </a:rPr>
              <a:t>​</a:t>
            </a:r>
            <a:br>
              <a:rPr lang="en-US" altLang="zh-TW" dirty="0"/>
            </a:br>
            <a:endParaRPr lang="zh-TW" altLang="en-US" dirty="0"/>
          </a:p>
        </p:txBody>
      </p:sp>
      <p:sp>
        <p:nvSpPr>
          <p:cNvPr id="3" name="內容版面配置區 2">
            <a:extLst>
              <a:ext uri="{FF2B5EF4-FFF2-40B4-BE49-F238E27FC236}">
                <a16:creationId xmlns:a16="http://schemas.microsoft.com/office/drawing/2014/main" id="{DAF13090-5757-4BE6-B49D-E4229783D809}"/>
              </a:ext>
            </a:extLst>
          </p:cNvPr>
          <p:cNvSpPr>
            <a:spLocks noGrp="1"/>
          </p:cNvSpPr>
          <p:nvPr>
            <p:ph idx="1"/>
          </p:nvPr>
        </p:nvSpPr>
        <p:spPr>
          <a:xfrm>
            <a:off x="502216" y="1996966"/>
            <a:ext cx="10790274" cy="4039859"/>
          </a:xfrm>
        </p:spPr>
        <p:txBody>
          <a:bodyPr anchor="t">
            <a:normAutofit/>
          </a:bodyPr>
          <a:lstStyle/>
          <a:p>
            <a:pPr marL="0" indent="0" rtl="0" fontAlgn="base">
              <a:buNone/>
            </a:pPr>
            <a:r>
              <a:rPr lang="LID4096" altLang="zh-TW" b="0" i="0" u="none" strike="noStrike">
                <a:solidFill>
                  <a:srgbClr val="000000"/>
                </a:solidFill>
                <a:effectLst/>
                <a:ea typeface="Times New Roman" panose="02020603050405020304" pitchFamily="18" charset="0"/>
              </a:rPr>
              <a:t>          </a:t>
            </a:r>
            <a:r>
              <a:rPr lang="zh-TW" altLang="zh-TW" b="0" i="0" u="none" strike="noStrike">
                <a:solidFill>
                  <a:srgbClr val="000000"/>
                </a:solidFill>
                <a:effectLst/>
                <a:ea typeface="Times New Roman" panose="02020603050405020304" pitchFamily="18" charset="0"/>
              </a:rPr>
              <a:t>Select the container ship loading and unloading time span as the objective function value</a:t>
            </a:r>
            <a:r>
              <a:rPr lang="en-US" altLang="zh-TW" b="0" i="0" u="none" strike="noStrike">
                <a:solidFill>
                  <a:srgbClr val="000000"/>
                </a:solidFill>
                <a:effectLst/>
                <a:latin typeface="Times New Roman" panose="02020603050405020304" pitchFamily="18" charset="0"/>
              </a:rPr>
              <a:t>.</a:t>
            </a:r>
            <a:endParaRPr lang="zh-TW" altLang="en-US" dirty="0"/>
          </a:p>
        </p:txBody>
      </p:sp>
    </p:spTree>
    <p:extLst>
      <p:ext uri="{BB962C8B-B14F-4D97-AF65-F5344CB8AC3E}">
        <p14:creationId xmlns:p14="http://schemas.microsoft.com/office/powerpoint/2010/main" val="1131255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870A68-88BB-4FB5-BE44-0D35C223A1A5}"/>
              </a:ext>
            </a:extLst>
          </p:cNvPr>
          <p:cNvSpPr>
            <a:spLocks noGrp="1"/>
          </p:cNvSpPr>
          <p:nvPr>
            <p:ph type="title"/>
          </p:nvPr>
        </p:nvSpPr>
        <p:spPr/>
        <p:txBody>
          <a:bodyPr/>
          <a:lstStyle/>
          <a:p>
            <a:r>
              <a:rPr lang="zh-TW" altLang="zh-TW" b="0" i="0" dirty="0">
                <a:solidFill>
                  <a:srgbClr val="000000"/>
                </a:solidFill>
                <a:effectLst/>
                <a:ea typeface="Times New Roman" panose="02020603050405020304" pitchFamily="18" charset="0"/>
              </a:rPr>
              <a:t>Gene Algorithm</a:t>
            </a:r>
            <a:br>
              <a:rPr lang="en-US" altLang="zh-TW" dirty="0"/>
            </a:br>
            <a:endParaRPr lang="zh-TW" altLang="en-US" dirty="0"/>
          </a:p>
        </p:txBody>
      </p:sp>
      <p:sp>
        <p:nvSpPr>
          <p:cNvPr id="3" name="內容版面配置區 2">
            <a:extLst>
              <a:ext uri="{FF2B5EF4-FFF2-40B4-BE49-F238E27FC236}">
                <a16:creationId xmlns:a16="http://schemas.microsoft.com/office/drawing/2014/main" id="{DAF13090-5757-4BE6-B49D-E4229783D809}"/>
              </a:ext>
            </a:extLst>
          </p:cNvPr>
          <p:cNvSpPr>
            <a:spLocks noGrp="1"/>
          </p:cNvSpPr>
          <p:nvPr>
            <p:ph idx="1"/>
          </p:nvPr>
        </p:nvSpPr>
        <p:spPr>
          <a:xfrm>
            <a:off x="502216" y="1996966"/>
            <a:ext cx="10790274" cy="4039859"/>
          </a:xfrm>
        </p:spPr>
        <p:txBody>
          <a:bodyPr anchor="t">
            <a:normAutofit/>
          </a:bodyPr>
          <a:lstStyle/>
          <a:p>
            <a:pPr rtl="0" fontAlgn="base"/>
            <a:r>
              <a:rPr lang="LID4096" altLang="zh-TW" dirty="0"/>
              <a:t>T</a:t>
            </a:r>
            <a:r>
              <a:rPr lang="af-ZA" altLang="zh-TW" dirty="0"/>
              <a:t>he use of traditional single point cross or Double-cut point cross method will produce legal codes, the sequential crossover method is chosen as the crossover operator. </a:t>
            </a:r>
            <a:endParaRPr lang="LID4096" altLang="zh-TW" dirty="0"/>
          </a:p>
          <a:p>
            <a:pPr rtl="0" fontAlgn="base"/>
            <a:r>
              <a:rPr lang="LID4096" altLang="zh-TW" dirty="0"/>
              <a:t>T</a:t>
            </a:r>
            <a:r>
              <a:rPr lang="af-ZA" altLang="zh-TW" dirty="0"/>
              <a:t>wo genes in chromosome were randomly selected according to the probability, and the ship area number of the two genes were exchanged. </a:t>
            </a:r>
            <a:endParaRPr lang="zh-TW" altLang="en-US" dirty="0"/>
          </a:p>
        </p:txBody>
      </p:sp>
    </p:spTree>
    <p:extLst>
      <p:ext uri="{BB962C8B-B14F-4D97-AF65-F5344CB8AC3E}">
        <p14:creationId xmlns:p14="http://schemas.microsoft.com/office/powerpoint/2010/main" val="2206908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1E00C5B-4BED-4701-9060-AB96FB2604E0}"/>
              </a:ext>
            </a:extLst>
          </p:cNvPr>
          <p:cNvSpPr>
            <a:spLocks noGrp="1"/>
          </p:cNvSpPr>
          <p:nvPr>
            <p:ph type="title"/>
          </p:nvPr>
        </p:nvSpPr>
        <p:spPr>
          <a:xfrm>
            <a:off x="838200" y="365125"/>
            <a:ext cx="10515600" cy="933739"/>
          </a:xfrm>
        </p:spPr>
        <p:txBody>
          <a:bodyPr anchor="t"/>
          <a:lstStyle/>
          <a:p>
            <a:r>
              <a:rPr lang="af-ZA" altLang="zh-TW" b="1" dirty="0">
                <a:latin typeface="Times New Roman" panose="02020603050405020304" pitchFamily="18" charset="0"/>
                <a:cs typeface="Times New Roman" panose="02020603050405020304" pitchFamily="18" charset="0"/>
              </a:rPr>
              <a:t>Sequential crossover</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FEE50C7-C97D-47AC-A02A-B498C2D48E89}"/>
              </a:ext>
            </a:extLst>
          </p:cNvPr>
          <p:cNvSpPr>
            <a:spLocks noGrp="1"/>
          </p:cNvSpPr>
          <p:nvPr>
            <p:ph idx="1"/>
          </p:nvPr>
        </p:nvSpPr>
        <p:spPr/>
        <p:txBody>
          <a:bodyPr vert="horz" lIns="91440" tIns="45720" rIns="91440" bIns="45720" rtlCol="0" anchor="t">
            <a:normAutofit/>
          </a:bodyPr>
          <a:lstStyle/>
          <a:p>
            <a:r>
              <a:rPr lang="af-ZA" altLang="zh-TW" dirty="0" err="1">
                <a:latin typeface="Times New Roman" panose="02020603050405020304" pitchFamily="18" charset="0"/>
                <a:ea typeface="新細明體"/>
                <a:cs typeface="Times New Roman" panose="02020603050405020304" pitchFamily="18" charset="0"/>
              </a:rPr>
              <a:t>Step</a:t>
            </a:r>
            <a:r>
              <a:rPr lang="af-ZA" altLang="zh-TW" dirty="0">
                <a:latin typeface="Times New Roman" panose="02020603050405020304" pitchFamily="18" charset="0"/>
                <a:ea typeface="新細明體"/>
                <a:cs typeface="Times New Roman" panose="02020603050405020304" pitchFamily="18" charset="0"/>
              </a:rPr>
              <a:t> 1: - </a:t>
            </a:r>
            <a:r>
              <a:rPr lang="af-ZA" altLang="zh-TW" dirty="0" err="1">
                <a:latin typeface="Times New Roman" panose="02020603050405020304" pitchFamily="18" charset="0"/>
                <a:ea typeface="新細明體"/>
                <a:cs typeface="Times New Roman" panose="02020603050405020304" pitchFamily="18" charset="0"/>
              </a:rPr>
              <a:t>Start</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from</a:t>
            </a:r>
            <a:r>
              <a:rPr lang="af-ZA" altLang="zh-TW" dirty="0">
                <a:latin typeface="Times New Roman" panose="02020603050405020304" pitchFamily="18" charset="0"/>
                <a:ea typeface="新細明體"/>
                <a:cs typeface="Times New Roman" panose="02020603050405020304" pitchFamily="18" charset="0"/>
              </a:rPr>
              <a:t> node 1. </a:t>
            </a:r>
            <a:endParaRPr lang="zh-TW" altLang="en-US" dirty="0">
              <a:latin typeface="Times New Roman" panose="02020603050405020304" pitchFamily="18" charset="0"/>
              <a:ea typeface="新細明體"/>
              <a:cs typeface="Times New Roman" panose="02020603050405020304" pitchFamily="18" charset="0"/>
            </a:endParaRPr>
          </a:p>
          <a:p>
            <a:r>
              <a:rPr lang="af-ZA" altLang="zh-TW" dirty="0" err="1">
                <a:latin typeface="Times New Roman" panose="02020603050405020304" pitchFamily="18" charset="0"/>
                <a:ea typeface="新細明體"/>
                <a:cs typeface="Times New Roman" panose="02020603050405020304" pitchFamily="18" charset="0"/>
              </a:rPr>
              <a:t>Step</a:t>
            </a:r>
            <a:r>
              <a:rPr lang="af-ZA" altLang="zh-TW" dirty="0">
                <a:latin typeface="Times New Roman" panose="02020603050405020304" pitchFamily="18" charset="0"/>
                <a:ea typeface="新細明體"/>
                <a:cs typeface="Times New Roman" panose="02020603050405020304" pitchFamily="18" charset="0"/>
              </a:rPr>
              <a:t> 2: - </a:t>
            </a:r>
            <a:r>
              <a:rPr lang="af-ZA" altLang="zh-TW" dirty="0" err="1">
                <a:latin typeface="Times New Roman" panose="02020603050405020304" pitchFamily="18" charset="0"/>
                <a:ea typeface="新細明體"/>
                <a:cs typeface="Times New Roman" panose="02020603050405020304" pitchFamily="18" charset="0"/>
              </a:rPr>
              <a:t>Sequentially</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search</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both</a:t>
            </a:r>
            <a:r>
              <a:rPr lang="af-ZA" altLang="zh-TW" dirty="0">
                <a:latin typeface="Times New Roman" panose="02020603050405020304" pitchFamily="18" charset="0"/>
                <a:ea typeface="新細明體"/>
                <a:cs typeface="Times New Roman" panose="02020603050405020304" pitchFamily="18" charset="0"/>
              </a:rPr>
              <a:t> of </a:t>
            </a:r>
            <a:r>
              <a:rPr lang="af-ZA" altLang="zh-TW" dirty="0" err="1">
                <a:latin typeface="Times New Roman" panose="02020603050405020304" pitchFamily="18" charset="0"/>
                <a:ea typeface="新細明體"/>
                <a:cs typeface="Times New Roman" panose="02020603050405020304" pitchFamily="18" charset="0"/>
              </a:rPr>
              <a:t>the</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parent</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chromosomes</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and</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consider</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the</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first</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legitimate</a:t>
            </a:r>
            <a:r>
              <a:rPr lang="af-ZA" altLang="zh-TW" dirty="0">
                <a:latin typeface="Times New Roman" panose="02020603050405020304" pitchFamily="18" charset="0"/>
                <a:ea typeface="新細明體"/>
                <a:cs typeface="Times New Roman" panose="02020603050405020304" pitchFamily="18" charset="0"/>
              </a:rPr>
              <a:t> node </a:t>
            </a:r>
            <a:r>
              <a:rPr lang="af-ZA" altLang="zh-TW" dirty="0" err="1">
                <a:latin typeface="Times New Roman" panose="02020603050405020304" pitchFamily="18" charset="0"/>
                <a:ea typeface="新細明體"/>
                <a:cs typeface="Times New Roman" panose="02020603050405020304" pitchFamily="18" charset="0"/>
              </a:rPr>
              <a:t>appeared</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after</a:t>
            </a:r>
            <a:r>
              <a:rPr lang="af-ZA" altLang="zh-TW" dirty="0">
                <a:latin typeface="Times New Roman" panose="02020603050405020304" pitchFamily="18" charset="0"/>
                <a:ea typeface="新細明體"/>
                <a:cs typeface="Times New Roman" panose="02020603050405020304" pitchFamily="18" charset="0"/>
              </a:rPr>
              <a:t> node p in </a:t>
            </a:r>
            <a:r>
              <a:rPr lang="af-ZA" altLang="zh-TW" dirty="0" err="1">
                <a:latin typeface="Times New Roman" panose="02020603050405020304" pitchFamily="18" charset="0"/>
                <a:ea typeface="新細明體"/>
                <a:cs typeface="Times New Roman" panose="02020603050405020304" pitchFamily="18" charset="0"/>
              </a:rPr>
              <a:t>each</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parent</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If</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no</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legitimate</a:t>
            </a:r>
            <a:r>
              <a:rPr lang="af-ZA" altLang="zh-TW" dirty="0">
                <a:latin typeface="Times New Roman" panose="02020603050405020304" pitchFamily="18" charset="0"/>
                <a:ea typeface="新細明體"/>
                <a:cs typeface="Times New Roman" panose="02020603050405020304" pitchFamily="18" charset="0"/>
              </a:rPr>
              <a:t> node’ </a:t>
            </a:r>
            <a:r>
              <a:rPr lang="af-ZA" altLang="zh-TW" dirty="0" err="1">
                <a:latin typeface="Times New Roman" panose="02020603050405020304" pitchFamily="18" charset="0"/>
                <a:ea typeface="新細明體"/>
                <a:cs typeface="Times New Roman" panose="02020603050405020304" pitchFamily="18" charset="0"/>
              </a:rPr>
              <a:t>after</a:t>
            </a:r>
            <a:r>
              <a:rPr lang="af-ZA" altLang="zh-TW" dirty="0">
                <a:latin typeface="Times New Roman" panose="02020603050405020304" pitchFamily="18" charset="0"/>
                <a:ea typeface="新細明體"/>
                <a:cs typeface="Times New Roman" panose="02020603050405020304" pitchFamily="18" charset="0"/>
              </a:rPr>
              <a:t> ‘node p’ is present in </a:t>
            </a:r>
            <a:r>
              <a:rPr lang="af-ZA" altLang="zh-TW" dirty="0" err="1">
                <a:latin typeface="Times New Roman" panose="02020603050405020304" pitchFamily="18" charset="0"/>
                <a:ea typeface="新細明體"/>
                <a:cs typeface="Times New Roman" panose="02020603050405020304" pitchFamily="18" charset="0"/>
              </a:rPr>
              <a:t>any</a:t>
            </a:r>
            <a:r>
              <a:rPr lang="af-ZA" altLang="zh-TW" dirty="0">
                <a:latin typeface="Times New Roman" panose="02020603050405020304" pitchFamily="18" charset="0"/>
                <a:ea typeface="新細明體"/>
                <a:cs typeface="Times New Roman" panose="02020603050405020304" pitchFamily="18" charset="0"/>
              </a:rPr>
              <a:t> of </a:t>
            </a:r>
            <a:r>
              <a:rPr lang="af-ZA" altLang="zh-TW" dirty="0" err="1">
                <a:latin typeface="Times New Roman" panose="02020603050405020304" pitchFamily="18" charset="0"/>
                <a:ea typeface="新細明體"/>
                <a:cs typeface="Times New Roman" panose="02020603050405020304" pitchFamily="18" charset="0"/>
              </a:rPr>
              <a:t>the</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parent</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search</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sequentially</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the</a:t>
            </a:r>
            <a:r>
              <a:rPr lang="af-ZA" altLang="zh-TW" dirty="0">
                <a:latin typeface="Times New Roman" panose="02020603050405020304" pitchFamily="18" charset="0"/>
                <a:ea typeface="新細明體"/>
                <a:cs typeface="Times New Roman" panose="02020603050405020304" pitchFamily="18" charset="0"/>
              </a:rPr>
              <a:t> nodes </a:t>
            </a:r>
            <a:r>
              <a:rPr lang="af-ZA" altLang="zh-TW" dirty="0" err="1">
                <a:latin typeface="Times New Roman" panose="02020603050405020304" pitchFamily="18" charset="0"/>
                <a:ea typeface="新細明體"/>
                <a:cs typeface="Times New Roman" panose="02020603050405020304" pitchFamily="18" charset="0"/>
              </a:rPr>
              <a:t>and</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consider</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the</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first</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legitimate</a:t>
            </a:r>
            <a:r>
              <a:rPr lang="af-ZA" altLang="zh-TW" dirty="0">
                <a:latin typeface="Times New Roman" panose="02020603050405020304" pitchFamily="18" charset="0"/>
                <a:ea typeface="新細明體"/>
                <a:cs typeface="Times New Roman" panose="02020603050405020304" pitchFamily="18" charset="0"/>
              </a:rPr>
              <a:t>’ node, </a:t>
            </a:r>
            <a:r>
              <a:rPr lang="af-ZA" altLang="zh-TW" dirty="0" err="1">
                <a:latin typeface="Times New Roman" panose="02020603050405020304" pitchFamily="18" charset="0"/>
                <a:ea typeface="新細明體"/>
                <a:cs typeface="Times New Roman" panose="02020603050405020304" pitchFamily="18" charset="0"/>
              </a:rPr>
              <a:t>and</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go</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to</a:t>
            </a:r>
            <a:r>
              <a:rPr lang="af-ZA" altLang="zh-TW" dirty="0">
                <a:latin typeface="Times New Roman" panose="02020603050405020304" pitchFamily="18" charset="0"/>
                <a:ea typeface="新細明體"/>
                <a:cs typeface="Times New Roman" panose="02020603050405020304" pitchFamily="18" charset="0"/>
              </a:rPr>
              <a:t> </a:t>
            </a:r>
            <a:r>
              <a:rPr lang="af-ZA" altLang="zh-TW" dirty="0" err="1">
                <a:latin typeface="Times New Roman" panose="02020603050405020304" pitchFamily="18" charset="0"/>
                <a:ea typeface="新細明體"/>
                <a:cs typeface="Times New Roman" panose="02020603050405020304" pitchFamily="18" charset="0"/>
              </a:rPr>
              <a:t>Step</a:t>
            </a:r>
            <a:r>
              <a:rPr lang="af-ZA" altLang="zh-TW" dirty="0">
                <a:latin typeface="Times New Roman" panose="02020603050405020304" pitchFamily="18" charset="0"/>
                <a:ea typeface="新細明體"/>
                <a:cs typeface="Times New Roman" panose="02020603050405020304" pitchFamily="18" charset="0"/>
              </a:rPr>
              <a:t> 3. </a:t>
            </a:r>
            <a:endParaRPr lang="LID4096" altLang="zh-TW" dirty="0">
              <a:latin typeface="Times New Roman" panose="02020603050405020304" pitchFamily="18" charset="0"/>
              <a:ea typeface="新細明體"/>
              <a:cs typeface="Times New Roman" panose="02020603050405020304" pitchFamily="18" charset="0"/>
            </a:endParaRPr>
          </a:p>
          <a:p>
            <a:r>
              <a:rPr lang="af-ZA" altLang="zh-TW" dirty="0">
                <a:latin typeface="Times New Roman" panose="02020603050405020304" pitchFamily="18" charset="0"/>
                <a:ea typeface="新細明體"/>
                <a:cs typeface="Times New Roman" panose="02020603050405020304" pitchFamily="18" charset="0"/>
              </a:rPr>
              <a:t>Step 3:  If cp</a:t>
            </a:r>
            <a:r>
              <a:rPr lang="el-GR" altLang="zh-TW" dirty="0">
                <a:latin typeface="Times New Roman" panose="02020603050405020304" pitchFamily="18" charset="0"/>
                <a:ea typeface="新細明體"/>
                <a:cs typeface="Times New Roman" panose="02020603050405020304" pitchFamily="18" charset="0"/>
              </a:rPr>
              <a:t>α &lt; </a:t>
            </a:r>
            <a:r>
              <a:rPr lang="af-ZA" altLang="zh-TW" dirty="0">
                <a:latin typeface="Times New Roman" panose="02020603050405020304" pitchFamily="18" charset="0"/>
                <a:ea typeface="新細明體"/>
                <a:cs typeface="Times New Roman" panose="02020603050405020304" pitchFamily="18" charset="0"/>
              </a:rPr>
              <a:t>cp</a:t>
            </a:r>
            <a:r>
              <a:rPr lang="el-GR" altLang="zh-TW" dirty="0">
                <a:latin typeface="Times New Roman" panose="02020603050405020304" pitchFamily="18" charset="0"/>
                <a:ea typeface="新細明體"/>
                <a:cs typeface="Times New Roman" panose="02020603050405020304" pitchFamily="18" charset="0"/>
              </a:rPr>
              <a:t>β , </a:t>
            </a:r>
            <a:r>
              <a:rPr lang="af-ZA" altLang="zh-TW" dirty="0">
                <a:latin typeface="Times New Roman" panose="02020603050405020304" pitchFamily="18" charset="0"/>
                <a:ea typeface="新細明體"/>
                <a:cs typeface="Times New Roman" panose="02020603050405020304" pitchFamily="18" charset="0"/>
              </a:rPr>
              <a:t>then select 'node </a:t>
            </a:r>
            <a:r>
              <a:rPr lang="el-GR" altLang="zh-TW" dirty="0">
                <a:latin typeface="Times New Roman" panose="02020603050405020304" pitchFamily="18" charset="0"/>
                <a:ea typeface="新細明體"/>
                <a:cs typeface="Times New Roman" panose="02020603050405020304" pitchFamily="18" charset="0"/>
              </a:rPr>
              <a:t>α', </a:t>
            </a:r>
            <a:r>
              <a:rPr lang="af-ZA" altLang="zh-TW" dirty="0">
                <a:latin typeface="Times New Roman" panose="02020603050405020304" pitchFamily="18" charset="0"/>
                <a:ea typeface="新細明體"/>
                <a:cs typeface="Times New Roman" panose="02020603050405020304" pitchFamily="18" charset="0"/>
              </a:rPr>
              <a:t>otherwise, 'node </a:t>
            </a:r>
            <a:r>
              <a:rPr lang="el-GR" altLang="zh-TW" dirty="0">
                <a:latin typeface="Times New Roman" panose="02020603050405020304" pitchFamily="18" charset="0"/>
                <a:ea typeface="新細明體"/>
                <a:cs typeface="Times New Roman" panose="02020603050405020304" pitchFamily="18" charset="0"/>
              </a:rPr>
              <a:t>β' </a:t>
            </a:r>
            <a:r>
              <a:rPr lang="af-ZA" altLang="zh-TW" dirty="0">
                <a:latin typeface="Times New Roman" panose="02020603050405020304" pitchFamily="18" charset="0"/>
                <a:ea typeface="新細明體"/>
                <a:cs typeface="Times New Roman" panose="02020603050405020304" pitchFamily="18" charset="0"/>
              </a:rPr>
              <a:t>as the next node and add it to the partially constructed offspring chromosome. If the offspring is a complete chromosome, then stop, otherwise, rename the present node as 'node p' and go to Step 2.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747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B83FA1-092C-42E4-BF4D-C0C34E347E16}"/>
              </a:ext>
            </a:extLst>
          </p:cNvPr>
          <p:cNvSpPr>
            <a:spLocks noGrp="1"/>
          </p:cNvSpPr>
          <p:nvPr>
            <p:ph type="title"/>
          </p:nvPr>
        </p:nvSpPr>
        <p:spPr>
          <a:xfrm>
            <a:off x="838200" y="366527"/>
            <a:ext cx="10515600" cy="933739"/>
          </a:xfrm>
        </p:spPr>
        <p:txBody>
          <a:bodyPr/>
          <a:lstStyle/>
          <a:p>
            <a:r>
              <a:rPr lang="en-US" altLang="zh-TW" b="1" dirty="0"/>
              <a:t>Example</a:t>
            </a:r>
            <a:endParaRPr lang="zh-TW" altLang="en-US" b="1" dirty="0"/>
          </a:p>
        </p:txBody>
      </p:sp>
      <p:sp>
        <p:nvSpPr>
          <p:cNvPr id="3" name="內容版面配置區 2">
            <a:extLst>
              <a:ext uri="{FF2B5EF4-FFF2-40B4-BE49-F238E27FC236}">
                <a16:creationId xmlns:a16="http://schemas.microsoft.com/office/drawing/2014/main" id="{FAE31B2B-422B-4054-95AB-4C9F6E31567B}"/>
              </a:ext>
            </a:extLst>
          </p:cNvPr>
          <p:cNvSpPr>
            <a:spLocks noGrp="1"/>
          </p:cNvSpPr>
          <p:nvPr>
            <p:ph idx="1"/>
          </p:nvPr>
        </p:nvSpPr>
        <p:spPr>
          <a:xfrm>
            <a:off x="838200" y="1527464"/>
            <a:ext cx="10515600" cy="4649499"/>
          </a:xfrm>
        </p:spPr>
        <p:txBody>
          <a:bodyPr vert="horz" lIns="91440" tIns="45720" rIns="91440" bIns="45720" rtlCol="0" anchor="t">
            <a:normAutofit/>
          </a:bodyPr>
          <a:lstStyle/>
          <a:p>
            <a:r>
              <a:rPr lang="af-ZA" altLang="zh-TW" dirty="0">
                <a:latin typeface="Times New Roman" panose="02020603050405020304" pitchFamily="18" charset="0"/>
                <a:cs typeface="Times New Roman" panose="02020603050405020304" pitchFamily="18" charset="0"/>
              </a:rPr>
              <a:t>P1: (1, 5, 7, 3, 6, 4, 2</a:t>
            </a:r>
            <a:r>
              <a:rPr lang="LID4096" altLang="zh-TW" dirty="0">
                <a:latin typeface="Times New Roman" panose="02020603050405020304" pitchFamily="18" charset="0"/>
                <a:cs typeface="Times New Roman" panose="02020603050405020304" pitchFamily="18" charset="0"/>
              </a:rPr>
              <a:t>)</a:t>
            </a:r>
          </a:p>
          <a:p>
            <a:r>
              <a:rPr lang="af-ZA" altLang="zh-TW" dirty="0">
                <a:latin typeface="Times New Roman" panose="02020603050405020304" pitchFamily="18" charset="0"/>
                <a:cs typeface="Times New Roman" panose="02020603050405020304" pitchFamily="18" charset="0"/>
              </a:rPr>
              <a:t>P2: (1, 6, 2, 4, 3, 5, 7)</a:t>
            </a:r>
          </a:p>
          <a:p>
            <a:r>
              <a:rPr lang="af-ZA" dirty="0">
                <a:latin typeface="Times New Roman" panose="02020603050405020304" pitchFamily="18" charset="0"/>
                <a:ea typeface="+mn-lt"/>
                <a:cs typeface="Times New Roman" panose="02020603050405020304" pitchFamily="18" charset="0"/>
              </a:rPr>
              <a:t>Ans:(1, 5, 7, 2, 4, 3, 6)</a:t>
            </a:r>
            <a:endParaRPr lang="af-ZA" altLang="zh-TW" dirty="0">
              <a:latin typeface="Times New Roman" panose="02020603050405020304" pitchFamily="18" charset="0"/>
              <a:ea typeface="新細明體"/>
              <a:cs typeface="Times New Roman" panose="02020603050405020304" pitchFamily="18" charset="0"/>
            </a:endParaRPr>
          </a:p>
        </p:txBody>
      </p:sp>
      <p:pic>
        <p:nvPicPr>
          <p:cNvPr id="4" name="圖片 4">
            <a:extLst>
              <a:ext uri="{FF2B5EF4-FFF2-40B4-BE49-F238E27FC236}">
                <a16:creationId xmlns:a16="http://schemas.microsoft.com/office/drawing/2014/main" id="{252C5E11-A018-4000-A4EF-A15BEB5742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1071" y="3205513"/>
            <a:ext cx="6128994" cy="2277383"/>
          </a:xfrm>
          <a:prstGeom prst="rect">
            <a:avLst/>
          </a:prstGeom>
        </p:spPr>
      </p:pic>
    </p:spTree>
    <p:extLst>
      <p:ext uri="{BB962C8B-B14F-4D97-AF65-F5344CB8AC3E}">
        <p14:creationId xmlns:p14="http://schemas.microsoft.com/office/powerpoint/2010/main" val="2677277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870A68-88BB-4FB5-BE44-0D35C223A1A5}"/>
              </a:ext>
            </a:extLst>
          </p:cNvPr>
          <p:cNvSpPr>
            <a:spLocks noGrp="1"/>
          </p:cNvSpPr>
          <p:nvPr>
            <p:ph type="title"/>
          </p:nvPr>
        </p:nvSpPr>
        <p:spPr/>
        <p:txBody>
          <a:bodyPr/>
          <a:lstStyle/>
          <a:p>
            <a:r>
              <a:rPr lang="af-ZA" altLang="zh-TW" b="1" i="0" u="none" strike="noStrike">
                <a:solidFill>
                  <a:srgbClr val="000000"/>
                </a:solidFill>
                <a:effectLst/>
                <a:ea typeface="Times New Roman" panose="02020603050405020304" pitchFamily="18" charset="0"/>
              </a:rPr>
              <a:t>Simulated Anealing Algorithm</a:t>
            </a:r>
            <a:r>
              <a:rPr lang="af-ZA" altLang="zh-TW" b="0" i="0">
                <a:solidFill>
                  <a:srgbClr val="000000"/>
                </a:solidFill>
                <a:effectLst/>
                <a:latin typeface="Times New Roman" panose="02020603050405020304" pitchFamily="18" charset="0"/>
              </a:rPr>
              <a:t>​</a:t>
            </a:r>
            <a:br>
              <a:rPr lang="en-US" altLang="zh-TW" dirty="0"/>
            </a:br>
            <a:endParaRPr lang="zh-TW" altLang="en-US" dirty="0"/>
          </a:p>
        </p:txBody>
      </p:sp>
      <p:sp>
        <p:nvSpPr>
          <p:cNvPr id="3" name="內容版面配置區 2">
            <a:extLst>
              <a:ext uri="{FF2B5EF4-FFF2-40B4-BE49-F238E27FC236}">
                <a16:creationId xmlns:a16="http://schemas.microsoft.com/office/drawing/2014/main" id="{DAF13090-5757-4BE6-B49D-E4229783D809}"/>
              </a:ext>
            </a:extLst>
          </p:cNvPr>
          <p:cNvSpPr>
            <a:spLocks noGrp="1"/>
          </p:cNvSpPr>
          <p:nvPr>
            <p:ph idx="1"/>
          </p:nvPr>
        </p:nvSpPr>
        <p:spPr>
          <a:xfrm>
            <a:off x="502216" y="1996966"/>
            <a:ext cx="10790274" cy="4039859"/>
          </a:xfrm>
        </p:spPr>
        <p:txBody>
          <a:bodyPr anchor="t">
            <a:normAutofit/>
          </a:bodyPr>
          <a:lstStyle/>
          <a:p>
            <a:pPr rtl="0" fontAlgn="base"/>
            <a:r>
              <a:rPr lang="zh-TW" altLang="zh-TW" b="0" i="0" u="none" strike="noStrike">
                <a:solidFill>
                  <a:srgbClr val="000000"/>
                </a:solidFill>
                <a:effectLst/>
                <a:ea typeface="Times New Roman" panose="02020603050405020304" pitchFamily="18" charset="0"/>
              </a:rPr>
              <a:t>the neighborhood is defined as the set of the pairwise change of the operation sequence in the ship area. For example: from a current state [1, 2, 3, 4, ...], exchanging the operation sequence of two ship areas, then get a new state [4, 2, 3, 1, ...].</a:t>
            </a:r>
            <a:endParaRPr lang="zh-TW" altLang="en-US" dirty="0"/>
          </a:p>
        </p:txBody>
      </p:sp>
    </p:spTree>
    <p:extLst>
      <p:ext uri="{BB962C8B-B14F-4D97-AF65-F5344CB8AC3E}">
        <p14:creationId xmlns:p14="http://schemas.microsoft.com/office/powerpoint/2010/main" val="857165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870A68-88BB-4FB5-BE44-0D35C223A1A5}"/>
              </a:ext>
            </a:extLst>
          </p:cNvPr>
          <p:cNvSpPr>
            <a:spLocks noGrp="1"/>
          </p:cNvSpPr>
          <p:nvPr>
            <p:ph type="title"/>
          </p:nvPr>
        </p:nvSpPr>
        <p:spPr/>
        <p:txBody>
          <a:bodyPr/>
          <a:lstStyle/>
          <a:p>
            <a:r>
              <a:rPr lang="zh-TW" altLang="zh-TW" b="1" i="0" dirty="0">
                <a:solidFill>
                  <a:srgbClr val="000000"/>
                </a:solidFill>
                <a:effectLst/>
                <a:ea typeface="Times New Roman" panose="02020603050405020304" pitchFamily="18" charset="0"/>
              </a:rPr>
              <a:t>Experiment1</a:t>
            </a:r>
            <a:br>
              <a:rPr lang="en-US" altLang="zh-TW" dirty="0"/>
            </a:br>
            <a:endParaRPr lang="zh-TW" altLang="en-US" dirty="0"/>
          </a:p>
        </p:txBody>
      </p:sp>
      <p:sp>
        <p:nvSpPr>
          <p:cNvPr id="3" name="內容版面配置區 2">
            <a:extLst>
              <a:ext uri="{FF2B5EF4-FFF2-40B4-BE49-F238E27FC236}">
                <a16:creationId xmlns:a16="http://schemas.microsoft.com/office/drawing/2014/main" id="{DAF13090-5757-4BE6-B49D-E4229783D809}"/>
              </a:ext>
            </a:extLst>
          </p:cNvPr>
          <p:cNvSpPr>
            <a:spLocks noGrp="1"/>
          </p:cNvSpPr>
          <p:nvPr>
            <p:ph idx="1"/>
          </p:nvPr>
        </p:nvSpPr>
        <p:spPr>
          <a:xfrm>
            <a:off x="502216" y="1996966"/>
            <a:ext cx="10790274" cy="4039859"/>
          </a:xfrm>
        </p:spPr>
        <p:txBody>
          <a:bodyPr anchor="t">
            <a:normAutofit/>
          </a:bodyPr>
          <a:lstStyle/>
          <a:p>
            <a:pPr rtl="0" fontAlgn="base"/>
            <a:r>
              <a:rPr lang="zh-TW" altLang="zh-TW" b="0" i="0" u="none" strike="noStrike">
                <a:solidFill>
                  <a:srgbClr val="000000"/>
                </a:solidFill>
                <a:effectLst/>
                <a:ea typeface="Times New Roman" panose="02020603050405020304" pitchFamily="18" charset="0"/>
              </a:rPr>
              <a:t>GA: population size is 10, and the maximum iteration is 100. </a:t>
            </a:r>
            <a:r>
              <a:rPr lang="zh-TW" altLang="zh-TW" b="0" i="0">
                <a:solidFill>
                  <a:srgbClr val="000000"/>
                </a:solidFill>
                <a:effectLst/>
                <a:ea typeface="Times New Roman" panose="02020603050405020304" pitchFamily="18" charset="0"/>
              </a:rPr>
              <a:t>​</a:t>
            </a:r>
            <a:endParaRPr lang="zh-TW" altLang="zh-TW" b="0" i="0">
              <a:solidFill>
                <a:srgbClr val="000000"/>
              </a:solidFill>
              <a:effectLst/>
            </a:endParaRPr>
          </a:p>
          <a:p>
            <a:pPr rtl="0" fontAlgn="base"/>
            <a:r>
              <a:rPr lang="zh-TW" altLang="zh-TW" b="0" i="0" u="none" strike="noStrike">
                <a:solidFill>
                  <a:srgbClr val="000000"/>
                </a:solidFill>
                <a:effectLst/>
                <a:ea typeface="Times New Roman" panose="02020603050405020304" pitchFamily="18" charset="0"/>
              </a:rPr>
              <a:t>PSO: particle population size is 10, and the iteration is 100</a:t>
            </a:r>
            <a:r>
              <a:rPr lang="en-US" altLang="zh-TW" b="0" i="0" u="none" strike="noStrike">
                <a:solidFill>
                  <a:srgbClr val="000000"/>
                </a:solidFill>
                <a:effectLst/>
              </a:rPr>
              <a:t>.</a:t>
            </a:r>
            <a:r>
              <a:rPr lang="zh-TW" altLang="zh-TW" b="0" i="0" u="none" strike="noStrike">
                <a:solidFill>
                  <a:srgbClr val="000000"/>
                </a:solidFill>
                <a:effectLst/>
                <a:ea typeface="Times New Roman" panose="02020603050405020304" pitchFamily="18" charset="0"/>
              </a:rPr>
              <a:t> </a:t>
            </a:r>
            <a:r>
              <a:rPr lang="zh-TW" altLang="zh-TW" b="0" i="0">
                <a:solidFill>
                  <a:srgbClr val="000000"/>
                </a:solidFill>
                <a:effectLst/>
                <a:ea typeface="Times New Roman" panose="02020603050405020304" pitchFamily="18" charset="0"/>
              </a:rPr>
              <a:t>​</a:t>
            </a:r>
            <a:endParaRPr lang="zh-TW" altLang="zh-TW" b="0" i="0">
              <a:solidFill>
                <a:srgbClr val="000000"/>
              </a:solidFill>
              <a:effectLst/>
            </a:endParaRPr>
          </a:p>
          <a:p>
            <a:pPr rtl="0" fontAlgn="base"/>
            <a:r>
              <a:rPr lang="zh-TW" altLang="zh-TW" b="0" i="0" u="none" strike="noStrike">
                <a:solidFill>
                  <a:srgbClr val="000000"/>
                </a:solidFill>
                <a:effectLst/>
                <a:ea typeface="Times New Roman" panose="02020603050405020304" pitchFamily="18" charset="0"/>
              </a:rPr>
              <a:t>SA: initial temperature is 10000, terminating temperature is 0, annealing process </a:t>
            </a:r>
            <a:r>
              <a:rPr lang="en-US" altLang="zh-TW" b="0" i="0" u="none" strike="noStrike">
                <a:solidFill>
                  <a:srgbClr val="000000"/>
                </a:solidFill>
                <a:effectLst/>
              </a:rPr>
              <a:t>T  </a:t>
            </a:r>
            <a:r>
              <a:rPr lang="zh-TW" altLang="en-US" b="0" i="0">
                <a:solidFill>
                  <a:srgbClr val="000000"/>
                </a:solidFill>
                <a:effectLst/>
              </a:rPr>
              <a:t>  </a:t>
            </a:r>
            <a:r>
              <a:rPr lang="en-US" altLang="zh-TW" b="0" i="0" u="none" strike="noStrike">
                <a:solidFill>
                  <a:srgbClr val="000000"/>
                </a:solidFill>
                <a:effectLst/>
              </a:rPr>
              <a:t>    =T   -100 ,</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and</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the</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inner-loop</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time</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is</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10.</a:t>
            </a:r>
            <a:r>
              <a:rPr lang="zh-TW" altLang="zh-TW" b="0" i="0" u="none" strike="noStrike">
                <a:solidFill>
                  <a:srgbClr val="000000"/>
                </a:solidFill>
                <a:effectLst/>
                <a:ea typeface="Times New Roman" panose="02020603050405020304" pitchFamily="18" charset="0"/>
              </a:rPr>
              <a:t> </a:t>
            </a:r>
            <a:endParaRPr lang="zh-TW" altLang="zh-TW" b="0" i="0">
              <a:solidFill>
                <a:srgbClr val="000000"/>
              </a:solidFill>
              <a:effectLst/>
            </a:endParaRPr>
          </a:p>
          <a:p>
            <a:pPr rtl="0" fontAlgn="base"/>
            <a:endParaRPr lang="zh-TW" altLang="en-US" dirty="0"/>
          </a:p>
        </p:txBody>
      </p:sp>
      <p:sp>
        <p:nvSpPr>
          <p:cNvPr id="5" name="文字方塊 4">
            <a:extLst>
              <a:ext uri="{FF2B5EF4-FFF2-40B4-BE49-F238E27FC236}">
                <a16:creationId xmlns:a16="http://schemas.microsoft.com/office/drawing/2014/main" id="{B469A65D-826B-4CE5-9CD8-0A4854DE2333}"/>
              </a:ext>
            </a:extLst>
          </p:cNvPr>
          <p:cNvSpPr txBox="1"/>
          <p:nvPr/>
        </p:nvSpPr>
        <p:spPr>
          <a:xfrm>
            <a:off x="2104956" y="3550886"/>
            <a:ext cx="613104" cy="369332"/>
          </a:xfrm>
          <a:prstGeom prst="rect">
            <a:avLst/>
          </a:prstGeom>
          <a:noFill/>
        </p:spPr>
        <p:txBody>
          <a:bodyPr wrap="square">
            <a:spAutoFit/>
          </a:bodyPr>
          <a:lstStyle/>
          <a:p>
            <a:r>
              <a:rPr lang="zh-TW" altLang="zh-TW" b="0" i="0">
                <a:solidFill>
                  <a:srgbClr val="000000"/>
                </a:solidFill>
                <a:effectLst/>
                <a:ea typeface="Calibri" panose="020F0502020204030204" pitchFamily="34" charset="0"/>
              </a:rPr>
              <a:t>k+1</a:t>
            </a:r>
            <a:endParaRPr lang="zh-TW" altLang="en-US"/>
          </a:p>
        </p:txBody>
      </p:sp>
      <p:sp>
        <p:nvSpPr>
          <p:cNvPr id="7" name="文字方塊 6">
            <a:extLst>
              <a:ext uri="{FF2B5EF4-FFF2-40B4-BE49-F238E27FC236}">
                <a16:creationId xmlns:a16="http://schemas.microsoft.com/office/drawing/2014/main" id="{42657630-CFE7-40DB-875C-E98B6797276A}"/>
              </a:ext>
            </a:extLst>
          </p:cNvPr>
          <p:cNvSpPr txBox="1"/>
          <p:nvPr/>
        </p:nvSpPr>
        <p:spPr>
          <a:xfrm>
            <a:off x="3234732" y="3550886"/>
            <a:ext cx="350345" cy="369332"/>
          </a:xfrm>
          <a:prstGeom prst="rect">
            <a:avLst/>
          </a:prstGeom>
          <a:noFill/>
        </p:spPr>
        <p:txBody>
          <a:bodyPr wrap="square">
            <a:spAutoFit/>
          </a:bodyPr>
          <a:lstStyle/>
          <a:p>
            <a:r>
              <a:rPr lang="zh-TW" altLang="zh-TW" b="0" i="0">
                <a:solidFill>
                  <a:srgbClr val="000000"/>
                </a:solidFill>
                <a:effectLst/>
                <a:ea typeface="Calibri" panose="020F0502020204030204" pitchFamily="34" charset="0"/>
              </a:rPr>
              <a:t>k</a:t>
            </a:r>
            <a:endParaRPr lang="zh-TW" altLang="en-US"/>
          </a:p>
        </p:txBody>
      </p:sp>
      <p:pic>
        <p:nvPicPr>
          <p:cNvPr id="8" name="圖片 8">
            <a:extLst>
              <a:ext uri="{FF2B5EF4-FFF2-40B4-BE49-F238E27FC236}">
                <a16:creationId xmlns:a16="http://schemas.microsoft.com/office/drawing/2014/main" id="{B374822A-F56A-4138-AE83-C15ABFD27F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98138" y="4016895"/>
            <a:ext cx="4829621" cy="2821995"/>
          </a:xfrm>
          <a:prstGeom prst="rect">
            <a:avLst/>
          </a:prstGeom>
        </p:spPr>
      </p:pic>
    </p:spTree>
    <p:extLst>
      <p:ext uri="{BB962C8B-B14F-4D97-AF65-F5344CB8AC3E}">
        <p14:creationId xmlns:p14="http://schemas.microsoft.com/office/powerpoint/2010/main" val="1716933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870A68-88BB-4FB5-BE44-0D35C223A1A5}"/>
              </a:ext>
            </a:extLst>
          </p:cNvPr>
          <p:cNvSpPr>
            <a:spLocks noGrp="1"/>
          </p:cNvSpPr>
          <p:nvPr>
            <p:ph type="title"/>
          </p:nvPr>
        </p:nvSpPr>
        <p:spPr/>
        <p:txBody>
          <a:bodyPr/>
          <a:lstStyle/>
          <a:p>
            <a:r>
              <a:rPr lang="zh-TW" altLang="zh-TW" b="1" i="0">
                <a:solidFill>
                  <a:srgbClr val="000000"/>
                </a:solidFill>
                <a:effectLst/>
                <a:ea typeface="Times New Roman" panose="02020603050405020304" pitchFamily="18" charset="0"/>
              </a:rPr>
              <a:t>Experiment</a:t>
            </a:r>
            <a:r>
              <a:rPr lang="LID4096" altLang="zh-TW" b="1" i="0">
                <a:solidFill>
                  <a:srgbClr val="000000"/>
                </a:solidFill>
                <a:effectLst/>
                <a:ea typeface="Times New Roman" panose="02020603050405020304" pitchFamily="18" charset="0"/>
              </a:rPr>
              <a:t>2</a:t>
            </a:r>
            <a:br>
              <a:rPr lang="en-US" altLang="zh-TW" dirty="0"/>
            </a:br>
            <a:endParaRPr lang="zh-TW" altLang="en-US" dirty="0"/>
          </a:p>
        </p:txBody>
      </p:sp>
      <p:sp>
        <p:nvSpPr>
          <p:cNvPr id="3" name="內容版面配置區 2">
            <a:extLst>
              <a:ext uri="{FF2B5EF4-FFF2-40B4-BE49-F238E27FC236}">
                <a16:creationId xmlns:a16="http://schemas.microsoft.com/office/drawing/2014/main" id="{DAF13090-5757-4BE6-B49D-E4229783D809}"/>
              </a:ext>
            </a:extLst>
          </p:cNvPr>
          <p:cNvSpPr>
            <a:spLocks noGrp="1"/>
          </p:cNvSpPr>
          <p:nvPr>
            <p:ph idx="1"/>
          </p:nvPr>
        </p:nvSpPr>
        <p:spPr>
          <a:xfrm>
            <a:off x="502216" y="1996966"/>
            <a:ext cx="10790274" cy="4039859"/>
          </a:xfrm>
        </p:spPr>
        <p:txBody>
          <a:bodyPr anchor="t">
            <a:normAutofit/>
          </a:bodyPr>
          <a:lstStyle/>
          <a:p>
            <a:pPr rtl="0" fontAlgn="base"/>
            <a:r>
              <a:rPr lang="zh-TW" altLang="zh-TW" b="0" i="0" u="none" strike="noStrike">
                <a:solidFill>
                  <a:srgbClr val="000000"/>
                </a:solidFill>
                <a:effectLst/>
                <a:ea typeface="Times New Roman" panose="02020603050405020304" pitchFamily="18" charset="0"/>
              </a:rPr>
              <a:t>GA: population size is </a:t>
            </a:r>
            <a:r>
              <a:rPr lang="LID4096" altLang="zh-TW" b="0" i="0" u="none" strike="noStrike">
                <a:solidFill>
                  <a:srgbClr val="000000"/>
                </a:solidFill>
                <a:effectLst/>
                <a:ea typeface="Times New Roman" panose="02020603050405020304" pitchFamily="18" charset="0"/>
              </a:rPr>
              <a:t>3</a:t>
            </a:r>
            <a:r>
              <a:rPr lang="zh-TW" altLang="zh-TW" b="0" i="0" u="none" strike="noStrike">
                <a:solidFill>
                  <a:srgbClr val="000000"/>
                </a:solidFill>
                <a:effectLst/>
                <a:ea typeface="Times New Roman" panose="02020603050405020304" pitchFamily="18" charset="0"/>
              </a:rPr>
              <a:t>0, and the maximum iteration is 100. </a:t>
            </a:r>
            <a:r>
              <a:rPr lang="zh-TW" altLang="zh-TW" b="0" i="0">
                <a:solidFill>
                  <a:srgbClr val="000000"/>
                </a:solidFill>
                <a:effectLst/>
                <a:ea typeface="Times New Roman" panose="02020603050405020304" pitchFamily="18" charset="0"/>
              </a:rPr>
              <a:t>​</a:t>
            </a:r>
            <a:endParaRPr lang="zh-TW" altLang="zh-TW" b="0" i="0">
              <a:solidFill>
                <a:srgbClr val="000000"/>
              </a:solidFill>
              <a:effectLst/>
            </a:endParaRPr>
          </a:p>
          <a:p>
            <a:pPr rtl="0" fontAlgn="base"/>
            <a:r>
              <a:rPr lang="zh-TW" altLang="zh-TW" b="0" i="0" u="none" strike="noStrike">
                <a:solidFill>
                  <a:srgbClr val="000000"/>
                </a:solidFill>
                <a:effectLst/>
                <a:ea typeface="Times New Roman" panose="02020603050405020304" pitchFamily="18" charset="0"/>
              </a:rPr>
              <a:t>PSO: particle population size is </a:t>
            </a:r>
            <a:r>
              <a:rPr lang="LID4096" altLang="zh-TW" b="0" i="0" u="none" strike="noStrike">
                <a:solidFill>
                  <a:srgbClr val="000000"/>
                </a:solidFill>
                <a:effectLst/>
                <a:ea typeface="Times New Roman" panose="02020603050405020304" pitchFamily="18" charset="0"/>
              </a:rPr>
              <a:t>3</a:t>
            </a:r>
            <a:r>
              <a:rPr lang="zh-TW" altLang="zh-TW" b="0" i="0" u="none" strike="noStrike">
                <a:solidFill>
                  <a:srgbClr val="000000"/>
                </a:solidFill>
                <a:effectLst/>
                <a:ea typeface="Times New Roman" panose="02020603050405020304" pitchFamily="18" charset="0"/>
              </a:rPr>
              <a:t>0, and the iteration is 100</a:t>
            </a:r>
            <a:r>
              <a:rPr lang="en-US" altLang="zh-TW" b="0" i="0" u="none" strike="noStrike">
                <a:solidFill>
                  <a:srgbClr val="000000"/>
                </a:solidFill>
                <a:effectLst/>
              </a:rPr>
              <a:t>.</a:t>
            </a:r>
            <a:r>
              <a:rPr lang="zh-TW" altLang="zh-TW" b="0" i="0" u="none" strike="noStrike">
                <a:solidFill>
                  <a:srgbClr val="000000"/>
                </a:solidFill>
                <a:effectLst/>
                <a:ea typeface="Times New Roman" panose="02020603050405020304" pitchFamily="18" charset="0"/>
              </a:rPr>
              <a:t> </a:t>
            </a:r>
            <a:r>
              <a:rPr lang="zh-TW" altLang="zh-TW" b="0" i="0">
                <a:solidFill>
                  <a:srgbClr val="000000"/>
                </a:solidFill>
                <a:effectLst/>
                <a:ea typeface="Times New Roman" panose="02020603050405020304" pitchFamily="18" charset="0"/>
              </a:rPr>
              <a:t>​</a:t>
            </a:r>
            <a:endParaRPr lang="zh-TW" altLang="zh-TW" b="0" i="0">
              <a:solidFill>
                <a:srgbClr val="000000"/>
              </a:solidFill>
              <a:effectLst/>
            </a:endParaRPr>
          </a:p>
          <a:p>
            <a:pPr rtl="0" fontAlgn="base"/>
            <a:r>
              <a:rPr lang="zh-TW" altLang="zh-TW" b="0" i="0" u="none" strike="noStrike">
                <a:solidFill>
                  <a:srgbClr val="000000"/>
                </a:solidFill>
                <a:effectLst/>
                <a:ea typeface="Times New Roman" panose="02020603050405020304" pitchFamily="18" charset="0"/>
              </a:rPr>
              <a:t>SA: initial temperature is 10000, terminating temperature is 0, annealing process </a:t>
            </a:r>
            <a:r>
              <a:rPr lang="en-US" altLang="zh-TW" b="0" i="0" u="none" strike="noStrike">
                <a:solidFill>
                  <a:srgbClr val="000000"/>
                </a:solidFill>
                <a:effectLst/>
              </a:rPr>
              <a:t>T  </a:t>
            </a:r>
            <a:r>
              <a:rPr lang="zh-TW" altLang="en-US" b="0" i="0">
                <a:solidFill>
                  <a:srgbClr val="000000"/>
                </a:solidFill>
                <a:effectLst/>
              </a:rPr>
              <a:t>  </a:t>
            </a:r>
            <a:r>
              <a:rPr lang="en-US" altLang="zh-TW" b="0" i="0" u="none" strike="noStrike">
                <a:solidFill>
                  <a:srgbClr val="000000"/>
                </a:solidFill>
                <a:effectLst/>
              </a:rPr>
              <a:t>    =T   -100 ,</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and</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the</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inner-loop</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time</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is</a:t>
            </a:r>
            <a:r>
              <a:rPr lang="zh-TW" altLang="zh-TW" b="0" i="0" u="none" strike="noStrike">
                <a:solidFill>
                  <a:srgbClr val="000000"/>
                </a:solidFill>
                <a:effectLst/>
                <a:ea typeface="Times New Roman" panose="02020603050405020304" pitchFamily="18" charset="0"/>
              </a:rPr>
              <a:t> </a:t>
            </a:r>
            <a:r>
              <a:rPr lang="LID4096" altLang="zh-TW">
                <a:solidFill>
                  <a:srgbClr val="000000"/>
                </a:solidFill>
                <a:ea typeface="Times New Roman" panose="02020603050405020304" pitchFamily="18" charset="0"/>
              </a:rPr>
              <a:t>3</a:t>
            </a:r>
            <a:r>
              <a:rPr lang="en-US" altLang="zh-TW" b="0" i="0" u="none" strike="noStrike">
                <a:solidFill>
                  <a:srgbClr val="000000"/>
                </a:solidFill>
                <a:effectLst/>
              </a:rPr>
              <a:t>0.</a:t>
            </a:r>
            <a:r>
              <a:rPr lang="zh-TW" altLang="zh-TW" b="0" i="0" u="none" strike="noStrike">
                <a:solidFill>
                  <a:srgbClr val="000000"/>
                </a:solidFill>
                <a:effectLst/>
                <a:ea typeface="Times New Roman" panose="02020603050405020304" pitchFamily="18" charset="0"/>
              </a:rPr>
              <a:t> </a:t>
            </a:r>
            <a:endParaRPr lang="zh-TW" altLang="zh-TW" b="0" i="0">
              <a:solidFill>
                <a:srgbClr val="000000"/>
              </a:solidFill>
              <a:effectLst/>
            </a:endParaRPr>
          </a:p>
          <a:p>
            <a:pPr rtl="0" fontAlgn="base"/>
            <a:endParaRPr lang="zh-TW" altLang="en-US" dirty="0"/>
          </a:p>
        </p:txBody>
      </p:sp>
      <p:sp>
        <p:nvSpPr>
          <p:cNvPr id="5" name="文字方塊 4">
            <a:extLst>
              <a:ext uri="{FF2B5EF4-FFF2-40B4-BE49-F238E27FC236}">
                <a16:creationId xmlns:a16="http://schemas.microsoft.com/office/drawing/2014/main" id="{B469A65D-826B-4CE5-9CD8-0A4854DE2333}"/>
              </a:ext>
            </a:extLst>
          </p:cNvPr>
          <p:cNvSpPr txBox="1"/>
          <p:nvPr/>
        </p:nvSpPr>
        <p:spPr>
          <a:xfrm>
            <a:off x="2104956" y="3550886"/>
            <a:ext cx="613104" cy="369332"/>
          </a:xfrm>
          <a:prstGeom prst="rect">
            <a:avLst/>
          </a:prstGeom>
          <a:noFill/>
        </p:spPr>
        <p:txBody>
          <a:bodyPr wrap="square">
            <a:spAutoFit/>
          </a:bodyPr>
          <a:lstStyle/>
          <a:p>
            <a:r>
              <a:rPr lang="zh-TW" altLang="zh-TW" b="0" i="0">
                <a:solidFill>
                  <a:srgbClr val="000000"/>
                </a:solidFill>
                <a:effectLst/>
                <a:ea typeface="Calibri" panose="020F0502020204030204" pitchFamily="34" charset="0"/>
              </a:rPr>
              <a:t>k+1</a:t>
            </a:r>
            <a:endParaRPr lang="zh-TW" altLang="en-US"/>
          </a:p>
        </p:txBody>
      </p:sp>
      <p:sp>
        <p:nvSpPr>
          <p:cNvPr id="7" name="文字方塊 6">
            <a:extLst>
              <a:ext uri="{FF2B5EF4-FFF2-40B4-BE49-F238E27FC236}">
                <a16:creationId xmlns:a16="http://schemas.microsoft.com/office/drawing/2014/main" id="{42657630-CFE7-40DB-875C-E98B6797276A}"/>
              </a:ext>
            </a:extLst>
          </p:cNvPr>
          <p:cNvSpPr txBox="1"/>
          <p:nvPr/>
        </p:nvSpPr>
        <p:spPr>
          <a:xfrm>
            <a:off x="3234732" y="3550886"/>
            <a:ext cx="350345" cy="369332"/>
          </a:xfrm>
          <a:prstGeom prst="rect">
            <a:avLst/>
          </a:prstGeom>
          <a:noFill/>
        </p:spPr>
        <p:txBody>
          <a:bodyPr wrap="square">
            <a:spAutoFit/>
          </a:bodyPr>
          <a:lstStyle/>
          <a:p>
            <a:r>
              <a:rPr lang="zh-TW" altLang="zh-TW" b="0" i="0">
                <a:solidFill>
                  <a:srgbClr val="000000"/>
                </a:solidFill>
                <a:effectLst/>
                <a:ea typeface="Calibri" panose="020F0502020204030204" pitchFamily="34" charset="0"/>
              </a:rPr>
              <a:t>k</a:t>
            </a:r>
            <a:endParaRPr lang="zh-TW" altLang="en-US"/>
          </a:p>
        </p:txBody>
      </p:sp>
      <p:pic>
        <p:nvPicPr>
          <p:cNvPr id="12" name="圖片 12">
            <a:extLst>
              <a:ext uri="{FF2B5EF4-FFF2-40B4-BE49-F238E27FC236}">
                <a16:creationId xmlns:a16="http://schemas.microsoft.com/office/drawing/2014/main" id="{5C4E9D3E-6F66-4597-87FC-4D2C5014B3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1794" y="4016895"/>
            <a:ext cx="4852276" cy="2745324"/>
          </a:xfrm>
          <a:prstGeom prst="rect">
            <a:avLst/>
          </a:prstGeom>
        </p:spPr>
      </p:pic>
    </p:spTree>
    <p:extLst>
      <p:ext uri="{BB962C8B-B14F-4D97-AF65-F5344CB8AC3E}">
        <p14:creationId xmlns:p14="http://schemas.microsoft.com/office/powerpoint/2010/main" val="29712190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870A68-88BB-4FB5-BE44-0D35C223A1A5}"/>
              </a:ext>
            </a:extLst>
          </p:cNvPr>
          <p:cNvSpPr>
            <a:spLocks noGrp="1"/>
          </p:cNvSpPr>
          <p:nvPr>
            <p:ph type="title"/>
          </p:nvPr>
        </p:nvSpPr>
        <p:spPr/>
        <p:txBody>
          <a:bodyPr/>
          <a:lstStyle/>
          <a:p>
            <a:r>
              <a:rPr lang="zh-TW" altLang="zh-TW" b="1" i="0">
                <a:solidFill>
                  <a:srgbClr val="000000"/>
                </a:solidFill>
                <a:effectLst/>
                <a:ea typeface="Times New Roman" panose="02020603050405020304" pitchFamily="18" charset="0"/>
              </a:rPr>
              <a:t>Experiment</a:t>
            </a:r>
            <a:r>
              <a:rPr lang="LID4096" altLang="zh-TW" b="1">
                <a:solidFill>
                  <a:srgbClr val="000000"/>
                </a:solidFill>
                <a:ea typeface="Times New Roman" panose="02020603050405020304" pitchFamily="18" charset="0"/>
              </a:rPr>
              <a:t>3</a:t>
            </a:r>
            <a:br>
              <a:rPr lang="en-US" altLang="zh-TW" dirty="0"/>
            </a:br>
            <a:endParaRPr lang="zh-TW" altLang="en-US" dirty="0"/>
          </a:p>
        </p:txBody>
      </p:sp>
      <p:sp>
        <p:nvSpPr>
          <p:cNvPr id="3" name="內容版面配置區 2">
            <a:extLst>
              <a:ext uri="{FF2B5EF4-FFF2-40B4-BE49-F238E27FC236}">
                <a16:creationId xmlns:a16="http://schemas.microsoft.com/office/drawing/2014/main" id="{DAF13090-5757-4BE6-B49D-E4229783D809}"/>
              </a:ext>
            </a:extLst>
          </p:cNvPr>
          <p:cNvSpPr>
            <a:spLocks noGrp="1"/>
          </p:cNvSpPr>
          <p:nvPr>
            <p:ph idx="1"/>
          </p:nvPr>
        </p:nvSpPr>
        <p:spPr>
          <a:xfrm>
            <a:off x="502216" y="1996966"/>
            <a:ext cx="10790274" cy="4039859"/>
          </a:xfrm>
        </p:spPr>
        <p:txBody>
          <a:bodyPr anchor="t">
            <a:normAutofit/>
          </a:bodyPr>
          <a:lstStyle/>
          <a:p>
            <a:pPr rtl="0" fontAlgn="base"/>
            <a:r>
              <a:rPr lang="zh-TW" altLang="zh-TW" b="0" i="0" u="none" strike="noStrike">
                <a:solidFill>
                  <a:srgbClr val="000000"/>
                </a:solidFill>
                <a:effectLst/>
                <a:ea typeface="Times New Roman" panose="02020603050405020304" pitchFamily="18" charset="0"/>
              </a:rPr>
              <a:t>GA: population size is </a:t>
            </a:r>
            <a:r>
              <a:rPr lang="LID4096" altLang="zh-TW">
                <a:solidFill>
                  <a:srgbClr val="000000"/>
                </a:solidFill>
                <a:ea typeface="Times New Roman" panose="02020603050405020304" pitchFamily="18" charset="0"/>
              </a:rPr>
              <a:t>5</a:t>
            </a:r>
            <a:r>
              <a:rPr lang="zh-TW" altLang="zh-TW" b="0" i="0" u="none" strike="noStrike">
                <a:solidFill>
                  <a:srgbClr val="000000"/>
                </a:solidFill>
                <a:effectLst/>
                <a:ea typeface="Times New Roman" panose="02020603050405020304" pitchFamily="18" charset="0"/>
              </a:rPr>
              <a:t>0, and the maximum iteration is 100. </a:t>
            </a:r>
            <a:r>
              <a:rPr lang="zh-TW" altLang="zh-TW" b="0" i="0">
                <a:solidFill>
                  <a:srgbClr val="000000"/>
                </a:solidFill>
                <a:effectLst/>
                <a:ea typeface="Times New Roman" panose="02020603050405020304" pitchFamily="18" charset="0"/>
              </a:rPr>
              <a:t>​</a:t>
            </a:r>
            <a:endParaRPr lang="zh-TW" altLang="zh-TW" b="0" i="0">
              <a:solidFill>
                <a:srgbClr val="000000"/>
              </a:solidFill>
              <a:effectLst/>
            </a:endParaRPr>
          </a:p>
          <a:p>
            <a:pPr rtl="0" fontAlgn="base"/>
            <a:r>
              <a:rPr lang="zh-TW" altLang="zh-TW" b="0" i="0" u="none" strike="noStrike">
                <a:solidFill>
                  <a:srgbClr val="000000"/>
                </a:solidFill>
                <a:effectLst/>
                <a:ea typeface="Times New Roman" panose="02020603050405020304" pitchFamily="18" charset="0"/>
              </a:rPr>
              <a:t>PSO: particle population size is </a:t>
            </a:r>
            <a:r>
              <a:rPr lang="LID4096" altLang="zh-TW">
                <a:solidFill>
                  <a:srgbClr val="000000"/>
                </a:solidFill>
                <a:ea typeface="Times New Roman" panose="02020603050405020304" pitchFamily="18" charset="0"/>
              </a:rPr>
              <a:t>5</a:t>
            </a:r>
            <a:r>
              <a:rPr lang="zh-TW" altLang="zh-TW" b="0" i="0" u="none" strike="noStrike">
                <a:solidFill>
                  <a:srgbClr val="000000"/>
                </a:solidFill>
                <a:effectLst/>
                <a:ea typeface="Times New Roman" panose="02020603050405020304" pitchFamily="18" charset="0"/>
              </a:rPr>
              <a:t>0, and the iteration is 100</a:t>
            </a:r>
            <a:r>
              <a:rPr lang="en-US" altLang="zh-TW" b="0" i="0" u="none" strike="noStrike">
                <a:solidFill>
                  <a:srgbClr val="000000"/>
                </a:solidFill>
                <a:effectLst/>
              </a:rPr>
              <a:t>.</a:t>
            </a:r>
            <a:r>
              <a:rPr lang="zh-TW" altLang="zh-TW" b="0" i="0" u="none" strike="noStrike">
                <a:solidFill>
                  <a:srgbClr val="000000"/>
                </a:solidFill>
                <a:effectLst/>
                <a:ea typeface="Times New Roman" panose="02020603050405020304" pitchFamily="18" charset="0"/>
              </a:rPr>
              <a:t> </a:t>
            </a:r>
            <a:r>
              <a:rPr lang="zh-TW" altLang="zh-TW" b="0" i="0">
                <a:solidFill>
                  <a:srgbClr val="000000"/>
                </a:solidFill>
                <a:effectLst/>
                <a:ea typeface="Times New Roman" panose="02020603050405020304" pitchFamily="18" charset="0"/>
              </a:rPr>
              <a:t>​</a:t>
            </a:r>
            <a:endParaRPr lang="zh-TW" altLang="zh-TW" b="0" i="0">
              <a:solidFill>
                <a:srgbClr val="000000"/>
              </a:solidFill>
              <a:effectLst/>
            </a:endParaRPr>
          </a:p>
          <a:p>
            <a:pPr rtl="0" fontAlgn="base"/>
            <a:r>
              <a:rPr lang="zh-TW" altLang="zh-TW" b="0" i="0" u="none" strike="noStrike">
                <a:solidFill>
                  <a:srgbClr val="000000"/>
                </a:solidFill>
                <a:effectLst/>
                <a:ea typeface="Times New Roman" panose="02020603050405020304" pitchFamily="18" charset="0"/>
              </a:rPr>
              <a:t>SA: initial temperature is 10000, terminating temperature is 0, annealing process </a:t>
            </a:r>
            <a:r>
              <a:rPr lang="en-US" altLang="zh-TW" b="0" i="0" u="none" strike="noStrike">
                <a:solidFill>
                  <a:srgbClr val="000000"/>
                </a:solidFill>
                <a:effectLst/>
              </a:rPr>
              <a:t>T  </a:t>
            </a:r>
            <a:r>
              <a:rPr lang="zh-TW" altLang="en-US" b="0" i="0">
                <a:solidFill>
                  <a:srgbClr val="000000"/>
                </a:solidFill>
                <a:effectLst/>
              </a:rPr>
              <a:t>  </a:t>
            </a:r>
            <a:r>
              <a:rPr lang="en-US" altLang="zh-TW" b="0" i="0" u="none" strike="noStrike">
                <a:solidFill>
                  <a:srgbClr val="000000"/>
                </a:solidFill>
                <a:effectLst/>
              </a:rPr>
              <a:t>    =T   -100 ,</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and</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the</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inner-loop</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time</a:t>
            </a:r>
            <a:r>
              <a:rPr lang="zh-TW" altLang="zh-TW" b="0" i="0" u="none" strike="noStrike">
                <a:solidFill>
                  <a:srgbClr val="000000"/>
                </a:solidFill>
                <a:effectLst/>
                <a:ea typeface="Times New Roman" panose="02020603050405020304" pitchFamily="18" charset="0"/>
              </a:rPr>
              <a:t> </a:t>
            </a:r>
            <a:r>
              <a:rPr lang="en-US" altLang="zh-TW" b="0" i="0" u="none" strike="noStrike">
                <a:solidFill>
                  <a:srgbClr val="000000"/>
                </a:solidFill>
                <a:effectLst/>
              </a:rPr>
              <a:t>is</a:t>
            </a:r>
            <a:r>
              <a:rPr lang="zh-TW" altLang="zh-TW" b="0" i="0" u="none" strike="noStrike">
                <a:solidFill>
                  <a:srgbClr val="000000"/>
                </a:solidFill>
                <a:effectLst/>
                <a:ea typeface="Times New Roman" panose="02020603050405020304" pitchFamily="18" charset="0"/>
              </a:rPr>
              <a:t> </a:t>
            </a:r>
            <a:r>
              <a:rPr lang="LID4096" altLang="zh-TW" b="0" i="0" u="none" strike="noStrike">
                <a:solidFill>
                  <a:srgbClr val="000000"/>
                </a:solidFill>
                <a:effectLst/>
                <a:ea typeface="Times New Roman" panose="02020603050405020304" pitchFamily="18" charset="0"/>
              </a:rPr>
              <a:t>5</a:t>
            </a:r>
            <a:r>
              <a:rPr lang="en-US" altLang="zh-TW" b="0" i="0" u="none" strike="noStrike">
                <a:solidFill>
                  <a:srgbClr val="000000"/>
                </a:solidFill>
                <a:effectLst/>
              </a:rPr>
              <a:t>0.</a:t>
            </a:r>
            <a:r>
              <a:rPr lang="zh-TW" altLang="zh-TW" b="0" i="0" u="none" strike="noStrike">
                <a:solidFill>
                  <a:srgbClr val="000000"/>
                </a:solidFill>
                <a:effectLst/>
                <a:ea typeface="Times New Roman" panose="02020603050405020304" pitchFamily="18" charset="0"/>
              </a:rPr>
              <a:t> </a:t>
            </a:r>
            <a:endParaRPr lang="zh-TW" altLang="zh-TW" b="0" i="0">
              <a:solidFill>
                <a:srgbClr val="000000"/>
              </a:solidFill>
              <a:effectLst/>
            </a:endParaRPr>
          </a:p>
          <a:p>
            <a:pPr rtl="0" fontAlgn="base"/>
            <a:endParaRPr lang="zh-TW" altLang="en-US" dirty="0"/>
          </a:p>
        </p:txBody>
      </p:sp>
      <p:sp>
        <p:nvSpPr>
          <p:cNvPr id="5" name="文字方塊 4">
            <a:extLst>
              <a:ext uri="{FF2B5EF4-FFF2-40B4-BE49-F238E27FC236}">
                <a16:creationId xmlns:a16="http://schemas.microsoft.com/office/drawing/2014/main" id="{B469A65D-826B-4CE5-9CD8-0A4854DE2333}"/>
              </a:ext>
            </a:extLst>
          </p:cNvPr>
          <p:cNvSpPr txBox="1"/>
          <p:nvPr/>
        </p:nvSpPr>
        <p:spPr>
          <a:xfrm>
            <a:off x="2104956" y="3550886"/>
            <a:ext cx="613104" cy="369332"/>
          </a:xfrm>
          <a:prstGeom prst="rect">
            <a:avLst/>
          </a:prstGeom>
          <a:noFill/>
        </p:spPr>
        <p:txBody>
          <a:bodyPr wrap="square">
            <a:spAutoFit/>
          </a:bodyPr>
          <a:lstStyle/>
          <a:p>
            <a:r>
              <a:rPr lang="zh-TW" altLang="zh-TW" b="0" i="0">
                <a:solidFill>
                  <a:srgbClr val="000000"/>
                </a:solidFill>
                <a:effectLst/>
                <a:ea typeface="Calibri" panose="020F0502020204030204" pitchFamily="34" charset="0"/>
              </a:rPr>
              <a:t>k+1</a:t>
            </a:r>
            <a:endParaRPr lang="zh-TW" altLang="en-US"/>
          </a:p>
        </p:txBody>
      </p:sp>
      <p:sp>
        <p:nvSpPr>
          <p:cNvPr id="7" name="文字方塊 6">
            <a:extLst>
              <a:ext uri="{FF2B5EF4-FFF2-40B4-BE49-F238E27FC236}">
                <a16:creationId xmlns:a16="http://schemas.microsoft.com/office/drawing/2014/main" id="{42657630-CFE7-40DB-875C-E98B6797276A}"/>
              </a:ext>
            </a:extLst>
          </p:cNvPr>
          <p:cNvSpPr txBox="1"/>
          <p:nvPr/>
        </p:nvSpPr>
        <p:spPr>
          <a:xfrm>
            <a:off x="3234732" y="3550886"/>
            <a:ext cx="350345" cy="369332"/>
          </a:xfrm>
          <a:prstGeom prst="rect">
            <a:avLst/>
          </a:prstGeom>
          <a:noFill/>
        </p:spPr>
        <p:txBody>
          <a:bodyPr wrap="square">
            <a:spAutoFit/>
          </a:bodyPr>
          <a:lstStyle/>
          <a:p>
            <a:r>
              <a:rPr lang="zh-TW" altLang="zh-TW" b="0" i="0">
                <a:solidFill>
                  <a:srgbClr val="000000"/>
                </a:solidFill>
                <a:effectLst/>
                <a:ea typeface="Calibri" panose="020F0502020204030204" pitchFamily="34" charset="0"/>
              </a:rPr>
              <a:t>k</a:t>
            </a:r>
            <a:endParaRPr lang="zh-TW" altLang="en-US"/>
          </a:p>
        </p:txBody>
      </p:sp>
      <p:pic>
        <p:nvPicPr>
          <p:cNvPr id="4" name="圖片 5">
            <a:extLst>
              <a:ext uri="{FF2B5EF4-FFF2-40B4-BE49-F238E27FC236}">
                <a16:creationId xmlns:a16="http://schemas.microsoft.com/office/drawing/2014/main" id="{03C459AF-D176-4912-AEDD-98DB499EAE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7602" y="3935352"/>
            <a:ext cx="4971570" cy="2843820"/>
          </a:xfrm>
          <a:prstGeom prst="rect">
            <a:avLst/>
          </a:prstGeom>
        </p:spPr>
      </p:pic>
    </p:spTree>
    <p:extLst>
      <p:ext uri="{BB962C8B-B14F-4D97-AF65-F5344CB8AC3E}">
        <p14:creationId xmlns:p14="http://schemas.microsoft.com/office/powerpoint/2010/main" val="2978517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870A68-88BB-4FB5-BE44-0D35C223A1A5}"/>
              </a:ext>
            </a:extLst>
          </p:cNvPr>
          <p:cNvSpPr>
            <a:spLocks noGrp="1"/>
          </p:cNvSpPr>
          <p:nvPr>
            <p:ph type="title"/>
          </p:nvPr>
        </p:nvSpPr>
        <p:spPr/>
        <p:txBody>
          <a:bodyPr/>
          <a:lstStyle/>
          <a:p>
            <a:r>
              <a:rPr lang="en-US" altLang="zh-TW" b="1" i="0">
                <a:solidFill>
                  <a:srgbClr val="000000"/>
                </a:solidFill>
                <a:effectLst/>
                <a:latin typeface="Calibri Light" panose="020F0302020204030204" pitchFamily="34" charset="0"/>
              </a:rPr>
              <a:t>Summary</a:t>
            </a:r>
            <a:br>
              <a:rPr lang="en-US" altLang="zh-TW" dirty="0"/>
            </a:br>
            <a:endParaRPr lang="zh-TW" altLang="en-US" dirty="0"/>
          </a:p>
        </p:txBody>
      </p:sp>
      <p:sp>
        <p:nvSpPr>
          <p:cNvPr id="3" name="內容版面配置區 2">
            <a:extLst>
              <a:ext uri="{FF2B5EF4-FFF2-40B4-BE49-F238E27FC236}">
                <a16:creationId xmlns:a16="http://schemas.microsoft.com/office/drawing/2014/main" id="{DAF13090-5757-4BE6-B49D-E4229783D809}"/>
              </a:ext>
            </a:extLst>
          </p:cNvPr>
          <p:cNvSpPr>
            <a:spLocks noGrp="1"/>
          </p:cNvSpPr>
          <p:nvPr>
            <p:ph idx="1"/>
          </p:nvPr>
        </p:nvSpPr>
        <p:spPr>
          <a:xfrm>
            <a:off x="502216" y="1996966"/>
            <a:ext cx="10790274" cy="4039859"/>
          </a:xfrm>
        </p:spPr>
        <p:txBody>
          <a:bodyPr anchor="t">
            <a:normAutofit/>
          </a:bodyPr>
          <a:lstStyle/>
          <a:p>
            <a:pPr marL="0" indent="0" rtl="0" fontAlgn="base">
              <a:buNone/>
            </a:pPr>
            <a:r>
              <a:rPr lang="LID4096" altLang="zh-TW"/>
              <a:t>          </a:t>
            </a:r>
            <a:r>
              <a:rPr lang="af-ZA" altLang="zh-TW"/>
              <a:t>The method, fully considering the interference of random factors, applies GA algorithm, PSO algorithm and SA algorithm respectively as its superior optimizer. GA algorithm</a:t>
            </a:r>
            <a:r>
              <a:rPr lang="LID4096" altLang="zh-TW"/>
              <a:t> </a:t>
            </a:r>
            <a:r>
              <a:rPr lang="af-ZA" altLang="zh-TW"/>
              <a:t>can reach a better solution in the case of the larger population, but at the expense of long computation time. SA algorithm and PSO algorithm is more suitable for smaller population groups</a:t>
            </a:r>
            <a:r>
              <a:rPr lang="LID4096" altLang="zh-TW"/>
              <a:t>.</a:t>
            </a:r>
            <a:endParaRPr lang="zh-TW" altLang="en-US" dirty="0"/>
          </a:p>
        </p:txBody>
      </p:sp>
    </p:spTree>
    <p:extLst>
      <p:ext uri="{BB962C8B-B14F-4D97-AF65-F5344CB8AC3E}">
        <p14:creationId xmlns:p14="http://schemas.microsoft.com/office/powerpoint/2010/main" val="373254593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1739</TotalTime>
  <Words>916</Words>
  <Application>Microsoft Office PowerPoint</Application>
  <PresentationFormat>寬螢幕</PresentationFormat>
  <Paragraphs>57</Paragraphs>
  <Slides>15</Slides>
  <Notes>0</Notes>
  <HiddenSlides>0</HiddenSlides>
  <MMClips>0</MMClips>
  <ScaleCrop>false</ScaleCrop>
  <HeadingPairs>
    <vt:vector size="4" baseType="variant">
      <vt:variant>
        <vt:lpstr>佈景主題</vt:lpstr>
      </vt:variant>
      <vt:variant>
        <vt:i4>2</vt:i4>
      </vt:variant>
      <vt:variant>
        <vt:lpstr>投影片標題</vt:lpstr>
      </vt:variant>
      <vt:variant>
        <vt:i4>15</vt:i4>
      </vt:variant>
    </vt:vector>
  </HeadingPairs>
  <TitlesOfParts>
    <vt:vector size="17" baseType="lpstr">
      <vt:lpstr>Office 佈景主題</vt:lpstr>
      <vt:lpstr>1_Office 佈景主題</vt:lpstr>
      <vt:lpstr>Simulation-based Optimization on Quay Crane Scheduling of Container Terminals ​ Li Haoyuan, Sun Qi  </vt:lpstr>
      <vt:lpstr>Abstract </vt:lpstr>
      <vt:lpstr>Distribution</vt:lpstr>
      <vt:lpstr>Constraints </vt:lpstr>
      <vt:lpstr>Optimization Algorithm </vt:lpstr>
      <vt:lpstr>Coding scheme </vt:lpstr>
      <vt:lpstr>The objective function​ </vt:lpstr>
      <vt:lpstr>Gene Algorithm </vt:lpstr>
      <vt:lpstr>Sequential crossover</vt:lpstr>
      <vt:lpstr>Example</vt:lpstr>
      <vt:lpstr>Simulated Anealing Algorithm​ </vt:lpstr>
      <vt:lpstr>Experiment1 </vt:lpstr>
      <vt:lpstr>Experiment2 </vt:lpstr>
      <vt:lpstr>Experiment3 </vt:lpstr>
      <vt:lpstr>Summary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簡志軒</dc:creator>
  <cp:lastModifiedBy>未知的使用者</cp:lastModifiedBy>
  <cp:revision>17</cp:revision>
  <dcterms:created xsi:type="dcterms:W3CDTF">2021-09-13T05:50:45Z</dcterms:created>
  <dcterms:modified xsi:type="dcterms:W3CDTF">2021-10-27T17:57:31Z</dcterms:modified>
</cp:coreProperties>
</file>