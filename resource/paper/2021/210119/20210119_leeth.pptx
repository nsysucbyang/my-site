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65" r:id="rId2"/>
    <p:sldId id="311" r:id="rId3"/>
    <p:sldId id="384" r:id="rId4"/>
    <p:sldId id="403" r:id="rId5"/>
    <p:sldId id="404" r:id="rId6"/>
    <p:sldId id="405" r:id="rId7"/>
    <p:sldId id="399" r:id="rId8"/>
    <p:sldId id="400" r:id="rId9"/>
    <p:sldId id="401" r:id="rId10"/>
    <p:sldId id="406" r:id="rId11"/>
    <p:sldId id="407" r:id="rId12"/>
    <p:sldId id="408" r:id="rId13"/>
    <p:sldId id="410" r:id="rId14"/>
    <p:sldId id="409" r:id="rId15"/>
    <p:sldId id="411" r:id="rId16"/>
    <p:sldId id="41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3021" autoAdjust="0"/>
  </p:normalViewPr>
  <p:slideViewPr>
    <p:cSldViewPr snapToGrid="0">
      <p:cViewPr varScale="1">
        <p:scale>
          <a:sx n="95" d="100"/>
          <a:sy n="95" d="100"/>
        </p:scale>
        <p:origin x="2094"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2021/1/19</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62777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997744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097902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5000 times</a:t>
            </a:r>
          </a:p>
          <a:p>
            <a:r>
              <a:rPr lang="en-US" altLang="zh-TW" dirty="0" err="1"/>
              <a:t>Populaiton</a:t>
            </a:r>
            <a:r>
              <a:rPr lang="en-US" altLang="zh-TW" dirty="0"/>
              <a:t> size 40</a:t>
            </a:r>
          </a:p>
          <a:p>
            <a:r>
              <a:rPr lang="en-US" altLang="zh-TW" dirty="0" err="1"/>
              <a:t>Crossver</a:t>
            </a:r>
            <a:r>
              <a:rPr lang="en-US" altLang="zh-TW" dirty="0"/>
              <a:t> rate 0.45</a:t>
            </a:r>
          </a:p>
          <a:p>
            <a:r>
              <a:rPr lang="en-US" altLang="zh-TW" dirty="0"/>
              <a:t>Mutation 0.002 </a:t>
            </a:r>
          </a:p>
          <a:p>
            <a:r>
              <a:rPr lang="en-US" altLang="zh-TW" dirty="0"/>
              <a:t>p</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146765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4005849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459992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012650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360943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266782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10 subpopulations, initially containing 50 individuals each</a:t>
            </a:r>
          </a:p>
          <a:p>
            <a:r>
              <a:rPr lang="en-US" altLang="zh-TW" dirty="0"/>
              <a:t>pc = 0.7 and mutation rate pm = 0.005</a:t>
            </a:r>
          </a:p>
          <a:p>
            <a:r>
              <a:rPr lang="en-US" altLang="zh-TW" dirty="0"/>
              <a:t>In each series we executed 50 independent runs on each test function, the presented results are averaged over the 50 runs.</a:t>
            </a:r>
          </a:p>
          <a:p>
            <a:r>
              <a:rPr lang="en-US" altLang="zh-TW" dirty="0"/>
              <a:t>On each test function we observed that the crossovers with more parents were assigned larger subpopulations by the adaptive mechanism.</a:t>
            </a:r>
          </a:p>
          <a:p>
            <a:r>
              <a:rPr lang="en-US" altLang="zh-TW" dirty="0"/>
              <a:t>On the y axis we depict the 10 subpopulations, while the z axis shows the size of the subpopulation.</a:t>
            </a:r>
          </a:p>
          <a:p>
            <a:endParaRPr lang="en-US" altLang="zh-TW" dirty="0"/>
          </a:p>
          <a:p>
            <a:r>
              <a:rPr lang="en-US" altLang="zh-TW" dirty="0"/>
              <a:t>The maximum number of evaluations is 60000, migration is applied after every 30 evaluations, the frequency of applying the redividing mechanism is</a:t>
            </a:r>
          </a:p>
          <a:p>
            <a:r>
              <a:rPr lang="en-US" altLang="zh-TW" dirty="0"/>
              <a:t>set to 7500 evaluations.</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238464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migration frequency is 100 evaluations, the redividing frequency is 5000 evaluations.</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3252182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migration frequency was 240 evaluations, the redividing frequency was 5000 evaluations.</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4238069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one subpopulation of 500 individuals and executed 50 independent runs on each test function</a:t>
            </a:r>
          </a:p>
          <a:p>
            <a:r>
              <a:rPr lang="en-US" altLang="zh-TW" dirty="0"/>
              <a:t>the mean best function values (MBF), </a:t>
            </a:r>
          </a:p>
          <a:p>
            <a:r>
              <a:rPr lang="en-US" altLang="zh-TW" dirty="0"/>
              <a:t>the Average number of Evaluations to Solution (AES) with  their standard deviations </a:t>
            </a:r>
          </a:p>
          <a:p>
            <a:r>
              <a:rPr lang="en-US" altLang="zh-TW" dirty="0"/>
              <a:t>and the Success Rates (SR) that is the percentage of all runs when an optimal solution was found.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2700613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one subpopulation of 500 individuals and executed 50 independent runs on each test function</a:t>
            </a:r>
          </a:p>
          <a:p>
            <a:r>
              <a:rPr lang="en-US" altLang="zh-TW" dirty="0"/>
              <a:t>the mean best function values (MBF), </a:t>
            </a:r>
          </a:p>
          <a:p>
            <a:r>
              <a:rPr lang="en-US" altLang="zh-TW" dirty="0"/>
              <a:t>the Average number of Evaluations to Solution (AES) with  their standard deviations </a:t>
            </a:r>
          </a:p>
          <a:p>
            <a:r>
              <a:rPr lang="en-US" altLang="zh-TW" dirty="0"/>
              <a:t>and the Success Rates (SR) that is the percentage of all runs when an optimal solution was found.</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22064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2021/1/19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899" y="161425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An Adaptive Crossover Distribution Mechanism For Genetic Algorithms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7"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J. David Schaffer</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and Amy</a:t>
            </a:r>
            <a:r>
              <a:rPr lang="zh-TW" altLang="en-US"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Morishima</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Jan. 19,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1200329"/>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Genetic Algorithms and their Applications: Proceedings of the Second International Conference on Genetic Algorithms, 1987, pp. 36-40.</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This paper presents a new version of a class of search procedures usually called genetic algorithms. Our new version implements a modified string representation that includes special punctuation used by the crossover recombination operator. The idea behind this scheme was abstracted from the mechanics of natural genetics and seems to yield a search procedure wherein the action of the recombination operator can be made to adapt to the search space in parallel with the adaptation of the string contents. In addition, this adaptation happens for “for free” in that no additional operations beyond those of the traditional genetic algorithm are employed.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We present some empirical evidence that suggests this procedure may be as good as or better than the traditional genetic algorithm across a range of search problems and that its action does successfully adapt the search mechanics to the problem space.</a:t>
            </a:r>
          </a:p>
        </p:txBody>
      </p:sp>
    </p:spTree>
    <p:extLst>
      <p:ext uri="{BB962C8B-B14F-4D97-AF65-F5344CB8AC3E}">
        <p14:creationId xmlns:p14="http://schemas.microsoft.com/office/powerpoint/2010/main" val="3465235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Traditional Crossover </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57132"/>
            <a:ext cx="8168703" cy="1477328"/>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Parents :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a : 0 0 0 0 0 0 0 0</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b : 1 1 1 1 1 1 1 1</a:t>
            </a:r>
          </a:p>
        </p:txBody>
      </p:sp>
      <p:cxnSp>
        <p:nvCxnSpPr>
          <p:cNvPr id="7" name="直線接點 6">
            <a:extLst>
              <a:ext uri="{FF2B5EF4-FFF2-40B4-BE49-F238E27FC236}">
                <a16:creationId xmlns:a16="http://schemas.microsoft.com/office/drawing/2014/main" id="{6D2273C5-5C4B-4594-A7B0-8FAAA60BBA86}"/>
              </a:ext>
            </a:extLst>
          </p:cNvPr>
          <p:cNvCxnSpPr/>
          <p:nvPr/>
        </p:nvCxnSpPr>
        <p:spPr>
          <a:xfrm>
            <a:off x="3122577" y="1971138"/>
            <a:ext cx="0" cy="756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箭號: 向右 7">
            <a:extLst>
              <a:ext uri="{FF2B5EF4-FFF2-40B4-BE49-F238E27FC236}">
                <a16:creationId xmlns:a16="http://schemas.microsoft.com/office/drawing/2014/main" id="{40A9696E-42B0-4A24-B000-5046C8837870}"/>
              </a:ext>
            </a:extLst>
          </p:cNvPr>
          <p:cNvSpPr/>
          <p:nvPr/>
        </p:nvSpPr>
        <p:spPr>
          <a:xfrm rot="5400000">
            <a:off x="3005845" y="3270394"/>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16F6677E-9D95-4F15-8CBD-3BF6D7A310C5}"/>
              </a:ext>
            </a:extLst>
          </p:cNvPr>
          <p:cNvSpPr txBox="1"/>
          <p:nvPr/>
        </p:nvSpPr>
        <p:spPr>
          <a:xfrm>
            <a:off x="518088" y="3319350"/>
            <a:ext cx="4572000" cy="1477328"/>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Offspring :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a:t>
            </a:r>
            <a:r>
              <a:rPr lang="en-US" altLang="zh-TW" dirty="0">
                <a:latin typeface="Times New Roman" panose="02020603050405020304" pitchFamily="18" charset="0"/>
                <a:ea typeface="Tahoma" panose="020B0604030504040204" pitchFamily="34" charset="0"/>
                <a:cs typeface="Times New Roman" panose="02020603050405020304" pitchFamily="18" charset="0"/>
              </a:rPr>
              <a:t>c</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 0 0</a:t>
            </a:r>
            <a:r>
              <a:rPr lang="en-US" altLang="zh-TW" dirty="0">
                <a:latin typeface="Times New Roman" panose="02020603050405020304" pitchFamily="18" charset="0"/>
                <a:ea typeface="Tahoma" panose="020B0604030504040204" pitchFamily="34" charset="0"/>
                <a:cs typeface="Times New Roman" panose="02020603050405020304" pitchFamily="18" charset="0"/>
              </a:rPr>
              <a:t> 0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1 1 1 1 1</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d : 1 1 1 0 </a:t>
            </a:r>
            <a:r>
              <a:rPr lang="en-US" altLang="zh-TW" dirty="0">
                <a:latin typeface="Times New Roman" panose="02020603050405020304" pitchFamily="18" charset="0"/>
                <a:ea typeface="Tahoma" panose="020B0604030504040204" pitchFamily="34" charset="0"/>
                <a:cs typeface="Times New Roman" panose="02020603050405020304" pitchFamily="18" charset="0"/>
              </a:rPr>
              <a:t>0</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a:latin typeface="Times New Roman" panose="02020603050405020304" pitchFamily="18" charset="0"/>
                <a:ea typeface="Tahoma" panose="020B0604030504040204" pitchFamily="34" charset="0"/>
                <a:cs typeface="Times New Roman" panose="02020603050405020304" pitchFamily="18" charset="0"/>
              </a:rPr>
              <a:t>0</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0 </a:t>
            </a:r>
            <a:r>
              <a:rPr lang="en-US" altLang="zh-TW" dirty="0">
                <a:latin typeface="Times New Roman" panose="02020603050405020304" pitchFamily="18" charset="0"/>
                <a:ea typeface="Tahoma" panose="020B0604030504040204" pitchFamily="34" charset="0"/>
                <a:cs typeface="Times New Roman" panose="02020603050405020304" pitchFamily="18" charset="0"/>
              </a:rPr>
              <a:t>0</a:t>
            </a:r>
            <a:endParaRPr lang="zh-TW" altLang="en-US" dirty="0"/>
          </a:p>
        </p:txBody>
      </p:sp>
      <p:cxnSp>
        <p:nvCxnSpPr>
          <p:cNvPr id="14" name="直線接點 13">
            <a:extLst>
              <a:ext uri="{FF2B5EF4-FFF2-40B4-BE49-F238E27FC236}">
                <a16:creationId xmlns:a16="http://schemas.microsoft.com/office/drawing/2014/main" id="{2F5B5E2A-B40E-4389-8C5D-F47601C539BA}"/>
              </a:ext>
            </a:extLst>
          </p:cNvPr>
          <p:cNvCxnSpPr/>
          <p:nvPr/>
        </p:nvCxnSpPr>
        <p:spPr>
          <a:xfrm>
            <a:off x="3132304" y="3962066"/>
            <a:ext cx="0" cy="756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4156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Crossover with Punctuation </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812383"/>
            <a:ext cx="8168703" cy="3416320"/>
          </a:xfrm>
          <a:prstGeom prst="rect">
            <a:avLst/>
          </a:prstGeom>
          <a:noFill/>
        </p:spPr>
        <p:txBody>
          <a:bodyPr wrap="square">
            <a:spAutoFit/>
          </a:bodyPr>
          <a:lstStyle/>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The c</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hromosome : 0 1 1 0 0 0 1 1 0 0 </a:t>
            </a:r>
            <a:r>
              <a:rPr lang="en-US" altLang="zh-TW" sz="18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0 1 0 0 1 0 0 0 0 0</a:t>
            </a:r>
          </a:p>
          <a:p>
            <a:endParaRPr lang="en-US" altLang="zh-TW"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Also can be interpreted as : </a:t>
            </a: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0 1!1 0 0! 0 1 1 0 0</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0 1 0  0 1  0 0 0 0 0</a:t>
            </a: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Example : </a:t>
            </a:r>
          </a:p>
          <a:p>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p:txBody>
      </p:sp>
      <p:sp>
        <p:nvSpPr>
          <p:cNvPr id="9" name="文字方塊 8">
            <a:extLst>
              <a:ext uri="{FF2B5EF4-FFF2-40B4-BE49-F238E27FC236}">
                <a16:creationId xmlns:a16="http://schemas.microsoft.com/office/drawing/2014/main" id="{1869CA30-D672-4569-AE4A-DE55F1FED180}"/>
              </a:ext>
            </a:extLst>
          </p:cNvPr>
          <p:cNvSpPr txBox="1"/>
          <p:nvPr/>
        </p:nvSpPr>
        <p:spPr>
          <a:xfrm>
            <a:off x="518087" y="3163773"/>
            <a:ext cx="8168703" cy="1477328"/>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Parents :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a : </a:t>
            </a:r>
            <a:r>
              <a:rPr lang="en-US" altLang="zh-TW" dirty="0">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dirty="0">
                <a:latin typeface="Times New Roman" panose="02020603050405020304" pitchFamily="18" charset="0"/>
                <a:ea typeface="Tahoma" panose="020B0604030504040204" pitchFamily="34" charset="0"/>
                <a:cs typeface="Times New Roman" panose="02020603050405020304" pitchFamily="18" charset="0"/>
              </a:rPr>
              <a:t> b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b</a:t>
            </a:r>
            <a:endParaRPr lang="en-US" altLang="zh-TW"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b : </a:t>
            </a:r>
            <a:r>
              <a:rPr lang="en-US" altLang="zh-TW" dirty="0">
                <a:latin typeface="Times New Roman" panose="02020603050405020304" pitchFamily="18" charset="0"/>
                <a:ea typeface="Tahoma" panose="020B0604030504040204" pitchFamily="34" charset="0"/>
                <a:cs typeface="Times New Roman" panose="02020603050405020304" pitchFamily="18" charset="0"/>
              </a:rPr>
              <a:t>c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dirty="0">
                <a:latin typeface="Times New Roman" panose="02020603050405020304" pitchFamily="18" charset="0"/>
                <a:ea typeface="Tahoma" panose="020B0604030504040204" pitchFamily="34" charset="0"/>
                <a:cs typeface="Times New Roman" panose="02020603050405020304" pitchFamily="18" charset="0"/>
              </a:rPr>
              <a:t> d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e</a:t>
            </a:r>
            <a:r>
              <a:rPr lang="en-US" altLang="zh-TW" dirty="0">
                <a:latin typeface="Times New Roman" panose="02020603050405020304" pitchFamily="18" charset="0"/>
                <a:ea typeface="Tahoma" panose="020B0604030504040204" pitchFamily="34" charset="0"/>
                <a:cs typeface="Times New Roman" panose="02020603050405020304" pitchFamily="18" charset="0"/>
              </a:rPr>
              <a:t> e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e</a:t>
            </a:r>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e</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文字方塊 11">
            <a:extLst>
              <a:ext uri="{FF2B5EF4-FFF2-40B4-BE49-F238E27FC236}">
                <a16:creationId xmlns:a16="http://schemas.microsoft.com/office/drawing/2014/main" id="{9AA81DE5-5DE9-40F9-9C2F-AD0AA9E7DC57}"/>
              </a:ext>
            </a:extLst>
          </p:cNvPr>
          <p:cNvSpPr txBox="1"/>
          <p:nvPr/>
        </p:nvSpPr>
        <p:spPr>
          <a:xfrm>
            <a:off x="518087" y="4787605"/>
            <a:ext cx="7460304" cy="1477328"/>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 Offspring : </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a:t>
            </a:r>
            <a:r>
              <a:rPr lang="en-US" altLang="zh-TW" dirty="0">
                <a:latin typeface="Times New Roman" panose="02020603050405020304" pitchFamily="18" charset="0"/>
                <a:ea typeface="Tahoma" panose="020B0604030504040204" pitchFamily="34" charset="0"/>
                <a:cs typeface="Times New Roman" panose="02020603050405020304" pitchFamily="18" charset="0"/>
              </a:rPr>
              <a:t>c</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 a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d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b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e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e</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e</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e</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Chromosome d : c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c</a:t>
            </a:r>
            <a:r>
              <a:rPr lang="en-US" altLang="zh-TW" sz="1800"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a</a:t>
            </a:r>
            <a:r>
              <a:rPr lang="en-US" altLang="zh-TW" sz="1800"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d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d</a:t>
            </a:r>
            <a:r>
              <a:rPr lang="en-US" altLang="zh-TW" sz="1800"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b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b</a:t>
            </a: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1800" dirty="0" err="1">
                <a:latin typeface="Times New Roman" panose="02020603050405020304" pitchFamily="18" charset="0"/>
                <a:ea typeface="Tahoma" panose="020B0604030504040204" pitchFamily="34" charset="0"/>
                <a:cs typeface="Times New Roman" panose="02020603050405020304" pitchFamily="18" charset="0"/>
              </a:rPr>
              <a:t>b</a:t>
            </a:r>
            <a:endParaRPr lang="zh-TW" altLang="en-US" dirty="0"/>
          </a:p>
        </p:txBody>
      </p:sp>
    </p:spTree>
    <p:extLst>
      <p:ext uri="{BB962C8B-B14F-4D97-AF65-F5344CB8AC3E}">
        <p14:creationId xmlns:p14="http://schemas.microsoft.com/office/powerpoint/2010/main" val="3625533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C7269A98-D1A4-421F-BAE9-03C11110C744}"/>
              </a:ext>
            </a:extLst>
          </p:cNvPr>
          <p:cNvPicPr>
            <a:picLocks noChangeAspect="1"/>
          </p:cNvPicPr>
          <p:nvPr/>
        </p:nvPicPr>
        <p:blipFill>
          <a:blip r:embed="rId3"/>
          <a:stretch>
            <a:fillRect/>
          </a:stretch>
        </p:blipFill>
        <p:spPr>
          <a:xfrm>
            <a:off x="2552952" y="1081070"/>
            <a:ext cx="4038095" cy="1400000"/>
          </a:xfrm>
          <a:prstGeom prst="rect">
            <a:avLst/>
          </a:prstGeom>
        </p:spPr>
      </p:pic>
      <p:pic>
        <p:nvPicPr>
          <p:cNvPr id="11" name="圖片 10">
            <a:extLst>
              <a:ext uri="{FF2B5EF4-FFF2-40B4-BE49-F238E27FC236}">
                <a16:creationId xmlns:a16="http://schemas.microsoft.com/office/drawing/2014/main" id="{6A520E4A-BFBB-438E-BAA6-9E5D0B108228}"/>
              </a:ext>
            </a:extLst>
          </p:cNvPr>
          <p:cNvPicPr>
            <a:picLocks noChangeAspect="1"/>
          </p:cNvPicPr>
          <p:nvPr/>
        </p:nvPicPr>
        <p:blipFill>
          <a:blip r:embed="rId4"/>
          <a:stretch>
            <a:fillRect/>
          </a:stretch>
        </p:blipFill>
        <p:spPr>
          <a:xfrm>
            <a:off x="2510093" y="4650749"/>
            <a:ext cx="4123809" cy="1352381"/>
          </a:xfrm>
          <a:prstGeom prst="rect">
            <a:avLst/>
          </a:prstGeom>
        </p:spPr>
      </p:pic>
      <p:pic>
        <p:nvPicPr>
          <p:cNvPr id="14" name="圖片 13">
            <a:extLst>
              <a:ext uri="{FF2B5EF4-FFF2-40B4-BE49-F238E27FC236}">
                <a16:creationId xmlns:a16="http://schemas.microsoft.com/office/drawing/2014/main" id="{987B2C2D-9336-4E37-A2B5-02D7C1E7BD9B}"/>
              </a:ext>
            </a:extLst>
          </p:cNvPr>
          <p:cNvPicPr>
            <a:picLocks noChangeAspect="1"/>
          </p:cNvPicPr>
          <p:nvPr/>
        </p:nvPicPr>
        <p:blipFill>
          <a:blip r:embed="rId5"/>
          <a:stretch>
            <a:fillRect/>
          </a:stretch>
        </p:blipFill>
        <p:spPr>
          <a:xfrm>
            <a:off x="2648187" y="2889719"/>
            <a:ext cx="3847619" cy="1352381"/>
          </a:xfrm>
          <a:prstGeom prst="rect">
            <a:avLst/>
          </a:prstGeom>
        </p:spPr>
      </p:pic>
    </p:spTree>
    <p:extLst>
      <p:ext uri="{BB962C8B-B14F-4D97-AF65-F5344CB8AC3E}">
        <p14:creationId xmlns:p14="http://schemas.microsoft.com/office/powerpoint/2010/main" val="26460816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899" y="161425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Competing Crossovers in an Adaptive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GA Framework</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7"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A.E. </a:t>
            </a:r>
            <a:r>
              <a:rPr lang="en-US" altLang="zh-TW" sz="2800" dirty="0" err="1">
                <a:latin typeface="Times New Roman" panose="02020603050405020304" pitchFamily="18" charset="0"/>
                <a:cs typeface="Times New Roman" panose="02020603050405020304" pitchFamily="18" charset="0"/>
              </a:rPr>
              <a:t>Eiben</a:t>
            </a:r>
            <a:r>
              <a:rPr lang="en-US" altLang="zh-TW" sz="2800" dirty="0">
                <a:latin typeface="Times New Roman" panose="02020603050405020304" pitchFamily="18" charset="0"/>
                <a:cs typeface="Times New Roman" panose="02020603050405020304" pitchFamily="18" charset="0"/>
              </a:rPr>
              <a:t>, I.G. </a:t>
            </a:r>
            <a:r>
              <a:rPr lang="en-US" altLang="zh-TW" sz="2800" dirty="0" err="1">
                <a:latin typeface="Times New Roman" panose="02020603050405020304" pitchFamily="18" charset="0"/>
                <a:cs typeface="Times New Roman" panose="02020603050405020304" pitchFamily="18" charset="0"/>
              </a:rPr>
              <a:t>Sprinkhuizen</a:t>
            </a:r>
            <a:r>
              <a:rPr lang="en-US" altLang="zh-TW" sz="2800" dirty="0">
                <a:latin typeface="Times New Roman" panose="02020603050405020304" pitchFamily="18" charset="0"/>
                <a:cs typeface="Times New Roman" panose="02020603050405020304" pitchFamily="18" charset="0"/>
              </a:rPr>
              <a:t>-Kuyper, and B.A. </a:t>
            </a:r>
            <a:r>
              <a:rPr lang="en-US" altLang="zh-TW" sz="2800" dirty="0" err="1">
                <a:latin typeface="Times New Roman" panose="02020603050405020304" pitchFamily="18" charset="0"/>
                <a:cs typeface="Times New Roman" panose="02020603050405020304" pitchFamily="18" charset="0"/>
              </a:rPr>
              <a:t>Thijssen</a:t>
            </a:r>
            <a:r>
              <a:rPr lang="en-US" altLang="zh-TW" sz="2800" dirty="0">
                <a:latin typeface="Times New Roman" panose="02020603050405020304" pitchFamily="18" charset="0"/>
                <a:cs typeface="Times New Roman" panose="02020603050405020304" pitchFamily="18" charset="0"/>
              </a:rPr>
              <a:t> </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819548" y="5535719"/>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Jan. 19,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6" y="3873924"/>
            <a:ext cx="7622889" cy="1569660"/>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IEEE International Conference on Evolutionary Computation proceedings: IEEE World Congress on Computational Intelligence, 1998, Anchorage, Alaska, USA, pp. 787-792.</a:t>
            </a:r>
          </a:p>
        </p:txBody>
      </p:sp>
    </p:spTree>
    <p:extLst>
      <p:ext uri="{BB962C8B-B14F-4D97-AF65-F5344CB8AC3E}">
        <p14:creationId xmlns:p14="http://schemas.microsoft.com/office/powerpoint/2010/main" val="4030857805"/>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In this paper we report the results of experiments on multi-parent reproduction in an adaptive genetic algorithm framework. An adaptive mechanism based on competing subpopulations is incorporated into the algorithm in order to detect the best crossovers. Experiments on a number of test functions designed for studying crossover performance show that multi-parent reproduction is superior to traditional two-parent crossover, but the adaptive mechanism is not able to reward better crossovers according to their performance. Nevertheless, the adaptive algorithm exhibits comparable performance to the nonadaptive variant using the best crossover alone. </a:t>
            </a:r>
          </a:p>
        </p:txBody>
      </p:sp>
    </p:spTree>
    <p:extLst>
      <p:ext uri="{BB962C8B-B14F-4D97-AF65-F5344CB8AC3E}">
        <p14:creationId xmlns:p14="http://schemas.microsoft.com/office/powerpoint/2010/main" val="25950889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This implies that it is sound and safe to use an adaptive GA with competing subpopulations/crossovers, instead of performing time consuming comparisons in search of the best operators.</a:t>
            </a:r>
          </a:p>
        </p:txBody>
      </p:sp>
    </p:spTree>
    <p:extLst>
      <p:ext uri="{BB962C8B-B14F-4D97-AF65-F5344CB8AC3E}">
        <p14:creationId xmlns:p14="http://schemas.microsoft.com/office/powerpoint/2010/main" val="14938970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Crossover Operators</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2DAB01C-8CFD-4844-AE93-8779E2B2DF0A}"/>
              </a:ext>
            </a:extLst>
          </p:cNvPr>
          <p:cNvPicPr>
            <a:picLocks noChangeAspect="1"/>
          </p:cNvPicPr>
          <p:nvPr/>
        </p:nvPicPr>
        <p:blipFill>
          <a:blip r:embed="rId3"/>
          <a:stretch>
            <a:fillRect/>
          </a:stretch>
        </p:blipFill>
        <p:spPr>
          <a:xfrm>
            <a:off x="518088" y="1050154"/>
            <a:ext cx="7239239" cy="2326257"/>
          </a:xfrm>
          <a:prstGeom prst="rect">
            <a:avLst/>
          </a:prstGeom>
        </p:spPr>
      </p:pic>
      <p:pic>
        <p:nvPicPr>
          <p:cNvPr id="9" name="圖片 8">
            <a:extLst>
              <a:ext uri="{FF2B5EF4-FFF2-40B4-BE49-F238E27FC236}">
                <a16:creationId xmlns:a16="http://schemas.microsoft.com/office/drawing/2014/main" id="{838EC6AF-4711-48A4-8F5C-B9F59DD06FE2}"/>
              </a:ext>
            </a:extLst>
          </p:cNvPr>
          <p:cNvPicPr>
            <a:picLocks noChangeAspect="1"/>
          </p:cNvPicPr>
          <p:nvPr/>
        </p:nvPicPr>
        <p:blipFill>
          <a:blip r:embed="rId4"/>
          <a:stretch>
            <a:fillRect/>
          </a:stretch>
        </p:blipFill>
        <p:spPr>
          <a:xfrm>
            <a:off x="518088" y="3636470"/>
            <a:ext cx="7430158" cy="3221530"/>
          </a:xfrm>
          <a:prstGeom prst="rect">
            <a:avLst/>
          </a:prstGeom>
        </p:spPr>
      </p:pic>
    </p:spTree>
    <p:extLst>
      <p:ext uri="{BB962C8B-B14F-4D97-AF65-F5344CB8AC3E}">
        <p14:creationId xmlns:p14="http://schemas.microsoft.com/office/powerpoint/2010/main" val="11240867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Adaptive GA Framework</a:t>
            </a:r>
            <a:endParaRPr lang="zh-TW" altLang="en-US" sz="3200" b="1"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B8471E5-F010-4148-BA5F-6F76FBF442FC}"/>
              </a:ext>
            </a:extLst>
          </p:cNvPr>
          <p:cNvSpPr txBox="1"/>
          <p:nvPr/>
        </p:nvSpPr>
        <p:spPr>
          <a:xfrm>
            <a:off x="518088" y="1332552"/>
            <a:ext cx="8168703" cy="1477328"/>
          </a:xfrm>
          <a:prstGeom prst="rect">
            <a:avLst/>
          </a:prstGeom>
          <a:noFill/>
        </p:spPr>
        <p:txBody>
          <a:bodyPr wrap="square">
            <a:spAutoFit/>
          </a:bodyPr>
          <a:lstStyle/>
          <a:p>
            <a:pPr marL="285750" indent="-285750">
              <a:buFont typeface="Arial" panose="020B0604020202020204" pitchFamily="34" charset="0"/>
              <a:buChar char="•"/>
            </a:pPr>
            <a:r>
              <a:rPr lang="en-US" altLang="zh-TW" sz="1800" dirty="0">
                <a:latin typeface="Times New Roman" panose="02020603050405020304" pitchFamily="18" charset="0"/>
                <a:ea typeface="Tahoma" panose="020B0604030504040204" pitchFamily="34" charset="0"/>
                <a:cs typeface="Times New Roman" panose="02020603050405020304" pitchFamily="18" charset="0"/>
              </a:rPr>
              <a:t>Migration : to increase the size of successful subpopulations</a:t>
            </a:r>
          </a:p>
          <a:p>
            <a:pPr marL="285750" indent="-285750">
              <a:buFont typeface="Arial" panose="020B0604020202020204" pitchFamily="34" charset="0"/>
              <a:buChar char="•"/>
            </a:pP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altLang="zh-TW" dirty="0">
                <a:latin typeface="Times New Roman" panose="02020603050405020304" pitchFamily="18" charset="0"/>
                <a:ea typeface="Tahoma" panose="020B0604030504040204" pitchFamily="34" charset="0"/>
                <a:cs typeface="Times New Roman" panose="02020603050405020304" pitchFamily="18" charset="0"/>
              </a:rPr>
              <a:t>Redivision : is to give a second chance to inferior subpopulations and make them increase in size.</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18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圖片 3">
            <a:extLst>
              <a:ext uri="{FF2B5EF4-FFF2-40B4-BE49-F238E27FC236}">
                <a16:creationId xmlns:a16="http://schemas.microsoft.com/office/drawing/2014/main" id="{87D1E546-9788-4148-8ECB-7B8CB4DE6EB6}"/>
              </a:ext>
            </a:extLst>
          </p:cNvPr>
          <p:cNvPicPr>
            <a:picLocks noChangeAspect="1"/>
          </p:cNvPicPr>
          <p:nvPr/>
        </p:nvPicPr>
        <p:blipFill>
          <a:blip r:embed="rId3"/>
          <a:stretch>
            <a:fillRect/>
          </a:stretch>
        </p:blipFill>
        <p:spPr>
          <a:xfrm>
            <a:off x="1198394" y="2904201"/>
            <a:ext cx="6747212" cy="2812166"/>
          </a:xfrm>
          <a:prstGeom prst="rect">
            <a:avLst/>
          </a:prstGeom>
        </p:spPr>
      </p:pic>
    </p:spTree>
    <p:extLst>
      <p:ext uri="{BB962C8B-B14F-4D97-AF65-F5344CB8AC3E}">
        <p14:creationId xmlns:p14="http://schemas.microsoft.com/office/powerpoint/2010/main" val="2783147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Result(1/5)</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12E6626-D4B3-4C88-A9A6-C86910231F17}"/>
              </a:ext>
            </a:extLst>
          </p:cNvPr>
          <p:cNvPicPr>
            <a:picLocks noChangeAspect="1"/>
          </p:cNvPicPr>
          <p:nvPr/>
        </p:nvPicPr>
        <p:blipFill>
          <a:blip r:embed="rId3"/>
          <a:stretch>
            <a:fillRect/>
          </a:stretch>
        </p:blipFill>
        <p:spPr>
          <a:xfrm>
            <a:off x="518088" y="1605746"/>
            <a:ext cx="5238095" cy="1190476"/>
          </a:xfrm>
          <a:prstGeom prst="rect">
            <a:avLst/>
          </a:prstGeom>
        </p:spPr>
      </p:pic>
      <p:pic>
        <p:nvPicPr>
          <p:cNvPr id="9" name="圖片 8">
            <a:extLst>
              <a:ext uri="{FF2B5EF4-FFF2-40B4-BE49-F238E27FC236}">
                <a16:creationId xmlns:a16="http://schemas.microsoft.com/office/drawing/2014/main" id="{750FD9E2-9579-4957-B110-FB3496BB4741}"/>
              </a:ext>
            </a:extLst>
          </p:cNvPr>
          <p:cNvPicPr>
            <a:picLocks noChangeAspect="1"/>
          </p:cNvPicPr>
          <p:nvPr/>
        </p:nvPicPr>
        <p:blipFill>
          <a:blip r:embed="rId4"/>
          <a:stretch>
            <a:fillRect/>
          </a:stretch>
        </p:blipFill>
        <p:spPr>
          <a:xfrm>
            <a:off x="804985" y="3429000"/>
            <a:ext cx="4951198" cy="2922734"/>
          </a:xfrm>
          <a:prstGeom prst="rect">
            <a:avLst/>
          </a:prstGeom>
        </p:spPr>
      </p:pic>
      <p:pic>
        <p:nvPicPr>
          <p:cNvPr id="12" name="圖片 11">
            <a:extLst>
              <a:ext uri="{FF2B5EF4-FFF2-40B4-BE49-F238E27FC236}">
                <a16:creationId xmlns:a16="http://schemas.microsoft.com/office/drawing/2014/main" id="{01775247-BF07-4892-805E-B9414F91DAA9}"/>
              </a:ext>
            </a:extLst>
          </p:cNvPr>
          <p:cNvPicPr>
            <a:picLocks noChangeAspect="1"/>
          </p:cNvPicPr>
          <p:nvPr/>
        </p:nvPicPr>
        <p:blipFill>
          <a:blip r:embed="rId5"/>
          <a:stretch>
            <a:fillRect/>
          </a:stretch>
        </p:blipFill>
        <p:spPr>
          <a:xfrm>
            <a:off x="6044960" y="1085044"/>
            <a:ext cx="2580952" cy="2533333"/>
          </a:xfrm>
          <a:prstGeom prst="rect">
            <a:avLst/>
          </a:prstGeom>
        </p:spPr>
      </p:pic>
    </p:spTree>
    <p:extLst>
      <p:ext uri="{BB962C8B-B14F-4D97-AF65-F5344CB8AC3E}">
        <p14:creationId xmlns:p14="http://schemas.microsoft.com/office/powerpoint/2010/main" val="8050369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Result(2/5)</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12E6626-D4B3-4C88-A9A6-C86910231F17}"/>
              </a:ext>
            </a:extLst>
          </p:cNvPr>
          <p:cNvPicPr>
            <a:picLocks noChangeAspect="1"/>
          </p:cNvPicPr>
          <p:nvPr/>
        </p:nvPicPr>
        <p:blipFill>
          <a:blip r:embed="rId3"/>
          <a:stretch>
            <a:fillRect/>
          </a:stretch>
        </p:blipFill>
        <p:spPr>
          <a:xfrm>
            <a:off x="518088" y="1605746"/>
            <a:ext cx="5238095" cy="1190476"/>
          </a:xfrm>
          <a:prstGeom prst="rect">
            <a:avLst/>
          </a:prstGeom>
        </p:spPr>
      </p:pic>
      <p:pic>
        <p:nvPicPr>
          <p:cNvPr id="9" name="圖片 8">
            <a:extLst>
              <a:ext uri="{FF2B5EF4-FFF2-40B4-BE49-F238E27FC236}">
                <a16:creationId xmlns:a16="http://schemas.microsoft.com/office/drawing/2014/main" id="{750FD9E2-9579-4957-B110-FB3496BB4741}"/>
              </a:ext>
            </a:extLst>
          </p:cNvPr>
          <p:cNvPicPr>
            <a:picLocks noChangeAspect="1"/>
          </p:cNvPicPr>
          <p:nvPr/>
        </p:nvPicPr>
        <p:blipFill>
          <a:blip r:embed="rId4"/>
          <a:stretch>
            <a:fillRect/>
          </a:stretch>
        </p:blipFill>
        <p:spPr>
          <a:xfrm>
            <a:off x="804985" y="3429000"/>
            <a:ext cx="4951198" cy="2922734"/>
          </a:xfrm>
          <a:prstGeom prst="rect">
            <a:avLst/>
          </a:prstGeom>
        </p:spPr>
      </p:pic>
      <p:pic>
        <p:nvPicPr>
          <p:cNvPr id="12" name="圖片 11">
            <a:extLst>
              <a:ext uri="{FF2B5EF4-FFF2-40B4-BE49-F238E27FC236}">
                <a16:creationId xmlns:a16="http://schemas.microsoft.com/office/drawing/2014/main" id="{01775247-BF07-4892-805E-B9414F91DAA9}"/>
              </a:ext>
            </a:extLst>
          </p:cNvPr>
          <p:cNvPicPr>
            <a:picLocks noChangeAspect="1"/>
          </p:cNvPicPr>
          <p:nvPr/>
        </p:nvPicPr>
        <p:blipFill>
          <a:blip r:embed="rId5"/>
          <a:stretch>
            <a:fillRect/>
          </a:stretch>
        </p:blipFill>
        <p:spPr>
          <a:xfrm>
            <a:off x="6044960" y="1085044"/>
            <a:ext cx="2580952" cy="2533333"/>
          </a:xfrm>
          <a:prstGeom prst="rect">
            <a:avLst/>
          </a:prstGeom>
        </p:spPr>
      </p:pic>
      <p:pic>
        <p:nvPicPr>
          <p:cNvPr id="4" name="圖片 3">
            <a:extLst>
              <a:ext uri="{FF2B5EF4-FFF2-40B4-BE49-F238E27FC236}">
                <a16:creationId xmlns:a16="http://schemas.microsoft.com/office/drawing/2014/main" id="{513E27EC-E204-40D5-9E96-C995BE013FEA}"/>
              </a:ext>
            </a:extLst>
          </p:cNvPr>
          <p:cNvPicPr>
            <a:picLocks noChangeAspect="1"/>
          </p:cNvPicPr>
          <p:nvPr/>
        </p:nvPicPr>
        <p:blipFill>
          <a:blip r:embed="rId6"/>
          <a:stretch>
            <a:fillRect/>
          </a:stretch>
        </p:blipFill>
        <p:spPr>
          <a:xfrm>
            <a:off x="513325" y="1572412"/>
            <a:ext cx="5247619" cy="1257143"/>
          </a:xfrm>
          <a:prstGeom prst="rect">
            <a:avLst/>
          </a:prstGeom>
        </p:spPr>
      </p:pic>
      <p:pic>
        <p:nvPicPr>
          <p:cNvPr id="5" name="圖片 4">
            <a:extLst>
              <a:ext uri="{FF2B5EF4-FFF2-40B4-BE49-F238E27FC236}">
                <a16:creationId xmlns:a16="http://schemas.microsoft.com/office/drawing/2014/main" id="{B1FAB350-07ED-44C4-844F-2BAF0490FB0A}"/>
              </a:ext>
            </a:extLst>
          </p:cNvPr>
          <p:cNvPicPr>
            <a:picLocks noChangeAspect="1"/>
          </p:cNvPicPr>
          <p:nvPr/>
        </p:nvPicPr>
        <p:blipFill>
          <a:blip r:embed="rId7"/>
          <a:stretch>
            <a:fillRect/>
          </a:stretch>
        </p:blipFill>
        <p:spPr>
          <a:xfrm>
            <a:off x="1001269" y="3545555"/>
            <a:ext cx="4754914" cy="2806179"/>
          </a:xfrm>
          <a:prstGeom prst="rect">
            <a:avLst/>
          </a:prstGeom>
        </p:spPr>
      </p:pic>
    </p:spTree>
    <p:extLst>
      <p:ext uri="{BB962C8B-B14F-4D97-AF65-F5344CB8AC3E}">
        <p14:creationId xmlns:p14="http://schemas.microsoft.com/office/powerpoint/2010/main" val="11326296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Result(3/5)</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12E6626-D4B3-4C88-A9A6-C86910231F17}"/>
              </a:ext>
            </a:extLst>
          </p:cNvPr>
          <p:cNvPicPr>
            <a:picLocks noChangeAspect="1"/>
          </p:cNvPicPr>
          <p:nvPr/>
        </p:nvPicPr>
        <p:blipFill>
          <a:blip r:embed="rId3"/>
          <a:stretch>
            <a:fillRect/>
          </a:stretch>
        </p:blipFill>
        <p:spPr>
          <a:xfrm>
            <a:off x="518088" y="1605746"/>
            <a:ext cx="5238095" cy="1190476"/>
          </a:xfrm>
          <a:prstGeom prst="rect">
            <a:avLst/>
          </a:prstGeom>
        </p:spPr>
      </p:pic>
      <p:pic>
        <p:nvPicPr>
          <p:cNvPr id="9" name="圖片 8">
            <a:extLst>
              <a:ext uri="{FF2B5EF4-FFF2-40B4-BE49-F238E27FC236}">
                <a16:creationId xmlns:a16="http://schemas.microsoft.com/office/drawing/2014/main" id="{750FD9E2-9579-4957-B110-FB3496BB4741}"/>
              </a:ext>
            </a:extLst>
          </p:cNvPr>
          <p:cNvPicPr>
            <a:picLocks noChangeAspect="1"/>
          </p:cNvPicPr>
          <p:nvPr/>
        </p:nvPicPr>
        <p:blipFill>
          <a:blip r:embed="rId4"/>
          <a:stretch>
            <a:fillRect/>
          </a:stretch>
        </p:blipFill>
        <p:spPr>
          <a:xfrm>
            <a:off x="804985" y="3429000"/>
            <a:ext cx="4951198" cy="2922734"/>
          </a:xfrm>
          <a:prstGeom prst="rect">
            <a:avLst/>
          </a:prstGeom>
        </p:spPr>
      </p:pic>
      <p:pic>
        <p:nvPicPr>
          <p:cNvPr id="12" name="圖片 11">
            <a:extLst>
              <a:ext uri="{FF2B5EF4-FFF2-40B4-BE49-F238E27FC236}">
                <a16:creationId xmlns:a16="http://schemas.microsoft.com/office/drawing/2014/main" id="{01775247-BF07-4892-805E-B9414F91DAA9}"/>
              </a:ext>
            </a:extLst>
          </p:cNvPr>
          <p:cNvPicPr>
            <a:picLocks noChangeAspect="1"/>
          </p:cNvPicPr>
          <p:nvPr/>
        </p:nvPicPr>
        <p:blipFill>
          <a:blip r:embed="rId5"/>
          <a:stretch>
            <a:fillRect/>
          </a:stretch>
        </p:blipFill>
        <p:spPr>
          <a:xfrm>
            <a:off x="6044960" y="1085044"/>
            <a:ext cx="2580952" cy="2533333"/>
          </a:xfrm>
          <a:prstGeom prst="rect">
            <a:avLst/>
          </a:prstGeom>
        </p:spPr>
      </p:pic>
      <p:pic>
        <p:nvPicPr>
          <p:cNvPr id="4" name="圖片 3">
            <a:extLst>
              <a:ext uri="{FF2B5EF4-FFF2-40B4-BE49-F238E27FC236}">
                <a16:creationId xmlns:a16="http://schemas.microsoft.com/office/drawing/2014/main" id="{513E27EC-E204-40D5-9E96-C995BE013FEA}"/>
              </a:ext>
            </a:extLst>
          </p:cNvPr>
          <p:cNvPicPr>
            <a:picLocks noChangeAspect="1"/>
          </p:cNvPicPr>
          <p:nvPr/>
        </p:nvPicPr>
        <p:blipFill>
          <a:blip r:embed="rId6"/>
          <a:stretch>
            <a:fillRect/>
          </a:stretch>
        </p:blipFill>
        <p:spPr>
          <a:xfrm>
            <a:off x="513325" y="1572412"/>
            <a:ext cx="5247619" cy="1257143"/>
          </a:xfrm>
          <a:prstGeom prst="rect">
            <a:avLst/>
          </a:prstGeom>
        </p:spPr>
      </p:pic>
      <p:pic>
        <p:nvPicPr>
          <p:cNvPr id="7" name="圖片 6">
            <a:extLst>
              <a:ext uri="{FF2B5EF4-FFF2-40B4-BE49-F238E27FC236}">
                <a16:creationId xmlns:a16="http://schemas.microsoft.com/office/drawing/2014/main" id="{C435E711-239F-4962-B3B7-9AD20468EF6F}"/>
              </a:ext>
            </a:extLst>
          </p:cNvPr>
          <p:cNvPicPr>
            <a:picLocks noChangeAspect="1"/>
          </p:cNvPicPr>
          <p:nvPr/>
        </p:nvPicPr>
        <p:blipFill>
          <a:blip r:embed="rId7"/>
          <a:stretch>
            <a:fillRect/>
          </a:stretch>
        </p:blipFill>
        <p:spPr>
          <a:xfrm>
            <a:off x="460943" y="1653365"/>
            <a:ext cx="5352381" cy="1209524"/>
          </a:xfrm>
          <a:prstGeom prst="rect">
            <a:avLst/>
          </a:prstGeom>
        </p:spPr>
      </p:pic>
      <p:pic>
        <p:nvPicPr>
          <p:cNvPr id="10" name="圖片 9">
            <a:extLst>
              <a:ext uri="{FF2B5EF4-FFF2-40B4-BE49-F238E27FC236}">
                <a16:creationId xmlns:a16="http://schemas.microsoft.com/office/drawing/2014/main" id="{5846B405-489A-43F0-8932-04CC9A721105}"/>
              </a:ext>
            </a:extLst>
          </p:cNvPr>
          <p:cNvPicPr>
            <a:picLocks noChangeAspect="1"/>
          </p:cNvPicPr>
          <p:nvPr/>
        </p:nvPicPr>
        <p:blipFill>
          <a:blip r:embed="rId8"/>
          <a:stretch>
            <a:fillRect/>
          </a:stretch>
        </p:blipFill>
        <p:spPr>
          <a:xfrm>
            <a:off x="926129" y="3362333"/>
            <a:ext cx="4887195" cy="2922734"/>
          </a:xfrm>
          <a:prstGeom prst="rect">
            <a:avLst/>
          </a:prstGeom>
        </p:spPr>
      </p:pic>
    </p:spTree>
    <p:extLst>
      <p:ext uri="{BB962C8B-B14F-4D97-AF65-F5344CB8AC3E}">
        <p14:creationId xmlns:p14="http://schemas.microsoft.com/office/powerpoint/2010/main" val="9420857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Result(4/5)</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85F4C6D8-3926-4BA4-992E-5139E807E70E}"/>
              </a:ext>
            </a:extLst>
          </p:cNvPr>
          <p:cNvPicPr>
            <a:picLocks noChangeAspect="1"/>
          </p:cNvPicPr>
          <p:nvPr/>
        </p:nvPicPr>
        <p:blipFill>
          <a:blip r:embed="rId3"/>
          <a:stretch>
            <a:fillRect/>
          </a:stretch>
        </p:blipFill>
        <p:spPr>
          <a:xfrm>
            <a:off x="538666" y="1144826"/>
            <a:ext cx="8066667" cy="2438095"/>
          </a:xfrm>
          <a:prstGeom prst="rect">
            <a:avLst/>
          </a:prstGeom>
        </p:spPr>
      </p:pic>
      <p:pic>
        <p:nvPicPr>
          <p:cNvPr id="7" name="圖片 6">
            <a:extLst>
              <a:ext uri="{FF2B5EF4-FFF2-40B4-BE49-F238E27FC236}">
                <a16:creationId xmlns:a16="http://schemas.microsoft.com/office/drawing/2014/main" id="{85E76852-113D-4EEE-9B74-36CD77535413}"/>
              </a:ext>
            </a:extLst>
          </p:cNvPr>
          <p:cNvPicPr>
            <a:picLocks noChangeAspect="1"/>
          </p:cNvPicPr>
          <p:nvPr/>
        </p:nvPicPr>
        <p:blipFill>
          <a:blip r:embed="rId4"/>
          <a:stretch>
            <a:fillRect/>
          </a:stretch>
        </p:blipFill>
        <p:spPr>
          <a:xfrm>
            <a:off x="433904" y="3666398"/>
            <a:ext cx="8276190" cy="2600000"/>
          </a:xfrm>
          <a:prstGeom prst="rect">
            <a:avLst/>
          </a:prstGeom>
        </p:spPr>
      </p:pic>
    </p:spTree>
    <p:extLst>
      <p:ext uri="{BB962C8B-B14F-4D97-AF65-F5344CB8AC3E}">
        <p14:creationId xmlns:p14="http://schemas.microsoft.com/office/powerpoint/2010/main" val="32748554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Result(5/5)</a:t>
            </a:r>
            <a:endParaRPr lang="zh-TW" altLang="en-US" sz="3200" b="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CAC2A82D-C40B-48CB-AEB8-DC70C8DC91F0}"/>
              </a:ext>
            </a:extLst>
          </p:cNvPr>
          <p:cNvPicPr>
            <a:picLocks noChangeAspect="1"/>
          </p:cNvPicPr>
          <p:nvPr/>
        </p:nvPicPr>
        <p:blipFill>
          <a:blip r:embed="rId3"/>
          <a:stretch>
            <a:fillRect/>
          </a:stretch>
        </p:blipFill>
        <p:spPr>
          <a:xfrm>
            <a:off x="2052952" y="2124238"/>
            <a:ext cx="5038095" cy="2609524"/>
          </a:xfrm>
          <a:prstGeom prst="rect">
            <a:avLst/>
          </a:prstGeom>
        </p:spPr>
      </p:pic>
    </p:spTree>
    <p:extLst>
      <p:ext uri="{BB962C8B-B14F-4D97-AF65-F5344CB8AC3E}">
        <p14:creationId xmlns:p14="http://schemas.microsoft.com/office/powerpoint/2010/main" val="34968728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92898</TotalTime>
  <Words>953</Words>
  <Application>Microsoft Office PowerPoint</Application>
  <PresentationFormat>如螢幕大小 (4:3)</PresentationFormat>
  <Paragraphs>105</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Arial</vt:lpstr>
      <vt:lpstr>Calibri</vt:lpstr>
      <vt:lpstr>Calibri Light</vt:lpstr>
      <vt:lpstr>Times New Roman</vt:lpstr>
      <vt:lpstr>Office 佈景主題</vt:lpstr>
      <vt:lpstr>An Adaptive Crossover Distribution Mechanism For Genetic Algorithms</vt:lpstr>
      <vt:lpstr>Abstract(1/2)</vt:lpstr>
      <vt:lpstr>Abstract(2/2)</vt:lpstr>
      <vt:lpstr>Traditional Crossover </vt:lpstr>
      <vt:lpstr>Crossover with Punctuation </vt:lpstr>
      <vt:lpstr>Result</vt:lpstr>
      <vt:lpstr>Competing Crossovers in an Adaptive  GA Framework</vt:lpstr>
      <vt:lpstr>Abstract(1/2)</vt:lpstr>
      <vt:lpstr>Abstract(2/2)</vt:lpstr>
      <vt:lpstr>Crossover Operators</vt:lpstr>
      <vt:lpstr>Adaptive GA Framework</vt:lpstr>
      <vt:lpstr>Result(1/5)</vt:lpstr>
      <vt:lpstr>Result(2/5)</vt:lpstr>
      <vt:lpstr>Result(3/5)</vt:lpstr>
      <vt:lpstr>Result(4/5)</vt:lpstr>
      <vt:lpstr>Result(5/5)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993</cp:revision>
  <dcterms:created xsi:type="dcterms:W3CDTF">2017-09-25T08:45:50Z</dcterms:created>
  <dcterms:modified xsi:type="dcterms:W3CDTF">2021-01-19T06:17:05Z</dcterms:modified>
</cp:coreProperties>
</file>