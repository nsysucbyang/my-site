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321" r:id="rId2"/>
    <p:sldId id="311" r:id="rId3"/>
    <p:sldId id="329" r:id="rId4"/>
    <p:sldId id="349" r:id="rId5"/>
    <p:sldId id="337" r:id="rId6"/>
    <p:sldId id="348" r:id="rId7"/>
    <p:sldId id="347" r:id="rId8"/>
    <p:sldId id="353" r:id="rId9"/>
    <p:sldId id="354" r:id="rId10"/>
    <p:sldId id="350" r:id="rId11"/>
    <p:sldId id="351" r:id="rId12"/>
    <p:sldId id="35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83275" autoAdjust="0"/>
  </p:normalViewPr>
  <p:slideViewPr>
    <p:cSldViewPr snapToGrid="0">
      <p:cViewPr>
        <p:scale>
          <a:sx n="66" d="100"/>
          <a:sy n="66" d="100"/>
        </p:scale>
        <p:origin x="1530"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2021/1/19</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048457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244993" y="461639"/>
            <a:ext cx="8433339" cy="1699666"/>
          </a:xfrm>
        </p:spPr>
        <p:txBody>
          <a:bodyPr>
            <a:noAutofit/>
          </a:bodyPr>
          <a:lstStyle/>
          <a:p>
            <a:r>
              <a:rPr lang="en-US" altLang="zh-TW" sz="3600" dirty="0">
                <a:latin typeface="Times New Roman" panose="02020603050405020304" pitchFamily="18" charset="0"/>
                <a:cs typeface="Times New Roman" panose="02020603050405020304" pitchFamily="18" charset="0"/>
              </a:rPr>
              <a:t>Scheduling Algorithm for Heterogeneous</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Systems by an Optimistic Cost Table</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44993" y="2819042"/>
            <a:ext cx="8536249" cy="927245"/>
          </a:xfrm>
        </p:spPr>
        <p:txBody>
          <a:bodyPr>
            <a:noAutofit/>
          </a:bodyPr>
          <a:lstStyle/>
          <a:p>
            <a:r>
              <a:rPr lang="en-US" altLang="zh-TW" dirty="0">
                <a:latin typeface="Times New Roman" panose="02020603050405020304" pitchFamily="18" charset="0"/>
                <a:cs typeface="Times New Roman" panose="02020603050405020304" pitchFamily="18" charset="0"/>
              </a:rPr>
              <a:t>Hamid </a:t>
            </a:r>
            <a:r>
              <a:rPr lang="en-US" altLang="zh-TW" dirty="0" err="1">
                <a:latin typeface="Times New Roman" panose="02020603050405020304" pitchFamily="18" charset="0"/>
                <a:cs typeface="Times New Roman" panose="02020603050405020304" pitchFamily="18" charset="0"/>
              </a:rPr>
              <a:t>Arabnejad</a:t>
            </a:r>
            <a:r>
              <a:rPr lang="en-US" altLang="zh-TW" dirty="0">
                <a:latin typeface="Times New Roman" panose="02020603050405020304" pitchFamily="18" charset="0"/>
                <a:cs typeface="Times New Roman" panose="02020603050405020304" pitchFamily="18" charset="0"/>
              </a:rPr>
              <a:t>, Jorge G. Barbosa, Member</a:t>
            </a: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192159" y="5487972"/>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Chih</a:t>
            </a:r>
            <a:r>
              <a:rPr lang="en-US" altLang="zh-TW" sz="1800" dirty="0">
                <a:latin typeface="Times New Roman" panose="02020603050405020304" pitchFamily="18" charset="0"/>
                <a:cs typeface="Times New Roman" panose="02020603050405020304" pitchFamily="18" charset="0"/>
              </a:rPr>
              <a:t>-Kai Wu</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Jan.19, 2021.</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244993" y="3955410"/>
            <a:ext cx="8899007" cy="707886"/>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IEEE Transactions on Parallel and Distributed Systems, vol. 25, no. 3, pp. 682-694, March 2014, </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03092"/>
                <a:ext cx="9004993" cy="5944661"/>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Efficient application scheduling algorithms are important for obtaining high performance in heterogeneous computing systems. In this paper, we present a novel list-based scheduling algorithm called Predict Earliest Finish Time (PEFT) for heterogeneous computing systems. The algorithm has the same time complexity as the state-of-the-art algorithm for the same purpose, that is,</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𝑂</m:t>
                    </m:r>
                    <m:r>
                      <a:rPr lang="en-US" altLang="zh-TW" sz="2400" b="0" i="1" smtClean="0">
                        <a:latin typeface="Cambria Math" panose="02040503050406030204" pitchFamily="18" charset="0"/>
                        <a:cs typeface="Times New Roman" panose="02020603050405020304" pitchFamily="18" charset="0"/>
                      </a:rPr>
                      <m:t>(</m:t>
                    </m:r>
                    <m:sSup>
                      <m:sSupPr>
                        <m:ctrlPr>
                          <a:rPr lang="en-US" altLang="zh-TW" sz="2400" b="0" i="1" smtClean="0">
                            <a:latin typeface="Cambria Math" panose="02040503050406030204" pitchFamily="18" charset="0"/>
                            <a:cs typeface="Times New Roman" panose="02020603050405020304" pitchFamily="18" charset="0"/>
                          </a:rPr>
                        </m:ctrlPr>
                      </m:sSupPr>
                      <m:e>
                        <m:r>
                          <a:rPr lang="en-US" altLang="zh-TW" sz="2400" b="0" i="1" smtClean="0">
                            <a:latin typeface="Cambria Math" panose="02040503050406030204" pitchFamily="18" charset="0"/>
                            <a:cs typeface="Times New Roman" panose="02020603050405020304" pitchFamily="18" charset="0"/>
                          </a:rPr>
                          <m:t>𝑣</m:t>
                        </m:r>
                      </m:e>
                      <m:sup>
                        <m:r>
                          <a:rPr lang="en-US" altLang="zh-TW" sz="2400" i="1">
                            <a:latin typeface="Cambria Math" panose="02040503050406030204" pitchFamily="18" charset="0"/>
                            <a:cs typeface="Times New Roman" panose="02020603050405020304" pitchFamily="18" charset="0"/>
                          </a:rPr>
                          <m:t>2</m:t>
                        </m:r>
                      </m:sup>
                    </m:sSup>
                    <m:r>
                      <a:rPr lang="en-US" altLang="zh-TW"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cs typeface="Times New Roman" panose="02020603050405020304" pitchFamily="18" charset="0"/>
                      </a:rPr>
                      <m:t>𝑝</m:t>
                    </m:r>
                    <m:r>
                      <a:rPr lang="en-US" altLang="zh-TW" sz="2400" b="0" i="1" smtClean="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for v tasks and p processors, but offers significant </a:t>
                </a:r>
                <a:r>
                  <a:rPr lang="en-US" altLang="zh-TW" sz="2400" dirty="0" err="1">
                    <a:latin typeface="Times New Roman" panose="02020603050405020304" pitchFamily="18" charset="0"/>
                    <a:cs typeface="Times New Roman" panose="02020603050405020304" pitchFamily="18" charset="0"/>
                  </a:rPr>
                  <a:t>makespan</a:t>
                </a:r>
                <a:r>
                  <a:rPr lang="en-US" altLang="zh-TW" sz="2400" dirty="0">
                    <a:latin typeface="Times New Roman" panose="02020603050405020304" pitchFamily="18" charset="0"/>
                    <a:cs typeface="Times New Roman" panose="02020603050405020304" pitchFamily="18" charset="0"/>
                  </a:rPr>
                  <a:t> improvements by introducing a look-ahead</a:t>
                </a:r>
              </a:p>
              <a:p>
                <a:pPr marL="0" indent="0">
                  <a:lnSpc>
                    <a:spcPct val="150000"/>
                  </a:lnSpc>
                  <a:buNone/>
                </a:pPr>
                <a:r>
                  <a:rPr lang="en-US" altLang="zh-TW" sz="2400" dirty="0">
                    <a:latin typeface="Times New Roman" panose="02020603050405020304" pitchFamily="18" charset="0"/>
                    <a:cs typeface="Times New Roman" panose="02020603050405020304" pitchFamily="18" charset="0"/>
                  </a:rPr>
                  <a:t>feature without increasing the time complexity associated with computation of an optimistic cost table (OCT). </a:t>
                </a:r>
                <a:endParaRPr lang="fr-FR" altLang="zh-TW" sz="24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5E26DCC3-1991-4383-BF81-99FF895536EE}"/>
                  </a:ext>
                </a:extLst>
              </p:cNvPr>
              <p:cNvSpPr>
                <a:spLocks noGrp="1" noRot="1" noChangeAspect="1" noMove="1" noResize="1" noEditPoints="1" noAdjustHandles="1" noChangeArrowheads="1" noChangeShapeType="1" noTextEdit="1"/>
              </p:cNvSpPr>
              <p:nvPr>
                <p:ph idx="1"/>
              </p:nvPr>
            </p:nvSpPr>
            <p:spPr>
              <a:xfrm>
                <a:off x="139007" y="1003092"/>
                <a:ext cx="9004993" cy="5944661"/>
              </a:xfrm>
              <a:blipFill>
                <a:blip r:embed="rId3"/>
                <a:stretch>
                  <a:fillRect l="-1083" r="-155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42849"/>
            <a:ext cx="9004993" cy="5944661"/>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The calculated value is an optimistic cost because processor availability is not considered in the computation. Our algorithm is only based on an OCT that is used to rank tasks and for processor selection. The analysis and experiments based on randomly generated graphs with various</a:t>
            </a:r>
          </a:p>
          <a:p>
            <a:pPr marL="0" indent="0">
              <a:lnSpc>
                <a:spcPct val="150000"/>
              </a:lnSpc>
              <a:buNone/>
            </a:pPr>
            <a:r>
              <a:rPr lang="en-US" altLang="zh-TW" sz="2400" dirty="0">
                <a:latin typeface="Times New Roman" panose="02020603050405020304" pitchFamily="18" charset="0"/>
                <a:cs typeface="Times New Roman" panose="02020603050405020304" pitchFamily="18" charset="0"/>
              </a:rPr>
              <a:t>characteristics and graphs of real-world applications show that the PEFT algorithm outperforms the state-of-the-art list-based</a:t>
            </a:r>
          </a:p>
          <a:p>
            <a:pPr marL="0" indent="0">
              <a:lnSpc>
                <a:spcPct val="150000"/>
              </a:lnSpc>
              <a:buNone/>
            </a:pPr>
            <a:r>
              <a:rPr lang="en-US" altLang="zh-TW" sz="2400" dirty="0">
                <a:latin typeface="Times New Roman" panose="02020603050405020304" pitchFamily="18" charset="0"/>
                <a:cs typeface="Times New Roman" panose="02020603050405020304" pitchFamily="18" charset="0"/>
              </a:rPr>
              <a:t>algorithms for heterogeneous systems in terms of schedule length ratio, efficiency, and frequency of best results.</a:t>
            </a:r>
          </a:p>
        </p:txBody>
      </p:sp>
    </p:spTree>
    <p:extLst>
      <p:ext uri="{BB962C8B-B14F-4D97-AF65-F5344CB8AC3E}">
        <p14:creationId xmlns:p14="http://schemas.microsoft.com/office/powerpoint/2010/main" val="2373153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13500"/>
            <a:ext cx="7886700" cy="1325563"/>
          </a:xfrm>
        </p:spPr>
        <p:txBody>
          <a:bodyPr/>
          <a:lstStyle/>
          <a:p>
            <a:r>
              <a:rPr lang="en-US" altLang="zh-TW" dirty="0">
                <a:latin typeface="Times New Roman" panose="02020603050405020304" pitchFamily="18" charset="0"/>
                <a:cs typeface="Times New Roman" panose="02020603050405020304" pitchFamily="18" charset="0"/>
              </a:rPr>
              <a:t>HEFT</a:t>
            </a:r>
            <a:endParaRPr lang="zh-TW" altLang="en-US"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rotWithShape="1">
          <a:blip r:embed="rId2">
            <a:extLst>
              <a:ext uri="{28A0092B-C50C-407E-A947-70E740481C1C}">
                <a14:useLocalDpi xmlns:a14="http://schemas.microsoft.com/office/drawing/2010/main" val="0"/>
              </a:ext>
            </a:extLst>
          </a:blip>
          <a:srcRect l="7373" t="-882" r="33249" b="217"/>
          <a:stretch/>
        </p:blipFill>
        <p:spPr>
          <a:xfrm>
            <a:off x="156613" y="3448879"/>
            <a:ext cx="3399183" cy="3286482"/>
          </a:xfrm>
          <a:prstGeom prst="rect">
            <a:avLst/>
          </a:prstGeom>
        </p:spPr>
      </p:pic>
      <p:pic>
        <p:nvPicPr>
          <p:cNvPr id="9" name="圖片 8"/>
          <p:cNvPicPr>
            <a:picLocks noChangeAspect="1"/>
          </p:cNvPicPr>
          <p:nvPr/>
        </p:nvPicPr>
        <p:blipFill rotWithShape="1">
          <a:blip r:embed="rId2">
            <a:extLst>
              <a:ext uri="{28A0092B-C50C-407E-A947-70E740481C1C}">
                <a14:useLocalDpi xmlns:a14="http://schemas.microsoft.com/office/drawing/2010/main" val="0"/>
              </a:ext>
            </a:extLst>
          </a:blip>
          <a:srcRect l="70337" t="11923" r="-16796" b="5540"/>
          <a:stretch/>
        </p:blipFill>
        <p:spPr>
          <a:xfrm>
            <a:off x="885894" y="746560"/>
            <a:ext cx="2755552" cy="2791772"/>
          </a:xfrm>
          <a:prstGeom prst="rect">
            <a:avLst/>
          </a:prstGeom>
        </p:spPr>
      </p:pic>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2108387137"/>
                  </p:ext>
                </p:extLst>
              </p:nvPr>
            </p:nvGraphicFramePr>
            <p:xfrm>
              <a:off x="5103810" y="299624"/>
              <a:ext cx="3359360" cy="6435737"/>
            </p:xfrm>
            <a:graphic>
              <a:graphicData uri="http://schemas.openxmlformats.org/drawingml/2006/table">
                <a:tbl>
                  <a:tblPr firstRow="1" bandRow="1">
                    <a:tableStyleId>{C4B1156A-380E-4F78-BDF5-A606A8083BF9}</a:tableStyleId>
                  </a:tblPr>
                  <a:tblGrid>
                    <a:gridCol w="879158">
                      <a:extLst>
                        <a:ext uri="{9D8B030D-6E8A-4147-A177-3AD203B41FA5}">
                          <a16:colId xmlns:a16="http://schemas.microsoft.com/office/drawing/2014/main" val="2813249117"/>
                        </a:ext>
                      </a:extLst>
                    </a:gridCol>
                    <a:gridCol w="879158">
                      <a:extLst>
                        <a:ext uri="{9D8B030D-6E8A-4147-A177-3AD203B41FA5}">
                          <a16:colId xmlns:a16="http://schemas.microsoft.com/office/drawing/2014/main" val="563113295"/>
                        </a:ext>
                      </a:extLst>
                    </a:gridCol>
                    <a:gridCol w="1601044">
                      <a:extLst>
                        <a:ext uri="{9D8B030D-6E8A-4147-A177-3AD203B41FA5}">
                          <a16:colId xmlns:a16="http://schemas.microsoft.com/office/drawing/2014/main" val="4075917071"/>
                        </a:ext>
                      </a:extLst>
                    </a:gridCol>
                  </a:tblGrid>
                  <a:tr h="585067">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smtClean="0">
                                        <a:solidFill>
                                          <a:schemeClr val="tx1"/>
                                        </a:solidFill>
                                        <a:latin typeface="Cambria Math" panose="02040503050406030204" pitchFamily="18" charset="0"/>
                                        <a:cs typeface="Times New Roman" panose="02020603050405020304" pitchFamily="18" charset="0"/>
                                      </a:rPr>
                                    </m:ctrlPr>
                                  </m:sSubPr>
                                  <m:e>
                                    <m:r>
                                      <a:rPr lang="en-US" altLang="zh-TW" sz="1600" b="0" i="1" smtClean="0">
                                        <a:solidFill>
                                          <a:schemeClr val="tx1"/>
                                        </a:solidFill>
                                        <a:latin typeface="Cambria Math" panose="02040503050406030204" pitchFamily="18" charset="0"/>
                                        <a:cs typeface="Times New Roman" panose="02020603050405020304" pitchFamily="18" charset="0"/>
                                      </a:rPr>
                                      <m:t>𝑐𝑜𝑠𝑡</m:t>
                                    </m:r>
                                  </m:e>
                                  <m:sub>
                                    <m:r>
                                      <a:rPr lang="en-US" altLang="zh-TW" sz="1600" b="0" i="1" smtClean="0">
                                        <a:solidFill>
                                          <a:schemeClr val="tx1"/>
                                        </a:solidFill>
                                        <a:latin typeface="Cambria Math" panose="02040503050406030204" pitchFamily="18" charset="0"/>
                                        <a:cs typeface="Times New Roman" panose="02020603050405020304" pitchFamily="18" charset="0"/>
                                      </a:rPr>
                                      <m:t>𝑎𝑣𝑔</m:t>
                                    </m:r>
                                  </m:sub>
                                </m:sSub>
                              </m:oMath>
                            </m:oMathPara>
                          </a14:m>
                          <a:endParaRPr lang="zh-TW" altLang="en-US" sz="1600" b="0"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smtClean="0">
                                        <a:solidFill>
                                          <a:schemeClr val="tx1"/>
                                        </a:solidFill>
                                        <a:latin typeface="Cambria Math" panose="02040503050406030204" pitchFamily="18" charset="0"/>
                                        <a:cs typeface="Times New Roman" panose="02020603050405020304" pitchFamily="18" charset="0"/>
                                      </a:rPr>
                                    </m:ctrlPr>
                                  </m:sSubPr>
                                  <m:e>
                                    <m:r>
                                      <a:rPr lang="en-US" altLang="zh-TW" sz="1600" b="0" i="1" smtClean="0">
                                        <a:solidFill>
                                          <a:schemeClr val="tx1"/>
                                        </a:solidFill>
                                        <a:latin typeface="Cambria Math" panose="02040503050406030204" pitchFamily="18" charset="0"/>
                                        <a:cs typeface="Times New Roman" panose="02020603050405020304" pitchFamily="18" charset="0"/>
                                      </a:rPr>
                                      <m:t>𝑟𝑎𝑛𝑘</m:t>
                                    </m:r>
                                  </m:e>
                                  <m:sub>
                                    <m:r>
                                      <a:rPr lang="en-US" altLang="zh-TW" sz="1600" b="0" i="1" smtClean="0">
                                        <a:solidFill>
                                          <a:schemeClr val="tx1"/>
                                        </a:solidFill>
                                        <a:latin typeface="Cambria Math" panose="02040503050406030204" pitchFamily="18" charset="0"/>
                                        <a:cs typeface="Times New Roman" panose="02020603050405020304" pitchFamily="18" charset="0"/>
                                      </a:rPr>
                                      <m:t>𝑢</m:t>
                                    </m:r>
                                  </m:sub>
                                </m:sSub>
                              </m:oMath>
                            </m:oMathPara>
                          </a14:m>
                          <a:endParaRPr lang="zh-TW" altLang="en-US" sz="1600" b="0"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81258832"/>
                      </a:ext>
                    </a:extLst>
                  </a:tr>
                  <a:tr h="5850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1</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26.3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169</a:t>
                          </a:r>
                        </a:p>
                        <a:p>
                          <a:pPr algn="ctr"/>
                          <a:r>
                            <a:rPr lang="en-US" altLang="zh-TW" sz="1600" b="0" dirty="0">
                              <a:solidFill>
                                <a:schemeClr val="tx1"/>
                              </a:solidFill>
                              <a:latin typeface="Times New Roman" panose="02020603050405020304" pitchFamily="18" charset="0"/>
                              <a:cs typeface="Times New Roman" panose="02020603050405020304" pitchFamily="18" charset="0"/>
                            </a:rPr>
                            <a:t>(129.7+13+26.3)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4109731"/>
                      </a:ext>
                    </a:extLst>
                  </a:tr>
                  <a:tr h="5850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b="0" i="1" smtClean="0">
                                        <a:latin typeface="Cambria Math" panose="02040503050406030204" pitchFamily="18" charset="0"/>
                                      </a:rPr>
                                      <m:t>2</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19.3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114.3</a:t>
                          </a:r>
                        </a:p>
                        <a:p>
                          <a:pPr algn="ctr"/>
                          <a:r>
                            <a:rPr lang="en-US" altLang="zh-TW" sz="1600" b="0" dirty="0">
                              <a:solidFill>
                                <a:schemeClr val="tx1"/>
                              </a:solidFill>
                              <a:latin typeface="Times New Roman" panose="02020603050405020304" pitchFamily="18" charset="0"/>
                              <a:cs typeface="Times New Roman" panose="02020603050405020304" pitchFamily="18" charset="0"/>
                            </a:rPr>
                            <a:t>(92+3+19.3)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258467"/>
                      </a:ext>
                    </a:extLst>
                  </a:tr>
                  <a:tr h="5850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b="0" i="1" smtClean="0">
                                        <a:latin typeface="Cambria Math" panose="02040503050406030204" pitchFamily="18" charset="0"/>
                                      </a:rPr>
                                      <m:t>3</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34</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102.7</a:t>
                          </a:r>
                        </a:p>
                        <a:p>
                          <a:pPr algn="ctr"/>
                          <a:r>
                            <a:rPr lang="en-US" altLang="zh-TW" sz="1600" b="0" dirty="0">
                              <a:solidFill>
                                <a:schemeClr val="tx1"/>
                              </a:solidFill>
                              <a:latin typeface="Times New Roman" panose="02020603050405020304" pitchFamily="18" charset="0"/>
                              <a:cs typeface="Times New Roman" panose="02020603050405020304" pitchFamily="18" charset="0"/>
                            </a:rPr>
                            <a:t>(52.7+16+34)</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91443569"/>
                      </a:ext>
                    </a:extLst>
                  </a:tr>
                  <a:tr h="5850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7</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110</a:t>
                          </a:r>
                        </a:p>
                        <a:p>
                          <a:pPr algn="ctr"/>
                          <a:r>
                            <a:rPr lang="en-US" altLang="zh-TW" sz="1600" b="0" dirty="0">
                              <a:solidFill>
                                <a:schemeClr val="tx1"/>
                              </a:solidFill>
                              <a:latin typeface="Times New Roman" panose="02020603050405020304" pitchFamily="18" charset="0"/>
                              <a:cs typeface="Times New Roman" panose="02020603050405020304" pitchFamily="18" charset="0"/>
                            </a:rPr>
                            <a:t>(92+11+7)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9650133"/>
                      </a:ext>
                    </a:extLst>
                  </a:tr>
                  <a:tr h="5850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30.3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129.7</a:t>
                          </a:r>
                        </a:p>
                        <a:p>
                          <a:pPr algn="ctr"/>
                          <a:r>
                            <a:rPr lang="en-US" altLang="zh-TW" sz="1600" b="0" dirty="0">
                              <a:solidFill>
                                <a:schemeClr val="tx1"/>
                              </a:solidFill>
                              <a:latin typeface="Times New Roman" panose="02020603050405020304" pitchFamily="18" charset="0"/>
                              <a:cs typeface="Times New Roman" panose="02020603050405020304" pitchFamily="18" charset="0"/>
                            </a:rPr>
                            <a:t>(42.3+57+30.3)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76601233"/>
                      </a:ext>
                    </a:extLst>
                  </a:tr>
                  <a:tr h="5850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6</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22.3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119.3</a:t>
                          </a:r>
                        </a:p>
                        <a:p>
                          <a:pPr algn="ctr"/>
                          <a:r>
                            <a:rPr lang="en-US" altLang="zh-TW" sz="1600" b="0" dirty="0">
                              <a:solidFill>
                                <a:schemeClr val="tx1"/>
                              </a:solidFill>
                              <a:latin typeface="Times New Roman" panose="02020603050405020304" pitchFamily="18" charset="0"/>
                              <a:cs typeface="Times New Roman" panose="02020603050405020304" pitchFamily="18" charset="0"/>
                            </a:rPr>
                            <a:t>(92+5+22.3)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4461887"/>
                      </a:ext>
                    </a:extLst>
                  </a:tr>
                  <a:tr h="5850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23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52.7</a:t>
                          </a:r>
                        </a:p>
                        <a:p>
                          <a:pPr algn="ctr"/>
                          <a:r>
                            <a:rPr lang="en-US" altLang="zh-TW" sz="1600" b="0" dirty="0">
                              <a:solidFill>
                                <a:schemeClr val="tx1"/>
                              </a:solidFill>
                              <a:latin typeface="Times New Roman" panose="02020603050405020304" pitchFamily="18" charset="0"/>
                              <a:cs typeface="Times New Roman" panose="02020603050405020304" pitchFamily="18" charset="0"/>
                            </a:rPr>
                            <a:t>(20.7+9+23)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38335151"/>
                      </a:ext>
                    </a:extLst>
                  </a:tr>
                  <a:tr h="5850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8</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29.3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92</a:t>
                          </a:r>
                        </a:p>
                        <a:p>
                          <a:pPr algn="ctr"/>
                          <a:r>
                            <a:rPr lang="en-US" altLang="zh-TW" sz="1600" b="0" dirty="0">
                              <a:solidFill>
                                <a:schemeClr val="tx1"/>
                              </a:solidFill>
                              <a:latin typeface="Times New Roman" panose="02020603050405020304" pitchFamily="18" charset="0"/>
                              <a:cs typeface="Times New Roman" panose="02020603050405020304" pitchFamily="18" charset="0"/>
                            </a:rPr>
                            <a:t>(20.7+42+29.3)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34303137"/>
                      </a:ext>
                    </a:extLst>
                  </a:tr>
                  <a:tr h="5850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9</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14.7</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42.3</a:t>
                          </a:r>
                        </a:p>
                        <a:p>
                          <a:pPr algn="ctr"/>
                          <a:r>
                            <a:rPr lang="en-US" altLang="zh-TW" sz="1600" b="0" dirty="0">
                              <a:solidFill>
                                <a:schemeClr val="tx1"/>
                              </a:solidFill>
                              <a:latin typeface="Times New Roman" panose="02020603050405020304" pitchFamily="18" charset="0"/>
                              <a:cs typeface="Times New Roman" panose="02020603050405020304" pitchFamily="18" charset="0"/>
                            </a:rPr>
                            <a:t>(20.7+7+14.7)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8754357"/>
                      </a:ext>
                    </a:extLst>
                  </a:tr>
                  <a:tr h="5850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10</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20.7</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20.7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58578841"/>
                      </a:ext>
                    </a:extLst>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2108387137"/>
                  </p:ext>
                </p:extLst>
              </p:nvPr>
            </p:nvGraphicFramePr>
            <p:xfrm>
              <a:off x="5103810" y="299624"/>
              <a:ext cx="3359360" cy="6435737"/>
            </p:xfrm>
            <a:graphic>
              <a:graphicData uri="http://schemas.openxmlformats.org/drawingml/2006/table">
                <a:tbl>
                  <a:tblPr firstRow="1" bandRow="1">
                    <a:tableStyleId>{C4B1156A-380E-4F78-BDF5-A606A8083BF9}</a:tableStyleId>
                  </a:tblPr>
                  <a:tblGrid>
                    <a:gridCol w="879158">
                      <a:extLst>
                        <a:ext uri="{9D8B030D-6E8A-4147-A177-3AD203B41FA5}">
                          <a16:colId xmlns:a16="http://schemas.microsoft.com/office/drawing/2014/main" val="2813249117"/>
                        </a:ext>
                      </a:extLst>
                    </a:gridCol>
                    <a:gridCol w="879158">
                      <a:extLst>
                        <a:ext uri="{9D8B030D-6E8A-4147-A177-3AD203B41FA5}">
                          <a16:colId xmlns:a16="http://schemas.microsoft.com/office/drawing/2014/main" val="563113295"/>
                        </a:ext>
                      </a:extLst>
                    </a:gridCol>
                    <a:gridCol w="1601044">
                      <a:extLst>
                        <a:ext uri="{9D8B030D-6E8A-4147-A177-3AD203B41FA5}">
                          <a16:colId xmlns:a16="http://schemas.microsoft.com/office/drawing/2014/main" val="4075917071"/>
                        </a:ext>
                      </a:extLst>
                    </a:gridCol>
                  </a:tblGrid>
                  <a:tr h="585067">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3"/>
                          <a:stretch>
                            <a:fillRect l="-100000" t="-1042" r="-182759" b="-1002083"/>
                          </a:stretch>
                        </a:blipFill>
                      </a:tcPr>
                    </a:tc>
                    <a:tc>
                      <a:txBody>
                        <a:bodyPr/>
                        <a:lstStyle/>
                        <a:p>
                          <a:endParaRPr lang="zh-TW"/>
                        </a:p>
                      </a:txBody>
                      <a:tcPr anchor="ctr">
                        <a:blipFill>
                          <a:blip r:embed="rId3"/>
                          <a:stretch>
                            <a:fillRect l="-110266" t="-1042" r="-760" b="-1002083"/>
                          </a:stretch>
                        </a:blipFill>
                      </a:tcPr>
                    </a:tc>
                    <a:extLst>
                      <a:ext uri="{0D108BD9-81ED-4DB2-BD59-A6C34878D82A}">
                        <a16:rowId xmlns:a16="http://schemas.microsoft.com/office/drawing/2014/main" val="3681258832"/>
                      </a:ext>
                    </a:extLst>
                  </a:tr>
                  <a:tr h="585067">
                    <a:tc>
                      <a:txBody>
                        <a:bodyPr/>
                        <a:lstStyle/>
                        <a:p>
                          <a:endParaRPr lang="zh-TW"/>
                        </a:p>
                      </a:txBody>
                      <a:tcPr anchor="ctr">
                        <a:blipFill>
                          <a:blip r:embed="rId3"/>
                          <a:stretch>
                            <a:fillRect l="-694" t="-101042" r="-284722" b="-902083"/>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26.3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169</a:t>
                          </a:r>
                        </a:p>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(129.7+13+26.3)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4109731"/>
                      </a:ext>
                    </a:extLst>
                  </a:tr>
                  <a:tr h="585067">
                    <a:tc>
                      <a:txBody>
                        <a:bodyPr/>
                        <a:lstStyle/>
                        <a:p>
                          <a:endParaRPr lang="zh-TW"/>
                        </a:p>
                      </a:txBody>
                      <a:tcPr anchor="ctr">
                        <a:blipFill>
                          <a:blip r:embed="rId3"/>
                          <a:stretch>
                            <a:fillRect l="-694" t="-201042" r="-284722" b="-802083"/>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19.3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114.3</a:t>
                          </a:r>
                        </a:p>
                        <a:p>
                          <a:pPr algn="ctr"/>
                          <a:r>
                            <a:rPr lang="en-US" altLang="zh-TW" sz="1600" b="0" dirty="0" smtClean="0">
                              <a:solidFill>
                                <a:schemeClr val="tx1"/>
                              </a:solidFill>
                              <a:latin typeface="Times New Roman" panose="02020603050405020304" pitchFamily="18" charset="0"/>
                              <a:cs typeface="Times New Roman" panose="02020603050405020304" pitchFamily="18" charset="0"/>
                            </a:rPr>
                            <a:t>(92+3+19.3)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258467"/>
                      </a:ext>
                    </a:extLst>
                  </a:tr>
                  <a:tr h="585067">
                    <a:tc>
                      <a:txBody>
                        <a:bodyPr/>
                        <a:lstStyle/>
                        <a:p>
                          <a:endParaRPr lang="zh-TW"/>
                        </a:p>
                      </a:txBody>
                      <a:tcPr anchor="ctr">
                        <a:blipFill>
                          <a:blip r:embed="rId3"/>
                          <a:stretch>
                            <a:fillRect l="-694" t="-301042" r="-284722" b="-702083"/>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34</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102.7</a:t>
                          </a:r>
                        </a:p>
                        <a:p>
                          <a:pPr algn="ctr"/>
                          <a:r>
                            <a:rPr lang="en-US" altLang="zh-TW" sz="1600" b="0" dirty="0" smtClean="0">
                              <a:solidFill>
                                <a:schemeClr val="tx1"/>
                              </a:solidFill>
                              <a:latin typeface="Times New Roman" panose="02020603050405020304" pitchFamily="18" charset="0"/>
                              <a:cs typeface="Times New Roman" panose="02020603050405020304" pitchFamily="18" charset="0"/>
                            </a:rPr>
                            <a:t>(52.7+16+34)</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91443569"/>
                      </a:ext>
                    </a:extLst>
                  </a:tr>
                  <a:tr h="585067">
                    <a:tc>
                      <a:txBody>
                        <a:bodyPr/>
                        <a:lstStyle/>
                        <a:p>
                          <a:endParaRPr lang="zh-TW"/>
                        </a:p>
                      </a:txBody>
                      <a:tcPr anchor="ctr">
                        <a:blipFill>
                          <a:blip r:embed="rId3"/>
                          <a:stretch>
                            <a:fillRect l="-694" t="-401042" r="-284722" b="-602083"/>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7</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110</a:t>
                          </a:r>
                        </a:p>
                        <a:p>
                          <a:pPr algn="ctr"/>
                          <a:r>
                            <a:rPr lang="en-US" altLang="zh-TW" sz="1600" b="0" dirty="0" smtClean="0">
                              <a:solidFill>
                                <a:schemeClr val="tx1"/>
                              </a:solidFill>
                              <a:latin typeface="Times New Roman" panose="02020603050405020304" pitchFamily="18" charset="0"/>
                              <a:cs typeface="Times New Roman" panose="02020603050405020304" pitchFamily="18" charset="0"/>
                            </a:rPr>
                            <a:t>(92+11+7)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9650133"/>
                      </a:ext>
                    </a:extLst>
                  </a:tr>
                  <a:tr h="585067">
                    <a:tc>
                      <a:txBody>
                        <a:bodyPr/>
                        <a:lstStyle/>
                        <a:p>
                          <a:endParaRPr lang="zh-TW"/>
                        </a:p>
                      </a:txBody>
                      <a:tcPr anchor="ctr">
                        <a:blipFill>
                          <a:blip r:embed="rId3"/>
                          <a:stretch>
                            <a:fillRect l="-694" t="-501042" r="-284722" b="-502083"/>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30.3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129.7</a:t>
                          </a:r>
                        </a:p>
                        <a:p>
                          <a:pPr algn="ctr"/>
                          <a:r>
                            <a:rPr lang="en-US" altLang="zh-TW" sz="1600" b="0" dirty="0" smtClean="0">
                              <a:solidFill>
                                <a:schemeClr val="tx1"/>
                              </a:solidFill>
                              <a:latin typeface="Times New Roman" panose="02020603050405020304" pitchFamily="18" charset="0"/>
                              <a:cs typeface="Times New Roman" panose="02020603050405020304" pitchFamily="18" charset="0"/>
                            </a:rPr>
                            <a:t>(42.3+57+30.3)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76601233"/>
                      </a:ext>
                    </a:extLst>
                  </a:tr>
                  <a:tr h="585067">
                    <a:tc>
                      <a:txBody>
                        <a:bodyPr/>
                        <a:lstStyle/>
                        <a:p>
                          <a:endParaRPr lang="zh-TW"/>
                        </a:p>
                      </a:txBody>
                      <a:tcPr anchor="ctr">
                        <a:blipFill>
                          <a:blip r:embed="rId3"/>
                          <a:stretch>
                            <a:fillRect l="-694" t="-601042" r="-284722" b="-402083"/>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22.3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119.3</a:t>
                          </a:r>
                        </a:p>
                        <a:p>
                          <a:pPr algn="ctr"/>
                          <a:r>
                            <a:rPr lang="en-US" altLang="zh-TW" sz="1600" b="0" dirty="0" smtClean="0">
                              <a:solidFill>
                                <a:schemeClr val="tx1"/>
                              </a:solidFill>
                              <a:latin typeface="Times New Roman" panose="02020603050405020304" pitchFamily="18" charset="0"/>
                              <a:cs typeface="Times New Roman" panose="02020603050405020304" pitchFamily="18" charset="0"/>
                            </a:rPr>
                            <a:t>(92+5+22.3)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4461887"/>
                      </a:ext>
                    </a:extLst>
                  </a:tr>
                  <a:tr h="585067">
                    <a:tc>
                      <a:txBody>
                        <a:bodyPr/>
                        <a:lstStyle/>
                        <a:p>
                          <a:endParaRPr lang="zh-TW"/>
                        </a:p>
                      </a:txBody>
                      <a:tcPr anchor="ctr">
                        <a:blipFill>
                          <a:blip r:embed="rId3"/>
                          <a:stretch>
                            <a:fillRect l="-694" t="-701042" r="-284722" b="-302083"/>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23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52.7</a:t>
                          </a:r>
                        </a:p>
                        <a:p>
                          <a:pPr algn="ctr"/>
                          <a:r>
                            <a:rPr lang="en-US" altLang="zh-TW" sz="1600" b="0" dirty="0" smtClean="0">
                              <a:solidFill>
                                <a:schemeClr val="tx1"/>
                              </a:solidFill>
                              <a:latin typeface="Times New Roman" panose="02020603050405020304" pitchFamily="18" charset="0"/>
                              <a:cs typeface="Times New Roman" panose="02020603050405020304" pitchFamily="18" charset="0"/>
                            </a:rPr>
                            <a:t>(20.7+9+23)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38335151"/>
                      </a:ext>
                    </a:extLst>
                  </a:tr>
                  <a:tr h="585067">
                    <a:tc>
                      <a:txBody>
                        <a:bodyPr/>
                        <a:lstStyle/>
                        <a:p>
                          <a:endParaRPr lang="zh-TW"/>
                        </a:p>
                      </a:txBody>
                      <a:tcPr anchor="ctr">
                        <a:blipFill>
                          <a:blip r:embed="rId3"/>
                          <a:stretch>
                            <a:fillRect l="-694" t="-801042" r="-284722" b="-202083"/>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29.3</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92</a:t>
                          </a:r>
                        </a:p>
                        <a:p>
                          <a:pPr algn="ctr"/>
                          <a:r>
                            <a:rPr lang="en-US" altLang="zh-TW" sz="1600" b="0" dirty="0" smtClean="0">
                              <a:solidFill>
                                <a:schemeClr val="tx1"/>
                              </a:solidFill>
                              <a:latin typeface="Times New Roman" panose="02020603050405020304" pitchFamily="18" charset="0"/>
                              <a:cs typeface="Times New Roman" panose="02020603050405020304" pitchFamily="18" charset="0"/>
                            </a:rPr>
                            <a:t>(20.7+42+29.3)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34303137"/>
                      </a:ext>
                    </a:extLst>
                  </a:tr>
                  <a:tr h="585067">
                    <a:tc>
                      <a:txBody>
                        <a:bodyPr/>
                        <a:lstStyle/>
                        <a:p>
                          <a:endParaRPr lang="zh-TW"/>
                        </a:p>
                      </a:txBody>
                      <a:tcPr anchor="ctr">
                        <a:blipFill>
                          <a:blip r:embed="rId3"/>
                          <a:stretch>
                            <a:fillRect l="-694" t="-901042" r="-284722" b="-102083"/>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14.7</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42.3</a:t>
                          </a:r>
                        </a:p>
                        <a:p>
                          <a:pPr algn="ctr"/>
                          <a:r>
                            <a:rPr lang="en-US" altLang="zh-TW" sz="1600" b="0" dirty="0" smtClean="0">
                              <a:solidFill>
                                <a:schemeClr val="tx1"/>
                              </a:solidFill>
                              <a:latin typeface="Times New Roman" panose="02020603050405020304" pitchFamily="18" charset="0"/>
                              <a:cs typeface="Times New Roman" panose="02020603050405020304" pitchFamily="18" charset="0"/>
                            </a:rPr>
                            <a:t>(20.7+7+14.7)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8754357"/>
                      </a:ext>
                    </a:extLst>
                  </a:tr>
                  <a:tr h="585067">
                    <a:tc>
                      <a:txBody>
                        <a:bodyPr/>
                        <a:lstStyle/>
                        <a:p>
                          <a:endParaRPr lang="zh-TW"/>
                        </a:p>
                      </a:txBody>
                      <a:tcPr anchor="ctr">
                        <a:blipFill>
                          <a:blip r:embed="rId3"/>
                          <a:stretch>
                            <a:fillRect l="-694" t="-1001042" r="-284722" b="-2083"/>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20.7</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20.7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58578841"/>
                      </a:ext>
                    </a:extLst>
                  </a:tr>
                </a:tbl>
              </a:graphicData>
            </a:graphic>
          </p:graphicFrame>
        </mc:Fallback>
      </mc:AlternateContent>
    </p:spTree>
    <p:extLst>
      <p:ext uri="{BB962C8B-B14F-4D97-AF65-F5344CB8AC3E}">
        <p14:creationId xmlns:p14="http://schemas.microsoft.com/office/powerpoint/2010/main" val="1194421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13500"/>
            <a:ext cx="7886700" cy="1325563"/>
          </a:xfrm>
        </p:spPr>
        <p:txBody>
          <a:bodyPr/>
          <a:lstStyle/>
          <a:p>
            <a:r>
              <a:rPr lang="en-US" altLang="zh-TW" dirty="0">
                <a:latin typeface="Times New Roman" panose="02020603050405020304" pitchFamily="18" charset="0"/>
                <a:cs typeface="Times New Roman" panose="02020603050405020304" pitchFamily="18" charset="0"/>
              </a:rPr>
              <a:t>PEFT</a:t>
            </a:r>
            <a:endParaRPr lang="zh-TW" altLang="en-US"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rotWithShape="1">
          <a:blip r:embed="rId2">
            <a:extLst>
              <a:ext uri="{28A0092B-C50C-407E-A947-70E740481C1C}">
                <a14:useLocalDpi xmlns:a14="http://schemas.microsoft.com/office/drawing/2010/main" val="0"/>
              </a:ext>
            </a:extLst>
          </a:blip>
          <a:srcRect l="7373" t="-882" r="33249" b="217"/>
          <a:stretch/>
        </p:blipFill>
        <p:spPr>
          <a:xfrm>
            <a:off x="156613" y="3448879"/>
            <a:ext cx="3399183" cy="3286482"/>
          </a:xfrm>
          <a:prstGeom prst="rect">
            <a:avLst/>
          </a:prstGeom>
        </p:spPr>
      </p:pic>
      <mc:AlternateContent xmlns:mc="http://schemas.openxmlformats.org/markup-compatibility/2006">
        <mc:Choice xmlns:a14="http://schemas.microsoft.com/office/drawing/2010/main" Requires="a14">
          <p:graphicFrame>
            <p:nvGraphicFramePr>
              <p:cNvPr id="8" name="表格 7"/>
              <p:cNvGraphicFramePr>
                <a:graphicFrameLocks noGrp="1"/>
              </p:cNvGraphicFramePr>
              <p:nvPr>
                <p:extLst>
                  <p:ext uri="{D42A27DB-BD31-4B8C-83A1-F6EECF244321}">
                    <p14:modId xmlns:p14="http://schemas.microsoft.com/office/powerpoint/2010/main" val="1523955280"/>
                  </p:ext>
                </p:extLst>
              </p:nvPr>
            </p:nvGraphicFramePr>
            <p:xfrm>
              <a:off x="4462670" y="441362"/>
              <a:ext cx="4245254" cy="5934137"/>
            </p:xfrm>
            <a:graphic>
              <a:graphicData uri="http://schemas.openxmlformats.org/drawingml/2006/table">
                <a:tbl>
                  <a:tblPr firstRow="1" bandRow="1">
                    <a:tableStyleId>{C4B1156A-380E-4F78-BDF5-A606A8083BF9}</a:tableStyleId>
                  </a:tblPr>
                  <a:tblGrid>
                    <a:gridCol w="436805">
                      <a:extLst>
                        <a:ext uri="{9D8B030D-6E8A-4147-A177-3AD203B41FA5}">
                          <a16:colId xmlns:a16="http://schemas.microsoft.com/office/drawing/2014/main" val="2813249117"/>
                        </a:ext>
                      </a:extLst>
                    </a:gridCol>
                    <a:gridCol w="847245">
                      <a:extLst>
                        <a:ext uri="{9D8B030D-6E8A-4147-A177-3AD203B41FA5}">
                          <a16:colId xmlns:a16="http://schemas.microsoft.com/office/drawing/2014/main" val="3870301417"/>
                        </a:ext>
                      </a:extLst>
                    </a:gridCol>
                    <a:gridCol w="964464">
                      <a:extLst>
                        <a:ext uri="{9D8B030D-6E8A-4147-A177-3AD203B41FA5}">
                          <a16:colId xmlns:a16="http://schemas.microsoft.com/office/drawing/2014/main" val="724016546"/>
                        </a:ext>
                      </a:extLst>
                    </a:gridCol>
                    <a:gridCol w="1201269">
                      <a:extLst>
                        <a:ext uri="{9D8B030D-6E8A-4147-A177-3AD203B41FA5}">
                          <a16:colId xmlns:a16="http://schemas.microsoft.com/office/drawing/2014/main" val="3613882429"/>
                        </a:ext>
                      </a:extLst>
                    </a:gridCol>
                    <a:gridCol w="795471">
                      <a:extLst>
                        <a:ext uri="{9D8B030D-6E8A-4147-A177-3AD203B41FA5}">
                          <a16:colId xmlns:a16="http://schemas.microsoft.com/office/drawing/2014/main" val="4075917071"/>
                        </a:ext>
                      </a:extLst>
                    </a:gridCol>
                  </a:tblGrid>
                  <a:tr h="276769">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P</m:t>
                                    </m:r>
                                  </m:e>
                                  <m:sub>
                                    <m:r>
                                      <a:rPr lang="en-US" altLang="zh-TW" sz="1600" b="1" i="1" smtClean="0">
                                        <a:latin typeface="Cambria Math" panose="02040503050406030204" pitchFamily="18" charset="0"/>
                                      </a:rPr>
                                      <m:t>𝟏</m:t>
                                    </m:r>
                                  </m:sub>
                                </m:sSub>
                              </m:oMath>
                            </m:oMathPara>
                          </a14:m>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P</m:t>
                                    </m:r>
                                  </m:e>
                                  <m:sub>
                                    <m:r>
                                      <a:rPr lang="en-US" altLang="zh-TW" sz="1600" b="1" i="1" smtClean="0">
                                        <a:latin typeface="Cambria Math" panose="02040503050406030204" pitchFamily="18" charset="0"/>
                                      </a:rPr>
                                      <m:t>𝟐</m:t>
                                    </m:r>
                                  </m:sub>
                                </m:sSub>
                              </m:oMath>
                            </m:oMathPara>
                          </a14:m>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P</m:t>
                                    </m:r>
                                  </m:e>
                                  <m:sub>
                                    <m:r>
                                      <a:rPr lang="en-US" altLang="zh-TW" sz="1600" b="1" i="1" smtClean="0">
                                        <a:latin typeface="Cambria Math" panose="02040503050406030204" pitchFamily="18" charset="0"/>
                                      </a:rPr>
                                      <m:t>𝟑</m:t>
                                    </m:r>
                                  </m:sub>
                                </m:sSub>
                              </m:oMath>
                            </m:oMathPara>
                          </a14:m>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smtClean="0">
                                        <a:solidFill>
                                          <a:schemeClr val="tx1"/>
                                        </a:solidFill>
                                        <a:latin typeface="Cambria Math" panose="02040503050406030204" pitchFamily="18" charset="0"/>
                                        <a:cs typeface="Times New Roman" panose="02020603050405020304" pitchFamily="18" charset="0"/>
                                      </a:rPr>
                                    </m:ctrlPr>
                                  </m:sSubPr>
                                  <m:e>
                                    <m:r>
                                      <a:rPr lang="en-US" altLang="zh-TW" sz="1600" b="0" i="1" smtClean="0">
                                        <a:solidFill>
                                          <a:schemeClr val="tx1"/>
                                        </a:solidFill>
                                        <a:latin typeface="Cambria Math" panose="02040503050406030204" pitchFamily="18" charset="0"/>
                                        <a:cs typeface="Times New Roman" panose="02020603050405020304" pitchFamily="18" charset="0"/>
                                      </a:rPr>
                                      <m:t>𝑟𝑎𝑛𝑘</m:t>
                                    </m:r>
                                  </m:e>
                                  <m:sub>
                                    <m:r>
                                      <a:rPr lang="en-US" altLang="zh-TW" sz="1600" b="0" i="1" smtClean="0">
                                        <a:solidFill>
                                          <a:schemeClr val="tx1"/>
                                        </a:solidFill>
                                        <a:latin typeface="Cambria Math" panose="02040503050406030204" pitchFamily="18" charset="0"/>
                                        <a:cs typeface="Times New Roman" panose="02020603050405020304" pitchFamily="18" charset="0"/>
                                      </a:rPr>
                                      <m:t>𝑜𝑐𝑡</m:t>
                                    </m:r>
                                  </m:sub>
                                </m:sSub>
                              </m:oMath>
                            </m:oMathPara>
                          </a14:m>
                          <a:endParaRPr lang="zh-TW" altLang="en-US" sz="1600" b="0"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81258832"/>
                      </a:ext>
                    </a:extLst>
                  </a:tr>
                  <a:tr h="4289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1</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64</a:t>
                          </a:r>
                        </a:p>
                        <a:p>
                          <a:pPr algn="ctr"/>
                          <a:r>
                            <a:rPr lang="en-US" altLang="zh-TW" sz="1600" b="0" dirty="0">
                              <a:solidFill>
                                <a:schemeClr val="tx1"/>
                              </a:solidFill>
                              <a:latin typeface="Times New Roman" panose="02020603050405020304" pitchFamily="18" charset="0"/>
                              <a:cs typeface="Times New Roman" panose="02020603050405020304" pitchFamily="18" charset="0"/>
                            </a:rPr>
                            <a:t>(42+22)</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68</a:t>
                          </a:r>
                        </a:p>
                        <a:p>
                          <a:pPr algn="ctr"/>
                          <a:r>
                            <a:rPr lang="en-US" altLang="zh-TW" sz="1600" b="0" dirty="0">
                              <a:solidFill>
                                <a:schemeClr val="tx1"/>
                              </a:solidFill>
                              <a:latin typeface="Times New Roman" panose="02020603050405020304" pitchFamily="18" charset="0"/>
                              <a:cs typeface="Times New Roman" panose="02020603050405020304" pitchFamily="18" charset="0"/>
                            </a:rPr>
                            <a:t>(41+27)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86</a:t>
                          </a:r>
                        </a:p>
                        <a:p>
                          <a:pPr algn="ctr"/>
                          <a:r>
                            <a:rPr lang="en-US" altLang="zh-TW" sz="1600" b="0" dirty="0">
                              <a:solidFill>
                                <a:schemeClr val="tx1"/>
                              </a:solidFill>
                              <a:latin typeface="Times New Roman" panose="02020603050405020304" pitchFamily="18" charset="0"/>
                              <a:cs typeface="Times New Roman" panose="02020603050405020304" pitchFamily="18" charset="0"/>
                            </a:rPr>
                            <a:t>(43+43)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72.7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4109731"/>
                      </a:ext>
                    </a:extLst>
                  </a:tr>
                  <a:tr h="44613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b="0" i="1" smtClean="0">
                                        <a:latin typeface="Cambria Math" panose="02040503050406030204" pitchFamily="18" charset="0"/>
                                      </a:rPr>
                                      <m:t>2</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42</a:t>
                          </a:r>
                        </a:p>
                        <a:p>
                          <a:pPr algn="ctr"/>
                          <a:r>
                            <a:rPr lang="en-US" altLang="zh-TW" sz="1600" b="0" dirty="0">
                              <a:solidFill>
                                <a:schemeClr val="tx1"/>
                              </a:solidFill>
                              <a:latin typeface="Times New Roman" panose="02020603050405020304" pitchFamily="18" charset="0"/>
                              <a:cs typeface="Times New Roman" panose="02020603050405020304" pitchFamily="18" charset="0"/>
                            </a:rPr>
                            <a:t>(13+29)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39</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42</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258467"/>
                      </a:ext>
                    </a:extLst>
                  </a:tr>
                  <a:tr h="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b="0" i="1" smtClean="0">
                                        <a:latin typeface="Cambria Math" panose="02040503050406030204" pitchFamily="18" charset="0"/>
                                      </a:rPr>
                                      <m:t>3</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27</a:t>
                          </a:r>
                        </a:p>
                        <a:p>
                          <a:pPr algn="ctr"/>
                          <a:r>
                            <a:rPr lang="en-US" altLang="zh-TW" sz="1600" b="0" dirty="0">
                              <a:solidFill>
                                <a:schemeClr val="tx1"/>
                              </a:solidFill>
                              <a:latin typeface="Times New Roman" panose="02020603050405020304" pitchFamily="18" charset="0"/>
                              <a:cs typeface="Times New Roman" panose="02020603050405020304" pitchFamily="18" charset="0"/>
                            </a:rPr>
                            <a:t>(13+14)</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41</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43</a:t>
                          </a:r>
                        </a:p>
                        <a:p>
                          <a:pPr algn="ctr"/>
                          <a:r>
                            <a:rPr lang="en-US" altLang="zh-TW" sz="1600" b="0" dirty="0">
                              <a:solidFill>
                                <a:schemeClr val="tx1"/>
                              </a:solidFill>
                              <a:latin typeface="Times New Roman" panose="02020603050405020304" pitchFamily="18" charset="0"/>
                              <a:cs typeface="Times New Roman" panose="02020603050405020304" pitchFamily="18" charset="0"/>
                            </a:rPr>
                            <a:t>(13+14+16)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91443569"/>
                      </a:ext>
                    </a:extLst>
                  </a:tr>
                  <a:tr h="31162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42</a:t>
                          </a:r>
                        </a:p>
                        <a:p>
                          <a:pPr algn="ctr"/>
                          <a:r>
                            <a:rPr lang="en-US" altLang="zh-TW" sz="1600" b="0" dirty="0">
                              <a:solidFill>
                                <a:schemeClr val="tx1"/>
                              </a:solidFill>
                              <a:latin typeface="Times New Roman" panose="02020603050405020304" pitchFamily="18" charset="0"/>
                              <a:cs typeface="Times New Roman" panose="02020603050405020304" pitchFamily="18" charset="0"/>
                            </a:rPr>
                            <a:t>(13+29)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39</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50</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(16+23+11)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43.7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9650133"/>
                      </a:ext>
                    </a:extLst>
                  </a:tr>
                  <a:tr h="32885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28</a:t>
                          </a:r>
                        </a:p>
                        <a:p>
                          <a:pPr algn="ctr"/>
                          <a:r>
                            <a:rPr lang="en-US" altLang="zh-TW" sz="1600" b="0" dirty="0">
                              <a:solidFill>
                                <a:schemeClr val="tx1"/>
                              </a:solidFill>
                              <a:latin typeface="Times New Roman" panose="02020603050405020304" pitchFamily="18" charset="0"/>
                              <a:cs typeface="Times New Roman" panose="02020603050405020304" pitchFamily="18" charset="0"/>
                            </a:rPr>
                            <a:t>(13+15)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37</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28</a:t>
                          </a:r>
                        </a:p>
                        <a:p>
                          <a:pPr algn="ctr"/>
                          <a:r>
                            <a:rPr lang="en-US" altLang="zh-TW" sz="1600" b="0" dirty="0">
                              <a:solidFill>
                                <a:schemeClr val="tx1"/>
                              </a:solidFill>
                              <a:latin typeface="Times New Roman" panose="02020603050405020304" pitchFamily="18" charset="0"/>
                              <a:cs typeface="Times New Roman" panose="02020603050405020304" pitchFamily="18" charset="0"/>
                            </a:rPr>
                            <a:t>(20+8)</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76601233"/>
                      </a:ext>
                    </a:extLst>
                  </a:tr>
                  <a:tr h="52498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6</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42</a:t>
                          </a:r>
                        </a:p>
                        <a:p>
                          <a:pPr algn="ctr"/>
                          <a:r>
                            <a:rPr lang="en-US" altLang="zh-TW" sz="1600" b="0" dirty="0">
                              <a:solidFill>
                                <a:schemeClr val="tx1"/>
                              </a:solidFill>
                              <a:latin typeface="Times New Roman" panose="02020603050405020304" pitchFamily="18" charset="0"/>
                              <a:cs typeface="Times New Roman" panose="02020603050405020304" pitchFamily="18" charset="0"/>
                            </a:rPr>
                            <a:t>(13+29)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39</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44</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41.7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4461887"/>
                      </a:ext>
                    </a:extLst>
                  </a:tr>
                  <a:tr h="56891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22</a:t>
                          </a:r>
                        </a:p>
                        <a:p>
                          <a:pPr algn="ctr"/>
                          <a:r>
                            <a:rPr lang="en-US" altLang="zh-TW" sz="1600" b="0" dirty="0">
                              <a:solidFill>
                                <a:schemeClr val="tx1"/>
                              </a:solidFill>
                              <a:latin typeface="Times New Roman" panose="02020603050405020304" pitchFamily="18" charset="0"/>
                              <a:cs typeface="Times New Roman" panose="02020603050405020304" pitchFamily="18" charset="0"/>
                            </a:rPr>
                            <a:t>(13+9)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38335151"/>
                      </a:ext>
                    </a:extLst>
                  </a:tr>
                  <a:tr h="56891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8</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33</a:t>
                          </a:r>
                        </a:p>
                        <a:p>
                          <a:pPr algn="ctr"/>
                          <a:r>
                            <a:rPr lang="en-US" altLang="zh-TW" sz="1600" b="0" dirty="0">
                              <a:solidFill>
                                <a:schemeClr val="tx1"/>
                              </a:solidFill>
                              <a:latin typeface="Times New Roman" panose="02020603050405020304" pitchFamily="18" charset="0"/>
                              <a:cs typeface="Times New Roman" panose="02020603050405020304" pitchFamily="18" charset="0"/>
                            </a:rPr>
                            <a:t>()</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20.7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34303137"/>
                      </a:ext>
                    </a:extLst>
                  </a:tr>
                  <a:tr h="630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9</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a:t>
                          </a: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20</a:t>
                          </a:r>
                        </a:p>
                        <a:p>
                          <a:pPr algn="ctr"/>
                          <a:r>
                            <a:rPr lang="en-US" altLang="zh-TW" sz="1600" b="0" dirty="0">
                              <a:solidFill>
                                <a:schemeClr val="tx1"/>
                              </a:solidFill>
                              <a:latin typeface="Times New Roman" panose="02020603050405020304" pitchFamily="18" charset="0"/>
                              <a:cs typeface="Times New Roman" panose="02020603050405020304" pitchFamily="18" charset="0"/>
                            </a:rPr>
                            <a:t>(7+13) </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8754357"/>
                      </a:ext>
                    </a:extLst>
                  </a:tr>
                  <a:tr h="3293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10</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58578841"/>
                      </a:ext>
                    </a:extLst>
                  </a:tr>
                </a:tbl>
              </a:graphicData>
            </a:graphic>
          </p:graphicFrame>
        </mc:Choice>
        <mc:Fallback>
          <p:graphicFrame>
            <p:nvGraphicFramePr>
              <p:cNvPr id="8" name="表格 7"/>
              <p:cNvGraphicFramePr>
                <a:graphicFrameLocks noGrp="1"/>
              </p:cNvGraphicFramePr>
              <p:nvPr>
                <p:extLst>
                  <p:ext uri="{D42A27DB-BD31-4B8C-83A1-F6EECF244321}">
                    <p14:modId xmlns:p14="http://schemas.microsoft.com/office/powerpoint/2010/main" val="1523955280"/>
                  </p:ext>
                </p:extLst>
              </p:nvPr>
            </p:nvGraphicFramePr>
            <p:xfrm>
              <a:off x="4462670" y="441362"/>
              <a:ext cx="4245254" cy="5934137"/>
            </p:xfrm>
            <a:graphic>
              <a:graphicData uri="http://schemas.openxmlformats.org/drawingml/2006/table">
                <a:tbl>
                  <a:tblPr firstRow="1" bandRow="1">
                    <a:tableStyleId>{C4B1156A-380E-4F78-BDF5-A606A8083BF9}</a:tableStyleId>
                  </a:tblPr>
                  <a:tblGrid>
                    <a:gridCol w="436805">
                      <a:extLst>
                        <a:ext uri="{9D8B030D-6E8A-4147-A177-3AD203B41FA5}">
                          <a16:colId xmlns:a16="http://schemas.microsoft.com/office/drawing/2014/main" val="2813249117"/>
                        </a:ext>
                      </a:extLst>
                    </a:gridCol>
                    <a:gridCol w="847245">
                      <a:extLst>
                        <a:ext uri="{9D8B030D-6E8A-4147-A177-3AD203B41FA5}">
                          <a16:colId xmlns:a16="http://schemas.microsoft.com/office/drawing/2014/main" val="3870301417"/>
                        </a:ext>
                      </a:extLst>
                    </a:gridCol>
                    <a:gridCol w="964464">
                      <a:extLst>
                        <a:ext uri="{9D8B030D-6E8A-4147-A177-3AD203B41FA5}">
                          <a16:colId xmlns:a16="http://schemas.microsoft.com/office/drawing/2014/main" val="724016546"/>
                        </a:ext>
                      </a:extLst>
                    </a:gridCol>
                    <a:gridCol w="1201269">
                      <a:extLst>
                        <a:ext uri="{9D8B030D-6E8A-4147-A177-3AD203B41FA5}">
                          <a16:colId xmlns:a16="http://schemas.microsoft.com/office/drawing/2014/main" val="3613882429"/>
                        </a:ext>
                      </a:extLst>
                    </a:gridCol>
                    <a:gridCol w="795471">
                      <a:extLst>
                        <a:ext uri="{9D8B030D-6E8A-4147-A177-3AD203B41FA5}">
                          <a16:colId xmlns:a16="http://schemas.microsoft.com/office/drawing/2014/main" val="4075917071"/>
                        </a:ext>
                      </a:extLst>
                    </a:gridCol>
                  </a:tblGrid>
                  <a:tr h="335280">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3"/>
                          <a:stretch>
                            <a:fillRect l="-52518" t="-1818" r="-351079" b="-1694545"/>
                          </a:stretch>
                        </a:blipFill>
                      </a:tcPr>
                    </a:tc>
                    <a:tc>
                      <a:txBody>
                        <a:bodyPr/>
                        <a:lstStyle/>
                        <a:p>
                          <a:endParaRPr lang="zh-TW"/>
                        </a:p>
                      </a:txBody>
                      <a:tcPr anchor="ctr">
                        <a:blipFill>
                          <a:blip r:embed="rId3"/>
                          <a:stretch>
                            <a:fillRect l="-134177" t="-1818" r="-208861" b="-1694545"/>
                          </a:stretch>
                        </a:blipFill>
                      </a:tcPr>
                    </a:tc>
                    <a:tc>
                      <a:txBody>
                        <a:bodyPr/>
                        <a:lstStyle/>
                        <a:p>
                          <a:endParaRPr lang="zh-TW"/>
                        </a:p>
                      </a:txBody>
                      <a:tcPr anchor="ctr">
                        <a:blipFill>
                          <a:blip r:embed="rId3"/>
                          <a:stretch>
                            <a:fillRect l="-187817" t="-1818" r="-67513" b="-1694545"/>
                          </a:stretch>
                        </a:blipFill>
                      </a:tcPr>
                    </a:tc>
                    <a:tc>
                      <a:txBody>
                        <a:bodyPr/>
                        <a:lstStyle/>
                        <a:p>
                          <a:endParaRPr lang="zh-TW"/>
                        </a:p>
                      </a:txBody>
                      <a:tcPr anchor="ctr">
                        <a:blipFill>
                          <a:blip r:embed="rId3"/>
                          <a:stretch>
                            <a:fillRect l="-432824" t="-1818" r="-1527" b="-1694545"/>
                          </a:stretch>
                        </a:blipFill>
                      </a:tcPr>
                    </a:tc>
                    <a:extLst>
                      <a:ext uri="{0D108BD9-81ED-4DB2-BD59-A6C34878D82A}">
                        <a16:rowId xmlns:a16="http://schemas.microsoft.com/office/drawing/2014/main" val="3681258832"/>
                      </a:ext>
                    </a:extLst>
                  </a:tr>
                  <a:tr h="579120">
                    <a:tc>
                      <a:txBody>
                        <a:bodyPr/>
                        <a:lstStyle/>
                        <a:p>
                          <a:endParaRPr lang="zh-TW"/>
                        </a:p>
                      </a:txBody>
                      <a:tcPr anchor="ctr">
                        <a:blipFill>
                          <a:blip r:embed="rId3"/>
                          <a:stretch>
                            <a:fillRect l="-1389" t="-58947" r="-870833" b="-881053"/>
                          </a:stretch>
                        </a:blip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64</a:t>
                          </a:r>
                        </a:p>
                        <a:p>
                          <a:pPr algn="ctr"/>
                          <a:r>
                            <a:rPr lang="en-US" altLang="zh-TW" sz="1600" b="0" dirty="0">
                              <a:solidFill>
                                <a:schemeClr val="tx1"/>
                              </a:solidFill>
                              <a:latin typeface="Times New Roman" panose="02020603050405020304" pitchFamily="18" charset="0"/>
                              <a:cs typeface="Times New Roman" panose="02020603050405020304" pitchFamily="18" charset="0"/>
                            </a:rPr>
                            <a:t>(42+22)</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68</a:t>
                          </a:r>
                        </a:p>
                        <a:p>
                          <a:pPr algn="ctr"/>
                          <a:r>
                            <a:rPr lang="en-US" altLang="zh-TW" sz="1600" b="0" dirty="0">
                              <a:solidFill>
                                <a:schemeClr val="tx1"/>
                              </a:solidFill>
                              <a:latin typeface="Times New Roman" panose="02020603050405020304" pitchFamily="18" charset="0"/>
                              <a:cs typeface="Times New Roman" panose="02020603050405020304" pitchFamily="18" charset="0"/>
                            </a:rPr>
                            <a:t>(41+27)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86</a:t>
                          </a:r>
                        </a:p>
                        <a:p>
                          <a:pPr algn="ctr"/>
                          <a:r>
                            <a:rPr lang="en-US" altLang="zh-TW" sz="1600" b="0" dirty="0">
                              <a:solidFill>
                                <a:schemeClr val="tx1"/>
                              </a:solidFill>
                              <a:latin typeface="Times New Roman" panose="02020603050405020304" pitchFamily="18" charset="0"/>
                              <a:cs typeface="Times New Roman" panose="02020603050405020304" pitchFamily="18" charset="0"/>
                            </a:rPr>
                            <a:t>(43+43)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72.7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4109731"/>
                      </a:ext>
                    </a:extLst>
                  </a:tr>
                  <a:tr h="579120">
                    <a:tc>
                      <a:txBody>
                        <a:bodyPr/>
                        <a:lstStyle/>
                        <a:p>
                          <a:endParaRPr lang="zh-TW"/>
                        </a:p>
                      </a:txBody>
                      <a:tcPr anchor="ctr">
                        <a:blipFill>
                          <a:blip r:embed="rId3"/>
                          <a:stretch>
                            <a:fillRect l="-1389" t="-158947" r="-870833" b="-781053"/>
                          </a:stretch>
                        </a:blip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42</a:t>
                          </a:r>
                        </a:p>
                        <a:p>
                          <a:pPr algn="ctr"/>
                          <a:r>
                            <a:rPr lang="en-US" altLang="zh-TW" sz="1600" b="0" dirty="0">
                              <a:solidFill>
                                <a:schemeClr val="tx1"/>
                              </a:solidFill>
                              <a:latin typeface="Times New Roman" panose="02020603050405020304" pitchFamily="18" charset="0"/>
                              <a:cs typeface="Times New Roman" panose="02020603050405020304" pitchFamily="18" charset="0"/>
                            </a:rPr>
                            <a:t>(13+29)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39</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42</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258467"/>
                      </a:ext>
                    </a:extLst>
                  </a:tr>
                  <a:tr h="579120">
                    <a:tc>
                      <a:txBody>
                        <a:bodyPr/>
                        <a:lstStyle/>
                        <a:p>
                          <a:endParaRPr lang="zh-TW"/>
                        </a:p>
                      </a:txBody>
                      <a:tcPr anchor="ctr">
                        <a:blipFill>
                          <a:blip r:embed="rId3"/>
                          <a:stretch>
                            <a:fillRect l="-1389" t="-258947" r="-870833" b="-681053"/>
                          </a:stretch>
                        </a:blip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27</a:t>
                          </a:r>
                        </a:p>
                        <a:p>
                          <a:pPr algn="ctr"/>
                          <a:r>
                            <a:rPr lang="en-US" altLang="zh-TW" sz="1600" b="0" dirty="0">
                              <a:solidFill>
                                <a:schemeClr val="tx1"/>
                              </a:solidFill>
                              <a:latin typeface="Times New Roman" panose="02020603050405020304" pitchFamily="18" charset="0"/>
                              <a:cs typeface="Times New Roman" panose="02020603050405020304" pitchFamily="18" charset="0"/>
                            </a:rPr>
                            <a:t>(13+14)</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41</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43</a:t>
                          </a:r>
                        </a:p>
                        <a:p>
                          <a:pPr algn="ctr"/>
                          <a:r>
                            <a:rPr lang="en-US" altLang="zh-TW" sz="1600" b="0" dirty="0">
                              <a:solidFill>
                                <a:schemeClr val="tx1"/>
                              </a:solidFill>
                              <a:latin typeface="Times New Roman" panose="02020603050405020304" pitchFamily="18" charset="0"/>
                              <a:cs typeface="Times New Roman" panose="02020603050405020304" pitchFamily="18" charset="0"/>
                            </a:rPr>
                            <a:t>(13+14+16)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91443569"/>
                      </a:ext>
                    </a:extLst>
                  </a:tr>
                  <a:tr h="579120">
                    <a:tc>
                      <a:txBody>
                        <a:bodyPr/>
                        <a:lstStyle/>
                        <a:p>
                          <a:endParaRPr lang="zh-TW"/>
                        </a:p>
                      </a:txBody>
                      <a:tcPr anchor="ctr">
                        <a:blipFill>
                          <a:blip r:embed="rId3"/>
                          <a:stretch>
                            <a:fillRect l="-1389" t="-358947" r="-870833" b="-581053"/>
                          </a:stretch>
                        </a:blip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42</a:t>
                          </a:r>
                        </a:p>
                        <a:p>
                          <a:pPr algn="ctr"/>
                          <a:r>
                            <a:rPr lang="en-US" altLang="zh-TW" sz="1600" b="0" dirty="0">
                              <a:solidFill>
                                <a:schemeClr val="tx1"/>
                              </a:solidFill>
                              <a:latin typeface="Times New Roman" panose="02020603050405020304" pitchFamily="18" charset="0"/>
                              <a:cs typeface="Times New Roman" panose="02020603050405020304" pitchFamily="18" charset="0"/>
                            </a:rPr>
                            <a:t>(13+29)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39</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50</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(16+23+11)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43.7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9650133"/>
                      </a:ext>
                    </a:extLst>
                  </a:tr>
                  <a:tr h="579120">
                    <a:tc>
                      <a:txBody>
                        <a:bodyPr/>
                        <a:lstStyle/>
                        <a:p>
                          <a:endParaRPr lang="zh-TW"/>
                        </a:p>
                      </a:txBody>
                      <a:tcPr anchor="ctr">
                        <a:blipFill>
                          <a:blip r:embed="rId3"/>
                          <a:stretch>
                            <a:fillRect l="-1389" t="-458947" r="-870833" b="-481053"/>
                          </a:stretch>
                        </a:blip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28</a:t>
                          </a:r>
                        </a:p>
                        <a:p>
                          <a:pPr algn="ctr"/>
                          <a:r>
                            <a:rPr lang="en-US" altLang="zh-TW" sz="1600" b="0" dirty="0">
                              <a:solidFill>
                                <a:schemeClr val="tx1"/>
                              </a:solidFill>
                              <a:latin typeface="Times New Roman" panose="02020603050405020304" pitchFamily="18" charset="0"/>
                              <a:cs typeface="Times New Roman" panose="02020603050405020304" pitchFamily="18" charset="0"/>
                            </a:rPr>
                            <a:t>(13+15)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37</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28</a:t>
                          </a:r>
                        </a:p>
                        <a:p>
                          <a:pPr algn="ctr"/>
                          <a:r>
                            <a:rPr lang="en-US" altLang="zh-TW" sz="1600" b="0" dirty="0">
                              <a:solidFill>
                                <a:schemeClr val="tx1"/>
                              </a:solidFill>
                              <a:latin typeface="Times New Roman" panose="02020603050405020304" pitchFamily="18" charset="0"/>
                              <a:cs typeface="Times New Roman" panose="02020603050405020304" pitchFamily="18" charset="0"/>
                            </a:rPr>
                            <a:t>(20+8)</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76601233"/>
                      </a:ext>
                    </a:extLst>
                  </a:tr>
                  <a:tr h="579120">
                    <a:tc>
                      <a:txBody>
                        <a:bodyPr/>
                        <a:lstStyle/>
                        <a:p>
                          <a:endParaRPr lang="zh-TW"/>
                        </a:p>
                      </a:txBody>
                      <a:tcPr anchor="ctr">
                        <a:blipFill>
                          <a:blip r:embed="rId3"/>
                          <a:stretch>
                            <a:fillRect l="-1389" t="-558947" r="-870833" b="-381053"/>
                          </a:stretch>
                        </a:blip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42</a:t>
                          </a:r>
                        </a:p>
                        <a:p>
                          <a:pPr algn="ctr"/>
                          <a:r>
                            <a:rPr lang="en-US" altLang="zh-TW" sz="1600" b="0" dirty="0">
                              <a:solidFill>
                                <a:schemeClr val="tx1"/>
                              </a:solidFill>
                              <a:latin typeface="Times New Roman" panose="02020603050405020304" pitchFamily="18" charset="0"/>
                              <a:cs typeface="Times New Roman" panose="02020603050405020304" pitchFamily="18" charset="0"/>
                            </a:rPr>
                            <a:t>(13+29)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39</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44</a:t>
                          </a:r>
                        </a:p>
                        <a:p>
                          <a:pPr algn="ctr"/>
                          <a:r>
                            <a:rPr lang="en-US" altLang="zh-TW" sz="1600" b="0" dirty="0">
                              <a:solidFill>
                                <a:schemeClr val="tx1"/>
                              </a:solidFill>
                              <a:latin typeface="Times New Roman" panose="02020603050405020304" pitchFamily="18" charset="0"/>
                              <a:cs typeface="Times New Roman" panose="02020603050405020304" pitchFamily="18" charset="0"/>
                            </a:rPr>
                            <a:t>(16+23+5)</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41.7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4461887"/>
                      </a:ext>
                    </a:extLst>
                  </a:tr>
                  <a:tr h="579120">
                    <a:tc>
                      <a:txBody>
                        <a:bodyPr/>
                        <a:lstStyle/>
                        <a:p>
                          <a:endParaRPr lang="zh-TW"/>
                        </a:p>
                      </a:txBody>
                      <a:tcPr anchor="ctr">
                        <a:blipFill>
                          <a:blip r:embed="rId3"/>
                          <a:stretch>
                            <a:fillRect l="-1389" t="-658947" r="-870833" b="-281053"/>
                          </a:stretch>
                        </a:blip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22</a:t>
                          </a:r>
                        </a:p>
                        <a:p>
                          <a:pPr algn="ctr"/>
                          <a:r>
                            <a:rPr lang="en-US" altLang="zh-TW" sz="1600" b="0" dirty="0">
                              <a:solidFill>
                                <a:schemeClr val="tx1"/>
                              </a:solidFill>
                              <a:latin typeface="Times New Roman" panose="02020603050405020304" pitchFamily="18" charset="0"/>
                              <a:cs typeface="Times New Roman" panose="02020603050405020304" pitchFamily="18" charset="0"/>
                            </a:rPr>
                            <a:t>(13+9)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38335151"/>
                      </a:ext>
                    </a:extLst>
                  </a:tr>
                  <a:tr h="579120">
                    <a:tc>
                      <a:txBody>
                        <a:bodyPr/>
                        <a:lstStyle/>
                        <a:p>
                          <a:endParaRPr lang="zh-TW"/>
                        </a:p>
                      </a:txBody>
                      <a:tcPr anchor="ctr">
                        <a:blipFill>
                          <a:blip r:embed="rId3"/>
                          <a:stretch>
                            <a:fillRect l="-1389" t="-758947" r="-870833" b="-181053"/>
                          </a:stretch>
                        </a:blip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33</a:t>
                          </a:r>
                        </a:p>
                        <a:p>
                          <a:pPr algn="ctr"/>
                          <a:r>
                            <a:rPr lang="en-US" altLang="zh-TW" sz="1600" b="0" dirty="0">
                              <a:solidFill>
                                <a:schemeClr val="tx1"/>
                              </a:solidFill>
                              <a:latin typeface="Times New Roman" panose="02020603050405020304" pitchFamily="18" charset="0"/>
                              <a:cs typeface="Times New Roman" panose="02020603050405020304" pitchFamily="18" charset="0"/>
                            </a:rPr>
                            <a:t>()</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20.7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34303137"/>
                      </a:ext>
                    </a:extLst>
                  </a:tr>
                  <a:tr h="630617">
                    <a:tc>
                      <a:txBody>
                        <a:bodyPr/>
                        <a:lstStyle/>
                        <a:p>
                          <a:endParaRPr lang="zh-TW"/>
                        </a:p>
                      </a:txBody>
                      <a:tcPr anchor="ctr">
                        <a:blipFill>
                          <a:blip r:embed="rId3"/>
                          <a:stretch>
                            <a:fillRect l="-1389" t="-784615" r="-870833" b="-65385"/>
                          </a:stretch>
                        </a:blip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a:t>
                          </a: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20</a:t>
                          </a:r>
                        </a:p>
                        <a:p>
                          <a:pPr algn="ctr"/>
                          <a:r>
                            <a:rPr lang="en-US" altLang="zh-TW" sz="1600" b="0" dirty="0">
                              <a:solidFill>
                                <a:schemeClr val="tx1"/>
                              </a:solidFill>
                              <a:latin typeface="Times New Roman" panose="02020603050405020304" pitchFamily="18" charset="0"/>
                              <a:cs typeface="Times New Roman" panose="02020603050405020304" pitchFamily="18" charset="0"/>
                            </a:rPr>
                            <a:t>(7+13) </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8754357"/>
                      </a:ext>
                    </a:extLst>
                  </a:tr>
                  <a:tr h="335280">
                    <a:tc>
                      <a:txBody>
                        <a:bodyPr/>
                        <a:lstStyle/>
                        <a:p>
                          <a:endParaRPr lang="zh-TW"/>
                        </a:p>
                      </a:txBody>
                      <a:tcPr anchor="ctr">
                        <a:blipFill>
                          <a:blip r:embed="rId3"/>
                          <a:stretch>
                            <a:fillRect l="-1389" t="-1672727" r="-870833" b="-23636"/>
                          </a:stretch>
                        </a:blipFill>
                      </a:tcP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58578841"/>
                      </a:ext>
                    </a:extLst>
                  </a:tr>
                </a:tbl>
              </a:graphicData>
            </a:graphic>
          </p:graphicFrame>
        </mc:Fallback>
      </mc:AlternateContent>
      <p:pic>
        <p:nvPicPr>
          <p:cNvPr id="9" name="圖片 8"/>
          <p:cNvPicPr>
            <a:picLocks noChangeAspect="1"/>
          </p:cNvPicPr>
          <p:nvPr/>
        </p:nvPicPr>
        <p:blipFill rotWithShape="1">
          <a:blip r:embed="rId2">
            <a:extLst>
              <a:ext uri="{28A0092B-C50C-407E-A947-70E740481C1C}">
                <a14:useLocalDpi xmlns:a14="http://schemas.microsoft.com/office/drawing/2010/main" val="0"/>
              </a:ext>
            </a:extLst>
          </a:blip>
          <a:srcRect l="70337" t="11923" r="-16796" b="5540"/>
          <a:stretch/>
        </p:blipFill>
        <p:spPr>
          <a:xfrm>
            <a:off x="885894" y="746560"/>
            <a:ext cx="2755552" cy="2791772"/>
          </a:xfrm>
          <a:prstGeom prst="rect">
            <a:avLst/>
          </a:prstGeom>
        </p:spPr>
      </p:pic>
    </p:spTree>
    <p:extLst>
      <p:ext uri="{BB962C8B-B14F-4D97-AF65-F5344CB8AC3E}">
        <p14:creationId xmlns:p14="http://schemas.microsoft.com/office/powerpoint/2010/main" val="2209281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6316" y="0"/>
            <a:ext cx="7886700" cy="1325563"/>
          </a:xfrm>
        </p:spPr>
        <p:txBody>
          <a:bodyPr/>
          <a:lstStyle/>
          <a:p>
            <a:r>
              <a:rPr lang="en-US" altLang="zh-TW" dirty="0">
                <a:latin typeface="Times New Roman" panose="02020603050405020304" pitchFamily="18" charset="0"/>
                <a:cs typeface="Times New Roman" panose="02020603050405020304" pitchFamily="18" charset="0"/>
              </a:rPr>
              <a:t>HEFT</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extLst>
                  <p:ext uri="{D42A27DB-BD31-4B8C-83A1-F6EECF244321}">
                    <p14:modId xmlns:p14="http://schemas.microsoft.com/office/powerpoint/2010/main" val="1411409210"/>
                  </p:ext>
                </p:extLst>
              </p:nvPr>
            </p:nvGraphicFramePr>
            <p:xfrm>
              <a:off x="1858617" y="533572"/>
              <a:ext cx="1560444" cy="5976564"/>
            </p:xfrm>
            <a:graphic>
              <a:graphicData uri="http://schemas.openxmlformats.org/drawingml/2006/table">
                <a:tbl>
                  <a:tblPr firstRow="1" bandRow="1">
                    <a:tableStyleId>{C4B1156A-380E-4F78-BDF5-A606A8083BF9}</a:tableStyleId>
                  </a:tblPr>
                  <a:tblGrid>
                    <a:gridCol w="553131">
                      <a:extLst>
                        <a:ext uri="{9D8B030D-6E8A-4147-A177-3AD203B41FA5}">
                          <a16:colId xmlns:a16="http://schemas.microsoft.com/office/drawing/2014/main" val="2813249117"/>
                        </a:ext>
                      </a:extLst>
                    </a:gridCol>
                    <a:gridCol w="1007313">
                      <a:extLst>
                        <a:ext uri="{9D8B030D-6E8A-4147-A177-3AD203B41FA5}">
                          <a16:colId xmlns:a16="http://schemas.microsoft.com/office/drawing/2014/main" val="4075917071"/>
                        </a:ext>
                      </a:extLst>
                    </a:gridCol>
                  </a:tblGrid>
                  <a:tr h="543324">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b="0" i="1" smtClean="0">
                                        <a:solidFill>
                                          <a:schemeClr val="tx1"/>
                                        </a:solidFill>
                                        <a:latin typeface="Cambria Math" panose="02040503050406030204" pitchFamily="18" charset="0"/>
                                        <a:cs typeface="Times New Roman" panose="02020603050405020304" pitchFamily="18" charset="0"/>
                                      </a:rPr>
                                    </m:ctrlPr>
                                  </m:sSubPr>
                                  <m:e>
                                    <m:r>
                                      <a:rPr lang="en-US" altLang="zh-TW" sz="1600" b="0" i="1" smtClean="0">
                                        <a:solidFill>
                                          <a:schemeClr val="tx1"/>
                                        </a:solidFill>
                                        <a:latin typeface="Cambria Math" panose="02040503050406030204" pitchFamily="18" charset="0"/>
                                        <a:cs typeface="Times New Roman" panose="02020603050405020304" pitchFamily="18" charset="0"/>
                                      </a:rPr>
                                      <m:t>𝑟𝑎𝑛𝑘</m:t>
                                    </m:r>
                                  </m:e>
                                  <m:sub>
                                    <m:r>
                                      <a:rPr lang="en-US" altLang="zh-TW" sz="1600" b="0" i="1" smtClean="0">
                                        <a:solidFill>
                                          <a:schemeClr val="tx1"/>
                                        </a:solidFill>
                                        <a:latin typeface="Cambria Math" panose="02040503050406030204" pitchFamily="18" charset="0"/>
                                        <a:cs typeface="Times New Roman" panose="02020603050405020304" pitchFamily="18" charset="0"/>
                                      </a:rPr>
                                      <m:t>𝑢</m:t>
                                    </m:r>
                                  </m:sub>
                                </m:sSub>
                              </m:oMath>
                            </m:oMathPara>
                          </a14:m>
                          <a:endParaRPr lang="zh-TW" altLang="en-US" sz="1600" b="0"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81258832"/>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1</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169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4109731"/>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b="0" i="1" smtClean="0">
                                        <a:latin typeface="Cambria Math" panose="02040503050406030204" pitchFamily="18" charset="0"/>
                                      </a:rPr>
                                      <m:t>2</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114.3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25846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b="0" i="1" smtClean="0">
                                        <a:latin typeface="Cambria Math" panose="02040503050406030204" pitchFamily="18" charset="0"/>
                                      </a:rPr>
                                      <m:t>3</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102.7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91443569"/>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110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9650133"/>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129.7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76601233"/>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6</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119.3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446188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52.7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38335151"/>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8</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92</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3430313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9</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42.3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875435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10</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b="0" dirty="0">
                              <a:solidFill>
                                <a:schemeClr val="tx1"/>
                              </a:solidFill>
                              <a:latin typeface="Times New Roman" panose="02020603050405020304" pitchFamily="18" charset="0"/>
                              <a:cs typeface="Times New Roman" panose="02020603050405020304" pitchFamily="18" charset="0"/>
                            </a:rPr>
                            <a:t>20.7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58578841"/>
                      </a:ext>
                    </a:extLst>
                  </a:tr>
                </a:tbl>
              </a:graphicData>
            </a:graphic>
          </p:graphicFrame>
        </mc:Choice>
        <mc:Fallback xmlns="">
          <p:graphicFrame>
            <p:nvGraphicFramePr>
              <p:cNvPr id="7" name="表格 6"/>
              <p:cNvGraphicFramePr>
                <a:graphicFrameLocks noGrp="1"/>
              </p:cNvGraphicFramePr>
              <p:nvPr>
                <p:extLst>
                  <p:ext uri="{D42A27DB-BD31-4B8C-83A1-F6EECF244321}">
                    <p14:modId xmlns:p14="http://schemas.microsoft.com/office/powerpoint/2010/main" val="1411409210"/>
                  </p:ext>
                </p:extLst>
              </p:nvPr>
            </p:nvGraphicFramePr>
            <p:xfrm>
              <a:off x="1858617" y="533572"/>
              <a:ext cx="1560444" cy="5976564"/>
            </p:xfrm>
            <a:graphic>
              <a:graphicData uri="http://schemas.openxmlformats.org/drawingml/2006/table">
                <a:tbl>
                  <a:tblPr firstRow="1" bandRow="1">
                    <a:tableStyleId>{C4B1156A-380E-4F78-BDF5-A606A8083BF9}</a:tableStyleId>
                  </a:tblPr>
                  <a:tblGrid>
                    <a:gridCol w="553131">
                      <a:extLst>
                        <a:ext uri="{9D8B030D-6E8A-4147-A177-3AD203B41FA5}">
                          <a16:colId xmlns:a16="http://schemas.microsoft.com/office/drawing/2014/main" val="2813249117"/>
                        </a:ext>
                      </a:extLst>
                    </a:gridCol>
                    <a:gridCol w="1007313">
                      <a:extLst>
                        <a:ext uri="{9D8B030D-6E8A-4147-A177-3AD203B41FA5}">
                          <a16:colId xmlns:a16="http://schemas.microsoft.com/office/drawing/2014/main" val="4075917071"/>
                        </a:ext>
                      </a:extLst>
                    </a:gridCol>
                  </a:tblGrid>
                  <a:tr h="543324">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2"/>
                          <a:stretch>
                            <a:fillRect l="-55422" t="-1124" r="-1205" b="-1005618"/>
                          </a:stretch>
                        </a:blipFill>
                      </a:tcPr>
                    </a:tc>
                    <a:extLst>
                      <a:ext uri="{0D108BD9-81ED-4DB2-BD59-A6C34878D82A}">
                        <a16:rowId xmlns:a16="http://schemas.microsoft.com/office/drawing/2014/main" val="3681258832"/>
                      </a:ext>
                    </a:extLst>
                  </a:tr>
                  <a:tr h="543324">
                    <a:tc>
                      <a:txBody>
                        <a:bodyPr/>
                        <a:lstStyle/>
                        <a:p>
                          <a:endParaRPr lang="zh-TW"/>
                        </a:p>
                      </a:txBody>
                      <a:tcPr anchor="ctr">
                        <a:blipFill>
                          <a:blip r:embed="rId2"/>
                          <a:stretch>
                            <a:fillRect l="-1099" t="-101124" r="-184615" b="-905618"/>
                          </a:stretch>
                        </a:blipFill>
                      </a:tcP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169</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4109731"/>
                      </a:ext>
                    </a:extLst>
                  </a:tr>
                  <a:tr h="543324">
                    <a:tc>
                      <a:txBody>
                        <a:bodyPr/>
                        <a:lstStyle/>
                        <a:p>
                          <a:endParaRPr lang="zh-TW"/>
                        </a:p>
                      </a:txBody>
                      <a:tcPr anchor="ctr">
                        <a:blipFill>
                          <a:blip r:embed="rId2"/>
                          <a:stretch>
                            <a:fillRect l="-1099" t="-198889" r="-184615" b="-795556"/>
                          </a:stretch>
                        </a:blipFill>
                      </a:tcP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114.3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258467"/>
                      </a:ext>
                    </a:extLst>
                  </a:tr>
                  <a:tr h="543324">
                    <a:tc>
                      <a:txBody>
                        <a:bodyPr/>
                        <a:lstStyle/>
                        <a:p>
                          <a:endParaRPr lang="zh-TW"/>
                        </a:p>
                      </a:txBody>
                      <a:tcPr anchor="ctr">
                        <a:blipFill>
                          <a:blip r:embed="rId2"/>
                          <a:stretch>
                            <a:fillRect l="-1099" t="-302247" r="-184615" b="-704494"/>
                          </a:stretch>
                        </a:blipFill>
                      </a:tcP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102.7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91443569"/>
                      </a:ext>
                    </a:extLst>
                  </a:tr>
                  <a:tr h="543324">
                    <a:tc>
                      <a:txBody>
                        <a:bodyPr/>
                        <a:lstStyle/>
                        <a:p>
                          <a:endParaRPr lang="zh-TW"/>
                        </a:p>
                      </a:txBody>
                      <a:tcPr anchor="ctr">
                        <a:blipFill>
                          <a:blip r:embed="rId2"/>
                          <a:stretch>
                            <a:fillRect l="-1099" t="-402247" r="-184615" b="-604494"/>
                          </a:stretch>
                        </a:blipFill>
                      </a:tcP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110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9650133"/>
                      </a:ext>
                    </a:extLst>
                  </a:tr>
                  <a:tr h="543324">
                    <a:tc>
                      <a:txBody>
                        <a:bodyPr/>
                        <a:lstStyle/>
                        <a:p>
                          <a:endParaRPr lang="zh-TW"/>
                        </a:p>
                      </a:txBody>
                      <a:tcPr anchor="ctr">
                        <a:blipFill>
                          <a:blip r:embed="rId2"/>
                          <a:stretch>
                            <a:fillRect l="-1099" t="-502247" r="-184615" b="-504494"/>
                          </a:stretch>
                        </a:blipFill>
                      </a:tcP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129.7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76601233"/>
                      </a:ext>
                    </a:extLst>
                  </a:tr>
                  <a:tr h="543324">
                    <a:tc>
                      <a:txBody>
                        <a:bodyPr/>
                        <a:lstStyle/>
                        <a:p>
                          <a:endParaRPr lang="zh-TW"/>
                        </a:p>
                      </a:txBody>
                      <a:tcPr anchor="ctr">
                        <a:blipFill>
                          <a:blip r:embed="rId2"/>
                          <a:stretch>
                            <a:fillRect l="-1099" t="-602247" r="-184615" b="-404494"/>
                          </a:stretch>
                        </a:blipFill>
                      </a:tcP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119.3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4461887"/>
                      </a:ext>
                    </a:extLst>
                  </a:tr>
                  <a:tr h="543324">
                    <a:tc>
                      <a:txBody>
                        <a:bodyPr/>
                        <a:lstStyle/>
                        <a:p>
                          <a:endParaRPr lang="zh-TW"/>
                        </a:p>
                      </a:txBody>
                      <a:tcPr anchor="ctr">
                        <a:blipFill>
                          <a:blip r:embed="rId2"/>
                          <a:stretch>
                            <a:fillRect l="-1099" t="-702247" r="-184615" b="-304494"/>
                          </a:stretch>
                        </a:blipFill>
                      </a:tcP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52.7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38335151"/>
                      </a:ext>
                    </a:extLst>
                  </a:tr>
                  <a:tr h="543324">
                    <a:tc>
                      <a:txBody>
                        <a:bodyPr/>
                        <a:lstStyle/>
                        <a:p>
                          <a:endParaRPr lang="zh-TW"/>
                        </a:p>
                      </a:txBody>
                      <a:tcPr anchor="ctr">
                        <a:blipFill>
                          <a:blip r:embed="rId2"/>
                          <a:stretch>
                            <a:fillRect l="-1099" t="-793333" r="-184615" b="-201111"/>
                          </a:stretch>
                        </a:blipFill>
                      </a:tcP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92</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34303137"/>
                      </a:ext>
                    </a:extLst>
                  </a:tr>
                  <a:tr h="543324">
                    <a:tc>
                      <a:txBody>
                        <a:bodyPr/>
                        <a:lstStyle/>
                        <a:p>
                          <a:endParaRPr lang="zh-TW"/>
                        </a:p>
                      </a:txBody>
                      <a:tcPr anchor="ctr">
                        <a:blipFill>
                          <a:blip r:embed="rId2"/>
                          <a:stretch>
                            <a:fillRect l="-1099" t="-903371" r="-184615" b="-103371"/>
                          </a:stretch>
                        </a:blipFill>
                      </a:tcP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42.3</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8754357"/>
                      </a:ext>
                    </a:extLst>
                  </a:tr>
                  <a:tr h="543324">
                    <a:tc>
                      <a:txBody>
                        <a:bodyPr/>
                        <a:lstStyle/>
                        <a:p>
                          <a:endParaRPr lang="zh-TW"/>
                        </a:p>
                      </a:txBody>
                      <a:tcPr anchor="ctr">
                        <a:blipFill>
                          <a:blip r:embed="rId2"/>
                          <a:stretch>
                            <a:fillRect l="-1099" t="-1003371" r="-184615" b="-3371"/>
                          </a:stretch>
                        </a:blipFill>
                      </a:tcPr>
                    </a:tc>
                    <a:tc>
                      <a:txBody>
                        <a:bodyPr/>
                        <a:lstStyle/>
                        <a:p>
                          <a:pPr algn="ctr"/>
                          <a:r>
                            <a:rPr lang="en-US" altLang="zh-TW" sz="1600" b="0" dirty="0" smtClean="0">
                              <a:solidFill>
                                <a:schemeClr val="tx1"/>
                              </a:solidFill>
                              <a:latin typeface="Times New Roman" panose="02020603050405020304" pitchFamily="18" charset="0"/>
                              <a:cs typeface="Times New Roman" panose="02020603050405020304" pitchFamily="18" charset="0"/>
                            </a:rPr>
                            <a:t>20.7</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58578841"/>
                      </a:ext>
                    </a:extLst>
                  </a:tr>
                </a:tbl>
              </a:graphicData>
            </a:graphic>
          </p:graphicFrame>
        </mc:Fallback>
      </mc:AlternateContent>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2771" y="202184"/>
            <a:ext cx="1920245" cy="6639339"/>
          </a:xfrm>
          <a:prstGeom prst="rect">
            <a:avLst/>
          </a:prstGeom>
        </p:spPr>
      </p:pic>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3929557208"/>
                  </p:ext>
                </p:extLst>
              </p:nvPr>
            </p:nvGraphicFramePr>
            <p:xfrm>
              <a:off x="3620918" y="533571"/>
              <a:ext cx="1560444" cy="5976564"/>
            </p:xfrm>
            <a:graphic>
              <a:graphicData uri="http://schemas.openxmlformats.org/drawingml/2006/table">
                <a:tbl>
                  <a:tblPr firstRow="1" bandRow="1">
                    <a:tableStyleId>{C4B1156A-380E-4F78-BDF5-A606A8083BF9}</a:tableStyleId>
                  </a:tblPr>
                  <a:tblGrid>
                    <a:gridCol w="553131">
                      <a:extLst>
                        <a:ext uri="{9D8B030D-6E8A-4147-A177-3AD203B41FA5}">
                          <a16:colId xmlns:a16="http://schemas.microsoft.com/office/drawing/2014/main" val="2813249117"/>
                        </a:ext>
                      </a:extLst>
                    </a:gridCol>
                    <a:gridCol w="1007313">
                      <a:extLst>
                        <a:ext uri="{9D8B030D-6E8A-4147-A177-3AD203B41FA5}">
                          <a16:colId xmlns:a16="http://schemas.microsoft.com/office/drawing/2014/main" val="4075917071"/>
                        </a:ext>
                      </a:extLst>
                    </a:gridCol>
                  </a:tblGrid>
                  <a:tr h="543324">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sz="1600" b="0" i="1" smtClean="0">
                                    <a:solidFill>
                                      <a:schemeClr val="tx1"/>
                                    </a:solidFill>
                                    <a:latin typeface="Cambria Math" panose="02040503050406030204" pitchFamily="18" charset="0"/>
                                    <a:cs typeface="Times New Roman" panose="02020603050405020304" pitchFamily="18" charset="0"/>
                                  </a:rPr>
                                  <m:t>順序</m:t>
                                </m:r>
                              </m:oMath>
                            </m:oMathPara>
                          </a14:m>
                          <a:endParaRPr lang="zh-TW" altLang="en-US" sz="1600" b="0"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81258832"/>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i="1" smtClean="0">
                                    <a:latin typeface="Cambria Math" panose="02040503050406030204" pitchFamily="18" charset="0"/>
                                  </a:rPr>
                                  <m:t>1</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1</m:t>
                                    </m:r>
                                  </m:sub>
                                </m:sSub>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4109731"/>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i="1" smtClean="0">
                                    <a:latin typeface="Cambria Math" panose="02040503050406030204" pitchFamily="18" charset="0"/>
                                  </a:rPr>
                                  <m:t>2</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sub>
                                </m:sSub>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25846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i="1" smtClean="0">
                                    <a:latin typeface="Cambria Math" panose="02040503050406030204" pitchFamily="18" charset="0"/>
                                  </a:rPr>
                                  <m:t>3</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6</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91443569"/>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9650133"/>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76601233"/>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6</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b="0" i="1" smtClean="0">
                                        <a:latin typeface="Cambria Math" panose="02040503050406030204" pitchFamily="18" charset="0"/>
                                      </a:rPr>
                                      <m:t>3</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446188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8</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38335151"/>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8</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3430313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9</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9</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875435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10</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10</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58578841"/>
                      </a:ext>
                    </a:extLst>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3929557208"/>
                  </p:ext>
                </p:extLst>
              </p:nvPr>
            </p:nvGraphicFramePr>
            <p:xfrm>
              <a:off x="3620918" y="533571"/>
              <a:ext cx="1560444" cy="5976564"/>
            </p:xfrm>
            <a:graphic>
              <a:graphicData uri="http://schemas.openxmlformats.org/drawingml/2006/table">
                <a:tbl>
                  <a:tblPr firstRow="1" bandRow="1">
                    <a:tableStyleId>{C4B1156A-380E-4F78-BDF5-A606A8083BF9}</a:tableStyleId>
                  </a:tblPr>
                  <a:tblGrid>
                    <a:gridCol w="553131">
                      <a:extLst>
                        <a:ext uri="{9D8B030D-6E8A-4147-A177-3AD203B41FA5}">
                          <a16:colId xmlns:a16="http://schemas.microsoft.com/office/drawing/2014/main" val="2813249117"/>
                        </a:ext>
                      </a:extLst>
                    </a:gridCol>
                    <a:gridCol w="1007313">
                      <a:extLst>
                        <a:ext uri="{9D8B030D-6E8A-4147-A177-3AD203B41FA5}">
                          <a16:colId xmlns:a16="http://schemas.microsoft.com/office/drawing/2014/main" val="4075917071"/>
                        </a:ext>
                      </a:extLst>
                    </a:gridCol>
                  </a:tblGrid>
                  <a:tr h="543324">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4"/>
                          <a:stretch>
                            <a:fillRect l="-55422" t="-1124" r="-1807" b="-1005618"/>
                          </a:stretch>
                        </a:blipFill>
                      </a:tcPr>
                    </a:tc>
                    <a:extLst>
                      <a:ext uri="{0D108BD9-81ED-4DB2-BD59-A6C34878D82A}">
                        <a16:rowId xmlns:a16="http://schemas.microsoft.com/office/drawing/2014/main" val="3681258832"/>
                      </a:ext>
                    </a:extLst>
                  </a:tr>
                  <a:tr h="543324">
                    <a:tc>
                      <a:txBody>
                        <a:bodyPr/>
                        <a:lstStyle/>
                        <a:p>
                          <a:endParaRPr lang="zh-TW"/>
                        </a:p>
                      </a:txBody>
                      <a:tcPr anchor="ctr">
                        <a:blipFill>
                          <a:blip r:embed="rId4"/>
                          <a:stretch>
                            <a:fillRect l="-1099" t="-101124" r="-185714" b="-905618"/>
                          </a:stretch>
                        </a:blipFill>
                      </a:tcPr>
                    </a:tc>
                    <a:tc>
                      <a:txBody>
                        <a:bodyPr/>
                        <a:lstStyle/>
                        <a:p>
                          <a:endParaRPr lang="zh-TW"/>
                        </a:p>
                      </a:txBody>
                      <a:tcPr anchor="ctr">
                        <a:blipFill>
                          <a:blip r:embed="rId4"/>
                          <a:stretch>
                            <a:fillRect l="-55422" t="-101124" r="-1807" b="-905618"/>
                          </a:stretch>
                        </a:blipFill>
                      </a:tcPr>
                    </a:tc>
                    <a:extLst>
                      <a:ext uri="{0D108BD9-81ED-4DB2-BD59-A6C34878D82A}">
                        <a16:rowId xmlns:a16="http://schemas.microsoft.com/office/drawing/2014/main" val="364109731"/>
                      </a:ext>
                    </a:extLst>
                  </a:tr>
                  <a:tr h="543324">
                    <a:tc>
                      <a:txBody>
                        <a:bodyPr/>
                        <a:lstStyle/>
                        <a:p>
                          <a:endParaRPr lang="zh-TW"/>
                        </a:p>
                      </a:txBody>
                      <a:tcPr anchor="ctr">
                        <a:blipFill>
                          <a:blip r:embed="rId4"/>
                          <a:stretch>
                            <a:fillRect l="-1099" t="-198889" r="-185714" b="-795556"/>
                          </a:stretch>
                        </a:blipFill>
                      </a:tcPr>
                    </a:tc>
                    <a:tc>
                      <a:txBody>
                        <a:bodyPr/>
                        <a:lstStyle/>
                        <a:p>
                          <a:endParaRPr lang="zh-TW"/>
                        </a:p>
                      </a:txBody>
                      <a:tcPr anchor="ctr">
                        <a:blipFill>
                          <a:blip r:embed="rId4"/>
                          <a:stretch>
                            <a:fillRect l="-55422" t="-198889" r="-1807" b="-795556"/>
                          </a:stretch>
                        </a:blipFill>
                      </a:tcPr>
                    </a:tc>
                    <a:extLst>
                      <a:ext uri="{0D108BD9-81ED-4DB2-BD59-A6C34878D82A}">
                        <a16:rowId xmlns:a16="http://schemas.microsoft.com/office/drawing/2014/main" val="4063258467"/>
                      </a:ext>
                    </a:extLst>
                  </a:tr>
                  <a:tr h="543324">
                    <a:tc>
                      <a:txBody>
                        <a:bodyPr/>
                        <a:lstStyle/>
                        <a:p>
                          <a:endParaRPr lang="zh-TW"/>
                        </a:p>
                      </a:txBody>
                      <a:tcPr anchor="ctr">
                        <a:blipFill>
                          <a:blip r:embed="rId4"/>
                          <a:stretch>
                            <a:fillRect l="-1099" t="-302247" r="-185714" b="-704494"/>
                          </a:stretch>
                        </a:blipFill>
                      </a:tcPr>
                    </a:tc>
                    <a:tc>
                      <a:txBody>
                        <a:bodyPr/>
                        <a:lstStyle/>
                        <a:p>
                          <a:endParaRPr lang="zh-TW"/>
                        </a:p>
                      </a:txBody>
                      <a:tcPr anchor="ctr">
                        <a:blipFill>
                          <a:blip r:embed="rId4"/>
                          <a:stretch>
                            <a:fillRect l="-55422" t="-302247" r="-1807" b="-704494"/>
                          </a:stretch>
                        </a:blipFill>
                      </a:tcPr>
                    </a:tc>
                    <a:extLst>
                      <a:ext uri="{0D108BD9-81ED-4DB2-BD59-A6C34878D82A}">
                        <a16:rowId xmlns:a16="http://schemas.microsoft.com/office/drawing/2014/main" val="3391443569"/>
                      </a:ext>
                    </a:extLst>
                  </a:tr>
                  <a:tr h="543324">
                    <a:tc>
                      <a:txBody>
                        <a:bodyPr/>
                        <a:lstStyle/>
                        <a:p>
                          <a:endParaRPr lang="zh-TW"/>
                        </a:p>
                      </a:txBody>
                      <a:tcPr anchor="ctr">
                        <a:blipFill>
                          <a:blip r:embed="rId4"/>
                          <a:stretch>
                            <a:fillRect l="-1099" t="-402247" r="-185714" b="-604494"/>
                          </a:stretch>
                        </a:blipFill>
                      </a:tcPr>
                    </a:tc>
                    <a:tc>
                      <a:txBody>
                        <a:bodyPr/>
                        <a:lstStyle/>
                        <a:p>
                          <a:endParaRPr lang="zh-TW"/>
                        </a:p>
                      </a:txBody>
                      <a:tcPr anchor="ctr">
                        <a:blipFill>
                          <a:blip r:embed="rId4"/>
                          <a:stretch>
                            <a:fillRect l="-55422" t="-402247" r="-1807" b="-604494"/>
                          </a:stretch>
                        </a:blipFill>
                      </a:tcPr>
                    </a:tc>
                    <a:extLst>
                      <a:ext uri="{0D108BD9-81ED-4DB2-BD59-A6C34878D82A}">
                        <a16:rowId xmlns:a16="http://schemas.microsoft.com/office/drawing/2014/main" val="2139650133"/>
                      </a:ext>
                    </a:extLst>
                  </a:tr>
                  <a:tr h="543324">
                    <a:tc>
                      <a:txBody>
                        <a:bodyPr/>
                        <a:lstStyle/>
                        <a:p>
                          <a:endParaRPr lang="zh-TW"/>
                        </a:p>
                      </a:txBody>
                      <a:tcPr anchor="ctr">
                        <a:blipFill>
                          <a:blip r:embed="rId4"/>
                          <a:stretch>
                            <a:fillRect l="-1099" t="-502247" r="-185714" b="-504494"/>
                          </a:stretch>
                        </a:blipFill>
                      </a:tcPr>
                    </a:tc>
                    <a:tc>
                      <a:txBody>
                        <a:bodyPr/>
                        <a:lstStyle/>
                        <a:p>
                          <a:endParaRPr lang="zh-TW"/>
                        </a:p>
                      </a:txBody>
                      <a:tcPr anchor="ctr">
                        <a:blipFill>
                          <a:blip r:embed="rId4"/>
                          <a:stretch>
                            <a:fillRect l="-55422" t="-502247" r="-1807" b="-504494"/>
                          </a:stretch>
                        </a:blipFill>
                      </a:tcPr>
                    </a:tc>
                    <a:extLst>
                      <a:ext uri="{0D108BD9-81ED-4DB2-BD59-A6C34878D82A}">
                        <a16:rowId xmlns:a16="http://schemas.microsoft.com/office/drawing/2014/main" val="2076601233"/>
                      </a:ext>
                    </a:extLst>
                  </a:tr>
                  <a:tr h="543324">
                    <a:tc>
                      <a:txBody>
                        <a:bodyPr/>
                        <a:lstStyle/>
                        <a:p>
                          <a:endParaRPr lang="zh-TW"/>
                        </a:p>
                      </a:txBody>
                      <a:tcPr anchor="ctr">
                        <a:blipFill>
                          <a:blip r:embed="rId4"/>
                          <a:stretch>
                            <a:fillRect l="-1099" t="-602247" r="-185714" b="-404494"/>
                          </a:stretch>
                        </a:blipFill>
                      </a:tcPr>
                    </a:tc>
                    <a:tc>
                      <a:txBody>
                        <a:bodyPr/>
                        <a:lstStyle/>
                        <a:p>
                          <a:endParaRPr lang="zh-TW"/>
                        </a:p>
                      </a:txBody>
                      <a:tcPr anchor="ctr">
                        <a:blipFill>
                          <a:blip r:embed="rId4"/>
                          <a:stretch>
                            <a:fillRect l="-55422" t="-602247" r="-1807" b="-404494"/>
                          </a:stretch>
                        </a:blipFill>
                      </a:tcPr>
                    </a:tc>
                    <a:extLst>
                      <a:ext uri="{0D108BD9-81ED-4DB2-BD59-A6C34878D82A}">
                        <a16:rowId xmlns:a16="http://schemas.microsoft.com/office/drawing/2014/main" val="3164461887"/>
                      </a:ext>
                    </a:extLst>
                  </a:tr>
                  <a:tr h="543324">
                    <a:tc>
                      <a:txBody>
                        <a:bodyPr/>
                        <a:lstStyle/>
                        <a:p>
                          <a:endParaRPr lang="zh-TW"/>
                        </a:p>
                      </a:txBody>
                      <a:tcPr anchor="ctr">
                        <a:blipFill>
                          <a:blip r:embed="rId4"/>
                          <a:stretch>
                            <a:fillRect l="-1099" t="-702247" r="-185714" b="-304494"/>
                          </a:stretch>
                        </a:blipFill>
                      </a:tcPr>
                    </a:tc>
                    <a:tc>
                      <a:txBody>
                        <a:bodyPr/>
                        <a:lstStyle/>
                        <a:p>
                          <a:endParaRPr lang="zh-TW"/>
                        </a:p>
                      </a:txBody>
                      <a:tcPr anchor="ctr">
                        <a:blipFill>
                          <a:blip r:embed="rId4"/>
                          <a:stretch>
                            <a:fillRect l="-55422" t="-702247" r="-1807" b="-304494"/>
                          </a:stretch>
                        </a:blipFill>
                      </a:tcPr>
                    </a:tc>
                    <a:extLst>
                      <a:ext uri="{0D108BD9-81ED-4DB2-BD59-A6C34878D82A}">
                        <a16:rowId xmlns:a16="http://schemas.microsoft.com/office/drawing/2014/main" val="3038335151"/>
                      </a:ext>
                    </a:extLst>
                  </a:tr>
                  <a:tr h="543324">
                    <a:tc>
                      <a:txBody>
                        <a:bodyPr/>
                        <a:lstStyle/>
                        <a:p>
                          <a:endParaRPr lang="zh-TW"/>
                        </a:p>
                      </a:txBody>
                      <a:tcPr anchor="ctr">
                        <a:blipFill>
                          <a:blip r:embed="rId4"/>
                          <a:stretch>
                            <a:fillRect l="-1099" t="-793333" r="-185714" b="-201111"/>
                          </a:stretch>
                        </a:blipFill>
                      </a:tcPr>
                    </a:tc>
                    <a:tc>
                      <a:txBody>
                        <a:bodyPr/>
                        <a:lstStyle/>
                        <a:p>
                          <a:endParaRPr lang="zh-TW"/>
                        </a:p>
                      </a:txBody>
                      <a:tcPr anchor="ctr">
                        <a:blipFill>
                          <a:blip r:embed="rId4"/>
                          <a:stretch>
                            <a:fillRect l="-55422" t="-793333" r="-1807" b="-201111"/>
                          </a:stretch>
                        </a:blipFill>
                      </a:tcPr>
                    </a:tc>
                    <a:extLst>
                      <a:ext uri="{0D108BD9-81ED-4DB2-BD59-A6C34878D82A}">
                        <a16:rowId xmlns:a16="http://schemas.microsoft.com/office/drawing/2014/main" val="1534303137"/>
                      </a:ext>
                    </a:extLst>
                  </a:tr>
                  <a:tr h="543324">
                    <a:tc>
                      <a:txBody>
                        <a:bodyPr/>
                        <a:lstStyle/>
                        <a:p>
                          <a:endParaRPr lang="zh-TW"/>
                        </a:p>
                      </a:txBody>
                      <a:tcPr anchor="ctr">
                        <a:blipFill>
                          <a:blip r:embed="rId4"/>
                          <a:stretch>
                            <a:fillRect l="-1099" t="-903371" r="-185714" b="-103371"/>
                          </a:stretch>
                        </a:blipFill>
                      </a:tcPr>
                    </a:tc>
                    <a:tc>
                      <a:txBody>
                        <a:bodyPr/>
                        <a:lstStyle/>
                        <a:p>
                          <a:endParaRPr lang="zh-TW"/>
                        </a:p>
                      </a:txBody>
                      <a:tcPr anchor="ctr">
                        <a:blipFill>
                          <a:blip r:embed="rId4"/>
                          <a:stretch>
                            <a:fillRect l="-55422" t="-903371" r="-1807" b="-103371"/>
                          </a:stretch>
                        </a:blipFill>
                      </a:tcPr>
                    </a:tc>
                    <a:extLst>
                      <a:ext uri="{0D108BD9-81ED-4DB2-BD59-A6C34878D82A}">
                        <a16:rowId xmlns:a16="http://schemas.microsoft.com/office/drawing/2014/main" val="421875435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10</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4"/>
                          <a:stretch>
                            <a:fillRect l="-55422" t="-1003371" r="-1807" b="-3371"/>
                          </a:stretch>
                        </a:blipFill>
                      </a:tcPr>
                    </a:tc>
                    <a:extLst>
                      <a:ext uri="{0D108BD9-81ED-4DB2-BD59-A6C34878D82A}">
                        <a16:rowId xmlns:a16="http://schemas.microsoft.com/office/drawing/2014/main" val="3258578841"/>
                      </a:ext>
                    </a:extLst>
                  </a:tr>
                </a:tbl>
              </a:graphicData>
            </a:graphic>
          </p:graphicFrame>
        </mc:Fallback>
      </mc:AlternateContent>
    </p:spTree>
    <p:extLst>
      <p:ext uri="{BB962C8B-B14F-4D97-AF65-F5344CB8AC3E}">
        <p14:creationId xmlns:p14="http://schemas.microsoft.com/office/powerpoint/2010/main" val="534985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161648"/>
            <a:ext cx="7886700" cy="1325563"/>
          </a:xfrm>
        </p:spPr>
        <p:txBody>
          <a:bodyPr/>
          <a:lstStyle/>
          <a:p>
            <a:r>
              <a:rPr lang="en-US" altLang="zh-TW" dirty="0">
                <a:latin typeface="Times New Roman" panose="02020603050405020304" pitchFamily="18" charset="0"/>
                <a:cs typeface="Times New Roman" panose="02020603050405020304" pitchFamily="18" charset="0"/>
              </a:rPr>
              <a:t>PEFT</a:t>
            </a:r>
            <a:endParaRPr lang="zh-TW" altLang="en-US"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16" y="3136580"/>
            <a:ext cx="6783915" cy="3279911"/>
          </a:xfrm>
          <a:prstGeom prst="rect">
            <a:avLst/>
          </a:prstGeom>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0231" y="150647"/>
            <a:ext cx="1913578" cy="6581274"/>
          </a:xfrm>
          <a:prstGeom prst="rect">
            <a:avLst/>
          </a:prstGeom>
        </p:spPr>
      </p:pic>
      <p:pic>
        <p:nvPicPr>
          <p:cNvPr id="7" name="圖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7871" y="236050"/>
            <a:ext cx="3500099" cy="2620966"/>
          </a:xfrm>
          <a:prstGeom prst="rect">
            <a:avLst/>
          </a:prstGeom>
        </p:spPr>
      </p:pic>
      <p:pic>
        <p:nvPicPr>
          <p:cNvPr id="8" name="圖片 7">
            <a:extLst>
              <a:ext uri="{FF2B5EF4-FFF2-40B4-BE49-F238E27FC236}">
                <a16:creationId xmlns:a16="http://schemas.microsoft.com/office/drawing/2014/main" id="{F18BDE19-C859-4D3A-9970-0BC0A229AAA5}"/>
              </a:ext>
            </a:extLst>
          </p:cNvPr>
          <p:cNvPicPr>
            <a:picLocks noChangeAspect="1"/>
          </p:cNvPicPr>
          <p:nvPr/>
        </p:nvPicPr>
        <p:blipFill rotWithShape="1">
          <a:blip r:embed="rId5">
            <a:extLst>
              <a:ext uri="{28A0092B-C50C-407E-A947-70E740481C1C}">
                <a14:useLocalDpi xmlns:a14="http://schemas.microsoft.com/office/drawing/2010/main" val="0"/>
              </a:ext>
            </a:extLst>
          </a:blip>
          <a:srcRect l="70337" t="11923" r="-16796" b="5540"/>
          <a:stretch/>
        </p:blipFill>
        <p:spPr>
          <a:xfrm>
            <a:off x="517831" y="47593"/>
            <a:ext cx="2755552" cy="2791772"/>
          </a:xfrm>
          <a:prstGeom prst="rect">
            <a:avLst/>
          </a:prstGeom>
        </p:spPr>
      </p:pic>
    </p:spTree>
    <p:extLst>
      <p:ext uri="{BB962C8B-B14F-4D97-AF65-F5344CB8AC3E}">
        <p14:creationId xmlns:p14="http://schemas.microsoft.com/office/powerpoint/2010/main" val="87875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998" y="6301774"/>
            <a:ext cx="7717996" cy="337566"/>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8127" y="153014"/>
            <a:ext cx="6878010" cy="4639322"/>
          </a:xfrm>
          <a:prstGeom prst="rect">
            <a:avLst/>
          </a:prstGeom>
        </p:spPr>
      </p:pic>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extLst>
                  <p:ext uri="{D42A27DB-BD31-4B8C-83A1-F6EECF244321}">
                    <p14:modId xmlns:p14="http://schemas.microsoft.com/office/powerpoint/2010/main" val="4178280000"/>
                  </p:ext>
                </p:extLst>
              </p:nvPr>
            </p:nvGraphicFramePr>
            <p:xfrm>
              <a:off x="237998" y="153014"/>
              <a:ext cx="1560444" cy="5976564"/>
            </p:xfrm>
            <a:graphic>
              <a:graphicData uri="http://schemas.openxmlformats.org/drawingml/2006/table">
                <a:tbl>
                  <a:tblPr firstRow="1" bandRow="1">
                    <a:tableStyleId>{C4B1156A-380E-4F78-BDF5-A606A8083BF9}</a:tableStyleId>
                  </a:tblPr>
                  <a:tblGrid>
                    <a:gridCol w="553131">
                      <a:extLst>
                        <a:ext uri="{9D8B030D-6E8A-4147-A177-3AD203B41FA5}">
                          <a16:colId xmlns:a16="http://schemas.microsoft.com/office/drawing/2014/main" val="2813249117"/>
                        </a:ext>
                      </a:extLst>
                    </a:gridCol>
                    <a:gridCol w="1007313">
                      <a:extLst>
                        <a:ext uri="{9D8B030D-6E8A-4147-A177-3AD203B41FA5}">
                          <a16:colId xmlns:a16="http://schemas.microsoft.com/office/drawing/2014/main" val="4075917071"/>
                        </a:ext>
                      </a:extLst>
                    </a:gridCol>
                  </a:tblGrid>
                  <a:tr h="543324">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sz="1600" b="0" i="1" smtClean="0">
                                    <a:solidFill>
                                      <a:schemeClr val="tx1"/>
                                    </a:solidFill>
                                    <a:latin typeface="Cambria Math" panose="02040503050406030204" pitchFamily="18" charset="0"/>
                                    <a:cs typeface="Times New Roman" panose="02020603050405020304" pitchFamily="18" charset="0"/>
                                  </a:rPr>
                                  <m:t>順序</m:t>
                                </m:r>
                              </m:oMath>
                            </m:oMathPara>
                          </a14:m>
                          <a:endParaRPr lang="zh-TW" altLang="en-US" sz="1600" b="0"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81258832"/>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i="1" smtClean="0">
                                    <a:latin typeface="Cambria Math" panose="02040503050406030204" pitchFamily="18" charset="0"/>
                                  </a:rPr>
                                  <m:t>1</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1</m:t>
                                    </m:r>
                                  </m:sub>
                                </m:sSub>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4109731"/>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i="1" smtClean="0">
                                    <a:latin typeface="Cambria Math" panose="02040503050406030204" pitchFamily="18" charset="0"/>
                                  </a:rPr>
                                  <m:t>2</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sub>
                                </m:sSub>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25846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i="1" smtClean="0">
                                    <a:latin typeface="Cambria Math" panose="02040503050406030204" pitchFamily="18" charset="0"/>
                                  </a:rPr>
                                  <m:t>3</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6</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91443569"/>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9650133"/>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76601233"/>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6</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b="0" i="1" smtClean="0">
                                        <a:latin typeface="Cambria Math" panose="02040503050406030204" pitchFamily="18" charset="0"/>
                                      </a:rPr>
                                      <m:t>3</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446188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8</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38335151"/>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8</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3430313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9</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9</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875435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10</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10</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58578841"/>
                      </a:ext>
                    </a:extLst>
                  </a:tr>
                </a:tbl>
              </a:graphicData>
            </a:graphic>
          </p:graphicFrame>
        </mc:Choice>
        <mc:Fallback xmlns="">
          <p:graphicFrame>
            <p:nvGraphicFramePr>
              <p:cNvPr id="7" name="表格 6"/>
              <p:cNvGraphicFramePr>
                <a:graphicFrameLocks noGrp="1"/>
              </p:cNvGraphicFramePr>
              <p:nvPr>
                <p:extLst>
                  <p:ext uri="{D42A27DB-BD31-4B8C-83A1-F6EECF244321}">
                    <p14:modId xmlns:p14="http://schemas.microsoft.com/office/powerpoint/2010/main" val="4178280000"/>
                  </p:ext>
                </p:extLst>
              </p:nvPr>
            </p:nvGraphicFramePr>
            <p:xfrm>
              <a:off x="237998" y="153014"/>
              <a:ext cx="1560444" cy="5976564"/>
            </p:xfrm>
            <a:graphic>
              <a:graphicData uri="http://schemas.openxmlformats.org/drawingml/2006/table">
                <a:tbl>
                  <a:tblPr firstRow="1" bandRow="1">
                    <a:tableStyleId>{C4B1156A-380E-4F78-BDF5-A606A8083BF9}</a:tableStyleId>
                  </a:tblPr>
                  <a:tblGrid>
                    <a:gridCol w="553131">
                      <a:extLst>
                        <a:ext uri="{9D8B030D-6E8A-4147-A177-3AD203B41FA5}">
                          <a16:colId xmlns:a16="http://schemas.microsoft.com/office/drawing/2014/main" val="2813249117"/>
                        </a:ext>
                      </a:extLst>
                    </a:gridCol>
                    <a:gridCol w="1007313">
                      <a:extLst>
                        <a:ext uri="{9D8B030D-6E8A-4147-A177-3AD203B41FA5}">
                          <a16:colId xmlns:a16="http://schemas.microsoft.com/office/drawing/2014/main" val="4075917071"/>
                        </a:ext>
                      </a:extLst>
                    </a:gridCol>
                  </a:tblGrid>
                  <a:tr h="543324">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4"/>
                          <a:stretch>
                            <a:fillRect l="-55422" t="-1124" r="-1205" b="-1004494"/>
                          </a:stretch>
                        </a:blipFill>
                      </a:tcPr>
                    </a:tc>
                    <a:extLst>
                      <a:ext uri="{0D108BD9-81ED-4DB2-BD59-A6C34878D82A}">
                        <a16:rowId xmlns:a16="http://schemas.microsoft.com/office/drawing/2014/main" val="3681258832"/>
                      </a:ext>
                    </a:extLst>
                  </a:tr>
                  <a:tr h="543324">
                    <a:tc>
                      <a:txBody>
                        <a:bodyPr/>
                        <a:lstStyle/>
                        <a:p>
                          <a:endParaRPr lang="zh-TW"/>
                        </a:p>
                      </a:txBody>
                      <a:tcPr anchor="ctr">
                        <a:blipFill>
                          <a:blip r:embed="rId4"/>
                          <a:stretch>
                            <a:fillRect l="-1099" t="-101124" r="-184615" b="-904494"/>
                          </a:stretch>
                        </a:blipFill>
                      </a:tcPr>
                    </a:tc>
                    <a:tc>
                      <a:txBody>
                        <a:bodyPr/>
                        <a:lstStyle/>
                        <a:p>
                          <a:endParaRPr lang="zh-TW"/>
                        </a:p>
                      </a:txBody>
                      <a:tcPr anchor="ctr">
                        <a:blipFill>
                          <a:blip r:embed="rId4"/>
                          <a:stretch>
                            <a:fillRect l="-55422" t="-101124" r="-1205" b="-904494"/>
                          </a:stretch>
                        </a:blipFill>
                      </a:tcPr>
                    </a:tc>
                    <a:extLst>
                      <a:ext uri="{0D108BD9-81ED-4DB2-BD59-A6C34878D82A}">
                        <a16:rowId xmlns:a16="http://schemas.microsoft.com/office/drawing/2014/main" val="364109731"/>
                      </a:ext>
                    </a:extLst>
                  </a:tr>
                  <a:tr h="543324">
                    <a:tc>
                      <a:txBody>
                        <a:bodyPr/>
                        <a:lstStyle/>
                        <a:p>
                          <a:endParaRPr lang="zh-TW"/>
                        </a:p>
                      </a:txBody>
                      <a:tcPr anchor="ctr">
                        <a:blipFill>
                          <a:blip r:embed="rId4"/>
                          <a:stretch>
                            <a:fillRect l="-1099" t="-198889" r="-184615" b="-794444"/>
                          </a:stretch>
                        </a:blipFill>
                      </a:tcPr>
                    </a:tc>
                    <a:tc>
                      <a:txBody>
                        <a:bodyPr/>
                        <a:lstStyle/>
                        <a:p>
                          <a:endParaRPr lang="zh-TW"/>
                        </a:p>
                      </a:txBody>
                      <a:tcPr anchor="ctr">
                        <a:blipFill>
                          <a:blip r:embed="rId4"/>
                          <a:stretch>
                            <a:fillRect l="-55422" t="-198889" r="-1205" b="-794444"/>
                          </a:stretch>
                        </a:blipFill>
                      </a:tcPr>
                    </a:tc>
                    <a:extLst>
                      <a:ext uri="{0D108BD9-81ED-4DB2-BD59-A6C34878D82A}">
                        <a16:rowId xmlns:a16="http://schemas.microsoft.com/office/drawing/2014/main" val="4063258467"/>
                      </a:ext>
                    </a:extLst>
                  </a:tr>
                  <a:tr h="543324">
                    <a:tc>
                      <a:txBody>
                        <a:bodyPr/>
                        <a:lstStyle/>
                        <a:p>
                          <a:endParaRPr lang="zh-TW"/>
                        </a:p>
                      </a:txBody>
                      <a:tcPr anchor="ctr">
                        <a:blipFill>
                          <a:blip r:embed="rId4"/>
                          <a:stretch>
                            <a:fillRect l="-1099" t="-302247" r="-184615" b="-703371"/>
                          </a:stretch>
                        </a:blipFill>
                      </a:tcPr>
                    </a:tc>
                    <a:tc>
                      <a:txBody>
                        <a:bodyPr/>
                        <a:lstStyle/>
                        <a:p>
                          <a:endParaRPr lang="zh-TW"/>
                        </a:p>
                      </a:txBody>
                      <a:tcPr anchor="ctr">
                        <a:blipFill>
                          <a:blip r:embed="rId4"/>
                          <a:stretch>
                            <a:fillRect l="-55422" t="-302247" r="-1205" b="-703371"/>
                          </a:stretch>
                        </a:blipFill>
                      </a:tcPr>
                    </a:tc>
                    <a:extLst>
                      <a:ext uri="{0D108BD9-81ED-4DB2-BD59-A6C34878D82A}">
                        <a16:rowId xmlns:a16="http://schemas.microsoft.com/office/drawing/2014/main" val="3391443569"/>
                      </a:ext>
                    </a:extLst>
                  </a:tr>
                  <a:tr h="543324">
                    <a:tc>
                      <a:txBody>
                        <a:bodyPr/>
                        <a:lstStyle/>
                        <a:p>
                          <a:endParaRPr lang="zh-TW"/>
                        </a:p>
                      </a:txBody>
                      <a:tcPr anchor="ctr">
                        <a:blipFill>
                          <a:blip r:embed="rId4"/>
                          <a:stretch>
                            <a:fillRect l="-1099" t="-402247" r="-184615" b="-603371"/>
                          </a:stretch>
                        </a:blipFill>
                      </a:tcPr>
                    </a:tc>
                    <a:tc>
                      <a:txBody>
                        <a:bodyPr/>
                        <a:lstStyle/>
                        <a:p>
                          <a:endParaRPr lang="zh-TW"/>
                        </a:p>
                      </a:txBody>
                      <a:tcPr anchor="ctr">
                        <a:blipFill>
                          <a:blip r:embed="rId4"/>
                          <a:stretch>
                            <a:fillRect l="-55422" t="-402247" r="-1205" b="-603371"/>
                          </a:stretch>
                        </a:blipFill>
                      </a:tcPr>
                    </a:tc>
                    <a:extLst>
                      <a:ext uri="{0D108BD9-81ED-4DB2-BD59-A6C34878D82A}">
                        <a16:rowId xmlns:a16="http://schemas.microsoft.com/office/drawing/2014/main" val="2139650133"/>
                      </a:ext>
                    </a:extLst>
                  </a:tr>
                  <a:tr h="543324">
                    <a:tc>
                      <a:txBody>
                        <a:bodyPr/>
                        <a:lstStyle/>
                        <a:p>
                          <a:endParaRPr lang="zh-TW"/>
                        </a:p>
                      </a:txBody>
                      <a:tcPr anchor="ctr">
                        <a:blipFill>
                          <a:blip r:embed="rId4"/>
                          <a:stretch>
                            <a:fillRect l="-1099" t="-502247" r="-184615" b="-503371"/>
                          </a:stretch>
                        </a:blipFill>
                      </a:tcPr>
                    </a:tc>
                    <a:tc>
                      <a:txBody>
                        <a:bodyPr/>
                        <a:lstStyle/>
                        <a:p>
                          <a:endParaRPr lang="zh-TW"/>
                        </a:p>
                      </a:txBody>
                      <a:tcPr anchor="ctr">
                        <a:blipFill>
                          <a:blip r:embed="rId4"/>
                          <a:stretch>
                            <a:fillRect l="-55422" t="-502247" r="-1205" b="-503371"/>
                          </a:stretch>
                        </a:blipFill>
                      </a:tcPr>
                    </a:tc>
                    <a:extLst>
                      <a:ext uri="{0D108BD9-81ED-4DB2-BD59-A6C34878D82A}">
                        <a16:rowId xmlns:a16="http://schemas.microsoft.com/office/drawing/2014/main" val="2076601233"/>
                      </a:ext>
                    </a:extLst>
                  </a:tr>
                  <a:tr h="543324">
                    <a:tc>
                      <a:txBody>
                        <a:bodyPr/>
                        <a:lstStyle/>
                        <a:p>
                          <a:endParaRPr lang="zh-TW"/>
                        </a:p>
                      </a:txBody>
                      <a:tcPr anchor="ctr">
                        <a:blipFill>
                          <a:blip r:embed="rId4"/>
                          <a:stretch>
                            <a:fillRect l="-1099" t="-602247" r="-184615" b="-403371"/>
                          </a:stretch>
                        </a:blipFill>
                      </a:tcPr>
                    </a:tc>
                    <a:tc>
                      <a:txBody>
                        <a:bodyPr/>
                        <a:lstStyle/>
                        <a:p>
                          <a:endParaRPr lang="zh-TW"/>
                        </a:p>
                      </a:txBody>
                      <a:tcPr anchor="ctr">
                        <a:blipFill>
                          <a:blip r:embed="rId4"/>
                          <a:stretch>
                            <a:fillRect l="-55422" t="-602247" r="-1205" b="-403371"/>
                          </a:stretch>
                        </a:blipFill>
                      </a:tcPr>
                    </a:tc>
                    <a:extLst>
                      <a:ext uri="{0D108BD9-81ED-4DB2-BD59-A6C34878D82A}">
                        <a16:rowId xmlns:a16="http://schemas.microsoft.com/office/drawing/2014/main" val="3164461887"/>
                      </a:ext>
                    </a:extLst>
                  </a:tr>
                  <a:tr h="543324">
                    <a:tc>
                      <a:txBody>
                        <a:bodyPr/>
                        <a:lstStyle/>
                        <a:p>
                          <a:endParaRPr lang="zh-TW"/>
                        </a:p>
                      </a:txBody>
                      <a:tcPr anchor="ctr">
                        <a:blipFill>
                          <a:blip r:embed="rId4"/>
                          <a:stretch>
                            <a:fillRect l="-1099" t="-702247" r="-184615" b="-303371"/>
                          </a:stretch>
                        </a:blipFill>
                      </a:tcPr>
                    </a:tc>
                    <a:tc>
                      <a:txBody>
                        <a:bodyPr/>
                        <a:lstStyle/>
                        <a:p>
                          <a:endParaRPr lang="zh-TW"/>
                        </a:p>
                      </a:txBody>
                      <a:tcPr anchor="ctr">
                        <a:blipFill>
                          <a:blip r:embed="rId4"/>
                          <a:stretch>
                            <a:fillRect l="-55422" t="-702247" r="-1205" b="-303371"/>
                          </a:stretch>
                        </a:blipFill>
                      </a:tcPr>
                    </a:tc>
                    <a:extLst>
                      <a:ext uri="{0D108BD9-81ED-4DB2-BD59-A6C34878D82A}">
                        <a16:rowId xmlns:a16="http://schemas.microsoft.com/office/drawing/2014/main" val="3038335151"/>
                      </a:ext>
                    </a:extLst>
                  </a:tr>
                  <a:tr h="543324">
                    <a:tc>
                      <a:txBody>
                        <a:bodyPr/>
                        <a:lstStyle/>
                        <a:p>
                          <a:endParaRPr lang="zh-TW"/>
                        </a:p>
                      </a:txBody>
                      <a:tcPr anchor="ctr">
                        <a:blipFill>
                          <a:blip r:embed="rId4"/>
                          <a:stretch>
                            <a:fillRect l="-1099" t="-793333" r="-184615" b="-200000"/>
                          </a:stretch>
                        </a:blipFill>
                      </a:tcPr>
                    </a:tc>
                    <a:tc>
                      <a:txBody>
                        <a:bodyPr/>
                        <a:lstStyle/>
                        <a:p>
                          <a:endParaRPr lang="zh-TW"/>
                        </a:p>
                      </a:txBody>
                      <a:tcPr anchor="ctr">
                        <a:blipFill>
                          <a:blip r:embed="rId4"/>
                          <a:stretch>
                            <a:fillRect l="-55422" t="-793333" r="-1205" b="-200000"/>
                          </a:stretch>
                        </a:blipFill>
                      </a:tcPr>
                    </a:tc>
                    <a:extLst>
                      <a:ext uri="{0D108BD9-81ED-4DB2-BD59-A6C34878D82A}">
                        <a16:rowId xmlns:a16="http://schemas.microsoft.com/office/drawing/2014/main" val="1534303137"/>
                      </a:ext>
                    </a:extLst>
                  </a:tr>
                  <a:tr h="543324">
                    <a:tc>
                      <a:txBody>
                        <a:bodyPr/>
                        <a:lstStyle/>
                        <a:p>
                          <a:endParaRPr lang="zh-TW"/>
                        </a:p>
                      </a:txBody>
                      <a:tcPr anchor="ctr">
                        <a:blipFill>
                          <a:blip r:embed="rId4"/>
                          <a:stretch>
                            <a:fillRect l="-1099" t="-903371" r="-184615" b="-102247"/>
                          </a:stretch>
                        </a:blipFill>
                      </a:tcPr>
                    </a:tc>
                    <a:tc>
                      <a:txBody>
                        <a:bodyPr/>
                        <a:lstStyle/>
                        <a:p>
                          <a:endParaRPr lang="zh-TW"/>
                        </a:p>
                      </a:txBody>
                      <a:tcPr anchor="ctr">
                        <a:blipFill>
                          <a:blip r:embed="rId4"/>
                          <a:stretch>
                            <a:fillRect l="-55422" t="-903371" r="-1205" b="-102247"/>
                          </a:stretch>
                        </a:blipFill>
                      </a:tcPr>
                    </a:tc>
                    <a:extLst>
                      <a:ext uri="{0D108BD9-81ED-4DB2-BD59-A6C34878D82A}">
                        <a16:rowId xmlns:a16="http://schemas.microsoft.com/office/drawing/2014/main" val="421875435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10</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4"/>
                          <a:stretch>
                            <a:fillRect l="-55422" t="-1003371" r="-1205" b="-2247"/>
                          </a:stretch>
                        </a:blipFill>
                      </a:tcPr>
                    </a:tc>
                    <a:extLst>
                      <a:ext uri="{0D108BD9-81ED-4DB2-BD59-A6C34878D82A}">
                        <a16:rowId xmlns:a16="http://schemas.microsoft.com/office/drawing/2014/main" val="3258578841"/>
                      </a:ext>
                    </a:extLst>
                  </a:tr>
                </a:tbl>
              </a:graphicData>
            </a:graphic>
          </p:graphicFrame>
        </mc:Fallback>
      </mc:AlternateContent>
    </p:spTree>
    <p:extLst>
      <p:ext uri="{BB962C8B-B14F-4D97-AF65-F5344CB8AC3E}">
        <p14:creationId xmlns:p14="http://schemas.microsoft.com/office/powerpoint/2010/main" val="716667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內容版面配置區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6980" y="153014"/>
            <a:ext cx="6459995" cy="4351338"/>
          </a:xfrm>
        </p:spPr>
      </p:pic>
      <mc:AlternateContent xmlns:mc="http://schemas.openxmlformats.org/markup-compatibility/2006" xmlns:a14="http://schemas.microsoft.com/office/drawing/2010/main">
        <mc:Choice Requires="a14">
          <p:graphicFrame>
            <p:nvGraphicFramePr>
              <p:cNvPr id="10" name="表格 9"/>
              <p:cNvGraphicFramePr>
                <a:graphicFrameLocks noGrp="1"/>
              </p:cNvGraphicFramePr>
              <p:nvPr>
                <p:extLst>
                  <p:ext uri="{D42A27DB-BD31-4B8C-83A1-F6EECF244321}">
                    <p14:modId xmlns:p14="http://schemas.microsoft.com/office/powerpoint/2010/main" val="851052333"/>
                  </p:ext>
                </p:extLst>
              </p:nvPr>
            </p:nvGraphicFramePr>
            <p:xfrm>
              <a:off x="237998" y="153014"/>
              <a:ext cx="1560444" cy="5976564"/>
            </p:xfrm>
            <a:graphic>
              <a:graphicData uri="http://schemas.openxmlformats.org/drawingml/2006/table">
                <a:tbl>
                  <a:tblPr firstRow="1" bandRow="1">
                    <a:tableStyleId>{C4B1156A-380E-4F78-BDF5-A606A8083BF9}</a:tableStyleId>
                  </a:tblPr>
                  <a:tblGrid>
                    <a:gridCol w="553131">
                      <a:extLst>
                        <a:ext uri="{9D8B030D-6E8A-4147-A177-3AD203B41FA5}">
                          <a16:colId xmlns:a16="http://schemas.microsoft.com/office/drawing/2014/main" val="2813249117"/>
                        </a:ext>
                      </a:extLst>
                    </a:gridCol>
                    <a:gridCol w="1007313">
                      <a:extLst>
                        <a:ext uri="{9D8B030D-6E8A-4147-A177-3AD203B41FA5}">
                          <a16:colId xmlns:a16="http://schemas.microsoft.com/office/drawing/2014/main" val="4075917071"/>
                        </a:ext>
                      </a:extLst>
                    </a:gridCol>
                  </a:tblGrid>
                  <a:tr h="543324">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sz="1600" b="0" i="1" smtClean="0">
                                    <a:solidFill>
                                      <a:schemeClr val="tx1"/>
                                    </a:solidFill>
                                    <a:latin typeface="Cambria Math" panose="02040503050406030204" pitchFamily="18" charset="0"/>
                                    <a:cs typeface="Times New Roman" panose="02020603050405020304" pitchFamily="18" charset="0"/>
                                  </a:rPr>
                                  <m:t>順序</m:t>
                                </m:r>
                              </m:oMath>
                            </m:oMathPara>
                          </a14:m>
                          <a:endParaRPr lang="zh-TW" altLang="en-US" sz="1600" b="0"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81258832"/>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i="1" smtClean="0">
                                    <a:latin typeface="Cambria Math" panose="02040503050406030204" pitchFamily="18" charset="0"/>
                                  </a:rPr>
                                  <m:t>1</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1</m:t>
                                    </m:r>
                                  </m:sub>
                                </m:sSub>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4109731"/>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i="1" smtClean="0">
                                    <a:latin typeface="Cambria Math" panose="02040503050406030204" pitchFamily="18" charset="0"/>
                                  </a:rPr>
                                  <m:t>2</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b>
                                </m:sSub>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25846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600" i="1" smtClean="0">
                                    <a:latin typeface="Cambria Math" panose="02040503050406030204" pitchFamily="18" charset="0"/>
                                  </a:rPr>
                                  <m:t>3</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6</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91443569"/>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9650133"/>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b="0" i="1" smtClean="0">
                                        <a:latin typeface="Cambria Math" panose="02040503050406030204" pitchFamily="18" charset="0"/>
                                      </a:rPr>
                                      <m:t>3</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76601233"/>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6</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5</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446188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m:rPr>
                                        <m:sty m:val="p"/>
                                      </m:rPr>
                                      <a:rPr lang="en-US" altLang="zh-TW" sz="1600" i="1" smtClean="0">
                                        <a:latin typeface="Cambria Math" panose="02040503050406030204" pitchFamily="18" charset="0"/>
                                      </a:rPr>
                                      <m:t>T</m:t>
                                    </m:r>
                                  </m:e>
                                  <m:sub>
                                    <m:r>
                                      <a:rPr lang="en-US" altLang="zh-TW" sz="1600" i="1" smtClean="0">
                                        <a:latin typeface="Cambria Math" panose="02040503050406030204" pitchFamily="18" charset="0"/>
                                      </a:rPr>
                                      <m:t>8</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38335151"/>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8</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3430313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9</m:t>
                                </m:r>
                              </m:oMath>
                            </m:oMathPara>
                          </a14:m>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9</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875435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10</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sty m:val="p"/>
                                      </m:r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T</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10</m:t>
                                    </m:r>
                                  </m:sub>
                                </m:sSub>
                              </m:oMath>
                            </m:oMathPara>
                          </a14:m>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58578841"/>
                      </a:ext>
                    </a:extLst>
                  </a:tr>
                </a:tbl>
              </a:graphicData>
            </a:graphic>
          </p:graphicFrame>
        </mc:Choice>
        <mc:Fallback xmlns="">
          <p:graphicFrame>
            <p:nvGraphicFramePr>
              <p:cNvPr id="10" name="表格 9"/>
              <p:cNvGraphicFramePr>
                <a:graphicFrameLocks noGrp="1"/>
              </p:cNvGraphicFramePr>
              <p:nvPr>
                <p:extLst>
                  <p:ext uri="{D42A27DB-BD31-4B8C-83A1-F6EECF244321}">
                    <p14:modId xmlns:p14="http://schemas.microsoft.com/office/powerpoint/2010/main" val="851052333"/>
                  </p:ext>
                </p:extLst>
              </p:nvPr>
            </p:nvGraphicFramePr>
            <p:xfrm>
              <a:off x="237998" y="153014"/>
              <a:ext cx="1560444" cy="5976564"/>
            </p:xfrm>
            <a:graphic>
              <a:graphicData uri="http://schemas.openxmlformats.org/drawingml/2006/table">
                <a:tbl>
                  <a:tblPr firstRow="1" bandRow="1">
                    <a:tableStyleId>{C4B1156A-380E-4F78-BDF5-A606A8083BF9}</a:tableStyleId>
                  </a:tblPr>
                  <a:tblGrid>
                    <a:gridCol w="553131">
                      <a:extLst>
                        <a:ext uri="{9D8B030D-6E8A-4147-A177-3AD203B41FA5}">
                          <a16:colId xmlns:a16="http://schemas.microsoft.com/office/drawing/2014/main" val="2813249117"/>
                        </a:ext>
                      </a:extLst>
                    </a:gridCol>
                    <a:gridCol w="1007313">
                      <a:extLst>
                        <a:ext uri="{9D8B030D-6E8A-4147-A177-3AD203B41FA5}">
                          <a16:colId xmlns:a16="http://schemas.microsoft.com/office/drawing/2014/main" val="4075917071"/>
                        </a:ext>
                      </a:extLst>
                    </a:gridCol>
                  </a:tblGrid>
                  <a:tr h="543324">
                    <a:tc>
                      <a:txBody>
                        <a:bodyPr/>
                        <a:lstStyle/>
                        <a:p>
                          <a:pPr algn="ctr"/>
                          <a:endParaRPr lang="zh-TW" alt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3"/>
                          <a:stretch>
                            <a:fillRect l="-55422" t="-1124" r="-1205" b="-1004494"/>
                          </a:stretch>
                        </a:blipFill>
                      </a:tcPr>
                    </a:tc>
                    <a:extLst>
                      <a:ext uri="{0D108BD9-81ED-4DB2-BD59-A6C34878D82A}">
                        <a16:rowId xmlns:a16="http://schemas.microsoft.com/office/drawing/2014/main" val="3681258832"/>
                      </a:ext>
                    </a:extLst>
                  </a:tr>
                  <a:tr h="543324">
                    <a:tc>
                      <a:txBody>
                        <a:bodyPr/>
                        <a:lstStyle/>
                        <a:p>
                          <a:endParaRPr lang="zh-TW"/>
                        </a:p>
                      </a:txBody>
                      <a:tcPr anchor="ctr">
                        <a:blipFill>
                          <a:blip r:embed="rId3"/>
                          <a:stretch>
                            <a:fillRect l="-1099" t="-101124" r="-184615" b="-904494"/>
                          </a:stretch>
                        </a:blipFill>
                      </a:tcPr>
                    </a:tc>
                    <a:tc>
                      <a:txBody>
                        <a:bodyPr/>
                        <a:lstStyle/>
                        <a:p>
                          <a:endParaRPr lang="zh-TW"/>
                        </a:p>
                      </a:txBody>
                      <a:tcPr anchor="ctr">
                        <a:blipFill>
                          <a:blip r:embed="rId3"/>
                          <a:stretch>
                            <a:fillRect l="-55422" t="-101124" r="-1205" b="-904494"/>
                          </a:stretch>
                        </a:blipFill>
                      </a:tcPr>
                    </a:tc>
                    <a:extLst>
                      <a:ext uri="{0D108BD9-81ED-4DB2-BD59-A6C34878D82A}">
                        <a16:rowId xmlns:a16="http://schemas.microsoft.com/office/drawing/2014/main" val="364109731"/>
                      </a:ext>
                    </a:extLst>
                  </a:tr>
                  <a:tr h="543324">
                    <a:tc>
                      <a:txBody>
                        <a:bodyPr/>
                        <a:lstStyle/>
                        <a:p>
                          <a:endParaRPr lang="zh-TW"/>
                        </a:p>
                      </a:txBody>
                      <a:tcPr anchor="ctr">
                        <a:blipFill>
                          <a:blip r:embed="rId3"/>
                          <a:stretch>
                            <a:fillRect l="-1099" t="-198889" r="-184615" b="-794444"/>
                          </a:stretch>
                        </a:blipFill>
                      </a:tcPr>
                    </a:tc>
                    <a:tc>
                      <a:txBody>
                        <a:bodyPr/>
                        <a:lstStyle/>
                        <a:p>
                          <a:endParaRPr lang="zh-TW"/>
                        </a:p>
                      </a:txBody>
                      <a:tcPr anchor="ctr">
                        <a:blipFill>
                          <a:blip r:embed="rId3"/>
                          <a:stretch>
                            <a:fillRect l="-55422" t="-198889" r="-1205" b="-794444"/>
                          </a:stretch>
                        </a:blipFill>
                      </a:tcPr>
                    </a:tc>
                    <a:extLst>
                      <a:ext uri="{0D108BD9-81ED-4DB2-BD59-A6C34878D82A}">
                        <a16:rowId xmlns:a16="http://schemas.microsoft.com/office/drawing/2014/main" val="4063258467"/>
                      </a:ext>
                    </a:extLst>
                  </a:tr>
                  <a:tr h="543324">
                    <a:tc>
                      <a:txBody>
                        <a:bodyPr/>
                        <a:lstStyle/>
                        <a:p>
                          <a:endParaRPr lang="zh-TW"/>
                        </a:p>
                      </a:txBody>
                      <a:tcPr anchor="ctr">
                        <a:blipFill>
                          <a:blip r:embed="rId3"/>
                          <a:stretch>
                            <a:fillRect l="-1099" t="-302247" r="-184615" b="-703371"/>
                          </a:stretch>
                        </a:blipFill>
                      </a:tcPr>
                    </a:tc>
                    <a:tc>
                      <a:txBody>
                        <a:bodyPr/>
                        <a:lstStyle/>
                        <a:p>
                          <a:endParaRPr lang="zh-TW"/>
                        </a:p>
                      </a:txBody>
                      <a:tcPr anchor="ctr">
                        <a:blipFill>
                          <a:blip r:embed="rId3"/>
                          <a:stretch>
                            <a:fillRect l="-55422" t="-302247" r="-1205" b="-703371"/>
                          </a:stretch>
                        </a:blipFill>
                      </a:tcPr>
                    </a:tc>
                    <a:extLst>
                      <a:ext uri="{0D108BD9-81ED-4DB2-BD59-A6C34878D82A}">
                        <a16:rowId xmlns:a16="http://schemas.microsoft.com/office/drawing/2014/main" val="3391443569"/>
                      </a:ext>
                    </a:extLst>
                  </a:tr>
                  <a:tr h="543324">
                    <a:tc>
                      <a:txBody>
                        <a:bodyPr/>
                        <a:lstStyle/>
                        <a:p>
                          <a:endParaRPr lang="zh-TW"/>
                        </a:p>
                      </a:txBody>
                      <a:tcPr anchor="ctr">
                        <a:blipFill>
                          <a:blip r:embed="rId3"/>
                          <a:stretch>
                            <a:fillRect l="-1099" t="-402247" r="-184615" b="-603371"/>
                          </a:stretch>
                        </a:blipFill>
                      </a:tcPr>
                    </a:tc>
                    <a:tc>
                      <a:txBody>
                        <a:bodyPr/>
                        <a:lstStyle/>
                        <a:p>
                          <a:endParaRPr lang="zh-TW"/>
                        </a:p>
                      </a:txBody>
                      <a:tcPr anchor="ctr">
                        <a:blipFill>
                          <a:blip r:embed="rId3"/>
                          <a:stretch>
                            <a:fillRect l="-55422" t="-402247" r="-1205" b="-603371"/>
                          </a:stretch>
                        </a:blipFill>
                      </a:tcPr>
                    </a:tc>
                    <a:extLst>
                      <a:ext uri="{0D108BD9-81ED-4DB2-BD59-A6C34878D82A}">
                        <a16:rowId xmlns:a16="http://schemas.microsoft.com/office/drawing/2014/main" val="2139650133"/>
                      </a:ext>
                    </a:extLst>
                  </a:tr>
                  <a:tr h="543324">
                    <a:tc>
                      <a:txBody>
                        <a:bodyPr/>
                        <a:lstStyle/>
                        <a:p>
                          <a:endParaRPr lang="zh-TW"/>
                        </a:p>
                      </a:txBody>
                      <a:tcPr anchor="ctr">
                        <a:blipFill>
                          <a:blip r:embed="rId3"/>
                          <a:stretch>
                            <a:fillRect l="-1099" t="-502247" r="-184615" b="-503371"/>
                          </a:stretch>
                        </a:blipFill>
                      </a:tcPr>
                    </a:tc>
                    <a:tc>
                      <a:txBody>
                        <a:bodyPr/>
                        <a:lstStyle/>
                        <a:p>
                          <a:endParaRPr lang="zh-TW"/>
                        </a:p>
                      </a:txBody>
                      <a:tcPr anchor="ctr">
                        <a:blipFill>
                          <a:blip r:embed="rId3"/>
                          <a:stretch>
                            <a:fillRect l="-55422" t="-502247" r="-1205" b="-503371"/>
                          </a:stretch>
                        </a:blipFill>
                      </a:tcPr>
                    </a:tc>
                    <a:extLst>
                      <a:ext uri="{0D108BD9-81ED-4DB2-BD59-A6C34878D82A}">
                        <a16:rowId xmlns:a16="http://schemas.microsoft.com/office/drawing/2014/main" val="2076601233"/>
                      </a:ext>
                    </a:extLst>
                  </a:tr>
                  <a:tr h="543324">
                    <a:tc>
                      <a:txBody>
                        <a:bodyPr/>
                        <a:lstStyle/>
                        <a:p>
                          <a:endParaRPr lang="zh-TW"/>
                        </a:p>
                      </a:txBody>
                      <a:tcPr anchor="ctr">
                        <a:blipFill>
                          <a:blip r:embed="rId3"/>
                          <a:stretch>
                            <a:fillRect l="-1099" t="-602247" r="-184615" b="-403371"/>
                          </a:stretch>
                        </a:blipFill>
                      </a:tcPr>
                    </a:tc>
                    <a:tc>
                      <a:txBody>
                        <a:bodyPr/>
                        <a:lstStyle/>
                        <a:p>
                          <a:endParaRPr lang="zh-TW"/>
                        </a:p>
                      </a:txBody>
                      <a:tcPr anchor="ctr">
                        <a:blipFill>
                          <a:blip r:embed="rId3"/>
                          <a:stretch>
                            <a:fillRect l="-55422" t="-602247" r="-1205" b="-403371"/>
                          </a:stretch>
                        </a:blipFill>
                      </a:tcPr>
                    </a:tc>
                    <a:extLst>
                      <a:ext uri="{0D108BD9-81ED-4DB2-BD59-A6C34878D82A}">
                        <a16:rowId xmlns:a16="http://schemas.microsoft.com/office/drawing/2014/main" val="3164461887"/>
                      </a:ext>
                    </a:extLst>
                  </a:tr>
                  <a:tr h="543324">
                    <a:tc>
                      <a:txBody>
                        <a:bodyPr/>
                        <a:lstStyle/>
                        <a:p>
                          <a:endParaRPr lang="zh-TW"/>
                        </a:p>
                      </a:txBody>
                      <a:tcPr anchor="ctr">
                        <a:blipFill>
                          <a:blip r:embed="rId3"/>
                          <a:stretch>
                            <a:fillRect l="-1099" t="-702247" r="-184615" b="-303371"/>
                          </a:stretch>
                        </a:blipFill>
                      </a:tcPr>
                    </a:tc>
                    <a:tc>
                      <a:txBody>
                        <a:bodyPr/>
                        <a:lstStyle/>
                        <a:p>
                          <a:endParaRPr lang="zh-TW"/>
                        </a:p>
                      </a:txBody>
                      <a:tcPr anchor="ctr">
                        <a:blipFill>
                          <a:blip r:embed="rId3"/>
                          <a:stretch>
                            <a:fillRect l="-55422" t="-702247" r="-1205" b="-303371"/>
                          </a:stretch>
                        </a:blipFill>
                      </a:tcPr>
                    </a:tc>
                    <a:extLst>
                      <a:ext uri="{0D108BD9-81ED-4DB2-BD59-A6C34878D82A}">
                        <a16:rowId xmlns:a16="http://schemas.microsoft.com/office/drawing/2014/main" val="3038335151"/>
                      </a:ext>
                    </a:extLst>
                  </a:tr>
                  <a:tr h="543324">
                    <a:tc>
                      <a:txBody>
                        <a:bodyPr/>
                        <a:lstStyle/>
                        <a:p>
                          <a:endParaRPr lang="zh-TW"/>
                        </a:p>
                      </a:txBody>
                      <a:tcPr anchor="ctr">
                        <a:blipFill>
                          <a:blip r:embed="rId3"/>
                          <a:stretch>
                            <a:fillRect l="-1099" t="-793333" r="-184615" b="-200000"/>
                          </a:stretch>
                        </a:blipFill>
                      </a:tcPr>
                    </a:tc>
                    <a:tc>
                      <a:txBody>
                        <a:bodyPr/>
                        <a:lstStyle/>
                        <a:p>
                          <a:endParaRPr lang="zh-TW"/>
                        </a:p>
                      </a:txBody>
                      <a:tcPr anchor="ctr">
                        <a:blipFill>
                          <a:blip r:embed="rId3"/>
                          <a:stretch>
                            <a:fillRect l="-55422" t="-793333" r="-1205" b="-200000"/>
                          </a:stretch>
                        </a:blipFill>
                      </a:tcPr>
                    </a:tc>
                    <a:extLst>
                      <a:ext uri="{0D108BD9-81ED-4DB2-BD59-A6C34878D82A}">
                        <a16:rowId xmlns:a16="http://schemas.microsoft.com/office/drawing/2014/main" val="1534303137"/>
                      </a:ext>
                    </a:extLst>
                  </a:tr>
                  <a:tr h="543324">
                    <a:tc>
                      <a:txBody>
                        <a:bodyPr/>
                        <a:lstStyle/>
                        <a:p>
                          <a:endParaRPr lang="zh-TW"/>
                        </a:p>
                      </a:txBody>
                      <a:tcPr anchor="ctr">
                        <a:blipFill>
                          <a:blip r:embed="rId3"/>
                          <a:stretch>
                            <a:fillRect l="-1099" t="-903371" r="-184615" b="-102247"/>
                          </a:stretch>
                        </a:blipFill>
                      </a:tcPr>
                    </a:tc>
                    <a:tc>
                      <a:txBody>
                        <a:bodyPr/>
                        <a:lstStyle/>
                        <a:p>
                          <a:endParaRPr lang="zh-TW"/>
                        </a:p>
                      </a:txBody>
                      <a:tcPr anchor="ctr">
                        <a:blipFill>
                          <a:blip r:embed="rId3"/>
                          <a:stretch>
                            <a:fillRect l="-55422" t="-903371" r="-1205" b="-102247"/>
                          </a:stretch>
                        </a:blipFill>
                      </a:tcPr>
                    </a:tc>
                    <a:extLst>
                      <a:ext uri="{0D108BD9-81ED-4DB2-BD59-A6C34878D82A}">
                        <a16:rowId xmlns:a16="http://schemas.microsoft.com/office/drawing/2014/main" val="4218754357"/>
                      </a:ext>
                    </a:extLst>
                  </a:tr>
                  <a:tr h="5433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latin typeface="Times New Roman" panose="02020603050405020304" pitchFamily="18" charset="0"/>
                              <a:cs typeface="Times New Roman" panose="02020603050405020304" pitchFamily="18" charset="0"/>
                            </a:rPr>
                            <a:t>10</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3"/>
                          <a:stretch>
                            <a:fillRect l="-55422" t="-1003371" r="-1205" b="-2247"/>
                          </a:stretch>
                        </a:blipFill>
                      </a:tcPr>
                    </a:tc>
                    <a:extLst>
                      <a:ext uri="{0D108BD9-81ED-4DB2-BD59-A6C34878D82A}">
                        <a16:rowId xmlns:a16="http://schemas.microsoft.com/office/drawing/2014/main" val="3258578841"/>
                      </a:ext>
                    </a:extLst>
                  </a:tr>
                </a:tbl>
              </a:graphicData>
            </a:graphic>
          </p:graphicFrame>
        </mc:Fallback>
      </mc:AlternateContent>
      <p:pic>
        <p:nvPicPr>
          <p:cNvPr id="11" name="圖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7998" y="6245901"/>
            <a:ext cx="8048003" cy="323864"/>
          </a:xfrm>
          <a:prstGeom prst="rect">
            <a:avLst/>
          </a:prstGeom>
        </p:spPr>
      </p:pic>
    </p:spTree>
    <p:extLst>
      <p:ext uri="{BB962C8B-B14F-4D97-AF65-F5344CB8AC3E}">
        <p14:creationId xmlns:p14="http://schemas.microsoft.com/office/powerpoint/2010/main" val="327060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565" y="740570"/>
            <a:ext cx="5420917" cy="4179300"/>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589592" y="5098774"/>
                <a:ext cx="3475511" cy="523220"/>
              </a:xfrm>
              <a:prstGeom prst="rect">
                <a:avLst/>
              </a:prstGeom>
            </p:spPr>
            <p:txBody>
              <a:bodyPr wrap="square">
                <a:spAutoFit/>
              </a:bodyPr>
              <a:lstStyle/>
              <a:p>
                <a:r>
                  <a:rPr lang="en-US" altLang="zh-TW" sz="2800" dirty="0">
                    <a:latin typeface="Times New Roman" panose="02020603050405020304" pitchFamily="18" charset="0"/>
                    <a:cs typeface="Times New Roman" panose="02020603050405020304" pitchFamily="18" charset="0"/>
                  </a:rPr>
                  <a:t>PEFT : </a:t>
                </a:r>
                <a14:m>
                  <m:oMath xmlns:m="http://schemas.openxmlformats.org/officeDocument/2006/math">
                    <m:r>
                      <a:rPr lang="en-US" altLang="zh-TW" sz="2800" i="1">
                        <a:latin typeface="Cambria Math" panose="02040503050406030204" pitchFamily="18" charset="0"/>
                        <a:cs typeface="Times New Roman" panose="02020603050405020304" pitchFamily="18" charset="0"/>
                      </a:rPr>
                      <m:t>𝑂</m:t>
                    </m:r>
                    <m:r>
                      <a:rPr lang="en-US" altLang="zh-TW" sz="2800" i="1">
                        <a:latin typeface="Cambria Math" panose="02040503050406030204" pitchFamily="18" charset="0"/>
                        <a:cs typeface="Times New Roman" panose="02020603050405020304" pitchFamily="18" charset="0"/>
                      </a:rPr>
                      <m:t>(</m:t>
                    </m:r>
                    <m:sSup>
                      <m:sSupPr>
                        <m:ctrlPr>
                          <a:rPr lang="en-US" altLang="zh-TW" sz="2800" i="1">
                            <a:latin typeface="Cambria Math" panose="02040503050406030204" pitchFamily="18" charset="0"/>
                            <a:cs typeface="Times New Roman" panose="02020603050405020304" pitchFamily="18" charset="0"/>
                          </a:rPr>
                        </m:ctrlPr>
                      </m:sSupPr>
                      <m:e>
                        <m:r>
                          <a:rPr lang="en-US" altLang="zh-TW" sz="2800" i="1">
                            <a:latin typeface="Cambria Math" panose="02040503050406030204" pitchFamily="18" charset="0"/>
                            <a:cs typeface="Times New Roman" panose="02020603050405020304" pitchFamily="18" charset="0"/>
                          </a:rPr>
                          <m:t>𝑣</m:t>
                        </m:r>
                      </m:e>
                      <m:sup>
                        <m:r>
                          <a:rPr lang="en-US" altLang="zh-TW" sz="2800" i="1">
                            <a:latin typeface="Cambria Math" panose="02040503050406030204" pitchFamily="18" charset="0"/>
                            <a:cs typeface="Times New Roman" panose="02020603050405020304" pitchFamily="18" charset="0"/>
                          </a:rPr>
                          <m:t>2</m:t>
                        </m:r>
                      </m:sup>
                    </m:sSup>
                    <m:r>
                      <a:rPr lang="en-US" altLang="zh-TW" sz="28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800" i="1">
                        <a:latin typeface="Cambria Math" panose="02040503050406030204" pitchFamily="18" charset="0"/>
                        <a:cs typeface="Times New Roman" panose="02020603050405020304" pitchFamily="18" charset="0"/>
                      </a:rPr>
                      <m:t>𝑝</m:t>
                    </m:r>
                    <m:r>
                      <a:rPr lang="en-US" altLang="zh-TW" sz="2800" i="1">
                        <a:latin typeface="Cambria Math" panose="02040503050406030204" pitchFamily="18" charset="0"/>
                        <a:cs typeface="Times New Roman" panose="02020603050405020304" pitchFamily="18" charset="0"/>
                      </a:rPr>
                      <m:t>)</m:t>
                    </m:r>
                  </m:oMath>
                </a14:m>
                <a:endParaRPr lang="zh-TW" altLang="en-US" sz="2800" dirty="0"/>
              </a:p>
            </p:txBody>
          </p:sp>
        </mc:Choice>
        <mc:Fallback xmlns="">
          <p:sp>
            <p:nvSpPr>
              <p:cNvPr id="7" name="矩形 6"/>
              <p:cNvSpPr>
                <a:spLocks noRot="1" noChangeAspect="1" noMove="1" noResize="1" noEditPoints="1" noAdjustHandles="1" noChangeArrowheads="1" noChangeShapeType="1" noTextEdit="1"/>
              </p:cNvSpPr>
              <p:nvPr/>
            </p:nvSpPr>
            <p:spPr>
              <a:xfrm>
                <a:off x="589592" y="5098774"/>
                <a:ext cx="3475511" cy="523220"/>
              </a:xfrm>
              <a:prstGeom prst="rect">
                <a:avLst/>
              </a:prstGeom>
              <a:blipFill>
                <a:blip r:embed="rId3"/>
                <a:stretch>
                  <a:fillRect l="-3684" t="-12791" b="-302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15380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285" y="364833"/>
            <a:ext cx="7623210" cy="6324690"/>
          </a:xfrm>
          <a:prstGeom prst="rect">
            <a:avLst/>
          </a:prstGeom>
        </p:spPr>
      </p:pic>
    </p:spTree>
    <p:extLst>
      <p:ext uri="{BB962C8B-B14F-4D97-AF65-F5344CB8AC3E}">
        <p14:creationId xmlns:p14="http://schemas.microsoft.com/office/powerpoint/2010/main" val="2548781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042" y="1729265"/>
            <a:ext cx="8241632" cy="5094827"/>
          </a:xfrm>
          <a:prstGeom prst="rect">
            <a:avLst/>
          </a:prstGeom>
        </p:spPr>
      </p:pic>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958" y="0"/>
            <a:ext cx="6163535" cy="1533739"/>
          </a:xfrm>
          <a:prstGeom prst="rect">
            <a:avLst/>
          </a:prstGeom>
        </p:spPr>
      </p:pic>
    </p:spTree>
    <p:extLst>
      <p:ext uri="{BB962C8B-B14F-4D97-AF65-F5344CB8AC3E}">
        <p14:creationId xmlns:p14="http://schemas.microsoft.com/office/powerpoint/2010/main" val="1312056730"/>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92196</TotalTime>
  <Words>514</Words>
  <Application>Microsoft Office PowerPoint</Application>
  <PresentationFormat>如螢幕大小 (4:3)</PresentationFormat>
  <Paragraphs>220</Paragraphs>
  <Slides>12</Slides>
  <Notes>3</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12</vt:i4>
      </vt:variant>
    </vt:vector>
  </HeadingPairs>
  <TitlesOfParts>
    <vt:vector size="18" baseType="lpstr">
      <vt:lpstr>Arial</vt:lpstr>
      <vt:lpstr>Calibri</vt:lpstr>
      <vt:lpstr>Calibri Light</vt:lpstr>
      <vt:lpstr>Cambria Math</vt:lpstr>
      <vt:lpstr>Times New Roman</vt:lpstr>
      <vt:lpstr>Office 佈景主題</vt:lpstr>
      <vt:lpstr>Scheduling Algorithm for Heterogeneous Systems by an Optimistic Cost Table</vt:lpstr>
      <vt:lpstr>Abstract(1/2)</vt:lpstr>
      <vt:lpstr>Abstract(2/2)</vt:lpstr>
      <vt:lpstr>HEFT</vt:lpstr>
      <vt:lpstr>PEFT</vt:lpstr>
      <vt:lpstr>HEFT</vt:lpstr>
      <vt:lpstr>PEFT</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p:lastModifiedBy>
  <cp:revision>910</cp:revision>
  <dcterms:created xsi:type="dcterms:W3CDTF">2017-09-25T08:45:50Z</dcterms:created>
  <dcterms:modified xsi:type="dcterms:W3CDTF">2021-01-19T07:51:41Z</dcterms:modified>
</cp:coreProperties>
</file>