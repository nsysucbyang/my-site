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7" r:id="rId2"/>
    <p:sldId id="258" r:id="rId3"/>
    <p:sldId id="260" r:id="rId4"/>
    <p:sldId id="359" r:id="rId5"/>
    <p:sldId id="360" r:id="rId6"/>
    <p:sldId id="368" r:id="rId7"/>
    <p:sldId id="361" r:id="rId8"/>
    <p:sldId id="362" r:id="rId9"/>
    <p:sldId id="364" r:id="rId10"/>
    <p:sldId id="365" r:id="rId11"/>
    <p:sldId id="363" r:id="rId12"/>
    <p:sldId id="366" r:id="rId13"/>
    <p:sldId id="367" r:id="rId14"/>
    <p:sldId id="357" r:id="rId15"/>
    <p:sldId id="397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386" r:id="rId34"/>
    <p:sldId id="389" r:id="rId35"/>
    <p:sldId id="388" r:id="rId36"/>
    <p:sldId id="390" r:id="rId37"/>
    <p:sldId id="391" r:id="rId38"/>
    <p:sldId id="393" r:id="rId39"/>
    <p:sldId id="387" r:id="rId40"/>
    <p:sldId id="392" r:id="rId41"/>
    <p:sldId id="355" r:id="rId42"/>
    <p:sldId id="395" r:id="rId43"/>
    <p:sldId id="396" r:id="rId44"/>
    <p:sldId id="394" r:id="rId4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300" autoAdjust="0"/>
  </p:normalViewPr>
  <p:slideViewPr>
    <p:cSldViewPr>
      <p:cViewPr varScale="1">
        <p:scale>
          <a:sx n="52" d="100"/>
          <a:sy n="52" d="100"/>
        </p:scale>
        <p:origin x="1926" y="78"/>
      </p:cViewPr>
      <p:guideLst>
        <p:guide orient="horz" pos="2160"/>
        <p:guide pos="288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C598C-8F50-4D8A-A257-9F9A3D6EE20F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18BCC-D1EA-4D8A-929C-D092EA2B439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Journal of Internet Technology </a:t>
            </a:r>
            <a:r>
              <a:rPr lang="zh-TW" altLang="en-US" dirty="0"/>
              <a:t>網際網路技術學刊 </a:t>
            </a:r>
            <a:r>
              <a:rPr lang="en-US" altLang="zh-TW" dirty="0"/>
              <a:t>2009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>
                <a:latin typeface="Times New Roman" pitchFamily="18" charset="0"/>
                <a:cs typeface="Times New Roman" pitchFamily="18" charset="0"/>
              </a:rPr>
              <a:t>Ʃ = sigma</a:t>
            </a:r>
          </a:p>
          <a:p>
            <a:r>
              <a:rPr lang="el-GR" altLang="zh-TW" sz="12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altLang="zh-TW" sz="1200" dirty="0">
                <a:latin typeface="Times New Roman" pitchFamily="18" charset="0"/>
                <a:cs typeface="Times New Roman" pitchFamily="18" charset="0"/>
              </a:rPr>
              <a:t> = epsilon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817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197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58548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64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6263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790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78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4197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2767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7723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896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0529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5857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77638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7670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09537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6112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99129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20728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62992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97891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34622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2528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98107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1357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4220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0949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257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94482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22846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5201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2307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97149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72652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67486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4050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3386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6252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0426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𝐹𝐴</m:t>
                    </m:r>
                  </m:oMath>
                </a14:m>
                <a:r>
                  <a:rPr lang="en-US" altLang="zh-TW" dirty="0"/>
                  <a:t>: Delayed Input DFA, the code runs with different values of the diameter bound</a:t>
                </a:r>
              </a:p>
              <a:p>
                <a:r>
                  <a:rPr lang="en-US" altLang="zh-TW" dirty="0"/>
                  <a:t>DB: </a:t>
                </a:r>
                <a:r>
                  <a:rPr lang="zh-TW" altLang="en-US" dirty="0"/>
                  <a:t>在他的 </a:t>
                </a:r>
                <a:r>
                  <a:rPr lang="en-US" altLang="zh-TW" dirty="0"/>
                  <a:t>spanning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tree </a:t>
                </a:r>
                <a:r>
                  <a:rPr lang="zh-TW" altLang="en-US" dirty="0"/>
                  <a:t>中，兩點的最遠距離。</a:t>
                </a:r>
                <a:endParaRPr lang="en-US" altLang="zh-TW" dirty="0"/>
              </a:p>
              <a:p>
                <a:r>
                  <a:rPr lang="zh-TW" altLang="en-US" dirty="0"/>
                  <a:t>設定</a:t>
                </a:r>
                <a:r>
                  <a:rPr lang="en-US" altLang="zh-TW" dirty="0"/>
                  <a:t>DB</a:t>
                </a:r>
                <a:r>
                  <a:rPr lang="zh-TW" altLang="en-US" dirty="0"/>
                  <a:t>是因為要找最小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𝐹𝐴</m:t>
                    </m:r>
                  </m:oMath>
                </a14:m>
                <a:r>
                  <a:rPr lang="zh-TW" altLang="en-US" dirty="0"/>
                  <a:t> 的話，會變成</a:t>
                </a:r>
                <a:r>
                  <a:rPr lang="en-US" altLang="zh-TW" dirty="0"/>
                  <a:t>NP-HARD</a:t>
                </a:r>
                <a:r>
                  <a:rPr lang="zh-TW" altLang="en-US" dirty="0"/>
                  <a:t>的問題。</a:t>
                </a:r>
                <a:endParaRPr lang="en-US" altLang="zh-TW" dirty="0"/>
              </a:p>
              <a:p>
                <a:r>
                  <a:rPr lang="en-US" altLang="zh-TW" dirty="0"/>
                  <a:t>DB</a:t>
                </a:r>
                <a:r>
                  <a:rPr lang="zh-TW" altLang="en-US" dirty="0"/>
                  <a:t>為</a:t>
                </a:r>
                <a:r>
                  <a:rPr lang="en-US" altLang="zh-TW" dirty="0"/>
                  <a:t>1</a:t>
                </a:r>
                <a:r>
                  <a:rPr lang="zh-TW" altLang="en-US" dirty="0"/>
                  <a:t>的時候，可以再 </a:t>
                </a:r>
                <a:r>
                  <a:rPr lang="en-US" altLang="zh-TW" dirty="0"/>
                  <a:t>polynomial time </a:t>
                </a:r>
                <a:r>
                  <a:rPr lang="zh-TW" altLang="en-US" dirty="0"/>
                  <a:t>轉換成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𝐹𝐴</m:t>
                    </m:r>
                  </m:oMath>
                </a14:m>
                <a:r>
                  <a:rPr lang="zh-TW" altLang="en-US" dirty="0"/>
                  <a:t>，在</a:t>
                </a:r>
                <a:r>
                  <a:rPr lang="en-US" altLang="zh-TW" dirty="0"/>
                  <a:t>DB</a:t>
                </a:r>
                <a:r>
                  <a:rPr lang="zh-TW" altLang="en-US" dirty="0"/>
                  <a:t>很大時，轉換又變成</a:t>
                </a:r>
                <a:r>
                  <a:rPr lang="en-US" altLang="zh-TW" dirty="0"/>
                  <a:t>NP-Hard</a:t>
                </a:r>
                <a:r>
                  <a:rPr lang="zh-TW" altLang="en-US" dirty="0"/>
                  <a:t> 了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b="0" i="0">
                    <a:latin typeface="Cambria Math" panose="02040503050406030204" pitchFamily="18" charset="0"/>
                  </a:rPr>
                  <a:t>𝐷^2 𝐹𝐴</a:t>
                </a:r>
                <a:r>
                  <a:rPr lang="en-US" altLang="zh-TW" dirty="0"/>
                  <a:t>: Delayed Input DFA, the code runs with different values of the diameter bound</a:t>
                </a:r>
              </a:p>
              <a:p>
                <a:r>
                  <a:rPr lang="en-US" altLang="zh-TW" dirty="0"/>
                  <a:t>DB: </a:t>
                </a:r>
                <a:r>
                  <a:rPr lang="zh-TW" altLang="en-US" dirty="0"/>
                  <a:t>在他的 </a:t>
                </a:r>
                <a:r>
                  <a:rPr lang="en-US" altLang="zh-TW" dirty="0"/>
                  <a:t>spanning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tree </a:t>
                </a:r>
                <a:r>
                  <a:rPr lang="zh-TW" altLang="en-US" dirty="0"/>
                  <a:t>中，兩點的最遠距離。</a:t>
                </a:r>
                <a:endParaRPr lang="en-US" altLang="zh-TW" dirty="0"/>
              </a:p>
              <a:p>
                <a:r>
                  <a:rPr lang="zh-TW" altLang="en-US" dirty="0"/>
                  <a:t>設定</a:t>
                </a:r>
                <a:r>
                  <a:rPr lang="en-US" altLang="zh-TW" dirty="0"/>
                  <a:t>DB</a:t>
                </a:r>
                <a:r>
                  <a:rPr lang="zh-TW" altLang="en-US" dirty="0"/>
                  <a:t>是因為要找最小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𝐷^2 𝐹𝐴</a:t>
                </a:r>
                <a:r>
                  <a:rPr lang="zh-TW" altLang="en-US" dirty="0"/>
                  <a:t> 的話，會變成</a:t>
                </a:r>
                <a:r>
                  <a:rPr lang="en-US" altLang="zh-TW" dirty="0"/>
                  <a:t>NP-HARD</a:t>
                </a:r>
                <a:r>
                  <a:rPr lang="zh-TW" altLang="en-US" dirty="0"/>
                  <a:t>的問題。</a:t>
                </a:r>
                <a:endParaRPr lang="en-US" altLang="zh-TW" dirty="0"/>
              </a:p>
              <a:p>
                <a:r>
                  <a:rPr lang="en-US" altLang="zh-TW" dirty="0"/>
                  <a:t>DB</a:t>
                </a:r>
                <a:r>
                  <a:rPr lang="zh-TW" altLang="en-US" dirty="0"/>
                  <a:t>為</a:t>
                </a:r>
                <a:r>
                  <a:rPr lang="en-US" altLang="zh-TW" dirty="0"/>
                  <a:t>1</a:t>
                </a:r>
                <a:r>
                  <a:rPr lang="zh-TW" altLang="en-US" dirty="0"/>
                  <a:t>的時候，可以再 </a:t>
                </a:r>
                <a:r>
                  <a:rPr lang="en-US" altLang="zh-TW" dirty="0"/>
                  <a:t>polynomial time </a:t>
                </a:r>
                <a:r>
                  <a:rPr lang="zh-TW" altLang="en-US" dirty="0"/>
                  <a:t>轉換成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𝐷^2 𝐹𝐴</a:t>
                </a:r>
                <a:r>
                  <a:rPr lang="zh-TW" altLang="en-US" dirty="0"/>
                  <a:t>，在</a:t>
                </a:r>
                <a:r>
                  <a:rPr lang="en-US" altLang="zh-TW" dirty="0"/>
                  <a:t>DB</a:t>
                </a:r>
                <a:r>
                  <a:rPr lang="zh-TW" altLang="en-US" dirty="0"/>
                  <a:t>很大時，轉換又變成</a:t>
                </a:r>
                <a:r>
                  <a:rPr lang="en-US" altLang="zh-TW" dirty="0"/>
                  <a:t>NP-Hard</a:t>
                </a:r>
                <a:r>
                  <a:rPr lang="zh-TW" altLang="en-US" dirty="0"/>
                  <a:t> 了</a:t>
                </a:r>
                <a:endParaRPr lang="en-US" altLang="zh-TW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55593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26228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724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1462-57C0-4459-9390-560953396E85}" type="datetimeFigureOut">
              <a:rPr lang="zh-TW" altLang="en-US" smtClean="0"/>
              <a:pPr/>
              <a:t>2021/1/19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2" y="1715999"/>
            <a:ext cx="7890145" cy="649317"/>
          </a:xfrm>
        </p:spPr>
        <p:txBody>
          <a:bodyPr>
            <a:noAutofit/>
          </a:bodyPr>
          <a:lstStyle/>
          <a:p>
            <a:br>
              <a:rPr lang="en-US" altLang="zh-TW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An Improved DFA for Fast Regular Expression Matching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003984"/>
            <a:ext cx="6858000" cy="425017"/>
          </a:xfrm>
        </p:spPr>
        <p:txBody>
          <a:bodyPr>
            <a:noAutofit/>
          </a:bodyPr>
          <a:lstStyle/>
          <a:p>
            <a:pPr fontAlgn="ctr"/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Domenico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Ficara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Stefano Giordano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1611752" y="4005064"/>
            <a:ext cx="59753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dirty="0">
                <a:latin typeface="+mj-lt"/>
                <a:cs typeface="Times New Roman" pitchFamily="18" charset="0"/>
              </a:rPr>
              <a:t>ACM SIGCOMM Computer Communication Review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5652120" y="5377328"/>
            <a:ext cx="3158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Jing-Ping Jan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5652120" y="5824855"/>
            <a:ext cx="2568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Date: Jan. 19, 2021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60648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02" y="1052736"/>
            <a:ext cx="9004993" cy="5347657"/>
          </a:xfrm>
        </p:spPr>
        <p:txBody>
          <a:bodyPr>
            <a:noAutofit/>
          </a:bodyPr>
          <a:lstStyle/>
          <a:p>
            <a:pPr marL="0" indent="0" algn="just">
              <a:lnSpc>
                <a:spcPts val="3200"/>
              </a:lnSpc>
              <a:buNone/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Modern network devices need to perform deep packet inspection at high speed for security and application-specific services. Finite Automata (FAs) are used to implement regular expressions matching, but they require a large amount of memory. Many recent works have proposed improvements to address this issue. This paper presents a new representation for deterministic finite automata (orthogonal to previous solutions), called Delta Finite Automata (</a:t>
            </a:r>
            <a:r>
              <a:rPr lang="en-US" altLang="zh-TW" sz="2800" dirty="0" err="1">
                <a:latin typeface="Times New Roman" pitchFamily="18" charset="0"/>
                <a:cs typeface="Times New Roman" pitchFamily="18" charset="0"/>
              </a:rPr>
              <a:t>δFA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), which considerably reduces states and transitions and requires a transition per character only, thus allowing fast matching. Moreover, a new state encoding scheme is proposed and the comprehensive algorithm is tested for use in the packet classification area.</a:t>
            </a:r>
            <a:endParaRPr lang="fr-FR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Regular expression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b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= </a:t>
                </a:r>
                <a:r>
                  <a:rPr lang="en-US" altLang="zh-TW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</a:t>
                </a:r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bbc</a:t>
                </a:r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bbbc</a:t>
                </a:r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 </a:t>
                </a:r>
                <a:r>
                  <a:rPr lang="en-US" altLang="zh-TW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etc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b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= c, ac, </a:t>
                </a:r>
                <a:r>
                  <a:rPr lang="en-US" altLang="zh-TW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aac</a:t>
                </a:r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aaac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etc</a:t>
                </a:r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US" altLang="zh-TW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橢圓 3">
            <a:extLst>
              <a:ext uri="{FF2B5EF4-FFF2-40B4-BE49-F238E27FC236}">
                <a16:creationId xmlns:a16="http://schemas.microsoft.com/office/drawing/2014/main" id="{51D1EFE9-ECDB-4019-A5FC-AF72758FB177}"/>
              </a:ext>
            </a:extLst>
          </p:cNvPr>
          <p:cNvSpPr/>
          <p:nvPr/>
        </p:nvSpPr>
        <p:spPr>
          <a:xfrm>
            <a:off x="2835064" y="3118820"/>
            <a:ext cx="720080" cy="7200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3FF54443-011C-48DD-A2A5-1A474B0E17A8}"/>
              </a:ext>
            </a:extLst>
          </p:cNvPr>
          <p:cNvSpPr/>
          <p:nvPr/>
        </p:nvSpPr>
        <p:spPr>
          <a:xfrm>
            <a:off x="4109119" y="3118820"/>
            <a:ext cx="720080" cy="7200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C5AC9438-5B73-449D-9512-B93F48AA1BB4}"/>
              </a:ext>
            </a:extLst>
          </p:cNvPr>
          <p:cNvSpPr/>
          <p:nvPr/>
        </p:nvSpPr>
        <p:spPr>
          <a:xfrm>
            <a:off x="5374430" y="3118820"/>
            <a:ext cx="720080" cy="7200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1D0D7F1A-4177-4FC3-A354-DE4821FA9DE6}"/>
              </a:ext>
            </a:extLst>
          </p:cNvPr>
          <p:cNvCxnSpPr>
            <a:cxnSpLocks/>
            <a:stCxn id="20" idx="3"/>
            <a:endCxn id="4" idx="2"/>
          </p:cNvCxnSpPr>
          <p:nvPr/>
        </p:nvCxnSpPr>
        <p:spPr>
          <a:xfrm>
            <a:off x="2305372" y="3478860"/>
            <a:ext cx="5296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46B2EEC-C28C-460C-87B4-AC761EDD6CC6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3555144" y="3478860"/>
            <a:ext cx="5539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38373D1-CA50-428C-AFDF-4295E5D8FC6C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4829199" y="3478860"/>
            <a:ext cx="545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7EECA76-8A99-4390-A70B-B663EF628106}"/>
              </a:ext>
            </a:extLst>
          </p:cNvPr>
          <p:cNvSpPr txBox="1"/>
          <p:nvPr/>
        </p:nvSpPr>
        <p:spPr>
          <a:xfrm>
            <a:off x="1547664" y="3248027"/>
            <a:ext cx="757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start</a:t>
            </a:r>
            <a:endParaRPr lang="zh-TW" altLang="en-US" sz="2400" dirty="0"/>
          </a:p>
        </p:txBody>
      </p:sp>
      <p:cxnSp>
        <p:nvCxnSpPr>
          <p:cNvPr id="24" name="接點: 弧形 23">
            <a:extLst>
              <a:ext uri="{FF2B5EF4-FFF2-40B4-BE49-F238E27FC236}">
                <a16:creationId xmlns:a16="http://schemas.microsoft.com/office/drawing/2014/main" id="{A091435C-B624-4790-B475-87DAC5C017E3}"/>
              </a:ext>
            </a:extLst>
          </p:cNvPr>
          <p:cNvCxnSpPr>
            <a:stCxn id="6" idx="5"/>
            <a:endCxn id="6" idx="3"/>
          </p:cNvCxnSpPr>
          <p:nvPr/>
        </p:nvCxnSpPr>
        <p:spPr>
          <a:xfrm rot="5400000">
            <a:off x="4469159" y="3478860"/>
            <a:ext cx="12700" cy="509174"/>
          </a:xfrm>
          <a:prstGeom prst="curvedConnector3">
            <a:avLst>
              <a:gd name="adj1" fmla="val 89189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089093B-74C0-44F0-A354-CDCEB8874331}"/>
              </a:ext>
            </a:extLst>
          </p:cNvPr>
          <p:cNvSpPr txBox="1"/>
          <p:nvPr/>
        </p:nvSpPr>
        <p:spPr>
          <a:xfrm>
            <a:off x="3683257" y="30689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8BCCB7B-78CF-4262-8E4A-02FAE0181D40}"/>
              </a:ext>
            </a:extLst>
          </p:cNvPr>
          <p:cNvSpPr txBox="1"/>
          <p:nvPr/>
        </p:nvSpPr>
        <p:spPr>
          <a:xfrm>
            <a:off x="4355065" y="49881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30CA3C6-A3FC-40BC-83CF-74BCACD7B9AD}"/>
              </a:ext>
            </a:extLst>
          </p:cNvPr>
          <p:cNvSpPr txBox="1"/>
          <p:nvPr/>
        </p:nvSpPr>
        <p:spPr>
          <a:xfrm>
            <a:off x="4948567" y="305966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2DF6237F-07B1-4712-871D-4229933C24AE}"/>
              </a:ext>
            </a:extLst>
          </p:cNvPr>
          <p:cNvSpPr/>
          <p:nvPr/>
        </p:nvSpPr>
        <p:spPr>
          <a:xfrm>
            <a:off x="5433283" y="3183423"/>
            <a:ext cx="602373" cy="5908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1" name="表格 31">
            <a:extLst>
              <a:ext uri="{FF2B5EF4-FFF2-40B4-BE49-F238E27FC236}">
                <a16:creationId xmlns:a16="http://schemas.microsoft.com/office/drawing/2014/main" id="{E0BCAEE8-C0DF-4A12-A03A-9DCDBCF1E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870629"/>
              </p:ext>
            </p:extLst>
          </p:nvPr>
        </p:nvGraphicFramePr>
        <p:xfrm>
          <a:off x="4709368" y="414660"/>
          <a:ext cx="4119213" cy="240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071">
                  <a:extLst>
                    <a:ext uri="{9D8B030D-6E8A-4147-A177-3AD203B41FA5}">
                      <a16:colId xmlns:a16="http://schemas.microsoft.com/office/drawing/2014/main" val="561619183"/>
                    </a:ext>
                  </a:extLst>
                </a:gridCol>
                <a:gridCol w="1373071">
                  <a:extLst>
                    <a:ext uri="{9D8B030D-6E8A-4147-A177-3AD203B41FA5}">
                      <a16:colId xmlns:a16="http://schemas.microsoft.com/office/drawing/2014/main" val="2110126476"/>
                    </a:ext>
                  </a:extLst>
                </a:gridCol>
                <a:gridCol w="1373071">
                  <a:extLst>
                    <a:ext uri="{9D8B030D-6E8A-4147-A177-3AD203B41FA5}">
                      <a16:colId xmlns:a16="http://schemas.microsoft.com/office/drawing/2014/main" val="3043948704"/>
                    </a:ext>
                  </a:extLst>
                </a:gridCol>
              </a:tblGrid>
              <a:tr h="596584">
                <a:tc>
                  <a:txBody>
                    <a:bodyPr/>
                    <a:lstStyle/>
                    <a:p>
                      <a:endParaRPr lang="zh-TW" altLang="en-US" sz="3000"/>
                    </a:p>
                  </a:txBody>
                  <a:tcPr marL="143510" marR="143510" marT="71755" marB="71755"/>
                </a:tc>
                <a:tc>
                  <a:txBody>
                    <a:bodyPr/>
                    <a:lstStyle/>
                    <a:p>
                      <a:r>
                        <a:rPr lang="en-US" altLang="zh-TW" sz="3000" dirty="0"/>
                        <a:t>b</a:t>
                      </a:r>
                      <a:endParaRPr lang="zh-TW" altLang="en-US" sz="3000" dirty="0"/>
                    </a:p>
                  </a:txBody>
                  <a:tcPr marL="143510" marR="143510" marT="71755" marB="71755"/>
                </a:tc>
                <a:tc>
                  <a:txBody>
                    <a:bodyPr/>
                    <a:lstStyle/>
                    <a:p>
                      <a:r>
                        <a:rPr lang="en-US" altLang="zh-TW" sz="3000" dirty="0"/>
                        <a:t>c</a:t>
                      </a:r>
                      <a:endParaRPr lang="zh-TW" altLang="en-US" sz="3000" dirty="0"/>
                    </a:p>
                  </a:txBody>
                  <a:tcPr marL="143510" marR="143510" marT="71755" marB="71755"/>
                </a:tc>
                <a:extLst>
                  <a:ext uri="{0D108BD9-81ED-4DB2-BD59-A6C34878D82A}">
                    <a16:rowId xmlns:a16="http://schemas.microsoft.com/office/drawing/2014/main" val="3041613364"/>
                  </a:ext>
                </a:extLst>
              </a:tr>
              <a:tr h="596584">
                <a:tc>
                  <a:txBody>
                    <a:bodyPr/>
                    <a:lstStyle/>
                    <a:p>
                      <a:r>
                        <a:rPr lang="en-US" altLang="zh-TW" sz="3000" dirty="0"/>
                        <a:t>1</a:t>
                      </a:r>
                      <a:endParaRPr lang="zh-TW" altLang="en-US" sz="3000" dirty="0"/>
                    </a:p>
                  </a:txBody>
                  <a:tcPr marL="143510" marR="143510" marT="71755" marB="71755"/>
                </a:tc>
                <a:tc>
                  <a:txBody>
                    <a:bodyPr/>
                    <a:lstStyle/>
                    <a:p>
                      <a:r>
                        <a:rPr lang="en-US" altLang="zh-TW" sz="3000" dirty="0"/>
                        <a:t>2</a:t>
                      </a:r>
                      <a:endParaRPr lang="zh-TW" altLang="en-US" sz="3000" dirty="0"/>
                    </a:p>
                  </a:txBody>
                  <a:tcPr marL="143510" marR="143510" marT="71755" marB="71755"/>
                </a:tc>
                <a:tc>
                  <a:txBody>
                    <a:bodyPr/>
                    <a:lstStyle/>
                    <a:p>
                      <a:r>
                        <a:rPr lang="en-US" altLang="zh-TW" sz="3000" dirty="0"/>
                        <a:t>-</a:t>
                      </a:r>
                      <a:endParaRPr lang="zh-TW" altLang="en-US" sz="3000" dirty="0"/>
                    </a:p>
                  </a:txBody>
                  <a:tcPr marL="143510" marR="143510" marT="71755" marB="71755"/>
                </a:tc>
                <a:extLst>
                  <a:ext uri="{0D108BD9-81ED-4DB2-BD59-A6C34878D82A}">
                    <a16:rowId xmlns:a16="http://schemas.microsoft.com/office/drawing/2014/main" val="3124317272"/>
                  </a:ext>
                </a:extLst>
              </a:tr>
              <a:tr h="596584">
                <a:tc>
                  <a:txBody>
                    <a:bodyPr/>
                    <a:lstStyle/>
                    <a:p>
                      <a:r>
                        <a:rPr lang="en-US" altLang="zh-TW" sz="3000" dirty="0"/>
                        <a:t>2</a:t>
                      </a:r>
                      <a:endParaRPr lang="zh-TW" altLang="en-US" sz="3000" dirty="0"/>
                    </a:p>
                  </a:txBody>
                  <a:tcPr marL="143510" marR="143510" marT="71755" marB="71755"/>
                </a:tc>
                <a:tc>
                  <a:txBody>
                    <a:bodyPr/>
                    <a:lstStyle/>
                    <a:p>
                      <a:r>
                        <a:rPr lang="en-US" altLang="zh-TW" sz="3000" dirty="0"/>
                        <a:t>2</a:t>
                      </a:r>
                      <a:endParaRPr lang="zh-TW" altLang="en-US" sz="3000" dirty="0"/>
                    </a:p>
                  </a:txBody>
                  <a:tcPr marL="143510" marR="143510" marT="71755" marB="71755"/>
                </a:tc>
                <a:tc>
                  <a:txBody>
                    <a:bodyPr/>
                    <a:lstStyle/>
                    <a:p>
                      <a:r>
                        <a:rPr lang="en-US" altLang="zh-TW" sz="3000" dirty="0"/>
                        <a:t>3</a:t>
                      </a:r>
                      <a:endParaRPr lang="zh-TW" altLang="en-US" sz="3000" dirty="0"/>
                    </a:p>
                  </a:txBody>
                  <a:tcPr marL="143510" marR="143510" marT="71755" marB="71755"/>
                </a:tc>
                <a:extLst>
                  <a:ext uri="{0D108BD9-81ED-4DB2-BD59-A6C34878D82A}">
                    <a16:rowId xmlns:a16="http://schemas.microsoft.com/office/drawing/2014/main" val="3648108810"/>
                  </a:ext>
                </a:extLst>
              </a:tr>
              <a:tr h="596584">
                <a:tc>
                  <a:txBody>
                    <a:bodyPr/>
                    <a:lstStyle/>
                    <a:p>
                      <a:r>
                        <a:rPr lang="en-US" altLang="zh-TW" sz="3000" dirty="0"/>
                        <a:t>3</a:t>
                      </a:r>
                      <a:endParaRPr lang="zh-TW" altLang="en-US" sz="3000" dirty="0"/>
                    </a:p>
                  </a:txBody>
                  <a:tcPr marL="143510" marR="143510" marT="71755" marB="71755"/>
                </a:tc>
                <a:tc>
                  <a:txBody>
                    <a:bodyPr/>
                    <a:lstStyle/>
                    <a:p>
                      <a:r>
                        <a:rPr lang="en-US" altLang="zh-TW" sz="3000" dirty="0"/>
                        <a:t>-</a:t>
                      </a:r>
                      <a:endParaRPr lang="zh-TW" altLang="en-US" sz="3000" dirty="0"/>
                    </a:p>
                  </a:txBody>
                  <a:tcPr marL="143510" marR="143510" marT="71755" marB="71755"/>
                </a:tc>
                <a:tc>
                  <a:txBody>
                    <a:bodyPr/>
                    <a:lstStyle/>
                    <a:p>
                      <a:r>
                        <a:rPr lang="en-US" altLang="zh-TW" sz="3000" dirty="0"/>
                        <a:t>-</a:t>
                      </a:r>
                      <a:endParaRPr lang="zh-TW" altLang="en-US" sz="3000" dirty="0"/>
                    </a:p>
                  </a:txBody>
                  <a:tcPr marL="143510" marR="143510" marT="71755" marB="71755"/>
                </a:tc>
                <a:extLst>
                  <a:ext uri="{0D108BD9-81ED-4DB2-BD59-A6C34878D82A}">
                    <a16:rowId xmlns:a16="http://schemas.microsoft.com/office/drawing/2014/main" val="1752755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17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altLang="zh-TW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id="{ECC5393D-EB7D-49A7-BAC6-8AD9A6AD4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355" y="1052736"/>
            <a:ext cx="5976645" cy="5530626"/>
          </a:xfrm>
          <a:prstGeom prst="rect">
            <a:avLst/>
          </a:prstGeom>
        </p:spPr>
      </p:pic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B9A5A8B-AE0E-4339-A20B-295309B6BA5E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233364" y="3501008"/>
            <a:ext cx="2338636" cy="1756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4E1A2FC-D1D0-47C9-AB06-E59E661A73AB}"/>
              </a:ext>
            </a:extLst>
          </p:cNvPr>
          <p:cNvSpPr txBox="1"/>
          <p:nvPr/>
        </p:nvSpPr>
        <p:spPr>
          <a:xfrm>
            <a:off x="1475656" y="5026967"/>
            <a:ext cx="757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start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34136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altLang="zh-TW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544079F5-1DDA-4012-B43D-04DE1B67C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823849"/>
              </p:ext>
            </p:extLst>
          </p:nvPr>
        </p:nvGraphicFramePr>
        <p:xfrm>
          <a:off x="1524000" y="3940264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DFA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F36F9288-3FF4-4DB4-9862-8ED6BBD3F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0"/>
            <a:ext cx="3996933" cy="369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8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a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CC5393D-EB7D-49A7-BAC6-8AD9A6AD4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961" y="1052736"/>
            <a:ext cx="5976645" cy="5530626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0132A7EA-4976-46D4-AA86-54CEEFCC5575}"/>
              </a:ext>
            </a:extLst>
          </p:cNvPr>
          <p:cNvSpPr/>
          <p:nvPr/>
        </p:nvSpPr>
        <p:spPr>
          <a:xfrm>
            <a:off x="5220072" y="234888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2832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CC5393D-EB7D-49A7-BAC6-8AD9A6AD4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961" y="1052736"/>
            <a:ext cx="5976645" cy="5530626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C937731D-E0AC-480E-B9E8-B6C7C033A20D}"/>
              </a:ext>
            </a:extLst>
          </p:cNvPr>
          <p:cNvSpPr/>
          <p:nvPr/>
        </p:nvSpPr>
        <p:spPr>
          <a:xfrm>
            <a:off x="3851920" y="306896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470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CC5393D-EB7D-49A7-BAC6-8AD9A6AD4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961" y="1052736"/>
            <a:ext cx="5976645" cy="5530626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C937731D-E0AC-480E-B9E8-B6C7C033A20D}"/>
              </a:ext>
            </a:extLst>
          </p:cNvPr>
          <p:cNvSpPr/>
          <p:nvPr/>
        </p:nvSpPr>
        <p:spPr>
          <a:xfrm>
            <a:off x="5436096" y="321297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210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CC5393D-EB7D-49A7-BAC6-8AD9A6AD4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961" y="1052736"/>
            <a:ext cx="5976645" cy="5530626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C937731D-E0AC-480E-B9E8-B6C7C033A20D}"/>
              </a:ext>
            </a:extLst>
          </p:cNvPr>
          <p:cNvSpPr/>
          <p:nvPr/>
        </p:nvSpPr>
        <p:spPr>
          <a:xfrm>
            <a:off x="6804248" y="357301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1928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cccbd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CC5393D-EB7D-49A7-BAC6-8AD9A6AD4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961" y="1052736"/>
            <a:ext cx="5976645" cy="5530626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5716C38A-F5C5-4640-B1ED-8A78B2C53BB6}"/>
              </a:ext>
            </a:extLst>
          </p:cNvPr>
          <p:cNvSpPr/>
          <p:nvPr/>
        </p:nvSpPr>
        <p:spPr>
          <a:xfrm>
            <a:off x="3851920" y="306896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2449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cccbd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CC5393D-EB7D-49A7-BAC6-8AD9A6AD4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961" y="1052736"/>
            <a:ext cx="5976645" cy="5530626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5716C38A-F5C5-4640-B1ED-8A78B2C53BB6}"/>
              </a:ext>
            </a:extLst>
          </p:cNvPr>
          <p:cNvSpPr/>
          <p:nvPr/>
        </p:nvSpPr>
        <p:spPr>
          <a:xfrm>
            <a:off x="5436096" y="321297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8730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cccbd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CC5393D-EB7D-49A7-BAC6-8AD9A6AD4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961" y="1052736"/>
            <a:ext cx="5976645" cy="5530626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5716C38A-F5C5-4640-B1ED-8A78B2C53BB6}"/>
              </a:ext>
            </a:extLst>
          </p:cNvPr>
          <p:cNvSpPr/>
          <p:nvPr/>
        </p:nvSpPr>
        <p:spPr>
          <a:xfrm>
            <a:off x="5724128" y="450912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2638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BB5FFBF6-3FED-4B1E-951C-F3B078565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660" y="1124744"/>
            <a:ext cx="6120680" cy="563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54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D4C540E3-4D62-4F7C-AC1D-A163A163B6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807"/>
          <a:stretch/>
        </p:blipFill>
        <p:spPr>
          <a:xfrm>
            <a:off x="-50368" y="1417639"/>
            <a:ext cx="3291788" cy="37341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6">
                <a:extLst>
                  <a:ext uri="{FF2B5EF4-FFF2-40B4-BE49-F238E27FC236}">
                    <a16:creationId xmlns:a16="http://schemas.microsoft.com/office/drawing/2014/main" id="{EB424DBB-7D69-4E2F-9084-C95F043C88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5983370"/>
                  </p:ext>
                </p:extLst>
              </p:nvPr>
            </p:nvGraphicFramePr>
            <p:xfrm>
              <a:off x="5242990" y="343394"/>
              <a:ext cx="3672410" cy="13727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4482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2397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12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12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a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b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c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d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2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3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4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4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5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6">
                <a:extLst>
                  <a:ext uri="{FF2B5EF4-FFF2-40B4-BE49-F238E27FC236}">
                    <a16:creationId xmlns:a16="http://schemas.microsoft.com/office/drawing/2014/main" id="{EB424DBB-7D69-4E2F-9084-C95F043C88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5983370"/>
                  </p:ext>
                </p:extLst>
              </p:nvPr>
            </p:nvGraphicFramePr>
            <p:xfrm>
              <a:off x="5242990" y="343394"/>
              <a:ext cx="3672410" cy="13727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4482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23971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280" marR="54280" marT="27140" marB="27140">
                        <a:blipFill>
                          <a:blip r:embed="rId5"/>
                          <a:stretch>
                            <a:fillRect l="-826" t="-10256" r="-401653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a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b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c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d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2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3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4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4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5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CC5DEF28-F8DD-4CB7-B112-3AD686F00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52584"/>
              </p:ext>
            </p:extLst>
          </p:nvPr>
        </p:nvGraphicFramePr>
        <p:xfrm>
          <a:off x="664276" y="74030"/>
          <a:ext cx="3691700" cy="1372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340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738340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738340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738340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738340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228786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Char-State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a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b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c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d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28786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228786"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228786"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228786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4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228786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5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BAD4FFD5-4F8D-4DF2-9D71-F27B9BA710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700" y="4521982"/>
            <a:ext cx="4714955" cy="233601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D082535-E9EC-4658-8629-10F0FF5C4CD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430" t="2558" r="3602" b="-2558"/>
          <a:stretch/>
        </p:blipFill>
        <p:spPr>
          <a:xfrm>
            <a:off x="3241419" y="1804018"/>
            <a:ext cx="3262652" cy="308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21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238762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5761176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5761176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14397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530381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104243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104243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5D8D4D7A-28F2-407E-9B8C-29077BE2F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677" y="1052736"/>
            <a:ext cx="5976645" cy="553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47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676028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6487566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6487566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88622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169990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14000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759722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3359935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3359935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40492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132101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80607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541321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7606072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7606072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77312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895870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60766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581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6815523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6815523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09072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393110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3093967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3093967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00671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817539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6567559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6567559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24495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029856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3657622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3657622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086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779761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8723763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8723763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4954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051998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0467056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0467056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080132B9-CC55-4E8A-8EC2-62B4147DC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677" y="663687"/>
            <a:ext cx="5976645" cy="553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6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191480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226478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226478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9829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094684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5423695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5423695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50524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964177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5714202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5714202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rgbClr val="00B050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7467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991122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5221795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5221795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74105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757566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349851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4952950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22856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075632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8091437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8091437"/>
                  </p:ext>
                </p:extLst>
              </p:nvPr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42871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946103"/>
              </p:ext>
            </p:extLst>
          </p:nvPr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41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1839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03648" y="3429000"/>
              <a:ext cx="7137765" cy="26845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7553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427553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47282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107067" marR="107067" marT="53534" marB="53534">
                        <a:blipFill>
                          <a:blip r:embed="rId4"/>
                          <a:stretch>
                            <a:fillRect l="-427" t="-6410" r="-402564" b="-4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a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b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c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d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2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3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1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4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442348"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5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/>
                            <a:t>LOCAL_TX</a:t>
                          </a:r>
                          <a:endParaRPr lang="zh-TW" altLang="en-US" sz="2200" dirty="0"/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7067" marR="107067" marT="53534" marB="53534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007924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E4BACE12-F60B-464C-9E7E-C242D6793763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1340768"/>
          <a:ext cx="5198990" cy="1930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798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039798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DFA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49847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317435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rgbClr val="00B050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77985" marR="77985" marT="38993" marB="38993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0E508F3-AD0F-4E78-992A-023AF4ABB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248308"/>
              </p:ext>
            </p:extLst>
          </p:nvPr>
        </p:nvGraphicFramePr>
        <p:xfrm>
          <a:off x="1403648" y="3429000"/>
          <a:ext cx="7204633" cy="2654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421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1427553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1427553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1427553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1427553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441839"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Char-State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a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b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c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d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441839"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1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1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1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1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1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441839"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0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/>
                        <a:t>0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07067" marR="107067" marT="53534" marB="53534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441839">
                <a:tc>
                  <a:txBody>
                    <a:bodyPr/>
                    <a:lstStyle/>
                    <a:p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/>
                        <a:t>0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07067" marR="107067" marT="53534" marB="53534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441839"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4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0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/>
                        <a:t>0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07067" marR="107067" marT="53534" marB="53534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441839"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5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/>
                        <a:t>0</a:t>
                      </a:r>
                      <a:endParaRPr lang="zh-TW" altLang="en-US" sz="2200" dirty="0"/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07067" marR="107067" marT="53534" marB="535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07067" marR="107067" marT="53534" marB="53534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4611D5D2-7138-4719-8C7D-E977EB22E4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4555566"/>
                  </p:ext>
                </p:extLst>
              </p:nvPr>
            </p:nvGraphicFramePr>
            <p:xfrm>
              <a:off x="3563888" y="1355236"/>
              <a:ext cx="5198990" cy="19689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798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039798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039798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039798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039798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34439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17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17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a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b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c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d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32491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1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2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3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1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4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32491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32491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32491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4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32491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5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4611D5D2-7138-4719-8C7D-E977EB22E4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4555566"/>
                  </p:ext>
                </p:extLst>
              </p:nvPr>
            </p:nvGraphicFramePr>
            <p:xfrm>
              <a:off x="3563888" y="1355236"/>
              <a:ext cx="5198990" cy="19689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798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1039798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1039798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1039798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1039798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34439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77985" marR="77985" marT="38993" marB="38993">
                        <a:blipFill>
                          <a:blip r:embed="rId4"/>
                          <a:stretch>
                            <a:fillRect l="-585" t="-7018" r="-401754" b="-4912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a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b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c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d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32491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1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2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3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1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4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32491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32491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32491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4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324910"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5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/>
                            <a:t>LOCAL_TX</a:t>
                          </a:r>
                          <a:endParaRPr lang="zh-TW" altLang="en-US" sz="1600" dirty="0"/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7985" marR="77985" marT="38993" marB="38993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71475A6A-A981-49FE-9B7C-F5AAF30D4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012" y="1266825"/>
            <a:ext cx="437197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84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𝐿𝑜𝑜𝑘𝑢𝑝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CAA2D1FC-4A0C-4830-AE26-183473666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30" y="1628800"/>
            <a:ext cx="7700540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12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31196C5-A8B0-4133-87B7-390E97135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7" y="2564904"/>
            <a:ext cx="6542683" cy="32415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𝐿𝑜𝑜𝑘𝑢𝑝</m:t>
                    </m:r>
                  </m:oMath>
                </a14:m>
                <a:r>
                  <a:rPr lang="zh-TW" alt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Construction</a:t>
                </a:r>
                <a:endParaRPr lang="zh-TW" alt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6071934"/>
                  </p:ext>
                </p:extLst>
              </p:nvPr>
            </p:nvGraphicFramePr>
            <p:xfrm>
              <a:off x="5436096" y="1340768"/>
              <a:ext cx="3672410" cy="13727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4482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2397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12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𝛿</m:t>
                                </m:r>
                                <m:r>
                                  <a:rPr lang="en-US" altLang="zh-TW" sz="1200" b="0" i="1" dirty="0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𝐹𝐴</m:t>
                                </m:r>
                              </m:oMath>
                            </m:oMathPara>
                          </a14:m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a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b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c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d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2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3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4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4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5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0E508F3-AD0F-4E78-992A-023AF4ABB3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6071934"/>
                  </p:ext>
                </p:extLst>
              </p:nvPr>
            </p:nvGraphicFramePr>
            <p:xfrm>
              <a:off x="5436096" y="1340768"/>
              <a:ext cx="3672410" cy="13727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4482">
                      <a:extLst>
                        <a:ext uri="{9D8B030D-6E8A-4147-A177-3AD203B41FA5}">
                          <a16:colId xmlns:a16="http://schemas.microsoft.com/office/drawing/2014/main" val="1349291660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1833265482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412340121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1628534618"/>
                        </a:ext>
                      </a:extLst>
                    </a:gridCol>
                    <a:gridCol w="734482">
                      <a:extLst>
                        <a:ext uri="{9D8B030D-6E8A-4147-A177-3AD203B41FA5}">
                          <a16:colId xmlns:a16="http://schemas.microsoft.com/office/drawing/2014/main" val="3204104019"/>
                        </a:ext>
                      </a:extLst>
                    </a:gridCol>
                  </a:tblGrid>
                  <a:tr h="23971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54280" marR="54280" marT="27140" marB="27140">
                        <a:blipFill>
                          <a:blip r:embed="rId5"/>
                          <a:stretch>
                            <a:fillRect l="-826" t="-7500" r="-402479" b="-4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a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b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c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d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1721789086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2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3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4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877393696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257718072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656165915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4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3438262882"/>
                      </a:ext>
                    </a:extLst>
                  </a:tr>
                  <a:tr h="226601"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5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LOCAL_TX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/>
                            <a:t>1</a:t>
                          </a:r>
                          <a:endParaRPr lang="zh-TW" altLang="en-US" sz="1100" dirty="0"/>
                        </a:p>
                      </a:txBody>
                      <a:tcPr marL="54280" marR="54280" marT="27140" marB="2714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>
                              <a:solidFill>
                                <a:schemeClr val="tx1"/>
                              </a:solidFill>
                            </a:rPr>
                            <a:t>LOCAL_TX</a:t>
                          </a:r>
                          <a:endParaRPr lang="zh-TW" altLang="en-US" sz="11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4280" marR="54280" marT="27140" marB="27140"/>
                    </a:tc>
                    <a:extLst>
                      <a:ext uri="{0D108BD9-81ED-4DB2-BD59-A6C34878D82A}">
                        <a16:rowId xmlns:a16="http://schemas.microsoft.com/office/drawing/2014/main" val="336230838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表格 6">
            <a:extLst>
              <a:ext uri="{FF2B5EF4-FFF2-40B4-BE49-F238E27FC236}">
                <a16:creationId xmlns:a16="http://schemas.microsoft.com/office/drawing/2014/main" id="{E8FDADC4-D630-46DC-A24A-5F3FF31F1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592015"/>
              </p:ext>
            </p:extLst>
          </p:nvPr>
        </p:nvGraphicFramePr>
        <p:xfrm>
          <a:off x="736284" y="1340768"/>
          <a:ext cx="3691700" cy="1372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340">
                  <a:extLst>
                    <a:ext uri="{9D8B030D-6E8A-4147-A177-3AD203B41FA5}">
                      <a16:colId xmlns:a16="http://schemas.microsoft.com/office/drawing/2014/main" val="1349291660"/>
                    </a:ext>
                  </a:extLst>
                </a:gridCol>
                <a:gridCol w="738340">
                  <a:extLst>
                    <a:ext uri="{9D8B030D-6E8A-4147-A177-3AD203B41FA5}">
                      <a16:colId xmlns:a16="http://schemas.microsoft.com/office/drawing/2014/main" val="1833265482"/>
                    </a:ext>
                  </a:extLst>
                </a:gridCol>
                <a:gridCol w="738340">
                  <a:extLst>
                    <a:ext uri="{9D8B030D-6E8A-4147-A177-3AD203B41FA5}">
                      <a16:colId xmlns:a16="http://schemas.microsoft.com/office/drawing/2014/main" val="412340121"/>
                    </a:ext>
                  </a:extLst>
                </a:gridCol>
                <a:gridCol w="738340">
                  <a:extLst>
                    <a:ext uri="{9D8B030D-6E8A-4147-A177-3AD203B41FA5}">
                      <a16:colId xmlns:a16="http://schemas.microsoft.com/office/drawing/2014/main" val="1628534618"/>
                    </a:ext>
                  </a:extLst>
                </a:gridCol>
                <a:gridCol w="738340">
                  <a:extLst>
                    <a:ext uri="{9D8B030D-6E8A-4147-A177-3AD203B41FA5}">
                      <a16:colId xmlns:a16="http://schemas.microsoft.com/office/drawing/2014/main" val="3204104019"/>
                    </a:ext>
                  </a:extLst>
                </a:gridCol>
              </a:tblGrid>
              <a:tr h="228786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Char-State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a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b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c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d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extLst>
                  <a:ext uri="{0D108BD9-81ED-4DB2-BD59-A6C34878D82A}">
                    <a16:rowId xmlns:a16="http://schemas.microsoft.com/office/drawing/2014/main" val="1721789086"/>
                  </a:ext>
                </a:extLst>
              </a:tr>
              <a:tr h="228786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extLst>
                  <a:ext uri="{0D108BD9-81ED-4DB2-BD59-A6C34878D82A}">
                    <a16:rowId xmlns:a16="http://schemas.microsoft.com/office/drawing/2014/main" val="877393696"/>
                  </a:ext>
                </a:extLst>
              </a:tr>
              <a:tr h="228786"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extLst>
                  <a:ext uri="{0D108BD9-81ED-4DB2-BD59-A6C34878D82A}">
                    <a16:rowId xmlns:a16="http://schemas.microsoft.com/office/drawing/2014/main" val="257718072"/>
                  </a:ext>
                </a:extLst>
              </a:tr>
              <a:tr h="228786"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extLst>
                  <a:ext uri="{0D108BD9-81ED-4DB2-BD59-A6C34878D82A}">
                    <a16:rowId xmlns:a16="http://schemas.microsoft.com/office/drawing/2014/main" val="656165915"/>
                  </a:ext>
                </a:extLst>
              </a:tr>
              <a:tr h="228786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4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extLst>
                  <a:ext uri="{0D108BD9-81ED-4DB2-BD59-A6C34878D82A}">
                    <a16:rowId xmlns:a16="http://schemas.microsoft.com/office/drawing/2014/main" val="3438262882"/>
                  </a:ext>
                </a:extLst>
              </a:tr>
              <a:tr h="228786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5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/>
                        <a:t>0</a:t>
                      </a:r>
                      <a:endParaRPr lang="zh-TW" altLang="en-US" sz="1100" dirty="0"/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55376" marR="55376" marT="27688" marB="27688"/>
                </a:tc>
                <a:extLst>
                  <a:ext uri="{0D108BD9-81ED-4DB2-BD59-A6C34878D82A}">
                    <a16:rowId xmlns:a16="http://schemas.microsoft.com/office/drawing/2014/main" val="3362308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388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標題 1">
            <a:extLst>
              <a:ext uri="{FF2B5EF4-FFF2-40B4-BE49-F238E27FC236}">
                <a16:creationId xmlns:a16="http://schemas.microsoft.com/office/drawing/2014/main" id="{CD911A08-F300-47CE-9B52-3B853889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TW" sz="4000">
                <a:latin typeface="Times New Roman" pitchFamily="18" charset="0"/>
                <a:cs typeface="Times New Roman" pitchFamily="18" charset="0"/>
              </a:rPr>
              <a:t>Experimental Results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115B4B1-1E90-47AB-8F07-1B34321AB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" y="2398638"/>
            <a:ext cx="9031224" cy="206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29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標題 1">
            <a:extLst>
              <a:ext uri="{FF2B5EF4-FFF2-40B4-BE49-F238E27FC236}">
                <a16:creationId xmlns:a16="http://schemas.microsoft.com/office/drawing/2014/main" id="{CD911A08-F300-47CE-9B52-3B853889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TW" sz="4000">
                <a:latin typeface="Times New Roman" pitchFamily="18" charset="0"/>
                <a:cs typeface="Times New Roman" pitchFamily="18" charset="0"/>
              </a:rPr>
              <a:t>Experimental Results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5CDEC17-9E49-4B26-A30F-59A581773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500187"/>
            <a:ext cx="870585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491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標題 1">
            <a:extLst>
              <a:ext uri="{FF2B5EF4-FFF2-40B4-BE49-F238E27FC236}">
                <a16:creationId xmlns:a16="http://schemas.microsoft.com/office/drawing/2014/main" id="{CD911A08-F300-47CE-9B52-3B853889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TW" sz="4000">
                <a:latin typeface="Times New Roman" pitchFamily="18" charset="0"/>
                <a:cs typeface="Times New Roman" pitchFamily="18" charset="0"/>
              </a:rPr>
              <a:t>Experimental Results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AD8F5F9-9C07-4913-8E70-8F547C3DE6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705"/>
          <a:stretch/>
        </p:blipFill>
        <p:spPr>
          <a:xfrm>
            <a:off x="1817260" y="2994074"/>
            <a:ext cx="5509479" cy="386392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251B9A0-9B08-4126-AF5C-3767DA453A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97" t="4272" r="2248" b="4621"/>
          <a:stretch/>
        </p:blipFill>
        <p:spPr>
          <a:xfrm>
            <a:off x="2267744" y="1484783"/>
            <a:ext cx="4680520" cy="144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261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 only a state transition per character, thus allowing a fast string matching.  </a:t>
                </a:r>
              </a:p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Char-State can be efficiently integrated into </a:t>
                </a:r>
                <a14:m>
                  <m:oMath xmlns:m="http://schemas.openxmlformats.org/officeDocument/2006/math"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𝛿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𝐹𝐴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allowing a further memory reduction with a negligible increase in the state lookup time.</a:t>
                </a:r>
              </a:p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orthogonal to previous solutions.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14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標題 1">
            <a:extLst>
              <a:ext uri="{FF2B5EF4-FFF2-40B4-BE49-F238E27FC236}">
                <a16:creationId xmlns:a16="http://schemas.microsoft.com/office/drawing/2014/main" id="{CD911A08-F300-47CE-9B52-3B853889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Conclusions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28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2189</Words>
  <Application>Microsoft Office PowerPoint</Application>
  <PresentationFormat>如螢幕大小 (4:3)</PresentationFormat>
  <Paragraphs>1486</Paragraphs>
  <Slides>44</Slides>
  <Notes>44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49" baseType="lpstr">
      <vt:lpstr>Arial</vt:lpstr>
      <vt:lpstr>Calibri</vt:lpstr>
      <vt:lpstr>Cambria Math</vt:lpstr>
      <vt:lpstr>Times New Roman</vt:lpstr>
      <vt:lpstr>Office 佈景主題</vt:lpstr>
      <vt:lpstr> An Improved DFA for Fast Regular Expression Matching</vt:lpstr>
      <vt:lpstr>Abstract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δFA Construction</vt:lpstr>
      <vt:lpstr>Lookup Construction</vt:lpstr>
      <vt:lpstr>Lookup Construction</vt:lpstr>
      <vt:lpstr>Experimental Results</vt:lpstr>
      <vt:lpstr>Experimental Results</vt:lpstr>
      <vt:lpstr>Experimental Results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faster algorithm for finding shortest substring matches of a regular expression</dc:title>
  <dc:creator>M093040098</dc:creator>
  <cp:lastModifiedBy>pplab</cp:lastModifiedBy>
  <cp:revision>76</cp:revision>
  <dcterms:created xsi:type="dcterms:W3CDTF">2020-10-30T08:30:28Z</dcterms:created>
  <dcterms:modified xsi:type="dcterms:W3CDTF">2021-01-19T09:05:52Z</dcterms:modified>
</cp:coreProperties>
</file>