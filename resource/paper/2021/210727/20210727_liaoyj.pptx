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67" r:id="rId4"/>
    <p:sldId id="268" r:id="rId5"/>
    <p:sldId id="272" r:id="rId6"/>
    <p:sldId id="269" r:id="rId7"/>
    <p:sldId id="271" r:id="rId8"/>
    <p:sldId id="273" r:id="rId9"/>
    <p:sldId id="270" r:id="rId10"/>
    <p:sldId id="274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90FA8-A7D4-44E9-ADF4-3783012E1A54}" v="73" dt="2021-07-27T06:09:1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4" autoAdjust="0"/>
    <p:restoredTop sz="90015" autoAdjust="0"/>
  </p:normalViewPr>
  <p:slideViewPr>
    <p:cSldViewPr snapToGrid="0">
      <p:cViewPr varScale="1">
        <p:scale>
          <a:sx n="100" d="100"/>
          <a:sy n="100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2021/7/27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3574"/>
            <a:ext cx="9144000" cy="136687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R-CNN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1792"/>
            <a:ext cx="9144000" cy="1177017"/>
          </a:xfrm>
        </p:spPr>
        <p:txBody>
          <a:bodyPr>
            <a:norm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Computer Vision (ICCV), 2015, pp. 1440-1448</a:t>
            </a:r>
          </a:p>
          <a:p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微軟正黑體" pitchFamily="34" charset="-120"/>
                <a:ea typeface="微軟正黑體" pitchFamily="34" charset="-120"/>
              </a:rPr>
              <a:t>Presenter :</a:t>
            </a:r>
            <a:r>
              <a:rPr lang="zh-TW" altLang="en-US" sz="16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600" dirty="0"/>
              <a:t>Yu-Ju, Liao</a:t>
            </a:r>
          </a:p>
          <a:p>
            <a:r>
              <a:rPr lang="en-US" altLang="zh-TW" sz="1600" dirty="0">
                <a:latin typeface="微軟正黑體" pitchFamily="34" charset="-120"/>
                <a:ea typeface="微軟正黑體" pitchFamily="34" charset="-120"/>
              </a:rPr>
              <a:t>Date :</a:t>
            </a:r>
            <a:r>
              <a:rPr lang="zh-TW" altLang="en-US" sz="16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July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27, 2021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This paper proposes a Fast Region-based Convolutional Network method (Fast R-CNN) for object detection. Fast R-CNN builds on previous work to efficiently classify object proposals using deep convolutional networks. Compared to previous work, Fast R-CNN employs several innovations to improve training and testing speed while also increasing detection accuracy. Fast R-CNN trains the very deep VGG16 network 9× faster than R-CNN, is 213× faster at test-time, and achieves a higher </a:t>
            </a:r>
            <a:r>
              <a:rPr lang="en-US" altLang="zh-TW" dirty="0" err="1"/>
              <a:t>mAP</a:t>
            </a:r>
            <a:r>
              <a:rPr lang="en-US" altLang="zh-TW" dirty="0"/>
              <a:t> on PASCAL VOC 2012. Compared to </a:t>
            </a:r>
            <a:r>
              <a:rPr lang="en-US" altLang="zh-TW" dirty="0" err="1"/>
              <a:t>SPPnet</a:t>
            </a:r>
            <a:r>
              <a:rPr lang="en-US" altLang="zh-TW" dirty="0"/>
              <a:t>, Fast R-CNN trains VGG16 3× faster, tests 10× faster, and is more accurate. Fast R-CNN is implemented in Python and C++ (using Caffe) and is available under the open-source MIT License at https: //github.com/</a:t>
            </a:r>
            <a:r>
              <a:rPr lang="en-US" altLang="zh-TW" dirty="0" err="1"/>
              <a:t>rbgirshick</a:t>
            </a:r>
            <a:r>
              <a:rPr lang="en-US" altLang="zh-TW" dirty="0"/>
              <a:t>/fast-</a:t>
            </a:r>
            <a:r>
              <a:rPr lang="en-US" altLang="zh-TW" dirty="0" err="1"/>
              <a:t>rcnn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295903F-D2E5-48CE-8311-2AD281F8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b="0" i="0" dirty="0">
                <a:solidFill>
                  <a:srgbClr val="303233"/>
                </a:solidFill>
                <a:effectLst/>
                <a:latin typeface="Lato"/>
              </a:rPr>
              <a:t>Image Classification </a:t>
            </a:r>
          </a:p>
          <a:p>
            <a:endParaRPr lang="en-US" altLang="zh-TW" dirty="0">
              <a:solidFill>
                <a:srgbClr val="303233"/>
              </a:solidFill>
              <a:latin typeface="Lato"/>
            </a:endParaRPr>
          </a:p>
          <a:p>
            <a:endParaRPr lang="en-US" altLang="zh-TW" dirty="0">
              <a:solidFill>
                <a:srgbClr val="303233"/>
              </a:solidFill>
              <a:latin typeface="Lato"/>
            </a:endParaRPr>
          </a:p>
          <a:p>
            <a:pPr marL="0" indent="0">
              <a:buNone/>
            </a:pPr>
            <a:endParaRPr lang="en-US" altLang="zh-TW" dirty="0">
              <a:solidFill>
                <a:srgbClr val="303233"/>
              </a:solidFill>
              <a:latin typeface="Lato"/>
            </a:endParaRPr>
          </a:p>
          <a:p>
            <a:r>
              <a:rPr lang="en-US" altLang="zh-TW" b="0" i="0" dirty="0">
                <a:solidFill>
                  <a:srgbClr val="303233"/>
                </a:solidFill>
                <a:effectLst/>
                <a:latin typeface="Lato"/>
              </a:rPr>
              <a:t>Image Classification + Localization</a:t>
            </a:r>
          </a:p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9E48EDE-4C35-494E-8EC4-E4F919E37A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2"/>
          <a:stretch/>
        </p:blipFill>
        <p:spPr>
          <a:xfrm>
            <a:off x="3189460" y="4254754"/>
            <a:ext cx="5614775" cy="2228962"/>
          </a:xfrm>
          <a:prstGeom prst="rect">
            <a:avLst/>
          </a:prstGeom>
        </p:spPr>
      </p:pic>
      <p:pic>
        <p:nvPicPr>
          <p:cNvPr id="9" name="Picture 2" descr="深度學習：CNN原理. 想必剛踏入深度學習Computer… | by Cinnamon AI Taiwan | Medium">
            <a:extLst>
              <a:ext uri="{FF2B5EF4-FFF2-40B4-BE49-F238E27FC236}">
                <a16:creationId xmlns:a16="http://schemas.microsoft.com/office/drawing/2014/main" id="{8FE30836-4E34-4954-AF9F-42EC74B3F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597" y="1825625"/>
            <a:ext cx="5614775" cy="191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1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295903F-D2E5-48CE-8311-2AD281F8E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(RCNN)</a:t>
            </a:r>
          </a:p>
          <a:p>
            <a:endParaRPr lang="en-US" altLang="zh-TW" dirty="0">
              <a:solidFill>
                <a:srgbClr val="3032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rgbClr val="3032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3032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3032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rgbClr val="3032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Segmentation</a:t>
            </a:r>
            <a:endParaRPr lang="en-US" altLang="zh-TW" dirty="0">
              <a:solidFill>
                <a:srgbClr val="303233"/>
              </a:solidFill>
              <a:latin typeface="Lato"/>
            </a:endParaRPr>
          </a:p>
          <a:p>
            <a:endParaRPr lang="en-US" altLang="zh-TW" dirty="0">
              <a:solidFill>
                <a:srgbClr val="303233"/>
              </a:solidFill>
              <a:latin typeface="Lato"/>
            </a:endParaRPr>
          </a:p>
          <a:p>
            <a:pPr marL="0" indent="0">
              <a:buNone/>
            </a:pPr>
            <a:endParaRPr lang="en-US" altLang="zh-TW" dirty="0">
              <a:solidFill>
                <a:srgbClr val="303233"/>
              </a:solidFill>
              <a:latin typeface="Lato"/>
            </a:endParaRP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82F1B4C-7056-4721-8D1D-BD7EB72C0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048" y="2347524"/>
            <a:ext cx="3221372" cy="18433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FAC3BD5-CA98-40D5-9C8D-D85D5ABE7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158" y="4944684"/>
            <a:ext cx="3389152" cy="191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0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27F3-A6FF-4346-A231-DEA8C2F1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cnn</a:t>
            </a:r>
            <a:endParaRPr lang="zh-TW" altLang="en-US" dirty="0"/>
          </a:p>
        </p:txBody>
      </p:sp>
      <p:pic>
        <p:nvPicPr>
          <p:cNvPr id="2050" name="Picture 2" descr="深度學習：CNN原理. 想必剛踏入深度學習Computer… | by Cinnamon AI Taiwan | Medium">
            <a:extLst>
              <a:ext uri="{FF2B5EF4-FFF2-40B4-BE49-F238E27FC236}">
                <a16:creationId xmlns:a16="http://schemas.microsoft.com/office/drawing/2014/main" id="{CD2C5727-6CF7-4166-B1FD-9A6B05E767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4" y="2108834"/>
            <a:ext cx="95250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8337500-A4AC-4D18-826D-9F9279AA6B8A}"/>
              </a:ext>
            </a:extLst>
          </p:cNvPr>
          <p:cNvSpPr txBox="1"/>
          <p:nvPr/>
        </p:nvSpPr>
        <p:spPr>
          <a:xfrm>
            <a:off x="4655890" y="1739502"/>
            <a:ext cx="166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Feature map</a:t>
            </a:r>
          </a:p>
        </p:txBody>
      </p:sp>
    </p:spTree>
    <p:extLst>
      <p:ext uri="{BB962C8B-B14F-4D97-AF65-F5344CB8AC3E}">
        <p14:creationId xmlns:p14="http://schemas.microsoft.com/office/powerpoint/2010/main" val="170889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F2F42F3-0BD4-4846-959C-F5713662D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164"/>
          <a:stretch/>
        </p:blipFill>
        <p:spPr>
          <a:xfrm>
            <a:off x="158692" y="2339045"/>
            <a:ext cx="9404758" cy="261532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7054F84-D25D-409A-A373-1951079F871A}"/>
              </a:ext>
            </a:extLst>
          </p:cNvPr>
          <p:cNvSpPr txBox="1"/>
          <p:nvPr/>
        </p:nvSpPr>
        <p:spPr>
          <a:xfrm>
            <a:off x="9748006" y="3092710"/>
            <a:ext cx="22230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Abadi" panose="020B0604020202020204" pitchFamily="34" charset="0"/>
              </a:rPr>
              <a:t>5.</a:t>
            </a:r>
            <a:r>
              <a:rPr lang="en-US" altLang="zh-TW" sz="2400" b="1" i="0" dirty="0">
                <a:effectLst/>
                <a:latin typeface="Abadi" panose="020B0604020202020204" pitchFamily="34" charset="0"/>
              </a:rPr>
              <a:t> </a:t>
            </a:r>
            <a:r>
              <a:rPr lang="en-US" altLang="zh-TW" sz="2400" b="1" dirty="0">
                <a:latin typeface="Abadi" panose="020B0604020202020204" pitchFamily="34" charset="0"/>
              </a:rPr>
              <a:t>B</a:t>
            </a:r>
            <a:r>
              <a:rPr lang="en-US" altLang="zh-TW" sz="2400" b="1" i="0" dirty="0">
                <a:effectLst/>
                <a:latin typeface="Abadi" panose="020B0604020202020204" pitchFamily="34" charset="0"/>
              </a:rPr>
              <a:t>ounding-Box regression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8CACBA-9080-420A-8A43-5AF30B4BE4AD}"/>
              </a:ext>
            </a:extLst>
          </p:cNvPr>
          <p:cNvSpPr txBox="1"/>
          <p:nvPr/>
        </p:nvSpPr>
        <p:spPr>
          <a:xfrm>
            <a:off x="8120542" y="4870481"/>
            <a:ext cx="82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(SVM)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034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EA96D-6767-4A89-84BF-40B7D6C4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SPPnet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83219A-00C8-489E-A7F0-1F1545219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26" y="2213312"/>
            <a:ext cx="6336886" cy="412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深度學習：CNN原理. 想必剛踏入深度學習Computer… | by Cinnamon AI Taiwan | Medium">
            <a:extLst>
              <a:ext uri="{FF2B5EF4-FFF2-40B4-BE49-F238E27FC236}">
                <a16:creationId xmlns:a16="http://schemas.microsoft.com/office/drawing/2014/main" id="{8D9D1387-BD00-4E2B-95D5-A495F8D466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655" y="187225"/>
            <a:ext cx="5419903" cy="184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D062D2FA-3605-4209-9490-372C5A27D06F}"/>
              </a:ext>
            </a:extLst>
          </p:cNvPr>
          <p:cNvSpPr/>
          <p:nvPr/>
        </p:nvSpPr>
        <p:spPr>
          <a:xfrm>
            <a:off x="6902108" y="0"/>
            <a:ext cx="2281188" cy="18481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9D7A24-47F2-4B36-9CFA-969CC90CC346}"/>
              </a:ext>
            </a:extLst>
          </p:cNvPr>
          <p:cNvSpPr txBox="1"/>
          <p:nvPr/>
        </p:nvSpPr>
        <p:spPr>
          <a:xfrm>
            <a:off x="8097865" y="2002442"/>
            <a:ext cx="166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Feature map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0422705-6A67-4E13-93DB-0357C07B6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869" y="3064171"/>
            <a:ext cx="4274237" cy="2816511"/>
          </a:xfrm>
          <a:prstGeom prst="rect">
            <a:avLst/>
          </a:prstGeom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07FB3D3F-AF05-4609-B8CE-4FAB7B1E7DD6}"/>
              </a:ext>
            </a:extLst>
          </p:cNvPr>
          <p:cNvSpPr/>
          <p:nvPr/>
        </p:nvSpPr>
        <p:spPr>
          <a:xfrm>
            <a:off x="1506534" y="4580389"/>
            <a:ext cx="1949730" cy="155566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148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27F3-A6FF-4346-A231-DEA8C2F1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cnn</a:t>
            </a:r>
            <a:endParaRPr lang="zh-TW" altLang="en-US" dirty="0"/>
          </a:p>
        </p:txBody>
      </p:sp>
      <p:pic>
        <p:nvPicPr>
          <p:cNvPr id="2050" name="Picture 2" descr="深度學習：CNN原理. 想必剛踏入深度學習Computer… | by Cinnamon AI Taiwan | Medium">
            <a:extLst>
              <a:ext uri="{FF2B5EF4-FFF2-40B4-BE49-F238E27FC236}">
                <a16:creationId xmlns:a16="http://schemas.microsoft.com/office/drawing/2014/main" id="{CD2C5727-6CF7-4166-B1FD-9A6B05E767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4" y="2108834"/>
            <a:ext cx="95250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8337500-A4AC-4D18-826D-9F9279AA6B8A}"/>
              </a:ext>
            </a:extLst>
          </p:cNvPr>
          <p:cNvSpPr txBox="1"/>
          <p:nvPr/>
        </p:nvSpPr>
        <p:spPr>
          <a:xfrm>
            <a:off x="4655890" y="1739502"/>
            <a:ext cx="166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Feature map</a:t>
            </a:r>
          </a:p>
        </p:txBody>
      </p:sp>
    </p:spTree>
    <p:extLst>
      <p:ext uri="{BB962C8B-B14F-4D97-AF65-F5344CB8AC3E}">
        <p14:creationId xmlns:p14="http://schemas.microsoft.com/office/powerpoint/2010/main" val="1569140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EA96D-6767-4A89-84BF-40B7D6C4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pyramid pooling layer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490E72E3-BBC4-4F10-9503-FB8C7DA61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1179"/>
          <a:stretch/>
        </p:blipFill>
        <p:spPr>
          <a:xfrm>
            <a:off x="2883730" y="2232448"/>
            <a:ext cx="5210519" cy="342976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D1529A4-63A1-45FB-B291-EDE108FE2E08}"/>
              </a:ext>
            </a:extLst>
          </p:cNvPr>
          <p:cNvSpPr txBox="1"/>
          <p:nvPr/>
        </p:nvSpPr>
        <p:spPr>
          <a:xfrm>
            <a:off x="3047301" y="324643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spatial pyramid pooling layer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248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BE48-F582-4210-8455-88167B47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Fast RCNN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2156ABF1-55AF-4D86-A95D-78E14E556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438" y="2589099"/>
            <a:ext cx="8466780" cy="3313722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76FE55B1-B35E-43D9-8134-37E5A5237685}"/>
              </a:ext>
            </a:extLst>
          </p:cNvPr>
          <p:cNvSpPr/>
          <p:nvPr/>
        </p:nvSpPr>
        <p:spPr>
          <a:xfrm>
            <a:off x="5299193" y="3294577"/>
            <a:ext cx="1126155" cy="139566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DE49F1A-36EB-4148-B8C6-92BC3E69D765}"/>
              </a:ext>
            </a:extLst>
          </p:cNvPr>
          <p:cNvCxnSpPr/>
          <p:nvPr/>
        </p:nvCxnSpPr>
        <p:spPr>
          <a:xfrm flipV="1">
            <a:off x="7011086" y="2215563"/>
            <a:ext cx="511728" cy="465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860984A-1D1A-4AC4-94C7-2809DD1E4C0C}"/>
              </a:ext>
            </a:extLst>
          </p:cNvPr>
          <p:cNvCxnSpPr>
            <a:cxnSpLocks/>
          </p:cNvCxnSpPr>
          <p:nvPr/>
        </p:nvCxnSpPr>
        <p:spPr>
          <a:xfrm flipH="1" flipV="1">
            <a:off x="7851045" y="2215563"/>
            <a:ext cx="485164" cy="528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18228516-59B3-4FE2-A6D6-84A751C34D05}"/>
              </a:ext>
            </a:extLst>
          </p:cNvPr>
          <p:cNvSpPr/>
          <p:nvPr/>
        </p:nvSpPr>
        <p:spPr>
          <a:xfrm>
            <a:off x="6365994" y="2944535"/>
            <a:ext cx="1343489" cy="58103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10F4CBB-ECC1-41BE-BB2E-63F7D6B8F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270" y="1658037"/>
            <a:ext cx="3848100" cy="409575"/>
          </a:xfrm>
          <a:prstGeom prst="rect">
            <a:avLst/>
          </a:prstGeom>
        </p:spPr>
      </p:pic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ED46792-2684-4FCF-86E9-EE07AEECF7D3}"/>
              </a:ext>
            </a:extLst>
          </p:cNvPr>
          <p:cNvCxnSpPr>
            <a:cxnSpLocks/>
          </p:cNvCxnSpPr>
          <p:nvPr/>
        </p:nvCxnSpPr>
        <p:spPr>
          <a:xfrm rot="5400000">
            <a:off x="8510736" y="2556743"/>
            <a:ext cx="1310002" cy="627647"/>
          </a:xfrm>
          <a:prstGeom prst="bentConnector3">
            <a:avLst>
              <a:gd name="adj1" fmla="val 1012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EF213945-2A91-4CDF-9245-4505860F2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15" y="3556856"/>
            <a:ext cx="2720147" cy="68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5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BE48-F582-4210-8455-88167B47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7816074C-61F1-48A5-BFA0-2A19A0E2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59" y="1590667"/>
            <a:ext cx="9610725" cy="146685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AFCE2B6-3338-4E90-9275-8EF897D20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259" y="3201189"/>
            <a:ext cx="9525000" cy="145732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AA49C79-6DB8-494C-9F04-83235636C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259" y="4802186"/>
            <a:ext cx="9553575" cy="138112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A9E9C65A-9533-4F3E-8868-36DA0C1D5308}"/>
              </a:ext>
            </a:extLst>
          </p:cNvPr>
          <p:cNvSpPr txBox="1"/>
          <p:nvPr/>
        </p:nvSpPr>
        <p:spPr>
          <a:xfrm>
            <a:off x="202130" y="2117558"/>
            <a:ext cx="115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VOC2007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2E12CF4-EB5A-435C-902B-52B004EEAAF8}"/>
              </a:ext>
            </a:extLst>
          </p:cNvPr>
          <p:cNvSpPr txBox="1"/>
          <p:nvPr/>
        </p:nvSpPr>
        <p:spPr>
          <a:xfrm>
            <a:off x="202129" y="3743581"/>
            <a:ext cx="115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VOC2010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8E74644-2461-45A4-8D84-34730FC66438}"/>
              </a:ext>
            </a:extLst>
          </p:cNvPr>
          <p:cNvSpPr txBox="1"/>
          <p:nvPr/>
        </p:nvSpPr>
        <p:spPr>
          <a:xfrm>
            <a:off x="202128" y="5381015"/>
            <a:ext cx="115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VOC2012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853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BE48-F582-4210-8455-88167B47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and testing time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3427283-8C26-4B6E-A445-C57B1FDB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989" y="3741117"/>
            <a:ext cx="1285875" cy="46672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4FC0F8C-F0C8-4FED-879D-7025B2844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663" y="1981462"/>
            <a:ext cx="6729326" cy="363675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997800A-4C16-41C5-A09B-D4C483B1FF9D}"/>
              </a:ext>
            </a:extLst>
          </p:cNvPr>
          <p:cNvSpPr txBox="1"/>
          <p:nvPr/>
        </p:nvSpPr>
        <p:spPr>
          <a:xfrm>
            <a:off x="8237989" y="1459684"/>
            <a:ext cx="2692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 : </a:t>
            </a:r>
            <a:r>
              <a:rPr lang="en-US" altLang="zh-TW" dirty="0" err="1"/>
              <a:t>CaffeNet</a:t>
            </a:r>
            <a:endParaRPr lang="en-US" altLang="zh-TW" dirty="0"/>
          </a:p>
          <a:p>
            <a:r>
              <a:rPr lang="en-US" altLang="zh-TW" dirty="0"/>
              <a:t>M : VGG CNN M 1024</a:t>
            </a:r>
          </a:p>
          <a:p>
            <a:r>
              <a:rPr lang="en-US" altLang="zh-TW" dirty="0"/>
              <a:t>L : VGG16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597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BE48-F582-4210-8455-88167B47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Does multi-task training help?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997800A-4C16-41C5-A09B-D4C483B1FF9D}"/>
              </a:ext>
            </a:extLst>
          </p:cNvPr>
          <p:cNvSpPr txBox="1"/>
          <p:nvPr/>
        </p:nvSpPr>
        <p:spPr>
          <a:xfrm>
            <a:off x="1560352" y="5662569"/>
            <a:ext cx="2692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 : </a:t>
            </a:r>
            <a:r>
              <a:rPr lang="en-US" altLang="zh-TW" dirty="0" err="1"/>
              <a:t>CaffeNet</a:t>
            </a:r>
            <a:endParaRPr lang="en-US" altLang="zh-TW" dirty="0"/>
          </a:p>
          <a:p>
            <a:r>
              <a:rPr lang="en-US" altLang="zh-TW" dirty="0"/>
              <a:t>M : VGG CNN M 1024</a:t>
            </a:r>
          </a:p>
          <a:p>
            <a:r>
              <a:rPr lang="en-US" altLang="zh-TW" dirty="0"/>
              <a:t>L : VGG16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6C10702-40EF-4024-8C46-9FE9DE7D1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82" y="2421403"/>
            <a:ext cx="10287436" cy="201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27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BE48-F582-4210-8455-88167B47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Brute force or finesse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997800A-4C16-41C5-A09B-D4C483B1FF9D}"/>
              </a:ext>
            </a:extLst>
          </p:cNvPr>
          <p:cNvSpPr txBox="1"/>
          <p:nvPr/>
        </p:nvSpPr>
        <p:spPr>
          <a:xfrm>
            <a:off x="1560352" y="5662569"/>
            <a:ext cx="2692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 : </a:t>
            </a:r>
            <a:r>
              <a:rPr lang="en-US" altLang="zh-TW" dirty="0" err="1"/>
              <a:t>CaffeNet</a:t>
            </a:r>
            <a:endParaRPr lang="en-US" altLang="zh-TW" dirty="0"/>
          </a:p>
          <a:p>
            <a:r>
              <a:rPr lang="en-US" altLang="zh-TW" dirty="0"/>
              <a:t>M : VGG CNN M 1024</a:t>
            </a:r>
          </a:p>
          <a:p>
            <a:r>
              <a:rPr lang="en-US" altLang="zh-TW" dirty="0"/>
              <a:t>L : VGG16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E58167-DC45-4F55-AF9B-4E740B477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352" y="2440764"/>
            <a:ext cx="8791859" cy="204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7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</TotalTime>
  <Words>271</Words>
  <Application>Microsoft Macintosh PowerPoint</Application>
  <PresentationFormat>寬螢幕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微軟正黑體</vt:lpstr>
      <vt:lpstr>Lato</vt:lpstr>
      <vt:lpstr>Abadi</vt:lpstr>
      <vt:lpstr>Arial</vt:lpstr>
      <vt:lpstr>Calibri</vt:lpstr>
      <vt:lpstr>Calibri Light</vt:lpstr>
      <vt:lpstr>Times New Roman</vt:lpstr>
      <vt:lpstr>Office 佈景主題</vt:lpstr>
      <vt:lpstr>Fast R-CNN</vt:lpstr>
      <vt:lpstr>Abstract</vt:lpstr>
      <vt:lpstr>Object Detection</vt:lpstr>
      <vt:lpstr>Object Detection</vt:lpstr>
      <vt:lpstr>cnn</vt:lpstr>
      <vt:lpstr>RCNN</vt:lpstr>
      <vt:lpstr>SPPnet</vt:lpstr>
      <vt:lpstr>cnn</vt:lpstr>
      <vt:lpstr>spatial pyramid pooling layer</vt:lpstr>
      <vt:lpstr>Fast RCNN</vt:lpstr>
      <vt:lpstr>Result</vt:lpstr>
      <vt:lpstr>Training and testing time</vt:lpstr>
      <vt:lpstr>Does multi-task training help?</vt:lpstr>
      <vt:lpstr>Brute force or finesse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郁儒 廖</cp:lastModifiedBy>
  <cp:revision>7</cp:revision>
  <dcterms:created xsi:type="dcterms:W3CDTF">2021-06-26T09:28:31Z</dcterms:created>
  <dcterms:modified xsi:type="dcterms:W3CDTF">2021-07-27T06:58:20Z</dcterms:modified>
</cp:coreProperties>
</file>