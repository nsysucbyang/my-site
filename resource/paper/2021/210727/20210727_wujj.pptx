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4" r:id="rId2"/>
    <p:sldId id="257" r:id="rId3"/>
    <p:sldId id="261" r:id="rId4"/>
    <p:sldId id="264" r:id="rId5"/>
    <p:sldId id="266" r:id="rId6"/>
    <p:sldId id="279" r:id="rId7"/>
    <p:sldId id="269" r:id="rId8"/>
    <p:sldId id="270" r:id="rId9"/>
    <p:sldId id="271" r:id="rId10"/>
    <p:sldId id="280" r:id="rId11"/>
    <p:sldId id="275" r:id="rId12"/>
    <p:sldId id="277" r:id="rId13"/>
    <p:sldId id="278" r:id="rId14"/>
    <p:sldId id="27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CCD81-466A-4F9F-9667-A373A0E8B85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BB2C7-8C23-4ED3-B6BC-279873E854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86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在本研究論文中，針對線性規劃問題討論了兩種類型的模型。 模型決定了員工在日常生活中的工作。 第一個是 </a:t>
            </a:r>
            <a:r>
              <a:rPr lang="en-US" altLang="zh-TW" dirty="0"/>
              <a:t>Bhopal-</a:t>
            </a:r>
            <a:r>
              <a:rPr lang="en-US" altLang="zh-TW" dirty="0" err="1"/>
              <a:t>Dewas</a:t>
            </a:r>
            <a:r>
              <a:rPr lang="en-US" altLang="zh-TW" dirty="0"/>
              <a:t> Corridor Toll Plaza </a:t>
            </a:r>
            <a:r>
              <a:rPr lang="zh-TW" altLang="en-US" dirty="0"/>
              <a:t>的員工排班，第二個是 </a:t>
            </a:r>
            <a:r>
              <a:rPr lang="en-US" altLang="zh-TW" dirty="0" err="1"/>
              <a:t>Aquasure</a:t>
            </a:r>
            <a:r>
              <a:rPr lang="en-US" altLang="zh-TW" dirty="0"/>
              <a:t> </a:t>
            </a:r>
            <a:r>
              <a:rPr lang="en-US" altLang="zh-TW" dirty="0" err="1"/>
              <a:t>Aquagurad</a:t>
            </a:r>
            <a:r>
              <a:rPr lang="en-US" altLang="zh-TW" dirty="0"/>
              <a:t> Water Purifiers </a:t>
            </a:r>
            <a:r>
              <a:rPr lang="zh-TW" altLang="en-US" dirty="0"/>
              <a:t>飲用水公司（</a:t>
            </a:r>
            <a:r>
              <a:rPr lang="en-US" altLang="zh-TW" dirty="0" err="1"/>
              <a:t>Rukmani</a:t>
            </a:r>
            <a:r>
              <a:rPr lang="en-US" altLang="zh-TW" dirty="0"/>
              <a:t> Beverages Pvt. Ltd.</a:t>
            </a:r>
            <a:r>
              <a:rPr lang="zh-TW" altLang="en-US" dirty="0"/>
              <a:t>）的員工排班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BB2C7-8C23-4ED3-B6BC-279873E854C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69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收費員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BB2C7-8C23-4ED3-B6BC-279873E854C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465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84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TW" dirty="0" err="1"/>
              <a:t>abc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13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045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6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54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59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71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68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8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20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8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1F2FE-6622-4079-8195-D1E67AF60187}" type="datetimeFigureOut">
              <a:rPr lang="zh-TW" altLang="en-US" smtClean="0"/>
              <a:t>2021/7/26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0EABE-4E57-45D3-93DB-E57C2C550D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E4F50-5577-40BB-9D9C-0345B9D0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43" y="1122363"/>
            <a:ext cx="11509514" cy="238760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of Linear Programming Approach for Optimal Scheduling of Work in A Corporation With different Models 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9B9C96-5C4D-4D92-BE4C-DEF7661E7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Manmohan Patidar, Ramakant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Bhardwaja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Sanjay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Choudharyb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Materialstoday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proceedings, volume 29, Part2, 2020, Pages 661-667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8BC03B4-54EB-4207-98E4-A6198CFCA937}"/>
              </a:ext>
            </a:extLst>
          </p:cNvPr>
          <p:cNvSpPr txBox="1"/>
          <p:nvPr/>
        </p:nvSpPr>
        <p:spPr>
          <a:xfrm>
            <a:off x="8706678" y="5257800"/>
            <a:ext cx="348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Date: July  27, 2021</a:t>
            </a:r>
          </a:p>
          <a:p>
            <a:r>
              <a:rPr lang="en-US" altLang="zh-TW" dirty="0"/>
              <a:t>Presenter: </a:t>
            </a:r>
            <a:r>
              <a:rPr lang="en-US" altLang="zh-TW" dirty="0" err="1"/>
              <a:t>Jue</a:t>
            </a:r>
            <a:r>
              <a:rPr lang="en-US" altLang="zh-TW" dirty="0"/>
              <a:t>-Jun Wu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92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	In the present research paper, two types of models are discussed for linear programming problems. Models are determining the work of the employee in day-to-day life. The first is Staff Scheduling for Bhopal-</a:t>
            </a:r>
            <a:r>
              <a:rPr lang="en-US" altLang="zh-TW" dirty="0" err="1"/>
              <a:t>Dewas</a:t>
            </a:r>
            <a:r>
              <a:rPr lang="en-US" altLang="zh-TW" dirty="0"/>
              <a:t> Corridor Toll Plaza and second is worker scheduling for Aqua sure </a:t>
            </a:r>
            <a:r>
              <a:rPr lang="en-US" altLang="zh-TW" dirty="0" err="1"/>
              <a:t>Aquagurad</a:t>
            </a:r>
            <a:r>
              <a:rPr lang="en-US" altLang="zh-TW" dirty="0"/>
              <a:t> Water Purifiers drinking water Company(</a:t>
            </a:r>
            <a:r>
              <a:rPr lang="en-US" altLang="zh-TW" dirty="0" err="1"/>
              <a:t>Rukmani</a:t>
            </a:r>
            <a:r>
              <a:rPr lang="en-US" altLang="zh-TW" dirty="0"/>
              <a:t> Beverages Pvt. Ltd.)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264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Bhopal-</a:t>
            </a:r>
            <a:r>
              <a:rPr lang="en-US" altLang="zh-TW" sz="3200" dirty="0" err="1"/>
              <a:t>Dewas</a:t>
            </a:r>
            <a:r>
              <a:rPr lang="en-US" altLang="zh-TW" sz="3200" dirty="0"/>
              <a:t> Corridor Toll Plaza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Each worker (collector) works four working hours, is of one hour off, and then works another four working hours. A collector can start at each working hour.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137" y="2825750"/>
            <a:ext cx="68675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1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6110" y="57944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TW" sz="2400" i="1" dirty="0"/>
              <a:t>S1 </a:t>
            </a:r>
            <a:r>
              <a:rPr lang="zh-TW" altLang="en-US" sz="2400" i="1" dirty="0"/>
              <a:t> </a:t>
            </a:r>
            <a:r>
              <a:rPr lang="en-US" altLang="zh-TW" sz="2400" dirty="0"/>
              <a:t>= No. of Toll Plaza collectors to begin work at 12 a.m. midnight</a:t>
            </a:r>
            <a:br>
              <a:rPr lang="en-US" altLang="zh-TW" sz="2400" dirty="0"/>
            </a:br>
            <a:r>
              <a:rPr lang="en-US" altLang="zh-TW" sz="2400" i="1" dirty="0"/>
              <a:t>S24</a:t>
            </a:r>
            <a:r>
              <a:rPr lang="en-US" altLang="zh-TW" sz="2400" dirty="0"/>
              <a:t>= No. of Toll Plaza collectors to begin work at 11 p.m.</a:t>
            </a:r>
            <a:br>
              <a:rPr lang="zh-TW" altLang="en-US" sz="2400" dirty="0"/>
            </a:br>
            <a:br>
              <a:rPr lang="en-US" altLang="zh-TW" sz="2400" dirty="0"/>
            </a:br>
            <a:endParaRPr lang="zh-TW" altLang="en-US" sz="2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10" y="1202531"/>
            <a:ext cx="11764066" cy="559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8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47" y="1027906"/>
            <a:ext cx="4810125" cy="2857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9" y="3733800"/>
            <a:ext cx="5267325" cy="31242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231" y="2633731"/>
            <a:ext cx="5581650" cy="40100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8936DD9-955B-4965-AFBF-20DA11B80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58" y="175350"/>
            <a:ext cx="8417119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4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C82C4-82D5-436F-8C49-6B8018721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320530"/>
            <a:ext cx="10515600" cy="4351338"/>
          </a:xfrm>
        </p:spPr>
        <p:txBody>
          <a:bodyPr/>
          <a:lstStyle/>
          <a:p>
            <a:r>
              <a:rPr lang="en-US" altLang="zh-TW" dirty="0"/>
              <a:t>S2 = 6, S5 = 6, S8 = 1,S14 = 3, S17=5, S20= 3,S3 = 5, S6 = 6, S9 = 5, S15 =3, S18=1, S23=5,S4 = 1, S7 = 6, S13 = 4, S16 = 6, S19=6.</a:t>
            </a:r>
          </a:p>
          <a:p>
            <a:r>
              <a:rPr lang="zh-TW" altLang="en-US" dirty="0"/>
              <a:t>解 </a:t>
            </a:r>
            <a:r>
              <a:rPr lang="en-US" altLang="zh-TW" dirty="0"/>
              <a:t>72</a:t>
            </a:r>
            <a:r>
              <a:rPr lang="zh-TW" altLang="en-US" dirty="0"/>
              <a:t>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8C8D3E-2E9A-460F-883E-0BBA0768C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5968"/>
            <a:ext cx="12192000" cy="456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3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738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Aqua sure </a:t>
            </a:r>
            <a:r>
              <a:rPr lang="en-US" altLang="zh-TW" sz="3200" dirty="0" err="1"/>
              <a:t>Aquagurad</a:t>
            </a:r>
            <a:r>
              <a:rPr lang="en-US" altLang="zh-TW" sz="3200" dirty="0"/>
              <a:t> Water Purifiers drinking water Company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79016" y="911225"/>
            <a:ext cx="10515600" cy="4351338"/>
          </a:xfrm>
        </p:spPr>
        <p:txBody>
          <a:bodyPr>
            <a:normAutofit/>
          </a:bodyPr>
          <a:lstStyle/>
          <a:p>
            <a:endParaRPr lang="en-US" altLang="zh-TW" sz="2000" dirty="0"/>
          </a:p>
          <a:p>
            <a:pPr marL="0" indent="0">
              <a:buNone/>
            </a:pPr>
            <a:r>
              <a:rPr lang="en-US" altLang="zh-TW" sz="2400" b="0" dirty="0">
                <a:solidFill>
                  <a:schemeClr val="tx1"/>
                </a:solidFill>
              </a:rPr>
              <a:t>First shift</a:t>
            </a:r>
            <a:r>
              <a:rPr lang="zh-TW" altLang="en-US" sz="2400" dirty="0"/>
              <a:t> </a:t>
            </a:r>
            <a:r>
              <a:rPr lang="en-US" altLang="zh-TW" sz="2400" dirty="0"/>
              <a:t>8:00 am -</a:t>
            </a:r>
            <a:r>
              <a:rPr lang="zh-TW" altLang="en-US" sz="2400" dirty="0"/>
              <a:t> </a:t>
            </a:r>
            <a:r>
              <a:rPr lang="en-US" altLang="zh-TW" sz="2400" dirty="0"/>
              <a:t>2:00 pm</a:t>
            </a:r>
          </a:p>
          <a:p>
            <a:pPr marL="0" indent="0">
              <a:buNone/>
            </a:pPr>
            <a:r>
              <a:rPr lang="en-US" altLang="zh-TW" sz="2400" b="0" dirty="0">
                <a:solidFill>
                  <a:schemeClr val="tx1"/>
                </a:solidFill>
              </a:rPr>
              <a:t>Second shift</a:t>
            </a:r>
            <a:r>
              <a:rPr lang="zh-TW" altLang="en-US" sz="2400" b="0" dirty="0">
                <a:solidFill>
                  <a:schemeClr val="tx1"/>
                </a:solidFill>
              </a:rPr>
              <a:t> </a:t>
            </a:r>
            <a:r>
              <a:rPr lang="en-US" altLang="zh-TW" sz="2400" dirty="0"/>
              <a:t>2:00pm</a:t>
            </a:r>
            <a:r>
              <a:rPr lang="zh-TW" altLang="en-US" sz="2400" dirty="0"/>
              <a:t> </a:t>
            </a:r>
            <a:r>
              <a:rPr lang="en-US" altLang="zh-TW" sz="2400" dirty="0"/>
              <a:t>–</a:t>
            </a:r>
            <a:r>
              <a:rPr lang="zh-TW" altLang="en-US" sz="2400" dirty="0"/>
              <a:t> </a:t>
            </a:r>
            <a:r>
              <a:rPr lang="en-US" altLang="zh-TW" sz="2400" dirty="0"/>
              <a:t>8:00pm</a:t>
            </a:r>
          </a:p>
          <a:p>
            <a:pPr marL="0" indent="0">
              <a:buNone/>
            </a:pPr>
            <a:r>
              <a:rPr lang="en-US" altLang="zh-TW" sz="2400" dirty="0"/>
              <a:t>Third shift 8:00 pm - 2:00am</a:t>
            </a:r>
          </a:p>
          <a:p>
            <a:pPr marL="0" indent="0">
              <a:buNone/>
            </a:pPr>
            <a:r>
              <a:rPr lang="en-US" altLang="zh-TW" sz="2400" dirty="0"/>
              <a:t>Fourth shift</a:t>
            </a:r>
            <a:r>
              <a:rPr lang="zh-TW" altLang="en-US" sz="2400" dirty="0"/>
              <a:t> </a:t>
            </a:r>
            <a:r>
              <a:rPr lang="en-US" altLang="zh-TW" sz="2400" dirty="0"/>
              <a:t>2:00 am -</a:t>
            </a:r>
            <a:r>
              <a:rPr lang="zh-TW" altLang="en-US" sz="2400" dirty="0"/>
              <a:t> </a:t>
            </a:r>
            <a:r>
              <a:rPr lang="en-US" altLang="zh-TW" sz="2400" dirty="0"/>
              <a:t>8:00 am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endParaRPr lang="en-US" altLang="zh-TW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A1485A-2235-4FC5-9159-BEEC8219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3661137"/>
            <a:ext cx="9587883" cy="262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5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6875FC-4D82-43BC-8DAA-234A25FD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BD6828-8FB9-46C6-94CC-6D4B9213C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9C0132-06CD-4674-BB61-312A35EC9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927485"/>
            <a:ext cx="12020550" cy="32956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C7814D8-7607-4A76-B0BD-1DABB7990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49" y="41083"/>
            <a:ext cx="4229100" cy="11715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362FB88-FD72-4032-871D-35D06691C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" y="4001294"/>
            <a:ext cx="116967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6F516-68BD-424F-A516-352C805B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128CFA-099E-446A-91B4-56B2E96FF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41294B-7FA3-419A-A07A-8508FBF9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23" y="378556"/>
            <a:ext cx="2514600" cy="14763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994AF0-AE42-48A8-9CDD-6831A2EE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69031"/>
            <a:ext cx="2371725" cy="14859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3FB3682-D4D8-4DC0-AB25-821376673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6656"/>
            <a:ext cx="2352675" cy="14382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B85CCDC-FBEF-4EED-A8B7-BDBFDC3A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53" y="1989868"/>
            <a:ext cx="6696075" cy="1457325"/>
          </a:xfrm>
          <a:prstGeom prst="rect">
            <a:avLst/>
          </a:prstGeom>
        </p:spPr>
      </p:pic>
      <p:graphicFrame>
        <p:nvGraphicFramePr>
          <p:cNvPr id="16" name="表格 4">
            <a:extLst>
              <a:ext uri="{FF2B5EF4-FFF2-40B4-BE49-F238E27FC236}">
                <a16:creationId xmlns:a16="http://schemas.microsoft.com/office/drawing/2014/main" id="{3F153F7C-97C7-4E90-A2FF-86F408208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324698"/>
              </p:ext>
            </p:extLst>
          </p:nvPr>
        </p:nvGraphicFramePr>
        <p:xfrm>
          <a:off x="636823" y="3961229"/>
          <a:ext cx="5220070" cy="2215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671">
                  <a:extLst>
                    <a:ext uri="{9D8B030D-6E8A-4147-A177-3AD203B41FA5}">
                      <a16:colId xmlns:a16="http://schemas.microsoft.com/office/drawing/2014/main" val="1562161473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3062708273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3470714184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2778575388"/>
                    </a:ext>
                  </a:extLst>
                </a:gridCol>
                <a:gridCol w="559294">
                  <a:extLst>
                    <a:ext uri="{9D8B030D-6E8A-4147-A177-3AD203B41FA5}">
                      <a16:colId xmlns:a16="http://schemas.microsoft.com/office/drawing/2014/main" val="1774343521"/>
                    </a:ext>
                  </a:extLst>
                </a:gridCol>
              </a:tblGrid>
              <a:tr h="36928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973489"/>
                  </a:ext>
                </a:extLst>
              </a:tr>
              <a:tr h="3692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shift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997423"/>
                  </a:ext>
                </a:extLst>
              </a:tr>
              <a:tr h="3692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6955"/>
                  </a:ext>
                </a:extLst>
              </a:tr>
              <a:tr h="3692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shift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970324"/>
                  </a:ext>
                </a:extLst>
              </a:tr>
              <a:tr h="3692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Fourth shift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43924"/>
                  </a:ext>
                </a:extLst>
              </a:tr>
              <a:tr h="3692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831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0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230184-B57E-4DB1-A164-E8848FBF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D340DA-A6C9-4888-A3FE-FA0B7DDE5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92FE5F-CCB2-4513-A23C-1B68B7D94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2" y="2585737"/>
            <a:ext cx="11536396" cy="39071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4CDA844-9303-4C4B-A916-3B80E8E34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9" y="233363"/>
            <a:ext cx="669607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9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7CC26-9DF5-45BA-81D1-AA1BD7EE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3B042E-A6DB-4F85-9AD4-06D1587F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Thanks for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424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03D88-A370-4029-B7E8-2A4B7034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別的範例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9BC81-D0D2-4658-84DE-800F30A8F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早上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到中午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12:00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23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中午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12:00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到下午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4:00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18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下午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4:00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到晚上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32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晚上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到凌晨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12:00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16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凌晨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12:00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到凌晨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4:00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凌晨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4:00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到早上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8:00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工作的接線生至少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10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人</a:t>
            </a:r>
            <a:endParaRPr lang="en-US" altLang="zh-TW" b="0" i="0" dirty="0"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zh-TW" altLang="en-US" b="0" i="0" dirty="0">
                <a:effectLst/>
                <a:latin typeface="Open Sans" panose="020B0606030504020204" pitchFamily="34" charset="0"/>
              </a:rPr>
              <a:t>每一位接線生執勤</a:t>
            </a:r>
            <a:r>
              <a:rPr lang="en-US" altLang="zh-TW" b="0" i="0" dirty="0">
                <a:effectLst/>
                <a:latin typeface="Open Sans" panose="020B0606030504020204" pitchFamily="34" charset="0"/>
              </a:rPr>
              <a:t>8</a:t>
            </a:r>
            <a:r>
              <a:rPr lang="zh-TW" altLang="en-US" b="0" i="0" dirty="0">
                <a:effectLst/>
                <a:latin typeface="Open Sans" panose="020B0606030504020204" pitchFamily="34" charset="0"/>
              </a:rPr>
              <a:t>小時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680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36C80-6CD6-47DE-ADC7-03F46E65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9D04FB-EBDB-4808-B569-0F584CE2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X1=</a:t>
            </a:r>
            <a:r>
              <a:rPr lang="zh-TW" altLang="en-US" dirty="0"/>
              <a:t>第一班</a:t>
            </a:r>
            <a:r>
              <a:rPr lang="en-US" altLang="zh-TW" dirty="0"/>
              <a:t>(8:00-16:00)</a:t>
            </a:r>
            <a:r>
              <a:rPr lang="zh-TW" altLang="en-US" dirty="0"/>
              <a:t>工作所需人數</a:t>
            </a:r>
            <a:endParaRPr lang="en-US" altLang="zh-TW" dirty="0"/>
          </a:p>
          <a:p>
            <a:r>
              <a:rPr lang="zh-TW" altLang="en-US" dirty="0"/>
              <a:t>類推</a:t>
            </a:r>
            <a:r>
              <a:rPr lang="en-US" altLang="zh-TW" dirty="0"/>
              <a:t>X2</a:t>
            </a:r>
            <a:r>
              <a:rPr lang="zh-TW" altLang="en-US" dirty="0"/>
              <a:t>，</a:t>
            </a:r>
            <a:r>
              <a:rPr lang="en-US" altLang="zh-TW" dirty="0"/>
              <a:t>X3</a:t>
            </a:r>
            <a:r>
              <a:rPr lang="zh-TW" altLang="en-US" dirty="0"/>
              <a:t>，</a:t>
            </a:r>
            <a:r>
              <a:rPr lang="en-US" altLang="zh-TW" dirty="0"/>
              <a:t>X4</a:t>
            </a:r>
            <a:r>
              <a:rPr lang="zh-TW" altLang="en-US" dirty="0"/>
              <a:t>，</a:t>
            </a:r>
            <a:r>
              <a:rPr lang="en-US" altLang="zh-TW" dirty="0"/>
              <a:t>X5</a:t>
            </a:r>
          </a:p>
          <a:p>
            <a:r>
              <a:rPr lang="en-US" altLang="zh-TW" dirty="0"/>
              <a:t>X6=</a:t>
            </a:r>
            <a:r>
              <a:rPr lang="zh-TW" altLang="en-US" dirty="0"/>
              <a:t>第六班</a:t>
            </a:r>
            <a:r>
              <a:rPr lang="en-US" altLang="zh-TW" dirty="0"/>
              <a:t>(4:00-12:00)</a:t>
            </a:r>
            <a:r>
              <a:rPr lang="zh-TW" altLang="en-US" dirty="0"/>
              <a:t>工作所需人數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X1+X6&gt;=23</a:t>
            </a:r>
          </a:p>
          <a:p>
            <a:r>
              <a:rPr lang="en-US" altLang="zh-TW" dirty="0"/>
              <a:t>X1+X2&gt;=18</a:t>
            </a:r>
          </a:p>
          <a:p>
            <a:r>
              <a:rPr lang="en-US" altLang="zh-TW" dirty="0"/>
              <a:t>X2+X3&gt;=32</a:t>
            </a:r>
          </a:p>
          <a:p>
            <a:r>
              <a:rPr lang="en-US" altLang="zh-TW" dirty="0"/>
              <a:t>X3+X4&gt;=16</a:t>
            </a:r>
          </a:p>
          <a:p>
            <a:r>
              <a:rPr lang="en-US" altLang="zh-TW" dirty="0"/>
              <a:t>X4+X5&gt;=8</a:t>
            </a:r>
          </a:p>
          <a:p>
            <a:r>
              <a:rPr lang="en-US" altLang="zh-TW" dirty="0"/>
              <a:t>X5+X6&gt;=10</a:t>
            </a:r>
          </a:p>
          <a:p>
            <a:endParaRPr lang="en-US" altLang="zh-TW" dirty="0"/>
          </a:p>
          <a:p>
            <a:r>
              <a:rPr lang="zh-TW" altLang="en-US" dirty="0"/>
              <a:t>解</a:t>
            </a:r>
            <a:r>
              <a:rPr lang="en-US" altLang="zh-TW" dirty="0"/>
              <a:t>X1=18,X2=0,X3=32,X4=3,X5=5,X6=5   </a:t>
            </a:r>
            <a:r>
              <a:rPr lang="zh-TW" altLang="en-US" dirty="0"/>
              <a:t>總數</a:t>
            </a:r>
            <a:r>
              <a:rPr lang="en-US" altLang="zh-TW" dirty="0"/>
              <a:t>63</a:t>
            </a:r>
            <a:r>
              <a:rPr lang="zh-TW" altLang="en-US" dirty="0"/>
              <a:t>人</a:t>
            </a:r>
          </a:p>
        </p:txBody>
      </p:sp>
    </p:spTree>
    <p:extLst>
      <p:ext uri="{BB962C8B-B14F-4D97-AF65-F5344CB8AC3E}">
        <p14:creationId xmlns:p14="http://schemas.microsoft.com/office/powerpoint/2010/main" val="714167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2CE6D6-EB7B-4930-8100-5F3AC816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F85387-41AB-4E3B-89EA-E590E76E8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538BB80-B929-4A8E-8A1E-7F6BC562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565" y="2153444"/>
            <a:ext cx="929441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9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525</Words>
  <Application>Microsoft Office PowerPoint</Application>
  <PresentationFormat>寬螢幕</PresentationFormat>
  <Paragraphs>68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Times New Roman</vt:lpstr>
      <vt:lpstr>Office 佈景主題</vt:lpstr>
      <vt:lpstr>The Study of Linear Programming Approach for Optimal Scheduling of Work in A Corporation With different Models </vt:lpstr>
      <vt:lpstr>Abstract</vt:lpstr>
      <vt:lpstr>Bhopal-Dewas Corridor Toll Plaza</vt:lpstr>
      <vt:lpstr>S1  = No. of Toll Plaza collectors to begin work at 12 a.m. midnight S24= No. of Toll Plaza collectors to begin work at 11 p.m.  </vt:lpstr>
      <vt:lpstr>PowerPoint 簡報</vt:lpstr>
      <vt:lpstr>PowerPoint 簡報</vt:lpstr>
      <vt:lpstr>Aqua sure Aquagurad Water Purifiers drinking water Company</vt:lpstr>
      <vt:lpstr>PowerPoint 簡報</vt:lpstr>
      <vt:lpstr>PowerPoint 簡報</vt:lpstr>
      <vt:lpstr>PowerPoint 簡報</vt:lpstr>
      <vt:lpstr>PowerPoint 簡報</vt:lpstr>
      <vt:lpstr>別的範例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吳老爵</dc:creator>
  <cp:lastModifiedBy>jj wu</cp:lastModifiedBy>
  <cp:revision>10</cp:revision>
  <dcterms:created xsi:type="dcterms:W3CDTF">2021-07-22T07:42:23Z</dcterms:created>
  <dcterms:modified xsi:type="dcterms:W3CDTF">2021-07-26T14:18:32Z</dcterms:modified>
</cp:coreProperties>
</file>