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535" r:id="rId3"/>
    <p:sldId id="260" r:id="rId4"/>
    <p:sldId id="538" r:id="rId5"/>
    <p:sldId id="539" r:id="rId6"/>
    <p:sldId id="556" r:id="rId7"/>
    <p:sldId id="516" r:id="rId8"/>
    <p:sldId id="559" r:id="rId9"/>
    <p:sldId id="557" r:id="rId10"/>
    <p:sldId id="558" r:id="rId11"/>
    <p:sldId id="560" r:id="rId12"/>
    <p:sldId id="561" r:id="rId13"/>
    <p:sldId id="562" r:id="rId14"/>
    <p:sldId id="563" r:id="rId15"/>
    <p:sldId id="564" r:id="rId16"/>
    <p:sldId id="565" r:id="rId17"/>
    <p:sldId id="566" r:id="rId18"/>
    <p:sldId id="567" r:id="rId19"/>
    <p:sldId id="568" r:id="rId20"/>
  </p:sldIdLst>
  <p:sldSz cx="9144000" cy="6858000" type="screen4x3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CC"/>
    <a:srgbClr val="FF16FF"/>
    <a:srgbClr val="FAEBD7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64" autoAdjust="0"/>
    <p:restoredTop sz="73300" autoAdjust="0"/>
  </p:normalViewPr>
  <p:slideViewPr>
    <p:cSldViewPr>
      <p:cViewPr varScale="1">
        <p:scale>
          <a:sx n="85" d="100"/>
          <a:sy n="85" d="100"/>
        </p:scale>
        <p:origin x="128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275"/>
    </p:cViewPr>
  </p:outlineViewPr>
  <p:notesTextViewPr>
    <p:cViewPr>
      <p:scale>
        <a:sx n="115" d="100"/>
        <a:sy n="11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C598C-8F50-4D8A-A257-9F9A3D6EE20F}" type="datetimeFigureOut">
              <a:rPr lang="zh-TW" altLang="en-US" smtClean="0"/>
              <a:pPr/>
              <a:t>2021/10/13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18BCC-D1EA-4D8A-929C-D092EA2B439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819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68400" y="1243013"/>
            <a:ext cx="4470400" cy="3354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29447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1817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2021/10/13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2021/10/13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2021/10/13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2021/10/13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2021/10/13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2021/10/13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D1462-57C0-4459-9390-560953396E85}" type="datetimeFigureOut">
              <a:rPr lang="zh-TW" altLang="en-US" smtClean="0"/>
              <a:pPr/>
              <a:t>2021/10/13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B6A882-00D3-47EF-9E00-5F5448FB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4302" y="1700808"/>
            <a:ext cx="7035394" cy="649317"/>
          </a:xfrm>
        </p:spPr>
        <p:txBody>
          <a:bodyPr>
            <a:noAutofit/>
          </a:bodyPr>
          <a:lstStyle/>
          <a:p>
            <a:r>
              <a:rPr lang="en-US" altLang="zh-TW" sz="3200">
                <a:latin typeface="Times New Roman"/>
                <a:ea typeface="新細明體"/>
                <a:cs typeface="Times New Roman"/>
              </a:rPr>
              <a:t>The Game of Bridge: A Challenge </a:t>
            </a:r>
            <a:r>
              <a:rPr lang="en-US" altLang="zh-TW" sz="3200" dirty="0">
                <a:latin typeface="Times New Roman"/>
                <a:ea typeface="新細明體"/>
                <a:cs typeface="Times New Roman"/>
              </a:rPr>
              <a:t>for ILP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DA53B5D-3737-4D8B-A009-A9D02CAE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3003984"/>
            <a:ext cx="6858000" cy="425017"/>
          </a:xfrm>
        </p:spPr>
        <p:txBody>
          <a:bodyPr vert="horz" lIns="91440" tIns="45720" rIns="91440" bIns="45720" rtlCol="0" anchor="t">
            <a:noAutofit/>
          </a:bodyPr>
          <a:lstStyle/>
          <a:p>
            <a:pPr fontAlgn="ctr"/>
            <a:r>
              <a:rPr lang="en-US" altLang="zh-TW" sz="200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Swann Legras, C’eline Rouveirol</a:t>
            </a:r>
            <a:r>
              <a:rPr lang="en-US" altLang="zh-TW" sz="2000" dirty="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, </a:t>
            </a:r>
            <a:r>
              <a:rPr lang="en-US" altLang="zh-TW" sz="200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and V’eronique Ventos</a:t>
            </a:r>
            <a:endParaRPr lang="en-US" altLang="zh-TW" sz="2000" dirty="0">
              <a:solidFill>
                <a:schemeClr val="tx1"/>
              </a:solidFill>
              <a:latin typeface="Times New Roman"/>
              <a:ea typeface="新細明體"/>
              <a:cs typeface="Times New Roman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F2527E8-BB8F-41FB-8AF1-03DCC96BC069}"/>
              </a:ext>
            </a:extLst>
          </p:cNvPr>
          <p:cNvSpPr txBox="1"/>
          <p:nvPr/>
        </p:nvSpPr>
        <p:spPr>
          <a:xfrm>
            <a:off x="750472" y="3847691"/>
            <a:ext cx="7643054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TW" sz="2200">
                <a:latin typeface="Times New Roman"/>
                <a:ea typeface="+mn-lt"/>
                <a:cs typeface="+mn-lt"/>
              </a:rPr>
              <a:t>28th International Conference, </a:t>
            </a:r>
            <a:r>
              <a:rPr lang="en-US" altLang="zh-TW" sz="2200" dirty="0">
                <a:latin typeface="Times New Roman"/>
                <a:ea typeface="+mn-lt"/>
                <a:cs typeface="+mn-lt"/>
              </a:rPr>
              <a:t>ILP 2018</a:t>
            </a:r>
            <a:r>
              <a:rPr lang="en-US" altLang="zh-TW" sz="2200">
                <a:latin typeface="Times New Roman"/>
                <a:ea typeface="+mn-lt"/>
                <a:cs typeface="+mn-lt"/>
              </a:rPr>
              <a:t>, Ferrara</a:t>
            </a:r>
            <a:r>
              <a:rPr lang="en-US" altLang="zh-TW" sz="2200" dirty="0">
                <a:latin typeface="Times New Roman"/>
                <a:ea typeface="+mn-lt"/>
                <a:cs typeface="+mn-lt"/>
              </a:rPr>
              <a:t>, Italy</a:t>
            </a:r>
            <a:r>
              <a:rPr lang="en-US" altLang="zh-TW" sz="2200">
                <a:latin typeface="Times New Roman"/>
                <a:ea typeface="+mn-lt"/>
                <a:cs typeface="+mn-lt"/>
              </a:rPr>
              <a:t>, September </a:t>
            </a:r>
            <a:r>
              <a:rPr lang="en-US" altLang="zh-TW" sz="2200" dirty="0">
                <a:latin typeface="Times New Roman"/>
                <a:ea typeface="+mn-lt"/>
                <a:cs typeface="+mn-lt"/>
              </a:rPr>
              <a:t>2–4, 2018</a:t>
            </a:r>
            <a:r>
              <a:rPr lang="en-US" altLang="zh-TW" sz="2200">
                <a:latin typeface="Times New Roman"/>
                <a:ea typeface="+mn-lt"/>
                <a:cs typeface="+mn-lt"/>
              </a:rPr>
              <a:t>, Proceedings</a:t>
            </a:r>
            <a:endParaRPr lang="en-US" altLang="zh-TW" sz="2200" dirty="0">
              <a:latin typeface="Times New Roman"/>
              <a:ea typeface="+mn-lt"/>
              <a:cs typeface="+mn-lt"/>
            </a:endParaRPr>
          </a:p>
          <a:p>
            <a:pPr algn="ctr"/>
            <a:endParaRPr lang="en-US" altLang="zh-TW" sz="2200" dirty="0">
              <a:latin typeface="Times New Roman"/>
              <a:ea typeface="+mn-lt"/>
              <a:cs typeface="+mn-lt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BC92671-3184-4146-A361-F82079153C2E}"/>
              </a:ext>
            </a:extLst>
          </p:cNvPr>
          <p:cNvSpPr txBox="1"/>
          <p:nvPr/>
        </p:nvSpPr>
        <p:spPr>
          <a:xfrm>
            <a:off x="5652120" y="5377328"/>
            <a:ext cx="31582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Jing-Ping Jan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2A0654C-2F84-4026-9FCF-04C8DF590D5F}"/>
              </a:ext>
            </a:extLst>
          </p:cNvPr>
          <p:cNvSpPr txBox="1"/>
          <p:nvPr/>
        </p:nvSpPr>
        <p:spPr>
          <a:xfrm>
            <a:off x="5652120" y="5805264"/>
            <a:ext cx="2601994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zh-TW"/>
            </a:defPPr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>
                <a:latin typeface="Times New Roman"/>
                <a:ea typeface="新細明體"/>
                <a:cs typeface="Times New Roman"/>
              </a:rPr>
              <a:t>Date: </a:t>
            </a:r>
            <a:r>
              <a:rPr lang="en-US" altLang="zh-TW" dirty="0">
                <a:latin typeface="Times New Roman"/>
                <a:ea typeface="新細明體"/>
                <a:cs typeface="Times New Roman"/>
              </a:rPr>
              <a:t>Oct. 13, 2021</a:t>
            </a:r>
            <a:endParaRPr lang="zh-TW" altLang="en-US" dirty="0">
              <a:latin typeface="Times New Roman"/>
              <a:ea typeface="新細明體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7049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60648"/>
            <a:ext cx="7886700" cy="583367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02" y="1052736"/>
            <a:ext cx="9004993" cy="53476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lnSpc>
                <a:spcPts val="3200"/>
              </a:lnSpc>
              <a:buNone/>
            </a:pPr>
            <a:r>
              <a:rPr lang="en-US" sz="2200">
                <a:latin typeface="Times New Roman"/>
                <a:ea typeface="+mn-lt"/>
                <a:cs typeface="+mn-lt"/>
              </a:rPr>
              <a:t>Designs of champion-level systems dedicated </a:t>
            </a:r>
            <a:r>
              <a:rPr lang="en-US" sz="2200" dirty="0">
                <a:latin typeface="Times New Roman"/>
                <a:ea typeface="+mn-lt"/>
                <a:cs typeface="+mn-lt"/>
              </a:rPr>
              <a:t>to </a:t>
            </a:r>
            <a:r>
              <a:rPr lang="en-US" sz="2200">
                <a:latin typeface="Times New Roman"/>
                <a:ea typeface="+mn-lt"/>
                <a:cs typeface="+mn-lt"/>
              </a:rPr>
              <a:t>a game have been considered as milestones </a:t>
            </a:r>
            <a:r>
              <a:rPr lang="en-US" sz="2200" dirty="0">
                <a:latin typeface="Times New Roman"/>
                <a:ea typeface="+mn-lt"/>
                <a:cs typeface="+mn-lt"/>
              </a:rPr>
              <a:t>for </a:t>
            </a:r>
            <a:r>
              <a:rPr lang="en-US" sz="2200">
                <a:latin typeface="Times New Roman"/>
                <a:ea typeface="+mn-lt"/>
                <a:cs typeface="+mn-lt"/>
              </a:rPr>
              <a:t>Artificial Intelligence. </a:t>
            </a:r>
            <a:r>
              <a:rPr lang="en-US" sz="2200" dirty="0">
                <a:latin typeface="Times New Roman"/>
                <a:ea typeface="+mn-lt"/>
                <a:cs typeface="+mn-lt"/>
              </a:rPr>
              <a:t>Such </a:t>
            </a:r>
            <a:r>
              <a:rPr lang="en-US" sz="2200">
                <a:latin typeface="Times New Roman"/>
                <a:ea typeface="+mn-lt"/>
                <a:cs typeface="+mn-lt"/>
              </a:rPr>
              <a:t>a success </a:t>
            </a:r>
            <a:r>
              <a:rPr lang="en-US" sz="2200" dirty="0">
                <a:latin typeface="Times New Roman"/>
                <a:ea typeface="+mn-lt"/>
                <a:cs typeface="+mn-lt"/>
              </a:rPr>
              <a:t>has </a:t>
            </a:r>
            <a:r>
              <a:rPr lang="en-US" sz="2200">
                <a:latin typeface="Times New Roman"/>
                <a:ea typeface="+mn-lt"/>
                <a:cs typeface="+mn-lt"/>
              </a:rPr>
              <a:t>not yet happened for the game of Bridge because </a:t>
            </a:r>
            <a:r>
              <a:rPr lang="en-US" sz="2200" dirty="0">
                <a:latin typeface="Times New Roman"/>
                <a:ea typeface="+mn-lt"/>
                <a:cs typeface="+mn-lt"/>
              </a:rPr>
              <a:t>(</a:t>
            </a:r>
            <a:r>
              <a:rPr lang="en-US" sz="2200" dirty="0" err="1">
                <a:latin typeface="Times New Roman"/>
                <a:ea typeface="+mn-lt"/>
                <a:cs typeface="+mn-lt"/>
              </a:rPr>
              <a:t>i</a:t>
            </a:r>
            <a:r>
              <a:rPr lang="en-US" sz="2200">
                <a:latin typeface="Times New Roman"/>
                <a:ea typeface="+mn-lt"/>
                <a:cs typeface="+mn-lt"/>
              </a:rPr>
              <a:t>) Bridge </a:t>
            </a:r>
            <a:r>
              <a:rPr lang="en-US" sz="2200" dirty="0">
                <a:latin typeface="Times New Roman"/>
                <a:ea typeface="+mn-lt"/>
                <a:cs typeface="+mn-lt"/>
              </a:rPr>
              <a:t>is a </a:t>
            </a:r>
            <a:r>
              <a:rPr lang="en-US" sz="2200">
                <a:latin typeface="Times New Roman"/>
                <a:ea typeface="+mn-lt"/>
                <a:cs typeface="+mn-lt"/>
              </a:rPr>
              <a:t>partially observable game </a:t>
            </a:r>
            <a:r>
              <a:rPr lang="en-US" sz="2200" dirty="0">
                <a:latin typeface="Times New Roman"/>
                <a:ea typeface="+mn-lt"/>
                <a:cs typeface="+mn-lt"/>
              </a:rPr>
              <a:t>(ii) </a:t>
            </a:r>
            <a:r>
              <a:rPr lang="en-US" sz="2200">
                <a:latin typeface="Times New Roman"/>
                <a:ea typeface="+mn-lt"/>
                <a:cs typeface="+mn-lt"/>
              </a:rPr>
              <a:t>a Bridge player must be able to explain at some point the meaning </a:t>
            </a:r>
            <a:r>
              <a:rPr lang="en-US" sz="2200" dirty="0">
                <a:latin typeface="Times New Roman"/>
                <a:ea typeface="+mn-lt"/>
                <a:cs typeface="+mn-lt"/>
              </a:rPr>
              <a:t>of his actions to </a:t>
            </a:r>
            <a:r>
              <a:rPr lang="en-US" sz="2200">
                <a:latin typeface="Times New Roman"/>
                <a:ea typeface="+mn-lt"/>
                <a:cs typeface="+mn-lt"/>
              </a:rPr>
              <a:t>his opponents</a:t>
            </a:r>
            <a:r>
              <a:rPr lang="en-US" sz="2200" dirty="0">
                <a:latin typeface="Times New Roman"/>
                <a:ea typeface="+mn-lt"/>
                <a:cs typeface="+mn-lt"/>
              </a:rPr>
              <a:t>. </a:t>
            </a:r>
            <a:r>
              <a:rPr lang="en-US" sz="2200">
                <a:latin typeface="Times New Roman"/>
                <a:ea typeface="+mn-lt"/>
                <a:cs typeface="+mn-lt"/>
              </a:rPr>
              <a:t>This paper presents a simple supervised learning problem in Bridge: given </a:t>
            </a:r>
            <a:r>
              <a:rPr lang="en-US" sz="2200" dirty="0">
                <a:latin typeface="Times New Roman"/>
                <a:ea typeface="+mn-lt"/>
                <a:cs typeface="+mn-lt"/>
              </a:rPr>
              <a:t>a ‘limit hand’, should </a:t>
            </a:r>
            <a:r>
              <a:rPr lang="en-US" sz="2200">
                <a:latin typeface="Times New Roman"/>
                <a:ea typeface="+mn-lt"/>
                <a:cs typeface="+mn-lt"/>
              </a:rPr>
              <a:t>a player </a:t>
            </a:r>
            <a:r>
              <a:rPr lang="en-US" sz="2200" dirty="0">
                <a:latin typeface="Times New Roman"/>
                <a:ea typeface="+mn-lt"/>
                <a:cs typeface="+mn-lt"/>
              </a:rPr>
              <a:t>bid or not, </a:t>
            </a:r>
            <a:r>
              <a:rPr lang="en-US" sz="2200">
                <a:latin typeface="Times New Roman"/>
                <a:ea typeface="+mn-lt"/>
                <a:cs typeface="+mn-lt"/>
              </a:rPr>
              <a:t>only considering </a:t>
            </a:r>
            <a:r>
              <a:rPr lang="en-US" sz="2200" dirty="0">
                <a:latin typeface="Times New Roman"/>
                <a:ea typeface="+mn-lt"/>
                <a:cs typeface="+mn-lt"/>
              </a:rPr>
              <a:t>his hand </a:t>
            </a:r>
            <a:r>
              <a:rPr lang="en-US" sz="2200">
                <a:latin typeface="Times New Roman"/>
                <a:ea typeface="+mn-lt"/>
                <a:cs typeface="+mn-lt"/>
              </a:rPr>
              <a:t>and the context </a:t>
            </a:r>
            <a:r>
              <a:rPr lang="en-US" sz="2200" dirty="0">
                <a:latin typeface="Times New Roman"/>
                <a:ea typeface="+mn-lt"/>
                <a:cs typeface="+mn-lt"/>
              </a:rPr>
              <a:t>of </a:t>
            </a:r>
            <a:r>
              <a:rPr lang="en-US" sz="2200">
                <a:latin typeface="Times New Roman"/>
                <a:ea typeface="+mn-lt"/>
                <a:cs typeface="+mn-lt"/>
              </a:rPr>
              <a:t>his decision. We describe this problem and some </a:t>
            </a:r>
            <a:r>
              <a:rPr lang="en-US" sz="2200" dirty="0">
                <a:latin typeface="Times New Roman"/>
                <a:ea typeface="+mn-lt"/>
                <a:cs typeface="+mn-lt"/>
              </a:rPr>
              <a:t>of </a:t>
            </a:r>
            <a:r>
              <a:rPr lang="en-US" sz="2200">
                <a:latin typeface="Times New Roman"/>
                <a:ea typeface="+mn-lt"/>
                <a:cs typeface="+mn-lt"/>
              </a:rPr>
              <a:t>its candidate modelisations. We then experiment state of the </a:t>
            </a:r>
            <a:r>
              <a:rPr lang="en-US" sz="2200" dirty="0">
                <a:latin typeface="Times New Roman"/>
                <a:ea typeface="+mn-lt"/>
                <a:cs typeface="+mn-lt"/>
              </a:rPr>
              <a:t>art </a:t>
            </a:r>
            <a:r>
              <a:rPr lang="en-US" sz="2200">
                <a:latin typeface="Times New Roman"/>
                <a:ea typeface="+mn-lt"/>
                <a:cs typeface="+mn-lt"/>
              </a:rPr>
              <a:t>propositional machine learning </a:t>
            </a:r>
            <a:r>
              <a:rPr lang="en-US" sz="2200" dirty="0">
                <a:latin typeface="Times New Roman"/>
                <a:ea typeface="+mn-lt"/>
                <a:cs typeface="+mn-lt"/>
              </a:rPr>
              <a:t>and </a:t>
            </a:r>
            <a:r>
              <a:rPr lang="en-US" sz="2200">
                <a:latin typeface="Times New Roman"/>
                <a:ea typeface="+mn-lt"/>
                <a:cs typeface="+mn-lt"/>
              </a:rPr>
              <a:t>ILP systems </a:t>
            </a:r>
            <a:r>
              <a:rPr lang="en-US" sz="2200" dirty="0">
                <a:latin typeface="Times New Roman"/>
                <a:ea typeface="+mn-lt"/>
                <a:cs typeface="+mn-lt"/>
              </a:rPr>
              <a:t>on </a:t>
            </a:r>
            <a:r>
              <a:rPr lang="en-US" sz="2200">
                <a:latin typeface="Times New Roman"/>
                <a:ea typeface="+mn-lt"/>
                <a:cs typeface="+mn-lt"/>
              </a:rPr>
              <a:t>this problem. Results of these preliminary experiments </a:t>
            </a:r>
            <a:r>
              <a:rPr lang="en-US" sz="2200" dirty="0">
                <a:latin typeface="Times New Roman"/>
                <a:ea typeface="+mn-lt"/>
                <a:cs typeface="+mn-lt"/>
              </a:rPr>
              <a:t>show that </a:t>
            </a:r>
            <a:r>
              <a:rPr lang="en-US" sz="2200">
                <a:latin typeface="Times New Roman"/>
                <a:ea typeface="+mn-lt"/>
                <a:cs typeface="+mn-lt"/>
              </a:rPr>
              <a:t>ILP systems are competitive or even outperform propositional Machine Learning systems</a:t>
            </a:r>
            <a:r>
              <a:rPr lang="en-US" sz="2200" dirty="0">
                <a:latin typeface="Times New Roman"/>
                <a:ea typeface="+mn-lt"/>
                <a:cs typeface="+mn-lt"/>
              </a:rPr>
              <a:t>. </a:t>
            </a:r>
            <a:r>
              <a:rPr lang="en-US" sz="2200">
                <a:latin typeface="Times New Roman"/>
                <a:ea typeface="+mn-lt"/>
                <a:cs typeface="+mn-lt"/>
              </a:rPr>
              <a:t>ILP systems are moreover able </a:t>
            </a:r>
            <a:r>
              <a:rPr lang="en-US" sz="2200" dirty="0">
                <a:latin typeface="Times New Roman"/>
                <a:ea typeface="+mn-lt"/>
                <a:cs typeface="+mn-lt"/>
              </a:rPr>
              <a:t>to </a:t>
            </a:r>
            <a:r>
              <a:rPr lang="en-US" sz="2200">
                <a:latin typeface="Times New Roman"/>
                <a:ea typeface="+mn-lt"/>
                <a:cs typeface="+mn-lt"/>
              </a:rPr>
              <a:t>build explicit models that have been validated by expert Bridge players</a:t>
            </a:r>
            <a:r>
              <a:rPr lang="en-US" sz="2200" dirty="0">
                <a:latin typeface="Times New Roman"/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273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Introduction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>
                <a:latin typeface="Times New Roman"/>
                <a:ea typeface="新細明體"/>
                <a:cs typeface="Times New Roman"/>
              </a:rPr>
              <a:t>Bidding stage</a:t>
            </a:r>
            <a:br>
              <a:rPr lang="en-US" altLang="zh-TW" dirty="0">
                <a:latin typeface="Times New Roman"/>
              </a:rPr>
            </a:br>
            <a:r>
              <a:rPr lang="en-US" altLang="zh-TW">
                <a:latin typeface="Times New Roman"/>
                <a:ea typeface="新細明體"/>
                <a:cs typeface="Times New Roman"/>
              </a:rPr>
              <a:t>Find the most profitable </a:t>
            </a:r>
            <a:r>
              <a:rPr lang="en-US" altLang="zh-TW" dirty="0">
                <a:latin typeface="Times New Roman"/>
                <a:ea typeface="新細明體"/>
                <a:cs typeface="Times New Roman"/>
              </a:rPr>
              <a:t>contract </a:t>
            </a:r>
            <a:r>
              <a:rPr lang="en-US" altLang="zh-TW">
                <a:latin typeface="Times New Roman"/>
                <a:ea typeface="新細明體"/>
                <a:cs typeface="Times New Roman"/>
              </a:rPr>
              <a:t>for the playing stage</a:t>
            </a:r>
            <a:endParaRPr lang="en-US" altLang="zh-TW" dirty="0">
              <a:latin typeface="Times New Roman"/>
              <a:ea typeface="新細明體"/>
              <a:cs typeface="Times New Roman"/>
            </a:endParaRPr>
          </a:p>
          <a:p>
            <a:r>
              <a:rPr lang="en-US" altLang="zh-TW">
                <a:latin typeface="Times New Roman"/>
                <a:ea typeface="新細明體"/>
                <a:cs typeface="Times New Roman"/>
              </a:rPr>
              <a:t>Playing stage</a:t>
            </a:r>
            <a:br>
              <a:rPr lang="en-US" altLang="zh-TW" dirty="0">
                <a:latin typeface="Times New Roman"/>
              </a:rPr>
            </a:br>
            <a:r>
              <a:rPr lang="en-US" altLang="zh-TW" dirty="0">
                <a:latin typeface="Times New Roman"/>
                <a:ea typeface="新細明體"/>
                <a:cs typeface="Times New Roman"/>
              </a:rPr>
              <a:t>13 rounds of </a:t>
            </a:r>
            <a:r>
              <a:rPr lang="en-US" altLang="zh-TW">
                <a:latin typeface="Times New Roman"/>
                <a:ea typeface="新細明體"/>
                <a:cs typeface="Times New Roman"/>
              </a:rPr>
              <a:t>a card-strength competition</a:t>
            </a:r>
            <a:endParaRPr lang="en-US" altLang="zh-TW" dirty="0">
              <a:latin typeface="Times New Roman"/>
              <a:ea typeface="新細明體"/>
              <a:cs typeface="Times New Roman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0CA24D7-37B0-4AD3-AD31-66F21D408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895" y="1571995"/>
            <a:ext cx="4947704" cy="3708571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Bidding stage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7D1A2-A981-4863-A7DD-8BD8969C78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31071" cy="452596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Asserting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making this bid,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I assert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my hand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has these properties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Denying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making this bid,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I deny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my hand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has these properties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Asking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and Answering Questions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your hand is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of type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, make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 1; if it is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of type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, make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 2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, etc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Interrupting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purpose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this bid is to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stop the opponents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66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Bidding stage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7D1A2-A981-4863-A7DD-8BD8969C78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31071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{1♣,1♦,1♥,1♠,1NT, 2♣,2♦,…,7NT}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Redouble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449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67FF01-B4C6-47FE-AA74-80A9B3DB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Opening Bid Problem</a:t>
            </a:r>
            <a:endParaRPr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601C03F0-406A-4043-9B08-54A70541926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2288404"/>
            <a:ext cx="8229600" cy="3149555"/>
          </a:xfrm>
        </p:spPr>
      </p:pic>
    </p:spTree>
    <p:extLst>
      <p:ext uri="{BB962C8B-B14F-4D97-AF65-F5344CB8AC3E}">
        <p14:creationId xmlns:p14="http://schemas.microsoft.com/office/powerpoint/2010/main" val="153038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67FF01-B4C6-47FE-AA74-80A9B3DB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Opening Bid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9363C290-E577-4A7B-98C7-43B144EBD75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∈{1,52}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𝑝𝑜𝑠𝑖𝑡𝑖𝑜𝑛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1…4</m:t>
                        </m:r>
                      </m:e>
                    </m:d>
                  </m:oMath>
                </a14:m>
                <a:endParaRPr lang="en-US" altLang="zh-TW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𝑣𝑢𝑙𝑛𝑒𝑟𝑎𝑏𝑖𝑙𝑖𝑡𝑦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1…4</m:t>
                        </m:r>
                      </m:e>
                    </m:d>
                  </m:oMath>
                </a14:m>
                <a:r>
                  <a:rPr lang="en-US" altLang="zh-TW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the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</a:t>
                </a:r>
                <a:r>
                  <a:rPr lang="en-US" altLang="zh-TW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pairs are not vulnerable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2: </a:t>
                </a:r>
                <a:r>
                  <a:rPr lang="en-US" altLang="zh-TW" b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 </a:t>
                </a:r>
                <a:r>
                  <a:rPr lang="en-US" altLang="zh-TW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vulnerable opponents vulnerable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b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vulnerable opponents not vulnerable</a:t>
                </a:r>
                <a:endParaRPr lang="en-US" altLang="zh-TW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TW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the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</a:t>
                </a:r>
                <a:r>
                  <a:rPr lang="en-US" altLang="zh-TW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pairs are vulnerable</a:t>
                </a:r>
                <a:endParaRPr lang="en-US" altLang="zh-TW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𝑐𝑙𝑎𝑠𝑠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∈{1, 0}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open or not </a:t>
                </a:r>
                <a:r>
                  <a:rPr lang="en-US" altLang="zh-TW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(marked by experts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9363C290-E577-4A7B-98C7-43B144EBD7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8229600" cy="45259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767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67FF01-B4C6-47FE-AA74-80A9B3DB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Samples sets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CB12E9E-C0F9-48D6-8924-63109578F3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2756501"/>
            <a:ext cx="8229600" cy="2213360"/>
          </a:xfrm>
        </p:spPr>
      </p:pic>
    </p:spTree>
    <p:extLst>
      <p:ext uri="{BB962C8B-B14F-4D97-AF65-F5344CB8AC3E}">
        <p14:creationId xmlns:p14="http://schemas.microsoft.com/office/powerpoint/2010/main" val="3338454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67FF01-B4C6-47FE-AA74-80A9B3DB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363C290-E577-4A7B-98C7-43B144EBD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</a:p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Building rule sets with </a:t>
            </a:r>
            <a:r>
              <a:rPr lang="en-US" altLang="zh-TW"/>
              <a:t>Inductive </a:t>
            </a:r>
            <a:r>
              <a:rPr lang="en-US" altLang="zh-TW" dirty="0"/>
              <a:t>Logic Programming(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ILP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) system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Aleph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Tilde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50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508952E-220E-41B8-B35C-27C545670D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372"/>
          <a:stretch/>
        </p:blipFill>
        <p:spPr>
          <a:xfrm>
            <a:off x="1624012" y="4049688"/>
            <a:ext cx="5895975" cy="2808312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E67FF01-B4C6-47FE-AA74-80A9B3DB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ILP method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363C290-E577-4A7B-98C7-43B144EBD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40768"/>
            <a:ext cx="8229600" cy="4525963"/>
          </a:xfrm>
        </p:spPr>
        <p:txBody>
          <a:bodyPr/>
          <a:lstStyle/>
          <a:p>
            <a:r>
              <a:rPr lang="en-US" altLang="zh-TW" dirty="0"/>
              <a:t>Aleph</a:t>
            </a:r>
            <a:r>
              <a:rPr lang="en-US" altLang="zh-TW" b="1" dirty="0"/>
              <a:t>(A</a:t>
            </a:r>
            <a:r>
              <a:rPr lang="en-US" altLang="zh-TW" dirty="0"/>
              <a:t> </a:t>
            </a:r>
            <a:r>
              <a:rPr lang="en-US" altLang="zh-TW" b="1" dirty="0"/>
              <a:t>L</a:t>
            </a:r>
            <a:r>
              <a:rPr lang="en-US" altLang="zh-TW" dirty="0"/>
              <a:t>earning </a:t>
            </a:r>
            <a:r>
              <a:rPr lang="en-US" altLang="zh-TW" b="1" dirty="0"/>
              <a:t>E</a:t>
            </a:r>
            <a:r>
              <a:rPr lang="en-US" altLang="zh-TW" dirty="0"/>
              <a:t>ngine for </a:t>
            </a:r>
            <a:r>
              <a:rPr lang="en-US" altLang="zh-TW" b="1" dirty="0"/>
              <a:t>P</a:t>
            </a:r>
            <a:r>
              <a:rPr lang="en-US" altLang="zh-TW" dirty="0"/>
              <a:t>roposing </a:t>
            </a:r>
            <a:r>
              <a:rPr lang="en-US" altLang="zh-TW" b="1" dirty="0"/>
              <a:t>H</a:t>
            </a:r>
            <a:r>
              <a:rPr lang="en-US" altLang="zh-TW" dirty="0"/>
              <a:t>ypotheses</a:t>
            </a:r>
            <a:r>
              <a:rPr lang="en-US" altLang="zh-TW" b="1" dirty="0"/>
              <a:t>)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Step1: Select example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Step2: Build most-specific-clause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Step3: Search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Step4: Remove redundant</a:t>
            </a:r>
          </a:p>
          <a:p>
            <a:r>
              <a:rPr lang="en-US" altLang="zh-TW" dirty="0">
                <a:effectLst/>
                <a:latin typeface="+mj-lt"/>
              </a:rPr>
              <a:t>Tilde: First-Order Logical Decision Trees</a:t>
            </a:r>
            <a:endParaRPr lang="zh-TW" altLang="en-US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723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67FF01-B4C6-47FE-AA74-80A9B3DB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Background knowledges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9363C290-E577-4A7B-98C7-43B144EBD75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8939336" cy="4983162"/>
              </a:xfrm>
            </p:spPr>
            <p:txBody>
              <a:bodyPr>
                <a:normAutofit fontScale="6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Open(E, Class)</a:t>
                </a: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 hand(E, H)</a:t>
                </a: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 card(E, C)</a:t>
                </a: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Position(E, P)</a:t>
                </a: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Vuln(E, V1, V2)</a:t>
                </a: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 suit(card, suit)</a:t>
                </a: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 rank(card, rank)</a:t>
                </a: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Honor(card)</a:t>
                </a: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Minor(card)</a:t>
                </a: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Small card(card)</a:t>
                </a: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Nb(E, suit, number)</a:t>
                </a:r>
              </a:p>
              <a:p>
                <a:pPr lvl="1"/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Plusvalue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(E): card combinations. E.g. (KQ in a 5+suit)</a:t>
                </a:r>
              </a:p>
              <a:p>
                <a:pPr lvl="1"/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Lteq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(number, number)</a:t>
                </a:r>
              </a:p>
              <a:p>
                <a:pPr lvl="1"/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Greq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(number, number)</a:t>
                </a: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List honor(E, Suit,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ListH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9363C290-E577-4A7B-98C7-43B144EBD7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8939336" cy="4983162"/>
              </a:xfrm>
              <a:blipFill>
                <a:blip r:embed="rId2"/>
                <a:stretch>
                  <a:fillRect l="-409" t="-1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88122C4D-A1B0-4D79-9CC3-836FD095D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848" y="1634153"/>
            <a:ext cx="6378206" cy="244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99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67FF01-B4C6-47FE-AA74-80A9B3DB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Background knowledges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363C290-E577-4A7B-98C7-43B144EBD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8CC72729-9F36-4D86-A6F7-8AB168AA5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8404"/>
            <a:ext cx="8229600" cy="314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580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67FF01-B4C6-47FE-AA74-80A9B3DB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knowledges - example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5">
                <a:extLst>
                  <a:ext uri="{FF2B5EF4-FFF2-40B4-BE49-F238E27FC236}">
                    <a16:creationId xmlns:a16="http://schemas.microsoft.com/office/drawing/2014/main" id="{775E40A2-9B3A-425B-B009-A58759F56A9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8939336" cy="4983162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Open(e, positive)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 hand(e, [c6,c9,d2,dT,dQ,dK,h2,h3,hq,s4,s6,sT,sA])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 card(e, c6), Has card(e, c9) … Has card(e,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Position(e, 4)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Vuln(e, not vulnerable, vulnerable)</a:t>
                </a:r>
              </a:p>
            </p:txBody>
          </p:sp>
        </mc:Choice>
        <mc:Fallback xmlns="">
          <p:sp>
            <p:nvSpPr>
              <p:cNvPr id="5" name="內容版面配置區 5">
                <a:extLst>
                  <a:ext uri="{FF2B5EF4-FFF2-40B4-BE49-F238E27FC236}">
                    <a16:creationId xmlns:a16="http://schemas.microsoft.com/office/drawing/2014/main" id="{775E40A2-9B3A-425B-B009-A58759F56A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8939336" cy="4983162"/>
              </a:xfrm>
              <a:blipFill>
                <a:blip r:embed="rId2"/>
                <a:stretch>
                  <a:fillRect l="-12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356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67FF01-B4C6-47FE-AA74-80A9B3DB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1403593-11E5-412F-8EBF-4A8AD3C70C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575"/>
          <a:stretch/>
        </p:blipFill>
        <p:spPr>
          <a:xfrm>
            <a:off x="0" y="1858562"/>
            <a:ext cx="4427984" cy="3140876"/>
          </a:xfrm>
          <a:prstGeom prst="rect">
            <a:avLst/>
          </a:prstGeom>
        </p:spPr>
      </p:pic>
      <p:pic>
        <p:nvPicPr>
          <p:cNvPr id="10" name="內容版面配置區 3">
            <a:extLst>
              <a:ext uri="{FF2B5EF4-FFF2-40B4-BE49-F238E27FC236}">
                <a16:creationId xmlns:a16="http://schemas.microsoft.com/office/drawing/2014/main" id="{1BAD0EC9-7F79-4BA4-901D-68FB564F85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51620" y="4999438"/>
            <a:ext cx="6840760" cy="1839830"/>
          </a:xfr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BE1B9584-0779-426C-8D87-E9D611FD7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68" y="1751320"/>
            <a:ext cx="4445152" cy="333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9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67FF01-B4C6-47FE-AA74-80A9B3DB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C92E9DF-540D-4C4C-9F9E-DDCF7EFB66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000"/>
          <a:stretch/>
        </p:blipFill>
        <p:spPr>
          <a:xfrm>
            <a:off x="180053" y="1714500"/>
            <a:ext cx="8783894" cy="3429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70A1CD74-3124-401B-96C1-FC8B329ABE60}"/>
                  </a:ext>
                </a:extLst>
              </p:cNvPr>
              <p:cNvSpPr txBox="1"/>
              <p:nvPr/>
            </p:nvSpPr>
            <p:spPr>
              <a:xfrm>
                <a:off x="1475656" y="5445224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70A1CD74-3124-401B-96C1-FC8B329AB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5445224"/>
                <a:ext cx="151216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8CE8783-9773-482B-9D3F-6B6EAF25CFC6}"/>
                  </a:ext>
                </a:extLst>
              </p:cNvPr>
              <p:cNvSpPr txBox="1"/>
              <p:nvPr/>
            </p:nvSpPr>
            <p:spPr>
              <a:xfrm>
                <a:off x="6158755" y="5440362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8CE8783-9773-482B-9D3F-6B6EAF25C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8755" y="5440362"/>
                <a:ext cx="151216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568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67FF01-B4C6-47FE-AA74-80A9B3DB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C92E9DF-540D-4C4C-9F9E-DDCF7EFB66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" r="1786"/>
          <a:stretch/>
        </p:blipFill>
        <p:spPr>
          <a:xfrm>
            <a:off x="180053" y="1714500"/>
            <a:ext cx="8783894" cy="3429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B018FAF-78D0-43B9-8365-EB9D5106A6D5}"/>
                  </a:ext>
                </a:extLst>
              </p:cNvPr>
              <p:cNvSpPr txBox="1"/>
              <p:nvPr/>
            </p:nvSpPr>
            <p:spPr>
              <a:xfrm>
                <a:off x="1475656" y="5445224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B018FAF-78D0-43B9-8365-EB9D5106A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5445224"/>
                <a:ext cx="151216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B4BF6EF-740F-4D68-BCA8-C167F00DBCDC}"/>
                  </a:ext>
                </a:extLst>
              </p:cNvPr>
              <p:cNvSpPr txBox="1"/>
              <p:nvPr/>
            </p:nvSpPr>
            <p:spPr>
              <a:xfrm>
                <a:off x="6158755" y="5440362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B4BF6EF-740F-4D68-BCA8-C167F00DB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8755" y="5440362"/>
                <a:ext cx="151216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3417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67FF01-B4C6-47FE-AA74-80A9B3DB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2A1936D-239A-482E-B8FF-017161614E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575"/>
          <a:stretch/>
        </p:blipFill>
        <p:spPr>
          <a:xfrm>
            <a:off x="0" y="1735013"/>
            <a:ext cx="4427984" cy="3387973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C1D258D-541C-476D-8E78-941A18887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1592964"/>
            <a:ext cx="4680520" cy="367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437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5E67FF01-B4C6-47FE-AA74-80A9B3DB272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algn="l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Experiment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5E67FF01-B4C6-47FE-AA74-80A9B3DB27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963"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CC78472-ECE3-432D-AF47-1C65DF8CE0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lang="en-US" altLang="zh-TW" dirty="0">
                <a:latin typeface="+mj-lt"/>
                <a:cs typeface="Times New Roman" panose="02020603050405020304" pitchFamily="18" charset="0"/>
              </a:rPr>
              <a:t>Number of data: 279 samples</a:t>
            </a:r>
          </a:p>
          <a:p>
            <a:r>
              <a:rPr lang="en-US" altLang="zh-TW" dirty="0">
                <a:latin typeface="+mj-lt"/>
                <a:cs typeface="Times New Roman" panose="02020603050405020304" pitchFamily="18" charset="0"/>
              </a:rPr>
              <a:t>Constrains: </a:t>
            </a:r>
          </a:p>
          <a:p>
            <a:pPr lvl="1"/>
            <a:r>
              <a:rPr lang="en-US" altLang="zh-TW" dirty="0">
                <a:latin typeface="+mj-lt"/>
                <a:cs typeface="Times New Roman" panose="02020603050405020304" pitchFamily="18" charset="0"/>
              </a:rPr>
              <a:t>No more than 5 card in a suit</a:t>
            </a:r>
          </a:p>
          <a:p>
            <a:pPr lvl="1"/>
            <a:r>
              <a:rPr lang="en-US" altLang="zh-TW" dirty="0">
                <a:latin typeface="+mj-lt"/>
                <a:cs typeface="Times New Roman" panose="02020603050405020304" pitchFamily="18" charset="0"/>
              </a:rPr>
              <a:t>Position != 3</a:t>
            </a:r>
            <a:endParaRPr lang="zh-TW" altLang="en-US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976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FC65E480-DE4B-4317-A4D9-1C662B5057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63008" y="908720"/>
            <a:ext cx="5914186" cy="594928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5E67FF01-B4C6-47FE-AA74-80A9B3DB272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algn="l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Experiment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5E67FF01-B4C6-47FE-AA74-80A9B3DB27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963"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3552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eting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11080</TotalTime>
  <Words>695</Words>
  <Application>Microsoft Office PowerPoint</Application>
  <PresentationFormat>如螢幕大小 (4:3)</PresentationFormat>
  <Paragraphs>90</Paragraphs>
  <Slides>19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 Math</vt:lpstr>
      <vt:lpstr>Times New Roman</vt:lpstr>
      <vt:lpstr>Office 佈景主題</vt:lpstr>
      <vt:lpstr>The Game of Bridge: A Challenge for ILP</vt:lpstr>
      <vt:lpstr>Abstract</vt:lpstr>
      <vt:lpstr>Introduction</vt:lpstr>
      <vt:lpstr>Bidding stage</vt:lpstr>
      <vt:lpstr>Bidding stage</vt:lpstr>
      <vt:lpstr>Opening Bid Problem</vt:lpstr>
      <vt:lpstr>Opening Bid Problem</vt:lpstr>
      <vt:lpstr>Samples sets</vt:lpstr>
      <vt:lpstr>Method</vt:lpstr>
      <vt:lpstr>ILP method</vt:lpstr>
      <vt:lpstr>Background knowledges</vt:lpstr>
      <vt:lpstr>Background knowledges</vt:lpstr>
      <vt:lpstr>Background knowledges - example</vt:lpstr>
      <vt:lpstr>Experiment</vt:lpstr>
      <vt:lpstr>Experiment</vt:lpstr>
      <vt:lpstr>Experiment</vt:lpstr>
      <vt:lpstr>Experiment</vt:lpstr>
      <vt:lpstr>Experiment for E_1</vt:lpstr>
      <vt:lpstr>Experiment for E_1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faster algorithm for finding shortest substring matches of a regular expression</dc:title>
  <dc:creator>M093040098</dc:creator>
  <cp:lastModifiedBy>User</cp:lastModifiedBy>
  <cp:revision>400</cp:revision>
  <dcterms:created xsi:type="dcterms:W3CDTF">2020-10-30T08:30:28Z</dcterms:created>
  <dcterms:modified xsi:type="dcterms:W3CDTF">2021-10-13T09:12:03Z</dcterms:modified>
</cp:coreProperties>
</file>