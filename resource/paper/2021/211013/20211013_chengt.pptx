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1" r:id="rId6"/>
    <p:sldId id="262" r:id="rId7"/>
    <p:sldId id="263" r:id="rId8"/>
    <p:sldId id="264" r:id="rId9"/>
    <p:sldId id="266" r:id="rId10"/>
    <p:sldId id="267" r:id="rId11"/>
    <p:sldId id="268" r:id="rId12"/>
    <p:sldId id="269" r:id="rId13"/>
    <p:sldId id="265" r:id="rId14"/>
    <p:sldId id="272" r:id="rId15"/>
    <p:sldId id="271" r:id="rId1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376" autoAdjust="0"/>
  </p:normalViewPr>
  <p:slideViewPr>
    <p:cSldViewPr snapToGrid="0">
      <p:cViewPr varScale="1">
        <p:scale>
          <a:sx n="112" d="100"/>
          <a:sy n="112" d="100"/>
        </p:scale>
        <p:origin x="51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FE9CA9-2D2F-4F32-AF24-15E7BAFAD219}"/>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320C05A1-6B4C-43DC-B2A7-0971AA29F1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2C3FA422-B303-40CB-9601-EA4B6EEFF25F}"/>
              </a:ext>
            </a:extLst>
          </p:cNvPr>
          <p:cNvSpPr>
            <a:spLocks noGrp="1"/>
          </p:cNvSpPr>
          <p:nvPr>
            <p:ph type="dt" sz="half" idx="10"/>
          </p:nvPr>
        </p:nvSpPr>
        <p:spPr/>
        <p:txBody>
          <a:bodyPr/>
          <a:lstStyle/>
          <a:p>
            <a:fld id="{4B7D3FF7-98C8-45EF-858E-1D7577A201E8}" type="datetimeFigureOut">
              <a:rPr lang="zh-TW" altLang="en-US" smtClean="0"/>
              <a:t>2021/10/13</a:t>
            </a:fld>
            <a:endParaRPr lang="zh-TW" altLang="en-US"/>
          </a:p>
        </p:txBody>
      </p:sp>
      <p:sp>
        <p:nvSpPr>
          <p:cNvPr id="5" name="頁尾版面配置區 4">
            <a:extLst>
              <a:ext uri="{FF2B5EF4-FFF2-40B4-BE49-F238E27FC236}">
                <a16:creationId xmlns:a16="http://schemas.microsoft.com/office/drawing/2014/main" id="{2E28DE39-D10A-451A-8D55-E836A0D25EB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5B9EC4E-D49C-4C4D-939B-8406C8424EF9}"/>
              </a:ext>
            </a:extLst>
          </p:cNvPr>
          <p:cNvSpPr>
            <a:spLocks noGrp="1"/>
          </p:cNvSpPr>
          <p:nvPr>
            <p:ph type="sldNum" sz="quarter" idx="12"/>
          </p:nvPr>
        </p:nvSpPr>
        <p:spPr/>
        <p:txBody>
          <a:bodyPr/>
          <a:lstStyle/>
          <a:p>
            <a:fld id="{48559D5E-1BBD-45D2-9B47-71D7163E307A}" type="slidenum">
              <a:rPr lang="zh-TW" altLang="en-US" smtClean="0"/>
              <a:t>‹#›</a:t>
            </a:fld>
            <a:endParaRPr lang="zh-TW" altLang="en-US"/>
          </a:p>
        </p:txBody>
      </p:sp>
    </p:spTree>
    <p:extLst>
      <p:ext uri="{BB962C8B-B14F-4D97-AF65-F5344CB8AC3E}">
        <p14:creationId xmlns:p14="http://schemas.microsoft.com/office/powerpoint/2010/main" val="27256892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EF7F1D7-8411-4E11-AF8C-2B420A243E4C}"/>
              </a:ext>
            </a:extLst>
          </p:cNvPr>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zh-TW" altLang="en-US" dirty="0"/>
              <a:t>按一下以編輯母片標題樣式</a:t>
            </a:r>
          </a:p>
        </p:txBody>
      </p:sp>
      <p:sp>
        <p:nvSpPr>
          <p:cNvPr id="3" name="內容版面配置區 2">
            <a:extLst>
              <a:ext uri="{FF2B5EF4-FFF2-40B4-BE49-F238E27FC236}">
                <a16:creationId xmlns:a16="http://schemas.microsoft.com/office/drawing/2014/main" id="{4DF67058-DC92-4082-B2C6-4D129AB8E9CE}"/>
              </a:ext>
            </a:extLst>
          </p:cNvPr>
          <p:cNvSpPr>
            <a:spLocks noGrp="1"/>
          </p:cNvSpPr>
          <p:nvPr>
            <p:ph idx="1"/>
          </p:nvPr>
        </p:nvSpPr>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a:extLst>
              <a:ext uri="{FF2B5EF4-FFF2-40B4-BE49-F238E27FC236}">
                <a16:creationId xmlns:a16="http://schemas.microsoft.com/office/drawing/2014/main" id="{D285A2B6-A6FF-4586-9C72-9A768CCC5C8F}"/>
              </a:ext>
            </a:extLst>
          </p:cNvPr>
          <p:cNvSpPr>
            <a:spLocks noGrp="1"/>
          </p:cNvSpPr>
          <p:nvPr>
            <p:ph type="dt" sz="half" idx="10"/>
          </p:nvPr>
        </p:nvSpPr>
        <p:spPr/>
        <p:txBody>
          <a:bodyPr/>
          <a:lstStyle/>
          <a:p>
            <a:fld id="{4B7D3FF7-98C8-45EF-858E-1D7577A201E8}" type="datetimeFigureOut">
              <a:rPr lang="zh-TW" altLang="en-US" smtClean="0"/>
              <a:t>2021/10/13</a:t>
            </a:fld>
            <a:endParaRPr lang="zh-TW" altLang="en-US"/>
          </a:p>
        </p:txBody>
      </p:sp>
      <p:sp>
        <p:nvSpPr>
          <p:cNvPr id="5" name="頁尾版面配置區 4">
            <a:extLst>
              <a:ext uri="{FF2B5EF4-FFF2-40B4-BE49-F238E27FC236}">
                <a16:creationId xmlns:a16="http://schemas.microsoft.com/office/drawing/2014/main" id="{16890196-ACF8-41CE-B82F-5358EB1FF29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A19A0D5-9B73-4B68-AD00-407EEA9D5EF6}"/>
              </a:ext>
            </a:extLst>
          </p:cNvPr>
          <p:cNvSpPr>
            <a:spLocks noGrp="1"/>
          </p:cNvSpPr>
          <p:nvPr>
            <p:ph type="sldNum" sz="quarter" idx="12"/>
          </p:nvPr>
        </p:nvSpPr>
        <p:spPr/>
        <p:txBody>
          <a:bodyPr/>
          <a:lstStyle/>
          <a:p>
            <a:fld id="{48559D5E-1BBD-45D2-9B47-71D7163E307A}" type="slidenum">
              <a:rPr lang="zh-TW" altLang="en-US" smtClean="0"/>
              <a:t>‹#›</a:t>
            </a:fld>
            <a:endParaRPr lang="zh-TW" altLang="en-US"/>
          </a:p>
        </p:txBody>
      </p:sp>
    </p:spTree>
    <p:extLst>
      <p:ext uri="{BB962C8B-B14F-4D97-AF65-F5344CB8AC3E}">
        <p14:creationId xmlns:p14="http://schemas.microsoft.com/office/powerpoint/2010/main" val="112583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988F12C-EC56-4DFB-A515-B36E8F690046}"/>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CB75A81F-8844-4974-A3EE-619D3083E1A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D57FCC78-122C-49B5-B518-46166828F66B}"/>
              </a:ext>
            </a:extLst>
          </p:cNvPr>
          <p:cNvSpPr>
            <a:spLocks noGrp="1"/>
          </p:cNvSpPr>
          <p:nvPr>
            <p:ph type="dt" sz="half" idx="10"/>
          </p:nvPr>
        </p:nvSpPr>
        <p:spPr/>
        <p:txBody>
          <a:bodyPr/>
          <a:lstStyle/>
          <a:p>
            <a:fld id="{4B7D3FF7-98C8-45EF-858E-1D7577A201E8}" type="datetimeFigureOut">
              <a:rPr lang="zh-TW" altLang="en-US" smtClean="0"/>
              <a:t>2021/10/13</a:t>
            </a:fld>
            <a:endParaRPr lang="zh-TW" altLang="en-US"/>
          </a:p>
        </p:txBody>
      </p:sp>
      <p:sp>
        <p:nvSpPr>
          <p:cNvPr id="5" name="頁尾版面配置區 4">
            <a:extLst>
              <a:ext uri="{FF2B5EF4-FFF2-40B4-BE49-F238E27FC236}">
                <a16:creationId xmlns:a16="http://schemas.microsoft.com/office/drawing/2014/main" id="{C4B29CD4-F9A7-4EDB-9F7E-6E60B1A8EE4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AF45F51-5F17-4A75-907B-E3612675D172}"/>
              </a:ext>
            </a:extLst>
          </p:cNvPr>
          <p:cNvSpPr>
            <a:spLocks noGrp="1"/>
          </p:cNvSpPr>
          <p:nvPr>
            <p:ph type="sldNum" sz="quarter" idx="12"/>
          </p:nvPr>
        </p:nvSpPr>
        <p:spPr/>
        <p:txBody>
          <a:bodyPr/>
          <a:lstStyle/>
          <a:p>
            <a:fld id="{48559D5E-1BBD-45D2-9B47-71D7163E307A}" type="slidenum">
              <a:rPr lang="zh-TW" altLang="en-US" smtClean="0"/>
              <a:t>‹#›</a:t>
            </a:fld>
            <a:endParaRPr lang="zh-TW" altLang="en-US"/>
          </a:p>
        </p:txBody>
      </p:sp>
    </p:spTree>
    <p:extLst>
      <p:ext uri="{BB962C8B-B14F-4D97-AF65-F5344CB8AC3E}">
        <p14:creationId xmlns:p14="http://schemas.microsoft.com/office/powerpoint/2010/main" val="2974795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2D844B-B729-4E25-A1CA-535C68C63D14}"/>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E73FCB8A-BE36-4651-98A5-75961A98844D}"/>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A0EF4232-CB03-48C5-9EB5-1A596A7F8C1E}"/>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32D15D8A-D91D-44C1-AEA7-80712A484C2E}"/>
              </a:ext>
            </a:extLst>
          </p:cNvPr>
          <p:cNvSpPr>
            <a:spLocks noGrp="1"/>
          </p:cNvSpPr>
          <p:nvPr>
            <p:ph type="dt" sz="half" idx="10"/>
          </p:nvPr>
        </p:nvSpPr>
        <p:spPr/>
        <p:txBody>
          <a:bodyPr/>
          <a:lstStyle/>
          <a:p>
            <a:fld id="{4B7D3FF7-98C8-45EF-858E-1D7577A201E8}" type="datetimeFigureOut">
              <a:rPr lang="zh-TW" altLang="en-US" smtClean="0"/>
              <a:t>2021/10/13</a:t>
            </a:fld>
            <a:endParaRPr lang="zh-TW" altLang="en-US"/>
          </a:p>
        </p:txBody>
      </p:sp>
      <p:sp>
        <p:nvSpPr>
          <p:cNvPr id="6" name="頁尾版面配置區 5">
            <a:extLst>
              <a:ext uri="{FF2B5EF4-FFF2-40B4-BE49-F238E27FC236}">
                <a16:creationId xmlns:a16="http://schemas.microsoft.com/office/drawing/2014/main" id="{085F2E0F-9BE6-4E57-A5CE-83E94CCE6D96}"/>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464674A4-E2AD-492B-AAEF-423BB79A3119}"/>
              </a:ext>
            </a:extLst>
          </p:cNvPr>
          <p:cNvSpPr>
            <a:spLocks noGrp="1"/>
          </p:cNvSpPr>
          <p:nvPr>
            <p:ph type="sldNum" sz="quarter" idx="12"/>
          </p:nvPr>
        </p:nvSpPr>
        <p:spPr/>
        <p:txBody>
          <a:bodyPr/>
          <a:lstStyle/>
          <a:p>
            <a:fld id="{48559D5E-1BBD-45D2-9B47-71D7163E307A}" type="slidenum">
              <a:rPr lang="zh-TW" altLang="en-US" smtClean="0"/>
              <a:t>‹#›</a:t>
            </a:fld>
            <a:endParaRPr lang="zh-TW" altLang="en-US"/>
          </a:p>
        </p:txBody>
      </p:sp>
    </p:spTree>
    <p:extLst>
      <p:ext uri="{BB962C8B-B14F-4D97-AF65-F5344CB8AC3E}">
        <p14:creationId xmlns:p14="http://schemas.microsoft.com/office/powerpoint/2010/main" val="10738091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BFF5937-DC0A-4941-A312-316A5FE8377C}"/>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C40587A-7C8A-4674-9AAE-08E9CFAEE6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9E957552-3ACD-48DE-A028-6B42D147E779}"/>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2E3115B1-BF88-4BF2-8BF9-A0ED8BA34B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FD328C5D-5F7C-4F1F-B551-7EA04A89596A}"/>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8D1CB5C1-815A-4F4C-BFD6-4DD758ACD24A}"/>
              </a:ext>
            </a:extLst>
          </p:cNvPr>
          <p:cNvSpPr>
            <a:spLocks noGrp="1"/>
          </p:cNvSpPr>
          <p:nvPr>
            <p:ph type="dt" sz="half" idx="10"/>
          </p:nvPr>
        </p:nvSpPr>
        <p:spPr/>
        <p:txBody>
          <a:bodyPr/>
          <a:lstStyle/>
          <a:p>
            <a:fld id="{4B7D3FF7-98C8-45EF-858E-1D7577A201E8}" type="datetimeFigureOut">
              <a:rPr lang="zh-TW" altLang="en-US" smtClean="0"/>
              <a:t>2021/10/13</a:t>
            </a:fld>
            <a:endParaRPr lang="zh-TW" altLang="en-US"/>
          </a:p>
        </p:txBody>
      </p:sp>
      <p:sp>
        <p:nvSpPr>
          <p:cNvPr id="8" name="頁尾版面配置區 7">
            <a:extLst>
              <a:ext uri="{FF2B5EF4-FFF2-40B4-BE49-F238E27FC236}">
                <a16:creationId xmlns:a16="http://schemas.microsoft.com/office/drawing/2014/main" id="{A12580DB-1B47-4F36-B256-B07EE3B076F5}"/>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D4AEB7D4-1178-4E72-8BCD-1BDF9FE5152A}"/>
              </a:ext>
            </a:extLst>
          </p:cNvPr>
          <p:cNvSpPr>
            <a:spLocks noGrp="1"/>
          </p:cNvSpPr>
          <p:nvPr>
            <p:ph type="sldNum" sz="quarter" idx="12"/>
          </p:nvPr>
        </p:nvSpPr>
        <p:spPr/>
        <p:txBody>
          <a:bodyPr/>
          <a:lstStyle/>
          <a:p>
            <a:fld id="{48559D5E-1BBD-45D2-9B47-71D7163E307A}" type="slidenum">
              <a:rPr lang="zh-TW" altLang="en-US" smtClean="0"/>
              <a:t>‹#›</a:t>
            </a:fld>
            <a:endParaRPr lang="zh-TW" altLang="en-US"/>
          </a:p>
        </p:txBody>
      </p:sp>
    </p:spTree>
    <p:extLst>
      <p:ext uri="{BB962C8B-B14F-4D97-AF65-F5344CB8AC3E}">
        <p14:creationId xmlns:p14="http://schemas.microsoft.com/office/powerpoint/2010/main" val="28968274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09992E3-79C6-4551-8A91-566CBEE53550}"/>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B68B05B7-D88A-436D-8890-877E1E165C9E}"/>
              </a:ext>
            </a:extLst>
          </p:cNvPr>
          <p:cNvSpPr>
            <a:spLocks noGrp="1"/>
          </p:cNvSpPr>
          <p:nvPr>
            <p:ph type="dt" sz="half" idx="10"/>
          </p:nvPr>
        </p:nvSpPr>
        <p:spPr/>
        <p:txBody>
          <a:bodyPr/>
          <a:lstStyle/>
          <a:p>
            <a:fld id="{4B7D3FF7-98C8-45EF-858E-1D7577A201E8}" type="datetimeFigureOut">
              <a:rPr lang="zh-TW" altLang="en-US" smtClean="0"/>
              <a:t>2021/10/13</a:t>
            </a:fld>
            <a:endParaRPr lang="zh-TW" altLang="en-US"/>
          </a:p>
        </p:txBody>
      </p:sp>
      <p:sp>
        <p:nvSpPr>
          <p:cNvPr id="4" name="頁尾版面配置區 3">
            <a:extLst>
              <a:ext uri="{FF2B5EF4-FFF2-40B4-BE49-F238E27FC236}">
                <a16:creationId xmlns:a16="http://schemas.microsoft.com/office/drawing/2014/main" id="{AFC63F8D-6A3D-4FEB-BC0A-C80CE8E55389}"/>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B9C39441-1078-46F5-948C-E34A790A77F7}"/>
              </a:ext>
            </a:extLst>
          </p:cNvPr>
          <p:cNvSpPr>
            <a:spLocks noGrp="1"/>
          </p:cNvSpPr>
          <p:nvPr>
            <p:ph type="sldNum" sz="quarter" idx="12"/>
          </p:nvPr>
        </p:nvSpPr>
        <p:spPr/>
        <p:txBody>
          <a:bodyPr/>
          <a:lstStyle/>
          <a:p>
            <a:fld id="{48559D5E-1BBD-45D2-9B47-71D7163E307A}" type="slidenum">
              <a:rPr lang="zh-TW" altLang="en-US" smtClean="0"/>
              <a:t>‹#›</a:t>
            </a:fld>
            <a:endParaRPr lang="zh-TW" altLang="en-US"/>
          </a:p>
        </p:txBody>
      </p:sp>
    </p:spTree>
    <p:extLst>
      <p:ext uri="{BB962C8B-B14F-4D97-AF65-F5344CB8AC3E}">
        <p14:creationId xmlns:p14="http://schemas.microsoft.com/office/powerpoint/2010/main" val="12046346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5E69727E-491C-4915-BFF8-620880DD2113}"/>
              </a:ext>
            </a:extLst>
          </p:cNvPr>
          <p:cNvSpPr>
            <a:spLocks noGrp="1"/>
          </p:cNvSpPr>
          <p:nvPr>
            <p:ph type="dt" sz="half" idx="10"/>
          </p:nvPr>
        </p:nvSpPr>
        <p:spPr/>
        <p:txBody>
          <a:bodyPr/>
          <a:lstStyle/>
          <a:p>
            <a:fld id="{4B7D3FF7-98C8-45EF-858E-1D7577A201E8}" type="datetimeFigureOut">
              <a:rPr lang="zh-TW" altLang="en-US" smtClean="0"/>
              <a:t>2021/10/13</a:t>
            </a:fld>
            <a:endParaRPr lang="zh-TW" altLang="en-US"/>
          </a:p>
        </p:txBody>
      </p:sp>
      <p:sp>
        <p:nvSpPr>
          <p:cNvPr id="3" name="頁尾版面配置區 2">
            <a:extLst>
              <a:ext uri="{FF2B5EF4-FFF2-40B4-BE49-F238E27FC236}">
                <a16:creationId xmlns:a16="http://schemas.microsoft.com/office/drawing/2014/main" id="{00FE5364-20F2-413F-8048-FFCFCBC2B848}"/>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F384A7BF-5767-4465-837F-3C118AD2819A}"/>
              </a:ext>
            </a:extLst>
          </p:cNvPr>
          <p:cNvSpPr>
            <a:spLocks noGrp="1"/>
          </p:cNvSpPr>
          <p:nvPr>
            <p:ph type="sldNum" sz="quarter" idx="12"/>
          </p:nvPr>
        </p:nvSpPr>
        <p:spPr/>
        <p:txBody>
          <a:bodyPr/>
          <a:lstStyle/>
          <a:p>
            <a:fld id="{48559D5E-1BBD-45D2-9B47-71D7163E307A}" type="slidenum">
              <a:rPr lang="zh-TW" altLang="en-US" smtClean="0"/>
              <a:t>‹#›</a:t>
            </a:fld>
            <a:endParaRPr lang="zh-TW" altLang="en-US"/>
          </a:p>
        </p:txBody>
      </p:sp>
    </p:spTree>
    <p:extLst>
      <p:ext uri="{BB962C8B-B14F-4D97-AF65-F5344CB8AC3E}">
        <p14:creationId xmlns:p14="http://schemas.microsoft.com/office/powerpoint/2010/main" val="18704559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18CDE37-F35C-4478-A2E4-5432BDF0741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44760404-E270-40DF-BA81-96F08FC4B1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253545B4-D143-456A-8178-04592C865A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64AD798C-3D43-42B5-AF0C-3060871F44D6}"/>
              </a:ext>
            </a:extLst>
          </p:cNvPr>
          <p:cNvSpPr>
            <a:spLocks noGrp="1"/>
          </p:cNvSpPr>
          <p:nvPr>
            <p:ph type="dt" sz="half" idx="10"/>
          </p:nvPr>
        </p:nvSpPr>
        <p:spPr/>
        <p:txBody>
          <a:bodyPr/>
          <a:lstStyle/>
          <a:p>
            <a:fld id="{4B7D3FF7-98C8-45EF-858E-1D7577A201E8}" type="datetimeFigureOut">
              <a:rPr lang="zh-TW" altLang="en-US" smtClean="0"/>
              <a:t>2021/10/13</a:t>
            </a:fld>
            <a:endParaRPr lang="zh-TW" altLang="en-US"/>
          </a:p>
        </p:txBody>
      </p:sp>
      <p:sp>
        <p:nvSpPr>
          <p:cNvPr id="6" name="頁尾版面配置區 5">
            <a:extLst>
              <a:ext uri="{FF2B5EF4-FFF2-40B4-BE49-F238E27FC236}">
                <a16:creationId xmlns:a16="http://schemas.microsoft.com/office/drawing/2014/main" id="{F54F6F2E-0FE9-4920-8BCA-34B0A11AE764}"/>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445DC602-804F-4F43-81A2-FAE2A9A30916}"/>
              </a:ext>
            </a:extLst>
          </p:cNvPr>
          <p:cNvSpPr>
            <a:spLocks noGrp="1"/>
          </p:cNvSpPr>
          <p:nvPr>
            <p:ph type="sldNum" sz="quarter" idx="12"/>
          </p:nvPr>
        </p:nvSpPr>
        <p:spPr/>
        <p:txBody>
          <a:bodyPr/>
          <a:lstStyle/>
          <a:p>
            <a:fld id="{48559D5E-1BBD-45D2-9B47-71D7163E307A}" type="slidenum">
              <a:rPr lang="zh-TW" altLang="en-US" smtClean="0"/>
              <a:t>‹#›</a:t>
            </a:fld>
            <a:endParaRPr lang="zh-TW" altLang="en-US"/>
          </a:p>
        </p:txBody>
      </p:sp>
    </p:spTree>
    <p:extLst>
      <p:ext uri="{BB962C8B-B14F-4D97-AF65-F5344CB8AC3E}">
        <p14:creationId xmlns:p14="http://schemas.microsoft.com/office/powerpoint/2010/main" val="5801529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E6EE344-0B98-4B2C-BFBA-BA2D69D321FE}"/>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4CAC1682-7C9E-452E-BD7D-F893AE7FDC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BF9614B5-D1BC-40A7-BC37-F1C8AD2075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E954F840-3657-4543-997E-94E73C47E69E}"/>
              </a:ext>
            </a:extLst>
          </p:cNvPr>
          <p:cNvSpPr>
            <a:spLocks noGrp="1"/>
          </p:cNvSpPr>
          <p:nvPr>
            <p:ph type="dt" sz="half" idx="10"/>
          </p:nvPr>
        </p:nvSpPr>
        <p:spPr/>
        <p:txBody>
          <a:bodyPr/>
          <a:lstStyle/>
          <a:p>
            <a:fld id="{4B7D3FF7-98C8-45EF-858E-1D7577A201E8}" type="datetimeFigureOut">
              <a:rPr lang="zh-TW" altLang="en-US" smtClean="0"/>
              <a:t>2021/10/13</a:t>
            </a:fld>
            <a:endParaRPr lang="zh-TW" altLang="en-US"/>
          </a:p>
        </p:txBody>
      </p:sp>
      <p:sp>
        <p:nvSpPr>
          <p:cNvPr id="6" name="頁尾版面配置區 5">
            <a:extLst>
              <a:ext uri="{FF2B5EF4-FFF2-40B4-BE49-F238E27FC236}">
                <a16:creationId xmlns:a16="http://schemas.microsoft.com/office/drawing/2014/main" id="{E77FE89D-3350-4401-896A-C7AC5865DA82}"/>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7FDD5D27-3C12-4209-83F0-98A84BDA36F0}"/>
              </a:ext>
            </a:extLst>
          </p:cNvPr>
          <p:cNvSpPr>
            <a:spLocks noGrp="1"/>
          </p:cNvSpPr>
          <p:nvPr>
            <p:ph type="sldNum" sz="quarter" idx="12"/>
          </p:nvPr>
        </p:nvSpPr>
        <p:spPr/>
        <p:txBody>
          <a:bodyPr/>
          <a:lstStyle/>
          <a:p>
            <a:fld id="{48559D5E-1BBD-45D2-9B47-71D7163E307A}" type="slidenum">
              <a:rPr lang="zh-TW" altLang="en-US" smtClean="0"/>
              <a:t>‹#›</a:t>
            </a:fld>
            <a:endParaRPr lang="zh-TW" altLang="en-US"/>
          </a:p>
        </p:txBody>
      </p:sp>
    </p:spTree>
    <p:extLst>
      <p:ext uri="{BB962C8B-B14F-4D97-AF65-F5344CB8AC3E}">
        <p14:creationId xmlns:p14="http://schemas.microsoft.com/office/powerpoint/2010/main" val="3247776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751673E-E078-41F4-9B04-EF8788D0B8B5}"/>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481C24D8-830F-4171-B40D-266811B4EE0D}"/>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C9C06C65-EF81-4067-A327-AF2A5D4A72E5}"/>
              </a:ext>
            </a:extLst>
          </p:cNvPr>
          <p:cNvSpPr>
            <a:spLocks noGrp="1"/>
          </p:cNvSpPr>
          <p:nvPr>
            <p:ph type="dt" sz="half" idx="10"/>
          </p:nvPr>
        </p:nvSpPr>
        <p:spPr/>
        <p:txBody>
          <a:bodyPr/>
          <a:lstStyle/>
          <a:p>
            <a:fld id="{4B7D3FF7-98C8-45EF-858E-1D7577A201E8}" type="datetimeFigureOut">
              <a:rPr lang="zh-TW" altLang="en-US" smtClean="0"/>
              <a:t>2021/10/13</a:t>
            </a:fld>
            <a:endParaRPr lang="zh-TW" altLang="en-US"/>
          </a:p>
        </p:txBody>
      </p:sp>
      <p:sp>
        <p:nvSpPr>
          <p:cNvPr id="5" name="頁尾版面配置區 4">
            <a:extLst>
              <a:ext uri="{FF2B5EF4-FFF2-40B4-BE49-F238E27FC236}">
                <a16:creationId xmlns:a16="http://schemas.microsoft.com/office/drawing/2014/main" id="{A8097134-82EA-4D9B-8AD3-E449645EDCD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BFB2585-37E6-433B-92EE-183EC1FB1BDB}"/>
              </a:ext>
            </a:extLst>
          </p:cNvPr>
          <p:cNvSpPr>
            <a:spLocks noGrp="1"/>
          </p:cNvSpPr>
          <p:nvPr>
            <p:ph type="sldNum" sz="quarter" idx="12"/>
          </p:nvPr>
        </p:nvSpPr>
        <p:spPr/>
        <p:txBody>
          <a:bodyPr/>
          <a:lstStyle/>
          <a:p>
            <a:fld id="{48559D5E-1BBD-45D2-9B47-71D7163E307A}" type="slidenum">
              <a:rPr lang="zh-TW" altLang="en-US" smtClean="0"/>
              <a:t>‹#›</a:t>
            </a:fld>
            <a:endParaRPr lang="zh-TW" altLang="en-US"/>
          </a:p>
        </p:txBody>
      </p:sp>
    </p:spTree>
    <p:extLst>
      <p:ext uri="{BB962C8B-B14F-4D97-AF65-F5344CB8AC3E}">
        <p14:creationId xmlns:p14="http://schemas.microsoft.com/office/powerpoint/2010/main" val="10559556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02C54575-CCE5-42FE-8067-956C08F860B8}"/>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40C5C734-65C0-47EF-B0E4-6013D96765AC}"/>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B6191F23-1945-4719-987E-90C734F7D54D}"/>
              </a:ext>
            </a:extLst>
          </p:cNvPr>
          <p:cNvSpPr>
            <a:spLocks noGrp="1"/>
          </p:cNvSpPr>
          <p:nvPr>
            <p:ph type="dt" sz="half" idx="10"/>
          </p:nvPr>
        </p:nvSpPr>
        <p:spPr/>
        <p:txBody>
          <a:bodyPr/>
          <a:lstStyle/>
          <a:p>
            <a:fld id="{4B7D3FF7-98C8-45EF-858E-1D7577A201E8}" type="datetimeFigureOut">
              <a:rPr lang="zh-TW" altLang="en-US" smtClean="0"/>
              <a:t>2021/10/13</a:t>
            </a:fld>
            <a:endParaRPr lang="zh-TW" altLang="en-US"/>
          </a:p>
        </p:txBody>
      </p:sp>
      <p:sp>
        <p:nvSpPr>
          <p:cNvPr id="5" name="頁尾版面配置區 4">
            <a:extLst>
              <a:ext uri="{FF2B5EF4-FFF2-40B4-BE49-F238E27FC236}">
                <a16:creationId xmlns:a16="http://schemas.microsoft.com/office/drawing/2014/main" id="{A7EA65D5-41A8-4EF5-9FBF-89C7EE6C580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BE3F4A5-A4D8-48F9-B4D1-2CA330F1BE6F}"/>
              </a:ext>
            </a:extLst>
          </p:cNvPr>
          <p:cNvSpPr>
            <a:spLocks noGrp="1"/>
          </p:cNvSpPr>
          <p:nvPr>
            <p:ph type="sldNum" sz="quarter" idx="12"/>
          </p:nvPr>
        </p:nvSpPr>
        <p:spPr/>
        <p:txBody>
          <a:bodyPr/>
          <a:lstStyle/>
          <a:p>
            <a:fld id="{48559D5E-1BBD-45D2-9B47-71D7163E307A}" type="slidenum">
              <a:rPr lang="zh-TW" altLang="en-US" smtClean="0"/>
              <a:t>‹#›</a:t>
            </a:fld>
            <a:endParaRPr lang="zh-TW" altLang="en-US"/>
          </a:p>
        </p:txBody>
      </p:sp>
    </p:spTree>
    <p:extLst>
      <p:ext uri="{BB962C8B-B14F-4D97-AF65-F5344CB8AC3E}">
        <p14:creationId xmlns:p14="http://schemas.microsoft.com/office/powerpoint/2010/main" val="28119889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D1953057-BF49-4C53-A322-005CE9BAD8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CF6A7BF1-2E90-4F1D-91B8-FA2A73EFAF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9E59B46F-1170-4F97-A73B-6DFF1134D9B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7D3FF7-98C8-45EF-858E-1D7577A201E8}" type="datetimeFigureOut">
              <a:rPr lang="zh-TW" altLang="en-US" smtClean="0"/>
              <a:t>2021/10/13</a:t>
            </a:fld>
            <a:endParaRPr lang="zh-TW" altLang="en-US"/>
          </a:p>
        </p:txBody>
      </p:sp>
      <p:sp>
        <p:nvSpPr>
          <p:cNvPr id="5" name="頁尾版面配置區 4">
            <a:extLst>
              <a:ext uri="{FF2B5EF4-FFF2-40B4-BE49-F238E27FC236}">
                <a16:creationId xmlns:a16="http://schemas.microsoft.com/office/drawing/2014/main" id="{5B5B657E-8859-474C-983C-06D3135909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9DF9E802-D8E1-4A13-A359-01E620FBA5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559D5E-1BBD-45D2-9B47-71D7163E307A}" type="slidenum">
              <a:rPr lang="zh-TW" altLang="en-US" smtClean="0"/>
              <a:t>‹#›</a:t>
            </a:fld>
            <a:endParaRPr lang="zh-TW" altLang="en-US"/>
          </a:p>
        </p:txBody>
      </p:sp>
    </p:spTree>
    <p:extLst>
      <p:ext uri="{BB962C8B-B14F-4D97-AF65-F5344CB8AC3E}">
        <p14:creationId xmlns:p14="http://schemas.microsoft.com/office/powerpoint/2010/main" val="30890154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0B8ACEC-085F-41D9-AD77-378373AAA3CC}"/>
              </a:ext>
            </a:extLst>
          </p:cNvPr>
          <p:cNvSpPr>
            <a:spLocks noGrp="1"/>
          </p:cNvSpPr>
          <p:nvPr>
            <p:ph type="ctrTitle"/>
          </p:nvPr>
        </p:nvSpPr>
        <p:spPr/>
        <p:txBody>
          <a:bodyPr>
            <a:normAutofit fontScale="90000"/>
          </a:bodyPr>
          <a:lstStyle/>
          <a:p>
            <a:r>
              <a:rPr lang="en-US" altLang="zh-TW" dirty="0">
                <a:latin typeface="Times New Roman" panose="02020603050405020304" pitchFamily="18" charset="0"/>
                <a:cs typeface="Times New Roman" panose="02020603050405020304" pitchFamily="18" charset="0"/>
              </a:rPr>
              <a:t>Computing a Near-Maximum Independent Set in Linear Time </a:t>
            </a:r>
            <a:br>
              <a:rPr lang="en-US" altLang="zh-TW"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by Reducing-Peeling</a:t>
            </a:r>
            <a:endParaRPr lang="zh-TW" altLang="en-US"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9196214E-1103-4E26-A6F4-0594CD93DACE}"/>
              </a:ext>
            </a:extLst>
          </p:cNvPr>
          <p:cNvSpPr>
            <a:spLocks noGrp="1"/>
          </p:cNvSpPr>
          <p:nvPr>
            <p:ph type="subTitle" idx="1"/>
          </p:nvPr>
        </p:nvSpPr>
        <p:spPr/>
        <p:txBody>
          <a:bodyPr/>
          <a:lstStyle/>
          <a:p>
            <a:r>
              <a:rPr lang="en-US" altLang="zh-TW" dirty="0">
                <a:latin typeface="Times New Roman" panose="02020603050405020304" pitchFamily="18" charset="0"/>
                <a:cs typeface="Times New Roman" panose="02020603050405020304" pitchFamily="18" charset="0"/>
              </a:rPr>
              <a:t>Lijun Chang, Wei Li, Wenjie Zhang</a:t>
            </a:r>
          </a:p>
          <a:p>
            <a:r>
              <a:rPr lang="en-US" altLang="zh-TW" dirty="0">
                <a:latin typeface="Times New Roman" panose="02020603050405020304" pitchFamily="18" charset="0"/>
                <a:cs typeface="Times New Roman" panose="02020603050405020304" pitchFamily="18" charset="0"/>
              </a:rPr>
              <a:t>University of New South Wales, Australia</a:t>
            </a:r>
          </a:p>
          <a:p>
            <a:r>
              <a:rPr lang="en-US" altLang="zh-TW" dirty="0">
                <a:latin typeface="Times New Roman" panose="02020603050405020304" pitchFamily="18" charset="0"/>
                <a:cs typeface="Times New Roman" panose="02020603050405020304" pitchFamily="18" charset="0"/>
              </a:rPr>
              <a:t>SIGMOD ’17, May 14-19, 2017, Chicago, Illinois, USA.</a:t>
            </a:r>
            <a:endParaRPr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9DBD8C01-2A31-4E2E-94C0-392C9FF4B1C9}"/>
              </a:ext>
            </a:extLst>
          </p:cNvPr>
          <p:cNvSpPr txBox="1"/>
          <p:nvPr/>
        </p:nvSpPr>
        <p:spPr>
          <a:xfrm>
            <a:off x="9372600" y="6206066"/>
            <a:ext cx="2819400" cy="646331"/>
          </a:xfrm>
          <a:prstGeom prst="rect">
            <a:avLst/>
          </a:prstGeom>
          <a:noFill/>
        </p:spPr>
        <p:txBody>
          <a:bodyPr wrap="square" rtlCol="0">
            <a:spAutoFit/>
          </a:bodyPr>
          <a:lstStyle/>
          <a:p>
            <a:r>
              <a:rPr lang="en-US" altLang="zh-TW" dirty="0"/>
              <a:t>Presenter: Guan-Ting Chen</a:t>
            </a:r>
          </a:p>
          <a:p>
            <a:r>
              <a:rPr lang="en-US" altLang="zh-TW" dirty="0"/>
              <a:t>Date: 13, Oct. 2021</a:t>
            </a:r>
            <a:endParaRPr lang="zh-TW" altLang="en-US" dirty="0"/>
          </a:p>
        </p:txBody>
      </p:sp>
    </p:spTree>
    <p:extLst>
      <p:ext uri="{BB962C8B-B14F-4D97-AF65-F5344CB8AC3E}">
        <p14:creationId xmlns:p14="http://schemas.microsoft.com/office/powerpoint/2010/main" val="383005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888F872-8A2B-43CF-9785-41DC22DFCF45}"/>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662447DF-886A-4310-808F-E71F7D8B37EC}"/>
              </a:ext>
            </a:extLst>
          </p:cNvPr>
          <p:cNvSpPr>
            <a:spLocks noGrp="1"/>
          </p:cNvSpPr>
          <p:nvPr>
            <p:ph idx="1"/>
          </p:nvPr>
        </p:nvSpPr>
        <p:spPr/>
        <p:txBody>
          <a:bodyPr>
            <a:normAutofit/>
          </a:bodyPr>
          <a:lstStyle/>
          <a:p>
            <a:pPr marL="0" indent="0">
              <a:buNone/>
            </a:pPr>
            <a:r>
              <a:rPr lang="en-US" altLang="zh-TW" dirty="0">
                <a:latin typeface="Times New Roman" panose="02020603050405020304" pitchFamily="18" charset="0"/>
                <a:cs typeface="Times New Roman" panose="02020603050405020304" pitchFamily="18" charset="0"/>
              </a:rPr>
              <a:t>This paper studies the problem of eﬃciently computing a maximum independent set from a large graph, a fundamental problem in graph analysis. Due to the hardness results of computing an exact maximum independent set or an approximate maximum independent set with accuracy guarantee, the existing algorithms resort to heuristic techniques for approximately computing a maximum independent set with good performance in practice but no accuracy guarantee theoretically. Observing that the existing techniques have various limits, in this paper, we aim to develop eﬃcient algorithms (with linear or near-linear time complexity) that can generate a high-quality (large-size) independent set from a graph in practice.</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68064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888F872-8A2B-43CF-9785-41DC22DFCF45}"/>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 (cont.)</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662447DF-886A-4310-808F-E71F7D8B37EC}"/>
              </a:ext>
            </a:extLst>
          </p:cNvPr>
          <p:cNvSpPr>
            <a:spLocks noGrp="1"/>
          </p:cNvSpPr>
          <p:nvPr>
            <p:ph idx="1"/>
          </p:nvPr>
        </p:nvSpPr>
        <p:spPr/>
        <p:txBody>
          <a:bodyPr>
            <a:normAutofit lnSpcReduction="10000"/>
          </a:bodyPr>
          <a:lstStyle/>
          <a:p>
            <a:pPr marL="0" indent="0">
              <a:buNone/>
            </a:pPr>
            <a:r>
              <a:rPr lang="en-US" altLang="zh-TW" dirty="0">
                <a:latin typeface="Times New Roman" panose="02020603050405020304" pitchFamily="18" charset="0"/>
                <a:cs typeface="Times New Roman" panose="02020603050405020304" pitchFamily="18" charset="0"/>
              </a:rPr>
              <a:t>In particular, firstly we develop a Reducing-Peeling framework which iteratively reduces the graph size by applying reduction rules on vertices with very low degrees (Reducing) and temporarily removing the vertex with the highest degree (Peeling) if the reduction rules cannot be applied. Secondly, based on our framework we design two baseline algorithms, </a:t>
            </a:r>
            <a:r>
              <a:rPr lang="en-US" altLang="zh-TW" dirty="0" err="1">
                <a:solidFill>
                  <a:srgbClr val="FF0000"/>
                </a:solidFill>
                <a:latin typeface="Times New Roman" panose="02020603050405020304" pitchFamily="18" charset="0"/>
                <a:cs typeface="Times New Roman" panose="02020603050405020304" pitchFamily="18" charset="0"/>
              </a:rPr>
              <a:t>BDOne</a:t>
            </a:r>
            <a:r>
              <a:rPr lang="en-US" altLang="zh-TW" dirty="0">
                <a:latin typeface="Times New Roman" panose="02020603050405020304" pitchFamily="18" charset="0"/>
                <a:cs typeface="Times New Roman" panose="02020603050405020304" pitchFamily="18" charset="0"/>
              </a:rPr>
              <a:t> and </a:t>
            </a:r>
            <a:r>
              <a:rPr lang="en-US" altLang="zh-TW" dirty="0" err="1">
                <a:solidFill>
                  <a:srgbClr val="FF0000"/>
                </a:solidFill>
                <a:latin typeface="Times New Roman" panose="02020603050405020304" pitchFamily="18" charset="0"/>
                <a:cs typeface="Times New Roman" panose="02020603050405020304" pitchFamily="18" charset="0"/>
              </a:rPr>
              <a:t>BDTwo</a:t>
            </a:r>
            <a:r>
              <a:rPr lang="en-US" altLang="zh-TW" dirty="0">
                <a:latin typeface="Times New Roman" panose="02020603050405020304" pitchFamily="18" charset="0"/>
                <a:cs typeface="Times New Roman" panose="02020603050405020304" pitchFamily="18" charset="0"/>
              </a:rPr>
              <a:t>, by utilizing the existing reduction rules for handling degree-one and degree-two vertices, respectively. Both algorithms can generate higher-quality (larger-size) independent sets than the existing algorithms. Thirdly, we propose a linear-time algorithm, </a:t>
            </a:r>
            <a:r>
              <a:rPr lang="en-US" altLang="zh-TW" dirty="0" err="1">
                <a:solidFill>
                  <a:srgbClr val="FF0000"/>
                </a:solidFill>
                <a:latin typeface="Times New Roman" panose="02020603050405020304" pitchFamily="18" charset="0"/>
                <a:cs typeface="Times New Roman" panose="02020603050405020304" pitchFamily="18" charset="0"/>
              </a:rPr>
              <a:t>LinearTime</a:t>
            </a:r>
            <a:r>
              <a:rPr lang="en-US" altLang="zh-TW" dirty="0">
                <a:latin typeface="Times New Roman" panose="02020603050405020304" pitchFamily="18" charset="0"/>
                <a:cs typeface="Times New Roman" panose="02020603050405020304" pitchFamily="18" charset="0"/>
              </a:rPr>
              <a:t>, and a near-linear time algorithm, </a:t>
            </a:r>
            <a:r>
              <a:rPr lang="en-US" altLang="zh-TW" dirty="0" err="1">
                <a:solidFill>
                  <a:srgbClr val="FF0000"/>
                </a:solidFill>
                <a:latin typeface="Times New Roman" panose="02020603050405020304" pitchFamily="18" charset="0"/>
                <a:cs typeface="Times New Roman" panose="02020603050405020304" pitchFamily="18" charset="0"/>
              </a:rPr>
              <a:t>NearLinear</a:t>
            </a:r>
            <a:r>
              <a:rPr lang="en-US" altLang="zh-TW" dirty="0">
                <a:latin typeface="Times New Roman" panose="02020603050405020304" pitchFamily="18" charset="0"/>
                <a:cs typeface="Times New Roman" panose="02020603050405020304" pitchFamily="18" charset="0"/>
              </a:rPr>
              <a:t>, by designing new reduction rules and developing techniques for eﬃciently and incrementally applying reduction rules.</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18999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888F872-8A2B-43CF-9785-41DC22DFCF45}"/>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 (cont.)</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662447DF-886A-4310-808F-E71F7D8B37EC}"/>
              </a:ext>
            </a:extLst>
          </p:cNvPr>
          <p:cNvSpPr>
            <a:spLocks noGrp="1"/>
          </p:cNvSpPr>
          <p:nvPr>
            <p:ph idx="1"/>
          </p:nvPr>
        </p:nvSpPr>
        <p:spPr/>
        <p:txBody>
          <a:bodyPr>
            <a:normAutofit/>
          </a:bodyPr>
          <a:lstStyle/>
          <a:p>
            <a:pPr marL="0" indent="0">
              <a:buNone/>
            </a:pPr>
            <a:r>
              <a:rPr lang="en-US" altLang="zh-TW" dirty="0">
                <a:latin typeface="Times New Roman" panose="02020603050405020304" pitchFamily="18" charset="0"/>
                <a:cs typeface="Times New Roman" panose="02020603050405020304" pitchFamily="18" charset="0"/>
              </a:rPr>
              <a:t>In practice, </a:t>
            </a:r>
            <a:r>
              <a:rPr lang="en-US" altLang="zh-TW" dirty="0" err="1">
                <a:latin typeface="Times New Roman" panose="02020603050405020304" pitchFamily="18" charset="0"/>
                <a:cs typeface="Times New Roman" panose="02020603050405020304" pitchFamily="18" charset="0"/>
              </a:rPr>
              <a:t>LinearTime</a:t>
            </a:r>
            <a:r>
              <a:rPr lang="en-US" altLang="zh-TW" dirty="0">
                <a:latin typeface="Times New Roman" panose="02020603050405020304" pitchFamily="18" charset="0"/>
                <a:cs typeface="Times New Roman" panose="02020603050405020304" pitchFamily="18" charset="0"/>
              </a:rPr>
              <a:t> takes similar time and space to </a:t>
            </a:r>
            <a:r>
              <a:rPr lang="en-US" altLang="zh-TW" dirty="0" err="1">
                <a:latin typeface="Times New Roman" panose="02020603050405020304" pitchFamily="18" charset="0"/>
                <a:cs typeface="Times New Roman" panose="02020603050405020304" pitchFamily="18" charset="0"/>
              </a:rPr>
              <a:t>BDOne</a:t>
            </a:r>
            <a:r>
              <a:rPr lang="en-US" altLang="zh-TW" dirty="0">
                <a:latin typeface="Times New Roman" panose="02020603050405020304" pitchFamily="18" charset="0"/>
                <a:cs typeface="Times New Roman" panose="02020603050405020304" pitchFamily="18" charset="0"/>
              </a:rPr>
              <a:t> but computes a higher quality independent set, similar in size to that of an independent set generated by </a:t>
            </a:r>
            <a:r>
              <a:rPr lang="en-US" altLang="zh-TW" dirty="0" err="1">
                <a:latin typeface="Times New Roman" panose="02020603050405020304" pitchFamily="18" charset="0"/>
                <a:cs typeface="Times New Roman" panose="02020603050405020304" pitchFamily="18" charset="0"/>
              </a:rPr>
              <a:t>BDTwo</a:t>
            </a:r>
            <a:r>
              <a:rPr lang="en-US" altLang="zh-TW" dirty="0">
                <a:latin typeface="Times New Roman" panose="02020603050405020304" pitchFamily="18" charset="0"/>
                <a:cs typeface="Times New Roman" panose="02020603050405020304" pitchFamily="18" charset="0"/>
              </a:rPr>
              <a:t>. Moreover, in practice </a:t>
            </a:r>
            <a:r>
              <a:rPr lang="en-US" altLang="zh-TW" dirty="0" err="1">
                <a:latin typeface="Times New Roman" panose="02020603050405020304" pitchFamily="18" charset="0"/>
                <a:cs typeface="Times New Roman" panose="02020603050405020304" pitchFamily="18" charset="0"/>
              </a:rPr>
              <a:t>NearLinear</a:t>
            </a:r>
            <a:r>
              <a:rPr lang="en-US" altLang="zh-TW" dirty="0">
                <a:latin typeface="Times New Roman" panose="02020603050405020304" pitchFamily="18" charset="0"/>
                <a:cs typeface="Times New Roman" panose="02020603050405020304" pitchFamily="18" charset="0"/>
              </a:rPr>
              <a:t> has a good chance to generate a maximum independent set and it often generates near-maximum independent sets. Fourthly, we extend our techniques to accelerate the existing iterated local search algorithms. Extensive empirical studies show that all our algorithms output much larger independent sets than the existing linear-time algorithms while having a similar running time, as well as achieve signiﬁcant speedup against the existing iterated local search algorithms.</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119878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13FC337-BADB-408C-81AA-DD7C6423B043}"/>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Reducing-Peeling Framework</a:t>
            </a:r>
            <a:endParaRPr lang="zh-TW" altLang="en-US" dirty="0"/>
          </a:p>
        </p:txBody>
      </p:sp>
      <p:sp>
        <p:nvSpPr>
          <p:cNvPr id="3" name="內容版面配置區 2">
            <a:extLst>
              <a:ext uri="{FF2B5EF4-FFF2-40B4-BE49-F238E27FC236}">
                <a16:creationId xmlns:a16="http://schemas.microsoft.com/office/drawing/2014/main" id="{B7A06C2A-34C8-455E-9C80-99031FDACC50}"/>
              </a:ext>
            </a:extLst>
          </p:cNvPr>
          <p:cNvSpPr>
            <a:spLocks noGrp="1"/>
          </p:cNvSpPr>
          <p:nvPr>
            <p:ph idx="1"/>
          </p:nvPr>
        </p:nvSpPr>
        <p:spPr/>
        <p:txBody>
          <a:bodyPr/>
          <a:lstStyle/>
          <a:p>
            <a:r>
              <a:rPr lang="en-US" altLang="zh-TW" dirty="0"/>
              <a:t>Reducing</a:t>
            </a:r>
          </a:p>
          <a:p>
            <a:pPr lvl="1"/>
            <a:r>
              <a:rPr lang="en-US" altLang="zh-TW" dirty="0"/>
              <a:t>Exact reduction rule</a:t>
            </a:r>
          </a:p>
          <a:p>
            <a:r>
              <a:rPr lang="en-US" altLang="zh-TW" dirty="0"/>
              <a:t>Peeling</a:t>
            </a:r>
          </a:p>
          <a:p>
            <a:pPr lvl="1"/>
            <a:r>
              <a:rPr lang="en-US" altLang="zh-TW" dirty="0"/>
              <a:t>Inexact reduction rule</a:t>
            </a:r>
          </a:p>
          <a:p>
            <a:pPr lvl="2"/>
            <a:r>
              <a:rPr lang="en-US" altLang="zh-TW" sz="2400" dirty="0"/>
              <a:t>Temporarily removes the highest-degree vertex</a:t>
            </a:r>
          </a:p>
          <a:p>
            <a:pPr lvl="2"/>
            <a:r>
              <a:rPr lang="en-US" altLang="zh-TW" sz="2400" dirty="0"/>
              <a:t>As few as possible</a:t>
            </a:r>
          </a:p>
          <a:p>
            <a:pPr lvl="2"/>
            <a:endParaRPr lang="en-US" altLang="zh-TW" sz="2400" dirty="0"/>
          </a:p>
        </p:txBody>
      </p:sp>
    </p:spTree>
    <p:extLst>
      <p:ext uri="{BB962C8B-B14F-4D97-AF65-F5344CB8AC3E}">
        <p14:creationId xmlns:p14="http://schemas.microsoft.com/office/powerpoint/2010/main" val="19035265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F072F39-757B-4A56-A253-84323EB437AF}"/>
              </a:ext>
            </a:extLst>
          </p:cNvPr>
          <p:cNvSpPr>
            <a:spLocks noGrp="1"/>
          </p:cNvSpPr>
          <p:nvPr>
            <p:ph type="title"/>
          </p:nvPr>
        </p:nvSpPr>
        <p:spPr/>
        <p:txBody>
          <a:bodyPr/>
          <a:lstStyle/>
          <a:p>
            <a:r>
              <a:rPr lang="en-US" altLang="zh-TW" dirty="0"/>
              <a:t>Reduction Rules</a:t>
            </a:r>
            <a:endParaRPr lang="zh-TW" altLang="en-US" dirty="0"/>
          </a:p>
        </p:txBody>
      </p:sp>
      <p:sp>
        <p:nvSpPr>
          <p:cNvPr id="3" name="內容版面配置區 2">
            <a:extLst>
              <a:ext uri="{FF2B5EF4-FFF2-40B4-BE49-F238E27FC236}">
                <a16:creationId xmlns:a16="http://schemas.microsoft.com/office/drawing/2014/main" id="{D843F36D-DD03-48A5-97FB-70513B952915}"/>
              </a:ext>
            </a:extLst>
          </p:cNvPr>
          <p:cNvSpPr>
            <a:spLocks noGrp="1"/>
          </p:cNvSpPr>
          <p:nvPr>
            <p:ph idx="1"/>
          </p:nvPr>
        </p:nvSpPr>
        <p:spPr/>
        <p:txBody>
          <a:bodyPr>
            <a:normAutofit lnSpcReduction="10000"/>
          </a:bodyPr>
          <a:lstStyle/>
          <a:p>
            <a:pPr marL="514350" indent="-514350">
              <a:buFont typeface="+mj-lt"/>
              <a:buAutoNum type="arabicPeriod"/>
            </a:pPr>
            <a:r>
              <a:rPr lang="en-US" altLang="zh-TW" dirty="0"/>
              <a:t>Degree-one Reduction</a:t>
            </a:r>
          </a:p>
          <a:p>
            <a:pPr lvl="1"/>
            <a:r>
              <a:rPr lang="en-US" altLang="zh-TW" dirty="0"/>
              <a:t>degree-one vertex </a:t>
            </a:r>
            <a:r>
              <a:rPr lang="en-US" altLang="zh-TW" i="1" dirty="0"/>
              <a:t>u</a:t>
            </a:r>
            <a:r>
              <a:rPr lang="en-US" altLang="zh-TW" dirty="0"/>
              <a:t> with neighbor </a:t>
            </a:r>
            <a:r>
              <a:rPr lang="en-US" altLang="zh-TW" i="1" dirty="0"/>
              <a:t>v</a:t>
            </a:r>
          </a:p>
          <a:p>
            <a:pPr marL="457200" lvl="1" indent="0">
              <a:buNone/>
            </a:pPr>
            <a:endParaRPr lang="en-US" altLang="zh-TW" dirty="0"/>
          </a:p>
          <a:p>
            <a:pPr marL="514350" indent="-514350">
              <a:buFont typeface="+mj-lt"/>
              <a:buAutoNum type="arabicPeriod"/>
            </a:pPr>
            <a:r>
              <a:rPr lang="en-US" altLang="zh-TW" dirty="0"/>
              <a:t>Degree-two Reduction</a:t>
            </a:r>
          </a:p>
          <a:p>
            <a:pPr marL="914400" lvl="1" indent="-457200">
              <a:buFont typeface="+mj-lt"/>
              <a:buAutoNum type="arabicPeriod"/>
            </a:pPr>
            <a:r>
              <a:rPr lang="en-US" altLang="zh-TW" dirty="0"/>
              <a:t>Isolation</a:t>
            </a:r>
          </a:p>
          <a:p>
            <a:pPr lvl="2"/>
            <a:r>
              <a:rPr lang="en-US" altLang="zh-TW" sz="2400" dirty="0"/>
              <a:t>(</a:t>
            </a:r>
            <a:r>
              <a:rPr lang="en-US" altLang="zh-TW" sz="2400" i="1" dirty="0"/>
              <a:t>v</a:t>
            </a:r>
            <a:r>
              <a:rPr lang="en-US" altLang="zh-TW" sz="2400" dirty="0"/>
              <a:t>,</a:t>
            </a:r>
            <a:r>
              <a:rPr lang="en-US" altLang="zh-TW" sz="2400" i="1" dirty="0"/>
              <a:t> w</a:t>
            </a:r>
            <a:r>
              <a:rPr lang="en-US" altLang="zh-TW" sz="2400" dirty="0"/>
              <a:t>) ∈ </a:t>
            </a:r>
            <a:r>
              <a:rPr lang="en-US" altLang="zh-TW" sz="2400" i="1" dirty="0"/>
              <a:t>E</a:t>
            </a:r>
          </a:p>
          <a:p>
            <a:pPr lvl="2"/>
            <a:r>
              <a:rPr lang="en-US" altLang="zh-TW" sz="2400" dirty="0"/>
              <a:t>degree-two vertex </a:t>
            </a:r>
            <a:r>
              <a:rPr lang="en-US" altLang="zh-TW" sz="2400" i="1" dirty="0"/>
              <a:t>u</a:t>
            </a:r>
          </a:p>
          <a:p>
            <a:pPr marL="914400" lvl="1" indent="-457200">
              <a:buFont typeface="+mj-lt"/>
              <a:buAutoNum type="arabicPeriod"/>
            </a:pPr>
            <a:r>
              <a:rPr lang="en-US" altLang="zh-TW" dirty="0"/>
              <a:t>Folding</a:t>
            </a:r>
          </a:p>
          <a:p>
            <a:pPr lvl="2"/>
            <a:r>
              <a:rPr lang="en-US" altLang="zh-TW" sz="2400" i="1" dirty="0"/>
              <a:t> </a:t>
            </a:r>
            <a:r>
              <a:rPr lang="en-US" altLang="zh-TW" sz="2400" i="1" dirty="0" err="1"/>
              <a:t>supervertex</a:t>
            </a:r>
            <a:r>
              <a:rPr lang="en-US" altLang="zh-TW" sz="2400" i="1" dirty="0"/>
              <a:t> </a:t>
            </a:r>
            <a:r>
              <a:rPr lang="en-US" altLang="zh-TW" sz="2400" i="1" dirty="0" err="1"/>
              <a:t>uvw</a:t>
            </a:r>
            <a:endParaRPr lang="en-US" altLang="zh-TW" sz="2400" i="1" dirty="0"/>
          </a:p>
          <a:p>
            <a:pPr marL="914400" lvl="2" indent="0">
              <a:buNone/>
            </a:pPr>
            <a:endParaRPr lang="en-US" altLang="zh-TW" sz="2400" i="1" dirty="0"/>
          </a:p>
          <a:p>
            <a:pPr marL="514350" indent="-514350">
              <a:buFont typeface="+mj-lt"/>
              <a:buAutoNum type="arabicPeriod"/>
            </a:pPr>
            <a:r>
              <a:rPr lang="en-US" altLang="zh-TW" dirty="0"/>
              <a:t>Inexact reduction</a:t>
            </a:r>
          </a:p>
        </p:txBody>
      </p:sp>
      <p:pic>
        <p:nvPicPr>
          <p:cNvPr id="5" name="圖片 4">
            <a:extLst>
              <a:ext uri="{FF2B5EF4-FFF2-40B4-BE49-F238E27FC236}">
                <a16:creationId xmlns:a16="http://schemas.microsoft.com/office/drawing/2014/main" id="{96E936FF-D3F9-4460-8D67-0F543266F711}"/>
              </a:ext>
            </a:extLst>
          </p:cNvPr>
          <p:cNvPicPr>
            <a:picLocks noChangeAspect="1"/>
          </p:cNvPicPr>
          <p:nvPr/>
        </p:nvPicPr>
        <p:blipFill>
          <a:blip r:embed="rId2"/>
          <a:stretch>
            <a:fillRect/>
          </a:stretch>
        </p:blipFill>
        <p:spPr>
          <a:xfrm>
            <a:off x="6469641" y="681037"/>
            <a:ext cx="1804203" cy="3458518"/>
          </a:xfrm>
          <a:prstGeom prst="rect">
            <a:avLst/>
          </a:prstGeom>
        </p:spPr>
      </p:pic>
      <p:pic>
        <p:nvPicPr>
          <p:cNvPr id="7" name="圖片 6">
            <a:extLst>
              <a:ext uri="{FF2B5EF4-FFF2-40B4-BE49-F238E27FC236}">
                <a16:creationId xmlns:a16="http://schemas.microsoft.com/office/drawing/2014/main" id="{5D022672-84A3-455C-9B8B-74DC06ADDF3C}"/>
              </a:ext>
            </a:extLst>
          </p:cNvPr>
          <p:cNvPicPr>
            <a:picLocks noChangeAspect="1"/>
          </p:cNvPicPr>
          <p:nvPr/>
        </p:nvPicPr>
        <p:blipFill>
          <a:blip r:embed="rId3"/>
          <a:stretch>
            <a:fillRect/>
          </a:stretch>
        </p:blipFill>
        <p:spPr>
          <a:xfrm>
            <a:off x="8273844" y="2672755"/>
            <a:ext cx="3079956" cy="3504208"/>
          </a:xfrm>
          <a:prstGeom prst="rect">
            <a:avLst/>
          </a:prstGeom>
        </p:spPr>
      </p:pic>
    </p:spTree>
    <p:extLst>
      <p:ext uri="{BB962C8B-B14F-4D97-AF65-F5344CB8AC3E}">
        <p14:creationId xmlns:p14="http://schemas.microsoft.com/office/powerpoint/2010/main" val="27125850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內容版面配置區 4">
            <a:extLst>
              <a:ext uri="{FF2B5EF4-FFF2-40B4-BE49-F238E27FC236}">
                <a16:creationId xmlns:a16="http://schemas.microsoft.com/office/drawing/2014/main" id="{CDD8A239-C9FE-42EA-A59B-7D6A4C9011EE}"/>
              </a:ext>
            </a:extLst>
          </p:cNvPr>
          <p:cNvPicPr>
            <a:picLocks noChangeAspect="1"/>
          </p:cNvPicPr>
          <p:nvPr/>
        </p:nvPicPr>
        <p:blipFill>
          <a:blip r:embed="rId2"/>
          <a:stretch>
            <a:fillRect/>
          </a:stretch>
        </p:blipFill>
        <p:spPr>
          <a:xfrm>
            <a:off x="5352212" y="2873990"/>
            <a:ext cx="6001588" cy="3362794"/>
          </a:xfrm>
          <a:prstGeom prst="rect">
            <a:avLst/>
          </a:prstGeom>
        </p:spPr>
      </p:pic>
      <p:sp>
        <p:nvSpPr>
          <p:cNvPr id="2" name="標題 1">
            <a:extLst>
              <a:ext uri="{FF2B5EF4-FFF2-40B4-BE49-F238E27FC236}">
                <a16:creationId xmlns:a16="http://schemas.microsoft.com/office/drawing/2014/main" id="{5E9A7EE4-D872-4BD2-964F-113E2148CCCD}"/>
              </a:ext>
            </a:extLst>
          </p:cNvPr>
          <p:cNvSpPr>
            <a:spLocks noGrp="1"/>
          </p:cNvSpPr>
          <p:nvPr>
            <p:ph type="title"/>
          </p:nvPr>
        </p:nvSpPr>
        <p:spPr/>
        <p:txBody>
          <a:bodyPr/>
          <a:lstStyle/>
          <a:p>
            <a:r>
              <a:rPr lang="en-US" altLang="zh-TW" dirty="0" err="1"/>
              <a:t>BDOne</a:t>
            </a:r>
            <a:endParaRPr lang="zh-TW" altLang="en-US" dirty="0"/>
          </a:p>
        </p:txBody>
      </p:sp>
      <mc:AlternateContent xmlns:mc="http://schemas.openxmlformats.org/markup-compatibility/2006" xmlns:a14="http://schemas.microsoft.com/office/drawing/2010/main">
        <mc:Choice Requires="a14">
          <p:sp>
            <p:nvSpPr>
              <p:cNvPr id="7" name="內容版面配置區 6">
                <a:extLst>
                  <a:ext uri="{FF2B5EF4-FFF2-40B4-BE49-F238E27FC236}">
                    <a16:creationId xmlns:a16="http://schemas.microsoft.com/office/drawing/2014/main" id="{A6CF2A86-61F5-4696-8EBC-B50DB3FD58AA}"/>
                  </a:ext>
                </a:extLst>
              </p:cNvPr>
              <p:cNvSpPr>
                <a:spLocks noGrp="1"/>
              </p:cNvSpPr>
              <p:nvPr>
                <p:ph idx="1"/>
              </p:nvPr>
            </p:nvSpPr>
            <p:spPr/>
            <p:txBody>
              <a:bodyPr/>
              <a:lstStyle/>
              <a:p>
                <a:r>
                  <a:rPr lang="en-US" altLang="zh-TW" dirty="0"/>
                  <a:t>Reduction rule</a:t>
                </a:r>
              </a:p>
              <a:p>
                <a:pPr marL="914400" lvl="1" indent="-457200">
                  <a:buFont typeface="+mj-lt"/>
                  <a:buAutoNum type="arabicPeriod"/>
                </a:pPr>
                <a:r>
                  <a:rPr lang="en-US" altLang="zh-TW" dirty="0"/>
                  <a:t>Degree-one reduction</a:t>
                </a:r>
              </a:p>
              <a:p>
                <a:pPr marL="914400" lvl="1" indent="-457200">
                  <a:buFont typeface="+mj-lt"/>
                  <a:buAutoNum type="arabicPeriod"/>
                </a:pPr>
                <a:r>
                  <a:rPr lang="en-US" altLang="zh-TW" dirty="0"/>
                  <a:t>Inexact reduction</a:t>
                </a:r>
              </a:p>
              <a:p>
                <a:r>
                  <a:rPr lang="en-US" altLang="zh-TW" dirty="0"/>
                  <a:t>Time complexity</a:t>
                </a:r>
              </a:p>
              <a:p>
                <a:pPr lvl="1"/>
                <a:r>
                  <a:rPr lang="en-US" altLang="zh-TW" i="1" dirty="0"/>
                  <a:t>O(m)</a:t>
                </a:r>
              </a:p>
              <a:p>
                <a:pPr lvl="2"/>
                <a:r>
                  <a:rPr lang="en-US" altLang="zh-TW" sz="2400" dirty="0"/>
                  <a:t> </a:t>
                </a:r>
                <a:r>
                  <a:rPr lang="en-US" altLang="zh-TW" sz="2400" i="1" dirty="0"/>
                  <a:t>I</a:t>
                </a:r>
                <a:r>
                  <a:rPr lang="en-US" altLang="zh-TW" sz="2400" dirty="0"/>
                  <a:t> , </a:t>
                </a:r>
                <a14:m>
                  <m:oMath xmlns:m="http://schemas.openxmlformats.org/officeDocument/2006/math">
                    <m:sSub>
                      <m:sSubPr>
                        <m:ctrlPr>
                          <a:rPr lang="en-US" altLang="zh-TW" sz="2400" i="1" dirty="0" smtClean="0">
                            <a:latin typeface="Cambria Math" panose="02040503050406030204" pitchFamily="18" charset="0"/>
                          </a:rPr>
                        </m:ctrlPr>
                      </m:sSubPr>
                      <m:e>
                        <m:r>
                          <a:rPr lang="en-US" altLang="zh-TW" sz="2400" i="1" dirty="0">
                            <a:latin typeface="Cambria Math" panose="02040503050406030204" pitchFamily="18" charset="0"/>
                          </a:rPr>
                          <m:t>𝑉</m:t>
                        </m:r>
                      </m:e>
                      <m:sub>
                        <m:r>
                          <a:rPr lang="en-US" altLang="zh-TW" sz="2400" b="0" i="1" dirty="0" smtClean="0">
                            <a:latin typeface="Cambria Math" panose="02040503050406030204" pitchFamily="18" charset="0"/>
                          </a:rPr>
                          <m:t>=1</m:t>
                        </m:r>
                      </m:sub>
                    </m:sSub>
                  </m:oMath>
                </a14:m>
                <a:r>
                  <a:rPr lang="en-US" altLang="zh-TW" sz="2400" dirty="0"/>
                  <a:t>, and </a:t>
                </a:r>
                <a14:m>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𝑉</m:t>
                        </m:r>
                      </m:e>
                      <m:sub>
                        <m:r>
                          <a:rPr lang="en-US" altLang="zh-TW" sz="2400" i="1">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2</m:t>
                        </m:r>
                      </m:sub>
                    </m:sSub>
                  </m:oMath>
                </a14:m>
                <a:r>
                  <a:rPr lang="en-US" altLang="zh-TW" sz="2400" dirty="0"/>
                  <a:t> be the sets of vertices</a:t>
                </a:r>
              </a:p>
              <a:p>
                <a:pPr lvl="2"/>
                <a:r>
                  <a:rPr lang="en-US" altLang="zh-TW" sz="2400" dirty="0"/>
                  <a:t>Delete vertices</a:t>
                </a:r>
              </a:p>
              <a:p>
                <a:pPr lvl="1"/>
                <a:endParaRPr lang="en-US" altLang="zh-TW" dirty="0"/>
              </a:p>
            </p:txBody>
          </p:sp>
        </mc:Choice>
        <mc:Fallback xmlns="">
          <p:sp>
            <p:nvSpPr>
              <p:cNvPr id="7" name="內容版面配置區 6">
                <a:extLst>
                  <a:ext uri="{FF2B5EF4-FFF2-40B4-BE49-F238E27FC236}">
                    <a16:creationId xmlns:a16="http://schemas.microsoft.com/office/drawing/2014/main" id="{A6CF2A86-61F5-4696-8EBC-B50DB3FD58AA}"/>
                  </a:ext>
                </a:extLst>
              </p:cNvPr>
              <p:cNvSpPr>
                <a:spLocks noGrp="1" noRot="1" noChangeAspect="1" noMove="1" noResize="1" noEditPoints="1" noAdjustHandles="1" noChangeArrowheads="1" noChangeShapeType="1" noTextEdit="1"/>
              </p:cNvSpPr>
              <p:nvPr>
                <p:ph idx="1"/>
              </p:nvPr>
            </p:nvSpPr>
            <p:spPr>
              <a:blipFill>
                <a:blip r:embed="rId3"/>
                <a:stretch>
                  <a:fillRect l="-1043" t="-238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5138518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E9A7EE4-D872-4BD2-964F-113E2148CCCD}"/>
              </a:ext>
            </a:extLst>
          </p:cNvPr>
          <p:cNvSpPr>
            <a:spLocks noGrp="1"/>
          </p:cNvSpPr>
          <p:nvPr>
            <p:ph type="title"/>
          </p:nvPr>
        </p:nvSpPr>
        <p:spPr/>
        <p:txBody>
          <a:bodyPr/>
          <a:lstStyle/>
          <a:p>
            <a:r>
              <a:rPr lang="en-US" altLang="zh-TW" dirty="0" err="1"/>
              <a:t>BDTwo</a:t>
            </a:r>
            <a:endParaRPr lang="zh-TW" altLang="en-US" dirty="0"/>
          </a:p>
        </p:txBody>
      </p:sp>
      <p:sp>
        <p:nvSpPr>
          <p:cNvPr id="7" name="內容版面配置區 6">
            <a:extLst>
              <a:ext uri="{FF2B5EF4-FFF2-40B4-BE49-F238E27FC236}">
                <a16:creationId xmlns:a16="http://schemas.microsoft.com/office/drawing/2014/main" id="{A6CF2A86-61F5-4696-8EBC-B50DB3FD58AA}"/>
              </a:ext>
            </a:extLst>
          </p:cNvPr>
          <p:cNvSpPr>
            <a:spLocks noGrp="1"/>
          </p:cNvSpPr>
          <p:nvPr>
            <p:ph idx="1"/>
          </p:nvPr>
        </p:nvSpPr>
        <p:spPr/>
        <p:txBody>
          <a:bodyPr/>
          <a:lstStyle/>
          <a:p>
            <a:r>
              <a:rPr lang="en-US" altLang="zh-TW" dirty="0"/>
              <a:t>Find a larger independent set than </a:t>
            </a:r>
            <a:r>
              <a:rPr lang="en-US" altLang="zh-TW" b="1" dirty="0" err="1"/>
              <a:t>BDOne</a:t>
            </a:r>
            <a:endParaRPr lang="en-US" altLang="zh-TW" b="1" dirty="0"/>
          </a:p>
          <a:p>
            <a:r>
              <a:rPr lang="en-US" altLang="zh-TW" dirty="0"/>
              <a:t>Reduction rule</a:t>
            </a:r>
          </a:p>
          <a:p>
            <a:pPr marL="914400" lvl="1" indent="-457200">
              <a:buFont typeface="+mj-lt"/>
              <a:buAutoNum type="arabicPeriod"/>
            </a:pPr>
            <a:r>
              <a:rPr lang="en-US" altLang="zh-TW" dirty="0"/>
              <a:t>Degree-one reduction</a:t>
            </a:r>
          </a:p>
          <a:p>
            <a:pPr marL="914400" lvl="1" indent="-457200">
              <a:buFont typeface="+mj-lt"/>
              <a:buAutoNum type="arabicPeriod"/>
            </a:pPr>
            <a:r>
              <a:rPr lang="en-US" altLang="zh-TW" dirty="0"/>
              <a:t>Degree-two reduction</a:t>
            </a:r>
          </a:p>
          <a:p>
            <a:pPr marL="914400" lvl="1" indent="-457200">
              <a:buFont typeface="+mj-lt"/>
              <a:buAutoNum type="arabicPeriod"/>
            </a:pPr>
            <a:r>
              <a:rPr lang="en-US" altLang="zh-TW" dirty="0"/>
              <a:t>Inexact reduction</a:t>
            </a:r>
          </a:p>
          <a:p>
            <a:r>
              <a:rPr lang="en-US" altLang="zh-TW" dirty="0"/>
              <a:t>Time complexity</a:t>
            </a:r>
          </a:p>
          <a:p>
            <a:pPr lvl="1"/>
            <a:r>
              <a:rPr lang="en-US" altLang="zh-TW" i="1" dirty="0"/>
              <a:t>O</a:t>
            </a:r>
            <a:r>
              <a:rPr lang="en-US" altLang="zh-TW" dirty="0"/>
              <a:t>(</a:t>
            </a:r>
            <a:r>
              <a:rPr lang="en-US" altLang="zh-TW" i="1" dirty="0"/>
              <a:t>n</a:t>
            </a:r>
            <a:r>
              <a:rPr lang="en-US" altLang="zh-TW" dirty="0"/>
              <a:t> × </a:t>
            </a:r>
            <a:r>
              <a:rPr lang="en-US" altLang="zh-TW" i="1" dirty="0"/>
              <a:t>m</a:t>
            </a:r>
            <a:r>
              <a:rPr lang="en-US" altLang="zh-TW" dirty="0"/>
              <a:t>)</a:t>
            </a:r>
          </a:p>
          <a:p>
            <a:pPr lvl="2"/>
            <a:r>
              <a:rPr lang="en-US" altLang="zh-TW" dirty="0"/>
              <a:t>Folding</a:t>
            </a:r>
          </a:p>
          <a:p>
            <a:pPr lvl="1"/>
            <a:endParaRPr lang="en-US" altLang="zh-TW" dirty="0"/>
          </a:p>
        </p:txBody>
      </p:sp>
      <p:pic>
        <p:nvPicPr>
          <p:cNvPr id="8" name="內容版面配置區 4">
            <a:extLst>
              <a:ext uri="{FF2B5EF4-FFF2-40B4-BE49-F238E27FC236}">
                <a16:creationId xmlns:a16="http://schemas.microsoft.com/office/drawing/2014/main" id="{CDD8A239-C9FE-42EA-A59B-7D6A4C9011EE}"/>
              </a:ext>
            </a:extLst>
          </p:cNvPr>
          <p:cNvPicPr>
            <a:picLocks noChangeAspect="1"/>
          </p:cNvPicPr>
          <p:nvPr/>
        </p:nvPicPr>
        <p:blipFill>
          <a:blip r:embed="rId2"/>
          <a:stretch>
            <a:fillRect/>
          </a:stretch>
        </p:blipFill>
        <p:spPr>
          <a:xfrm>
            <a:off x="5352212" y="2814169"/>
            <a:ext cx="6001588" cy="3362794"/>
          </a:xfrm>
          <a:prstGeom prst="rect">
            <a:avLst/>
          </a:prstGeom>
        </p:spPr>
      </p:pic>
    </p:spTree>
    <p:extLst>
      <p:ext uri="{BB962C8B-B14F-4D97-AF65-F5344CB8AC3E}">
        <p14:creationId xmlns:p14="http://schemas.microsoft.com/office/powerpoint/2010/main" val="41579545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E7387B3-83DA-4F3C-BAF0-0FEE4932D0CB}"/>
              </a:ext>
            </a:extLst>
          </p:cNvPr>
          <p:cNvSpPr>
            <a:spLocks noGrp="1"/>
          </p:cNvSpPr>
          <p:nvPr>
            <p:ph type="title"/>
          </p:nvPr>
        </p:nvSpPr>
        <p:spPr/>
        <p:txBody>
          <a:bodyPr/>
          <a:lstStyle/>
          <a:p>
            <a:r>
              <a:rPr lang="en-US" altLang="zh-TW" dirty="0"/>
              <a:t>Degree-two Cycle Reductions</a:t>
            </a:r>
          </a:p>
        </p:txBody>
      </p:sp>
      <p:sp>
        <p:nvSpPr>
          <p:cNvPr id="3" name="內容版面配置區 2">
            <a:extLst>
              <a:ext uri="{FF2B5EF4-FFF2-40B4-BE49-F238E27FC236}">
                <a16:creationId xmlns:a16="http://schemas.microsoft.com/office/drawing/2014/main" id="{736B74CA-6DC7-4BEE-A450-8B99EDED0C0B}"/>
              </a:ext>
            </a:extLst>
          </p:cNvPr>
          <p:cNvSpPr>
            <a:spLocks noGrp="1"/>
          </p:cNvSpPr>
          <p:nvPr>
            <p:ph idx="1"/>
          </p:nvPr>
        </p:nvSpPr>
        <p:spPr/>
        <p:txBody>
          <a:bodyPr/>
          <a:lstStyle/>
          <a:p>
            <a:r>
              <a:rPr lang="en-US" altLang="zh-TW" dirty="0"/>
              <a:t>Degree-two cycle </a:t>
            </a:r>
            <a:r>
              <a:rPr lang="en-US" altLang="zh-TW" i="1" dirty="0"/>
              <a:t>C</a:t>
            </a:r>
          </a:p>
          <a:p>
            <a:pPr lvl="1"/>
            <a:r>
              <a:rPr lang="en-US" altLang="zh-TW" sz="2800" dirty="0"/>
              <a:t>Every vertex in </a:t>
            </a:r>
            <a:r>
              <a:rPr lang="en-US" altLang="zh-TW" sz="2800" i="1" dirty="0"/>
              <a:t>C</a:t>
            </a:r>
            <a:r>
              <a:rPr lang="en-US" altLang="zh-TW" sz="2800" dirty="0"/>
              <a:t> has degree two</a:t>
            </a:r>
          </a:p>
        </p:txBody>
      </p:sp>
      <p:grpSp>
        <p:nvGrpSpPr>
          <p:cNvPr id="8" name="群組 7">
            <a:extLst>
              <a:ext uri="{FF2B5EF4-FFF2-40B4-BE49-F238E27FC236}">
                <a16:creationId xmlns:a16="http://schemas.microsoft.com/office/drawing/2014/main" id="{AB277C77-D496-4A9B-94E5-AB5146CB179D}"/>
              </a:ext>
            </a:extLst>
          </p:cNvPr>
          <p:cNvGrpSpPr/>
          <p:nvPr/>
        </p:nvGrpSpPr>
        <p:grpSpPr>
          <a:xfrm>
            <a:off x="8307781" y="785443"/>
            <a:ext cx="1943371" cy="5287113"/>
            <a:chOff x="7003915" y="785443"/>
            <a:chExt cx="1943371" cy="5287113"/>
          </a:xfrm>
        </p:grpSpPr>
        <p:pic>
          <p:nvPicPr>
            <p:cNvPr id="5" name="圖片 4">
              <a:extLst>
                <a:ext uri="{FF2B5EF4-FFF2-40B4-BE49-F238E27FC236}">
                  <a16:creationId xmlns:a16="http://schemas.microsoft.com/office/drawing/2014/main" id="{BB7F2A37-D4C5-4F66-8C52-6CF21414E699}"/>
                </a:ext>
              </a:extLst>
            </p:cNvPr>
            <p:cNvPicPr>
              <a:picLocks noChangeAspect="1"/>
            </p:cNvPicPr>
            <p:nvPr/>
          </p:nvPicPr>
          <p:blipFill>
            <a:blip r:embed="rId2"/>
            <a:stretch>
              <a:fillRect/>
            </a:stretch>
          </p:blipFill>
          <p:spPr>
            <a:xfrm>
              <a:off x="7003915" y="785443"/>
              <a:ext cx="1943371" cy="5287113"/>
            </a:xfrm>
            <a:prstGeom prst="rect">
              <a:avLst/>
            </a:prstGeom>
          </p:spPr>
        </p:pic>
        <p:sp>
          <p:nvSpPr>
            <p:cNvPr id="6" name="矩形 5">
              <a:extLst>
                <a:ext uri="{FF2B5EF4-FFF2-40B4-BE49-F238E27FC236}">
                  <a16:creationId xmlns:a16="http://schemas.microsoft.com/office/drawing/2014/main" id="{199A244D-79F8-4498-ABFD-D32A8140BA7E}"/>
                </a:ext>
              </a:extLst>
            </p:cNvPr>
            <p:cNvSpPr/>
            <p:nvPr/>
          </p:nvSpPr>
          <p:spPr>
            <a:xfrm>
              <a:off x="7835900" y="1030974"/>
              <a:ext cx="279400" cy="3521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AAC1A36F-29C4-4F63-9FF6-95EC48CFCDCE}"/>
                </a:ext>
              </a:extLst>
            </p:cNvPr>
            <p:cNvSpPr/>
            <p:nvPr/>
          </p:nvSpPr>
          <p:spPr>
            <a:xfrm>
              <a:off x="7857067" y="3598333"/>
              <a:ext cx="279400" cy="259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15815799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E7387B3-83DA-4F3C-BAF0-0FEE4932D0CB}"/>
              </a:ext>
            </a:extLst>
          </p:cNvPr>
          <p:cNvSpPr>
            <a:spLocks noGrp="1"/>
          </p:cNvSpPr>
          <p:nvPr>
            <p:ph type="title"/>
          </p:nvPr>
        </p:nvSpPr>
        <p:spPr/>
        <p:txBody>
          <a:bodyPr/>
          <a:lstStyle/>
          <a:p>
            <a:r>
              <a:rPr lang="en-US" altLang="zh-TW" dirty="0"/>
              <a:t>Degree-two Path Reductions</a:t>
            </a:r>
            <a:endParaRPr lang="zh-TW" altLang="en-US" dirty="0"/>
          </a:p>
        </p:txBody>
      </p:sp>
      <p:sp>
        <p:nvSpPr>
          <p:cNvPr id="3" name="內容版面配置區 2">
            <a:extLst>
              <a:ext uri="{FF2B5EF4-FFF2-40B4-BE49-F238E27FC236}">
                <a16:creationId xmlns:a16="http://schemas.microsoft.com/office/drawing/2014/main" id="{736B74CA-6DC7-4BEE-A450-8B99EDED0C0B}"/>
              </a:ext>
            </a:extLst>
          </p:cNvPr>
          <p:cNvSpPr>
            <a:spLocks noGrp="1"/>
          </p:cNvSpPr>
          <p:nvPr>
            <p:ph idx="1"/>
          </p:nvPr>
        </p:nvSpPr>
        <p:spPr/>
        <p:txBody>
          <a:bodyPr/>
          <a:lstStyle/>
          <a:p>
            <a:r>
              <a:rPr lang="en-US" altLang="zh-TW" dirty="0"/>
              <a:t>Degree-two path </a:t>
            </a:r>
            <a:r>
              <a:rPr lang="en-US" altLang="zh-TW" i="1" dirty="0"/>
              <a:t>P</a:t>
            </a:r>
          </a:p>
          <a:p>
            <a:pPr lvl="1"/>
            <a:r>
              <a:rPr lang="en-US" altLang="zh-TW" sz="2800" dirty="0"/>
              <a:t>Every vertex in </a:t>
            </a:r>
            <a:r>
              <a:rPr lang="en-US" altLang="zh-TW" sz="2800" i="1" dirty="0"/>
              <a:t>P</a:t>
            </a:r>
            <a:r>
              <a:rPr lang="en-US" altLang="zh-TW" sz="2800" dirty="0"/>
              <a:t> has degree two</a:t>
            </a:r>
            <a:endParaRPr lang="en-US" altLang="zh-TW" sz="3600" dirty="0"/>
          </a:p>
          <a:p>
            <a:r>
              <a:rPr lang="en-US" altLang="zh-TW" sz="3200" i="1" dirty="0"/>
              <a:t>v</a:t>
            </a:r>
            <a:r>
              <a:rPr lang="en-US" altLang="zh-TW" sz="3200" dirty="0"/>
              <a:t> = </a:t>
            </a:r>
            <a:r>
              <a:rPr lang="en-US" altLang="zh-TW" sz="3200" i="1" dirty="0"/>
              <a:t>w</a:t>
            </a:r>
            <a:r>
              <a:rPr lang="en-US" altLang="zh-TW" sz="3200" dirty="0"/>
              <a:t> </a:t>
            </a:r>
            <a:endParaRPr lang="en-US" altLang="zh-TW" sz="3200" i="1" dirty="0"/>
          </a:p>
        </p:txBody>
      </p:sp>
      <p:sp>
        <p:nvSpPr>
          <p:cNvPr id="6" name="矩形 5">
            <a:extLst>
              <a:ext uri="{FF2B5EF4-FFF2-40B4-BE49-F238E27FC236}">
                <a16:creationId xmlns:a16="http://schemas.microsoft.com/office/drawing/2014/main" id="{199A244D-79F8-4498-ABFD-D32A8140BA7E}"/>
              </a:ext>
            </a:extLst>
          </p:cNvPr>
          <p:cNvSpPr/>
          <p:nvPr/>
        </p:nvSpPr>
        <p:spPr>
          <a:xfrm>
            <a:off x="10054166" y="1229915"/>
            <a:ext cx="279400" cy="3521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AAC1A36F-29C4-4F63-9FF6-95EC48CFCDCE}"/>
              </a:ext>
            </a:extLst>
          </p:cNvPr>
          <p:cNvSpPr/>
          <p:nvPr/>
        </p:nvSpPr>
        <p:spPr>
          <a:xfrm>
            <a:off x="7857067" y="3598333"/>
            <a:ext cx="279400" cy="259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8" name="圖片 7">
            <a:extLst>
              <a:ext uri="{FF2B5EF4-FFF2-40B4-BE49-F238E27FC236}">
                <a16:creationId xmlns:a16="http://schemas.microsoft.com/office/drawing/2014/main" id="{0774D97C-9417-466B-966D-A7AE8CBE907C}"/>
              </a:ext>
            </a:extLst>
          </p:cNvPr>
          <p:cNvPicPr>
            <a:picLocks noChangeAspect="1"/>
          </p:cNvPicPr>
          <p:nvPr/>
        </p:nvPicPr>
        <p:blipFill>
          <a:blip r:embed="rId2"/>
          <a:stretch>
            <a:fillRect/>
          </a:stretch>
        </p:blipFill>
        <p:spPr>
          <a:xfrm>
            <a:off x="7395633" y="1084288"/>
            <a:ext cx="1943371" cy="5287113"/>
          </a:xfrm>
          <a:prstGeom prst="rect">
            <a:avLst/>
          </a:prstGeom>
        </p:spPr>
      </p:pic>
    </p:spTree>
    <p:extLst>
      <p:ext uri="{BB962C8B-B14F-4D97-AF65-F5344CB8AC3E}">
        <p14:creationId xmlns:p14="http://schemas.microsoft.com/office/powerpoint/2010/main" val="5653777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30334A-B923-469E-A03B-96937BFC2793}"/>
              </a:ext>
            </a:extLst>
          </p:cNvPr>
          <p:cNvSpPr>
            <a:spLocks noGrp="1"/>
          </p:cNvSpPr>
          <p:nvPr>
            <p:ph type="title"/>
          </p:nvPr>
        </p:nvSpPr>
        <p:spPr/>
        <p:txBody>
          <a:bodyPr/>
          <a:lstStyle/>
          <a:p>
            <a:r>
              <a:rPr lang="en-US" altLang="zh-TW" dirty="0"/>
              <a:t>Degree-two Path Reductions (cont.)</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6EDE0B81-9503-41CF-B7CC-67D8ED878D5E}"/>
                  </a:ext>
                </a:extLst>
              </p:cNvPr>
              <p:cNvSpPr>
                <a:spLocks noGrp="1"/>
              </p:cNvSpPr>
              <p:nvPr>
                <p:ph idx="1"/>
              </p:nvPr>
            </p:nvSpPr>
            <p:spPr/>
            <p:txBody>
              <a:bodyPr/>
              <a:lstStyle/>
              <a:p>
                <a14:m>
                  <m:oMath xmlns:m="http://schemas.openxmlformats.org/officeDocument/2006/math">
                    <m:d>
                      <m:dPr>
                        <m:begChr m:val="|"/>
                        <m:endChr m:val="|"/>
                        <m:ctrlPr>
                          <a:rPr lang="en-US" altLang="zh-TW" i="1" smtClean="0">
                            <a:latin typeface="Cambria Math" panose="02040503050406030204" pitchFamily="18" charset="0"/>
                          </a:rPr>
                        </m:ctrlPr>
                      </m:dPr>
                      <m:e>
                        <m:r>
                          <a:rPr lang="en-US" altLang="zh-TW" b="0" i="1" smtClean="0">
                            <a:latin typeface="Cambria Math" panose="02040503050406030204" pitchFamily="18" charset="0"/>
                          </a:rPr>
                          <m:t>𝑃</m:t>
                        </m:r>
                      </m:e>
                    </m:d>
                  </m:oMath>
                </a14:m>
                <a:r>
                  <a:rPr lang="zh-TW" altLang="en-US" dirty="0"/>
                  <a:t> </a:t>
                </a:r>
                <a:r>
                  <a:rPr lang="en-US" altLang="zh-TW" dirty="0"/>
                  <a:t>is odd</a:t>
                </a:r>
              </a:p>
              <a:p>
                <a:pPr marL="914400" lvl="1" indent="-457200">
                  <a:buFont typeface="+mj-lt"/>
                  <a:buAutoNum type="arabicPeriod"/>
                </a:pPr>
                <a:r>
                  <a:rPr lang="en-US" altLang="zh-TW" dirty="0"/>
                  <a:t>(</a:t>
                </a:r>
                <a:r>
                  <a:rPr lang="en-US" altLang="zh-TW" i="1" dirty="0"/>
                  <a:t>v</a:t>
                </a:r>
                <a:r>
                  <a:rPr lang="en-US" altLang="zh-TW" dirty="0"/>
                  <a:t>, </a:t>
                </a:r>
                <a:r>
                  <a:rPr lang="en-US" altLang="zh-TW" i="1" dirty="0"/>
                  <a:t>w</a:t>
                </a:r>
                <a:r>
                  <a:rPr lang="en-US" altLang="zh-TW" dirty="0"/>
                  <a:t>) </a:t>
                </a:r>
                <a14:m>
                  <m:oMath xmlns:m="http://schemas.openxmlformats.org/officeDocument/2006/math">
                    <m:r>
                      <a:rPr lang="en-US" altLang="zh-TW" i="1" smtClean="0">
                        <a:latin typeface="Cambria Math" panose="02040503050406030204" pitchFamily="18" charset="0"/>
                        <a:ea typeface="Cambria Math" panose="02040503050406030204" pitchFamily="18" charset="0"/>
                      </a:rPr>
                      <m:t>∈</m:t>
                    </m:r>
                  </m:oMath>
                </a14:m>
                <a:r>
                  <a:rPr lang="zh-TW" altLang="en-US" dirty="0"/>
                  <a:t> </a:t>
                </a:r>
                <a:r>
                  <a:rPr lang="en-US" altLang="zh-TW" i="1" dirty="0"/>
                  <a:t>E</a:t>
                </a:r>
                <a:endParaRPr lang="en-US" altLang="zh-TW" dirty="0"/>
              </a:p>
              <a:p>
                <a:pPr marL="914400" lvl="1" indent="-457200">
                  <a:buFont typeface="+mj-lt"/>
                  <a:buAutoNum type="arabicPeriod"/>
                </a:pPr>
                <a:r>
                  <a:rPr lang="en-US" altLang="zh-TW" dirty="0"/>
                  <a:t>(</a:t>
                </a:r>
                <a:r>
                  <a:rPr lang="en-US" altLang="zh-TW" i="1" dirty="0"/>
                  <a:t>v</a:t>
                </a:r>
                <a:r>
                  <a:rPr lang="en-US" altLang="zh-TW" dirty="0"/>
                  <a:t>, </a:t>
                </a:r>
                <a:r>
                  <a:rPr lang="en-US" altLang="zh-TW" i="1" dirty="0"/>
                  <a:t>w</a:t>
                </a:r>
                <a:r>
                  <a:rPr lang="en-US" altLang="zh-TW" dirty="0"/>
                  <a:t>) </a:t>
                </a:r>
                <a14:m>
                  <m:oMath xmlns:m="http://schemas.openxmlformats.org/officeDocument/2006/math">
                    <m:r>
                      <a:rPr lang="en-US" altLang="zh-TW" b="0" i="0" smtClean="0">
                        <a:latin typeface="Cambria Math" panose="02040503050406030204" pitchFamily="18" charset="0"/>
                        <a:ea typeface="Cambria Math" panose="02040503050406030204" pitchFamily="18" charset="0"/>
                      </a:rPr>
                      <m:t>!</m:t>
                    </m:r>
                    <m:r>
                      <a:rPr lang="en-US" altLang="zh-TW" i="1" smtClean="0">
                        <a:latin typeface="Cambria Math" panose="02040503050406030204" pitchFamily="18" charset="0"/>
                        <a:ea typeface="Cambria Math" panose="02040503050406030204" pitchFamily="18" charset="0"/>
                      </a:rPr>
                      <m:t>∈</m:t>
                    </m:r>
                  </m:oMath>
                </a14:m>
                <a:r>
                  <a:rPr lang="zh-TW" altLang="en-US" dirty="0"/>
                  <a:t> </a:t>
                </a:r>
                <a:r>
                  <a:rPr lang="en-US" altLang="zh-TW" i="1" dirty="0"/>
                  <a:t>E</a:t>
                </a:r>
                <a:endParaRPr lang="en-US" altLang="zh-TW" dirty="0"/>
              </a:p>
              <a:p>
                <a:pPr marL="914400" lvl="1" indent="-457200">
                  <a:buFont typeface="+mj-lt"/>
                  <a:buAutoNum type="arabicPeriod"/>
                </a:pPr>
                <a:endParaRPr lang="zh-TW" altLang="en-US" dirty="0"/>
              </a:p>
            </p:txBody>
          </p:sp>
        </mc:Choice>
        <mc:Fallback xmlns="">
          <p:sp>
            <p:nvSpPr>
              <p:cNvPr id="3" name="內容版面配置區 2">
                <a:extLst>
                  <a:ext uri="{FF2B5EF4-FFF2-40B4-BE49-F238E27FC236}">
                    <a16:creationId xmlns:a16="http://schemas.microsoft.com/office/drawing/2014/main" id="{6EDE0B81-9503-41CF-B7CC-67D8ED878D5E}"/>
                  </a:ext>
                </a:extLst>
              </p:cNvPr>
              <p:cNvSpPr>
                <a:spLocks noGrp="1" noRot="1" noChangeAspect="1" noMove="1" noResize="1" noEditPoints="1" noAdjustHandles="1" noChangeArrowheads="1" noChangeShapeType="1" noTextEdit="1"/>
              </p:cNvSpPr>
              <p:nvPr>
                <p:ph idx="1"/>
              </p:nvPr>
            </p:nvSpPr>
            <p:spPr>
              <a:blipFill>
                <a:blip r:embed="rId2"/>
                <a:stretch>
                  <a:fillRect t="-2381"/>
                </a:stretch>
              </a:blipFill>
            </p:spPr>
            <p:txBody>
              <a:bodyPr/>
              <a:lstStyle/>
              <a:p>
                <a:r>
                  <a:rPr lang="zh-TW" altLang="en-US">
                    <a:noFill/>
                  </a:rPr>
                  <a:t> </a:t>
                </a:r>
              </a:p>
            </p:txBody>
          </p:sp>
        </mc:Fallback>
      </mc:AlternateContent>
      <p:pic>
        <p:nvPicPr>
          <p:cNvPr id="5" name="圖片 4">
            <a:extLst>
              <a:ext uri="{FF2B5EF4-FFF2-40B4-BE49-F238E27FC236}">
                <a16:creationId xmlns:a16="http://schemas.microsoft.com/office/drawing/2014/main" id="{532D17F4-6100-4C10-B6F6-0B67E43AE053}"/>
              </a:ext>
            </a:extLst>
          </p:cNvPr>
          <p:cNvPicPr>
            <a:picLocks noChangeAspect="1"/>
          </p:cNvPicPr>
          <p:nvPr/>
        </p:nvPicPr>
        <p:blipFill>
          <a:blip r:embed="rId3"/>
          <a:stretch>
            <a:fillRect/>
          </a:stretch>
        </p:blipFill>
        <p:spPr>
          <a:xfrm>
            <a:off x="6599230" y="1419658"/>
            <a:ext cx="3848637" cy="5163271"/>
          </a:xfrm>
          <a:prstGeom prst="rect">
            <a:avLst/>
          </a:prstGeom>
        </p:spPr>
      </p:pic>
    </p:spTree>
    <p:extLst>
      <p:ext uri="{BB962C8B-B14F-4D97-AF65-F5344CB8AC3E}">
        <p14:creationId xmlns:p14="http://schemas.microsoft.com/office/powerpoint/2010/main" val="10860441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5E2905E-EBED-43E6-9DF5-DC1884B48007}"/>
              </a:ext>
            </a:extLst>
          </p:cNvPr>
          <p:cNvSpPr>
            <a:spLocks noGrp="1"/>
          </p:cNvSpPr>
          <p:nvPr>
            <p:ph type="title"/>
          </p:nvPr>
        </p:nvSpPr>
        <p:spPr/>
        <p:txBody>
          <a:bodyPr/>
          <a:lstStyle/>
          <a:p>
            <a:r>
              <a:rPr lang="en-US" altLang="zh-TW" dirty="0"/>
              <a:t>Degree-two Path Reductions(cont.)</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7A542F7C-ADA9-44C2-9CBD-57EF4A75C93B}"/>
                  </a:ext>
                </a:extLst>
              </p:cNvPr>
              <p:cNvSpPr>
                <a:spLocks noGrp="1"/>
              </p:cNvSpPr>
              <p:nvPr>
                <p:ph idx="1"/>
              </p:nvPr>
            </p:nvSpPr>
            <p:spPr/>
            <p:txBody>
              <a:bodyPr/>
              <a:lstStyle/>
              <a:p>
                <a14:m>
                  <m:oMath xmlns:m="http://schemas.openxmlformats.org/officeDocument/2006/math">
                    <m:d>
                      <m:dPr>
                        <m:begChr m:val="|"/>
                        <m:endChr m:val="|"/>
                        <m:ctrlPr>
                          <a:rPr lang="en-US" altLang="zh-TW" i="1" smtClean="0">
                            <a:latin typeface="Cambria Math" panose="02040503050406030204" pitchFamily="18" charset="0"/>
                          </a:rPr>
                        </m:ctrlPr>
                      </m:dPr>
                      <m:e>
                        <m:r>
                          <a:rPr lang="en-US" altLang="zh-TW" b="0" i="1" smtClean="0">
                            <a:latin typeface="Cambria Math" panose="02040503050406030204" pitchFamily="18" charset="0"/>
                          </a:rPr>
                          <m:t>𝑃</m:t>
                        </m:r>
                      </m:e>
                    </m:d>
                  </m:oMath>
                </a14:m>
                <a:r>
                  <a:rPr lang="zh-TW" altLang="en-US" dirty="0"/>
                  <a:t> </a:t>
                </a:r>
                <a:r>
                  <a:rPr lang="en-US" altLang="zh-TW" dirty="0"/>
                  <a:t>is even</a:t>
                </a:r>
              </a:p>
              <a:p>
                <a:pPr marL="914400" lvl="1" indent="-457200">
                  <a:buFont typeface="+mj-lt"/>
                  <a:buAutoNum type="arabicPeriod"/>
                </a:pPr>
                <a:r>
                  <a:rPr lang="en-US" altLang="zh-TW" dirty="0"/>
                  <a:t>(</a:t>
                </a:r>
                <a:r>
                  <a:rPr lang="en-US" altLang="zh-TW" i="1" dirty="0"/>
                  <a:t>v</a:t>
                </a:r>
                <a:r>
                  <a:rPr lang="en-US" altLang="zh-TW" dirty="0"/>
                  <a:t>, </a:t>
                </a:r>
                <a:r>
                  <a:rPr lang="en-US" altLang="zh-TW" i="1" dirty="0"/>
                  <a:t>w</a:t>
                </a:r>
                <a:r>
                  <a:rPr lang="en-US" altLang="zh-TW" dirty="0"/>
                  <a:t>) </a:t>
                </a:r>
                <a14:m>
                  <m:oMath xmlns:m="http://schemas.openxmlformats.org/officeDocument/2006/math">
                    <m:r>
                      <a:rPr lang="en-US" altLang="zh-TW" i="1" smtClean="0">
                        <a:latin typeface="Cambria Math" panose="02040503050406030204" pitchFamily="18" charset="0"/>
                        <a:ea typeface="Cambria Math" panose="02040503050406030204" pitchFamily="18" charset="0"/>
                      </a:rPr>
                      <m:t>∈</m:t>
                    </m:r>
                  </m:oMath>
                </a14:m>
                <a:r>
                  <a:rPr lang="zh-TW" altLang="en-US" dirty="0"/>
                  <a:t> </a:t>
                </a:r>
                <a:r>
                  <a:rPr lang="en-US" altLang="zh-TW" i="1" dirty="0"/>
                  <a:t>E</a:t>
                </a:r>
                <a:endParaRPr lang="en-US" altLang="zh-TW" dirty="0"/>
              </a:p>
              <a:p>
                <a:pPr marL="914400" lvl="1" indent="-457200">
                  <a:buFont typeface="+mj-lt"/>
                  <a:buAutoNum type="arabicPeriod"/>
                </a:pPr>
                <a:r>
                  <a:rPr lang="en-US" altLang="zh-TW" dirty="0"/>
                  <a:t>(</a:t>
                </a:r>
                <a:r>
                  <a:rPr lang="en-US" altLang="zh-TW" i="1" dirty="0"/>
                  <a:t>v</a:t>
                </a:r>
                <a:r>
                  <a:rPr lang="en-US" altLang="zh-TW" dirty="0"/>
                  <a:t>, </a:t>
                </a:r>
                <a:r>
                  <a:rPr lang="en-US" altLang="zh-TW" i="1" dirty="0"/>
                  <a:t>w</a:t>
                </a:r>
                <a:r>
                  <a:rPr lang="en-US" altLang="zh-TW" dirty="0"/>
                  <a:t>) </a:t>
                </a:r>
                <a14:m>
                  <m:oMath xmlns:m="http://schemas.openxmlformats.org/officeDocument/2006/math">
                    <m:r>
                      <a:rPr lang="en-US" altLang="zh-TW" b="0" i="0" smtClean="0">
                        <a:latin typeface="Cambria Math" panose="02040503050406030204" pitchFamily="18" charset="0"/>
                        <a:ea typeface="Cambria Math" panose="02040503050406030204" pitchFamily="18" charset="0"/>
                      </a:rPr>
                      <m:t>!</m:t>
                    </m:r>
                    <m:r>
                      <a:rPr lang="en-US" altLang="zh-TW" i="1" smtClean="0">
                        <a:latin typeface="Cambria Math" panose="02040503050406030204" pitchFamily="18" charset="0"/>
                        <a:ea typeface="Cambria Math" panose="02040503050406030204" pitchFamily="18" charset="0"/>
                      </a:rPr>
                      <m:t>∈</m:t>
                    </m:r>
                  </m:oMath>
                </a14:m>
                <a:r>
                  <a:rPr lang="zh-TW" altLang="en-US" dirty="0"/>
                  <a:t> </a:t>
                </a:r>
                <a:r>
                  <a:rPr lang="en-US" altLang="zh-TW" i="1" dirty="0"/>
                  <a:t>E</a:t>
                </a:r>
                <a:endParaRPr lang="en-US" altLang="zh-TW" dirty="0"/>
              </a:p>
              <a:p>
                <a:endParaRPr lang="zh-TW" altLang="en-US" dirty="0"/>
              </a:p>
            </p:txBody>
          </p:sp>
        </mc:Choice>
        <mc:Fallback xmlns="">
          <p:sp>
            <p:nvSpPr>
              <p:cNvPr id="3" name="內容版面配置區 2">
                <a:extLst>
                  <a:ext uri="{FF2B5EF4-FFF2-40B4-BE49-F238E27FC236}">
                    <a16:creationId xmlns:a16="http://schemas.microsoft.com/office/drawing/2014/main" id="{7A542F7C-ADA9-44C2-9CBD-57EF4A75C93B}"/>
                  </a:ext>
                </a:extLst>
              </p:cNvPr>
              <p:cNvSpPr>
                <a:spLocks noGrp="1" noRot="1" noChangeAspect="1" noMove="1" noResize="1" noEditPoints="1" noAdjustHandles="1" noChangeArrowheads="1" noChangeShapeType="1" noTextEdit="1"/>
              </p:cNvSpPr>
              <p:nvPr>
                <p:ph idx="1"/>
              </p:nvPr>
            </p:nvSpPr>
            <p:spPr>
              <a:blipFill>
                <a:blip r:embed="rId2"/>
                <a:stretch>
                  <a:fillRect t="-2381"/>
                </a:stretch>
              </a:blipFill>
            </p:spPr>
            <p:txBody>
              <a:bodyPr/>
              <a:lstStyle/>
              <a:p>
                <a:r>
                  <a:rPr lang="zh-TW" altLang="en-US">
                    <a:noFill/>
                  </a:rPr>
                  <a:t> </a:t>
                </a:r>
              </a:p>
            </p:txBody>
          </p:sp>
        </mc:Fallback>
      </mc:AlternateContent>
      <p:pic>
        <p:nvPicPr>
          <p:cNvPr id="5" name="圖片 4">
            <a:extLst>
              <a:ext uri="{FF2B5EF4-FFF2-40B4-BE49-F238E27FC236}">
                <a16:creationId xmlns:a16="http://schemas.microsoft.com/office/drawing/2014/main" id="{8FC9A030-A874-4F57-9CF4-DB3EF51236FA}"/>
              </a:ext>
            </a:extLst>
          </p:cNvPr>
          <p:cNvPicPr>
            <a:picLocks noChangeAspect="1"/>
          </p:cNvPicPr>
          <p:nvPr/>
        </p:nvPicPr>
        <p:blipFill>
          <a:blip r:embed="rId3"/>
          <a:stretch>
            <a:fillRect/>
          </a:stretch>
        </p:blipFill>
        <p:spPr>
          <a:xfrm>
            <a:off x="6315868" y="1405815"/>
            <a:ext cx="3810532" cy="5087060"/>
          </a:xfrm>
          <a:prstGeom prst="rect">
            <a:avLst/>
          </a:prstGeom>
        </p:spPr>
      </p:pic>
    </p:spTree>
    <p:extLst>
      <p:ext uri="{BB962C8B-B14F-4D97-AF65-F5344CB8AC3E}">
        <p14:creationId xmlns:p14="http://schemas.microsoft.com/office/powerpoint/2010/main" val="37544407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E9A7EE4-D872-4BD2-964F-113E2148CCCD}"/>
              </a:ext>
            </a:extLst>
          </p:cNvPr>
          <p:cNvSpPr>
            <a:spLocks noGrp="1"/>
          </p:cNvSpPr>
          <p:nvPr>
            <p:ph type="title"/>
          </p:nvPr>
        </p:nvSpPr>
        <p:spPr/>
        <p:txBody>
          <a:bodyPr/>
          <a:lstStyle/>
          <a:p>
            <a:r>
              <a:rPr lang="en-US" altLang="zh-TW" dirty="0" err="1"/>
              <a:t>LinearTime</a:t>
            </a:r>
            <a:endParaRPr lang="zh-TW" altLang="en-US" dirty="0"/>
          </a:p>
        </p:txBody>
      </p:sp>
      <p:sp>
        <p:nvSpPr>
          <p:cNvPr id="7" name="內容版面配置區 6">
            <a:extLst>
              <a:ext uri="{FF2B5EF4-FFF2-40B4-BE49-F238E27FC236}">
                <a16:creationId xmlns:a16="http://schemas.microsoft.com/office/drawing/2014/main" id="{A6CF2A86-61F5-4696-8EBC-B50DB3FD58AA}"/>
              </a:ext>
            </a:extLst>
          </p:cNvPr>
          <p:cNvSpPr>
            <a:spLocks noGrp="1"/>
          </p:cNvSpPr>
          <p:nvPr>
            <p:ph idx="1"/>
          </p:nvPr>
        </p:nvSpPr>
        <p:spPr/>
        <p:txBody>
          <a:bodyPr/>
          <a:lstStyle/>
          <a:p>
            <a:r>
              <a:rPr lang="en-US" altLang="zh-TW" b="1" dirty="0" err="1"/>
              <a:t>BDTwo</a:t>
            </a:r>
            <a:r>
              <a:rPr lang="en-US" altLang="zh-TW" b="1" dirty="0"/>
              <a:t> </a:t>
            </a:r>
            <a:r>
              <a:rPr lang="en-US" altLang="zh-TW" dirty="0"/>
              <a:t>has higher time and space complexities than </a:t>
            </a:r>
            <a:r>
              <a:rPr lang="en-US" altLang="zh-TW" b="1" dirty="0" err="1"/>
              <a:t>BDOne</a:t>
            </a:r>
            <a:endParaRPr lang="en-US" altLang="zh-TW" b="1" dirty="0"/>
          </a:p>
          <a:p>
            <a:r>
              <a:rPr lang="en-US" altLang="zh-TW" dirty="0"/>
              <a:t>Reduction rule</a:t>
            </a:r>
          </a:p>
          <a:p>
            <a:pPr marL="914400" lvl="1" indent="-457200">
              <a:buFont typeface="+mj-lt"/>
              <a:buAutoNum type="arabicPeriod"/>
            </a:pPr>
            <a:r>
              <a:rPr lang="en-US" altLang="zh-TW" dirty="0"/>
              <a:t>Degree-one reduction</a:t>
            </a:r>
          </a:p>
          <a:p>
            <a:pPr marL="914400" lvl="1" indent="-457200">
              <a:buFont typeface="+mj-lt"/>
              <a:buAutoNum type="arabicPeriod"/>
            </a:pPr>
            <a:r>
              <a:rPr lang="en-US" altLang="zh-TW" dirty="0"/>
              <a:t>Degree-two path reduction</a:t>
            </a:r>
          </a:p>
          <a:p>
            <a:pPr marL="914400" lvl="1" indent="-457200">
              <a:buFont typeface="+mj-lt"/>
              <a:buAutoNum type="arabicPeriod"/>
            </a:pPr>
            <a:r>
              <a:rPr lang="en-US" altLang="zh-TW" dirty="0"/>
              <a:t>Inexact reduction</a:t>
            </a:r>
          </a:p>
          <a:p>
            <a:r>
              <a:rPr lang="en-US" altLang="zh-TW" dirty="0"/>
              <a:t>Time complexity</a:t>
            </a:r>
          </a:p>
          <a:p>
            <a:pPr lvl="1"/>
            <a:r>
              <a:rPr lang="en-US" altLang="zh-TW" i="1" dirty="0"/>
              <a:t>O(m)</a:t>
            </a:r>
          </a:p>
          <a:p>
            <a:endParaRPr lang="en-US" altLang="zh-TW" dirty="0"/>
          </a:p>
          <a:p>
            <a:pPr lvl="1"/>
            <a:endParaRPr lang="en-US" altLang="zh-TW" dirty="0"/>
          </a:p>
          <a:p>
            <a:pPr lvl="1"/>
            <a:endParaRPr lang="en-US" altLang="zh-TW" dirty="0"/>
          </a:p>
        </p:txBody>
      </p:sp>
      <p:pic>
        <p:nvPicPr>
          <p:cNvPr id="4" name="圖片 3">
            <a:extLst>
              <a:ext uri="{FF2B5EF4-FFF2-40B4-BE49-F238E27FC236}">
                <a16:creationId xmlns:a16="http://schemas.microsoft.com/office/drawing/2014/main" id="{FF757226-32E1-4B9D-85D0-C5555895071D}"/>
              </a:ext>
            </a:extLst>
          </p:cNvPr>
          <p:cNvPicPr>
            <a:picLocks noChangeAspect="1"/>
          </p:cNvPicPr>
          <p:nvPr/>
        </p:nvPicPr>
        <p:blipFill>
          <a:blip r:embed="rId2"/>
          <a:stretch>
            <a:fillRect/>
          </a:stretch>
        </p:blipFill>
        <p:spPr>
          <a:xfrm>
            <a:off x="5129796" y="2909432"/>
            <a:ext cx="6792273" cy="3267531"/>
          </a:xfrm>
          <a:prstGeom prst="rect">
            <a:avLst/>
          </a:prstGeom>
        </p:spPr>
      </p:pic>
    </p:spTree>
    <p:extLst>
      <p:ext uri="{BB962C8B-B14F-4D97-AF65-F5344CB8AC3E}">
        <p14:creationId xmlns:p14="http://schemas.microsoft.com/office/powerpoint/2010/main" val="27169157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32733A8E-0B31-4D73-88C1-36F24A926A31}"/>
              </a:ext>
            </a:extLst>
          </p:cNvPr>
          <p:cNvPicPr>
            <a:picLocks noChangeAspect="1"/>
          </p:cNvPicPr>
          <p:nvPr/>
        </p:nvPicPr>
        <p:blipFill>
          <a:blip r:embed="rId2"/>
          <a:stretch>
            <a:fillRect/>
          </a:stretch>
        </p:blipFill>
        <p:spPr>
          <a:xfrm>
            <a:off x="5447476" y="2581871"/>
            <a:ext cx="5906324" cy="2838846"/>
          </a:xfrm>
          <a:prstGeom prst="rect">
            <a:avLst/>
          </a:prstGeom>
        </p:spPr>
      </p:pic>
      <p:sp>
        <p:nvSpPr>
          <p:cNvPr id="2" name="標題 1">
            <a:extLst>
              <a:ext uri="{FF2B5EF4-FFF2-40B4-BE49-F238E27FC236}">
                <a16:creationId xmlns:a16="http://schemas.microsoft.com/office/drawing/2014/main" id="{95E2905E-EBED-43E6-9DF5-DC1884B48007}"/>
              </a:ext>
            </a:extLst>
          </p:cNvPr>
          <p:cNvSpPr>
            <a:spLocks noGrp="1"/>
          </p:cNvSpPr>
          <p:nvPr>
            <p:ph type="title"/>
          </p:nvPr>
        </p:nvSpPr>
        <p:spPr/>
        <p:txBody>
          <a:bodyPr/>
          <a:lstStyle/>
          <a:p>
            <a:r>
              <a:rPr lang="en-US" altLang="zh-TW" dirty="0"/>
              <a:t>Dominance Reduction</a:t>
            </a:r>
            <a:endParaRPr lang="zh-TW" altLang="en-US" dirty="0"/>
          </a:p>
        </p:txBody>
      </p:sp>
      <p:sp>
        <p:nvSpPr>
          <p:cNvPr id="3" name="內容版面配置區 2">
            <a:extLst>
              <a:ext uri="{FF2B5EF4-FFF2-40B4-BE49-F238E27FC236}">
                <a16:creationId xmlns:a16="http://schemas.microsoft.com/office/drawing/2014/main" id="{7A542F7C-ADA9-44C2-9CBD-57EF4A75C93B}"/>
              </a:ext>
            </a:extLst>
          </p:cNvPr>
          <p:cNvSpPr>
            <a:spLocks noGrp="1"/>
          </p:cNvSpPr>
          <p:nvPr>
            <p:ph idx="1"/>
          </p:nvPr>
        </p:nvSpPr>
        <p:spPr/>
        <p:txBody>
          <a:bodyPr/>
          <a:lstStyle/>
          <a:p>
            <a:r>
              <a:rPr lang="en-US" altLang="zh-TW" i="1" dirty="0"/>
              <a:t>vertex v </a:t>
            </a:r>
            <a:r>
              <a:rPr lang="en-US" altLang="zh-TW" b="1" dirty="0"/>
              <a:t>dominates</a:t>
            </a:r>
            <a:r>
              <a:rPr lang="en-US" altLang="zh-TW" dirty="0"/>
              <a:t> </a:t>
            </a:r>
            <a:r>
              <a:rPr lang="en-US" altLang="zh-TW" i="1" dirty="0"/>
              <a:t>vertex u</a:t>
            </a:r>
          </a:p>
          <a:p>
            <a:pPr lvl="1"/>
            <a:r>
              <a:rPr lang="en-US" altLang="zh-TW" dirty="0"/>
              <a:t>For all neighbors of </a:t>
            </a:r>
            <a:r>
              <a:rPr lang="en-US" altLang="zh-TW" i="1" dirty="0"/>
              <a:t>v </a:t>
            </a:r>
            <a:r>
              <a:rPr lang="en-US" altLang="zh-TW" dirty="0"/>
              <a:t>(except </a:t>
            </a:r>
            <a:r>
              <a:rPr lang="en-US" altLang="zh-TW" i="1" dirty="0"/>
              <a:t>u</a:t>
            </a:r>
            <a:r>
              <a:rPr lang="en-US" altLang="zh-TW" dirty="0"/>
              <a:t>)</a:t>
            </a:r>
            <a:r>
              <a:rPr lang="zh-TW" altLang="en-US" dirty="0"/>
              <a:t> </a:t>
            </a:r>
            <a:r>
              <a:rPr lang="en-US" altLang="zh-TW" dirty="0"/>
              <a:t>connected to </a:t>
            </a:r>
            <a:r>
              <a:rPr lang="en-US" altLang="zh-TW" i="1" dirty="0"/>
              <a:t>u</a:t>
            </a:r>
            <a:endParaRPr lang="en-US" altLang="zh-TW" dirty="0"/>
          </a:p>
          <a:p>
            <a:pPr lvl="1"/>
            <a:endParaRPr lang="en-US" altLang="zh-TW" i="1" dirty="0"/>
          </a:p>
          <a:p>
            <a:pPr lvl="1"/>
            <a:endParaRPr lang="en-US" altLang="zh-TW" i="1" dirty="0"/>
          </a:p>
          <a:p>
            <a:pPr lvl="1"/>
            <a:endParaRPr lang="en-US" altLang="zh-TW" i="1" dirty="0"/>
          </a:p>
        </p:txBody>
      </p:sp>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937E5425-F569-44D6-B9C8-733BBEBEB425}"/>
                  </a:ext>
                </a:extLst>
              </p:cNvPr>
              <p:cNvSpPr txBox="1"/>
              <p:nvPr/>
            </p:nvSpPr>
            <p:spPr>
              <a:xfrm>
                <a:off x="825499" y="3938918"/>
                <a:ext cx="4936067" cy="1846659"/>
              </a:xfrm>
              <a:prstGeom prst="rect">
                <a:avLst/>
              </a:prstGeom>
              <a:noFill/>
            </p:spPr>
            <p:txBody>
              <a:bodyPr wrap="square" rtlCol="0">
                <a:spAutoFit/>
              </a:bodyPr>
              <a:lstStyle/>
              <a:p>
                <a:pPr marL="285750" indent="-285750">
                  <a:buFont typeface="Arial" panose="020B0604020202020204" pitchFamily="34" charset="0"/>
                  <a:buChar char="•"/>
                </a:pPr>
                <a14:m>
                  <m:oMath xmlns:m="http://schemas.openxmlformats.org/officeDocument/2006/math">
                    <m:r>
                      <a:rPr lang="zh-TW" altLang="en-US" sz="2400" i="1" smtClean="0">
                        <a:latin typeface="Cambria Math" panose="02040503050406030204" pitchFamily="18" charset="0"/>
                      </a:rPr>
                      <m:t>𝛿</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𝑢</m:t>
                        </m:r>
                        <m:r>
                          <a:rPr lang="en-US" altLang="zh-TW" sz="2400" b="0" i="0" smtClean="0">
                            <a:latin typeface="Cambria Math" panose="02040503050406030204" pitchFamily="18" charset="0"/>
                          </a:rPr>
                          <m:t>, </m:t>
                        </m:r>
                        <m:r>
                          <a:rPr lang="en-US" altLang="zh-TW" sz="2400" b="0" i="1" smtClean="0">
                            <a:latin typeface="Cambria Math" panose="02040503050406030204" pitchFamily="18" charset="0"/>
                          </a:rPr>
                          <m:t>𝑣</m:t>
                        </m:r>
                      </m:e>
                    </m:d>
                    <m:r>
                      <a:rPr lang="en-US" altLang="zh-TW" sz="2400" b="0" i="0" smtClean="0">
                        <a:latin typeface="Cambria Math" panose="02040503050406030204" pitchFamily="18" charset="0"/>
                      </a:rPr>
                      <m:t>=</m:t>
                    </m:r>
                    <m:r>
                      <a:rPr lang="en-US" altLang="zh-TW" sz="2400" b="0" i="1" smtClean="0">
                        <a:latin typeface="Cambria Math" panose="02040503050406030204" pitchFamily="18" charset="0"/>
                      </a:rPr>
                      <m:t>𝑑</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𝑣</m:t>
                        </m:r>
                      </m:e>
                    </m:d>
                    <m:r>
                      <a:rPr lang="en-US" altLang="zh-TW" sz="2400" b="0" i="0" smtClean="0">
                        <a:latin typeface="Cambria Math" panose="02040503050406030204" pitchFamily="18" charset="0"/>
                      </a:rPr>
                      <m:t>−1</m:t>
                    </m:r>
                  </m:oMath>
                </a14:m>
                <a:endParaRPr lang="en-US" altLang="zh-TW" sz="2400" b="0" i="0" dirty="0">
                  <a:latin typeface="Cambria Math" panose="02040503050406030204" pitchFamily="18" charset="0"/>
                </a:endParaRPr>
              </a:p>
              <a:p>
                <a:pPr marL="742950" lvl="1" indent="-285750">
                  <a:buFont typeface="Arial" panose="020B0604020202020204" pitchFamily="34" charset="0"/>
                  <a:buChar char="•"/>
                </a:pPr>
                <a14:m>
                  <m:oMath xmlns:m="http://schemas.openxmlformats.org/officeDocument/2006/math">
                    <m:r>
                      <a:rPr lang="zh-TW" altLang="en-US" sz="2400" i="1" smtClean="0">
                        <a:latin typeface="Cambria Math" panose="02040503050406030204" pitchFamily="18" charset="0"/>
                      </a:rPr>
                      <m:t>𝛿</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𝑢</m:t>
                        </m:r>
                        <m:r>
                          <a:rPr lang="en-US" altLang="zh-TW" sz="2400" b="0" i="0" smtClean="0">
                            <a:latin typeface="Cambria Math" panose="02040503050406030204" pitchFamily="18" charset="0"/>
                          </a:rPr>
                          <m:t>, </m:t>
                        </m:r>
                        <m:r>
                          <a:rPr lang="en-US" altLang="zh-TW" sz="2400" b="0" i="1" smtClean="0">
                            <a:latin typeface="Cambria Math" panose="02040503050406030204" pitchFamily="18" charset="0"/>
                          </a:rPr>
                          <m:t>𝑣</m:t>
                        </m:r>
                      </m:e>
                    </m:d>
                  </m:oMath>
                </a14:m>
                <a:endParaRPr lang="en-US" altLang="zh-TW" sz="2400" i="1" dirty="0"/>
              </a:p>
              <a:p>
                <a:pPr marL="1200150" lvl="2" indent="-285750">
                  <a:buFont typeface="Arial" panose="020B0604020202020204" pitchFamily="34" charset="0"/>
                  <a:buChar char="•"/>
                </a:pPr>
                <a:r>
                  <a:rPr lang="en-US" altLang="zh-TW" sz="2400" dirty="0"/>
                  <a:t>The number of triangles in G containing </a:t>
                </a:r>
                <a:r>
                  <a:rPr lang="en-US" altLang="zh-TW" sz="2400" i="1" dirty="0"/>
                  <a:t>u</a:t>
                </a:r>
                <a:r>
                  <a:rPr lang="en-US" altLang="zh-TW" sz="2400" dirty="0"/>
                  <a:t> and </a:t>
                </a:r>
                <a:r>
                  <a:rPr lang="en-US" altLang="zh-TW" sz="2400" i="1" dirty="0"/>
                  <a:t>v</a:t>
                </a:r>
              </a:p>
              <a:p>
                <a:endParaRPr lang="zh-TW" altLang="en-US" dirty="0"/>
              </a:p>
            </p:txBody>
          </p:sp>
        </mc:Choice>
        <mc:Fallback xmlns="">
          <p:sp>
            <p:nvSpPr>
              <p:cNvPr id="7" name="文字方塊 6">
                <a:extLst>
                  <a:ext uri="{FF2B5EF4-FFF2-40B4-BE49-F238E27FC236}">
                    <a16:creationId xmlns:a16="http://schemas.microsoft.com/office/drawing/2014/main" id="{937E5425-F569-44D6-B9C8-733BBEBEB425}"/>
                  </a:ext>
                </a:extLst>
              </p:cNvPr>
              <p:cNvSpPr txBox="1">
                <a:spLocks noRot="1" noChangeAspect="1" noMove="1" noResize="1" noEditPoints="1" noAdjustHandles="1" noChangeArrowheads="1" noChangeShapeType="1" noTextEdit="1"/>
              </p:cNvSpPr>
              <p:nvPr/>
            </p:nvSpPr>
            <p:spPr>
              <a:xfrm>
                <a:off x="825499" y="3938918"/>
                <a:ext cx="4936067" cy="1846659"/>
              </a:xfrm>
              <a:prstGeom prst="rect">
                <a:avLst/>
              </a:prstGeom>
              <a:blipFill>
                <a:blip r:embed="rId3"/>
                <a:stretch>
                  <a:fillRect l="-1605" t="-990" r="-2840"/>
                </a:stretch>
              </a:blipFill>
            </p:spPr>
            <p:txBody>
              <a:bodyPr/>
              <a:lstStyle/>
              <a:p>
                <a:r>
                  <a:rPr lang="zh-TW" altLang="en-US">
                    <a:noFill/>
                  </a:rPr>
                  <a:t> </a:t>
                </a:r>
              </a:p>
            </p:txBody>
          </p:sp>
        </mc:Fallback>
      </mc:AlternateContent>
      <p:sp>
        <p:nvSpPr>
          <p:cNvPr id="8" name="箭號: 向右 7">
            <a:extLst>
              <a:ext uri="{FF2B5EF4-FFF2-40B4-BE49-F238E27FC236}">
                <a16:creationId xmlns:a16="http://schemas.microsoft.com/office/drawing/2014/main" id="{00106AA0-24B5-4ABD-8250-2092BB4ECC39}"/>
              </a:ext>
            </a:extLst>
          </p:cNvPr>
          <p:cNvSpPr/>
          <p:nvPr/>
        </p:nvSpPr>
        <p:spPr>
          <a:xfrm rot="5400000">
            <a:off x="2293507" y="3201360"/>
            <a:ext cx="1204183" cy="270935"/>
          </a:xfrm>
          <a:prstGeom prst="rightArrow">
            <a:avLst>
              <a:gd name="adj1" fmla="val 42481"/>
              <a:gd name="adj2" fmla="val 57518"/>
            </a:avLst>
          </a:prstGeom>
          <a:solidFill>
            <a:schemeClr val="bg2">
              <a:lumMod val="7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601697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內容版面配置區 4">
            <a:extLst>
              <a:ext uri="{FF2B5EF4-FFF2-40B4-BE49-F238E27FC236}">
                <a16:creationId xmlns:a16="http://schemas.microsoft.com/office/drawing/2014/main" id="{FE70E38D-219F-4368-8D3B-53ECBE2B2010}"/>
              </a:ext>
            </a:extLst>
          </p:cNvPr>
          <p:cNvPicPr>
            <a:picLocks noChangeAspect="1"/>
          </p:cNvPicPr>
          <p:nvPr/>
        </p:nvPicPr>
        <p:blipFill>
          <a:blip r:embed="rId2"/>
          <a:stretch>
            <a:fillRect/>
          </a:stretch>
        </p:blipFill>
        <p:spPr>
          <a:xfrm>
            <a:off x="5363054" y="2751963"/>
            <a:ext cx="6001588" cy="3362794"/>
          </a:xfrm>
          <a:prstGeom prst="rect">
            <a:avLst/>
          </a:prstGeom>
        </p:spPr>
      </p:pic>
      <p:sp>
        <p:nvSpPr>
          <p:cNvPr id="2" name="標題 1">
            <a:extLst>
              <a:ext uri="{FF2B5EF4-FFF2-40B4-BE49-F238E27FC236}">
                <a16:creationId xmlns:a16="http://schemas.microsoft.com/office/drawing/2014/main" id="{5E9A7EE4-D872-4BD2-964F-113E2148CCCD}"/>
              </a:ext>
            </a:extLst>
          </p:cNvPr>
          <p:cNvSpPr>
            <a:spLocks noGrp="1"/>
          </p:cNvSpPr>
          <p:nvPr>
            <p:ph type="title"/>
          </p:nvPr>
        </p:nvSpPr>
        <p:spPr/>
        <p:txBody>
          <a:bodyPr/>
          <a:lstStyle/>
          <a:p>
            <a:r>
              <a:rPr lang="en-US" altLang="zh-TW" dirty="0" err="1"/>
              <a:t>NearLinear</a:t>
            </a:r>
            <a:endParaRPr lang="zh-TW" altLang="en-US" dirty="0"/>
          </a:p>
        </p:txBody>
      </p:sp>
      <p:sp>
        <p:nvSpPr>
          <p:cNvPr id="7" name="內容版面配置區 6">
            <a:extLst>
              <a:ext uri="{FF2B5EF4-FFF2-40B4-BE49-F238E27FC236}">
                <a16:creationId xmlns:a16="http://schemas.microsoft.com/office/drawing/2014/main" id="{A6CF2A86-61F5-4696-8EBC-B50DB3FD58AA}"/>
              </a:ext>
            </a:extLst>
          </p:cNvPr>
          <p:cNvSpPr>
            <a:spLocks noGrp="1"/>
          </p:cNvSpPr>
          <p:nvPr>
            <p:ph idx="1"/>
          </p:nvPr>
        </p:nvSpPr>
        <p:spPr/>
        <p:txBody>
          <a:bodyPr>
            <a:normAutofit fontScale="92500" lnSpcReduction="20000"/>
          </a:bodyPr>
          <a:lstStyle/>
          <a:p>
            <a:r>
              <a:rPr lang="en-US" altLang="zh-TW" dirty="0"/>
              <a:t>Find near-maximum independent sets in near-linear time</a:t>
            </a:r>
          </a:p>
          <a:p>
            <a:r>
              <a:rPr lang="en-US" altLang="zh-TW" dirty="0"/>
              <a:t>Reduction rule</a:t>
            </a:r>
          </a:p>
          <a:p>
            <a:pPr marL="914400" lvl="1" indent="-457200">
              <a:buFont typeface="+mj-lt"/>
              <a:buAutoNum type="arabicPeriod"/>
            </a:pPr>
            <a:r>
              <a:rPr lang="en-US" altLang="zh-TW" sz="2600" dirty="0"/>
              <a:t>Degree-two path reduction</a:t>
            </a:r>
          </a:p>
          <a:p>
            <a:pPr marL="914400" lvl="1" indent="-457200">
              <a:buFont typeface="+mj-lt"/>
              <a:buAutoNum type="arabicPeriod"/>
            </a:pPr>
            <a:r>
              <a:rPr lang="en-US" altLang="zh-TW" sz="2600" dirty="0"/>
              <a:t>Dominance reduction</a:t>
            </a:r>
          </a:p>
          <a:p>
            <a:pPr lvl="2"/>
            <a:r>
              <a:rPr lang="en-US" altLang="zh-TW" sz="2600" dirty="0"/>
              <a:t>Degree-one reduction</a:t>
            </a:r>
          </a:p>
          <a:p>
            <a:pPr marL="971550" lvl="1" indent="-514350">
              <a:buFont typeface="+mj-lt"/>
              <a:buAutoNum type="arabicPeriod"/>
            </a:pPr>
            <a:r>
              <a:rPr lang="en-US" altLang="zh-TW" sz="2600" dirty="0"/>
              <a:t>Inexact reduction</a:t>
            </a:r>
          </a:p>
          <a:p>
            <a:pPr marL="971550" lvl="1" indent="-514350">
              <a:buFont typeface="+mj-lt"/>
              <a:buAutoNum type="arabicPeriod"/>
            </a:pPr>
            <a:endParaRPr lang="en-US" altLang="zh-TW" sz="2800" dirty="0"/>
          </a:p>
          <a:p>
            <a:pPr lvl="2"/>
            <a:endParaRPr lang="en-US" altLang="zh-TW" sz="2400" dirty="0"/>
          </a:p>
          <a:p>
            <a:pPr marL="457200" lvl="1" indent="0">
              <a:buNone/>
            </a:pPr>
            <a:endParaRPr lang="en-US" altLang="zh-TW" dirty="0"/>
          </a:p>
          <a:p>
            <a:r>
              <a:rPr lang="en-US" altLang="zh-TW" dirty="0"/>
              <a:t>Time complexity</a:t>
            </a:r>
          </a:p>
          <a:p>
            <a:pPr lvl="1"/>
            <a:r>
              <a:rPr lang="en-US" altLang="zh-TW" sz="2600" i="1" dirty="0"/>
              <a:t>O</a:t>
            </a:r>
            <a:r>
              <a:rPr lang="en-US" altLang="zh-TW" sz="2600" dirty="0"/>
              <a:t>(</a:t>
            </a:r>
            <a:r>
              <a:rPr lang="en-US" altLang="zh-TW" sz="2600" i="1" dirty="0"/>
              <a:t>m </a:t>
            </a:r>
            <a:r>
              <a:rPr lang="en-US" altLang="zh-TW" sz="2600" dirty="0"/>
              <a:t>× </a:t>
            </a:r>
            <a:r>
              <a:rPr lang="el-GR" altLang="zh-TW" sz="2600" dirty="0"/>
              <a:t>Δ)</a:t>
            </a:r>
            <a:endParaRPr lang="en-US" altLang="zh-TW" sz="2600" dirty="0"/>
          </a:p>
          <a:p>
            <a:pPr lvl="2"/>
            <a:r>
              <a:rPr lang="en-US" altLang="zh-TW" sz="2600" dirty="0"/>
              <a:t>Δ is the maximum vertex degree</a:t>
            </a:r>
          </a:p>
        </p:txBody>
      </p:sp>
      <p:grpSp>
        <p:nvGrpSpPr>
          <p:cNvPr id="17" name="群組 16">
            <a:extLst>
              <a:ext uri="{FF2B5EF4-FFF2-40B4-BE49-F238E27FC236}">
                <a16:creationId xmlns:a16="http://schemas.microsoft.com/office/drawing/2014/main" id="{633F6E66-002E-45E8-BA0F-108D858A94D6}"/>
              </a:ext>
            </a:extLst>
          </p:cNvPr>
          <p:cNvGrpSpPr/>
          <p:nvPr/>
        </p:nvGrpSpPr>
        <p:grpSpPr>
          <a:xfrm>
            <a:off x="2540921" y="3842691"/>
            <a:ext cx="1455266" cy="590669"/>
            <a:chOff x="5368867" y="2323201"/>
            <a:chExt cx="1455266" cy="590669"/>
          </a:xfrm>
        </p:grpSpPr>
        <p:sp>
          <p:nvSpPr>
            <p:cNvPr id="3" name="橢圓 2">
              <a:extLst>
                <a:ext uri="{FF2B5EF4-FFF2-40B4-BE49-F238E27FC236}">
                  <a16:creationId xmlns:a16="http://schemas.microsoft.com/office/drawing/2014/main" id="{8ACC2141-02B8-405E-9FE3-FC14385D7DEE}"/>
                </a:ext>
              </a:extLst>
            </p:cNvPr>
            <p:cNvSpPr/>
            <p:nvPr/>
          </p:nvSpPr>
          <p:spPr>
            <a:xfrm>
              <a:off x="5525277" y="2733870"/>
              <a:ext cx="180000" cy="1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dirty="0"/>
            </a:p>
          </p:txBody>
        </p:sp>
        <p:sp>
          <p:nvSpPr>
            <p:cNvPr id="8" name="橢圓 7">
              <a:extLst>
                <a:ext uri="{FF2B5EF4-FFF2-40B4-BE49-F238E27FC236}">
                  <a16:creationId xmlns:a16="http://schemas.microsoft.com/office/drawing/2014/main" id="{FBEC7222-54E8-4B9A-833B-7D616CCF9F2F}"/>
                </a:ext>
              </a:extLst>
            </p:cNvPr>
            <p:cNvSpPr/>
            <p:nvPr/>
          </p:nvSpPr>
          <p:spPr>
            <a:xfrm>
              <a:off x="6219544" y="2733870"/>
              <a:ext cx="180000" cy="1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dirty="0"/>
            </a:p>
          </p:txBody>
        </p:sp>
        <p:cxnSp>
          <p:nvCxnSpPr>
            <p:cNvPr id="9" name="直線接點 8">
              <a:extLst>
                <a:ext uri="{FF2B5EF4-FFF2-40B4-BE49-F238E27FC236}">
                  <a16:creationId xmlns:a16="http://schemas.microsoft.com/office/drawing/2014/main" id="{C6444A4A-5C20-44F5-9C39-381F2A9D2346}"/>
                </a:ext>
              </a:extLst>
            </p:cNvPr>
            <p:cNvCxnSpPr>
              <a:cxnSpLocks/>
              <a:stCxn id="3" idx="6"/>
              <a:endCxn id="8" idx="2"/>
            </p:cNvCxnSpPr>
            <p:nvPr/>
          </p:nvCxnSpPr>
          <p:spPr>
            <a:xfrm>
              <a:off x="5705277" y="2823870"/>
              <a:ext cx="514267" cy="0"/>
            </a:xfrm>
            <a:prstGeom prst="line">
              <a:avLst/>
            </a:prstGeom>
          </p:spPr>
          <p:style>
            <a:lnRef idx="3">
              <a:schemeClr val="dk1"/>
            </a:lnRef>
            <a:fillRef idx="0">
              <a:schemeClr val="dk1"/>
            </a:fillRef>
            <a:effectRef idx="2">
              <a:schemeClr val="dk1"/>
            </a:effectRef>
            <a:fontRef idx="minor">
              <a:schemeClr val="tx1"/>
            </a:fontRef>
          </p:style>
        </p:cxnSp>
        <p:sp>
          <p:nvSpPr>
            <p:cNvPr id="11" name="文字方塊 10">
              <a:extLst>
                <a:ext uri="{FF2B5EF4-FFF2-40B4-BE49-F238E27FC236}">
                  <a16:creationId xmlns:a16="http://schemas.microsoft.com/office/drawing/2014/main" id="{F2A8F407-24A4-4EF9-A8F1-64B3C855A19C}"/>
                </a:ext>
              </a:extLst>
            </p:cNvPr>
            <p:cNvSpPr txBox="1"/>
            <p:nvPr/>
          </p:nvSpPr>
          <p:spPr>
            <a:xfrm>
              <a:off x="5368867" y="2323201"/>
              <a:ext cx="338554" cy="461665"/>
            </a:xfrm>
            <a:prstGeom prst="rect">
              <a:avLst/>
            </a:prstGeom>
            <a:noFill/>
          </p:spPr>
          <p:txBody>
            <a:bodyPr wrap="none" rtlCol="0">
              <a:spAutoFit/>
            </a:bodyPr>
            <a:lstStyle/>
            <a:p>
              <a:r>
                <a:rPr lang="en-US" altLang="zh-TW" sz="2400" i="1" dirty="0">
                  <a:latin typeface="Times New Roman" panose="02020603050405020304" pitchFamily="18" charset="0"/>
                  <a:cs typeface="Times New Roman" panose="02020603050405020304" pitchFamily="18" charset="0"/>
                </a:rPr>
                <a:t>u</a:t>
              </a:r>
            </a:p>
          </p:txBody>
        </p:sp>
        <p:sp>
          <p:nvSpPr>
            <p:cNvPr id="12" name="文字方塊 11">
              <a:extLst>
                <a:ext uri="{FF2B5EF4-FFF2-40B4-BE49-F238E27FC236}">
                  <a16:creationId xmlns:a16="http://schemas.microsoft.com/office/drawing/2014/main" id="{BB04A97E-55C6-49C2-B8B4-8622CCE0F092}"/>
                </a:ext>
              </a:extLst>
            </p:cNvPr>
            <p:cNvSpPr txBox="1"/>
            <p:nvPr/>
          </p:nvSpPr>
          <p:spPr>
            <a:xfrm>
              <a:off x="6056939" y="2323201"/>
              <a:ext cx="320922" cy="461665"/>
            </a:xfrm>
            <a:prstGeom prst="rect">
              <a:avLst/>
            </a:prstGeom>
            <a:noFill/>
          </p:spPr>
          <p:txBody>
            <a:bodyPr wrap="none" rtlCol="0">
              <a:spAutoFit/>
            </a:bodyPr>
            <a:lstStyle/>
            <a:p>
              <a:r>
                <a:rPr lang="en-US" altLang="zh-TW" sz="2400" i="1" dirty="0">
                  <a:latin typeface="Times New Roman" panose="02020603050405020304" pitchFamily="18" charset="0"/>
                  <a:cs typeface="Times New Roman" panose="02020603050405020304" pitchFamily="18" charset="0"/>
                </a:rPr>
                <a:t>v</a:t>
              </a:r>
            </a:p>
          </p:txBody>
        </p:sp>
        <p:cxnSp>
          <p:nvCxnSpPr>
            <p:cNvPr id="13" name="直線接點 12">
              <a:extLst>
                <a:ext uri="{FF2B5EF4-FFF2-40B4-BE49-F238E27FC236}">
                  <a16:creationId xmlns:a16="http://schemas.microsoft.com/office/drawing/2014/main" id="{50D977E8-E6D8-439F-BB0A-09FB56831A8D}"/>
                </a:ext>
              </a:extLst>
            </p:cNvPr>
            <p:cNvCxnSpPr>
              <a:cxnSpLocks/>
              <a:stCxn id="8" idx="6"/>
            </p:cNvCxnSpPr>
            <p:nvPr/>
          </p:nvCxnSpPr>
          <p:spPr>
            <a:xfrm>
              <a:off x="6399544" y="2823870"/>
              <a:ext cx="424589" cy="0"/>
            </a:xfrm>
            <a:prstGeom prst="line">
              <a:avLst/>
            </a:prstGeom>
          </p:spPr>
          <p:style>
            <a:lnRef idx="3">
              <a:schemeClr val="dk1"/>
            </a:lnRef>
            <a:fillRef idx="0">
              <a:schemeClr val="dk1"/>
            </a:fillRef>
            <a:effectRef idx="2">
              <a:schemeClr val="dk1"/>
            </a:effectRef>
            <a:fontRef idx="minor">
              <a:schemeClr val="tx1"/>
            </a:fontRef>
          </p:style>
        </p:cxnSp>
      </p:grpSp>
    </p:spTree>
    <p:extLst>
      <p:ext uri="{BB962C8B-B14F-4D97-AF65-F5344CB8AC3E}">
        <p14:creationId xmlns:p14="http://schemas.microsoft.com/office/powerpoint/2010/main" val="4253614092"/>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513</TotalTime>
  <Words>686</Words>
  <Application>Microsoft Office PowerPoint</Application>
  <PresentationFormat>寬螢幕</PresentationFormat>
  <Paragraphs>94</Paragraphs>
  <Slides>15</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15</vt:i4>
      </vt:variant>
    </vt:vector>
  </HeadingPairs>
  <TitlesOfParts>
    <vt:vector size="21" baseType="lpstr">
      <vt:lpstr>Arial</vt:lpstr>
      <vt:lpstr>Calibri</vt:lpstr>
      <vt:lpstr>Calibri Light</vt:lpstr>
      <vt:lpstr>Cambria Math</vt:lpstr>
      <vt:lpstr>Times New Roman</vt:lpstr>
      <vt:lpstr>Office 佈景主題</vt:lpstr>
      <vt:lpstr>Computing a Near-Maximum Independent Set in Linear Time  by Reducing-Peeling</vt:lpstr>
      <vt:lpstr>Abstract</vt:lpstr>
      <vt:lpstr>Abstract (cont.)</vt:lpstr>
      <vt:lpstr>Abstract (cont.)</vt:lpstr>
      <vt:lpstr>Reducing-Peeling Framework</vt:lpstr>
      <vt:lpstr>Reduction Rules</vt:lpstr>
      <vt:lpstr>BDOne</vt:lpstr>
      <vt:lpstr>BDTwo</vt:lpstr>
      <vt:lpstr>Degree-two Cycle Reductions</vt:lpstr>
      <vt:lpstr>Degree-two Path Reductions</vt:lpstr>
      <vt:lpstr>Degree-two Path Reductions (cont.)</vt:lpstr>
      <vt:lpstr>Degree-two Path Reductions(cont.)</vt:lpstr>
      <vt:lpstr>LinearTime</vt:lpstr>
      <vt:lpstr>Dominance Reduction</vt:lpstr>
      <vt:lpstr>NearLinear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Computing a Near-Maximum Independent Set in Linear Time by Reducing-Peeling</dc:title>
  <dc:creator>Ting B</dc:creator>
  <cp:lastModifiedBy>Ting B</cp:lastModifiedBy>
  <cp:revision>20</cp:revision>
  <dcterms:created xsi:type="dcterms:W3CDTF">2021-10-09T07:23:00Z</dcterms:created>
  <dcterms:modified xsi:type="dcterms:W3CDTF">2021-10-13T09:11:37Z</dcterms:modified>
</cp:coreProperties>
</file>