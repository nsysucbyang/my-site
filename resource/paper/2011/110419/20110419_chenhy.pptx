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2" r:id="rId4"/>
    <p:sldId id="273" r:id="rId5"/>
    <p:sldId id="266" r:id="rId6"/>
    <p:sldId id="269" r:id="rId7"/>
    <p:sldId id="276" r:id="rId8"/>
    <p:sldId id="280" r:id="rId9"/>
    <p:sldId id="274" r:id="rId10"/>
    <p:sldId id="265" r:id="rId11"/>
    <p:sldId id="281" r:id="rId12"/>
    <p:sldId id="282" r:id="rId13"/>
    <p:sldId id="283" r:id="rId14"/>
    <p:sldId id="284" r:id="rId15"/>
    <p:sldId id="285" r:id="rId16"/>
    <p:sldId id="262" r:id="rId17"/>
    <p:sldId id="278" r:id="rId18"/>
    <p:sldId id="286" r:id="rId19"/>
    <p:sldId id="287" r:id="rId20"/>
    <p:sldId id="279" r:id="rId21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1784" autoAdjust="0"/>
  </p:normalViewPr>
  <p:slideViewPr>
    <p:cSldViewPr>
      <p:cViewPr varScale="1">
        <p:scale>
          <a:sx n="107" d="100"/>
          <a:sy n="107" d="100"/>
        </p:scale>
        <p:origin x="-78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EA5F3-94E4-4F7A-AC07-FCE66639B35A}" type="datetimeFigureOut">
              <a:rPr lang="zh-TW" altLang="en-US" smtClean="0"/>
              <a:t>2011/4/19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5A31A-74A8-4798-85F1-ED8970345F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301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1. Find</a:t>
                </a:r>
                <a:r>
                  <a:rPr lang="en-US" altLang="zh-TW" baseline="0" dirty="0" smtClean="0"/>
                  <a:t> a longest almost-increasing subsequence whose largest element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baseline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baseline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b="0" i="1" baseline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1. Find</a:t>
                </a:r>
                <a:r>
                  <a:rPr lang="en-US" altLang="zh-TW" baseline="0" dirty="0" smtClean="0"/>
                  <a:t> a longest almost-increasing subsequence whose largest element is </a:t>
                </a:r>
                <a:r>
                  <a:rPr lang="en-US" altLang="zh-TW" b="0" i="0" baseline="0" smtClean="0">
                    <a:latin typeface="Cambria Math"/>
                  </a:rPr>
                  <a:t>𝑥_𝑖</a:t>
                </a:r>
                <a:r>
                  <a:rPr lang="en-US" altLang="zh-TW" dirty="0" smtClean="0"/>
                  <a:t>.</a:t>
                </a:r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194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先講動機</a:t>
            </a:r>
            <a:endParaRPr lang="en-US" altLang="zh-TW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en-US" altLang="zh-TW" dirty="0" smtClean="0"/>
              <a:t>2. There are applications where the data items have a small amount of noise.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1944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A87D0A-8D72-4A12-B6F4-2D70E9050589}" type="datetimeFigureOut">
              <a:rPr lang="zh-TW" altLang="en-US"/>
              <a:pPr>
                <a:defRPr/>
              </a:pPr>
              <a:t>2011/4/19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4CF82-A9AE-4268-9497-FFC67A3ADAA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1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304AF-B224-4445-9AE4-B7650C7B3616}" type="datetimeFigureOut">
              <a:rPr lang="zh-TW" altLang="en-US"/>
              <a:pPr>
                <a:defRPr/>
              </a:pPr>
              <a:t>2011/4/19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2FDB3-9A8C-4355-8F1B-1FD935E6DAE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0150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8DB94C-87E5-4077-BC91-73AF7E8169C3}" type="datetimeFigureOut">
              <a:rPr lang="zh-TW" altLang="en-US"/>
              <a:pPr>
                <a:defRPr/>
              </a:pPr>
              <a:t>2011/4/19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7E59EC-7354-4DDD-9A8A-310C296ACDE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91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10FB1-0584-4237-8E45-15165FF7CB9F}" type="datetimeFigureOut">
              <a:rPr lang="zh-TW" altLang="en-US"/>
              <a:pPr>
                <a:defRPr/>
              </a:pPr>
              <a:t>2011/4/19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5203F-7F56-456C-9DFC-64E25C44A7B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98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B2774-9042-48AC-B3CE-D46C5BDDDE0D}" type="datetimeFigureOut">
              <a:rPr lang="zh-TW" altLang="en-US"/>
              <a:pPr>
                <a:defRPr/>
              </a:pPr>
              <a:t>2011/4/19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E3F07-97A7-4CEE-B190-0EAA322A0DC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58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7D4F32-C364-42C1-BF55-D8FDA76BAE3B}" type="datetimeFigureOut">
              <a:rPr lang="zh-TW" altLang="en-US"/>
              <a:pPr>
                <a:defRPr/>
              </a:pPr>
              <a:t>2011/4/19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A6D154-E159-48B9-A6F3-81EB04F3AB5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91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CDC56-C89D-4BE5-A649-0F8DEB867E2F}" type="datetimeFigureOut">
              <a:rPr lang="zh-TW" altLang="en-US"/>
              <a:pPr>
                <a:defRPr/>
              </a:pPr>
              <a:t>2011/4/19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24784-AD13-4080-BFAC-BA75534B03C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855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742AE-97D1-4875-8D42-3FF228F75098}" type="datetimeFigureOut">
              <a:rPr lang="zh-TW" altLang="en-US"/>
              <a:pPr>
                <a:defRPr/>
              </a:pPr>
              <a:t>2011/4/19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585D6-6A74-4F5F-A10A-39A26C80B83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94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B01E2E-6A5F-4CA5-908E-A19C356BF55C}" type="datetimeFigureOut">
              <a:rPr lang="zh-TW" altLang="en-US"/>
              <a:pPr>
                <a:defRPr/>
              </a:pPr>
              <a:t>2011/4/19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0A074-4C14-4B45-944F-53D0B7706B9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826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8F2A4D-44B9-4DBC-836F-FD98F3AF9BFF}" type="datetimeFigureOut">
              <a:rPr lang="zh-TW" altLang="en-US"/>
              <a:pPr>
                <a:defRPr/>
              </a:pPr>
              <a:t>2011/4/19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CA295C-7F92-4711-840D-EE26E104FC6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311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19B6A-84D4-4391-B7E5-706DC8F093D5}" type="datetimeFigureOut">
              <a:rPr lang="zh-TW" altLang="en-US"/>
              <a:pPr>
                <a:defRPr/>
              </a:pPr>
              <a:t>2011/4/19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F181AC-B57B-4E63-A225-FD07A1E9EC5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6833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08C5AD4-FB66-4C86-AB8D-D984E889BCC6}" type="datetimeFigureOut">
              <a:rPr lang="zh-TW" altLang="en-US"/>
              <a:pPr>
                <a:defRPr/>
              </a:pPr>
              <a:t>2011/4/19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0EDE5FD-EEE6-40C5-AF40-54426C020AF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1"/>
          <p:cNvSpPr>
            <a:spLocks noGrp="1"/>
          </p:cNvSpPr>
          <p:nvPr>
            <p:ph type="ctrTitle"/>
          </p:nvPr>
        </p:nvSpPr>
        <p:spPr>
          <a:xfrm>
            <a:off x="395536" y="692150"/>
            <a:ext cx="8424936" cy="4681066"/>
          </a:xfrm>
        </p:spPr>
        <p:txBody>
          <a:bodyPr/>
          <a:lstStyle/>
          <a:p>
            <a:pPr eaLnBrk="1" hangingPunct="1"/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 time-efficient pattern reduction algorithm for k-means clustering</a:t>
            </a:r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3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sz="3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30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Ming-Chao </a:t>
            </a:r>
            <a:r>
              <a:rPr lang="en-US" altLang="zh-TW" sz="30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Chiang, </a:t>
            </a:r>
            <a:r>
              <a:rPr lang="en-US" altLang="zh-TW" sz="30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Chun-Wei </a:t>
            </a:r>
            <a:r>
              <a:rPr lang="en-US" altLang="zh-TW" sz="30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Tsai, </a:t>
            </a:r>
            <a:r>
              <a:rPr lang="en-US" altLang="zh-TW" sz="30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Chu-Sing </a:t>
            </a:r>
            <a:r>
              <a:rPr lang="en-US" altLang="zh-TW" sz="30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Yang</a:t>
            </a:r>
            <a:r>
              <a:rPr lang="en-US" altLang="zh-TW" sz="3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sz="3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3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sz="3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22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Information Sciences, </a:t>
            </a:r>
            <a:r>
              <a:rPr lang="en-US" altLang="zh-TW" sz="2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Vol. </a:t>
            </a:r>
            <a:r>
              <a:rPr lang="en-US" altLang="zh-TW" sz="22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181, </a:t>
            </a:r>
            <a:r>
              <a:rPr lang="en-US" altLang="zh-TW" sz="2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pp. </a:t>
            </a:r>
            <a:r>
              <a:rPr lang="en-US" altLang="zh-TW" sz="2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716-731, 2011.</a:t>
            </a:r>
            <a:endParaRPr lang="zh-TW" altLang="en-US" sz="2200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2051" name="副標題 2"/>
          <p:cNvSpPr>
            <a:spLocks noGrp="1"/>
          </p:cNvSpPr>
          <p:nvPr>
            <p:ph type="subTitle" idx="1"/>
          </p:nvPr>
        </p:nvSpPr>
        <p:spPr>
          <a:xfrm>
            <a:off x="1331913" y="5013176"/>
            <a:ext cx="6400800" cy="1008112"/>
          </a:xfrm>
        </p:spPr>
        <p:txBody>
          <a:bodyPr/>
          <a:lstStyle/>
          <a:p>
            <a:pPr algn="r" eaLnBrk="1" hangingPunct="1"/>
            <a:endParaRPr lang="en-US" altLang="zh-TW" sz="2000" dirty="0" smtClean="0">
              <a:solidFill>
                <a:schemeClr val="tx1"/>
              </a:solidFill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  <a:p>
            <a:pPr algn="r" eaLnBrk="1" hangingPunct="1"/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Presenter: Hong-Yu Chen</a:t>
            </a:r>
          </a:p>
          <a:p>
            <a:pPr algn="r" eaLnBrk="1" hangingPunct="1"/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Date: 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April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19, 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2011</a:t>
            </a:r>
            <a:endParaRPr lang="zh-TW" altLang="en-US" sz="2000" dirty="0" smtClean="0">
              <a:solidFill>
                <a:schemeClr val="tx1"/>
              </a:solidFill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Abstract (1/3)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This paper presents an efficient algorithm, called pattern reduction (PR), for reducing the computation time of k-means and k-means-based clustering algorithms. The proposed algorithm works by compressing and removing at each iteration patterns that are unlikely to change their membership thereafter.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Abstract (2/3)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Not only is the proposed algorithm simple and easy to implement, but it can also be applied to many other iterative clustering algorithms such as kernel-based and population-based clustering algorithms.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58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Abstract (3/3)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Our experiments—from 2 </a:t>
            </a:r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to 1000 </a:t>
            </a:r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dimensions and 150 to 10,000,000 patterns—indicate that with a small loss of quality</a:t>
            </a:r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, the </a:t>
            </a:r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proposed algorithm can significantly reduce the computation time of all </a:t>
            </a:r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state-of-the-art clustering </a:t>
            </a:r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algorithms evaluated in this paper, especially for large and </a:t>
            </a:r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high-dimensional data </a:t>
            </a:r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sets.</a:t>
            </a:r>
            <a:endParaRPr lang="zh-TW" altLang="en-US" dirty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96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K-means 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clustering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endParaRPr lang="en-US" altLang="zh-TW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1027" name="Picture 3" descr="D:\pplab\paper\110419\197px-K_Means_Example_Step_1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03" y="2843386"/>
            <a:ext cx="1876425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pplab\paper\110419\197px-K_Means_Example_Step_2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889870"/>
            <a:ext cx="187642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D:\pplab\paper\110419\197px-K_Means_Example_Step_3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889870"/>
            <a:ext cx="187642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:\pplab\paper\110419\197px-K_Means_Example_Step_4.sv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2889870"/>
            <a:ext cx="187642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12776"/>
            <a:ext cx="3672408" cy="109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150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Limitations of k-means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Scalability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–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relational k-means</a:t>
            </a:r>
          </a:p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Initial means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–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random sampling</a:t>
            </a:r>
          </a:p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Noise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–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detection</a:t>
            </a:r>
          </a:p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Number of clusters – X-means</a:t>
            </a:r>
          </a:p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Local minima – GKA</a:t>
            </a:r>
          </a:p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Inability of cluster non-linearly separable data set – kernel k-means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58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Initial means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86" y="1226352"/>
            <a:ext cx="4560738" cy="321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3321" y="3212976"/>
            <a:ext cx="4911167" cy="3473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516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116632"/>
            <a:ext cx="4536504" cy="328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0094" y="1196752"/>
            <a:ext cx="4506402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452" y="3444821"/>
            <a:ext cx="4550668" cy="3296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983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Pattern reduction (PR) algorithm (1/2)</a:t>
            </a:r>
            <a:endParaRPr lang="zh-TW" altLang="en-US" sz="40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484784"/>
            <a:ext cx="6480720" cy="2044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807" y="3717032"/>
            <a:ext cx="6873577" cy="2703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774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 sz="40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Pattern reduction (PR) algorithm (2/2)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Generation of a better initial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solution</a:t>
            </a:r>
          </a:p>
          <a:p>
            <a:pPr lvl="1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Random sampling</a:t>
            </a: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Pattern compression and removal (PCR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Removal bound: 80%</a:t>
            </a: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Pattern assignment and mean update (PAMU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Applying PR to k-means-based algorithms</a:t>
            </a: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985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04392"/>
            <a:ext cx="8830166" cy="3696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257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Convergence process of k-means with 579 patterns</a:t>
            </a:r>
            <a:endParaRPr lang="zh-TW" alt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1384895"/>
            <a:ext cx="7658100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9198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Time to start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Start the PR algorithm at iteration 2. (faster)</a:t>
            </a:r>
            <a:endParaRPr lang="en-US" altLang="zh-TW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Compare the current SSE with the previous one. (ex. threshold = 0.3)</a:t>
            </a:r>
          </a:p>
          <a:p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When a large number of patterns remain in the same group. (ex. threshold = n/2, # of iterations = 3)</a:t>
            </a:r>
            <a:endParaRPr lang="zh-TW" altLang="en-US" sz="28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077072"/>
            <a:ext cx="835342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9198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Removal strategy (1/2)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Utilize the mean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solidFill>
                          <a:srgbClr val="FF0000"/>
                        </a:solidFill>
                        <a:latin typeface="Cambria Math"/>
                        <a:cs typeface="Times New Roman" pitchFamily="18" charset="0"/>
                      </a:rPr>
                      <m:t>𝜇</m:t>
                    </m:r>
                  </m:oMath>
                </a14:m>
                <a:r>
                  <a:rPr lang="zh-TW" altLang="en-US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and standard deviation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solidFill>
                          <a:srgbClr val="FF0000"/>
                        </a:solidFill>
                        <a:latin typeface="Cambria Math"/>
                        <a:cs typeface="Times New Roman" pitchFamily="18" charset="0"/>
                      </a:rPr>
                      <m:t>𝜎</m:t>
                    </m:r>
                  </m:oMath>
                </a14:m>
                <a:r>
                  <a:rPr lang="zh-TW" altLang="en-US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of the distances of patterns in a cluster to their cluster center to locate and remove patterns that are among the top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solidFill>
                          <a:srgbClr val="FF0000"/>
                        </a:solidFill>
                        <a:latin typeface="Cambria Math"/>
                        <a:cs typeface="Times New Roman" pitchFamily="18" charset="0"/>
                      </a:rPr>
                      <m:t>𝛼</m:t>
                    </m:r>
                    <m:r>
                      <a:rPr lang="en-US" altLang="zh-TW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%</m:t>
                    </m:r>
                  </m:oMath>
                </a14:m>
                <a:r>
                  <a:rPr lang="zh-TW" altLang="en-US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near the cluster center. (</a:t>
                </a:r>
                <a14:m>
                  <m:oMath xmlns:m="http://schemas.openxmlformats.org/officeDocument/2006/math">
                    <m:r>
                      <a:rPr lang="zh-TW" altLang="en-US" i="1">
                        <a:solidFill>
                          <a:srgbClr val="FF0000"/>
                        </a:solidFill>
                        <a:latin typeface="Cambria Math"/>
                        <a:cs typeface="Times New Roman" pitchFamily="18" charset="0"/>
                      </a:rPr>
                      <m:t>𝛼</m:t>
                    </m:r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= 50)</a:t>
                </a:r>
              </a:p>
              <a:p>
                <a:r>
                  <a:rPr lang="en-US" altLang="zh-TW" dirty="0" smtClean="0">
                    <a:latin typeface="Times New Roman" pitchFamily="18" charset="0"/>
                    <a:cs typeface="Times New Roman" pitchFamily="18" charset="0"/>
                  </a:rPr>
                  <a:t>Remove patterns that remain in the same cluster for a certain number of iterations in a row. (# of iterations = 3)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630" t="-1887" r="-1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9198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Removal strategy (2/2)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2204864"/>
            <a:ext cx="8391525" cy="233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429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Experiment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Apply PR to</a:t>
            </a:r>
          </a:p>
          <a:p>
            <a:pPr lvl="1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Standard k-means</a:t>
            </a:r>
          </a:p>
          <a:p>
            <a:pPr lvl="1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Relation k-means</a:t>
            </a:r>
          </a:p>
          <a:p>
            <a:pPr lvl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Triangle inequality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k-means</a:t>
            </a:r>
            <a:endParaRPr lang="en-US" altLang="zh-TW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lvl="1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Kernel k-means</a:t>
            </a:r>
          </a:p>
          <a:p>
            <a:pPr lvl="1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Genetic k-means</a:t>
            </a: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32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Data sets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628800"/>
            <a:ext cx="8353425" cy="401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560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Experimental results of small and high-dimensional data sets</a:t>
            </a:r>
            <a:endParaRPr lang="zh-TW" altLang="en-US" sz="36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45" y="1541414"/>
            <a:ext cx="993651" cy="735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307729"/>
            <a:ext cx="563880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055" y="2636912"/>
            <a:ext cx="4391025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2996952"/>
            <a:ext cx="8372475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582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Experimental results of real and large data sets</a:t>
            </a:r>
            <a:endParaRPr lang="zh-TW" altLang="en-US" sz="3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052736"/>
            <a:ext cx="8391525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3284984"/>
            <a:ext cx="8439150" cy="352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375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Conclusion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Time complexity</a:t>
                </a:r>
                <a:r>
                  <a:rPr lang="en-US" altLang="zh-TW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: </a:t>
                </a:r>
                <a:endParaRPr lang="en-US" altLang="zh-TW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:pPr lvl="1"/>
                <a:r>
                  <a:rPr lang="en-US" altLang="zh-TW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somewhere </a:t>
                </a:r>
                <a:r>
                  <a:rPr lang="en-US" altLang="zh-TW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between O(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𝑛𝑘𝑑</m:t>
                    </m:r>
                  </m:oMath>
                </a14:m>
                <a:r>
                  <a:rPr lang="en-US" altLang="zh-TW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) and </a:t>
                </a:r>
                <a:r>
                  <a:rPr lang="en-US" altLang="zh-TW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O(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𝑛𝑘𝑑</m:t>
                    </m:r>
                    <m:r>
                      <a:rPr lang="en-US" altLang="zh-TW" b="0" i="1" dirty="0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𝑙</m:t>
                    </m:r>
                  </m:oMath>
                </a14:m>
                <a:r>
                  <a:rPr lang="en-US" altLang="zh-TW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)</a:t>
                </a:r>
                <a:endParaRPr lang="en-US" altLang="zh-TW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:r>
                  <a:rPr lang="en-US" altLang="zh-TW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Underway to apply the proposed algorithm to other clustering algorithms.</a:t>
                </a:r>
                <a:endParaRPr lang="zh-TW" altLang="en-US" dirty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361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27794</TotalTime>
  <Words>498</Words>
  <Application>Microsoft Office PowerPoint</Application>
  <PresentationFormat>如螢幕大小 (4:3)</PresentationFormat>
  <Paragraphs>71</Paragraphs>
  <Slides>20</Slides>
  <Notes>15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1" baseType="lpstr">
      <vt:lpstr>Office 佈景主題</vt:lpstr>
      <vt:lpstr>A time-efficient pattern reduction algorithm for k-means clustering  Ming-Chao Chiang, Chun-Wei Tsai, Chu-Sing Yang  Information Sciences, Vol. 181, pp. 716-731, 2011.</vt:lpstr>
      <vt:lpstr>Abstract (1/3)</vt:lpstr>
      <vt:lpstr>Abstract (2/3)</vt:lpstr>
      <vt:lpstr>Abstract (3/3)</vt:lpstr>
      <vt:lpstr>K-means clustering</vt:lpstr>
      <vt:lpstr>Limitations of k-means</vt:lpstr>
      <vt:lpstr>Initial means</vt:lpstr>
      <vt:lpstr>PowerPoint 簡報</vt:lpstr>
      <vt:lpstr>Pattern reduction (PR) algorithm (1/2)</vt:lpstr>
      <vt:lpstr>Pattern reduction (PR) algorithm (2/2)</vt:lpstr>
      <vt:lpstr>Example</vt:lpstr>
      <vt:lpstr>Convergence process of k-means with 579 patterns</vt:lpstr>
      <vt:lpstr>Time to start</vt:lpstr>
      <vt:lpstr>Removal strategy (1/2)</vt:lpstr>
      <vt:lpstr>Removal strategy (2/2)</vt:lpstr>
      <vt:lpstr>Experiment</vt:lpstr>
      <vt:lpstr>Data sets</vt:lpstr>
      <vt:lpstr>Experimental results of small and high-dimensional data sets</vt:lpstr>
      <vt:lpstr>Experimental results of real and large data sets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Hong-Yu Chen</dc:creator>
  <cp:lastModifiedBy>Hong-Yu Chen</cp:lastModifiedBy>
  <cp:revision>226</cp:revision>
  <dcterms:created xsi:type="dcterms:W3CDTF">2010-10-17T09:22:10Z</dcterms:created>
  <dcterms:modified xsi:type="dcterms:W3CDTF">2011-04-19T10:20:08Z</dcterms:modified>
</cp:coreProperties>
</file>