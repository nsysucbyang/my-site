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bin" ContentType="application/vnd.openxmlformats-officedocument.oleObject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67" r:id="rId2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clrMru>
    <a:srgbClr val="CC99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7" autoAdjust="0"/>
    <p:restoredTop sz="94660"/>
  </p:normalViewPr>
  <p:slideViewPr>
    <p:cSldViewPr>
      <p:cViewPr>
        <p:scale>
          <a:sx n="100" d="100"/>
          <a:sy n="100" d="100"/>
        </p:scale>
        <p:origin x="-72" y="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-3870" y="-102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F6BFC2-2341-4398-A2B1-2832265BDCE8}" type="datetimeFigureOut">
              <a:rPr lang="zh-TW" altLang="en-US" smtClean="0"/>
              <a:pPr/>
              <a:t>2011/12/26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830CE-8043-4104-8B69-CC3ADE173B0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17" name="副標題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30" name="日期版面配置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1pPr>
          </a:lstStyle>
          <a:p>
            <a:fld id="{58930D72-1038-48C3-9962-56D9F1950A5B}" type="datetimeFigureOut">
              <a:rPr lang="zh-TW" altLang="en-US" smtClean="0"/>
              <a:pPr/>
              <a:t>2011/12/26</a:t>
            </a:fld>
            <a:endParaRPr lang="zh-TW" altLang="en-US"/>
          </a:p>
        </p:txBody>
      </p:sp>
      <p:sp>
        <p:nvSpPr>
          <p:cNvPr id="19" name="頁尾版面配置區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1pPr>
          </a:lstStyle>
          <a:p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1pPr>
          </a:lstStyle>
          <a:p>
            <a:fld id="{4528765C-DAD9-4D6A-A1DD-18793253CD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>
            <a:normAutofit/>
          </a:bodyPr>
          <a:lstStyle>
            <a:lvl1pPr>
              <a:defRPr sz="4400">
                <a:latin typeface="+mj-lt"/>
                <a:ea typeface="標楷體" pitchFamily="65" charset="-120"/>
                <a:cs typeface="Times New Roman" pitchFamily="18" charset="0"/>
              </a:defRPr>
            </a:lvl1pPr>
          </a:lstStyle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911824"/>
          </a:xfrm>
        </p:spPr>
        <p:txBody>
          <a:bodyPr/>
          <a:lstStyle>
            <a:lvl1pPr>
              <a:defRPr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1pPr>
            <a:lvl2pPr>
              <a:defRPr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2pPr>
            <a:lvl3pPr>
              <a:defRPr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3pPr>
            <a:lvl4pPr>
              <a:defRPr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4pPr>
            <a:lvl5pPr>
              <a:defRPr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5pPr>
          </a:lstStyle>
          <a:p>
            <a:pPr lvl="0" eaLnBrk="1" latinLnBrk="0" hangingPunct="1"/>
            <a:r>
              <a:rPr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lang="zh-TW" altLang="en-US" dirty="0" smtClean="0"/>
              <a:t>第二層</a:t>
            </a:r>
          </a:p>
          <a:p>
            <a:pPr lvl="2" eaLnBrk="1" latinLnBrk="0" hangingPunct="1"/>
            <a:r>
              <a:rPr lang="zh-TW" altLang="en-US" dirty="0" smtClean="0"/>
              <a:t>第三層</a:t>
            </a:r>
          </a:p>
          <a:p>
            <a:pPr lvl="3" eaLnBrk="1" latinLnBrk="0" hangingPunct="1"/>
            <a:r>
              <a:rPr lang="zh-TW" altLang="en-US" dirty="0" smtClean="0"/>
              <a:t>第四層</a:t>
            </a:r>
          </a:p>
          <a:p>
            <a:pPr lvl="4" eaLnBrk="1" latinLnBrk="0" hangingPunct="1"/>
            <a:r>
              <a:rPr lang="zh-TW" altLang="en-US" dirty="0" smtClean="0"/>
              <a:t>第五層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30D72-1038-48C3-9962-56D9F1950A5B}" type="datetimeFigureOut">
              <a:rPr lang="zh-TW" altLang="en-US" smtClean="0"/>
              <a:pPr/>
              <a:t>2011/12/26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8765C-DAD9-4D6A-A1DD-18793253CD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30D72-1038-48C3-9962-56D9F1950A5B}" type="datetimeFigureOut">
              <a:rPr lang="zh-TW" altLang="en-US" smtClean="0"/>
              <a:pPr/>
              <a:t>2011/12/26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8765C-DAD9-4D6A-A1DD-18793253CD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30D72-1038-48C3-9962-56D9F1950A5B}" type="datetimeFigureOut">
              <a:rPr lang="zh-TW" altLang="en-US" smtClean="0"/>
              <a:pPr/>
              <a:t>2011/12/26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8765C-DAD9-4D6A-A1DD-18793253CD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30D72-1038-48C3-9962-56D9F1950A5B}" type="datetimeFigureOut">
              <a:rPr lang="zh-TW" altLang="en-US" smtClean="0"/>
              <a:pPr/>
              <a:t>2011/12/26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8765C-DAD9-4D6A-A1DD-18793253CD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30D72-1038-48C3-9962-56D9F1950A5B}" type="datetimeFigureOut">
              <a:rPr lang="zh-TW" altLang="en-US" smtClean="0"/>
              <a:pPr/>
              <a:t>2011/12/26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8765C-DAD9-4D6A-A1DD-18793253CD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30D72-1038-48C3-9962-56D9F1950A5B}" type="datetimeFigureOut">
              <a:rPr lang="zh-TW" altLang="en-US" smtClean="0"/>
              <a:pPr/>
              <a:t>2011/12/26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8765C-DAD9-4D6A-A1DD-18793253CD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30D72-1038-48C3-9962-56D9F1950A5B}" type="datetimeFigureOut">
              <a:rPr lang="zh-TW" altLang="en-US" smtClean="0"/>
              <a:pPr/>
              <a:t>2011/12/26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8765C-DAD9-4D6A-A1DD-18793253CD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剪去並圓角化單一角落矩形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直角三角形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30D72-1038-48C3-9962-56D9F1950A5B}" type="datetimeFigureOut">
              <a:rPr lang="zh-TW" altLang="en-US" smtClean="0"/>
              <a:pPr/>
              <a:t>2011/12/26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4528765C-DAD9-4D6A-A1DD-18793253CD8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10" name="手繪多邊形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手繪多邊形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30D72-1038-48C3-9962-56D9F1950A5B}" type="datetimeFigureOut">
              <a:rPr lang="zh-TW" altLang="en-US" smtClean="0"/>
              <a:pPr/>
              <a:t>2011/12/26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8765C-DAD9-4D6A-A1DD-18793253CD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30D72-1038-48C3-9962-56D9F1950A5B}" type="datetimeFigureOut">
              <a:rPr lang="zh-TW" altLang="en-US" smtClean="0"/>
              <a:pPr/>
              <a:t>2011/12/26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8765C-DAD9-4D6A-A1DD-18793253CD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手繪多邊形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標楷體" pitchFamily="65" charset="-12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8" name="手繪多邊形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標楷體" pitchFamily="65" charset="-12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9" name="標題版面配置區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0" name="文字版面配置區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smtClean="0"/>
              <a:t>第二層</a:t>
            </a:r>
          </a:p>
          <a:p>
            <a:pPr lvl="2" eaLnBrk="1" latinLnBrk="0" hangingPunct="1"/>
            <a:r>
              <a:rPr kumimoji="0" lang="zh-TW" altLang="en-US" smtClean="0"/>
              <a:t>第三層</a:t>
            </a:r>
          </a:p>
          <a:p>
            <a:pPr lvl="3" eaLnBrk="1" latinLnBrk="0" hangingPunct="1"/>
            <a:r>
              <a:rPr kumimoji="0" lang="zh-TW" altLang="en-US" smtClean="0"/>
              <a:t>第四層</a:t>
            </a:r>
          </a:p>
          <a:p>
            <a:pPr lvl="4" eaLnBrk="1" latinLnBrk="0" hangingPunct="1"/>
            <a:r>
              <a:rPr kumimoji="0" lang="zh-TW" altLang="en-US" smtClean="0"/>
              <a:t>第五層</a:t>
            </a:r>
            <a:endParaRPr kumimoji="0" lang="en-US"/>
          </a:p>
        </p:txBody>
      </p:sp>
      <p:sp>
        <p:nvSpPr>
          <p:cNvPr id="10" name="日期版面配置區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1pPr>
          </a:lstStyle>
          <a:p>
            <a:fld id="{58930D72-1038-48C3-9962-56D9F1950A5B}" type="datetimeFigureOut">
              <a:rPr lang="zh-TW" altLang="en-US" smtClean="0"/>
              <a:pPr/>
              <a:t>2011/12/26</a:t>
            </a:fld>
            <a:endParaRPr lang="zh-TW" altLang="en-US"/>
          </a:p>
        </p:txBody>
      </p:sp>
      <p:sp>
        <p:nvSpPr>
          <p:cNvPr id="22" name="頁尾版面配置區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1pPr>
          </a:lstStyle>
          <a:p>
            <a:endParaRPr lang="zh-TW" altLang="en-US"/>
          </a:p>
        </p:txBody>
      </p:sp>
      <p:sp>
        <p:nvSpPr>
          <p:cNvPr id="18" name="投影片編號版面配置區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1pPr>
          </a:lstStyle>
          <a:p>
            <a:fld id="{4528765C-DAD9-4D6A-A1DD-18793253CD8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grpSp>
        <p:nvGrpSpPr>
          <p:cNvPr id="2" name="群組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手繪多邊形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>
                <a:latin typeface="標楷體" pitchFamily="65" charset="-12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13" name="手繪多邊形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>
                <a:latin typeface="標楷體" pitchFamily="65" charset="-120"/>
                <a:ea typeface="標楷體" pitchFamily="65" charset="-120"/>
                <a:cs typeface="Times New Roman" pitchFamily="18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標楷體" pitchFamily="65" charset="-120"/>
          <a:ea typeface="標楷體" pitchFamily="65" charset="-120"/>
          <a:cs typeface="Times New Roman" pitchFamily="18" charset="0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標楷體" pitchFamily="65" charset="-120"/>
          <a:ea typeface="標楷體" pitchFamily="65" charset="-120"/>
          <a:cs typeface="Times New Roman" pitchFamily="18" charset="0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標楷體" pitchFamily="65" charset="-120"/>
          <a:ea typeface="標楷體" pitchFamily="65" charset="-120"/>
          <a:cs typeface="Times New Roman" pitchFamily="18" charset="0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標楷體" pitchFamily="65" charset="-120"/>
          <a:ea typeface="標楷體" pitchFamily="65" charset="-120"/>
          <a:cs typeface="Times New Roman" pitchFamily="18" charset="0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標楷體" pitchFamily="65" charset="-120"/>
          <a:ea typeface="標楷體" pitchFamily="65" charset="-120"/>
          <a:cs typeface="Times New Roman" pitchFamily="18" charset="0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標楷體" pitchFamily="65" charset="-120"/>
          <a:ea typeface="標楷體" pitchFamily="65" charset="-120"/>
          <a:cs typeface="Times New Roman" pitchFamily="18" charset="0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620688"/>
            <a:ext cx="9144000" cy="864096"/>
          </a:xfrm>
        </p:spPr>
        <p:txBody>
          <a:bodyPr>
            <a:normAutofit/>
          </a:bodyPr>
          <a:lstStyle/>
          <a:p>
            <a:pPr algn="ctr"/>
            <a:r>
              <a:rPr lang="en-US" altLang="zh-TW" sz="3600" dirty="0" smtClean="0">
                <a:solidFill>
                  <a:schemeClr val="tx2">
                    <a:satMod val="130000"/>
                  </a:schemeClr>
                </a:solidFill>
                <a:effectLst/>
                <a:latin typeface="Times New Roman" pitchFamily="18" charset="0"/>
              </a:rPr>
              <a:t>The wide window string matching algorithm</a:t>
            </a:r>
            <a:endParaRPr lang="zh-TW" altLang="en-US" sz="3600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fr-FR" altLang="zh-TW" sz="2400" dirty="0" smtClean="0">
                <a:latin typeface="Times New Roman" pitchFamily="18" charset="0"/>
                <a:ea typeface="微軟正黑體" pitchFamily="34" charset="-120"/>
              </a:rPr>
              <a:t>Longtao </a:t>
            </a:r>
            <a:r>
              <a:rPr lang="fr-FR" altLang="zh-TW" sz="2400" dirty="0" smtClean="0">
                <a:latin typeface="Times New Roman" pitchFamily="18" charset="0"/>
                <a:ea typeface="微軟正黑體" pitchFamily="34" charset="-120"/>
              </a:rPr>
              <a:t>He</a:t>
            </a:r>
            <a:r>
              <a:rPr lang="en-US" altLang="zh-TW" sz="2400" dirty="0" smtClean="0">
                <a:latin typeface="Times New Roman" pitchFamily="18" charset="0"/>
                <a:ea typeface="微軟正黑體" pitchFamily="34" charset="-120"/>
              </a:rPr>
              <a:t>(</a:t>
            </a:r>
            <a:r>
              <a:rPr lang="zh-TW" altLang="en-US" sz="2400" dirty="0" smtClean="0">
                <a:latin typeface="Times New Roman" pitchFamily="18" charset="0"/>
                <a:ea typeface="微軟正黑體" pitchFamily="34" charset="-120"/>
              </a:rPr>
              <a:t>贺龙涛</a:t>
            </a:r>
            <a:r>
              <a:rPr lang="en-US" altLang="zh-TW" sz="2400" dirty="0" smtClean="0">
                <a:latin typeface="Times New Roman" pitchFamily="18" charset="0"/>
                <a:ea typeface="微軟正黑體" pitchFamily="34" charset="-120"/>
              </a:rPr>
              <a:t>)</a:t>
            </a:r>
            <a:r>
              <a:rPr lang="fr-FR" altLang="zh-TW" sz="2400" dirty="0" smtClean="0">
                <a:latin typeface="Times New Roman" pitchFamily="18" charset="0"/>
                <a:ea typeface="微軟正黑體" pitchFamily="34" charset="-120"/>
              </a:rPr>
              <a:t>, </a:t>
            </a:r>
            <a:r>
              <a:rPr lang="fr-FR" altLang="zh-TW" sz="2400" dirty="0" smtClean="0">
                <a:latin typeface="Times New Roman" pitchFamily="18" charset="0"/>
                <a:ea typeface="微軟正黑體" pitchFamily="34" charset="-120"/>
              </a:rPr>
              <a:t>Binxing </a:t>
            </a:r>
            <a:r>
              <a:rPr lang="fr-FR" altLang="zh-TW" sz="2400" dirty="0" smtClean="0">
                <a:latin typeface="Times New Roman" pitchFamily="18" charset="0"/>
                <a:ea typeface="微軟正黑體" pitchFamily="34" charset="-120"/>
              </a:rPr>
              <a:t>Fang</a:t>
            </a:r>
            <a:r>
              <a:rPr lang="en-US" altLang="zh-TW" sz="2400" dirty="0" smtClean="0">
                <a:latin typeface="Times New Roman" pitchFamily="18" charset="0"/>
                <a:ea typeface="微軟正黑體" pitchFamily="34" charset="-120"/>
              </a:rPr>
              <a:t>(</a:t>
            </a:r>
            <a:r>
              <a:rPr lang="zh-TW" altLang="en-US" sz="2400" dirty="0" smtClean="0">
                <a:latin typeface="Times New Roman" pitchFamily="18" charset="0"/>
                <a:ea typeface="微軟正黑體" pitchFamily="34" charset="-120"/>
              </a:rPr>
              <a:t>方滨兴</a:t>
            </a:r>
            <a:r>
              <a:rPr lang="en-US" altLang="zh-TW" sz="2400" dirty="0" smtClean="0">
                <a:latin typeface="Times New Roman" pitchFamily="18" charset="0"/>
                <a:ea typeface="微軟正黑體" pitchFamily="34" charset="-120"/>
              </a:rPr>
              <a:t>)</a:t>
            </a:r>
            <a:r>
              <a:rPr lang="fr-FR" altLang="zh-TW" sz="2400" dirty="0" smtClean="0">
                <a:latin typeface="Times New Roman" pitchFamily="18" charset="0"/>
                <a:ea typeface="微軟正黑體" pitchFamily="34" charset="-120"/>
              </a:rPr>
              <a:t>, </a:t>
            </a:r>
            <a:r>
              <a:rPr lang="fr-FR" altLang="zh-TW" sz="2400" dirty="0" smtClean="0">
                <a:latin typeface="Times New Roman" pitchFamily="18" charset="0"/>
                <a:ea typeface="微軟正黑體" pitchFamily="34" charset="-120"/>
              </a:rPr>
              <a:t>Jie </a:t>
            </a:r>
            <a:r>
              <a:rPr lang="fr-FR" altLang="zh-TW" sz="2400" dirty="0" smtClean="0">
                <a:latin typeface="Times New Roman" pitchFamily="18" charset="0"/>
                <a:ea typeface="微軟正黑體" pitchFamily="34" charset="-120"/>
              </a:rPr>
              <a:t>Sui</a:t>
            </a:r>
            <a:r>
              <a:rPr lang="en-US" altLang="zh-TW" sz="2400" dirty="0" smtClean="0">
                <a:latin typeface="Times New Roman" pitchFamily="18" charset="0"/>
                <a:ea typeface="微軟正黑體" pitchFamily="34" charset="-120"/>
              </a:rPr>
              <a:t>(</a:t>
            </a:r>
            <a:r>
              <a:rPr lang="zh-TW" altLang="en-US" sz="2400" dirty="0" smtClean="0">
                <a:latin typeface="Times New Roman" pitchFamily="18" charset="0"/>
                <a:ea typeface="微軟正黑體" pitchFamily="34" charset="-120"/>
              </a:rPr>
              <a:t>隋杰</a:t>
            </a:r>
            <a:r>
              <a:rPr lang="en-US" altLang="zh-TW" sz="2400" dirty="0" smtClean="0">
                <a:latin typeface="Times New Roman" pitchFamily="18" charset="0"/>
                <a:ea typeface="微軟正黑體" pitchFamily="34" charset="-120"/>
              </a:rPr>
              <a:t>)</a:t>
            </a:r>
            <a:endParaRPr lang="fr-FR" altLang="zh-TW" sz="2400" dirty="0" smtClean="0">
              <a:latin typeface="Times New Roman" pitchFamily="18" charset="0"/>
              <a:ea typeface="微軟正黑體" pitchFamily="34" charset="-120"/>
            </a:endParaRPr>
          </a:p>
          <a:p>
            <a:pPr algn="ctr"/>
            <a:r>
              <a:rPr lang="en-US" altLang="zh-TW" sz="2400" dirty="0" smtClean="0">
                <a:latin typeface="Times New Roman" pitchFamily="18" charset="0"/>
                <a:ea typeface="微軟正黑體" pitchFamily="34" charset="-120"/>
              </a:rPr>
              <a:t>Theoretical Computer Science</a:t>
            </a:r>
          </a:p>
          <a:p>
            <a:pPr algn="ctr"/>
            <a:r>
              <a:rPr lang="en-US" altLang="zh-TW" sz="2400" dirty="0" smtClean="0">
                <a:latin typeface="Times New Roman" pitchFamily="18" charset="0"/>
                <a:ea typeface="微軟正黑體" pitchFamily="34" charset="-120"/>
              </a:rPr>
              <a:t>Vol. 332, pp. 391-404, 2005</a:t>
            </a:r>
            <a:endParaRPr lang="zh-TW" altLang="en-US" sz="2400" dirty="0" smtClean="0">
              <a:latin typeface="Times New Roman" pitchFamily="18" charset="0"/>
              <a:ea typeface="微軟正黑體" pitchFamily="34" charset="-120"/>
            </a:endParaRPr>
          </a:p>
          <a:p>
            <a:pPr algn="ctr"/>
            <a:endParaRPr lang="zh-TW" altLang="en-US" sz="2400" dirty="0"/>
          </a:p>
        </p:txBody>
      </p:sp>
      <p:sp>
        <p:nvSpPr>
          <p:cNvPr id="4" name="副標題 2"/>
          <p:cNvSpPr txBox="1">
            <a:spLocks/>
          </p:cNvSpPr>
          <p:nvPr/>
        </p:nvSpPr>
        <p:spPr bwMode="auto">
          <a:xfrm>
            <a:off x="519113" y="4941168"/>
            <a:ext cx="8105775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/>
          <a:lstStyle/>
          <a:p>
            <a:pPr algn="ctr"/>
            <a:r>
              <a:rPr kumimoji="0" lang="en-US" altLang="zh-TW" sz="2400" dirty="0">
                <a:latin typeface="Times New Roman" pitchFamily="18" charset="0"/>
                <a:ea typeface="微軟正黑體" pitchFamily="34" charset="-120"/>
                <a:cs typeface="Times New Roman" pitchFamily="18" charset="0"/>
              </a:rPr>
              <a:t>Speaker: Kai-Yuan Cheng</a:t>
            </a:r>
          </a:p>
          <a:p>
            <a:pPr algn="ctr">
              <a:lnSpc>
                <a:spcPct val="80000"/>
              </a:lnSpc>
            </a:pPr>
            <a:r>
              <a:rPr kumimoji="0" lang="en-US" altLang="zh-TW" sz="2400" dirty="0">
                <a:latin typeface="Times New Roman" pitchFamily="18" charset="0"/>
                <a:ea typeface="微軟正黑體" pitchFamily="34" charset="-120"/>
                <a:cs typeface="Times New Roman" pitchFamily="18" charset="0"/>
              </a:rPr>
              <a:t>Date: </a:t>
            </a:r>
            <a:r>
              <a:rPr kumimoji="0" lang="en-US" altLang="zh-TW" sz="2400" dirty="0" smtClean="0">
                <a:latin typeface="Times New Roman" pitchFamily="18" charset="0"/>
                <a:ea typeface="微軟正黑體" pitchFamily="34" charset="-120"/>
                <a:cs typeface="Times New Roman" pitchFamily="18" charset="0"/>
              </a:rPr>
              <a:t>Dec. </a:t>
            </a:r>
            <a:r>
              <a:rPr kumimoji="0" lang="en-US" altLang="zh-TW" sz="2400" smtClean="0">
                <a:latin typeface="Times New Roman" pitchFamily="18" charset="0"/>
                <a:ea typeface="微軟正黑體" pitchFamily="34" charset="-120"/>
                <a:cs typeface="Times New Roman" pitchFamily="18" charset="0"/>
              </a:rPr>
              <a:t>26,  </a:t>
            </a:r>
            <a:r>
              <a:rPr kumimoji="0" lang="en-US" altLang="zh-TW" sz="2400" dirty="0">
                <a:latin typeface="Times New Roman" pitchFamily="18" charset="0"/>
                <a:ea typeface="微軟正黑體" pitchFamily="34" charset="-120"/>
                <a:cs typeface="Times New Roman" pitchFamily="18" charset="0"/>
              </a:rPr>
              <a:t>2011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 smtClean="0">
                <a:latin typeface="+mj-lt"/>
              </a:rPr>
              <a:t>Generally, current string matching algorithms make use of a window whose size is equal to pattern length. In this paper, we present a novel string matching algorithm named WW (for Wide Window) algorithm, which divides the text into overlapping windows of size 2m−1. In the windows, the algorithm attempts m possible occurrence positions in parallel. It firstly searches pattern suffixes from middle to right with a forward suffix automaton, shifts the window directly when it fails, otherwise, scans the corresponding prefixes backward with a reverse prefix automaton. Theoretical analysis shows that WW has optimal time complexity of O(n) in the worst, O(n/m) best and O(n(log</a:t>
            </a:r>
            <a:r>
              <a:rPr lang="el-GR" altLang="zh-TW" baseline="-25000" dirty="0" smtClean="0">
                <a:latin typeface="+mj-lt"/>
              </a:rPr>
              <a:t> σ </a:t>
            </a:r>
            <a:r>
              <a:rPr lang="en-US" altLang="zh-TW" dirty="0" smtClean="0">
                <a:latin typeface="+mj-lt"/>
              </a:rPr>
              <a:t>m)/m) for average case. Experimental comparison of WW with existing algorithms validates our theoretical claims for searching long patterns. It further reveals that WW is also efficient for searching short patterns.</a:t>
            </a:r>
            <a:endParaRPr lang="zh-TW" altLang="en-US" dirty="0">
              <a:latin typeface="+mj-lt"/>
            </a:endParaRP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400" dirty="0" smtClean="0">
                <a:latin typeface="+mj-lt"/>
              </a:rPr>
              <a:t>Abstract</a:t>
            </a:r>
            <a:endParaRPr lang="zh-TW" altLang="en-US" sz="4400" dirty="0">
              <a:latin typeface="+mj-lt"/>
            </a:endParaRPr>
          </a:p>
        </p:txBody>
      </p:sp>
      <p:graphicFrame>
        <p:nvGraphicFramePr>
          <p:cNvPr id="5" name="物件 4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p:oleObj spid="_x0000_s1026" name="Equation" r:id="rId3" imgW="114120" imgH="215640" progId="Equation.3">
              <p:embed/>
            </p:oleObj>
          </a:graphicData>
        </a:graphic>
      </p:graphicFrame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80312" y="2276872"/>
            <a:ext cx="68580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Pattern matching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0" fontAlgn="base" hangingPunct="0"/>
            <a:r>
              <a:rPr lang="zh-TW" altLang="zh-TW" dirty="0" smtClean="0"/>
              <a:t>有限狀態機</a:t>
            </a:r>
            <a:endParaRPr lang="en-US" altLang="zh-TW" dirty="0" smtClean="0"/>
          </a:p>
          <a:p>
            <a:pPr lvl="1" eaLnBrk="0" fontAlgn="base" hangingPunct="0"/>
            <a:r>
              <a:rPr lang="zh-TW" altLang="zh-TW" dirty="0" smtClean="0"/>
              <a:t>在比對前根據樣式建立有限狀態機。記錄符號之間的位置、排列、樣式字首 </a:t>
            </a:r>
            <a:r>
              <a:rPr lang="en-US" altLang="zh-TW" dirty="0" smtClean="0"/>
              <a:t>(prefix)</a:t>
            </a:r>
            <a:r>
              <a:rPr lang="zh-TW" altLang="zh-TW" dirty="0" smtClean="0"/>
              <a:t> 與字尾 </a:t>
            </a:r>
            <a:r>
              <a:rPr lang="en-US" altLang="zh-TW" dirty="0" smtClean="0"/>
              <a:t>(suffix)</a:t>
            </a:r>
            <a:r>
              <a:rPr lang="zh-TW" altLang="zh-TW" dirty="0" smtClean="0"/>
              <a:t> 等關係。</a:t>
            </a:r>
            <a:endParaRPr lang="en-US" altLang="zh-TW" dirty="0" smtClean="0"/>
          </a:p>
          <a:p>
            <a:pPr lvl="1" eaLnBrk="0" fontAlgn="base" hangingPunct="0"/>
            <a:r>
              <a:rPr lang="en-US" altLang="zh-TW" dirty="0" smtClean="0"/>
              <a:t>KMP algorithm – Knuth, Morris and Pratt, 1977</a:t>
            </a:r>
            <a:endParaRPr lang="zh-TW" altLang="zh-TW" dirty="0" smtClean="0"/>
          </a:p>
          <a:p>
            <a:pPr lvl="1" eaLnBrk="0" fontAlgn="base" hangingPunct="0"/>
            <a:r>
              <a:rPr lang="zh-TW" altLang="zh-TW" dirty="0" smtClean="0"/>
              <a:t>建立有限狀態機需要大量的儲存空間</a:t>
            </a:r>
            <a:endParaRPr lang="en-US" altLang="zh-TW" dirty="0" smtClean="0"/>
          </a:p>
          <a:p>
            <a:pPr eaLnBrk="0" fontAlgn="base" hangingPunct="0"/>
            <a:r>
              <a:rPr lang="zh-TW" altLang="zh-TW" dirty="0" smtClean="0"/>
              <a:t>符號關係</a:t>
            </a:r>
            <a:endParaRPr lang="en-US" altLang="zh-TW" dirty="0" smtClean="0"/>
          </a:p>
          <a:p>
            <a:pPr lvl="1" eaLnBrk="0" fontAlgn="base" hangingPunct="0"/>
            <a:r>
              <a:rPr lang="zh-TW" altLang="zh-TW" dirty="0" smtClean="0"/>
              <a:t>在比對階段仍為符號比對，當符號比對不符合時，此時必須查詢在比對前根據樣式關係所建立的「位移表」得到下個讀入符號的序列位置以加快比對速度。</a:t>
            </a:r>
            <a:endParaRPr lang="en-US" altLang="zh-TW" dirty="0" smtClean="0"/>
          </a:p>
          <a:p>
            <a:pPr lvl="1" eaLnBrk="0" fontAlgn="base" hangingPunct="0"/>
            <a:r>
              <a:rPr lang="en-US" altLang="zh-TW" dirty="0" smtClean="0"/>
              <a:t>BM</a:t>
            </a:r>
            <a:r>
              <a:rPr lang="zh-TW" altLang="zh-TW" dirty="0" smtClean="0"/>
              <a:t> </a:t>
            </a:r>
            <a:r>
              <a:rPr lang="en-US" altLang="zh-TW" dirty="0" smtClean="0"/>
              <a:t>algorithm – Boyer and Moore</a:t>
            </a:r>
            <a:endParaRPr lang="zh-TW" altLang="zh-TW" dirty="0" smtClean="0"/>
          </a:p>
          <a:p>
            <a:pPr lvl="1" eaLnBrk="0" fontAlgn="base" hangingPunct="0"/>
            <a:r>
              <a:rPr lang="zh-TW" altLang="zh-TW" dirty="0" smtClean="0"/>
              <a:t>僅記錄樣式中符號之間的關係，不需大量的儲存空間。</a:t>
            </a:r>
            <a:endParaRPr lang="en-US" altLang="zh-TW" dirty="0" smtClean="0"/>
          </a:p>
          <a:p>
            <a:pPr lvl="1" eaLnBrk="0" fontAlgn="base" hangingPunct="0"/>
            <a:r>
              <a:rPr lang="zh-TW" altLang="zh-TW" dirty="0" smtClean="0"/>
              <a:t>在最佳情況下，只需 </a:t>
            </a:r>
            <a:r>
              <a:rPr lang="en-US" altLang="zh-TW" dirty="0" smtClean="0"/>
              <a:t>n / m</a:t>
            </a:r>
            <a:r>
              <a:rPr lang="zh-TW" altLang="zh-TW" dirty="0" smtClean="0"/>
              <a:t> 次比對，但是最差情況仍需要 </a:t>
            </a:r>
            <a:r>
              <a:rPr lang="en-US" altLang="zh-TW" dirty="0" smtClean="0"/>
              <a:t>n*m</a:t>
            </a:r>
            <a:r>
              <a:rPr lang="zh-TW" altLang="zh-TW" dirty="0" smtClean="0"/>
              <a:t> 次比對。</a:t>
            </a:r>
            <a:endParaRPr lang="en-US" altLang="zh-TW" dirty="0" smtClean="0"/>
          </a:p>
          <a:p>
            <a:endParaRPr lang="zh-TW" altLang="en-US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Pattern matching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0" fontAlgn="base" hangingPunct="0"/>
            <a:r>
              <a:rPr lang="zh-TW" altLang="zh-TW" dirty="0" smtClean="0"/>
              <a:t>位元同步處理</a:t>
            </a:r>
            <a:endParaRPr lang="en-US" altLang="zh-TW" dirty="0" smtClean="0"/>
          </a:p>
          <a:p>
            <a:pPr lvl="1" eaLnBrk="0" fontAlgn="base" hangingPunct="0"/>
            <a:r>
              <a:rPr lang="zh-TW" altLang="zh-TW" dirty="0" smtClean="0"/>
              <a:t>根據樣式中符號出現的位置以位元值記錄，形成狀態表，比對時查詢狀態表利用位元運算改變狀態。</a:t>
            </a:r>
            <a:endParaRPr lang="en-US" altLang="zh-TW" dirty="0" smtClean="0"/>
          </a:p>
          <a:p>
            <a:pPr lvl="1" eaLnBrk="0" fontAlgn="base" hangingPunct="0"/>
            <a:r>
              <a:rPr lang="zh-TW" altLang="zh-TW" dirty="0" smtClean="0"/>
              <a:t>雖然 </a:t>
            </a:r>
            <a:r>
              <a:rPr lang="en-US" altLang="zh-TW" dirty="0" smtClean="0"/>
              <a:t>Shift-And algorithm</a:t>
            </a:r>
            <a:r>
              <a:rPr lang="zh-TW" altLang="zh-TW" dirty="0" smtClean="0"/>
              <a:t> 在任何情況都需 </a:t>
            </a:r>
            <a:r>
              <a:rPr lang="en-US" altLang="zh-TW" dirty="0" smtClean="0"/>
              <a:t>n </a:t>
            </a:r>
            <a:r>
              <a:rPr lang="zh-TW" altLang="zh-TW" dirty="0" smtClean="0"/>
              <a:t>次比對，但因使用位元運算，所以提升比對速度。</a:t>
            </a:r>
            <a:endParaRPr lang="en-US" altLang="zh-TW" dirty="0" smtClean="0"/>
          </a:p>
          <a:p>
            <a:pPr lvl="1" eaLnBrk="0" fontAlgn="base" hangingPunct="0"/>
            <a:r>
              <a:rPr lang="en-US" altLang="zh-TW" dirty="0" smtClean="0"/>
              <a:t>BNDM</a:t>
            </a:r>
            <a:r>
              <a:rPr lang="zh-TW" altLang="zh-TW" dirty="0" smtClean="0"/>
              <a:t> 利用移動視窗引入符號關係的概念，當比對失敗或視窗內符號比對完畢，則根據符號關係移動到下一個視窗位置。</a:t>
            </a:r>
            <a:endParaRPr lang="en-US" altLang="zh-TW" dirty="0" smtClean="0"/>
          </a:p>
          <a:p>
            <a:pPr lvl="1" eaLnBrk="0" fontAlgn="base" hangingPunct="0"/>
            <a:r>
              <a:rPr lang="zh-TW" altLang="zh-TW" dirty="0" smtClean="0"/>
              <a:t>不利於長樣式比對，受計算機的 </a:t>
            </a:r>
            <a:r>
              <a:rPr lang="en-US" altLang="zh-TW" dirty="0" smtClean="0"/>
              <a:t>word size</a:t>
            </a:r>
            <a:r>
              <a:rPr lang="zh-TW" altLang="zh-TW" dirty="0" smtClean="0"/>
              <a:t> 所限制。</a:t>
            </a:r>
            <a:endParaRPr lang="en-US" altLang="zh-TW" dirty="0" smtClean="0"/>
          </a:p>
          <a:p>
            <a:pPr eaLnBrk="0" fontAlgn="base" hangingPunct="0"/>
            <a:r>
              <a:rPr lang="zh-TW" altLang="zh-TW" dirty="0" smtClean="0"/>
              <a:t>過濾器概念</a:t>
            </a:r>
            <a:endParaRPr lang="en-US" altLang="zh-TW" dirty="0" smtClean="0"/>
          </a:p>
          <a:p>
            <a:pPr lvl="1" eaLnBrk="0" fontAlgn="base" hangingPunct="0"/>
            <a:r>
              <a:rPr lang="en-US" altLang="zh-TW" dirty="0" err="1" smtClean="0"/>
              <a:t>Lecroq</a:t>
            </a:r>
            <a:r>
              <a:rPr lang="en-US" altLang="zh-TW" dirty="0" smtClean="0"/>
              <a:t> algorithm </a:t>
            </a:r>
            <a:r>
              <a:rPr lang="zh-TW" altLang="zh-TW" dirty="0" smtClean="0"/>
              <a:t>每次讀入一組序列中連續的符號 </a:t>
            </a:r>
            <a:r>
              <a:rPr lang="en-US" altLang="zh-TW" dirty="0" smtClean="0"/>
              <a:t>(q-grams)</a:t>
            </a:r>
            <a:r>
              <a:rPr lang="zh-TW" altLang="zh-TW" dirty="0" smtClean="0"/>
              <a:t> 計算出赫序值，來判斷此符號組是否為樣式的一部分，若可能為樣式，則將整段序列加以檢查。</a:t>
            </a:r>
            <a:endParaRPr lang="en-US" altLang="zh-TW" dirty="0" smtClean="0"/>
          </a:p>
          <a:p>
            <a:pPr lvl="1" eaLnBrk="0" fontAlgn="base" hangingPunct="0"/>
            <a:r>
              <a:rPr lang="en-US" altLang="zh-TW" dirty="0" err="1" smtClean="0"/>
              <a:t>BNDMq</a:t>
            </a:r>
            <a:endParaRPr lang="en-US" altLang="zh-TW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Basic Idea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 symbol </a:t>
            </a:r>
            <a:r>
              <a:rPr lang="en-US" altLang="zh-TW" dirty="0" err="1" smtClean="0"/>
              <a:t>y</a:t>
            </a:r>
            <a:r>
              <a:rPr lang="en-US" altLang="zh-TW" baseline="-25000" dirty="0" err="1" smtClean="0"/>
              <a:t>i</a:t>
            </a:r>
            <a:r>
              <a:rPr lang="en-US" altLang="zh-TW" dirty="0" smtClean="0"/>
              <a:t> (in text) related to 2m-1 symbol.</a:t>
            </a:r>
          </a:p>
          <a:p>
            <a:r>
              <a:rPr lang="en-US" altLang="zh-TW" dirty="0" smtClean="0"/>
              <a:t>Ex: </a:t>
            </a:r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=&gt; window size = 2m-1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656000" y="2564904"/>
          <a:ext cx="5832000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48000"/>
                <a:gridCol w="648000"/>
                <a:gridCol w="648000"/>
                <a:gridCol w="648000"/>
                <a:gridCol w="648000"/>
                <a:gridCol w="648000"/>
                <a:gridCol w="648000"/>
                <a:gridCol w="648000"/>
                <a:gridCol w="648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Automaton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Suffix automaton (SA)</a:t>
            </a:r>
          </a:p>
          <a:p>
            <a:r>
              <a:rPr lang="en-US" altLang="zh-TW" dirty="0" smtClean="0"/>
              <a:t>Reverse prefix automaton</a:t>
            </a:r>
            <a:r>
              <a:rPr lang="zh-TW" altLang="en-US" dirty="0" smtClean="0"/>
              <a:t> </a:t>
            </a:r>
            <a:r>
              <a:rPr lang="en-US" altLang="zh-TW" dirty="0" smtClean="0"/>
              <a:t>(RPA)</a:t>
            </a:r>
            <a:endParaRPr lang="zh-TW" altLang="en-US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Suffix automaton (SA)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Ex: string </a:t>
            </a:r>
            <a:r>
              <a:rPr lang="en-US" altLang="zh-TW" dirty="0" err="1" smtClean="0"/>
              <a:t>aabbabb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5736" y="3501008"/>
            <a:ext cx="6768752" cy="2471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83568" y="2492896"/>
          <a:ext cx="1152128" cy="3744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/>
              </a:tblGrid>
              <a:tr h="468052">
                <a:tc>
                  <a:txBody>
                    <a:bodyPr/>
                    <a:lstStyle/>
                    <a:p>
                      <a:pPr algn="r"/>
                      <a:r>
                        <a:rPr lang="el-GR" altLang="zh-TW" b="0" dirty="0" smtClean="0">
                          <a:solidFill>
                            <a:schemeClr val="tx1"/>
                          </a:solidFill>
                        </a:rPr>
                        <a:t>ε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8052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8052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bb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8052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 err="1" smtClean="0">
                          <a:solidFill>
                            <a:schemeClr val="tx1"/>
                          </a:solidFill>
                        </a:rPr>
                        <a:t>abb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8052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 err="1" smtClean="0">
                          <a:solidFill>
                            <a:schemeClr val="tx1"/>
                          </a:solidFill>
                        </a:rPr>
                        <a:t>babb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8052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 err="1" smtClean="0">
                          <a:solidFill>
                            <a:schemeClr val="tx1"/>
                          </a:solidFill>
                        </a:rPr>
                        <a:t>bbabb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8052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 err="1" smtClean="0">
                          <a:solidFill>
                            <a:schemeClr val="tx1"/>
                          </a:solidFill>
                        </a:rPr>
                        <a:t>abbabb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8052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 err="1" smtClean="0">
                          <a:solidFill>
                            <a:schemeClr val="tx1"/>
                          </a:solidFill>
                        </a:rPr>
                        <a:t>aabbabb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899592" y="2060848"/>
            <a:ext cx="75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suffix</a:t>
            </a:r>
            <a:endParaRPr lang="zh-TW" altLang="en-US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Reverse prefix automaton</a:t>
            </a:r>
            <a:r>
              <a:rPr lang="zh-TW" altLang="en-US" dirty="0" smtClean="0"/>
              <a:t> </a:t>
            </a:r>
            <a:r>
              <a:rPr lang="en-US" altLang="zh-TW" dirty="0" smtClean="0"/>
              <a:t>(RPA)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Ex: string </a:t>
            </a:r>
            <a:r>
              <a:rPr lang="en-US" altLang="zh-TW" dirty="0" err="1" smtClean="0"/>
              <a:t>aabbabb</a:t>
            </a:r>
            <a:r>
              <a:rPr lang="en-US" altLang="zh-TW" dirty="0" smtClean="0"/>
              <a:t>: </a:t>
            </a:r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51312" y="2708920"/>
            <a:ext cx="6192688" cy="1905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07504" y="2492896"/>
          <a:ext cx="1152128" cy="3744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/>
              </a:tblGrid>
              <a:tr h="468052">
                <a:tc>
                  <a:txBody>
                    <a:bodyPr/>
                    <a:lstStyle/>
                    <a:p>
                      <a:pPr algn="r"/>
                      <a:r>
                        <a:rPr lang="el-GR" altLang="zh-TW" b="0" dirty="0" smtClean="0">
                          <a:solidFill>
                            <a:schemeClr val="tx1"/>
                          </a:solidFill>
                        </a:rPr>
                        <a:t>ε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8052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8052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 err="1" smtClean="0">
                          <a:solidFill>
                            <a:schemeClr val="tx1"/>
                          </a:solidFill>
                        </a:rPr>
                        <a:t>aa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8052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 err="1" smtClean="0">
                          <a:solidFill>
                            <a:schemeClr val="tx1"/>
                          </a:solidFill>
                        </a:rPr>
                        <a:t>aab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8052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 err="1" smtClean="0">
                          <a:solidFill>
                            <a:schemeClr val="tx1"/>
                          </a:solidFill>
                        </a:rPr>
                        <a:t>aabb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8052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 err="1" smtClean="0">
                          <a:solidFill>
                            <a:schemeClr val="tx1"/>
                          </a:solidFill>
                        </a:rPr>
                        <a:t>aabba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8052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 err="1" smtClean="0">
                          <a:solidFill>
                            <a:schemeClr val="tx1"/>
                          </a:solidFill>
                        </a:rPr>
                        <a:t>aabbab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8052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 err="1" smtClean="0">
                          <a:solidFill>
                            <a:schemeClr val="tx1"/>
                          </a:solidFill>
                        </a:rPr>
                        <a:t>aabbabb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691680" y="2492896"/>
          <a:ext cx="1152128" cy="3744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/>
              </a:tblGrid>
              <a:tr h="468052">
                <a:tc>
                  <a:txBody>
                    <a:bodyPr/>
                    <a:lstStyle/>
                    <a:p>
                      <a:pPr algn="r"/>
                      <a:r>
                        <a:rPr lang="el-GR" altLang="zh-TW" b="0" dirty="0" smtClean="0">
                          <a:solidFill>
                            <a:schemeClr val="tx1"/>
                          </a:solidFill>
                        </a:rPr>
                        <a:t>ε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8052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8052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 err="1" smtClean="0">
                          <a:solidFill>
                            <a:schemeClr val="tx1"/>
                          </a:solidFill>
                        </a:rPr>
                        <a:t>aa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8052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baa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8052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 err="1" smtClean="0">
                          <a:solidFill>
                            <a:schemeClr val="tx1"/>
                          </a:solidFill>
                        </a:rPr>
                        <a:t>bbaa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8052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 err="1" smtClean="0">
                          <a:solidFill>
                            <a:schemeClr val="tx1"/>
                          </a:solidFill>
                        </a:rPr>
                        <a:t>abbaa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8052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 err="1" smtClean="0">
                          <a:solidFill>
                            <a:schemeClr val="tx1"/>
                          </a:solidFill>
                        </a:rPr>
                        <a:t>babbaa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8052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 err="1" smtClean="0">
                          <a:solidFill>
                            <a:schemeClr val="tx1"/>
                          </a:solidFill>
                        </a:rPr>
                        <a:t>bbabbaa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向右箭號 6"/>
          <p:cNvSpPr/>
          <p:nvPr/>
        </p:nvSpPr>
        <p:spPr>
          <a:xfrm>
            <a:off x="1331640" y="4005064"/>
            <a:ext cx="288032" cy="216024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288032" y="2060848"/>
            <a:ext cx="75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prefix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1547664" y="2060848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reverse prefix</a:t>
            </a:r>
            <a:endParaRPr lang="zh-TW" altLang="en-US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Phase 1. scans the right window </a:t>
            </a:r>
            <a:r>
              <a:rPr lang="en-US" altLang="zh-TW" dirty="0" err="1" smtClean="0"/>
              <a:t>y</a:t>
            </a:r>
            <a:r>
              <a:rPr lang="en-US" altLang="zh-TW" baseline="-25000" dirty="0" err="1" smtClean="0"/>
              <a:t>km</a:t>
            </a:r>
            <a:r>
              <a:rPr lang="en-US" altLang="zh-TW" dirty="0" smtClean="0"/>
              <a:t>...y</a:t>
            </a:r>
            <a:r>
              <a:rPr lang="en-US" altLang="zh-TW" baseline="-25000" dirty="0" smtClean="0"/>
              <a:t>(k+1)m−1</a:t>
            </a:r>
            <a:r>
              <a:rPr lang="en-US" altLang="zh-TW" dirty="0" smtClean="0"/>
              <a:t> from left to right with SA(x) and record the maximal matched suffix.</a:t>
            </a:r>
          </a:p>
          <a:p>
            <a:r>
              <a:rPr lang="en-US" altLang="zh-TW" dirty="0" smtClean="0"/>
              <a:t>Phase 2. scans the left window y</a:t>
            </a:r>
            <a:r>
              <a:rPr lang="en-US" altLang="zh-TW" baseline="-25000" dirty="0" smtClean="0"/>
              <a:t>(k−1)m+1</a:t>
            </a:r>
            <a:r>
              <a:rPr lang="en-US" altLang="zh-TW" dirty="0" smtClean="0"/>
              <a:t>...y</a:t>
            </a:r>
            <a:r>
              <a:rPr lang="en-US" altLang="zh-TW" baseline="-25000" dirty="0" smtClean="0"/>
              <a:t>km−1</a:t>
            </a:r>
            <a:r>
              <a:rPr lang="en-US" altLang="zh-TW" dirty="0" smtClean="0"/>
              <a:t> from right to left with RPA(x) starting from the state L.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Pseudo-code of</a:t>
            </a:r>
            <a:r>
              <a:rPr lang="zh-TW" altLang="en-US" dirty="0" smtClean="0"/>
              <a:t> </a:t>
            </a:r>
            <a:r>
              <a:rPr lang="en-US" altLang="zh-TW" dirty="0" smtClean="0"/>
              <a:t>WW</a:t>
            </a:r>
            <a:endParaRPr lang="zh-TW" alt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1004" y="1340768"/>
            <a:ext cx="5041993" cy="52030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Y: </a:t>
            </a:r>
            <a:r>
              <a:rPr lang="en-US" altLang="zh-TW" dirty="0" err="1" smtClean="0"/>
              <a:t>ababababababaabbabba</a:t>
            </a:r>
            <a:r>
              <a:rPr lang="en-US" altLang="zh-TW" dirty="0" smtClean="0"/>
              <a:t>   X: </a:t>
            </a:r>
            <a:r>
              <a:rPr lang="en-US" altLang="zh-TW" dirty="0" err="1" smtClean="0"/>
              <a:t>aabbabb</a:t>
            </a:r>
            <a:endParaRPr lang="en-US" altLang="zh-TW" dirty="0" smtClean="0"/>
          </a:p>
          <a:p>
            <a:r>
              <a:rPr lang="en-US" altLang="zh-TW" dirty="0" smtClean="0"/>
              <a:t>[</a:t>
            </a:r>
            <a:r>
              <a:rPr lang="en-US" altLang="zh-TW" dirty="0" err="1" smtClean="0"/>
              <a:t>ababab</a:t>
            </a:r>
            <a:r>
              <a:rPr lang="en-US" altLang="zh-TW" dirty="0" smtClean="0"/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a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bababa</a:t>
            </a:r>
            <a:r>
              <a:rPr lang="en-US" altLang="zh-TW" dirty="0" smtClean="0"/>
              <a:t>] </a:t>
            </a:r>
            <a:r>
              <a:rPr lang="en-US" altLang="zh-TW" dirty="0" smtClean="0">
                <a:solidFill>
                  <a:srgbClr val="FF0000"/>
                </a:solidFill>
              </a:rPr>
              <a:t>a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bbabba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7744" y="4221088"/>
            <a:ext cx="6768752" cy="2471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直線單箭頭接點 5"/>
          <p:cNvCxnSpPr/>
          <p:nvPr/>
        </p:nvCxnSpPr>
        <p:spPr>
          <a:xfrm>
            <a:off x="2267744" y="2276872"/>
            <a:ext cx="1080120" cy="3384376"/>
          </a:xfrm>
          <a:prstGeom prst="straightConnector1">
            <a:avLst/>
          </a:prstGeom>
          <a:ln w="25400">
            <a:solidFill>
              <a:srgbClr val="CC99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>
            <a:off x="2555776" y="2276872"/>
            <a:ext cx="2520280" cy="2880320"/>
          </a:xfrm>
          <a:prstGeom prst="straightConnector1">
            <a:avLst/>
          </a:prstGeom>
          <a:ln w="25400">
            <a:solidFill>
              <a:srgbClr val="CC99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2699792" y="2276872"/>
            <a:ext cx="1872208" cy="864096"/>
          </a:xfrm>
          <a:prstGeom prst="straightConnector1">
            <a:avLst/>
          </a:prstGeom>
          <a:ln w="25400">
            <a:solidFill>
              <a:srgbClr val="CC99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乘號 11"/>
          <p:cNvSpPr/>
          <p:nvPr/>
        </p:nvSpPr>
        <p:spPr>
          <a:xfrm>
            <a:off x="4572000" y="2996952"/>
            <a:ext cx="360040" cy="432048"/>
          </a:xfrm>
          <a:prstGeom prst="mathMultiply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Y: </a:t>
            </a:r>
            <a:r>
              <a:rPr lang="en-US" altLang="zh-TW" dirty="0" err="1" smtClean="0"/>
              <a:t>ababababababaabbabba</a:t>
            </a:r>
            <a:r>
              <a:rPr lang="en-US" altLang="zh-TW" dirty="0" smtClean="0"/>
              <a:t>   X: </a:t>
            </a:r>
            <a:r>
              <a:rPr lang="en-US" altLang="zh-TW" dirty="0" err="1" smtClean="0"/>
              <a:t>aabbabb</a:t>
            </a:r>
            <a:endParaRPr lang="en-US" altLang="zh-TW" dirty="0" smtClean="0"/>
          </a:p>
          <a:p>
            <a:r>
              <a:rPr lang="en-US" altLang="zh-TW" dirty="0" err="1" smtClean="0"/>
              <a:t>ababab</a:t>
            </a:r>
            <a:r>
              <a:rPr lang="en-US" altLang="zh-TW" dirty="0" smtClean="0"/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a</a:t>
            </a:r>
            <a:r>
              <a:rPr lang="en-US" altLang="zh-TW" dirty="0" smtClean="0"/>
              <a:t> [</a:t>
            </a:r>
            <a:r>
              <a:rPr lang="en-US" altLang="zh-TW" dirty="0" err="1" smtClean="0"/>
              <a:t>bababa</a:t>
            </a:r>
            <a:r>
              <a:rPr lang="en-US" altLang="zh-TW" dirty="0" smtClean="0"/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a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bbabba</a:t>
            </a:r>
            <a:r>
              <a:rPr lang="en-US" altLang="zh-TW" dirty="0" smtClean="0"/>
              <a:t>]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7744" y="4221088"/>
            <a:ext cx="6768752" cy="2471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直線單箭頭接點 5"/>
          <p:cNvCxnSpPr/>
          <p:nvPr/>
        </p:nvCxnSpPr>
        <p:spPr>
          <a:xfrm flipH="1">
            <a:off x="3419872" y="2276872"/>
            <a:ext cx="288032" cy="3384376"/>
          </a:xfrm>
          <a:prstGeom prst="straightConnector1">
            <a:avLst/>
          </a:prstGeom>
          <a:ln w="25400">
            <a:solidFill>
              <a:srgbClr val="CC99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>
            <a:off x="4067944" y="2276872"/>
            <a:ext cx="936104" cy="2880320"/>
          </a:xfrm>
          <a:prstGeom prst="straightConnector1">
            <a:avLst/>
          </a:prstGeom>
          <a:ln w="25400">
            <a:solidFill>
              <a:srgbClr val="CC99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>
            <a:off x="4211960" y="2276872"/>
            <a:ext cx="1800200" cy="280831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4355976" y="2276872"/>
            <a:ext cx="2520280" cy="3384376"/>
          </a:xfrm>
          <a:prstGeom prst="straightConnector1">
            <a:avLst/>
          </a:prstGeom>
          <a:ln w="25400">
            <a:solidFill>
              <a:srgbClr val="CC99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4572000" y="2276872"/>
            <a:ext cx="3168352" cy="3384376"/>
          </a:xfrm>
          <a:prstGeom prst="straightConnector1">
            <a:avLst/>
          </a:prstGeom>
          <a:ln w="25400">
            <a:solidFill>
              <a:srgbClr val="CC99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>
            <a:off x="4788024" y="2276872"/>
            <a:ext cx="3816424" cy="331236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Y: </a:t>
            </a:r>
            <a:r>
              <a:rPr lang="en-US" altLang="zh-TW" dirty="0" err="1" smtClean="0"/>
              <a:t>ababababababaabbabba</a:t>
            </a:r>
            <a:r>
              <a:rPr lang="en-US" altLang="zh-TW" dirty="0" smtClean="0"/>
              <a:t>   X: </a:t>
            </a:r>
            <a:r>
              <a:rPr lang="en-US" altLang="zh-TW" dirty="0" err="1" smtClean="0"/>
              <a:t>aabbabb</a:t>
            </a:r>
            <a:endParaRPr lang="en-US" altLang="zh-TW" dirty="0" smtClean="0"/>
          </a:p>
          <a:p>
            <a:r>
              <a:rPr lang="en-US" altLang="zh-TW" dirty="0" err="1" smtClean="0"/>
              <a:t>ababab</a:t>
            </a:r>
            <a:r>
              <a:rPr lang="en-US" altLang="zh-TW" dirty="0" smtClean="0"/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a</a:t>
            </a:r>
            <a:r>
              <a:rPr lang="en-US" altLang="zh-TW" dirty="0" smtClean="0"/>
              <a:t> [</a:t>
            </a:r>
            <a:r>
              <a:rPr lang="en-US" altLang="zh-TW" dirty="0" err="1" smtClean="0"/>
              <a:t>bababa</a:t>
            </a:r>
            <a:r>
              <a:rPr lang="en-US" altLang="zh-TW" dirty="0" smtClean="0"/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a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bbabba</a:t>
            </a:r>
            <a:r>
              <a:rPr lang="en-US" altLang="zh-TW" dirty="0" smtClean="0"/>
              <a:t>]</a:t>
            </a:r>
            <a:endParaRPr lang="zh-TW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71800" y="4365104"/>
            <a:ext cx="6192688" cy="1905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單箭頭接點 6"/>
          <p:cNvCxnSpPr/>
          <p:nvPr/>
        </p:nvCxnSpPr>
        <p:spPr>
          <a:xfrm flipH="1">
            <a:off x="3059832" y="2276872"/>
            <a:ext cx="288032" cy="2592288"/>
          </a:xfrm>
          <a:prstGeom prst="straightConnector1">
            <a:avLst/>
          </a:prstGeom>
          <a:ln w="25400">
            <a:solidFill>
              <a:srgbClr val="CC99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 flipV="1">
            <a:off x="3779912" y="3933056"/>
            <a:ext cx="216024" cy="1008112"/>
          </a:xfrm>
          <a:prstGeom prst="straightConnector1">
            <a:avLst/>
          </a:prstGeom>
          <a:ln w="25400">
            <a:solidFill>
              <a:srgbClr val="CC99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3635896" y="3501008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Start position: L = 6</a:t>
            </a:r>
            <a:endParaRPr lang="zh-TW" altLang="en-US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Time complexity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Worst case: O(n)</a:t>
            </a:r>
          </a:p>
          <a:p>
            <a:r>
              <a:rPr lang="en-US" altLang="zh-TW" dirty="0" smtClean="0"/>
              <a:t>Best case: O(n/m)</a:t>
            </a:r>
          </a:p>
          <a:p>
            <a:r>
              <a:rPr lang="en-US" altLang="zh-TW" dirty="0" smtClean="0"/>
              <a:t>Average case: O(n(log</a:t>
            </a:r>
            <a:r>
              <a:rPr lang="el-GR" altLang="zh-TW" baseline="-25000" dirty="0" smtClean="0"/>
              <a:t> σ </a:t>
            </a:r>
            <a:r>
              <a:rPr lang="en-US" altLang="zh-TW" smtClean="0"/>
              <a:t>m)/m)</a:t>
            </a:r>
            <a:endParaRPr lang="zh-TW" altLang="en-US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Experimental result</a:t>
            </a:r>
            <a:endParaRPr lang="zh-TW" altLang="en-US" dirty="0"/>
          </a:p>
        </p:txBody>
      </p:sp>
      <p:pic>
        <p:nvPicPr>
          <p:cNvPr id="1638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66862" y="1554162"/>
            <a:ext cx="6010275" cy="462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5696" y="6309320"/>
            <a:ext cx="5591175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Experimental result</a:t>
            </a:r>
            <a:endParaRPr lang="zh-TW" altLang="en-US" dirty="0"/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40427" y="1412875"/>
            <a:ext cx="5663146" cy="491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Experimental result</a:t>
            </a:r>
            <a:endParaRPr lang="zh-TW" altLang="en-US" dirty="0"/>
          </a:p>
        </p:txBody>
      </p:sp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90662" y="1463675"/>
            <a:ext cx="6162675" cy="481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47664" y="6309320"/>
            <a:ext cx="6048375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Experimental result</a:t>
            </a:r>
            <a:endParaRPr lang="zh-TW" altLang="en-US" dirty="0"/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52651" y="1412875"/>
            <a:ext cx="6038698" cy="491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 txBox="1">
            <a:spLocks/>
          </p:cNvSpPr>
          <p:nvPr/>
        </p:nvSpPr>
        <p:spPr>
          <a:xfrm>
            <a:off x="822325" y="2857500"/>
            <a:ext cx="7499350" cy="1143000"/>
          </a:xfrm>
          <a:prstGeom prst="rect">
            <a:avLst/>
          </a:prstGeom>
        </p:spPr>
        <p:txBody>
          <a:bodyPr vert="horz" l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標楷體" pitchFamily="65" charset="-120"/>
                <a:cs typeface="Times New Roman" pitchFamily="18" charset="0"/>
              </a:rPr>
              <a:t>Thank you!!!</a:t>
            </a:r>
            <a:endParaRPr kumimoji="0" lang="zh-TW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標楷體" pitchFamily="65" charset="-120"/>
              <a:cs typeface="Times New Roman" pitchFamily="18" charset="0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流線">
  <a:themeElements>
    <a:clrScheme name="灰階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pplab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流線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rgbClr val="CC99FF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682</TotalTime>
  <Words>732</Words>
  <Application>Microsoft Office PowerPoint</Application>
  <PresentationFormat>如螢幕大小 (4:3)</PresentationFormat>
  <Paragraphs>104</Paragraphs>
  <Slides>19</Slides>
  <Notes>0</Notes>
  <HiddenSlides>0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1" baseType="lpstr">
      <vt:lpstr>流線</vt:lpstr>
      <vt:lpstr>Equation</vt:lpstr>
      <vt:lpstr>The wide window string matching algorithm</vt:lpstr>
      <vt:lpstr>Abstract</vt:lpstr>
      <vt:lpstr>Pattern matching</vt:lpstr>
      <vt:lpstr>Pattern matching</vt:lpstr>
      <vt:lpstr>Basic Idea</vt:lpstr>
      <vt:lpstr>Automaton</vt:lpstr>
      <vt:lpstr>Suffix automaton (SA)</vt:lpstr>
      <vt:lpstr>Reverse prefix automaton (RPA)</vt:lpstr>
      <vt:lpstr>Algorithm</vt:lpstr>
      <vt:lpstr>Pseudo-code of WW</vt:lpstr>
      <vt:lpstr>Example</vt:lpstr>
      <vt:lpstr>Example</vt:lpstr>
      <vt:lpstr>Example</vt:lpstr>
      <vt:lpstr>Time complexity</vt:lpstr>
      <vt:lpstr>Experimental result</vt:lpstr>
      <vt:lpstr>Experimental result</vt:lpstr>
      <vt:lpstr>Experimental result</vt:lpstr>
      <vt:lpstr>Experimental result</vt:lpstr>
      <vt:lpstr>投影片 19</vt:lpstr>
    </vt:vector>
  </TitlesOfParts>
  <Company>nsysu-pplab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 algorithms for LCS Consecutive Suffix Alignment</dc:title>
  <dc:creator>dark</dc:creator>
  <cp:lastModifiedBy>Guest</cp:lastModifiedBy>
  <cp:revision>55</cp:revision>
  <dcterms:created xsi:type="dcterms:W3CDTF">2011-09-26T06:39:43Z</dcterms:created>
  <dcterms:modified xsi:type="dcterms:W3CDTF">2011-12-26T13:43:24Z</dcterms:modified>
</cp:coreProperties>
</file>