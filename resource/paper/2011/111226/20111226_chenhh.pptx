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4" r:id="rId9"/>
    <p:sldId id="266" r:id="rId10"/>
    <p:sldId id="267" r:id="rId11"/>
    <p:sldId id="274" r:id="rId12"/>
    <p:sldId id="275" r:id="rId13"/>
    <p:sldId id="260" r:id="rId14"/>
    <p:sldId id="261" r:id="rId15"/>
    <p:sldId id="276" r:id="rId16"/>
    <p:sldId id="277" r:id="rId17"/>
    <p:sldId id="279" r:id="rId18"/>
    <p:sldId id="278" r:id="rId19"/>
    <p:sldId id="280" r:id="rId20"/>
    <p:sldId id="281" r:id="rId21"/>
    <p:sldId id="282" r:id="rId22"/>
    <p:sldId id="285" r:id="rId23"/>
    <p:sldId id="286" r:id="rId24"/>
    <p:sldId id="284" r:id="rId25"/>
    <p:sldId id="287" r:id="rId26"/>
    <p:sldId id="288" r:id="rId27"/>
    <p:sldId id="289" r:id="rId28"/>
    <p:sldId id="290" r:id="rId29"/>
    <p:sldId id="291" r:id="rId30"/>
    <p:sldId id="293" r:id="rId31"/>
    <p:sldId id="294" r:id="rId32"/>
    <p:sldId id="295" r:id="rId33"/>
    <p:sldId id="297" r:id="rId34"/>
    <p:sldId id="298" r:id="rId35"/>
    <p:sldId id="296" r:id="rId36"/>
    <p:sldId id="299" r:id="rId37"/>
    <p:sldId id="300" r:id="rId38"/>
    <p:sldId id="302" r:id="rId39"/>
    <p:sldId id="301" r:id="rId40"/>
    <p:sldId id="292" r:id="rId4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3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05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08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68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43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67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42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149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366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77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2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74266-C809-4EFC-95D5-FB98F24B8A1B}" type="datetimeFigureOut">
              <a:rPr lang="zh-TW" altLang="en-US" smtClean="0"/>
              <a:t>2011/12/26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8B392-5C18-483E-AB67-3630D2522E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31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w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0.png"/><Relationship Id="rId4" Type="http://schemas.openxmlformats.org/officeDocument/2006/relationships/hyperlink" Target="http://rpy.sourceforge.net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87524" y="548680"/>
            <a:ext cx="8640960" cy="1470025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A </a:t>
            </a:r>
            <a:r>
              <a:rPr lang="en-US" altLang="zh-TW" sz="4000" dirty="0" smtClean="0"/>
              <a:t>Reality Check for Data Snooping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75048" y="2060848"/>
            <a:ext cx="6400800" cy="720080"/>
          </a:xfrm>
        </p:spPr>
        <p:txBody>
          <a:bodyPr/>
          <a:lstStyle/>
          <a:p>
            <a:r>
              <a:rPr lang="en-US" altLang="zh-TW" dirty="0" err="1" smtClean="0"/>
              <a:t>Halbert</a:t>
            </a:r>
            <a:r>
              <a:rPr lang="en-US" altLang="zh-TW" dirty="0" smtClean="0"/>
              <a:t> White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3356992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i="1" dirty="0" err="1"/>
              <a:t>Econometrica</a:t>
            </a:r>
            <a:r>
              <a:rPr lang="en-US" altLang="zh-TW" sz="2800" dirty="0"/>
              <a:t>, Vol. 68, No. </a:t>
            </a:r>
            <a:r>
              <a:rPr lang="en-US" altLang="zh-TW" sz="2800" dirty="0" smtClean="0"/>
              <a:t>5, pp. 1097-1126, 2000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03848" y="5157192"/>
            <a:ext cx="54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Presenter: Hung-</a:t>
            </a:r>
            <a:r>
              <a:rPr lang="en-US" altLang="zh-TW" sz="2800" dirty="0" err="1" smtClean="0"/>
              <a:t>Hsin</a:t>
            </a:r>
            <a:r>
              <a:rPr lang="en-US" altLang="zh-TW" sz="2800" dirty="0" smtClean="0"/>
              <a:t> Chen (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陳紘昕</a:t>
            </a:r>
            <a:r>
              <a:rPr lang="en-US" altLang="zh-TW" sz="2800" dirty="0" smtClean="0"/>
              <a:t>)</a:t>
            </a:r>
          </a:p>
          <a:p>
            <a:r>
              <a:rPr lang="en-US" altLang="zh-TW" sz="2800" dirty="0" smtClean="0"/>
              <a:t>Date: Dec. 26 , 2011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1136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9685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u="sng" dirty="0">
                <a:solidFill>
                  <a:srgbClr val="FF0000"/>
                </a:solidFill>
              </a:rPr>
              <a:t>Data snooping </a:t>
            </a:r>
            <a:r>
              <a:rPr lang="en-US" altLang="zh-TW" sz="2400" dirty="0">
                <a:solidFill>
                  <a:srgbClr val="FF0000"/>
                </a:solidFill>
              </a:rPr>
              <a:t>occurs when a given set of data is used more than once for purposes </a:t>
            </a:r>
            <a:r>
              <a:rPr lang="en-US" altLang="zh-TW" sz="2400" dirty="0" smtClean="0">
                <a:solidFill>
                  <a:srgbClr val="FF0000"/>
                </a:solidFill>
              </a:rPr>
              <a:t>of inference </a:t>
            </a:r>
            <a:r>
              <a:rPr lang="en-US" altLang="zh-TW" sz="2400" dirty="0">
                <a:solidFill>
                  <a:srgbClr val="FF0000"/>
                </a:solidFill>
              </a:rPr>
              <a:t>or model selection.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B0F0"/>
                </a:solidFill>
              </a:rPr>
              <a:t>When such data reuse occurs, there is always the </a:t>
            </a:r>
            <a:r>
              <a:rPr lang="en-US" altLang="zh-TW" sz="2400" dirty="0" smtClean="0">
                <a:solidFill>
                  <a:srgbClr val="00B0F0"/>
                </a:solidFill>
              </a:rPr>
              <a:t>possibility that </a:t>
            </a:r>
            <a:r>
              <a:rPr lang="en-US" altLang="zh-TW" sz="2400" dirty="0">
                <a:solidFill>
                  <a:srgbClr val="00B0F0"/>
                </a:solidFill>
              </a:rPr>
              <a:t>any satisfactory results obtained may simply be due to chance rather than to </a:t>
            </a:r>
            <a:r>
              <a:rPr lang="en-US" altLang="zh-TW" sz="2400" dirty="0" smtClean="0">
                <a:solidFill>
                  <a:srgbClr val="00B0F0"/>
                </a:solidFill>
              </a:rPr>
              <a:t>any merit </a:t>
            </a:r>
            <a:r>
              <a:rPr lang="en-US" altLang="zh-TW" sz="2400" dirty="0">
                <a:solidFill>
                  <a:srgbClr val="00B0F0"/>
                </a:solidFill>
              </a:rPr>
              <a:t>inherent in the method yielding the results. </a:t>
            </a:r>
            <a:r>
              <a:rPr lang="en-US" altLang="zh-TW" sz="2400" dirty="0"/>
              <a:t>This problem is practically </a:t>
            </a:r>
            <a:r>
              <a:rPr lang="en-US" altLang="zh-TW" sz="2400" dirty="0" smtClean="0"/>
              <a:t>unavoidable in </a:t>
            </a:r>
            <a:r>
              <a:rPr lang="en-US" altLang="zh-TW" sz="2400" dirty="0"/>
              <a:t>the analysis of time-series data, as typically only a single history measuring a </a:t>
            </a:r>
            <a:r>
              <a:rPr lang="en-US" altLang="zh-TW" sz="2400" dirty="0" smtClean="0"/>
              <a:t>given phenomenon </a:t>
            </a:r>
            <a:r>
              <a:rPr lang="en-US" altLang="zh-TW" sz="2400" dirty="0"/>
              <a:t>of interest is available for analysis. It is widely acknowledged by </a:t>
            </a:r>
            <a:r>
              <a:rPr lang="en-US" altLang="zh-TW" sz="2400" dirty="0" smtClean="0"/>
              <a:t>empirical researchers </a:t>
            </a:r>
            <a:r>
              <a:rPr lang="en-US" altLang="zh-TW" sz="2400" dirty="0"/>
              <a:t>that data snooping is a dangerous practice to be avoided, but in fact it </a:t>
            </a:r>
            <a:r>
              <a:rPr lang="en-US" altLang="zh-TW" sz="2400" dirty="0" smtClean="0"/>
              <a:t>is endemic</a:t>
            </a:r>
            <a:r>
              <a:rPr lang="en-US" altLang="zh-TW" sz="2400" dirty="0"/>
              <a:t>. The main problem has been a lack of sufficiently simple practical </a:t>
            </a:r>
            <a:r>
              <a:rPr lang="en-US" altLang="zh-TW" sz="2400" dirty="0" smtClean="0"/>
              <a:t>methods capable </a:t>
            </a:r>
            <a:r>
              <a:rPr lang="en-US" altLang="zh-TW" sz="2400" dirty="0"/>
              <a:t>of assessing the potential dangers of data snooping in a given situation.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1930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sz="2800" dirty="0" smtClean="0"/>
              <a:t>Our purpose here is to </a:t>
            </a:r>
            <a:r>
              <a:rPr lang="en-US" altLang="zh-TW" sz="2800" dirty="0" smtClean="0">
                <a:solidFill>
                  <a:srgbClr val="FF0000"/>
                </a:solidFill>
              </a:rPr>
              <a:t>provide such methods by specifying a straightforward procedure for </a:t>
            </a:r>
            <a:r>
              <a:rPr lang="en-US" altLang="zh-TW" sz="2800" u="sng" dirty="0" smtClean="0">
                <a:solidFill>
                  <a:srgbClr val="FF0000"/>
                </a:solidFill>
              </a:rPr>
              <a:t>testing the null hypothesis that the best model encountered in a specification search has no predictive superiority over a given benchmark model.</a:t>
            </a:r>
            <a:r>
              <a:rPr lang="en-US" altLang="zh-TW" sz="2800" u="sng" dirty="0" smtClean="0"/>
              <a:t> </a:t>
            </a:r>
            <a:r>
              <a:rPr lang="en-US" altLang="zh-TW" sz="2800" dirty="0" smtClean="0"/>
              <a:t>This permits data snooping to be undertaken with some degree of confidence that one will not mistake results that could have been generated by chance for genuinely good results.</a:t>
            </a:r>
            <a:endParaRPr lang="zh-TW" altLang="en-US" sz="2800" dirty="0" smtClean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7314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snooping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由於財務資料難以重複實驗的侷限性，個別的研究者通常利用相同的資料進行研究，卻忽略了將這種重複利用相同資料進行研究，所產生對資料的過度推論或是推論錯誤，稱為 資料窺探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(data 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snopping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問題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。</a:t>
            </a:r>
          </a:p>
          <a:p>
            <a:endParaRPr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當模型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基金或交易策略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數目眾多時，因data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dirty="0" err="1" smtClean="0">
                <a:latin typeface="微軟正黑體" pitchFamily="34" charset="-120"/>
                <a:ea typeface="微軟正黑體" pitchFamily="34" charset="-120"/>
              </a:rPr>
              <a:t>snooping而產生的偏誤會更加嚴重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852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Paired-sample estimation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Paired sample:</a:t>
            </a:r>
          </a:p>
          <a:p>
            <a:pPr marL="0" indent="0">
              <a:buNone/>
            </a:pP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自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population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中抽取元素，對同一元素蒐集實驗前後兩個觀察值所構成的樣本。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39552" y="626867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應用統計學，林惠玲、陳正倉著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45282" y="4077072"/>
            <a:ext cx="489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Paired difference </a:t>
            </a:r>
            <a:r>
              <a:rPr lang="en-US" altLang="zh-TW" sz="2400" b="1" i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D</a:t>
            </a:r>
            <a:r>
              <a:rPr lang="en-US" altLang="zh-TW" sz="2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:</a:t>
            </a:r>
          </a:p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同一元素兩個觀察值的差值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416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94" t="6633" r="6025" b="5093"/>
          <a:stretch/>
        </p:blipFill>
        <p:spPr>
          <a:xfrm>
            <a:off x="0" y="558298"/>
            <a:ext cx="5593208" cy="47429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30999" y="471154"/>
                <a:ext cx="262535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𝑝𝑜𝑝𝑢𝑙𝑎𝑡𝑖𝑜𝑛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lang="en-US" altLang="zh-TW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800" i="1" smtClean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800" b="0" i="1" smtClean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800" b="0" i="1" smtClean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0" smtClean="0">
                          <a:latin typeface="Cambria Math"/>
                        </a:rPr>
                        <m:t>,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zh-TW" altLang="en-US" sz="280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99" y="471154"/>
                <a:ext cx="2625352" cy="13849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930999" y="2420888"/>
                <a:ext cx="3452936" cy="3064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𝑠𝑎𝑚𝑝𝑙𝑒</m:t>
                      </m:r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lang="en-US" altLang="zh-TW" sz="2800" b="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80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8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TW" sz="28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sz="2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TW" sz="28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nary>
                        </m:num>
                        <m:den>
                          <m: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TW" sz="28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8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b="0" i="1" smtClean="0">
                                          <a:latin typeface="Cambria Math"/>
                                        </a:rPr>
                                        <m:t>𝐷</m:t>
                                      </m:r>
                                      <m:r>
                                        <a:rPr lang="en-US" altLang="zh-TW" sz="2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2800" b="0" i="1" smtClean="0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altLang="zh-TW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altLang="zh-TW" sz="280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800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>
                          <m:r>
                            <a:rPr lang="en-US" altLang="zh-TW" sz="2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sz="28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n-US" altLang="zh-TW" sz="2800" i="1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TW" sz="2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99" y="2420888"/>
                <a:ext cx="3452936" cy="306455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2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Paired sample confidence interval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251520" y="1458362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Large sample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77850" y="4194666"/>
                <a:ext cx="6552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FF0000"/>
                    </a:solidFill>
                  </a:rPr>
                  <a:t>Small sample (</a:t>
                </a:r>
                <a:r>
                  <a:rPr lang="zh-TW" altLang="en-US" sz="2800" dirty="0" smtClean="0">
                    <a:solidFill>
                      <a:srgbClr val="FF0000"/>
                    </a:solidFill>
                  </a:rPr>
                  <a:t>使用</a:t>
                </a:r>
                <a:r>
                  <a:rPr lang="en-US" altLang="zh-TW" sz="2800" i="1" dirty="0" smtClean="0">
                    <a:solidFill>
                      <a:srgbClr val="FF0000"/>
                    </a:solidFill>
                  </a:rPr>
                  <a:t>T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 dist. </a:t>
                </a:r>
                <a:r>
                  <a:rPr lang="zh-TW" altLang="en-US" sz="2800" dirty="0" smtClean="0">
                    <a:solidFill>
                      <a:srgbClr val="FF0000"/>
                    </a:solidFill>
                  </a:rPr>
                  <a:t>估計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TW" sz="2800" dirty="0" smtClean="0">
                    <a:solidFill>
                      <a:srgbClr val="FF0000"/>
                    </a:solidFill>
                  </a:rPr>
                  <a:t>)</a:t>
                </a:r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50" y="4194666"/>
                <a:ext cx="6552728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953" t="-12791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7544" y="2122587"/>
                <a:ext cx="7416824" cy="186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>
                    <a:solidFill>
                      <a:schemeClr val="tx1"/>
                    </a:solidFill>
                  </a:rPr>
                  <a:t>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已知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/>
                </a:r>
                <a:br>
                  <a:rPr lang="en-US" altLang="zh-TW" sz="2400" dirty="0" smtClean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±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chemeClr val="tx1"/>
                    </a:solidFill>
                  </a:rPr>
                  <a:t>2. Variance</a:t>
                </a:r>
                <a:r>
                  <a:rPr lang="zh-TW" altLang="en-US" sz="2400" dirty="0" smtClean="0">
                    <a:solidFill>
                      <a:schemeClr val="tx1"/>
                    </a:solidFill>
                  </a:rPr>
                  <a:t>未知，以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估計</a:t>
                </a:r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±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𝑍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sSubSup>
                        <m:sSubSup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122587"/>
                <a:ext cx="7416824" cy="1863011"/>
              </a:xfrm>
              <a:prstGeom prst="rect">
                <a:avLst/>
              </a:prstGeom>
              <a:blipFill rotWithShape="1">
                <a:blip r:embed="rId3"/>
                <a:stretch>
                  <a:fillRect l="-1316" t="-2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89273" y="4717886"/>
                <a:ext cx="7416824" cy="186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>
                    <a:solidFill>
                      <a:schemeClr val="tx1"/>
                    </a:solidFill>
                  </a:rPr>
                  <a:t>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已知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/>
                </a:r>
                <a:br>
                  <a:rPr lang="en-US" altLang="zh-TW" sz="2400" dirty="0" smtClean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  <m:r>
                      <a:rPr lang="en-US" altLang="zh-TW" sz="2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±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chemeClr val="tx1"/>
                    </a:solidFill>
                  </a:rPr>
                  <a:t>2. Variance</a:t>
                </a:r>
                <a:r>
                  <a:rPr lang="zh-TW" altLang="en-US" sz="2400" dirty="0" smtClean="0">
                    <a:solidFill>
                      <a:schemeClr val="tx1"/>
                    </a:solidFill>
                  </a:rPr>
                  <a:t>未知，以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估計</a:t>
                </a:r>
                <a:endParaRPr lang="en-US" altLang="zh-TW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±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−1, </m:t>
                          </m:r>
                          <m:f>
                            <m:fPr>
                              <m:type m:val="skw"/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zh-TW" alt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sSubSup>
                        <m:sSubSup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zh-TW" alt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73" y="4717886"/>
                <a:ext cx="7416824" cy="1863011"/>
              </a:xfrm>
              <a:prstGeom prst="rect">
                <a:avLst/>
              </a:prstGeom>
              <a:blipFill rotWithShape="1">
                <a:blip r:embed="rId4"/>
                <a:stretch>
                  <a:fillRect l="-1233" t="-2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02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223" y="3012911"/>
            <a:ext cx="27432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3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435" y="3865399"/>
            <a:ext cx="552450" cy="30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3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573" y="3865399"/>
            <a:ext cx="552450" cy="30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02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261316"/>
              </p:ext>
            </p:extLst>
          </p:nvPr>
        </p:nvGraphicFramePr>
        <p:xfrm>
          <a:off x="227704" y="116632"/>
          <a:ext cx="871296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475"/>
                <a:gridCol w="1948123"/>
                <a:gridCol w="1948123"/>
                <a:gridCol w="1948123"/>
                <a:gridCol w="1948123"/>
              </a:tblGrid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學生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減肥前體重</a:t>
                      </a:r>
                      <a:r>
                        <a:rPr lang="en-US" altLang="zh-TW" sz="2400" dirty="0" smtClean="0"/>
                        <a:t>X</a:t>
                      </a:r>
                      <a:r>
                        <a:rPr lang="en-US" altLang="zh-TW" sz="2400" baseline="-25000" dirty="0" smtClean="0"/>
                        <a:t>1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減肥後體重</a:t>
                      </a:r>
                      <a:r>
                        <a:rPr lang="en-US" altLang="zh-TW" sz="2400" dirty="0" smtClean="0"/>
                        <a:t>X</a:t>
                      </a:r>
                      <a:r>
                        <a:rPr lang="en-US" altLang="zh-TW" sz="2400" baseline="-25000" dirty="0" smtClean="0"/>
                        <a:t>2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體重差</a:t>
                      </a:r>
                      <a:r>
                        <a:rPr lang="en-US" altLang="zh-TW" sz="2400" dirty="0" smtClean="0"/>
                        <a:t/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dirty="0" smtClean="0"/>
                        <a:t>D=X</a:t>
                      </a:r>
                      <a:r>
                        <a:rPr lang="en-US" altLang="zh-TW" sz="2400" baseline="-25000" dirty="0" smtClean="0"/>
                        <a:t>1</a:t>
                      </a:r>
                      <a:r>
                        <a:rPr lang="en-US" altLang="zh-TW" sz="2400" dirty="0" smtClean="0"/>
                        <a:t>-X</a:t>
                      </a:r>
                      <a:r>
                        <a:rPr lang="en-US" altLang="zh-TW" sz="2400" baseline="-25000" dirty="0" smtClean="0"/>
                        <a:t>2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r>
                        <a:rPr lang="en-US" altLang="zh-TW" sz="2400" baseline="30000" dirty="0" smtClean="0"/>
                        <a:t>2</a:t>
                      </a:r>
                      <a:endParaRPr lang="zh-TW" altLang="en-US" sz="2400" baseline="300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196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64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225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Sum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610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3528" y="3861048"/>
                <a:ext cx="3061992" cy="806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nary>
                        </m:num>
                        <m:den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52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=10.4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861048"/>
                <a:ext cx="3061992" cy="80643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491880" y="3894757"/>
                <a:ext cx="5772927" cy="833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𝐷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2400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𝑛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−1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/>
                            </a:rPr>
                            <m:t>610−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52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/>
                            </a:rPr>
                            <m:t>/5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/>
                            </a:rPr>
                            <m:t>5−1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4.159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3894757"/>
                <a:ext cx="5772927" cy="8334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2114" y="4728255"/>
                <a:ext cx="3480761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/>
                      </m:sSubSup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sub>
                            <m:sup/>
                          </m:sSub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4.169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=1.86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14" y="4728255"/>
                <a:ext cx="3480761" cy="8552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894579" y="4869160"/>
                <a:ext cx="5616624" cy="1696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/>
                        </a:rPr>
                        <m:t>𝛼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=0.05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95%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信賴區間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TW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4, 0.0025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=2.776</m:t>
                      </m:r>
                    </m:oMath>
                  </m:oMathPara>
                </a14:m>
                <a:endParaRPr lang="en-US" altLang="zh-TW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±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−1, </m:t>
                          </m:r>
                          <m:f>
                            <m:fPr>
                              <m:type m:val="skw"/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zh-TW" alt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sSubSup>
                        <m:sSubSup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zh-TW" alt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=5.237~15.563</m:t>
                      </m:r>
                    </m:oMath>
                  </m:oMathPara>
                </a14:m>
                <a:endParaRPr lang="zh-TW" altLang="en-US" sz="2400" dirty="0"/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579" y="4869160"/>
                <a:ext cx="5616624" cy="16961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971600" y="6309320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rgbClr val="FF0000"/>
                </a:solidFill>
                <a:ea typeface="標楷體" pitchFamily="65" charset="-120"/>
              </a:rPr>
              <a:t>減肥後，</a:t>
            </a:r>
            <a:r>
              <a:rPr lang="en-US" altLang="zh-TW" sz="2400" dirty="0" smtClean="0">
                <a:solidFill>
                  <a:srgbClr val="FF0000"/>
                </a:solidFill>
                <a:ea typeface="標楷體" pitchFamily="65" charset="-120"/>
              </a:rPr>
              <a:t>95%</a:t>
            </a:r>
            <a:r>
              <a:rPr lang="zh-TW" altLang="en-US" sz="2400" dirty="0" smtClean="0">
                <a:solidFill>
                  <a:srgbClr val="FF0000"/>
                </a:solidFill>
                <a:ea typeface="標楷體" pitchFamily="65" charset="-120"/>
              </a:rPr>
              <a:t>的人可減少</a:t>
            </a:r>
            <a:r>
              <a:rPr lang="en-US" altLang="zh-TW" sz="2400" dirty="0" smtClean="0">
                <a:solidFill>
                  <a:srgbClr val="FF0000"/>
                </a:solidFill>
                <a:ea typeface="標楷體" pitchFamily="65" charset="-120"/>
              </a:rPr>
              <a:t>5.237~15.563</a:t>
            </a:r>
            <a:r>
              <a:rPr lang="zh-TW" altLang="en-US" sz="2400" dirty="0" smtClean="0">
                <a:solidFill>
                  <a:srgbClr val="FF0000"/>
                </a:solidFill>
                <a:ea typeface="標楷體" pitchFamily="65" charset="-120"/>
              </a:rPr>
              <a:t>公斤</a:t>
            </a:r>
            <a:endParaRPr lang="zh-TW" altLang="en-US" sz="2400" dirty="0">
              <a:solidFill>
                <a:srgbClr val="FF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2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9273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Paired sample hypothesis test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583668" y="1029955"/>
                <a:ext cx="5184576" cy="559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800" b="0" i="1" smtClean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𝑎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  </m:t>
                          </m:r>
                          <m:r>
                            <a:rPr lang="en-US" altLang="zh-TW" sz="2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altLang="zh-TW" sz="280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altLang="zh-TW" sz="2800" i="1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68" y="1029955"/>
                <a:ext cx="5184576" cy="55996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107504" y="1600404"/>
            <a:ext cx="2232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Large sample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15516" y="3779928"/>
                <a:ext cx="6552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FF0000"/>
                    </a:solidFill>
                  </a:rPr>
                  <a:t>Small sample (</a:t>
                </a:r>
                <a:r>
                  <a:rPr lang="zh-TW" altLang="en-US" sz="2800" dirty="0" smtClean="0">
                    <a:solidFill>
                      <a:srgbClr val="FF0000"/>
                    </a:solidFill>
                  </a:rPr>
                  <a:t>使用</a:t>
                </a:r>
                <a:r>
                  <a:rPr lang="en-US" altLang="zh-TW" sz="2800" i="1" dirty="0" smtClean="0">
                    <a:solidFill>
                      <a:srgbClr val="FF0000"/>
                    </a:solidFill>
                  </a:rPr>
                  <a:t>T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 dist. </a:t>
                </a:r>
                <a:r>
                  <a:rPr lang="zh-TW" altLang="en-US" sz="2800" dirty="0" smtClean="0">
                    <a:solidFill>
                      <a:srgbClr val="FF0000"/>
                    </a:solidFill>
                  </a:rPr>
                  <a:t>估計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TW" sz="2800" dirty="0" smtClean="0">
                    <a:solidFill>
                      <a:srgbClr val="FF0000"/>
                    </a:solidFill>
                  </a:rPr>
                  <a:t>)</a:t>
                </a:r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6" y="3779928"/>
                <a:ext cx="6552728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860" t="-12791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39751" y="2276872"/>
                <a:ext cx="7416824" cy="1289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>
                    <a:solidFill>
                      <a:schemeClr val="tx1"/>
                    </a:solidFill>
                  </a:rPr>
                  <a:t>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已知</a:t>
                </a:r>
                <a:r>
                  <a:rPr lang="en-US" altLang="zh-TW" sz="2400" dirty="0" smtClean="0"/>
                  <a:t>: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  </m:t>
                    </m:r>
                    <m:r>
                      <a:rPr lang="en-US" altLang="zh-TW" sz="2000" b="0" i="1" smtClean="0">
                        <a:latin typeface="Cambria Math"/>
                      </a:rPr>
                      <m:t>𝑍</m:t>
                    </m:r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TW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zh-TW" altLang="en-US" sz="20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zh-TW" altLang="en-US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𝐷</m:t>
                                </m:r>
                              </m:e>
                            </m:acc>
                          </m:sub>
                          <m:sup/>
                        </m:sSubSup>
                      </m:den>
                    </m:f>
                    <m:r>
                      <a:rPr lang="en-US" altLang="zh-TW" sz="2000" b="0" i="1" smtClean="0">
                        <a:latin typeface="Cambria Math"/>
                      </a:rPr>
                      <m:t>~</m:t>
                    </m:r>
                    <m:r>
                      <a:rPr lang="en-US" altLang="zh-TW" sz="2000" b="0" i="1" smtClean="0">
                        <a:latin typeface="Cambria Math"/>
                      </a:rPr>
                      <m:t>𝑁</m:t>
                    </m:r>
                    <m:r>
                      <a:rPr lang="en-US" altLang="zh-TW" sz="2000" b="0" i="1" smtClean="0">
                        <a:latin typeface="Cambria Math"/>
                      </a:rPr>
                      <m:t>(0,1)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chemeClr val="tx1"/>
                    </a:solidFill>
                  </a:rPr>
                  <a:t>2. Variance</a:t>
                </a:r>
                <a:r>
                  <a:rPr lang="zh-TW" altLang="en-US" sz="2400" dirty="0" smtClean="0">
                    <a:solidFill>
                      <a:schemeClr val="tx1"/>
                    </a:solidFill>
                  </a:rPr>
                  <a:t>未知，以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估計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/>
                      </a:rPr>
                      <m:t> </m:t>
                    </m:r>
                    <m:r>
                      <a:rPr lang="en-US" altLang="zh-TW" sz="2400" i="1">
                        <a:latin typeface="Cambria Math"/>
                      </a:rPr>
                      <m:t>𝑍</m:t>
                    </m:r>
                    <m:r>
                      <a:rPr lang="en-US" altLang="zh-TW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𝐷</m:t>
                                </m:r>
                              </m:e>
                            </m:acc>
                          </m:sub>
                          <m:sup/>
                        </m:sSubSup>
                      </m:den>
                    </m:f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/>
                      </a:rPr>
                      <m:t>~</m:t>
                    </m:r>
                    <m:r>
                      <a:rPr lang="en-US" altLang="zh-TW" sz="2400" i="1">
                        <a:latin typeface="Cambria Math"/>
                      </a:rPr>
                      <m:t>𝑁</m:t>
                    </m:r>
                    <m:r>
                      <a:rPr lang="en-US" altLang="zh-TW" sz="2400" i="1">
                        <a:latin typeface="Cambria Math"/>
                      </a:rPr>
                      <m:t>(0,1)</m:t>
                    </m:r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1" y="2276872"/>
                <a:ext cx="7416824" cy="1289456"/>
              </a:xfrm>
              <a:prstGeom prst="rect">
                <a:avLst/>
              </a:prstGeom>
              <a:blipFill rotWithShape="1">
                <a:blip r:embed="rId4"/>
                <a:stretch>
                  <a:fillRect l="-1233" t="-4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39751" y="4636647"/>
                <a:ext cx="7416824" cy="1396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 dirty="0" smtClean="0">
                    <a:solidFill>
                      <a:schemeClr val="tx1"/>
                    </a:solidFill>
                  </a:rPr>
                  <a:t>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已知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/>
                      </a:rPr>
                      <m:t> </m:t>
                    </m:r>
                    <m:r>
                      <a:rPr lang="en-US" altLang="zh-TW" sz="2400" i="1">
                        <a:latin typeface="Cambria Math"/>
                      </a:rPr>
                      <m:t>𝑍</m:t>
                    </m:r>
                    <m:r>
                      <a:rPr lang="en-US" altLang="zh-TW" sz="24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TW" sz="24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zh-TW" altLang="en-US" sz="24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𝐷</m:t>
                                </m:r>
                              </m:e>
                            </m:acc>
                          </m:sub>
                          <m:sup/>
                        </m:sSubSup>
                      </m:den>
                    </m:f>
                    <m:r>
                      <a:rPr lang="en-US" altLang="zh-TW" sz="2400" i="1">
                        <a:latin typeface="Cambria Math"/>
                      </a:rPr>
                      <m:t>~</m:t>
                    </m:r>
                    <m:r>
                      <a:rPr lang="en-US" altLang="zh-TW" sz="2400" i="1">
                        <a:latin typeface="Cambria Math"/>
                      </a:rPr>
                      <m:t>𝑁</m:t>
                    </m:r>
                    <m:r>
                      <a:rPr lang="en-US" altLang="zh-TW" sz="2400" i="1">
                        <a:latin typeface="Cambria Math"/>
                      </a:rPr>
                      <m:t>(0,1)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chemeClr val="tx1"/>
                    </a:solidFill>
                  </a:rPr>
                  <a:t>2. Variance</a:t>
                </a:r>
                <a:r>
                  <a:rPr lang="zh-TW" altLang="en-US" sz="2400" dirty="0" smtClean="0">
                    <a:solidFill>
                      <a:schemeClr val="tx1"/>
                    </a:solidFill>
                  </a:rPr>
                  <a:t>未知，以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2400" dirty="0" smtClean="0">
                    <a:solidFill>
                      <a:schemeClr val="tx1"/>
                    </a:solidFill>
                  </a:rPr>
                  <a:t>估計</a:t>
                </a:r>
                <a:r>
                  <a:rPr lang="en-US" altLang="zh-TW" sz="2400" dirty="0" smtClean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sz="2400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TW" sz="24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</m:acc>
                        <m:r>
                          <a:rPr lang="en-US" altLang="zh-TW" sz="2400" i="1">
                            <a:solidFill>
                              <a:srgbClr val="00B0F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8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sz="28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TW" sz="24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solidFill>
                                  <a:srgbClr val="00B0F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zh-TW" altLang="en-US" sz="2400" i="1">
                                    <a:solidFill>
                                      <a:srgbClr val="00B0F0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solidFill>
                                      <a:srgbClr val="00B0F0"/>
                                    </a:solidFill>
                                    <a:latin typeface="Cambria Math"/>
                                  </a:rPr>
                                  <m:t>𝐷</m:t>
                                </m:r>
                              </m:e>
                            </m:acc>
                          </m:sub>
                          <m:sup/>
                        </m:sSubSup>
                      </m:den>
                    </m:f>
                    <m:r>
                      <a:rPr lang="en-US" altLang="zh-TW" sz="2400" i="1">
                        <a:solidFill>
                          <a:srgbClr val="00B0F0"/>
                        </a:solidFill>
                        <a:latin typeface="Cambria Math"/>
                      </a:rPr>
                      <m:t>~</m:t>
                    </m:r>
                    <m:r>
                      <a:rPr lang="en-US" altLang="zh-TW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𝑛</m:t>
                    </m:r>
                    <m:r>
                      <a:rPr lang="en-US" altLang="zh-TW" sz="2400" b="0" i="1" smtClean="0">
                        <a:solidFill>
                          <a:srgbClr val="00B0F0"/>
                        </a:solidFill>
                        <a:latin typeface="Cambria Math"/>
                      </a:rPr>
                      <m:t>−1)</m:t>
                    </m:r>
                  </m:oMath>
                </a14:m>
                <a:endParaRPr lang="en-US" altLang="zh-TW" sz="2400" dirty="0" smtClean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1" y="4636647"/>
                <a:ext cx="7416824" cy="1396664"/>
              </a:xfrm>
              <a:prstGeom prst="rect">
                <a:avLst/>
              </a:prstGeom>
              <a:blipFill rotWithShape="1">
                <a:blip r:embed="rId5"/>
                <a:stretch>
                  <a:fillRect l="-12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027"/>
          <p:cNvGrpSpPr>
            <a:grpSpLocks/>
          </p:cNvGrpSpPr>
          <p:nvPr/>
        </p:nvGrpSpPr>
        <p:grpSpPr bwMode="auto">
          <a:xfrm>
            <a:off x="6750483" y="2348146"/>
            <a:ext cx="2194475" cy="3313102"/>
            <a:chOff x="3744" y="1820"/>
            <a:chExt cx="1872" cy="1876"/>
          </a:xfrm>
        </p:grpSpPr>
        <p:pic>
          <p:nvPicPr>
            <p:cNvPr id="13" name="Picture 102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7" y="1820"/>
              <a:ext cx="1728" cy="1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029"/>
            <p:cNvSpPr>
              <a:spLocks noChangeArrowheads="1"/>
            </p:cNvSpPr>
            <p:nvPr/>
          </p:nvSpPr>
          <p:spPr bwMode="auto">
            <a:xfrm>
              <a:off x="3792" y="2958"/>
              <a:ext cx="1776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9pPr>
            </a:lstStyle>
            <a:p>
              <a:pPr algn="just" fontAlgn="ctr">
                <a:lnSpc>
                  <a:spcPts val="2000"/>
                </a:lnSpc>
              </a:pP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則否定虛無假設 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H</a:t>
              </a:r>
              <a:r>
                <a:rPr lang="en-US" altLang="zh-TW" sz="1400" baseline="-250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0</a:t>
              </a: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，亦即接受對立假設 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H</a:t>
              </a:r>
              <a:r>
                <a:rPr lang="en-US" altLang="zh-TW" sz="1400" baseline="-250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1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﹔</a:t>
              </a: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否則不否定虛無假設 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H</a:t>
              </a:r>
              <a:r>
                <a:rPr lang="en-US" altLang="zh-TW" sz="1400" baseline="-250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0</a:t>
              </a: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，亦即在目前無證據否定虛無假設 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H</a:t>
              </a:r>
              <a:r>
                <a:rPr lang="en-US" altLang="zh-TW" sz="1400" baseline="-250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0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 </a:t>
              </a: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時，就接受 </a:t>
              </a:r>
              <a:r>
                <a:rPr lang="en-US" altLang="zh-TW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H</a:t>
              </a:r>
              <a:r>
                <a:rPr lang="en-US" altLang="zh-TW" sz="1400" baseline="-250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0</a:t>
              </a:r>
              <a:r>
                <a:rPr lang="zh-TW" altLang="en-US" sz="1400" dirty="0">
                  <a:solidFill>
                    <a:srgbClr val="000000"/>
                  </a:solidFill>
                  <a:latin typeface="Arial" pitchFamily="34" charset="0"/>
                  <a:ea typeface="全真中黑體" pitchFamily="49" charset="-120"/>
                </a:rPr>
                <a:t>。</a:t>
              </a:r>
              <a:r>
                <a:rPr lang="zh-TW" altLang="en-US" sz="1400" dirty="0">
                  <a:latin typeface="Arial" pitchFamily="34" charset="0"/>
                  <a:ea typeface="全真中黑體" pitchFamily="49" charset="-120"/>
                </a:rPr>
                <a:t> </a:t>
              </a:r>
            </a:p>
          </p:txBody>
        </p:sp>
        <p:pic>
          <p:nvPicPr>
            <p:cNvPr id="15" name="Picture 103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3" y="1884"/>
              <a:ext cx="1728" cy="1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03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8" y="2357"/>
              <a:ext cx="348" cy="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3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1" y="2357"/>
              <a:ext cx="348" cy="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033"/>
            <p:cNvSpPr>
              <a:spLocks noChangeArrowheads="1"/>
            </p:cNvSpPr>
            <p:nvPr/>
          </p:nvSpPr>
          <p:spPr bwMode="auto">
            <a:xfrm>
              <a:off x="3744" y="1872"/>
              <a:ext cx="1872" cy="18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  <a:cs typeface="+mn-cs"/>
                </a:defRPr>
              </a:lvl9pPr>
            </a:lstStyle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62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80165"/>
              </p:ext>
            </p:extLst>
          </p:nvPr>
        </p:nvGraphicFramePr>
        <p:xfrm>
          <a:off x="227704" y="116632"/>
          <a:ext cx="871296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475"/>
                <a:gridCol w="1948123"/>
                <a:gridCol w="1948123"/>
                <a:gridCol w="1948123"/>
                <a:gridCol w="1948123"/>
              </a:tblGrid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學生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減肥前體重</a:t>
                      </a:r>
                      <a:r>
                        <a:rPr lang="en-US" altLang="zh-TW" sz="2400" dirty="0" smtClean="0"/>
                        <a:t>X</a:t>
                      </a:r>
                      <a:r>
                        <a:rPr lang="en-US" altLang="zh-TW" sz="2400" baseline="-25000" dirty="0" smtClean="0"/>
                        <a:t>1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減肥後體重</a:t>
                      </a:r>
                      <a:r>
                        <a:rPr lang="en-US" altLang="zh-TW" sz="2400" dirty="0" smtClean="0"/>
                        <a:t>X</a:t>
                      </a:r>
                      <a:r>
                        <a:rPr lang="en-US" altLang="zh-TW" sz="2400" baseline="-25000" dirty="0" smtClean="0"/>
                        <a:t>2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/>
                        <a:t>體重差</a:t>
                      </a:r>
                      <a:r>
                        <a:rPr lang="en-US" altLang="zh-TW" sz="2400" dirty="0" smtClean="0"/>
                        <a:t/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dirty="0" smtClean="0"/>
                        <a:t>D=X</a:t>
                      </a:r>
                      <a:r>
                        <a:rPr lang="en-US" altLang="zh-TW" sz="2400" baseline="-25000" dirty="0" smtClean="0"/>
                        <a:t>1</a:t>
                      </a:r>
                      <a:r>
                        <a:rPr lang="en-US" altLang="zh-TW" sz="2400" dirty="0" smtClean="0"/>
                        <a:t>-X</a:t>
                      </a:r>
                      <a:r>
                        <a:rPr lang="en-US" altLang="zh-TW" sz="2400" baseline="-25000" dirty="0" smtClean="0"/>
                        <a:t>2</a:t>
                      </a:r>
                      <a:endParaRPr lang="zh-TW" altLang="en-US" sz="2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r>
                        <a:rPr lang="en-US" altLang="zh-TW" sz="2400" baseline="30000" dirty="0" smtClean="0"/>
                        <a:t>2</a:t>
                      </a:r>
                      <a:endParaRPr lang="zh-TW" altLang="en-US" sz="2400" baseline="300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196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64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225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652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Sum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610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23528" y="3861048"/>
                <a:ext cx="1950727" cy="1580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</m:acc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=10.4</m:t>
                      </m:r>
                    </m:oMath>
                  </m:oMathPara>
                </a14:m>
                <a:endParaRPr lang="en-US" altLang="zh-TW" sz="2400" b="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</m:sub>
                        <m:sup/>
                      </m:sSubSup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/>
                        </a:rPr>
                        <m:t>=1.86</m:t>
                      </m:r>
                    </m:oMath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=0.005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  <a:p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861048"/>
                <a:ext cx="1950727" cy="15801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474743" y="3757302"/>
                <a:ext cx="5184576" cy="89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: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=0 (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減肥無顯著差異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) </m:t>
                      </m:r>
                    </m:oMath>
                  </m:oMathPara>
                </a14:m>
                <a:endParaRPr lang="en-US" altLang="zh-TW" sz="2400" b="0" i="1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: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altLang="zh-TW" sz="24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sz="2400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(</a:t>
                </a:r>
                <a:r>
                  <a:rPr lang="zh-TW" altLang="en-US" sz="2400" smtClean="0"/>
                  <a:t>減肥有顯著差異</a:t>
                </a:r>
                <a:r>
                  <a:rPr lang="en-US" altLang="zh-TW" sz="2400" smtClean="0"/>
                  <a:t>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743" y="3757302"/>
                <a:ext cx="5184576" cy="893834"/>
              </a:xfrm>
              <a:prstGeom prst="rect">
                <a:avLst/>
              </a:prstGeom>
              <a:blipFill rotWithShape="1">
                <a:blip r:embed="rId3"/>
                <a:stretch>
                  <a:fillRect l="-353" b="-115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699792" y="4797152"/>
                <a:ext cx="3547702" cy="7886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</m:acc>
                            </m:sub>
                            <m:sup/>
                          </m:sSubSup>
                        </m:den>
                      </m:f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10.4−0</m:t>
                          </m:r>
                        </m:num>
                        <m:den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1.86</m:t>
                          </m:r>
                        </m:den>
                      </m:f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=5.59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797152"/>
                <a:ext cx="3547702" cy="7886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399779" y="5585829"/>
                <a:ext cx="522982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Two side test: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𝑝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𝑣𝑎𝑙𝑢𝑒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=2∗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&gt;5.59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&lt;0.005</m:t>
                      </m:r>
                    </m:oMath>
                  </m:oMathPara>
                </a14:m>
                <a:r>
                  <a:rPr lang="en-US" altLang="zh-TW" sz="2000" b="0" i="1" dirty="0" smtClean="0">
                    <a:latin typeface="Cambria Math"/>
                  </a:rPr>
                  <a:t/>
                </a:r>
                <a:br>
                  <a:rPr lang="en-US" altLang="zh-TW" sz="20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zh-TW" altLang="en-US" sz="2000" dirty="0">
                        <a:latin typeface="Cambria Math"/>
                      </a:rPr>
                      <m:t>所</m:t>
                    </m:r>
                    <m:r>
                      <a:rPr lang="zh-TW" altLang="en-US" sz="2000" b="0" i="1" dirty="0" smtClean="0">
                        <a:latin typeface="Cambria Math"/>
                      </a:rPr>
                      <m:t>以拒絕虛無假設</m:t>
                    </m:r>
                    <m:r>
                      <a:rPr lang="en-US" altLang="zh-TW" sz="2000" b="0" i="1" dirty="0" smtClean="0">
                        <a:latin typeface="Cambria Math"/>
                      </a:rPr>
                      <m:t>𝐻</m:t>
                    </m:r>
                    <m:r>
                      <a:rPr lang="en-US" altLang="zh-TW" sz="2000" b="0" i="1" baseline="-25000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zh-TW" altLang="en-US" sz="2000" baseline="-25000" dirty="0" smtClean="0"/>
                  <a:t> </a:t>
                </a:r>
                <a:r>
                  <a:rPr lang="en-US" altLang="zh-TW" sz="2000" dirty="0" smtClean="0"/>
                  <a:t>(95%的信心)</a:t>
                </a:r>
                <a:endParaRPr lang="zh-TW" altLang="en-US" sz="2000" baseline="-25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779" y="5585829"/>
                <a:ext cx="5229824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1282" t="-2994" b="-9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81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Multiple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zh-TW" altLang="en-US" sz="2800" dirty="0"/>
              <a:t>在用 </a:t>
            </a:r>
            <a:r>
              <a:rPr lang="en-US" altLang="zh-TW" sz="2800" dirty="0"/>
              <a:t>ANOVA </a:t>
            </a:r>
            <a:r>
              <a:rPr lang="zh-TW" altLang="en-US" sz="2800" dirty="0"/>
              <a:t>時，會得到一個 </a:t>
            </a:r>
            <a:r>
              <a:rPr lang="en-US" altLang="zh-TW" sz="2800" dirty="0"/>
              <a:t>F-test</a:t>
            </a:r>
            <a:r>
              <a:rPr lang="zh-TW" altLang="en-US" sz="2800" dirty="0"/>
              <a:t>，這個 </a:t>
            </a:r>
            <a:r>
              <a:rPr lang="en-US" altLang="zh-TW" sz="2800" dirty="0"/>
              <a:t>test </a:t>
            </a:r>
            <a:r>
              <a:rPr lang="zh-TW" altLang="en-US" sz="2800" dirty="0"/>
              <a:t>只能告訴你整個 </a:t>
            </a:r>
            <a:r>
              <a:rPr lang="en-US" altLang="zh-TW" sz="2800" dirty="0"/>
              <a:t>model </a:t>
            </a:r>
            <a:r>
              <a:rPr lang="zh-TW" altLang="en-US" sz="2800" dirty="0"/>
              <a:t>是否顯著 </a:t>
            </a:r>
            <a:r>
              <a:rPr lang="en-US" altLang="zh-TW" sz="2800" dirty="0"/>
              <a:t>(i.e., </a:t>
            </a:r>
            <a:r>
              <a:rPr lang="zh-TW" altLang="en-US" sz="2800" dirty="0">
                <a:solidFill>
                  <a:srgbClr val="FF0000"/>
                </a:solidFill>
              </a:rPr>
              <a:t>總體平均數不相同或不完全相同</a:t>
            </a:r>
            <a:r>
              <a:rPr lang="en-US" altLang="zh-TW" sz="2800" dirty="0"/>
              <a:t>)</a:t>
            </a:r>
            <a:r>
              <a:rPr lang="zh-TW" altLang="en-US" sz="2800" dirty="0"/>
              <a:t>，並不能告訴你特定的組與組之間是否有差異</a:t>
            </a:r>
            <a:r>
              <a:rPr lang="zh-TW" altLang="en-US" sz="2800" dirty="0" smtClean="0"/>
              <a:t>。</a:t>
            </a:r>
            <a:endParaRPr lang="en-US" altLang="zh-TW" sz="2800" dirty="0" smtClean="0"/>
          </a:p>
          <a:p>
            <a:pPr>
              <a:lnSpc>
                <a:spcPct val="125000"/>
              </a:lnSpc>
            </a:pPr>
            <a:r>
              <a:rPr lang="zh-TW" altLang="en-US" sz="2800" dirty="0"/>
              <a:t>有很多種方法可以比較組間的平均值是否有差異，這些方式就稱作多重比較 </a:t>
            </a:r>
            <a:r>
              <a:rPr lang="en-US" altLang="zh-TW" sz="2800" dirty="0"/>
              <a:t>(multiple comparisons</a:t>
            </a:r>
            <a:r>
              <a:rPr lang="en-US" altLang="zh-TW" sz="2800" dirty="0" smtClean="0"/>
              <a:t>).</a:t>
            </a:r>
          </a:p>
          <a:p>
            <a:pPr>
              <a:lnSpc>
                <a:spcPct val="125000"/>
              </a:lnSpc>
            </a:pPr>
            <a:r>
              <a:rPr lang="zh-TW" altLang="en-US" sz="2800" dirty="0" smtClean="0"/>
              <a:t>問題</a:t>
            </a:r>
            <a:r>
              <a:rPr lang="zh-TW" altLang="en-US" sz="2800" dirty="0"/>
              <a:t>的核心是 </a:t>
            </a:r>
            <a:r>
              <a:rPr lang="en-US" altLang="zh-TW" sz="2800" dirty="0">
                <a:solidFill>
                  <a:srgbClr val="FF0000"/>
                </a:solidFill>
              </a:rPr>
              <a:t>Type I </a:t>
            </a:r>
            <a:r>
              <a:rPr lang="en-US" altLang="zh-TW" sz="2800" dirty="0" smtClean="0">
                <a:solidFill>
                  <a:srgbClr val="FF0000"/>
                </a:solidFill>
              </a:rPr>
              <a:t>errors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虛無假設是正確的，但是拒絕虛無假設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有顯著性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，</a:t>
            </a:r>
            <a:r>
              <a:rPr lang="en-US" altLang="zh-TW" sz="2800" dirty="0" smtClean="0"/>
              <a:t>false positive)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3577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Bonferroni</a:t>
            </a:r>
            <a:r>
              <a:rPr lang="zh-TW" altLang="en-US" dirty="0" smtClean="0"/>
              <a:t>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所用的方法類似獨立樣本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檢定，</a:t>
                </a:r>
                <a:r>
                  <a:rPr lang="zh-TW" altLang="en-US" dirty="0" smtClean="0"/>
                  <a:t>首先</a:t>
                </a:r>
                <a:r>
                  <a:rPr lang="zh-TW" altLang="en-US" dirty="0"/>
                  <a:t>針對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組資料，列出所有兩兩組別平均值是否相等的統計</a:t>
                </a:r>
                <a:r>
                  <a:rPr lang="zh-TW" altLang="en-US" dirty="0" smtClean="0"/>
                  <a:t>假設，共有</a:t>
                </a:r>
                <a:r>
                  <a:rPr lang="en-US" altLang="zh-TW" dirty="0" smtClean="0"/>
                  <a:t>C(n,2)</a:t>
                </a:r>
                <a:r>
                  <a:rPr lang="zh-TW" altLang="en-US" dirty="0" smtClean="0"/>
                  <a:t>組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r>
                  <a:rPr lang="zh-TW" altLang="en-US" dirty="0" smtClean="0"/>
                  <a:t>為了減少這</a:t>
                </a:r>
                <a:r>
                  <a:rPr lang="en-US" altLang="zh-TW" dirty="0"/>
                  <a:t>C(n,2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組的檢定不發生</a:t>
                </a:r>
                <a:r>
                  <a:rPr lang="en-US" altLang="zh-TW" dirty="0" smtClean="0"/>
                  <a:t>type I error</a:t>
                </a:r>
                <a:r>
                  <a:rPr lang="zh-TW" altLang="en-US" dirty="0" smtClean="0"/>
                  <a:t>的機率能在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(1−</m:t>
                    </m:r>
                    <m:r>
                      <a:rPr lang="zh-TW" altLang="en-US" b="0" i="1" smtClean="0">
                        <a:latin typeface="Cambria Math"/>
                      </a:rPr>
                      <m:t>𝛼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以上，必須調整每個檢定的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</a:rPr>
                      <m:t>𝛼</m:t>
                    </m:r>
                    <m:r>
                      <a:rPr lang="zh-TW" altLang="en-US" b="0" i="1" smtClean="0">
                        <a:latin typeface="Cambria Math"/>
                      </a:rPr>
                      <m:t>值改為</m:t>
                    </m:r>
                    <m:sSup>
                      <m:sSup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zh-TW" alt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zh-TW" alt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𝛼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FF0000"/>
                            </a:solidFill>
                          </a:rPr>
                          <m:t>,2</m:t>
                        </m:r>
                        <m:r>
                          <a:rPr lang="en-US" altLang="zh-TW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zh-TW" altLang="en-US" dirty="0" smtClean="0"/>
                  <a:t>，當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的數量較大時，很難滿足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/>
                          </a:rPr>
                          <m:t>𝛼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TW" altLang="en-US" dirty="0" smtClean="0"/>
                  <a:t>的條件。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1852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0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framework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1396751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從時間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𝑅</m:t>
                    </m:r>
                    <m:r>
                      <a:rPr lang="en-US" altLang="zh-TW" sz="2400" b="0" i="1" smtClean="0">
                        <a:latin typeface="Cambria Math"/>
                      </a:rPr>
                      <m:t>~</m:t>
                    </m:r>
                    <m:r>
                      <a:rPr lang="en-US" altLang="zh-TW" sz="2400" b="0" i="1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共</a:t>
                </a:r>
                <a:r>
                  <a:rPr lang="en-US" altLang="zh-TW" sz="2400" i="1" dirty="0" err="1" smtClean="0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期區間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𝑇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𝑅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r>
                      <a:rPr lang="en-US" altLang="zh-TW" sz="2400" b="0" i="1" smtClean="0">
                        <a:latin typeface="Cambria Math"/>
                      </a:rPr>
                      <m:t>𝑛</m:t>
                    </m:r>
                    <m:r>
                      <a:rPr lang="en-US" altLang="zh-TW" sz="2400" b="0" i="1" smtClean="0">
                        <a:latin typeface="Cambria Math"/>
                      </a:rPr>
                      <m:t>−1</m:t>
                    </m:r>
                  </m:oMath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每次預測</a:t>
                </a:r>
                <a:r>
                  <a:rPr lang="el-GR" altLang="zh-TW" sz="2400" dirty="0" smtClean="0">
                    <a:latin typeface="微軟正黑體" pitchFamily="34" charset="-120"/>
                    <a:ea typeface="微軟正黑體" pitchFamily="34" charset="-120"/>
                    <a:cs typeface="Times New Roman"/>
                  </a:rPr>
                  <a:t>τ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  <a:cs typeface="Times New Roman"/>
                  </a:rPr>
                  <a:t>期</a:t>
                </a:r>
                <a:r>
                  <a:rPr lang="zh-TW" altLang="en-US" sz="2400" dirty="0">
                    <a:latin typeface="微軟正黑體" pitchFamily="34" charset="-120"/>
                    <a:ea typeface="微軟正黑體" pitchFamily="34" charset="-120"/>
                    <a:cs typeface="Times New Roman"/>
                  </a:rPr>
                  <a:t>，</a:t>
                </a:r>
                <a:r>
                  <a:rPr lang="en-US" altLang="zh-TW" sz="2400" i="1" dirty="0" smtClean="0">
                    <a:latin typeface="微軟正黑體" pitchFamily="34" charset="-120"/>
                    <a:ea typeface="微軟正黑體" pitchFamily="34" charset="-120"/>
                  </a:rPr>
                  <a:t>L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個交易策略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  <a:cs typeface="Times New Roman"/>
                </a:endParaRPr>
              </a:p>
              <a:p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1396751"/>
              </a:xfrm>
              <a:blipFill rotWithShape="1">
                <a:blip r:embed="rId2"/>
                <a:stretch>
                  <a:fillRect l="-963" t="-30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67544" y="2996952"/>
                <a:ext cx="6984776" cy="36756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800" i="1">
                          <a:latin typeface="Cambria Math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zh-TW" sz="2800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/>
                            </a:rPr>
                            <m:t>f</m:t>
                          </m:r>
                        </m:e>
                      </m:d>
                      <m:r>
                        <a:rPr lang="en-US" altLang="zh-TW" sz="2800" i="1">
                          <a:latin typeface="Cambria Math"/>
                        </a:rPr>
                        <m:t>≤0</m:t>
                      </m:r>
                    </m:oMath>
                  </m:oMathPara>
                </a14:m>
                <a:endParaRPr lang="zh-TW" altLang="zh-TW" sz="2800" dirty="0"/>
              </a:p>
              <a:p>
                <a:pPr>
                  <a:lnSpc>
                    <a:spcPct val="125000"/>
                  </a:lnSpc>
                </a:pPr>
                <a:r>
                  <a:rPr lang="zh-TW" altLang="zh-TW" sz="2800" dirty="0"/>
                  <a:t>等價於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800" i="1">
                        <a:latin typeface="Cambria Math"/>
                      </a:rPr>
                      <m:t>:</m:t>
                    </m:r>
                    <m:func>
                      <m:funcPr>
                        <m:ctrlPr>
                          <a:rPr lang="zh-TW" altLang="zh-TW" sz="2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TW" altLang="zh-TW" sz="2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80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8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=1</m:t>
                            </m:r>
                            <m:r>
                              <a:rPr lang="zh-TW" altLang="zh-TW" sz="28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2</m:t>
                            </m:r>
                            <m:r>
                              <a:rPr lang="zh-TW" altLang="zh-TW" sz="28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…</m:t>
                            </m:r>
                            <m:r>
                              <a:rPr lang="zh-TW" altLang="zh-TW" sz="28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𝐿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altLang="zh-TW" sz="2800">
                            <a:latin typeface="Cambria Math"/>
                          </a:rPr>
                          <m:t>E</m:t>
                        </m:r>
                        <m:d>
                          <m:dPr>
                            <m:ctrlPr>
                              <a:rPr lang="zh-TW" altLang="zh-TW" sz="28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sz="2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800" i="1">
                            <a:latin typeface="Cambria Math"/>
                          </a:rPr>
                          <m:t>≤0</m:t>
                        </m:r>
                      </m:e>
                    </m:func>
                  </m:oMath>
                </a14:m>
                <a:endParaRPr lang="zh-TW" altLang="zh-TW" sz="2800" dirty="0"/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>
                          <a:latin typeface="Cambria Math"/>
                        </a:rPr>
                        <m:t>f</m:t>
                      </m:r>
                      <m:r>
                        <a:rPr lang="en-US" altLang="zh-TW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8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8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8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zh-TW" altLang="zh-TW" sz="2800" i="1">
                                    <a:latin typeface="Cambria Math"/>
                                  </a:rPr>
                                  <m:t>，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𝛽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zh-TW" altLang="zh-TW" sz="2800" i="1">
                                    <a:latin typeface="Cambria Math"/>
                                  </a:rPr>
                                  <m:t>，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𝛽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800" i="1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i="1">
                                              <a:latin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𝑍</m:t>
                                      </m:r>
                                      <m:r>
                                        <a:rPr lang="zh-TW" altLang="zh-TW" sz="2800" i="1">
                                          <a:latin typeface="Cambria Math"/>
                                        </a:rPr>
                                        <m:t>，</m:t>
                                      </m:r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𝛽</m:t>
                                      </m:r>
                                      <m:r>
                                        <a:rPr lang="en-US" altLang="zh-TW" sz="2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996952"/>
                <a:ext cx="6984776" cy="3675622"/>
              </a:xfrm>
              <a:prstGeom prst="rect">
                <a:avLst/>
              </a:prstGeom>
              <a:blipFill rotWithShape="1">
                <a:blip r:embed="rId3"/>
                <a:stretch>
                  <a:fillRect l="-18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圓角矩形圖說文字 4"/>
          <p:cNvSpPr/>
          <p:nvPr/>
        </p:nvSpPr>
        <p:spPr>
          <a:xfrm>
            <a:off x="5076056" y="2348880"/>
            <a:ext cx="3456384" cy="792088"/>
          </a:xfrm>
          <a:prstGeom prst="wedgeRoundRectCallout">
            <a:avLst>
              <a:gd name="adj1" fmla="val -44808"/>
              <a:gd name="adj2" fmla="val 75127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dirty="0">
                <a:latin typeface="微軟正黑體" pitchFamily="34" charset="-120"/>
                <a:ea typeface="微軟正黑體" pitchFamily="34" charset="-120"/>
              </a:rPr>
              <a:t>每個交易策略與基準模型相比的期望報酬率都小於或等於零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6228184" y="3717032"/>
            <a:ext cx="2592288" cy="2304256"/>
          </a:xfrm>
          <a:prstGeom prst="wedgeRoundRectCallout">
            <a:avLst>
              <a:gd name="adj1" fmla="val -62169"/>
              <a:gd name="adj2" fmla="val -3305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若</a:t>
            </a:r>
            <a:r>
              <a:rPr lang="zh-TW" altLang="zh-TW" sz="2000" dirty="0" smtClean="0">
                <a:latin typeface="微軟正黑體" pitchFamily="34" charset="-120"/>
                <a:ea typeface="微軟正黑體" pitchFamily="34" charset="-120"/>
              </a:rPr>
              <a:t>拒絕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</a:rPr>
              <a:t>了虛無假設，則表示至少有一條交易策略與基準模型比較後的期望報酬率大於零。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75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23528" y="332656"/>
                <a:ext cx="7560840" cy="4707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f</m:t>
                      </m:r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zh-TW" altLang="zh-TW" sz="2400" i="1">
                                    <a:latin typeface="Cambria Math"/>
                                  </a:rPr>
                                  <m:t>，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𝛽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𝑍</m:t>
                                </m:r>
                                <m:r>
                                  <a:rPr lang="zh-TW" altLang="zh-TW" sz="2400" i="1">
                                    <a:latin typeface="Cambria Math"/>
                                  </a:rPr>
                                  <m:t>，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𝛽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𝑍</m:t>
                                      </m:r>
                                      <m:r>
                                        <a:rPr lang="zh-TW" altLang="zh-TW" sz="2400" i="1">
                                          <a:latin typeface="Cambria Math"/>
                                        </a:rPr>
                                        <m:t>，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𝛽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5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(</m:t>
                    </m:r>
                    <m:r>
                      <a:rPr lang="en-US" altLang="zh-TW" sz="2400" i="1">
                        <a:latin typeface="Cambria Math"/>
                      </a:rPr>
                      <m:t>𝑍</m:t>
                    </m:r>
                    <m:r>
                      <a:rPr lang="zh-TW" altLang="zh-TW" sz="2400" i="1">
                        <a:latin typeface="Cambria Math"/>
                      </a:rPr>
                      <m:t>，</m:t>
                    </m:r>
                    <m:r>
                      <a:rPr lang="en-US" altLang="zh-TW" sz="2400" i="1">
                        <a:latin typeface="Cambria Math"/>
                      </a:rPr>
                      <m:t>𝛽</m:t>
                    </m:r>
                    <m:r>
                      <a:rPr lang="en-US" altLang="zh-TW" sz="2400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代表第</a:t>
                </a:r>
                <a:r>
                  <a:rPr lang="zh-TW" altLang="zh-TW" sz="2400" i="1" dirty="0">
                    <a:latin typeface="微軟正黑體" pitchFamily="34" charset="-120"/>
                    <a:ea typeface="微軟正黑體" pitchFamily="34" charset="-120"/>
                  </a:rPr>
                  <a:t>ｋ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個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模型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與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基準模型比較的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結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果</a:t>
                </a:r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5000"/>
                  </a:lnSpc>
                  <a:buFont typeface="Arial" pitchFamily="34" charset="0"/>
                  <a:buChar char="•"/>
                </a:pPr>
                <a: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f</a:t>
                </a:r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如何實作是依問題而定</a:t>
                </a:r>
                <a:endParaRPr lang="en-US" altLang="zh-TW" sz="24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5000"/>
                  </a:lnSpc>
                  <a:buFont typeface="Arial" pitchFamily="34" charset="0"/>
                  <a:buChar char="•"/>
                </a:pPr>
                <a:r>
                  <a:rPr lang="en-US" altLang="zh-TW" sz="2400" i="1" dirty="0" smtClean="0">
                    <a:latin typeface="微軟正黑體" pitchFamily="34" charset="-120"/>
                    <a:ea typeface="微軟正黑體" pitchFamily="34" charset="-120"/>
                  </a:rPr>
                  <a:t>Z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為由解釋變數</a:t>
                </a:r>
                <a:r>
                  <a:rPr lang="en-US" altLang="zh-TW" sz="2400" i="1" dirty="0">
                    <a:latin typeface="微軟正黑體" pitchFamily="34" charset="-120"/>
                    <a:ea typeface="微軟正黑體" pitchFamily="34" charset="-120"/>
                  </a:rPr>
                  <a:t>X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與被解釋變數</a:t>
                </a:r>
                <a:r>
                  <a:rPr lang="en-US" altLang="zh-TW" sz="2400" i="1" dirty="0">
                    <a:latin typeface="微軟正黑體" pitchFamily="34" charset="-120"/>
                    <a:ea typeface="微軟正黑體" pitchFamily="34" charset="-120"/>
                  </a:rPr>
                  <a:t>Y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所構成的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向量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Y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為分類問題中的</a:t>
                </a:r>
                <a:r>
                  <a:rPr lang="zh-TW" altLang="en-US" sz="2400" u="sng" dirty="0" smtClean="0">
                    <a:latin typeface="微軟正黑體" pitchFamily="34" charset="-120"/>
                    <a:ea typeface="微軟正黑體" pitchFamily="34" charset="-120"/>
                  </a:rPr>
                  <a:t>類別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，迴歸問題中的</a:t>
                </a:r>
                <a:r>
                  <a:rPr lang="zh-TW" altLang="en-US" sz="2400" u="sng" dirty="0" smtClean="0">
                    <a:latin typeface="微軟正黑體" pitchFamily="34" charset="-120"/>
                    <a:ea typeface="微軟正黑體" pitchFamily="34" charset="-120"/>
                  </a:rPr>
                  <a:t>預測值</a:t>
                </a:r>
                <a:r>
                  <a:rPr lang="en-US" altLang="zh-TW" sz="2400" u="sng" dirty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400" u="sng" dirty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X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為特徵值</a:t>
                </a:r>
                <a:endParaRPr lang="en-US" altLang="zh-TW" sz="2400" u="sng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5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𝛽</m:t>
                    </m:r>
                  </m:oMath>
                </a14:m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為模型的真實變數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向量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，為特徵的權重</a:t>
                </a:r>
                <a:endParaRPr lang="zh-TW" altLang="zh-TW" sz="24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32656"/>
                <a:ext cx="7560840" cy="4707955"/>
              </a:xfrm>
              <a:prstGeom prst="rect">
                <a:avLst/>
              </a:prstGeom>
              <a:blipFill rotWithShape="1">
                <a:blip r:embed="rId2"/>
                <a:stretch>
                  <a:fillRect l="-1048" b="-11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31032" y="5373216"/>
                <a:ext cx="75608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Example: multiple  linear regression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=1+3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+10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+…3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sz="2400" dirty="0" smtClean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32" y="5373216"/>
                <a:ext cx="756084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209" t="-5839" b="-43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04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Function f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的實作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(1)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44191"/>
            <a:ext cx="7114555" cy="72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788194" y="1278052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Regression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圓角矩形圖說文字 3"/>
          <p:cNvSpPr/>
          <p:nvPr/>
        </p:nvSpPr>
        <p:spPr>
          <a:xfrm>
            <a:off x="821952" y="4937149"/>
            <a:ext cx="2124236" cy="864096"/>
          </a:xfrm>
          <a:prstGeom prst="wedgeRoundRectCallout">
            <a:avLst>
              <a:gd name="adj1" fmla="val 40910"/>
              <a:gd name="adj2" fmla="val -16193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時，序列的真實值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圓角矩形圖說文字 6"/>
          <p:cNvSpPr/>
          <p:nvPr/>
        </p:nvSpPr>
        <p:spPr>
          <a:xfrm>
            <a:off x="2491465" y="1801272"/>
            <a:ext cx="2403455" cy="864096"/>
          </a:xfrm>
          <a:prstGeom prst="wedgeRoundRectCallout">
            <a:avLst>
              <a:gd name="adj1" fmla="val 3469"/>
              <a:gd name="adj2" fmla="val 13072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時，模型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所用的特徵向量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圓角矩形圖說文字 7"/>
          <p:cNvSpPr/>
          <p:nvPr/>
        </p:nvSpPr>
        <p:spPr>
          <a:xfrm>
            <a:off x="5652120" y="1707488"/>
            <a:ext cx="2664296" cy="1051664"/>
          </a:xfrm>
          <a:prstGeom prst="wedgeRoundRectCallout">
            <a:avLst>
              <a:gd name="adj1" fmla="val -83725"/>
              <a:gd name="adj2" fmla="val 99667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模型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使用時間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1~t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所得到的特徵權重向量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圓角矩形圖說文字 4"/>
          <p:cNvSpPr/>
          <p:nvPr/>
        </p:nvSpPr>
        <p:spPr>
          <a:xfrm>
            <a:off x="3779912" y="4581128"/>
            <a:ext cx="2232248" cy="1224136"/>
          </a:xfrm>
          <a:prstGeom prst="wedgeRoundRectCallout">
            <a:avLst>
              <a:gd name="adj1" fmla="val 77377"/>
              <a:gd name="adj2" fmla="val -10994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，基準模型所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用的特徵向量</a:t>
            </a:r>
          </a:p>
        </p:txBody>
      </p:sp>
      <p:sp>
        <p:nvSpPr>
          <p:cNvPr id="10" name="圓角矩形圖說文字 9"/>
          <p:cNvSpPr/>
          <p:nvPr/>
        </p:nvSpPr>
        <p:spPr>
          <a:xfrm>
            <a:off x="6624228" y="4653136"/>
            <a:ext cx="2268252" cy="1152128"/>
          </a:xfrm>
          <a:prstGeom prst="wedgeRoundRectCallout">
            <a:avLst>
              <a:gd name="adj1" fmla="val -8831"/>
              <a:gd name="adj2" fmla="val -11877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基準模型使用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1~t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所得到的特徵權重向量</a:t>
            </a:r>
          </a:p>
        </p:txBody>
      </p:sp>
      <p:sp>
        <p:nvSpPr>
          <p:cNvPr id="11" name="圓角矩形圖說文字 10"/>
          <p:cNvSpPr/>
          <p:nvPr/>
        </p:nvSpPr>
        <p:spPr>
          <a:xfrm>
            <a:off x="143508" y="1844824"/>
            <a:ext cx="2124236" cy="864096"/>
          </a:xfrm>
          <a:prstGeom prst="wedgeRoundRectCallout">
            <a:avLst>
              <a:gd name="adj1" fmla="val 11315"/>
              <a:gd name="adj2" fmla="val 12080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兩模型預測誤差的差值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514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Continuous return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67544" y="1268760"/>
                <a:ext cx="7920880" cy="5770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FF0000"/>
                    </a:solidFill>
                  </a:rPr>
                  <a:t>Simple return:</a:t>
                </a:r>
              </a:p>
              <a:p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台積電第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t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日股價為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76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元，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t+1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日股價為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77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元，</a:t>
                </a:r>
                <a:endParaRPr lang="en-US" altLang="zh-TW" sz="28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Simple return : r</a:t>
                </a:r>
                <a:r>
                  <a:rPr lang="en-US" altLang="zh-TW" sz="2800" baseline="-25000" dirty="0" smtClean="0">
                    <a:latin typeface="微軟正黑體" pitchFamily="34" charset="-120"/>
                    <a:ea typeface="微軟正黑體" pitchFamily="34" charset="-120"/>
                  </a:rPr>
                  <a:t>t+1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= 77/76-1= 1.31%</a:t>
                </a:r>
              </a:p>
              <a:p>
                <a:endParaRPr lang="en-US" altLang="zh-TW" sz="28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en-US" altLang="zh-TW" sz="2800" b="1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Continuous return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:</a:t>
                </a:r>
              </a:p>
              <a:p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台積電第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t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日為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p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元，第</a:t>
                </a:r>
                <a:r>
                  <a:rPr lang="en-US" altLang="zh-TW" sz="2800" dirty="0" err="1" smtClean="0">
                    <a:latin typeface="微軟正黑體" pitchFamily="34" charset="-120"/>
                    <a:ea typeface="微軟正黑體" pitchFamily="34" charset="-120"/>
                  </a:rPr>
                  <a:t>t+n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日為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f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元，假設每日報報酬率為</a:t>
                </a:r>
                <a:r>
                  <a:rPr lang="en-US" altLang="zh-TW" sz="2800" dirty="0" smtClean="0">
                    <a:latin typeface="微軟正黑體" pitchFamily="34" charset="-120"/>
                    <a:ea typeface="微軟正黑體" pitchFamily="34" charset="-120"/>
                  </a:rPr>
                  <a:t>r</a:t>
                </a:r>
                <a:r>
                  <a:rPr lang="zh-TW" altLang="en-US" sz="2800" dirty="0" smtClean="0">
                    <a:latin typeface="微軟正黑體" pitchFamily="34" charset="-120"/>
                    <a:ea typeface="微軟正黑體" pitchFamily="34" charset="-120"/>
                  </a:rPr>
                  <a:t>，可得以下關係：</a:t>
                </a:r>
                <a:endParaRPr lang="en-US" altLang="zh-TW" sz="28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𝑓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𝑝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∗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1+</m:t>
                              </m:r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  <m:t>𝑛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𝑝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∗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TW" sz="2800" b="0" i="1" smtClean="0">
                                      <a:latin typeface="Cambria Math"/>
                                      <a:ea typeface="微軟正黑體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800" b="0" i="1" smtClean="0">
                                      <a:latin typeface="Cambria Math"/>
                                      <a:ea typeface="微軟正黑體" pitchFamily="34" charset="-12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sz="2800" b="0" i="1" smtClean="0">
                                      <a:latin typeface="Cambria Math"/>
                                      <a:ea typeface="微軟正黑體" pitchFamily="34" charset="-12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  <m:t>𝑛𝑘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𝑝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∗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1+</m:t>
                              </m:r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𝑛𝑟</m:t>
                              </m:r>
                            </m:num>
                            <m:den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𝑥</m:t>
                              </m:r>
                            </m:den>
                          </m:f>
                        </m:sup>
                      </m:sSup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𝑝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∗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  <m:t>𝑛𝑟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𝑛𝑟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𝑙𝑛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zh-TW" altLang="en-US" sz="2800" b="0" i="1" smtClean="0">
                          <a:latin typeface="Cambria Math"/>
                          <a:ea typeface="微軟正黑體" pitchFamily="34" charset="-120"/>
                        </a:rPr>
                        <m:t>，所以可得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𝑟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𝑙𝑛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77</m:t>
                              </m:r>
                            </m:num>
                            <m:den>
                              <m:r>
                                <a:rPr lang="en-US" altLang="zh-TW" sz="2800" b="0" i="1" smtClean="0">
                                  <a:latin typeface="Cambria Math"/>
                                  <a:ea typeface="微軟正黑體" pitchFamily="34" charset="-120"/>
                                </a:rPr>
                                <m:t>76</m:t>
                              </m:r>
                            </m:den>
                          </m:f>
                        </m:e>
                      </m:d>
                      <m:r>
                        <a:rPr lang="en-US" altLang="zh-TW" sz="2800" b="0" i="1" smtClean="0">
                          <a:latin typeface="Cambria Math"/>
                          <a:ea typeface="微軟正黑體" pitchFamily="34" charset="-120"/>
                        </a:rPr>
                        <m:t>=1.31%</m:t>
                      </m:r>
                    </m:oMath>
                  </m:oMathPara>
                </a14:m>
                <a:endParaRPr lang="en-US" altLang="zh-TW" sz="28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zh-TW" altLang="en-US" sz="28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268760"/>
                <a:ext cx="7920880" cy="5770490"/>
              </a:xfrm>
              <a:prstGeom prst="rect">
                <a:avLst/>
              </a:prstGeom>
              <a:blipFill rotWithShape="1">
                <a:blip r:embed="rId2"/>
                <a:stretch>
                  <a:fillRect l="-1617" t="-9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8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Continuous return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的優點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19301"/>
              </p:ext>
            </p:extLst>
          </p:nvPr>
        </p:nvGraphicFramePr>
        <p:xfrm>
          <a:off x="416718" y="980728"/>
          <a:ext cx="8352929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4"/>
                <a:gridCol w="1396955"/>
                <a:gridCol w="1396955"/>
                <a:gridCol w="1396955"/>
                <a:gridCol w="1396955"/>
                <a:gridCol w="1396955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時間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11/12/19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12/20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12/21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12/22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12/23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台積電價格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72.5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72.8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76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75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75.4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Simple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NA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-1.32%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0.53%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Continuous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+mn-lt"/>
                        </a:rPr>
                        <a:t>NA</a:t>
                      </a:r>
                      <a:endParaRPr lang="zh-TW" altLang="en-US" sz="240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4.30%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-1.32%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0.53%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94470" y="2780928"/>
                <a:ext cx="8928992" cy="349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投資人在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12/29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投資台積電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p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元，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12/23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日剩下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f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元，求平均報酬率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Simple: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𝑝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%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𝑓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,   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%=</m:t>
                      </m:r>
                      <m:rad>
                        <m:ra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radPr>
                        <m:deg>
                          <m:r>
                            <a:rPr lang="en-US" altLang="zh-TW" sz="2400" b="0" i="1" smtClean="0">
                              <a:latin typeface="Cambria Math"/>
                            </a:rPr>
                            <m:t>4</m:t>
                          </m:r>
                        </m:deg>
                        <m:e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rad>
                      <m:r>
                        <a:rPr lang="en-US" altLang="zh-TW" sz="2400" b="0" i="1" smtClean="0">
                          <a:latin typeface="Cambria Math"/>
                        </a:rPr>
                        <m:t>−1=0.99%</m:t>
                      </m:r>
                    </m:oMath>
                  </m:oMathPara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Continuous:</a:t>
                </a:r>
                <a:b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4∗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%=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TW" sz="2400" b="0" i="1" smtClean="0">
                          <a:latin typeface="Cambria Math"/>
                        </a:rPr>
                        <m:t>,   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%=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/>
                        </a:rPr>
                        <m:t>∗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𝑙𝑛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=0.98%</m:t>
                      </m:r>
                    </m:oMath>
                  </m:oMathPara>
                </a14:m>
                <a:endParaRPr lang="zh-TW" altLang="en-US" sz="24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0" y="2780928"/>
                <a:ext cx="8928992" cy="3490699"/>
              </a:xfrm>
              <a:prstGeom prst="rect">
                <a:avLst/>
              </a:prstGeom>
              <a:blipFill rotWithShape="1">
                <a:blip r:embed="rId2"/>
                <a:stretch>
                  <a:fillRect l="-1092" t="-1222" r="-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39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Function f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的實作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(2)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72100"/>
            <a:ext cx="8820472" cy="74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23528" y="105273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solidFill>
                  <a:srgbClr val="FF0000"/>
                </a:solidFill>
              </a:rPr>
              <a:t>Trading strategy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圓角矩形圖說文字 4"/>
          <p:cNvSpPr/>
          <p:nvPr/>
        </p:nvSpPr>
        <p:spPr>
          <a:xfrm>
            <a:off x="512738" y="1575956"/>
            <a:ext cx="2124236" cy="864096"/>
          </a:xfrm>
          <a:prstGeom prst="wedgeRoundRectCallout">
            <a:avLst>
              <a:gd name="adj1" fmla="val 36202"/>
              <a:gd name="adj2" fmla="val 11749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時，序列的報酬率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2987824" y="1575956"/>
            <a:ext cx="2232248" cy="1224136"/>
          </a:xfrm>
          <a:prstGeom prst="wedgeRoundRectCallout">
            <a:avLst>
              <a:gd name="adj1" fmla="val -46793"/>
              <a:gd name="adj2" fmla="val 69798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，模型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使用當時的特徵向量與係數所得買賣訊號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圓角矩形圖說文字 6"/>
          <p:cNvSpPr/>
          <p:nvPr/>
        </p:nvSpPr>
        <p:spPr>
          <a:xfrm>
            <a:off x="6588224" y="1575956"/>
            <a:ext cx="2232248" cy="1224136"/>
          </a:xfrm>
          <a:prstGeom prst="wedgeRoundRectCallout">
            <a:avLst>
              <a:gd name="adj1" fmla="val -35912"/>
              <a:gd name="adj2" fmla="val 76801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時間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t+1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時</a:t>
            </a:r>
            <a:r>
              <a:rPr lang="zh-TW" altLang="en-US" sz="2000" dirty="0" smtClean="0">
                <a:latin typeface="微軟正黑體" pitchFamily="34" charset="-120"/>
                <a:ea typeface="微軟正黑體" pitchFamily="34" charset="-120"/>
              </a:rPr>
              <a:t>，基準模型使用當時的特徵向量與係數所得買賣訊號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41276" y="3645024"/>
                <a:ext cx="849694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𝑆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</m:e>
                      </m:d>
                      <m:r>
                        <a:rPr lang="zh-TW" altLang="en-US" sz="2800" b="0" i="1" smtClean="0">
                          <a:latin typeface="Cambria Math"/>
                          <a:ea typeface="Cambria Math"/>
                        </a:rPr>
                        <m:t>：買進訊號為</m:t>
                      </m:r>
                      <m:r>
                        <a:rPr lang="en-US" altLang="zh-TW" sz="2800" b="0" i="1" smtClean="0">
                          <a:latin typeface="Cambria Math"/>
                          <a:ea typeface="Cambria Math"/>
                        </a:rPr>
                        <m:t>1</m:t>
                      </m:r>
                      <m:r>
                        <a:rPr lang="zh-TW" altLang="en-US" sz="2800" b="0" i="1" smtClean="0">
                          <a:latin typeface="Cambria Math"/>
                          <a:ea typeface="Cambria Math"/>
                        </a:rPr>
                        <m:t>，平倉信號為</m:t>
                      </m:r>
                      <m:r>
                        <a:rPr lang="en-US" altLang="zh-TW" sz="2800" b="0" i="1" smtClean="0">
                          <a:latin typeface="Cambria Math"/>
                          <a:ea typeface="Cambria Math"/>
                        </a:rPr>
                        <m:t>0</m:t>
                      </m:r>
                      <m:r>
                        <a:rPr lang="zh-TW" altLang="en-US" sz="2800" b="0" i="1" smtClean="0">
                          <a:latin typeface="Cambria Math"/>
                          <a:ea typeface="Cambria Math"/>
                        </a:rPr>
                        <m:t>，放空訊號為</m:t>
                      </m:r>
                      <m:r>
                        <a:rPr lang="en-US" altLang="zh-TW" sz="2800" b="0" i="1" smtClean="0">
                          <a:latin typeface="Cambria Math"/>
                          <a:ea typeface="Cambria Math"/>
                        </a:rPr>
                        <m:t>−1</m:t>
                      </m:r>
                    </m:oMath>
                  </m:oMathPara>
                </a14:m>
                <a:endParaRPr lang="en-US" altLang="zh-TW" sz="28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en-US" altLang="zh-TW" sz="28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6" y="3645024"/>
                <a:ext cx="8496944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99741"/>
              </p:ext>
            </p:extLst>
          </p:nvPr>
        </p:nvGraphicFramePr>
        <p:xfrm>
          <a:off x="341276" y="4395518"/>
          <a:ext cx="849694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364"/>
                <a:gridCol w="3168352"/>
                <a:gridCol w="1224137"/>
                <a:gridCol w="3114093"/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訊號變化</a:t>
                      </a:r>
                      <a:endParaRPr lang="en-US" altLang="zh-TW" sz="2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0-&gt;1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從空手變成買進股票</a:t>
                      </a:r>
                      <a:endParaRPr lang="en-US" altLang="zh-TW" sz="2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smtClean="0"/>
                        <a:t>0 -&gt; -</a:t>
                      </a:r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賣出股票</a:t>
                      </a:r>
                      <a:r>
                        <a:rPr lang="en-US" altLang="zh-TW" sz="2400" dirty="0" smtClean="0"/>
                        <a:t>(</a:t>
                      </a:r>
                      <a:r>
                        <a:rPr lang="zh-TW" altLang="en-US" sz="2400" dirty="0" smtClean="0"/>
                        <a:t>放空</a:t>
                      </a:r>
                      <a:r>
                        <a:rPr lang="en-US" altLang="zh-TW" sz="2400" dirty="0" smtClean="0"/>
                        <a:t>)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1-&gt;1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不動作</a:t>
                      </a:r>
                      <a:r>
                        <a:rPr lang="en-US" altLang="zh-TW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(hold)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-1 -&gt; 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不動作</a:t>
                      </a:r>
                      <a:r>
                        <a:rPr lang="en-US" altLang="zh-TW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(hold)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1-&gt;0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賣出所持有投票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-1 -&gt; 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買進所放空的股票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766189"/>
              </p:ext>
            </p:extLst>
          </p:nvPr>
        </p:nvGraphicFramePr>
        <p:xfrm>
          <a:off x="268982" y="836712"/>
          <a:ext cx="8248526" cy="19360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5212"/>
                <a:gridCol w="1102004"/>
                <a:gridCol w="1103652"/>
                <a:gridCol w="1103652"/>
                <a:gridCol w="1103652"/>
                <a:gridCol w="1100354"/>
              </a:tblGrid>
              <a:tr h="288032"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索引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2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5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9146"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價格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75.0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75.2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74.5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72.5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72.7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7630"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>
                          <a:effectLst/>
                        </a:rPr>
                        <a:t>報酬率</a:t>
                      </a:r>
                      <a:r>
                        <a:rPr lang="en-US" sz="2000" kern="100">
                          <a:effectLst/>
                        </a:rPr>
                        <a:t>(%)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altLang="zh-TW" sz="2000" kern="100" dirty="0" smtClean="0">
                          <a:effectLst/>
                          <a:latin typeface="Times New Roman"/>
                          <a:ea typeface="新細明體"/>
                        </a:rPr>
                        <a:t>NA</a:t>
                      </a:r>
                      <a:endParaRPr lang="zh-TW" sz="2000" kern="100" dirty="0">
                        <a:effectLst/>
                        <a:latin typeface="Times New Roman"/>
                        <a:ea typeface="新細明體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0.27%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-0.93%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-2.68%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0.28%</a:t>
                      </a:r>
                    </a:p>
                  </a:txBody>
                  <a:tcPr marL="9525" marR="9525" marT="9525" marB="0" anchor="ctr"/>
                </a:tc>
              </a:tr>
              <a:tr h="389146"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基準模型</a:t>
                      </a:r>
                      <a:r>
                        <a:rPr lang="zh-TW" sz="2000" kern="100" dirty="0" smtClean="0">
                          <a:effectLst/>
                        </a:rPr>
                        <a:t>訊號</a:t>
                      </a:r>
                      <a:r>
                        <a:rPr lang="en-US" altLang="zh-TW" sz="2000" kern="100" dirty="0" smtClean="0">
                          <a:effectLst/>
                        </a:rPr>
                        <a:t>(BH)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9146">
                <a:tc>
                  <a:txBody>
                    <a:bodyPr/>
                    <a:lstStyle/>
                    <a:p>
                      <a:pPr marL="304800"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>
                          <a:effectLst/>
                        </a:rPr>
                        <a:t>策略</a:t>
                      </a:r>
                      <a:r>
                        <a:rPr lang="en-US" sz="2000" kern="100">
                          <a:effectLst/>
                        </a:rPr>
                        <a:t>5</a:t>
                      </a:r>
                      <a:r>
                        <a:rPr lang="zh-TW" sz="2000" kern="100">
                          <a:effectLst/>
                        </a:rPr>
                        <a:t>訊號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TW" sz="2000" kern="10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4800" algn="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</a:t>
                      </a:r>
                      <a:endParaRPr lang="zh-TW" sz="20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378545" y="2852936"/>
                <a:ext cx="8424936" cy="2308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投資人期初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(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索引</a:t>
                </a:r>
                <a:r>
                  <a:rPr lang="en-US" altLang="zh-TW" sz="2000" dirty="0">
                    <a:latin typeface="微軟正黑體" pitchFamily="34" charset="-120"/>
                    <a:ea typeface="微軟正黑體" pitchFamily="34" charset="-120"/>
                  </a:rPr>
                  <a:t>1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)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投資，於期末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(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索引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5)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時簡單報酬率為：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72.7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75</m:t>
                              </m:r>
                            </m:den>
                          </m:f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−1=</m:t>
                      </m:r>
                      <m:r>
                        <a:rPr lang="en-US" altLang="zh-TW" sz="2000" b="0" i="0" smtClean="0">
                          <a:latin typeface="Cambria Math"/>
                        </a:rPr>
                        <m:t>−3.07%</m:t>
                      </m:r>
                    </m:oMath>
                  </m:oMathPara>
                </a14:m>
                <a:endParaRPr lang="en-US" altLang="zh-TW" sz="2000" b="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基準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(buy and hold)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模型連續報酬率：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/>
                        </a:rPr>
                        <m:t>ln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⁡(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/>
                            </a:rPr>
                            <m:t>72.7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/>
                            </a:rPr>
                            <m:t>75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/>
                        </a:rPr>
                        <m:t>)=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1+0.27%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1−0.93%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1−2.68%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1+0.28%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=−3.11%</m:t>
                      </m:r>
                    </m:oMath>
                  </m:oMathPara>
                </a14:m>
                <a:endParaRPr lang="en-US" altLang="zh-TW" sz="2000" b="0" dirty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45" y="2852936"/>
                <a:ext cx="8424936" cy="2308517"/>
              </a:xfrm>
              <a:prstGeom prst="rect">
                <a:avLst/>
              </a:prstGeom>
              <a:blipFill rotWithShape="1">
                <a:blip r:embed="rId2"/>
                <a:stretch>
                  <a:fillRect l="-724" t="-13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1" y="53700"/>
            <a:ext cx="8820472" cy="74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44773" y="5301208"/>
                <a:ext cx="8892480" cy="1388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索引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1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買進，索引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2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賣出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: 0.27%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，索引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3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買進，索引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4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賣出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: -2.68%</a:t>
                </a:r>
              </a:p>
              <a:p>
                <a:pPr algn="ctr"/>
                <a:r>
                  <a:rPr lang="zh-TW" altLang="en-US" sz="2000" dirty="0">
                    <a:latin typeface="微軟正黑體" pitchFamily="34" charset="-120"/>
                    <a:ea typeface="微軟正黑體" pitchFamily="34" charset="-120"/>
                  </a:rPr>
                  <a:t>平均簡單報酬率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sz="2000" i="1">
                            <a:latin typeface="Cambria Math"/>
                          </a:rPr>
                          <m:t>(1+0.27%)(1−2.68%)</m:t>
                        </m:r>
                      </m:e>
                    </m:rad>
                    <m:r>
                      <a:rPr lang="en-US" altLang="zh-TW" sz="2000" i="1">
                        <a:latin typeface="Cambria Math"/>
                      </a:rPr>
                      <m:t>−1=−1.22%</m:t>
                    </m:r>
                  </m:oMath>
                </a14:m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策略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5</a:t>
                </a: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連續報酬率：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1+0.27%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1−2.68%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=−2.46%</m:t>
                      </m:r>
                    </m:oMath>
                  </m:oMathPara>
                </a14:m>
                <a:endParaRPr lang="zh-TW" altLang="en-US" sz="20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73" y="5301208"/>
                <a:ext cx="8892480" cy="1388393"/>
              </a:xfrm>
              <a:prstGeom prst="rect">
                <a:avLst/>
              </a:prstGeom>
              <a:blipFill rotWithShape="1">
                <a:blip r:embed="rId4"/>
                <a:stretch>
                  <a:fillRect l="-754" t="-22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75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Function f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的實作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(3)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390"/>
            <a:ext cx="8774088" cy="66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755576" y="126876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General model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59" y="3529012"/>
            <a:ext cx="32766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837059" y="4365104"/>
            <a:ext cx="8055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Predictive log-likelihood for model </a:t>
            </a:r>
            <a:r>
              <a:rPr lang="en-US" altLang="zh-TW" sz="3200" i="1" dirty="0" smtClean="0"/>
              <a:t>k</a:t>
            </a:r>
            <a:endParaRPr lang="zh-TW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67380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Null hypothesis distribution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11560" y="1502499"/>
                <a:ext cx="54734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從時間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𝑅</m:t>
                    </m:r>
                    <m:r>
                      <a:rPr lang="en-US" altLang="zh-TW" sz="2400" i="1">
                        <a:latin typeface="Cambria Math"/>
                      </a:rPr>
                      <m:t>~</m:t>
                    </m:r>
                    <m:r>
                      <a:rPr lang="en-US" altLang="zh-TW" sz="2400" i="1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sz="2400" dirty="0" err="1">
                    <a:latin typeface="微軟正黑體" pitchFamily="34" charset="-120"/>
                    <a:ea typeface="微軟正黑體" pitchFamily="34" charset="-120"/>
                  </a:rPr>
                  <a:t>共</a:t>
                </a:r>
                <a:r>
                  <a:rPr lang="en-US" altLang="zh-TW" sz="2400" i="1" dirty="0" err="1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en-US" altLang="zh-TW" sz="2400" dirty="0" err="1">
                    <a:latin typeface="微軟正黑體" pitchFamily="34" charset="-120"/>
                    <a:ea typeface="微軟正黑體" pitchFamily="34" charset="-120"/>
                  </a:rPr>
                  <a:t>期區間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𝑇</m:t>
                    </m:r>
                    <m:r>
                      <a:rPr lang="en-US" altLang="zh-TW" sz="2400" i="1">
                        <a:latin typeface="Cambria Math"/>
                      </a:rPr>
                      <m:t>=</m:t>
                    </m:r>
                    <m:r>
                      <a:rPr lang="en-US" altLang="zh-TW" sz="2400" i="1">
                        <a:latin typeface="Cambria Math"/>
                      </a:rPr>
                      <m:t>𝑅</m:t>
                    </m:r>
                    <m:r>
                      <a:rPr lang="en-US" altLang="zh-TW" sz="2400" i="1">
                        <a:latin typeface="Cambria Math"/>
                      </a:rPr>
                      <m:t>+</m:t>
                    </m:r>
                    <m:r>
                      <a:rPr lang="en-US" altLang="zh-TW" sz="2400" i="1">
                        <a:latin typeface="Cambria Math"/>
                      </a:rPr>
                      <m:t>𝑛</m:t>
                    </m:r>
                    <m:r>
                      <a:rPr lang="en-US" altLang="zh-TW" sz="2400" i="1">
                        <a:latin typeface="Cambria Math"/>
                      </a:rPr>
                      <m:t>−1</m:t>
                    </m:r>
                    <m:r>
                      <a:rPr lang="zh-TW" altLang="en-US" sz="2400" b="0" i="1" smtClean="0">
                        <a:latin typeface="Cambria Math"/>
                      </a:rPr>
                      <m:t>期</m:t>
                    </m:r>
                  </m:oMath>
                </a14:m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02499"/>
                <a:ext cx="5473486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670" t="-9211" r="-111" b="-30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38373" y="2204864"/>
                <a:ext cx="8640960" cy="3066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400" i="1">
                          <a:latin typeface="Cambria Math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f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≤0</m:t>
                      </m:r>
                    </m:oMath>
                  </m:oMathPara>
                </a14:m>
                <a:endParaRPr lang="zh-TW" altLang="zh-TW" sz="2400" dirty="0"/>
              </a:p>
              <a:p>
                <a:pPr algn="ctr">
                  <a:lnSpc>
                    <a:spcPct val="125000"/>
                  </a:lnSpc>
                </a:pPr>
                <a:r>
                  <a:rPr lang="zh-TW" altLang="zh-TW" sz="2400" dirty="0"/>
                  <a:t>等價於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:</m:t>
                    </m:r>
                    <m:func>
                      <m:funcPr>
                        <m:ctrlPr>
                          <a:rPr lang="zh-TW" altLang="zh-TW" sz="24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4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=1</m:t>
                            </m:r>
                            <m:r>
                              <a:rPr lang="zh-TW" altLang="zh-TW" sz="24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2</m:t>
                            </m:r>
                            <m:r>
                              <a:rPr lang="zh-TW" altLang="zh-TW" sz="24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…</m:t>
                            </m:r>
                            <m:r>
                              <a:rPr lang="zh-TW" altLang="zh-TW" sz="2400" i="1">
                                <a:latin typeface="Cambria Math"/>
                              </a:rPr>
                              <m:t>，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𝐿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E</m:t>
                        </m:r>
                        <m:d>
                          <m:dPr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i="1">
                            <a:latin typeface="Cambria Math"/>
                          </a:rPr>
                          <m:t>≤0</m:t>
                        </m:r>
                      </m:e>
                    </m:func>
                  </m:oMath>
                </a14:m>
                <a:endParaRPr lang="en-US" altLang="zh-TW" sz="2400" dirty="0" smtClean="0"/>
              </a:p>
              <a:p>
                <a:pPr>
                  <a:lnSpc>
                    <a:spcPct val="125000"/>
                  </a:lnSpc>
                </a:pPr>
                <a:endParaRPr lang="en-US" altLang="zh-TW" sz="2400" dirty="0" smtClean="0"/>
              </a:p>
              <a:p>
                <a:pPr algn="ctr">
                  <a:lnSpc>
                    <a:spcPct val="125000"/>
                  </a:lnSpc>
                </a:pPr>
                <a:r>
                  <a:rPr lang="zh-TW" altLang="en-US" sz="2400" dirty="0" smtClean="0">
                    <a:solidFill>
                      <a:srgbClr val="FF0000"/>
                    </a:solidFill>
                  </a:rPr>
                  <a:t>要如何求出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E(f)</a:t>
                </a:r>
                <a:r>
                  <a:rPr lang="zh-TW" altLang="en-US" sz="2400" dirty="0" smtClean="0">
                    <a:solidFill>
                      <a:srgbClr val="FF0000"/>
                    </a:solidFill>
                  </a:rPr>
                  <a:t>的分配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?</a:t>
                </a:r>
              </a:p>
              <a:p>
                <a:pPr algn="ctr">
                  <a:lnSpc>
                    <a:spcPct val="125000"/>
                  </a:lnSpc>
                </a:pPr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由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f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的實作當中，可計算出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f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的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zh-TW" altLang="en-US" sz="2400" dirty="0">
                    <a:latin typeface="微軟正黑體" pitchFamily="34" charset="-120"/>
                    <a:ea typeface="微軟正黑體" pitchFamily="34" charset="-120"/>
                  </a:rPr>
                  <a:t>期的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期望值，即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400" i="1" smtClean="0">
                            <a:latin typeface="Cambria Math"/>
                            <a:ea typeface="微軟正黑體" pitchFamily="34" charset="-12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𝑓</m:t>
                        </m:r>
                      </m:e>
                    </m:acc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𝑅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b="0" i="1" smtClean="0">
                                    <a:latin typeface="Cambria Math"/>
                                    <a:ea typeface="微軟正黑體" pitchFamily="34" charset="-12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  <a:ea typeface="微軟正黑體" pitchFamily="34" charset="-12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𝑡</m:t>
                            </m:r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+1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73" y="2204864"/>
                <a:ext cx="8640960" cy="3066545"/>
              </a:xfrm>
              <a:prstGeom prst="rect">
                <a:avLst/>
              </a:prstGeom>
              <a:blipFill rotWithShape="1">
                <a:blip r:embed="rId3"/>
                <a:stretch>
                  <a:fillRect l="-1058" b="-9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93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Proposition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157054" y="1268760"/>
                <a:ext cx="28794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 smtClean="0">
                    <a:ea typeface="Cambria Math"/>
                  </a:rPr>
                  <a:t>Covariance matrix. Positive semi-definite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i="1" smtClean="0">
                        <a:latin typeface="Cambria Math"/>
                        <a:ea typeface="Cambria Math"/>
                      </a:rPr>
                      <m:t>Ω</m:t>
                    </m:r>
                    <m:r>
                      <a:rPr lang="el-GR" altLang="zh-TW" sz="24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l-GR" altLang="zh-TW" sz="24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l-GR" altLang="zh-TW" sz="2400" i="1" smtClean="0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</m:sup>
                    </m:s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054" y="1268760"/>
                <a:ext cx="2879442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2542" t="-4061" r="-52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79512" y="1608814"/>
                <a:ext cx="8856984" cy="5420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West(96)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證明了以下性質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：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TW" sz="24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4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</m:groupCh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l-GR" altLang="zh-TW" sz="2400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𝑎𝑠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→∞</m:t>
                      </m:r>
                    </m:oMath>
                  </m:oMathPara>
                </a14:m>
                <a:endParaRPr lang="en-US" altLang="zh-TW" sz="2400" dirty="0" smtClean="0">
                  <a:solidFill>
                    <a:srgbClr val="0070C0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假設上述條件成立時，可得以下性質：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&gt;0, 1≤</m:t>
                    </m:r>
                    <m:r>
                      <a:rPr lang="en-US" altLang="zh-TW" sz="2400" b="0" i="1" smtClean="0">
                        <a:latin typeface="Cambria Math"/>
                      </a:rPr>
                      <m:t>𝑘</m:t>
                    </m:r>
                    <m:r>
                      <a:rPr lang="en-US" altLang="zh-TW" sz="2400" b="0" i="1" smtClean="0">
                        <a:latin typeface="Cambria Math"/>
                      </a:rPr>
                      <m:t>≤</m:t>
                    </m:r>
                    <m:r>
                      <a:rPr lang="en-US" altLang="zh-TW" sz="2400" b="0" i="1" smtClean="0">
                        <a:latin typeface="Cambria Math"/>
                      </a:rPr>
                      <m:t>𝐿</m:t>
                    </m:r>
                    <m:r>
                      <a:rPr lang="en-US" altLang="zh-TW" sz="2400" b="0" i="1" smtClean="0">
                        <a:latin typeface="Cambria Math"/>
                      </a:rPr>
                      <m:t>⇒ ∀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, 0≤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sz="24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TW" sz="2400" b="0" i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/>
                      </a:rPr>
                      <m:t>Pr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</a:rPr>
                          <m:t>&gt;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=1,  </m:t>
                    </m:r>
                    <m:r>
                      <a:rPr lang="en-US" altLang="zh-TW" sz="2400" b="0" i="1" smtClean="0">
                        <a:latin typeface="Cambria Math"/>
                      </a:rPr>
                      <m:t>𝑎𝑠</m:t>
                    </m:r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</a:rPr>
                      <m:t>𝑇</m:t>
                    </m:r>
                    <m:r>
                      <a:rPr lang="en-US" altLang="zh-TW" sz="2400" b="0" i="1" smtClean="0">
                        <a:latin typeface="Cambria Math"/>
                      </a:rPr>
                      <m:t>→∞</m:t>
                    </m:r>
                  </m:oMath>
                </a14:m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 </a:t>
                </a:r>
                <a:b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若有任何模型可打敗基準模型，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則長期來看，此模型一定會比基準模型報酬率佳</a:t>
                </a:r>
                <a:endParaRPr lang="en-US" altLang="zh-TW" sz="24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𝐿</m:t>
                    </m:r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&gt;1, </m:t>
                    </m:r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&gt;</m:t>
                    </m:r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  <a:ea typeface="微軟正黑體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  <a:ea typeface="微軟正黑體" pitchFamily="34" charset="-12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  <a:ea typeface="微軟正黑體" pitchFamily="34" charset="-120"/>
                      </a:rPr>
                      <m:t>,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=2,3,…,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𝐿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⇒</m:t>
                    </m:r>
                    <m:func>
                      <m:funcPr>
                        <m:ctrlP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/>
                            <a:ea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  <a:ea typeface="Cambria Math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=2,3…,</m:t>
                            </m:r>
                            <m:r>
                              <a:rPr lang="en-US" altLang="zh-TW" sz="2400" b="0" i="1" smtClean="0">
                                <a:latin typeface="Cambria Math"/>
                                <a:ea typeface="Cambria Math"/>
                              </a:rPr>
                              <m:t>𝑙</m:t>
                            </m:r>
                          </m:e>
                        </m:d>
                      </m:e>
                    </m:func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→1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𝑎𝑠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→∞</m:t>
                    </m:r>
                  </m:oMath>
                </a14:m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 </a:t>
                </a:r>
                <a:b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400" dirty="0" err="1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長期來看，最佳的模型相對於其它模型報酬率佳</a:t>
                </a:r>
                <a:endParaRPr lang="en-US" altLang="zh-TW" sz="24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lnSpc>
                    <a:spcPct val="120000"/>
                  </a:lnSpc>
                  <a:buFont typeface="+mj-lt"/>
                  <a:buAutoNum type="arabicPeriod"/>
                </a:pPr>
                <a:endParaRPr lang="zh-TW" altLang="en-US" sz="24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608814"/>
                <a:ext cx="8856984" cy="5420586"/>
              </a:xfrm>
              <a:prstGeom prst="rect">
                <a:avLst/>
              </a:prstGeom>
              <a:blipFill rotWithShape="1">
                <a:blip r:embed="rId3"/>
                <a:stretch>
                  <a:fillRect l="-1032" t="-2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19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Proposition 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3529" y="908720"/>
                <a:ext cx="8424936" cy="3157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 smtClean="0">
                    <a:solidFill>
                      <a:srgbClr val="0070C0"/>
                    </a:solidFill>
                    <a:latin typeface="微軟正黑體" pitchFamily="34" charset="-120"/>
                    <a:ea typeface="微軟正黑體" pitchFamily="34" charset="-120"/>
                  </a:rPr>
                  <a:t>假設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</m:acc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</m:d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</m:groupCh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el-GR" altLang="zh-TW" sz="20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Ω</m:t>
                        </m:r>
                      </m:e>
                    </m:d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𝑎𝑠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→∞</m:t>
                    </m:r>
                  </m:oMath>
                </a14:m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可得以下性質：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e>
                      </m:func>
                      <m:d>
                        <m:d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000" b="0" i="1" smtClean="0">
                              <a:latin typeface="Cambria Math"/>
                            </a:rPr>
                            <m:t>𝑑</m:t>
                          </m:r>
                        </m:e>
                      </m:groupChr>
                      <m:sSub>
                        <m:sSub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000" b="0" i="1" smtClean="0">
                                  <a:latin typeface="Cambria Math"/>
                                  <a:ea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e>
                      </m:func>
                      <m:d>
                        <m:d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/>
                            </a:rPr>
                            <m:t>)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000" i="1">
                              <a:latin typeface="Cambria Math"/>
                            </a:rPr>
                            <m:t>𝑑</m:t>
                          </m:r>
                        </m:e>
                      </m:groupChr>
                      <m:sSub>
                        <m:sSub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000" i="1">
                                  <a:latin typeface="Cambria Math"/>
                                  <a:ea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TW" sz="2000" i="1" smtClean="0">
                          <a:latin typeface="Cambria Math"/>
                          <a:ea typeface="Cambria Math"/>
                        </a:rPr>
                        <m:t>Γ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altLang="zh-TW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Γ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~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𝑁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l-GR" altLang="zh-TW" sz="2000" b="0" i="1" smtClean="0"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TW" altLang="en-US" sz="20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908720"/>
                <a:ext cx="8424936" cy="3157083"/>
              </a:xfrm>
              <a:prstGeom prst="rect">
                <a:avLst/>
              </a:prstGeom>
              <a:blipFill rotWithShape="1"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03336" y="4213359"/>
                <a:ext cx="7776864" cy="1253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所以若虛無假設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≤0</m:t>
                    </m:r>
                    <m:r>
                      <m:rPr>
                        <m:nor/>
                      </m:rPr>
                      <a:rPr lang="zh-TW" altLang="en-US" sz="2000" dirty="0">
                        <a:latin typeface="微軟正黑體" pitchFamily="34" charset="-120"/>
                        <a:ea typeface="微軟正黑體" pitchFamily="34" charset="-120"/>
                      </a:rPr>
                      <m:t>成立</m:t>
                    </m:r>
                  </m:oMath>
                </a14:m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時，且為最極端的狀況下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>
                      <a:rPr lang="en-US" altLang="zh-TW" sz="2000" i="1">
                        <a:latin typeface="Cambria Math"/>
                      </a:rPr>
                      <m:t>0 </m:t>
                    </m:r>
                  </m:oMath>
                </a14:m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，可得分配：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=1,2,…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00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000" b="0" i="1" smtClean="0">
                              <a:latin typeface="Cambria Math"/>
                            </a:rPr>
                            <m:t>𝑑</m:t>
                          </m:r>
                        </m:e>
                      </m:groupChr>
                      <m:sSub>
                        <m:sSub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36" y="4213359"/>
                <a:ext cx="7776864" cy="1253164"/>
              </a:xfrm>
              <a:prstGeom prst="rect">
                <a:avLst/>
              </a:prstGeom>
              <a:blipFill rotWithShape="1">
                <a:blip r:embed="rId3"/>
                <a:stretch>
                  <a:fillRect l="-863" t="-24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91368" y="5733256"/>
                <a:ext cx="720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要完成統計推論，必須要得到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𝑁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(0,</m:t>
                    </m:r>
                    <m:r>
                      <m:rPr>
                        <m:sty m:val="p"/>
                      </m:rPr>
                      <a:rPr lang="el-GR" altLang="zh-TW" sz="24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Ω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的分配，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所以使用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stationary bootstrap</a:t>
                </a:r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來求得</a:t>
                </a:r>
                <a:endParaRPr lang="zh-TW" altLang="en-US" sz="2400" dirty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68" y="5733256"/>
                <a:ext cx="7200800" cy="830997"/>
              </a:xfrm>
              <a:prstGeom prst="rect">
                <a:avLst/>
              </a:prstGeom>
              <a:blipFill rotWithShape="1">
                <a:blip r:embed="rId4"/>
                <a:stretch>
                  <a:fillRect t="-5109" b="-16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7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Stationary bootstrap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0" y="1196752"/>
                <a:ext cx="9001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時間數列（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time series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）是指以時間順序型態出現之一連串觀測值，可能為定態（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stationary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）或是非定態（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non-stationary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）。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一般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時間序列所指的定態為二次定態（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secondary-order stationary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）或稱為弱定態（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weak stationary</a:t>
                </a:r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）。一個時間序列變數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zh-TW" sz="2400" dirty="0">
                    <a:latin typeface="微軟正黑體" pitchFamily="34" charset="-120"/>
                    <a:ea typeface="微軟正黑體" pitchFamily="34" charset="-120"/>
                  </a:rPr>
                  <a:t>如果為二次定態變數，需有以下的性質</a:t>
                </a:r>
                <a:r>
                  <a:rPr lang="zh-TW" altLang="zh-TW" sz="2400" dirty="0" smtClean="0">
                    <a:latin typeface="微軟正黑體" pitchFamily="34" charset="-120"/>
                    <a:ea typeface="微軟正黑體" pitchFamily="34" charset="-120"/>
                  </a:rPr>
                  <a:t>：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zh-TW" altLang="zh-TW" sz="2400" dirty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6752"/>
                <a:ext cx="90010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016" t="-1591" r="-1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051720" y="3789040"/>
                <a:ext cx="4572000" cy="120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𝜇</m:t>
                      </m:r>
                      <m:r>
                        <a:rPr lang="zh-TW" altLang="zh-TW" sz="2400">
                          <a:latin typeface="Cambria Math"/>
                        </a:rPr>
                        <m:t>，</m:t>
                      </m:r>
                    </m:oMath>
                  </m:oMathPara>
                </a14:m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Var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Var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zh-TW" altLang="zh-TW" sz="2400" i="1">
                          <a:latin typeface="Cambria Math"/>
                        </a:rPr>
                        <m:t>，</m:t>
                      </m:r>
                    </m:oMath>
                  </m:oMathPara>
                </a14:m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Cov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zh-TW" altLang="zh-TW" sz="2400">
                              <a:latin typeface="Cambria Math"/>
                            </a:rPr>
                            <m:t>，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𝛾</m:t>
                      </m:r>
                      <m:r>
                        <a:rPr lang="zh-TW" altLang="zh-TW" sz="2400">
                          <a:latin typeface="Cambria Math"/>
                        </a:rPr>
                        <m:t>，</m:t>
                      </m:r>
                      <m:r>
                        <a:rPr lang="en-US" altLang="zh-TW" sz="2400">
                          <a:latin typeface="Cambria Math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t</m:t>
                      </m:r>
                      <m:r>
                        <a:rPr lang="zh-TW" altLang="zh-TW" sz="2400">
                          <a:latin typeface="Cambria Math"/>
                        </a:rPr>
                        <m:t>，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s</m:t>
                      </m:r>
                      <m:r>
                        <a:rPr lang="zh-TW" altLang="zh-TW" sz="2400">
                          <a:latin typeface="Cambria Math"/>
                        </a:rPr>
                        <m:t>，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3789040"/>
                <a:ext cx="4572000" cy="1208664"/>
              </a:xfrm>
              <a:prstGeom prst="rect">
                <a:avLst/>
              </a:prstGeom>
              <a:blipFill rotWithShape="1">
                <a:blip r:embed="rId3"/>
                <a:stretch>
                  <a:fillRect b="-20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539552" y="5363923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一般所使用的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bootstrap或是block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bootstrap法，都會破壞序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列當中的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stationary性質，而stationary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bootstrap可保留此性質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[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</a:rPr>
              <a:t>Politis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 &amp; Romano 94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]</a:t>
            </a:r>
            <a:endParaRPr lang="en-US" altLang="zh-TW" sz="24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846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251520" y="620688"/>
                <a:ext cx="849694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Given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0&lt;</m:t>
                    </m:r>
                    <m:r>
                      <a:rPr lang="en-US" altLang="zh-TW" sz="2000" b="0" i="1" smtClean="0">
                        <a:latin typeface="Cambria Math"/>
                      </a:rPr>
                      <m:t>𝑞</m:t>
                    </m:r>
                    <m:r>
                      <a:rPr lang="en-US" altLang="zh-TW" sz="2000" b="0" i="1" smtClean="0">
                        <a:latin typeface="Cambria Math"/>
                      </a:rPr>
                      <m:t>&lt;1 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𝑞</m:t>
                        </m:r>
                        <m:r>
                          <a:rPr lang="zh-TW" altLang="en-US" sz="2000" b="0" i="1" smtClean="0">
                            <a:latin typeface="Cambria Math"/>
                          </a:rPr>
                          <m:t>取任意值不影響結果</m:t>
                        </m:r>
                      </m:e>
                    </m:d>
                  </m:oMath>
                </a14:m>
                <a:endParaRPr lang="en-US" altLang="zh-TW" sz="2000" b="0" dirty="0" smtClean="0"/>
              </a:p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時間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𝑅</m:t>
                    </m:r>
                    <m:r>
                      <a:rPr lang="en-US" altLang="zh-TW" sz="2000" i="1">
                        <a:latin typeface="Cambria Math"/>
                      </a:rPr>
                      <m:t>~</m:t>
                    </m:r>
                    <m:r>
                      <a:rPr lang="en-US" altLang="zh-TW" sz="2000" i="1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sz="2000" dirty="0" err="1">
                    <a:latin typeface="微軟正黑體" pitchFamily="34" charset="-120"/>
                    <a:ea typeface="微軟正黑體" pitchFamily="34" charset="-120"/>
                  </a:rPr>
                  <a:t>共</a:t>
                </a:r>
                <a:r>
                  <a:rPr lang="en-US" altLang="zh-TW" sz="2000" i="1" dirty="0" err="1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en-US" altLang="zh-TW" sz="2000" dirty="0" err="1">
                    <a:latin typeface="微軟正黑體" pitchFamily="34" charset="-120"/>
                    <a:ea typeface="微軟正黑體" pitchFamily="34" charset="-120"/>
                  </a:rPr>
                  <a:t>期區間</a:t>
                </a:r>
                <a:r>
                  <a:rPr lang="en-US" altLang="zh-TW" sz="2000" dirty="0">
                    <a:latin typeface="微軟正黑體" pitchFamily="34" charset="-120"/>
                    <a:ea typeface="微軟正黑體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𝑇</m:t>
                    </m:r>
                    <m:r>
                      <a:rPr lang="en-US" altLang="zh-TW" sz="2000" i="1">
                        <a:latin typeface="Cambria Math"/>
                      </a:rPr>
                      <m:t>=</m:t>
                    </m:r>
                    <m:r>
                      <a:rPr lang="en-US" altLang="zh-TW" sz="2000" i="1">
                        <a:latin typeface="Cambria Math"/>
                      </a:rPr>
                      <m:t>𝑅</m:t>
                    </m:r>
                    <m:r>
                      <a:rPr lang="en-US" altLang="zh-TW" sz="2000" i="1">
                        <a:latin typeface="Cambria Math"/>
                      </a:rPr>
                      <m:t>+</m:t>
                    </m:r>
                    <m:r>
                      <a:rPr lang="en-US" altLang="zh-TW" sz="2000" i="1">
                        <a:latin typeface="Cambria Math"/>
                      </a:rPr>
                      <m:t>𝑛</m:t>
                    </m:r>
                    <m:r>
                      <a:rPr lang="en-US" altLang="zh-TW" sz="2000" i="1">
                        <a:latin typeface="Cambria Math"/>
                      </a:rPr>
                      <m:t>−1</m:t>
                    </m:r>
                    <m:r>
                      <a:rPr lang="zh-TW" altLang="en-US" sz="2000" b="0" i="1" smtClean="0">
                        <a:latin typeface="Cambria Math"/>
                      </a:rPr>
                      <m:t>為索引值的資料</m:t>
                    </m:r>
                    <m:r>
                      <a:rPr lang="en-US" altLang="zh-TW" sz="2000" b="0" i="1" smtClean="0">
                        <a:latin typeface="Cambria Math"/>
                      </a:rPr>
                      <m:t>𝐷</m:t>
                    </m:r>
                  </m:oMath>
                </a14:m>
                <a:endParaRPr lang="en-US" altLang="zh-TW" sz="2000" b="0" dirty="0" smtClean="0">
                  <a:latin typeface="微軟正黑體" pitchFamily="34" charset="-120"/>
                </a:endParaRPr>
              </a:p>
              <a:p>
                <a:r>
                  <a:rPr lang="en-US" altLang="zh-TW" sz="2000" b="0" dirty="0" smtClean="0">
                    <a:solidFill>
                      <a:srgbClr val="FF0000"/>
                    </a:solidFill>
                    <a:latin typeface="微軟正黑體" pitchFamily="34" charset="-120"/>
                  </a:rPr>
                  <a:t>Pseudo code: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t=R，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b="0" i="1" smtClean="0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𝑢𝑛𝑖𝑓𝑜𝑟𝑚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t=t+1, 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if t&gt;T: 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algorithm stop;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else: 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u=uniform[0, 1]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if u &lt; q: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𝑢𝑛𝑖𝑓𝑜𝑟𝑚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[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 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else: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en-US" altLang="zh-TW" sz="20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+1</m:t>
                    </m:r>
                  </m:oMath>
                </a14:m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  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	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&gt;T :</a:t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			</a:t>
                </a:r>
                <a:r>
                  <a:rPr lang="el-GR" altLang="zh-TW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>
                        <a:latin typeface="Cambria Math"/>
                        <a:ea typeface="Cambria Math"/>
                      </a:rPr>
                      <m:t>θ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000" b="0" i="0" smtClean="0">
                        <a:latin typeface="Cambria Math"/>
                        <a:ea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/>
                        <a:ea typeface="Cambria Math"/>
                      </a:rPr>
                      <m:t>R</m:t>
                    </m:r>
                  </m:oMath>
                </a14:m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Repeat step 2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zh-TW" sz="20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zh-TW" altLang="en-US" sz="20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所以最後可得到長度為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n的一組抽樣樣本</a:t>
                </a:r>
                <a:endParaRPr lang="en-US" altLang="zh-TW" sz="2000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20688"/>
                <a:ext cx="8496944" cy="5632311"/>
              </a:xfrm>
              <a:prstGeom prst="rect">
                <a:avLst/>
              </a:prstGeom>
              <a:blipFill rotWithShape="1">
                <a:blip r:embed="rId2"/>
                <a:stretch>
                  <a:fillRect l="-933" t="-541" b="-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02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395536" y="476672"/>
                <a:ext cx="7848872" cy="3767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原始資料為</a:t>
                </a:r>
                <a:r>
                  <a:rPr lang="zh-TW" altLang="en-US" sz="2400" dirty="0">
                    <a:latin typeface="微軟正黑體" pitchFamily="34" charset="-120"/>
                    <a:ea typeface="微軟正黑體" pitchFamily="34" charset="-120"/>
                  </a:rPr>
                  <a:t>時間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𝑅</m:t>
                    </m:r>
                    <m:r>
                      <a:rPr lang="en-US" altLang="zh-TW" sz="2400" i="1">
                        <a:latin typeface="Cambria Math"/>
                      </a:rPr>
                      <m:t>~</m:t>
                    </m:r>
                    <m:r>
                      <a:rPr lang="en-US" altLang="zh-TW" sz="2400" i="1"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zh-TW" sz="2400" dirty="0" err="1">
                    <a:latin typeface="微軟正黑體" pitchFamily="34" charset="-120"/>
                    <a:ea typeface="微軟正黑體" pitchFamily="34" charset="-120"/>
                  </a:rPr>
                  <a:t>共</a:t>
                </a:r>
                <a:r>
                  <a:rPr lang="en-US" altLang="zh-TW" sz="2400" i="1" dirty="0" err="1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期區間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𝑇</m:t>
                    </m:r>
                    <m:r>
                      <a:rPr lang="en-US" altLang="zh-TW" sz="2400" i="1">
                        <a:latin typeface="Cambria Math"/>
                      </a:rPr>
                      <m:t>=</m:t>
                    </m:r>
                    <m:r>
                      <a:rPr lang="en-US" altLang="zh-TW" sz="2400" i="1">
                        <a:latin typeface="Cambria Math"/>
                      </a:rPr>
                      <m:t>𝑅</m:t>
                    </m:r>
                    <m:r>
                      <a:rPr lang="en-US" altLang="zh-TW" sz="2400" i="1">
                        <a:latin typeface="Cambria Math"/>
                      </a:rPr>
                      <m:t>+</m:t>
                    </m:r>
                    <m:r>
                      <a:rPr lang="en-US" altLang="zh-TW" sz="2400" i="1">
                        <a:latin typeface="Cambria Math"/>
                      </a:rPr>
                      <m:t>𝑛</m:t>
                    </m:r>
                    <m:r>
                      <a:rPr lang="en-US" altLang="zh-TW" sz="24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altLang="zh-TW" sz="2400" dirty="0" smtClean="0">
                    <a:latin typeface="微軟正黑體" pitchFamily="34" charset="-120"/>
                  </a:rPr>
                  <a:t>的資料</a:t>
                </a:r>
                <a:endParaRPr lang="en-US" altLang="zh-TW" sz="2400" dirty="0">
                  <a:latin typeface="微軟正黑體" pitchFamily="34" charset="-12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利用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stationary 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bootstrap抽樣出長度為n的區間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，</a:t>
                </a:r>
              </a:p>
              <a:p>
                <a:pPr>
                  <a:lnSpc>
                    <a:spcPct val="125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並使用同樣的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L組模型來做比較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。</a:t>
                </a:r>
              </a:p>
              <a:p>
                <a:pPr>
                  <a:lnSpc>
                    <a:spcPct val="125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可得以下結果：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𝑅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𝑇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b="0" i="1" smtClean="0">
                                      <a:latin typeface="Cambria Math"/>
                                      <a:ea typeface="微軟正黑體" pitchFamily="34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  <a:ea typeface="微軟正黑體" pitchFamily="34" charset="-12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𝑡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76672"/>
                <a:ext cx="7848872" cy="3767698"/>
              </a:xfrm>
              <a:prstGeom prst="rect">
                <a:avLst/>
              </a:prstGeom>
              <a:blipFill rotWithShape="1">
                <a:blip r:embed="rId2"/>
                <a:stretch>
                  <a:fillRect l="-12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95536" y="4437112"/>
                <a:ext cx="7848872" cy="1849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Theorem</a:t>
                </a:r>
                <a:r>
                  <a:rPr lang="en-US" altLang="zh-TW" sz="2400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240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𝑛</m:t>
                          </m:r>
                        </m:e>
                      </m:rad>
                      <m:d>
                        <m:dPr>
                          <m:ctrlPr>
                            <a:rPr lang="en-US" altLang="zh-TW" sz="240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  <a:ea typeface="微軟正黑體" pitchFamily="34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  <a:ea typeface="微軟正黑體" pitchFamily="34" charset="-12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40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𝑑</m:t>
                          </m:r>
                        </m:e>
                      </m:groupCh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  <m:t>𝑛</m:t>
                          </m:r>
                        </m:e>
                      </m:rad>
                      <m:d>
                        <m:dPr>
                          <m:ctrlPr>
                            <a:rPr lang="en-US" altLang="zh-TW" sz="2400" i="1">
                              <a:latin typeface="Cambria Math"/>
                              <a:ea typeface="微軟正黑體" pitchFamily="34" charset="-12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  <a:ea typeface="微軟正黑體" pitchFamily="34" charset="-12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400" i="1" smtClean="0">
                              <a:latin typeface="Cambria Math"/>
                              <a:ea typeface="微軟正黑體" pitchFamily="34" charset="-12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400" b="0" i="1" smtClean="0">
                              <a:latin typeface="Cambria Math"/>
                              <a:ea typeface="微軟正黑體" pitchFamily="34" charset="-120"/>
                            </a:rPr>
                            <m:t>𝑑</m:t>
                          </m:r>
                        </m:e>
                      </m:groupChr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𝑁</m:t>
                      </m:r>
                      <m:r>
                        <a:rPr lang="en-US" altLang="zh-TW" sz="2400" b="0" i="1" smtClean="0">
                          <a:latin typeface="Cambria Math"/>
                          <a:ea typeface="微軟正黑體" pitchFamily="34" charset="-120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l-GR" altLang="zh-TW" sz="2400" b="0" i="1" smtClean="0"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altLang="zh-TW" sz="2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/>
              </a:p>
              <a:p>
                <a:endParaRPr lang="en-US" altLang="zh-TW" sz="2400" dirty="0"/>
              </a:p>
              <a:p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因此只要針對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  <a:ea typeface="微軟正黑體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  <a:ea typeface="微軟正黑體" pitchFamily="34" charset="-120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  <a:ea typeface="微軟正黑體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微軟正黑體" pitchFamily="34" charset="-12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微軟正黑體" pitchFamily="34" charset="-12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微軟正黑體" pitchFamily="34" charset="-12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微軟正黑體" pitchFamily="34" charset="-12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  <a:ea typeface="微軟正黑體" pitchFamily="34" charset="-12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微軟正黑體" pitchFamily="34" charset="-12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  <a:ea typeface="微軟正黑體" pitchFamily="34" charset="-12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做多次抽樣來得到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  <a:ea typeface="微軟正黑體" pitchFamily="34" charset="-120"/>
                      </a:rPr>
                      <m:t>𝑁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  <a:ea typeface="微軟正黑體" pitchFamily="34" charset="-120"/>
                      </a:rPr>
                      <m:t>(0,</m:t>
                    </m:r>
                    <m:r>
                      <m:rPr>
                        <m:sty m:val="p"/>
                      </m:rPr>
                      <a:rPr lang="el-GR" altLang="zh-TW" sz="24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Ω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437112"/>
                <a:ext cx="7848872" cy="1849032"/>
              </a:xfrm>
              <a:prstGeom prst="rect">
                <a:avLst/>
              </a:prstGeom>
              <a:blipFill rotWithShape="1">
                <a:blip r:embed="rId3"/>
                <a:stretch>
                  <a:fillRect l="-1243" t="-2640" b="-52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05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251520" y="404664"/>
                <a:ext cx="8424936" cy="4825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Corollary: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e>
                      </m:func>
                      <m:d>
                        <m:d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/>
                            </a:rPr>
                            <m:t>)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400" i="1">
                              <a:latin typeface="Cambria Math"/>
                            </a:rPr>
                            <m:t>𝑑</m:t>
                          </m:r>
                        </m:e>
                      </m:groupChr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=1,2,…,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TW" sz="2400" i="1">
                                  <a:latin typeface="Cambria Math"/>
                                  <a:ea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=1,2,…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func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𝐿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TW" sz="2400" i="1">
                              <a:latin typeface="Cambria Math"/>
                            </a:rPr>
                            <m:t>𝑑</m:t>
                          </m:r>
                        </m:e>
                      </m:groupChr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r>
                  <a:rPr lang="zh-TW" altLang="en-US" sz="2400" dirty="0" smtClean="0">
                    <a:solidFill>
                      <a:schemeClr val="tx1"/>
                    </a:solidFill>
                    <a:latin typeface="微軟正黑體" pitchFamily="34" charset="-120"/>
                    <a:ea typeface="微軟正黑體" pitchFamily="34" charset="-120"/>
                  </a:rPr>
                  <a:t>可用下式逼近得到</a:t>
                </a:r>
                <a:endParaRPr lang="en-US" altLang="zh-TW" sz="2400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r>
                  <a:rPr lang="en-US" altLang="zh-TW" sz="2400" dirty="0">
                    <a:solidFill>
                      <a:schemeClr val="tx1"/>
                    </a:solidFill>
                    <a:latin typeface="微軟正黑體" pitchFamily="34" charset="-120"/>
                    <a:ea typeface="微軟正黑體" pitchFamily="34" charset="-12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=1,2,…</m:t>
                            </m:r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𝐿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groupChr>
                      <m:groupChrPr>
                        <m:chr m:val="→"/>
                        <m:vertJc m:val="bot"/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</m:groupChr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𝐿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TW" sz="2400" i="1">
                            <a:latin typeface="Cambria Math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400" i="1">
                            <a:latin typeface="Cambria Math"/>
                          </a:rPr>
                          <m:t>𝑑</m:t>
                        </m:r>
                      </m:e>
                    </m:groupChr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endParaRPr lang="en-US" altLang="zh-TW" sz="2400" dirty="0" smtClean="0">
                  <a:solidFill>
                    <a:schemeClr val="tx1"/>
                  </a:solidFill>
                  <a:latin typeface="微軟正黑體" pitchFamily="34" charset="-120"/>
                  <a:ea typeface="微軟正黑體" pitchFamily="34" charset="-120"/>
                </a:endParaRPr>
              </a:p>
              <a:p>
                <a:endParaRPr lang="en-US" altLang="zh-TW" sz="2400" dirty="0">
                  <a:solidFill>
                    <a:srgbClr val="FF0000"/>
                  </a:solidFill>
                </a:endParaRPr>
              </a:p>
              <a:p>
                <a:r>
                  <a:rPr lang="zh-TW" altLang="en-US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即可藉由對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的大量抽樣模擬得到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  <a:latin typeface="微軟正黑體" pitchFamily="34" charset="-120"/>
                    <a:ea typeface="微軟正黑體" pitchFamily="34" charset="-120"/>
                  </a:rPr>
                  <a:t>的分配來做統計推論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</a:rPr>
                  <a:t>	</a:t>
                </a:r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4664"/>
                <a:ext cx="8424936" cy="4825167"/>
              </a:xfrm>
              <a:prstGeom prst="rect">
                <a:avLst/>
              </a:prstGeom>
              <a:blipFill rotWithShape="1">
                <a:blip r:embed="rId2"/>
                <a:stretch>
                  <a:fillRect l="-1085" t="-10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22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計算</a:t>
            </a:r>
            <a:r>
              <a:rPr lang="en-US" altLang="zh-TW" i="1" dirty="0" smtClean="0">
                <a:latin typeface="微軟正黑體" pitchFamily="34" charset="-120"/>
                <a:ea typeface="微軟正黑體" pitchFamily="34" charset="-120"/>
              </a:rPr>
              <a:t>p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value的步驟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395536" y="1412776"/>
                <a:ext cx="7992888" cy="5044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假設現在針對模型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5與基準模型比較：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計算模型在</a:t>
                </a:r>
                <a:r>
                  <a:rPr lang="en-US" altLang="zh-TW" sz="2000" i="1" dirty="0" err="1" smtClean="0">
                    <a:latin typeface="微軟正黑體" pitchFamily="34" charset="-120"/>
                    <a:ea typeface="微軟正黑體" pitchFamily="34" charset="-120"/>
                  </a:rPr>
                  <a:t>R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~</a:t>
                </a:r>
                <a:r>
                  <a:rPr lang="en-US" altLang="zh-TW" sz="2000" i="1" dirty="0" err="1" smtClean="0">
                    <a:latin typeface="微軟正黑體" pitchFamily="34" charset="-120"/>
                    <a:ea typeface="微軟正黑體" pitchFamily="34" charset="-120"/>
                  </a:rPr>
                  <a:t>T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期每一期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(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共</a:t>
                </a:r>
                <a:r>
                  <a:rPr lang="en-US" altLang="zh-TW" sz="2000" i="1" dirty="0" err="1" smtClean="0">
                    <a:latin typeface="微軟正黑體" pitchFamily="34" charset="-120"/>
                    <a:ea typeface="微軟正黑體" pitchFamily="34" charset="-120"/>
                  </a:rPr>
                  <a:t>n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期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)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的預測能力差值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5,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, </m:t>
                    </m:r>
                    <m:r>
                      <a:rPr lang="en-US" altLang="zh-TW" sz="2000" b="0" i="1" smtClean="0">
                        <a:latin typeface="Cambria Math"/>
                      </a:rPr>
                      <m:t>𝑡</m:t>
                    </m:r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>
                      <a:rPr lang="en-US" altLang="zh-TW" sz="2000" b="0" i="1" smtClean="0">
                        <a:latin typeface="Cambria Math"/>
                      </a:rPr>
                      <m:t>𝑅</m:t>
                    </m:r>
                    <m:r>
                      <a:rPr lang="en-US" altLang="zh-TW" sz="2000" b="0" i="1" smtClean="0">
                        <a:latin typeface="Cambria Math"/>
                      </a:rPr>
                      <m:t>,…,</m:t>
                    </m:r>
                    <m:r>
                      <a:rPr lang="en-US" altLang="zh-TW" sz="2000" b="0" i="1" smtClean="0">
                        <a:latin typeface="Cambria Math"/>
                      </a:rPr>
                      <m:t>𝑇</m:t>
                    </m:r>
                  </m:oMath>
                </a14:m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  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計算平均值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𝑅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5,</m:t>
                            </m:r>
                            <m:r>
                              <a:rPr lang="en-US" altLang="zh-TW" sz="20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sz="2000" i="1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sz="2000" b="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使用stationary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> 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bootstrap得原始資料長度為n，共B條的抽樣樣本，同樣計算預測能力差值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5,</m:t>
                        </m:r>
                        <m:sSub>
                          <m:sSubPr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00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，平均值：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5,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𝑏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2000" i="1">
                            <a:latin typeface="Cambria Math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0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i="1">
                            <a:latin typeface="Cambria Math"/>
                          </a:rPr>
                          <m:t>𝑡</m:t>
                        </m:r>
                        <m:r>
                          <a:rPr lang="en-US" altLang="zh-TW" sz="2000" i="1">
                            <a:latin typeface="Cambria Math"/>
                          </a:rPr>
                          <m:t>=</m:t>
                        </m:r>
                        <m:r>
                          <a:rPr lang="en-US" altLang="zh-TW" sz="2000" i="1">
                            <a:latin typeface="Cambria Math"/>
                          </a:rPr>
                          <m:t>𝑅</m:t>
                        </m:r>
                      </m:sub>
                      <m:sup>
                        <m:r>
                          <a:rPr lang="en-US" altLang="zh-TW" sz="2000" i="1">
                            <a:latin typeface="Cambria Math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5,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nary>
                    <m:r>
                      <a:rPr lang="en-US" altLang="zh-TW" sz="2000" b="0" i="1" smtClean="0">
                        <a:latin typeface="Cambria Math"/>
                      </a:rPr>
                      <m:t>, </m:t>
                    </m:r>
                    <m:r>
                      <a:rPr lang="en-US" altLang="zh-TW" sz="2000" b="0" i="1" smtClean="0">
                        <a:latin typeface="Cambria Math"/>
                      </a:rPr>
                      <m:t>𝑏</m:t>
                    </m:r>
                    <m:r>
                      <a:rPr lang="en-US" altLang="zh-TW" sz="2000" b="0" i="1" smtClean="0">
                        <a:latin typeface="Cambria Math"/>
                      </a:rPr>
                      <m:t>=1,2,…,</m:t>
                    </m:r>
                    <m:r>
                      <a:rPr lang="en-US" altLang="zh-TW" sz="2000" b="0" i="1" smtClean="0">
                        <a:latin typeface="Cambria Math"/>
                      </a:rPr>
                      <m:t>𝐵</m:t>
                    </m:r>
                  </m:oMath>
                </a14:m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計算</a:t>
                </a:r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𝑛</m:t>
                        </m:r>
                      </m:e>
                    </m:rad>
                    <m:sSub>
                      <m:sSub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000" dirty="0" smtClean="0">
                    <a:latin typeface="微軟正黑體" pitchFamily="34" charset="-120"/>
                    <a:ea typeface="微軟正黑體" pitchFamily="34" charset="-12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00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5,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𝑏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5,</m:t>
                            </m:r>
                            <m:r>
                              <a:rPr lang="en-US" altLang="zh-TW" sz="2000" i="1">
                                <a:latin typeface="Cambria Math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, </m:t>
                    </m:r>
                    <m:r>
                      <a:rPr lang="en-US" altLang="zh-TW" sz="2000" b="0" i="1" smtClean="0">
                        <a:latin typeface="Cambria Math"/>
                      </a:rPr>
                      <m:t>𝑏</m:t>
                    </m:r>
                    <m:r>
                      <a:rPr lang="en-US" altLang="zh-TW" sz="2000" b="0" i="1" smtClean="0">
                        <a:latin typeface="Cambria Math"/>
                      </a:rPr>
                      <m:t>=1,2,…,</m:t>
                    </m:r>
                    <m:r>
                      <a:rPr lang="en-US" altLang="zh-TW" sz="2000" b="0" i="1" smtClean="0">
                        <a:latin typeface="Cambria Math"/>
                      </a:rPr>
                      <m:t>𝐵</m:t>
                    </m:r>
                  </m:oMath>
                </a14:m>
                <a:endParaRPr lang="en-US" altLang="zh-TW" sz="2000" b="0" dirty="0" smtClean="0">
                  <a:latin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000" dirty="0" smtClean="0">
                    <a:latin typeface="微軟正黑體" pitchFamily="34" charset="-120"/>
                    <a:ea typeface="微軟正黑體" pitchFamily="34" charset="-120"/>
                  </a:rPr>
                  <a:t>針對第</a:t>
                </a:r>
                <a:r>
                  <a:rPr lang="en-US" altLang="zh-TW" sz="2000" dirty="0" err="1" smtClean="0">
                    <a:latin typeface="微軟正黑體" pitchFamily="34" charset="-120"/>
                    <a:ea typeface="微軟正黑體" pitchFamily="34" charset="-120"/>
                  </a:rPr>
                  <a:t>k個模型都是使用同樣的計算方法</a:t>
                </a:r>
                <a:endParaRPr lang="en-US" altLang="zh-TW" sz="2000" dirty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12776"/>
                <a:ext cx="7992888" cy="5044522"/>
              </a:xfrm>
              <a:prstGeom prst="rect">
                <a:avLst/>
              </a:prstGeom>
              <a:blipFill rotWithShape="1">
                <a:blip r:embed="rId2"/>
                <a:stretch>
                  <a:fillRect l="-1068" t="-605" r="-2059" b="-18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4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467544" y="404664"/>
                <a:ext cx="8424936" cy="4720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如果要檢驗到目前為只的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k個模型是否優於基準模型</a:t>
                </a: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，首先計算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𝑚𝑎𝑥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𝑏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𝑚𝑎𝑥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TW" sz="24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</m:t>
                      </m:r>
                      <m:r>
                        <a:rPr lang="en-US" altLang="zh-TW" sz="2400" i="1">
                          <a:latin typeface="Cambria Math"/>
                        </a:rPr>
                        <m:t>𝑏</m:t>
                      </m:r>
                      <m:r>
                        <a:rPr lang="en-US" altLang="zh-TW" sz="2400" i="1">
                          <a:latin typeface="Cambria Math"/>
                        </a:rPr>
                        <m:t>=1,2,…,</m:t>
                      </m:r>
                      <m:r>
                        <a:rPr lang="en-US" altLang="zh-TW" sz="2400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altLang="zh-TW" sz="2400" dirty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TW" sz="2400" b="0" dirty="0" smtClean="0">
                    <a:latin typeface="微軟正黑體" pitchFamily="34" charset="-120"/>
                    <a:ea typeface="微軟正黑體" pitchFamily="34" charset="-120"/>
                  </a:rPr>
                  <a:t/>
                </a:r>
                <a:br>
                  <a:rPr lang="en-US" altLang="zh-TW" sz="2400" b="0" dirty="0" smtClean="0">
                    <a:latin typeface="微軟正黑體" pitchFamily="34" charset="-120"/>
                    <a:ea typeface="微軟正黑體" pitchFamily="34" charset="-120"/>
                  </a:rPr>
                </a:br>
                <a:r>
                  <a:rPr lang="en-US" altLang="zh-TW" sz="2400" b="0" dirty="0" err="1" smtClean="0">
                    <a:latin typeface="微軟正黑體" pitchFamily="34" charset="-120"/>
                    <a:ea typeface="微軟正黑體" pitchFamily="34" charset="-120"/>
                  </a:rPr>
                  <a:t>然後將得到的B個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</m:t>
                        </m:r>
                        <m:r>
                          <a:rPr lang="en-US" altLang="zh-TW" sz="2400" i="1">
                            <a:latin typeface="Cambria Math"/>
                          </a:rPr>
                          <m:t>𝑏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由小至大排序得</a:t>
                </a:r>
                <a:r>
                  <a:rPr lang="en-US" altLang="zh-TW" sz="2400" dirty="0">
                    <a:latin typeface="微軟正黑體" pitchFamily="34" charset="-120"/>
                    <a:ea typeface="微軟正黑體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,(1)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,</m:t>
                    </m:r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,(2)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,…,</m:t>
                    </m:r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,(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𝐵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)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TW" altLang="en-US" sz="2400" dirty="0">
                    <a:latin typeface="微軟正黑體" pitchFamily="34" charset="-120"/>
                    <a:ea typeface="微軟正黑體" pitchFamily="34" charset="-120"/>
                  </a:rPr>
                  <a:t>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,(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𝑀</m:t>
                        </m:r>
                        <m:r>
                          <a:rPr lang="en-US" altLang="zh-TW" sz="2400" i="1">
                            <a:latin typeface="Cambria Math"/>
                          </a:rPr>
                          <m:t>)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≤</m:t>
                    </m:r>
                    <m:sSubSup>
                      <m:sSub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/>
                          </a:rPr>
                          <m:t>,(</m:t>
                        </m:r>
                        <m:r>
                          <a:rPr lang="en-US" altLang="zh-TW" sz="2400" i="1">
                            <a:latin typeface="Cambria Math"/>
                          </a:rPr>
                          <m:t>𝑀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+1</m:t>
                        </m:r>
                        <m:r>
                          <a:rPr lang="en-US" altLang="zh-TW" sz="2400" i="1">
                            <a:latin typeface="Cambria Math"/>
                          </a:rPr>
                          <m:t>)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TW" altLang="en-US" sz="2400" dirty="0" smtClean="0">
                    <a:latin typeface="微軟正黑體" pitchFamily="34" charset="-120"/>
                    <a:ea typeface="微軟正黑體" pitchFamily="34" charset="-120"/>
                  </a:rPr>
                  <a:t>則</a:t>
                </a:r>
                <a:r>
                  <a:rPr lang="en-US" altLang="zh-TW" sz="2400" i="1" dirty="0" smtClean="0">
                    <a:latin typeface="微軟正黑體" pitchFamily="34" charset="-120"/>
                    <a:ea typeface="微軟正黑體" pitchFamily="34" charset="-120"/>
                  </a:rPr>
                  <a:t>p</a:t>
                </a:r>
                <a:r>
                  <a:rPr lang="en-US" altLang="zh-TW" sz="2400" dirty="0" smtClean="0">
                    <a:latin typeface="微軟正黑體" pitchFamily="34" charset="-120"/>
                    <a:ea typeface="微軟正黑體" pitchFamily="34" charset="-120"/>
                  </a:rPr>
                  <a:t>-</a:t>
                </a:r>
                <a:r>
                  <a:rPr lang="en-US" altLang="zh-TW" sz="2400" dirty="0" err="1" smtClean="0">
                    <a:latin typeface="微軟正黑體" pitchFamily="34" charset="-120"/>
                    <a:ea typeface="微軟正黑體" pitchFamily="34" charset="-120"/>
                  </a:rPr>
                  <a:t>value為</a:t>
                </a:r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𝑝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/>
                            </a:rPr>
                            <m:t>𝑀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altLang="zh-TW" sz="2400" dirty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4664"/>
                <a:ext cx="8424936" cy="4720010"/>
              </a:xfrm>
              <a:prstGeom prst="rect">
                <a:avLst/>
              </a:prstGeom>
              <a:blipFill rotWithShape="1">
                <a:blip r:embed="rId2"/>
                <a:stretch>
                  <a:fillRect l="-1158" t="-2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7186" y="5273913"/>
            <a:ext cx="8640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在現有的模型當中，如果新增一個模型（邊際模型）且此模型優於原始集合中最佳的模型時，大部份的情形下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p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value會下降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即顯著性增加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)。</a:t>
            </a:r>
          </a:p>
          <a:p>
            <a:endParaRPr lang="en-US" altLang="zh-TW" sz="2000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000" dirty="0">
                <a:latin typeface="微軟正黑體" pitchFamily="34" charset="-120"/>
                <a:ea typeface="微軟正黑體" pitchFamily="34" charset="-120"/>
              </a:rPr>
              <a:t>反之，如果邊際模型沒有優於最佳模型時，大部分的情形下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p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</a:rPr>
              <a:t>value會上升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453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341981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6055" y="1124744"/>
            <a:ext cx="8136904" cy="260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S&amp;P 500, daily information, 1-day ahead prediction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Total period: March 29, 1988~May 31, 1994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R=803, T=1560, n=758 (June 3, 1991~May 31, 1994)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TW" sz="2400" dirty="0" smtClean="0"/>
              <a:t>Simple return(</a:t>
            </a:r>
            <a:r>
              <a:rPr lang="en-US" altLang="zh-TW" sz="2400" dirty="0" err="1" smtClean="0"/>
              <a:t>y</a:t>
            </a:r>
            <a:r>
              <a:rPr lang="en-US" altLang="zh-TW" sz="2400" baseline="-25000" dirty="0" err="1" smtClean="0"/>
              <a:t>t</a:t>
            </a:r>
            <a:r>
              <a:rPr lang="en-US" altLang="zh-TW" sz="2400" dirty="0" smtClean="0"/>
              <a:t>=</a:t>
            </a:r>
            <a:r>
              <a:rPr lang="en-US" altLang="zh-TW" sz="2400" dirty="0" err="1" smtClean="0"/>
              <a:t>p</a:t>
            </a:r>
            <a:r>
              <a:rPr lang="en-US" altLang="zh-TW" sz="2400" baseline="-25000" dirty="0" err="1" smtClean="0"/>
              <a:t>t</a:t>
            </a:r>
            <a:r>
              <a:rPr lang="en-US" altLang="zh-TW" sz="2400" dirty="0" smtClean="0"/>
              <a:t>/p</a:t>
            </a:r>
            <a:r>
              <a:rPr lang="en-US" altLang="zh-TW" sz="2400" baseline="-25000" dirty="0" smtClean="0"/>
              <a:t>t-1</a:t>
            </a:r>
            <a:r>
              <a:rPr lang="en-US" altLang="zh-TW" sz="2400" dirty="0" smtClean="0"/>
              <a:t>-1)</a:t>
            </a:r>
          </a:p>
          <a:p>
            <a:pPr marL="342900" indent="-342900">
              <a:buFont typeface="Arial" pitchFamily="34" charset="0"/>
              <a:buChar char="•"/>
            </a:pPr>
            <a:endParaRPr lang="en-US" altLang="zh-TW" sz="2400" dirty="0" smtClean="0"/>
          </a:p>
          <a:p>
            <a:pPr marL="342900" indent="-342900">
              <a:buFont typeface="Arial" pitchFamily="34" charset="0"/>
              <a:buChar char="•"/>
            </a:pP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996952"/>
            <a:ext cx="4679057" cy="378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75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4171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群組 2"/>
          <p:cNvGrpSpPr/>
          <p:nvPr/>
        </p:nvGrpSpPr>
        <p:grpSpPr>
          <a:xfrm>
            <a:off x="534070" y="2204864"/>
            <a:ext cx="5810037" cy="452437"/>
            <a:chOff x="610582" y="2092374"/>
            <a:chExt cx="5810037" cy="452437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582" y="2132856"/>
              <a:ext cx="3362325" cy="371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178"/>
            <a:stretch/>
          </p:blipFill>
          <p:spPr bwMode="auto">
            <a:xfrm>
              <a:off x="4067944" y="2092374"/>
              <a:ext cx="2352675" cy="452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50" y="3879639"/>
            <a:ext cx="60864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32" y="5156819"/>
            <a:ext cx="62960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/>
        </p:nvGrpSpPr>
        <p:grpSpPr>
          <a:xfrm>
            <a:off x="534070" y="1196752"/>
            <a:ext cx="8114338" cy="853442"/>
            <a:chOff x="515389" y="1493725"/>
            <a:chExt cx="8114338" cy="85344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389" y="1493725"/>
              <a:ext cx="5619750" cy="371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971"/>
            <a:stretch/>
          </p:blipFill>
          <p:spPr bwMode="auto">
            <a:xfrm>
              <a:off x="2668313" y="1918542"/>
              <a:ext cx="5961414" cy="428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文字方塊 3"/>
          <p:cNvSpPr txBox="1"/>
          <p:nvPr/>
        </p:nvSpPr>
        <p:spPr>
          <a:xfrm>
            <a:off x="1259631" y="2657301"/>
            <a:ext cx="770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the slopes from regressing the price on a</a:t>
            </a:r>
          </a:p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constant and a time trend for the previous five, ten, fifteen, and twenty days.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259630" y="4253671"/>
            <a:ext cx="7704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the percentages of the 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previous five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, ten, fifteen, or twenty days that returns were positive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83568" y="5547344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the difference between a simple moving average of the closing price</a:t>
            </a:r>
          </a:p>
          <a:p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over the previous 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1 days and that over the previous 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2 days, where 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en-US" altLang="zh-TW" sz="2000" i="1" dirty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2 , 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for </a:t>
            </a:r>
            <a:r>
              <a:rPr lang="en-US" altLang="zh-TW" sz="2000" i="1" dirty="0" smtClean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1=1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, 5, 10, 15, and </a:t>
            </a:r>
            <a:r>
              <a:rPr lang="en-US" altLang="zh-TW" sz="2000" i="1" dirty="0" smtClean="0">
                <a:latin typeface="微軟正黑體" pitchFamily="34" charset="-120"/>
                <a:ea typeface="微軟正黑體" pitchFamily="34" charset="-120"/>
              </a:rPr>
              <a:t>q</a:t>
            </a:r>
            <a:r>
              <a:rPr lang="en-US" altLang="zh-TW" sz="2000" dirty="0" smtClean="0">
                <a:latin typeface="微軟正黑體" pitchFamily="34" charset="-120"/>
                <a:ea typeface="微軟正黑體" pitchFamily="34" charset="-120"/>
              </a:rPr>
              <a:t>2=5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</a:rPr>
              <a:t>, 10, 15, 20.</a:t>
            </a:r>
            <a:endParaRPr lang="zh-TW" altLang="en-US" sz="20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22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69838" y="548680"/>
            <a:ext cx="8419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對每一種模型，使用最小平方法來計算</a:t>
            </a:r>
            <a:r>
              <a:rPr lang="en-US" altLang="zh-TW" sz="24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one-step </a:t>
            </a:r>
            <a:r>
              <a:rPr lang="en-US" altLang="zh-TW" sz="2400" dirty="0" err="1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ahead</a:t>
            </a:r>
            <a:r>
              <a:rPr lang="en-US" altLang="zh-TW" sz="2400" dirty="0" err="1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24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預測值</a:t>
            </a:r>
            <a:endParaRPr lang="zh-TW" altLang="en-US" sz="2400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8889082" cy="56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34085"/>
            <a:ext cx="15716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470" y="3034085"/>
            <a:ext cx="6944122" cy="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97338"/>
            <a:ext cx="617220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539552" y="3729410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所以共有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C(29, 3)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種組合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449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914400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263680" y="350100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此區間的最佳的</a:t>
            </a:r>
            <a:r>
              <a:rPr lang="en-US" altLang="zh-TW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MSE </a:t>
            </a:r>
            <a:r>
              <a:rPr lang="en-US" altLang="zh-TW" dirty="0" err="1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model沒有顯著性</a:t>
            </a:r>
            <a:endParaRPr lang="zh-TW" altLang="en-US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5292080" y="3501008"/>
            <a:ext cx="576064" cy="6463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圖說文字 3"/>
          <p:cNvSpPr/>
          <p:nvPr/>
        </p:nvSpPr>
        <p:spPr>
          <a:xfrm>
            <a:off x="467544" y="1772816"/>
            <a:ext cx="2232248" cy="648072"/>
          </a:xfrm>
          <a:prstGeom prst="wedgeRoundRectCallout">
            <a:avLst>
              <a:gd name="adj1" fmla="val 164280"/>
              <a:gd name="adj2" fmla="val 202010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兩者的差值可視為</a:t>
            </a:r>
            <a:r>
              <a:rPr lang="en-US" altLang="zh-TW" dirty="0" smtClean="0"/>
              <a:t>data </a:t>
            </a:r>
            <a:r>
              <a:rPr lang="en-US" altLang="zh-TW" dirty="0" err="1" smtClean="0"/>
              <a:t>mining的誤差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77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246"/>
            <a:ext cx="903649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405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8136904" cy="120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755576" y="1700808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比較模型預測</a:t>
            </a:r>
            <a:r>
              <a:rPr lang="zh-TW" altLang="en-US" sz="2000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上漲、下跌的能力</a:t>
            </a:r>
            <a:endParaRPr lang="zh-TW" altLang="en-US" sz="2000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70" y="2420888"/>
            <a:ext cx="4038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46" y="3354942"/>
            <a:ext cx="15716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54942"/>
            <a:ext cx="6944122" cy="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54" y="5118195"/>
            <a:ext cx="617220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57770" y="4050267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所以共有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C(29, 3)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種組合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575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8" y="260648"/>
            <a:ext cx="9109102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5724128" y="3717032"/>
            <a:ext cx="576064" cy="6463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8502823" y="3573016"/>
            <a:ext cx="461665" cy="7903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72200" y="3573016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最佳模型有顯著性，但</a:t>
            </a:r>
            <a:r>
              <a:rPr lang="en-US" altLang="zh-TW" dirty="0" err="1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RC檢定沒有顯著性，因此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可能是</a:t>
            </a:r>
            <a:r>
              <a:rPr lang="en-US" altLang="zh-TW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data snooping</a:t>
            </a:r>
            <a:endParaRPr lang="zh-TW" altLang="en-US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413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2001"/>
            <a:ext cx="8568952" cy="667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429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Packages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57349" y="935142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/>
              <a:t>R</a:t>
            </a:r>
            <a:r>
              <a:rPr lang="en-US" altLang="zh-TW" sz="2800" dirty="0" smtClean="0"/>
              <a:t> package: </a:t>
            </a:r>
            <a:r>
              <a:rPr lang="en-US" altLang="zh-TW" sz="2800" b="1" dirty="0" err="1" smtClean="0"/>
              <a:t>ttrTests</a:t>
            </a:r>
            <a:endParaRPr lang="zh-TW" altLang="en-US" sz="2800" b="1" dirty="0"/>
          </a:p>
        </p:txBody>
      </p:sp>
      <p:grpSp>
        <p:nvGrpSpPr>
          <p:cNvPr id="6" name="群組 5"/>
          <p:cNvGrpSpPr/>
          <p:nvPr/>
        </p:nvGrpSpPr>
        <p:grpSpPr>
          <a:xfrm>
            <a:off x="466577" y="1431506"/>
            <a:ext cx="8348315" cy="1493438"/>
            <a:chOff x="460822" y="1890410"/>
            <a:chExt cx="8348315" cy="149343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2352075"/>
              <a:ext cx="8269585" cy="10317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文字方塊 3"/>
            <p:cNvSpPr txBox="1"/>
            <p:nvPr/>
          </p:nvSpPr>
          <p:spPr>
            <a:xfrm>
              <a:off x="460822" y="1890410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 smtClean="0">
                  <a:solidFill>
                    <a:srgbClr val="FF0000"/>
                  </a:solidFill>
                </a:rPr>
                <a:t>Stationary bootstrap</a:t>
              </a:r>
              <a:endParaRPr lang="zh-TW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466577" y="2887835"/>
            <a:ext cx="8427045" cy="2189845"/>
            <a:chOff x="466577" y="2887835"/>
            <a:chExt cx="8427045" cy="2189845"/>
          </a:xfrm>
        </p:grpSpPr>
        <p:sp>
          <p:nvSpPr>
            <p:cNvPr id="5" name="文字方塊 4"/>
            <p:cNvSpPr txBox="1"/>
            <p:nvPr/>
          </p:nvSpPr>
          <p:spPr>
            <a:xfrm>
              <a:off x="466577" y="2887835"/>
              <a:ext cx="49685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 smtClean="0">
                  <a:solidFill>
                    <a:srgbClr val="FF0000"/>
                  </a:solidFill>
                </a:rPr>
                <a:t>Data snooping (RC &amp; SPA)</a:t>
              </a:r>
              <a:endParaRPr lang="zh-TW" altLang="en-US" sz="2400" b="1" dirty="0">
                <a:solidFill>
                  <a:srgbClr val="FF0000"/>
                </a:solidFill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07" y="3501008"/>
              <a:ext cx="8348315" cy="1576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7" name="圖片 6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223" y="5301208"/>
            <a:ext cx="3531766" cy="151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66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449258" y="548680"/>
            <a:ext cx="3384376" cy="134077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Reality Check(RC)</a:t>
            </a:r>
            <a:r>
              <a:rPr lang="en-US" altLang="zh-TW" sz="2800" baseline="30000" dirty="0" smtClean="0"/>
              <a:t> (1)</a:t>
            </a:r>
            <a:endParaRPr lang="zh-TW" altLang="en-US" sz="2800" baseline="30000" dirty="0"/>
          </a:p>
        </p:txBody>
      </p:sp>
      <p:sp>
        <p:nvSpPr>
          <p:cNvPr id="5" name="矩形 4"/>
          <p:cNvSpPr/>
          <p:nvPr/>
        </p:nvSpPr>
        <p:spPr>
          <a:xfrm>
            <a:off x="173062" y="4221088"/>
            <a:ext cx="8856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altLang="zh-TW" dirty="0" err="1" smtClean="0"/>
              <a:t>Halbert</a:t>
            </a:r>
            <a:r>
              <a:rPr lang="en-US" altLang="zh-TW" dirty="0" smtClean="0"/>
              <a:t> White,  “A REALITY CHECK FOR DATA SNOOPING,” </a:t>
            </a:r>
            <a:r>
              <a:rPr lang="en-US" altLang="zh-TW" i="1" dirty="0" err="1" smtClean="0"/>
              <a:t>Econometrica</a:t>
            </a:r>
            <a:r>
              <a:rPr lang="en-US" altLang="zh-TW" dirty="0" smtClean="0"/>
              <a:t>, Vol. 68, No. 5, pp. 1097-1126, 2000</a:t>
            </a:r>
          </a:p>
          <a:p>
            <a:pPr marL="342900" indent="-342900">
              <a:buAutoNum type="arabicParenBoth"/>
            </a:pPr>
            <a:r>
              <a:rPr lang="en-US" altLang="zh-TW" dirty="0" smtClean="0"/>
              <a:t>Romano, J. P. and M. Wolf,.  “Stepwise multiple testing as formalized data snooping,” </a:t>
            </a:r>
            <a:r>
              <a:rPr lang="en-US" altLang="zh-TW" i="1" dirty="0" err="1" smtClean="0"/>
              <a:t>Econometrica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Vol</a:t>
            </a:r>
            <a:r>
              <a:rPr lang="en-US" altLang="zh-TW" dirty="0" smtClean="0"/>
              <a:t> . 73, pp. 1237–1282, 2005.</a:t>
            </a:r>
          </a:p>
          <a:p>
            <a:pPr marL="342900" indent="-342900">
              <a:buAutoNum type="arabicParenBoth"/>
            </a:pPr>
            <a:r>
              <a:rPr lang="en-US" altLang="zh-TW" dirty="0" smtClean="0"/>
              <a:t>P.R. Hansen,  “A test for superior predictive ability, </a:t>
            </a:r>
            <a:r>
              <a:rPr lang="en-US" altLang="zh-TW" i="1" dirty="0" smtClean="0"/>
              <a:t>” Journal of Business and Economic Statistics</a:t>
            </a:r>
            <a:r>
              <a:rPr lang="en-US" altLang="zh-TW" dirty="0" smtClean="0"/>
              <a:t>, Vol. 23, No. 4, pp. 365-380, 2005.</a:t>
            </a:r>
          </a:p>
          <a:p>
            <a:pPr marL="342900" indent="-342900">
              <a:buAutoNum type="arabicParenBoth"/>
            </a:pPr>
            <a:r>
              <a:rPr lang="en-US" altLang="zh-TW" dirty="0" smtClean="0"/>
              <a:t>Po-</a:t>
            </a:r>
            <a:r>
              <a:rPr lang="en-US" altLang="zh-TW" dirty="0" err="1" smtClean="0"/>
              <a:t>Hsuan</a:t>
            </a:r>
            <a:r>
              <a:rPr lang="en-US" altLang="zh-TW" dirty="0" smtClean="0"/>
              <a:t> Hsu , Yu-Chin </a:t>
            </a:r>
            <a:r>
              <a:rPr lang="en-US" altLang="zh-TW" dirty="0" err="1" smtClean="0"/>
              <a:t>Hsub</a:t>
            </a:r>
            <a:r>
              <a:rPr lang="en-US" altLang="zh-TW" dirty="0" smtClean="0"/>
              <a:t>, Chung-Ming </a:t>
            </a:r>
            <a:r>
              <a:rPr lang="en-US" altLang="zh-TW" dirty="0" err="1" smtClean="0"/>
              <a:t>Kuan</a:t>
            </a:r>
            <a:r>
              <a:rPr lang="en-US" altLang="zh-TW" dirty="0" smtClean="0"/>
              <a:t>, “Testing the predictive ability of technical analysis using a new stepwise test without data snooping bias,” </a:t>
            </a:r>
            <a:r>
              <a:rPr lang="en-US" altLang="zh-TW" i="1" dirty="0" smtClean="0"/>
              <a:t>Journal of Empirical Finance</a:t>
            </a:r>
            <a:r>
              <a:rPr lang="en-US" altLang="zh-TW" dirty="0" smtClean="0"/>
              <a:t>, Vol. 17, pp. 471-484, 2010.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5240808" y="613784"/>
            <a:ext cx="3363640" cy="12253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Stepwise-RC </a:t>
            </a:r>
            <a:r>
              <a:rPr lang="en-US" altLang="zh-TW" sz="2800" baseline="30000" dirty="0" smtClean="0"/>
              <a:t>(2)</a:t>
            </a:r>
            <a:endParaRPr lang="zh-TW" altLang="en-US" sz="2800" baseline="30000" dirty="0"/>
          </a:p>
        </p:txBody>
      </p:sp>
      <p:sp>
        <p:nvSpPr>
          <p:cNvPr id="8" name="圓角矩形 7"/>
          <p:cNvSpPr/>
          <p:nvPr/>
        </p:nvSpPr>
        <p:spPr>
          <a:xfrm>
            <a:off x="449258" y="2693943"/>
            <a:ext cx="3384376" cy="123911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Superior Predictive Ability(SPA)</a:t>
            </a:r>
            <a:r>
              <a:rPr lang="en-US" altLang="zh-TW" sz="2800" baseline="30000" dirty="0" smtClean="0"/>
              <a:t> (3)</a:t>
            </a:r>
            <a:endParaRPr lang="zh-TW" altLang="en-US" sz="2800" baseline="30000" dirty="0"/>
          </a:p>
        </p:txBody>
      </p:sp>
      <p:sp>
        <p:nvSpPr>
          <p:cNvPr id="9" name="圓角矩形 8"/>
          <p:cNvSpPr/>
          <p:nvPr/>
        </p:nvSpPr>
        <p:spPr>
          <a:xfrm>
            <a:off x="5240808" y="2693943"/>
            <a:ext cx="3363640" cy="123911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Stepwise-SPA</a:t>
            </a:r>
            <a:r>
              <a:rPr lang="en-US" altLang="zh-TW" sz="2800" baseline="30000" dirty="0" smtClean="0"/>
              <a:t> (4)</a:t>
            </a:r>
            <a:endParaRPr lang="zh-TW" altLang="en-US" sz="2800" baseline="30000" dirty="0"/>
          </a:p>
        </p:txBody>
      </p:sp>
      <p:cxnSp>
        <p:nvCxnSpPr>
          <p:cNvPr id="11" name="直線單箭頭接點 10"/>
          <p:cNvCxnSpPr>
            <a:stCxn id="4" idx="3"/>
            <a:endCxn id="7" idx="1"/>
          </p:cNvCxnSpPr>
          <p:nvPr/>
        </p:nvCxnSpPr>
        <p:spPr>
          <a:xfrm>
            <a:off x="3833634" y="1219069"/>
            <a:ext cx="1407174" cy="740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3927620" y="863721"/>
            <a:ext cx="134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extension</a:t>
            </a:r>
            <a:endParaRPr lang="zh-TW" altLang="en-US" dirty="0"/>
          </a:p>
        </p:txBody>
      </p:sp>
      <p:cxnSp>
        <p:nvCxnSpPr>
          <p:cNvPr id="16" name="直線單箭頭接點 15"/>
          <p:cNvCxnSpPr>
            <a:stCxn id="4" idx="2"/>
            <a:endCxn id="8" idx="0"/>
          </p:cNvCxnSpPr>
          <p:nvPr/>
        </p:nvCxnSpPr>
        <p:spPr>
          <a:xfrm>
            <a:off x="2141446" y="1889458"/>
            <a:ext cx="0" cy="80448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2141446" y="2132165"/>
            <a:ext cx="169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modification</a:t>
            </a:r>
            <a:endParaRPr lang="zh-TW" altLang="en-US" dirty="0"/>
          </a:p>
        </p:txBody>
      </p:sp>
      <p:cxnSp>
        <p:nvCxnSpPr>
          <p:cNvPr id="18" name="直線單箭頭接點 17"/>
          <p:cNvCxnSpPr>
            <a:stCxn id="8" idx="3"/>
            <a:endCxn id="9" idx="1"/>
          </p:cNvCxnSpPr>
          <p:nvPr/>
        </p:nvCxnSpPr>
        <p:spPr>
          <a:xfrm>
            <a:off x="3833634" y="3313500"/>
            <a:ext cx="140717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895612" y="2798570"/>
            <a:ext cx="134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extension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06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750px-GNU_Tux_Revolution_-_white_background_-1280x1024.png"/>
          <p:cNvPicPr>
            <a:picLocks noChangeAspect="1"/>
          </p:cNvPicPr>
          <p:nvPr/>
        </p:nvPicPr>
        <p:blipFill>
          <a:blip r:embed="rId2" cstate="print">
            <a:lum bright="10000"/>
          </a:blip>
          <a:srcRect/>
          <a:stretch>
            <a:fillRect/>
          </a:stretch>
        </p:blipFill>
        <p:spPr>
          <a:xfrm>
            <a:off x="323528" y="2996952"/>
            <a:ext cx="8572500" cy="30243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文字方塊 3"/>
          <p:cNvSpPr txBox="1"/>
          <p:nvPr/>
        </p:nvSpPr>
        <p:spPr>
          <a:xfrm>
            <a:off x="1475656" y="1196752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 dirty="0" smtClean="0"/>
              <a:t>Thank you!!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68390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3243</Words>
  <Application>Microsoft Office PowerPoint</Application>
  <PresentationFormat>如螢幕大小 (4:3)</PresentationFormat>
  <Paragraphs>357</Paragraphs>
  <Slides>40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1" baseType="lpstr">
      <vt:lpstr>Office 佈景主題</vt:lpstr>
      <vt:lpstr>A Reality Check for Data Snooping</vt:lpstr>
      <vt:lpstr>Abstract (1)</vt:lpstr>
      <vt:lpstr>Abstract (2)</vt:lpstr>
      <vt:lpstr>Data snooping</vt:lpstr>
      <vt:lpstr>Paired-sample estimation</vt:lpstr>
      <vt:lpstr>PowerPoint 簡報</vt:lpstr>
      <vt:lpstr>Paired sample confidence interval</vt:lpstr>
      <vt:lpstr>PowerPoint 簡報</vt:lpstr>
      <vt:lpstr>Paired sample hypothesis test</vt:lpstr>
      <vt:lpstr>PowerPoint 簡報</vt:lpstr>
      <vt:lpstr>Multiple comparison</vt:lpstr>
      <vt:lpstr>Bonferroni method</vt:lpstr>
      <vt:lpstr>Basic framework</vt:lpstr>
      <vt:lpstr>PowerPoint 簡報</vt:lpstr>
      <vt:lpstr>Function f的實作 (1)</vt:lpstr>
      <vt:lpstr>Continuous return</vt:lpstr>
      <vt:lpstr>Continuous return的優點</vt:lpstr>
      <vt:lpstr>Function f的實作 (2)</vt:lpstr>
      <vt:lpstr>PowerPoint 簡報</vt:lpstr>
      <vt:lpstr>Function f的實作 (3)</vt:lpstr>
      <vt:lpstr>Null hypothesis distribution</vt:lpstr>
      <vt:lpstr>Proposition 1</vt:lpstr>
      <vt:lpstr>Proposition 2</vt:lpstr>
      <vt:lpstr>Stationary bootstrap</vt:lpstr>
      <vt:lpstr>PowerPoint 簡報</vt:lpstr>
      <vt:lpstr>PowerPoint 簡報</vt:lpstr>
      <vt:lpstr>PowerPoint 簡報</vt:lpstr>
      <vt:lpstr>計算p-value的步驟</vt:lpstr>
      <vt:lpstr>PowerPoint 簡報</vt:lpstr>
      <vt:lpstr>Example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Packages</vt:lpstr>
      <vt:lpstr>PowerPoint 簡報</vt:lpstr>
      <vt:lpstr>PowerPoint 簡報</vt:lpstr>
    </vt:vector>
  </TitlesOfParts>
  <Company>comstar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REALITY CHECK FOR DATA SNOOPING</dc:title>
  <dc:creator>chenhh</dc:creator>
  <cp:lastModifiedBy>chenhh</cp:lastModifiedBy>
  <cp:revision>262</cp:revision>
  <dcterms:created xsi:type="dcterms:W3CDTF">2011-11-19T17:55:57Z</dcterms:created>
  <dcterms:modified xsi:type="dcterms:W3CDTF">2011-12-26T10:20:43Z</dcterms:modified>
</cp:coreProperties>
</file>