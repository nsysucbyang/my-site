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charts/chart3.xml" ContentType="application/vnd.openxmlformats-officedocument.drawingml.char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Lst>
  <p:notesMasterIdLst>
    <p:notesMasterId r:id="rId32"/>
  </p:notesMasterIdLst>
  <p:sldIdLst>
    <p:sldId id="256" r:id="rId3"/>
    <p:sldId id="257" r:id="rId4"/>
    <p:sldId id="258" r:id="rId5"/>
    <p:sldId id="259" r:id="rId6"/>
    <p:sldId id="266" r:id="rId7"/>
    <p:sldId id="287" r:id="rId8"/>
    <p:sldId id="288" r:id="rId9"/>
    <p:sldId id="278" r:id="rId10"/>
    <p:sldId id="279" r:id="rId11"/>
    <p:sldId id="261" r:id="rId12"/>
    <p:sldId id="280" r:id="rId13"/>
    <p:sldId id="262" r:id="rId14"/>
    <p:sldId id="281" r:id="rId15"/>
    <p:sldId id="286" r:id="rId16"/>
    <p:sldId id="289" r:id="rId17"/>
    <p:sldId id="290" r:id="rId18"/>
    <p:sldId id="263" r:id="rId19"/>
    <p:sldId id="283" r:id="rId20"/>
    <p:sldId id="284" r:id="rId21"/>
    <p:sldId id="285" r:id="rId22"/>
    <p:sldId id="267" r:id="rId23"/>
    <p:sldId id="268" r:id="rId24"/>
    <p:sldId id="291" r:id="rId25"/>
    <p:sldId id="270" r:id="rId26"/>
    <p:sldId id="272" r:id="rId27"/>
    <p:sldId id="292" r:id="rId28"/>
    <p:sldId id="295" r:id="rId29"/>
    <p:sldId id="294" r:id="rId30"/>
    <p:sldId id="277" r:id="rId31"/>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2" d="100"/>
          <a:sy n="102" d="100"/>
        </p:scale>
        <p:origin x="-234" y="-1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Book2"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Book3" TargetMode="External"/></Relationships>
</file>

<file path=ppt/charts/chart1.xml><?xml version="1.0" encoding="utf-8"?>
<c:chartSpace xmlns:c="http://schemas.openxmlformats.org/drawingml/2006/chart" xmlns:a="http://schemas.openxmlformats.org/drawingml/2006/main" xmlns:r="http://schemas.openxmlformats.org/officeDocument/2006/relationships">
  <c:lang val="zh-TW"/>
  <c:chart>
    <c:title>
      <c:tx>
        <c:rich>
          <a:bodyPr/>
          <a:lstStyle/>
          <a:p>
            <a:pPr>
              <a:defRPr/>
            </a:pPr>
            <a:r>
              <a:rPr lang="en-US" altLang="en-US"/>
              <a:t>TAIEX</a:t>
            </a:r>
            <a:r>
              <a:rPr lang="en-US" altLang="en-US" baseline="0"/>
              <a:t> 2002</a:t>
            </a:r>
            <a:endParaRPr lang="en-US" altLang="en-US"/>
          </a:p>
        </c:rich>
      </c:tx>
      <c:layout/>
    </c:title>
    <c:plotArea>
      <c:layout>
        <c:manualLayout>
          <c:layoutTarget val="inner"/>
          <c:xMode val="edge"/>
          <c:yMode val="edge"/>
          <c:x val="0.13256732078578742"/>
          <c:y val="0.20194193874713276"/>
          <c:w val="0.82592907572266039"/>
          <c:h val="0.39829248626765895"/>
        </c:manualLayout>
      </c:layout>
      <c:lineChart>
        <c:grouping val="standard"/>
        <c:ser>
          <c:idx val="0"/>
          <c:order val="0"/>
          <c:tx>
            <c:strRef>
              <c:f>Sheet1!$C$1</c:f>
              <c:strCache>
                <c:ptCount val="1"/>
                <c:pt idx="0">
                  <c:v>close_price</c:v>
                </c:pt>
              </c:strCache>
            </c:strRef>
          </c:tx>
          <c:marker>
            <c:symbol val="none"/>
          </c:marker>
          <c:cat>
            <c:numRef>
              <c:f>Sheet1!$B$2:$B$249</c:f>
              <c:numCache>
                <c:formatCode>yyyy/m/d</c:formatCode>
                <c:ptCount val="248"/>
                <c:pt idx="0">
                  <c:v>37258</c:v>
                </c:pt>
                <c:pt idx="1">
                  <c:v>37259</c:v>
                </c:pt>
                <c:pt idx="2">
                  <c:v>37260</c:v>
                </c:pt>
                <c:pt idx="3">
                  <c:v>37263</c:v>
                </c:pt>
                <c:pt idx="4">
                  <c:v>37264</c:v>
                </c:pt>
                <c:pt idx="5">
                  <c:v>37265</c:v>
                </c:pt>
                <c:pt idx="6">
                  <c:v>37266</c:v>
                </c:pt>
                <c:pt idx="7">
                  <c:v>37267</c:v>
                </c:pt>
                <c:pt idx="8">
                  <c:v>37270</c:v>
                </c:pt>
                <c:pt idx="9">
                  <c:v>37271</c:v>
                </c:pt>
                <c:pt idx="10">
                  <c:v>37272</c:v>
                </c:pt>
                <c:pt idx="11">
                  <c:v>37273</c:v>
                </c:pt>
                <c:pt idx="12">
                  <c:v>37274</c:v>
                </c:pt>
                <c:pt idx="13">
                  <c:v>37277</c:v>
                </c:pt>
                <c:pt idx="14">
                  <c:v>37278</c:v>
                </c:pt>
                <c:pt idx="15">
                  <c:v>37279</c:v>
                </c:pt>
                <c:pt idx="16">
                  <c:v>37280</c:v>
                </c:pt>
                <c:pt idx="17">
                  <c:v>37281</c:v>
                </c:pt>
                <c:pt idx="18">
                  <c:v>37284</c:v>
                </c:pt>
                <c:pt idx="19">
                  <c:v>37285</c:v>
                </c:pt>
                <c:pt idx="20">
                  <c:v>37286</c:v>
                </c:pt>
                <c:pt idx="21">
                  <c:v>37287</c:v>
                </c:pt>
                <c:pt idx="22">
                  <c:v>37288</c:v>
                </c:pt>
                <c:pt idx="23">
                  <c:v>37291</c:v>
                </c:pt>
                <c:pt idx="24">
                  <c:v>37292</c:v>
                </c:pt>
                <c:pt idx="25">
                  <c:v>37293</c:v>
                </c:pt>
                <c:pt idx="26">
                  <c:v>37305</c:v>
                </c:pt>
                <c:pt idx="27">
                  <c:v>37306</c:v>
                </c:pt>
                <c:pt idx="28">
                  <c:v>37307</c:v>
                </c:pt>
                <c:pt idx="29">
                  <c:v>37308</c:v>
                </c:pt>
                <c:pt idx="30">
                  <c:v>37309</c:v>
                </c:pt>
                <c:pt idx="31">
                  <c:v>37312</c:v>
                </c:pt>
                <c:pt idx="32">
                  <c:v>37313</c:v>
                </c:pt>
                <c:pt idx="33">
                  <c:v>37314</c:v>
                </c:pt>
                <c:pt idx="34">
                  <c:v>37316</c:v>
                </c:pt>
                <c:pt idx="35">
                  <c:v>37319</c:v>
                </c:pt>
                <c:pt idx="36">
                  <c:v>37320</c:v>
                </c:pt>
                <c:pt idx="37">
                  <c:v>37321</c:v>
                </c:pt>
                <c:pt idx="38">
                  <c:v>37322</c:v>
                </c:pt>
                <c:pt idx="39">
                  <c:v>37323</c:v>
                </c:pt>
                <c:pt idx="40">
                  <c:v>37326</c:v>
                </c:pt>
                <c:pt idx="41">
                  <c:v>37327</c:v>
                </c:pt>
                <c:pt idx="42">
                  <c:v>37328</c:v>
                </c:pt>
                <c:pt idx="43">
                  <c:v>37329</c:v>
                </c:pt>
                <c:pt idx="44">
                  <c:v>37330</c:v>
                </c:pt>
                <c:pt idx="45">
                  <c:v>37333</c:v>
                </c:pt>
                <c:pt idx="46">
                  <c:v>37334</c:v>
                </c:pt>
                <c:pt idx="47">
                  <c:v>37335</c:v>
                </c:pt>
                <c:pt idx="48">
                  <c:v>37336</c:v>
                </c:pt>
                <c:pt idx="49">
                  <c:v>37337</c:v>
                </c:pt>
                <c:pt idx="50">
                  <c:v>37340</c:v>
                </c:pt>
                <c:pt idx="51">
                  <c:v>37341</c:v>
                </c:pt>
                <c:pt idx="52">
                  <c:v>37342</c:v>
                </c:pt>
                <c:pt idx="53">
                  <c:v>37343</c:v>
                </c:pt>
                <c:pt idx="54">
                  <c:v>37344</c:v>
                </c:pt>
                <c:pt idx="55">
                  <c:v>37347</c:v>
                </c:pt>
                <c:pt idx="56">
                  <c:v>37348</c:v>
                </c:pt>
                <c:pt idx="57">
                  <c:v>37349</c:v>
                </c:pt>
                <c:pt idx="58">
                  <c:v>37350</c:v>
                </c:pt>
                <c:pt idx="59">
                  <c:v>37354</c:v>
                </c:pt>
                <c:pt idx="60">
                  <c:v>37355</c:v>
                </c:pt>
                <c:pt idx="61">
                  <c:v>37356</c:v>
                </c:pt>
                <c:pt idx="62">
                  <c:v>37357</c:v>
                </c:pt>
                <c:pt idx="63">
                  <c:v>37358</c:v>
                </c:pt>
                <c:pt idx="64">
                  <c:v>37361</c:v>
                </c:pt>
                <c:pt idx="65">
                  <c:v>37362</c:v>
                </c:pt>
                <c:pt idx="66">
                  <c:v>37363</c:v>
                </c:pt>
                <c:pt idx="67">
                  <c:v>37364</c:v>
                </c:pt>
                <c:pt idx="68">
                  <c:v>37365</c:v>
                </c:pt>
                <c:pt idx="69">
                  <c:v>37368</c:v>
                </c:pt>
                <c:pt idx="70">
                  <c:v>37369</c:v>
                </c:pt>
                <c:pt idx="71">
                  <c:v>37370</c:v>
                </c:pt>
                <c:pt idx="72">
                  <c:v>37371</c:v>
                </c:pt>
                <c:pt idx="73">
                  <c:v>37372</c:v>
                </c:pt>
                <c:pt idx="74">
                  <c:v>37375</c:v>
                </c:pt>
                <c:pt idx="75">
                  <c:v>37376</c:v>
                </c:pt>
                <c:pt idx="76">
                  <c:v>37378</c:v>
                </c:pt>
                <c:pt idx="77">
                  <c:v>37379</c:v>
                </c:pt>
                <c:pt idx="78">
                  <c:v>37382</c:v>
                </c:pt>
                <c:pt idx="79">
                  <c:v>37383</c:v>
                </c:pt>
                <c:pt idx="80">
                  <c:v>37384</c:v>
                </c:pt>
                <c:pt idx="81">
                  <c:v>37385</c:v>
                </c:pt>
                <c:pt idx="82">
                  <c:v>37386</c:v>
                </c:pt>
                <c:pt idx="83">
                  <c:v>37389</c:v>
                </c:pt>
                <c:pt idx="84">
                  <c:v>37390</c:v>
                </c:pt>
                <c:pt idx="85">
                  <c:v>37391</c:v>
                </c:pt>
                <c:pt idx="86">
                  <c:v>37392</c:v>
                </c:pt>
                <c:pt idx="87">
                  <c:v>37393</c:v>
                </c:pt>
                <c:pt idx="88">
                  <c:v>37396</c:v>
                </c:pt>
                <c:pt idx="89">
                  <c:v>37397</c:v>
                </c:pt>
                <c:pt idx="90">
                  <c:v>37398</c:v>
                </c:pt>
                <c:pt idx="91">
                  <c:v>37399</c:v>
                </c:pt>
                <c:pt idx="92">
                  <c:v>37400</c:v>
                </c:pt>
                <c:pt idx="93">
                  <c:v>37403</c:v>
                </c:pt>
                <c:pt idx="94">
                  <c:v>37404</c:v>
                </c:pt>
                <c:pt idx="95">
                  <c:v>37405</c:v>
                </c:pt>
                <c:pt idx="96">
                  <c:v>37406</c:v>
                </c:pt>
                <c:pt idx="97">
                  <c:v>37407</c:v>
                </c:pt>
                <c:pt idx="98">
                  <c:v>37410</c:v>
                </c:pt>
                <c:pt idx="99">
                  <c:v>37411</c:v>
                </c:pt>
                <c:pt idx="100">
                  <c:v>37412</c:v>
                </c:pt>
                <c:pt idx="101">
                  <c:v>37413</c:v>
                </c:pt>
                <c:pt idx="102">
                  <c:v>37414</c:v>
                </c:pt>
                <c:pt idx="103">
                  <c:v>37417</c:v>
                </c:pt>
                <c:pt idx="104">
                  <c:v>37418</c:v>
                </c:pt>
                <c:pt idx="105">
                  <c:v>37419</c:v>
                </c:pt>
                <c:pt idx="106">
                  <c:v>37420</c:v>
                </c:pt>
                <c:pt idx="107">
                  <c:v>37421</c:v>
                </c:pt>
                <c:pt idx="108">
                  <c:v>37424</c:v>
                </c:pt>
                <c:pt idx="109">
                  <c:v>37425</c:v>
                </c:pt>
                <c:pt idx="110">
                  <c:v>37426</c:v>
                </c:pt>
                <c:pt idx="111">
                  <c:v>37427</c:v>
                </c:pt>
                <c:pt idx="112">
                  <c:v>37428</c:v>
                </c:pt>
                <c:pt idx="113">
                  <c:v>37431</c:v>
                </c:pt>
                <c:pt idx="114">
                  <c:v>37432</c:v>
                </c:pt>
                <c:pt idx="115">
                  <c:v>37433</c:v>
                </c:pt>
                <c:pt idx="116">
                  <c:v>37434</c:v>
                </c:pt>
                <c:pt idx="117">
                  <c:v>37435</c:v>
                </c:pt>
                <c:pt idx="118">
                  <c:v>37438</c:v>
                </c:pt>
                <c:pt idx="119">
                  <c:v>37439</c:v>
                </c:pt>
                <c:pt idx="120">
                  <c:v>37440</c:v>
                </c:pt>
                <c:pt idx="121">
                  <c:v>37441</c:v>
                </c:pt>
                <c:pt idx="122">
                  <c:v>37442</c:v>
                </c:pt>
                <c:pt idx="123">
                  <c:v>37445</c:v>
                </c:pt>
                <c:pt idx="124">
                  <c:v>37446</c:v>
                </c:pt>
                <c:pt idx="125">
                  <c:v>37447</c:v>
                </c:pt>
                <c:pt idx="126">
                  <c:v>37448</c:v>
                </c:pt>
                <c:pt idx="127">
                  <c:v>37449</c:v>
                </c:pt>
                <c:pt idx="128">
                  <c:v>37452</c:v>
                </c:pt>
                <c:pt idx="129">
                  <c:v>37453</c:v>
                </c:pt>
                <c:pt idx="130">
                  <c:v>37454</c:v>
                </c:pt>
                <c:pt idx="131">
                  <c:v>37455</c:v>
                </c:pt>
                <c:pt idx="132">
                  <c:v>37456</c:v>
                </c:pt>
                <c:pt idx="133">
                  <c:v>37459</c:v>
                </c:pt>
                <c:pt idx="134">
                  <c:v>37460</c:v>
                </c:pt>
                <c:pt idx="135">
                  <c:v>37461</c:v>
                </c:pt>
                <c:pt idx="136">
                  <c:v>37462</c:v>
                </c:pt>
                <c:pt idx="137">
                  <c:v>37463</c:v>
                </c:pt>
                <c:pt idx="138">
                  <c:v>37466</c:v>
                </c:pt>
                <c:pt idx="139">
                  <c:v>37467</c:v>
                </c:pt>
                <c:pt idx="140">
                  <c:v>37468</c:v>
                </c:pt>
                <c:pt idx="141">
                  <c:v>37469</c:v>
                </c:pt>
                <c:pt idx="142">
                  <c:v>37470</c:v>
                </c:pt>
                <c:pt idx="143">
                  <c:v>37473</c:v>
                </c:pt>
                <c:pt idx="144">
                  <c:v>37474</c:v>
                </c:pt>
                <c:pt idx="145">
                  <c:v>37475</c:v>
                </c:pt>
                <c:pt idx="146">
                  <c:v>37476</c:v>
                </c:pt>
                <c:pt idx="147">
                  <c:v>37477</c:v>
                </c:pt>
                <c:pt idx="148">
                  <c:v>37480</c:v>
                </c:pt>
                <c:pt idx="149">
                  <c:v>37481</c:v>
                </c:pt>
                <c:pt idx="150">
                  <c:v>37482</c:v>
                </c:pt>
                <c:pt idx="151">
                  <c:v>37483</c:v>
                </c:pt>
                <c:pt idx="152">
                  <c:v>37484</c:v>
                </c:pt>
                <c:pt idx="153">
                  <c:v>37487</c:v>
                </c:pt>
                <c:pt idx="154">
                  <c:v>37488</c:v>
                </c:pt>
                <c:pt idx="155">
                  <c:v>37489</c:v>
                </c:pt>
                <c:pt idx="156">
                  <c:v>37490</c:v>
                </c:pt>
                <c:pt idx="157">
                  <c:v>37491</c:v>
                </c:pt>
                <c:pt idx="158">
                  <c:v>37494</c:v>
                </c:pt>
                <c:pt idx="159">
                  <c:v>37495</c:v>
                </c:pt>
                <c:pt idx="160">
                  <c:v>37496</c:v>
                </c:pt>
                <c:pt idx="161">
                  <c:v>37497</c:v>
                </c:pt>
                <c:pt idx="162">
                  <c:v>37498</c:v>
                </c:pt>
                <c:pt idx="163">
                  <c:v>37501</c:v>
                </c:pt>
                <c:pt idx="164">
                  <c:v>37502</c:v>
                </c:pt>
                <c:pt idx="165">
                  <c:v>37503</c:v>
                </c:pt>
                <c:pt idx="166">
                  <c:v>37504</c:v>
                </c:pt>
                <c:pt idx="167">
                  <c:v>37508</c:v>
                </c:pt>
                <c:pt idx="168">
                  <c:v>37509</c:v>
                </c:pt>
                <c:pt idx="169">
                  <c:v>37510</c:v>
                </c:pt>
                <c:pt idx="170">
                  <c:v>37511</c:v>
                </c:pt>
                <c:pt idx="171">
                  <c:v>37512</c:v>
                </c:pt>
                <c:pt idx="172">
                  <c:v>37515</c:v>
                </c:pt>
                <c:pt idx="173">
                  <c:v>37516</c:v>
                </c:pt>
                <c:pt idx="174">
                  <c:v>37517</c:v>
                </c:pt>
                <c:pt idx="175">
                  <c:v>37518</c:v>
                </c:pt>
                <c:pt idx="176">
                  <c:v>37519</c:v>
                </c:pt>
                <c:pt idx="177">
                  <c:v>37522</c:v>
                </c:pt>
                <c:pt idx="178">
                  <c:v>37523</c:v>
                </c:pt>
                <c:pt idx="179">
                  <c:v>37524</c:v>
                </c:pt>
                <c:pt idx="180">
                  <c:v>37525</c:v>
                </c:pt>
                <c:pt idx="181">
                  <c:v>37526</c:v>
                </c:pt>
                <c:pt idx="182">
                  <c:v>37529</c:v>
                </c:pt>
                <c:pt idx="183">
                  <c:v>37530</c:v>
                </c:pt>
                <c:pt idx="184">
                  <c:v>37531</c:v>
                </c:pt>
                <c:pt idx="185">
                  <c:v>37532</c:v>
                </c:pt>
                <c:pt idx="186">
                  <c:v>37533</c:v>
                </c:pt>
                <c:pt idx="187">
                  <c:v>37536</c:v>
                </c:pt>
                <c:pt idx="188">
                  <c:v>37537</c:v>
                </c:pt>
                <c:pt idx="189">
                  <c:v>37538</c:v>
                </c:pt>
                <c:pt idx="190">
                  <c:v>37540</c:v>
                </c:pt>
                <c:pt idx="191">
                  <c:v>37543</c:v>
                </c:pt>
                <c:pt idx="192">
                  <c:v>37544</c:v>
                </c:pt>
                <c:pt idx="193">
                  <c:v>37545</c:v>
                </c:pt>
                <c:pt idx="194">
                  <c:v>37546</c:v>
                </c:pt>
                <c:pt idx="195">
                  <c:v>37547</c:v>
                </c:pt>
                <c:pt idx="196">
                  <c:v>37550</c:v>
                </c:pt>
                <c:pt idx="197">
                  <c:v>37551</c:v>
                </c:pt>
                <c:pt idx="198">
                  <c:v>37552</c:v>
                </c:pt>
                <c:pt idx="199">
                  <c:v>37553</c:v>
                </c:pt>
                <c:pt idx="200">
                  <c:v>37554</c:v>
                </c:pt>
                <c:pt idx="201">
                  <c:v>37557</c:v>
                </c:pt>
                <c:pt idx="202">
                  <c:v>37558</c:v>
                </c:pt>
                <c:pt idx="203">
                  <c:v>37559</c:v>
                </c:pt>
                <c:pt idx="204">
                  <c:v>37560</c:v>
                </c:pt>
                <c:pt idx="205">
                  <c:v>37561</c:v>
                </c:pt>
                <c:pt idx="206">
                  <c:v>37564</c:v>
                </c:pt>
                <c:pt idx="207">
                  <c:v>37565</c:v>
                </c:pt>
                <c:pt idx="208">
                  <c:v>37566</c:v>
                </c:pt>
                <c:pt idx="209">
                  <c:v>37567</c:v>
                </c:pt>
                <c:pt idx="210">
                  <c:v>37568</c:v>
                </c:pt>
                <c:pt idx="211">
                  <c:v>37571</c:v>
                </c:pt>
                <c:pt idx="212">
                  <c:v>37572</c:v>
                </c:pt>
                <c:pt idx="213">
                  <c:v>37573</c:v>
                </c:pt>
                <c:pt idx="214">
                  <c:v>37574</c:v>
                </c:pt>
                <c:pt idx="215">
                  <c:v>37575</c:v>
                </c:pt>
                <c:pt idx="216">
                  <c:v>37578</c:v>
                </c:pt>
                <c:pt idx="217">
                  <c:v>37579</c:v>
                </c:pt>
                <c:pt idx="218">
                  <c:v>37580</c:v>
                </c:pt>
                <c:pt idx="219">
                  <c:v>37581</c:v>
                </c:pt>
                <c:pt idx="220">
                  <c:v>37582</c:v>
                </c:pt>
                <c:pt idx="221">
                  <c:v>37585</c:v>
                </c:pt>
                <c:pt idx="222">
                  <c:v>37586</c:v>
                </c:pt>
                <c:pt idx="223">
                  <c:v>37587</c:v>
                </c:pt>
                <c:pt idx="224">
                  <c:v>37588</c:v>
                </c:pt>
                <c:pt idx="225">
                  <c:v>37589</c:v>
                </c:pt>
                <c:pt idx="226">
                  <c:v>37592</c:v>
                </c:pt>
                <c:pt idx="227">
                  <c:v>37593</c:v>
                </c:pt>
                <c:pt idx="228">
                  <c:v>37594</c:v>
                </c:pt>
                <c:pt idx="229">
                  <c:v>37595</c:v>
                </c:pt>
                <c:pt idx="230">
                  <c:v>37596</c:v>
                </c:pt>
                <c:pt idx="231">
                  <c:v>37599</c:v>
                </c:pt>
                <c:pt idx="232">
                  <c:v>37600</c:v>
                </c:pt>
                <c:pt idx="233">
                  <c:v>37601</c:v>
                </c:pt>
                <c:pt idx="234">
                  <c:v>37602</c:v>
                </c:pt>
                <c:pt idx="235">
                  <c:v>37603</c:v>
                </c:pt>
                <c:pt idx="236">
                  <c:v>37606</c:v>
                </c:pt>
                <c:pt idx="237">
                  <c:v>37607</c:v>
                </c:pt>
                <c:pt idx="238">
                  <c:v>37608</c:v>
                </c:pt>
                <c:pt idx="239">
                  <c:v>37609</c:v>
                </c:pt>
                <c:pt idx="240">
                  <c:v>37610</c:v>
                </c:pt>
                <c:pt idx="241">
                  <c:v>37613</c:v>
                </c:pt>
                <c:pt idx="242">
                  <c:v>37614</c:v>
                </c:pt>
                <c:pt idx="243">
                  <c:v>37615</c:v>
                </c:pt>
                <c:pt idx="244">
                  <c:v>37616</c:v>
                </c:pt>
                <c:pt idx="245">
                  <c:v>37617</c:v>
                </c:pt>
                <c:pt idx="246">
                  <c:v>37620</c:v>
                </c:pt>
                <c:pt idx="247">
                  <c:v>37621</c:v>
                </c:pt>
              </c:numCache>
            </c:numRef>
          </c:cat>
          <c:val>
            <c:numRef>
              <c:f>Sheet1!$C$2:$C$249</c:f>
              <c:numCache>
                <c:formatCode>General</c:formatCode>
                <c:ptCount val="248"/>
                <c:pt idx="0">
                  <c:v>5600.05</c:v>
                </c:pt>
                <c:pt idx="1">
                  <c:v>5526.3200000000006</c:v>
                </c:pt>
                <c:pt idx="2">
                  <c:v>5638.53</c:v>
                </c:pt>
                <c:pt idx="3">
                  <c:v>5834.89</c:v>
                </c:pt>
                <c:pt idx="4">
                  <c:v>5810.08</c:v>
                </c:pt>
                <c:pt idx="5">
                  <c:v>5865.54</c:v>
                </c:pt>
                <c:pt idx="6">
                  <c:v>5871.28</c:v>
                </c:pt>
                <c:pt idx="7">
                  <c:v>5687.59</c:v>
                </c:pt>
                <c:pt idx="8">
                  <c:v>5611.8600000000006</c:v>
                </c:pt>
                <c:pt idx="9">
                  <c:v>5592.74</c:v>
                </c:pt>
                <c:pt idx="10">
                  <c:v>5488.33</c:v>
                </c:pt>
                <c:pt idx="11">
                  <c:v>5501.13</c:v>
                </c:pt>
                <c:pt idx="12">
                  <c:v>5522.8</c:v>
                </c:pt>
                <c:pt idx="13">
                  <c:v>5798.05</c:v>
                </c:pt>
                <c:pt idx="14">
                  <c:v>5804.1</c:v>
                </c:pt>
                <c:pt idx="15">
                  <c:v>5769.78</c:v>
                </c:pt>
                <c:pt idx="16">
                  <c:v>5801.92</c:v>
                </c:pt>
                <c:pt idx="17">
                  <c:v>5950.64</c:v>
                </c:pt>
                <c:pt idx="18">
                  <c:v>6007.33</c:v>
                </c:pt>
                <c:pt idx="19">
                  <c:v>5846.1900000000005</c:v>
                </c:pt>
                <c:pt idx="20">
                  <c:v>5812.67</c:v>
                </c:pt>
                <c:pt idx="21">
                  <c:v>5872.14</c:v>
                </c:pt>
                <c:pt idx="22">
                  <c:v>5857.9299999999994</c:v>
                </c:pt>
                <c:pt idx="23">
                  <c:v>5849.85</c:v>
                </c:pt>
                <c:pt idx="24">
                  <c:v>5844.25</c:v>
                </c:pt>
                <c:pt idx="25">
                  <c:v>5926.08</c:v>
                </c:pt>
                <c:pt idx="26">
                  <c:v>5968.6100000000006</c:v>
                </c:pt>
                <c:pt idx="27">
                  <c:v>5861.6600000000008</c:v>
                </c:pt>
                <c:pt idx="28">
                  <c:v>5692.18</c:v>
                </c:pt>
                <c:pt idx="29">
                  <c:v>5656.1</c:v>
                </c:pt>
                <c:pt idx="30">
                  <c:v>5609.83</c:v>
                </c:pt>
                <c:pt idx="31">
                  <c:v>5510.71</c:v>
                </c:pt>
                <c:pt idx="32">
                  <c:v>5499.79</c:v>
                </c:pt>
                <c:pt idx="33">
                  <c:v>5696.1100000000006</c:v>
                </c:pt>
                <c:pt idx="34">
                  <c:v>5680.78</c:v>
                </c:pt>
                <c:pt idx="35">
                  <c:v>5874.48</c:v>
                </c:pt>
                <c:pt idx="36">
                  <c:v>5957.75</c:v>
                </c:pt>
                <c:pt idx="37">
                  <c:v>6097.57</c:v>
                </c:pt>
                <c:pt idx="38">
                  <c:v>6048.1500000000005</c:v>
                </c:pt>
                <c:pt idx="39">
                  <c:v>6011.6500000000005</c:v>
                </c:pt>
                <c:pt idx="40">
                  <c:v>6196.26</c:v>
                </c:pt>
                <c:pt idx="41">
                  <c:v>6122.54</c:v>
                </c:pt>
                <c:pt idx="42">
                  <c:v>6088.34</c:v>
                </c:pt>
                <c:pt idx="43">
                  <c:v>6070.5</c:v>
                </c:pt>
                <c:pt idx="44">
                  <c:v>5951.45</c:v>
                </c:pt>
                <c:pt idx="45">
                  <c:v>5972.1100000000006</c:v>
                </c:pt>
                <c:pt idx="46">
                  <c:v>5906.73</c:v>
                </c:pt>
                <c:pt idx="47">
                  <c:v>6059.06</c:v>
                </c:pt>
                <c:pt idx="48">
                  <c:v>6046.52</c:v>
                </c:pt>
                <c:pt idx="49">
                  <c:v>6140.42</c:v>
                </c:pt>
                <c:pt idx="50">
                  <c:v>6219.17</c:v>
                </c:pt>
                <c:pt idx="51">
                  <c:v>6242.64</c:v>
                </c:pt>
                <c:pt idx="52">
                  <c:v>6147.75</c:v>
                </c:pt>
                <c:pt idx="53">
                  <c:v>6209.92</c:v>
                </c:pt>
                <c:pt idx="54">
                  <c:v>6167.4699999999993</c:v>
                </c:pt>
                <c:pt idx="55">
                  <c:v>6186.44</c:v>
                </c:pt>
                <c:pt idx="56">
                  <c:v>6243.46</c:v>
                </c:pt>
                <c:pt idx="57">
                  <c:v>6294.6600000000008</c:v>
                </c:pt>
                <c:pt idx="58">
                  <c:v>6207.09</c:v>
                </c:pt>
                <c:pt idx="59">
                  <c:v>6190.83</c:v>
                </c:pt>
                <c:pt idx="60">
                  <c:v>6069.85</c:v>
                </c:pt>
                <c:pt idx="61">
                  <c:v>6059.21</c:v>
                </c:pt>
                <c:pt idx="62">
                  <c:v>6073.76</c:v>
                </c:pt>
                <c:pt idx="63">
                  <c:v>6182.59</c:v>
                </c:pt>
                <c:pt idx="64">
                  <c:v>6196</c:v>
                </c:pt>
                <c:pt idx="65">
                  <c:v>6257.73</c:v>
                </c:pt>
                <c:pt idx="66">
                  <c:v>6390.68</c:v>
                </c:pt>
                <c:pt idx="67">
                  <c:v>6387.21</c:v>
                </c:pt>
                <c:pt idx="68">
                  <c:v>6448.1200000000008</c:v>
                </c:pt>
                <c:pt idx="69">
                  <c:v>6462.3</c:v>
                </c:pt>
                <c:pt idx="70">
                  <c:v>6390.6200000000008</c:v>
                </c:pt>
                <c:pt idx="71">
                  <c:v>6455.39</c:v>
                </c:pt>
                <c:pt idx="72">
                  <c:v>6355.59</c:v>
                </c:pt>
                <c:pt idx="73">
                  <c:v>6306.9299999999994</c:v>
                </c:pt>
                <c:pt idx="74">
                  <c:v>6205.09</c:v>
                </c:pt>
                <c:pt idx="75">
                  <c:v>6065.73</c:v>
                </c:pt>
                <c:pt idx="76">
                  <c:v>5867.83</c:v>
                </c:pt>
                <c:pt idx="77">
                  <c:v>5910.3200000000006</c:v>
                </c:pt>
                <c:pt idx="78">
                  <c:v>5642.48</c:v>
                </c:pt>
                <c:pt idx="79">
                  <c:v>5663.98</c:v>
                </c:pt>
                <c:pt idx="80">
                  <c:v>5711.53</c:v>
                </c:pt>
                <c:pt idx="81">
                  <c:v>5739.28</c:v>
                </c:pt>
                <c:pt idx="82">
                  <c:v>5807.3</c:v>
                </c:pt>
                <c:pt idx="83">
                  <c:v>5742.6600000000008</c:v>
                </c:pt>
                <c:pt idx="84">
                  <c:v>5755.92</c:v>
                </c:pt>
                <c:pt idx="85">
                  <c:v>5910.6900000000005</c:v>
                </c:pt>
                <c:pt idx="86">
                  <c:v>5801.4699999999993</c:v>
                </c:pt>
                <c:pt idx="87">
                  <c:v>5789.84</c:v>
                </c:pt>
                <c:pt idx="88">
                  <c:v>5574.71</c:v>
                </c:pt>
                <c:pt idx="89">
                  <c:v>5443.18</c:v>
                </c:pt>
                <c:pt idx="90">
                  <c:v>5541.64</c:v>
                </c:pt>
                <c:pt idx="91">
                  <c:v>5549.96</c:v>
                </c:pt>
                <c:pt idx="92">
                  <c:v>5706.4</c:v>
                </c:pt>
                <c:pt idx="93">
                  <c:v>5729.9</c:v>
                </c:pt>
                <c:pt idx="94">
                  <c:v>5669.53</c:v>
                </c:pt>
                <c:pt idx="95">
                  <c:v>5623.23</c:v>
                </c:pt>
                <c:pt idx="96">
                  <c:v>5736.1900000000005</c:v>
                </c:pt>
                <c:pt idx="97">
                  <c:v>5675.6500000000005</c:v>
                </c:pt>
                <c:pt idx="98">
                  <c:v>5571.08</c:v>
                </c:pt>
                <c:pt idx="99">
                  <c:v>5527.8</c:v>
                </c:pt>
                <c:pt idx="100">
                  <c:v>5599.42</c:v>
                </c:pt>
                <c:pt idx="101">
                  <c:v>5591.02</c:v>
                </c:pt>
                <c:pt idx="102">
                  <c:v>5433.02</c:v>
                </c:pt>
                <c:pt idx="103">
                  <c:v>5499.33</c:v>
                </c:pt>
                <c:pt idx="104">
                  <c:v>5405.42</c:v>
                </c:pt>
                <c:pt idx="105">
                  <c:v>5399.96</c:v>
                </c:pt>
                <c:pt idx="106">
                  <c:v>5562.23</c:v>
                </c:pt>
                <c:pt idx="107">
                  <c:v>5562.1200000000008</c:v>
                </c:pt>
                <c:pt idx="108">
                  <c:v>5537.81</c:v>
                </c:pt>
                <c:pt idx="109">
                  <c:v>5536.42</c:v>
                </c:pt>
                <c:pt idx="110">
                  <c:v>5399.5</c:v>
                </c:pt>
                <c:pt idx="111">
                  <c:v>5445.7699999999995</c:v>
                </c:pt>
                <c:pt idx="112">
                  <c:v>5460.53</c:v>
                </c:pt>
                <c:pt idx="113">
                  <c:v>5384.89</c:v>
                </c:pt>
                <c:pt idx="114">
                  <c:v>5316.04</c:v>
                </c:pt>
                <c:pt idx="115">
                  <c:v>5123.04</c:v>
                </c:pt>
                <c:pt idx="116">
                  <c:v>5071.76</c:v>
                </c:pt>
                <c:pt idx="117">
                  <c:v>5153.71</c:v>
                </c:pt>
                <c:pt idx="118">
                  <c:v>4969.3200000000006</c:v>
                </c:pt>
                <c:pt idx="119">
                  <c:v>4995.08</c:v>
                </c:pt>
                <c:pt idx="120">
                  <c:v>5047.8200000000006</c:v>
                </c:pt>
                <c:pt idx="121">
                  <c:v>5130.8</c:v>
                </c:pt>
                <c:pt idx="122">
                  <c:v>5255.23</c:v>
                </c:pt>
                <c:pt idx="123">
                  <c:v>5377.8600000000006</c:v>
                </c:pt>
                <c:pt idx="124">
                  <c:v>5388.52</c:v>
                </c:pt>
                <c:pt idx="125">
                  <c:v>5262.01</c:v>
                </c:pt>
                <c:pt idx="126">
                  <c:v>5202.59</c:v>
                </c:pt>
                <c:pt idx="127">
                  <c:v>5416.5</c:v>
                </c:pt>
                <c:pt idx="128">
                  <c:v>5393.01</c:v>
                </c:pt>
                <c:pt idx="129">
                  <c:v>5318.01</c:v>
                </c:pt>
                <c:pt idx="130">
                  <c:v>5250.8200000000006</c:v>
                </c:pt>
                <c:pt idx="131">
                  <c:v>5242.1100000000015</c:v>
                </c:pt>
                <c:pt idx="132">
                  <c:v>5161.92</c:v>
                </c:pt>
                <c:pt idx="133">
                  <c:v>5043.5</c:v>
                </c:pt>
                <c:pt idx="134">
                  <c:v>5159.2300000000005</c:v>
                </c:pt>
                <c:pt idx="135">
                  <c:v>5039.4800000000005</c:v>
                </c:pt>
                <c:pt idx="136">
                  <c:v>5045.07</c:v>
                </c:pt>
                <c:pt idx="137">
                  <c:v>4855.34</c:v>
                </c:pt>
                <c:pt idx="138">
                  <c:v>4858.4399999999996</c:v>
                </c:pt>
                <c:pt idx="139">
                  <c:v>5005.04</c:v>
                </c:pt>
                <c:pt idx="140">
                  <c:v>4940.38</c:v>
                </c:pt>
                <c:pt idx="141">
                  <c:v>4916.59</c:v>
                </c:pt>
                <c:pt idx="142">
                  <c:v>4920.8900000000003</c:v>
                </c:pt>
                <c:pt idx="143">
                  <c:v>4636.67</c:v>
                </c:pt>
                <c:pt idx="144">
                  <c:v>4572.3500000000004</c:v>
                </c:pt>
                <c:pt idx="145">
                  <c:v>4720.7300000000005</c:v>
                </c:pt>
                <c:pt idx="146">
                  <c:v>4700.2300000000005</c:v>
                </c:pt>
                <c:pt idx="147">
                  <c:v>4851.4399999999996</c:v>
                </c:pt>
                <c:pt idx="148">
                  <c:v>4852.07</c:v>
                </c:pt>
                <c:pt idx="149">
                  <c:v>4817.9299999999994</c:v>
                </c:pt>
                <c:pt idx="150">
                  <c:v>4887.4299999999994</c:v>
                </c:pt>
                <c:pt idx="151">
                  <c:v>4931.4699999999993</c:v>
                </c:pt>
                <c:pt idx="152">
                  <c:v>4919.0200000000004</c:v>
                </c:pt>
                <c:pt idx="153">
                  <c:v>4888</c:v>
                </c:pt>
                <c:pt idx="154">
                  <c:v>4919.26</c:v>
                </c:pt>
                <c:pt idx="155">
                  <c:v>4887.79</c:v>
                </c:pt>
                <c:pt idx="156">
                  <c:v>4956.49</c:v>
                </c:pt>
                <c:pt idx="157">
                  <c:v>4968.8500000000004</c:v>
                </c:pt>
                <c:pt idx="158">
                  <c:v>4935.92</c:v>
                </c:pt>
                <c:pt idx="159">
                  <c:v>4878.8500000000004</c:v>
                </c:pt>
                <c:pt idx="160">
                  <c:v>4789.63</c:v>
                </c:pt>
                <c:pt idx="161">
                  <c:v>4800.63</c:v>
                </c:pt>
                <c:pt idx="162">
                  <c:v>4764.9399999999996</c:v>
                </c:pt>
                <c:pt idx="163">
                  <c:v>4644.58</c:v>
                </c:pt>
                <c:pt idx="164">
                  <c:v>4588.0600000000004</c:v>
                </c:pt>
                <c:pt idx="165">
                  <c:v>4534.1500000000005</c:v>
                </c:pt>
                <c:pt idx="166">
                  <c:v>4459.37</c:v>
                </c:pt>
                <c:pt idx="167">
                  <c:v>4533.2699999999995</c:v>
                </c:pt>
                <c:pt idx="168">
                  <c:v>4668.01</c:v>
                </c:pt>
                <c:pt idx="169">
                  <c:v>4660.53</c:v>
                </c:pt>
                <c:pt idx="170">
                  <c:v>4647.37</c:v>
                </c:pt>
                <c:pt idx="171">
                  <c:v>4580.17</c:v>
                </c:pt>
                <c:pt idx="172">
                  <c:v>4457.1600000000008</c:v>
                </c:pt>
                <c:pt idx="173">
                  <c:v>4633.8600000000015</c:v>
                </c:pt>
                <c:pt idx="174">
                  <c:v>4482.6500000000005</c:v>
                </c:pt>
                <c:pt idx="175">
                  <c:v>4491.3100000000004</c:v>
                </c:pt>
                <c:pt idx="176">
                  <c:v>4429.25</c:v>
                </c:pt>
                <c:pt idx="177">
                  <c:v>4328.4000000000005</c:v>
                </c:pt>
                <c:pt idx="178">
                  <c:v>4286.9399999999996</c:v>
                </c:pt>
                <c:pt idx="179">
                  <c:v>4185.95</c:v>
                </c:pt>
                <c:pt idx="180">
                  <c:v>4222.22</c:v>
                </c:pt>
                <c:pt idx="181">
                  <c:v>4208.8</c:v>
                </c:pt>
                <c:pt idx="182">
                  <c:v>4191.8100000000004</c:v>
                </c:pt>
                <c:pt idx="183">
                  <c:v>4162.7699999999995</c:v>
                </c:pt>
                <c:pt idx="184">
                  <c:v>4171.76</c:v>
                </c:pt>
                <c:pt idx="185">
                  <c:v>4075.98</c:v>
                </c:pt>
                <c:pt idx="186">
                  <c:v>4067.79</c:v>
                </c:pt>
                <c:pt idx="187">
                  <c:v>3924.04</c:v>
                </c:pt>
                <c:pt idx="188">
                  <c:v>3964.2799999999997</c:v>
                </c:pt>
                <c:pt idx="189">
                  <c:v>3947.61</c:v>
                </c:pt>
                <c:pt idx="190">
                  <c:v>3850.04</c:v>
                </c:pt>
                <c:pt idx="191">
                  <c:v>3910.98</c:v>
                </c:pt>
                <c:pt idx="192">
                  <c:v>4131.4699999999993</c:v>
                </c:pt>
                <c:pt idx="193">
                  <c:v>4223.3200000000006</c:v>
                </c:pt>
                <c:pt idx="194">
                  <c:v>4280.8100000000004</c:v>
                </c:pt>
                <c:pt idx="195">
                  <c:v>4458.17</c:v>
                </c:pt>
                <c:pt idx="196">
                  <c:v>4463.5200000000004</c:v>
                </c:pt>
                <c:pt idx="197">
                  <c:v>4386.46</c:v>
                </c:pt>
                <c:pt idx="198">
                  <c:v>4589.88</c:v>
                </c:pt>
                <c:pt idx="199">
                  <c:v>4574.8</c:v>
                </c:pt>
                <c:pt idx="200">
                  <c:v>4564.0600000000004</c:v>
                </c:pt>
                <c:pt idx="201">
                  <c:v>4601.37</c:v>
                </c:pt>
                <c:pt idx="202">
                  <c:v>4554.13</c:v>
                </c:pt>
                <c:pt idx="203">
                  <c:v>4498.7300000000005</c:v>
                </c:pt>
                <c:pt idx="204">
                  <c:v>4579.1400000000003</c:v>
                </c:pt>
                <c:pt idx="205">
                  <c:v>4500.55</c:v>
                </c:pt>
                <c:pt idx="206">
                  <c:v>4583.68</c:v>
                </c:pt>
                <c:pt idx="207">
                  <c:v>4566.1000000000004</c:v>
                </c:pt>
                <c:pt idx="208">
                  <c:v>4725.34</c:v>
                </c:pt>
                <c:pt idx="209">
                  <c:v>4757.9800000000005</c:v>
                </c:pt>
                <c:pt idx="210">
                  <c:v>4811.01</c:v>
                </c:pt>
                <c:pt idx="211">
                  <c:v>4664.6500000000005</c:v>
                </c:pt>
                <c:pt idx="212">
                  <c:v>4676.4699999999993</c:v>
                </c:pt>
                <c:pt idx="213">
                  <c:v>4671.7699999999995</c:v>
                </c:pt>
                <c:pt idx="214">
                  <c:v>4665.5600000000004</c:v>
                </c:pt>
                <c:pt idx="215">
                  <c:v>4813.53</c:v>
                </c:pt>
                <c:pt idx="216">
                  <c:v>4790.6100000000015</c:v>
                </c:pt>
                <c:pt idx="217">
                  <c:v>4726.5</c:v>
                </c:pt>
                <c:pt idx="218">
                  <c:v>4653.5</c:v>
                </c:pt>
                <c:pt idx="219">
                  <c:v>4579.45</c:v>
                </c:pt>
                <c:pt idx="220">
                  <c:v>4707.6100000000015</c:v>
                </c:pt>
                <c:pt idx="221">
                  <c:v>4723.1600000000008</c:v>
                </c:pt>
                <c:pt idx="222">
                  <c:v>4677.8900000000003</c:v>
                </c:pt>
                <c:pt idx="223">
                  <c:v>4633.03</c:v>
                </c:pt>
                <c:pt idx="224">
                  <c:v>4612.6000000000004</c:v>
                </c:pt>
                <c:pt idx="225">
                  <c:v>4646.6900000000014</c:v>
                </c:pt>
                <c:pt idx="226">
                  <c:v>4683.18</c:v>
                </c:pt>
                <c:pt idx="227">
                  <c:v>4793.9299999999994</c:v>
                </c:pt>
                <c:pt idx="228">
                  <c:v>4727.49</c:v>
                </c:pt>
                <c:pt idx="229">
                  <c:v>4755.4000000000005</c:v>
                </c:pt>
                <c:pt idx="230">
                  <c:v>4738.9800000000005</c:v>
                </c:pt>
                <c:pt idx="231">
                  <c:v>4823.67</c:v>
                </c:pt>
                <c:pt idx="232">
                  <c:v>4755.01</c:v>
                </c:pt>
                <c:pt idx="233">
                  <c:v>4699.41</c:v>
                </c:pt>
                <c:pt idx="234">
                  <c:v>4669.7</c:v>
                </c:pt>
                <c:pt idx="235">
                  <c:v>4588.1400000000003</c:v>
                </c:pt>
                <c:pt idx="236">
                  <c:v>4582.05</c:v>
                </c:pt>
                <c:pt idx="237">
                  <c:v>4545.6200000000008</c:v>
                </c:pt>
                <c:pt idx="238">
                  <c:v>4535.9299999999994</c:v>
                </c:pt>
                <c:pt idx="239">
                  <c:v>4549.2300000000005</c:v>
                </c:pt>
                <c:pt idx="240">
                  <c:v>4595.67</c:v>
                </c:pt>
                <c:pt idx="241">
                  <c:v>4572.7699999999995</c:v>
                </c:pt>
                <c:pt idx="242">
                  <c:v>4544.5</c:v>
                </c:pt>
                <c:pt idx="243">
                  <c:v>4484.4299999999994</c:v>
                </c:pt>
                <c:pt idx="244">
                  <c:v>4567.37</c:v>
                </c:pt>
                <c:pt idx="245">
                  <c:v>4547.3200000000006</c:v>
                </c:pt>
                <c:pt idx="246">
                  <c:v>4457.75</c:v>
                </c:pt>
                <c:pt idx="247">
                  <c:v>4452.45</c:v>
                </c:pt>
              </c:numCache>
            </c:numRef>
          </c:val>
        </c:ser>
        <c:marker val="1"/>
        <c:axId val="70737280"/>
        <c:axId val="70788992"/>
      </c:lineChart>
      <c:dateAx>
        <c:axId val="70737280"/>
        <c:scaling>
          <c:orientation val="minMax"/>
        </c:scaling>
        <c:axPos val="b"/>
        <c:numFmt formatCode="yyyy/m/d" sourceLinked="1"/>
        <c:majorTickMark val="none"/>
        <c:tickLblPos val="nextTo"/>
        <c:crossAx val="70788992"/>
        <c:crosses val="autoZero"/>
        <c:auto val="1"/>
        <c:lblOffset val="100"/>
      </c:dateAx>
      <c:valAx>
        <c:axId val="70788992"/>
        <c:scaling>
          <c:orientation val="minMax"/>
        </c:scaling>
        <c:axPos val="l"/>
        <c:majorGridlines/>
        <c:numFmt formatCode="General" sourceLinked="1"/>
        <c:majorTickMark val="none"/>
        <c:tickLblPos val="nextTo"/>
        <c:spPr>
          <a:ln w="9525">
            <a:noFill/>
          </a:ln>
        </c:spPr>
        <c:crossAx val="70737280"/>
        <c:crosses val="autoZero"/>
        <c:crossBetween val="between"/>
      </c:valAx>
    </c:plotArea>
    <c:plotVisOnly val="1"/>
  </c:chart>
  <c:externalData r:id="rId1"/>
</c:chartSpace>
</file>

<file path=ppt/charts/chart2.xml><?xml version="1.0" encoding="utf-8"?>
<c:chartSpace xmlns:c="http://schemas.openxmlformats.org/drawingml/2006/chart" xmlns:a="http://schemas.openxmlformats.org/drawingml/2006/main" xmlns:r="http://schemas.openxmlformats.org/officeDocument/2006/relationships">
  <c:lang val="zh-TW"/>
  <c:chart>
    <c:title>
      <c:tx>
        <c:rich>
          <a:bodyPr/>
          <a:lstStyle/>
          <a:p>
            <a:pPr>
              <a:defRPr/>
            </a:pPr>
            <a:r>
              <a:rPr lang="en-US" altLang="en-US"/>
              <a:t>TAIEX</a:t>
            </a:r>
            <a:r>
              <a:rPr lang="en-US" altLang="en-US" baseline="0"/>
              <a:t> 2003</a:t>
            </a:r>
            <a:endParaRPr lang="en-US" altLang="en-US"/>
          </a:p>
        </c:rich>
      </c:tx>
      <c:layout/>
    </c:title>
    <c:plotArea>
      <c:layout/>
      <c:lineChart>
        <c:grouping val="standard"/>
        <c:ser>
          <c:idx val="0"/>
          <c:order val="0"/>
          <c:tx>
            <c:strRef>
              <c:f>Sheet1!$C$1</c:f>
              <c:strCache>
                <c:ptCount val="1"/>
                <c:pt idx="0">
                  <c:v>close_price</c:v>
                </c:pt>
              </c:strCache>
            </c:strRef>
          </c:tx>
          <c:marker>
            <c:symbol val="none"/>
          </c:marker>
          <c:cat>
            <c:numRef>
              <c:f>Sheet1!$B$2:$B$250</c:f>
              <c:numCache>
                <c:formatCode>yyyy/m/d</c:formatCode>
                <c:ptCount val="249"/>
                <c:pt idx="0">
                  <c:v>37623</c:v>
                </c:pt>
                <c:pt idx="1">
                  <c:v>37624</c:v>
                </c:pt>
                <c:pt idx="2">
                  <c:v>37627</c:v>
                </c:pt>
                <c:pt idx="3">
                  <c:v>37628</c:v>
                </c:pt>
                <c:pt idx="4">
                  <c:v>37629</c:v>
                </c:pt>
                <c:pt idx="5">
                  <c:v>37630</c:v>
                </c:pt>
                <c:pt idx="6">
                  <c:v>37631</c:v>
                </c:pt>
                <c:pt idx="7">
                  <c:v>37634</c:v>
                </c:pt>
                <c:pt idx="8">
                  <c:v>37635</c:v>
                </c:pt>
                <c:pt idx="9">
                  <c:v>37636</c:v>
                </c:pt>
                <c:pt idx="10">
                  <c:v>37637</c:v>
                </c:pt>
                <c:pt idx="11">
                  <c:v>37638</c:v>
                </c:pt>
                <c:pt idx="12">
                  <c:v>37641</c:v>
                </c:pt>
                <c:pt idx="13">
                  <c:v>37642</c:v>
                </c:pt>
                <c:pt idx="14">
                  <c:v>37643</c:v>
                </c:pt>
                <c:pt idx="15">
                  <c:v>37644</c:v>
                </c:pt>
                <c:pt idx="16">
                  <c:v>37645</c:v>
                </c:pt>
                <c:pt idx="17">
                  <c:v>37648</c:v>
                </c:pt>
                <c:pt idx="18">
                  <c:v>37649</c:v>
                </c:pt>
                <c:pt idx="19">
                  <c:v>37658</c:v>
                </c:pt>
                <c:pt idx="20">
                  <c:v>37659</c:v>
                </c:pt>
                <c:pt idx="21">
                  <c:v>37662</c:v>
                </c:pt>
                <c:pt idx="22">
                  <c:v>37663</c:v>
                </c:pt>
                <c:pt idx="23">
                  <c:v>37664</c:v>
                </c:pt>
                <c:pt idx="24">
                  <c:v>37665</c:v>
                </c:pt>
                <c:pt idx="25">
                  <c:v>37666</c:v>
                </c:pt>
                <c:pt idx="26">
                  <c:v>37669</c:v>
                </c:pt>
                <c:pt idx="27">
                  <c:v>37670</c:v>
                </c:pt>
                <c:pt idx="28">
                  <c:v>37671</c:v>
                </c:pt>
                <c:pt idx="29">
                  <c:v>37672</c:v>
                </c:pt>
                <c:pt idx="30">
                  <c:v>37673</c:v>
                </c:pt>
                <c:pt idx="31">
                  <c:v>37676</c:v>
                </c:pt>
                <c:pt idx="32">
                  <c:v>37677</c:v>
                </c:pt>
                <c:pt idx="33">
                  <c:v>37678</c:v>
                </c:pt>
                <c:pt idx="34">
                  <c:v>37679</c:v>
                </c:pt>
                <c:pt idx="35">
                  <c:v>37683</c:v>
                </c:pt>
                <c:pt idx="36">
                  <c:v>37684</c:v>
                </c:pt>
                <c:pt idx="37">
                  <c:v>37685</c:v>
                </c:pt>
                <c:pt idx="38">
                  <c:v>37686</c:v>
                </c:pt>
                <c:pt idx="39">
                  <c:v>37687</c:v>
                </c:pt>
                <c:pt idx="40">
                  <c:v>37690</c:v>
                </c:pt>
                <c:pt idx="41">
                  <c:v>37691</c:v>
                </c:pt>
                <c:pt idx="42">
                  <c:v>37692</c:v>
                </c:pt>
                <c:pt idx="43">
                  <c:v>37693</c:v>
                </c:pt>
                <c:pt idx="44">
                  <c:v>37694</c:v>
                </c:pt>
                <c:pt idx="45">
                  <c:v>37697</c:v>
                </c:pt>
                <c:pt idx="46">
                  <c:v>37698</c:v>
                </c:pt>
                <c:pt idx="47">
                  <c:v>37699</c:v>
                </c:pt>
                <c:pt idx="48">
                  <c:v>37700</c:v>
                </c:pt>
                <c:pt idx="49">
                  <c:v>37701</c:v>
                </c:pt>
                <c:pt idx="50">
                  <c:v>37704</c:v>
                </c:pt>
                <c:pt idx="51">
                  <c:v>37705</c:v>
                </c:pt>
                <c:pt idx="52">
                  <c:v>37706</c:v>
                </c:pt>
                <c:pt idx="53">
                  <c:v>37707</c:v>
                </c:pt>
                <c:pt idx="54">
                  <c:v>37708</c:v>
                </c:pt>
                <c:pt idx="55">
                  <c:v>37711</c:v>
                </c:pt>
                <c:pt idx="56">
                  <c:v>37712</c:v>
                </c:pt>
                <c:pt idx="57">
                  <c:v>37713</c:v>
                </c:pt>
                <c:pt idx="58">
                  <c:v>37714</c:v>
                </c:pt>
                <c:pt idx="59">
                  <c:v>37715</c:v>
                </c:pt>
                <c:pt idx="60">
                  <c:v>37718</c:v>
                </c:pt>
                <c:pt idx="61">
                  <c:v>37719</c:v>
                </c:pt>
                <c:pt idx="62">
                  <c:v>37720</c:v>
                </c:pt>
                <c:pt idx="63">
                  <c:v>37721</c:v>
                </c:pt>
                <c:pt idx="64">
                  <c:v>37722</c:v>
                </c:pt>
                <c:pt idx="65">
                  <c:v>37725</c:v>
                </c:pt>
                <c:pt idx="66">
                  <c:v>37726</c:v>
                </c:pt>
                <c:pt idx="67">
                  <c:v>37727</c:v>
                </c:pt>
                <c:pt idx="68">
                  <c:v>37728</c:v>
                </c:pt>
                <c:pt idx="69">
                  <c:v>37729</c:v>
                </c:pt>
                <c:pt idx="70">
                  <c:v>37732</c:v>
                </c:pt>
                <c:pt idx="71">
                  <c:v>37733</c:v>
                </c:pt>
                <c:pt idx="72">
                  <c:v>37734</c:v>
                </c:pt>
                <c:pt idx="73">
                  <c:v>37735</c:v>
                </c:pt>
                <c:pt idx="74">
                  <c:v>37736</c:v>
                </c:pt>
                <c:pt idx="75">
                  <c:v>37739</c:v>
                </c:pt>
                <c:pt idx="76">
                  <c:v>37740</c:v>
                </c:pt>
                <c:pt idx="77">
                  <c:v>37741</c:v>
                </c:pt>
                <c:pt idx="78">
                  <c:v>37743</c:v>
                </c:pt>
                <c:pt idx="79">
                  <c:v>37746</c:v>
                </c:pt>
                <c:pt idx="80">
                  <c:v>37747</c:v>
                </c:pt>
                <c:pt idx="81">
                  <c:v>37748</c:v>
                </c:pt>
                <c:pt idx="82">
                  <c:v>37749</c:v>
                </c:pt>
                <c:pt idx="83">
                  <c:v>37750</c:v>
                </c:pt>
                <c:pt idx="84">
                  <c:v>37753</c:v>
                </c:pt>
                <c:pt idx="85">
                  <c:v>37754</c:v>
                </c:pt>
                <c:pt idx="86">
                  <c:v>37755</c:v>
                </c:pt>
                <c:pt idx="87">
                  <c:v>37756</c:v>
                </c:pt>
                <c:pt idx="88">
                  <c:v>37757</c:v>
                </c:pt>
                <c:pt idx="89">
                  <c:v>37760</c:v>
                </c:pt>
                <c:pt idx="90">
                  <c:v>37761</c:v>
                </c:pt>
                <c:pt idx="91">
                  <c:v>37762</c:v>
                </c:pt>
                <c:pt idx="92">
                  <c:v>37763</c:v>
                </c:pt>
                <c:pt idx="93">
                  <c:v>37764</c:v>
                </c:pt>
                <c:pt idx="94">
                  <c:v>37767</c:v>
                </c:pt>
                <c:pt idx="95">
                  <c:v>37768</c:v>
                </c:pt>
                <c:pt idx="96">
                  <c:v>37769</c:v>
                </c:pt>
                <c:pt idx="97">
                  <c:v>37770</c:v>
                </c:pt>
                <c:pt idx="98">
                  <c:v>37771</c:v>
                </c:pt>
                <c:pt idx="99">
                  <c:v>37774</c:v>
                </c:pt>
                <c:pt idx="100">
                  <c:v>37775</c:v>
                </c:pt>
                <c:pt idx="101">
                  <c:v>37777</c:v>
                </c:pt>
                <c:pt idx="102">
                  <c:v>37778</c:v>
                </c:pt>
                <c:pt idx="103">
                  <c:v>37781</c:v>
                </c:pt>
                <c:pt idx="104">
                  <c:v>37782</c:v>
                </c:pt>
                <c:pt idx="105">
                  <c:v>37783</c:v>
                </c:pt>
                <c:pt idx="106">
                  <c:v>37784</c:v>
                </c:pt>
                <c:pt idx="107">
                  <c:v>37785</c:v>
                </c:pt>
                <c:pt idx="108">
                  <c:v>37788</c:v>
                </c:pt>
                <c:pt idx="109">
                  <c:v>37789</c:v>
                </c:pt>
                <c:pt idx="110">
                  <c:v>37790</c:v>
                </c:pt>
                <c:pt idx="111">
                  <c:v>37791</c:v>
                </c:pt>
                <c:pt idx="112">
                  <c:v>37792</c:v>
                </c:pt>
                <c:pt idx="113">
                  <c:v>37795</c:v>
                </c:pt>
                <c:pt idx="114">
                  <c:v>37796</c:v>
                </c:pt>
                <c:pt idx="115">
                  <c:v>37797</c:v>
                </c:pt>
                <c:pt idx="116">
                  <c:v>37798</c:v>
                </c:pt>
                <c:pt idx="117">
                  <c:v>37799</c:v>
                </c:pt>
                <c:pt idx="118">
                  <c:v>37802</c:v>
                </c:pt>
                <c:pt idx="119">
                  <c:v>37803</c:v>
                </c:pt>
                <c:pt idx="120">
                  <c:v>37804</c:v>
                </c:pt>
                <c:pt idx="121">
                  <c:v>37805</c:v>
                </c:pt>
                <c:pt idx="122">
                  <c:v>37806</c:v>
                </c:pt>
                <c:pt idx="123">
                  <c:v>37809</c:v>
                </c:pt>
                <c:pt idx="124">
                  <c:v>37810</c:v>
                </c:pt>
                <c:pt idx="125">
                  <c:v>37811</c:v>
                </c:pt>
                <c:pt idx="126">
                  <c:v>37812</c:v>
                </c:pt>
                <c:pt idx="127">
                  <c:v>37813</c:v>
                </c:pt>
                <c:pt idx="128">
                  <c:v>37816</c:v>
                </c:pt>
                <c:pt idx="129">
                  <c:v>37817</c:v>
                </c:pt>
                <c:pt idx="130">
                  <c:v>37818</c:v>
                </c:pt>
                <c:pt idx="131">
                  <c:v>37819</c:v>
                </c:pt>
                <c:pt idx="132">
                  <c:v>37820</c:v>
                </c:pt>
                <c:pt idx="133">
                  <c:v>37823</c:v>
                </c:pt>
                <c:pt idx="134">
                  <c:v>37824</c:v>
                </c:pt>
                <c:pt idx="135">
                  <c:v>37825</c:v>
                </c:pt>
                <c:pt idx="136">
                  <c:v>37826</c:v>
                </c:pt>
                <c:pt idx="137">
                  <c:v>37827</c:v>
                </c:pt>
                <c:pt idx="138">
                  <c:v>37830</c:v>
                </c:pt>
                <c:pt idx="139">
                  <c:v>37831</c:v>
                </c:pt>
                <c:pt idx="140">
                  <c:v>37832</c:v>
                </c:pt>
                <c:pt idx="141">
                  <c:v>37833</c:v>
                </c:pt>
                <c:pt idx="142">
                  <c:v>37834</c:v>
                </c:pt>
                <c:pt idx="143">
                  <c:v>37837</c:v>
                </c:pt>
                <c:pt idx="144">
                  <c:v>37838</c:v>
                </c:pt>
                <c:pt idx="145">
                  <c:v>37839</c:v>
                </c:pt>
                <c:pt idx="146">
                  <c:v>37840</c:v>
                </c:pt>
                <c:pt idx="147">
                  <c:v>37841</c:v>
                </c:pt>
                <c:pt idx="148">
                  <c:v>37844</c:v>
                </c:pt>
                <c:pt idx="149">
                  <c:v>37845</c:v>
                </c:pt>
                <c:pt idx="150">
                  <c:v>37846</c:v>
                </c:pt>
                <c:pt idx="151">
                  <c:v>37847</c:v>
                </c:pt>
                <c:pt idx="152">
                  <c:v>37848</c:v>
                </c:pt>
                <c:pt idx="153">
                  <c:v>37851</c:v>
                </c:pt>
                <c:pt idx="154">
                  <c:v>37852</c:v>
                </c:pt>
                <c:pt idx="155">
                  <c:v>37853</c:v>
                </c:pt>
                <c:pt idx="156">
                  <c:v>37854</c:v>
                </c:pt>
                <c:pt idx="157">
                  <c:v>37855</c:v>
                </c:pt>
                <c:pt idx="158">
                  <c:v>37858</c:v>
                </c:pt>
                <c:pt idx="159">
                  <c:v>37859</c:v>
                </c:pt>
                <c:pt idx="160">
                  <c:v>37860</c:v>
                </c:pt>
                <c:pt idx="161">
                  <c:v>37861</c:v>
                </c:pt>
                <c:pt idx="162">
                  <c:v>37862</c:v>
                </c:pt>
                <c:pt idx="163">
                  <c:v>37865</c:v>
                </c:pt>
                <c:pt idx="164">
                  <c:v>37866</c:v>
                </c:pt>
                <c:pt idx="165">
                  <c:v>37867</c:v>
                </c:pt>
                <c:pt idx="166">
                  <c:v>37868</c:v>
                </c:pt>
                <c:pt idx="167">
                  <c:v>37869</c:v>
                </c:pt>
                <c:pt idx="168">
                  <c:v>37872</c:v>
                </c:pt>
                <c:pt idx="169">
                  <c:v>37873</c:v>
                </c:pt>
                <c:pt idx="170">
                  <c:v>37874</c:v>
                </c:pt>
                <c:pt idx="171">
                  <c:v>37876</c:v>
                </c:pt>
                <c:pt idx="172">
                  <c:v>37879</c:v>
                </c:pt>
                <c:pt idx="173">
                  <c:v>37880</c:v>
                </c:pt>
                <c:pt idx="174">
                  <c:v>37881</c:v>
                </c:pt>
                <c:pt idx="175">
                  <c:v>37882</c:v>
                </c:pt>
                <c:pt idx="176">
                  <c:v>37883</c:v>
                </c:pt>
                <c:pt idx="177">
                  <c:v>37886</c:v>
                </c:pt>
                <c:pt idx="178">
                  <c:v>37887</c:v>
                </c:pt>
                <c:pt idx="179">
                  <c:v>37888</c:v>
                </c:pt>
                <c:pt idx="180">
                  <c:v>37889</c:v>
                </c:pt>
                <c:pt idx="181">
                  <c:v>37890</c:v>
                </c:pt>
                <c:pt idx="182">
                  <c:v>37893</c:v>
                </c:pt>
                <c:pt idx="183">
                  <c:v>37894</c:v>
                </c:pt>
                <c:pt idx="184">
                  <c:v>37895</c:v>
                </c:pt>
                <c:pt idx="185">
                  <c:v>37896</c:v>
                </c:pt>
                <c:pt idx="186">
                  <c:v>37897</c:v>
                </c:pt>
                <c:pt idx="187">
                  <c:v>37900</c:v>
                </c:pt>
                <c:pt idx="188">
                  <c:v>37901</c:v>
                </c:pt>
                <c:pt idx="189">
                  <c:v>37902</c:v>
                </c:pt>
                <c:pt idx="190">
                  <c:v>37903</c:v>
                </c:pt>
                <c:pt idx="191">
                  <c:v>37907</c:v>
                </c:pt>
                <c:pt idx="192">
                  <c:v>37908</c:v>
                </c:pt>
                <c:pt idx="193">
                  <c:v>37909</c:v>
                </c:pt>
                <c:pt idx="194">
                  <c:v>37910</c:v>
                </c:pt>
                <c:pt idx="195">
                  <c:v>37911</c:v>
                </c:pt>
                <c:pt idx="196">
                  <c:v>37914</c:v>
                </c:pt>
                <c:pt idx="197">
                  <c:v>37915</c:v>
                </c:pt>
                <c:pt idx="198">
                  <c:v>37916</c:v>
                </c:pt>
                <c:pt idx="199">
                  <c:v>37917</c:v>
                </c:pt>
                <c:pt idx="200">
                  <c:v>37918</c:v>
                </c:pt>
                <c:pt idx="201">
                  <c:v>37921</c:v>
                </c:pt>
                <c:pt idx="202">
                  <c:v>37922</c:v>
                </c:pt>
                <c:pt idx="203">
                  <c:v>37923</c:v>
                </c:pt>
                <c:pt idx="204">
                  <c:v>37924</c:v>
                </c:pt>
                <c:pt idx="205">
                  <c:v>37925</c:v>
                </c:pt>
                <c:pt idx="206">
                  <c:v>37928</c:v>
                </c:pt>
                <c:pt idx="207">
                  <c:v>37929</c:v>
                </c:pt>
                <c:pt idx="208">
                  <c:v>37930</c:v>
                </c:pt>
                <c:pt idx="209">
                  <c:v>37931</c:v>
                </c:pt>
                <c:pt idx="210">
                  <c:v>37932</c:v>
                </c:pt>
                <c:pt idx="211">
                  <c:v>37935</c:v>
                </c:pt>
                <c:pt idx="212">
                  <c:v>37936</c:v>
                </c:pt>
                <c:pt idx="213">
                  <c:v>37937</c:v>
                </c:pt>
                <c:pt idx="214">
                  <c:v>37938</c:v>
                </c:pt>
                <c:pt idx="215">
                  <c:v>37939</c:v>
                </c:pt>
                <c:pt idx="216">
                  <c:v>37942</c:v>
                </c:pt>
                <c:pt idx="217">
                  <c:v>37943</c:v>
                </c:pt>
                <c:pt idx="218">
                  <c:v>37944</c:v>
                </c:pt>
                <c:pt idx="219">
                  <c:v>37945</c:v>
                </c:pt>
                <c:pt idx="220">
                  <c:v>37946</c:v>
                </c:pt>
                <c:pt idx="221">
                  <c:v>37949</c:v>
                </c:pt>
                <c:pt idx="222">
                  <c:v>37950</c:v>
                </c:pt>
                <c:pt idx="223">
                  <c:v>37951</c:v>
                </c:pt>
                <c:pt idx="224">
                  <c:v>37952</c:v>
                </c:pt>
                <c:pt idx="225">
                  <c:v>37953</c:v>
                </c:pt>
                <c:pt idx="226">
                  <c:v>37956</c:v>
                </c:pt>
                <c:pt idx="227">
                  <c:v>37957</c:v>
                </c:pt>
                <c:pt idx="228">
                  <c:v>37958</c:v>
                </c:pt>
                <c:pt idx="229">
                  <c:v>37959</c:v>
                </c:pt>
                <c:pt idx="230">
                  <c:v>37960</c:v>
                </c:pt>
                <c:pt idx="231">
                  <c:v>37963</c:v>
                </c:pt>
                <c:pt idx="232">
                  <c:v>37964</c:v>
                </c:pt>
                <c:pt idx="233">
                  <c:v>37965</c:v>
                </c:pt>
                <c:pt idx="234">
                  <c:v>37966</c:v>
                </c:pt>
                <c:pt idx="235">
                  <c:v>37967</c:v>
                </c:pt>
                <c:pt idx="236">
                  <c:v>37970</c:v>
                </c:pt>
                <c:pt idx="237">
                  <c:v>37971</c:v>
                </c:pt>
                <c:pt idx="238">
                  <c:v>37972</c:v>
                </c:pt>
                <c:pt idx="239">
                  <c:v>37973</c:v>
                </c:pt>
                <c:pt idx="240">
                  <c:v>37974</c:v>
                </c:pt>
                <c:pt idx="241">
                  <c:v>37977</c:v>
                </c:pt>
                <c:pt idx="242">
                  <c:v>37978</c:v>
                </c:pt>
                <c:pt idx="243">
                  <c:v>37979</c:v>
                </c:pt>
                <c:pt idx="244">
                  <c:v>37980</c:v>
                </c:pt>
                <c:pt idx="245">
                  <c:v>37981</c:v>
                </c:pt>
                <c:pt idx="246">
                  <c:v>37984</c:v>
                </c:pt>
                <c:pt idx="247">
                  <c:v>37985</c:v>
                </c:pt>
                <c:pt idx="248">
                  <c:v>37986</c:v>
                </c:pt>
              </c:numCache>
            </c:numRef>
          </c:cat>
          <c:val>
            <c:numRef>
              <c:f>Sheet1!$C$2:$C$250</c:f>
              <c:numCache>
                <c:formatCode>General</c:formatCode>
                <c:ptCount val="249"/>
                <c:pt idx="0">
                  <c:v>4524.87</c:v>
                </c:pt>
                <c:pt idx="1">
                  <c:v>4626.3200000000006</c:v>
                </c:pt>
                <c:pt idx="2">
                  <c:v>4689.8600000000015</c:v>
                </c:pt>
                <c:pt idx="3">
                  <c:v>4701.08</c:v>
                </c:pt>
                <c:pt idx="4">
                  <c:v>4836.9299999999994</c:v>
                </c:pt>
                <c:pt idx="5">
                  <c:v>4813.7300000000005</c:v>
                </c:pt>
                <c:pt idx="6">
                  <c:v>4850.8</c:v>
                </c:pt>
                <c:pt idx="7">
                  <c:v>4991.26</c:v>
                </c:pt>
                <c:pt idx="8">
                  <c:v>4992.42</c:v>
                </c:pt>
                <c:pt idx="9">
                  <c:v>5017.7</c:v>
                </c:pt>
                <c:pt idx="10">
                  <c:v>4943.29</c:v>
                </c:pt>
                <c:pt idx="11">
                  <c:v>4907.78</c:v>
                </c:pt>
                <c:pt idx="12">
                  <c:v>4951.03</c:v>
                </c:pt>
                <c:pt idx="13">
                  <c:v>4945.87</c:v>
                </c:pt>
                <c:pt idx="14">
                  <c:v>4993.2699999999995</c:v>
                </c:pt>
                <c:pt idx="15">
                  <c:v>5078.8</c:v>
                </c:pt>
                <c:pt idx="16">
                  <c:v>5057.3200000000006</c:v>
                </c:pt>
                <c:pt idx="17">
                  <c:v>4972.59</c:v>
                </c:pt>
                <c:pt idx="18">
                  <c:v>5015.1600000000008</c:v>
                </c:pt>
                <c:pt idx="19">
                  <c:v>4833.58</c:v>
                </c:pt>
                <c:pt idx="20">
                  <c:v>4735.37</c:v>
                </c:pt>
                <c:pt idx="21">
                  <c:v>4643.87</c:v>
                </c:pt>
                <c:pt idx="22">
                  <c:v>4618.9800000000005</c:v>
                </c:pt>
                <c:pt idx="23">
                  <c:v>4624.87</c:v>
                </c:pt>
                <c:pt idx="24">
                  <c:v>4507.96</c:v>
                </c:pt>
                <c:pt idx="25">
                  <c:v>4493.99</c:v>
                </c:pt>
                <c:pt idx="26">
                  <c:v>4705.08</c:v>
                </c:pt>
                <c:pt idx="27">
                  <c:v>4605.3100000000004</c:v>
                </c:pt>
                <c:pt idx="28">
                  <c:v>4550.83</c:v>
                </c:pt>
                <c:pt idx="29">
                  <c:v>4550.7</c:v>
                </c:pt>
                <c:pt idx="30">
                  <c:v>4548.3500000000004</c:v>
                </c:pt>
                <c:pt idx="31">
                  <c:v>4609.2</c:v>
                </c:pt>
                <c:pt idx="32">
                  <c:v>4454.3500000000004</c:v>
                </c:pt>
                <c:pt idx="33">
                  <c:v>4456.6900000000014</c:v>
                </c:pt>
                <c:pt idx="34">
                  <c:v>4432.46</c:v>
                </c:pt>
                <c:pt idx="35">
                  <c:v>4526.6900000000014</c:v>
                </c:pt>
                <c:pt idx="36">
                  <c:v>4499.6900000000014</c:v>
                </c:pt>
                <c:pt idx="37">
                  <c:v>4418.1100000000015</c:v>
                </c:pt>
                <c:pt idx="38">
                  <c:v>4397.4399999999996</c:v>
                </c:pt>
                <c:pt idx="39">
                  <c:v>4350.59</c:v>
                </c:pt>
                <c:pt idx="40">
                  <c:v>4319.99</c:v>
                </c:pt>
                <c:pt idx="41">
                  <c:v>4260.45</c:v>
                </c:pt>
                <c:pt idx="42">
                  <c:v>4328.1500000000005</c:v>
                </c:pt>
                <c:pt idx="43">
                  <c:v>4378.99</c:v>
                </c:pt>
                <c:pt idx="44">
                  <c:v>4476.17</c:v>
                </c:pt>
                <c:pt idx="45">
                  <c:v>4357.99</c:v>
                </c:pt>
                <c:pt idx="46">
                  <c:v>4539.72</c:v>
                </c:pt>
                <c:pt idx="47">
                  <c:v>4515.07</c:v>
                </c:pt>
                <c:pt idx="48">
                  <c:v>4599.25</c:v>
                </c:pt>
                <c:pt idx="49">
                  <c:v>4586.92</c:v>
                </c:pt>
                <c:pt idx="50">
                  <c:v>4570.68</c:v>
                </c:pt>
                <c:pt idx="51">
                  <c:v>4498.83</c:v>
                </c:pt>
                <c:pt idx="52">
                  <c:v>4496.05</c:v>
                </c:pt>
                <c:pt idx="53">
                  <c:v>4514.24</c:v>
                </c:pt>
                <c:pt idx="54">
                  <c:v>4477.01</c:v>
                </c:pt>
                <c:pt idx="55">
                  <c:v>4321.22</c:v>
                </c:pt>
                <c:pt idx="56">
                  <c:v>4337.6100000000015</c:v>
                </c:pt>
                <c:pt idx="57">
                  <c:v>4311.5600000000004</c:v>
                </c:pt>
                <c:pt idx="58">
                  <c:v>4358.3900000000003</c:v>
                </c:pt>
                <c:pt idx="59">
                  <c:v>4499.18</c:v>
                </c:pt>
                <c:pt idx="60">
                  <c:v>4575.83</c:v>
                </c:pt>
                <c:pt idx="61">
                  <c:v>4552.45</c:v>
                </c:pt>
                <c:pt idx="62">
                  <c:v>4537.3900000000003</c:v>
                </c:pt>
                <c:pt idx="63">
                  <c:v>4541.3600000000015</c:v>
                </c:pt>
                <c:pt idx="64">
                  <c:v>4530.4000000000005</c:v>
                </c:pt>
                <c:pt idx="65">
                  <c:v>4459.8100000000004</c:v>
                </c:pt>
                <c:pt idx="66">
                  <c:v>4487.59</c:v>
                </c:pt>
                <c:pt idx="67">
                  <c:v>4609.3200000000006</c:v>
                </c:pt>
                <c:pt idx="68">
                  <c:v>4566.6600000000008</c:v>
                </c:pt>
                <c:pt idx="69">
                  <c:v>4658.3</c:v>
                </c:pt>
                <c:pt idx="70">
                  <c:v>4648.1200000000008</c:v>
                </c:pt>
                <c:pt idx="71">
                  <c:v>4556.1000000000004</c:v>
                </c:pt>
                <c:pt idx="72">
                  <c:v>4564.9299999999994</c:v>
                </c:pt>
                <c:pt idx="73">
                  <c:v>4374.9399999999996</c:v>
                </c:pt>
                <c:pt idx="74">
                  <c:v>4233.54</c:v>
                </c:pt>
                <c:pt idx="75">
                  <c:v>4139.5</c:v>
                </c:pt>
                <c:pt idx="76">
                  <c:v>4200.3200000000006</c:v>
                </c:pt>
                <c:pt idx="77">
                  <c:v>4148.07</c:v>
                </c:pt>
                <c:pt idx="78">
                  <c:v>4187.8200000000006</c:v>
                </c:pt>
                <c:pt idx="79">
                  <c:v>4202.1200000000008</c:v>
                </c:pt>
                <c:pt idx="80">
                  <c:v>4220.45</c:v>
                </c:pt>
                <c:pt idx="81">
                  <c:v>4275.91</c:v>
                </c:pt>
                <c:pt idx="82">
                  <c:v>4191.25</c:v>
                </c:pt>
                <c:pt idx="83">
                  <c:v>4244.18</c:v>
                </c:pt>
                <c:pt idx="84">
                  <c:v>4261.0200000000004</c:v>
                </c:pt>
                <c:pt idx="85">
                  <c:v>4334.59</c:v>
                </c:pt>
                <c:pt idx="86">
                  <c:v>4341.1000000000004</c:v>
                </c:pt>
                <c:pt idx="87">
                  <c:v>4331.24</c:v>
                </c:pt>
                <c:pt idx="88">
                  <c:v>4283.7699999999995</c:v>
                </c:pt>
                <c:pt idx="89">
                  <c:v>4255.8</c:v>
                </c:pt>
                <c:pt idx="90">
                  <c:v>4251.59</c:v>
                </c:pt>
                <c:pt idx="91">
                  <c:v>4216.6400000000003</c:v>
                </c:pt>
                <c:pt idx="92">
                  <c:v>4271.3</c:v>
                </c:pt>
                <c:pt idx="93">
                  <c:v>4349.5200000000004</c:v>
                </c:pt>
                <c:pt idx="94">
                  <c:v>4465.57</c:v>
                </c:pt>
                <c:pt idx="95">
                  <c:v>4451.1100000000015</c:v>
                </c:pt>
                <c:pt idx="96">
                  <c:v>4474.41</c:v>
                </c:pt>
                <c:pt idx="97">
                  <c:v>4543.04</c:v>
                </c:pt>
                <c:pt idx="98">
                  <c:v>4555.9000000000005</c:v>
                </c:pt>
                <c:pt idx="99">
                  <c:v>4692.9399999999996</c:v>
                </c:pt>
                <c:pt idx="100">
                  <c:v>4678.08</c:v>
                </c:pt>
                <c:pt idx="101">
                  <c:v>4738.34</c:v>
                </c:pt>
                <c:pt idx="102">
                  <c:v>4740.45</c:v>
                </c:pt>
                <c:pt idx="103">
                  <c:v>4826.9399999999996</c:v>
                </c:pt>
                <c:pt idx="104">
                  <c:v>4832.2</c:v>
                </c:pt>
                <c:pt idx="105">
                  <c:v>4804.6500000000005</c:v>
                </c:pt>
                <c:pt idx="106">
                  <c:v>4878.4299999999994</c:v>
                </c:pt>
                <c:pt idx="107">
                  <c:v>4881.9000000000005</c:v>
                </c:pt>
                <c:pt idx="108">
                  <c:v>4892.3600000000015</c:v>
                </c:pt>
                <c:pt idx="109">
                  <c:v>4973.1900000000014</c:v>
                </c:pt>
                <c:pt idx="110">
                  <c:v>4999.07</c:v>
                </c:pt>
                <c:pt idx="111">
                  <c:v>5048.91</c:v>
                </c:pt>
                <c:pt idx="112">
                  <c:v>5002.58</c:v>
                </c:pt>
                <c:pt idx="113">
                  <c:v>4921.72</c:v>
                </c:pt>
                <c:pt idx="114">
                  <c:v>4909.3100000000004</c:v>
                </c:pt>
                <c:pt idx="115">
                  <c:v>4933.79</c:v>
                </c:pt>
                <c:pt idx="116">
                  <c:v>4894.01</c:v>
                </c:pt>
                <c:pt idx="117">
                  <c:v>4877.9000000000005</c:v>
                </c:pt>
                <c:pt idx="118">
                  <c:v>4872.1500000000005</c:v>
                </c:pt>
                <c:pt idx="119">
                  <c:v>5017.78</c:v>
                </c:pt>
                <c:pt idx="120">
                  <c:v>5095.24</c:v>
                </c:pt>
                <c:pt idx="121">
                  <c:v>5095.3100000000004</c:v>
                </c:pt>
                <c:pt idx="122">
                  <c:v>5151.8500000000004</c:v>
                </c:pt>
                <c:pt idx="123">
                  <c:v>5322.26</c:v>
                </c:pt>
                <c:pt idx="124">
                  <c:v>5367.9699999999993</c:v>
                </c:pt>
                <c:pt idx="125">
                  <c:v>5358.91</c:v>
                </c:pt>
                <c:pt idx="126">
                  <c:v>5282.38</c:v>
                </c:pt>
                <c:pt idx="127">
                  <c:v>5239.96</c:v>
                </c:pt>
                <c:pt idx="128">
                  <c:v>5349.94</c:v>
                </c:pt>
                <c:pt idx="129">
                  <c:v>5335.8600000000006</c:v>
                </c:pt>
                <c:pt idx="130">
                  <c:v>5413.87</c:v>
                </c:pt>
                <c:pt idx="131">
                  <c:v>5299.51</c:v>
                </c:pt>
                <c:pt idx="132">
                  <c:v>5287.38</c:v>
                </c:pt>
                <c:pt idx="133">
                  <c:v>5219.3</c:v>
                </c:pt>
                <c:pt idx="134">
                  <c:v>5261.01</c:v>
                </c:pt>
                <c:pt idx="135">
                  <c:v>5287.89</c:v>
                </c:pt>
                <c:pt idx="136">
                  <c:v>5402.75</c:v>
                </c:pt>
                <c:pt idx="137">
                  <c:v>5394.75</c:v>
                </c:pt>
                <c:pt idx="138">
                  <c:v>5451.8</c:v>
                </c:pt>
                <c:pt idx="139">
                  <c:v>5342.46</c:v>
                </c:pt>
                <c:pt idx="140">
                  <c:v>5307.18</c:v>
                </c:pt>
                <c:pt idx="141">
                  <c:v>5318.34</c:v>
                </c:pt>
                <c:pt idx="142">
                  <c:v>5390.51</c:v>
                </c:pt>
                <c:pt idx="143">
                  <c:v>5377.1900000000005</c:v>
                </c:pt>
                <c:pt idx="144">
                  <c:v>5259.45</c:v>
                </c:pt>
                <c:pt idx="145">
                  <c:v>5225.83</c:v>
                </c:pt>
                <c:pt idx="146">
                  <c:v>5259.07</c:v>
                </c:pt>
                <c:pt idx="147">
                  <c:v>5232.55</c:v>
                </c:pt>
                <c:pt idx="148">
                  <c:v>5214.6000000000004</c:v>
                </c:pt>
                <c:pt idx="149">
                  <c:v>5255.24</c:v>
                </c:pt>
                <c:pt idx="150">
                  <c:v>5442.2699999999995</c:v>
                </c:pt>
                <c:pt idx="151">
                  <c:v>5436.75</c:v>
                </c:pt>
                <c:pt idx="152">
                  <c:v>5488.74</c:v>
                </c:pt>
                <c:pt idx="153">
                  <c:v>5516.8</c:v>
                </c:pt>
                <c:pt idx="154">
                  <c:v>5512.1600000000008</c:v>
                </c:pt>
                <c:pt idx="155">
                  <c:v>5543.6100000000006</c:v>
                </c:pt>
                <c:pt idx="156">
                  <c:v>5611.8600000000006</c:v>
                </c:pt>
                <c:pt idx="157">
                  <c:v>5646.6200000000008</c:v>
                </c:pt>
                <c:pt idx="158">
                  <c:v>5686.85</c:v>
                </c:pt>
                <c:pt idx="159">
                  <c:v>5558.25</c:v>
                </c:pt>
                <c:pt idx="160">
                  <c:v>5553.4299999999994</c:v>
                </c:pt>
                <c:pt idx="161">
                  <c:v>5523.1200000000008</c:v>
                </c:pt>
                <c:pt idx="162">
                  <c:v>5650.83</c:v>
                </c:pt>
                <c:pt idx="163">
                  <c:v>5691.79</c:v>
                </c:pt>
                <c:pt idx="164">
                  <c:v>5715.95</c:v>
                </c:pt>
                <c:pt idx="165">
                  <c:v>5673.18</c:v>
                </c:pt>
                <c:pt idx="166">
                  <c:v>5625.63</c:v>
                </c:pt>
                <c:pt idx="167">
                  <c:v>5639.03</c:v>
                </c:pt>
                <c:pt idx="168">
                  <c:v>5727.01</c:v>
                </c:pt>
                <c:pt idx="169">
                  <c:v>5680.6900000000005</c:v>
                </c:pt>
                <c:pt idx="170">
                  <c:v>5623.4299999999994</c:v>
                </c:pt>
                <c:pt idx="171">
                  <c:v>5645.28</c:v>
                </c:pt>
                <c:pt idx="172">
                  <c:v>5623.22</c:v>
                </c:pt>
                <c:pt idx="173">
                  <c:v>5699.26</c:v>
                </c:pt>
                <c:pt idx="174">
                  <c:v>5747.14</c:v>
                </c:pt>
                <c:pt idx="175">
                  <c:v>5750.81</c:v>
                </c:pt>
                <c:pt idx="176">
                  <c:v>5757.91</c:v>
                </c:pt>
                <c:pt idx="177">
                  <c:v>5675.75</c:v>
                </c:pt>
                <c:pt idx="178">
                  <c:v>5684.01</c:v>
                </c:pt>
                <c:pt idx="179">
                  <c:v>5722.3600000000006</c:v>
                </c:pt>
                <c:pt idx="180">
                  <c:v>5688.23</c:v>
                </c:pt>
                <c:pt idx="181">
                  <c:v>5650.1100000000006</c:v>
                </c:pt>
                <c:pt idx="182">
                  <c:v>5643.5</c:v>
                </c:pt>
                <c:pt idx="183">
                  <c:v>5611.41</c:v>
                </c:pt>
                <c:pt idx="184">
                  <c:v>5581.6600000000008</c:v>
                </c:pt>
                <c:pt idx="185">
                  <c:v>5699.8600000000006</c:v>
                </c:pt>
                <c:pt idx="186">
                  <c:v>5747.79</c:v>
                </c:pt>
                <c:pt idx="187">
                  <c:v>5851.2</c:v>
                </c:pt>
                <c:pt idx="188">
                  <c:v>5856.68</c:v>
                </c:pt>
                <c:pt idx="189">
                  <c:v>5821.8</c:v>
                </c:pt>
                <c:pt idx="190">
                  <c:v>5869.88</c:v>
                </c:pt>
                <c:pt idx="191">
                  <c:v>5972.4699999999993</c:v>
                </c:pt>
                <c:pt idx="192">
                  <c:v>5938.42</c:v>
                </c:pt>
                <c:pt idx="193">
                  <c:v>5924.38</c:v>
                </c:pt>
                <c:pt idx="194">
                  <c:v>6035.74</c:v>
                </c:pt>
                <c:pt idx="195">
                  <c:v>6042.71</c:v>
                </c:pt>
                <c:pt idx="196">
                  <c:v>6077.89</c:v>
                </c:pt>
                <c:pt idx="197">
                  <c:v>6061.46</c:v>
                </c:pt>
                <c:pt idx="198">
                  <c:v>6041.8600000000006</c:v>
                </c:pt>
                <c:pt idx="199">
                  <c:v>5952.23</c:v>
                </c:pt>
                <c:pt idx="200">
                  <c:v>5918.14</c:v>
                </c:pt>
                <c:pt idx="201">
                  <c:v>5958.55</c:v>
                </c:pt>
                <c:pt idx="202">
                  <c:v>6075.45</c:v>
                </c:pt>
                <c:pt idx="203">
                  <c:v>6095.87</c:v>
                </c:pt>
                <c:pt idx="204">
                  <c:v>6108.13</c:v>
                </c:pt>
                <c:pt idx="205">
                  <c:v>6045.1200000000008</c:v>
                </c:pt>
                <c:pt idx="206">
                  <c:v>6087.45</c:v>
                </c:pt>
                <c:pt idx="207">
                  <c:v>6108.99</c:v>
                </c:pt>
                <c:pt idx="208">
                  <c:v>6142.3200000000006</c:v>
                </c:pt>
                <c:pt idx="209">
                  <c:v>6013.4</c:v>
                </c:pt>
                <c:pt idx="210">
                  <c:v>6056.83</c:v>
                </c:pt>
                <c:pt idx="211">
                  <c:v>6059.03</c:v>
                </c:pt>
                <c:pt idx="212">
                  <c:v>6022.08</c:v>
                </c:pt>
                <c:pt idx="213">
                  <c:v>5982.75</c:v>
                </c:pt>
                <c:pt idx="214">
                  <c:v>6035.44</c:v>
                </c:pt>
                <c:pt idx="215">
                  <c:v>6044.7699999999995</c:v>
                </c:pt>
                <c:pt idx="216">
                  <c:v>5952.3200000000006</c:v>
                </c:pt>
                <c:pt idx="217">
                  <c:v>5939.4699999999993</c:v>
                </c:pt>
                <c:pt idx="218">
                  <c:v>5865.51</c:v>
                </c:pt>
                <c:pt idx="219">
                  <c:v>5834.24</c:v>
                </c:pt>
                <c:pt idx="220">
                  <c:v>5830.06</c:v>
                </c:pt>
                <c:pt idx="221">
                  <c:v>5821.58</c:v>
                </c:pt>
                <c:pt idx="222">
                  <c:v>5861.18</c:v>
                </c:pt>
                <c:pt idx="223">
                  <c:v>5860.6100000000006</c:v>
                </c:pt>
                <c:pt idx="224">
                  <c:v>5740.57</c:v>
                </c:pt>
                <c:pt idx="225">
                  <c:v>5771.7699999999995</c:v>
                </c:pt>
                <c:pt idx="226">
                  <c:v>5870.17</c:v>
                </c:pt>
                <c:pt idx="227">
                  <c:v>5911.45</c:v>
                </c:pt>
                <c:pt idx="228">
                  <c:v>5884.9699999999993</c:v>
                </c:pt>
                <c:pt idx="229">
                  <c:v>5920.46</c:v>
                </c:pt>
                <c:pt idx="230">
                  <c:v>5900.05</c:v>
                </c:pt>
                <c:pt idx="231">
                  <c:v>5847.1500000000005</c:v>
                </c:pt>
                <c:pt idx="232">
                  <c:v>5859.56</c:v>
                </c:pt>
                <c:pt idx="233">
                  <c:v>5803.42</c:v>
                </c:pt>
                <c:pt idx="234">
                  <c:v>5867.05</c:v>
                </c:pt>
                <c:pt idx="235">
                  <c:v>5858.3200000000006</c:v>
                </c:pt>
                <c:pt idx="236">
                  <c:v>5924.24</c:v>
                </c:pt>
                <c:pt idx="237">
                  <c:v>5887.23</c:v>
                </c:pt>
                <c:pt idx="238">
                  <c:v>5752.01</c:v>
                </c:pt>
                <c:pt idx="239">
                  <c:v>5768.76</c:v>
                </c:pt>
                <c:pt idx="240">
                  <c:v>5759.23</c:v>
                </c:pt>
                <c:pt idx="241">
                  <c:v>5835.1100000000006</c:v>
                </c:pt>
                <c:pt idx="242">
                  <c:v>5845.51</c:v>
                </c:pt>
                <c:pt idx="243">
                  <c:v>5857.87</c:v>
                </c:pt>
                <c:pt idx="244">
                  <c:v>5853.7</c:v>
                </c:pt>
                <c:pt idx="245">
                  <c:v>5857.21</c:v>
                </c:pt>
                <c:pt idx="246">
                  <c:v>5804.89</c:v>
                </c:pt>
                <c:pt idx="247">
                  <c:v>5866.75</c:v>
                </c:pt>
                <c:pt idx="248">
                  <c:v>5890.6900000000005</c:v>
                </c:pt>
              </c:numCache>
            </c:numRef>
          </c:val>
        </c:ser>
        <c:marker val="1"/>
        <c:axId val="71496832"/>
        <c:axId val="71498368"/>
      </c:lineChart>
      <c:dateAx>
        <c:axId val="71496832"/>
        <c:scaling>
          <c:orientation val="minMax"/>
        </c:scaling>
        <c:axPos val="b"/>
        <c:numFmt formatCode="yyyy/m/d" sourceLinked="1"/>
        <c:tickLblPos val="nextTo"/>
        <c:crossAx val="71498368"/>
        <c:crosses val="autoZero"/>
        <c:auto val="1"/>
        <c:lblOffset val="100"/>
      </c:dateAx>
      <c:valAx>
        <c:axId val="71498368"/>
        <c:scaling>
          <c:orientation val="minMax"/>
        </c:scaling>
        <c:axPos val="l"/>
        <c:majorGridlines/>
        <c:numFmt formatCode="General" sourceLinked="1"/>
        <c:tickLblPos val="nextTo"/>
        <c:crossAx val="71496832"/>
        <c:crosses val="autoZero"/>
        <c:crossBetween val="between"/>
      </c:valAx>
    </c:plotArea>
    <c:plotVisOnly val="1"/>
  </c:chart>
  <c:externalData r:id="rId1"/>
</c:chartSpace>
</file>

<file path=ppt/charts/chart3.xml><?xml version="1.0" encoding="utf-8"?>
<c:chartSpace xmlns:c="http://schemas.openxmlformats.org/drawingml/2006/chart" xmlns:a="http://schemas.openxmlformats.org/drawingml/2006/main" xmlns:r="http://schemas.openxmlformats.org/officeDocument/2006/relationships">
  <c:lang val="zh-TW"/>
  <c:chart>
    <c:title>
      <c:tx>
        <c:rich>
          <a:bodyPr/>
          <a:lstStyle/>
          <a:p>
            <a:pPr>
              <a:defRPr/>
            </a:pPr>
            <a:r>
              <a:rPr lang="en-US" altLang="en-US"/>
              <a:t>TAIEX</a:t>
            </a:r>
            <a:r>
              <a:rPr lang="en-US" altLang="en-US" baseline="0"/>
              <a:t> 2004</a:t>
            </a:r>
            <a:endParaRPr lang="en-US" altLang="en-US"/>
          </a:p>
        </c:rich>
      </c:tx>
      <c:layout/>
    </c:title>
    <c:plotArea>
      <c:layout/>
      <c:lineChart>
        <c:grouping val="standard"/>
        <c:ser>
          <c:idx val="0"/>
          <c:order val="0"/>
          <c:tx>
            <c:strRef>
              <c:f>Sheet1!$C$1</c:f>
              <c:strCache>
                <c:ptCount val="1"/>
                <c:pt idx="0">
                  <c:v>close_price</c:v>
                </c:pt>
              </c:strCache>
            </c:strRef>
          </c:tx>
          <c:marker>
            <c:symbol val="none"/>
          </c:marker>
          <c:cat>
            <c:numRef>
              <c:f>Sheet1!$B$2:$B$251</c:f>
              <c:numCache>
                <c:formatCode>yyyy/m/d</c:formatCode>
                <c:ptCount val="250"/>
                <c:pt idx="0">
                  <c:v>37988</c:v>
                </c:pt>
                <c:pt idx="1">
                  <c:v>37991</c:v>
                </c:pt>
                <c:pt idx="2">
                  <c:v>37992</c:v>
                </c:pt>
                <c:pt idx="3">
                  <c:v>37993</c:v>
                </c:pt>
                <c:pt idx="4">
                  <c:v>37994</c:v>
                </c:pt>
                <c:pt idx="5">
                  <c:v>37995</c:v>
                </c:pt>
                <c:pt idx="6">
                  <c:v>37998</c:v>
                </c:pt>
                <c:pt idx="7">
                  <c:v>37999</c:v>
                </c:pt>
                <c:pt idx="8">
                  <c:v>38000</c:v>
                </c:pt>
                <c:pt idx="9">
                  <c:v>38001</c:v>
                </c:pt>
                <c:pt idx="10">
                  <c:v>38002</c:v>
                </c:pt>
                <c:pt idx="11">
                  <c:v>38013</c:v>
                </c:pt>
                <c:pt idx="12">
                  <c:v>38014</c:v>
                </c:pt>
                <c:pt idx="13">
                  <c:v>38015</c:v>
                </c:pt>
                <c:pt idx="14">
                  <c:v>38016</c:v>
                </c:pt>
                <c:pt idx="15">
                  <c:v>38019</c:v>
                </c:pt>
                <c:pt idx="16">
                  <c:v>38020</c:v>
                </c:pt>
                <c:pt idx="17">
                  <c:v>38021</c:v>
                </c:pt>
                <c:pt idx="18">
                  <c:v>38022</c:v>
                </c:pt>
                <c:pt idx="19">
                  <c:v>38023</c:v>
                </c:pt>
                <c:pt idx="20">
                  <c:v>38026</c:v>
                </c:pt>
                <c:pt idx="21">
                  <c:v>38027</c:v>
                </c:pt>
                <c:pt idx="22">
                  <c:v>38028</c:v>
                </c:pt>
                <c:pt idx="23">
                  <c:v>38029</c:v>
                </c:pt>
                <c:pt idx="24">
                  <c:v>38030</c:v>
                </c:pt>
                <c:pt idx="25">
                  <c:v>38033</c:v>
                </c:pt>
                <c:pt idx="26">
                  <c:v>38034</c:v>
                </c:pt>
                <c:pt idx="27">
                  <c:v>38035</c:v>
                </c:pt>
                <c:pt idx="28">
                  <c:v>38036</c:v>
                </c:pt>
                <c:pt idx="29">
                  <c:v>38037</c:v>
                </c:pt>
                <c:pt idx="30">
                  <c:v>38040</c:v>
                </c:pt>
                <c:pt idx="31">
                  <c:v>38041</c:v>
                </c:pt>
                <c:pt idx="32">
                  <c:v>38042</c:v>
                </c:pt>
                <c:pt idx="33">
                  <c:v>38043</c:v>
                </c:pt>
                <c:pt idx="34">
                  <c:v>38044</c:v>
                </c:pt>
                <c:pt idx="35">
                  <c:v>38047</c:v>
                </c:pt>
                <c:pt idx="36">
                  <c:v>38048</c:v>
                </c:pt>
                <c:pt idx="37">
                  <c:v>38049</c:v>
                </c:pt>
                <c:pt idx="38">
                  <c:v>38050</c:v>
                </c:pt>
                <c:pt idx="39">
                  <c:v>38051</c:v>
                </c:pt>
                <c:pt idx="40">
                  <c:v>38054</c:v>
                </c:pt>
                <c:pt idx="41">
                  <c:v>38055</c:v>
                </c:pt>
                <c:pt idx="42">
                  <c:v>38056</c:v>
                </c:pt>
                <c:pt idx="43">
                  <c:v>38057</c:v>
                </c:pt>
                <c:pt idx="44">
                  <c:v>38058</c:v>
                </c:pt>
                <c:pt idx="45">
                  <c:v>38061</c:v>
                </c:pt>
                <c:pt idx="46">
                  <c:v>38062</c:v>
                </c:pt>
                <c:pt idx="47">
                  <c:v>38063</c:v>
                </c:pt>
                <c:pt idx="48">
                  <c:v>38064</c:v>
                </c:pt>
                <c:pt idx="49">
                  <c:v>38065</c:v>
                </c:pt>
                <c:pt idx="50">
                  <c:v>38068</c:v>
                </c:pt>
                <c:pt idx="51">
                  <c:v>38069</c:v>
                </c:pt>
                <c:pt idx="52">
                  <c:v>38070</c:v>
                </c:pt>
                <c:pt idx="53">
                  <c:v>38071</c:v>
                </c:pt>
                <c:pt idx="54">
                  <c:v>38072</c:v>
                </c:pt>
                <c:pt idx="55">
                  <c:v>38075</c:v>
                </c:pt>
                <c:pt idx="56">
                  <c:v>38076</c:v>
                </c:pt>
                <c:pt idx="57">
                  <c:v>38077</c:v>
                </c:pt>
                <c:pt idx="58">
                  <c:v>38078</c:v>
                </c:pt>
                <c:pt idx="59">
                  <c:v>38079</c:v>
                </c:pt>
                <c:pt idx="60">
                  <c:v>38082</c:v>
                </c:pt>
                <c:pt idx="61">
                  <c:v>38083</c:v>
                </c:pt>
                <c:pt idx="62">
                  <c:v>38084</c:v>
                </c:pt>
                <c:pt idx="63">
                  <c:v>38085</c:v>
                </c:pt>
                <c:pt idx="64">
                  <c:v>38086</c:v>
                </c:pt>
                <c:pt idx="65">
                  <c:v>38089</c:v>
                </c:pt>
                <c:pt idx="66">
                  <c:v>38090</c:v>
                </c:pt>
                <c:pt idx="67">
                  <c:v>38091</c:v>
                </c:pt>
                <c:pt idx="68">
                  <c:v>38092</c:v>
                </c:pt>
                <c:pt idx="69">
                  <c:v>38093</c:v>
                </c:pt>
                <c:pt idx="70">
                  <c:v>38096</c:v>
                </c:pt>
                <c:pt idx="71">
                  <c:v>38097</c:v>
                </c:pt>
                <c:pt idx="72">
                  <c:v>38098</c:v>
                </c:pt>
                <c:pt idx="73">
                  <c:v>38099</c:v>
                </c:pt>
                <c:pt idx="74">
                  <c:v>38100</c:v>
                </c:pt>
                <c:pt idx="75">
                  <c:v>38103</c:v>
                </c:pt>
                <c:pt idx="76">
                  <c:v>38104</c:v>
                </c:pt>
                <c:pt idx="77">
                  <c:v>38105</c:v>
                </c:pt>
                <c:pt idx="78">
                  <c:v>38106</c:v>
                </c:pt>
                <c:pt idx="79">
                  <c:v>38107</c:v>
                </c:pt>
                <c:pt idx="80">
                  <c:v>38110</c:v>
                </c:pt>
                <c:pt idx="81">
                  <c:v>38111</c:v>
                </c:pt>
                <c:pt idx="82">
                  <c:v>38112</c:v>
                </c:pt>
                <c:pt idx="83">
                  <c:v>38113</c:v>
                </c:pt>
                <c:pt idx="84">
                  <c:v>38114</c:v>
                </c:pt>
                <c:pt idx="85">
                  <c:v>38117</c:v>
                </c:pt>
                <c:pt idx="86">
                  <c:v>38118</c:v>
                </c:pt>
                <c:pt idx="87">
                  <c:v>38119</c:v>
                </c:pt>
                <c:pt idx="88">
                  <c:v>38120</c:v>
                </c:pt>
                <c:pt idx="89">
                  <c:v>38121</c:v>
                </c:pt>
                <c:pt idx="90">
                  <c:v>38124</c:v>
                </c:pt>
                <c:pt idx="91">
                  <c:v>38125</c:v>
                </c:pt>
                <c:pt idx="92">
                  <c:v>38126</c:v>
                </c:pt>
                <c:pt idx="93">
                  <c:v>38127</c:v>
                </c:pt>
                <c:pt idx="94">
                  <c:v>38128</c:v>
                </c:pt>
                <c:pt idx="95">
                  <c:v>38131</c:v>
                </c:pt>
                <c:pt idx="96">
                  <c:v>38132</c:v>
                </c:pt>
                <c:pt idx="97">
                  <c:v>38133</c:v>
                </c:pt>
                <c:pt idx="98">
                  <c:v>38134</c:v>
                </c:pt>
                <c:pt idx="99">
                  <c:v>38135</c:v>
                </c:pt>
                <c:pt idx="100">
                  <c:v>38138</c:v>
                </c:pt>
                <c:pt idx="101">
                  <c:v>38139</c:v>
                </c:pt>
                <c:pt idx="102">
                  <c:v>38140</c:v>
                </c:pt>
                <c:pt idx="103">
                  <c:v>38141</c:v>
                </c:pt>
                <c:pt idx="104">
                  <c:v>38142</c:v>
                </c:pt>
                <c:pt idx="105">
                  <c:v>38145</c:v>
                </c:pt>
                <c:pt idx="106">
                  <c:v>38146</c:v>
                </c:pt>
                <c:pt idx="107">
                  <c:v>38147</c:v>
                </c:pt>
                <c:pt idx="108">
                  <c:v>38148</c:v>
                </c:pt>
                <c:pt idx="109">
                  <c:v>38149</c:v>
                </c:pt>
                <c:pt idx="110">
                  <c:v>38152</c:v>
                </c:pt>
                <c:pt idx="111">
                  <c:v>38153</c:v>
                </c:pt>
                <c:pt idx="112">
                  <c:v>38154</c:v>
                </c:pt>
                <c:pt idx="113">
                  <c:v>38155</c:v>
                </c:pt>
                <c:pt idx="114">
                  <c:v>38156</c:v>
                </c:pt>
                <c:pt idx="115">
                  <c:v>38159</c:v>
                </c:pt>
                <c:pt idx="116">
                  <c:v>38161</c:v>
                </c:pt>
                <c:pt idx="117">
                  <c:v>38162</c:v>
                </c:pt>
                <c:pt idx="118">
                  <c:v>38163</c:v>
                </c:pt>
                <c:pt idx="119">
                  <c:v>38166</c:v>
                </c:pt>
                <c:pt idx="120">
                  <c:v>38167</c:v>
                </c:pt>
                <c:pt idx="121">
                  <c:v>38168</c:v>
                </c:pt>
                <c:pt idx="122">
                  <c:v>38169</c:v>
                </c:pt>
                <c:pt idx="123">
                  <c:v>38170</c:v>
                </c:pt>
                <c:pt idx="124">
                  <c:v>38173</c:v>
                </c:pt>
                <c:pt idx="125">
                  <c:v>38174</c:v>
                </c:pt>
                <c:pt idx="126">
                  <c:v>38175</c:v>
                </c:pt>
                <c:pt idx="127">
                  <c:v>38176</c:v>
                </c:pt>
                <c:pt idx="128">
                  <c:v>38177</c:v>
                </c:pt>
                <c:pt idx="129">
                  <c:v>38180</c:v>
                </c:pt>
                <c:pt idx="130">
                  <c:v>38181</c:v>
                </c:pt>
                <c:pt idx="131">
                  <c:v>38182</c:v>
                </c:pt>
                <c:pt idx="132">
                  <c:v>38183</c:v>
                </c:pt>
                <c:pt idx="133">
                  <c:v>38184</c:v>
                </c:pt>
                <c:pt idx="134">
                  <c:v>38187</c:v>
                </c:pt>
                <c:pt idx="135">
                  <c:v>38188</c:v>
                </c:pt>
                <c:pt idx="136">
                  <c:v>38189</c:v>
                </c:pt>
                <c:pt idx="137">
                  <c:v>38190</c:v>
                </c:pt>
                <c:pt idx="138">
                  <c:v>38191</c:v>
                </c:pt>
                <c:pt idx="139">
                  <c:v>38194</c:v>
                </c:pt>
                <c:pt idx="140">
                  <c:v>38195</c:v>
                </c:pt>
                <c:pt idx="141">
                  <c:v>38196</c:v>
                </c:pt>
                <c:pt idx="142">
                  <c:v>38197</c:v>
                </c:pt>
                <c:pt idx="143">
                  <c:v>38198</c:v>
                </c:pt>
                <c:pt idx="144">
                  <c:v>38201</c:v>
                </c:pt>
                <c:pt idx="145">
                  <c:v>38202</c:v>
                </c:pt>
                <c:pt idx="146">
                  <c:v>38203</c:v>
                </c:pt>
                <c:pt idx="147">
                  <c:v>38204</c:v>
                </c:pt>
                <c:pt idx="148">
                  <c:v>38205</c:v>
                </c:pt>
                <c:pt idx="149">
                  <c:v>38208</c:v>
                </c:pt>
                <c:pt idx="150">
                  <c:v>38209</c:v>
                </c:pt>
                <c:pt idx="151">
                  <c:v>38210</c:v>
                </c:pt>
                <c:pt idx="152">
                  <c:v>38211</c:v>
                </c:pt>
                <c:pt idx="153">
                  <c:v>38212</c:v>
                </c:pt>
                <c:pt idx="154">
                  <c:v>38215</c:v>
                </c:pt>
                <c:pt idx="155">
                  <c:v>38216</c:v>
                </c:pt>
                <c:pt idx="156">
                  <c:v>38217</c:v>
                </c:pt>
                <c:pt idx="157">
                  <c:v>38218</c:v>
                </c:pt>
                <c:pt idx="158">
                  <c:v>38219</c:v>
                </c:pt>
                <c:pt idx="159">
                  <c:v>38222</c:v>
                </c:pt>
                <c:pt idx="160">
                  <c:v>38225</c:v>
                </c:pt>
                <c:pt idx="161">
                  <c:v>38226</c:v>
                </c:pt>
                <c:pt idx="162">
                  <c:v>38229</c:v>
                </c:pt>
                <c:pt idx="163">
                  <c:v>38230</c:v>
                </c:pt>
                <c:pt idx="164">
                  <c:v>38231</c:v>
                </c:pt>
                <c:pt idx="165">
                  <c:v>38232</c:v>
                </c:pt>
                <c:pt idx="166">
                  <c:v>38233</c:v>
                </c:pt>
                <c:pt idx="167">
                  <c:v>38236</c:v>
                </c:pt>
                <c:pt idx="168">
                  <c:v>38237</c:v>
                </c:pt>
                <c:pt idx="169">
                  <c:v>38238</c:v>
                </c:pt>
                <c:pt idx="170">
                  <c:v>38239</c:v>
                </c:pt>
                <c:pt idx="171">
                  <c:v>38240</c:v>
                </c:pt>
                <c:pt idx="172">
                  <c:v>38243</c:v>
                </c:pt>
                <c:pt idx="173">
                  <c:v>38244</c:v>
                </c:pt>
                <c:pt idx="174">
                  <c:v>38245</c:v>
                </c:pt>
                <c:pt idx="175">
                  <c:v>38246</c:v>
                </c:pt>
                <c:pt idx="176">
                  <c:v>38247</c:v>
                </c:pt>
                <c:pt idx="177">
                  <c:v>38250</c:v>
                </c:pt>
                <c:pt idx="178">
                  <c:v>38251</c:v>
                </c:pt>
                <c:pt idx="179">
                  <c:v>38252</c:v>
                </c:pt>
                <c:pt idx="180">
                  <c:v>38253</c:v>
                </c:pt>
                <c:pt idx="181">
                  <c:v>38254</c:v>
                </c:pt>
                <c:pt idx="182">
                  <c:v>38257</c:v>
                </c:pt>
                <c:pt idx="183">
                  <c:v>38259</c:v>
                </c:pt>
                <c:pt idx="184">
                  <c:v>38260</c:v>
                </c:pt>
                <c:pt idx="185">
                  <c:v>38261</c:v>
                </c:pt>
                <c:pt idx="186">
                  <c:v>38264</c:v>
                </c:pt>
                <c:pt idx="187">
                  <c:v>38265</c:v>
                </c:pt>
                <c:pt idx="188">
                  <c:v>38266</c:v>
                </c:pt>
                <c:pt idx="189">
                  <c:v>38267</c:v>
                </c:pt>
                <c:pt idx="190">
                  <c:v>38268</c:v>
                </c:pt>
                <c:pt idx="191">
                  <c:v>38271</c:v>
                </c:pt>
                <c:pt idx="192">
                  <c:v>38272</c:v>
                </c:pt>
                <c:pt idx="193">
                  <c:v>38273</c:v>
                </c:pt>
                <c:pt idx="194">
                  <c:v>38274</c:v>
                </c:pt>
                <c:pt idx="195">
                  <c:v>38275</c:v>
                </c:pt>
                <c:pt idx="196">
                  <c:v>38278</c:v>
                </c:pt>
                <c:pt idx="197">
                  <c:v>38279</c:v>
                </c:pt>
                <c:pt idx="198">
                  <c:v>38280</c:v>
                </c:pt>
                <c:pt idx="199">
                  <c:v>38281</c:v>
                </c:pt>
                <c:pt idx="200">
                  <c:v>38282</c:v>
                </c:pt>
                <c:pt idx="201">
                  <c:v>38286</c:v>
                </c:pt>
                <c:pt idx="202">
                  <c:v>38287</c:v>
                </c:pt>
                <c:pt idx="203">
                  <c:v>38288</c:v>
                </c:pt>
                <c:pt idx="204">
                  <c:v>38289</c:v>
                </c:pt>
                <c:pt idx="205">
                  <c:v>38292</c:v>
                </c:pt>
                <c:pt idx="206">
                  <c:v>38293</c:v>
                </c:pt>
                <c:pt idx="207">
                  <c:v>38294</c:v>
                </c:pt>
                <c:pt idx="208">
                  <c:v>38295</c:v>
                </c:pt>
                <c:pt idx="209">
                  <c:v>38296</c:v>
                </c:pt>
                <c:pt idx="210">
                  <c:v>38299</c:v>
                </c:pt>
                <c:pt idx="211">
                  <c:v>38300</c:v>
                </c:pt>
                <c:pt idx="212">
                  <c:v>38301</c:v>
                </c:pt>
                <c:pt idx="213">
                  <c:v>38302</c:v>
                </c:pt>
                <c:pt idx="214">
                  <c:v>38303</c:v>
                </c:pt>
                <c:pt idx="215">
                  <c:v>38306</c:v>
                </c:pt>
                <c:pt idx="216">
                  <c:v>38307</c:v>
                </c:pt>
                <c:pt idx="217">
                  <c:v>38308</c:v>
                </c:pt>
                <c:pt idx="218">
                  <c:v>38309</c:v>
                </c:pt>
                <c:pt idx="219">
                  <c:v>38310</c:v>
                </c:pt>
                <c:pt idx="220">
                  <c:v>38313</c:v>
                </c:pt>
                <c:pt idx="221">
                  <c:v>38314</c:v>
                </c:pt>
                <c:pt idx="222">
                  <c:v>38315</c:v>
                </c:pt>
                <c:pt idx="223">
                  <c:v>38316</c:v>
                </c:pt>
                <c:pt idx="224">
                  <c:v>38317</c:v>
                </c:pt>
                <c:pt idx="225">
                  <c:v>38320</c:v>
                </c:pt>
                <c:pt idx="226">
                  <c:v>38321</c:v>
                </c:pt>
                <c:pt idx="227">
                  <c:v>38322</c:v>
                </c:pt>
                <c:pt idx="228">
                  <c:v>38323</c:v>
                </c:pt>
                <c:pt idx="229">
                  <c:v>38324</c:v>
                </c:pt>
                <c:pt idx="230">
                  <c:v>38327</c:v>
                </c:pt>
                <c:pt idx="231">
                  <c:v>38328</c:v>
                </c:pt>
                <c:pt idx="232">
                  <c:v>38329</c:v>
                </c:pt>
                <c:pt idx="233">
                  <c:v>38330</c:v>
                </c:pt>
                <c:pt idx="234">
                  <c:v>38331</c:v>
                </c:pt>
                <c:pt idx="235">
                  <c:v>38334</c:v>
                </c:pt>
                <c:pt idx="236">
                  <c:v>38335</c:v>
                </c:pt>
                <c:pt idx="237">
                  <c:v>38336</c:v>
                </c:pt>
                <c:pt idx="238">
                  <c:v>38337</c:v>
                </c:pt>
                <c:pt idx="239">
                  <c:v>38338</c:v>
                </c:pt>
                <c:pt idx="240">
                  <c:v>38341</c:v>
                </c:pt>
                <c:pt idx="241">
                  <c:v>38342</c:v>
                </c:pt>
                <c:pt idx="242">
                  <c:v>38343</c:v>
                </c:pt>
                <c:pt idx="243">
                  <c:v>38344</c:v>
                </c:pt>
                <c:pt idx="244">
                  <c:v>38345</c:v>
                </c:pt>
                <c:pt idx="245">
                  <c:v>38348</c:v>
                </c:pt>
                <c:pt idx="246">
                  <c:v>38349</c:v>
                </c:pt>
                <c:pt idx="247">
                  <c:v>38350</c:v>
                </c:pt>
                <c:pt idx="248">
                  <c:v>38351</c:v>
                </c:pt>
                <c:pt idx="249">
                  <c:v>38352</c:v>
                </c:pt>
              </c:numCache>
            </c:numRef>
          </c:cat>
          <c:val>
            <c:numRef>
              <c:f>Sheet1!$C$2:$C$251</c:f>
              <c:numCache>
                <c:formatCode>General</c:formatCode>
                <c:ptCount val="250"/>
                <c:pt idx="0">
                  <c:v>6041.56</c:v>
                </c:pt>
                <c:pt idx="1">
                  <c:v>6125.42</c:v>
                </c:pt>
                <c:pt idx="2">
                  <c:v>6144.01</c:v>
                </c:pt>
                <c:pt idx="3">
                  <c:v>6141.25</c:v>
                </c:pt>
                <c:pt idx="4">
                  <c:v>6169.17</c:v>
                </c:pt>
                <c:pt idx="5">
                  <c:v>6226.98</c:v>
                </c:pt>
                <c:pt idx="6">
                  <c:v>6219.71</c:v>
                </c:pt>
                <c:pt idx="7">
                  <c:v>6210.22</c:v>
                </c:pt>
                <c:pt idx="8">
                  <c:v>6274.9699999999993</c:v>
                </c:pt>
                <c:pt idx="9">
                  <c:v>6264.37</c:v>
                </c:pt>
                <c:pt idx="10">
                  <c:v>6269.71</c:v>
                </c:pt>
                <c:pt idx="11">
                  <c:v>6384.63</c:v>
                </c:pt>
                <c:pt idx="12">
                  <c:v>6386.25</c:v>
                </c:pt>
                <c:pt idx="13">
                  <c:v>6312.6500000000005</c:v>
                </c:pt>
                <c:pt idx="14">
                  <c:v>6375.38</c:v>
                </c:pt>
                <c:pt idx="15">
                  <c:v>6319.96</c:v>
                </c:pt>
                <c:pt idx="16">
                  <c:v>6252.23</c:v>
                </c:pt>
                <c:pt idx="17">
                  <c:v>6241.39</c:v>
                </c:pt>
                <c:pt idx="18">
                  <c:v>6268.14</c:v>
                </c:pt>
                <c:pt idx="19">
                  <c:v>6353.35</c:v>
                </c:pt>
                <c:pt idx="20">
                  <c:v>6463.09</c:v>
                </c:pt>
                <c:pt idx="21">
                  <c:v>6488.34</c:v>
                </c:pt>
                <c:pt idx="22">
                  <c:v>6454.39</c:v>
                </c:pt>
                <c:pt idx="23">
                  <c:v>6436.95</c:v>
                </c:pt>
                <c:pt idx="24">
                  <c:v>6549.18</c:v>
                </c:pt>
                <c:pt idx="25">
                  <c:v>6565.37</c:v>
                </c:pt>
                <c:pt idx="26">
                  <c:v>6600.4699999999993</c:v>
                </c:pt>
                <c:pt idx="27">
                  <c:v>6605.85</c:v>
                </c:pt>
                <c:pt idx="28">
                  <c:v>6681.52</c:v>
                </c:pt>
                <c:pt idx="29">
                  <c:v>6665.54</c:v>
                </c:pt>
                <c:pt idx="30">
                  <c:v>6665.89</c:v>
                </c:pt>
                <c:pt idx="31">
                  <c:v>6589.23</c:v>
                </c:pt>
                <c:pt idx="32">
                  <c:v>6644.28</c:v>
                </c:pt>
                <c:pt idx="33">
                  <c:v>6693.25</c:v>
                </c:pt>
                <c:pt idx="34">
                  <c:v>6750.54</c:v>
                </c:pt>
                <c:pt idx="35">
                  <c:v>6888.4299999999994</c:v>
                </c:pt>
                <c:pt idx="36">
                  <c:v>6975.26</c:v>
                </c:pt>
                <c:pt idx="37">
                  <c:v>6932.17</c:v>
                </c:pt>
                <c:pt idx="38">
                  <c:v>7034.1</c:v>
                </c:pt>
                <c:pt idx="39">
                  <c:v>6943.68</c:v>
                </c:pt>
                <c:pt idx="40">
                  <c:v>6901.48</c:v>
                </c:pt>
                <c:pt idx="41">
                  <c:v>6973.9</c:v>
                </c:pt>
                <c:pt idx="42">
                  <c:v>6874.91</c:v>
                </c:pt>
                <c:pt idx="43">
                  <c:v>6879.1100000000006</c:v>
                </c:pt>
                <c:pt idx="44">
                  <c:v>6800.24</c:v>
                </c:pt>
                <c:pt idx="45">
                  <c:v>6635.98</c:v>
                </c:pt>
                <c:pt idx="46">
                  <c:v>6589.72</c:v>
                </c:pt>
                <c:pt idx="47">
                  <c:v>6577.98</c:v>
                </c:pt>
                <c:pt idx="48">
                  <c:v>6787.03</c:v>
                </c:pt>
                <c:pt idx="49">
                  <c:v>6815.09</c:v>
                </c:pt>
                <c:pt idx="50">
                  <c:v>6359.92</c:v>
                </c:pt>
                <c:pt idx="51">
                  <c:v>6172.89</c:v>
                </c:pt>
                <c:pt idx="52">
                  <c:v>6213.56</c:v>
                </c:pt>
                <c:pt idx="53">
                  <c:v>6156.73</c:v>
                </c:pt>
                <c:pt idx="54">
                  <c:v>6132.6200000000008</c:v>
                </c:pt>
                <c:pt idx="55">
                  <c:v>6474.1100000000006</c:v>
                </c:pt>
                <c:pt idx="56">
                  <c:v>6494.71</c:v>
                </c:pt>
                <c:pt idx="57">
                  <c:v>6522.1900000000005</c:v>
                </c:pt>
                <c:pt idx="58">
                  <c:v>6523.49</c:v>
                </c:pt>
                <c:pt idx="59">
                  <c:v>6545.54</c:v>
                </c:pt>
                <c:pt idx="60">
                  <c:v>6682.73</c:v>
                </c:pt>
                <c:pt idx="61">
                  <c:v>6635.54</c:v>
                </c:pt>
                <c:pt idx="62">
                  <c:v>6646.74</c:v>
                </c:pt>
                <c:pt idx="63">
                  <c:v>6672.8600000000006</c:v>
                </c:pt>
                <c:pt idx="64">
                  <c:v>6620.3600000000006</c:v>
                </c:pt>
                <c:pt idx="65">
                  <c:v>6777.78</c:v>
                </c:pt>
                <c:pt idx="66">
                  <c:v>6794.33</c:v>
                </c:pt>
                <c:pt idx="67">
                  <c:v>6880.18</c:v>
                </c:pt>
                <c:pt idx="68">
                  <c:v>6736.79</c:v>
                </c:pt>
                <c:pt idx="69">
                  <c:v>6818.2</c:v>
                </c:pt>
                <c:pt idx="70">
                  <c:v>6779.18</c:v>
                </c:pt>
                <c:pt idx="71">
                  <c:v>6799.9699999999993</c:v>
                </c:pt>
                <c:pt idx="72">
                  <c:v>6810.25</c:v>
                </c:pt>
                <c:pt idx="73">
                  <c:v>6732.09</c:v>
                </c:pt>
                <c:pt idx="74">
                  <c:v>6748.1</c:v>
                </c:pt>
                <c:pt idx="75">
                  <c:v>6710.7</c:v>
                </c:pt>
                <c:pt idx="76">
                  <c:v>6646.8</c:v>
                </c:pt>
                <c:pt idx="77">
                  <c:v>6574.75</c:v>
                </c:pt>
                <c:pt idx="78">
                  <c:v>6402.21</c:v>
                </c:pt>
                <c:pt idx="79">
                  <c:v>6117.81</c:v>
                </c:pt>
                <c:pt idx="80">
                  <c:v>6029.7699999999995</c:v>
                </c:pt>
                <c:pt idx="81">
                  <c:v>6188.1500000000005</c:v>
                </c:pt>
                <c:pt idx="82">
                  <c:v>5854.23</c:v>
                </c:pt>
                <c:pt idx="83">
                  <c:v>5909.79</c:v>
                </c:pt>
                <c:pt idx="84">
                  <c:v>6040.26</c:v>
                </c:pt>
                <c:pt idx="85">
                  <c:v>5825.05</c:v>
                </c:pt>
                <c:pt idx="86">
                  <c:v>5886.3600000000006</c:v>
                </c:pt>
                <c:pt idx="87">
                  <c:v>5958.79</c:v>
                </c:pt>
                <c:pt idx="88">
                  <c:v>5918.09</c:v>
                </c:pt>
                <c:pt idx="89">
                  <c:v>5777.3200000000006</c:v>
                </c:pt>
                <c:pt idx="90">
                  <c:v>5482.96</c:v>
                </c:pt>
                <c:pt idx="91">
                  <c:v>5557.68</c:v>
                </c:pt>
                <c:pt idx="92">
                  <c:v>5860.58</c:v>
                </c:pt>
                <c:pt idx="93">
                  <c:v>5815.33</c:v>
                </c:pt>
                <c:pt idx="94">
                  <c:v>5964.94</c:v>
                </c:pt>
                <c:pt idx="95">
                  <c:v>5942.08</c:v>
                </c:pt>
                <c:pt idx="96">
                  <c:v>5958.38</c:v>
                </c:pt>
                <c:pt idx="97">
                  <c:v>6027.2699999999995</c:v>
                </c:pt>
                <c:pt idx="98">
                  <c:v>6033.05</c:v>
                </c:pt>
                <c:pt idx="99">
                  <c:v>6137.26</c:v>
                </c:pt>
                <c:pt idx="100">
                  <c:v>5977.84</c:v>
                </c:pt>
                <c:pt idx="101">
                  <c:v>5986.2</c:v>
                </c:pt>
                <c:pt idx="102">
                  <c:v>5875.67</c:v>
                </c:pt>
                <c:pt idx="103">
                  <c:v>5671.45</c:v>
                </c:pt>
                <c:pt idx="104">
                  <c:v>5724.89</c:v>
                </c:pt>
                <c:pt idx="105">
                  <c:v>5935.8200000000006</c:v>
                </c:pt>
                <c:pt idx="106">
                  <c:v>5986.76</c:v>
                </c:pt>
                <c:pt idx="107">
                  <c:v>5965.7</c:v>
                </c:pt>
                <c:pt idx="108">
                  <c:v>5867.51</c:v>
                </c:pt>
                <c:pt idx="109">
                  <c:v>5735.07</c:v>
                </c:pt>
                <c:pt idx="110">
                  <c:v>5574.08</c:v>
                </c:pt>
                <c:pt idx="111">
                  <c:v>5646.49</c:v>
                </c:pt>
                <c:pt idx="112">
                  <c:v>5560.1600000000008</c:v>
                </c:pt>
                <c:pt idx="113">
                  <c:v>5664.35</c:v>
                </c:pt>
                <c:pt idx="114">
                  <c:v>5569.29</c:v>
                </c:pt>
                <c:pt idx="115">
                  <c:v>5556.54</c:v>
                </c:pt>
                <c:pt idx="116">
                  <c:v>5729.3</c:v>
                </c:pt>
                <c:pt idx="117">
                  <c:v>5779.09</c:v>
                </c:pt>
                <c:pt idx="118">
                  <c:v>5802.55</c:v>
                </c:pt>
                <c:pt idx="119">
                  <c:v>5709.84</c:v>
                </c:pt>
                <c:pt idx="120">
                  <c:v>5741.52</c:v>
                </c:pt>
                <c:pt idx="121">
                  <c:v>5839.44</c:v>
                </c:pt>
                <c:pt idx="122">
                  <c:v>5836.91</c:v>
                </c:pt>
                <c:pt idx="123">
                  <c:v>5746.7</c:v>
                </c:pt>
                <c:pt idx="124">
                  <c:v>5659.78</c:v>
                </c:pt>
                <c:pt idx="125">
                  <c:v>5733.57</c:v>
                </c:pt>
                <c:pt idx="126">
                  <c:v>5727.78</c:v>
                </c:pt>
                <c:pt idx="127">
                  <c:v>5713.39</c:v>
                </c:pt>
                <c:pt idx="128">
                  <c:v>5777.72</c:v>
                </c:pt>
                <c:pt idx="129">
                  <c:v>5758.74</c:v>
                </c:pt>
                <c:pt idx="130">
                  <c:v>5685.57</c:v>
                </c:pt>
                <c:pt idx="131">
                  <c:v>5623.6500000000005</c:v>
                </c:pt>
                <c:pt idx="132">
                  <c:v>5542.8</c:v>
                </c:pt>
                <c:pt idx="133">
                  <c:v>5502.14</c:v>
                </c:pt>
                <c:pt idx="134">
                  <c:v>5489.1</c:v>
                </c:pt>
                <c:pt idx="135">
                  <c:v>5325.68</c:v>
                </c:pt>
                <c:pt idx="136">
                  <c:v>5409.13</c:v>
                </c:pt>
                <c:pt idx="137">
                  <c:v>5387.96</c:v>
                </c:pt>
                <c:pt idx="138">
                  <c:v>5373.85</c:v>
                </c:pt>
                <c:pt idx="139">
                  <c:v>5331.71</c:v>
                </c:pt>
                <c:pt idx="140">
                  <c:v>5398.6100000000006</c:v>
                </c:pt>
                <c:pt idx="141">
                  <c:v>5383.57</c:v>
                </c:pt>
                <c:pt idx="142">
                  <c:v>5349.6600000000008</c:v>
                </c:pt>
                <c:pt idx="143">
                  <c:v>5420.57</c:v>
                </c:pt>
                <c:pt idx="144">
                  <c:v>5350.4</c:v>
                </c:pt>
                <c:pt idx="145">
                  <c:v>5367.22</c:v>
                </c:pt>
                <c:pt idx="146">
                  <c:v>5316.87</c:v>
                </c:pt>
                <c:pt idx="147">
                  <c:v>5427.6100000000006</c:v>
                </c:pt>
                <c:pt idx="148">
                  <c:v>5399.1600000000008</c:v>
                </c:pt>
                <c:pt idx="149">
                  <c:v>5399.45</c:v>
                </c:pt>
                <c:pt idx="150">
                  <c:v>5393.73</c:v>
                </c:pt>
                <c:pt idx="151">
                  <c:v>5367.34</c:v>
                </c:pt>
                <c:pt idx="152">
                  <c:v>5368.02</c:v>
                </c:pt>
                <c:pt idx="153">
                  <c:v>5389.9299999999994</c:v>
                </c:pt>
                <c:pt idx="154">
                  <c:v>5352.01</c:v>
                </c:pt>
                <c:pt idx="155">
                  <c:v>5342.49</c:v>
                </c:pt>
                <c:pt idx="156">
                  <c:v>5427.75</c:v>
                </c:pt>
                <c:pt idx="157">
                  <c:v>5602.99</c:v>
                </c:pt>
                <c:pt idx="158">
                  <c:v>5622.8600000000006</c:v>
                </c:pt>
                <c:pt idx="159">
                  <c:v>5660.9699999999993</c:v>
                </c:pt>
                <c:pt idx="160">
                  <c:v>5813.39</c:v>
                </c:pt>
                <c:pt idx="161">
                  <c:v>5797.71</c:v>
                </c:pt>
                <c:pt idx="162">
                  <c:v>5788.94</c:v>
                </c:pt>
                <c:pt idx="163">
                  <c:v>5765.54</c:v>
                </c:pt>
                <c:pt idx="164">
                  <c:v>5858.14</c:v>
                </c:pt>
                <c:pt idx="165">
                  <c:v>5852.85</c:v>
                </c:pt>
                <c:pt idx="166">
                  <c:v>5761.14</c:v>
                </c:pt>
                <c:pt idx="167">
                  <c:v>5775.99</c:v>
                </c:pt>
                <c:pt idx="168">
                  <c:v>5846.83</c:v>
                </c:pt>
                <c:pt idx="169">
                  <c:v>5846.02</c:v>
                </c:pt>
                <c:pt idx="170">
                  <c:v>5842.9299999999994</c:v>
                </c:pt>
                <c:pt idx="171">
                  <c:v>5846.1900000000005</c:v>
                </c:pt>
                <c:pt idx="172">
                  <c:v>5928.22</c:v>
                </c:pt>
                <c:pt idx="173">
                  <c:v>5919.7699999999995</c:v>
                </c:pt>
                <c:pt idx="174">
                  <c:v>5871.07</c:v>
                </c:pt>
                <c:pt idx="175">
                  <c:v>5891.05</c:v>
                </c:pt>
                <c:pt idx="176">
                  <c:v>5818.39</c:v>
                </c:pt>
                <c:pt idx="177">
                  <c:v>5864.54</c:v>
                </c:pt>
                <c:pt idx="178">
                  <c:v>5949.26</c:v>
                </c:pt>
                <c:pt idx="179">
                  <c:v>5970.18</c:v>
                </c:pt>
                <c:pt idx="180">
                  <c:v>5937.25</c:v>
                </c:pt>
                <c:pt idx="181">
                  <c:v>5892.21</c:v>
                </c:pt>
                <c:pt idx="182">
                  <c:v>5849.22</c:v>
                </c:pt>
                <c:pt idx="183">
                  <c:v>5809.75</c:v>
                </c:pt>
                <c:pt idx="184">
                  <c:v>5845.6900000000005</c:v>
                </c:pt>
                <c:pt idx="185">
                  <c:v>5945.35</c:v>
                </c:pt>
                <c:pt idx="186">
                  <c:v>6077.96</c:v>
                </c:pt>
                <c:pt idx="187">
                  <c:v>6081.01</c:v>
                </c:pt>
                <c:pt idx="188">
                  <c:v>6060.6100000000006</c:v>
                </c:pt>
                <c:pt idx="189">
                  <c:v>6103</c:v>
                </c:pt>
                <c:pt idx="190">
                  <c:v>6102.1600000000008</c:v>
                </c:pt>
                <c:pt idx="191">
                  <c:v>6089.28</c:v>
                </c:pt>
                <c:pt idx="192">
                  <c:v>5979.56</c:v>
                </c:pt>
                <c:pt idx="193">
                  <c:v>5963.07</c:v>
                </c:pt>
                <c:pt idx="194">
                  <c:v>5831.07</c:v>
                </c:pt>
                <c:pt idx="195">
                  <c:v>5820.8200000000006</c:v>
                </c:pt>
                <c:pt idx="196">
                  <c:v>5772.1200000000008</c:v>
                </c:pt>
                <c:pt idx="197">
                  <c:v>5807.79</c:v>
                </c:pt>
                <c:pt idx="198">
                  <c:v>5788.34</c:v>
                </c:pt>
                <c:pt idx="199">
                  <c:v>5797.24</c:v>
                </c:pt>
                <c:pt idx="200">
                  <c:v>5774.67</c:v>
                </c:pt>
                <c:pt idx="201">
                  <c:v>5662.88</c:v>
                </c:pt>
                <c:pt idx="202">
                  <c:v>5650.9699999999993</c:v>
                </c:pt>
                <c:pt idx="203">
                  <c:v>5695.56</c:v>
                </c:pt>
                <c:pt idx="204">
                  <c:v>5705.9299999999994</c:v>
                </c:pt>
                <c:pt idx="205">
                  <c:v>5656.17</c:v>
                </c:pt>
                <c:pt idx="206">
                  <c:v>5759.6100000000006</c:v>
                </c:pt>
                <c:pt idx="207">
                  <c:v>5862.85</c:v>
                </c:pt>
                <c:pt idx="208">
                  <c:v>5860.73</c:v>
                </c:pt>
                <c:pt idx="209">
                  <c:v>5931.31</c:v>
                </c:pt>
                <c:pt idx="210">
                  <c:v>5937.46</c:v>
                </c:pt>
                <c:pt idx="211">
                  <c:v>5945.2</c:v>
                </c:pt>
                <c:pt idx="212">
                  <c:v>5948.49</c:v>
                </c:pt>
                <c:pt idx="213">
                  <c:v>5874.52</c:v>
                </c:pt>
                <c:pt idx="214">
                  <c:v>5917.1600000000008</c:v>
                </c:pt>
                <c:pt idx="215">
                  <c:v>5906.6900000000005</c:v>
                </c:pt>
                <c:pt idx="216">
                  <c:v>5910.85</c:v>
                </c:pt>
                <c:pt idx="217">
                  <c:v>6028.68</c:v>
                </c:pt>
                <c:pt idx="218">
                  <c:v>6049.49</c:v>
                </c:pt>
                <c:pt idx="219">
                  <c:v>6026.55</c:v>
                </c:pt>
                <c:pt idx="220">
                  <c:v>5838.42</c:v>
                </c:pt>
                <c:pt idx="221">
                  <c:v>5851.1</c:v>
                </c:pt>
                <c:pt idx="222">
                  <c:v>5911.31</c:v>
                </c:pt>
                <c:pt idx="223">
                  <c:v>5855.24</c:v>
                </c:pt>
                <c:pt idx="224">
                  <c:v>5778.6500000000005</c:v>
                </c:pt>
                <c:pt idx="225">
                  <c:v>5785.26</c:v>
                </c:pt>
                <c:pt idx="226">
                  <c:v>5844.76</c:v>
                </c:pt>
                <c:pt idx="227">
                  <c:v>5798.6200000000008</c:v>
                </c:pt>
                <c:pt idx="228">
                  <c:v>5867.95</c:v>
                </c:pt>
                <c:pt idx="229">
                  <c:v>5893.2699999999995</c:v>
                </c:pt>
                <c:pt idx="230">
                  <c:v>5919.17</c:v>
                </c:pt>
                <c:pt idx="231">
                  <c:v>5925.28</c:v>
                </c:pt>
                <c:pt idx="232">
                  <c:v>5892.51</c:v>
                </c:pt>
                <c:pt idx="233">
                  <c:v>5913.9699999999993</c:v>
                </c:pt>
                <c:pt idx="234">
                  <c:v>5911.63</c:v>
                </c:pt>
                <c:pt idx="235">
                  <c:v>5878.89</c:v>
                </c:pt>
                <c:pt idx="236">
                  <c:v>5909.6500000000005</c:v>
                </c:pt>
                <c:pt idx="237">
                  <c:v>6002.58</c:v>
                </c:pt>
                <c:pt idx="238">
                  <c:v>6019.23</c:v>
                </c:pt>
                <c:pt idx="239">
                  <c:v>6009.3200000000006</c:v>
                </c:pt>
                <c:pt idx="240">
                  <c:v>5985.94</c:v>
                </c:pt>
                <c:pt idx="241">
                  <c:v>5987.85</c:v>
                </c:pt>
                <c:pt idx="242">
                  <c:v>6001.52</c:v>
                </c:pt>
                <c:pt idx="243">
                  <c:v>5997.67</c:v>
                </c:pt>
                <c:pt idx="244">
                  <c:v>6019.42</c:v>
                </c:pt>
                <c:pt idx="245">
                  <c:v>5985.94</c:v>
                </c:pt>
                <c:pt idx="246">
                  <c:v>6000.57</c:v>
                </c:pt>
                <c:pt idx="247">
                  <c:v>6088.49</c:v>
                </c:pt>
                <c:pt idx="248">
                  <c:v>6100.8600000000006</c:v>
                </c:pt>
                <c:pt idx="249">
                  <c:v>6139.6900000000005</c:v>
                </c:pt>
              </c:numCache>
            </c:numRef>
          </c:val>
        </c:ser>
        <c:marker val="1"/>
        <c:axId val="34494336"/>
        <c:axId val="34495872"/>
      </c:lineChart>
      <c:dateAx>
        <c:axId val="34494336"/>
        <c:scaling>
          <c:orientation val="minMax"/>
        </c:scaling>
        <c:axPos val="b"/>
        <c:numFmt formatCode="yyyy/m/d" sourceLinked="1"/>
        <c:tickLblPos val="nextTo"/>
        <c:crossAx val="34495872"/>
        <c:crosses val="autoZero"/>
        <c:auto val="1"/>
        <c:lblOffset val="100"/>
      </c:dateAx>
      <c:valAx>
        <c:axId val="34495872"/>
        <c:scaling>
          <c:orientation val="minMax"/>
        </c:scaling>
        <c:axPos val="l"/>
        <c:majorGridlines/>
        <c:numFmt formatCode="General" sourceLinked="1"/>
        <c:tickLblPos val="nextTo"/>
        <c:crossAx val="34494336"/>
        <c:crosses val="autoZero"/>
        <c:crossBetween val="between"/>
      </c:valAx>
    </c:plotArea>
    <c:plotVisOnly val="1"/>
  </c:chart>
  <c:externalData r:id="rId1"/>
</c:chartSpace>
</file>

<file path=ppt/drawings/_rels/vmlDrawing1.vml.rels><?xml version="1.0" encoding="UTF-8" standalone="yes"?>
<Relationships xmlns="http://schemas.openxmlformats.org/package/2006/relationships"><Relationship Id="rId1" Type="http://schemas.openxmlformats.org/officeDocument/2006/relationships/image" Target="../media/image1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9057D77-54BF-478E-9A43-21BF1106AEF0}" type="datetimeFigureOut">
              <a:rPr lang="zh-TW" altLang="en-US" smtClean="0"/>
              <a:pPr/>
              <a:t>2011/3/15</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0AF4DC4-DE4F-43B2-9926-1BBCA0C78ACE}"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55CE97B1-9EDC-444D-ADDA-C22153A30E18}" type="datetime1">
              <a:rPr lang="zh-TW" altLang="en-US" smtClean="0"/>
              <a:pPr/>
              <a:t>2011/3/15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66EEDC6-4BD7-422D-BF05-58286CF9982B}"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9860D741-2A7B-41F9-A4D6-463A6ABAB864}" type="datetime1">
              <a:rPr lang="zh-TW" altLang="en-US" smtClean="0"/>
              <a:pPr/>
              <a:t>2011/3/15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66EEDC6-4BD7-422D-BF05-58286CF9982B}"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79328FDD-BF7E-42E8-954F-51C92CF38160}" type="datetime1">
              <a:rPr lang="zh-TW" altLang="en-US" smtClean="0"/>
              <a:pPr/>
              <a:t>2011/3/15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66EEDC6-4BD7-422D-BF05-58286CF9982B}"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D8582078-FA41-483C-B7A0-6813FB786ADB}" type="datetime1">
              <a:rPr lang="zh-TW" altLang="en-US" smtClean="0"/>
              <a:pPr/>
              <a:t>2011/3/15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66EEDC6-4BD7-422D-BF05-58286CF9982B}"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F18AACA2-00E6-4E26-88C2-32BBCB7A8991}" type="datetime1">
              <a:rPr lang="zh-TW" altLang="en-US" smtClean="0"/>
              <a:pPr/>
              <a:t>2011/3/15</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266EEDC6-4BD7-422D-BF05-58286CF9982B}"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AAEFF849-C1BD-485F-8AFE-861EC3F99B5B}" type="datetime1">
              <a:rPr lang="zh-TW" altLang="en-US" smtClean="0"/>
              <a:pPr/>
              <a:t>2011/3/15</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266EEDC6-4BD7-422D-BF05-58286CF9982B}"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44FD12F4-9BB9-4BFF-988F-C097642A7B49}" type="datetime1">
              <a:rPr lang="zh-TW" altLang="en-US" smtClean="0"/>
              <a:pPr/>
              <a:t>2011/3/15</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266EEDC6-4BD7-422D-BF05-58286CF9982B}"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7FB17B10-13E7-4BF6-A4E2-3F6078134413}" type="datetime1">
              <a:rPr lang="zh-TW" altLang="en-US" smtClean="0"/>
              <a:pPr/>
              <a:t>2011/3/15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66EEDC6-4BD7-422D-BF05-58286CF9982B}"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4ED370DB-3BB6-4DFE-8BC3-14418F5450E4}" type="datetime1">
              <a:rPr lang="zh-TW" altLang="en-US" smtClean="0"/>
              <a:pPr/>
              <a:t>2011/3/15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66EEDC6-4BD7-422D-BF05-58286CF9982B}"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58C4A19-832B-46A8-9222-50ECEF2B0A7E}" type="datetime1">
              <a:rPr lang="zh-TW" altLang="en-US" smtClean="0"/>
              <a:pPr/>
              <a:t>2011/3/15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66EEDC6-4BD7-422D-BF05-58286CF9982B}"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3CEECACA-B37D-457B-B181-9752339D433E}" type="datetime1">
              <a:rPr lang="zh-TW" altLang="en-US" smtClean="0"/>
              <a:pPr/>
              <a:t>2011/3/15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66EEDC6-4BD7-422D-BF05-58286CF9982B}" type="slidenum">
              <a:rPr lang="zh-TW" altLang="en-US" smtClean="0"/>
              <a:pPr/>
              <a:t>‹#›</a:t>
            </a:fld>
            <a:endParaRPr lang="zh-TW"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pic>
        <p:nvPicPr>
          <p:cNvPr id="9" name="Picture 8" descr="Fresh title.png"/>
          <p:cNvPicPr>
            <a:picLocks noChangeAspect="1"/>
          </p:cNvPicPr>
          <p:nvPr/>
        </p:nvPicPr>
        <p:blipFill>
          <a:blip r:embed="rId2" cstate="print"/>
          <a:srcRect b="39770"/>
          <a:stretch>
            <a:fillRect/>
          </a:stretch>
        </p:blipFill>
        <p:spPr>
          <a:xfrm>
            <a:off x="377" y="1566826"/>
            <a:ext cx="9143245" cy="2243174"/>
          </a:xfrm>
          <a:prstGeom prst="rect">
            <a:avLst/>
          </a:prstGeom>
        </p:spPr>
      </p:pic>
      <p:sp>
        <p:nvSpPr>
          <p:cNvPr id="2" name="Title 1"/>
          <p:cNvSpPr>
            <a:spLocks noGrp="1"/>
          </p:cNvSpPr>
          <p:nvPr>
            <p:ph type="ctrTitle"/>
          </p:nvPr>
        </p:nvSpPr>
        <p:spPr>
          <a:xfrm>
            <a:off x="685800" y="1134035"/>
            <a:ext cx="7772400" cy="1470025"/>
          </a:xfrm>
        </p:spPr>
        <p:txBody>
          <a:bodyPr anchor="b" anchorCtr="0">
            <a:noAutofit/>
          </a:bodyPr>
          <a:lstStyle>
            <a:lvl1pPr>
              <a:defRPr sz="6000"/>
            </a:lvl1pPr>
          </a:lstStyle>
          <a:p>
            <a:r>
              <a:rPr lang="zh-TW" altLang="en-US" smtClean="0"/>
              <a:t>按一下以編輯母片標題樣式</a:t>
            </a:r>
            <a:endParaRPr/>
          </a:p>
        </p:txBody>
      </p:sp>
      <p:sp>
        <p:nvSpPr>
          <p:cNvPr id="3" name="Subtitle 2"/>
          <p:cNvSpPr>
            <a:spLocks noGrp="1"/>
          </p:cNvSpPr>
          <p:nvPr>
            <p:ph type="subTitle" idx="1"/>
          </p:nvPr>
        </p:nvSpPr>
        <p:spPr>
          <a:xfrm>
            <a:off x="685800" y="4114800"/>
            <a:ext cx="5257800" cy="1371600"/>
          </a:xfrm>
        </p:spPr>
        <p:txBody>
          <a:bodyPr anchor="t" anchorCtr="0">
            <a:normAutofit/>
          </a:bodyPr>
          <a:lstStyle>
            <a:lvl1pPr marL="0" indent="0" algn="l">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a:p>
        </p:txBody>
      </p:sp>
      <p:sp>
        <p:nvSpPr>
          <p:cNvPr id="4" name="Date Placeholder 3"/>
          <p:cNvSpPr>
            <a:spLocks noGrp="1"/>
          </p:cNvSpPr>
          <p:nvPr>
            <p:ph type="dt" sz="half" idx="10"/>
          </p:nvPr>
        </p:nvSpPr>
        <p:spPr>
          <a:xfrm>
            <a:off x="6324600" y="6288741"/>
            <a:ext cx="1981200" cy="365125"/>
          </a:xfrm>
        </p:spPr>
        <p:txBody>
          <a:bodyPr/>
          <a:lstStyle>
            <a:lvl1pPr algn="r">
              <a:defRPr/>
            </a:lvl1pPr>
          </a:lstStyle>
          <a:p>
            <a:fld id="{578A70AC-CCE7-4434-8369-7BD24337B9E7}" type="datetime1">
              <a:rPr lang="zh-TW" altLang="en-US" smtClean="0"/>
              <a:pPr/>
              <a:t>2011/3/15</a:t>
            </a:fld>
            <a:endParaRPr/>
          </a:p>
        </p:txBody>
      </p:sp>
      <p:sp>
        <p:nvSpPr>
          <p:cNvPr id="5" name="Footer Placeholder 4"/>
          <p:cNvSpPr>
            <a:spLocks noGrp="1"/>
          </p:cNvSpPr>
          <p:nvPr>
            <p:ph type="ftr" sz="quarter" idx="11"/>
          </p:nvPr>
        </p:nvSpPr>
        <p:spPr>
          <a:xfrm>
            <a:off x="685800" y="6288741"/>
            <a:ext cx="2895600" cy="365125"/>
          </a:xfrm>
        </p:spPr>
        <p:txBody>
          <a:bodyPr/>
          <a:lstStyle>
            <a:lvl1pPr algn="l">
              <a:defRPr/>
            </a:lvl1pPr>
          </a:lstStyle>
          <a:p>
            <a:endParaRPr/>
          </a:p>
        </p:txBody>
      </p:sp>
      <p:sp>
        <p:nvSpPr>
          <p:cNvPr id="6" name="Slide Number Placeholder 5"/>
          <p:cNvSpPr>
            <a:spLocks noGrp="1"/>
          </p:cNvSpPr>
          <p:nvPr>
            <p:ph type="sldNum" sz="quarter" idx="12"/>
          </p:nvPr>
        </p:nvSpPr>
        <p:spPr>
          <a:xfrm>
            <a:off x="8382000" y="6288741"/>
            <a:ext cx="685800" cy="365125"/>
          </a:xfrm>
        </p:spPr>
        <p:txBody>
          <a:bodyPr/>
          <a:lstStyle>
            <a:lvl1pPr>
              <a:defRPr sz="1100" b="1" kern="1200">
                <a:solidFill>
                  <a:schemeClr val="tx1">
                    <a:tint val="75000"/>
                  </a:schemeClr>
                </a:solidFill>
                <a:latin typeface="+mn-lt"/>
                <a:ea typeface="+mn-ea"/>
                <a:cs typeface="+mn-cs"/>
              </a:defRPr>
            </a:lvl1pPr>
          </a:lstStyle>
          <a:p>
            <a:fld id="{DF28FB93-0A08-4E7D-8E63-9EFA29F1E093}" type="slidenum">
              <a:rPr/>
              <a:pPr/>
              <a:t>‹#›</a:t>
            </a:fld>
            <a:endParaRPr/>
          </a:p>
        </p:txBody>
      </p:sp>
      <p:pic>
        <p:nvPicPr>
          <p:cNvPr id="10" name="Picture 9" descr="Fresh title.png"/>
          <p:cNvPicPr>
            <a:picLocks noChangeAspect="1"/>
          </p:cNvPicPr>
          <p:nvPr/>
        </p:nvPicPr>
        <p:blipFill>
          <a:blip r:embed="rId3" cstate="print"/>
          <a:srcRect/>
          <a:stretch>
            <a:fillRect/>
          </a:stretch>
        </p:blipFill>
        <p:spPr>
          <a:xfrm>
            <a:off x="0" y="6598024"/>
            <a:ext cx="9143245" cy="259976"/>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a:p>
        </p:txBody>
      </p:sp>
      <p:sp>
        <p:nvSpPr>
          <p:cNvPr id="3" name="Content Placeholder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a:p>
        </p:txBody>
      </p:sp>
      <p:sp>
        <p:nvSpPr>
          <p:cNvPr id="4" name="Date Placeholder 3"/>
          <p:cNvSpPr>
            <a:spLocks noGrp="1"/>
          </p:cNvSpPr>
          <p:nvPr>
            <p:ph type="dt" sz="half" idx="10"/>
          </p:nvPr>
        </p:nvSpPr>
        <p:spPr/>
        <p:txBody>
          <a:bodyPr/>
          <a:lstStyle/>
          <a:p>
            <a:fld id="{930EB929-1464-4F8F-B515-39079A4E8E59}" type="datetime1">
              <a:rPr lang="zh-TW" altLang="en-US" smtClean="0"/>
              <a:pPr/>
              <a:t>2011/3/15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DF28FB93-0A08-4E7D-8E63-9EFA29F1E093}" type="slidenum">
              <a:rPr/>
              <a:pP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區段標題">
    <p:spTree>
      <p:nvGrpSpPr>
        <p:cNvPr id="1" name=""/>
        <p:cNvGrpSpPr/>
        <p:nvPr/>
      </p:nvGrpSpPr>
      <p:grpSpPr>
        <a:xfrm>
          <a:off x="0" y="0"/>
          <a:ext cx="0" cy="0"/>
          <a:chOff x="0" y="0"/>
          <a:chExt cx="0" cy="0"/>
        </a:xfrm>
      </p:grpSpPr>
      <p:pic>
        <p:nvPicPr>
          <p:cNvPr id="9" name="Picture 8" descr="Fresh section.png"/>
          <p:cNvPicPr>
            <a:picLocks noChangeAspect="1"/>
          </p:cNvPicPr>
          <p:nvPr/>
        </p:nvPicPr>
        <p:blipFill>
          <a:blip r:embed="rId2" cstate="print"/>
          <a:stretch>
            <a:fillRect/>
          </a:stretch>
        </p:blipFill>
        <p:spPr>
          <a:xfrm>
            <a:off x="755" y="3767583"/>
            <a:ext cx="9143245" cy="3090417"/>
          </a:xfrm>
          <a:prstGeom prst="rect">
            <a:avLst/>
          </a:prstGeom>
        </p:spPr>
      </p:pic>
      <p:sp>
        <p:nvSpPr>
          <p:cNvPr id="2" name="Title 1"/>
          <p:cNvSpPr>
            <a:spLocks noGrp="1"/>
          </p:cNvSpPr>
          <p:nvPr>
            <p:ph type="title"/>
          </p:nvPr>
        </p:nvSpPr>
        <p:spPr>
          <a:xfrm>
            <a:off x="672353" y="2819400"/>
            <a:ext cx="7772400" cy="1828800"/>
          </a:xfrm>
        </p:spPr>
        <p:txBody>
          <a:bodyPr vert="horz" lIns="91440" tIns="45720" rIns="91440" bIns="45720" rtlCol="0" anchor="b" anchorCtr="0">
            <a:noAutofit/>
          </a:bodyPr>
          <a:lstStyle>
            <a:lvl1pPr algn="l" defTabSz="914400" rtl="0" eaLnBrk="1" latinLnBrk="0" hangingPunct="1">
              <a:spcBef>
                <a:spcPct val="0"/>
              </a:spcBef>
              <a:buNone/>
              <a:defRPr sz="6000" b="1" kern="1200">
                <a:solidFill>
                  <a:schemeClr val="tx1">
                    <a:alpha val="90000"/>
                  </a:schemeClr>
                </a:solidFill>
                <a:effectLst>
                  <a:innerShdw blurRad="38100">
                    <a:schemeClr val="tx1">
                      <a:lumMod val="85000"/>
                    </a:schemeClr>
                  </a:innerShdw>
                </a:effectLst>
                <a:latin typeface="+mj-lt"/>
                <a:ea typeface="+mj-ea"/>
                <a:cs typeface="+mj-cs"/>
              </a:defRPr>
            </a:lvl1pPr>
          </a:lstStyle>
          <a:p>
            <a:r>
              <a:rPr lang="zh-TW" altLang="en-US" smtClean="0"/>
              <a:t>按一下以編輯母片標題樣式</a:t>
            </a:r>
            <a:endParaRPr/>
          </a:p>
        </p:txBody>
      </p:sp>
      <p:sp>
        <p:nvSpPr>
          <p:cNvPr id="3" name="Text Placeholder 2"/>
          <p:cNvSpPr>
            <a:spLocks noGrp="1"/>
          </p:cNvSpPr>
          <p:nvPr>
            <p:ph type="body" idx="1"/>
          </p:nvPr>
        </p:nvSpPr>
        <p:spPr>
          <a:xfrm>
            <a:off x="672353" y="5257800"/>
            <a:ext cx="7772400" cy="685800"/>
          </a:xfrm>
        </p:spPr>
        <p:txBody>
          <a:bodyPr vert="horz" lIns="91440" tIns="45720" rIns="91440" bIns="45720" rtlCol="0" anchor="t" anchorCtr="0">
            <a:normAutofit/>
          </a:bodyPr>
          <a:lstStyle>
            <a:lvl1pPr marL="0" indent="0" algn="l" defTabSz="914400" rtl="0" eaLnBrk="1" latinLnBrk="0" hangingPunct="1">
              <a:spcBef>
                <a:spcPts val="0"/>
              </a:spcBef>
              <a:buFont typeface="Wingdings" pitchFamily="2" charset="2"/>
              <a:buNone/>
              <a:defRPr sz="1600" b="0" kern="1200">
                <a:solidFill>
                  <a:schemeClr val="tx1"/>
                </a:solidFill>
                <a:effectLst/>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a:xfrm>
            <a:off x="672353" y="6553200"/>
            <a:ext cx="1981200" cy="231013"/>
          </a:xfrm>
        </p:spPr>
        <p:txBody>
          <a:bodyPr/>
          <a:lstStyle/>
          <a:p>
            <a:fld id="{5A3DB312-A02C-47E5-A19D-375B033CB901}" type="datetime1">
              <a:rPr lang="zh-TW" altLang="en-US" smtClean="0"/>
              <a:pPr/>
              <a:t>2011/3/15</a:t>
            </a:fld>
            <a:endParaRPr/>
          </a:p>
        </p:txBody>
      </p:sp>
      <p:sp>
        <p:nvSpPr>
          <p:cNvPr id="5" name="Footer Placeholder 4"/>
          <p:cNvSpPr>
            <a:spLocks noGrp="1"/>
          </p:cNvSpPr>
          <p:nvPr>
            <p:ph type="ftr" sz="quarter" idx="11"/>
          </p:nvPr>
        </p:nvSpPr>
        <p:spPr>
          <a:xfrm>
            <a:off x="3621024" y="6553200"/>
            <a:ext cx="2895600" cy="231013"/>
          </a:xfrm>
        </p:spPr>
        <p:txBody>
          <a:bodyPr/>
          <a:lstStyle>
            <a:lvl1pPr algn="ctr">
              <a:defRPr/>
            </a:lvl1pPr>
          </a:lstStyle>
          <a:p>
            <a:endParaRPr/>
          </a:p>
        </p:txBody>
      </p:sp>
      <p:sp>
        <p:nvSpPr>
          <p:cNvPr id="6" name="Slide Number Placeholder 5"/>
          <p:cNvSpPr>
            <a:spLocks noGrp="1"/>
          </p:cNvSpPr>
          <p:nvPr>
            <p:ph type="sldNum" sz="quarter" idx="12"/>
          </p:nvPr>
        </p:nvSpPr>
        <p:spPr>
          <a:xfrm>
            <a:off x="7758953" y="6553200"/>
            <a:ext cx="685800" cy="231013"/>
          </a:xfrm>
        </p:spPr>
        <p:txBody>
          <a:bodyPr/>
          <a:lstStyle/>
          <a:p>
            <a:fld id="{DF28FB93-0A08-4E7D-8E63-9EFA29F1E093}" type="slidenum">
              <a:rPr/>
              <a:pP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a:p>
        </p:txBody>
      </p:sp>
      <p:sp>
        <p:nvSpPr>
          <p:cNvPr id="3" name="Content Placeholder 2"/>
          <p:cNvSpPr>
            <a:spLocks noGrp="1"/>
          </p:cNvSpPr>
          <p:nvPr>
            <p:ph sz="half" idx="1"/>
          </p:nvPr>
        </p:nvSpPr>
        <p:spPr>
          <a:xfrm>
            <a:off x="963706" y="2070100"/>
            <a:ext cx="3429000" cy="3738563"/>
          </a:xfrm>
        </p:spPr>
        <p:txBody>
          <a:bodyPr>
            <a:normAutofit/>
          </a:bodyPr>
          <a:lstStyle>
            <a:lvl1pPr>
              <a:defRPr sz="16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a:p>
        </p:txBody>
      </p:sp>
      <p:sp>
        <p:nvSpPr>
          <p:cNvPr id="4" name="Content Placeholder 3"/>
          <p:cNvSpPr>
            <a:spLocks noGrp="1"/>
          </p:cNvSpPr>
          <p:nvPr>
            <p:ph sz="half" idx="2"/>
          </p:nvPr>
        </p:nvSpPr>
        <p:spPr>
          <a:xfrm>
            <a:off x="4760259" y="2070100"/>
            <a:ext cx="3429000" cy="3738563"/>
          </a:xfrm>
        </p:spPr>
        <p:txBody>
          <a:bodyPr>
            <a:normAutofit/>
          </a:bodyPr>
          <a:lstStyle>
            <a:lvl1pPr>
              <a:defRPr sz="16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a:p>
        </p:txBody>
      </p:sp>
      <p:sp>
        <p:nvSpPr>
          <p:cNvPr id="5" name="Date Placeholder 4"/>
          <p:cNvSpPr>
            <a:spLocks noGrp="1"/>
          </p:cNvSpPr>
          <p:nvPr>
            <p:ph type="dt" sz="half" idx="10"/>
          </p:nvPr>
        </p:nvSpPr>
        <p:spPr/>
        <p:txBody>
          <a:bodyPr/>
          <a:lstStyle/>
          <a:p>
            <a:fld id="{F1D192C7-6961-45DD-84F1-9743D6F77A04}" type="datetime1">
              <a:rPr lang="zh-TW" altLang="en-US" smtClean="0"/>
              <a:pPr/>
              <a:t>2011/3/15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DF28FB93-0A08-4E7D-8E63-9EFA29F1E093}" type="slidenum">
              <a:rPr/>
              <a:pP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11" name="Rectangle 10"/>
          <p:cNvSpPr/>
          <p:nvPr/>
        </p:nvSpPr>
        <p:spPr>
          <a:xfrm>
            <a:off x="4675094" y="1842247"/>
            <a:ext cx="3505200" cy="3962400"/>
          </a:xfrm>
          <a:prstGeom prst="rect">
            <a:avLst/>
          </a:prstGeom>
          <a:solidFill>
            <a:srgbClr val="FFFFFF">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Text Placeholder 4"/>
          <p:cNvSpPr>
            <a:spLocks noGrp="1"/>
          </p:cNvSpPr>
          <p:nvPr>
            <p:ph type="body" sz="quarter" idx="3"/>
          </p:nvPr>
        </p:nvSpPr>
        <p:spPr>
          <a:xfrm>
            <a:off x="4715435" y="1809750"/>
            <a:ext cx="3429000" cy="639762"/>
          </a:xfrm>
          <a:noFill/>
        </p:spPr>
        <p:txBody>
          <a:bodyPr vert="horz" lIns="91440" tIns="91440" rIns="91440" bIns="91440" rtlCol="0" anchor="ctr" anchorCtr="0">
            <a:noAutofit/>
          </a:bodyPr>
          <a:lstStyle>
            <a:lvl1pPr marL="0" indent="0" algn="l" defTabSz="914400" rtl="0" eaLnBrk="1" latinLnBrk="0" hangingPunct="1">
              <a:spcBef>
                <a:spcPct val="0"/>
              </a:spcBef>
              <a:buNone/>
              <a:defRPr sz="2200" b="1" kern="1200">
                <a:solidFill>
                  <a:schemeClr val="tx1">
                    <a:alpha val="90000"/>
                  </a:schemeClr>
                </a:solidFill>
                <a:effectLst>
                  <a:innerShdw blurRad="38100">
                    <a:schemeClr val="tx1">
                      <a:lumMod val="85000"/>
                    </a:schemeClr>
                  </a:innerShdw>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10" name="Rectangle 9"/>
          <p:cNvSpPr/>
          <p:nvPr/>
        </p:nvSpPr>
        <p:spPr>
          <a:xfrm>
            <a:off x="990600" y="1842247"/>
            <a:ext cx="3505200" cy="3962400"/>
          </a:xfrm>
          <a:prstGeom prst="rect">
            <a:avLst/>
          </a:prstGeom>
          <a:solidFill>
            <a:srgbClr val="FFFFFF">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lvl1pPr>
              <a:defRPr/>
            </a:lvl1pPr>
          </a:lstStyle>
          <a:p>
            <a:r>
              <a:rPr lang="zh-TW" altLang="en-US" smtClean="0"/>
              <a:t>按一下以編輯母片標題樣式</a:t>
            </a:r>
            <a:endParaRPr/>
          </a:p>
        </p:txBody>
      </p:sp>
      <p:sp>
        <p:nvSpPr>
          <p:cNvPr id="3" name="Text Placeholder 2"/>
          <p:cNvSpPr>
            <a:spLocks noGrp="1"/>
          </p:cNvSpPr>
          <p:nvPr>
            <p:ph type="body" idx="1"/>
          </p:nvPr>
        </p:nvSpPr>
        <p:spPr>
          <a:xfrm>
            <a:off x="1017494" y="1809750"/>
            <a:ext cx="3429000" cy="639762"/>
          </a:xfrm>
          <a:noFill/>
        </p:spPr>
        <p:txBody>
          <a:bodyPr vert="horz" lIns="91440" tIns="91440" rIns="91440" bIns="91440" rtlCol="0" anchor="ctr" anchorCtr="0">
            <a:noAutofit/>
          </a:bodyPr>
          <a:lstStyle>
            <a:lvl1pPr marL="0" indent="0" algn="l" defTabSz="914400" rtl="0" eaLnBrk="1" latinLnBrk="0" hangingPunct="1">
              <a:spcBef>
                <a:spcPct val="0"/>
              </a:spcBef>
              <a:buNone/>
              <a:defRPr sz="2200" b="1" kern="1200">
                <a:solidFill>
                  <a:schemeClr val="tx1">
                    <a:alpha val="90000"/>
                  </a:schemeClr>
                </a:solidFill>
                <a:effectLst>
                  <a:innerShdw blurRad="38100">
                    <a:schemeClr val="tx1">
                      <a:lumMod val="85000"/>
                    </a:schemeClr>
                  </a:innerShdw>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spcBef>
                <a:spcPct val="0"/>
              </a:spcBef>
              <a:buFont typeface="Wingdings" pitchFamily="2" charset="2"/>
              <a:buNone/>
            </a:pPr>
            <a:r>
              <a:rPr lang="zh-TW" altLang="en-US" smtClean="0"/>
              <a:t>按一下以編輯母片文字樣式</a:t>
            </a:r>
          </a:p>
        </p:txBody>
      </p:sp>
      <p:sp>
        <p:nvSpPr>
          <p:cNvPr id="4" name="Content Placeholder 3"/>
          <p:cNvSpPr>
            <a:spLocks noGrp="1"/>
          </p:cNvSpPr>
          <p:nvPr>
            <p:ph sz="half" idx="2"/>
          </p:nvPr>
        </p:nvSpPr>
        <p:spPr>
          <a:xfrm>
            <a:off x="1017494" y="2590800"/>
            <a:ext cx="3429000" cy="3217863"/>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a:p>
        </p:txBody>
      </p:sp>
      <p:sp>
        <p:nvSpPr>
          <p:cNvPr id="6" name="Content Placeholder 5"/>
          <p:cNvSpPr>
            <a:spLocks noGrp="1"/>
          </p:cNvSpPr>
          <p:nvPr>
            <p:ph sz="quarter" idx="4"/>
          </p:nvPr>
        </p:nvSpPr>
        <p:spPr>
          <a:xfrm>
            <a:off x="4715435" y="2590800"/>
            <a:ext cx="3429000" cy="3217863"/>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a:p>
        </p:txBody>
      </p:sp>
      <p:sp>
        <p:nvSpPr>
          <p:cNvPr id="7" name="Date Placeholder 6"/>
          <p:cNvSpPr>
            <a:spLocks noGrp="1"/>
          </p:cNvSpPr>
          <p:nvPr>
            <p:ph type="dt" sz="half" idx="10"/>
          </p:nvPr>
        </p:nvSpPr>
        <p:spPr/>
        <p:txBody>
          <a:bodyPr/>
          <a:lstStyle/>
          <a:p>
            <a:fld id="{94C53C84-FC48-4E0E-95EB-40F66DA78B61}" type="datetime1">
              <a:rPr lang="zh-TW" altLang="en-US" smtClean="0"/>
              <a:pPr/>
              <a:t>2011/3/15</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DF28FB93-0A08-4E7D-8E63-9EFA29F1E093}" type="slidenum">
              <a:rPr/>
              <a:pP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a:p>
        </p:txBody>
      </p:sp>
      <p:sp>
        <p:nvSpPr>
          <p:cNvPr id="3" name="Date Placeholder 2"/>
          <p:cNvSpPr>
            <a:spLocks noGrp="1"/>
          </p:cNvSpPr>
          <p:nvPr>
            <p:ph type="dt" sz="half" idx="10"/>
          </p:nvPr>
        </p:nvSpPr>
        <p:spPr/>
        <p:txBody>
          <a:bodyPr/>
          <a:lstStyle/>
          <a:p>
            <a:fld id="{A10CBDE1-B743-4DFD-8629-402D4B7F465E}" type="datetime1">
              <a:rPr lang="zh-TW" altLang="en-US" smtClean="0"/>
              <a:pPr/>
              <a:t>2011/3/15</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DF28FB93-0A08-4E7D-8E63-9EFA29F1E093}" type="slidenum">
              <a:rPr/>
              <a:pP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78967E-104D-4B1C-B1AE-D9D4EB0180F7}" type="datetime1">
              <a:rPr lang="zh-TW" altLang="en-US" smtClean="0"/>
              <a:pPr/>
              <a:t>2011/3/15</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DF28FB93-0A08-4E7D-8E63-9EFA29F1E093}" type="slidenum">
              <a:rPr/>
              <a:pPr/>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952500" y="4498848"/>
            <a:ext cx="7223760" cy="868680"/>
          </a:xfrm>
        </p:spPr>
        <p:txBody>
          <a:bodyPr vert="horz" lIns="91440" tIns="45720" rIns="91440" bIns="45720" rtlCol="0" anchor="b" anchorCtr="0">
            <a:noAutofit/>
          </a:bodyPr>
          <a:lstStyle>
            <a:lvl1pPr algn="l" defTabSz="914400" rtl="0" eaLnBrk="1" latinLnBrk="0" hangingPunct="1">
              <a:spcBef>
                <a:spcPct val="0"/>
              </a:spcBef>
              <a:buNone/>
              <a:defRPr sz="4400" b="1" kern="1200">
                <a:solidFill>
                  <a:schemeClr val="tx1">
                    <a:alpha val="90000"/>
                  </a:schemeClr>
                </a:solidFill>
                <a:effectLst>
                  <a:innerShdw blurRad="38100">
                    <a:schemeClr val="tx1">
                      <a:lumMod val="85000"/>
                    </a:schemeClr>
                  </a:innerShdw>
                </a:effectLst>
                <a:latin typeface="+mj-lt"/>
                <a:ea typeface="+mj-ea"/>
                <a:cs typeface="+mj-cs"/>
              </a:defRPr>
            </a:lvl1pPr>
          </a:lstStyle>
          <a:p>
            <a:r>
              <a:rPr lang="zh-TW" altLang="en-US" smtClean="0"/>
              <a:t>按一下以編輯母片標題樣式</a:t>
            </a:r>
            <a:endParaRPr/>
          </a:p>
        </p:txBody>
      </p:sp>
      <p:sp>
        <p:nvSpPr>
          <p:cNvPr id="3" name="Content Placeholder 2"/>
          <p:cNvSpPr>
            <a:spLocks noGrp="1"/>
          </p:cNvSpPr>
          <p:nvPr>
            <p:ph idx="1"/>
          </p:nvPr>
        </p:nvSpPr>
        <p:spPr>
          <a:xfrm>
            <a:off x="952500" y="1673352"/>
            <a:ext cx="7223760" cy="2587752"/>
          </a:xfrm>
        </p:spPr>
        <p:txBody>
          <a:bodyPr>
            <a:normAutofit/>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a:p>
        </p:txBody>
      </p:sp>
      <p:sp>
        <p:nvSpPr>
          <p:cNvPr id="4" name="Text Placeholder 3"/>
          <p:cNvSpPr>
            <a:spLocks noGrp="1"/>
          </p:cNvSpPr>
          <p:nvPr>
            <p:ph type="body" sz="half" idx="2"/>
          </p:nvPr>
        </p:nvSpPr>
        <p:spPr>
          <a:xfrm>
            <a:off x="952500" y="5367528"/>
            <a:ext cx="7223760" cy="804672"/>
          </a:xfrm>
        </p:spPr>
        <p:txBody>
          <a:bodyPr vert="horz" lIns="91440" tIns="45720" rIns="91440" bIns="45720" rtlCol="0">
            <a:normAutofit/>
          </a:bodyPr>
          <a:lstStyle>
            <a:lvl1pPr marL="0" indent="0">
              <a:buNone/>
              <a:defRPr sz="1600" b="0" kern="1200">
                <a:solidFill>
                  <a:schemeClr val="tx1"/>
                </a:solidFill>
                <a:effectLst/>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l" defTabSz="914400" rtl="0" eaLnBrk="1" latinLnBrk="0" hangingPunct="1">
              <a:spcBef>
                <a:spcPts val="1800"/>
              </a:spcBef>
              <a:buFont typeface="Wingdings" pitchFamily="2" charset="2"/>
              <a:buNone/>
            </a:pPr>
            <a:r>
              <a:rPr lang="zh-TW" altLang="en-US" smtClean="0"/>
              <a:t>按一下以編輯母片文字樣式</a:t>
            </a:r>
          </a:p>
        </p:txBody>
      </p:sp>
      <p:sp>
        <p:nvSpPr>
          <p:cNvPr id="5" name="Date Placeholder 4"/>
          <p:cNvSpPr>
            <a:spLocks noGrp="1"/>
          </p:cNvSpPr>
          <p:nvPr>
            <p:ph type="dt" sz="half" idx="10"/>
          </p:nvPr>
        </p:nvSpPr>
        <p:spPr>
          <a:xfrm>
            <a:off x="952500" y="6553200"/>
            <a:ext cx="1828800" cy="228600"/>
          </a:xfrm>
        </p:spPr>
        <p:txBody>
          <a:bodyPr/>
          <a:lstStyle/>
          <a:p>
            <a:fld id="{05919E39-12C7-4DDE-B432-C867F64D28EA}" type="datetime1">
              <a:rPr lang="zh-TW" altLang="en-US" smtClean="0"/>
              <a:pPr/>
              <a:t>2011/3/15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DF28FB93-0A08-4E7D-8E63-9EFA29F1E093}" type="slidenum">
              <a:rPr/>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952500" y="4495800"/>
            <a:ext cx="7219950" cy="871538"/>
          </a:xfrm>
        </p:spPr>
        <p:txBody>
          <a:bodyPr vert="horz" lIns="91440" tIns="45720" rIns="91440" bIns="45720" rtlCol="0" anchor="b" anchorCtr="0">
            <a:noAutofit/>
          </a:bodyPr>
          <a:lstStyle>
            <a:lvl1pPr algn="l" defTabSz="914400" rtl="0" eaLnBrk="1" latinLnBrk="0" hangingPunct="1">
              <a:spcBef>
                <a:spcPct val="0"/>
              </a:spcBef>
              <a:buNone/>
              <a:defRPr sz="4400" b="1" kern="1200">
                <a:solidFill>
                  <a:schemeClr val="tx1">
                    <a:alpha val="90000"/>
                  </a:schemeClr>
                </a:solidFill>
                <a:effectLst>
                  <a:innerShdw blurRad="38100">
                    <a:schemeClr val="tx1">
                      <a:lumMod val="85000"/>
                    </a:schemeClr>
                  </a:innerShdw>
                </a:effectLst>
                <a:latin typeface="+mj-lt"/>
                <a:ea typeface="+mj-ea"/>
                <a:cs typeface="+mj-cs"/>
              </a:defRPr>
            </a:lvl1pPr>
          </a:lstStyle>
          <a:p>
            <a:r>
              <a:rPr lang="zh-TW" altLang="en-US" smtClean="0"/>
              <a:t>按一下以編輯母片標題樣式</a:t>
            </a:r>
            <a:endParaRPr/>
          </a:p>
        </p:txBody>
      </p:sp>
      <p:sp>
        <p:nvSpPr>
          <p:cNvPr id="3" name="Picture Placeholder 2"/>
          <p:cNvSpPr>
            <a:spLocks noGrp="1"/>
          </p:cNvSpPr>
          <p:nvPr>
            <p:ph type="pic" idx="1"/>
          </p:nvPr>
        </p:nvSpPr>
        <p:spPr>
          <a:xfrm>
            <a:off x="952500" y="1676400"/>
            <a:ext cx="7219950" cy="2590800"/>
          </a:xfrm>
          <a:ln w="127000">
            <a:solidFill>
              <a:srgbClr val="FFFFFF">
                <a:alpha val="10000"/>
              </a:srgbClr>
            </a:solidFill>
            <a:miter lim="800000"/>
          </a:ln>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smtClean="0"/>
              <a:t>按一下圖示以新增圖片</a:t>
            </a:r>
            <a:endParaRPr/>
          </a:p>
        </p:txBody>
      </p:sp>
      <p:sp>
        <p:nvSpPr>
          <p:cNvPr id="4" name="Text Placeholder 3"/>
          <p:cNvSpPr>
            <a:spLocks noGrp="1"/>
          </p:cNvSpPr>
          <p:nvPr>
            <p:ph type="body" sz="half" idx="2"/>
          </p:nvPr>
        </p:nvSpPr>
        <p:spPr>
          <a:xfrm>
            <a:off x="952500" y="5367338"/>
            <a:ext cx="7223760" cy="804862"/>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Date Placeholder 4"/>
          <p:cNvSpPr>
            <a:spLocks noGrp="1"/>
          </p:cNvSpPr>
          <p:nvPr>
            <p:ph type="dt" sz="half" idx="10"/>
          </p:nvPr>
        </p:nvSpPr>
        <p:spPr>
          <a:xfrm>
            <a:off x="952500" y="6553200"/>
            <a:ext cx="1828800" cy="228600"/>
          </a:xfrm>
        </p:spPr>
        <p:txBody>
          <a:bodyPr/>
          <a:lstStyle/>
          <a:p>
            <a:fld id="{91F8F160-60A3-44A8-931D-CCEF7024783B}" type="datetime1">
              <a:rPr lang="zh-TW" altLang="en-US" smtClean="0"/>
              <a:pPr/>
              <a:t>2011/3/15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DF28FB93-0A08-4E7D-8E63-9EFA29F1E093}" type="slidenum">
              <a:rPr/>
              <a:pP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a:p>
        </p:txBody>
      </p:sp>
      <p:sp>
        <p:nvSpPr>
          <p:cNvPr id="3" name="Vertical Text Placeholder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a:p>
        </p:txBody>
      </p:sp>
      <p:sp>
        <p:nvSpPr>
          <p:cNvPr id="4" name="Date Placeholder 3"/>
          <p:cNvSpPr>
            <a:spLocks noGrp="1"/>
          </p:cNvSpPr>
          <p:nvPr>
            <p:ph type="dt" sz="half" idx="10"/>
          </p:nvPr>
        </p:nvSpPr>
        <p:spPr/>
        <p:txBody>
          <a:bodyPr/>
          <a:lstStyle/>
          <a:p>
            <a:fld id="{29A5537F-3108-4983-90F4-A79E9C07190B}" type="datetime1">
              <a:rPr lang="zh-TW" altLang="en-US" smtClean="0"/>
              <a:pPr/>
              <a:t>2011/3/15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DF28FB93-0A08-4E7D-8E63-9EFA29F1E093}" type="slidenum">
              <a:rPr/>
              <a:pPr/>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5600" y="1600200"/>
            <a:ext cx="1752600" cy="4525963"/>
          </a:xfrm>
        </p:spPr>
        <p:txBody>
          <a:bodyPr vert="eaVert"/>
          <a:lstStyle/>
          <a:p>
            <a:r>
              <a:rPr lang="zh-TW" altLang="en-US" smtClean="0"/>
              <a:t>按一下以編輯母片標題樣式</a:t>
            </a:r>
            <a:endParaRPr/>
          </a:p>
        </p:txBody>
      </p:sp>
      <p:sp>
        <p:nvSpPr>
          <p:cNvPr id="3" name="Vertical Text Placeholder 2"/>
          <p:cNvSpPr>
            <a:spLocks noGrp="1"/>
          </p:cNvSpPr>
          <p:nvPr>
            <p:ph type="body" orient="vert" idx="1"/>
          </p:nvPr>
        </p:nvSpPr>
        <p:spPr>
          <a:xfrm>
            <a:off x="990600" y="1600200"/>
            <a:ext cx="5257800" cy="4525963"/>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a:p>
        </p:txBody>
      </p:sp>
      <p:sp>
        <p:nvSpPr>
          <p:cNvPr id="4" name="Date Placeholder 3"/>
          <p:cNvSpPr>
            <a:spLocks noGrp="1"/>
          </p:cNvSpPr>
          <p:nvPr>
            <p:ph type="dt" sz="half" idx="10"/>
          </p:nvPr>
        </p:nvSpPr>
        <p:spPr/>
        <p:txBody>
          <a:bodyPr/>
          <a:lstStyle/>
          <a:p>
            <a:fld id="{C1F9955D-75C9-45CC-B5C2-58A351BC6553}" type="datetime1">
              <a:rPr lang="zh-TW" altLang="en-US" smtClean="0"/>
              <a:pPr/>
              <a:t>2011/3/15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DF28FB93-0A08-4E7D-8E63-9EFA29F1E093}"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80F6F9-AD07-485A-9E66-87ED45D282D5}" type="datetime1">
              <a:rPr lang="zh-TW" altLang="en-US" smtClean="0"/>
              <a:pPr/>
              <a:t>2011/3/15</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6EEDC6-4BD7-422D-BF05-58286CF9982B}"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pic>
        <p:nvPicPr>
          <p:cNvPr id="8" name="Picture 7" descr="Fresh Master.png"/>
          <p:cNvPicPr>
            <a:picLocks noChangeAspect="1"/>
          </p:cNvPicPr>
          <p:nvPr/>
        </p:nvPicPr>
        <p:blipFill>
          <a:blip r:embed="rId13" cstate="print"/>
          <a:stretch>
            <a:fillRect/>
          </a:stretch>
        </p:blipFill>
        <p:spPr>
          <a:xfrm>
            <a:off x="377" y="283"/>
            <a:ext cx="9143245" cy="6857434"/>
          </a:xfrm>
          <a:prstGeom prst="rect">
            <a:avLst/>
          </a:prstGeom>
        </p:spPr>
      </p:pic>
      <p:sp>
        <p:nvSpPr>
          <p:cNvPr id="2" name="Title Placeholder 1"/>
          <p:cNvSpPr>
            <a:spLocks noGrp="1"/>
          </p:cNvSpPr>
          <p:nvPr>
            <p:ph type="title"/>
          </p:nvPr>
        </p:nvSpPr>
        <p:spPr>
          <a:xfrm>
            <a:off x="672353" y="188259"/>
            <a:ext cx="7799294" cy="1461247"/>
          </a:xfrm>
          <a:prstGeom prst="rect">
            <a:avLst/>
          </a:prstGeom>
        </p:spPr>
        <p:txBody>
          <a:bodyPr vert="horz" lIns="91440" tIns="45720" rIns="91440" bIns="45720" rtlCol="0" anchor="b" anchorCtr="0">
            <a:noAutofit/>
          </a:bodyPr>
          <a:lstStyle/>
          <a:p>
            <a:r>
              <a:rPr lang="zh-TW" altLang="en-US" smtClean="0"/>
              <a:t>按一下以編輯母片標題樣式</a:t>
            </a:r>
            <a:endParaRPr/>
          </a:p>
        </p:txBody>
      </p:sp>
      <p:sp>
        <p:nvSpPr>
          <p:cNvPr id="3" name="Text Placeholder 2"/>
          <p:cNvSpPr>
            <a:spLocks noGrp="1"/>
          </p:cNvSpPr>
          <p:nvPr>
            <p:ph type="body" idx="1"/>
          </p:nvPr>
        </p:nvSpPr>
        <p:spPr>
          <a:xfrm>
            <a:off x="952500" y="2057401"/>
            <a:ext cx="7239000" cy="3733800"/>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a:p>
        </p:txBody>
      </p:sp>
      <p:sp>
        <p:nvSpPr>
          <p:cNvPr id="4" name="Date Placeholder 3"/>
          <p:cNvSpPr>
            <a:spLocks noGrp="1"/>
          </p:cNvSpPr>
          <p:nvPr>
            <p:ph type="dt" sz="half" idx="2"/>
          </p:nvPr>
        </p:nvSpPr>
        <p:spPr>
          <a:xfrm>
            <a:off x="952500" y="6553200"/>
            <a:ext cx="1828800" cy="228600"/>
          </a:xfrm>
          <a:prstGeom prst="rect">
            <a:avLst/>
          </a:prstGeom>
        </p:spPr>
        <p:txBody>
          <a:bodyPr vert="horz" lIns="91440" tIns="45720" rIns="91440" bIns="45720" rtlCol="0" anchor="ctr"/>
          <a:lstStyle>
            <a:lvl1pPr algn="l">
              <a:defRPr sz="1100" b="1">
                <a:solidFill>
                  <a:schemeClr val="tx1">
                    <a:tint val="75000"/>
                  </a:schemeClr>
                </a:solidFill>
              </a:defRPr>
            </a:lvl1pPr>
          </a:lstStyle>
          <a:p>
            <a:fld id="{C88B49DB-1B86-48E4-AE27-8506ACDBDF1A}" type="datetime1">
              <a:rPr lang="zh-TW" altLang="en-US" smtClean="0"/>
              <a:pPr/>
              <a:t>2011/3/15</a:t>
            </a:fld>
            <a:endParaRPr/>
          </a:p>
        </p:txBody>
      </p:sp>
      <p:sp>
        <p:nvSpPr>
          <p:cNvPr id="5" name="Footer Placeholder 4"/>
          <p:cNvSpPr>
            <a:spLocks noGrp="1"/>
          </p:cNvSpPr>
          <p:nvPr>
            <p:ph type="ftr" sz="quarter" idx="3"/>
          </p:nvPr>
        </p:nvSpPr>
        <p:spPr>
          <a:xfrm>
            <a:off x="3124200" y="6553200"/>
            <a:ext cx="2895600" cy="228600"/>
          </a:xfrm>
          <a:prstGeom prst="rect">
            <a:avLst/>
          </a:prstGeom>
        </p:spPr>
        <p:txBody>
          <a:bodyPr vert="horz" lIns="91440" tIns="45720" rIns="91440" bIns="45720" rtlCol="0" anchor="ctr"/>
          <a:lstStyle>
            <a:lvl1pPr algn="ctr">
              <a:defRPr sz="1100" b="1">
                <a:solidFill>
                  <a:schemeClr val="tx1">
                    <a:tint val="75000"/>
                  </a:schemeClr>
                </a:solidFill>
              </a:defRPr>
            </a:lvl1pPr>
          </a:lstStyle>
          <a:p>
            <a:endParaRPr/>
          </a:p>
        </p:txBody>
      </p:sp>
      <p:sp>
        <p:nvSpPr>
          <p:cNvPr id="6" name="Slide Number Placeholder 5"/>
          <p:cNvSpPr>
            <a:spLocks noGrp="1"/>
          </p:cNvSpPr>
          <p:nvPr>
            <p:ph type="sldNum" sz="quarter" idx="4"/>
          </p:nvPr>
        </p:nvSpPr>
        <p:spPr>
          <a:xfrm>
            <a:off x="7277100" y="6553200"/>
            <a:ext cx="914400" cy="228600"/>
          </a:xfrm>
          <a:prstGeom prst="rect">
            <a:avLst/>
          </a:prstGeom>
        </p:spPr>
        <p:txBody>
          <a:bodyPr vert="horz" lIns="91440" tIns="45720" rIns="91440" bIns="45720" rtlCol="0" anchor="ctr"/>
          <a:lstStyle>
            <a:lvl1pPr algn="r">
              <a:defRPr sz="1100" b="1">
                <a:solidFill>
                  <a:schemeClr val="tx1">
                    <a:tint val="75000"/>
                  </a:schemeClr>
                </a:solidFill>
              </a:defRPr>
            </a:lvl1pPr>
          </a:lstStyle>
          <a:p>
            <a:fld id="{DF28FB93-0A08-4E7D-8E63-9EFA29F1E093}" type="slidenum">
              <a:rPr/>
              <a:pPr/>
              <a:t>‹#›</a:t>
            </a:fld>
            <a:endParaRPr/>
          </a:p>
        </p:txBody>
      </p:sp>
    </p:spTree>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spcBef>
          <a:spcPct val="0"/>
        </a:spcBef>
        <a:buNone/>
        <a:defRPr sz="5400" b="1" kern="1200">
          <a:solidFill>
            <a:schemeClr val="tx1">
              <a:alpha val="90000"/>
            </a:schemeClr>
          </a:solidFill>
          <a:effectLst>
            <a:innerShdw blurRad="38100">
              <a:schemeClr val="tx1">
                <a:lumMod val="85000"/>
              </a:schemeClr>
            </a:innerShdw>
          </a:effectLst>
          <a:latin typeface="+mj-lt"/>
          <a:ea typeface="+mj-ea"/>
          <a:cs typeface="+mj-cs"/>
        </a:defRPr>
      </a:lvl1pPr>
    </p:titleStyle>
    <p:bodyStyle>
      <a:lvl1pPr marL="342900" indent="-342900" algn="l" defTabSz="914400" rtl="0" eaLnBrk="1" latinLnBrk="0" hangingPunct="1">
        <a:spcBef>
          <a:spcPts val="1800"/>
        </a:spcBef>
        <a:buFont typeface="Wingdings" pitchFamily="2" charset="2"/>
        <a:buChar char=""/>
        <a:defRPr sz="2000" b="0" kern="1200">
          <a:solidFill>
            <a:schemeClr val="tx1"/>
          </a:solidFill>
          <a:effectLst/>
          <a:latin typeface="+mn-lt"/>
          <a:ea typeface="+mn-ea"/>
          <a:cs typeface="+mn-cs"/>
        </a:defRPr>
      </a:lvl1pPr>
      <a:lvl2pPr marL="742950" indent="-285750" algn="l" defTabSz="914400" rtl="0" eaLnBrk="1" latinLnBrk="0" hangingPunct="1">
        <a:spcBef>
          <a:spcPts val="1800"/>
        </a:spcBef>
        <a:buFont typeface="Wingdings" pitchFamily="2" charset="2"/>
        <a:buChar char=""/>
        <a:defRPr sz="1800" b="0" kern="1200">
          <a:solidFill>
            <a:schemeClr val="tx1"/>
          </a:solidFill>
          <a:effectLst/>
          <a:latin typeface="+mn-lt"/>
          <a:ea typeface="+mn-ea"/>
          <a:cs typeface="+mn-cs"/>
        </a:defRPr>
      </a:lvl2pPr>
      <a:lvl3pPr marL="1143000" indent="-228600" algn="l" defTabSz="914400" rtl="0" eaLnBrk="1" latinLnBrk="0" hangingPunct="1">
        <a:spcBef>
          <a:spcPts val="1800"/>
        </a:spcBef>
        <a:buFont typeface="Wingdings" pitchFamily="2" charset="2"/>
        <a:buChar char=""/>
        <a:defRPr sz="1600" b="0" kern="1200">
          <a:solidFill>
            <a:schemeClr val="tx1"/>
          </a:solidFill>
          <a:effectLst/>
          <a:latin typeface="+mn-lt"/>
          <a:ea typeface="+mn-ea"/>
          <a:cs typeface="+mn-cs"/>
        </a:defRPr>
      </a:lvl3pPr>
      <a:lvl4pPr marL="1600200" indent="-228600" algn="l" defTabSz="914400" rtl="0" eaLnBrk="1" latinLnBrk="0" hangingPunct="1">
        <a:spcBef>
          <a:spcPts val="1800"/>
        </a:spcBef>
        <a:buFont typeface="Wingdings" pitchFamily="2" charset="2"/>
        <a:buChar char=""/>
        <a:defRPr sz="1600" b="0" kern="1200">
          <a:solidFill>
            <a:schemeClr val="tx1"/>
          </a:solidFill>
          <a:effectLst/>
          <a:latin typeface="+mn-lt"/>
          <a:ea typeface="+mn-ea"/>
          <a:cs typeface="+mn-cs"/>
        </a:defRPr>
      </a:lvl4pPr>
      <a:lvl5pPr marL="2057400" indent="-228600" algn="l" defTabSz="914400" rtl="0" eaLnBrk="1" latinLnBrk="0" hangingPunct="1">
        <a:spcBef>
          <a:spcPts val="1800"/>
        </a:spcBef>
        <a:buFont typeface="Wingdings" pitchFamily="2" charset="2"/>
        <a:buChar char="R"/>
        <a:defRPr sz="1600" b="0" kern="1200">
          <a:solidFill>
            <a:schemeClr val="tx1"/>
          </a:solidFill>
          <a:effectLst/>
          <a:latin typeface="+mn-lt"/>
          <a:ea typeface="+mn-ea"/>
          <a:cs typeface="+mn-cs"/>
        </a:defRPr>
      </a:lvl5pPr>
      <a:lvl6pPr marL="2514600" indent="-228600" algn="l" defTabSz="914400" rtl="0" eaLnBrk="1" latinLnBrk="0" hangingPunct="1">
        <a:spcBef>
          <a:spcPts val="1800"/>
        </a:spcBef>
        <a:buFont typeface="Wingdings" pitchFamily="2" charset="2"/>
        <a:buChar char="R"/>
        <a:defRPr sz="1600" kern="1200">
          <a:solidFill>
            <a:schemeClr val="tx1"/>
          </a:solidFill>
          <a:latin typeface="+mn-lt"/>
          <a:ea typeface="+mn-ea"/>
          <a:cs typeface="+mn-cs"/>
        </a:defRPr>
      </a:lvl6pPr>
      <a:lvl7pPr marL="2971800" indent="-228600" algn="l" defTabSz="914400" rtl="0" eaLnBrk="1" latinLnBrk="0" hangingPunct="1">
        <a:spcBef>
          <a:spcPts val="1800"/>
        </a:spcBef>
        <a:buFont typeface="Wingdings" pitchFamily="2" charset="2"/>
        <a:buChar char="R"/>
        <a:defRPr sz="1600" kern="1200">
          <a:solidFill>
            <a:schemeClr val="tx1"/>
          </a:solidFill>
          <a:latin typeface="+mn-lt"/>
          <a:ea typeface="+mn-ea"/>
          <a:cs typeface="+mn-cs"/>
        </a:defRPr>
      </a:lvl7pPr>
      <a:lvl8pPr marL="3429000" indent="-228600" algn="l" defTabSz="914400" rtl="0" eaLnBrk="1" latinLnBrk="0" hangingPunct="1">
        <a:spcBef>
          <a:spcPts val="1800"/>
        </a:spcBef>
        <a:buFont typeface="Wingdings" pitchFamily="2" charset="2"/>
        <a:buChar char="R"/>
        <a:defRPr sz="1600" kern="1200">
          <a:solidFill>
            <a:schemeClr val="tx1"/>
          </a:solidFill>
          <a:latin typeface="+mn-lt"/>
          <a:ea typeface="+mn-ea"/>
          <a:cs typeface="+mn-cs"/>
        </a:defRPr>
      </a:lvl8pPr>
      <a:lvl9pPr marL="3886200" indent="-228600" algn="l" defTabSz="914400" rtl="0" eaLnBrk="1" latinLnBrk="0" hangingPunct="1">
        <a:spcBef>
          <a:spcPts val="1800"/>
        </a:spcBef>
        <a:buFont typeface="Wingdings" pitchFamily="2" charset="2"/>
        <a:buChar char="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44.png"/><Relationship Id="rId1" Type="http://schemas.openxmlformats.org/officeDocument/2006/relationships/slideLayout" Target="../slideLayouts/slideLayout7.xml"/><Relationship Id="rId5" Type="http://schemas.openxmlformats.org/officeDocument/2006/relationships/chart" Target="../charts/chart3.xml"/><Relationship Id="rId4" Type="http://schemas.openxmlformats.org/officeDocument/2006/relationships/chart" Target="../charts/char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323528" y="692696"/>
            <a:ext cx="8496944" cy="1470025"/>
          </a:xfrm>
        </p:spPr>
        <p:txBody>
          <a:bodyPr>
            <a:normAutofit fontScale="90000"/>
          </a:bodyPr>
          <a:lstStyle/>
          <a:p>
            <a:r>
              <a:rPr lang="en-US" altLang="zh-TW" dirty="0" smtClean="0"/>
              <a:t>A hybrid model based on rough sets theory and genetic algorithms for stock price forecasting</a:t>
            </a:r>
            <a:endParaRPr lang="zh-TW" altLang="en-US" dirty="0"/>
          </a:p>
        </p:txBody>
      </p:sp>
      <p:sp>
        <p:nvSpPr>
          <p:cNvPr id="3" name="副標題 2"/>
          <p:cNvSpPr>
            <a:spLocks noGrp="1"/>
          </p:cNvSpPr>
          <p:nvPr>
            <p:ph type="subTitle" idx="1"/>
          </p:nvPr>
        </p:nvSpPr>
        <p:spPr>
          <a:xfrm>
            <a:off x="251520" y="2780928"/>
            <a:ext cx="8640960" cy="1296144"/>
          </a:xfrm>
        </p:spPr>
        <p:txBody>
          <a:bodyPr>
            <a:normAutofit/>
          </a:bodyPr>
          <a:lstStyle/>
          <a:p>
            <a:r>
              <a:rPr lang="en-US" altLang="zh-TW" sz="2600" dirty="0" err="1" smtClean="0">
                <a:solidFill>
                  <a:schemeClr val="tx1"/>
                </a:solidFill>
                <a:latin typeface="微軟正黑體" pitchFamily="34" charset="-120"/>
                <a:ea typeface="微軟正黑體" pitchFamily="34" charset="-120"/>
              </a:rPr>
              <a:t>Ching-Hsue</a:t>
            </a:r>
            <a:r>
              <a:rPr lang="en-US" altLang="zh-TW" sz="2600" dirty="0" smtClean="0">
                <a:solidFill>
                  <a:schemeClr val="tx1"/>
                </a:solidFill>
                <a:latin typeface="微軟正黑體" pitchFamily="34" charset="-120"/>
                <a:ea typeface="微軟正黑體" pitchFamily="34" charset="-120"/>
              </a:rPr>
              <a:t> Cheng(</a:t>
            </a:r>
            <a:r>
              <a:rPr lang="en-US" altLang="zh-TW" sz="2600" dirty="0" err="1" smtClean="0">
                <a:solidFill>
                  <a:schemeClr val="tx1"/>
                </a:solidFill>
                <a:latin typeface="微軟正黑體" pitchFamily="34" charset="-120"/>
                <a:ea typeface="微軟正黑體" pitchFamily="34" charset="-120"/>
              </a:rPr>
              <a:t>鄭景裕</a:t>
            </a:r>
            <a:r>
              <a:rPr lang="en-US" altLang="zh-TW" sz="2600" dirty="0" smtClean="0">
                <a:solidFill>
                  <a:schemeClr val="tx1"/>
                </a:solidFill>
                <a:latin typeface="微軟正黑體" pitchFamily="34" charset="-120"/>
                <a:ea typeface="微軟正黑體" pitchFamily="34" charset="-120"/>
              </a:rPr>
              <a:t>), Tai-Liang  Chen(</a:t>
            </a:r>
            <a:r>
              <a:rPr lang="en-US" altLang="zh-TW" sz="2600" dirty="0" err="1" smtClean="0">
                <a:solidFill>
                  <a:schemeClr val="tx1"/>
                </a:solidFill>
                <a:latin typeface="微軟正黑體" pitchFamily="34" charset="-120"/>
                <a:ea typeface="微軟正黑體" pitchFamily="34" charset="-120"/>
              </a:rPr>
              <a:t>陳泰良</a:t>
            </a:r>
            <a:r>
              <a:rPr lang="en-US" altLang="zh-TW" sz="2600" dirty="0" smtClean="0">
                <a:solidFill>
                  <a:schemeClr val="tx1"/>
                </a:solidFill>
                <a:latin typeface="微軟正黑體" pitchFamily="34" charset="-120"/>
                <a:ea typeface="微軟正黑體" pitchFamily="34" charset="-120"/>
              </a:rPr>
              <a:t>),</a:t>
            </a:r>
            <a:br>
              <a:rPr lang="en-US" altLang="zh-TW" sz="2600" dirty="0" smtClean="0">
                <a:solidFill>
                  <a:schemeClr val="tx1"/>
                </a:solidFill>
                <a:latin typeface="微軟正黑體" pitchFamily="34" charset="-120"/>
                <a:ea typeface="微軟正黑體" pitchFamily="34" charset="-120"/>
              </a:rPr>
            </a:br>
            <a:r>
              <a:rPr lang="en-US" altLang="zh-TW" sz="2600" dirty="0" smtClean="0">
                <a:solidFill>
                  <a:schemeClr val="tx1"/>
                </a:solidFill>
                <a:latin typeface="微軟正黑體" pitchFamily="34" charset="-120"/>
                <a:ea typeface="微軟正黑體" pitchFamily="34" charset="-120"/>
              </a:rPr>
              <a:t>Liang-Ying Wei (</a:t>
            </a:r>
            <a:r>
              <a:rPr lang="en-US" altLang="zh-TW" sz="2600" dirty="0" err="1" smtClean="0">
                <a:solidFill>
                  <a:schemeClr val="tx1"/>
                </a:solidFill>
                <a:latin typeface="微軟正黑體" pitchFamily="34" charset="-120"/>
                <a:ea typeface="微軟正黑體" pitchFamily="34" charset="-120"/>
              </a:rPr>
              <a:t>魏良穎</a:t>
            </a:r>
            <a:r>
              <a:rPr lang="en-US" altLang="zh-TW" sz="2600" dirty="0" smtClean="0">
                <a:solidFill>
                  <a:schemeClr val="tx1"/>
                </a:solidFill>
                <a:latin typeface="微軟正黑體" pitchFamily="34" charset="-120"/>
                <a:ea typeface="微軟正黑體" pitchFamily="34" charset="-120"/>
              </a:rPr>
              <a:t>)</a:t>
            </a:r>
          </a:p>
          <a:p>
            <a:endParaRPr lang="en-US" altLang="zh-TW" sz="2600" dirty="0" smtClean="0"/>
          </a:p>
          <a:p>
            <a:endParaRPr lang="en-US" altLang="zh-TW" sz="2600" dirty="0"/>
          </a:p>
          <a:p>
            <a:endParaRPr lang="zh-TW" altLang="en-US" sz="2600" dirty="0"/>
          </a:p>
        </p:txBody>
      </p:sp>
      <p:sp>
        <p:nvSpPr>
          <p:cNvPr id="4" name="文字方塊 3"/>
          <p:cNvSpPr txBox="1"/>
          <p:nvPr/>
        </p:nvSpPr>
        <p:spPr>
          <a:xfrm>
            <a:off x="5076056" y="5301208"/>
            <a:ext cx="3714776" cy="830997"/>
          </a:xfrm>
          <a:prstGeom prst="rect">
            <a:avLst/>
          </a:prstGeom>
          <a:noFill/>
        </p:spPr>
        <p:txBody>
          <a:bodyPr wrap="square" rtlCol="0">
            <a:spAutoFit/>
          </a:bodyPr>
          <a:lstStyle/>
          <a:p>
            <a:r>
              <a:rPr lang="en-US" altLang="zh-TW" sz="2400" dirty="0" smtClean="0"/>
              <a:t>Presenter: Hung-</a:t>
            </a:r>
            <a:r>
              <a:rPr lang="en-US" altLang="zh-TW" sz="2400" dirty="0" err="1" smtClean="0"/>
              <a:t>Hsin</a:t>
            </a:r>
            <a:r>
              <a:rPr lang="en-US" altLang="zh-TW" sz="2400" dirty="0" smtClean="0"/>
              <a:t> Chen</a:t>
            </a:r>
          </a:p>
          <a:p>
            <a:r>
              <a:rPr lang="en-US" altLang="zh-TW" sz="2400" dirty="0" smtClean="0"/>
              <a:t>Date: Mar. 15, 2011</a:t>
            </a:r>
            <a:endParaRPr lang="zh-TW" altLang="en-US" sz="2400" dirty="0"/>
          </a:p>
        </p:txBody>
      </p:sp>
      <p:sp>
        <p:nvSpPr>
          <p:cNvPr id="5" name="副標題 2"/>
          <p:cNvSpPr txBox="1">
            <a:spLocks/>
          </p:cNvSpPr>
          <p:nvPr/>
        </p:nvSpPr>
        <p:spPr>
          <a:xfrm>
            <a:off x="395536" y="4077072"/>
            <a:ext cx="8280920" cy="1296144"/>
          </a:xfrm>
          <a:prstGeom prst="rect">
            <a:avLst/>
          </a:prstGeom>
        </p:spPr>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altLang="zh-TW" sz="2800" b="0" i="0" u="none" strike="noStrike" kern="1200" cap="none" spc="0" normalizeH="0" baseline="0" noProof="0" dirty="0" smtClean="0">
                <a:ln>
                  <a:noFill/>
                </a:ln>
                <a:effectLst/>
                <a:uLnTx/>
                <a:uFillTx/>
                <a:latin typeface="+mn-lt"/>
                <a:ea typeface="+mn-ea"/>
                <a:cs typeface="+mn-cs"/>
              </a:rPr>
              <a:t>Information</a:t>
            </a:r>
            <a:r>
              <a:rPr lang="en-US" altLang="zh-TW" sz="2800" dirty="0" smtClean="0"/>
              <a:t> Sciences, vol. 180 (2010), pp. 1610-1629</a:t>
            </a:r>
            <a:endParaRPr kumimoji="0" lang="zh-TW" altLang="en-US" sz="2800" b="0" i="0" u="none" strike="noStrike" kern="1200" cap="none" spc="0" normalizeH="0" baseline="0" noProof="0" dirty="0" smtClean="0">
              <a:ln>
                <a:noFill/>
              </a:ln>
              <a:effectLst/>
              <a:uLnTx/>
              <a:uFillTx/>
              <a:latin typeface="+mn-lt"/>
              <a:ea typeface="+mn-ea"/>
              <a:cs typeface="+mn-cs"/>
            </a:endParaRPr>
          </a:p>
        </p:txBody>
      </p:sp>
      <p:sp>
        <p:nvSpPr>
          <p:cNvPr id="6" name="投影片編號版面配置區 5"/>
          <p:cNvSpPr>
            <a:spLocks noGrp="1"/>
          </p:cNvSpPr>
          <p:nvPr>
            <p:ph type="sldNum" sz="quarter" idx="12"/>
          </p:nvPr>
        </p:nvSpPr>
        <p:spPr/>
        <p:txBody>
          <a:bodyPr/>
          <a:lstStyle/>
          <a:p>
            <a:fld id="{266EEDC6-4BD7-422D-BF05-58286CF9982B}" type="slidenum">
              <a:rPr lang="zh-TW" altLang="en-US" smtClean="0"/>
              <a:pPr/>
              <a:t>1</a:t>
            </a:fld>
            <a:endParaRPr lang="zh-TW"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67544" y="0"/>
            <a:ext cx="8229600" cy="1143000"/>
          </a:xfrm>
        </p:spPr>
        <p:txBody>
          <a:bodyPr/>
          <a:lstStyle/>
          <a:p>
            <a:r>
              <a:rPr lang="en-US" altLang="zh-TW" dirty="0" smtClean="0"/>
              <a:t>Abstract (1/3)</a:t>
            </a:r>
            <a:endParaRPr lang="zh-TW" altLang="en-US" dirty="0"/>
          </a:p>
        </p:txBody>
      </p:sp>
      <p:sp>
        <p:nvSpPr>
          <p:cNvPr id="3" name="內容版面配置區 2"/>
          <p:cNvSpPr>
            <a:spLocks noGrp="1"/>
          </p:cNvSpPr>
          <p:nvPr>
            <p:ph idx="1"/>
          </p:nvPr>
        </p:nvSpPr>
        <p:spPr>
          <a:xfrm>
            <a:off x="251520" y="1124744"/>
            <a:ext cx="8640960" cy="5517232"/>
          </a:xfrm>
        </p:spPr>
        <p:txBody>
          <a:bodyPr>
            <a:noAutofit/>
          </a:bodyPr>
          <a:lstStyle/>
          <a:p>
            <a:pPr marL="0" algn="just">
              <a:buNone/>
            </a:pPr>
            <a:r>
              <a:rPr lang="en-US" altLang="zh-TW" sz="2400" dirty="0" smtClean="0"/>
              <a:t>In the stock market, technical analysis is a useful method for predicting stock prices. Although, professional stock analysts and fund managers usually make subjective judgments, based on objective technical indicators, it is difficult for non-professionals to apply this forecasting technique because there are too many complex technical indicators to be considered. Moreover, </a:t>
            </a:r>
            <a:r>
              <a:rPr lang="en-US" altLang="zh-TW" sz="2400" u="sng" dirty="0" smtClean="0"/>
              <a:t>two drawbacks</a:t>
            </a:r>
            <a:r>
              <a:rPr lang="en-US" altLang="zh-TW" sz="2400" dirty="0" smtClean="0"/>
              <a:t> have been found in many of the past forecasting models: (1) statistical assumptions about variables are required for time series models, such as the autoregressive moving average model (ARMA) and the autoregressive conditional </a:t>
            </a:r>
            <a:r>
              <a:rPr lang="en-US" altLang="zh-TW" sz="2400" dirty="0" err="1" smtClean="0"/>
              <a:t>heteroscedasticity</a:t>
            </a:r>
            <a:r>
              <a:rPr lang="en-US" altLang="zh-TW" sz="2400" dirty="0" smtClean="0"/>
              <a:t> (ARCH), to produce forecasting models of mathematical equations, and these are not easily understood by stock investors; and (2) the rules mined from some artificial intelligence (AI) algorithms, such as neural networks (NN), are not easily realized.</a:t>
            </a:r>
          </a:p>
        </p:txBody>
      </p:sp>
      <p:sp>
        <p:nvSpPr>
          <p:cNvPr id="4" name="投影片編號版面配置區 3"/>
          <p:cNvSpPr>
            <a:spLocks noGrp="1"/>
          </p:cNvSpPr>
          <p:nvPr>
            <p:ph type="sldNum" sz="quarter" idx="12"/>
          </p:nvPr>
        </p:nvSpPr>
        <p:spPr/>
        <p:txBody>
          <a:bodyPr/>
          <a:lstStyle/>
          <a:p>
            <a:fld id="{266EEDC6-4BD7-422D-BF05-58286CF9982B}" type="slidenum">
              <a:rPr lang="zh-TW" altLang="en-US" smtClean="0"/>
              <a:pPr/>
              <a:t>2</a:t>
            </a:fld>
            <a:endParaRPr lang="zh-TW" alt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 (2/3)</a:t>
            </a:r>
            <a:endParaRPr lang="zh-TW" altLang="en-US" dirty="0"/>
          </a:p>
        </p:txBody>
      </p:sp>
      <p:sp>
        <p:nvSpPr>
          <p:cNvPr id="3" name="內容版面配置區 2"/>
          <p:cNvSpPr>
            <a:spLocks noGrp="1"/>
          </p:cNvSpPr>
          <p:nvPr>
            <p:ph idx="1"/>
          </p:nvPr>
        </p:nvSpPr>
        <p:spPr>
          <a:xfrm>
            <a:off x="251520" y="1600200"/>
            <a:ext cx="8640960" cy="4525963"/>
          </a:xfrm>
        </p:spPr>
        <p:txBody>
          <a:bodyPr>
            <a:noAutofit/>
          </a:bodyPr>
          <a:lstStyle/>
          <a:p>
            <a:pPr marL="0" algn="just">
              <a:buNone/>
            </a:pPr>
            <a:r>
              <a:rPr lang="en-US" altLang="zh-TW" sz="2400" dirty="0" smtClean="0"/>
              <a:t>In order to overcome these drawbacks, this paper proposes a </a:t>
            </a:r>
            <a:r>
              <a:rPr lang="en-US" altLang="zh-TW" sz="2400" dirty="0" smtClean="0">
                <a:solidFill>
                  <a:srgbClr val="FF0000"/>
                </a:solidFill>
              </a:rPr>
              <a:t>hybrid forecasting model, using multi-technical indicators to predict stock price trends. </a:t>
            </a:r>
            <a:r>
              <a:rPr lang="en-US" altLang="zh-TW" sz="2400" dirty="0" smtClean="0"/>
              <a:t>Further, it includes four proposed procedures in the hybrid model to provide efficient rules for forecasting, which are evolved from the extracted rules with high support value, by using the toolset based on rough sets theory (RST): (1) select the essential technical indicators, which are highly related to the future stock price, from the popular indicators based on a correlation matrix; (2) use the cumulative probability distribution approach (CPDA) and minimize the entropy principle approach (MEPA) to partition technical indicator value and daily price fluctuation into linguistic values, based on the characteristics of the data distribution; </a:t>
            </a:r>
            <a:endParaRPr lang="zh-TW" altLang="en-US" sz="2400" dirty="0"/>
          </a:p>
        </p:txBody>
      </p:sp>
      <p:sp>
        <p:nvSpPr>
          <p:cNvPr id="4" name="投影片編號版面配置區 3"/>
          <p:cNvSpPr>
            <a:spLocks noGrp="1"/>
          </p:cNvSpPr>
          <p:nvPr>
            <p:ph type="sldNum" sz="quarter" idx="12"/>
          </p:nvPr>
        </p:nvSpPr>
        <p:spPr/>
        <p:txBody>
          <a:bodyPr/>
          <a:lstStyle/>
          <a:p>
            <a:fld id="{266EEDC6-4BD7-422D-BF05-58286CF9982B}" type="slidenum">
              <a:rPr lang="zh-TW" altLang="en-US" smtClean="0"/>
              <a:pPr/>
              <a:t>3</a:t>
            </a:fld>
            <a:endParaRPr lang="zh-TW" alt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 (3/3)</a:t>
            </a:r>
            <a:endParaRPr lang="zh-TW" altLang="en-US" dirty="0"/>
          </a:p>
        </p:txBody>
      </p:sp>
      <p:sp>
        <p:nvSpPr>
          <p:cNvPr id="3" name="內容版面配置區 2"/>
          <p:cNvSpPr>
            <a:spLocks noGrp="1"/>
          </p:cNvSpPr>
          <p:nvPr>
            <p:ph idx="1"/>
          </p:nvPr>
        </p:nvSpPr>
        <p:spPr>
          <a:xfrm>
            <a:off x="251520" y="1600200"/>
            <a:ext cx="8640960" cy="4925144"/>
          </a:xfrm>
        </p:spPr>
        <p:txBody>
          <a:bodyPr>
            <a:noAutofit/>
          </a:bodyPr>
          <a:lstStyle/>
          <a:p>
            <a:pPr marL="0" algn="just">
              <a:buNone/>
            </a:pPr>
            <a:r>
              <a:rPr lang="en-US" altLang="zh-TW" sz="2400" dirty="0" smtClean="0"/>
              <a:t>(3) employ a RST algorithm to extract linguistic rules from the linguistic technical indicator dataset; and (4) utilize genetic algorithms (GAs) to refine the extracted rules to get better forecasting accuracy and stock return. The effectiveness of the proposed model is verified with two types of performance evaluations, accuracy and stock return, and by using a six-year period of the TAIEX (Taiwan Stock Exchange Capitalization Weighted Stock Index) as the experiment dataset. The experimental results show that the proposed model is superior to the two listed forecasting models (RST and GAs) in terms of accuracy, and the stock return evaluations have revealed that the profits produced by the proposed model are higher than the three listed models (Buy-and-Hold, RST and GAs).</a:t>
            </a:r>
          </a:p>
          <a:p>
            <a:endParaRPr lang="zh-TW" altLang="en-US" sz="2400" dirty="0"/>
          </a:p>
        </p:txBody>
      </p:sp>
      <p:sp>
        <p:nvSpPr>
          <p:cNvPr id="4" name="投影片編號版面配置區 3"/>
          <p:cNvSpPr>
            <a:spLocks noGrp="1"/>
          </p:cNvSpPr>
          <p:nvPr>
            <p:ph type="sldNum" sz="quarter" idx="12"/>
          </p:nvPr>
        </p:nvSpPr>
        <p:spPr/>
        <p:txBody>
          <a:bodyPr/>
          <a:lstStyle/>
          <a:p>
            <a:fld id="{266EEDC6-4BD7-422D-BF05-58286CF9982B}" type="slidenum">
              <a:rPr lang="zh-TW" altLang="en-US" smtClean="0"/>
              <a:pPr/>
              <a:t>4</a:t>
            </a:fld>
            <a:endParaRPr lang="zh-TW"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79512" y="0"/>
            <a:ext cx="8784976" cy="908720"/>
          </a:xfrm>
        </p:spPr>
        <p:txBody>
          <a:bodyPr/>
          <a:lstStyle/>
          <a:p>
            <a:r>
              <a:rPr lang="en-US" altLang="zh-TW" dirty="0" smtClean="0"/>
              <a:t>Framework</a:t>
            </a:r>
            <a:endParaRPr lang="zh-TW" altLang="en-US" dirty="0"/>
          </a:p>
        </p:txBody>
      </p:sp>
      <p:pic>
        <p:nvPicPr>
          <p:cNvPr id="1026" name="Picture 2"/>
          <p:cNvPicPr>
            <a:picLocks noChangeAspect="1" noChangeArrowheads="1"/>
          </p:cNvPicPr>
          <p:nvPr/>
        </p:nvPicPr>
        <p:blipFill>
          <a:blip r:embed="rId2" cstate="print"/>
          <a:srcRect/>
          <a:stretch>
            <a:fillRect/>
          </a:stretch>
        </p:blipFill>
        <p:spPr bwMode="auto">
          <a:xfrm>
            <a:off x="0" y="785794"/>
            <a:ext cx="4143372" cy="5942592"/>
          </a:xfrm>
          <a:prstGeom prst="rect">
            <a:avLst/>
          </a:prstGeom>
          <a:noFill/>
          <a:ln w="9525">
            <a:noFill/>
            <a:miter lim="800000"/>
            <a:headEnd/>
            <a:tailEnd/>
          </a:ln>
        </p:spPr>
      </p:pic>
      <p:sp>
        <p:nvSpPr>
          <p:cNvPr id="9" name="投影片編號版面配置區 8"/>
          <p:cNvSpPr>
            <a:spLocks noGrp="1"/>
          </p:cNvSpPr>
          <p:nvPr>
            <p:ph type="sldNum" sz="quarter" idx="12"/>
          </p:nvPr>
        </p:nvSpPr>
        <p:spPr/>
        <p:txBody>
          <a:bodyPr/>
          <a:lstStyle/>
          <a:p>
            <a:fld id="{266EEDC6-4BD7-422D-BF05-58286CF9982B}" type="slidenum">
              <a:rPr lang="zh-TW" altLang="en-US" smtClean="0"/>
              <a:pPr/>
              <a:t>5</a:t>
            </a:fld>
            <a:endParaRPr lang="zh-TW" altLang="en-US"/>
          </a:p>
        </p:txBody>
      </p:sp>
      <p:sp>
        <p:nvSpPr>
          <p:cNvPr id="10" name="矩形 9"/>
          <p:cNvSpPr/>
          <p:nvPr/>
        </p:nvSpPr>
        <p:spPr>
          <a:xfrm>
            <a:off x="4429124" y="4143380"/>
            <a:ext cx="4572000" cy="1938992"/>
          </a:xfrm>
          <a:prstGeom prst="rect">
            <a:avLst/>
          </a:prstGeom>
        </p:spPr>
        <p:txBody>
          <a:bodyPr>
            <a:spAutoFit/>
          </a:bodyPr>
          <a:lstStyle/>
          <a:p>
            <a:pPr marL="571500" indent="-514350"/>
            <a:r>
              <a:rPr lang="en-US" altLang="zh-TW" sz="2400" dirty="0" smtClean="0">
                <a:latin typeface="細明體" pitchFamily="49" charset="-120"/>
                <a:ea typeface="細明體" pitchFamily="49" charset="-120"/>
              </a:rPr>
              <a:t>Testing model on:</a:t>
            </a:r>
          </a:p>
          <a:p>
            <a:pPr marL="971550" lvl="1" indent="-514350">
              <a:buFont typeface="+mj-lt"/>
              <a:buAutoNum type="arabicPeriod"/>
            </a:pPr>
            <a:r>
              <a:rPr lang="en-US" altLang="zh-TW" sz="2400" dirty="0" smtClean="0">
                <a:latin typeface="細明體" pitchFamily="49" charset="-120"/>
                <a:ea typeface="細明體" pitchFamily="49" charset="-120"/>
              </a:rPr>
              <a:t>TSMC (</a:t>
            </a:r>
            <a:r>
              <a:rPr lang="en-US" altLang="zh-TW" sz="2400" dirty="0" err="1" smtClean="0">
                <a:latin typeface="細明體" pitchFamily="49" charset="-120"/>
                <a:ea typeface="細明體" pitchFamily="49" charset="-120"/>
              </a:rPr>
              <a:t>台積電</a:t>
            </a:r>
            <a:r>
              <a:rPr lang="en-US" altLang="zh-TW" sz="2400" dirty="0" smtClean="0">
                <a:latin typeface="細明體" pitchFamily="49" charset="-120"/>
                <a:ea typeface="細明體" pitchFamily="49" charset="-120"/>
              </a:rPr>
              <a:t>, 2330), 1999/06/23~2000/5/11</a:t>
            </a:r>
          </a:p>
          <a:p>
            <a:pPr marL="971550" lvl="1" indent="-514350">
              <a:buFont typeface="+mj-lt"/>
              <a:buAutoNum type="arabicPeriod"/>
            </a:pPr>
            <a:r>
              <a:rPr lang="en-US" altLang="zh-TW" sz="2400" dirty="0" smtClean="0">
                <a:latin typeface="細明體" pitchFamily="49" charset="-120"/>
                <a:ea typeface="細明體" pitchFamily="49" charset="-120"/>
              </a:rPr>
              <a:t>TAIEX (</a:t>
            </a:r>
            <a:r>
              <a:rPr lang="en-US" altLang="zh-TW" sz="2400" dirty="0" err="1" smtClean="0">
                <a:latin typeface="細明體" pitchFamily="49" charset="-120"/>
                <a:ea typeface="細明體" pitchFamily="49" charset="-120"/>
              </a:rPr>
              <a:t>台灣加權指數</a:t>
            </a:r>
            <a:r>
              <a:rPr lang="en-US" altLang="zh-TW" sz="2400" dirty="0" smtClean="0">
                <a:latin typeface="細明體" pitchFamily="49" charset="-120"/>
                <a:ea typeface="細明體" pitchFamily="49" charset="-120"/>
              </a:rPr>
              <a:t>), 2000/01/04~2005/12/30</a:t>
            </a:r>
          </a:p>
        </p:txBody>
      </p:sp>
      <p:sp>
        <p:nvSpPr>
          <p:cNvPr id="11" name="矩形 10"/>
          <p:cNvSpPr/>
          <p:nvPr/>
        </p:nvSpPr>
        <p:spPr>
          <a:xfrm>
            <a:off x="4214810" y="1071546"/>
            <a:ext cx="4572000" cy="2554545"/>
          </a:xfrm>
          <a:prstGeom prst="rect">
            <a:avLst/>
          </a:prstGeom>
        </p:spPr>
        <p:txBody>
          <a:bodyPr>
            <a:spAutoFit/>
          </a:bodyPr>
          <a:lstStyle/>
          <a:p>
            <a:r>
              <a:rPr lang="en-US" altLang="zh-TW" sz="2000" dirty="0" smtClean="0">
                <a:solidFill>
                  <a:srgbClr val="FF0000"/>
                </a:solidFill>
              </a:rPr>
              <a:t>Hybrid model:</a:t>
            </a:r>
          </a:p>
          <a:p>
            <a:pPr marL="971550" lvl="1" indent="-514350">
              <a:buAutoNum type="arabicPeriod"/>
            </a:pPr>
            <a:r>
              <a:rPr lang="en-US" altLang="zh-TW" sz="2000" dirty="0" smtClean="0"/>
              <a:t>Selecting tech. indicators using correlation matrix</a:t>
            </a:r>
          </a:p>
          <a:p>
            <a:pPr marL="971550" lvl="1" indent="-514350">
              <a:buAutoNum type="arabicPeriod"/>
            </a:pPr>
            <a:r>
              <a:rPr lang="en-US" altLang="zh-TW" sz="2000" dirty="0" smtClean="0"/>
              <a:t>Using CPDA and MEPA to </a:t>
            </a:r>
            <a:r>
              <a:rPr lang="en-US" altLang="zh-TW" sz="2000" dirty="0" err="1" smtClean="0"/>
              <a:t>discretize</a:t>
            </a:r>
            <a:r>
              <a:rPr lang="en-US" altLang="zh-TW" sz="2000" dirty="0" smtClean="0"/>
              <a:t> data</a:t>
            </a:r>
          </a:p>
          <a:p>
            <a:pPr marL="971550" lvl="1" indent="-514350">
              <a:buAutoNum type="arabicPeriod"/>
            </a:pPr>
            <a:r>
              <a:rPr lang="en-US" altLang="zh-TW" sz="2000" dirty="0" smtClean="0"/>
              <a:t>Applying  RST to produce rule from tech. indicators</a:t>
            </a:r>
          </a:p>
          <a:p>
            <a:pPr marL="971550" lvl="1" indent="-514350">
              <a:buAutoNum type="arabicPeriod"/>
            </a:pPr>
            <a:r>
              <a:rPr lang="en-US" altLang="zh-TW" sz="2000" dirty="0" smtClean="0"/>
              <a:t>GA to refine extracted rules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srcRect/>
          <a:stretch>
            <a:fillRect/>
          </a:stretch>
        </p:blipFill>
        <p:spPr bwMode="auto">
          <a:xfrm>
            <a:off x="428596" y="214290"/>
            <a:ext cx="8032384" cy="3786190"/>
          </a:xfrm>
          <a:prstGeom prst="rect">
            <a:avLst/>
          </a:prstGeom>
          <a:noFill/>
          <a:ln w="9525">
            <a:noFill/>
            <a:miter lim="800000"/>
            <a:headEnd/>
            <a:tailEnd/>
          </a:ln>
        </p:spPr>
      </p:pic>
      <p:pic>
        <p:nvPicPr>
          <p:cNvPr id="35842" name="Picture 2"/>
          <p:cNvPicPr>
            <a:picLocks noChangeAspect="1" noChangeArrowheads="1"/>
          </p:cNvPicPr>
          <p:nvPr/>
        </p:nvPicPr>
        <p:blipFill>
          <a:blip r:embed="rId3" cstate="print"/>
          <a:srcRect/>
          <a:stretch>
            <a:fillRect/>
          </a:stretch>
        </p:blipFill>
        <p:spPr bwMode="auto">
          <a:xfrm>
            <a:off x="785786" y="4357694"/>
            <a:ext cx="7609057" cy="1878583"/>
          </a:xfrm>
          <a:prstGeom prst="rect">
            <a:avLst/>
          </a:prstGeom>
          <a:noFill/>
          <a:ln w="9525">
            <a:noFill/>
            <a:miter lim="800000"/>
            <a:headEnd/>
            <a:tailEnd/>
          </a:ln>
          <a:effectLst/>
        </p:spPr>
      </p:pic>
      <p:sp>
        <p:nvSpPr>
          <p:cNvPr id="6" name="投影片編號版面配置區 5"/>
          <p:cNvSpPr>
            <a:spLocks noGrp="1"/>
          </p:cNvSpPr>
          <p:nvPr>
            <p:ph type="sldNum" sz="quarter" idx="12"/>
          </p:nvPr>
        </p:nvSpPr>
        <p:spPr/>
        <p:txBody>
          <a:bodyPr/>
          <a:lstStyle/>
          <a:p>
            <a:fld id="{266EEDC6-4BD7-422D-BF05-58286CF9982B}" type="slidenum">
              <a:rPr lang="zh-TW" altLang="en-US" smtClean="0"/>
              <a:pPr/>
              <a:t>6</a:t>
            </a:fld>
            <a:endParaRPr lang="zh-TW"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266EEDC6-4BD7-422D-BF05-58286CF9982B}" type="slidenum">
              <a:rPr lang="zh-TW" altLang="en-US" smtClean="0"/>
              <a:pPr/>
              <a:t>7</a:t>
            </a:fld>
            <a:endParaRPr lang="zh-TW" altLang="en-US"/>
          </a:p>
        </p:txBody>
      </p:sp>
      <p:pic>
        <p:nvPicPr>
          <p:cNvPr id="36866" name="Picture 2"/>
          <p:cNvPicPr>
            <a:picLocks noChangeAspect="1" noChangeArrowheads="1"/>
          </p:cNvPicPr>
          <p:nvPr/>
        </p:nvPicPr>
        <p:blipFill>
          <a:blip r:embed="rId2" cstate="print"/>
          <a:srcRect/>
          <a:stretch>
            <a:fillRect/>
          </a:stretch>
        </p:blipFill>
        <p:spPr bwMode="auto">
          <a:xfrm>
            <a:off x="0" y="0"/>
            <a:ext cx="9010593" cy="2285992"/>
          </a:xfrm>
          <a:prstGeom prst="rect">
            <a:avLst/>
          </a:prstGeom>
          <a:noFill/>
          <a:ln w="9525">
            <a:noFill/>
            <a:miter lim="800000"/>
            <a:headEnd/>
            <a:tailEnd/>
          </a:ln>
          <a:effectLst/>
        </p:spPr>
      </p:pic>
      <p:pic>
        <p:nvPicPr>
          <p:cNvPr id="36867" name="Picture 3"/>
          <p:cNvPicPr>
            <a:picLocks noChangeAspect="1" noChangeArrowheads="1"/>
          </p:cNvPicPr>
          <p:nvPr/>
        </p:nvPicPr>
        <p:blipFill>
          <a:blip r:embed="rId3" cstate="print"/>
          <a:srcRect/>
          <a:stretch>
            <a:fillRect/>
          </a:stretch>
        </p:blipFill>
        <p:spPr bwMode="auto">
          <a:xfrm>
            <a:off x="0" y="2428868"/>
            <a:ext cx="5929354" cy="389428"/>
          </a:xfrm>
          <a:prstGeom prst="rect">
            <a:avLst/>
          </a:prstGeom>
          <a:noFill/>
          <a:ln w="9525">
            <a:noFill/>
            <a:miter lim="800000"/>
            <a:headEnd/>
            <a:tailEnd/>
          </a:ln>
          <a:effectLst/>
        </p:spPr>
      </p:pic>
      <p:sp>
        <p:nvSpPr>
          <p:cNvPr id="7" name="文字方塊 6"/>
          <p:cNvSpPr txBox="1"/>
          <p:nvPr/>
        </p:nvSpPr>
        <p:spPr>
          <a:xfrm>
            <a:off x="214282" y="2928934"/>
            <a:ext cx="8715436" cy="2862322"/>
          </a:xfrm>
          <a:prstGeom prst="rect">
            <a:avLst/>
          </a:prstGeom>
          <a:noFill/>
        </p:spPr>
        <p:txBody>
          <a:bodyPr wrap="square" rtlCol="0">
            <a:spAutoFit/>
          </a:bodyPr>
          <a:lstStyle/>
          <a:p>
            <a:r>
              <a:rPr lang="en-US" altLang="zh-TW" dirty="0" smtClean="0">
                <a:solidFill>
                  <a:srgbClr val="0070C0"/>
                </a:solidFill>
                <a:latin typeface="微軟正黑體" pitchFamily="34" charset="-120"/>
                <a:ea typeface="微軟正黑體" pitchFamily="34" charset="-120"/>
              </a:rPr>
              <a:t>MA</a:t>
            </a:r>
            <a:r>
              <a:rPr lang="en-US" altLang="zh-TW" dirty="0" smtClean="0">
                <a:latin typeface="微軟正黑體" pitchFamily="34" charset="-120"/>
                <a:ea typeface="微軟正黑體" pitchFamily="34" charset="-120"/>
              </a:rPr>
              <a:t>: simple moving average  </a:t>
            </a:r>
          </a:p>
          <a:p>
            <a:r>
              <a:rPr lang="en-US" altLang="zh-TW" dirty="0" smtClean="0">
                <a:solidFill>
                  <a:srgbClr val="0070C0"/>
                </a:solidFill>
                <a:latin typeface="微軟正黑體" pitchFamily="34" charset="-120"/>
                <a:ea typeface="微軟正黑體" pitchFamily="34" charset="-120"/>
              </a:rPr>
              <a:t>RSI</a:t>
            </a:r>
            <a:r>
              <a:rPr lang="en-US" altLang="zh-TW" dirty="0" smtClean="0">
                <a:latin typeface="微軟正黑體" pitchFamily="34" charset="-120"/>
                <a:ea typeface="微軟正黑體" pitchFamily="34" charset="-120"/>
              </a:rPr>
              <a:t> = (100 / (1+RS)) , RS)=</a:t>
            </a:r>
            <a:r>
              <a:rPr lang="en-US" altLang="zh-TW" dirty="0" err="1" smtClean="0">
                <a:latin typeface="微軟正黑體" pitchFamily="34" charset="-120"/>
                <a:ea typeface="微軟正黑體" pitchFamily="34" charset="-120"/>
              </a:rPr>
              <a:t>n日內平均上漲點數</a:t>
            </a:r>
            <a:r>
              <a:rPr lang="en-US" altLang="zh-TW" dirty="0" smtClean="0">
                <a:latin typeface="微軟正黑體" pitchFamily="34" charset="-120"/>
                <a:ea typeface="微軟正黑體" pitchFamily="34" charset="-120"/>
              </a:rPr>
              <a:t> / </a:t>
            </a:r>
            <a:r>
              <a:rPr lang="en-US" altLang="zh-TW" dirty="0" err="1" smtClean="0">
                <a:latin typeface="微軟正黑體" pitchFamily="34" charset="-120"/>
                <a:ea typeface="微軟正黑體" pitchFamily="34" charset="-120"/>
              </a:rPr>
              <a:t>n內日平均下跌點數</a:t>
            </a:r>
            <a:r>
              <a:rPr lang="en-US" altLang="zh-TW" dirty="0" smtClean="0">
                <a:latin typeface="微軟正黑體" pitchFamily="34" charset="-120"/>
                <a:ea typeface="微軟正黑體" pitchFamily="34" charset="-120"/>
              </a:rPr>
              <a:t> </a:t>
            </a:r>
          </a:p>
          <a:p>
            <a:endParaRPr lang="en-US" altLang="zh-TW" dirty="0" smtClean="0">
              <a:latin typeface="微軟正黑體" pitchFamily="34" charset="-120"/>
              <a:ea typeface="微軟正黑體" pitchFamily="34" charset="-120"/>
            </a:endParaRPr>
          </a:p>
          <a:p>
            <a:r>
              <a:rPr lang="zh-TW" altLang="en-US" dirty="0" smtClean="0">
                <a:latin typeface="微軟正黑體" pitchFamily="34" charset="-120"/>
                <a:ea typeface="微軟正黑體" pitchFamily="34" charset="-120"/>
              </a:rPr>
              <a:t> </a:t>
            </a:r>
            <a:r>
              <a:rPr lang="en-US" altLang="zh-TW" dirty="0" smtClean="0">
                <a:latin typeface="微軟正黑體" pitchFamily="34" charset="-120"/>
                <a:ea typeface="微軟正黑體" pitchFamily="34" charset="-120"/>
              </a:rPr>
              <a:t>RSV=(</a:t>
            </a:r>
            <a:r>
              <a:rPr lang="zh-TW" altLang="en-US" dirty="0" smtClean="0">
                <a:latin typeface="微軟正黑體" pitchFamily="34" charset="-120"/>
                <a:ea typeface="微軟正黑體" pitchFamily="34" charset="-120"/>
              </a:rPr>
              <a:t>本日收盤價</a:t>
            </a:r>
            <a:r>
              <a:rPr lang="en-US" altLang="zh-TW" dirty="0" smtClean="0">
                <a:latin typeface="微軟正黑體" pitchFamily="34" charset="-120"/>
                <a:ea typeface="微軟正黑體" pitchFamily="34" charset="-120"/>
              </a:rPr>
              <a:t>-</a:t>
            </a:r>
            <a:r>
              <a:rPr lang="en-US" altLang="zh-TW" dirty="0" err="1" smtClean="0">
                <a:latin typeface="微軟正黑體" pitchFamily="34" charset="-120"/>
                <a:ea typeface="微軟正黑體" pitchFamily="34" charset="-120"/>
              </a:rPr>
              <a:t>n日</a:t>
            </a:r>
            <a:r>
              <a:rPr lang="zh-TW" altLang="en-US" dirty="0" smtClean="0">
                <a:latin typeface="微軟正黑體" pitchFamily="34" charset="-120"/>
                <a:ea typeface="微軟正黑體" pitchFamily="34" charset="-120"/>
              </a:rPr>
              <a:t>內最低價</a:t>
            </a:r>
            <a:r>
              <a:rPr lang="en-US" altLang="zh-TW" dirty="0" smtClean="0">
                <a:latin typeface="微軟正黑體" pitchFamily="34" charset="-120"/>
                <a:ea typeface="微軟正黑體" pitchFamily="34" charset="-120"/>
              </a:rPr>
              <a:t>)/ (</a:t>
            </a:r>
            <a:r>
              <a:rPr lang="en-US" altLang="zh-TW" dirty="0" err="1" smtClean="0">
                <a:latin typeface="微軟正黑體" pitchFamily="34" charset="-120"/>
                <a:ea typeface="微軟正黑體" pitchFamily="34" charset="-120"/>
              </a:rPr>
              <a:t>n日</a:t>
            </a:r>
            <a:r>
              <a:rPr lang="zh-TW" altLang="en-US" dirty="0" smtClean="0">
                <a:latin typeface="微軟正黑體" pitchFamily="34" charset="-120"/>
                <a:ea typeface="微軟正黑體" pitchFamily="34" charset="-120"/>
              </a:rPr>
              <a:t>內最高價</a:t>
            </a:r>
            <a:r>
              <a:rPr lang="en-US" altLang="zh-TW" dirty="0" smtClean="0">
                <a:latin typeface="微軟正黑體" pitchFamily="34" charset="-120"/>
                <a:ea typeface="微軟正黑體" pitchFamily="34" charset="-120"/>
              </a:rPr>
              <a:t>-</a:t>
            </a:r>
            <a:r>
              <a:rPr lang="en-US" altLang="zh-TW" dirty="0" err="1" smtClean="0">
                <a:latin typeface="微軟正黑體" pitchFamily="34" charset="-120"/>
                <a:ea typeface="微軟正黑體" pitchFamily="34" charset="-120"/>
              </a:rPr>
              <a:t>n日</a:t>
            </a:r>
            <a:r>
              <a:rPr lang="zh-TW" altLang="en-US" dirty="0" smtClean="0">
                <a:latin typeface="微軟正黑體" pitchFamily="34" charset="-120"/>
                <a:ea typeface="微軟正黑體" pitchFamily="34" charset="-120"/>
              </a:rPr>
              <a:t>內最低價</a:t>
            </a:r>
            <a:r>
              <a:rPr lang="en-US" altLang="zh-TW" dirty="0" smtClean="0">
                <a:latin typeface="微軟正黑體" pitchFamily="34" charset="-120"/>
                <a:ea typeface="微軟正黑體" pitchFamily="34" charset="-120"/>
              </a:rPr>
              <a:t>) * 100.0</a:t>
            </a:r>
          </a:p>
          <a:p>
            <a:r>
              <a:rPr lang="en-US" altLang="zh-TW" dirty="0" smtClean="0">
                <a:solidFill>
                  <a:srgbClr val="0070C0"/>
                </a:solidFill>
                <a:latin typeface="微軟正黑體" pitchFamily="34" charset="-120"/>
                <a:ea typeface="微軟正黑體" pitchFamily="34" charset="-120"/>
              </a:rPr>
              <a:t>%K(t) </a:t>
            </a:r>
            <a:r>
              <a:rPr lang="en-US" altLang="zh-TW" dirty="0" smtClean="0">
                <a:latin typeface="微軟正黑體" pitchFamily="34" charset="-120"/>
                <a:ea typeface="微軟正黑體" pitchFamily="34" charset="-120"/>
              </a:rPr>
              <a:t>= 2/3* %K(t-1)</a:t>
            </a:r>
            <a:r>
              <a:rPr lang="zh-TW" altLang="en-US" dirty="0" smtClean="0">
                <a:latin typeface="微軟正黑體" pitchFamily="34" charset="-120"/>
                <a:ea typeface="微軟正黑體" pitchFamily="34" charset="-120"/>
              </a:rPr>
              <a:t> </a:t>
            </a:r>
            <a:r>
              <a:rPr lang="en-US" altLang="zh-TW" dirty="0" smtClean="0">
                <a:latin typeface="微軟正黑體" pitchFamily="34" charset="-120"/>
                <a:ea typeface="微軟正黑體" pitchFamily="34" charset="-120"/>
              </a:rPr>
              <a:t>+ 1/3 * RSV</a:t>
            </a:r>
          </a:p>
          <a:p>
            <a:r>
              <a:rPr lang="en-US" altLang="zh-TW" dirty="0" smtClean="0">
                <a:solidFill>
                  <a:srgbClr val="0070C0"/>
                </a:solidFill>
                <a:latin typeface="微軟正黑體" pitchFamily="34" charset="-120"/>
                <a:ea typeface="微軟正黑體" pitchFamily="34" charset="-120"/>
              </a:rPr>
              <a:t>%D(t) </a:t>
            </a:r>
            <a:r>
              <a:rPr lang="en-US" altLang="zh-TW" dirty="0" smtClean="0">
                <a:latin typeface="微軟正黑體" pitchFamily="34" charset="-120"/>
                <a:ea typeface="微軟正黑體" pitchFamily="34" charset="-120"/>
              </a:rPr>
              <a:t>= 2/3 %D(t-1)</a:t>
            </a:r>
            <a:r>
              <a:rPr lang="zh-TW" altLang="en-US" dirty="0" smtClean="0">
                <a:latin typeface="微軟正黑體" pitchFamily="34" charset="-120"/>
                <a:ea typeface="微軟正黑體" pitchFamily="34" charset="-120"/>
              </a:rPr>
              <a:t>＋ </a:t>
            </a:r>
            <a:r>
              <a:rPr lang="en-US" altLang="zh-TW" dirty="0" smtClean="0">
                <a:latin typeface="微軟正黑體" pitchFamily="34" charset="-120"/>
                <a:ea typeface="微軟正黑體" pitchFamily="34" charset="-120"/>
              </a:rPr>
              <a:t>1/3 * %K(t)</a:t>
            </a:r>
          </a:p>
          <a:p>
            <a:endParaRPr lang="en-US" altLang="zh-TW" dirty="0" smtClean="0">
              <a:latin typeface="微軟正黑體" pitchFamily="34" charset="-120"/>
              <a:ea typeface="微軟正黑體" pitchFamily="34" charset="-120"/>
            </a:endParaRPr>
          </a:p>
          <a:p>
            <a:r>
              <a:rPr lang="en-US" altLang="zh-TW" dirty="0" smtClean="0">
                <a:solidFill>
                  <a:srgbClr val="0070C0"/>
                </a:solidFill>
                <a:latin typeface="微軟正黑體" pitchFamily="34" charset="-120"/>
                <a:ea typeface="微軟正黑體" pitchFamily="34" charset="-120"/>
              </a:rPr>
              <a:t>%R</a:t>
            </a:r>
            <a:r>
              <a:rPr lang="en-US" altLang="zh-TW" dirty="0" smtClean="0">
                <a:latin typeface="微軟正黑體" pitchFamily="34" charset="-120"/>
                <a:ea typeface="微軟正黑體" pitchFamily="34" charset="-120"/>
              </a:rPr>
              <a:t> = (</a:t>
            </a:r>
            <a:r>
              <a:rPr lang="en-US" altLang="zh-TW" dirty="0" err="1" smtClean="0">
                <a:latin typeface="微軟正黑體" pitchFamily="34" charset="-120"/>
                <a:ea typeface="微軟正黑體" pitchFamily="34" charset="-120"/>
              </a:rPr>
              <a:t>n日</a:t>
            </a:r>
            <a:r>
              <a:rPr lang="zh-TW" altLang="en-US" dirty="0" smtClean="0">
                <a:latin typeface="微軟正黑體" pitchFamily="34" charset="-120"/>
                <a:ea typeface="微軟正黑體" pitchFamily="34" charset="-120"/>
              </a:rPr>
              <a:t>內最高價</a:t>
            </a:r>
            <a:r>
              <a:rPr lang="en-US" altLang="zh-TW" dirty="0" smtClean="0">
                <a:latin typeface="微軟正黑體" pitchFamily="34" charset="-120"/>
                <a:ea typeface="微軟正黑體" pitchFamily="34" charset="-120"/>
              </a:rPr>
              <a:t>-</a:t>
            </a:r>
            <a:r>
              <a:rPr lang="zh-TW" altLang="en-US" dirty="0" smtClean="0">
                <a:latin typeface="微軟正黑體" pitchFamily="34" charset="-120"/>
                <a:ea typeface="微軟正黑體" pitchFamily="34" charset="-120"/>
              </a:rPr>
              <a:t>本日收盤價</a:t>
            </a:r>
            <a:r>
              <a:rPr lang="en-US" altLang="zh-TW" dirty="0" smtClean="0">
                <a:latin typeface="微軟正黑體" pitchFamily="34" charset="-120"/>
                <a:ea typeface="微軟正黑體" pitchFamily="34" charset="-120"/>
              </a:rPr>
              <a:t>-)/ (</a:t>
            </a:r>
            <a:r>
              <a:rPr lang="en-US" altLang="zh-TW" dirty="0" err="1" smtClean="0">
                <a:latin typeface="微軟正黑體" pitchFamily="34" charset="-120"/>
                <a:ea typeface="微軟正黑體" pitchFamily="34" charset="-120"/>
              </a:rPr>
              <a:t>n日</a:t>
            </a:r>
            <a:r>
              <a:rPr lang="zh-TW" altLang="en-US" dirty="0" smtClean="0">
                <a:latin typeface="微軟正黑體" pitchFamily="34" charset="-120"/>
                <a:ea typeface="微軟正黑體" pitchFamily="34" charset="-120"/>
              </a:rPr>
              <a:t>內最高價</a:t>
            </a:r>
            <a:r>
              <a:rPr lang="en-US" altLang="zh-TW" dirty="0" smtClean="0">
                <a:latin typeface="微軟正黑體" pitchFamily="34" charset="-120"/>
                <a:ea typeface="微軟正黑體" pitchFamily="34" charset="-120"/>
              </a:rPr>
              <a:t>-</a:t>
            </a:r>
            <a:r>
              <a:rPr lang="en-US" altLang="zh-TW" dirty="0" err="1" smtClean="0">
                <a:latin typeface="微軟正黑體" pitchFamily="34" charset="-120"/>
                <a:ea typeface="微軟正黑體" pitchFamily="34" charset="-120"/>
              </a:rPr>
              <a:t>n日</a:t>
            </a:r>
            <a:r>
              <a:rPr lang="zh-TW" altLang="en-US" dirty="0" smtClean="0">
                <a:latin typeface="微軟正黑體" pitchFamily="34" charset="-120"/>
                <a:ea typeface="微軟正黑體" pitchFamily="34" charset="-120"/>
              </a:rPr>
              <a:t>內最低價</a:t>
            </a:r>
            <a:r>
              <a:rPr lang="en-US" altLang="zh-TW" dirty="0" smtClean="0">
                <a:latin typeface="微軟正黑體" pitchFamily="34" charset="-120"/>
                <a:ea typeface="微軟正黑體" pitchFamily="34" charset="-120"/>
              </a:rPr>
              <a:t>) * 100.0</a:t>
            </a:r>
          </a:p>
          <a:p>
            <a:r>
              <a:rPr lang="en-US" altLang="zh-TW" dirty="0" smtClean="0">
                <a:solidFill>
                  <a:srgbClr val="0070C0"/>
                </a:solidFill>
                <a:latin typeface="微軟正黑體" pitchFamily="34" charset="-120"/>
                <a:ea typeface="微軟正黑體" pitchFamily="34" charset="-120"/>
              </a:rPr>
              <a:t>PSY(n) </a:t>
            </a:r>
            <a:r>
              <a:rPr lang="en-US" altLang="zh-TW" dirty="0" smtClean="0">
                <a:latin typeface="微軟正黑體" pitchFamily="34" charset="-120"/>
                <a:ea typeface="微軟正黑體" pitchFamily="34" charset="-120"/>
              </a:rPr>
              <a:t>= (n</a:t>
            </a:r>
            <a:r>
              <a:rPr lang="zh-TW" altLang="en-US" dirty="0" smtClean="0">
                <a:latin typeface="微軟正黑體" pitchFamily="34" charset="-120"/>
                <a:ea typeface="微軟正黑體" pitchFamily="34" charset="-120"/>
              </a:rPr>
              <a:t>日內的上漲天數</a:t>
            </a:r>
            <a:r>
              <a:rPr lang="en-US" altLang="zh-TW" dirty="0" smtClean="0">
                <a:latin typeface="微軟正黑體" pitchFamily="34" charset="-120"/>
                <a:ea typeface="微軟正黑體" pitchFamily="34" charset="-120"/>
              </a:rPr>
              <a:t>/ n ) *100 </a:t>
            </a:r>
          </a:p>
          <a:p>
            <a:r>
              <a:rPr lang="en-US" altLang="zh-TW" dirty="0" smtClean="0">
                <a:solidFill>
                  <a:srgbClr val="0070C0"/>
                </a:solidFill>
                <a:latin typeface="微軟正黑體" pitchFamily="34" charset="-120"/>
                <a:ea typeface="微軟正黑體" pitchFamily="34" charset="-120"/>
              </a:rPr>
              <a:t>AR(n) </a:t>
            </a:r>
            <a:r>
              <a:rPr lang="en-US" altLang="zh-TW" dirty="0" smtClean="0">
                <a:latin typeface="微軟正黑體" pitchFamily="34" charset="-120"/>
                <a:ea typeface="微軟正黑體" pitchFamily="34" charset="-120"/>
              </a:rPr>
              <a:t>= </a:t>
            </a:r>
            <a:r>
              <a:rPr lang="en-US" altLang="zh-TW" dirty="0" smtClean="0">
                <a:latin typeface="微軟正黑體" pitchFamily="34" charset="-120"/>
                <a:ea typeface="微軟正黑體" pitchFamily="34" charset="-120"/>
                <a:sym typeface="Wingdings" pitchFamily="2" charset="2"/>
              </a:rPr>
              <a:t>(</a:t>
            </a:r>
            <a:r>
              <a:rPr lang="zh-TW" altLang="en-US" dirty="0" smtClean="0">
                <a:latin typeface="微軟正黑體" pitchFamily="34" charset="-120"/>
                <a:ea typeface="微軟正黑體" pitchFamily="34" charset="-120"/>
              </a:rPr>
              <a:t>日</a:t>
            </a:r>
            <a:r>
              <a:rPr lang="zh-TW" altLang="en-US" dirty="0" smtClean="0">
                <a:latin typeface="微軟正黑體" pitchFamily="34" charset="-120"/>
                <a:ea typeface="微軟正黑體" pitchFamily="34" charset="-120"/>
              </a:rPr>
              <a:t>內最高價－</a:t>
            </a:r>
            <a:r>
              <a:rPr lang="en-US" altLang="zh-TW" dirty="0" err="1" smtClean="0">
                <a:latin typeface="微軟正黑體" pitchFamily="34" charset="-120"/>
                <a:ea typeface="微軟正黑體" pitchFamily="34" charset="-120"/>
              </a:rPr>
              <a:t>n日內</a:t>
            </a:r>
            <a:r>
              <a:rPr lang="zh-TW" altLang="en-US" dirty="0" smtClean="0">
                <a:latin typeface="微軟正黑體" pitchFamily="34" charset="-120"/>
                <a:ea typeface="微軟正黑體" pitchFamily="34" charset="-120"/>
              </a:rPr>
              <a:t>開盤價之</a:t>
            </a:r>
            <a:r>
              <a:rPr lang="zh-TW" altLang="en-US" dirty="0" smtClean="0">
                <a:latin typeface="微軟正黑體" pitchFamily="34" charset="-120"/>
                <a:ea typeface="微軟正黑體" pitchFamily="34" charset="-120"/>
              </a:rPr>
              <a:t>總和</a:t>
            </a:r>
            <a:r>
              <a:rPr lang="en-US" altLang="zh-TW" dirty="0" smtClean="0">
                <a:latin typeface="微軟正黑體" pitchFamily="34" charset="-120"/>
                <a:ea typeface="微軟正黑體" pitchFamily="34" charset="-120"/>
              </a:rPr>
              <a:t>)/ </a:t>
            </a:r>
            <a:r>
              <a:rPr lang="en-US" altLang="zh-TW" dirty="0" smtClean="0">
                <a:latin typeface="微軟正黑體" pitchFamily="34" charset="-120"/>
                <a:ea typeface="微軟正黑體" pitchFamily="34" charset="-120"/>
                <a:sym typeface="Wingdings" pitchFamily="2" charset="2"/>
              </a:rPr>
              <a:t>(n</a:t>
            </a:r>
            <a:r>
              <a:rPr lang="zh-TW" altLang="en-US" dirty="0" smtClean="0">
                <a:latin typeface="微軟正黑體" pitchFamily="34" charset="-120"/>
                <a:ea typeface="微軟正黑體" pitchFamily="34" charset="-120"/>
              </a:rPr>
              <a:t>日內開盤價－</a:t>
            </a:r>
            <a:r>
              <a:rPr lang="en-US" altLang="zh-TW" dirty="0" err="1" smtClean="0">
                <a:latin typeface="微軟正黑體" pitchFamily="34" charset="-120"/>
                <a:ea typeface="微軟正黑體" pitchFamily="34" charset="-120"/>
              </a:rPr>
              <a:t>n日內最低</a:t>
            </a:r>
            <a:r>
              <a:rPr lang="zh-TW" altLang="en-US" dirty="0" smtClean="0">
                <a:latin typeface="微軟正黑體" pitchFamily="34" charset="-120"/>
                <a:ea typeface="微軟正黑體" pitchFamily="34" charset="-120"/>
              </a:rPr>
              <a:t>價之總和</a:t>
            </a:r>
            <a:r>
              <a:rPr lang="en-US" altLang="zh-TW" dirty="0" smtClean="0">
                <a:latin typeface="微軟正黑體" pitchFamily="34" charset="-120"/>
                <a:ea typeface="微軟正黑體" pitchFamily="34" charset="-120"/>
              </a:rPr>
              <a:t>)</a:t>
            </a:r>
            <a:endParaRPr lang="zh-TW" altLang="en-US" dirty="0">
              <a:latin typeface="微軟正黑體" pitchFamily="34" charset="-120"/>
              <a:ea typeface="微軟正黑體" pitchFamily="34" charset="-12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57158" y="0"/>
            <a:ext cx="8543956" cy="1143000"/>
          </a:xfrm>
        </p:spPr>
        <p:txBody>
          <a:bodyPr>
            <a:noAutofit/>
          </a:bodyPr>
          <a:lstStyle/>
          <a:p>
            <a:r>
              <a:rPr lang="en-US" altLang="zh-TW" sz="3600" dirty="0" smtClean="0"/>
              <a:t>Selecting indicators using correlation matrix</a:t>
            </a:r>
            <a:endParaRPr lang="zh-TW" altLang="en-US" sz="3600" dirty="0"/>
          </a:p>
        </p:txBody>
      </p:sp>
      <p:pic>
        <p:nvPicPr>
          <p:cNvPr id="1026" name="Picture 2"/>
          <p:cNvPicPr>
            <a:picLocks noChangeAspect="1" noChangeArrowheads="1"/>
          </p:cNvPicPr>
          <p:nvPr/>
        </p:nvPicPr>
        <p:blipFill>
          <a:blip r:embed="rId2" cstate="print"/>
          <a:srcRect/>
          <a:stretch>
            <a:fillRect/>
          </a:stretch>
        </p:blipFill>
        <p:spPr bwMode="auto">
          <a:xfrm>
            <a:off x="0" y="1357298"/>
            <a:ext cx="9144000" cy="5214974"/>
          </a:xfrm>
          <a:prstGeom prst="rect">
            <a:avLst/>
          </a:prstGeom>
          <a:noFill/>
          <a:ln w="9525">
            <a:noFill/>
            <a:miter lim="800000"/>
            <a:headEnd/>
            <a:tailEnd/>
          </a:ln>
          <a:effectLst/>
        </p:spPr>
      </p:pic>
      <p:sp>
        <p:nvSpPr>
          <p:cNvPr id="5" name="矩形 4"/>
          <p:cNvSpPr/>
          <p:nvPr/>
        </p:nvSpPr>
        <p:spPr>
          <a:xfrm>
            <a:off x="8001024" y="1571612"/>
            <a:ext cx="1000132" cy="428628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p:cNvSpPr/>
          <p:nvPr/>
        </p:nvSpPr>
        <p:spPr>
          <a:xfrm>
            <a:off x="0" y="1571612"/>
            <a:ext cx="1000132" cy="428628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投影片編號版面配置區 6"/>
          <p:cNvSpPr>
            <a:spLocks noGrp="1"/>
          </p:cNvSpPr>
          <p:nvPr>
            <p:ph type="sldNum" sz="quarter" idx="12"/>
          </p:nvPr>
        </p:nvSpPr>
        <p:spPr/>
        <p:txBody>
          <a:bodyPr/>
          <a:lstStyle/>
          <a:p>
            <a:fld id="{266EEDC6-4BD7-422D-BF05-58286CF9982B}" type="slidenum">
              <a:rPr lang="zh-TW" altLang="en-US" smtClean="0"/>
              <a:pPr/>
              <a:t>8</a:t>
            </a:fld>
            <a:endParaRPr lang="zh-TW" alt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500034" y="142853"/>
            <a:ext cx="8229600" cy="2643206"/>
          </a:xfrm>
        </p:spPr>
        <p:txBody>
          <a:bodyPr/>
          <a:lstStyle/>
          <a:p>
            <a:r>
              <a:rPr lang="en-US" altLang="zh-TW" dirty="0" smtClean="0"/>
              <a:t>Pearson correlation coefficient: </a:t>
            </a:r>
            <a:r>
              <a:rPr lang="el-GR" altLang="zh-TW" i="1" dirty="0" smtClean="0"/>
              <a:t>Γ</a:t>
            </a:r>
            <a:endParaRPr lang="en-US" altLang="zh-TW" i="1" dirty="0" smtClean="0"/>
          </a:p>
          <a:p>
            <a:r>
              <a:rPr lang="en-US" altLang="zh-TW" dirty="0" smtClean="0"/>
              <a:t>Two-tail tests (p &lt;0.05)</a:t>
            </a:r>
          </a:p>
          <a:p>
            <a:r>
              <a:rPr lang="en-US" altLang="zh-TW" dirty="0" smtClean="0"/>
              <a:t>H</a:t>
            </a:r>
            <a:r>
              <a:rPr lang="en-US" altLang="zh-TW" baseline="-25000" dirty="0" smtClean="0"/>
              <a:t>0</a:t>
            </a:r>
            <a:r>
              <a:rPr lang="en-US" altLang="zh-TW" dirty="0" smtClean="0">
                <a:sym typeface="Wingdings" pitchFamily="2" charset="2"/>
              </a:rPr>
              <a:t>(null hypothesis)</a:t>
            </a:r>
            <a:r>
              <a:rPr lang="en-US" altLang="zh-TW" dirty="0" smtClean="0"/>
              <a:t>: </a:t>
            </a:r>
            <a:r>
              <a:rPr lang="el-GR" altLang="zh-TW" i="1" dirty="0" smtClean="0"/>
              <a:t>Γ</a:t>
            </a:r>
            <a:r>
              <a:rPr lang="en-US" altLang="zh-TW" i="1" dirty="0" smtClean="0"/>
              <a:t>=0 </a:t>
            </a:r>
          </a:p>
          <a:p>
            <a:r>
              <a:rPr lang="en-US" altLang="zh-TW" i="1" dirty="0" smtClean="0"/>
              <a:t>H</a:t>
            </a:r>
            <a:r>
              <a:rPr lang="en-US" altLang="zh-TW" i="1" baseline="-25000" dirty="0" smtClean="0"/>
              <a:t>1</a:t>
            </a:r>
            <a:r>
              <a:rPr lang="en-US" altLang="zh-TW" i="1" dirty="0" smtClean="0">
                <a:sym typeface="Wingdings" pitchFamily="2" charset="2"/>
              </a:rPr>
              <a:t> (alternative hypothesis)</a:t>
            </a:r>
            <a:r>
              <a:rPr lang="en-US" altLang="zh-TW" i="1" dirty="0" smtClean="0"/>
              <a:t> </a:t>
            </a:r>
            <a:r>
              <a:rPr lang="el-GR" altLang="zh-TW" i="1" dirty="0" smtClean="0"/>
              <a:t>Γ</a:t>
            </a:r>
            <a:r>
              <a:rPr lang="en-US" altLang="zh-TW" i="1" dirty="0" smtClean="0"/>
              <a:t> != 0</a:t>
            </a:r>
          </a:p>
          <a:p>
            <a:pPr>
              <a:buNone/>
            </a:pPr>
            <a:endParaRPr lang="zh-TW" altLang="en-US" dirty="0"/>
          </a:p>
        </p:txBody>
      </p:sp>
      <p:sp>
        <p:nvSpPr>
          <p:cNvPr id="4" name="矩形 3"/>
          <p:cNvSpPr/>
          <p:nvPr/>
        </p:nvSpPr>
        <p:spPr>
          <a:xfrm>
            <a:off x="500034" y="2786058"/>
            <a:ext cx="8143932" cy="424732"/>
          </a:xfrm>
          <a:prstGeom prst="rect">
            <a:avLst/>
          </a:prstGeom>
        </p:spPr>
        <p:txBody>
          <a:bodyPr wrap="square">
            <a:spAutoFit/>
          </a:bodyPr>
          <a:lstStyle/>
          <a:p>
            <a:pPr>
              <a:lnSpc>
                <a:spcPct val="90000"/>
              </a:lnSpc>
            </a:pPr>
            <a:endParaRPr lang="zh-TW" altLang="en-US" sz="2400" dirty="0">
              <a:solidFill>
                <a:srgbClr val="CC0000"/>
              </a:solidFill>
            </a:endParaRPr>
          </a:p>
        </p:txBody>
      </p:sp>
      <p:graphicFrame>
        <p:nvGraphicFramePr>
          <p:cNvPr id="1026" name="Object 2"/>
          <p:cNvGraphicFramePr>
            <a:graphicFrameLocks noChangeAspect="1"/>
          </p:cNvGraphicFramePr>
          <p:nvPr/>
        </p:nvGraphicFramePr>
        <p:xfrm>
          <a:off x="1500166" y="3000372"/>
          <a:ext cx="5978545" cy="1254125"/>
        </p:xfrm>
        <a:graphic>
          <a:graphicData uri="http://schemas.openxmlformats.org/presentationml/2006/ole">
            <p:oleObj spid="_x0000_s1026" name="Equation" r:id="rId3" imgW="2438280" imgH="647640" progId="Equation.3">
              <p:embed/>
            </p:oleObj>
          </a:graphicData>
        </a:graphic>
      </p:graphicFrame>
      <p:sp>
        <p:nvSpPr>
          <p:cNvPr id="5" name="矩形 4"/>
          <p:cNvSpPr/>
          <p:nvPr/>
        </p:nvSpPr>
        <p:spPr>
          <a:xfrm>
            <a:off x="2699792" y="4797152"/>
            <a:ext cx="3888432" cy="424732"/>
          </a:xfrm>
          <a:prstGeom prst="rect">
            <a:avLst/>
          </a:prstGeom>
        </p:spPr>
        <p:txBody>
          <a:bodyPr wrap="square">
            <a:spAutoFit/>
          </a:bodyPr>
          <a:lstStyle/>
          <a:p>
            <a:pPr lvl="1">
              <a:lnSpc>
                <a:spcPct val="90000"/>
              </a:lnSpc>
            </a:pPr>
            <a:r>
              <a:rPr lang="en-US" altLang="zh-TW" sz="2400" i="1" dirty="0" smtClean="0">
                <a:latin typeface="微軟正黑體" pitchFamily="34" charset="-120"/>
                <a:ea typeface="微軟正黑體" pitchFamily="34" charset="-120"/>
              </a:rPr>
              <a:t>N</a:t>
            </a:r>
            <a:r>
              <a:rPr lang="en-US" altLang="zh-TW" sz="2400" dirty="0" smtClean="0">
                <a:latin typeface="微軟正黑體" pitchFamily="34" charset="-120"/>
                <a:ea typeface="微軟正黑體" pitchFamily="34" charset="-120"/>
              </a:rPr>
              <a:t>: </a:t>
            </a:r>
            <a:r>
              <a:rPr lang="en-US" altLang="zh-TW" sz="2400" dirty="0" err="1" smtClean="0">
                <a:latin typeface="微軟正黑體" pitchFamily="34" charset="-120"/>
                <a:ea typeface="微軟正黑體" pitchFamily="34" charset="-120"/>
              </a:rPr>
              <a:t>資料筆數</a:t>
            </a:r>
            <a:endParaRPr lang="en-US" altLang="zh-TW" sz="2400" dirty="0" smtClean="0">
              <a:latin typeface="微軟正黑體" pitchFamily="34" charset="-120"/>
              <a:ea typeface="微軟正黑體" pitchFamily="34" charset="-120"/>
            </a:endParaRPr>
          </a:p>
        </p:txBody>
      </p:sp>
      <p:sp>
        <p:nvSpPr>
          <p:cNvPr id="6" name="投影片編號版面配置區 5"/>
          <p:cNvSpPr>
            <a:spLocks noGrp="1"/>
          </p:cNvSpPr>
          <p:nvPr>
            <p:ph type="sldNum" sz="quarter" idx="12"/>
          </p:nvPr>
        </p:nvSpPr>
        <p:spPr/>
        <p:txBody>
          <a:bodyPr/>
          <a:lstStyle/>
          <a:p>
            <a:fld id="{266EEDC6-4BD7-422D-BF05-58286CF9982B}" type="slidenum">
              <a:rPr lang="zh-TW" altLang="en-US" smtClean="0"/>
              <a:pPr/>
              <a:t>9</a:t>
            </a:fld>
            <a:endParaRPr lang="zh-TW" alt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528" y="274638"/>
            <a:ext cx="8568952" cy="1143000"/>
          </a:xfrm>
        </p:spPr>
        <p:txBody>
          <a:bodyPr>
            <a:noAutofit/>
          </a:bodyPr>
          <a:lstStyle/>
          <a:p>
            <a:r>
              <a:rPr lang="en-US" altLang="zh-TW" sz="4000" dirty="0" smtClean="0"/>
              <a:t>CPDA </a:t>
            </a:r>
            <a:r>
              <a:rPr lang="en-US" altLang="zh-TW" sz="3200" dirty="0" smtClean="0"/>
              <a:t/>
            </a:r>
            <a:br>
              <a:rPr lang="en-US" altLang="zh-TW" sz="3200" dirty="0" smtClean="0"/>
            </a:br>
            <a:r>
              <a:rPr lang="en-US" altLang="zh-TW" sz="3200" dirty="0" smtClean="0"/>
              <a:t>(cumulative probability distribution approach)</a:t>
            </a:r>
            <a:endParaRPr lang="zh-TW" altLang="en-US" sz="3200" dirty="0"/>
          </a:p>
        </p:txBody>
      </p:sp>
      <p:sp>
        <p:nvSpPr>
          <p:cNvPr id="3" name="內容版面配置區 2"/>
          <p:cNvSpPr>
            <a:spLocks noGrp="1"/>
          </p:cNvSpPr>
          <p:nvPr>
            <p:ph idx="1"/>
          </p:nvPr>
        </p:nvSpPr>
        <p:spPr>
          <a:xfrm>
            <a:off x="214282" y="1600201"/>
            <a:ext cx="8643998" cy="542916"/>
          </a:xfrm>
        </p:spPr>
        <p:txBody>
          <a:bodyPr>
            <a:normAutofit fontScale="70000" lnSpcReduction="20000"/>
          </a:bodyPr>
          <a:lstStyle/>
          <a:p>
            <a:r>
              <a:rPr lang="en-US" altLang="zh-TW" dirty="0" smtClean="0"/>
              <a:t>Using CPDA to </a:t>
            </a:r>
            <a:r>
              <a:rPr lang="en-US" altLang="zh-TW" dirty="0" err="1" smtClean="0">
                <a:solidFill>
                  <a:srgbClr val="00B0F0"/>
                </a:solidFill>
              </a:rPr>
              <a:t>discretize</a:t>
            </a:r>
            <a:r>
              <a:rPr lang="en-US" altLang="zh-TW" dirty="0" smtClean="0">
                <a:solidFill>
                  <a:srgbClr val="00B0F0"/>
                </a:solidFill>
              </a:rPr>
              <a:t> decision features </a:t>
            </a:r>
            <a:r>
              <a:rPr lang="en-US" altLang="zh-TW" dirty="0" smtClean="0"/>
              <a:t>(assume normal distribution)</a:t>
            </a:r>
          </a:p>
          <a:p>
            <a:endParaRPr lang="zh-TW" altLang="en-US" dirty="0"/>
          </a:p>
        </p:txBody>
      </p:sp>
      <p:pic>
        <p:nvPicPr>
          <p:cNvPr id="2050" name="Picture 2"/>
          <p:cNvPicPr>
            <a:picLocks noChangeAspect="1" noChangeArrowheads="1"/>
          </p:cNvPicPr>
          <p:nvPr/>
        </p:nvPicPr>
        <p:blipFill>
          <a:blip r:embed="rId2" cstate="print"/>
          <a:srcRect/>
          <a:stretch>
            <a:fillRect/>
          </a:stretch>
        </p:blipFill>
        <p:spPr bwMode="auto">
          <a:xfrm>
            <a:off x="857224" y="2214554"/>
            <a:ext cx="3071834" cy="626550"/>
          </a:xfrm>
          <a:prstGeom prst="rect">
            <a:avLst/>
          </a:prstGeom>
          <a:noFill/>
          <a:ln w="9525">
            <a:noFill/>
            <a:miter lim="800000"/>
            <a:headEnd/>
            <a:tailEnd/>
          </a:ln>
          <a:effectLst/>
        </p:spPr>
      </p:pic>
      <p:sp>
        <p:nvSpPr>
          <p:cNvPr id="7" name="內容版面配置區 2"/>
          <p:cNvSpPr txBox="1">
            <a:spLocks/>
          </p:cNvSpPr>
          <p:nvPr/>
        </p:nvSpPr>
        <p:spPr>
          <a:xfrm>
            <a:off x="914400" y="2786058"/>
            <a:ext cx="5657864" cy="1714512"/>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TW" sz="2800" b="0" i="0" u="none" strike="noStrike" kern="1200" cap="none" spc="0" normalizeH="0" baseline="0" noProof="0" dirty="0" smtClean="0">
                <a:ln>
                  <a:noFill/>
                </a:ln>
                <a:solidFill>
                  <a:schemeClr val="tx1"/>
                </a:solidFill>
                <a:effectLst/>
                <a:uLnTx/>
                <a:uFillTx/>
                <a:latin typeface="+mn-lt"/>
                <a:ea typeface="+mn-ea"/>
                <a:cs typeface="+mn-cs"/>
              </a:rPr>
              <a:t> </a:t>
            </a:r>
            <a:r>
              <a:rPr kumimoji="0" lang="en-US" altLang="zh-TW" sz="2400" b="0" i="0" u="none" strike="noStrike" kern="1200" cap="none" spc="0" normalizeH="0" baseline="0" noProof="0" dirty="0" err="1" smtClean="0">
                <a:ln>
                  <a:noFill/>
                </a:ln>
                <a:solidFill>
                  <a:schemeClr val="tx1"/>
                </a:solidFill>
                <a:effectLst/>
                <a:uLnTx/>
                <a:uFillTx/>
                <a:latin typeface="+mn-lt"/>
                <a:ea typeface="+mn-ea"/>
                <a:cs typeface="+mn-cs"/>
              </a:rPr>
              <a:t>D</a:t>
            </a:r>
            <a:r>
              <a:rPr kumimoji="0" lang="en-US" altLang="zh-TW" sz="2400" b="0" i="0" u="none" strike="noStrike" kern="1200" cap="none" spc="0" normalizeH="0" baseline="-25000" noProof="0" dirty="0" err="1" smtClean="0">
                <a:ln>
                  <a:noFill/>
                </a:ln>
                <a:solidFill>
                  <a:schemeClr val="tx1"/>
                </a:solidFill>
                <a:effectLst/>
                <a:uLnTx/>
                <a:uFillTx/>
                <a:latin typeface="+mn-lt"/>
                <a:ea typeface="+mn-ea"/>
                <a:cs typeface="+mn-cs"/>
              </a:rPr>
              <a:t>min</a:t>
            </a:r>
            <a:r>
              <a:rPr kumimoji="0" lang="en-US" altLang="zh-TW" sz="2400" b="0" i="0" u="none" strike="noStrike" kern="1200" cap="none" spc="0" normalizeH="0" baseline="0" noProof="0" dirty="0" smtClean="0">
                <a:ln>
                  <a:noFill/>
                </a:ln>
                <a:solidFill>
                  <a:schemeClr val="tx1"/>
                </a:solidFill>
                <a:effectLst/>
                <a:uLnTx/>
                <a:uFillTx/>
                <a:latin typeface="+mn-lt"/>
                <a:ea typeface="+mn-ea"/>
                <a:cs typeface="+mn-cs"/>
              </a:rPr>
              <a:t>: minimum in historical data</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altLang="zh-TW" sz="2400" dirty="0" err="1" smtClean="0"/>
              <a:t>D</a:t>
            </a:r>
            <a:r>
              <a:rPr lang="en-US" altLang="zh-TW" sz="2400" baseline="-25000" dirty="0" err="1" smtClean="0"/>
              <a:t>max</a:t>
            </a:r>
            <a:r>
              <a:rPr lang="en-US" altLang="zh-TW" sz="2400" dirty="0" smtClean="0"/>
              <a:t>: maximum in historical data</a:t>
            </a:r>
          </a:p>
          <a:p>
            <a:pPr marL="342900" lvl="0" indent="-342900">
              <a:spcBef>
                <a:spcPct val="20000"/>
              </a:spcBef>
              <a:buFont typeface="Arial" pitchFamily="34" charset="0"/>
              <a:buChar char="•"/>
            </a:pPr>
            <a:r>
              <a:rPr lang="el-GR" altLang="zh-TW" sz="2400" dirty="0" smtClean="0"/>
              <a:t>σ</a:t>
            </a:r>
            <a:r>
              <a:rPr lang="en-US" altLang="zh-TW" sz="2400" dirty="0" smtClean="0"/>
              <a:t>: standard deviation of the yearly data</a:t>
            </a:r>
            <a:endParaRPr kumimoji="0" lang="zh-TW" altLang="en-US" sz="2400" b="0" i="0" u="none" strike="noStrike" kern="1200" cap="none" spc="0" normalizeH="0" baseline="0" noProof="0" dirty="0">
              <a:ln>
                <a:noFill/>
              </a:ln>
              <a:solidFill>
                <a:schemeClr val="tx1"/>
              </a:solidFill>
              <a:effectLst/>
              <a:uLnTx/>
              <a:uFillTx/>
              <a:latin typeface="+mn-lt"/>
              <a:ea typeface="+mn-ea"/>
              <a:cs typeface="+mn-cs"/>
            </a:endParaRPr>
          </a:p>
        </p:txBody>
      </p:sp>
      <p:pic>
        <p:nvPicPr>
          <p:cNvPr id="2051" name="Picture 3"/>
          <p:cNvPicPr>
            <a:picLocks noChangeAspect="1" noChangeArrowheads="1"/>
          </p:cNvPicPr>
          <p:nvPr/>
        </p:nvPicPr>
        <p:blipFill>
          <a:blip r:embed="rId3" cstate="print"/>
          <a:srcRect/>
          <a:stretch>
            <a:fillRect/>
          </a:stretch>
        </p:blipFill>
        <p:spPr bwMode="auto">
          <a:xfrm>
            <a:off x="428596" y="4500570"/>
            <a:ext cx="4143372" cy="1088462"/>
          </a:xfrm>
          <a:prstGeom prst="rect">
            <a:avLst/>
          </a:prstGeom>
          <a:noFill/>
          <a:ln w="9525">
            <a:noFill/>
            <a:miter lim="800000"/>
            <a:headEnd/>
            <a:tailEnd/>
          </a:ln>
          <a:effectLst/>
        </p:spPr>
      </p:pic>
      <p:sp>
        <p:nvSpPr>
          <p:cNvPr id="9" name="內容版面配置區 2"/>
          <p:cNvSpPr txBox="1">
            <a:spLocks/>
          </p:cNvSpPr>
          <p:nvPr/>
        </p:nvSpPr>
        <p:spPr>
          <a:xfrm>
            <a:off x="4857752" y="2428868"/>
            <a:ext cx="2857520" cy="357190"/>
          </a:xfrm>
          <a:prstGeom prst="rect">
            <a:avLst/>
          </a:prstGeom>
        </p:spPr>
        <p:txBody>
          <a:bodyPr vert="horz" lIns="91440" tIns="45720" rIns="91440" bIns="45720" rtlCol="0">
            <a:normAutofit fontScale="70000" lnSpcReduction="2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zh-TW" alt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文字方塊 9"/>
          <p:cNvSpPr txBox="1"/>
          <p:nvPr/>
        </p:nvSpPr>
        <p:spPr>
          <a:xfrm>
            <a:off x="3929058" y="2285992"/>
            <a:ext cx="4214842" cy="523220"/>
          </a:xfrm>
          <a:prstGeom prst="rect">
            <a:avLst/>
          </a:prstGeom>
          <a:noFill/>
        </p:spPr>
        <p:txBody>
          <a:bodyPr wrap="square" rtlCol="0">
            <a:spAutoFit/>
          </a:bodyPr>
          <a:lstStyle/>
          <a:p>
            <a:r>
              <a:rPr lang="en-US" altLang="zh-TW" sz="2800" dirty="0" smtClean="0">
                <a:solidFill>
                  <a:srgbClr val="FF0000"/>
                </a:solidFill>
              </a:rPr>
              <a:t>(range of data)</a:t>
            </a:r>
            <a:endParaRPr lang="zh-TW" altLang="en-US" sz="2800" dirty="0">
              <a:solidFill>
                <a:srgbClr val="FF0000"/>
              </a:solidFill>
            </a:endParaRPr>
          </a:p>
        </p:txBody>
      </p:sp>
      <p:sp>
        <p:nvSpPr>
          <p:cNvPr id="11" name="文字方塊 10"/>
          <p:cNvSpPr txBox="1"/>
          <p:nvPr/>
        </p:nvSpPr>
        <p:spPr>
          <a:xfrm>
            <a:off x="357158" y="5715016"/>
            <a:ext cx="5715040" cy="369332"/>
          </a:xfrm>
          <a:prstGeom prst="rect">
            <a:avLst/>
          </a:prstGeom>
          <a:noFill/>
        </p:spPr>
        <p:txBody>
          <a:bodyPr wrap="square" rtlCol="0">
            <a:spAutoFit/>
          </a:bodyPr>
          <a:lstStyle/>
          <a:p>
            <a:r>
              <a:rPr lang="en-US" altLang="zh-TW" i="1" dirty="0" err="1" smtClean="0"/>
              <a:t>i</a:t>
            </a:r>
            <a:r>
              <a:rPr lang="en-US" altLang="zh-TW" dirty="0" smtClean="0"/>
              <a:t>: the order of the linguistic values</a:t>
            </a:r>
            <a:endParaRPr lang="zh-TW" altLang="en-US" dirty="0"/>
          </a:p>
        </p:txBody>
      </p:sp>
      <p:pic>
        <p:nvPicPr>
          <p:cNvPr id="2052" name="Picture 4"/>
          <p:cNvPicPr>
            <a:picLocks noChangeAspect="1" noChangeArrowheads="1"/>
          </p:cNvPicPr>
          <p:nvPr/>
        </p:nvPicPr>
        <p:blipFill>
          <a:blip r:embed="rId4" cstate="print"/>
          <a:srcRect r="4772"/>
          <a:stretch>
            <a:fillRect/>
          </a:stretch>
        </p:blipFill>
        <p:spPr bwMode="auto">
          <a:xfrm>
            <a:off x="4643438" y="4500570"/>
            <a:ext cx="4500562" cy="1527619"/>
          </a:xfrm>
          <a:prstGeom prst="rect">
            <a:avLst/>
          </a:prstGeom>
          <a:noFill/>
          <a:ln w="9525">
            <a:noFill/>
            <a:miter lim="800000"/>
            <a:headEnd/>
            <a:tailEnd/>
          </a:ln>
          <a:effectLst/>
        </p:spPr>
      </p:pic>
      <p:cxnSp>
        <p:nvCxnSpPr>
          <p:cNvPr id="14" name="直線接點 13"/>
          <p:cNvCxnSpPr/>
          <p:nvPr/>
        </p:nvCxnSpPr>
        <p:spPr>
          <a:xfrm>
            <a:off x="285720" y="4286256"/>
            <a:ext cx="8429684"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線接點 14"/>
          <p:cNvCxnSpPr/>
          <p:nvPr/>
        </p:nvCxnSpPr>
        <p:spPr>
          <a:xfrm>
            <a:off x="428596" y="2000240"/>
            <a:ext cx="8429684" cy="1588"/>
          </a:xfrm>
          <a:prstGeom prst="line">
            <a:avLst/>
          </a:prstGeom>
        </p:spPr>
        <p:style>
          <a:lnRef idx="1">
            <a:schemeClr val="accent1"/>
          </a:lnRef>
          <a:fillRef idx="0">
            <a:schemeClr val="accent1"/>
          </a:fillRef>
          <a:effectRef idx="0">
            <a:schemeClr val="accent1"/>
          </a:effectRef>
          <a:fontRef idx="minor">
            <a:schemeClr val="tx1"/>
          </a:fontRef>
        </p:style>
      </p:cxnSp>
      <p:sp>
        <p:nvSpPr>
          <p:cNvPr id="13" name="投影片編號版面配置區 12"/>
          <p:cNvSpPr>
            <a:spLocks noGrp="1"/>
          </p:cNvSpPr>
          <p:nvPr>
            <p:ph type="sldNum" sz="quarter" idx="12"/>
          </p:nvPr>
        </p:nvSpPr>
        <p:spPr/>
        <p:txBody>
          <a:bodyPr/>
          <a:lstStyle/>
          <a:p>
            <a:fld id="{266EEDC6-4BD7-422D-BF05-58286CF9982B}" type="slidenum">
              <a:rPr lang="zh-TW" altLang="en-US" smtClean="0"/>
              <a:pPr/>
              <a:t>10</a:t>
            </a:fld>
            <a:endParaRPr lang="zh-TW" alt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3"/>
          <p:cNvPicPr>
            <a:picLocks noChangeAspect="1" noChangeArrowheads="1"/>
          </p:cNvPicPr>
          <p:nvPr/>
        </p:nvPicPr>
        <p:blipFill>
          <a:blip r:embed="rId2" cstate="print"/>
          <a:srcRect b="15137"/>
          <a:stretch>
            <a:fillRect/>
          </a:stretch>
        </p:blipFill>
        <p:spPr bwMode="auto">
          <a:xfrm>
            <a:off x="1214414" y="1857364"/>
            <a:ext cx="6276975" cy="2643206"/>
          </a:xfrm>
          <a:prstGeom prst="rect">
            <a:avLst/>
          </a:prstGeom>
          <a:noFill/>
          <a:ln w="9525">
            <a:noFill/>
            <a:miter lim="800000"/>
            <a:headEnd/>
            <a:tailEnd/>
          </a:ln>
        </p:spPr>
      </p:pic>
      <p:sp>
        <p:nvSpPr>
          <p:cNvPr id="6" name="文字方塊 5"/>
          <p:cNvSpPr txBox="1"/>
          <p:nvPr/>
        </p:nvSpPr>
        <p:spPr>
          <a:xfrm>
            <a:off x="500034" y="1571612"/>
            <a:ext cx="7072362" cy="369332"/>
          </a:xfrm>
          <a:prstGeom prst="rect">
            <a:avLst/>
          </a:prstGeom>
          <a:noFill/>
        </p:spPr>
        <p:txBody>
          <a:bodyPr wrap="square" rtlCol="0">
            <a:spAutoFit/>
          </a:bodyPr>
          <a:lstStyle/>
          <a:p>
            <a:r>
              <a:rPr lang="en-US" altLang="zh-TW" dirty="0" smtClean="0">
                <a:solidFill>
                  <a:srgbClr val="FF0000"/>
                </a:solidFill>
              </a:rPr>
              <a:t>TSMC decision </a:t>
            </a:r>
            <a:r>
              <a:rPr lang="en-US" altLang="zh-TW" dirty="0" err="1" smtClean="0">
                <a:solidFill>
                  <a:srgbClr val="FF0000"/>
                </a:solidFill>
              </a:rPr>
              <a:t>feautre依CDF所對應之x得出的membership</a:t>
            </a:r>
            <a:r>
              <a:rPr lang="en-US" altLang="zh-TW" dirty="0" smtClean="0">
                <a:solidFill>
                  <a:srgbClr val="FF0000"/>
                </a:solidFill>
              </a:rPr>
              <a:t> function</a:t>
            </a:r>
            <a:endParaRPr lang="zh-TW" altLang="en-US" dirty="0">
              <a:solidFill>
                <a:srgbClr val="FF0000"/>
              </a:solidFill>
            </a:endParaRPr>
          </a:p>
        </p:txBody>
      </p:sp>
      <p:sp>
        <p:nvSpPr>
          <p:cNvPr id="7" name="投影片編號版面配置區 6"/>
          <p:cNvSpPr>
            <a:spLocks noGrp="1"/>
          </p:cNvSpPr>
          <p:nvPr>
            <p:ph type="sldNum" sz="quarter" idx="12"/>
          </p:nvPr>
        </p:nvSpPr>
        <p:spPr/>
        <p:txBody>
          <a:bodyPr/>
          <a:lstStyle/>
          <a:p>
            <a:fld id="{266EEDC6-4BD7-422D-BF05-58286CF9982B}" type="slidenum">
              <a:rPr lang="zh-TW" altLang="en-US" smtClean="0"/>
              <a:pPr/>
              <a:t>11</a:t>
            </a:fld>
            <a:endParaRPr lang="zh-TW" altLang="en-US"/>
          </a:p>
        </p:txBody>
      </p:sp>
      <p:pic>
        <p:nvPicPr>
          <p:cNvPr id="37890" name="Picture 2"/>
          <p:cNvPicPr>
            <a:picLocks noChangeAspect="1" noChangeArrowheads="1"/>
          </p:cNvPicPr>
          <p:nvPr/>
        </p:nvPicPr>
        <p:blipFill>
          <a:blip r:embed="rId3" cstate="print"/>
          <a:srcRect/>
          <a:stretch>
            <a:fillRect/>
          </a:stretch>
        </p:blipFill>
        <p:spPr bwMode="auto">
          <a:xfrm>
            <a:off x="357158" y="142852"/>
            <a:ext cx="8401050" cy="1405890"/>
          </a:xfrm>
          <a:prstGeom prst="rect">
            <a:avLst/>
          </a:prstGeom>
          <a:noFill/>
          <a:ln w="9525">
            <a:noFill/>
            <a:miter lim="800000"/>
            <a:headEnd/>
            <a:tailEnd/>
          </a:ln>
          <a:effectLst/>
        </p:spPr>
      </p:pic>
      <p:pic>
        <p:nvPicPr>
          <p:cNvPr id="37891" name="Picture 3"/>
          <p:cNvPicPr>
            <a:picLocks noChangeAspect="1" noChangeArrowheads="1"/>
          </p:cNvPicPr>
          <p:nvPr/>
        </p:nvPicPr>
        <p:blipFill>
          <a:blip r:embed="rId4" cstate="print"/>
          <a:srcRect/>
          <a:stretch>
            <a:fillRect/>
          </a:stretch>
        </p:blipFill>
        <p:spPr bwMode="auto">
          <a:xfrm>
            <a:off x="428596" y="4572008"/>
            <a:ext cx="8310572" cy="210722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MEPA </a:t>
            </a:r>
            <a:br>
              <a:rPr lang="en-US" altLang="zh-TW" dirty="0" smtClean="0"/>
            </a:br>
            <a:r>
              <a:rPr lang="en-US" altLang="zh-TW" dirty="0" smtClean="0"/>
              <a:t>(minimize entropy principle approach)</a:t>
            </a:r>
            <a:endParaRPr lang="zh-TW" altLang="en-US" dirty="0"/>
          </a:p>
        </p:txBody>
      </p:sp>
      <p:sp>
        <p:nvSpPr>
          <p:cNvPr id="3" name="內容版面配置區 2"/>
          <p:cNvSpPr>
            <a:spLocks noGrp="1"/>
          </p:cNvSpPr>
          <p:nvPr>
            <p:ph idx="1"/>
          </p:nvPr>
        </p:nvSpPr>
        <p:spPr>
          <a:xfrm>
            <a:off x="457200" y="1600201"/>
            <a:ext cx="8229600" cy="542916"/>
          </a:xfrm>
        </p:spPr>
        <p:txBody>
          <a:bodyPr>
            <a:normAutofit fontScale="92500" lnSpcReduction="10000"/>
          </a:bodyPr>
          <a:lstStyle/>
          <a:p>
            <a:r>
              <a:rPr lang="en-US" altLang="zh-TW" dirty="0" smtClean="0"/>
              <a:t>Using MEPA to </a:t>
            </a:r>
            <a:r>
              <a:rPr lang="en-US" altLang="zh-TW" dirty="0" err="1" smtClean="0">
                <a:solidFill>
                  <a:srgbClr val="00B0F0"/>
                </a:solidFill>
              </a:rPr>
              <a:t>discretize</a:t>
            </a:r>
            <a:r>
              <a:rPr lang="en-US" altLang="zh-TW" dirty="0" smtClean="0">
                <a:solidFill>
                  <a:srgbClr val="00B0F0"/>
                </a:solidFill>
              </a:rPr>
              <a:t> condition features</a:t>
            </a:r>
          </a:p>
          <a:p>
            <a:pPr>
              <a:buNone/>
            </a:pPr>
            <a:endParaRPr lang="zh-TW" altLang="en-US" dirty="0"/>
          </a:p>
        </p:txBody>
      </p:sp>
      <p:pic>
        <p:nvPicPr>
          <p:cNvPr id="32772" name="Picture 4"/>
          <p:cNvPicPr>
            <a:picLocks noChangeAspect="1" noChangeArrowheads="1"/>
          </p:cNvPicPr>
          <p:nvPr/>
        </p:nvPicPr>
        <p:blipFill>
          <a:blip r:embed="rId2" cstate="print"/>
          <a:srcRect/>
          <a:stretch>
            <a:fillRect/>
          </a:stretch>
        </p:blipFill>
        <p:spPr bwMode="auto">
          <a:xfrm>
            <a:off x="857224" y="2285992"/>
            <a:ext cx="7155954" cy="2786082"/>
          </a:xfrm>
          <a:prstGeom prst="rect">
            <a:avLst/>
          </a:prstGeom>
          <a:noFill/>
          <a:ln w="9525">
            <a:noFill/>
            <a:miter lim="800000"/>
            <a:headEnd/>
            <a:tailEnd/>
          </a:ln>
          <a:effectLst/>
        </p:spPr>
      </p:pic>
      <p:pic>
        <p:nvPicPr>
          <p:cNvPr id="32773" name="Picture 5"/>
          <p:cNvPicPr>
            <a:picLocks noChangeAspect="1" noChangeArrowheads="1"/>
          </p:cNvPicPr>
          <p:nvPr/>
        </p:nvPicPr>
        <p:blipFill>
          <a:blip r:embed="rId3" cstate="print"/>
          <a:srcRect/>
          <a:stretch>
            <a:fillRect/>
          </a:stretch>
        </p:blipFill>
        <p:spPr bwMode="auto">
          <a:xfrm>
            <a:off x="500034" y="5357826"/>
            <a:ext cx="3714776" cy="705337"/>
          </a:xfrm>
          <a:prstGeom prst="rect">
            <a:avLst/>
          </a:prstGeom>
          <a:noFill/>
          <a:ln w="9525">
            <a:noFill/>
            <a:miter lim="800000"/>
            <a:headEnd/>
            <a:tailEnd/>
          </a:ln>
          <a:effectLst/>
        </p:spPr>
      </p:pic>
      <p:sp>
        <p:nvSpPr>
          <p:cNvPr id="9" name="投影片編號版面配置區 8"/>
          <p:cNvSpPr>
            <a:spLocks noGrp="1"/>
          </p:cNvSpPr>
          <p:nvPr>
            <p:ph type="sldNum" sz="quarter" idx="12"/>
          </p:nvPr>
        </p:nvSpPr>
        <p:spPr/>
        <p:txBody>
          <a:bodyPr/>
          <a:lstStyle/>
          <a:p>
            <a:fld id="{266EEDC6-4BD7-422D-BF05-58286CF9982B}" type="slidenum">
              <a:rPr lang="zh-TW" altLang="en-US" smtClean="0"/>
              <a:pPr/>
              <a:t>12</a:t>
            </a:fld>
            <a:endParaRPr lang="zh-TW"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srcRect/>
          <a:stretch>
            <a:fillRect/>
          </a:stretch>
        </p:blipFill>
        <p:spPr bwMode="auto">
          <a:xfrm>
            <a:off x="2143108" y="428604"/>
            <a:ext cx="4214842" cy="3041860"/>
          </a:xfrm>
          <a:prstGeom prst="rect">
            <a:avLst/>
          </a:prstGeom>
          <a:noFill/>
          <a:ln w="9525">
            <a:noFill/>
            <a:miter lim="800000"/>
            <a:headEnd/>
            <a:tailEnd/>
          </a:ln>
          <a:effectLst/>
        </p:spPr>
      </p:pic>
      <p:pic>
        <p:nvPicPr>
          <p:cNvPr id="5" name="Picture 3"/>
          <p:cNvPicPr>
            <a:picLocks noChangeAspect="1" noChangeArrowheads="1"/>
          </p:cNvPicPr>
          <p:nvPr/>
        </p:nvPicPr>
        <p:blipFill>
          <a:blip r:embed="rId3" cstate="print"/>
          <a:srcRect/>
          <a:stretch>
            <a:fillRect/>
          </a:stretch>
        </p:blipFill>
        <p:spPr bwMode="auto">
          <a:xfrm>
            <a:off x="1428728" y="4071942"/>
            <a:ext cx="5643602" cy="2597190"/>
          </a:xfrm>
          <a:prstGeom prst="rect">
            <a:avLst/>
          </a:prstGeom>
          <a:noFill/>
          <a:ln w="9525">
            <a:noFill/>
            <a:miter lim="800000"/>
            <a:headEnd/>
            <a:tailEnd/>
          </a:ln>
          <a:effectLst/>
        </p:spPr>
      </p:pic>
      <p:sp>
        <p:nvSpPr>
          <p:cNvPr id="6" name="文字方塊 5"/>
          <p:cNvSpPr txBox="1"/>
          <p:nvPr/>
        </p:nvSpPr>
        <p:spPr>
          <a:xfrm>
            <a:off x="142844" y="142852"/>
            <a:ext cx="8858312" cy="400110"/>
          </a:xfrm>
          <a:prstGeom prst="rect">
            <a:avLst/>
          </a:prstGeom>
          <a:noFill/>
        </p:spPr>
        <p:txBody>
          <a:bodyPr wrap="square" rtlCol="0">
            <a:spAutoFit/>
          </a:bodyPr>
          <a:lstStyle/>
          <a:p>
            <a:r>
              <a:rPr lang="en-US" altLang="zh-TW" sz="2000" dirty="0" smtClean="0">
                <a:solidFill>
                  <a:srgbClr val="0070C0"/>
                </a:solidFill>
              </a:rPr>
              <a:t>[Chen </a:t>
            </a:r>
            <a:r>
              <a:rPr lang="en-US" altLang="zh-TW" sz="2000" i="1" dirty="0" smtClean="0">
                <a:solidFill>
                  <a:srgbClr val="0070C0"/>
                </a:solidFill>
              </a:rPr>
              <a:t>et. al</a:t>
            </a:r>
            <a:r>
              <a:rPr lang="en-US" altLang="zh-TW" sz="2000" dirty="0" smtClean="0">
                <a:solidFill>
                  <a:srgbClr val="0070C0"/>
                </a:solidFill>
              </a:rPr>
              <a:t>., Feature Selection based on Minimize Entropy Principle, ICEIE 2010]</a:t>
            </a:r>
            <a:endParaRPr lang="zh-TW" altLang="en-US" sz="2000" dirty="0">
              <a:solidFill>
                <a:srgbClr val="0070C0"/>
              </a:solidFill>
            </a:endParaRPr>
          </a:p>
        </p:txBody>
      </p:sp>
      <p:sp>
        <p:nvSpPr>
          <p:cNvPr id="7" name="文字方塊 6"/>
          <p:cNvSpPr txBox="1"/>
          <p:nvPr/>
        </p:nvSpPr>
        <p:spPr>
          <a:xfrm>
            <a:off x="2643174" y="3643314"/>
            <a:ext cx="3357586" cy="369332"/>
          </a:xfrm>
          <a:prstGeom prst="rect">
            <a:avLst/>
          </a:prstGeom>
          <a:noFill/>
        </p:spPr>
        <p:txBody>
          <a:bodyPr wrap="square" rtlCol="0">
            <a:spAutoFit/>
          </a:bodyPr>
          <a:lstStyle/>
          <a:p>
            <a:r>
              <a:rPr lang="en-US" altLang="zh-TW" dirty="0" smtClean="0">
                <a:solidFill>
                  <a:srgbClr val="FF0000"/>
                </a:solidFill>
              </a:rPr>
              <a:t>Step 1: computer the entropy</a:t>
            </a:r>
            <a:endParaRPr lang="zh-TW" altLang="en-US" dirty="0">
              <a:solidFill>
                <a:srgbClr val="FF0000"/>
              </a:solidFill>
            </a:endParaRPr>
          </a:p>
        </p:txBody>
      </p:sp>
      <p:sp>
        <p:nvSpPr>
          <p:cNvPr id="14" name="投影片編號版面配置區 13"/>
          <p:cNvSpPr>
            <a:spLocks noGrp="1"/>
          </p:cNvSpPr>
          <p:nvPr>
            <p:ph type="sldNum" sz="quarter" idx="12"/>
          </p:nvPr>
        </p:nvSpPr>
        <p:spPr/>
        <p:txBody>
          <a:bodyPr/>
          <a:lstStyle/>
          <a:p>
            <a:fld id="{266EEDC6-4BD7-422D-BF05-58286CF9982B}" type="slidenum">
              <a:rPr lang="zh-TW" altLang="en-US" smtClean="0"/>
              <a:pPr/>
              <a:t>13</a:t>
            </a:fld>
            <a:endParaRPr lang="zh-TW" altLang="en-US"/>
          </a:p>
        </p:txBody>
      </p:sp>
      <p:sp>
        <p:nvSpPr>
          <p:cNvPr id="8" name="文字方塊 7"/>
          <p:cNvSpPr txBox="1"/>
          <p:nvPr/>
        </p:nvSpPr>
        <p:spPr>
          <a:xfrm>
            <a:off x="500034" y="714356"/>
            <a:ext cx="1285884" cy="369332"/>
          </a:xfrm>
          <a:prstGeom prst="rect">
            <a:avLst/>
          </a:prstGeom>
          <a:noFill/>
        </p:spPr>
        <p:txBody>
          <a:bodyPr wrap="square" rtlCol="0">
            <a:spAutoFit/>
          </a:bodyPr>
          <a:lstStyle/>
          <a:p>
            <a:r>
              <a:rPr lang="en-US" altLang="zh-TW" dirty="0" smtClean="0">
                <a:solidFill>
                  <a:srgbClr val="FF0000"/>
                </a:solidFill>
              </a:rPr>
              <a:t>Example:</a:t>
            </a:r>
            <a:endParaRPr lang="zh-TW" altLang="en-US" dirty="0">
              <a:solidFill>
                <a:srgbClr val="FF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857224" y="285728"/>
            <a:ext cx="7643866" cy="400110"/>
          </a:xfrm>
          <a:prstGeom prst="rect">
            <a:avLst/>
          </a:prstGeom>
          <a:noFill/>
        </p:spPr>
        <p:txBody>
          <a:bodyPr wrap="square" rtlCol="0">
            <a:spAutoFit/>
          </a:bodyPr>
          <a:lstStyle/>
          <a:p>
            <a:r>
              <a:rPr lang="en-US" altLang="zh-TW" sz="2000" dirty="0" smtClean="0">
                <a:solidFill>
                  <a:srgbClr val="FF0000"/>
                </a:solidFill>
              </a:rPr>
              <a:t>Step2 : subdivide the dataset until the stopping condition</a:t>
            </a:r>
            <a:endParaRPr lang="zh-TW" altLang="en-US" sz="2000" dirty="0">
              <a:solidFill>
                <a:srgbClr val="FF0000"/>
              </a:solidFill>
            </a:endParaRPr>
          </a:p>
        </p:txBody>
      </p:sp>
      <p:pic>
        <p:nvPicPr>
          <p:cNvPr id="3" name="Picture 3"/>
          <p:cNvPicPr>
            <a:picLocks noChangeAspect="1" noChangeArrowheads="1"/>
          </p:cNvPicPr>
          <p:nvPr/>
        </p:nvPicPr>
        <p:blipFill>
          <a:blip r:embed="rId2" cstate="print"/>
          <a:srcRect/>
          <a:stretch>
            <a:fillRect/>
          </a:stretch>
        </p:blipFill>
        <p:spPr bwMode="auto">
          <a:xfrm>
            <a:off x="0" y="1000108"/>
            <a:ext cx="4178633" cy="2000264"/>
          </a:xfrm>
          <a:prstGeom prst="rect">
            <a:avLst/>
          </a:prstGeom>
          <a:noFill/>
          <a:ln w="9525">
            <a:noFill/>
            <a:miter lim="800000"/>
            <a:headEnd/>
            <a:tailEnd/>
          </a:ln>
          <a:effectLst/>
        </p:spPr>
      </p:pic>
      <p:pic>
        <p:nvPicPr>
          <p:cNvPr id="4" name="Picture 4"/>
          <p:cNvPicPr>
            <a:picLocks noChangeAspect="1" noChangeArrowheads="1"/>
          </p:cNvPicPr>
          <p:nvPr/>
        </p:nvPicPr>
        <p:blipFill>
          <a:blip r:embed="rId3" cstate="print"/>
          <a:srcRect r="6814"/>
          <a:stretch>
            <a:fillRect/>
          </a:stretch>
        </p:blipFill>
        <p:spPr bwMode="auto">
          <a:xfrm>
            <a:off x="4214810" y="1071546"/>
            <a:ext cx="4857752" cy="2071702"/>
          </a:xfrm>
          <a:prstGeom prst="rect">
            <a:avLst/>
          </a:prstGeom>
          <a:noFill/>
          <a:ln w="9525">
            <a:noFill/>
            <a:miter lim="800000"/>
            <a:headEnd/>
            <a:tailEnd/>
          </a:ln>
          <a:effectLst/>
        </p:spPr>
      </p:pic>
      <p:pic>
        <p:nvPicPr>
          <p:cNvPr id="5" name="Picture 5"/>
          <p:cNvPicPr>
            <a:picLocks noChangeAspect="1" noChangeArrowheads="1"/>
          </p:cNvPicPr>
          <p:nvPr/>
        </p:nvPicPr>
        <p:blipFill>
          <a:blip r:embed="rId4" cstate="print"/>
          <a:srcRect/>
          <a:stretch>
            <a:fillRect/>
          </a:stretch>
        </p:blipFill>
        <p:spPr bwMode="auto">
          <a:xfrm>
            <a:off x="1500166" y="3571876"/>
            <a:ext cx="5512949" cy="3071834"/>
          </a:xfrm>
          <a:prstGeom prst="rect">
            <a:avLst/>
          </a:prstGeom>
          <a:noFill/>
          <a:ln w="9525">
            <a:noFill/>
            <a:miter lim="800000"/>
            <a:headEnd/>
            <a:tailEnd/>
          </a:ln>
          <a:effectLst/>
        </p:spPr>
      </p:pic>
      <p:sp>
        <p:nvSpPr>
          <p:cNvPr id="6" name="投影片編號版面配置區 5"/>
          <p:cNvSpPr>
            <a:spLocks noGrp="1"/>
          </p:cNvSpPr>
          <p:nvPr>
            <p:ph type="sldNum" sz="quarter" idx="12"/>
          </p:nvPr>
        </p:nvSpPr>
        <p:spPr/>
        <p:txBody>
          <a:bodyPr/>
          <a:lstStyle/>
          <a:p>
            <a:fld id="{266EEDC6-4BD7-422D-BF05-58286CF9982B}" type="slidenum">
              <a:rPr lang="zh-TW" altLang="en-US" smtClean="0"/>
              <a:pPr/>
              <a:t>14</a:t>
            </a:fld>
            <a:endParaRPr lang="zh-TW"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p:txBody>
          <a:bodyPr/>
          <a:lstStyle/>
          <a:p>
            <a:fld id="{266EEDC6-4BD7-422D-BF05-58286CF9982B}" type="slidenum">
              <a:rPr lang="zh-TW" altLang="en-US" smtClean="0"/>
              <a:pPr/>
              <a:t>15</a:t>
            </a:fld>
            <a:endParaRPr lang="zh-TW" altLang="en-US"/>
          </a:p>
        </p:txBody>
      </p:sp>
      <p:pic>
        <p:nvPicPr>
          <p:cNvPr id="3" name="Picture 6"/>
          <p:cNvPicPr>
            <a:picLocks noChangeAspect="1" noChangeArrowheads="1"/>
          </p:cNvPicPr>
          <p:nvPr/>
        </p:nvPicPr>
        <p:blipFill>
          <a:blip r:embed="rId2" cstate="print"/>
          <a:srcRect/>
          <a:stretch>
            <a:fillRect/>
          </a:stretch>
        </p:blipFill>
        <p:spPr bwMode="auto">
          <a:xfrm>
            <a:off x="285720" y="1142984"/>
            <a:ext cx="8671779" cy="1643074"/>
          </a:xfrm>
          <a:prstGeom prst="rect">
            <a:avLst/>
          </a:prstGeom>
          <a:noFill/>
          <a:ln w="9525">
            <a:noFill/>
            <a:miter lim="800000"/>
            <a:headEnd/>
            <a:tailEnd/>
          </a:ln>
          <a:effectLst/>
        </p:spPr>
      </p:pic>
      <p:pic>
        <p:nvPicPr>
          <p:cNvPr id="38914" name="Picture 2"/>
          <p:cNvPicPr>
            <a:picLocks noChangeAspect="1" noChangeArrowheads="1"/>
          </p:cNvPicPr>
          <p:nvPr/>
        </p:nvPicPr>
        <p:blipFill>
          <a:blip r:embed="rId3" cstate="print"/>
          <a:srcRect/>
          <a:stretch>
            <a:fillRect/>
          </a:stretch>
        </p:blipFill>
        <p:spPr bwMode="auto">
          <a:xfrm>
            <a:off x="292702" y="3643314"/>
            <a:ext cx="8637016" cy="1428760"/>
          </a:xfrm>
          <a:prstGeom prst="rect">
            <a:avLst/>
          </a:prstGeom>
          <a:noFill/>
          <a:ln w="9525">
            <a:noFill/>
            <a:miter lim="800000"/>
            <a:headEnd/>
            <a:tailEnd/>
          </a:ln>
          <a:effectLst/>
        </p:spPr>
      </p:pic>
      <p:sp>
        <p:nvSpPr>
          <p:cNvPr id="5" name="矩形 4"/>
          <p:cNvSpPr/>
          <p:nvPr/>
        </p:nvSpPr>
        <p:spPr>
          <a:xfrm>
            <a:off x="428596" y="2071678"/>
            <a:ext cx="1785950" cy="57150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p:cNvSpPr/>
          <p:nvPr/>
        </p:nvSpPr>
        <p:spPr>
          <a:xfrm>
            <a:off x="357158" y="4429132"/>
            <a:ext cx="1785950" cy="57150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p:cNvSpPr/>
          <p:nvPr/>
        </p:nvSpPr>
        <p:spPr>
          <a:xfrm>
            <a:off x="8215338" y="1785926"/>
            <a:ext cx="428628" cy="85725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p:cNvSpPr/>
          <p:nvPr/>
        </p:nvSpPr>
        <p:spPr>
          <a:xfrm>
            <a:off x="8358214" y="4143380"/>
            <a:ext cx="428628" cy="85725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p:txBody>
          <a:bodyPr/>
          <a:lstStyle/>
          <a:p>
            <a:fld id="{266EEDC6-4BD7-422D-BF05-58286CF9982B}" type="slidenum">
              <a:rPr lang="zh-TW" altLang="en-US" smtClean="0"/>
              <a:pPr/>
              <a:t>16</a:t>
            </a:fld>
            <a:endParaRPr lang="zh-TW" altLang="en-US"/>
          </a:p>
        </p:txBody>
      </p:sp>
      <p:pic>
        <p:nvPicPr>
          <p:cNvPr id="39938" name="Picture 2"/>
          <p:cNvPicPr>
            <a:picLocks noChangeAspect="1" noChangeArrowheads="1"/>
          </p:cNvPicPr>
          <p:nvPr/>
        </p:nvPicPr>
        <p:blipFill>
          <a:blip r:embed="rId2" cstate="print"/>
          <a:srcRect/>
          <a:stretch>
            <a:fillRect/>
          </a:stretch>
        </p:blipFill>
        <p:spPr bwMode="auto">
          <a:xfrm>
            <a:off x="0" y="4071942"/>
            <a:ext cx="8858280" cy="2571768"/>
          </a:xfrm>
          <a:prstGeom prst="rect">
            <a:avLst/>
          </a:prstGeom>
          <a:noFill/>
          <a:ln w="9525">
            <a:noFill/>
            <a:miter lim="800000"/>
            <a:headEnd/>
            <a:tailEnd/>
          </a:ln>
          <a:effectLst/>
        </p:spPr>
      </p:pic>
      <p:pic>
        <p:nvPicPr>
          <p:cNvPr id="4" name="Picture 3"/>
          <p:cNvPicPr>
            <a:picLocks noChangeAspect="1" noChangeArrowheads="1"/>
          </p:cNvPicPr>
          <p:nvPr/>
        </p:nvPicPr>
        <p:blipFill>
          <a:blip r:embed="rId3" cstate="print"/>
          <a:srcRect/>
          <a:stretch>
            <a:fillRect/>
          </a:stretch>
        </p:blipFill>
        <p:spPr bwMode="auto">
          <a:xfrm>
            <a:off x="285720" y="0"/>
            <a:ext cx="8501122" cy="378619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RST (rough set theory)</a:t>
            </a:r>
            <a:endParaRPr lang="zh-TW" altLang="en-US" dirty="0"/>
          </a:p>
        </p:txBody>
      </p:sp>
      <p:graphicFrame>
        <p:nvGraphicFramePr>
          <p:cNvPr id="4" name="表格 3"/>
          <p:cNvGraphicFramePr>
            <a:graphicFrameLocks noGrp="1"/>
          </p:cNvGraphicFramePr>
          <p:nvPr/>
        </p:nvGraphicFramePr>
        <p:xfrm>
          <a:off x="2857488" y="2428868"/>
          <a:ext cx="3312370" cy="4074160"/>
        </p:xfrm>
        <a:graphic>
          <a:graphicData uri="http://schemas.openxmlformats.org/drawingml/2006/table">
            <a:tbl>
              <a:tblPr firstRow="1" bandRow="1">
                <a:tableStyleId>{7DF18680-E054-41AD-8BC1-D1AEF772440D}</a:tableStyleId>
              </a:tblPr>
              <a:tblGrid>
                <a:gridCol w="662474"/>
                <a:gridCol w="662474"/>
                <a:gridCol w="662474"/>
                <a:gridCol w="662474"/>
                <a:gridCol w="662474"/>
              </a:tblGrid>
              <a:tr h="226824">
                <a:tc>
                  <a:txBody>
                    <a:bodyPr/>
                    <a:lstStyle/>
                    <a:p>
                      <a:pPr algn="ctr"/>
                      <a:r>
                        <a:rPr lang="en-US" altLang="zh-TW" sz="1800" dirty="0" smtClean="0"/>
                        <a:t>U</a:t>
                      </a:r>
                      <a:endParaRPr lang="zh-TW" altLang="en-US" sz="1800" dirty="0"/>
                    </a:p>
                  </a:txBody>
                  <a:tcPr anchor="ctr"/>
                </a:tc>
                <a:tc>
                  <a:txBody>
                    <a:bodyPr/>
                    <a:lstStyle/>
                    <a:p>
                      <a:pPr algn="ctr"/>
                      <a:r>
                        <a:rPr lang="en-US" altLang="zh-TW" sz="1800" dirty="0" smtClean="0"/>
                        <a:t>a</a:t>
                      </a:r>
                      <a:r>
                        <a:rPr lang="en-US" altLang="zh-TW" sz="1800" baseline="-25000" dirty="0" smtClean="0"/>
                        <a:t>1</a:t>
                      </a:r>
                      <a:endParaRPr lang="zh-TW" altLang="en-US" sz="1800" baseline="-25000" dirty="0"/>
                    </a:p>
                  </a:txBody>
                  <a:tcPr anchor="ctr"/>
                </a:tc>
                <a:tc>
                  <a:txBody>
                    <a:bodyPr/>
                    <a:lstStyle/>
                    <a:p>
                      <a:pPr algn="ctr"/>
                      <a:r>
                        <a:rPr lang="en-US" altLang="zh-TW" sz="1800" dirty="0" smtClean="0"/>
                        <a:t>a</a:t>
                      </a:r>
                      <a:r>
                        <a:rPr lang="en-US" altLang="zh-TW" sz="1800" baseline="-25000" dirty="0" smtClean="0"/>
                        <a:t>2</a:t>
                      </a:r>
                      <a:endParaRPr lang="zh-TW" altLang="en-US" sz="1800" baseline="-25000" dirty="0"/>
                    </a:p>
                  </a:txBody>
                  <a:tcPr anchor="ctr"/>
                </a:tc>
                <a:tc>
                  <a:txBody>
                    <a:bodyPr/>
                    <a:lstStyle/>
                    <a:p>
                      <a:pPr algn="ctr"/>
                      <a:r>
                        <a:rPr lang="en-US" altLang="zh-TW" sz="1800" dirty="0" smtClean="0"/>
                        <a:t>a</a:t>
                      </a:r>
                      <a:r>
                        <a:rPr lang="en-US" altLang="zh-TW" sz="1800" baseline="-25000" dirty="0" smtClean="0"/>
                        <a:t>3</a:t>
                      </a:r>
                      <a:endParaRPr lang="zh-TW" altLang="en-US" sz="1800" baseline="-25000" dirty="0"/>
                    </a:p>
                  </a:txBody>
                  <a:tcPr anchor="ctr"/>
                </a:tc>
                <a:tc>
                  <a:txBody>
                    <a:bodyPr/>
                    <a:lstStyle/>
                    <a:p>
                      <a:pPr algn="ctr"/>
                      <a:r>
                        <a:rPr lang="en-US" altLang="zh-TW" sz="1800" baseline="0" dirty="0" smtClean="0">
                          <a:solidFill>
                            <a:srgbClr val="FF0000"/>
                          </a:solidFill>
                        </a:rPr>
                        <a:t>d</a:t>
                      </a:r>
                      <a:endParaRPr lang="zh-TW" altLang="en-US" sz="1800" baseline="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1</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solidFill>
                            <a:srgbClr val="FF0000"/>
                          </a:solidFill>
                        </a:rPr>
                        <a:t>1</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2</a:t>
                      </a:r>
                      <a:endParaRPr lang="zh-TW" altLang="en-US" sz="1800" baseline="-250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solidFill>
                            <a:srgbClr val="FF0000"/>
                          </a:solidFill>
                        </a:rPr>
                        <a:t>2</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3</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solidFill>
                            <a:srgbClr val="FF0000"/>
                          </a:solidFill>
                        </a:rPr>
                        <a:t>1</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4</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solidFill>
                            <a:srgbClr val="FF0000"/>
                          </a:solidFill>
                        </a:rPr>
                        <a:t>2</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5</a:t>
                      </a:r>
                      <a:endParaRPr lang="zh-TW" altLang="en-US" sz="1800" baseline="-250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4</a:t>
                      </a:r>
                      <a:endParaRPr lang="zh-TW" altLang="en-US" sz="1800" dirty="0"/>
                    </a:p>
                  </a:txBody>
                  <a:tcPr anchor="ctr"/>
                </a:tc>
                <a:tc>
                  <a:txBody>
                    <a:bodyPr/>
                    <a:lstStyle/>
                    <a:p>
                      <a:pPr algn="ctr"/>
                      <a:r>
                        <a:rPr lang="en-US" altLang="zh-TW" sz="1800" dirty="0" smtClean="0">
                          <a:solidFill>
                            <a:srgbClr val="FF0000"/>
                          </a:solidFill>
                        </a:rPr>
                        <a:t>3</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6</a:t>
                      </a:r>
                      <a:endParaRPr lang="zh-TW" altLang="en-US" sz="1800" baseline="-250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solidFill>
                            <a:srgbClr val="FF0000"/>
                          </a:solidFill>
                        </a:rPr>
                        <a:t>3</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7</a:t>
                      </a:r>
                      <a:endParaRPr lang="zh-TW" altLang="en-US" sz="1800" baseline="-250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solidFill>
                            <a:srgbClr val="FF0000"/>
                          </a:solidFill>
                        </a:rPr>
                        <a:t>2</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8</a:t>
                      </a:r>
                      <a:endParaRPr lang="zh-TW" altLang="en-US" sz="1800" baseline="-250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4</a:t>
                      </a:r>
                      <a:endParaRPr lang="zh-TW" altLang="en-US" sz="1800" dirty="0"/>
                    </a:p>
                  </a:txBody>
                  <a:tcPr anchor="ctr"/>
                </a:tc>
                <a:tc>
                  <a:txBody>
                    <a:bodyPr/>
                    <a:lstStyle/>
                    <a:p>
                      <a:pPr algn="ctr"/>
                      <a:r>
                        <a:rPr lang="en-US" altLang="zh-TW" sz="1800" dirty="0" smtClean="0">
                          <a:solidFill>
                            <a:srgbClr val="FF0000"/>
                          </a:solidFill>
                        </a:rPr>
                        <a:t>3</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9</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solidFill>
                            <a:srgbClr val="FF0000"/>
                          </a:solidFill>
                        </a:rPr>
                        <a:t>1</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10</a:t>
                      </a:r>
                      <a:endParaRPr lang="zh-TW" altLang="en-US" sz="1800" baseline="-250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solidFill>
                            <a:srgbClr val="FF0000"/>
                          </a:solidFill>
                        </a:rPr>
                        <a:t>2</a:t>
                      </a:r>
                      <a:endParaRPr lang="zh-TW" altLang="en-US" sz="1800" dirty="0">
                        <a:solidFill>
                          <a:srgbClr val="FF0000"/>
                        </a:solidFill>
                      </a:endParaRPr>
                    </a:p>
                  </a:txBody>
                  <a:tcPr anchor="ctr"/>
                </a:tc>
              </a:tr>
            </a:tbl>
          </a:graphicData>
        </a:graphic>
      </p:graphicFrame>
      <p:sp>
        <p:nvSpPr>
          <p:cNvPr id="5" name="投影片編號版面配置區 4"/>
          <p:cNvSpPr>
            <a:spLocks noGrp="1"/>
          </p:cNvSpPr>
          <p:nvPr>
            <p:ph type="sldNum" sz="quarter" idx="12"/>
          </p:nvPr>
        </p:nvSpPr>
        <p:spPr/>
        <p:txBody>
          <a:bodyPr/>
          <a:lstStyle/>
          <a:p>
            <a:fld id="{266EEDC6-4BD7-422D-BF05-58286CF9982B}" type="slidenum">
              <a:rPr lang="zh-TW" altLang="en-US" smtClean="0"/>
              <a:pPr/>
              <a:t>17</a:t>
            </a:fld>
            <a:endParaRPr lang="zh-TW" altLang="en-US"/>
          </a:p>
        </p:txBody>
      </p:sp>
      <p:sp>
        <p:nvSpPr>
          <p:cNvPr id="6" name="文字方塊 5"/>
          <p:cNvSpPr txBox="1"/>
          <p:nvPr/>
        </p:nvSpPr>
        <p:spPr>
          <a:xfrm>
            <a:off x="1142976" y="1357298"/>
            <a:ext cx="6715172" cy="400110"/>
          </a:xfrm>
          <a:prstGeom prst="rect">
            <a:avLst/>
          </a:prstGeom>
          <a:noFill/>
        </p:spPr>
        <p:txBody>
          <a:bodyPr wrap="square" rtlCol="0">
            <a:spAutoFit/>
          </a:bodyPr>
          <a:lstStyle/>
          <a:p>
            <a:pPr algn="ctr"/>
            <a:r>
              <a:rPr lang="en-US" altLang="zh-TW" sz="2000" dirty="0" smtClean="0"/>
              <a:t>Using RST to generate decision rule from dataset</a:t>
            </a:r>
            <a:endParaRPr lang="zh-TW" altLang="en-US" sz="2000" dirty="0"/>
          </a:p>
        </p:txBody>
      </p:sp>
      <p:sp>
        <p:nvSpPr>
          <p:cNvPr id="7" name="文字方塊 6"/>
          <p:cNvSpPr txBox="1"/>
          <p:nvPr/>
        </p:nvSpPr>
        <p:spPr>
          <a:xfrm>
            <a:off x="2000232" y="1928802"/>
            <a:ext cx="2643206" cy="400110"/>
          </a:xfrm>
          <a:prstGeom prst="rect">
            <a:avLst/>
          </a:prstGeom>
          <a:noFill/>
        </p:spPr>
        <p:txBody>
          <a:bodyPr wrap="square" rtlCol="0">
            <a:spAutoFit/>
          </a:bodyPr>
          <a:lstStyle/>
          <a:p>
            <a:r>
              <a:rPr lang="en-US" altLang="zh-TW" sz="2000" dirty="0" smtClean="0">
                <a:solidFill>
                  <a:srgbClr val="FF0000"/>
                </a:solidFill>
              </a:rPr>
              <a:t>Example:</a:t>
            </a:r>
            <a:endParaRPr lang="zh-TW" altLang="en-US" sz="2000" dirty="0">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0" y="116632"/>
            <a:ext cx="4499992" cy="646331"/>
          </a:xfrm>
          <a:prstGeom prst="rect">
            <a:avLst/>
          </a:prstGeom>
          <a:noFill/>
        </p:spPr>
        <p:txBody>
          <a:bodyPr wrap="square" rtlCol="0">
            <a:spAutoFit/>
          </a:bodyPr>
          <a:lstStyle/>
          <a:p>
            <a:r>
              <a:rPr lang="en-US" altLang="zh-TW" dirty="0" err="1" smtClean="0">
                <a:solidFill>
                  <a:srgbClr val="0066FF"/>
                </a:solidFill>
                <a:latin typeface="微軟正黑體" pitchFamily="34" charset="-120"/>
                <a:ea typeface="微軟正黑體" pitchFamily="34" charset="-120"/>
              </a:rPr>
              <a:t>Discernibility</a:t>
            </a:r>
            <a:r>
              <a:rPr lang="en-US" altLang="zh-TW" dirty="0" smtClean="0">
                <a:solidFill>
                  <a:srgbClr val="0066FF"/>
                </a:solidFill>
                <a:latin typeface="微軟正黑體" pitchFamily="34" charset="-120"/>
                <a:ea typeface="微軟正黑體" pitchFamily="34" charset="-120"/>
              </a:rPr>
              <a:t> matrix:</a:t>
            </a:r>
          </a:p>
          <a:p>
            <a:r>
              <a:rPr lang="en-US" altLang="zh-TW" dirty="0" err="1" smtClean="0">
                <a:latin typeface="微軟正黑體" pitchFamily="34" charset="-120"/>
                <a:ea typeface="微軟正黑體" pitchFamily="34" charset="-120"/>
              </a:rPr>
              <a:t>須使用何種attributes來區分</a:t>
            </a:r>
            <a:r>
              <a:rPr lang="zh-TW" altLang="en-US" dirty="0" smtClean="0">
                <a:latin typeface="微軟正黑體" pitchFamily="34" charset="-120"/>
                <a:ea typeface="微軟正黑體" pitchFamily="34" charset="-120"/>
              </a:rPr>
              <a:t>不同的</a:t>
            </a:r>
            <a:r>
              <a:rPr lang="en-US" altLang="zh-TW" dirty="0" smtClean="0">
                <a:latin typeface="微軟正黑體" pitchFamily="34" charset="-120"/>
                <a:ea typeface="微軟正黑體" pitchFamily="34" charset="-120"/>
              </a:rPr>
              <a:t>sets</a:t>
            </a:r>
            <a:endParaRPr lang="zh-TW" altLang="en-US" dirty="0">
              <a:latin typeface="微軟正黑體" pitchFamily="34" charset="-120"/>
              <a:ea typeface="微軟正黑體" pitchFamily="34" charset="-120"/>
            </a:endParaRPr>
          </a:p>
        </p:txBody>
      </p:sp>
      <p:graphicFrame>
        <p:nvGraphicFramePr>
          <p:cNvPr id="4" name="表格 3"/>
          <p:cNvGraphicFramePr>
            <a:graphicFrameLocks noGrp="1"/>
          </p:cNvGraphicFramePr>
          <p:nvPr/>
        </p:nvGraphicFramePr>
        <p:xfrm>
          <a:off x="107504" y="1052736"/>
          <a:ext cx="8856981" cy="4495800"/>
        </p:xfrm>
        <a:graphic>
          <a:graphicData uri="http://schemas.openxmlformats.org/drawingml/2006/table">
            <a:tbl>
              <a:tblPr firstRow="1" bandRow="1">
                <a:tableStyleId>{5C22544A-7EE6-4342-B048-85BDC9FD1C3A}</a:tableStyleId>
              </a:tblPr>
              <a:tblGrid>
                <a:gridCol w="426865"/>
                <a:gridCol w="924878"/>
                <a:gridCol w="996023"/>
                <a:gridCol w="872955"/>
                <a:gridCol w="805180"/>
                <a:gridCol w="805180"/>
                <a:gridCol w="805180"/>
                <a:gridCol w="805180"/>
                <a:gridCol w="805180"/>
                <a:gridCol w="805180"/>
                <a:gridCol w="805180"/>
              </a:tblGrid>
              <a:tr h="370840">
                <a:tc>
                  <a:txBody>
                    <a:bodyPr/>
                    <a:lstStyle/>
                    <a:p>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c>
                  <a:txBody>
                    <a:bodyPr/>
                    <a:lstStyle/>
                    <a:p>
                      <a:r>
                        <a:rPr lang="en-US" altLang="zh-TW" dirty="0" smtClean="0"/>
                        <a:t>4</a:t>
                      </a:r>
                      <a:endParaRPr lang="zh-TW" altLang="en-US" dirty="0"/>
                    </a:p>
                  </a:txBody>
                  <a:tcPr/>
                </a:tc>
                <a:tc>
                  <a:txBody>
                    <a:bodyPr/>
                    <a:lstStyle/>
                    <a:p>
                      <a:r>
                        <a:rPr lang="en-US" altLang="zh-TW" dirty="0" smtClean="0"/>
                        <a:t>5</a:t>
                      </a:r>
                      <a:endParaRPr lang="zh-TW" altLang="en-US" dirty="0"/>
                    </a:p>
                  </a:txBody>
                  <a:tcPr/>
                </a:tc>
                <a:tc>
                  <a:txBody>
                    <a:bodyPr/>
                    <a:lstStyle/>
                    <a:p>
                      <a:r>
                        <a:rPr lang="en-US" altLang="zh-TW" dirty="0" smtClean="0"/>
                        <a:t>6</a:t>
                      </a:r>
                      <a:endParaRPr lang="zh-TW" altLang="en-US" dirty="0"/>
                    </a:p>
                  </a:txBody>
                  <a:tcPr/>
                </a:tc>
                <a:tc>
                  <a:txBody>
                    <a:bodyPr/>
                    <a:lstStyle/>
                    <a:p>
                      <a:r>
                        <a:rPr lang="en-US" altLang="zh-TW" dirty="0" smtClean="0"/>
                        <a:t>7</a:t>
                      </a:r>
                      <a:endParaRPr lang="zh-TW" altLang="en-US" dirty="0"/>
                    </a:p>
                  </a:txBody>
                  <a:tcPr/>
                </a:tc>
                <a:tc>
                  <a:txBody>
                    <a:bodyPr/>
                    <a:lstStyle/>
                    <a:p>
                      <a:r>
                        <a:rPr lang="en-US" altLang="zh-TW" dirty="0" smtClean="0"/>
                        <a:t>8</a:t>
                      </a:r>
                      <a:endParaRPr lang="zh-TW" altLang="en-US" dirty="0"/>
                    </a:p>
                  </a:txBody>
                  <a:tcPr/>
                </a:tc>
                <a:tc>
                  <a:txBody>
                    <a:bodyPr/>
                    <a:lstStyle/>
                    <a:p>
                      <a:r>
                        <a:rPr lang="en-US" altLang="zh-TW" dirty="0" smtClean="0"/>
                        <a:t>9</a:t>
                      </a:r>
                      <a:endParaRPr lang="zh-TW" altLang="en-US" dirty="0"/>
                    </a:p>
                  </a:txBody>
                  <a:tcPr/>
                </a:tc>
                <a:tc>
                  <a:txBody>
                    <a:bodyPr/>
                    <a:lstStyle/>
                    <a:p>
                      <a:r>
                        <a:rPr lang="en-US" altLang="zh-TW" dirty="0" smtClean="0"/>
                        <a:t>10</a:t>
                      </a:r>
                      <a:endParaRPr lang="zh-TW" altLang="en-US" dirty="0"/>
                    </a:p>
                  </a:txBody>
                  <a:tcPr/>
                </a:tc>
              </a:tr>
              <a:tr h="370840">
                <a:tc>
                  <a:txBody>
                    <a:bodyPr/>
                    <a:lstStyle/>
                    <a:p>
                      <a:r>
                        <a:rPr lang="en-US" altLang="zh-TW" dirty="0" smtClean="0"/>
                        <a:t>1</a:t>
                      </a:r>
                      <a:endParaRPr lang="zh-TW" altLang="en-US" dirty="0"/>
                    </a:p>
                  </a:txBody>
                  <a:tcPr/>
                </a:tc>
                <a:tc>
                  <a:txBody>
                    <a:bodyPr/>
                    <a:lstStyle/>
                    <a:p>
                      <a:pPr algn="ctr"/>
                      <a:r>
                        <a:rPr lang="en-US" altLang="zh-TW" sz="1600" dirty="0" smtClean="0"/>
                        <a:t>-</a:t>
                      </a:r>
                      <a:endParaRPr lang="zh-TW" altLang="en-US" sz="1600" dirty="0"/>
                    </a:p>
                  </a:txBody>
                  <a:tcPr/>
                </a:tc>
                <a:tc>
                  <a:txBody>
                    <a:bodyPr/>
                    <a:lstStyle/>
                    <a:p>
                      <a:pPr algn="ctr"/>
                      <a:endParaRPr lang="zh-TW" altLang="en-US" sz="1600" dirty="0"/>
                    </a:p>
                  </a:txBody>
                  <a:tcPr/>
                </a:tc>
                <a:tc>
                  <a:txBody>
                    <a:bodyPr/>
                    <a:lstStyle/>
                    <a:p>
                      <a:pPr algn="ctr"/>
                      <a:endParaRPr lang="zh-TW" altLang="en-US" sz="1600" dirty="0"/>
                    </a:p>
                  </a:txBody>
                  <a:tcPr/>
                </a:tc>
                <a:tc>
                  <a:txBody>
                    <a:bodyPr/>
                    <a:lstStyle/>
                    <a:p>
                      <a:pPr algn="ctr"/>
                      <a:endParaRPr lang="zh-TW" altLang="en-US" sz="1600" dirty="0"/>
                    </a:p>
                  </a:txBody>
                  <a:tcPr/>
                </a:tc>
                <a:tc>
                  <a:txBody>
                    <a:bodyPr/>
                    <a:lstStyle/>
                    <a:p>
                      <a:pPr algn="ctr"/>
                      <a:endParaRPr lang="zh-TW" altLang="en-US" sz="1600" dirty="0"/>
                    </a:p>
                  </a:txBody>
                  <a:tcPr/>
                </a:tc>
                <a:tc>
                  <a:txBody>
                    <a:bodyPr/>
                    <a:lstStyle/>
                    <a:p>
                      <a:pPr algn="ctr"/>
                      <a:endParaRPr lang="zh-TW" altLang="en-US" sz="1600" dirty="0"/>
                    </a:p>
                  </a:txBody>
                  <a:tcPr/>
                </a:tc>
                <a:tc>
                  <a:txBody>
                    <a:bodyPr/>
                    <a:lstStyle/>
                    <a:p>
                      <a:pPr algn="ctr"/>
                      <a:endParaRPr lang="zh-TW" altLang="en-US" sz="1600" dirty="0"/>
                    </a:p>
                  </a:txBody>
                  <a:tcPr/>
                </a:tc>
                <a:tc>
                  <a:txBody>
                    <a:bodyPr/>
                    <a:lstStyle/>
                    <a:p>
                      <a:pPr algn="ctr"/>
                      <a:endParaRPr lang="zh-TW" altLang="en-US" sz="1600" dirty="0"/>
                    </a:p>
                  </a:txBody>
                  <a:tcPr/>
                </a:tc>
                <a:tc>
                  <a:txBody>
                    <a:bodyPr/>
                    <a:lstStyle/>
                    <a:p>
                      <a:pPr algn="ctr"/>
                      <a:endParaRPr lang="zh-TW" altLang="en-US" sz="1600" dirty="0"/>
                    </a:p>
                  </a:txBody>
                  <a:tcPr/>
                </a:tc>
                <a:tc>
                  <a:txBody>
                    <a:bodyPr/>
                    <a:lstStyle/>
                    <a:p>
                      <a:pPr algn="ctr"/>
                      <a:endParaRPr lang="zh-TW" altLang="en-US" sz="1600" dirty="0"/>
                    </a:p>
                  </a:txBody>
                  <a:tcPr/>
                </a:tc>
              </a:tr>
              <a:tr h="370840">
                <a:tc>
                  <a:txBody>
                    <a:bodyPr/>
                    <a:lstStyle/>
                    <a:p>
                      <a:r>
                        <a:rPr lang="en-US" altLang="zh-TW" dirty="0" smtClean="0"/>
                        <a:t>2</a:t>
                      </a:r>
                      <a:endParaRPr lang="zh-TW" altLang="en-US" dirty="0"/>
                    </a:p>
                  </a:txBody>
                  <a:tcPr/>
                </a:tc>
                <a:tc>
                  <a:txBody>
                    <a:bodyPr/>
                    <a:lstStyle/>
                    <a:p>
                      <a:pPr algn="ct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a:p>
                  </a:txBody>
                  <a:tcPr/>
                </a:tc>
                <a:tc>
                  <a:txBody>
                    <a:bodyPr/>
                    <a:lstStyle/>
                    <a:p>
                      <a:pPr algn="ctr"/>
                      <a:r>
                        <a:rPr lang="en-US" altLang="zh-TW" sz="1600" dirty="0" smtClean="0"/>
                        <a:t>-</a:t>
                      </a:r>
                      <a:endParaRPr lang="zh-TW" altLang="en-US" sz="1600" dirty="0"/>
                    </a:p>
                  </a:txBody>
                  <a:tcPr/>
                </a:tc>
                <a:tc>
                  <a:txBody>
                    <a:bodyPr/>
                    <a:lstStyle/>
                    <a:p>
                      <a:pPr algn="ctr"/>
                      <a:endParaRPr lang="zh-TW" altLang="en-US" sz="1600"/>
                    </a:p>
                  </a:txBody>
                  <a:tcPr/>
                </a:tc>
                <a:tc>
                  <a:txBody>
                    <a:bodyPr/>
                    <a:lstStyle/>
                    <a:p>
                      <a:pPr algn="ctr"/>
                      <a:endParaRPr lang="zh-TW" altLang="en-US" sz="1600"/>
                    </a:p>
                  </a:txBody>
                  <a:tcPr/>
                </a:tc>
                <a:tc>
                  <a:txBody>
                    <a:bodyPr/>
                    <a:lstStyle/>
                    <a:p>
                      <a:pPr algn="ctr"/>
                      <a:endParaRPr lang="zh-TW" altLang="en-US" sz="1600"/>
                    </a:p>
                  </a:txBody>
                  <a:tcPr/>
                </a:tc>
                <a:tc>
                  <a:txBody>
                    <a:bodyPr/>
                    <a:lstStyle/>
                    <a:p>
                      <a:pPr algn="ctr"/>
                      <a:endParaRPr lang="zh-TW" altLang="en-US" sz="1600"/>
                    </a:p>
                  </a:txBody>
                  <a:tcPr/>
                </a:tc>
                <a:tc>
                  <a:txBody>
                    <a:bodyPr/>
                    <a:lstStyle/>
                    <a:p>
                      <a:pPr algn="ctr"/>
                      <a:endParaRPr lang="zh-TW" altLang="en-US" sz="1600"/>
                    </a:p>
                  </a:txBody>
                  <a:tcPr/>
                </a:tc>
                <a:tc>
                  <a:txBody>
                    <a:bodyPr/>
                    <a:lstStyle/>
                    <a:p>
                      <a:pPr algn="ctr"/>
                      <a:endParaRPr lang="zh-TW" altLang="en-US" sz="1600"/>
                    </a:p>
                  </a:txBody>
                  <a:tcPr/>
                </a:tc>
                <a:tc>
                  <a:txBody>
                    <a:bodyPr/>
                    <a:lstStyle/>
                    <a:p>
                      <a:pPr algn="ctr"/>
                      <a:endParaRPr lang="zh-TW" altLang="en-US" sz="1600" dirty="0"/>
                    </a:p>
                  </a:txBody>
                  <a:tcPr/>
                </a:tc>
                <a:tc>
                  <a:txBody>
                    <a:bodyPr/>
                    <a:lstStyle/>
                    <a:p>
                      <a:pPr algn="ctr"/>
                      <a:endParaRPr lang="zh-TW" altLang="en-US" sz="1600" dirty="0"/>
                    </a:p>
                  </a:txBody>
                  <a:tcPr/>
                </a:tc>
              </a:tr>
              <a:tr h="370840">
                <a:tc>
                  <a:txBody>
                    <a:bodyPr/>
                    <a:lstStyle/>
                    <a:p>
                      <a:r>
                        <a:rPr lang="en-US" altLang="zh-TW" dirty="0" smtClean="0"/>
                        <a:t>3</a:t>
                      </a:r>
                      <a:endParaRPr lang="zh-TW" altLang="en-US" dirty="0"/>
                    </a:p>
                  </a:txBody>
                  <a:tcPr/>
                </a:tc>
                <a:tc>
                  <a:txBody>
                    <a:bodyPr/>
                    <a:lstStyle/>
                    <a:p>
                      <a:pPr algn="ctr"/>
                      <a:r>
                        <a:rPr lang="en-US" altLang="zh-TW" sz="1600" dirty="0" smtClean="0"/>
                        <a:t>-</a:t>
                      </a:r>
                      <a:endParaRPr lang="zh-TW" altLang="en-US" sz="16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algn="ctr"/>
                      <a:r>
                        <a:rPr lang="en-US" altLang="zh-TW" sz="1600" dirty="0" smtClean="0"/>
                        <a:t>-</a:t>
                      </a:r>
                      <a:endParaRPr lang="zh-TW" altLang="en-US" sz="1600" dirty="0"/>
                    </a:p>
                  </a:txBody>
                  <a:tcPr/>
                </a:tc>
                <a:tc>
                  <a:txBody>
                    <a:bodyPr/>
                    <a:lstStyle/>
                    <a:p>
                      <a:pPr algn="ctr"/>
                      <a:endParaRPr lang="zh-TW" altLang="en-US" sz="1600"/>
                    </a:p>
                  </a:txBody>
                  <a:tcPr/>
                </a:tc>
                <a:tc>
                  <a:txBody>
                    <a:bodyPr/>
                    <a:lstStyle/>
                    <a:p>
                      <a:pPr algn="ctr"/>
                      <a:endParaRPr lang="zh-TW" altLang="en-US" sz="1600"/>
                    </a:p>
                  </a:txBody>
                  <a:tcPr/>
                </a:tc>
                <a:tc>
                  <a:txBody>
                    <a:bodyPr/>
                    <a:lstStyle/>
                    <a:p>
                      <a:pPr algn="ctr"/>
                      <a:endParaRPr lang="zh-TW" altLang="en-US" sz="1600"/>
                    </a:p>
                  </a:txBody>
                  <a:tcPr/>
                </a:tc>
                <a:tc>
                  <a:txBody>
                    <a:bodyPr/>
                    <a:lstStyle/>
                    <a:p>
                      <a:pPr algn="ctr"/>
                      <a:endParaRPr lang="zh-TW" altLang="en-US" sz="1600"/>
                    </a:p>
                  </a:txBody>
                  <a:tcPr/>
                </a:tc>
                <a:tc>
                  <a:txBody>
                    <a:bodyPr/>
                    <a:lstStyle/>
                    <a:p>
                      <a:pPr algn="ctr"/>
                      <a:endParaRPr lang="zh-TW" altLang="en-US" sz="1600"/>
                    </a:p>
                  </a:txBody>
                  <a:tcPr/>
                </a:tc>
                <a:tc>
                  <a:txBody>
                    <a:bodyPr/>
                    <a:lstStyle/>
                    <a:p>
                      <a:pPr algn="ctr"/>
                      <a:endParaRPr lang="zh-TW" altLang="en-US" sz="1600"/>
                    </a:p>
                  </a:txBody>
                  <a:tcPr/>
                </a:tc>
                <a:tc>
                  <a:txBody>
                    <a:bodyPr/>
                    <a:lstStyle/>
                    <a:p>
                      <a:pPr algn="ctr"/>
                      <a:endParaRPr lang="zh-TW" altLang="en-US" sz="1600"/>
                    </a:p>
                  </a:txBody>
                  <a:tcPr/>
                </a:tc>
              </a:tr>
              <a:tr h="370840">
                <a:tc>
                  <a:txBody>
                    <a:bodyPr/>
                    <a:lstStyle/>
                    <a:p>
                      <a:r>
                        <a:rPr lang="en-US" altLang="zh-TW" dirty="0" smtClean="0"/>
                        <a:t>4</a:t>
                      </a:r>
                      <a:endParaRPr lang="zh-TW" altLang="en-US" dirty="0"/>
                    </a:p>
                  </a:txBody>
                  <a:tcPr/>
                </a:tc>
                <a:tc>
                  <a:txBody>
                    <a:bodyPr/>
                    <a:lstStyle/>
                    <a:p>
                      <a:pPr algn="ctr"/>
                      <a:r>
                        <a:rPr lang="en-US" altLang="zh-TW" sz="1600" dirty="0" smtClean="0"/>
                        <a:t>a</a:t>
                      </a:r>
                      <a:r>
                        <a:rPr lang="en-US" altLang="zh-TW" sz="1600" baseline="-25000" dirty="0" smtClean="0"/>
                        <a:t>2</a:t>
                      </a:r>
                      <a:endParaRPr lang="zh-TW" altLang="en-US" sz="1600" baseline="-25000" dirty="0"/>
                    </a:p>
                  </a:txBody>
                  <a:tcPr/>
                </a:tc>
                <a:tc>
                  <a:txBody>
                    <a:bodyPr/>
                    <a:lstStyle/>
                    <a:p>
                      <a:pPr algn="ctr"/>
                      <a:r>
                        <a:rPr lang="en-US" altLang="zh-TW" sz="1600" dirty="0" smtClean="0"/>
                        <a:t>-</a:t>
                      </a:r>
                      <a:endParaRPr lang="zh-TW" altLang="en-US" sz="16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smtClean="0"/>
                        <a:t>a</a:t>
                      </a:r>
                      <a:r>
                        <a:rPr lang="en-US" altLang="zh-TW" sz="1600" baseline="-25000" dirty="0" smtClean="0"/>
                        <a:t>2</a:t>
                      </a:r>
                      <a:endParaRPr lang="zh-TW" altLang="en-US" sz="1600" baseline="-25000" dirty="0" smtClean="0"/>
                    </a:p>
                  </a:txBody>
                  <a:tcPr/>
                </a:tc>
                <a:tc>
                  <a:txBody>
                    <a:bodyPr/>
                    <a:lstStyle/>
                    <a:p>
                      <a:pPr algn="ctr"/>
                      <a:r>
                        <a:rPr lang="en-US" altLang="zh-TW" sz="1600" dirty="0" smtClean="0"/>
                        <a:t>-</a:t>
                      </a:r>
                      <a:endParaRPr lang="zh-TW" altLang="en-US" sz="1600" dirty="0"/>
                    </a:p>
                  </a:txBody>
                  <a:tcPr/>
                </a:tc>
                <a:tc>
                  <a:txBody>
                    <a:bodyPr/>
                    <a:lstStyle/>
                    <a:p>
                      <a:pPr algn="ctr"/>
                      <a:endParaRPr lang="zh-TW" altLang="en-US" sz="1600"/>
                    </a:p>
                  </a:txBody>
                  <a:tcPr/>
                </a:tc>
                <a:tc>
                  <a:txBody>
                    <a:bodyPr/>
                    <a:lstStyle/>
                    <a:p>
                      <a:pPr algn="ctr"/>
                      <a:endParaRPr lang="zh-TW" altLang="en-US" sz="1600"/>
                    </a:p>
                  </a:txBody>
                  <a:tcPr/>
                </a:tc>
                <a:tc>
                  <a:txBody>
                    <a:bodyPr/>
                    <a:lstStyle/>
                    <a:p>
                      <a:pPr algn="ctr"/>
                      <a:endParaRPr lang="zh-TW" altLang="en-US" sz="1600"/>
                    </a:p>
                  </a:txBody>
                  <a:tcPr/>
                </a:tc>
                <a:tc>
                  <a:txBody>
                    <a:bodyPr/>
                    <a:lstStyle/>
                    <a:p>
                      <a:pPr algn="ctr"/>
                      <a:endParaRPr lang="zh-TW" altLang="en-US" sz="1600"/>
                    </a:p>
                  </a:txBody>
                  <a:tcPr/>
                </a:tc>
                <a:tc>
                  <a:txBody>
                    <a:bodyPr/>
                    <a:lstStyle/>
                    <a:p>
                      <a:pPr algn="ctr"/>
                      <a:endParaRPr lang="zh-TW" altLang="en-US" sz="1600" dirty="0"/>
                    </a:p>
                  </a:txBody>
                  <a:tcPr/>
                </a:tc>
                <a:tc>
                  <a:txBody>
                    <a:bodyPr/>
                    <a:lstStyle/>
                    <a:p>
                      <a:pPr algn="ctr"/>
                      <a:endParaRPr lang="zh-TW" altLang="en-US" sz="1600" dirty="0"/>
                    </a:p>
                  </a:txBody>
                  <a:tcPr/>
                </a:tc>
              </a:tr>
              <a:tr h="370840">
                <a:tc>
                  <a:txBody>
                    <a:bodyPr/>
                    <a:lstStyle/>
                    <a:p>
                      <a:r>
                        <a:rPr lang="en-US" altLang="zh-TW" dirty="0" smtClean="0"/>
                        <a:t>5</a:t>
                      </a:r>
                      <a:endParaRPr lang="zh-TW" altLang="en-US" dirty="0"/>
                    </a:p>
                  </a:txBody>
                  <a:tcPr/>
                </a:tc>
                <a:tc>
                  <a:txBody>
                    <a:bodyPr/>
                    <a:lstStyle/>
                    <a:p>
                      <a:pPr algn="ct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3</a:t>
                      </a:r>
                      <a:endParaRPr lang="zh-TW" altLang="en-US" sz="1600" baseline="-25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3</a:t>
                      </a:r>
                      <a:endParaRPr lang="zh-TW" altLang="en-US" sz="1600" baseline="-25000"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algn="ctr"/>
                      <a:r>
                        <a:rPr lang="en-US" altLang="zh-TW" sz="1600" dirty="0" smtClean="0"/>
                        <a:t>-</a:t>
                      </a:r>
                      <a:endParaRPr lang="zh-TW" altLang="en-US" sz="1600" dirty="0"/>
                    </a:p>
                  </a:txBody>
                  <a:tcPr/>
                </a:tc>
                <a:tc>
                  <a:txBody>
                    <a:bodyPr/>
                    <a:lstStyle/>
                    <a:p>
                      <a:pPr algn="ctr"/>
                      <a:endParaRPr lang="zh-TW" altLang="en-US" sz="1600"/>
                    </a:p>
                  </a:txBody>
                  <a:tcPr/>
                </a:tc>
                <a:tc>
                  <a:txBody>
                    <a:bodyPr/>
                    <a:lstStyle/>
                    <a:p>
                      <a:pPr algn="ctr"/>
                      <a:endParaRPr lang="zh-TW" altLang="en-US" sz="1600"/>
                    </a:p>
                  </a:txBody>
                  <a:tcPr/>
                </a:tc>
                <a:tc>
                  <a:txBody>
                    <a:bodyPr/>
                    <a:lstStyle/>
                    <a:p>
                      <a:pPr algn="ctr"/>
                      <a:endParaRPr lang="zh-TW" altLang="en-US" sz="1600"/>
                    </a:p>
                  </a:txBody>
                  <a:tcPr/>
                </a:tc>
                <a:tc>
                  <a:txBody>
                    <a:bodyPr/>
                    <a:lstStyle/>
                    <a:p>
                      <a:pPr algn="ctr"/>
                      <a:endParaRPr lang="zh-TW" altLang="en-US" sz="1600" dirty="0"/>
                    </a:p>
                  </a:txBody>
                  <a:tcPr/>
                </a:tc>
                <a:tc>
                  <a:txBody>
                    <a:bodyPr/>
                    <a:lstStyle/>
                    <a:p>
                      <a:pPr algn="ctr"/>
                      <a:endParaRPr lang="zh-TW" altLang="en-US" sz="1600" dirty="0"/>
                    </a:p>
                  </a:txBody>
                  <a:tcPr/>
                </a:tc>
              </a:tr>
              <a:tr h="370840">
                <a:tc>
                  <a:txBody>
                    <a:bodyPr/>
                    <a:lstStyle/>
                    <a:p>
                      <a:r>
                        <a:rPr lang="en-US" altLang="zh-TW" dirty="0" smtClean="0"/>
                        <a:t>6</a:t>
                      </a:r>
                      <a:endParaRPr lang="zh-TW"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3</a:t>
                      </a:r>
                      <a:endParaRPr lang="zh-TW" altLang="en-US" sz="1600" baseline="-25000"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3</a:t>
                      </a:r>
                      <a:endParaRPr lang="zh-TW" altLang="en-US" sz="1600" baseline="-25000" dirty="0" smtClean="0"/>
                    </a:p>
                    <a:p>
                      <a:pPr algn="ctr"/>
                      <a:endParaRPr lang="zh-TW" altLang="en-US" sz="16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algn="ctr"/>
                      <a:r>
                        <a:rPr lang="en-US" altLang="zh-TW" sz="1600" dirty="0" smtClean="0"/>
                        <a:t>-</a:t>
                      </a:r>
                      <a:endParaRPr lang="zh-TW" altLang="en-US" sz="1600" dirty="0"/>
                    </a:p>
                  </a:txBody>
                  <a:tcPr/>
                </a:tc>
                <a:tc>
                  <a:txBody>
                    <a:bodyPr/>
                    <a:lstStyle/>
                    <a:p>
                      <a:pPr algn="ctr"/>
                      <a:r>
                        <a:rPr lang="en-US" altLang="zh-TW" sz="1600" dirty="0" smtClean="0"/>
                        <a:t>-</a:t>
                      </a:r>
                      <a:endParaRPr lang="zh-TW" altLang="en-US" sz="1600" dirty="0"/>
                    </a:p>
                  </a:txBody>
                  <a:tcPr/>
                </a:tc>
                <a:tc>
                  <a:txBody>
                    <a:bodyPr/>
                    <a:lstStyle/>
                    <a:p>
                      <a:pPr algn="ctr"/>
                      <a:endParaRPr lang="zh-TW" altLang="en-US" sz="1600"/>
                    </a:p>
                  </a:txBody>
                  <a:tcPr/>
                </a:tc>
                <a:tc>
                  <a:txBody>
                    <a:bodyPr/>
                    <a:lstStyle/>
                    <a:p>
                      <a:pPr algn="ctr"/>
                      <a:endParaRPr lang="zh-TW" altLang="en-US" sz="1600"/>
                    </a:p>
                  </a:txBody>
                  <a:tcPr/>
                </a:tc>
                <a:tc>
                  <a:txBody>
                    <a:bodyPr/>
                    <a:lstStyle/>
                    <a:p>
                      <a:pPr algn="ctr"/>
                      <a:endParaRPr lang="zh-TW" altLang="en-US" sz="1600" dirty="0"/>
                    </a:p>
                  </a:txBody>
                  <a:tcPr/>
                </a:tc>
                <a:tc>
                  <a:txBody>
                    <a:bodyPr/>
                    <a:lstStyle/>
                    <a:p>
                      <a:pPr algn="ctr"/>
                      <a:endParaRPr lang="zh-TW" altLang="en-US" sz="1600" dirty="0"/>
                    </a:p>
                  </a:txBody>
                  <a:tcPr/>
                </a:tc>
              </a:tr>
              <a:tr h="370840">
                <a:tc>
                  <a:txBody>
                    <a:bodyPr/>
                    <a:lstStyle/>
                    <a:p>
                      <a:r>
                        <a:rPr lang="en-US" altLang="zh-TW" dirty="0" smtClean="0"/>
                        <a:t>7</a:t>
                      </a:r>
                      <a:endParaRPr lang="zh-TW"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algn="ctr"/>
                      <a:r>
                        <a:rPr lang="en-US" altLang="zh-TW" sz="1600" dirty="0" smtClean="0"/>
                        <a:t>-</a:t>
                      </a:r>
                      <a:endParaRPr lang="zh-TW" altLang="en-US" sz="16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algn="ctr"/>
                      <a:r>
                        <a:rPr lang="en-US" altLang="zh-TW" sz="1600" dirty="0" smtClean="0"/>
                        <a:t>-</a:t>
                      </a:r>
                      <a:endParaRPr lang="zh-TW" altLang="en-US" sz="16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algn="ctr"/>
                      <a:r>
                        <a:rPr lang="en-US" altLang="zh-TW" sz="1600" dirty="0" smtClean="0"/>
                        <a:t>-</a:t>
                      </a:r>
                      <a:endParaRPr lang="zh-TW" altLang="en-US" sz="1600" dirty="0"/>
                    </a:p>
                  </a:txBody>
                  <a:tcPr/>
                </a:tc>
                <a:tc>
                  <a:txBody>
                    <a:bodyPr/>
                    <a:lstStyle/>
                    <a:p>
                      <a:pPr algn="ctr"/>
                      <a:endParaRPr lang="zh-TW" altLang="en-US" sz="1600"/>
                    </a:p>
                  </a:txBody>
                  <a:tcPr/>
                </a:tc>
                <a:tc>
                  <a:txBody>
                    <a:bodyPr/>
                    <a:lstStyle/>
                    <a:p>
                      <a:pPr algn="ctr"/>
                      <a:endParaRPr lang="zh-TW" altLang="en-US" sz="1600" dirty="0"/>
                    </a:p>
                  </a:txBody>
                  <a:tcPr/>
                </a:tc>
                <a:tc>
                  <a:txBody>
                    <a:bodyPr/>
                    <a:lstStyle/>
                    <a:p>
                      <a:pPr algn="ctr"/>
                      <a:endParaRPr lang="zh-TW" altLang="en-US" sz="1600" dirty="0"/>
                    </a:p>
                  </a:txBody>
                  <a:tcPr/>
                </a:tc>
              </a:tr>
              <a:tr h="370840">
                <a:tc>
                  <a:txBody>
                    <a:bodyPr/>
                    <a:lstStyle/>
                    <a:p>
                      <a:r>
                        <a:rPr lang="en-US" altLang="zh-TW" dirty="0" smtClean="0"/>
                        <a:t>8</a:t>
                      </a:r>
                      <a:endParaRPr lang="zh-TW"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3</a:t>
                      </a:r>
                      <a:endParaRPr lang="zh-TW" altLang="en-US" sz="1600" baseline="-25000"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3</a:t>
                      </a:r>
                      <a:endParaRPr lang="zh-TW" altLang="en-US" sz="1600" baseline="-25000"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algn="ctr"/>
                      <a:r>
                        <a:rPr lang="en-US" altLang="zh-TW" sz="1600" dirty="0" smtClean="0"/>
                        <a:t>-</a:t>
                      </a:r>
                      <a:endParaRPr lang="zh-TW" altLang="en-US" sz="1600" dirty="0"/>
                    </a:p>
                  </a:txBody>
                  <a:tcPr/>
                </a:tc>
                <a:tc>
                  <a:txBody>
                    <a:bodyPr/>
                    <a:lstStyle/>
                    <a:p>
                      <a:pPr algn="ctr"/>
                      <a:r>
                        <a:rPr lang="en-US" altLang="zh-TW" sz="1600" dirty="0" smtClean="0"/>
                        <a:t>-</a:t>
                      </a:r>
                      <a:endParaRPr lang="zh-TW" altLang="en-US" sz="16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algn="ctr"/>
                      <a:r>
                        <a:rPr lang="en-US" altLang="zh-TW" sz="1600" dirty="0" smtClean="0"/>
                        <a:t>-</a:t>
                      </a:r>
                      <a:endParaRPr lang="zh-TW" altLang="en-US" sz="1600" dirty="0"/>
                    </a:p>
                  </a:txBody>
                  <a:tcPr/>
                </a:tc>
                <a:tc>
                  <a:txBody>
                    <a:bodyPr/>
                    <a:lstStyle/>
                    <a:p>
                      <a:pPr algn="ctr"/>
                      <a:endParaRPr lang="zh-TW" altLang="en-US" sz="1600" dirty="0"/>
                    </a:p>
                  </a:txBody>
                  <a:tcPr/>
                </a:tc>
                <a:tc>
                  <a:txBody>
                    <a:bodyPr/>
                    <a:lstStyle/>
                    <a:p>
                      <a:pPr algn="ctr"/>
                      <a:endParaRPr lang="zh-TW" altLang="en-US" sz="1600" dirty="0"/>
                    </a:p>
                  </a:txBody>
                  <a:tcPr/>
                </a:tc>
              </a:tr>
              <a:tr h="370840">
                <a:tc>
                  <a:txBody>
                    <a:bodyPr/>
                    <a:lstStyle/>
                    <a:p>
                      <a:r>
                        <a:rPr lang="en-US" altLang="zh-TW" dirty="0" smtClean="0"/>
                        <a:t>9</a:t>
                      </a:r>
                      <a:endParaRPr lang="zh-TW" altLang="en-US" dirty="0"/>
                    </a:p>
                  </a:txBody>
                  <a:tcPr/>
                </a:tc>
                <a:tc>
                  <a:txBody>
                    <a:bodyPr/>
                    <a:lstStyle/>
                    <a:p>
                      <a:pPr algn="ctr"/>
                      <a:r>
                        <a:rPr lang="en-US" altLang="zh-TW" sz="1600" dirty="0" smtClean="0"/>
                        <a:t>-</a:t>
                      </a:r>
                      <a:endParaRPr lang="zh-TW" altLang="en-US" sz="16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algn="ctr"/>
                      <a:r>
                        <a:rPr lang="en-US" altLang="zh-TW" sz="1600" dirty="0" smtClean="0"/>
                        <a:t>-</a:t>
                      </a:r>
                      <a:endParaRPr lang="zh-TW" altLang="en-US" sz="1600" dirty="0"/>
                    </a:p>
                  </a:txBody>
                  <a:tcPr/>
                </a:tc>
                <a:tc>
                  <a:txBody>
                    <a:bodyPr/>
                    <a:lstStyle/>
                    <a:p>
                      <a:pPr algn="ctr"/>
                      <a:r>
                        <a:rPr lang="en-US" altLang="zh-TW" sz="1600" dirty="0" smtClean="0"/>
                        <a:t>a</a:t>
                      </a:r>
                      <a:r>
                        <a:rPr lang="en-US" altLang="zh-TW" sz="1600" baseline="-25000" dirty="0" smtClean="0"/>
                        <a:t>2</a:t>
                      </a:r>
                      <a:endParaRPr lang="zh-TW" altLang="en-US" sz="1600" baseline="-25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3</a:t>
                      </a:r>
                      <a:endParaRPr lang="zh-TW" altLang="en-US" sz="1600" baseline="-25000" dirty="0" smtClean="0"/>
                    </a:p>
                    <a:p>
                      <a:pPr algn="ctr"/>
                      <a:endParaRPr lang="zh-TW" altLang="en-US" sz="16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3</a:t>
                      </a:r>
                      <a:endParaRPr lang="zh-TW" altLang="en-US" sz="1600" baseline="-25000"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3</a:t>
                      </a:r>
                      <a:endParaRPr lang="zh-TW" altLang="en-US" sz="1600" baseline="-25000" dirty="0" smtClean="0"/>
                    </a:p>
                    <a:p>
                      <a:pPr algn="ctr"/>
                      <a:endParaRPr lang="zh-TW" altLang="en-US" sz="1600" dirty="0"/>
                    </a:p>
                  </a:txBody>
                  <a:tcPr/>
                </a:tc>
                <a:tc>
                  <a:txBody>
                    <a:bodyPr/>
                    <a:lstStyle/>
                    <a:p>
                      <a:pPr algn="ctr"/>
                      <a:r>
                        <a:rPr lang="en-US" altLang="zh-TW" sz="1600" dirty="0" smtClean="0"/>
                        <a:t>-</a:t>
                      </a:r>
                      <a:endParaRPr lang="zh-TW" altLang="en-US" sz="1600" dirty="0"/>
                    </a:p>
                  </a:txBody>
                  <a:tcPr/>
                </a:tc>
                <a:tc>
                  <a:txBody>
                    <a:bodyPr/>
                    <a:lstStyle/>
                    <a:p>
                      <a:pPr algn="ctr"/>
                      <a:endParaRPr lang="zh-TW" altLang="en-US" sz="1600" dirty="0"/>
                    </a:p>
                  </a:txBody>
                  <a:tcPr/>
                </a:tc>
              </a:tr>
              <a:tr h="370840">
                <a:tc>
                  <a:txBody>
                    <a:bodyPr/>
                    <a:lstStyle/>
                    <a:p>
                      <a:r>
                        <a:rPr lang="en-US" altLang="zh-TW" dirty="0" smtClean="0"/>
                        <a:t>10</a:t>
                      </a:r>
                      <a:endParaRPr lang="zh-TW"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algn="ctr"/>
                      <a:r>
                        <a:rPr lang="en-US" altLang="zh-TW" sz="1600" dirty="0" smtClean="0"/>
                        <a:t>-</a:t>
                      </a:r>
                      <a:endParaRPr lang="zh-TW" altLang="en-US" sz="16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algn="ctr"/>
                      <a:r>
                        <a:rPr lang="en-US" altLang="zh-TW" sz="1600" dirty="0" smtClean="0"/>
                        <a:t>-</a:t>
                      </a:r>
                      <a:endParaRPr lang="zh-TW" altLang="en-US" sz="16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algn="ctr"/>
                      <a:r>
                        <a:rPr lang="en-US" altLang="zh-TW" sz="1600" dirty="0" smtClean="0"/>
                        <a:t>-</a:t>
                      </a:r>
                      <a:endParaRPr lang="zh-TW" altLang="en-US" sz="16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algn="ctr"/>
                      <a:r>
                        <a:rPr lang="en-US" altLang="zh-TW" sz="1600" dirty="0" smtClean="0"/>
                        <a:t>-</a:t>
                      </a:r>
                      <a:endParaRPr lang="zh-TW" altLang="en-US" sz="1600" dirty="0"/>
                    </a:p>
                  </a:txBody>
                  <a:tcPr/>
                </a:tc>
              </a:tr>
            </a:tbl>
          </a:graphicData>
        </a:graphic>
      </p:graphicFrame>
      <p:sp>
        <p:nvSpPr>
          <p:cNvPr id="5" name="投影片編號版面配置區 4"/>
          <p:cNvSpPr>
            <a:spLocks noGrp="1"/>
          </p:cNvSpPr>
          <p:nvPr>
            <p:ph type="sldNum" sz="quarter" idx="12"/>
          </p:nvPr>
        </p:nvSpPr>
        <p:spPr/>
        <p:txBody>
          <a:bodyPr/>
          <a:lstStyle/>
          <a:p>
            <a:fld id="{0914735A-2DD1-49E1-A8E8-1A4F28A0E6C3}" type="slidenum">
              <a:rPr lang="zh-TW" altLang="en-US" smtClean="0"/>
              <a:pPr/>
              <a:t>18</a:t>
            </a:fld>
            <a:endParaRPr lang="zh-TW"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611560" y="116632"/>
            <a:ext cx="6768752" cy="1477328"/>
          </a:xfrm>
          <a:prstGeom prst="rect">
            <a:avLst/>
          </a:prstGeom>
          <a:noFill/>
        </p:spPr>
        <p:txBody>
          <a:bodyPr wrap="square" rtlCol="0">
            <a:spAutoFit/>
          </a:bodyPr>
          <a:lstStyle/>
          <a:p>
            <a:r>
              <a:rPr lang="en-US" altLang="zh-TW" dirty="0" err="1" smtClean="0"/>
              <a:t>f</a:t>
            </a:r>
            <a:r>
              <a:rPr lang="en-US" altLang="zh-TW" baseline="-25000" dirty="0" err="1" smtClean="0"/>
              <a:t>A</a:t>
            </a:r>
            <a:r>
              <a:rPr lang="en-US" altLang="zh-TW" dirty="0" smtClean="0"/>
              <a:t>(D)=(a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)a</a:t>
            </a:r>
            <a:r>
              <a:rPr lang="en-US" altLang="zh-TW" baseline="-25000" dirty="0" smtClean="0"/>
              <a:t>2</a:t>
            </a:r>
            <a:r>
              <a:rPr lang="en-US" altLang="zh-TW" dirty="0" smtClean="0"/>
              <a:t>(a</a:t>
            </a:r>
            <a:r>
              <a:rPr lang="en-US" altLang="zh-TW" baseline="-25000" dirty="0" smtClean="0"/>
              <a:t>1</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)a</a:t>
            </a:r>
            <a:r>
              <a:rPr lang="en-US" altLang="zh-TW" baseline="-25000" dirty="0" smtClean="0"/>
              <a:t>2</a:t>
            </a:r>
            <a:r>
              <a:rPr lang="en-US" altLang="zh-TW" dirty="0" smtClean="0"/>
              <a:t>(a</a:t>
            </a:r>
            <a:r>
              <a:rPr lang="en-US" altLang="zh-TW" baseline="-25000" dirty="0" smtClean="0"/>
              <a:t>1</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 a</a:t>
            </a:r>
            <a:r>
              <a:rPr lang="en-US" altLang="zh-TW" baseline="-25000" dirty="0" smtClean="0"/>
              <a:t>2</a:t>
            </a:r>
            <a:r>
              <a:rPr lang="en-US" altLang="zh-TW" dirty="0" smtClean="0"/>
              <a:t>(a</a:t>
            </a:r>
            <a:r>
              <a:rPr lang="en-US" altLang="zh-TW" baseline="-25000" dirty="0" smtClean="0"/>
              <a:t>1</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 = a</a:t>
            </a:r>
            <a:r>
              <a:rPr lang="en-US" altLang="zh-TW" baseline="-25000" dirty="0" smtClean="0"/>
              <a:t>2</a:t>
            </a:r>
            <a:r>
              <a:rPr lang="en-US" altLang="zh-TW" dirty="0" smtClean="0"/>
              <a:t>(a</a:t>
            </a:r>
            <a:r>
              <a:rPr lang="en-US" altLang="zh-TW" baseline="-25000" dirty="0" smtClean="0"/>
              <a:t>1</a:t>
            </a:r>
            <a:r>
              <a:rPr lang="en-US" altLang="zh-TW" dirty="0" smtClean="0"/>
              <a:t>+a</a:t>
            </a:r>
            <a:r>
              <a:rPr lang="en-US" altLang="zh-TW" baseline="-25000" dirty="0" smtClean="0"/>
              <a:t>3</a:t>
            </a:r>
            <a:r>
              <a:rPr lang="en-US" altLang="zh-TW" dirty="0" smtClean="0"/>
              <a:t>) = </a:t>
            </a:r>
            <a:r>
              <a:rPr lang="en-US" altLang="zh-TW" dirty="0" smtClean="0">
                <a:solidFill>
                  <a:srgbClr val="FF0000"/>
                </a:solidFill>
              </a:rPr>
              <a:t>a</a:t>
            </a:r>
            <a:r>
              <a:rPr lang="en-US" altLang="zh-TW" baseline="-25000" dirty="0" smtClean="0">
                <a:solidFill>
                  <a:srgbClr val="FF0000"/>
                </a:solidFill>
              </a:rPr>
              <a:t>1</a:t>
            </a:r>
            <a:r>
              <a:rPr lang="en-US" altLang="zh-TW" dirty="0" smtClean="0">
                <a:solidFill>
                  <a:srgbClr val="FF0000"/>
                </a:solidFill>
              </a:rPr>
              <a:t>a</a:t>
            </a:r>
            <a:r>
              <a:rPr lang="en-US" altLang="zh-TW" baseline="-25000" dirty="0" smtClean="0">
                <a:solidFill>
                  <a:srgbClr val="FF0000"/>
                </a:solidFill>
              </a:rPr>
              <a:t>2</a:t>
            </a:r>
            <a:r>
              <a:rPr lang="en-US" altLang="zh-TW" dirty="0" smtClean="0">
                <a:solidFill>
                  <a:srgbClr val="FF0000"/>
                </a:solidFill>
              </a:rPr>
              <a:t> + a</a:t>
            </a:r>
            <a:r>
              <a:rPr lang="en-US" altLang="zh-TW" baseline="-25000" dirty="0" smtClean="0">
                <a:solidFill>
                  <a:srgbClr val="FF0000"/>
                </a:solidFill>
              </a:rPr>
              <a:t>2</a:t>
            </a:r>
            <a:r>
              <a:rPr lang="en-US" altLang="zh-TW" dirty="0" smtClean="0">
                <a:solidFill>
                  <a:srgbClr val="FF0000"/>
                </a:solidFill>
              </a:rPr>
              <a:t>a</a:t>
            </a:r>
            <a:r>
              <a:rPr lang="en-US" altLang="zh-TW" baseline="-25000" dirty="0" smtClean="0">
                <a:solidFill>
                  <a:srgbClr val="FF0000"/>
                </a:solidFill>
              </a:rPr>
              <a:t>3</a:t>
            </a:r>
            <a:endParaRPr lang="zh-TW" altLang="en-US" baseline="-25000" dirty="0">
              <a:solidFill>
                <a:srgbClr val="FF0000"/>
              </a:solidFill>
            </a:endParaRPr>
          </a:p>
        </p:txBody>
      </p:sp>
      <p:sp>
        <p:nvSpPr>
          <p:cNvPr id="3" name="文字方塊 2"/>
          <p:cNvSpPr txBox="1"/>
          <p:nvPr/>
        </p:nvSpPr>
        <p:spPr>
          <a:xfrm>
            <a:off x="611560" y="1700808"/>
            <a:ext cx="3888432" cy="646331"/>
          </a:xfrm>
          <a:prstGeom prst="rect">
            <a:avLst/>
          </a:prstGeom>
          <a:noFill/>
        </p:spPr>
        <p:txBody>
          <a:bodyPr wrap="square" rtlCol="0">
            <a:spAutoFit/>
          </a:bodyPr>
          <a:lstStyle/>
          <a:p>
            <a:r>
              <a:rPr lang="en-US" altLang="zh-TW" dirty="0" smtClean="0">
                <a:solidFill>
                  <a:srgbClr val="0066FF"/>
                </a:solidFill>
              </a:rPr>
              <a:t>D-</a:t>
            </a:r>
            <a:r>
              <a:rPr lang="en-US" altLang="zh-TW" dirty="0" err="1" smtClean="0">
                <a:solidFill>
                  <a:srgbClr val="0066FF"/>
                </a:solidFill>
              </a:rPr>
              <a:t>reducts</a:t>
            </a:r>
            <a:r>
              <a:rPr lang="en-US" altLang="zh-TW" dirty="0" smtClean="0">
                <a:solidFill>
                  <a:srgbClr val="0066FF"/>
                </a:solidFill>
              </a:rPr>
              <a:t> = {a</a:t>
            </a:r>
            <a:r>
              <a:rPr lang="en-US" altLang="zh-TW" baseline="-25000" dirty="0" smtClean="0">
                <a:solidFill>
                  <a:srgbClr val="0066FF"/>
                </a:solidFill>
              </a:rPr>
              <a:t>1</a:t>
            </a:r>
            <a:r>
              <a:rPr lang="en-US" altLang="zh-TW" dirty="0" smtClean="0">
                <a:solidFill>
                  <a:srgbClr val="0066FF"/>
                </a:solidFill>
              </a:rPr>
              <a:t>, a</a:t>
            </a:r>
            <a:r>
              <a:rPr lang="en-US" altLang="zh-TW" baseline="-25000" dirty="0" smtClean="0">
                <a:solidFill>
                  <a:srgbClr val="0066FF"/>
                </a:solidFill>
              </a:rPr>
              <a:t>2</a:t>
            </a:r>
            <a:r>
              <a:rPr lang="en-US" altLang="zh-TW" dirty="0" smtClean="0">
                <a:solidFill>
                  <a:srgbClr val="0066FF"/>
                </a:solidFill>
              </a:rPr>
              <a:t>} and {a</a:t>
            </a:r>
            <a:r>
              <a:rPr lang="en-US" altLang="zh-TW" baseline="-25000" dirty="0" smtClean="0">
                <a:solidFill>
                  <a:srgbClr val="0066FF"/>
                </a:solidFill>
              </a:rPr>
              <a:t>2</a:t>
            </a:r>
            <a:r>
              <a:rPr lang="en-US" altLang="zh-TW" dirty="0" smtClean="0">
                <a:solidFill>
                  <a:srgbClr val="0066FF"/>
                </a:solidFill>
              </a:rPr>
              <a:t>, a</a:t>
            </a:r>
            <a:r>
              <a:rPr lang="en-US" altLang="zh-TW" baseline="-25000" dirty="0" smtClean="0">
                <a:solidFill>
                  <a:srgbClr val="0066FF"/>
                </a:solidFill>
              </a:rPr>
              <a:t>3</a:t>
            </a:r>
            <a:r>
              <a:rPr lang="en-US" altLang="zh-TW" dirty="0" smtClean="0">
                <a:solidFill>
                  <a:srgbClr val="0066FF"/>
                </a:solidFill>
              </a:rPr>
              <a:t>}</a:t>
            </a:r>
          </a:p>
          <a:p>
            <a:r>
              <a:rPr lang="en-US" altLang="zh-TW" dirty="0" smtClean="0">
                <a:solidFill>
                  <a:srgbClr val="0066FF"/>
                </a:solidFill>
              </a:rPr>
              <a:t>D-core = {a</a:t>
            </a:r>
            <a:r>
              <a:rPr lang="en-US" altLang="zh-TW" baseline="-25000" dirty="0" smtClean="0">
                <a:solidFill>
                  <a:srgbClr val="0066FF"/>
                </a:solidFill>
              </a:rPr>
              <a:t>2</a:t>
            </a:r>
            <a:r>
              <a:rPr lang="en-US" altLang="zh-TW" dirty="0" smtClean="0">
                <a:solidFill>
                  <a:srgbClr val="0066FF"/>
                </a:solidFill>
              </a:rPr>
              <a:t>}</a:t>
            </a:r>
            <a:endParaRPr lang="zh-TW" altLang="en-US" dirty="0">
              <a:solidFill>
                <a:srgbClr val="0066FF"/>
              </a:solidFill>
            </a:endParaRPr>
          </a:p>
        </p:txBody>
      </p:sp>
      <p:graphicFrame>
        <p:nvGraphicFramePr>
          <p:cNvPr id="4" name="表格 3"/>
          <p:cNvGraphicFramePr>
            <a:graphicFrameLocks noGrp="1"/>
          </p:cNvGraphicFramePr>
          <p:nvPr/>
        </p:nvGraphicFramePr>
        <p:xfrm>
          <a:off x="986000" y="2451184"/>
          <a:ext cx="2649896" cy="4074160"/>
        </p:xfrm>
        <a:graphic>
          <a:graphicData uri="http://schemas.openxmlformats.org/drawingml/2006/table">
            <a:tbl>
              <a:tblPr firstRow="1" bandRow="1">
                <a:tableStyleId>{7DF18680-E054-41AD-8BC1-D1AEF772440D}</a:tableStyleId>
              </a:tblPr>
              <a:tblGrid>
                <a:gridCol w="662474"/>
                <a:gridCol w="662474"/>
                <a:gridCol w="662474"/>
                <a:gridCol w="662474"/>
              </a:tblGrid>
              <a:tr h="226824">
                <a:tc>
                  <a:txBody>
                    <a:bodyPr/>
                    <a:lstStyle/>
                    <a:p>
                      <a:pPr algn="ctr"/>
                      <a:r>
                        <a:rPr lang="en-US" altLang="zh-TW" sz="1800" dirty="0" smtClean="0"/>
                        <a:t>U</a:t>
                      </a:r>
                      <a:endParaRPr lang="zh-TW" altLang="en-US" sz="1800" dirty="0"/>
                    </a:p>
                  </a:txBody>
                  <a:tcPr anchor="ctr"/>
                </a:tc>
                <a:tc>
                  <a:txBody>
                    <a:bodyPr/>
                    <a:lstStyle/>
                    <a:p>
                      <a:pPr algn="ctr"/>
                      <a:r>
                        <a:rPr lang="en-US" altLang="zh-TW" sz="1800" dirty="0" smtClean="0"/>
                        <a:t>a</a:t>
                      </a:r>
                      <a:r>
                        <a:rPr lang="en-US" altLang="zh-TW" sz="1800" baseline="-25000" dirty="0" smtClean="0"/>
                        <a:t>1</a:t>
                      </a:r>
                      <a:endParaRPr lang="zh-TW" altLang="en-US" sz="1800" baseline="-25000" dirty="0"/>
                    </a:p>
                  </a:txBody>
                  <a:tcPr anchor="ctr"/>
                </a:tc>
                <a:tc>
                  <a:txBody>
                    <a:bodyPr/>
                    <a:lstStyle/>
                    <a:p>
                      <a:pPr algn="ctr"/>
                      <a:r>
                        <a:rPr lang="en-US" altLang="zh-TW" sz="1800" dirty="0" smtClean="0"/>
                        <a:t>a</a:t>
                      </a:r>
                      <a:r>
                        <a:rPr lang="en-US" altLang="zh-TW" sz="1800" baseline="-25000" dirty="0" smtClean="0"/>
                        <a:t>2</a:t>
                      </a:r>
                      <a:endParaRPr lang="zh-TW" altLang="en-US" sz="1800" baseline="-25000" dirty="0"/>
                    </a:p>
                  </a:txBody>
                  <a:tcPr anchor="ctr"/>
                </a:tc>
                <a:tc>
                  <a:txBody>
                    <a:bodyPr/>
                    <a:lstStyle/>
                    <a:p>
                      <a:pPr algn="ctr"/>
                      <a:r>
                        <a:rPr lang="en-US" altLang="zh-TW" sz="1800" baseline="0" dirty="0" smtClean="0">
                          <a:solidFill>
                            <a:schemeClr val="bg1"/>
                          </a:solidFill>
                        </a:rPr>
                        <a:t>d</a:t>
                      </a:r>
                      <a:endParaRPr lang="zh-TW" altLang="en-US" sz="1800" baseline="0" dirty="0">
                        <a:solidFill>
                          <a:schemeClr val="bg1"/>
                        </a:solidFill>
                      </a:endParaRPr>
                    </a:p>
                  </a:txBody>
                  <a:tcPr anchor="ctr"/>
                </a:tc>
              </a:tr>
              <a:tr h="370840">
                <a:tc>
                  <a:txBody>
                    <a:bodyPr/>
                    <a:lstStyle/>
                    <a:p>
                      <a:pPr algn="ctr"/>
                      <a:r>
                        <a:rPr lang="en-US" altLang="zh-TW" sz="1800" dirty="0" smtClean="0"/>
                        <a:t>x</a:t>
                      </a:r>
                      <a:r>
                        <a:rPr lang="en-US" altLang="zh-TW" sz="1800" baseline="-25000" dirty="0" smtClean="0"/>
                        <a:t>1</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solidFill>
                            <a:schemeClr val="tx1"/>
                          </a:solidFill>
                        </a:rPr>
                        <a:t>1</a:t>
                      </a:r>
                      <a:endParaRPr lang="zh-TW" altLang="en-US" sz="1800" dirty="0">
                        <a:solidFill>
                          <a:schemeClr val="tx1"/>
                        </a:solidFill>
                      </a:endParaRPr>
                    </a:p>
                  </a:txBody>
                  <a:tcPr anchor="ctr"/>
                </a:tc>
              </a:tr>
              <a:tr h="370840">
                <a:tc>
                  <a:txBody>
                    <a:bodyPr/>
                    <a:lstStyle/>
                    <a:p>
                      <a:pPr algn="ctr"/>
                      <a:r>
                        <a:rPr lang="en-US" altLang="zh-TW" sz="1800" dirty="0" smtClean="0"/>
                        <a:t>x</a:t>
                      </a:r>
                      <a:r>
                        <a:rPr lang="en-US" altLang="zh-TW" sz="1800" baseline="-25000" dirty="0" smtClean="0"/>
                        <a:t>2</a:t>
                      </a:r>
                      <a:endParaRPr lang="zh-TW" altLang="en-US" sz="1800" baseline="-250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solidFill>
                            <a:schemeClr val="tx1"/>
                          </a:solidFill>
                        </a:rPr>
                        <a:t>2</a:t>
                      </a:r>
                      <a:endParaRPr lang="zh-TW" altLang="en-US" sz="1800" dirty="0">
                        <a:solidFill>
                          <a:schemeClr val="tx1"/>
                        </a:solidFill>
                      </a:endParaRPr>
                    </a:p>
                  </a:txBody>
                  <a:tcPr anchor="ctr"/>
                </a:tc>
              </a:tr>
              <a:tr h="370840">
                <a:tc>
                  <a:txBody>
                    <a:bodyPr/>
                    <a:lstStyle/>
                    <a:p>
                      <a:pPr algn="ctr"/>
                      <a:r>
                        <a:rPr lang="en-US" altLang="zh-TW" sz="1800" dirty="0" smtClean="0"/>
                        <a:t>x</a:t>
                      </a:r>
                      <a:r>
                        <a:rPr lang="en-US" altLang="zh-TW" sz="1800" baseline="-25000" dirty="0" smtClean="0"/>
                        <a:t>3</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solidFill>
                            <a:schemeClr val="tx1"/>
                          </a:solidFill>
                        </a:rPr>
                        <a:t>1</a:t>
                      </a:r>
                      <a:endParaRPr lang="zh-TW" altLang="en-US" sz="1800" dirty="0">
                        <a:solidFill>
                          <a:schemeClr val="tx1"/>
                        </a:solidFill>
                      </a:endParaRPr>
                    </a:p>
                  </a:txBody>
                  <a:tcPr anchor="ctr"/>
                </a:tc>
              </a:tr>
              <a:tr h="370840">
                <a:tc>
                  <a:txBody>
                    <a:bodyPr/>
                    <a:lstStyle/>
                    <a:p>
                      <a:pPr algn="ctr"/>
                      <a:r>
                        <a:rPr lang="en-US" altLang="zh-TW" sz="1800" dirty="0" smtClean="0"/>
                        <a:t>x</a:t>
                      </a:r>
                      <a:r>
                        <a:rPr lang="en-US" altLang="zh-TW" sz="1800" baseline="-25000" dirty="0" smtClean="0"/>
                        <a:t>4</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solidFill>
                            <a:schemeClr val="tx1"/>
                          </a:solidFill>
                        </a:rPr>
                        <a:t>2</a:t>
                      </a:r>
                      <a:endParaRPr lang="zh-TW" altLang="en-US" sz="1800" dirty="0">
                        <a:solidFill>
                          <a:schemeClr val="tx1"/>
                        </a:solidFill>
                      </a:endParaRPr>
                    </a:p>
                  </a:txBody>
                  <a:tcPr anchor="ctr"/>
                </a:tc>
              </a:tr>
              <a:tr h="370840">
                <a:tc>
                  <a:txBody>
                    <a:bodyPr/>
                    <a:lstStyle/>
                    <a:p>
                      <a:pPr algn="ctr"/>
                      <a:r>
                        <a:rPr lang="en-US" altLang="zh-TW" sz="1800" dirty="0" smtClean="0"/>
                        <a:t>x</a:t>
                      </a:r>
                      <a:r>
                        <a:rPr lang="en-US" altLang="zh-TW" sz="1800" baseline="-25000" dirty="0" smtClean="0"/>
                        <a:t>5</a:t>
                      </a:r>
                      <a:endParaRPr lang="zh-TW" altLang="en-US" sz="1800" baseline="-250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solidFill>
                            <a:schemeClr val="tx1"/>
                          </a:solidFill>
                        </a:rPr>
                        <a:t>3</a:t>
                      </a:r>
                      <a:endParaRPr lang="zh-TW" altLang="en-US" sz="1800" dirty="0">
                        <a:solidFill>
                          <a:schemeClr val="tx1"/>
                        </a:solidFill>
                      </a:endParaRPr>
                    </a:p>
                  </a:txBody>
                  <a:tcPr anchor="ctr"/>
                </a:tc>
              </a:tr>
              <a:tr h="370840">
                <a:tc>
                  <a:txBody>
                    <a:bodyPr/>
                    <a:lstStyle/>
                    <a:p>
                      <a:pPr algn="ctr"/>
                      <a:r>
                        <a:rPr lang="en-US" altLang="zh-TW" sz="1800" dirty="0" smtClean="0"/>
                        <a:t>x</a:t>
                      </a:r>
                      <a:r>
                        <a:rPr lang="en-US" altLang="zh-TW" sz="1800" baseline="-25000" dirty="0" smtClean="0"/>
                        <a:t>6</a:t>
                      </a:r>
                      <a:endParaRPr lang="zh-TW" altLang="en-US" sz="1800" baseline="-250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solidFill>
                            <a:schemeClr val="tx1"/>
                          </a:solidFill>
                        </a:rPr>
                        <a:t>3</a:t>
                      </a:r>
                      <a:endParaRPr lang="zh-TW" altLang="en-US" sz="1800" dirty="0">
                        <a:solidFill>
                          <a:schemeClr val="tx1"/>
                        </a:solidFill>
                      </a:endParaRPr>
                    </a:p>
                  </a:txBody>
                  <a:tcPr anchor="ctr"/>
                </a:tc>
              </a:tr>
              <a:tr h="370840">
                <a:tc>
                  <a:txBody>
                    <a:bodyPr/>
                    <a:lstStyle/>
                    <a:p>
                      <a:pPr algn="ctr"/>
                      <a:r>
                        <a:rPr lang="en-US" altLang="zh-TW" sz="1800" dirty="0" smtClean="0"/>
                        <a:t>x</a:t>
                      </a:r>
                      <a:r>
                        <a:rPr lang="en-US" altLang="zh-TW" sz="1800" baseline="-25000" dirty="0" smtClean="0"/>
                        <a:t>7</a:t>
                      </a:r>
                      <a:endParaRPr lang="zh-TW" altLang="en-US" sz="1800" baseline="-250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solidFill>
                            <a:schemeClr val="tx1"/>
                          </a:solidFill>
                        </a:rPr>
                        <a:t>2</a:t>
                      </a:r>
                      <a:endParaRPr lang="zh-TW" altLang="en-US" sz="1800" dirty="0">
                        <a:solidFill>
                          <a:schemeClr val="tx1"/>
                        </a:solidFill>
                      </a:endParaRPr>
                    </a:p>
                  </a:txBody>
                  <a:tcPr anchor="ctr"/>
                </a:tc>
              </a:tr>
              <a:tr h="370840">
                <a:tc>
                  <a:txBody>
                    <a:bodyPr/>
                    <a:lstStyle/>
                    <a:p>
                      <a:pPr algn="ctr"/>
                      <a:r>
                        <a:rPr lang="en-US" altLang="zh-TW" sz="1800" dirty="0" smtClean="0"/>
                        <a:t>x</a:t>
                      </a:r>
                      <a:r>
                        <a:rPr lang="en-US" altLang="zh-TW" sz="1800" baseline="-25000" dirty="0" smtClean="0"/>
                        <a:t>8</a:t>
                      </a:r>
                      <a:endParaRPr lang="zh-TW" altLang="en-US" sz="1800" baseline="-250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solidFill>
                            <a:schemeClr val="tx1"/>
                          </a:solidFill>
                        </a:rPr>
                        <a:t>3</a:t>
                      </a:r>
                      <a:endParaRPr lang="zh-TW" altLang="en-US" sz="1800" dirty="0">
                        <a:solidFill>
                          <a:schemeClr val="tx1"/>
                        </a:solidFill>
                      </a:endParaRPr>
                    </a:p>
                  </a:txBody>
                  <a:tcPr anchor="ctr"/>
                </a:tc>
              </a:tr>
              <a:tr h="370840">
                <a:tc>
                  <a:txBody>
                    <a:bodyPr/>
                    <a:lstStyle/>
                    <a:p>
                      <a:pPr algn="ctr"/>
                      <a:r>
                        <a:rPr lang="en-US" altLang="zh-TW" sz="1800" dirty="0" smtClean="0"/>
                        <a:t>x</a:t>
                      </a:r>
                      <a:r>
                        <a:rPr lang="en-US" altLang="zh-TW" sz="1800" baseline="-25000" dirty="0" smtClean="0"/>
                        <a:t>9</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solidFill>
                            <a:schemeClr val="tx1"/>
                          </a:solidFill>
                        </a:rPr>
                        <a:t>1</a:t>
                      </a:r>
                      <a:endParaRPr lang="zh-TW" altLang="en-US" sz="1800" dirty="0">
                        <a:solidFill>
                          <a:schemeClr val="tx1"/>
                        </a:solidFill>
                      </a:endParaRPr>
                    </a:p>
                  </a:txBody>
                  <a:tcPr anchor="ctr"/>
                </a:tc>
              </a:tr>
              <a:tr h="370840">
                <a:tc>
                  <a:txBody>
                    <a:bodyPr/>
                    <a:lstStyle/>
                    <a:p>
                      <a:pPr algn="ctr"/>
                      <a:r>
                        <a:rPr lang="en-US" altLang="zh-TW" sz="1800" dirty="0" smtClean="0"/>
                        <a:t>x</a:t>
                      </a:r>
                      <a:r>
                        <a:rPr lang="en-US" altLang="zh-TW" sz="1800" baseline="-25000" dirty="0" smtClean="0"/>
                        <a:t>10</a:t>
                      </a:r>
                      <a:endParaRPr lang="zh-TW" altLang="en-US" sz="1800" baseline="-250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solidFill>
                            <a:schemeClr val="tx1"/>
                          </a:solidFill>
                        </a:rPr>
                        <a:t>2</a:t>
                      </a:r>
                      <a:endParaRPr lang="zh-TW" altLang="en-US" sz="1800" dirty="0">
                        <a:solidFill>
                          <a:schemeClr val="tx1"/>
                        </a:solidFill>
                      </a:endParaRPr>
                    </a:p>
                  </a:txBody>
                  <a:tcPr anchor="ctr"/>
                </a:tc>
              </a:tr>
            </a:tbl>
          </a:graphicData>
        </a:graphic>
      </p:graphicFrame>
      <p:graphicFrame>
        <p:nvGraphicFramePr>
          <p:cNvPr id="5" name="表格 4"/>
          <p:cNvGraphicFramePr>
            <a:graphicFrameLocks noGrp="1"/>
          </p:cNvGraphicFramePr>
          <p:nvPr/>
        </p:nvGraphicFramePr>
        <p:xfrm>
          <a:off x="4370376" y="2451184"/>
          <a:ext cx="2649896" cy="4074160"/>
        </p:xfrm>
        <a:graphic>
          <a:graphicData uri="http://schemas.openxmlformats.org/drawingml/2006/table">
            <a:tbl>
              <a:tblPr firstRow="1" bandRow="1">
                <a:tableStyleId>{F5AB1C69-6EDB-4FF4-983F-18BD219EF322}</a:tableStyleId>
              </a:tblPr>
              <a:tblGrid>
                <a:gridCol w="662474"/>
                <a:gridCol w="662474"/>
                <a:gridCol w="662474"/>
                <a:gridCol w="662474"/>
              </a:tblGrid>
              <a:tr h="226824">
                <a:tc>
                  <a:txBody>
                    <a:bodyPr/>
                    <a:lstStyle/>
                    <a:p>
                      <a:pPr algn="ctr"/>
                      <a:r>
                        <a:rPr lang="en-US" altLang="zh-TW" sz="1800" dirty="0" smtClean="0"/>
                        <a:t>U</a:t>
                      </a:r>
                      <a:endParaRPr lang="zh-TW" altLang="en-US" sz="1800" dirty="0"/>
                    </a:p>
                  </a:txBody>
                  <a:tcPr anchor="ctr"/>
                </a:tc>
                <a:tc>
                  <a:txBody>
                    <a:bodyPr/>
                    <a:lstStyle/>
                    <a:p>
                      <a:pPr algn="ctr"/>
                      <a:r>
                        <a:rPr lang="en-US" altLang="zh-TW" sz="1800" dirty="0" smtClean="0"/>
                        <a:t>a</a:t>
                      </a:r>
                      <a:r>
                        <a:rPr lang="en-US" altLang="zh-TW" sz="1800" baseline="-25000" dirty="0" smtClean="0"/>
                        <a:t>2</a:t>
                      </a:r>
                      <a:endParaRPr lang="zh-TW" altLang="en-US" sz="1800" baseline="-25000" dirty="0"/>
                    </a:p>
                  </a:txBody>
                  <a:tcPr anchor="ctr"/>
                </a:tc>
                <a:tc>
                  <a:txBody>
                    <a:bodyPr/>
                    <a:lstStyle/>
                    <a:p>
                      <a:pPr algn="ctr"/>
                      <a:r>
                        <a:rPr lang="en-US" altLang="zh-TW" sz="1800" dirty="0" smtClean="0"/>
                        <a:t>a</a:t>
                      </a:r>
                      <a:r>
                        <a:rPr lang="en-US" altLang="zh-TW" sz="1800" baseline="-25000" dirty="0" smtClean="0"/>
                        <a:t>3</a:t>
                      </a:r>
                      <a:endParaRPr lang="zh-TW" altLang="en-US" sz="1800" baseline="-25000" dirty="0"/>
                    </a:p>
                  </a:txBody>
                  <a:tcPr anchor="ctr"/>
                </a:tc>
                <a:tc>
                  <a:txBody>
                    <a:bodyPr/>
                    <a:lstStyle/>
                    <a:p>
                      <a:pPr algn="ctr"/>
                      <a:r>
                        <a:rPr lang="en-US" altLang="zh-TW" sz="1800" baseline="0" dirty="0" smtClean="0"/>
                        <a:t>d</a:t>
                      </a:r>
                      <a:endParaRPr lang="zh-TW" altLang="en-US" sz="1800" baseline="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1</a:t>
                      </a:r>
                      <a:endParaRPr lang="zh-TW" altLang="en-US" sz="1800" baseline="-250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t>1</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2</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2</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3</a:t>
                      </a:r>
                      <a:endParaRPr lang="zh-TW" altLang="en-US" sz="1800" baseline="-250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t>1</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4</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t>2</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5</a:t>
                      </a:r>
                      <a:endParaRPr lang="zh-TW" altLang="en-US" sz="1800" baseline="-250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4</a:t>
                      </a:r>
                      <a:endParaRPr lang="zh-TW" altLang="en-US" sz="1800" dirty="0"/>
                    </a:p>
                  </a:txBody>
                  <a:tcPr anchor="ctr"/>
                </a:tc>
                <a:tc>
                  <a:txBody>
                    <a:bodyPr/>
                    <a:lstStyle/>
                    <a:p>
                      <a:pPr algn="ctr"/>
                      <a:r>
                        <a:rPr lang="en-US" altLang="zh-TW" sz="1800" dirty="0" smtClean="0"/>
                        <a:t>3</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6</a:t>
                      </a:r>
                      <a:endParaRPr lang="zh-TW" altLang="en-US" sz="1800" baseline="-250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3</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7</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2</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8</a:t>
                      </a:r>
                      <a:endParaRPr lang="zh-TW" altLang="en-US" sz="1800" baseline="-250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4</a:t>
                      </a:r>
                      <a:endParaRPr lang="zh-TW" altLang="en-US" sz="1800" dirty="0"/>
                    </a:p>
                  </a:txBody>
                  <a:tcPr anchor="ctr"/>
                </a:tc>
                <a:tc>
                  <a:txBody>
                    <a:bodyPr/>
                    <a:lstStyle/>
                    <a:p>
                      <a:pPr algn="ctr"/>
                      <a:r>
                        <a:rPr lang="en-US" altLang="zh-TW" sz="1800" dirty="0" smtClean="0"/>
                        <a:t>3</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9</a:t>
                      </a:r>
                      <a:endParaRPr lang="zh-TW" altLang="en-US" sz="1800" baseline="-250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t>1</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10</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2</a:t>
                      </a:r>
                      <a:endParaRPr lang="zh-TW" altLang="en-US" sz="1800" dirty="0">
                        <a:solidFill>
                          <a:srgbClr val="FF0000"/>
                        </a:solidFill>
                      </a:endParaRPr>
                    </a:p>
                  </a:txBody>
                  <a:tcPr anchor="ctr"/>
                </a:tc>
              </a:tr>
            </a:tbl>
          </a:graphicData>
        </a:graphic>
      </p:graphicFrame>
      <p:sp>
        <p:nvSpPr>
          <p:cNvPr id="6" name="投影片編號版面配置區 5"/>
          <p:cNvSpPr>
            <a:spLocks noGrp="1"/>
          </p:cNvSpPr>
          <p:nvPr>
            <p:ph type="sldNum" sz="quarter" idx="12"/>
          </p:nvPr>
        </p:nvSpPr>
        <p:spPr/>
        <p:txBody>
          <a:bodyPr/>
          <a:lstStyle/>
          <a:p>
            <a:fld id="{0914735A-2DD1-49E1-A8E8-1A4F28A0E6C3}" type="slidenum">
              <a:rPr lang="zh-TW" altLang="en-US" smtClean="0"/>
              <a:pPr/>
              <a:t>19</a:t>
            </a:fld>
            <a:endParaRPr lang="zh-TW"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251520" y="764704"/>
            <a:ext cx="4608512" cy="3139321"/>
          </a:xfrm>
          <a:prstGeom prst="rect">
            <a:avLst/>
          </a:prstGeom>
          <a:noFill/>
        </p:spPr>
        <p:txBody>
          <a:bodyPr wrap="square" rtlCol="0">
            <a:spAutoFit/>
          </a:bodyPr>
          <a:lstStyle/>
          <a:p>
            <a:r>
              <a:rPr lang="en-US" altLang="zh-TW" dirty="0" smtClean="0"/>
              <a:t>f</a:t>
            </a:r>
            <a:r>
              <a:rPr lang="en-US" altLang="zh-TW" baseline="-25000" dirty="0" smtClean="0"/>
              <a:t>1</a:t>
            </a:r>
            <a:r>
              <a:rPr lang="en-US" altLang="zh-TW" dirty="0" smtClean="0"/>
              <a:t>(D) = (a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2</a:t>
            </a:r>
            <a:r>
              <a:rPr lang="en-US" altLang="zh-TW" dirty="0" smtClean="0"/>
              <a:t>a</a:t>
            </a:r>
            <a:r>
              <a:rPr lang="en-US" altLang="zh-TW" baseline="-25000" dirty="0" smtClean="0"/>
              <a:t>1</a:t>
            </a:r>
            <a:r>
              <a:rPr lang="en-US" altLang="zh-TW" dirty="0" smtClean="0"/>
              <a:t>a</a:t>
            </a:r>
            <a:r>
              <a:rPr lang="en-US" altLang="zh-TW" baseline="-25000" dirty="0" smtClean="0"/>
              <a:t>1</a:t>
            </a:r>
            <a:r>
              <a:rPr lang="en-US" altLang="zh-TW" dirty="0" smtClean="0"/>
              <a:t>(a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1</a:t>
            </a:r>
            <a:r>
              <a:rPr lang="en-US" altLang="zh-TW" dirty="0" smtClean="0"/>
              <a:t>(a</a:t>
            </a:r>
            <a:r>
              <a:rPr lang="en-US" altLang="zh-TW" baseline="-25000" dirty="0" smtClean="0"/>
              <a:t>1</a:t>
            </a:r>
            <a:r>
              <a:rPr lang="en-US" altLang="zh-TW" dirty="0" smtClean="0"/>
              <a:t>+a</a:t>
            </a:r>
            <a:r>
              <a:rPr lang="en-US" altLang="zh-TW" baseline="-25000" dirty="0" smtClean="0"/>
              <a:t>2</a:t>
            </a:r>
            <a:r>
              <a:rPr lang="en-US" altLang="zh-TW" dirty="0" smtClean="0"/>
              <a:t>) = a</a:t>
            </a:r>
            <a:r>
              <a:rPr lang="en-US" altLang="zh-TW" baseline="-25000" dirty="0" smtClean="0"/>
              <a:t>1</a:t>
            </a:r>
            <a:r>
              <a:rPr lang="en-US" altLang="zh-TW" dirty="0" smtClean="0"/>
              <a:t>a</a:t>
            </a:r>
            <a:r>
              <a:rPr lang="en-US" altLang="zh-TW" baseline="-25000" dirty="0" smtClean="0"/>
              <a:t>2</a:t>
            </a:r>
          </a:p>
          <a:p>
            <a:r>
              <a:rPr lang="en-US" altLang="zh-TW" dirty="0" smtClean="0"/>
              <a:t>in the same way:</a:t>
            </a:r>
          </a:p>
          <a:p>
            <a:r>
              <a:rPr lang="en-US" altLang="zh-TW" dirty="0" smtClean="0"/>
              <a:t>f</a:t>
            </a:r>
            <a:r>
              <a:rPr lang="en-US" altLang="zh-TW" baseline="-25000" dirty="0" smtClean="0"/>
              <a:t>2</a:t>
            </a:r>
            <a:r>
              <a:rPr lang="en-US" altLang="zh-TW" dirty="0" smtClean="0"/>
              <a:t>(D) = a</a:t>
            </a:r>
            <a:r>
              <a:rPr lang="en-US" altLang="zh-TW" baseline="-25000" dirty="0" smtClean="0"/>
              <a:t>1</a:t>
            </a:r>
            <a:r>
              <a:rPr lang="en-US" altLang="zh-TW" dirty="0" smtClean="0"/>
              <a:t>+ a</a:t>
            </a:r>
            <a:r>
              <a:rPr lang="en-US" altLang="zh-TW" baseline="-25000" dirty="0" smtClean="0"/>
              <a:t>2</a:t>
            </a:r>
          </a:p>
          <a:p>
            <a:r>
              <a:rPr lang="en-US" altLang="zh-TW" dirty="0" smtClean="0"/>
              <a:t>f</a:t>
            </a:r>
            <a:r>
              <a:rPr lang="en-US" altLang="zh-TW" baseline="-25000" dirty="0" smtClean="0"/>
              <a:t>3</a:t>
            </a:r>
            <a:r>
              <a:rPr lang="en-US" altLang="zh-TW" dirty="0" smtClean="0"/>
              <a:t>(D) = a</a:t>
            </a:r>
            <a:r>
              <a:rPr lang="en-US" altLang="zh-TW" baseline="-25000" dirty="0" smtClean="0"/>
              <a:t>1</a:t>
            </a:r>
            <a:r>
              <a:rPr lang="en-US" altLang="zh-TW" dirty="0" smtClean="0"/>
              <a:t>a</a:t>
            </a:r>
            <a:r>
              <a:rPr lang="en-US" altLang="zh-TW" baseline="-25000" dirty="0" smtClean="0"/>
              <a:t>2</a:t>
            </a:r>
            <a:endParaRPr lang="en-US" altLang="zh-TW" dirty="0" smtClean="0"/>
          </a:p>
          <a:p>
            <a:r>
              <a:rPr lang="en-US" altLang="zh-TW" dirty="0" smtClean="0"/>
              <a:t>f</a:t>
            </a:r>
            <a:r>
              <a:rPr lang="en-US" altLang="zh-TW" baseline="-25000" dirty="0" smtClean="0"/>
              <a:t>4</a:t>
            </a:r>
            <a:r>
              <a:rPr lang="en-US" altLang="zh-TW" dirty="0" smtClean="0"/>
              <a:t>(D) = a</a:t>
            </a:r>
            <a:r>
              <a:rPr lang="en-US" altLang="zh-TW" baseline="-25000" dirty="0" smtClean="0"/>
              <a:t>2</a:t>
            </a:r>
          </a:p>
          <a:p>
            <a:r>
              <a:rPr lang="en-US" altLang="zh-TW" dirty="0" smtClean="0"/>
              <a:t>f</a:t>
            </a:r>
            <a:r>
              <a:rPr lang="en-US" altLang="zh-TW" baseline="-25000" dirty="0" smtClean="0"/>
              <a:t>5</a:t>
            </a:r>
            <a:r>
              <a:rPr lang="en-US" altLang="zh-TW" dirty="0" smtClean="0"/>
              <a:t>(D) = a</a:t>
            </a:r>
            <a:r>
              <a:rPr lang="en-US" altLang="zh-TW" baseline="-25000" dirty="0" smtClean="0"/>
              <a:t>1</a:t>
            </a:r>
          </a:p>
          <a:p>
            <a:r>
              <a:rPr lang="en-US" altLang="zh-TW" dirty="0" smtClean="0"/>
              <a:t>f</a:t>
            </a:r>
            <a:r>
              <a:rPr lang="en-US" altLang="zh-TW" baseline="-25000" dirty="0" smtClean="0"/>
              <a:t>6</a:t>
            </a:r>
            <a:r>
              <a:rPr lang="en-US" altLang="zh-TW" dirty="0" smtClean="0"/>
              <a:t>(D) = a</a:t>
            </a:r>
            <a:r>
              <a:rPr lang="en-US" altLang="zh-TW" baseline="-25000" dirty="0" smtClean="0"/>
              <a:t>1</a:t>
            </a:r>
          </a:p>
          <a:p>
            <a:r>
              <a:rPr lang="en-US" altLang="zh-TW" dirty="0" smtClean="0"/>
              <a:t>f</a:t>
            </a:r>
            <a:r>
              <a:rPr lang="en-US" altLang="zh-TW" baseline="-25000" dirty="0" smtClean="0"/>
              <a:t>7</a:t>
            </a:r>
            <a:r>
              <a:rPr lang="en-US" altLang="zh-TW" dirty="0" smtClean="0"/>
              <a:t>(D) = a</a:t>
            </a:r>
            <a:r>
              <a:rPr lang="en-US" altLang="zh-TW" baseline="-25000" dirty="0" smtClean="0"/>
              <a:t>1</a:t>
            </a:r>
            <a:r>
              <a:rPr lang="en-US" altLang="zh-TW" dirty="0" smtClean="0"/>
              <a:t>+a</a:t>
            </a:r>
            <a:r>
              <a:rPr lang="en-US" altLang="zh-TW" baseline="-25000" dirty="0" smtClean="0"/>
              <a:t>2</a:t>
            </a:r>
            <a:endParaRPr lang="en-US" altLang="zh-TW" dirty="0" smtClean="0"/>
          </a:p>
          <a:p>
            <a:r>
              <a:rPr lang="en-US" altLang="zh-TW" dirty="0" smtClean="0"/>
              <a:t>f</a:t>
            </a:r>
            <a:r>
              <a:rPr lang="en-US" altLang="zh-TW" baseline="-25000" dirty="0" smtClean="0"/>
              <a:t>8</a:t>
            </a:r>
            <a:r>
              <a:rPr lang="en-US" altLang="zh-TW" dirty="0" smtClean="0"/>
              <a:t>(D) = a</a:t>
            </a:r>
            <a:r>
              <a:rPr lang="en-US" altLang="zh-TW" baseline="-25000" dirty="0" smtClean="0"/>
              <a:t>1</a:t>
            </a:r>
          </a:p>
          <a:p>
            <a:r>
              <a:rPr lang="en-US" altLang="zh-TW" dirty="0" smtClean="0"/>
              <a:t>f</a:t>
            </a:r>
            <a:r>
              <a:rPr lang="en-US" altLang="zh-TW" baseline="-25000" dirty="0" smtClean="0"/>
              <a:t>9</a:t>
            </a:r>
            <a:r>
              <a:rPr lang="en-US" altLang="zh-TW" dirty="0" smtClean="0"/>
              <a:t>(D) = a</a:t>
            </a:r>
            <a:r>
              <a:rPr lang="en-US" altLang="zh-TW" baseline="-25000" dirty="0" smtClean="0"/>
              <a:t>1</a:t>
            </a:r>
            <a:r>
              <a:rPr lang="en-US" altLang="zh-TW" dirty="0" smtClean="0"/>
              <a:t>a</a:t>
            </a:r>
            <a:r>
              <a:rPr lang="en-US" altLang="zh-TW" baseline="-25000" dirty="0" smtClean="0"/>
              <a:t>2</a:t>
            </a:r>
          </a:p>
          <a:p>
            <a:r>
              <a:rPr lang="en-US" altLang="zh-TW" dirty="0" smtClean="0"/>
              <a:t>f</a:t>
            </a:r>
            <a:r>
              <a:rPr lang="en-US" altLang="zh-TW" baseline="-25000" dirty="0" smtClean="0"/>
              <a:t>10</a:t>
            </a:r>
            <a:r>
              <a:rPr lang="en-US" altLang="zh-TW" dirty="0" smtClean="0"/>
              <a:t>(D) = a</a:t>
            </a:r>
            <a:r>
              <a:rPr lang="en-US" altLang="zh-TW" baseline="-25000" dirty="0" smtClean="0"/>
              <a:t>1</a:t>
            </a:r>
            <a:r>
              <a:rPr lang="en-US" altLang="zh-TW" dirty="0" smtClean="0"/>
              <a:t> + a</a:t>
            </a:r>
            <a:r>
              <a:rPr lang="en-US" altLang="zh-TW" baseline="-25000" dirty="0" smtClean="0"/>
              <a:t>2</a:t>
            </a:r>
            <a:endParaRPr lang="zh-TW" altLang="en-US" baseline="-25000" dirty="0"/>
          </a:p>
        </p:txBody>
      </p:sp>
      <p:graphicFrame>
        <p:nvGraphicFramePr>
          <p:cNvPr id="3" name="表格 2"/>
          <p:cNvGraphicFramePr>
            <a:graphicFrameLocks noGrp="1"/>
          </p:cNvGraphicFramePr>
          <p:nvPr/>
        </p:nvGraphicFramePr>
        <p:xfrm>
          <a:off x="5076056" y="836712"/>
          <a:ext cx="2649896" cy="4074160"/>
        </p:xfrm>
        <a:graphic>
          <a:graphicData uri="http://schemas.openxmlformats.org/drawingml/2006/table">
            <a:tbl>
              <a:tblPr firstRow="1" bandRow="1">
                <a:tableStyleId>{7DF18680-E054-41AD-8BC1-D1AEF772440D}</a:tableStyleId>
              </a:tblPr>
              <a:tblGrid>
                <a:gridCol w="662474"/>
                <a:gridCol w="662474"/>
                <a:gridCol w="662474"/>
                <a:gridCol w="662474"/>
              </a:tblGrid>
              <a:tr h="226824">
                <a:tc>
                  <a:txBody>
                    <a:bodyPr/>
                    <a:lstStyle/>
                    <a:p>
                      <a:pPr algn="ctr"/>
                      <a:r>
                        <a:rPr lang="en-US" altLang="zh-TW" sz="1800" dirty="0" smtClean="0"/>
                        <a:t>U</a:t>
                      </a:r>
                      <a:endParaRPr lang="zh-TW" altLang="en-US" sz="1800" dirty="0"/>
                    </a:p>
                  </a:txBody>
                  <a:tcPr anchor="ctr"/>
                </a:tc>
                <a:tc>
                  <a:txBody>
                    <a:bodyPr/>
                    <a:lstStyle/>
                    <a:p>
                      <a:pPr algn="ctr"/>
                      <a:r>
                        <a:rPr lang="en-US" altLang="zh-TW" sz="1800" dirty="0" smtClean="0"/>
                        <a:t>a</a:t>
                      </a:r>
                      <a:r>
                        <a:rPr lang="en-US" altLang="zh-TW" sz="1800" baseline="-25000" dirty="0" smtClean="0"/>
                        <a:t>1</a:t>
                      </a:r>
                      <a:endParaRPr lang="zh-TW" altLang="en-US" sz="1800" baseline="-25000" dirty="0"/>
                    </a:p>
                  </a:txBody>
                  <a:tcPr anchor="ctr"/>
                </a:tc>
                <a:tc>
                  <a:txBody>
                    <a:bodyPr/>
                    <a:lstStyle/>
                    <a:p>
                      <a:pPr algn="ctr"/>
                      <a:r>
                        <a:rPr lang="en-US" altLang="zh-TW" sz="1800" dirty="0" smtClean="0"/>
                        <a:t>a</a:t>
                      </a:r>
                      <a:r>
                        <a:rPr lang="en-US" altLang="zh-TW" sz="1800" baseline="-25000" dirty="0" smtClean="0"/>
                        <a:t>2</a:t>
                      </a:r>
                      <a:endParaRPr lang="zh-TW" altLang="en-US" sz="1800" baseline="-25000" dirty="0"/>
                    </a:p>
                  </a:txBody>
                  <a:tcPr anchor="ctr"/>
                </a:tc>
                <a:tc>
                  <a:txBody>
                    <a:bodyPr/>
                    <a:lstStyle/>
                    <a:p>
                      <a:pPr algn="ctr"/>
                      <a:r>
                        <a:rPr lang="en-US" altLang="zh-TW" sz="1800" baseline="0" dirty="0" smtClean="0">
                          <a:solidFill>
                            <a:schemeClr val="bg1"/>
                          </a:solidFill>
                        </a:rPr>
                        <a:t>d</a:t>
                      </a:r>
                      <a:endParaRPr lang="zh-TW" altLang="en-US" sz="1800" baseline="0" dirty="0">
                        <a:solidFill>
                          <a:schemeClr val="bg1"/>
                        </a:solidFill>
                      </a:endParaRPr>
                    </a:p>
                  </a:txBody>
                  <a:tcPr anchor="ctr"/>
                </a:tc>
              </a:tr>
              <a:tr h="370840">
                <a:tc>
                  <a:txBody>
                    <a:bodyPr/>
                    <a:lstStyle/>
                    <a:p>
                      <a:pPr algn="ctr"/>
                      <a:r>
                        <a:rPr lang="en-US" altLang="zh-TW" sz="1800" dirty="0" smtClean="0"/>
                        <a:t>x</a:t>
                      </a:r>
                      <a:r>
                        <a:rPr lang="en-US" altLang="zh-TW" sz="1800" baseline="-25000" dirty="0" smtClean="0"/>
                        <a:t>1</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solidFill>
                            <a:schemeClr val="tx1"/>
                          </a:solidFill>
                        </a:rPr>
                        <a:t>1</a:t>
                      </a:r>
                      <a:endParaRPr lang="zh-TW" altLang="en-US" sz="1800" dirty="0">
                        <a:solidFill>
                          <a:schemeClr val="tx1"/>
                        </a:solidFill>
                      </a:endParaRPr>
                    </a:p>
                  </a:txBody>
                  <a:tcPr anchor="ctr"/>
                </a:tc>
              </a:tr>
              <a:tr h="370840">
                <a:tc>
                  <a:txBody>
                    <a:bodyPr/>
                    <a:lstStyle/>
                    <a:p>
                      <a:pPr algn="ctr"/>
                      <a:r>
                        <a:rPr lang="en-US" altLang="zh-TW" sz="1800" dirty="0" smtClean="0"/>
                        <a:t>x</a:t>
                      </a:r>
                      <a:r>
                        <a:rPr lang="en-US" altLang="zh-TW" sz="1800" baseline="-25000" dirty="0" smtClean="0"/>
                        <a:t>2</a:t>
                      </a:r>
                      <a:endParaRPr lang="zh-TW" altLang="en-US" sz="1800" baseline="-25000" dirty="0"/>
                    </a:p>
                  </a:txBody>
                  <a:tcPr anchor="ctr"/>
                </a:tc>
                <a:tc>
                  <a:txBody>
                    <a:bodyPr/>
                    <a:lstStyle/>
                    <a:p>
                      <a:pPr algn="ctr"/>
                      <a:r>
                        <a:rPr lang="en-US" altLang="zh-TW" sz="1800" dirty="0" smtClean="0"/>
                        <a:t>*</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solidFill>
                            <a:schemeClr val="tx1"/>
                          </a:solidFill>
                        </a:rPr>
                        <a:t>2</a:t>
                      </a:r>
                      <a:endParaRPr lang="zh-TW" altLang="en-US" sz="1800" dirty="0">
                        <a:solidFill>
                          <a:schemeClr val="tx1"/>
                        </a:solidFill>
                      </a:endParaRPr>
                    </a:p>
                  </a:txBody>
                  <a:tcPr anchor="ctr"/>
                </a:tc>
              </a:tr>
              <a:tr h="370840">
                <a:tc>
                  <a:txBody>
                    <a:bodyPr/>
                    <a:lstStyle/>
                    <a:p>
                      <a:pPr algn="ctr"/>
                      <a:r>
                        <a:rPr lang="en-US" altLang="zh-TW" sz="1800" dirty="0" smtClean="0"/>
                        <a:t>x</a:t>
                      </a:r>
                      <a:r>
                        <a:rPr lang="en-US" altLang="zh-TW" sz="1800" baseline="-25000" dirty="0" smtClean="0"/>
                        <a:t>3</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solidFill>
                            <a:schemeClr val="tx1"/>
                          </a:solidFill>
                        </a:rPr>
                        <a:t>1</a:t>
                      </a:r>
                      <a:endParaRPr lang="zh-TW" altLang="en-US" sz="1800" dirty="0">
                        <a:solidFill>
                          <a:schemeClr val="tx1"/>
                        </a:solidFill>
                      </a:endParaRPr>
                    </a:p>
                  </a:txBody>
                  <a:tcPr anchor="ctr"/>
                </a:tc>
              </a:tr>
              <a:tr h="370840">
                <a:tc>
                  <a:txBody>
                    <a:bodyPr/>
                    <a:lstStyle/>
                    <a:p>
                      <a:pPr algn="ctr"/>
                      <a:r>
                        <a:rPr lang="en-US" altLang="zh-TW" sz="1800" dirty="0" smtClean="0"/>
                        <a:t>x</a:t>
                      </a:r>
                      <a:r>
                        <a:rPr lang="en-US" altLang="zh-TW" sz="1800" baseline="-25000" dirty="0" smtClean="0"/>
                        <a:t>4</a:t>
                      </a:r>
                      <a:endParaRPr lang="zh-TW" altLang="en-US" sz="1800" baseline="-25000" dirty="0"/>
                    </a:p>
                  </a:txBody>
                  <a:tcPr anchor="ctr"/>
                </a:tc>
                <a:tc>
                  <a:txBody>
                    <a:bodyPr/>
                    <a:lstStyle/>
                    <a:p>
                      <a:pPr algn="ctr"/>
                      <a:r>
                        <a:rPr lang="en-US" altLang="zh-TW" sz="1800" dirty="0" smtClean="0"/>
                        <a:t>*</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solidFill>
                            <a:schemeClr val="tx1"/>
                          </a:solidFill>
                        </a:rPr>
                        <a:t>2</a:t>
                      </a:r>
                      <a:endParaRPr lang="zh-TW" altLang="en-US" sz="1800" dirty="0">
                        <a:solidFill>
                          <a:schemeClr val="tx1"/>
                        </a:solidFill>
                      </a:endParaRPr>
                    </a:p>
                  </a:txBody>
                  <a:tcPr anchor="ctr"/>
                </a:tc>
              </a:tr>
              <a:tr h="370840">
                <a:tc>
                  <a:txBody>
                    <a:bodyPr/>
                    <a:lstStyle/>
                    <a:p>
                      <a:pPr algn="ctr"/>
                      <a:r>
                        <a:rPr lang="en-US" altLang="zh-TW" sz="1800" dirty="0" smtClean="0"/>
                        <a:t>x</a:t>
                      </a:r>
                      <a:r>
                        <a:rPr lang="en-US" altLang="zh-TW" sz="1800" baseline="-25000" dirty="0" smtClean="0"/>
                        <a:t>5</a:t>
                      </a:r>
                      <a:endParaRPr lang="zh-TW" altLang="en-US" sz="1800" baseline="-250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a:t>
                      </a:r>
                      <a:endParaRPr lang="zh-TW" altLang="en-US" sz="1800" dirty="0"/>
                    </a:p>
                  </a:txBody>
                  <a:tcPr anchor="ctr"/>
                </a:tc>
                <a:tc>
                  <a:txBody>
                    <a:bodyPr/>
                    <a:lstStyle/>
                    <a:p>
                      <a:pPr algn="ctr"/>
                      <a:r>
                        <a:rPr lang="en-US" altLang="zh-TW" sz="1800" dirty="0" smtClean="0">
                          <a:solidFill>
                            <a:schemeClr val="tx1"/>
                          </a:solidFill>
                        </a:rPr>
                        <a:t>3</a:t>
                      </a:r>
                      <a:endParaRPr lang="zh-TW" altLang="en-US" sz="1800" dirty="0">
                        <a:solidFill>
                          <a:schemeClr val="tx1"/>
                        </a:solidFill>
                      </a:endParaRPr>
                    </a:p>
                  </a:txBody>
                  <a:tcPr anchor="ctr"/>
                </a:tc>
              </a:tr>
              <a:tr h="370840">
                <a:tc>
                  <a:txBody>
                    <a:bodyPr/>
                    <a:lstStyle/>
                    <a:p>
                      <a:pPr algn="ctr"/>
                      <a:r>
                        <a:rPr lang="en-US" altLang="zh-TW" sz="1800" dirty="0" smtClean="0"/>
                        <a:t>x</a:t>
                      </a:r>
                      <a:r>
                        <a:rPr lang="en-US" altLang="zh-TW" sz="1800" baseline="-25000" dirty="0" smtClean="0"/>
                        <a:t>6</a:t>
                      </a:r>
                      <a:endParaRPr lang="zh-TW" altLang="en-US" sz="1800" baseline="-250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a:t>
                      </a:r>
                      <a:endParaRPr lang="zh-TW" altLang="en-US" sz="1800" dirty="0"/>
                    </a:p>
                  </a:txBody>
                  <a:tcPr anchor="ctr"/>
                </a:tc>
                <a:tc>
                  <a:txBody>
                    <a:bodyPr/>
                    <a:lstStyle/>
                    <a:p>
                      <a:pPr algn="ctr"/>
                      <a:r>
                        <a:rPr lang="en-US" altLang="zh-TW" sz="1800" dirty="0" smtClean="0">
                          <a:solidFill>
                            <a:schemeClr val="tx1"/>
                          </a:solidFill>
                        </a:rPr>
                        <a:t>3</a:t>
                      </a:r>
                      <a:endParaRPr lang="zh-TW" altLang="en-US" sz="1800" dirty="0">
                        <a:solidFill>
                          <a:schemeClr val="tx1"/>
                        </a:solidFill>
                      </a:endParaRPr>
                    </a:p>
                  </a:txBody>
                  <a:tcPr anchor="ctr"/>
                </a:tc>
              </a:tr>
              <a:tr h="370840">
                <a:tc>
                  <a:txBody>
                    <a:bodyPr/>
                    <a:lstStyle/>
                    <a:p>
                      <a:pPr algn="ctr"/>
                      <a:r>
                        <a:rPr lang="en-US" altLang="zh-TW" sz="1800" dirty="0" smtClean="0"/>
                        <a:t>x</a:t>
                      </a:r>
                      <a:r>
                        <a:rPr lang="en-US" altLang="zh-TW" sz="1800" baseline="-25000" dirty="0" smtClean="0"/>
                        <a:t>7</a:t>
                      </a:r>
                      <a:endParaRPr lang="zh-TW" altLang="en-US" sz="1800" baseline="-25000" dirty="0"/>
                    </a:p>
                  </a:txBody>
                  <a:tcPr anchor="ctr"/>
                </a:tc>
                <a:tc>
                  <a:txBody>
                    <a:bodyPr/>
                    <a:lstStyle/>
                    <a:p>
                      <a:pPr algn="ctr"/>
                      <a:r>
                        <a:rPr lang="en-US" altLang="zh-TW" sz="1800" dirty="0" smtClean="0"/>
                        <a:t>*</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solidFill>
                            <a:schemeClr val="tx1"/>
                          </a:solidFill>
                        </a:rPr>
                        <a:t>2</a:t>
                      </a:r>
                      <a:endParaRPr lang="zh-TW" altLang="en-US" sz="1800" dirty="0">
                        <a:solidFill>
                          <a:schemeClr val="tx1"/>
                        </a:solidFill>
                      </a:endParaRPr>
                    </a:p>
                  </a:txBody>
                  <a:tcPr anchor="ctr"/>
                </a:tc>
              </a:tr>
              <a:tr h="370840">
                <a:tc>
                  <a:txBody>
                    <a:bodyPr/>
                    <a:lstStyle/>
                    <a:p>
                      <a:pPr algn="ctr"/>
                      <a:r>
                        <a:rPr lang="en-US" altLang="zh-TW" sz="1800" dirty="0" smtClean="0"/>
                        <a:t>x</a:t>
                      </a:r>
                      <a:r>
                        <a:rPr lang="en-US" altLang="zh-TW" sz="1800" baseline="-25000" dirty="0" smtClean="0"/>
                        <a:t>8</a:t>
                      </a:r>
                      <a:endParaRPr lang="zh-TW" altLang="en-US" sz="1800" baseline="-250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a:t>
                      </a:r>
                      <a:endParaRPr lang="zh-TW" altLang="en-US" sz="1800" dirty="0"/>
                    </a:p>
                  </a:txBody>
                  <a:tcPr anchor="ctr"/>
                </a:tc>
                <a:tc>
                  <a:txBody>
                    <a:bodyPr/>
                    <a:lstStyle/>
                    <a:p>
                      <a:pPr algn="ctr"/>
                      <a:r>
                        <a:rPr lang="en-US" altLang="zh-TW" sz="1800" dirty="0" smtClean="0">
                          <a:solidFill>
                            <a:schemeClr val="tx1"/>
                          </a:solidFill>
                        </a:rPr>
                        <a:t>3</a:t>
                      </a:r>
                      <a:endParaRPr lang="zh-TW" altLang="en-US" sz="1800" dirty="0">
                        <a:solidFill>
                          <a:schemeClr val="tx1"/>
                        </a:solidFill>
                      </a:endParaRPr>
                    </a:p>
                  </a:txBody>
                  <a:tcPr anchor="ctr"/>
                </a:tc>
              </a:tr>
              <a:tr h="370840">
                <a:tc>
                  <a:txBody>
                    <a:bodyPr/>
                    <a:lstStyle/>
                    <a:p>
                      <a:pPr algn="ctr"/>
                      <a:r>
                        <a:rPr lang="en-US" altLang="zh-TW" sz="1800" dirty="0" smtClean="0"/>
                        <a:t>x</a:t>
                      </a:r>
                      <a:r>
                        <a:rPr lang="en-US" altLang="zh-TW" sz="1800" baseline="-25000" dirty="0" smtClean="0"/>
                        <a:t>9</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solidFill>
                            <a:schemeClr val="tx1"/>
                          </a:solidFill>
                        </a:rPr>
                        <a:t>1</a:t>
                      </a:r>
                      <a:endParaRPr lang="zh-TW" altLang="en-US" sz="1800" dirty="0">
                        <a:solidFill>
                          <a:schemeClr val="tx1"/>
                        </a:solidFill>
                      </a:endParaRPr>
                    </a:p>
                  </a:txBody>
                  <a:tcPr anchor="ctr"/>
                </a:tc>
              </a:tr>
              <a:tr h="370840">
                <a:tc>
                  <a:txBody>
                    <a:bodyPr/>
                    <a:lstStyle/>
                    <a:p>
                      <a:pPr algn="ctr"/>
                      <a:r>
                        <a:rPr lang="en-US" altLang="zh-TW" sz="1800" dirty="0" smtClean="0"/>
                        <a:t>x</a:t>
                      </a:r>
                      <a:r>
                        <a:rPr lang="en-US" altLang="zh-TW" sz="1800" baseline="-25000" dirty="0" smtClean="0"/>
                        <a:t>10</a:t>
                      </a:r>
                      <a:endParaRPr lang="zh-TW" altLang="en-US" sz="1800" baseline="-25000" dirty="0"/>
                    </a:p>
                  </a:txBody>
                  <a:tcPr anchor="ctr"/>
                </a:tc>
                <a:tc>
                  <a:txBody>
                    <a:bodyPr/>
                    <a:lstStyle/>
                    <a:p>
                      <a:pPr algn="ctr"/>
                      <a:r>
                        <a:rPr lang="en-US" altLang="zh-TW" sz="1800" dirty="0" smtClean="0"/>
                        <a:t>*</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solidFill>
                            <a:schemeClr val="tx1"/>
                          </a:solidFill>
                        </a:rPr>
                        <a:t>2</a:t>
                      </a:r>
                      <a:endParaRPr lang="zh-TW" altLang="en-US" sz="1800" dirty="0">
                        <a:solidFill>
                          <a:schemeClr val="tx1"/>
                        </a:solidFill>
                      </a:endParaRPr>
                    </a:p>
                  </a:txBody>
                  <a:tcPr anchor="ctr"/>
                </a:tc>
              </a:tr>
            </a:tbl>
          </a:graphicData>
        </a:graphic>
      </p:graphicFrame>
      <p:sp>
        <p:nvSpPr>
          <p:cNvPr id="4" name="向右箭號 3"/>
          <p:cNvSpPr/>
          <p:nvPr/>
        </p:nvSpPr>
        <p:spPr>
          <a:xfrm>
            <a:off x="3419872" y="2132856"/>
            <a:ext cx="864096"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文字方塊 4"/>
          <p:cNvSpPr txBox="1"/>
          <p:nvPr/>
        </p:nvSpPr>
        <p:spPr>
          <a:xfrm>
            <a:off x="323528" y="4221088"/>
            <a:ext cx="3168352" cy="1815882"/>
          </a:xfrm>
          <a:prstGeom prst="rect">
            <a:avLst/>
          </a:prstGeom>
          <a:noFill/>
        </p:spPr>
        <p:txBody>
          <a:bodyPr wrap="square" rtlCol="0">
            <a:spAutoFit/>
          </a:bodyPr>
          <a:lstStyle/>
          <a:p>
            <a:r>
              <a:rPr lang="en-US" altLang="zh-TW" sz="2800" dirty="0" smtClean="0">
                <a:solidFill>
                  <a:srgbClr val="FF0000"/>
                </a:solidFill>
              </a:rPr>
              <a:t>Decision rule:</a:t>
            </a:r>
          </a:p>
          <a:p>
            <a:pPr>
              <a:buFont typeface="Arial" pitchFamily="34" charset="0"/>
              <a:buChar char="•"/>
            </a:pPr>
            <a:r>
              <a:rPr lang="en-US" altLang="zh-TW" sz="2800" dirty="0" smtClean="0"/>
              <a:t>a</a:t>
            </a:r>
            <a:r>
              <a:rPr lang="en-US" altLang="zh-TW" sz="2800" baseline="-25000" dirty="0" smtClean="0"/>
              <a:t>1 </a:t>
            </a:r>
            <a:r>
              <a:rPr lang="en-US" altLang="zh-TW" sz="2800" dirty="0" smtClean="0"/>
              <a:t>=2, a</a:t>
            </a:r>
            <a:r>
              <a:rPr lang="en-US" altLang="zh-TW" sz="2800" baseline="-25000" dirty="0" smtClean="0"/>
              <a:t>2</a:t>
            </a:r>
            <a:r>
              <a:rPr lang="en-US" altLang="zh-TW" sz="2800" dirty="0" smtClean="0"/>
              <a:t>=1 =&gt; d=1</a:t>
            </a:r>
          </a:p>
          <a:p>
            <a:pPr>
              <a:buFont typeface="Arial" pitchFamily="34" charset="0"/>
              <a:buChar char="•"/>
            </a:pPr>
            <a:r>
              <a:rPr lang="en-US" altLang="zh-TW" sz="2800" dirty="0" smtClean="0"/>
              <a:t>a</a:t>
            </a:r>
            <a:r>
              <a:rPr lang="en-US" altLang="zh-TW" sz="2800" baseline="-25000" dirty="0" smtClean="0"/>
              <a:t>2 </a:t>
            </a:r>
            <a:r>
              <a:rPr lang="en-US" altLang="zh-TW" sz="2800" dirty="0" smtClean="0"/>
              <a:t>= 2          =&gt; d=2</a:t>
            </a:r>
          </a:p>
          <a:p>
            <a:pPr>
              <a:buFont typeface="Arial" pitchFamily="34" charset="0"/>
              <a:buChar char="•"/>
            </a:pPr>
            <a:r>
              <a:rPr lang="en-US" altLang="zh-TW" sz="2800" dirty="0" smtClean="0"/>
              <a:t>a</a:t>
            </a:r>
            <a:r>
              <a:rPr lang="en-US" altLang="zh-TW" sz="2800" baseline="-25000" dirty="0" smtClean="0"/>
              <a:t>1  </a:t>
            </a:r>
            <a:r>
              <a:rPr lang="en-US" altLang="zh-TW" sz="2800" dirty="0" smtClean="0"/>
              <a:t>=1           =&gt; d=3</a:t>
            </a:r>
            <a:endParaRPr lang="zh-TW" altLang="en-US" sz="2800" dirty="0"/>
          </a:p>
        </p:txBody>
      </p:sp>
      <p:sp>
        <p:nvSpPr>
          <p:cNvPr id="6" name="向左箭號 5"/>
          <p:cNvSpPr/>
          <p:nvPr/>
        </p:nvSpPr>
        <p:spPr>
          <a:xfrm>
            <a:off x="3419872" y="4509120"/>
            <a:ext cx="936104" cy="28803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投影片編號版面配置區 6"/>
          <p:cNvSpPr>
            <a:spLocks noGrp="1"/>
          </p:cNvSpPr>
          <p:nvPr>
            <p:ph type="sldNum" sz="quarter" idx="12"/>
          </p:nvPr>
        </p:nvSpPr>
        <p:spPr/>
        <p:txBody>
          <a:bodyPr/>
          <a:lstStyle/>
          <a:p>
            <a:fld id="{0914735A-2DD1-49E1-A8E8-1A4F28A0E6C3}" type="slidenum">
              <a:rPr lang="zh-TW" altLang="en-US" smtClean="0"/>
              <a:pPr/>
              <a:t>20</a:t>
            </a:fld>
            <a:endParaRPr lang="zh-TW"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0034" y="0"/>
            <a:ext cx="8229600" cy="1143000"/>
          </a:xfrm>
        </p:spPr>
        <p:txBody>
          <a:bodyPr/>
          <a:lstStyle/>
          <a:p>
            <a:r>
              <a:rPr lang="en-US" altLang="zh-TW" dirty="0" smtClean="0"/>
              <a:t>Rule generated by RST</a:t>
            </a:r>
            <a:endParaRPr lang="zh-TW" altLang="en-US" dirty="0"/>
          </a:p>
        </p:txBody>
      </p:sp>
      <p:pic>
        <p:nvPicPr>
          <p:cNvPr id="2050" name="Picture 2"/>
          <p:cNvPicPr>
            <a:picLocks noChangeAspect="1" noChangeArrowheads="1"/>
          </p:cNvPicPr>
          <p:nvPr/>
        </p:nvPicPr>
        <p:blipFill>
          <a:blip r:embed="rId2" cstate="print"/>
          <a:srcRect/>
          <a:stretch>
            <a:fillRect/>
          </a:stretch>
        </p:blipFill>
        <p:spPr bwMode="auto">
          <a:xfrm>
            <a:off x="1714480" y="928670"/>
            <a:ext cx="5715040" cy="5742053"/>
          </a:xfrm>
          <a:prstGeom prst="rect">
            <a:avLst/>
          </a:prstGeom>
          <a:noFill/>
          <a:ln w="9525">
            <a:noFill/>
            <a:miter lim="800000"/>
            <a:headEnd/>
            <a:tailEnd/>
          </a:ln>
        </p:spPr>
      </p:pic>
      <p:sp>
        <p:nvSpPr>
          <p:cNvPr id="4" name="投影片編號版面配置區 3"/>
          <p:cNvSpPr>
            <a:spLocks noGrp="1"/>
          </p:cNvSpPr>
          <p:nvPr>
            <p:ph type="sldNum" sz="quarter" idx="12"/>
          </p:nvPr>
        </p:nvSpPr>
        <p:spPr/>
        <p:txBody>
          <a:bodyPr/>
          <a:lstStyle/>
          <a:p>
            <a:fld id="{266EEDC6-4BD7-422D-BF05-58286CF9982B}" type="slidenum">
              <a:rPr lang="zh-TW" altLang="en-US" smtClean="0"/>
              <a:pPr/>
              <a:t>21</a:t>
            </a:fld>
            <a:endParaRPr lang="zh-TW"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71472" y="0"/>
            <a:ext cx="8229600" cy="1143000"/>
          </a:xfrm>
        </p:spPr>
        <p:txBody>
          <a:bodyPr>
            <a:normAutofit/>
          </a:bodyPr>
          <a:lstStyle/>
          <a:p>
            <a:r>
              <a:rPr lang="en-US" altLang="zh-TW" sz="3600" dirty="0" smtClean="0"/>
              <a:t>Accuracy and return improvement by GA</a:t>
            </a:r>
            <a:endParaRPr lang="zh-TW" altLang="en-US" sz="3600" dirty="0"/>
          </a:p>
        </p:txBody>
      </p:sp>
      <p:pic>
        <p:nvPicPr>
          <p:cNvPr id="3074" name="Picture 2"/>
          <p:cNvPicPr>
            <a:picLocks noChangeAspect="1" noChangeArrowheads="1"/>
          </p:cNvPicPr>
          <p:nvPr/>
        </p:nvPicPr>
        <p:blipFill>
          <a:blip r:embed="rId2" cstate="print"/>
          <a:srcRect/>
          <a:stretch>
            <a:fillRect/>
          </a:stretch>
        </p:blipFill>
        <p:spPr bwMode="auto">
          <a:xfrm>
            <a:off x="2285984" y="1000108"/>
            <a:ext cx="3929090" cy="5723411"/>
          </a:xfrm>
          <a:prstGeom prst="rect">
            <a:avLst/>
          </a:prstGeom>
          <a:noFill/>
          <a:ln w="9525">
            <a:noFill/>
            <a:miter lim="800000"/>
            <a:headEnd/>
            <a:tailEnd/>
          </a:ln>
        </p:spPr>
      </p:pic>
      <p:sp>
        <p:nvSpPr>
          <p:cNvPr id="4" name="投影片編號版面配置區 3"/>
          <p:cNvSpPr>
            <a:spLocks noGrp="1"/>
          </p:cNvSpPr>
          <p:nvPr>
            <p:ph type="sldNum" sz="quarter" idx="12"/>
          </p:nvPr>
        </p:nvSpPr>
        <p:spPr/>
        <p:txBody>
          <a:bodyPr/>
          <a:lstStyle/>
          <a:p>
            <a:fld id="{266EEDC6-4BD7-422D-BF05-58286CF9982B}" type="slidenum">
              <a:rPr lang="zh-TW" altLang="en-US" smtClean="0"/>
              <a:pPr/>
              <a:t>22</a:t>
            </a:fld>
            <a:endParaRPr lang="zh-TW"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266EEDC6-4BD7-422D-BF05-58286CF9982B}" type="slidenum">
              <a:rPr lang="zh-TW" altLang="en-US" smtClean="0"/>
              <a:pPr/>
              <a:t>23</a:t>
            </a:fld>
            <a:endParaRPr lang="zh-TW" altLang="en-US"/>
          </a:p>
        </p:txBody>
      </p:sp>
      <p:pic>
        <p:nvPicPr>
          <p:cNvPr id="35842" name="Picture 2"/>
          <p:cNvPicPr>
            <a:picLocks noChangeAspect="1" noChangeArrowheads="1"/>
          </p:cNvPicPr>
          <p:nvPr/>
        </p:nvPicPr>
        <p:blipFill>
          <a:blip r:embed="rId2" cstate="print"/>
          <a:srcRect/>
          <a:stretch>
            <a:fillRect/>
          </a:stretch>
        </p:blipFill>
        <p:spPr bwMode="auto">
          <a:xfrm>
            <a:off x="0" y="1214422"/>
            <a:ext cx="9058040" cy="1928826"/>
          </a:xfrm>
          <a:prstGeom prst="rect">
            <a:avLst/>
          </a:prstGeom>
          <a:noFill/>
          <a:ln w="9525">
            <a:noFill/>
            <a:miter lim="800000"/>
            <a:headEnd/>
            <a:tailEnd/>
          </a:ln>
          <a:effectLst/>
        </p:spPr>
      </p:pic>
      <p:pic>
        <p:nvPicPr>
          <p:cNvPr id="35843" name="Picture 3"/>
          <p:cNvPicPr>
            <a:picLocks noChangeAspect="1" noChangeArrowheads="1"/>
          </p:cNvPicPr>
          <p:nvPr/>
        </p:nvPicPr>
        <p:blipFill>
          <a:blip r:embed="rId3" cstate="print"/>
          <a:srcRect/>
          <a:stretch>
            <a:fillRect/>
          </a:stretch>
        </p:blipFill>
        <p:spPr bwMode="auto">
          <a:xfrm>
            <a:off x="118774" y="142876"/>
            <a:ext cx="8882382" cy="1071546"/>
          </a:xfrm>
          <a:prstGeom prst="rect">
            <a:avLst/>
          </a:prstGeom>
          <a:noFill/>
          <a:ln w="9525">
            <a:noFill/>
            <a:miter lim="800000"/>
            <a:headEnd/>
            <a:tailEnd/>
          </a:ln>
          <a:effectLst/>
        </p:spPr>
      </p:pic>
      <p:pic>
        <p:nvPicPr>
          <p:cNvPr id="35844" name="Picture 4"/>
          <p:cNvPicPr>
            <a:picLocks noChangeAspect="1" noChangeArrowheads="1"/>
          </p:cNvPicPr>
          <p:nvPr/>
        </p:nvPicPr>
        <p:blipFill>
          <a:blip r:embed="rId4" cstate="print"/>
          <a:srcRect/>
          <a:stretch>
            <a:fillRect/>
          </a:stretch>
        </p:blipFill>
        <p:spPr bwMode="auto">
          <a:xfrm>
            <a:off x="1000100" y="3643314"/>
            <a:ext cx="6212205" cy="548640"/>
          </a:xfrm>
          <a:prstGeom prst="rect">
            <a:avLst/>
          </a:prstGeom>
          <a:noFill/>
          <a:ln w="9525">
            <a:noFill/>
            <a:miter lim="800000"/>
            <a:headEnd/>
            <a:tailEnd/>
          </a:ln>
          <a:effectLst/>
        </p:spPr>
      </p:pic>
      <p:pic>
        <p:nvPicPr>
          <p:cNvPr id="35845" name="Picture 5"/>
          <p:cNvPicPr>
            <a:picLocks noChangeAspect="1" noChangeArrowheads="1"/>
          </p:cNvPicPr>
          <p:nvPr/>
        </p:nvPicPr>
        <p:blipFill>
          <a:blip r:embed="rId5" cstate="print"/>
          <a:srcRect/>
          <a:stretch>
            <a:fillRect/>
          </a:stretch>
        </p:blipFill>
        <p:spPr bwMode="auto">
          <a:xfrm>
            <a:off x="0" y="3286124"/>
            <a:ext cx="8824380" cy="1143008"/>
          </a:xfrm>
          <a:prstGeom prst="rect">
            <a:avLst/>
          </a:prstGeom>
          <a:noFill/>
          <a:ln w="9525">
            <a:noFill/>
            <a:miter lim="800000"/>
            <a:headEnd/>
            <a:tailEnd/>
          </a:ln>
          <a:effectLst/>
        </p:spPr>
      </p:pic>
      <p:pic>
        <p:nvPicPr>
          <p:cNvPr id="35847" name="Picture 7"/>
          <p:cNvPicPr>
            <a:picLocks noChangeAspect="1" noChangeArrowheads="1"/>
          </p:cNvPicPr>
          <p:nvPr/>
        </p:nvPicPr>
        <p:blipFill>
          <a:blip r:embed="rId6" cstate="print"/>
          <a:srcRect/>
          <a:stretch>
            <a:fillRect/>
          </a:stretch>
        </p:blipFill>
        <p:spPr bwMode="auto">
          <a:xfrm>
            <a:off x="500034" y="4540718"/>
            <a:ext cx="7786710" cy="2031554"/>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print"/>
          <a:srcRect/>
          <a:stretch>
            <a:fillRect/>
          </a:stretch>
        </p:blipFill>
        <p:spPr bwMode="auto">
          <a:xfrm>
            <a:off x="0" y="357166"/>
            <a:ext cx="9022508" cy="1728192"/>
          </a:xfrm>
          <a:prstGeom prst="rect">
            <a:avLst/>
          </a:prstGeom>
          <a:noFill/>
          <a:ln w="9525">
            <a:noFill/>
            <a:miter lim="800000"/>
            <a:headEnd/>
            <a:tailEnd/>
          </a:ln>
        </p:spPr>
      </p:pic>
      <p:sp>
        <p:nvSpPr>
          <p:cNvPr id="5" name="投影片編號版面配置區 4"/>
          <p:cNvSpPr>
            <a:spLocks noGrp="1"/>
          </p:cNvSpPr>
          <p:nvPr>
            <p:ph type="sldNum" sz="quarter" idx="12"/>
          </p:nvPr>
        </p:nvSpPr>
        <p:spPr/>
        <p:txBody>
          <a:bodyPr/>
          <a:lstStyle/>
          <a:p>
            <a:fld id="{266EEDC6-4BD7-422D-BF05-58286CF9982B}" type="slidenum">
              <a:rPr lang="zh-TW" altLang="en-US" smtClean="0"/>
              <a:pPr/>
              <a:t>24</a:t>
            </a:fld>
            <a:endParaRPr lang="zh-TW" altLang="en-US"/>
          </a:p>
        </p:txBody>
      </p:sp>
      <p:pic>
        <p:nvPicPr>
          <p:cNvPr id="36866" name="Picture 2"/>
          <p:cNvPicPr>
            <a:picLocks noChangeAspect="1" noChangeArrowheads="1"/>
          </p:cNvPicPr>
          <p:nvPr/>
        </p:nvPicPr>
        <p:blipFill>
          <a:blip r:embed="rId3" cstate="print"/>
          <a:srcRect/>
          <a:stretch>
            <a:fillRect/>
          </a:stretch>
        </p:blipFill>
        <p:spPr bwMode="auto">
          <a:xfrm>
            <a:off x="467544" y="3356992"/>
            <a:ext cx="8043894" cy="905844"/>
          </a:xfrm>
          <a:prstGeom prst="rect">
            <a:avLst/>
          </a:prstGeom>
          <a:noFill/>
          <a:ln w="9525">
            <a:noFill/>
            <a:miter lim="800000"/>
            <a:headEnd/>
            <a:tailEnd/>
          </a:ln>
          <a:effectLst/>
        </p:spPr>
      </p:pic>
      <p:pic>
        <p:nvPicPr>
          <p:cNvPr id="36867" name="Picture 3"/>
          <p:cNvPicPr>
            <a:picLocks noChangeAspect="1" noChangeArrowheads="1"/>
          </p:cNvPicPr>
          <p:nvPr/>
        </p:nvPicPr>
        <p:blipFill>
          <a:blip r:embed="rId4" cstate="print"/>
          <a:srcRect/>
          <a:stretch>
            <a:fillRect/>
          </a:stretch>
        </p:blipFill>
        <p:spPr bwMode="auto">
          <a:xfrm>
            <a:off x="683568" y="4365104"/>
            <a:ext cx="7610451" cy="1297047"/>
          </a:xfrm>
          <a:prstGeom prst="rect">
            <a:avLst/>
          </a:prstGeom>
          <a:noFill/>
          <a:ln w="9525">
            <a:noFill/>
            <a:miter lim="800000"/>
            <a:headEnd/>
            <a:tailEnd/>
          </a:ln>
          <a:effectLst/>
        </p:spPr>
      </p:pic>
      <p:pic>
        <p:nvPicPr>
          <p:cNvPr id="36868" name="Picture 4"/>
          <p:cNvPicPr>
            <a:picLocks noChangeAspect="1" noChangeArrowheads="1"/>
          </p:cNvPicPr>
          <p:nvPr/>
        </p:nvPicPr>
        <p:blipFill>
          <a:blip r:embed="rId5" cstate="print"/>
          <a:srcRect/>
          <a:stretch>
            <a:fillRect/>
          </a:stretch>
        </p:blipFill>
        <p:spPr bwMode="auto">
          <a:xfrm>
            <a:off x="0" y="5805264"/>
            <a:ext cx="8929718" cy="504824"/>
          </a:xfrm>
          <a:prstGeom prst="rect">
            <a:avLst/>
          </a:prstGeom>
          <a:noFill/>
          <a:ln w="9525">
            <a:noFill/>
            <a:miter lim="800000"/>
            <a:headEnd/>
            <a:tailEnd/>
          </a:ln>
          <a:effectLst/>
        </p:spPr>
      </p:pic>
      <p:sp>
        <p:nvSpPr>
          <p:cNvPr id="7" name="文字方塊 6"/>
          <p:cNvSpPr txBox="1"/>
          <p:nvPr/>
        </p:nvSpPr>
        <p:spPr>
          <a:xfrm>
            <a:off x="827584" y="2204864"/>
            <a:ext cx="6984776" cy="923330"/>
          </a:xfrm>
          <a:prstGeom prst="rect">
            <a:avLst/>
          </a:prstGeom>
          <a:noFill/>
        </p:spPr>
        <p:txBody>
          <a:bodyPr wrap="square" rtlCol="0">
            <a:spAutoFit/>
          </a:bodyPr>
          <a:lstStyle/>
          <a:p>
            <a:pPr marL="342900" indent="-342900">
              <a:buAutoNum type="arabicPeriod"/>
            </a:pPr>
            <a:r>
              <a:rPr lang="en-US" altLang="zh-TW" u="sng" dirty="0" smtClean="0">
                <a:solidFill>
                  <a:srgbClr val="00B0F0"/>
                </a:solidFill>
              </a:rPr>
              <a:t>Buy on open and sell on close </a:t>
            </a:r>
            <a:r>
              <a:rPr lang="en-US" altLang="zh-TW" dirty="0" smtClean="0"/>
              <a:t>when the prediction is </a:t>
            </a:r>
            <a:r>
              <a:rPr lang="en-US" altLang="zh-TW" dirty="0" smtClean="0">
                <a:solidFill>
                  <a:srgbClr val="FF0000"/>
                </a:solidFill>
              </a:rPr>
              <a:t>Up</a:t>
            </a:r>
          </a:p>
          <a:p>
            <a:pPr marL="342900" indent="-342900">
              <a:buAutoNum type="arabicPeriod"/>
            </a:pPr>
            <a:r>
              <a:rPr lang="en-US" altLang="zh-TW" u="sng" dirty="0" smtClean="0">
                <a:solidFill>
                  <a:srgbClr val="00B0F0"/>
                </a:solidFill>
              </a:rPr>
              <a:t>Sell on open and buy on close </a:t>
            </a:r>
            <a:r>
              <a:rPr lang="en-US" altLang="zh-TW" dirty="0" smtClean="0"/>
              <a:t>when the prediction is</a:t>
            </a:r>
            <a:r>
              <a:rPr lang="en-US" altLang="zh-TW" dirty="0" smtClean="0">
                <a:solidFill>
                  <a:srgbClr val="FF0000"/>
                </a:solidFill>
              </a:rPr>
              <a:t> Down</a:t>
            </a:r>
          </a:p>
          <a:p>
            <a:pPr marL="342900" indent="-342900">
              <a:buAutoNum type="arabicPeriod"/>
            </a:pPr>
            <a:r>
              <a:rPr lang="en-US" altLang="zh-TW" u="sng" dirty="0" smtClean="0">
                <a:solidFill>
                  <a:srgbClr val="00B0F0"/>
                </a:solidFill>
              </a:rPr>
              <a:t>No transaction </a:t>
            </a:r>
            <a:r>
              <a:rPr lang="en-US" altLang="zh-TW" dirty="0" smtClean="0"/>
              <a:t>when the prediction is </a:t>
            </a:r>
            <a:r>
              <a:rPr lang="en-US" altLang="zh-TW" dirty="0" smtClean="0">
                <a:solidFill>
                  <a:srgbClr val="FF0000"/>
                </a:solidFill>
              </a:rPr>
              <a:t>Flat</a:t>
            </a:r>
            <a:endParaRPr lang="zh-TW" altLang="en-US" dirty="0">
              <a:solidFill>
                <a:srgbClr val="FF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266EEDC6-4BD7-422D-BF05-58286CF9982B}" type="slidenum">
              <a:rPr lang="zh-TW" altLang="en-US" smtClean="0"/>
              <a:pPr/>
              <a:t>25</a:t>
            </a:fld>
            <a:endParaRPr lang="zh-TW" altLang="en-US"/>
          </a:p>
        </p:txBody>
      </p:sp>
      <p:pic>
        <p:nvPicPr>
          <p:cNvPr id="37890" name="Picture 2"/>
          <p:cNvPicPr>
            <a:picLocks noChangeAspect="1" noChangeArrowheads="1"/>
          </p:cNvPicPr>
          <p:nvPr/>
        </p:nvPicPr>
        <p:blipFill>
          <a:blip r:embed="rId2" cstate="print"/>
          <a:srcRect/>
          <a:stretch>
            <a:fillRect/>
          </a:stretch>
        </p:blipFill>
        <p:spPr bwMode="auto">
          <a:xfrm>
            <a:off x="142844" y="857232"/>
            <a:ext cx="8827834" cy="1428760"/>
          </a:xfrm>
          <a:prstGeom prst="rect">
            <a:avLst/>
          </a:prstGeom>
          <a:noFill/>
          <a:ln w="9525">
            <a:noFill/>
            <a:miter lim="800000"/>
            <a:headEnd/>
            <a:tailEnd/>
          </a:ln>
          <a:effectLst/>
        </p:spPr>
      </p:pic>
      <p:pic>
        <p:nvPicPr>
          <p:cNvPr id="37891" name="Picture 3"/>
          <p:cNvPicPr>
            <a:picLocks noChangeAspect="1" noChangeArrowheads="1"/>
          </p:cNvPicPr>
          <p:nvPr/>
        </p:nvPicPr>
        <p:blipFill>
          <a:blip r:embed="rId3" cstate="print"/>
          <a:srcRect/>
          <a:stretch>
            <a:fillRect/>
          </a:stretch>
        </p:blipFill>
        <p:spPr bwMode="auto">
          <a:xfrm>
            <a:off x="0" y="3071810"/>
            <a:ext cx="9006211" cy="1571636"/>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p:txBody>
          <a:bodyPr/>
          <a:lstStyle/>
          <a:p>
            <a:fld id="{266EEDC6-4BD7-422D-BF05-58286CF9982B}" type="slidenum">
              <a:rPr lang="zh-TW" altLang="en-US" smtClean="0"/>
              <a:pPr/>
              <a:t>26</a:t>
            </a:fld>
            <a:endParaRPr lang="zh-TW" altLang="en-US"/>
          </a:p>
        </p:txBody>
      </p:sp>
      <p:pic>
        <p:nvPicPr>
          <p:cNvPr id="38914" name="Picture 2"/>
          <p:cNvPicPr>
            <a:picLocks noChangeAspect="1" noChangeArrowheads="1"/>
          </p:cNvPicPr>
          <p:nvPr/>
        </p:nvPicPr>
        <p:blipFill>
          <a:blip r:embed="rId2" cstate="print"/>
          <a:srcRect/>
          <a:stretch>
            <a:fillRect/>
          </a:stretch>
        </p:blipFill>
        <p:spPr bwMode="auto">
          <a:xfrm>
            <a:off x="0" y="2000240"/>
            <a:ext cx="8538210" cy="2057400"/>
          </a:xfrm>
          <a:prstGeom prst="rect">
            <a:avLst/>
          </a:prstGeom>
          <a:noFill/>
          <a:ln w="9525">
            <a:noFill/>
            <a:miter lim="800000"/>
            <a:headEnd/>
            <a:tailEnd/>
          </a:ln>
          <a:effectLst/>
        </p:spPr>
      </p:pic>
      <p:pic>
        <p:nvPicPr>
          <p:cNvPr id="38915" name="Picture 3"/>
          <p:cNvPicPr>
            <a:picLocks noChangeAspect="1" noChangeArrowheads="1"/>
          </p:cNvPicPr>
          <p:nvPr/>
        </p:nvPicPr>
        <p:blipFill>
          <a:blip r:embed="rId3" cstate="print"/>
          <a:srcRect/>
          <a:stretch>
            <a:fillRect/>
          </a:stretch>
        </p:blipFill>
        <p:spPr bwMode="auto">
          <a:xfrm>
            <a:off x="214282" y="4357694"/>
            <a:ext cx="8569047" cy="1928826"/>
          </a:xfrm>
          <a:prstGeom prst="rect">
            <a:avLst/>
          </a:prstGeom>
          <a:noFill/>
          <a:ln w="9525">
            <a:noFill/>
            <a:miter lim="800000"/>
            <a:headEnd/>
            <a:tailEnd/>
          </a:ln>
          <a:effectLst/>
        </p:spPr>
      </p:pic>
      <p:sp>
        <p:nvSpPr>
          <p:cNvPr id="5" name="文字方塊 4"/>
          <p:cNvSpPr txBox="1"/>
          <p:nvPr/>
        </p:nvSpPr>
        <p:spPr>
          <a:xfrm>
            <a:off x="214282" y="500042"/>
            <a:ext cx="5429288" cy="1323439"/>
          </a:xfrm>
          <a:prstGeom prst="rect">
            <a:avLst/>
          </a:prstGeom>
          <a:noFill/>
        </p:spPr>
        <p:txBody>
          <a:bodyPr wrap="square" rtlCol="0">
            <a:spAutoFit/>
          </a:bodyPr>
          <a:lstStyle/>
          <a:p>
            <a:r>
              <a:rPr lang="en-US" altLang="zh-TW" sz="2000" dirty="0" smtClean="0"/>
              <a:t>TAIEX: 2000/1/4~2005/12/30</a:t>
            </a:r>
          </a:p>
          <a:p>
            <a:r>
              <a:rPr lang="en-US" altLang="zh-TW" sz="2000" dirty="0" smtClean="0"/>
              <a:t>Training : January ~ October (each year)</a:t>
            </a:r>
          </a:p>
          <a:p>
            <a:r>
              <a:rPr lang="en-US" altLang="zh-TW" sz="2000" dirty="0" smtClean="0"/>
              <a:t>Testing: November, December (each year)</a:t>
            </a:r>
          </a:p>
          <a:p>
            <a:endParaRPr lang="zh-TW" alt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p:txBody>
          <a:bodyPr/>
          <a:lstStyle/>
          <a:p>
            <a:fld id="{266EEDC6-4BD7-422D-BF05-58286CF9982B}" type="slidenum">
              <a:rPr lang="zh-TW" altLang="en-US" smtClean="0"/>
              <a:pPr/>
              <a:t>27</a:t>
            </a:fld>
            <a:endParaRPr lang="zh-TW" altLang="en-US"/>
          </a:p>
        </p:txBody>
      </p:sp>
      <p:pic>
        <p:nvPicPr>
          <p:cNvPr id="3" name="Picture 2"/>
          <p:cNvPicPr>
            <a:picLocks noChangeAspect="1" noChangeArrowheads="1"/>
          </p:cNvPicPr>
          <p:nvPr/>
        </p:nvPicPr>
        <p:blipFill>
          <a:blip r:embed="rId2" cstate="print"/>
          <a:srcRect b="32292"/>
          <a:stretch>
            <a:fillRect/>
          </a:stretch>
        </p:blipFill>
        <p:spPr bwMode="auto">
          <a:xfrm>
            <a:off x="0" y="0"/>
            <a:ext cx="4063365" cy="4643446"/>
          </a:xfrm>
          <a:prstGeom prst="rect">
            <a:avLst/>
          </a:prstGeom>
          <a:noFill/>
          <a:ln w="9525">
            <a:noFill/>
            <a:miter lim="800000"/>
            <a:headEnd/>
            <a:tailEnd/>
          </a:ln>
          <a:effectLst/>
        </p:spPr>
      </p:pic>
      <p:graphicFrame>
        <p:nvGraphicFramePr>
          <p:cNvPr id="4" name="圖表 3"/>
          <p:cNvGraphicFramePr/>
          <p:nvPr/>
        </p:nvGraphicFramePr>
        <p:xfrm>
          <a:off x="142844" y="4786322"/>
          <a:ext cx="4000496" cy="1928826"/>
        </p:xfrm>
        <a:graphic>
          <a:graphicData uri="http://schemas.openxmlformats.org/drawingml/2006/chart">
            <c:chart xmlns:c="http://schemas.openxmlformats.org/drawingml/2006/chart" xmlns:r="http://schemas.openxmlformats.org/officeDocument/2006/relationships" r:id="rId3"/>
          </a:graphicData>
        </a:graphic>
      </p:graphicFrame>
      <p:pic>
        <p:nvPicPr>
          <p:cNvPr id="5" name="Picture 2"/>
          <p:cNvPicPr>
            <a:picLocks noChangeAspect="1" noChangeArrowheads="1"/>
          </p:cNvPicPr>
          <p:nvPr/>
        </p:nvPicPr>
        <p:blipFill>
          <a:blip r:embed="rId2" cstate="print"/>
          <a:srcRect t="70834"/>
          <a:stretch>
            <a:fillRect/>
          </a:stretch>
        </p:blipFill>
        <p:spPr bwMode="auto">
          <a:xfrm>
            <a:off x="4437725" y="4786370"/>
            <a:ext cx="4063365" cy="2000216"/>
          </a:xfrm>
          <a:prstGeom prst="rect">
            <a:avLst/>
          </a:prstGeom>
          <a:noFill/>
          <a:ln w="9525">
            <a:noFill/>
            <a:miter lim="800000"/>
            <a:headEnd/>
            <a:tailEnd/>
          </a:ln>
          <a:effectLst/>
        </p:spPr>
      </p:pic>
      <p:graphicFrame>
        <p:nvGraphicFramePr>
          <p:cNvPr id="6" name="圖表 5"/>
          <p:cNvGraphicFramePr/>
          <p:nvPr/>
        </p:nvGraphicFramePr>
        <p:xfrm>
          <a:off x="4286248" y="142852"/>
          <a:ext cx="4143404" cy="200026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圖表 6"/>
          <p:cNvGraphicFramePr/>
          <p:nvPr/>
        </p:nvGraphicFramePr>
        <p:xfrm>
          <a:off x="4429124" y="2571744"/>
          <a:ext cx="4071966" cy="1943104"/>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Conclusion</a:t>
            </a:r>
            <a:endParaRPr lang="zh-TW" altLang="en-US" dirty="0"/>
          </a:p>
        </p:txBody>
      </p:sp>
      <p:sp>
        <p:nvSpPr>
          <p:cNvPr id="2" name="投影片編號版面配置區 1"/>
          <p:cNvSpPr>
            <a:spLocks noGrp="1"/>
          </p:cNvSpPr>
          <p:nvPr>
            <p:ph type="sldNum" sz="quarter" idx="12"/>
          </p:nvPr>
        </p:nvSpPr>
        <p:spPr/>
        <p:txBody>
          <a:bodyPr/>
          <a:lstStyle/>
          <a:p>
            <a:fld id="{266EEDC6-4BD7-422D-BF05-58286CF9982B}" type="slidenum">
              <a:rPr lang="zh-TW" altLang="en-US" smtClean="0"/>
              <a:pPr/>
              <a:t>28</a:t>
            </a:fld>
            <a:endParaRPr lang="zh-TW" altLang="en-US"/>
          </a:p>
        </p:txBody>
      </p:sp>
      <p:sp>
        <p:nvSpPr>
          <p:cNvPr id="6" name="文字方塊 5"/>
          <p:cNvSpPr txBox="1"/>
          <p:nvPr/>
        </p:nvSpPr>
        <p:spPr>
          <a:xfrm>
            <a:off x="428596" y="1643050"/>
            <a:ext cx="8215370" cy="3416320"/>
          </a:xfrm>
          <a:prstGeom prst="rect">
            <a:avLst/>
          </a:prstGeom>
          <a:noFill/>
        </p:spPr>
        <p:txBody>
          <a:bodyPr wrap="square" rtlCol="0">
            <a:spAutoFit/>
          </a:bodyPr>
          <a:lstStyle/>
          <a:p>
            <a:pPr marL="342900" indent="-342900">
              <a:spcBef>
                <a:spcPts val="600"/>
              </a:spcBef>
              <a:spcAft>
                <a:spcPts val="600"/>
              </a:spcAft>
              <a:buFont typeface="+mj-lt"/>
              <a:buAutoNum type="arabicPeriod"/>
            </a:pPr>
            <a:r>
              <a:rPr lang="en-US" altLang="zh-TW" sz="2800" dirty="0" smtClean="0"/>
              <a:t>The proposed produces a positive stock return, whether the market is bullish or bearish.</a:t>
            </a:r>
          </a:p>
          <a:p>
            <a:pPr marL="342900" indent="-342900">
              <a:spcBef>
                <a:spcPts val="600"/>
              </a:spcBef>
              <a:spcAft>
                <a:spcPts val="600"/>
              </a:spcAft>
              <a:buFont typeface="+mj-lt"/>
              <a:buAutoNum type="arabicPeriod"/>
            </a:pPr>
            <a:r>
              <a:rPr lang="en-US" altLang="zh-TW" sz="2800" dirty="0" smtClean="0"/>
              <a:t>Performing outstandingly when stock market is in a nearly bull market or bear market</a:t>
            </a:r>
          </a:p>
          <a:p>
            <a:pPr marL="342900" indent="-342900">
              <a:spcBef>
                <a:spcPts val="600"/>
              </a:spcBef>
              <a:spcAft>
                <a:spcPts val="600"/>
              </a:spcAft>
              <a:buFont typeface="+mj-lt"/>
              <a:buAutoNum type="arabicPeriod"/>
            </a:pPr>
            <a:r>
              <a:rPr lang="en-US" altLang="zh-TW" sz="2800" dirty="0" smtClean="0"/>
              <a:t>The RST, GA, and the proposed perform their worst when there are many violent fluctuations occurring in the market.</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500034" y="2500306"/>
            <a:ext cx="8229600" cy="1143000"/>
          </a:xfrm>
        </p:spPr>
        <p:txBody>
          <a:bodyPr/>
          <a:lstStyle/>
          <a:p>
            <a:r>
              <a:rPr lang="en-US" altLang="zh-TW" dirty="0" smtClean="0"/>
              <a:t>Thank you!!</a:t>
            </a:r>
            <a:endParaRPr lang="zh-TW" altLang="en-US" dirty="0"/>
          </a:p>
        </p:txBody>
      </p:sp>
      <p:sp>
        <p:nvSpPr>
          <p:cNvPr id="3" name="投影片編號版面配置區 2"/>
          <p:cNvSpPr>
            <a:spLocks noGrp="1"/>
          </p:cNvSpPr>
          <p:nvPr>
            <p:ph type="sldNum" sz="quarter" idx="12"/>
          </p:nvPr>
        </p:nvSpPr>
        <p:spPr/>
        <p:txBody>
          <a:bodyPr/>
          <a:lstStyle/>
          <a:p>
            <a:fld id="{266EEDC6-4BD7-422D-BF05-58286CF9982B}" type="slidenum">
              <a:rPr lang="zh-TW" altLang="en-US" smtClean="0"/>
              <a:pPr/>
              <a:t>29</a:t>
            </a:fld>
            <a:endParaRPr lang="zh-TW" altLang="en-US"/>
          </a:p>
        </p:txBody>
      </p:sp>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佈景主題2">
  <a:themeElements>
    <a:clrScheme name="Fresh">
      <a:dk1>
        <a:sysClr val="windowText" lastClr="000000"/>
      </a:dk1>
      <a:lt1>
        <a:sysClr val="window" lastClr="FFFFFF"/>
      </a:lt1>
      <a:dk2>
        <a:srgbClr val="89C540"/>
      </a:dk2>
      <a:lt2>
        <a:srgbClr val="F0E5B6"/>
      </a:lt2>
      <a:accent1>
        <a:srgbClr val="3B4F18"/>
      </a:accent1>
      <a:accent2>
        <a:srgbClr val="CCC834"/>
      </a:accent2>
      <a:accent3>
        <a:srgbClr val="F49AE1"/>
      </a:accent3>
      <a:accent4>
        <a:srgbClr val="2AC9DE"/>
      </a:accent4>
      <a:accent5>
        <a:srgbClr val="927B74"/>
      </a:accent5>
      <a:accent6>
        <a:srgbClr val="769F11"/>
      </a:accent6>
      <a:hlink>
        <a:srgbClr val="0A6A21"/>
      </a:hlink>
      <a:folHlink>
        <a:srgbClr val="406EA5"/>
      </a:folHlink>
    </a:clrScheme>
    <a:fontScheme name="Fresh">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resh">
      <a:fillStyleLst>
        <a:solidFill>
          <a:schemeClr val="phClr"/>
        </a:solidFill>
        <a:solidFill>
          <a:schemeClr val="phClr">
            <a:tint val="70000"/>
            <a:satMod val="115000"/>
          </a:schemeClr>
        </a:solidFill>
        <a:solidFill>
          <a:schemeClr val="phClr">
            <a:shade val="80000"/>
            <a:satMod val="115000"/>
          </a:schemeClr>
        </a:solidFill>
      </a:fillStyleLst>
      <a:lnStyleLst>
        <a:ln w="25400" cap="flat" cmpd="sng" algn="ctr">
          <a:solidFill>
            <a:schemeClr val="phClr">
              <a:shade val="95000"/>
              <a:satMod val="105000"/>
            </a:schemeClr>
          </a:solidFill>
          <a:prstDash val="solid"/>
          <a:miter/>
        </a:ln>
        <a:ln w="50800" cap="flat" cmpd="sng" algn="ctr">
          <a:solidFill>
            <a:schemeClr val="phClr"/>
          </a:solidFill>
          <a:prstDash val="solid"/>
          <a:miter/>
        </a:ln>
        <a:ln w="76200" cap="flat" cmpd="thickThin" algn="ctr">
          <a:solidFill>
            <a:schemeClr val="phClr">
              <a:alpha val="80000"/>
            </a:schemeClr>
          </a:solidFill>
          <a:prstDash val="solid"/>
          <a:miter/>
        </a:ln>
      </a:lnStyleLst>
      <a:effectStyleLst>
        <a:effectStyle>
          <a:effectLst/>
        </a:effectStyle>
        <a:effectStyle>
          <a:effectLst>
            <a:outerShdw blurRad="63500" sx="101000" sy="101000" rotWithShape="0">
              <a:srgbClr val="FFFFFF">
                <a:alpha val="50000"/>
              </a:srgbClr>
            </a:outerShdw>
          </a:effectLst>
        </a:effectStyle>
        <a:effectStyle>
          <a:effectLst>
            <a:innerShdw blurRad="101600">
              <a:srgbClr val="FFFFFF">
                <a:alpha val="75000"/>
              </a:srgbClr>
            </a:innerShdw>
            <a:outerShdw blurRad="63500" sx="101000" sy="101000" rotWithShape="0">
              <a:srgbClr val="FFFFFF">
                <a:alpha val="50000"/>
              </a:srgbClr>
            </a:outerShdw>
            <a:reflection blurRad="12700" stA="30000" endPos="35000" dist="38100" dir="5400000" sy="-100000" rotWithShape="0"/>
          </a:effectLst>
          <a:scene3d>
            <a:camera prst="orthographicFront">
              <a:rot lat="0" lon="0" rev="0"/>
            </a:camera>
            <a:lightRig rig="balanced" dir="t">
              <a:rot lat="0" lon="0" rev="3000000"/>
            </a:lightRig>
          </a:scene3d>
          <a:sp3d>
            <a:bevelT w="0" h="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486</TotalTime>
  <Words>1431</Words>
  <Application>Microsoft Office PowerPoint</Application>
  <PresentationFormat>如螢幕大小 (4:3)</PresentationFormat>
  <Paragraphs>381</Paragraphs>
  <Slides>29</Slides>
  <Notes>0</Notes>
  <HiddenSlides>0</HiddenSlides>
  <MMClips>0</MMClips>
  <ScaleCrop>false</ScaleCrop>
  <HeadingPairs>
    <vt:vector size="6" baseType="variant">
      <vt:variant>
        <vt:lpstr>佈景主題</vt:lpstr>
      </vt:variant>
      <vt:variant>
        <vt:i4>2</vt:i4>
      </vt:variant>
      <vt:variant>
        <vt:lpstr>內嵌 OLE 伺服程式</vt:lpstr>
      </vt:variant>
      <vt:variant>
        <vt:i4>1</vt:i4>
      </vt:variant>
      <vt:variant>
        <vt:lpstr>投影片標題</vt:lpstr>
      </vt:variant>
      <vt:variant>
        <vt:i4>29</vt:i4>
      </vt:variant>
    </vt:vector>
  </HeadingPairs>
  <TitlesOfParts>
    <vt:vector size="32" baseType="lpstr">
      <vt:lpstr>Office 佈景主題</vt:lpstr>
      <vt:lpstr>佈景主題2</vt:lpstr>
      <vt:lpstr>Equation</vt:lpstr>
      <vt:lpstr>A hybrid model based on rough sets theory and genetic algorithms for stock price forecasting</vt:lpstr>
      <vt:lpstr>Abstract (1/3)</vt:lpstr>
      <vt:lpstr>Abstract (2/3)</vt:lpstr>
      <vt:lpstr>Abstract (3/3)</vt:lpstr>
      <vt:lpstr>Framework</vt:lpstr>
      <vt:lpstr>投影片 6</vt:lpstr>
      <vt:lpstr>投影片 7</vt:lpstr>
      <vt:lpstr>Selecting indicators using correlation matrix</vt:lpstr>
      <vt:lpstr>投影片 9</vt:lpstr>
      <vt:lpstr>CPDA  (cumulative probability distribution approach)</vt:lpstr>
      <vt:lpstr>投影片 11</vt:lpstr>
      <vt:lpstr>MEPA  (minimize entropy principle approach)</vt:lpstr>
      <vt:lpstr>投影片 13</vt:lpstr>
      <vt:lpstr>投影片 14</vt:lpstr>
      <vt:lpstr>投影片 15</vt:lpstr>
      <vt:lpstr>投影片 16</vt:lpstr>
      <vt:lpstr>RST (rough set theory)</vt:lpstr>
      <vt:lpstr>投影片 18</vt:lpstr>
      <vt:lpstr>投影片 19</vt:lpstr>
      <vt:lpstr>投影片 20</vt:lpstr>
      <vt:lpstr>Rule generated by RST</vt:lpstr>
      <vt:lpstr>Accuracy and return improvement by GA</vt:lpstr>
      <vt:lpstr>投影片 23</vt:lpstr>
      <vt:lpstr>投影片 24</vt:lpstr>
      <vt:lpstr>投影片 25</vt:lpstr>
      <vt:lpstr>投影片 26</vt:lpstr>
      <vt:lpstr>投影片 27</vt:lpstr>
      <vt:lpstr>Conclusion</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hybrid model based on rough sets theory and genetic algorithms for stock price forecasting</dc:title>
  <dc:creator>Windows User</dc:creator>
  <cp:lastModifiedBy>par67vm</cp:lastModifiedBy>
  <cp:revision>116</cp:revision>
  <dcterms:created xsi:type="dcterms:W3CDTF">2011-03-09T09:44:10Z</dcterms:created>
  <dcterms:modified xsi:type="dcterms:W3CDTF">2011-03-15T10:25:46Z</dcterms:modified>
</cp:coreProperties>
</file>